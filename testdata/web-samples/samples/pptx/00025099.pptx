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02"/>
  </p:notesMasterIdLst>
  <p:sldIdLst>
    <p:sldId id="256" r:id="rId2"/>
    <p:sldId id="257" r:id="rId3"/>
    <p:sldId id="259" r:id="rId4"/>
    <p:sldId id="448" r:id="rId5"/>
    <p:sldId id="479" r:id="rId6"/>
    <p:sldId id="437" r:id="rId7"/>
    <p:sldId id="438" r:id="rId8"/>
    <p:sldId id="439" r:id="rId9"/>
    <p:sldId id="378" r:id="rId10"/>
    <p:sldId id="380" r:id="rId11"/>
    <p:sldId id="379" r:id="rId12"/>
    <p:sldId id="304" r:id="rId13"/>
    <p:sldId id="432" r:id="rId14"/>
    <p:sldId id="300" r:id="rId15"/>
    <p:sldId id="307" r:id="rId16"/>
    <p:sldId id="478" r:id="rId17"/>
    <p:sldId id="310" r:id="rId18"/>
    <p:sldId id="289" r:id="rId19"/>
    <p:sldId id="309" r:id="rId20"/>
    <p:sldId id="308" r:id="rId21"/>
    <p:sldId id="296" r:id="rId22"/>
    <p:sldId id="287" r:id="rId23"/>
    <p:sldId id="301" r:id="rId24"/>
    <p:sldId id="302" r:id="rId25"/>
    <p:sldId id="410" r:id="rId26"/>
    <p:sldId id="298" r:id="rId27"/>
    <p:sldId id="299" r:id="rId28"/>
    <p:sldId id="297" r:id="rId29"/>
    <p:sldId id="347" r:id="rId30"/>
    <p:sldId id="451" r:id="rId31"/>
    <p:sldId id="452" r:id="rId32"/>
    <p:sldId id="453" r:id="rId33"/>
    <p:sldId id="454" r:id="rId34"/>
    <p:sldId id="455" r:id="rId35"/>
    <p:sldId id="456" r:id="rId36"/>
    <p:sldId id="457" r:id="rId37"/>
    <p:sldId id="458" r:id="rId38"/>
    <p:sldId id="459" r:id="rId39"/>
    <p:sldId id="460" r:id="rId40"/>
    <p:sldId id="461" r:id="rId41"/>
    <p:sldId id="462" r:id="rId42"/>
    <p:sldId id="463" r:id="rId43"/>
    <p:sldId id="464" r:id="rId44"/>
    <p:sldId id="465" r:id="rId45"/>
    <p:sldId id="466" r:id="rId46"/>
    <p:sldId id="467" r:id="rId47"/>
    <p:sldId id="468" r:id="rId48"/>
    <p:sldId id="469" r:id="rId49"/>
    <p:sldId id="470" r:id="rId50"/>
    <p:sldId id="471" r:id="rId51"/>
    <p:sldId id="472" r:id="rId52"/>
    <p:sldId id="263" r:id="rId53"/>
    <p:sldId id="372" r:id="rId54"/>
    <p:sldId id="373" r:id="rId55"/>
    <p:sldId id="374" r:id="rId56"/>
    <p:sldId id="376" r:id="rId57"/>
    <p:sldId id="353" r:id="rId58"/>
    <p:sldId id="369" r:id="rId59"/>
    <p:sldId id="357" r:id="rId60"/>
    <p:sldId id="359" r:id="rId61"/>
    <p:sldId id="360" r:id="rId62"/>
    <p:sldId id="361" r:id="rId63"/>
    <p:sldId id="362" r:id="rId64"/>
    <p:sldId id="363" r:id="rId65"/>
    <p:sldId id="364" r:id="rId66"/>
    <p:sldId id="355" r:id="rId67"/>
    <p:sldId id="370" r:id="rId68"/>
    <p:sldId id="358" r:id="rId69"/>
    <p:sldId id="371" r:id="rId70"/>
    <p:sldId id="261" r:id="rId71"/>
    <p:sldId id="434" r:id="rId72"/>
    <p:sldId id="411" r:id="rId73"/>
    <p:sldId id="412" r:id="rId74"/>
    <p:sldId id="413" r:id="rId75"/>
    <p:sldId id="480" r:id="rId76"/>
    <p:sldId id="481" r:id="rId77"/>
    <p:sldId id="482" r:id="rId78"/>
    <p:sldId id="414" r:id="rId79"/>
    <p:sldId id="446" r:id="rId80"/>
    <p:sldId id="475" r:id="rId81"/>
    <p:sldId id="473" r:id="rId82"/>
    <p:sldId id="476" r:id="rId83"/>
    <p:sldId id="474" r:id="rId84"/>
    <p:sldId id="447" r:id="rId85"/>
    <p:sldId id="416" r:id="rId86"/>
    <p:sldId id="417" r:id="rId87"/>
    <p:sldId id="418" r:id="rId88"/>
    <p:sldId id="419" r:id="rId89"/>
    <p:sldId id="420" r:id="rId90"/>
    <p:sldId id="421" r:id="rId91"/>
    <p:sldId id="422" r:id="rId92"/>
    <p:sldId id="430" r:id="rId93"/>
    <p:sldId id="431" r:id="rId94"/>
    <p:sldId id="424" r:id="rId95"/>
    <p:sldId id="425" r:id="rId96"/>
    <p:sldId id="426" r:id="rId97"/>
    <p:sldId id="477" r:id="rId98"/>
    <p:sldId id="428" r:id="rId99"/>
    <p:sldId id="429" r:id="rId100"/>
    <p:sldId id="435"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CC66"/>
    <a:srgbClr val="FF9933"/>
    <a:srgbClr val="CC66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3" autoAdjust="0"/>
    <p:restoredTop sz="90514" autoAdjust="0"/>
  </p:normalViewPr>
  <p:slideViewPr>
    <p:cSldViewPr>
      <p:cViewPr>
        <p:scale>
          <a:sx n="90" d="100"/>
          <a:sy n="90" d="100"/>
        </p:scale>
        <p:origin x="-72" y="240"/>
      </p:cViewPr>
      <p:guideLst>
        <p:guide orient="horz" pos="2160"/>
        <p:guide pos="2880"/>
      </p:guideLst>
    </p:cSldViewPr>
  </p:slideViewPr>
  <p:outlineViewPr>
    <p:cViewPr>
      <p:scale>
        <a:sx n="33" d="100"/>
        <a:sy n="33" d="100"/>
      </p:scale>
      <p:origin x="0" y="6252"/>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F5B2E0-6D2D-4798-AB2A-1B17CB64379A}" type="datetimeFigureOut">
              <a:rPr lang="en-CA" smtClean="0"/>
              <a:pPr/>
              <a:t>21/11/2011</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B5D377-DB2C-4574-A55A-F00EAC952169}" type="slidenum">
              <a:rPr lang="en-CA" smtClean="0"/>
              <a:pPr/>
              <a:t>‹#›</a:t>
            </a:fld>
            <a:endParaRPr lang="en-CA"/>
          </a:p>
        </p:txBody>
      </p:sp>
    </p:spTree>
    <p:extLst>
      <p:ext uri="{BB962C8B-B14F-4D97-AF65-F5344CB8AC3E}">
        <p14:creationId xmlns:p14="http://schemas.microsoft.com/office/powerpoint/2010/main" xmlns="" val="241715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**Found in Q3</a:t>
            </a:r>
            <a:r>
              <a:rPr lang="en-CA" baseline="0" dirty="0" smtClean="0"/>
              <a:t> 2011Management’s Discussion and Analysis </a:t>
            </a:r>
            <a:endParaRPr lang="en-CA" dirty="0"/>
          </a:p>
        </p:txBody>
      </p:sp>
      <p:sp>
        <p:nvSpPr>
          <p:cNvPr id="4" name="Slide Number Placeholder 3"/>
          <p:cNvSpPr>
            <a:spLocks noGrp="1"/>
          </p:cNvSpPr>
          <p:nvPr>
            <p:ph type="sldNum" sz="quarter" idx="10"/>
          </p:nvPr>
        </p:nvSpPr>
        <p:spPr/>
        <p:txBody>
          <a:bodyPr/>
          <a:lstStyle/>
          <a:p>
            <a:fld id="{52B5D377-DB2C-4574-A55A-F00EAC952169}" type="slidenum">
              <a:rPr lang="en-CA" smtClean="0"/>
              <a:pPr/>
              <a:t>27</a:t>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Corporate risk at Viterra is managed on a proactive, explicit basis through the identification and mitigation of risks within</a:t>
            </a:r>
            <a:r>
              <a:rPr lang="en-US" altLang="zh-CN" baseline="0" dirty="0" smtClean="0"/>
              <a:t> </a:t>
            </a:r>
            <a:r>
              <a:rPr lang="en-US" altLang="zh-CN" dirty="0" smtClean="0"/>
              <a:t>an Enterprise Risk Management (“ERM”) framework.</a:t>
            </a:r>
          </a:p>
          <a:p>
            <a:endParaRPr lang="en-US" altLang="zh-CN" dirty="0" smtClean="0"/>
          </a:p>
          <a:p>
            <a:r>
              <a:rPr lang="en-US" altLang="zh-CN" sz="1200" b="0" i="0" u="none" strike="noStrike" kern="1200" baseline="0" dirty="0" smtClean="0">
                <a:solidFill>
                  <a:schemeClr val="tx1"/>
                </a:solidFill>
                <a:latin typeface="+mn-lt"/>
                <a:ea typeface="+mn-ea"/>
                <a:cs typeface="+mn-cs"/>
              </a:rPr>
              <a:t>Enterprise-wide risk management is a process effected by the Company’s Board of Directors, management and personnel, applied in particular settings and across the Company, designed to identify potential events that may impact the Company, manage risk to be within the Company’s risk appetite, and to provide reasonable assurance regarding the achievement of the Company’s objectives.</a:t>
            </a:r>
            <a:endParaRPr lang="zh-CN" altLang="en-US" dirty="0"/>
          </a:p>
        </p:txBody>
      </p:sp>
      <p:sp>
        <p:nvSpPr>
          <p:cNvPr id="4" name="灯片编号占位符 3"/>
          <p:cNvSpPr>
            <a:spLocks noGrp="1"/>
          </p:cNvSpPr>
          <p:nvPr>
            <p:ph type="sldNum" sz="quarter" idx="10"/>
          </p:nvPr>
        </p:nvSpPr>
        <p:spPr/>
        <p:txBody>
          <a:bodyPr/>
          <a:lstStyle/>
          <a:p>
            <a:fld id="{C27AC548-C104-4E98-A350-17472E36FB30}" type="slidenum">
              <a:rPr lang="zh-CN" altLang="en-US" smtClean="0"/>
              <a:pPr/>
              <a:t>31</a:t>
            </a:fld>
            <a:endParaRPr lang="zh-CN" altLang="en-US"/>
          </a:p>
        </p:txBody>
      </p:sp>
    </p:spTree>
    <p:extLst>
      <p:ext uri="{BB962C8B-B14F-4D97-AF65-F5344CB8AC3E}">
        <p14:creationId xmlns:p14="http://schemas.microsoft.com/office/powerpoint/2010/main" xmlns="" val="276246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smtClean="0">
                <a:solidFill>
                  <a:schemeClr val="tx1"/>
                </a:solidFill>
                <a:latin typeface="+mn-lt"/>
                <a:ea typeface="+mn-ea"/>
                <a:cs typeface="+mn-cs"/>
              </a:rPr>
              <a:t>Crop quality is also an important factor because the majority of the higher quality grains and oilseeds are sent to port terminals for export. The mix of grains and oilseeds that Viterra manages in any given year is an important factor affecting margins and earnings.</a:t>
            </a:r>
          </a:p>
          <a:p>
            <a:r>
              <a:rPr lang="en-US" altLang="zh-CN" sz="1200" b="0" i="0" u="none" strike="noStrike" kern="1200" baseline="0" dirty="0" smtClean="0">
                <a:solidFill>
                  <a:schemeClr val="tx1"/>
                </a:solidFill>
                <a:latin typeface="+mn-lt"/>
                <a:ea typeface="+mn-ea"/>
                <a:cs typeface="+mn-cs"/>
              </a:rPr>
              <a:t>The level and mix of </a:t>
            </a:r>
            <a:r>
              <a:rPr lang="en-US" altLang="zh-CN" sz="1200" b="0" i="0" u="none" strike="noStrike" kern="1200" baseline="0" dirty="0" err="1" smtClean="0">
                <a:solidFill>
                  <a:schemeClr val="tx1"/>
                </a:solidFill>
                <a:latin typeface="+mn-lt"/>
                <a:ea typeface="+mn-ea"/>
                <a:cs typeface="+mn-cs"/>
              </a:rPr>
              <a:t>agri</a:t>
            </a:r>
            <a:r>
              <a:rPr lang="en-US" altLang="zh-CN" sz="1200" b="0" i="0" u="none" strike="noStrike" kern="1200" baseline="0" dirty="0" smtClean="0">
                <a:solidFill>
                  <a:schemeClr val="tx1"/>
                </a:solidFill>
                <a:latin typeface="+mn-lt"/>
                <a:ea typeface="+mn-ea"/>
                <a:cs typeface="+mn-cs"/>
              </a:rPr>
              <a:t>-products sales are also dependent on weather. Weather and moisture levels are a determining factor for,</a:t>
            </a:r>
          </a:p>
          <a:p>
            <a:r>
              <a:rPr lang="en-US" altLang="zh-CN" sz="1200" b="0" i="0" u="none" strike="noStrike" kern="1200" baseline="0" dirty="0" smtClean="0">
                <a:solidFill>
                  <a:schemeClr val="tx1"/>
                </a:solidFill>
                <a:latin typeface="+mn-lt"/>
                <a:ea typeface="+mn-ea"/>
                <a:cs typeface="+mn-cs"/>
              </a:rPr>
              <a:t>among other things, crop selection by producers at seeding time, the variety of seed sown, and the amount of proprietary seed purchased.</a:t>
            </a:r>
          </a:p>
          <a:p>
            <a:r>
              <a:rPr lang="en-US" altLang="zh-CN" sz="1200" b="0" i="0" u="none" strike="noStrike" kern="1200" baseline="0" dirty="0" smtClean="0">
                <a:solidFill>
                  <a:schemeClr val="tx1"/>
                </a:solidFill>
                <a:latin typeface="+mn-lt"/>
                <a:ea typeface="+mn-ea"/>
                <a:cs typeface="+mn-cs"/>
              </a:rPr>
              <a:t>Viterra has historically had grain volume insurance to protect the cash flow of the Company from significant declines in grain volumes as a result of drought or other weather-related events. For 2010, the Company had $75.0 million of coverage in place for Canadian and Australian exposure. For 2011, the Company has 49% of the $75.0 million of coverage in place under a multi-year program. The Company intends to place additional coverage for 2011.</a:t>
            </a:r>
          </a:p>
        </p:txBody>
      </p:sp>
      <p:sp>
        <p:nvSpPr>
          <p:cNvPr id="4" name="灯片编号占位符 3"/>
          <p:cNvSpPr>
            <a:spLocks noGrp="1"/>
          </p:cNvSpPr>
          <p:nvPr>
            <p:ph type="sldNum" sz="quarter" idx="10"/>
          </p:nvPr>
        </p:nvSpPr>
        <p:spPr/>
        <p:txBody>
          <a:bodyPr/>
          <a:lstStyle/>
          <a:p>
            <a:fld id="{C27AC548-C104-4E98-A350-17472E36FB30}" type="slidenum">
              <a:rPr lang="zh-CN" altLang="en-US" smtClean="0"/>
              <a:pPr/>
              <a:t>34</a:t>
            </a:fld>
            <a:endParaRPr lang="zh-CN" altLang="en-US"/>
          </a:p>
        </p:txBody>
      </p:sp>
    </p:spTree>
    <p:extLst>
      <p:ext uri="{BB962C8B-B14F-4D97-AF65-F5344CB8AC3E}">
        <p14:creationId xmlns:p14="http://schemas.microsoft.com/office/powerpoint/2010/main" xmlns="" val="972974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They</a:t>
            </a:r>
            <a:r>
              <a:rPr lang="en-US" baseline="0" dirty="0" smtClean="0"/>
              <a:t> u</a:t>
            </a:r>
            <a:r>
              <a:rPr lang="en-US" dirty="0" smtClean="0"/>
              <a:t>se fair value in the balance sheet</a:t>
            </a:r>
            <a:endParaRPr lang="en-US" dirty="0"/>
          </a:p>
        </p:txBody>
      </p:sp>
      <p:sp>
        <p:nvSpPr>
          <p:cNvPr id="4" name="Slide Number Placeholder 3"/>
          <p:cNvSpPr>
            <a:spLocks noGrp="1"/>
          </p:cNvSpPr>
          <p:nvPr>
            <p:ph type="sldNum" sz="quarter" idx="10"/>
          </p:nvPr>
        </p:nvSpPr>
        <p:spPr/>
        <p:txBody>
          <a:bodyPr/>
          <a:lstStyle/>
          <a:p>
            <a:fld id="{45F13EBB-985E-4C71-9792-4DC7C39235C6}" type="slidenum">
              <a:rPr lang="en-US" smtClean="0"/>
              <a:pPr/>
              <a:t>53</a:t>
            </a:fld>
            <a:endParaRPr lang="en-US"/>
          </a:p>
        </p:txBody>
      </p:sp>
    </p:spTree>
    <p:extLst>
      <p:ext uri="{BB962C8B-B14F-4D97-AF65-F5344CB8AC3E}">
        <p14:creationId xmlns:p14="http://schemas.microsoft.com/office/powerpoint/2010/main" xmlns="" val="3974363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The Company is one of the world’s largest processors of oilseeds, corn, wheat, cocoa, and other agricultural commodities and is a leading manufacturer of vegetable oil, protein meal, corn sweeteners, flour, biodiesel, ethanol, and other value-added food and feed ingredients. The Company also has an extensive grain elevator and transportation network to procure, store, clean, and transport agricultural commodities, such as oilseeds, corn, wheat, milo, oats, and barley, as well as processed agricultural commodities.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The Company expects to benefit from these investments, which typically aim to expand or enhance the Company’s market for its products or offer other benefits including, but not limited to, geographic or product line expansion.</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4A087D2-9BB4-4F89-A230-3BDB28FC14F2}" type="slidenum">
              <a:rPr lang="zh-CN" altLang="en-US" smtClean="0"/>
              <a:pPr/>
              <a:t>72</a:t>
            </a:fld>
            <a:endParaRPr lang="zh-CN" altLang="en-US"/>
          </a:p>
        </p:txBody>
      </p:sp>
    </p:spTree>
    <p:extLst>
      <p:ext uri="{BB962C8B-B14F-4D97-AF65-F5344CB8AC3E}">
        <p14:creationId xmlns:p14="http://schemas.microsoft.com/office/powerpoint/2010/main" xmlns="" val="3242493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The Company is one of the world’s largest processors of oilseeds, corn, wheat, cocoa, and other agricultural commodities and is a leading manufacturer of vegetable oil, protein meal, corn sweeteners, flour, biodiesel, ethanol, and other value-added food and feed ingredients. The Company also has an extensive grain elevator and transportation network to procure, store, clean, and transport agricultural commodities, such as oilseeds, corn, wheat, milo, oats, and barley, as well as processed agricultural commodities.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The Company expects to benefit from these investments, which typically aim to expand or enhance the Company’s market for its products or offer other benefits including, but not limited to, geographic or product line expansion.</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4A087D2-9BB4-4F89-A230-3BDB28FC14F2}" type="slidenum">
              <a:rPr lang="zh-CN" altLang="en-US" smtClean="0"/>
              <a:pPr/>
              <a:t>73</a:t>
            </a:fld>
            <a:endParaRPr lang="zh-CN" altLang="en-US"/>
          </a:p>
        </p:txBody>
      </p:sp>
    </p:spTree>
    <p:extLst>
      <p:ext uri="{BB962C8B-B14F-4D97-AF65-F5344CB8AC3E}">
        <p14:creationId xmlns:p14="http://schemas.microsoft.com/office/powerpoint/2010/main" xmlns="" val="3242493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A087D2-9BB4-4F89-A230-3BDB28FC14F2}" type="slidenum">
              <a:rPr lang="zh-CN" altLang="en-US" smtClean="0"/>
              <a:pPr/>
              <a:t>74</a:t>
            </a:fld>
            <a:endParaRPr lang="zh-CN" altLang="en-US"/>
          </a:p>
        </p:txBody>
      </p:sp>
    </p:spTree>
    <p:extLst>
      <p:ext uri="{BB962C8B-B14F-4D97-AF65-F5344CB8AC3E}">
        <p14:creationId xmlns:p14="http://schemas.microsoft.com/office/powerpoint/2010/main" xmlns="" val="3242493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A087D2-9BB4-4F89-A230-3BDB28FC14F2}" type="slidenum">
              <a:rPr lang="zh-CN" altLang="en-US" smtClean="0"/>
              <a:pPr/>
              <a:t>75</a:t>
            </a:fld>
            <a:endParaRPr lang="zh-CN" altLang="en-US"/>
          </a:p>
        </p:txBody>
      </p:sp>
    </p:spTree>
    <p:extLst>
      <p:ext uri="{BB962C8B-B14F-4D97-AF65-F5344CB8AC3E}">
        <p14:creationId xmlns:p14="http://schemas.microsoft.com/office/powerpoint/2010/main" xmlns="" val="3242493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A087D2-9BB4-4F89-A230-3BDB28FC14F2}" type="slidenum">
              <a:rPr lang="zh-CN" altLang="en-US" smtClean="0"/>
              <a:pPr/>
              <a:t>76</a:t>
            </a:fld>
            <a:endParaRPr lang="zh-CN" altLang="en-US"/>
          </a:p>
        </p:txBody>
      </p:sp>
    </p:spTree>
    <p:extLst>
      <p:ext uri="{BB962C8B-B14F-4D97-AF65-F5344CB8AC3E}">
        <p14:creationId xmlns:p14="http://schemas.microsoft.com/office/powerpoint/2010/main" xmlns="" val="3242493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A087D2-9BB4-4F89-A230-3BDB28FC14F2}" type="slidenum">
              <a:rPr lang="zh-CN" altLang="en-US" smtClean="0"/>
              <a:pPr/>
              <a:t>77</a:t>
            </a:fld>
            <a:endParaRPr lang="zh-CN" altLang="en-US"/>
          </a:p>
        </p:txBody>
      </p:sp>
    </p:spTree>
    <p:extLst>
      <p:ext uri="{BB962C8B-B14F-4D97-AF65-F5344CB8AC3E}">
        <p14:creationId xmlns:p14="http://schemas.microsoft.com/office/powerpoint/2010/main" xmlns="" val="3242493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A087D2-9BB4-4F89-A230-3BDB28FC14F2}" type="slidenum">
              <a:rPr lang="zh-CN" altLang="en-US" smtClean="0"/>
              <a:pPr/>
              <a:t>78</a:t>
            </a:fld>
            <a:endParaRPr lang="zh-CN" altLang="en-US"/>
          </a:p>
        </p:txBody>
      </p:sp>
    </p:spTree>
    <p:extLst>
      <p:ext uri="{BB962C8B-B14F-4D97-AF65-F5344CB8AC3E}">
        <p14:creationId xmlns:p14="http://schemas.microsoft.com/office/powerpoint/2010/main" xmlns="" val="3242493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For derivative instruments that are designated and qualify as cash flow hedges the effective portion of the gain or loss on the derivative instrument is reported as a component of AOCI and reclassified into earnings in the same line item affected by the hedged transaction and in the same period or periods during which the hedged transaction affects earnings. </a:t>
            </a:r>
            <a:endParaRPr lang="zh-CN" altLang="en-US" dirty="0" smtClean="0"/>
          </a:p>
          <a:p>
            <a:endParaRPr lang="en-US" dirty="0"/>
          </a:p>
        </p:txBody>
      </p:sp>
      <p:sp>
        <p:nvSpPr>
          <p:cNvPr id="4" name="Slide Number Placeholder 3"/>
          <p:cNvSpPr>
            <a:spLocks noGrp="1"/>
          </p:cNvSpPr>
          <p:nvPr>
            <p:ph type="sldNum" sz="quarter" idx="10"/>
          </p:nvPr>
        </p:nvSpPr>
        <p:spPr/>
        <p:txBody>
          <a:bodyPr/>
          <a:lstStyle/>
          <a:p>
            <a:fld id="{52B5D377-DB2C-4574-A55A-F00EAC952169}" type="slidenum">
              <a:rPr lang="en-CA" smtClean="0"/>
              <a:pPr/>
              <a:t>99</a:t>
            </a:fld>
            <a:endParaRPr lang="en-CA"/>
          </a:p>
        </p:txBody>
      </p:sp>
    </p:spTree>
    <p:extLst>
      <p:ext uri="{BB962C8B-B14F-4D97-AF65-F5344CB8AC3E}">
        <p14:creationId xmlns:p14="http://schemas.microsoft.com/office/powerpoint/2010/main" xmlns="" val="316568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20" name="Footer Placeholder 19"/>
          <p:cNvSpPr>
            <a:spLocks noGrp="1"/>
          </p:cNvSpPr>
          <p:nvPr>
            <p:ph type="ftr" sz="quarter" idx="11"/>
          </p:nvPr>
        </p:nvSpPr>
        <p:spPr/>
        <p:txBody>
          <a:bodyPr/>
          <a:lstStyle>
            <a:extLst/>
          </a:lstStyle>
          <a:p>
            <a:endParaRPr lang="en-CA"/>
          </a:p>
        </p:txBody>
      </p:sp>
      <p:sp>
        <p:nvSpPr>
          <p:cNvPr id="10" name="Slide Number Placeholder 9"/>
          <p:cNvSpPr>
            <a:spLocks noGrp="1"/>
          </p:cNvSpPr>
          <p:nvPr>
            <p:ph type="sldNum" sz="quarter" idx="12"/>
          </p:nvPr>
        </p:nvSpPr>
        <p:spPr/>
        <p:txBody>
          <a:bodyPr/>
          <a:lstStyle>
            <a:extLst/>
          </a:lstStyle>
          <a:p>
            <a:fld id="{DEFED736-0361-4D49-B94A-3A6D1FB0AB8F}" type="slidenum">
              <a:rPr lang="en-CA" smtClean="0"/>
              <a:pPr/>
              <a:t>‹#›</a:t>
            </a:fld>
            <a:endParaRPr lang="en-CA"/>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5" name="Footer Placeholder 4"/>
          <p:cNvSpPr>
            <a:spLocks noGrp="1"/>
          </p:cNvSpPr>
          <p:nvPr>
            <p:ph type="ftr" sz="quarter" idx="11"/>
          </p:nvPr>
        </p:nvSpPr>
        <p:spPr/>
        <p:txBody>
          <a:bodyPr/>
          <a:lstStyle>
            <a:extLst/>
          </a:lstStyle>
          <a:p>
            <a:endParaRPr lang="en-CA"/>
          </a:p>
        </p:txBody>
      </p:sp>
      <p:sp>
        <p:nvSpPr>
          <p:cNvPr id="6" name="Slide Number Placeholder 5"/>
          <p:cNvSpPr>
            <a:spLocks noGrp="1"/>
          </p:cNvSpPr>
          <p:nvPr>
            <p:ph type="sldNum" sz="quarter" idx="12"/>
          </p:nvPr>
        </p:nvSpPr>
        <p:spPr/>
        <p:txBody>
          <a:bodyPr/>
          <a:lstStyle>
            <a:extLst/>
          </a:lstStyle>
          <a:p>
            <a:fld id="{DEFED736-0361-4D49-B94A-3A6D1FB0AB8F}" type="slidenum">
              <a:rPr lang="en-CA" smtClean="0"/>
              <a:pPr/>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5" name="Footer Placeholder 4"/>
          <p:cNvSpPr>
            <a:spLocks noGrp="1"/>
          </p:cNvSpPr>
          <p:nvPr>
            <p:ph type="ftr" sz="quarter" idx="11"/>
          </p:nvPr>
        </p:nvSpPr>
        <p:spPr/>
        <p:txBody>
          <a:bodyPr/>
          <a:lstStyle>
            <a:extLst/>
          </a:lstStyle>
          <a:p>
            <a:endParaRPr lang="en-CA"/>
          </a:p>
        </p:txBody>
      </p:sp>
      <p:sp>
        <p:nvSpPr>
          <p:cNvPr id="6" name="Slide Number Placeholder 5"/>
          <p:cNvSpPr>
            <a:spLocks noGrp="1"/>
          </p:cNvSpPr>
          <p:nvPr>
            <p:ph type="sldNum" sz="quarter" idx="12"/>
          </p:nvPr>
        </p:nvSpPr>
        <p:spPr/>
        <p:txBody>
          <a:bodyPr/>
          <a:lstStyle>
            <a:extLst/>
          </a:lstStyle>
          <a:p>
            <a:fld id="{DEFED736-0361-4D49-B94A-3A6D1FB0AB8F}" type="slidenum">
              <a:rPr lang="en-CA" smtClean="0"/>
              <a:pPr/>
              <a:t>‹#›</a:t>
            </a:fld>
            <a:endParaRPr lang="en-CA"/>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6" name="Footer Placeholder 5"/>
          <p:cNvSpPr>
            <a:spLocks noGrp="1"/>
          </p:cNvSpPr>
          <p:nvPr>
            <p:ph type="ftr" sz="quarter" idx="11"/>
          </p:nvPr>
        </p:nvSpPr>
        <p:spPr/>
        <p:txBody>
          <a:bodyPr/>
          <a:lstStyle>
            <a:extLst/>
          </a:lstStyle>
          <a:p>
            <a:endParaRPr lang="en-CA"/>
          </a:p>
        </p:txBody>
      </p:sp>
      <p:sp>
        <p:nvSpPr>
          <p:cNvPr id="7" name="Slide Number Placeholder 6"/>
          <p:cNvSpPr>
            <a:spLocks noGrp="1"/>
          </p:cNvSpPr>
          <p:nvPr>
            <p:ph type="sldNum" sz="quarter" idx="12"/>
          </p:nvPr>
        </p:nvSpPr>
        <p:spPr/>
        <p:txBody>
          <a:bodyPr/>
          <a:lstStyle>
            <a:extLst/>
          </a:lstStyle>
          <a:p>
            <a:fld id="{DEFED736-0361-4D49-B94A-3A6D1FB0AB8F}" type="slidenum">
              <a:rPr lang="en-CA" smtClean="0"/>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8" name="Footer Placeholder 7"/>
          <p:cNvSpPr>
            <a:spLocks noGrp="1"/>
          </p:cNvSpPr>
          <p:nvPr>
            <p:ph type="ftr" sz="quarter" idx="11"/>
          </p:nvPr>
        </p:nvSpPr>
        <p:spPr/>
        <p:txBody>
          <a:bodyPr/>
          <a:lstStyle>
            <a:extLst/>
          </a:lstStyle>
          <a:p>
            <a:endParaRPr lang="en-CA"/>
          </a:p>
        </p:txBody>
      </p:sp>
      <p:sp>
        <p:nvSpPr>
          <p:cNvPr id="9" name="Slide Number Placeholder 8"/>
          <p:cNvSpPr>
            <a:spLocks noGrp="1"/>
          </p:cNvSpPr>
          <p:nvPr>
            <p:ph type="sldNum" sz="quarter" idx="12"/>
          </p:nvPr>
        </p:nvSpPr>
        <p:spPr/>
        <p:txBody>
          <a:bodyPr/>
          <a:lstStyle>
            <a:extLst/>
          </a:lstStyle>
          <a:p>
            <a:fld id="{DEFED736-0361-4D49-B94A-3A6D1FB0AB8F}" type="slidenum">
              <a:rPr lang="en-CA" smtClean="0"/>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4" name="Footer Placeholder 3"/>
          <p:cNvSpPr>
            <a:spLocks noGrp="1"/>
          </p:cNvSpPr>
          <p:nvPr>
            <p:ph type="ftr" sz="quarter" idx="11"/>
          </p:nvPr>
        </p:nvSpPr>
        <p:spPr/>
        <p:txBody>
          <a:bodyPr/>
          <a:lstStyle>
            <a:extLst/>
          </a:lstStyle>
          <a:p>
            <a:endParaRPr lang="en-CA"/>
          </a:p>
        </p:txBody>
      </p:sp>
      <p:sp>
        <p:nvSpPr>
          <p:cNvPr id="5" name="Slide Number Placeholder 4"/>
          <p:cNvSpPr>
            <a:spLocks noGrp="1"/>
          </p:cNvSpPr>
          <p:nvPr>
            <p:ph type="sldNum" sz="quarter" idx="12"/>
          </p:nvPr>
        </p:nvSpPr>
        <p:spPr/>
        <p:txBody>
          <a:bodyPr/>
          <a:lstStyle>
            <a:extLst/>
          </a:lstStyle>
          <a:p>
            <a:fld id="{DEFED736-0361-4D49-B94A-3A6D1FB0AB8F}" type="slidenum">
              <a:rPr lang="en-CA" smtClean="0"/>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3" name="Footer Placeholder 2"/>
          <p:cNvSpPr>
            <a:spLocks noGrp="1"/>
          </p:cNvSpPr>
          <p:nvPr>
            <p:ph type="ftr" sz="quarter" idx="11"/>
          </p:nvPr>
        </p:nvSpPr>
        <p:spPr/>
        <p:txBody>
          <a:bodyPr/>
          <a:lstStyle>
            <a:extLst/>
          </a:lstStyle>
          <a:p>
            <a:endParaRPr lang="en-CA"/>
          </a:p>
        </p:txBody>
      </p:sp>
      <p:sp>
        <p:nvSpPr>
          <p:cNvPr id="4" name="Slide Number Placeholder 3"/>
          <p:cNvSpPr>
            <a:spLocks noGrp="1"/>
          </p:cNvSpPr>
          <p:nvPr>
            <p:ph type="sldNum" sz="quarter" idx="12"/>
          </p:nvPr>
        </p:nvSpPr>
        <p:spPr/>
        <p:txBody>
          <a:bodyPr/>
          <a:lstStyle>
            <a:extLst/>
          </a:lstStyle>
          <a:p>
            <a:fld id="{DEFED736-0361-4D49-B94A-3A6D1FB0AB8F}" type="slidenum">
              <a:rPr lang="en-CA" smtClean="0"/>
              <a:pPr/>
              <a:t>‹#›</a:t>
            </a:fld>
            <a:endParaRPr lang="en-CA"/>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6" name="Footer Placeholder 5"/>
          <p:cNvSpPr>
            <a:spLocks noGrp="1"/>
          </p:cNvSpPr>
          <p:nvPr>
            <p:ph type="ftr" sz="quarter" idx="11"/>
          </p:nvPr>
        </p:nvSpPr>
        <p:spPr/>
        <p:txBody>
          <a:bodyPr/>
          <a:lstStyle>
            <a:extLst/>
          </a:lstStyle>
          <a:p>
            <a:endParaRPr lang="en-CA"/>
          </a:p>
        </p:txBody>
      </p:sp>
      <p:sp>
        <p:nvSpPr>
          <p:cNvPr id="7" name="Slide Number Placeholder 6"/>
          <p:cNvSpPr>
            <a:spLocks noGrp="1"/>
          </p:cNvSpPr>
          <p:nvPr>
            <p:ph type="sldNum" sz="quarter" idx="12"/>
          </p:nvPr>
        </p:nvSpPr>
        <p:spPr/>
        <p:txBody>
          <a:bodyPr/>
          <a:lstStyle>
            <a:extLst/>
          </a:lstStyle>
          <a:p>
            <a:fld id="{DEFED736-0361-4D49-B94A-3A6D1FB0AB8F}" type="slidenum">
              <a:rPr lang="en-CA" smtClean="0"/>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6" name="Footer Placeholder 5"/>
          <p:cNvSpPr>
            <a:spLocks noGrp="1"/>
          </p:cNvSpPr>
          <p:nvPr>
            <p:ph type="ftr" sz="quarter" idx="11"/>
          </p:nvPr>
        </p:nvSpPr>
        <p:spPr/>
        <p:txBody>
          <a:bodyPr/>
          <a:lstStyle>
            <a:extLst/>
          </a:lstStyle>
          <a:p>
            <a:endParaRPr lang="en-CA"/>
          </a:p>
        </p:txBody>
      </p:sp>
      <p:sp>
        <p:nvSpPr>
          <p:cNvPr id="7" name="Slide Number Placeholder 6"/>
          <p:cNvSpPr>
            <a:spLocks noGrp="1"/>
          </p:cNvSpPr>
          <p:nvPr>
            <p:ph type="sldNum" sz="quarter" idx="12"/>
          </p:nvPr>
        </p:nvSpPr>
        <p:spPr/>
        <p:txBody>
          <a:bodyPr/>
          <a:lstStyle>
            <a:extLst/>
          </a:lstStyle>
          <a:p>
            <a:fld id="{DEFED736-0361-4D49-B94A-3A6D1FB0AB8F}" type="slidenum">
              <a:rPr lang="en-CA" smtClean="0"/>
              <a:pPr/>
              <a:t>‹#›</a:t>
            </a:fld>
            <a:endParaRPr lang="en-CA"/>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5" name="Footer Placeholder 4"/>
          <p:cNvSpPr>
            <a:spLocks noGrp="1"/>
          </p:cNvSpPr>
          <p:nvPr>
            <p:ph type="ftr" sz="quarter" idx="11"/>
          </p:nvPr>
        </p:nvSpPr>
        <p:spPr/>
        <p:txBody>
          <a:bodyPr/>
          <a:lstStyle>
            <a:extLst/>
          </a:lstStyle>
          <a:p>
            <a:endParaRPr lang="en-CA"/>
          </a:p>
        </p:txBody>
      </p:sp>
      <p:sp>
        <p:nvSpPr>
          <p:cNvPr id="6" name="Slide Number Placeholder 5"/>
          <p:cNvSpPr>
            <a:spLocks noGrp="1"/>
          </p:cNvSpPr>
          <p:nvPr>
            <p:ph type="sldNum" sz="quarter" idx="12"/>
          </p:nvPr>
        </p:nvSpPr>
        <p:spPr/>
        <p:txBody>
          <a:bodyPr/>
          <a:lstStyle>
            <a:extLst/>
          </a:lstStyle>
          <a:p>
            <a:fld id="{DEFED736-0361-4D49-B94A-3A6D1FB0AB8F}" type="slidenum">
              <a:rPr lang="en-CA" smtClean="0"/>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ED41A7-14EE-446D-8463-EA1845CD4F43}" type="datetimeFigureOut">
              <a:rPr lang="en-CA" smtClean="0"/>
              <a:pPr/>
              <a:t>21/11/2011</a:t>
            </a:fld>
            <a:endParaRPr lang="en-CA"/>
          </a:p>
        </p:txBody>
      </p:sp>
      <p:sp>
        <p:nvSpPr>
          <p:cNvPr id="5" name="Footer Placeholder 4"/>
          <p:cNvSpPr>
            <a:spLocks noGrp="1"/>
          </p:cNvSpPr>
          <p:nvPr>
            <p:ph type="ftr" sz="quarter" idx="11"/>
          </p:nvPr>
        </p:nvSpPr>
        <p:spPr/>
        <p:txBody>
          <a:bodyPr/>
          <a:lstStyle>
            <a:extLst/>
          </a:lstStyle>
          <a:p>
            <a:endParaRPr lang="en-CA"/>
          </a:p>
        </p:txBody>
      </p:sp>
      <p:sp>
        <p:nvSpPr>
          <p:cNvPr id="6" name="Slide Number Placeholder 5"/>
          <p:cNvSpPr>
            <a:spLocks noGrp="1"/>
          </p:cNvSpPr>
          <p:nvPr>
            <p:ph type="sldNum" sz="quarter" idx="12"/>
          </p:nvPr>
        </p:nvSpPr>
        <p:spPr/>
        <p:txBody>
          <a:bodyPr/>
          <a:lstStyle>
            <a:extLst/>
          </a:lstStyle>
          <a:p>
            <a:fld id="{DEFED736-0361-4D49-B94A-3A6D1FB0AB8F}" type="slidenum">
              <a:rPr lang="en-CA" smtClean="0"/>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1ED41A7-14EE-446D-8463-EA1845CD4F43}" type="datetimeFigureOut">
              <a:rPr lang="en-CA" smtClean="0"/>
              <a:pPr/>
              <a:t>21/11/2011</a:t>
            </a:fld>
            <a:endParaRPr lang="en-CA"/>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CA"/>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DEFED736-0361-4D49-B94A-3A6D1FB0AB8F}" type="slidenum">
              <a:rPr lang="en-CA" smtClean="0"/>
              <a:pPr/>
              <a:t>‹#›</a:t>
            </a:fld>
            <a:endParaRPr lang="en-CA"/>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7904" y="2130425"/>
            <a:ext cx="2376264" cy="1470025"/>
          </a:xfrm>
        </p:spPr>
        <p:txBody>
          <a:bodyPr/>
          <a:lstStyle/>
          <a:p>
            <a:endParaRPr lang="en-CA" dirty="0"/>
          </a:p>
        </p:txBody>
      </p:sp>
      <p:sp>
        <p:nvSpPr>
          <p:cNvPr id="3" name="Subtitle 2"/>
          <p:cNvSpPr>
            <a:spLocks noGrp="1"/>
          </p:cNvSpPr>
          <p:nvPr>
            <p:ph type="subTitle" idx="1"/>
          </p:nvPr>
        </p:nvSpPr>
        <p:spPr/>
        <p:txBody>
          <a:bodyPr/>
          <a:lstStyle/>
          <a:p>
            <a:endParaRPr lang="en-CA"/>
          </a:p>
        </p:txBody>
      </p:sp>
      <p:pic>
        <p:nvPicPr>
          <p:cNvPr id="4098" name="Picture 2"/>
          <p:cNvPicPr>
            <a:picLocks noChangeAspect="1" noChangeArrowheads="1"/>
          </p:cNvPicPr>
          <p:nvPr/>
        </p:nvPicPr>
        <p:blipFill>
          <a:blip r:embed="rId2" cstate="print"/>
          <a:srcRect/>
          <a:stretch>
            <a:fillRect/>
          </a:stretch>
        </p:blipFill>
        <p:spPr bwMode="auto">
          <a:xfrm>
            <a:off x="1038225" y="1090613"/>
            <a:ext cx="7067550" cy="4676775"/>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252413" y="547688"/>
            <a:ext cx="8639175" cy="5762625"/>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114300" y="-171400"/>
            <a:ext cx="9372600" cy="7029400"/>
          </a:xfrm>
          <a:prstGeom prst="rect">
            <a:avLst/>
          </a:prstGeom>
          <a:noFill/>
          <a:ln w="9525">
            <a:noFill/>
            <a:miter lim="800000"/>
            <a:headEnd/>
            <a:tailEnd/>
          </a:ln>
        </p:spPr>
      </p:pic>
      <p:sp>
        <p:nvSpPr>
          <p:cNvPr id="7" name="TextBox 6"/>
          <p:cNvSpPr txBox="1"/>
          <p:nvPr/>
        </p:nvSpPr>
        <p:spPr>
          <a:xfrm>
            <a:off x="683568" y="836712"/>
            <a:ext cx="6150530" cy="2246769"/>
          </a:xfrm>
          <a:prstGeom prst="rect">
            <a:avLst/>
          </a:prstGeom>
          <a:noFill/>
        </p:spPr>
        <p:txBody>
          <a:bodyPr wrap="none" rtlCol="0">
            <a:spAutoFit/>
          </a:bodyPr>
          <a:lstStyle/>
          <a:p>
            <a:r>
              <a:rPr lang="en-CA" sz="7000" b="1" dirty="0" smtClean="0">
                <a:solidFill>
                  <a:schemeClr val="bg1"/>
                </a:solidFill>
                <a:latin typeface="Cambria" pitchFamily="18" charset="0"/>
              </a:rPr>
              <a:t>Viterra &amp; ADM</a:t>
            </a:r>
          </a:p>
          <a:p>
            <a:endParaRPr lang="en-CA" sz="7000" b="1" dirty="0">
              <a:latin typeface="Cambria" pitchFamily="18" charset="0"/>
            </a:endParaRPr>
          </a:p>
        </p:txBody>
      </p:sp>
      <p:cxnSp>
        <p:nvCxnSpPr>
          <p:cNvPr id="9" name="Straight Connector 8"/>
          <p:cNvCxnSpPr/>
          <p:nvPr/>
        </p:nvCxnSpPr>
        <p:spPr>
          <a:xfrm>
            <a:off x="-252536" y="1772816"/>
            <a:ext cx="96490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995936" y="1700808"/>
            <a:ext cx="5124352" cy="369332"/>
          </a:xfrm>
          <a:prstGeom prst="rect">
            <a:avLst/>
          </a:prstGeom>
          <a:noFill/>
        </p:spPr>
        <p:txBody>
          <a:bodyPr wrap="none" rtlCol="0">
            <a:spAutoFit/>
          </a:bodyPr>
          <a:lstStyle/>
          <a:p>
            <a:r>
              <a:rPr lang="en-CA" dirty="0" smtClean="0">
                <a:solidFill>
                  <a:schemeClr val="bg1"/>
                </a:solidFill>
              </a:rPr>
              <a:t>By Joseph Chan, Virginia Chu, Ruolin Li, Yi Peng Zhang</a:t>
            </a:r>
            <a:endParaRPr lang="en-CA" dirty="0">
              <a:solidFill>
                <a:schemeClr val="bg1"/>
              </a:solidFill>
            </a:endParaRPr>
          </a:p>
        </p:txBody>
      </p:sp>
      <p:pic>
        <p:nvPicPr>
          <p:cNvPr id="1026" name="Picture 2" descr="http://3.bp.blogspot.com/_60TFJ7DPUmY/TMZscfQBcfI/AAAAAAAAAEY/q0FfU_-XBtg/s1600/grain-field.jpg"/>
          <p:cNvPicPr>
            <a:picLocks noChangeAspect="1" noChangeArrowheads="1"/>
          </p:cNvPicPr>
          <p:nvPr/>
        </p:nvPicPr>
        <p:blipFill rotWithShape="1">
          <a:blip r:embed="rId5" cstate="print">
            <a:extLst>
              <a:ext uri="{28A0092B-C50C-407E-A947-70E740481C1C}">
                <a14:useLocalDpi xmlns:a14="http://schemas.microsoft.com/office/drawing/2010/main" xmlns="" val="0"/>
              </a:ext>
            </a:extLst>
          </a:blip>
          <a:srcRect b="3168"/>
          <a:stretch/>
        </p:blipFill>
        <p:spPr bwMode="auto">
          <a:xfrm>
            <a:off x="-304800" y="-198016"/>
            <a:ext cx="9753600" cy="708340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148828" y="832063"/>
            <a:ext cx="7627986" cy="2092881"/>
          </a:xfrm>
          <a:prstGeom prst="rect">
            <a:avLst/>
          </a:prstGeom>
          <a:noFill/>
        </p:spPr>
        <p:txBody>
          <a:bodyPr wrap="none" rtlCol="0">
            <a:spAutoFit/>
          </a:bodyPr>
          <a:lstStyle/>
          <a:p>
            <a:r>
              <a:rPr lang="en-US" sz="9000" dirty="0" smtClean="0">
                <a:solidFill>
                  <a:srgbClr val="FFCC66"/>
                </a:solidFill>
                <a:latin typeface="Cambria" pitchFamily="18" charset="0"/>
              </a:rPr>
              <a:t>Viterra &amp; ADM </a:t>
            </a:r>
          </a:p>
          <a:p>
            <a:endParaRPr lang="en-US" sz="4000" dirty="0">
              <a:latin typeface="Cambria" pitchFamily="18" charset="0"/>
            </a:endParaRPr>
          </a:p>
        </p:txBody>
      </p:sp>
      <p:cxnSp>
        <p:nvCxnSpPr>
          <p:cNvPr id="11" name="Straight Connector 10"/>
          <p:cNvCxnSpPr/>
          <p:nvPr/>
        </p:nvCxnSpPr>
        <p:spPr>
          <a:xfrm>
            <a:off x="-540568" y="2060848"/>
            <a:ext cx="10369152" cy="0"/>
          </a:xfrm>
          <a:prstGeom prst="line">
            <a:avLst/>
          </a:prstGeom>
          <a:ln>
            <a:solidFill>
              <a:srgbClr val="FFCC66"/>
            </a:solidFill>
          </a:ln>
        </p:spPr>
        <p:style>
          <a:lnRef idx="1">
            <a:schemeClr val="accent6"/>
          </a:lnRef>
          <a:fillRef idx="0">
            <a:schemeClr val="accent6"/>
          </a:fillRef>
          <a:effectRef idx="0">
            <a:schemeClr val="accent6"/>
          </a:effectRef>
          <a:fontRef idx="minor">
            <a:schemeClr val="tx1"/>
          </a:fontRef>
        </p:style>
      </p:cxnSp>
      <p:sp>
        <p:nvSpPr>
          <p:cNvPr id="12" name="Rectangle 11"/>
          <p:cNvSpPr/>
          <p:nvPr/>
        </p:nvSpPr>
        <p:spPr>
          <a:xfrm>
            <a:off x="2987824" y="6309320"/>
            <a:ext cx="6972300" cy="369332"/>
          </a:xfrm>
          <a:prstGeom prst="rect">
            <a:avLst/>
          </a:prstGeom>
        </p:spPr>
        <p:txBody>
          <a:bodyPr wrap="square">
            <a:spAutoFit/>
          </a:bodyPr>
          <a:lstStyle/>
          <a:p>
            <a:r>
              <a:rPr lang="en-US" dirty="0">
                <a:solidFill>
                  <a:schemeClr val="bg1"/>
                </a:solidFill>
                <a:latin typeface="Cambria" pitchFamily="18" charset="0"/>
              </a:rPr>
              <a:t>By Virginia Hiu Kwan Chu, </a:t>
            </a:r>
            <a:r>
              <a:rPr lang="en-US" dirty="0" smtClean="0">
                <a:solidFill>
                  <a:schemeClr val="bg1"/>
                </a:solidFill>
                <a:latin typeface="Cambria" pitchFamily="18" charset="0"/>
              </a:rPr>
              <a:t>Joseph Chan, </a:t>
            </a:r>
            <a:r>
              <a:rPr lang="en-US" dirty="0" err="1">
                <a:solidFill>
                  <a:schemeClr val="bg1"/>
                </a:solidFill>
                <a:latin typeface="Cambria" pitchFamily="18" charset="0"/>
              </a:rPr>
              <a:t>Ruolin</a:t>
            </a:r>
            <a:r>
              <a:rPr lang="en-US" dirty="0">
                <a:solidFill>
                  <a:schemeClr val="bg1"/>
                </a:solidFill>
                <a:latin typeface="Cambria" pitchFamily="18" charset="0"/>
              </a:rPr>
              <a:t> Li, </a:t>
            </a:r>
            <a:r>
              <a:rPr lang="en-US" dirty="0" err="1">
                <a:solidFill>
                  <a:schemeClr val="bg1"/>
                </a:solidFill>
                <a:latin typeface="Cambria" pitchFamily="18" charset="0"/>
              </a:rPr>
              <a:t>Yipeng</a:t>
            </a:r>
            <a:r>
              <a:rPr lang="en-US" dirty="0">
                <a:solidFill>
                  <a:schemeClr val="bg1"/>
                </a:solidFill>
                <a:latin typeface="Cambria" pitchFamily="18" charset="0"/>
              </a:rPr>
              <a:t> Zhang</a:t>
            </a:r>
            <a:endParaRPr lang="en-CA" dirty="0">
              <a:solidFill>
                <a:schemeClr val="bg1"/>
              </a:solidFill>
              <a:latin typeface="Cambria"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188640"/>
            <a:ext cx="7498080" cy="1143000"/>
          </a:xfrm>
        </p:spPr>
        <p:txBody>
          <a:bodyPr/>
          <a:lstStyle/>
          <a:p>
            <a:r>
              <a:rPr lang="en-CA" sz="3800" b="1" dirty="0" smtClean="0">
                <a:effectLst/>
                <a:latin typeface="Cambria" pitchFamily="18" charset="0"/>
              </a:rPr>
              <a:t>Outline </a:t>
            </a:r>
            <a:endParaRPr lang="en-CA" b="1" dirty="0">
              <a:effectLst/>
            </a:endParaRPr>
          </a:p>
        </p:txBody>
      </p:sp>
      <p:sp>
        <p:nvSpPr>
          <p:cNvPr id="3" name="Content Placeholder 2"/>
          <p:cNvSpPr>
            <a:spLocks noGrp="1"/>
          </p:cNvSpPr>
          <p:nvPr>
            <p:ph idx="1"/>
          </p:nvPr>
        </p:nvSpPr>
        <p:spPr>
          <a:xfrm>
            <a:off x="1331640" y="1052736"/>
            <a:ext cx="7498080" cy="4824536"/>
          </a:xfrm>
        </p:spPr>
        <p:txBody>
          <a:bodyPr>
            <a:normAutofit lnSpcReduction="10000"/>
          </a:bodyPr>
          <a:lstStyle/>
          <a:p>
            <a:pPr marL="82296" indent="0">
              <a:buNone/>
            </a:pPr>
            <a:r>
              <a:rPr lang="en-US" dirty="0" smtClean="0">
                <a:latin typeface="Cambria" pitchFamily="18" charset="0"/>
              </a:rPr>
              <a:t> </a:t>
            </a:r>
            <a:endParaRPr lang="en-CA" sz="2500" dirty="0" smtClean="0">
              <a:latin typeface="Cambria" pitchFamily="18" charset="0"/>
            </a:endParaRPr>
          </a:p>
          <a:p>
            <a:r>
              <a:rPr lang="en-CA" sz="2900" dirty="0" smtClean="0">
                <a:latin typeface="Cambria" pitchFamily="18" charset="0"/>
              </a:rPr>
              <a:t>Industry Analysis</a:t>
            </a:r>
          </a:p>
          <a:p>
            <a:pPr lvl="1"/>
            <a:r>
              <a:rPr lang="en-CA" sz="2100" dirty="0" smtClean="0">
                <a:latin typeface="Cambria" pitchFamily="18" charset="0"/>
              </a:rPr>
              <a:t>Economic</a:t>
            </a:r>
          </a:p>
          <a:p>
            <a:pPr lvl="1"/>
            <a:r>
              <a:rPr lang="en-CA" sz="2100" dirty="0" smtClean="0">
                <a:latin typeface="Cambria" pitchFamily="18" charset="0"/>
              </a:rPr>
              <a:t>Market </a:t>
            </a:r>
          </a:p>
          <a:p>
            <a:r>
              <a:rPr lang="en-US" sz="2900" dirty="0" err="1" smtClean="0">
                <a:latin typeface="Cambria" pitchFamily="18" charset="0"/>
              </a:rPr>
              <a:t>Viterra</a:t>
            </a:r>
            <a:r>
              <a:rPr lang="en-US" sz="2900" dirty="0" smtClean="0">
                <a:latin typeface="Cambria" pitchFamily="18" charset="0"/>
              </a:rPr>
              <a:t> </a:t>
            </a:r>
          </a:p>
          <a:p>
            <a:pPr lvl="1"/>
            <a:r>
              <a:rPr lang="en-US" sz="2100" dirty="0" smtClean="0">
                <a:latin typeface="Cambria" pitchFamily="18" charset="0"/>
              </a:rPr>
              <a:t>Company Overview</a:t>
            </a:r>
          </a:p>
          <a:p>
            <a:pPr lvl="1"/>
            <a:r>
              <a:rPr lang="en-US" sz="2100" dirty="0">
                <a:latin typeface="Cambria" pitchFamily="18" charset="0"/>
              </a:rPr>
              <a:t>Risk Management </a:t>
            </a:r>
            <a:endParaRPr lang="en-CA" sz="2100" dirty="0">
              <a:latin typeface="Cambria" pitchFamily="18" charset="0"/>
            </a:endParaRPr>
          </a:p>
          <a:p>
            <a:pPr lvl="1"/>
            <a:r>
              <a:rPr lang="en-US" sz="2100" dirty="0" smtClean="0">
                <a:latin typeface="Cambria" pitchFamily="18" charset="0"/>
              </a:rPr>
              <a:t>Financial Statements Analysis</a:t>
            </a:r>
          </a:p>
          <a:p>
            <a:r>
              <a:rPr lang="en-US" sz="2500" dirty="0" smtClean="0">
                <a:latin typeface="Cambria" pitchFamily="18" charset="0"/>
              </a:rPr>
              <a:t>ADM</a:t>
            </a:r>
          </a:p>
          <a:p>
            <a:pPr lvl="1"/>
            <a:r>
              <a:rPr lang="en-US" sz="2100" dirty="0" smtClean="0">
                <a:latin typeface="Cambria" pitchFamily="18" charset="0"/>
              </a:rPr>
              <a:t>Company Overview </a:t>
            </a:r>
          </a:p>
          <a:p>
            <a:pPr lvl="1"/>
            <a:r>
              <a:rPr lang="en-US" sz="2100" dirty="0">
                <a:latin typeface="Cambria" pitchFamily="18" charset="0"/>
              </a:rPr>
              <a:t>Risk Management </a:t>
            </a:r>
          </a:p>
          <a:p>
            <a:pPr lvl="1"/>
            <a:r>
              <a:rPr lang="en-US" sz="2100" dirty="0" smtClean="0">
                <a:latin typeface="Cambria" pitchFamily="18" charset="0"/>
              </a:rPr>
              <a:t>Financial Statements Analysis </a:t>
            </a:r>
          </a:p>
          <a:p>
            <a:pPr lvl="1"/>
            <a:endParaRPr lang="en-US" sz="2100" dirty="0" smtClean="0">
              <a:latin typeface="Cambria"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776" y="2636912"/>
            <a:ext cx="6400800" cy="2286000"/>
          </a:xfrm>
        </p:spPr>
        <p:txBody>
          <a:bodyPr/>
          <a:lstStyle/>
          <a:p>
            <a:r>
              <a:rPr lang="en-CA" dirty="0" smtClean="0">
                <a:latin typeface="Cambria" pitchFamily="18" charset="0"/>
              </a:rPr>
              <a:t>Industry overview </a:t>
            </a:r>
            <a:endParaRPr lang="en-CA" dirty="0">
              <a:latin typeface="Cambria"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900" dirty="0" smtClean="0"/>
              <a:t>Agriculture Industry</a:t>
            </a:r>
            <a:endParaRPr lang="en-US" sz="3900" dirty="0"/>
          </a:p>
        </p:txBody>
      </p:sp>
      <p:sp>
        <p:nvSpPr>
          <p:cNvPr id="3" name="TextBox 2"/>
          <p:cNvSpPr txBox="1"/>
          <p:nvPr/>
        </p:nvSpPr>
        <p:spPr>
          <a:xfrm>
            <a:off x="1475656" y="1484784"/>
            <a:ext cx="7128792" cy="3154710"/>
          </a:xfrm>
          <a:prstGeom prst="rect">
            <a:avLst/>
          </a:prstGeom>
          <a:noFill/>
        </p:spPr>
        <p:txBody>
          <a:bodyPr wrap="square" rtlCol="0">
            <a:spAutoFit/>
          </a:bodyPr>
          <a:lstStyle/>
          <a:p>
            <a:endParaRPr lang="en-US" sz="2800" dirty="0" smtClean="0"/>
          </a:p>
          <a:p>
            <a:r>
              <a:rPr lang="en-US" sz="2800" dirty="0" smtClean="0"/>
              <a:t>Includes different activities such as:</a:t>
            </a:r>
          </a:p>
          <a:p>
            <a:pPr marL="742950" lvl="1" indent="-285750">
              <a:buFont typeface="Arial" pitchFamily="34" charset="0"/>
              <a:buChar char="•"/>
            </a:pPr>
            <a:r>
              <a:rPr lang="en-US" sz="2500" dirty="0" smtClean="0"/>
              <a:t>Harvesting crops</a:t>
            </a:r>
          </a:p>
          <a:p>
            <a:pPr marL="742950" lvl="1" indent="-285750">
              <a:buFont typeface="Arial" pitchFamily="34" charset="0"/>
              <a:buChar char="•"/>
            </a:pPr>
            <a:r>
              <a:rPr lang="en-US" sz="2500" dirty="0" smtClean="0"/>
              <a:t>Planting</a:t>
            </a:r>
          </a:p>
          <a:p>
            <a:pPr marL="742950" lvl="1" indent="-285750">
              <a:buFont typeface="Arial" pitchFamily="34" charset="0"/>
              <a:buChar char="•"/>
            </a:pPr>
            <a:r>
              <a:rPr lang="en-US" sz="2500" dirty="0" smtClean="0"/>
              <a:t>Livestock</a:t>
            </a:r>
          </a:p>
          <a:p>
            <a:pPr marL="742950" lvl="1" indent="-285750">
              <a:buFont typeface="Arial" pitchFamily="34" charset="0"/>
              <a:buChar char="•"/>
            </a:pPr>
            <a:r>
              <a:rPr lang="en-US" sz="2500" dirty="0" smtClean="0"/>
              <a:t>Feeding</a:t>
            </a:r>
          </a:p>
          <a:p>
            <a:pPr marL="742950" lvl="1" indent="-285750">
              <a:buFont typeface="Arial" pitchFamily="34" charset="0"/>
              <a:buChar char="•"/>
            </a:pPr>
            <a:r>
              <a:rPr lang="en-US" sz="2500" dirty="0" smtClean="0"/>
              <a:t>Biotechnology</a:t>
            </a:r>
          </a:p>
          <a:p>
            <a:pPr marL="742950" lvl="1" indent="-285750">
              <a:buFont typeface="Arial" pitchFamily="34" charset="0"/>
              <a:buChar char="•"/>
            </a:pPr>
            <a:endParaRPr lang="en-US" dirty="0"/>
          </a:p>
        </p:txBody>
      </p:sp>
    </p:spTree>
    <p:extLst>
      <p:ext uri="{BB962C8B-B14F-4D97-AF65-F5344CB8AC3E}">
        <p14:creationId xmlns:p14="http://schemas.microsoft.com/office/powerpoint/2010/main" xmlns="" val="19323241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Commodity Agricultural Raw Materials Index</a:t>
            </a:r>
            <a:endParaRPr lang="en-US" dirty="0"/>
          </a:p>
        </p:txBody>
      </p:sp>
      <p:pic>
        <p:nvPicPr>
          <p:cNvPr id="9218"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r="322"/>
          <a:stretch/>
        </p:blipFill>
        <p:spPr bwMode="auto">
          <a:xfrm>
            <a:off x="307945" y="1988839"/>
            <a:ext cx="8836055" cy="34563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Freeform 3"/>
          <p:cNvSpPr/>
          <p:nvPr/>
        </p:nvSpPr>
        <p:spPr>
          <a:xfrm>
            <a:off x="527050" y="3743325"/>
            <a:ext cx="1749425" cy="407116"/>
          </a:xfrm>
          <a:custGeom>
            <a:avLst/>
            <a:gdLst>
              <a:gd name="connsiteX0" fmla="*/ 0 w 1749425"/>
              <a:gd name="connsiteY0" fmla="*/ 365125 h 407116"/>
              <a:gd name="connsiteX1" fmla="*/ 15875 w 1749425"/>
              <a:gd name="connsiteY1" fmla="*/ 377825 h 407116"/>
              <a:gd name="connsiteX2" fmla="*/ 34925 w 1749425"/>
              <a:gd name="connsiteY2" fmla="*/ 384175 h 407116"/>
              <a:gd name="connsiteX3" fmla="*/ 66675 w 1749425"/>
              <a:gd name="connsiteY3" fmla="*/ 384175 h 407116"/>
              <a:gd name="connsiteX4" fmla="*/ 76200 w 1749425"/>
              <a:gd name="connsiteY4" fmla="*/ 390525 h 407116"/>
              <a:gd name="connsiteX5" fmla="*/ 82550 w 1749425"/>
              <a:gd name="connsiteY5" fmla="*/ 400050 h 407116"/>
              <a:gd name="connsiteX6" fmla="*/ 120650 w 1749425"/>
              <a:gd name="connsiteY6" fmla="*/ 403225 h 407116"/>
              <a:gd name="connsiteX7" fmla="*/ 136525 w 1749425"/>
              <a:gd name="connsiteY7" fmla="*/ 390525 h 407116"/>
              <a:gd name="connsiteX8" fmla="*/ 146050 w 1749425"/>
              <a:gd name="connsiteY8" fmla="*/ 384175 h 407116"/>
              <a:gd name="connsiteX9" fmla="*/ 165100 w 1749425"/>
              <a:gd name="connsiteY9" fmla="*/ 377825 h 407116"/>
              <a:gd name="connsiteX10" fmla="*/ 184150 w 1749425"/>
              <a:gd name="connsiteY10" fmla="*/ 371475 h 407116"/>
              <a:gd name="connsiteX11" fmla="*/ 193675 w 1749425"/>
              <a:gd name="connsiteY11" fmla="*/ 368300 h 407116"/>
              <a:gd name="connsiteX12" fmla="*/ 206375 w 1749425"/>
              <a:gd name="connsiteY12" fmla="*/ 365125 h 407116"/>
              <a:gd name="connsiteX13" fmla="*/ 279400 w 1749425"/>
              <a:gd name="connsiteY13" fmla="*/ 365125 h 407116"/>
              <a:gd name="connsiteX14" fmla="*/ 288925 w 1749425"/>
              <a:gd name="connsiteY14" fmla="*/ 361950 h 407116"/>
              <a:gd name="connsiteX15" fmla="*/ 301625 w 1749425"/>
              <a:gd name="connsiteY15" fmla="*/ 352425 h 407116"/>
              <a:gd name="connsiteX16" fmla="*/ 311150 w 1749425"/>
              <a:gd name="connsiteY16" fmla="*/ 342900 h 407116"/>
              <a:gd name="connsiteX17" fmla="*/ 330200 w 1749425"/>
              <a:gd name="connsiteY17" fmla="*/ 330200 h 407116"/>
              <a:gd name="connsiteX18" fmla="*/ 342900 w 1749425"/>
              <a:gd name="connsiteY18" fmla="*/ 314325 h 407116"/>
              <a:gd name="connsiteX19" fmla="*/ 358775 w 1749425"/>
              <a:gd name="connsiteY19" fmla="*/ 298450 h 407116"/>
              <a:gd name="connsiteX20" fmla="*/ 371475 w 1749425"/>
              <a:gd name="connsiteY20" fmla="*/ 279400 h 407116"/>
              <a:gd name="connsiteX21" fmla="*/ 377825 w 1749425"/>
              <a:gd name="connsiteY21" fmla="*/ 269875 h 407116"/>
              <a:gd name="connsiteX22" fmla="*/ 387350 w 1749425"/>
              <a:gd name="connsiteY22" fmla="*/ 250825 h 407116"/>
              <a:gd name="connsiteX23" fmla="*/ 396875 w 1749425"/>
              <a:gd name="connsiteY23" fmla="*/ 244475 h 407116"/>
              <a:gd name="connsiteX24" fmla="*/ 409575 w 1749425"/>
              <a:gd name="connsiteY24" fmla="*/ 225425 h 407116"/>
              <a:gd name="connsiteX25" fmla="*/ 428625 w 1749425"/>
              <a:gd name="connsiteY25" fmla="*/ 212725 h 407116"/>
              <a:gd name="connsiteX26" fmla="*/ 447675 w 1749425"/>
              <a:gd name="connsiteY26" fmla="*/ 215900 h 407116"/>
              <a:gd name="connsiteX27" fmla="*/ 454025 w 1749425"/>
              <a:gd name="connsiteY27" fmla="*/ 225425 h 407116"/>
              <a:gd name="connsiteX28" fmla="*/ 473075 w 1749425"/>
              <a:gd name="connsiteY28" fmla="*/ 231775 h 407116"/>
              <a:gd name="connsiteX29" fmla="*/ 482600 w 1749425"/>
              <a:gd name="connsiteY29" fmla="*/ 234950 h 407116"/>
              <a:gd name="connsiteX30" fmla="*/ 495300 w 1749425"/>
              <a:gd name="connsiteY30" fmla="*/ 231775 h 407116"/>
              <a:gd name="connsiteX31" fmla="*/ 536575 w 1749425"/>
              <a:gd name="connsiteY31" fmla="*/ 238125 h 407116"/>
              <a:gd name="connsiteX32" fmla="*/ 542925 w 1749425"/>
              <a:gd name="connsiteY32" fmla="*/ 247650 h 407116"/>
              <a:gd name="connsiteX33" fmla="*/ 561975 w 1749425"/>
              <a:gd name="connsiteY33" fmla="*/ 257175 h 407116"/>
              <a:gd name="connsiteX34" fmla="*/ 593725 w 1749425"/>
              <a:gd name="connsiteY34" fmla="*/ 254000 h 407116"/>
              <a:gd name="connsiteX35" fmla="*/ 600075 w 1749425"/>
              <a:gd name="connsiteY35" fmla="*/ 244475 h 407116"/>
              <a:gd name="connsiteX36" fmla="*/ 609600 w 1749425"/>
              <a:gd name="connsiteY36" fmla="*/ 241300 h 407116"/>
              <a:gd name="connsiteX37" fmla="*/ 631825 w 1749425"/>
              <a:gd name="connsiteY37" fmla="*/ 247650 h 407116"/>
              <a:gd name="connsiteX38" fmla="*/ 641350 w 1749425"/>
              <a:gd name="connsiteY38" fmla="*/ 257175 h 407116"/>
              <a:gd name="connsiteX39" fmla="*/ 660400 w 1749425"/>
              <a:gd name="connsiteY39" fmla="*/ 263525 h 407116"/>
              <a:gd name="connsiteX40" fmla="*/ 669925 w 1749425"/>
              <a:gd name="connsiteY40" fmla="*/ 266700 h 407116"/>
              <a:gd name="connsiteX41" fmla="*/ 679450 w 1749425"/>
              <a:gd name="connsiteY41" fmla="*/ 269875 h 407116"/>
              <a:gd name="connsiteX42" fmla="*/ 692150 w 1749425"/>
              <a:gd name="connsiteY42" fmla="*/ 273050 h 407116"/>
              <a:gd name="connsiteX43" fmla="*/ 739775 w 1749425"/>
              <a:gd name="connsiteY43" fmla="*/ 269875 h 407116"/>
              <a:gd name="connsiteX44" fmla="*/ 762000 w 1749425"/>
              <a:gd name="connsiteY44" fmla="*/ 263525 h 407116"/>
              <a:gd name="connsiteX45" fmla="*/ 768350 w 1749425"/>
              <a:gd name="connsiteY45" fmla="*/ 254000 h 407116"/>
              <a:gd name="connsiteX46" fmla="*/ 787400 w 1749425"/>
              <a:gd name="connsiteY46" fmla="*/ 241300 h 407116"/>
              <a:gd name="connsiteX47" fmla="*/ 790575 w 1749425"/>
              <a:gd name="connsiteY47" fmla="*/ 231775 h 407116"/>
              <a:gd name="connsiteX48" fmla="*/ 803275 w 1749425"/>
              <a:gd name="connsiteY48" fmla="*/ 212725 h 407116"/>
              <a:gd name="connsiteX49" fmla="*/ 809625 w 1749425"/>
              <a:gd name="connsiteY49" fmla="*/ 203200 h 407116"/>
              <a:gd name="connsiteX50" fmla="*/ 812800 w 1749425"/>
              <a:gd name="connsiteY50" fmla="*/ 193675 h 407116"/>
              <a:gd name="connsiteX51" fmla="*/ 819150 w 1749425"/>
              <a:gd name="connsiteY51" fmla="*/ 184150 h 407116"/>
              <a:gd name="connsiteX52" fmla="*/ 822325 w 1749425"/>
              <a:gd name="connsiteY52" fmla="*/ 174625 h 407116"/>
              <a:gd name="connsiteX53" fmla="*/ 835025 w 1749425"/>
              <a:gd name="connsiteY53" fmla="*/ 155575 h 407116"/>
              <a:gd name="connsiteX54" fmla="*/ 863600 w 1749425"/>
              <a:gd name="connsiteY54" fmla="*/ 139700 h 407116"/>
              <a:gd name="connsiteX55" fmla="*/ 892175 w 1749425"/>
              <a:gd name="connsiteY55" fmla="*/ 127000 h 407116"/>
              <a:gd name="connsiteX56" fmla="*/ 901700 w 1749425"/>
              <a:gd name="connsiteY56" fmla="*/ 123825 h 407116"/>
              <a:gd name="connsiteX57" fmla="*/ 920750 w 1749425"/>
              <a:gd name="connsiteY57" fmla="*/ 111125 h 407116"/>
              <a:gd name="connsiteX58" fmla="*/ 962025 w 1749425"/>
              <a:gd name="connsiteY58" fmla="*/ 120650 h 407116"/>
              <a:gd name="connsiteX59" fmla="*/ 971550 w 1749425"/>
              <a:gd name="connsiteY59" fmla="*/ 123825 h 407116"/>
              <a:gd name="connsiteX60" fmla="*/ 1012825 w 1749425"/>
              <a:gd name="connsiteY60" fmla="*/ 120650 h 407116"/>
              <a:gd name="connsiteX61" fmla="*/ 1050925 w 1749425"/>
              <a:gd name="connsiteY61" fmla="*/ 127000 h 407116"/>
              <a:gd name="connsiteX62" fmla="*/ 1069975 w 1749425"/>
              <a:gd name="connsiteY62" fmla="*/ 133350 h 407116"/>
              <a:gd name="connsiteX63" fmla="*/ 1089025 w 1749425"/>
              <a:gd name="connsiteY63" fmla="*/ 136525 h 407116"/>
              <a:gd name="connsiteX64" fmla="*/ 1114425 w 1749425"/>
              <a:gd name="connsiteY64" fmla="*/ 130175 h 407116"/>
              <a:gd name="connsiteX65" fmla="*/ 1127125 w 1749425"/>
              <a:gd name="connsiteY65" fmla="*/ 127000 h 407116"/>
              <a:gd name="connsiteX66" fmla="*/ 1146175 w 1749425"/>
              <a:gd name="connsiteY66" fmla="*/ 120650 h 407116"/>
              <a:gd name="connsiteX67" fmla="*/ 1174750 w 1749425"/>
              <a:gd name="connsiteY67" fmla="*/ 101600 h 407116"/>
              <a:gd name="connsiteX68" fmla="*/ 1184275 w 1749425"/>
              <a:gd name="connsiteY68" fmla="*/ 98425 h 407116"/>
              <a:gd name="connsiteX69" fmla="*/ 1212850 w 1749425"/>
              <a:gd name="connsiteY69" fmla="*/ 76200 h 407116"/>
              <a:gd name="connsiteX70" fmla="*/ 1225550 w 1749425"/>
              <a:gd name="connsiteY70" fmla="*/ 60325 h 407116"/>
              <a:gd name="connsiteX71" fmla="*/ 1238250 w 1749425"/>
              <a:gd name="connsiteY71" fmla="*/ 41275 h 407116"/>
              <a:gd name="connsiteX72" fmla="*/ 1250950 w 1749425"/>
              <a:gd name="connsiteY72" fmla="*/ 22225 h 407116"/>
              <a:gd name="connsiteX73" fmla="*/ 1260475 w 1749425"/>
              <a:gd name="connsiteY73" fmla="*/ 15875 h 407116"/>
              <a:gd name="connsiteX74" fmla="*/ 1263650 w 1749425"/>
              <a:gd name="connsiteY74" fmla="*/ 6350 h 407116"/>
              <a:gd name="connsiteX75" fmla="*/ 1282700 w 1749425"/>
              <a:gd name="connsiteY75" fmla="*/ 0 h 407116"/>
              <a:gd name="connsiteX76" fmla="*/ 1301750 w 1749425"/>
              <a:gd name="connsiteY76" fmla="*/ 6350 h 407116"/>
              <a:gd name="connsiteX77" fmla="*/ 1308100 w 1749425"/>
              <a:gd name="connsiteY77" fmla="*/ 15875 h 407116"/>
              <a:gd name="connsiteX78" fmla="*/ 1317625 w 1749425"/>
              <a:gd name="connsiteY78" fmla="*/ 19050 h 407116"/>
              <a:gd name="connsiteX79" fmla="*/ 1327150 w 1749425"/>
              <a:gd name="connsiteY79" fmla="*/ 25400 h 407116"/>
              <a:gd name="connsiteX80" fmla="*/ 1336675 w 1749425"/>
              <a:gd name="connsiteY80" fmla="*/ 34925 h 407116"/>
              <a:gd name="connsiteX81" fmla="*/ 1346200 w 1749425"/>
              <a:gd name="connsiteY81" fmla="*/ 38100 h 407116"/>
              <a:gd name="connsiteX82" fmla="*/ 1352550 w 1749425"/>
              <a:gd name="connsiteY82" fmla="*/ 47625 h 407116"/>
              <a:gd name="connsiteX83" fmla="*/ 1362075 w 1749425"/>
              <a:gd name="connsiteY83" fmla="*/ 53975 h 407116"/>
              <a:gd name="connsiteX84" fmla="*/ 1365250 w 1749425"/>
              <a:gd name="connsiteY84" fmla="*/ 63500 h 407116"/>
              <a:gd name="connsiteX85" fmla="*/ 1371600 w 1749425"/>
              <a:gd name="connsiteY85" fmla="*/ 73025 h 407116"/>
              <a:gd name="connsiteX86" fmla="*/ 1374775 w 1749425"/>
              <a:gd name="connsiteY86" fmla="*/ 82550 h 407116"/>
              <a:gd name="connsiteX87" fmla="*/ 1381125 w 1749425"/>
              <a:gd name="connsiteY87" fmla="*/ 92075 h 407116"/>
              <a:gd name="connsiteX88" fmla="*/ 1390650 w 1749425"/>
              <a:gd name="connsiteY88" fmla="*/ 120650 h 407116"/>
              <a:gd name="connsiteX89" fmla="*/ 1403350 w 1749425"/>
              <a:gd name="connsiteY89" fmla="*/ 139700 h 407116"/>
              <a:gd name="connsiteX90" fmla="*/ 1406525 w 1749425"/>
              <a:gd name="connsiteY90" fmla="*/ 149225 h 407116"/>
              <a:gd name="connsiteX91" fmla="*/ 1416050 w 1749425"/>
              <a:gd name="connsiteY91" fmla="*/ 158750 h 407116"/>
              <a:gd name="connsiteX92" fmla="*/ 1419225 w 1749425"/>
              <a:gd name="connsiteY92" fmla="*/ 168275 h 407116"/>
              <a:gd name="connsiteX93" fmla="*/ 1447800 w 1749425"/>
              <a:gd name="connsiteY93" fmla="*/ 184150 h 407116"/>
              <a:gd name="connsiteX94" fmla="*/ 1482725 w 1749425"/>
              <a:gd name="connsiteY94" fmla="*/ 187325 h 407116"/>
              <a:gd name="connsiteX95" fmla="*/ 1501775 w 1749425"/>
              <a:gd name="connsiteY95" fmla="*/ 203200 h 407116"/>
              <a:gd name="connsiteX96" fmla="*/ 1530350 w 1749425"/>
              <a:gd name="connsiteY96" fmla="*/ 200025 h 407116"/>
              <a:gd name="connsiteX97" fmla="*/ 1543050 w 1749425"/>
              <a:gd name="connsiteY97" fmla="*/ 203200 h 407116"/>
              <a:gd name="connsiteX98" fmla="*/ 1565275 w 1749425"/>
              <a:gd name="connsiteY98" fmla="*/ 228600 h 407116"/>
              <a:gd name="connsiteX99" fmla="*/ 1587500 w 1749425"/>
              <a:gd name="connsiteY99" fmla="*/ 238125 h 407116"/>
              <a:gd name="connsiteX100" fmla="*/ 1597025 w 1749425"/>
              <a:gd name="connsiteY100" fmla="*/ 241300 h 407116"/>
              <a:gd name="connsiteX101" fmla="*/ 1625600 w 1749425"/>
              <a:gd name="connsiteY101" fmla="*/ 234950 h 407116"/>
              <a:gd name="connsiteX102" fmla="*/ 1644650 w 1749425"/>
              <a:gd name="connsiteY102" fmla="*/ 228600 h 407116"/>
              <a:gd name="connsiteX103" fmla="*/ 1666875 w 1749425"/>
              <a:gd name="connsiteY103" fmla="*/ 219075 h 407116"/>
              <a:gd name="connsiteX104" fmla="*/ 1695450 w 1749425"/>
              <a:gd name="connsiteY104" fmla="*/ 203200 h 407116"/>
              <a:gd name="connsiteX105" fmla="*/ 1704975 w 1749425"/>
              <a:gd name="connsiteY105" fmla="*/ 196850 h 407116"/>
              <a:gd name="connsiteX106" fmla="*/ 1720850 w 1749425"/>
              <a:gd name="connsiteY106" fmla="*/ 180975 h 407116"/>
              <a:gd name="connsiteX107" fmla="*/ 1727200 w 1749425"/>
              <a:gd name="connsiteY107" fmla="*/ 171450 h 407116"/>
              <a:gd name="connsiteX108" fmla="*/ 1749425 w 1749425"/>
              <a:gd name="connsiteY108" fmla="*/ 152400 h 407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749425" h="407116">
                <a:moveTo>
                  <a:pt x="0" y="365125"/>
                </a:moveTo>
                <a:cubicBezTo>
                  <a:pt x="5292" y="369358"/>
                  <a:pt x="9926" y="374580"/>
                  <a:pt x="15875" y="377825"/>
                </a:cubicBezTo>
                <a:cubicBezTo>
                  <a:pt x="21751" y="381030"/>
                  <a:pt x="34925" y="384175"/>
                  <a:pt x="34925" y="384175"/>
                </a:cubicBezTo>
                <a:cubicBezTo>
                  <a:pt x="49347" y="380569"/>
                  <a:pt x="49993" y="378614"/>
                  <a:pt x="66675" y="384175"/>
                </a:cubicBezTo>
                <a:cubicBezTo>
                  <a:pt x="70295" y="385382"/>
                  <a:pt x="73025" y="388408"/>
                  <a:pt x="76200" y="390525"/>
                </a:cubicBezTo>
                <a:cubicBezTo>
                  <a:pt x="78317" y="393700"/>
                  <a:pt x="79852" y="397352"/>
                  <a:pt x="82550" y="400050"/>
                </a:cubicBezTo>
                <a:cubicBezTo>
                  <a:pt x="94799" y="412299"/>
                  <a:pt x="101467" y="405356"/>
                  <a:pt x="120650" y="403225"/>
                </a:cubicBezTo>
                <a:cubicBezTo>
                  <a:pt x="131354" y="387168"/>
                  <a:pt x="121189" y="398193"/>
                  <a:pt x="136525" y="390525"/>
                </a:cubicBezTo>
                <a:cubicBezTo>
                  <a:pt x="139938" y="388818"/>
                  <a:pt x="142563" y="385725"/>
                  <a:pt x="146050" y="384175"/>
                </a:cubicBezTo>
                <a:cubicBezTo>
                  <a:pt x="152167" y="381457"/>
                  <a:pt x="158750" y="379942"/>
                  <a:pt x="165100" y="377825"/>
                </a:cubicBezTo>
                <a:lnTo>
                  <a:pt x="184150" y="371475"/>
                </a:lnTo>
                <a:cubicBezTo>
                  <a:pt x="187325" y="370417"/>
                  <a:pt x="190428" y="369112"/>
                  <a:pt x="193675" y="368300"/>
                </a:cubicBezTo>
                <a:lnTo>
                  <a:pt x="206375" y="365125"/>
                </a:lnTo>
                <a:cubicBezTo>
                  <a:pt x="243817" y="368529"/>
                  <a:pt x="240743" y="370279"/>
                  <a:pt x="279400" y="365125"/>
                </a:cubicBezTo>
                <a:cubicBezTo>
                  <a:pt x="282717" y="364683"/>
                  <a:pt x="285750" y="363008"/>
                  <a:pt x="288925" y="361950"/>
                </a:cubicBezTo>
                <a:cubicBezTo>
                  <a:pt x="293158" y="358775"/>
                  <a:pt x="297607" y="355869"/>
                  <a:pt x="301625" y="352425"/>
                </a:cubicBezTo>
                <a:cubicBezTo>
                  <a:pt x="305034" y="349503"/>
                  <a:pt x="307606" y="345657"/>
                  <a:pt x="311150" y="342900"/>
                </a:cubicBezTo>
                <a:cubicBezTo>
                  <a:pt x="317174" y="338215"/>
                  <a:pt x="330200" y="330200"/>
                  <a:pt x="330200" y="330200"/>
                </a:cubicBezTo>
                <a:cubicBezTo>
                  <a:pt x="336381" y="311657"/>
                  <a:pt x="328539" y="328686"/>
                  <a:pt x="342900" y="314325"/>
                </a:cubicBezTo>
                <a:cubicBezTo>
                  <a:pt x="364067" y="293158"/>
                  <a:pt x="333375" y="315383"/>
                  <a:pt x="358775" y="298450"/>
                </a:cubicBezTo>
                <a:lnTo>
                  <a:pt x="371475" y="279400"/>
                </a:lnTo>
                <a:cubicBezTo>
                  <a:pt x="373592" y="276225"/>
                  <a:pt x="376618" y="273495"/>
                  <a:pt x="377825" y="269875"/>
                </a:cubicBezTo>
                <a:cubicBezTo>
                  <a:pt x="380407" y="262128"/>
                  <a:pt x="381195" y="256980"/>
                  <a:pt x="387350" y="250825"/>
                </a:cubicBezTo>
                <a:cubicBezTo>
                  <a:pt x="390048" y="248127"/>
                  <a:pt x="393700" y="246592"/>
                  <a:pt x="396875" y="244475"/>
                </a:cubicBezTo>
                <a:lnTo>
                  <a:pt x="409575" y="225425"/>
                </a:lnTo>
                <a:cubicBezTo>
                  <a:pt x="413808" y="219075"/>
                  <a:pt x="428625" y="212725"/>
                  <a:pt x="428625" y="212725"/>
                </a:cubicBezTo>
                <a:cubicBezTo>
                  <a:pt x="434975" y="213783"/>
                  <a:pt x="441917" y="213021"/>
                  <a:pt x="447675" y="215900"/>
                </a:cubicBezTo>
                <a:cubicBezTo>
                  <a:pt x="451088" y="217607"/>
                  <a:pt x="450789" y="223403"/>
                  <a:pt x="454025" y="225425"/>
                </a:cubicBezTo>
                <a:cubicBezTo>
                  <a:pt x="459701" y="228973"/>
                  <a:pt x="466725" y="229658"/>
                  <a:pt x="473075" y="231775"/>
                </a:cubicBezTo>
                <a:lnTo>
                  <a:pt x="482600" y="234950"/>
                </a:lnTo>
                <a:cubicBezTo>
                  <a:pt x="486833" y="233892"/>
                  <a:pt x="490936" y="231775"/>
                  <a:pt x="495300" y="231775"/>
                </a:cubicBezTo>
                <a:cubicBezTo>
                  <a:pt x="519856" y="231775"/>
                  <a:pt x="520271" y="232690"/>
                  <a:pt x="536575" y="238125"/>
                </a:cubicBezTo>
                <a:cubicBezTo>
                  <a:pt x="538692" y="241300"/>
                  <a:pt x="540227" y="244952"/>
                  <a:pt x="542925" y="247650"/>
                </a:cubicBezTo>
                <a:cubicBezTo>
                  <a:pt x="549080" y="253805"/>
                  <a:pt x="554228" y="254593"/>
                  <a:pt x="561975" y="257175"/>
                </a:cubicBezTo>
                <a:cubicBezTo>
                  <a:pt x="572558" y="256117"/>
                  <a:pt x="583635" y="257363"/>
                  <a:pt x="593725" y="254000"/>
                </a:cubicBezTo>
                <a:cubicBezTo>
                  <a:pt x="597345" y="252793"/>
                  <a:pt x="597095" y="246859"/>
                  <a:pt x="600075" y="244475"/>
                </a:cubicBezTo>
                <a:cubicBezTo>
                  <a:pt x="602688" y="242384"/>
                  <a:pt x="606425" y="242358"/>
                  <a:pt x="609600" y="241300"/>
                </a:cubicBezTo>
                <a:cubicBezTo>
                  <a:pt x="611294" y="241723"/>
                  <a:pt x="629092" y="245828"/>
                  <a:pt x="631825" y="247650"/>
                </a:cubicBezTo>
                <a:cubicBezTo>
                  <a:pt x="635561" y="250141"/>
                  <a:pt x="637425" y="254994"/>
                  <a:pt x="641350" y="257175"/>
                </a:cubicBezTo>
                <a:cubicBezTo>
                  <a:pt x="647201" y="260426"/>
                  <a:pt x="654050" y="261408"/>
                  <a:pt x="660400" y="263525"/>
                </a:cubicBezTo>
                <a:lnTo>
                  <a:pt x="669925" y="266700"/>
                </a:lnTo>
                <a:cubicBezTo>
                  <a:pt x="673100" y="267758"/>
                  <a:pt x="676203" y="269063"/>
                  <a:pt x="679450" y="269875"/>
                </a:cubicBezTo>
                <a:lnTo>
                  <a:pt x="692150" y="273050"/>
                </a:lnTo>
                <a:cubicBezTo>
                  <a:pt x="708025" y="271992"/>
                  <a:pt x="723952" y="271541"/>
                  <a:pt x="739775" y="269875"/>
                </a:cubicBezTo>
                <a:cubicBezTo>
                  <a:pt x="745602" y="269262"/>
                  <a:pt x="756097" y="265493"/>
                  <a:pt x="762000" y="263525"/>
                </a:cubicBezTo>
                <a:cubicBezTo>
                  <a:pt x="764117" y="260350"/>
                  <a:pt x="765478" y="256513"/>
                  <a:pt x="768350" y="254000"/>
                </a:cubicBezTo>
                <a:cubicBezTo>
                  <a:pt x="774093" y="248974"/>
                  <a:pt x="787400" y="241300"/>
                  <a:pt x="787400" y="241300"/>
                </a:cubicBezTo>
                <a:cubicBezTo>
                  <a:pt x="788458" y="238125"/>
                  <a:pt x="788950" y="234701"/>
                  <a:pt x="790575" y="231775"/>
                </a:cubicBezTo>
                <a:cubicBezTo>
                  <a:pt x="794281" y="225104"/>
                  <a:pt x="799042" y="219075"/>
                  <a:pt x="803275" y="212725"/>
                </a:cubicBezTo>
                <a:lnTo>
                  <a:pt x="809625" y="203200"/>
                </a:lnTo>
                <a:cubicBezTo>
                  <a:pt x="811481" y="200415"/>
                  <a:pt x="811303" y="196668"/>
                  <a:pt x="812800" y="193675"/>
                </a:cubicBezTo>
                <a:cubicBezTo>
                  <a:pt x="814507" y="190262"/>
                  <a:pt x="817443" y="187563"/>
                  <a:pt x="819150" y="184150"/>
                </a:cubicBezTo>
                <a:cubicBezTo>
                  <a:pt x="820647" y="181157"/>
                  <a:pt x="820700" y="177551"/>
                  <a:pt x="822325" y="174625"/>
                </a:cubicBezTo>
                <a:cubicBezTo>
                  <a:pt x="826031" y="167954"/>
                  <a:pt x="828675" y="159808"/>
                  <a:pt x="835025" y="155575"/>
                </a:cubicBezTo>
                <a:cubicBezTo>
                  <a:pt x="856860" y="141019"/>
                  <a:pt x="846835" y="145288"/>
                  <a:pt x="863600" y="139700"/>
                </a:cubicBezTo>
                <a:cubicBezTo>
                  <a:pt x="878694" y="129637"/>
                  <a:pt x="869505" y="134557"/>
                  <a:pt x="892175" y="127000"/>
                </a:cubicBezTo>
                <a:lnTo>
                  <a:pt x="901700" y="123825"/>
                </a:lnTo>
                <a:cubicBezTo>
                  <a:pt x="908050" y="119592"/>
                  <a:pt x="913266" y="109628"/>
                  <a:pt x="920750" y="111125"/>
                </a:cubicBezTo>
                <a:cubicBezTo>
                  <a:pt x="945183" y="116012"/>
                  <a:pt x="931390" y="112991"/>
                  <a:pt x="962025" y="120650"/>
                </a:cubicBezTo>
                <a:cubicBezTo>
                  <a:pt x="965272" y="121462"/>
                  <a:pt x="968375" y="122767"/>
                  <a:pt x="971550" y="123825"/>
                </a:cubicBezTo>
                <a:cubicBezTo>
                  <a:pt x="985308" y="122767"/>
                  <a:pt x="999026" y="120650"/>
                  <a:pt x="1012825" y="120650"/>
                </a:cubicBezTo>
                <a:cubicBezTo>
                  <a:pt x="1023331" y="120650"/>
                  <a:pt x="1039779" y="123656"/>
                  <a:pt x="1050925" y="127000"/>
                </a:cubicBezTo>
                <a:cubicBezTo>
                  <a:pt x="1057336" y="128923"/>
                  <a:pt x="1063373" y="132250"/>
                  <a:pt x="1069975" y="133350"/>
                </a:cubicBezTo>
                <a:lnTo>
                  <a:pt x="1089025" y="136525"/>
                </a:lnTo>
                <a:lnTo>
                  <a:pt x="1114425" y="130175"/>
                </a:lnTo>
                <a:cubicBezTo>
                  <a:pt x="1118658" y="129117"/>
                  <a:pt x="1122985" y="128380"/>
                  <a:pt x="1127125" y="127000"/>
                </a:cubicBezTo>
                <a:lnTo>
                  <a:pt x="1146175" y="120650"/>
                </a:lnTo>
                <a:lnTo>
                  <a:pt x="1174750" y="101600"/>
                </a:lnTo>
                <a:cubicBezTo>
                  <a:pt x="1177535" y="99744"/>
                  <a:pt x="1181100" y="99483"/>
                  <a:pt x="1184275" y="98425"/>
                </a:cubicBezTo>
                <a:cubicBezTo>
                  <a:pt x="1207061" y="83234"/>
                  <a:pt x="1197929" y="91121"/>
                  <a:pt x="1212850" y="76200"/>
                </a:cubicBezTo>
                <a:cubicBezTo>
                  <a:pt x="1220000" y="54750"/>
                  <a:pt x="1210084" y="78000"/>
                  <a:pt x="1225550" y="60325"/>
                </a:cubicBezTo>
                <a:cubicBezTo>
                  <a:pt x="1230576" y="54582"/>
                  <a:pt x="1234017" y="47625"/>
                  <a:pt x="1238250" y="41275"/>
                </a:cubicBezTo>
                <a:lnTo>
                  <a:pt x="1250950" y="22225"/>
                </a:lnTo>
                <a:cubicBezTo>
                  <a:pt x="1253067" y="19050"/>
                  <a:pt x="1257300" y="17992"/>
                  <a:pt x="1260475" y="15875"/>
                </a:cubicBezTo>
                <a:cubicBezTo>
                  <a:pt x="1261533" y="12700"/>
                  <a:pt x="1260927" y="8295"/>
                  <a:pt x="1263650" y="6350"/>
                </a:cubicBezTo>
                <a:cubicBezTo>
                  <a:pt x="1269097" y="2459"/>
                  <a:pt x="1282700" y="0"/>
                  <a:pt x="1282700" y="0"/>
                </a:cubicBezTo>
                <a:lnTo>
                  <a:pt x="1301750" y="6350"/>
                </a:lnTo>
                <a:cubicBezTo>
                  <a:pt x="1305370" y="7557"/>
                  <a:pt x="1305120" y="13491"/>
                  <a:pt x="1308100" y="15875"/>
                </a:cubicBezTo>
                <a:cubicBezTo>
                  <a:pt x="1310713" y="17966"/>
                  <a:pt x="1314450" y="17992"/>
                  <a:pt x="1317625" y="19050"/>
                </a:cubicBezTo>
                <a:cubicBezTo>
                  <a:pt x="1320800" y="21167"/>
                  <a:pt x="1324219" y="22957"/>
                  <a:pt x="1327150" y="25400"/>
                </a:cubicBezTo>
                <a:cubicBezTo>
                  <a:pt x="1330599" y="28275"/>
                  <a:pt x="1332939" y="32434"/>
                  <a:pt x="1336675" y="34925"/>
                </a:cubicBezTo>
                <a:cubicBezTo>
                  <a:pt x="1339460" y="36781"/>
                  <a:pt x="1343025" y="37042"/>
                  <a:pt x="1346200" y="38100"/>
                </a:cubicBezTo>
                <a:cubicBezTo>
                  <a:pt x="1348317" y="41275"/>
                  <a:pt x="1349852" y="44927"/>
                  <a:pt x="1352550" y="47625"/>
                </a:cubicBezTo>
                <a:cubicBezTo>
                  <a:pt x="1355248" y="50323"/>
                  <a:pt x="1359691" y="50995"/>
                  <a:pt x="1362075" y="53975"/>
                </a:cubicBezTo>
                <a:cubicBezTo>
                  <a:pt x="1364166" y="56588"/>
                  <a:pt x="1363753" y="60507"/>
                  <a:pt x="1365250" y="63500"/>
                </a:cubicBezTo>
                <a:cubicBezTo>
                  <a:pt x="1366957" y="66913"/>
                  <a:pt x="1369893" y="69612"/>
                  <a:pt x="1371600" y="73025"/>
                </a:cubicBezTo>
                <a:cubicBezTo>
                  <a:pt x="1373097" y="76018"/>
                  <a:pt x="1373278" y="79557"/>
                  <a:pt x="1374775" y="82550"/>
                </a:cubicBezTo>
                <a:cubicBezTo>
                  <a:pt x="1376482" y="85963"/>
                  <a:pt x="1379575" y="88588"/>
                  <a:pt x="1381125" y="92075"/>
                </a:cubicBezTo>
                <a:lnTo>
                  <a:pt x="1390650" y="120650"/>
                </a:lnTo>
                <a:cubicBezTo>
                  <a:pt x="1393063" y="127890"/>
                  <a:pt x="1400937" y="132460"/>
                  <a:pt x="1403350" y="139700"/>
                </a:cubicBezTo>
                <a:cubicBezTo>
                  <a:pt x="1404408" y="142875"/>
                  <a:pt x="1404669" y="146440"/>
                  <a:pt x="1406525" y="149225"/>
                </a:cubicBezTo>
                <a:cubicBezTo>
                  <a:pt x="1409016" y="152961"/>
                  <a:pt x="1412875" y="155575"/>
                  <a:pt x="1416050" y="158750"/>
                </a:cubicBezTo>
                <a:cubicBezTo>
                  <a:pt x="1417108" y="161925"/>
                  <a:pt x="1416858" y="165908"/>
                  <a:pt x="1419225" y="168275"/>
                </a:cubicBezTo>
                <a:cubicBezTo>
                  <a:pt x="1424073" y="173123"/>
                  <a:pt x="1438484" y="182819"/>
                  <a:pt x="1447800" y="184150"/>
                </a:cubicBezTo>
                <a:cubicBezTo>
                  <a:pt x="1459372" y="185803"/>
                  <a:pt x="1471083" y="186267"/>
                  <a:pt x="1482725" y="187325"/>
                </a:cubicBezTo>
                <a:cubicBezTo>
                  <a:pt x="1485018" y="189618"/>
                  <a:pt x="1496953" y="202798"/>
                  <a:pt x="1501775" y="203200"/>
                </a:cubicBezTo>
                <a:cubicBezTo>
                  <a:pt x="1511326" y="203996"/>
                  <a:pt x="1520825" y="201083"/>
                  <a:pt x="1530350" y="200025"/>
                </a:cubicBezTo>
                <a:cubicBezTo>
                  <a:pt x="1534583" y="201083"/>
                  <a:pt x="1539039" y="201481"/>
                  <a:pt x="1543050" y="203200"/>
                </a:cubicBezTo>
                <a:cubicBezTo>
                  <a:pt x="1555397" y="208492"/>
                  <a:pt x="1557514" y="216958"/>
                  <a:pt x="1565275" y="228600"/>
                </a:cubicBezTo>
                <a:cubicBezTo>
                  <a:pt x="1569824" y="235424"/>
                  <a:pt x="1580940" y="236251"/>
                  <a:pt x="1587500" y="238125"/>
                </a:cubicBezTo>
                <a:cubicBezTo>
                  <a:pt x="1590718" y="239044"/>
                  <a:pt x="1593850" y="240242"/>
                  <a:pt x="1597025" y="241300"/>
                </a:cubicBezTo>
                <a:cubicBezTo>
                  <a:pt x="1606089" y="239487"/>
                  <a:pt x="1616632" y="237640"/>
                  <a:pt x="1625600" y="234950"/>
                </a:cubicBezTo>
                <a:cubicBezTo>
                  <a:pt x="1632011" y="233027"/>
                  <a:pt x="1638663" y="231593"/>
                  <a:pt x="1644650" y="228600"/>
                </a:cubicBezTo>
                <a:cubicBezTo>
                  <a:pt x="1660343" y="220753"/>
                  <a:pt x="1652860" y="223747"/>
                  <a:pt x="1666875" y="219075"/>
                </a:cubicBezTo>
                <a:cubicBezTo>
                  <a:pt x="1688710" y="204519"/>
                  <a:pt x="1678685" y="208788"/>
                  <a:pt x="1695450" y="203200"/>
                </a:cubicBezTo>
                <a:cubicBezTo>
                  <a:pt x="1698625" y="201083"/>
                  <a:pt x="1702277" y="199548"/>
                  <a:pt x="1704975" y="196850"/>
                </a:cubicBezTo>
                <a:cubicBezTo>
                  <a:pt x="1726142" y="175683"/>
                  <a:pt x="1695450" y="197908"/>
                  <a:pt x="1720850" y="180975"/>
                </a:cubicBezTo>
                <a:cubicBezTo>
                  <a:pt x="1722967" y="177800"/>
                  <a:pt x="1724328" y="173963"/>
                  <a:pt x="1727200" y="171450"/>
                </a:cubicBezTo>
                <a:cubicBezTo>
                  <a:pt x="1752111" y="149652"/>
                  <a:pt x="1741630" y="167990"/>
                  <a:pt x="1749425" y="1524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2270125" y="3838575"/>
            <a:ext cx="3514725" cy="393905"/>
          </a:xfrm>
          <a:custGeom>
            <a:avLst/>
            <a:gdLst>
              <a:gd name="connsiteX0" fmla="*/ 0 w 3514725"/>
              <a:gd name="connsiteY0" fmla="*/ 60325 h 393905"/>
              <a:gd name="connsiteX1" fmla="*/ 15875 w 3514725"/>
              <a:gd name="connsiteY1" fmla="*/ 50800 h 393905"/>
              <a:gd name="connsiteX2" fmla="*/ 25400 w 3514725"/>
              <a:gd name="connsiteY2" fmla="*/ 53975 h 393905"/>
              <a:gd name="connsiteX3" fmla="*/ 53975 w 3514725"/>
              <a:gd name="connsiteY3" fmla="*/ 69850 h 393905"/>
              <a:gd name="connsiteX4" fmla="*/ 82550 w 3514725"/>
              <a:gd name="connsiteY4" fmla="*/ 66675 h 393905"/>
              <a:gd name="connsiteX5" fmla="*/ 92075 w 3514725"/>
              <a:gd name="connsiteY5" fmla="*/ 63500 h 393905"/>
              <a:gd name="connsiteX6" fmla="*/ 101600 w 3514725"/>
              <a:gd name="connsiteY6" fmla="*/ 44450 h 393905"/>
              <a:gd name="connsiteX7" fmla="*/ 114300 w 3514725"/>
              <a:gd name="connsiteY7" fmla="*/ 25400 h 393905"/>
              <a:gd name="connsiteX8" fmla="*/ 142875 w 3514725"/>
              <a:gd name="connsiteY8" fmla="*/ 6350 h 393905"/>
              <a:gd name="connsiteX9" fmla="*/ 168275 w 3514725"/>
              <a:gd name="connsiteY9" fmla="*/ 0 h 393905"/>
              <a:gd name="connsiteX10" fmla="*/ 200025 w 3514725"/>
              <a:gd name="connsiteY10" fmla="*/ 3175 h 393905"/>
              <a:gd name="connsiteX11" fmla="*/ 209550 w 3514725"/>
              <a:gd name="connsiteY11" fmla="*/ 6350 h 393905"/>
              <a:gd name="connsiteX12" fmla="*/ 215900 w 3514725"/>
              <a:gd name="connsiteY12" fmla="*/ 15875 h 393905"/>
              <a:gd name="connsiteX13" fmla="*/ 225425 w 3514725"/>
              <a:gd name="connsiteY13" fmla="*/ 22225 h 393905"/>
              <a:gd name="connsiteX14" fmla="*/ 231775 w 3514725"/>
              <a:gd name="connsiteY14" fmla="*/ 31750 h 393905"/>
              <a:gd name="connsiteX15" fmla="*/ 244475 w 3514725"/>
              <a:gd name="connsiteY15" fmla="*/ 60325 h 393905"/>
              <a:gd name="connsiteX16" fmla="*/ 279400 w 3514725"/>
              <a:gd name="connsiteY16" fmla="*/ 69850 h 393905"/>
              <a:gd name="connsiteX17" fmla="*/ 304800 w 3514725"/>
              <a:gd name="connsiteY17" fmla="*/ 63500 h 393905"/>
              <a:gd name="connsiteX18" fmla="*/ 323850 w 3514725"/>
              <a:gd name="connsiteY18" fmla="*/ 50800 h 393905"/>
              <a:gd name="connsiteX19" fmla="*/ 333375 w 3514725"/>
              <a:gd name="connsiteY19" fmla="*/ 44450 h 393905"/>
              <a:gd name="connsiteX20" fmla="*/ 352425 w 3514725"/>
              <a:gd name="connsiteY20" fmla="*/ 38100 h 393905"/>
              <a:gd name="connsiteX21" fmla="*/ 381000 w 3514725"/>
              <a:gd name="connsiteY21" fmla="*/ 25400 h 393905"/>
              <a:gd name="connsiteX22" fmla="*/ 390525 w 3514725"/>
              <a:gd name="connsiteY22" fmla="*/ 22225 h 393905"/>
              <a:gd name="connsiteX23" fmla="*/ 409575 w 3514725"/>
              <a:gd name="connsiteY23" fmla="*/ 31750 h 393905"/>
              <a:gd name="connsiteX24" fmla="*/ 419100 w 3514725"/>
              <a:gd name="connsiteY24" fmla="*/ 50800 h 393905"/>
              <a:gd name="connsiteX25" fmla="*/ 438150 w 3514725"/>
              <a:gd name="connsiteY25" fmla="*/ 63500 h 393905"/>
              <a:gd name="connsiteX26" fmla="*/ 457200 w 3514725"/>
              <a:gd name="connsiteY26" fmla="*/ 69850 h 393905"/>
              <a:gd name="connsiteX27" fmla="*/ 466725 w 3514725"/>
              <a:gd name="connsiteY27" fmla="*/ 73025 h 393905"/>
              <a:gd name="connsiteX28" fmla="*/ 476250 w 3514725"/>
              <a:gd name="connsiteY28" fmla="*/ 76200 h 393905"/>
              <a:gd name="connsiteX29" fmla="*/ 495300 w 3514725"/>
              <a:gd name="connsiteY29" fmla="*/ 88900 h 393905"/>
              <a:gd name="connsiteX30" fmla="*/ 498475 w 3514725"/>
              <a:gd name="connsiteY30" fmla="*/ 98425 h 393905"/>
              <a:gd name="connsiteX31" fmla="*/ 504825 w 3514725"/>
              <a:gd name="connsiteY31" fmla="*/ 107950 h 393905"/>
              <a:gd name="connsiteX32" fmla="*/ 520700 w 3514725"/>
              <a:gd name="connsiteY32" fmla="*/ 136525 h 393905"/>
              <a:gd name="connsiteX33" fmla="*/ 530225 w 3514725"/>
              <a:gd name="connsiteY33" fmla="*/ 139700 h 393905"/>
              <a:gd name="connsiteX34" fmla="*/ 577850 w 3514725"/>
              <a:gd name="connsiteY34" fmla="*/ 139700 h 393905"/>
              <a:gd name="connsiteX35" fmla="*/ 596900 w 3514725"/>
              <a:gd name="connsiteY35" fmla="*/ 146050 h 393905"/>
              <a:gd name="connsiteX36" fmla="*/ 606425 w 3514725"/>
              <a:gd name="connsiteY36" fmla="*/ 149225 h 393905"/>
              <a:gd name="connsiteX37" fmla="*/ 615950 w 3514725"/>
              <a:gd name="connsiteY37" fmla="*/ 155575 h 393905"/>
              <a:gd name="connsiteX38" fmla="*/ 625475 w 3514725"/>
              <a:gd name="connsiteY38" fmla="*/ 165100 h 393905"/>
              <a:gd name="connsiteX39" fmla="*/ 644525 w 3514725"/>
              <a:gd name="connsiteY39" fmla="*/ 171450 h 393905"/>
              <a:gd name="connsiteX40" fmla="*/ 663575 w 3514725"/>
              <a:gd name="connsiteY40" fmla="*/ 165100 h 393905"/>
              <a:gd name="connsiteX41" fmla="*/ 673100 w 3514725"/>
              <a:gd name="connsiteY41" fmla="*/ 161925 h 393905"/>
              <a:gd name="connsiteX42" fmla="*/ 682625 w 3514725"/>
              <a:gd name="connsiteY42" fmla="*/ 165100 h 393905"/>
              <a:gd name="connsiteX43" fmla="*/ 688975 w 3514725"/>
              <a:gd name="connsiteY43" fmla="*/ 184150 h 393905"/>
              <a:gd name="connsiteX44" fmla="*/ 701675 w 3514725"/>
              <a:gd name="connsiteY44" fmla="*/ 212725 h 393905"/>
              <a:gd name="connsiteX45" fmla="*/ 711200 w 3514725"/>
              <a:gd name="connsiteY45" fmla="*/ 231775 h 393905"/>
              <a:gd name="connsiteX46" fmla="*/ 717550 w 3514725"/>
              <a:gd name="connsiteY46" fmla="*/ 250825 h 393905"/>
              <a:gd name="connsiteX47" fmla="*/ 730250 w 3514725"/>
              <a:gd name="connsiteY47" fmla="*/ 279400 h 393905"/>
              <a:gd name="connsiteX48" fmla="*/ 736600 w 3514725"/>
              <a:gd name="connsiteY48" fmla="*/ 288925 h 393905"/>
              <a:gd name="connsiteX49" fmla="*/ 752475 w 3514725"/>
              <a:gd name="connsiteY49" fmla="*/ 314325 h 393905"/>
              <a:gd name="connsiteX50" fmla="*/ 758825 w 3514725"/>
              <a:gd name="connsiteY50" fmla="*/ 295275 h 393905"/>
              <a:gd name="connsiteX51" fmla="*/ 762000 w 3514725"/>
              <a:gd name="connsiteY51" fmla="*/ 279400 h 393905"/>
              <a:gd name="connsiteX52" fmla="*/ 781050 w 3514725"/>
              <a:gd name="connsiteY52" fmla="*/ 269875 h 393905"/>
              <a:gd name="connsiteX53" fmla="*/ 790575 w 3514725"/>
              <a:gd name="connsiteY53" fmla="*/ 263525 h 393905"/>
              <a:gd name="connsiteX54" fmla="*/ 809625 w 3514725"/>
              <a:gd name="connsiteY54" fmla="*/ 257175 h 393905"/>
              <a:gd name="connsiteX55" fmla="*/ 819150 w 3514725"/>
              <a:gd name="connsiteY55" fmla="*/ 254000 h 393905"/>
              <a:gd name="connsiteX56" fmla="*/ 847725 w 3514725"/>
              <a:gd name="connsiteY56" fmla="*/ 244475 h 393905"/>
              <a:gd name="connsiteX57" fmla="*/ 860425 w 3514725"/>
              <a:gd name="connsiteY57" fmla="*/ 241300 h 393905"/>
              <a:gd name="connsiteX58" fmla="*/ 942975 w 3514725"/>
              <a:gd name="connsiteY58" fmla="*/ 244475 h 393905"/>
              <a:gd name="connsiteX59" fmla="*/ 955675 w 3514725"/>
              <a:gd name="connsiteY59" fmla="*/ 263525 h 393905"/>
              <a:gd name="connsiteX60" fmla="*/ 981075 w 3514725"/>
              <a:gd name="connsiteY60" fmla="*/ 285750 h 393905"/>
              <a:gd name="connsiteX61" fmla="*/ 1009650 w 3514725"/>
              <a:gd name="connsiteY61" fmla="*/ 298450 h 393905"/>
              <a:gd name="connsiteX62" fmla="*/ 1047750 w 3514725"/>
              <a:gd name="connsiteY62" fmla="*/ 304800 h 393905"/>
              <a:gd name="connsiteX63" fmla="*/ 1057275 w 3514725"/>
              <a:gd name="connsiteY63" fmla="*/ 307975 h 393905"/>
              <a:gd name="connsiteX64" fmla="*/ 1063625 w 3514725"/>
              <a:gd name="connsiteY64" fmla="*/ 317500 h 393905"/>
              <a:gd name="connsiteX65" fmla="*/ 1073150 w 3514725"/>
              <a:gd name="connsiteY65" fmla="*/ 327025 h 393905"/>
              <a:gd name="connsiteX66" fmla="*/ 1079500 w 3514725"/>
              <a:gd name="connsiteY66" fmla="*/ 336550 h 393905"/>
              <a:gd name="connsiteX67" fmla="*/ 1089025 w 3514725"/>
              <a:gd name="connsiteY67" fmla="*/ 339725 h 393905"/>
              <a:gd name="connsiteX68" fmla="*/ 1098550 w 3514725"/>
              <a:gd name="connsiteY68" fmla="*/ 346075 h 393905"/>
              <a:gd name="connsiteX69" fmla="*/ 1155700 w 3514725"/>
              <a:gd name="connsiteY69" fmla="*/ 346075 h 393905"/>
              <a:gd name="connsiteX70" fmla="*/ 1184275 w 3514725"/>
              <a:gd name="connsiteY70" fmla="*/ 336550 h 393905"/>
              <a:gd name="connsiteX71" fmla="*/ 1193800 w 3514725"/>
              <a:gd name="connsiteY71" fmla="*/ 333375 h 393905"/>
              <a:gd name="connsiteX72" fmla="*/ 1203325 w 3514725"/>
              <a:gd name="connsiteY72" fmla="*/ 330200 h 393905"/>
              <a:gd name="connsiteX73" fmla="*/ 1235075 w 3514725"/>
              <a:gd name="connsiteY73" fmla="*/ 323850 h 393905"/>
              <a:gd name="connsiteX74" fmla="*/ 1270000 w 3514725"/>
              <a:gd name="connsiteY74" fmla="*/ 314325 h 393905"/>
              <a:gd name="connsiteX75" fmla="*/ 1279525 w 3514725"/>
              <a:gd name="connsiteY75" fmla="*/ 311150 h 393905"/>
              <a:gd name="connsiteX76" fmla="*/ 1298575 w 3514725"/>
              <a:gd name="connsiteY76" fmla="*/ 323850 h 393905"/>
              <a:gd name="connsiteX77" fmla="*/ 1317625 w 3514725"/>
              <a:gd name="connsiteY77" fmla="*/ 330200 h 393905"/>
              <a:gd name="connsiteX78" fmla="*/ 1346200 w 3514725"/>
              <a:gd name="connsiteY78" fmla="*/ 327025 h 393905"/>
              <a:gd name="connsiteX79" fmla="*/ 1358900 w 3514725"/>
              <a:gd name="connsiteY79" fmla="*/ 323850 h 393905"/>
              <a:gd name="connsiteX80" fmla="*/ 1397000 w 3514725"/>
              <a:gd name="connsiteY80" fmla="*/ 320675 h 393905"/>
              <a:gd name="connsiteX81" fmla="*/ 1422400 w 3514725"/>
              <a:gd name="connsiteY81" fmla="*/ 317500 h 393905"/>
              <a:gd name="connsiteX82" fmla="*/ 1444625 w 3514725"/>
              <a:gd name="connsiteY82" fmla="*/ 304800 h 393905"/>
              <a:gd name="connsiteX83" fmla="*/ 1457325 w 3514725"/>
              <a:gd name="connsiteY83" fmla="*/ 285750 h 393905"/>
              <a:gd name="connsiteX84" fmla="*/ 1463675 w 3514725"/>
              <a:gd name="connsiteY84" fmla="*/ 276225 h 393905"/>
              <a:gd name="connsiteX85" fmla="*/ 1473200 w 3514725"/>
              <a:gd name="connsiteY85" fmla="*/ 269875 h 393905"/>
              <a:gd name="connsiteX86" fmla="*/ 1479550 w 3514725"/>
              <a:gd name="connsiteY86" fmla="*/ 260350 h 393905"/>
              <a:gd name="connsiteX87" fmla="*/ 1498600 w 3514725"/>
              <a:gd name="connsiteY87" fmla="*/ 254000 h 393905"/>
              <a:gd name="connsiteX88" fmla="*/ 1508125 w 3514725"/>
              <a:gd name="connsiteY88" fmla="*/ 247650 h 393905"/>
              <a:gd name="connsiteX89" fmla="*/ 1539875 w 3514725"/>
              <a:gd name="connsiteY89" fmla="*/ 238125 h 393905"/>
              <a:gd name="connsiteX90" fmla="*/ 1558925 w 3514725"/>
              <a:gd name="connsiteY90" fmla="*/ 234950 h 393905"/>
              <a:gd name="connsiteX91" fmla="*/ 1584325 w 3514725"/>
              <a:gd name="connsiteY91" fmla="*/ 238125 h 393905"/>
              <a:gd name="connsiteX92" fmla="*/ 1612900 w 3514725"/>
              <a:gd name="connsiteY92" fmla="*/ 247650 h 393905"/>
              <a:gd name="connsiteX93" fmla="*/ 1647825 w 3514725"/>
              <a:gd name="connsiteY93" fmla="*/ 257175 h 393905"/>
              <a:gd name="connsiteX94" fmla="*/ 1685925 w 3514725"/>
              <a:gd name="connsiteY94" fmla="*/ 250825 h 393905"/>
              <a:gd name="connsiteX95" fmla="*/ 1704975 w 3514725"/>
              <a:gd name="connsiteY95" fmla="*/ 238125 h 393905"/>
              <a:gd name="connsiteX96" fmla="*/ 1717675 w 3514725"/>
              <a:gd name="connsiteY96" fmla="*/ 234950 h 393905"/>
              <a:gd name="connsiteX97" fmla="*/ 1739900 w 3514725"/>
              <a:gd name="connsiteY97" fmla="*/ 231775 h 393905"/>
              <a:gd name="connsiteX98" fmla="*/ 1781175 w 3514725"/>
              <a:gd name="connsiteY98" fmla="*/ 222250 h 393905"/>
              <a:gd name="connsiteX99" fmla="*/ 1790700 w 3514725"/>
              <a:gd name="connsiteY99" fmla="*/ 225425 h 393905"/>
              <a:gd name="connsiteX100" fmla="*/ 1819275 w 3514725"/>
              <a:gd name="connsiteY100" fmla="*/ 244475 h 393905"/>
              <a:gd name="connsiteX101" fmla="*/ 1876425 w 3514725"/>
              <a:gd name="connsiteY101" fmla="*/ 254000 h 393905"/>
              <a:gd name="connsiteX102" fmla="*/ 1908175 w 3514725"/>
              <a:gd name="connsiteY102" fmla="*/ 250825 h 393905"/>
              <a:gd name="connsiteX103" fmla="*/ 1927225 w 3514725"/>
              <a:gd name="connsiteY103" fmla="*/ 244475 h 393905"/>
              <a:gd name="connsiteX104" fmla="*/ 1933575 w 3514725"/>
              <a:gd name="connsiteY104" fmla="*/ 234950 h 393905"/>
              <a:gd name="connsiteX105" fmla="*/ 1952625 w 3514725"/>
              <a:gd name="connsiteY105" fmla="*/ 228600 h 393905"/>
              <a:gd name="connsiteX106" fmla="*/ 1962150 w 3514725"/>
              <a:gd name="connsiteY106" fmla="*/ 231775 h 393905"/>
              <a:gd name="connsiteX107" fmla="*/ 1971675 w 3514725"/>
              <a:gd name="connsiteY107" fmla="*/ 238125 h 393905"/>
              <a:gd name="connsiteX108" fmla="*/ 2003425 w 3514725"/>
              <a:gd name="connsiteY108" fmla="*/ 234950 h 393905"/>
              <a:gd name="connsiteX109" fmla="*/ 2012950 w 3514725"/>
              <a:gd name="connsiteY109" fmla="*/ 238125 h 393905"/>
              <a:gd name="connsiteX110" fmla="*/ 2025650 w 3514725"/>
              <a:gd name="connsiteY110" fmla="*/ 257175 h 393905"/>
              <a:gd name="connsiteX111" fmla="*/ 2032000 w 3514725"/>
              <a:gd name="connsiteY111" fmla="*/ 266700 h 393905"/>
              <a:gd name="connsiteX112" fmla="*/ 2051050 w 3514725"/>
              <a:gd name="connsiteY112" fmla="*/ 273050 h 393905"/>
              <a:gd name="connsiteX113" fmla="*/ 2070100 w 3514725"/>
              <a:gd name="connsiteY113" fmla="*/ 260350 h 393905"/>
              <a:gd name="connsiteX114" fmla="*/ 2085975 w 3514725"/>
              <a:gd name="connsiteY114" fmla="*/ 244475 h 393905"/>
              <a:gd name="connsiteX115" fmla="*/ 2127250 w 3514725"/>
              <a:gd name="connsiteY115" fmla="*/ 234950 h 393905"/>
              <a:gd name="connsiteX116" fmla="*/ 2146300 w 3514725"/>
              <a:gd name="connsiteY116" fmla="*/ 222250 h 393905"/>
              <a:gd name="connsiteX117" fmla="*/ 2159000 w 3514725"/>
              <a:gd name="connsiteY117" fmla="*/ 203200 h 393905"/>
              <a:gd name="connsiteX118" fmla="*/ 2178050 w 3514725"/>
              <a:gd name="connsiteY118" fmla="*/ 190500 h 393905"/>
              <a:gd name="connsiteX119" fmla="*/ 2197100 w 3514725"/>
              <a:gd name="connsiteY119" fmla="*/ 184150 h 393905"/>
              <a:gd name="connsiteX120" fmla="*/ 2206625 w 3514725"/>
              <a:gd name="connsiteY120" fmla="*/ 180975 h 393905"/>
              <a:gd name="connsiteX121" fmla="*/ 2254250 w 3514725"/>
              <a:gd name="connsiteY121" fmla="*/ 184150 h 393905"/>
              <a:gd name="connsiteX122" fmla="*/ 2263775 w 3514725"/>
              <a:gd name="connsiteY122" fmla="*/ 187325 h 393905"/>
              <a:gd name="connsiteX123" fmla="*/ 2282825 w 3514725"/>
              <a:gd name="connsiteY123" fmla="*/ 225425 h 393905"/>
              <a:gd name="connsiteX124" fmla="*/ 2286000 w 3514725"/>
              <a:gd name="connsiteY124" fmla="*/ 234950 h 393905"/>
              <a:gd name="connsiteX125" fmla="*/ 2308225 w 3514725"/>
              <a:gd name="connsiteY125" fmla="*/ 260350 h 393905"/>
              <a:gd name="connsiteX126" fmla="*/ 2311400 w 3514725"/>
              <a:gd name="connsiteY126" fmla="*/ 269875 h 393905"/>
              <a:gd name="connsiteX127" fmla="*/ 2320925 w 3514725"/>
              <a:gd name="connsiteY127" fmla="*/ 273050 h 393905"/>
              <a:gd name="connsiteX128" fmla="*/ 2327275 w 3514725"/>
              <a:gd name="connsiteY128" fmla="*/ 292100 h 393905"/>
              <a:gd name="connsiteX129" fmla="*/ 2333625 w 3514725"/>
              <a:gd name="connsiteY129" fmla="*/ 301625 h 393905"/>
              <a:gd name="connsiteX130" fmla="*/ 2336800 w 3514725"/>
              <a:gd name="connsiteY130" fmla="*/ 311150 h 393905"/>
              <a:gd name="connsiteX131" fmla="*/ 2349500 w 3514725"/>
              <a:gd name="connsiteY131" fmla="*/ 330200 h 393905"/>
              <a:gd name="connsiteX132" fmla="*/ 2355850 w 3514725"/>
              <a:gd name="connsiteY132" fmla="*/ 339725 h 393905"/>
              <a:gd name="connsiteX133" fmla="*/ 2359025 w 3514725"/>
              <a:gd name="connsiteY133" fmla="*/ 349250 h 393905"/>
              <a:gd name="connsiteX134" fmla="*/ 2387600 w 3514725"/>
              <a:gd name="connsiteY134" fmla="*/ 365125 h 393905"/>
              <a:gd name="connsiteX135" fmla="*/ 2416175 w 3514725"/>
              <a:gd name="connsiteY135" fmla="*/ 381000 h 393905"/>
              <a:gd name="connsiteX136" fmla="*/ 2451100 w 3514725"/>
              <a:gd name="connsiteY136" fmla="*/ 377825 h 393905"/>
              <a:gd name="connsiteX137" fmla="*/ 2470150 w 3514725"/>
              <a:gd name="connsiteY137" fmla="*/ 384175 h 393905"/>
              <a:gd name="connsiteX138" fmla="*/ 2479675 w 3514725"/>
              <a:gd name="connsiteY138" fmla="*/ 390525 h 393905"/>
              <a:gd name="connsiteX139" fmla="*/ 2511425 w 3514725"/>
              <a:gd name="connsiteY139" fmla="*/ 390525 h 393905"/>
              <a:gd name="connsiteX140" fmla="*/ 2530475 w 3514725"/>
              <a:gd name="connsiteY140" fmla="*/ 384175 h 393905"/>
              <a:gd name="connsiteX141" fmla="*/ 2552700 w 3514725"/>
              <a:gd name="connsiteY141" fmla="*/ 358775 h 393905"/>
              <a:gd name="connsiteX142" fmla="*/ 2568575 w 3514725"/>
              <a:gd name="connsiteY142" fmla="*/ 346075 h 393905"/>
              <a:gd name="connsiteX143" fmla="*/ 2587625 w 3514725"/>
              <a:gd name="connsiteY143" fmla="*/ 333375 h 393905"/>
              <a:gd name="connsiteX144" fmla="*/ 2606675 w 3514725"/>
              <a:gd name="connsiteY144" fmla="*/ 327025 h 393905"/>
              <a:gd name="connsiteX145" fmla="*/ 2625725 w 3514725"/>
              <a:gd name="connsiteY145" fmla="*/ 314325 h 393905"/>
              <a:gd name="connsiteX146" fmla="*/ 2641600 w 3514725"/>
              <a:gd name="connsiteY146" fmla="*/ 298450 h 393905"/>
              <a:gd name="connsiteX147" fmla="*/ 2686050 w 3514725"/>
              <a:gd name="connsiteY147" fmla="*/ 288925 h 393905"/>
              <a:gd name="connsiteX148" fmla="*/ 2705100 w 3514725"/>
              <a:gd name="connsiteY148" fmla="*/ 273050 h 393905"/>
              <a:gd name="connsiteX149" fmla="*/ 2717800 w 3514725"/>
              <a:gd name="connsiteY149" fmla="*/ 263525 h 393905"/>
              <a:gd name="connsiteX150" fmla="*/ 2730500 w 3514725"/>
              <a:gd name="connsiteY150" fmla="*/ 257175 h 393905"/>
              <a:gd name="connsiteX151" fmla="*/ 2740025 w 3514725"/>
              <a:gd name="connsiteY151" fmla="*/ 250825 h 393905"/>
              <a:gd name="connsiteX152" fmla="*/ 2759075 w 3514725"/>
              <a:gd name="connsiteY152" fmla="*/ 244475 h 393905"/>
              <a:gd name="connsiteX153" fmla="*/ 2768600 w 3514725"/>
              <a:gd name="connsiteY153" fmla="*/ 241300 h 393905"/>
              <a:gd name="connsiteX154" fmla="*/ 2778125 w 3514725"/>
              <a:gd name="connsiteY154" fmla="*/ 238125 h 393905"/>
              <a:gd name="connsiteX155" fmla="*/ 2787650 w 3514725"/>
              <a:gd name="connsiteY155" fmla="*/ 231775 h 393905"/>
              <a:gd name="connsiteX156" fmla="*/ 2790825 w 3514725"/>
              <a:gd name="connsiteY156" fmla="*/ 222250 h 393905"/>
              <a:gd name="connsiteX157" fmla="*/ 2809875 w 3514725"/>
              <a:gd name="connsiteY157" fmla="*/ 209550 h 393905"/>
              <a:gd name="connsiteX158" fmla="*/ 2854325 w 3514725"/>
              <a:gd name="connsiteY158" fmla="*/ 212725 h 393905"/>
              <a:gd name="connsiteX159" fmla="*/ 2863850 w 3514725"/>
              <a:gd name="connsiteY159" fmla="*/ 215900 h 393905"/>
              <a:gd name="connsiteX160" fmla="*/ 2886075 w 3514725"/>
              <a:gd name="connsiteY160" fmla="*/ 222250 h 393905"/>
              <a:gd name="connsiteX161" fmla="*/ 2895600 w 3514725"/>
              <a:gd name="connsiteY161" fmla="*/ 228600 h 393905"/>
              <a:gd name="connsiteX162" fmla="*/ 2917825 w 3514725"/>
              <a:gd name="connsiteY162" fmla="*/ 257175 h 393905"/>
              <a:gd name="connsiteX163" fmla="*/ 2936875 w 3514725"/>
              <a:gd name="connsiteY163" fmla="*/ 266700 h 393905"/>
              <a:gd name="connsiteX164" fmla="*/ 2946400 w 3514725"/>
              <a:gd name="connsiteY164" fmla="*/ 273050 h 393905"/>
              <a:gd name="connsiteX165" fmla="*/ 3054350 w 3514725"/>
              <a:gd name="connsiteY165" fmla="*/ 273050 h 393905"/>
              <a:gd name="connsiteX166" fmla="*/ 3076575 w 3514725"/>
              <a:gd name="connsiteY166" fmla="*/ 282575 h 393905"/>
              <a:gd name="connsiteX167" fmla="*/ 3092450 w 3514725"/>
              <a:gd name="connsiteY167" fmla="*/ 301625 h 393905"/>
              <a:gd name="connsiteX168" fmla="*/ 3111500 w 3514725"/>
              <a:gd name="connsiteY168" fmla="*/ 314325 h 393905"/>
              <a:gd name="connsiteX169" fmla="*/ 3130550 w 3514725"/>
              <a:gd name="connsiteY169" fmla="*/ 320675 h 393905"/>
              <a:gd name="connsiteX170" fmla="*/ 3140075 w 3514725"/>
              <a:gd name="connsiteY170" fmla="*/ 323850 h 393905"/>
              <a:gd name="connsiteX171" fmla="*/ 3168650 w 3514725"/>
              <a:gd name="connsiteY171" fmla="*/ 307975 h 393905"/>
              <a:gd name="connsiteX172" fmla="*/ 3178175 w 3514725"/>
              <a:gd name="connsiteY172" fmla="*/ 301625 h 393905"/>
              <a:gd name="connsiteX173" fmla="*/ 3206750 w 3514725"/>
              <a:gd name="connsiteY173" fmla="*/ 279400 h 393905"/>
              <a:gd name="connsiteX174" fmla="*/ 3216275 w 3514725"/>
              <a:gd name="connsiteY174" fmla="*/ 276225 h 393905"/>
              <a:gd name="connsiteX175" fmla="*/ 3238500 w 3514725"/>
              <a:gd name="connsiteY175" fmla="*/ 263525 h 393905"/>
              <a:gd name="connsiteX176" fmla="*/ 3248025 w 3514725"/>
              <a:gd name="connsiteY176" fmla="*/ 257175 h 393905"/>
              <a:gd name="connsiteX177" fmla="*/ 3279775 w 3514725"/>
              <a:gd name="connsiteY177" fmla="*/ 247650 h 393905"/>
              <a:gd name="connsiteX178" fmla="*/ 3308350 w 3514725"/>
              <a:gd name="connsiteY178" fmla="*/ 238125 h 393905"/>
              <a:gd name="connsiteX179" fmla="*/ 3375025 w 3514725"/>
              <a:gd name="connsiteY179" fmla="*/ 234950 h 393905"/>
              <a:gd name="connsiteX180" fmla="*/ 3403600 w 3514725"/>
              <a:gd name="connsiteY180" fmla="*/ 225425 h 393905"/>
              <a:gd name="connsiteX181" fmla="*/ 3416300 w 3514725"/>
              <a:gd name="connsiteY181" fmla="*/ 222250 h 393905"/>
              <a:gd name="connsiteX182" fmla="*/ 3454400 w 3514725"/>
              <a:gd name="connsiteY182" fmla="*/ 225425 h 393905"/>
              <a:gd name="connsiteX183" fmla="*/ 3463925 w 3514725"/>
              <a:gd name="connsiteY183" fmla="*/ 231775 h 393905"/>
              <a:gd name="connsiteX184" fmla="*/ 3473450 w 3514725"/>
              <a:gd name="connsiteY184" fmla="*/ 234950 h 393905"/>
              <a:gd name="connsiteX185" fmla="*/ 3502025 w 3514725"/>
              <a:gd name="connsiteY185" fmla="*/ 254000 h 393905"/>
              <a:gd name="connsiteX186" fmla="*/ 3514725 w 3514725"/>
              <a:gd name="connsiteY186" fmla="*/ 260350 h 393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3514725" h="393905">
                <a:moveTo>
                  <a:pt x="0" y="60325"/>
                </a:moveTo>
                <a:cubicBezTo>
                  <a:pt x="5292" y="57150"/>
                  <a:pt x="9888" y="52297"/>
                  <a:pt x="15875" y="50800"/>
                </a:cubicBezTo>
                <a:cubicBezTo>
                  <a:pt x="19122" y="49988"/>
                  <a:pt x="22474" y="52350"/>
                  <a:pt x="25400" y="53975"/>
                </a:cubicBezTo>
                <a:cubicBezTo>
                  <a:pt x="58152" y="72171"/>
                  <a:pt x="32422" y="62666"/>
                  <a:pt x="53975" y="69850"/>
                </a:cubicBezTo>
                <a:cubicBezTo>
                  <a:pt x="63500" y="68792"/>
                  <a:pt x="73097" y="68251"/>
                  <a:pt x="82550" y="66675"/>
                </a:cubicBezTo>
                <a:cubicBezTo>
                  <a:pt x="85851" y="66125"/>
                  <a:pt x="89462" y="65591"/>
                  <a:pt x="92075" y="63500"/>
                </a:cubicBezTo>
                <a:cubicBezTo>
                  <a:pt x="100532" y="56734"/>
                  <a:pt x="96999" y="52733"/>
                  <a:pt x="101600" y="44450"/>
                </a:cubicBezTo>
                <a:cubicBezTo>
                  <a:pt x="105306" y="37779"/>
                  <a:pt x="107950" y="29633"/>
                  <a:pt x="114300" y="25400"/>
                </a:cubicBezTo>
                <a:lnTo>
                  <a:pt x="142875" y="6350"/>
                </a:lnTo>
                <a:cubicBezTo>
                  <a:pt x="147059" y="3561"/>
                  <a:pt x="165985" y="458"/>
                  <a:pt x="168275" y="0"/>
                </a:cubicBezTo>
                <a:cubicBezTo>
                  <a:pt x="178858" y="1058"/>
                  <a:pt x="189513" y="1558"/>
                  <a:pt x="200025" y="3175"/>
                </a:cubicBezTo>
                <a:cubicBezTo>
                  <a:pt x="203333" y="3684"/>
                  <a:pt x="206937" y="4259"/>
                  <a:pt x="209550" y="6350"/>
                </a:cubicBezTo>
                <a:cubicBezTo>
                  <a:pt x="212530" y="8734"/>
                  <a:pt x="213202" y="13177"/>
                  <a:pt x="215900" y="15875"/>
                </a:cubicBezTo>
                <a:cubicBezTo>
                  <a:pt x="218598" y="18573"/>
                  <a:pt x="222250" y="20108"/>
                  <a:pt x="225425" y="22225"/>
                </a:cubicBezTo>
                <a:cubicBezTo>
                  <a:pt x="227542" y="25400"/>
                  <a:pt x="230225" y="28263"/>
                  <a:pt x="231775" y="31750"/>
                </a:cubicBezTo>
                <a:cubicBezTo>
                  <a:pt x="233315" y="35214"/>
                  <a:pt x="237842" y="56180"/>
                  <a:pt x="244475" y="60325"/>
                </a:cubicBezTo>
                <a:cubicBezTo>
                  <a:pt x="252058" y="65064"/>
                  <a:pt x="270334" y="68037"/>
                  <a:pt x="279400" y="69850"/>
                </a:cubicBezTo>
                <a:cubicBezTo>
                  <a:pt x="283798" y="68970"/>
                  <a:pt x="299308" y="66551"/>
                  <a:pt x="304800" y="63500"/>
                </a:cubicBezTo>
                <a:cubicBezTo>
                  <a:pt x="311471" y="59794"/>
                  <a:pt x="317500" y="55033"/>
                  <a:pt x="323850" y="50800"/>
                </a:cubicBezTo>
                <a:lnTo>
                  <a:pt x="333375" y="44450"/>
                </a:lnTo>
                <a:cubicBezTo>
                  <a:pt x="338944" y="40737"/>
                  <a:pt x="352425" y="38100"/>
                  <a:pt x="352425" y="38100"/>
                </a:cubicBezTo>
                <a:cubicBezTo>
                  <a:pt x="367519" y="28037"/>
                  <a:pt x="358330" y="32957"/>
                  <a:pt x="381000" y="25400"/>
                </a:cubicBezTo>
                <a:lnTo>
                  <a:pt x="390525" y="22225"/>
                </a:lnTo>
                <a:cubicBezTo>
                  <a:pt x="396800" y="24317"/>
                  <a:pt x="405099" y="26155"/>
                  <a:pt x="409575" y="31750"/>
                </a:cubicBezTo>
                <a:cubicBezTo>
                  <a:pt x="422409" y="47792"/>
                  <a:pt x="401257" y="35187"/>
                  <a:pt x="419100" y="50800"/>
                </a:cubicBezTo>
                <a:cubicBezTo>
                  <a:pt x="424843" y="55826"/>
                  <a:pt x="431800" y="59267"/>
                  <a:pt x="438150" y="63500"/>
                </a:cubicBezTo>
                <a:cubicBezTo>
                  <a:pt x="443719" y="67213"/>
                  <a:pt x="450850" y="67733"/>
                  <a:pt x="457200" y="69850"/>
                </a:cubicBezTo>
                <a:lnTo>
                  <a:pt x="466725" y="73025"/>
                </a:lnTo>
                <a:lnTo>
                  <a:pt x="476250" y="76200"/>
                </a:lnTo>
                <a:lnTo>
                  <a:pt x="495300" y="88900"/>
                </a:lnTo>
                <a:cubicBezTo>
                  <a:pt x="498085" y="90756"/>
                  <a:pt x="496978" y="95432"/>
                  <a:pt x="498475" y="98425"/>
                </a:cubicBezTo>
                <a:cubicBezTo>
                  <a:pt x="500182" y="101838"/>
                  <a:pt x="503118" y="104537"/>
                  <a:pt x="504825" y="107950"/>
                </a:cubicBezTo>
                <a:cubicBezTo>
                  <a:pt x="509298" y="116896"/>
                  <a:pt x="508687" y="132521"/>
                  <a:pt x="520700" y="136525"/>
                </a:cubicBezTo>
                <a:lnTo>
                  <a:pt x="530225" y="139700"/>
                </a:lnTo>
                <a:cubicBezTo>
                  <a:pt x="553699" y="136347"/>
                  <a:pt x="553231" y="134424"/>
                  <a:pt x="577850" y="139700"/>
                </a:cubicBezTo>
                <a:cubicBezTo>
                  <a:pt x="584395" y="141102"/>
                  <a:pt x="590550" y="143933"/>
                  <a:pt x="596900" y="146050"/>
                </a:cubicBezTo>
                <a:lnTo>
                  <a:pt x="606425" y="149225"/>
                </a:lnTo>
                <a:cubicBezTo>
                  <a:pt x="609600" y="151342"/>
                  <a:pt x="613019" y="153132"/>
                  <a:pt x="615950" y="155575"/>
                </a:cubicBezTo>
                <a:cubicBezTo>
                  <a:pt x="619399" y="158450"/>
                  <a:pt x="621550" y="162919"/>
                  <a:pt x="625475" y="165100"/>
                </a:cubicBezTo>
                <a:cubicBezTo>
                  <a:pt x="631326" y="168351"/>
                  <a:pt x="644525" y="171450"/>
                  <a:pt x="644525" y="171450"/>
                </a:cubicBezTo>
                <a:lnTo>
                  <a:pt x="663575" y="165100"/>
                </a:lnTo>
                <a:lnTo>
                  <a:pt x="673100" y="161925"/>
                </a:lnTo>
                <a:cubicBezTo>
                  <a:pt x="676275" y="162983"/>
                  <a:pt x="680680" y="162377"/>
                  <a:pt x="682625" y="165100"/>
                </a:cubicBezTo>
                <a:cubicBezTo>
                  <a:pt x="686516" y="170547"/>
                  <a:pt x="685262" y="178581"/>
                  <a:pt x="688975" y="184150"/>
                </a:cubicBezTo>
                <a:cubicBezTo>
                  <a:pt x="699038" y="199244"/>
                  <a:pt x="694118" y="190055"/>
                  <a:pt x="701675" y="212725"/>
                </a:cubicBezTo>
                <a:cubicBezTo>
                  <a:pt x="713254" y="247463"/>
                  <a:pt x="694787" y="194846"/>
                  <a:pt x="711200" y="231775"/>
                </a:cubicBezTo>
                <a:cubicBezTo>
                  <a:pt x="713918" y="237892"/>
                  <a:pt x="713837" y="245256"/>
                  <a:pt x="717550" y="250825"/>
                </a:cubicBezTo>
                <a:cubicBezTo>
                  <a:pt x="727613" y="265919"/>
                  <a:pt x="722693" y="256730"/>
                  <a:pt x="730250" y="279400"/>
                </a:cubicBezTo>
                <a:cubicBezTo>
                  <a:pt x="731457" y="283020"/>
                  <a:pt x="735050" y="285438"/>
                  <a:pt x="736600" y="288925"/>
                </a:cubicBezTo>
                <a:cubicBezTo>
                  <a:pt x="747736" y="313981"/>
                  <a:pt x="735340" y="302902"/>
                  <a:pt x="752475" y="314325"/>
                </a:cubicBezTo>
                <a:lnTo>
                  <a:pt x="758825" y="295275"/>
                </a:lnTo>
                <a:cubicBezTo>
                  <a:pt x="760532" y="290155"/>
                  <a:pt x="759323" y="284085"/>
                  <a:pt x="762000" y="279400"/>
                </a:cubicBezTo>
                <a:cubicBezTo>
                  <a:pt x="764896" y="274331"/>
                  <a:pt x="776161" y="271505"/>
                  <a:pt x="781050" y="269875"/>
                </a:cubicBezTo>
                <a:cubicBezTo>
                  <a:pt x="784225" y="267758"/>
                  <a:pt x="787088" y="265075"/>
                  <a:pt x="790575" y="263525"/>
                </a:cubicBezTo>
                <a:cubicBezTo>
                  <a:pt x="796692" y="260807"/>
                  <a:pt x="803275" y="259292"/>
                  <a:pt x="809625" y="257175"/>
                </a:cubicBezTo>
                <a:lnTo>
                  <a:pt x="819150" y="254000"/>
                </a:lnTo>
                <a:lnTo>
                  <a:pt x="847725" y="244475"/>
                </a:lnTo>
                <a:cubicBezTo>
                  <a:pt x="851865" y="243095"/>
                  <a:pt x="856192" y="242358"/>
                  <a:pt x="860425" y="241300"/>
                </a:cubicBezTo>
                <a:cubicBezTo>
                  <a:pt x="887942" y="242358"/>
                  <a:pt x="916158" y="238218"/>
                  <a:pt x="942975" y="244475"/>
                </a:cubicBezTo>
                <a:cubicBezTo>
                  <a:pt x="950407" y="246209"/>
                  <a:pt x="951442" y="257175"/>
                  <a:pt x="955675" y="263525"/>
                </a:cubicBezTo>
                <a:cubicBezTo>
                  <a:pt x="966258" y="279400"/>
                  <a:pt x="958850" y="270933"/>
                  <a:pt x="981075" y="285750"/>
                </a:cubicBezTo>
                <a:cubicBezTo>
                  <a:pt x="996169" y="295813"/>
                  <a:pt x="986980" y="290893"/>
                  <a:pt x="1009650" y="298450"/>
                </a:cubicBezTo>
                <a:cubicBezTo>
                  <a:pt x="1021864" y="302521"/>
                  <a:pt x="1047750" y="304800"/>
                  <a:pt x="1047750" y="304800"/>
                </a:cubicBezTo>
                <a:cubicBezTo>
                  <a:pt x="1050925" y="305858"/>
                  <a:pt x="1054662" y="305884"/>
                  <a:pt x="1057275" y="307975"/>
                </a:cubicBezTo>
                <a:cubicBezTo>
                  <a:pt x="1060255" y="310359"/>
                  <a:pt x="1061182" y="314569"/>
                  <a:pt x="1063625" y="317500"/>
                </a:cubicBezTo>
                <a:cubicBezTo>
                  <a:pt x="1066500" y="320949"/>
                  <a:pt x="1070275" y="323576"/>
                  <a:pt x="1073150" y="327025"/>
                </a:cubicBezTo>
                <a:cubicBezTo>
                  <a:pt x="1075593" y="329956"/>
                  <a:pt x="1076520" y="334166"/>
                  <a:pt x="1079500" y="336550"/>
                </a:cubicBezTo>
                <a:cubicBezTo>
                  <a:pt x="1082113" y="338641"/>
                  <a:pt x="1085850" y="338667"/>
                  <a:pt x="1089025" y="339725"/>
                </a:cubicBezTo>
                <a:cubicBezTo>
                  <a:pt x="1092200" y="341842"/>
                  <a:pt x="1094869" y="345071"/>
                  <a:pt x="1098550" y="346075"/>
                </a:cubicBezTo>
                <a:cubicBezTo>
                  <a:pt x="1120254" y="351994"/>
                  <a:pt x="1133223" y="348323"/>
                  <a:pt x="1155700" y="346075"/>
                </a:cubicBezTo>
                <a:lnTo>
                  <a:pt x="1184275" y="336550"/>
                </a:lnTo>
                <a:lnTo>
                  <a:pt x="1193800" y="333375"/>
                </a:lnTo>
                <a:cubicBezTo>
                  <a:pt x="1196975" y="332317"/>
                  <a:pt x="1200078" y="331012"/>
                  <a:pt x="1203325" y="330200"/>
                </a:cubicBezTo>
                <a:cubicBezTo>
                  <a:pt x="1225788" y="324584"/>
                  <a:pt x="1206531" y="329040"/>
                  <a:pt x="1235075" y="323850"/>
                </a:cubicBezTo>
                <a:cubicBezTo>
                  <a:pt x="1254821" y="320260"/>
                  <a:pt x="1249170" y="321268"/>
                  <a:pt x="1270000" y="314325"/>
                </a:cubicBezTo>
                <a:lnTo>
                  <a:pt x="1279525" y="311150"/>
                </a:lnTo>
                <a:cubicBezTo>
                  <a:pt x="1311037" y="321654"/>
                  <a:pt x="1262900" y="304031"/>
                  <a:pt x="1298575" y="323850"/>
                </a:cubicBezTo>
                <a:cubicBezTo>
                  <a:pt x="1304426" y="327101"/>
                  <a:pt x="1317625" y="330200"/>
                  <a:pt x="1317625" y="330200"/>
                </a:cubicBezTo>
                <a:cubicBezTo>
                  <a:pt x="1327150" y="329142"/>
                  <a:pt x="1336728" y="328482"/>
                  <a:pt x="1346200" y="327025"/>
                </a:cubicBezTo>
                <a:cubicBezTo>
                  <a:pt x="1350513" y="326361"/>
                  <a:pt x="1354570" y="324391"/>
                  <a:pt x="1358900" y="323850"/>
                </a:cubicBezTo>
                <a:cubicBezTo>
                  <a:pt x="1371546" y="322269"/>
                  <a:pt x="1384319" y="321943"/>
                  <a:pt x="1397000" y="320675"/>
                </a:cubicBezTo>
                <a:cubicBezTo>
                  <a:pt x="1405490" y="319826"/>
                  <a:pt x="1413933" y="318558"/>
                  <a:pt x="1422400" y="317500"/>
                </a:cubicBezTo>
                <a:cubicBezTo>
                  <a:pt x="1426143" y="315628"/>
                  <a:pt x="1441135" y="308789"/>
                  <a:pt x="1444625" y="304800"/>
                </a:cubicBezTo>
                <a:cubicBezTo>
                  <a:pt x="1449651" y="299057"/>
                  <a:pt x="1453092" y="292100"/>
                  <a:pt x="1457325" y="285750"/>
                </a:cubicBezTo>
                <a:cubicBezTo>
                  <a:pt x="1459442" y="282575"/>
                  <a:pt x="1460500" y="278342"/>
                  <a:pt x="1463675" y="276225"/>
                </a:cubicBezTo>
                <a:lnTo>
                  <a:pt x="1473200" y="269875"/>
                </a:lnTo>
                <a:cubicBezTo>
                  <a:pt x="1475317" y="266700"/>
                  <a:pt x="1476314" y="262372"/>
                  <a:pt x="1479550" y="260350"/>
                </a:cubicBezTo>
                <a:cubicBezTo>
                  <a:pt x="1485226" y="256802"/>
                  <a:pt x="1498600" y="254000"/>
                  <a:pt x="1498600" y="254000"/>
                </a:cubicBezTo>
                <a:cubicBezTo>
                  <a:pt x="1501775" y="251883"/>
                  <a:pt x="1504638" y="249200"/>
                  <a:pt x="1508125" y="247650"/>
                </a:cubicBezTo>
                <a:cubicBezTo>
                  <a:pt x="1514752" y="244705"/>
                  <a:pt x="1531479" y="239804"/>
                  <a:pt x="1539875" y="238125"/>
                </a:cubicBezTo>
                <a:cubicBezTo>
                  <a:pt x="1546188" y="236862"/>
                  <a:pt x="1552575" y="236008"/>
                  <a:pt x="1558925" y="234950"/>
                </a:cubicBezTo>
                <a:cubicBezTo>
                  <a:pt x="1567392" y="236008"/>
                  <a:pt x="1575982" y="236337"/>
                  <a:pt x="1584325" y="238125"/>
                </a:cubicBezTo>
                <a:cubicBezTo>
                  <a:pt x="1606550" y="242887"/>
                  <a:pt x="1597025" y="243681"/>
                  <a:pt x="1612900" y="247650"/>
                </a:cubicBezTo>
                <a:cubicBezTo>
                  <a:pt x="1641547" y="254812"/>
                  <a:pt x="1630021" y="251240"/>
                  <a:pt x="1647825" y="257175"/>
                </a:cubicBezTo>
                <a:cubicBezTo>
                  <a:pt x="1653071" y="256592"/>
                  <a:pt x="1676617" y="255996"/>
                  <a:pt x="1685925" y="250825"/>
                </a:cubicBezTo>
                <a:cubicBezTo>
                  <a:pt x="1692596" y="247119"/>
                  <a:pt x="1697571" y="239976"/>
                  <a:pt x="1704975" y="238125"/>
                </a:cubicBezTo>
                <a:cubicBezTo>
                  <a:pt x="1709208" y="237067"/>
                  <a:pt x="1713382" y="235731"/>
                  <a:pt x="1717675" y="234950"/>
                </a:cubicBezTo>
                <a:cubicBezTo>
                  <a:pt x="1725038" y="233611"/>
                  <a:pt x="1732530" y="233076"/>
                  <a:pt x="1739900" y="231775"/>
                </a:cubicBezTo>
                <a:cubicBezTo>
                  <a:pt x="1769677" y="226520"/>
                  <a:pt x="1763040" y="228295"/>
                  <a:pt x="1781175" y="222250"/>
                </a:cubicBezTo>
                <a:cubicBezTo>
                  <a:pt x="1784350" y="223308"/>
                  <a:pt x="1787774" y="223800"/>
                  <a:pt x="1790700" y="225425"/>
                </a:cubicBezTo>
                <a:lnTo>
                  <a:pt x="1819275" y="244475"/>
                </a:lnTo>
                <a:cubicBezTo>
                  <a:pt x="1832621" y="253372"/>
                  <a:pt x="1865534" y="253092"/>
                  <a:pt x="1876425" y="254000"/>
                </a:cubicBezTo>
                <a:cubicBezTo>
                  <a:pt x="1887008" y="252942"/>
                  <a:pt x="1897721" y="252785"/>
                  <a:pt x="1908175" y="250825"/>
                </a:cubicBezTo>
                <a:cubicBezTo>
                  <a:pt x="1914754" y="249591"/>
                  <a:pt x="1927225" y="244475"/>
                  <a:pt x="1927225" y="244475"/>
                </a:cubicBezTo>
                <a:cubicBezTo>
                  <a:pt x="1929342" y="241300"/>
                  <a:pt x="1930339" y="236972"/>
                  <a:pt x="1933575" y="234950"/>
                </a:cubicBezTo>
                <a:cubicBezTo>
                  <a:pt x="1939251" y="231402"/>
                  <a:pt x="1952625" y="228600"/>
                  <a:pt x="1952625" y="228600"/>
                </a:cubicBezTo>
                <a:cubicBezTo>
                  <a:pt x="1955800" y="229658"/>
                  <a:pt x="1959157" y="230278"/>
                  <a:pt x="1962150" y="231775"/>
                </a:cubicBezTo>
                <a:cubicBezTo>
                  <a:pt x="1965563" y="233482"/>
                  <a:pt x="1967870" y="237832"/>
                  <a:pt x="1971675" y="238125"/>
                </a:cubicBezTo>
                <a:cubicBezTo>
                  <a:pt x="1982280" y="238941"/>
                  <a:pt x="1992842" y="236008"/>
                  <a:pt x="2003425" y="234950"/>
                </a:cubicBezTo>
                <a:cubicBezTo>
                  <a:pt x="2006600" y="236008"/>
                  <a:pt x="2010583" y="235758"/>
                  <a:pt x="2012950" y="238125"/>
                </a:cubicBezTo>
                <a:cubicBezTo>
                  <a:pt x="2018346" y="243521"/>
                  <a:pt x="2021417" y="250825"/>
                  <a:pt x="2025650" y="257175"/>
                </a:cubicBezTo>
                <a:lnTo>
                  <a:pt x="2032000" y="266700"/>
                </a:lnTo>
                <a:cubicBezTo>
                  <a:pt x="2035713" y="272269"/>
                  <a:pt x="2051050" y="273050"/>
                  <a:pt x="2051050" y="273050"/>
                </a:cubicBezTo>
                <a:cubicBezTo>
                  <a:pt x="2057400" y="268817"/>
                  <a:pt x="2065867" y="266700"/>
                  <a:pt x="2070100" y="260350"/>
                </a:cubicBezTo>
                <a:cubicBezTo>
                  <a:pt x="2075893" y="251661"/>
                  <a:pt x="2075949" y="248931"/>
                  <a:pt x="2085975" y="244475"/>
                </a:cubicBezTo>
                <a:cubicBezTo>
                  <a:pt x="2102490" y="237135"/>
                  <a:pt x="2109170" y="237533"/>
                  <a:pt x="2127250" y="234950"/>
                </a:cubicBezTo>
                <a:cubicBezTo>
                  <a:pt x="2138376" y="231241"/>
                  <a:pt x="2137976" y="232952"/>
                  <a:pt x="2146300" y="222250"/>
                </a:cubicBezTo>
                <a:cubicBezTo>
                  <a:pt x="2150985" y="216226"/>
                  <a:pt x="2152650" y="207433"/>
                  <a:pt x="2159000" y="203200"/>
                </a:cubicBezTo>
                <a:lnTo>
                  <a:pt x="2178050" y="190500"/>
                </a:lnTo>
                <a:cubicBezTo>
                  <a:pt x="2183619" y="186787"/>
                  <a:pt x="2190750" y="186267"/>
                  <a:pt x="2197100" y="184150"/>
                </a:cubicBezTo>
                <a:lnTo>
                  <a:pt x="2206625" y="180975"/>
                </a:lnTo>
                <a:cubicBezTo>
                  <a:pt x="2222500" y="182033"/>
                  <a:pt x="2238437" y="182393"/>
                  <a:pt x="2254250" y="184150"/>
                </a:cubicBezTo>
                <a:cubicBezTo>
                  <a:pt x="2257576" y="184520"/>
                  <a:pt x="2261408" y="184958"/>
                  <a:pt x="2263775" y="187325"/>
                </a:cubicBezTo>
                <a:cubicBezTo>
                  <a:pt x="2276085" y="199635"/>
                  <a:pt x="2277660" y="209931"/>
                  <a:pt x="2282825" y="225425"/>
                </a:cubicBezTo>
                <a:cubicBezTo>
                  <a:pt x="2283883" y="228600"/>
                  <a:pt x="2284144" y="232165"/>
                  <a:pt x="2286000" y="234950"/>
                </a:cubicBezTo>
                <a:cubicBezTo>
                  <a:pt x="2300817" y="257175"/>
                  <a:pt x="2292350" y="249767"/>
                  <a:pt x="2308225" y="260350"/>
                </a:cubicBezTo>
                <a:cubicBezTo>
                  <a:pt x="2309283" y="263525"/>
                  <a:pt x="2309033" y="267508"/>
                  <a:pt x="2311400" y="269875"/>
                </a:cubicBezTo>
                <a:cubicBezTo>
                  <a:pt x="2313767" y="272242"/>
                  <a:pt x="2318980" y="270327"/>
                  <a:pt x="2320925" y="273050"/>
                </a:cubicBezTo>
                <a:cubicBezTo>
                  <a:pt x="2324816" y="278497"/>
                  <a:pt x="2323562" y="286531"/>
                  <a:pt x="2327275" y="292100"/>
                </a:cubicBezTo>
                <a:cubicBezTo>
                  <a:pt x="2329392" y="295275"/>
                  <a:pt x="2331918" y="298212"/>
                  <a:pt x="2333625" y="301625"/>
                </a:cubicBezTo>
                <a:cubicBezTo>
                  <a:pt x="2335122" y="304618"/>
                  <a:pt x="2335175" y="308224"/>
                  <a:pt x="2336800" y="311150"/>
                </a:cubicBezTo>
                <a:cubicBezTo>
                  <a:pt x="2340506" y="317821"/>
                  <a:pt x="2345267" y="323850"/>
                  <a:pt x="2349500" y="330200"/>
                </a:cubicBezTo>
                <a:lnTo>
                  <a:pt x="2355850" y="339725"/>
                </a:lnTo>
                <a:cubicBezTo>
                  <a:pt x="2357706" y="342510"/>
                  <a:pt x="2356658" y="346883"/>
                  <a:pt x="2359025" y="349250"/>
                </a:cubicBezTo>
                <a:cubicBezTo>
                  <a:pt x="2369942" y="360167"/>
                  <a:pt x="2375622" y="361132"/>
                  <a:pt x="2387600" y="365125"/>
                </a:cubicBezTo>
                <a:cubicBezTo>
                  <a:pt x="2409435" y="379681"/>
                  <a:pt x="2399410" y="375412"/>
                  <a:pt x="2416175" y="381000"/>
                </a:cubicBezTo>
                <a:cubicBezTo>
                  <a:pt x="2437005" y="374057"/>
                  <a:pt x="2431354" y="372440"/>
                  <a:pt x="2451100" y="377825"/>
                </a:cubicBezTo>
                <a:cubicBezTo>
                  <a:pt x="2457558" y="379586"/>
                  <a:pt x="2470150" y="384175"/>
                  <a:pt x="2470150" y="384175"/>
                </a:cubicBezTo>
                <a:cubicBezTo>
                  <a:pt x="2473325" y="386292"/>
                  <a:pt x="2476055" y="389318"/>
                  <a:pt x="2479675" y="390525"/>
                </a:cubicBezTo>
                <a:cubicBezTo>
                  <a:pt x="2494677" y="395526"/>
                  <a:pt x="2498141" y="394510"/>
                  <a:pt x="2511425" y="390525"/>
                </a:cubicBezTo>
                <a:cubicBezTo>
                  <a:pt x="2517836" y="388602"/>
                  <a:pt x="2530475" y="384175"/>
                  <a:pt x="2530475" y="384175"/>
                </a:cubicBezTo>
                <a:cubicBezTo>
                  <a:pt x="2545292" y="361950"/>
                  <a:pt x="2536825" y="369358"/>
                  <a:pt x="2552700" y="358775"/>
                </a:cubicBezTo>
                <a:cubicBezTo>
                  <a:pt x="2564433" y="341176"/>
                  <a:pt x="2552337" y="355096"/>
                  <a:pt x="2568575" y="346075"/>
                </a:cubicBezTo>
                <a:cubicBezTo>
                  <a:pt x="2575246" y="342369"/>
                  <a:pt x="2580385" y="335788"/>
                  <a:pt x="2587625" y="333375"/>
                </a:cubicBezTo>
                <a:lnTo>
                  <a:pt x="2606675" y="327025"/>
                </a:lnTo>
                <a:cubicBezTo>
                  <a:pt x="2613025" y="322792"/>
                  <a:pt x="2621492" y="320675"/>
                  <a:pt x="2625725" y="314325"/>
                </a:cubicBezTo>
                <a:cubicBezTo>
                  <a:pt x="2631518" y="305636"/>
                  <a:pt x="2631574" y="302906"/>
                  <a:pt x="2641600" y="298450"/>
                </a:cubicBezTo>
                <a:cubicBezTo>
                  <a:pt x="2659303" y="290582"/>
                  <a:pt x="2666044" y="291426"/>
                  <a:pt x="2686050" y="288925"/>
                </a:cubicBezTo>
                <a:cubicBezTo>
                  <a:pt x="2700874" y="274101"/>
                  <a:pt x="2689629" y="284101"/>
                  <a:pt x="2705100" y="273050"/>
                </a:cubicBezTo>
                <a:cubicBezTo>
                  <a:pt x="2709406" y="269974"/>
                  <a:pt x="2713313" y="266330"/>
                  <a:pt x="2717800" y="263525"/>
                </a:cubicBezTo>
                <a:cubicBezTo>
                  <a:pt x="2721814" y="261017"/>
                  <a:pt x="2726391" y="259523"/>
                  <a:pt x="2730500" y="257175"/>
                </a:cubicBezTo>
                <a:cubicBezTo>
                  <a:pt x="2733813" y="255282"/>
                  <a:pt x="2736538" y="252375"/>
                  <a:pt x="2740025" y="250825"/>
                </a:cubicBezTo>
                <a:cubicBezTo>
                  <a:pt x="2746142" y="248107"/>
                  <a:pt x="2752725" y="246592"/>
                  <a:pt x="2759075" y="244475"/>
                </a:cubicBezTo>
                <a:lnTo>
                  <a:pt x="2768600" y="241300"/>
                </a:lnTo>
                <a:lnTo>
                  <a:pt x="2778125" y="238125"/>
                </a:lnTo>
                <a:cubicBezTo>
                  <a:pt x="2781300" y="236008"/>
                  <a:pt x="2785266" y="234755"/>
                  <a:pt x="2787650" y="231775"/>
                </a:cubicBezTo>
                <a:cubicBezTo>
                  <a:pt x="2789741" y="229162"/>
                  <a:pt x="2788458" y="224617"/>
                  <a:pt x="2790825" y="222250"/>
                </a:cubicBezTo>
                <a:cubicBezTo>
                  <a:pt x="2796221" y="216854"/>
                  <a:pt x="2809875" y="209550"/>
                  <a:pt x="2809875" y="209550"/>
                </a:cubicBezTo>
                <a:cubicBezTo>
                  <a:pt x="2824692" y="210608"/>
                  <a:pt x="2839572" y="210989"/>
                  <a:pt x="2854325" y="212725"/>
                </a:cubicBezTo>
                <a:cubicBezTo>
                  <a:pt x="2857649" y="213116"/>
                  <a:pt x="2860632" y="214981"/>
                  <a:pt x="2863850" y="215900"/>
                </a:cubicBezTo>
                <a:cubicBezTo>
                  <a:pt x="2891757" y="223873"/>
                  <a:pt x="2863237" y="214637"/>
                  <a:pt x="2886075" y="222250"/>
                </a:cubicBezTo>
                <a:cubicBezTo>
                  <a:pt x="2889250" y="224367"/>
                  <a:pt x="2892669" y="226157"/>
                  <a:pt x="2895600" y="228600"/>
                </a:cubicBezTo>
                <a:cubicBezTo>
                  <a:pt x="2906791" y="237926"/>
                  <a:pt x="2908975" y="243900"/>
                  <a:pt x="2917825" y="257175"/>
                </a:cubicBezTo>
                <a:cubicBezTo>
                  <a:pt x="2921342" y="262451"/>
                  <a:pt x="2931442" y="264889"/>
                  <a:pt x="2936875" y="266700"/>
                </a:cubicBezTo>
                <a:cubicBezTo>
                  <a:pt x="2940050" y="268817"/>
                  <a:pt x="2942614" y="272577"/>
                  <a:pt x="2946400" y="273050"/>
                </a:cubicBezTo>
                <a:cubicBezTo>
                  <a:pt x="2996025" y="279253"/>
                  <a:pt x="3010012" y="276461"/>
                  <a:pt x="3054350" y="273050"/>
                </a:cubicBezTo>
                <a:cubicBezTo>
                  <a:pt x="3064066" y="275479"/>
                  <a:pt x="3069266" y="275266"/>
                  <a:pt x="3076575" y="282575"/>
                </a:cubicBezTo>
                <a:cubicBezTo>
                  <a:pt x="3094919" y="300919"/>
                  <a:pt x="3069044" y="283420"/>
                  <a:pt x="3092450" y="301625"/>
                </a:cubicBezTo>
                <a:cubicBezTo>
                  <a:pt x="3098474" y="306310"/>
                  <a:pt x="3105150" y="310092"/>
                  <a:pt x="3111500" y="314325"/>
                </a:cubicBezTo>
                <a:cubicBezTo>
                  <a:pt x="3117069" y="318038"/>
                  <a:pt x="3124200" y="318558"/>
                  <a:pt x="3130550" y="320675"/>
                </a:cubicBezTo>
                <a:lnTo>
                  <a:pt x="3140075" y="323850"/>
                </a:lnTo>
                <a:cubicBezTo>
                  <a:pt x="3156840" y="318262"/>
                  <a:pt x="3146815" y="322531"/>
                  <a:pt x="3168650" y="307975"/>
                </a:cubicBezTo>
                <a:cubicBezTo>
                  <a:pt x="3171825" y="305858"/>
                  <a:pt x="3175477" y="304323"/>
                  <a:pt x="3178175" y="301625"/>
                </a:cubicBezTo>
                <a:cubicBezTo>
                  <a:pt x="3186393" y="293407"/>
                  <a:pt x="3195357" y="283198"/>
                  <a:pt x="3206750" y="279400"/>
                </a:cubicBezTo>
                <a:lnTo>
                  <a:pt x="3216275" y="276225"/>
                </a:lnTo>
                <a:cubicBezTo>
                  <a:pt x="3246984" y="253193"/>
                  <a:pt x="3214258" y="275646"/>
                  <a:pt x="3238500" y="263525"/>
                </a:cubicBezTo>
                <a:cubicBezTo>
                  <a:pt x="3241913" y="261818"/>
                  <a:pt x="3244538" y="258725"/>
                  <a:pt x="3248025" y="257175"/>
                </a:cubicBezTo>
                <a:cubicBezTo>
                  <a:pt x="3287106" y="239806"/>
                  <a:pt x="3250221" y="258733"/>
                  <a:pt x="3279775" y="247650"/>
                </a:cubicBezTo>
                <a:cubicBezTo>
                  <a:pt x="3297222" y="241107"/>
                  <a:pt x="3287925" y="239696"/>
                  <a:pt x="3308350" y="238125"/>
                </a:cubicBezTo>
                <a:cubicBezTo>
                  <a:pt x="3330535" y="236418"/>
                  <a:pt x="3352800" y="236008"/>
                  <a:pt x="3375025" y="234950"/>
                </a:cubicBezTo>
                <a:lnTo>
                  <a:pt x="3403600" y="225425"/>
                </a:lnTo>
                <a:cubicBezTo>
                  <a:pt x="3407740" y="224045"/>
                  <a:pt x="3412067" y="223308"/>
                  <a:pt x="3416300" y="222250"/>
                </a:cubicBezTo>
                <a:cubicBezTo>
                  <a:pt x="3429000" y="223308"/>
                  <a:pt x="3441903" y="222926"/>
                  <a:pt x="3454400" y="225425"/>
                </a:cubicBezTo>
                <a:cubicBezTo>
                  <a:pt x="3458142" y="226173"/>
                  <a:pt x="3460512" y="230068"/>
                  <a:pt x="3463925" y="231775"/>
                </a:cubicBezTo>
                <a:cubicBezTo>
                  <a:pt x="3466918" y="233272"/>
                  <a:pt x="3470275" y="233892"/>
                  <a:pt x="3473450" y="234950"/>
                </a:cubicBezTo>
                <a:lnTo>
                  <a:pt x="3502025" y="254000"/>
                </a:lnTo>
                <a:cubicBezTo>
                  <a:pt x="3523915" y="268593"/>
                  <a:pt x="3504289" y="249914"/>
                  <a:pt x="3514725" y="2603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5778500" y="3851275"/>
            <a:ext cx="2178068" cy="393700"/>
          </a:xfrm>
          <a:custGeom>
            <a:avLst/>
            <a:gdLst>
              <a:gd name="connsiteX0" fmla="*/ 0 w 2178068"/>
              <a:gd name="connsiteY0" fmla="*/ 250825 h 393700"/>
              <a:gd name="connsiteX1" fmla="*/ 25400 w 2178068"/>
              <a:gd name="connsiteY1" fmla="*/ 244475 h 393700"/>
              <a:gd name="connsiteX2" fmla="*/ 34925 w 2178068"/>
              <a:gd name="connsiteY2" fmla="*/ 225425 h 393700"/>
              <a:gd name="connsiteX3" fmla="*/ 53975 w 2178068"/>
              <a:gd name="connsiteY3" fmla="*/ 209550 h 393700"/>
              <a:gd name="connsiteX4" fmla="*/ 73025 w 2178068"/>
              <a:gd name="connsiteY4" fmla="*/ 206375 h 393700"/>
              <a:gd name="connsiteX5" fmla="*/ 152400 w 2178068"/>
              <a:gd name="connsiteY5" fmla="*/ 209550 h 393700"/>
              <a:gd name="connsiteX6" fmla="*/ 241300 w 2178068"/>
              <a:gd name="connsiteY6" fmla="*/ 212725 h 393700"/>
              <a:gd name="connsiteX7" fmla="*/ 250825 w 2178068"/>
              <a:gd name="connsiteY7" fmla="*/ 219075 h 393700"/>
              <a:gd name="connsiteX8" fmla="*/ 263525 w 2178068"/>
              <a:gd name="connsiteY8" fmla="*/ 238125 h 393700"/>
              <a:gd name="connsiteX9" fmla="*/ 292100 w 2178068"/>
              <a:gd name="connsiteY9" fmla="*/ 257175 h 393700"/>
              <a:gd name="connsiteX10" fmla="*/ 301625 w 2178068"/>
              <a:gd name="connsiteY10" fmla="*/ 260350 h 393700"/>
              <a:gd name="connsiteX11" fmla="*/ 311150 w 2178068"/>
              <a:gd name="connsiteY11" fmla="*/ 266700 h 393700"/>
              <a:gd name="connsiteX12" fmla="*/ 314325 w 2178068"/>
              <a:gd name="connsiteY12" fmla="*/ 257175 h 393700"/>
              <a:gd name="connsiteX13" fmla="*/ 330200 w 2178068"/>
              <a:gd name="connsiteY13" fmla="*/ 241300 h 393700"/>
              <a:gd name="connsiteX14" fmla="*/ 365125 w 2178068"/>
              <a:gd name="connsiteY14" fmla="*/ 250825 h 393700"/>
              <a:gd name="connsiteX15" fmla="*/ 387350 w 2178068"/>
              <a:gd name="connsiteY15" fmla="*/ 241300 h 393700"/>
              <a:gd name="connsiteX16" fmla="*/ 390525 w 2178068"/>
              <a:gd name="connsiteY16" fmla="*/ 231775 h 393700"/>
              <a:gd name="connsiteX17" fmla="*/ 409575 w 2178068"/>
              <a:gd name="connsiteY17" fmla="*/ 219075 h 393700"/>
              <a:gd name="connsiteX18" fmla="*/ 415925 w 2178068"/>
              <a:gd name="connsiteY18" fmla="*/ 209550 h 393700"/>
              <a:gd name="connsiteX19" fmla="*/ 434975 w 2178068"/>
              <a:gd name="connsiteY19" fmla="*/ 219075 h 393700"/>
              <a:gd name="connsiteX20" fmla="*/ 454025 w 2178068"/>
              <a:gd name="connsiteY20" fmla="*/ 225425 h 393700"/>
              <a:gd name="connsiteX21" fmla="*/ 495300 w 2178068"/>
              <a:gd name="connsiteY21" fmla="*/ 222250 h 393700"/>
              <a:gd name="connsiteX22" fmla="*/ 504825 w 2178068"/>
              <a:gd name="connsiteY22" fmla="*/ 219075 h 393700"/>
              <a:gd name="connsiteX23" fmla="*/ 517525 w 2178068"/>
              <a:gd name="connsiteY23" fmla="*/ 215900 h 393700"/>
              <a:gd name="connsiteX24" fmla="*/ 552450 w 2178068"/>
              <a:gd name="connsiteY24" fmla="*/ 212725 h 393700"/>
              <a:gd name="connsiteX25" fmla="*/ 565150 w 2178068"/>
              <a:gd name="connsiteY25" fmla="*/ 209550 h 393700"/>
              <a:gd name="connsiteX26" fmla="*/ 574675 w 2178068"/>
              <a:gd name="connsiteY26" fmla="*/ 206375 h 393700"/>
              <a:gd name="connsiteX27" fmla="*/ 609600 w 2178068"/>
              <a:gd name="connsiteY27" fmla="*/ 196850 h 393700"/>
              <a:gd name="connsiteX28" fmla="*/ 654050 w 2178068"/>
              <a:gd name="connsiteY28" fmla="*/ 193675 h 393700"/>
              <a:gd name="connsiteX29" fmla="*/ 730250 w 2178068"/>
              <a:gd name="connsiteY29" fmla="*/ 196850 h 393700"/>
              <a:gd name="connsiteX30" fmla="*/ 793750 w 2178068"/>
              <a:gd name="connsiteY30" fmla="*/ 190500 h 393700"/>
              <a:gd name="connsiteX31" fmla="*/ 800100 w 2178068"/>
              <a:gd name="connsiteY31" fmla="*/ 180975 h 393700"/>
              <a:gd name="connsiteX32" fmla="*/ 819150 w 2178068"/>
              <a:gd name="connsiteY32" fmla="*/ 171450 h 393700"/>
              <a:gd name="connsiteX33" fmla="*/ 831850 w 2178068"/>
              <a:gd name="connsiteY33" fmla="*/ 168275 h 393700"/>
              <a:gd name="connsiteX34" fmla="*/ 841375 w 2178068"/>
              <a:gd name="connsiteY34" fmla="*/ 165100 h 393700"/>
              <a:gd name="connsiteX35" fmla="*/ 876300 w 2178068"/>
              <a:gd name="connsiteY35" fmla="*/ 161925 h 393700"/>
              <a:gd name="connsiteX36" fmla="*/ 895350 w 2178068"/>
              <a:gd name="connsiteY36" fmla="*/ 155575 h 393700"/>
              <a:gd name="connsiteX37" fmla="*/ 898525 w 2178068"/>
              <a:gd name="connsiteY37" fmla="*/ 146050 h 393700"/>
              <a:gd name="connsiteX38" fmla="*/ 914400 w 2178068"/>
              <a:gd name="connsiteY38" fmla="*/ 130175 h 393700"/>
              <a:gd name="connsiteX39" fmla="*/ 936625 w 2178068"/>
              <a:gd name="connsiteY39" fmla="*/ 107950 h 393700"/>
              <a:gd name="connsiteX40" fmla="*/ 955675 w 2178068"/>
              <a:gd name="connsiteY40" fmla="*/ 101600 h 393700"/>
              <a:gd name="connsiteX41" fmla="*/ 965200 w 2178068"/>
              <a:gd name="connsiteY41" fmla="*/ 98425 h 393700"/>
              <a:gd name="connsiteX42" fmla="*/ 977900 w 2178068"/>
              <a:gd name="connsiteY42" fmla="*/ 101600 h 393700"/>
              <a:gd name="connsiteX43" fmla="*/ 996950 w 2178068"/>
              <a:gd name="connsiteY43" fmla="*/ 107950 h 393700"/>
              <a:gd name="connsiteX44" fmla="*/ 1012825 w 2178068"/>
              <a:gd name="connsiteY44" fmla="*/ 104775 h 393700"/>
              <a:gd name="connsiteX45" fmla="*/ 1031875 w 2178068"/>
              <a:gd name="connsiteY45" fmla="*/ 98425 h 393700"/>
              <a:gd name="connsiteX46" fmla="*/ 1066800 w 2178068"/>
              <a:gd name="connsiteY46" fmla="*/ 101600 h 393700"/>
              <a:gd name="connsiteX47" fmla="*/ 1085850 w 2178068"/>
              <a:gd name="connsiteY47" fmla="*/ 114300 h 393700"/>
              <a:gd name="connsiteX48" fmla="*/ 1133475 w 2178068"/>
              <a:gd name="connsiteY48" fmla="*/ 111125 h 393700"/>
              <a:gd name="connsiteX49" fmla="*/ 1152525 w 2178068"/>
              <a:gd name="connsiteY49" fmla="*/ 104775 h 393700"/>
              <a:gd name="connsiteX50" fmla="*/ 1162050 w 2178068"/>
              <a:gd name="connsiteY50" fmla="*/ 98425 h 393700"/>
              <a:gd name="connsiteX51" fmla="*/ 1171575 w 2178068"/>
              <a:gd name="connsiteY51" fmla="*/ 95250 h 393700"/>
              <a:gd name="connsiteX52" fmla="*/ 1187450 w 2178068"/>
              <a:gd name="connsiteY52" fmla="*/ 82550 h 393700"/>
              <a:gd name="connsiteX53" fmla="*/ 1209675 w 2178068"/>
              <a:gd name="connsiteY53" fmla="*/ 60325 h 393700"/>
              <a:gd name="connsiteX54" fmla="*/ 1225550 w 2178068"/>
              <a:gd name="connsiteY54" fmla="*/ 47625 h 393700"/>
              <a:gd name="connsiteX55" fmla="*/ 1235075 w 2178068"/>
              <a:gd name="connsiteY55" fmla="*/ 41275 h 393700"/>
              <a:gd name="connsiteX56" fmla="*/ 1254125 w 2178068"/>
              <a:gd name="connsiteY56" fmla="*/ 34925 h 393700"/>
              <a:gd name="connsiteX57" fmla="*/ 1263650 w 2178068"/>
              <a:gd name="connsiteY57" fmla="*/ 31750 h 393700"/>
              <a:gd name="connsiteX58" fmla="*/ 1273175 w 2178068"/>
              <a:gd name="connsiteY58" fmla="*/ 34925 h 393700"/>
              <a:gd name="connsiteX59" fmla="*/ 1292225 w 2178068"/>
              <a:gd name="connsiteY59" fmla="*/ 47625 h 393700"/>
              <a:gd name="connsiteX60" fmla="*/ 1314450 w 2178068"/>
              <a:gd name="connsiteY60" fmla="*/ 44450 h 393700"/>
              <a:gd name="connsiteX61" fmla="*/ 1343025 w 2178068"/>
              <a:gd name="connsiteY61" fmla="*/ 34925 h 393700"/>
              <a:gd name="connsiteX62" fmla="*/ 1352550 w 2178068"/>
              <a:gd name="connsiteY62" fmla="*/ 31750 h 393700"/>
              <a:gd name="connsiteX63" fmla="*/ 1362075 w 2178068"/>
              <a:gd name="connsiteY63" fmla="*/ 28575 h 393700"/>
              <a:gd name="connsiteX64" fmla="*/ 1384300 w 2178068"/>
              <a:gd name="connsiteY64" fmla="*/ 34925 h 393700"/>
              <a:gd name="connsiteX65" fmla="*/ 1397000 w 2178068"/>
              <a:gd name="connsiteY65" fmla="*/ 53975 h 393700"/>
              <a:gd name="connsiteX66" fmla="*/ 1406525 w 2178068"/>
              <a:gd name="connsiteY66" fmla="*/ 63500 h 393700"/>
              <a:gd name="connsiteX67" fmla="*/ 1422400 w 2178068"/>
              <a:gd name="connsiteY67" fmla="*/ 79375 h 393700"/>
              <a:gd name="connsiteX68" fmla="*/ 1444625 w 2178068"/>
              <a:gd name="connsiteY68" fmla="*/ 104775 h 393700"/>
              <a:gd name="connsiteX69" fmla="*/ 1466850 w 2178068"/>
              <a:gd name="connsiteY69" fmla="*/ 133350 h 393700"/>
              <a:gd name="connsiteX70" fmla="*/ 1473200 w 2178068"/>
              <a:gd name="connsiteY70" fmla="*/ 142875 h 393700"/>
              <a:gd name="connsiteX71" fmla="*/ 1492250 w 2178068"/>
              <a:gd name="connsiteY71" fmla="*/ 155575 h 393700"/>
              <a:gd name="connsiteX72" fmla="*/ 1501775 w 2178068"/>
              <a:gd name="connsiteY72" fmla="*/ 117475 h 393700"/>
              <a:gd name="connsiteX73" fmla="*/ 1508125 w 2178068"/>
              <a:gd name="connsiteY73" fmla="*/ 98425 h 393700"/>
              <a:gd name="connsiteX74" fmla="*/ 1517650 w 2178068"/>
              <a:gd name="connsiteY74" fmla="*/ 95250 h 393700"/>
              <a:gd name="connsiteX75" fmla="*/ 1527175 w 2178068"/>
              <a:gd name="connsiteY75" fmla="*/ 104775 h 393700"/>
              <a:gd name="connsiteX76" fmla="*/ 1533525 w 2178068"/>
              <a:gd name="connsiteY76" fmla="*/ 114300 h 393700"/>
              <a:gd name="connsiteX77" fmla="*/ 1552575 w 2178068"/>
              <a:gd name="connsiteY77" fmla="*/ 127000 h 393700"/>
              <a:gd name="connsiteX78" fmla="*/ 1571625 w 2178068"/>
              <a:gd name="connsiteY78" fmla="*/ 117475 h 393700"/>
              <a:gd name="connsiteX79" fmla="*/ 1581150 w 2178068"/>
              <a:gd name="connsiteY79" fmla="*/ 98425 h 393700"/>
              <a:gd name="connsiteX80" fmla="*/ 1593850 w 2178068"/>
              <a:gd name="connsiteY80" fmla="*/ 79375 h 393700"/>
              <a:gd name="connsiteX81" fmla="*/ 1603375 w 2178068"/>
              <a:gd name="connsiteY81" fmla="*/ 73025 h 393700"/>
              <a:gd name="connsiteX82" fmla="*/ 1654175 w 2178068"/>
              <a:gd name="connsiteY82" fmla="*/ 66675 h 393700"/>
              <a:gd name="connsiteX83" fmla="*/ 1682750 w 2178068"/>
              <a:gd name="connsiteY83" fmla="*/ 57150 h 393700"/>
              <a:gd name="connsiteX84" fmla="*/ 1692275 w 2178068"/>
              <a:gd name="connsiteY84" fmla="*/ 53975 h 393700"/>
              <a:gd name="connsiteX85" fmla="*/ 1724025 w 2178068"/>
              <a:gd name="connsiteY85" fmla="*/ 50800 h 393700"/>
              <a:gd name="connsiteX86" fmla="*/ 1743075 w 2178068"/>
              <a:gd name="connsiteY86" fmla="*/ 44450 h 393700"/>
              <a:gd name="connsiteX87" fmla="*/ 1787525 w 2178068"/>
              <a:gd name="connsiteY87" fmla="*/ 38100 h 393700"/>
              <a:gd name="connsiteX88" fmla="*/ 1803400 w 2178068"/>
              <a:gd name="connsiteY88" fmla="*/ 34925 h 393700"/>
              <a:gd name="connsiteX89" fmla="*/ 1812925 w 2178068"/>
              <a:gd name="connsiteY89" fmla="*/ 31750 h 393700"/>
              <a:gd name="connsiteX90" fmla="*/ 1831975 w 2178068"/>
              <a:gd name="connsiteY90" fmla="*/ 28575 h 393700"/>
              <a:gd name="connsiteX91" fmla="*/ 1851025 w 2178068"/>
              <a:gd name="connsiteY91" fmla="*/ 19050 h 393700"/>
              <a:gd name="connsiteX92" fmla="*/ 1863725 w 2178068"/>
              <a:gd name="connsiteY92" fmla="*/ 0 h 393700"/>
              <a:gd name="connsiteX93" fmla="*/ 1889125 w 2178068"/>
              <a:gd name="connsiteY93" fmla="*/ 6350 h 393700"/>
              <a:gd name="connsiteX94" fmla="*/ 1898650 w 2178068"/>
              <a:gd name="connsiteY94" fmla="*/ 12700 h 393700"/>
              <a:gd name="connsiteX95" fmla="*/ 1914525 w 2178068"/>
              <a:gd name="connsiteY95" fmla="*/ 28575 h 393700"/>
              <a:gd name="connsiteX96" fmla="*/ 1939925 w 2178068"/>
              <a:gd name="connsiteY96" fmla="*/ 50800 h 393700"/>
              <a:gd name="connsiteX97" fmla="*/ 1962150 w 2178068"/>
              <a:gd name="connsiteY97" fmla="*/ 57150 h 393700"/>
              <a:gd name="connsiteX98" fmla="*/ 1971675 w 2178068"/>
              <a:gd name="connsiteY98" fmla="*/ 60325 h 393700"/>
              <a:gd name="connsiteX99" fmla="*/ 1984375 w 2178068"/>
              <a:gd name="connsiteY99" fmla="*/ 79375 h 393700"/>
              <a:gd name="connsiteX100" fmla="*/ 1990725 w 2178068"/>
              <a:gd name="connsiteY100" fmla="*/ 98425 h 393700"/>
              <a:gd name="connsiteX101" fmla="*/ 1993900 w 2178068"/>
              <a:gd name="connsiteY101" fmla="*/ 111125 h 393700"/>
              <a:gd name="connsiteX102" fmla="*/ 2003425 w 2178068"/>
              <a:gd name="connsiteY102" fmla="*/ 139700 h 393700"/>
              <a:gd name="connsiteX103" fmla="*/ 2006600 w 2178068"/>
              <a:gd name="connsiteY103" fmla="*/ 149225 h 393700"/>
              <a:gd name="connsiteX104" fmla="*/ 2012950 w 2178068"/>
              <a:gd name="connsiteY104" fmla="*/ 174625 h 393700"/>
              <a:gd name="connsiteX105" fmla="*/ 2022475 w 2178068"/>
              <a:gd name="connsiteY105" fmla="*/ 203200 h 393700"/>
              <a:gd name="connsiteX106" fmla="*/ 2028825 w 2178068"/>
              <a:gd name="connsiteY106" fmla="*/ 212725 h 393700"/>
              <a:gd name="connsiteX107" fmla="*/ 2035175 w 2178068"/>
              <a:gd name="connsiteY107" fmla="*/ 231775 h 393700"/>
              <a:gd name="connsiteX108" fmla="*/ 2047875 w 2178068"/>
              <a:gd name="connsiteY108" fmla="*/ 250825 h 393700"/>
              <a:gd name="connsiteX109" fmla="*/ 2057400 w 2178068"/>
              <a:gd name="connsiteY109" fmla="*/ 269875 h 393700"/>
              <a:gd name="connsiteX110" fmla="*/ 2063750 w 2178068"/>
              <a:gd name="connsiteY110" fmla="*/ 279400 h 393700"/>
              <a:gd name="connsiteX111" fmla="*/ 2066925 w 2178068"/>
              <a:gd name="connsiteY111" fmla="*/ 288925 h 393700"/>
              <a:gd name="connsiteX112" fmla="*/ 2073275 w 2178068"/>
              <a:gd name="connsiteY112" fmla="*/ 314325 h 393700"/>
              <a:gd name="connsiteX113" fmla="*/ 2079625 w 2178068"/>
              <a:gd name="connsiteY113" fmla="*/ 342900 h 393700"/>
              <a:gd name="connsiteX114" fmla="*/ 2108200 w 2178068"/>
              <a:gd name="connsiteY114" fmla="*/ 333375 h 393700"/>
              <a:gd name="connsiteX115" fmla="*/ 2117725 w 2178068"/>
              <a:gd name="connsiteY115" fmla="*/ 330200 h 393700"/>
              <a:gd name="connsiteX116" fmla="*/ 2130425 w 2178068"/>
              <a:gd name="connsiteY116" fmla="*/ 342900 h 393700"/>
              <a:gd name="connsiteX117" fmla="*/ 2139950 w 2178068"/>
              <a:gd name="connsiteY117" fmla="*/ 349250 h 393700"/>
              <a:gd name="connsiteX118" fmla="*/ 2143125 w 2178068"/>
              <a:gd name="connsiteY118" fmla="*/ 358775 h 393700"/>
              <a:gd name="connsiteX119" fmla="*/ 2162175 w 2178068"/>
              <a:gd name="connsiteY119" fmla="*/ 374650 h 393700"/>
              <a:gd name="connsiteX120" fmla="*/ 2168525 w 2178068"/>
              <a:gd name="connsiteY120" fmla="*/ 384175 h 393700"/>
              <a:gd name="connsiteX121" fmla="*/ 2178050 w 2178068"/>
              <a:gd name="connsiteY121" fmla="*/ 393700 h 39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178068" h="393700">
                <a:moveTo>
                  <a:pt x="0" y="250825"/>
                </a:moveTo>
                <a:cubicBezTo>
                  <a:pt x="791" y="250667"/>
                  <a:pt x="22146" y="247078"/>
                  <a:pt x="25400" y="244475"/>
                </a:cubicBezTo>
                <a:cubicBezTo>
                  <a:pt x="36105" y="235911"/>
                  <a:pt x="28352" y="235285"/>
                  <a:pt x="34925" y="225425"/>
                </a:cubicBezTo>
                <a:cubicBezTo>
                  <a:pt x="37451" y="221635"/>
                  <a:pt x="48955" y="211223"/>
                  <a:pt x="53975" y="209550"/>
                </a:cubicBezTo>
                <a:cubicBezTo>
                  <a:pt x="60082" y="207514"/>
                  <a:pt x="66675" y="207433"/>
                  <a:pt x="73025" y="206375"/>
                </a:cubicBezTo>
                <a:lnTo>
                  <a:pt x="152400" y="209550"/>
                </a:lnTo>
                <a:cubicBezTo>
                  <a:pt x="182031" y="210668"/>
                  <a:pt x="211786" y="209869"/>
                  <a:pt x="241300" y="212725"/>
                </a:cubicBezTo>
                <a:cubicBezTo>
                  <a:pt x="245098" y="213093"/>
                  <a:pt x="247650" y="216958"/>
                  <a:pt x="250825" y="219075"/>
                </a:cubicBezTo>
                <a:cubicBezTo>
                  <a:pt x="255058" y="225425"/>
                  <a:pt x="257175" y="233892"/>
                  <a:pt x="263525" y="238125"/>
                </a:cubicBezTo>
                <a:lnTo>
                  <a:pt x="292100" y="257175"/>
                </a:lnTo>
                <a:cubicBezTo>
                  <a:pt x="294885" y="259031"/>
                  <a:pt x="298450" y="259292"/>
                  <a:pt x="301625" y="260350"/>
                </a:cubicBezTo>
                <a:cubicBezTo>
                  <a:pt x="304800" y="262467"/>
                  <a:pt x="307448" y="267625"/>
                  <a:pt x="311150" y="266700"/>
                </a:cubicBezTo>
                <a:cubicBezTo>
                  <a:pt x="314397" y="265888"/>
                  <a:pt x="312828" y="260168"/>
                  <a:pt x="314325" y="257175"/>
                </a:cubicBezTo>
                <a:cubicBezTo>
                  <a:pt x="319617" y="246592"/>
                  <a:pt x="320675" y="247650"/>
                  <a:pt x="330200" y="241300"/>
                </a:cubicBezTo>
                <a:cubicBezTo>
                  <a:pt x="354370" y="249357"/>
                  <a:pt x="342686" y="246337"/>
                  <a:pt x="365125" y="250825"/>
                </a:cubicBezTo>
                <a:cubicBezTo>
                  <a:pt x="372751" y="248918"/>
                  <a:pt x="381868" y="248152"/>
                  <a:pt x="387350" y="241300"/>
                </a:cubicBezTo>
                <a:cubicBezTo>
                  <a:pt x="389441" y="238687"/>
                  <a:pt x="388158" y="234142"/>
                  <a:pt x="390525" y="231775"/>
                </a:cubicBezTo>
                <a:cubicBezTo>
                  <a:pt x="395921" y="226379"/>
                  <a:pt x="409575" y="219075"/>
                  <a:pt x="409575" y="219075"/>
                </a:cubicBezTo>
                <a:cubicBezTo>
                  <a:pt x="411692" y="215900"/>
                  <a:pt x="412382" y="210967"/>
                  <a:pt x="415925" y="209550"/>
                </a:cubicBezTo>
                <a:cubicBezTo>
                  <a:pt x="420496" y="207722"/>
                  <a:pt x="432442" y="217949"/>
                  <a:pt x="434975" y="219075"/>
                </a:cubicBezTo>
                <a:cubicBezTo>
                  <a:pt x="441092" y="221793"/>
                  <a:pt x="454025" y="225425"/>
                  <a:pt x="454025" y="225425"/>
                </a:cubicBezTo>
                <a:cubicBezTo>
                  <a:pt x="467783" y="224367"/>
                  <a:pt x="481608" y="223962"/>
                  <a:pt x="495300" y="222250"/>
                </a:cubicBezTo>
                <a:cubicBezTo>
                  <a:pt x="498621" y="221835"/>
                  <a:pt x="501607" y="219994"/>
                  <a:pt x="504825" y="219075"/>
                </a:cubicBezTo>
                <a:cubicBezTo>
                  <a:pt x="509021" y="217876"/>
                  <a:pt x="513200" y="216477"/>
                  <a:pt x="517525" y="215900"/>
                </a:cubicBezTo>
                <a:cubicBezTo>
                  <a:pt x="529112" y="214355"/>
                  <a:pt x="540808" y="213783"/>
                  <a:pt x="552450" y="212725"/>
                </a:cubicBezTo>
                <a:cubicBezTo>
                  <a:pt x="556683" y="211667"/>
                  <a:pt x="560954" y="210749"/>
                  <a:pt x="565150" y="209550"/>
                </a:cubicBezTo>
                <a:cubicBezTo>
                  <a:pt x="568368" y="208631"/>
                  <a:pt x="571428" y="207187"/>
                  <a:pt x="574675" y="206375"/>
                </a:cubicBezTo>
                <a:cubicBezTo>
                  <a:pt x="610577" y="197400"/>
                  <a:pt x="568732" y="210473"/>
                  <a:pt x="609600" y="196850"/>
                </a:cubicBezTo>
                <a:cubicBezTo>
                  <a:pt x="623692" y="192153"/>
                  <a:pt x="639233" y="194733"/>
                  <a:pt x="654050" y="193675"/>
                </a:cubicBezTo>
                <a:cubicBezTo>
                  <a:pt x="679450" y="194733"/>
                  <a:pt x="704828" y="196850"/>
                  <a:pt x="730250" y="196850"/>
                </a:cubicBezTo>
                <a:cubicBezTo>
                  <a:pt x="777451" y="196850"/>
                  <a:pt x="769005" y="198748"/>
                  <a:pt x="793750" y="190500"/>
                </a:cubicBezTo>
                <a:cubicBezTo>
                  <a:pt x="795867" y="187325"/>
                  <a:pt x="797402" y="183673"/>
                  <a:pt x="800100" y="180975"/>
                </a:cubicBezTo>
                <a:cubicBezTo>
                  <a:pt x="805666" y="175409"/>
                  <a:pt x="811920" y="173516"/>
                  <a:pt x="819150" y="171450"/>
                </a:cubicBezTo>
                <a:cubicBezTo>
                  <a:pt x="823346" y="170251"/>
                  <a:pt x="827654" y="169474"/>
                  <a:pt x="831850" y="168275"/>
                </a:cubicBezTo>
                <a:cubicBezTo>
                  <a:pt x="835068" y="167356"/>
                  <a:pt x="838062" y="165573"/>
                  <a:pt x="841375" y="165100"/>
                </a:cubicBezTo>
                <a:cubicBezTo>
                  <a:pt x="852947" y="163447"/>
                  <a:pt x="864658" y="162983"/>
                  <a:pt x="876300" y="161925"/>
                </a:cubicBezTo>
                <a:lnTo>
                  <a:pt x="895350" y="155575"/>
                </a:lnTo>
                <a:cubicBezTo>
                  <a:pt x="898525" y="154517"/>
                  <a:pt x="897028" y="149043"/>
                  <a:pt x="898525" y="146050"/>
                </a:cubicBezTo>
                <a:cubicBezTo>
                  <a:pt x="903817" y="135467"/>
                  <a:pt x="904875" y="136525"/>
                  <a:pt x="914400" y="130175"/>
                </a:cubicBezTo>
                <a:cubicBezTo>
                  <a:pt x="918791" y="117001"/>
                  <a:pt x="917520" y="114318"/>
                  <a:pt x="936625" y="107950"/>
                </a:cubicBezTo>
                <a:lnTo>
                  <a:pt x="955675" y="101600"/>
                </a:lnTo>
                <a:lnTo>
                  <a:pt x="965200" y="98425"/>
                </a:lnTo>
                <a:cubicBezTo>
                  <a:pt x="969433" y="99483"/>
                  <a:pt x="973720" y="100346"/>
                  <a:pt x="977900" y="101600"/>
                </a:cubicBezTo>
                <a:cubicBezTo>
                  <a:pt x="984311" y="103523"/>
                  <a:pt x="996950" y="107950"/>
                  <a:pt x="996950" y="107950"/>
                </a:cubicBezTo>
                <a:cubicBezTo>
                  <a:pt x="1002242" y="106892"/>
                  <a:pt x="1007619" y="106195"/>
                  <a:pt x="1012825" y="104775"/>
                </a:cubicBezTo>
                <a:cubicBezTo>
                  <a:pt x="1019283" y="103014"/>
                  <a:pt x="1031875" y="98425"/>
                  <a:pt x="1031875" y="98425"/>
                </a:cubicBezTo>
                <a:cubicBezTo>
                  <a:pt x="1043517" y="99483"/>
                  <a:pt x="1055585" y="98302"/>
                  <a:pt x="1066800" y="101600"/>
                </a:cubicBezTo>
                <a:cubicBezTo>
                  <a:pt x="1074122" y="103753"/>
                  <a:pt x="1085850" y="114300"/>
                  <a:pt x="1085850" y="114300"/>
                </a:cubicBezTo>
                <a:cubicBezTo>
                  <a:pt x="1101725" y="113242"/>
                  <a:pt x="1117725" y="113375"/>
                  <a:pt x="1133475" y="111125"/>
                </a:cubicBezTo>
                <a:cubicBezTo>
                  <a:pt x="1140101" y="110178"/>
                  <a:pt x="1152525" y="104775"/>
                  <a:pt x="1152525" y="104775"/>
                </a:cubicBezTo>
                <a:cubicBezTo>
                  <a:pt x="1155700" y="102658"/>
                  <a:pt x="1158637" y="100132"/>
                  <a:pt x="1162050" y="98425"/>
                </a:cubicBezTo>
                <a:cubicBezTo>
                  <a:pt x="1165043" y="96928"/>
                  <a:pt x="1168962" y="97341"/>
                  <a:pt x="1171575" y="95250"/>
                </a:cubicBezTo>
                <a:cubicBezTo>
                  <a:pt x="1192091" y="78837"/>
                  <a:pt x="1163509" y="90530"/>
                  <a:pt x="1187450" y="82550"/>
                </a:cubicBezTo>
                <a:cubicBezTo>
                  <a:pt x="1202006" y="60715"/>
                  <a:pt x="1192910" y="65913"/>
                  <a:pt x="1209675" y="60325"/>
                </a:cubicBezTo>
                <a:cubicBezTo>
                  <a:pt x="1220379" y="44268"/>
                  <a:pt x="1210214" y="55293"/>
                  <a:pt x="1225550" y="47625"/>
                </a:cubicBezTo>
                <a:cubicBezTo>
                  <a:pt x="1228963" y="45918"/>
                  <a:pt x="1231588" y="42825"/>
                  <a:pt x="1235075" y="41275"/>
                </a:cubicBezTo>
                <a:cubicBezTo>
                  <a:pt x="1241192" y="38557"/>
                  <a:pt x="1247775" y="37042"/>
                  <a:pt x="1254125" y="34925"/>
                </a:cubicBezTo>
                <a:lnTo>
                  <a:pt x="1263650" y="31750"/>
                </a:lnTo>
                <a:cubicBezTo>
                  <a:pt x="1266825" y="32808"/>
                  <a:pt x="1270249" y="33300"/>
                  <a:pt x="1273175" y="34925"/>
                </a:cubicBezTo>
                <a:cubicBezTo>
                  <a:pt x="1279846" y="38631"/>
                  <a:pt x="1292225" y="47625"/>
                  <a:pt x="1292225" y="47625"/>
                </a:cubicBezTo>
                <a:cubicBezTo>
                  <a:pt x="1299633" y="46567"/>
                  <a:pt x="1307158" y="46133"/>
                  <a:pt x="1314450" y="44450"/>
                </a:cubicBezTo>
                <a:lnTo>
                  <a:pt x="1343025" y="34925"/>
                </a:lnTo>
                <a:lnTo>
                  <a:pt x="1352550" y="31750"/>
                </a:lnTo>
                <a:lnTo>
                  <a:pt x="1362075" y="28575"/>
                </a:lnTo>
                <a:cubicBezTo>
                  <a:pt x="1362185" y="28602"/>
                  <a:pt x="1382782" y="33407"/>
                  <a:pt x="1384300" y="34925"/>
                </a:cubicBezTo>
                <a:cubicBezTo>
                  <a:pt x="1389696" y="40321"/>
                  <a:pt x="1392767" y="47625"/>
                  <a:pt x="1397000" y="53975"/>
                </a:cubicBezTo>
                <a:cubicBezTo>
                  <a:pt x="1399491" y="57711"/>
                  <a:pt x="1403650" y="60051"/>
                  <a:pt x="1406525" y="63500"/>
                </a:cubicBezTo>
                <a:cubicBezTo>
                  <a:pt x="1419754" y="79375"/>
                  <a:pt x="1404938" y="67733"/>
                  <a:pt x="1422400" y="79375"/>
                </a:cubicBezTo>
                <a:cubicBezTo>
                  <a:pt x="1437217" y="101600"/>
                  <a:pt x="1428750" y="94192"/>
                  <a:pt x="1444625" y="104775"/>
                </a:cubicBezTo>
                <a:cubicBezTo>
                  <a:pt x="1476723" y="152923"/>
                  <a:pt x="1441981" y="103507"/>
                  <a:pt x="1466850" y="133350"/>
                </a:cubicBezTo>
                <a:cubicBezTo>
                  <a:pt x="1469293" y="136281"/>
                  <a:pt x="1470328" y="140362"/>
                  <a:pt x="1473200" y="142875"/>
                </a:cubicBezTo>
                <a:cubicBezTo>
                  <a:pt x="1478943" y="147901"/>
                  <a:pt x="1492250" y="155575"/>
                  <a:pt x="1492250" y="155575"/>
                </a:cubicBezTo>
                <a:cubicBezTo>
                  <a:pt x="1509526" y="103746"/>
                  <a:pt x="1488949" y="168780"/>
                  <a:pt x="1501775" y="117475"/>
                </a:cubicBezTo>
                <a:cubicBezTo>
                  <a:pt x="1503398" y="110981"/>
                  <a:pt x="1506008" y="104775"/>
                  <a:pt x="1508125" y="98425"/>
                </a:cubicBezTo>
                <a:cubicBezTo>
                  <a:pt x="1509183" y="95250"/>
                  <a:pt x="1514475" y="96308"/>
                  <a:pt x="1517650" y="95250"/>
                </a:cubicBezTo>
                <a:cubicBezTo>
                  <a:pt x="1520825" y="98425"/>
                  <a:pt x="1524300" y="101326"/>
                  <a:pt x="1527175" y="104775"/>
                </a:cubicBezTo>
                <a:cubicBezTo>
                  <a:pt x="1529618" y="107706"/>
                  <a:pt x="1530653" y="111787"/>
                  <a:pt x="1533525" y="114300"/>
                </a:cubicBezTo>
                <a:cubicBezTo>
                  <a:pt x="1539268" y="119326"/>
                  <a:pt x="1552575" y="127000"/>
                  <a:pt x="1552575" y="127000"/>
                </a:cubicBezTo>
                <a:cubicBezTo>
                  <a:pt x="1560322" y="124418"/>
                  <a:pt x="1565470" y="123630"/>
                  <a:pt x="1571625" y="117475"/>
                </a:cubicBezTo>
                <a:cubicBezTo>
                  <a:pt x="1582196" y="106904"/>
                  <a:pt x="1574694" y="110045"/>
                  <a:pt x="1581150" y="98425"/>
                </a:cubicBezTo>
                <a:cubicBezTo>
                  <a:pt x="1584856" y="91754"/>
                  <a:pt x="1589617" y="85725"/>
                  <a:pt x="1593850" y="79375"/>
                </a:cubicBezTo>
                <a:cubicBezTo>
                  <a:pt x="1595967" y="76200"/>
                  <a:pt x="1599962" y="74732"/>
                  <a:pt x="1603375" y="73025"/>
                </a:cubicBezTo>
                <a:cubicBezTo>
                  <a:pt x="1617082" y="66172"/>
                  <a:pt x="1646297" y="67281"/>
                  <a:pt x="1654175" y="66675"/>
                </a:cubicBezTo>
                <a:lnTo>
                  <a:pt x="1682750" y="57150"/>
                </a:lnTo>
                <a:cubicBezTo>
                  <a:pt x="1685925" y="56092"/>
                  <a:pt x="1688945" y="54308"/>
                  <a:pt x="1692275" y="53975"/>
                </a:cubicBezTo>
                <a:lnTo>
                  <a:pt x="1724025" y="50800"/>
                </a:lnTo>
                <a:cubicBezTo>
                  <a:pt x="1730375" y="48683"/>
                  <a:pt x="1736433" y="45280"/>
                  <a:pt x="1743075" y="44450"/>
                </a:cubicBezTo>
                <a:cubicBezTo>
                  <a:pt x="1765155" y="41690"/>
                  <a:pt x="1767383" y="41762"/>
                  <a:pt x="1787525" y="38100"/>
                </a:cubicBezTo>
                <a:cubicBezTo>
                  <a:pt x="1792834" y="37135"/>
                  <a:pt x="1798165" y="36234"/>
                  <a:pt x="1803400" y="34925"/>
                </a:cubicBezTo>
                <a:cubicBezTo>
                  <a:pt x="1806647" y="34113"/>
                  <a:pt x="1809658" y="32476"/>
                  <a:pt x="1812925" y="31750"/>
                </a:cubicBezTo>
                <a:cubicBezTo>
                  <a:pt x="1819209" y="30353"/>
                  <a:pt x="1825625" y="29633"/>
                  <a:pt x="1831975" y="28575"/>
                </a:cubicBezTo>
                <a:cubicBezTo>
                  <a:pt x="1838769" y="26310"/>
                  <a:pt x="1845956" y="24843"/>
                  <a:pt x="1851025" y="19050"/>
                </a:cubicBezTo>
                <a:cubicBezTo>
                  <a:pt x="1856051" y="13307"/>
                  <a:pt x="1863725" y="0"/>
                  <a:pt x="1863725" y="0"/>
                </a:cubicBezTo>
                <a:cubicBezTo>
                  <a:pt x="1869763" y="1208"/>
                  <a:pt x="1882616" y="3096"/>
                  <a:pt x="1889125" y="6350"/>
                </a:cubicBezTo>
                <a:cubicBezTo>
                  <a:pt x="1892538" y="8057"/>
                  <a:pt x="1895475" y="10583"/>
                  <a:pt x="1898650" y="12700"/>
                </a:cubicBezTo>
                <a:cubicBezTo>
                  <a:pt x="1915583" y="38100"/>
                  <a:pt x="1893358" y="7408"/>
                  <a:pt x="1914525" y="28575"/>
                </a:cubicBezTo>
                <a:cubicBezTo>
                  <a:pt x="1927490" y="41540"/>
                  <a:pt x="1912938" y="41804"/>
                  <a:pt x="1939925" y="50800"/>
                </a:cubicBezTo>
                <a:cubicBezTo>
                  <a:pt x="1962763" y="58413"/>
                  <a:pt x="1934243" y="49177"/>
                  <a:pt x="1962150" y="57150"/>
                </a:cubicBezTo>
                <a:cubicBezTo>
                  <a:pt x="1965368" y="58069"/>
                  <a:pt x="1968500" y="59267"/>
                  <a:pt x="1971675" y="60325"/>
                </a:cubicBezTo>
                <a:cubicBezTo>
                  <a:pt x="1975908" y="66675"/>
                  <a:pt x="1981962" y="72135"/>
                  <a:pt x="1984375" y="79375"/>
                </a:cubicBezTo>
                <a:cubicBezTo>
                  <a:pt x="1986492" y="85725"/>
                  <a:pt x="1989102" y="91931"/>
                  <a:pt x="1990725" y="98425"/>
                </a:cubicBezTo>
                <a:cubicBezTo>
                  <a:pt x="1991783" y="102658"/>
                  <a:pt x="1992646" y="106945"/>
                  <a:pt x="1993900" y="111125"/>
                </a:cubicBezTo>
                <a:cubicBezTo>
                  <a:pt x="1996785" y="120742"/>
                  <a:pt x="2000250" y="130175"/>
                  <a:pt x="2003425" y="139700"/>
                </a:cubicBezTo>
                <a:cubicBezTo>
                  <a:pt x="2004483" y="142875"/>
                  <a:pt x="2005788" y="145978"/>
                  <a:pt x="2006600" y="149225"/>
                </a:cubicBezTo>
                <a:cubicBezTo>
                  <a:pt x="2008717" y="157692"/>
                  <a:pt x="2010190" y="166346"/>
                  <a:pt x="2012950" y="174625"/>
                </a:cubicBezTo>
                <a:lnTo>
                  <a:pt x="2022475" y="203200"/>
                </a:lnTo>
                <a:cubicBezTo>
                  <a:pt x="2023682" y="206820"/>
                  <a:pt x="2027275" y="209238"/>
                  <a:pt x="2028825" y="212725"/>
                </a:cubicBezTo>
                <a:cubicBezTo>
                  <a:pt x="2031543" y="218842"/>
                  <a:pt x="2033058" y="225425"/>
                  <a:pt x="2035175" y="231775"/>
                </a:cubicBezTo>
                <a:cubicBezTo>
                  <a:pt x="2037588" y="239015"/>
                  <a:pt x="2043642" y="244475"/>
                  <a:pt x="2047875" y="250825"/>
                </a:cubicBezTo>
                <a:cubicBezTo>
                  <a:pt x="2066073" y="278122"/>
                  <a:pt x="2044255" y="243585"/>
                  <a:pt x="2057400" y="269875"/>
                </a:cubicBezTo>
                <a:cubicBezTo>
                  <a:pt x="2059107" y="273288"/>
                  <a:pt x="2062043" y="275987"/>
                  <a:pt x="2063750" y="279400"/>
                </a:cubicBezTo>
                <a:cubicBezTo>
                  <a:pt x="2065247" y="282393"/>
                  <a:pt x="2066044" y="285696"/>
                  <a:pt x="2066925" y="288925"/>
                </a:cubicBezTo>
                <a:cubicBezTo>
                  <a:pt x="2069221" y="297345"/>
                  <a:pt x="2071158" y="305858"/>
                  <a:pt x="2073275" y="314325"/>
                </a:cubicBezTo>
                <a:cubicBezTo>
                  <a:pt x="2077759" y="332260"/>
                  <a:pt x="2075594" y="322746"/>
                  <a:pt x="2079625" y="342900"/>
                </a:cubicBezTo>
                <a:lnTo>
                  <a:pt x="2108200" y="333375"/>
                </a:lnTo>
                <a:lnTo>
                  <a:pt x="2117725" y="330200"/>
                </a:lnTo>
                <a:cubicBezTo>
                  <a:pt x="2138507" y="337127"/>
                  <a:pt x="2118110" y="327506"/>
                  <a:pt x="2130425" y="342900"/>
                </a:cubicBezTo>
                <a:cubicBezTo>
                  <a:pt x="2132809" y="345880"/>
                  <a:pt x="2136775" y="347133"/>
                  <a:pt x="2139950" y="349250"/>
                </a:cubicBezTo>
                <a:cubicBezTo>
                  <a:pt x="2141008" y="352425"/>
                  <a:pt x="2141269" y="355990"/>
                  <a:pt x="2143125" y="358775"/>
                </a:cubicBezTo>
                <a:cubicBezTo>
                  <a:pt x="2148014" y="366109"/>
                  <a:pt x="2155147" y="369964"/>
                  <a:pt x="2162175" y="374650"/>
                </a:cubicBezTo>
                <a:cubicBezTo>
                  <a:pt x="2164292" y="377825"/>
                  <a:pt x="2165827" y="381477"/>
                  <a:pt x="2168525" y="384175"/>
                </a:cubicBezTo>
                <a:cubicBezTo>
                  <a:pt x="2178931" y="394581"/>
                  <a:pt x="2178050" y="385747"/>
                  <a:pt x="2178050" y="3937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7943850" y="3355975"/>
            <a:ext cx="1146175" cy="898525"/>
          </a:xfrm>
          <a:custGeom>
            <a:avLst/>
            <a:gdLst>
              <a:gd name="connsiteX0" fmla="*/ 0 w 1146175"/>
              <a:gd name="connsiteY0" fmla="*/ 869950 h 898525"/>
              <a:gd name="connsiteX1" fmla="*/ 12700 w 1146175"/>
              <a:gd name="connsiteY1" fmla="*/ 885825 h 898525"/>
              <a:gd name="connsiteX2" fmla="*/ 31750 w 1146175"/>
              <a:gd name="connsiteY2" fmla="*/ 898525 h 898525"/>
              <a:gd name="connsiteX3" fmla="*/ 44450 w 1146175"/>
              <a:gd name="connsiteY3" fmla="*/ 885825 h 898525"/>
              <a:gd name="connsiteX4" fmla="*/ 63500 w 1146175"/>
              <a:gd name="connsiteY4" fmla="*/ 873125 h 898525"/>
              <a:gd name="connsiteX5" fmla="*/ 88900 w 1146175"/>
              <a:gd name="connsiteY5" fmla="*/ 850900 h 898525"/>
              <a:gd name="connsiteX6" fmla="*/ 107950 w 1146175"/>
              <a:gd name="connsiteY6" fmla="*/ 838200 h 898525"/>
              <a:gd name="connsiteX7" fmla="*/ 133350 w 1146175"/>
              <a:gd name="connsiteY7" fmla="*/ 800100 h 898525"/>
              <a:gd name="connsiteX8" fmla="*/ 146050 w 1146175"/>
              <a:gd name="connsiteY8" fmla="*/ 781050 h 898525"/>
              <a:gd name="connsiteX9" fmla="*/ 152400 w 1146175"/>
              <a:gd name="connsiteY9" fmla="*/ 771525 h 898525"/>
              <a:gd name="connsiteX10" fmla="*/ 161925 w 1146175"/>
              <a:gd name="connsiteY10" fmla="*/ 765175 h 898525"/>
              <a:gd name="connsiteX11" fmla="*/ 187325 w 1146175"/>
              <a:gd name="connsiteY11" fmla="*/ 727075 h 898525"/>
              <a:gd name="connsiteX12" fmla="*/ 196850 w 1146175"/>
              <a:gd name="connsiteY12" fmla="*/ 720725 h 898525"/>
              <a:gd name="connsiteX13" fmla="*/ 206375 w 1146175"/>
              <a:gd name="connsiteY13" fmla="*/ 711200 h 898525"/>
              <a:gd name="connsiteX14" fmla="*/ 225425 w 1146175"/>
              <a:gd name="connsiteY14" fmla="*/ 704850 h 898525"/>
              <a:gd name="connsiteX15" fmla="*/ 269875 w 1146175"/>
              <a:gd name="connsiteY15" fmla="*/ 698500 h 898525"/>
              <a:gd name="connsiteX16" fmla="*/ 279400 w 1146175"/>
              <a:gd name="connsiteY16" fmla="*/ 679450 h 898525"/>
              <a:gd name="connsiteX17" fmla="*/ 285750 w 1146175"/>
              <a:gd name="connsiteY17" fmla="*/ 669925 h 898525"/>
              <a:gd name="connsiteX18" fmla="*/ 301625 w 1146175"/>
              <a:gd name="connsiteY18" fmla="*/ 644525 h 898525"/>
              <a:gd name="connsiteX19" fmla="*/ 307975 w 1146175"/>
              <a:gd name="connsiteY19" fmla="*/ 635000 h 898525"/>
              <a:gd name="connsiteX20" fmla="*/ 327025 w 1146175"/>
              <a:gd name="connsiteY20" fmla="*/ 619125 h 898525"/>
              <a:gd name="connsiteX21" fmla="*/ 342900 w 1146175"/>
              <a:gd name="connsiteY21" fmla="*/ 606425 h 898525"/>
              <a:gd name="connsiteX22" fmla="*/ 361950 w 1146175"/>
              <a:gd name="connsiteY22" fmla="*/ 593725 h 898525"/>
              <a:gd name="connsiteX23" fmla="*/ 374650 w 1146175"/>
              <a:gd name="connsiteY23" fmla="*/ 587375 h 898525"/>
              <a:gd name="connsiteX24" fmla="*/ 384175 w 1146175"/>
              <a:gd name="connsiteY24" fmla="*/ 581025 h 898525"/>
              <a:gd name="connsiteX25" fmla="*/ 393700 w 1146175"/>
              <a:gd name="connsiteY25" fmla="*/ 577850 h 898525"/>
              <a:gd name="connsiteX26" fmla="*/ 422275 w 1146175"/>
              <a:gd name="connsiteY26" fmla="*/ 565150 h 898525"/>
              <a:gd name="connsiteX27" fmla="*/ 431800 w 1146175"/>
              <a:gd name="connsiteY27" fmla="*/ 561975 h 898525"/>
              <a:gd name="connsiteX28" fmla="*/ 447675 w 1146175"/>
              <a:gd name="connsiteY28" fmla="*/ 549275 h 898525"/>
              <a:gd name="connsiteX29" fmla="*/ 454025 w 1146175"/>
              <a:gd name="connsiteY29" fmla="*/ 539750 h 898525"/>
              <a:gd name="connsiteX30" fmla="*/ 463550 w 1146175"/>
              <a:gd name="connsiteY30" fmla="*/ 533400 h 898525"/>
              <a:gd name="connsiteX31" fmla="*/ 473075 w 1146175"/>
              <a:gd name="connsiteY31" fmla="*/ 504825 h 898525"/>
              <a:gd name="connsiteX32" fmla="*/ 479425 w 1146175"/>
              <a:gd name="connsiteY32" fmla="*/ 495300 h 898525"/>
              <a:gd name="connsiteX33" fmla="*/ 482600 w 1146175"/>
              <a:gd name="connsiteY33" fmla="*/ 485775 h 898525"/>
              <a:gd name="connsiteX34" fmla="*/ 492125 w 1146175"/>
              <a:gd name="connsiteY34" fmla="*/ 479425 h 898525"/>
              <a:gd name="connsiteX35" fmla="*/ 501650 w 1146175"/>
              <a:gd name="connsiteY35" fmla="*/ 482600 h 898525"/>
              <a:gd name="connsiteX36" fmla="*/ 520700 w 1146175"/>
              <a:gd name="connsiteY36" fmla="*/ 495300 h 898525"/>
              <a:gd name="connsiteX37" fmla="*/ 549275 w 1146175"/>
              <a:gd name="connsiteY37" fmla="*/ 492125 h 898525"/>
              <a:gd name="connsiteX38" fmla="*/ 558800 w 1146175"/>
              <a:gd name="connsiteY38" fmla="*/ 488950 h 898525"/>
              <a:gd name="connsiteX39" fmla="*/ 581025 w 1146175"/>
              <a:gd name="connsiteY39" fmla="*/ 482600 h 898525"/>
              <a:gd name="connsiteX40" fmla="*/ 628650 w 1146175"/>
              <a:gd name="connsiteY40" fmla="*/ 485775 h 898525"/>
              <a:gd name="connsiteX41" fmla="*/ 657225 w 1146175"/>
              <a:gd name="connsiteY41" fmla="*/ 473075 h 898525"/>
              <a:gd name="connsiteX42" fmla="*/ 682625 w 1146175"/>
              <a:gd name="connsiteY42" fmla="*/ 434975 h 898525"/>
              <a:gd name="connsiteX43" fmla="*/ 685800 w 1146175"/>
              <a:gd name="connsiteY43" fmla="*/ 425450 h 898525"/>
              <a:gd name="connsiteX44" fmla="*/ 692150 w 1146175"/>
              <a:gd name="connsiteY44" fmla="*/ 415925 h 898525"/>
              <a:gd name="connsiteX45" fmla="*/ 695325 w 1146175"/>
              <a:gd name="connsiteY45" fmla="*/ 406400 h 898525"/>
              <a:gd name="connsiteX46" fmla="*/ 701675 w 1146175"/>
              <a:gd name="connsiteY46" fmla="*/ 396875 h 898525"/>
              <a:gd name="connsiteX47" fmla="*/ 708025 w 1146175"/>
              <a:gd name="connsiteY47" fmla="*/ 377825 h 898525"/>
              <a:gd name="connsiteX48" fmla="*/ 714375 w 1146175"/>
              <a:gd name="connsiteY48" fmla="*/ 358775 h 898525"/>
              <a:gd name="connsiteX49" fmla="*/ 720725 w 1146175"/>
              <a:gd name="connsiteY49" fmla="*/ 349250 h 898525"/>
              <a:gd name="connsiteX50" fmla="*/ 730250 w 1146175"/>
              <a:gd name="connsiteY50" fmla="*/ 320675 h 898525"/>
              <a:gd name="connsiteX51" fmla="*/ 733425 w 1146175"/>
              <a:gd name="connsiteY51" fmla="*/ 311150 h 898525"/>
              <a:gd name="connsiteX52" fmla="*/ 752475 w 1146175"/>
              <a:gd name="connsiteY52" fmla="*/ 282575 h 898525"/>
              <a:gd name="connsiteX53" fmla="*/ 758825 w 1146175"/>
              <a:gd name="connsiteY53" fmla="*/ 273050 h 898525"/>
              <a:gd name="connsiteX54" fmla="*/ 768350 w 1146175"/>
              <a:gd name="connsiteY54" fmla="*/ 263525 h 898525"/>
              <a:gd name="connsiteX55" fmla="*/ 787400 w 1146175"/>
              <a:gd name="connsiteY55" fmla="*/ 234950 h 898525"/>
              <a:gd name="connsiteX56" fmla="*/ 790575 w 1146175"/>
              <a:gd name="connsiteY56" fmla="*/ 225425 h 898525"/>
              <a:gd name="connsiteX57" fmla="*/ 803275 w 1146175"/>
              <a:gd name="connsiteY57" fmla="*/ 206375 h 898525"/>
              <a:gd name="connsiteX58" fmla="*/ 809625 w 1146175"/>
              <a:gd name="connsiteY58" fmla="*/ 196850 h 898525"/>
              <a:gd name="connsiteX59" fmla="*/ 815975 w 1146175"/>
              <a:gd name="connsiteY59" fmla="*/ 177800 h 898525"/>
              <a:gd name="connsiteX60" fmla="*/ 825500 w 1146175"/>
              <a:gd name="connsiteY60" fmla="*/ 133350 h 898525"/>
              <a:gd name="connsiteX61" fmla="*/ 835025 w 1146175"/>
              <a:gd name="connsiteY61" fmla="*/ 127000 h 898525"/>
              <a:gd name="connsiteX62" fmla="*/ 857250 w 1146175"/>
              <a:gd name="connsiteY62" fmla="*/ 101600 h 898525"/>
              <a:gd name="connsiteX63" fmla="*/ 866775 w 1146175"/>
              <a:gd name="connsiteY63" fmla="*/ 82550 h 898525"/>
              <a:gd name="connsiteX64" fmla="*/ 873125 w 1146175"/>
              <a:gd name="connsiteY64" fmla="*/ 73025 h 898525"/>
              <a:gd name="connsiteX65" fmla="*/ 879475 w 1146175"/>
              <a:gd name="connsiteY65" fmla="*/ 53975 h 898525"/>
              <a:gd name="connsiteX66" fmla="*/ 885825 w 1146175"/>
              <a:gd name="connsiteY66" fmla="*/ 34925 h 898525"/>
              <a:gd name="connsiteX67" fmla="*/ 889000 w 1146175"/>
              <a:gd name="connsiteY67" fmla="*/ 25400 h 898525"/>
              <a:gd name="connsiteX68" fmla="*/ 901700 w 1146175"/>
              <a:gd name="connsiteY68" fmla="*/ 6350 h 898525"/>
              <a:gd name="connsiteX69" fmla="*/ 920750 w 1146175"/>
              <a:gd name="connsiteY69" fmla="*/ 0 h 898525"/>
              <a:gd name="connsiteX70" fmla="*/ 936625 w 1146175"/>
              <a:gd name="connsiteY70" fmla="*/ 3175 h 898525"/>
              <a:gd name="connsiteX71" fmla="*/ 949325 w 1146175"/>
              <a:gd name="connsiteY71" fmla="*/ 31750 h 898525"/>
              <a:gd name="connsiteX72" fmla="*/ 958850 w 1146175"/>
              <a:gd name="connsiteY72" fmla="*/ 50800 h 898525"/>
              <a:gd name="connsiteX73" fmla="*/ 962025 w 1146175"/>
              <a:gd name="connsiteY73" fmla="*/ 60325 h 898525"/>
              <a:gd name="connsiteX74" fmla="*/ 971550 w 1146175"/>
              <a:gd name="connsiteY74" fmla="*/ 66675 h 898525"/>
              <a:gd name="connsiteX75" fmla="*/ 974725 w 1146175"/>
              <a:gd name="connsiteY75" fmla="*/ 76200 h 898525"/>
              <a:gd name="connsiteX76" fmla="*/ 984250 w 1146175"/>
              <a:gd name="connsiteY76" fmla="*/ 85725 h 898525"/>
              <a:gd name="connsiteX77" fmla="*/ 1003300 w 1146175"/>
              <a:gd name="connsiteY77" fmla="*/ 98425 h 898525"/>
              <a:gd name="connsiteX78" fmla="*/ 1035050 w 1146175"/>
              <a:gd name="connsiteY78" fmla="*/ 104775 h 898525"/>
              <a:gd name="connsiteX79" fmla="*/ 1057275 w 1146175"/>
              <a:gd name="connsiteY79" fmla="*/ 127000 h 898525"/>
              <a:gd name="connsiteX80" fmla="*/ 1073150 w 1146175"/>
              <a:gd name="connsiteY80" fmla="*/ 146050 h 898525"/>
              <a:gd name="connsiteX81" fmla="*/ 1079500 w 1146175"/>
              <a:gd name="connsiteY81" fmla="*/ 165100 h 898525"/>
              <a:gd name="connsiteX82" fmla="*/ 1085850 w 1146175"/>
              <a:gd name="connsiteY82" fmla="*/ 187325 h 898525"/>
              <a:gd name="connsiteX83" fmla="*/ 1089025 w 1146175"/>
              <a:gd name="connsiteY83" fmla="*/ 196850 h 898525"/>
              <a:gd name="connsiteX84" fmla="*/ 1108075 w 1146175"/>
              <a:gd name="connsiteY84" fmla="*/ 209550 h 898525"/>
              <a:gd name="connsiteX85" fmla="*/ 1114425 w 1146175"/>
              <a:gd name="connsiteY85" fmla="*/ 219075 h 898525"/>
              <a:gd name="connsiteX86" fmla="*/ 1136650 w 1146175"/>
              <a:gd name="connsiteY86" fmla="*/ 244475 h 898525"/>
              <a:gd name="connsiteX87" fmla="*/ 1146175 w 1146175"/>
              <a:gd name="connsiteY87" fmla="*/ 266700 h 89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46175" h="898525">
                <a:moveTo>
                  <a:pt x="0" y="869950"/>
                </a:moveTo>
                <a:cubicBezTo>
                  <a:pt x="4233" y="875242"/>
                  <a:pt x="7663" y="881292"/>
                  <a:pt x="12700" y="885825"/>
                </a:cubicBezTo>
                <a:cubicBezTo>
                  <a:pt x="18373" y="890930"/>
                  <a:pt x="31750" y="898525"/>
                  <a:pt x="31750" y="898525"/>
                </a:cubicBezTo>
                <a:cubicBezTo>
                  <a:pt x="57150" y="890058"/>
                  <a:pt x="27517" y="902758"/>
                  <a:pt x="44450" y="885825"/>
                </a:cubicBezTo>
                <a:cubicBezTo>
                  <a:pt x="49846" y="880429"/>
                  <a:pt x="63500" y="873125"/>
                  <a:pt x="63500" y="873125"/>
                </a:cubicBezTo>
                <a:cubicBezTo>
                  <a:pt x="81492" y="846138"/>
                  <a:pt x="51858" y="887942"/>
                  <a:pt x="88900" y="850900"/>
                </a:cubicBezTo>
                <a:cubicBezTo>
                  <a:pt x="100792" y="839008"/>
                  <a:pt x="94165" y="842795"/>
                  <a:pt x="107950" y="838200"/>
                </a:cubicBezTo>
                <a:lnTo>
                  <a:pt x="133350" y="800100"/>
                </a:lnTo>
                <a:lnTo>
                  <a:pt x="146050" y="781050"/>
                </a:lnTo>
                <a:cubicBezTo>
                  <a:pt x="148167" y="777875"/>
                  <a:pt x="149225" y="773642"/>
                  <a:pt x="152400" y="771525"/>
                </a:cubicBezTo>
                <a:lnTo>
                  <a:pt x="161925" y="765175"/>
                </a:lnTo>
                <a:lnTo>
                  <a:pt x="187325" y="727075"/>
                </a:lnTo>
                <a:cubicBezTo>
                  <a:pt x="189442" y="723900"/>
                  <a:pt x="193919" y="723168"/>
                  <a:pt x="196850" y="720725"/>
                </a:cubicBezTo>
                <a:cubicBezTo>
                  <a:pt x="200299" y="717850"/>
                  <a:pt x="202450" y="713381"/>
                  <a:pt x="206375" y="711200"/>
                </a:cubicBezTo>
                <a:cubicBezTo>
                  <a:pt x="212226" y="707949"/>
                  <a:pt x="218861" y="706163"/>
                  <a:pt x="225425" y="704850"/>
                </a:cubicBezTo>
                <a:cubicBezTo>
                  <a:pt x="250698" y="699795"/>
                  <a:pt x="235937" y="702271"/>
                  <a:pt x="269875" y="698500"/>
                </a:cubicBezTo>
                <a:cubicBezTo>
                  <a:pt x="288073" y="671203"/>
                  <a:pt x="266255" y="705740"/>
                  <a:pt x="279400" y="679450"/>
                </a:cubicBezTo>
                <a:cubicBezTo>
                  <a:pt x="281107" y="676037"/>
                  <a:pt x="284200" y="673412"/>
                  <a:pt x="285750" y="669925"/>
                </a:cubicBezTo>
                <a:cubicBezTo>
                  <a:pt x="296886" y="644869"/>
                  <a:pt x="284490" y="655948"/>
                  <a:pt x="301625" y="644525"/>
                </a:cubicBezTo>
                <a:cubicBezTo>
                  <a:pt x="303742" y="641350"/>
                  <a:pt x="305532" y="637931"/>
                  <a:pt x="307975" y="635000"/>
                </a:cubicBezTo>
                <a:cubicBezTo>
                  <a:pt x="315615" y="625833"/>
                  <a:pt x="317659" y="625369"/>
                  <a:pt x="327025" y="619125"/>
                </a:cubicBezTo>
                <a:cubicBezTo>
                  <a:pt x="338758" y="601526"/>
                  <a:pt x="326662" y="615446"/>
                  <a:pt x="342900" y="606425"/>
                </a:cubicBezTo>
                <a:cubicBezTo>
                  <a:pt x="349571" y="602719"/>
                  <a:pt x="355124" y="597138"/>
                  <a:pt x="361950" y="593725"/>
                </a:cubicBezTo>
                <a:cubicBezTo>
                  <a:pt x="366183" y="591608"/>
                  <a:pt x="370541" y="589723"/>
                  <a:pt x="374650" y="587375"/>
                </a:cubicBezTo>
                <a:cubicBezTo>
                  <a:pt x="377963" y="585482"/>
                  <a:pt x="380762" y="582732"/>
                  <a:pt x="384175" y="581025"/>
                </a:cubicBezTo>
                <a:cubicBezTo>
                  <a:pt x="387168" y="579528"/>
                  <a:pt x="390525" y="578908"/>
                  <a:pt x="393700" y="577850"/>
                </a:cubicBezTo>
                <a:cubicBezTo>
                  <a:pt x="408794" y="567787"/>
                  <a:pt x="399605" y="572707"/>
                  <a:pt x="422275" y="565150"/>
                </a:cubicBezTo>
                <a:lnTo>
                  <a:pt x="431800" y="561975"/>
                </a:lnTo>
                <a:cubicBezTo>
                  <a:pt x="449998" y="534678"/>
                  <a:pt x="425767" y="566802"/>
                  <a:pt x="447675" y="549275"/>
                </a:cubicBezTo>
                <a:cubicBezTo>
                  <a:pt x="450655" y="546891"/>
                  <a:pt x="451327" y="542448"/>
                  <a:pt x="454025" y="539750"/>
                </a:cubicBezTo>
                <a:cubicBezTo>
                  <a:pt x="456723" y="537052"/>
                  <a:pt x="460375" y="535517"/>
                  <a:pt x="463550" y="533400"/>
                </a:cubicBezTo>
                <a:lnTo>
                  <a:pt x="473075" y="504825"/>
                </a:lnTo>
                <a:cubicBezTo>
                  <a:pt x="474282" y="501205"/>
                  <a:pt x="477718" y="498713"/>
                  <a:pt x="479425" y="495300"/>
                </a:cubicBezTo>
                <a:cubicBezTo>
                  <a:pt x="480922" y="492307"/>
                  <a:pt x="480509" y="488388"/>
                  <a:pt x="482600" y="485775"/>
                </a:cubicBezTo>
                <a:cubicBezTo>
                  <a:pt x="484984" y="482795"/>
                  <a:pt x="488950" y="481542"/>
                  <a:pt x="492125" y="479425"/>
                </a:cubicBezTo>
                <a:cubicBezTo>
                  <a:pt x="495300" y="480483"/>
                  <a:pt x="498724" y="480975"/>
                  <a:pt x="501650" y="482600"/>
                </a:cubicBezTo>
                <a:cubicBezTo>
                  <a:pt x="508321" y="486306"/>
                  <a:pt x="520700" y="495300"/>
                  <a:pt x="520700" y="495300"/>
                </a:cubicBezTo>
                <a:cubicBezTo>
                  <a:pt x="530225" y="494242"/>
                  <a:pt x="539822" y="493701"/>
                  <a:pt x="549275" y="492125"/>
                </a:cubicBezTo>
                <a:cubicBezTo>
                  <a:pt x="552576" y="491575"/>
                  <a:pt x="555582" y="489869"/>
                  <a:pt x="558800" y="488950"/>
                </a:cubicBezTo>
                <a:cubicBezTo>
                  <a:pt x="586707" y="480977"/>
                  <a:pt x="558187" y="490213"/>
                  <a:pt x="581025" y="482600"/>
                </a:cubicBezTo>
                <a:cubicBezTo>
                  <a:pt x="609167" y="491981"/>
                  <a:pt x="593422" y="489689"/>
                  <a:pt x="628650" y="485775"/>
                </a:cubicBezTo>
                <a:cubicBezTo>
                  <a:pt x="651320" y="478218"/>
                  <a:pt x="642131" y="483138"/>
                  <a:pt x="657225" y="473075"/>
                </a:cubicBezTo>
                <a:lnTo>
                  <a:pt x="682625" y="434975"/>
                </a:lnTo>
                <a:cubicBezTo>
                  <a:pt x="684481" y="432190"/>
                  <a:pt x="684303" y="428443"/>
                  <a:pt x="685800" y="425450"/>
                </a:cubicBezTo>
                <a:cubicBezTo>
                  <a:pt x="687507" y="422037"/>
                  <a:pt x="690443" y="419338"/>
                  <a:pt x="692150" y="415925"/>
                </a:cubicBezTo>
                <a:cubicBezTo>
                  <a:pt x="693647" y="412932"/>
                  <a:pt x="693828" y="409393"/>
                  <a:pt x="695325" y="406400"/>
                </a:cubicBezTo>
                <a:cubicBezTo>
                  <a:pt x="697032" y="402987"/>
                  <a:pt x="700125" y="400362"/>
                  <a:pt x="701675" y="396875"/>
                </a:cubicBezTo>
                <a:cubicBezTo>
                  <a:pt x="704393" y="390758"/>
                  <a:pt x="705908" y="384175"/>
                  <a:pt x="708025" y="377825"/>
                </a:cubicBezTo>
                <a:lnTo>
                  <a:pt x="714375" y="358775"/>
                </a:lnTo>
                <a:cubicBezTo>
                  <a:pt x="715582" y="355155"/>
                  <a:pt x="719175" y="352737"/>
                  <a:pt x="720725" y="349250"/>
                </a:cubicBezTo>
                <a:lnTo>
                  <a:pt x="730250" y="320675"/>
                </a:lnTo>
                <a:cubicBezTo>
                  <a:pt x="731308" y="317500"/>
                  <a:pt x="731569" y="313935"/>
                  <a:pt x="733425" y="311150"/>
                </a:cubicBezTo>
                <a:lnTo>
                  <a:pt x="752475" y="282575"/>
                </a:lnTo>
                <a:cubicBezTo>
                  <a:pt x="754592" y="279400"/>
                  <a:pt x="756127" y="275748"/>
                  <a:pt x="758825" y="273050"/>
                </a:cubicBezTo>
                <a:cubicBezTo>
                  <a:pt x="762000" y="269875"/>
                  <a:pt x="765593" y="267069"/>
                  <a:pt x="768350" y="263525"/>
                </a:cubicBezTo>
                <a:lnTo>
                  <a:pt x="787400" y="234950"/>
                </a:lnTo>
                <a:cubicBezTo>
                  <a:pt x="789256" y="232165"/>
                  <a:pt x="788950" y="228351"/>
                  <a:pt x="790575" y="225425"/>
                </a:cubicBezTo>
                <a:cubicBezTo>
                  <a:pt x="794281" y="218754"/>
                  <a:pt x="799042" y="212725"/>
                  <a:pt x="803275" y="206375"/>
                </a:cubicBezTo>
                <a:cubicBezTo>
                  <a:pt x="805392" y="203200"/>
                  <a:pt x="808418" y="200470"/>
                  <a:pt x="809625" y="196850"/>
                </a:cubicBezTo>
                <a:lnTo>
                  <a:pt x="815975" y="177800"/>
                </a:lnTo>
                <a:cubicBezTo>
                  <a:pt x="819980" y="145758"/>
                  <a:pt x="816452" y="160495"/>
                  <a:pt x="825500" y="133350"/>
                </a:cubicBezTo>
                <a:cubicBezTo>
                  <a:pt x="826707" y="129730"/>
                  <a:pt x="831850" y="129117"/>
                  <a:pt x="835025" y="127000"/>
                </a:cubicBezTo>
                <a:cubicBezTo>
                  <a:pt x="849842" y="104775"/>
                  <a:pt x="841375" y="112183"/>
                  <a:pt x="857250" y="101600"/>
                </a:cubicBezTo>
                <a:cubicBezTo>
                  <a:pt x="875448" y="74303"/>
                  <a:pt x="853630" y="108840"/>
                  <a:pt x="866775" y="82550"/>
                </a:cubicBezTo>
                <a:cubicBezTo>
                  <a:pt x="868482" y="79137"/>
                  <a:pt x="871575" y="76512"/>
                  <a:pt x="873125" y="73025"/>
                </a:cubicBezTo>
                <a:cubicBezTo>
                  <a:pt x="875843" y="66908"/>
                  <a:pt x="877358" y="60325"/>
                  <a:pt x="879475" y="53975"/>
                </a:cubicBezTo>
                <a:lnTo>
                  <a:pt x="885825" y="34925"/>
                </a:lnTo>
                <a:cubicBezTo>
                  <a:pt x="886883" y="31750"/>
                  <a:pt x="887144" y="28185"/>
                  <a:pt x="889000" y="25400"/>
                </a:cubicBezTo>
                <a:cubicBezTo>
                  <a:pt x="893233" y="19050"/>
                  <a:pt x="894460" y="8763"/>
                  <a:pt x="901700" y="6350"/>
                </a:cubicBezTo>
                <a:lnTo>
                  <a:pt x="920750" y="0"/>
                </a:lnTo>
                <a:cubicBezTo>
                  <a:pt x="926042" y="1058"/>
                  <a:pt x="931940" y="498"/>
                  <a:pt x="936625" y="3175"/>
                </a:cubicBezTo>
                <a:cubicBezTo>
                  <a:pt x="942840" y="6727"/>
                  <a:pt x="948517" y="29327"/>
                  <a:pt x="949325" y="31750"/>
                </a:cubicBezTo>
                <a:cubicBezTo>
                  <a:pt x="957305" y="55691"/>
                  <a:pt x="946540" y="26181"/>
                  <a:pt x="958850" y="50800"/>
                </a:cubicBezTo>
                <a:cubicBezTo>
                  <a:pt x="960347" y="53793"/>
                  <a:pt x="959934" y="57712"/>
                  <a:pt x="962025" y="60325"/>
                </a:cubicBezTo>
                <a:cubicBezTo>
                  <a:pt x="964409" y="63305"/>
                  <a:pt x="968375" y="64558"/>
                  <a:pt x="971550" y="66675"/>
                </a:cubicBezTo>
                <a:cubicBezTo>
                  <a:pt x="972608" y="69850"/>
                  <a:pt x="972869" y="73415"/>
                  <a:pt x="974725" y="76200"/>
                </a:cubicBezTo>
                <a:cubicBezTo>
                  <a:pt x="977216" y="79936"/>
                  <a:pt x="980706" y="82968"/>
                  <a:pt x="984250" y="85725"/>
                </a:cubicBezTo>
                <a:cubicBezTo>
                  <a:pt x="990274" y="90410"/>
                  <a:pt x="995896" y="96574"/>
                  <a:pt x="1003300" y="98425"/>
                </a:cubicBezTo>
                <a:cubicBezTo>
                  <a:pt x="1022245" y="103161"/>
                  <a:pt x="1011696" y="100883"/>
                  <a:pt x="1035050" y="104775"/>
                </a:cubicBezTo>
                <a:cubicBezTo>
                  <a:pt x="1056603" y="111959"/>
                  <a:pt x="1031801" y="101526"/>
                  <a:pt x="1057275" y="127000"/>
                </a:cubicBezTo>
                <a:cubicBezTo>
                  <a:pt x="1063257" y="132982"/>
                  <a:pt x="1069614" y="138093"/>
                  <a:pt x="1073150" y="146050"/>
                </a:cubicBezTo>
                <a:cubicBezTo>
                  <a:pt x="1075868" y="152167"/>
                  <a:pt x="1077383" y="158750"/>
                  <a:pt x="1079500" y="165100"/>
                </a:cubicBezTo>
                <a:cubicBezTo>
                  <a:pt x="1087113" y="187938"/>
                  <a:pt x="1077877" y="159418"/>
                  <a:pt x="1085850" y="187325"/>
                </a:cubicBezTo>
                <a:cubicBezTo>
                  <a:pt x="1086769" y="190543"/>
                  <a:pt x="1086658" y="194483"/>
                  <a:pt x="1089025" y="196850"/>
                </a:cubicBezTo>
                <a:cubicBezTo>
                  <a:pt x="1094421" y="202246"/>
                  <a:pt x="1108075" y="209550"/>
                  <a:pt x="1108075" y="209550"/>
                </a:cubicBezTo>
                <a:cubicBezTo>
                  <a:pt x="1110192" y="212725"/>
                  <a:pt x="1111727" y="216377"/>
                  <a:pt x="1114425" y="219075"/>
                </a:cubicBezTo>
                <a:cubicBezTo>
                  <a:pt x="1127390" y="232040"/>
                  <a:pt x="1127654" y="217488"/>
                  <a:pt x="1136650" y="244475"/>
                </a:cubicBezTo>
                <a:cubicBezTo>
                  <a:pt x="1143473" y="264945"/>
                  <a:pt x="1138267" y="258792"/>
                  <a:pt x="1146175" y="2667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6957295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Corn Prices </a:t>
            </a:r>
            <a:endParaRPr lang="en-US" dirty="0"/>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15008" y="1772816"/>
            <a:ext cx="8793496" cy="379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267937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effectLst>
                  <a:outerShdw blurRad="38100" dist="38100" dir="2700000" algn="tl">
                    <a:srgbClr val="000000">
                      <a:alpha val="43137"/>
                    </a:srgbClr>
                  </a:outerShdw>
                </a:effectLst>
                <a:latin typeface="Cambria" pitchFamily="18" charset="0"/>
              </a:rPr>
              <a:t>Wheat </a:t>
            </a:r>
            <a:r>
              <a:rPr lang="en-US" altLang="zh-CN" dirty="0" smtClean="0">
                <a:effectLst>
                  <a:outerShdw blurRad="38100" dist="38100" dir="2700000" algn="tl">
                    <a:srgbClr val="000000">
                      <a:alpha val="43137"/>
                    </a:srgbClr>
                  </a:outerShdw>
                </a:effectLst>
                <a:latin typeface="Cambria" pitchFamily="18" charset="0"/>
              </a:rPr>
              <a:t>Prices</a:t>
            </a:r>
            <a:endParaRPr lang="en-US" dirty="0">
              <a:effectLst>
                <a:outerShdw blurRad="38100" dist="38100" dir="2700000" algn="tl">
                  <a:srgbClr val="000000">
                    <a:alpha val="43137"/>
                  </a:srgbClr>
                </a:outerShdw>
              </a:effectLst>
            </a:endParaRPr>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1916832"/>
            <a:ext cx="8751694" cy="3375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762033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Soybeans Price</a:t>
            </a:r>
            <a:endParaRPr lang="en-US" dirty="0"/>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4150" y="1816641"/>
            <a:ext cx="8699850" cy="33390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390868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7784" y="908720"/>
            <a:ext cx="6400800" cy="2286000"/>
          </a:xfrm>
        </p:spPr>
        <p:txBody>
          <a:bodyPr/>
          <a:lstStyle/>
          <a:p>
            <a:r>
              <a:rPr lang="en-US" dirty="0" smtClean="0">
                <a:latin typeface="Cambria" pitchFamily="18" charset="0"/>
              </a:rPr>
              <a:t>Company overview</a:t>
            </a:r>
            <a:endParaRPr lang="en-CA" dirty="0">
              <a:latin typeface="Cambria" pitchFamily="18" charset="0"/>
            </a:endParaRPr>
          </a:p>
        </p:txBody>
      </p:sp>
      <p:pic>
        <p:nvPicPr>
          <p:cNvPr id="4" name="Picture 2" descr="http://images.travelpod.com/users/kazmel/1.1295982635.viterra-s-many-large-grain-piles.jpg"/>
          <p:cNvPicPr>
            <a:picLocks noChangeAspect="1" noChangeArrowheads="1"/>
          </p:cNvPicPr>
          <p:nvPr/>
        </p:nvPicPr>
        <p:blipFill>
          <a:blip r:embed="rId2" cstate="print"/>
          <a:srcRect/>
          <a:stretch>
            <a:fillRect/>
          </a:stretch>
        </p:blipFill>
        <p:spPr bwMode="auto">
          <a:xfrm>
            <a:off x="2627784" y="1655415"/>
            <a:ext cx="5976664" cy="4487931"/>
          </a:xfrm>
          <a:prstGeom prst="rect">
            <a:avLst/>
          </a:prstGeom>
          <a:noFill/>
        </p:spPr>
      </p:pic>
    </p:spTree>
    <p:extLst>
      <p:ext uri="{BB962C8B-B14F-4D97-AF65-F5344CB8AC3E}">
        <p14:creationId xmlns:p14="http://schemas.microsoft.com/office/powerpoint/2010/main" xmlns="" val="33695777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Cambria" pitchFamily="18" charset="0"/>
              </a:rPr>
              <a:t>President and CEO</a:t>
            </a:r>
            <a:endParaRPr lang="en-US" dirty="0">
              <a:latin typeface="Cambria" pitchFamily="18" charset="0"/>
            </a:endParaRPr>
          </a:p>
        </p:txBody>
      </p:sp>
      <p:sp>
        <p:nvSpPr>
          <p:cNvPr id="3" name="Content Placeholder 2"/>
          <p:cNvSpPr>
            <a:spLocks noGrp="1"/>
          </p:cNvSpPr>
          <p:nvPr>
            <p:ph idx="1"/>
          </p:nvPr>
        </p:nvSpPr>
        <p:spPr>
          <a:xfrm>
            <a:off x="899592" y="1268760"/>
            <a:ext cx="7498080" cy="4800600"/>
          </a:xfrm>
        </p:spPr>
        <p:txBody>
          <a:bodyPr>
            <a:normAutofit/>
          </a:bodyPr>
          <a:lstStyle/>
          <a:p>
            <a:pPr marL="82296" indent="0">
              <a:buNone/>
            </a:pPr>
            <a:r>
              <a:rPr lang="en-US" sz="2800" dirty="0" smtClean="0">
                <a:latin typeface="Cambria" pitchFamily="18" charset="0"/>
              </a:rPr>
              <a:t>Mayo Schmidt</a:t>
            </a:r>
            <a:endParaRPr lang="en-US" sz="2800" dirty="0">
              <a:latin typeface="Cambria" pitchFamily="18" charset="0"/>
            </a:endParaRPr>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6107" r="8708" b="19851"/>
          <a:stretch/>
        </p:blipFill>
        <p:spPr bwMode="auto">
          <a:xfrm>
            <a:off x="1065461" y="1772816"/>
            <a:ext cx="3866579" cy="2377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101679" y="1688926"/>
            <a:ext cx="4010025" cy="5124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978302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b="1" dirty="0" smtClean="0"/>
              <a:t>Company Overview &amp; Structure</a:t>
            </a:r>
            <a:endParaRPr lang="en-CA" b="1" dirty="0"/>
          </a:p>
        </p:txBody>
      </p:sp>
      <p:sp>
        <p:nvSpPr>
          <p:cNvPr id="3" name="Content Placeholder 2"/>
          <p:cNvSpPr>
            <a:spLocks noGrp="1"/>
          </p:cNvSpPr>
          <p:nvPr>
            <p:ph idx="1"/>
          </p:nvPr>
        </p:nvSpPr>
        <p:spPr/>
        <p:txBody>
          <a:bodyPr>
            <a:normAutofit/>
          </a:bodyPr>
          <a:lstStyle/>
          <a:p>
            <a:r>
              <a:rPr lang="en-CA" sz="2800" dirty="0" smtClean="0">
                <a:latin typeface="Cambria" pitchFamily="18" charset="0"/>
              </a:rPr>
              <a:t>In the top 50 largest Company in Canada </a:t>
            </a:r>
          </a:p>
          <a:p>
            <a:r>
              <a:rPr lang="en-CA" sz="2800" dirty="0" smtClean="0">
                <a:latin typeface="Cambria" pitchFamily="18" charset="0"/>
              </a:rPr>
              <a:t>Vertically integrated global agri-business headquartered in Canada.</a:t>
            </a:r>
          </a:p>
          <a:p>
            <a:r>
              <a:rPr lang="en-CA" sz="2800" dirty="0" smtClean="0">
                <a:latin typeface="Cambria" pitchFamily="18" charset="0"/>
              </a:rPr>
              <a:t>Has offices in Canada, the U.S., Australia, New Zealand, Japan, Singapore, China, Vietnam, Switzerland, Italy, Ukraine, Germany and India.</a:t>
            </a:r>
          </a:p>
          <a:p>
            <a:r>
              <a:rPr lang="en-CA" sz="2800" dirty="0" smtClean="0">
                <a:latin typeface="Cambria" pitchFamily="18" charset="0"/>
              </a:rPr>
              <a:t>Operates in three interrelated segments: </a:t>
            </a:r>
            <a:r>
              <a:rPr lang="en-CA" sz="2800" dirty="0" smtClean="0">
                <a:solidFill>
                  <a:srgbClr val="FF0000"/>
                </a:solidFill>
                <a:latin typeface="Cambria" pitchFamily="18" charset="0"/>
              </a:rPr>
              <a:t>Grain Handling and Marketing,  Agriproducts, and Processing.</a:t>
            </a:r>
            <a:endParaRPr lang="en-CA" sz="2800" dirty="0">
              <a:solidFill>
                <a:srgbClr val="FF0000"/>
              </a:solidFill>
              <a:latin typeface="Cambria" pitchFamily="18" charset="0"/>
            </a:endParaRPr>
          </a:p>
        </p:txBody>
      </p:sp>
    </p:spTree>
    <p:extLst>
      <p:ext uri="{BB962C8B-B14F-4D97-AF65-F5344CB8AC3E}">
        <p14:creationId xmlns:p14="http://schemas.microsoft.com/office/powerpoint/2010/main" xmlns="" val="16275356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smtClean="0">
                <a:latin typeface="Cambria" pitchFamily="18" charset="0"/>
              </a:rPr>
              <a:t>Products and Services </a:t>
            </a:r>
            <a:endParaRPr lang="en-CA" b="1" dirty="0">
              <a:latin typeface="Cambria" pitchFamily="18" charset="0"/>
            </a:endParaRPr>
          </a:p>
        </p:txBody>
      </p:sp>
      <p:sp>
        <p:nvSpPr>
          <p:cNvPr id="3" name="Content Placeholder 2"/>
          <p:cNvSpPr>
            <a:spLocks noGrp="1"/>
          </p:cNvSpPr>
          <p:nvPr>
            <p:ph idx="1"/>
          </p:nvPr>
        </p:nvSpPr>
        <p:spPr/>
        <p:txBody>
          <a:bodyPr>
            <a:normAutofit/>
          </a:bodyPr>
          <a:lstStyle/>
          <a:p>
            <a:r>
              <a:rPr lang="en-CA" dirty="0" smtClean="0">
                <a:latin typeface="Cambria" pitchFamily="18" charset="0"/>
              </a:rPr>
              <a:t>Crop Protection</a:t>
            </a:r>
          </a:p>
          <a:p>
            <a:r>
              <a:rPr lang="en-CA" dirty="0" smtClean="0">
                <a:latin typeface="Cambria" pitchFamily="18" charset="0"/>
              </a:rPr>
              <a:t>Seed</a:t>
            </a:r>
          </a:p>
          <a:p>
            <a:r>
              <a:rPr lang="en-CA" dirty="0" smtClean="0">
                <a:latin typeface="Cambria" pitchFamily="18" charset="0"/>
              </a:rPr>
              <a:t>Agriculture Equipment</a:t>
            </a:r>
          </a:p>
          <a:p>
            <a:r>
              <a:rPr lang="en-CA" dirty="0" smtClean="0">
                <a:latin typeface="Cambria" pitchFamily="18" charset="0"/>
              </a:rPr>
              <a:t>Fertilizer</a:t>
            </a:r>
          </a:p>
          <a:p>
            <a:r>
              <a:rPr lang="en-CA" dirty="0" smtClean="0">
                <a:latin typeface="Cambria" pitchFamily="18" charset="0"/>
              </a:rPr>
              <a:t>Grain Marketing</a:t>
            </a:r>
          </a:p>
          <a:p>
            <a:r>
              <a:rPr lang="en-CA" dirty="0" smtClean="0">
                <a:latin typeface="Cambria" pitchFamily="18" charset="0"/>
              </a:rPr>
              <a:t>Financing</a:t>
            </a:r>
          </a:p>
          <a:p>
            <a:r>
              <a:rPr lang="en-CA" dirty="0" smtClean="0">
                <a:latin typeface="Cambria" pitchFamily="18" charset="0"/>
              </a:rPr>
              <a:t>Food Ingredients</a:t>
            </a:r>
          </a:p>
          <a:p>
            <a:r>
              <a:rPr lang="en-CA" dirty="0" smtClean="0">
                <a:latin typeface="Cambria" pitchFamily="18" charset="0"/>
              </a:rPr>
              <a:t>Feed Products </a:t>
            </a:r>
            <a:endParaRPr lang="en-CA" dirty="0">
              <a:latin typeface="Cambria" pitchFamily="18" charset="0"/>
            </a:endParaRPr>
          </a:p>
        </p:txBody>
      </p:sp>
    </p:spTree>
    <p:extLst>
      <p:ext uri="{BB962C8B-B14F-4D97-AF65-F5344CB8AC3E}">
        <p14:creationId xmlns:p14="http://schemas.microsoft.com/office/powerpoint/2010/main" xmlns="" val="38058987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smtClean="0"/>
              <a:t>Viterra: International</a:t>
            </a:r>
            <a:endParaRPr lang="en-CA" b="1" dirty="0"/>
          </a:p>
        </p:txBody>
      </p:sp>
      <p:sp>
        <p:nvSpPr>
          <p:cNvPr id="3" name="Content Placeholder 2"/>
          <p:cNvSpPr>
            <a:spLocks noGrp="1"/>
          </p:cNvSpPr>
          <p:nvPr>
            <p:ph idx="1"/>
          </p:nvPr>
        </p:nvSpPr>
        <p:spPr/>
        <p:txBody>
          <a:bodyPr/>
          <a:lstStyle/>
          <a:p>
            <a:endParaRPr lang="en-CA"/>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412776"/>
            <a:ext cx="8979793" cy="4758734"/>
          </a:xfrm>
          <a:prstGeom prst="rect">
            <a:avLst/>
          </a:prstGeom>
          <a:noFill/>
          <a:ln>
            <a:solidFill>
              <a:schemeClr val="tx1"/>
            </a:solidFill>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Competitors</a:t>
            </a:r>
            <a:endParaRPr lang="en-US" b="1" dirty="0"/>
          </a:p>
        </p:txBody>
      </p:sp>
      <p:sp>
        <p:nvSpPr>
          <p:cNvPr id="3" name="Content Placeholder 2"/>
          <p:cNvSpPr>
            <a:spLocks noGrp="1"/>
          </p:cNvSpPr>
          <p:nvPr>
            <p:ph idx="1"/>
          </p:nvPr>
        </p:nvSpPr>
        <p:spPr/>
        <p:txBody>
          <a:bodyPr/>
          <a:lstStyle/>
          <a:p>
            <a:r>
              <a:rPr lang="en-US" dirty="0" smtClean="0"/>
              <a:t>CHS Inc. (</a:t>
            </a:r>
            <a:r>
              <a:rPr lang="en-CA" dirty="0"/>
              <a:t>Inver Grove Heights, </a:t>
            </a:r>
            <a:r>
              <a:rPr lang="en-CA" dirty="0" smtClean="0"/>
              <a:t>MN)</a:t>
            </a:r>
          </a:p>
          <a:p>
            <a:endParaRPr lang="en-US" dirty="0" smtClean="0"/>
          </a:p>
          <a:p>
            <a:r>
              <a:rPr lang="en-US" dirty="0" smtClean="0"/>
              <a:t>GROWMARK Inc. (</a:t>
            </a:r>
            <a:r>
              <a:rPr lang="en-CA" dirty="0"/>
              <a:t>Bloomington, </a:t>
            </a:r>
            <a:r>
              <a:rPr lang="en-CA" dirty="0" smtClean="0"/>
              <a:t>IL)</a:t>
            </a:r>
          </a:p>
          <a:p>
            <a:endParaRPr lang="en-CA" dirty="0" smtClean="0"/>
          </a:p>
          <a:p>
            <a:r>
              <a:rPr lang="en-CA" dirty="0" err="1" smtClean="0"/>
              <a:t>SunOpta</a:t>
            </a:r>
            <a:r>
              <a:rPr lang="en-CA" dirty="0" smtClean="0"/>
              <a:t> Inc.  (Brampton</a:t>
            </a:r>
            <a:r>
              <a:rPr lang="en-CA" dirty="0"/>
              <a:t>, </a:t>
            </a:r>
            <a:r>
              <a:rPr lang="en-CA" dirty="0" smtClean="0"/>
              <a:t>ON)</a:t>
            </a:r>
            <a:endParaRPr lang="en-US" dirty="0"/>
          </a:p>
        </p:txBody>
      </p:sp>
    </p:spTree>
    <p:extLst>
      <p:ext uri="{BB962C8B-B14F-4D97-AF65-F5344CB8AC3E}">
        <p14:creationId xmlns:p14="http://schemas.microsoft.com/office/powerpoint/2010/main" xmlns="" val="11621944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Content Placeholder 2"/>
          <p:cNvSpPr>
            <a:spLocks noGrp="1"/>
          </p:cNvSpPr>
          <p:nvPr>
            <p:ph idx="1"/>
          </p:nvPr>
        </p:nvSpPr>
        <p:spPr/>
        <p:txBody>
          <a:bodyPr/>
          <a:lstStyle/>
          <a:p>
            <a:endParaRPr lang="en-CA"/>
          </a:p>
        </p:txBody>
      </p:sp>
      <p:pic>
        <p:nvPicPr>
          <p:cNvPr id="717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332656"/>
            <a:ext cx="7792162" cy="6048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131464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631"/>
          <a:stretch/>
        </p:blipFill>
        <p:spPr bwMode="auto">
          <a:xfrm>
            <a:off x="252413" y="685800"/>
            <a:ext cx="8639175" cy="563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810685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t>Production in Canada </a:t>
            </a:r>
            <a:endParaRPr lang="en-CA" sz="3500" b="1" dirty="0"/>
          </a:p>
        </p:txBody>
      </p:sp>
      <p:sp>
        <p:nvSpPr>
          <p:cNvPr id="3" name="Content Placeholder 2"/>
          <p:cNvSpPr>
            <a:spLocks noGrp="1"/>
          </p:cNvSpPr>
          <p:nvPr>
            <p:ph idx="1"/>
          </p:nvPr>
        </p:nvSpPr>
        <p:spPr/>
        <p:txBody>
          <a:bodyPr/>
          <a:lstStyle/>
          <a:p>
            <a:endParaRPr lang="en-CA"/>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75656" y="1340768"/>
            <a:ext cx="7272808" cy="53065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833439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t>2010 Seeded Acreage (Canada)</a:t>
            </a:r>
            <a:endParaRPr lang="en-CA" sz="3500" b="1" dirty="0"/>
          </a:p>
        </p:txBody>
      </p:sp>
      <p:sp>
        <p:nvSpPr>
          <p:cNvPr id="3" name="Content Placeholder 2"/>
          <p:cNvSpPr>
            <a:spLocks noGrp="1"/>
          </p:cNvSpPr>
          <p:nvPr>
            <p:ph idx="1"/>
          </p:nvPr>
        </p:nvSpPr>
        <p:spPr/>
        <p:txBody>
          <a:bodyPr/>
          <a:lstStyle/>
          <a:p>
            <a:endParaRPr lang="en-CA"/>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07704" y="1310130"/>
            <a:ext cx="6552728" cy="49991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497448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Content Placeholder 2"/>
          <p:cNvSpPr>
            <a:spLocks noGrp="1"/>
          </p:cNvSpPr>
          <p:nvPr>
            <p:ph idx="1"/>
          </p:nvPr>
        </p:nvSpPr>
        <p:spPr/>
        <p:txBody>
          <a:bodyPr/>
          <a:lstStyle/>
          <a:p>
            <a:endParaRPr lang="en-CA"/>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648" y="1556792"/>
            <a:ext cx="7241948" cy="4608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292469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t>Average Acreage (Australia)</a:t>
            </a:r>
            <a:endParaRPr lang="en-CA" sz="3500" b="1" dirty="0"/>
          </a:p>
        </p:txBody>
      </p:sp>
      <p:sp>
        <p:nvSpPr>
          <p:cNvPr id="3" name="Content Placeholder 2"/>
          <p:cNvSpPr>
            <a:spLocks noGrp="1"/>
          </p:cNvSpPr>
          <p:nvPr>
            <p:ph idx="1"/>
          </p:nvPr>
        </p:nvSpPr>
        <p:spPr/>
        <p:txBody>
          <a:bodyPr/>
          <a:lstStyle/>
          <a:p>
            <a:endParaRPr lang="en-CA"/>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19672" y="1268760"/>
            <a:ext cx="6696744" cy="53941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941558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t>Oat Production (2009) Canada</a:t>
            </a:r>
            <a:endParaRPr lang="en-CA" sz="3500" b="1" dirty="0"/>
          </a:p>
        </p:txBody>
      </p:sp>
      <p:sp>
        <p:nvSpPr>
          <p:cNvPr id="3" name="Content Placeholder 2"/>
          <p:cNvSpPr>
            <a:spLocks noGrp="1"/>
          </p:cNvSpPr>
          <p:nvPr>
            <p:ph idx="1"/>
          </p:nvPr>
        </p:nvSpPr>
        <p:spPr/>
        <p:txBody>
          <a:bodyPr/>
          <a:lstStyle/>
          <a:p>
            <a:endParaRPr lang="en-CA"/>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31640" y="1340767"/>
            <a:ext cx="7272808" cy="51002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095347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t>Retail Locations (Canada) </a:t>
            </a:r>
            <a:endParaRPr lang="en-CA" sz="3500" b="1" dirty="0"/>
          </a:p>
        </p:txBody>
      </p:sp>
      <p:sp>
        <p:nvSpPr>
          <p:cNvPr id="3" name="Content Placeholder 2"/>
          <p:cNvSpPr>
            <a:spLocks noGrp="1"/>
          </p:cNvSpPr>
          <p:nvPr>
            <p:ph idx="1"/>
          </p:nvPr>
        </p:nvSpPr>
        <p:spPr>
          <a:xfrm>
            <a:off x="1392139" y="1916832"/>
            <a:ext cx="7498080" cy="4800600"/>
          </a:xfrm>
        </p:spPr>
        <p:txBody>
          <a:bodyPr>
            <a:normAutofit lnSpcReduction="1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50% of the company’s retail in Canada are located in Saskatchewan </a:t>
            </a:r>
            <a:endParaRPr lang="en-US" dirty="0"/>
          </a:p>
        </p:txBody>
      </p:sp>
      <p:pic>
        <p:nvPicPr>
          <p:cNvPr id="1028"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79712" y="1268760"/>
            <a:ext cx="5934657" cy="43204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6287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Input Cost </a:t>
            </a:r>
            <a:endParaRPr lang="en-CA" b="1" dirty="0"/>
          </a:p>
        </p:txBody>
      </p:sp>
      <p:sp>
        <p:nvSpPr>
          <p:cNvPr id="3" name="Content Placeholder 2"/>
          <p:cNvSpPr>
            <a:spLocks noGrp="1"/>
          </p:cNvSpPr>
          <p:nvPr>
            <p:ph idx="1"/>
          </p:nvPr>
        </p:nvSpPr>
        <p:spPr/>
        <p:txBody>
          <a:bodyPr/>
          <a:lstStyle/>
          <a:p>
            <a:endParaRPr lang="en-CA"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89393" y="2204864"/>
            <a:ext cx="7403087" cy="35283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263422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Content Placeholder 2"/>
          <p:cNvSpPr>
            <a:spLocks noGrp="1"/>
          </p:cNvSpPr>
          <p:nvPr>
            <p:ph idx="1"/>
          </p:nvPr>
        </p:nvSpPr>
        <p:spPr/>
        <p:txBody>
          <a:bodyPr/>
          <a:lstStyle/>
          <a:p>
            <a:endParaRPr lang="en-CA"/>
          </a:p>
        </p:txBody>
      </p:sp>
      <p:pic>
        <p:nvPicPr>
          <p:cNvPr id="5123"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48141" y="2564905"/>
            <a:ext cx="8104379" cy="23042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734473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smtClean="0"/>
              <a:t>Regulatory: Viterra </a:t>
            </a:r>
            <a:endParaRPr lang="en-CA" b="1" dirty="0"/>
          </a:p>
        </p:txBody>
      </p:sp>
      <p:sp>
        <p:nvSpPr>
          <p:cNvPr id="3" name="Content Placeholder 2"/>
          <p:cNvSpPr>
            <a:spLocks noGrp="1"/>
          </p:cNvSpPr>
          <p:nvPr>
            <p:ph idx="1"/>
          </p:nvPr>
        </p:nvSpPr>
        <p:spPr/>
        <p:txBody>
          <a:bodyPr>
            <a:normAutofit fontScale="85000" lnSpcReduction="20000"/>
          </a:bodyPr>
          <a:lstStyle/>
          <a:p>
            <a:pPr marL="285750" indent="-285750"/>
            <a:r>
              <a:rPr kumimoji="1" lang="en-CA" altLang="zh-CN" dirty="0" smtClean="0">
                <a:solidFill>
                  <a:srgbClr val="FF0000"/>
                </a:solidFill>
              </a:rPr>
              <a:t>Canada: </a:t>
            </a:r>
            <a:r>
              <a:rPr kumimoji="1" lang="en-CA" altLang="zh-CN" dirty="0" smtClean="0"/>
              <a:t>Under the CWB Act, the CWB is established as the central selling agency for the export of wheat and barley and the sale of domestic wheat and barley for human consumption grown in Western Canada.</a:t>
            </a:r>
          </a:p>
          <a:p>
            <a:pPr marL="285750" indent="-285750">
              <a:buFont typeface="Arial"/>
              <a:buChar char="•"/>
            </a:pPr>
            <a:endParaRPr kumimoji="1" lang="en-CA" altLang="zh-CN" dirty="0" smtClean="0"/>
          </a:p>
          <a:p>
            <a:pPr marL="285750" indent="-285750"/>
            <a:r>
              <a:rPr kumimoji="1" lang="en-CA" altLang="zh-CN" dirty="0" smtClean="0">
                <a:solidFill>
                  <a:srgbClr val="FF0000"/>
                </a:solidFill>
              </a:rPr>
              <a:t>Australia: </a:t>
            </a:r>
            <a:r>
              <a:rPr kumimoji="1" lang="en-CA" altLang="zh-CN" dirty="0" smtClean="0"/>
              <a:t>WEA administers a scheme under which all exporters of wheat must be accredited. </a:t>
            </a:r>
            <a:r>
              <a:rPr kumimoji="1" lang="en-CA" altLang="zh-CN" dirty="0" err="1" smtClean="0"/>
              <a:t>Viterra’s</a:t>
            </a:r>
            <a:r>
              <a:rPr kumimoji="1" lang="en-CA" altLang="zh-CN" dirty="0" smtClean="0"/>
              <a:t> Australian operations are accredited. To maintain its accreditation, Viterra must provide access to its port services to other exporters pursuant to access arrangements approved by the ACCC.</a:t>
            </a:r>
          </a:p>
          <a:p>
            <a:endParaRPr lang="en-CA"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Firm’s strategy </a:t>
            </a:r>
            <a:endParaRPr lang="en-CA" dirty="0"/>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xmlns="" val="33614215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500" b="1" dirty="0" smtClean="0">
                <a:latin typeface="Cambria" pitchFamily="18" charset="0"/>
              </a:rPr>
              <a:t>Firm Strategy (Future Growth)</a:t>
            </a:r>
            <a:endParaRPr lang="en-CA" sz="3500" b="1" dirty="0">
              <a:latin typeface="Cambria" pitchFamily="18" charset="0"/>
            </a:endParaRPr>
          </a:p>
        </p:txBody>
      </p:sp>
      <p:sp>
        <p:nvSpPr>
          <p:cNvPr id="3" name="Content Placeholder 2"/>
          <p:cNvSpPr>
            <a:spLocks noGrp="1"/>
          </p:cNvSpPr>
          <p:nvPr>
            <p:ph idx="1"/>
          </p:nvPr>
        </p:nvSpPr>
        <p:spPr/>
        <p:txBody>
          <a:bodyPr>
            <a:normAutofit/>
          </a:bodyPr>
          <a:lstStyle/>
          <a:p>
            <a:r>
              <a:rPr lang="en-CA" sz="3000" dirty="0" smtClean="0"/>
              <a:t>Remains focused on its diversification strategy to grow its portfolio of food and feed ingredients businesses.</a:t>
            </a:r>
          </a:p>
          <a:p>
            <a:endParaRPr lang="en-CA" sz="3000" dirty="0"/>
          </a:p>
        </p:txBody>
      </p:sp>
    </p:spTree>
    <p:extLst>
      <p:ext uri="{BB962C8B-B14F-4D97-AF65-F5344CB8AC3E}">
        <p14:creationId xmlns:p14="http://schemas.microsoft.com/office/powerpoint/2010/main" xmlns="" val="17061178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Strategic Direction</a:t>
            </a:r>
            <a:endParaRPr lang="en-CA" b="1" dirty="0"/>
          </a:p>
        </p:txBody>
      </p:sp>
      <p:sp>
        <p:nvSpPr>
          <p:cNvPr id="3" name="Content Placeholder 2"/>
          <p:cNvSpPr>
            <a:spLocks noGrp="1"/>
          </p:cNvSpPr>
          <p:nvPr>
            <p:ph idx="1"/>
          </p:nvPr>
        </p:nvSpPr>
        <p:spPr/>
        <p:txBody>
          <a:bodyPr/>
          <a:lstStyle/>
          <a:p>
            <a:endParaRPr lang="en-CA"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3063" y="2171132"/>
            <a:ext cx="8535441" cy="35621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281572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Historical Prices</a:t>
            </a:r>
            <a:endParaRPr lang="en-US" b="1" dirty="0"/>
          </a:p>
        </p:txBody>
      </p:sp>
      <p:pic>
        <p:nvPicPr>
          <p:cNvPr id="5123"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2875" y="1239893"/>
            <a:ext cx="8915400" cy="48229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639661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management</a:t>
            </a:r>
            <a:endParaRPr lang="en-CA" dirty="0"/>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xmlns="" val="35930502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476672"/>
            <a:ext cx="7772400" cy="1470025"/>
          </a:xfrm>
        </p:spPr>
        <p:txBody>
          <a:bodyPr>
            <a:normAutofit/>
          </a:bodyPr>
          <a:lstStyle/>
          <a:p>
            <a:r>
              <a:rPr lang="en-US" altLang="zh-CN" sz="3800" b="1" dirty="0" smtClean="0">
                <a:latin typeface="Cambria" pitchFamily="18" charset="0"/>
              </a:rPr>
              <a:t>Governance and Oversight</a:t>
            </a:r>
            <a:endParaRPr lang="zh-CN" altLang="en-US" sz="3800" b="1" dirty="0">
              <a:latin typeface="Cambria" pitchFamily="18" charset="0"/>
            </a:endParaRPr>
          </a:p>
        </p:txBody>
      </p:sp>
      <p:sp>
        <p:nvSpPr>
          <p:cNvPr id="3" name="副标题 2"/>
          <p:cNvSpPr>
            <a:spLocks noGrp="1"/>
          </p:cNvSpPr>
          <p:nvPr>
            <p:ph type="subTitle" idx="1"/>
          </p:nvPr>
        </p:nvSpPr>
        <p:spPr>
          <a:xfrm>
            <a:off x="1371600" y="2204864"/>
            <a:ext cx="7016824" cy="3744416"/>
          </a:xfrm>
        </p:spPr>
        <p:txBody>
          <a:bodyPr>
            <a:noAutofit/>
          </a:bodyPr>
          <a:lstStyle/>
          <a:p>
            <a:pPr marL="285750" indent="-285750" algn="l">
              <a:buFont typeface="Arial" pitchFamily="34" charset="0"/>
              <a:buChar char="•"/>
            </a:pPr>
            <a:r>
              <a:rPr lang="en-US" altLang="zh-CN" sz="2500" dirty="0" smtClean="0">
                <a:solidFill>
                  <a:schemeClr val="tx1"/>
                </a:solidFill>
                <a:cs typeface="Times New Roman" pitchFamily="18" charset="0"/>
              </a:rPr>
              <a:t>Corporate </a:t>
            </a:r>
            <a:r>
              <a:rPr lang="en-US" altLang="zh-CN" sz="2500" dirty="0">
                <a:solidFill>
                  <a:schemeClr val="tx1"/>
                </a:solidFill>
                <a:cs typeface="Times New Roman" pitchFamily="18" charset="0"/>
              </a:rPr>
              <a:t>risk at Viterra is managed on a </a:t>
            </a:r>
            <a:r>
              <a:rPr lang="en-US" altLang="zh-CN" sz="2500" dirty="0" smtClean="0">
                <a:solidFill>
                  <a:schemeClr val="tx1"/>
                </a:solidFill>
                <a:cs typeface="Times New Roman" pitchFamily="18" charset="0"/>
              </a:rPr>
              <a:t>basis of an </a:t>
            </a:r>
            <a:r>
              <a:rPr lang="en-US" altLang="zh-CN" sz="2500" dirty="0">
                <a:solidFill>
                  <a:srgbClr val="FF0000"/>
                </a:solidFill>
                <a:cs typeface="Times New Roman" pitchFamily="18" charset="0"/>
              </a:rPr>
              <a:t>Enterprise Risk Management (“ERM”) framework</a:t>
            </a:r>
            <a:r>
              <a:rPr lang="en-US" altLang="zh-CN" sz="2500" dirty="0">
                <a:solidFill>
                  <a:schemeClr val="tx1"/>
                </a:solidFill>
                <a:cs typeface="Times New Roman" pitchFamily="18" charset="0"/>
              </a:rPr>
              <a:t>. </a:t>
            </a:r>
            <a:endParaRPr lang="en-US" altLang="zh-CN" sz="2500" dirty="0" smtClean="0">
              <a:solidFill>
                <a:schemeClr val="tx1"/>
              </a:solidFill>
              <a:cs typeface="Times New Roman" pitchFamily="18" charset="0"/>
            </a:endParaRPr>
          </a:p>
          <a:p>
            <a:pPr algn="l"/>
            <a:endParaRPr lang="en-US" altLang="zh-CN" sz="2500" dirty="0" smtClean="0">
              <a:solidFill>
                <a:schemeClr val="tx1"/>
              </a:solidFill>
              <a:cs typeface="Times New Roman" pitchFamily="18" charset="0"/>
            </a:endParaRPr>
          </a:p>
          <a:p>
            <a:pPr marL="715518" lvl="1" indent="-285750" algn="l">
              <a:buFont typeface="Arial" pitchFamily="34" charset="0"/>
              <a:buChar char="•"/>
            </a:pPr>
            <a:r>
              <a:rPr lang="en-US" altLang="zh-CN" sz="2500" dirty="0">
                <a:cs typeface="Times New Roman" pitchFamily="18" charset="0"/>
              </a:rPr>
              <a:t>I</a:t>
            </a:r>
            <a:r>
              <a:rPr lang="en-US" altLang="zh-CN" sz="2500" dirty="0" smtClean="0">
                <a:solidFill>
                  <a:schemeClr val="tx1"/>
                </a:solidFill>
                <a:cs typeface="Times New Roman" pitchFamily="18" charset="0"/>
              </a:rPr>
              <a:t>dentify potential risks that may impact the Company in order to manage those risks to be within the Company’s risk appetite  and provide assurance regarding the Company’s objectives.</a:t>
            </a:r>
          </a:p>
          <a:p>
            <a:pPr algn="l"/>
            <a:endParaRPr lang="en-US" altLang="zh-CN" sz="20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3047063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404664"/>
            <a:ext cx="7772400" cy="1470025"/>
          </a:xfrm>
        </p:spPr>
        <p:txBody>
          <a:bodyPr>
            <a:normAutofit/>
          </a:bodyPr>
          <a:lstStyle/>
          <a:p>
            <a:r>
              <a:rPr lang="en-US" altLang="zh-CN" sz="3800" b="1" dirty="0" smtClean="0">
                <a:latin typeface="Cambria" pitchFamily="18" charset="0"/>
              </a:rPr>
              <a:t>Governance and Oversight (cont’d)</a:t>
            </a:r>
            <a:endParaRPr lang="zh-CN" altLang="en-US" sz="3800" b="1" dirty="0">
              <a:latin typeface="Cambria" pitchFamily="18" charset="0"/>
            </a:endParaRPr>
          </a:p>
        </p:txBody>
      </p:sp>
      <p:sp>
        <p:nvSpPr>
          <p:cNvPr id="3" name="副标题 2"/>
          <p:cNvSpPr>
            <a:spLocks noGrp="1"/>
          </p:cNvSpPr>
          <p:nvPr>
            <p:ph type="subTitle" idx="1"/>
          </p:nvPr>
        </p:nvSpPr>
        <p:spPr>
          <a:xfrm>
            <a:off x="1371600" y="1988840"/>
            <a:ext cx="7304856" cy="3744416"/>
          </a:xfrm>
        </p:spPr>
        <p:txBody>
          <a:bodyPr>
            <a:noAutofit/>
          </a:bodyPr>
          <a:lstStyle/>
          <a:p>
            <a:pPr marL="285750" indent="-285750" algn="l">
              <a:buFont typeface="Arial" pitchFamily="34" charset="0"/>
              <a:buChar char="•"/>
            </a:pPr>
            <a:r>
              <a:rPr lang="en-US" altLang="zh-CN" sz="2500" dirty="0" err="1">
                <a:solidFill>
                  <a:schemeClr val="tx1"/>
                </a:solidFill>
                <a:cs typeface="Times New Roman" pitchFamily="18" charset="0"/>
              </a:rPr>
              <a:t>Viterra’s</a:t>
            </a:r>
            <a:r>
              <a:rPr lang="en-US" altLang="zh-CN" sz="2500" dirty="0">
                <a:solidFill>
                  <a:schemeClr val="tx1"/>
                </a:solidFill>
                <a:cs typeface="Times New Roman" pitchFamily="18" charset="0"/>
              </a:rPr>
              <a:t> </a:t>
            </a:r>
            <a:r>
              <a:rPr lang="en-US" altLang="zh-CN" sz="2500" dirty="0">
                <a:solidFill>
                  <a:srgbClr val="FF0000"/>
                </a:solidFill>
                <a:cs typeface="Times New Roman" pitchFamily="18" charset="0"/>
              </a:rPr>
              <a:t>Risk Management </a:t>
            </a:r>
            <a:r>
              <a:rPr lang="en-US" altLang="zh-CN" sz="2500" dirty="0" smtClean="0">
                <a:solidFill>
                  <a:srgbClr val="FF0000"/>
                </a:solidFill>
                <a:cs typeface="Times New Roman" pitchFamily="18" charset="0"/>
              </a:rPr>
              <a:t>Committee</a:t>
            </a:r>
            <a:r>
              <a:rPr lang="en-US" altLang="zh-CN" sz="2500" dirty="0" smtClean="0">
                <a:solidFill>
                  <a:schemeClr val="tx1"/>
                </a:solidFill>
                <a:cs typeface="Times New Roman" pitchFamily="18" charset="0"/>
              </a:rPr>
              <a:t>: responsible </a:t>
            </a:r>
            <a:r>
              <a:rPr lang="en-US" altLang="zh-CN" sz="2500" dirty="0">
                <a:solidFill>
                  <a:schemeClr val="tx1"/>
                </a:solidFill>
                <a:cs typeface="Times New Roman" pitchFamily="18" charset="0"/>
              </a:rPr>
              <a:t>for </a:t>
            </a:r>
            <a:r>
              <a:rPr lang="en-US" altLang="zh-CN" sz="2500" dirty="0" smtClean="0">
                <a:solidFill>
                  <a:schemeClr val="tx1"/>
                </a:solidFill>
                <a:cs typeface="Times New Roman" pitchFamily="18" charset="0"/>
              </a:rPr>
              <a:t>ongoing </a:t>
            </a:r>
            <a:r>
              <a:rPr lang="en-US" altLang="zh-CN" sz="2500" dirty="0">
                <a:solidFill>
                  <a:schemeClr val="tx1"/>
                </a:solidFill>
                <a:cs typeface="Times New Roman" pitchFamily="18" charset="0"/>
              </a:rPr>
              <a:t>reporting of significant </a:t>
            </a:r>
            <a:r>
              <a:rPr lang="en-US" altLang="zh-CN" sz="2500" dirty="0" smtClean="0">
                <a:solidFill>
                  <a:schemeClr val="tx1"/>
                </a:solidFill>
                <a:cs typeface="Times New Roman" pitchFamily="18" charset="0"/>
              </a:rPr>
              <a:t>risks, </a:t>
            </a:r>
            <a:r>
              <a:rPr lang="en-US" altLang="zh-CN" sz="2500" dirty="0">
                <a:solidFill>
                  <a:schemeClr val="tx1"/>
                </a:solidFill>
                <a:cs typeface="Times New Roman" pitchFamily="18" charset="0"/>
              </a:rPr>
              <a:t>as well as providing assurance that risk </a:t>
            </a:r>
            <a:r>
              <a:rPr lang="en-US" altLang="zh-CN" sz="2500" dirty="0" smtClean="0">
                <a:solidFill>
                  <a:schemeClr val="tx1"/>
                </a:solidFill>
                <a:cs typeface="Times New Roman" pitchFamily="18" charset="0"/>
              </a:rPr>
              <a:t>mitigation processes </a:t>
            </a:r>
            <a:r>
              <a:rPr lang="en-US" altLang="zh-CN" sz="2500" dirty="0">
                <a:solidFill>
                  <a:schemeClr val="tx1"/>
                </a:solidFill>
                <a:cs typeface="Times New Roman" pitchFamily="18" charset="0"/>
              </a:rPr>
              <a:t>adequately reduce </a:t>
            </a:r>
            <a:r>
              <a:rPr lang="en-US" altLang="zh-CN" sz="2500" dirty="0" smtClean="0">
                <a:solidFill>
                  <a:schemeClr val="tx1"/>
                </a:solidFill>
                <a:cs typeface="Times New Roman" pitchFamily="18" charset="0"/>
              </a:rPr>
              <a:t>the impact </a:t>
            </a:r>
            <a:r>
              <a:rPr lang="en-US" altLang="zh-CN" sz="2500" dirty="0">
                <a:solidFill>
                  <a:schemeClr val="tx1"/>
                </a:solidFill>
                <a:cs typeface="Times New Roman" pitchFamily="18" charset="0"/>
              </a:rPr>
              <a:t>of </a:t>
            </a:r>
            <a:r>
              <a:rPr lang="en-US" altLang="zh-CN" sz="2500" dirty="0" smtClean="0">
                <a:solidFill>
                  <a:schemeClr val="tx1"/>
                </a:solidFill>
                <a:cs typeface="Times New Roman" pitchFamily="18" charset="0"/>
              </a:rPr>
              <a:t>material risks </a:t>
            </a:r>
            <a:r>
              <a:rPr lang="en-US" altLang="zh-CN" sz="2500" dirty="0">
                <a:solidFill>
                  <a:schemeClr val="tx1"/>
                </a:solidFill>
                <a:cs typeface="Times New Roman" pitchFamily="18" charset="0"/>
              </a:rPr>
              <a:t>on business performance and corporate reputation</a:t>
            </a:r>
            <a:r>
              <a:rPr lang="en-US" altLang="zh-CN" sz="2500" dirty="0" smtClean="0">
                <a:solidFill>
                  <a:schemeClr val="tx1"/>
                </a:solidFill>
                <a:cs typeface="Times New Roman" pitchFamily="18" charset="0"/>
              </a:rPr>
              <a:t>.</a:t>
            </a:r>
          </a:p>
          <a:p>
            <a:pPr algn="l"/>
            <a:endParaRPr lang="en-US" altLang="zh-CN" sz="2500" dirty="0" smtClean="0">
              <a:solidFill>
                <a:schemeClr val="tx1"/>
              </a:solidFill>
              <a:cs typeface="Times New Roman" pitchFamily="18" charset="0"/>
            </a:endParaRPr>
          </a:p>
          <a:p>
            <a:pPr marL="285750" indent="-285750" algn="l">
              <a:buFont typeface="Arial" pitchFamily="34" charset="0"/>
              <a:buChar char="•"/>
            </a:pPr>
            <a:r>
              <a:rPr lang="en-US" altLang="zh-CN" sz="2500" dirty="0" err="1">
                <a:solidFill>
                  <a:schemeClr val="tx1"/>
                </a:solidFill>
                <a:cs typeface="Times New Roman" pitchFamily="18" charset="0"/>
              </a:rPr>
              <a:t>Viterra’s</a:t>
            </a:r>
            <a:r>
              <a:rPr lang="en-US" altLang="zh-CN" sz="2500" dirty="0">
                <a:solidFill>
                  <a:schemeClr val="tx1"/>
                </a:solidFill>
                <a:cs typeface="Times New Roman" pitchFamily="18" charset="0"/>
              </a:rPr>
              <a:t> </a:t>
            </a:r>
            <a:r>
              <a:rPr lang="en-US" altLang="zh-CN" sz="2500" dirty="0">
                <a:solidFill>
                  <a:srgbClr val="FF0000"/>
                </a:solidFill>
                <a:cs typeface="Times New Roman" pitchFamily="18" charset="0"/>
              </a:rPr>
              <a:t>senior </a:t>
            </a:r>
            <a:r>
              <a:rPr lang="en-US" altLang="zh-CN" sz="2500" dirty="0" smtClean="0">
                <a:solidFill>
                  <a:srgbClr val="FF0000"/>
                </a:solidFill>
                <a:cs typeface="Times New Roman" pitchFamily="18" charset="0"/>
              </a:rPr>
              <a:t>management</a:t>
            </a:r>
            <a:r>
              <a:rPr lang="en-US" altLang="zh-CN" sz="2500" dirty="0" smtClean="0">
                <a:solidFill>
                  <a:schemeClr val="tx1"/>
                </a:solidFill>
                <a:cs typeface="Times New Roman" pitchFamily="18" charset="0"/>
              </a:rPr>
              <a:t>: responsible </a:t>
            </a:r>
            <a:r>
              <a:rPr lang="en-US" altLang="zh-CN" sz="2500" dirty="0">
                <a:solidFill>
                  <a:schemeClr val="tx1"/>
                </a:solidFill>
                <a:cs typeface="Times New Roman" pitchFamily="18" charset="0"/>
              </a:rPr>
              <a:t>for ensuring that </a:t>
            </a:r>
            <a:r>
              <a:rPr lang="en-US" altLang="zh-CN" sz="2500" dirty="0" smtClean="0">
                <a:solidFill>
                  <a:schemeClr val="tx1"/>
                </a:solidFill>
                <a:cs typeface="Times New Roman" pitchFamily="18" charset="0"/>
              </a:rPr>
              <a:t>key corporate </a:t>
            </a:r>
            <a:r>
              <a:rPr lang="en-US" altLang="zh-CN" sz="2500" dirty="0">
                <a:solidFill>
                  <a:schemeClr val="tx1"/>
                </a:solidFill>
                <a:cs typeface="Times New Roman" pitchFamily="18" charset="0"/>
              </a:rPr>
              <a:t>risks are identified, assessed, monitored and </a:t>
            </a:r>
            <a:r>
              <a:rPr lang="en-US" altLang="zh-CN" sz="2500" dirty="0" smtClean="0">
                <a:solidFill>
                  <a:schemeClr val="tx1"/>
                </a:solidFill>
                <a:cs typeface="Times New Roman" pitchFamily="18" charset="0"/>
              </a:rPr>
              <a:t>reported, and </a:t>
            </a:r>
            <a:r>
              <a:rPr lang="en-US" altLang="zh-CN" sz="2500" dirty="0">
                <a:solidFill>
                  <a:schemeClr val="tx1"/>
                </a:solidFill>
                <a:cs typeface="Times New Roman" pitchFamily="18" charset="0"/>
              </a:rPr>
              <a:t>that mitigation strategies are developed where prudent.</a:t>
            </a:r>
            <a:endParaRPr lang="en-US" altLang="zh-CN" sz="2500" dirty="0" smtClean="0">
              <a:solidFill>
                <a:schemeClr val="tx1"/>
              </a:solidFill>
              <a:cs typeface="Times New Roman" pitchFamily="18" charset="0"/>
            </a:endParaRPr>
          </a:p>
        </p:txBody>
      </p:sp>
    </p:spTree>
    <p:extLst>
      <p:ext uri="{BB962C8B-B14F-4D97-AF65-F5344CB8AC3E}">
        <p14:creationId xmlns:p14="http://schemas.microsoft.com/office/powerpoint/2010/main" xmlns="" val="26792026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87624" y="764704"/>
            <a:ext cx="7772400" cy="1109985"/>
          </a:xfrm>
        </p:spPr>
        <p:txBody>
          <a:bodyPr/>
          <a:lstStyle/>
          <a:p>
            <a:r>
              <a:rPr lang="en-US" altLang="zh-CN" b="1" dirty="0"/>
              <a:t>Weather Risk</a:t>
            </a:r>
            <a:endParaRPr lang="zh-CN" altLang="en-US" b="1" dirty="0"/>
          </a:p>
        </p:txBody>
      </p:sp>
      <p:sp>
        <p:nvSpPr>
          <p:cNvPr id="3" name="副标题 2"/>
          <p:cNvSpPr>
            <a:spLocks noGrp="1"/>
          </p:cNvSpPr>
          <p:nvPr>
            <p:ph type="subTitle" idx="1"/>
          </p:nvPr>
        </p:nvSpPr>
        <p:spPr>
          <a:xfrm>
            <a:off x="1371600" y="1628800"/>
            <a:ext cx="6944816" cy="3577952"/>
          </a:xfrm>
        </p:spPr>
        <p:txBody>
          <a:bodyPr>
            <a:noAutofit/>
          </a:bodyPr>
          <a:lstStyle/>
          <a:p>
            <a:pPr marL="285750" indent="-285750" algn="l">
              <a:buFont typeface="Arial" pitchFamily="34" charset="0"/>
              <a:buChar char="•"/>
            </a:pPr>
            <a:endParaRPr lang="en-US" altLang="zh-CN" sz="2500" dirty="0" smtClean="0">
              <a:solidFill>
                <a:schemeClr val="tx1"/>
              </a:solidFill>
            </a:endParaRPr>
          </a:p>
          <a:p>
            <a:pPr marL="285750" indent="-285750" algn="l">
              <a:buFont typeface="Arial" pitchFamily="34" charset="0"/>
              <a:buChar char="•"/>
            </a:pPr>
            <a:r>
              <a:rPr lang="en-US" altLang="zh-CN" sz="2500" dirty="0" smtClean="0">
                <a:solidFill>
                  <a:schemeClr val="tx1"/>
                </a:solidFill>
              </a:rPr>
              <a:t>As an agri-business companies, </a:t>
            </a:r>
            <a:r>
              <a:rPr lang="en-US" altLang="zh-CN" sz="2500" dirty="0" err="1" smtClean="0">
                <a:solidFill>
                  <a:schemeClr val="tx1"/>
                </a:solidFill>
              </a:rPr>
              <a:t>Viterra’s</a:t>
            </a:r>
            <a:r>
              <a:rPr lang="en-US" altLang="zh-CN" sz="2500" dirty="0" smtClean="0">
                <a:solidFill>
                  <a:schemeClr val="tx1"/>
                </a:solidFill>
              </a:rPr>
              <a:t> most significant risk is the </a:t>
            </a:r>
            <a:r>
              <a:rPr lang="en-US" altLang="zh-CN" sz="2500" dirty="0" smtClean="0">
                <a:solidFill>
                  <a:srgbClr val="FF0000"/>
                </a:solidFill>
              </a:rPr>
              <a:t>WEATHER</a:t>
            </a:r>
            <a:r>
              <a:rPr lang="en-US" altLang="zh-CN" sz="2500" dirty="0" smtClean="0">
                <a:solidFill>
                  <a:schemeClr val="tx1"/>
                </a:solidFill>
              </a:rPr>
              <a:t>.</a:t>
            </a:r>
            <a:endParaRPr lang="en-US" altLang="zh-CN" sz="2500" dirty="0"/>
          </a:p>
          <a:p>
            <a:pPr algn="l"/>
            <a:endParaRPr lang="en-US" altLang="zh-CN" sz="2500" dirty="0">
              <a:solidFill>
                <a:schemeClr val="tx1"/>
              </a:solidFill>
            </a:endParaRPr>
          </a:p>
          <a:p>
            <a:pPr marL="285750" indent="-285750" algn="l">
              <a:buFont typeface="Arial" pitchFamily="34" charset="0"/>
              <a:buChar char="•"/>
            </a:pPr>
            <a:r>
              <a:rPr lang="en-US" altLang="zh-CN" sz="2500" dirty="0" smtClean="0">
                <a:solidFill>
                  <a:schemeClr val="tx1"/>
                </a:solidFill>
              </a:rPr>
              <a:t>The effect of weather conditions on production volumes and crop quality present significant operating and financial risk to </a:t>
            </a:r>
            <a:r>
              <a:rPr lang="en-US" altLang="zh-CN" sz="2500" dirty="0" err="1" smtClean="0">
                <a:solidFill>
                  <a:schemeClr val="tx1"/>
                </a:solidFill>
              </a:rPr>
              <a:t>Viterra’s</a:t>
            </a:r>
            <a:r>
              <a:rPr lang="en-US" altLang="zh-CN" sz="2500" dirty="0" smtClean="0">
                <a:solidFill>
                  <a:schemeClr val="tx1"/>
                </a:solidFill>
              </a:rPr>
              <a:t> Grain Handling and Marketing segment.</a:t>
            </a:r>
          </a:p>
          <a:p>
            <a:pPr algn="l"/>
            <a:endParaRPr lang="en-US" altLang="zh-CN" sz="2500" dirty="0" smtClean="0">
              <a:solidFill>
                <a:schemeClr val="tx1"/>
              </a:solidFill>
            </a:endParaRPr>
          </a:p>
          <a:p>
            <a:pPr algn="l"/>
            <a:endParaRPr lang="en-US" altLang="zh-CN" sz="2500" dirty="0" smtClean="0">
              <a:solidFill>
                <a:schemeClr val="tx1"/>
              </a:solidFill>
            </a:endParaRPr>
          </a:p>
        </p:txBody>
      </p:sp>
    </p:spTree>
    <p:extLst>
      <p:ext uri="{BB962C8B-B14F-4D97-AF65-F5344CB8AC3E}">
        <p14:creationId xmlns:p14="http://schemas.microsoft.com/office/powerpoint/2010/main" xmlns="" val="356649638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908720"/>
            <a:ext cx="7772400" cy="1037977"/>
          </a:xfrm>
        </p:spPr>
        <p:txBody>
          <a:bodyPr/>
          <a:lstStyle/>
          <a:p>
            <a:r>
              <a:rPr lang="en-US" altLang="zh-CN" b="1" dirty="0"/>
              <a:t>Weather </a:t>
            </a:r>
            <a:r>
              <a:rPr lang="en-US" altLang="zh-CN" b="1" dirty="0" smtClean="0"/>
              <a:t>Risk (Cont’d)</a:t>
            </a:r>
            <a:endParaRPr lang="zh-CN" altLang="en-US" b="1" dirty="0"/>
          </a:p>
        </p:txBody>
      </p:sp>
      <p:sp>
        <p:nvSpPr>
          <p:cNvPr id="3" name="副标题 2"/>
          <p:cNvSpPr>
            <a:spLocks noGrp="1"/>
          </p:cNvSpPr>
          <p:nvPr>
            <p:ph type="subTitle" idx="1"/>
          </p:nvPr>
        </p:nvSpPr>
        <p:spPr>
          <a:xfrm>
            <a:off x="1475656" y="2204864"/>
            <a:ext cx="7416824" cy="3577952"/>
          </a:xfrm>
        </p:spPr>
        <p:txBody>
          <a:bodyPr>
            <a:noAutofit/>
          </a:bodyPr>
          <a:lstStyle/>
          <a:p>
            <a:pPr marL="342900" indent="-342900" algn="l">
              <a:buFont typeface="Arial" pitchFamily="34" charset="0"/>
              <a:buChar char="•"/>
            </a:pPr>
            <a:r>
              <a:rPr lang="en-US" altLang="zh-CN" sz="2500" dirty="0" smtClean="0"/>
              <a:t>Viterra </a:t>
            </a:r>
            <a:r>
              <a:rPr lang="en-US" altLang="zh-CN" sz="2500" dirty="0"/>
              <a:t>offers a number of </a:t>
            </a:r>
            <a:r>
              <a:rPr lang="en-US" altLang="zh-CN" sz="2500" dirty="0" smtClean="0"/>
              <a:t>programs to </a:t>
            </a:r>
            <a:r>
              <a:rPr lang="en-US" altLang="zh-CN" sz="2500" dirty="0"/>
              <a:t>its primary customers, including </a:t>
            </a:r>
            <a:r>
              <a:rPr lang="en-US" altLang="zh-CN" sz="2500" dirty="0">
                <a:solidFill>
                  <a:srgbClr val="FF0000"/>
                </a:solidFill>
              </a:rPr>
              <a:t>drying and blending </a:t>
            </a:r>
            <a:r>
              <a:rPr lang="en-US" altLang="zh-CN" sz="2500" dirty="0" smtClean="0">
                <a:solidFill>
                  <a:srgbClr val="FF0000"/>
                </a:solidFill>
              </a:rPr>
              <a:t>opportunities</a:t>
            </a:r>
            <a:r>
              <a:rPr lang="en-US" altLang="zh-CN" sz="2500" dirty="0" smtClean="0"/>
              <a:t>, in </a:t>
            </a:r>
            <a:r>
              <a:rPr lang="en-US" altLang="zh-CN" sz="2500" dirty="0"/>
              <a:t>an attempt to mitigate some of the quality risk</a:t>
            </a:r>
            <a:r>
              <a:rPr lang="en-US" altLang="zh-CN" sz="2500" dirty="0" smtClean="0"/>
              <a:t>.</a:t>
            </a:r>
            <a:r>
              <a:rPr lang="en-US" altLang="zh-CN" sz="2500" dirty="0"/>
              <a:t/>
            </a:r>
            <a:br>
              <a:rPr lang="en-US" altLang="zh-CN" sz="2500" dirty="0"/>
            </a:br>
            <a:endParaRPr lang="en-US" altLang="zh-CN" sz="2500" dirty="0"/>
          </a:p>
          <a:p>
            <a:pPr marL="285750" indent="-285750" algn="l">
              <a:buFont typeface="Arial" pitchFamily="34" charset="0"/>
              <a:buChar char="•"/>
            </a:pPr>
            <a:r>
              <a:rPr lang="en-US" altLang="zh-CN" sz="2500" dirty="0" smtClean="0"/>
              <a:t>Viterra </a:t>
            </a:r>
            <a:r>
              <a:rPr lang="en-US" altLang="zh-CN" sz="2500" dirty="0"/>
              <a:t>has historically had </a:t>
            </a:r>
            <a:r>
              <a:rPr lang="en-US" altLang="zh-CN" sz="2500" dirty="0">
                <a:solidFill>
                  <a:srgbClr val="FF0000"/>
                </a:solidFill>
              </a:rPr>
              <a:t>grain volume insurance </a:t>
            </a:r>
            <a:r>
              <a:rPr lang="en-US" altLang="zh-CN" sz="2500" dirty="0"/>
              <a:t>to protect the cash flow of the Company from significant declines in grain volumes as a result of drought or other weather-related events.</a:t>
            </a:r>
          </a:p>
          <a:p>
            <a:pPr algn="l"/>
            <a:endParaRPr lang="en-US" altLang="zh-CN" sz="2500" dirty="0"/>
          </a:p>
          <a:p>
            <a:pPr algn="l"/>
            <a:endParaRPr lang="en-US" altLang="zh-CN" sz="2500" dirty="0" smtClean="0">
              <a:solidFill>
                <a:schemeClr val="tx1"/>
              </a:solidFill>
            </a:endParaRPr>
          </a:p>
        </p:txBody>
      </p:sp>
    </p:spTree>
    <p:extLst>
      <p:ext uri="{BB962C8B-B14F-4D97-AF65-F5344CB8AC3E}">
        <p14:creationId xmlns:p14="http://schemas.microsoft.com/office/powerpoint/2010/main" xmlns="" val="20926391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87624" y="476672"/>
            <a:ext cx="7772400" cy="1470025"/>
          </a:xfrm>
        </p:spPr>
        <p:txBody>
          <a:bodyPr>
            <a:normAutofit/>
          </a:bodyPr>
          <a:lstStyle/>
          <a:p>
            <a:r>
              <a:rPr lang="en-US" altLang="zh-CN" sz="3500" b="1" dirty="0"/>
              <a:t>Food and Feed Product Safety Risk</a:t>
            </a:r>
            <a:endParaRPr lang="zh-CN" altLang="en-US" sz="3500" b="1" dirty="0"/>
          </a:p>
        </p:txBody>
      </p:sp>
      <p:sp>
        <p:nvSpPr>
          <p:cNvPr id="3" name="副标题 2"/>
          <p:cNvSpPr>
            <a:spLocks noGrp="1"/>
          </p:cNvSpPr>
          <p:nvPr>
            <p:ph type="subTitle" idx="1"/>
          </p:nvPr>
        </p:nvSpPr>
        <p:spPr>
          <a:xfrm>
            <a:off x="1371600" y="2132856"/>
            <a:ext cx="7232848" cy="3505944"/>
          </a:xfrm>
        </p:spPr>
        <p:txBody>
          <a:bodyPr>
            <a:noAutofit/>
          </a:bodyPr>
          <a:lstStyle/>
          <a:p>
            <a:pPr marL="285750" indent="-285750" algn="l">
              <a:buFont typeface="Arial" pitchFamily="34" charset="0"/>
              <a:buChar char="•"/>
            </a:pPr>
            <a:r>
              <a:rPr lang="en-US" altLang="zh-CN" sz="2500" dirty="0" smtClean="0">
                <a:solidFill>
                  <a:schemeClr val="tx1"/>
                </a:solidFill>
              </a:rPr>
              <a:t>A large majority of the Company’s sales are generated from food products and the Company could be vulnerable in the event of a significant outbreak of food-borne illness or increased public health concerns in connection with certain food products.</a:t>
            </a:r>
            <a:br>
              <a:rPr lang="en-US" altLang="zh-CN" sz="2500" dirty="0" smtClean="0">
                <a:solidFill>
                  <a:schemeClr val="tx1"/>
                </a:solidFill>
              </a:rPr>
            </a:br>
            <a:endParaRPr lang="en-US" altLang="zh-CN" sz="2500" dirty="0" smtClean="0">
              <a:solidFill>
                <a:schemeClr val="tx1"/>
              </a:solidFill>
            </a:endParaRPr>
          </a:p>
          <a:p>
            <a:pPr marL="285750" indent="-285750" algn="l">
              <a:buFont typeface="Arial" pitchFamily="34" charset="0"/>
              <a:buChar char="•"/>
            </a:pPr>
            <a:r>
              <a:rPr lang="en-US" altLang="zh-CN" sz="2500" dirty="0" smtClean="0">
                <a:solidFill>
                  <a:schemeClr val="tx1"/>
                </a:solidFill>
              </a:rPr>
              <a:t>Viterra has established a number of processes </a:t>
            </a:r>
            <a:r>
              <a:rPr lang="en-US" altLang="zh-CN" sz="2500" dirty="0" smtClean="0">
                <a:solidFill>
                  <a:srgbClr val="FF0000"/>
                </a:solidFill>
              </a:rPr>
              <a:t>to track and identify crops at every stage of production:</a:t>
            </a:r>
            <a:r>
              <a:rPr lang="en-US" altLang="zh-CN" sz="2500" dirty="0" smtClean="0">
                <a:solidFill>
                  <a:schemeClr val="tx1"/>
                </a:solidFill>
              </a:rPr>
              <a:t> </a:t>
            </a:r>
            <a:r>
              <a:rPr lang="en-US" altLang="zh-CN" sz="2500" dirty="0" smtClean="0">
                <a:solidFill>
                  <a:srgbClr val="FF0000"/>
                </a:solidFill>
              </a:rPr>
              <a:t>from seed to customer delivery.</a:t>
            </a:r>
            <a:endParaRPr lang="en-US" altLang="zh-CN" sz="2500" dirty="0">
              <a:solidFill>
                <a:srgbClr val="FF0000"/>
              </a:solidFill>
            </a:endParaRPr>
          </a:p>
        </p:txBody>
      </p:sp>
    </p:spTree>
    <p:extLst>
      <p:ext uri="{BB962C8B-B14F-4D97-AF65-F5344CB8AC3E}">
        <p14:creationId xmlns:p14="http://schemas.microsoft.com/office/powerpoint/2010/main" xmlns="" val="19264547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36104" y="86767"/>
            <a:ext cx="7772400" cy="1470025"/>
          </a:xfrm>
        </p:spPr>
        <p:txBody>
          <a:bodyPr>
            <a:normAutofit/>
          </a:bodyPr>
          <a:lstStyle/>
          <a:p>
            <a:r>
              <a:rPr lang="en-US" altLang="zh-CN" sz="3500" b="1" dirty="0"/>
              <a:t>Commodity Price and Trading Risk</a:t>
            </a:r>
            <a:endParaRPr lang="zh-CN" altLang="en-US" sz="3500" b="1" dirty="0"/>
          </a:p>
        </p:txBody>
      </p:sp>
      <p:sp>
        <p:nvSpPr>
          <p:cNvPr id="3" name="副标题 2"/>
          <p:cNvSpPr>
            <a:spLocks noGrp="1"/>
          </p:cNvSpPr>
          <p:nvPr>
            <p:ph type="subTitle" idx="1"/>
          </p:nvPr>
        </p:nvSpPr>
        <p:spPr>
          <a:xfrm>
            <a:off x="1371600" y="1628800"/>
            <a:ext cx="7304856" cy="3960440"/>
          </a:xfrm>
        </p:spPr>
        <p:txBody>
          <a:bodyPr>
            <a:noAutofit/>
          </a:bodyPr>
          <a:lstStyle/>
          <a:p>
            <a:pPr marL="342900" indent="-342900" algn="l">
              <a:buFont typeface="Arial" pitchFamily="34" charset="0"/>
              <a:buChar char="•"/>
            </a:pPr>
            <a:r>
              <a:rPr lang="en-US" altLang="zh-CN" sz="2500" dirty="0" smtClean="0">
                <a:solidFill>
                  <a:schemeClr val="tx1"/>
                </a:solidFill>
              </a:rPr>
              <a:t>In </a:t>
            </a:r>
            <a:r>
              <a:rPr lang="en-US" altLang="zh-CN" sz="2500" dirty="0">
                <a:solidFill>
                  <a:schemeClr val="tx1"/>
                </a:solidFill>
              </a:rPr>
              <a:t>the case of Board grains handled in Canada, Viterra </a:t>
            </a:r>
            <a:r>
              <a:rPr lang="en-US" altLang="zh-CN" sz="2500" dirty="0" smtClean="0">
                <a:solidFill>
                  <a:srgbClr val="FF0000"/>
                </a:solidFill>
              </a:rPr>
              <a:t>earns CWB(Canadian Wheat Board) </a:t>
            </a:r>
            <a:r>
              <a:rPr lang="en-US" altLang="zh-CN" sz="2500" dirty="0">
                <a:solidFill>
                  <a:srgbClr val="FF0000"/>
                </a:solidFill>
              </a:rPr>
              <a:t>storage and handling tariffs</a:t>
            </a:r>
            <a:r>
              <a:rPr lang="en-US" altLang="zh-CN" sz="2500" dirty="0">
                <a:solidFill>
                  <a:schemeClr val="tx1"/>
                </a:solidFill>
              </a:rPr>
              <a:t>, and these are </a:t>
            </a:r>
            <a:r>
              <a:rPr lang="en-US" altLang="zh-CN" sz="2500" dirty="0" smtClean="0">
                <a:solidFill>
                  <a:schemeClr val="tx1"/>
                </a:solidFill>
              </a:rPr>
              <a:t>established independently </a:t>
            </a:r>
            <a:r>
              <a:rPr lang="en-US" altLang="zh-CN" sz="2500" dirty="0">
                <a:solidFill>
                  <a:schemeClr val="tx1"/>
                </a:solidFill>
              </a:rPr>
              <a:t>of the market price for grain</a:t>
            </a:r>
            <a:r>
              <a:rPr lang="en-US" altLang="zh-CN" sz="2500" dirty="0" smtClean="0">
                <a:solidFill>
                  <a:schemeClr val="tx1"/>
                </a:solidFill>
              </a:rPr>
              <a:t>.</a:t>
            </a:r>
          </a:p>
          <a:p>
            <a:pPr marL="285750" indent="-285750" algn="l">
              <a:buFont typeface="Arial" pitchFamily="34" charset="0"/>
              <a:buChar char="•"/>
            </a:pPr>
            <a:endParaRPr lang="en-US" altLang="zh-CN" sz="2500" dirty="0" smtClean="0">
              <a:solidFill>
                <a:schemeClr val="tx1"/>
              </a:solidFill>
            </a:endParaRPr>
          </a:p>
          <a:p>
            <a:pPr marL="285750" indent="-285750" algn="l">
              <a:buFont typeface="Arial" pitchFamily="34" charset="0"/>
              <a:buChar char="•"/>
            </a:pPr>
            <a:r>
              <a:rPr lang="en-US" altLang="zh-CN" sz="2500" dirty="0"/>
              <a:t>For these grains, </a:t>
            </a:r>
            <a:r>
              <a:rPr lang="en-US" altLang="zh-CN" sz="2500" dirty="0" smtClean="0"/>
              <a:t>the Company’s </a:t>
            </a:r>
            <a:r>
              <a:rPr lang="en-US" altLang="zh-CN" sz="2500" dirty="0"/>
              <a:t>risks are reduced in part through </a:t>
            </a:r>
            <a:r>
              <a:rPr lang="en-US" altLang="zh-CN" sz="2500" dirty="0">
                <a:solidFill>
                  <a:srgbClr val="FF0000"/>
                </a:solidFill>
              </a:rPr>
              <a:t>the terms of formal </a:t>
            </a:r>
            <a:r>
              <a:rPr lang="en-US" altLang="zh-CN" sz="2500" dirty="0" smtClean="0">
                <a:solidFill>
                  <a:srgbClr val="FF0000"/>
                </a:solidFill>
              </a:rPr>
              <a:t>legal arrangements </a:t>
            </a:r>
            <a:r>
              <a:rPr lang="en-US" altLang="zh-CN" sz="2500" dirty="0">
                <a:solidFill>
                  <a:srgbClr val="FF0000"/>
                </a:solidFill>
              </a:rPr>
              <a:t>between Viterra and the CWB</a:t>
            </a:r>
            <a:r>
              <a:rPr lang="en-US" altLang="zh-CN" sz="2500" dirty="0"/>
              <a:t>. The </a:t>
            </a:r>
            <a:r>
              <a:rPr lang="en-US" altLang="zh-CN" sz="2500" dirty="0" smtClean="0"/>
              <a:t>arrangements provide </a:t>
            </a:r>
            <a:r>
              <a:rPr lang="en-US" altLang="zh-CN" sz="2500" dirty="0"/>
              <a:t>for full reimbursement of the price paid to producers for </a:t>
            </a:r>
            <a:r>
              <a:rPr lang="en-US" altLang="zh-CN" sz="2500" dirty="0" smtClean="0"/>
              <a:t>grain as </a:t>
            </a:r>
            <a:r>
              <a:rPr lang="en-US" altLang="zh-CN" sz="2500" dirty="0"/>
              <a:t>well as certain costs incurred by Viterra.</a:t>
            </a:r>
            <a:endParaRPr lang="en-US" altLang="zh-CN" sz="2500" dirty="0" smtClean="0">
              <a:solidFill>
                <a:schemeClr val="tx1"/>
              </a:solidFill>
            </a:endParaRPr>
          </a:p>
        </p:txBody>
      </p:sp>
    </p:spTree>
    <p:extLst>
      <p:ext uri="{BB962C8B-B14F-4D97-AF65-F5344CB8AC3E}">
        <p14:creationId xmlns:p14="http://schemas.microsoft.com/office/powerpoint/2010/main" xmlns="" val="4101953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4096" y="230783"/>
            <a:ext cx="7772400" cy="965969"/>
          </a:xfrm>
        </p:spPr>
        <p:txBody>
          <a:bodyPr>
            <a:normAutofit fontScale="90000"/>
          </a:bodyPr>
          <a:lstStyle/>
          <a:p>
            <a:r>
              <a:rPr lang="en-US" altLang="zh-CN" sz="4000" b="1" dirty="0"/>
              <a:t>Commodity Price and Trading Risk</a:t>
            </a:r>
            <a:endParaRPr lang="zh-CN" altLang="en-US" sz="4000" b="1" dirty="0"/>
          </a:p>
        </p:txBody>
      </p:sp>
      <p:sp>
        <p:nvSpPr>
          <p:cNvPr id="3" name="副标题 2"/>
          <p:cNvSpPr>
            <a:spLocks noGrp="1"/>
          </p:cNvSpPr>
          <p:nvPr>
            <p:ph type="subTitle" idx="1"/>
          </p:nvPr>
        </p:nvSpPr>
        <p:spPr>
          <a:xfrm>
            <a:off x="1371600" y="1340768"/>
            <a:ext cx="7304856" cy="3960440"/>
          </a:xfrm>
        </p:spPr>
        <p:txBody>
          <a:bodyPr>
            <a:noAutofit/>
          </a:bodyPr>
          <a:lstStyle/>
          <a:p>
            <a:pPr marL="342900" indent="-342900" algn="l">
              <a:buFont typeface="Arial" pitchFamily="34" charset="0"/>
              <a:buChar char="•"/>
            </a:pPr>
            <a:r>
              <a:rPr lang="en-US" altLang="zh-CN" sz="2500" dirty="0" smtClean="0">
                <a:solidFill>
                  <a:schemeClr val="tx1"/>
                </a:solidFill>
              </a:rPr>
              <a:t>For non-Board or open market grains and oilseeds purchased by Viterra, as well as Australian grains and oilseeds, the Company is exposed to the </a:t>
            </a:r>
            <a:r>
              <a:rPr lang="en-US" altLang="zh-CN" sz="2500" dirty="0" smtClean="0">
                <a:solidFill>
                  <a:srgbClr val="FF0000"/>
                </a:solidFill>
              </a:rPr>
              <a:t>risk of movement in price between the time the grain is purchased and when it is sold.</a:t>
            </a:r>
            <a:endParaRPr lang="en-US" altLang="zh-CN" sz="2500" dirty="0" smtClean="0">
              <a:solidFill>
                <a:schemeClr val="tx1"/>
              </a:solidFill>
            </a:endParaRPr>
          </a:p>
          <a:p>
            <a:pPr marL="285750" indent="-285750" algn="l">
              <a:buFont typeface="Arial" pitchFamily="34" charset="0"/>
              <a:buChar char="•"/>
            </a:pPr>
            <a:r>
              <a:rPr lang="en-US" altLang="zh-CN" sz="2500" dirty="0" smtClean="0"/>
              <a:t>The Company </a:t>
            </a:r>
            <a:r>
              <a:rPr lang="en-US" altLang="zh-CN" sz="2500" dirty="0"/>
              <a:t>uses </a:t>
            </a:r>
            <a:r>
              <a:rPr lang="en-US" altLang="zh-CN" sz="2500" dirty="0">
                <a:solidFill>
                  <a:srgbClr val="FF0000"/>
                </a:solidFill>
              </a:rPr>
              <a:t>exchange-traded futures and options contracts </a:t>
            </a:r>
            <a:r>
              <a:rPr lang="en-US" altLang="zh-CN" sz="2500" dirty="0" smtClean="0">
                <a:solidFill>
                  <a:srgbClr val="FF0000"/>
                </a:solidFill>
              </a:rPr>
              <a:t>as well </a:t>
            </a:r>
            <a:r>
              <a:rPr lang="en-US" altLang="zh-CN" sz="2500" dirty="0">
                <a:solidFill>
                  <a:srgbClr val="FF0000"/>
                </a:solidFill>
              </a:rPr>
              <a:t>as Over the Counter (“OTC”) contracts </a:t>
            </a:r>
            <a:r>
              <a:rPr lang="en-US" altLang="zh-CN" sz="2500" dirty="0"/>
              <a:t>to minimize the effects </a:t>
            </a:r>
            <a:r>
              <a:rPr lang="en-US" altLang="zh-CN" sz="2500" dirty="0" smtClean="0"/>
              <a:t>of changes </a:t>
            </a:r>
            <a:r>
              <a:rPr lang="en-US" altLang="zh-CN" sz="2500" dirty="0"/>
              <a:t>in the prices of </a:t>
            </a:r>
            <a:r>
              <a:rPr lang="en-US" altLang="zh-CN" sz="2500" dirty="0" err="1"/>
              <a:t>hedgeable</a:t>
            </a:r>
            <a:r>
              <a:rPr lang="en-US" altLang="zh-CN" sz="2500" dirty="0"/>
              <a:t> agricultural commodities on </a:t>
            </a:r>
            <a:r>
              <a:rPr lang="en-US" altLang="zh-CN" sz="2500" dirty="0" smtClean="0"/>
              <a:t>its agri-business </a:t>
            </a:r>
            <a:r>
              <a:rPr lang="en-US" altLang="zh-CN" sz="2500" dirty="0"/>
              <a:t>inventories and agricultural commodities forward </a:t>
            </a:r>
            <a:r>
              <a:rPr lang="en-US" altLang="zh-CN" sz="2500" dirty="0" smtClean="0"/>
              <a:t>cash purchase </a:t>
            </a:r>
            <a:r>
              <a:rPr lang="en-US" altLang="zh-CN" sz="2500" dirty="0"/>
              <a:t>and sales contracts.</a:t>
            </a:r>
            <a:endParaRPr lang="zh-CN" altLang="en-US" sz="2500" dirty="0">
              <a:solidFill>
                <a:schemeClr val="tx1"/>
              </a:solidFill>
            </a:endParaRPr>
          </a:p>
        </p:txBody>
      </p:sp>
    </p:spTree>
    <p:extLst>
      <p:ext uri="{BB962C8B-B14F-4D97-AF65-F5344CB8AC3E}">
        <p14:creationId xmlns:p14="http://schemas.microsoft.com/office/powerpoint/2010/main" xmlns="" val="24033738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sz="4400" b="1" dirty="0" smtClean="0"/>
              <a:t>Sensitivity Analysis</a:t>
            </a:r>
            <a:endParaRPr lang="en-CA" b="1" dirty="0"/>
          </a:p>
        </p:txBody>
      </p:sp>
      <p:pic>
        <p:nvPicPr>
          <p:cNvPr id="5122"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1280" b="727"/>
          <a:stretch/>
        </p:blipFill>
        <p:spPr bwMode="auto">
          <a:xfrm>
            <a:off x="3347864" y="1228936"/>
            <a:ext cx="3409307" cy="540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16057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b="1" dirty="0" smtClean="0"/>
              <a:t>Interest Risk</a:t>
            </a:r>
            <a:endParaRPr lang="en-CA" b="1" dirty="0"/>
          </a:p>
        </p:txBody>
      </p:sp>
      <p:sp>
        <p:nvSpPr>
          <p:cNvPr id="3" name="Content Placeholder 2"/>
          <p:cNvSpPr>
            <a:spLocks noGrp="1"/>
          </p:cNvSpPr>
          <p:nvPr>
            <p:ph idx="1"/>
          </p:nvPr>
        </p:nvSpPr>
        <p:spPr/>
        <p:txBody>
          <a:bodyPr>
            <a:normAutofit fontScale="85000" lnSpcReduction="20000"/>
          </a:bodyPr>
          <a:lstStyle/>
          <a:p>
            <a:r>
              <a:rPr kumimoji="1" lang="en-US" altLang="zh-CN" dirty="0" smtClean="0"/>
              <a:t>The Company’s exposure to interest rate risk relates primarily to the </a:t>
            </a:r>
            <a:r>
              <a:rPr kumimoji="1" lang="en-US" altLang="zh-CN" dirty="0" smtClean="0">
                <a:solidFill>
                  <a:srgbClr val="FF0000"/>
                </a:solidFill>
              </a:rPr>
              <a:t>Company’s debt obligations.  </a:t>
            </a:r>
            <a:br>
              <a:rPr kumimoji="1" lang="en-US" altLang="zh-CN" dirty="0" smtClean="0">
                <a:solidFill>
                  <a:srgbClr val="FF0000"/>
                </a:solidFill>
              </a:rPr>
            </a:br>
            <a:endParaRPr kumimoji="1" lang="en-US" altLang="zh-CN" dirty="0" smtClean="0">
              <a:solidFill>
                <a:srgbClr val="FF0000"/>
              </a:solidFill>
            </a:endParaRPr>
          </a:p>
          <a:p>
            <a:r>
              <a:rPr kumimoji="1" lang="en-US" altLang="zh-CN" dirty="0" smtClean="0"/>
              <a:t>Manages interest rate risk and currency risk on borrowings by using:  </a:t>
            </a:r>
          </a:p>
          <a:p>
            <a:pPr lvl="1"/>
            <a:r>
              <a:rPr kumimoji="1" lang="en-US" altLang="zh-CN" dirty="0" smtClean="0"/>
              <a:t>Cash instruments </a:t>
            </a:r>
          </a:p>
          <a:p>
            <a:pPr lvl="1"/>
            <a:r>
              <a:rPr kumimoji="1" lang="en-US" altLang="zh-CN" dirty="0" smtClean="0"/>
              <a:t>Forwards </a:t>
            </a:r>
          </a:p>
          <a:p>
            <a:pPr lvl="1"/>
            <a:r>
              <a:rPr kumimoji="1" lang="en-US" altLang="zh-CN" dirty="0" smtClean="0"/>
              <a:t>Interest rate swaps </a:t>
            </a:r>
          </a:p>
          <a:p>
            <a:endParaRPr kumimoji="1" lang="en-US" altLang="zh-CN" dirty="0" smtClean="0"/>
          </a:p>
          <a:p>
            <a:r>
              <a:rPr kumimoji="1" lang="en-US" altLang="zh-CN" dirty="0" smtClean="0"/>
              <a:t>Use interest rate swaps to manage variable interest rates associated with a portion of the Company’s debt portfolio</a:t>
            </a:r>
            <a:endParaRPr kumimoji="1" lang="zh-CN" altLang="en-US" dirty="0" smtClean="0"/>
          </a:p>
          <a:p>
            <a:endParaRPr lang="en-CA" dirty="0"/>
          </a:p>
        </p:txBody>
      </p:sp>
    </p:spTree>
    <p:extLst>
      <p:ext uri="{BB962C8B-B14F-4D97-AF65-F5344CB8AC3E}">
        <p14:creationId xmlns:p14="http://schemas.microsoft.com/office/powerpoint/2010/main" xmlns="" val="389161609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1" lang="en-US" altLang="zh-CN" b="1" dirty="0" smtClean="0"/>
              <a:t>Merge and Acquisition Risk</a:t>
            </a:r>
            <a:br>
              <a:rPr kumimoji="1" lang="en-US" altLang="zh-CN" b="1" dirty="0" smtClean="0"/>
            </a:br>
            <a:endParaRPr lang="en-CA" b="1" dirty="0"/>
          </a:p>
        </p:txBody>
      </p:sp>
      <p:sp>
        <p:nvSpPr>
          <p:cNvPr id="3" name="Content Placeholder 2"/>
          <p:cNvSpPr>
            <a:spLocks noGrp="1"/>
          </p:cNvSpPr>
          <p:nvPr>
            <p:ph idx="1"/>
          </p:nvPr>
        </p:nvSpPr>
        <p:spPr>
          <a:xfrm>
            <a:off x="1403648" y="980728"/>
            <a:ext cx="7498080" cy="5472608"/>
          </a:xfrm>
        </p:spPr>
        <p:txBody>
          <a:bodyPr>
            <a:normAutofit fontScale="55000" lnSpcReduction="20000"/>
          </a:bodyPr>
          <a:lstStyle/>
          <a:p>
            <a:r>
              <a:rPr kumimoji="1" lang="en-US" altLang="zh-CN" dirty="0" smtClean="0"/>
              <a:t>•adverse changes to the industry of the purchased company or asset,</a:t>
            </a:r>
          </a:p>
          <a:p>
            <a:endParaRPr kumimoji="1" lang="en-US" altLang="zh-CN" dirty="0" smtClean="0"/>
          </a:p>
          <a:p>
            <a:r>
              <a:rPr kumimoji="1" lang="en-US" altLang="zh-CN" dirty="0" smtClean="0"/>
              <a:t>•   difficulty integrating the operations and personnel, realizing</a:t>
            </a:r>
          </a:p>
          <a:p>
            <a:r>
              <a:rPr kumimoji="1" lang="en-US" altLang="zh-CN" dirty="0" smtClean="0"/>
              <a:t>        anticipated synergies, maximizing the financial and strategic </a:t>
            </a:r>
          </a:p>
          <a:p>
            <a:r>
              <a:rPr kumimoji="1" lang="en-US" altLang="zh-CN" dirty="0" smtClean="0"/>
              <a:t>        position of the combined enterprise, and maintaining uniform </a:t>
            </a:r>
          </a:p>
          <a:p>
            <a:r>
              <a:rPr kumimoji="1" lang="en-US" altLang="zh-CN" dirty="0" smtClean="0"/>
              <a:t>        policies, systems and controls across the organization, </a:t>
            </a:r>
          </a:p>
          <a:p>
            <a:endParaRPr kumimoji="1" lang="en-US" altLang="zh-CN" dirty="0" smtClean="0"/>
          </a:p>
          <a:p>
            <a:r>
              <a:rPr kumimoji="1" lang="en-US" altLang="zh-CN" dirty="0" smtClean="0"/>
              <a:t>•   unexpected costs and liabilities which may be significant and</a:t>
            </a:r>
          </a:p>
          <a:p>
            <a:r>
              <a:rPr kumimoji="1" lang="en-US" altLang="zh-CN" dirty="0" smtClean="0"/>
              <a:t>        not covered by an indemnity in the acquisition agreement,</a:t>
            </a:r>
          </a:p>
          <a:p>
            <a:endParaRPr kumimoji="1" lang="en-US" altLang="zh-CN" dirty="0" smtClean="0"/>
          </a:p>
          <a:p>
            <a:r>
              <a:rPr kumimoji="1" lang="en-US" altLang="zh-CN" dirty="0" smtClean="0"/>
              <a:t>•   disruptions to </a:t>
            </a:r>
            <a:r>
              <a:rPr kumimoji="1" lang="en-US" altLang="zh-CN" dirty="0" err="1" smtClean="0"/>
              <a:t>Viterra’s</a:t>
            </a:r>
            <a:r>
              <a:rPr kumimoji="1" lang="en-US" altLang="zh-CN" dirty="0" smtClean="0"/>
              <a:t> current businesses and its relationships</a:t>
            </a:r>
          </a:p>
          <a:p>
            <a:r>
              <a:rPr kumimoji="1" lang="en-US" altLang="zh-CN" dirty="0" smtClean="0"/>
              <a:t>        with employees, customers and suppliers, and</a:t>
            </a:r>
          </a:p>
          <a:p>
            <a:endParaRPr kumimoji="1" lang="en-US" altLang="zh-CN" dirty="0" smtClean="0"/>
          </a:p>
          <a:p>
            <a:r>
              <a:rPr kumimoji="1" lang="en-US" altLang="zh-CN" dirty="0" smtClean="0"/>
              <a:t>•   business risks that </a:t>
            </a:r>
            <a:r>
              <a:rPr kumimoji="1" lang="en-US" altLang="zh-CN" dirty="0" err="1" smtClean="0"/>
              <a:t>Viterra</a:t>
            </a:r>
            <a:r>
              <a:rPr kumimoji="1" lang="en-US" altLang="zh-CN" dirty="0" smtClean="0"/>
              <a:t> has not been previously engaged in</a:t>
            </a:r>
          </a:p>
          <a:p>
            <a:r>
              <a:rPr kumimoji="1" lang="en-US" altLang="zh-CN" dirty="0" smtClean="0"/>
              <a:t>        and exposed to</a:t>
            </a:r>
          </a:p>
        </p:txBody>
      </p:sp>
    </p:spTree>
    <p:extLst>
      <p:ext uri="{BB962C8B-B14F-4D97-AF65-F5344CB8AC3E}">
        <p14:creationId xmlns:p14="http://schemas.microsoft.com/office/powerpoint/2010/main" xmlns="" val="24858428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smtClean="0"/>
              <a:t>Regulatory Risks </a:t>
            </a:r>
            <a:endParaRPr lang="en-CA" b="1" dirty="0"/>
          </a:p>
        </p:txBody>
      </p:sp>
      <p:sp>
        <p:nvSpPr>
          <p:cNvPr id="3" name="Content Placeholder 2"/>
          <p:cNvSpPr>
            <a:spLocks noGrp="1"/>
          </p:cNvSpPr>
          <p:nvPr>
            <p:ph idx="1"/>
          </p:nvPr>
        </p:nvSpPr>
        <p:spPr/>
        <p:txBody>
          <a:bodyPr/>
          <a:lstStyle/>
          <a:p>
            <a:r>
              <a:rPr kumimoji="1" lang="en-US" altLang="zh-CN" dirty="0" smtClean="0"/>
              <a:t>R</a:t>
            </a:r>
            <a:r>
              <a:rPr kumimoji="1" lang="en-CA" altLang="zh-CN" dirty="0" err="1" smtClean="0"/>
              <a:t>egulatory</a:t>
            </a:r>
            <a:r>
              <a:rPr kumimoji="1" lang="en-CA" altLang="zh-CN" dirty="0" smtClean="0"/>
              <a:t> risks related to climate change, including compliance risks, emissions trading exposures and increases in costs. </a:t>
            </a:r>
          </a:p>
          <a:p>
            <a:endParaRPr lang="en-CA" dirty="0"/>
          </a:p>
        </p:txBody>
      </p:sp>
    </p:spTree>
    <p:extLst>
      <p:ext uri="{BB962C8B-B14F-4D97-AF65-F5344CB8AC3E}">
        <p14:creationId xmlns:p14="http://schemas.microsoft.com/office/powerpoint/2010/main" xmlns="" val="42108855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648" y="989856"/>
            <a:ext cx="7498080" cy="1143000"/>
          </a:xfrm>
        </p:spPr>
        <p:txBody>
          <a:bodyPr>
            <a:normAutofit fontScale="90000"/>
          </a:bodyPr>
          <a:lstStyle/>
          <a:p>
            <a:r>
              <a:rPr kumimoji="1" lang="en-CA" altLang="zh-CN" b="1" dirty="0" smtClean="0"/>
              <a:t>Third Party Relationship Risk</a:t>
            </a:r>
            <a:br>
              <a:rPr kumimoji="1" lang="en-CA" altLang="zh-CN" b="1" dirty="0" smtClean="0"/>
            </a:br>
            <a:endParaRPr lang="en-CA" b="1" dirty="0"/>
          </a:p>
        </p:txBody>
      </p:sp>
      <p:sp>
        <p:nvSpPr>
          <p:cNvPr id="3" name="Content Placeholder 2"/>
          <p:cNvSpPr>
            <a:spLocks noGrp="1"/>
          </p:cNvSpPr>
          <p:nvPr>
            <p:ph idx="1"/>
          </p:nvPr>
        </p:nvSpPr>
        <p:spPr>
          <a:xfrm>
            <a:off x="1403648" y="2057400"/>
            <a:ext cx="7498080" cy="4800600"/>
          </a:xfrm>
        </p:spPr>
        <p:txBody>
          <a:bodyPr/>
          <a:lstStyle/>
          <a:p>
            <a:r>
              <a:rPr kumimoji="1" lang="en-CA" altLang="zh-CN" dirty="0" smtClean="0"/>
              <a:t>There is a risk to Viterra that third-party relationships may fail, resulting in the potential for:</a:t>
            </a:r>
          </a:p>
          <a:p>
            <a:pPr lvl="1"/>
            <a:r>
              <a:rPr kumimoji="1" lang="en-CA" altLang="zh-CN" dirty="0" smtClean="0"/>
              <a:t> Operational disruptions</a:t>
            </a:r>
          </a:p>
          <a:p>
            <a:pPr lvl="1"/>
            <a:r>
              <a:rPr kumimoji="1" lang="en-CA" altLang="zh-CN" dirty="0" smtClean="0"/>
              <a:t>Financial loss</a:t>
            </a:r>
          </a:p>
          <a:p>
            <a:pPr lvl="1"/>
            <a:r>
              <a:rPr kumimoji="1" lang="en-CA" altLang="zh-CN" dirty="0" smtClean="0"/>
              <a:t>Reputation loss</a:t>
            </a:r>
          </a:p>
          <a:p>
            <a:endParaRPr lang="en-CA" dirty="0"/>
          </a:p>
        </p:txBody>
      </p:sp>
    </p:spTree>
    <p:extLst>
      <p:ext uri="{BB962C8B-B14F-4D97-AF65-F5344CB8AC3E}">
        <p14:creationId xmlns:p14="http://schemas.microsoft.com/office/powerpoint/2010/main" xmlns="" val="29127883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1" lang="en-CA" altLang="zh-CN" sz="3500" b="1" dirty="0" smtClean="0"/>
              <a:t>Third Party Relationship Risk (cont’d) </a:t>
            </a:r>
            <a:endParaRPr lang="en-CA" sz="3500" b="1" dirty="0"/>
          </a:p>
        </p:txBody>
      </p:sp>
      <p:sp>
        <p:nvSpPr>
          <p:cNvPr id="3" name="Content Placeholder 2"/>
          <p:cNvSpPr>
            <a:spLocks noGrp="1"/>
          </p:cNvSpPr>
          <p:nvPr>
            <p:ph idx="1"/>
          </p:nvPr>
        </p:nvSpPr>
        <p:spPr>
          <a:xfrm>
            <a:off x="1331640" y="1628800"/>
            <a:ext cx="7498080" cy="4968552"/>
          </a:xfrm>
        </p:spPr>
        <p:txBody>
          <a:bodyPr>
            <a:normAutofit fontScale="92500" lnSpcReduction="10000"/>
          </a:bodyPr>
          <a:lstStyle/>
          <a:p>
            <a:r>
              <a:rPr kumimoji="1" lang="en-CA" altLang="zh-CN" sz="2700" dirty="0" smtClean="0"/>
              <a:t>These third-party relationships include:</a:t>
            </a:r>
          </a:p>
          <a:p>
            <a:pPr>
              <a:buNone/>
            </a:pPr>
            <a:endParaRPr kumimoji="1" lang="en-CA" altLang="zh-CN" sz="2700" dirty="0" smtClean="0"/>
          </a:p>
          <a:p>
            <a:pPr lvl="1"/>
            <a:r>
              <a:rPr kumimoji="1" lang="en-CA" altLang="zh-CN" sz="2500" dirty="0" smtClean="0"/>
              <a:t>Minority equity positions in a number of companies</a:t>
            </a:r>
          </a:p>
          <a:p>
            <a:pPr lvl="1"/>
            <a:r>
              <a:rPr kumimoji="1" lang="en-CA" altLang="zh-CN" sz="2500" dirty="0" smtClean="0"/>
              <a:t>Operational relationships with key customers and suppliers</a:t>
            </a:r>
          </a:p>
          <a:p>
            <a:pPr lvl="1"/>
            <a:r>
              <a:rPr kumimoji="1" lang="en-CA" altLang="zh-CN" sz="2500" dirty="0" smtClean="0"/>
              <a:t>Company’s products to market</a:t>
            </a:r>
          </a:p>
          <a:p>
            <a:pPr lvl="1"/>
            <a:r>
              <a:rPr kumimoji="1" lang="en-CA" altLang="zh-CN" sz="2500" dirty="0" smtClean="0"/>
              <a:t>Banks that lend money to the Company directly and through lending syndicates, act as counterparties and provide banking services</a:t>
            </a:r>
          </a:p>
          <a:p>
            <a:pPr lvl="1"/>
            <a:r>
              <a:rPr kumimoji="1" lang="en-CA" altLang="zh-CN" sz="2500" dirty="0" smtClean="0"/>
              <a:t>Rating agencies such as DBRS Limited, Standard &amp; Poor’s and counterparty relationships with trading partners</a:t>
            </a:r>
          </a:p>
          <a:p>
            <a:pPr lvl="1"/>
            <a:r>
              <a:rPr kumimoji="1" lang="en-CA" altLang="zh-CN" sz="2500" dirty="0" smtClean="0"/>
              <a:t>Futures exchanges</a:t>
            </a:r>
          </a:p>
          <a:p>
            <a:endParaRPr lang="en-CA" dirty="0"/>
          </a:p>
        </p:txBody>
      </p:sp>
    </p:spTree>
    <p:extLst>
      <p:ext uri="{BB962C8B-B14F-4D97-AF65-F5344CB8AC3E}">
        <p14:creationId xmlns:p14="http://schemas.microsoft.com/office/powerpoint/2010/main" xmlns="" val="279423734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4096" y="260648"/>
            <a:ext cx="7772400" cy="749945"/>
          </a:xfrm>
        </p:spPr>
        <p:txBody>
          <a:bodyPr>
            <a:normAutofit/>
          </a:bodyPr>
          <a:lstStyle/>
          <a:p>
            <a:r>
              <a:rPr lang="en-US" altLang="zh-CN" sz="3500" b="1" dirty="0" smtClean="0"/>
              <a:t>Commodity Price and Trading Risk</a:t>
            </a:r>
            <a:endParaRPr lang="zh-CN" altLang="en-US" sz="3500" b="1" dirty="0"/>
          </a:p>
        </p:txBody>
      </p:sp>
      <p:sp>
        <p:nvSpPr>
          <p:cNvPr id="3" name="副标题 2"/>
          <p:cNvSpPr>
            <a:spLocks noGrp="1"/>
          </p:cNvSpPr>
          <p:nvPr>
            <p:ph type="subTitle" idx="1"/>
          </p:nvPr>
        </p:nvSpPr>
        <p:spPr>
          <a:xfrm>
            <a:off x="1331640" y="1412776"/>
            <a:ext cx="7560840" cy="4392488"/>
          </a:xfrm>
        </p:spPr>
        <p:txBody>
          <a:bodyPr>
            <a:noAutofit/>
          </a:bodyPr>
          <a:lstStyle/>
          <a:p>
            <a:pPr marL="285750" indent="-285750" algn="l">
              <a:buFont typeface="Arial" pitchFamily="34" charset="0"/>
              <a:buChar char="•"/>
            </a:pPr>
            <a:r>
              <a:rPr lang="en-US" altLang="zh-CN" sz="2500" dirty="0" smtClean="0">
                <a:solidFill>
                  <a:schemeClr val="tx1"/>
                </a:solidFill>
              </a:rPr>
              <a:t>During </a:t>
            </a:r>
            <a:r>
              <a:rPr lang="en-US" altLang="zh-CN" sz="2500" dirty="0">
                <a:solidFill>
                  <a:schemeClr val="tx1"/>
                </a:solidFill>
              </a:rPr>
              <a:t>the year ended October 31, 2010, management has </a:t>
            </a:r>
            <a:r>
              <a:rPr lang="en-US" altLang="zh-CN" sz="2500" dirty="0" smtClean="0">
                <a:solidFill>
                  <a:schemeClr val="tx1"/>
                </a:solidFill>
              </a:rPr>
              <a:t>implemented an </a:t>
            </a:r>
            <a:r>
              <a:rPr lang="en-US" altLang="zh-CN" sz="2500" dirty="0" smtClean="0">
                <a:solidFill>
                  <a:srgbClr val="FF0000"/>
                </a:solidFill>
              </a:rPr>
              <a:t>updated </a:t>
            </a:r>
            <a:r>
              <a:rPr lang="en-US" altLang="zh-CN" sz="2500" dirty="0">
                <a:solidFill>
                  <a:srgbClr val="FF0000"/>
                </a:solidFill>
              </a:rPr>
              <a:t>Value at Risk (“</a:t>
            </a:r>
            <a:r>
              <a:rPr lang="en-US" altLang="zh-CN" sz="2500" dirty="0" err="1">
                <a:solidFill>
                  <a:srgbClr val="FF0000"/>
                </a:solidFill>
              </a:rPr>
              <a:t>VaR</a:t>
            </a:r>
            <a:r>
              <a:rPr lang="en-US" altLang="zh-CN" sz="2500" dirty="0">
                <a:solidFill>
                  <a:srgbClr val="FF0000"/>
                </a:solidFill>
              </a:rPr>
              <a:t>”) method </a:t>
            </a:r>
            <a:r>
              <a:rPr lang="en-US" altLang="zh-CN" sz="2500" dirty="0" smtClean="0">
                <a:solidFill>
                  <a:schemeClr val="tx1"/>
                </a:solidFill>
              </a:rPr>
              <a:t>to </a:t>
            </a:r>
            <a:r>
              <a:rPr lang="en-US" altLang="zh-CN" sz="2500" dirty="0">
                <a:solidFill>
                  <a:schemeClr val="tx1"/>
                </a:solidFill>
              </a:rPr>
              <a:t>standardize the </a:t>
            </a:r>
            <a:r>
              <a:rPr lang="en-US" altLang="zh-CN" sz="2500" dirty="0" smtClean="0">
                <a:solidFill>
                  <a:schemeClr val="tx1"/>
                </a:solidFill>
              </a:rPr>
              <a:t>risk assessment </a:t>
            </a:r>
            <a:r>
              <a:rPr lang="en-US" altLang="zh-CN" sz="2500" dirty="0">
                <a:solidFill>
                  <a:schemeClr val="tx1"/>
                </a:solidFill>
              </a:rPr>
              <a:t>globally</a:t>
            </a:r>
            <a:r>
              <a:rPr lang="en-US" altLang="zh-CN" sz="2500" dirty="0" smtClean="0">
                <a:solidFill>
                  <a:schemeClr val="tx1"/>
                </a:solidFill>
              </a:rPr>
              <a:t>.</a:t>
            </a:r>
            <a:br>
              <a:rPr lang="en-US" altLang="zh-CN" sz="2500" dirty="0" smtClean="0">
                <a:solidFill>
                  <a:schemeClr val="tx1"/>
                </a:solidFill>
              </a:rPr>
            </a:br>
            <a:endParaRPr lang="en-US" altLang="zh-CN" sz="2500" dirty="0" smtClean="0">
              <a:solidFill>
                <a:schemeClr val="tx1"/>
              </a:solidFill>
            </a:endParaRPr>
          </a:p>
          <a:p>
            <a:pPr marL="285750" indent="-285750" algn="l">
              <a:buFont typeface="Arial" pitchFamily="34" charset="0"/>
              <a:buChar char="•"/>
            </a:pPr>
            <a:r>
              <a:rPr lang="en-US" altLang="zh-CN" sz="2500" dirty="0" smtClean="0">
                <a:solidFill>
                  <a:schemeClr val="tx1"/>
                </a:solidFill>
              </a:rPr>
              <a:t>To limit the </a:t>
            </a:r>
            <a:r>
              <a:rPr lang="en-US" altLang="zh-CN" sz="2500" dirty="0">
                <a:solidFill>
                  <a:schemeClr val="tx1"/>
                </a:solidFill>
              </a:rPr>
              <a:t>amount of agricultural commodity positions </a:t>
            </a:r>
            <a:r>
              <a:rPr lang="en-US" altLang="zh-CN" sz="2500" dirty="0" smtClean="0">
                <a:solidFill>
                  <a:schemeClr val="tx1"/>
                </a:solidFill>
              </a:rPr>
              <a:t>permissible (combination </a:t>
            </a:r>
            <a:r>
              <a:rPr lang="en-US" altLang="zh-CN" sz="2500" dirty="0">
                <a:solidFill>
                  <a:schemeClr val="tx1"/>
                </a:solidFill>
              </a:rPr>
              <a:t>of quantity and </a:t>
            </a:r>
            <a:r>
              <a:rPr lang="en-US" altLang="zh-CN" sz="2500" dirty="0" err="1">
                <a:solidFill>
                  <a:schemeClr val="tx1"/>
                </a:solidFill>
              </a:rPr>
              <a:t>VaR</a:t>
            </a:r>
            <a:r>
              <a:rPr lang="en-US" altLang="zh-CN" sz="2500" dirty="0">
                <a:solidFill>
                  <a:schemeClr val="tx1"/>
                </a:solidFill>
              </a:rPr>
              <a:t> </a:t>
            </a:r>
            <a:r>
              <a:rPr lang="en-US" altLang="zh-CN" sz="2500" dirty="0" smtClean="0">
                <a:solidFill>
                  <a:schemeClr val="tx1"/>
                </a:solidFill>
              </a:rPr>
              <a:t>limits)</a:t>
            </a:r>
            <a:br>
              <a:rPr lang="en-US" altLang="zh-CN" sz="2500" dirty="0" smtClean="0">
                <a:solidFill>
                  <a:schemeClr val="tx1"/>
                </a:solidFill>
              </a:rPr>
            </a:br>
            <a:endParaRPr lang="en-US" altLang="zh-CN" sz="2500" dirty="0" smtClean="0">
              <a:solidFill>
                <a:schemeClr val="tx1"/>
              </a:solidFill>
            </a:endParaRPr>
          </a:p>
          <a:p>
            <a:pPr marL="285750" indent="-285750" algn="l">
              <a:buFont typeface="Arial" pitchFamily="34" charset="0"/>
              <a:buChar char="•"/>
            </a:pPr>
            <a:r>
              <a:rPr lang="en-US" altLang="zh-CN" sz="2500" dirty="0" err="1">
                <a:solidFill>
                  <a:srgbClr val="FF0000"/>
                </a:solidFill>
              </a:rPr>
              <a:t>VaR</a:t>
            </a:r>
            <a:r>
              <a:rPr lang="en-US" altLang="zh-CN" sz="2500" dirty="0">
                <a:solidFill>
                  <a:srgbClr val="FF0000"/>
                </a:solidFill>
              </a:rPr>
              <a:t> </a:t>
            </a:r>
            <a:r>
              <a:rPr lang="en-US" altLang="zh-CN" sz="2500" dirty="0" smtClean="0">
                <a:solidFill>
                  <a:srgbClr val="FF0000"/>
                </a:solidFill>
              </a:rPr>
              <a:t>levels: </a:t>
            </a:r>
            <a:r>
              <a:rPr lang="en-US" altLang="zh-CN" sz="2500" dirty="0" smtClean="0">
                <a:solidFill>
                  <a:schemeClr val="tx1"/>
                </a:solidFill>
              </a:rPr>
              <a:t>reported daily </a:t>
            </a:r>
            <a:r>
              <a:rPr lang="en-US" altLang="zh-CN" sz="2500" dirty="0">
                <a:solidFill>
                  <a:schemeClr val="tx1"/>
                </a:solidFill>
              </a:rPr>
              <a:t>and compared with approved limits. </a:t>
            </a:r>
            <a:endParaRPr lang="en-US" altLang="zh-CN" sz="2500" dirty="0" smtClean="0">
              <a:solidFill>
                <a:schemeClr val="tx1"/>
              </a:solidFill>
            </a:endParaRPr>
          </a:p>
        </p:txBody>
      </p:sp>
    </p:spTree>
    <p:extLst>
      <p:ext uri="{BB962C8B-B14F-4D97-AF65-F5344CB8AC3E}">
        <p14:creationId xmlns:p14="http://schemas.microsoft.com/office/powerpoint/2010/main" xmlns="" val="7494588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4096" y="260648"/>
            <a:ext cx="7772400" cy="749945"/>
          </a:xfrm>
        </p:spPr>
        <p:txBody>
          <a:bodyPr>
            <a:normAutofit/>
          </a:bodyPr>
          <a:lstStyle/>
          <a:p>
            <a:r>
              <a:rPr lang="en-US" altLang="zh-CN" sz="3500" b="1" dirty="0" smtClean="0"/>
              <a:t>Commodity Price and Trading Risk</a:t>
            </a:r>
            <a:endParaRPr lang="zh-CN" altLang="en-US" sz="3500" b="1" dirty="0"/>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2276872"/>
            <a:ext cx="7596336" cy="15976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027329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31640" y="188640"/>
            <a:ext cx="7772400" cy="1008112"/>
          </a:xfrm>
        </p:spPr>
        <p:txBody>
          <a:bodyPr>
            <a:normAutofit/>
          </a:bodyPr>
          <a:lstStyle/>
          <a:p>
            <a:r>
              <a:rPr lang="en-US" altLang="zh-CN" sz="3800" b="1" dirty="0"/>
              <a:t>Sovereign and Political Risk</a:t>
            </a:r>
            <a:endParaRPr lang="zh-CN" altLang="en-US" sz="3800" b="1" dirty="0"/>
          </a:p>
        </p:txBody>
      </p:sp>
      <p:sp>
        <p:nvSpPr>
          <p:cNvPr id="3" name="副标题 2"/>
          <p:cNvSpPr>
            <a:spLocks noGrp="1"/>
          </p:cNvSpPr>
          <p:nvPr>
            <p:ph type="subTitle" idx="1"/>
          </p:nvPr>
        </p:nvSpPr>
        <p:spPr>
          <a:xfrm>
            <a:off x="1403648" y="1340768"/>
            <a:ext cx="7416824" cy="3721968"/>
          </a:xfrm>
        </p:spPr>
        <p:txBody>
          <a:bodyPr>
            <a:noAutofit/>
          </a:bodyPr>
          <a:lstStyle/>
          <a:p>
            <a:pPr marL="285750" indent="-285750" algn="l">
              <a:buFont typeface="Arial" pitchFamily="34" charset="0"/>
              <a:buChar char="•"/>
            </a:pPr>
            <a:r>
              <a:rPr lang="en-US" altLang="zh-CN" sz="2500" dirty="0">
                <a:solidFill>
                  <a:schemeClr val="tx1"/>
                </a:solidFill>
              </a:rPr>
              <a:t>Both of these factors affect </a:t>
            </a:r>
            <a:r>
              <a:rPr lang="en-US" altLang="zh-CN" sz="2500" dirty="0">
                <a:solidFill>
                  <a:srgbClr val="FF0000"/>
                </a:solidFill>
              </a:rPr>
              <a:t>export levels </a:t>
            </a:r>
            <a:r>
              <a:rPr lang="en-US" altLang="zh-CN" sz="2500" dirty="0" smtClean="0">
                <a:solidFill>
                  <a:srgbClr val="FF0000"/>
                </a:solidFill>
              </a:rPr>
              <a:t>of Board </a:t>
            </a:r>
            <a:r>
              <a:rPr lang="en-US" altLang="zh-CN" sz="2500" dirty="0">
                <a:solidFill>
                  <a:srgbClr val="FF0000"/>
                </a:solidFill>
              </a:rPr>
              <a:t>grains and open market grains and oilseeds</a:t>
            </a:r>
            <a:r>
              <a:rPr lang="en-US" altLang="zh-CN" sz="2500" dirty="0">
                <a:solidFill>
                  <a:schemeClr val="tx1"/>
                </a:solidFill>
              </a:rPr>
              <a:t>, which in </a:t>
            </a:r>
            <a:r>
              <a:rPr lang="en-US" altLang="zh-CN" sz="2500" dirty="0" smtClean="0">
                <a:solidFill>
                  <a:schemeClr val="tx1"/>
                </a:solidFill>
              </a:rPr>
              <a:t>turn affect </a:t>
            </a:r>
            <a:r>
              <a:rPr lang="en-US" altLang="zh-CN" sz="2500" dirty="0">
                <a:solidFill>
                  <a:schemeClr val="tx1"/>
                </a:solidFill>
              </a:rPr>
              <a:t>the Company’s handling volumes and can have a </a:t>
            </a:r>
            <a:r>
              <a:rPr lang="en-US" altLang="zh-CN" sz="2500" dirty="0" smtClean="0">
                <a:solidFill>
                  <a:schemeClr val="tx1"/>
                </a:solidFill>
              </a:rPr>
              <a:t>material adverse </a:t>
            </a:r>
            <a:r>
              <a:rPr lang="en-US" altLang="zh-CN" sz="2500" dirty="0">
                <a:solidFill>
                  <a:schemeClr val="tx1"/>
                </a:solidFill>
              </a:rPr>
              <a:t>effect on the Company’s financial results, business </a:t>
            </a:r>
            <a:r>
              <a:rPr lang="en-US" altLang="zh-CN" sz="2500" dirty="0" smtClean="0">
                <a:solidFill>
                  <a:schemeClr val="tx1"/>
                </a:solidFill>
              </a:rPr>
              <a:t>prospects and </a:t>
            </a:r>
            <a:r>
              <a:rPr lang="en-US" altLang="zh-CN" sz="2500" dirty="0">
                <a:solidFill>
                  <a:schemeClr val="tx1"/>
                </a:solidFill>
              </a:rPr>
              <a:t>financial condition</a:t>
            </a:r>
            <a:r>
              <a:rPr lang="en-US" altLang="zh-CN" sz="2500" dirty="0" smtClean="0">
                <a:solidFill>
                  <a:schemeClr val="tx1"/>
                </a:solidFill>
              </a:rPr>
              <a:t>.</a:t>
            </a:r>
          </a:p>
          <a:p>
            <a:pPr marL="285750" indent="-285750" algn="l">
              <a:buFont typeface="Arial" pitchFamily="34" charset="0"/>
              <a:buChar char="•"/>
            </a:pPr>
            <a:endParaRPr lang="en-US" altLang="zh-CN" sz="2500" dirty="0" smtClean="0">
              <a:solidFill>
                <a:schemeClr val="tx1"/>
              </a:solidFill>
            </a:endParaRPr>
          </a:p>
          <a:p>
            <a:pPr marL="285750" indent="-285750" algn="l">
              <a:buFont typeface="Arial" pitchFamily="34" charset="0"/>
              <a:buChar char="•"/>
            </a:pPr>
            <a:r>
              <a:rPr lang="en-US" altLang="zh-CN" sz="2500" dirty="0" smtClean="0">
                <a:solidFill>
                  <a:schemeClr val="tx1"/>
                </a:solidFill>
              </a:rPr>
              <a:t>International agricultural trade is affected by high levels of domestic support and global export subsidies, especially by the U.S. and the EU.</a:t>
            </a:r>
          </a:p>
        </p:txBody>
      </p:sp>
    </p:spTree>
    <p:extLst>
      <p:ext uri="{BB962C8B-B14F-4D97-AF65-F5344CB8AC3E}">
        <p14:creationId xmlns:p14="http://schemas.microsoft.com/office/powerpoint/2010/main" xmlns="" val="279686892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4096" y="1094879"/>
            <a:ext cx="7772400" cy="821953"/>
          </a:xfrm>
        </p:spPr>
        <p:txBody>
          <a:bodyPr>
            <a:normAutofit/>
          </a:bodyPr>
          <a:lstStyle/>
          <a:p>
            <a:r>
              <a:rPr lang="en-US" altLang="zh-CN" sz="3500" b="1" dirty="0"/>
              <a:t>Sovereign and Political </a:t>
            </a:r>
            <a:r>
              <a:rPr lang="en-US" altLang="zh-CN" sz="3500" b="1" dirty="0" smtClean="0"/>
              <a:t>Risk (cont’d)</a:t>
            </a:r>
            <a:endParaRPr lang="zh-CN" altLang="en-US" sz="3500" b="1" dirty="0"/>
          </a:p>
        </p:txBody>
      </p:sp>
      <p:sp>
        <p:nvSpPr>
          <p:cNvPr id="3" name="副标题 2"/>
          <p:cNvSpPr>
            <a:spLocks noGrp="1"/>
          </p:cNvSpPr>
          <p:nvPr>
            <p:ph type="subTitle" idx="1"/>
          </p:nvPr>
        </p:nvSpPr>
        <p:spPr>
          <a:xfrm>
            <a:off x="1475656" y="2132856"/>
            <a:ext cx="7128792" cy="3721968"/>
          </a:xfrm>
        </p:spPr>
        <p:txBody>
          <a:bodyPr>
            <a:normAutofit/>
          </a:bodyPr>
          <a:lstStyle/>
          <a:p>
            <a:pPr marL="285750" indent="-285750" algn="l">
              <a:buFont typeface="Arial" pitchFamily="34" charset="0"/>
              <a:buChar char="•"/>
            </a:pPr>
            <a:r>
              <a:rPr lang="en-US" altLang="zh-CN" sz="2500" dirty="0" smtClean="0">
                <a:solidFill>
                  <a:schemeClr val="tx1"/>
                </a:solidFill>
              </a:rPr>
              <a:t>In addition, the Company’s foreign operations may be subject to the risks normally associated with the </a:t>
            </a:r>
            <a:r>
              <a:rPr lang="en-US" altLang="zh-CN" sz="2500" dirty="0" smtClean="0">
                <a:solidFill>
                  <a:srgbClr val="FF0000"/>
                </a:solidFill>
              </a:rPr>
              <a:t>conduct of business in certain foreign countries</a:t>
            </a:r>
            <a:r>
              <a:rPr lang="en-US" altLang="zh-CN" sz="2500" dirty="0" smtClean="0">
                <a:solidFill>
                  <a:schemeClr val="tx1"/>
                </a:solidFill>
              </a:rPr>
              <a:t>.</a:t>
            </a:r>
          </a:p>
          <a:p>
            <a:pPr algn="l"/>
            <a:endParaRPr lang="en-US" altLang="zh-CN" sz="2500" dirty="0" smtClean="0">
              <a:solidFill>
                <a:schemeClr val="tx1"/>
              </a:solidFill>
            </a:endParaRPr>
          </a:p>
          <a:p>
            <a:pPr marL="285750" indent="-285750" algn="l">
              <a:buFont typeface="Arial" pitchFamily="34" charset="0"/>
              <a:buChar char="•"/>
            </a:pPr>
            <a:r>
              <a:rPr lang="en-US" altLang="zh-CN" sz="2500" dirty="0" smtClean="0">
                <a:solidFill>
                  <a:schemeClr val="tx1"/>
                </a:solidFill>
              </a:rPr>
              <a:t>The occurrence of one or more of these risks may have a material adverse effect on the Company’s financial results, business prospects and financial condition.</a:t>
            </a:r>
            <a:endParaRPr lang="zh-CN" altLang="en-US" sz="2500" dirty="0">
              <a:solidFill>
                <a:schemeClr val="tx1"/>
              </a:solidFill>
            </a:endParaRPr>
          </a:p>
        </p:txBody>
      </p:sp>
    </p:spTree>
    <p:extLst>
      <p:ext uri="{BB962C8B-B14F-4D97-AF65-F5344CB8AC3E}">
        <p14:creationId xmlns:p14="http://schemas.microsoft.com/office/powerpoint/2010/main" xmlns="" val="323711613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36104" y="806847"/>
            <a:ext cx="7772400" cy="1109985"/>
          </a:xfrm>
        </p:spPr>
        <p:txBody>
          <a:bodyPr/>
          <a:lstStyle/>
          <a:p>
            <a:r>
              <a:rPr lang="en-US" altLang="zh-CN" b="1" dirty="0"/>
              <a:t>Liquidity Risk</a:t>
            </a:r>
            <a:endParaRPr lang="zh-CN" altLang="en-US" b="1" dirty="0"/>
          </a:p>
        </p:txBody>
      </p:sp>
      <p:sp>
        <p:nvSpPr>
          <p:cNvPr id="3" name="副标题 2"/>
          <p:cNvSpPr>
            <a:spLocks noGrp="1"/>
          </p:cNvSpPr>
          <p:nvPr>
            <p:ph type="subTitle" idx="1"/>
          </p:nvPr>
        </p:nvSpPr>
        <p:spPr>
          <a:xfrm>
            <a:off x="1371600" y="1988840"/>
            <a:ext cx="7376864" cy="3649960"/>
          </a:xfrm>
        </p:spPr>
        <p:txBody>
          <a:bodyPr>
            <a:noAutofit/>
          </a:bodyPr>
          <a:lstStyle/>
          <a:p>
            <a:pPr marL="285750" indent="-285750" algn="l">
              <a:buFont typeface="Arial" pitchFamily="34" charset="0"/>
              <a:buChar char="•"/>
            </a:pPr>
            <a:endParaRPr lang="en-US" altLang="zh-CN" sz="2500" dirty="0" smtClean="0">
              <a:solidFill>
                <a:schemeClr val="tx1"/>
              </a:solidFill>
            </a:endParaRPr>
          </a:p>
          <a:p>
            <a:pPr marL="285750" indent="-285750" algn="l">
              <a:buFont typeface="Arial" pitchFamily="34" charset="0"/>
              <a:buChar char="•"/>
            </a:pPr>
            <a:r>
              <a:rPr lang="en-US" altLang="zh-CN" sz="2500" dirty="0" smtClean="0">
                <a:solidFill>
                  <a:schemeClr val="tx1"/>
                </a:solidFill>
              </a:rPr>
              <a:t>The </a:t>
            </a:r>
            <a:r>
              <a:rPr lang="en-US" altLang="zh-CN" sz="2500" dirty="0">
                <a:solidFill>
                  <a:schemeClr val="tx1"/>
                </a:solidFill>
              </a:rPr>
              <a:t>Company’s liquidity risk refers to </a:t>
            </a:r>
            <a:r>
              <a:rPr lang="en-US" altLang="zh-CN" sz="2500" dirty="0">
                <a:solidFill>
                  <a:srgbClr val="FF0000"/>
                </a:solidFill>
              </a:rPr>
              <a:t>its ability to settle or </a:t>
            </a:r>
            <a:r>
              <a:rPr lang="en-US" altLang="zh-CN" sz="2500" dirty="0" smtClean="0">
                <a:solidFill>
                  <a:srgbClr val="FF0000"/>
                </a:solidFill>
              </a:rPr>
              <a:t>meet its </a:t>
            </a:r>
            <a:r>
              <a:rPr lang="en-US" altLang="zh-CN" sz="2500" dirty="0">
                <a:solidFill>
                  <a:srgbClr val="FF0000"/>
                </a:solidFill>
              </a:rPr>
              <a:t>obligations as they fall due</a:t>
            </a:r>
            <a:r>
              <a:rPr lang="en-US" altLang="zh-CN" sz="2500" dirty="0" smtClean="0">
                <a:solidFill>
                  <a:srgbClr val="FF0000"/>
                </a:solidFill>
              </a:rPr>
              <a:t>.</a:t>
            </a:r>
          </a:p>
          <a:p>
            <a:pPr algn="l"/>
            <a:endParaRPr lang="en-US" altLang="zh-CN" sz="2500" dirty="0" smtClean="0">
              <a:solidFill>
                <a:srgbClr val="FF0000"/>
              </a:solidFill>
            </a:endParaRPr>
          </a:p>
          <a:p>
            <a:pPr marL="285750" indent="-285750" algn="l">
              <a:buFont typeface="Arial" pitchFamily="34" charset="0"/>
              <a:buChar char="•"/>
            </a:pPr>
            <a:r>
              <a:rPr lang="en-US" altLang="zh-CN" sz="2500" dirty="0" smtClean="0">
                <a:solidFill>
                  <a:schemeClr val="tx1"/>
                </a:solidFill>
              </a:rPr>
              <a:t>The Company actively </a:t>
            </a:r>
            <a:r>
              <a:rPr lang="en-US" altLang="zh-CN" sz="2500" dirty="0" smtClean="0">
                <a:solidFill>
                  <a:srgbClr val="FF0000"/>
                </a:solidFill>
              </a:rPr>
              <a:t>maintains credit facilities </a:t>
            </a:r>
            <a:r>
              <a:rPr lang="en-US" altLang="zh-CN" sz="2500" dirty="0" smtClean="0">
                <a:solidFill>
                  <a:schemeClr val="tx1"/>
                </a:solidFill>
              </a:rPr>
              <a:t>to ensure it has sufficient available funds to meet current and foreseeable financial requirements.</a:t>
            </a:r>
            <a:endParaRPr lang="zh-CN" altLang="en-US" sz="2500" dirty="0">
              <a:solidFill>
                <a:schemeClr val="tx1"/>
              </a:solidFill>
            </a:endParaRPr>
          </a:p>
        </p:txBody>
      </p:sp>
    </p:spTree>
    <p:extLst>
      <p:ext uri="{BB962C8B-B14F-4D97-AF65-F5344CB8AC3E}">
        <p14:creationId xmlns:p14="http://schemas.microsoft.com/office/powerpoint/2010/main" xmlns="" val="158019038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4096" y="404664"/>
            <a:ext cx="7772400" cy="677937"/>
          </a:xfrm>
        </p:spPr>
        <p:txBody>
          <a:bodyPr>
            <a:normAutofit fontScale="90000"/>
          </a:bodyPr>
          <a:lstStyle/>
          <a:p>
            <a:r>
              <a:rPr lang="en-US" altLang="zh-CN" b="1" dirty="0"/>
              <a:t>Capital Market Risk</a:t>
            </a:r>
            <a:endParaRPr lang="zh-CN" altLang="en-US" b="1" dirty="0"/>
          </a:p>
        </p:txBody>
      </p:sp>
      <p:sp>
        <p:nvSpPr>
          <p:cNvPr id="3" name="副标题 2"/>
          <p:cNvSpPr>
            <a:spLocks noGrp="1"/>
          </p:cNvSpPr>
          <p:nvPr>
            <p:ph type="subTitle" idx="1"/>
          </p:nvPr>
        </p:nvSpPr>
        <p:spPr>
          <a:xfrm>
            <a:off x="1115616" y="1412776"/>
            <a:ext cx="7520880" cy="3505944"/>
          </a:xfrm>
        </p:spPr>
        <p:txBody>
          <a:bodyPr>
            <a:noAutofit/>
          </a:bodyPr>
          <a:lstStyle/>
          <a:p>
            <a:pPr marL="285750" indent="-285750" algn="l">
              <a:buFont typeface="Arial" pitchFamily="34" charset="0"/>
              <a:buChar char="•"/>
            </a:pPr>
            <a:r>
              <a:rPr lang="en-US" altLang="zh-CN" sz="2500" dirty="0">
                <a:solidFill>
                  <a:schemeClr val="tx1"/>
                </a:solidFill>
              </a:rPr>
              <a:t>General economic and business conditions that impact global </a:t>
            </a:r>
            <a:r>
              <a:rPr lang="en-US" altLang="zh-CN" sz="2500" dirty="0" smtClean="0">
                <a:solidFill>
                  <a:schemeClr val="tx1"/>
                </a:solidFill>
              </a:rPr>
              <a:t>debt or </a:t>
            </a:r>
            <a:r>
              <a:rPr lang="en-US" altLang="zh-CN" sz="2500" dirty="0">
                <a:solidFill>
                  <a:schemeClr val="tx1"/>
                </a:solidFill>
              </a:rPr>
              <a:t>equity markets can impact the availability of credit and the cost </a:t>
            </a:r>
            <a:r>
              <a:rPr lang="en-US" altLang="zh-CN" sz="2500" dirty="0" smtClean="0">
                <a:solidFill>
                  <a:schemeClr val="tx1"/>
                </a:solidFill>
              </a:rPr>
              <a:t>of credit </a:t>
            </a:r>
            <a:r>
              <a:rPr lang="en-US" altLang="zh-CN" sz="2500" dirty="0">
                <a:solidFill>
                  <a:schemeClr val="tx1"/>
                </a:solidFill>
              </a:rPr>
              <a:t>for the Company. This capital market risk could have a </a:t>
            </a:r>
            <a:r>
              <a:rPr lang="en-US" altLang="zh-CN" sz="2500" dirty="0" smtClean="0">
                <a:solidFill>
                  <a:schemeClr val="tx1"/>
                </a:solidFill>
              </a:rPr>
              <a:t>material adverse </a:t>
            </a:r>
            <a:r>
              <a:rPr lang="en-US" altLang="zh-CN" sz="2500" dirty="0">
                <a:solidFill>
                  <a:schemeClr val="tx1"/>
                </a:solidFill>
              </a:rPr>
              <a:t>effect on the Company’s financial results, business </a:t>
            </a:r>
            <a:r>
              <a:rPr lang="en-US" altLang="zh-CN" sz="2500" dirty="0" smtClean="0">
                <a:solidFill>
                  <a:schemeClr val="tx1"/>
                </a:solidFill>
              </a:rPr>
              <a:t>prospects and </a:t>
            </a:r>
            <a:r>
              <a:rPr lang="en-US" altLang="zh-CN" sz="2500" dirty="0">
                <a:solidFill>
                  <a:schemeClr val="tx1"/>
                </a:solidFill>
              </a:rPr>
              <a:t>financial condition</a:t>
            </a:r>
            <a:r>
              <a:rPr lang="en-US" altLang="zh-CN" sz="2500" dirty="0" smtClean="0">
                <a:solidFill>
                  <a:schemeClr val="tx1"/>
                </a:solidFill>
              </a:rPr>
              <a:t>.</a:t>
            </a:r>
          </a:p>
          <a:p>
            <a:pPr algn="l"/>
            <a:endParaRPr lang="en-US" altLang="zh-CN" sz="2500" dirty="0">
              <a:solidFill>
                <a:schemeClr val="tx1"/>
              </a:solidFill>
            </a:endParaRPr>
          </a:p>
          <a:p>
            <a:pPr marL="285750" indent="-285750" algn="l">
              <a:buFont typeface="Arial" pitchFamily="34" charset="0"/>
              <a:buChar char="•"/>
            </a:pPr>
            <a:r>
              <a:rPr lang="en-US" altLang="zh-CN" sz="2500" dirty="0">
                <a:solidFill>
                  <a:schemeClr val="tx1"/>
                </a:solidFill>
              </a:rPr>
              <a:t>M</a:t>
            </a:r>
            <a:r>
              <a:rPr lang="en-US" altLang="zh-CN" sz="2500" dirty="0" smtClean="0">
                <a:solidFill>
                  <a:schemeClr val="tx1"/>
                </a:solidFill>
              </a:rPr>
              <a:t>itigates </a:t>
            </a:r>
            <a:r>
              <a:rPr lang="en-US" altLang="zh-CN" sz="2500" dirty="0">
                <a:solidFill>
                  <a:schemeClr val="tx1"/>
                </a:solidFill>
              </a:rPr>
              <a:t>this risk by </a:t>
            </a:r>
            <a:r>
              <a:rPr lang="en-US" altLang="zh-CN" sz="2500" dirty="0">
                <a:solidFill>
                  <a:srgbClr val="FF0000"/>
                </a:solidFill>
              </a:rPr>
              <a:t>establishing </a:t>
            </a:r>
            <a:r>
              <a:rPr lang="en-US" altLang="zh-CN" sz="2500" dirty="0" smtClean="0">
                <a:solidFill>
                  <a:srgbClr val="FF0000"/>
                </a:solidFill>
              </a:rPr>
              <a:t>long-term relationships </a:t>
            </a:r>
            <a:r>
              <a:rPr lang="en-US" altLang="zh-CN" sz="2500" dirty="0">
                <a:solidFill>
                  <a:srgbClr val="FF0000"/>
                </a:solidFill>
              </a:rPr>
              <a:t>with banks and capital market participants, </a:t>
            </a:r>
            <a:r>
              <a:rPr lang="en-US" altLang="zh-CN" sz="2500" dirty="0" smtClean="0">
                <a:solidFill>
                  <a:schemeClr val="tx1"/>
                </a:solidFill>
              </a:rPr>
              <a:t>maintaining the </a:t>
            </a:r>
            <a:r>
              <a:rPr lang="en-US" altLang="zh-CN" sz="2500" dirty="0">
                <a:solidFill>
                  <a:schemeClr val="tx1"/>
                </a:solidFill>
              </a:rPr>
              <a:t>Company’s debt at prudent levels and by diversifying the </a:t>
            </a:r>
            <a:r>
              <a:rPr lang="en-US" altLang="zh-CN" sz="2500" dirty="0" smtClean="0">
                <a:solidFill>
                  <a:schemeClr val="tx1"/>
                </a:solidFill>
              </a:rPr>
              <a:t>source and </a:t>
            </a:r>
            <a:r>
              <a:rPr lang="en-US" altLang="zh-CN" sz="2500" dirty="0">
                <a:solidFill>
                  <a:schemeClr val="tx1"/>
                </a:solidFill>
              </a:rPr>
              <a:t>maturity dates of its capital.</a:t>
            </a:r>
            <a:endParaRPr lang="zh-CN" altLang="en-US" sz="2500" dirty="0">
              <a:solidFill>
                <a:schemeClr val="tx1"/>
              </a:solidFill>
            </a:endParaRPr>
          </a:p>
        </p:txBody>
      </p:sp>
    </p:spTree>
    <p:extLst>
      <p:ext uri="{BB962C8B-B14F-4D97-AF65-F5344CB8AC3E}">
        <p14:creationId xmlns:p14="http://schemas.microsoft.com/office/powerpoint/2010/main" xmlns="" val="97297011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smtClean="0"/>
              <a:t>Credit Risk </a:t>
            </a:r>
            <a:endParaRPr lang="en-CA" b="1" dirty="0"/>
          </a:p>
        </p:txBody>
      </p:sp>
      <p:sp>
        <p:nvSpPr>
          <p:cNvPr id="3" name="Content Placeholder 2"/>
          <p:cNvSpPr>
            <a:spLocks noGrp="1"/>
          </p:cNvSpPr>
          <p:nvPr>
            <p:ph idx="1"/>
          </p:nvPr>
        </p:nvSpPr>
        <p:spPr/>
        <p:txBody>
          <a:bodyPr>
            <a:normAutofit fontScale="85000" lnSpcReduction="20000"/>
          </a:bodyPr>
          <a:lstStyle/>
          <a:p>
            <a:r>
              <a:rPr kumimoji="1" lang="en-US" altLang="zh-CN" dirty="0" smtClean="0"/>
              <a:t>The Company is exposed to credit risk in respect of its trade receivables: </a:t>
            </a:r>
            <a:br>
              <a:rPr kumimoji="1" lang="en-US" altLang="zh-CN" dirty="0" smtClean="0"/>
            </a:br>
            <a:endParaRPr kumimoji="1" lang="en-US" altLang="zh-CN" dirty="0" smtClean="0"/>
          </a:p>
          <a:p>
            <a:r>
              <a:rPr kumimoji="1" lang="en-US" altLang="zh-CN" dirty="0" smtClean="0"/>
              <a:t>The company mitigate this risk by: </a:t>
            </a:r>
          </a:p>
          <a:p>
            <a:pPr lvl="1"/>
            <a:r>
              <a:rPr kumimoji="1" lang="en-US" altLang="zh-CN" dirty="0" smtClean="0"/>
              <a:t>Monitoring of credit balances</a:t>
            </a:r>
          </a:p>
          <a:p>
            <a:pPr lvl="1"/>
            <a:r>
              <a:rPr kumimoji="1" lang="en-US" altLang="zh-CN" dirty="0" smtClean="0"/>
              <a:t>Ongoing credit reviews of all significant contracts </a:t>
            </a:r>
          </a:p>
          <a:p>
            <a:pPr lvl="1"/>
            <a:r>
              <a:rPr kumimoji="1" lang="en-US" altLang="zh-CN" dirty="0" smtClean="0"/>
              <a:t>Analysis of payment and loss history</a:t>
            </a:r>
          </a:p>
          <a:p>
            <a:endParaRPr kumimoji="1" lang="en-US" altLang="zh-CN" dirty="0" smtClean="0"/>
          </a:p>
          <a:p>
            <a:r>
              <a:rPr kumimoji="1" lang="en-US" altLang="zh-CN" dirty="0" smtClean="0"/>
              <a:t>Customers that fail to meet specified credit requirements may transact with the Company on a prepayment basis or provide another form of credit support, such as letters of credit, approved by the Company.</a:t>
            </a:r>
          </a:p>
          <a:p>
            <a:endParaRPr lang="en-CA" dirty="0"/>
          </a:p>
        </p:txBody>
      </p:sp>
    </p:spTree>
    <p:extLst>
      <p:ext uri="{BB962C8B-B14F-4D97-AF65-F5344CB8AC3E}">
        <p14:creationId xmlns:p14="http://schemas.microsoft.com/office/powerpoint/2010/main" xmlns="" val="256936136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sz="4400" b="1" dirty="0" smtClean="0"/>
              <a:t>Foreign Exchange Risk</a:t>
            </a:r>
            <a:endParaRPr lang="en-CA" b="1" dirty="0"/>
          </a:p>
        </p:txBody>
      </p:sp>
      <p:sp>
        <p:nvSpPr>
          <p:cNvPr id="3" name="Content Placeholder 2"/>
          <p:cNvSpPr>
            <a:spLocks noGrp="1"/>
          </p:cNvSpPr>
          <p:nvPr>
            <p:ph idx="1"/>
          </p:nvPr>
        </p:nvSpPr>
        <p:spPr>
          <a:xfrm>
            <a:off x="1435608" y="1447800"/>
            <a:ext cx="7498080" cy="5149552"/>
          </a:xfrm>
        </p:spPr>
        <p:txBody>
          <a:bodyPr>
            <a:normAutofit lnSpcReduction="10000"/>
          </a:bodyPr>
          <a:lstStyle/>
          <a:p>
            <a:r>
              <a:rPr kumimoji="1" lang="en-US" altLang="zh-CN" sz="2200" dirty="0" smtClean="0"/>
              <a:t>Exposed to foreign exchange risk on commodity contracts which are denominated in foreign currencies, and on its investment in foreign subsidiaries.</a:t>
            </a:r>
            <a:br>
              <a:rPr kumimoji="1" lang="en-US" altLang="zh-CN" sz="2200" dirty="0" smtClean="0"/>
            </a:br>
            <a:endParaRPr kumimoji="1" lang="en-US" altLang="zh-CN" sz="2200" dirty="0" smtClean="0"/>
          </a:p>
          <a:p>
            <a:r>
              <a:rPr kumimoji="1" lang="en-US" altLang="zh-CN" sz="2200" dirty="0" smtClean="0"/>
              <a:t>Uses </a:t>
            </a:r>
            <a:r>
              <a:rPr kumimoji="1" lang="en-US" altLang="zh-CN" sz="2200" dirty="0" smtClean="0">
                <a:solidFill>
                  <a:srgbClr val="FF0000"/>
                </a:solidFill>
              </a:rPr>
              <a:t>derivative financial instruments  </a:t>
            </a:r>
            <a:r>
              <a:rPr kumimoji="1" lang="en-US" altLang="zh-CN" sz="2200" dirty="0" smtClean="0"/>
              <a:t>to limit exposures to changes in foreign currency exchange rates with respect to its recorded foreign currency denominated assets and liabilities as well as anticipated transaction such as: </a:t>
            </a:r>
            <a:br>
              <a:rPr kumimoji="1" lang="en-US" altLang="zh-CN" sz="2200" dirty="0" smtClean="0"/>
            </a:br>
            <a:endParaRPr kumimoji="1" lang="en-US" altLang="zh-CN" sz="2200" dirty="0" smtClean="0"/>
          </a:p>
          <a:p>
            <a:pPr lvl="1"/>
            <a:r>
              <a:rPr kumimoji="1" lang="en-US" altLang="zh-CN" sz="2200" dirty="0" smtClean="0"/>
              <a:t>Foreign currency forward contracts</a:t>
            </a:r>
          </a:p>
          <a:p>
            <a:pPr lvl="1"/>
            <a:r>
              <a:rPr kumimoji="1" lang="en-US" altLang="zh-CN" sz="2200" dirty="0" smtClean="0"/>
              <a:t>Cross-currency swaps</a:t>
            </a:r>
          </a:p>
          <a:p>
            <a:pPr lvl="1"/>
            <a:r>
              <a:rPr kumimoji="1" lang="en-US" altLang="zh-CN" sz="2200" dirty="0" smtClean="0"/>
              <a:t>Futures contracts </a:t>
            </a:r>
          </a:p>
          <a:p>
            <a:pPr lvl="1"/>
            <a:r>
              <a:rPr kumimoji="1" lang="en-US" altLang="zh-CN" sz="2200" dirty="0" smtClean="0"/>
              <a:t>Options </a:t>
            </a:r>
          </a:p>
          <a:p>
            <a:endParaRPr kumimoji="1" lang="en-US" altLang="zh-CN" sz="2100" dirty="0" smtClean="0"/>
          </a:p>
        </p:txBody>
      </p:sp>
    </p:spTree>
    <p:extLst>
      <p:ext uri="{BB962C8B-B14F-4D97-AF65-F5344CB8AC3E}">
        <p14:creationId xmlns:p14="http://schemas.microsoft.com/office/powerpoint/2010/main" xmlns="" val="195789994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latin typeface="Cambria" pitchFamily="18" charset="0"/>
              </a:rPr>
              <a:t>Analysis of financial statements</a:t>
            </a:r>
            <a:endParaRPr lang="en-CA" dirty="0">
              <a:latin typeface="Cambria" pitchFamily="18" charset="0"/>
            </a:endParaRPr>
          </a:p>
        </p:txBody>
      </p:sp>
      <p:sp>
        <p:nvSpPr>
          <p:cNvPr id="3" name="Text Placeholder 2"/>
          <p:cNvSpPr>
            <a:spLocks noGrp="1"/>
          </p:cNvSpPr>
          <p:nvPr>
            <p:ph type="body" idx="1"/>
          </p:nvPr>
        </p:nvSpPr>
        <p:spPr/>
        <p:txBody>
          <a:bodyPr/>
          <a:lstStyle/>
          <a:p>
            <a:endParaRPr lang="en-CA"/>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908720"/>
            <a:ext cx="8892480" cy="50496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41451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2008" y="2036618"/>
            <a:ext cx="9036496" cy="25445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1156496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0685" y="620688"/>
            <a:ext cx="7925811" cy="5976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3524274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1713"/>
          <a:stretch/>
        </p:blipFill>
        <p:spPr bwMode="auto">
          <a:xfrm>
            <a:off x="1" y="548680"/>
            <a:ext cx="9144000" cy="52922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6964686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381"/>
          <a:stretch/>
        </p:blipFill>
        <p:spPr bwMode="auto">
          <a:xfrm>
            <a:off x="631254" y="321270"/>
            <a:ext cx="8477250" cy="5988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797023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1"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3608" y="566738"/>
            <a:ext cx="7600950" cy="5724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5949141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r="429"/>
          <a:stretch/>
        </p:blipFill>
        <p:spPr bwMode="auto">
          <a:xfrm>
            <a:off x="669601" y="1196752"/>
            <a:ext cx="8474399" cy="44788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4544881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621"/>
          <a:stretch/>
        </p:blipFill>
        <p:spPr bwMode="auto">
          <a:xfrm>
            <a:off x="144016" y="764704"/>
            <a:ext cx="8964488" cy="5323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879942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853773"/>
            <a:ext cx="9036496" cy="50955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110765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5189"/>
          <a:stretch/>
        </p:blipFill>
        <p:spPr bwMode="auto">
          <a:xfrm>
            <a:off x="1043608" y="548680"/>
            <a:ext cx="7778490" cy="5976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2708127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8662" y="1213624"/>
            <a:ext cx="9049842" cy="40875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311907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15998" y="3597971"/>
            <a:ext cx="7618863" cy="1910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386"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5751"/>
          <a:stretch/>
        </p:blipFill>
        <p:spPr bwMode="auto">
          <a:xfrm>
            <a:off x="128588" y="518613"/>
            <a:ext cx="8886825" cy="56466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4348875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17128" b="905"/>
          <a:stretch/>
        </p:blipFill>
        <p:spPr bwMode="auto">
          <a:xfrm>
            <a:off x="147638" y="1124744"/>
            <a:ext cx="8848725" cy="47859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2422905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8149" y="3429000"/>
            <a:ext cx="8818347" cy="20227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44017" y="1098793"/>
            <a:ext cx="8964487" cy="18981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5605843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8917" r="11523" b="95294"/>
          <a:stretch/>
        </p:blipFill>
        <p:spPr bwMode="auto">
          <a:xfrm>
            <a:off x="1259632" y="551847"/>
            <a:ext cx="7019925" cy="284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458"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2988"/>
          <a:stretch/>
        </p:blipFill>
        <p:spPr bwMode="auto">
          <a:xfrm>
            <a:off x="251520" y="1076264"/>
            <a:ext cx="8748117" cy="5521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48946004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2008" y="1046867"/>
            <a:ext cx="9036496" cy="46143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4759879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18367"/>
          <a:stretch/>
        </p:blipFill>
        <p:spPr bwMode="auto">
          <a:xfrm>
            <a:off x="152400" y="2155890"/>
            <a:ext cx="8839200" cy="3217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 name="Picture 4"/>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10450" r="13029" b="87833"/>
          <a:stretch/>
        </p:blipFill>
        <p:spPr bwMode="auto">
          <a:xfrm>
            <a:off x="1063256" y="892244"/>
            <a:ext cx="6751674" cy="7365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4690664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www.trainweb.org/oldtimetrains/industrial/ab/Viterra_4201b.jpg"/>
          <p:cNvPicPr>
            <a:picLocks noChangeAspect="1" noChangeArrowheads="1"/>
          </p:cNvPicPr>
          <p:nvPr/>
        </p:nvPicPr>
        <p:blipFill>
          <a:blip r:embed="rId2" cstate="print"/>
          <a:srcRect b="3750"/>
          <a:stretch>
            <a:fillRect/>
          </a:stretch>
        </p:blipFill>
        <p:spPr bwMode="auto">
          <a:xfrm>
            <a:off x="1043608" y="476672"/>
            <a:ext cx="7239000" cy="5544616"/>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3648" y="0"/>
            <a:ext cx="7406640" cy="1472184"/>
          </a:xfrm>
        </p:spPr>
        <p:txBody>
          <a:bodyPr>
            <a:noAutofit/>
          </a:bodyPr>
          <a:lstStyle/>
          <a:p>
            <a:r>
              <a:rPr lang="en-CA" sz="8000" dirty="0" smtClean="0"/>
              <a:t>    ADM</a:t>
            </a:r>
            <a:endParaRPr lang="en-CA" sz="8000" dirty="0"/>
          </a:p>
        </p:txBody>
      </p:sp>
      <p:sp>
        <p:nvSpPr>
          <p:cNvPr id="3" name="Subtitle 2"/>
          <p:cNvSpPr>
            <a:spLocks noGrp="1"/>
          </p:cNvSpPr>
          <p:nvPr>
            <p:ph type="subTitle" idx="1"/>
          </p:nvPr>
        </p:nvSpPr>
        <p:spPr/>
        <p:txBody>
          <a:bodyPr/>
          <a:lstStyle/>
          <a:p>
            <a:endParaRPr lang="en-CA" b="1" dirty="0"/>
          </a:p>
        </p:txBody>
      </p:sp>
      <p:pic>
        <p:nvPicPr>
          <p:cNvPr id="1026" name="Picture 2" descr="http://media-1.web.britannica.com/eb-media/13/65513-004-38169C10.jpg"/>
          <p:cNvPicPr>
            <a:picLocks noChangeAspect="1" noChangeArrowheads="1"/>
          </p:cNvPicPr>
          <p:nvPr/>
        </p:nvPicPr>
        <p:blipFill>
          <a:blip r:embed="rId2" cstate="print"/>
          <a:srcRect/>
          <a:stretch>
            <a:fillRect/>
          </a:stretch>
        </p:blipFill>
        <p:spPr bwMode="auto">
          <a:xfrm>
            <a:off x="1259632" y="1556792"/>
            <a:ext cx="7495416" cy="4968552"/>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500" b="1" dirty="0" smtClean="0"/>
              <a:t>Company Overview</a:t>
            </a:r>
            <a:endParaRPr lang="zh-CN" altLang="en-US" sz="3500" b="1" dirty="0"/>
          </a:p>
        </p:txBody>
      </p:sp>
      <p:sp>
        <p:nvSpPr>
          <p:cNvPr id="3" name="内容占位符 2"/>
          <p:cNvSpPr>
            <a:spLocks noGrp="1"/>
          </p:cNvSpPr>
          <p:nvPr>
            <p:ph idx="1"/>
          </p:nvPr>
        </p:nvSpPr>
        <p:spPr/>
        <p:txBody>
          <a:bodyPr>
            <a:noAutofit/>
          </a:bodyPr>
          <a:lstStyle/>
          <a:p>
            <a:r>
              <a:rPr lang="en-US" altLang="zh-CN" sz="2500" dirty="0"/>
              <a:t>Archer-Daniels-Midland-Company (the Company) was incorporated in Delaware in </a:t>
            </a:r>
            <a:r>
              <a:rPr lang="en-US" altLang="zh-CN" sz="2500" dirty="0" smtClean="0"/>
              <a:t>1923. </a:t>
            </a:r>
          </a:p>
          <a:p>
            <a:r>
              <a:rPr lang="en-US" altLang="zh-CN" sz="2500" dirty="0"/>
              <a:t>O</a:t>
            </a:r>
            <a:r>
              <a:rPr lang="en-US" altLang="zh-CN" sz="2500" dirty="0" smtClean="0"/>
              <a:t>ne </a:t>
            </a:r>
            <a:r>
              <a:rPr lang="en-US" altLang="zh-CN" sz="2500" dirty="0"/>
              <a:t>of the world’s largest processors of </a:t>
            </a:r>
            <a:r>
              <a:rPr lang="en-US" altLang="zh-CN" sz="2500" dirty="0" smtClean="0"/>
              <a:t>agricultural commodities</a:t>
            </a:r>
          </a:p>
          <a:p>
            <a:r>
              <a:rPr lang="en-US" altLang="zh-CN" sz="2500" dirty="0" smtClean="0"/>
              <a:t>Leading </a:t>
            </a:r>
            <a:r>
              <a:rPr lang="en-US" altLang="zh-CN" sz="2500" dirty="0"/>
              <a:t>manufacturer of </a:t>
            </a:r>
            <a:r>
              <a:rPr lang="en-US" altLang="zh-CN" sz="2500" dirty="0" smtClean="0"/>
              <a:t>value-added </a:t>
            </a:r>
            <a:r>
              <a:rPr lang="en-US" altLang="zh-CN" sz="2500" dirty="0"/>
              <a:t>food and feed </a:t>
            </a:r>
            <a:r>
              <a:rPr lang="en-US" altLang="zh-CN" sz="2500" dirty="0" smtClean="0"/>
              <a:t>ingredients;  an </a:t>
            </a:r>
            <a:r>
              <a:rPr lang="en-US" altLang="zh-CN" sz="2500" dirty="0"/>
              <a:t>extensive </a:t>
            </a:r>
            <a:r>
              <a:rPr lang="en-US" altLang="zh-CN" sz="2500" dirty="0" smtClean="0"/>
              <a:t>grain </a:t>
            </a:r>
            <a:r>
              <a:rPr lang="en-US" altLang="zh-CN" sz="2500" dirty="0"/>
              <a:t>elevator and transportation network to procure, store, clean, and transport agricultural </a:t>
            </a:r>
            <a:r>
              <a:rPr lang="en-US" altLang="zh-CN" sz="2500" dirty="0" smtClean="0"/>
              <a:t>commodities.</a:t>
            </a:r>
          </a:p>
          <a:p>
            <a:r>
              <a:rPr lang="en-US" altLang="zh-CN" sz="2500" dirty="0" smtClean="0"/>
              <a:t>The </a:t>
            </a:r>
            <a:r>
              <a:rPr lang="en-US" altLang="zh-CN" sz="2500" dirty="0"/>
              <a:t>Company has significant investments in joint ventures. </a:t>
            </a:r>
            <a:endParaRPr lang="zh-CN" altLang="en-US" sz="2500" dirty="0"/>
          </a:p>
        </p:txBody>
      </p:sp>
    </p:spTree>
    <p:extLst>
      <p:ext uri="{BB962C8B-B14F-4D97-AF65-F5344CB8AC3E}">
        <p14:creationId xmlns:p14="http://schemas.microsoft.com/office/powerpoint/2010/main" xmlns="" val="266169334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500" b="1" dirty="0" smtClean="0"/>
              <a:t>Company Overview (cont’d)</a:t>
            </a:r>
            <a:endParaRPr lang="zh-CN" altLang="en-US" sz="3500" b="1" dirty="0"/>
          </a:p>
        </p:txBody>
      </p:sp>
      <p:sp>
        <p:nvSpPr>
          <p:cNvPr id="3" name="内容占位符 2"/>
          <p:cNvSpPr>
            <a:spLocks noGrp="1"/>
          </p:cNvSpPr>
          <p:nvPr>
            <p:ph idx="1"/>
          </p:nvPr>
        </p:nvSpPr>
        <p:spPr/>
        <p:txBody>
          <a:bodyPr>
            <a:noAutofit/>
          </a:bodyPr>
          <a:lstStyle/>
          <a:p>
            <a:r>
              <a:rPr lang="en-US" altLang="zh-CN" sz="2500" b="1" dirty="0" smtClean="0"/>
              <a:t>Vision: </a:t>
            </a:r>
            <a:r>
              <a:rPr lang="en-US" altLang="zh-CN" sz="2500" dirty="0"/>
              <a:t>is to be the most admired global agribusiness while creating value and growing responsibly. </a:t>
            </a:r>
            <a:endParaRPr lang="en-US" altLang="zh-CN" sz="2500" dirty="0" smtClean="0"/>
          </a:p>
          <a:p>
            <a:r>
              <a:rPr lang="en-US" altLang="zh-CN" sz="2500" b="1" dirty="0" smtClean="0"/>
              <a:t>Strategy: </a:t>
            </a:r>
            <a:r>
              <a:rPr lang="en-US" altLang="zh-CN" sz="2500" dirty="0"/>
              <a:t>involves </a:t>
            </a:r>
            <a:r>
              <a:rPr lang="en-US" altLang="zh-CN" sz="2500" dirty="0" smtClean="0"/>
              <a:t>expanding </a:t>
            </a:r>
            <a:r>
              <a:rPr lang="en-US" altLang="zh-CN" sz="2500" dirty="0"/>
              <a:t>the volume and diversity of crops that it merchandises and processes, expanding the global reach of its core model, and expanding its value-added </a:t>
            </a:r>
            <a:r>
              <a:rPr lang="en-US" altLang="zh-CN" sz="2500" dirty="0" smtClean="0"/>
              <a:t>product </a:t>
            </a:r>
            <a:r>
              <a:rPr lang="en-US" altLang="zh-CN" sz="2500" dirty="0"/>
              <a:t>portfolio. </a:t>
            </a:r>
            <a:endParaRPr lang="en-US" altLang="zh-CN" sz="2500" dirty="0" smtClean="0"/>
          </a:p>
          <a:p>
            <a:r>
              <a:rPr lang="en-US" altLang="zh-CN" sz="2500" dirty="0" smtClean="0"/>
              <a:t>The </a:t>
            </a:r>
            <a:r>
              <a:rPr lang="en-US" altLang="zh-CN" sz="2500" dirty="0"/>
              <a:t>Company seeks to serve vital needs by connecting the harvest to the home and transforming crops into food and energy products. </a:t>
            </a:r>
          </a:p>
        </p:txBody>
      </p:sp>
    </p:spTree>
    <p:extLst>
      <p:ext uri="{BB962C8B-B14F-4D97-AF65-F5344CB8AC3E}">
        <p14:creationId xmlns:p14="http://schemas.microsoft.com/office/powerpoint/2010/main" xmlns="" val="240989170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3648" y="0"/>
            <a:ext cx="7498080" cy="1143000"/>
          </a:xfrm>
        </p:spPr>
        <p:txBody>
          <a:bodyPr>
            <a:normAutofit/>
          </a:bodyPr>
          <a:lstStyle/>
          <a:p>
            <a:r>
              <a:rPr lang="en-US" altLang="zh-CN" sz="3800" b="1" dirty="0" smtClean="0"/>
              <a:t>Segments</a:t>
            </a:r>
            <a:endParaRPr lang="zh-CN" altLang="en-US" sz="3800" b="1" dirty="0"/>
          </a:p>
        </p:txBody>
      </p:sp>
      <p:sp>
        <p:nvSpPr>
          <p:cNvPr id="3" name="内容占位符 2"/>
          <p:cNvSpPr>
            <a:spLocks noGrp="1"/>
          </p:cNvSpPr>
          <p:nvPr>
            <p:ph idx="1"/>
          </p:nvPr>
        </p:nvSpPr>
        <p:spPr>
          <a:xfrm>
            <a:off x="1187624" y="980728"/>
            <a:ext cx="7498080" cy="5256584"/>
          </a:xfrm>
        </p:spPr>
        <p:txBody>
          <a:bodyPr>
            <a:noAutofit/>
          </a:bodyPr>
          <a:lstStyle/>
          <a:p>
            <a:r>
              <a:rPr lang="en-US" altLang="zh-CN" sz="2500" dirty="0"/>
              <a:t>The Company’s operations are classified into </a:t>
            </a:r>
            <a:r>
              <a:rPr lang="en-US" altLang="zh-CN" sz="2500" dirty="0">
                <a:solidFill>
                  <a:srgbClr val="FF0000"/>
                </a:solidFill>
              </a:rPr>
              <a:t>three </a:t>
            </a:r>
            <a:r>
              <a:rPr lang="en-US" altLang="zh-CN" sz="2500" dirty="0"/>
              <a:t>reportable business </a:t>
            </a:r>
            <a:r>
              <a:rPr lang="en-US" altLang="zh-CN" sz="2500" dirty="0" smtClean="0"/>
              <a:t>segments</a:t>
            </a:r>
            <a:r>
              <a:rPr lang="en-CA" altLang="zh-CN" sz="2500" dirty="0" smtClean="0"/>
              <a:t>:</a:t>
            </a:r>
            <a:endParaRPr lang="en-US" altLang="zh-CN" sz="2500" dirty="0" smtClean="0"/>
          </a:p>
          <a:p>
            <a:pPr lvl="1"/>
            <a:r>
              <a:rPr lang="en-US" altLang="zh-CN" sz="2500" dirty="0" smtClean="0"/>
              <a:t>Oilseeds Processing</a:t>
            </a:r>
          </a:p>
          <a:p>
            <a:pPr lvl="1"/>
            <a:r>
              <a:rPr lang="en-US" altLang="zh-CN" sz="2500" dirty="0" smtClean="0"/>
              <a:t>Corn Processing</a:t>
            </a:r>
          </a:p>
          <a:p>
            <a:pPr lvl="1"/>
            <a:r>
              <a:rPr lang="en-US" altLang="zh-CN" sz="2500" dirty="0" smtClean="0"/>
              <a:t>Agricultural Services</a:t>
            </a:r>
            <a:br>
              <a:rPr lang="en-US" altLang="zh-CN" sz="2500" dirty="0" smtClean="0"/>
            </a:br>
            <a:endParaRPr lang="en-US" altLang="zh-CN" sz="2500" dirty="0"/>
          </a:p>
          <a:p>
            <a:r>
              <a:rPr lang="en-US" altLang="zh-CN" sz="2500" dirty="0" smtClean="0"/>
              <a:t>Each </a:t>
            </a:r>
            <a:r>
              <a:rPr lang="en-US" altLang="zh-CN" sz="2500" dirty="0"/>
              <a:t>of </a:t>
            </a:r>
            <a:r>
              <a:rPr lang="en-US" altLang="zh-CN" sz="2500" dirty="0" smtClean="0"/>
              <a:t>these </a:t>
            </a:r>
            <a:r>
              <a:rPr lang="en-US" altLang="zh-CN" sz="2500" dirty="0"/>
              <a:t>segments is organized based upon the nature of products and services offered. </a:t>
            </a:r>
            <a:r>
              <a:rPr lang="en-US" altLang="zh-CN" sz="2500" dirty="0" smtClean="0"/>
              <a:t/>
            </a:r>
            <a:br>
              <a:rPr lang="en-US" altLang="zh-CN" sz="2500" dirty="0" smtClean="0"/>
            </a:br>
            <a:endParaRPr lang="en-US" altLang="zh-CN" sz="2500" dirty="0"/>
          </a:p>
          <a:p>
            <a:r>
              <a:rPr lang="en-US" altLang="zh-CN" sz="2500" dirty="0" smtClean="0"/>
              <a:t>The </a:t>
            </a:r>
            <a:r>
              <a:rPr lang="en-US" altLang="zh-CN" sz="2500" dirty="0"/>
              <a:t>Company’s remaining </a:t>
            </a:r>
            <a:r>
              <a:rPr lang="en-US" altLang="zh-CN" sz="2500" dirty="0" smtClean="0"/>
              <a:t>operations:</a:t>
            </a:r>
          </a:p>
          <a:p>
            <a:pPr lvl="1"/>
            <a:r>
              <a:rPr lang="en-US" altLang="zh-CN" sz="2500" dirty="0" smtClean="0"/>
              <a:t>Wheat processing</a:t>
            </a:r>
          </a:p>
          <a:p>
            <a:pPr lvl="1"/>
            <a:r>
              <a:rPr lang="en-US" altLang="zh-CN" sz="2500" dirty="0" smtClean="0"/>
              <a:t>Cocoa processing</a:t>
            </a:r>
          </a:p>
          <a:p>
            <a:pPr lvl="1"/>
            <a:r>
              <a:rPr lang="en-US" altLang="zh-CN" sz="2500" dirty="0" smtClean="0"/>
              <a:t>Financial </a:t>
            </a:r>
            <a:r>
              <a:rPr lang="en-US" altLang="zh-CN" sz="2500" dirty="0"/>
              <a:t>business </a:t>
            </a:r>
            <a:r>
              <a:rPr lang="en-US" altLang="zh-CN" sz="2500" dirty="0" smtClean="0"/>
              <a:t>units</a:t>
            </a:r>
          </a:p>
        </p:txBody>
      </p:sp>
    </p:spTree>
    <p:extLst>
      <p:ext uri="{BB962C8B-B14F-4D97-AF65-F5344CB8AC3E}">
        <p14:creationId xmlns:p14="http://schemas.microsoft.com/office/powerpoint/2010/main" xmlns="" val="56541992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Corn Processing </a:t>
            </a:r>
          </a:p>
        </p:txBody>
      </p:sp>
      <p:sp>
        <p:nvSpPr>
          <p:cNvPr id="3" name="内容占位符 2"/>
          <p:cNvSpPr>
            <a:spLocks noGrp="1"/>
          </p:cNvSpPr>
          <p:nvPr>
            <p:ph idx="1"/>
          </p:nvPr>
        </p:nvSpPr>
        <p:spPr/>
        <p:txBody>
          <a:bodyPr>
            <a:noAutofit/>
          </a:bodyPr>
          <a:lstStyle/>
          <a:p>
            <a:r>
              <a:rPr lang="en-US" altLang="zh-CN" sz="2000" dirty="0"/>
              <a:t>C</a:t>
            </a:r>
            <a:r>
              <a:rPr lang="en-US" altLang="zh-CN" sz="2000" dirty="0" smtClean="0"/>
              <a:t>orn </a:t>
            </a:r>
            <a:r>
              <a:rPr lang="en-US" altLang="zh-CN" sz="2000" dirty="0"/>
              <a:t>wet milling and dry milling activities, primarily in the United States, to produce </a:t>
            </a:r>
            <a:r>
              <a:rPr lang="en-US" altLang="zh-CN" sz="2000" dirty="0" smtClean="0"/>
              <a:t>ingredients </a:t>
            </a:r>
            <a:r>
              <a:rPr lang="en-US" altLang="zh-CN" sz="2000" dirty="0"/>
              <a:t>used in the food and beverage industry including syrup, starch, glucose, dextrose and sweeteners. </a:t>
            </a:r>
            <a:endParaRPr lang="en-US" altLang="zh-CN" sz="2000" dirty="0" smtClean="0"/>
          </a:p>
          <a:p>
            <a:r>
              <a:rPr lang="en-US" altLang="zh-CN" sz="2000" dirty="0" smtClean="0"/>
              <a:t>Dextrose </a:t>
            </a:r>
            <a:r>
              <a:rPr lang="en-US" altLang="zh-CN" sz="2000" dirty="0"/>
              <a:t>is also </a:t>
            </a:r>
            <a:r>
              <a:rPr lang="en-US" altLang="zh-CN" sz="2000" dirty="0" smtClean="0"/>
              <a:t>used </a:t>
            </a:r>
            <a:r>
              <a:rPr lang="en-US" altLang="zh-CN" sz="2000" dirty="0"/>
              <a:t>by the company as a feedstock for its </a:t>
            </a:r>
            <a:r>
              <a:rPr lang="en-US" altLang="zh-CN" sz="2000" dirty="0" err="1"/>
              <a:t>bioproducts</a:t>
            </a:r>
            <a:r>
              <a:rPr lang="en-US" altLang="zh-CN" sz="2000" dirty="0"/>
              <a:t> operations, including the production of ethanol, amino acids </a:t>
            </a:r>
            <a:r>
              <a:rPr lang="en-US" altLang="zh-CN" sz="2000" dirty="0" smtClean="0"/>
              <a:t>and industrial </a:t>
            </a:r>
            <a:r>
              <a:rPr lang="en-US" altLang="zh-CN" sz="2000" dirty="0"/>
              <a:t>products</a:t>
            </a:r>
            <a:r>
              <a:rPr lang="en-US" altLang="zh-CN" sz="2000" dirty="0" smtClean="0"/>
              <a:t>.</a:t>
            </a:r>
          </a:p>
          <a:p>
            <a:r>
              <a:rPr lang="en-US" altLang="zh-CN" sz="2000" dirty="0" smtClean="0"/>
              <a:t> </a:t>
            </a:r>
            <a:r>
              <a:rPr lang="en-US" altLang="zh-CN" sz="2000" dirty="0"/>
              <a:t>Corn gluten feed and meal, as well as distillers grains, are produced for use as animal feed ingredients. </a:t>
            </a:r>
            <a:endParaRPr lang="en-US" altLang="zh-CN" sz="2000" dirty="0" smtClean="0"/>
          </a:p>
          <a:p>
            <a:r>
              <a:rPr lang="en-US" altLang="zh-CN" sz="2000" dirty="0" smtClean="0"/>
              <a:t>Corn germ</a:t>
            </a:r>
            <a:r>
              <a:rPr lang="en-US" altLang="zh-CN" sz="2000" dirty="0"/>
              <a:t>, a by-product of the wet milling process, is further processed as an oilseed into vegetable oil and protein meal.</a:t>
            </a:r>
            <a:endParaRPr lang="en-US" altLang="zh-CN" sz="2000" dirty="0" smtClean="0"/>
          </a:p>
        </p:txBody>
      </p:sp>
    </p:spTree>
    <p:extLst>
      <p:ext uri="{BB962C8B-B14F-4D97-AF65-F5344CB8AC3E}">
        <p14:creationId xmlns:p14="http://schemas.microsoft.com/office/powerpoint/2010/main" xmlns="" val="352050149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Oilseeds Processing </a:t>
            </a:r>
            <a:endParaRPr lang="zh-CN" altLang="en-US" dirty="0"/>
          </a:p>
        </p:txBody>
      </p:sp>
      <p:sp>
        <p:nvSpPr>
          <p:cNvPr id="3" name="内容占位符 2"/>
          <p:cNvSpPr>
            <a:spLocks noGrp="1"/>
          </p:cNvSpPr>
          <p:nvPr>
            <p:ph idx="1"/>
          </p:nvPr>
        </p:nvSpPr>
        <p:spPr/>
        <p:txBody>
          <a:bodyPr>
            <a:noAutofit/>
          </a:bodyPr>
          <a:lstStyle/>
          <a:p>
            <a:r>
              <a:rPr lang="en-US" altLang="zh-CN" sz="2000" dirty="0"/>
              <a:t>A</a:t>
            </a:r>
            <a:r>
              <a:rPr lang="en-US" altLang="zh-CN" sz="2000" dirty="0" smtClean="0"/>
              <a:t>ctivities </a:t>
            </a:r>
            <a:r>
              <a:rPr lang="en-US" altLang="zh-CN" sz="2000" dirty="0"/>
              <a:t>related to the origination, merchandising, crushing and further processing </a:t>
            </a:r>
            <a:r>
              <a:rPr lang="en-US" altLang="zh-CN" sz="2000" dirty="0" smtClean="0"/>
              <a:t>of </a:t>
            </a:r>
            <a:r>
              <a:rPr lang="en-US" altLang="zh-CN" sz="2000" dirty="0"/>
              <a:t>oilseeds such as soybeans, cottonseed, sunflower seeds, canola, peanuts, flaxseed and palm into vegetable oils and protein </a:t>
            </a:r>
            <a:r>
              <a:rPr lang="en-US" altLang="zh-CN" sz="2000" dirty="0" smtClean="0"/>
              <a:t>meals </a:t>
            </a:r>
            <a:r>
              <a:rPr lang="en-US" altLang="zh-CN" sz="2000" dirty="0"/>
              <a:t>for food, feed, energy and other industrial products industries. </a:t>
            </a:r>
            <a:endParaRPr lang="en-US" altLang="zh-CN" sz="2000" dirty="0" smtClean="0"/>
          </a:p>
          <a:p>
            <a:pPr marL="0" indent="0">
              <a:buNone/>
            </a:pPr>
            <a:endParaRPr lang="en-US" altLang="zh-CN" sz="2000" dirty="0" smtClean="0"/>
          </a:p>
          <a:p>
            <a:r>
              <a:rPr lang="en-US" altLang="zh-CN" sz="2000" dirty="0" smtClean="0"/>
              <a:t>Oilseeds </a:t>
            </a:r>
            <a:r>
              <a:rPr lang="en-US" altLang="zh-CN" sz="2000" dirty="0"/>
              <a:t>and oilseed products may be processed by ADM </a:t>
            </a:r>
            <a:r>
              <a:rPr lang="en-US" altLang="zh-CN" sz="2000" dirty="0" smtClean="0"/>
              <a:t>or </a:t>
            </a:r>
            <a:r>
              <a:rPr lang="en-US" altLang="zh-CN" sz="2000" dirty="0"/>
              <a:t>resold into the marketplace as raw materials for other processing.</a:t>
            </a:r>
            <a:endParaRPr lang="en-US" altLang="zh-CN" sz="2000" dirty="0" smtClean="0"/>
          </a:p>
        </p:txBody>
      </p:sp>
    </p:spTree>
    <p:extLst>
      <p:ext uri="{BB962C8B-B14F-4D97-AF65-F5344CB8AC3E}">
        <p14:creationId xmlns:p14="http://schemas.microsoft.com/office/powerpoint/2010/main" xmlns="" val="413942344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Agricultural Services </a:t>
            </a:r>
          </a:p>
        </p:txBody>
      </p:sp>
      <p:sp>
        <p:nvSpPr>
          <p:cNvPr id="3" name="内容占位符 2"/>
          <p:cNvSpPr>
            <a:spLocks noGrp="1"/>
          </p:cNvSpPr>
          <p:nvPr>
            <p:ph idx="1"/>
          </p:nvPr>
        </p:nvSpPr>
        <p:spPr/>
        <p:txBody>
          <a:bodyPr>
            <a:noAutofit/>
          </a:bodyPr>
          <a:lstStyle/>
          <a:p>
            <a:r>
              <a:rPr lang="en-US" altLang="zh-CN" sz="2000" dirty="0" smtClean="0"/>
              <a:t>The </a:t>
            </a:r>
            <a:r>
              <a:rPr lang="en-US" altLang="zh-CN" sz="2000" dirty="0"/>
              <a:t>Agricultural Services segment utilizes the company's extensive grain elevator and transportation network to buy, store, clean </a:t>
            </a:r>
            <a:r>
              <a:rPr lang="en-US" altLang="zh-CN" sz="2000" dirty="0" smtClean="0"/>
              <a:t>and </a:t>
            </a:r>
            <a:r>
              <a:rPr lang="en-US" altLang="zh-CN" sz="2000" dirty="0"/>
              <a:t>transport agricultural commodities, including oilseeds, corn, wheat, milo, oats, rice and barley; and resells these </a:t>
            </a:r>
            <a:r>
              <a:rPr lang="en-US" altLang="zh-CN" sz="2000" dirty="0" smtClean="0"/>
              <a:t>commodities </a:t>
            </a:r>
            <a:r>
              <a:rPr lang="en-US" altLang="zh-CN" sz="2000" dirty="0"/>
              <a:t>primarily as food and feed ingredients, and as raw materials, for the agricultural processing industry. </a:t>
            </a:r>
            <a:endParaRPr lang="en-US" altLang="zh-CN" sz="2000" dirty="0" smtClean="0"/>
          </a:p>
          <a:p>
            <a:r>
              <a:rPr lang="en-US" altLang="zh-CN" sz="2000" dirty="0" smtClean="0"/>
              <a:t>Agricultural Services</a:t>
            </a:r>
            <a:r>
              <a:rPr lang="en-US" altLang="zh-CN" sz="2000" dirty="0"/>
              <a:t>' grain sourcing and transportation network provides reliable and efficient services to the company's agricultural </a:t>
            </a:r>
            <a:r>
              <a:rPr lang="en-US" altLang="zh-CN" sz="2000" dirty="0" smtClean="0"/>
              <a:t>processing </a:t>
            </a:r>
            <a:r>
              <a:rPr lang="en-US" altLang="zh-CN" sz="2000" dirty="0"/>
              <a:t>operations. </a:t>
            </a:r>
            <a:endParaRPr lang="en-US" altLang="zh-CN" sz="2000" dirty="0" smtClean="0"/>
          </a:p>
          <a:p>
            <a:r>
              <a:rPr lang="en-US" altLang="zh-CN" sz="2000" dirty="0" smtClean="0"/>
              <a:t>The </a:t>
            </a:r>
            <a:r>
              <a:rPr lang="en-US" altLang="zh-CN" sz="2000" dirty="0"/>
              <a:t>Agricultural Services segment includes 160 domestic and 25 international elevators, an animal feed </a:t>
            </a:r>
            <a:r>
              <a:rPr lang="en-US" altLang="zh-CN" sz="2000" dirty="0" smtClean="0"/>
              <a:t>facility </a:t>
            </a:r>
            <a:r>
              <a:rPr lang="en-US" altLang="zh-CN" sz="2000" dirty="0"/>
              <a:t>in Illinois, 27 domestic and seven international formula feed and animal health nutrition plants, an edible bean plant in </a:t>
            </a:r>
            <a:r>
              <a:rPr lang="en-US" altLang="zh-CN" sz="2000" dirty="0" smtClean="0"/>
              <a:t>North </a:t>
            </a:r>
            <a:r>
              <a:rPr lang="en-US" altLang="zh-CN" sz="2000" dirty="0"/>
              <a:t>Dakota, 23 domestic edible bean procurement facilities and a rice mill in California.</a:t>
            </a:r>
            <a:endParaRPr lang="en-US" altLang="zh-CN" sz="2000" dirty="0" smtClean="0"/>
          </a:p>
        </p:txBody>
      </p:sp>
    </p:spTree>
    <p:extLst>
      <p:ext uri="{BB962C8B-B14F-4D97-AF65-F5344CB8AC3E}">
        <p14:creationId xmlns:p14="http://schemas.microsoft.com/office/powerpoint/2010/main" xmlns="" val="160475506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800" b="1" dirty="0" smtClean="0"/>
              <a:t>Executives</a:t>
            </a:r>
            <a:endParaRPr lang="zh-CN" altLang="en-US" sz="3800" b="1" dirty="0"/>
          </a:p>
        </p:txBody>
      </p:sp>
      <p:pic>
        <p:nvPicPr>
          <p:cNvPr id="6" name="内容占位符 5"/>
          <p:cNvPicPr>
            <a:picLocks noGrp="1" noChangeAspect="1"/>
          </p:cNvPicPr>
          <p:nvPr>
            <p:ph sz="half" idx="1"/>
          </p:nvPr>
        </p:nvPicPr>
        <p:blipFill>
          <a:blip r:embed="rId3" cstate="print">
            <a:extLst>
              <a:ext uri="{28A0092B-C50C-407E-A947-70E740481C1C}">
                <a14:useLocalDpi xmlns:a14="http://schemas.microsoft.com/office/drawing/2010/main" xmlns="" val="0"/>
              </a:ext>
            </a:extLst>
          </a:blip>
          <a:stretch>
            <a:fillRect/>
          </a:stretch>
        </p:blipFill>
        <p:spPr>
          <a:xfrm>
            <a:off x="5076056" y="1484784"/>
            <a:ext cx="3528392" cy="1944216"/>
          </a:xfrm>
        </p:spPr>
      </p:pic>
      <p:sp>
        <p:nvSpPr>
          <p:cNvPr id="10" name="内容占位符 9"/>
          <p:cNvSpPr>
            <a:spLocks noGrp="1"/>
          </p:cNvSpPr>
          <p:nvPr>
            <p:ph sz="half" idx="2"/>
          </p:nvPr>
        </p:nvSpPr>
        <p:spPr>
          <a:xfrm>
            <a:off x="755576" y="1556792"/>
            <a:ext cx="4038600" cy="4525963"/>
          </a:xfrm>
        </p:spPr>
        <p:txBody>
          <a:bodyPr>
            <a:normAutofit fontScale="92500" lnSpcReduction="10000"/>
          </a:bodyPr>
          <a:lstStyle/>
          <a:p>
            <a:r>
              <a:rPr lang="en-US" altLang="zh-CN" sz="2000" dirty="0"/>
              <a:t>Patricia A. </a:t>
            </a:r>
            <a:r>
              <a:rPr lang="en-US" altLang="zh-CN" sz="2000" dirty="0" err="1"/>
              <a:t>Woertz</a:t>
            </a:r>
            <a:r>
              <a:rPr lang="en-US" altLang="zh-CN" sz="2000" dirty="0"/>
              <a:t> is chairman of the board of directors, chief executive officer and president of </a:t>
            </a:r>
            <a:r>
              <a:rPr lang="en-US" altLang="zh-CN" sz="2000" dirty="0" smtClean="0"/>
              <a:t>Archer </a:t>
            </a:r>
            <a:r>
              <a:rPr lang="en-US" altLang="zh-CN" sz="2000" dirty="0"/>
              <a:t>Daniels Midland Company</a:t>
            </a:r>
            <a:r>
              <a:rPr lang="en-US" altLang="zh-CN" sz="2000" dirty="0" smtClean="0"/>
              <a:t>.</a:t>
            </a:r>
          </a:p>
          <a:p>
            <a:r>
              <a:rPr lang="en-US" altLang="zh-CN" sz="2000" dirty="0"/>
              <a:t>She was named CEO and president in April 2006, and assumed the additional role of chairman of the board in February 2007</a:t>
            </a:r>
            <a:r>
              <a:rPr lang="en-US" altLang="zh-CN" sz="2000" dirty="0" smtClean="0"/>
              <a:t>.</a:t>
            </a:r>
          </a:p>
          <a:p>
            <a:r>
              <a:rPr lang="en-US" altLang="zh-CN" sz="2000" dirty="0"/>
              <a:t>As CEO of ADM, in 2010, </a:t>
            </a:r>
            <a:r>
              <a:rPr lang="en-US" altLang="zh-CN" sz="2000" dirty="0" err="1"/>
              <a:t>Woertz</a:t>
            </a:r>
            <a:r>
              <a:rPr lang="en-US" altLang="zh-CN" sz="2000" dirty="0"/>
              <a:t> was ranked the 3rd most powerful women by Fortune magazine</a:t>
            </a:r>
            <a:r>
              <a:rPr lang="en-US" altLang="zh-CN" sz="2000" dirty="0" smtClean="0"/>
              <a:t>.</a:t>
            </a:r>
          </a:p>
          <a:p>
            <a:r>
              <a:rPr lang="en-US" altLang="zh-CN" sz="2000" dirty="0"/>
              <a:t>Formerly an Executive Vice President at </a:t>
            </a:r>
            <a:r>
              <a:rPr lang="en-US" altLang="zh-CN" sz="2000" i="1" dirty="0"/>
              <a:t>Chevron Corporation</a:t>
            </a:r>
            <a:endParaRPr lang="en-US" altLang="zh-CN" sz="2000" i="1" dirty="0" smtClean="0"/>
          </a:p>
        </p:txBody>
      </p:sp>
    </p:spTree>
    <p:extLst>
      <p:ext uri="{BB962C8B-B14F-4D97-AF65-F5344CB8AC3E}">
        <p14:creationId xmlns:p14="http://schemas.microsoft.com/office/powerpoint/2010/main" xmlns="" val="399021286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Historical Prices</a:t>
            </a:r>
            <a:endParaRPr lang="en-US" b="1"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259089"/>
            <a:ext cx="8867862" cy="47621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1503353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management</a:t>
            </a:r>
            <a:endParaRPr lang="en-CA" dirty="0"/>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xmlns="" val="57676302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404664"/>
            <a:ext cx="7772400" cy="1470025"/>
          </a:xfrm>
        </p:spPr>
        <p:txBody>
          <a:bodyPr>
            <a:normAutofit/>
          </a:bodyPr>
          <a:lstStyle/>
          <a:p>
            <a:r>
              <a:rPr lang="en-US" altLang="zh-CN" sz="3800" b="1" dirty="0" smtClean="0">
                <a:latin typeface="Cambria" pitchFamily="18" charset="0"/>
              </a:rPr>
              <a:t>Major Risks</a:t>
            </a:r>
            <a:endParaRPr lang="zh-CN" altLang="en-US" sz="3800" b="1" dirty="0">
              <a:latin typeface="Cambria" pitchFamily="18" charset="0"/>
            </a:endParaRPr>
          </a:p>
        </p:txBody>
      </p:sp>
      <p:sp>
        <p:nvSpPr>
          <p:cNvPr id="3" name="副标题 2"/>
          <p:cNvSpPr>
            <a:spLocks noGrp="1"/>
          </p:cNvSpPr>
          <p:nvPr>
            <p:ph type="subTitle" idx="1"/>
          </p:nvPr>
        </p:nvSpPr>
        <p:spPr>
          <a:xfrm>
            <a:off x="1371600" y="1988840"/>
            <a:ext cx="7304856" cy="3744416"/>
          </a:xfrm>
        </p:spPr>
        <p:txBody>
          <a:bodyPr>
            <a:noAutofit/>
          </a:bodyPr>
          <a:lstStyle/>
          <a:p>
            <a:pPr marL="370332" indent="-342900">
              <a:buFont typeface="Arial" pitchFamily="34" charset="0"/>
              <a:buChar char="•"/>
            </a:pPr>
            <a:r>
              <a:rPr lang="en-US" altLang="zh-CN" sz="2500" dirty="0" smtClean="0">
                <a:solidFill>
                  <a:schemeClr val="tx1"/>
                </a:solidFill>
                <a:cs typeface="Times New Roman" pitchFamily="18" charset="0"/>
              </a:rPr>
              <a:t>Weather risk</a:t>
            </a:r>
          </a:p>
          <a:p>
            <a:pPr marL="370332" indent="-342900">
              <a:buFont typeface="Arial" pitchFamily="34" charset="0"/>
              <a:buChar char="•"/>
            </a:pPr>
            <a:r>
              <a:rPr lang="en-US" altLang="zh-CN" sz="2500" dirty="0" smtClean="0">
                <a:solidFill>
                  <a:schemeClr val="tx1"/>
                </a:solidFill>
                <a:cs typeface="Times New Roman" pitchFamily="18" charset="0"/>
              </a:rPr>
              <a:t>Commodity price risk</a:t>
            </a:r>
          </a:p>
          <a:p>
            <a:pPr marL="370332" indent="-342900">
              <a:buFont typeface="Arial" pitchFamily="34" charset="0"/>
              <a:buChar char="•"/>
            </a:pPr>
            <a:r>
              <a:rPr lang="en-US" altLang="zh-CN" sz="2500" dirty="0">
                <a:solidFill>
                  <a:schemeClr val="tx1"/>
                </a:solidFill>
                <a:cs typeface="Times New Roman" pitchFamily="18" charset="0"/>
              </a:rPr>
              <a:t>Interest rate risk</a:t>
            </a:r>
          </a:p>
          <a:p>
            <a:pPr marL="370332" indent="-342900">
              <a:buFont typeface="Arial" pitchFamily="34" charset="0"/>
              <a:buChar char="•"/>
            </a:pPr>
            <a:r>
              <a:rPr lang="en-US" altLang="zh-CN" sz="2500" dirty="0">
                <a:solidFill>
                  <a:schemeClr val="tx1"/>
                </a:solidFill>
                <a:cs typeface="Times New Roman" pitchFamily="18" charset="0"/>
              </a:rPr>
              <a:t>Regulation risk</a:t>
            </a:r>
          </a:p>
          <a:p>
            <a:pPr marL="370332" indent="-342900">
              <a:buFont typeface="Arial" pitchFamily="34" charset="0"/>
              <a:buChar char="•"/>
            </a:pPr>
            <a:r>
              <a:rPr lang="en-US" altLang="zh-CN" sz="2500" dirty="0" smtClean="0">
                <a:solidFill>
                  <a:schemeClr val="tx1"/>
                </a:solidFill>
                <a:cs typeface="Times New Roman" pitchFamily="18" charset="0"/>
              </a:rPr>
              <a:t>Foreign exchange rate risk</a:t>
            </a:r>
          </a:p>
        </p:txBody>
      </p:sp>
    </p:spTree>
    <p:extLst>
      <p:ext uri="{BB962C8B-B14F-4D97-AF65-F5344CB8AC3E}">
        <p14:creationId xmlns:p14="http://schemas.microsoft.com/office/powerpoint/2010/main" xmlns="" val="184740416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404664"/>
            <a:ext cx="7772400" cy="1470025"/>
          </a:xfrm>
        </p:spPr>
        <p:txBody>
          <a:bodyPr>
            <a:normAutofit/>
          </a:bodyPr>
          <a:lstStyle/>
          <a:p>
            <a:r>
              <a:rPr lang="en-US" altLang="zh-CN" sz="3800" b="1" dirty="0" smtClean="0">
                <a:latin typeface="Cambria" pitchFamily="18" charset="0"/>
              </a:rPr>
              <a:t>Hedging Philosophy</a:t>
            </a:r>
            <a:endParaRPr lang="zh-CN" altLang="en-US" sz="3800" b="1" dirty="0">
              <a:latin typeface="Cambria" pitchFamily="18" charset="0"/>
            </a:endParaRPr>
          </a:p>
        </p:txBody>
      </p:sp>
      <p:sp>
        <p:nvSpPr>
          <p:cNvPr id="3" name="副标题 2"/>
          <p:cNvSpPr>
            <a:spLocks noGrp="1"/>
          </p:cNvSpPr>
          <p:nvPr>
            <p:ph type="subTitle" idx="1"/>
          </p:nvPr>
        </p:nvSpPr>
        <p:spPr>
          <a:xfrm>
            <a:off x="1371600" y="1988840"/>
            <a:ext cx="7304856" cy="3744416"/>
          </a:xfrm>
        </p:spPr>
        <p:txBody>
          <a:bodyPr>
            <a:noAutofit/>
          </a:bodyPr>
          <a:lstStyle/>
          <a:p>
            <a:endParaRPr lang="en-US" altLang="zh-CN" sz="2500" dirty="0" smtClean="0">
              <a:solidFill>
                <a:schemeClr val="tx1"/>
              </a:solidFill>
              <a:cs typeface="Times New Roman" pitchFamily="18" charset="0"/>
            </a:endParaRPr>
          </a:p>
          <a:p>
            <a:r>
              <a:rPr lang="en-US" altLang="zh-CN" sz="2500" dirty="0" smtClean="0">
                <a:solidFill>
                  <a:schemeClr val="tx1"/>
                </a:solidFill>
                <a:cs typeface="Times New Roman" pitchFamily="18" charset="0"/>
              </a:rPr>
              <a:t>ADM:</a:t>
            </a:r>
          </a:p>
          <a:p>
            <a:r>
              <a:rPr lang="en-US" altLang="zh-CN" sz="2500" dirty="0" smtClean="0">
                <a:solidFill>
                  <a:schemeClr val="tx1"/>
                </a:solidFill>
                <a:cs typeface="Times New Roman" pitchFamily="18" charset="0"/>
              </a:rPr>
              <a:t>“</a:t>
            </a:r>
            <a:r>
              <a:rPr lang="en-US" sz="2400" dirty="0"/>
              <a:t>The Company enters into derivative and non-derivative contracts with the primary objective of managing the Company’s exposure to adverse price</a:t>
            </a:r>
          </a:p>
          <a:p>
            <a:r>
              <a:rPr lang="en-US" sz="2400" dirty="0"/>
              <a:t>movements in the agricultural commodities used for, and produced in, our business operations</a:t>
            </a:r>
            <a:r>
              <a:rPr lang="en-US" sz="2400" dirty="0" smtClean="0"/>
              <a:t>.”</a:t>
            </a:r>
            <a:endParaRPr lang="en-US" altLang="zh-CN" sz="2500" dirty="0" smtClean="0">
              <a:solidFill>
                <a:schemeClr val="tx1"/>
              </a:solidFill>
              <a:cs typeface="Times New Roman" pitchFamily="18" charset="0"/>
            </a:endParaRPr>
          </a:p>
        </p:txBody>
      </p:sp>
    </p:spTree>
    <p:extLst>
      <p:ext uri="{BB962C8B-B14F-4D97-AF65-F5344CB8AC3E}">
        <p14:creationId xmlns:p14="http://schemas.microsoft.com/office/powerpoint/2010/main" xmlns="" val="295964922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404664"/>
            <a:ext cx="7772400" cy="1470025"/>
          </a:xfrm>
        </p:spPr>
        <p:txBody>
          <a:bodyPr>
            <a:normAutofit/>
          </a:bodyPr>
          <a:lstStyle/>
          <a:p>
            <a:r>
              <a:rPr lang="en-US" altLang="zh-CN" sz="3800" b="1" dirty="0">
                <a:latin typeface="Cambria" pitchFamily="18" charset="0"/>
              </a:rPr>
              <a:t>Hedging Philosophy</a:t>
            </a:r>
            <a:endParaRPr lang="zh-CN" altLang="en-US" sz="3800" b="1" dirty="0">
              <a:latin typeface="Cambria" pitchFamily="18" charset="0"/>
            </a:endParaRPr>
          </a:p>
        </p:txBody>
      </p:sp>
      <p:sp>
        <p:nvSpPr>
          <p:cNvPr id="3" name="副标题 2"/>
          <p:cNvSpPr>
            <a:spLocks noGrp="1"/>
          </p:cNvSpPr>
          <p:nvPr>
            <p:ph type="subTitle" idx="1"/>
          </p:nvPr>
        </p:nvSpPr>
        <p:spPr>
          <a:xfrm>
            <a:off x="1371600" y="1988840"/>
            <a:ext cx="7304856" cy="3744416"/>
          </a:xfrm>
        </p:spPr>
        <p:txBody>
          <a:bodyPr>
            <a:noAutofit/>
          </a:bodyPr>
          <a:lstStyle/>
          <a:p>
            <a:endParaRPr lang="en-US" altLang="zh-CN" sz="2500" dirty="0" smtClean="0">
              <a:solidFill>
                <a:schemeClr val="tx1"/>
              </a:solidFill>
              <a:cs typeface="Times New Roman" pitchFamily="18" charset="0"/>
            </a:endParaRPr>
          </a:p>
          <a:p>
            <a:r>
              <a:rPr lang="en-US" sz="2800" dirty="0"/>
              <a:t>The Company’s </a:t>
            </a:r>
            <a:r>
              <a:rPr lang="en-US" sz="2800" dirty="0" smtClean="0"/>
              <a:t>position </a:t>
            </a:r>
            <a:r>
              <a:rPr lang="en-US" sz="2800" dirty="0"/>
              <a:t>consists </a:t>
            </a:r>
            <a:r>
              <a:rPr lang="en-US" sz="2800" dirty="0" smtClean="0"/>
              <a:t>of:</a:t>
            </a:r>
            <a:endParaRPr lang="en-US" sz="2800" dirty="0"/>
          </a:p>
          <a:p>
            <a:pPr marL="370332" indent="-342900">
              <a:buFont typeface="Arial" pitchFamily="34" charset="0"/>
              <a:buChar char="•"/>
            </a:pPr>
            <a:r>
              <a:rPr lang="en-US" sz="2400" dirty="0" smtClean="0"/>
              <a:t>energy </a:t>
            </a:r>
            <a:r>
              <a:rPr lang="en-US" sz="2400" dirty="0"/>
              <a:t>and </a:t>
            </a:r>
            <a:r>
              <a:rPr lang="en-US" sz="2400" dirty="0" smtClean="0"/>
              <a:t>freight contracts</a:t>
            </a:r>
          </a:p>
          <a:p>
            <a:pPr marL="370332" indent="-342900">
              <a:buFont typeface="Arial" pitchFamily="34" charset="0"/>
              <a:buChar char="•"/>
            </a:pPr>
            <a:r>
              <a:rPr lang="en-US" sz="2400" dirty="0" smtClean="0"/>
              <a:t>exchange-traded </a:t>
            </a:r>
            <a:r>
              <a:rPr lang="en-US" sz="2400" dirty="0"/>
              <a:t>futures </a:t>
            </a:r>
            <a:endParaRPr lang="en-US" sz="2400" dirty="0" smtClean="0"/>
          </a:p>
          <a:p>
            <a:pPr marL="370332" indent="-342900">
              <a:buFont typeface="Arial" pitchFamily="34" charset="0"/>
              <a:buChar char="•"/>
            </a:pPr>
            <a:r>
              <a:rPr lang="en-US" sz="2400" dirty="0" smtClean="0"/>
              <a:t>exchange-traded </a:t>
            </a:r>
            <a:r>
              <a:rPr lang="en-US" sz="2400" dirty="0"/>
              <a:t>and </a:t>
            </a:r>
            <a:r>
              <a:rPr lang="en-US" sz="2400" dirty="0" smtClean="0"/>
              <a:t>OTC options </a:t>
            </a:r>
          </a:p>
          <a:p>
            <a:pPr marL="370332" indent="-342900">
              <a:buFont typeface="Arial" pitchFamily="34" charset="0"/>
              <a:buChar char="•"/>
            </a:pPr>
            <a:r>
              <a:rPr lang="en-US" sz="2400" dirty="0" smtClean="0"/>
              <a:t>contracts </a:t>
            </a:r>
            <a:r>
              <a:rPr lang="en-US" sz="2400" dirty="0"/>
              <a:t>used to hedge portions of </a:t>
            </a:r>
            <a:r>
              <a:rPr lang="en-US" sz="2400" dirty="0" smtClean="0"/>
              <a:t>production</a:t>
            </a:r>
            <a:endParaRPr lang="en-US" sz="2400" dirty="0"/>
          </a:p>
        </p:txBody>
      </p:sp>
    </p:spTree>
    <p:extLst>
      <p:ext uri="{BB962C8B-B14F-4D97-AF65-F5344CB8AC3E}">
        <p14:creationId xmlns:p14="http://schemas.microsoft.com/office/powerpoint/2010/main" xmlns="" val="394362225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latin typeface="Cambria" pitchFamily="18" charset="0"/>
              </a:rPr>
              <a:t>Analysis of financial statements</a:t>
            </a:r>
            <a:endParaRPr lang="en-CA" dirty="0">
              <a:latin typeface="Cambria" pitchFamily="18" charset="0"/>
            </a:endParaRPr>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xmlns="" val="69800753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84889" y="260648"/>
            <a:ext cx="8335583" cy="6228971"/>
          </a:xfrm>
          <a:prstGeom prst="rect">
            <a:avLst/>
          </a:prstGeom>
          <a:ln>
            <a:solidFill>
              <a:schemeClr val="tx1"/>
            </a:solidFill>
          </a:ln>
        </p:spPr>
      </p:pic>
    </p:spTree>
    <p:extLst>
      <p:ext uri="{BB962C8B-B14F-4D97-AF65-F5344CB8AC3E}">
        <p14:creationId xmlns:p14="http://schemas.microsoft.com/office/powerpoint/2010/main" xmlns="" val="236124797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75601" y="260649"/>
            <a:ext cx="8588887" cy="6264696"/>
          </a:xfrm>
          <a:prstGeom prst="rect">
            <a:avLst/>
          </a:prstGeom>
          <a:ln>
            <a:solidFill>
              <a:schemeClr val="tx1"/>
            </a:solidFill>
          </a:ln>
        </p:spPr>
      </p:pic>
    </p:spTree>
    <p:extLst>
      <p:ext uri="{BB962C8B-B14F-4D97-AF65-F5344CB8AC3E}">
        <p14:creationId xmlns:p14="http://schemas.microsoft.com/office/powerpoint/2010/main" xmlns="" val="159692850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04979" y="187400"/>
            <a:ext cx="7515493" cy="6409952"/>
          </a:xfrm>
          <a:prstGeom prst="rect">
            <a:avLst/>
          </a:prstGeom>
          <a:ln>
            <a:solidFill>
              <a:schemeClr val="tx1"/>
            </a:solidFill>
          </a:ln>
        </p:spPr>
      </p:pic>
    </p:spTree>
    <p:extLst>
      <p:ext uri="{BB962C8B-B14F-4D97-AF65-F5344CB8AC3E}">
        <p14:creationId xmlns:p14="http://schemas.microsoft.com/office/powerpoint/2010/main" xmlns="" val="122540520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extLst>
              <a:ext uri="{28A0092B-C50C-407E-A947-70E740481C1C}">
                <a14:useLocalDpi xmlns:a14="http://schemas.microsoft.com/office/drawing/2010/main" xmlns="" val="0"/>
              </a:ext>
            </a:extLst>
          </a:blip>
          <a:srcRect t="1630"/>
          <a:stretch/>
        </p:blipFill>
        <p:spPr>
          <a:xfrm>
            <a:off x="1043608" y="627320"/>
            <a:ext cx="7985439" cy="4745895"/>
          </a:xfrm>
          <a:prstGeom prst="rect">
            <a:avLst/>
          </a:prstGeom>
        </p:spPr>
      </p:pic>
    </p:spTree>
    <p:extLst>
      <p:ext uri="{BB962C8B-B14F-4D97-AF65-F5344CB8AC3E}">
        <p14:creationId xmlns:p14="http://schemas.microsoft.com/office/powerpoint/2010/main" xmlns="" val="129262540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10730"/>
          <a:stretch/>
        </p:blipFill>
        <p:spPr bwMode="auto">
          <a:xfrm>
            <a:off x="1234585" y="876300"/>
            <a:ext cx="7801911" cy="57210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491880" y="246037"/>
            <a:ext cx="2861122" cy="630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8594313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1842" t="1616" r="1936" b="1075"/>
          <a:stretch/>
        </p:blipFill>
        <p:spPr bwMode="auto">
          <a:xfrm>
            <a:off x="3275856" y="393525"/>
            <a:ext cx="3638550" cy="64198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8403" t="12499" r="9047" b="13750"/>
          <a:stretch/>
        </p:blipFill>
        <p:spPr bwMode="auto">
          <a:xfrm>
            <a:off x="3462089" y="109536"/>
            <a:ext cx="2406055" cy="561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3239293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55776" y="44624"/>
            <a:ext cx="5112568" cy="6777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563888" y="44624"/>
            <a:ext cx="2327523" cy="4619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8724492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485800"/>
            <a:ext cx="7498080" cy="1143000"/>
          </a:xfrm>
        </p:spPr>
        <p:txBody>
          <a:bodyPr>
            <a:normAutofit fontScale="90000"/>
          </a:bodyPr>
          <a:lstStyle/>
          <a:p>
            <a:r>
              <a:rPr lang="en-US" altLang="zh-CN" b="1" dirty="0" smtClean="0"/>
              <a:t>Fair Value Measurements</a:t>
            </a:r>
            <a:r>
              <a:rPr lang="zh-CN" altLang="en-US" dirty="0" smtClean="0"/>
              <a:t/>
            </a:r>
            <a:br>
              <a:rPr lang="zh-CN" altLang="en-US" dirty="0" smtClean="0"/>
            </a:br>
            <a:endParaRPr lang="en-CA" dirty="0"/>
          </a:p>
        </p:txBody>
      </p:sp>
      <p:sp>
        <p:nvSpPr>
          <p:cNvPr id="3" name="Content Placeholder 2"/>
          <p:cNvSpPr>
            <a:spLocks noGrp="1"/>
          </p:cNvSpPr>
          <p:nvPr>
            <p:ph idx="1"/>
          </p:nvPr>
        </p:nvSpPr>
        <p:spPr/>
        <p:txBody>
          <a:bodyPr/>
          <a:lstStyle/>
          <a:p>
            <a:r>
              <a:rPr lang="en-US" altLang="zh-CN" dirty="0" smtClean="0"/>
              <a:t>The Company determines the fair value of certain of its inventories of agricultural commodities, derivative contracts, and marketable securities based on the fair value definition and hierarchy levels </a:t>
            </a:r>
          </a:p>
          <a:p>
            <a:endParaRPr lang="en-US" altLang="zh-CN" i="1" dirty="0" smtClean="0"/>
          </a:p>
          <a:p>
            <a:endParaRPr lang="en-CA"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260648"/>
            <a:ext cx="7498080" cy="1143000"/>
          </a:xfrm>
        </p:spPr>
        <p:txBody>
          <a:bodyPr>
            <a:normAutofit/>
          </a:bodyPr>
          <a:lstStyle/>
          <a:p>
            <a:r>
              <a:rPr lang="en-CA" sz="3500" b="1" dirty="0" smtClean="0"/>
              <a:t>Fair Value Measurement (Cont’d)</a:t>
            </a:r>
            <a:endParaRPr lang="en-CA" sz="3500" b="1" dirty="0"/>
          </a:p>
        </p:txBody>
      </p:sp>
      <p:sp>
        <p:nvSpPr>
          <p:cNvPr id="3" name="Content Placeholder 2"/>
          <p:cNvSpPr>
            <a:spLocks noGrp="1"/>
          </p:cNvSpPr>
          <p:nvPr>
            <p:ph idx="1"/>
          </p:nvPr>
        </p:nvSpPr>
        <p:spPr>
          <a:xfrm>
            <a:off x="1037896" y="1484784"/>
            <a:ext cx="8106104" cy="4800600"/>
          </a:xfrm>
        </p:spPr>
        <p:txBody>
          <a:bodyPr>
            <a:normAutofit lnSpcReduction="10000"/>
          </a:bodyPr>
          <a:lstStyle/>
          <a:p>
            <a:r>
              <a:rPr lang="en-US" altLang="zh-CN" dirty="0" smtClean="0"/>
              <a:t>Three levels are established within the hierarchy that may be used to measure fair value:</a:t>
            </a:r>
          </a:p>
          <a:p>
            <a:pPr lvl="1"/>
            <a:r>
              <a:rPr lang="en-US" altLang="zh-CN" dirty="0" smtClean="0"/>
              <a:t>Level 1: </a:t>
            </a:r>
            <a:r>
              <a:rPr lang="en-US" altLang="zh-CN" dirty="0" smtClean="0">
                <a:solidFill>
                  <a:srgbClr val="FF0000"/>
                </a:solidFill>
              </a:rPr>
              <a:t>Quoted prices </a:t>
            </a:r>
            <a:r>
              <a:rPr lang="en-US" altLang="zh-CN" dirty="0" smtClean="0"/>
              <a:t>(unadjusted) in active markets for identical assets or liabilities.</a:t>
            </a:r>
          </a:p>
          <a:p>
            <a:pPr lvl="1"/>
            <a:r>
              <a:rPr lang="en-US" altLang="zh-CN" dirty="0" smtClean="0"/>
              <a:t>Level 2: </a:t>
            </a:r>
            <a:r>
              <a:rPr lang="en-US" altLang="zh-CN" dirty="0" smtClean="0">
                <a:solidFill>
                  <a:srgbClr val="FF0000"/>
                </a:solidFill>
              </a:rPr>
              <a:t>Observable inputs</a:t>
            </a:r>
            <a:r>
              <a:rPr lang="en-US" altLang="zh-CN" dirty="0" smtClean="0"/>
              <a:t>, including Level 1 prices that have been adjusted</a:t>
            </a:r>
          </a:p>
          <a:p>
            <a:pPr lvl="1"/>
            <a:r>
              <a:rPr lang="en-US" altLang="zh-CN" dirty="0" smtClean="0"/>
              <a:t>Level 3: Unobservable inputs that are supported by little or no market activity and that are  a significant component of the fair value of the assets</a:t>
            </a:r>
            <a:endParaRPr lang="zh-CN" altLang="en-US" dirty="0" smtClean="0"/>
          </a:p>
          <a:p>
            <a:pPr lvl="1"/>
            <a:endParaRPr lang="en-CA"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7624" y="116632"/>
            <a:ext cx="7956376" cy="1246495"/>
          </a:xfrm>
          <a:prstGeom prst="rect">
            <a:avLst/>
          </a:prstGeom>
        </p:spPr>
        <p:txBody>
          <a:bodyPr wrap="square">
            <a:spAutoFit/>
          </a:bodyPr>
          <a:lstStyle/>
          <a:p>
            <a:r>
              <a:rPr lang="en-US" altLang="zh-CN" sz="2500" dirty="0" smtClean="0">
                <a:solidFill>
                  <a:srgbClr val="FF0000"/>
                </a:solidFill>
              </a:rPr>
              <a:t>Level 1 </a:t>
            </a:r>
            <a:r>
              <a:rPr lang="en-US" altLang="zh-CN" sz="2500" dirty="0" smtClean="0"/>
              <a:t>assets and liabilities include exchange-traded derivative contracts, U.S. treasury securities and certain publicly traded equity securities.</a:t>
            </a:r>
            <a:endParaRPr lang="zh-CN" altLang="en-US" sz="2500" dirty="0"/>
          </a:p>
        </p:txBody>
      </p:sp>
      <p:sp>
        <p:nvSpPr>
          <p:cNvPr id="3" name="矩形 2"/>
          <p:cNvSpPr/>
          <p:nvPr/>
        </p:nvSpPr>
        <p:spPr>
          <a:xfrm>
            <a:off x="1259632" y="1844824"/>
            <a:ext cx="7632848" cy="1631216"/>
          </a:xfrm>
          <a:prstGeom prst="rect">
            <a:avLst/>
          </a:prstGeom>
        </p:spPr>
        <p:txBody>
          <a:bodyPr wrap="square">
            <a:spAutoFit/>
          </a:bodyPr>
          <a:lstStyle/>
          <a:p>
            <a:r>
              <a:rPr lang="en-US" altLang="zh-CN" sz="2500" dirty="0" smtClean="0">
                <a:solidFill>
                  <a:srgbClr val="FF0000"/>
                </a:solidFill>
              </a:rPr>
              <a:t>Level 2 </a:t>
            </a:r>
            <a:r>
              <a:rPr lang="en-US" altLang="zh-CN" sz="2500" dirty="0" smtClean="0"/>
              <a:t>quoted prices for similar assets or liabilities; quoted prices in markets that are less active than traded exchanges; and other inputs that are observable or can be substantially corroborated by observable market data.</a:t>
            </a:r>
            <a:endParaRPr lang="zh-CN" altLang="en-US" sz="2500" dirty="0"/>
          </a:p>
        </p:txBody>
      </p:sp>
      <p:sp>
        <p:nvSpPr>
          <p:cNvPr id="5" name="矩形 4"/>
          <p:cNvSpPr/>
          <p:nvPr/>
        </p:nvSpPr>
        <p:spPr>
          <a:xfrm>
            <a:off x="1259632" y="4365104"/>
            <a:ext cx="7488832" cy="2400657"/>
          </a:xfrm>
          <a:prstGeom prst="rect">
            <a:avLst/>
          </a:prstGeom>
        </p:spPr>
        <p:txBody>
          <a:bodyPr wrap="square">
            <a:spAutoFit/>
          </a:bodyPr>
          <a:lstStyle/>
          <a:p>
            <a:r>
              <a:rPr lang="en-US" altLang="zh-CN" sz="2500" dirty="0" smtClean="0">
                <a:solidFill>
                  <a:srgbClr val="FF0000"/>
                </a:solidFill>
              </a:rPr>
              <a:t>Level 3 </a:t>
            </a:r>
            <a:r>
              <a:rPr lang="en-US" altLang="zh-CN" sz="2500" dirty="0" smtClean="0"/>
              <a:t>amounts can include assets and liabilities whose value is determined using pricing models, discounted cash flow methodologies, or similar techniques, as well as assets and liabilities for which the determination of fair value requires significant management judgment or estimation.</a:t>
            </a:r>
            <a:endParaRPr lang="zh-CN" altLang="en-US" sz="2500" dirty="0"/>
          </a:p>
        </p:txBody>
      </p:sp>
      <p:sp>
        <p:nvSpPr>
          <p:cNvPr id="6" name="下箭头 5"/>
          <p:cNvSpPr/>
          <p:nvPr/>
        </p:nvSpPr>
        <p:spPr>
          <a:xfrm>
            <a:off x="4644008" y="1340768"/>
            <a:ext cx="504056"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下箭头 6"/>
          <p:cNvSpPr/>
          <p:nvPr/>
        </p:nvSpPr>
        <p:spPr>
          <a:xfrm>
            <a:off x="4644008" y="3861048"/>
            <a:ext cx="504056"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11560" y="1268760"/>
            <a:ext cx="8447112" cy="39610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836712"/>
            <a:ext cx="8627640" cy="4862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3" y="1196752"/>
            <a:ext cx="8548767" cy="45365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357067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3" y="1052736"/>
            <a:ext cx="8632549" cy="41764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9552" y="1268760"/>
            <a:ext cx="8549248" cy="37444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smtClean="0"/>
              <a:t>Thanks for listening! </a:t>
            </a:r>
            <a:endParaRPr lang="en-CA" b="1" dirty="0"/>
          </a:p>
        </p:txBody>
      </p:sp>
      <p:sp>
        <p:nvSpPr>
          <p:cNvPr id="3" name="Content Placeholder 2"/>
          <p:cNvSpPr>
            <a:spLocks noGrp="1"/>
          </p:cNvSpPr>
          <p:nvPr>
            <p:ph idx="1"/>
          </p:nvPr>
        </p:nvSpPr>
        <p:spPr/>
        <p:txBody>
          <a:bodyPr/>
          <a:lstStyle/>
          <a:p>
            <a:endParaRPr lang="en-CA" dirty="0"/>
          </a:p>
        </p:txBody>
      </p:sp>
      <p:pic>
        <p:nvPicPr>
          <p:cNvPr id="111618" name="Picture 2" descr="http://www.alaska-in-pictures.com/data/media/22/golden-wheat-fields_5661.jpg"/>
          <p:cNvPicPr>
            <a:picLocks noChangeAspect="1" noChangeArrowheads="1"/>
          </p:cNvPicPr>
          <p:nvPr/>
        </p:nvPicPr>
        <p:blipFill>
          <a:blip r:embed="rId2" cstate="print"/>
          <a:srcRect/>
          <a:stretch>
            <a:fillRect/>
          </a:stretch>
        </p:blipFill>
        <p:spPr bwMode="auto">
          <a:xfrm>
            <a:off x="1187624" y="1268760"/>
            <a:ext cx="7606041" cy="5005685"/>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Custom 1">
      <a:majorFont>
        <a:latin typeface="Cambria"/>
        <a:ea typeface=""/>
        <a:cs typeface=""/>
      </a:majorFont>
      <a:minorFont>
        <a:latin typeface="Cambria"/>
        <a:ea typeface=""/>
        <a:cs typeface=""/>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1232</TotalTime>
  <Words>2748</Words>
  <Application>Microsoft Office PowerPoint</Application>
  <PresentationFormat>On-screen Show (4:3)</PresentationFormat>
  <Paragraphs>281</Paragraphs>
  <Slides>100</Slides>
  <Notes>12</Notes>
  <HiddenSlides>0</HiddenSlides>
  <MMClips>0</MMClips>
  <ScaleCrop>false</ScaleCrop>
  <HeadingPairs>
    <vt:vector size="4" baseType="variant">
      <vt:variant>
        <vt:lpstr>Theme</vt:lpstr>
      </vt:variant>
      <vt:variant>
        <vt:i4>1</vt:i4>
      </vt:variant>
      <vt:variant>
        <vt:lpstr>Slide Titles</vt:lpstr>
      </vt:variant>
      <vt:variant>
        <vt:i4>100</vt:i4>
      </vt:variant>
    </vt:vector>
  </HeadingPairs>
  <TitlesOfParts>
    <vt:vector size="101" baseType="lpstr">
      <vt:lpstr>Solstice</vt:lpstr>
      <vt:lpstr>Slide 1</vt:lpstr>
      <vt:lpstr>Outline </vt:lpstr>
      <vt:lpstr>Industry overview </vt:lpstr>
      <vt:lpstr>Agriculture Industry</vt:lpstr>
      <vt:lpstr>Commodity Agricultural Raw Materials Index</vt:lpstr>
      <vt:lpstr>Corn Prices </vt:lpstr>
      <vt:lpstr>Wheat Prices</vt:lpstr>
      <vt:lpstr>Soybeans Price</vt:lpstr>
      <vt:lpstr>Company overview</vt:lpstr>
      <vt:lpstr>President and CEO</vt:lpstr>
      <vt:lpstr>Company Overview &amp; Structure</vt:lpstr>
      <vt:lpstr>Products and Services </vt:lpstr>
      <vt:lpstr>Viterra: International</vt:lpstr>
      <vt:lpstr>Competitors</vt:lpstr>
      <vt:lpstr>Slide 15</vt:lpstr>
      <vt:lpstr>Slide 16</vt:lpstr>
      <vt:lpstr>Production in Canada </vt:lpstr>
      <vt:lpstr>2010 Seeded Acreage (Canada)</vt:lpstr>
      <vt:lpstr>Slide 19</vt:lpstr>
      <vt:lpstr>Average Acreage (Australia)</vt:lpstr>
      <vt:lpstr>Oat Production (2009) Canada</vt:lpstr>
      <vt:lpstr>Retail Locations (Canada) </vt:lpstr>
      <vt:lpstr>Input Cost </vt:lpstr>
      <vt:lpstr>Slide 24</vt:lpstr>
      <vt:lpstr>Regulatory: Viterra </vt:lpstr>
      <vt:lpstr>Firm’s strategy </vt:lpstr>
      <vt:lpstr>Firm Strategy (Future Growth)</vt:lpstr>
      <vt:lpstr>Strategic Direction</vt:lpstr>
      <vt:lpstr>Historical Prices</vt:lpstr>
      <vt:lpstr>Risk management</vt:lpstr>
      <vt:lpstr>Governance and Oversight</vt:lpstr>
      <vt:lpstr>Governance and Oversight (cont’d)</vt:lpstr>
      <vt:lpstr>Weather Risk</vt:lpstr>
      <vt:lpstr>Weather Risk (Cont’d)</vt:lpstr>
      <vt:lpstr>Food and Feed Product Safety Risk</vt:lpstr>
      <vt:lpstr>Commodity Price and Trading Risk</vt:lpstr>
      <vt:lpstr>Commodity Price and Trading Risk</vt:lpstr>
      <vt:lpstr>Sensitivity Analysis</vt:lpstr>
      <vt:lpstr>Interest Risk</vt:lpstr>
      <vt:lpstr>Merge and Acquisition Risk </vt:lpstr>
      <vt:lpstr>Regulatory Risks </vt:lpstr>
      <vt:lpstr>Third Party Relationship Risk </vt:lpstr>
      <vt:lpstr>Third Party Relationship Risk (cont’d) </vt:lpstr>
      <vt:lpstr>Commodity Price and Trading Risk</vt:lpstr>
      <vt:lpstr>Commodity Price and Trading Risk</vt:lpstr>
      <vt:lpstr>Sovereign and Political Risk</vt:lpstr>
      <vt:lpstr>Sovereign and Political Risk (cont’d)</vt:lpstr>
      <vt:lpstr>Liquidity Risk</vt:lpstr>
      <vt:lpstr>Capital Market Risk</vt:lpstr>
      <vt:lpstr>Credit Risk </vt:lpstr>
      <vt:lpstr>Foreign Exchange Risk</vt:lpstr>
      <vt:lpstr>Analysis of financial statements</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    ADM</vt:lpstr>
      <vt:lpstr>Company Overview</vt:lpstr>
      <vt:lpstr>Company Overview (cont’d)</vt:lpstr>
      <vt:lpstr>Segments</vt:lpstr>
      <vt:lpstr>Corn Processing </vt:lpstr>
      <vt:lpstr>Oilseeds Processing </vt:lpstr>
      <vt:lpstr>Agricultural Services </vt:lpstr>
      <vt:lpstr>Executives</vt:lpstr>
      <vt:lpstr>Historical Prices</vt:lpstr>
      <vt:lpstr>Risk management</vt:lpstr>
      <vt:lpstr>Major Risks</vt:lpstr>
      <vt:lpstr>Hedging Philosophy</vt:lpstr>
      <vt:lpstr>Hedging Philosophy</vt:lpstr>
      <vt:lpstr>Analysis of financial statements</vt:lpstr>
      <vt:lpstr>Slide 85</vt:lpstr>
      <vt:lpstr>Slide 86</vt:lpstr>
      <vt:lpstr>Slide 87</vt:lpstr>
      <vt:lpstr>Slide 88</vt:lpstr>
      <vt:lpstr>Slide 89</vt:lpstr>
      <vt:lpstr>Slide 90</vt:lpstr>
      <vt:lpstr>Slide 91</vt:lpstr>
      <vt:lpstr>Fair Value Measurements </vt:lpstr>
      <vt:lpstr>Fair Value Measurement (Cont’d)</vt:lpstr>
      <vt:lpstr>Slide 94</vt:lpstr>
      <vt:lpstr>Slide 95</vt:lpstr>
      <vt:lpstr>Slide 96</vt:lpstr>
      <vt:lpstr>Slide 97</vt:lpstr>
      <vt:lpstr>Slide 98</vt:lpstr>
      <vt:lpstr>Slide 99</vt:lpstr>
      <vt:lpstr>Thanks for listening!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 h v i r</dc:creator>
  <cp:lastModifiedBy>gp</cp:lastModifiedBy>
  <cp:revision>99</cp:revision>
  <dcterms:created xsi:type="dcterms:W3CDTF">2011-11-14T06:16:01Z</dcterms:created>
  <dcterms:modified xsi:type="dcterms:W3CDTF">2011-11-22T00:20:53Z</dcterms:modified>
</cp:coreProperties>
</file>