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embedTrueTypeFonts="1">
  <p:sldMasterIdLst>
    <p:sldMasterId id="2147483661" r:id="rId1"/>
  </p:sldMasterIdLst>
  <p:notesMasterIdLst>
    <p:notesMasterId r:id="rId31"/>
  </p:notesMasterIdLst>
  <p:handoutMasterIdLst>
    <p:handoutMasterId r:id="rId32"/>
  </p:handoutMasterIdLst>
  <p:sldIdLst>
    <p:sldId id="396" r:id="rId2"/>
    <p:sldId id="397" r:id="rId3"/>
    <p:sldId id="341" r:id="rId4"/>
    <p:sldId id="420" r:id="rId5"/>
    <p:sldId id="421" r:id="rId6"/>
    <p:sldId id="379" r:id="rId7"/>
    <p:sldId id="384" r:id="rId8"/>
    <p:sldId id="385" r:id="rId9"/>
    <p:sldId id="417" r:id="rId10"/>
    <p:sldId id="409" r:id="rId11"/>
    <p:sldId id="419" r:id="rId12"/>
    <p:sldId id="387" r:id="rId13"/>
    <p:sldId id="389" r:id="rId14"/>
    <p:sldId id="390" r:id="rId15"/>
    <p:sldId id="392" r:id="rId16"/>
    <p:sldId id="388" r:id="rId17"/>
    <p:sldId id="391" r:id="rId18"/>
    <p:sldId id="415" r:id="rId19"/>
    <p:sldId id="412" r:id="rId20"/>
    <p:sldId id="416" r:id="rId21"/>
    <p:sldId id="406" r:id="rId22"/>
    <p:sldId id="395" r:id="rId23"/>
    <p:sldId id="404" r:id="rId24"/>
    <p:sldId id="401" r:id="rId25"/>
    <p:sldId id="382" r:id="rId26"/>
    <p:sldId id="383" r:id="rId27"/>
    <p:sldId id="398" r:id="rId28"/>
    <p:sldId id="414" r:id="rId29"/>
    <p:sldId id="403" r:id="rId30"/>
  </p:sldIdLst>
  <p:sldSz cx="9144000" cy="6858000" type="screen4x3"/>
  <p:notesSz cx="7010400" cy="9296400"/>
  <p:embeddedFontLst>
    <p:embeddedFont>
      <p:font typeface="Franklin Gothic Heavy" pitchFamily="34" charset="0"/>
      <p:regular r:id="rId33"/>
      <p:italic r:id="rId34"/>
    </p:embeddedFont>
    <p:embeddedFont>
      <p:font typeface="Franklin Gothic Medium Cond" pitchFamily="34" charset="0"/>
      <p:regular r:id="rId35"/>
    </p:embeddedFont>
    <p:embeddedFont>
      <p:font typeface="Franklin Gothic Demi" pitchFamily="34" charset="0"/>
      <p:regular r:id="rId36"/>
      <p:italic r:id="rId37"/>
    </p:embeddedFont>
    <p:embeddedFont>
      <p:font typeface="Franklin Gothic Medium" pitchFamily="34" charset="0"/>
      <p:regular r:id="rId38"/>
      <p:italic r:id="rId39"/>
    </p:embeddedFont>
    <p:embeddedFont>
      <p:font typeface="Franklin Gothic Book" pitchFamily="34" charset="0"/>
      <p:regular r:id="rId40"/>
      <p:italic r:id="rId41"/>
    </p:embeddedFont>
  </p:embeddedFontLst>
  <p:custDataLst>
    <p:tags r:id="rId42"/>
  </p:custDataLst>
  <p:defaultTextStyle>
    <a:defPPr>
      <a:defRPr lang="en-US"/>
    </a:defPPr>
    <a:lvl1pPr algn="l" rtl="0" eaLnBrk="0" fontAlgn="base" hangingPunct="0">
      <a:lnSpc>
        <a:spcPct val="80000"/>
      </a:lnSpc>
      <a:spcBef>
        <a:spcPct val="20000"/>
      </a:spcBef>
      <a:spcAft>
        <a:spcPct val="0"/>
      </a:spcAft>
      <a:buChar char="•"/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lnSpc>
        <a:spcPct val="80000"/>
      </a:lnSpc>
      <a:spcBef>
        <a:spcPct val="20000"/>
      </a:spcBef>
      <a:spcAft>
        <a:spcPct val="0"/>
      </a:spcAft>
      <a:buChar char="•"/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lnSpc>
        <a:spcPct val="80000"/>
      </a:lnSpc>
      <a:spcBef>
        <a:spcPct val="20000"/>
      </a:spcBef>
      <a:spcAft>
        <a:spcPct val="0"/>
      </a:spcAft>
      <a:buChar char="•"/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lnSpc>
        <a:spcPct val="80000"/>
      </a:lnSpc>
      <a:spcBef>
        <a:spcPct val="20000"/>
      </a:spcBef>
      <a:spcAft>
        <a:spcPct val="0"/>
      </a:spcAft>
      <a:buChar char="•"/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lnSpc>
        <a:spcPct val="80000"/>
      </a:lnSpc>
      <a:spcBef>
        <a:spcPct val="20000"/>
      </a:spcBef>
      <a:spcAft>
        <a:spcPct val="0"/>
      </a:spcAft>
      <a:buChar char="•"/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66"/>
    <a:srgbClr val="00FF00"/>
    <a:srgbClr val="EAEAEA"/>
    <a:srgbClr val="C0C0C0"/>
    <a:srgbClr val="969696"/>
    <a:srgbClr val="777777"/>
    <a:srgbClr val="66FF66"/>
    <a:srgbClr val="66CCFF"/>
    <a:srgbClr val="99CCFF"/>
  </p:clrMru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4205" autoAdjust="0"/>
    <p:restoredTop sz="85205" autoAdjust="0"/>
  </p:normalViewPr>
  <p:slideViewPr>
    <p:cSldViewPr showGuides="1">
      <p:cViewPr>
        <p:scale>
          <a:sx n="100" d="100"/>
          <a:sy n="100" d="100"/>
        </p:scale>
        <p:origin x="60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>
        <p:scale>
          <a:sx n="100" d="100"/>
          <a:sy n="100" d="100"/>
        </p:scale>
        <p:origin x="-1500" y="978"/>
      </p:cViewPr>
      <p:guideLst>
        <p:guide orient="horz" pos="2928"/>
        <p:guide pos="2209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 sz="1200" b="0"/>
            </a:lvl1pPr>
          </a:lstStyle>
          <a:p>
            <a:pPr>
              <a:defRPr/>
            </a:pPr>
            <a:fld id="{C02ABA77-099F-4425-9F76-B1C3E3B33F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 sz="1200" b="0"/>
            </a:lvl1pPr>
          </a:lstStyle>
          <a:p>
            <a:pPr>
              <a:defRPr/>
            </a:pPr>
            <a:fld id="{6B6539DD-6179-4008-9624-4B85E2C574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3B7AD66F-DA11-4C45-9AD6-6EDCD9031374}" type="slidenum">
              <a:rPr lang="en-US" sz="1200" b="0"/>
              <a:pPr algn="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1</a:t>
            </a:fld>
            <a:endParaRPr lang="en-US" sz="1200" b="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583149E6-8D1E-45D7-ACEB-D49FF381EF2C}" type="slidenum">
              <a:rPr lang="en-US" sz="1200" b="0"/>
              <a:pPr algn="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</a:t>
            </a:fld>
            <a:endParaRPr lang="en-US" sz="1200" b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A8530E-8329-4DB2-A4E2-64020153C979}" type="slidenum">
              <a:rPr lang="en-US" smtClean="0"/>
              <a:pPr/>
              <a:t>3</a:t>
            </a:fld>
            <a:endParaRPr lang="en-US" smtClean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B6539DD-6179-4008-9624-4B85E2C5746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B6539DD-6179-4008-9624-4B85E2C5746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D9523CB-7C11-4067-BF77-67E0740CE69E}" type="slidenum">
              <a:rPr lang="en-US" smtClean="0"/>
              <a:pPr/>
              <a:t>6</a:t>
            </a:fld>
            <a:endParaRPr lang="en-US" smtClean="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4416425"/>
            <a:ext cx="6553200" cy="4670425"/>
          </a:xfrm>
          <a:noFill/>
          <a:ln/>
        </p:spPr>
        <p:txBody>
          <a:bodyPr lIns="91319" tIns="45660" rIns="91319" bIns="45660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63ACB37-944E-4E70-9038-0EBD2EF67F90}" type="slidenum">
              <a:rPr lang="en-US" smtClean="0"/>
              <a:pPr/>
              <a:t>7</a:t>
            </a:fld>
            <a:endParaRPr lang="en-US" smtClean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EBB0D85-CECC-4198-B303-B5BD0895DBA7}" type="slidenum">
              <a:rPr lang="en-US" smtClean="0"/>
              <a:pPr/>
              <a:t>8</a:t>
            </a:fld>
            <a:endParaRPr lang="en-US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297488" cy="4592638"/>
          </a:xfrm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B6539DD-6179-4008-9624-4B85E2C5746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B6539DD-6179-4008-9624-4B85E2C5746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B6539DD-6179-4008-9624-4B85E2C5746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B6539DD-6179-4008-9624-4B85E2C5746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B6539DD-6179-4008-9624-4B85E2C5746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B6539DD-6179-4008-9624-4B85E2C5746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B6539DD-6179-4008-9624-4B85E2C5746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B6539DD-6179-4008-9624-4B85E2C5746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B6539DD-6179-4008-9624-4B85E2C57466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B6539DD-6179-4008-9624-4B85E2C5746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B6539DD-6179-4008-9624-4B85E2C57466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9A96B41E-989E-4C32-8FBD-94716A03A412}" type="slidenum">
              <a:rPr lang="en-US" sz="1200" b="0"/>
              <a:pPr algn="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20</a:t>
            </a:fld>
            <a:endParaRPr lang="en-US" sz="1200" b="0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4416425"/>
            <a:ext cx="6477000" cy="4422775"/>
          </a:xfrm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B6539DD-6179-4008-9624-4B85E2C57466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036B65D4-CC63-47D5-BD0F-55B29F1CB4CD}" type="slidenum">
              <a:rPr lang="en-US" sz="1200" b="0"/>
              <a:pPr algn="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22</a:t>
            </a:fld>
            <a:endParaRPr lang="en-US" sz="1200" b="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B6539DD-6179-4008-9624-4B85E2C57466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B6539DD-6179-4008-9624-4B85E2C57466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8ED72E2-1662-44E2-BD49-F5F094487753}" type="slidenum">
              <a:rPr lang="en-US" smtClean="0"/>
              <a:pPr/>
              <a:t>25</a:t>
            </a:fld>
            <a:endParaRPr lang="en-US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D55074B-AA06-4569-BB9C-BEBAB03C2DAF}" type="slidenum">
              <a:rPr lang="en-US" smtClean="0"/>
              <a:pPr/>
              <a:t>26</a:t>
            </a:fld>
            <a:endParaRPr lang="en-US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fld id="{359289D6-2794-4559-8DA8-0352A7D33BC8}" type="slidenum">
              <a:rPr lang="en-US" sz="1200" b="0"/>
              <a:pPr algn="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27</a:t>
            </a:fld>
            <a:endParaRPr lang="en-US" sz="1200" b="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B6539DD-6179-4008-9624-4B85E2C57466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B6539DD-6179-4008-9624-4B85E2C57466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jpe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2209800"/>
          </a:xfrm>
          <a:ln/>
        </p:spPr>
        <p:txBody>
          <a:bodyPr/>
          <a:lstStyle>
            <a:lvl1pPr algn="l">
              <a:lnSpc>
                <a:spcPct val="100000"/>
              </a:lnSpc>
              <a:defRPr sz="5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Heavy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5181600"/>
            <a:ext cx="5486400" cy="1676400"/>
          </a:xfrm>
        </p:spPr>
        <p:txBody>
          <a:bodyPr tIns="182880" rIns="182880"/>
          <a:lstStyle>
            <a:lvl1pPr algn="l">
              <a:defRPr sz="3200">
                <a:solidFill>
                  <a:srgbClr val="FFFFCC"/>
                </a:solidFill>
                <a:latin typeface="Franklin Gothic Medium Cond" pitchFamily="34" charset="0"/>
              </a:defRPr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0" y="2209800"/>
            <a:ext cx="9144000" cy="2971800"/>
          </a:xfrm>
          <a:prstGeom prst="rect">
            <a:avLst/>
          </a:prstGeom>
          <a:solidFill>
            <a:schemeClr val="tx1">
              <a:alpha val="70000"/>
            </a:schemeClr>
          </a:solidFill>
          <a:effectLst>
            <a:innerShdw blurRad="114300">
              <a:prstClr val="black"/>
            </a:inn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152400" y="2285999"/>
            <a:ext cx="3429000" cy="2805545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solidFill>
              <a:srgbClr val="FFFFFF">
                <a:alpha val="74902"/>
              </a:srgb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3733800" y="2285999"/>
            <a:ext cx="3429000" cy="2805545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solidFill>
              <a:srgbClr val="FFFFFF">
                <a:alpha val="74902"/>
              </a:srgb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315200" y="2286000"/>
            <a:ext cx="1676400" cy="1371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  <a:ln>
            <a:solidFill>
              <a:srgbClr val="FFFFFF">
                <a:alpha val="74902"/>
              </a:srgb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7315200" y="3733800"/>
            <a:ext cx="1676400" cy="13716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  <a:ln>
            <a:solidFill>
              <a:srgbClr val="FFFFFF">
                <a:alpha val="74902"/>
              </a:srgb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034"/>
          <p:cNvSpPr>
            <a:spLocks noChangeArrowheads="1"/>
          </p:cNvSpPr>
          <p:nvPr/>
        </p:nvSpPr>
        <p:spPr bwMode="auto">
          <a:xfrm>
            <a:off x="2514600" y="0"/>
            <a:ext cx="4648200" cy="331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 sz="1400" b="1">
              <a:solidFill>
                <a:srgbClr val="CC0000"/>
              </a:solidFill>
            </a:endParaRPr>
          </a:p>
        </p:txBody>
      </p:sp>
      <p:sp>
        <p:nvSpPr>
          <p:cNvPr id="16" name="Text Box 1038"/>
          <p:cNvSpPr txBox="1">
            <a:spLocks noChangeArrowheads="1"/>
          </p:cNvSpPr>
          <p:nvPr/>
        </p:nvSpPr>
        <p:spPr bwMode="auto">
          <a:xfrm>
            <a:off x="4632325" y="265113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 b="1" i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Office of the Federal Coordinator for Meteorological Services and Supporting Research (OFCM)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D4618D-3BD9-4FEB-ADF2-DB96C31800F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600200"/>
            <a:ext cx="4114800" cy="4953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600200"/>
            <a:ext cx="4114800" cy="4953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Tx/>
              <a:buNone/>
            </a:pPr>
            <a:r>
              <a:rPr lang="en-US" smtClean="0"/>
              <a:t>Office of the Federal Coordinator for Meteorological Services and Supporting Research (OFCM)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700664-B6F1-42A8-BCD4-2FED4EE5BD7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1535113"/>
            <a:ext cx="4419600" cy="639762"/>
          </a:xfrm>
        </p:spPr>
        <p:txBody>
          <a:bodyPr anchor="b"/>
          <a:lstStyle>
            <a:lvl1pPr marL="0" indent="0">
              <a:buNone/>
              <a:defRPr lang="en-US" sz="2000" b="0" dirty="0" smtClean="0">
                <a:solidFill>
                  <a:schemeClr val="accent5">
                    <a:lumMod val="75000"/>
                  </a:schemeClr>
                </a:solidFill>
                <a:latin typeface="Franklin Gothic Demi" pitchFamily="34" charset="0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400" y="2174875"/>
            <a:ext cx="4419600" cy="395128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535113"/>
            <a:ext cx="4343400" cy="639762"/>
          </a:xfrm>
        </p:spPr>
        <p:txBody>
          <a:bodyPr anchor="b"/>
          <a:lstStyle>
            <a:lvl1pPr marL="0" indent="0" algn="l" rtl="0" eaLnBrk="1" fontAlgn="base" hangingPunct="1">
              <a:lnSpc>
                <a:spcPct val="90000"/>
              </a:lnSpc>
              <a:spcBef>
                <a:spcPct val="75000"/>
              </a:spcBef>
              <a:spcAft>
                <a:spcPct val="0"/>
              </a:spcAft>
              <a:buNone/>
              <a:defRPr lang="en-US" sz="2000" b="0" dirty="0" smtClean="0">
                <a:solidFill>
                  <a:schemeClr val="accent2">
                    <a:lumMod val="75000"/>
                  </a:schemeClr>
                </a:solidFill>
                <a:latin typeface="Franklin Gothic Demi" pitchFamily="34" charset="0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2174875"/>
            <a:ext cx="4343400" cy="395128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Office of the Federal Coordinator for Meteorological Services and Supporting Research (OFCM)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3ABDEF-D19A-478A-9CE2-451D94C3A4E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rPr lang="en-US" smtClean="0"/>
              <a:t>Office of the Federal Coordinator for Meteorological Services and Supporting Research (OFCM)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7AD998-3763-420B-BA34-708D53A547F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buFontTx/>
              <a:buNone/>
            </a:pPr>
            <a:r>
              <a:rPr lang="en-US" smtClean="0"/>
              <a:t>Office of the Federal Coordinator for Meteorological Services and Supporting Research (OFCM)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097A7F-E01B-4418-BE4B-63282C0D86A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/Vi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mtClean="0"/>
              <a:t>Office of the Federal Coordinator for Meteorological Services and Supporting Research (OFCM)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8CF04B2-B780-4D6C-9559-51EC6F41927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812800" y="1447800"/>
            <a:ext cx="3657600" cy="5093208"/>
          </a:xfrm>
          <a:gradFill>
            <a:gsLst>
              <a:gs pos="0">
                <a:schemeClr val="accent1">
                  <a:tint val="50000"/>
                  <a:satMod val="300000"/>
                </a:schemeClr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274320" tIns="2560320" rIns="274320" rtlCol="0" anchor="t" anchorCtr="0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en-US" sz="1800" dirty="0" smtClean="0">
                <a:solidFill>
                  <a:schemeClr val="accent1">
                    <a:lumMod val="75000"/>
                  </a:schemeClr>
                </a:solidFill>
                <a:latin typeface="Franklin Gothic Medium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4457700" y="1447800"/>
            <a:ext cx="3695700" cy="5118100"/>
          </a:xfrm>
          <a:gradFill>
            <a:gsLst>
              <a:gs pos="0">
                <a:schemeClr val="accent1">
                  <a:tint val="50000"/>
                  <a:satMod val="300000"/>
                </a:schemeClr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  <a:alpha val="0"/>
                </a:schemeClr>
              </a:gs>
            </a:gsLst>
          </a:gradFill>
          <a:ln w="9525">
            <a:noFill/>
            <a:miter lim="800000"/>
            <a:headEnd/>
            <a:tailEnd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274320" tIns="2560320" rIns="274320" bIns="45720" numCol="1" rtlCol="0" anchor="t" anchorCtr="0" compatLnSpc="1">
            <a:prstTxWarp prst="textNoShape">
              <a:avLst/>
            </a:prstTxWarp>
          </a:bodyPr>
          <a:lstStyle>
            <a:lvl1pPr algn="r" rtl="0" fontAlgn="base">
              <a:spcBef>
                <a:spcPct val="0"/>
              </a:spcBef>
              <a:spcAft>
                <a:spcPct val="0"/>
              </a:spcAft>
              <a:defRPr lang="en-US" sz="1800" smtClean="0">
                <a:solidFill>
                  <a:schemeClr val="accent1">
                    <a:lumMod val="75000"/>
                  </a:schemeClr>
                </a:solidFill>
                <a:latin typeface="Franklin Gothic Medium" pitchFamily="34" charset="0"/>
                <a:ea typeface="+mn-ea"/>
                <a:cs typeface="+mn-cs"/>
              </a:defRPr>
            </a:lvl1pPr>
            <a:lvl2pPr>
              <a:defRPr sz="1600">
                <a:solidFill>
                  <a:schemeClr val="accent1"/>
                </a:solidFill>
                <a:latin typeface="Franklin Gothic Medium Cond" pitchFamily="34" charset="0"/>
              </a:defRPr>
            </a:lvl2pPr>
          </a:lstStyle>
          <a:p>
            <a:pPr lvl="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 smtClean="0"/>
              <a:t>Click to edit Master text styles</a:t>
            </a:r>
          </a:p>
          <a:p>
            <a:pPr lvl="1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dirty="0" smtClean="0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/>
          </p:nvPr>
        </p:nvSpPr>
        <p:spPr>
          <a:xfrm>
            <a:off x="2895600" y="2057400"/>
            <a:ext cx="3352800" cy="1828800"/>
          </a:xfrm>
        </p:spPr>
        <p:txBody>
          <a:bodyPr/>
          <a:lstStyle/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800100" y="1447800"/>
            <a:ext cx="7353299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3600" kern="1200" dirty="0" smtClean="0">
                <a:solidFill>
                  <a:srgbClr val="000066"/>
                </a:solidFill>
                <a:latin typeface="Franklin Gothic Heavy" pitchFamily="34" charset="0"/>
                <a:ea typeface="+mn-ea"/>
                <a:cs typeface="+mn-cs"/>
              </a:rPr>
              <a:t>MISSION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otall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676400"/>
            <a:ext cx="4152900" cy="4876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10100" y="1676400"/>
            <a:ext cx="4152900" cy="4876800"/>
          </a:xfrm>
        </p:spPr>
        <p:txBody>
          <a:bodyPr/>
          <a:lstStyle/>
          <a:p>
            <a:pPr lvl="0"/>
            <a:r>
              <a:rPr lang="en-US" noProof="0" smtClean="0"/>
              <a:t>Click icon to add clip art</a:t>
            </a:r>
            <a:endParaRPr lang="en-US" noProof="0" dirty="0" smtClean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509119-0293-450B-865D-837C2CB8FEE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mtClean="0"/>
              <a:t>Office of the Federal Coordinator for Meteorological Services and Supporting Research (OFCM)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5.png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371600"/>
            <a:ext cx="9144000" cy="518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1371600"/>
            <a:ext cx="9144000" cy="762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luxtonEarth_FullP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7" y="283"/>
            <a:ext cx="9143244" cy="6857434"/>
          </a:xfrm>
          <a:prstGeom prst="rect">
            <a:avLst/>
          </a:prstGeom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0"/>
            <a:ext cx="7620000" cy="1371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18288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676400"/>
            <a:ext cx="85344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553200"/>
            <a:ext cx="70104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4008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solidFill>
                  <a:srgbClr val="FFFFCC"/>
                </a:solidFill>
                <a:latin typeface="Franklin Gothic Medium Cond" pitchFamily="34" charset="0"/>
              </a:defRPr>
            </a:lvl1pPr>
          </a:lstStyle>
          <a:p>
            <a:pPr>
              <a:buFontTx/>
              <a:buNone/>
            </a:pPr>
            <a:r>
              <a:rPr lang="en-US" smtClean="0"/>
              <a:t>Office of the Federal Coordinator for Meteorological Services and Supporting Research (OFCM)</a:t>
            </a: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53200"/>
            <a:ext cx="2133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buNone/>
              <a:defRPr sz="1400" b="0">
                <a:solidFill>
                  <a:srgbClr val="FFFFCC"/>
                </a:solidFill>
                <a:latin typeface="Franklin Gothic Medium Cond" pitchFamily="34" charset="0"/>
              </a:defRPr>
            </a:lvl1pPr>
          </a:lstStyle>
          <a:p>
            <a:pPr>
              <a:defRPr/>
            </a:pPr>
            <a:fld id="{68CF04B2-B780-4D6C-9559-51EC6F41927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031" name="Picture 7" descr="Dept of Commerce Seal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117475" y="6588125"/>
            <a:ext cx="236538" cy="234950"/>
          </a:xfrm>
          <a:prstGeom prst="rect">
            <a:avLst/>
          </a:prstGeom>
          <a:noFill/>
        </p:spPr>
      </p:pic>
      <p:pic>
        <p:nvPicPr>
          <p:cNvPr id="1032" name="Picture 8" descr="NOAA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46075" y="6591300"/>
            <a:ext cx="228600" cy="228600"/>
          </a:xfrm>
          <a:prstGeom prst="rect">
            <a:avLst/>
          </a:prstGeom>
          <a:noFill/>
        </p:spPr>
      </p:pic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3124200" y="6526213"/>
            <a:ext cx="4648200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/>
            <a:endParaRPr lang="en-US" sz="1400" b="1">
              <a:solidFill>
                <a:srgbClr val="CC0000"/>
              </a:solidFill>
            </a:endParaRPr>
          </a:p>
        </p:txBody>
      </p:sp>
      <p:sp>
        <p:nvSpPr>
          <p:cNvPr id="13" name="Text Box 24"/>
          <p:cNvSpPr txBox="1">
            <a:spLocks noChangeArrowheads="1"/>
          </p:cNvSpPr>
          <p:nvPr/>
        </p:nvSpPr>
        <p:spPr bwMode="auto">
          <a:xfrm>
            <a:off x="4632325" y="265113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 b="1" i="1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</p:sldLayoutIdLst>
  <p:timing>
    <p:tnLst>
      <p:par>
        <p:cTn id="1" dur="indefinite" restart="never" nodeType="tmRoot"/>
      </p:par>
    </p:tnLst>
  </p:timing>
  <p:hf hdr="0" dt="0"/>
  <p:txStyles>
    <p:titleStyle>
      <a:lvl1pPr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effectLst/>
          <a:latin typeface="Franklin Gothic Demi" pitchFamily="34" charset="0"/>
          <a:ea typeface="+mj-ea"/>
          <a:cs typeface="+mj-cs"/>
        </a:defRPr>
      </a:lvl1pPr>
      <a:lvl2pPr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SolexBlackLiningItalic" pitchFamily="2" charset="0"/>
        </a:defRPr>
      </a:lvl2pPr>
      <a:lvl3pPr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SolexBlackLiningItalic" pitchFamily="2" charset="0"/>
        </a:defRPr>
      </a:lvl3pPr>
      <a:lvl4pPr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SolexBlackLiningItalic" pitchFamily="2" charset="0"/>
        </a:defRPr>
      </a:lvl4pPr>
      <a:lvl5pPr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SolexBlackLiningItalic" pitchFamily="2" charset="0"/>
        </a:defRPr>
      </a:lvl5pPr>
      <a:lvl6pPr marL="457200"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SolexBlackLiningItalic" pitchFamily="2" charset="0"/>
        </a:defRPr>
      </a:lvl6pPr>
      <a:lvl7pPr marL="914400"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SolexBlackLiningItalic" pitchFamily="2" charset="0"/>
        </a:defRPr>
      </a:lvl7pPr>
      <a:lvl8pPr marL="1371600"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SolexBlackLiningItalic" pitchFamily="2" charset="0"/>
        </a:defRPr>
      </a:lvl8pPr>
      <a:lvl9pPr marL="1828800" algn="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FFCC"/>
          </a:solidFill>
          <a:latin typeface="SolexBlackLiningItalic" pitchFamily="2" charset="0"/>
        </a:defRPr>
      </a:lvl9pPr>
    </p:titleStyle>
    <p:bodyStyle>
      <a:lvl1pPr algn="l" rtl="0" eaLnBrk="1" fontAlgn="base" hangingPunct="1">
        <a:lnSpc>
          <a:spcPct val="90000"/>
        </a:lnSpc>
        <a:spcBef>
          <a:spcPct val="75000"/>
        </a:spcBef>
        <a:spcAft>
          <a:spcPct val="0"/>
        </a:spcAft>
        <a:defRPr sz="2800">
          <a:solidFill>
            <a:schemeClr val="accent1">
              <a:lumMod val="50000"/>
            </a:schemeClr>
          </a:solidFill>
          <a:latin typeface="Franklin Gothic Medium" pitchFamily="34" charset="0"/>
          <a:ea typeface="+mn-ea"/>
          <a:cs typeface="+mn-cs"/>
        </a:defRPr>
      </a:lvl1pPr>
      <a:lvl2pPr marL="514350" indent="-285750" algn="l" rtl="0" eaLnBrk="1" fontAlgn="base" hangingPunct="1">
        <a:spcBef>
          <a:spcPct val="5000"/>
        </a:spcBef>
        <a:spcAft>
          <a:spcPct val="0"/>
        </a:spcAft>
        <a:buFontTx/>
        <a:buBlip>
          <a:blip r:embed="rId14"/>
        </a:buBlip>
        <a:defRPr sz="2000">
          <a:solidFill>
            <a:schemeClr val="accent1">
              <a:lumMod val="50000"/>
            </a:schemeClr>
          </a:solidFill>
          <a:latin typeface="Franklin Gothic Medium Cond" pitchFamily="34" charset="0"/>
        </a:defRPr>
      </a:lvl2pPr>
      <a:lvl3pPr marL="914400" indent="-228600" algn="l" rtl="0" eaLnBrk="1" fontAlgn="base" hangingPunct="1">
        <a:spcBef>
          <a:spcPct val="5000"/>
        </a:spcBef>
        <a:spcAft>
          <a:spcPct val="0"/>
        </a:spcAft>
        <a:buFontTx/>
        <a:buBlip>
          <a:blip r:embed="rId15"/>
        </a:buBlip>
        <a:defRPr sz="1800">
          <a:solidFill>
            <a:schemeClr val="accent1">
              <a:lumMod val="50000"/>
            </a:schemeClr>
          </a:solidFill>
          <a:latin typeface="Franklin Gothic Medium Cond" pitchFamily="34" charset="0"/>
        </a:defRPr>
      </a:lvl3pPr>
      <a:lvl4pPr marL="1257300" indent="-228600" algn="l" rtl="0" eaLnBrk="1" fontAlgn="base" hangingPunct="1">
        <a:spcBef>
          <a:spcPct val="5000"/>
        </a:spcBef>
        <a:spcAft>
          <a:spcPct val="0"/>
        </a:spcAft>
        <a:buFontTx/>
        <a:buBlip>
          <a:blip r:embed="rId16"/>
        </a:buBlip>
        <a:defRPr sz="1600">
          <a:solidFill>
            <a:schemeClr val="accent1">
              <a:lumMod val="50000"/>
            </a:schemeClr>
          </a:solidFill>
          <a:latin typeface="Franklin Gothic Medium Cond" pitchFamily="34" charset="0"/>
        </a:defRPr>
      </a:lvl4pPr>
      <a:lvl5pPr marL="1600200" indent="-228600" algn="l" rtl="0" eaLnBrk="1" fontAlgn="base" hangingPunct="1">
        <a:spcBef>
          <a:spcPct val="5000"/>
        </a:spcBef>
        <a:spcAft>
          <a:spcPct val="0"/>
        </a:spcAft>
        <a:buChar char="»"/>
        <a:defRPr sz="1600">
          <a:solidFill>
            <a:schemeClr val="accent2"/>
          </a:solidFill>
          <a:latin typeface="Franklin Gothic Medium Cond" pitchFamily="34" charset="0"/>
        </a:defRPr>
      </a:lvl5pPr>
      <a:lvl6pPr marL="2057400" indent="-228600" algn="l" rtl="0" eaLnBrk="1" fontAlgn="base" hangingPunct="1">
        <a:spcBef>
          <a:spcPct val="5000"/>
        </a:spcBef>
        <a:spcAft>
          <a:spcPct val="0"/>
        </a:spcAft>
        <a:buChar char="»"/>
        <a:defRPr>
          <a:solidFill>
            <a:schemeClr val="accent2"/>
          </a:solidFill>
          <a:latin typeface="SolexRegularLining" pitchFamily="2" charset="0"/>
        </a:defRPr>
      </a:lvl6pPr>
      <a:lvl7pPr marL="2514600" indent="-228600" algn="l" rtl="0" eaLnBrk="1" fontAlgn="base" hangingPunct="1">
        <a:spcBef>
          <a:spcPct val="5000"/>
        </a:spcBef>
        <a:spcAft>
          <a:spcPct val="0"/>
        </a:spcAft>
        <a:buChar char="»"/>
        <a:defRPr>
          <a:solidFill>
            <a:schemeClr val="accent2"/>
          </a:solidFill>
          <a:latin typeface="SolexRegularLining" pitchFamily="2" charset="0"/>
        </a:defRPr>
      </a:lvl7pPr>
      <a:lvl8pPr marL="2971800" indent="-228600" algn="l" rtl="0" eaLnBrk="1" fontAlgn="base" hangingPunct="1">
        <a:spcBef>
          <a:spcPct val="5000"/>
        </a:spcBef>
        <a:spcAft>
          <a:spcPct val="0"/>
        </a:spcAft>
        <a:buChar char="»"/>
        <a:defRPr>
          <a:solidFill>
            <a:schemeClr val="accent2"/>
          </a:solidFill>
          <a:latin typeface="SolexRegularLining" pitchFamily="2" charset="0"/>
        </a:defRPr>
      </a:lvl8pPr>
      <a:lvl9pPr marL="3429000" indent="-228600" algn="l" rtl="0" eaLnBrk="1" fontAlgn="base" hangingPunct="1">
        <a:spcBef>
          <a:spcPct val="5000"/>
        </a:spcBef>
        <a:spcAft>
          <a:spcPct val="0"/>
        </a:spcAft>
        <a:buChar char="»"/>
        <a:defRPr>
          <a:solidFill>
            <a:schemeClr val="accent2"/>
          </a:solidFill>
          <a:latin typeface="SolexRegularLining" pitchFamily="2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jpeg"/><Relationship Id="rId3" Type="http://schemas.openxmlformats.org/officeDocument/2006/relationships/image" Target="../media/image31.jpeg"/><Relationship Id="rId7" Type="http://schemas.openxmlformats.org/officeDocument/2006/relationships/image" Target="../media/image35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jpeg"/><Relationship Id="rId5" Type="http://schemas.openxmlformats.org/officeDocument/2006/relationships/image" Target="../media/image33.jpeg"/><Relationship Id="rId4" Type="http://schemas.openxmlformats.org/officeDocument/2006/relationships/image" Target="../media/image32.jpeg"/><Relationship Id="rId9" Type="http://schemas.openxmlformats.org/officeDocument/2006/relationships/image" Target="../media/image37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 smtClean="0"/>
              <a:t>Office of the Federal Coordinator for Meteorological Services and Supporting Research (OFCM)</a:t>
            </a:r>
            <a:endParaRPr lang="en-US" sz="4000" dirty="0"/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Overview</a:t>
            </a:r>
          </a:p>
        </p:txBody>
      </p:sp>
      <p:sp>
        <p:nvSpPr>
          <p:cNvPr id="63490" name="Rectangle 2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Mission</a:t>
            </a:r>
          </a:p>
          <a:p>
            <a:r>
              <a:rPr lang="en-US" dirty="0" smtClean="0"/>
              <a:t>Perspective</a:t>
            </a:r>
          </a:p>
          <a:p>
            <a:r>
              <a:rPr lang="en-US" dirty="0" smtClean="0"/>
              <a:t>Federal Coordinating Infrastructure</a:t>
            </a:r>
          </a:p>
          <a:p>
            <a:r>
              <a:rPr lang="en-US" dirty="0" smtClean="0"/>
              <a:t>Partners and Affiliations</a:t>
            </a:r>
          </a:p>
          <a:p>
            <a:r>
              <a:rPr lang="en-US" dirty="0" smtClean="0"/>
              <a:t>Flow of Information/Coordination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mtClean="0"/>
              <a:t>Primary Products and Services</a:t>
            </a:r>
          </a:p>
          <a:p>
            <a:r>
              <a:rPr lang="en-US" smtClean="0"/>
              <a:t>High Priority Activities</a:t>
            </a:r>
          </a:p>
          <a:p>
            <a:r>
              <a:rPr lang="en-US" smtClean="0"/>
              <a:t>Facilities and Personnel</a:t>
            </a:r>
          </a:p>
          <a:p>
            <a:r>
              <a:rPr lang="en-US" smtClean="0"/>
              <a:t>Budget</a:t>
            </a:r>
          </a:p>
          <a:p>
            <a:r>
              <a:rPr lang="en-US" smtClean="0"/>
              <a:t>Urgent Issues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0700664-B6F1-42A8-BCD4-2FED4EE5BD77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mtClean="0"/>
              <a:t>Office of the Federal Coordinator for Meteorological Services and Supporting Research (OFCM)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Mission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mtClean="0"/>
              <a:t>To ensure the effective use of federal meteorological resources by leading the systematic coordination of operational weather requirements, services, and supporting research, among the 15 stakeholding federal agencies and offices.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High-level focus on:</a:t>
            </a:r>
          </a:p>
          <a:p>
            <a:pPr lvl="1"/>
            <a:r>
              <a:rPr lang="en-US" dirty="0" smtClean="0"/>
              <a:t>Needs and requirements</a:t>
            </a:r>
          </a:p>
          <a:p>
            <a:pPr lvl="1"/>
            <a:r>
              <a:rPr lang="en-US" dirty="0" smtClean="0"/>
              <a:t>Issues and problems </a:t>
            </a:r>
          </a:p>
          <a:p>
            <a:pPr lvl="1"/>
            <a:r>
              <a:rPr lang="en-US" dirty="0" smtClean="0"/>
              <a:t>Studies, reports, plans, and handbooks</a:t>
            </a:r>
          </a:p>
          <a:p>
            <a:pPr lvl="1"/>
            <a:r>
              <a:rPr lang="en-US" dirty="0" smtClean="0"/>
              <a:t>Crosscut reviews, assessments, and analyses</a:t>
            </a:r>
          </a:p>
        </p:txBody>
      </p:sp>
      <p:pic>
        <p:nvPicPr>
          <p:cNvPr id="23" name="Picture Placeholder 22" descr="westernIowa_BoyScoutKiller2008.jp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3636" b="13636"/>
          <a:stretch>
            <a:fillRect/>
          </a:stretch>
        </p:blipFill>
        <p:spPr/>
      </p:pic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8CF04B2-B780-4D6C-9559-51EC6F41927F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mtClean="0"/>
              <a:t>Office of the Federal Coordinator for Meteorological Services and Supporting Research (OFCM)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Perspective</a:t>
            </a:r>
            <a:br>
              <a:rPr lang="en-US" dirty="0" smtClean="0"/>
            </a:br>
            <a:r>
              <a:rPr lang="en-US" sz="2800" dirty="0" smtClean="0">
                <a:latin typeface="Franklin Gothic Medium Cond" pitchFamily="34" charset="0"/>
              </a:rPr>
              <a:t>44+ Years of Results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1600" dirty="0" smtClean="0"/>
              <a:t>R&amp;D and Technological Breakthroughs</a:t>
            </a:r>
          </a:p>
          <a:p>
            <a:pPr lvl="1"/>
            <a:r>
              <a:rPr lang="en-US" sz="1400" dirty="0" smtClean="0"/>
              <a:t>Interagency oversight of NEXRAD—1st successful tri-agency program</a:t>
            </a:r>
          </a:p>
          <a:p>
            <a:pPr lvl="1"/>
            <a:r>
              <a:rPr lang="en-US" sz="1400" dirty="0" smtClean="0"/>
              <a:t>Improved reconnaissance – </a:t>
            </a:r>
            <a:r>
              <a:rPr lang="en-US" sz="1400" dirty="0" err="1" smtClean="0"/>
              <a:t>dropwindsondes</a:t>
            </a:r>
            <a:r>
              <a:rPr lang="en-US" sz="1400" dirty="0" smtClean="0"/>
              <a:t>, </a:t>
            </a:r>
            <a:r>
              <a:rPr lang="en-US" sz="1400" dirty="0" err="1" smtClean="0"/>
              <a:t>satcom</a:t>
            </a:r>
            <a:r>
              <a:rPr lang="en-US" sz="1400" dirty="0" smtClean="0"/>
              <a:t>, SFMR</a:t>
            </a:r>
          </a:p>
          <a:p>
            <a:pPr lvl="1"/>
            <a:r>
              <a:rPr lang="en-US" sz="1400" dirty="0" smtClean="0"/>
              <a:t>Lightning Detection – national network established – late ’80s</a:t>
            </a:r>
          </a:p>
          <a:p>
            <a:pPr lvl="1"/>
            <a:r>
              <a:rPr lang="en-US" sz="1400" dirty="0" smtClean="0"/>
              <a:t>Aviation Safety – Icing, hazards, support to FAA R&amp;D program</a:t>
            </a:r>
          </a:p>
          <a:p>
            <a:pPr lvl="1"/>
            <a:r>
              <a:rPr lang="en-US" sz="1400" dirty="0" smtClean="0"/>
              <a:t>Today: Phased Array Radar, Tropical Cyclone R&amp;D</a:t>
            </a:r>
          </a:p>
          <a:p>
            <a:r>
              <a:rPr lang="en-US" sz="1600" dirty="0" smtClean="0"/>
              <a:t>Leadership</a:t>
            </a:r>
          </a:p>
          <a:p>
            <a:pPr lvl="1"/>
            <a:r>
              <a:rPr lang="en-US" sz="1400" dirty="0" smtClean="0"/>
              <a:t>World Weather Program – established US role, late ’60s</a:t>
            </a:r>
          </a:p>
          <a:p>
            <a:pPr lvl="1"/>
            <a:r>
              <a:rPr lang="en-US" sz="1400" dirty="0" smtClean="0"/>
              <a:t>International Field Year for the Great Lakes – early 70’s</a:t>
            </a:r>
          </a:p>
          <a:p>
            <a:pPr lvl="1"/>
            <a:r>
              <a:rPr lang="en-US" sz="1400" dirty="0" smtClean="0"/>
              <a:t>First steps in supercomputing for prediction – late ’70s</a:t>
            </a:r>
          </a:p>
          <a:p>
            <a:pPr lvl="1"/>
            <a:r>
              <a:rPr lang="en-US" sz="1400" dirty="0" smtClean="0"/>
              <a:t>Today: Space Weather, Surface Transportation, </a:t>
            </a:r>
            <a:r>
              <a:rPr lang="en-US" sz="1400" dirty="0" err="1" smtClean="0"/>
              <a:t>Wildland</a:t>
            </a:r>
            <a:r>
              <a:rPr lang="en-US" sz="1400" dirty="0" smtClean="0"/>
              <a:t> Fire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1600" smtClean="0"/>
              <a:t>Client Services</a:t>
            </a:r>
          </a:p>
          <a:p>
            <a:pPr lvl="1"/>
            <a:r>
              <a:rPr lang="en-US" sz="1400" smtClean="0"/>
              <a:t>Three Mile Island observation equipment</a:t>
            </a:r>
          </a:p>
          <a:p>
            <a:pPr lvl="1"/>
            <a:r>
              <a:rPr lang="en-US" sz="1400" smtClean="0"/>
              <a:t>GOES Data Communication System – telemetry coordination</a:t>
            </a:r>
          </a:p>
          <a:p>
            <a:pPr lvl="1"/>
            <a:r>
              <a:rPr lang="en-US" sz="1400" smtClean="0"/>
              <a:t>Genesis of the IIPS Conference – AMS’ largest &amp; most successful</a:t>
            </a:r>
          </a:p>
          <a:p>
            <a:pPr lvl="1"/>
            <a:r>
              <a:rPr lang="en-US" sz="1400" smtClean="0"/>
              <a:t>Climate services, from World Wx Program onward – ’80s to present</a:t>
            </a:r>
          </a:p>
          <a:p>
            <a:pPr lvl="1"/>
            <a:r>
              <a:rPr lang="en-US" sz="1400" smtClean="0"/>
              <a:t>Today:  Operational Processing Centers, ATD models, Post-storm data acquisition, plans, reports, federal handbooks, etc.</a:t>
            </a:r>
          </a:p>
          <a:p>
            <a:endParaRPr lang="en-US" sz="16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0700664-B6F1-42A8-BCD4-2FED4EE5BD77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mtClean="0"/>
              <a:t>Office of the Federal Coordinator for Meteorological Services and Supporting Research (OFCM)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Early Years: 1964-70</a:t>
            </a:r>
            <a:endParaRPr lang="en-US"/>
          </a:p>
        </p:txBody>
      </p:sp>
      <p:sp>
        <p:nvSpPr>
          <p:cNvPr id="104450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152400" y="2174875"/>
            <a:ext cx="3733800" cy="3951288"/>
          </a:xfrm>
        </p:spPr>
        <p:txBody>
          <a:bodyPr/>
          <a:lstStyle/>
          <a:p>
            <a:r>
              <a:rPr lang="en-US" dirty="0" smtClean="0"/>
              <a:t>FCMSSR Chair: Asst. Sec. S&amp;T, DOC</a:t>
            </a:r>
          </a:p>
          <a:p>
            <a:pPr lvl="1"/>
            <a:r>
              <a:rPr lang="en-US" dirty="0" smtClean="0"/>
              <a:t>J. Herbert Holloman</a:t>
            </a:r>
          </a:p>
          <a:p>
            <a:pPr lvl="1"/>
            <a:r>
              <a:rPr lang="en-US" dirty="0" smtClean="0"/>
              <a:t>John F. Kincaid</a:t>
            </a:r>
          </a:p>
          <a:p>
            <a:pPr lvl="1"/>
            <a:r>
              <a:rPr lang="en-US" dirty="0" smtClean="0"/>
              <a:t>Myron </a:t>
            </a:r>
            <a:r>
              <a:rPr lang="en-US" dirty="0" err="1" smtClean="0"/>
              <a:t>Tribus</a:t>
            </a:r>
            <a:endParaRPr lang="en-US" dirty="0" smtClean="0"/>
          </a:p>
          <a:p>
            <a:r>
              <a:rPr lang="en-US" dirty="0" smtClean="0"/>
              <a:t>Federal Coordinator: Robert M. White</a:t>
            </a:r>
          </a:p>
          <a:p>
            <a:pPr lvl="1"/>
            <a:r>
              <a:rPr lang="en-US" dirty="0" smtClean="0"/>
              <a:t>Chief, U.S Weather Bureau</a:t>
            </a:r>
          </a:p>
          <a:p>
            <a:pPr lvl="1"/>
            <a:r>
              <a:rPr lang="en-US" dirty="0" smtClean="0"/>
              <a:t>Administrator, ESSA</a:t>
            </a:r>
          </a:p>
          <a:p>
            <a:pPr lvl="1"/>
            <a:r>
              <a:rPr lang="en-US" dirty="0" smtClean="0"/>
              <a:t>Administrator, NOAA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mtClean="0"/>
              <a:t>Today</a:t>
            </a:r>
            <a:endParaRPr lang="en-US"/>
          </a:p>
        </p:txBody>
      </p:sp>
      <p:sp>
        <p:nvSpPr>
          <p:cNvPr id="23" name="Content Placeholder 22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 smtClean="0"/>
              <a:t>FCMSSR Chair: NOAA Administrator</a:t>
            </a:r>
          </a:p>
          <a:p>
            <a:pPr lvl="1"/>
            <a:r>
              <a:rPr lang="en-US" dirty="0" smtClean="0"/>
              <a:t>Dr. Bill Brennan</a:t>
            </a:r>
          </a:p>
          <a:p>
            <a:r>
              <a:rPr lang="en-US" dirty="0" smtClean="0"/>
              <a:t>Federal Coordinator</a:t>
            </a:r>
          </a:p>
          <a:p>
            <a:pPr lvl="1"/>
            <a:r>
              <a:rPr lang="en-US" dirty="0" smtClean="0"/>
              <a:t>Samuel P. Williamson</a:t>
            </a:r>
          </a:p>
          <a:p>
            <a:endParaRPr lang="en-US" dirty="0"/>
          </a:p>
        </p:txBody>
      </p:sp>
      <p:sp>
        <p:nvSpPr>
          <p:cNvPr id="24" name="Title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Perspective – Organization</a:t>
            </a:r>
            <a:br>
              <a:rPr lang="en-US" dirty="0" smtClean="0"/>
            </a:br>
            <a:r>
              <a:rPr lang="en-US" sz="2800" dirty="0" smtClean="0">
                <a:latin typeface="Franklin Gothic Medium Cond" pitchFamily="34" charset="0"/>
              </a:rPr>
              <a:t>History of Management and Structure </a:t>
            </a:r>
            <a:endParaRPr lang="en-US" sz="2800" dirty="0">
              <a:latin typeface="Franklin Gothic Medium Cond" pitchFamily="34" charset="0"/>
            </a:endParaRPr>
          </a:p>
        </p:txBody>
      </p:sp>
      <p:sp>
        <p:nvSpPr>
          <p:cNvPr id="104451" name="Rectangle 4"/>
          <p:cNvSpPr>
            <a:spLocks noChangeArrowheads="1"/>
          </p:cNvSpPr>
          <p:nvPr/>
        </p:nvSpPr>
        <p:spPr bwMode="auto">
          <a:xfrm>
            <a:off x="457200" y="76200"/>
            <a:ext cx="82296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sz="3200" dirty="0">
              <a:solidFill>
                <a:schemeClr val="tx2"/>
              </a:solidFill>
            </a:endParaRPr>
          </a:p>
        </p:txBody>
      </p:sp>
      <p:sp>
        <p:nvSpPr>
          <p:cNvPr id="104453" name="Rectangle 5"/>
          <p:cNvSpPr>
            <a:spLocks noChangeArrowheads="1"/>
          </p:cNvSpPr>
          <p:nvPr/>
        </p:nvSpPr>
        <p:spPr bwMode="auto">
          <a:xfrm>
            <a:off x="3124200" y="2514600"/>
            <a:ext cx="1295400" cy="533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buNone/>
            </a:pPr>
            <a:r>
              <a:rPr lang="en-US" b="0" dirty="0" smtClean="0">
                <a:latin typeface="+mj-lt"/>
              </a:rPr>
              <a:t>DOC</a:t>
            </a:r>
            <a:endParaRPr lang="en-US" b="0" dirty="0">
              <a:latin typeface="+mj-lt"/>
            </a:endParaRPr>
          </a:p>
        </p:txBody>
      </p:sp>
      <p:sp>
        <p:nvSpPr>
          <p:cNvPr id="104457" name="Rectangle 9"/>
          <p:cNvSpPr>
            <a:spLocks noChangeArrowheads="1"/>
          </p:cNvSpPr>
          <p:nvPr/>
        </p:nvSpPr>
        <p:spPr bwMode="auto">
          <a:xfrm>
            <a:off x="3200400" y="3238500"/>
            <a:ext cx="1143000" cy="381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buNone/>
            </a:pPr>
            <a:r>
              <a:rPr lang="en-US" b="0" dirty="0" smtClean="0">
                <a:latin typeface="+mj-lt"/>
              </a:rPr>
              <a:t>OFCM</a:t>
            </a:r>
          </a:p>
        </p:txBody>
      </p:sp>
      <p:sp>
        <p:nvSpPr>
          <p:cNvPr id="104468" name="Rectangle 8"/>
          <p:cNvSpPr>
            <a:spLocks noChangeArrowheads="1"/>
          </p:cNvSpPr>
          <p:nvPr/>
        </p:nvSpPr>
        <p:spPr bwMode="auto">
          <a:xfrm>
            <a:off x="0" y="5410200"/>
            <a:ext cx="8915400" cy="9906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marL="1435100" indent="-977900">
              <a:lnSpc>
                <a:spcPct val="90000"/>
              </a:lnSpc>
              <a:spcBef>
                <a:spcPct val="40000"/>
              </a:spcBef>
              <a:buNone/>
            </a:pPr>
            <a:r>
              <a:rPr lang="en-US" b="0" u="sng" dirty="0">
                <a:solidFill>
                  <a:schemeClr val="bg1"/>
                </a:solidFill>
                <a:latin typeface="Franklin Gothic Medium Cond" pitchFamily="34" charset="0"/>
              </a:rPr>
              <a:t>Take away:</a:t>
            </a:r>
            <a:r>
              <a:rPr lang="en-US" b="0" dirty="0">
                <a:solidFill>
                  <a:schemeClr val="bg1"/>
                </a:solidFill>
                <a:latin typeface="Franklin Gothic Medium Cond" pitchFamily="34" charset="0"/>
              </a:rPr>
              <a:t>  Due to the interagency coordinating </a:t>
            </a:r>
            <a:r>
              <a:rPr lang="en-US" b="0" dirty="0" smtClean="0">
                <a:solidFill>
                  <a:schemeClr val="bg1"/>
                </a:solidFill>
                <a:latin typeface="Franklin Gothic Medium Cond" pitchFamily="34" charset="0"/>
              </a:rPr>
              <a:t>mission — involving </a:t>
            </a:r>
            <a:r>
              <a:rPr lang="en-US" b="0" dirty="0">
                <a:solidFill>
                  <a:schemeClr val="bg1"/>
                </a:solidFill>
                <a:latin typeface="Franklin Gothic Medium Cond" pitchFamily="34" charset="0"/>
              </a:rPr>
              <a:t>significant policy </a:t>
            </a:r>
            <a:r>
              <a:rPr lang="en-US" b="0" dirty="0" smtClean="0">
                <a:solidFill>
                  <a:schemeClr val="bg1"/>
                </a:solidFill>
                <a:latin typeface="Franklin Gothic Medium Cond" pitchFamily="34" charset="0"/>
              </a:rPr>
              <a:t>issues — the </a:t>
            </a:r>
            <a:r>
              <a:rPr lang="en-US" b="0" dirty="0">
                <a:solidFill>
                  <a:schemeClr val="bg1"/>
                </a:solidFill>
                <a:latin typeface="Franklin Gothic Medium Cond" pitchFamily="34" charset="0"/>
              </a:rPr>
              <a:t>OFCM has in the past and continues today to receive policy guidance from the NOAA Administrator and FCMSSR    </a:t>
            </a:r>
          </a:p>
        </p:txBody>
      </p:sp>
      <p:cxnSp>
        <p:nvCxnSpPr>
          <p:cNvPr id="38" name="Straight Connector 37"/>
          <p:cNvCxnSpPr>
            <a:stCxn id="104453" idx="2"/>
            <a:endCxn id="104457" idx="0"/>
          </p:cNvCxnSpPr>
          <p:nvPr/>
        </p:nvCxnSpPr>
        <p:spPr>
          <a:xfrm rot="5400000">
            <a:off x="3676650" y="3143250"/>
            <a:ext cx="1905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5"/>
          <p:cNvSpPr>
            <a:spLocks noChangeArrowheads="1"/>
          </p:cNvSpPr>
          <p:nvPr/>
        </p:nvSpPr>
        <p:spPr bwMode="auto">
          <a:xfrm>
            <a:off x="7391400" y="2514600"/>
            <a:ext cx="1295400" cy="533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buNone/>
            </a:pPr>
            <a:r>
              <a:rPr lang="en-US" b="0" dirty="0" smtClean="0">
                <a:latin typeface="+mj-lt"/>
              </a:rPr>
              <a:t>NOAA</a:t>
            </a:r>
            <a:endParaRPr lang="en-US" b="0" dirty="0">
              <a:latin typeface="+mj-lt"/>
            </a:endParaRPr>
          </a:p>
        </p:txBody>
      </p:sp>
      <p:sp>
        <p:nvSpPr>
          <p:cNvPr id="40" name="Rectangle 9"/>
          <p:cNvSpPr>
            <a:spLocks noChangeArrowheads="1"/>
          </p:cNvSpPr>
          <p:nvPr/>
        </p:nvSpPr>
        <p:spPr bwMode="auto">
          <a:xfrm>
            <a:off x="7467600" y="3238500"/>
            <a:ext cx="1143000" cy="381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buNone/>
            </a:pPr>
            <a:r>
              <a:rPr lang="en-US" b="0" dirty="0" smtClean="0">
                <a:latin typeface="+mj-lt"/>
              </a:rPr>
              <a:t>OFCM</a:t>
            </a:r>
          </a:p>
        </p:txBody>
      </p:sp>
      <p:cxnSp>
        <p:nvCxnSpPr>
          <p:cNvPr id="41" name="Straight Connector 40"/>
          <p:cNvCxnSpPr>
            <a:stCxn id="39" idx="2"/>
            <a:endCxn id="40" idx="0"/>
          </p:cNvCxnSpPr>
          <p:nvPr/>
        </p:nvCxnSpPr>
        <p:spPr>
          <a:xfrm rot="5400000">
            <a:off x="7943850" y="3143250"/>
            <a:ext cx="1905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83ABDEF-D19A-478A-9CE2-451D94C3A4E9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Office of the Federal Coordinator for Meteorological Services and Supporting Research (OFCM)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Line 2"/>
          <p:cNvSpPr>
            <a:spLocks noChangeShapeType="1"/>
          </p:cNvSpPr>
          <p:nvPr/>
        </p:nvSpPr>
        <p:spPr bwMode="auto">
          <a:xfrm>
            <a:off x="4832350" y="2171700"/>
            <a:ext cx="0" cy="233363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2514600" y="1638300"/>
            <a:ext cx="4587875" cy="52322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400" b="0" dirty="0">
                <a:latin typeface="+mj-lt"/>
              </a:rPr>
              <a:t>Federal Committee for Meteorological Services and Supporting Research (FCMSSR)</a:t>
            </a:r>
          </a:p>
        </p:txBody>
      </p:sp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381000" y="3116263"/>
            <a:ext cx="4914900" cy="52322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400" b="0" dirty="0">
                <a:latin typeface="+mj-lt"/>
              </a:rPr>
              <a:t>Interdepartmental Committee for Meteorological Services and Supporting Research (ICMSSR)</a:t>
            </a:r>
          </a:p>
        </p:txBody>
      </p:sp>
      <p:sp>
        <p:nvSpPr>
          <p:cNvPr id="6149" name="Text Box 5"/>
          <p:cNvSpPr txBox="1">
            <a:spLocks noChangeArrowheads="1"/>
          </p:cNvSpPr>
          <p:nvPr/>
        </p:nvSpPr>
        <p:spPr bwMode="auto">
          <a:xfrm>
            <a:off x="5562600" y="3238500"/>
            <a:ext cx="3200400" cy="49244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400" b="0">
                <a:latin typeface="+mj-lt"/>
              </a:rPr>
              <a:t>National Space Weather Program </a:t>
            </a:r>
            <a:r>
              <a:rPr lang="en-US" sz="1200" b="0" i="1">
                <a:latin typeface="+mj-lt"/>
              </a:rPr>
              <a:t>Committee for Space Weather</a:t>
            </a:r>
          </a:p>
        </p:txBody>
      </p:sp>
      <p:sp>
        <p:nvSpPr>
          <p:cNvPr id="6150" name="Text Box 6"/>
          <p:cNvSpPr txBox="1">
            <a:spLocks noChangeArrowheads="1"/>
          </p:cNvSpPr>
          <p:nvPr/>
        </p:nvSpPr>
        <p:spPr bwMode="auto">
          <a:xfrm>
            <a:off x="5562600" y="3917950"/>
            <a:ext cx="3200400" cy="67710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400" b="0">
                <a:latin typeface="+mj-lt"/>
              </a:rPr>
              <a:t>National Aviation Weather Program</a:t>
            </a:r>
            <a:endParaRPr lang="en-US" sz="400" b="0">
              <a:latin typeface="+mj-lt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200" b="0" i="1">
                <a:latin typeface="+mj-lt"/>
              </a:rPr>
              <a:t>Committee for Aviation Services and Research</a:t>
            </a:r>
          </a:p>
        </p:txBody>
      </p:sp>
      <p:sp>
        <p:nvSpPr>
          <p:cNvPr id="6151" name="Text Box 7"/>
          <p:cNvSpPr txBox="1">
            <a:spLocks noChangeArrowheads="1"/>
          </p:cNvSpPr>
          <p:nvPr/>
        </p:nvSpPr>
        <p:spPr bwMode="auto">
          <a:xfrm>
            <a:off x="304800" y="4292600"/>
            <a:ext cx="2247900" cy="75882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400" b="0" dirty="0">
                <a:latin typeface="+mj-lt"/>
              </a:rPr>
              <a:t>Environmental Services, Operations, and Research Needs</a:t>
            </a:r>
          </a:p>
        </p:txBody>
      </p:sp>
      <p:sp>
        <p:nvSpPr>
          <p:cNvPr id="6152" name="Text Box 8"/>
          <p:cNvSpPr txBox="1">
            <a:spLocks noChangeArrowheads="1"/>
          </p:cNvSpPr>
          <p:nvPr/>
        </p:nvSpPr>
        <p:spPr bwMode="auto">
          <a:xfrm>
            <a:off x="3162300" y="4610100"/>
            <a:ext cx="2171700" cy="73866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400" b="0">
                <a:latin typeface="+mj-lt"/>
              </a:rPr>
              <a:t>Environmental Information Systems and Communications</a:t>
            </a:r>
          </a:p>
        </p:txBody>
      </p:sp>
      <p:sp>
        <p:nvSpPr>
          <p:cNvPr id="6153" name="Text Box 9"/>
          <p:cNvSpPr txBox="1">
            <a:spLocks noChangeArrowheads="1"/>
          </p:cNvSpPr>
          <p:nvPr/>
        </p:nvSpPr>
        <p:spPr bwMode="auto">
          <a:xfrm>
            <a:off x="3162300" y="5635625"/>
            <a:ext cx="2171700" cy="52322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400" b="0">
                <a:latin typeface="+mj-lt"/>
              </a:rPr>
              <a:t>Integrated Observing Systems</a:t>
            </a:r>
          </a:p>
        </p:txBody>
      </p:sp>
      <p:sp>
        <p:nvSpPr>
          <p:cNvPr id="6154" name="Text Box 10"/>
          <p:cNvSpPr txBox="1">
            <a:spLocks noChangeArrowheads="1"/>
          </p:cNvSpPr>
          <p:nvPr/>
        </p:nvSpPr>
        <p:spPr bwMode="auto">
          <a:xfrm>
            <a:off x="304800" y="5255280"/>
            <a:ext cx="2247900" cy="52322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400" b="0" dirty="0">
                <a:latin typeface="+mj-lt"/>
              </a:rPr>
              <a:t>Climate Analysis, Monitoring , and Services</a:t>
            </a:r>
          </a:p>
        </p:txBody>
      </p:sp>
      <p:sp>
        <p:nvSpPr>
          <p:cNvPr id="6155" name="Text Box 11"/>
          <p:cNvSpPr txBox="1">
            <a:spLocks noChangeArrowheads="1"/>
          </p:cNvSpPr>
          <p:nvPr/>
        </p:nvSpPr>
        <p:spPr bwMode="auto">
          <a:xfrm>
            <a:off x="304800" y="6013450"/>
            <a:ext cx="2247900" cy="30777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400" b="0">
                <a:latin typeface="+mj-lt"/>
              </a:rPr>
              <a:t>Cooperative Research</a:t>
            </a:r>
          </a:p>
        </p:txBody>
      </p:sp>
      <p:sp>
        <p:nvSpPr>
          <p:cNvPr id="6156" name="Line 12"/>
          <p:cNvSpPr>
            <a:spLocks noChangeShapeType="1"/>
          </p:cNvSpPr>
          <p:nvPr/>
        </p:nvSpPr>
        <p:spPr bwMode="auto">
          <a:xfrm>
            <a:off x="2857500" y="3665538"/>
            <a:ext cx="0" cy="1524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6157" name="Line 13"/>
          <p:cNvSpPr>
            <a:spLocks noChangeShapeType="1"/>
          </p:cNvSpPr>
          <p:nvPr/>
        </p:nvSpPr>
        <p:spPr bwMode="auto">
          <a:xfrm>
            <a:off x="2857500" y="4186238"/>
            <a:ext cx="0" cy="19812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6158" name="Line 14"/>
          <p:cNvSpPr>
            <a:spLocks noChangeShapeType="1"/>
          </p:cNvSpPr>
          <p:nvPr/>
        </p:nvSpPr>
        <p:spPr bwMode="auto">
          <a:xfrm>
            <a:off x="2552700" y="4583113"/>
            <a:ext cx="3048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6161" name="Line 17"/>
          <p:cNvSpPr>
            <a:spLocks noChangeShapeType="1"/>
          </p:cNvSpPr>
          <p:nvPr/>
        </p:nvSpPr>
        <p:spPr bwMode="auto">
          <a:xfrm>
            <a:off x="2833688" y="2933700"/>
            <a:ext cx="3543300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6179" name="Oval 25"/>
          <p:cNvSpPr>
            <a:spLocks noChangeArrowheads="1"/>
          </p:cNvSpPr>
          <p:nvPr/>
        </p:nvSpPr>
        <p:spPr bwMode="auto">
          <a:xfrm>
            <a:off x="6391275" y="2736850"/>
            <a:ext cx="2057400" cy="381000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/>
          </a:p>
        </p:txBody>
      </p:sp>
      <p:sp>
        <p:nvSpPr>
          <p:cNvPr id="6163" name="Line 19"/>
          <p:cNvSpPr>
            <a:spLocks noChangeShapeType="1"/>
          </p:cNvSpPr>
          <p:nvPr/>
        </p:nvSpPr>
        <p:spPr bwMode="auto">
          <a:xfrm flipV="1">
            <a:off x="2852738" y="2947988"/>
            <a:ext cx="0" cy="15240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6178" name="Text Box 24"/>
          <p:cNvSpPr txBox="1">
            <a:spLocks noChangeArrowheads="1"/>
          </p:cNvSpPr>
          <p:nvPr/>
        </p:nvSpPr>
        <p:spPr bwMode="auto">
          <a:xfrm>
            <a:off x="6429375" y="2767013"/>
            <a:ext cx="2057400" cy="3048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1400" b="0" dirty="0">
                <a:solidFill>
                  <a:schemeClr val="dk1"/>
                </a:solidFill>
                <a:latin typeface="+mj-lt"/>
              </a:rPr>
              <a:t>Program Councils</a:t>
            </a:r>
          </a:p>
        </p:txBody>
      </p:sp>
      <p:sp>
        <p:nvSpPr>
          <p:cNvPr id="6168" name="Text Box 26"/>
          <p:cNvSpPr txBox="1">
            <a:spLocks noChangeArrowheads="1"/>
          </p:cNvSpPr>
          <p:nvPr/>
        </p:nvSpPr>
        <p:spPr bwMode="auto">
          <a:xfrm>
            <a:off x="2971800" y="2400300"/>
            <a:ext cx="3825875" cy="307777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400" b="0">
                <a:solidFill>
                  <a:schemeClr val="accent1">
                    <a:lumMod val="50000"/>
                  </a:schemeClr>
                </a:solidFill>
                <a:latin typeface="+mj-lt"/>
              </a:rPr>
              <a:t>Federal Coordinator for Meteorology</a:t>
            </a:r>
          </a:p>
        </p:txBody>
      </p:sp>
      <p:sp>
        <p:nvSpPr>
          <p:cNvPr id="6169" name="Line 27"/>
          <p:cNvSpPr>
            <a:spLocks noChangeShapeType="1"/>
          </p:cNvSpPr>
          <p:nvPr/>
        </p:nvSpPr>
        <p:spPr bwMode="auto">
          <a:xfrm>
            <a:off x="4832350" y="2717800"/>
            <a:ext cx="0" cy="22860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6176" name="Oval 30"/>
          <p:cNvSpPr>
            <a:spLocks noChangeArrowheads="1"/>
          </p:cNvSpPr>
          <p:nvPr/>
        </p:nvSpPr>
        <p:spPr bwMode="auto">
          <a:xfrm>
            <a:off x="1638300" y="3817938"/>
            <a:ext cx="2362200" cy="381000"/>
          </a:xfrm>
          <a:prstGeom prst="ellipse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/>
          </a:p>
        </p:txBody>
      </p:sp>
      <p:sp>
        <p:nvSpPr>
          <p:cNvPr id="6175" name="Text Box 29"/>
          <p:cNvSpPr txBox="1">
            <a:spLocks noChangeArrowheads="1"/>
          </p:cNvSpPr>
          <p:nvPr/>
        </p:nvSpPr>
        <p:spPr bwMode="auto">
          <a:xfrm>
            <a:off x="1676400" y="3857626"/>
            <a:ext cx="2286000" cy="30480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400" b="0" dirty="0">
                <a:solidFill>
                  <a:schemeClr val="dk1"/>
                </a:solidFill>
                <a:latin typeface="+mj-lt"/>
              </a:rPr>
              <a:t>Standing</a:t>
            </a:r>
            <a:r>
              <a:rPr lang="en-US" sz="1400" dirty="0"/>
              <a:t> </a:t>
            </a:r>
            <a:r>
              <a:rPr lang="en-US" sz="1400" b="0" dirty="0">
                <a:solidFill>
                  <a:schemeClr val="dk1"/>
                </a:solidFill>
                <a:latin typeface="+mj-lt"/>
              </a:rPr>
              <a:t>Committees</a:t>
            </a:r>
          </a:p>
        </p:txBody>
      </p:sp>
      <p:sp>
        <p:nvSpPr>
          <p:cNvPr id="6171" name="Text Box 32"/>
          <p:cNvSpPr txBox="1">
            <a:spLocks noChangeArrowheads="1"/>
          </p:cNvSpPr>
          <p:nvPr/>
        </p:nvSpPr>
        <p:spPr bwMode="auto">
          <a:xfrm>
            <a:off x="5562600" y="4781550"/>
            <a:ext cx="3200400" cy="89255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400" b="0" dirty="0">
                <a:latin typeface="+mj-lt"/>
              </a:rPr>
              <a:t>National Operational Processing Centers </a:t>
            </a:r>
            <a:r>
              <a:rPr lang="en-US" sz="1400" b="0" dirty="0" smtClean="0">
                <a:latin typeface="+mj-lt"/>
              </a:rPr>
              <a:t>Program</a:t>
            </a:r>
            <a:endParaRPr lang="en-US" sz="400" b="0" dirty="0">
              <a:latin typeface="+mj-lt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200" b="0" i="1" dirty="0">
                <a:latin typeface="+mj-lt"/>
              </a:rPr>
              <a:t>Committee for Operational Processing Centers</a:t>
            </a:r>
          </a:p>
        </p:txBody>
      </p:sp>
      <p:sp>
        <p:nvSpPr>
          <p:cNvPr id="6181" name="Line 22"/>
          <p:cNvSpPr>
            <a:spLocks noChangeShapeType="1"/>
          </p:cNvSpPr>
          <p:nvPr/>
        </p:nvSpPr>
        <p:spPr bwMode="auto">
          <a:xfrm>
            <a:off x="8915400" y="2933700"/>
            <a:ext cx="0" cy="320040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6182" name="Line 16"/>
          <p:cNvSpPr>
            <a:spLocks noChangeShapeType="1"/>
          </p:cNvSpPr>
          <p:nvPr/>
        </p:nvSpPr>
        <p:spPr bwMode="auto">
          <a:xfrm>
            <a:off x="8458200" y="2933700"/>
            <a:ext cx="4572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6183" name="Line 16"/>
          <p:cNvSpPr>
            <a:spLocks noChangeShapeType="1"/>
          </p:cNvSpPr>
          <p:nvPr/>
        </p:nvSpPr>
        <p:spPr bwMode="auto">
          <a:xfrm>
            <a:off x="8763000" y="3492500"/>
            <a:ext cx="1524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6184" name="Line 16"/>
          <p:cNvSpPr>
            <a:spLocks noChangeShapeType="1"/>
          </p:cNvSpPr>
          <p:nvPr/>
        </p:nvSpPr>
        <p:spPr bwMode="auto">
          <a:xfrm>
            <a:off x="8763000" y="4267200"/>
            <a:ext cx="1524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6185" name="Line 16"/>
          <p:cNvSpPr>
            <a:spLocks noChangeShapeType="1"/>
          </p:cNvSpPr>
          <p:nvPr/>
        </p:nvSpPr>
        <p:spPr bwMode="auto">
          <a:xfrm>
            <a:off x="8763000" y="5245100"/>
            <a:ext cx="1524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6187" name="Text Box 32"/>
          <p:cNvSpPr txBox="1">
            <a:spLocks noChangeArrowheads="1"/>
          </p:cNvSpPr>
          <p:nvPr/>
        </p:nvSpPr>
        <p:spPr bwMode="auto">
          <a:xfrm>
            <a:off x="5562600" y="5918200"/>
            <a:ext cx="3200400" cy="369332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400" b="0">
                <a:latin typeface="+mj-lt"/>
              </a:rPr>
              <a:t>Multifunction Phased Array Radar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sz="400" b="0">
              <a:latin typeface="+mj-lt"/>
            </a:endParaRPr>
          </a:p>
        </p:txBody>
      </p:sp>
      <p:sp>
        <p:nvSpPr>
          <p:cNvPr id="6188" name="Line 16"/>
          <p:cNvSpPr>
            <a:spLocks noChangeShapeType="1"/>
          </p:cNvSpPr>
          <p:nvPr/>
        </p:nvSpPr>
        <p:spPr bwMode="auto">
          <a:xfrm>
            <a:off x="8763000" y="6134100"/>
            <a:ext cx="1524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6189" name="Line 14"/>
          <p:cNvSpPr>
            <a:spLocks noChangeShapeType="1"/>
          </p:cNvSpPr>
          <p:nvPr/>
        </p:nvSpPr>
        <p:spPr bwMode="auto">
          <a:xfrm>
            <a:off x="2552700" y="5524500"/>
            <a:ext cx="3048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6190" name="Line 14"/>
          <p:cNvSpPr>
            <a:spLocks noChangeShapeType="1"/>
          </p:cNvSpPr>
          <p:nvPr/>
        </p:nvSpPr>
        <p:spPr bwMode="auto">
          <a:xfrm>
            <a:off x="2546350" y="6165850"/>
            <a:ext cx="3048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6191" name="Line 14"/>
          <p:cNvSpPr>
            <a:spLocks noChangeShapeType="1"/>
          </p:cNvSpPr>
          <p:nvPr/>
        </p:nvSpPr>
        <p:spPr bwMode="auto">
          <a:xfrm>
            <a:off x="2857500" y="5905500"/>
            <a:ext cx="3048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6192" name="Line 14"/>
          <p:cNvSpPr>
            <a:spLocks noChangeShapeType="1"/>
          </p:cNvSpPr>
          <p:nvPr/>
        </p:nvSpPr>
        <p:spPr bwMode="auto">
          <a:xfrm>
            <a:off x="2851150" y="4991100"/>
            <a:ext cx="3048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pic>
        <p:nvPicPr>
          <p:cNvPr id="6194" name="Picture 50" descr="Williamson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779463" y="1295400"/>
            <a:ext cx="1101489" cy="1446484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195" name="Text Box 51"/>
          <p:cNvSpPr txBox="1">
            <a:spLocks noChangeArrowheads="1"/>
          </p:cNvSpPr>
          <p:nvPr/>
        </p:nvSpPr>
        <p:spPr bwMode="auto">
          <a:xfrm>
            <a:off x="501650" y="2822575"/>
            <a:ext cx="1762125" cy="2381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buFontTx/>
              <a:buNone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Samuel P. Williamson</a:t>
            </a:r>
          </a:p>
        </p:txBody>
      </p:sp>
      <p:sp>
        <p:nvSpPr>
          <p:cNvPr id="45" name="Title 4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How We Accomplish Our Mission…</a:t>
            </a:r>
            <a:br>
              <a:rPr lang="en-US" sz="3600" dirty="0" smtClean="0"/>
            </a:br>
            <a:r>
              <a:rPr lang="en-US" sz="2800" dirty="0" smtClean="0">
                <a:latin typeface="Franklin Gothic Medium Cond" pitchFamily="34" charset="0"/>
              </a:rPr>
              <a:t>Federal Meteorological Coordinating Infrastructure</a:t>
            </a:r>
            <a:endParaRPr lang="en-US" sz="2800" dirty="0">
              <a:latin typeface="Franklin Gothic Medium Cond" pitchFamily="34" charset="0"/>
            </a:endParaRPr>
          </a:p>
        </p:txBody>
      </p:sp>
      <p:sp>
        <p:nvSpPr>
          <p:cNvPr id="38" name="Slide Number Placeholder 3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7AD998-3763-420B-BA34-708D53A547F8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39" name="Footer Placeholder 3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Office of the Federal Coordinator for Meteorological Services and Supporting Research (OFCM)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5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Our Partners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Departments of:</a:t>
            </a:r>
          </a:p>
          <a:p>
            <a:pPr lvl="1"/>
            <a:r>
              <a:rPr lang="en-US" dirty="0" smtClean="0"/>
              <a:t>Agriculture</a:t>
            </a:r>
          </a:p>
          <a:p>
            <a:pPr lvl="1"/>
            <a:r>
              <a:rPr lang="en-US" dirty="0" smtClean="0"/>
              <a:t>Commerce</a:t>
            </a:r>
          </a:p>
          <a:p>
            <a:pPr lvl="1"/>
            <a:r>
              <a:rPr lang="en-US" dirty="0" smtClean="0"/>
              <a:t>Defense</a:t>
            </a:r>
          </a:p>
          <a:p>
            <a:pPr lvl="1"/>
            <a:r>
              <a:rPr lang="en-US" dirty="0" smtClean="0"/>
              <a:t>Energy</a:t>
            </a:r>
          </a:p>
          <a:p>
            <a:pPr lvl="1"/>
            <a:r>
              <a:rPr lang="en-US" dirty="0" smtClean="0"/>
              <a:t>Homeland Security</a:t>
            </a:r>
          </a:p>
          <a:p>
            <a:pPr lvl="2"/>
            <a:r>
              <a:rPr lang="en-US" dirty="0" smtClean="0"/>
              <a:t>  Science &amp; Technology</a:t>
            </a:r>
          </a:p>
          <a:p>
            <a:pPr lvl="2"/>
            <a:r>
              <a:rPr lang="en-US" dirty="0" smtClean="0"/>
              <a:t>  FEMA</a:t>
            </a:r>
          </a:p>
          <a:p>
            <a:pPr lvl="2"/>
            <a:r>
              <a:rPr lang="en-US" dirty="0" smtClean="0"/>
              <a:t>  Coast Guard</a:t>
            </a:r>
          </a:p>
          <a:p>
            <a:pPr lvl="1"/>
            <a:r>
              <a:rPr lang="en-US" dirty="0" smtClean="0"/>
              <a:t>Interior</a:t>
            </a:r>
          </a:p>
          <a:p>
            <a:pPr lvl="1"/>
            <a:r>
              <a:rPr lang="en-US" dirty="0" smtClean="0"/>
              <a:t>State</a:t>
            </a:r>
          </a:p>
          <a:p>
            <a:pPr lvl="1"/>
            <a:r>
              <a:rPr lang="en-US" dirty="0" smtClean="0"/>
              <a:t>Transportation</a:t>
            </a:r>
          </a:p>
          <a:p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Independent agencies:</a:t>
            </a:r>
          </a:p>
          <a:p>
            <a:pPr lvl="1"/>
            <a:r>
              <a:rPr lang="en-US" dirty="0" smtClean="0"/>
              <a:t>Environmental Protection Agency</a:t>
            </a:r>
          </a:p>
          <a:p>
            <a:pPr lvl="1"/>
            <a:r>
              <a:rPr lang="en-US" dirty="0" smtClean="0"/>
              <a:t>National Aeronautics and Space Administration</a:t>
            </a:r>
          </a:p>
          <a:p>
            <a:pPr lvl="1"/>
            <a:r>
              <a:rPr lang="en-US" dirty="0" smtClean="0"/>
              <a:t>National Science Foundation</a:t>
            </a:r>
          </a:p>
          <a:p>
            <a:pPr lvl="1"/>
            <a:r>
              <a:rPr lang="en-US" dirty="0" smtClean="0"/>
              <a:t>National Transportation Safety Board</a:t>
            </a:r>
          </a:p>
          <a:p>
            <a:pPr lvl="1"/>
            <a:r>
              <a:rPr lang="en-US" dirty="0" smtClean="0"/>
              <a:t>Nuclear Regulatory Commission</a:t>
            </a:r>
          </a:p>
          <a:p>
            <a:r>
              <a:rPr lang="en-US" dirty="0" smtClean="0"/>
              <a:t>Executive Office of the President:</a:t>
            </a:r>
          </a:p>
          <a:p>
            <a:pPr lvl="1"/>
            <a:r>
              <a:rPr lang="en-US" dirty="0" smtClean="0"/>
              <a:t>Office of Management and Budget</a:t>
            </a:r>
          </a:p>
          <a:p>
            <a:pPr lvl="1"/>
            <a:r>
              <a:rPr lang="en-US" dirty="0" smtClean="0"/>
              <a:t>Office of Science and Technology Policy</a:t>
            </a:r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0700664-B6F1-42A8-BCD4-2FED4EE5BD77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mtClean="0"/>
              <a:t>Office of the Federal Coordinator for Meteorological Services and Supporting Research (OFCM)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8" name="Rectangle 8"/>
          <p:cNvSpPr>
            <a:spLocks noChangeArrowheads="1"/>
          </p:cNvSpPr>
          <p:nvPr/>
        </p:nvSpPr>
        <p:spPr bwMode="auto">
          <a:xfrm>
            <a:off x="1775619" y="1416051"/>
            <a:ext cx="5592762" cy="99060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b="0">
              <a:latin typeface="Franklin Gothic Medium Cond" pitchFamily="34" charset="0"/>
            </a:endParaRPr>
          </a:p>
        </p:txBody>
      </p:sp>
      <p:sp>
        <p:nvSpPr>
          <p:cNvPr id="8200" name="Rectangle 17"/>
          <p:cNvSpPr>
            <a:spLocks noChangeArrowheads="1"/>
          </p:cNvSpPr>
          <p:nvPr/>
        </p:nvSpPr>
        <p:spPr bwMode="auto">
          <a:xfrm>
            <a:off x="671513" y="4841875"/>
            <a:ext cx="7772400" cy="1679575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b="0">
              <a:latin typeface="Franklin Gothic Medium Cond" pitchFamily="34" charset="0"/>
            </a:endParaRPr>
          </a:p>
        </p:txBody>
      </p:sp>
      <p:sp>
        <p:nvSpPr>
          <p:cNvPr id="8207" name="Text Box 5"/>
          <p:cNvSpPr txBox="1">
            <a:spLocks noChangeArrowheads="1"/>
          </p:cNvSpPr>
          <p:nvPr/>
        </p:nvSpPr>
        <p:spPr bwMode="auto">
          <a:xfrm>
            <a:off x="1851819" y="1430339"/>
            <a:ext cx="5081588" cy="9842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tabLst>
                <a:tab pos="508000" algn="l"/>
              </a:tabLst>
            </a:pPr>
            <a:r>
              <a:rPr lang="en-US" sz="2000" b="0" dirty="0">
                <a:solidFill>
                  <a:schemeClr val="bg1"/>
                </a:solidFill>
                <a:latin typeface="Franklin Gothic Medium Cond" pitchFamily="34" charset="0"/>
              </a:rPr>
              <a:t>National Research Council (NRC)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tabLst>
                <a:tab pos="508000" algn="l"/>
              </a:tabLst>
            </a:pPr>
            <a:r>
              <a:rPr lang="en-US" b="0" dirty="0">
                <a:solidFill>
                  <a:schemeClr val="bg1"/>
                </a:solidFill>
                <a:latin typeface="Franklin Gothic Medium Cond" pitchFamily="34" charset="0"/>
              </a:rPr>
              <a:t>	Board on Atmospheric Sciences and Climate (BASC)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  <a:tabLst>
                <a:tab pos="508000" algn="l"/>
              </a:tabLst>
            </a:pPr>
            <a:r>
              <a:rPr lang="en-US" b="0" dirty="0">
                <a:solidFill>
                  <a:schemeClr val="bg1"/>
                </a:solidFill>
                <a:latin typeface="Franklin Gothic Medium Cond" pitchFamily="34" charset="0"/>
              </a:rPr>
              <a:t>	Climate Research Committee (CRC)</a:t>
            </a:r>
            <a:endParaRPr lang="en-US" sz="2000" b="0" dirty="0">
              <a:solidFill>
                <a:schemeClr val="bg1"/>
              </a:solidFill>
              <a:latin typeface="Franklin Gothic Medium Cond" pitchFamily="34" charset="0"/>
            </a:endParaRPr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Affiliations</a:t>
            </a:r>
            <a:endParaRPr lang="en-US" dirty="0"/>
          </a:p>
        </p:txBody>
      </p:sp>
      <p:grpSp>
        <p:nvGrpSpPr>
          <p:cNvPr id="8196" name="Group 19"/>
          <p:cNvGrpSpPr>
            <a:grpSpLocks/>
          </p:cNvGrpSpPr>
          <p:nvPr/>
        </p:nvGrpSpPr>
        <p:grpSpPr bwMode="auto">
          <a:xfrm>
            <a:off x="123825" y="2514600"/>
            <a:ext cx="8867775" cy="2193925"/>
            <a:chOff x="78" y="1460"/>
            <a:chExt cx="5586" cy="1382"/>
          </a:xfrm>
        </p:grpSpPr>
        <p:sp>
          <p:nvSpPr>
            <p:cNvPr id="8201" name="Text Box 10"/>
            <p:cNvSpPr txBox="1">
              <a:spLocks noChangeArrowheads="1"/>
            </p:cNvSpPr>
            <p:nvPr/>
          </p:nvSpPr>
          <p:spPr bwMode="auto">
            <a:xfrm>
              <a:off x="3946" y="2190"/>
              <a:ext cx="1670" cy="652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2000" b="0">
                  <a:latin typeface="Franklin Gothic Medium Cond" pitchFamily="34" charset="0"/>
                </a:rPr>
                <a:t>US Climate Change Science Program (USCCSP)</a:t>
              </a:r>
            </a:p>
          </p:txBody>
        </p:sp>
        <p:sp>
          <p:nvSpPr>
            <p:cNvPr id="8202" name="Text Box 11"/>
            <p:cNvSpPr txBox="1">
              <a:spLocks noChangeArrowheads="1"/>
            </p:cNvSpPr>
            <p:nvPr/>
          </p:nvSpPr>
          <p:spPr bwMode="auto">
            <a:xfrm>
              <a:off x="164" y="2190"/>
              <a:ext cx="1862" cy="652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2000" b="0">
                  <a:latin typeface="Franklin Gothic Medium Cond" pitchFamily="34" charset="0"/>
                </a:rPr>
                <a:t>National Center for Atmospheric Research (NCAR)</a:t>
              </a:r>
            </a:p>
          </p:txBody>
        </p:sp>
        <p:sp>
          <p:nvSpPr>
            <p:cNvPr id="8203" name="Text Box 12"/>
            <p:cNvSpPr txBox="1">
              <a:spLocks noChangeArrowheads="1"/>
            </p:cNvSpPr>
            <p:nvPr/>
          </p:nvSpPr>
          <p:spPr bwMode="auto">
            <a:xfrm>
              <a:off x="2266" y="2190"/>
              <a:ext cx="1440" cy="652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2000" b="0">
                  <a:latin typeface="Franklin Gothic Medium Cond" pitchFamily="34" charset="0"/>
                </a:rPr>
                <a:t>American Meteorological Society (AMS)</a:t>
              </a:r>
            </a:p>
          </p:txBody>
        </p:sp>
        <p:sp>
          <p:nvSpPr>
            <p:cNvPr id="8204" name="Text Box 13"/>
            <p:cNvSpPr txBox="1">
              <a:spLocks noChangeArrowheads="1"/>
            </p:cNvSpPr>
            <p:nvPr/>
          </p:nvSpPr>
          <p:spPr bwMode="auto">
            <a:xfrm>
              <a:off x="2104" y="1460"/>
              <a:ext cx="1842" cy="652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ko-KR" sz="2000" b="0">
                  <a:latin typeface="Franklin Gothic Medium Cond" pitchFamily="34" charset="0"/>
                  <a:ea typeface="굴림" pitchFamily="34" charset="-127"/>
                </a:rPr>
                <a:t>National Science Foundation’s National Science Board</a:t>
              </a:r>
              <a:endParaRPr lang="en-US" sz="2000" b="0">
                <a:latin typeface="Franklin Gothic Medium Cond" pitchFamily="34" charset="0"/>
              </a:endParaRPr>
            </a:p>
          </p:txBody>
        </p:sp>
        <p:sp>
          <p:nvSpPr>
            <p:cNvPr id="8205" name="Text Box 14"/>
            <p:cNvSpPr txBox="1">
              <a:spLocks noChangeArrowheads="1"/>
            </p:cNvSpPr>
            <p:nvPr/>
          </p:nvSpPr>
          <p:spPr bwMode="auto">
            <a:xfrm>
              <a:off x="78" y="1460"/>
              <a:ext cx="1958" cy="446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2000" b="0" dirty="0">
                  <a:latin typeface="Franklin Gothic Medium Cond" pitchFamily="34" charset="0"/>
                </a:rPr>
                <a:t>University Corp. for Atmospheric Research (UCAR)</a:t>
              </a:r>
            </a:p>
          </p:txBody>
        </p:sp>
        <p:sp>
          <p:nvSpPr>
            <p:cNvPr id="8206" name="Text Box 15"/>
            <p:cNvSpPr txBox="1">
              <a:spLocks noChangeArrowheads="1"/>
            </p:cNvSpPr>
            <p:nvPr/>
          </p:nvSpPr>
          <p:spPr bwMode="auto">
            <a:xfrm>
              <a:off x="4014" y="1460"/>
              <a:ext cx="1650" cy="446"/>
            </a:xfrm>
            <a:prstGeom prst="rect">
              <a:avLst/>
            </a:prstGeom>
            <a:ln>
              <a:headEnd type="none" w="sm" len="sm"/>
              <a:tailEnd type="none" w="sm" len="sm"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sz="2000" b="0">
                  <a:latin typeface="Franklin Gothic Medium Cond" pitchFamily="34" charset="0"/>
                </a:rPr>
                <a:t>American Geophysical Union (AGU)</a:t>
              </a:r>
            </a:p>
          </p:txBody>
        </p:sp>
      </p:grpSp>
      <p:sp>
        <p:nvSpPr>
          <p:cNvPr id="8199" name="Text Box 16"/>
          <p:cNvSpPr txBox="1">
            <a:spLocks noChangeArrowheads="1"/>
          </p:cNvSpPr>
          <p:nvPr/>
        </p:nvSpPr>
        <p:spPr bwMode="auto">
          <a:xfrm>
            <a:off x="735013" y="4865688"/>
            <a:ext cx="5960991" cy="165429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ct val="5000"/>
              </a:spcBef>
              <a:spcAft>
                <a:spcPct val="5000"/>
              </a:spcAft>
              <a:buFontTx/>
              <a:buNone/>
              <a:tabLst>
                <a:tab pos="571500" algn="l"/>
              </a:tabLst>
            </a:pPr>
            <a:r>
              <a:rPr lang="en-US" sz="2000" b="0" dirty="0">
                <a:solidFill>
                  <a:schemeClr val="bg1"/>
                </a:solidFill>
                <a:latin typeface="Franklin Gothic Medium Cond" pitchFamily="34" charset="0"/>
              </a:rPr>
              <a:t>National Science and Technology Council (NSTC)</a:t>
            </a:r>
          </a:p>
          <a:p>
            <a:pPr>
              <a:lnSpc>
                <a:spcPct val="100000"/>
              </a:lnSpc>
              <a:spcBef>
                <a:spcPct val="5000"/>
              </a:spcBef>
              <a:spcAft>
                <a:spcPct val="5000"/>
              </a:spcAft>
              <a:buFontTx/>
              <a:buNone/>
              <a:tabLst>
                <a:tab pos="571500" algn="l"/>
              </a:tabLst>
            </a:pPr>
            <a:r>
              <a:rPr lang="en-US" sz="2000" b="0" dirty="0">
                <a:solidFill>
                  <a:schemeClr val="bg1"/>
                </a:solidFill>
                <a:latin typeface="Franklin Gothic Medium Cond" pitchFamily="34" charset="0"/>
              </a:rPr>
              <a:t>	</a:t>
            </a:r>
            <a:r>
              <a:rPr lang="en-US" b="0" dirty="0">
                <a:solidFill>
                  <a:schemeClr val="bg1"/>
                </a:solidFill>
                <a:latin typeface="Franklin Gothic Medium Cond" pitchFamily="34" charset="0"/>
              </a:rPr>
              <a:t>Committee on the Environment and Natural Resources (CENR)</a:t>
            </a:r>
          </a:p>
          <a:p>
            <a:pPr eaLnBrk="1" hangingPunct="1">
              <a:lnSpc>
                <a:spcPct val="100000"/>
              </a:lnSpc>
              <a:spcBef>
                <a:spcPct val="5000"/>
              </a:spcBef>
              <a:spcAft>
                <a:spcPct val="5000"/>
              </a:spcAft>
              <a:buFontTx/>
              <a:buNone/>
              <a:tabLst>
                <a:tab pos="571500" algn="l"/>
              </a:tabLst>
            </a:pPr>
            <a:r>
              <a:rPr lang="en-US" b="0" dirty="0">
                <a:solidFill>
                  <a:schemeClr val="bg1"/>
                </a:solidFill>
                <a:latin typeface="Franklin Gothic Medium Cond" pitchFamily="34" charset="0"/>
              </a:rPr>
              <a:t>		Subcommittee on Disaster Reduction (SDR)</a:t>
            </a:r>
          </a:p>
          <a:p>
            <a:pPr eaLnBrk="1" hangingPunct="1">
              <a:lnSpc>
                <a:spcPct val="100000"/>
              </a:lnSpc>
              <a:spcBef>
                <a:spcPct val="5000"/>
              </a:spcBef>
              <a:spcAft>
                <a:spcPct val="5000"/>
              </a:spcAft>
              <a:buFontTx/>
              <a:buNone/>
              <a:tabLst>
                <a:tab pos="571500" algn="l"/>
              </a:tabLst>
            </a:pPr>
            <a:r>
              <a:rPr lang="en-US" b="0" dirty="0">
                <a:solidFill>
                  <a:schemeClr val="bg1"/>
                </a:solidFill>
                <a:latin typeface="Franklin Gothic Medium Cond" pitchFamily="34" charset="0"/>
              </a:rPr>
              <a:t>		Subcommittee on Air Quality Research</a:t>
            </a:r>
          </a:p>
          <a:p>
            <a:pPr eaLnBrk="1" hangingPunct="1">
              <a:lnSpc>
                <a:spcPct val="100000"/>
              </a:lnSpc>
              <a:spcBef>
                <a:spcPct val="5000"/>
              </a:spcBef>
              <a:spcAft>
                <a:spcPct val="5000"/>
              </a:spcAft>
              <a:buFontTx/>
              <a:buNone/>
              <a:tabLst>
                <a:tab pos="571500" algn="l"/>
              </a:tabLst>
            </a:pPr>
            <a:r>
              <a:rPr lang="en-US" b="0" dirty="0">
                <a:solidFill>
                  <a:schemeClr val="bg1"/>
                </a:solidFill>
                <a:latin typeface="Franklin Gothic Medium Cond" pitchFamily="34" charset="0"/>
              </a:rPr>
              <a:t>		Subcommittee on Earth Observations (USGEO)</a:t>
            </a: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7AD998-3763-420B-BA34-708D53A547F8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Office of the Federal Coordinator for Meteorological Services and Supporting Research (OFCM)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Primary Products and Services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305800" cy="4876800"/>
          </a:xfrm>
        </p:spPr>
        <p:txBody>
          <a:bodyPr/>
          <a:lstStyle/>
          <a:p>
            <a:r>
              <a:rPr lang="en-US" sz="2000" dirty="0" smtClean="0">
                <a:solidFill>
                  <a:schemeClr val="accent4">
                    <a:lumMod val="50000"/>
                  </a:schemeClr>
                </a:solidFill>
              </a:rPr>
              <a:t>Foster</a:t>
            </a:r>
            <a:r>
              <a:rPr lang="en-US" sz="2000" dirty="0" smtClean="0"/>
              <a:t> information sharing, planning, coordination, and collaboration</a:t>
            </a:r>
          </a:p>
          <a:p>
            <a:r>
              <a:rPr lang="en-US" sz="2000" dirty="0" smtClean="0">
                <a:solidFill>
                  <a:schemeClr val="accent4">
                    <a:lumMod val="50000"/>
                  </a:schemeClr>
                </a:solidFill>
              </a:rPr>
              <a:t>Facilitate</a:t>
            </a:r>
            <a:r>
              <a:rPr lang="en-US" sz="2000" dirty="0" smtClean="0"/>
              <a:t> interagency leveraging </a:t>
            </a:r>
          </a:p>
          <a:p>
            <a:r>
              <a:rPr lang="en-US" sz="2000" dirty="0" smtClean="0">
                <a:solidFill>
                  <a:schemeClr val="accent4">
                    <a:lumMod val="50000"/>
                  </a:schemeClr>
                </a:solidFill>
              </a:rPr>
              <a:t>Assess</a:t>
            </a:r>
            <a:r>
              <a:rPr lang="en-US" sz="2000" dirty="0" smtClean="0"/>
              <a:t> issues, capabilities, needs, requirements, priorities, shortfalls, and planning and make recommendations to decision makers</a:t>
            </a:r>
          </a:p>
          <a:p>
            <a:r>
              <a:rPr lang="en-US" sz="2000" dirty="0" smtClean="0">
                <a:solidFill>
                  <a:schemeClr val="accent4">
                    <a:lumMod val="50000"/>
                  </a:schemeClr>
                </a:solidFill>
              </a:rPr>
              <a:t>Resolve</a:t>
            </a:r>
            <a:r>
              <a:rPr lang="en-US" sz="2000" dirty="0" smtClean="0"/>
              <a:t> differences</a:t>
            </a:r>
          </a:p>
          <a:p>
            <a:r>
              <a:rPr lang="en-US" sz="2000" dirty="0" smtClean="0">
                <a:solidFill>
                  <a:schemeClr val="accent4">
                    <a:lumMod val="50000"/>
                  </a:schemeClr>
                </a:solidFill>
              </a:rPr>
              <a:t>Facilitate</a:t>
            </a:r>
            <a:r>
              <a:rPr lang="en-US" sz="2000" dirty="0" smtClean="0"/>
              <a:t> improved products and services</a:t>
            </a:r>
          </a:p>
          <a:p>
            <a:r>
              <a:rPr lang="en-US" sz="2000" dirty="0" smtClean="0">
                <a:solidFill>
                  <a:schemeClr val="accent4">
                    <a:lumMod val="50000"/>
                  </a:schemeClr>
                </a:solidFill>
              </a:rPr>
              <a:t>Focus</a:t>
            </a:r>
            <a:r>
              <a:rPr lang="en-US" sz="2000" dirty="0" smtClean="0"/>
              <a:t> supporting research and transition to operations</a:t>
            </a:r>
          </a:p>
          <a:p>
            <a:r>
              <a:rPr lang="en-US" sz="2000" dirty="0" smtClean="0">
                <a:solidFill>
                  <a:schemeClr val="accent4">
                    <a:lumMod val="50000"/>
                  </a:schemeClr>
                </a:solidFill>
              </a:rPr>
              <a:t>Coordinate</a:t>
            </a:r>
            <a:r>
              <a:rPr lang="en-US" sz="2000" dirty="0" smtClean="0"/>
              <a:t> interagency requests for Civil Air Patrol (CAP) aerial support services </a:t>
            </a:r>
          </a:p>
          <a:p>
            <a:r>
              <a:rPr lang="en-US" sz="2000" dirty="0" smtClean="0">
                <a:solidFill>
                  <a:schemeClr val="accent4">
                    <a:lumMod val="50000"/>
                  </a:schemeClr>
                </a:solidFill>
              </a:rPr>
              <a:t>Provide</a:t>
            </a:r>
            <a:r>
              <a:rPr lang="en-US" sz="2000" dirty="0" smtClean="0"/>
              <a:t> executive support to each of the coordinating infrastructure groups</a:t>
            </a:r>
          </a:p>
        </p:txBody>
      </p:sp>
      <p:sp>
        <p:nvSpPr>
          <p:cNvPr id="97284" name="Text Box 4"/>
          <p:cNvSpPr txBox="1">
            <a:spLocks noChangeArrowheads="1"/>
          </p:cNvSpPr>
          <p:nvPr/>
        </p:nvSpPr>
        <p:spPr bwMode="auto">
          <a:xfrm rot="16200000">
            <a:off x="-684213" y="3439080"/>
            <a:ext cx="1828801" cy="43704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buFontTx/>
              <a:buNone/>
            </a:pPr>
            <a:r>
              <a:rPr lang="en-US" sz="2800" b="0" dirty="0">
                <a:solidFill>
                  <a:schemeClr val="bg2"/>
                </a:solidFill>
                <a:latin typeface="+mj-lt"/>
              </a:rPr>
              <a:t>SERVICES</a:t>
            </a:r>
          </a:p>
        </p:txBody>
      </p:sp>
      <p:sp>
        <p:nvSpPr>
          <p:cNvPr id="97285" name="Line 5"/>
          <p:cNvSpPr>
            <a:spLocks noChangeShapeType="1"/>
          </p:cNvSpPr>
          <p:nvPr/>
        </p:nvSpPr>
        <p:spPr bwMode="auto">
          <a:xfrm>
            <a:off x="203200" y="4572000"/>
            <a:ext cx="0" cy="1828800"/>
          </a:xfrm>
          <a:prstGeom prst="line">
            <a:avLst/>
          </a:prstGeom>
          <a:noFill/>
          <a:ln w="152400">
            <a:pattFill prst="ltUpDiag">
              <a:fgClr>
                <a:schemeClr val="accent2"/>
              </a:fgClr>
              <a:bgClr>
                <a:srgbClr val="C0C0C0"/>
              </a:bgClr>
            </a:patt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97286" name="Line 6"/>
          <p:cNvSpPr>
            <a:spLocks noChangeShapeType="1"/>
          </p:cNvSpPr>
          <p:nvPr/>
        </p:nvSpPr>
        <p:spPr bwMode="auto">
          <a:xfrm>
            <a:off x="203200" y="1600200"/>
            <a:ext cx="0" cy="1097280"/>
          </a:xfrm>
          <a:prstGeom prst="line">
            <a:avLst/>
          </a:prstGeom>
          <a:noFill/>
          <a:ln w="152400">
            <a:pattFill prst="ltUpDiag">
              <a:fgClr>
                <a:schemeClr val="accent2"/>
              </a:fgClr>
              <a:bgClr>
                <a:srgbClr val="C0C0C0"/>
              </a:bgClr>
            </a:patt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D4618D-3BD9-4FEB-ADF2-DB96C31800F4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Office of the Federal Coordinator for Meteorological Services and Supporting Research (OFCM)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Primary Products and Services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382000" cy="4876800"/>
          </a:xfrm>
        </p:spPr>
        <p:txBody>
          <a:bodyPr/>
          <a:lstStyle/>
          <a:p>
            <a:r>
              <a:rPr lang="en-US" sz="2400" dirty="0" smtClean="0">
                <a:solidFill>
                  <a:schemeClr val="accent4">
                    <a:lumMod val="50000"/>
                  </a:schemeClr>
                </a:solidFill>
              </a:rPr>
              <a:t>Annual conferences, symposia, workshops, and forums, </a:t>
            </a:r>
            <a:r>
              <a:rPr lang="en-US" sz="2400" dirty="0" smtClean="0"/>
              <a:t>e.g., Interdepartmental Hurricane Conference</a:t>
            </a:r>
          </a:p>
          <a:p>
            <a:r>
              <a:rPr lang="en-US" sz="2400" dirty="0" smtClean="0">
                <a:solidFill>
                  <a:schemeClr val="accent4">
                    <a:lumMod val="50000"/>
                  </a:schemeClr>
                </a:solidFill>
              </a:rPr>
              <a:t>Other conferences, symposia, workshops, and forums</a:t>
            </a:r>
          </a:p>
          <a:p>
            <a:r>
              <a:rPr lang="en-US" sz="2400" dirty="0" smtClean="0">
                <a:solidFill>
                  <a:schemeClr val="accent4">
                    <a:lumMod val="50000"/>
                  </a:schemeClr>
                </a:solidFill>
              </a:rPr>
              <a:t>Interagency Plans </a:t>
            </a:r>
            <a:r>
              <a:rPr lang="en-US" sz="2400" dirty="0" smtClean="0"/>
              <a:t>- coordinated and collaborative approaches to multi-agency problems</a:t>
            </a:r>
          </a:p>
          <a:p>
            <a:r>
              <a:rPr lang="en-US" sz="2400" dirty="0" smtClean="0">
                <a:solidFill>
                  <a:schemeClr val="accent4">
                    <a:lumMod val="50000"/>
                  </a:schemeClr>
                </a:solidFill>
              </a:rPr>
              <a:t>Interagency Reports </a:t>
            </a:r>
            <a:r>
              <a:rPr lang="en-US" sz="2400" dirty="0" smtClean="0"/>
              <a:t>- crosscutting analyses of activities and issues or the status and progress of interagency efforts and programs </a:t>
            </a:r>
          </a:p>
          <a:p>
            <a:r>
              <a:rPr lang="en-US" sz="2400" dirty="0" smtClean="0">
                <a:solidFill>
                  <a:schemeClr val="accent4">
                    <a:lumMod val="50000"/>
                  </a:schemeClr>
                </a:solidFill>
              </a:rPr>
              <a:t>Federal Meteorological Handbooks (FMHs) </a:t>
            </a:r>
            <a:r>
              <a:rPr lang="en-US" sz="2400" dirty="0" smtClean="0"/>
              <a:t>- prescribe standardized and coordinated procedures </a:t>
            </a:r>
          </a:p>
        </p:txBody>
      </p:sp>
      <p:sp>
        <p:nvSpPr>
          <p:cNvPr id="83972" name="Text Box 4"/>
          <p:cNvSpPr txBox="1">
            <a:spLocks noChangeArrowheads="1"/>
          </p:cNvSpPr>
          <p:nvPr/>
        </p:nvSpPr>
        <p:spPr bwMode="auto">
          <a:xfrm rot="16200000">
            <a:off x="-705289" y="3396216"/>
            <a:ext cx="1896353" cy="43704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buFontTx/>
              <a:buNone/>
            </a:pPr>
            <a:r>
              <a:rPr lang="en-US" sz="2800" b="0" dirty="0">
                <a:solidFill>
                  <a:schemeClr val="bg2"/>
                </a:solidFill>
                <a:latin typeface="+mj-lt"/>
              </a:rPr>
              <a:t>PRODUCTS</a:t>
            </a:r>
          </a:p>
        </p:txBody>
      </p:sp>
      <p:sp>
        <p:nvSpPr>
          <p:cNvPr id="83974" name="Line 6"/>
          <p:cNvSpPr>
            <a:spLocks noChangeShapeType="1"/>
          </p:cNvSpPr>
          <p:nvPr/>
        </p:nvSpPr>
        <p:spPr bwMode="auto">
          <a:xfrm>
            <a:off x="203200" y="4572000"/>
            <a:ext cx="0" cy="1828800"/>
          </a:xfrm>
          <a:prstGeom prst="line">
            <a:avLst/>
          </a:prstGeom>
          <a:noFill/>
          <a:ln w="152400">
            <a:pattFill prst="ltUpDiag">
              <a:fgClr>
                <a:schemeClr val="accent2"/>
              </a:fgClr>
              <a:bgClr>
                <a:srgbClr val="C0C0C0"/>
              </a:bgClr>
            </a:patt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3975" name="Line 7"/>
          <p:cNvSpPr>
            <a:spLocks noChangeShapeType="1"/>
          </p:cNvSpPr>
          <p:nvPr/>
        </p:nvSpPr>
        <p:spPr bwMode="auto">
          <a:xfrm>
            <a:off x="203200" y="1676400"/>
            <a:ext cx="0" cy="914400"/>
          </a:xfrm>
          <a:prstGeom prst="line">
            <a:avLst/>
          </a:prstGeom>
          <a:noFill/>
          <a:ln w="152400">
            <a:pattFill prst="ltUpDiag">
              <a:fgClr>
                <a:schemeClr val="accent2"/>
              </a:fgClr>
              <a:bgClr>
                <a:srgbClr val="C0C0C0"/>
              </a:bgClr>
            </a:patt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D4618D-3BD9-4FEB-ADF2-DB96C31800F4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Office of the Federal Coordinator for Meteorological Services and Supporting Research (OFCM)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97" name="AutoShape 21"/>
          <p:cNvSpPr>
            <a:spLocks noChangeArrowheads="1"/>
          </p:cNvSpPr>
          <p:nvPr/>
        </p:nvSpPr>
        <p:spPr bwMode="auto">
          <a:xfrm rot="3577253">
            <a:off x="-650929" y="3695699"/>
            <a:ext cx="4495800" cy="1066800"/>
          </a:xfrm>
          <a:prstGeom prst="leftRightArrow">
            <a:avLst>
              <a:gd name="adj1" fmla="val 50000"/>
              <a:gd name="adj2" fmla="val 84286"/>
            </a:avLst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0137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High Priority Activities</a:t>
            </a:r>
            <a:br>
              <a:rPr lang="en-US" dirty="0" smtClean="0"/>
            </a:br>
            <a:r>
              <a:rPr lang="en-US" sz="2800" dirty="0" smtClean="0">
                <a:latin typeface="Franklin Gothic Medium Cond" pitchFamily="34" charset="0"/>
              </a:rPr>
              <a:t>Overview</a:t>
            </a:r>
          </a:p>
        </p:txBody>
      </p:sp>
      <p:sp>
        <p:nvSpPr>
          <p:cNvPr id="10137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8900" y="1638300"/>
            <a:ext cx="4787900" cy="419100"/>
          </a:xfrm>
        </p:spPr>
        <p:txBody>
          <a:bodyPr/>
          <a:lstStyle/>
          <a:p>
            <a:pPr>
              <a:spcBef>
                <a:spcPct val="25000"/>
              </a:spcBef>
              <a:buFontTx/>
              <a:buNone/>
            </a:pPr>
            <a:r>
              <a:rPr lang="en-US" sz="2200" dirty="0" smtClean="0">
                <a:solidFill>
                  <a:schemeClr val="bg1"/>
                </a:solidFill>
                <a:latin typeface="Franklin Gothic Heavy" pitchFamily="34" charset="0"/>
              </a:rPr>
              <a:t>Multifunction Phased Array Radar</a:t>
            </a:r>
          </a:p>
        </p:txBody>
      </p:sp>
      <p:sp>
        <p:nvSpPr>
          <p:cNvPr id="101382" name="Rectangle 3"/>
          <p:cNvSpPr>
            <a:spLocks noChangeArrowheads="1"/>
          </p:cNvSpPr>
          <p:nvPr/>
        </p:nvSpPr>
        <p:spPr bwMode="auto">
          <a:xfrm>
            <a:off x="1524000" y="1905000"/>
            <a:ext cx="3721100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ct val="25000"/>
              </a:spcBef>
              <a:buFontTx/>
              <a:buNone/>
            </a:pPr>
            <a:r>
              <a:rPr lang="en-US" sz="2000" b="0" dirty="0">
                <a:solidFill>
                  <a:schemeClr val="bg1">
                    <a:lumMod val="95000"/>
                    <a:lumOff val="5000"/>
                  </a:schemeClr>
                </a:solidFill>
                <a:latin typeface="Franklin Gothic Medium Cond" pitchFamily="34" charset="0"/>
              </a:rPr>
              <a:t>Space Weather</a:t>
            </a:r>
          </a:p>
        </p:txBody>
      </p:sp>
      <p:sp>
        <p:nvSpPr>
          <p:cNvPr id="101383" name="Rectangle 3"/>
          <p:cNvSpPr>
            <a:spLocks noChangeArrowheads="1"/>
          </p:cNvSpPr>
          <p:nvPr/>
        </p:nvSpPr>
        <p:spPr bwMode="auto">
          <a:xfrm>
            <a:off x="1689100" y="2257425"/>
            <a:ext cx="3340100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ct val="25000"/>
              </a:spcBef>
              <a:buFontTx/>
              <a:buNone/>
            </a:pPr>
            <a:r>
              <a:rPr lang="en-US" sz="2000" b="0" dirty="0" err="1">
                <a:solidFill>
                  <a:schemeClr val="bg1">
                    <a:lumMod val="95000"/>
                    <a:lumOff val="5000"/>
                  </a:schemeClr>
                </a:solidFill>
                <a:latin typeface="Franklin Gothic Medium Cond" pitchFamily="34" charset="0"/>
              </a:rPr>
              <a:t>Wildland</a:t>
            </a:r>
            <a:r>
              <a:rPr lang="en-US" sz="2000" b="0" dirty="0">
                <a:solidFill>
                  <a:schemeClr val="bg1">
                    <a:lumMod val="95000"/>
                    <a:lumOff val="5000"/>
                  </a:schemeClr>
                </a:solidFill>
                <a:latin typeface="Franklin Gothic Medium Cond" pitchFamily="34" charset="0"/>
              </a:rPr>
              <a:t> Fire Weather</a:t>
            </a:r>
          </a:p>
        </p:txBody>
      </p:sp>
      <p:sp>
        <p:nvSpPr>
          <p:cNvPr id="101384" name="Rectangle 3"/>
          <p:cNvSpPr>
            <a:spLocks noChangeArrowheads="1"/>
          </p:cNvSpPr>
          <p:nvPr/>
        </p:nvSpPr>
        <p:spPr bwMode="auto">
          <a:xfrm>
            <a:off x="1803400" y="2609850"/>
            <a:ext cx="2806700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ct val="25000"/>
              </a:spcBef>
              <a:buFontTx/>
              <a:buNone/>
            </a:pPr>
            <a:r>
              <a:rPr lang="en-US" sz="2000" b="0" dirty="0">
                <a:solidFill>
                  <a:schemeClr val="bg1">
                    <a:lumMod val="95000"/>
                    <a:lumOff val="5000"/>
                  </a:schemeClr>
                </a:solidFill>
                <a:latin typeface="Franklin Gothic Medium Cond" pitchFamily="34" charset="0"/>
              </a:rPr>
              <a:t>Water Resources</a:t>
            </a:r>
          </a:p>
        </p:txBody>
      </p:sp>
      <p:sp>
        <p:nvSpPr>
          <p:cNvPr id="101385" name="Rectangle 3"/>
          <p:cNvSpPr>
            <a:spLocks noChangeArrowheads="1"/>
          </p:cNvSpPr>
          <p:nvPr/>
        </p:nvSpPr>
        <p:spPr bwMode="auto">
          <a:xfrm>
            <a:off x="2032000" y="2962275"/>
            <a:ext cx="2806700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ct val="25000"/>
              </a:spcBef>
              <a:buFontTx/>
              <a:buNone/>
            </a:pPr>
            <a:r>
              <a:rPr lang="en-US" sz="2000" b="0">
                <a:solidFill>
                  <a:schemeClr val="bg1">
                    <a:lumMod val="95000"/>
                    <a:lumOff val="5000"/>
                  </a:schemeClr>
                </a:solidFill>
                <a:latin typeface="Franklin Gothic Medium Cond" pitchFamily="34" charset="0"/>
              </a:rPr>
              <a:t>Urban Meteorology</a:t>
            </a:r>
          </a:p>
        </p:txBody>
      </p:sp>
      <p:sp>
        <p:nvSpPr>
          <p:cNvPr id="101386" name="Rectangle 3"/>
          <p:cNvSpPr>
            <a:spLocks noChangeArrowheads="1"/>
          </p:cNvSpPr>
          <p:nvPr/>
        </p:nvSpPr>
        <p:spPr bwMode="auto">
          <a:xfrm>
            <a:off x="2235200" y="3314700"/>
            <a:ext cx="4025900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ct val="25000"/>
              </a:spcBef>
              <a:buFontTx/>
              <a:buNone/>
            </a:pPr>
            <a:r>
              <a:rPr lang="en-US" sz="2000" b="0">
                <a:solidFill>
                  <a:schemeClr val="bg1">
                    <a:lumMod val="95000"/>
                    <a:lumOff val="5000"/>
                  </a:schemeClr>
                </a:solidFill>
                <a:latin typeface="Franklin Gothic Medium Cond" pitchFamily="34" charset="0"/>
              </a:rPr>
              <a:t>Weather for Transportation</a:t>
            </a:r>
          </a:p>
        </p:txBody>
      </p:sp>
      <p:sp>
        <p:nvSpPr>
          <p:cNvPr id="101387" name="Rectangle 3"/>
          <p:cNvSpPr>
            <a:spLocks noChangeArrowheads="1"/>
          </p:cNvSpPr>
          <p:nvPr/>
        </p:nvSpPr>
        <p:spPr bwMode="auto">
          <a:xfrm>
            <a:off x="2451100" y="3667125"/>
            <a:ext cx="4025900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ct val="25000"/>
              </a:spcBef>
              <a:buFontTx/>
              <a:buNone/>
            </a:pPr>
            <a:r>
              <a:rPr lang="en-US" sz="2000" b="0">
                <a:solidFill>
                  <a:schemeClr val="bg1">
                    <a:lumMod val="95000"/>
                    <a:lumOff val="5000"/>
                  </a:schemeClr>
                </a:solidFill>
                <a:latin typeface="Franklin Gothic Medium Cond" pitchFamily="34" charset="0"/>
              </a:rPr>
              <a:t>Climate and Climate Change</a:t>
            </a:r>
          </a:p>
        </p:txBody>
      </p:sp>
      <p:sp>
        <p:nvSpPr>
          <p:cNvPr id="101388" name="Rectangle 3"/>
          <p:cNvSpPr>
            <a:spLocks noChangeArrowheads="1"/>
          </p:cNvSpPr>
          <p:nvPr/>
        </p:nvSpPr>
        <p:spPr bwMode="auto">
          <a:xfrm>
            <a:off x="2654300" y="4019550"/>
            <a:ext cx="4025900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ct val="25000"/>
              </a:spcBef>
              <a:buFontTx/>
              <a:buNone/>
            </a:pPr>
            <a:r>
              <a:rPr lang="en-US" sz="2000" b="0">
                <a:solidFill>
                  <a:schemeClr val="bg1">
                    <a:lumMod val="95000"/>
                    <a:lumOff val="5000"/>
                  </a:schemeClr>
                </a:solidFill>
                <a:latin typeface="Franklin Gothic Medium Cond" pitchFamily="34" charset="0"/>
              </a:rPr>
              <a:t>Critical Skill Shortages</a:t>
            </a:r>
          </a:p>
        </p:txBody>
      </p:sp>
      <p:sp>
        <p:nvSpPr>
          <p:cNvPr id="101389" name="Rectangle 3"/>
          <p:cNvSpPr>
            <a:spLocks noChangeArrowheads="1"/>
          </p:cNvSpPr>
          <p:nvPr/>
        </p:nvSpPr>
        <p:spPr bwMode="auto">
          <a:xfrm>
            <a:off x="2870200" y="4371975"/>
            <a:ext cx="4635500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ct val="25000"/>
              </a:spcBef>
              <a:buFontTx/>
              <a:buNone/>
            </a:pPr>
            <a:r>
              <a:rPr lang="en-US" sz="2000" b="0">
                <a:solidFill>
                  <a:schemeClr val="bg1">
                    <a:lumMod val="95000"/>
                    <a:lumOff val="5000"/>
                  </a:schemeClr>
                </a:solidFill>
                <a:latin typeface="Franklin Gothic Medium Cond" pitchFamily="34" charset="0"/>
              </a:rPr>
              <a:t>Operational Processing Centers</a:t>
            </a:r>
          </a:p>
        </p:txBody>
      </p:sp>
      <p:sp>
        <p:nvSpPr>
          <p:cNvPr id="101390" name="Rectangle 3"/>
          <p:cNvSpPr>
            <a:spLocks noChangeArrowheads="1"/>
          </p:cNvSpPr>
          <p:nvPr/>
        </p:nvSpPr>
        <p:spPr bwMode="auto">
          <a:xfrm>
            <a:off x="3111500" y="4724400"/>
            <a:ext cx="4635500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ct val="25000"/>
              </a:spcBef>
              <a:buFontTx/>
              <a:buNone/>
            </a:pPr>
            <a:r>
              <a:rPr lang="en-US" sz="2000" b="0">
                <a:solidFill>
                  <a:schemeClr val="bg1">
                    <a:lumMod val="95000"/>
                    <a:lumOff val="5000"/>
                  </a:schemeClr>
                </a:solidFill>
                <a:latin typeface="Franklin Gothic Medium Cond" pitchFamily="34" charset="0"/>
              </a:rPr>
              <a:t>Plans and Handbooks</a:t>
            </a:r>
          </a:p>
        </p:txBody>
      </p:sp>
      <p:sp>
        <p:nvSpPr>
          <p:cNvPr id="101391" name="Rectangle 3"/>
          <p:cNvSpPr>
            <a:spLocks noChangeArrowheads="1"/>
          </p:cNvSpPr>
          <p:nvPr/>
        </p:nvSpPr>
        <p:spPr bwMode="auto">
          <a:xfrm>
            <a:off x="3327400" y="5076825"/>
            <a:ext cx="4635500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ct val="25000"/>
              </a:spcBef>
              <a:buFontTx/>
              <a:buNone/>
            </a:pPr>
            <a:r>
              <a:rPr lang="en-US" sz="2000" b="0" dirty="0">
                <a:solidFill>
                  <a:schemeClr val="bg1"/>
                </a:solidFill>
                <a:latin typeface="Franklin Gothic Medium Cond" pitchFamily="34" charset="0"/>
              </a:rPr>
              <a:t>Environmental Literacy</a:t>
            </a:r>
          </a:p>
        </p:txBody>
      </p:sp>
      <p:sp>
        <p:nvSpPr>
          <p:cNvPr id="101392" name="Rectangle 3"/>
          <p:cNvSpPr>
            <a:spLocks noChangeArrowheads="1"/>
          </p:cNvSpPr>
          <p:nvPr/>
        </p:nvSpPr>
        <p:spPr bwMode="auto">
          <a:xfrm>
            <a:off x="3543300" y="5429250"/>
            <a:ext cx="4635500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ct val="25000"/>
              </a:spcBef>
              <a:buFontTx/>
              <a:buNone/>
            </a:pPr>
            <a:r>
              <a:rPr lang="en-US" sz="2000" b="0">
                <a:solidFill>
                  <a:schemeClr val="bg1"/>
                </a:solidFill>
                <a:latin typeface="Franklin Gothic Medium Cond" pitchFamily="34" charset="0"/>
              </a:rPr>
              <a:t>International Affairs</a:t>
            </a:r>
          </a:p>
        </p:txBody>
      </p:sp>
      <p:sp>
        <p:nvSpPr>
          <p:cNvPr id="101393" name="Rectangle 3"/>
          <p:cNvSpPr>
            <a:spLocks noChangeArrowheads="1"/>
          </p:cNvSpPr>
          <p:nvPr/>
        </p:nvSpPr>
        <p:spPr bwMode="auto">
          <a:xfrm>
            <a:off x="3759200" y="5781675"/>
            <a:ext cx="4635500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ct val="25000"/>
              </a:spcBef>
              <a:buFontTx/>
              <a:buNone/>
            </a:pPr>
            <a:r>
              <a:rPr lang="en-US" sz="2000" b="0">
                <a:solidFill>
                  <a:schemeClr val="bg1"/>
                </a:solidFill>
                <a:latin typeface="Franklin Gothic Medium Cond" pitchFamily="34" charset="0"/>
              </a:rPr>
              <a:t>Integrated Observing Systems</a:t>
            </a:r>
          </a:p>
        </p:txBody>
      </p:sp>
      <p:sp>
        <p:nvSpPr>
          <p:cNvPr id="101394" name="Rectangle 3"/>
          <p:cNvSpPr>
            <a:spLocks noChangeArrowheads="1"/>
          </p:cNvSpPr>
          <p:nvPr/>
        </p:nvSpPr>
        <p:spPr bwMode="auto">
          <a:xfrm>
            <a:off x="3975100" y="6134100"/>
            <a:ext cx="5168900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ct val="25000"/>
              </a:spcBef>
              <a:buFontTx/>
              <a:buNone/>
            </a:pPr>
            <a:r>
              <a:rPr lang="en-US" sz="2000" b="0" dirty="0">
                <a:solidFill>
                  <a:schemeClr val="bg1"/>
                </a:solidFill>
                <a:latin typeface="Franklin Gothic Medium Cond" pitchFamily="34" charset="0"/>
              </a:rPr>
              <a:t>Building a future to improve services</a:t>
            </a:r>
          </a:p>
        </p:txBody>
      </p:sp>
      <p:sp>
        <p:nvSpPr>
          <p:cNvPr id="101395" name="Line 19"/>
          <p:cNvSpPr>
            <a:spLocks noChangeShapeType="1"/>
          </p:cNvSpPr>
          <p:nvPr/>
        </p:nvSpPr>
        <p:spPr bwMode="auto">
          <a:xfrm>
            <a:off x="1371600" y="2133600"/>
            <a:ext cx="2590800" cy="4343400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1396" name="Rectangle 3"/>
          <p:cNvSpPr>
            <a:spLocks noChangeArrowheads="1"/>
          </p:cNvSpPr>
          <p:nvPr/>
        </p:nvSpPr>
        <p:spPr bwMode="auto">
          <a:xfrm rot="3577253">
            <a:off x="-101095" y="4009915"/>
            <a:ext cx="3429000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>
              <a:lnSpc>
                <a:spcPct val="100000"/>
              </a:lnSpc>
              <a:spcBef>
                <a:spcPct val="25000"/>
              </a:spcBef>
              <a:buFontTx/>
              <a:buNone/>
            </a:pPr>
            <a:r>
              <a:rPr lang="en-US" sz="2200" b="0" dirty="0">
                <a:solidFill>
                  <a:schemeClr val="bg1">
                    <a:lumMod val="95000"/>
                    <a:lumOff val="5000"/>
                  </a:schemeClr>
                </a:solidFill>
                <a:latin typeface="Franklin Gothic Heavy" pitchFamily="34" charset="0"/>
              </a:rPr>
              <a:t>Interagency Integration</a:t>
            </a:r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7AD998-3763-420B-BA34-708D53A547F8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Office of the Federal Coordinator for Meteorological Services and Supporting Research (OFCM)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High Priority Activities</a:t>
            </a:r>
          </a:p>
        </p:txBody>
      </p:sp>
      <p:sp>
        <p:nvSpPr>
          <p:cNvPr id="5120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Tropical Cyclones – Operations and Research</a:t>
            </a:r>
          </a:p>
          <a:p>
            <a:pPr lvl="1"/>
            <a:r>
              <a:rPr lang="en-US" dirty="0" smtClean="0"/>
              <a:t>Interdepartmental Hurricane Conference (IHC)</a:t>
            </a:r>
          </a:p>
          <a:p>
            <a:pPr lvl="2"/>
            <a:r>
              <a:rPr lang="en-US" dirty="0" smtClean="0"/>
              <a:t>63rd IHC (March 2-5, 2009) – focus on R&amp;D progress</a:t>
            </a:r>
          </a:p>
          <a:p>
            <a:pPr lvl="1"/>
            <a:r>
              <a:rPr lang="en-US" u="sng" dirty="0" smtClean="0"/>
              <a:t>National Hurricane Operations Plan </a:t>
            </a:r>
            <a:r>
              <a:rPr lang="en-US" dirty="0" smtClean="0"/>
              <a:t>for 2009</a:t>
            </a:r>
          </a:p>
          <a:p>
            <a:pPr lvl="1"/>
            <a:r>
              <a:rPr lang="en-US" u="sng" dirty="0" smtClean="0"/>
              <a:t>Interagency Strategic Research Plan for</a:t>
            </a:r>
            <a:br>
              <a:rPr lang="en-US" u="sng" dirty="0" smtClean="0"/>
            </a:br>
            <a:r>
              <a:rPr lang="en-US" u="sng" dirty="0" smtClean="0"/>
              <a:t> Tropical Cyclones:  The Way Ahead</a:t>
            </a:r>
          </a:p>
          <a:p>
            <a:pPr lvl="2"/>
            <a:r>
              <a:rPr lang="en-US" dirty="0" smtClean="0"/>
              <a:t>Underpinning of the NOAA Hurricane Forecast Improvement Project</a:t>
            </a:r>
          </a:p>
          <a:p>
            <a:pPr lvl="2"/>
            <a:r>
              <a:rPr lang="en-US" dirty="0" smtClean="0"/>
              <a:t>Working group to develop 10-year R&amp;D implementation strategy</a:t>
            </a:r>
          </a:p>
          <a:p>
            <a:pPr lvl="1"/>
            <a:r>
              <a:rPr lang="en-US" dirty="0" smtClean="0"/>
              <a:t>Stepped Frequency Microwave Radiometer</a:t>
            </a:r>
          </a:p>
          <a:p>
            <a:r>
              <a:rPr lang="en-US" dirty="0" smtClean="0"/>
              <a:t>Multifunction Phased Array Radar</a:t>
            </a:r>
          </a:p>
          <a:p>
            <a:pPr lvl="1"/>
            <a:r>
              <a:rPr lang="en-US" dirty="0" smtClean="0"/>
              <a:t>Risk reduction, requirements, ops concepts</a:t>
            </a:r>
          </a:p>
          <a:p>
            <a:pPr lvl="1"/>
            <a:r>
              <a:rPr lang="en-US" dirty="0" smtClean="0"/>
              <a:t>Symposium, Oct 07 (next in Oct 09) - Now is the time to invest in </a:t>
            </a:r>
            <a:br>
              <a:rPr lang="en-US" dirty="0" smtClean="0"/>
            </a:br>
            <a:r>
              <a:rPr lang="en-US" dirty="0" smtClean="0"/>
              <a:t>risk reduction</a:t>
            </a:r>
          </a:p>
          <a:p>
            <a:pPr lvl="1"/>
            <a:r>
              <a:rPr lang="en-US" dirty="0" smtClean="0"/>
              <a:t>Developed implementation strategy</a:t>
            </a:r>
          </a:p>
        </p:txBody>
      </p:sp>
      <p:pic>
        <p:nvPicPr>
          <p:cNvPr id="61446" name="Picture 6" descr="NHOP-Cover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48600" y="1447800"/>
            <a:ext cx="1133475" cy="14668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61447" name="Picture 7" descr="TCR-Cover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553200" y="2195512"/>
            <a:ext cx="1128713" cy="14620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63495" name="Picture 7" descr="MPAR-Cover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848600" y="3200400"/>
            <a:ext cx="1069975" cy="139065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1209" name="Picture 9" descr="BASC-MPAR-cover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086600" y="4800600"/>
            <a:ext cx="1096962" cy="14192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D4618D-3BD9-4FEB-ADF2-DB96C31800F4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Office of the Federal Coordinator for Meteorological Services and Supporting Research (OFCM)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High Priority Activities</a:t>
            </a:r>
            <a:endParaRPr lang="en-US" dirty="0"/>
          </a:p>
        </p:txBody>
      </p:sp>
      <p:sp>
        <p:nvSpPr>
          <p:cNvPr id="5325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National Space Weather Program (NSWP)</a:t>
            </a:r>
          </a:p>
          <a:p>
            <a:pPr lvl="1"/>
            <a:r>
              <a:rPr lang="en-US" smtClean="0"/>
              <a:t>Develop new Strategic and Implementation Plans</a:t>
            </a:r>
          </a:p>
          <a:p>
            <a:pPr lvl="1"/>
            <a:r>
              <a:rPr lang="en-US" smtClean="0"/>
              <a:t>Assessment Committee review of NSWP progress</a:t>
            </a:r>
          </a:p>
          <a:p>
            <a:pPr lvl="1"/>
            <a:r>
              <a:rPr lang="en-US" smtClean="0"/>
              <a:t>SDR Grand Challenge for Disaster Reduction</a:t>
            </a:r>
          </a:p>
          <a:p>
            <a:pPr lvl="1"/>
            <a:r>
              <a:rPr lang="en-US" smtClean="0"/>
              <a:t>NPOESS – Nunn-McCurdy impacts &amp; mitigation</a:t>
            </a:r>
          </a:p>
          <a:p>
            <a:pPr lvl="1"/>
            <a:r>
              <a:rPr lang="en-US" smtClean="0"/>
              <a:t>Real Time Solar Wind replacement for ACE</a:t>
            </a:r>
          </a:p>
          <a:p>
            <a:r>
              <a:rPr lang="en-US" smtClean="0"/>
              <a:t>Wildland Fire Weather Needs</a:t>
            </a:r>
          </a:p>
          <a:p>
            <a:pPr lvl="1"/>
            <a:r>
              <a:rPr lang="en-US" smtClean="0"/>
              <a:t>Western Governors’ Association request</a:t>
            </a:r>
          </a:p>
          <a:p>
            <a:pPr lvl="1"/>
            <a:r>
              <a:rPr lang="en-US" smtClean="0"/>
              <a:t>National needs assessment complete</a:t>
            </a:r>
          </a:p>
          <a:p>
            <a:pPr lvl="1"/>
            <a:r>
              <a:rPr lang="en-US" smtClean="0"/>
              <a:t>Capabilities review and gap analysis</a:t>
            </a:r>
          </a:p>
          <a:p>
            <a:pPr lvl="1"/>
            <a:r>
              <a:rPr lang="en-US" smtClean="0"/>
              <a:t>Establish framework to meet needs</a:t>
            </a:r>
          </a:p>
          <a:p>
            <a:endParaRPr lang="en-US" smtClean="0"/>
          </a:p>
        </p:txBody>
      </p:sp>
      <p:pic>
        <p:nvPicPr>
          <p:cNvPr id="63497" name="Picture 9" descr="NSWPAssess-Cover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10400" y="1524000"/>
            <a:ext cx="1143000" cy="147875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71691" name="Picture 11" descr="gallery03%20(2)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324600" y="4800600"/>
            <a:ext cx="2590800" cy="17018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3257" name="Picture 9" descr="NSWPIP-Cover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620000" y="3124200"/>
            <a:ext cx="1209079" cy="1564481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3258" name="Picture 10" descr="SDR SWx IP - draft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324600" y="3124795"/>
            <a:ext cx="1212652" cy="1559124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D4618D-3BD9-4FEB-ADF2-DB96C31800F4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Office of the Federal Coordinator for Meteorological Services and Supporting Research (OFCM)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High Priority Activities</a:t>
            </a:r>
            <a:endParaRPr lang="en-US" dirty="0"/>
          </a:p>
        </p:txBody>
      </p:sp>
      <p:sp>
        <p:nvSpPr>
          <p:cNvPr id="54274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Hydrology Assessment—water resources supply/demand already a source of </a:t>
            </a:r>
            <a:br>
              <a:rPr lang="en-US" sz="2000" dirty="0" smtClean="0"/>
            </a:br>
            <a:r>
              <a:rPr lang="en-US" sz="2000" dirty="0" smtClean="0"/>
              <a:t>national and international conflict</a:t>
            </a:r>
          </a:p>
          <a:p>
            <a:pPr lvl="1"/>
            <a:r>
              <a:rPr lang="en-US" sz="1600" dirty="0" smtClean="0"/>
              <a:t>Define needs and requirements across </a:t>
            </a:r>
            <a:br>
              <a:rPr lang="en-US" sz="1600" dirty="0" smtClean="0"/>
            </a:br>
            <a:r>
              <a:rPr lang="en-US" sz="1600" dirty="0" smtClean="0"/>
              <a:t>the entire community</a:t>
            </a:r>
          </a:p>
          <a:p>
            <a:pPr lvl="1"/>
            <a:r>
              <a:rPr lang="en-US" sz="1600" dirty="0" smtClean="0"/>
              <a:t>Investigate agency plans and alternatives</a:t>
            </a:r>
          </a:p>
          <a:p>
            <a:pPr lvl="1"/>
            <a:r>
              <a:rPr lang="en-US" sz="1600" dirty="0" smtClean="0"/>
              <a:t>Create more efficient and effective partnerships</a:t>
            </a:r>
          </a:p>
          <a:p>
            <a:r>
              <a:rPr lang="en-US" sz="2000" dirty="0" smtClean="0"/>
              <a:t>Urban Meteorology</a:t>
            </a:r>
          </a:p>
          <a:p>
            <a:pPr lvl="1"/>
            <a:r>
              <a:rPr lang="en-US" sz="1600" dirty="0" smtClean="0"/>
              <a:t>Unique aspects of the urban environment</a:t>
            </a:r>
          </a:p>
          <a:p>
            <a:pPr lvl="1"/>
            <a:r>
              <a:rPr lang="en-US" sz="1600" dirty="0" smtClean="0"/>
              <a:t>Emerging energy meteorology needs</a:t>
            </a:r>
          </a:p>
          <a:p>
            <a:pPr lvl="1"/>
            <a:r>
              <a:rPr lang="en-US" sz="1600" dirty="0" smtClean="0"/>
              <a:t>Understanding the impact of extreme events </a:t>
            </a:r>
            <a:br>
              <a:rPr lang="en-US" sz="1600" dirty="0" smtClean="0"/>
            </a:br>
            <a:r>
              <a:rPr lang="en-US" sz="1600" dirty="0" smtClean="0"/>
              <a:t>such as drought, heat, flood, and tornadoes</a:t>
            </a:r>
          </a:p>
          <a:p>
            <a:pPr lvl="1"/>
            <a:r>
              <a:rPr lang="en-US" sz="1600" dirty="0" smtClean="0"/>
              <a:t>Making dispersion forecasts – terrorism or accidents</a:t>
            </a:r>
          </a:p>
          <a:p>
            <a:pPr lvl="1"/>
            <a:r>
              <a:rPr lang="en-US" sz="1600" dirty="0" smtClean="0"/>
              <a:t>Improving response to hazards, high impact </a:t>
            </a:r>
            <a:br>
              <a:rPr lang="en-US" sz="1600" dirty="0" smtClean="0"/>
            </a:br>
            <a:r>
              <a:rPr lang="en-US" sz="1600" dirty="0" smtClean="0"/>
              <a:t>events, and climate change</a:t>
            </a:r>
          </a:p>
          <a:p>
            <a:pPr lvl="1"/>
            <a:r>
              <a:rPr lang="en-US" sz="1600" dirty="0" smtClean="0"/>
              <a:t>Joint Urban </a:t>
            </a:r>
            <a:r>
              <a:rPr lang="en-US" sz="1600" dirty="0" err="1" smtClean="0"/>
              <a:t>Testbed</a:t>
            </a:r>
            <a:endParaRPr lang="en-US" sz="1600" dirty="0" smtClean="0"/>
          </a:p>
        </p:txBody>
      </p:sp>
      <p:grpSp>
        <p:nvGrpSpPr>
          <p:cNvPr id="54275" name="Group 10"/>
          <p:cNvGrpSpPr>
            <a:grpSpLocks/>
          </p:cNvGrpSpPr>
          <p:nvPr/>
        </p:nvGrpSpPr>
        <p:grpSpPr bwMode="auto">
          <a:xfrm>
            <a:off x="5867400" y="2133600"/>
            <a:ext cx="2895600" cy="1914379"/>
            <a:chOff x="3850" y="3160"/>
            <a:chExt cx="1393" cy="929"/>
          </a:xfrm>
        </p:grpSpPr>
        <p:pic>
          <p:nvPicPr>
            <p:cNvPr id="74759" name="Picture 7" descr="flood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851" y="3160"/>
              <a:ext cx="1392" cy="92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54277" name="Text Box 9"/>
            <p:cNvSpPr txBox="1">
              <a:spLocks noChangeArrowheads="1"/>
            </p:cNvSpPr>
            <p:nvPr/>
          </p:nvSpPr>
          <p:spPr bwMode="auto">
            <a:xfrm>
              <a:off x="3850" y="3957"/>
              <a:ext cx="1296" cy="1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 eaLnBrk="1" hangingPunct="1">
                <a:lnSpc>
                  <a:spcPct val="100000"/>
                </a:lnSpc>
                <a:spcBef>
                  <a:spcPct val="50000"/>
                </a:spcBef>
                <a:buFontTx/>
                <a:buNone/>
              </a:pPr>
              <a:r>
                <a:rPr lang="en-US" sz="800" b="0" dirty="0"/>
                <a:t>Courtesy of Las Vegas Review Journal</a:t>
              </a:r>
            </a:p>
          </p:txBody>
        </p:sp>
      </p:grpSp>
      <p:pic>
        <p:nvPicPr>
          <p:cNvPr id="74763" name="Picture 11" descr="UrbanMet-Cover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638800" y="4267199"/>
            <a:ext cx="1502570" cy="1943101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74764" name="Picture 12" descr="UrbanMetNeeds-Cover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391400" y="4267200"/>
            <a:ext cx="1524000" cy="197882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D4618D-3BD9-4FEB-ADF2-DB96C31800F4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Office of the Federal Coordinator for Meteorological Services and Supporting Research (OFCM)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High Priority Activities</a:t>
            </a:r>
            <a:endParaRPr lang="en-US" dirty="0"/>
          </a:p>
        </p:txBody>
      </p:sp>
      <p:sp>
        <p:nvSpPr>
          <p:cNvPr id="5632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Wx</a:t>
            </a:r>
            <a:r>
              <a:rPr lang="en-US" dirty="0" smtClean="0"/>
              <a:t> Information for Surface Transportation (WIST)</a:t>
            </a:r>
          </a:p>
          <a:p>
            <a:pPr lvl="1"/>
            <a:r>
              <a:rPr lang="en-US" dirty="0" smtClean="0"/>
              <a:t>3rd Symposium, July 2007</a:t>
            </a:r>
          </a:p>
          <a:p>
            <a:pPr lvl="1"/>
            <a:r>
              <a:rPr lang="en-US" dirty="0" smtClean="0"/>
              <a:t>4th Symposium, June 2008</a:t>
            </a:r>
          </a:p>
          <a:p>
            <a:pPr lvl="1"/>
            <a:r>
              <a:rPr lang="en-US" dirty="0" smtClean="0"/>
              <a:t>Safety in Mobility Conference, Austria, July 2008</a:t>
            </a:r>
          </a:p>
          <a:p>
            <a:pPr lvl="1"/>
            <a:r>
              <a:rPr lang="en-US" dirty="0" smtClean="0"/>
              <a:t>Need for social science involvement; education &amp; outreach</a:t>
            </a:r>
          </a:p>
          <a:p>
            <a:pPr lvl="1"/>
            <a:r>
              <a:rPr lang="en-US" dirty="0" smtClean="0"/>
              <a:t>Opportunity for near-term, interagency Intermodal Initiative</a:t>
            </a:r>
          </a:p>
          <a:p>
            <a:r>
              <a:rPr lang="en-US" dirty="0" smtClean="0"/>
              <a:t>National Aviation Weather Program</a:t>
            </a:r>
          </a:p>
          <a:p>
            <a:pPr lvl="1"/>
            <a:r>
              <a:rPr lang="en-US" dirty="0" smtClean="0"/>
              <a:t>10-yr goal to reduce weather-related accidents by 80%</a:t>
            </a:r>
          </a:p>
          <a:p>
            <a:pPr lvl="1"/>
            <a:r>
              <a:rPr lang="en-US" dirty="0" smtClean="0"/>
              <a:t>Final Assessment at 10-yr point:  Did not meet the aggressive 80% goal, </a:t>
            </a:r>
            <a:br>
              <a:rPr lang="en-US" dirty="0" smtClean="0"/>
            </a:br>
            <a:r>
              <a:rPr lang="en-US" dirty="0" smtClean="0"/>
              <a:t>but achieved  significant reduction</a:t>
            </a:r>
          </a:p>
          <a:p>
            <a:pPr lvl="1"/>
            <a:r>
              <a:rPr lang="en-US" dirty="0" smtClean="0"/>
              <a:t>Developing framework to sustain success to date and to accelerate accident reduction</a:t>
            </a:r>
          </a:p>
          <a:p>
            <a:pPr lvl="1"/>
            <a:r>
              <a:rPr lang="en-US" dirty="0" smtClean="0"/>
              <a:t>National Volcanic Ash Operations Plan for Aviation</a:t>
            </a:r>
          </a:p>
        </p:txBody>
      </p:sp>
      <p:pic>
        <p:nvPicPr>
          <p:cNvPr id="64519" name="Picture 7" descr="VolcAshOps-Cover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48600" y="3733800"/>
            <a:ext cx="1133475" cy="1471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64520" name="Picture 8" descr="WISTNeeds-Cover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29400" y="2133600"/>
            <a:ext cx="1130300" cy="14620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64521" name="Picture 9" descr="NAWPUpdate-Cover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848600" y="2133600"/>
            <a:ext cx="1128713" cy="14668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D4618D-3BD9-4FEB-ADF2-DB96C31800F4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Office of the Federal Coordinator for Meteorological Services and Supporting Research (OFCM)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High Priority Activities</a:t>
            </a:r>
            <a:endParaRPr lang="en-US" dirty="0"/>
          </a:p>
        </p:txBody>
      </p:sp>
      <p:sp>
        <p:nvSpPr>
          <p:cNvPr id="5222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Climate and Climate Change</a:t>
            </a:r>
          </a:p>
          <a:p>
            <a:pPr lvl="1"/>
            <a:r>
              <a:rPr lang="en-US" dirty="0" smtClean="0"/>
              <a:t>Committee for Climate Analysis, Monitoring, and Services</a:t>
            </a:r>
          </a:p>
          <a:p>
            <a:pPr lvl="2"/>
            <a:r>
              <a:rPr lang="en-US" dirty="0" smtClean="0"/>
              <a:t>Product and service needs for climate-induced extreme weather </a:t>
            </a:r>
            <a:br>
              <a:rPr lang="en-US" dirty="0" smtClean="0"/>
            </a:br>
            <a:r>
              <a:rPr lang="en-US" dirty="0" smtClean="0"/>
              <a:t>events</a:t>
            </a:r>
          </a:p>
          <a:p>
            <a:pPr lvl="2"/>
            <a:r>
              <a:rPr lang="en-US" dirty="0" smtClean="0"/>
              <a:t>Effectively communicating climate and weather information to </a:t>
            </a:r>
            <a:br>
              <a:rPr lang="en-US" dirty="0" smtClean="0"/>
            </a:br>
            <a:r>
              <a:rPr lang="en-US" dirty="0" smtClean="0"/>
              <a:t>the stakeholders</a:t>
            </a:r>
          </a:p>
          <a:p>
            <a:pPr lvl="2"/>
            <a:r>
              <a:rPr lang="en-US" dirty="0" smtClean="0"/>
              <a:t>Climateservices.gov web site </a:t>
            </a:r>
          </a:p>
          <a:p>
            <a:pPr lvl="2"/>
            <a:r>
              <a:rPr lang="en-US" dirty="0" smtClean="0"/>
              <a:t>Review &amp; comment on CCSP Synthesis and Assessment Products, through CENR</a:t>
            </a:r>
          </a:p>
          <a:p>
            <a:pPr lvl="1"/>
            <a:r>
              <a:rPr lang="en-US" dirty="0" smtClean="0"/>
              <a:t>Identified as key research area by 83% of 745 respondents to </a:t>
            </a:r>
            <a:r>
              <a:rPr lang="en-US" dirty="0" err="1" smtClean="0"/>
              <a:t>wildland</a:t>
            </a:r>
            <a:r>
              <a:rPr lang="en-US" dirty="0" smtClean="0"/>
              <a:t> fire weather needs survey</a:t>
            </a:r>
          </a:p>
          <a:p>
            <a:r>
              <a:rPr lang="en-US" dirty="0" smtClean="0"/>
              <a:t>Critical Skill Shortages</a:t>
            </a:r>
          </a:p>
          <a:p>
            <a:pPr lvl="1"/>
            <a:r>
              <a:rPr lang="en-US" dirty="0" smtClean="0"/>
              <a:t>Data assimilation skills already identified as a shortfall</a:t>
            </a:r>
          </a:p>
          <a:p>
            <a:pPr lvl="1"/>
            <a:r>
              <a:rPr lang="en-US" dirty="0" smtClean="0"/>
              <a:t>Possible other areas of concern are tropical meteorology and probability and statistics</a:t>
            </a:r>
          </a:p>
          <a:p>
            <a:pPr lvl="1"/>
            <a:r>
              <a:rPr lang="en-US" dirty="0" smtClean="0"/>
              <a:t>Establishing new group to assess</a:t>
            </a:r>
          </a:p>
        </p:txBody>
      </p:sp>
      <p:pic>
        <p:nvPicPr>
          <p:cNvPr id="62470" name="Picture 6" descr="ClimSvcGov_web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81800" y="1676400"/>
            <a:ext cx="2247900" cy="18780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D4618D-3BD9-4FEB-ADF2-DB96C31800F4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Office of the Federal Coordinator for Meteorological Services and Supporting Research (OFCM)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High Priority Activities</a:t>
            </a:r>
            <a:endParaRPr lang="en-US" dirty="0"/>
          </a:p>
        </p:txBody>
      </p:sp>
      <p:sp>
        <p:nvSpPr>
          <p:cNvPr id="55298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Post-Storm Data Acquisition</a:t>
            </a:r>
          </a:p>
          <a:p>
            <a:pPr lvl="1"/>
            <a:r>
              <a:rPr lang="en-US" dirty="0" smtClean="0"/>
              <a:t>MOU with Air Force/Civil Air Patrol</a:t>
            </a:r>
          </a:p>
          <a:p>
            <a:pPr lvl="1"/>
            <a:r>
              <a:rPr lang="en-US" dirty="0" smtClean="0"/>
              <a:t>24 missions flown in FY08</a:t>
            </a:r>
          </a:p>
          <a:p>
            <a:r>
              <a:rPr lang="en-US" dirty="0" smtClean="0"/>
              <a:t>Operational Processing Centers</a:t>
            </a:r>
          </a:p>
          <a:p>
            <a:pPr lvl="1"/>
            <a:r>
              <a:rPr lang="en-US" dirty="0" smtClean="0"/>
              <a:t>Program Council oversight</a:t>
            </a:r>
          </a:p>
          <a:p>
            <a:pPr lvl="1"/>
            <a:r>
              <a:rPr lang="en-US" dirty="0" smtClean="0"/>
              <a:t>Cooperative Support and Backup</a:t>
            </a:r>
          </a:p>
          <a:p>
            <a:pPr lvl="1"/>
            <a:r>
              <a:rPr lang="en-US" dirty="0" smtClean="0"/>
              <a:t>Improved efficiency and effectiveness</a:t>
            </a:r>
          </a:p>
          <a:p>
            <a:r>
              <a:rPr lang="en-US" dirty="0" smtClean="0"/>
              <a:t>Annual Federal Plan for Meteorological </a:t>
            </a:r>
            <a:br>
              <a:rPr lang="en-US" dirty="0" smtClean="0"/>
            </a:br>
            <a:r>
              <a:rPr lang="en-US" dirty="0" smtClean="0"/>
              <a:t>Services and Supporting Research</a:t>
            </a:r>
          </a:p>
          <a:p>
            <a:pPr lvl="1"/>
            <a:r>
              <a:rPr lang="en-US" dirty="0" smtClean="0"/>
              <a:t>Crosscutting review of agencies’ programs, plans, budgets, and </a:t>
            </a:r>
            <a:br>
              <a:rPr lang="en-US" dirty="0" smtClean="0"/>
            </a:br>
            <a:r>
              <a:rPr lang="en-US" dirty="0" smtClean="0"/>
              <a:t>activities</a:t>
            </a:r>
          </a:p>
          <a:p>
            <a:pPr lvl="1"/>
            <a:r>
              <a:rPr lang="en-US" dirty="0" smtClean="0"/>
              <a:t>One-stop reference for the federal meteorological enterprise</a:t>
            </a:r>
          </a:p>
        </p:txBody>
      </p:sp>
      <p:pic>
        <p:nvPicPr>
          <p:cNvPr id="71694" name="Picture 14" descr="CAP acft"/>
          <p:cNvPicPr>
            <a:picLocks noChangeAspect="1" noChangeArrowheads="1"/>
          </p:cNvPicPr>
          <p:nvPr/>
        </p:nvPicPr>
        <p:blipFill>
          <a:blip r:embed="rId3"/>
          <a:srcRect l="6061" t="9152" r="9091" b="3908"/>
          <a:stretch>
            <a:fillRect/>
          </a:stretch>
        </p:blipFill>
        <p:spPr bwMode="auto">
          <a:xfrm>
            <a:off x="6477000" y="2627312"/>
            <a:ext cx="2362200" cy="16033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71688" name="Picture 8" descr="PSDAP-Cover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62600" y="1600200"/>
            <a:ext cx="1187450" cy="15382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5303" name="Picture 7" descr="FedPlan Cover FY0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543800" y="4419600"/>
            <a:ext cx="1441450" cy="186213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D4618D-3BD9-4FEB-ADF2-DB96C31800F4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Office of the Federal Coordinator for Meteorological Services and Supporting Research (OFCM)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High Priority Activities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Operations Plans and Handbooks</a:t>
            </a:r>
          </a:p>
          <a:p>
            <a:pPr lvl="1"/>
            <a:r>
              <a:rPr lang="en-US" smtClean="0"/>
              <a:t>National Severe Local Storms Operations Plan</a:t>
            </a:r>
          </a:p>
          <a:p>
            <a:pPr lvl="1"/>
            <a:r>
              <a:rPr lang="en-US" smtClean="0"/>
              <a:t>National Winter Storms Operations Plan</a:t>
            </a:r>
          </a:p>
          <a:p>
            <a:pPr lvl="1"/>
            <a:r>
              <a:rPr lang="en-US" smtClean="0"/>
              <a:t>Lightning Data Requirements</a:t>
            </a:r>
          </a:p>
          <a:p>
            <a:pPr lvl="1"/>
            <a:r>
              <a:rPr lang="en-US" smtClean="0"/>
              <a:t>National Post-Storm Data Acquisition Plan</a:t>
            </a:r>
          </a:p>
          <a:p>
            <a:pPr lvl="1"/>
            <a:r>
              <a:rPr lang="en-US" smtClean="0"/>
              <a:t>Federal Meteorological Handbooks</a:t>
            </a:r>
          </a:p>
          <a:p>
            <a:pPr lvl="2"/>
            <a:r>
              <a:rPr lang="en-US" smtClean="0"/>
              <a:t>Surface Weather Observing</a:t>
            </a:r>
          </a:p>
          <a:p>
            <a:pPr lvl="2"/>
            <a:r>
              <a:rPr lang="en-US" smtClean="0"/>
              <a:t>Doppler Weather Radar Observations </a:t>
            </a:r>
          </a:p>
          <a:p>
            <a:pPr lvl="2"/>
            <a:r>
              <a:rPr lang="en-US" smtClean="0"/>
              <a:t>Rawinsonde and Pibal Observations</a:t>
            </a:r>
          </a:p>
          <a:p>
            <a:pPr lvl="2"/>
            <a:r>
              <a:rPr lang="en-US" smtClean="0"/>
              <a:t>Meteorological Codes and Coding Practices</a:t>
            </a:r>
            <a:endParaRPr lang="en-US" dirty="0" smtClean="0"/>
          </a:p>
        </p:txBody>
      </p:sp>
      <p:pic>
        <p:nvPicPr>
          <p:cNvPr id="93188" name="Picture 4" descr="NSLSOP-Cove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9800" y="1478756"/>
            <a:ext cx="1295400" cy="16764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</p:pic>
      <p:pic>
        <p:nvPicPr>
          <p:cNvPr id="93189" name="Picture 5" descr="NWSOP-Cover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19900" y="2075656"/>
            <a:ext cx="1295400" cy="16764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</p:pic>
      <p:pic>
        <p:nvPicPr>
          <p:cNvPr id="93190" name="Picture 6" descr="FMH-1 Cover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410200" y="3686175"/>
            <a:ext cx="1176338" cy="1524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</p:pic>
      <p:pic>
        <p:nvPicPr>
          <p:cNvPr id="93191" name="Picture 7" descr="FMH-11A Cover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044407" y="4107656"/>
            <a:ext cx="1203325" cy="1566863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</p:pic>
      <p:pic>
        <p:nvPicPr>
          <p:cNvPr id="93192" name="Picture 8" descr="FMH-3 Cover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705600" y="4572000"/>
            <a:ext cx="1209675" cy="15716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</p:pic>
      <p:pic>
        <p:nvPicPr>
          <p:cNvPr id="93193" name="Picture 9" descr="FMH-12 Cover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543800" y="4800600"/>
            <a:ext cx="1211263" cy="15716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</p:pic>
      <p:pic>
        <p:nvPicPr>
          <p:cNvPr id="93195" name="Picture 11" descr="PSDAP-Cover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620000" y="2583656"/>
            <a:ext cx="1306513" cy="16906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</p:pic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D4618D-3BD9-4FEB-ADF2-DB96C31800F4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Office of the Federal Coordinator for Meteorological Services and Supporting Research (OFCM)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High Priority Activities</a:t>
            </a:r>
            <a:endParaRPr lang="en-US" dirty="0"/>
          </a:p>
        </p:txBody>
      </p:sp>
      <p:sp>
        <p:nvSpPr>
          <p:cNvPr id="8909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Environmental Literacy – Interdepartmental Collaboration</a:t>
            </a:r>
          </a:p>
          <a:p>
            <a:r>
              <a:rPr lang="en-US" dirty="0" smtClean="0"/>
              <a:t>International Affairs</a:t>
            </a:r>
          </a:p>
          <a:p>
            <a:pPr lvl="1"/>
            <a:r>
              <a:rPr lang="en-US" dirty="0" smtClean="0"/>
              <a:t>WIST report translated into Chinese</a:t>
            </a:r>
          </a:p>
          <a:p>
            <a:pPr lvl="1"/>
            <a:r>
              <a:rPr lang="en-US" dirty="0" smtClean="0"/>
              <a:t>Extensible Markup Language (XML) and Web Services – supporting interagency coordination on data exchange model; assisting FAA with ICAO and NWS with WMO</a:t>
            </a:r>
          </a:p>
          <a:p>
            <a:r>
              <a:rPr lang="en-US" dirty="0" smtClean="0"/>
              <a:t>Integrated Observing Strategies – Enable improved services across functional areas</a:t>
            </a:r>
          </a:p>
          <a:p>
            <a:pPr lvl="1"/>
            <a:r>
              <a:rPr lang="en-US" dirty="0" smtClean="0"/>
              <a:t>Coordinated with US Group on Earth Observations</a:t>
            </a:r>
          </a:p>
          <a:p>
            <a:pPr lvl="1"/>
            <a:r>
              <a:rPr lang="en-US" dirty="0" smtClean="0"/>
              <a:t>Numerous data assimilation challenges, e.g., volume, communications, quality control, format, exchange</a:t>
            </a:r>
          </a:p>
          <a:p>
            <a:pPr lvl="1"/>
            <a:r>
              <a:rPr lang="en-US" dirty="0" smtClean="0"/>
              <a:t>Foundation of future environmental data cloud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D4618D-3BD9-4FEB-ADF2-DB96C31800F4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Office of the Federal Coordinator for Meteorological Services and Supporting Research (OFCM)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34" name="Rectangle 26"/>
          <p:cNvSpPr>
            <a:spLocks noChangeArrowheads="1"/>
          </p:cNvSpPr>
          <p:nvPr/>
        </p:nvSpPr>
        <p:spPr bwMode="auto">
          <a:xfrm>
            <a:off x="5029200" y="3771900"/>
            <a:ext cx="3886200" cy="18288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94211" name="AutoShape 3"/>
          <p:cNvSpPr>
            <a:spLocks noChangeArrowheads="1"/>
          </p:cNvSpPr>
          <p:nvPr/>
        </p:nvSpPr>
        <p:spPr bwMode="auto">
          <a:xfrm>
            <a:off x="1676400" y="5753100"/>
            <a:ext cx="5786438" cy="749141"/>
          </a:xfrm>
          <a:prstGeom prst="roundRect">
            <a:avLst>
              <a:gd name="adj" fmla="val 16667"/>
            </a:avLst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95000"/>
              </a:lnSpc>
              <a:spcBef>
                <a:spcPct val="15000"/>
              </a:spcBef>
              <a:spcAft>
                <a:spcPct val="15000"/>
              </a:spcAft>
              <a:buFontTx/>
              <a:buNone/>
            </a:pPr>
            <a:r>
              <a:rPr lang="en-US" sz="2000" b="0">
                <a:solidFill>
                  <a:schemeClr val="bg1"/>
                </a:solidFill>
                <a:latin typeface="Franklin Gothic Medium Cond" pitchFamily="34" charset="0"/>
              </a:rPr>
              <a:t>Work with our partners to mutually advance the concept to benefit the federal meteorological enterprise</a:t>
            </a:r>
          </a:p>
        </p:txBody>
      </p:sp>
      <p:sp>
        <p:nvSpPr>
          <p:cNvPr id="94212" name="Text Box 4"/>
          <p:cNvSpPr txBox="1">
            <a:spLocks noChangeArrowheads="1"/>
          </p:cNvSpPr>
          <p:nvPr/>
        </p:nvSpPr>
        <p:spPr bwMode="auto">
          <a:xfrm>
            <a:off x="6096000" y="1524000"/>
            <a:ext cx="2971800" cy="121110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25000"/>
              </a:spcBef>
              <a:buFontTx/>
              <a:buNone/>
            </a:pPr>
            <a:r>
              <a:rPr lang="en-US" sz="2000" b="0" u="sng" dirty="0">
                <a:solidFill>
                  <a:schemeClr val="bg1">
                    <a:lumMod val="95000"/>
                    <a:lumOff val="5000"/>
                  </a:schemeClr>
                </a:solidFill>
                <a:latin typeface="Franklin Gothic Medium Cond" pitchFamily="34" charset="0"/>
              </a:rPr>
              <a:t>5-D Cloud?</a:t>
            </a:r>
          </a:p>
          <a:p>
            <a:pPr>
              <a:spcBef>
                <a:spcPct val="25000"/>
              </a:spcBef>
            </a:pPr>
            <a:r>
              <a:rPr lang="en-US" b="0" dirty="0">
                <a:solidFill>
                  <a:schemeClr val="bg1">
                    <a:lumMod val="95000"/>
                    <a:lumOff val="5000"/>
                  </a:schemeClr>
                </a:solidFill>
                <a:latin typeface="Franklin Gothic Medium Cond" pitchFamily="34" charset="0"/>
              </a:rPr>
              <a:t>3-D in space = x, y, z</a:t>
            </a:r>
          </a:p>
          <a:p>
            <a:pPr>
              <a:spcBef>
                <a:spcPct val="25000"/>
              </a:spcBef>
            </a:pPr>
            <a:r>
              <a:rPr lang="en-US" b="0" dirty="0">
                <a:solidFill>
                  <a:schemeClr val="bg1">
                    <a:lumMod val="95000"/>
                    <a:lumOff val="5000"/>
                  </a:schemeClr>
                </a:solidFill>
                <a:latin typeface="Franklin Gothic Medium Cond" pitchFamily="34" charset="0"/>
              </a:rPr>
              <a:t>1-D in time = t</a:t>
            </a:r>
          </a:p>
          <a:p>
            <a:pPr>
              <a:spcBef>
                <a:spcPct val="25000"/>
              </a:spcBef>
            </a:pPr>
            <a:r>
              <a:rPr lang="en-US" b="0" dirty="0">
                <a:solidFill>
                  <a:schemeClr val="bg1">
                    <a:lumMod val="95000"/>
                    <a:lumOff val="5000"/>
                  </a:schemeClr>
                </a:solidFill>
                <a:latin typeface="Franklin Gothic Medium Cond" pitchFamily="34" charset="0"/>
              </a:rPr>
              <a:t>1-D in probability = </a:t>
            </a:r>
            <a:r>
              <a:rPr lang="en-US" b="0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Franklin Gothic Medium Cond" pitchFamily="34" charset="0"/>
              </a:rPr>
              <a:t>P or </a:t>
            </a:r>
            <a:r>
              <a:rPr lang="en-US" b="0" dirty="0">
                <a:solidFill>
                  <a:schemeClr val="bg1">
                    <a:lumMod val="95000"/>
                    <a:lumOff val="5000"/>
                  </a:schemeClr>
                </a:solidFill>
                <a:latin typeface="Franklin Gothic Medium Cond" pitchFamily="34" charset="0"/>
              </a:rPr>
              <a:t>PDF</a:t>
            </a:r>
          </a:p>
        </p:txBody>
      </p:sp>
      <p:grpSp>
        <p:nvGrpSpPr>
          <p:cNvPr id="94213" name="Group 5"/>
          <p:cNvGrpSpPr>
            <a:grpSpLocks/>
          </p:cNvGrpSpPr>
          <p:nvPr/>
        </p:nvGrpSpPr>
        <p:grpSpPr bwMode="auto">
          <a:xfrm>
            <a:off x="304800" y="1371600"/>
            <a:ext cx="3048000" cy="3635375"/>
            <a:chOff x="1872" y="1056"/>
            <a:chExt cx="1920" cy="2448"/>
          </a:xfrm>
        </p:grpSpPr>
        <p:sp>
          <p:nvSpPr>
            <p:cNvPr id="94214" name="AutoShape 6"/>
            <p:cNvSpPr>
              <a:spLocks noChangeArrowheads="1"/>
            </p:cNvSpPr>
            <p:nvPr/>
          </p:nvSpPr>
          <p:spPr bwMode="auto">
            <a:xfrm rot="2027195">
              <a:off x="1872" y="1200"/>
              <a:ext cx="912" cy="2304"/>
            </a:xfrm>
            <a:prstGeom prst="moon">
              <a:avLst>
                <a:gd name="adj" fmla="val 58009"/>
              </a:avLst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94215" name="AutoShape 7"/>
            <p:cNvSpPr>
              <a:spLocks noChangeArrowheads="1"/>
            </p:cNvSpPr>
            <p:nvPr/>
          </p:nvSpPr>
          <p:spPr bwMode="auto">
            <a:xfrm rot="3942253">
              <a:off x="2760" y="984"/>
              <a:ext cx="960" cy="1104"/>
            </a:xfrm>
            <a:prstGeom prst="triangle">
              <a:avLst>
                <a:gd name="adj" fmla="val 49755"/>
              </a:avLst>
            </a:prstGeom>
            <a:ln>
              <a:headEnd/>
              <a:tailEnd/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4217" name="Oval 9"/>
          <p:cNvSpPr>
            <a:spLocks noChangeArrowheads="1"/>
          </p:cNvSpPr>
          <p:nvPr/>
        </p:nvSpPr>
        <p:spPr bwMode="auto">
          <a:xfrm>
            <a:off x="838200" y="5257800"/>
            <a:ext cx="1524000" cy="500062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94218" name="Text Box 10"/>
          <p:cNvSpPr txBox="1">
            <a:spLocks noChangeArrowheads="1"/>
          </p:cNvSpPr>
          <p:nvPr/>
        </p:nvSpPr>
        <p:spPr bwMode="auto">
          <a:xfrm>
            <a:off x="952500" y="5329237"/>
            <a:ext cx="1295400" cy="38779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</a:pPr>
            <a:r>
              <a:rPr lang="en-US" sz="2400" b="0" dirty="0">
                <a:solidFill>
                  <a:schemeClr val="bg1"/>
                </a:solidFill>
                <a:latin typeface="Franklin Gothic Medium Cond" pitchFamily="34" charset="0"/>
              </a:rPr>
              <a:t>DOD</a:t>
            </a:r>
          </a:p>
        </p:txBody>
      </p:sp>
      <p:sp>
        <p:nvSpPr>
          <p:cNvPr id="94220" name="Oval 12"/>
          <p:cNvSpPr>
            <a:spLocks noChangeArrowheads="1"/>
          </p:cNvSpPr>
          <p:nvPr/>
        </p:nvSpPr>
        <p:spPr bwMode="auto">
          <a:xfrm>
            <a:off x="1600200" y="3095625"/>
            <a:ext cx="2133600" cy="712788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94221" name="Text Box 13"/>
          <p:cNvSpPr txBox="1">
            <a:spLocks noChangeArrowheads="1"/>
          </p:cNvSpPr>
          <p:nvPr/>
        </p:nvSpPr>
        <p:spPr bwMode="auto">
          <a:xfrm>
            <a:off x="1905000" y="3306491"/>
            <a:ext cx="1524000" cy="38460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</a:pPr>
            <a:r>
              <a:rPr lang="en-US" sz="2400" b="0" dirty="0" err="1">
                <a:solidFill>
                  <a:schemeClr val="bg1"/>
                </a:solidFill>
                <a:latin typeface="Franklin Gothic Medium Cond" pitchFamily="34" charset="0"/>
              </a:rPr>
              <a:t>NextGen</a:t>
            </a:r>
            <a:endParaRPr lang="en-US" sz="2400" b="0" dirty="0">
              <a:solidFill>
                <a:schemeClr val="bg1"/>
              </a:solidFill>
              <a:latin typeface="Franklin Gothic Medium Cond" pitchFamily="34" charset="0"/>
            </a:endParaRPr>
          </a:p>
        </p:txBody>
      </p:sp>
      <p:sp>
        <p:nvSpPr>
          <p:cNvPr id="94222" name="Text Box 14"/>
          <p:cNvSpPr txBox="1">
            <a:spLocks noChangeArrowheads="1"/>
          </p:cNvSpPr>
          <p:nvPr/>
        </p:nvSpPr>
        <p:spPr bwMode="auto">
          <a:xfrm>
            <a:off x="1981200" y="4114800"/>
            <a:ext cx="2743200" cy="3603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</a:pPr>
            <a:r>
              <a:rPr lang="en-US" sz="2200" b="0" dirty="0">
                <a:solidFill>
                  <a:schemeClr val="bg1">
                    <a:lumMod val="95000"/>
                    <a:lumOff val="5000"/>
                  </a:schemeClr>
                </a:solidFill>
                <a:latin typeface="Franklin Gothic Medium Cond" pitchFamily="34" charset="0"/>
              </a:rPr>
              <a:t>4-D Data Cube</a:t>
            </a:r>
          </a:p>
        </p:txBody>
      </p:sp>
      <p:sp>
        <p:nvSpPr>
          <p:cNvPr id="94224" name="Oval 16"/>
          <p:cNvSpPr>
            <a:spLocks noChangeArrowheads="1"/>
          </p:cNvSpPr>
          <p:nvPr/>
        </p:nvSpPr>
        <p:spPr bwMode="auto">
          <a:xfrm>
            <a:off x="3124200" y="1524000"/>
            <a:ext cx="2895600" cy="1139825"/>
          </a:xfrm>
          <a:prstGeom prst="ellipse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94225" name="Text Box 17"/>
          <p:cNvSpPr txBox="1">
            <a:spLocks noChangeArrowheads="1"/>
          </p:cNvSpPr>
          <p:nvPr/>
        </p:nvSpPr>
        <p:spPr bwMode="auto">
          <a:xfrm>
            <a:off x="3390900" y="1810440"/>
            <a:ext cx="2362200" cy="68326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</a:pPr>
            <a:r>
              <a:rPr lang="en-US" sz="2400" b="0" dirty="0">
                <a:solidFill>
                  <a:schemeClr val="bg1"/>
                </a:solidFill>
                <a:latin typeface="Franklin Gothic Medium Cond" pitchFamily="34" charset="0"/>
              </a:rPr>
              <a:t>Environmental</a:t>
            </a:r>
            <a:br>
              <a:rPr lang="en-US" sz="2400" b="0" dirty="0">
                <a:solidFill>
                  <a:schemeClr val="bg1"/>
                </a:solidFill>
                <a:latin typeface="Franklin Gothic Medium Cond" pitchFamily="34" charset="0"/>
              </a:rPr>
            </a:br>
            <a:r>
              <a:rPr lang="en-US" sz="2400" b="0" dirty="0">
                <a:solidFill>
                  <a:schemeClr val="bg1"/>
                </a:solidFill>
                <a:latin typeface="Franklin Gothic Medium Cond" pitchFamily="34" charset="0"/>
              </a:rPr>
              <a:t>Data Cloud</a:t>
            </a:r>
          </a:p>
        </p:txBody>
      </p:sp>
      <p:sp>
        <p:nvSpPr>
          <p:cNvPr id="94226" name="Text Box 18"/>
          <p:cNvSpPr txBox="1">
            <a:spLocks noChangeArrowheads="1"/>
          </p:cNvSpPr>
          <p:nvPr/>
        </p:nvSpPr>
        <p:spPr bwMode="auto">
          <a:xfrm>
            <a:off x="3962400" y="2954338"/>
            <a:ext cx="3048000" cy="3603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</a:pPr>
            <a:r>
              <a:rPr lang="en-US" sz="2200" b="0" dirty="0">
                <a:solidFill>
                  <a:schemeClr val="bg1">
                    <a:lumMod val="95000"/>
                    <a:lumOff val="5000"/>
                  </a:schemeClr>
                </a:solidFill>
                <a:latin typeface="Franklin Gothic Medium Cond" pitchFamily="34" charset="0"/>
              </a:rPr>
              <a:t>5-D Data Cube/Cloud</a:t>
            </a:r>
          </a:p>
        </p:txBody>
      </p:sp>
      <p:sp>
        <p:nvSpPr>
          <p:cNvPr id="94227" name="Line 19"/>
          <p:cNvSpPr>
            <a:spLocks noChangeShapeType="1"/>
          </p:cNvSpPr>
          <p:nvPr/>
        </p:nvSpPr>
        <p:spPr bwMode="auto">
          <a:xfrm flipV="1">
            <a:off x="2590800" y="4522786"/>
            <a:ext cx="838200" cy="887413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94228" name="Line 20"/>
          <p:cNvSpPr>
            <a:spLocks noChangeShapeType="1"/>
          </p:cNvSpPr>
          <p:nvPr/>
        </p:nvSpPr>
        <p:spPr bwMode="auto">
          <a:xfrm flipV="1">
            <a:off x="4038600" y="3428999"/>
            <a:ext cx="533400" cy="593725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94229" name="Group 21"/>
          <p:cNvGrpSpPr>
            <a:grpSpLocks/>
          </p:cNvGrpSpPr>
          <p:nvPr/>
        </p:nvGrpSpPr>
        <p:grpSpPr bwMode="auto">
          <a:xfrm>
            <a:off x="5029200" y="4165600"/>
            <a:ext cx="3886200" cy="1325563"/>
            <a:chOff x="3120" y="2736"/>
            <a:chExt cx="2448" cy="864"/>
          </a:xfrm>
        </p:grpSpPr>
        <p:sp>
          <p:nvSpPr>
            <p:cNvPr id="94230" name="Rectangle 22"/>
            <p:cNvSpPr>
              <a:spLocks noChangeArrowheads="1"/>
            </p:cNvSpPr>
            <p:nvPr/>
          </p:nvSpPr>
          <p:spPr bwMode="auto">
            <a:xfrm>
              <a:off x="3120" y="2736"/>
              <a:ext cx="2448" cy="86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>
              <a:outerShdw dist="107763" dir="2700000" algn="ctr" rotWithShape="0">
                <a:srgbClr val="808080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4231" name="Text Box 23"/>
            <p:cNvSpPr txBox="1">
              <a:spLocks noChangeArrowheads="1"/>
            </p:cNvSpPr>
            <p:nvPr/>
          </p:nvSpPr>
          <p:spPr bwMode="auto">
            <a:xfrm>
              <a:off x="3168" y="2784"/>
              <a:ext cx="2400" cy="81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None/>
              </a:pPr>
              <a:r>
                <a:rPr lang="en-US" b="0" dirty="0" smtClean="0">
                  <a:solidFill>
                    <a:schemeClr val="bg1">
                      <a:lumMod val="95000"/>
                      <a:lumOff val="5000"/>
                    </a:schemeClr>
                  </a:solidFill>
                  <a:latin typeface="Franklin Gothic Medium Cond" pitchFamily="34" charset="0"/>
                </a:rPr>
                <a:t>Build </a:t>
              </a:r>
              <a:r>
                <a:rPr lang="en-US" b="0" dirty="0">
                  <a:solidFill>
                    <a:schemeClr val="bg1">
                      <a:lumMod val="95000"/>
                      <a:lumOff val="5000"/>
                    </a:schemeClr>
                  </a:solidFill>
                  <a:latin typeface="Franklin Gothic Medium Cond" pitchFamily="34" charset="0"/>
                </a:rPr>
                <a:t>on DOD experience today</a:t>
              </a:r>
            </a:p>
            <a:p>
              <a:pPr>
                <a:spcBef>
                  <a:spcPct val="50000"/>
                </a:spcBef>
                <a:buNone/>
              </a:pPr>
              <a:r>
                <a:rPr lang="en-US" b="0" dirty="0" smtClean="0">
                  <a:solidFill>
                    <a:schemeClr val="bg1">
                      <a:lumMod val="95000"/>
                      <a:lumOff val="5000"/>
                    </a:schemeClr>
                  </a:solidFill>
                  <a:latin typeface="Franklin Gothic Medium Cond" pitchFamily="34" charset="0"/>
                </a:rPr>
                <a:t>Enable </a:t>
              </a:r>
              <a:r>
                <a:rPr lang="en-US" b="0" dirty="0" err="1">
                  <a:solidFill>
                    <a:schemeClr val="bg1">
                      <a:lumMod val="95000"/>
                      <a:lumOff val="5000"/>
                    </a:schemeClr>
                  </a:solidFill>
                  <a:latin typeface="Franklin Gothic Medium Cond" pitchFamily="34" charset="0"/>
                </a:rPr>
                <a:t>NextGen</a:t>
              </a:r>
              <a:r>
                <a:rPr lang="en-US" b="0" dirty="0">
                  <a:solidFill>
                    <a:schemeClr val="bg1">
                      <a:lumMod val="95000"/>
                      <a:lumOff val="5000"/>
                    </a:schemeClr>
                  </a:solidFill>
                  <a:latin typeface="Franklin Gothic Medium Cond" pitchFamily="34" charset="0"/>
                </a:rPr>
                <a:t> in near future</a:t>
              </a:r>
            </a:p>
            <a:p>
              <a:pPr>
                <a:spcBef>
                  <a:spcPct val="50000"/>
                </a:spcBef>
                <a:buNone/>
              </a:pPr>
              <a:r>
                <a:rPr lang="en-US" b="0" dirty="0" smtClean="0">
                  <a:solidFill>
                    <a:schemeClr val="bg1">
                      <a:lumMod val="95000"/>
                      <a:lumOff val="5000"/>
                    </a:schemeClr>
                  </a:solidFill>
                  <a:latin typeface="Franklin Gothic Medium Cond" pitchFamily="34" charset="0"/>
                </a:rPr>
                <a:t>Expand </a:t>
              </a:r>
              <a:r>
                <a:rPr lang="en-US" b="0" dirty="0">
                  <a:solidFill>
                    <a:schemeClr val="bg1">
                      <a:lumMod val="95000"/>
                      <a:lumOff val="5000"/>
                    </a:schemeClr>
                  </a:solidFill>
                  <a:latin typeface="Franklin Gothic Medium Cond" pitchFamily="34" charset="0"/>
                </a:rPr>
                <a:t>the cube/cloud </a:t>
              </a:r>
              <a:r>
                <a:rPr lang="en-US" b="0" dirty="0" smtClean="0">
                  <a:solidFill>
                    <a:schemeClr val="bg1">
                      <a:lumMod val="95000"/>
                      <a:lumOff val="5000"/>
                    </a:schemeClr>
                  </a:solidFill>
                  <a:latin typeface="Franklin Gothic Medium Cond" pitchFamily="34" charset="0"/>
                </a:rPr>
                <a:t>to support </a:t>
              </a:r>
              <a:r>
                <a:rPr lang="en-US" b="0" dirty="0">
                  <a:solidFill>
                    <a:schemeClr val="bg1">
                      <a:lumMod val="95000"/>
                      <a:lumOff val="5000"/>
                    </a:schemeClr>
                  </a:solidFill>
                  <a:latin typeface="Franklin Gothic Medium Cond" pitchFamily="34" charset="0"/>
                </a:rPr>
                <a:t>multiple applications</a:t>
              </a:r>
            </a:p>
          </p:txBody>
        </p:sp>
      </p:grpSp>
      <p:sp>
        <p:nvSpPr>
          <p:cNvPr id="94232" name="Text Box 24"/>
          <p:cNvSpPr txBox="1">
            <a:spLocks noChangeArrowheads="1"/>
          </p:cNvSpPr>
          <p:nvPr/>
        </p:nvSpPr>
        <p:spPr bwMode="auto">
          <a:xfrm>
            <a:off x="152400" y="5105400"/>
            <a:ext cx="990600" cy="3111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</a:pPr>
            <a:r>
              <a:rPr lang="en-US" b="0" dirty="0">
                <a:solidFill>
                  <a:schemeClr val="bg1">
                    <a:lumMod val="95000"/>
                    <a:lumOff val="5000"/>
                  </a:schemeClr>
                </a:solidFill>
                <a:latin typeface="Franklin Gothic Medium Cond" pitchFamily="34" charset="0"/>
              </a:rPr>
              <a:t>Today</a:t>
            </a:r>
          </a:p>
        </p:txBody>
      </p:sp>
      <p:sp>
        <p:nvSpPr>
          <p:cNvPr id="94233" name="Text Box 25"/>
          <p:cNvSpPr txBox="1">
            <a:spLocks noChangeArrowheads="1"/>
          </p:cNvSpPr>
          <p:nvPr/>
        </p:nvSpPr>
        <p:spPr bwMode="auto">
          <a:xfrm>
            <a:off x="1676400" y="1447800"/>
            <a:ext cx="1752600" cy="3111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</a:pPr>
            <a:r>
              <a:rPr lang="en-US" b="0" dirty="0">
                <a:solidFill>
                  <a:schemeClr val="bg1"/>
                </a:solidFill>
                <a:latin typeface="Franklin Gothic Medium Cond" pitchFamily="34" charset="0"/>
              </a:rPr>
              <a:t>Tomorrow</a:t>
            </a:r>
          </a:p>
        </p:txBody>
      </p:sp>
      <p:sp>
        <p:nvSpPr>
          <p:cNvPr id="94235" name="Text Box 27"/>
          <p:cNvSpPr txBox="1">
            <a:spLocks noChangeArrowheads="1"/>
          </p:cNvSpPr>
          <p:nvPr/>
        </p:nvSpPr>
        <p:spPr bwMode="auto">
          <a:xfrm>
            <a:off x="5046663" y="3765550"/>
            <a:ext cx="3854450" cy="36036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</a:pPr>
            <a:r>
              <a:rPr lang="en-US" sz="2200" b="0" dirty="0">
                <a:solidFill>
                  <a:schemeClr val="bg1"/>
                </a:solidFill>
                <a:latin typeface="Franklin Gothic Heavy" pitchFamily="34" charset="0"/>
              </a:rPr>
              <a:t>Potential Future</a:t>
            </a:r>
          </a:p>
        </p:txBody>
      </p:sp>
      <p:sp>
        <p:nvSpPr>
          <p:cNvPr id="94237" name="Text Box 29"/>
          <p:cNvSpPr txBox="1">
            <a:spLocks noChangeArrowheads="1"/>
          </p:cNvSpPr>
          <p:nvPr/>
        </p:nvSpPr>
        <p:spPr bwMode="auto">
          <a:xfrm>
            <a:off x="609600" y="4876800"/>
            <a:ext cx="2743200" cy="3603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</a:pPr>
            <a:r>
              <a:rPr lang="en-US" sz="2200" b="0" dirty="0">
                <a:solidFill>
                  <a:schemeClr val="bg1">
                    <a:lumMod val="95000"/>
                    <a:lumOff val="5000"/>
                  </a:schemeClr>
                </a:solidFill>
                <a:latin typeface="Franklin Gothic Medium Cond" pitchFamily="34" charset="0"/>
              </a:rPr>
              <a:t>NWS NDFD</a:t>
            </a:r>
          </a:p>
        </p:txBody>
      </p:sp>
      <p:sp>
        <p:nvSpPr>
          <p:cNvPr id="32" name="Title 3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Building a future to improve services…</a:t>
            </a:r>
            <a:br>
              <a:rPr lang="en-US" sz="3200" dirty="0" smtClean="0"/>
            </a:br>
            <a:r>
              <a:rPr lang="en-US" sz="2800" dirty="0" smtClean="0">
                <a:latin typeface="Franklin Gothic Medium Cond" pitchFamily="34" charset="0"/>
              </a:rPr>
              <a:t>Network-enabled, data- &amp; info-centric</a:t>
            </a:r>
            <a:endParaRPr lang="en-US" sz="2800" dirty="0">
              <a:latin typeface="Franklin Gothic Medium Cond" pitchFamily="34" charset="0"/>
            </a:endParaRPr>
          </a:p>
        </p:txBody>
      </p:sp>
      <p:sp>
        <p:nvSpPr>
          <p:cNvPr id="26" name="Slide Number Placeholder 2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7AD998-3763-420B-BA34-708D53A547F8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27" name="Footer Placeholder 2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Office of the Federal Coordinator for Meteorological Services and Supporting Research (OFCM)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Facilities and Personnel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Office location:</a:t>
            </a:r>
          </a:p>
          <a:p>
            <a:pPr lvl="1"/>
            <a:r>
              <a:rPr lang="en-US" dirty="0" smtClean="0"/>
              <a:t>8455 </a:t>
            </a:r>
            <a:r>
              <a:rPr lang="en-US" dirty="0" err="1" smtClean="0"/>
              <a:t>Colesville</a:t>
            </a:r>
            <a:r>
              <a:rPr lang="en-US" dirty="0" smtClean="0"/>
              <a:t> Road, Suite 1500</a:t>
            </a:r>
          </a:p>
          <a:p>
            <a:pPr lvl="1"/>
            <a:r>
              <a:rPr lang="en-US" dirty="0" smtClean="0"/>
              <a:t>Silver Spring, MD</a:t>
            </a:r>
          </a:p>
          <a:p>
            <a:r>
              <a:rPr lang="en-US" dirty="0" smtClean="0"/>
              <a:t>Personnel</a:t>
            </a:r>
          </a:p>
          <a:p>
            <a:pPr lvl="1"/>
            <a:r>
              <a:rPr lang="en-US" dirty="0" smtClean="0"/>
              <a:t>11 NOAA Employees in Career Positions</a:t>
            </a:r>
          </a:p>
          <a:p>
            <a:pPr lvl="1"/>
            <a:r>
              <a:rPr lang="en-US" dirty="0" smtClean="0"/>
              <a:t>One full-time detail from USAF</a:t>
            </a:r>
          </a:p>
          <a:p>
            <a:pPr lvl="1"/>
            <a:r>
              <a:rPr lang="en-US" dirty="0" smtClean="0"/>
              <a:t>One part-time detail from USN</a:t>
            </a:r>
          </a:p>
          <a:p>
            <a:pPr lvl="1"/>
            <a:r>
              <a:rPr lang="en-US" dirty="0" smtClean="0"/>
              <a:t>One full-time detail from FAA (vacant)</a:t>
            </a:r>
          </a:p>
        </p:txBody>
      </p:sp>
      <p:pic>
        <p:nvPicPr>
          <p:cNvPr id="80903" name="Picture 7" descr="{short description of image}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5000" y="2971800"/>
            <a:ext cx="3263900" cy="3371850"/>
          </a:xfrm>
          <a:prstGeom prst="rect">
            <a:avLst/>
          </a:prstGeom>
          <a:noFill/>
        </p:spPr>
      </p:pic>
      <p:sp>
        <p:nvSpPr>
          <p:cNvPr id="80905" name="Line 9"/>
          <p:cNvSpPr>
            <a:spLocks noChangeShapeType="1"/>
          </p:cNvSpPr>
          <p:nvPr/>
        </p:nvSpPr>
        <p:spPr bwMode="auto">
          <a:xfrm>
            <a:off x="4038600" y="2514600"/>
            <a:ext cx="3124200" cy="1752600"/>
          </a:xfrm>
          <a:prstGeom prst="line">
            <a:avLst/>
          </a:prstGeom>
          <a:ln>
            <a:headEnd/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80906" name="Text Box 10"/>
          <p:cNvSpPr txBox="1">
            <a:spLocks noChangeArrowheads="1"/>
          </p:cNvSpPr>
          <p:nvPr/>
        </p:nvSpPr>
        <p:spPr bwMode="auto">
          <a:xfrm>
            <a:off x="6570263" y="2667000"/>
            <a:ext cx="1553374" cy="3139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buFontTx/>
              <a:buNone/>
            </a:pPr>
            <a:r>
              <a:rPr lang="en-US" b="0" dirty="0">
                <a:solidFill>
                  <a:schemeClr val="bg1">
                    <a:lumMod val="95000"/>
                    <a:lumOff val="5000"/>
                  </a:schemeClr>
                </a:solidFill>
                <a:latin typeface="Franklin Gothic Heavy" pitchFamily="34" charset="0"/>
              </a:rPr>
              <a:t>Silver Spring</a:t>
            </a:r>
          </a:p>
        </p:txBody>
      </p:sp>
      <p:sp>
        <p:nvSpPr>
          <p:cNvPr id="80907" name="Text Box 11"/>
          <p:cNvSpPr txBox="1">
            <a:spLocks noChangeArrowheads="1"/>
          </p:cNvSpPr>
          <p:nvPr/>
        </p:nvSpPr>
        <p:spPr bwMode="auto">
          <a:xfrm>
            <a:off x="5778500" y="5549900"/>
            <a:ext cx="762000" cy="450850"/>
          </a:xfrm>
          <a:prstGeom prst="rect">
            <a:avLst/>
          </a:prstGeom>
          <a:noFill/>
          <a:ln w="19050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buFontTx/>
              <a:buNone/>
            </a:pPr>
            <a:r>
              <a:rPr lang="en-US" sz="1400"/>
              <a:t>SSMC</a:t>
            </a:r>
            <a:br>
              <a:rPr lang="en-US" sz="1400"/>
            </a:br>
            <a:r>
              <a:rPr lang="en-US" sz="1400"/>
              <a:t> I - IV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D4618D-3BD9-4FEB-ADF2-DB96C31800F4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Office of the Federal Coordinator for Meteorological Services and Supporting Research (OFCM)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Summary</a:t>
            </a:r>
          </a:p>
        </p:txBody>
      </p:sp>
      <p:sp>
        <p:nvSpPr>
          <p:cNvPr id="59396" name="Rectangle 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OFCM is:</a:t>
            </a:r>
          </a:p>
          <a:p>
            <a:pPr lvl="1"/>
            <a:r>
              <a:rPr lang="en-US" dirty="0" smtClean="0"/>
              <a:t>A central touchstone for assessing needs, identifying requirements, developing strategies and implementation plans, and coordinating execution across the federal government’s meteorological services and supporting research enterprise</a:t>
            </a:r>
          </a:p>
          <a:p>
            <a:pPr lvl="1"/>
            <a:r>
              <a:rPr lang="en-US" dirty="0" smtClean="0"/>
              <a:t>Experienced at developing needs from the bottom up</a:t>
            </a:r>
          </a:p>
          <a:p>
            <a:pPr lvl="1"/>
            <a:r>
              <a:rPr lang="en-US" dirty="0" smtClean="0"/>
              <a:t>Experienced at building and sustaining consensus and collaboration to improve efficiency and effectiveness</a:t>
            </a:r>
          </a:p>
          <a:p>
            <a:pPr lvl="1"/>
            <a:r>
              <a:rPr lang="en-US" dirty="0" smtClean="0"/>
              <a:t>Committed to interagency cooperation</a:t>
            </a:r>
          </a:p>
          <a:p>
            <a:pPr lvl="1"/>
            <a:r>
              <a:rPr lang="en-US" dirty="0" smtClean="0"/>
              <a:t>Reliant on a degree of independence to act as an honest broker among the agencies and offices of the coordinating infrastructure</a:t>
            </a:r>
          </a:p>
          <a:p>
            <a:pPr lvl="1"/>
            <a:r>
              <a:rPr lang="en-US" dirty="0" smtClean="0"/>
              <a:t>A recognized successful interagency facilitator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D4618D-3BD9-4FEB-ADF2-DB96C31800F4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Office of the Federal Coordinator for Meteorological Services and Supporting Research (OFCM)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Questions?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BACKUP SLIDES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76" name="Group 48"/>
          <p:cNvGraphicFramePr>
            <a:graphicFrameLocks noGrp="1"/>
          </p:cNvGraphicFramePr>
          <p:nvPr/>
        </p:nvGraphicFramePr>
        <p:xfrm>
          <a:off x="76200" y="1536700"/>
          <a:ext cx="4495800" cy="466344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495800"/>
              </a:tblGrid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VADM CONRAD LAUTENBACHER, JR., USN (RET.) Chairman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DR. SHARON L. HAYS                                            </a:t>
                      </a:r>
                      <a:br>
                        <a:rPr kumimoji="0" lang="en-US" altLang="ja-JP" sz="1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</a:br>
                      <a:r>
                        <a:rPr kumimoji="0" lang="en-US" altLang="ja-JP" sz="1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Office of Science and Technology Policy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DR. RAYMOND MOTHA                                     </a:t>
                      </a:r>
                      <a:br>
                        <a:rPr kumimoji="0" lang="en-US" altLang="ja-JP" sz="1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</a:br>
                      <a:r>
                        <a:rPr kumimoji="0" lang="en-US" altLang="ja-JP" sz="1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Department of Agriculture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DR. JACK HAYES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Department of Commerce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MR. ALAN SHAFFER                                     </a:t>
                      </a:r>
                      <a:br>
                        <a:rPr kumimoji="0" lang="en-US" altLang="ja-JP" sz="1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</a:br>
                      <a:r>
                        <a:rPr kumimoji="0" lang="en-US" altLang="ja-JP" sz="1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Department of Defense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DR. ANNA PALMISANO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Department of Energy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MR. KEVIN “SPANKY” KIRSCH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Department of Homeland Security</a:t>
                      </a:r>
                      <a:r>
                        <a:rPr kumimoji="0" lang="en-US" altLang="ko-KR" sz="1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(OS&amp;T)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DR. HERBERT FROST (Acting)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Department of the Interior</a:t>
                      </a:r>
                      <a:r>
                        <a:rPr kumimoji="0" lang="en-US" altLang="ko-KR" sz="1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(NPS)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MR. KENNETH HODGKINS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Department of State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</a:tr>
            </a:tbl>
          </a:graphicData>
        </a:graphic>
      </p:graphicFrame>
      <p:graphicFrame>
        <p:nvGraphicFramePr>
          <p:cNvPr id="22577" name="Group 49"/>
          <p:cNvGraphicFramePr>
            <a:graphicFrameLocks noGrp="1"/>
          </p:cNvGraphicFramePr>
          <p:nvPr/>
        </p:nvGraphicFramePr>
        <p:xfrm>
          <a:off x="4572000" y="1536700"/>
          <a:ext cx="4495800" cy="466344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4495800"/>
              </a:tblGrid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MR. RANDOLPH LYON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Office of Management and Budget</a:t>
                      </a:r>
                      <a:endParaRPr kumimoji="0" lang="en-US" altLang="ja-JP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MS PGothic" pitchFamily="34" charset="-128"/>
                      </a:endParaRPr>
                    </a:p>
                  </a:txBody>
                  <a:tcPr horzOverflow="overflow"/>
                </a:tc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MS. VICTORIA COX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Department of Transportation (</a:t>
                      </a:r>
                      <a:r>
                        <a:rPr kumimoji="0" lang="en-US" altLang="ko-KR" sz="1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DOT/</a:t>
                      </a:r>
                      <a:r>
                        <a:rPr kumimoji="0" lang="en-US" altLang="ja-JP" sz="1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FAA)</a:t>
                      </a:r>
                      <a:endParaRPr kumimoji="0" 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MR. DAVID MAURSTAD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Department of Homeland Security</a:t>
                      </a:r>
                      <a:r>
                        <a:rPr kumimoji="0" lang="en-US" altLang="ko-KR" sz="1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 (FEMA)</a:t>
                      </a:r>
                      <a:endParaRPr kumimoji="0" 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DR. </a:t>
                      </a:r>
                      <a:r>
                        <a:rPr kumimoji="0" lang="en-US" altLang="ko-KR" sz="1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EDWARD WEILER </a:t>
                      </a:r>
                      <a:endParaRPr kumimoji="0" lang="en-US" altLang="ja-JP" sz="1400" u="none" strike="noStrike" cap="none" normalizeH="0" baseline="0" smtClean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National Aeronautics and Space Administration</a:t>
                      </a:r>
                      <a:endParaRPr kumimoji="0" 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DR. </a:t>
                      </a:r>
                      <a:r>
                        <a:rPr kumimoji="0" lang="en-US" altLang="ko-KR" sz="1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Tim Killeen </a:t>
                      </a:r>
                      <a:endParaRPr kumimoji="0" lang="en-US" altLang="ja-JP" sz="1400" u="none" strike="noStrike" cap="none" normalizeH="0" baseline="0" smtClean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National Science Foundation</a:t>
                      </a:r>
                      <a:endParaRPr kumimoji="0" 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MR. PAUL MISENCIK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National Transportation Safety Board</a:t>
                      </a:r>
                      <a:endParaRPr kumimoji="0" lang="en-US" altLang="ja-JP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MS PGothic" pitchFamily="34" charset="-128"/>
                      </a:endParaRPr>
                    </a:p>
                  </a:txBody>
                  <a:tcPr horzOverflow="overflow"/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MR. MICHAEL JOHNSON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U.S. Nuclear Regulatory Commission</a:t>
                      </a:r>
                      <a:endParaRPr kumimoji="0" 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DR. LAWRENCE REITER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Environmental Protection Agency</a:t>
                      </a:r>
                      <a:endParaRPr kumimoji="0" 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MR. SAMUEL P. WILLIAMSON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Federal Coordinator</a:t>
                      </a: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</a:tr>
            </a:tbl>
          </a:graphicData>
        </a:graphic>
      </p:graphicFrame>
      <p:sp>
        <p:nvSpPr>
          <p:cNvPr id="22574" name="Rectangle 4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FCMSSR Members</a:t>
            </a:r>
            <a:endParaRPr lang="en-US" dirty="0" smtClean="0"/>
          </a:p>
        </p:txBody>
      </p:sp>
      <p:sp>
        <p:nvSpPr>
          <p:cNvPr id="22578" name="Text Box 50"/>
          <p:cNvSpPr txBox="1">
            <a:spLocks noChangeArrowheads="1"/>
          </p:cNvSpPr>
          <p:nvPr/>
        </p:nvSpPr>
        <p:spPr bwMode="auto">
          <a:xfrm>
            <a:off x="685800" y="6248400"/>
            <a:ext cx="7772400" cy="26468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spcBef>
                <a:spcPct val="50000"/>
              </a:spcBef>
              <a:buFontTx/>
              <a:buNone/>
            </a:pPr>
            <a:r>
              <a:rPr lang="en-US" sz="1400" b="0" dirty="0">
                <a:latin typeface="Franklin Gothic Heavy" pitchFamily="34" charset="0"/>
              </a:rPr>
              <a:t>SECRETARIAT:  MR. MICHAEL BABCOCK, OFCM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7AD998-3763-420B-BA34-708D53A547F8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Office of the Federal Coordinator for Meteorological Services and Supporting Research (OFCM)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605" name="Group 53"/>
          <p:cNvGraphicFramePr>
            <a:graphicFrameLocks noGrp="1"/>
          </p:cNvGraphicFramePr>
          <p:nvPr/>
        </p:nvGraphicFramePr>
        <p:xfrm>
          <a:off x="76200" y="1600200"/>
          <a:ext cx="4495800" cy="4114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495800"/>
              </a:tblGrid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MR. SAMUEL P. WILLIAMSON, Chairman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Federal Coordinator</a:t>
                      </a:r>
                      <a:endParaRPr kumimoji="0" lang="en-US" altLang="ja-JP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MS PGothic" pitchFamily="34" charset="-128"/>
                      </a:endParaRPr>
                    </a:p>
                  </a:txBody>
                  <a:tcPr horzOverflow="overflow"/>
                </a:tc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MR. THOMAS PUTERBAUGH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Department of Agriculture</a:t>
                      </a: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Dr. JACK HAYES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Department of Commerce</a:t>
                      </a: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RADM DAVID GOVE, USN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Department of Defense (U.S. Navy)</a:t>
                      </a: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DR. FRED LEWIS, USAF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Department of Defense (U.S. Air Force)</a:t>
                      </a: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MR. RICKEY PETTY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Department of Energy</a:t>
                      </a: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MR. KEVIN “SPANKY” KIRSCH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Department of Homeland Security</a:t>
                      </a:r>
                      <a:r>
                        <a:rPr kumimoji="0" lang="en-US" altLang="ko-KR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 (OS&amp;T)</a:t>
                      </a:r>
                      <a:endParaRPr kumimoji="0" lang="en-US" altLang="ja-JP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MS PGothic" pitchFamily="34" charset="-128"/>
                      </a:endParaRPr>
                    </a:p>
                  </a:txBody>
                  <a:tcPr horzOverflow="overflow"/>
                </a:tc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MR. JOHN VIMONT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Department of the Interior</a:t>
                      </a:r>
                      <a:r>
                        <a:rPr kumimoji="0" lang="en-US" altLang="ko-KR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 (NPS)</a:t>
                      </a: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MR. ROBERT ARNOLD	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Department of Transportation (FHWA)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</a:tr>
            </a:tbl>
          </a:graphicData>
        </a:graphic>
      </p:graphicFrame>
      <p:graphicFrame>
        <p:nvGraphicFramePr>
          <p:cNvPr id="23603" name="Group 51"/>
          <p:cNvGraphicFramePr>
            <a:graphicFrameLocks noGrp="1"/>
          </p:cNvGraphicFramePr>
          <p:nvPr/>
        </p:nvGraphicFramePr>
        <p:xfrm>
          <a:off x="4572000" y="1600200"/>
          <a:ext cx="4495800" cy="457200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4495800"/>
              </a:tblGrid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MR. KENNETH M. LEONARD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Department of Transportation (FAA)</a:t>
                      </a:r>
                      <a:endParaRPr kumimoji="0" lang="en-US" altLang="ja-JP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MS PGothic" pitchFamily="34" charset="-128"/>
                      </a:endParaRPr>
                    </a:p>
                  </a:txBody>
                  <a:tcPr horzOverflow="overflow"/>
                </a:tc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DR. JONATHAN M. BERKSON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Department of Homeland Security (USCG)</a:t>
                      </a: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MR. NORMAN BARTH (Acting)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Department of State</a:t>
                      </a: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DR. S. T. RAO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Environmental Protection Agency</a:t>
                      </a: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MR. DANIEL CATLETT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Department of Homeland Security (FEMA)</a:t>
                      </a: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DR. RAMESH KAKAR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National Aeronautics and Space Administration</a:t>
                      </a:r>
                      <a:endParaRPr kumimoji="0" lang="en-US" altLang="ja-JP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MS PGothic" pitchFamily="34" charset="-128"/>
                      </a:endParaRPr>
                    </a:p>
                  </a:txBody>
                  <a:tcPr horzOverflow="overflow"/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DR. JARVIS MOYERS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National Science Foundation</a:t>
                      </a: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MR. DONALD E. EICK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National Transportation Safety Board</a:t>
                      </a: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MS. JOCELYN MITCHELL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2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U.S. Nuclear Regulatory Commission</a:t>
                      </a:r>
                      <a:endParaRPr kumimoji="0" 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MS. GRACE HU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ja-JP" sz="12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Office of Management and Budget</a:t>
                      </a:r>
                      <a:endParaRPr kumimoji="0" 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/>
                </a:tc>
              </a:tr>
            </a:tbl>
          </a:graphicData>
        </a:graphic>
      </p:graphicFrame>
      <p:sp>
        <p:nvSpPr>
          <p:cNvPr id="23601" name="Rectangle 4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ICMSSR Members</a:t>
            </a:r>
          </a:p>
        </p:txBody>
      </p:sp>
      <p:sp>
        <p:nvSpPr>
          <p:cNvPr id="8" name="Text Box 50"/>
          <p:cNvSpPr txBox="1">
            <a:spLocks noChangeArrowheads="1"/>
          </p:cNvSpPr>
          <p:nvPr/>
        </p:nvSpPr>
        <p:spPr bwMode="auto">
          <a:xfrm>
            <a:off x="95250" y="5867400"/>
            <a:ext cx="4419600" cy="26468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FontTx/>
              <a:buNone/>
            </a:pPr>
            <a:r>
              <a:rPr lang="en-US" sz="1400" b="0" dirty="0">
                <a:latin typeface="Franklin Gothic Heavy" pitchFamily="34" charset="0"/>
              </a:rPr>
              <a:t>SECRETARIAT:  MR. MICHAEL BABCOCK, OFCM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7AD998-3763-420B-BA34-708D53A547F8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Office of the Federal Coordinator for Meteorological Services and Supporting Research (OFCM)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Background</a:t>
            </a:r>
            <a:endParaRPr lang="en-US" dirty="0" smtClean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Jan 1964: OFCM formed in response to </a:t>
            </a:r>
            <a:br>
              <a:rPr lang="en-US" dirty="0" smtClean="0"/>
            </a:br>
            <a:r>
              <a:rPr lang="en-US" dirty="0" smtClean="0"/>
              <a:t>Public Law 87-843</a:t>
            </a:r>
          </a:p>
          <a:p>
            <a:pPr lvl="1"/>
            <a:r>
              <a:rPr lang="en-US" dirty="0" smtClean="0"/>
              <a:t>Accountable to Congress and OMB</a:t>
            </a:r>
          </a:p>
          <a:p>
            <a:pPr lvl="1"/>
            <a:r>
              <a:rPr lang="en-US" dirty="0" smtClean="0"/>
              <a:t>Coordinate agency budgets and activities</a:t>
            </a:r>
          </a:p>
          <a:p>
            <a:pPr lvl="2"/>
            <a:r>
              <a:rPr lang="en-US" dirty="0" smtClean="0"/>
              <a:t>Report budgets and activities in annual Federal Plan</a:t>
            </a:r>
          </a:p>
          <a:p>
            <a:r>
              <a:rPr lang="en-US" dirty="0" smtClean="0"/>
              <a:t>1980: GAO study revitalizes OFCM</a:t>
            </a:r>
          </a:p>
          <a:p>
            <a:pPr lvl="1"/>
            <a:r>
              <a:rPr lang="en-US" dirty="0" smtClean="0"/>
              <a:t>Independent function with full-time staff</a:t>
            </a:r>
          </a:p>
          <a:p>
            <a:r>
              <a:rPr lang="en-US" dirty="0" smtClean="0"/>
              <a:t>1985: DOC IG reviewed OFCM and made two specific recommendations, directing OFCM to:</a:t>
            </a:r>
          </a:p>
          <a:p>
            <a:pPr lvl="1"/>
            <a:r>
              <a:rPr lang="en-US" dirty="0" smtClean="0"/>
              <a:t>Perform crosscut studies to review agency weather programs and requirements</a:t>
            </a:r>
          </a:p>
          <a:p>
            <a:pPr lvl="1"/>
            <a:r>
              <a:rPr lang="en-US" dirty="0" smtClean="0"/>
              <a:t>Document OFCM studies; make information available to interested parties in the decision-making and budgeting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CD4618D-3BD9-4FEB-ADF2-DB96C31800F4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Office of the Federal Coordinator for Meteorological Services and Supporting Research (OFCM)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Feedback</a:t>
            </a:r>
            <a:endParaRPr lang="en-US" dirty="0" smtClean="0"/>
          </a:p>
        </p:txBody>
      </p:sp>
      <p:sp>
        <p:nvSpPr>
          <p:cNvPr id="92167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228600" y="1600200"/>
            <a:ext cx="4343400" cy="4953000"/>
          </a:xfrm>
        </p:spPr>
        <p:txBody>
          <a:bodyPr/>
          <a:lstStyle/>
          <a:p>
            <a:r>
              <a:rPr lang="en-US" dirty="0" smtClean="0"/>
              <a:t>Secretary of Transportation </a:t>
            </a:r>
            <a:br>
              <a:rPr lang="en-US" dirty="0" smtClean="0"/>
            </a:br>
            <a:r>
              <a:rPr lang="en-US" dirty="0" smtClean="0">
                <a:latin typeface="Franklin Gothic Demi" pitchFamily="34" charset="0"/>
              </a:rPr>
              <a:t>Mary Peters</a:t>
            </a:r>
          </a:p>
          <a:p>
            <a:r>
              <a:rPr lang="en-US" dirty="0" err="1" smtClean="0">
                <a:latin typeface="Franklin Gothic Demi" pitchFamily="34" charset="0"/>
              </a:rPr>
              <a:t>Sen</a:t>
            </a:r>
            <a:r>
              <a:rPr lang="en-US" dirty="0" smtClean="0">
                <a:latin typeface="Franklin Gothic Demi" pitchFamily="34" charset="0"/>
              </a:rPr>
              <a:t> Ted Stevens</a:t>
            </a:r>
            <a:r>
              <a:rPr lang="en-US" dirty="0" smtClean="0"/>
              <a:t>, AK</a:t>
            </a:r>
          </a:p>
          <a:p>
            <a:r>
              <a:rPr lang="en-US" dirty="0" smtClean="0"/>
              <a:t>Western Governors’ Association</a:t>
            </a:r>
            <a:br>
              <a:rPr lang="en-US" dirty="0" smtClean="0"/>
            </a:br>
            <a:r>
              <a:rPr lang="en-US" dirty="0" smtClean="0">
                <a:latin typeface="Franklin Gothic Demi" pitchFamily="34" charset="0"/>
              </a:rPr>
              <a:t>Gov Rounds of South Dakota,</a:t>
            </a:r>
            <a:br>
              <a:rPr lang="en-US" dirty="0" smtClean="0">
                <a:latin typeface="Franklin Gothic Demi" pitchFamily="34" charset="0"/>
              </a:rPr>
            </a:br>
            <a:r>
              <a:rPr lang="en-US" dirty="0" smtClean="0">
                <a:latin typeface="Franklin Gothic Demi" pitchFamily="34" charset="0"/>
              </a:rPr>
              <a:t>Chairman</a:t>
            </a:r>
          </a:p>
          <a:p>
            <a:r>
              <a:rPr lang="en-US" dirty="0" smtClean="0"/>
              <a:t>Director, NCAR</a:t>
            </a:r>
            <a:br>
              <a:rPr lang="en-US" dirty="0" smtClean="0"/>
            </a:br>
            <a:r>
              <a:rPr lang="en-US" dirty="0" smtClean="0">
                <a:latin typeface="Franklin Gothic Demi" pitchFamily="34" charset="0"/>
              </a:rPr>
              <a:t>Tim Killeen</a:t>
            </a:r>
          </a:p>
          <a:p>
            <a:r>
              <a:rPr lang="en-US" dirty="0" smtClean="0"/>
              <a:t>FAA Air Traffic Systems </a:t>
            </a:r>
            <a:br>
              <a:rPr lang="en-US" dirty="0" smtClean="0"/>
            </a:br>
            <a:r>
              <a:rPr lang="en-US" dirty="0" smtClean="0"/>
              <a:t>Requirements Service</a:t>
            </a:r>
            <a:br>
              <a:rPr lang="en-US" dirty="0" smtClean="0"/>
            </a:br>
            <a:r>
              <a:rPr lang="en-US" dirty="0" smtClean="0">
                <a:latin typeface="Franklin Gothic Demi" pitchFamily="34" charset="0"/>
              </a:rPr>
              <a:t>Jim Washington</a:t>
            </a:r>
          </a:p>
        </p:txBody>
      </p:sp>
      <p:sp>
        <p:nvSpPr>
          <p:cNvPr id="18" name="Content Placeholder 1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Oceanographers of the Navy</a:t>
            </a:r>
            <a:br>
              <a:rPr lang="en-US" dirty="0" smtClean="0"/>
            </a:br>
            <a:r>
              <a:rPr lang="en-US" dirty="0" smtClean="0">
                <a:latin typeface="Franklin Gothic Demi" pitchFamily="34" charset="0"/>
              </a:rPr>
              <a:t>RADM Richard West</a:t>
            </a:r>
            <a:br>
              <a:rPr lang="en-US" dirty="0" smtClean="0">
                <a:latin typeface="Franklin Gothic Demi" pitchFamily="34" charset="0"/>
              </a:rPr>
            </a:br>
            <a:r>
              <a:rPr lang="en-US" dirty="0" smtClean="0">
                <a:latin typeface="Franklin Gothic Demi" pitchFamily="34" charset="0"/>
              </a:rPr>
              <a:t>RADM Steve </a:t>
            </a:r>
            <a:r>
              <a:rPr lang="en-US" dirty="0" err="1" smtClean="0">
                <a:latin typeface="Franklin Gothic Demi" pitchFamily="34" charset="0"/>
              </a:rPr>
              <a:t>Tomaszeski</a:t>
            </a:r>
            <a:endParaRPr lang="en-US" dirty="0" smtClean="0">
              <a:latin typeface="Franklin Gothic Demi" pitchFamily="34" charset="0"/>
            </a:endParaRPr>
          </a:p>
          <a:p>
            <a:r>
              <a:rPr lang="en-US" dirty="0" smtClean="0"/>
              <a:t>Air Force Director of Weather </a:t>
            </a:r>
            <a:br>
              <a:rPr lang="en-US" dirty="0" smtClean="0"/>
            </a:br>
            <a:r>
              <a:rPr lang="en-US" dirty="0" smtClean="0">
                <a:latin typeface="Franklin Gothic Demi" pitchFamily="34" charset="0"/>
              </a:rPr>
              <a:t>Brig Gen Lawrence </a:t>
            </a:r>
            <a:r>
              <a:rPr lang="en-US" dirty="0" err="1" smtClean="0">
                <a:latin typeface="Franklin Gothic Demi" pitchFamily="34" charset="0"/>
              </a:rPr>
              <a:t>Stutzriem</a:t>
            </a:r>
            <a:endParaRPr lang="en-US" dirty="0" smtClean="0">
              <a:latin typeface="Franklin Gothic Demi" pitchFamily="34" charset="0"/>
            </a:endParaRPr>
          </a:p>
          <a:p>
            <a:r>
              <a:rPr lang="en-US" dirty="0" smtClean="0"/>
              <a:t>Chinese Translation of WIST</a:t>
            </a:r>
            <a:br>
              <a:rPr lang="en-US" dirty="0" smtClean="0"/>
            </a:br>
            <a:r>
              <a:rPr lang="en-US" dirty="0" smtClean="0"/>
              <a:t>report – </a:t>
            </a:r>
            <a:r>
              <a:rPr lang="en-US" dirty="0" smtClean="0">
                <a:latin typeface="Franklin Gothic Demi" pitchFamily="34" charset="0"/>
              </a:rPr>
              <a:t>Li </a:t>
            </a:r>
            <a:r>
              <a:rPr lang="en-US" dirty="0" err="1" smtClean="0">
                <a:latin typeface="Franklin Gothic Demi" pitchFamily="34" charset="0"/>
              </a:rPr>
              <a:t>Jian</a:t>
            </a:r>
            <a:r>
              <a:rPr lang="en-US" dirty="0" smtClean="0">
                <a:latin typeface="Franklin Gothic Demi" pitchFamily="34" charset="0"/>
              </a:rPr>
              <a:t>, Jiangxi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Prov. Meteorological Bureau</a:t>
            </a:r>
          </a:p>
          <a:p>
            <a:r>
              <a:rPr lang="en-US" dirty="0" smtClean="0">
                <a:latin typeface="Franklin Gothic Demi" pitchFamily="34" charset="0"/>
              </a:rPr>
              <a:t>Dan Rather,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Dan Rather Reports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0700664-B6F1-42A8-BCD4-2FED4EE5BD77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mtClean="0"/>
              <a:t>Office of the Federal Coordinator for Meteorological Services and Supporting Research (OFCM)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Leadership</a:t>
            </a:r>
          </a:p>
        </p:txBody>
      </p:sp>
      <p:sp>
        <p:nvSpPr>
          <p:cNvPr id="75782" name="Line 2"/>
          <p:cNvSpPr>
            <a:spLocks noChangeShapeType="1"/>
          </p:cNvSpPr>
          <p:nvPr/>
        </p:nvSpPr>
        <p:spPr bwMode="auto">
          <a:xfrm>
            <a:off x="4572000" y="2137886"/>
            <a:ext cx="0" cy="2546350"/>
          </a:xfrm>
          <a:prstGeom prst="line">
            <a:avLst/>
          </a:prstGeom>
          <a:ln>
            <a:headEnd/>
            <a:tailE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75783" name="Text Box 3"/>
          <p:cNvSpPr txBox="1">
            <a:spLocks noChangeArrowheads="1"/>
          </p:cNvSpPr>
          <p:nvPr/>
        </p:nvSpPr>
        <p:spPr bwMode="auto">
          <a:xfrm>
            <a:off x="2270125" y="1756886"/>
            <a:ext cx="4587875" cy="33855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600" b="0" dirty="0">
                <a:latin typeface="Franklin Gothic Heavy" pitchFamily="34" charset="0"/>
              </a:rPr>
              <a:t>Federal Coordinator for Meteorology</a:t>
            </a:r>
          </a:p>
        </p:txBody>
      </p:sp>
      <p:sp>
        <p:nvSpPr>
          <p:cNvPr id="75784" name="Line 17"/>
          <p:cNvSpPr>
            <a:spLocks noChangeShapeType="1"/>
          </p:cNvSpPr>
          <p:nvPr/>
        </p:nvSpPr>
        <p:spPr bwMode="auto">
          <a:xfrm>
            <a:off x="4572000" y="3038891"/>
            <a:ext cx="533400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75785" name="Text Box 26"/>
          <p:cNvSpPr txBox="1">
            <a:spLocks noChangeArrowheads="1"/>
          </p:cNvSpPr>
          <p:nvPr/>
        </p:nvSpPr>
        <p:spPr bwMode="auto">
          <a:xfrm>
            <a:off x="304800" y="2657891"/>
            <a:ext cx="3825875" cy="116955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400" b="0" dirty="0">
                <a:latin typeface="Franklin Gothic Medium Cond" pitchFamily="34" charset="0"/>
              </a:rPr>
              <a:t>Deputy Federal Coordinator for Meteorology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400" b="0" dirty="0">
                <a:latin typeface="Franklin Gothic Medium Cond" pitchFamily="34" charset="0"/>
              </a:rPr>
              <a:t>and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400" b="0" dirty="0">
                <a:latin typeface="Franklin Gothic Medium Cond" pitchFamily="34" charset="0"/>
              </a:rPr>
              <a:t>Secretariat, Federal and Interdepartmental Committees for Meteorological Services and Supporting Research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1400" b="0" dirty="0">
                <a:solidFill>
                  <a:schemeClr val="bg1">
                    <a:lumMod val="95000"/>
                    <a:lumOff val="5000"/>
                  </a:schemeClr>
                </a:solidFill>
                <a:latin typeface="Franklin Gothic Demi" pitchFamily="34" charset="0"/>
              </a:rPr>
              <a:t>Michael Babcock</a:t>
            </a:r>
          </a:p>
        </p:txBody>
      </p:sp>
      <p:sp>
        <p:nvSpPr>
          <p:cNvPr id="75786" name="Text Box 26"/>
          <p:cNvSpPr txBox="1">
            <a:spLocks noChangeArrowheads="1"/>
          </p:cNvSpPr>
          <p:nvPr/>
        </p:nvSpPr>
        <p:spPr bwMode="auto">
          <a:xfrm>
            <a:off x="5105400" y="2657891"/>
            <a:ext cx="3810000" cy="75882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400" b="0" dirty="0">
                <a:latin typeface="Franklin Gothic Medium Cond" pitchFamily="34" charset="0"/>
              </a:rPr>
              <a:t>Chief Scientist/Assistant Federal Coordinator for Supporting Research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1400" b="0" dirty="0">
                <a:solidFill>
                  <a:schemeClr val="bg1">
                    <a:lumMod val="95000"/>
                    <a:lumOff val="5000"/>
                  </a:schemeClr>
                </a:solidFill>
                <a:latin typeface="Franklin Gothic Demi" pitchFamily="34" charset="0"/>
              </a:rPr>
              <a:t>Mark </a:t>
            </a:r>
            <a:r>
              <a:rPr lang="en-US" sz="1400" b="0" dirty="0" err="1">
                <a:solidFill>
                  <a:schemeClr val="bg1">
                    <a:lumMod val="95000"/>
                    <a:lumOff val="5000"/>
                  </a:schemeClr>
                </a:solidFill>
                <a:latin typeface="Franklin Gothic Demi" pitchFamily="34" charset="0"/>
              </a:rPr>
              <a:t>Welshinger</a:t>
            </a:r>
            <a:endParaRPr lang="en-US" sz="1400" b="0" dirty="0">
              <a:solidFill>
                <a:schemeClr val="bg1">
                  <a:lumMod val="95000"/>
                  <a:lumOff val="5000"/>
                </a:schemeClr>
              </a:solidFill>
              <a:latin typeface="Franklin Gothic Demi" pitchFamily="34" charset="0"/>
            </a:endParaRPr>
          </a:p>
        </p:txBody>
      </p:sp>
      <p:sp>
        <p:nvSpPr>
          <p:cNvPr id="75787" name="Text Box 26"/>
          <p:cNvSpPr txBox="1">
            <a:spLocks noChangeArrowheads="1"/>
          </p:cNvSpPr>
          <p:nvPr/>
        </p:nvSpPr>
        <p:spPr bwMode="auto">
          <a:xfrm>
            <a:off x="330200" y="4671536"/>
            <a:ext cx="2667000" cy="73866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400" b="0" dirty="0">
                <a:latin typeface="Franklin Gothic Medium Cond" pitchFamily="34" charset="0"/>
              </a:rPr>
              <a:t>Assistant Federal Coordinator for Air Force and Army Affairs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400" b="0" dirty="0">
                <a:solidFill>
                  <a:schemeClr val="bg1">
                    <a:lumMod val="95000"/>
                    <a:lumOff val="5000"/>
                  </a:schemeClr>
                </a:solidFill>
                <a:latin typeface="Franklin Gothic Demi" pitchFamily="34" charset="0"/>
              </a:rPr>
              <a:t>Lt Col Charles Harris, USAF</a:t>
            </a:r>
          </a:p>
        </p:txBody>
      </p:sp>
      <p:sp>
        <p:nvSpPr>
          <p:cNvPr id="75788" name="Text Box 26"/>
          <p:cNvSpPr txBox="1">
            <a:spLocks noChangeArrowheads="1"/>
          </p:cNvSpPr>
          <p:nvPr/>
        </p:nvSpPr>
        <p:spPr bwMode="auto">
          <a:xfrm>
            <a:off x="6172200" y="4671536"/>
            <a:ext cx="2667000" cy="73866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400" b="0" dirty="0">
                <a:latin typeface="Franklin Gothic Medium Cond" pitchFamily="34" charset="0"/>
              </a:rPr>
              <a:t>Assistant Federal Coordinator for DOT(FAA) Affairs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1400" b="0" dirty="0">
                <a:solidFill>
                  <a:schemeClr val="bg1">
                    <a:lumMod val="95000"/>
                    <a:lumOff val="5000"/>
                  </a:schemeClr>
                </a:solidFill>
                <a:latin typeface="Franklin Gothic Demi" pitchFamily="34" charset="0"/>
              </a:rPr>
              <a:t>(vacant)</a:t>
            </a:r>
          </a:p>
        </p:txBody>
      </p:sp>
      <p:sp>
        <p:nvSpPr>
          <p:cNvPr id="75789" name="Text Box 26"/>
          <p:cNvSpPr txBox="1">
            <a:spLocks noChangeArrowheads="1"/>
          </p:cNvSpPr>
          <p:nvPr/>
        </p:nvSpPr>
        <p:spPr bwMode="auto">
          <a:xfrm>
            <a:off x="3251200" y="4671536"/>
            <a:ext cx="2667000" cy="73866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1400" b="0" dirty="0">
                <a:latin typeface="Franklin Gothic Medium Cond" pitchFamily="34" charset="0"/>
              </a:rPr>
              <a:t>Assistant Federal Coordinator for Navy and Marine Corps Affairs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1400" b="0" dirty="0">
                <a:solidFill>
                  <a:schemeClr val="bg1">
                    <a:lumMod val="95000"/>
                    <a:lumOff val="5000"/>
                  </a:schemeClr>
                </a:solidFill>
                <a:latin typeface="Franklin Gothic Demi" pitchFamily="34" charset="0"/>
              </a:rPr>
              <a:t>Mr. Kurt Nelson, USN</a:t>
            </a:r>
          </a:p>
        </p:txBody>
      </p:sp>
      <p:sp>
        <p:nvSpPr>
          <p:cNvPr id="75791" name="Line 17"/>
          <p:cNvSpPr>
            <a:spLocks noChangeShapeType="1"/>
          </p:cNvSpPr>
          <p:nvPr/>
        </p:nvSpPr>
        <p:spPr bwMode="auto">
          <a:xfrm>
            <a:off x="4114800" y="3038891"/>
            <a:ext cx="457200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75792" name="Line 17"/>
          <p:cNvSpPr>
            <a:spLocks noChangeShapeType="1"/>
          </p:cNvSpPr>
          <p:nvPr/>
        </p:nvSpPr>
        <p:spPr bwMode="auto">
          <a:xfrm>
            <a:off x="1676400" y="4290536"/>
            <a:ext cx="5791200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75793" name="Line 17"/>
          <p:cNvSpPr>
            <a:spLocks noChangeShapeType="1"/>
          </p:cNvSpPr>
          <p:nvPr/>
        </p:nvSpPr>
        <p:spPr bwMode="auto">
          <a:xfrm flipV="1">
            <a:off x="1676400" y="4290536"/>
            <a:ext cx="0" cy="38100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75795" name="Text Box 19"/>
          <p:cNvSpPr txBox="1">
            <a:spLocks noChangeArrowheads="1"/>
          </p:cNvSpPr>
          <p:nvPr/>
        </p:nvSpPr>
        <p:spPr bwMode="auto">
          <a:xfrm>
            <a:off x="1447800" y="5486400"/>
            <a:ext cx="6858000" cy="1066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pPr marL="973138" indent="-973138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b="0" dirty="0">
                <a:solidFill>
                  <a:schemeClr val="bg1">
                    <a:lumMod val="95000"/>
                    <a:lumOff val="5000"/>
                  </a:schemeClr>
                </a:solidFill>
                <a:latin typeface="Franklin Gothic Medium Cond" pitchFamily="34" charset="0"/>
              </a:rPr>
              <a:t>Personnel:  </a:t>
            </a:r>
            <a:r>
              <a:rPr lang="en-US" b="0" dirty="0">
                <a:solidFill>
                  <a:schemeClr val="bg1">
                    <a:lumMod val="95000"/>
                    <a:lumOff val="5000"/>
                  </a:schemeClr>
                </a:solidFill>
                <a:latin typeface="+mn-lt"/>
              </a:rPr>
              <a:t>11 Federal employees in career positions, one </a:t>
            </a:r>
            <a:r>
              <a:rPr lang="en-US" b="0" dirty="0" smtClean="0">
                <a:solidFill>
                  <a:schemeClr val="bg1">
                    <a:lumMod val="95000"/>
                    <a:lumOff val="5000"/>
                  </a:schemeClr>
                </a:solidFill>
                <a:latin typeface="+mn-lt"/>
              </a:rPr>
              <a:t>full-time </a:t>
            </a:r>
            <a:r>
              <a:rPr lang="en-US" b="0" dirty="0">
                <a:solidFill>
                  <a:schemeClr val="bg1">
                    <a:lumMod val="95000"/>
                    <a:lumOff val="5000"/>
                  </a:schemeClr>
                </a:solidFill>
                <a:latin typeface="+mn-lt"/>
              </a:rPr>
              <a:t>detail from USAF, and one part-time detail from USN</a:t>
            </a:r>
          </a:p>
        </p:txBody>
      </p:sp>
      <p:sp>
        <p:nvSpPr>
          <p:cNvPr id="75796" name="Line 17"/>
          <p:cNvSpPr>
            <a:spLocks noChangeShapeType="1"/>
          </p:cNvSpPr>
          <p:nvPr/>
        </p:nvSpPr>
        <p:spPr bwMode="auto">
          <a:xfrm flipV="1">
            <a:off x="7467600" y="4290536"/>
            <a:ext cx="0" cy="38100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7AD998-3763-420B-BA34-708D53A547F8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Office of the Federal Coordinator for Meteorological Services and Supporting Research (OFCM)</a:t>
            </a:r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5"/>
  <p:tag name="MMPROD_UIDATA" val="&lt;database version=&quot;7.0&quot;&gt;&lt;object type=&quot;1&quot; unique_id=&quot;10001&quot;&gt;&lt;object type=&quot;8&quot; unique_id=&quot;46641&quot;&gt;&lt;/object&gt;&lt;object type=&quot;2&quot; unique_id=&quot;46642&quot;&gt;&lt;object type=&quot;3&quot; unique_id=&quot;46643&quot;&gt;&lt;property id=&quot;20148&quot; value=&quot;5&quot;/&gt;&lt;property id=&quot;20300&quot; value=&quot;Slide 1 - &amp;quot;Office of the Federal Coordinator for Meteorological Services and Supporting Research (OFCM)&amp;quot;&quot;/&gt;&lt;property id=&quot;20307&quot; value=&quot;396&quot;/&gt;&lt;/object&gt;&lt;object type=&quot;3&quot; unique_id=&quot;46644&quot;&gt;&lt;property id=&quot;20148&quot; value=&quot;5&quot;/&gt;&lt;property id=&quot;20300&quot; value=&quot;Slide 2 - &amp;quot;Overview&amp;quot;&quot;/&gt;&lt;property id=&quot;20307&quot; value=&quot;397&quot;/&gt;&lt;/object&gt;&lt;object type=&quot;3&quot; unique_id=&quot;46645&quot;&gt;&lt;property id=&quot;20148&quot; value=&quot;5&quot;/&gt;&lt;property id=&quot;20300&quot; value=&quot;Slide 3 - &amp;quot;Mission&amp;quot;&quot;/&gt;&lt;property id=&quot;20307&quot; value=&quot;341&quot;/&gt;&lt;/object&gt;&lt;object type=&quot;3&quot; unique_id=&quot;46646&quot;&gt;&lt;property id=&quot;20148&quot; value=&quot;5&quot;/&gt;&lt;property id=&quot;20300&quot; value=&quot;Slide 4 - &amp;quot;Perspective&amp;#x0D;&amp;#x0A;44+ Years of Results&amp;quot;&quot;/&gt;&lt;property id=&quot;20307&quot; value=&quot;420&quot;/&gt;&lt;/object&gt;&lt;object type=&quot;3&quot; unique_id=&quot;46647&quot;&gt;&lt;property id=&quot;20148&quot; value=&quot;5&quot;/&gt;&lt;property id=&quot;20300&quot; value=&quot;Slide 5 - &amp;quot;Perspective – Organization&amp;#x0D;&amp;#x0A;History of Management and Structure &amp;quot;&quot;/&gt;&lt;property id=&quot;20307&quot; value=&quot;421&quot;/&gt;&lt;/object&gt;&lt;object type=&quot;3&quot; unique_id=&quot;46648&quot;&gt;&lt;property id=&quot;20148&quot; value=&quot;5&quot;/&gt;&lt;property id=&quot;20300&quot; value=&quot;Slide 6 - &amp;quot;How We Accomplish Our Mission…&amp;#x0D;&amp;#x0A;Federal Meteorological Coordinating Infrastructure&amp;quot;&quot;/&gt;&lt;property id=&quot;20307&quot; value=&quot;379&quot;/&gt;&lt;/object&gt;&lt;object type=&quot;3&quot; unique_id=&quot;46649&quot;&gt;&lt;property id=&quot;20148&quot; value=&quot;5&quot;/&gt;&lt;property id=&quot;20300&quot; value=&quot;Slide 7 - &amp;quot;Our Partners&amp;quot;&quot;/&gt;&lt;property id=&quot;20307&quot; value=&quot;384&quot;/&gt;&lt;/object&gt;&lt;object type=&quot;3&quot; unique_id=&quot;46650&quot;&gt;&lt;property id=&quot;20148&quot; value=&quot;5&quot;/&gt;&lt;property id=&quot;20300&quot; value=&quot;Slide 8 - &amp;quot;Our Affiliations&amp;quot;&quot;/&gt;&lt;property id=&quot;20307&quot; value=&quot;385&quot;/&gt;&lt;/object&gt;&lt;object type=&quot;3&quot; unique_id=&quot;46652&quot;&gt;&lt;property id=&quot;20148&quot; value=&quot;5&quot;/&gt;&lt;property id=&quot;20300&quot; value=&quot;Slide 9 - &amp;quot;Primary Products and Services&amp;quot;&quot;/&gt;&lt;property id=&quot;20307&quot; value=&quot;417&quot;/&gt;&lt;/object&gt;&lt;object type=&quot;3&quot; unique_id=&quot;46653&quot;&gt;&lt;property id=&quot;20148&quot; value=&quot;5&quot;/&gt;&lt;property id=&quot;20300&quot; value=&quot;Slide 10 - &amp;quot;Primary Products and Services&amp;quot;&quot;/&gt;&lt;property id=&quot;20307&quot; value=&quot;409&quot;/&gt;&lt;/object&gt;&lt;object type=&quot;3&quot; unique_id=&quot;46654&quot;&gt;&lt;property id=&quot;20148&quot; value=&quot;5&quot;/&gt;&lt;property id=&quot;20300&quot; value=&quot;Slide 11 - &amp;quot;High Priority Activities&amp;#x0D;&amp;#x0A;Overview&amp;quot;&quot;/&gt;&lt;property id=&quot;20307&quot; value=&quot;419&quot;/&gt;&lt;/object&gt;&lt;object type=&quot;3&quot; unique_id=&quot;46655&quot;&gt;&lt;property id=&quot;20148&quot; value=&quot;5&quot;/&gt;&lt;property id=&quot;20300&quot; value=&quot;Slide 12 - &amp;quot;High Priority Activities&amp;quot;&quot;/&gt;&lt;property id=&quot;20307&quot; value=&quot;387&quot;/&gt;&lt;/object&gt;&lt;object type=&quot;3&quot; unique_id=&quot;46656&quot;&gt;&lt;property id=&quot;20148&quot; value=&quot;5&quot;/&gt;&lt;property id=&quot;20300&quot; value=&quot;Slide 13 - &amp;quot;High Priority Activities&amp;quot;&quot;/&gt;&lt;property id=&quot;20307&quot; value=&quot;389&quot;/&gt;&lt;/object&gt;&lt;object type=&quot;3&quot; unique_id=&quot;46657&quot;&gt;&lt;property id=&quot;20148&quot; value=&quot;5&quot;/&gt;&lt;property id=&quot;20300&quot; value=&quot;Slide 14 - &amp;quot;High Priority Activities&amp;quot;&quot;/&gt;&lt;property id=&quot;20307&quot; value=&quot;390&quot;/&gt;&lt;/object&gt;&lt;object type=&quot;3&quot; unique_id=&quot;46658&quot;&gt;&lt;property id=&quot;20148&quot; value=&quot;5&quot;/&gt;&lt;property id=&quot;20300&quot; value=&quot;Slide 15 - &amp;quot;High Priority Activities&amp;quot;&quot;/&gt;&lt;property id=&quot;20307&quot; value=&quot;392&quot;/&gt;&lt;/object&gt;&lt;object type=&quot;3&quot; unique_id=&quot;46659&quot;&gt;&lt;property id=&quot;20148&quot; value=&quot;5&quot;/&gt;&lt;property id=&quot;20300&quot; value=&quot;Slide 16 - &amp;quot;High Priority Activities&amp;quot;&quot;/&gt;&lt;property id=&quot;20307&quot; value=&quot;388&quot;/&gt;&lt;/object&gt;&lt;object type=&quot;3&quot; unique_id=&quot;46660&quot;&gt;&lt;property id=&quot;20148&quot; value=&quot;5&quot;/&gt;&lt;property id=&quot;20300&quot; value=&quot;Slide 17 - &amp;quot;High Priority Activities&amp;quot;&quot;/&gt;&lt;property id=&quot;20307&quot; value=&quot;391&quot;/&gt;&lt;/object&gt;&lt;object type=&quot;3&quot; unique_id=&quot;46661&quot;&gt;&lt;property id=&quot;20148&quot; value=&quot;5&quot;/&gt;&lt;property id=&quot;20300&quot; value=&quot;Slide 18 - &amp;quot;High Priority Activities&amp;quot;&quot;/&gt;&lt;property id=&quot;20307&quot; value=&quot;415&quot;/&gt;&lt;/object&gt;&lt;object type=&quot;3&quot; unique_id=&quot;46662&quot;&gt;&lt;property id=&quot;20148&quot; value=&quot;5&quot;/&gt;&lt;property id=&quot;20300&quot; value=&quot;Slide 19 - &amp;quot;High Priority Activities&amp;quot;&quot;/&gt;&lt;property id=&quot;20307&quot; value=&quot;412&quot;/&gt;&lt;/object&gt;&lt;object type=&quot;3&quot; unique_id=&quot;46663&quot;&gt;&lt;property id=&quot;20148&quot; value=&quot;5&quot;/&gt;&lt;property id=&quot;20300&quot; value=&quot;Slide 20 - &amp;quot;Building a future to improve services…&amp;#x0D;&amp;#x0A;Network-enabled, data- &amp;amp; info-centric&amp;quot;&quot;/&gt;&lt;property id=&quot;20307&quot; value=&quot;416&quot;/&gt;&lt;/object&gt;&lt;object type=&quot;3&quot; unique_id=&quot;46664&quot;&gt;&lt;property id=&quot;20148&quot; value=&quot;5&quot;/&gt;&lt;property id=&quot;20300&quot; value=&quot;Slide 21 - &amp;quot;Facilities and Personnel&amp;quot;&quot;/&gt;&lt;property id=&quot;20307&quot; value=&quot;406&quot;/&gt;&lt;/object&gt;&lt;object type=&quot;3&quot; unique_id=&quot;46667&quot;&gt;&lt;property id=&quot;20148&quot; value=&quot;5&quot;/&gt;&lt;property id=&quot;20300&quot; value=&quot;Slide 22 - &amp;quot;Summary&amp;quot;&quot;/&gt;&lt;property id=&quot;20307&quot; value=&quot;395&quot;/&gt;&lt;/object&gt;&lt;object type=&quot;3&quot; unique_id=&quot;46668&quot;&gt;&lt;property id=&quot;20148&quot; value=&quot;5&quot;/&gt;&lt;property id=&quot;20300&quot; value=&quot;Slide 23 - &amp;quot;Questions?&amp;quot;&quot;/&gt;&lt;property id=&quot;20307&quot; value=&quot;404&quot;/&gt;&lt;/object&gt;&lt;object type=&quot;3&quot; unique_id=&quot;46669&quot;&gt;&lt;property id=&quot;20148&quot; value=&quot;5&quot;/&gt;&lt;property id=&quot;20300&quot; value=&quot;Slide 24 - &amp;quot;BACKUP SLIDES&amp;quot;&quot;/&gt;&lt;property id=&quot;20307&quot; value=&quot;401&quot;/&gt;&lt;/object&gt;&lt;object type=&quot;3&quot; unique_id=&quot;46670&quot;&gt;&lt;property id=&quot;20148&quot; value=&quot;5&quot;/&gt;&lt;property id=&quot;20300&quot; value=&quot;Slide 25 - &amp;quot;FCMSSR Members&amp;quot;&quot;/&gt;&lt;property id=&quot;20307&quot; value=&quot;382&quot;/&gt;&lt;/object&gt;&lt;object type=&quot;3&quot; unique_id=&quot;46671&quot;&gt;&lt;property id=&quot;20148&quot; value=&quot;5&quot;/&gt;&lt;property id=&quot;20300&quot; value=&quot;Slide 26 - &amp;quot;ICMSSR Members&amp;quot;&quot;/&gt;&lt;property id=&quot;20307&quot; value=&quot;383&quot;/&gt;&lt;/object&gt;&lt;object type=&quot;3&quot; unique_id=&quot;46672&quot;&gt;&lt;property id=&quot;20148&quot; value=&quot;5&quot;/&gt;&lt;property id=&quot;20300&quot; value=&quot;Slide 27 - &amp;quot;Background&amp;quot;&quot;/&gt;&lt;property id=&quot;20307&quot; value=&quot;398&quot;/&gt;&lt;/object&gt;&lt;object type=&quot;3&quot; unique_id=&quot;46673&quot;&gt;&lt;property id=&quot;20148&quot; value=&quot;5&quot;/&gt;&lt;property id=&quot;20300&quot; value=&quot;Slide 28 - &amp;quot;Feedback&amp;quot;&quot;/&gt;&lt;property id=&quot;20307&quot; value=&quot;414&quot;/&gt;&lt;/object&gt;&lt;object type=&quot;3&quot; unique_id=&quot;46674&quot;&gt;&lt;property id=&quot;20148&quot; value=&quot;5&quot;/&gt;&lt;property id=&quot;20300&quot; value=&quot;Slide 29 - &amp;quot;Leadership&amp;quot;&quot;/&gt;&lt;property id=&quot;20307&quot; value=&quot;403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luxton_EnergyBriefing">
  <a:themeElements>
    <a:clrScheme name="Edited Multis">
      <a:dk1>
        <a:sysClr val="windowText" lastClr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0B5394"/>
      </a:hlink>
      <a:folHlink>
        <a:srgbClr val="85DFD0"/>
      </a:folHlink>
    </a:clrScheme>
    <a:fontScheme name="Trek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buNone/>
          <a:defRPr dirty="0" smtClean="0">
            <a:solidFill>
              <a:schemeClr val="bg1"/>
            </a:solidFill>
          </a:defRPr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2231</Words>
  <Application>Microsoft PowerPoint</Application>
  <PresentationFormat>On-screen Show (4:3)</PresentationFormat>
  <Paragraphs>467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2" baseType="lpstr">
      <vt:lpstr>Arial</vt:lpstr>
      <vt:lpstr>Franklin Gothic Heavy</vt:lpstr>
      <vt:lpstr>Franklin Gothic Medium Cond</vt:lpstr>
      <vt:lpstr>Franklin Gothic Demi</vt:lpstr>
      <vt:lpstr>Franklin Gothic Medium</vt:lpstr>
      <vt:lpstr>Franklin Gothic Book</vt:lpstr>
      <vt:lpstr>굴림</vt:lpstr>
      <vt:lpstr>HGｺﾞｼｯｸE</vt:lpstr>
      <vt:lpstr>돋움</vt:lpstr>
      <vt:lpstr>MS PGothic</vt:lpstr>
      <vt:lpstr>SolexRegularLining</vt:lpstr>
      <vt:lpstr>SolexBlackLiningItalic</vt:lpstr>
      <vt:lpstr>luxton_EnergyBriefing</vt:lpstr>
      <vt:lpstr>Office of the Federal Coordinator for Meteorological Services and Supporting Research (OFCM)</vt:lpstr>
      <vt:lpstr>Overview</vt:lpstr>
      <vt:lpstr>Mission</vt:lpstr>
      <vt:lpstr>Perspective 44+ Years of Results</vt:lpstr>
      <vt:lpstr>Perspective – Organization History of Management and Structure </vt:lpstr>
      <vt:lpstr>How We Accomplish Our Mission… Federal Meteorological Coordinating Infrastructure</vt:lpstr>
      <vt:lpstr>Our Partners</vt:lpstr>
      <vt:lpstr>Our Affiliations</vt:lpstr>
      <vt:lpstr>Primary Products and Services</vt:lpstr>
      <vt:lpstr>Primary Products and Services</vt:lpstr>
      <vt:lpstr>High Priority Activities Overview</vt:lpstr>
      <vt:lpstr>High Priority Activities</vt:lpstr>
      <vt:lpstr>High Priority Activities</vt:lpstr>
      <vt:lpstr>High Priority Activities</vt:lpstr>
      <vt:lpstr>High Priority Activities</vt:lpstr>
      <vt:lpstr>High Priority Activities</vt:lpstr>
      <vt:lpstr>High Priority Activities</vt:lpstr>
      <vt:lpstr>High Priority Activities</vt:lpstr>
      <vt:lpstr>High Priority Activities</vt:lpstr>
      <vt:lpstr>Building a future to improve services… Network-enabled, data- &amp; info-centric</vt:lpstr>
      <vt:lpstr>Facilities and Personnel</vt:lpstr>
      <vt:lpstr>Summary</vt:lpstr>
      <vt:lpstr>Questions?</vt:lpstr>
      <vt:lpstr>BACKUP SLIDES</vt:lpstr>
      <vt:lpstr>FCMSSR Members</vt:lpstr>
      <vt:lpstr>ICMSSR Members</vt:lpstr>
      <vt:lpstr>Background</vt:lpstr>
      <vt:lpstr>Feedback</vt:lpstr>
      <vt:lpstr>Leadership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2008-11-07T21:07:39Z</dcterms:created>
  <dcterms:modified xsi:type="dcterms:W3CDTF">2008-11-07T21:07:44Z</dcterms:modified>
</cp:coreProperties>
</file>