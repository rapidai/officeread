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4"/>
  </p:notesMasterIdLst>
  <p:sldIdLst>
    <p:sldId id="256" r:id="rId2"/>
    <p:sldId id="321" r:id="rId3"/>
    <p:sldId id="379" r:id="rId4"/>
    <p:sldId id="363" r:id="rId5"/>
    <p:sldId id="381" r:id="rId6"/>
    <p:sldId id="370" r:id="rId7"/>
    <p:sldId id="367" r:id="rId8"/>
    <p:sldId id="368" r:id="rId9"/>
    <p:sldId id="369" r:id="rId10"/>
    <p:sldId id="382" r:id="rId11"/>
    <p:sldId id="383" r:id="rId12"/>
    <p:sldId id="378" r:id="rId13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6600"/>
    <a:srgbClr val="C40404"/>
    <a:srgbClr val="FFFF00"/>
    <a:srgbClr val="DDDDDD"/>
    <a:srgbClr val="CC3300"/>
    <a:srgbClr val="993300"/>
    <a:srgbClr val="00007A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57" autoAdjust="0"/>
    <p:restoredTop sz="98966" autoAdjust="0"/>
  </p:normalViewPr>
  <p:slideViewPr>
    <p:cSldViewPr snapToGrid="0">
      <p:cViewPr>
        <p:scale>
          <a:sx n="90" d="100"/>
          <a:sy n="90" d="100"/>
        </p:scale>
        <p:origin x="-2370" y="-648"/>
      </p:cViewPr>
      <p:guideLst>
        <p:guide orient="horz" pos="2176"/>
        <p:guide pos="16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-1332" y="-96"/>
      </p:cViewPr>
      <p:guideLst>
        <p:guide orient="horz" pos="2928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8" tIns="46575" rIns="93148" bIns="46575" numCol="1" anchor="t" anchorCtr="0" compatLnSpc="1">
            <a:prstTxWarp prst="textNoShape">
              <a:avLst/>
            </a:prstTxWarp>
          </a:bodyPr>
          <a:lstStyle>
            <a:lvl1pPr defTabSz="931787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8" tIns="46575" rIns="93148" bIns="46575" numCol="1" anchor="t" anchorCtr="0" compatLnSpc="1">
            <a:prstTxWarp prst="textNoShape">
              <a:avLst/>
            </a:prstTxWarp>
          </a:bodyPr>
          <a:lstStyle>
            <a:lvl1pPr algn="r" defTabSz="931787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6" y="4416426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8" tIns="46575" rIns="93148" bIns="465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8" tIns="46575" rIns="93148" bIns="46575" numCol="1" anchor="b" anchorCtr="0" compatLnSpc="1">
            <a:prstTxWarp prst="textNoShape">
              <a:avLst/>
            </a:prstTxWarp>
          </a:bodyPr>
          <a:lstStyle>
            <a:lvl1pPr defTabSz="931787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8" tIns="46575" rIns="93148" bIns="46575" numCol="1" anchor="b" anchorCtr="0" compatLnSpc="1">
            <a:prstTxWarp prst="textNoShape">
              <a:avLst/>
            </a:prstTxWarp>
          </a:bodyPr>
          <a:lstStyle>
            <a:lvl1pPr algn="r" defTabSz="931787">
              <a:defRPr sz="1200"/>
            </a:lvl1pPr>
          </a:lstStyle>
          <a:p>
            <a:pPr>
              <a:defRPr/>
            </a:pPr>
            <a:fld id="{9BA3DABE-8625-4ACD-BBB4-887BB391A2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ergy.gov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www.navy.mil/swf/index.asp" TargetMode="External"/><Relationship Id="rId4" Type="http://schemas.openxmlformats.org/officeDocument/2006/relationships/hyperlink" Target="http://nnsa.energy.gov/about/documents/NNSA_Act_030109_updated.pdf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 noChangeArrowheads="1"/>
          </p:cNvSpPr>
          <p:nvPr/>
        </p:nvSpPr>
        <p:spPr bwMode="auto">
          <a:xfrm>
            <a:off x="3969591" y="8829989"/>
            <a:ext cx="279430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52" tIns="46577" rIns="93152" bIns="46577" anchor="ctr"/>
          <a:lstStyle/>
          <a:p>
            <a:pPr algn="r"/>
            <a:fld id="{101CE16E-5F34-469D-ADF3-CE43473A995A}" type="slidenum">
              <a:rPr lang="en-US" sz="1000">
                <a:solidFill>
                  <a:srgbClr val="0F2B76"/>
                </a:solidFill>
              </a:rPr>
              <a:pPr algn="r"/>
              <a:t>3</a:t>
            </a:fld>
            <a:endParaRPr lang="en-US" sz="1000" dirty="0">
              <a:solidFill>
                <a:srgbClr val="0F2B76"/>
              </a:solidFill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0319" y="4415791"/>
            <a:ext cx="6307452" cy="4880610"/>
          </a:xfrm>
          <a:noFill/>
          <a:ln/>
        </p:spPr>
        <p:txBody>
          <a:bodyPr lIns="93152" tIns="46577" rIns="93152" bIns="46577"/>
          <a:lstStyle/>
          <a:p>
            <a:pPr marL="230692" indent="-230692" algn="ctr" eaLnBrk="1" hangingPunct="1"/>
            <a:r>
              <a:rPr lang="en-US" u="sng" dirty="0" smtClean="0">
                <a:latin typeface="Arial" pitchFamily="34" charset="0"/>
                <a:ea typeface="ヒラギノ角ゴ Pro W3"/>
                <a:cs typeface="ヒラギノ角ゴ Pro W3"/>
              </a:rPr>
              <a:t>The bigger picture: What is </a:t>
            </a:r>
            <a:r>
              <a:rPr lang="en-US" u="sng" dirty="0" err="1" smtClean="0">
                <a:latin typeface="Arial" pitchFamily="34" charset="0"/>
                <a:ea typeface="ヒラギノ角ゴ Pro W3"/>
                <a:cs typeface="ヒラギノ角ゴ Pro W3"/>
              </a:rPr>
              <a:t>NNSA</a:t>
            </a:r>
            <a:r>
              <a:rPr lang="en-US" u="sng" dirty="0" smtClean="0">
                <a:latin typeface="Arial" pitchFamily="34" charset="0"/>
                <a:ea typeface="ヒラギノ角ゴ Pro W3"/>
                <a:cs typeface="ヒラギノ角ゴ Pro W3"/>
              </a:rPr>
              <a:t> responsible for?</a:t>
            </a:r>
          </a:p>
          <a:p>
            <a:pPr marL="230692" indent="-230692" eaLnBrk="1" hangingPunct="1"/>
            <a:r>
              <a:rPr lang="en-US" sz="1100" dirty="0" err="1" smtClean="0">
                <a:latin typeface="Arial" pitchFamily="34" charset="0"/>
                <a:ea typeface="ヒラギノ角ゴ Pro W3"/>
                <a:cs typeface="ヒラギノ角ゴ Pro W3"/>
              </a:rPr>
              <a:t>NNSA</a:t>
            </a:r>
            <a: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</a:rPr>
              <a:t> was established by Congress in 2000 as a separately organized agency within the U.S. </a:t>
            </a:r>
            <a:r>
              <a:rPr lang="en-US" sz="1100" u="sng" dirty="0" smtClean="0">
                <a:latin typeface="Arial" pitchFamily="34" charset="0"/>
                <a:ea typeface="ヒラギノ角ゴ Pro W3"/>
                <a:cs typeface="ヒラギノ角ゴ Pro W3"/>
                <a:hlinkClick r:id="rId3" tooltip="Department of Energy"/>
              </a:rPr>
              <a:t>Department of Energy</a:t>
            </a:r>
            <a:r>
              <a:rPr lang="en-US" sz="1100" u="sng" dirty="0" smtClean="0">
                <a:latin typeface="Arial" pitchFamily="34" charset="0"/>
                <a:ea typeface="ヒラギノ角ゴ Pro W3"/>
                <a:cs typeface="ヒラギノ角ゴ Pro W3"/>
              </a:rPr>
              <a:t>.</a:t>
            </a:r>
            <a: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</a:rPr>
              <a:t> </a:t>
            </a:r>
            <a:b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</a:rPr>
            </a:br>
            <a:r>
              <a:rPr lang="en-US" sz="1100" u="sng" dirty="0" smtClean="0">
                <a:latin typeface="Arial" pitchFamily="34" charset="0"/>
                <a:ea typeface="ヒラギノ角ゴ Pro W3"/>
                <a:cs typeface="ヒラギノ角ゴ Pro W3"/>
              </a:rPr>
              <a:t/>
            </a:r>
            <a:br>
              <a:rPr lang="en-US" sz="1100" u="sng" dirty="0" smtClean="0">
                <a:latin typeface="Arial" pitchFamily="34" charset="0"/>
                <a:ea typeface="ヒラギノ角ゴ Pro W3"/>
                <a:cs typeface="ヒラギノ角ゴ Pro W3"/>
              </a:rPr>
            </a:br>
            <a:r>
              <a:rPr lang="en-US" sz="1100" dirty="0" err="1" smtClean="0">
                <a:latin typeface="Arial" pitchFamily="34" charset="0"/>
                <a:ea typeface="ヒラギノ角ゴ Pro W3"/>
                <a:cs typeface="ヒラギノ角ゴ Pro W3"/>
              </a:rPr>
              <a:t>NNSA</a:t>
            </a:r>
            <a: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</a:rPr>
              <a:t> is responsible for the management and security of the nation’s nuclear weapons, nuclear nonproliferation, and naval reactor programs.  The </a:t>
            </a:r>
            <a:r>
              <a:rPr lang="en-US" sz="1100" dirty="0" err="1" smtClean="0">
                <a:latin typeface="Arial" pitchFamily="34" charset="0"/>
                <a:ea typeface="ヒラギノ角ゴ Pro W3"/>
                <a:cs typeface="ヒラギノ角ゴ Pro W3"/>
              </a:rPr>
              <a:t>NNSA</a:t>
            </a:r>
            <a: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</a:rPr>
              <a:t> Act (</a:t>
            </a:r>
            <a: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  <a:hlinkClick r:id="rId4" tooltip="Title XXXII"/>
              </a:rPr>
              <a:t>Title XXXII</a:t>
            </a:r>
            <a: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</a:rPr>
              <a:t> of the National Defense Authorization Act for Fiscal Year 2000, Public Law 106-65) specifies the agency’s national security missions: </a:t>
            </a:r>
          </a:p>
          <a:p>
            <a:pPr marL="230692" indent="-230692" eaLnBrk="1" hangingPunct="1">
              <a:buFontTx/>
              <a:buChar char="•"/>
            </a:pPr>
            <a: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</a:rPr>
              <a:t>To enhance United States national security through the military application of nuclear energy; </a:t>
            </a:r>
          </a:p>
          <a:p>
            <a:pPr marL="230692" indent="-230692" eaLnBrk="1" hangingPunct="1">
              <a:buFontTx/>
              <a:buChar char="•"/>
            </a:pPr>
            <a: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</a:rPr>
              <a:t>To maintain and enhance the safety, reliability, and performance of the United States nuclear weapons stockpile, including the ability to design, produce, and test, in order to meet national security requirements; </a:t>
            </a:r>
          </a:p>
          <a:p>
            <a:pPr marL="230692" indent="-230692" eaLnBrk="1" hangingPunct="1">
              <a:buFontTx/>
              <a:buChar char="•"/>
            </a:pPr>
            <a: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</a:rPr>
              <a:t>To provide the </a:t>
            </a:r>
            <a: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  <a:hlinkClick r:id="rId5" tooltip="United States Navy"/>
              </a:rPr>
              <a:t>United States Navy</a:t>
            </a:r>
            <a: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</a:rPr>
              <a:t> with safe, militarily effective nuclear propulsion plants and to ensure the safe and reliable operation of those plants; </a:t>
            </a:r>
          </a:p>
          <a:p>
            <a:pPr marL="230692" indent="-230692" eaLnBrk="1" hangingPunct="1">
              <a:buFontTx/>
              <a:buChar char="•"/>
            </a:pPr>
            <a: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</a:rPr>
              <a:t>To promote international nuclear safety and nonproliferation; </a:t>
            </a:r>
          </a:p>
          <a:p>
            <a:pPr marL="230692" indent="-230692" eaLnBrk="1" hangingPunct="1">
              <a:buFontTx/>
              <a:buChar char="•"/>
            </a:pPr>
            <a: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</a:rPr>
              <a:t>To reduce global danger from weapons of mass destruction; and </a:t>
            </a:r>
          </a:p>
          <a:p>
            <a:pPr marL="230692" indent="-230692" eaLnBrk="1" hangingPunct="1">
              <a:buFontTx/>
              <a:buChar char="•"/>
            </a:pPr>
            <a: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</a:rPr>
              <a:t>To support United States leadership in science and technology.</a:t>
            </a:r>
          </a:p>
          <a:p>
            <a:pPr marL="230692" indent="-230692" eaLnBrk="1" hangingPunct="1"/>
            <a:endParaRPr lang="en-US" sz="1100" dirty="0" smtClean="0">
              <a:latin typeface="Arial" pitchFamily="34" charset="0"/>
              <a:ea typeface="ヒラギノ角ゴ Pro W3"/>
              <a:cs typeface="ヒラギノ角ゴ Pro W3"/>
            </a:endParaRPr>
          </a:p>
          <a:p>
            <a:pPr marL="230692" indent="-230692" eaLnBrk="1" hangingPunct="1"/>
            <a:r>
              <a:rPr lang="en-US" sz="1100" dirty="0" err="1" smtClean="0">
                <a:latin typeface="Arial" pitchFamily="34" charset="0"/>
                <a:ea typeface="ヒラギノ角ゴ Pro W3"/>
                <a:cs typeface="ヒラギノ角ゴ Pro W3"/>
              </a:rPr>
              <a:t>NNSA’s</a:t>
            </a:r>
            <a:r>
              <a:rPr lang="en-US" sz="1100" dirty="0" smtClean="0">
                <a:latin typeface="Arial" pitchFamily="34" charset="0"/>
                <a:ea typeface="ヒラギノ角ゴ Pro W3"/>
                <a:cs typeface="ヒラギノ角ゴ Pro W3"/>
              </a:rPr>
              <a:t> nuclear weapons capabilities support other national security missions such as ensuring international nuclear safety and nonproliferation, and reducing global danger from weapons of mass destruction.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97A007-0208-4979-823C-0FEB86860117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538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695325"/>
            <a:ext cx="4629150" cy="3471863"/>
          </a:xfrm>
          <a:ln/>
        </p:spPr>
      </p:sp>
      <p:sp>
        <p:nvSpPr>
          <p:cNvPr id="538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smtClean="0"/>
              <a:t>The main purpose of this PCF Summit is to finalize our management plan which is the implementation of your directive memo earlier this year. </a:t>
            </a:r>
          </a:p>
          <a:p>
            <a:endParaRPr lang="en-US" sz="1800" dirty="0" smtClean="0"/>
          </a:p>
          <a:p>
            <a:r>
              <a:rPr lang="en-US" sz="1800" dirty="0" smtClean="0"/>
              <a:t>This flow chart emphasizes that PCF and CMF have become an established part of the planning landscape for Defense Programs </a:t>
            </a:r>
          </a:p>
          <a:p>
            <a:endParaRPr lang="en-US" sz="1800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This “Predictive Capability Framework” chart provides a high level view of the major activities that are required to maintain the safety, security and reliability of the stockpile </a:t>
            </a:r>
          </a:p>
          <a:p>
            <a:r>
              <a:rPr lang="en-US" sz="1800" dirty="0" smtClean="0"/>
              <a:t>The Nuclear Explosive Package Assessment  schedule of work is the central element in continually  affirming the </a:t>
            </a:r>
            <a:r>
              <a:rPr lang="en-US" sz="1800" b="1" i="1" dirty="0" smtClean="0"/>
              <a:t>reliability </a:t>
            </a:r>
            <a:r>
              <a:rPr lang="en-US" sz="1800" dirty="0" smtClean="0"/>
              <a:t>of the stockpile 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C8E303-2AE6-4B16-BF5A-02F63ED7E1A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C8E303-2AE6-4B16-BF5A-02F63ED7E1A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The SSMP and its components –PCF,CMF, TBSTP and other elements provide the detailed flow of information, analysis and certification needed to construct and execute the LEP process. 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C8E303-2AE6-4B16-BF5A-02F63ED7E1A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This “Predictive Capability Framework” chart provides a high level view of the major activities that are required to maintain the safety, security and reliability of the stockpile </a:t>
            </a:r>
          </a:p>
          <a:p>
            <a:r>
              <a:rPr lang="en-US" sz="1800" dirty="0" smtClean="0"/>
              <a:t>The Nuclear Explosive Package Assessment  schedule of work is the central element in continually  affirming the </a:t>
            </a:r>
            <a:r>
              <a:rPr lang="en-US" sz="1800" b="1" i="1" dirty="0" smtClean="0"/>
              <a:t>reliability </a:t>
            </a:r>
            <a:r>
              <a:rPr lang="en-US" sz="1800" dirty="0" smtClean="0"/>
              <a:t>of the stockpile 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C8E303-2AE6-4B16-BF5A-02F63ED7E1A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66E285-6C8F-427B-BEFC-A4BE958177C4}" type="slidenum">
              <a:rPr lang="en-US" smtClean="0"/>
              <a:pPr/>
              <a:t>12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rgbClr val="F3F3F3"/>
            </a:gs>
            <a:gs pos="50000">
              <a:srgbClr val="DDDDDD"/>
            </a:gs>
            <a:gs pos="100000">
              <a:srgbClr val="F3F3F3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334963" y="342900"/>
            <a:ext cx="8455025" cy="6170613"/>
          </a:xfrm>
          <a:prstGeom prst="rect">
            <a:avLst/>
          </a:prstGeom>
          <a:solidFill>
            <a:schemeClr val="bg1"/>
          </a:solidFill>
          <a:ln w="101600" cmpd="thinThick" algn="ctr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dirty="0"/>
          </a:p>
        </p:txBody>
      </p:sp>
      <p:grpSp>
        <p:nvGrpSpPr>
          <p:cNvPr id="5" name="Group 6"/>
          <p:cNvGrpSpPr>
            <a:grpSpLocks/>
          </p:cNvGrpSpPr>
          <p:nvPr userDrawn="1"/>
        </p:nvGrpSpPr>
        <p:grpSpPr bwMode="auto">
          <a:xfrm>
            <a:off x="2447925" y="1327150"/>
            <a:ext cx="4397375" cy="1436688"/>
            <a:chOff x="1632" y="1080"/>
            <a:chExt cx="2770" cy="905"/>
          </a:xfrm>
        </p:grpSpPr>
        <p:pic>
          <p:nvPicPr>
            <p:cNvPr id="6" name="Picture 3" descr="DPNNSA_art_RGB.png"/>
            <p:cNvPicPr>
              <a:picLocks noChangeAspect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664" y="1120"/>
              <a:ext cx="1738" cy="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DOElogo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32" y="1080"/>
              <a:ext cx="900" cy="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Text Box 9"/>
          <p:cNvSpPr txBox="1">
            <a:spLocks noChangeArrowheads="1"/>
          </p:cNvSpPr>
          <p:nvPr userDrawn="1"/>
        </p:nvSpPr>
        <p:spPr bwMode="auto">
          <a:xfrm>
            <a:off x="931863" y="596900"/>
            <a:ext cx="72628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300" b="1" dirty="0">
                <a:solidFill>
                  <a:srgbClr val="000066"/>
                </a:solidFill>
              </a:rPr>
              <a:t>N A T I O N A L   N U C L E A R   S E C U R I T Y   A D M I N I S T R A T I O N</a:t>
            </a:r>
            <a:br>
              <a:rPr lang="en-US" sz="1300" b="1" dirty="0">
                <a:solidFill>
                  <a:srgbClr val="000066"/>
                </a:solidFill>
              </a:rPr>
            </a:br>
            <a:r>
              <a:rPr lang="en-US" sz="1300" b="1" dirty="0">
                <a:solidFill>
                  <a:srgbClr val="000066"/>
                </a:solidFill>
              </a:rPr>
              <a:t> O F </a:t>
            </a:r>
            <a:r>
              <a:rPr lang="en-US" sz="1300" b="1" dirty="0" err="1">
                <a:solidFill>
                  <a:srgbClr val="000066"/>
                </a:solidFill>
              </a:rPr>
              <a:t>F</a:t>
            </a:r>
            <a:r>
              <a:rPr lang="en-US" sz="1300" b="1" dirty="0">
                <a:solidFill>
                  <a:srgbClr val="000066"/>
                </a:solidFill>
              </a:rPr>
              <a:t> I C E   O F   D E F E N S E   P R O G R A M S</a:t>
            </a:r>
          </a:p>
        </p:txBody>
      </p:sp>
      <p:sp>
        <p:nvSpPr>
          <p:cNvPr id="9" name="Line 10"/>
          <p:cNvSpPr>
            <a:spLocks noChangeShapeType="1"/>
          </p:cNvSpPr>
          <p:nvPr userDrawn="1"/>
        </p:nvSpPr>
        <p:spPr bwMode="auto">
          <a:xfrm>
            <a:off x="1624013" y="1098550"/>
            <a:ext cx="5895975" cy="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33450" y="3778250"/>
            <a:ext cx="7277100" cy="430213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47975" y="5006975"/>
            <a:ext cx="3448050" cy="366713"/>
          </a:xfrm>
        </p:spPr>
        <p:txBody>
          <a:bodyPr wrap="none">
            <a:spAutoFit/>
          </a:bodyPr>
          <a:lstStyle>
            <a:lvl1pPr marL="0" indent="0" algn="ctr">
              <a:buFont typeface="Wingdings" pitchFamily="2" charset="2"/>
              <a:buNone/>
              <a:defRPr sz="1800" i="1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Arial" pitchFamily="34" charset="0"/>
              <a:buChar char="•"/>
              <a:defRPr sz="2000"/>
            </a:lvl1pPr>
            <a:lvl2pPr marL="685800" indent="-228600">
              <a:buFont typeface="Arial" pitchFamily="34" charset="0"/>
              <a:buChar char="•"/>
              <a:defRPr sz="1800"/>
            </a:lvl2pPr>
            <a:lvl3pPr marL="1143000" indent="-228600">
              <a:buFont typeface="Arial" pitchFamily="34" charset="0"/>
              <a:buChar char="•"/>
              <a:defRPr sz="1600"/>
            </a:lvl3pPr>
            <a:lvl4pPr marL="1600200" indent="-228600">
              <a:buFont typeface="Arial" pitchFamily="34" charset="0"/>
              <a:buChar char="•"/>
              <a:defRPr sz="1400"/>
            </a:lvl4pPr>
            <a:lvl5pPr marL="2057400" indent="-228600">
              <a:buFont typeface="Arial" pitchFamily="34" charset="0"/>
              <a:buChar char="•"/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08100"/>
            <a:ext cx="4076700" cy="5226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308100"/>
            <a:ext cx="4076700" cy="5226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92088"/>
            <a:ext cx="2076450" cy="63420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2088"/>
            <a:ext cx="6076950" cy="63420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4025" y="192088"/>
            <a:ext cx="5695950" cy="9128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308100"/>
            <a:ext cx="8305800" cy="522605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 userDrawn="1"/>
        </p:nvSpPr>
        <p:spPr bwMode="auto">
          <a:xfrm>
            <a:off x="195263" y="1082675"/>
            <a:ext cx="8767762" cy="7143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0066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76" name="Rectangle 4"/>
          <p:cNvSpPr>
            <a:spLocks noChangeArrowheads="1"/>
          </p:cNvSpPr>
          <p:nvPr userDrawn="1"/>
        </p:nvSpPr>
        <p:spPr bwMode="auto">
          <a:xfrm>
            <a:off x="161925" y="142875"/>
            <a:ext cx="8829675" cy="6591300"/>
          </a:xfrm>
          <a:prstGeom prst="rect">
            <a:avLst/>
          </a:prstGeom>
          <a:noFill/>
          <a:ln w="57150" cmpd="thinThick" algn="ctr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dirty="0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24025" y="192088"/>
            <a:ext cx="56959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08100"/>
            <a:ext cx="8305800" cy="522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3" descr="DPNNSA_art_RGB.png"/>
          <p:cNvPicPr>
            <a:picLocks noChangeAspect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593013" y="311150"/>
            <a:ext cx="1268412" cy="63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9" descr="DOElogo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71475" y="257175"/>
            <a:ext cx="876300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3"/>
          <p:cNvSpPr>
            <a:spLocks/>
          </p:cNvSpPr>
          <p:nvPr/>
        </p:nvSpPr>
        <p:spPr bwMode="auto">
          <a:xfrm flipH="1">
            <a:off x="8132763" y="6505575"/>
            <a:ext cx="766762" cy="21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r" eaLnBrk="0" hangingPunct="0">
              <a:defRPr/>
            </a:pPr>
            <a:fld id="{9C3E944C-D364-44FB-B35F-6A4CA06967BC}" type="slidenum">
              <a:rPr lang="en-US" sz="1000">
                <a:solidFill>
                  <a:srgbClr val="00007A"/>
                </a:solidFill>
                <a:ea typeface="ＭＳ Ｐゴシック" charset="-128"/>
              </a:rPr>
              <a:pPr algn="r" eaLnBrk="0" hangingPunct="0">
                <a:defRPr/>
              </a:pPr>
              <a:t>‹#›</a:t>
            </a:fld>
            <a:endParaRPr lang="en-US" sz="1000" dirty="0">
              <a:solidFill>
                <a:srgbClr val="00007A"/>
              </a:solidFill>
              <a:ea typeface="ＭＳ Ｐゴシック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</p:sldLayoutIdLst>
  <p:hf hdr="0" ftr="0" dt="0"/>
  <p:txStyles>
    <p:titleStyle>
      <a:lvl1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 b="1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 b="1">
          <a:solidFill>
            <a:srgbClr val="000066"/>
          </a:solidFill>
          <a:latin typeface="Arial" charset="0"/>
        </a:defRPr>
      </a:lvl2pPr>
      <a:lvl3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 b="1">
          <a:solidFill>
            <a:srgbClr val="000066"/>
          </a:solidFill>
          <a:latin typeface="Arial" charset="0"/>
        </a:defRPr>
      </a:lvl3pPr>
      <a:lvl4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 b="1">
          <a:solidFill>
            <a:srgbClr val="000066"/>
          </a:solidFill>
          <a:latin typeface="Arial" charset="0"/>
        </a:defRPr>
      </a:lvl4pPr>
      <a:lvl5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 b="1">
          <a:solidFill>
            <a:srgbClr val="000066"/>
          </a:solidFill>
          <a:latin typeface="Arial" charset="0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sz="2600" b="1">
          <a:solidFill>
            <a:srgbClr val="000066"/>
          </a:solidFill>
          <a:latin typeface="Arial" charset="0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sz="2600" b="1">
          <a:solidFill>
            <a:srgbClr val="000066"/>
          </a:solidFill>
          <a:latin typeface="Arial" charset="0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sz="2600" b="1">
          <a:solidFill>
            <a:srgbClr val="000066"/>
          </a:solidFill>
          <a:latin typeface="Arial" charset="0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sz="2600" b="1">
          <a:solidFill>
            <a:srgbClr val="000066"/>
          </a:solidFill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15938" indent="-168275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000">
          <a:solidFill>
            <a:schemeClr val="tx1"/>
          </a:solidFill>
          <a:latin typeface="+mn-lt"/>
        </a:defRPr>
      </a:lvl2pPr>
      <a:lvl3pPr marL="855663" indent="-1651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>
          <a:solidFill>
            <a:schemeClr val="tx1"/>
          </a:solidFill>
          <a:latin typeface="+mn-lt"/>
        </a:defRPr>
      </a:lvl3pPr>
      <a:lvl4pPr marL="1254125" indent="-2222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1600">
          <a:solidFill>
            <a:schemeClr val="tx1"/>
          </a:solidFill>
          <a:latin typeface="+mn-lt"/>
        </a:defRPr>
      </a:lvl4pPr>
      <a:lvl5pPr marL="1604963" indent="-174625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5pPr>
      <a:lvl6pPr marL="2062163" indent="-174625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6pPr>
      <a:lvl7pPr marL="2519363" indent="-174625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7pPr>
      <a:lvl8pPr marL="2976563" indent="-174625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8pPr>
      <a:lvl9pPr marL="3433763" indent="-174625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3322" y="2687644"/>
            <a:ext cx="7636392" cy="954107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65000"/>
              </a:spcBef>
            </a:pPr>
            <a:r>
              <a:rPr lang="en-US" sz="2800" dirty="0" smtClean="0"/>
              <a:t>Fusion Ignition and Stockpile Stewardship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903767" y="3646963"/>
            <a:ext cx="7315200" cy="2683812"/>
          </a:xfrm>
          <a:noFill/>
        </p:spPr>
        <p:txBody>
          <a:bodyPr wrap="square"/>
          <a:lstStyle/>
          <a:p>
            <a:pPr eaLnBrk="1" hangingPunct="1">
              <a:lnSpc>
                <a:spcPct val="90000"/>
              </a:lnSpc>
            </a:pPr>
            <a:r>
              <a:rPr lang="en-US" sz="1600" b="1" i="0" dirty="0" smtClean="0"/>
              <a:t>Presentation to: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 i="0" dirty="0" smtClean="0"/>
              <a:t>Fusion Power Associates Annual Meeting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 i="0" dirty="0" smtClean="0"/>
              <a:t>“Fusion Energy: Expectations”</a:t>
            </a:r>
            <a:r>
              <a:rPr lang="en-US" sz="1000" b="1" i="0" dirty="0" smtClean="0"/>
              <a:t> </a:t>
            </a:r>
          </a:p>
          <a:p>
            <a:pPr eaLnBrk="1" hangingPunct="1">
              <a:lnSpc>
                <a:spcPct val="90000"/>
              </a:lnSpc>
            </a:pPr>
            <a:endParaRPr lang="en-US" sz="600" b="1" i="0" dirty="0" smtClean="0"/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Dr. Donald Cook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 Deputy Administrator for Defense Programs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National Nuclear Security Administration</a:t>
            </a:r>
          </a:p>
          <a:p>
            <a:pPr eaLnBrk="1" hangingPunct="1">
              <a:lnSpc>
                <a:spcPct val="90000"/>
              </a:lnSpc>
            </a:pPr>
            <a:endParaRPr lang="en-US" sz="600" i="0" dirty="0" smtClean="0"/>
          </a:p>
          <a:p>
            <a:pPr eaLnBrk="1" hangingPunct="1">
              <a:lnSpc>
                <a:spcPct val="90000"/>
              </a:lnSpc>
            </a:pPr>
            <a:r>
              <a:rPr lang="en-US" sz="1600" b="1" i="0" dirty="0" smtClean="0"/>
              <a:t>15 December  2011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4675" y="1520760"/>
            <a:ext cx="6815470" cy="4890673"/>
          </a:xfrm>
        </p:spPr>
        <p:txBody>
          <a:bodyPr/>
          <a:lstStyle/>
          <a:p>
            <a:r>
              <a:rPr lang="en-US" sz="1800" dirty="0" smtClean="0"/>
              <a:t>National strategic policy for nuclear weapons</a:t>
            </a:r>
          </a:p>
          <a:p>
            <a:endParaRPr lang="en-US" sz="1800" dirty="0" smtClean="0"/>
          </a:p>
          <a:p>
            <a:r>
              <a:rPr lang="en-US" sz="1800" dirty="0" smtClean="0"/>
              <a:t>Requirements resulting from 2010 Nuclear Posture Review</a:t>
            </a:r>
          </a:p>
          <a:p>
            <a:endParaRPr lang="en-US" sz="1800" dirty="0" smtClean="0"/>
          </a:p>
          <a:p>
            <a:r>
              <a:rPr lang="en-US" sz="1800" dirty="0" smtClean="0"/>
              <a:t>Logical structure connecting policy to programs and campaigns</a:t>
            </a:r>
          </a:p>
          <a:p>
            <a:endParaRPr lang="en-US" sz="1800" dirty="0" smtClean="0"/>
          </a:p>
          <a:p>
            <a:r>
              <a:rPr lang="en-US" sz="1800" dirty="0" smtClean="0"/>
              <a:t>Weapon Life Extension Program (LEP) planning requirements and structure</a:t>
            </a:r>
          </a:p>
          <a:p>
            <a:endParaRPr lang="en-US" sz="1800" dirty="0" smtClean="0"/>
          </a:p>
          <a:p>
            <a:r>
              <a:rPr lang="en-US" sz="1800" dirty="0" smtClean="0"/>
              <a:t>Enabling Tools</a:t>
            </a:r>
          </a:p>
          <a:p>
            <a:pPr lvl="1"/>
            <a:r>
              <a:rPr lang="en-US" sz="1600" dirty="0" smtClean="0"/>
              <a:t>Predictive Capability Framework (PCF)</a:t>
            </a:r>
          </a:p>
          <a:p>
            <a:pPr lvl="1"/>
            <a:r>
              <a:rPr lang="en-US" sz="1600" dirty="0" smtClean="0"/>
              <a:t>Component Maturation Framework (CMF)</a:t>
            </a:r>
          </a:p>
          <a:p>
            <a:pPr lvl="1"/>
            <a:r>
              <a:rPr lang="en-US" sz="1600" dirty="0" smtClean="0"/>
              <a:t>Role and application of Stewardship tools</a:t>
            </a:r>
          </a:p>
          <a:p>
            <a:pPr lvl="1"/>
            <a:r>
              <a:rPr lang="en-US" sz="1600" dirty="0" smtClean="0"/>
              <a:t>Role and application of Fusion Ignition and Burn in Stockpile Stewardship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National Strategic Policy for Nuclear Weapons has been clearly formulated</a:t>
            </a: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449604" y="3932379"/>
            <a:ext cx="5653494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r">
              <a:spcBef>
                <a:spcPct val="20000"/>
              </a:spcBef>
              <a:spcAft>
                <a:spcPts val="400"/>
              </a:spcAft>
              <a:buClr>
                <a:srgbClr val="213262"/>
              </a:buClr>
              <a:buFont typeface="Wingdings" pitchFamily="2" charset="2"/>
              <a:buNone/>
            </a:pPr>
            <a:r>
              <a:rPr lang="en-US" sz="1600" i="1" dirty="0">
                <a:ea typeface="ＭＳ Ｐゴシック"/>
                <a:cs typeface="Times New Roman" pitchFamily="18" charset="0"/>
              </a:rPr>
              <a:t>“In order to sustain a safe, secure, and effective U.S. nuclear stockpile as long as nuclear weapons exist, the United States must possess a modern physical infrastructure – comprised of the national security laboratories and a complex of supporting facilities – and a highly capable workforce with the specialized skills needed to sustain the nuclear deterrent and support the President’s nuclear security agenda.”  </a:t>
            </a:r>
          </a:p>
          <a:p>
            <a:pPr algn="r">
              <a:buClr>
                <a:srgbClr val="213262"/>
              </a:buClr>
              <a:buFont typeface="Wingdings" pitchFamily="2" charset="2"/>
              <a:buNone/>
            </a:pPr>
            <a:r>
              <a:rPr lang="en-US" sz="1400" dirty="0">
                <a:ea typeface="ＭＳ Ｐゴシック"/>
                <a:cs typeface="Times New Roman" pitchFamily="18" charset="0"/>
              </a:rPr>
              <a:t>Department of Defense, </a:t>
            </a:r>
            <a:br>
              <a:rPr lang="en-US" sz="1400" dirty="0">
                <a:ea typeface="ＭＳ Ｐゴシック"/>
                <a:cs typeface="Times New Roman" pitchFamily="18" charset="0"/>
              </a:rPr>
            </a:br>
            <a:r>
              <a:rPr lang="en-US" sz="1400" dirty="0">
                <a:ea typeface="ＭＳ Ｐゴシック"/>
                <a:cs typeface="Times New Roman" pitchFamily="18" charset="0"/>
              </a:rPr>
              <a:t>“Nuclear Posture Review”, April 2010</a:t>
            </a:r>
            <a:r>
              <a:rPr lang="en-US" sz="1600" dirty="0">
                <a:ea typeface="ＭＳ Ｐゴシック"/>
                <a:cs typeface="Times New Roman" pitchFamily="18" charset="0"/>
              </a:rPr>
              <a:t>. </a:t>
            </a:r>
          </a:p>
          <a:p>
            <a:pPr algn="r">
              <a:spcBef>
                <a:spcPct val="20000"/>
              </a:spcBef>
              <a:spcAft>
                <a:spcPts val="600"/>
              </a:spcAft>
              <a:buClr>
                <a:srgbClr val="213262"/>
              </a:buClr>
              <a:buFontTx/>
              <a:buChar char="•"/>
            </a:pPr>
            <a:endParaRPr lang="en-US" sz="1600" dirty="0">
              <a:ea typeface="ＭＳ Ｐゴシック"/>
              <a:cs typeface="Times New Roman" pitchFamily="18" charset="0"/>
            </a:endParaRPr>
          </a:p>
        </p:txBody>
      </p:sp>
      <p:sp>
        <p:nvSpPr>
          <p:cNvPr id="17413" name="Rectangle 3"/>
          <p:cNvSpPr>
            <a:spLocks noChangeArrowheads="1"/>
          </p:cNvSpPr>
          <p:nvPr/>
        </p:nvSpPr>
        <p:spPr bwMode="auto">
          <a:xfrm>
            <a:off x="3317358" y="1357210"/>
            <a:ext cx="5486917" cy="2417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spcBef>
                <a:spcPct val="20000"/>
              </a:spcBef>
              <a:spcAft>
                <a:spcPts val="400"/>
              </a:spcAft>
              <a:buClr>
                <a:srgbClr val="213262"/>
              </a:buClr>
              <a:buFont typeface="Wingdings" pitchFamily="2" charset="2"/>
              <a:buNone/>
            </a:pPr>
            <a:r>
              <a:rPr lang="en-US" sz="1600" i="1" dirty="0">
                <a:ea typeface="ＭＳ Ｐゴシック"/>
                <a:cs typeface="Times New Roman" pitchFamily="18" charset="0"/>
              </a:rPr>
              <a:t>“ The United States will take concrete steps towards a world without nuclear weapons... Make no mistake: As long as these weapons exist, the United States will maintain a safe, secure and effective arsenal to deter any adversary, and guarantee that defense to our allies...”  </a:t>
            </a:r>
          </a:p>
          <a:p>
            <a:pPr>
              <a:buClr>
                <a:srgbClr val="213262"/>
              </a:buClr>
              <a:buFont typeface="Wingdings" pitchFamily="2" charset="2"/>
              <a:buNone/>
            </a:pPr>
            <a:r>
              <a:rPr lang="en-US" sz="1400" dirty="0">
                <a:ea typeface="ＭＳ Ｐゴシック"/>
                <a:cs typeface="Times New Roman" pitchFamily="18" charset="0"/>
              </a:rPr>
              <a:t>President Obama, April 5, 2009 </a:t>
            </a:r>
            <a:br>
              <a:rPr lang="en-US" sz="1400" dirty="0">
                <a:ea typeface="ＭＳ Ｐゴシック"/>
                <a:cs typeface="Times New Roman" pitchFamily="18" charset="0"/>
              </a:rPr>
            </a:br>
            <a:r>
              <a:rPr lang="en-US" sz="1400" dirty="0" smtClean="0">
                <a:ea typeface="ＭＳ Ｐゴシック"/>
                <a:cs typeface="Times New Roman" pitchFamily="18" charset="0"/>
              </a:rPr>
              <a:t>Prague</a:t>
            </a:r>
            <a:r>
              <a:rPr lang="en-US" sz="1400" dirty="0">
                <a:ea typeface="ＭＳ Ｐゴシック"/>
                <a:cs typeface="Times New Roman" pitchFamily="18" charset="0"/>
              </a:rPr>
              <a:t>, Czech Republic</a:t>
            </a:r>
          </a:p>
          <a:p>
            <a:pPr algn="r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213262"/>
              </a:buClr>
              <a:buFontTx/>
              <a:buChar char="•"/>
            </a:pPr>
            <a:endParaRPr lang="en-US" sz="1600" dirty="0">
              <a:ea typeface="ＭＳ Ｐゴシック"/>
              <a:cs typeface="Times New Roman" pitchFamily="18" charset="0"/>
            </a:endParaRPr>
          </a:p>
        </p:txBody>
      </p:sp>
      <p:pic>
        <p:nvPicPr>
          <p:cNvPr id="25605" name="Picture 5" descr="Pic.jpg"/>
          <p:cNvPicPr>
            <a:picLocks noChangeAspect="1"/>
          </p:cNvPicPr>
          <p:nvPr/>
        </p:nvPicPr>
        <p:blipFill>
          <a:blip r:embed="rId3" cstate="print"/>
          <a:srcRect l="2489" r="4620" b="23685"/>
          <a:stretch>
            <a:fillRect/>
          </a:stretch>
        </p:blipFill>
        <p:spPr bwMode="auto">
          <a:xfrm>
            <a:off x="361174" y="1325465"/>
            <a:ext cx="2694438" cy="166228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dist="45791" dir="3378596" algn="ctr" rotWithShape="0">
              <a:srgbClr val="808080"/>
            </a:outerShdw>
          </a:effectLst>
        </p:spPr>
      </p:pic>
      <p:pic>
        <p:nvPicPr>
          <p:cNvPr id="25606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49657" y="3711158"/>
            <a:ext cx="2020200" cy="259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3378596" algn="ctr" rotWithShape="0">
              <a:srgbClr val="808080"/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5907" y="192088"/>
            <a:ext cx="6144068" cy="912812"/>
          </a:xfrm>
        </p:spPr>
        <p:txBody>
          <a:bodyPr/>
          <a:lstStyle/>
          <a:p>
            <a:r>
              <a:rPr lang="en-US" sz="2400" kern="1200" dirty="0" smtClean="0">
                <a:solidFill>
                  <a:srgbClr val="002060"/>
                </a:solidFill>
              </a:rPr>
              <a:t>National Strategic Policy for Nuclear   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kern="1200" dirty="0" smtClean="0">
                <a:solidFill>
                  <a:srgbClr val="002060"/>
                </a:solidFill>
              </a:rPr>
              <a:t>Weapons has been clearly formulated</a:t>
            </a:r>
            <a:endParaRPr lang="en-US" sz="2400" dirty="0"/>
          </a:p>
        </p:txBody>
      </p:sp>
      <p:pic>
        <p:nvPicPr>
          <p:cNvPr id="3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6863" y="1832441"/>
            <a:ext cx="1641475" cy="2109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286000" y="1786287"/>
            <a:ext cx="6400800" cy="481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1" hangingPunct="1">
              <a:spcAft>
                <a:spcPts val="1000"/>
              </a:spcAft>
              <a:buClr>
                <a:srgbClr val="213262"/>
              </a:buClr>
              <a:buFont typeface="Wingdings" pitchFamily="2" charset="2"/>
              <a:buNone/>
            </a:pPr>
            <a:r>
              <a:rPr lang="en-US" sz="1600" dirty="0" smtClean="0">
                <a:latin typeface="+mn-lt"/>
                <a:ea typeface="ＭＳ Ｐゴシック" charset="-128"/>
                <a:cs typeface="Times New Roman" charset="0"/>
              </a:rPr>
              <a:t>The NPR stated the following as priorities, among others:</a:t>
            </a:r>
          </a:p>
          <a:p>
            <a:pPr eaLnBrk="1" hangingPunct="1">
              <a:spcAft>
                <a:spcPts val="1000"/>
              </a:spcAft>
              <a:buClr>
                <a:srgbClr val="213262"/>
              </a:buClr>
              <a:buFont typeface="Wingdings" pitchFamily="2" charset="2"/>
              <a:buNone/>
            </a:pPr>
            <a:r>
              <a:rPr lang="en-US" sz="1600" i="1" dirty="0" smtClean="0">
                <a:latin typeface="+mn-lt"/>
                <a:ea typeface="ＭＳ Ｐゴシック" charset="-128"/>
                <a:cs typeface="Times New Roman" charset="0"/>
              </a:rPr>
              <a:t>“…providing annual stockpile assessments through weapons surveillance.”</a:t>
            </a:r>
          </a:p>
          <a:p>
            <a:pPr eaLnBrk="1" hangingPunct="1">
              <a:spcAft>
                <a:spcPts val="1000"/>
              </a:spcAft>
              <a:buClr>
                <a:srgbClr val="213262"/>
              </a:buClr>
              <a:buFont typeface="Wingdings" pitchFamily="2" charset="2"/>
              <a:buNone/>
            </a:pPr>
            <a:r>
              <a:rPr lang="en-US" sz="1600" i="1" dirty="0" smtClean="0">
                <a:latin typeface="+mn-lt"/>
                <a:ea typeface="ＭＳ Ｐゴシック" charset="-128"/>
                <a:cs typeface="Times New Roman" charset="0"/>
              </a:rPr>
              <a:t>“…funding fully the ongoing LEP for the W76 submarine-based warhead and the LEP study and follow-on activities for the B61 bomb…”</a:t>
            </a:r>
          </a:p>
          <a:p>
            <a:pPr eaLnBrk="1" hangingPunct="1">
              <a:spcAft>
                <a:spcPts val="1000"/>
              </a:spcAft>
              <a:buClr>
                <a:srgbClr val="213262"/>
              </a:buClr>
              <a:buFont typeface="Wingdings" pitchFamily="2" charset="2"/>
              <a:buNone/>
            </a:pPr>
            <a:r>
              <a:rPr lang="en-US" sz="1600" i="1" dirty="0" smtClean="0">
                <a:latin typeface="+mn-lt"/>
                <a:ea typeface="ＭＳ Ｐゴシック" charset="-128"/>
                <a:cs typeface="Times New Roman" charset="0"/>
              </a:rPr>
              <a:t>“…initiating a study of LEP options for the W78 ICBM warhead, including the possibility of using the resulting warhead also on SLBMs to reduce the number of warhead types…”</a:t>
            </a:r>
          </a:p>
          <a:p>
            <a:pPr eaLnBrk="1" hangingPunct="1">
              <a:spcAft>
                <a:spcPts val="1000"/>
              </a:spcAft>
              <a:buClr>
                <a:srgbClr val="213262"/>
              </a:buClr>
              <a:buFont typeface="Wingdings" pitchFamily="2" charset="2"/>
              <a:buNone/>
            </a:pPr>
            <a:r>
              <a:rPr lang="en-US" sz="1600" i="1" dirty="0" smtClean="0">
                <a:latin typeface="+mn-lt"/>
                <a:ea typeface="ＭＳ Ｐゴシック" charset="-128"/>
                <a:cs typeface="Times New Roman" charset="0"/>
              </a:rPr>
              <a:t>“…the science, technology and engineering base, vital for stockpile stewardship as well as providing insights for non-proliferation, must be strengthened…”</a:t>
            </a:r>
          </a:p>
          <a:p>
            <a:pPr algn="r" eaLnBrk="1" hangingPunct="1">
              <a:lnSpc>
                <a:spcPct val="90000"/>
              </a:lnSpc>
              <a:buClr>
                <a:srgbClr val="213262"/>
              </a:buClr>
              <a:buFont typeface="Wingdings" pitchFamily="2" charset="2"/>
              <a:buNone/>
            </a:pPr>
            <a:endParaRPr lang="en-US" sz="1600" b="1" dirty="0" smtClean="0">
              <a:solidFill>
                <a:schemeClr val="accent6">
                  <a:lumMod val="50000"/>
                </a:schemeClr>
              </a:solidFill>
              <a:latin typeface="+mn-lt"/>
              <a:ea typeface="ＭＳ Ｐゴシック" charset="-128"/>
              <a:cs typeface="Times New Roman" charset="0"/>
            </a:endParaRPr>
          </a:p>
          <a:p>
            <a:pPr algn="r" eaLnBrk="1" hangingPunct="1">
              <a:lnSpc>
                <a:spcPct val="90000"/>
              </a:lnSpc>
              <a:buClr>
                <a:srgbClr val="213262"/>
              </a:buClr>
              <a:buFont typeface="Wingdings" pitchFamily="2" charset="2"/>
              <a:buNone/>
            </a:pP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+mn-lt"/>
                <a:ea typeface="ＭＳ Ｐゴシック" charset="-128"/>
                <a:cs typeface="Times New Roman" charset="0"/>
              </a:rPr>
              <a:t>Department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+mn-lt"/>
                <a:ea typeface="ＭＳ Ｐゴシック" charset="-128"/>
                <a:cs typeface="Times New Roman" charset="0"/>
              </a:rPr>
              <a:t>of Defense, “Nuclear Posture Review”, April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+mn-lt"/>
                <a:ea typeface="ＭＳ Ｐゴシック" charset="-128"/>
                <a:cs typeface="Times New Roman" charset="0"/>
              </a:rPr>
              <a:t>2010</a:t>
            </a:r>
            <a:r>
              <a:rPr lang="en-US" sz="1600" dirty="0" smtClean="0">
                <a:latin typeface="+mn-lt"/>
                <a:ea typeface="ＭＳ Ｐゴシック" charset="-128"/>
                <a:cs typeface="Times New Roman" charset="0"/>
              </a:rPr>
              <a:t> </a:t>
            </a:r>
            <a:endParaRPr lang="en-US" sz="1600" i="1" dirty="0">
              <a:latin typeface="+mn-lt"/>
              <a:ea typeface="ＭＳ Ｐゴシック" charset="-128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7794" y="2044142"/>
            <a:ext cx="4432300" cy="3814430"/>
          </a:xfrm>
        </p:spPr>
        <p:txBody>
          <a:bodyPr/>
          <a:lstStyle/>
          <a:p>
            <a:r>
              <a:rPr lang="en-US" sz="1800" b="0" dirty="0" smtClean="0"/>
              <a:t>PCF and CMF define a systematic array of deliverables in response to stockpile / deterrence requirements</a:t>
            </a:r>
          </a:p>
          <a:p>
            <a:endParaRPr lang="en-US" sz="1800" b="0" dirty="0" smtClean="0"/>
          </a:p>
          <a:p>
            <a:r>
              <a:rPr lang="en-US" sz="1800" b="0" dirty="0" smtClean="0"/>
              <a:t>PCF and CMF provide a smooth link between key requirements and Program / Campaign activity</a:t>
            </a:r>
          </a:p>
          <a:p>
            <a:endParaRPr lang="en-US" sz="1800" b="0" dirty="0" smtClean="0"/>
          </a:p>
          <a:p>
            <a:r>
              <a:rPr lang="en-US" sz="1800" b="0" dirty="0" smtClean="0"/>
              <a:t>Strong interaction between PCF, CMF and stockpile modernization requirements provide a strong foundation for the SSMP   </a:t>
            </a:r>
          </a:p>
        </p:txBody>
      </p:sp>
      <p:sp>
        <p:nvSpPr>
          <p:cNvPr id="31" name="TextBox 89"/>
          <p:cNvSpPr txBox="1"/>
          <p:nvPr/>
        </p:nvSpPr>
        <p:spPr>
          <a:xfrm>
            <a:off x="5715659" y="1369080"/>
            <a:ext cx="2027782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rgbClr val="0000FF"/>
                </a:solidFill>
              </a:rPr>
              <a:t>National Policy</a:t>
            </a:r>
          </a:p>
          <a:p>
            <a:r>
              <a:rPr lang="en-US" sz="1400" b="1" dirty="0" smtClean="0">
                <a:solidFill>
                  <a:srgbClr val="0000FF"/>
                </a:solidFill>
              </a:rPr>
              <a:t>And Strategic Planning </a:t>
            </a:r>
            <a:endParaRPr lang="en-US" sz="1400" b="1" dirty="0">
              <a:solidFill>
                <a:srgbClr val="0000FF"/>
              </a:solidFill>
            </a:endParaRPr>
          </a:p>
        </p:txBody>
      </p:sp>
      <p:sp>
        <p:nvSpPr>
          <p:cNvPr id="32" name="TextBox 90"/>
          <p:cNvSpPr txBox="1"/>
          <p:nvPr/>
        </p:nvSpPr>
        <p:spPr>
          <a:xfrm>
            <a:off x="5575300" y="2425700"/>
            <a:ext cx="2247900" cy="116955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rgbClr val="0000FF"/>
                </a:solidFill>
              </a:rPr>
              <a:t>Fundamental Source </a:t>
            </a:r>
          </a:p>
          <a:p>
            <a:r>
              <a:rPr lang="en-US" sz="1400" b="1" dirty="0" smtClean="0">
                <a:solidFill>
                  <a:srgbClr val="0000FF"/>
                </a:solidFill>
              </a:rPr>
              <a:t>Documents </a:t>
            </a:r>
            <a:r>
              <a:rPr lang="en-US" sz="1400" dirty="0" smtClean="0"/>
              <a:t>– set weapons requirements e.g. LEP Plans ; Primary Certification Plan  </a:t>
            </a:r>
          </a:p>
        </p:txBody>
      </p:sp>
      <p:sp>
        <p:nvSpPr>
          <p:cNvPr id="34" name="TextBox 94"/>
          <p:cNvSpPr txBox="1"/>
          <p:nvPr/>
        </p:nvSpPr>
        <p:spPr>
          <a:xfrm>
            <a:off x="5571610" y="5549900"/>
            <a:ext cx="2340490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rgbClr val="0000FF"/>
                </a:solidFill>
              </a:rPr>
              <a:t>Programs and </a:t>
            </a:r>
          </a:p>
          <a:p>
            <a:r>
              <a:rPr lang="en-US" sz="1400" b="1" dirty="0" smtClean="0">
                <a:solidFill>
                  <a:srgbClr val="0000FF"/>
                </a:solidFill>
              </a:rPr>
              <a:t>Campaigns</a:t>
            </a:r>
          </a:p>
          <a:p>
            <a:r>
              <a:rPr lang="en-US" sz="1400" dirty="0" smtClean="0"/>
              <a:t>Implementation</a:t>
            </a:r>
            <a:endParaRPr lang="en-US" sz="1400" b="1" dirty="0" smtClean="0">
              <a:solidFill>
                <a:srgbClr val="0000FF"/>
              </a:solidFill>
            </a:endParaRPr>
          </a:p>
        </p:txBody>
      </p:sp>
      <p:sp>
        <p:nvSpPr>
          <p:cNvPr id="35" name="Down Arrow 34"/>
          <p:cNvSpPr/>
          <p:nvPr/>
        </p:nvSpPr>
        <p:spPr>
          <a:xfrm>
            <a:off x="6503630" y="2082800"/>
            <a:ext cx="339523" cy="343701"/>
          </a:xfrm>
          <a:prstGeom prst="downArrow">
            <a:avLst/>
          </a:prstGeom>
          <a:solidFill>
            <a:schemeClr val="tx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rgbClr val="0000FF"/>
              </a:solidFill>
            </a:endParaRPr>
          </a:p>
        </p:txBody>
      </p:sp>
      <p:grpSp>
        <p:nvGrpSpPr>
          <p:cNvPr id="2" name="Group 39"/>
          <p:cNvGrpSpPr/>
          <p:nvPr/>
        </p:nvGrpSpPr>
        <p:grpSpPr>
          <a:xfrm>
            <a:off x="5433240" y="3962400"/>
            <a:ext cx="2519326" cy="1219200"/>
            <a:chOff x="5561941" y="3759200"/>
            <a:chExt cx="2337459" cy="1219200"/>
          </a:xfrm>
        </p:grpSpPr>
        <p:sp>
          <p:nvSpPr>
            <p:cNvPr id="33" name="TextBox 93"/>
            <p:cNvSpPr txBox="1"/>
            <p:nvPr/>
          </p:nvSpPr>
          <p:spPr>
            <a:xfrm>
              <a:off x="5625795" y="3860801"/>
              <a:ext cx="630998" cy="317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 smtClean="0">
                  <a:solidFill>
                    <a:srgbClr val="0000FF"/>
                  </a:solidFill>
                </a:rPr>
                <a:t>PCF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561941" y="3759200"/>
              <a:ext cx="2337459" cy="12192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7" name="TextBox 93"/>
            <p:cNvSpPr txBox="1"/>
            <p:nvPr/>
          </p:nvSpPr>
          <p:spPr>
            <a:xfrm>
              <a:off x="7036459" y="3873500"/>
              <a:ext cx="812141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 smtClean="0">
                  <a:solidFill>
                    <a:srgbClr val="0000FF"/>
                  </a:solidFill>
                </a:rPr>
                <a:t>LEP </a:t>
              </a:r>
            </a:p>
            <a:p>
              <a:r>
                <a:rPr lang="en-US" sz="1400" b="1" dirty="0" smtClean="0">
                  <a:solidFill>
                    <a:srgbClr val="0000FF"/>
                  </a:solidFill>
                </a:rPr>
                <a:t>6X </a:t>
              </a:r>
              <a:r>
                <a:rPr lang="en-US" sz="1200" b="1" dirty="0" smtClean="0">
                  <a:solidFill>
                    <a:srgbClr val="0000FF"/>
                  </a:solidFill>
                </a:rPr>
                <a:t>Process</a:t>
              </a:r>
              <a:endParaRPr lang="en-US" sz="1200" dirty="0" smtClean="0"/>
            </a:p>
            <a:p>
              <a:endParaRPr lang="en-US" sz="1400" dirty="0" smtClean="0"/>
            </a:p>
          </p:txBody>
        </p:sp>
        <p:sp>
          <p:nvSpPr>
            <p:cNvPr id="38" name="TextBox 93"/>
            <p:cNvSpPr txBox="1"/>
            <p:nvPr/>
          </p:nvSpPr>
          <p:spPr>
            <a:xfrm>
              <a:off x="6354002" y="3860801"/>
              <a:ext cx="630998" cy="317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 smtClean="0">
                  <a:solidFill>
                    <a:srgbClr val="0000FF"/>
                  </a:solidFill>
                </a:rPr>
                <a:t>CMF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664200" y="4229100"/>
              <a:ext cx="129875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n-lt"/>
                </a:rPr>
                <a:t>Definition / </a:t>
              </a:r>
            </a:p>
            <a:p>
              <a:r>
                <a:rPr lang="en-US" sz="1400" dirty="0" smtClean="0">
                  <a:latin typeface="+mn-lt"/>
                </a:rPr>
                <a:t>schedule</a:t>
              </a:r>
            </a:p>
            <a:p>
              <a:r>
                <a:rPr lang="en-US" sz="1400" dirty="0" smtClean="0">
                  <a:latin typeface="+mn-lt"/>
                </a:rPr>
                <a:t>of major tasks</a:t>
              </a:r>
              <a:endParaRPr lang="en-US" sz="1400" dirty="0">
                <a:latin typeface="+mn-lt"/>
              </a:endParaRPr>
            </a:p>
          </p:txBody>
        </p:sp>
      </p:grpSp>
      <p:sp>
        <p:nvSpPr>
          <p:cNvPr id="41" name="Down Arrow 40"/>
          <p:cNvSpPr/>
          <p:nvPr/>
        </p:nvSpPr>
        <p:spPr>
          <a:xfrm>
            <a:off x="6541730" y="3606800"/>
            <a:ext cx="339523" cy="343701"/>
          </a:xfrm>
          <a:prstGeom prst="downArrow">
            <a:avLst/>
          </a:prstGeom>
          <a:solidFill>
            <a:schemeClr val="tx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rgbClr val="0000FF"/>
              </a:solidFill>
            </a:endParaRPr>
          </a:p>
        </p:txBody>
      </p:sp>
      <p:sp>
        <p:nvSpPr>
          <p:cNvPr id="42" name="Down Arrow 41"/>
          <p:cNvSpPr/>
          <p:nvPr/>
        </p:nvSpPr>
        <p:spPr>
          <a:xfrm>
            <a:off x="6579830" y="5207000"/>
            <a:ext cx="339523" cy="343701"/>
          </a:xfrm>
          <a:prstGeom prst="downArrow">
            <a:avLst/>
          </a:prstGeom>
          <a:solidFill>
            <a:schemeClr val="tx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rgbClr val="0000FF"/>
              </a:solidFill>
            </a:endParaRP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1095166" y="213354"/>
            <a:ext cx="6570921" cy="912812"/>
          </a:xfrm>
        </p:spPr>
        <p:txBody>
          <a:bodyPr/>
          <a:lstStyle/>
          <a:p>
            <a:r>
              <a:rPr lang="en-US" sz="2000" dirty="0" smtClean="0"/>
              <a:t>The Predictive Capability Framework (PCF) and Component Maturation Framework (CMF) have become general tools in Defense Programs Planning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LEP Planning Framework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896112" y="2017910"/>
            <a:ext cx="1457325" cy="3342701"/>
          </a:xfrm>
          <a:prstGeom prst="rect">
            <a:avLst/>
          </a:prstGeom>
          <a:solidFill>
            <a:srgbClr val="91A6B7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 anchorCtr="0"/>
          <a:lstStyle/>
          <a:p>
            <a:endParaRPr lang="en-US" sz="1400" dirty="0" smtClean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00125" y="3638826"/>
            <a:ext cx="1238250" cy="8477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Programmatic and Technical Source Requirements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353437" y="2017910"/>
            <a:ext cx="1608963" cy="3342701"/>
          </a:xfrm>
          <a:prstGeom prst="rect">
            <a:avLst/>
          </a:prstGeom>
          <a:solidFill>
            <a:srgbClr val="EECFCE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 anchorCtr="0"/>
          <a:lstStyle/>
          <a:p>
            <a:endParaRPr 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547258" y="3715026"/>
            <a:ext cx="1238250" cy="695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Life Extension Options 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962400" y="2017909"/>
            <a:ext cx="2836126" cy="3342702"/>
          </a:xfrm>
          <a:prstGeom prst="rect">
            <a:avLst/>
          </a:prstGeom>
          <a:solidFill>
            <a:srgbClr val="91A6B7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 anchorCtr="0"/>
          <a:lstStyle/>
          <a:p>
            <a:endParaRPr 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021666" y="2834627"/>
            <a:ext cx="2706236" cy="24497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4078816" y="3420066"/>
            <a:ext cx="2137314" cy="6433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r>
              <a:rPr lang="en-US" sz="1100" b="1" dirty="0" smtClean="0">
                <a:solidFill>
                  <a:schemeClr val="tx1"/>
                </a:solidFill>
              </a:rPr>
              <a:t>Engineering, Readiness, Stockpile Services (Development/Production)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078816" y="2912647"/>
            <a:ext cx="2137314" cy="4503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r>
              <a:rPr lang="en-US" sz="1100" b="1" dirty="0" smtClean="0">
                <a:solidFill>
                  <a:schemeClr val="tx1"/>
                </a:solidFill>
              </a:rPr>
              <a:t>Science, ASC, ICF, Advanced Certification, Engineering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078816" y="4127666"/>
            <a:ext cx="2137314" cy="4257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r>
              <a:rPr lang="en-US" sz="1100" b="1" dirty="0" smtClean="0">
                <a:solidFill>
                  <a:schemeClr val="tx1"/>
                </a:solidFill>
              </a:rPr>
              <a:t>Production Readiness/ RTBF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237396" y="3420068"/>
            <a:ext cx="457200" cy="6433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CMF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237396" y="2912645"/>
            <a:ext cx="457200" cy="4503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PCF</a:t>
            </a:r>
            <a:endParaRPr lang="en-US" sz="1100" b="1" dirty="0">
              <a:solidFill>
                <a:schemeClr val="tx1"/>
              </a:solidFill>
            </a:endParaRPr>
          </a:p>
        </p:txBody>
      </p:sp>
      <p:cxnSp>
        <p:nvCxnSpPr>
          <p:cNvPr id="38" name="Straight Arrow Connector 37"/>
          <p:cNvCxnSpPr>
            <a:stCxn id="27" idx="3"/>
            <a:endCxn id="29" idx="1"/>
          </p:cNvCxnSpPr>
          <p:nvPr/>
        </p:nvCxnSpPr>
        <p:spPr>
          <a:xfrm>
            <a:off x="2238375" y="4062689"/>
            <a:ext cx="308883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9" idx="3"/>
            <a:endCxn id="32" idx="1"/>
          </p:cNvCxnSpPr>
          <p:nvPr/>
        </p:nvCxnSpPr>
        <p:spPr>
          <a:xfrm flipV="1">
            <a:off x="3785508" y="4059519"/>
            <a:ext cx="236158" cy="31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798527" y="2017909"/>
            <a:ext cx="1507272" cy="3342702"/>
          </a:xfrm>
          <a:prstGeom prst="rect">
            <a:avLst/>
          </a:prstGeom>
          <a:solidFill>
            <a:srgbClr val="EECFCE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 anchorCtr="0"/>
          <a:lstStyle/>
          <a:p>
            <a:pPr algn="ctr"/>
            <a:endParaRPr 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960483" y="3813835"/>
            <a:ext cx="1238250" cy="4995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Stockpile Modernization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>
            <a:stCxn id="32" idx="3"/>
            <a:endCxn id="41" idx="1"/>
          </p:cNvCxnSpPr>
          <p:nvPr/>
        </p:nvCxnSpPr>
        <p:spPr>
          <a:xfrm>
            <a:off x="6727902" y="4059519"/>
            <a:ext cx="232581" cy="408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stCxn id="41" idx="0"/>
            <a:endCxn id="29" idx="0"/>
          </p:cNvCxnSpPr>
          <p:nvPr/>
        </p:nvCxnSpPr>
        <p:spPr>
          <a:xfrm rot="16200000" flipV="1">
            <a:off x="5323592" y="1557818"/>
            <a:ext cx="98809" cy="4413225"/>
          </a:xfrm>
          <a:prstGeom prst="bentConnector3">
            <a:avLst>
              <a:gd name="adj1" fmla="val 1075322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96112" y="2017909"/>
            <a:ext cx="1457325" cy="652463"/>
          </a:xfrm>
          <a:prstGeom prst="rect">
            <a:avLst/>
          </a:prstGeom>
          <a:solidFill>
            <a:srgbClr val="395B7C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 anchorCtr="0"/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Requirements and Drivers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53437" y="2017909"/>
            <a:ext cx="1608963" cy="652463"/>
          </a:xfrm>
          <a:prstGeom prst="rect">
            <a:avLst/>
          </a:prstGeom>
          <a:solidFill>
            <a:srgbClr val="953735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 anchorCtr="0"/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Prioritizing and Planning Investment Decision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62399" y="2017909"/>
            <a:ext cx="2836127" cy="652463"/>
          </a:xfrm>
          <a:prstGeom prst="rect">
            <a:avLst/>
          </a:prstGeom>
          <a:solidFill>
            <a:srgbClr val="395B7C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 anchorCtr="0"/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Technology Development, Certification, and Component Maturation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98527" y="2017909"/>
            <a:ext cx="1507272" cy="652463"/>
          </a:xfrm>
          <a:prstGeom prst="rect">
            <a:avLst/>
          </a:prstGeom>
          <a:solidFill>
            <a:srgbClr val="953735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 anchorCtr="0"/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Technology Down-Select and Stockpile Insertion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78816" y="4617522"/>
            <a:ext cx="2137314" cy="5862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r>
              <a:rPr lang="en-US" sz="1100" b="1" dirty="0" smtClean="0">
                <a:solidFill>
                  <a:schemeClr val="tx1"/>
                </a:solidFill>
              </a:rPr>
              <a:t>Stockpile Services and Systems (Advanced Architecture)</a:t>
            </a:r>
            <a:endParaRPr lang="en-US" sz="11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18437" y="192088"/>
            <a:ext cx="6101538" cy="912812"/>
          </a:xfrm>
        </p:spPr>
        <p:txBody>
          <a:bodyPr/>
          <a:lstStyle/>
          <a:p>
            <a:r>
              <a:rPr lang="en-US" sz="2000" dirty="0" smtClean="0">
                <a:cs typeface="Arial" pitchFamily="34" charset="0"/>
              </a:rPr>
              <a:t>The Predictive Capability Framework (PCF) 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Provides a Roadmap for Science Advances</a:t>
            </a:r>
            <a:endParaRPr 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pic>
        <p:nvPicPr>
          <p:cNvPr id="552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7561" y="1166037"/>
            <a:ext cx="7051408" cy="531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Straight Connector 4"/>
          <p:cNvCxnSpPr/>
          <p:nvPr/>
        </p:nvCxnSpPr>
        <p:spPr>
          <a:xfrm flipH="1">
            <a:off x="3317358" y="1935126"/>
            <a:ext cx="10636" cy="438061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07805" y="192088"/>
            <a:ext cx="6112170" cy="912812"/>
          </a:xfrm>
        </p:spPr>
        <p:txBody>
          <a:bodyPr/>
          <a:lstStyle/>
          <a:p>
            <a:r>
              <a:rPr lang="en-US" sz="2000" dirty="0" smtClean="0"/>
              <a:t>The Component Maturation Framework (CMF) provides a roadmap for stockpile technology development and insertion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3212" y="1219200"/>
            <a:ext cx="7312588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Straight Connector 4"/>
          <p:cNvCxnSpPr/>
          <p:nvPr/>
        </p:nvCxnSpPr>
        <p:spPr>
          <a:xfrm>
            <a:off x="2158409" y="2062716"/>
            <a:ext cx="10633" cy="4221126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Up Arrow 32"/>
          <p:cNvSpPr/>
          <p:nvPr/>
        </p:nvSpPr>
        <p:spPr bwMode="auto">
          <a:xfrm>
            <a:off x="5791199" y="2495550"/>
            <a:ext cx="333829" cy="2990850"/>
          </a:xfrm>
          <a:prstGeom prst="upArrow">
            <a:avLst/>
          </a:prstGeom>
          <a:solidFill>
            <a:srgbClr val="C4D79D"/>
          </a:solidFill>
          <a:ln w="19050" cap="flat" cmpd="sng" algn="ctr">
            <a:solidFill>
              <a:srgbClr val="4F6228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Flow of Science and Technology Deliverables to the LEP process 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665574" y="1524000"/>
            <a:ext cx="1676401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Phase 6.2/2A Feasibility and Cost Study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85048" y="1524000"/>
            <a:ext cx="1466851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Phase 6.4 Production Engineering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411823" y="1524000"/>
            <a:ext cx="1606551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Phase 6.3 Development Engineering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615399" y="1524000"/>
            <a:ext cx="6985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Phase 6.5 FPU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390099" y="1524000"/>
            <a:ext cx="1449101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Phase 6.6 Full Rate Production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6" name="Diamond 25"/>
          <p:cNvSpPr/>
          <p:nvPr/>
        </p:nvSpPr>
        <p:spPr>
          <a:xfrm>
            <a:off x="3282919" y="1695065"/>
            <a:ext cx="182880" cy="527538"/>
          </a:xfrm>
          <a:prstGeom prst="diamond">
            <a:avLst/>
          </a:prstGeom>
          <a:solidFill>
            <a:srgbClr val="FFFF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Diamond 26"/>
          <p:cNvSpPr/>
          <p:nvPr/>
        </p:nvSpPr>
        <p:spPr>
          <a:xfrm>
            <a:off x="6494749" y="1687286"/>
            <a:ext cx="182880" cy="527538"/>
          </a:xfrm>
          <a:prstGeom prst="diamond">
            <a:avLst/>
          </a:prstGeom>
          <a:solidFill>
            <a:srgbClr val="FFFF00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Diamond 27"/>
          <p:cNvSpPr/>
          <p:nvPr/>
        </p:nvSpPr>
        <p:spPr>
          <a:xfrm>
            <a:off x="4961224" y="1687286"/>
            <a:ext cx="182880" cy="527538"/>
          </a:xfrm>
          <a:prstGeom prst="diamond">
            <a:avLst/>
          </a:prstGeom>
          <a:solidFill>
            <a:srgbClr val="FFFF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598774" y="1524000"/>
            <a:ext cx="9906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Phase 6.1Study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30" name="Diamond 29"/>
          <p:cNvSpPr/>
          <p:nvPr/>
        </p:nvSpPr>
        <p:spPr>
          <a:xfrm>
            <a:off x="1539844" y="1717766"/>
            <a:ext cx="182880" cy="527538"/>
          </a:xfrm>
          <a:prstGeom prst="diamond">
            <a:avLst/>
          </a:prstGeom>
          <a:solidFill>
            <a:srgbClr val="FFFF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Diamond 30"/>
          <p:cNvSpPr/>
          <p:nvPr/>
        </p:nvSpPr>
        <p:spPr>
          <a:xfrm>
            <a:off x="7264369" y="1698716"/>
            <a:ext cx="182880" cy="527538"/>
          </a:xfrm>
          <a:prstGeom prst="diamond">
            <a:avLst/>
          </a:prstGeom>
          <a:solidFill>
            <a:srgbClr val="FFFF00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/>
          <p:cNvSpPr/>
          <p:nvPr/>
        </p:nvSpPr>
        <p:spPr bwMode="auto">
          <a:xfrm>
            <a:off x="377368" y="2886666"/>
            <a:ext cx="3661231" cy="1032191"/>
          </a:xfrm>
          <a:prstGeom prst="rect">
            <a:avLst/>
          </a:prstGeom>
          <a:solidFill>
            <a:srgbClr val="EECFCE"/>
          </a:solidFill>
          <a:ln w="19050" cap="flat" cmpd="sng" algn="ctr">
            <a:solidFill>
              <a:srgbClr val="953735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9063" indent="-119063">
              <a:spcAft>
                <a:spcPts val="300"/>
              </a:spcAft>
            </a:pPr>
            <a:r>
              <a:rPr lang="en-US" sz="1400" b="1" u="sng" dirty="0" smtClean="0"/>
              <a:t> SSMP-PCF, CMF</a:t>
            </a:r>
            <a:endParaRPr lang="en-US" sz="1400" b="1" dirty="0" smtClean="0">
              <a:latin typeface="+mn-lt"/>
            </a:endParaRPr>
          </a:p>
          <a:p>
            <a:pPr marL="119063" indent="-119063">
              <a:spcAft>
                <a:spcPts val="300"/>
              </a:spcAft>
              <a:buFont typeface="Arial" pitchFamily="34" charset="0"/>
              <a:buChar char="•"/>
            </a:pPr>
            <a:r>
              <a:rPr lang="en-US" sz="1400" b="1" dirty="0" smtClean="0">
                <a:latin typeface="+mn-lt"/>
              </a:rPr>
              <a:t>Refurbishment options analyzed (PCF)</a:t>
            </a:r>
          </a:p>
          <a:p>
            <a:pPr marL="119063" indent="-119063">
              <a:spcAft>
                <a:spcPts val="300"/>
              </a:spcAft>
              <a:buFont typeface="Arial" pitchFamily="34" charset="0"/>
              <a:buChar char="•"/>
            </a:pPr>
            <a:r>
              <a:rPr lang="en-US" sz="1400" b="1" dirty="0" smtClean="0">
                <a:latin typeface="+mn-lt"/>
              </a:rPr>
              <a:t>Determination of  component lifetimes (CMF)</a:t>
            </a:r>
          </a:p>
        </p:txBody>
      </p:sp>
      <p:sp>
        <p:nvSpPr>
          <p:cNvPr id="96" name="Rectangle 95"/>
          <p:cNvSpPr/>
          <p:nvPr/>
        </p:nvSpPr>
        <p:spPr bwMode="auto">
          <a:xfrm>
            <a:off x="410089" y="4233432"/>
            <a:ext cx="5895977" cy="838200"/>
          </a:xfrm>
          <a:prstGeom prst="rect">
            <a:avLst/>
          </a:prstGeom>
          <a:solidFill>
            <a:srgbClr val="91A6B7"/>
          </a:solidFill>
          <a:ln w="19050" cap="flat" cmpd="sng" algn="ctr">
            <a:solidFill>
              <a:srgbClr val="395B7C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28600" indent="-228600">
              <a:spcAft>
                <a:spcPts val="300"/>
              </a:spcAft>
            </a:pPr>
            <a:r>
              <a:rPr lang="en-US" sz="1400" b="1" u="sng" dirty="0" smtClean="0">
                <a:latin typeface="Arial" pitchFamily="34" charset="0"/>
                <a:cs typeface="Arial" pitchFamily="34" charset="0"/>
              </a:rPr>
              <a:t>CMF</a:t>
            </a:r>
          </a:p>
          <a:p>
            <a:pPr marL="111125" indent="-111125">
              <a:spcAft>
                <a:spcPts val="300"/>
              </a:spcAft>
              <a:buFont typeface="Arial" pitchFamily="34" charset="0"/>
              <a:buChar char="•"/>
            </a:pPr>
            <a:r>
              <a:rPr lang="en-US" sz="1400" b="1" dirty="0" smtClean="0">
                <a:latin typeface="Arial" pitchFamily="34" charset="0"/>
                <a:cs typeface="Arial" pitchFamily="34" charset="0"/>
              </a:rPr>
              <a:t>Component technology and manufacturing development</a:t>
            </a:r>
          </a:p>
          <a:p>
            <a:pPr marL="111125" indent="-111125">
              <a:spcAft>
                <a:spcPts val="300"/>
              </a:spcAft>
              <a:buFont typeface="Arial" pitchFamily="34" charset="0"/>
              <a:buChar char="•"/>
            </a:pPr>
            <a:r>
              <a:rPr lang="en-US" sz="1400" b="1" dirty="0" smtClean="0">
                <a:latin typeface="Arial" pitchFamily="34" charset="0"/>
                <a:cs typeface="Arial" pitchFamily="34" charset="0"/>
              </a:rPr>
              <a:t>Integration between DAs, PAs, and FPMs</a:t>
            </a:r>
          </a:p>
        </p:txBody>
      </p:sp>
      <p:sp>
        <p:nvSpPr>
          <p:cNvPr id="97" name="Rectangle 96"/>
          <p:cNvSpPr/>
          <p:nvPr/>
        </p:nvSpPr>
        <p:spPr bwMode="auto">
          <a:xfrm>
            <a:off x="410092" y="5536640"/>
            <a:ext cx="8429108" cy="1081874"/>
          </a:xfrm>
          <a:prstGeom prst="rect">
            <a:avLst/>
          </a:prstGeom>
          <a:solidFill>
            <a:srgbClr val="C4D79D"/>
          </a:solidFill>
          <a:ln w="19050" cap="flat" cmpd="sng" algn="ctr">
            <a:solidFill>
              <a:srgbClr val="4F6228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28600" indent="-228600">
              <a:spcAft>
                <a:spcPts val="300"/>
              </a:spcAft>
            </a:pPr>
            <a:r>
              <a:rPr lang="en-US" sz="1400" b="1" u="sng" dirty="0" smtClean="0">
                <a:latin typeface="Arial" pitchFamily="34" charset="0"/>
                <a:cs typeface="Arial" pitchFamily="34" charset="0"/>
              </a:rPr>
              <a:t>PCF</a:t>
            </a:r>
          </a:p>
          <a:p>
            <a:pPr marL="111125" indent="-111125">
              <a:spcAft>
                <a:spcPts val="300"/>
              </a:spcAft>
              <a:buFont typeface="Arial" pitchFamily="34" charset="0"/>
              <a:buChar char="•"/>
            </a:pPr>
            <a:r>
              <a:rPr lang="en-US" sz="1400" b="1" dirty="0" smtClean="0">
                <a:latin typeface="Arial" pitchFamily="34" charset="0"/>
                <a:cs typeface="Arial" pitchFamily="34" charset="0"/>
              </a:rPr>
              <a:t>Certification and qualification activities</a:t>
            </a:r>
          </a:p>
          <a:p>
            <a:pPr marL="111125" indent="-111125">
              <a:spcAft>
                <a:spcPts val="300"/>
              </a:spcAft>
              <a:buFont typeface="Arial" pitchFamily="34" charset="0"/>
              <a:buChar char="•"/>
            </a:pPr>
            <a:r>
              <a:rPr lang="en-US" sz="1400" b="1" dirty="0" smtClean="0">
                <a:latin typeface="Arial" pitchFamily="34" charset="0"/>
                <a:cs typeface="Arial" pitchFamily="34" charset="0"/>
              </a:rPr>
              <a:t>Models and simulations of all aspects of weapon performance </a:t>
            </a:r>
          </a:p>
          <a:p>
            <a:pPr marL="111125" indent="-111125">
              <a:spcAft>
                <a:spcPts val="300"/>
              </a:spcAft>
              <a:buFont typeface="Arial" pitchFamily="34" charset="0"/>
              <a:buChar char="•"/>
            </a:pPr>
            <a:r>
              <a:rPr lang="en-US" sz="1400" b="1" dirty="0" smtClean="0">
                <a:latin typeface="Arial" pitchFamily="34" charset="0"/>
                <a:cs typeface="Arial" pitchFamily="34" charset="0"/>
              </a:rPr>
              <a:t>Supplies computational tools and data to the CMF </a:t>
            </a:r>
            <a:endParaRPr lang="en-US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 rot="16200000">
            <a:off x="-140373" y="1825461"/>
            <a:ext cx="1010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u="sng" dirty="0" smtClean="0">
                <a:latin typeface="+mn-lt"/>
              </a:rPr>
              <a:t>Phase 6.x</a:t>
            </a:r>
          </a:p>
        </p:txBody>
      </p:sp>
      <p:sp>
        <p:nvSpPr>
          <p:cNvPr id="20" name="Up Arrow 19"/>
          <p:cNvSpPr/>
          <p:nvPr/>
        </p:nvSpPr>
        <p:spPr bwMode="auto">
          <a:xfrm>
            <a:off x="944221" y="2495550"/>
            <a:ext cx="318051" cy="334944"/>
          </a:xfrm>
          <a:prstGeom prst="upArrow">
            <a:avLst/>
          </a:prstGeom>
          <a:solidFill>
            <a:srgbClr val="EECFCE"/>
          </a:solidFill>
          <a:ln w="19050" cap="flat" cmpd="sng" algn="ctr">
            <a:solidFill>
              <a:srgbClr val="953735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charset="0"/>
            </a:endParaRPr>
          </a:p>
        </p:txBody>
      </p:sp>
      <p:sp>
        <p:nvSpPr>
          <p:cNvPr id="32" name="Up Arrow 31"/>
          <p:cNvSpPr/>
          <p:nvPr/>
        </p:nvSpPr>
        <p:spPr bwMode="auto">
          <a:xfrm>
            <a:off x="4100285" y="2495549"/>
            <a:ext cx="297544" cy="1684563"/>
          </a:xfrm>
          <a:prstGeom prst="upArrow">
            <a:avLst/>
          </a:prstGeom>
          <a:solidFill>
            <a:srgbClr val="91A6B7"/>
          </a:solidFill>
          <a:ln w="19050" cap="flat" cmpd="sng" algn="ctr">
            <a:solidFill>
              <a:srgbClr val="395B7C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charset="0"/>
            </a:endParaRPr>
          </a:p>
        </p:txBody>
      </p:sp>
      <p:sp>
        <p:nvSpPr>
          <p:cNvPr id="35" name="Up Arrow 34"/>
          <p:cNvSpPr/>
          <p:nvPr/>
        </p:nvSpPr>
        <p:spPr bwMode="auto">
          <a:xfrm>
            <a:off x="4103600" y="5119688"/>
            <a:ext cx="297544" cy="366712"/>
          </a:xfrm>
          <a:prstGeom prst="upArrow">
            <a:avLst/>
          </a:prstGeom>
          <a:solidFill>
            <a:srgbClr val="91A6B7"/>
          </a:solidFill>
          <a:ln w="19050" cap="flat" cmpd="sng" algn="ctr">
            <a:solidFill>
              <a:srgbClr val="395B7C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858000" y="2819400"/>
            <a:ext cx="1981200" cy="685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spcAft>
                <a:spcPts val="300"/>
              </a:spcAft>
            </a:pPr>
            <a:r>
              <a:rPr lang="en-US" sz="900" b="1" dirty="0" smtClean="0">
                <a:solidFill>
                  <a:schemeClr val="tx1"/>
                </a:solidFill>
              </a:rPr>
              <a:t>Acronyms</a:t>
            </a:r>
          </a:p>
          <a:p>
            <a:r>
              <a:rPr lang="en-US" sz="900" dirty="0" smtClean="0">
                <a:solidFill>
                  <a:schemeClr val="tx1"/>
                </a:solidFill>
              </a:rPr>
              <a:t>DA=Design Agency</a:t>
            </a:r>
          </a:p>
          <a:p>
            <a:r>
              <a:rPr lang="en-US" sz="900" dirty="0" smtClean="0">
                <a:solidFill>
                  <a:schemeClr val="tx1"/>
                </a:solidFill>
              </a:rPr>
              <a:t>FPM=Federal Program Manager</a:t>
            </a:r>
          </a:p>
          <a:p>
            <a:r>
              <a:rPr lang="en-US" sz="900" dirty="0" smtClean="0">
                <a:solidFill>
                  <a:schemeClr val="tx1"/>
                </a:solidFill>
              </a:rPr>
              <a:t>PA=Production Agency</a:t>
            </a:r>
            <a:endParaRPr lang="en-US" sz="9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>
          <a:xfrm>
            <a:off x="981904" y="286896"/>
            <a:ext cx="6790513" cy="757130"/>
          </a:xfrm>
        </p:spPr>
        <p:txBody>
          <a:bodyPr/>
          <a:lstStyle/>
          <a:p>
            <a:r>
              <a:rPr lang="en-US" sz="2400" dirty="0"/>
              <a:t>After the explosive phase, weapons rapidly </a:t>
            </a:r>
            <a:r>
              <a:rPr lang="en-US" sz="2400" dirty="0" smtClean="0"/>
              <a:t>evolve </a:t>
            </a:r>
            <a:r>
              <a:rPr lang="en-US" sz="2400" dirty="0"/>
              <a:t>into the HED and plasma regimes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98475" y="1281113"/>
            <a:ext cx="7969250" cy="6526212"/>
            <a:chOff x="362" y="1297"/>
            <a:chExt cx="5020" cy="4111"/>
          </a:xfrm>
        </p:grpSpPr>
        <p:sp>
          <p:nvSpPr>
            <p:cNvPr id="613380" name="Text Box 4"/>
            <p:cNvSpPr txBox="1">
              <a:spLocks noChangeArrowheads="1"/>
            </p:cNvSpPr>
            <p:nvPr/>
          </p:nvSpPr>
          <p:spPr bwMode="auto">
            <a:xfrm>
              <a:off x="1023" y="3573"/>
              <a:ext cx="2303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400" dirty="0">
                  <a:latin typeface="Arial" charset="0"/>
                  <a:ea typeface="ＭＳ Ｐゴシック" pitchFamily="48" charset="-128"/>
                </a:rPr>
                <a:t>(UGTs, sub-crits, DARHT, JASPER, etc)</a:t>
              </a:r>
              <a:endParaRPr lang="en-US" dirty="0">
                <a:latin typeface="Arial" charset="0"/>
                <a:ea typeface="ＭＳ Ｐゴシック" pitchFamily="48" charset="-128"/>
              </a:endParaRPr>
            </a:p>
          </p:txBody>
        </p:sp>
        <p:pic>
          <p:nvPicPr>
            <p:cNvPr id="613381" name="Picture 5" descr="downaro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rot="2385303" flipV="1">
              <a:off x="1808" y="2872"/>
              <a:ext cx="182" cy="468"/>
            </a:xfrm>
            <a:prstGeom prst="rect">
              <a:avLst/>
            </a:prstGeom>
            <a:noFill/>
          </p:spPr>
        </p:pic>
        <p:sp>
          <p:nvSpPr>
            <p:cNvPr id="613382" name="AutoShape 6"/>
            <p:cNvSpPr>
              <a:spLocks noChangeArrowheads="1"/>
            </p:cNvSpPr>
            <p:nvPr/>
          </p:nvSpPr>
          <p:spPr bwMode="auto">
            <a:xfrm>
              <a:off x="1260" y="1810"/>
              <a:ext cx="3188" cy="3598"/>
            </a:xfrm>
            <a:custGeom>
              <a:avLst/>
              <a:gdLst>
                <a:gd name="G0" fmla="+- 9482 0 0"/>
                <a:gd name="G1" fmla="+- -11746191 0 0"/>
                <a:gd name="G2" fmla="+- 0 0 -11746191"/>
                <a:gd name="T0" fmla="*/ 0 256 1"/>
                <a:gd name="T1" fmla="*/ 180 256 1"/>
                <a:gd name="G3" fmla="+- -11746191 T0 T1"/>
                <a:gd name="T2" fmla="*/ 0 256 1"/>
                <a:gd name="T3" fmla="*/ 90 256 1"/>
                <a:gd name="G4" fmla="+- -11746191 T2 T3"/>
                <a:gd name="G5" fmla="*/ G4 2 1"/>
                <a:gd name="T4" fmla="*/ 90 256 1"/>
                <a:gd name="T5" fmla="*/ 0 256 1"/>
                <a:gd name="G6" fmla="+- -11746191 T4 T5"/>
                <a:gd name="G7" fmla="*/ G6 2 1"/>
                <a:gd name="G8" fmla="abs -11746191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9482"/>
                <a:gd name="G18" fmla="*/ 9482 1 2"/>
                <a:gd name="G19" fmla="+- G18 5400 0"/>
                <a:gd name="G20" fmla="cos G19 -11746191"/>
                <a:gd name="G21" fmla="sin G19 -11746191"/>
                <a:gd name="G22" fmla="+- G20 10800 0"/>
                <a:gd name="G23" fmla="+- G21 10800 0"/>
                <a:gd name="G24" fmla="+- 10800 0 G20"/>
                <a:gd name="G25" fmla="+- 9482 10800 0"/>
                <a:gd name="G26" fmla="?: G9 G17 G25"/>
                <a:gd name="G27" fmla="?: G9 0 21600"/>
                <a:gd name="G28" fmla="cos 10800 -11746191"/>
                <a:gd name="G29" fmla="sin 10800 -11746191"/>
                <a:gd name="G30" fmla="sin 9482 -11746191"/>
                <a:gd name="G31" fmla="+- G28 10800 0"/>
                <a:gd name="G32" fmla="+- G29 10800 0"/>
                <a:gd name="G33" fmla="+- G30 10800 0"/>
                <a:gd name="G34" fmla="?: G4 0 G31"/>
                <a:gd name="G35" fmla="?: -11746191 G34 0"/>
                <a:gd name="G36" fmla="?: G6 G35 G31"/>
                <a:gd name="G37" fmla="+- 21600 0 G36"/>
                <a:gd name="G38" fmla="?: G4 0 G33"/>
                <a:gd name="G39" fmla="?: -11746191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659 w 21600"/>
                <a:gd name="T15" fmla="*/ 10664 h 21600"/>
                <a:gd name="T16" fmla="*/ 10800 w 21600"/>
                <a:gd name="T17" fmla="*/ 1318 h 21600"/>
                <a:gd name="T18" fmla="*/ 20941 w 21600"/>
                <a:gd name="T19" fmla="*/ 10664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1318" y="10673"/>
                  </a:moveTo>
                  <a:cubicBezTo>
                    <a:pt x="1388" y="5486"/>
                    <a:pt x="5612" y="1317"/>
                    <a:pt x="10800" y="1318"/>
                  </a:cubicBezTo>
                  <a:cubicBezTo>
                    <a:pt x="15987" y="1318"/>
                    <a:pt x="20211" y="5486"/>
                    <a:pt x="20281" y="10673"/>
                  </a:cubicBezTo>
                  <a:lnTo>
                    <a:pt x="21599" y="10655"/>
                  </a:lnTo>
                  <a:cubicBezTo>
                    <a:pt x="21519" y="4747"/>
                    <a:pt x="16708" y="-1"/>
                    <a:pt x="10799" y="0"/>
                  </a:cubicBezTo>
                  <a:cubicBezTo>
                    <a:pt x="4891" y="0"/>
                    <a:pt x="80" y="4747"/>
                    <a:pt x="0" y="10655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66"/>
                </a:gs>
                <a:gs pos="100000">
                  <a:srgbClr val="800040"/>
                </a:gs>
              </a:gsLst>
              <a:lin ang="0" scaled="1"/>
            </a:gradFill>
            <a:ln w="63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383" name="AutoShape 7"/>
            <p:cNvSpPr>
              <a:spLocks noChangeArrowheads="1"/>
            </p:cNvSpPr>
            <p:nvPr/>
          </p:nvSpPr>
          <p:spPr bwMode="auto">
            <a:xfrm>
              <a:off x="685" y="2831"/>
              <a:ext cx="937" cy="442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384" name="AutoShape 8"/>
            <p:cNvSpPr>
              <a:spLocks noChangeArrowheads="1"/>
            </p:cNvSpPr>
            <p:nvPr/>
          </p:nvSpPr>
          <p:spPr bwMode="auto">
            <a:xfrm>
              <a:off x="1555" y="1756"/>
              <a:ext cx="911" cy="442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385" name="AutoShape 9"/>
            <p:cNvSpPr>
              <a:spLocks noChangeArrowheads="1"/>
            </p:cNvSpPr>
            <p:nvPr/>
          </p:nvSpPr>
          <p:spPr bwMode="auto">
            <a:xfrm>
              <a:off x="3217" y="1751"/>
              <a:ext cx="912" cy="443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386" name="AutoShape 10"/>
            <p:cNvSpPr>
              <a:spLocks noChangeArrowheads="1"/>
            </p:cNvSpPr>
            <p:nvPr/>
          </p:nvSpPr>
          <p:spPr bwMode="auto">
            <a:xfrm>
              <a:off x="4101" y="2827"/>
              <a:ext cx="911" cy="443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387" name="Text Box 11"/>
            <p:cNvSpPr txBox="1">
              <a:spLocks noChangeArrowheads="1"/>
            </p:cNvSpPr>
            <p:nvPr/>
          </p:nvSpPr>
          <p:spPr bwMode="auto">
            <a:xfrm>
              <a:off x="362" y="2374"/>
              <a:ext cx="1600" cy="46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400" b="1" u="sng" dirty="0">
                  <a:latin typeface="Arial" charset="0"/>
                  <a:ea typeface="ＭＳ Ｐゴシック" pitchFamily="48" charset="-128"/>
                </a:rPr>
                <a:t>HE phase</a:t>
              </a:r>
              <a:endParaRPr lang="en-US" sz="1400" b="1" dirty="0">
                <a:latin typeface="Arial" charset="0"/>
                <a:ea typeface="ＭＳ Ｐゴシック" pitchFamily="48" charset="-128"/>
              </a:endParaRPr>
            </a:p>
            <a:p>
              <a:pPr algn="ctr" eaLnBrk="0" hangingPunct="0"/>
              <a:r>
                <a:rPr lang="en-US" sz="1400" dirty="0">
                  <a:latin typeface="Arial" charset="0"/>
                  <a:ea typeface="ＭＳ Ｐゴシック" pitchFamily="48" charset="-128"/>
                </a:rPr>
                <a:t>High explosive creates supercritical assembly</a:t>
              </a:r>
            </a:p>
          </p:txBody>
        </p:sp>
        <p:sp>
          <p:nvSpPr>
            <p:cNvPr id="613388" name="Text Box 12"/>
            <p:cNvSpPr txBox="1">
              <a:spLocks noChangeArrowheads="1"/>
            </p:cNvSpPr>
            <p:nvPr/>
          </p:nvSpPr>
          <p:spPr bwMode="auto">
            <a:xfrm>
              <a:off x="1119" y="1297"/>
              <a:ext cx="1738" cy="46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400" b="1" u="sng" dirty="0">
                  <a:latin typeface="Arial" charset="0"/>
                  <a:ea typeface="ＭＳ Ｐゴシック" pitchFamily="48" charset="-128"/>
                </a:rPr>
                <a:t>Primary phase</a:t>
              </a:r>
              <a:endParaRPr lang="en-US" sz="1400" b="1" dirty="0">
                <a:latin typeface="Arial" charset="0"/>
                <a:ea typeface="ＭＳ Ｐゴシック" pitchFamily="48" charset="-128"/>
              </a:endParaRPr>
            </a:p>
            <a:p>
              <a:pPr algn="ctr" eaLnBrk="0" hangingPunct="0"/>
              <a:r>
                <a:rPr lang="en-US" sz="1400" dirty="0">
                  <a:latin typeface="Arial" charset="0"/>
                  <a:ea typeface="ＭＳ Ｐゴシック" pitchFamily="48" charset="-128"/>
                </a:rPr>
                <a:t>Super-critical assembly</a:t>
              </a:r>
            </a:p>
            <a:p>
              <a:pPr algn="ctr" eaLnBrk="0" hangingPunct="0"/>
              <a:r>
                <a:rPr lang="en-US" sz="1400" dirty="0">
                  <a:latin typeface="Arial" charset="0"/>
                  <a:ea typeface="ＭＳ Ｐゴシック" pitchFamily="48" charset="-128"/>
                </a:rPr>
                <a:t>Primary energy production</a:t>
              </a:r>
            </a:p>
          </p:txBody>
        </p:sp>
        <p:sp>
          <p:nvSpPr>
            <p:cNvPr id="613389" name="Line 13"/>
            <p:cNvSpPr>
              <a:spLocks noChangeShapeType="1"/>
            </p:cNvSpPr>
            <p:nvPr/>
          </p:nvSpPr>
          <p:spPr bwMode="auto">
            <a:xfrm>
              <a:off x="1009" y="3588"/>
              <a:ext cx="36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390" name="Text Box 14"/>
            <p:cNvSpPr txBox="1">
              <a:spLocks noChangeArrowheads="1"/>
            </p:cNvSpPr>
            <p:nvPr/>
          </p:nvSpPr>
          <p:spPr bwMode="auto">
            <a:xfrm>
              <a:off x="1204" y="3338"/>
              <a:ext cx="1630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800" dirty="0">
                  <a:latin typeface="Arial" charset="0"/>
                  <a:ea typeface="ＭＳ Ｐゴシック" pitchFamily="48" charset="-128"/>
                </a:rPr>
                <a:t>Pre-nuclear phase</a:t>
              </a:r>
            </a:p>
          </p:txBody>
        </p:sp>
        <p:sp>
          <p:nvSpPr>
            <p:cNvPr id="613391" name="Line 15"/>
            <p:cNvSpPr>
              <a:spLocks noChangeShapeType="1"/>
            </p:cNvSpPr>
            <p:nvPr/>
          </p:nvSpPr>
          <p:spPr bwMode="auto">
            <a:xfrm flipH="1" flipV="1">
              <a:off x="1345" y="2209"/>
              <a:ext cx="1505" cy="13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392" name="Oval 16"/>
            <p:cNvSpPr>
              <a:spLocks noChangeArrowheads="1"/>
            </p:cNvSpPr>
            <p:nvPr/>
          </p:nvSpPr>
          <p:spPr bwMode="auto">
            <a:xfrm>
              <a:off x="787" y="2909"/>
              <a:ext cx="301" cy="30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393" name="Oval 17"/>
            <p:cNvSpPr>
              <a:spLocks noChangeArrowheads="1"/>
            </p:cNvSpPr>
            <p:nvPr/>
          </p:nvSpPr>
          <p:spPr bwMode="auto">
            <a:xfrm>
              <a:off x="1201" y="2909"/>
              <a:ext cx="301" cy="30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394" name="Oval 18"/>
            <p:cNvSpPr>
              <a:spLocks noChangeArrowheads="1"/>
            </p:cNvSpPr>
            <p:nvPr/>
          </p:nvSpPr>
          <p:spPr bwMode="auto">
            <a:xfrm>
              <a:off x="1650" y="1832"/>
              <a:ext cx="301" cy="301"/>
            </a:xfrm>
            <a:prstGeom prst="ellipse">
              <a:avLst/>
            </a:prstGeom>
            <a:solidFill>
              <a:srgbClr val="FF000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395" name="Oval 19"/>
            <p:cNvSpPr>
              <a:spLocks noChangeArrowheads="1"/>
            </p:cNvSpPr>
            <p:nvPr/>
          </p:nvSpPr>
          <p:spPr bwMode="auto">
            <a:xfrm>
              <a:off x="2064" y="1832"/>
              <a:ext cx="302" cy="30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396" name="Oval 20"/>
            <p:cNvSpPr>
              <a:spLocks noChangeArrowheads="1"/>
            </p:cNvSpPr>
            <p:nvPr/>
          </p:nvSpPr>
          <p:spPr bwMode="auto">
            <a:xfrm>
              <a:off x="3735" y="1832"/>
              <a:ext cx="301" cy="30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397" name="Oval 21"/>
            <p:cNvSpPr>
              <a:spLocks noChangeArrowheads="1"/>
            </p:cNvSpPr>
            <p:nvPr/>
          </p:nvSpPr>
          <p:spPr bwMode="auto">
            <a:xfrm>
              <a:off x="4204" y="2909"/>
              <a:ext cx="302" cy="30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398" name="Oval 22"/>
            <p:cNvSpPr>
              <a:spLocks noChangeArrowheads="1"/>
            </p:cNvSpPr>
            <p:nvPr/>
          </p:nvSpPr>
          <p:spPr bwMode="auto">
            <a:xfrm>
              <a:off x="4619" y="2909"/>
              <a:ext cx="301" cy="301"/>
            </a:xfrm>
            <a:prstGeom prst="ellipse">
              <a:avLst/>
            </a:prstGeom>
            <a:solidFill>
              <a:srgbClr val="FF000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399" name="Text Box 23"/>
            <p:cNvSpPr txBox="1">
              <a:spLocks noChangeArrowheads="1"/>
            </p:cNvSpPr>
            <p:nvPr/>
          </p:nvSpPr>
          <p:spPr bwMode="auto">
            <a:xfrm>
              <a:off x="2799" y="1297"/>
              <a:ext cx="1686" cy="46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400" b="1" u="sng" dirty="0">
                  <a:latin typeface="Arial" charset="0"/>
                  <a:ea typeface="ＭＳ Ｐゴシック" pitchFamily="48" charset="-128"/>
                </a:rPr>
                <a:t>Energy transfer</a:t>
              </a:r>
              <a:endParaRPr lang="en-US" sz="1400" b="1" dirty="0">
                <a:latin typeface="Arial" charset="0"/>
                <a:ea typeface="ＭＳ Ｐゴシック" pitchFamily="48" charset="-128"/>
              </a:endParaRPr>
            </a:p>
            <a:p>
              <a:pPr algn="ctr" eaLnBrk="0" hangingPunct="0"/>
              <a:r>
                <a:rPr lang="en-US" sz="1400" dirty="0">
                  <a:latin typeface="Arial" charset="0"/>
                  <a:ea typeface="ＭＳ Ｐゴシック" pitchFamily="48" charset="-128"/>
                </a:rPr>
                <a:t>X-rays transfer energy from primary to secondary</a:t>
              </a:r>
            </a:p>
          </p:txBody>
        </p:sp>
        <p:sp>
          <p:nvSpPr>
            <p:cNvPr id="613400" name="Text Box 24"/>
            <p:cNvSpPr txBox="1">
              <a:spLocks noChangeArrowheads="1"/>
            </p:cNvSpPr>
            <p:nvPr/>
          </p:nvSpPr>
          <p:spPr bwMode="auto">
            <a:xfrm>
              <a:off x="3684" y="2374"/>
              <a:ext cx="1698" cy="46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400" b="1" u="sng" dirty="0">
                  <a:latin typeface="Arial" charset="0"/>
                  <a:ea typeface="ＭＳ Ｐゴシック" pitchFamily="48" charset="-128"/>
                </a:rPr>
                <a:t>Secondary phase</a:t>
              </a:r>
              <a:endParaRPr lang="en-US" sz="1400" b="1" dirty="0">
                <a:latin typeface="Arial" charset="0"/>
                <a:ea typeface="ＭＳ Ｐゴシック" pitchFamily="48" charset="-128"/>
              </a:endParaRPr>
            </a:p>
            <a:p>
              <a:pPr algn="ctr" eaLnBrk="0" hangingPunct="0"/>
              <a:r>
                <a:rPr lang="en-US" sz="1400" dirty="0">
                  <a:latin typeface="Arial" charset="0"/>
                  <a:ea typeface="ＭＳ Ｐゴシック" pitchFamily="48" charset="-128"/>
                </a:rPr>
                <a:t>Secondary produces energy, explosion and radiation</a:t>
              </a:r>
            </a:p>
          </p:txBody>
        </p:sp>
        <p:pic>
          <p:nvPicPr>
            <p:cNvPr id="613401" name="Picture 25" descr="rtarrow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37" y="2524"/>
              <a:ext cx="478" cy="879"/>
            </a:xfrm>
            <a:prstGeom prst="rect">
              <a:avLst/>
            </a:prstGeom>
            <a:noFill/>
          </p:spPr>
        </p:pic>
        <p:sp>
          <p:nvSpPr>
            <p:cNvPr id="613402" name="Rectangle 26"/>
            <p:cNvSpPr>
              <a:spLocks noChangeArrowheads="1"/>
            </p:cNvSpPr>
            <p:nvPr/>
          </p:nvSpPr>
          <p:spPr bwMode="auto">
            <a:xfrm>
              <a:off x="3086" y="2493"/>
              <a:ext cx="309" cy="51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403" name="Text Box 27"/>
            <p:cNvSpPr txBox="1">
              <a:spLocks noChangeArrowheads="1"/>
            </p:cNvSpPr>
            <p:nvPr/>
          </p:nvSpPr>
          <p:spPr bwMode="auto">
            <a:xfrm>
              <a:off x="1920" y="2598"/>
              <a:ext cx="1853" cy="40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800" dirty="0">
                  <a:latin typeface="Arial" charset="0"/>
                  <a:ea typeface="ＭＳ Ｐゴシック" pitchFamily="48" charset="-128"/>
                </a:rPr>
                <a:t>Nuclear Phase</a:t>
              </a:r>
            </a:p>
            <a:p>
              <a:pPr algn="ctr" eaLnBrk="0" hangingPunct="0"/>
              <a:r>
                <a:rPr lang="en-US" sz="1400" dirty="0">
                  <a:latin typeface="Arial" charset="0"/>
                  <a:ea typeface="ＭＳ Ｐゴシック" pitchFamily="48" charset="-128"/>
                </a:rPr>
                <a:t>(UGTs NIF and, Z)</a:t>
              </a:r>
              <a:r>
                <a:rPr lang="en-US" sz="1800" dirty="0">
                  <a:latin typeface="Helvetica" pitchFamily="34" charset="0"/>
                  <a:ea typeface="ＭＳ Ｐゴシック" pitchFamily="48" charset="-128"/>
                </a:rPr>
                <a:t> </a:t>
              </a:r>
            </a:p>
          </p:txBody>
        </p:sp>
        <p:sp>
          <p:nvSpPr>
            <p:cNvPr id="613404" name="Oval 28"/>
            <p:cNvSpPr>
              <a:spLocks noChangeArrowheads="1"/>
            </p:cNvSpPr>
            <p:nvPr/>
          </p:nvSpPr>
          <p:spPr bwMode="auto">
            <a:xfrm>
              <a:off x="3321" y="1832"/>
              <a:ext cx="301" cy="30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405" name="Arc 29"/>
            <p:cNvSpPr>
              <a:spLocks/>
            </p:cNvSpPr>
            <p:nvPr/>
          </p:nvSpPr>
          <p:spPr bwMode="auto">
            <a:xfrm rot="9890880" flipV="1">
              <a:off x="1687" y="2395"/>
              <a:ext cx="199" cy="28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7648"/>
                <a:gd name="T1" fmla="*/ 0 h 21600"/>
                <a:gd name="T2" fmla="*/ 17648 w 17648"/>
                <a:gd name="T3" fmla="*/ 9148 h 21600"/>
                <a:gd name="T4" fmla="*/ 0 w 1764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648" h="21600" fill="none" extrusionOk="0">
                  <a:moveTo>
                    <a:pt x="-1" y="0"/>
                  </a:moveTo>
                  <a:cubicBezTo>
                    <a:pt x="7019" y="0"/>
                    <a:pt x="13601" y="3411"/>
                    <a:pt x="17649" y="9147"/>
                  </a:cubicBezTo>
                </a:path>
                <a:path w="17648" h="21600" stroke="0" extrusionOk="0">
                  <a:moveTo>
                    <a:pt x="-1" y="0"/>
                  </a:moveTo>
                  <a:cubicBezTo>
                    <a:pt x="7019" y="0"/>
                    <a:pt x="13601" y="3411"/>
                    <a:pt x="17649" y="914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stealth" w="med" len="med"/>
              <a:tailEnd/>
            </a:ln>
            <a:effectLst>
              <a:outerShdw dist="35921" dir="2700000" algn="ctr" rotWithShape="0">
                <a:srgbClr val="80808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406" name="Arc 30"/>
            <p:cNvSpPr>
              <a:spLocks/>
            </p:cNvSpPr>
            <p:nvPr/>
          </p:nvSpPr>
          <p:spPr bwMode="auto">
            <a:xfrm rot="12320664" flipV="1">
              <a:off x="2632" y="1871"/>
              <a:ext cx="199" cy="28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7648"/>
                <a:gd name="T1" fmla="*/ 0 h 21600"/>
                <a:gd name="T2" fmla="*/ 17648 w 17648"/>
                <a:gd name="T3" fmla="*/ 9148 h 21600"/>
                <a:gd name="T4" fmla="*/ 0 w 1764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648" h="21600" fill="none" extrusionOk="0">
                  <a:moveTo>
                    <a:pt x="-1" y="0"/>
                  </a:moveTo>
                  <a:cubicBezTo>
                    <a:pt x="7019" y="0"/>
                    <a:pt x="13601" y="3411"/>
                    <a:pt x="17649" y="9147"/>
                  </a:cubicBezTo>
                </a:path>
                <a:path w="17648" h="21600" stroke="0" extrusionOk="0">
                  <a:moveTo>
                    <a:pt x="-1" y="0"/>
                  </a:moveTo>
                  <a:cubicBezTo>
                    <a:pt x="7019" y="0"/>
                    <a:pt x="13601" y="3411"/>
                    <a:pt x="17649" y="914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stealth" w="med" len="med"/>
              <a:tailEnd/>
            </a:ln>
            <a:effectLst>
              <a:outerShdw dist="35921" dir="2700000" algn="ctr" rotWithShape="0">
                <a:srgbClr val="80808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407" name="Arc 31"/>
            <p:cNvSpPr>
              <a:spLocks/>
            </p:cNvSpPr>
            <p:nvPr/>
          </p:nvSpPr>
          <p:spPr bwMode="auto">
            <a:xfrm rot="15530978" flipV="1">
              <a:off x="3704" y="2271"/>
              <a:ext cx="199" cy="28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7648"/>
                <a:gd name="T1" fmla="*/ 0 h 21600"/>
                <a:gd name="T2" fmla="*/ 17648 w 17648"/>
                <a:gd name="T3" fmla="*/ 9148 h 21600"/>
                <a:gd name="T4" fmla="*/ 0 w 1764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648" h="21600" fill="none" extrusionOk="0">
                  <a:moveTo>
                    <a:pt x="-1" y="0"/>
                  </a:moveTo>
                  <a:cubicBezTo>
                    <a:pt x="7019" y="0"/>
                    <a:pt x="13601" y="3411"/>
                    <a:pt x="17649" y="9147"/>
                  </a:cubicBezTo>
                </a:path>
                <a:path w="17648" h="21600" stroke="0" extrusionOk="0">
                  <a:moveTo>
                    <a:pt x="-1" y="0"/>
                  </a:moveTo>
                  <a:cubicBezTo>
                    <a:pt x="7019" y="0"/>
                    <a:pt x="13601" y="3411"/>
                    <a:pt x="17649" y="914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stealth" w="med" len="med"/>
              <a:tailEnd/>
            </a:ln>
            <a:effectLst>
              <a:outerShdw dist="35921" dir="2700000" algn="ctr" rotWithShape="0">
                <a:srgbClr val="80808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3408" name="Arc 32"/>
            <p:cNvSpPr>
              <a:spLocks/>
            </p:cNvSpPr>
            <p:nvPr/>
          </p:nvSpPr>
          <p:spPr bwMode="auto">
            <a:xfrm rot="12320664" flipV="1">
              <a:off x="3551" y="1789"/>
              <a:ext cx="199" cy="28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7648"/>
                <a:gd name="T1" fmla="*/ 0 h 21600"/>
                <a:gd name="T2" fmla="*/ 17648 w 17648"/>
                <a:gd name="T3" fmla="*/ 9148 h 21600"/>
                <a:gd name="T4" fmla="*/ 0 w 1764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648" h="21600" fill="none" extrusionOk="0">
                  <a:moveTo>
                    <a:pt x="-1" y="0"/>
                  </a:moveTo>
                  <a:cubicBezTo>
                    <a:pt x="7019" y="0"/>
                    <a:pt x="13601" y="3411"/>
                    <a:pt x="17649" y="9147"/>
                  </a:cubicBezTo>
                </a:path>
                <a:path w="17648" h="21600" stroke="0" extrusionOk="0">
                  <a:moveTo>
                    <a:pt x="-1" y="0"/>
                  </a:moveTo>
                  <a:cubicBezTo>
                    <a:pt x="7019" y="0"/>
                    <a:pt x="13601" y="3411"/>
                    <a:pt x="17649" y="914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9"/>
              </a:solidFill>
              <a:round/>
              <a:headEnd type="stealth" w="med" len="med"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613409" name="Text Box 33"/>
          <p:cNvSpPr txBox="1">
            <a:spLocks noChangeArrowheads="1"/>
          </p:cNvSpPr>
          <p:nvPr/>
        </p:nvSpPr>
        <p:spPr bwMode="auto">
          <a:xfrm>
            <a:off x="971252" y="5771573"/>
            <a:ext cx="7277100" cy="603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82058" tIns="41029" rIns="82058" bIns="41029">
            <a:spAutoFit/>
          </a:bodyPr>
          <a:lstStyle/>
          <a:p>
            <a:pPr defTabSz="820738" eaLnBrk="0" hangingPunct="0">
              <a:lnSpc>
                <a:spcPts val="1888"/>
              </a:lnSpc>
              <a:spcBef>
                <a:spcPct val="15000"/>
              </a:spcBef>
              <a:buSzPct val="100000"/>
            </a:pPr>
            <a:r>
              <a:rPr lang="en-US" sz="1800" b="1" dirty="0">
                <a:latin typeface="Arial" charset="0"/>
              </a:rPr>
              <a:t>Weapons operation proceeds through the conditions of planetary</a:t>
            </a:r>
          </a:p>
          <a:p>
            <a:pPr defTabSz="820738" eaLnBrk="0" hangingPunct="0">
              <a:lnSpc>
                <a:spcPts val="1888"/>
              </a:lnSpc>
              <a:spcBef>
                <a:spcPct val="15000"/>
              </a:spcBef>
              <a:buSzPct val="100000"/>
            </a:pPr>
            <a:r>
              <a:rPr lang="en-US" sz="1800" b="1" dirty="0">
                <a:latin typeface="Arial" charset="0"/>
              </a:rPr>
              <a:t>interiors, to stellar interiors </a:t>
            </a:r>
          </a:p>
        </p:txBody>
      </p:sp>
      <p:sp>
        <p:nvSpPr>
          <p:cNvPr id="613410" name="Rectangle 34"/>
          <p:cNvSpPr>
            <a:spLocks noChangeArrowheads="1"/>
          </p:cNvSpPr>
          <p:nvPr/>
        </p:nvSpPr>
        <p:spPr bwMode="auto">
          <a:xfrm>
            <a:off x="800100" y="5663623"/>
            <a:ext cx="7594600" cy="78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82058" tIns="41029" rIns="82058" bIns="41029" anchor="ctr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18437" y="192088"/>
            <a:ext cx="6101538" cy="912812"/>
          </a:xfrm>
        </p:spPr>
        <p:txBody>
          <a:bodyPr/>
          <a:lstStyle/>
          <a:p>
            <a:r>
              <a:rPr lang="en-US" sz="2000" dirty="0" smtClean="0">
                <a:cs typeface="Arial" pitchFamily="34" charset="0"/>
              </a:rPr>
              <a:t>The Predictive Capability Framework (PCF) 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Provides a Roadmap for Science Advances</a:t>
            </a:r>
            <a:endParaRPr 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pic>
        <p:nvPicPr>
          <p:cNvPr id="552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7561" y="1166037"/>
            <a:ext cx="7051408" cy="531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Straight Connector 4"/>
          <p:cNvCxnSpPr/>
          <p:nvPr/>
        </p:nvCxnSpPr>
        <p:spPr>
          <a:xfrm flipH="1">
            <a:off x="3317358" y="1935126"/>
            <a:ext cx="10636" cy="438061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619125" y="1643063"/>
            <a:ext cx="8067675" cy="4071937"/>
          </a:xfrm>
          <a:prstGeom prst="rect">
            <a:avLst/>
          </a:prstGeom>
        </p:spPr>
        <p:txBody>
          <a:bodyPr/>
          <a:lstStyle/>
          <a:p>
            <a:r>
              <a:rPr lang="en-US" sz="2400" dirty="0" smtClean="0"/>
              <a:t>Implementation of the 2010 Nuclear Posture Review is being pursued aggressively.  The results show in an increased focus on support for the New Start treaty, nuclear non-proliferation, weapon life extension programs, infrastructure investments, and weapon dismantlements.</a:t>
            </a:r>
          </a:p>
          <a:p>
            <a:endParaRPr lang="en-US" sz="2400" dirty="0" smtClean="0"/>
          </a:p>
          <a:p>
            <a:r>
              <a:rPr lang="en-US" sz="2400" dirty="0" smtClean="0"/>
              <a:t>The Stockpile Stewardship and Management Plan provides a roadmap for the advanced science and technology development required to maintain the safety, security and reliability of the stockpile.</a:t>
            </a:r>
          </a:p>
          <a:p>
            <a:endParaRPr lang="en-US" sz="2400" dirty="0" smtClean="0"/>
          </a:p>
        </p:txBody>
      </p:sp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5375</TotalTime>
  <Words>1034</Words>
  <Application>Microsoft Office PowerPoint</Application>
  <PresentationFormat>On-screen Show (4:3)</PresentationFormat>
  <Paragraphs>143</Paragraphs>
  <Slides>12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2_Default Design</vt:lpstr>
      <vt:lpstr>Fusion Ignition and Stockpile Stewardship</vt:lpstr>
      <vt:lpstr>Overview</vt:lpstr>
      <vt:lpstr>National Strategic Policy for Nuclear Weapons has been clearly formulated</vt:lpstr>
      <vt:lpstr>National Strategic Policy for Nuclear     Weapons has been clearly formulated</vt:lpstr>
      <vt:lpstr>The Predictive Capability Framework (PCF) and Component Maturation Framework (CMF) have become general tools in Defense Programs Planning </vt:lpstr>
      <vt:lpstr>LEP Planning Framework</vt:lpstr>
      <vt:lpstr>The Predictive Capability Framework (PCF) Provides a Roadmap for Science Advances</vt:lpstr>
      <vt:lpstr>The Component Maturation Framework (CMF) provides a roadmap for stockpile technology development and insertion</vt:lpstr>
      <vt:lpstr>Flow of Science and Technology Deliverables to the LEP process </vt:lpstr>
      <vt:lpstr>After the explosive phase, weapons rapidly evolve into the HED and plasma regimes</vt:lpstr>
      <vt:lpstr>The Predictive Capability Framework (PCF) Provides a Roadmap for Science Advances</vt:lpstr>
      <vt:lpstr>Conclusions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Printed>2010-02-04T17:35:22Z</cp:lastPrinted>
  <dcterms:created xsi:type="dcterms:W3CDTF">2010-01-26T18:25:26Z</dcterms:created>
  <dcterms:modified xsi:type="dcterms:W3CDTF">2011-12-15T03:10:46Z</dcterms:modified>
</cp:coreProperties>
</file>