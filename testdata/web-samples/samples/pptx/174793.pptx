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Override PartName="/ppt/tags/tag2.xml" ContentType="application/vnd.openxmlformats-officedocument.presentationml.tags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78" r:id="rId2"/>
    <p:sldId id="261" r:id="rId3"/>
    <p:sldId id="270" r:id="rId4"/>
    <p:sldId id="267" r:id="rId5"/>
    <p:sldId id="284" r:id="rId6"/>
    <p:sldId id="274" r:id="rId7"/>
    <p:sldId id="257" r:id="rId8"/>
    <p:sldId id="272" r:id="rId9"/>
    <p:sldId id="290" r:id="rId10"/>
    <p:sldId id="264" r:id="rId11"/>
    <p:sldId id="265" r:id="rId12"/>
    <p:sldId id="281" r:id="rId13"/>
    <p:sldId id="282" r:id="rId14"/>
    <p:sldId id="262" r:id="rId15"/>
    <p:sldId id="283" r:id="rId16"/>
    <p:sldId id="260" r:id="rId17"/>
    <p:sldId id="258" r:id="rId18"/>
    <p:sldId id="287" r:id="rId19"/>
    <p:sldId id="285" r:id="rId20"/>
    <p:sldId id="295" r:id="rId21"/>
    <p:sldId id="296" r:id="rId22"/>
    <p:sldId id="291" r:id="rId23"/>
    <p:sldId id="292" r:id="rId24"/>
    <p:sldId id="293" r:id="rId25"/>
    <p:sldId id="294" r:id="rId26"/>
  </p:sldIdLst>
  <p:sldSz cx="9144000" cy="6858000" type="screen4x3"/>
  <p:notesSz cx="7099300" cy="102346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904" autoAdjust="0"/>
    <p:restoredTop sz="90375" autoAdjust="0"/>
  </p:normalViewPr>
  <p:slideViewPr>
    <p:cSldViewPr>
      <p:cViewPr varScale="1">
        <p:scale>
          <a:sx n="96" d="100"/>
          <a:sy n="96" d="100"/>
        </p:scale>
        <p:origin x="-151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0" d="100"/>
          <a:sy n="80" d="100"/>
        </p:scale>
        <p:origin x="-1404" y="-90"/>
      </p:cViewPr>
      <p:guideLst>
        <p:guide orient="horz" pos="3224"/>
        <p:guide pos="2236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1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wmf"/><Relationship Id="rId1" Type="http://schemas.openxmlformats.org/officeDocument/2006/relationships/image" Target="../media/image4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51.wmf"/><Relationship Id="rId1" Type="http://schemas.openxmlformats.org/officeDocument/2006/relationships/image" Target="../media/image50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4" cy="511731"/>
          </a:xfrm>
          <a:prstGeom prst="rect">
            <a:avLst/>
          </a:prstGeom>
        </p:spPr>
        <p:txBody>
          <a:bodyPr vert="horz" lIns="94647" tIns="47324" rIns="94647" bIns="47324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4021294" y="1"/>
            <a:ext cx="3076364" cy="511731"/>
          </a:xfrm>
          <a:prstGeom prst="rect">
            <a:avLst/>
          </a:prstGeom>
        </p:spPr>
        <p:txBody>
          <a:bodyPr vert="horz" lIns="94647" tIns="47324" rIns="94647" bIns="47324" rtlCol="0"/>
          <a:lstStyle>
            <a:lvl1pPr algn="r">
              <a:defRPr sz="1300"/>
            </a:lvl1pPr>
          </a:lstStyle>
          <a:p>
            <a:fld id="{A9E6AAFF-AF65-46D1-9936-2D3D95A7AC72}" type="datetimeFigureOut">
              <a:rPr kumimoji="1" lang="ja-JP" altLang="en-US" smtClean="0"/>
              <a:pPr/>
              <a:t>2007/6/5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4" cy="511731"/>
          </a:xfrm>
          <a:prstGeom prst="rect">
            <a:avLst/>
          </a:prstGeom>
        </p:spPr>
        <p:txBody>
          <a:bodyPr vert="horz" lIns="94647" tIns="47324" rIns="94647" bIns="47324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4" cy="511731"/>
          </a:xfrm>
          <a:prstGeom prst="rect">
            <a:avLst/>
          </a:prstGeom>
        </p:spPr>
        <p:txBody>
          <a:bodyPr vert="horz" lIns="94647" tIns="47324" rIns="94647" bIns="47324" rtlCol="0" anchor="b"/>
          <a:lstStyle>
            <a:lvl1pPr algn="r">
              <a:defRPr sz="1300"/>
            </a:lvl1pPr>
          </a:lstStyle>
          <a:p>
            <a:fld id="{0CED61C3-A9D7-4398-8795-74BE5C76F7FF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4" cy="511731"/>
          </a:xfrm>
          <a:prstGeom prst="rect">
            <a:avLst/>
          </a:prstGeom>
        </p:spPr>
        <p:txBody>
          <a:bodyPr vert="horz" lIns="94647" tIns="47324" rIns="94647" bIns="47324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4021294" y="1"/>
            <a:ext cx="3076364" cy="511731"/>
          </a:xfrm>
          <a:prstGeom prst="rect">
            <a:avLst/>
          </a:prstGeom>
        </p:spPr>
        <p:txBody>
          <a:bodyPr vert="horz" lIns="94647" tIns="47324" rIns="94647" bIns="47324" rtlCol="0"/>
          <a:lstStyle>
            <a:lvl1pPr algn="r">
              <a:defRPr sz="1300"/>
            </a:lvl1pPr>
          </a:lstStyle>
          <a:p>
            <a:fld id="{DB7BE76D-E786-47E6-A9C1-B35F18A0A9E4}" type="datetimeFigureOut">
              <a:rPr kumimoji="1" lang="ja-JP" altLang="en-US" smtClean="0"/>
              <a:pPr/>
              <a:t>2007/6/5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6512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47" tIns="47324" rIns="94647" bIns="47324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4647" tIns="47324" rIns="94647" bIns="47324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4" cy="511731"/>
          </a:xfrm>
          <a:prstGeom prst="rect">
            <a:avLst/>
          </a:prstGeom>
        </p:spPr>
        <p:txBody>
          <a:bodyPr vert="horz" lIns="94647" tIns="47324" rIns="94647" bIns="47324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4" cy="511731"/>
          </a:xfrm>
          <a:prstGeom prst="rect">
            <a:avLst/>
          </a:prstGeom>
        </p:spPr>
        <p:txBody>
          <a:bodyPr vert="horz" lIns="94647" tIns="47324" rIns="94647" bIns="47324" rtlCol="0" anchor="b"/>
          <a:lstStyle>
            <a:lvl1pPr algn="r">
              <a:defRPr sz="1300"/>
            </a:lvl1pPr>
          </a:lstStyle>
          <a:p>
            <a:fld id="{0CE0D8CC-7EBD-495E-937E-6E33AA5997D3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/>
              <a:t>I would like</a:t>
            </a:r>
            <a:r>
              <a:rPr kumimoji="1" lang="en-US" altLang="ja-JP" baseline="0" dirty="0" smtClean="0"/>
              <a:t> to talk about the longitudinal part of the spin program at RHIC-PHENIX.</a:t>
            </a:r>
          </a:p>
          <a:p>
            <a:r>
              <a:rPr kumimoji="1" lang="en-US" altLang="ja-JP" baseline="0" dirty="0" smtClean="0"/>
              <a:t>Transverse part will be covered by the next speaker.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E0D8CC-7EBD-495E-937E-6E33AA5997D3}" type="slidenum">
              <a:rPr kumimoji="1" lang="ja-JP" altLang="en-US" smtClean="0"/>
              <a:pPr/>
              <a:t>1</a:t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E0D8CC-7EBD-495E-937E-6E33AA5997D3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/>
              <a:t>Here I introduce</a:t>
            </a:r>
            <a:r>
              <a:rPr kumimoji="1" lang="en-US" altLang="ja-JP" baseline="0" dirty="0" smtClean="0"/>
              <a:t> the variable we measure for </a:t>
            </a:r>
            <a:r>
              <a:rPr kumimoji="1" lang="en-US" altLang="ja-JP" baseline="0" dirty="0" err="1" smtClean="0"/>
              <a:t>dG</a:t>
            </a:r>
            <a:r>
              <a:rPr kumimoji="1" lang="en-US" altLang="ja-JP" baseline="0" dirty="0" smtClean="0"/>
              <a:t> measurement which is “Double Helicity Asymmetry” ALL. Here I take pi0 as example but it can be calculated for various particles.</a:t>
            </a:r>
          </a:p>
          <a:p>
            <a:r>
              <a:rPr kumimoji="1" lang="en-US" altLang="ja-JP" dirty="0" smtClean="0"/>
              <a:t>ALL is defined as production x-sec asymmetry btw</a:t>
            </a:r>
            <a:r>
              <a:rPr kumimoji="1" lang="en-US" altLang="ja-JP" baseline="0" dirty="0" smtClean="0"/>
              <a:t> same helicity collisions and opposite helicity collisions. Pi0 is produced by </a:t>
            </a:r>
            <a:r>
              <a:rPr kumimoji="1" lang="en-US" altLang="ja-JP" baseline="0" dirty="0" err="1" smtClean="0"/>
              <a:t>gg,gq</a:t>
            </a:r>
            <a:r>
              <a:rPr kumimoji="1" lang="en-US" altLang="ja-JP" baseline="0" dirty="0" smtClean="0"/>
              <a:t> and </a:t>
            </a:r>
            <a:r>
              <a:rPr kumimoji="1" lang="en-US" altLang="ja-JP" baseline="0" dirty="0" err="1" smtClean="0"/>
              <a:t>qq</a:t>
            </a:r>
            <a:r>
              <a:rPr kumimoji="1" lang="en-US" altLang="ja-JP" baseline="0" dirty="0" smtClean="0"/>
              <a:t> scattering. ALL from </a:t>
            </a:r>
            <a:r>
              <a:rPr kumimoji="1" lang="en-US" altLang="ja-JP" baseline="0" dirty="0" err="1" smtClean="0"/>
              <a:t>gg</a:t>
            </a:r>
            <a:r>
              <a:rPr kumimoji="1" lang="en-US" altLang="ja-JP" baseline="0" dirty="0" smtClean="0"/>
              <a:t> scattering can be written as dg/g in proton times </a:t>
            </a:r>
            <a:r>
              <a:rPr kumimoji="1" lang="en-US" altLang="ja-JP" baseline="0" dirty="0" err="1" smtClean="0"/>
              <a:t>subprocess</a:t>
            </a:r>
            <a:r>
              <a:rPr kumimoji="1" lang="en-US" altLang="ja-JP" baseline="0" dirty="0" smtClean="0"/>
              <a:t> ALL. Others are similar. We know </a:t>
            </a:r>
            <a:r>
              <a:rPr kumimoji="1" lang="en-US" altLang="ja-JP" baseline="0" dirty="0" err="1" smtClean="0"/>
              <a:t>dq</a:t>
            </a:r>
            <a:r>
              <a:rPr kumimoji="1" lang="en-US" altLang="ja-JP" baseline="0" dirty="0" smtClean="0"/>
              <a:t> relatively well compared to </a:t>
            </a:r>
            <a:r>
              <a:rPr kumimoji="1" lang="en-US" altLang="ja-JP" baseline="0" dirty="0" err="1" smtClean="0"/>
              <a:t>dG</a:t>
            </a:r>
            <a:r>
              <a:rPr kumimoji="1" lang="en-US" altLang="ja-JP" baseline="0" dirty="0" smtClean="0"/>
              <a:t>, thus we can access </a:t>
            </a:r>
            <a:r>
              <a:rPr kumimoji="1" lang="en-US" altLang="ja-JP" baseline="0" dirty="0" err="1" smtClean="0"/>
              <a:t>dG</a:t>
            </a:r>
            <a:r>
              <a:rPr kumimoji="1" lang="en-US" altLang="ja-JP" baseline="0" dirty="0" smtClean="0"/>
              <a:t> by this variable.</a:t>
            </a:r>
          </a:p>
          <a:p>
            <a:r>
              <a:rPr kumimoji="1" lang="en-US" altLang="ja-JP" baseline="0" dirty="0" smtClean="0"/>
              <a:t>Experimentally ALL is calculated as …… . We need N:particle yield (of pi0 in this example), P:Beam polarization, R: Relative Luminosity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E0D8CC-7EBD-495E-937E-6E33AA5997D3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/>
              <a:t>Here I introduce RHIC, the</a:t>
            </a:r>
            <a:r>
              <a:rPr kumimoji="1" lang="en-US" altLang="ja-JP" baseline="0" dirty="0" smtClean="0"/>
              <a:t> world’s first polarized pp collider.</a:t>
            </a:r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E0D8CC-7EBD-495E-937E-6E33AA5997D3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E0D8CC-7EBD-495E-937E-6E33AA5997D3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E0D8CC-7EBD-495E-937E-6E33AA5997D3}" type="slidenum">
              <a:rPr kumimoji="1" lang="ja-JP" altLang="en-US" smtClean="0"/>
              <a:pPr/>
              <a:t>7</a:t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E0D8CC-7EBD-495E-937E-6E33AA5997D3}" type="slidenum">
              <a:rPr kumimoji="1" lang="ja-JP" altLang="en-US" smtClean="0"/>
              <a:pPr/>
              <a:t>8</a:t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/>
              <a:t>Here</a:t>
            </a:r>
            <a:r>
              <a:rPr kumimoji="1" lang="en-US" altLang="ja-JP" baseline="0" dirty="0" smtClean="0"/>
              <a:t> the red points are the measured ALL as a function of </a:t>
            </a:r>
            <a:r>
              <a:rPr kumimoji="1" lang="en-US" altLang="ja-JP" baseline="0" dirty="0" err="1" smtClean="0"/>
              <a:t>pT.</a:t>
            </a:r>
            <a:r>
              <a:rPr kumimoji="1" lang="en-US" altLang="ja-JP" baseline="0" dirty="0" smtClean="0"/>
              <a:t> compared to the four model predictions GRSV. GRSV-std is the best fit to </a:t>
            </a:r>
            <a:r>
              <a:rPr kumimoji="1" lang="en-US" altLang="ja-JP" baseline="0" dirty="0" err="1" smtClean="0"/>
              <a:t>pol</a:t>
            </a:r>
            <a:r>
              <a:rPr kumimoji="1" lang="en-US" altLang="ja-JP" baseline="0" dirty="0" smtClean="0"/>
              <a:t> DIS data. </a:t>
            </a:r>
            <a:r>
              <a:rPr kumimoji="1" lang="en-US" altLang="ja-JP" baseline="0" dirty="0" err="1" smtClean="0"/>
              <a:t>dG</a:t>
            </a:r>
            <a:r>
              <a:rPr kumimoji="1" lang="en-US" altLang="ja-JP" baseline="0" dirty="0" smtClean="0"/>
              <a:t>=</a:t>
            </a:r>
            <a:r>
              <a:rPr kumimoji="1" lang="en-US" altLang="ja-JP" baseline="0" dirty="0" err="1" smtClean="0"/>
              <a:t>unpol</a:t>
            </a:r>
            <a:r>
              <a:rPr kumimoji="1" lang="en-US" altLang="ja-JP" baseline="0" dirty="0" smtClean="0"/>
              <a:t> G(x),</a:t>
            </a:r>
            <a:r>
              <a:rPr kumimoji="1" lang="en-US" altLang="ja-JP" baseline="0" dirty="0" err="1" smtClean="0"/>
              <a:t>dG</a:t>
            </a:r>
            <a:r>
              <a:rPr kumimoji="1" lang="en-US" altLang="ja-JP" baseline="0" dirty="0" smtClean="0"/>
              <a:t>=0,dG=G(x) are also shown.</a:t>
            </a:r>
          </a:p>
          <a:p>
            <a:r>
              <a:rPr kumimoji="1" lang="en-US" altLang="ja-JP" baseline="0" dirty="0" err="1" smtClean="0"/>
              <a:t>dG</a:t>
            </a:r>
            <a:r>
              <a:rPr kumimoji="1" lang="en-US" altLang="ja-JP" baseline="0" dirty="0" smtClean="0"/>
              <a:t>=G,-G scenarios are ruled out. We extend our model comparison. This plot shows relation btw chi2 and the size of </a:t>
            </a:r>
            <a:r>
              <a:rPr kumimoji="1" lang="en-US" altLang="ja-JP" baseline="0" dirty="0" err="1" smtClean="0"/>
              <a:t>dG</a:t>
            </a:r>
            <a:r>
              <a:rPr kumimoji="1" lang="en-US" altLang="ja-JP" baseline="0" dirty="0" smtClean="0"/>
              <a:t>. 1</a:t>
            </a:r>
            <a:r>
              <a:rPr kumimoji="1" lang="en-US" altLang="ja-JP" baseline="30000" dirty="0" smtClean="0"/>
              <a:t>st</a:t>
            </a:r>
            <a:r>
              <a:rPr kumimoji="1" lang="en-US" altLang="ja-JP" baseline="0" dirty="0" smtClean="0"/>
              <a:t> moment of </a:t>
            </a:r>
            <a:r>
              <a:rPr kumimoji="1" lang="en-US" altLang="ja-JP" baseline="0" dirty="0" err="1" smtClean="0"/>
              <a:t>dG</a:t>
            </a:r>
            <a:r>
              <a:rPr kumimoji="1" lang="en-US" altLang="ja-JP" baseline="0" dirty="0" smtClean="0"/>
              <a:t> from the probed region(x: 0.02-0.3). Our data prefer small </a:t>
            </a:r>
            <a:r>
              <a:rPr kumimoji="1" lang="en-US" altLang="ja-JP" baseline="0" dirty="0" err="1" smtClean="0"/>
              <a:t>dG</a:t>
            </a:r>
            <a:r>
              <a:rPr kumimoji="1" lang="en-US" altLang="ja-JP" baseline="0" dirty="0" smtClean="0"/>
              <a:t>.</a:t>
            </a:r>
            <a:endParaRPr kumimoji="1" lang="en-US" altLang="ja-JP" dirty="0" smtClean="0"/>
          </a:p>
          <a:p>
            <a:endParaRPr kumimoji="1" lang="en-US" altLang="ja-JP" dirty="0" smtClean="0"/>
          </a:p>
          <a:p>
            <a:r>
              <a:rPr kumimoji="1" lang="en-US" altLang="ja-JP" dirty="0" smtClean="0"/>
              <a:t>-0.9 ~</a:t>
            </a:r>
            <a:r>
              <a:rPr kumimoji="1" lang="en-US" altLang="ja-JP" baseline="0" dirty="0" smtClean="0"/>
              <a:t> 0.5  --- 3sigma</a:t>
            </a:r>
          </a:p>
          <a:p>
            <a:r>
              <a:rPr kumimoji="1" lang="en-US" altLang="ja-JP" baseline="0" dirty="0" smtClean="0"/>
              <a:t>0.07 ~ 0.3  --- 1sigma</a:t>
            </a:r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E0D8CC-7EBD-495E-937E-6E33AA5997D3}" type="slidenum">
              <a:rPr kumimoji="1" lang="ja-JP" altLang="en-US" smtClean="0"/>
              <a:pPr/>
              <a:t>11</a:t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smtClean="0"/>
              <a:t>Various channels</a:t>
            </a:r>
            <a:r>
              <a:rPr kumimoji="1" lang="en-US" altLang="ja-JP" baseline="0" dirty="0" smtClean="0"/>
              <a:t> are available at PHENIX to explore </a:t>
            </a:r>
            <a:r>
              <a:rPr kumimoji="1" lang="en-US" altLang="ja-JP" baseline="0" dirty="0" err="1" smtClean="0"/>
              <a:t>dG</a:t>
            </a:r>
            <a:r>
              <a:rPr kumimoji="1" lang="en-US" altLang="ja-JP" baseline="0" dirty="0" smtClean="0"/>
              <a:t>.</a:t>
            </a:r>
          </a:p>
          <a:p>
            <a:r>
              <a:rPr kumimoji="1" lang="en-US" altLang="ja-JP" baseline="0" dirty="0" smtClean="0"/>
              <a:t>For example, jet or a component of jet. Pi0 is one of this. Where </a:t>
            </a:r>
            <a:r>
              <a:rPr kumimoji="1" lang="en-US" altLang="ja-JP" baseline="0" dirty="0" err="1" smtClean="0"/>
              <a:t>gg</a:t>
            </a:r>
            <a:r>
              <a:rPr kumimoji="1" lang="en-US" altLang="ja-JP" baseline="0" dirty="0" smtClean="0"/>
              <a:t> scat. dominates, </a:t>
            </a:r>
            <a:r>
              <a:rPr kumimoji="1" lang="en-US" altLang="ja-JP" baseline="0" dirty="0" err="1" smtClean="0"/>
              <a:t>dG</a:t>
            </a:r>
            <a:r>
              <a:rPr kumimoji="1" lang="en-US" altLang="ja-JP" baseline="0" dirty="0" smtClean="0"/>
              <a:t> enters </a:t>
            </a:r>
            <a:r>
              <a:rPr kumimoji="1" lang="en-US" altLang="ja-JP" baseline="0" dirty="0" err="1" smtClean="0"/>
              <a:t>dG</a:t>
            </a:r>
            <a:r>
              <a:rPr kumimoji="1" lang="en-US" altLang="ja-JP" baseline="0" dirty="0" smtClean="0"/>
              <a:t>*</a:t>
            </a:r>
            <a:r>
              <a:rPr kumimoji="1" lang="en-US" altLang="ja-JP" baseline="0" dirty="0" err="1" smtClean="0"/>
              <a:t>dG</a:t>
            </a:r>
            <a:r>
              <a:rPr kumimoji="1" lang="en-US" altLang="ja-JP" baseline="0" dirty="0" smtClean="0"/>
              <a:t> which makes ALL insensitive to sign of </a:t>
            </a:r>
            <a:r>
              <a:rPr kumimoji="1" lang="en-US" altLang="ja-JP" baseline="0" dirty="0" err="1" smtClean="0"/>
              <a:t>dG</a:t>
            </a:r>
            <a:r>
              <a:rPr kumimoji="1" lang="en-US" altLang="ja-JP" baseline="0" dirty="0" smtClean="0"/>
              <a:t>.</a:t>
            </a:r>
          </a:p>
          <a:p>
            <a:r>
              <a:rPr kumimoji="1" lang="en-US" altLang="ja-JP" baseline="0" dirty="0" smtClean="0"/>
              <a:t>The ratio btw </a:t>
            </a:r>
            <a:r>
              <a:rPr kumimoji="1" lang="en-US" altLang="ja-JP" baseline="0" dirty="0" err="1" smtClean="0"/>
              <a:t>gg,qg,qq</a:t>
            </a:r>
            <a:r>
              <a:rPr kumimoji="1" lang="en-US" altLang="ja-JP" baseline="0" dirty="0" smtClean="0"/>
              <a:t> scat differs with different final state particle like pi0,pi+pi-. And also differs with different </a:t>
            </a:r>
            <a:r>
              <a:rPr kumimoji="1" lang="en-US" altLang="ja-JP" baseline="0" dirty="0" err="1" smtClean="0"/>
              <a:t>pT.</a:t>
            </a:r>
            <a:r>
              <a:rPr kumimoji="1" lang="en-US" altLang="ja-JP" baseline="0" dirty="0" smtClean="0"/>
              <a:t> Combining these information will give us information on sign of </a:t>
            </a:r>
            <a:r>
              <a:rPr kumimoji="1" lang="en-US" altLang="ja-JP" baseline="0" dirty="0" err="1" smtClean="0"/>
              <a:t>dG</a:t>
            </a:r>
            <a:r>
              <a:rPr kumimoji="1" lang="en-US" altLang="ja-JP" baseline="0" dirty="0" smtClean="0"/>
              <a:t>.</a:t>
            </a:r>
          </a:p>
          <a:p>
            <a:r>
              <a:rPr kumimoji="1" lang="en-US" altLang="ja-JP" baseline="0" dirty="0" smtClean="0"/>
              <a:t>Thus they are </a:t>
            </a:r>
            <a:r>
              <a:rPr kumimoji="1" lang="en-US" altLang="ja-JP" baseline="0" dirty="0" err="1" smtClean="0"/>
              <a:t>imortant</a:t>
            </a:r>
            <a:r>
              <a:rPr kumimoji="1" lang="en-US" altLang="ja-JP" baseline="0" dirty="0" smtClean="0"/>
              <a:t>.</a:t>
            </a:r>
          </a:p>
          <a:p>
            <a:r>
              <a:rPr kumimoji="1" lang="en-US" altLang="ja-JP" baseline="0" dirty="0" smtClean="0"/>
              <a:t>Direct g, </a:t>
            </a:r>
            <a:r>
              <a:rPr kumimoji="1" lang="en-US" altLang="ja-JP" baseline="0" dirty="0" err="1" smtClean="0"/>
              <a:t>qg</a:t>
            </a:r>
            <a:r>
              <a:rPr kumimoji="1" lang="en-US" altLang="ja-JP" baseline="0" dirty="0" smtClean="0"/>
              <a:t> scattering is free from sign problem, and from FF. so clean.</a:t>
            </a:r>
          </a:p>
          <a:p>
            <a:r>
              <a:rPr kumimoji="1" lang="en-US" altLang="ja-JP" baseline="0" dirty="0" smtClean="0"/>
              <a:t>Heavy flavor can be used either open charm, or closed charm.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E0D8CC-7EBD-495E-937E-6E33AA5997D3}" type="slidenum">
              <a:rPr kumimoji="1" lang="ja-JP" altLang="en-US" smtClean="0"/>
              <a:pPr/>
              <a:t>14</a:t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E0D8CC-7EBD-495E-937E-6E33AA5997D3}" type="slidenum">
              <a:rPr kumimoji="1" lang="ja-JP" altLang="en-US" smtClean="0"/>
              <a:pPr/>
              <a:t>15</a:t>
            </a:fld>
            <a:endParaRPr kumimoji="1" lang="ja-JP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E0D8CC-7EBD-495E-937E-6E33AA5997D3}" type="slidenum">
              <a:rPr kumimoji="1" lang="ja-JP" altLang="en-US" smtClean="0"/>
              <a:pPr/>
              <a:t>22</a:t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スライド番号プレースホルダ 9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&lt;#&gt;</a:t>
            </a:fld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9" name="日付プレースホルダ 8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A6A02-4505-4C8E-B19D-EFED04C69932}" type="datetime1">
              <a:rPr lang="ja-JP" altLang="en-US" smtClean="0"/>
              <a:pPr/>
              <a:t>2007/6/5</a:t>
            </a:fld>
            <a:endParaRPr lang="ja-JP" altLang="en-US" dirty="0"/>
          </a:p>
        </p:txBody>
      </p:sp>
      <p:sp>
        <p:nvSpPr>
          <p:cNvPr id="11" name="フッター プレースホルダ 10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ja-JP" smtClean="0"/>
              <a:t>K.Aoki (Kyoto Univ. / RIKEN)</a:t>
            </a:r>
            <a:endParaRPr lang="ja-JP" altLang="en-US" dirty="0"/>
          </a:p>
        </p:txBody>
      </p:sp>
      <p:sp>
        <p:nvSpPr>
          <p:cNvPr id="12" name="タイトル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fld id="{28758988-A9EE-45CF-BA81-F8B356D6BBF6}" type="datetime1">
              <a:rPr lang="ja-JP" altLang="en-US" smtClean="0"/>
              <a:pPr/>
              <a:t>2007/6/5</a:t>
            </a:fld>
            <a:endParaRPr lang="ja-JP" altLang="en-US" dirty="0" smtClean="0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dirty="0" err="1" smtClean="0"/>
              <a:t>K.Aoki</a:t>
            </a:r>
            <a:r>
              <a:rPr lang="en-US" altLang="ja-JP" dirty="0" smtClean="0"/>
              <a:t> (Kyoto Univ. / RIKEN)</a:t>
            </a:r>
            <a:endParaRPr lang="ja-JP" altLang="en-US" dirty="0" smtClean="0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50826-AF0B-4409-A1C2-9023793553E5}" type="datetime1">
              <a:rPr kumimoji="1" lang="ja-JP" altLang="en-US" smtClean="0"/>
              <a:pPr/>
              <a:t>2007/6/5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smtClean="0"/>
              <a:t>K.Aoki (Kyoto Univ. / RIKEN)</a:t>
            </a:r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DEDB2-342D-414A-8006-0FB276969ADE}" type="datetime1">
              <a:rPr kumimoji="1" lang="ja-JP" altLang="en-US" smtClean="0"/>
              <a:pPr/>
              <a:t>2007/6/5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smtClean="0"/>
              <a:t>K.Aoki (Kyoto Univ. / RIKEN)</a:t>
            </a:r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1F4A2-649F-4B11-B01E-2680FBA1D95B}" type="datetime1">
              <a:rPr kumimoji="1" lang="ja-JP" altLang="en-US" smtClean="0"/>
              <a:pPr/>
              <a:t>2007/6/5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smtClean="0"/>
              <a:t>K.Aoki (Kyoto Univ. / RIKEN)</a:t>
            </a:r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F418C-7A7D-4C06-8D29-7F92D93BE5CC}" type="datetime1">
              <a:rPr kumimoji="1" lang="ja-JP" altLang="en-US" smtClean="0"/>
              <a:pPr/>
              <a:t>2007/6/5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smtClean="0"/>
              <a:t>K.Aoki (Kyoto Univ. / RIKEN)</a:t>
            </a:r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86AE7B-A17E-4642-B42F-3D1A5533F9E5}" type="datetime1">
              <a:rPr kumimoji="1" lang="ja-JP" altLang="en-US" smtClean="0"/>
              <a:pPr/>
              <a:t>2007/6/5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smtClean="0"/>
              <a:t>K.Aoki (Kyoto Univ. / RIKEN)</a:t>
            </a:r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17F55-93A8-43A1-8863-52C5C514212A}" type="datetime1">
              <a:rPr kumimoji="1" lang="ja-JP" altLang="en-US" smtClean="0"/>
              <a:pPr/>
              <a:t>2007/6/5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smtClean="0"/>
              <a:t>K.Aoki (Kyoto Univ. / RIKEN)</a:t>
            </a:r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40109-3B9F-4CBB-BD11-8A6A49C3FA36}" type="datetime1">
              <a:rPr kumimoji="1" lang="ja-JP" altLang="en-US" smtClean="0"/>
              <a:pPr/>
              <a:t>2007/6/5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smtClean="0"/>
              <a:t>K.Aoki (Kyoto Univ. / RIKEN)</a:t>
            </a:r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2B3A-23EA-4807-9F79-DE02A7C95D67}" type="datetime1">
              <a:rPr kumimoji="1" lang="ja-JP" altLang="en-US" smtClean="0"/>
              <a:pPr/>
              <a:t>2007/6/5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smtClean="0"/>
              <a:t>K.Aoki (Kyoto Univ. / RIKEN)</a:t>
            </a:r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F49B7-0006-43AF-9838-9BE97BB53AE8}" type="datetime1">
              <a:rPr kumimoji="1" lang="ja-JP" altLang="en-US" smtClean="0"/>
              <a:pPr/>
              <a:t>2007/6/5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smtClean="0"/>
              <a:t>K.Aoki (Kyoto Univ. / RIKEN)</a:t>
            </a:r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&lt;#&gt;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Documents and Settings\aoki\デスクトップ\phenix_288x94.gif"/>
          <p:cNvPicPr>
            <a:picLocks noChangeAspect="1" noChangeArrowheads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7858148" y="6509815"/>
            <a:ext cx="1066782" cy="348185"/>
          </a:xfrm>
          <a:prstGeom prst="rect">
            <a:avLst/>
          </a:prstGeom>
          <a:noFill/>
        </p:spPr>
      </p:pic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492D81-B0AF-4E07-922B-F0CCD00DE4AA}" type="datetime1">
              <a:rPr lang="ja-JP" altLang="en-US" smtClean="0"/>
              <a:pPr/>
              <a:t>2007/6/5</a:t>
            </a:fld>
            <a:endParaRPr lang="ja-JP" altLang="en-US" dirty="0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43240" y="6643710"/>
            <a:ext cx="2895600" cy="2142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ja-JP" dirty="0" err="1" smtClean="0"/>
              <a:t>K.Aoki</a:t>
            </a:r>
            <a:r>
              <a:rPr lang="en-US" altLang="ja-JP" dirty="0" smtClean="0"/>
              <a:t> ( Kyoto Univ. / RIKEN )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7010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5F3110-F728-4192-B7F3-184C79F3D47D}" type="slidenum">
              <a:rPr kumimoji="1" lang="ja-JP" altLang="en-US" smtClean="0"/>
              <a:pPr/>
              <a:t>&lt;#&gt;</a:t>
            </a:fld>
            <a:endParaRPr kumimoji="1" lang="ja-JP" altLang="en-US" dirty="0"/>
          </a:p>
        </p:txBody>
      </p:sp>
      <p:pic>
        <p:nvPicPr>
          <p:cNvPr id="8" name="Picture 2" descr="D:\Documents and Settings\aoki\デスクトップ\inpc2007_top_title.jpg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0" y="6512422"/>
            <a:ext cx="3071802" cy="345578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1.png"/><Relationship Id="rId4" Type="http://schemas.openxmlformats.org/officeDocument/2006/relationships/image" Target="../media/image10.jpeg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eg"/><Relationship Id="rId7" Type="http://schemas.openxmlformats.org/officeDocument/2006/relationships/image" Target="../media/image16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gif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jpeg"/><Relationship Id="rId7" Type="http://schemas.openxmlformats.org/officeDocument/2006/relationships/image" Target="../media/image16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jpe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oleObject" Target="../embeddings/oleObject5.bin"/><Relationship Id="rId2" Type="http://schemas.openxmlformats.org/officeDocument/2006/relationships/tags" Target="../tags/tag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gif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6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5.png"/><Relationship Id="rId2" Type="http://schemas.openxmlformats.org/officeDocument/2006/relationships/tags" Target="../tags/tag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jpeg"/><Relationship Id="rId5" Type="http://schemas.openxmlformats.org/officeDocument/2006/relationships/image" Target="../media/image11.png"/><Relationship Id="rId10" Type="http://schemas.openxmlformats.org/officeDocument/2006/relationships/oleObject" Target="../embeddings/oleObject8.bin"/><Relationship Id="rId4" Type="http://schemas.openxmlformats.org/officeDocument/2006/relationships/notesSlide" Target="../notesSlides/notesSlide9.xml"/><Relationship Id="rId9" Type="http://schemas.openxmlformats.org/officeDocument/2006/relationships/oleObject" Target="../embeddings/oleObject7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40.jpeg"/><Relationship Id="rId4" Type="http://schemas.openxmlformats.org/officeDocument/2006/relationships/image" Target="../media/image3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42.jpeg"/><Relationship Id="rId4" Type="http://schemas.openxmlformats.org/officeDocument/2006/relationships/image" Target="../media/image22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oleObject" Target="../embeddings/oleObject12.bin"/><Relationship Id="rId4" Type="http://schemas.openxmlformats.org/officeDocument/2006/relationships/oleObject" Target="../embeddings/oleObject11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48.emf"/><Relationship Id="rId4" Type="http://schemas.openxmlformats.org/officeDocument/2006/relationships/oleObject" Target="../embeddings/oleObject13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7.bin"/><Relationship Id="rId5" Type="http://schemas.openxmlformats.org/officeDocument/2006/relationships/oleObject" Target="../embeddings/oleObject16.bin"/><Relationship Id="rId4" Type="http://schemas.openxmlformats.org/officeDocument/2006/relationships/oleObject" Target="../embeddings/oleObject15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サブタイトル 1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686072"/>
          </a:xfrm>
        </p:spPr>
        <p:txBody>
          <a:bodyPr>
            <a:normAutofit lnSpcReduction="10000"/>
          </a:bodyPr>
          <a:lstStyle/>
          <a:p>
            <a:r>
              <a:rPr kumimoji="1" lang="en-US" altLang="ja-JP" dirty="0" err="1" smtClean="0"/>
              <a:t>K.Aoki</a:t>
            </a:r>
            <a:r>
              <a:rPr kumimoji="1" lang="en-US" altLang="ja-JP" dirty="0" smtClean="0"/>
              <a:t> for the PHENIX Collaboration</a:t>
            </a:r>
          </a:p>
          <a:p>
            <a:r>
              <a:rPr lang="en-US" altLang="ja-JP" dirty="0" smtClean="0"/>
              <a:t>Kyoto Univ. / </a:t>
            </a:r>
            <a:r>
              <a:rPr lang="en-US" altLang="ja-JP" dirty="0" smtClean="0"/>
              <a:t>RIKEN </a:t>
            </a:r>
            <a:r>
              <a:rPr lang="en-US" altLang="ja-JP" dirty="0" err="1" smtClean="0"/>
              <a:t>Nishina</a:t>
            </a:r>
            <a:r>
              <a:rPr lang="en-US" altLang="ja-JP" dirty="0" smtClean="0"/>
              <a:t> center</a:t>
            </a:r>
          </a:p>
          <a:p>
            <a:endParaRPr lang="en-US" altLang="ja-JP" dirty="0" smtClean="0"/>
          </a:p>
          <a:p>
            <a:endParaRPr kumimoji="1" lang="en-US" altLang="ja-JP" dirty="0" smtClean="0"/>
          </a:p>
          <a:p>
            <a:r>
              <a:rPr kumimoji="1" lang="en-US" altLang="ja-JP" dirty="0" smtClean="0"/>
              <a:t>INPC2007   </a:t>
            </a:r>
            <a:r>
              <a:rPr kumimoji="1" lang="en-US" altLang="ja-JP" dirty="0" smtClean="0"/>
              <a:t>Tokyo, Japan</a:t>
            </a:r>
            <a:endParaRPr kumimoji="1" lang="ja-JP" altLang="en-US" dirty="0"/>
          </a:p>
        </p:txBody>
      </p:sp>
      <p:sp>
        <p:nvSpPr>
          <p:cNvPr id="3" name="タイトル 2"/>
          <p:cNvSpPr>
            <a:spLocks noGrp="1"/>
          </p:cNvSpPr>
          <p:nvPr>
            <p:ph type="title"/>
          </p:nvPr>
        </p:nvSpPr>
        <p:spPr>
          <a:xfrm>
            <a:off x="428596" y="1857364"/>
            <a:ext cx="8229600" cy="1511288"/>
          </a:xfrm>
        </p:spPr>
        <p:txBody>
          <a:bodyPr>
            <a:normAutofit/>
          </a:bodyPr>
          <a:lstStyle/>
          <a:p>
            <a:r>
              <a:rPr kumimoji="1" lang="en-US" altLang="ja-JP" dirty="0" smtClean="0"/>
              <a:t>(longitudinal) Spin Program at</a:t>
            </a:r>
            <a:br>
              <a:rPr kumimoji="1" lang="en-US" altLang="ja-JP" dirty="0" smtClean="0"/>
            </a:br>
            <a:r>
              <a:rPr lang="en-US" altLang="ja-JP" dirty="0" smtClean="0"/>
              <a:t>RHIC-PHENIX</a:t>
            </a:r>
            <a:endParaRPr kumimoji="1" lang="ja-JP" altLang="en-US" dirty="0"/>
          </a:p>
        </p:txBody>
      </p:sp>
      <p:pic>
        <p:nvPicPr>
          <p:cNvPr id="23553" name="Picture 1" descr="D:\Documents and Settings\aoki\デスクトップ\Image2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14810" y="5143512"/>
            <a:ext cx="2214578" cy="730081"/>
          </a:xfrm>
          <a:prstGeom prst="rect">
            <a:avLst/>
          </a:prstGeom>
          <a:noFill/>
        </p:spPr>
      </p:pic>
      <p:pic>
        <p:nvPicPr>
          <p:cNvPr id="23554" name="Picture 2" descr="D:\Documents and Settings\aoki\デスクトップ\Image1.gi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00298" y="4857760"/>
            <a:ext cx="1285884" cy="127333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229600" cy="785818"/>
          </a:xfrm>
        </p:spPr>
        <p:txBody>
          <a:bodyPr>
            <a:normAutofit/>
          </a:bodyPr>
          <a:lstStyle/>
          <a:p>
            <a:r>
              <a:rPr kumimoji="1" lang="en-US" altLang="ja-JP" dirty="0" smtClean="0"/>
              <a:t>Introduction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0" y="857232"/>
            <a:ext cx="9144000" cy="5643602"/>
          </a:xfrm>
        </p:spPr>
        <p:txBody>
          <a:bodyPr>
            <a:normAutofit fontScale="92500"/>
          </a:bodyPr>
          <a:lstStyle/>
          <a:p>
            <a:r>
              <a:rPr kumimoji="1" lang="en-US" altLang="ja-JP" dirty="0" smtClean="0"/>
              <a:t>Proton has spin ½</a:t>
            </a:r>
          </a:p>
          <a:p>
            <a:pPr lvl="1"/>
            <a:r>
              <a:rPr lang="en-US" altLang="ja-JP" dirty="0" smtClean="0"/>
              <a:t>Its decomposition still not yet understood well.</a:t>
            </a:r>
          </a:p>
          <a:p>
            <a:pPr lvl="2"/>
            <a:r>
              <a:rPr lang="en-US" altLang="ja-JP" dirty="0" smtClean="0"/>
              <a:t>Quark spin carries only ~30% of proton spin. – “proton spin puzzle”</a:t>
            </a:r>
          </a:p>
          <a:p>
            <a:pPr lvl="2"/>
            <a:r>
              <a:rPr lang="en-US" altLang="ja-JP" dirty="0" smtClean="0"/>
              <a:t>The rest should come from gluon spin, and orbital angular momentum of quarks and gluons.</a:t>
            </a:r>
          </a:p>
          <a:p>
            <a:r>
              <a:rPr kumimoji="1" lang="en-US" altLang="ja-JP" dirty="0" smtClean="0"/>
              <a:t>PHENIX longitudinal spin program</a:t>
            </a:r>
          </a:p>
          <a:p>
            <a:pPr lvl="1"/>
            <a:r>
              <a:rPr lang="en-US" altLang="ja-JP" dirty="0" smtClean="0"/>
              <a:t>Reveal the spin structure of proton, especially </a:t>
            </a:r>
            <a:r>
              <a:rPr lang="en-US" altLang="ja-JP" i="1" dirty="0" smtClean="0">
                <a:latin typeface="Symbol" pitchFamily="18" charset="2"/>
              </a:rPr>
              <a:t>D</a:t>
            </a:r>
            <a:r>
              <a:rPr lang="en-US" altLang="ja-JP" i="1" dirty="0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ja-JP" dirty="0" smtClean="0"/>
              <a:t> (gluon spin contribution to the proton) which still has large </a:t>
            </a:r>
            <a:r>
              <a:rPr lang="en-US" altLang="ja-JP" dirty="0" err="1" smtClean="0"/>
              <a:t>uncertaninty</a:t>
            </a:r>
            <a:r>
              <a:rPr lang="en-US" altLang="ja-JP" dirty="0" smtClean="0"/>
              <a:t>.</a:t>
            </a:r>
          </a:p>
          <a:p>
            <a:pPr lvl="1"/>
            <a:r>
              <a:rPr lang="en-US" altLang="ja-JP" dirty="0" smtClean="0"/>
              <a:t>Through “Double Helicity Asymmetry(A</a:t>
            </a:r>
            <a:r>
              <a:rPr lang="en-US" altLang="ja-JP" baseline="-25000" dirty="0" smtClean="0"/>
              <a:t>LL</a:t>
            </a:r>
            <a:r>
              <a:rPr lang="en-US" altLang="ja-JP" dirty="0" smtClean="0"/>
              <a:t>)” of particle production (such as </a:t>
            </a:r>
            <a:r>
              <a:rPr lang="en-US" altLang="ja-JP" dirty="0" smtClean="0">
                <a:latin typeface="Symbol" pitchFamily="18" charset="2"/>
              </a:rPr>
              <a:t>p</a:t>
            </a:r>
            <a:r>
              <a:rPr lang="en-US" altLang="ja-JP" baseline="30000" dirty="0" smtClean="0"/>
              <a:t>0</a:t>
            </a:r>
            <a:r>
              <a:rPr lang="en-US" altLang="ja-JP" dirty="0" smtClean="0"/>
              <a:t>) in </a:t>
            </a:r>
            <a:r>
              <a:rPr lang="en-US" altLang="ja-JP" dirty="0" err="1" smtClean="0"/>
              <a:t>pol</a:t>
            </a:r>
            <a:r>
              <a:rPr lang="en-US" altLang="ja-JP" dirty="0" smtClean="0"/>
              <a:t> </a:t>
            </a:r>
            <a:r>
              <a:rPr lang="en-US" altLang="ja-JP" i="1" dirty="0" smtClean="0"/>
              <a:t>pp</a:t>
            </a:r>
            <a:r>
              <a:rPr lang="en-US" altLang="ja-JP" dirty="0" smtClean="0"/>
              <a:t> collisions</a:t>
            </a:r>
          </a:p>
          <a:p>
            <a:pPr lvl="2"/>
            <a:r>
              <a:rPr lang="en-US" altLang="ja-JP" dirty="0" smtClean="0"/>
              <a:t>gluons participate in </a:t>
            </a:r>
            <a:r>
              <a:rPr lang="en-US" altLang="ja-JP" u="sng" dirty="0" smtClean="0"/>
              <a:t>leading order</a:t>
            </a:r>
            <a:r>
              <a:rPr lang="en-US" altLang="ja-JP" dirty="0" smtClean="0"/>
              <a:t>. suitable to probe gluon spin!</a:t>
            </a:r>
          </a:p>
          <a:p>
            <a:r>
              <a:rPr kumimoji="1" lang="en-US" altLang="ja-JP" dirty="0" smtClean="0"/>
              <a:t>RHIC -- the world’s first polarized </a:t>
            </a:r>
            <a:r>
              <a:rPr kumimoji="1" lang="en-US" altLang="ja-JP" i="1" dirty="0" smtClean="0"/>
              <a:t>pp</a:t>
            </a:r>
            <a:r>
              <a:rPr kumimoji="1" lang="en-US" altLang="ja-JP" dirty="0" smtClean="0"/>
              <a:t> collider </a:t>
            </a:r>
            <a:endParaRPr kumimoji="1" lang="ja-JP" altLang="en-US" dirty="0"/>
          </a:p>
        </p:txBody>
      </p:sp>
      <p:pic>
        <p:nvPicPr>
          <p:cNvPr id="1027" name="Picture 3" descr="D:\Documents and Settings\aoki\デスクトップ\Image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5660" y="0"/>
            <a:ext cx="2288340" cy="1785926"/>
          </a:xfrm>
          <a:prstGeom prst="rect">
            <a:avLst/>
          </a:prstGeom>
          <a:noFill/>
        </p:spPr>
      </p:pic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dirty="0" err="1" smtClean="0"/>
              <a:t>K.Aoki</a:t>
            </a:r>
            <a:r>
              <a:rPr lang="en-US" altLang="ja-JP" dirty="0" smtClean="0"/>
              <a:t> (Kyoto Univ. / RIKEN)</a:t>
            </a:r>
            <a:endParaRPr lang="ja-JP" altLang="en-US" dirty="0" smtClean="0"/>
          </a:p>
        </p:txBody>
      </p:sp>
      <p:sp>
        <p:nvSpPr>
          <p:cNvPr id="10" name="スライド番号プレースホル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2</a:t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 smtClean="0"/>
              <a:t>A</a:t>
            </a:r>
            <a:r>
              <a:rPr kumimoji="1" lang="en-US" altLang="ja-JP" baseline="-25000" dirty="0" smtClean="0"/>
              <a:t>LL</a:t>
            </a:r>
            <a:r>
              <a:rPr kumimoji="1" lang="en-US" altLang="ja-JP" dirty="0" smtClean="0"/>
              <a:t> (of </a:t>
            </a:r>
            <a:r>
              <a:rPr kumimoji="1" lang="en-US" altLang="ja-JP" dirty="0" smtClean="0">
                <a:latin typeface="Symbol" pitchFamily="18" charset="2"/>
              </a:rPr>
              <a:t>p</a:t>
            </a:r>
            <a:r>
              <a:rPr kumimoji="1" lang="en-US" altLang="ja-JP" baseline="30000" dirty="0" smtClean="0"/>
              <a:t>0</a:t>
            </a:r>
            <a:r>
              <a:rPr kumimoji="1" lang="en-US" altLang="ja-JP" dirty="0" smtClean="0"/>
              <a:t>)</a:t>
            </a:r>
            <a:r>
              <a:rPr lang="en-US" altLang="ja-JP" dirty="0" smtClean="0"/>
              <a:t> in pol. </a:t>
            </a:r>
            <a:r>
              <a:rPr lang="en-US" altLang="ja-JP" i="1" dirty="0" smtClean="0"/>
              <a:t>pp</a:t>
            </a:r>
            <a:r>
              <a:rPr lang="en-US" altLang="ja-JP" dirty="0" smtClean="0"/>
              <a:t> collisions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857224" y="5143512"/>
            <a:ext cx="4157666" cy="1268403"/>
          </a:xfrm>
        </p:spPr>
        <p:txBody>
          <a:bodyPr>
            <a:normAutofit fontScale="85000" lnSpcReduction="20000"/>
          </a:bodyPr>
          <a:lstStyle/>
          <a:p>
            <a:r>
              <a:rPr kumimoji="1" lang="en-US" altLang="ja-JP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kumimoji="1" lang="en-US" altLang="ja-JP" dirty="0" smtClean="0"/>
              <a:t>: particle yield</a:t>
            </a:r>
          </a:p>
          <a:p>
            <a:r>
              <a:rPr kumimoji="1" lang="en-US" altLang="ja-JP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kumimoji="1" lang="en-US" altLang="ja-JP" dirty="0" smtClean="0"/>
              <a:t>: polarization of beams</a:t>
            </a:r>
            <a:endParaRPr lang="en-US" altLang="ja-JP" dirty="0"/>
          </a:p>
          <a:p>
            <a:r>
              <a:rPr kumimoji="1" lang="en-US" altLang="ja-JP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kumimoji="1" lang="en-US" altLang="ja-JP" dirty="0" smtClean="0"/>
              <a:t>: Relative Luminosity</a:t>
            </a:r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>
          <a:xfrm>
            <a:off x="3434420" y="6643710"/>
            <a:ext cx="2604420" cy="214290"/>
          </a:xfrm>
        </p:spPr>
        <p:txBody>
          <a:bodyPr/>
          <a:lstStyle/>
          <a:p>
            <a:r>
              <a:rPr lang="en-US" altLang="ja-JP" smtClean="0"/>
              <a:t>K.Aoki (Kyoto Univ. / RIKEN)</a:t>
            </a:r>
            <a:endParaRPr lang="ja-JP" altLang="en-US" dirty="0" smtClean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3</a:t>
            </a:fld>
            <a:endParaRPr kumimoji="1" lang="ja-JP" altLang="en-US"/>
          </a:p>
        </p:txBody>
      </p:sp>
      <p:pic>
        <p:nvPicPr>
          <p:cNvPr id="19458" name="Picture 2" descr="Image4"/>
          <p:cNvPicPr>
            <a:picLocks noChangeAspect="1" noChangeArrowheads="1"/>
          </p:cNvPicPr>
          <p:nvPr/>
        </p:nvPicPr>
        <p:blipFill>
          <a:blip r:embed="rId4"/>
          <a:srcRect b="50819"/>
          <a:stretch>
            <a:fillRect/>
          </a:stretch>
        </p:blipFill>
        <p:spPr bwMode="auto">
          <a:xfrm>
            <a:off x="-2214610" y="2357430"/>
            <a:ext cx="1981200" cy="660400"/>
          </a:xfrm>
          <a:prstGeom prst="rect">
            <a:avLst/>
          </a:prstGeom>
          <a:noFill/>
        </p:spPr>
      </p:pic>
      <p:pic>
        <p:nvPicPr>
          <p:cNvPr id="19459" name="Picture 3" descr="Image4"/>
          <p:cNvPicPr>
            <a:picLocks noChangeAspect="1" noChangeArrowheads="1"/>
          </p:cNvPicPr>
          <p:nvPr/>
        </p:nvPicPr>
        <p:blipFill>
          <a:blip r:embed="rId4"/>
          <a:srcRect t="49181"/>
          <a:stretch>
            <a:fillRect/>
          </a:stretch>
        </p:blipFill>
        <p:spPr bwMode="auto">
          <a:xfrm>
            <a:off x="-2214610" y="1674805"/>
            <a:ext cx="2057400" cy="708025"/>
          </a:xfrm>
          <a:prstGeom prst="rect">
            <a:avLst/>
          </a:prstGeom>
          <a:noFill/>
        </p:spPr>
      </p:pic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-2932147" y="2509830"/>
            <a:ext cx="8286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ymbol" pitchFamily="18" charset="2"/>
                <a:ea typeface="ＭＳ Ｐゴシック" pitchFamily="50" charset="-128"/>
              </a:rPr>
              <a:t>s</a:t>
            </a:r>
            <a:r>
              <a:rPr kumimoji="1" lang="en-US" altLang="ja-JP" sz="2800" b="0" i="0" u="none" strike="noStrike" cap="none" normalizeH="0" baseline="-2500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+-</a:t>
            </a:r>
            <a:r>
              <a:rPr kumimoji="1" lang="en-US" altLang="ja-JP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=</a:t>
            </a:r>
            <a:endParaRPr kumimoji="1" lang="ja-JP" alt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6215074" y="928670"/>
            <a:ext cx="914400" cy="990600"/>
          </a:xfrm>
          <a:prstGeom prst="rect">
            <a:avLst/>
          </a:prstGeom>
          <a:solidFill>
            <a:srgbClr val="33CC33">
              <a:alpha val="60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pic>
        <p:nvPicPr>
          <p:cNvPr id="19462" name="Picture 6" descr="Image1"/>
          <p:cNvPicPr>
            <a:picLocks noChangeAspect="1" noChangeArrowheads="1"/>
          </p:cNvPicPr>
          <p:nvPr/>
        </p:nvPicPr>
        <p:blipFill>
          <a:blip r:embed="rId5"/>
          <a:srcRect b="50000"/>
          <a:stretch>
            <a:fillRect/>
          </a:stretch>
        </p:blipFill>
        <p:spPr bwMode="auto">
          <a:xfrm>
            <a:off x="3786182" y="2000240"/>
            <a:ext cx="2019328" cy="1009664"/>
          </a:xfrm>
          <a:prstGeom prst="rect">
            <a:avLst/>
          </a:prstGeom>
          <a:solidFill>
            <a:srgbClr val="FF0000"/>
          </a:solidFill>
          <a:ln w="19050">
            <a:noFill/>
            <a:miter lim="800000"/>
            <a:headEnd/>
            <a:tailEnd/>
          </a:ln>
        </p:spPr>
      </p:pic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4500562" y="928670"/>
            <a:ext cx="914400" cy="990600"/>
          </a:xfrm>
          <a:prstGeom prst="rect">
            <a:avLst/>
          </a:prstGeom>
          <a:solidFill>
            <a:srgbClr val="FF0000">
              <a:alpha val="60001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graphicFrame>
        <p:nvGraphicFramePr>
          <p:cNvPr id="19464" name="Object 8"/>
          <p:cNvGraphicFramePr>
            <a:graphicFrameLocks noChangeAspect="1"/>
          </p:cNvGraphicFramePr>
          <p:nvPr/>
        </p:nvGraphicFramePr>
        <p:xfrm>
          <a:off x="2643174" y="1000108"/>
          <a:ext cx="6308535" cy="928694"/>
        </p:xfrm>
        <a:graphic>
          <a:graphicData uri="http://schemas.openxmlformats.org/presentationml/2006/ole">
            <p:oleObj spid="_x0000_s19464" name="数式" r:id="rId6" imgW="2844720" imgH="419040" progId="Equation.3">
              <p:embed/>
            </p:oleObj>
          </a:graphicData>
        </a:graphic>
      </p:graphicFrame>
      <p:pic>
        <p:nvPicPr>
          <p:cNvPr id="19465" name="Picture 9" descr="Image1"/>
          <p:cNvPicPr>
            <a:picLocks noChangeAspect="1" noChangeArrowheads="1"/>
          </p:cNvPicPr>
          <p:nvPr/>
        </p:nvPicPr>
        <p:blipFill>
          <a:blip r:embed="rId5"/>
          <a:srcRect t="49622" b="378"/>
          <a:stretch>
            <a:fillRect/>
          </a:stretch>
        </p:blipFill>
        <p:spPr bwMode="auto">
          <a:xfrm>
            <a:off x="6715140" y="1928802"/>
            <a:ext cx="1676400" cy="838200"/>
          </a:xfrm>
          <a:prstGeom prst="rect">
            <a:avLst/>
          </a:prstGeom>
          <a:noFill/>
          <a:ln w="19050">
            <a:solidFill>
              <a:srgbClr val="33CC33"/>
            </a:solidFill>
            <a:miter lim="800000"/>
            <a:headEnd/>
            <a:tailEnd/>
          </a:ln>
        </p:spPr>
      </p:pic>
      <p:graphicFrame>
        <p:nvGraphicFramePr>
          <p:cNvPr id="19466" name="Object 10"/>
          <p:cNvGraphicFramePr>
            <a:graphicFrameLocks noChangeAspect="1"/>
          </p:cNvGraphicFramePr>
          <p:nvPr/>
        </p:nvGraphicFramePr>
        <p:xfrm>
          <a:off x="428596" y="1071546"/>
          <a:ext cx="2286000" cy="960438"/>
        </p:xfrm>
        <a:graphic>
          <a:graphicData uri="http://schemas.openxmlformats.org/presentationml/2006/ole">
            <p:oleObj spid="_x0000_s19466" name="数式" r:id="rId7" imgW="1028520" imgH="431640" progId="Equation.3">
              <p:embed/>
            </p:oleObj>
          </a:graphicData>
        </a:graphic>
      </p:graphicFrame>
      <p:sp>
        <p:nvSpPr>
          <p:cNvPr id="19472" name="Text Box 16"/>
          <p:cNvSpPr txBox="1">
            <a:spLocks noChangeArrowheads="1"/>
          </p:cNvSpPr>
          <p:nvPr/>
        </p:nvSpPr>
        <p:spPr bwMode="auto">
          <a:xfrm>
            <a:off x="-3052810" y="1900230"/>
            <a:ext cx="9779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ymbol" pitchFamily="18" charset="2"/>
                <a:ea typeface="ＭＳ Ｐゴシック" pitchFamily="50" charset="-128"/>
              </a:rPr>
              <a:t>s</a:t>
            </a:r>
            <a:r>
              <a:rPr kumimoji="1" lang="en-US" altLang="ja-JP" sz="2800" b="0" i="0" u="none" strike="noStrike" cap="none" normalizeH="0" baseline="-2500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++</a:t>
            </a:r>
            <a:r>
              <a:rPr kumimoji="1" lang="en-US" altLang="ja-JP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=</a:t>
            </a:r>
            <a:endParaRPr kumimoji="1" lang="ja-JP" alt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0" y="571480"/>
            <a:ext cx="24788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kumimoji="1" lang="en-US" altLang="ja-JP" sz="3200" dirty="0" smtClean="0"/>
              <a:t>Theoretically</a:t>
            </a:r>
            <a:endParaRPr kumimoji="1" lang="ja-JP" altLang="en-US" sz="3200" dirty="0"/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0" y="3357562"/>
            <a:ext cx="28144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kumimoji="1" lang="en-US" altLang="ja-JP" sz="3200" dirty="0" smtClean="0"/>
              <a:t>Experimentally</a:t>
            </a:r>
            <a:endParaRPr kumimoji="1" lang="ja-JP" altLang="en-US" sz="3200" dirty="0"/>
          </a:p>
        </p:txBody>
      </p:sp>
      <p:graphicFrame>
        <p:nvGraphicFramePr>
          <p:cNvPr id="19467" name="コンテンツ プレースホルダ 5"/>
          <p:cNvGraphicFramePr>
            <a:graphicFrameLocks noChangeAspect="1"/>
          </p:cNvGraphicFramePr>
          <p:nvPr/>
        </p:nvGraphicFramePr>
        <p:xfrm>
          <a:off x="500034" y="3929066"/>
          <a:ext cx="3584575" cy="1216025"/>
        </p:xfrm>
        <a:graphic>
          <a:graphicData uri="http://schemas.openxmlformats.org/presentationml/2006/ole">
            <p:oleObj spid="_x0000_s19467" name="数式" r:id="rId8" imgW="1498320" imgH="457200" progId="Equation.3">
              <p:embed/>
            </p:oleObj>
          </a:graphicData>
        </a:graphic>
      </p:graphicFrame>
      <p:graphicFrame>
        <p:nvGraphicFramePr>
          <p:cNvPr id="19468" name="Object 12"/>
          <p:cNvGraphicFramePr>
            <a:graphicFrameLocks noChangeAspect="1"/>
          </p:cNvGraphicFramePr>
          <p:nvPr/>
        </p:nvGraphicFramePr>
        <p:xfrm>
          <a:off x="4071934" y="4000504"/>
          <a:ext cx="1277936" cy="1147763"/>
        </p:xfrm>
        <a:graphic>
          <a:graphicData uri="http://schemas.openxmlformats.org/presentationml/2006/ole">
            <p:oleObj spid="_x0000_s19468" name="数式" r:id="rId9" imgW="533160" imgH="431640" progId="Equation.3">
              <p:embed/>
            </p:oleObj>
          </a:graphicData>
        </a:graphic>
      </p:graphicFrame>
      <p:sp>
        <p:nvSpPr>
          <p:cNvPr id="20" name="テキスト ボックス 19"/>
          <p:cNvSpPr txBox="1"/>
          <p:nvPr/>
        </p:nvSpPr>
        <p:spPr>
          <a:xfrm>
            <a:off x="5715008" y="3500438"/>
            <a:ext cx="3168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These two processes dominates</a:t>
            </a:r>
          </a:p>
          <a:p>
            <a:r>
              <a:rPr lang="en-US" altLang="ja-JP" dirty="0" smtClean="0"/>
              <a:t>In our sensitive </a:t>
            </a:r>
            <a:r>
              <a:rPr lang="en-US" altLang="ja-JP" i="1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ja-JP" i="1" baseline="-25000" dirty="0" err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ja-JP" dirty="0" smtClean="0"/>
              <a:t> region.</a:t>
            </a:r>
            <a:endParaRPr kumimoji="1" lang="ja-JP" altLang="en-US" dirty="0"/>
          </a:p>
        </p:txBody>
      </p:sp>
      <p:sp>
        <p:nvSpPr>
          <p:cNvPr id="22" name="コンテンツ プレースホルダ 2"/>
          <p:cNvSpPr txBox="1">
            <a:spLocks/>
          </p:cNvSpPr>
          <p:nvPr/>
        </p:nvSpPr>
        <p:spPr>
          <a:xfrm>
            <a:off x="5357818" y="4714884"/>
            <a:ext cx="3786182" cy="17145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77500" lnSpcReduction="20000"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1" lang="en-US" altLang="ja-JP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X-section measurement to confirm </a:t>
            </a:r>
            <a:r>
              <a:rPr kumimoji="1" lang="en-US" altLang="ja-JP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pQCD</a:t>
            </a:r>
            <a:r>
              <a:rPr kumimoji="1" lang="en-US" altLang="ja-JP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applicability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altLang="ja-JP" sz="3200" dirty="0" smtClean="0">
                <a:solidFill>
                  <a:schemeClr val="tx1"/>
                </a:solidFill>
              </a:rPr>
              <a:t>A</a:t>
            </a:r>
            <a:r>
              <a:rPr lang="en-US" altLang="ja-JP" sz="3200" baseline="-25000" dirty="0" smtClean="0">
                <a:solidFill>
                  <a:schemeClr val="tx1"/>
                </a:solidFill>
              </a:rPr>
              <a:t>LL</a:t>
            </a:r>
            <a:r>
              <a:rPr lang="en-US" altLang="ja-JP" sz="3200" dirty="0" smtClean="0">
                <a:solidFill>
                  <a:schemeClr val="tx1"/>
                </a:solidFill>
              </a:rPr>
              <a:t> measurement to extract </a:t>
            </a:r>
            <a:r>
              <a:rPr lang="en-US" altLang="ja-JP" sz="3200" i="1" dirty="0" smtClean="0">
                <a:solidFill>
                  <a:schemeClr val="tx1"/>
                </a:solidFill>
                <a:latin typeface="Symbol" pitchFamily="18" charset="2"/>
              </a:rPr>
              <a:t>D</a:t>
            </a:r>
            <a:r>
              <a:rPr lang="en-US" altLang="ja-JP" sz="32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</a:t>
            </a:r>
            <a:endParaRPr kumimoji="1" lang="en-US" altLang="ja-JP" sz="3200" b="0" i="1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spcBef>
                <a:spcPct val="20000"/>
              </a:spcBef>
              <a:buFont typeface="Arial" pitchFamily="34" charset="0"/>
              <a:buChar char="–"/>
            </a:pPr>
            <a:endParaRPr lang="en-US" altLang="ja-JP" sz="2800" dirty="0" smtClean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6286512" y="4071942"/>
            <a:ext cx="1928826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ja-JP" sz="4000" dirty="0" smtClean="0"/>
              <a:t>strategy</a:t>
            </a:r>
            <a:endParaRPr kumimoji="1" lang="ja-JP" altLang="en-US" sz="4000" dirty="0"/>
          </a:p>
        </p:txBody>
      </p:sp>
      <p:pic>
        <p:nvPicPr>
          <p:cNvPr id="24" name="Picture 3" descr="Image4"/>
          <p:cNvPicPr>
            <a:picLocks noChangeAspect="1" noChangeArrowheads="1"/>
          </p:cNvPicPr>
          <p:nvPr/>
        </p:nvPicPr>
        <p:blipFill>
          <a:blip r:embed="rId4"/>
          <a:srcRect t="69691" r="68750" b="-456"/>
          <a:stretch>
            <a:fillRect/>
          </a:stretch>
        </p:blipFill>
        <p:spPr bwMode="auto">
          <a:xfrm>
            <a:off x="3143241" y="1857364"/>
            <a:ext cx="857256" cy="571504"/>
          </a:xfrm>
          <a:prstGeom prst="rect">
            <a:avLst/>
          </a:prstGeom>
          <a:noFill/>
        </p:spPr>
      </p:pic>
      <p:cxnSp>
        <p:nvCxnSpPr>
          <p:cNvPr id="27" name="直線矢印コネクタ 26"/>
          <p:cNvCxnSpPr/>
          <p:nvPr/>
        </p:nvCxnSpPr>
        <p:spPr>
          <a:xfrm rot="16200000" flipH="1">
            <a:off x="5464975" y="3036091"/>
            <a:ext cx="285752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線矢印コネクタ 28"/>
          <p:cNvCxnSpPr/>
          <p:nvPr/>
        </p:nvCxnSpPr>
        <p:spPr>
          <a:xfrm>
            <a:off x="5572132" y="2928934"/>
            <a:ext cx="285752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線矢印コネクタ 30"/>
          <p:cNvCxnSpPr/>
          <p:nvPr/>
        </p:nvCxnSpPr>
        <p:spPr>
          <a:xfrm>
            <a:off x="5572132" y="2928934"/>
            <a:ext cx="357190" cy="2143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線矢印コネクタ 32"/>
          <p:cNvCxnSpPr/>
          <p:nvPr/>
        </p:nvCxnSpPr>
        <p:spPr>
          <a:xfrm rot="16200000" flipH="1">
            <a:off x="5572132" y="2928934"/>
            <a:ext cx="428628" cy="42862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テキスト ボックス 34"/>
          <p:cNvSpPr txBox="1"/>
          <p:nvPr/>
        </p:nvSpPr>
        <p:spPr>
          <a:xfrm rot="3642402">
            <a:off x="5142327" y="2820525"/>
            <a:ext cx="5132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jet</a:t>
            </a:r>
            <a:endParaRPr kumimoji="1" lang="ja-JP" altLang="en-US" sz="2400" dirty="0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5929322" y="3071810"/>
            <a:ext cx="5501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 smtClean="0">
                <a:latin typeface="Symbol" pitchFamily="18" charset="2"/>
              </a:rPr>
              <a:t>p</a:t>
            </a:r>
            <a:r>
              <a:rPr kumimoji="1" lang="en-US" altLang="ja-JP" sz="3200" baseline="30000" dirty="0" smtClean="0"/>
              <a:t>0</a:t>
            </a:r>
            <a:endParaRPr kumimoji="1" lang="ja-JP" altLang="en-US" sz="3200" baseline="30000" dirty="0"/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3071802" y="2214554"/>
            <a:ext cx="823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proton</a:t>
            </a:r>
            <a:endParaRPr kumimoji="1" lang="ja-JP" altLang="en-US" dirty="0"/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3071802" y="3000372"/>
            <a:ext cx="823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proton</a:t>
            </a:r>
            <a:endParaRPr kumimoji="1" lang="ja-JP" altLang="en-US" dirty="0"/>
          </a:p>
        </p:txBody>
      </p:sp>
      <p:cxnSp>
        <p:nvCxnSpPr>
          <p:cNvPr id="40" name="直線矢印コネクタ 39"/>
          <p:cNvCxnSpPr/>
          <p:nvPr/>
        </p:nvCxnSpPr>
        <p:spPr>
          <a:xfrm rot="5400000" flipH="1" flipV="1">
            <a:off x="1393009" y="2178835"/>
            <a:ext cx="357190" cy="1428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" name="テキスト ボックス 40"/>
          <p:cNvSpPr txBox="1"/>
          <p:nvPr/>
        </p:nvSpPr>
        <p:spPr>
          <a:xfrm>
            <a:off x="571472" y="2285992"/>
            <a:ext cx="2177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Proton’s helicity</a:t>
            </a:r>
            <a:endParaRPr kumimoji="1" lang="ja-JP" altLang="en-US" sz="2400" dirty="0"/>
          </a:p>
        </p:txBody>
      </p:sp>
      <p:sp>
        <p:nvSpPr>
          <p:cNvPr id="42" name="角丸四角形 41"/>
          <p:cNvSpPr/>
          <p:nvPr/>
        </p:nvSpPr>
        <p:spPr>
          <a:xfrm>
            <a:off x="3000364" y="1857364"/>
            <a:ext cx="3429024" cy="1785950"/>
          </a:xfrm>
          <a:prstGeom prst="roundRect">
            <a:avLst/>
          </a:prstGeom>
          <a:noFill/>
          <a:ln>
            <a:solidFill>
              <a:srgbClr val="FF0000">
                <a:alpha val="78824"/>
              </a:srgb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3" name="Picture 3" descr="Image4"/>
          <p:cNvPicPr>
            <a:picLocks noChangeAspect="1" noChangeArrowheads="1"/>
          </p:cNvPicPr>
          <p:nvPr/>
        </p:nvPicPr>
        <p:blipFill>
          <a:blip r:embed="rId4"/>
          <a:srcRect t="69691" r="68750" b="-456"/>
          <a:stretch>
            <a:fillRect/>
          </a:stretch>
        </p:blipFill>
        <p:spPr bwMode="auto">
          <a:xfrm>
            <a:off x="3143240" y="2571744"/>
            <a:ext cx="857256" cy="57150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25470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 smtClean="0"/>
              <a:t>RHIC – the world’s first </a:t>
            </a:r>
            <a:r>
              <a:rPr kumimoji="1" lang="en-US" altLang="ja-JP" dirty="0" err="1" smtClean="0"/>
              <a:t>pol</a:t>
            </a:r>
            <a:r>
              <a:rPr kumimoji="1" lang="en-US" altLang="ja-JP" dirty="0" smtClean="0"/>
              <a:t> pp collider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K.Aoki (Kyoto Univ. / RIKEN)</a:t>
            </a:r>
            <a:endParaRPr lang="ja-JP" altLang="en-US" dirty="0" smtClean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4</a:t>
            </a:fld>
            <a:endParaRPr kumimoji="1" lang="ja-JP" altLang="en-US"/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457200" y="685800"/>
            <a:ext cx="82296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ja-JP" altLang="ja-JP" sz="3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grpSp>
        <p:nvGrpSpPr>
          <p:cNvPr id="17" name="グループ化 16"/>
          <p:cNvGrpSpPr/>
          <p:nvPr/>
        </p:nvGrpSpPr>
        <p:grpSpPr>
          <a:xfrm>
            <a:off x="-20068" y="785794"/>
            <a:ext cx="9164068" cy="5500726"/>
            <a:chOff x="0" y="928670"/>
            <a:chExt cx="9153428" cy="5494339"/>
          </a:xfrm>
        </p:grpSpPr>
        <p:pic>
          <p:nvPicPr>
            <p:cNvPr id="4100" name="Picture 4"/>
            <p:cNvPicPr>
              <a:picLocks noChangeAspect="1" noChangeArrowheads="1"/>
            </p:cNvPicPr>
            <p:nvPr/>
          </p:nvPicPr>
          <p:blipFill>
            <a:blip r:embed="rId3"/>
            <a:srcRect r="6363" b="23721"/>
            <a:stretch>
              <a:fillRect/>
            </a:stretch>
          </p:blipFill>
          <p:spPr bwMode="auto">
            <a:xfrm>
              <a:off x="0" y="928670"/>
              <a:ext cx="9153428" cy="5494339"/>
            </a:xfrm>
            <a:prstGeom prst="rect">
              <a:avLst/>
            </a:prstGeom>
            <a:noFill/>
          </p:spPr>
        </p:pic>
        <p:pic>
          <p:nvPicPr>
            <p:cNvPr id="4101" name="Picture 5" descr="STAR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857620" y="3143248"/>
              <a:ext cx="846138" cy="663575"/>
            </a:xfrm>
            <a:prstGeom prst="rect">
              <a:avLst/>
            </a:prstGeom>
            <a:noFill/>
          </p:spPr>
        </p:pic>
        <p:pic>
          <p:nvPicPr>
            <p:cNvPr id="4102" name="Picture 6" descr="PhlogoColorA02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500166" y="1928802"/>
              <a:ext cx="1219200" cy="381000"/>
            </a:xfrm>
            <a:prstGeom prst="rect">
              <a:avLst/>
            </a:prstGeom>
            <a:noFill/>
          </p:spPr>
        </p:pic>
        <p:pic>
          <p:nvPicPr>
            <p:cNvPr id="4103" name="Picture 7" descr="brahms_logo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6572264" y="2000240"/>
              <a:ext cx="990600" cy="530225"/>
            </a:xfrm>
            <a:prstGeom prst="rect">
              <a:avLst/>
            </a:prstGeom>
            <a:noFill/>
          </p:spPr>
        </p:pic>
        <p:pic>
          <p:nvPicPr>
            <p:cNvPr id="4104" name="Picture 8" descr="pp_logo_am"/>
            <p:cNvPicPr>
              <a:picLocks noChangeAspect="1" noChangeArrowheads="1" noCrop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786710" y="1214422"/>
              <a:ext cx="762000" cy="754063"/>
            </a:xfrm>
            <a:prstGeom prst="rect">
              <a:avLst/>
            </a:prstGeom>
            <a:noFill/>
          </p:spPr>
        </p:pic>
        <p:pic>
          <p:nvPicPr>
            <p:cNvPr id="4105" name="Picture 9" descr="huge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1000100" y="2786058"/>
              <a:ext cx="1219200" cy="39846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</p:pic>
        <p:pic>
          <p:nvPicPr>
            <p:cNvPr id="4106" name="Picture 10" descr="BNLlogo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6248400" y="4976813"/>
              <a:ext cx="2819400" cy="1085850"/>
            </a:xfrm>
            <a:prstGeom prst="rect">
              <a:avLst/>
            </a:prstGeom>
            <a:noFill/>
          </p:spPr>
        </p:pic>
        <p:sp>
          <p:nvSpPr>
            <p:cNvPr id="4107" name="Rectangle 11"/>
            <p:cNvSpPr>
              <a:spLocks noChangeArrowheads="1"/>
            </p:cNvSpPr>
            <p:nvPr/>
          </p:nvSpPr>
          <p:spPr bwMode="auto">
            <a:xfrm>
              <a:off x="3643306" y="2285992"/>
              <a:ext cx="2133600" cy="609600"/>
            </a:xfrm>
            <a:prstGeom prst="rect">
              <a:avLst/>
            </a:prstGeom>
            <a:solidFill>
              <a:srgbClr val="0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pic>
          <p:nvPicPr>
            <p:cNvPr id="4108" name="Picture 12" descr="RHIC_name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3714744" y="2428868"/>
              <a:ext cx="1981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25470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 smtClean="0"/>
              <a:t>RHIC – the world’s first </a:t>
            </a:r>
            <a:r>
              <a:rPr kumimoji="1" lang="en-US" altLang="ja-JP" dirty="0" err="1" smtClean="0"/>
              <a:t>pol</a:t>
            </a:r>
            <a:r>
              <a:rPr kumimoji="1" lang="en-US" altLang="ja-JP" dirty="0" smtClean="0"/>
              <a:t> pp collider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K.Aoki (Kyoto Univ. / RIKEN)</a:t>
            </a:r>
            <a:endParaRPr lang="ja-JP" altLang="en-US" dirty="0" smtClean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5</a:t>
            </a:fld>
            <a:endParaRPr kumimoji="1" lang="ja-JP" altLang="en-US"/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457200" y="685800"/>
            <a:ext cx="82296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ja-JP" altLang="ja-JP" sz="3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grpSp>
        <p:nvGrpSpPr>
          <p:cNvPr id="6" name="グループ化 16"/>
          <p:cNvGrpSpPr/>
          <p:nvPr/>
        </p:nvGrpSpPr>
        <p:grpSpPr>
          <a:xfrm>
            <a:off x="-20068" y="785794"/>
            <a:ext cx="9164068" cy="5500726"/>
            <a:chOff x="0" y="928670"/>
            <a:chExt cx="9153428" cy="5494339"/>
          </a:xfrm>
        </p:grpSpPr>
        <p:pic>
          <p:nvPicPr>
            <p:cNvPr id="4100" name="Picture 4"/>
            <p:cNvPicPr>
              <a:picLocks noChangeAspect="1" noChangeArrowheads="1"/>
            </p:cNvPicPr>
            <p:nvPr/>
          </p:nvPicPr>
          <p:blipFill>
            <a:blip r:embed="rId2"/>
            <a:srcRect r="6363" b="23721"/>
            <a:stretch>
              <a:fillRect/>
            </a:stretch>
          </p:blipFill>
          <p:spPr bwMode="auto">
            <a:xfrm>
              <a:off x="0" y="928670"/>
              <a:ext cx="9153428" cy="5494339"/>
            </a:xfrm>
            <a:prstGeom prst="rect">
              <a:avLst/>
            </a:prstGeom>
            <a:noFill/>
          </p:spPr>
        </p:pic>
        <p:pic>
          <p:nvPicPr>
            <p:cNvPr id="4101" name="Picture 5" descr="STAR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857620" y="3143248"/>
              <a:ext cx="846138" cy="663575"/>
            </a:xfrm>
            <a:prstGeom prst="rect">
              <a:avLst/>
            </a:prstGeom>
            <a:noFill/>
          </p:spPr>
        </p:pic>
        <p:pic>
          <p:nvPicPr>
            <p:cNvPr id="4102" name="Picture 6" descr="PhlogoColorA02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500166" y="1928802"/>
              <a:ext cx="1219200" cy="381000"/>
            </a:xfrm>
            <a:prstGeom prst="rect">
              <a:avLst/>
            </a:prstGeom>
            <a:noFill/>
          </p:spPr>
        </p:pic>
        <p:pic>
          <p:nvPicPr>
            <p:cNvPr id="4103" name="Picture 7" descr="brahms_logo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6572264" y="2000240"/>
              <a:ext cx="990600" cy="530225"/>
            </a:xfrm>
            <a:prstGeom prst="rect">
              <a:avLst/>
            </a:prstGeom>
            <a:noFill/>
          </p:spPr>
        </p:pic>
        <p:pic>
          <p:nvPicPr>
            <p:cNvPr id="4104" name="Picture 8" descr="pp_logo_am"/>
            <p:cNvPicPr>
              <a:picLocks noChangeAspect="1" noChangeArrowheads="1" noCrop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7786710" y="1214422"/>
              <a:ext cx="762000" cy="754063"/>
            </a:xfrm>
            <a:prstGeom prst="rect">
              <a:avLst/>
            </a:prstGeom>
            <a:noFill/>
          </p:spPr>
        </p:pic>
        <p:pic>
          <p:nvPicPr>
            <p:cNvPr id="4105" name="Picture 9" descr="huge"/>
            <p:cNvPicPr>
              <a:picLocks noChangeAspect="1" noChangeArrowheads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1000100" y="2786058"/>
              <a:ext cx="1219200" cy="39846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</p:pic>
        <p:pic>
          <p:nvPicPr>
            <p:cNvPr id="4106" name="Picture 10" descr="BNLlogo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6248400" y="4976813"/>
              <a:ext cx="2819400" cy="1085850"/>
            </a:xfrm>
            <a:prstGeom prst="rect">
              <a:avLst/>
            </a:prstGeom>
            <a:noFill/>
          </p:spPr>
        </p:pic>
        <p:sp>
          <p:nvSpPr>
            <p:cNvPr id="4107" name="Rectangle 11"/>
            <p:cNvSpPr>
              <a:spLocks noChangeArrowheads="1"/>
            </p:cNvSpPr>
            <p:nvPr/>
          </p:nvSpPr>
          <p:spPr bwMode="auto">
            <a:xfrm>
              <a:off x="3643306" y="2285992"/>
              <a:ext cx="2133600" cy="609600"/>
            </a:xfrm>
            <a:prstGeom prst="rect">
              <a:avLst/>
            </a:prstGeom>
            <a:solidFill>
              <a:srgbClr val="0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pic>
          <p:nvPicPr>
            <p:cNvPr id="4108" name="Picture 12" descr="RHIC_name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3714744" y="2428868"/>
              <a:ext cx="1981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7" name="正方形/長方形 16"/>
          <p:cNvSpPr/>
          <p:nvPr/>
        </p:nvSpPr>
        <p:spPr>
          <a:xfrm>
            <a:off x="0" y="3071810"/>
            <a:ext cx="9144000" cy="3786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4786314" y="5786454"/>
            <a:ext cx="4357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/>
              <a:buChar char="à"/>
            </a:pPr>
            <a:r>
              <a:rPr kumimoji="1" lang="en-US" altLang="ja-JP" sz="2400" dirty="0" smtClean="0"/>
              <a:t>Talk by </a:t>
            </a:r>
            <a:r>
              <a:rPr kumimoji="1" lang="en-US" altLang="ja-JP" sz="2400" dirty="0" err="1" smtClean="0"/>
              <a:t>M.Chiu</a:t>
            </a:r>
            <a:r>
              <a:rPr kumimoji="1" lang="en-US" altLang="ja-JP" sz="2400" dirty="0" smtClean="0"/>
              <a:t>  (next speaker)</a:t>
            </a:r>
          </a:p>
        </p:txBody>
      </p:sp>
      <p:graphicFrame>
        <p:nvGraphicFramePr>
          <p:cNvPr id="25" name="コンテンツ プレースホルダ 16"/>
          <p:cNvGraphicFramePr>
            <a:graphicFrameLocks/>
          </p:cNvGraphicFramePr>
          <p:nvPr/>
        </p:nvGraphicFramePr>
        <p:xfrm>
          <a:off x="4656137" y="3429000"/>
          <a:ext cx="4487863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4305"/>
                <a:gridCol w="640080"/>
                <a:gridCol w="941705"/>
                <a:gridCol w="851218"/>
                <a:gridCol w="630555"/>
              </a:tblGrid>
              <a:tr h="357187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RUN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800" b="1" kern="1200" dirty="0" smtClean="0">
                          <a:solidFill>
                            <a:schemeClr val="lt1"/>
                          </a:solidFill>
                          <a:latin typeface="Symbol" pitchFamily="18" charset="2"/>
                          <a:ea typeface="+mn-ea"/>
                          <a:cs typeface="+mn-cs"/>
                        </a:rPr>
                        <a:t>Ö</a:t>
                      </a:r>
                      <a:r>
                        <a:rPr kumimoji="1" lang="en-US" sz="18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endParaRPr kumimoji="1" lang="ja-JP" altLang="en-US" sz="1800" b="1" kern="1200" dirty="0" smtClean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1" lang="en-US" altLang="ja-JP" dirty="0" smtClean="0"/>
                        <a:t>GeV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FOM</a:t>
                      </a:r>
                    </a:p>
                    <a:p>
                      <a:r>
                        <a:rPr kumimoji="1" lang="en-US" altLang="ja-JP" dirty="0" smtClean="0"/>
                        <a:t>= P</a:t>
                      </a:r>
                      <a:r>
                        <a:rPr kumimoji="1" lang="en-US" altLang="ja-JP" baseline="30000" dirty="0" smtClean="0"/>
                        <a:t>2</a:t>
                      </a:r>
                      <a:r>
                        <a:rPr kumimoji="1" lang="en-US" altLang="ja-JP" dirty="0" smtClean="0"/>
                        <a:t>L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baseline="0" dirty="0" smtClean="0"/>
                        <a:t>10</a:t>
                      </a:r>
                      <a:r>
                        <a:rPr kumimoji="1" lang="en-US" altLang="ja-JP" baseline="30000" dirty="0" smtClean="0"/>
                        <a:t>-3</a:t>
                      </a:r>
                      <a:r>
                        <a:rPr kumimoji="1" lang="en-US" altLang="ja-JP" baseline="0" dirty="0" smtClean="0"/>
                        <a:t>pb</a:t>
                      </a:r>
                      <a:r>
                        <a:rPr kumimoji="1" lang="en-US" altLang="ja-JP" baseline="30000" dirty="0" smtClean="0"/>
                        <a:t>-1</a:t>
                      </a:r>
                      <a:endParaRPr kumimoji="1" lang="ja-JP" altLang="en-US" baseline="30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Int.</a:t>
                      </a:r>
                    </a:p>
                    <a:p>
                      <a:r>
                        <a:rPr kumimoji="1" lang="en-US" altLang="ja-JP" dirty="0" err="1" smtClean="0"/>
                        <a:t>Lumi</a:t>
                      </a:r>
                      <a:r>
                        <a:rPr kumimoji="1" lang="en-US" altLang="ja-JP" dirty="0" smtClean="0"/>
                        <a:t> </a:t>
                      </a:r>
                    </a:p>
                    <a:p>
                      <a:r>
                        <a:rPr kumimoji="1" lang="en-US" altLang="ja-JP" dirty="0" smtClean="0"/>
                        <a:t>( pb</a:t>
                      </a:r>
                      <a:r>
                        <a:rPr kumimoji="1" lang="en-US" altLang="ja-JP" baseline="30000" dirty="0" smtClean="0"/>
                        <a:t>-1</a:t>
                      </a:r>
                      <a:r>
                        <a:rPr kumimoji="1" lang="en-US" altLang="ja-JP" dirty="0" smtClean="0"/>
                        <a:t> 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Pol.</a:t>
                      </a:r>
                      <a:endParaRPr kumimoji="1" lang="ja-JP" altLang="en-US" dirty="0"/>
                    </a:p>
                  </a:txBody>
                  <a:tcPr/>
                </a:tc>
              </a:tr>
              <a:tr h="357187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2002(RUN2)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200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0.15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15%</a:t>
                      </a:r>
                      <a:endParaRPr kumimoji="1" lang="ja-JP" altLang="en-US" dirty="0"/>
                    </a:p>
                  </a:txBody>
                  <a:tcPr/>
                </a:tc>
              </a:tr>
              <a:tr h="357187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2005(RUN5)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200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33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0.15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47%</a:t>
                      </a:r>
                      <a:endParaRPr kumimoji="1" lang="ja-JP" altLang="en-US" dirty="0"/>
                    </a:p>
                  </a:txBody>
                  <a:tcPr/>
                </a:tc>
              </a:tr>
              <a:tr h="357187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2006 (RUN6)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200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290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2.7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57%</a:t>
                      </a:r>
                      <a:endParaRPr kumimoji="1" lang="ja-JP" altLang="en-US" dirty="0"/>
                    </a:p>
                  </a:txBody>
                  <a:tcPr/>
                </a:tc>
              </a:tr>
              <a:tr h="35718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62.4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0.02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48%</a:t>
                      </a:r>
                      <a:endParaRPr kumimoji="1" lang="ja-JP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6" name="テキスト ボックス 25"/>
          <p:cNvSpPr txBox="1"/>
          <p:nvPr/>
        </p:nvSpPr>
        <p:spPr>
          <a:xfrm>
            <a:off x="0" y="3000372"/>
            <a:ext cx="4000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Longitudinal spin program</a:t>
            </a:r>
            <a:endParaRPr kumimoji="1" lang="ja-JP" altLang="en-US" sz="2800" dirty="0"/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4643438" y="3000372"/>
            <a:ext cx="40004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Transverse spin program</a:t>
            </a:r>
            <a:endParaRPr kumimoji="1" lang="ja-JP" altLang="en-US" sz="2800" dirty="0"/>
          </a:p>
        </p:txBody>
      </p:sp>
      <p:sp>
        <p:nvSpPr>
          <p:cNvPr id="29" name="下矢印 28"/>
          <p:cNvSpPr/>
          <p:nvPr/>
        </p:nvSpPr>
        <p:spPr>
          <a:xfrm>
            <a:off x="3643306" y="4500570"/>
            <a:ext cx="71438" cy="1214446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aphicFrame>
        <p:nvGraphicFramePr>
          <p:cNvPr id="18" name="コンテンツ プレースホルダ 16"/>
          <p:cNvGraphicFramePr>
            <a:graphicFrameLocks/>
          </p:cNvGraphicFramePr>
          <p:nvPr/>
        </p:nvGraphicFramePr>
        <p:xfrm>
          <a:off x="0" y="3500438"/>
          <a:ext cx="4530726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4305"/>
                <a:gridCol w="682943"/>
                <a:gridCol w="941705"/>
                <a:gridCol w="851218"/>
                <a:gridCol w="630555"/>
              </a:tblGrid>
              <a:tr h="357187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RUN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1800" b="1" kern="1200" dirty="0" smtClean="0">
                          <a:solidFill>
                            <a:schemeClr val="lt1"/>
                          </a:solidFill>
                          <a:latin typeface="Symbol" pitchFamily="18" charset="2"/>
                          <a:ea typeface="+mn-ea"/>
                          <a:cs typeface="+mn-cs"/>
                        </a:rPr>
                        <a:t>Ö</a:t>
                      </a:r>
                      <a:r>
                        <a:rPr kumimoji="1" lang="en-US" sz="1800" b="1" kern="1200" dirty="0" smtClean="0">
                          <a:solidFill>
                            <a:schemeClr val="lt1"/>
                          </a:solidFill>
                          <a:latin typeface="+mj-lt"/>
                          <a:ea typeface="+mn-ea"/>
                          <a:cs typeface="+mn-cs"/>
                        </a:rPr>
                        <a:t>s</a:t>
                      </a:r>
                      <a:endParaRPr lang="ja-JP" altLang="en-US" dirty="0" smtClean="0">
                        <a:latin typeface="+mj-lt"/>
                      </a:endParaRPr>
                    </a:p>
                    <a:p>
                      <a:r>
                        <a:rPr kumimoji="1" lang="en-US" altLang="ja-JP" dirty="0" smtClean="0"/>
                        <a:t>GeV 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FOM</a:t>
                      </a:r>
                    </a:p>
                    <a:p>
                      <a:r>
                        <a:rPr kumimoji="1" lang="en-US" altLang="ja-JP" dirty="0" smtClean="0"/>
                        <a:t>= P</a:t>
                      </a:r>
                      <a:r>
                        <a:rPr kumimoji="1" lang="en-US" altLang="ja-JP" baseline="30000" dirty="0" smtClean="0"/>
                        <a:t>4</a:t>
                      </a:r>
                      <a:r>
                        <a:rPr kumimoji="1" lang="en-US" altLang="ja-JP" dirty="0" smtClean="0"/>
                        <a:t>L</a:t>
                      </a:r>
                    </a:p>
                    <a:p>
                      <a:r>
                        <a:rPr kumimoji="1" lang="en-US" altLang="ja-JP" baseline="0" dirty="0" smtClean="0"/>
                        <a:t>10</a:t>
                      </a:r>
                      <a:r>
                        <a:rPr kumimoji="1" lang="en-US" altLang="ja-JP" baseline="30000" dirty="0" smtClean="0"/>
                        <a:t>-3</a:t>
                      </a:r>
                      <a:r>
                        <a:rPr kumimoji="1" lang="en-US" altLang="ja-JP" baseline="0" dirty="0" smtClean="0"/>
                        <a:t>pb</a:t>
                      </a:r>
                      <a:r>
                        <a:rPr kumimoji="1" lang="en-US" altLang="ja-JP" baseline="30000" dirty="0" smtClean="0"/>
                        <a:t>-1</a:t>
                      </a:r>
                      <a:endParaRPr kumimoji="1" lang="ja-JP" alt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Int. </a:t>
                      </a:r>
                    </a:p>
                    <a:p>
                      <a:r>
                        <a:rPr kumimoji="1" lang="en-US" altLang="ja-JP" dirty="0" err="1" smtClean="0"/>
                        <a:t>Lumi</a:t>
                      </a:r>
                      <a:r>
                        <a:rPr kumimoji="1" lang="en-US" altLang="ja-JP" dirty="0" smtClean="0"/>
                        <a:t> </a:t>
                      </a:r>
                    </a:p>
                    <a:p>
                      <a:r>
                        <a:rPr kumimoji="1" lang="en-US" altLang="ja-JP" dirty="0" smtClean="0"/>
                        <a:t>( pb</a:t>
                      </a:r>
                      <a:r>
                        <a:rPr kumimoji="1" lang="en-US" altLang="ja-JP" baseline="30000" dirty="0" smtClean="0"/>
                        <a:t>-1</a:t>
                      </a:r>
                      <a:r>
                        <a:rPr kumimoji="1" lang="en-US" altLang="ja-JP" dirty="0" smtClean="0"/>
                        <a:t> 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Pol.</a:t>
                      </a:r>
                      <a:endParaRPr kumimoji="1" lang="ja-JP" altLang="en-US" dirty="0"/>
                    </a:p>
                  </a:txBody>
                  <a:tcPr/>
                </a:tc>
              </a:tr>
              <a:tr h="357187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2003</a:t>
                      </a:r>
                      <a:r>
                        <a:rPr kumimoji="1" lang="en-US" altLang="ja-JP" baseline="0" dirty="0" smtClean="0"/>
                        <a:t> (RUN3)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200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baseline="0" dirty="0" smtClean="0"/>
                        <a:t>1.9</a:t>
                      </a:r>
                      <a:endParaRPr kumimoji="1" lang="ja-JP" altLang="en-US" baseline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0.35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27%</a:t>
                      </a:r>
                      <a:endParaRPr kumimoji="1" lang="ja-JP" altLang="en-US" dirty="0"/>
                    </a:p>
                  </a:txBody>
                  <a:tcPr/>
                </a:tc>
              </a:tr>
              <a:tr h="357187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2004 (RUN4)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200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3.1</a:t>
                      </a:r>
                      <a:endParaRPr kumimoji="1" lang="ja-JP" alt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0.12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40%</a:t>
                      </a:r>
                      <a:endParaRPr kumimoji="1" lang="ja-JP" altLang="en-US" dirty="0"/>
                    </a:p>
                  </a:txBody>
                  <a:tcPr/>
                </a:tc>
              </a:tr>
              <a:tr h="357187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2005 (RUN5)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200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170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3.4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47%</a:t>
                      </a:r>
                      <a:endParaRPr kumimoji="1" lang="ja-JP" altLang="en-US" dirty="0"/>
                    </a:p>
                  </a:txBody>
                  <a:tcPr/>
                </a:tc>
              </a:tr>
              <a:tr h="357187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2006 (RUN6)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200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970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7.5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60%</a:t>
                      </a:r>
                      <a:endParaRPr kumimoji="1" lang="ja-JP" altLang="en-US" dirty="0"/>
                    </a:p>
                  </a:txBody>
                  <a:tcPr/>
                </a:tc>
              </a:tr>
              <a:tr h="357187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62.4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5.3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0.1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48%</a:t>
                      </a:r>
                      <a:endParaRPr kumimoji="1" lang="ja-JP" altLang="en-US" dirty="0"/>
                    </a:p>
                  </a:txBody>
                  <a:tcPr/>
                </a:tc>
              </a:tr>
              <a:tr h="357187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2008 (RUN8)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17000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70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70%</a:t>
                      </a:r>
                      <a:endParaRPr kumimoji="1" lang="ja-JP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1" name="テキスト ボックス 30"/>
          <p:cNvSpPr txBox="1"/>
          <p:nvPr/>
        </p:nvSpPr>
        <p:spPr>
          <a:xfrm>
            <a:off x="6357950" y="6396335"/>
            <a:ext cx="2786050" cy="46166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kumimoji="1" lang="en-US" altLang="ja-JP" sz="2400" dirty="0" smtClean="0"/>
              <a:t>FOM: Figure of Merit</a:t>
            </a:r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4857752" y="6215082"/>
            <a:ext cx="928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 smtClean="0"/>
              <a:t>(plan)</a:t>
            </a:r>
            <a:endParaRPr kumimoji="1" lang="ja-JP" altLang="en-US" sz="2400" dirty="0"/>
          </a:p>
        </p:txBody>
      </p:sp>
      <p:cxnSp>
        <p:nvCxnSpPr>
          <p:cNvPr id="30" name="直線矢印コネクタ 29"/>
          <p:cNvCxnSpPr/>
          <p:nvPr/>
        </p:nvCxnSpPr>
        <p:spPr>
          <a:xfrm rot="10800000">
            <a:off x="4500562" y="6500834"/>
            <a:ext cx="35719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下矢印 31"/>
          <p:cNvSpPr/>
          <p:nvPr/>
        </p:nvSpPr>
        <p:spPr>
          <a:xfrm>
            <a:off x="2786050" y="4500570"/>
            <a:ext cx="45719" cy="1214446"/>
          </a:xfrm>
          <a:prstGeom prst="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グループ化 16"/>
          <p:cNvGrpSpPr/>
          <p:nvPr/>
        </p:nvGrpSpPr>
        <p:grpSpPr>
          <a:xfrm>
            <a:off x="-20068" y="785794"/>
            <a:ext cx="9164068" cy="5500726"/>
            <a:chOff x="0" y="928670"/>
            <a:chExt cx="9153428" cy="5494339"/>
          </a:xfrm>
        </p:grpSpPr>
        <p:pic>
          <p:nvPicPr>
            <p:cNvPr id="22" name="Picture 4"/>
            <p:cNvPicPr>
              <a:picLocks noChangeAspect="1" noChangeArrowheads="1"/>
            </p:cNvPicPr>
            <p:nvPr/>
          </p:nvPicPr>
          <p:blipFill>
            <a:blip r:embed="rId3"/>
            <a:srcRect r="6363" b="23721"/>
            <a:stretch>
              <a:fillRect/>
            </a:stretch>
          </p:blipFill>
          <p:spPr bwMode="auto">
            <a:xfrm>
              <a:off x="0" y="928670"/>
              <a:ext cx="9153428" cy="5494339"/>
            </a:xfrm>
            <a:prstGeom prst="rect">
              <a:avLst/>
            </a:prstGeom>
            <a:noFill/>
          </p:spPr>
        </p:pic>
        <p:pic>
          <p:nvPicPr>
            <p:cNvPr id="23" name="Picture 5" descr="STAR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857620" y="3143248"/>
              <a:ext cx="846138" cy="663575"/>
            </a:xfrm>
            <a:prstGeom prst="rect">
              <a:avLst/>
            </a:prstGeom>
            <a:noFill/>
          </p:spPr>
        </p:pic>
        <p:pic>
          <p:nvPicPr>
            <p:cNvPr id="24" name="Picture 6" descr="PhlogoColorA02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1500166" y="1928802"/>
              <a:ext cx="1219200" cy="381000"/>
            </a:xfrm>
            <a:prstGeom prst="rect">
              <a:avLst/>
            </a:prstGeom>
            <a:noFill/>
          </p:spPr>
        </p:pic>
        <p:pic>
          <p:nvPicPr>
            <p:cNvPr id="25" name="Picture 7" descr="brahms_logo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6572264" y="2000240"/>
              <a:ext cx="990600" cy="530225"/>
            </a:xfrm>
            <a:prstGeom prst="rect">
              <a:avLst/>
            </a:prstGeom>
            <a:noFill/>
          </p:spPr>
        </p:pic>
        <p:pic>
          <p:nvPicPr>
            <p:cNvPr id="26" name="Picture 8" descr="pp_logo_am"/>
            <p:cNvPicPr>
              <a:picLocks noChangeAspect="1" noChangeArrowheads="1" noCrop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7786710" y="1214422"/>
              <a:ext cx="762000" cy="754063"/>
            </a:xfrm>
            <a:prstGeom prst="rect">
              <a:avLst/>
            </a:prstGeom>
            <a:noFill/>
          </p:spPr>
        </p:pic>
        <p:pic>
          <p:nvPicPr>
            <p:cNvPr id="27" name="Picture 9" descr="huge"/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1000100" y="2786058"/>
              <a:ext cx="1219200" cy="398463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</p:pic>
        <p:pic>
          <p:nvPicPr>
            <p:cNvPr id="28" name="Picture 10" descr="BNLlogo"/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6248400" y="4976813"/>
              <a:ext cx="2819400" cy="1085850"/>
            </a:xfrm>
            <a:prstGeom prst="rect">
              <a:avLst/>
            </a:prstGeom>
            <a:noFill/>
          </p:spPr>
        </p:pic>
        <p:sp>
          <p:nvSpPr>
            <p:cNvPr id="29" name="Rectangle 11"/>
            <p:cNvSpPr>
              <a:spLocks noChangeArrowheads="1"/>
            </p:cNvSpPr>
            <p:nvPr/>
          </p:nvSpPr>
          <p:spPr bwMode="auto">
            <a:xfrm>
              <a:off x="3643306" y="2285992"/>
              <a:ext cx="2133600" cy="609600"/>
            </a:xfrm>
            <a:prstGeom prst="rect">
              <a:avLst/>
            </a:prstGeom>
            <a:solidFill>
              <a:srgbClr val="008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pic>
          <p:nvPicPr>
            <p:cNvPr id="30" name="Picture 12" descr="RHIC_name"/>
            <p:cNvPicPr>
              <a:picLocks noChangeAspect="1" noChangeArrowheads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3714744" y="2428868"/>
              <a:ext cx="19812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6" name="Picture 185" descr="Image1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2276619" y="785795"/>
            <a:ext cx="6867380" cy="2214577"/>
          </a:xfrm>
          <a:prstGeom prst="rect">
            <a:avLst/>
          </a:prstGeom>
          <a:noFill/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25470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 smtClean="0"/>
              <a:t>RHIC beam at PHENIX IP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158" y="3214686"/>
            <a:ext cx="8786842" cy="3286148"/>
          </a:xfrm>
          <a:solidFill>
            <a:schemeClr val="bg1"/>
          </a:solidFill>
        </p:spPr>
        <p:txBody>
          <a:bodyPr>
            <a:normAutofit fontScale="92500"/>
          </a:bodyPr>
          <a:lstStyle/>
          <a:p>
            <a:r>
              <a:rPr kumimoji="1" lang="en-US" altLang="ja-JP" dirty="0" smtClean="0"/>
              <a:t>Two independent beams(Blue / Yellow)</a:t>
            </a:r>
          </a:p>
          <a:p>
            <a:r>
              <a:rPr lang="en-US" altLang="ja-JP" dirty="0" smtClean="0"/>
              <a:t>Bunch structure (120 </a:t>
            </a:r>
            <a:r>
              <a:rPr lang="en-US" altLang="ja-JP" dirty="0" err="1" smtClean="0"/>
              <a:t>bunchs</a:t>
            </a:r>
            <a:r>
              <a:rPr lang="en-US" altLang="ja-JP" dirty="0" smtClean="0"/>
              <a:t> in ~106ns interval )</a:t>
            </a:r>
          </a:p>
          <a:p>
            <a:r>
              <a:rPr lang="en-US" altLang="ja-JP" dirty="0" err="1" smtClean="0"/>
              <a:t>Transverse</a:t>
            </a:r>
            <a:r>
              <a:rPr lang="en-US" altLang="ja-JP" dirty="0" err="1" smtClean="0">
                <a:sym typeface="Wingdings" pitchFamily="2" charset="2"/>
              </a:rPr>
              <a:t>Longitudinal</a:t>
            </a:r>
            <a:r>
              <a:rPr lang="en-US" altLang="ja-JP" dirty="0" smtClean="0">
                <a:sym typeface="Wingdings" pitchFamily="2" charset="2"/>
              </a:rPr>
              <a:t> at IP (when we need it)</a:t>
            </a:r>
          </a:p>
          <a:p>
            <a:r>
              <a:rPr lang="en-US" altLang="ja-JP" dirty="0" smtClean="0">
                <a:sym typeface="Wingdings" pitchFamily="2" charset="2"/>
              </a:rPr>
              <a:t>Spin pattern</a:t>
            </a:r>
          </a:p>
          <a:p>
            <a:pPr lvl="1"/>
            <a:endParaRPr lang="en-US" altLang="ja-JP" dirty="0" smtClean="0">
              <a:sym typeface="Wingdings" pitchFamily="2" charset="2"/>
            </a:endParaRPr>
          </a:p>
          <a:p>
            <a:pPr lvl="1"/>
            <a:r>
              <a:rPr lang="en-US" altLang="ja-JP" dirty="0" smtClean="0">
                <a:sym typeface="Wingdings" pitchFamily="2" charset="2"/>
              </a:rPr>
              <a:t>Syst. uncertainty from time-dep. of the det. eff. avoided.</a:t>
            </a:r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dirty="0" err="1" smtClean="0"/>
              <a:t>K.Aoki</a:t>
            </a:r>
            <a:r>
              <a:rPr lang="en-US" altLang="ja-JP" dirty="0" smtClean="0"/>
              <a:t> (Kyoto Univ. / RIKEN)</a:t>
            </a:r>
            <a:endParaRPr lang="ja-JP" altLang="en-US" dirty="0" smtClean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6</a:t>
            </a:fld>
            <a:endParaRPr kumimoji="1" lang="ja-JP" altLang="en-US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2928926" y="4857760"/>
            <a:ext cx="2928958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BLUE   : + + - -  ….</a:t>
            </a:r>
          </a:p>
          <a:p>
            <a:r>
              <a:rPr lang="en-US" altLang="ja-JP" sz="2800" dirty="0" smtClean="0"/>
              <a:t>Yellow:  + - + -  ….</a:t>
            </a:r>
            <a:endParaRPr kumimoji="1" lang="ja-JP" altLang="en-US" sz="2800" dirty="0"/>
          </a:p>
        </p:txBody>
      </p:sp>
      <p:cxnSp>
        <p:nvCxnSpPr>
          <p:cNvPr id="9" name="直線矢印コネクタ 8"/>
          <p:cNvCxnSpPr/>
          <p:nvPr/>
        </p:nvCxnSpPr>
        <p:spPr>
          <a:xfrm>
            <a:off x="5786446" y="5357826"/>
            <a:ext cx="71438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6590609" y="4929198"/>
            <a:ext cx="25533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 smtClean="0"/>
              <a:t>We can get all possible</a:t>
            </a:r>
          </a:p>
          <a:p>
            <a:r>
              <a:rPr kumimoji="1" lang="en-US" altLang="ja-JP" sz="2000" dirty="0" smtClean="0"/>
              <a:t>Collision patterns.</a:t>
            </a:r>
            <a:endParaRPr kumimoji="1" lang="ja-JP" altLang="en-US" sz="2000" dirty="0"/>
          </a:p>
        </p:txBody>
      </p:sp>
      <p:sp>
        <p:nvSpPr>
          <p:cNvPr id="31" name="正方形/長方形 30"/>
          <p:cNvSpPr/>
          <p:nvPr/>
        </p:nvSpPr>
        <p:spPr>
          <a:xfrm>
            <a:off x="2285984" y="3000372"/>
            <a:ext cx="6858016" cy="357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円/楕円 31"/>
          <p:cNvSpPr/>
          <p:nvPr/>
        </p:nvSpPr>
        <p:spPr>
          <a:xfrm>
            <a:off x="285720" y="2643182"/>
            <a:ext cx="714380" cy="7143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フリーフォーム 32"/>
          <p:cNvSpPr/>
          <p:nvPr/>
        </p:nvSpPr>
        <p:spPr>
          <a:xfrm>
            <a:off x="928662" y="2428868"/>
            <a:ext cx="4286280" cy="945070"/>
          </a:xfrm>
          <a:custGeom>
            <a:avLst/>
            <a:gdLst>
              <a:gd name="connsiteX0" fmla="*/ 0 w 3677697"/>
              <a:gd name="connsiteY0" fmla="*/ 552660 h 802194"/>
              <a:gd name="connsiteX1" fmla="*/ 994787 w 3677697"/>
              <a:gd name="connsiteY1" fmla="*/ 773723 h 802194"/>
              <a:gd name="connsiteX2" fmla="*/ 2059912 w 3677697"/>
              <a:gd name="connsiteY2" fmla="*/ 673240 h 802194"/>
              <a:gd name="connsiteX3" fmla="*/ 3677697 w 3677697"/>
              <a:gd name="connsiteY3" fmla="*/ 0 h 802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77697" h="802194">
                <a:moveTo>
                  <a:pt x="0" y="552660"/>
                </a:moveTo>
                <a:cubicBezTo>
                  <a:pt x="325734" y="653143"/>
                  <a:pt x="651468" y="753626"/>
                  <a:pt x="994787" y="773723"/>
                </a:cubicBezTo>
                <a:cubicBezTo>
                  <a:pt x="1338106" y="793820"/>
                  <a:pt x="1612760" y="802194"/>
                  <a:pt x="2059912" y="673240"/>
                </a:cubicBezTo>
                <a:cubicBezTo>
                  <a:pt x="2507064" y="544286"/>
                  <a:pt x="3092380" y="272143"/>
                  <a:pt x="3677697" y="0"/>
                </a:cubicBezTo>
              </a:path>
            </a:pathLst>
          </a:custGeom>
          <a:ln w="38100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85" descr="Image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786182" y="500042"/>
            <a:ext cx="5357818" cy="1727777"/>
          </a:xfrm>
          <a:prstGeom prst="rect">
            <a:avLst/>
          </a:prstGeom>
          <a:noFill/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8596" y="0"/>
            <a:ext cx="8501122" cy="725470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 smtClean="0"/>
              <a:t>PHENIX global detector</a:t>
            </a:r>
            <a:endParaRPr kumimoji="1" lang="ja-JP" altLang="en-US" dirty="0"/>
          </a:p>
        </p:txBody>
      </p:sp>
      <p:pic>
        <p:nvPicPr>
          <p:cNvPr id="7" name="Picture 208" descr="Image1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419600" y="2786058"/>
            <a:ext cx="4724400" cy="2625725"/>
          </a:xfrm>
          <a:prstGeom prst="rect">
            <a:avLst/>
          </a:prstGeom>
          <a:noFill/>
        </p:spPr>
      </p:pic>
      <p:sp>
        <p:nvSpPr>
          <p:cNvPr id="8" name="Rectangle 167"/>
          <p:cNvSpPr txBox="1">
            <a:spLocks noChangeArrowheads="1"/>
          </p:cNvSpPr>
          <p:nvPr/>
        </p:nvSpPr>
        <p:spPr>
          <a:xfrm>
            <a:off x="0" y="1285860"/>
            <a:ext cx="4857752" cy="1643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en-US" altLang="ja-JP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BBC</a:t>
            </a:r>
            <a:r>
              <a:rPr kumimoji="1" lang="en-US" altLang="ja-JP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    </a:t>
            </a:r>
            <a:r>
              <a:rPr kumimoji="1" lang="en-US" altLang="ja-JP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3.0&lt;</a:t>
            </a:r>
            <a:r>
              <a:rPr kumimoji="1" lang="en-US" altLang="ja-JP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|</a:t>
            </a:r>
            <a:r>
              <a:rPr kumimoji="1" lang="en-US" altLang="ja-JP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h</a:t>
            </a:r>
            <a:r>
              <a:rPr kumimoji="1" lang="en-US" altLang="ja-JP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|</a:t>
            </a:r>
            <a:r>
              <a:rPr kumimoji="1" lang="en-US" altLang="ja-JP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&lt;3.9</a:t>
            </a:r>
          </a:p>
          <a:p>
            <a:pPr marL="742950" marR="0" lvl="1" indent="-28575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Quartz Cherenkov det.</a:t>
            </a:r>
          </a:p>
          <a:p>
            <a:pPr marL="342900" lvl="0" indent="-342900">
              <a:lnSpc>
                <a:spcPct val="80000"/>
              </a:lnSpc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kumimoji="1" lang="en-US" altLang="ja-JP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ZDC     </a:t>
            </a:r>
            <a:r>
              <a:rPr lang="en-US" altLang="ja-JP" sz="2800" dirty="0" smtClean="0">
                <a:latin typeface="Times New Roman" pitchFamily="18" charset="0"/>
              </a:rPr>
              <a:t>|</a:t>
            </a:r>
            <a:r>
              <a:rPr lang="en-US" altLang="ja-JP" sz="2800" dirty="0" smtClean="0">
                <a:latin typeface="Symbol" pitchFamily="18" charset="2"/>
              </a:rPr>
              <a:t>h</a:t>
            </a:r>
            <a:r>
              <a:rPr lang="en-US" altLang="ja-JP" sz="2800" dirty="0" smtClean="0">
                <a:latin typeface="Times New Roman" pitchFamily="18" charset="0"/>
              </a:rPr>
              <a:t>|</a:t>
            </a:r>
            <a:r>
              <a:rPr lang="en-US" altLang="ja-JP" sz="2800" dirty="0" smtClean="0">
                <a:latin typeface="+mj-lt"/>
              </a:rPr>
              <a:t>&gt;6.6 (+/- </a:t>
            </a:r>
            <a:r>
              <a:rPr kumimoji="1" lang="en-US" altLang="ja-JP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2.8mrad.)</a:t>
            </a:r>
          </a:p>
          <a:p>
            <a:pPr marL="742950" marR="0" lvl="1" indent="-28575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Hadron Calorimeter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1" lang="en-US" altLang="ja-JP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1" lang="en-US" altLang="ja-JP" sz="2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12" name="Group 216"/>
          <p:cNvGrpSpPr>
            <a:grpSpLocks/>
          </p:cNvGrpSpPr>
          <p:nvPr/>
        </p:nvGrpSpPr>
        <p:grpSpPr bwMode="auto">
          <a:xfrm>
            <a:off x="4648200" y="2481258"/>
            <a:ext cx="4343400" cy="3276600"/>
            <a:chOff x="2928" y="2256"/>
            <a:chExt cx="2736" cy="2064"/>
          </a:xfrm>
        </p:grpSpPr>
        <p:sp>
          <p:nvSpPr>
            <p:cNvPr id="13" name="Line 190"/>
            <p:cNvSpPr>
              <a:spLocks noChangeShapeType="1"/>
            </p:cNvSpPr>
            <p:nvPr/>
          </p:nvSpPr>
          <p:spPr bwMode="auto">
            <a:xfrm flipH="1" flipV="1">
              <a:off x="2928" y="3360"/>
              <a:ext cx="576" cy="76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4" name="Text Box 191"/>
            <p:cNvSpPr txBox="1">
              <a:spLocks noChangeArrowheads="1"/>
            </p:cNvSpPr>
            <p:nvPr/>
          </p:nvSpPr>
          <p:spPr bwMode="auto">
            <a:xfrm>
              <a:off x="3168" y="4070"/>
              <a:ext cx="2490" cy="2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b="1" dirty="0"/>
                <a:t>ZDC+SMD</a:t>
              </a:r>
              <a:r>
                <a:rPr lang="en-US" altLang="ja-JP" dirty="0"/>
                <a:t> ( Local </a:t>
              </a:r>
              <a:r>
                <a:rPr lang="en-US" altLang="ja-JP" dirty="0" err="1"/>
                <a:t>Polarimeter</a:t>
              </a:r>
              <a:r>
                <a:rPr lang="en-US" altLang="ja-JP" dirty="0"/>
                <a:t> )</a:t>
              </a:r>
            </a:p>
          </p:txBody>
        </p:sp>
        <p:sp>
          <p:nvSpPr>
            <p:cNvPr id="15" name="Line 192"/>
            <p:cNvSpPr>
              <a:spLocks noChangeShapeType="1"/>
            </p:cNvSpPr>
            <p:nvPr/>
          </p:nvSpPr>
          <p:spPr bwMode="auto">
            <a:xfrm flipV="1">
              <a:off x="5232" y="3360"/>
              <a:ext cx="432" cy="768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6" name="AutoShape 203"/>
            <p:cNvSpPr>
              <a:spLocks noChangeArrowheads="1"/>
            </p:cNvSpPr>
            <p:nvPr/>
          </p:nvSpPr>
          <p:spPr bwMode="auto">
            <a:xfrm>
              <a:off x="4176" y="3216"/>
              <a:ext cx="192" cy="192"/>
            </a:xfrm>
            <a:prstGeom prst="irregularSeal1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17" name="Text Box 204"/>
            <p:cNvSpPr txBox="1">
              <a:spLocks noChangeArrowheads="1"/>
            </p:cNvSpPr>
            <p:nvPr/>
          </p:nvSpPr>
          <p:spPr bwMode="auto">
            <a:xfrm>
              <a:off x="3984" y="2256"/>
              <a:ext cx="5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ja-JP" sz="2400"/>
                <a:t>BBC</a:t>
              </a:r>
            </a:p>
          </p:txBody>
        </p:sp>
        <p:sp>
          <p:nvSpPr>
            <p:cNvPr id="18" name="Line 205"/>
            <p:cNvSpPr>
              <a:spLocks noChangeShapeType="1"/>
            </p:cNvSpPr>
            <p:nvPr/>
          </p:nvSpPr>
          <p:spPr bwMode="auto">
            <a:xfrm flipH="1">
              <a:off x="4032" y="2496"/>
              <a:ext cx="96" cy="76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" name="Line 206"/>
            <p:cNvSpPr>
              <a:spLocks noChangeShapeType="1"/>
            </p:cNvSpPr>
            <p:nvPr/>
          </p:nvSpPr>
          <p:spPr bwMode="auto">
            <a:xfrm>
              <a:off x="4416" y="2496"/>
              <a:ext cx="48" cy="72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5" name="フッター プレースホルダ 24"/>
          <p:cNvSpPr>
            <a:spLocks noGrp="1"/>
          </p:cNvSpPr>
          <p:nvPr>
            <p:ph type="ftr" sz="quarter" idx="11"/>
          </p:nvPr>
        </p:nvSpPr>
        <p:spPr>
          <a:xfrm>
            <a:off x="3143240" y="6643710"/>
            <a:ext cx="2895600" cy="214290"/>
          </a:xfrm>
        </p:spPr>
        <p:txBody>
          <a:bodyPr/>
          <a:lstStyle/>
          <a:p>
            <a:r>
              <a:rPr lang="en-US" altLang="ja-JP" dirty="0" err="1" smtClean="0"/>
              <a:t>K.Aoki</a:t>
            </a:r>
            <a:r>
              <a:rPr lang="en-US" altLang="ja-JP" dirty="0" smtClean="0"/>
              <a:t> (Kyoto Univ. / RIKEN)</a:t>
            </a:r>
            <a:endParaRPr lang="ja-JP" altLang="en-US" dirty="0" smtClean="0"/>
          </a:p>
        </p:txBody>
      </p:sp>
      <p:sp>
        <p:nvSpPr>
          <p:cNvPr id="27" name="スライド番号プレースホルダ 26"/>
          <p:cNvSpPr>
            <a:spLocks noGrp="1"/>
          </p:cNvSpPr>
          <p:nvPr>
            <p:ph type="sldNum" sz="quarter" idx="12"/>
          </p:nvPr>
        </p:nvSpPr>
        <p:spPr>
          <a:xfrm>
            <a:off x="7010400" y="5392733"/>
            <a:ext cx="2133600" cy="365125"/>
          </a:xfrm>
        </p:spPr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0" y="785794"/>
            <a:ext cx="35712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u="sng" dirty="0" smtClean="0"/>
              <a:t>Luminosity Measure</a:t>
            </a:r>
            <a:endParaRPr kumimoji="1" lang="ja-JP" altLang="en-US" sz="3200" u="sng" dirty="0"/>
          </a:p>
        </p:txBody>
      </p:sp>
      <p:sp>
        <p:nvSpPr>
          <p:cNvPr id="21" name="Rectangle 167"/>
          <p:cNvSpPr txBox="1">
            <a:spLocks noChangeArrowheads="1"/>
          </p:cNvSpPr>
          <p:nvPr/>
        </p:nvSpPr>
        <p:spPr>
          <a:xfrm>
            <a:off x="0" y="4786322"/>
            <a:ext cx="4267200" cy="17145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en-US" altLang="ja-JP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SMD (+ ZDC).</a:t>
            </a:r>
          </a:p>
          <a:p>
            <a:pPr marL="742950" marR="0" lvl="1" indent="-28575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1" lang="en-US" altLang="ja-JP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Scintillator</a:t>
            </a:r>
            <a:r>
              <a:rPr kumimoji="1" lang="en-US" altLang="ja-JP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hodoscopes.   </a:t>
            </a:r>
          </a:p>
          <a:p>
            <a:pPr marL="742950" marR="0" lvl="1" indent="-285750" algn="l" defTabSz="914400" rtl="0" eaLnBrk="1" fontAlgn="auto" latinLnBrk="0" hangingPunct="1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lang="en-US" altLang="ja-JP" sz="2400" dirty="0" smtClean="0">
                <a:latin typeface="+mj-lt"/>
              </a:rPr>
              <a:t>Measures transverse component of beam through A</a:t>
            </a:r>
            <a:r>
              <a:rPr lang="en-US" altLang="ja-JP" sz="2400" baseline="-25000" dirty="0" smtClean="0">
                <a:latin typeface="+mj-lt"/>
              </a:rPr>
              <a:t>N</a:t>
            </a:r>
            <a:r>
              <a:rPr lang="en-US" altLang="ja-JP" sz="2400" dirty="0" smtClean="0">
                <a:latin typeface="+mj-lt"/>
              </a:rPr>
              <a:t> of neutron.</a:t>
            </a:r>
            <a:endParaRPr kumimoji="1" lang="en-US" altLang="ja-JP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0" y="2928934"/>
            <a:ext cx="420006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 smtClean="0"/>
              <a:t>Thes</a:t>
            </a:r>
            <a:r>
              <a:rPr lang="en-US" altLang="ja-JP" sz="2000" dirty="0" smtClean="0"/>
              <a:t>e two independent </a:t>
            </a:r>
            <a:r>
              <a:rPr lang="en-US" altLang="ja-JP" sz="2000" dirty="0" err="1" smtClean="0"/>
              <a:t>lumi</a:t>
            </a:r>
            <a:r>
              <a:rPr lang="en-US" altLang="ja-JP" sz="2000" dirty="0" smtClean="0"/>
              <a:t>. measure</a:t>
            </a:r>
          </a:p>
          <a:p>
            <a:r>
              <a:rPr lang="en-US" altLang="ja-JP" sz="2000" dirty="0" smtClean="0"/>
              <a:t> are compared to find out uncertainty</a:t>
            </a:r>
          </a:p>
          <a:p>
            <a:r>
              <a:rPr lang="en-US" altLang="ja-JP" sz="2000" dirty="0" smtClean="0"/>
              <a:t> on Relative </a:t>
            </a:r>
            <a:r>
              <a:rPr lang="en-US" altLang="ja-JP" sz="2000" dirty="0" err="1" smtClean="0"/>
              <a:t>Lumi</a:t>
            </a:r>
            <a:r>
              <a:rPr lang="en-US" altLang="ja-JP" sz="2000" dirty="0" smtClean="0"/>
              <a:t>.</a:t>
            </a:r>
            <a:endParaRPr kumimoji="1" lang="ja-JP" altLang="en-US" sz="2000" dirty="0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0" y="4214818"/>
            <a:ext cx="30759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u="sng" dirty="0" smtClean="0"/>
              <a:t>Local </a:t>
            </a:r>
            <a:r>
              <a:rPr lang="en-US" altLang="ja-JP" sz="3200" u="sng" dirty="0" err="1" smtClean="0"/>
              <a:t>Polarimetry</a:t>
            </a:r>
            <a:endParaRPr kumimoji="1" lang="ja-JP" altLang="en-US" sz="3200" u="sng" dirty="0"/>
          </a:p>
        </p:txBody>
      </p:sp>
      <p:grpSp>
        <p:nvGrpSpPr>
          <p:cNvPr id="29" name="グループ化 28"/>
          <p:cNvGrpSpPr/>
          <p:nvPr/>
        </p:nvGrpSpPr>
        <p:grpSpPr>
          <a:xfrm>
            <a:off x="4857752" y="5643578"/>
            <a:ext cx="2870195" cy="973680"/>
            <a:chOff x="4857752" y="5643578"/>
            <a:chExt cx="2870195" cy="973680"/>
          </a:xfrm>
        </p:grpSpPr>
        <p:graphicFrame>
          <p:nvGraphicFramePr>
            <p:cNvPr id="38913" name="コンテンツ プレースホルダ 5"/>
            <p:cNvGraphicFramePr>
              <a:graphicFrameLocks noChangeAspect="1"/>
            </p:cNvGraphicFramePr>
            <p:nvPr/>
          </p:nvGraphicFramePr>
          <p:xfrm>
            <a:off x="4857752" y="5643578"/>
            <a:ext cx="2870195" cy="973680"/>
          </p:xfrm>
          <a:graphic>
            <a:graphicData uri="http://schemas.openxmlformats.org/presentationml/2006/ole">
              <p:oleObj spid="_x0000_s38913" name="数式" r:id="rId7" imgW="1498320" imgH="457200" progId="Equation.3">
                <p:embed/>
              </p:oleObj>
            </a:graphicData>
          </a:graphic>
        </p:graphicFrame>
        <p:sp>
          <p:nvSpPr>
            <p:cNvPr id="26" name="円/楕円 25"/>
            <p:cNvSpPr/>
            <p:nvPr/>
          </p:nvSpPr>
          <p:spPr>
            <a:xfrm>
              <a:off x="6858016" y="5715016"/>
              <a:ext cx="285752" cy="35719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円/楕円 27"/>
            <p:cNvSpPr/>
            <p:nvPr/>
          </p:nvSpPr>
          <p:spPr>
            <a:xfrm>
              <a:off x="6858016" y="6215082"/>
              <a:ext cx="285752" cy="35719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2" name="フリーフォーム 31"/>
          <p:cNvSpPr/>
          <p:nvPr/>
        </p:nvSpPr>
        <p:spPr>
          <a:xfrm>
            <a:off x="5144756" y="1688123"/>
            <a:ext cx="552659" cy="1155561"/>
          </a:xfrm>
          <a:custGeom>
            <a:avLst/>
            <a:gdLst>
              <a:gd name="connsiteX0" fmla="*/ 552659 w 552659"/>
              <a:gd name="connsiteY0" fmla="*/ 0 h 1155561"/>
              <a:gd name="connsiteX1" fmla="*/ 442128 w 552659"/>
              <a:gd name="connsiteY1" fmla="*/ 753626 h 1155561"/>
              <a:gd name="connsiteX2" fmla="*/ 0 w 552659"/>
              <a:gd name="connsiteY2" fmla="*/ 1155561 h 1155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52659" h="1155561">
                <a:moveTo>
                  <a:pt x="552659" y="0"/>
                </a:moveTo>
                <a:cubicBezTo>
                  <a:pt x="543448" y="280516"/>
                  <a:pt x="534238" y="561033"/>
                  <a:pt x="442128" y="753626"/>
                </a:cubicBezTo>
                <a:cubicBezTo>
                  <a:pt x="350018" y="946220"/>
                  <a:pt x="175009" y="1050890"/>
                  <a:pt x="0" y="1155561"/>
                </a:cubicBezTo>
              </a:path>
            </a:pathLst>
          </a:cu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フリーフォーム 32"/>
          <p:cNvSpPr/>
          <p:nvPr/>
        </p:nvSpPr>
        <p:spPr>
          <a:xfrm>
            <a:off x="7375490" y="1698171"/>
            <a:ext cx="994787" cy="1065126"/>
          </a:xfrm>
          <a:custGeom>
            <a:avLst/>
            <a:gdLst>
              <a:gd name="connsiteX0" fmla="*/ 0 w 994787"/>
              <a:gd name="connsiteY0" fmla="*/ 0 h 1065126"/>
              <a:gd name="connsiteX1" fmla="*/ 462224 w 994787"/>
              <a:gd name="connsiteY1" fmla="*/ 874207 h 1065126"/>
              <a:gd name="connsiteX2" fmla="*/ 994787 w 994787"/>
              <a:gd name="connsiteY2" fmla="*/ 1065126 h 1065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94787" h="1065126">
                <a:moveTo>
                  <a:pt x="0" y="0"/>
                </a:moveTo>
                <a:cubicBezTo>
                  <a:pt x="148213" y="348343"/>
                  <a:pt x="296426" y="696686"/>
                  <a:pt x="462224" y="874207"/>
                </a:cubicBezTo>
                <a:cubicBezTo>
                  <a:pt x="628022" y="1051728"/>
                  <a:pt x="811404" y="1058427"/>
                  <a:pt x="994787" y="1065126"/>
                </a:cubicBezTo>
              </a:path>
            </a:pathLst>
          </a:custGeom>
          <a:ln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0" grpId="0"/>
      <p:bldP spid="21" grpId="1"/>
      <p:bldP spid="22" grpId="0"/>
      <p:bldP spid="23" grpId="1"/>
      <p:bldP spid="32" grpId="0" animBg="1"/>
      <p:bldP spid="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 smtClean="0"/>
              <a:t>PHENIX Detector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K.Aoki (Kyoto Univ. / RIKEN)</a:t>
            </a:r>
            <a:endParaRPr lang="ja-JP" altLang="en-US" dirty="0" smtClean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8</a:t>
            </a:fld>
            <a:endParaRPr kumimoji="1" lang="ja-JP" altLang="en-US"/>
          </a:p>
        </p:txBody>
      </p:sp>
      <p:pic>
        <p:nvPicPr>
          <p:cNvPr id="41986" name="Picture 2" descr="D:\Documents and Settings\aoki\デスクトップ\cn5-373-01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 flipH="1">
            <a:off x="0" y="2857496"/>
            <a:ext cx="5500694" cy="3630458"/>
          </a:xfrm>
          <a:prstGeom prst="rect">
            <a:avLst/>
          </a:prstGeom>
          <a:noFill/>
        </p:spPr>
      </p:pic>
      <p:pic>
        <p:nvPicPr>
          <p:cNvPr id="41989" name="Picture 5" descr="Image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962400" y="2643182"/>
            <a:ext cx="5181600" cy="3898900"/>
          </a:xfrm>
          <a:prstGeom prst="rect">
            <a:avLst/>
          </a:prstGeom>
          <a:noFill/>
        </p:spPr>
      </p:pic>
      <p:sp>
        <p:nvSpPr>
          <p:cNvPr id="11" name="コンテンツ プレースホルダ 2"/>
          <p:cNvSpPr txBox="1">
            <a:spLocks/>
          </p:cNvSpPr>
          <p:nvPr/>
        </p:nvSpPr>
        <p:spPr>
          <a:xfrm>
            <a:off x="428596" y="571480"/>
            <a:ext cx="8715404" cy="242889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en-US" altLang="ja-JP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PHENIX has ability to detect various final state particles such</a:t>
            </a:r>
            <a:r>
              <a:rPr kumimoji="1" lang="en-US" altLang="ja-JP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as </a:t>
            </a:r>
            <a:r>
              <a:rPr kumimoji="1" lang="en-US" altLang="ja-JP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</a:rPr>
              <a:t>p</a:t>
            </a:r>
            <a:r>
              <a:rPr kumimoji="1" lang="en-US" altLang="ja-JP" sz="3200" b="0" i="0" u="none" strike="noStrike" kern="120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0</a:t>
            </a:r>
            <a:r>
              <a:rPr kumimoji="1" lang="en-US" altLang="ja-JP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1" lang="en-US" altLang="ja-JP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</a:rPr>
              <a:t>p</a:t>
            </a:r>
            <a:r>
              <a:rPr kumimoji="1" lang="en-US" altLang="ja-JP" sz="3200" b="0" i="0" u="none" strike="noStrike" kern="120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+-</a:t>
            </a:r>
            <a:r>
              <a:rPr kumimoji="1" lang="en-US" altLang="ja-JP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1" lang="en-US" altLang="ja-JP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</a:rPr>
              <a:t>g</a:t>
            </a:r>
            <a:r>
              <a:rPr kumimoji="1" lang="en-US" altLang="ja-JP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</a:t>
            </a:r>
            <a:r>
              <a:rPr kumimoji="1" lang="en-US" altLang="ja-JP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1" lang="en-US" altLang="ja-JP" sz="3200" b="0" i="0" u="none" strike="noStrike" kern="120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+-</a:t>
            </a:r>
            <a:r>
              <a:rPr kumimoji="1" lang="en-US" altLang="ja-JP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and </a:t>
            </a:r>
            <a:r>
              <a:rPr kumimoji="1" lang="en-US" altLang="ja-JP" sz="3200" b="0" i="1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</a:rPr>
              <a:t>m</a:t>
            </a:r>
            <a:r>
              <a:rPr kumimoji="1" lang="en-US" altLang="ja-JP" sz="3200" b="0" i="1" u="none" strike="noStrike" kern="1200" cap="none" spc="0" normalizeH="0" baseline="3000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</a:rPr>
              <a:t>+-</a:t>
            </a:r>
            <a:r>
              <a:rPr kumimoji="1" lang="en-US" altLang="ja-JP" sz="3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 Here I concentrate on </a:t>
            </a:r>
            <a:r>
              <a:rPr lang="en-US" altLang="ja-JP" sz="3200" dirty="0" smtClean="0">
                <a:latin typeface="Symbol" pitchFamily="18" charset="2"/>
              </a:rPr>
              <a:t>p</a:t>
            </a:r>
            <a:r>
              <a:rPr lang="en-US" altLang="ja-JP" sz="3200" baseline="30000" dirty="0" smtClean="0"/>
              <a:t>0</a:t>
            </a:r>
            <a:r>
              <a:rPr lang="en-US" altLang="ja-JP" sz="3200" dirty="0" smtClean="0"/>
              <a:t>(or </a:t>
            </a:r>
            <a:r>
              <a:rPr lang="en-US" altLang="ja-JP" sz="3200" i="1" dirty="0" smtClean="0">
                <a:latin typeface="Symbol" pitchFamily="18" charset="2"/>
              </a:rPr>
              <a:t>g</a:t>
            </a:r>
            <a:r>
              <a:rPr lang="en-US" altLang="ja-JP" sz="3200" dirty="0" smtClean="0"/>
              <a:t>) detection.</a:t>
            </a:r>
            <a:endParaRPr kumimoji="1" lang="en-US" altLang="ja-JP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1" lang="en-US" altLang="ja-JP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1" lang="en-US" altLang="ja-JP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</a:t>
            </a:r>
            <a:r>
              <a:rPr kumimoji="1" lang="en-US" altLang="ja-JP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h</a:t>
            </a:r>
            <a:r>
              <a:rPr kumimoji="1" lang="en-US" altLang="ja-JP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|&lt;0.35, </a:t>
            </a:r>
            <a:r>
              <a:rPr kumimoji="1" lang="en-US" altLang="ja-JP" sz="3200" b="0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itchFamily="18" charset="2"/>
                <a:ea typeface="+mn-ea"/>
                <a:cs typeface="+mn-cs"/>
              </a:rPr>
              <a:t>Df</a:t>
            </a:r>
            <a:r>
              <a:rPr kumimoji="1" lang="en-US" altLang="ja-JP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~ 2 x 90deg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ja-JP" sz="3200" dirty="0" err="1" smtClean="0"/>
              <a:t>EMCal</a:t>
            </a:r>
            <a:r>
              <a:rPr lang="en-US" altLang="ja-JP" sz="3200" dirty="0" smtClean="0"/>
              <a:t>(</a:t>
            </a:r>
            <a:r>
              <a:rPr lang="en-US" altLang="ja-JP" sz="3200" dirty="0" err="1" smtClean="0"/>
              <a:t>PbSc,PbGl</a:t>
            </a:r>
            <a:r>
              <a:rPr lang="en-US" altLang="ja-JP" sz="3200" dirty="0" smtClean="0"/>
              <a:t>) for </a:t>
            </a:r>
            <a:r>
              <a:rPr lang="en-US" altLang="ja-JP" sz="3200" i="1" dirty="0" smtClean="0">
                <a:latin typeface="Symbol" pitchFamily="18" charset="2"/>
              </a:rPr>
              <a:t>g</a:t>
            </a:r>
            <a:r>
              <a:rPr lang="en-US" altLang="ja-JP" sz="3200" dirty="0" smtClean="0"/>
              <a:t> measurement. </a:t>
            </a:r>
            <a:r>
              <a:rPr lang="en-US" altLang="ja-JP" sz="3200" dirty="0" smtClean="0">
                <a:latin typeface="Symbol" pitchFamily="18" charset="2"/>
              </a:rPr>
              <a:t>p</a:t>
            </a:r>
            <a:r>
              <a:rPr lang="en-US" altLang="ja-JP" sz="3200" baseline="30000" dirty="0" smtClean="0"/>
              <a:t>0</a:t>
            </a:r>
            <a:r>
              <a:rPr lang="en-US" altLang="ja-JP" sz="3200" dirty="0" smtClean="0"/>
              <a:t> detected via </a:t>
            </a:r>
            <a:r>
              <a:rPr lang="en-US" altLang="ja-JP" sz="3200" i="1" dirty="0" err="1" smtClean="0">
                <a:latin typeface="Symbol" pitchFamily="18" charset="2"/>
              </a:rPr>
              <a:t>gg</a:t>
            </a:r>
            <a:r>
              <a:rPr lang="en-US" altLang="ja-JP" sz="3200" dirty="0" smtClean="0"/>
              <a:t> decay.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altLang="ja-JP" sz="3200" dirty="0" smtClean="0"/>
              <a:t>High energy photon trigger available</a:t>
            </a:r>
            <a:endParaRPr kumimoji="1" lang="en-US" altLang="ja-JP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1" lang="ja-JP" altLang="en-US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1" lang="ja-JP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2500298" y="6143644"/>
            <a:ext cx="7168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beam</a:t>
            </a:r>
            <a:endParaRPr kumimoji="1" lang="ja-JP" altLang="en-US" dirty="0"/>
          </a:p>
        </p:txBody>
      </p:sp>
      <p:sp>
        <p:nvSpPr>
          <p:cNvPr id="21" name="正方形/長方形 20"/>
          <p:cNvSpPr/>
          <p:nvPr/>
        </p:nvSpPr>
        <p:spPr>
          <a:xfrm>
            <a:off x="2714612" y="5357826"/>
            <a:ext cx="142876" cy="7858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矢印コネクタ 16"/>
          <p:cNvCxnSpPr>
            <a:stCxn id="21" idx="2"/>
            <a:endCxn id="21" idx="0"/>
          </p:cNvCxnSpPr>
          <p:nvPr/>
        </p:nvCxnSpPr>
        <p:spPr>
          <a:xfrm rot="5400000" flipH="1">
            <a:off x="2393141" y="5750735"/>
            <a:ext cx="785818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142844" y="1214422"/>
            <a:ext cx="19324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Central Arm</a:t>
            </a:r>
            <a:endParaRPr kumimoji="1" lang="ja-JP" altLang="en-US" sz="2800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2" name="Picture 6" descr="D:\Documents and Settings\aoki\デスクトップ\Image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544070"/>
            <a:ext cx="3571868" cy="4948974"/>
          </a:xfrm>
          <a:prstGeom prst="rect">
            <a:avLst/>
          </a:prstGeom>
          <a:noFill/>
        </p:spPr>
      </p:pic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K.Aoki (Kyoto Univ. / RIKEN)</a:t>
            </a:r>
            <a:endParaRPr lang="ja-JP" altLang="en-US" dirty="0" smtClean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9</a:t>
            </a:fld>
            <a:endParaRPr kumimoji="1" lang="ja-JP" altLang="en-US"/>
          </a:p>
        </p:txBody>
      </p:sp>
      <p:sp>
        <p:nvSpPr>
          <p:cNvPr id="6" name="タイトル 1"/>
          <p:cNvSpPr txBox="1">
            <a:spLocks/>
          </p:cNvSpPr>
          <p:nvPr/>
        </p:nvSpPr>
        <p:spPr>
          <a:xfrm>
            <a:off x="428596" y="0"/>
            <a:ext cx="8229600" cy="928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cross section – pQCD applicability</a:t>
            </a:r>
            <a:endParaRPr kumimoji="1" lang="ja-JP" altLang="en-US" sz="4400" b="0" i="0" u="none" strike="noStrike" kern="1200" cap="none" spc="0" normalizeH="0" baseline="300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28596" y="714356"/>
            <a:ext cx="38581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RUN5  200GeV -- </a:t>
            </a:r>
            <a:r>
              <a:rPr kumimoji="1" lang="en-US" altLang="ja-JP" sz="2800" dirty="0" smtClean="0">
                <a:latin typeface="Symbol" pitchFamily="18" charset="2"/>
              </a:rPr>
              <a:t>p</a:t>
            </a:r>
            <a:r>
              <a:rPr kumimoji="1" lang="en-US" altLang="ja-JP" sz="2800" baseline="30000" dirty="0" smtClean="0"/>
              <a:t>0 </a:t>
            </a:r>
          </a:p>
          <a:p>
            <a:r>
              <a:rPr lang="en-US" sz="2800" dirty="0" smtClean="0"/>
              <a:t>arXiv:0704.3599 [</a:t>
            </a:r>
            <a:r>
              <a:rPr lang="en-US" sz="2800" dirty="0" err="1" smtClean="0"/>
              <a:t>hep</a:t>
            </a:r>
            <a:r>
              <a:rPr lang="en-US" sz="2800" dirty="0" smtClean="0"/>
              <a:t>-ex]</a:t>
            </a:r>
            <a:endParaRPr lang="ja-JP" altLang="en-US" sz="2800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5342895" y="785794"/>
            <a:ext cx="38011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RUN5  200GeV – direct </a:t>
            </a:r>
            <a:r>
              <a:rPr kumimoji="1" lang="en-US" altLang="ja-JP" sz="2800" dirty="0" smtClean="0">
                <a:latin typeface="Symbol" pitchFamily="18" charset="2"/>
              </a:rPr>
              <a:t>g</a:t>
            </a:r>
            <a:endParaRPr kumimoji="1" lang="en-US" altLang="ja-JP" sz="2800" baseline="30000" dirty="0" smtClean="0">
              <a:latin typeface="Symbol" pitchFamily="18" charset="2"/>
            </a:endParaRPr>
          </a:p>
        </p:txBody>
      </p:sp>
      <p:pic>
        <p:nvPicPr>
          <p:cNvPr id="11" name="Picture 2" descr="D:\Documents and Settings\aoki\デスクトップ\phenix_288x94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00298" y="3786190"/>
            <a:ext cx="1066782" cy="348185"/>
          </a:xfrm>
          <a:prstGeom prst="rect">
            <a:avLst/>
          </a:prstGeom>
          <a:noFill/>
        </p:spPr>
      </p:pic>
      <p:sp>
        <p:nvSpPr>
          <p:cNvPr id="12" name="テキスト ボックス 11"/>
          <p:cNvSpPr txBox="1"/>
          <p:nvPr/>
        </p:nvSpPr>
        <p:spPr>
          <a:xfrm>
            <a:off x="3786182" y="2428868"/>
            <a:ext cx="1175771" cy="107721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3200" dirty="0" err="1" smtClean="0"/>
              <a:t>pQCD</a:t>
            </a:r>
            <a:endParaRPr kumimoji="1" lang="en-US" altLang="ja-JP" sz="3200" dirty="0" smtClean="0"/>
          </a:p>
          <a:p>
            <a:r>
              <a:rPr lang="en-US" altLang="ja-JP" sz="3200" dirty="0" smtClean="0"/>
              <a:t>works</a:t>
            </a:r>
            <a:endParaRPr kumimoji="1" lang="ja-JP" altLang="en-US" sz="3200" dirty="0"/>
          </a:p>
        </p:txBody>
      </p:sp>
      <p:grpSp>
        <p:nvGrpSpPr>
          <p:cNvPr id="50177" name="Group 1"/>
          <p:cNvGrpSpPr>
            <a:grpSpLocks/>
          </p:cNvGrpSpPr>
          <p:nvPr/>
        </p:nvGrpSpPr>
        <p:grpSpPr bwMode="auto">
          <a:xfrm>
            <a:off x="5000596" y="1428736"/>
            <a:ext cx="4143404" cy="4762520"/>
            <a:chOff x="320" y="828"/>
            <a:chExt cx="3088" cy="3360"/>
          </a:xfrm>
        </p:grpSpPr>
        <p:pic>
          <p:nvPicPr>
            <p:cNvPr id="50178" name="Picture 2" descr="run5pp_photon_sub_theoryupto25"/>
            <p:cNvPicPr>
              <a:picLocks noChangeAspect="1" noChangeArrowheads="1"/>
            </p:cNvPicPr>
            <p:nvPr/>
          </p:nvPicPr>
          <p:blipFill>
            <a:blip r:embed="rId4"/>
            <a:srcRect l="2939" t="2777" r="8879"/>
            <a:stretch>
              <a:fillRect/>
            </a:stretch>
          </p:blipFill>
          <p:spPr bwMode="auto">
            <a:xfrm>
              <a:off x="320" y="828"/>
              <a:ext cx="3088" cy="33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0181" name="Picture 5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556" y="1886"/>
              <a:ext cx="690" cy="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3" name="Picture 1" descr="D:\Documents and Settings\aoki\デスクトップ\cross_nlo.gif"/>
          <p:cNvPicPr>
            <a:picLocks noChangeAspect="1" noChangeArrowheads="1"/>
          </p:cNvPicPr>
          <p:nvPr/>
        </p:nvPicPr>
        <p:blipFill>
          <a:blip r:embed="rId2"/>
          <a:srcRect l="1410" t="6488" r="9965" b="169"/>
          <a:stretch>
            <a:fillRect/>
          </a:stretch>
        </p:blipFill>
        <p:spPr bwMode="auto">
          <a:xfrm>
            <a:off x="5429256" y="1571612"/>
            <a:ext cx="3561931" cy="4572032"/>
          </a:xfrm>
          <a:prstGeom prst="rect">
            <a:avLst/>
          </a:prstGeom>
          <a:noFill/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928670"/>
          </a:xfrm>
        </p:spPr>
        <p:txBody>
          <a:bodyPr>
            <a:normAutofit/>
          </a:bodyPr>
          <a:lstStyle/>
          <a:p>
            <a:r>
              <a:rPr kumimoji="1" lang="en-US" altLang="ja-JP" dirty="0" smtClean="0"/>
              <a:t>cross section – </a:t>
            </a:r>
            <a:r>
              <a:rPr kumimoji="1" lang="en-US" altLang="ja-JP" dirty="0" err="1" smtClean="0"/>
              <a:t>pQCD</a:t>
            </a:r>
            <a:r>
              <a:rPr kumimoji="1" lang="en-US" altLang="ja-JP" dirty="0" smtClean="0"/>
              <a:t> applicability</a:t>
            </a:r>
            <a:endParaRPr kumimoji="1" lang="ja-JP" altLang="en-US" baseline="30000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K.Aoki (Kyoto Univ. / RIKEN)</a:t>
            </a:r>
            <a:endParaRPr lang="ja-JP" altLang="en-US" dirty="0" smtClean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10</a:t>
            </a:fld>
            <a:endParaRPr kumimoji="1" lang="ja-JP" altLang="en-US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28596" y="714356"/>
            <a:ext cx="38581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RUN5  200GeV -- </a:t>
            </a:r>
            <a:r>
              <a:rPr kumimoji="1" lang="en-US" altLang="ja-JP" sz="2800" dirty="0" smtClean="0">
                <a:latin typeface="Symbol" pitchFamily="18" charset="2"/>
              </a:rPr>
              <a:t>p</a:t>
            </a:r>
            <a:r>
              <a:rPr kumimoji="1" lang="en-US" altLang="ja-JP" sz="2800" baseline="30000" dirty="0" smtClean="0"/>
              <a:t>0</a:t>
            </a:r>
          </a:p>
          <a:p>
            <a:r>
              <a:rPr lang="en-US" sz="2800" dirty="0" smtClean="0"/>
              <a:t>arXiv:0704.3599 [</a:t>
            </a:r>
            <a:r>
              <a:rPr lang="en-US" sz="2800" dirty="0" err="1" smtClean="0"/>
              <a:t>hep</a:t>
            </a:r>
            <a:r>
              <a:rPr lang="en-US" sz="2800" dirty="0" smtClean="0"/>
              <a:t>-ex]</a:t>
            </a:r>
            <a:endParaRPr lang="ja-JP" altLang="en-US" sz="28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429256" y="857232"/>
            <a:ext cx="31406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smtClean="0"/>
              <a:t>RUN6  62.4GeV -- </a:t>
            </a:r>
            <a:r>
              <a:rPr kumimoji="1" lang="en-US" altLang="ja-JP" sz="2800" dirty="0" smtClean="0">
                <a:latin typeface="Symbol" pitchFamily="18" charset="2"/>
              </a:rPr>
              <a:t>p</a:t>
            </a:r>
            <a:r>
              <a:rPr kumimoji="1" lang="en-US" altLang="ja-JP" sz="2800" baseline="30000" dirty="0" smtClean="0"/>
              <a:t>0</a:t>
            </a:r>
            <a:endParaRPr kumimoji="1" lang="ja-JP" altLang="en-US" sz="2800" baseline="30000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3786182" y="2428868"/>
            <a:ext cx="1175771" cy="107721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3200" dirty="0" err="1" smtClean="0"/>
              <a:t>pQCD</a:t>
            </a:r>
            <a:endParaRPr kumimoji="1" lang="en-US" altLang="ja-JP" sz="3200" dirty="0" smtClean="0"/>
          </a:p>
          <a:p>
            <a:r>
              <a:rPr lang="en-US" altLang="ja-JP" sz="3200" dirty="0" smtClean="0"/>
              <a:t>works</a:t>
            </a:r>
            <a:endParaRPr kumimoji="1" lang="ja-JP" altLang="en-US" sz="3200" dirty="0"/>
          </a:p>
        </p:txBody>
      </p:sp>
      <p:pic>
        <p:nvPicPr>
          <p:cNvPr id="14" name="Picture 6" descr="D:\Documents and Settings\aoki\デスクトップ\Image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544070"/>
            <a:ext cx="3571868" cy="4948974"/>
          </a:xfrm>
          <a:prstGeom prst="rect">
            <a:avLst/>
          </a:prstGeom>
          <a:noFill/>
        </p:spPr>
      </p:pic>
      <p:pic>
        <p:nvPicPr>
          <p:cNvPr id="15" name="Picture 2" descr="D:\Documents and Settings\aoki\デスクトップ\phenix_288x94.gif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500298" y="3786190"/>
            <a:ext cx="1066782" cy="34818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29" name="Picture 1" descr="D:\Documents and Settings\aoki\デスクトップ\Image1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3438" y="2786058"/>
            <a:ext cx="3644317" cy="4071942"/>
          </a:xfrm>
          <a:prstGeom prst="rect">
            <a:avLst/>
          </a:prstGeom>
          <a:noFill/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25470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 smtClean="0">
                <a:latin typeface="Symbol" pitchFamily="18" charset="2"/>
              </a:rPr>
              <a:t>p</a:t>
            </a:r>
            <a:r>
              <a:rPr kumimoji="1" lang="en-US" altLang="ja-JP" baseline="30000" dirty="0" smtClean="0"/>
              <a:t>0</a:t>
            </a:r>
            <a:r>
              <a:rPr kumimoji="1" lang="en-US" altLang="ja-JP" dirty="0" smtClean="0"/>
              <a:t> A</a:t>
            </a:r>
            <a:r>
              <a:rPr kumimoji="1" lang="en-US" altLang="ja-JP" baseline="-25000" dirty="0" smtClean="0"/>
              <a:t>LL</a:t>
            </a:r>
            <a:r>
              <a:rPr kumimoji="1" lang="en-US" altLang="ja-JP" dirty="0" smtClean="0"/>
              <a:t> at 200GeV</a:t>
            </a:r>
            <a:endParaRPr kumimoji="1" lang="ja-JP" altLang="en-US" baseline="-25000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286248" y="714356"/>
            <a:ext cx="4857752" cy="2000264"/>
          </a:xfrm>
        </p:spPr>
        <p:txBody>
          <a:bodyPr>
            <a:normAutofit lnSpcReduction="10000"/>
          </a:bodyPr>
          <a:lstStyle/>
          <a:p>
            <a:r>
              <a:rPr lang="en-US" altLang="ja-JP" dirty="0" smtClean="0"/>
              <a:t>GRSV theory curves</a:t>
            </a:r>
          </a:p>
          <a:p>
            <a:pPr lvl="1"/>
            <a:r>
              <a:rPr kumimoji="1" lang="en-US" altLang="ja-JP" dirty="0" smtClean="0"/>
              <a:t>Std: best fit to DIS data.</a:t>
            </a:r>
          </a:p>
          <a:p>
            <a:pPr lvl="1"/>
            <a:r>
              <a:rPr lang="en-US" altLang="ja-JP" i="1" dirty="0" smtClean="0">
                <a:latin typeface="Symbol" pitchFamily="18" charset="2"/>
              </a:rPr>
              <a:t>D</a:t>
            </a:r>
            <a:r>
              <a:rPr lang="en-US" altLang="ja-JP" i="1" dirty="0" smtClean="0"/>
              <a:t>G</a:t>
            </a:r>
            <a:r>
              <a:rPr lang="en-US" altLang="ja-JP" dirty="0" smtClean="0"/>
              <a:t>=G(x),0,-G(x) are also shown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K.Aoki (Kyoto Univ. / RIKEN)</a:t>
            </a:r>
            <a:endParaRPr lang="ja-JP" altLang="en-US" dirty="0" smtClean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11</a:t>
            </a:fld>
            <a:endParaRPr kumimoji="1" lang="ja-JP" altLang="en-US"/>
          </a:p>
        </p:txBody>
      </p:sp>
      <p:pic>
        <p:nvPicPr>
          <p:cNvPr id="3074" name="Picture 2" descr="D:\Documents and Settings\aoki\デスクトップ\Image2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2428868"/>
            <a:ext cx="4214810" cy="3973756"/>
          </a:xfrm>
          <a:prstGeom prst="rect">
            <a:avLst/>
          </a:prstGeom>
          <a:noFill/>
        </p:spPr>
      </p:pic>
      <p:sp>
        <p:nvSpPr>
          <p:cNvPr id="8" name="テキスト ボックス 7"/>
          <p:cNvSpPr txBox="1"/>
          <p:nvPr/>
        </p:nvSpPr>
        <p:spPr>
          <a:xfrm>
            <a:off x="0" y="1071546"/>
            <a:ext cx="41434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/>
              <a:t>RUN5 200GeV – </a:t>
            </a:r>
            <a:r>
              <a:rPr kumimoji="1" lang="en-US" altLang="ja-JP" sz="2800" dirty="0" smtClean="0">
                <a:latin typeface="Symbol" pitchFamily="18" charset="2"/>
              </a:rPr>
              <a:t>p</a:t>
            </a:r>
            <a:r>
              <a:rPr kumimoji="1" lang="en-US" altLang="ja-JP" sz="2800" baseline="30000" dirty="0" smtClean="0"/>
              <a:t>0</a:t>
            </a:r>
            <a:endParaRPr kumimoji="1" lang="en-US" altLang="ja-JP" sz="2800" dirty="0" smtClean="0"/>
          </a:p>
          <a:p>
            <a:r>
              <a:rPr kumimoji="1" lang="en-US" altLang="ja-JP" sz="2800" dirty="0" smtClean="0"/>
              <a:t>Submitted to PRL</a:t>
            </a:r>
          </a:p>
          <a:p>
            <a:r>
              <a:rPr lang="en-US" sz="2800" dirty="0" smtClean="0"/>
              <a:t>arXiv:0704.3599 [</a:t>
            </a:r>
            <a:r>
              <a:rPr lang="en-US" sz="2800" dirty="0" err="1" smtClean="0"/>
              <a:t>hep</a:t>
            </a:r>
            <a:r>
              <a:rPr lang="en-US" sz="2800" dirty="0" smtClean="0"/>
              <a:t>-ex]</a:t>
            </a:r>
            <a:endParaRPr kumimoji="1" lang="ja-JP" altLang="en-US" sz="28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325052" y="2357430"/>
            <a:ext cx="48189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i="1" dirty="0" smtClean="0">
                <a:latin typeface="Symbol" pitchFamily="18" charset="2"/>
              </a:rPr>
              <a:t>D</a:t>
            </a:r>
            <a:r>
              <a:rPr lang="en-US" altLang="ja-JP" sz="3200" dirty="0" smtClean="0"/>
              <a:t>G=G(x),-G(x) are excluded.</a:t>
            </a:r>
            <a:endParaRPr kumimoji="1" lang="ja-JP" altLang="en-US" sz="3200" dirty="0"/>
          </a:p>
        </p:txBody>
      </p:sp>
      <p:pic>
        <p:nvPicPr>
          <p:cNvPr id="11" name="Picture 2" descr="D:\Documents and Settings\aoki\デスクトップ\phenix_288x94.gif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85786" y="2571744"/>
            <a:ext cx="1066782" cy="348185"/>
          </a:xfrm>
          <a:prstGeom prst="rect">
            <a:avLst/>
          </a:prstGeom>
          <a:noFill/>
        </p:spPr>
      </p:pic>
      <p:pic>
        <p:nvPicPr>
          <p:cNvPr id="12" name="Picture 2" descr="D:\Documents and Settings\aoki\デスクトップ\phenix_288x94.gif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15008" y="3857628"/>
            <a:ext cx="1066782" cy="348185"/>
          </a:xfrm>
          <a:prstGeom prst="rect">
            <a:avLst/>
          </a:prstGeom>
          <a:noFill/>
        </p:spPr>
      </p:pic>
      <p:sp>
        <p:nvSpPr>
          <p:cNvPr id="13" name="テキスト ボックス 12"/>
          <p:cNvSpPr txBox="1"/>
          <p:nvPr/>
        </p:nvSpPr>
        <p:spPr>
          <a:xfrm>
            <a:off x="642910" y="5429264"/>
            <a:ext cx="3731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9.4% Scale uncertainty </a:t>
            </a:r>
            <a:r>
              <a:rPr lang="en-US" altLang="ja-JP" dirty="0" smtClean="0"/>
              <a:t>is not included</a:t>
            </a:r>
            <a:endParaRPr kumimoji="1" lang="ja-JP" altLang="en-US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6856964" y="4143380"/>
            <a:ext cx="22870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Dashed / dotted lines</a:t>
            </a:r>
          </a:p>
          <a:p>
            <a:r>
              <a:rPr lang="en-US" altLang="ja-JP" dirty="0" smtClean="0"/>
              <a:t>corresponds to +-9.4%</a:t>
            </a:r>
          </a:p>
          <a:p>
            <a:r>
              <a:rPr kumimoji="1" lang="en-US" altLang="ja-JP" dirty="0" smtClean="0"/>
              <a:t>scale uncertainty.</a:t>
            </a:r>
            <a:endParaRPr kumimoji="1" lang="ja-JP" altLang="en-US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5214942" y="6488668"/>
            <a:ext cx="301556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Symbol" pitchFamily="18" charset="2"/>
              </a:rPr>
              <a:t>D</a:t>
            </a:r>
            <a:r>
              <a:rPr kumimoji="1" lang="en-US" altLang="ja-JP" dirty="0" smtClean="0"/>
              <a:t>G [x=0.02</a:t>
            </a:r>
            <a:r>
              <a:rPr kumimoji="1" lang="en-US" altLang="ja-JP" dirty="0" smtClean="0">
                <a:sym typeface="Wingdings" pitchFamily="2" charset="2"/>
              </a:rPr>
              <a:t>0.3</a:t>
            </a:r>
            <a:r>
              <a:rPr lang="en-US" altLang="ja-JP" dirty="0" smtClean="0">
                <a:sym typeface="Wingdings" pitchFamily="2" charset="2"/>
              </a:rPr>
              <a:t>] (Q</a:t>
            </a:r>
            <a:r>
              <a:rPr lang="en-US" altLang="ja-JP" baseline="30000" dirty="0" smtClean="0">
                <a:sym typeface="Wingdings" pitchFamily="2" charset="2"/>
              </a:rPr>
              <a:t>2</a:t>
            </a:r>
            <a:r>
              <a:rPr lang="en-US" altLang="ja-JP" dirty="0" smtClean="0">
                <a:sym typeface="Wingdings" pitchFamily="2" charset="2"/>
              </a:rPr>
              <a:t>=1GeV</a:t>
            </a:r>
            <a:r>
              <a:rPr lang="en-US" altLang="ja-JP" baseline="30000" dirty="0" smtClean="0">
                <a:sym typeface="Wingdings" pitchFamily="2" charset="2"/>
              </a:rPr>
              <a:t>2</a:t>
            </a:r>
            <a:r>
              <a:rPr lang="en-US" altLang="ja-JP" dirty="0" smtClean="0">
                <a:sym typeface="Wingdings" pitchFamily="2" charset="2"/>
              </a:rPr>
              <a:t>)</a:t>
            </a:r>
            <a:endParaRPr kumimoji="1" lang="en-US" altLang="ja-JP" dirty="0" smtClean="0">
              <a:sym typeface="Wingdings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5" name="Picture 5" descr="Prelimrun5run6theory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5728" y="2428868"/>
            <a:ext cx="5598271" cy="4030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28596" y="0"/>
            <a:ext cx="8715404" cy="654032"/>
          </a:xfrm>
        </p:spPr>
        <p:txBody>
          <a:bodyPr>
            <a:normAutofit fontScale="90000"/>
          </a:bodyPr>
          <a:lstStyle/>
          <a:p>
            <a:r>
              <a:rPr lang="en-US" altLang="ja-JP" dirty="0" smtClean="0">
                <a:latin typeface="Symbol" pitchFamily="18" charset="2"/>
              </a:rPr>
              <a:t>p</a:t>
            </a:r>
            <a:r>
              <a:rPr lang="en-US" altLang="ja-JP" baseline="30000" dirty="0" smtClean="0"/>
              <a:t>0</a:t>
            </a:r>
            <a:r>
              <a:rPr lang="en-US" altLang="ja-JP" dirty="0" smtClean="0"/>
              <a:t> A</a:t>
            </a:r>
            <a:r>
              <a:rPr lang="en-US" altLang="ja-JP" baseline="-25000" dirty="0" smtClean="0"/>
              <a:t>LL</a:t>
            </a:r>
            <a:r>
              <a:rPr lang="en-US" altLang="ja-JP" dirty="0" smtClean="0"/>
              <a:t>  at </a:t>
            </a:r>
            <a:r>
              <a:rPr lang="en-US" altLang="ja-JP" dirty="0" smtClean="0"/>
              <a:t>200GeV RUN6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500034" y="642918"/>
            <a:ext cx="8229600" cy="4525963"/>
          </a:xfrm>
        </p:spPr>
        <p:txBody>
          <a:bodyPr/>
          <a:lstStyle/>
          <a:p>
            <a:r>
              <a:rPr kumimoji="1" lang="en-US" altLang="ja-JP" dirty="0" smtClean="0"/>
              <a:t>High </a:t>
            </a:r>
            <a:r>
              <a:rPr kumimoji="1" lang="en-US" altLang="ja-JP" dirty="0" err="1" smtClean="0"/>
              <a:t>p</a:t>
            </a:r>
            <a:r>
              <a:rPr kumimoji="1" lang="en-US" altLang="ja-JP" baseline="-25000" dirty="0" err="1" smtClean="0"/>
              <a:t>T</a:t>
            </a:r>
            <a:r>
              <a:rPr kumimoji="1" lang="en-US" altLang="ja-JP" dirty="0" smtClean="0"/>
              <a:t> photon extracted from data virtually online (Lvl.2 filtering) for fast track analysis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K.Aoki (Kyoto Univ. / RIKEN)</a:t>
            </a:r>
            <a:endParaRPr lang="ja-JP" altLang="en-US" dirty="0" smtClean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12</a:t>
            </a:fld>
            <a:endParaRPr kumimoji="1" lang="ja-JP" altLang="en-US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0" y="4929198"/>
            <a:ext cx="34289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Significant statistical </a:t>
            </a:r>
            <a:r>
              <a:rPr lang="en-US" altLang="ja-JP" sz="2400" dirty="0" err="1" smtClean="0"/>
              <a:t>imrpovement</a:t>
            </a:r>
            <a:r>
              <a:rPr lang="en-US" altLang="ja-JP" sz="2400" dirty="0" smtClean="0"/>
              <a:t> i</a:t>
            </a:r>
            <a:r>
              <a:rPr kumimoji="1" lang="en-US" altLang="ja-JP" sz="2400" dirty="0" smtClean="0"/>
              <a:t>n high </a:t>
            </a:r>
            <a:r>
              <a:rPr kumimoji="1" lang="en-US" altLang="ja-JP" sz="2400" i="1" dirty="0" err="1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kumimoji="1" lang="en-US" altLang="ja-JP" sz="2400" i="1" baseline="-25000" dirty="0" err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kumimoji="1" lang="en-US" altLang="ja-JP" sz="2400" dirty="0" smtClean="0"/>
              <a:t> 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857456" y="1571612"/>
            <a:ext cx="62865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 smtClean="0">
                <a:solidFill>
                  <a:schemeClr val="tx2"/>
                </a:solidFill>
              </a:rPr>
              <a:t>Run5 </a:t>
            </a:r>
            <a:r>
              <a:rPr kumimoji="1" lang="en-US" altLang="ja-JP" sz="2800" dirty="0" err="1" smtClean="0">
                <a:solidFill>
                  <a:schemeClr val="tx2"/>
                </a:solidFill>
              </a:rPr>
              <a:t>prelm</a:t>
            </a:r>
            <a:r>
              <a:rPr kumimoji="1" lang="en-US" altLang="ja-JP" sz="2800" dirty="0" smtClean="0">
                <a:solidFill>
                  <a:schemeClr val="tx2"/>
                </a:solidFill>
              </a:rPr>
              <a:t>.                     1.8pb</a:t>
            </a:r>
            <a:r>
              <a:rPr kumimoji="1" lang="en-US" altLang="ja-JP" sz="2800" baseline="30000" dirty="0" smtClean="0">
                <a:solidFill>
                  <a:schemeClr val="tx2"/>
                </a:solidFill>
              </a:rPr>
              <a:t>-1</a:t>
            </a:r>
            <a:r>
              <a:rPr kumimoji="1" lang="en-US" altLang="ja-JP" sz="2800" dirty="0" smtClean="0">
                <a:solidFill>
                  <a:schemeClr val="tx2"/>
                </a:solidFill>
              </a:rPr>
              <a:t> (pol:47%)</a:t>
            </a:r>
          </a:p>
          <a:p>
            <a:r>
              <a:rPr lang="en-US" altLang="ja-JP" sz="2800" dirty="0" smtClean="0">
                <a:solidFill>
                  <a:srgbClr val="FF0000"/>
                </a:solidFill>
              </a:rPr>
              <a:t>Run6 prelim. (</a:t>
            </a:r>
            <a:r>
              <a:rPr kumimoji="1" lang="en-US" altLang="ja-JP" sz="2800" dirty="0" smtClean="0">
                <a:solidFill>
                  <a:srgbClr val="FF0000"/>
                </a:solidFill>
              </a:rPr>
              <a:t>high </a:t>
            </a:r>
            <a:r>
              <a:rPr kumimoji="1" lang="en-US" altLang="ja-JP" sz="2800" dirty="0" err="1" smtClean="0">
                <a:solidFill>
                  <a:srgbClr val="FF0000"/>
                </a:solidFill>
              </a:rPr>
              <a:t>pT</a:t>
            </a:r>
            <a:r>
              <a:rPr kumimoji="1" lang="en-US" altLang="ja-JP" sz="2800" dirty="0" smtClean="0">
                <a:solidFill>
                  <a:srgbClr val="FF0000"/>
                </a:solidFill>
              </a:rPr>
              <a:t>)   7.5pb</a:t>
            </a:r>
            <a:r>
              <a:rPr kumimoji="1" lang="en-US" altLang="ja-JP" sz="2800" baseline="30000" dirty="0" smtClean="0">
                <a:solidFill>
                  <a:srgbClr val="FF0000"/>
                </a:solidFill>
              </a:rPr>
              <a:t>-1</a:t>
            </a:r>
            <a:r>
              <a:rPr kumimoji="1" lang="en-US" altLang="ja-JP" sz="2800" dirty="0" smtClean="0">
                <a:solidFill>
                  <a:srgbClr val="FF0000"/>
                </a:solidFill>
              </a:rPr>
              <a:t> (pol:60%)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result_ALL_upbg_BothType_x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93906" y="2214554"/>
            <a:ext cx="6050093" cy="4643446"/>
          </a:xfrm>
          <a:prstGeom prst="rect">
            <a:avLst/>
          </a:prstGeom>
          <a:noFill/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/>
          <a:lstStyle/>
          <a:p>
            <a:r>
              <a:rPr lang="en-US" altLang="ja-JP" dirty="0" smtClean="0"/>
              <a:t>Access higher </a:t>
            </a:r>
            <a:r>
              <a:rPr lang="en-US" altLang="ja-JP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dirty="0" smtClean="0"/>
              <a:t> with lower energy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0" y="857232"/>
            <a:ext cx="8715404" cy="1500198"/>
          </a:xfrm>
        </p:spPr>
        <p:txBody>
          <a:bodyPr>
            <a:normAutofit fontScale="92500" lnSpcReduction="10000"/>
          </a:bodyPr>
          <a:lstStyle/>
          <a:p>
            <a:r>
              <a:rPr kumimoji="1" lang="en-US" altLang="ja-JP" dirty="0" smtClean="0"/>
              <a:t>Probed </a:t>
            </a:r>
            <a:r>
              <a:rPr kumimoji="1" lang="en-US" altLang="ja-JP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kumimoji="1" lang="en-US" altLang="ja-JP" dirty="0" smtClean="0"/>
              <a:t> </a:t>
            </a:r>
            <a:r>
              <a:rPr lang="en-US" altLang="ja-JP" dirty="0" smtClean="0"/>
              <a:t>scales with </a:t>
            </a:r>
            <a:r>
              <a:rPr lang="en-US" altLang="ja-JP" i="1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ja-JP" i="1" baseline="-25000" dirty="0" err="1" smtClean="0">
                <a:latin typeface="Times New Roman" pitchFamily="18" charset="0"/>
                <a:cs typeface="Times New Roman" pitchFamily="18" charset="0"/>
              </a:rPr>
              <a:t>T</a:t>
            </a:r>
            <a:endParaRPr lang="en-US" altLang="ja-JP" i="1" baseline="-25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kumimoji="1" lang="en-US" altLang="ja-JP" dirty="0" smtClean="0">
                <a:latin typeface="+mj-lt"/>
                <a:cs typeface="Times New Roman" pitchFamily="18" charset="0"/>
              </a:rPr>
              <a:t>At fixed </a:t>
            </a:r>
            <a:r>
              <a:rPr kumimoji="1" lang="en-US" altLang="ja-JP" i="1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kumimoji="1" lang="en-US" altLang="ja-JP" i="1" baseline="-25000" dirty="0" err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kumimoji="1" lang="en-US" altLang="ja-JP" dirty="0" smtClean="0">
                <a:latin typeface="+mj-lt"/>
                <a:cs typeface="Times New Roman" pitchFamily="18" charset="0"/>
              </a:rPr>
              <a:t>, X-sec is 2 orders of magnitude higher at 62.4GeV than at 200GeV</a:t>
            </a:r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K.Aoki (Kyoto Univ. / RIKEN)</a:t>
            </a:r>
            <a:endParaRPr lang="ja-JP" altLang="en-US" dirty="0" smtClean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13</a:t>
            </a:fld>
            <a:endParaRPr kumimoji="1" lang="ja-JP" altLang="en-US"/>
          </a:p>
        </p:txBody>
      </p:sp>
      <p:graphicFrame>
        <p:nvGraphicFramePr>
          <p:cNvPr id="45058" name="Object 2"/>
          <p:cNvGraphicFramePr>
            <a:graphicFrameLocks noChangeAspect="1"/>
          </p:cNvGraphicFramePr>
          <p:nvPr/>
        </p:nvGraphicFramePr>
        <p:xfrm>
          <a:off x="857224" y="3143248"/>
          <a:ext cx="1676400" cy="1130300"/>
        </p:xfrm>
        <a:graphic>
          <a:graphicData uri="http://schemas.openxmlformats.org/presentationml/2006/ole">
            <p:oleObj spid="_x0000_s45058" name="数式" r:id="rId4" imgW="622080" imgH="419040" progId="Equation.3">
              <p:embed/>
            </p:oleObj>
          </a:graphicData>
        </a:graphic>
      </p:graphicFrame>
      <p:sp>
        <p:nvSpPr>
          <p:cNvPr id="45059" name="Text Box 3"/>
          <p:cNvSpPr txBox="1">
            <a:spLocks noChangeArrowheads="1"/>
          </p:cNvSpPr>
          <p:nvPr/>
        </p:nvSpPr>
        <p:spPr bwMode="auto">
          <a:xfrm>
            <a:off x="4929126" y="1857364"/>
            <a:ext cx="421487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400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ＭＳ Ｐゴシック" pitchFamily="50" charset="-128"/>
              </a:rPr>
              <a:t>200GeV  </a:t>
            </a:r>
            <a:r>
              <a:rPr kumimoji="1" lang="en-US" altLang="ja-JP" sz="2400" b="0" i="0" u="none" strike="noStrike" cap="none" normalizeH="0" baseline="0" dirty="0" err="1" smtClean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ＭＳ Ｐゴシック" pitchFamily="50" charset="-128"/>
              </a:rPr>
              <a:t>prelm</a:t>
            </a:r>
            <a:r>
              <a:rPr kumimoji="1" lang="en-US" altLang="ja-JP" sz="2400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ＭＳ Ｐゴシック" pitchFamily="50" charset="-128"/>
              </a:rPr>
              <a:t>.  1.8pb</a:t>
            </a:r>
            <a:r>
              <a:rPr kumimoji="1" lang="en-US" altLang="ja-JP" sz="2400" b="0" i="0" u="none" strike="noStrike" cap="none" normalizeH="0" baseline="30000" dirty="0" smtClean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ＭＳ Ｐゴシック" pitchFamily="50" charset="-128"/>
              </a:rPr>
              <a:t>-1 </a:t>
            </a:r>
            <a:r>
              <a:rPr kumimoji="1" lang="en-US" altLang="ja-JP" sz="2400" b="0" i="0" u="none" strike="noStrike" cap="none" normalizeH="0" dirty="0" smtClean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ＭＳ Ｐゴシック" pitchFamily="50" charset="-128"/>
              </a:rPr>
              <a:t>     (47%)</a:t>
            </a:r>
            <a:endParaRPr kumimoji="1" lang="en-US" altLang="ja-JP" sz="2400" b="0" i="0" u="none" strike="noStrike" cap="none" normalizeH="0" baseline="30000" dirty="0" smtClean="0">
              <a:ln>
                <a:noFill/>
              </a:ln>
              <a:solidFill>
                <a:schemeClr val="tx2"/>
              </a:solidFill>
              <a:effectLst/>
              <a:latin typeface="+mj-lt"/>
              <a:ea typeface="ＭＳ Ｐゴシック" pitchFamily="50" charset="-128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j-lt"/>
                <a:ea typeface="ＭＳ Ｐゴシック" pitchFamily="50" charset="-128"/>
              </a:rPr>
              <a:t>62.4GeV </a:t>
            </a:r>
            <a:r>
              <a:rPr kumimoji="1" lang="en-US" altLang="ja-JP" sz="24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+mj-lt"/>
                <a:ea typeface="ＭＳ Ｐゴシック" pitchFamily="50" charset="-128"/>
              </a:rPr>
              <a:t>prelm</a:t>
            </a:r>
            <a:r>
              <a:rPr kumimoji="1" lang="en-US" altLang="ja-JP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j-lt"/>
                <a:ea typeface="ＭＳ Ｐゴシック" pitchFamily="50" charset="-128"/>
              </a:rPr>
              <a:t>.  0.04 pb</a:t>
            </a:r>
            <a:r>
              <a:rPr kumimoji="1" lang="en-US" altLang="ja-JP" sz="2400" b="0" i="0" u="none" strike="noStrike" cap="none" normalizeH="0" baseline="30000" dirty="0" smtClean="0">
                <a:ln>
                  <a:noFill/>
                </a:ln>
                <a:solidFill>
                  <a:srgbClr val="FF0000"/>
                </a:solidFill>
                <a:effectLst/>
                <a:latin typeface="+mj-lt"/>
                <a:ea typeface="ＭＳ Ｐゴシック" pitchFamily="50" charset="-128"/>
              </a:rPr>
              <a:t>-1</a:t>
            </a:r>
            <a:r>
              <a:rPr kumimoji="1" lang="en-US" altLang="ja-JP" sz="24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j-lt"/>
                <a:ea typeface="ＭＳ Ｐゴシック" pitchFamily="50" charset="-128"/>
              </a:rPr>
              <a:t>  (48%)</a:t>
            </a:r>
            <a:endParaRPr kumimoji="1" lang="ja-JP" altLang="ja-JP" sz="1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+mj-lt"/>
              <a:ea typeface="ＭＳ Ｐゴシック" pitchFamily="50" charset="-128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0" y="4786322"/>
            <a:ext cx="29289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Significant statistical improvement i</a:t>
            </a:r>
            <a:r>
              <a:rPr kumimoji="1" lang="en-US" altLang="ja-JP" sz="2400" dirty="0" smtClean="0"/>
              <a:t>n high </a:t>
            </a:r>
            <a:r>
              <a:rPr kumimoji="1" lang="en-US" altLang="ja-JP" sz="2400" i="1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kumimoji="1" lang="en-US" altLang="ja-JP" sz="2000" i="1" baseline="-25000" dirty="0" err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kumimoji="1" lang="en-US" altLang="ja-JP" sz="2400" dirty="0" smtClean="0"/>
              <a:t> even with small int. </a:t>
            </a:r>
            <a:r>
              <a:rPr kumimoji="1" lang="en-US" altLang="ja-JP" sz="2400" dirty="0" err="1" smtClean="0"/>
              <a:t>lumi</a:t>
            </a:r>
            <a:r>
              <a:rPr lang="en-US" altLang="ja-JP" sz="2400" dirty="0" smtClean="0"/>
              <a:t> can be seen.</a:t>
            </a:r>
            <a:endParaRPr kumimoji="1" lang="en-US" altLang="ja-JP" sz="2400" dirty="0" smtClean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42844" y="2643182"/>
            <a:ext cx="2110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Scaling variable</a:t>
            </a:r>
            <a:endParaRPr kumimoji="1" lang="ja-JP" altLang="en-US" sz="2400" dirty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8564995" y="1571612"/>
            <a:ext cx="579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 smtClean="0"/>
              <a:t>pol</a:t>
            </a:r>
            <a:endParaRPr kumimoji="1" lang="ja-JP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57158" y="0"/>
            <a:ext cx="8401080" cy="1142984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 smtClean="0"/>
              <a:t>Various channels available at PHENIX to explore gluon pol.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4911741"/>
          </a:xfrm>
        </p:spPr>
        <p:txBody>
          <a:bodyPr/>
          <a:lstStyle/>
          <a:p>
            <a:r>
              <a:rPr kumimoji="1" lang="en-US" altLang="ja-JP" dirty="0" smtClean="0"/>
              <a:t>Jet ( or a component of jet )</a:t>
            </a:r>
          </a:p>
          <a:p>
            <a:endParaRPr lang="en-US" altLang="ja-JP" dirty="0" smtClean="0"/>
          </a:p>
          <a:p>
            <a:endParaRPr kumimoji="1" lang="en-US" altLang="ja-JP" dirty="0" smtClean="0"/>
          </a:p>
          <a:p>
            <a:r>
              <a:rPr kumimoji="1" lang="en-US" altLang="ja-JP" dirty="0" smtClean="0"/>
              <a:t>Direct photon</a:t>
            </a:r>
          </a:p>
          <a:p>
            <a:endParaRPr lang="en-US" altLang="ja-JP" dirty="0" smtClean="0"/>
          </a:p>
          <a:p>
            <a:endParaRPr kumimoji="1" lang="en-US" altLang="ja-JP" dirty="0" smtClean="0"/>
          </a:p>
          <a:p>
            <a:r>
              <a:rPr lang="en-US" altLang="ja-JP" dirty="0" smtClean="0"/>
              <a:t>Heavy Flavor</a:t>
            </a: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K.Aoki (Kyoto Univ. / RIKEN)</a:t>
            </a:r>
            <a:endParaRPr lang="ja-JP" altLang="en-US" dirty="0" smtClean="0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14</a:t>
            </a:fld>
            <a:endParaRPr kumimoji="1" lang="ja-JP" altLang="en-US"/>
          </a:p>
        </p:txBody>
      </p:sp>
      <p:grpSp>
        <p:nvGrpSpPr>
          <p:cNvPr id="19" name="グループ化 18"/>
          <p:cNvGrpSpPr/>
          <p:nvPr/>
        </p:nvGrpSpPr>
        <p:grpSpPr>
          <a:xfrm>
            <a:off x="857224" y="1785926"/>
            <a:ext cx="2460561" cy="1299155"/>
            <a:chOff x="3428992" y="1785926"/>
            <a:chExt cx="3407671" cy="1799221"/>
          </a:xfrm>
        </p:grpSpPr>
        <p:pic>
          <p:nvPicPr>
            <p:cNvPr id="6" name="Picture 6" descr="Image1"/>
            <p:cNvPicPr>
              <a:picLocks noChangeAspect="1" noChangeArrowheads="1"/>
            </p:cNvPicPr>
            <p:nvPr/>
          </p:nvPicPr>
          <p:blipFill>
            <a:blip r:embed="rId5"/>
            <a:srcRect b="50000"/>
            <a:stretch>
              <a:fillRect/>
            </a:stretch>
          </p:blipFill>
          <p:spPr bwMode="auto">
            <a:xfrm>
              <a:off x="4143372" y="1928802"/>
              <a:ext cx="2019328" cy="1009664"/>
            </a:xfrm>
            <a:prstGeom prst="rect">
              <a:avLst/>
            </a:prstGeom>
            <a:solidFill>
              <a:srgbClr val="FF0000"/>
            </a:solidFill>
            <a:ln w="19050">
              <a:noFill/>
              <a:miter lim="800000"/>
              <a:headEnd/>
              <a:tailEnd/>
            </a:ln>
          </p:spPr>
        </p:pic>
        <p:pic>
          <p:nvPicPr>
            <p:cNvPr id="8" name="Picture 3" descr="Image4"/>
            <p:cNvPicPr>
              <a:picLocks noChangeAspect="1" noChangeArrowheads="1"/>
            </p:cNvPicPr>
            <p:nvPr/>
          </p:nvPicPr>
          <p:blipFill>
            <a:blip r:embed="rId6"/>
            <a:srcRect t="69691" r="68750" b="-456"/>
            <a:stretch>
              <a:fillRect/>
            </a:stretch>
          </p:blipFill>
          <p:spPr bwMode="auto">
            <a:xfrm>
              <a:off x="3500431" y="1785926"/>
              <a:ext cx="857256" cy="571504"/>
            </a:xfrm>
            <a:prstGeom prst="rect">
              <a:avLst/>
            </a:prstGeom>
            <a:noFill/>
          </p:spPr>
        </p:pic>
        <p:cxnSp>
          <p:nvCxnSpPr>
            <p:cNvPr id="9" name="直線矢印コネクタ 8"/>
            <p:cNvCxnSpPr/>
            <p:nvPr/>
          </p:nvCxnSpPr>
          <p:spPr>
            <a:xfrm rot="16200000" flipH="1">
              <a:off x="5822165" y="2964653"/>
              <a:ext cx="285752" cy="7143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線矢印コネクタ 9"/>
            <p:cNvCxnSpPr/>
            <p:nvPr/>
          </p:nvCxnSpPr>
          <p:spPr>
            <a:xfrm>
              <a:off x="5929322" y="2857496"/>
              <a:ext cx="285752" cy="7143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線矢印コネクタ 10"/>
            <p:cNvCxnSpPr/>
            <p:nvPr/>
          </p:nvCxnSpPr>
          <p:spPr>
            <a:xfrm>
              <a:off x="5929322" y="2857496"/>
              <a:ext cx="357190" cy="21431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線矢印コネクタ 11"/>
            <p:cNvCxnSpPr/>
            <p:nvPr/>
          </p:nvCxnSpPr>
          <p:spPr>
            <a:xfrm rot="16200000" flipH="1">
              <a:off x="5929322" y="2857496"/>
              <a:ext cx="428628" cy="42862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テキスト ボックス 12"/>
            <p:cNvSpPr txBox="1"/>
            <p:nvPr/>
          </p:nvSpPr>
          <p:spPr>
            <a:xfrm rot="3642402">
              <a:off x="5499517" y="2749087"/>
              <a:ext cx="51321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dirty="0" smtClean="0"/>
                <a:t>jet</a:t>
              </a:r>
              <a:endParaRPr kumimoji="1" lang="ja-JP" altLang="en-US" sz="2400" dirty="0"/>
            </a:p>
          </p:txBody>
        </p:sp>
        <p:sp>
          <p:nvSpPr>
            <p:cNvPr id="14" name="テキスト ボックス 13"/>
            <p:cNvSpPr txBox="1"/>
            <p:nvPr/>
          </p:nvSpPr>
          <p:spPr>
            <a:xfrm>
              <a:off x="6286512" y="3000372"/>
              <a:ext cx="55015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3200" dirty="0" smtClean="0">
                  <a:latin typeface="Symbol" pitchFamily="18" charset="2"/>
                </a:rPr>
                <a:t>p</a:t>
              </a:r>
              <a:r>
                <a:rPr kumimoji="1" lang="en-US" altLang="ja-JP" sz="3200" baseline="30000" dirty="0" smtClean="0"/>
                <a:t>0</a:t>
              </a:r>
              <a:endParaRPr kumimoji="1" lang="ja-JP" altLang="en-US" sz="3200" baseline="30000" dirty="0"/>
            </a:p>
          </p:txBody>
        </p:sp>
        <p:sp>
          <p:nvSpPr>
            <p:cNvPr id="15" name="テキスト ボックス 14"/>
            <p:cNvSpPr txBox="1"/>
            <p:nvPr/>
          </p:nvSpPr>
          <p:spPr>
            <a:xfrm>
              <a:off x="3428992" y="2143116"/>
              <a:ext cx="823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 smtClean="0"/>
                <a:t>proton</a:t>
              </a:r>
              <a:endParaRPr kumimoji="1" lang="ja-JP" altLang="en-US" dirty="0"/>
            </a:p>
          </p:txBody>
        </p:sp>
        <p:sp>
          <p:nvSpPr>
            <p:cNvPr id="16" name="テキスト ボックス 15"/>
            <p:cNvSpPr txBox="1"/>
            <p:nvPr/>
          </p:nvSpPr>
          <p:spPr>
            <a:xfrm>
              <a:off x="3428992" y="2928934"/>
              <a:ext cx="823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 smtClean="0"/>
                <a:t>proton</a:t>
              </a:r>
              <a:endParaRPr kumimoji="1" lang="ja-JP" altLang="en-US" dirty="0"/>
            </a:p>
          </p:txBody>
        </p:sp>
        <p:pic>
          <p:nvPicPr>
            <p:cNvPr id="18" name="Picture 3" descr="Image4"/>
            <p:cNvPicPr>
              <a:picLocks noChangeAspect="1" noChangeArrowheads="1"/>
            </p:cNvPicPr>
            <p:nvPr/>
          </p:nvPicPr>
          <p:blipFill>
            <a:blip r:embed="rId6"/>
            <a:srcRect t="69691" r="68750" b="-456"/>
            <a:stretch>
              <a:fillRect/>
            </a:stretch>
          </p:blipFill>
          <p:spPr bwMode="auto">
            <a:xfrm>
              <a:off x="3500430" y="2500306"/>
              <a:ext cx="857256" cy="571504"/>
            </a:xfrm>
            <a:prstGeom prst="rect">
              <a:avLst/>
            </a:prstGeom>
            <a:noFill/>
          </p:spPr>
        </p:pic>
      </p:grpSp>
      <p:sp>
        <p:nvSpPr>
          <p:cNvPr id="35" name="テキスト ボックス 34"/>
          <p:cNvSpPr txBox="1"/>
          <p:nvPr/>
        </p:nvSpPr>
        <p:spPr>
          <a:xfrm>
            <a:off x="1643042" y="1643050"/>
            <a:ext cx="30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 smtClean="0">
                <a:latin typeface="Times New Roman" pitchFamily="18" charset="0"/>
                <a:cs typeface="Times New Roman" pitchFamily="18" charset="0"/>
              </a:rPr>
              <a:t>g</a:t>
            </a:r>
            <a:endParaRPr kumimoji="1" lang="ja-JP" alt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1643042" y="2214554"/>
            <a:ext cx="30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 smtClean="0">
                <a:latin typeface="Times New Roman" pitchFamily="18" charset="0"/>
                <a:cs typeface="Times New Roman" pitchFamily="18" charset="0"/>
              </a:rPr>
              <a:t>g</a:t>
            </a:r>
            <a:endParaRPr kumimoji="1" lang="ja-JP" alt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テキスト ボックス 37"/>
          <p:cNvSpPr txBox="1"/>
          <p:nvPr/>
        </p:nvSpPr>
        <p:spPr>
          <a:xfrm>
            <a:off x="5929322" y="1643050"/>
            <a:ext cx="32146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Font typeface="Arial" pitchFamily="34" charset="0"/>
              <a:buChar char="•"/>
            </a:pPr>
            <a:r>
              <a:rPr kumimoji="1" lang="en-US" altLang="ja-JP" sz="2800" i="1" dirty="0" smtClean="0">
                <a:latin typeface="Symbol" pitchFamily="18" charset="2"/>
              </a:rPr>
              <a:t>p</a:t>
            </a:r>
            <a:r>
              <a:rPr kumimoji="1" lang="en-US" altLang="ja-JP" sz="2800" baseline="30000" dirty="0" smtClean="0"/>
              <a:t>0</a:t>
            </a:r>
            <a:r>
              <a:rPr kumimoji="1" lang="en-US" altLang="ja-JP" sz="2800" dirty="0" smtClean="0"/>
              <a:t> ,</a:t>
            </a:r>
            <a:r>
              <a:rPr kumimoji="1" lang="en-US" altLang="ja-JP" sz="2800" i="1" dirty="0" smtClean="0">
                <a:latin typeface="Symbol" pitchFamily="18" charset="2"/>
              </a:rPr>
              <a:t>h        </a:t>
            </a:r>
            <a:r>
              <a:rPr kumimoji="1" lang="en-US" altLang="ja-JP" sz="2800" dirty="0" smtClean="0">
                <a:latin typeface="Symbol" pitchFamily="18" charset="2"/>
              </a:rPr>
              <a:t>(</a:t>
            </a:r>
            <a:r>
              <a:rPr kumimoji="1" lang="en-US" altLang="ja-JP" sz="2800" dirty="0" smtClean="0">
                <a:latin typeface="Symbol" pitchFamily="18" charset="2"/>
                <a:sym typeface="Wingdings" pitchFamily="2" charset="2"/>
              </a:rPr>
              <a:t></a:t>
            </a:r>
            <a:r>
              <a:rPr kumimoji="1" lang="en-US" altLang="ja-JP" sz="2800" i="1" dirty="0" err="1" smtClean="0">
                <a:latin typeface="Symbol" pitchFamily="18" charset="2"/>
                <a:sym typeface="Wingdings" pitchFamily="2" charset="2"/>
              </a:rPr>
              <a:t>gg</a:t>
            </a:r>
            <a:r>
              <a:rPr kumimoji="1" lang="en-US" altLang="ja-JP" sz="2800" dirty="0" smtClean="0">
                <a:latin typeface="Symbol" pitchFamily="18" charset="2"/>
                <a:sym typeface="Wingdings" pitchFamily="2" charset="2"/>
              </a:rPr>
              <a:t>)</a:t>
            </a:r>
            <a:endParaRPr kumimoji="1" lang="en-US" altLang="ja-JP" sz="2800" dirty="0" smtClean="0">
              <a:latin typeface="Symbol" pitchFamily="18" charset="2"/>
            </a:endParaRPr>
          </a:p>
          <a:p>
            <a:pPr lvl="1">
              <a:buFont typeface="Arial" pitchFamily="34" charset="0"/>
              <a:buChar char="•"/>
            </a:pPr>
            <a:r>
              <a:rPr kumimoji="1" lang="en-US" altLang="ja-JP" sz="2800" i="1" dirty="0" smtClean="0">
                <a:latin typeface="Symbol" pitchFamily="18" charset="2"/>
              </a:rPr>
              <a:t>p</a:t>
            </a:r>
            <a:r>
              <a:rPr kumimoji="1" lang="en-US" altLang="ja-JP" sz="2800" i="1" baseline="30000" dirty="0" smtClean="0">
                <a:latin typeface="Symbol" pitchFamily="18" charset="2"/>
              </a:rPr>
              <a:t>+-</a:t>
            </a:r>
          </a:p>
          <a:p>
            <a:pPr lvl="1">
              <a:buFont typeface="Arial" pitchFamily="34" charset="0"/>
              <a:buChar char="•"/>
            </a:pPr>
            <a:r>
              <a:rPr kumimoji="1" lang="en-US" altLang="ja-JP" sz="2800" i="1" dirty="0" smtClean="0"/>
              <a:t>jet</a:t>
            </a:r>
            <a:r>
              <a:rPr kumimoji="1" lang="en-US" altLang="ja-JP" sz="2800" dirty="0" smtClean="0"/>
              <a:t>-like cluster</a:t>
            </a:r>
          </a:p>
        </p:txBody>
      </p:sp>
      <p:pic>
        <p:nvPicPr>
          <p:cNvPr id="36881" name="Picture 17" descr="D:\Documents and Settings\aoki\デスクトップ\Image1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00166" y="3786190"/>
            <a:ext cx="1477519" cy="781045"/>
          </a:xfrm>
          <a:prstGeom prst="rect">
            <a:avLst/>
          </a:prstGeom>
          <a:noFill/>
        </p:spPr>
      </p:pic>
      <p:pic>
        <p:nvPicPr>
          <p:cNvPr id="40" name="Picture 3" descr="Image4"/>
          <p:cNvPicPr>
            <a:picLocks noChangeAspect="1" noChangeArrowheads="1"/>
          </p:cNvPicPr>
          <p:nvPr/>
        </p:nvPicPr>
        <p:blipFill>
          <a:blip r:embed="rId6"/>
          <a:srcRect t="69691" r="68750" b="-456"/>
          <a:stretch>
            <a:fillRect/>
          </a:stretch>
        </p:blipFill>
        <p:spPr bwMode="auto">
          <a:xfrm>
            <a:off x="1071538" y="3643314"/>
            <a:ext cx="618995" cy="412663"/>
          </a:xfrm>
          <a:prstGeom prst="rect">
            <a:avLst/>
          </a:prstGeom>
          <a:noFill/>
        </p:spPr>
      </p:pic>
      <p:sp>
        <p:nvSpPr>
          <p:cNvPr id="41" name="テキスト ボックス 40"/>
          <p:cNvSpPr txBox="1"/>
          <p:nvPr/>
        </p:nvSpPr>
        <p:spPr>
          <a:xfrm>
            <a:off x="857224" y="3929066"/>
            <a:ext cx="594339" cy="2666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proton</a:t>
            </a:r>
            <a:endParaRPr kumimoji="1" lang="ja-JP" altLang="en-US" dirty="0"/>
          </a:p>
        </p:txBody>
      </p:sp>
      <p:pic>
        <p:nvPicPr>
          <p:cNvPr id="43" name="Picture 3" descr="Image4"/>
          <p:cNvPicPr>
            <a:picLocks noChangeAspect="1" noChangeArrowheads="1"/>
          </p:cNvPicPr>
          <p:nvPr/>
        </p:nvPicPr>
        <p:blipFill>
          <a:blip r:embed="rId6"/>
          <a:srcRect t="69691" r="68750" b="-456"/>
          <a:stretch>
            <a:fillRect/>
          </a:stretch>
        </p:blipFill>
        <p:spPr bwMode="auto">
          <a:xfrm>
            <a:off x="1071538" y="4214818"/>
            <a:ext cx="618995" cy="412663"/>
          </a:xfrm>
          <a:prstGeom prst="rect">
            <a:avLst/>
          </a:prstGeom>
          <a:noFill/>
        </p:spPr>
      </p:pic>
      <p:sp>
        <p:nvSpPr>
          <p:cNvPr id="42" name="テキスト ボックス 41"/>
          <p:cNvSpPr txBox="1"/>
          <p:nvPr/>
        </p:nvSpPr>
        <p:spPr>
          <a:xfrm>
            <a:off x="785786" y="4429132"/>
            <a:ext cx="98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proton</a:t>
            </a:r>
            <a:endParaRPr kumimoji="1" lang="ja-JP" altLang="en-US" dirty="0"/>
          </a:p>
        </p:txBody>
      </p:sp>
      <p:sp>
        <p:nvSpPr>
          <p:cNvPr id="44" name="テキスト ボックス 43"/>
          <p:cNvSpPr txBox="1"/>
          <p:nvPr/>
        </p:nvSpPr>
        <p:spPr>
          <a:xfrm>
            <a:off x="1857356" y="3643314"/>
            <a:ext cx="30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 smtClean="0">
                <a:latin typeface="Times New Roman" pitchFamily="18" charset="0"/>
                <a:cs typeface="Times New Roman" pitchFamily="18" charset="0"/>
              </a:rPr>
              <a:t>g</a:t>
            </a:r>
            <a:endParaRPr kumimoji="1" lang="ja-JP" alt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テキスト ボックス 44"/>
          <p:cNvSpPr txBox="1"/>
          <p:nvPr/>
        </p:nvSpPr>
        <p:spPr>
          <a:xfrm>
            <a:off x="1714480" y="4214818"/>
            <a:ext cx="30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 smtClean="0">
                <a:latin typeface="Times New Roman" pitchFamily="18" charset="0"/>
                <a:cs typeface="Times New Roman" pitchFamily="18" charset="0"/>
              </a:rPr>
              <a:t>q</a:t>
            </a:r>
            <a:endParaRPr kumimoji="1" lang="ja-JP" alt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テキスト ボックス 45"/>
          <p:cNvSpPr txBox="1"/>
          <p:nvPr/>
        </p:nvSpPr>
        <p:spPr>
          <a:xfrm>
            <a:off x="2786050" y="3643314"/>
            <a:ext cx="30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 smtClean="0">
                <a:latin typeface="Symbol" pitchFamily="18" charset="2"/>
                <a:cs typeface="Times New Roman" pitchFamily="18" charset="0"/>
              </a:rPr>
              <a:t>g</a:t>
            </a:r>
            <a:endParaRPr kumimoji="1" lang="ja-JP" altLang="en-US" sz="2400" i="1" dirty="0">
              <a:latin typeface="Symbol" pitchFamily="18" charset="2"/>
              <a:cs typeface="Times New Roman" pitchFamily="18" charset="0"/>
            </a:endParaRPr>
          </a:p>
        </p:txBody>
      </p:sp>
      <p:pic>
        <p:nvPicPr>
          <p:cNvPr id="36883" name="Picture 19" descr="D:\Documents and Settings\aoki\デスクトップ\Image4.png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500166" y="5286388"/>
            <a:ext cx="1819275" cy="1009650"/>
          </a:xfrm>
          <a:prstGeom prst="rect">
            <a:avLst/>
          </a:prstGeom>
          <a:noFill/>
        </p:spPr>
      </p:pic>
      <p:pic>
        <p:nvPicPr>
          <p:cNvPr id="49" name="Picture 3" descr="Image4"/>
          <p:cNvPicPr>
            <a:picLocks noChangeAspect="1" noChangeArrowheads="1"/>
          </p:cNvPicPr>
          <p:nvPr/>
        </p:nvPicPr>
        <p:blipFill>
          <a:blip r:embed="rId6"/>
          <a:srcRect t="69691" r="68750" b="-456"/>
          <a:stretch>
            <a:fillRect/>
          </a:stretch>
        </p:blipFill>
        <p:spPr bwMode="auto">
          <a:xfrm>
            <a:off x="1000100" y="5286388"/>
            <a:ext cx="618995" cy="412663"/>
          </a:xfrm>
          <a:prstGeom prst="rect">
            <a:avLst/>
          </a:prstGeom>
          <a:noFill/>
        </p:spPr>
      </p:pic>
      <p:sp>
        <p:nvSpPr>
          <p:cNvPr id="50" name="テキスト ボックス 49"/>
          <p:cNvSpPr txBox="1"/>
          <p:nvPr/>
        </p:nvSpPr>
        <p:spPr>
          <a:xfrm>
            <a:off x="785786" y="5572140"/>
            <a:ext cx="594339" cy="2666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proton</a:t>
            </a:r>
            <a:endParaRPr kumimoji="1" lang="ja-JP" altLang="en-US" dirty="0"/>
          </a:p>
        </p:txBody>
      </p:sp>
      <p:pic>
        <p:nvPicPr>
          <p:cNvPr id="51" name="Picture 3" descr="Image4"/>
          <p:cNvPicPr>
            <a:picLocks noChangeAspect="1" noChangeArrowheads="1"/>
          </p:cNvPicPr>
          <p:nvPr/>
        </p:nvPicPr>
        <p:blipFill>
          <a:blip r:embed="rId6"/>
          <a:srcRect t="69691" r="68750" b="-456"/>
          <a:stretch>
            <a:fillRect/>
          </a:stretch>
        </p:blipFill>
        <p:spPr bwMode="auto">
          <a:xfrm>
            <a:off x="1000100" y="5857892"/>
            <a:ext cx="618995" cy="412663"/>
          </a:xfrm>
          <a:prstGeom prst="rect">
            <a:avLst/>
          </a:prstGeom>
          <a:noFill/>
        </p:spPr>
      </p:pic>
      <p:sp>
        <p:nvSpPr>
          <p:cNvPr id="52" name="テキスト ボックス 51"/>
          <p:cNvSpPr txBox="1"/>
          <p:nvPr/>
        </p:nvSpPr>
        <p:spPr>
          <a:xfrm>
            <a:off x="714348" y="6072206"/>
            <a:ext cx="980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smtClean="0"/>
              <a:t>proton</a:t>
            </a:r>
            <a:endParaRPr kumimoji="1" lang="ja-JP" altLang="en-US" dirty="0"/>
          </a:p>
        </p:txBody>
      </p:sp>
      <p:sp>
        <p:nvSpPr>
          <p:cNvPr id="54" name="テキスト ボックス 53"/>
          <p:cNvSpPr txBox="1"/>
          <p:nvPr/>
        </p:nvSpPr>
        <p:spPr>
          <a:xfrm>
            <a:off x="3000364" y="5214950"/>
            <a:ext cx="474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i="1" dirty="0" smtClean="0">
                <a:latin typeface="Symbol" pitchFamily="18" charset="2"/>
                <a:cs typeface="Times New Roman" pitchFamily="18" charset="0"/>
              </a:rPr>
              <a:t>`</a:t>
            </a:r>
            <a:r>
              <a:rPr kumimoji="1" lang="en-US" altLang="ja-JP" sz="2400" b="1" i="1" dirty="0" smtClean="0">
                <a:latin typeface="Times New Roman" pitchFamily="18" charset="0"/>
                <a:cs typeface="Times New Roman" pitchFamily="18" charset="0"/>
              </a:rPr>
              <a:t>c</a:t>
            </a:r>
            <a:endParaRPr kumimoji="1" lang="ja-JP" alt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6" name="直線矢印コネクタ 55"/>
          <p:cNvCxnSpPr/>
          <p:nvPr/>
        </p:nvCxnSpPr>
        <p:spPr>
          <a:xfrm flipV="1">
            <a:off x="3571868" y="5286388"/>
            <a:ext cx="453884" cy="15939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テキスト ボックス 56"/>
          <p:cNvSpPr txBox="1"/>
          <p:nvPr/>
        </p:nvSpPr>
        <p:spPr>
          <a:xfrm>
            <a:off x="4000496" y="5072074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i="1" dirty="0" smtClean="0">
                <a:latin typeface="Times New Roman" pitchFamily="18" charset="0"/>
                <a:cs typeface="Times New Roman" pitchFamily="18" charset="0"/>
              </a:rPr>
              <a:t>D</a:t>
            </a:r>
            <a:endParaRPr kumimoji="1" lang="ja-JP" alt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9" name="直線矢印コネクタ 58"/>
          <p:cNvCxnSpPr/>
          <p:nvPr/>
        </p:nvCxnSpPr>
        <p:spPr>
          <a:xfrm flipV="1">
            <a:off x="4357686" y="5214950"/>
            <a:ext cx="642942" cy="8795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テキスト ボックス 60"/>
          <p:cNvSpPr txBox="1"/>
          <p:nvPr/>
        </p:nvSpPr>
        <p:spPr>
          <a:xfrm>
            <a:off x="5000628" y="4929198"/>
            <a:ext cx="1027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i="1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altLang="ja-JP" sz="2800" dirty="0" smtClean="0"/>
              <a:t> </a:t>
            </a:r>
            <a:r>
              <a:rPr kumimoji="1" lang="en-US" altLang="ja-JP" sz="2800" dirty="0" smtClean="0"/>
              <a:t>or </a:t>
            </a:r>
            <a:r>
              <a:rPr kumimoji="1" lang="en-US" altLang="ja-JP" sz="2800" i="1" dirty="0" smtClean="0">
                <a:latin typeface="Symbol" pitchFamily="18" charset="2"/>
              </a:rPr>
              <a:t>m</a:t>
            </a:r>
            <a:endParaRPr kumimoji="1" lang="ja-JP" altLang="en-US" sz="2800" i="1" dirty="0">
              <a:latin typeface="Symbol" pitchFamily="18" charset="2"/>
            </a:endParaRPr>
          </a:p>
        </p:txBody>
      </p:sp>
      <p:sp>
        <p:nvSpPr>
          <p:cNvPr id="66" name="テキスト ボックス 65"/>
          <p:cNvSpPr txBox="1"/>
          <p:nvPr/>
        </p:nvSpPr>
        <p:spPr>
          <a:xfrm>
            <a:off x="5786446" y="4714884"/>
            <a:ext cx="335755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Font typeface="Arial" pitchFamily="34" charset="0"/>
              <a:buChar char="•"/>
            </a:pPr>
            <a:r>
              <a:rPr kumimoji="1" lang="en-US" altLang="ja-JP" sz="2800" i="1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kumimoji="1" lang="en-US" altLang="ja-JP" sz="2800" i="1" baseline="30000" dirty="0" smtClean="0">
                <a:latin typeface="Times New Roman" pitchFamily="18" charset="0"/>
                <a:cs typeface="Times New Roman" pitchFamily="18" charset="0"/>
              </a:rPr>
              <a:t>+-</a:t>
            </a:r>
          </a:p>
          <a:p>
            <a:pPr lvl="1">
              <a:buFont typeface="Arial" pitchFamily="34" charset="0"/>
              <a:buChar char="•"/>
            </a:pPr>
            <a:r>
              <a:rPr lang="en-US" altLang="ja-JP" sz="2800" i="1" dirty="0" smtClean="0">
                <a:latin typeface="Symbol" pitchFamily="18" charset="2"/>
              </a:rPr>
              <a:t>m</a:t>
            </a:r>
            <a:r>
              <a:rPr lang="en-US" altLang="ja-JP" sz="2800" i="1" baseline="30000" dirty="0" smtClean="0">
                <a:latin typeface="Symbol" pitchFamily="18" charset="2"/>
              </a:rPr>
              <a:t>+-</a:t>
            </a:r>
          </a:p>
          <a:p>
            <a:pPr lvl="1">
              <a:buFont typeface="Arial" pitchFamily="34" charset="0"/>
              <a:buChar char="•"/>
            </a:pPr>
            <a:endParaRPr kumimoji="1" lang="en-US" altLang="ja-JP" sz="2800" i="1" dirty="0" smtClean="0">
              <a:latin typeface="Symbol" pitchFamily="18" charset="2"/>
            </a:endParaRPr>
          </a:p>
          <a:p>
            <a:pPr lvl="1">
              <a:buFont typeface="Arial" pitchFamily="34" charset="0"/>
              <a:buChar char="•"/>
            </a:pPr>
            <a:r>
              <a:rPr lang="en-US" altLang="ja-JP" sz="2800" i="1" dirty="0" smtClean="0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ja-JP" sz="2800" i="1" dirty="0" smtClean="0">
                <a:latin typeface="Symbol" pitchFamily="18" charset="2"/>
              </a:rPr>
              <a:t>/y </a:t>
            </a:r>
            <a:r>
              <a:rPr lang="en-US" altLang="ja-JP" sz="2800" dirty="0" smtClean="0">
                <a:latin typeface="Symbol" pitchFamily="18" charset="2"/>
              </a:rPr>
              <a:t>(</a:t>
            </a:r>
            <a:r>
              <a:rPr lang="en-US" altLang="ja-JP" sz="2800" dirty="0" smtClean="0">
                <a:latin typeface="Symbol" pitchFamily="18" charset="2"/>
                <a:sym typeface="Wingdings" pitchFamily="2" charset="2"/>
              </a:rPr>
              <a:t></a:t>
            </a:r>
            <a:r>
              <a:rPr lang="en-US" altLang="ja-JP" sz="2800" i="1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</a:t>
            </a:r>
            <a:r>
              <a:rPr lang="en-US" altLang="ja-JP" sz="2800" i="1" baseline="30000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+</a:t>
            </a:r>
            <a:r>
              <a:rPr lang="en-US" altLang="ja-JP" sz="2800" i="1" dirty="0" err="1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e</a:t>
            </a:r>
            <a:r>
              <a:rPr lang="en-US" altLang="ja-JP" sz="2800" i="1" baseline="30000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-</a:t>
            </a:r>
            <a:r>
              <a:rPr lang="en-US" altLang="ja-JP" sz="2800" dirty="0" smtClean="0">
                <a:latin typeface="Symbol" pitchFamily="18" charset="2"/>
                <a:sym typeface="Wingdings" pitchFamily="2" charset="2"/>
              </a:rPr>
              <a:t>, </a:t>
            </a:r>
            <a:r>
              <a:rPr lang="en-US" altLang="ja-JP" sz="2800" i="1" dirty="0" err="1" smtClean="0">
                <a:latin typeface="Symbol" pitchFamily="18" charset="2"/>
                <a:sym typeface="Wingdings" pitchFamily="2" charset="2"/>
              </a:rPr>
              <a:t>m</a:t>
            </a:r>
            <a:r>
              <a:rPr lang="en-US" altLang="ja-JP" sz="2800" i="1" baseline="30000" dirty="0" err="1" smtClean="0">
                <a:latin typeface="Symbol" pitchFamily="18" charset="2"/>
                <a:sym typeface="Wingdings" pitchFamily="2" charset="2"/>
              </a:rPr>
              <a:t>+</a:t>
            </a:r>
            <a:r>
              <a:rPr lang="en-US" altLang="ja-JP" sz="2800" i="1" dirty="0" err="1" smtClean="0">
                <a:latin typeface="Symbol" pitchFamily="18" charset="2"/>
                <a:sym typeface="Wingdings" pitchFamily="2" charset="2"/>
              </a:rPr>
              <a:t>m</a:t>
            </a:r>
            <a:r>
              <a:rPr lang="en-US" altLang="ja-JP" sz="2800" i="1" baseline="30000" dirty="0" smtClean="0">
                <a:latin typeface="Symbol" pitchFamily="18" charset="2"/>
                <a:sym typeface="Wingdings" pitchFamily="2" charset="2"/>
              </a:rPr>
              <a:t>-</a:t>
            </a:r>
            <a:r>
              <a:rPr lang="en-US" altLang="ja-JP" sz="2800" dirty="0" smtClean="0">
                <a:latin typeface="Symbol" pitchFamily="18" charset="2"/>
                <a:sym typeface="Wingdings" pitchFamily="2" charset="2"/>
              </a:rPr>
              <a:t>)</a:t>
            </a:r>
            <a:endParaRPr kumimoji="1" lang="en-US" altLang="ja-JP" sz="2800" dirty="0" smtClean="0">
              <a:latin typeface="Symbol" pitchFamily="18" charset="2"/>
            </a:endParaRPr>
          </a:p>
        </p:txBody>
      </p:sp>
      <p:sp>
        <p:nvSpPr>
          <p:cNvPr id="67" name="テキスト ボックス 66"/>
          <p:cNvSpPr txBox="1"/>
          <p:nvPr/>
        </p:nvSpPr>
        <p:spPr>
          <a:xfrm>
            <a:off x="1785918" y="5072074"/>
            <a:ext cx="30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 smtClean="0">
                <a:latin typeface="Times New Roman" pitchFamily="18" charset="0"/>
                <a:cs typeface="Times New Roman" pitchFamily="18" charset="0"/>
              </a:rPr>
              <a:t>g</a:t>
            </a:r>
            <a:endParaRPr kumimoji="1" lang="ja-JP" alt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8" name="テキスト ボックス 67"/>
          <p:cNvSpPr txBox="1"/>
          <p:nvPr/>
        </p:nvSpPr>
        <p:spPr>
          <a:xfrm>
            <a:off x="1714480" y="5643578"/>
            <a:ext cx="30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 smtClean="0">
                <a:latin typeface="Times New Roman" pitchFamily="18" charset="0"/>
                <a:cs typeface="Times New Roman" pitchFamily="18" charset="0"/>
              </a:rPr>
              <a:t>g</a:t>
            </a:r>
            <a:endParaRPr kumimoji="1" lang="ja-JP" alt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9" name="テキスト ボックス 68"/>
          <p:cNvSpPr txBox="1"/>
          <p:nvPr/>
        </p:nvSpPr>
        <p:spPr>
          <a:xfrm>
            <a:off x="3143240" y="5929330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i="1" dirty="0" smtClean="0">
                <a:latin typeface="Times New Roman" pitchFamily="18" charset="0"/>
                <a:cs typeface="Times New Roman" pitchFamily="18" charset="0"/>
              </a:rPr>
              <a:t>c</a:t>
            </a:r>
            <a:endParaRPr kumimoji="1" lang="ja-JP" alt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0" name="テキスト ボックス 69"/>
          <p:cNvSpPr txBox="1"/>
          <p:nvPr/>
        </p:nvSpPr>
        <p:spPr>
          <a:xfrm>
            <a:off x="5929322" y="3786190"/>
            <a:ext cx="32146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buFont typeface="Arial" pitchFamily="34" charset="0"/>
              <a:buChar char="•"/>
            </a:pPr>
            <a:r>
              <a:rPr kumimoji="1" lang="en-US" altLang="ja-JP" sz="2800" i="1" dirty="0" smtClean="0">
                <a:latin typeface="Symbol" pitchFamily="18" charset="2"/>
                <a:sym typeface="Wingdings" pitchFamily="2" charset="2"/>
              </a:rPr>
              <a:t>g</a:t>
            </a:r>
            <a:endParaRPr kumimoji="1" lang="en-US" altLang="ja-JP" sz="2800" i="1" baseline="30000" dirty="0" smtClean="0">
              <a:latin typeface="Symbol" pitchFamily="18" charset="2"/>
            </a:endParaRPr>
          </a:p>
        </p:txBody>
      </p:sp>
      <p:pic>
        <p:nvPicPr>
          <p:cNvPr id="72" name="Picture 9" descr="Image1"/>
          <p:cNvPicPr>
            <a:picLocks noChangeAspect="1" noChangeArrowheads="1"/>
          </p:cNvPicPr>
          <p:nvPr/>
        </p:nvPicPr>
        <p:blipFill>
          <a:blip r:embed="rId5"/>
          <a:srcRect t="49622" b="378"/>
          <a:stretch>
            <a:fillRect/>
          </a:stretch>
        </p:blipFill>
        <p:spPr bwMode="auto">
          <a:xfrm>
            <a:off x="4143372" y="1928802"/>
            <a:ext cx="1571636" cy="785818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</p:pic>
      <p:sp>
        <p:nvSpPr>
          <p:cNvPr id="73" name="テキスト ボックス 72"/>
          <p:cNvSpPr txBox="1"/>
          <p:nvPr/>
        </p:nvSpPr>
        <p:spPr>
          <a:xfrm>
            <a:off x="4357686" y="1714488"/>
            <a:ext cx="30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 smtClean="0">
                <a:latin typeface="Times New Roman" pitchFamily="18" charset="0"/>
                <a:cs typeface="Times New Roman" pitchFamily="18" charset="0"/>
              </a:rPr>
              <a:t>g</a:t>
            </a:r>
            <a:endParaRPr kumimoji="1" lang="ja-JP" alt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4" name="テキスト ボックス 73"/>
          <p:cNvSpPr txBox="1"/>
          <p:nvPr/>
        </p:nvSpPr>
        <p:spPr>
          <a:xfrm>
            <a:off x="4286248" y="2428868"/>
            <a:ext cx="303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i="1" dirty="0" smtClean="0">
                <a:latin typeface="Times New Roman" pitchFamily="18" charset="0"/>
                <a:cs typeface="Times New Roman" pitchFamily="18" charset="0"/>
              </a:rPr>
              <a:t>q</a:t>
            </a:r>
            <a:endParaRPr kumimoji="1" lang="ja-JP" altLang="en-US" sz="2400" i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5" name="Picture 3" descr="Image4"/>
          <p:cNvPicPr>
            <a:picLocks noChangeAspect="1" noChangeArrowheads="1"/>
          </p:cNvPicPr>
          <p:nvPr/>
        </p:nvPicPr>
        <p:blipFill>
          <a:blip r:embed="rId6"/>
          <a:srcRect t="69691" r="68750" b="-456"/>
          <a:stretch>
            <a:fillRect/>
          </a:stretch>
        </p:blipFill>
        <p:spPr bwMode="auto">
          <a:xfrm>
            <a:off x="3643307" y="1770163"/>
            <a:ext cx="618995" cy="412663"/>
          </a:xfrm>
          <a:prstGeom prst="rect">
            <a:avLst/>
          </a:prstGeom>
          <a:noFill/>
        </p:spPr>
      </p:pic>
      <p:sp>
        <p:nvSpPr>
          <p:cNvPr id="76" name="テキスト ボックス 75"/>
          <p:cNvSpPr txBox="1"/>
          <p:nvPr/>
        </p:nvSpPr>
        <p:spPr>
          <a:xfrm>
            <a:off x="3591723" y="2028077"/>
            <a:ext cx="594339" cy="2666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proton</a:t>
            </a:r>
            <a:endParaRPr kumimoji="1" lang="ja-JP" altLang="en-US" dirty="0"/>
          </a:p>
        </p:txBody>
      </p:sp>
      <p:sp>
        <p:nvSpPr>
          <p:cNvPr id="77" name="テキスト ボックス 76"/>
          <p:cNvSpPr txBox="1"/>
          <p:nvPr/>
        </p:nvSpPr>
        <p:spPr>
          <a:xfrm>
            <a:off x="3591723" y="2595489"/>
            <a:ext cx="594339" cy="2666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proton</a:t>
            </a:r>
            <a:endParaRPr kumimoji="1" lang="ja-JP" altLang="en-US" dirty="0"/>
          </a:p>
        </p:txBody>
      </p:sp>
      <p:pic>
        <p:nvPicPr>
          <p:cNvPr id="78" name="Picture 3" descr="Image4"/>
          <p:cNvPicPr>
            <a:picLocks noChangeAspect="1" noChangeArrowheads="1"/>
          </p:cNvPicPr>
          <p:nvPr/>
        </p:nvPicPr>
        <p:blipFill>
          <a:blip r:embed="rId6"/>
          <a:srcRect t="69691" r="68750" b="-456"/>
          <a:stretch>
            <a:fillRect/>
          </a:stretch>
        </p:blipFill>
        <p:spPr bwMode="auto">
          <a:xfrm>
            <a:off x="3643306" y="2285992"/>
            <a:ext cx="618995" cy="412663"/>
          </a:xfrm>
          <a:prstGeom prst="rect">
            <a:avLst/>
          </a:prstGeom>
          <a:noFill/>
        </p:spPr>
      </p:pic>
      <p:cxnSp>
        <p:nvCxnSpPr>
          <p:cNvPr id="79" name="直線矢印コネクタ 78"/>
          <p:cNvCxnSpPr/>
          <p:nvPr/>
        </p:nvCxnSpPr>
        <p:spPr>
          <a:xfrm>
            <a:off x="5528532" y="2611454"/>
            <a:ext cx="206332" cy="5158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直線矢印コネクタ 79"/>
          <p:cNvCxnSpPr/>
          <p:nvPr/>
        </p:nvCxnSpPr>
        <p:spPr>
          <a:xfrm>
            <a:off x="5528532" y="2611454"/>
            <a:ext cx="257915" cy="1547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直線矢印コネクタ 80"/>
          <p:cNvCxnSpPr/>
          <p:nvPr/>
        </p:nvCxnSpPr>
        <p:spPr>
          <a:xfrm rot="16200000" flipH="1">
            <a:off x="5528532" y="2611454"/>
            <a:ext cx="309497" cy="30949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テキスト ボックス 81"/>
          <p:cNvSpPr txBox="1"/>
          <p:nvPr/>
        </p:nvSpPr>
        <p:spPr>
          <a:xfrm rot="3642402">
            <a:off x="5218184" y="2533176"/>
            <a:ext cx="370576" cy="3333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jet</a:t>
            </a:r>
            <a:endParaRPr kumimoji="1" lang="ja-JP" altLang="en-US" sz="2400" dirty="0"/>
          </a:p>
        </p:txBody>
      </p:sp>
      <p:sp>
        <p:nvSpPr>
          <p:cNvPr id="83" name="テキスト ボックス 82"/>
          <p:cNvSpPr txBox="1"/>
          <p:nvPr/>
        </p:nvSpPr>
        <p:spPr>
          <a:xfrm>
            <a:off x="5643570" y="2714620"/>
            <a:ext cx="397245" cy="422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 smtClean="0">
                <a:latin typeface="Symbol" pitchFamily="18" charset="2"/>
              </a:rPr>
              <a:t>p</a:t>
            </a:r>
            <a:r>
              <a:rPr kumimoji="1" lang="en-US" altLang="ja-JP" sz="3200" baseline="30000" dirty="0" smtClean="0"/>
              <a:t>0</a:t>
            </a:r>
            <a:endParaRPr kumimoji="1" lang="ja-JP" altLang="en-US" sz="3200" baseline="30000" dirty="0"/>
          </a:p>
        </p:txBody>
      </p:sp>
      <p:cxnSp>
        <p:nvCxnSpPr>
          <p:cNvPr id="85" name="直線矢印コネクタ 84"/>
          <p:cNvCxnSpPr>
            <a:stCxn id="82" idx="0"/>
          </p:cNvCxnSpPr>
          <p:nvPr/>
        </p:nvCxnSpPr>
        <p:spPr>
          <a:xfrm>
            <a:off x="5548835" y="2618301"/>
            <a:ext cx="23297" cy="16775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テキスト ボックス 86"/>
          <p:cNvSpPr txBox="1"/>
          <p:nvPr/>
        </p:nvSpPr>
        <p:spPr>
          <a:xfrm>
            <a:off x="3929058" y="6000768"/>
            <a:ext cx="18854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smtClean="0"/>
              <a:t>or  </a:t>
            </a:r>
            <a:r>
              <a:rPr kumimoji="1" lang="en-US" altLang="ja-JP" sz="2400" dirty="0" smtClean="0">
                <a:latin typeface="Symbol" pitchFamily="18" charset="2"/>
              </a:rPr>
              <a:t>`</a:t>
            </a:r>
            <a:r>
              <a:rPr kumimoji="1" lang="en-US" altLang="ja-JP" sz="2400" b="1" i="1" dirty="0" smtClean="0">
                <a:latin typeface="Times New Roman" pitchFamily="18" charset="0"/>
                <a:cs typeface="Times New Roman" pitchFamily="18" charset="0"/>
              </a:rPr>
              <a:t>cc</a:t>
            </a:r>
            <a:r>
              <a:rPr kumimoji="1" lang="en-US" altLang="ja-JP" sz="2400" dirty="0" smtClean="0"/>
              <a:t> </a:t>
            </a:r>
            <a:r>
              <a:rPr kumimoji="1" lang="en-US" altLang="ja-JP" sz="2400" dirty="0" smtClean="0">
                <a:sym typeface="Wingdings" pitchFamily="2" charset="2"/>
              </a:rPr>
              <a:t> J/</a:t>
            </a:r>
            <a:r>
              <a:rPr kumimoji="1" lang="en-US" altLang="ja-JP" sz="2400" dirty="0" smtClean="0">
                <a:latin typeface="Symbol" pitchFamily="18" charset="2"/>
                <a:sym typeface="Wingdings" pitchFamily="2" charset="2"/>
              </a:rPr>
              <a:t>y</a:t>
            </a:r>
            <a:endParaRPr kumimoji="1" lang="ja-JP" altLang="en-US" sz="2400" dirty="0">
              <a:latin typeface="Symbol" pitchFamily="18" charset="2"/>
            </a:endParaRPr>
          </a:p>
        </p:txBody>
      </p:sp>
      <p:grpSp>
        <p:nvGrpSpPr>
          <p:cNvPr id="86" name="グループ化 85"/>
          <p:cNvGrpSpPr/>
          <p:nvPr/>
        </p:nvGrpSpPr>
        <p:grpSpPr>
          <a:xfrm>
            <a:off x="0" y="3214686"/>
            <a:ext cx="5286380" cy="1143008"/>
            <a:chOff x="-6572328" y="-142876"/>
            <a:chExt cx="5286380" cy="1143008"/>
          </a:xfrm>
        </p:grpSpPr>
        <p:sp>
          <p:nvSpPr>
            <p:cNvPr id="65" name="正方形/長方形 64"/>
            <p:cNvSpPr/>
            <p:nvPr/>
          </p:nvSpPr>
          <p:spPr>
            <a:xfrm>
              <a:off x="-6572328" y="-142876"/>
              <a:ext cx="5286380" cy="1143008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Rectangle 5"/>
            <p:cNvSpPr>
              <a:spLocks noChangeArrowheads="1"/>
            </p:cNvSpPr>
            <p:nvPr/>
          </p:nvSpPr>
          <p:spPr bwMode="auto">
            <a:xfrm>
              <a:off x="-2286080" y="0"/>
              <a:ext cx="914400" cy="990600"/>
            </a:xfrm>
            <a:prstGeom prst="rect">
              <a:avLst/>
            </a:prstGeom>
            <a:solidFill>
              <a:srgbClr val="33CC33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ja-JP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endParaRPr>
            </a:p>
          </p:txBody>
        </p:sp>
        <p:sp>
          <p:nvSpPr>
            <p:cNvPr id="60" name="Rectangle 7"/>
            <p:cNvSpPr>
              <a:spLocks noChangeArrowheads="1"/>
            </p:cNvSpPr>
            <p:nvPr/>
          </p:nvSpPr>
          <p:spPr bwMode="auto">
            <a:xfrm>
              <a:off x="-4072030" y="0"/>
              <a:ext cx="914400" cy="990600"/>
            </a:xfrm>
            <a:prstGeom prst="rect">
              <a:avLst/>
            </a:prstGeom>
            <a:solidFill>
              <a:srgbClr val="FF0000">
                <a:alpha val="60001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ja-JP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endParaRPr>
            </a:p>
          </p:txBody>
        </p:sp>
        <p:graphicFrame>
          <p:nvGraphicFramePr>
            <p:cNvPr id="62" name="Object 8"/>
            <p:cNvGraphicFramePr>
              <a:graphicFrameLocks noChangeAspect="1"/>
            </p:cNvGraphicFramePr>
            <p:nvPr/>
          </p:nvGraphicFramePr>
          <p:xfrm>
            <a:off x="-5929418" y="0"/>
            <a:ext cx="4591050" cy="928688"/>
          </p:xfrm>
          <a:graphic>
            <a:graphicData uri="http://schemas.openxmlformats.org/presentationml/2006/ole">
              <p:oleObj spid="_x0000_s60417" name="数式" r:id="rId9" imgW="2070000" imgH="419040" progId="Equation.3">
                <p:embed/>
              </p:oleObj>
            </a:graphicData>
          </a:graphic>
        </p:graphicFrame>
        <p:graphicFrame>
          <p:nvGraphicFramePr>
            <p:cNvPr id="63" name="Object 10"/>
            <p:cNvGraphicFramePr>
              <a:graphicFrameLocks noChangeAspect="1"/>
            </p:cNvGraphicFramePr>
            <p:nvPr/>
          </p:nvGraphicFramePr>
          <p:xfrm>
            <a:off x="-6429484" y="214314"/>
            <a:ext cx="626165" cy="481012"/>
          </p:xfrm>
          <a:graphic>
            <a:graphicData uri="http://schemas.openxmlformats.org/presentationml/2006/ole">
              <p:oleObj spid="_x0000_s60418" name="数式" r:id="rId10" imgW="253800" imgH="215640" progId="Equation.3">
                <p:embed/>
              </p:oleObj>
            </a:graphicData>
          </a:graphic>
        </p:graphicFrame>
      </p:grp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25470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 smtClean="0"/>
              <a:t>summary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28596" y="642918"/>
            <a:ext cx="8229600" cy="5715040"/>
          </a:xfrm>
        </p:spPr>
        <p:txBody>
          <a:bodyPr>
            <a:normAutofit fontScale="92500" lnSpcReduction="10000"/>
          </a:bodyPr>
          <a:lstStyle/>
          <a:p>
            <a:r>
              <a:rPr lang="en-US" altLang="ja-JP" dirty="0" smtClean="0"/>
              <a:t>PHENIX longitudinal spin program is to reveal the spin structure of proton, especially </a:t>
            </a:r>
            <a:r>
              <a:rPr lang="en-US" altLang="ja-JP" i="1" dirty="0" smtClean="0">
                <a:latin typeface="Symbol" pitchFamily="18" charset="2"/>
              </a:rPr>
              <a:t>D</a:t>
            </a:r>
            <a:r>
              <a:rPr lang="en-US" altLang="ja-JP" i="1" dirty="0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ja-JP" dirty="0" smtClean="0"/>
              <a:t> which has a large uncertainty.</a:t>
            </a:r>
          </a:p>
          <a:p>
            <a:r>
              <a:rPr lang="en-US" altLang="ja-JP" dirty="0" smtClean="0"/>
              <a:t>PHENIX cross-section measurements are shown. The results confirm </a:t>
            </a:r>
            <a:r>
              <a:rPr lang="en-US" altLang="ja-JP" dirty="0" err="1" smtClean="0"/>
              <a:t>pQCD</a:t>
            </a:r>
            <a:r>
              <a:rPr lang="en-US" altLang="ja-JP" dirty="0" smtClean="0"/>
              <a:t> applicability which </a:t>
            </a:r>
            <a:r>
              <a:rPr lang="en-US" altLang="ja-JP" i="1" dirty="0" smtClean="0">
                <a:latin typeface="Symbol" pitchFamily="18" charset="2"/>
              </a:rPr>
              <a:t>D</a:t>
            </a:r>
            <a:r>
              <a:rPr lang="en-US" altLang="ja-JP" i="1" dirty="0" smtClean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ja-JP" dirty="0" smtClean="0"/>
              <a:t> extraction framework relies on.</a:t>
            </a:r>
          </a:p>
          <a:p>
            <a:r>
              <a:rPr lang="en-US" altLang="ja-JP" dirty="0" smtClean="0"/>
              <a:t>PHENIX - A</a:t>
            </a:r>
            <a:r>
              <a:rPr lang="en-US" altLang="ja-JP" baseline="-25000" dirty="0" smtClean="0"/>
              <a:t>LL</a:t>
            </a:r>
            <a:r>
              <a:rPr lang="en-US" altLang="ja-JP" dirty="0" smtClean="0"/>
              <a:t> </a:t>
            </a:r>
            <a:r>
              <a:rPr lang="en-US" altLang="ja-JP" i="1" dirty="0" smtClean="0">
                <a:latin typeface="Symbol" pitchFamily="18" charset="2"/>
              </a:rPr>
              <a:t>p</a:t>
            </a:r>
            <a:r>
              <a:rPr lang="en-US" altLang="ja-JP" i="1" baseline="30000" dirty="0" smtClean="0"/>
              <a:t>0</a:t>
            </a:r>
            <a:r>
              <a:rPr lang="en-US" altLang="ja-JP" dirty="0" smtClean="0"/>
              <a:t> excludes large </a:t>
            </a:r>
            <a:r>
              <a:rPr lang="en-US" altLang="ja-JP" dirty="0" smtClean="0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 altLang="ja-JP" i="1" dirty="0" smtClean="0">
                <a:latin typeface="Symbol" pitchFamily="18" charset="2"/>
              </a:rPr>
              <a:t>D</a:t>
            </a:r>
            <a:r>
              <a:rPr lang="en-US" altLang="ja-JP" i="1" dirty="0" smtClean="0">
                <a:latin typeface="Times New Roman" pitchFamily="18" charset="0"/>
                <a:cs typeface="Times New Roman" pitchFamily="18" charset="0"/>
              </a:rPr>
              <a:t>g|</a:t>
            </a:r>
            <a:r>
              <a:rPr lang="en-US" altLang="ja-JP" dirty="0" smtClean="0"/>
              <a:t> scenarios. </a:t>
            </a:r>
          </a:p>
          <a:p>
            <a:pPr lvl="1"/>
            <a:r>
              <a:rPr lang="en-US" altLang="ja-JP" dirty="0" err="1" smtClean="0"/>
              <a:t>Statisical</a:t>
            </a:r>
            <a:r>
              <a:rPr lang="en-US" altLang="ja-JP" dirty="0" smtClean="0"/>
              <a:t> improvement expected in the next run.</a:t>
            </a:r>
          </a:p>
          <a:p>
            <a:r>
              <a:rPr lang="en-US" altLang="ja-JP" dirty="0" smtClean="0"/>
              <a:t>complementary measurements will be obtained from other channels.</a:t>
            </a:r>
          </a:p>
          <a:p>
            <a:r>
              <a:rPr lang="en-US" altLang="ja-JP" dirty="0" smtClean="0"/>
              <a:t>We’ll accumulate 70pb</a:t>
            </a:r>
            <a:r>
              <a:rPr lang="en-US" altLang="ja-JP" baseline="30000" dirty="0" smtClean="0"/>
              <a:t>-1</a:t>
            </a:r>
            <a:r>
              <a:rPr lang="en-US" altLang="ja-JP" dirty="0" smtClean="0"/>
              <a:t>(70% pol.) at 200GeV  in 2008(RUN8)</a:t>
            </a:r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K.Aoki (Kyoto Univ. / RIKEN)</a:t>
            </a:r>
            <a:endParaRPr lang="ja-JP" altLang="en-US" dirty="0" smtClean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15</a:t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Back up slides</a:t>
            </a:r>
            <a:endParaRPr kumimoji="1" lang="ja-JP" altLang="en-US" dirty="0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en-US" altLang="ja-JP" smtClean="0"/>
              <a:t>K.Aoki (Kyoto Univ. / RIKEN)</a:t>
            </a:r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16</a:t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0034" y="142852"/>
            <a:ext cx="8229600" cy="571504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 smtClean="0"/>
              <a:t>Information on the session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428596" y="642918"/>
            <a:ext cx="8229600" cy="928693"/>
          </a:xfrm>
        </p:spPr>
        <p:txBody>
          <a:bodyPr>
            <a:normAutofit fontScale="92500" lnSpcReduction="20000"/>
          </a:bodyPr>
          <a:lstStyle/>
          <a:p>
            <a:r>
              <a:rPr kumimoji="1" lang="en-US" altLang="ja-JP" dirty="0" smtClean="0"/>
              <a:t>Nucleon Structure II</a:t>
            </a:r>
          </a:p>
          <a:p>
            <a:pPr lvl="1"/>
            <a:r>
              <a:rPr kumimoji="1" lang="en-US" altLang="ja-JP" dirty="0" smtClean="0"/>
              <a:t>Session Name:D3,   Hall Name:G409</a:t>
            </a:r>
          </a:p>
        </p:txBody>
      </p:sp>
      <p:graphicFrame>
        <p:nvGraphicFramePr>
          <p:cNvPr id="5" name="表 4"/>
          <p:cNvGraphicFramePr>
            <a:graphicFrameLocks noGrp="1"/>
          </p:cNvGraphicFramePr>
          <p:nvPr/>
        </p:nvGraphicFramePr>
        <p:xfrm>
          <a:off x="0" y="1727200"/>
          <a:ext cx="9144000" cy="48564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31210"/>
                <a:gridCol w="2554074"/>
                <a:gridCol w="5858716"/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No.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Name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Title</a:t>
                      </a:r>
                      <a:endParaRPr kumimoji="1" lang="ja-JP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M. </a:t>
                      </a:r>
                      <a:r>
                        <a:rPr kumimoji="1" lang="en-US" altLang="ja-JP" dirty="0" err="1" smtClean="0"/>
                        <a:t>Strikman</a:t>
                      </a:r>
                      <a:endParaRPr kumimoji="1" lang="en-US" altLang="ja-JP" dirty="0" smtClean="0"/>
                    </a:p>
                    <a:p>
                      <a:r>
                        <a:rPr kumimoji="1" lang="en-US" altLang="ja-JP" baseline="0" dirty="0" smtClean="0"/>
                        <a:t> (Penn. State Univ.)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High-energy </a:t>
                      </a:r>
                      <a:r>
                        <a:rPr kumimoji="1" lang="en-US" altLang="ja-JP" dirty="0" err="1" smtClean="0"/>
                        <a:t>hadron</a:t>
                      </a:r>
                      <a:r>
                        <a:rPr kumimoji="1" lang="en-US" altLang="ja-JP" dirty="0" smtClean="0"/>
                        <a:t> physics at future facilities</a:t>
                      </a:r>
                      <a:endParaRPr kumimoji="1" lang="ja-JP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J. </a:t>
                      </a:r>
                      <a:r>
                        <a:rPr kumimoji="1" lang="en-US" altLang="ja-JP" dirty="0" err="1" smtClean="0"/>
                        <a:t>Peng</a:t>
                      </a:r>
                      <a:r>
                        <a:rPr kumimoji="1" lang="en-US" altLang="ja-JP" dirty="0" smtClean="0"/>
                        <a:t>  (UIUC)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Measurement of azimuthal angular distributions of dimuons in </a:t>
                      </a:r>
                      <a:r>
                        <a:rPr kumimoji="1" lang="en-US" altLang="ja-JP" dirty="0" err="1" smtClean="0"/>
                        <a:t>p+p</a:t>
                      </a:r>
                      <a:r>
                        <a:rPr kumimoji="1" lang="en-US" altLang="ja-JP" dirty="0" smtClean="0"/>
                        <a:t> and </a:t>
                      </a:r>
                      <a:r>
                        <a:rPr kumimoji="1" lang="en-US" altLang="ja-JP" dirty="0" err="1" smtClean="0"/>
                        <a:t>p+d</a:t>
                      </a:r>
                      <a:r>
                        <a:rPr kumimoji="1" lang="en-US" altLang="ja-JP" dirty="0" smtClean="0"/>
                        <a:t> interaction at 800 GeV/C</a:t>
                      </a:r>
                      <a:endParaRPr kumimoji="1" lang="ja-JP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b="1" cap="none" spc="0" dirty="0" smtClean="0">
                          <a:ln w="1905"/>
                          <a:gradFill>
                            <a:gsLst>
                              <a:gs pos="0">
                                <a:schemeClr val="accent6">
                                  <a:shade val="20000"/>
                                  <a:satMod val="200000"/>
                                </a:schemeClr>
                              </a:gs>
                              <a:gs pos="78000">
                                <a:schemeClr val="accent6">
                                  <a:tint val="90000"/>
                                  <a:shade val="89000"/>
                                  <a:satMod val="220000"/>
                                </a:schemeClr>
                              </a:gs>
                              <a:gs pos="100000">
                                <a:schemeClr val="accent6">
                                  <a:tint val="12000"/>
                                  <a:satMod val="25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innerShdw blurRad="69850" dist="43180" dir="5400000">
                              <a:srgbClr val="000000">
                                <a:alpha val="65000"/>
                              </a:srgbClr>
                            </a:innerShdw>
                          </a:effectLst>
                        </a:rPr>
                        <a:t>3</a:t>
                      </a:r>
                      <a:endParaRPr kumimoji="1" lang="ja-JP" altLang="en-US" b="1" cap="none" spc="0" dirty="0">
                        <a:ln w="1905"/>
                        <a:gradFill>
                          <a:gsLst>
                            <a:gs pos="0">
                              <a:schemeClr val="accent6">
                                <a:shade val="20000"/>
                                <a:satMod val="200000"/>
                              </a:schemeClr>
                            </a:gs>
                            <a:gs pos="78000">
                              <a:schemeClr val="accent6">
                                <a:tint val="90000"/>
                                <a:shade val="89000"/>
                                <a:satMod val="220000"/>
                              </a:schemeClr>
                            </a:gs>
                            <a:gs pos="100000">
                              <a:schemeClr val="accent6">
                                <a:tint val="12000"/>
                                <a:satMod val="255000"/>
                              </a:schemeClr>
                            </a:gs>
                          </a:gsLst>
                          <a:lin ang="5400000"/>
                        </a:gradFill>
                        <a:effectLst>
                          <a:innerShdw blurRad="69850" dist="43180" dir="5400000">
                            <a:srgbClr val="000000">
                              <a:alpha val="65000"/>
                            </a:srgbClr>
                          </a:inn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b="1" cap="none" spc="0" dirty="0" smtClean="0">
                          <a:ln w="1905"/>
                          <a:gradFill>
                            <a:gsLst>
                              <a:gs pos="0">
                                <a:schemeClr val="accent6">
                                  <a:shade val="20000"/>
                                  <a:satMod val="200000"/>
                                </a:schemeClr>
                              </a:gs>
                              <a:gs pos="78000">
                                <a:schemeClr val="accent6">
                                  <a:tint val="90000"/>
                                  <a:shade val="89000"/>
                                  <a:satMod val="220000"/>
                                </a:schemeClr>
                              </a:gs>
                              <a:gs pos="100000">
                                <a:schemeClr val="accent6">
                                  <a:tint val="12000"/>
                                  <a:satMod val="25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innerShdw blurRad="69850" dist="43180" dir="5400000">
                              <a:srgbClr val="000000">
                                <a:alpha val="65000"/>
                              </a:srgbClr>
                            </a:innerShdw>
                          </a:effectLst>
                        </a:rPr>
                        <a:t>K. Aoki (Kyoto</a:t>
                      </a:r>
                      <a:r>
                        <a:rPr kumimoji="1" lang="en-US" altLang="ja-JP" b="1" cap="none" spc="0" baseline="0" dirty="0" smtClean="0">
                          <a:ln w="1905"/>
                          <a:gradFill>
                            <a:gsLst>
                              <a:gs pos="0">
                                <a:schemeClr val="accent6">
                                  <a:shade val="20000"/>
                                  <a:satMod val="200000"/>
                                </a:schemeClr>
                              </a:gs>
                              <a:gs pos="78000">
                                <a:schemeClr val="accent6">
                                  <a:tint val="90000"/>
                                  <a:shade val="89000"/>
                                  <a:satMod val="220000"/>
                                </a:schemeClr>
                              </a:gs>
                              <a:gs pos="100000">
                                <a:schemeClr val="accent6">
                                  <a:tint val="12000"/>
                                  <a:satMod val="25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innerShdw blurRad="69850" dist="43180" dir="5400000">
                              <a:srgbClr val="000000">
                                <a:alpha val="65000"/>
                              </a:srgbClr>
                            </a:innerShdw>
                          </a:effectLst>
                        </a:rPr>
                        <a:t> /RIKEN)</a:t>
                      </a:r>
                      <a:endParaRPr kumimoji="1" lang="ja-JP" altLang="en-US" b="1" cap="none" spc="0" dirty="0">
                        <a:ln w="1905"/>
                        <a:gradFill>
                          <a:gsLst>
                            <a:gs pos="0">
                              <a:schemeClr val="accent6">
                                <a:shade val="20000"/>
                                <a:satMod val="200000"/>
                              </a:schemeClr>
                            </a:gs>
                            <a:gs pos="78000">
                              <a:schemeClr val="accent6">
                                <a:tint val="90000"/>
                                <a:shade val="89000"/>
                                <a:satMod val="220000"/>
                              </a:schemeClr>
                            </a:gs>
                            <a:gs pos="100000">
                              <a:schemeClr val="accent6">
                                <a:tint val="12000"/>
                                <a:satMod val="255000"/>
                              </a:schemeClr>
                            </a:gs>
                          </a:gsLst>
                          <a:lin ang="5400000"/>
                        </a:gradFill>
                        <a:effectLst>
                          <a:innerShdw blurRad="69850" dist="43180" dir="5400000">
                            <a:srgbClr val="000000">
                              <a:alpha val="65000"/>
                            </a:srgbClr>
                          </a:innerShdw>
                        </a:effectLs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b="1" cap="none" spc="0" dirty="0" smtClean="0">
                          <a:ln w="1905"/>
                          <a:gradFill>
                            <a:gsLst>
                              <a:gs pos="0">
                                <a:schemeClr val="accent6">
                                  <a:shade val="20000"/>
                                  <a:satMod val="200000"/>
                                </a:schemeClr>
                              </a:gs>
                              <a:gs pos="78000">
                                <a:schemeClr val="accent6">
                                  <a:tint val="90000"/>
                                  <a:shade val="89000"/>
                                  <a:satMod val="220000"/>
                                </a:schemeClr>
                              </a:gs>
                              <a:gs pos="100000">
                                <a:schemeClr val="accent6">
                                  <a:tint val="12000"/>
                                  <a:satMod val="25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innerShdw blurRad="69850" dist="43180" dir="5400000">
                              <a:srgbClr val="000000">
                                <a:alpha val="65000"/>
                              </a:srgbClr>
                            </a:innerShdw>
                          </a:effectLst>
                        </a:rPr>
                        <a:t>Spin Physics</a:t>
                      </a:r>
                      <a:r>
                        <a:rPr kumimoji="1" lang="en-US" altLang="ja-JP" b="1" cap="none" spc="0" baseline="0" dirty="0" smtClean="0">
                          <a:ln w="1905"/>
                          <a:gradFill>
                            <a:gsLst>
                              <a:gs pos="0">
                                <a:schemeClr val="accent6">
                                  <a:shade val="20000"/>
                                  <a:satMod val="200000"/>
                                </a:schemeClr>
                              </a:gs>
                              <a:gs pos="78000">
                                <a:schemeClr val="accent6">
                                  <a:tint val="90000"/>
                                  <a:shade val="89000"/>
                                  <a:satMod val="220000"/>
                                </a:schemeClr>
                              </a:gs>
                              <a:gs pos="100000">
                                <a:schemeClr val="accent6">
                                  <a:tint val="12000"/>
                                  <a:satMod val="255000"/>
                                </a:schemeClr>
                              </a:gs>
                            </a:gsLst>
                            <a:lin ang="5400000"/>
                          </a:gradFill>
                          <a:effectLst>
                            <a:innerShdw blurRad="69850" dist="43180" dir="5400000">
                              <a:srgbClr val="000000">
                                <a:alpha val="65000"/>
                              </a:srgbClr>
                            </a:innerShdw>
                          </a:effectLst>
                        </a:rPr>
                        <a:t> Program at RHIC-PHENIX</a:t>
                      </a:r>
                      <a:endParaRPr kumimoji="1" lang="ja-JP" altLang="en-US" b="1" cap="none" spc="0" dirty="0">
                        <a:ln w="1905"/>
                        <a:gradFill>
                          <a:gsLst>
                            <a:gs pos="0">
                              <a:schemeClr val="accent6">
                                <a:shade val="20000"/>
                                <a:satMod val="200000"/>
                              </a:schemeClr>
                            </a:gs>
                            <a:gs pos="78000">
                              <a:schemeClr val="accent6">
                                <a:tint val="90000"/>
                                <a:shade val="89000"/>
                                <a:satMod val="220000"/>
                              </a:schemeClr>
                            </a:gs>
                            <a:gs pos="100000">
                              <a:schemeClr val="accent6">
                                <a:tint val="12000"/>
                                <a:satMod val="255000"/>
                              </a:schemeClr>
                            </a:gs>
                          </a:gsLst>
                          <a:lin ang="5400000"/>
                        </a:gradFill>
                        <a:effectLst>
                          <a:innerShdw blurRad="69850" dist="43180" dir="5400000">
                            <a:srgbClr val="000000">
                              <a:alpha val="65000"/>
                            </a:srgbClr>
                          </a:innerShdw>
                        </a:effectLst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M. Chiu (BNL)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Transversely Polarized Proton Spin Measurements in Polarized </a:t>
                      </a:r>
                      <a:r>
                        <a:rPr kumimoji="1" lang="en-US" altLang="ja-JP" dirty="0" err="1" smtClean="0"/>
                        <a:t>p+p</a:t>
                      </a:r>
                      <a:r>
                        <a:rPr kumimoji="1" lang="en-US" altLang="ja-JP" dirty="0" smtClean="0"/>
                        <a:t> Collisions with the PHENIX detector</a:t>
                      </a:r>
                      <a:endParaRPr kumimoji="1" lang="ja-JP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R. </a:t>
                      </a:r>
                      <a:r>
                        <a:rPr kumimoji="1" lang="en-US" altLang="ja-JP" dirty="0" err="1" smtClean="0"/>
                        <a:t>Fatemi</a:t>
                      </a:r>
                      <a:r>
                        <a:rPr kumimoji="1" lang="en-US" altLang="ja-JP" dirty="0" smtClean="0"/>
                        <a:t> (MIT)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Recent Measurements of the Inclusive Jet Longitudinal Double Spin Asymmetry at STAR</a:t>
                      </a:r>
                      <a:endParaRPr kumimoji="1" lang="ja-JP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B. </a:t>
                      </a:r>
                      <a:r>
                        <a:rPr kumimoji="1" lang="en-US" altLang="ja-JP" dirty="0" err="1" smtClean="0"/>
                        <a:t>Surrow</a:t>
                      </a:r>
                      <a:r>
                        <a:rPr kumimoji="1" lang="en-US" altLang="ja-JP" dirty="0" smtClean="0"/>
                        <a:t> (MIT)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Longitudinal spin asymmetry and cross section measurement for neutral pion and charged pion production in polarized </a:t>
                      </a:r>
                      <a:r>
                        <a:rPr kumimoji="1" lang="en-US" altLang="ja-JP" dirty="0" err="1" smtClean="0"/>
                        <a:t>p+p</a:t>
                      </a:r>
                      <a:r>
                        <a:rPr kumimoji="1" lang="en-US" altLang="ja-JP" dirty="0" smtClean="0"/>
                        <a:t> collisions at RHIC at route s=200GeV</a:t>
                      </a:r>
                      <a:endParaRPr kumimoji="1" lang="ja-JP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S. Paul (TU-</a:t>
                      </a:r>
                      <a:r>
                        <a:rPr kumimoji="1" lang="en-US" altLang="ja-JP" dirty="0" err="1" smtClean="0"/>
                        <a:t>Muenchen</a:t>
                      </a:r>
                      <a:r>
                        <a:rPr kumimoji="1" lang="en-US" altLang="ja-JP" dirty="0" smtClean="0"/>
                        <a:t>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smtClean="0"/>
                        <a:t>Study of Hadron Structure with the COMPASS Experiment at CERN</a:t>
                      </a:r>
                      <a:endParaRPr kumimoji="1" lang="ja-JP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K.Aoki (Kyoto Univ. / RIKEN)</a:t>
            </a:r>
            <a:endParaRPr lang="ja-JP" altLang="en-US" dirty="0" smtClean="0"/>
          </a:p>
        </p:txBody>
      </p:sp>
      <p:sp>
        <p:nvSpPr>
          <p:cNvPr id="8" name="スライド番号プレースホル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17</a:t>
            </a:fld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K.Aoki (Kyoto Univ. / RIKEN)</a:t>
            </a:r>
            <a:endParaRPr lang="ja-JP" altLang="en-US" dirty="0" smtClean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18</a:t>
            </a:fld>
            <a:endParaRPr kumimoji="1" lang="ja-JP" altLang="en-US"/>
          </a:p>
        </p:txBody>
      </p:sp>
      <p:pic>
        <p:nvPicPr>
          <p:cNvPr id="46082" name="Picture 2" descr="test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2752725"/>
            <a:ext cx="3505200" cy="1965325"/>
          </a:xfrm>
          <a:prstGeom prst="rect">
            <a:avLst/>
          </a:prstGeom>
          <a:noFill/>
        </p:spPr>
      </p:pic>
      <p:pic>
        <p:nvPicPr>
          <p:cNvPr id="46083" name="Picture 3" descr="test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" y="1981200"/>
            <a:ext cx="3505200" cy="3370263"/>
          </a:xfrm>
          <a:prstGeom prst="rect">
            <a:avLst/>
          </a:prstGeom>
          <a:noFill/>
        </p:spPr>
      </p:pic>
      <p:pic>
        <p:nvPicPr>
          <p:cNvPr id="46084" name="Picture 4" descr="Image2"/>
          <p:cNvPicPr>
            <a:picLocks noChangeAspect="1" noChangeArrowheads="1"/>
          </p:cNvPicPr>
          <p:nvPr/>
        </p:nvPicPr>
        <p:blipFill>
          <a:blip r:embed="rId5"/>
          <a:srcRect l="25000"/>
          <a:stretch>
            <a:fillRect/>
          </a:stretch>
        </p:blipFill>
        <p:spPr bwMode="auto">
          <a:xfrm>
            <a:off x="4267200" y="609600"/>
            <a:ext cx="4876800" cy="3865563"/>
          </a:xfrm>
          <a:prstGeom prst="rect">
            <a:avLst/>
          </a:prstGeom>
          <a:noFill/>
        </p:spPr>
      </p:pic>
      <p:sp>
        <p:nvSpPr>
          <p:cNvPr id="46085" name="Rectangle 5"/>
          <p:cNvSpPr>
            <a:spLocks noChangeArrowheads="1"/>
          </p:cNvSpPr>
          <p:nvPr/>
        </p:nvSpPr>
        <p:spPr bwMode="auto">
          <a:xfrm>
            <a:off x="0" y="0"/>
            <a:ext cx="9144000" cy="639763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sz="4000" b="0" i="0" u="none" strike="noStrike" cap="none" normalizeH="0" baseline="0" smtClean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何故 √</a:t>
            </a:r>
            <a:r>
              <a:rPr kumimoji="0" lang="en-US" altLang="ja-JP" sz="4000" b="0" i="1" u="none" strike="noStrike" cap="none" normalizeH="0" baseline="0" smtClean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s</a:t>
            </a:r>
            <a:r>
              <a:rPr kumimoji="0" lang="en-US" altLang="ja-JP" sz="4000" b="0" i="0" u="none" strike="noStrike" cap="none" normalizeH="0" baseline="0" smtClean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 = 62.4GeV</a:t>
            </a:r>
            <a:r>
              <a:rPr kumimoji="0" lang="ja-JP" sz="4000" b="0" i="0" u="none" strike="noStrike" cap="none" normalizeH="0" baseline="0" smtClean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がうれしいか？</a:t>
            </a:r>
            <a:endParaRPr kumimoji="0" lang="ja-JP" sz="4400" b="0" i="0" u="none" strike="noStrike" cap="none" normalizeH="0" baseline="0" smtClean="0">
              <a:ln>
                <a:noFill/>
              </a:ln>
              <a:solidFill>
                <a:schemeClr val="tx2"/>
              </a:solidFill>
              <a:effectLst/>
              <a:latin typeface="Arial" pitchFamily="34" charset="0"/>
            </a:endParaRPr>
          </a:p>
        </p:txBody>
      </p:sp>
      <p:graphicFrame>
        <p:nvGraphicFramePr>
          <p:cNvPr id="46086" name="Object 6"/>
          <p:cNvGraphicFramePr>
            <a:graphicFrameLocks noChangeAspect="1"/>
          </p:cNvGraphicFramePr>
          <p:nvPr/>
        </p:nvGraphicFramePr>
        <p:xfrm>
          <a:off x="1371600" y="762000"/>
          <a:ext cx="1676400" cy="1130300"/>
        </p:xfrm>
        <a:graphic>
          <a:graphicData uri="http://schemas.openxmlformats.org/presentationml/2006/ole">
            <p:oleObj spid="_x0000_s46086" name="数式" r:id="rId6" imgW="622080" imgH="419040" progId="Equation.3">
              <p:embed/>
            </p:oleObj>
          </a:graphicData>
        </a:graphic>
      </p:graphicFrame>
      <p:sp>
        <p:nvSpPr>
          <p:cNvPr id="46087" name="Line 7"/>
          <p:cNvSpPr>
            <a:spLocks noChangeShapeType="1"/>
          </p:cNvSpPr>
          <p:nvPr/>
        </p:nvSpPr>
        <p:spPr bwMode="auto">
          <a:xfrm>
            <a:off x="5638800" y="3657600"/>
            <a:ext cx="1752600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 type="triangle" w="med" len="med"/>
            <a:tailEnd type="triangl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6088" name="Line 8"/>
          <p:cNvSpPr>
            <a:spLocks noChangeShapeType="1"/>
          </p:cNvSpPr>
          <p:nvPr/>
        </p:nvSpPr>
        <p:spPr bwMode="auto">
          <a:xfrm>
            <a:off x="6629400" y="3352800"/>
            <a:ext cx="1143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6089" name="Line 9"/>
          <p:cNvSpPr>
            <a:spLocks noChangeShapeType="1"/>
          </p:cNvSpPr>
          <p:nvPr/>
        </p:nvSpPr>
        <p:spPr bwMode="auto">
          <a:xfrm>
            <a:off x="7010400" y="685800"/>
            <a:ext cx="0" cy="32766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6090" name="Line 10"/>
          <p:cNvSpPr>
            <a:spLocks noChangeShapeType="1"/>
          </p:cNvSpPr>
          <p:nvPr/>
        </p:nvSpPr>
        <p:spPr bwMode="auto">
          <a:xfrm flipV="1">
            <a:off x="4648200" y="1447800"/>
            <a:ext cx="4324350" cy="11113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6091" name="Text Box 11"/>
          <p:cNvSpPr txBox="1">
            <a:spLocks noChangeArrowheads="1"/>
          </p:cNvSpPr>
          <p:nvPr/>
        </p:nvSpPr>
        <p:spPr bwMode="auto">
          <a:xfrm>
            <a:off x="4800600" y="2614613"/>
            <a:ext cx="1403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測定領域</a:t>
            </a:r>
            <a:endParaRPr kumimoji="1" 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graphicFrame>
        <p:nvGraphicFramePr>
          <p:cNvPr id="46092" name="Object 12"/>
          <p:cNvGraphicFramePr>
            <a:graphicFrameLocks noChangeAspect="1"/>
          </p:cNvGraphicFramePr>
          <p:nvPr/>
        </p:nvGraphicFramePr>
        <p:xfrm>
          <a:off x="3581400" y="762000"/>
          <a:ext cx="914400" cy="839788"/>
        </p:xfrm>
        <a:graphic>
          <a:graphicData uri="http://schemas.openxmlformats.org/presentationml/2006/ole">
            <p:oleObj spid="_x0000_s46092" name="数式" r:id="rId7" imgW="469800" imgH="431640" progId="Equation.3">
              <p:embed/>
            </p:oleObj>
          </a:graphicData>
        </a:graphic>
      </p:graphicFrame>
      <p:sp>
        <p:nvSpPr>
          <p:cNvPr id="46093" name="Text Box 13"/>
          <p:cNvSpPr txBox="1">
            <a:spLocks noChangeArrowheads="1"/>
          </p:cNvSpPr>
          <p:nvPr/>
        </p:nvSpPr>
        <p:spPr bwMode="auto">
          <a:xfrm rot="16200000">
            <a:off x="3514725" y="2200275"/>
            <a:ext cx="1352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[pb/GeV]</a:t>
            </a:r>
            <a:endParaRPr kumimoji="1" lang="ja-JP" alt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46094" name="Text Box 14"/>
          <p:cNvSpPr txBox="1">
            <a:spLocks noChangeArrowheads="1"/>
          </p:cNvSpPr>
          <p:nvPr/>
        </p:nvSpPr>
        <p:spPr bwMode="auto">
          <a:xfrm>
            <a:off x="5791200" y="2919413"/>
            <a:ext cx="12938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62.4GeV</a:t>
            </a:r>
            <a:endParaRPr kumimoji="1" lang="ja-JP" alt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46095" name="Text Box 15"/>
          <p:cNvSpPr txBox="1">
            <a:spLocks noChangeArrowheads="1"/>
          </p:cNvSpPr>
          <p:nvPr/>
        </p:nvSpPr>
        <p:spPr bwMode="auto">
          <a:xfrm>
            <a:off x="5181600" y="3224213"/>
            <a:ext cx="1217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200GeV</a:t>
            </a:r>
            <a:endParaRPr kumimoji="1" lang="ja-JP" alt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46096" name="Rectangle 16"/>
          <p:cNvSpPr>
            <a:spLocks noChangeArrowheads="1"/>
          </p:cNvSpPr>
          <p:nvPr/>
        </p:nvSpPr>
        <p:spPr bwMode="auto">
          <a:xfrm>
            <a:off x="0" y="1981200"/>
            <a:ext cx="3886200" cy="4038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46097" name="Text Box 17"/>
          <p:cNvSpPr txBox="1">
            <a:spLocks noChangeArrowheads="1"/>
          </p:cNvSpPr>
          <p:nvPr/>
        </p:nvSpPr>
        <p:spPr bwMode="auto">
          <a:xfrm>
            <a:off x="4800600" y="4267200"/>
            <a:ext cx="341312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(</a:t>
            </a:r>
            <a:r>
              <a:rPr kumimoji="1" lang="ja-JP" altLang="ja-JP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 </a:t>
            </a:r>
            <a:r>
              <a:rPr kumimoji="1" lang="ja-JP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注）下限は、</a:t>
            </a:r>
            <a:r>
              <a:rPr kumimoji="1" lang="en-US" altLang="ja-JP" sz="18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p</a:t>
            </a:r>
            <a:r>
              <a:rPr kumimoji="1" lang="en-US" altLang="ja-JP" sz="1800" b="0" i="1" u="none" strike="noStrike" cap="none" normalizeH="0" baseline="-250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T</a:t>
            </a:r>
            <a:r>
              <a:rPr kumimoji="1" lang="en-US" altLang="ja-JP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&gt;1GeV</a:t>
            </a:r>
            <a:r>
              <a:rPr kumimoji="1" lang="ja-JP" altLang="ja-JP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 </a:t>
            </a:r>
            <a:r>
              <a:rPr kumimoji="1" lang="ja-JP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の要請から</a:t>
            </a:r>
          </a:p>
        </p:txBody>
      </p:sp>
      <p:sp>
        <p:nvSpPr>
          <p:cNvPr id="46098" name="Rectangle 18"/>
          <p:cNvSpPr>
            <a:spLocks noChangeArrowheads="1"/>
          </p:cNvSpPr>
          <p:nvPr/>
        </p:nvSpPr>
        <p:spPr bwMode="auto">
          <a:xfrm>
            <a:off x="4953000" y="4876800"/>
            <a:ext cx="3810000" cy="8382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2400"/>
              <a:buFont typeface="Times New Roman" pitchFamily="18" charset="0"/>
              <a:buChar char="•"/>
              <a:tabLst/>
            </a:pPr>
            <a:r>
              <a:rPr kumimoji="1" lang="ja-JP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同じ </a:t>
            </a:r>
            <a:r>
              <a:rPr kumimoji="1" lang="en-US" altLang="ja-JP" sz="2400" b="1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x</a:t>
            </a:r>
            <a:r>
              <a:rPr kumimoji="1" lang="en-US" altLang="ja-JP" sz="2400" b="1" i="1" u="none" strike="noStrike" cap="none" normalizeH="0" baseline="-250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T</a:t>
            </a:r>
            <a:r>
              <a:rPr kumimoji="1" lang="ja-JP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で比較して、</a:t>
            </a:r>
            <a:r>
              <a:rPr kumimoji="1" lang="en-US" altLang="ja-JP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200</a:t>
            </a:r>
            <a:r>
              <a:rPr kumimoji="1" lang="ja-JP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　</a:t>
            </a:r>
            <a:r>
              <a:rPr kumimoji="1" lang="en-US" altLang="ja-JP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GeV</a:t>
            </a:r>
            <a:r>
              <a:rPr kumimoji="1" lang="ja-JP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と比べて２桁大きい。</a:t>
            </a:r>
            <a:endParaRPr kumimoji="1" 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46099" name="Rectangle 19"/>
          <p:cNvSpPr>
            <a:spLocks noChangeArrowheads="1"/>
          </p:cNvSpPr>
          <p:nvPr/>
        </p:nvSpPr>
        <p:spPr bwMode="auto">
          <a:xfrm>
            <a:off x="4953000" y="5943600"/>
            <a:ext cx="3810000" cy="9144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2400"/>
              <a:buFont typeface="Arial" pitchFamily="34" charset="0"/>
              <a:buChar char="•"/>
              <a:tabLst/>
            </a:pPr>
            <a:r>
              <a:rPr kumimoji="1" lang="ja-JP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少ない積分輝度で、有意な結果が得られる。</a:t>
            </a:r>
            <a:endParaRPr kumimoji="1" 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46100" name="Line 20"/>
          <p:cNvSpPr>
            <a:spLocks noChangeShapeType="1"/>
          </p:cNvSpPr>
          <p:nvPr/>
        </p:nvSpPr>
        <p:spPr bwMode="auto">
          <a:xfrm>
            <a:off x="6705600" y="5715000"/>
            <a:ext cx="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6101" name="Rectangle 21"/>
          <p:cNvSpPr>
            <a:spLocks noChangeArrowheads="1"/>
          </p:cNvSpPr>
          <p:nvPr/>
        </p:nvSpPr>
        <p:spPr bwMode="auto">
          <a:xfrm>
            <a:off x="0" y="6019800"/>
            <a:ext cx="3886200" cy="8382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2400"/>
              <a:buFont typeface="Times New Roman" pitchFamily="18" charset="0"/>
              <a:buChar char="•"/>
              <a:tabLst/>
            </a:pPr>
            <a:r>
              <a:rPr kumimoji="1" lang="ja-JP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高い </a:t>
            </a:r>
            <a:r>
              <a:rPr kumimoji="1" lang="en-US" altLang="ja-JP" sz="2400" b="1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x</a:t>
            </a:r>
            <a:r>
              <a:rPr kumimoji="1" lang="en-US" altLang="ja-JP" sz="2400" b="1" i="1" u="none" strike="noStrike" cap="none" normalizeH="0" baseline="-250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T</a:t>
            </a:r>
            <a:r>
              <a:rPr kumimoji="1" lang="en-US" altLang="ja-JP" sz="2400" b="0" i="1" u="none" strike="noStrike" cap="none" normalizeH="0" baseline="-250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 </a:t>
            </a:r>
            <a:r>
              <a:rPr kumimoji="1" lang="ja-JP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は、高い </a:t>
            </a:r>
            <a:r>
              <a:rPr kumimoji="1" lang="en-US" altLang="ja-JP" sz="2400" b="1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x</a:t>
            </a:r>
            <a:r>
              <a:rPr kumimoji="1" lang="en-US" altLang="ja-JP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 </a:t>
            </a:r>
            <a:r>
              <a:rPr kumimoji="1" lang="ja-JP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を</a:t>
            </a:r>
            <a:br>
              <a:rPr kumimoji="1" lang="ja-JP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</a:br>
            <a:r>
              <a:rPr kumimoji="1" lang="ja-JP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プローブする。</a:t>
            </a:r>
            <a:endParaRPr kumimoji="1" 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46102" name="Text Box 22"/>
          <p:cNvSpPr txBox="1">
            <a:spLocks noChangeArrowheads="1"/>
          </p:cNvSpPr>
          <p:nvPr/>
        </p:nvSpPr>
        <p:spPr bwMode="auto">
          <a:xfrm>
            <a:off x="0" y="5181600"/>
            <a:ext cx="40386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2400"/>
              <a:buFont typeface="Arial" pitchFamily="34" charset="0"/>
              <a:buChar char="•"/>
              <a:tabLst/>
            </a:pPr>
            <a:r>
              <a:rPr kumimoji="1" lang="ja-JP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　衝突エネルギーを、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　全て横に持って行った場合。</a:t>
            </a:r>
            <a:endParaRPr kumimoji="1" 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46103" name="Text Box 23"/>
          <p:cNvSpPr txBox="1">
            <a:spLocks noChangeArrowheads="1"/>
          </p:cNvSpPr>
          <p:nvPr/>
        </p:nvSpPr>
        <p:spPr bwMode="auto">
          <a:xfrm>
            <a:off x="0" y="990600"/>
            <a:ext cx="14049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altLang="ja-JP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 </a:t>
            </a:r>
            <a:r>
              <a:rPr kumimoji="1" lang="ja-JP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スケーリング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ja-JP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 変数</a:t>
            </a:r>
          </a:p>
        </p:txBody>
      </p:sp>
      <p:sp>
        <p:nvSpPr>
          <p:cNvPr id="46104" name="Line 24"/>
          <p:cNvSpPr>
            <a:spLocks noChangeShapeType="1"/>
          </p:cNvSpPr>
          <p:nvPr/>
        </p:nvSpPr>
        <p:spPr bwMode="auto">
          <a:xfrm flipV="1">
            <a:off x="7010400" y="1447800"/>
            <a:ext cx="0" cy="76200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 type="triangle" w="med" len="med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6105" name="Text Box 25"/>
          <p:cNvSpPr txBox="1">
            <a:spLocks noChangeArrowheads="1"/>
          </p:cNvSpPr>
          <p:nvPr/>
        </p:nvSpPr>
        <p:spPr bwMode="auto">
          <a:xfrm rot="2457698">
            <a:off x="5562600" y="914400"/>
            <a:ext cx="11096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0" i="0" u="none" strike="noStrike" cap="none" normalizeH="0" baseline="0" smtClean="0">
                <a:ln>
                  <a:noFill/>
                </a:ln>
                <a:solidFill>
                  <a:schemeClr val="accent2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200 GeV</a:t>
            </a:r>
            <a:endParaRPr kumimoji="1" lang="ja-JP" alt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46106" name="Rectangle 26"/>
          <p:cNvSpPr>
            <a:spLocks noChangeArrowheads="1"/>
          </p:cNvSpPr>
          <p:nvPr/>
        </p:nvSpPr>
        <p:spPr bwMode="auto">
          <a:xfrm>
            <a:off x="7145338" y="1135063"/>
            <a:ext cx="1316037" cy="2857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6107" name="Rectangle 27"/>
          <p:cNvSpPr>
            <a:spLocks noChangeArrowheads="1"/>
          </p:cNvSpPr>
          <p:nvPr/>
        </p:nvSpPr>
        <p:spPr bwMode="auto">
          <a:xfrm>
            <a:off x="6629400" y="1600200"/>
            <a:ext cx="304800" cy="18415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6108" name="Rectangle 28"/>
          <p:cNvSpPr>
            <a:spLocks noChangeArrowheads="1"/>
          </p:cNvSpPr>
          <p:nvPr/>
        </p:nvSpPr>
        <p:spPr bwMode="auto">
          <a:xfrm>
            <a:off x="5867400" y="2057400"/>
            <a:ext cx="457200" cy="304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6109" name="Line 29"/>
          <p:cNvSpPr>
            <a:spLocks noChangeShapeType="1"/>
          </p:cNvSpPr>
          <p:nvPr/>
        </p:nvSpPr>
        <p:spPr bwMode="auto">
          <a:xfrm flipV="1">
            <a:off x="4648200" y="2209800"/>
            <a:ext cx="4314825" cy="19050"/>
          </a:xfrm>
          <a:prstGeom prst="line">
            <a:avLst/>
          </a:prstGeom>
          <a:noFill/>
          <a:ln w="28575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46110" name="Text Box 30"/>
          <p:cNvSpPr txBox="1">
            <a:spLocks noChangeArrowheads="1"/>
          </p:cNvSpPr>
          <p:nvPr/>
        </p:nvSpPr>
        <p:spPr bwMode="auto">
          <a:xfrm rot="2454619">
            <a:off x="4927600" y="1028700"/>
            <a:ext cx="101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500 GeV</a:t>
            </a:r>
            <a:endParaRPr kumimoji="1" lang="ja-JP" alt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46111" name="Text Box 31"/>
          <p:cNvSpPr txBox="1">
            <a:spLocks noChangeArrowheads="1"/>
          </p:cNvSpPr>
          <p:nvPr/>
        </p:nvSpPr>
        <p:spPr bwMode="auto">
          <a:xfrm rot="2465900">
            <a:off x="6159500" y="781050"/>
            <a:ext cx="13700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400" b="0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62.4 GeV</a:t>
            </a:r>
            <a:endParaRPr kumimoji="1" lang="ja-JP" alt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 smtClean="0"/>
              <a:t>PHENIX Detector – Central Arm</a:t>
            </a:r>
            <a:endParaRPr kumimoji="1"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K.Aoki (Kyoto Univ. / RIKEN)</a:t>
            </a:r>
            <a:endParaRPr lang="ja-JP" altLang="en-US" dirty="0" smtClean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19</a:t>
            </a:fld>
            <a:endParaRPr kumimoji="1" lang="ja-JP" altLang="en-US"/>
          </a:p>
        </p:txBody>
      </p:sp>
      <p:pic>
        <p:nvPicPr>
          <p:cNvPr id="41988" name="Picture 4" descr="D:\Documents and Settings\aoki\デスクトップ\D2290703.1024x667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599687"/>
            <a:ext cx="5000660" cy="3258313"/>
          </a:xfrm>
          <a:prstGeom prst="rect">
            <a:avLst/>
          </a:prstGeom>
          <a:noFill/>
        </p:spPr>
      </p:pic>
      <p:pic>
        <p:nvPicPr>
          <p:cNvPr id="41986" name="Picture 2" descr="D:\Documents and Settings\aoki\デスクトップ\cn5-373-01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642918"/>
            <a:ext cx="5500694" cy="3630458"/>
          </a:xfrm>
          <a:prstGeom prst="rect">
            <a:avLst/>
          </a:prstGeom>
          <a:noFill/>
        </p:spPr>
      </p:pic>
      <p:pic>
        <p:nvPicPr>
          <p:cNvPr id="9" name="Picture 3" descr="D:\Documents and Settings\aoki\デスクトップ\Phenix_2007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170242" y="642918"/>
            <a:ext cx="4973790" cy="6215082"/>
          </a:xfrm>
          <a:prstGeom prst="rect">
            <a:avLst/>
          </a:prstGeom>
          <a:noFill/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K.Aoki (Kyoto Univ. / RIKEN)</a:t>
            </a:r>
            <a:endParaRPr lang="ja-JP" altLang="en-US" dirty="0" smtClean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20</a:t>
            </a:fld>
            <a:endParaRPr kumimoji="1" lang="ja-JP" altLang="en-US"/>
          </a:p>
        </p:txBody>
      </p:sp>
      <p:sp>
        <p:nvSpPr>
          <p:cNvPr id="66562" name="Rectangle 2"/>
          <p:cNvSpPr>
            <a:spLocks noChangeArrowheads="1"/>
          </p:cNvSpPr>
          <p:nvPr/>
        </p:nvSpPr>
        <p:spPr bwMode="auto">
          <a:xfrm>
            <a:off x="0" y="0"/>
            <a:ext cx="9144000" cy="63976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40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ＭＳ Ｐゴシック" pitchFamily="50" charset="-128"/>
              </a:rPr>
              <a:t>PHENIX: </a:t>
            </a:r>
            <a:r>
              <a:rPr kumimoji="0" lang="en-US" altLang="ja-JP" sz="4000" b="0" i="0" u="none" strike="noStrike" cap="none" normalizeH="0" baseline="0" dirty="0" smtClean="0">
                <a:ln>
                  <a:noFill/>
                </a:ln>
                <a:effectLst/>
                <a:latin typeface="Symbol" pitchFamily="18" charset="2"/>
                <a:ea typeface="ＭＳ Ｐゴシック" pitchFamily="50" charset="-128"/>
              </a:rPr>
              <a:t>g</a:t>
            </a:r>
            <a:r>
              <a:rPr kumimoji="0" lang="en-US" altLang="ja-JP" sz="4000" b="0" i="0" u="none" strike="noStrike" cap="none" normalizeH="0" baseline="0" dirty="0" smtClean="0">
                <a:ln>
                  <a:noFill/>
                </a:ln>
                <a:effectLst/>
                <a:latin typeface="Times New Roman" pitchFamily="18" charset="0"/>
                <a:ea typeface="ＭＳ Ｐゴシック" pitchFamily="50" charset="-128"/>
              </a:rPr>
              <a:t> detection.(62GeV)</a:t>
            </a:r>
            <a:endParaRPr kumimoji="0" lang="ja-JP" altLang="ja-JP" sz="4400" b="0" i="0" u="none" strike="noStrike" cap="none" normalizeH="0" baseline="0" dirty="0" smtClean="0">
              <a:ln>
                <a:noFill/>
              </a:ln>
              <a:effectLst/>
              <a:latin typeface="Arial" pitchFamily="34" charset="0"/>
            </a:endParaRPr>
          </a:p>
        </p:txBody>
      </p:sp>
      <p:sp>
        <p:nvSpPr>
          <p:cNvPr id="66563" name="Rectangle 3"/>
          <p:cNvSpPr>
            <a:spLocks noChangeArrowheads="1"/>
          </p:cNvSpPr>
          <p:nvPr/>
        </p:nvSpPr>
        <p:spPr bwMode="auto">
          <a:xfrm>
            <a:off x="304800" y="838200"/>
            <a:ext cx="41148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ts val="2000"/>
              <a:buFont typeface="Times New Roman" pitchFamily="18" charset="0"/>
              <a:buChar char="•"/>
              <a:tabLst/>
            </a:pPr>
            <a:r>
              <a:rPr kumimoji="0" lang="en-US" altLang="ja-JP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Acceptance - |</a:t>
            </a:r>
            <a:r>
              <a:rPr kumimoji="0" lang="en-US" altLang="ja-JP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Symbol" pitchFamily="18" charset="2"/>
                <a:ea typeface="Symj"/>
              </a:rPr>
              <a:t>h</a:t>
            </a:r>
            <a:r>
              <a:rPr kumimoji="0" lang="en-US" altLang="ja-JP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|&lt;0.35 , </a:t>
            </a:r>
            <a:r>
              <a:rPr kumimoji="0" lang="en-US" altLang="ja-JP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Symbol" pitchFamily="18" charset="2"/>
                <a:ea typeface="ＭＳ Ｐゴシック" pitchFamily="50" charset="-128"/>
              </a:rPr>
              <a:t>Df</a:t>
            </a:r>
            <a:r>
              <a:rPr kumimoji="0" lang="en-US" altLang="ja-JP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=90 </a:t>
            </a:r>
            <a:r>
              <a:rPr kumimoji="0" lang="en-US" altLang="ja-JP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x</a:t>
            </a:r>
            <a:r>
              <a:rPr kumimoji="0" lang="en-US" altLang="ja-JP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 2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ts val="2000"/>
              <a:buFont typeface="Times New Roman" pitchFamily="18" charset="0"/>
              <a:buChar char="•"/>
              <a:tabLst/>
            </a:pPr>
            <a:r>
              <a:rPr kumimoji="0" lang="en-US" altLang="ja-JP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Energy resolution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</a:pPr>
            <a:endParaRPr kumimoji="0" lang="en-US" altLang="ja-JP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pitchFamily="50" charset="-128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</a:pPr>
            <a:endParaRPr kumimoji="0" lang="en-US" altLang="ja-JP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pitchFamily="50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ts val="2000"/>
              <a:buFont typeface="Times New Roman" pitchFamily="18" charset="0"/>
              <a:buChar char="•"/>
              <a:tabLst/>
            </a:pPr>
            <a:r>
              <a:rPr kumimoji="0" lang="en-US" altLang="ja-JP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Position resolution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</a:pPr>
            <a:endParaRPr kumimoji="0" lang="en-US" altLang="ja-JP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ＭＳ Ｐゴシック" pitchFamily="50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ja-JP" altLang="ja-JP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66564" name="Picture 4" descr="Image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62400" y="2959100"/>
            <a:ext cx="5181600" cy="3898900"/>
          </a:xfrm>
          <a:prstGeom prst="rect">
            <a:avLst/>
          </a:prstGeom>
          <a:noFill/>
        </p:spPr>
      </p:pic>
      <p:sp>
        <p:nvSpPr>
          <p:cNvPr id="66565" name="Rectangle 5"/>
          <p:cNvSpPr>
            <a:spLocks noChangeArrowheads="1"/>
          </p:cNvSpPr>
          <p:nvPr/>
        </p:nvSpPr>
        <p:spPr bwMode="auto">
          <a:xfrm>
            <a:off x="5105400" y="1066800"/>
            <a:ext cx="3810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high energy cluster at EMCal. (~800MeV) w/o BBC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2000"/>
              <a:buFont typeface="Times New Roman" pitchFamily="18" charset="0"/>
              <a:buChar char="–"/>
              <a:tabLst/>
            </a:pPr>
            <a:r>
              <a:rPr kumimoji="1" lang="en-US" altLang="ja-JP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BBC efficiency for </a:t>
            </a:r>
            <a:r>
              <a:rPr kumimoji="1" lang="en-US" altLang="ja-JP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ymbol" pitchFamily="18" charset="2"/>
                <a:ea typeface="ＭＳ Ｐゴシック" pitchFamily="50" charset="-128"/>
              </a:rPr>
              <a:t>p</a:t>
            </a:r>
            <a:r>
              <a:rPr kumimoji="1" lang="en-US" altLang="ja-JP" sz="2000" b="0" i="0" u="none" strike="noStrike" cap="none" normalizeH="0" baseline="3000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0</a:t>
            </a:r>
            <a:r>
              <a:rPr kumimoji="1" lang="en-US" altLang="ja-JP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 event(hard scattering) is low (~40%)</a:t>
            </a:r>
            <a:endParaRPr kumimoji="1" lang="ja-JP" alt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66566" name="Text Box 6"/>
          <p:cNvSpPr txBox="1">
            <a:spLocks noChangeArrowheads="1"/>
          </p:cNvSpPr>
          <p:nvPr/>
        </p:nvSpPr>
        <p:spPr bwMode="auto">
          <a:xfrm>
            <a:off x="0" y="533400"/>
            <a:ext cx="1371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entury" pitchFamily="18" charset="0"/>
                <a:ea typeface="ＭＳ Ｐゴシック" pitchFamily="50" charset="-128"/>
              </a:rPr>
              <a:t>EMCal</a:t>
            </a:r>
            <a:endParaRPr kumimoji="1" lang="ja-JP" alt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66567" name="Text Box 7"/>
          <p:cNvSpPr txBox="1">
            <a:spLocks noChangeArrowheads="1"/>
          </p:cNvSpPr>
          <p:nvPr/>
        </p:nvSpPr>
        <p:spPr bwMode="auto">
          <a:xfrm>
            <a:off x="4648200" y="609600"/>
            <a:ext cx="14065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entury" pitchFamily="18" charset="0"/>
                <a:ea typeface="ＭＳ Ｐゴシック" pitchFamily="50" charset="-128"/>
              </a:rPr>
              <a:t>Trigger</a:t>
            </a:r>
            <a:endParaRPr kumimoji="1" lang="ja-JP" alt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66568" name="Rectangle 8"/>
          <p:cNvSpPr>
            <a:spLocks noChangeArrowheads="1"/>
          </p:cNvSpPr>
          <p:nvPr/>
        </p:nvSpPr>
        <p:spPr bwMode="auto">
          <a:xfrm>
            <a:off x="228600" y="3657600"/>
            <a:ext cx="40386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2400"/>
              <a:buFont typeface="Times New Roman" pitchFamily="18" charset="0"/>
              <a:buChar char="•"/>
              <a:tabLst/>
            </a:pPr>
            <a:r>
              <a:rPr kumimoji="1" lang="en-US" altLang="ja-JP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Minimal photon energy cut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2000"/>
              <a:buFont typeface="Times New Roman" pitchFamily="18" charset="0"/>
              <a:buChar char="–"/>
              <a:tabLst/>
            </a:pPr>
            <a:r>
              <a:rPr kumimoji="1" lang="en-US" altLang="ja-JP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0.1 GeV for PbSc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2000"/>
              <a:buFont typeface="Times New Roman" pitchFamily="18" charset="0"/>
              <a:buChar char="–"/>
              <a:tabLst/>
            </a:pPr>
            <a:r>
              <a:rPr kumimoji="1" lang="en-US" altLang="ja-JP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0.2 GeV for PbGl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2400"/>
              <a:buFont typeface="Times New Roman" pitchFamily="18" charset="0"/>
              <a:buChar char="•"/>
              <a:tabLst/>
            </a:pPr>
            <a:r>
              <a:rPr kumimoji="1" lang="en-US" altLang="ja-JP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Shower profile cut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2400"/>
              <a:buFont typeface="Times New Roman" pitchFamily="18" charset="0"/>
              <a:buChar char="•"/>
              <a:tabLst/>
            </a:pPr>
            <a:r>
              <a:rPr kumimoji="1" lang="en-US" altLang="ja-JP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Energy asymmetry cut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ts val="2400"/>
              <a:buFont typeface="Times New Roman" pitchFamily="18" charset="0"/>
              <a:buChar char="•"/>
              <a:tabLst/>
            </a:pPr>
            <a:r>
              <a:rPr kumimoji="1" lang="en-US" altLang="ja-JP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Trigger tile matching. (for higher energy cluster)</a:t>
            </a:r>
            <a:endParaRPr kumimoji="1" lang="ja-JP" alt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66569" name="Text Box 9"/>
          <p:cNvSpPr txBox="1">
            <a:spLocks noChangeArrowheads="1"/>
          </p:cNvSpPr>
          <p:nvPr/>
        </p:nvSpPr>
        <p:spPr bwMode="auto">
          <a:xfrm>
            <a:off x="0" y="3200400"/>
            <a:ext cx="29813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Symbol" pitchFamily="18" charset="2"/>
                <a:ea typeface="ＭＳ Ｐゴシック" pitchFamily="50" charset="-128"/>
              </a:rPr>
              <a:t>p</a:t>
            </a:r>
            <a:r>
              <a:rPr kumimoji="1" lang="en-US" altLang="ja-JP" sz="2800" b="0" i="0" u="none" strike="noStrike" cap="none" normalizeH="0" baseline="30000" smtClean="0">
                <a:ln>
                  <a:noFill/>
                </a:ln>
                <a:solidFill>
                  <a:schemeClr val="tx1"/>
                </a:solidFill>
                <a:effectLst/>
                <a:latin typeface="Century" pitchFamily="18" charset="0"/>
                <a:ea typeface="ＭＳ Ｐゴシック" pitchFamily="50" charset="-128"/>
              </a:rPr>
              <a:t>0</a:t>
            </a:r>
            <a:r>
              <a:rPr kumimoji="1" lang="en-US" altLang="ja-JP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entury" pitchFamily="18" charset="0"/>
                <a:ea typeface="ＭＳ Ｐゴシック" pitchFamily="50" charset="-128"/>
              </a:rPr>
              <a:t> reconstruction</a:t>
            </a:r>
            <a:endParaRPr kumimoji="1" lang="ja-JP" alt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graphicFrame>
        <p:nvGraphicFramePr>
          <p:cNvPr id="66570" name="Object 10"/>
          <p:cNvGraphicFramePr>
            <a:graphicFrameLocks noChangeAspect="1"/>
          </p:cNvGraphicFramePr>
          <p:nvPr/>
        </p:nvGraphicFramePr>
        <p:xfrm>
          <a:off x="990600" y="1524000"/>
          <a:ext cx="2971800" cy="838200"/>
        </p:xfrm>
        <a:graphic>
          <a:graphicData uri="http://schemas.openxmlformats.org/presentationml/2006/ole">
            <p:oleObj spid="_x0000_s66570" name="数式" r:id="rId4" imgW="1803240" imgH="507960" progId="Equation.3">
              <p:embed/>
            </p:oleObj>
          </a:graphicData>
        </a:graphic>
      </p:graphicFrame>
      <p:graphicFrame>
        <p:nvGraphicFramePr>
          <p:cNvPr id="66571" name="Object 11"/>
          <p:cNvGraphicFramePr>
            <a:graphicFrameLocks noChangeAspect="1"/>
          </p:cNvGraphicFramePr>
          <p:nvPr/>
        </p:nvGraphicFramePr>
        <p:xfrm>
          <a:off x="990600" y="2514600"/>
          <a:ext cx="3327400" cy="838200"/>
        </p:xfrm>
        <a:graphic>
          <a:graphicData uri="http://schemas.openxmlformats.org/presentationml/2006/ole">
            <p:oleObj spid="_x0000_s66571" name="数式" r:id="rId5" imgW="2019240" imgH="50796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K.Aoki (Kyoto Univ. / RIKEN)</a:t>
            </a:r>
            <a:endParaRPr lang="ja-JP" altLang="en-US" dirty="0" smtClean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21</a:t>
            </a:fld>
            <a:endParaRPr kumimoji="1" lang="ja-JP" altLang="en-US"/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19400" y="525463"/>
            <a:ext cx="6324600" cy="6078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7587" name="Rectangle 3"/>
          <p:cNvSpPr>
            <a:spLocks noChangeArrowheads="1"/>
          </p:cNvSpPr>
          <p:nvPr/>
        </p:nvSpPr>
        <p:spPr bwMode="auto">
          <a:xfrm>
            <a:off x="0" y="0"/>
            <a:ext cx="9144000" cy="54927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4000" b="0" i="0" u="none" strike="noStrike" cap="none" normalizeH="0" baseline="0" dirty="0" err="1" smtClean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Longitudinality</a:t>
            </a:r>
            <a:r>
              <a:rPr kumimoji="0" lang="en-US" altLang="ja-JP" sz="4000" b="0" i="0" u="none" strike="noStrike" cap="none" normalizeH="0" baseline="0" dirty="0" smtClean="0">
                <a:ln>
                  <a:noFill/>
                </a:ln>
                <a:solidFill>
                  <a:schemeClr val="tx2"/>
                </a:solidFill>
                <a:effectLst/>
                <a:latin typeface="Times New Roman" pitchFamily="18" charset="0"/>
                <a:ea typeface="ＭＳ Ｐゴシック" pitchFamily="50" charset="-128"/>
              </a:rPr>
              <a:t> (62.4GeV)</a:t>
            </a:r>
            <a:endParaRPr kumimoji="0" lang="ja-JP" altLang="ja-JP" sz="4400" b="0" i="0" u="none" strike="noStrike" cap="none" normalizeH="0" baseline="0" dirty="0" smtClean="0">
              <a:ln>
                <a:noFill/>
              </a:ln>
              <a:solidFill>
                <a:schemeClr val="tx2"/>
              </a:solidFill>
              <a:effectLst/>
              <a:latin typeface="Arial" pitchFamily="34" charset="0"/>
            </a:endParaRPr>
          </a:p>
        </p:txBody>
      </p:sp>
      <p:graphicFrame>
        <p:nvGraphicFramePr>
          <p:cNvPr id="67588" name="Object 4"/>
          <p:cNvGraphicFramePr>
            <a:graphicFrameLocks noChangeAspect="1"/>
          </p:cNvGraphicFramePr>
          <p:nvPr/>
        </p:nvGraphicFramePr>
        <p:xfrm>
          <a:off x="152400" y="1371600"/>
          <a:ext cx="2590800" cy="2049463"/>
        </p:xfrm>
        <a:graphic>
          <a:graphicData uri="http://schemas.openxmlformats.org/presentationml/2006/ole">
            <p:oleObj spid="_x0000_s67588" name="数式" r:id="rId4" imgW="1155600" imgH="914400" progId="Equation.3">
              <p:embed/>
            </p:oleObj>
          </a:graphicData>
        </a:graphic>
      </p:graphicFrame>
      <p:sp>
        <p:nvSpPr>
          <p:cNvPr id="67589" name="Text Box 5"/>
          <p:cNvSpPr txBox="1">
            <a:spLocks noChangeArrowheads="1"/>
          </p:cNvSpPr>
          <p:nvPr/>
        </p:nvSpPr>
        <p:spPr bwMode="auto">
          <a:xfrm>
            <a:off x="3657600" y="3276600"/>
            <a:ext cx="2203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Horiz-position(cm)</a:t>
            </a:r>
            <a:endParaRPr kumimoji="1" lang="ja-JP" alt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67590" name="Text Box 6"/>
          <p:cNvSpPr txBox="1">
            <a:spLocks noChangeArrowheads="1"/>
          </p:cNvSpPr>
          <p:nvPr/>
        </p:nvSpPr>
        <p:spPr bwMode="auto">
          <a:xfrm>
            <a:off x="0" y="6035675"/>
            <a:ext cx="2921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400" b="1" i="0" u="none" strike="noStrike" cap="none" normalizeH="0" baseline="0" smtClean="0">
                <a:ln>
                  <a:noFill/>
                </a:ln>
                <a:solidFill>
                  <a:srgbClr val="FF3300"/>
                </a:solidFill>
                <a:effectLst/>
                <a:latin typeface="Arial" pitchFamily="34" charset="0"/>
                <a:ea typeface="ＭＳ Ｐゴシック" pitchFamily="50" charset="-128"/>
              </a:rPr>
              <a:t>Red : Rotator OFF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400" b="1" i="0" u="none" strike="noStrike" cap="none" normalizeH="0" baseline="0" smtClean="0">
                <a:ln>
                  <a:noFill/>
                </a:ln>
                <a:solidFill>
                  <a:schemeClr val="accent2"/>
                </a:solidFill>
                <a:effectLst/>
                <a:latin typeface="Arial" pitchFamily="34" charset="0"/>
                <a:ea typeface="ＭＳ Ｐゴシック" pitchFamily="50" charset="-128"/>
              </a:rPr>
              <a:t>Blue : Rotator ON </a:t>
            </a:r>
            <a:endParaRPr kumimoji="1" lang="ja-JP" alt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67591" name="Text Box 7"/>
          <p:cNvSpPr txBox="1">
            <a:spLocks noChangeArrowheads="1"/>
          </p:cNvSpPr>
          <p:nvPr/>
        </p:nvSpPr>
        <p:spPr bwMode="auto">
          <a:xfrm>
            <a:off x="3200400" y="2362200"/>
            <a:ext cx="1725613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Blue beam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Forward</a:t>
            </a:r>
            <a:endParaRPr kumimoji="1" lang="ja-JP" alt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67592" name="Text Box 8"/>
          <p:cNvSpPr txBox="1">
            <a:spLocks noChangeArrowheads="1"/>
          </p:cNvSpPr>
          <p:nvPr/>
        </p:nvSpPr>
        <p:spPr bwMode="auto">
          <a:xfrm>
            <a:off x="6400800" y="2438400"/>
            <a:ext cx="1497013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Blue Beam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Backward </a:t>
            </a:r>
            <a:endParaRPr kumimoji="1" lang="ja-JP" alt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67593" name="Text Box 9"/>
          <p:cNvSpPr txBox="1">
            <a:spLocks noChangeArrowheads="1"/>
          </p:cNvSpPr>
          <p:nvPr/>
        </p:nvSpPr>
        <p:spPr bwMode="auto">
          <a:xfrm>
            <a:off x="3124200" y="5715000"/>
            <a:ext cx="17494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Yellow Beam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Backward</a:t>
            </a:r>
            <a:endParaRPr kumimoji="1" lang="ja-JP" alt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67594" name="Text Box 10"/>
          <p:cNvSpPr txBox="1">
            <a:spLocks noChangeArrowheads="1"/>
          </p:cNvSpPr>
          <p:nvPr/>
        </p:nvSpPr>
        <p:spPr bwMode="auto">
          <a:xfrm>
            <a:off x="6324600" y="5562600"/>
            <a:ext cx="206375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Yellow Beam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Forward</a:t>
            </a:r>
            <a:endParaRPr kumimoji="1" lang="ja-JP" alt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grpSp>
        <p:nvGrpSpPr>
          <p:cNvPr id="67595" name="Group 11"/>
          <p:cNvGrpSpPr>
            <a:grpSpLocks/>
          </p:cNvGrpSpPr>
          <p:nvPr/>
        </p:nvGrpSpPr>
        <p:grpSpPr bwMode="auto">
          <a:xfrm>
            <a:off x="381000" y="3505200"/>
            <a:ext cx="2055813" cy="2257425"/>
            <a:chOff x="96" y="1920"/>
            <a:chExt cx="1563" cy="1710"/>
          </a:xfrm>
        </p:grpSpPr>
        <p:pic>
          <p:nvPicPr>
            <p:cNvPr id="67596" name="Picture 12"/>
            <p:cNvPicPr>
              <a:picLocks noChangeAspect="1" noChangeArrowheads="1"/>
            </p:cNvPicPr>
            <p:nvPr/>
          </p:nvPicPr>
          <p:blipFill>
            <a:blip r:embed="rId5"/>
            <a:srcRect t="12308"/>
            <a:stretch>
              <a:fillRect/>
            </a:stretch>
          </p:blipFill>
          <p:spPr bwMode="auto">
            <a:xfrm>
              <a:off x="96" y="1920"/>
              <a:ext cx="1542" cy="17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7597" name="Text Box 13"/>
            <p:cNvSpPr txBox="1">
              <a:spLocks noChangeArrowheads="1"/>
            </p:cNvSpPr>
            <p:nvPr/>
          </p:nvSpPr>
          <p:spPr bwMode="auto">
            <a:xfrm>
              <a:off x="336" y="1920"/>
              <a:ext cx="1323" cy="301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vert="horz" wrap="non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ja-JP" sz="20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entury" pitchFamily="18" charset="0"/>
                  <a:ea typeface="ＭＳ Ｐゴシック" pitchFamily="50" charset="-128"/>
                </a:rPr>
                <a:t>ZDC detector</a:t>
              </a:r>
              <a:endParaRPr kumimoji="1" lang="ja-JP" altLang="ja-JP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endParaRPr>
            </a:p>
          </p:txBody>
        </p:sp>
      </p:grpSp>
      <p:sp>
        <p:nvSpPr>
          <p:cNvPr id="67598" name="Text Box 14"/>
          <p:cNvSpPr txBox="1">
            <a:spLocks noChangeArrowheads="1"/>
          </p:cNvSpPr>
          <p:nvPr/>
        </p:nvSpPr>
        <p:spPr bwMode="auto">
          <a:xfrm>
            <a:off x="6940550" y="3276600"/>
            <a:ext cx="2203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Horiz-position(cm)</a:t>
            </a:r>
            <a:endParaRPr kumimoji="1" lang="ja-JP" alt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67599" name="Text Box 15"/>
          <p:cNvSpPr txBox="1">
            <a:spLocks noChangeArrowheads="1"/>
          </p:cNvSpPr>
          <p:nvPr/>
        </p:nvSpPr>
        <p:spPr bwMode="auto">
          <a:xfrm>
            <a:off x="6940550" y="6491288"/>
            <a:ext cx="2203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Horiz-position(cm)</a:t>
            </a:r>
            <a:endParaRPr kumimoji="1" lang="ja-JP" alt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67600" name="Text Box 16"/>
          <p:cNvSpPr txBox="1">
            <a:spLocks noChangeArrowheads="1"/>
          </p:cNvSpPr>
          <p:nvPr/>
        </p:nvSpPr>
        <p:spPr bwMode="auto">
          <a:xfrm>
            <a:off x="3733800" y="6491288"/>
            <a:ext cx="2203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rPr>
              <a:t>Horiz-position(cm)</a:t>
            </a:r>
            <a:endParaRPr kumimoji="1" lang="ja-JP" alt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sp>
        <p:nvSpPr>
          <p:cNvPr id="67601" name="Rectangle 17"/>
          <p:cNvSpPr>
            <a:spLocks noChangeArrowheads="1"/>
          </p:cNvSpPr>
          <p:nvPr/>
        </p:nvSpPr>
        <p:spPr bwMode="auto">
          <a:xfrm>
            <a:off x="2819400" y="533400"/>
            <a:ext cx="3124200" cy="3124200"/>
          </a:xfrm>
          <a:prstGeom prst="rect">
            <a:avLst/>
          </a:prstGeom>
          <a:noFill/>
          <a:ln w="38100">
            <a:solidFill>
              <a:srgbClr val="800000"/>
            </a:solidFill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sp>
        <p:nvSpPr>
          <p:cNvPr id="67602" name="Rectangle 18"/>
          <p:cNvSpPr>
            <a:spLocks noChangeArrowheads="1"/>
          </p:cNvSpPr>
          <p:nvPr/>
        </p:nvSpPr>
        <p:spPr bwMode="auto">
          <a:xfrm>
            <a:off x="6019800" y="3657600"/>
            <a:ext cx="3124200" cy="3200400"/>
          </a:xfrm>
          <a:prstGeom prst="rect">
            <a:avLst/>
          </a:prstGeom>
          <a:noFill/>
          <a:ln w="38100">
            <a:solidFill>
              <a:srgbClr val="800000"/>
            </a:solidFill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ja-JP" altLang="en-US"/>
          </a:p>
        </p:txBody>
      </p:sp>
      <p:grpSp>
        <p:nvGrpSpPr>
          <p:cNvPr id="67603" name="Group 19"/>
          <p:cNvGrpSpPr>
            <a:grpSpLocks/>
          </p:cNvGrpSpPr>
          <p:nvPr/>
        </p:nvGrpSpPr>
        <p:grpSpPr bwMode="auto">
          <a:xfrm>
            <a:off x="304800" y="533400"/>
            <a:ext cx="2182813" cy="722313"/>
            <a:chOff x="403" y="2024"/>
            <a:chExt cx="1375" cy="455"/>
          </a:xfrm>
        </p:grpSpPr>
        <p:sp>
          <p:nvSpPr>
            <p:cNvPr id="67604" name="Line 20"/>
            <p:cNvSpPr>
              <a:spLocks noChangeShapeType="1"/>
            </p:cNvSpPr>
            <p:nvPr/>
          </p:nvSpPr>
          <p:spPr bwMode="auto">
            <a:xfrm flipV="1">
              <a:off x="637" y="2230"/>
              <a:ext cx="1" cy="249"/>
            </a:xfrm>
            <a:prstGeom prst="line">
              <a:avLst/>
            </a:prstGeom>
            <a:noFill/>
            <a:ln w="0">
              <a:solidFill>
                <a:srgbClr val="0066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7605" name="Line 21"/>
            <p:cNvSpPr>
              <a:spLocks noChangeShapeType="1"/>
            </p:cNvSpPr>
            <p:nvPr/>
          </p:nvSpPr>
          <p:spPr bwMode="auto">
            <a:xfrm flipV="1">
              <a:off x="637" y="2230"/>
              <a:ext cx="1" cy="249"/>
            </a:xfrm>
            <a:prstGeom prst="line">
              <a:avLst/>
            </a:prstGeom>
            <a:noFill/>
            <a:ln w="42863">
              <a:solidFill>
                <a:srgbClr val="0066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7606" name="Freeform 22"/>
            <p:cNvSpPr>
              <a:spLocks/>
            </p:cNvSpPr>
            <p:nvPr/>
          </p:nvSpPr>
          <p:spPr bwMode="auto">
            <a:xfrm>
              <a:off x="578" y="2158"/>
              <a:ext cx="113" cy="99"/>
            </a:xfrm>
            <a:custGeom>
              <a:avLst/>
              <a:gdLst/>
              <a:ahLst/>
              <a:cxnLst>
                <a:cxn ang="0">
                  <a:pos x="59" y="0"/>
                </a:cxn>
                <a:cxn ang="0">
                  <a:pos x="81" y="54"/>
                </a:cxn>
                <a:cxn ang="0">
                  <a:pos x="97" y="75"/>
                </a:cxn>
                <a:cxn ang="0">
                  <a:pos x="113" y="97"/>
                </a:cxn>
                <a:cxn ang="0">
                  <a:pos x="59" y="81"/>
                </a:cxn>
                <a:cxn ang="0">
                  <a:pos x="0" y="97"/>
                </a:cxn>
                <a:cxn ang="0">
                  <a:pos x="16" y="75"/>
                </a:cxn>
                <a:cxn ang="0">
                  <a:pos x="32" y="54"/>
                </a:cxn>
                <a:cxn ang="0">
                  <a:pos x="59" y="0"/>
                </a:cxn>
                <a:cxn ang="0">
                  <a:pos x="59" y="0"/>
                </a:cxn>
              </a:cxnLst>
              <a:rect l="0" t="0" r="r" b="b"/>
              <a:pathLst>
                <a:path w="113" h="97">
                  <a:moveTo>
                    <a:pt x="59" y="0"/>
                  </a:moveTo>
                  <a:lnTo>
                    <a:pt x="81" y="54"/>
                  </a:lnTo>
                  <a:lnTo>
                    <a:pt x="97" y="75"/>
                  </a:lnTo>
                  <a:lnTo>
                    <a:pt x="113" y="97"/>
                  </a:lnTo>
                  <a:lnTo>
                    <a:pt x="59" y="81"/>
                  </a:lnTo>
                  <a:lnTo>
                    <a:pt x="0" y="97"/>
                  </a:lnTo>
                  <a:lnTo>
                    <a:pt x="16" y="75"/>
                  </a:lnTo>
                  <a:lnTo>
                    <a:pt x="32" y="54"/>
                  </a:lnTo>
                  <a:lnTo>
                    <a:pt x="59" y="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rgbClr val="0066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7607" name="Freeform 23"/>
            <p:cNvSpPr>
              <a:spLocks/>
            </p:cNvSpPr>
            <p:nvPr/>
          </p:nvSpPr>
          <p:spPr bwMode="auto">
            <a:xfrm>
              <a:off x="567" y="2296"/>
              <a:ext cx="136" cy="144"/>
            </a:xfrm>
            <a:custGeom>
              <a:avLst/>
              <a:gdLst/>
              <a:ahLst/>
              <a:cxnLst>
                <a:cxn ang="0">
                  <a:pos x="135" y="70"/>
                </a:cxn>
                <a:cxn ang="0">
                  <a:pos x="130" y="97"/>
                </a:cxn>
                <a:cxn ang="0">
                  <a:pos x="119" y="119"/>
                </a:cxn>
                <a:cxn ang="0">
                  <a:pos x="97" y="135"/>
                </a:cxn>
                <a:cxn ang="0">
                  <a:pos x="70" y="140"/>
                </a:cxn>
                <a:cxn ang="0">
                  <a:pos x="43" y="135"/>
                </a:cxn>
                <a:cxn ang="0">
                  <a:pos x="22" y="119"/>
                </a:cxn>
                <a:cxn ang="0">
                  <a:pos x="6" y="97"/>
                </a:cxn>
                <a:cxn ang="0">
                  <a:pos x="0" y="70"/>
                </a:cxn>
                <a:cxn ang="0">
                  <a:pos x="6" y="43"/>
                </a:cxn>
                <a:cxn ang="0">
                  <a:pos x="22" y="22"/>
                </a:cxn>
                <a:cxn ang="0">
                  <a:pos x="43" y="5"/>
                </a:cxn>
                <a:cxn ang="0">
                  <a:pos x="70" y="0"/>
                </a:cxn>
                <a:cxn ang="0">
                  <a:pos x="97" y="5"/>
                </a:cxn>
                <a:cxn ang="0">
                  <a:pos x="119" y="22"/>
                </a:cxn>
                <a:cxn ang="0">
                  <a:pos x="130" y="43"/>
                </a:cxn>
                <a:cxn ang="0">
                  <a:pos x="135" y="70"/>
                </a:cxn>
                <a:cxn ang="0">
                  <a:pos x="135" y="70"/>
                </a:cxn>
              </a:cxnLst>
              <a:rect l="0" t="0" r="r" b="b"/>
              <a:pathLst>
                <a:path w="135" h="140">
                  <a:moveTo>
                    <a:pt x="135" y="70"/>
                  </a:moveTo>
                  <a:lnTo>
                    <a:pt x="130" y="97"/>
                  </a:lnTo>
                  <a:lnTo>
                    <a:pt x="119" y="119"/>
                  </a:lnTo>
                  <a:lnTo>
                    <a:pt x="97" y="135"/>
                  </a:lnTo>
                  <a:lnTo>
                    <a:pt x="70" y="140"/>
                  </a:lnTo>
                  <a:lnTo>
                    <a:pt x="43" y="135"/>
                  </a:lnTo>
                  <a:lnTo>
                    <a:pt x="22" y="119"/>
                  </a:lnTo>
                  <a:lnTo>
                    <a:pt x="6" y="97"/>
                  </a:lnTo>
                  <a:lnTo>
                    <a:pt x="0" y="70"/>
                  </a:lnTo>
                  <a:lnTo>
                    <a:pt x="6" y="43"/>
                  </a:lnTo>
                  <a:lnTo>
                    <a:pt x="22" y="22"/>
                  </a:lnTo>
                  <a:lnTo>
                    <a:pt x="43" y="5"/>
                  </a:lnTo>
                  <a:lnTo>
                    <a:pt x="70" y="0"/>
                  </a:lnTo>
                  <a:lnTo>
                    <a:pt x="97" y="5"/>
                  </a:lnTo>
                  <a:lnTo>
                    <a:pt x="119" y="22"/>
                  </a:lnTo>
                  <a:lnTo>
                    <a:pt x="130" y="43"/>
                  </a:lnTo>
                  <a:lnTo>
                    <a:pt x="135" y="70"/>
                  </a:lnTo>
                  <a:lnTo>
                    <a:pt x="135" y="70"/>
                  </a:lnTo>
                  <a:close/>
                </a:path>
              </a:pathLst>
            </a:custGeom>
            <a:solidFill>
              <a:srgbClr val="1FFF2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7608" name="Freeform 24"/>
            <p:cNvSpPr>
              <a:spLocks/>
            </p:cNvSpPr>
            <p:nvPr/>
          </p:nvSpPr>
          <p:spPr bwMode="auto">
            <a:xfrm>
              <a:off x="567" y="2296"/>
              <a:ext cx="136" cy="144"/>
            </a:xfrm>
            <a:custGeom>
              <a:avLst/>
              <a:gdLst/>
              <a:ahLst/>
              <a:cxnLst>
                <a:cxn ang="0">
                  <a:pos x="135" y="70"/>
                </a:cxn>
                <a:cxn ang="0">
                  <a:pos x="130" y="97"/>
                </a:cxn>
                <a:cxn ang="0">
                  <a:pos x="119" y="119"/>
                </a:cxn>
                <a:cxn ang="0">
                  <a:pos x="97" y="135"/>
                </a:cxn>
                <a:cxn ang="0">
                  <a:pos x="70" y="140"/>
                </a:cxn>
                <a:cxn ang="0">
                  <a:pos x="43" y="135"/>
                </a:cxn>
                <a:cxn ang="0">
                  <a:pos x="22" y="119"/>
                </a:cxn>
                <a:cxn ang="0">
                  <a:pos x="6" y="97"/>
                </a:cxn>
                <a:cxn ang="0">
                  <a:pos x="0" y="70"/>
                </a:cxn>
                <a:cxn ang="0">
                  <a:pos x="6" y="43"/>
                </a:cxn>
                <a:cxn ang="0">
                  <a:pos x="22" y="22"/>
                </a:cxn>
                <a:cxn ang="0">
                  <a:pos x="43" y="5"/>
                </a:cxn>
                <a:cxn ang="0">
                  <a:pos x="70" y="0"/>
                </a:cxn>
                <a:cxn ang="0">
                  <a:pos x="97" y="5"/>
                </a:cxn>
                <a:cxn ang="0">
                  <a:pos x="119" y="22"/>
                </a:cxn>
                <a:cxn ang="0">
                  <a:pos x="130" y="43"/>
                </a:cxn>
                <a:cxn ang="0">
                  <a:pos x="135" y="70"/>
                </a:cxn>
                <a:cxn ang="0">
                  <a:pos x="135" y="70"/>
                </a:cxn>
              </a:cxnLst>
              <a:rect l="0" t="0" r="r" b="b"/>
              <a:pathLst>
                <a:path w="135" h="140">
                  <a:moveTo>
                    <a:pt x="135" y="70"/>
                  </a:moveTo>
                  <a:lnTo>
                    <a:pt x="130" y="97"/>
                  </a:lnTo>
                  <a:lnTo>
                    <a:pt x="119" y="119"/>
                  </a:lnTo>
                  <a:lnTo>
                    <a:pt x="97" y="135"/>
                  </a:lnTo>
                  <a:lnTo>
                    <a:pt x="70" y="140"/>
                  </a:lnTo>
                  <a:lnTo>
                    <a:pt x="43" y="135"/>
                  </a:lnTo>
                  <a:lnTo>
                    <a:pt x="22" y="119"/>
                  </a:lnTo>
                  <a:lnTo>
                    <a:pt x="6" y="97"/>
                  </a:lnTo>
                  <a:lnTo>
                    <a:pt x="0" y="70"/>
                  </a:lnTo>
                  <a:lnTo>
                    <a:pt x="6" y="43"/>
                  </a:lnTo>
                  <a:lnTo>
                    <a:pt x="22" y="22"/>
                  </a:lnTo>
                  <a:lnTo>
                    <a:pt x="43" y="5"/>
                  </a:lnTo>
                  <a:lnTo>
                    <a:pt x="70" y="0"/>
                  </a:lnTo>
                  <a:lnTo>
                    <a:pt x="97" y="5"/>
                  </a:lnTo>
                  <a:lnTo>
                    <a:pt x="119" y="22"/>
                  </a:lnTo>
                  <a:lnTo>
                    <a:pt x="130" y="43"/>
                  </a:lnTo>
                  <a:lnTo>
                    <a:pt x="135" y="70"/>
                  </a:lnTo>
                  <a:lnTo>
                    <a:pt x="135" y="70"/>
                  </a:lnTo>
                </a:path>
              </a:pathLst>
            </a:custGeom>
            <a:noFill/>
            <a:ln w="42863">
              <a:solidFill>
                <a:srgbClr val="05D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7609" name="Freeform 25"/>
            <p:cNvSpPr>
              <a:spLocks/>
            </p:cNvSpPr>
            <p:nvPr/>
          </p:nvSpPr>
          <p:spPr bwMode="auto">
            <a:xfrm>
              <a:off x="1247" y="2296"/>
              <a:ext cx="136" cy="144"/>
            </a:xfrm>
            <a:custGeom>
              <a:avLst/>
              <a:gdLst/>
              <a:ahLst/>
              <a:cxnLst>
                <a:cxn ang="0">
                  <a:pos x="135" y="70"/>
                </a:cxn>
                <a:cxn ang="0">
                  <a:pos x="130" y="97"/>
                </a:cxn>
                <a:cxn ang="0">
                  <a:pos x="119" y="119"/>
                </a:cxn>
                <a:cxn ang="0">
                  <a:pos x="97" y="135"/>
                </a:cxn>
                <a:cxn ang="0">
                  <a:pos x="70" y="140"/>
                </a:cxn>
                <a:cxn ang="0">
                  <a:pos x="43" y="135"/>
                </a:cxn>
                <a:cxn ang="0">
                  <a:pos x="22" y="119"/>
                </a:cxn>
                <a:cxn ang="0">
                  <a:pos x="6" y="97"/>
                </a:cxn>
                <a:cxn ang="0">
                  <a:pos x="0" y="70"/>
                </a:cxn>
                <a:cxn ang="0">
                  <a:pos x="6" y="43"/>
                </a:cxn>
                <a:cxn ang="0">
                  <a:pos x="22" y="22"/>
                </a:cxn>
                <a:cxn ang="0">
                  <a:pos x="43" y="5"/>
                </a:cxn>
                <a:cxn ang="0">
                  <a:pos x="70" y="0"/>
                </a:cxn>
                <a:cxn ang="0">
                  <a:pos x="97" y="5"/>
                </a:cxn>
                <a:cxn ang="0">
                  <a:pos x="119" y="22"/>
                </a:cxn>
                <a:cxn ang="0">
                  <a:pos x="130" y="43"/>
                </a:cxn>
                <a:cxn ang="0">
                  <a:pos x="135" y="70"/>
                </a:cxn>
                <a:cxn ang="0">
                  <a:pos x="135" y="70"/>
                </a:cxn>
              </a:cxnLst>
              <a:rect l="0" t="0" r="r" b="b"/>
              <a:pathLst>
                <a:path w="135" h="140">
                  <a:moveTo>
                    <a:pt x="135" y="70"/>
                  </a:moveTo>
                  <a:lnTo>
                    <a:pt x="130" y="97"/>
                  </a:lnTo>
                  <a:lnTo>
                    <a:pt x="119" y="119"/>
                  </a:lnTo>
                  <a:lnTo>
                    <a:pt x="97" y="135"/>
                  </a:lnTo>
                  <a:lnTo>
                    <a:pt x="70" y="140"/>
                  </a:lnTo>
                  <a:lnTo>
                    <a:pt x="43" y="135"/>
                  </a:lnTo>
                  <a:lnTo>
                    <a:pt x="22" y="119"/>
                  </a:lnTo>
                  <a:lnTo>
                    <a:pt x="6" y="97"/>
                  </a:lnTo>
                  <a:lnTo>
                    <a:pt x="0" y="70"/>
                  </a:lnTo>
                  <a:lnTo>
                    <a:pt x="6" y="43"/>
                  </a:lnTo>
                  <a:lnTo>
                    <a:pt x="22" y="22"/>
                  </a:lnTo>
                  <a:lnTo>
                    <a:pt x="43" y="5"/>
                  </a:lnTo>
                  <a:lnTo>
                    <a:pt x="70" y="0"/>
                  </a:lnTo>
                  <a:lnTo>
                    <a:pt x="97" y="5"/>
                  </a:lnTo>
                  <a:lnTo>
                    <a:pt x="119" y="22"/>
                  </a:lnTo>
                  <a:lnTo>
                    <a:pt x="130" y="43"/>
                  </a:lnTo>
                  <a:lnTo>
                    <a:pt x="135" y="70"/>
                  </a:lnTo>
                  <a:lnTo>
                    <a:pt x="135" y="70"/>
                  </a:lnTo>
                  <a:close/>
                </a:path>
              </a:pathLst>
            </a:custGeom>
            <a:solidFill>
              <a:srgbClr val="1FFF2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7610" name="Freeform 26"/>
            <p:cNvSpPr>
              <a:spLocks/>
            </p:cNvSpPr>
            <p:nvPr/>
          </p:nvSpPr>
          <p:spPr bwMode="auto">
            <a:xfrm>
              <a:off x="1247" y="2296"/>
              <a:ext cx="136" cy="144"/>
            </a:xfrm>
            <a:custGeom>
              <a:avLst/>
              <a:gdLst/>
              <a:ahLst/>
              <a:cxnLst>
                <a:cxn ang="0">
                  <a:pos x="135" y="70"/>
                </a:cxn>
                <a:cxn ang="0">
                  <a:pos x="130" y="97"/>
                </a:cxn>
                <a:cxn ang="0">
                  <a:pos x="119" y="119"/>
                </a:cxn>
                <a:cxn ang="0">
                  <a:pos x="97" y="135"/>
                </a:cxn>
                <a:cxn ang="0">
                  <a:pos x="70" y="140"/>
                </a:cxn>
                <a:cxn ang="0">
                  <a:pos x="43" y="135"/>
                </a:cxn>
                <a:cxn ang="0">
                  <a:pos x="22" y="119"/>
                </a:cxn>
                <a:cxn ang="0">
                  <a:pos x="6" y="97"/>
                </a:cxn>
                <a:cxn ang="0">
                  <a:pos x="0" y="70"/>
                </a:cxn>
                <a:cxn ang="0">
                  <a:pos x="6" y="43"/>
                </a:cxn>
                <a:cxn ang="0">
                  <a:pos x="22" y="22"/>
                </a:cxn>
                <a:cxn ang="0">
                  <a:pos x="43" y="5"/>
                </a:cxn>
                <a:cxn ang="0">
                  <a:pos x="70" y="0"/>
                </a:cxn>
                <a:cxn ang="0">
                  <a:pos x="97" y="5"/>
                </a:cxn>
                <a:cxn ang="0">
                  <a:pos x="119" y="22"/>
                </a:cxn>
                <a:cxn ang="0">
                  <a:pos x="130" y="43"/>
                </a:cxn>
                <a:cxn ang="0">
                  <a:pos x="135" y="70"/>
                </a:cxn>
                <a:cxn ang="0">
                  <a:pos x="135" y="70"/>
                </a:cxn>
              </a:cxnLst>
              <a:rect l="0" t="0" r="r" b="b"/>
              <a:pathLst>
                <a:path w="135" h="140">
                  <a:moveTo>
                    <a:pt x="135" y="70"/>
                  </a:moveTo>
                  <a:lnTo>
                    <a:pt x="130" y="97"/>
                  </a:lnTo>
                  <a:lnTo>
                    <a:pt x="119" y="119"/>
                  </a:lnTo>
                  <a:lnTo>
                    <a:pt x="97" y="135"/>
                  </a:lnTo>
                  <a:lnTo>
                    <a:pt x="70" y="140"/>
                  </a:lnTo>
                  <a:lnTo>
                    <a:pt x="43" y="135"/>
                  </a:lnTo>
                  <a:lnTo>
                    <a:pt x="22" y="119"/>
                  </a:lnTo>
                  <a:lnTo>
                    <a:pt x="6" y="97"/>
                  </a:lnTo>
                  <a:lnTo>
                    <a:pt x="0" y="70"/>
                  </a:lnTo>
                  <a:lnTo>
                    <a:pt x="6" y="43"/>
                  </a:lnTo>
                  <a:lnTo>
                    <a:pt x="22" y="22"/>
                  </a:lnTo>
                  <a:lnTo>
                    <a:pt x="43" y="5"/>
                  </a:lnTo>
                  <a:lnTo>
                    <a:pt x="70" y="0"/>
                  </a:lnTo>
                  <a:lnTo>
                    <a:pt x="97" y="5"/>
                  </a:lnTo>
                  <a:lnTo>
                    <a:pt x="119" y="22"/>
                  </a:lnTo>
                  <a:lnTo>
                    <a:pt x="130" y="43"/>
                  </a:lnTo>
                  <a:lnTo>
                    <a:pt x="135" y="70"/>
                  </a:lnTo>
                  <a:lnTo>
                    <a:pt x="135" y="70"/>
                  </a:lnTo>
                </a:path>
              </a:pathLst>
            </a:custGeom>
            <a:noFill/>
            <a:ln w="42863">
              <a:solidFill>
                <a:srgbClr val="05DF00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7611" name="Line 27"/>
            <p:cNvSpPr>
              <a:spLocks noChangeShapeType="1"/>
            </p:cNvSpPr>
            <p:nvPr/>
          </p:nvSpPr>
          <p:spPr bwMode="auto">
            <a:xfrm>
              <a:off x="403" y="2362"/>
              <a:ext cx="49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7612" name="Line 28"/>
            <p:cNvSpPr>
              <a:spLocks noChangeShapeType="1"/>
            </p:cNvSpPr>
            <p:nvPr/>
          </p:nvSpPr>
          <p:spPr bwMode="auto">
            <a:xfrm flipH="1">
              <a:off x="986" y="2359"/>
              <a:ext cx="6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7613" name="Line 29"/>
            <p:cNvSpPr>
              <a:spLocks noChangeShapeType="1"/>
            </p:cNvSpPr>
            <p:nvPr/>
          </p:nvSpPr>
          <p:spPr bwMode="auto">
            <a:xfrm flipV="1">
              <a:off x="975" y="2205"/>
              <a:ext cx="544" cy="136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7614" name="Text Box 30"/>
            <p:cNvSpPr txBox="1">
              <a:spLocks noChangeArrowheads="1"/>
            </p:cNvSpPr>
            <p:nvPr/>
          </p:nvSpPr>
          <p:spPr bwMode="auto">
            <a:xfrm>
              <a:off x="1247" y="2024"/>
              <a:ext cx="531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horz" wrap="non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ja-JP" sz="1400" b="1" i="0" u="none" strike="noStrike" cap="none" normalizeH="0" baseline="0" smtClean="0">
                  <a:ln>
                    <a:noFill/>
                  </a:ln>
                  <a:solidFill>
                    <a:schemeClr val="accent2"/>
                  </a:solidFill>
                  <a:effectLst/>
                  <a:latin typeface="Arial" pitchFamily="34" charset="0"/>
                  <a:ea typeface="ＭＳ Ｐゴシック" pitchFamily="50" charset="-128"/>
                </a:rPr>
                <a:t>neutron</a:t>
              </a:r>
              <a:endParaRPr kumimoji="1" lang="ja-JP" altLang="ja-JP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endParaRPr>
            </a:p>
          </p:txBody>
        </p:sp>
        <p:sp>
          <p:nvSpPr>
            <p:cNvPr id="67615" name="AutoShape 31"/>
            <p:cNvSpPr>
              <a:spLocks noChangeArrowheads="1"/>
            </p:cNvSpPr>
            <p:nvPr/>
          </p:nvSpPr>
          <p:spPr bwMode="auto">
            <a:xfrm>
              <a:off x="884" y="2296"/>
              <a:ext cx="113" cy="114"/>
            </a:xfrm>
            <a:prstGeom prst="irregularSeal1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  <p:grpSp>
        <p:nvGrpSpPr>
          <p:cNvPr id="67616" name="Group 32"/>
          <p:cNvGrpSpPr>
            <a:grpSpLocks/>
          </p:cNvGrpSpPr>
          <p:nvPr/>
        </p:nvGrpSpPr>
        <p:grpSpPr bwMode="auto">
          <a:xfrm>
            <a:off x="2057400" y="2286000"/>
            <a:ext cx="6513513" cy="2692400"/>
            <a:chOff x="1296" y="1440"/>
            <a:chExt cx="4103" cy="1696"/>
          </a:xfrm>
        </p:grpSpPr>
        <p:sp>
          <p:nvSpPr>
            <p:cNvPr id="67617" name="Text Box 33"/>
            <p:cNvSpPr txBox="1">
              <a:spLocks noChangeArrowheads="1"/>
            </p:cNvSpPr>
            <p:nvPr/>
          </p:nvSpPr>
          <p:spPr bwMode="auto">
            <a:xfrm>
              <a:off x="1296" y="1440"/>
              <a:ext cx="4103" cy="1696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800000"/>
              </a:solidFill>
              <a:miter lim="800000"/>
              <a:headEnd/>
              <a:tailEnd/>
            </a:ln>
            <a:effectLst/>
          </p:spPr>
          <p:txBody>
            <a:bodyPr vert="horz" wrap="non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ja-JP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entury" pitchFamily="18" charset="0"/>
                  <a:ea typeface="ＭＳ Ｐゴシック" pitchFamily="50" charset="-128"/>
                </a:rPr>
                <a:t>Longitudinal   100% (-2.2%)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ja-JP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entury" pitchFamily="18" charset="0"/>
                  <a:ea typeface="ＭＳ Ｐゴシック" pitchFamily="50" charset="-128"/>
                </a:rPr>
                <a:t>Transverse        21%   (1</a:t>
              </a:r>
              <a:r>
                <a:rPr kumimoji="1" lang="en-US" altLang="ja-JP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Symbol" pitchFamily="18" charset="2"/>
                  <a:ea typeface="ＭＳ Ｐゴシック" pitchFamily="50" charset="-128"/>
                </a:rPr>
                <a:t>s</a:t>
              </a:r>
              <a:r>
                <a:rPr kumimoji="1" lang="en-US" altLang="ja-JP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entury" pitchFamily="18" charset="0"/>
                  <a:ea typeface="ＭＳ Ｐゴシック" pitchFamily="50" charset="-128"/>
                </a:rPr>
                <a:t> uncertainty)</a:t>
              </a: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altLang="ja-JP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entury" pitchFamily="18" charset="0"/>
                <a:ea typeface="ＭＳ Ｐゴシック" pitchFamily="50" charset="-128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altLang="ja-JP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entury" pitchFamily="18" charset="0"/>
                <a:ea typeface="ＭＳ Ｐゴシック" pitchFamily="50" charset="-128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altLang="ja-JP" sz="2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entury" pitchFamily="18" charset="0"/>
                <a:ea typeface="ＭＳ Ｐゴシック" pitchFamily="50" charset="-128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ja-JP" altLang="ja-JP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endParaRPr>
            </a:p>
          </p:txBody>
        </p:sp>
        <p:grpSp>
          <p:nvGrpSpPr>
            <p:cNvPr id="67618" name="Group 34"/>
            <p:cNvGrpSpPr>
              <a:grpSpLocks/>
            </p:cNvGrpSpPr>
            <p:nvPr/>
          </p:nvGrpSpPr>
          <p:grpSpPr bwMode="auto">
            <a:xfrm>
              <a:off x="1488" y="2304"/>
              <a:ext cx="3552" cy="663"/>
              <a:chOff x="-2544" y="2304"/>
              <a:chExt cx="3552" cy="663"/>
            </a:xfrm>
          </p:grpSpPr>
          <p:sp>
            <p:nvSpPr>
              <p:cNvPr id="67619" name="Text Box 35"/>
              <p:cNvSpPr txBox="1">
                <a:spLocks noChangeArrowheads="1"/>
              </p:cNvSpPr>
              <p:nvPr/>
            </p:nvSpPr>
            <p:spPr bwMode="auto">
              <a:xfrm>
                <a:off x="-1121" y="2736"/>
                <a:ext cx="1121" cy="23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ja-JP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entury" pitchFamily="18" charset="0"/>
                    <a:ea typeface="ＭＳ Ｐゴシック" pitchFamily="50" charset="-128"/>
                  </a:rPr>
                  <a:t>What we want.</a:t>
                </a:r>
                <a:endParaRPr kumimoji="1" lang="ja-JP" altLang="ja-JP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ＭＳ Ｐゴシック" pitchFamily="50" charset="-128"/>
                </a:endParaRPr>
              </a:p>
            </p:txBody>
          </p:sp>
          <p:sp>
            <p:nvSpPr>
              <p:cNvPr id="67620" name="Text Box 36"/>
              <p:cNvSpPr txBox="1">
                <a:spLocks noChangeArrowheads="1"/>
              </p:cNvSpPr>
              <p:nvPr/>
            </p:nvSpPr>
            <p:spPr bwMode="auto">
              <a:xfrm>
                <a:off x="-2544" y="2736"/>
                <a:ext cx="1356" cy="231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1" lang="en-US" altLang="ja-JP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entury" pitchFamily="18" charset="0"/>
                    <a:ea typeface="ＭＳ Ｐゴシック" pitchFamily="50" charset="-128"/>
                  </a:rPr>
                  <a:t>What we measure.</a:t>
                </a:r>
                <a:endParaRPr kumimoji="1" lang="ja-JP" altLang="ja-JP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ＭＳ Ｐゴシック" pitchFamily="50" charset="-128"/>
                </a:endParaRPr>
              </a:p>
            </p:txBody>
          </p:sp>
          <p:graphicFrame>
            <p:nvGraphicFramePr>
              <p:cNvPr id="67621" name="Object 37"/>
              <p:cNvGraphicFramePr>
                <a:graphicFrameLocks noChangeAspect="1"/>
              </p:cNvGraphicFramePr>
              <p:nvPr/>
            </p:nvGraphicFramePr>
            <p:xfrm>
              <a:off x="-2208" y="2304"/>
              <a:ext cx="3216" cy="442"/>
            </p:xfrm>
            <a:graphic>
              <a:graphicData uri="http://schemas.openxmlformats.org/presentationml/2006/ole">
                <p:oleObj spid="_x0000_s67621" name="数式" r:id="rId6" imgW="1485720" imgH="241200" progId="Equation.3">
                  <p:embed/>
                </p:oleObj>
              </a:graphicData>
            </a:graphic>
          </p:graphicFrame>
          <p:sp>
            <p:nvSpPr>
              <p:cNvPr id="67622" name="Line 38"/>
              <p:cNvSpPr>
                <a:spLocks noChangeShapeType="1"/>
              </p:cNvSpPr>
              <p:nvPr/>
            </p:nvSpPr>
            <p:spPr bwMode="auto">
              <a:xfrm flipV="1">
                <a:off x="-2064" y="2640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  <p:sp>
            <p:nvSpPr>
              <p:cNvPr id="67623" name="Line 39"/>
              <p:cNvSpPr>
                <a:spLocks noChangeShapeType="1"/>
              </p:cNvSpPr>
              <p:nvPr/>
            </p:nvSpPr>
            <p:spPr bwMode="auto">
              <a:xfrm flipV="1">
                <a:off x="-672" y="2640"/>
                <a:ext cx="0" cy="144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/>
              </a:p>
            </p:txBody>
          </p:sp>
        </p:grpSp>
        <p:sp>
          <p:nvSpPr>
            <p:cNvPr id="67624" name="Line 40"/>
            <p:cNvSpPr>
              <a:spLocks noChangeShapeType="1"/>
            </p:cNvSpPr>
            <p:nvPr/>
          </p:nvSpPr>
          <p:spPr bwMode="auto">
            <a:xfrm>
              <a:off x="3216" y="2016"/>
              <a:ext cx="816" cy="384"/>
            </a:xfrm>
            <a:prstGeom prst="line">
              <a:avLst/>
            </a:prstGeom>
            <a:noFill/>
            <a:ln w="28575">
              <a:solidFill>
                <a:srgbClr val="800000"/>
              </a:solidFill>
              <a:round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  <p:sp>
          <p:nvSpPr>
            <p:cNvPr id="67625" name="Line 41"/>
            <p:cNvSpPr>
              <a:spLocks noChangeShapeType="1"/>
            </p:cNvSpPr>
            <p:nvPr/>
          </p:nvSpPr>
          <p:spPr bwMode="auto">
            <a:xfrm flipH="1">
              <a:off x="2832" y="1776"/>
              <a:ext cx="144" cy="624"/>
            </a:xfrm>
            <a:prstGeom prst="line">
              <a:avLst/>
            </a:prstGeom>
            <a:noFill/>
            <a:ln w="28575">
              <a:solidFill>
                <a:srgbClr val="800000"/>
              </a:solidFill>
              <a:round/>
              <a:headEnd/>
              <a:tailEnd type="triangle" w="med" len="med"/>
            </a:ln>
            <a:effec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7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K.Aoki (Kyoto Univ. / RIKEN)</a:t>
            </a:r>
            <a:endParaRPr lang="ja-JP" altLang="en-US" dirty="0" smtClean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22</a:t>
            </a:fld>
            <a:endParaRPr kumimoji="1" lang="ja-JP" altLang="en-US"/>
          </a:p>
        </p:txBody>
      </p:sp>
      <p:pic>
        <p:nvPicPr>
          <p:cNvPr id="62466" name="Picture 2" descr="Image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7400" y="762000"/>
            <a:ext cx="7507288" cy="5707063"/>
          </a:xfrm>
          <a:prstGeom prst="rect">
            <a:avLst/>
          </a:prstGeom>
          <a:noFill/>
        </p:spPr>
      </p:pic>
      <p:sp>
        <p:nvSpPr>
          <p:cNvPr id="62467" name="Text Box 3"/>
          <p:cNvSpPr txBox="1">
            <a:spLocks noChangeArrowheads="1"/>
          </p:cNvSpPr>
          <p:nvPr/>
        </p:nvSpPr>
        <p:spPr bwMode="auto">
          <a:xfrm>
            <a:off x="5699125" y="6491288"/>
            <a:ext cx="3444875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" pitchFamily="18" charset="0"/>
                <a:ea typeface="ＭＳ Ｐゴシック" pitchFamily="50" charset="-128"/>
              </a:rPr>
              <a:t>Theory curve by W. </a:t>
            </a:r>
            <a:r>
              <a:rPr kumimoji="1" lang="en-US" altLang="ja-JP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entury" pitchFamily="18" charset="0"/>
                <a:ea typeface="ＭＳ Ｐゴシック" pitchFamily="50" charset="-128"/>
              </a:rPr>
              <a:t>Vogelsang</a:t>
            </a:r>
            <a:r>
              <a:rPr kumimoji="1" lang="en-US" altLang="ja-JP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entury" pitchFamily="18" charset="0"/>
                <a:ea typeface="ＭＳ Ｐゴシック" pitchFamily="50" charset="-128"/>
              </a:rPr>
              <a:t> </a:t>
            </a:r>
            <a:endParaRPr kumimoji="1" lang="ja-JP" altLang="ja-JP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K.Aoki (Kyoto Univ. / RIKEN)</a:t>
            </a:r>
            <a:endParaRPr lang="ja-JP" altLang="en-US" dirty="0" smtClean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23</a:t>
            </a:fld>
            <a:endParaRPr kumimoji="1" lang="ja-JP" altLang="en-US"/>
          </a:p>
        </p:txBody>
      </p:sp>
      <p:sp>
        <p:nvSpPr>
          <p:cNvPr id="63490" name="Title 1"/>
          <p:cNvSpPr>
            <a:spLocks/>
          </p:cNvSpPr>
          <p:nvPr/>
        </p:nvSpPr>
        <p:spPr bwMode="auto">
          <a:xfrm>
            <a:off x="457200" y="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4000" b="0" i="0" u="none" strike="noStrike" cap="none" normalizeH="0" baseline="0" smtClean="0">
                <a:ln>
                  <a:noFill/>
                </a:ln>
                <a:solidFill>
                  <a:schemeClr val="tx2"/>
                </a:solidFill>
                <a:effectLst/>
                <a:latin typeface="Arial" pitchFamily="34" charset="0"/>
                <a:ea typeface="ＭＳ Ｐゴシック" pitchFamily="50" charset="-128"/>
              </a:rPr>
              <a:t>Cross section measurements</a:t>
            </a:r>
            <a:endParaRPr kumimoji="0" lang="ja-JP" altLang="ja-JP" sz="4400" b="0" i="0" u="none" strike="noStrike" cap="none" normalizeH="0" baseline="0" smtClean="0">
              <a:ln>
                <a:noFill/>
              </a:ln>
              <a:solidFill>
                <a:schemeClr val="tx2"/>
              </a:solidFill>
              <a:effectLst/>
              <a:latin typeface="Arial" pitchFamily="34" charset="0"/>
            </a:endParaRPr>
          </a:p>
        </p:txBody>
      </p:sp>
      <p:grpSp>
        <p:nvGrpSpPr>
          <p:cNvPr id="63491" name="Group 42"/>
          <p:cNvGrpSpPr>
            <a:grpSpLocks/>
          </p:cNvGrpSpPr>
          <p:nvPr/>
        </p:nvGrpSpPr>
        <p:grpSpPr bwMode="auto">
          <a:xfrm>
            <a:off x="0" y="990600"/>
            <a:ext cx="5105400" cy="5238750"/>
            <a:chOff x="2688" y="768"/>
            <a:chExt cx="3216" cy="3300"/>
          </a:xfrm>
        </p:grpSpPr>
        <p:pic>
          <p:nvPicPr>
            <p:cNvPr id="63492" name="Picture 14"/>
            <p:cNvPicPr>
              <a:picLocks noChangeAspect="1" noChangeArrowheads="1"/>
            </p:cNvPicPr>
            <p:nvPr/>
          </p:nvPicPr>
          <p:blipFill>
            <a:blip r:embed="rId3"/>
            <a:srcRect r="5467"/>
            <a:stretch>
              <a:fillRect/>
            </a:stretch>
          </p:blipFill>
          <p:spPr bwMode="auto">
            <a:xfrm>
              <a:off x="2688" y="768"/>
              <a:ext cx="3216" cy="3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3493" name="Text Box 41"/>
            <p:cNvSpPr txBox="1">
              <a:spLocks noChangeArrowheads="1"/>
            </p:cNvSpPr>
            <p:nvPr/>
          </p:nvSpPr>
          <p:spPr bwMode="auto">
            <a:xfrm>
              <a:off x="3542" y="1271"/>
              <a:ext cx="205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none" lIns="91440" tIns="45720" rIns="91440" bIns="45720" numCol="1" anchor="t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ja-JP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ea typeface="ＭＳ Ｐゴシック" pitchFamily="50" charset="-128"/>
                </a:rPr>
                <a:t>(charm) PRL97 252002: Run5</a:t>
              </a:r>
              <a:endParaRPr kumimoji="1" lang="ja-JP" altLang="ja-JP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ＭＳ Ｐゴシック" pitchFamily="50" charset="-128"/>
              </a:endParaRPr>
            </a:p>
          </p:txBody>
        </p:sp>
      </p:grpSp>
      <p:sp>
        <p:nvSpPr>
          <p:cNvPr id="63494" name="TextBox 10"/>
          <p:cNvSpPr txBox="1">
            <a:spLocks noChangeArrowheads="1"/>
          </p:cNvSpPr>
          <p:nvPr/>
        </p:nvSpPr>
        <p:spPr bwMode="auto">
          <a:xfrm>
            <a:off x="5029200" y="1066800"/>
            <a:ext cx="3784600" cy="1323975"/>
          </a:xfrm>
          <a:prstGeom prst="rect">
            <a:avLst/>
          </a:prstGeom>
          <a:gradFill rotWithShape="1">
            <a:gsLst>
              <a:gs pos="0">
                <a:srgbClr val="03D4A8"/>
              </a:gs>
              <a:gs pos="25000">
                <a:srgbClr val="21D6E0"/>
              </a:gs>
              <a:gs pos="75000">
                <a:srgbClr val="0087E6"/>
              </a:gs>
              <a:gs pos="100000">
                <a:srgbClr val="005CBF"/>
              </a:gs>
            </a:gsLst>
            <a:lin ang="2700000"/>
          </a:gradFill>
          <a:ln w="9525">
            <a:noFill/>
            <a:miter lim="800000"/>
            <a:headEnd/>
            <a:tailEnd/>
          </a:ln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4000" b="0" i="0" u="none" strike="noStrike" cap="none" normalizeH="0" baseline="0" smtClean="0">
                <a:ln>
                  <a:noFill/>
                </a:ln>
                <a:solidFill>
                  <a:srgbClr val="FFFF00"/>
                </a:solidFill>
                <a:effectLst/>
                <a:latin typeface="Arial" pitchFamily="34" charset="0"/>
                <a:ea typeface="ＭＳ Ｐゴシック" pitchFamily="50" charset="-128"/>
              </a:rPr>
              <a:t>Electron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ja-JP" sz="4000" b="0" i="0" u="none" strike="noStrike" cap="none" normalizeH="0" baseline="0" smtClean="0">
                <a:ln>
                  <a:noFill/>
                </a:ln>
                <a:solidFill>
                  <a:srgbClr val="FFFF00"/>
                </a:solidFill>
                <a:effectLst/>
                <a:latin typeface="Arial" pitchFamily="34" charset="0"/>
                <a:ea typeface="ＭＳ Ｐゴシック" pitchFamily="50" charset="-128"/>
              </a:rPr>
              <a:t> </a:t>
            </a:r>
            <a:r>
              <a:rPr kumimoji="1" lang="en-US" altLang="ja-JP" sz="2800" b="0" i="0" u="none" strike="noStrike" cap="none" normalizeH="0" baseline="0" smtClean="0">
                <a:ln>
                  <a:noFill/>
                </a:ln>
                <a:solidFill>
                  <a:srgbClr val="FFFF00"/>
                </a:solidFill>
                <a:effectLst/>
                <a:latin typeface="Arial" pitchFamily="34" charset="0"/>
                <a:ea typeface="ＭＳ Ｐゴシック" pitchFamily="50" charset="-128"/>
              </a:rPr>
              <a:t>(from Charm, Beauty)</a:t>
            </a:r>
            <a:endParaRPr kumimoji="1" lang="ja-JP" altLang="ja-JP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ＭＳ Ｐゴシック" pitchFamily="50" charset="-128"/>
            </a:endParaRPr>
          </a:p>
        </p:txBody>
      </p:sp>
      <p:graphicFrame>
        <p:nvGraphicFramePr>
          <p:cNvPr id="63495" name="Object 2"/>
          <p:cNvGraphicFramePr>
            <a:graphicFrameLocks noChangeAspect="1"/>
          </p:cNvGraphicFramePr>
          <p:nvPr/>
        </p:nvGraphicFramePr>
        <p:xfrm>
          <a:off x="5410200" y="2895600"/>
          <a:ext cx="1168400" cy="781050"/>
        </p:xfrm>
        <a:graphic>
          <a:graphicData uri="http://schemas.openxmlformats.org/presentationml/2006/ole">
            <p:oleObj spid="_x0000_s63495" name="Image" r:id="rId4" imgW="4317460" imgH="2882540" progId="Photoshop.Image.8">
              <p:embed/>
            </p:oleObj>
          </a:graphicData>
        </a:graphic>
      </p:graphicFrame>
      <p:graphicFrame>
        <p:nvGraphicFramePr>
          <p:cNvPr id="63496" name="Object 3"/>
          <p:cNvGraphicFramePr>
            <a:graphicFrameLocks noChangeAspect="1"/>
          </p:cNvGraphicFramePr>
          <p:nvPr/>
        </p:nvGraphicFramePr>
        <p:xfrm>
          <a:off x="5772150" y="2513013"/>
          <a:ext cx="1238250" cy="425450"/>
        </p:xfrm>
        <a:graphic>
          <a:graphicData uri="http://schemas.openxmlformats.org/presentationml/2006/ole">
            <p:oleObj spid="_x0000_s63496" name="Equation" r:id="rId5" imgW="660240" imgH="228600" progId="">
              <p:embed/>
            </p:oleObj>
          </a:graphicData>
        </a:graphic>
      </p:graphicFrame>
      <p:graphicFrame>
        <p:nvGraphicFramePr>
          <p:cNvPr id="63497" name="Object 4"/>
          <p:cNvGraphicFramePr>
            <a:graphicFrameLocks noChangeAspect="1"/>
          </p:cNvGraphicFramePr>
          <p:nvPr/>
        </p:nvGraphicFramePr>
        <p:xfrm>
          <a:off x="6629400" y="3200400"/>
          <a:ext cx="708025" cy="296863"/>
        </p:xfrm>
        <a:graphic>
          <a:graphicData uri="http://schemas.openxmlformats.org/presentationml/2006/ole">
            <p:oleObj spid="_x0000_s63497" name="数式" r:id="rId6" imgW="482400" imgH="2030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K.Aoki (Kyoto Univ. / RIKEN)</a:t>
            </a:r>
            <a:endParaRPr lang="ja-JP" altLang="en-US" dirty="0" smtClean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24</a:t>
            </a:fld>
            <a:endParaRPr kumimoji="1" lang="ja-JP" altLang="en-US"/>
          </a:p>
        </p:txBody>
      </p:sp>
      <p:pic>
        <p:nvPicPr>
          <p:cNvPr id="720903" name="Picture 7" descr="piPlus_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4888" y="1250950"/>
            <a:ext cx="7586662" cy="544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K.Aoki (Kyoto Univ. / RIKEN)</a:t>
            </a:r>
            <a:endParaRPr lang="ja-JP" altLang="en-US" dirty="0" smtClean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F3110-F728-4192-B7F3-184C79F3D47D}" type="slidenum">
              <a:rPr kumimoji="1" lang="ja-JP" altLang="en-US" smtClean="0"/>
              <a:pPr/>
              <a:t>25</a:t>
            </a:fld>
            <a:endParaRPr kumimoji="1" lang="ja-JP" altLang="en-US"/>
          </a:p>
        </p:txBody>
      </p:sp>
      <p:pic>
        <p:nvPicPr>
          <p:cNvPr id="65538" name="Picture 6" descr="piMinu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347788"/>
            <a:ext cx="6686550" cy="4805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2.5|20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2|37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"/>
</p:tagLst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Wistaria</Template>
  <TotalTime>6789</TotalTime>
  <Words>1878</Words>
  <Application>Microsoft Office PowerPoint</Application>
  <PresentationFormat>画面に合わせる (4:3)</PresentationFormat>
  <Paragraphs>396</Paragraphs>
  <Slides>25</Slides>
  <Notes>11</Notes>
  <HiddenSlides>0</HiddenSlides>
  <MMClips>0</MMClips>
  <ScaleCrop>false</ScaleCrop>
  <HeadingPairs>
    <vt:vector size="6" baseType="variant"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3</vt:i4>
      </vt:variant>
      <vt:variant>
        <vt:lpstr>スライド タイトル</vt:lpstr>
      </vt:variant>
      <vt:variant>
        <vt:i4>25</vt:i4>
      </vt:variant>
    </vt:vector>
  </HeadingPairs>
  <TitlesOfParts>
    <vt:vector size="29" baseType="lpstr">
      <vt:lpstr>Office テーマ</vt:lpstr>
      <vt:lpstr>数式</vt:lpstr>
      <vt:lpstr>Image</vt:lpstr>
      <vt:lpstr>Equation</vt:lpstr>
      <vt:lpstr>(longitudinal) Spin Program at RHIC-PHENIX</vt:lpstr>
      <vt:lpstr>Introduction</vt:lpstr>
      <vt:lpstr>ALL (of p0) in pol. pp collisions</vt:lpstr>
      <vt:lpstr>RHIC – the world’s first pol pp collider</vt:lpstr>
      <vt:lpstr>RHIC – the world’s first pol pp collider</vt:lpstr>
      <vt:lpstr>RHIC beam at PHENIX IP</vt:lpstr>
      <vt:lpstr>PHENIX global detector</vt:lpstr>
      <vt:lpstr>PHENIX Detector</vt:lpstr>
      <vt:lpstr>スライド 9</vt:lpstr>
      <vt:lpstr>cross section – pQCD applicability</vt:lpstr>
      <vt:lpstr>p0 ALL at 200GeV</vt:lpstr>
      <vt:lpstr>p0 ALL  at 200GeV RUN6</vt:lpstr>
      <vt:lpstr>Access higher x with lower energy</vt:lpstr>
      <vt:lpstr>Various channels available at PHENIX to explore gluon pol.</vt:lpstr>
      <vt:lpstr>summary</vt:lpstr>
      <vt:lpstr>Back up slides</vt:lpstr>
      <vt:lpstr>Information on the session</vt:lpstr>
      <vt:lpstr>スライド 18</vt:lpstr>
      <vt:lpstr>PHENIX Detector – Central Arm</vt:lpstr>
      <vt:lpstr>スライド 20</vt:lpstr>
      <vt:lpstr>スライド 21</vt:lpstr>
      <vt:lpstr>スライド 22</vt:lpstr>
      <vt:lpstr>スライド 23</vt:lpstr>
      <vt:lpstr>スライド 24</vt:lpstr>
      <vt:lpstr>スライド 25</vt:lpstr>
    </vt:vector>
  </TitlesOfParts>
  <Company> 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Spin Physics program at RHIC-PHENIX</dc:title>
  <dc:creator>aoki</dc:creator>
  <cp:lastModifiedBy>aoki</cp:lastModifiedBy>
  <cp:revision>577</cp:revision>
  <dcterms:created xsi:type="dcterms:W3CDTF">2007-05-26T17:56:59Z</dcterms:created>
  <dcterms:modified xsi:type="dcterms:W3CDTF">2007-06-05T02:34:19Z</dcterms:modified>
</cp:coreProperties>
</file>