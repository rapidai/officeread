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emf" ContentType="image/x-emf"/>
  <Default Extension="xlsx" ContentType="application/vnd.openxmlformats-officedocument.spreadsheetml.sheet"/>
  <Default Extension="vml" ContentType="application/vnd.openxmlformats-officedocument.vmlDrawing"/>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embeddings/oleObject1.bin" ContentType="application/vnd.openxmlformats-officedocument.oleObject"/>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theme/themeOverride1.xml" ContentType="application/vnd.openxmlformats-officedocument.themeOverride+xml"/>
  <Override PartName="/ppt/charts/chart5.xml" ContentType="application/vnd.openxmlformats-officedocument.drawingml.chart+xml"/>
  <Override PartName="/ppt/charts/chart6.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7.xml" ContentType="application/vnd.openxmlformats-officedocument.drawingml.chart+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259" r:id="rId2"/>
    <p:sldId id="308" r:id="rId3"/>
    <p:sldId id="309" r:id="rId4"/>
    <p:sldId id="311" r:id="rId5"/>
    <p:sldId id="312" r:id="rId6"/>
    <p:sldId id="310" r:id="rId7"/>
    <p:sldId id="318" r:id="rId8"/>
    <p:sldId id="313" r:id="rId9"/>
    <p:sldId id="314" r:id="rId10"/>
    <p:sldId id="316" r:id="rId11"/>
    <p:sldId id="317" r:id="rId12"/>
    <p:sldId id="307" r:id="rId13"/>
    <p:sldId id="315" r:id="rId14"/>
    <p:sldId id="319" r:id="rId15"/>
    <p:sldId id="320" r:id="rId16"/>
    <p:sldId id="277" r:id="rId17"/>
    <p:sldId id="321" r:id="rId18"/>
    <p:sldId id="300" r:id="rId19"/>
    <p:sldId id="278" r:id="rId20"/>
    <p:sldId id="322" r:id="rId21"/>
  </p:sldIdLst>
  <p:sldSz cx="9144000" cy="6858000" type="screen4x3"/>
  <p:notesSz cx="6858000" cy="9144000"/>
  <p:defaultTextStyle>
    <a:defPPr>
      <a:defRPr lang="en-US"/>
    </a:defPPr>
    <a:lvl1pPr algn="r" rtl="0" eaLnBrk="0" fontAlgn="base" hangingPunct="0">
      <a:spcBef>
        <a:spcPct val="0"/>
      </a:spcBef>
      <a:spcAft>
        <a:spcPct val="0"/>
      </a:spcAft>
      <a:defRPr sz="1400" kern="1200">
        <a:solidFill>
          <a:schemeClr val="bg1"/>
        </a:solidFill>
        <a:latin typeface="Franklin Gothic Book" pitchFamily="34" charset="0"/>
        <a:ea typeface="+mn-ea"/>
        <a:cs typeface="+mn-cs"/>
      </a:defRPr>
    </a:lvl1pPr>
    <a:lvl2pPr marL="457200" algn="r" rtl="0" eaLnBrk="0" fontAlgn="base" hangingPunct="0">
      <a:spcBef>
        <a:spcPct val="0"/>
      </a:spcBef>
      <a:spcAft>
        <a:spcPct val="0"/>
      </a:spcAft>
      <a:defRPr sz="1400" kern="1200">
        <a:solidFill>
          <a:schemeClr val="bg1"/>
        </a:solidFill>
        <a:latin typeface="Franklin Gothic Book" pitchFamily="34" charset="0"/>
        <a:ea typeface="+mn-ea"/>
        <a:cs typeface="+mn-cs"/>
      </a:defRPr>
    </a:lvl2pPr>
    <a:lvl3pPr marL="914400" algn="r" rtl="0" eaLnBrk="0" fontAlgn="base" hangingPunct="0">
      <a:spcBef>
        <a:spcPct val="0"/>
      </a:spcBef>
      <a:spcAft>
        <a:spcPct val="0"/>
      </a:spcAft>
      <a:defRPr sz="1400" kern="1200">
        <a:solidFill>
          <a:schemeClr val="bg1"/>
        </a:solidFill>
        <a:latin typeface="Franklin Gothic Book" pitchFamily="34" charset="0"/>
        <a:ea typeface="+mn-ea"/>
        <a:cs typeface="+mn-cs"/>
      </a:defRPr>
    </a:lvl3pPr>
    <a:lvl4pPr marL="1371600" algn="r" rtl="0" eaLnBrk="0" fontAlgn="base" hangingPunct="0">
      <a:spcBef>
        <a:spcPct val="0"/>
      </a:spcBef>
      <a:spcAft>
        <a:spcPct val="0"/>
      </a:spcAft>
      <a:defRPr sz="1400" kern="1200">
        <a:solidFill>
          <a:schemeClr val="bg1"/>
        </a:solidFill>
        <a:latin typeface="Franklin Gothic Book" pitchFamily="34" charset="0"/>
        <a:ea typeface="+mn-ea"/>
        <a:cs typeface="+mn-cs"/>
      </a:defRPr>
    </a:lvl4pPr>
    <a:lvl5pPr marL="1828800" algn="r" rtl="0" eaLnBrk="0" fontAlgn="base" hangingPunct="0">
      <a:spcBef>
        <a:spcPct val="0"/>
      </a:spcBef>
      <a:spcAft>
        <a:spcPct val="0"/>
      </a:spcAft>
      <a:defRPr sz="1400" kern="1200">
        <a:solidFill>
          <a:schemeClr val="bg1"/>
        </a:solidFill>
        <a:latin typeface="Franklin Gothic Book" pitchFamily="34" charset="0"/>
        <a:ea typeface="+mn-ea"/>
        <a:cs typeface="+mn-cs"/>
      </a:defRPr>
    </a:lvl5pPr>
    <a:lvl6pPr marL="2286000" algn="l" defTabSz="914400" rtl="0" eaLnBrk="1" latinLnBrk="0" hangingPunct="1">
      <a:defRPr sz="1400" kern="1200">
        <a:solidFill>
          <a:schemeClr val="bg1"/>
        </a:solidFill>
        <a:latin typeface="Franklin Gothic Book" pitchFamily="34" charset="0"/>
        <a:ea typeface="+mn-ea"/>
        <a:cs typeface="+mn-cs"/>
      </a:defRPr>
    </a:lvl6pPr>
    <a:lvl7pPr marL="2743200" algn="l" defTabSz="914400" rtl="0" eaLnBrk="1" latinLnBrk="0" hangingPunct="1">
      <a:defRPr sz="1400" kern="1200">
        <a:solidFill>
          <a:schemeClr val="bg1"/>
        </a:solidFill>
        <a:latin typeface="Franklin Gothic Book" pitchFamily="34" charset="0"/>
        <a:ea typeface="+mn-ea"/>
        <a:cs typeface="+mn-cs"/>
      </a:defRPr>
    </a:lvl7pPr>
    <a:lvl8pPr marL="3200400" algn="l" defTabSz="914400" rtl="0" eaLnBrk="1" latinLnBrk="0" hangingPunct="1">
      <a:defRPr sz="1400" kern="1200">
        <a:solidFill>
          <a:schemeClr val="bg1"/>
        </a:solidFill>
        <a:latin typeface="Franklin Gothic Book" pitchFamily="34" charset="0"/>
        <a:ea typeface="+mn-ea"/>
        <a:cs typeface="+mn-cs"/>
      </a:defRPr>
    </a:lvl8pPr>
    <a:lvl9pPr marL="3657600" algn="l" defTabSz="914400" rtl="0" eaLnBrk="1" latinLnBrk="0" hangingPunct="1">
      <a:defRPr sz="1400" kern="1200">
        <a:solidFill>
          <a:schemeClr val="bg1"/>
        </a:solidFill>
        <a:latin typeface="Franklin Gothic Book"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clrMode="gray"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A000"/>
    <a:srgbClr val="032258"/>
    <a:srgbClr val="002D76"/>
    <a:srgbClr val="002258"/>
    <a:srgbClr val="002563"/>
    <a:srgbClr val="002562"/>
    <a:srgbClr val="002A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32787"/>
    <p:restoredTop sz="81505" autoAdjust="0"/>
  </p:normalViewPr>
  <p:slideViewPr>
    <p:cSldViewPr snapToGrid="0">
      <p:cViewPr>
        <p:scale>
          <a:sx n="90" d="100"/>
          <a:sy n="90" d="100"/>
        </p:scale>
        <p:origin x="-2576" y="-128"/>
      </p:cViewPr>
      <p:guideLst>
        <p:guide orient="horz" pos="2160"/>
        <p:guide pos="2880"/>
      </p:guideLst>
    </p:cSldViewPr>
  </p:slideViewPr>
  <p:notesTextViewPr>
    <p:cViewPr>
      <p:scale>
        <a:sx n="100" d="100"/>
        <a:sy n="100" d="100"/>
      </p:scale>
      <p:origin x="0" y="0"/>
    </p:cViewPr>
  </p:notesTextViewPr>
  <p:sorterViewPr>
    <p:cViewPr>
      <p:scale>
        <a:sx n="219" d="100"/>
        <a:sy n="219"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handoutMaster" Target="handoutMasters/handoutMaster1.xml"/><Relationship Id="rId24" Type="http://schemas.openxmlformats.org/officeDocument/2006/relationships/printerSettings" Target="printerSettings/printerSettings1.bin"/><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oleObject" Target="Macintosh%20HD:private:var:folders:To:ToMBSTbmGWS58AJddRYxJE+++TI:TemporaryItems:fcctemp:SIRF2012resultsGraph.xlsx" TargetMode="External"/><Relationship Id="rId2"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7"/>
    </mc:Choice>
    <mc:Fallback>
      <c:style val="17"/>
    </mc:Fallback>
  </mc:AlternateContent>
  <c:chart>
    <c:title>
      <c:layout/>
      <c:overlay val="0"/>
    </c:title>
    <c:autoTitleDeleted val="0"/>
    <c:plotArea>
      <c:layout/>
      <c:pieChart>
        <c:varyColors val="1"/>
        <c:ser>
          <c:idx val="0"/>
          <c:order val="0"/>
          <c:tx>
            <c:strRef>
              <c:f>Sheet1!$B$1</c:f>
              <c:strCache>
                <c:ptCount val="1"/>
                <c:pt idx="0">
                  <c:v>Non-obese Children</c:v>
                </c:pt>
              </c:strCache>
            </c:strRef>
          </c:tx>
          <c:cat>
            <c:strRef>
              <c:f>Sheet1!$A$2:$A$3</c:f>
              <c:strCache>
                <c:ptCount val="2"/>
                <c:pt idx="0">
                  <c:v>Active</c:v>
                </c:pt>
                <c:pt idx="1">
                  <c:v>Not active</c:v>
                </c:pt>
              </c:strCache>
            </c:strRef>
          </c:cat>
          <c:val>
            <c:numRef>
              <c:f>Sheet1!$B$2:$B$3</c:f>
              <c:numCache>
                <c:formatCode>General</c:formatCode>
                <c:ptCount val="2"/>
                <c:pt idx="0">
                  <c:v>161.0</c:v>
                </c:pt>
                <c:pt idx="1">
                  <c:v>644.0</c:v>
                </c:pt>
              </c:numCache>
            </c:numRef>
          </c:val>
        </c:ser>
        <c:ser>
          <c:idx val="1"/>
          <c:order val="1"/>
          <c:tx>
            <c:strRef>
              <c:f>Sheet1!$C$1</c:f>
              <c:strCache>
                <c:ptCount val="1"/>
                <c:pt idx="0">
                  <c:v>Column1</c:v>
                </c:pt>
              </c:strCache>
            </c:strRef>
          </c:tx>
          <c:cat>
            <c:strRef>
              <c:f>Sheet1!$A$2:$A$3</c:f>
              <c:strCache>
                <c:ptCount val="2"/>
                <c:pt idx="0">
                  <c:v>Active</c:v>
                </c:pt>
                <c:pt idx="1">
                  <c:v>Not active</c:v>
                </c:pt>
              </c:strCache>
            </c:strRef>
          </c:cat>
          <c:val>
            <c:numRef>
              <c:f>Sheet1!$C$2:$C$3</c:f>
              <c:numCache>
                <c:formatCode>General</c:formatCode>
                <c:ptCount val="2"/>
              </c:numCache>
            </c:numRef>
          </c:val>
        </c:ser>
        <c:dLbls>
          <c:showLegendKey val="0"/>
          <c:showVal val="0"/>
          <c:showCatName val="0"/>
          <c:showSerName val="0"/>
          <c:showPercent val="0"/>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7"/>
    </mc:Choice>
    <mc:Fallback>
      <c:style val="17"/>
    </mc:Fallback>
  </mc:AlternateContent>
  <c:chart>
    <c:title>
      <c:layout/>
      <c:overlay val="0"/>
    </c:title>
    <c:autoTitleDeleted val="0"/>
    <c:plotArea>
      <c:layout/>
      <c:pieChart>
        <c:varyColors val="1"/>
        <c:ser>
          <c:idx val="0"/>
          <c:order val="0"/>
          <c:tx>
            <c:strRef>
              <c:f>Sheet1!$B$1</c:f>
              <c:strCache>
                <c:ptCount val="1"/>
                <c:pt idx="0">
                  <c:v>Obese children</c:v>
                </c:pt>
              </c:strCache>
            </c:strRef>
          </c:tx>
          <c:cat>
            <c:strRef>
              <c:f>Sheet1!$A$2:$A$3</c:f>
              <c:strCache>
                <c:ptCount val="2"/>
                <c:pt idx="0">
                  <c:v>Active</c:v>
                </c:pt>
                <c:pt idx="1">
                  <c:v>Not active</c:v>
                </c:pt>
              </c:strCache>
            </c:strRef>
          </c:cat>
          <c:val>
            <c:numRef>
              <c:f>Sheet1!$B$2:$B$3</c:f>
              <c:numCache>
                <c:formatCode>General</c:formatCode>
                <c:ptCount val="2"/>
                <c:pt idx="0">
                  <c:v>6.438</c:v>
                </c:pt>
                <c:pt idx="1">
                  <c:v>57.942</c:v>
                </c:pt>
              </c:numCache>
            </c:numRef>
          </c:val>
        </c:ser>
        <c:dLbls>
          <c:showLegendKey val="0"/>
          <c:showVal val="0"/>
          <c:showCatName val="0"/>
          <c:showSerName val="0"/>
          <c:showPercent val="0"/>
          <c:showBubbleSize val="0"/>
          <c:showLeaderLines val="1"/>
        </c:dLbls>
        <c:firstSliceAng val="0"/>
      </c:pieChart>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7"/>
    </mc:Choice>
    <mc:Fallback>
      <c:style val="17"/>
    </mc:Fallback>
  </mc:AlternateContent>
  <c:chart>
    <c:autoTitleDeleted val="0"/>
    <c:plotArea>
      <c:layout/>
      <c:barChart>
        <c:barDir val="col"/>
        <c:grouping val="percentStacked"/>
        <c:varyColors val="0"/>
        <c:ser>
          <c:idx val="0"/>
          <c:order val="0"/>
          <c:tx>
            <c:strRef>
              <c:f>Sheet1!$B$1</c:f>
              <c:strCache>
                <c:ptCount val="1"/>
                <c:pt idx="0">
                  <c:v>Obese</c:v>
                </c:pt>
              </c:strCache>
            </c:strRef>
          </c:tx>
          <c:invertIfNegative val="0"/>
          <c:cat>
            <c:strRef>
              <c:f>Sheet1!$A$2:$A$3</c:f>
              <c:strCache>
                <c:ptCount val="2"/>
                <c:pt idx="0">
                  <c:v>1967-1970</c:v>
                </c:pt>
                <c:pt idx="1">
                  <c:v>1988-1991</c:v>
                </c:pt>
              </c:strCache>
            </c:strRef>
          </c:cat>
          <c:val>
            <c:numRef>
              <c:f>Sheet1!$B$2:$B$3</c:f>
              <c:numCache>
                <c:formatCode>General</c:formatCode>
                <c:ptCount val="2"/>
                <c:pt idx="0">
                  <c:v>5.0</c:v>
                </c:pt>
                <c:pt idx="1">
                  <c:v>13.0</c:v>
                </c:pt>
              </c:numCache>
            </c:numRef>
          </c:val>
        </c:ser>
        <c:ser>
          <c:idx val="1"/>
          <c:order val="1"/>
          <c:tx>
            <c:strRef>
              <c:f>Sheet1!$C$1</c:f>
              <c:strCache>
                <c:ptCount val="1"/>
                <c:pt idx="0">
                  <c:v>Not obese</c:v>
                </c:pt>
              </c:strCache>
            </c:strRef>
          </c:tx>
          <c:invertIfNegative val="0"/>
          <c:cat>
            <c:strRef>
              <c:f>Sheet1!$A$2:$A$3</c:f>
              <c:strCache>
                <c:ptCount val="2"/>
                <c:pt idx="0">
                  <c:v>1967-1970</c:v>
                </c:pt>
                <c:pt idx="1">
                  <c:v>1988-1991</c:v>
                </c:pt>
              </c:strCache>
            </c:strRef>
          </c:cat>
          <c:val>
            <c:numRef>
              <c:f>Sheet1!$C$2:$C$3</c:f>
              <c:numCache>
                <c:formatCode>General</c:formatCode>
                <c:ptCount val="2"/>
                <c:pt idx="0">
                  <c:v>95.0</c:v>
                </c:pt>
                <c:pt idx="1">
                  <c:v>87.0</c:v>
                </c:pt>
              </c:numCache>
            </c:numRef>
          </c:val>
        </c:ser>
        <c:dLbls>
          <c:showLegendKey val="0"/>
          <c:showVal val="0"/>
          <c:showCatName val="0"/>
          <c:showSerName val="0"/>
          <c:showPercent val="0"/>
          <c:showBubbleSize val="0"/>
        </c:dLbls>
        <c:gapWidth val="150"/>
        <c:overlap val="100"/>
        <c:axId val="2086134904"/>
        <c:axId val="2086137880"/>
      </c:barChart>
      <c:catAx>
        <c:axId val="2086134904"/>
        <c:scaling>
          <c:orientation val="minMax"/>
        </c:scaling>
        <c:delete val="0"/>
        <c:axPos val="b"/>
        <c:majorTickMark val="out"/>
        <c:minorTickMark val="none"/>
        <c:tickLblPos val="nextTo"/>
        <c:crossAx val="2086137880"/>
        <c:crosses val="autoZero"/>
        <c:auto val="1"/>
        <c:lblAlgn val="ctr"/>
        <c:lblOffset val="100"/>
        <c:noMultiLvlLbl val="0"/>
      </c:catAx>
      <c:valAx>
        <c:axId val="2086137880"/>
        <c:scaling>
          <c:orientation val="minMax"/>
        </c:scaling>
        <c:delete val="0"/>
        <c:axPos val="l"/>
        <c:majorGridlines/>
        <c:numFmt formatCode="0%" sourceLinked="1"/>
        <c:majorTickMark val="out"/>
        <c:minorTickMark val="none"/>
        <c:tickLblPos val="nextTo"/>
        <c:crossAx val="2086134904"/>
        <c:crosses val="autoZero"/>
        <c:crossBetween val="between"/>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7"/>
    </mc:Choice>
    <mc:Fallback>
      <c:style val="17"/>
    </mc:Fallback>
  </mc:AlternateContent>
  <c:clrMapOvr bg1="lt1" tx1="dk1" bg2="lt2" tx2="dk2" accent1="accent1" accent2="accent2" accent3="accent3" accent4="accent4" accent5="accent5" accent6="accent6" hlink="hlink" folHlink="folHlink"/>
  <c:chart>
    <c:title>
      <c:layout/>
      <c:overlay val="0"/>
    </c:title>
    <c:autoTitleDeleted val="0"/>
    <c:plotArea>
      <c:layout/>
      <c:barChart>
        <c:barDir val="col"/>
        <c:grouping val="clustered"/>
        <c:varyColors val="0"/>
        <c:ser>
          <c:idx val="0"/>
          <c:order val="0"/>
          <c:tx>
            <c:strRef>
              <c:f>Sheet1!$B$1</c:f>
              <c:strCache>
                <c:ptCount val="1"/>
                <c:pt idx="0">
                  <c:v>Obese</c:v>
                </c:pt>
              </c:strCache>
            </c:strRef>
          </c:tx>
          <c:invertIfNegative val="0"/>
          <c:cat>
            <c:strRef>
              <c:f>Sheet1!$A$2:$A$3</c:f>
              <c:strCache>
                <c:ptCount val="2"/>
                <c:pt idx="0">
                  <c:v>1967-1970</c:v>
                </c:pt>
                <c:pt idx="1">
                  <c:v>1988-1991</c:v>
                </c:pt>
              </c:strCache>
            </c:strRef>
          </c:cat>
          <c:val>
            <c:numRef>
              <c:f>Sheet1!$B$2:$B$3</c:f>
              <c:numCache>
                <c:formatCode>General</c:formatCode>
                <c:ptCount val="2"/>
                <c:pt idx="0">
                  <c:v>5.0</c:v>
                </c:pt>
                <c:pt idx="1">
                  <c:v>13.0</c:v>
                </c:pt>
              </c:numCache>
            </c:numRef>
          </c:val>
        </c:ser>
        <c:dLbls>
          <c:showLegendKey val="0"/>
          <c:showVal val="0"/>
          <c:showCatName val="0"/>
          <c:showSerName val="0"/>
          <c:showPercent val="0"/>
          <c:showBubbleSize val="0"/>
        </c:dLbls>
        <c:gapWidth val="150"/>
        <c:axId val="2070334008"/>
        <c:axId val="2087136360"/>
      </c:barChart>
      <c:catAx>
        <c:axId val="2070334008"/>
        <c:scaling>
          <c:orientation val="minMax"/>
        </c:scaling>
        <c:delete val="0"/>
        <c:axPos val="b"/>
        <c:majorTickMark val="out"/>
        <c:minorTickMark val="none"/>
        <c:tickLblPos val="nextTo"/>
        <c:crossAx val="2087136360"/>
        <c:crosses val="autoZero"/>
        <c:auto val="1"/>
        <c:lblAlgn val="ctr"/>
        <c:lblOffset val="100"/>
        <c:noMultiLvlLbl val="0"/>
      </c:catAx>
      <c:valAx>
        <c:axId val="2087136360"/>
        <c:scaling>
          <c:orientation val="minMax"/>
          <c:max val="20.0"/>
        </c:scaling>
        <c:delete val="0"/>
        <c:axPos val="l"/>
        <c:majorGridlines/>
        <c:numFmt formatCode="General" sourceLinked="1"/>
        <c:majorTickMark val="out"/>
        <c:minorTickMark val="none"/>
        <c:tickLblPos val="nextTo"/>
        <c:crossAx val="2070334008"/>
        <c:crosses val="autoZero"/>
        <c:crossBetween val="between"/>
      </c:valAx>
    </c:plotArea>
    <c:legend>
      <c:legendPos val="r"/>
      <c:layout/>
      <c:overlay val="0"/>
    </c:legend>
    <c:plotVisOnly val="1"/>
    <c:dispBlanksAs val="gap"/>
    <c:showDLblsOverMax val="0"/>
  </c:chart>
  <c:txPr>
    <a:bodyPr/>
    <a:lstStyle/>
    <a:p>
      <a:pPr>
        <a:defRPr sz="1800"/>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7"/>
    </mc:Choice>
    <mc:Fallback>
      <c:style val="17"/>
    </mc:Fallback>
  </mc:AlternateContent>
  <c:chart>
    <c:title>
      <c:layout/>
      <c:overlay val="0"/>
    </c:title>
    <c:autoTitleDeleted val="0"/>
    <c:plotArea>
      <c:layout/>
      <c:barChart>
        <c:barDir val="col"/>
        <c:grouping val="clustered"/>
        <c:varyColors val="0"/>
        <c:ser>
          <c:idx val="0"/>
          <c:order val="0"/>
          <c:tx>
            <c:strRef>
              <c:f>Sheet1!$B$1</c:f>
              <c:strCache>
                <c:ptCount val="1"/>
                <c:pt idx="0">
                  <c:v>Obese</c:v>
                </c:pt>
              </c:strCache>
            </c:strRef>
          </c:tx>
          <c:invertIfNegative val="0"/>
          <c:cat>
            <c:strRef>
              <c:f>Sheet1!$A$2:$A$3</c:f>
              <c:strCache>
                <c:ptCount val="2"/>
                <c:pt idx="0">
                  <c:v>1967-1970</c:v>
                </c:pt>
                <c:pt idx="1">
                  <c:v>1988-1991</c:v>
                </c:pt>
              </c:strCache>
            </c:strRef>
          </c:cat>
          <c:val>
            <c:numRef>
              <c:f>Sheet1!$B$2:$B$3</c:f>
              <c:numCache>
                <c:formatCode>General</c:formatCode>
                <c:ptCount val="2"/>
                <c:pt idx="0">
                  <c:v>5.0</c:v>
                </c:pt>
                <c:pt idx="1">
                  <c:v>9.0</c:v>
                </c:pt>
              </c:numCache>
            </c:numRef>
          </c:val>
        </c:ser>
        <c:dLbls>
          <c:showLegendKey val="0"/>
          <c:showVal val="0"/>
          <c:showCatName val="0"/>
          <c:showSerName val="0"/>
          <c:showPercent val="0"/>
          <c:showBubbleSize val="0"/>
        </c:dLbls>
        <c:gapWidth val="150"/>
        <c:axId val="2086330520"/>
        <c:axId val="2086275688"/>
      </c:barChart>
      <c:catAx>
        <c:axId val="2086330520"/>
        <c:scaling>
          <c:orientation val="minMax"/>
        </c:scaling>
        <c:delete val="0"/>
        <c:axPos val="b"/>
        <c:majorTickMark val="out"/>
        <c:minorTickMark val="none"/>
        <c:tickLblPos val="nextTo"/>
        <c:crossAx val="2086275688"/>
        <c:crosses val="autoZero"/>
        <c:auto val="1"/>
        <c:lblAlgn val="ctr"/>
        <c:lblOffset val="100"/>
        <c:noMultiLvlLbl val="0"/>
      </c:catAx>
      <c:valAx>
        <c:axId val="2086275688"/>
        <c:scaling>
          <c:orientation val="minMax"/>
        </c:scaling>
        <c:delete val="0"/>
        <c:axPos val="l"/>
        <c:majorGridlines/>
        <c:numFmt formatCode="General" sourceLinked="1"/>
        <c:majorTickMark val="out"/>
        <c:minorTickMark val="none"/>
        <c:tickLblPos val="nextTo"/>
        <c:crossAx val="2086330520"/>
        <c:crosses val="autoZero"/>
        <c:crossBetween val="between"/>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7"/>
    </mc:Choice>
    <mc:Fallback>
      <c:style val="17"/>
    </mc:Fallback>
  </mc:AlternateContent>
  <c:chart>
    <c:title>
      <c:layout/>
      <c:overlay val="0"/>
    </c:title>
    <c:autoTitleDeleted val="0"/>
    <c:plotArea>
      <c:layout/>
      <c:barChart>
        <c:barDir val="col"/>
        <c:grouping val="clustered"/>
        <c:varyColors val="0"/>
        <c:ser>
          <c:idx val="0"/>
          <c:order val="0"/>
          <c:tx>
            <c:strRef>
              <c:f>Sheet1!$B$1</c:f>
              <c:strCache>
                <c:ptCount val="1"/>
                <c:pt idx="0">
                  <c:v>Obese</c:v>
                </c:pt>
              </c:strCache>
            </c:strRef>
          </c:tx>
          <c:invertIfNegative val="0"/>
          <c:cat>
            <c:strRef>
              <c:f>Sheet1!$A$2:$A$3</c:f>
              <c:strCache>
                <c:ptCount val="2"/>
                <c:pt idx="0">
                  <c:v>Year 1</c:v>
                </c:pt>
                <c:pt idx="1">
                  <c:v>Year 3</c:v>
                </c:pt>
              </c:strCache>
            </c:strRef>
          </c:cat>
          <c:val>
            <c:numRef>
              <c:f>Sheet1!$B$2:$B$3</c:f>
              <c:numCache>
                <c:formatCode>General</c:formatCode>
                <c:ptCount val="2"/>
                <c:pt idx="0">
                  <c:v>12.2</c:v>
                </c:pt>
                <c:pt idx="1">
                  <c:v>15.6</c:v>
                </c:pt>
              </c:numCache>
            </c:numRef>
          </c:val>
        </c:ser>
        <c:dLbls>
          <c:showLegendKey val="0"/>
          <c:showVal val="0"/>
          <c:showCatName val="0"/>
          <c:showSerName val="0"/>
          <c:showPercent val="0"/>
          <c:showBubbleSize val="0"/>
        </c:dLbls>
        <c:gapWidth val="150"/>
        <c:axId val="2107766648"/>
        <c:axId val="2086257960"/>
      </c:barChart>
      <c:catAx>
        <c:axId val="2107766648"/>
        <c:scaling>
          <c:orientation val="minMax"/>
        </c:scaling>
        <c:delete val="0"/>
        <c:axPos val="b"/>
        <c:numFmt formatCode="General" sourceLinked="1"/>
        <c:majorTickMark val="out"/>
        <c:minorTickMark val="none"/>
        <c:tickLblPos val="nextTo"/>
        <c:crossAx val="2086257960"/>
        <c:crosses val="autoZero"/>
        <c:auto val="1"/>
        <c:lblAlgn val="ctr"/>
        <c:lblOffset val="100"/>
        <c:noMultiLvlLbl val="0"/>
      </c:catAx>
      <c:valAx>
        <c:axId val="2086257960"/>
        <c:scaling>
          <c:orientation val="minMax"/>
        </c:scaling>
        <c:delete val="0"/>
        <c:axPos val="l"/>
        <c:majorGridlines/>
        <c:numFmt formatCode="General" sourceLinked="1"/>
        <c:majorTickMark val="out"/>
        <c:minorTickMark val="none"/>
        <c:tickLblPos val="nextTo"/>
        <c:crossAx val="2107766648"/>
        <c:crosses val="autoZero"/>
        <c:crossBetween val="between"/>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manualLayout>
          <c:layoutTarget val="inner"/>
          <c:xMode val="edge"/>
          <c:yMode val="edge"/>
          <c:x val="0.063392343307236"/>
          <c:y val="0.0519732798976405"/>
          <c:w val="0.883039528475455"/>
          <c:h val="0.676262118391342"/>
        </c:manualLayout>
      </c:layout>
      <c:barChart>
        <c:barDir val="col"/>
        <c:grouping val="clustered"/>
        <c:varyColors val="0"/>
        <c:ser>
          <c:idx val="0"/>
          <c:order val="0"/>
          <c:tx>
            <c:v>ELLs (n = 28)</c:v>
          </c:tx>
          <c:spPr>
            <a:solidFill>
              <a:srgbClr val="032258"/>
            </a:solidFill>
          </c:spPr>
          <c:invertIfNegative val="0"/>
          <c:dLbls>
            <c:txPr>
              <a:bodyPr/>
              <a:lstStyle/>
              <a:p>
                <a:pPr>
                  <a:defRPr sz="1600">
                    <a:solidFill>
                      <a:schemeClr val="bg1"/>
                    </a:solidFill>
                  </a:defRPr>
                </a:pPr>
                <a:endParaRPr lang="en-US"/>
              </a:p>
            </c:txPr>
            <c:dLblPos val="inBase"/>
            <c:showLegendKey val="0"/>
            <c:showVal val="1"/>
            <c:showCatName val="0"/>
            <c:showSerName val="0"/>
            <c:showPercent val="0"/>
            <c:showBubbleSize val="0"/>
            <c:showLeaderLines val="0"/>
          </c:dLbls>
          <c:cat>
            <c:strRef>
              <c:f>Sheet1!$A$8:$A$12</c:f>
              <c:strCache>
                <c:ptCount val="5"/>
                <c:pt idx="0">
                  <c:v>Prepositions</c:v>
                </c:pt>
                <c:pt idx="1">
                  <c:v>Terminology</c:v>
                </c:pt>
                <c:pt idx="2">
                  <c:v>Negation</c:v>
                </c:pt>
                <c:pt idx="3">
                  <c:v>Atypical Sentence structure</c:v>
                </c:pt>
                <c:pt idx="4">
                  <c:v>Minimal language</c:v>
                </c:pt>
              </c:strCache>
            </c:strRef>
          </c:cat>
          <c:val>
            <c:numRef>
              <c:f>Sheet1!$B$8:$B$12</c:f>
              <c:numCache>
                <c:formatCode>0%</c:formatCode>
                <c:ptCount val="5"/>
                <c:pt idx="0">
                  <c:v>0.61</c:v>
                </c:pt>
                <c:pt idx="1">
                  <c:v>0.8</c:v>
                </c:pt>
                <c:pt idx="2">
                  <c:v>0.59</c:v>
                </c:pt>
                <c:pt idx="3">
                  <c:v>0.76</c:v>
                </c:pt>
                <c:pt idx="4">
                  <c:v>0.82</c:v>
                </c:pt>
              </c:numCache>
            </c:numRef>
          </c:val>
        </c:ser>
        <c:ser>
          <c:idx val="1"/>
          <c:order val="1"/>
          <c:tx>
            <c:v>Non ELLs (n = 32)</c:v>
          </c:tx>
          <c:spPr>
            <a:solidFill>
              <a:srgbClr val="BFA000"/>
            </a:solidFill>
          </c:spPr>
          <c:invertIfNegative val="0"/>
          <c:dLbls>
            <c:txPr>
              <a:bodyPr/>
              <a:lstStyle/>
              <a:p>
                <a:pPr>
                  <a:defRPr sz="1600">
                    <a:solidFill>
                      <a:schemeClr val="bg1"/>
                    </a:solidFill>
                  </a:defRPr>
                </a:pPr>
                <a:endParaRPr lang="en-US"/>
              </a:p>
            </c:txPr>
            <c:dLblPos val="inBase"/>
            <c:showLegendKey val="0"/>
            <c:showVal val="1"/>
            <c:showCatName val="0"/>
            <c:showSerName val="0"/>
            <c:showPercent val="0"/>
            <c:showBubbleSize val="0"/>
            <c:showLeaderLines val="0"/>
          </c:dLbls>
          <c:cat>
            <c:strRef>
              <c:f>Sheet1!$A$8:$A$12</c:f>
              <c:strCache>
                <c:ptCount val="5"/>
                <c:pt idx="0">
                  <c:v>Prepositions</c:v>
                </c:pt>
                <c:pt idx="1">
                  <c:v>Terminology</c:v>
                </c:pt>
                <c:pt idx="2">
                  <c:v>Negation</c:v>
                </c:pt>
                <c:pt idx="3">
                  <c:v>Atypical Sentence structure</c:v>
                </c:pt>
                <c:pt idx="4">
                  <c:v>Minimal language</c:v>
                </c:pt>
              </c:strCache>
            </c:strRef>
          </c:cat>
          <c:val>
            <c:numRef>
              <c:f>Sheet1!$C$8:$C$12</c:f>
              <c:numCache>
                <c:formatCode>0%</c:formatCode>
                <c:ptCount val="5"/>
                <c:pt idx="0">
                  <c:v>0.73</c:v>
                </c:pt>
                <c:pt idx="1">
                  <c:v>0.87</c:v>
                </c:pt>
                <c:pt idx="2">
                  <c:v>0.81</c:v>
                </c:pt>
                <c:pt idx="3">
                  <c:v>0.89</c:v>
                </c:pt>
                <c:pt idx="4">
                  <c:v>0.81</c:v>
                </c:pt>
              </c:numCache>
            </c:numRef>
          </c:val>
        </c:ser>
        <c:dLbls>
          <c:showLegendKey val="0"/>
          <c:showVal val="1"/>
          <c:showCatName val="0"/>
          <c:showSerName val="0"/>
          <c:showPercent val="0"/>
          <c:showBubbleSize val="0"/>
        </c:dLbls>
        <c:gapWidth val="150"/>
        <c:overlap val="-25"/>
        <c:axId val="2086536840"/>
        <c:axId val="2108010872"/>
      </c:barChart>
      <c:catAx>
        <c:axId val="2086536840"/>
        <c:scaling>
          <c:orientation val="minMax"/>
        </c:scaling>
        <c:delete val="0"/>
        <c:axPos val="b"/>
        <c:majorTickMark val="none"/>
        <c:minorTickMark val="none"/>
        <c:tickLblPos val="nextTo"/>
        <c:txPr>
          <a:bodyPr/>
          <a:lstStyle/>
          <a:p>
            <a:pPr>
              <a:defRPr sz="1600"/>
            </a:pPr>
            <a:endParaRPr lang="en-US"/>
          </a:p>
        </c:txPr>
        <c:crossAx val="2108010872"/>
        <c:crosses val="autoZero"/>
        <c:auto val="1"/>
        <c:lblAlgn val="ctr"/>
        <c:lblOffset val="100"/>
        <c:noMultiLvlLbl val="0"/>
      </c:catAx>
      <c:valAx>
        <c:axId val="2108010872"/>
        <c:scaling>
          <c:orientation val="minMax"/>
        </c:scaling>
        <c:delete val="1"/>
        <c:axPos val="l"/>
        <c:numFmt formatCode="0%" sourceLinked="1"/>
        <c:majorTickMark val="none"/>
        <c:minorTickMark val="none"/>
        <c:tickLblPos val="nextTo"/>
        <c:crossAx val="2086536840"/>
        <c:crosses val="autoZero"/>
        <c:crossBetween val="between"/>
      </c:valAx>
    </c:plotArea>
    <c:legend>
      <c:legendPos val="tr"/>
      <c:layout>
        <c:manualLayout>
          <c:xMode val="edge"/>
          <c:yMode val="edge"/>
          <c:x val="0.759141016463851"/>
          <c:y val="0.00891415792067025"/>
          <c:w val="0.23621992143118"/>
          <c:h val="0.149501700059175"/>
        </c:manualLayout>
      </c:layout>
      <c:overlay val="0"/>
      <c:spPr>
        <a:ln w="3175" cmpd="sng">
          <a:solidFill>
            <a:srgbClr val="14244C"/>
          </a:solidFill>
        </a:ln>
      </c:spPr>
      <c:txPr>
        <a:bodyPr/>
        <a:lstStyle/>
        <a:p>
          <a:pPr>
            <a:defRPr sz="1800"/>
          </a:pPr>
          <a:endParaRPr lang="en-US"/>
        </a:p>
      </c:txPr>
    </c:legend>
    <c:plotVisOnly val="1"/>
    <c:dispBlanksAs val="gap"/>
    <c:showDLblsOverMax val="0"/>
  </c:chart>
  <c:externalData r:id="rId1">
    <c:autoUpdate val="0"/>
  </c:externalData>
  <c:userShapes r:id="rId2"/>
</c:chartSpace>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drawing1.xml><?xml version="1.0" encoding="utf-8"?>
<c:userShapes xmlns:c="http://schemas.openxmlformats.org/drawingml/2006/chart">
  <cdr:relSizeAnchor xmlns:cdr="http://schemas.openxmlformats.org/drawingml/2006/chartDrawing">
    <cdr:from>
      <cdr:x>0.01389</cdr:x>
      <cdr:y>0.39193</cdr:y>
    </cdr:from>
    <cdr:to>
      <cdr:x>0.07523</cdr:x>
      <cdr:y>0.68957</cdr:y>
    </cdr:to>
    <cdr:sp macro="" textlink="">
      <cdr:nvSpPr>
        <cdr:cNvPr id="2" name="TextBox 1"/>
        <cdr:cNvSpPr txBox="1"/>
      </cdr:nvSpPr>
      <cdr:spPr>
        <a:xfrm xmlns:a="http://schemas.openxmlformats.org/drawingml/2006/main" rot="16200000">
          <a:off x="-404730" y="2610125"/>
          <a:ext cx="1583234" cy="532595"/>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2400" b="0" dirty="0"/>
            <a:t>% Correct</a:t>
          </a:r>
        </a:p>
      </cdr:txBody>
    </cdr:sp>
  </cdr:relSizeAnchor>
  <cdr:relSizeAnchor xmlns:cdr="http://schemas.openxmlformats.org/drawingml/2006/chartDrawing">
    <cdr:from>
      <cdr:x>0.35668</cdr:x>
      <cdr:y>0.86659</cdr:y>
    </cdr:from>
    <cdr:to>
      <cdr:x>0.97614</cdr:x>
      <cdr:y>0.95338</cdr:y>
    </cdr:to>
    <cdr:sp macro="" textlink="">
      <cdr:nvSpPr>
        <cdr:cNvPr id="3" name="TextBox 2"/>
        <cdr:cNvSpPr txBox="1"/>
      </cdr:nvSpPr>
      <cdr:spPr>
        <a:xfrm xmlns:a="http://schemas.openxmlformats.org/drawingml/2006/main">
          <a:off x="3189020" y="4609636"/>
          <a:ext cx="5538468" cy="461661"/>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0" anchor="t">
          <a:spAutoFit/>
        </a:bodyPr>
        <a:lstStyle xmlns:a="http://schemas.openxmlformats.org/drawingml/2006/main">
          <a:lvl1pPr marL="0" indent="0">
            <a:defRPr sz="1100">
              <a:solidFill>
                <a:sysClr val="windowText" lastClr="000000"/>
              </a:solidFill>
              <a:latin typeface="Calibri"/>
            </a:defRPr>
          </a:lvl1pPr>
          <a:lvl2pPr marL="457200" indent="0">
            <a:defRPr sz="1100">
              <a:solidFill>
                <a:sysClr val="windowText" lastClr="000000"/>
              </a:solidFill>
              <a:latin typeface="Calibri"/>
            </a:defRPr>
          </a:lvl2pPr>
          <a:lvl3pPr marL="914400" indent="0">
            <a:defRPr sz="1100">
              <a:solidFill>
                <a:sysClr val="windowText" lastClr="000000"/>
              </a:solidFill>
              <a:latin typeface="Calibri"/>
            </a:defRPr>
          </a:lvl3pPr>
          <a:lvl4pPr marL="1371600" indent="0">
            <a:defRPr sz="1100">
              <a:solidFill>
                <a:sysClr val="windowText" lastClr="000000"/>
              </a:solidFill>
              <a:latin typeface="Calibri"/>
            </a:defRPr>
          </a:lvl4pPr>
          <a:lvl5pPr marL="1828800" indent="0">
            <a:defRPr sz="1100">
              <a:solidFill>
                <a:sysClr val="windowText" lastClr="000000"/>
              </a:solidFill>
              <a:latin typeface="Calibri"/>
            </a:defRPr>
          </a:lvl5pPr>
          <a:lvl6pPr marL="2286000" indent="0">
            <a:defRPr sz="1100">
              <a:solidFill>
                <a:sysClr val="windowText" lastClr="000000"/>
              </a:solidFill>
              <a:latin typeface="Calibri"/>
            </a:defRPr>
          </a:lvl6pPr>
          <a:lvl7pPr marL="2743200" indent="0">
            <a:defRPr sz="1100">
              <a:solidFill>
                <a:sysClr val="windowText" lastClr="000000"/>
              </a:solidFill>
              <a:latin typeface="Calibri"/>
            </a:defRPr>
          </a:lvl7pPr>
          <a:lvl8pPr marL="3200400" indent="0">
            <a:defRPr sz="1100">
              <a:solidFill>
                <a:sysClr val="windowText" lastClr="000000"/>
              </a:solidFill>
              <a:latin typeface="Calibri"/>
            </a:defRPr>
          </a:lvl8pPr>
          <a:lvl9pPr marL="3657600" indent="0">
            <a:defRPr sz="1100">
              <a:solidFill>
                <a:sysClr val="windowText" lastClr="000000"/>
              </a:solidFill>
              <a:latin typeface="Calibri"/>
            </a:defRPr>
          </a:lvl9pPr>
        </a:lstStyle>
        <a:p xmlns:a="http://schemas.openxmlformats.org/drawingml/2006/main">
          <a:r>
            <a:rPr lang="en-US" sz="2400" b="1" dirty="0"/>
            <a:t>Language </a:t>
          </a:r>
          <a:r>
            <a:rPr lang="en-US" sz="2400" b="1" dirty="0" smtClean="0"/>
            <a:t>Contexts	                          </a:t>
          </a:r>
          <a:r>
            <a:rPr lang="en-US" sz="1400" dirty="0" smtClean="0"/>
            <a:t>*</a:t>
          </a:r>
          <a:r>
            <a:rPr lang="en-US" sz="1400" i="1" dirty="0" smtClean="0"/>
            <a:t>p</a:t>
          </a:r>
          <a:r>
            <a:rPr lang="en-US" sz="1400" dirty="0" smtClean="0"/>
            <a:t> &lt; .05</a:t>
          </a:r>
          <a:endParaRPr lang="en-US" sz="1400" dirty="0"/>
        </a:p>
      </cdr:txBody>
    </cdr:sp>
  </cdr:relSizeAnchor>
  <cdr:relSizeAnchor xmlns:cdr="http://schemas.openxmlformats.org/drawingml/2006/chartDrawing">
    <cdr:from>
      <cdr:x>0.20612</cdr:x>
      <cdr:y>0.73121</cdr:y>
    </cdr:from>
    <cdr:to>
      <cdr:x>0.25015</cdr:x>
      <cdr:y>0.79379</cdr:y>
    </cdr:to>
    <cdr:sp macro="" textlink="">
      <cdr:nvSpPr>
        <cdr:cNvPr id="4" name="TextBox 3"/>
        <cdr:cNvSpPr txBox="1"/>
      </cdr:nvSpPr>
      <cdr:spPr>
        <a:xfrm xmlns:a="http://schemas.openxmlformats.org/drawingml/2006/main">
          <a:off x="1789684" y="3889519"/>
          <a:ext cx="382298" cy="332881"/>
        </a:xfrm>
        <a:prstGeom xmlns:a="http://schemas.openxmlformats.org/drawingml/2006/main" prst="rect">
          <a:avLst/>
        </a:prstGeom>
      </cdr:spPr>
      <cdr:txBody>
        <a:bodyPr xmlns:a="http://schemas.openxmlformats.org/drawingml/2006/main" wrap="none" rtlCol="0"/>
        <a:lstStyle xmlns:a="http://schemas.openxmlformats.org/drawingml/2006/main"/>
        <a:p xmlns:a="http://schemas.openxmlformats.org/drawingml/2006/main">
          <a:r>
            <a:rPr lang="en-US" sz="1100" dirty="0" smtClean="0"/>
            <a:t>*</a:t>
          </a:r>
          <a:endParaRPr lang="en-US" sz="1100" dirty="0"/>
        </a:p>
      </cdr:txBody>
    </cdr:sp>
  </cdr:relSizeAnchor>
  <cdr:relSizeAnchor xmlns:cdr="http://schemas.openxmlformats.org/drawingml/2006/chartDrawing">
    <cdr:from>
      <cdr:x>0.54421</cdr:x>
      <cdr:y>0.73474</cdr:y>
    </cdr:from>
    <cdr:to>
      <cdr:x>0.58823</cdr:x>
      <cdr:y>0.79732</cdr:y>
    </cdr:to>
    <cdr:sp macro="" textlink="">
      <cdr:nvSpPr>
        <cdr:cNvPr id="5" name="TextBox 4"/>
        <cdr:cNvSpPr txBox="1"/>
      </cdr:nvSpPr>
      <cdr:spPr>
        <a:xfrm xmlns:a="http://schemas.openxmlformats.org/drawingml/2006/main">
          <a:off x="4725203" y="3908296"/>
          <a:ext cx="382211" cy="33288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Franklin Gothic Demi"/>
            </a:defRPr>
          </a:lvl1pPr>
          <a:lvl2pPr marL="457200" indent="0">
            <a:defRPr sz="1100">
              <a:latin typeface="Franklin Gothic Demi"/>
            </a:defRPr>
          </a:lvl2pPr>
          <a:lvl3pPr marL="914400" indent="0">
            <a:defRPr sz="1100">
              <a:latin typeface="Franklin Gothic Demi"/>
            </a:defRPr>
          </a:lvl3pPr>
          <a:lvl4pPr marL="1371600" indent="0">
            <a:defRPr sz="1100">
              <a:latin typeface="Franklin Gothic Demi"/>
            </a:defRPr>
          </a:lvl4pPr>
          <a:lvl5pPr marL="1828800" indent="0">
            <a:defRPr sz="1100">
              <a:latin typeface="Franklin Gothic Demi"/>
            </a:defRPr>
          </a:lvl5pPr>
          <a:lvl6pPr marL="2286000" indent="0">
            <a:defRPr sz="1100">
              <a:latin typeface="Franklin Gothic Demi"/>
            </a:defRPr>
          </a:lvl6pPr>
          <a:lvl7pPr marL="2743200" indent="0">
            <a:defRPr sz="1100">
              <a:latin typeface="Franklin Gothic Demi"/>
            </a:defRPr>
          </a:lvl7pPr>
          <a:lvl8pPr marL="3200400" indent="0">
            <a:defRPr sz="1100">
              <a:latin typeface="Franklin Gothic Demi"/>
            </a:defRPr>
          </a:lvl8pPr>
          <a:lvl9pPr marL="3657600" indent="0">
            <a:defRPr sz="1100">
              <a:latin typeface="Franklin Gothic Demi"/>
            </a:defRPr>
          </a:lvl9pPr>
        </a:lstStyle>
        <a:p xmlns:a="http://schemas.openxmlformats.org/drawingml/2006/main">
          <a:r>
            <a:rPr lang="en-US" sz="1100" dirty="0" smtClean="0"/>
            <a:t>*</a:t>
          </a:r>
          <a:endParaRPr lang="en-US" sz="1100" dirty="0"/>
        </a:p>
      </cdr:txBody>
    </cdr:sp>
  </cdr:relSizeAnchor>
  <cdr:relSizeAnchor xmlns:cdr="http://schemas.openxmlformats.org/drawingml/2006/chartDrawing">
    <cdr:from>
      <cdr:x>0.38185</cdr:x>
      <cdr:y>0.73434</cdr:y>
    </cdr:from>
    <cdr:to>
      <cdr:x>0.42587</cdr:x>
      <cdr:y>0.79692</cdr:y>
    </cdr:to>
    <cdr:sp macro="" textlink="">
      <cdr:nvSpPr>
        <cdr:cNvPr id="6" name="TextBox 5"/>
        <cdr:cNvSpPr txBox="1"/>
      </cdr:nvSpPr>
      <cdr:spPr>
        <a:xfrm xmlns:a="http://schemas.openxmlformats.org/drawingml/2006/main">
          <a:off x="3315492" y="3906191"/>
          <a:ext cx="382210" cy="332882"/>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Franklin Gothic Demi"/>
            </a:defRPr>
          </a:lvl1pPr>
          <a:lvl2pPr marL="457200" indent="0">
            <a:defRPr sz="1100">
              <a:latin typeface="Franklin Gothic Demi"/>
            </a:defRPr>
          </a:lvl2pPr>
          <a:lvl3pPr marL="914400" indent="0">
            <a:defRPr sz="1100">
              <a:latin typeface="Franklin Gothic Demi"/>
            </a:defRPr>
          </a:lvl3pPr>
          <a:lvl4pPr marL="1371600" indent="0">
            <a:defRPr sz="1100">
              <a:latin typeface="Franklin Gothic Demi"/>
            </a:defRPr>
          </a:lvl4pPr>
          <a:lvl5pPr marL="1828800" indent="0">
            <a:defRPr sz="1100">
              <a:latin typeface="Franklin Gothic Demi"/>
            </a:defRPr>
          </a:lvl5pPr>
          <a:lvl6pPr marL="2286000" indent="0">
            <a:defRPr sz="1100">
              <a:latin typeface="Franklin Gothic Demi"/>
            </a:defRPr>
          </a:lvl6pPr>
          <a:lvl7pPr marL="2743200" indent="0">
            <a:defRPr sz="1100">
              <a:latin typeface="Franklin Gothic Demi"/>
            </a:defRPr>
          </a:lvl7pPr>
          <a:lvl8pPr marL="3200400" indent="0">
            <a:defRPr sz="1100">
              <a:latin typeface="Franklin Gothic Demi"/>
            </a:defRPr>
          </a:lvl8pPr>
          <a:lvl9pPr marL="3657600" indent="0">
            <a:defRPr sz="1100">
              <a:latin typeface="Franklin Gothic Demi"/>
            </a:defRPr>
          </a:lvl9pPr>
        </a:lstStyle>
        <a:p xmlns:a="http://schemas.openxmlformats.org/drawingml/2006/main">
          <a:r>
            <a:rPr lang="en-US" sz="1100" dirty="0" smtClean="0"/>
            <a:t>*</a:t>
          </a:r>
          <a:endParaRPr lang="en-US" sz="1100" dirty="0"/>
        </a:p>
      </cdr:txBody>
    </cdr:sp>
  </cdr:relSizeAnchor>
  <cdr:relSizeAnchor xmlns:cdr="http://schemas.openxmlformats.org/drawingml/2006/chartDrawing">
    <cdr:from>
      <cdr:x>0.71742</cdr:x>
      <cdr:y>0.84625</cdr:y>
    </cdr:from>
    <cdr:to>
      <cdr:x>0.76144</cdr:x>
      <cdr:y>0.90883</cdr:y>
    </cdr:to>
    <cdr:sp macro="" textlink="">
      <cdr:nvSpPr>
        <cdr:cNvPr id="7" name="TextBox 6"/>
        <cdr:cNvSpPr txBox="1"/>
      </cdr:nvSpPr>
      <cdr:spPr>
        <a:xfrm xmlns:a="http://schemas.openxmlformats.org/drawingml/2006/main">
          <a:off x="6414324" y="4501425"/>
          <a:ext cx="393574" cy="332882"/>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Franklin Gothic Demi"/>
            </a:defRPr>
          </a:lvl1pPr>
          <a:lvl2pPr marL="457200" indent="0">
            <a:defRPr sz="1100">
              <a:latin typeface="Franklin Gothic Demi"/>
            </a:defRPr>
          </a:lvl2pPr>
          <a:lvl3pPr marL="914400" indent="0">
            <a:defRPr sz="1100">
              <a:latin typeface="Franklin Gothic Demi"/>
            </a:defRPr>
          </a:lvl3pPr>
          <a:lvl4pPr marL="1371600" indent="0">
            <a:defRPr sz="1100">
              <a:latin typeface="Franklin Gothic Demi"/>
            </a:defRPr>
          </a:lvl4pPr>
          <a:lvl5pPr marL="1828800" indent="0">
            <a:defRPr sz="1100">
              <a:latin typeface="Franklin Gothic Demi"/>
            </a:defRPr>
          </a:lvl5pPr>
          <a:lvl6pPr marL="2286000" indent="0">
            <a:defRPr sz="1100">
              <a:latin typeface="Franklin Gothic Demi"/>
            </a:defRPr>
          </a:lvl6pPr>
          <a:lvl7pPr marL="2743200" indent="0">
            <a:defRPr sz="1100">
              <a:latin typeface="Franklin Gothic Demi"/>
            </a:defRPr>
          </a:lvl7pPr>
          <a:lvl8pPr marL="3200400" indent="0">
            <a:defRPr sz="1100">
              <a:latin typeface="Franklin Gothic Demi"/>
            </a:defRPr>
          </a:lvl8pPr>
          <a:lvl9pPr marL="3657600" indent="0">
            <a:defRPr sz="1100">
              <a:latin typeface="Franklin Gothic Demi"/>
            </a:defRPr>
          </a:lvl9pPr>
        </a:lstStyle>
        <a:p xmlns:a="http://schemas.openxmlformats.org/drawingml/2006/main">
          <a:r>
            <a:rPr lang="en-US" sz="1100" dirty="0" smtClean="0"/>
            <a:t>*</a:t>
          </a:r>
          <a:endParaRPr lang="en-US" sz="1100"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9FD0A2-63E5-2D42-B183-0DAC381B2DF8}" type="datetimeFigureOut">
              <a:rPr lang="en-US" smtClean="0"/>
              <a:t>12-10-10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912CEAE-9F06-D145-BD2B-45C566166A13}" type="slidenum">
              <a:rPr lang="en-US" smtClean="0"/>
              <a:t>‹#›</a:t>
            </a:fld>
            <a:endParaRPr lang="en-US"/>
          </a:p>
        </p:txBody>
      </p:sp>
    </p:spTree>
    <p:extLst>
      <p:ext uri="{BB962C8B-B14F-4D97-AF65-F5344CB8AC3E}">
        <p14:creationId xmlns:p14="http://schemas.microsoft.com/office/powerpoint/2010/main" val="3348571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213AA0-C974-474C-AB29-004C4EC52106}" type="datetimeFigureOut">
              <a:rPr lang="en-US" smtClean="0"/>
              <a:pPr/>
              <a:t>12-10-10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C207F6-0E6A-4B42-9D8D-55EE1F5AC4AA}" type="slidenum">
              <a:rPr lang="en-US" smtClean="0"/>
              <a:pPr/>
              <a:t>‹#›</a:t>
            </a:fld>
            <a:endParaRPr lang="en-US"/>
          </a:p>
        </p:txBody>
      </p:sp>
    </p:spTree>
    <p:extLst>
      <p:ext uri="{BB962C8B-B14F-4D97-AF65-F5344CB8AC3E}">
        <p14:creationId xmlns:p14="http://schemas.microsoft.com/office/powerpoint/2010/main" val="3465964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It is well documented in the research literature that there is a significant overlap between language competencies and math performances (e.g., Brown, 2005). Although mathematics tests ostensibly measure mathematical skills, English language proficiency may be confounding math knowledge and skills, leading to artificially depressed math scores of English language learners (ELLs) and international students at Canadian post-secondary institutions.</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To explore the effects of language on math in post-secondary ELLs, math test items with various linguistic features were administered to sixty students (ELLs, n = 28 and non-ELLs n = 32) enrolled in post-secondary mathematics courses. Results suggest that each of the linguistic features disadvantage ELLs, even though all participants had met the English-language entrance requirements of the institution.</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After describing the study, we explain some language features that appear to cause differential performance (e.g., “increased from/by/to $10”) and suggest ways that these could usefully be addressed in English for academic purposes lessons. We further discuss the implications for remedial math class placement and suggest specific accommodations. Finally, we discuss how EAP teachers can approach their peers in the math department to broach these issues.</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Brown, C. L. (2005). Equity of literacy-based math performance assessments for English language learners. Bilingual Research Journal, 29, 337-363.</a:t>
            </a:r>
            <a:endParaRPr lang="en-US" dirty="0"/>
          </a:p>
        </p:txBody>
      </p:sp>
      <p:sp>
        <p:nvSpPr>
          <p:cNvPr id="4" name="Slide Number Placeholder 3"/>
          <p:cNvSpPr>
            <a:spLocks noGrp="1"/>
          </p:cNvSpPr>
          <p:nvPr>
            <p:ph type="sldNum" sz="quarter" idx="10"/>
          </p:nvPr>
        </p:nvSpPr>
        <p:spPr/>
        <p:txBody>
          <a:bodyPr/>
          <a:lstStyle/>
          <a:p>
            <a:fld id="{64C207F6-0E6A-4B42-9D8D-55EE1F5AC4AA}" type="slidenum">
              <a:rPr lang="en-US" smtClean="0"/>
              <a:pPr/>
              <a:t>1</a:t>
            </a:fld>
            <a:endParaRPr lang="en-US"/>
          </a:p>
        </p:txBody>
      </p:sp>
    </p:spTree>
    <p:extLst>
      <p:ext uri="{BB962C8B-B14F-4D97-AF65-F5344CB8AC3E}">
        <p14:creationId xmlns:p14="http://schemas.microsoft.com/office/powerpoint/2010/main" val="7309622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endParaRPr lang="en-US" dirty="0"/>
          </a:p>
        </p:txBody>
      </p:sp>
      <p:sp>
        <p:nvSpPr>
          <p:cNvPr id="4" name="Slide Number Placeholder 3"/>
          <p:cNvSpPr>
            <a:spLocks noGrp="1"/>
          </p:cNvSpPr>
          <p:nvPr>
            <p:ph type="sldNum" sz="quarter" idx="10"/>
          </p:nvPr>
        </p:nvSpPr>
        <p:spPr/>
        <p:txBody>
          <a:bodyPr/>
          <a:lstStyle/>
          <a:p>
            <a:fld id="{64C207F6-0E6A-4B42-9D8D-55EE1F5AC4AA}" type="slidenum">
              <a:rPr lang="en-US" smtClean="0"/>
              <a:pPr/>
              <a:t>12</a:t>
            </a:fld>
            <a:endParaRPr lang="en-US"/>
          </a:p>
        </p:txBody>
      </p:sp>
    </p:spTree>
    <p:extLst>
      <p:ext uri="{BB962C8B-B14F-4D97-AF65-F5344CB8AC3E}">
        <p14:creationId xmlns:p14="http://schemas.microsoft.com/office/powerpoint/2010/main" val="10147446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endParaRPr lang="en-US" dirty="0" smtClean="0"/>
          </a:p>
        </p:txBody>
      </p:sp>
      <p:sp>
        <p:nvSpPr>
          <p:cNvPr id="4" name="Slide Number Placeholder 3"/>
          <p:cNvSpPr>
            <a:spLocks noGrp="1"/>
          </p:cNvSpPr>
          <p:nvPr>
            <p:ph type="sldNum" sz="quarter" idx="10"/>
          </p:nvPr>
        </p:nvSpPr>
        <p:spPr/>
        <p:txBody>
          <a:bodyPr/>
          <a:lstStyle/>
          <a:p>
            <a:fld id="{64C207F6-0E6A-4B42-9D8D-55EE1F5AC4AA}" type="slidenum">
              <a:rPr lang="en-US" smtClean="0"/>
              <a:pPr/>
              <a:t>13</a:t>
            </a:fld>
            <a:endParaRPr lang="en-US"/>
          </a:p>
        </p:txBody>
      </p:sp>
    </p:spTree>
    <p:extLst>
      <p:ext uri="{BB962C8B-B14F-4D97-AF65-F5344CB8AC3E}">
        <p14:creationId xmlns:p14="http://schemas.microsoft.com/office/powerpoint/2010/main" val="1014744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endParaRPr lang="en-US" dirty="0" smtClean="0"/>
          </a:p>
        </p:txBody>
      </p:sp>
      <p:sp>
        <p:nvSpPr>
          <p:cNvPr id="4" name="Slide Number Placeholder 3"/>
          <p:cNvSpPr>
            <a:spLocks noGrp="1"/>
          </p:cNvSpPr>
          <p:nvPr>
            <p:ph type="sldNum" sz="quarter" idx="10"/>
          </p:nvPr>
        </p:nvSpPr>
        <p:spPr/>
        <p:txBody>
          <a:bodyPr/>
          <a:lstStyle/>
          <a:p>
            <a:fld id="{64C207F6-0E6A-4B42-9D8D-55EE1F5AC4AA}" type="slidenum">
              <a:rPr lang="en-US" smtClean="0"/>
              <a:pPr/>
              <a:t>14</a:t>
            </a:fld>
            <a:endParaRPr lang="en-US"/>
          </a:p>
        </p:txBody>
      </p:sp>
    </p:spTree>
    <p:extLst>
      <p:ext uri="{BB962C8B-B14F-4D97-AF65-F5344CB8AC3E}">
        <p14:creationId xmlns:p14="http://schemas.microsoft.com/office/powerpoint/2010/main" val="10147446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endParaRPr lang="en-US" dirty="0" smtClean="0"/>
          </a:p>
        </p:txBody>
      </p:sp>
      <p:sp>
        <p:nvSpPr>
          <p:cNvPr id="4" name="Slide Number Placeholder 3"/>
          <p:cNvSpPr>
            <a:spLocks noGrp="1"/>
          </p:cNvSpPr>
          <p:nvPr>
            <p:ph type="sldNum" sz="quarter" idx="10"/>
          </p:nvPr>
        </p:nvSpPr>
        <p:spPr/>
        <p:txBody>
          <a:bodyPr/>
          <a:lstStyle/>
          <a:p>
            <a:fld id="{64C207F6-0E6A-4B42-9D8D-55EE1F5AC4AA}" type="slidenum">
              <a:rPr lang="en-US" smtClean="0"/>
              <a:pPr/>
              <a:t>15</a:t>
            </a:fld>
            <a:endParaRPr lang="en-US"/>
          </a:p>
        </p:txBody>
      </p:sp>
    </p:spTree>
    <p:extLst>
      <p:ext uri="{BB962C8B-B14F-4D97-AF65-F5344CB8AC3E}">
        <p14:creationId xmlns:p14="http://schemas.microsoft.com/office/powerpoint/2010/main" val="10147446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4C207F6-0E6A-4B42-9D8D-55EE1F5AC4AA}" type="slidenum">
              <a:rPr lang="en-US" smtClean="0"/>
              <a:pPr/>
              <a:t>16</a:t>
            </a:fld>
            <a:endParaRPr lang="en-US"/>
          </a:p>
        </p:txBody>
      </p:sp>
    </p:spTree>
    <p:extLst>
      <p:ext uri="{BB962C8B-B14F-4D97-AF65-F5344CB8AC3E}">
        <p14:creationId xmlns:p14="http://schemas.microsoft.com/office/powerpoint/2010/main" val="40403082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4C207F6-0E6A-4B42-9D8D-55EE1F5AC4AA}" type="slidenum">
              <a:rPr lang="en-US" smtClean="0"/>
              <a:pPr/>
              <a:t>18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Rebecca</a:t>
            </a:r>
            <a:endParaRPr lang="en-US" dirty="0"/>
          </a:p>
        </p:txBody>
      </p:sp>
      <p:sp>
        <p:nvSpPr>
          <p:cNvPr id="4" name="Slide Number Placeholder 3"/>
          <p:cNvSpPr>
            <a:spLocks noGrp="1"/>
          </p:cNvSpPr>
          <p:nvPr>
            <p:ph type="sldNum" sz="quarter" idx="10"/>
          </p:nvPr>
        </p:nvSpPr>
        <p:spPr/>
        <p:txBody>
          <a:bodyPr/>
          <a:lstStyle/>
          <a:p>
            <a:fld id="{64C207F6-0E6A-4B42-9D8D-55EE1F5AC4AA}" type="slidenum">
              <a:rPr lang="en-US" smtClean="0"/>
              <a:pPr/>
              <a:t>19</a:t>
            </a:fld>
            <a:endParaRPr lang="en-US"/>
          </a:p>
        </p:txBody>
      </p:sp>
    </p:spTree>
    <p:extLst>
      <p:ext uri="{BB962C8B-B14F-4D97-AF65-F5344CB8AC3E}">
        <p14:creationId xmlns:p14="http://schemas.microsoft.com/office/powerpoint/2010/main" val="40403082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3074" name="Picture 2" descr="E:\Karo\TitleCollege.jpg"/>
          <p:cNvPicPr>
            <a:picLocks noChangeAspect="1" noChangeArrowheads="1"/>
          </p:cNvPicPr>
          <p:nvPr/>
        </p:nvPicPr>
        <p:blipFill>
          <a:blip r:embed="rId2" cstate="print">
            <a:lum bright="12000"/>
          </a:blip>
          <a:srcRect/>
          <a:stretch>
            <a:fillRect/>
          </a:stretch>
        </p:blipFill>
        <p:spPr bwMode="invGray">
          <a:xfrm>
            <a:off x="0" y="0"/>
            <a:ext cx="9144000" cy="6858000"/>
          </a:xfrm>
          <a:prstGeom prst="rect">
            <a:avLst/>
          </a:prstGeom>
          <a:noFill/>
        </p:spPr>
      </p:pic>
      <p:sp>
        <p:nvSpPr>
          <p:cNvPr id="3075" name="Rectangle 3"/>
          <p:cNvSpPr>
            <a:spLocks noGrp="1" noChangeArrowheads="1"/>
          </p:cNvSpPr>
          <p:nvPr>
            <p:ph type="ctrTitle"/>
          </p:nvPr>
        </p:nvSpPr>
        <p:spPr>
          <a:xfrm>
            <a:off x="685800" y="2286000"/>
            <a:ext cx="7772400" cy="1143000"/>
          </a:xfrm>
        </p:spPr>
        <p:txBody>
          <a:bodyPr/>
          <a:lstStyle>
            <a:lvl1pPr marL="455613">
              <a:defRPr sz="4600">
                <a:solidFill>
                  <a:srgbClr val="BFA000"/>
                </a:solidFill>
              </a:defRPr>
            </a:lvl1pPr>
          </a:lstStyle>
          <a:p>
            <a:r>
              <a:rPr lang="en-US" smtClean="0"/>
              <a:t>Click to edit Master title style</a:t>
            </a:r>
            <a:endParaRPr lang="en-US"/>
          </a:p>
        </p:txBody>
      </p:sp>
      <p:sp>
        <p:nvSpPr>
          <p:cNvPr id="3076" name="Rectangle 4"/>
          <p:cNvSpPr>
            <a:spLocks noGrp="1" noChangeArrowheads="1"/>
          </p:cNvSpPr>
          <p:nvPr>
            <p:ph type="subTitle" idx="1"/>
          </p:nvPr>
        </p:nvSpPr>
        <p:spPr>
          <a:xfrm>
            <a:off x="701675" y="3886200"/>
            <a:ext cx="7816850" cy="528638"/>
          </a:xfrm>
        </p:spPr>
        <p:txBody>
          <a:bodyPr/>
          <a:lstStyle>
            <a:lvl1pPr marL="463550" indent="0">
              <a:defRPr sz="2800">
                <a:solidFill>
                  <a:schemeClr val="bg1"/>
                </a:solidFill>
              </a:defRPr>
            </a:lvl1pPr>
          </a:lstStyle>
          <a:p>
            <a:r>
              <a:rPr lang="en-US" smtClean="0"/>
              <a:t>Click to edit Master subtitle style</a:t>
            </a:r>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a:lvl1pPr>
          </a:lstStyle>
          <a:p>
            <a:fld id="{44E66613-32DB-4B5C-9AE4-36FA4F6A14B2}" type="slidenum">
              <a:rPr lang="en-US"/>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Slide Number Placeholder 3"/>
          <p:cNvSpPr>
            <a:spLocks noGrp="1"/>
          </p:cNvSpPr>
          <p:nvPr>
            <p:ph type="sldNum" sz="quarter" idx="10"/>
          </p:nvPr>
        </p:nvSpPr>
        <p:spPr/>
        <p:txBody>
          <a:bodyPr/>
          <a:lstStyle>
            <a:lvl1pPr>
              <a:defRPr/>
            </a:lvl1pPr>
          </a:lstStyle>
          <a:p>
            <a:fld id="{CBEFDB0D-8D1C-4A95-9781-DCC1EF75F963}" type="slidenum">
              <a:rPr lang="en-US"/>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74688" y="933450"/>
            <a:ext cx="3913187" cy="49260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40275" y="933450"/>
            <a:ext cx="3913188" cy="49260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Slide Number Placeholder 4"/>
          <p:cNvSpPr>
            <a:spLocks noGrp="1"/>
          </p:cNvSpPr>
          <p:nvPr>
            <p:ph type="sldNum" sz="quarter" idx="10"/>
          </p:nvPr>
        </p:nvSpPr>
        <p:spPr/>
        <p:txBody>
          <a:bodyPr/>
          <a:lstStyle>
            <a:lvl1pPr>
              <a:defRPr/>
            </a:lvl1pPr>
          </a:lstStyle>
          <a:p>
            <a:fld id="{2DBD0651-D3F1-4342-96A3-91A277E513D5}" type="slidenum">
              <a:rPr lang="en-US"/>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6"/>
          <p:cNvSpPr>
            <a:spLocks noGrp="1"/>
          </p:cNvSpPr>
          <p:nvPr>
            <p:ph type="sldNum" sz="quarter" idx="10"/>
          </p:nvPr>
        </p:nvSpPr>
        <p:spPr/>
        <p:txBody>
          <a:bodyPr/>
          <a:lstStyle>
            <a:lvl1pPr>
              <a:defRPr/>
            </a:lvl1pPr>
          </a:lstStyle>
          <a:p>
            <a:fld id="{3161440B-7611-49A9-BDFD-2326E7AD9D06}" type="slidenum">
              <a:rPr lang="en-US"/>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
          <p:cNvSpPr>
            <a:spLocks noGrp="1"/>
          </p:cNvSpPr>
          <p:nvPr>
            <p:ph type="sldNum" sz="quarter" idx="10"/>
          </p:nvPr>
        </p:nvSpPr>
        <p:spPr/>
        <p:txBody>
          <a:bodyPr/>
          <a:lstStyle>
            <a:lvl1pPr>
              <a:defRPr/>
            </a:lvl1pPr>
          </a:lstStyle>
          <a:p>
            <a:fld id="{19983701-0983-4A05-9FC5-4DF0AA8C6C01}" type="slidenum">
              <a:rPr lang="en-US"/>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BE37BEB4-4F29-4DA8-8E5B-FD577A70B154}" type="slidenum">
              <a:rPr lang="en-US"/>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a:lvl1pPr>
          </a:lstStyle>
          <a:p>
            <a:fld id="{305F595A-3B83-4E27-8DEF-1D4B9455CF1A}" type="slidenum">
              <a:rPr lang="en-US"/>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a:lvl1pPr>
          </a:lstStyle>
          <a:p>
            <a:fld id="{7005CF53-2724-4329-9310-9F9CF87A0E9A}" type="slidenum">
              <a:rPr lang="en-US"/>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a:lvl1pPr>
          </a:lstStyle>
          <a:p>
            <a:fld id="{31447A21-AD6C-4DC3-8AF1-CA3196787FC2}" type="slidenum">
              <a:rPr lang="en-US"/>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8450" y="0"/>
            <a:ext cx="2005013" cy="58594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0"/>
            <a:ext cx="5867400" cy="58594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a:lvl1pPr>
          </a:lstStyle>
          <a:p>
            <a:fld id="{9E27C75D-0237-47A0-884F-C455F95D9D80}" type="slidenum">
              <a:rPr lang="en-US"/>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vmlDrawing" Target="../drawings/vmlDrawing1.vml"/><Relationship Id="rId14" Type="http://schemas.openxmlformats.org/officeDocument/2006/relationships/oleObject" Target="../embeddings/oleObject1.bin"/><Relationship Id="rId15" Type="http://schemas.openxmlformats.org/officeDocument/2006/relationships/image" Target="../media/image1.png"/><Relationship Id="rId16" Type="http://schemas.openxmlformats.org/officeDocument/2006/relationships/image" Target="../media/image2.emf"/><Relationship Id="rId17"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50" name="Object 26"/>
          <p:cNvGraphicFramePr>
            <a:graphicFrameLocks noChangeAspect="1"/>
          </p:cNvGraphicFramePr>
          <p:nvPr/>
        </p:nvGraphicFramePr>
        <p:xfrm>
          <a:off x="0" y="0"/>
          <a:ext cx="8577263" cy="838200"/>
        </p:xfrm>
        <a:graphic>
          <a:graphicData uri="http://schemas.openxmlformats.org/presentationml/2006/ole">
            <mc:AlternateContent xmlns:mc="http://schemas.openxmlformats.org/markup-compatibility/2006">
              <mc:Choice xmlns:v="urn:schemas-microsoft-com:vml" Requires="v">
                <p:oleObj spid="_x0000_s1083" name="Image" r:id="rId14" imgW="16328980" imgH="1779033" progId="">
                  <p:embed/>
                </p:oleObj>
              </mc:Choice>
              <mc:Fallback>
                <p:oleObj name="Image" r:id="rId14" imgW="16328980" imgH="1779033" progId="">
                  <p:embed/>
                  <p:pic>
                    <p:nvPicPr>
                      <p:cNvPr id="0" name="Picture 4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8577263" cy="838200"/>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pic>
        <p:nvPicPr>
          <p:cNvPr id="1054" name="Picture 30"/>
          <p:cNvPicPr>
            <a:picLocks noChangeAspect="1" noChangeArrowheads="1"/>
          </p:cNvPicPr>
          <p:nvPr/>
        </p:nvPicPr>
        <p:blipFill>
          <a:blip r:embed="rId16" cstate="print"/>
          <a:srcRect/>
          <a:stretch>
            <a:fillRect/>
          </a:stretch>
        </p:blipFill>
        <p:spPr bwMode="auto">
          <a:xfrm>
            <a:off x="0" y="5981700"/>
            <a:ext cx="9185275" cy="898525"/>
          </a:xfrm>
          <a:prstGeom prst="rect">
            <a:avLst/>
          </a:prstGeom>
          <a:noFill/>
          <a:ln w="9525">
            <a:noFill/>
            <a:miter lim="800000"/>
            <a:headEnd/>
            <a:tailEnd/>
          </a:ln>
          <a:effectLst/>
        </p:spPr>
      </p:pic>
      <p:sp>
        <p:nvSpPr>
          <p:cNvPr id="1042" name="Rectangle 18"/>
          <p:cNvSpPr>
            <a:spLocks noGrp="1" noChangeArrowheads="1"/>
          </p:cNvSpPr>
          <p:nvPr>
            <p:ph type="body" idx="1"/>
          </p:nvPr>
        </p:nvSpPr>
        <p:spPr bwMode="auto">
          <a:xfrm>
            <a:off x="674688" y="933450"/>
            <a:ext cx="7978775" cy="49260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TEST STYLES</a:t>
            </a:r>
          </a:p>
          <a:p>
            <a:pPr lvl="0"/>
            <a:r>
              <a:rPr lang="en-US" smtClean="0"/>
              <a:t>Second level</a:t>
            </a:r>
          </a:p>
          <a:p>
            <a:pPr lvl="1"/>
            <a:r>
              <a:rPr lang="en-US" smtClean="0"/>
              <a:t>Third level</a:t>
            </a:r>
          </a:p>
          <a:p>
            <a:pPr lvl="2"/>
            <a:r>
              <a:rPr lang="en-US" smtClean="0"/>
              <a:t>Fourth level</a:t>
            </a:r>
          </a:p>
          <a:p>
            <a:pPr lvl="3"/>
            <a:r>
              <a:rPr lang="en-US" smtClean="0"/>
              <a:t>Fifth level</a:t>
            </a:r>
          </a:p>
        </p:txBody>
      </p:sp>
      <p:sp>
        <p:nvSpPr>
          <p:cNvPr id="1048" name="Rectangle 24"/>
          <p:cNvSpPr>
            <a:spLocks noGrp="1" noChangeArrowheads="1"/>
          </p:cNvSpPr>
          <p:nvPr>
            <p:ph type="title"/>
          </p:nvPr>
        </p:nvSpPr>
        <p:spPr bwMode="auto">
          <a:xfrm>
            <a:off x="628650" y="0"/>
            <a:ext cx="7696200" cy="7540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49" name="Rectangle 25"/>
          <p:cNvSpPr>
            <a:spLocks noGrp="1" noChangeArrowheads="1"/>
          </p:cNvSpPr>
          <p:nvPr>
            <p:ph type="sldNum" sz="quarter" idx="4"/>
          </p:nvPr>
        </p:nvSpPr>
        <p:spPr bwMode="auto">
          <a:xfrm>
            <a:off x="6586538" y="6237288"/>
            <a:ext cx="2055812" cy="412750"/>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bodyPr>
          <a:lstStyle>
            <a:lvl1pPr>
              <a:defRPr/>
            </a:lvl1pPr>
          </a:lstStyle>
          <a:p>
            <a:fld id="{D69A25D7-417D-49D0-922D-F18F4A97C30D}" type="slidenum">
              <a:rPr lang="en-US"/>
              <a:pPr/>
              <a:t>‹#›</a:t>
            </a:fld>
            <a:endParaRPr lang="en-US"/>
          </a:p>
        </p:txBody>
      </p:sp>
      <p:sp>
        <p:nvSpPr>
          <p:cNvPr id="1057" name="Rectangle 33"/>
          <p:cNvSpPr>
            <a:spLocks noChangeArrowheads="1"/>
          </p:cNvSpPr>
          <p:nvPr/>
        </p:nvSpPr>
        <p:spPr bwMode="auto">
          <a:xfrm>
            <a:off x="1631950" y="2838450"/>
            <a:ext cx="5880100" cy="1181100"/>
          </a:xfrm>
          <a:prstGeom prst="rect">
            <a:avLst/>
          </a:prstGeom>
          <a:noFill/>
          <a:ln w="9525">
            <a:noFill/>
            <a:miter lim="800000"/>
            <a:headEnd/>
            <a:tailEnd/>
          </a:ln>
        </p:spPr>
        <p:txBody>
          <a:bodyPr/>
          <a:lstStyle/>
          <a:p>
            <a:endParaRPr lang="en-US"/>
          </a:p>
        </p:txBody>
      </p:sp>
      <p:sp>
        <p:nvSpPr>
          <p:cNvPr id="1059" name="Rectangle 35"/>
          <p:cNvSpPr>
            <a:spLocks noChangeArrowheads="1"/>
          </p:cNvSpPr>
          <p:nvPr/>
        </p:nvSpPr>
        <p:spPr bwMode="auto">
          <a:xfrm>
            <a:off x="1631950" y="2838450"/>
            <a:ext cx="5880100" cy="1181100"/>
          </a:xfrm>
          <a:prstGeom prst="rect">
            <a:avLst/>
          </a:prstGeom>
          <a:noFill/>
          <a:ln w="0">
            <a:noFill/>
            <a:miter lim="800000"/>
            <a:headEnd/>
            <a:tailEnd/>
          </a:ln>
        </p:spPr>
        <p:txBody>
          <a:bodyPr/>
          <a:lstStyle/>
          <a:p>
            <a:endParaRPr lang="en-US"/>
          </a:p>
        </p:txBody>
      </p:sp>
      <p:pic>
        <p:nvPicPr>
          <p:cNvPr id="1061" name="Picture 37" descr="C:\Documents and Settings\newton\My Documents\My Documents\Humber Logo\Humber2ColRev.gif"/>
          <p:cNvPicPr>
            <a:picLocks noChangeAspect="1" noChangeArrowheads="1"/>
          </p:cNvPicPr>
          <p:nvPr/>
        </p:nvPicPr>
        <p:blipFill>
          <a:blip r:embed="rId17" cstate="print"/>
          <a:srcRect/>
          <a:stretch>
            <a:fillRect/>
          </a:stretch>
        </p:blipFill>
        <p:spPr bwMode="auto">
          <a:xfrm>
            <a:off x="144463" y="6203950"/>
            <a:ext cx="2174875" cy="436563"/>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xStyles>
    <p:titleStyle>
      <a:lvl1pPr algn="l" rtl="0" eaLnBrk="1" fontAlgn="base" hangingPunct="1">
        <a:spcBef>
          <a:spcPct val="0"/>
        </a:spcBef>
        <a:spcAft>
          <a:spcPct val="0"/>
        </a:spcAft>
        <a:defRPr sz="2800">
          <a:solidFill>
            <a:schemeClr val="tx1"/>
          </a:solidFill>
          <a:latin typeface="+mj-lt"/>
          <a:ea typeface="+mj-ea"/>
          <a:cs typeface="+mj-cs"/>
        </a:defRPr>
      </a:lvl1pPr>
      <a:lvl2pPr algn="l" rtl="0" eaLnBrk="1" fontAlgn="base" hangingPunct="1">
        <a:spcBef>
          <a:spcPct val="0"/>
        </a:spcBef>
        <a:spcAft>
          <a:spcPct val="0"/>
        </a:spcAft>
        <a:defRPr sz="2800">
          <a:solidFill>
            <a:schemeClr val="tx1"/>
          </a:solidFill>
          <a:latin typeface="Franklin Gothic Demi" pitchFamily="34" charset="0"/>
        </a:defRPr>
      </a:lvl2pPr>
      <a:lvl3pPr algn="l" rtl="0" eaLnBrk="1" fontAlgn="base" hangingPunct="1">
        <a:spcBef>
          <a:spcPct val="0"/>
        </a:spcBef>
        <a:spcAft>
          <a:spcPct val="0"/>
        </a:spcAft>
        <a:defRPr sz="2800">
          <a:solidFill>
            <a:schemeClr val="tx1"/>
          </a:solidFill>
          <a:latin typeface="Franklin Gothic Demi" pitchFamily="34" charset="0"/>
        </a:defRPr>
      </a:lvl3pPr>
      <a:lvl4pPr algn="l" rtl="0" eaLnBrk="1" fontAlgn="base" hangingPunct="1">
        <a:spcBef>
          <a:spcPct val="0"/>
        </a:spcBef>
        <a:spcAft>
          <a:spcPct val="0"/>
        </a:spcAft>
        <a:defRPr sz="2800">
          <a:solidFill>
            <a:schemeClr val="tx1"/>
          </a:solidFill>
          <a:latin typeface="Franklin Gothic Demi" pitchFamily="34" charset="0"/>
        </a:defRPr>
      </a:lvl4pPr>
      <a:lvl5pPr algn="l" rtl="0" eaLnBrk="1" fontAlgn="base" hangingPunct="1">
        <a:spcBef>
          <a:spcPct val="0"/>
        </a:spcBef>
        <a:spcAft>
          <a:spcPct val="0"/>
        </a:spcAft>
        <a:defRPr sz="2800">
          <a:solidFill>
            <a:schemeClr val="tx1"/>
          </a:solidFill>
          <a:latin typeface="Franklin Gothic Demi" pitchFamily="34" charset="0"/>
        </a:defRPr>
      </a:lvl5pPr>
      <a:lvl6pPr marL="457200" algn="l" rtl="0" eaLnBrk="1" fontAlgn="base" hangingPunct="1">
        <a:spcBef>
          <a:spcPct val="0"/>
        </a:spcBef>
        <a:spcAft>
          <a:spcPct val="0"/>
        </a:spcAft>
        <a:defRPr sz="2800">
          <a:solidFill>
            <a:schemeClr val="tx1"/>
          </a:solidFill>
          <a:latin typeface="Franklin Gothic Demi" pitchFamily="34" charset="0"/>
        </a:defRPr>
      </a:lvl6pPr>
      <a:lvl7pPr marL="914400" algn="l" rtl="0" eaLnBrk="1" fontAlgn="base" hangingPunct="1">
        <a:spcBef>
          <a:spcPct val="0"/>
        </a:spcBef>
        <a:spcAft>
          <a:spcPct val="0"/>
        </a:spcAft>
        <a:defRPr sz="2800">
          <a:solidFill>
            <a:schemeClr val="tx1"/>
          </a:solidFill>
          <a:latin typeface="Franklin Gothic Demi" pitchFamily="34" charset="0"/>
        </a:defRPr>
      </a:lvl7pPr>
      <a:lvl8pPr marL="1371600" algn="l" rtl="0" eaLnBrk="1" fontAlgn="base" hangingPunct="1">
        <a:spcBef>
          <a:spcPct val="0"/>
        </a:spcBef>
        <a:spcAft>
          <a:spcPct val="0"/>
        </a:spcAft>
        <a:defRPr sz="2800">
          <a:solidFill>
            <a:schemeClr val="tx1"/>
          </a:solidFill>
          <a:latin typeface="Franklin Gothic Demi" pitchFamily="34" charset="0"/>
        </a:defRPr>
      </a:lvl8pPr>
      <a:lvl9pPr marL="1828800" algn="l" rtl="0" eaLnBrk="1" fontAlgn="base" hangingPunct="1">
        <a:spcBef>
          <a:spcPct val="0"/>
        </a:spcBef>
        <a:spcAft>
          <a:spcPct val="0"/>
        </a:spcAft>
        <a:defRPr sz="2800">
          <a:solidFill>
            <a:schemeClr val="tx1"/>
          </a:solidFill>
          <a:latin typeface="Franklin Gothic Demi" pitchFamily="34" charset="0"/>
        </a:defRPr>
      </a:lvl9pPr>
    </p:titleStyle>
    <p:bodyStyle>
      <a:lvl1pPr marL="227013" indent="-227013" algn="l" rtl="0" eaLnBrk="1" fontAlgn="base" hangingPunct="1">
        <a:spcBef>
          <a:spcPct val="20000"/>
        </a:spcBef>
        <a:spcAft>
          <a:spcPct val="0"/>
        </a:spcAft>
        <a:defRPr sz="2400">
          <a:solidFill>
            <a:schemeClr val="tx1"/>
          </a:solidFill>
          <a:latin typeface="+mn-lt"/>
          <a:ea typeface="+mn-ea"/>
          <a:cs typeface="+mn-cs"/>
        </a:defRPr>
      </a:lvl1pPr>
      <a:lvl2pPr marL="627063" indent="-285750" algn="l" rtl="0" eaLnBrk="1" fontAlgn="base" hangingPunct="1">
        <a:spcBef>
          <a:spcPct val="20000"/>
        </a:spcBef>
        <a:spcAft>
          <a:spcPct val="0"/>
        </a:spcAft>
        <a:buChar char="–"/>
        <a:defRPr sz="20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chart" Target="../charts/char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35783"/>
            <a:ext cx="9143999" cy="2458217"/>
          </a:xfrm>
        </p:spPr>
        <p:txBody>
          <a:bodyPr>
            <a:noAutofit/>
          </a:bodyPr>
          <a:lstStyle/>
          <a:p>
            <a:r>
              <a:rPr lang="en-US" sz="4000" dirty="0" smtClean="0"/>
              <a:t>Language literacy impacts math literacy</a:t>
            </a:r>
            <a:endParaRPr lang="en-US" sz="4000" dirty="0"/>
          </a:p>
        </p:txBody>
      </p:sp>
      <p:sp>
        <p:nvSpPr>
          <p:cNvPr id="3" name="Subtitle 2"/>
          <p:cNvSpPr>
            <a:spLocks noGrp="1"/>
          </p:cNvSpPr>
          <p:nvPr>
            <p:ph type="subTitle" idx="1"/>
          </p:nvPr>
        </p:nvSpPr>
        <p:spPr>
          <a:xfrm>
            <a:off x="0" y="3168038"/>
            <a:ext cx="9144000" cy="3458716"/>
          </a:xfrm>
        </p:spPr>
        <p:txBody>
          <a:bodyPr>
            <a:normAutofit/>
          </a:bodyPr>
          <a:lstStyle/>
          <a:p>
            <a:r>
              <a:rPr lang="en-US" dirty="0"/>
              <a:t>Brett </a:t>
            </a:r>
            <a:r>
              <a:rPr lang="en-US" dirty="0" smtClean="0"/>
              <a:t>Reynolds, </a:t>
            </a:r>
            <a:r>
              <a:rPr lang="en-US" dirty="0" smtClean="0">
                <a:latin typeface="+mj-lt"/>
              </a:rPr>
              <a:t>Jean Choi, Rebecca </a:t>
            </a:r>
            <a:r>
              <a:rPr lang="en-US" dirty="0" smtClean="0">
                <a:latin typeface="+mj-lt"/>
              </a:rPr>
              <a:t>Milburn</a:t>
            </a:r>
          </a:p>
          <a:p>
            <a:r>
              <a:rPr lang="en-US" dirty="0" smtClean="0">
                <a:latin typeface="+mj-lt"/>
              </a:rPr>
              <a:t>Contact: brett.reynolds@humber.ca</a:t>
            </a:r>
            <a:endParaRPr lang="en-US" dirty="0" smtClean="0">
              <a:latin typeface="+mj-lt"/>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From an article in </a:t>
            </a:r>
            <a:r>
              <a:rPr lang="en-US" i="1" dirty="0" smtClean="0"/>
              <a:t>College Reading 3</a:t>
            </a:r>
            <a:endParaRPr lang="en-US" dirty="0"/>
          </a:p>
        </p:txBody>
      </p:sp>
      <p:sp>
        <p:nvSpPr>
          <p:cNvPr id="3" name="Content Placeholder 2"/>
          <p:cNvSpPr>
            <a:spLocks noGrp="1"/>
          </p:cNvSpPr>
          <p:nvPr>
            <p:ph idx="1"/>
          </p:nvPr>
        </p:nvSpPr>
        <p:spPr/>
        <p:txBody>
          <a:bodyPr/>
          <a:lstStyle/>
          <a:p>
            <a:pPr marL="342900" indent="-342900">
              <a:buFont typeface="Arial"/>
              <a:buChar char="•"/>
            </a:pPr>
            <a:r>
              <a:rPr lang="en-US" dirty="0" smtClean="0"/>
              <a:t>“</a:t>
            </a:r>
            <a:r>
              <a:rPr lang="en-US" dirty="0"/>
              <a:t>May 26, </a:t>
            </a:r>
            <a:r>
              <a:rPr lang="en-US" dirty="0" smtClean="0"/>
              <a:t>2002—Affluence </a:t>
            </a:r>
            <a:r>
              <a:rPr lang="en-US" dirty="0"/>
              <a:t>is now taking its toll on children’s health, with a new study in Delhi indicating that every 15</a:t>
            </a:r>
            <a:r>
              <a:rPr lang="en-US" baseline="30000" dirty="0"/>
              <a:t>th</a:t>
            </a:r>
            <a:r>
              <a:rPr lang="en-US" dirty="0"/>
              <a:t> school-going child in the high- or high-middle income group is obese.”</a:t>
            </a:r>
          </a:p>
          <a:p>
            <a:pPr lvl="1">
              <a:buFont typeface="Wingdings" charset="2"/>
              <a:buChar char="Ø"/>
            </a:pPr>
            <a:r>
              <a:rPr lang="en-US" dirty="0" smtClean="0"/>
              <a:t>1 ÷ 15 </a:t>
            </a:r>
            <a:r>
              <a:rPr lang="en-US" dirty="0"/>
              <a:t>= 6.67</a:t>
            </a:r>
            <a:r>
              <a:rPr lang="en-US" dirty="0" smtClean="0"/>
              <a:t>%</a:t>
            </a:r>
          </a:p>
          <a:p>
            <a:pPr marL="342900" lvl="0" indent="-342900">
              <a:buFont typeface="Arial"/>
              <a:buChar char="•"/>
            </a:pPr>
            <a:r>
              <a:rPr lang="en-US" dirty="0"/>
              <a:t>“The research, involving 870 children, was carried out in a public school of Delhi catering to the affluent segment of the population. It reported an overall prevalence of obesity as 7.4%.”</a:t>
            </a:r>
          </a:p>
          <a:p>
            <a:pPr lvl="1">
              <a:buFont typeface="Wingdings" charset="2"/>
              <a:buChar char="Ø"/>
            </a:pPr>
            <a:r>
              <a:rPr lang="en-US" dirty="0" smtClean="0"/>
              <a:t>1 ÷ 14 </a:t>
            </a:r>
            <a:r>
              <a:rPr lang="en-US" dirty="0"/>
              <a:t>= 7.14</a:t>
            </a:r>
            <a:r>
              <a:rPr lang="en-US" dirty="0" smtClean="0"/>
              <a:t>%</a:t>
            </a:r>
            <a:endParaRPr lang="en-US" dirty="0"/>
          </a:p>
          <a:p>
            <a:pPr lvl="1">
              <a:buFont typeface="Wingdings" charset="2"/>
              <a:buChar char="Ø"/>
            </a:pPr>
            <a:r>
              <a:rPr lang="en-US" dirty="0" smtClean="0"/>
              <a:t>1 ÷ 13 </a:t>
            </a:r>
            <a:r>
              <a:rPr lang="en-US" dirty="0"/>
              <a:t>= 7.70%</a:t>
            </a:r>
          </a:p>
          <a:p>
            <a:pPr lvl="1">
              <a:buFont typeface="Wingdings" charset="2"/>
              <a:buChar char="Ø"/>
            </a:pPr>
            <a:r>
              <a:rPr lang="en-US" dirty="0"/>
              <a:t>7.4% of 870 = 64 students</a:t>
            </a:r>
          </a:p>
          <a:p>
            <a:pPr marL="0" indent="0"/>
            <a:r>
              <a:rPr lang="en-US" dirty="0" smtClean="0">
                <a:solidFill>
                  <a:srgbClr val="FF0000"/>
                </a:solidFill>
              </a:rPr>
              <a:t>So, is it 1/15 (6.67%), or is it 7.4%?</a:t>
            </a:r>
            <a:endParaRPr lang="en-US" dirty="0">
              <a:solidFill>
                <a:srgbClr val="FF0000"/>
              </a:solidFill>
            </a:endParaRPr>
          </a:p>
          <a:p>
            <a:endParaRPr lang="en-US" dirty="0"/>
          </a:p>
        </p:txBody>
      </p:sp>
    </p:spTree>
    <p:extLst>
      <p:ext uri="{BB962C8B-B14F-4D97-AF65-F5344CB8AC3E}">
        <p14:creationId xmlns:p14="http://schemas.microsoft.com/office/powerpoint/2010/main" val="13149927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From an article in </a:t>
            </a:r>
            <a:r>
              <a:rPr lang="en-US" i="1" dirty="0" smtClean="0"/>
              <a:t>College Reading 3</a:t>
            </a:r>
            <a:endParaRPr lang="en-US" dirty="0"/>
          </a:p>
        </p:txBody>
      </p:sp>
      <p:sp>
        <p:nvSpPr>
          <p:cNvPr id="3" name="Content Placeholder 2"/>
          <p:cNvSpPr>
            <a:spLocks noGrp="1"/>
          </p:cNvSpPr>
          <p:nvPr>
            <p:ph idx="1"/>
          </p:nvPr>
        </p:nvSpPr>
        <p:spPr/>
        <p:txBody>
          <a:bodyPr/>
          <a:lstStyle/>
          <a:p>
            <a:pPr marL="342900" lvl="0" indent="-342900">
              <a:buFont typeface="Arial"/>
              <a:buChar char="•"/>
            </a:pPr>
            <a:r>
              <a:rPr lang="en-US" dirty="0" smtClean="0"/>
              <a:t>“</a:t>
            </a:r>
            <a:r>
              <a:rPr lang="en-US" dirty="0"/>
              <a:t>An earlier study in 1990 had reported an almost similar prevalence of obesity.</a:t>
            </a:r>
            <a:r>
              <a:rPr lang="en-US" dirty="0" smtClean="0"/>
              <a:t>”</a:t>
            </a:r>
          </a:p>
          <a:p>
            <a:pPr marL="0" lvl="0" indent="0"/>
            <a:endParaRPr lang="en-US" dirty="0"/>
          </a:p>
          <a:p>
            <a:pPr marL="1588" indent="-1588"/>
            <a:r>
              <a:rPr lang="en-US" dirty="0" smtClean="0">
                <a:solidFill>
                  <a:srgbClr val="FF0000"/>
                </a:solidFill>
              </a:rPr>
              <a:t>So is there a change (“</a:t>
            </a:r>
            <a:r>
              <a:rPr lang="en-US" dirty="0">
                <a:solidFill>
                  <a:srgbClr val="FF0000"/>
                </a:solidFill>
              </a:rPr>
              <a:t>Affluence is </a:t>
            </a:r>
            <a:r>
              <a:rPr lang="en-US" u="sng" dirty="0">
                <a:solidFill>
                  <a:srgbClr val="FF0000"/>
                </a:solidFill>
              </a:rPr>
              <a:t>now</a:t>
            </a:r>
            <a:r>
              <a:rPr lang="en-US" dirty="0">
                <a:solidFill>
                  <a:srgbClr val="FF0000"/>
                </a:solidFill>
              </a:rPr>
              <a:t> taking its </a:t>
            </a:r>
            <a:r>
              <a:rPr lang="en-US" dirty="0" smtClean="0">
                <a:solidFill>
                  <a:srgbClr val="FF0000"/>
                </a:solidFill>
              </a:rPr>
              <a:t>toll”) or not?</a:t>
            </a:r>
            <a:endParaRPr lang="en-US" dirty="0">
              <a:solidFill>
                <a:srgbClr val="FF0000"/>
              </a:solidFill>
            </a:endParaRPr>
          </a:p>
        </p:txBody>
      </p:sp>
    </p:spTree>
    <p:extLst>
      <p:ext uri="{BB962C8B-B14F-4D97-AF65-F5344CB8AC3E}">
        <p14:creationId xmlns:p14="http://schemas.microsoft.com/office/powerpoint/2010/main" val="38064871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From an article in </a:t>
            </a:r>
            <a:r>
              <a:rPr lang="en-US" i="1" dirty="0" smtClean="0"/>
              <a:t>College Reading 3</a:t>
            </a:r>
            <a:endParaRPr lang="en-US" dirty="0"/>
          </a:p>
        </p:txBody>
      </p:sp>
      <p:sp>
        <p:nvSpPr>
          <p:cNvPr id="3" name="Content Placeholder 2"/>
          <p:cNvSpPr>
            <a:spLocks noGrp="1"/>
          </p:cNvSpPr>
          <p:nvPr>
            <p:ph idx="1"/>
          </p:nvPr>
        </p:nvSpPr>
        <p:spPr/>
        <p:txBody>
          <a:bodyPr/>
          <a:lstStyle/>
          <a:p>
            <a:pPr marL="342900" indent="-342900">
              <a:buFont typeface="Arial"/>
              <a:buChar char="•"/>
            </a:pPr>
            <a:r>
              <a:rPr lang="en-US" dirty="0" smtClean="0"/>
              <a:t>“</a:t>
            </a:r>
            <a:r>
              <a:rPr lang="en-US" dirty="0"/>
              <a:t>Only 19 percent of the school children were found to be engaged in outdoor activities in our study, while 90 percent of the obese children did not engage in any outdoor activity at all.</a:t>
            </a:r>
            <a:r>
              <a:rPr lang="en-US" dirty="0" smtClean="0"/>
              <a:t>”</a:t>
            </a:r>
            <a:endParaRPr lang="en-US" dirty="0"/>
          </a:p>
          <a:p>
            <a:pPr lvl="1">
              <a:buFont typeface="Wingdings" charset="2"/>
              <a:buChar char="Ø"/>
            </a:pPr>
            <a:r>
              <a:rPr lang="en-US" dirty="0" smtClean="0"/>
              <a:t>20</a:t>
            </a:r>
            <a:r>
              <a:rPr lang="en-US" dirty="0"/>
              <a:t>% of non-obese students were engaged in outdoor activities, compared to 10% of obese students. </a:t>
            </a:r>
            <a:endParaRPr lang="en-US" dirty="0" smtClean="0"/>
          </a:p>
          <a:p>
            <a:pPr lvl="1">
              <a:buFont typeface="Wingdings" charset="2"/>
              <a:buChar char="Ø"/>
            </a:pPr>
            <a:r>
              <a:rPr lang="en-US" dirty="0" smtClean="0"/>
              <a:t>In </a:t>
            </a:r>
            <a:r>
              <a:rPr lang="en-US" dirty="0"/>
              <a:t>other words, </a:t>
            </a:r>
            <a:r>
              <a:rPr lang="en-US" dirty="0" smtClean="0"/>
              <a:t>if the obese students were like the others, we would expect about 12 </a:t>
            </a:r>
            <a:r>
              <a:rPr lang="en-US" dirty="0"/>
              <a:t>obese children </a:t>
            </a:r>
            <a:r>
              <a:rPr lang="en-US" dirty="0" smtClean="0"/>
              <a:t>in this group to </a:t>
            </a:r>
            <a:r>
              <a:rPr lang="en-US" dirty="0"/>
              <a:t>be </a:t>
            </a:r>
            <a:r>
              <a:rPr lang="en-US" dirty="0" smtClean="0"/>
              <a:t>engaged in outdoor activities, </a:t>
            </a:r>
            <a:r>
              <a:rPr lang="en-US" dirty="0"/>
              <a:t>but only 6 were</a:t>
            </a:r>
            <a:r>
              <a:rPr lang="en-US" dirty="0" smtClean="0"/>
              <a:t>.</a:t>
            </a:r>
          </a:p>
          <a:p>
            <a:pPr marL="341313" lvl="1" indent="0">
              <a:buNone/>
            </a:pPr>
            <a:endParaRPr lang="en-US" dirty="0" smtClean="0"/>
          </a:p>
          <a:p>
            <a:pPr marL="0" indent="-58737"/>
            <a:r>
              <a:rPr lang="en-US" dirty="0" smtClean="0">
                <a:solidFill>
                  <a:srgbClr val="FF0000"/>
                </a:solidFill>
              </a:rPr>
              <a:t>So, there does seem to be a difference, but which way is the causality?</a:t>
            </a:r>
            <a:endParaRPr lang="en-US" dirty="0">
              <a:solidFill>
                <a:srgbClr val="FF0000"/>
              </a:solidFill>
            </a:endParaRPr>
          </a:p>
          <a:p>
            <a:endParaRPr lang="en-US" dirty="0"/>
          </a:p>
        </p:txBody>
      </p:sp>
    </p:spTree>
    <p:extLst>
      <p:ext uri="{BB962C8B-B14F-4D97-AF65-F5344CB8AC3E}">
        <p14:creationId xmlns:p14="http://schemas.microsoft.com/office/powerpoint/2010/main" val="42930011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Visually</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07729814"/>
              </p:ext>
            </p:extLst>
          </p:nvPr>
        </p:nvGraphicFramePr>
        <p:xfrm>
          <a:off x="0" y="933450"/>
          <a:ext cx="4572001" cy="492601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ontent Placeholder 3"/>
          <p:cNvGraphicFramePr>
            <a:graphicFrameLocks/>
          </p:cNvGraphicFramePr>
          <p:nvPr>
            <p:extLst>
              <p:ext uri="{D42A27DB-BD31-4B8C-83A1-F6EECF244321}">
                <p14:modId xmlns:p14="http://schemas.microsoft.com/office/powerpoint/2010/main" val="1233434078"/>
              </p:ext>
            </p:extLst>
          </p:nvPr>
        </p:nvGraphicFramePr>
        <p:xfrm>
          <a:off x="4586110" y="933450"/>
          <a:ext cx="2652889" cy="492601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8606230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From an article in </a:t>
            </a:r>
            <a:r>
              <a:rPr lang="en-US" i="1" dirty="0" smtClean="0"/>
              <a:t>College Reading 3</a:t>
            </a:r>
            <a:endParaRPr lang="en-US" dirty="0"/>
          </a:p>
        </p:txBody>
      </p:sp>
      <p:sp>
        <p:nvSpPr>
          <p:cNvPr id="3" name="Content Placeholder 2"/>
          <p:cNvSpPr>
            <a:spLocks noGrp="1"/>
          </p:cNvSpPr>
          <p:nvPr>
            <p:ph idx="1"/>
          </p:nvPr>
        </p:nvSpPr>
        <p:spPr>
          <a:xfrm>
            <a:off x="674688" y="933450"/>
            <a:ext cx="7978775" cy="1366661"/>
          </a:xfrm>
        </p:spPr>
        <p:txBody>
          <a:bodyPr/>
          <a:lstStyle/>
          <a:p>
            <a:pPr marL="342900" lvl="0" indent="-342900">
              <a:buFont typeface="Arial"/>
              <a:buChar char="•"/>
            </a:pPr>
            <a:r>
              <a:rPr lang="en-US" dirty="0" smtClean="0"/>
              <a:t>Obesity </a:t>
            </a:r>
            <a:r>
              <a:rPr lang="en-US" dirty="0"/>
              <a:t>prevalence in youths aged 12-17 has increased dramatically </a:t>
            </a:r>
            <a:r>
              <a:rPr lang="en-US" u="sng" dirty="0"/>
              <a:t>from 5% to 13% </a:t>
            </a:r>
            <a:r>
              <a:rPr lang="en-US" dirty="0"/>
              <a:t>in boys between 1966-70 and 1988-91 in the USA</a:t>
            </a:r>
            <a:r>
              <a:rPr lang="en-US" dirty="0" smtClean="0"/>
              <a:t>.</a:t>
            </a:r>
            <a:endParaRPr lang="en-US" dirty="0"/>
          </a:p>
        </p:txBody>
      </p:sp>
      <p:graphicFrame>
        <p:nvGraphicFramePr>
          <p:cNvPr id="5" name="Chart 4"/>
          <p:cNvGraphicFramePr/>
          <p:nvPr>
            <p:extLst>
              <p:ext uri="{D42A27DB-BD31-4B8C-83A1-F6EECF244321}">
                <p14:modId xmlns:p14="http://schemas.microsoft.com/office/powerpoint/2010/main" val="3929660683"/>
              </p:ext>
            </p:extLst>
          </p:nvPr>
        </p:nvGraphicFramePr>
        <p:xfrm>
          <a:off x="1524000" y="2159000"/>
          <a:ext cx="6096000" cy="3302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472308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From an article in </a:t>
            </a:r>
            <a:r>
              <a:rPr lang="en-US" i="1" dirty="0" smtClean="0"/>
              <a:t>College Reading 3</a:t>
            </a:r>
            <a:endParaRPr lang="en-US" dirty="0"/>
          </a:p>
        </p:txBody>
      </p:sp>
      <p:sp>
        <p:nvSpPr>
          <p:cNvPr id="3" name="Content Placeholder 2"/>
          <p:cNvSpPr>
            <a:spLocks noGrp="1"/>
          </p:cNvSpPr>
          <p:nvPr>
            <p:ph idx="1"/>
          </p:nvPr>
        </p:nvSpPr>
        <p:spPr>
          <a:xfrm>
            <a:off x="674688" y="933450"/>
            <a:ext cx="7978775" cy="1366661"/>
          </a:xfrm>
        </p:spPr>
        <p:txBody>
          <a:bodyPr/>
          <a:lstStyle/>
          <a:p>
            <a:pPr marL="342900" lvl="0" indent="-342900">
              <a:buFont typeface="Arial"/>
              <a:buChar char="•"/>
            </a:pPr>
            <a:r>
              <a:rPr lang="en-US" dirty="0" smtClean="0"/>
              <a:t>Obesity </a:t>
            </a:r>
            <a:r>
              <a:rPr lang="en-US" dirty="0"/>
              <a:t>prevalence in youths aged 12-17 has increased dramatically </a:t>
            </a:r>
            <a:r>
              <a:rPr lang="en-US" u="sng" dirty="0"/>
              <a:t>from 5% to 13% </a:t>
            </a:r>
            <a:r>
              <a:rPr lang="en-US" dirty="0"/>
              <a:t>in boys between 1966-70 and 1988-91 in the USA</a:t>
            </a:r>
            <a:r>
              <a:rPr lang="en-US" dirty="0" smtClean="0"/>
              <a:t>.</a:t>
            </a:r>
            <a:endParaRPr lang="en-US" dirty="0"/>
          </a:p>
        </p:txBody>
      </p:sp>
      <p:graphicFrame>
        <p:nvGraphicFramePr>
          <p:cNvPr id="5" name="Chart 4"/>
          <p:cNvGraphicFramePr/>
          <p:nvPr>
            <p:extLst>
              <p:ext uri="{D42A27DB-BD31-4B8C-83A1-F6EECF244321}">
                <p14:modId xmlns:p14="http://schemas.microsoft.com/office/powerpoint/2010/main" val="207651356"/>
              </p:ext>
            </p:extLst>
          </p:nvPr>
        </p:nvGraphicFramePr>
        <p:xfrm>
          <a:off x="1524000" y="2159000"/>
          <a:ext cx="6096000" cy="3302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321792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From an article in </a:t>
            </a:r>
            <a:r>
              <a:rPr lang="en-US" i="1" dirty="0" smtClean="0"/>
              <a:t>College Reading 3</a:t>
            </a:r>
            <a:endParaRPr lang="en-US" dirty="0"/>
          </a:p>
        </p:txBody>
      </p:sp>
      <p:sp>
        <p:nvSpPr>
          <p:cNvPr id="3" name="Content Placeholder 2"/>
          <p:cNvSpPr>
            <a:spLocks noGrp="1"/>
          </p:cNvSpPr>
          <p:nvPr>
            <p:ph idx="1"/>
          </p:nvPr>
        </p:nvSpPr>
        <p:spPr>
          <a:xfrm>
            <a:off x="674688" y="933450"/>
            <a:ext cx="7978775" cy="1648883"/>
          </a:xfrm>
        </p:spPr>
        <p:txBody>
          <a:bodyPr/>
          <a:lstStyle/>
          <a:p>
            <a:pPr marL="342900" lvl="0" indent="-342900">
              <a:buFont typeface="Arial"/>
              <a:buChar char="•"/>
            </a:pPr>
            <a:r>
              <a:rPr lang="en-US" dirty="0" smtClean="0"/>
              <a:t>In </a:t>
            </a:r>
            <a:r>
              <a:rPr lang="en-US" dirty="0"/>
              <a:t>the late 60s, boys and girls experienced the same obesity rate, but since then obesity in girls rose </a:t>
            </a:r>
            <a:r>
              <a:rPr lang="en-US" u="sng" dirty="0"/>
              <a:t>by only 4</a:t>
            </a:r>
            <a:r>
              <a:rPr lang="en-US" u="sng" dirty="0" smtClean="0"/>
              <a:t> </a:t>
            </a:r>
            <a:r>
              <a:rPr lang="en-US" u="sng" dirty="0"/>
              <a:t>percentage points</a:t>
            </a:r>
            <a:r>
              <a:rPr lang="en-US" dirty="0"/>
              <a:t>.</a:t>
            </a:r>
          </a:p>
          <a:p>
            <a:pPr lvl="1">
              <a:buFont typeface="Wingdings" charset="2"/>
              <a:buChar char="Ø"/>
            </a:pPr>
            <a:r>
              <a:rPr lang="en-US" dirty="0"/>
              <a:t>It was 5% and now it’s 9%. That’s an increase of 80%</a:t>
            </a:r>
            <a:r>
              <a:rPr lang="en-US" dirty="0" smtClean="0"/>
              <a:t>.</a:t>
            </a:r>
            <a:endParaRPr lang="en-US" dirty="0"/>
          </a:p>
          <a:p>
            <a:pPr marL="0" indent="-58737"/>
            <a:endParaRPr lang="en-US" dirty="0" smtClean="0"/>
          </a:p>
        </p:txBody>
      </p:sp>
      <p:graphicFrame>
        <p:nvGraphicFramePr>
          <p:cNvPr id="4" name="Chart 3"/>
          <p:cNvGraphicFramePr/>
          <p:nvPr>
            <p:extLst>
              <p:ext uri="{D42A27DB-BD31-4B8C-83A1-F6EECF244321}">
                <p14:modId xmlns:p14="http://schemas.microsoft.com/office/powerpoint/2010/main" val="1957526042"/>
              </p:ext>
            </p:extLst>
          </p:nvPr>
        </p:nvGraphicFramePr>
        <p:xfrm>
          <a:off x="1524000" y="2568222"/>
          <a:ext cx="6096000" cy="289277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444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From an article in </a:t>
            </a:r>
            <a:r>
              <a:rPr lang="en-US" i="1" dirty="0" smtClean="0"/>
              <a:t>College Reading 3</a:t>
            </a:r>
            <a:endParaRPr lang="en-US" dirty="0"/>
          </a:p>
        </p:txBody>
      </p:sp>
      <p:sp>
        <p:nvSpPr>
          <p:cNvPr id="3" name="Content Placeholder 2"/>
          <p:cNvSpPr>
            <a:spLocks noGrp="1"/>
          </p:cNvSpPr>
          <p:nvPr>
            <p:ph idx="1"/>
          </p:nvPr>
        </p:nvSpPr>
        <p:spPr>
          <a:xfrm>
            <a:off x="674688" y="933451"/>
            <a:ext cx="7978775" cy="1705328"/>
          </a:xfrm>
        </p:spPr>
        <p:txBody>
          <a:bodyPr/>
          <a:lstStyle/>
          <a:p>
            <a:pPr marL="342900" lvl="0" indent="-342900">
              <a:buFont typeface="Arial"/>
              <a:buChar char="•"/>
            </a:pPr>
            <a:r>
              <a:rPr lang="en-US" dirty="0" smtClean="0"/>
              <a:t>“</a:t>
            </a:r>
            <a:r>
              <a:rPr lang="en-US" dirty="0"/>
              <a:t>In Thailand the prevalence of obesity in 5-to-12-year-old children rose </a:t>
            </a:r>
            <a:r>
              <a:rPr lang="en-US" u="sng" dirty="0"/>
              <a:t>28% to 15.6% </a:t>
            </a:r>
            <a:r>
              <a:rPr lang="en-US" dirty="0"/>
              <a:t>in just two years.</a:t>
            </a:r>
            <a:r>
              <a:rPr lang="en-US" dirty="0" smtClean="0"/>
              <a:t>”</a:t>
            </a:r>
            <a:endParaRPr lang="en-US" dirty="0"/>
          </a:p>
          <a:p>
            <a:pPr lvl="1">
              <a:buFont typeface="Wingdings" charset="2"/>
              <a:buChar char="Ø"/>
            </a:pPr>
            <a:r>
              <a:rPr lang="en-US" dirty="0" smtClean="0"/>
              <a:t>15.6 ÷ 1.28 = 12.2, so the start level was 12.2%</a:t>
            </a:r>
            <a:endParaRPr lang="en-US" dirty="0"/>
          </a:p>
          <a:p>
            <a:pPr lvl="1">
              <a:buFont typeface="Wingdings" charset="2"/>
              <a:buChar char="Ø"/>
            </a:pPr>
            <a:r>
              <a:rPr lang="en-US" dirty="0"/>
              <a:t>15.6 - 12.2 = </a:t>
            </a:r>
            <a:r>
              <a:rPr lang="en-US" dirty="0" smtClean="0"/>
              <a:t>3.4, so the increase was 3.4 percentage points.</a:t>
            </a:r>
            <a:endParaRPr lang="en-US" dirty="0"/>
          </a:p>
        </p:txBody>
      </p:sp>
      <p:graphicFrame>
        <p:nvGraphicFramePr>
          <p:cNvPr id="4" name="Chart 3"/>
          <p:cNvGraphicFramePr/>
          <p:nvPr>
            <p:extLst>
              <p:ext uri="{D42A27DB-BD31-4B8C-83A1-F6EECF244321}">
                <p14:modId xmlns:p14="http://schemas.microsoft.com/office/powerpoint/2010/main" val="3364362569"/>
              </p:ext>
            </p:extLst>
          </p:nvPr>
        </p:nvGraphicFramePr>
        <p:xfrm>
          <a:off x="1524000" y="2497668"/>
          <a:ext cx="6096000" cy="296333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272843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address math in EAP classes </a:t>
            </a:r>
            <a:endParaRPr lang="en-US" dirty="0"/>
          </a:p>
        </p:txBody>
      </p:sp>
      <p:sp>
        <p:nvSpPr>
          <p:cNvPr id="3" name="Content Placeholder 2"/>
          <p:cNvSpPr>
            <a:spLocks noGrp="1"/>
          </p:cNvSpPr>
          <p:nvPr>
            <p:ph idx="1"/>
          </p:nvPr>
        </p:nvSpPr>
        <p:spPr/>
        <p:txBody>
          <a:bodyPr/>
          <a:lstStyle/>
          <a:p>
            <a:r>
              <a:rPr lang="en-US" dirty="0" smtClean="0"/>
              <a:t>Share your ideas:</a:t>
            </a:r>
          </a:p>
          <a:p>
            <a:pPr marL="457200" indent="-457200">
              <a:buFont typeface="+mj-lt"/>
              <a:buAutoNum type="arabicPeriod"/>
            </a:pPr>
            <a:r>
              <a:rPr lang="en-US" dirty="0" smtClean="0"/>
              <a:t>Stand</a:t>
            </a:r>
          </a:p>
          <a:p>
            <a:pPr marL="457200" indent="-457200">
              <a:buFont typeface="+mj-lt"/>
              <a:buAutoNum type="arabicPeriod"/>
            </a:pPr>
            <a:r>
              <a:rPr lang="en-US" dirty="0" smtClean="0"/>
              <a:t>Find a small group</a:t>
            </a:r>
          </a:p>
          <a:p>
            <a:pPr marL="457200" indent="-457200">
              <a:buFont typeface="+mj-lt"/>
              <a:buAutoNum type="arabicPeriod"/>
            </a:pPr>
            <a:r>
              <a:rPr lang="en-US" dirty="0" smtClean="0"/>
              <a:t>Discuss</a:t>
            </a:r>
          </a:p>
          <a:p>
            <a:pPr marL="457200" indent="-457200">
              <a:buFont typeface="+mj-lt"/>
              <a:buAutoNum type="arabicPeriod"/>
            </a:pPr>
            <a:r>
              <a:rPr lang="en-US" dirty="0" smtClean="0"/>
              <a:t>Feel free to move groups at any time</a:t>
            </a:r>
          </a:p>
          <a:p>
            <a:pPr marL="457200" indent="-457200">
              <a:buFont typeface="+mj-lt"/>
              <a:buAutoNum type="arabicPeriod"/>
            </a:pPr>
            <a:r>
              <a:rPr lang="en-US" dirty="0" smtClean="0"/>
              <a:t>When you’re sick of this sit down</a:t>
            </a:r>
          </a:p>
          <a:p>
            <a:pPr marL="457200" indent="-457200">
              <a:buFont typeface="+mj-lt"/>
              <a:buAutoNum type="arabicPeriod"/>
            </a:pPr>
            <a:r>
              <a:rPr lang="en-US" dirty="0" smtClean="0"/>
              <a:t>When more than half of the group is sitting, I’ll move on.</a:t>
            </a:r>
            <a:endParaRPr lang="en-US" dirty="0"/>
          </a:p>
        </p:txBody>
      </p:sp>
    </p:spTree>
    <p:extLst>
      <p:ext uri="{BB962C8B-B14F-4D97-AF65-F5344CB8AC3E}">
        <p14:creationId xmlns:p14="http://schemas.microsoft.com/office/powerpoint/2010/main" val="9317181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address math in EAP classes </a:t>
            </a:r>
            <a:endParaRPr lang="en-US" dirty="0"/>
          </a:p>
        </p:txBody>
      </p:sp>
      <p:sp>
        <p:nvSpPr>
          <p:cNvPr id="3" name="Content Placeholder 2"/>
          <p:cNvSpPr>
            <a:spLocks noGrp="1"/>
          </p:cNvSpPr>
          <p:nvPr>
            <p:ph idx="1"/>
          </p:nvPr>
        </p:nvSpPr>
        <p:spPr/>
        <p:txBody>
          <a:bodyPr/>
          <a:lstStyle/>
          <a:p>
            <a:pPr marL="342900" indent="-342900">
              <a:buFont typeface="Arial"/>
              <a:buChar char="•"/>
            </a:pPr>
            <a:r>
              <a:rPr lang="en-US" dirty="0" smtClean="0"/>
              <a:t>Brush up your math</a:t>
            </a:r>
          </a:p>
          <a:p>
            <a:pPr marL="342900" indent="-342900">
              <a:buFont typeface="Arial"/>
              <a:buChar char="•"/>
            </a:pPr>
            <a:r>
              <a:rPr lang="en-US" dirty="0" smtClean="0"/>
              <a:t>Draw attention to numerical elements in readings</a:t>
            </a:r>
          </a:p>
          <a:p>
            <a:pPr marL="742950" lvl="1" indent="-342900">
              <a:buFont typeface="Arial"/>
              <a:buChar char="•"/>
            </a:pPr>
            <a:r>
              <a:rPr lang="en-US" dirty="0" smtClean="0"/>
              <a:t>Make sure the numbers follow through correctly</a:t>
            </a:r>
          </a:p>
          <a:p>
            <a:pPr marL="1258887" lvl="2" indent="-342900">
              <a:buFont typeface="Arial"/>
              <a:buChar char="•"/>
            </a:pPr>
            <a:r>
              <a:rPr lang="en-US" dirty="0" smtClean="0"/>
              <a:t>6.67</a:t>
            </a:r>
            <a:r>
              <a:rPr lang="en-US" dirty="0"/>
              <a:t>% or 7.4%</a:t>
            </a:r>
          </a:p>
          <a:p>
            <a:pPr marL="342900" indent="-342900">
              <a:buFont typeface="Arial"/>
              <a:buChar char="•"/>
            </a:pPr>
            <a:r>
              <a:rPr lang="en-US" dirty="0" smtClean="0"/>
              <a:t>Ask students to transform the math</a:t>
            </a:r>
          </a:p>
          <a:p>
            <a:pPr marL="742950" lvl="1" indent="-342900">
              <a:buFont typeface="Arial"/>
              <a:buChar char="•"/>
            </a:pPr>
            <a:r>
              <a:rPr lang="en-US" dirty="0"/>
              <a:t>Calculate</a:t>
            </a:r>
          </a:p>
          <a:p>
            <a:pPr marL="1258887" lvl="2" indent="-342900">
              <a:buFont typeface="Arial"/>
              <a:buChar char="•"/>
            </a:pPr>
            <a:r>
              <a:rPr lang="en-US" dirty="0"/>
              <a:t>1/15 = 6.67%</a:t>
            </a:r>
          </a:p>
          <a:p>
            <a:pPr marL="1258887" lvl="2" indent="-342900">
              <a:buFont typeface="Arial"/>
              <a:buChar char="•"/>
            </a:pPr>
            <a:r>
              <a:rPr lang="en-US" dirty="0"/>
              <a:t>7.4% of 870 students is 64 students (.074 × 870 = 64)</a:t>
            </a:r>
          </a:p>
          <a:p>
            <a:pPr marL="742950" lvl="1" indent="-342900">
              <a:buFont typeface="Arial"/>
              <a:buChar char="•"/>
            </a:pPr>
            <a:r>
              <a:rPr lang="en-US" dirty="0"/>
              <a:t>Draw graphs</a:t>
            </a:r>
          </a:p>
          <a:p>
            <a:pPr marL="742950" lvl="1" indent="-342900">
              <a:buFont typeface="Arial"/>
              <a:buChar char="•"/>
            </a:pPr>
            <a:r>
              <a:rPr lang="en-US" dirty="0" smtClean="0"/>
              <a:t>Paraphrase/rewrite</a:t>
            </a:r>
          </a:p>
          <a:p>
            <a:pPr marL="1258887" lvl="2" indent="-342900">
              <a:buFont typeface="Arial"/>
              <a:buChar char="•"/>
            </a:pPr>
            <a:r>
              <a:rPr lang="en-US" dirty="0"/>
              <a:t>20% of non-obese students were engaged in outdoor activities, compared to 10% of obese students</a:t>
            </a:r>
            <a:r>
              <a:rPr lang="en-US" dirty="0" smtClean="0"/>
              <a:t>.</a:t>
            </a:r>
            <a:endParaRPr lang="en-US" dirty="0"/>
          </a:p>
        </p:txBody>
      </p:sp>
      <p:sp>
        <p:nvSpPr>
          <p:cNvPr id="4" name="TextBox 3"/>
          <p:cNvSpPr txBox="1"/>
          <p:nvPr/>
        </p:nvSpPr>
        <p:spPr>
          <a:xfrm>
            <a:off x="1580444" y="409222"/>
            <a:ext cx="184666" cy="307777"/>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1576482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Collaborating with math teachers</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en-US" dirty="0"/>
              <a:t>Shared values and goals. Team members create a focus for the team, with the goal of improving student learning</a:t>
            </a:r>
            <a:r>
              <a:rPr lang="en-US" dirty="0" smtClean="0"/>
              <a:t>.</a:t>
            </a:r>
            <a:endParaRPr lang="en-US" dirty="0"/>
          </a:p>
          <a:p>
            <a:pPr marL="457200" indent="-457200">
              <a:buFont typeface="+mj-lt"/>
              <a:buAutoNum type="arabicPeriod"/>
            </a:pPr>
            <a:r>
              <a:rPr lang="en-US" dirty="0" smtClean="0"/>
              <a:t>Collective </a:t>
            </a:r>
            <a:r>
              <a:rPr lang="en-US" dirty="0"/>
              <a:t>responsibility. Team members contribute their expertise and are held accountable for improved student learning</a:t>
            </a:r>
            <a:r>
              <a:rPr lang="en-US" dirty="0" smtClean="0"/>
              <a:t>.</a:t>
            </a:r>
            <a:endParaRPr lang="en-US" dirty="0"/>
          </a:p>
          <a:p>
            <a:pPr marL="457200" indent="-457200">
              <a:buFont typeface="+mj-lt"/>
              <a:buAutoNum type="arabicPeriod"/>
            </a:pPr>
            <a:r>
              <a:rPr lang="en-US" dirty="0" smtClean="0"/>
              <a:t>Authentic </a:t>
            </a:r>
            <a:r>
              <a:rPr lang="en-US" dirty="0"/>
              <a:t>assessment. Team members use student work and other assessments to evaluate student learning and teaching effectiveness in a timely manner</a:t>
            </a:r>
            <a:r>
              <a:rPr lang="en-US" dirty="0" smtClean="0"/>
              <a:t>.</a:t>
            </a:r>
            <a:endParaRPr lang="en-US" dirty="0"/>
          </a:p>
        </p:txBody>
      </p:sp>
    </p:spTree>
    <p:extLst>
      <p:ext uri="{BB962C8B-B14F-4D97-AF65-F5344CB8AC3E}">
        <p14:creationId xmlns:p14="http://schemas.microsoft.com/office/powerpoint/2010/main" val="2773462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Collaborating with math teachers</a:t>
            </a:r>
            <a:endParaRPr lang="en-US" dirty="0"/>
          </a:p>
        </p:txBody>
      </p:sp>
      <p:sp>
        <p:nvSpPr>
          <p:cNvPr id="3" name="Content Placeholder 2"/>
          <p:cNvSpPr>
            <a:spLocks noGrp="1"/>
          </p:cNvSpPr>
          <p:nvPr>
            <p:ph idx="1"/>
          </p:nvPr>
        </p:nvSpPr>
        <p:spPr/>
        <p:txBody>
          <a:bodyPr/>
          <a:lstStyle/>
          <a:p>
            <a:pPr marL="457200" indent="-457200">
              <a:buFont typeface="+mj-lt"/>
              <a:buAutoNum type="arabicPeriod" startAt="4"/>
            </a:pPr>
            <a:r>
              <a:rPr lang="en-US" dirty="0" smtClean="0"/>
              <a:t>Self</a:t>
            </a:r>
            <a:r>
              <a:rPr lang="en-US" dirty="0"/>
              <a:t>-directed reﬂection. The team engages in a cycle of inquiry that enables members to evaluate their progress in setting, meeting, and evaluating goals</a:t>
            </a:r>
            <a:r>
              <a:rPr lang="en-US" dirty="0" smtClean="0"/>
              <a:t>.</a:t>
            </a:r>
            <a:endParaRPr lang="en-US" dirty="0"/>
          </a:p>
          <a:p>
            <a:pPr marL="457200" indent="-457200">
              <a:buFont typeface="+mj-lt"/>
              <a:buAutoNum type="arabicPeriod" startAt="4"/>
            </a:pPr>
            <a:r>
              <a:rPr lang="en-US" dirty="0" smtClean="0"/>
              <a:t>Stable </a:t>
            </a:r>
            <a:r>
              <a:rPr lang="en-US" dirty="0"/>
              <a:t>settings. The team designates a time and place to meet regularly</a:t>
            </a:r>
            <a:r>
              <a:rPr lang="en-US" dirty="0" smtClean="0"/>
              <a:t>.</a:t>
            </a:r>
            <a:endParaRPr lang="en-US" dirty="0"/>
          </a:p>
          <a:p>
            <a:pPr marL="457200" indent="-457200">
              <a:buFont typeface="+mj-lt"/>
              <a:buAutoNum type="arabicPeriod" startAt="4"/>
            </a:pPr>
            <a:r>
              <a:rPr lang="en-US" dirty="0" smtClean="0"/>
              <a:t>Strong </a:t>
            </a:r>
            <a:r>
              <a:rPr lang="en-US" dirty="0"/>
              <a:t>leadership support. School personnel are actively involved in leadership roles to support the team’s efforts</a:t>
            </a:r>
            <a:r>
              <a:rPr lang="en-US" dirty="0" smtClean="0"/>
              <a:t>.</a:t>
            </a:r>
          </a:p>
          <a:p>
            <a:pPr algn="r"/>
            <a:r>
              <a:rPr lang="en-US" dirty="0" smtClean="0"/>
              <a:t>-Carroll</a:t>
            </a:r>
            <a:r>
              <a:rPr lang="en-US" dirty="0"/>
              <a:t>, Fulton &amp; </a:t>
            </a:r>
            <a:r>
              <a:rPr lang="en-US" dirty="0" err="1"/>
              <a:t>Doerr</a:t>
            </a:r>
            <a:r>
              <a:rPr lang="en-US" dirty="0"/>
              <a:t> (2010) </a:t>
            </a:r>
          </a:p>
        </p:txBody>
      </p:sp>
    </p:spTree>
    <p:extLst>
      <p:ext uri="{BB962C8B-B14F-4D97-AF65-F5344CB8AC3E}">
        <p14:creationId xmlns:p14="http://schemas.microsoft.com/office/powerpoint/2010/main" val="2773462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Collaborating with math teachers</a:t>
            </a:r>
            <a:endParaRPr lang="en-US" dirty="0"/>
          </a:p>
        </p:txBody>
      </p:sp>
      <p:sp>
        <p:nvSpPr>
          <p:cNvPr id="3" name="Content Placeholder 2"/>
          <p:cNvSpPr>
            <a:spLocks noGrp="1"/>
          </p:cNvSpPr>
          <p:nvPr>
            <p:ph idx="1"/>
          </p:nvPr>
        </p:nvSpPr>
        <p:spPr/>
        <p:txBody>
          <a:bodyPr/>
          <a:lstStyle/>
          <a:p>
            <a:pPr marL="457200" indent="-457200">
              <a:buAutoNum type="arabicPeriod"/>
            </a:pPr>
            <a:r>
              <a:rPr lang="en-US" dirty="0" smtClean="0"/>
              <a:t>Staffing policies</a:t>
            </a:r>
          </a:p>
          <a:p>
            <a:pPr marL="857250" lvl="1" indent="-457200">
              <a:buAutoNum type="arabicPeriod"/>
            </a:pPr>
            <a:r>
              <a:rPr lang="en-US" dirty="0" smtClean="0"/>
              <a:t>Providing</a:t>
            </a:r>
            <a:r>
              <a:rPr lang="en-US" dirty="0"/>
              <a:t> structured, stable time and space for teacher </a:t>
            </a:r>
            <a:r>
              <a:rPr lang="en-US" dirty="0" smtClean="0"/>
              <a:t>teamwork</a:t>
            </a:r>
            <a:r>
              <a:rPr lang="en-US" dirty="0"/>
              <a:t> </a:t>
            </a:r>
            <a:endParaRPr lang="en-US" dirty="0" smtClean="0"/>
          </a:p>
          <a:p>
            <a:pPr marL="857250" lvl="1" indent="-457200">
              <a:buAutoNum type="arabicPeriod"/>
            </a:pPr>
            <a:r>
              <a:rPr lang="en-US" dirty="0" smtClean="0"/>
              <a:t>Providing </a:t>
            </a:r>
            <a:r>
              <a:rPr lang="en-US" dirty="0"/>
              <a:t>embedded professional </a:t>
            </a:r>
            <a:r>
              <a:rPr lang="en-US" dirty="0" smtClean="0"/>
              <a:t>development time</a:t>
            </a:r>
          </a:p>
          <a:p>
            <a:pPr marL="857250" lvl="1" indent="-457200">
              <a:buAutoNum type="arabicPeriod"/>
            </a:pPr>
            <a:r>
              <a:rPr lang="en-US" dirty="0" smtClean="0"/>
              <a:t>Creating </a:t>
            </a:r>
            <a:r>
              <a:rPr lang="en-US" dirty="0"/>
              <a:t>incentives that </a:t>
            </a:r>
            <a:r>
              <a:rPr lang="en-US" dirty="0" smtClean="0"/>
              <a:t>valued</a:t>
            </a:r>
            <a:r>
              <a:rPr lang="en-US" dirty="0"/>
              <a:t> </a:t>
            </a:r>
            <a:r>
              <a:rPr lang="en-US" dirty="0" smtClean="0"/>
              <a:t>collaboration</a:t>
            </a:r>
          </a:p>
          <a:p>
            <a:pPr marL="857250" lvl="1" indent="-457200">
              <a:buAutoNum type="arabicPeriod"/>
            </a:pPr>
            <a:r>
              <a:rPr lang="en-US" dirty="0" smtClean="0"/>
              <a:t>Creating new roles for teachers as trained collaboration facilitators</a:t>
            </a:r>
          </a:p>
          <a:p>
            <a:pPr marL="457200" indent="-457200">
              <a:buFont typeface="+mj-lt"/>
              <a:buAutoNum type="arabicPeriod" startAt="2"/>
            </a:pPr>
            <a:r>
              <a:rPr lang="en-US" dirty="0"/>
              <a:t>Policies that engage principals and other school leaders</a:t>
            </a:r>
          </a:p>
          <a:p>
            <a:pPr marL="457200" indent="-457200">
              <a:buFont typeface="+mj-lt"/>
              <a:buAutoNum type="arabicPeriod" startAt="2"/>
            </a:pPr>
            <a:r>
              <a:rPr lang="en-US" dirty="0"/>
              <a:t>Policies that promote and support the use of online professional </a:t>
            </a:r>
            <a:r>
              <a:rPr lang="en-US" dirty="0" smtClean="0"/>
              <a:t>networking tools</a:t>
            </a:r>
            <a:endParaRPr lang="en-US" dirty="0"/>
          </a:p>
          <a:p>
            <a:pPr algn="r"/>
            <a:r>
              <a:rPr lang="en-US" dirty="0"/>
              <a:t>-Fulton &amp; Britton </a:t>
            </a:r>
            <a:r>
              <a:rPr lang="en-US" dirty="0" smtClean="0"/>
              <a:t>(2011)</a:t>
            </a:r>
            <a:endParaRPr lang="en-US" dirty="0"/>
          </a:p>
        </p:txBody>
      </p:sp>
    </p:spTree>
    <p:extLst>
      <p:ext uri="{BB962C8B-B14F-4D97-AF65-F5344CB8AC3E}">
        <p14:creationId xmlns:p14="http://schemas.microsoft.com/office/powerpoint/2010/main" val="7813473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Collaborating with math teachers</a:t>
            </a:r>
            <a:endParaRPr lang="en-US" dirty="0"/>
          </a:p>
        </p:txBody>
      </p:sp>
      <p:sp>
        <p:nvSpPr>
          <p:cNvPr id="3" name="Content Placeholder 2"/>
          <p:cNvSpPr>
            <a:spLocks noGrp="1"/>
          </p:cNvSpPr>
          <p:nvPr>
            <p:ph idx="1"/>
          </p:nvPr>
        </p:nvSpPr>
        <p:spPr/>
        <p:txBody>
          <a:bodyPr/>
          <a:lstStyle/>
          <a:p>
            <a:r>
              <a:rPr lang="en-US" dirty="0" smtClean="0"/>
              <a:t>Share your ideas</a:t>
            </a:r>
            <a:endParaRPr lang="en-US" dirty="0"/>
          </a:p>
        </p:txBody>
      </p:sp>
    </p:spTree>
    <p:extLst>
      <p:ext uri="{BB962C8B-B14F-4D97-AF65-F5344CB8AC3E}">
        <p14:creationId xmlns:p14="http://schemas.microsoft.com/office/powerpoint/2010/main" val="7813473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9144000" cy="842962"/>
          </a:xfrm>
        </p:spPr>
        <p:txBody>
          <a:bodyPr>
            <a:normAutofit/>
          </a:bodyPr>
          <a:lstStyle/>
          <a:p>
            <a:r>
              <a:rPr lang="en-US" sz="3600" dirty="0" smtClean="0"/>
              <a:t>Sample Questions</a:t>
            </a:r>
            <a:endParaRPr lang="en-US" sz="3600" dirty="0"/>
          </a:p>
        </p:txBody>
      </p:sp>
      <p:sp>
        <p:nvSpPr>
          <p:cNvPr id="7" name="Content Placeholder 6"/>
          <p:cNvSpPr>
            <a:spLocks noGrp="1"/>
          </p:cNvSpPr>
          <p:nvPr>
            <p:ph idx="1"/>
          </p:nvPr>
        </p:nvSpPr>
        <p:spPr>
          <a:xfrm>
            <a:off x="112889" y="631079"/>
            <a:ext cx="9144000" cy="5217096"/>
          </a:xfrm>
        </p:spPr>
        <p:txBody>
          <a:bodyPr/>
          <a:lstStyle/>
          <a:p>
            <a:r>
              <a:rPr lang="en-US" dirty="0" smtClean="0"/>
              <a:t>____________________________________________________</a:t>
            </a:r>
          </a:p>
          <a:p>
            <a:r>
              <a:rPr lang="en-US" dirty="0" smtClean="0"/>
              <a:t>Language Context			Example Item</a:t>
            </a:r>
          </a:p>
          <a:p>
            <a:r>
              <a:rPr lang="en-US" dirty="0" smtClean="0"/>
              <a:t>____________________________________________________</a:t>
            </a:r>
          </a:p>
          <a:p>
            <a:r>
              <a:rPr lang="en-US" sz="2000" dirty="0" smtClean="0">
                <a:solidFill>
                  <a:srgbClr val="FF0000"/>
                </a:solidFill>
              </a:rPr>
              <a:t>Prepositions</a:t>
            </a:r>
            <a:r>
              <a:rPr lang="en-US" sz="2000" dirty="0" smtClean="0"/>
              <a:t>		Pierre’s bill for 2008 was $879.</a:t>
            </a:r>
          </a:p>
          <a:p>
            <a:r>
              <a:rPr lang="en-US" sz="2000" dirty="0" smtClean="0"/>
              <a:t>				How much did he pay in 2009, if it increased</a:t>
            </a:r>
            <a:r>
              <a:rPr lang="en-US" sz="2000" dirty="0" smtClean="0">
                <a:solidFill>
                  <a:srgbClr val="BFA000"/>
                </a:solidFill>
              </a:rPr>
              <a:t> </a:t>
            </a:r>
            <a:r>
              <a:rPr lang="en-US" sz="2000" i="1" dirty="0" smtClean="0">
                <a:solidFill>
                  <a:srgbClr val="BFA000"/>
                </a:solidFill>
              </a:rPr>
              <a:t>by</a:t>
            </a:r>
            <a:r>
              <a:rPr lang="en-US" sz="2000" dirty="0" smtClean="0">
                <a:solidFill>
                  <a:srgbClr val="BFA000"/>
                </a:solidFill>
              </a:rPr>
              <a:t> </a:t>
            </a:r>
            <a:r>
              <a:rPr lang="en-US" sz="2000" dirty="0" smtClean="0"/>
              <a:t>$190?</a:t>
            </a:r>
          </a:p>
          <a:p>
            <a:endParaRPr lang="en-US" sz="2000" dirty="0" smtClean="0"/>
          </a:p>
          <a:p>
            <a:r>
              <a:rPr lang="en-US" sz="2000" dirty="0" smtClean="0">
                <a:solidFill>
                  <a:srgbClr val="FF0000"/>
                </a:solidFill>
              </a:rPr>
              <a:t>Terminology</a:t>
            </a:r>
            <a:r>
              <a:rPr lang="en-US" sz="2000" dirty="0" smtClean="0"/>
              <a:t>		Change 3.55 to an </a:t>
            </a:r>
            <a:r>
              <a:rPr lang="en-US" sz="2000" i="1" dirty="0" smtClean="0">
                <a:solidFill>
                  <a:srgbClr val="BFA000"/>
                </a:solidFill>
              </a:rPr>
              <a:t>equivalent</a:t>
            </a:r>
            <a:r>
              <a:rPr lang="en-US" sz="2000" dirty="0" smtClean="0"/>
              <a:t> fraction</a:t>
            </a:r>
          </a:p>
          <a:p>
            <a:endParaRPr lang="en-US" sz="2000" dirty="0" smtClean="0"/>
          </a:p>
          <a:p>
            <a:r>
              <a:rPr lang="en-US" sz="2000" dirty="0" smtClean="0">
                <a:solidFill>
                  <a:srgbClr val="FF0000"/>
                </a:solidFill>
              </a:rPr>
              <a:t>Negation</a:t>
            </a:r>
            <a:r>
              <a:rPr lang="en-US" sz="2000" dirty="0" smtClean="0"/>
              <a:t>		Which of the following </a:t>
            </a:r>
            <a:r>
              <a:rPr lang="en-US" sz="2000" i="1" dirty="0" smtClean="0">
                <a:solidFill>
                  <a:srgbClr val="BFA000"/>
                </a:solidFill>
              </a:rPr>
              <a:t>does not</a:t>
            </a:r>
            <a:r>
              <a:rPr lang="en-US" sz="2000" dirty="0" smtClean="0">
                <a:solidFill>
                  <a:srgbClr val="BFA000"/>
                </a:solidFill>
              </a:rPr>
              <a:t> </a:t>
            </a:r>
            <a:r>
              <a:rPr lang="en-US" sz="2000" i="1" dirty="0" smtClean="0">
                <a:solidFill>
                  <a:srgbClr val="000000"/>
                </a:solidFill>
              </a:rPr>
              <a:t>equal</a:t>
            </a:r>
            <a:r>
              <a:rPr lang="en-US" sz="2000" dirty="0" smtClean="0">
                <a:solidFill>
                  <a:srgbClr val="BFA000"/>
                </a:solidFill>
              </a:rPr>
              <a:t> </a:t>
            </a:r>
            <a:r>
              <a:rPr lang="en-US" sz="2000" dirty="0" smtClean="0"/>
              <a:t>35% of X?</a:t>
            </a:r>
          </a:p>
          <a:p>
            <a:endParaRPr lang="en-US" sz="2000" dirty="0" smtClean="0"/>
          </a:p>
          <a:p>
            <a:r>
              <a:rPr lang="en-US" sz="2000" dirty="0" smtClean="0">
                <a:solidFill>
                  <a:srgbClr val="FF0000"/>
                </a:solidFill>
              </a:rPr>
              <a:t>Atypical Sentence </a:t>
            </a:r>
            <a:r>
              <a:rPr lang="en-US" sz="2000" dirty="0" smtClean="0"/>
              <a:t>	32 is 40 percent </a:t>
            </a:r>
            <a:r>
              <a:rPr lang="en-US" sz="2000" i="1" dirty="0" smtClean="0">
                <a:solidFill>
                  <a:srgbClr val="BFA000"/>
                </a:solidFill>
              </a:rPr>
              <a:t>of what number</a:t>
            </a:r>
            <a:r>
              <a:rPr lang="en-US" sz="2000" dirty="0" smtClean="0"/>
              <a:t>?</a:t>
            </a:r>
          </a:p>
          <a:p>
            <a:r>
              <a:rPr lang="en-US" sz="2000" dirty="0" smtClean="0">
                <a:solidFill>
                  <a:srgbClr val="FF0000"/>
                </a:solidFill>
              </a:rPr>
              <a:t>Structure</a:t>
            </a:r>
          </a:p>
          <a:p>
            <a:endParaRPr lang="en-US" sz="2000" dirty="0" smtClean="0">
              <a:solidFill>
                <a:srgbClr val="FF0000"/>
              </a:solidFill>
            </a:endParaRPr>
          </a:p>
          <a:p>
            <a:r>
              <a:rPr lang="en-US" sz="2000" dirty="0" smtClean="0">
                <a:solidFill>
                  <a:srgbClr val="FF0000"/>
                </a:solidFill>
              </a:rPr>
              <a:t>Minimal Language</a:t>
            </a:r>
            <a:r>
              <a:rPr lang="en-US" sz="2000" dirty="0" smtClean="0"/>
              <a:t>	Solve 12 ¾ ÷ 3 ½</a:t>
            </a:r>
          </a:p>
          <a:p>
            <a:endParaRPr lang="en-US" sz="2000" dirty="0" smtClean="0"/>
          </a:p>
          <a:p>
            <a:endParaRPr lang="en-US" sz="2000" dirty="0" smtClean="0"/>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xEl>
                                              <p:pRg st="10" end="1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language issues impinge on math results?</a:t>
            </a:r>
            <a:endParaRPr lang="en-US" dirty="0"/>
          </a:p>
        </p:txBody>
      </p:sp>
      <p:sp>
        <p:nvSpPr>
          <p:cNvPr id="3" name="Content Placeholder 2"/>
          <p:cNvSpPr>
            <a:spLocks noGrp="1"/>
          </p:cNvSpPr>
          <p:nvPr>
            <p:ph idx="1"/>
          </p:nvPr>
        </p:nvSpPr>
        <p:spPr/>
        <p:txBody>
          <a:bodyPr/>
          <a:lstStyle/>
          <a:p>
            <a:r>
              <a:rPr lang="en-US" dirty="0" smtClean="0"/>
              <a:t>Share your ideas</a:t>
            </a:r>
            <a:endParaRPr lang="en-US" dirty="0"/>
          </a:p>
        </p:txBody>
      </p:sp>
    </p:spTree>
    <p:extLst>
      <p:ext uri="{BB962C8B-B14F-4D97-AF65-F5344CB8AC3E}">
        <p14:creationId xmlns:p14="http://schemas.microsoft.com/office/powerpoint/2010/main" val="33402809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Methodology</a:t>
            </a:r>
            <a:endParaRPr lang="en-US" sz="3600" dirty="0"/>
          </a:p>
        </p:txBody>
      </p:sp>
      <p:sp>
        <p:nvSpPr>
          <p:cNvPr id="3" name="Content Placeholder 2"/>
          <p:cNvSpPr>
            <a:spLocks noGrp="1"/>
          </p:cNvSpPr>
          <p:nvPr>
            <p:ph idx="1"/>
          </p:nvPr>
        </p:nvSpPr>
        <p:spPr>
          <a:xfrm>
            <a:off x="383823" y="956027"/>
            <a:ext cx="8082844" cy="4926013"/>
          </a:xfrm>
        </p:spPr>
        <p:txBody>
          <a:bodyPr/>
          <a:lstStyle/>
          <a:p>
            <a:pPr>
              <a:buFont typeface="Arial"/>
              <a:buChar char="•"/>
            </a:pPr>
            <a:r>
              <a:rPr lang="en-US" dirty="0" smtClean="0"/>
              <a:t>60 students enrolled in mathematics courses at Humber</a:t>
            </a:r>
          </a:p>
          <a:p>
            <a:pPr lvl="1">
              <a:buFont typeface="Arial"/>
              <a:buChar char="•"/>
            </a:pPr>
            <a:r>
              <a:rPr lang="en-US" dirty="0" smtClean="0"/>
              <a:t>28 English Language Learners</a:t>
            </a:r>
          </a:p>
          <a:p>
            <a:pPr lvl="1">
              <a:buFont typeface="Arial"/>
              <a:buChar char="•"/>
            </a:pPr>
            <a:r>
              <a:rPr lang="en-US" dirty="0" smtClean="0"/>
              <a:t>32 Non – English Language Learners</a:t>
            </a:r>
          </a:p>
          <a:p>
            <a:pPr>
              <a:buFont typeface="Arial"/>
              <a:buChar char="•"/>
            </a:pPr>
            <a:r>
              <a:rPr lang="en-US" dirty="0" smtClean="0"/>
              <a:t>Math items in multiple-choice format, within 5 language contexts</a:t>
            </a:r>
            <a:endParaRPr lang="en-US" dirty="0"/>
          </a:p>
        </p:txBody>
      </p:sp>
      <p:pic>
        <p:nvPicPr>
          <p:cNvPr id="4" name="Picture 3" descr="teach-word-problems-math-800x800.jpg"/>
          <p:cNvPicPr>
            <a:picLocks noChangeAspect="1"/>
          </p:cNvPicPr>
          <p:nvPr/>
        </p:nvPicPr>
        <p:blipFill>
          <a:blip r:embed="rId3"/>
          <a:stretch>
            <a:fillRect/>
          </a:stretch>
        </p:blipFill>
        <p:spPr>
          <a:xfrm>
            <a:off x="2641600" y="2859012"/>
            <a:ext cx="3903418" cy="292756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9144000" cy="842962"/>
          </a:xfrm>
        </p:spPr>
        <p:txBody>
          <a:bodyPr>
            <a:normAutofit/>
          </a:bodyPr>
          <a:lstStyle/>
          <a:p>
            <a:r>
              <a:rPr lang="en-US" sz="3600" dirty="0" smtClean="0"/>
              <a:t>Results</a:t>
            </a:r>
            <a:endParaRPr lang="en-US" sz="3600"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1806201537"/>
              </p:ext>
            </p:extLst>
          </p:nvPr>
        </p:nvGraphicFramePr>
        <p:xfrm>
          <a:off x="0" y="868420"/>
          <a:ext cx="8940800" cy="5319291"/>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address language in math classes</a:t>
            </a:r>
            <a:endParaRPr lang="en-US" dirty="0"/>
          </a:p>
        </p:txBody>
      </p:sp>
      <p:sp>
        <p:nvSpPr>
          <p:cNvPr id="3" name="Content Placeholder 2"/>
          <p:cNvSpPr>
            <a:spLocks noGrp="1"/>
          </p:cNvSpPr>
          <p:nvPr>
            <p:ph idx="1"/>
          </p:nvPr>
        </p:nvSpPr>
        <p:spPr/>
        <p:txBody>
          <a:bodyPr/>
          <a:lstStyle/>
          <a:p>
            <a:pPr marL="342900" indent="-342900">
              <a:buFont typeface="Arial"/>
              <a:buChar char="•"/>
            </a:pPr>
            <a:r>
              <a:rPr lang="en-US" dirty="0" smtClean="0"/>
              <a:t>Math teachers should become aware of language traps </a:t>
            </a:r>
          </a:p>
          <a:p>
            <a:pPr marL="742950" lvl="1" indent="-342900">
              <a:buFont typeface="Arial"/>
              <a:buChar char="•"/>
            </a:pPr>
            <a:r>
              <a:rPr lang="en-US" dirty="0"/>
              <a:t>A</a:t>
            </a:r>
            <a:r>
              <a:rPr lang="en-US" dirty="0" smtClean="0"/>
              <a:t>void them</a:t>
            </a:r>
          </a:p>
          <a:p>
            <a:pPr marL="742950" lvl="1" indent="-342900">
              <a:buFont typeface="Arial"/>
              <a:buChar char="•"/>
            </a:pPr>
            <a:r>
              <a:rPr lang="en-US" dirty="0" smtClean="0"/>
              <a:t>Point them out (draw attention to language elements)</a:t>
            </a:r>
          </a:p>
          <a:p>
            <a:pPr marL="342900" indent="-342900">
              <a:buFont typeface="Arial"/>
              <a:buChar char="•"/>
            </a:pPr>
            <a:r>
              <a:rPr lang="en-US" dirty="0" smtClean="0">
                <a:solidFill>
                  <a:srgbClr val="FF0000"/>
                </a:solidFill>
              </a:rPr>
              <a:t>Provide glossaries</a:t>
            </a:r>
          </a:p>
          <a:p>
            <a:pPr marL="742950" lvl="1" indent="-342900">
              <a:buFont typeface="Arial"/>
              <a:buChar char="•"/>
            </a:pPr>
            <a:r>
              <a:rPr lang="en-US" dirty="0" smtClean="0">
                <a:solidFill>
                  <a:srgbClr val="FF0000"/>
                </a:solidFill>
              </a:rPr>
              <a:t>Monolingual</a:t>
            </a:r>
          </a:p>
          <a:p>
            <a:pPr marL="742950" lvl="1" indent="-342900">
              <a:buFont typeface="Arial"/>
              <a:buChar char="•"/>
            </a:pPr>
            <a:r>
              <a:rPr lang="en-US" dirty="0" smtClean="0">
                <a:solidFill>
                  <a:srgbClr val="FF0000"/>
                </a:solidFill>
              </a:rPr>
              <a:t>Bilingual</a:t>
            </a:r>
            <a:endParaRPr lang="en-US" dirty="0">
              <a:solidFill>
                <a:srgbClr val="FF0000"/>
              </a:solidFill>
            </a:endParaRPr>
          </a:p>
          <a:p>
            <a:pPr marL="342900" indent="-342900">
              <a:buFont typeface="Arial"/>
              <a:buChar char="•"/>
            </a:pPr>
            <a:r>
              <a:rPr lang="en-US" dirty="0" smtClean="0"/>
              <a:t>Transform (teachers and students)</a:t>
            </a:r>
            <a:endParaRPr lang="en-US" dirty="0"/>
          </a:p>
          <a:p>
            <a:pPr marL="742950" lvl="1" indent="-342900">
              <a:buFont typeface="Arial"/>
              <a:buChar char="•"/>
            </a:pPr>
            <a:r>
              <a:rPr lang="en-US" dirty="0"/>
              <a:t>Calculate</a:t>
            </a:r>
          </a:p>
          <a:p>
            <a:pPr marL="742950" lvl="1" indent="-342900">
              <a:buFont typeface="Arial"/>
              <a:buChar char="•"/>
            </a:pPr>
            <a:r>
              <a:rPr lang="en-US" dirty="0"/>
              <a:t>Draw graphs</a:t>
            </a:r>
          </a:p>
          <a:p>
            <a:pPr marL="742950" lvl="1" indent="-342900">
              <a:buFont typeface="Arial"/>
              <a:buChar char="•"/>
            </a:pPr>
            <a:r>
              <a:rPr lang="en-US" dirty="0" smtClean="0"/>
              <a:t>Rewrite</a:t>
            </a:r>
            <a:endParaRPr lang="en-US" dirty="0"/>
          </a:p>
        </p:txBody>
      </p:sp>
    </p:spTree>
    <p:extLst>
      <p:ext uri="{BB962C8B-B14F-4D97-AF65-F5344CB8AC3E}">
        <p14:creationId xmlns:p14="http://schemas.microsoft.com/office/powerpoint/2010/main" val="20551796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theme/theme1.xml><?xml version="1.0" encoding="utf-8"?>
<a:theme xmlns:a="http://schemas.openxmlformats.org/drawingml/2006/main" name="Humber">
  <a:themeElements>
    <a:clrScheme name="Office Them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Franklin Gothic Demi"/>
        <a:ea typeface=""/>
        <a:cs typeface=""/>
      </a:majorFont>
      <a:minorFont>
        <a:latin typeface="Franklin Gothic Dem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anklin Gothic Book"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anklin Gothic Book" pitchFamily="34" charset="0"/>
          </a:defRPr>
        </a:defPPr>
      </a:lstStyle>
    </a:lnDef>
  </a:objectDefaults>
  <a:extraClrSchemeLst>
    <a:extraClrScheme>
      <a:clrScheme name="Office Them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ffice Them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Franklin Gothic Demi"/>
      <a:ea typeface=""/>
      <a:cs typeface=""/>
    </a:majorFont>
    <a:minorFont>
      <a:latin typeface="Franklin Gothic Dem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Humber</Template>
  <TotalTime>15475</TotalTime>
  <Words>1162</Words>
  <Application>Microsoft Macintosh PowerPoint</Application>
  <PresentationFormat>On-screen Show (4:3)</PresentationFormat>
  <Paragraphs>135</Paragraphs>
  <Slides>20</Slides>
  <Notes>8</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2" baseType="lpstr">
      <vt:lpstr>Humber</vt:lpstr>
      <vt:lpstr>Image</vt:lpstr>
      <vt:lpstr>Language literacy impacts math literacy</vt:lpstr>
      <vt:lpstr>From an article in College Reading 3</vt:lpstr>
      <vt:lpstr>From an article in College Reading 3</vt:lpstr>
      <vt:lpstr>From an article in College Reading 3</vt:lpstr>
      <vt:lpstr>Visually</vt:lpstr>
      <vt:lpstr>From an article in College Reading 3</vt:lpstr>
      <vt:lpstr>From an article in College Reading 3</vt:lpstr>
      <vt:lpstr>From an article in College Reading 3</vt:lpstr>
      <vt:lpstr>From an article in College Reading 3</vt:lpstr>
      <vt:lpstr>How to address math in EAP classes </vt:lpstr>
      <vt:lpstr>How to address math in EAP classes </vt:lpstr>
      <vt:lpstr>Collaborating with math teachers</vt:lpstr>
      <vt:lpstr>Collaborating with math teachers</vt:lpstr>
      <vt:lpstr>Collaborating with math teachers</vt:lpstr>
      <vt:lpstr>Collaborating with math teachers</vt:lpstr>
      <vt:lpstr>Sample Questions</vt:lpstr>
      <vt:lpstr>What language issues impinge on math results?</vt:lpstr>
      <vt:lpstr>Methodology</vt:lpstr>
      <vt:lpstr>Results</vt:lpstr>
      <vt:lpstr>How to address language in math classes</vt:lpstr>
    </vt:vector>
  </TitlesOfParts>
  <Company>Humber College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 and the International Student: How language may play a role</dc:title>
  <dc:creator>Humber College</dc:creator>
  <cp:lastModifiedBy>Brett Reynolds</cp:lastModifiedBy>
  <cp:revision>151</cp:revision>
  <cp:lastPrinted>2012-10-10T15:59:48Z</cp:lastPrinted>
  <dcterms:created xsi:type="dcterms:W3CDTF">2012-05-23T23:39:00Z</dcterms:created>
  <dcterms:modified xsi:type="dcterms:W3CDTF">2012-10-10T15:59:57Z</dcterms:modified>
</cp:coreProperties>
</file>