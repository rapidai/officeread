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80" r:id="rId2"/>
    <p:sldId id="416" r:id="rId3"/>
    <p:sldId id="429" r:id="rId4"/>
    <p:sldId id="417" r:id="rId5"/>
    <p:sldId id="432" r:id="rId6"/>
    <p:sldId id="433" r:id="rId7"/>
    <p:sldId id="434" r:id="rId8"/>
    <p:sldId id="435" r:id="rId9"/>
    <p:sldId id="418" r:id="rId10"/>
    <p:sldId id="439" r:id="rId11"/>
    <p:sldId id="440" r:id="rId12"/>
    <p:sldId id="441" r:id="rId13"/>
    <p:sldId id="436" r:id="rId14"/>
    <p:sldId id="442" r:id="rId15"/>
    <p:sldId id="438" r:id="rId16"/>
    <p:sldId id="430" r:id="rId17"/>
    <p:sldId id="443" r:id="rId18"/>
    <p:sldId id="446" r:id="rId19"/>
    <p:sldId id="447" r:id="rId20"/>
    <p:sldId id="448" r:id="rId21"/>
    <p:sldId id="456" r:id="rId22"/>
    <p:sldId id="449" r:id="rId23"/>
    <p:sldId id="450" r:id="rId24"/>
    <p:sldId id="451" r:id="rId25"/>
    <p:sldId id="453" r:id="rId26"/>
    <p:sldId id="454" r:id="rId27"/>
    <p:sldId id="452" r:id="rId28"/>
    <p:sldId id="444" r:id="rId29"/>
    <p:sldId id="455" r:id="rId30"/>
    <p:sldId id="420" r:id="rId31"/>
    <p:sldId id="437" r:id="rId32"/>
    <p:sldId id="425" r:id="rId33"/>
    <p:sldId id="428" r:id="rId34"/>
    <p:sldId id="422" r:id="rId35"/>
    <p:sldId id="419" r:id="rId36"/>
    <p:sldId id="423" r:id="rId37"/>
    <p:sldId id="426" r:id="rId38"/>
    <p:sldId id="424" r:id="rId39"/>
    <p:sldId id="427" r:id="rId40"/>
  </p:sldIdLst>
  <p:sldSz cx="9144000" cy="6858000" type="screen4x3"/>
  <p:notesSz cx="6858000" cy="9144000"/>
  <p:defaultTextStyle>
    <a:defPPr>
      <a:defRPr lang="de-AT"/>
    </a:defPPr>
    <a:lvl1pPr algn="l" rtl="0" fontAlgn="base">
      <a:spcBef>
        <a:spcPct val="0"/>
      </a:spcBef>
      <a:spcAft>
        <a:spcPct val="0"/>
      </a:spcAft>
      <a:defRPr sz="2400" kern="1200">
        <a:solidFill>
          <a:srgbClr val="000099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rgbClr val="000099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rgbClr val="000099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rgbClr val="000099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rgbClr val="000099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000099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000099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000099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000099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800080"/>
    <a:srgbClr val="FF0066"/>
    <a:srgbClr val="000099"/>
    <a:srgbClr val="FFFF99"/>
    <a:srgbClr val="CC0000"/>
    <a:srgbClr val="008080"/>
    <a:srgbClr val="FF6600"/>
    <a:srgbClr val="006666"/>
    <a:srgbClr val="0033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horzBarState="maximized">
    <p:restoredLeft sz="19424" autoAdjust="0"/>
    <p:restoredTop sz="86333" autoAdjust="0"/>
  </p:normalViewPr>
  <p:slideViewPr>
    <p:cSldViewPr>
      <p:cViewPr varScale="1">
        <p:scale>
          <a:sx n="79" d="100"/>
          <a:sy n="79" d="100"/>
        </p:scale>
        <p:origin x="-36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" y="3732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de-AT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de-AT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smtClean="0"/>
              <a:t>Klicken Sie, um die Formate des Vorlagentextes zu bearbeiten</a:t>
            </a:r>
          </a:p>
          <a:p>
            <a:pPr lvl="1"/>
            <a:r>
              <a:rPr lang="de-AT" smtClean="0"/>
              <a:t>Zweite Ebene</a:t>
            </a:r>
          </a:p>
          <a:p>
            <a:pPr lvl="2"/>
            <a:r>
              <a:rPr lang="de-AT" smtClean="0"/>
              <a:t>Dritte Ebene</a:t>
            </a:r>
          </a:p>
          <a:p>
            <a:pPr lvl="3"/>
            <a:r>
              <a:rPr lang="de-AT" smtClean="0"/>
              <a:t>Vierte Ebene</a:t>
            </a:r>
          </a:p>
          <a:p>
            <a:pPr lvl="4"/>
            <a:r>
              <a:rPr lang="de-AT" smtClean="0"/>
              <a:t>Fünfte Ebene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de-AT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5AEA7834-34DF-4BAE-A065-6FEC942FBB2F}" type="slidenum">
              <a:rPr lang="de-AT"/>
              <a:pPr/>
              <a:t>‹Nr.›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1</a:t>
            </a:fld>
            <a:endParaRPr lang="de-A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2</a:t>
            </a:fld>
            <a:endParaRPr lang="de-A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3</a:t>
            </a:fld>
            <a:endParaRPr lang="de-A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4</a:t>
            </a:fld>
            <a:endParaRPr lang="de-A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5</a:t>
            </a:fld>
            <a:endParaRPr lang="de-A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6</a:t>
            </a:fld>
            <a:endParaRPr lang="de-A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7</a:t>
            </a:fld>
            <a:endParaRPr lang="de-A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8</a:t>
            </a:fld>
            <a:endParaRPr lang="de-A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9</a:t>
            </a:fld>
            <a:endParaRPr lang="de-A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10</a:t>
            </a:fld>
            <a:endParaRPr lang="de-A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11</a:t>
            </a:fld>
            <a:endParaRPr lang="de-A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12</a:t>
            </a:fld>
            <a:endParaRPr lang="de-A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13</a:t>
            </a:fld>
            <a:endParaRPr lang="de-A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14</a:t>
            </a:fld>
            <a:endParaRPr lang="de-A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15</a:t>
            </a:fld>
            <a:endParaRPr lang="de-A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16</a:t>
            </a:fld>
            <a:endParaRPr lang="de-A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17</a:t>
            </a:fld>
            <a:endParaRPr lang="de-AT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18</a:t>
            </a:fld>
            <a:endParaRPr lang="de-A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19</a:t>
            </a:fld>
            <a:endParaRPr lang="de-AT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20</a:t>
            </a:fld>
            <a:endParaRPr lang="de-AT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21</a:t>
            </a:fld>
            <a:endParaRPr lang="de-AT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22</a:t>
            </a:fld>
            <a:endParaRPr lang="de-AT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23</a:t>
            </a:fld>
            <a:endParaRPr lang="de-AT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24</a:t>
            </a:fld>
            <a:endParaRPr lang="de-AT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25</a:t>
            </a:fld>
            <a:endParaRPr lang="de-AT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26</a:t>
            </a:fld>
            <a:endParaRPr lang="de-AT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27</a:t>
            </a:fld>
            <a:endParaRPr lang="de-AT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28</a:t>
            </a:fld>
            <a:endParaRPr lang="de-AT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29</a:t>
            </a:fld>
            <a:endParaRPr lang="de-AT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30</a:t>
            </a:fld>
            <a:endParaRPr lang="de-AT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31</a:t>
            </a:fld>
            <a:endParaRPr lang="de-AT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32</a:t>
            </a:fld>
            <a:endParaRPr lang="de-AT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33</a:t>
            </a:fld>
            <a:endParaRPr lang="de-AT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34</a:t>
            </a:fld>
            <a:endParaRPr lang="de-AT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35</a:t>
            </a:fld>
            <a:endParaRPr lang="de-AT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36</a:t>
            </a:fld>
            <a:endParaRPr lang="de-AT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37</a:t>
            </a:fld>
            <a:endParaRPr lang="de-AT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38</a:t>
            </a:fld>
            <a:endParaRPr lang="de-AT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A7834-34DF-4BAE-A065-6FEC942FBB2F}" type="slidenum">
              <a:rPr lang="de-AT" smtClean="0"/>
              <a:pPr/>
              <a:t>39</a:t>
            </a:fld>
            <a:endParaRPr lang="de-A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H. Leeb Atominstitut, TU Wien, Austria</a:t>
            </a:r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White Paper on non-clinical research at MedAustron, MATAC01, Genf, 27.8.2008</a:t>
            </a:r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  <a:p>
            <a:r>
              <a:rPr lang="de-DE"/>
              <a:t> </a:t>
            </a:r>
            <a:fld id="{F71BA006-320E-4345-BEA7-FC543212DBCC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smtClean="0"/>
              <a:t>H. Leeb </a:t>
            </a:r>
          </a:p>
          <a:p>
            <a:r>
              <a:rPr lang="de-DE" dirty="0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743200" y="6429396"/>
            <a:ext cx="5105400" cy="280966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  <a:p>
            <a:r>
              <a:rPr lang="de-DE"/>
              <a:t> </a:t>
            </a:r>
            <a:fld id="{0F24F410-EF60-4DAA-BE0D-B9465B80A9A1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H. Leeb Atominstitut, TU Wien, Austria</a:t>
            </a:r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White Paper on non-clinical research at MedAustron, MATAC01, Genf, 27.8.2008</a:t>
            </a:r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  <a:p>
            <a:r>
              <a:rPr lang="de-DE"/>
              <a:t> </a:t>
            </a:r>
            <a:fld id="{61AE12BE-90EC-49D5-B23D-F6FBD53CCFEE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767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86300" y="990600"/>
            <a:ext cx="40767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H. Leeb Atominstitut, TU Wien, Austria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White Paper on non-clinical research at MedAustron, MATAC01, Genf, 27.8.2008</a:t>
            </a: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  <a:p>
            <a:r>
              <a:rPr lang="de-DE"/>
              <a:t> </a:t>
            </a:r>
            <a:fld id="{3F964B55-74D4-4D37-B019-6D6DD8E3F943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H. Leeb Atominstitut, TU Wien, Austria</a:t>
            </a:r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White Paper on non-clinical research at MedAustron, MATAC01, Genf, 27.8.2008</a:t>
            </a:r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  <a:p>
            <a:r>
              <a:rPr lang="de-DE"/>
              <a:t> </a:t>
            </a:r>
            <a:fld id="{8B229DC4-16E1-48EB-84B4-978F92D92B01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H. Leeb Atominstitut, TU Wien, Austria</a:t>
            </a:r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White Paper on non-clinical research at MedAustron, MATAC01, Genf, 27.8.2008</a:t>
            </a: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  <a:p>
            <a:r>
              <a:rPr lang="de-DE"/>
              <a:t> </a:t>
            </a:r>
            <a:fld id="{6736578A-577B-4CD7-9158-EB33F23132F0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H. Leeb Atominstitut, TU Wien, Austria</a:t>
            </a:r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White Paper on non-clinical research at MedAustron, MATAC01, Genf, 27.8.2008</a:t>
            </a:r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  <a:p>
            <a:r>
              <a:rPr lang="de-DE"/>
              <a:t> </a:t>
            </a:r>
            <a:fld id="{7D03DDAF-9EFC-498C-AF4B-E0BB7E626DE0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H. Leeb Atominstitut, TU Wien, Austria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White Paper on non-clinical research at MedAustron, MATAC01, Genf, 27.8.2008</a:t>
            </a: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  <a:p>
            <a:r>
              <a:rPr lang="de-DE"/>
              <a:t> </a:t>
            </a:r>
            <a:fld id="{CF75007F-C3F9-49A6-B1D4-5629DAA62652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H. Leeb Atominstitut, TU Wien, Austria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White Paper on non-clinical research at MedAustron, MATAC01, Genf, 27.8.2008</a:t>
            </a: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  <a:p>
            <a:r>
              <a:rPr lang="de-DE"/>
              <a:t> </a:t>
            </a:r>
            <a:fld id="{3108E6FB-E56E-4933-9D53-D47B6B89CF88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H. Leeb Atominstitut, TU Wien, Austria</a:t>
            </a:r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White Paper on non-clinical research at MedAustron, MATAC01, Genf, 27.8.2008</a:t>
            </a:r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  <a:p>
            <a:r>
              <a:rPr lang="de-DE"/>
              <a:t> </a:t>
            </a:r>
            <a:fld id="{68A8CD05-EEDA-4162-85A3-9E25FF9163B3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86550" y="0"/>
            <a:ext cx="2076450" cy="609600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76950" cy="6096000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H. Leeb Atominstitut, TU Wien, Austria</a:t>
            </a:r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White Paper on non-clinical research at MedAustron, MATAC01, Genf, 27.8.2008</a:t>
            </a:r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  <a:p>
            <a:r>
              <a:rPr lang="de-DE"/>
              <a:t> </a:t>
            </a:r>
            <a:fld id="{EADFC832-4B79-4B92-AE1D-1D4C7FB2860E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7086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AT" smtClean="0"/>
              <a:t>Titel</a:t>
            </a:r>
            <a:r>
              <a:rPr lang="de-DE" smtClean="0"/>
              <a:t> </a:t>
            </a:r>
            <a:r>
              <a:rPr lang="de-AT" smtClean="0"/>
              <a:t>bearbeite</a:t>
            </a:r>
            <a:r>
              <a:rPr lang="de-DE" smtClean="0"/>
              <a:t>n</a:t>
            </a:r>
            <a:endParaRPr lang="de-AT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305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smtClean="0"/>
              <a:t>Klicken Sie, um die Formate des Vorlagentextes zu bearbeiten</a:t>
            </a:r>
          </a:p>
          <a:p>
            <a:pPr lvl="1"/>
            <a:r>
              <a:rPr lang="de-AT" smtClean="0"/>
              <a:t>Zweite Ebene</a:t>
            </a:r>
          </a:p>
          <a:p>
            <a:pPr lvl="2"/>
            <a:r>
              <a:rPr lang="de-AT" smtClean="0"/>
              <a:t>Dritte Ebene</a:t>
            </a:r>
          </a:p>
          <a:p>
            <a:pPr lvl="3"/>
            <a:r>
              <a:rPr lang="de-AT" smtClean="0"/>
              <a:t>Vierte Ebene</a:t>
            </a:r>
          </a:p>
          <a:p>
            <a:pPr lvl="4"/>
            <a:r>
              <a:rPr lang="de-AT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246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de-DE" smtClean="0"/>
              <a:t>H. Leeb Atominstitut, TU Wien, Austria</a:t>
            </a:r>
            <a:endParaRPr lang="de-A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6324600"/>
            <a:ext cx="510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r>
              <a:rPr lang="en-US" smtClean="0"/>
              <a:t>White Paper on non-clinical research at MedAustron, MATAC01, Genf, 27.8.2008</a:t>
            </a:r>
            <a:endParaRPr lang="de-A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53400" y="63246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endParaRPr lang="de-DE"/>
          </a:p>
          <a:p>
            <a:r>
              <a:rPr lang="de-DE"/>
              <a:t> </a:t>
            </a:r>
            <a:fld id="{4F67C05D-82B7-4A94-837D-F046715EDFAE}" type="slidenum">
              <a:rPr lang="de-AT"/>
              <a:pPr/>
              <a:t>‹Nr.›</a:t>
            </a:fld>
            <a:endParaRPr lang="de-AT"/>
          </a:p>
        </p:txBody>
      </p:sp>
      <p:pic>
        <p:nvPicPr>
          <p:cNvPr id="1031" name="Picture 7" descr="F:\AssociationTag20061205\blau auf weiss\GIF\ATI-Logo_Small_9x5cm.gif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52400" y="152400"/>
            <a:ext cx="685800" cy="400050"/>
          </a:xfrm>
          <a:prstGeom prst="rect">
            <a:avLst/>
          </a:prstGeom>
          <a:noFill/>
        </p:spPr>
      </p:pic>
      <p:pic>
        <p:nvPicPr>
          <p:cNvPr id="1032" name="Picture 8" descr="C:\Dokumente und Einstellungen\Helmut Leeb\Eigene Dateien\Vortrag\TRAMU03\tu-neu-gross.gif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8153400" y="152400"/>
            <a:ext cx="838200" cy="419100"/>
          </a:xfrm>
          <a:prstGeom prst="rect">
            <a:avLst/>
          </a:prstGeom>
          <a:noFill/>
        </p:spPr>
      </p:pic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152400" y="762000"/>
            <a:ext cx="8839200" cy="76200"/>
          </a:xfrm>
          <a:prstGeom prst="rect">
            <a:avLst/>
          </a:prstGeom>
          <a:gradFill rotWithShape="0">
            <a:gsLst>
              <a:gs pos="0">
                <a:srgbClr val="000099"/>
              </a:gs>
              <a:gs pos="50000">
                <a:schemeClr val="bg1"/>
              </a:gs>
              <a:gs pos="100000">
                <a:srgbClr val="0000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040" name="Rectangle 16"/>
          <p:cNvSpPr>
            <a:spLocks noChangeArrowheads="1"/>
          </p:cNvSpPr>
          <p:nvPr userDrawn="1"/>
        </p:nvSpPr>
        <p:spPr bwMode="auto">
          <a:xfrm>
            <a:off x="228600" y="6248400"/>
            <a:ext cx="8686800" cy="76200"/>
          </a:xfrm>
          <a:prstGeom prst="rect">
            <a:avLst/>
          </a:prstGeom>
          <a:gradFill rotWithShape="0">
            <a:gsLst>
              <a:gs pos="0">
                <a:srgbClr val="000099"/>
              </a:gs>
              <a:gs pos="50000">
                <a:schemeClr val="bg1"/>
              </a:gs>
              <a:gs pos="100000">
                <a:srgbClr val="0000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rgbClr val="000099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rgbClr val="000099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000099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0099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99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99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99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99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99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Relationship Id="rId9" Type="http://schemas.openxmlformats.org/officeDocument/2006/relationships/oleObject" Target="../embeddings/oleObject1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8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slide" Target="slide32.xml"/><Relationship Id="rId4" Type="http://schemas.openxmlformats.org/officeDocument/2006/relationships/oleObject" Target="../embeddings/oleObject25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26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eg"/><Relationship Id="rId3" Type="http://schemas.openxmlformats.org/officeDocument/2006/relationships/image" Target="../media/image55.jpeg"/><Relationship Id="rId7" Type="http://schemas.openxmlformats.org/officeDocument/2006/relationships/image" Target="../media/image5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4" Type="http://schemas.openxmlformats.org/officeDocument/2006/relationships/image" Target="../media/image56.jpeg"/><Relationship Id="rId9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H. Leeb </a:t>
            </a:r>
          </a:p>
          <a:p>
            <a:r>
              <a:rPr lang="de-DE" dirty="0" smtClean="0"/>
              <a:t>Atominstitut, TU Wien, Austria</a:t>
            </a:r>
            <a:endParaRPr lang="de-AT" dirty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743200" y="6500834"/>
            <a:ext cx="5105400" cy="280966"/>
          </a:xfrm>
        </p:spPr>
        <p:txBody>
          <a:bodyPr/>
          <a:lstStyle/>
          <a:p>
            <a:r>
              <a:rPr lang="en-US" sz="1400" dirty="0" err="1" smtClean="0"/>
              <a:t>NuPECC</a:t>
            </a:r>
            <a:r>
              <a:rPr lang="en-US" sz="1400" dirty="0" smtClean="0"/>
              <a:t> </a:t>
            </a:r>
            <a:r>
              <a:rPr lang="en-US" sz="1400" dirty="0" err="1" smtClean="0"/>
              <a:t>Meeting,Vienna</a:t>
            </a:r>
            <a:r>
              <a:rPr lang="en-US" sz="1400" dirty="0" smtClean="0"/>
              <a:t>, March 13, 2009</a:t>
            </a:r>
            <a:endParaRPr lang="de-AT" sz="1400" dirty="0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/>
          </a:p>
          <a:p>
            <a:r>
              <a:rPr lang="de-DE"/>
              <a:t> </a:t>
            </a:r>
            <a:fld id="{2EE61FDE-C221-4B9E-87C9-080E96A0AF3C}" type="slidenum">
              <a:rPr lang="de-AT"/>
              <a:pPr/>
              <a:t>1</a:t>
            </a:fld>
            <a:endParaRPr lang="de-AT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752600"/>
            <a:ext cx="8153400" cy="1676400"/>
          </a:xfrm>
        </p:spPr>
        <p:txBody>
          <a:bodyPr/>
          <a:lstStyle/>
          <a:p>
            <a:pPr algn="ctr"/>
            <a:r>
              <a:rPr lang="de-AT" dirty="0" smtClean="0"/>
              <a:t>Basics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Nuclear</a:t>
            </a:r>
            <a:r>
              <a:rPr lang="de-AT" dirty="0" smtClean="0"/>
              <a:t> Data Evaluation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Perspectives</a:t>
            </a:r>
            <a:endParaRPr lang="de-AT" dirty="0"/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651519" y="3832215"/>
            <a:ext cx="3992183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de-DE" sz="3200" dirty="0">
                <a:latin typeface="Times New Roman" pitchFamily="18" charset="0"/>
              </a:rPr>
              <a:t>H. Leeb</a:t>
            </a:r>
          </a:p>
          <a:p>
            <a:pPr algn="ctr"/>
            <a:r>
              <a:rPr lang="de-DE" dirty="0" err="1" smtClean="0">
                <a:latin typeface="Times New Roman" pitchFamily="18" charset="0"/>
              </a:rPr>
              <a:t>Atominstitut,TU</a:t>
            </a:r>
            <a:r>
              <a:rPr lang="de-DE" dirty="0" smtClean="0">
                <a:latin typeface="Times New Roman" pitchFamily="18" charset="0"/>
              </a:rPr>
              <a:t> Wien, Austria</a:t>
            </a:r>
            <a:endParaRPr lang="de-AT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 smtClean="0"/>
              <a:t>Research </a:t>
            </a:r>
            <a:r>
              <a:rPr lang="de-AT" dirty="0" err="1" smtClean="0"/>
              <a:t>at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Atominstitut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2</a:t>
            </a:fld>
            <a:endParaRPr lang="de-AT"/>
          </a:p>
        </p:txBody>
      </p:sp>
      <p:sp>
        <p:nvSpPr>
          <p:cNvPr id="8" name="Textfeld 7"/>
          <p:cNvSpPr txBox="1"/>
          <p:nvPr/>
        </p:nvSpPr>
        <p:spPr>
          <a:xfrm>
            <a:off x="6786578" y="928670"/>
            <a:ext cx="2095445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radiation</a:t>
            </a:r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physics</a:t>
            </a:r>
            <a:endParaRPr lang="de-AT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Ch</a:t>
            </a:r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Streli</a:t>
            </a:r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de-DE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3" name="Grafik 12" descr="Reaktor-AT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488" y="857232"/>
            <a:ext cx="3619512" cy="5429268"/>
          </a:xfrm>
          <a:prstGeom prst="rect">
            <a:avLst/>
          </a:prstGeom>
        </p:spPr>
      </p:pic>
      <p:sp>
        <p:nvSpPr>
          <p:cNvPr id="7" name="Textfeld 6"/>
          <p:cNvSpPr txBox="1"/>
          <p:nvPr/>
        </p:nvSpPr>
        <p:spPr>
          <a:xfrm>
            <a:off x="214282" y="3286124"/>
            <a:ext cx="3007555" cy="707886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applied</a:t>
            </a:r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quantum</a:t>
            </a:r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physics</a:t>
            </a:r>
            <a:endParaRPr lang="de-AT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(N.N.)</a:t>
            </a:r>
            <a:endParaRPr lang="de-DE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214282" y="928670"/>
            <a:ext cx="3744936" cy="707886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atomic</a:t>
            </a:r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physics</a:t>
            </a:r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quantum</a:t>
            </a:r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optics</a:t>
            </a:r>
            <a:endParaRPr lang="de-AT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(J. </a:t>
            </a:r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Schmiedmayer</a:t>
            </a:r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de-DE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5929322" y="2071678"/>
            <a:ext cx="3033202" cy="1015663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low-temperature</a:t>
            </a:r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physics</a:t>
            </a:r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,</a:t>
            </a:r>
          </a:p>
          <a:p>
            <a:pPr algn="ctr"/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Super </a:t>
            </a:r>
            <a:r>
              <a:rPr lang="de-AT" sz="2000" dirty="0" err="1" smtClean="0">
                <a:solidFill>
                  <a:schemeClr val="accent2">
                    <a:lumMod val="75000"/>
                  </a:schemeClr>
                </a:solidFill>
              </a:rPr>
              <a:t>conductivity</a:t>
            </a:r>
            <a:endParaRPr lang="de-AT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(H. Weber)</a:t>
            </a:r>
            <a:endParaRPr lang="de-DE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5072066" y="5429264"/>
            <a:ext cx="3847528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de-AT" sz="2000" b="1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neutron</a:t>
            </a:r>
            <a:r>
              <a:rPr lang="de-AT" sz="20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de-AT" sz="2000" b="1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and</a:t>
            </a:r>
            <a:r>
              <a:rPr lang="de-AT" sz="20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de-AT" sz="2000" b="1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quantum</a:t>
            </a:r>
            <a:r>
              <a:rPr lang="de-AT" sz="20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de-AT" sz="2000" b="1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physics</a:t>
            </a:r>
            <a:endParaRPr lang="de-AT" sz="20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(H. Abele</a:t>
            </a:r>
            <a:r>
              <a:rPr lang="de-AT" sz="20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  <a:endParaRPr lang="de-DE" sz="20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214282" y="5435758"/>
            <a:ext cx="3631122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de-AT" sz="2000" b="1" dirty="0" err="1" smtClean="0">
                <a:solidFill>
                  <a:schemeClr val="accent2">
                    <a:lumMod val="75000"/>
                  </a:schemeClr>
                </a:solidFill>
              </a:rPr>
              <a:t>nuclear</a:t>
            </a:r>
            <a:r>
              <a:rPr lang="de-AT" sz="20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AT" sz="2000" b="1" dirty="0" err="1" smtClean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de-AT" sz="20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AT" sz="2000" b="1" dirty="0" err="1" smtClean="0">
                <a:solidFill>
                  <a:schemeClr val="accent2">
                    <a:lumMod val="75000"/>
                  </a:schemeClr>
                </a:solidFill>
              </a:rPr>
              <a:t>particle</a:t>
            </a:r>
            <a:r>
              <a:rPr lang="de-AT" sz="20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AT" sz="2000" b="1" dirty="0" err="1" smtClean="0">
                <a:solidFill>
                  <a:schemeClr val="accent2">
                    <a:lumMod val="75000"/>
                  </a:schemeClr>
                </a:solidFill>
              </a:rPr>
              <a:t>physics</a:t>
            </a:r>
            <a:endParaRPr lang="de-AT" sz="2000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de-AT" sz="2000" dirty="0" smtClean="0">
                <a:solidFill>
                  <a:schemeClr val="accent2">
                    <a:lumMod val="75000"/>
                  </a:schemeClr>
                </a:solidFill>
              </a:rPr>
              <a:t>(H. Leeb)</a:t>
            </a:r>
            <a:endParaRPr lang="de-DE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 err="1" smtClean="0"/>
              <a:t>Nuclear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Particle</a:t>
            </a:r>
            <a:r>
              <a:rPr lang="de-AT" dirty="0" smtClean="0"/>
              <a:t> </a:t>
            </a:r>
            <a:r>
              <a:rPr lang="de-AT" dirty="0" err="1" smtClean="0"/>
              <a:t>Physics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3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357158" y="1214422"/>
            <a:ext cx="849905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 smtClean="0"/>
              <a:t>Nuclear</a:t>
            </a:r>
            <a:r>
              <a:rPr lang="de-AT" b="1" dirty="0" smtClean="0"/>
              <a:t> </a:t>
            </a:r>
            <a:r>
              <a:rPr lang="de-AT" b="1" dirty="0" err="1" smtClean="0"/>
              <a:t>Physics</a:t>
            </a:r>
            <a:r>
              <a:rPr lang="de-AT" b="1" dirty="0" smtClean="0"/>
              <a:t> </a:t>
            </a:r>
            <a:r>
              <a:rPr lang="de-AT" b="1" dirty="0" err="1" smtClean="0"/>
              <a:t>and</a:t>
            </a:r>
            <a:r>
              <a:rPr lang="de-AT" b="1" dirty="0" smtClean="0"/>
              <a:t> </a:t>
            </a:r>
            <a:r>
              <a:rPr lang="de-AT" b="1" dirty="0" err="1" smtClean="0"/>
              <a:t>Nuclear</a:t>
            </a:r>
            <a:r>
              <a:rPr lang="de-AT" b="1" dirty="0" smtClean="0"/>
              <a:t> </a:t>
            </a:r>
            <a:r>
              <a:rPr lang="de-AT" b="1" dirty="0" err="1" smtClean="0"/>
              <a:t>Astrophysics</a:t>
            </a:r>
            <a:r>
              <a:rPr lang="de-AT" b="1" dirty="0" smtClean="0"/>
              <a:t> </a:t>
            </a:r>
            <a:r>
              <a:rPr lang="de-AT" dirty="0" smtClean="0"/>
              <a:t>(H. Leeb)</a:t>
            </a:r>
          </a:p>
          <a:p>
            <a:r>
              <a:rPr lang="de-AT" dirty="0" smtClean="0"/>
              <a:t>	</a:t>
            </a:r>
            <a:r>
              <a:rPr lang="de-AT" dirty="0" err="1" smtClean="0"/>
              <a:t>scattering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reaction</a:t>
            </a:r>
            <a:r>
              <a:rPr lang="de-AT" dirty="0" smtClean="0"/>
              <a:t> </a:t>
            </a:r>
            <a:r>
              <a:rPr lang="de-AT" dirty="0" err="1" smtClean="0"/>
              <a:t>theory</a:t>
            </a:r>
            <a:r>
              <a:rPr lang="de-AT" dirty="0" smtClean="0"/>
              <a:t>, </a:t>
            </a:r>
            <a:r>
              <a:rPr lang="de-AT" dirty="0" err="1" smtClean="0"/>
              <a:t>nuclear</a:t>
            </a:r>
            <a:r>
              <a:rPr lang="de-AT" dirty="0" smtClean="0"/>
              <a:t> </a:t>
            </a:r>
            <a:r>
              <a:rPr lang="de-AT" dirty="0" err="1" smtClean="0"/>
              <a:t>data</a:t>
            </a:r>
            <a:r>
              <a:rPr lang="de-AT" dirty="0" smtClean="0"/>
              <a:t> </a:t>
            </a:r>
            <a:r>
              <a:rPr lang="de-AT" dirty="0" err="1" smtClean="0"/>
              <a:t>evaluation</a:t>
            </a:r>
            <a:endParaRPr lang="de-AT" dirty="0" smtClean="0"/>
          </a:p>
          <a:p>
            <a:endParaRPr lang="de-AT" dirty="0" smtClean="0"/>
          </a:p>
          <a:p>
            <a:endParaRPr lang="de-AT" dirty="0" smtClean="0"/>
          </a:p>
          <a:p>
            <a:r>
              <a:rPr lang="de-AT" b="1" dirty="0" err="1" smtClean="0"/>
              <a:t>Hadron</a:t>
            </a:r>
            <a:r>
              <a:rPr lang="de-AT" b="1" dirty="0" smtClean="0"/>
              <a:t> </a:t>
            </a:r>
            <a:r>
              <a:rPr lang="de-AT" b="1" dirty="0" err="1" smtClean="0"/>
              <a:t>Physics</a:t>
            </a:r>
            <a:r>
              <a:rPr lang="de-AT" b="1" dirty="0" smtClean="0"/>
              <a:t> </a:t>
            </a:r>
            <a:r>
              <a:rPr lang="de-AT" b="1" dirty="0" err="1" smtClean="0"/>
              <a:t>and</a:t>
            </a:r>
            <a:r>
              <a:rPr lang="de-AT" b="1" dirty="0" smtClean="0"/>
              <a:t> Fundamental Interactions </a:t>
            </a:r>
            <a:r>
              <a:rPr lang="de-AT" dirty="0" smtClean="0"/>
              <a:t>(</a:t>
            </a:r>
            <a:r>
              <a:rPr lang="de-AT" dirty="0" err="1" smtClean="0"/>
              <a:t>M.Faber</a:t>
            </a:r>
            <a:r>
              <a:rPr lang="de-AT" dirty="0" smtClean="0"/>
              <a:t>, </a:t>
            </a:r>
          </a:p>
          <a:p>
            <a:r>
              <a:rPr lang="de-AT" dirty="0" smtClean="0"/>
              <a:t>	H. </a:t>
            </a:r>
            <a:r>
              <a:rPr lang="de-AT" dirty="0" err="1" smtClean="0"/>
              <a:t>Markum</a:t>
            </a:r>
            <a:r>
              <a:rPr lang="de-AT" dirty="0" smtClean="0"/>
              <a:t>)</a:t>
            </a:r>
          </a:p>
          <a:p>
            <a:r>
              <a:rPr lang="de-AT" dirty="0" smtClean="0"/>
              <a:t>	</a:t>
            </a:r>
            <a:r>
              <a:rPr lang="de-AT" dirty="0" err="1" smtClean="0"/>
              <a:t>exotic</a:t>
            </a:r>
            <a:r>
              <a:rPr lang="de-AT" dirty="0" smtClean="0"/>
              <a:t> </a:t>
            </a:r>
            <a:r>
              <a:rPr lang="de-AT" dirty="0" err="1" smtClean="0"/>
              <a:t>atoms</a:t>
            </a:r>
            <a:r>
              <a:rPr lang="de-AT" dirty="0" smtClean="0"/>
              <a:t>, </a:t>
            </a:r>
            <a:r>
              <a:rPr lang="de-AT" dirty="0" err="1" smtClean="0"/>
              <a:t>lattice</a:t>
            </a:r>
            <a:r>
              <a:rPr lang="de-AT" dirty="0" smtClean="0"/>
              <a:t> </a:t>
            </a:r>
            <a:r>
              <a:rPr lang="de-AT" dirty="0" err="1" smtClean="0"/>
              <a:t>gauge</a:t>
            </a:r>
            <a:r>
              <a:rPr lang="de-AT" dirty="0" smtClean="0"/>
              <a:t> </a:t>
            </a:r>
            <a:r>
              <a:rPr lang="de-AT" dirty="0" err="1" smtClean="0"/>
              <a:t>theory</a:t>
            </a:r>
            <a:endParaRPr lang="de-AT" dirty="0" smtClean="0"/>
          </a:p>
          <a:p>
            <a:endParaRPr lang="de-AT" dirty="0" smtClean="0"/>
          </a:p>
          <a:p>
            <a:endParaRPr lang="de-AT" dirty="0" smtClean="0"/>
          </a:p>
          <a:p>
            <a:r>
              <a:rPr lang="de-AT" b="1" dirty="0" smtClean="0"/>
              <a:t>Experimental </a:t>
            </a:r>
            <a:r>
              <a:rPr lang="de-AT" b="1" dirty="0" err="1" smtClean="0"/>
              <a:t>Particle</a:t>
            </a:r>
            <a:r>
              <a:rPr lang="de-AT" b="1" dirty="0" smtClean="0"/>
              <a:t> </a:t>
            </a:r>
            <a:r>
              <a:rPr lang="de-AT" b="1" dirty="0" err="1" smtClean="0"/>
              <a:t>Physics</a:t>
            </a:r>
            <a:r>
              <a:rPr lang="de-AT" b="1" dirty="0" smtClean="0"/>
              <a:t> </a:t>
            </a:r>
            <a:r>
              <a:rPr lang="de-AT" dirty="0" smtClean="0"/>
              <a:t>(</a:t>
            </a:r>
            <a:r>
              <a:rPr lang="de-AT" dirty="0" err="1" smtClean="0"/>
              <a:t>Ch</a:t>
            </a:r>
            <a:r>
              <a:rPr lang="de-AT" dirty="0" smtClean="0"/>
              <a:t>. </a:t>
            </a:r>
            <a:r>
              <a:rPr lang="de-AT" dirty="0" err="1" smtClean="0"/>
              <a:t>Fabjan</a:t>
            </a:r>
            <a:r>
              <a:rPr lang="de-AT" dirty="0" smtClean="0"/>
              <a:t>)</a:t>
            </a:r>
          </a:p>
          <a:p>
            <a:r>
              <a:rPr lang="de-AT" dirty="0" smtClean="0"/>
              <a:t>	</a:t>
            </a:r>
            <a:r>
              <a:rPr lang="de-AT" dirty="0" err="1" smtClean="0"/>
              <a:t>detector</a:t>
            </a:r>
            <a:r>
              <a:rPr lang="de-AT" dirty="0" smtClean="0"/>
              <a:t> </a:t>
            </a:r>
            <a:r>
              <a:rPr lang="de-AT" dirty="0" err="1" smtClean="0"/>
              <a:t>developments</a:t>
            </a:r>
            <a:r>
              <a:rPr lang="de-AT" dirty="0" smtClean="0"/>
              <a:t>, </a:t>
            </a:r>
            <a:r>
              <a:rPr lang="de-AT" dirty="0" err="1" smtClean="0"/>
              <a:t>data</a:t>
            </a:r>
            <a:r>
              <a:rPr lang="de-AT" dirty="0" smtClean="0"/>
              <a:t> </a:t>
            </a:r>
            <a:r>
              <a:rPr lang="de-AT" dirty="0" err="1" smtClean="0"/>
              <a:t>analysis</a:t>
            </a:r>
            <a:r>
              <a:rPr lang="de-AT" dirty="0" smtClean="0"/>
              <a:t> </a:t>
            </a:r>
            <a:r>
              <a:rPr lang="de-AT" dirty="0" err="1" smtClean="0"/>
              <a:t>techniques</a:t>
            </a:r>
            <a:endParaRPr lang="de-AT" dirty="0" smtClean="0"/>
          </a:p>
          <a:p>
            <a:r>
              <a:rPr lang="de-AT" dirty="0" smtClean="0"/>
              <a:t>	</a:t>
            </a:r>
            <a:r>
              <a:rPr lang="de-AT" dirty="0" err="1" smtClean="0"/>
              <a:t>directly</a:t>
            </a:r>
            <a:r>
              <a:rPr lang="de-AT" dirty="0" smtClean="0"/>
              <a:t> </a:t>
            </a:r>
            <a:r>
              <a:rPr lang="de-AT" dirty="0" err="1" smtClean="0"/>
              <a:t>linked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Institute </a:t>
            </a:r>
            <a:r>
              <a:rPr lang="de-AT" dirty="0" err="1" smtClean="0"/>
              <a:t>of</a:t>
            </a:r>
            <a:r>
              <a:rPr lang="de-AT" dirty="0" smtClean="0"/>
              <a:t> High </a:t>
            </a:r>
            <a:r>
              <a:rPr lang="de-AT" dirty="0" err="1" smtClean="0"/>
              <a:t>Energy</a:t>
            </a:r>
            <a:r>
              <a:rPr lang="de-AT" dirty="0" smtClean="0"/>
              <a:t> </a:t>
            </a:r>
            <a:r>
              <a:rPr lang="de-AT" dirty="0" err="1" smtClean="0"/>
              <a:t>Physics</a:t>
            </a:r>
            <a:endParaRPr lang="de-AT" dirty="0" smtClean="0"/>
          </a:p>
          <a:p>
            <a:r>
              <a:rPr lang="de-AT" dirty="0" smtClean="0"/>
              <a:t>	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Austrian </a:t>
            </a:r>
            <a:r>
              <a:rPr lang="de-AT" dirty="0" err="1" smtClean="0"/>
              <a:t>Academy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Sciences</a:t>
            </a:r>
            <a:endParaRPr lang="de-AT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 bwMode="auto">
          <a:xfrm>
            <a:off x="4857752" y="4214818"/>
            <a:ext cx="3786214" cy="1714512"/>
          </a:xfrm>
          <a:prstGeom prst="rect">
            <a:avLst/>
          </a:prstGeom>
          <a:solidFill>
            <a:schemeClr val="accent3">
              <a:lumMod val="95000"/>
            </a:schemeClr>
          </a:solidFill>
          <a:ln w="381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rgbClr val="000099"/>
              </a:solidFill>
              <a:effectLst/>
              <a:latin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5786" y="28556"/>
            <a:ext cx="7729566" cy="685800"/>
          </a:xfrm>
        </p:spPr>
        <p:txBody>
          <a:bodyPr/>
          <a:lstStyle/>
          <a:p>
            <a:r>
              <a:rPr lang="de-AT" sz="2800" dirty="0" err="1" smtClean="0"/>
              <a:t>Nuclear</a:t>
            </a:r>
            <a:r>
              <a:rPr lang="de-AT" sz="2800" dirty="0" smtClean="0"/>
              <a:t> </a:t>
            </a:r>
            <a:r>
              <a:rPr lang="de-AT" sz="2800" dirty="0" err="1" smtClean="0"/>
              <a:t>Physics</a:t>
            </a:r>
            <a:r>
              <a:rPr lang="de-AT" sz="2800" dirty="0" smtClean="0"/>
              <a:t> </a:t>
            </a:r>
            <a:r>
              <a:rPr lang="de-AT" sz="2800" dirty="0" err="1" smtClean="0"/>
              <a:t>and</a:t>
            </a:r>
            <a:r>
              <a:rPr lang="de-AT" sz="2800" dirty="0" smtClean="0"/>
              <a:t> </a:t>
            </a:r>
            <a:r>
              <a:rPr lang="de-AT" sz="2800" dirty="0" err="1" smtClean="0"/>
              <a:t>Nuclear</a:t>
            </a:r>
            <a:r>
              <a:rPr lang="de-AT" sz="2800" dirty="0" smtClean="0"/>
              <a:t> </a:t>
            </a:r>
            <a:r>
              <a:rPr lang="de-AT" sz="2800" dirty="0" err="1" smtClean="0"/>
              <a:t>Astrophysics</a:t>
            </a:r>
            <a:endParaRPr lang="de-DE" sz="2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4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142844" y="1071546"/>
            <a:ext cx="8880957" cy="120032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de-AT" dirty="0" err="1" smtClean="0"/>
              <a:t>Theoretical</a:t>
            </a:r>
            <a:r>
              <a:rPr lang="de-AT" dirty="0" smtClean="0"/>
              <a:t> </a:t>
            </a:r>
            <a:r>
              <a:rPr lang="de-AT" dirty="0" err="1" smtClean="0"/>
              <a:t>description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scattering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reaction</a:t>
            </a:r>
            <a:r>
              <a:rPr lang="de-AT" dirty="0" smtClean="0"/>
              <a:t> </a:t>
            </a:r>
            <a:r>
              <a:rPr lang="de-AT" dirty="0" err="1" smtClean="0"/>
              <a:t>processes</a:t>
            </a:r>
            <a:r>
              <a:rPr lang="de-AT" dirty="0" smtClean="0"/>
              <a:t> </a:t>
            </a:r>
          </a:p>
          <a:p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interpretation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observables </a:t>
            </a:r>
            <a:r>
              <a:rPr lang="de-AT" dirty="0" err="1" smtClean="0"/>
              <a:t>with</a:t>
            </a:r>
            <a:r>
              <a:rPr lang="de-AT" dirty="0" smtClean="0"/>
              <a:t> </a:t>
            </a:r>
            <a:r>
              <a:rPr lang="de-AT" dirty="0" err="1" smtClean="0"/>
              <a:t>regard</a:t>
            </a:r>
            <a:r>
              <a:rPr lang="de-AT" dirty="0" smtClean="0"/>
              <a:t> </a:t>
            </a:r>
            <a:r>
              <a:rPr lang="de-AT" dirty="0" err="1" smtClean="0"/>
              <a:t>to</a:t>
            </a:r>
            <a:r>
              <a:rPr lang="de-AT" dirty="0" smtClean="0"/>
              <a:t> </a:t>
            </a:r>
            <a:r>
              <a:rPr lang="de-AT" dirty="0" err="1" smtClean="0"/>
              <a:t>interactions</a:t>
            </a:r>
            <a:r>
              <a:rPr lang="de-AT" dirty="0" smtClean="0"/>
              <a:t> </a:t>
            </a:r>
          </a:p>
          <a:p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underlying</a:t>
            </a:r>
            <a:r>
              <a:rPr lang="de-AT" dirty="0" smtClean="0"/>
              <a:t> </a:t>
            </a:r>
            <a:r>
              <a:rPr lang="de-AT" dirty="0" err="1" smtClean="0"/>
              <a:t>structures</a:t>
            </a:r>
            <a:r>
              <a:rPr lang="de-AT" dirty="0" smtClean="0"/>
              <a:t> in </a:t>
            </a:r>
            <a:r>
              <a:rPr lang="de-AT" dirty="0" err="1" smtClean="0"/>
              <a:t>basic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applied</a:t>
            </a:r>
            <a:r>
              <a:rPr lang="de-AT" dirty="0" smtClean="0"/>
              <a:t> </a:t>
            </a:r>
            <a:r>
              <a:rPr lang="de-AT" dirty="0" err="1" smtClean="0"/>
              <a:t>physics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4857752" y="4214818"/>
            <a:ext cx="3799438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de-AT" dirty="0" smtClean="0">
                <a:solidFill>
                  <a:schemeClr val="bg1"/>
                </a:solidFill>
              </a:rPr>
              <a:t>Neutron-</a:t>
            </a:r>
            <a:r>
              <a:rPr lang="de-AT" dirty="0" err="1" smtClean="0">
                <a:solidFill>
                  <a:schemeClr val="bg1"/>
                </a:solidFill>
              </a:rPr>
              <a:t>induced</a:t>
            </a:r>
            <a:r>
              <a:rPr lang="de-AT" dirty="0" smtClean="0">
                <a:solidFill>
                  <a:schemeClr val="bg1"/>
                </a:solidFill>
              </a:rPr>
              <a:t> </a:t>
            </a:r>
            <a:r>
              <a:rPr lang="de-AT" dirty="0" err="1" smtClean="0">
                <a:solidFill>
                  <a:schemeClr val="bg1"/>
                </a:solidFill>
              </a:rPr>
              <a:t>reactions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285720" y="2714620"/>
            <a:ext cx="4629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 smtClean="0"/>
              <a:t>Scattering</a:t>
            </a:r>
            <a:r>
              <a:rPr lang="de-AT" b="1" dirty="0" smtClean="0"/>
              <a:t> </a:t>
            </a:r>
            <a:r>
              <a:rPr lang="de-AT" b="1" dirty="0" err="1" smtClean="0"/>
              <a:t>and</a:t>
            </a:r>
            <a:r>
              <a:rPr lang="de-AT" b="1" dirty="0" smtClean="0"/>
              <a:t> </a:t>
            </a:r>
            <a:r>
              <a:rPr lang="de-AT" b="1" dirty="0" err="1" smtClean="0"/>
              <a:t>reaction</a:t>
            </a:r>
            <a:r>
              <a:rPr lang="de-AT" b="1" dirty="0" smtClean="0"/>
              <a:t> </a:t>
            </a:r>
            <a:r>
              <a:rPr lang="de-AT" b="1" dirty="0" err="1" smtClean="0"/>
              <a:t>theory</a:t>
            </a:r>
            <a:endParaRPr lang="de-AT" b="1" dirty="0" smtClean="0"/>
          </a:p>
        </p:txBody>
      </p:sp>
      <p:sp>
        <p:nvSpPr>
          <p:cNvPr id="10" name="Textfeld 9"/>
          <p:cNvSpPr txBox="1"/>
          <p:nvPr/>
        </p:nvSpPr>
        <p:spPr>
          <a:xfrm>
            <a:off x="4929190" y="4786322"/>
            <a:ext cx="35637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de-AT" dirty="0" smtClean="0"/>
              <a:t> </a:t>
            </a:r>
            <a:r>
              <a:rPr lang="de-AT" dirty="0" err="1" smtClean="0"/>
              <a:t>nuclear</a:t>
            </a:r>
            <a:r>
              <a:rPr lang="de-AT" dirty="0" smtClean="0"/>
              <a:t> </a:t>
            </a:r>
            <a:r>
              <a:rPr lang="de-AT" dirty="0" err="1" smtClean="0"/>
              <a:t>data</a:t>
            </a:r>
            <a:r>
              <a:rPr lang="de-AT" dirty="0" smtClean="0"/>
              <a:t> </a:t>
            </a:r>
            <a:r>
              <a:rPr lang="de-AT" dirty="0" err="1" smtClean="0"/>
              <a:t>evaluation</a:t>
            </a:r>
            <a:endParaRPr lang="de-AT" dirty="0" smtClean="0"/>
          </a:p>
          <a:p>
            <a:pPr>
              <a:buFont typeface="Arial" pitchFamily="34" charset="0"/>
              <a:buChar char="•"/>
            </a:pPr>
            <a:r>
              <a:rPr lang="de-AT" dirty="0" smtClean="0"/>
              <a:t> </a:t>
            </a:r>
            <a:r>
              <a:rPr lang="de-AT" dirty="0" err="1" smtClean="0"/>
              <a:t>nuclear</a:t>
            </a:r>
            <a:r>
              <a:rPr lang="de-AT" dirty="0" smtClean="0"/>
              <a:t> </a:t>
            </a:r>
            <a:r>
              <a:rPr lang="de-AT" dirty="0" err="1" smtClean="0"/>
              <a:t>astrophysics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285720" y="3143248"/>
            <a:ext cx="47468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de-AT" sz="2000" dirty="0" smtClean="0"/>
              <a:t> inverse </a:t>
            </a:r>
            <a:r>
              <a:rPr lang="de-AT" sz="2000" dirty="0" err="1" smtClean="0"/>
              <a:t>scattering</a:t>
            </a:r>
            <a:r>
              <a:rPr lang="de-AT" sz="2000" dirty="0" smtClean="0"/>
              <a:t> </a:t>
            </a:r>
            <a:r>
              <a:rPr lang="de-AT" sz="2000" dirty="0" err="1" smtClean="0"/>
              <a:t>techniques</a:t>
            </a:r>
            <a:endParaRPr lang="de-AT" sz="2000" dirty="0" smtClean="0"/>
          </a:p>
          <a:p>
            <a:pPr>
              <a:buFont typeface="Arial" pitchFamily="34" charset="0"/>
              <a:buChar char="•"/>
            </a:pPr>
            <a:r>
              <a:rPr lang="de-AT" sz="2000" dirty="0" smtClean="0"/>
              <a:t> </a:t>
            </a:r>
            <a:r>
              <a:rPr lang="de-AT" sz="2000" dirty="0" err="1" smtClean="0"/>
              <a:t>optical</a:t>
            </a:r>
            <a:r>
              <a:rPr lang="de-AT" sz="2000" dirty="0" smtClean="0"/>
              <a:t> </a:t>
            </a:r>
            <a:r>
              <a:rPr lang="de-AT" sz="2000" dirty="0" err="1" smtClean="0"/>
              <a:t>potentials</a:t>
            </a:r>
            <a:r>
              <a:rPr lang="de-AT" sz="2000" dirty="0" smtClean="0"/>
              <a:t> </a:t>
            </a:r>
            <a:r>
              <a:rPr lang="de-AT" sz="2000" dirty="0" err="1" smtClean="0"/>
              <a:t>and</a:t>
            </a:r>
            <a:r>
              <a:rPr lang="de-AT" sz="2000" dirty="0" smtClean="0"/>
              <a:t> </a:t>
            </a:r>
            <a:r>
              <a:rPr lang="de-AT" sz="2000" dirty="0" err="1" smtClean="0"/>
              <a:t>specific</a:t>
            </a:r>
            <a:r>
              <a:rPr lang="de-AT" sz="2000" dirty="0" smtClean="0"/>
              <a:t> </a:t>
            </a:r>
            <a:r>
              <a:rPr lang="de-AT" sz="2000" dirty="0" err="1" smtClean="0"/>
              <a:t>reactions</a:t>
            </a:r>
            <a:endParaRPr lang="de-AT" sz="2000" dirty="0" smtClean="0"/>
          </a:p>
          <a:p>
            <a:pPr>
              <a:buFont typeface="Arial" pitchFamily="34" charset="0"/>
              <a:buChar char="•"/>
            </a:pPr>
            <a:r>
              <a:rPr lang="de-AT" sz="2000" dirty="0" smtClean="0"/>
              <a:t> </a:t>
            </a:r>
            <a:r>
              <a:rPr lang="de-AT" sz="2000" dirty="0" err="1" smtClean="0"/>
              <a:t>phase</a:t>
            </a:r>
            <a:r>
              <a:rPr lang="de-AT" sz="2000" dirty="0" smtClean="0"/>
              <a:t> </a:t>
            </a:r>
            <a:r>
              <a:rPr lang="de-AT" sz="2000" dirty="0" err="1" smtClean="0"/>
              <a:t>problem</a:t>
            </a:r>
            <a:r>
              <a:rPr lang="de-AT" sz="2000" dirty="0" smtClean="0"/>
              <a:t> in </a:t>
            </a:r>
            <a:r>
              <a:rPr lang="de-AT" sz="2000" dirty="0" err="1" smtClean="0"/>
              <a:t>quantum</a:t>
            </a:r>
            <a:r>
              <a:rPr lang="de-AT" sz="2000" dirty="0" smtClean="0"/>
              <a:t> </a:t>
            </a:r>
            <a:r>
              <a:rPr lang="de-AT" sz="2000" dirty="0" err="1" smtClean="0"/>
              <a:t>mechanics</a:t>
            </a:r>
            <a:r>
              <a:rPr lang="de-AT" sz="2000" dirty="0" smtClean="0"/>
              <a:t> </a:t>
            </a:r>
            <a:endParaRPr lang="de-DE" sz="2000" dirty="0"/>
          </a:p>
        </p:txBody>
      </p:sp>
      <p:sp>
        <p:nvSpPr>
          <p:cNvPr id="14" name="Textfeld 13"/>
          <p:cNvSpPr txBox="1"/>
          <p:nvPr/>
        </p:nvSpPr>
        <p:spPr>
          <a:xfrm>
            <a:off x="1071538" y="5500702"/>
            <a:ext cx="3730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2000" dirty="0" err="1" smtClean="0">
                <a:solidFill>
                  <a:srgbClr val="CC0000"/>
                </a:solidFill>
              </a:rPr>
              <a:t>involvement</a:t>
            </a:r>
            <a:r>
              <a:rPr lang="de-AT" sz="2000" dirty="0" smtClean="0">
                <a:solidFill>
                  <a:srgbClr val="CC0000"/>
                </a:solidFill>
              </a:rPr>
              <a:t> in </a:t>
            </a:r>
            <a:r>
              <a:rPr lang="de-AT" sz="2000" dirty="0" err="1" smtClean="0">
                <a:solidFill>
                  <a:srgbClr val="CC0000"/>
                </a:solidFill>
              </a:rPr>
              <a:t>the</a:t>
            </a:r>
            <a:r>
              <a:rPr lang="de-AT" sz="2000" dirty="0" smtClean="0">
                <a:solidFill>
                  <a:srgbClr val="CC0000"/>
                </a:solidFill>
              </a:rPr>
              <a:t> </a:t>
            </a:r>
            <a:r>
              <a:rPr lang="de-AT" sz="2000" dirty="0" err="1" smtClean="0">
                <a:solidFill>
                  <a:srgbClr val="CC0000"/>
                </a:solidFill>
              </a:rPr>
              <a:t>experiments</a:t>
            </a:r>
            <a:endParaRPr lang="de-AT" sz="2000" dirty="0" smtClean="0">
              <a:solidFill>
                <a:srgbClr val="CC0000"/>
              </a:solidFill>
            </a:endParaRPr>
          </a:p>
          <a:p>
            <a:r>
              <a:rPr lang="de-AT" sz="2000" dirty="0" err="1" smtClean="0">
                <a:solidFill>
                  <a:srgbClr val="CC0000"/>
                </a:solidFill>
              </a:rPr>
              <a:t>at</a:t>
            </a:r>
            <a:r>
              <a:rPr lang="de-AT" sz="2000" dirty="0" smtClean="0">
                <a:solidFill>
                  <a:srgbClr val="CC0000"/>
                </a:solidFill>
              </a:rPr>
              <a:t> </a:t>
            </a:r>
            <a:r>
              <a:rPr lang="de-AT" sz="2000" dirty="0" err="1" smtClean="0">
                <a:solidFill>
                  <a:srgbClr val="CC0000"/>
                </a:solidFill>
              </a:rPr>
              <a:t>n_TOF@CERN</a:t>
            </a:r>
            <a:r>
              <a:rPr lang="de-AT" sz="2000" dirty="0" smtClean="0">
                <a:solidFill>
                  <a:srgbClr val="CC0000"/>
                </a:solidFill>
              </a:rPr>
              <a:t> </a:t>
            </a:r>
            <a:r>
              <a:rPr lang="de-AT" sz="2000" dirty="0" err="1" smtClean="0">
                <a:solidFill>
                  <a:srgbClr val="CC0000"/>
                </a:solidFill>
              </a:rPr>
              <a:t>and</a:t>
            </a:r>
            <a:r>
              <a:rPr lang="de-AT" sz="2000" dirty="0" smtClean="0">
                <a:solidFill>
                  <a:srgbClr val="CC0000"/>
                </a:solidFill>
              </a:rPr>
              <a:t> in </a:t>
            </a:r>
            <a:r>
              <a:rPr lang="de-AT" sz="2000" dirty="0" err="1" smtClean="0">
                <a:solidFill>
                  <a:srgbClr val="CC0000"/>
                </a:solidFill>
              </a:rPr>
              <a:t>Geel</a:t>
            </a:r>
            <a:endParaRPr lang="de-DE" sz="2000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28662" y="0"/>
            <a:ext cx="7086600" cy="685800"/>
          </a:xfrm>
        </p:spPr>
        <p:txBody>
          <a:bodyPr/>
          <a:lstStyle/>
          <a:p>
            <a:pPr algn="ctr"/>
            <a:r>
              <a:rPr lang="de-AT" sz="2800" dirty="0" smtClean="0"/>
              <a:t>Experiments: n-</a:t>
            </a:r>
            <a:r>
              <a:rPr lang="de-AT" sz="2800" dirty="0" err="1" smtClean="0"/>
              <a:t>induced</a:t>
            </a:r>
            <a:r>
              <a:rPr lang="de-AT" sz="2800" dirty="0" smtClean="0"/>
              <a:t> </a:t>
            </a:r>
            <a:r>
              <a:rPr lang="de-AT" sz="2800" dirty="0" err="1" smtClean="0"/>
              <a:t>cross</a:t>
            </a:r>
            <a:r>
              <a:rPr lang="de-AT" sz="2800" dirty="0" smtClean="0"/>
              <a:t> </a:t>
            </a:r>
            <a:r>
              <a:rPr lang="de-AT" sz="2800" dirty="0" err="1" smtClean="0"/>
              <a:t>sections</a:t>
            </a:r>
            <a:endParaRPr lang="de-DE" sz="2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5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357158" y="2928934"/>
            <a:ext cx="2242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smtClean="0"/>
              <a:t>GELINA (JRC)</a:t>
            </a:r>
            <a:endParaRPr lang="de-DE" b="1" dirty="0"/>
          </a:p>
        </p:txBody>
      </p:sp>
      <p:sp>
        <p:nvSpPr>
          <p:cNvPr id="8" name="Textfeld 7"/>
          <p:cNvSpPr txBox="1"/>
          <p:nvPr/>
        </p:nvSpPr>
        <p:spPr>
          <a:xfrm>
            <a:off x="357158" y="3357562"/>
            <a:ext cx="5729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(n,2n) </a:t>
            </a:r>
            <a:r>
              <a:rPr lang="de-AT" dirty="0" err="1" smtClean="0"/>
              <a:t>cross</a:t>
            </a:r>
            <a:r>
              <a:rPr lang="de-AT" dirty="0" smtClean="0"/>
              <a:t> </a:t>
            </a:r>
            <a:r>
              <a:rPr lang="de-AT" dirty="0" err="1" smtClean="0"/>
              <a:t>sections</a:t>
            </a:r>
            <a:r>
              <a:rPr lang="de-AT" dirty="0" smtClean="0"/>
              <a:t> via prompt </a:t>
            </a:r>
            <a:r>
              <a:rPr lang="de-AT" dirty="0" smtClean="0">
                <a:latin typeface="Symbol" pitchFamily="18" charset="2"/>
              </a:rPr>
              <a:t>g</a:t>
            </a:r>
            <a:r>
              <a:rPr lang="de-AT" dirty="0" smtClean="0"/>
              <a:t>-</a:t>
            </a:r>
            <a:r>
              <a:rPr lang="de-AT" dirty="0" err="1" smtClean="0"/>
              <a:t>decay</a:t>
            </a:r>
            <a:endParaRPr lang="de-AT" dirty="0" smtClean="0"/>
          </a:p>
        </p:txBody>
      </p:sp>
      <p:sp>
        <p:nvSpPr>
          <p:cNvPr id="10" name="Textfeld 9"/>
          <p:cNvSpPr txBox="1"/>
          <p:nvPr/>
        </p:nvSpPr>
        <p:spPr>
          <a:xfrm>
            <a:off x="428596" y="4786322"/>
            <a:ext cx="74409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smtClean="0"/>
              <a:t>Experiments </a:t>
            </a:r>
            <a:r>
              <a:rPr lang="de-AT" b="1" dirty="0" err="1" smtClean="0"/>
              <a:t>performed</a:t>
            </a:r>
            <a:r>
              <a:rPr lang="de-AT" b="1" dirty="0" smtClean="0"/>
              <a:t> </a:t>
            </a:r>
            <a:r>
              <a:rPr lang="de-AT" b="1" dirty="0" err="1" smtClean="0"/>
              <a:t>within</a:t>
            </a:r>
            <a:r>
              <a:rPr lang="de-AT" b="1" dirty="0" smtClean="0"/>
              <a:t> </a:t>
            </a:r>
            <a:r>
              <a:rPr lang="de-AT" b="1" dirty="0" err="1" smtClean="0"/>
              <a:t>collaboration</a:t>
            </a:r>
            <a:r>
              <a:rPr lang="de-AT" b="1" dirty="0" smtClean="0"/>
              <a:t>: </a:t>
            </a:r>
          </a:p>
          <a:p>
            <a:r>
              <a:rPr lang="de-AT" dirty="0" smtClean="0"/>
              <a:t>TU Wien  </a:t>
            </a:r>
            <a:r>
              <a:rPr lang="de-AT" dirty="0" err="1" smtClean="0"/>
              <a:t>and</a:t>
            </a:r>
            <a:r>
              <a:rPr lang="de-AT" dirty="0" smtClean="0"/>
              <a:t> University </a:t>
            </a:r>
            <a:r>
              <a:rPr lang="de-AT" dirty="0" err="1" smtClean="0"/>
              <a:t>of</a:t>
            </a:r>
            <a:r>
              <a:rPr lang="de-AT" dirty="0" smtClean="0"/>
              <a:t> Vienna</a:t>
            </a:r>
          </a:p>
          <a:p>
            <a:r>
              <a:rPr lang="de-AT" dirty="0" smtClean="0"/>
              <a:t>G. </a:t>
            </a:r>
            <a:r>
              <a:rPr lang="de-AT" dirty="0" err="1" smtClean="0"/>
              <a:t>Badurek</a:t>
            </a:r>
            <a:r>
              <a:rPr lang="de-AT" dirty="0" smtClean="0"/>
              <a:t>, E. </a:t>
            </a:r>
            <a:r>
              <a:rPr lang="de-AT" dirty="0" err="1" smtClean="0"/>
              <a:t>Jericha</a:t>
            </a:r>
            <a:r>
              <a:rPr lang="de-AT" dirty="0" smtClean="0"/>
              <a:t>, H. Leeb, A. </a:t>
            </a:r>
            <a:r>
              <a:rPr lang="de-AT" dirty="0" err="1" smtClean="0"/>
              <a:t>Pavlik</a:t>
            </a:r>
            <a:r>
              <a:rPr lang="de-AT" dirty="0" smtClean="0"/>
              <a:t>, A. Wallner</a:t>
            </a:r>
            <a:endParaRPr lang="de-DE" dirty="0"/>
          </a:p>
        </p:txBody>
      </p:sp>
      <p:sp>
        <p:nvSpPr>
          <p:cNvPr id="11" name="Textfeld 10"/>
          <p:cNvSpPr txBox="1"/>
          <p:nvPr/>
        </p:nvSpPr>
        <p:spPr>
          <a:xfrm>
            <a:off x="357158" y="1357298"/>
            <a:ext cx="2325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 smtClean="0"/>
              <a:t>n_TOF@CERN</a:t>
            </a:r>
            <a:endParaRPr lang="de-DE" b="1" dirty="0"/>
          </a:p>
        </p:txBody>
      </p:sp>
      <p:sp>
        <p:nvSpPr>
          <p:cNvPr id="12" name="Textfeld 11"/>
          <p:cNvSpPr txBox="1"/>
          <p:nvPr/>
        </p:nvSpPr>
        <p:spPr>
          <a:xfrm>
            <a:off x="357158" y="1785926"/>
            <a:ext cx="7600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(</a:t>
            </a:r>
            <a:r>
              <a:rPr lang="de-AT" dirty="0" err="1" smtClean="0"/>
              <a:t>n,</a:t>
            </a:r>
            <a:r>
              <a:rPr lang="de-AT" dirty="0" err="1" smtClean="0">
                <a:latin typeface="Symbol" pitchFamily="18" charset="2"/>
              </a:rPr>
              <a:t>g</a:t>
            </a:r>
            <a:r>
              <a:rPr lang="de-AT" dirty="0" smtClean="0"/>
              <a:t>) </a:t>
            </a:r>
            <a:r>
              <a:rPr lang="de-AT" dirty="0" err="1" smtClean="0"/>
              <a:t>cross</a:t>
            </a:r>
            <a:r>
              <a:rPr lang="de-AT" dirty="0" smtClean="0"/>
              <a:t> </a:t>
            </a:r>
            <a:r>
              <a:rPr lang="de-AT" dirty="0" err="1" smtClean="0"/>
              <a:t>sections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dirty="0" smtClean="0"/>
              <a:t> </a:t>
            </a:r>
            <a:r>
              <a:rPr lang="de-AT" dirty="0" err="1" smtClean="0"/>
              <a:t>transmutation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astrophysics</a:t>
            </a:r>
            <a:endParaRPr lang="de-AT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28662" y="0"/>
            <a:ext cx="7086600" cy="685800"/>
          </a:xfrm>
        </p:spPr>
        <p:txBody>
          <a:bodyPr/>
          <a:lstStyle/>
          <a:p>
            <a:pPr algn="ctr"/>
            <a:r>
              <a:rPr lang="de-AT" sz="3200" dirty="0" smtClean="0"/>
              <a:t>(</a:t>
            </a:r>
            <a:r>
              <a:rPr lang="de-AT" sz="3200" dirty="0" err="1" smtClean="0"/>
              <a:t>n,xn</a:t>
            </a:r>
            <a:r>
              <a:rPr lang="de-AT" sz="3200" dirty="0" smtClean="0"/>
              <a:t>) </a:t>
            </a:r>
            <a:r>
              <a:rPr lang="de-AT" sz="3200" dirty="0" err="1" smtClean="0"/>
              <a:t>cross</a:t>
            </a:r>
            <a:r>
              <a:rPr lang="de-AT" sz="3200" dirty="0" smtClean="0"/>
              <a:t> </a:t>
            </a:r>
            <a:r>
              <a:rPr lang="de-AT" sz="3200" dirty="0" err="1" smtClean="0"/>
              <a:t>sections</a:t>
            </a:r>
            <a:endParaRPr lang="de-DE" sz="32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6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428596" y="1142984"/>
            <a:ext cx="2242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smtClean="0"/>
              <a:t>GELINA (JRC)</a:t>
            </a:r>
            <a:endParaRPr lang="de-DE" b="1" dirty="0"/>
          </a:p>
        </p:txBody>
      </p:sp>
      <p:sp>
        <p:nvSpPr>
          <p:cNvPr id="8" name="Textfeld 7"/>
          <p:cNvSpPr txBox="1"/>
          <p:nvPr/>
        </p:nvSpPr>
        <p:spPr>
          <a:xfrm>
            <a:off x="500034" y="1714488"/>
            <a:ext cx="3640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aseline="30000" dirty="0" smtClean="0"/>
              <a:t>209</a:t>
            </a:r>
            <a:r>
              <a:rPr lang="de-AT" dirty="0" smtClean="0"/>
              <a:t>Bi(n,2n</a:t>
            </a:r>
            <a:r>
              <a:rPr lang="de-AT" dirty="0" smtClean="0"/>
              <a:t>) </a:t>
            </a:r>
            <a:r>
              <a:rPr lang="de-AT" dirty="0" err="1" smtClean="0"/>
              <a:t>cross</a:t>
            </a:r>
            <a:r>
              <a:rPr lang="de-AT" dirty="0" smtClean="0"/>
              <a:t> </a:t>
            </a:r>
            <a:r>
              <a:rPr lang="de-AT" dirty="0" err="1" smtClean="0"/>
              <a:t>sections</a:t>
            </a:r>
            <a:endParaRPr lang="de-AT" dirty="0" smtClean="0"/>
          </a:p>
        </p:txBody>
      </p:sp>
      <p:pic>
        <p:nvPicPr>
          <p:cNvPr id="7372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2357430"/>
            <a:ext cx="5019968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feld 9"/>
          <p:cNvSpPr txBox="1"/>
          <p:nvPr/>
        </p:nvSpPr>
        <p:spPr>
          <a:xfrm>
            <a:off x="5643570" y="2056147"/>
            <a:ext cx="29017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2000" dirty="0" smtClean="0"/>
              <a:t>Measurement </a:t>
            </a:r>
            <a:r>
              <a:rPr lang="de-AT" sz="2000" dirty="0" err="1" smtClean="0"/>
              <a:t>of</a:t>
            </a:r>
            <a:r>
              <a:rPr lang="de-AT" sz="2000" dirty="0" smtClean="0"/>
              <a:t> prompt</a:t>
            </a:r>
          </a:p>
          <a:p>
            <a:r>
              <a:rPr lang="de-AT" sz="2000" dirty="0" smtClean="0">
                <a:latin typeface="Symbol" pitchFamily="18" charset="2"/>
              </a:rPr>
              <a:t>g</a:t>
            </a:r>
            <a:r>
              <a:rPr lang="de-AT" sz="2000" dirty="0" smtClean="0"/>
              <a:t>-</a:t>
            </a:r>
            <a:r>
              <a:rPr lang="de-AT" sz="2000" dirty="0" err="1" smtClean="0"/>
              <a:t>rays</a:t>
            </a:r>
            <a:r>
              <a:rPr lang="de-AT" sz="2000" dirty="0" smtClean="0"/>
              <a:t> </a:t>
            </a:r>
            <a:r>
              <a:rPr lang="de-AT" sz="2000" dirty="0" err="1" smtClean="0"/>
              <a:t>of</a:t>
            </a:r>
            <a:r>
              <a:rPr lang="de-AT" sz="2000" dirty="0" smtClean="0"/>
              <a:t> </a:t>
            </a:r>
            <a:r>
              <a:rPr lang="de-AT" sz="2000" dirty="0" err="1" smtClean="0"/>
              <a:t>the</a:t>
            </a:r>
            <a:r>
              <a:rPr lang="de-AT" sz="2000" dirty="0" smtClean="0"/>
              <a:t> residual </a:t>
            </a:r>
          </a:p>
          <a:p>
            <a:r>
              <a:rPr lang="de-AT" sz="2000" dirty="0" err="1" smtClean="0"/>
              <a:t>n</a:t>
            </a:r>
            <a:r>
              <a:rPr lang="de-AT" sz="2000" dirty="0" err="1" smtClean="0"/>
              <a:t>ucleus</a:t>
            </a:r>
            <a:r>
              <a:rPr lang="de-AT" sz="2000" dirty="0" smtClean="0"/>
              <a:t> (</a:t>
            </a:r>
            <a:r>
              <a:rPr lang="de-AT" sz="2000" dirty="0" err="1" smtClean="0"/>
              <a:t>even</a:t>
            </a:r>
            <a:r>
              <a:rPr lang="de-AT" sz="2000" dirty="0" smtClean="0"/>
              <a:t> A)</a:t>
            </a:r>
            <a:endParaRPr lang="de-DE" sz="2000" dirty="0"/>
          </a:p>
        </p:txBody>
      </p:sp>
      <p:cxnSp>
        <p:nvCxnSpPr>
          <p:cNvPr id="12" name="Gerade Verbindung 11"/>
          <p:cNvCxnSpPr/>
          <p:nvPr/>
        </p:nvCxnSpPr>
        <p:spPr bwMode="auto">
          <a:xfrm>
            <a:off x="5929322" y="3500438"/>
            <a:ext cx="200026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Gerade Verbindung 12"/>
          <p:cNvCxnSpPr/>
          <p:nvPr/>
        </p:nvCxnSpPr>
        <p:spPr bwMode="auto">
          <a:xfrm>
            <a:off x="5929322" y="4143380"/>
            <a:ext cx="200026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Gerade Verbindung 13"/>
          <p:cNvCxnSpPr/>
          <p:nvPr/>
        </p:nvCxnSpPr>
        <p:spPr bwMode="auto">
          <a:xfrm>
            <a:off x="5929322" y="4429132"/>
            <a:ext cx="200026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Gerade Verbindung 14"/>
          <p:cNvCxnSpPr/>
          <p:nvPr/>
        </p:nvCxnSpPr>
        <p:spPr bwMode="auto">
          <a:xfrm>
            <a:off x="5929322" y="4357694"/>
            <a:ext cx="200026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Gerade Verbindung 15"/>
          <p:cNvCxnSpPr/>
          <p:nvPr/>
        </p:nvCxnSpPr>
        <p:spPr bwMode="auto">
          <a:xfrm>
            <a:off x="5929322" y="4643446"/>
            <a:ext cx="200026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Gerade Verbindung 16"/>
          <p:cNvCxnSpPr/>
          <p:nvPr/>
        </p:nvCxnSpPr>
        <p:spPr bwMode="auto">
          <a:xfrm>
            <a:off x="5929322" y="5143512"/>
            <a:ext cx="200026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Gerade Verbindung 17"/>
          <p:cNvCxnSpPr/>
          <p:nvPr/>
        </p:nvCxnSpPr>
        <p:spPr bwMode="auto">
          <a:xfrm>
            <a:off x="5929322" y="5572140"/>
            <a:ext cx="200026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Gerade Verbindung 18"/>
          <p:cNvCxnSpPr/>
          <p:nvPr/>
        </p:nvCxnSpPr>
        <p:spPr bwMode="auto">
          <a:xfrm>
            <a:off x="5929322" y="3714752"/>
            <a:ext cx="200026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Gerade Verbindung 19"/>
          <p:cNvCxnSpPr/>
          <p:nvPr/>
        </p:nvCxnSpPr>
        <p:spPr bwMode="auto">
          <a:xfrm>
            <a:off x="5929322" y="3857628"/>
            <a:ext cx="200026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Gerade Verbindung 20"/>
          <p:cNvCxnSpPr/>
          <p:nvPr/>
        </p:nvCxnSpPr>
        <p:spPr bwMode="auto">
          <a:xfrm>
            <a:off x="5929322" y="3929066"/>
            <a:ext cx="200026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Gerade Verbindung mit Pfeil 24"/>
          <p:cNvCxnSpPr/>
          <p:nvPr/>
        </p:nvCxnSpPr>
        <p:spPr bwMode="auto">
          <a:xfrm rot="5400000">
            <a:off x="5893603" y="4893479"/>
            <a:ext cx="500066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Gerade Verbindung mit Pfeil 26"/>
          <p:cNvCxnSpPr/>
          <p:nvPr/>
        </p:nvCxnSpPr>
        <p:spPr bwMode="auto">
          <a:xfrm rot="5400000">
            <a:off x="5929322" y="5357826"/>
            <a:ext cx="428628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Gerade Verbindung mit Pfeil 28"/>
          <p:cNvCxnSpPr/>
          <p:nvPr/>
        </p:nvCxnSpPr>
        <p:spPr bwMode="auto">
          <a:xfrm rot="5400000">
            <a:off x="6036479" y="4536289"/>
            <a:ext cx="21431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Gerade Verbindung mit Pfeil 30"/>
          <p:cNvCxnSpPr/>
          <p:nvPr/>
        </p:nvCxnSpPr>
        <p:spPr bwMode="auto">
          <a:xfrm rot="5400000">
            <a:off x="5929322" y="4286256"/>
            <a:ext cx="71438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Gerade Verbindung mit Pfeil 32"/>
          <p:cNvCxnSpPr/>
          <p:nvPr/>
        </p:nvCxnSpPr>
        <p:spPr bwMode="auto">
          <a:xfrm rot="5400000">
            <a:off x="6286512" y="4286256"/>
            <a:ext cx="285752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Gerade Verbindung mit Pfeil 34"/>
          <p:cNvCxnSpPr/>
          <p:nvPr/>
        </p:nvCxnSpPr>
        <p:spPr bwMode="auto">
          <a:xfrm rot="5400000">
            <a:off x="5893603" y="4179099"/>
            <a:ext cx="500066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Gerade Verbindung mit Pfeil 36"/>
          <p:cNvCxnSpPr/>
          <p:nvPr/>
        </p:nvCxnSpPr>
        <p:spPr bwMode="auto">
          <a:xfrm rot="5400000">
            <a:off x="6322231" y="4536289"/>
            <a:ext cx="21431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Gerade Verbindung mit Pfeil 38"/>
          <p:cNvCxnSpPr/>
          <p:nvPr/>
        </p:nvCxnSpPr>
        <p:spPr bwMode="auto">
          <a:xfrm rot="5400000">
            <a:off x="6322231" y="4036223"/>
            <a:ext cx="642942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Gerade Verbindung mit Pfeil 40"/>
          <p:cNvCxnSpPr/>
          <p:nvPr/>
        </p:nvCxnSpPr>
        <p:spPr bwMode="auto">
          <a:xfrm rot="5400000">
            <a:off x="6501620" y="4500570"/>
            <a:ext cx="284958" cy="7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3" name="Textfeld 42"/>
          <p:cNvSpPr txBox="1"/>
          <p:nvPr/>
        </p:nvSpPr>
        <p:spPr>
          <a:xfrm>
            <a:off x="8001024" y="4463015"/>
            <a:ext cx="4555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600" dirty="0" smtClean="0"/>
              <a:t>4</a:t>
            </a:r>
            <a:r>
              <a:rPr lang="de-AT" sz="1600" baseline="30000" dirty="0" smtClean="0"/>
              <a:t>+</a:t>
            </a:r>
          </a:p>
          <a:p>
            <a:endParaRPr lang="de-AT" sz="1600" dirty="0" smtClean="0"/>
          </a:p>
          <a:p>
            <a:r>
              <a:rPr lang="de-AT" sz="1600" dirty="0" smtClean="0"/>
              <a:t>2</a:t>
            </a:r>
            <a:r>
              <a:rPr lang="de-AT" sz="1600" baseline="30000" dirty="0" smtClean="0"/>
              <a:t> + </a:t>
            </a:r>
            <a:endParaRPr lang="de-AT" sz="1600" dirty="0" smtClean="0"/>
          </a:p>
          <a:p>
            <a:endParaRPr lang="de-AT" sz="1600" dirty="0" smtClean="0"/>
          </a:p>
          <a:p>
            <a:r>
              <a:rPr lang="de-AT" sz="1600" dirty="0" smtClean="0"/>
              <a:t>0</a:t>
            </a:r>
            <a:r>
              <a:rPr lang="de-AT" sz="1600" baseline="30000" dirty="0" smtClean="0"/>
              <a:t> + </a:t>
            </a:r>
            <a:endParaRPr lang="de-AT" sz="1600" dirty="0" smtClean="0"/>
          </a:p>
        </p:txBody>
      </p:sp>
      <p:sp>
        <p:nvSpPr>
          <p:cNvPr id="44" name="Textfeld 43"/>
          <p:cNvSpPr txBox="1"/>
          <p:nvPr/>
        </p:nvSpPr>
        <p:spPr>
          <a:xfrm>
            <a:off x="5715008" y="5857892"/>
            <a:ext cx="2462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600" dirty="0" err="1" smtClean="0"/>
              <a:t>Mihailescu</a:t>
            </a:r>
            <a:r>
              <a:rPr lang="de-AT" sz="1600" dirty="0" smtClean="0"/>
              <a:t> et al. ND2007</a:t>
            </a:r>
            <a:endParaRPr lang="de-DE" sz="1600" dirty="0"/>
          </a:p>
        </p:txBody>
      </p:sp>
      <p:sp>
        <p:nvSpPr>
          <p:cNvPr id="45" name="Textfeld 44"/>
          <p:cNvSpPr txBox="1"/>
          <p:nvPr/>
        </p:nvSpPr>
        <p:spPr>
          <a:xfrm>
            <a:off x="5715008" y="1000108"/>
            <a:ext cx="2645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2000" dirty="0" smtClean="0"/>
              <a:t>E. </a:t>
            </a:r>
            <a:r>
              <a:rPr lang="de-AT" sz="2000" dirty="0" err="1" smtClean="0"/>
              <a:t>Jericha</a:t>
            </a:r>
            <a:r>
              <a:rPr lang="de-AT" sz="2000" dirty="0" smtClean="0"/>
              <a:t> (TU Wien)</a:t>
            </a:r>
          </a:p>
          <a:p>
            <a:r>
              <a:rPr lang="de-AT" sz="2000" dirty="0" smtClean="0"/>
              <a:t>A. </a:t>
            </a:r>
            <a:r>
              <a:rPr lang="de-AT" sz="2000" dirty="0" err="1" smtClean="0"/>
              <a:t>Pavlik</a:t>
            </a:r>
            <a:r>
              <a:rPr lang="de-AT" sz="2000" dirty="0" smtClean="0"/>
              <a:t> (Univ. Wien)</a:t>
            </a:r>
            <a:endParaRPr lang="de-DE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 smtClean="0"/>
              <a:t>(</a:t>
            </a:r>
            <a:r>
              <a:rPr lang="de-AT" dirty="0" err="1" smtClean="0"/>
              <a:t>n,</a:t>
            </a:r>
            <a:r>
              <a:rPr lang="de-AT" dirty="0" err="1" smtClean="0">
                <a:latin typeface="Symbol" pitchFamily="18" charset="2"/>
              </a:rPr>
              <a:t>g</a:t>
            </a:r>
            <a:r>
              <a:rPr lang="de-AT" dirty="0" smtClean="0"/>
              <a:t>) </a:t>
            </a:r>
            <a:r>
              <a:rPr lang="de-AT" dirty="0" err="1" smtClean="0"/>
              <a:t>cross</a:t>
            </a:r>
            <a:r>
              <a:rPr lang="de-AT" dirty="0" smtClean="0"/>
              <a:t> </a:t>
            </a:r>
            <a:r>
              <a:rPr lang="de-AT" dirty="0" err="1" smtClean="0"/>
              <a:t>sections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7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500034" y="1071546"/>
            <a:ext cx="2325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 smtClean="0"/>
              <a:t>n_TOF@CERN</a:t>
            </a:r>
            <a:endParaRPr lang="de-DE" b="1" dirty="0"/>
          </a:p>
        </p:txBody>
      </p:sp>
      <p:sp>
        <p:nvSpPr>
          <p:cNvPr id="8" name="Textfeld 7"/>
          <p:cNvSpPr txBox="1"/>
          <p:nvPr/>
        </p:nvSpPr>
        <p:spPr>
          <a:xfrm>
            <a:off x="5500694" y="4857760"/>
            <a:ext cx="3405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astrophysical</a:t>
            </a:r>
            <a:r>
              <a:rPr lang="de-AT" dirty="0" smtClean="0"/>
              <a:t> </a:t>
            </a:r>
            <a:r>
              <a:rPr lang="de-AT" dirty="0" err="1" smtClean="0"/>
              <a:t>relevance</a:t>
            </a:r>
            <a:endParaRPr lang="de-AT" dirty="0" smtClean="0"/>
          </a:p>
          <a:p>
            <a:r>
              <a:rPr lang="de-AT" dirty="0" smtClean="0"/>
              <a:t> </a:t>
            </a:r>
            <a:r>
              <a:rPr lang="de-AT" dirty="0" smtClean="0"/>
              <a:t>    s-</a:t>
            </a:r>
            <a:r>
              <a:rPr lang="de-AT" dirty="0" err="1" smtClean="0"/>
              <a:t>process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642910" y="5643578"/>
            <a:ext cx="8190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main</a:t>
            </a:r>
            <a:r>
              <a:rPr lang="de-AT" dirty="0" smtClean="0"/>
              <a:t> </a:t>
            </a:r>
            <a:r>
              <a:rPr lang="de-AT" dirty="0" err="1" smtClean="0"/>
              <a:t>responsibility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TU Wien: </a:t>
            </a:r>
            <a:r>
              <a:rPr lang="de-AT" dirty="0" smtClean="0"/>
              <a:t>proper </a:t>
            </a:r>
            <a:r>
              <a:rPr lang="de-AT" dirty="0" err="1" smtClean="0"/>
              <a:t>uncertainty</a:t>
            </a:r>
            <a:r>
              <a:rPr lang="de-AT" dirty="0" smtClean="0"/>
              <a:t> </a:t>
            </a:r>
            <a:r>
              <a:rPr lang="de-AT" dirty="0" err="1" smtClean="0"/>
              <a:t>analysis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3714744" y="1071546"/>
            <a:ext cx="1404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(</a:t>
            </a:r>
            <a:r>
              <a:rPr lang="de-AT" dirty="0" err="1" smtClean="0"/>
              <a:t>n,</a:t>
            </a:r>
            <a:r>
              <a:rPr lang="de-AT" dirty="0" err="1" smtClean="0">
                <a:latin typeface="Symbol" pitchFamily="18" charset="2"/>
              </a:rPr>
              <a:t>g</a:t>
            </a:r>
            <a:r>
              <a:rPr lang="de-AT" dirty="0" smtClean="0"/>
              <a:t>) (</a:t>
            </a:r>
            <a:r>
              <a:rPr lang="de-AT" dirty="0" err="1" smtClean="0"/>
              <a:t>n,f</a:t>
            </a:r>
            <a:r>
              <a:rPr lang="de-AT" dirty="0" smtClean="0"/>
              <a:t>)</a:t>
            </a:r>
            <a:endParaRPr lang="de-DE" dirty="0"/>
          </a:p>
        </p:txBody>
      </p:sp>
      <p:pic>
        <p:nvPicPr>
          <p:cNvPr id="11" name="Picture 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714488"/>
            <a:ext cx="5257800" cy="3732213"/>
          </a:xfrm>
          <a:prstGeom prst="rect">
            <a:avLst/>
          </a:prstGeom>
          <a:noFill/>
        </p:spPr>
      </p:pic>
      <p:pic>
        <p:nvPicPr>
          <p:cNvPr id="12" name="Picture 17"/>
          <p:cNvPicPr>
            <a:picLocks noChangeAspect="1" noChangeArrowheads="1"/>
          </p:cNvPicPr>
          <p:nvPr/>
        </p:nvPicPr>
        <p:blipFill>
          <a:blip r:embed="rId4"/>
          <a:srcRect l="1561" t="2049" r="755" b="3107"/>
          <a:stretch>
            <a:fillRect/>
          </a:stretch>
        </p:blipFill>
        <p:spPr bwMode="auto">
          <a:xfrm>
            <a:off x="5500694" y="857232"/>
            <a:ext cx="3435353" cy="2542409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13" name="Textfeld 12"/>
          <p:cNvSpPr txBox="1"/>
          <p:nvPr/>
        </p:nvSpPr>
        <p:spPr>
          <a:xfrm>
            <a:off x="5857884" y="3429000"/>
            <a:ext cx="28039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4</a:t>
            </a:r>
            <a:r>
              <a:rPr lang="de-AT" dirty="0" smtClean="0">
                <a:latin typeface="Symbol" pitchFamily="18" charset="2"/>
              </a:rPr>
              <a:t>p</a:t>
            </a:r>
            <a:r>
              <a:rPr lang="de-AT" dirty="0" smtClean="0"/>
              <a:t> total </a:t>
            </a:r>
            <a:r>
              <a:rPr lang="de-AT" dirty="0" err="1" smtClean="0"/>
              <a:t>absorption</a:t>
            </a:r>
            <a:r>
              <a:rPr lang="de-AT" dirty="0" smtClean="0"/>
              <a:t> </a:t>
            </a:r>
          </a:p>
          <a:p>
            <a:r>
              <a:rPr lang="de-AT" dirty="0" err="1" smtClean="0"/>
              <a:t>c</a:t>
            </a:r>
            <a:r>
              <a:rPr lang="de-AT" dirty="0" err="1" smtClean="0"/>
              <a:t>alorimeter</a:t>
            </a:r>
            <a:r>
              <a:rPr lang="de-AT" dirty="0" smtClean="0"/>
              <a:t> (TAC)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sz="2800" dirty="0" smtClean="0"/>
              <a:t>Experimental </a:t>
            </a:r>
            <a:r>
              <a:rPr lang="de-AT" sz="2800" dirty="0" err="1" smtClean="0"/>
              <a:t>uncertainties</a:t>
            </a:r>
            <a:r>
              <a:rPr lang="de-AT" sz="2800" dirty="0" smtClean="0"/>
              <a:t> </a:t>
            </a:r>
            <a:r>
              <a:rPr lang="de-AT" sz="2800" dirty="0" err="1" smtClean="0"/>
              <a:t>at</a:t>
            </a:r>
            <a:r>
              <a:rPr lang="de-AT" sz="2800" dirty="0" smtClean="0"/>
              <a:t> </a:t>
            </a:r>
            <a:r>
              <a:rPr lang="de-AT" sz="2800" dirty="0" err="1" smtClean="0"/>
              <a:t>n_TOF</a:t>
            </a:r>
            <a:endParaRPr lang="de-DE" sz="2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8</a:t>
            </a:fld>
            <a:endParaRPr lang="de-AT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1957374"/>
            <a:ext cx="3581400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53400" y="1066800"/>
            <a:ext cx="809625" cy="866775"/>
          </a:xfrm>
          <a:prstGeom prst="rect">
            <a:avLst/>
          </a:prstGeom>
          <a:noFill/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00034" y="5643578"/>
            <a:ext cx="8206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800" dirty="0" err="1">
                <a:latin typeface="Times New Roman" pitchFamily="18" charset="0"/>
              </a:rPr>
              <a:t>normalized</a:t>
            </a:r>
            <a:r>
              <a:rPr lang="de-DE" sz="2800" dirty="0">
                <a:latin typeface="Times New Roman" pitchFamily="18" charset="0"/>
              </a:rPr>
              <a:t> </a:t>
            </a:r>
            <a:r>
              <a:rPr lang="de-DE" sz="2800" dirty="0" err="1">
                <a:latin typeface="Times New Roman" pitchFamily="18" charset="0"/>
              </a:rPr>
              <a:t>covariance</a:t>
            </a:r>
            <a:r>
              <a:rPr lang="de-DE" sz="2800" dirty="0">
                <a:latin typeface="Times New Roman" pitchFamily="18" charset="0"/>
              </a:rPr>
              <a:t> </a:t>
            </a:r>
            <a:r>
              <a:rPr lang="de-DE" sz="2800" dirty="0" err="1" smtClean="0">
                <a:latin typeface="Times New Roman" pitchFamily="18" charset="0"/>
              </a:rPr>
              <a:t>matrix</a:t>
            </a:r>
            <a:r>
              <a:rPr lang="de-DE" sz="2800" dirty="0" smtClean="0">
                <a:latin typeface="Times New Roman" pitchFamily="18" charset="0"/>
              </a:rPr>
              <a:t> </a:t>
            </a:r>
            <a:r>
              <a:rPr lang="de-DE" sz="2800" dirty="0" err="1" smtClean="0">
                <a:latin typeface="Times New Roman" pitchFamily="18" charset="0"/>
              </a:rPr>
              <a:t>of</a:t>
            </a:r>
            <a:r>
              <a:rPr lang="de-DE" sz="2800" dirty="0" smtClean="0">
                <a:latin typeface="Times New Roman" pitchFamily="18" charset="0"/>
              </a:rPr>
              <a:t> </a:t>
            </a:r>
            <a:r>
              <a:rPr lang="de-DE" sz="2800" dirty="0" err="1" smtClean="0">
                <a:latin typeface="Times New Roman" pitchFamily="18" charset="0"/>
              </a:rPr>
              <a:t>the</a:t>
            </a:r>
            <a:r>
              <a:rPr lang="de-DE" sz="2800" dirty="0" smtClean="0">
                <a:latin typeface="Times New Roman" pitchFamily="18" charset="0"/>
              </a:rPr>
              <a:t> </a:t>
            </a:r>
            <a:r>
              <a:rPr lang="de-DE" sz="2800" dirty="0" err="1" smtClean="0">
                <a:latin typeface="Times New Roman" pitchFamily="18" charset="0"/>
              </a:rPr>
              <a:t>n_TOF</a:t>
            </a:r>
            <a:r>
              <a:rPr lang="de-DE" sz="2800" dirty="0" smtClean="0">
                <a:latin typeface="Times New Roman" pitchFamily="18" charset="0"/>
              </a:rPr>
              <a:t> </a:t>
            </a:r>
            <a:r>
              <a:rPr lang="de-DE" sz="2800" dirty="0" err="1" smtClean="0">
                <a:latin typeface="Times New Roman" pitchFamily="18" charset="0"/>
              </a:rPr>
              <a:t>experiment</a:t>
            </a:r>
            <a:endParaRPr lang="de-AT" sz="2800" b="1" dirty="0">
              <a:latin typeface="Times New Roman" pitchFamily="18" charset="0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034" y="2028812"/>
            <a:ext cx="3581400" cy="299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65125" y="4606925"/>
            <a:ext cx="1384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baseline="30000">
                <a:solidFill>
                  <a:schemeClr val="bg1"/>
                </a:solidFill>
                <a:latin typeface="Times New Roman" pitchFamily="18" charset="0"/>
              </a:rPr>
              <a:t>232</a:t>
            </a:r>
            <a:r>
              <a:rPr lang="de-DE">
                <a:solidFill>
                  <a:schemeClr val="bg1"/>
                </a:solidFill>
                <a:latin typeface="Times New Roman" pitchFamily="18" charset="0"/>
              </a:rPr>
              <a:t>Th(n,</a:t>
            </a:r>
            <a:r>
              <a:rPr lang="de-DE">
                <a:solidFill>
                  <a:schemeClr val="bg1"/>
                </a:solidFill>
                <a:latin typeface="Symbol" pitchFamily="18" charset="2"/>
              </a:rPr>
              <a:t>g</a:t>
            </a:r>
            <a:r>
              <a:rPr lang="de-DE">
                <a:solidFill>
                  <a:schemeClr val="bg1"/>
                </a:solidFill>
                <a:latin typeface="Times New Roman" pitchFamily="18" charset="0"/>
              </a:rPr>
              <a:t>)</a:t>
            </a:r>
            <a:endParaRPr lang="de-AT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5105400" y="1752600"/>
            <a:ext cx="1452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baseline="30000">
                <a:solidFill>
                  <a:schemeClr val="bg1"/>
                </a:solidFill>
                <a:latin typeface="Times New Roman" pitchFamily="18" charset="0"/>
              </a:rPr>
              <a:t>151</a:t>
            </a:r>
            <a:r>
              <a:rPr lang="de-DE">
                <a:solidFill>
                  <a:schemeClr val="bg1"/>
                </a:solidFill>
                <a:latin typeface="Times New Roman" pitchFamily="18" charset="0"/>
              </a:rPr>
              <a:t>Sm(n,</a:t>
            </a:r>
            <a:r>
              <a:rPr lang="de-DE">
                <a:solidFill>
                  <a:schemeClr val="bg1"/>
                </a:solidFill>
                <a:latin typeface="Symbol" pitchFamily="18" charset="2"/>
              </a:rPr>
              <a:t>g</a:t>
            </a:r>
            <a:r>
              <a:rPr lang="de-DE">
                <a:solidFill>
                  <a:schemeClr val="bg1"/>
                </a:solidFill>
                <a:latin typeface="Times New Roman" pitchFamily="18" charset="0"/>
              </a:rPr>
              <a:t>)</a:t>
            </a:r>
            <a:endParaRPr lang="de-AT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6400800" y="1500174"/>
            <a:ext cx="1562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baseline="30000"/>
              <a:t>151</a:t>
            </a:r>
            <a:r>
              <a:rPr lang="de-DE"/>
              <a:t>Sm(n,</a:t>
            </a:r>
            <a:r>
              <a:rPr lang="de-DE">
                <a:latin typeface="Symbol" pitchFamily="18" charset="2"/>
              </a:rPr>
              <a:t>g</a:t>
            </a:r>
            <a:r>
              <a:rPr lang="de-DE"/>
              <a:t>)</a:t>
            </a:r>
            <a:endParaRPr lang="de-AT"/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1928794" y="1500174"/>
            <a:ext cx="1460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baseline="30000" dirty="0"/>
              <a:t>232</a:t>
            </a:r>
            <a:r>
              <a:rPr lang="de-DE" dirty="0"/>
              <a:t>Th(</a:t>
            </a:r>
            <a:r>
              <a:rPr lang="de-DE" dirty="0" err="1"/>
              <a:t>n,</a:t>
            </a:r>
            <a:r>
              <a:rPr lang="de-DE" dirty="0" err="1">
                <a:latin typeface="Symbol" pitchFamily="18" charset="2"/>
              </a:rPr>
              <a:t>g</a:t>
            </a:r>
            <a:r>
              <a:rPr lang="de-DE" dirty="0"/>
              <a:t>)</a:t>
            </a:r>
            <a:endParaRPr lang="de-AT" dirty="0"/>
          </a:p>
        </p:txBody>
      </p:sp>
      <p:sp>
        <p:nvSpPr>
          <p:cNvPr id="15" name="Textfeld 14"/>
          <p:cNvSpPr txBox="1"/>
          <p:nvPr/>
        </p:nvSpPr>
        <p:spPr>
          <a:xfrm>
            <a:off x="4857752" y="1662090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i="1" dirty="0" smtClean="0"/>
              <a:t>E‘ </a:t>
            </a:r>
            <a:r>
              <a:rPr lang="de-AT" sz="1800" dirty="0" smtClean="0"/>
              <a:t> </a:t>
            </a:r>
            <a:r>
              <a:rPr lang="de-AT" sz="1800" dirty="0" err="1" smtClean="0"/>
              <a:t>MeV</a:t>
            </a:r>
            <a:endParaRPr lang="de-DE" sz="1800" dirty="0"/>
          </a:p>
        </p:txBody>
      </p:sp>
      <p:sp>
        <p:nvSpPr>
          <p:cNvPr id="16" name="Textfeld 15"/>
          <p:cNvSpPr txBox="1"/>
          <p:nvPr/>
        </p:nvSpPr>
        <p:spPr>
          <a:xfrm>
            <a:off x="1785918" y="5000620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i="1" dirty="0" smtClean="0"/>
              <a:t>E‘ </a:t>
            </a:r>
            <a:r>
              <a:rPr lang="de-AT" sz="1800" dirty="0" smtClean="0"/>
              <a:t> </a:t>
            </a:r>
            <a:r>
              <a:rPr lang="de-AT" sz="1800" dirty="0" err="1" smtClean="0"/>
              <a:t>MeV</a:t>
            </a:r>
            <a:endParaRPr lang="de-DE" sz="1800" dirty="0"/>
          </a:p>
        </p:txBody>
      </p:sp>
      <p:sp>
        <p:nvSpPr>
          <p:cNvPr id="17" name="Textfeld 16"/>
          <p:cNvSpPr txBox="1"/>
          <p:nvPr/>
        </p:nvSpPr>
        <p:spPr>
          <a:xfrm>
            <a:off x="6786578" y="5091114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i="1" dirty="0" smtClean="0"/>
              <a:t>E‘ </a:t>
            </a:r>
            <a:r>
              <a:rPr lang="de-AT" sz="1800" dirty="0" smtClean="0"/>
              <a:t> </a:t>
            </a:r>
            <a:r>
              <a:rPr lang="de-AT" sz="1800" dirty="0" err="1" smtClean="0"/>
              <a:t>MeV</a:t>
            </a:r>
            <a:endParaRPr lang="de-DE" sz="1800" dirty="0"/>
          </a:p>
        </p:txBody>
      </p:sp>
      <p:sp>
        <p:nvSpPr>
          <p:cNvPr id="18" name="Textfeld 17"/>
          <p:cNvSpPr txBox="1"/>
          <p:nvPr/>
        </p:nvSpPr>
        <p:spPr>
          <a:xfrm>
            <a:off x="214282" y="171447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i="1" dirty="0" smtClean="0"/>
              <a:t>E </a:t>
            </a:r>
            <a:r>
              <a:rPr lang="de-AT" sz="1800" dirty="0" smtClean="0"/>
              <a:t> </a:t>
            </a:r>
            <a:r>
              <a:rPr lang="de-AT" sz="1800" dirty="0" err="1" smtClean="0"/>
              <a:t>MeV</a:t>
            </a:r>
            <a:endParaRPr lang="de-DE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Nuclear</a:t>
            </a:r>
            <a:r>
              <a:rPr lang="de-AT" dirty="0" smtClean="0"/>
              <a:t> </a:t>
            </a:r>
            <a:r>
              <a:rPr lang="de-AT" dirty="0" err="1" smtClean="0"/>
              <a:t>data</a:t>
            </a:r>
            <a:r>
              <a:rPr lang="de-AT" dirty="0" smtClean="0"/>
              <a:t> </a:t>
            </a:r>
            <a:r>
              <a:rPr lang="de-AT" dirty="0" err="1" smtClean="0"/>
              <a:t>evaluation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9</a:t>
            </a:fld>
            <a:endParaRPr lang="de-AT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04800" y="1216025"/>
            <a:ext cx="841127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 u="sng" dirty="0">
                <a:solidFill>
                  <a:schemeClr val="accent6">
                    <a:lumMod val="75000"/>
                  </a:schemeClr>
                </a:solidFill>
              </a:rPr>
              <a:t>Start </a:t>
            </a:r>
            <a:r>
              <a:rPr lang="de-DE" sz="2000" b="1" u="sng" dirty="0" err="1">
                <a:solidFill>
                  <a:schemeClr val="accent6">
                    <a:lumMod val="75000"/>
                  </a:schemeClr>
                </a:solidFill>
              </a:rPr>
              <a:t>of</a:t>
            </a:r>
            <a:r>
              <a:rPr lang="de-DE" sz="2000" b="1" u="sng" dirty="0">
                <a:solidFill>
                  <a:schemeClr val="accent6">
                    <a:lumMod val="75000"/>
                  </a:schemeClr>
                </a:solidFill>
              </a:rPr>
              <a:t> Modern Data Evaluation: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 </a:t>
            </a:r>
          </a:p>
          <a:p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recommended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values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of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fundamental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physics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constants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</a:rPr>
              <a:t> (</a:t>
            </a:r>
            <a:r>
              <a:rPr lang="de-DE" sz="20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</a:rPr>
              <a:t>c, </a:t>
            </a:r>
            <a:r>
              <a:rPr lang="de-DE" sz="1800" dirty="0">
                <a:solidFill>
                  <a:schemeClr val="accent6">
                    <a:lumMod val="75000"/>
                  </a:schemeClr>
                </a:solidFill>
                <a:latin typeface="MT Extra" pitchFamily="18" charset="2"/>
              </a:rPr>
              <a:t>h</a:t>
            </a:r>
            <a:r>
              <a:rPr lang="de-DE" sz="20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</a:rPr>
              <a:t>, </a:t>
            </a:r>
            <a:r>
              <a:rPr lang="de-DE" sz="2000" dirty="0" err="1">
                <a:solidFill>
                  <a:schemeClr val="accent6">
                    <a:lumMod val="75000"/>
                  </a:schemeClr>
                </a:solidFill>
                <a:latin typeface="Symbol" pitchFamily="18" charset="2"/>
              </a:rPr>
              <a:t>a</a:t>
            </a:r>
            <a:r>
              <a:rPr lang="de-DE" sz="2000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</a:rPr>
              <a:t>f</a:t>
            </a:r>
            <a:r>
              <a:rPr lang="de-DE" sz="20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</a:rPr>
              <a:t>, ...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</a:rPr>
              <a:t> ) </a:t>
            </a:r>
          </a:p>
          <a:p>
            <a:r>
              <a:rPr lang="de-DE" sz="2000" dirty="0" err="1">
                <a:solidFill>
                  <a:schemeClr val="accent6">
                    <a:lumMod val="75000"/>
                  </a:schemeClr>
                </a:solidFill>
              </a:rPr>
              <a:t>Dunnington</a:t>
            </a:r>
            <a:r>
              <a:rPr lang="de-DE" sz="2000" dirty="0">
                <a:solidFill>
                  <a:schemeClr val="accent6">
                    <a:lumMod val="75000"/>
                  </a:schemeClr>
                </a:solidFill>
              </a:rPr>
              <a:t> (1939); Du Mond </a:t>
            </a:r>
            <a:r>
              <a:rPr lang="de-DE" sz="2000" dirty="0" err="1">
                <a:solidFill>
                  <a:schemeClr val="accent6">
                    <a:lumMod val="75000"/>
                  </a:schemeClr>
                </a:solidFill>
              </a:rPr>
              <a:t>and</a:t>
            </a:r>
            <a:r>
              <a:rPr lang="de-DE" sz="2000" dirty="0">
                <a:solidFill>
                  <a:schemeClr val="accent6">
                    <a:lumMod val="75000"/>
                  </a:schemeClr>
                </a:solidFill>
              </a:rPr>
              <a:t> Cohen (1953)</a:t>
            </a:r>
            <a:endParaRPr lang="de-AT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04800" y="2743200"/>
            <a:ext cx="8813631" cy="3477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 u="sng" dirty="0" err="1">
                <a:solidFill>
                  <a:schemeClr val="accent6">
                    <a:lumMod val="75000"/>
                  </a:schemeClr>
                </a:solidFill>
              </a:rPr>
              <a:t>Present</a:t>
            </a:r>
            <a:r>
              <a:rPr lang="de-DE" sz="2000" b="1" u="sng" dirty="0">
                <a:solidFill>
                  <a:schemeClr val="accent6">
                    <a:lumMod val="75000"/>
                  </a:schemeClr>
                </a:solidFill>
              </a:rPr>
              <a:t> Status:</a:t>
            </a:r>
          </a:p>
          <a:p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At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present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Evaluated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Nuclear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Data Files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represent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a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consistent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set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of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cross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sections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and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associated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quantities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all relevant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reaction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processes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.  Most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data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files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are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limited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to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the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energy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region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below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20MeV.</a:t>
            </a:r>
          </a:p>
          <a:p>
            <a:endParaRPr lang="de-DE" sz="20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There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exist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several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nuclear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data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libraries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with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evaluated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cross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section</a:t>
            </a:r>
            <a:endParaRPr lang="de-DE" sz="20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data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, but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only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few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files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contain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uncertainty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</a:rPr>
              <a:t>information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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the</a:t>
            </a:r>
            <a:r>
              <a:rPr lang="de-DE" sz="2000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reliability</a:t>
            </a:r>
            <a:endParaRPr lang="de-DE" sz="2000" b="1" dirty="0">
              <a:solidFill>
                <a:schemeClr val="accent6">
                  <a:lumMod val="75000"/>
                </a:schemeClr>
              </a:solidFill>
              <a:sym typeface="Wingdings" pitchFamily="2" charset="2"/>
            </a:endParaRPr>
          </a:p>
          <a:p>
            <a:r>
              <a:rPr lang="de-DE" sz="2000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Is still an open </a:t>
            </a:r>
            <a:r>
              <a:rPr lang="de-DE" sz="2000" b="1" dirty="0" err="1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question</a:t>
            </a:r>
            <a:r>
              <a:rPr lang="de-DE" sz="2000" b="1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endParaRPr lang="de-AT" sz="2000" b="1" dirty="0" smtClean="0">
              <a:solidFill>
                <a:srgbClr val="FF0000"/>
              </a:solidFill>
            </a:endParaRPr>
          </a:p>
          <a:p>
            <a:r>
              <a:rPr lang="de-AT" sz="2000" b="1" dirty="0" smtClean="0">
                <a:solidFill>
                  <a:srgbClr val="FF0000"/>
                </a:solidFill>
              </a:rPr>
              <a:t>JEFF3.1, ENDF/B-VII, JENDL, CENDL, …</a:t>
            </a:r>
            <a:endParaRPr lang="de-AT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 err="1" smtClean="0"/>
              <a:t>Concept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evaluation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10</a:t>
            </a:fld>
            <a:endParaRPr lang="de-AT"/>
          </a:p>
        </p:txBody>
      </p:sp>
      <p:sp>
        <p:nvSpPr>
          <p:cNvPr id="7" name="Textfeld 6"/>
          <p:cNvSpPr txBox="1">
            <a:spLocks noChangeArrowheads="1"/>
          </p:cNvSpPr>
          <p:nvPr/>
        </p:nvSpPr>
        <p:spPr bwMode="auto">
          <a:xfrm>
            <a:off x="500063" y="1071563"/>
            <a:ext cx="8501062" cy="526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 sz="2400" dirty="0" err="1"/>
              <a:t>Nuclear</a:t>
            </a:r>
            <a:r>
              <a:rPr lang="de-AT" sz="2400" dirty="0"/>
              <a:t> </a:t>
            </a:r>
            <a:r>
              <a:rPr lang="de-AT" sz="2400" dirty="0" err="1"/>
              <a:t>data</a:t>
            </a:r>
            <a:r>
              <a:rPr lang="de-AT" sz="2400" dirty="0"/>
              <a:t> </a:t>
            </a:r>
            <a:r>
              <a:rPr lang="de-AT" sz="2400" dirty="0" err="1"/>
              <a:t>evaluation</a:t>
            </a:r>
            <a:r>
              <a:rPr lang="de-AT" sz="2400" dirty="0"/>
              <a:t> </a:t>
            </a:r>
            <a:r>
              <a:rPr lang="de-AT" sz="2400" dirty="0" err="1"/>
              <a:t>is</a:t>
            </a:r>
            <a:r>
              <a:rPr lang="de-AT" sz="2400" dirty="0"/>
              <a:t> </a:t>
            </a:r>
            <a:r>
              <a:rPr lang="de-AT" sz="2400" dirty="0" err="1"/>
              <a:t>essentially</a:t>
            </a:r>
            <a:r>
              <a:rPr lang="de-AT" sz="2400" dirty="0"/>
              <a:t> a </a:t>
            </a:r>
            <a:r>
              <a:rPr lang="de-AT" sz="2400" dirty="0" err="1"/>
              <a:t>procedure</a:t>
            </a:r>
            <a:r>
              <a:rPr lang="de-AT" sz="2400" dirty="0"/>
              <a:t> </a:t>
            </a:r>
            <a:r>
              <a:rPr lang="de-AT" sz="2400" dirty="0" err="1"/>
              <a:t>following</a:t>
            </a:r>
            <a:r>
              <a:rPr lang="de-AT" sz="2400" dirty="0"/>
              <a:t> </a:t>
            </a:r>
          </a:p>
          <a:p>
            <a:r>
              <a:rPr lang="de-AT" sz="2400" dirty="0" err="1"/>
              <a:t>the</a:t>
            </a:r>
            <a:r>
              <a:rPr lang="de-AT" sz="2400" dirty="0"/>
              <a:t> </a:t>
            </a:r>
            <a:r>
              <a:rPr lang="de-AT" sz="2400" dirty="0" err="1"/>
              <a:t>rules</a:t>
            </a:r>
            <a:r>
              <a:rPr lang="de-AT" sz="2400" dirty="0"/>
              <a:t> </a:t>
            </a:r>
            <a:r>
              <a:rPr lang="de-AT" sz="2400" dirty="0" err="1"/>
              <a:t>of</a:t>
            </a:r>
            <a:r>
              <a:rPr lang="de-AT" sz="2400" dirty="0"/>
              <a:t> </a:t>
            </a:r>
            <a:r>
              <a:rPr lang="de-AT" sz="2400" dirty="0" err="1"/>
              <a:t>Bayesian</a:t>
            </a:r>
            <a:r>
              <a:rPr lang="de-AT" sz="2400" dirty="0"/>
              <a:t> </a:t>
            </a:r>
            <a:r>
              <a:rPr lang="de-AT" sz="2400" dirty="0" err="1"/>
              <a:t>statistics</a:t>
            </a:r>
            <a:r>
              <a:rPr lang="de-AT" sz="2400" dirty="0"/>
              <a:t> </a:t>
            </a:r>
            <a:r>
              <a:rPr lang="de-AT" sz="2400" dirty="0" err="1"/>
              <a:t>within</a:t>
            </a:r>
            <a:r>
              <a:rPr lang="de-AT" sz="2400" dirty="0"/>
              <a:t> a </a:t>
            </a:r>
            <a:r>
              <a:rPr lang="de-AT" sz="2400" i="1" dirty="0" err="1"/>
              <a:t>subjective</a:t>
            </a:r>
            <a:r>
              <a:rPr lang="de-AT" sz="2400" dirty="0"/>
              <a:t> </a:t>
            </a:r>
            <a:r>
              <a:rPr lang="de-AT" sz="2400" dirty="0" err="1"/>
              <a:t>interpretation</a:t>
            </a:r>
            <a:r>
              <a:rPr lang="de-AT" sz="2400" dirty="0"/>
              <a:t> </a:t>
            </a:r>
            <a:br>
              <a:rPr lang="de-AT" sz="2400" dirty="0"/>
            </a:br>
            <a:r>
              <a:rPr lang="de-AT" sz="2400" dirty="0"/>
              <a:t>	</a:t>
            </a:r>
            <a:r>
              <a:rPr lang="de-AT" sz="2400" dirty="0" err="1">
                <a:solidFill>
                  <a:srgbClr val="FF0000"/>
                </a:solidFill>
              </a:rPr>
              <a:t>the</a:t>
            </a:r>
            <a:r>
              <a:rPr lang="de-AT" sz="2400" dirty="0">
                <a:solidFill>
                  <a:srgbClr val="FF0000"/>
                </a:solidFill>
              </a:rPr>
              <a:t> </a:t>
            </a:r>
            <a:r>
              <a:rPr lang="de-AT" sz="2400" dirty="0" err="1">
                <a:solidFill>
                  <a:srgbClr val="FF0000"/>
                </a:solidFill>
              </a:rPr>
              <a:t>probability</a:t>
            </a:r>
            <a:r>
              <a:rPr lang="de-AT" sz="2400" dirty="0">
                <a:solidFill>
                  <a:srgbClr val="FF0000"/>
                </a:solidFill>
              </a:rPr>
              <a:t> </a:t>
            </a:r>
            <a:r>
              <a:rPr lang="de-AT" sz="2400" dirty="0" err="1">
                <a:solidFill>
                  <a:srgbClr val="FF0000"/>
                </a:solidFill>
              </a:rPr>
              <a:t>reflects</a:t>
            </a:r>
            <a:r>
              <a:rPr lang="de-AT" sz="2400" dirty="0">
                <a:solidFill>
                  <a:srgbClr val="FF0000"/>
                </a:solidFill>
              </a:rPr>
              <a:t> </a:t>
            </a:r>
            <a:r>
              <a:rPr lang="de-AT" sz="2400" dirty="0" err="1">
                <a:solidFill>
                  <a:srgbClr val="FF0000"/>
                </a:solidFill>
              </a:rPr>
              <a:t>our</a:t>
            </a:r>
            <a:r>
              <a:rPr lang="de-AT" sz="2400" dirty="0">
                <a:solidFill>
                  <a:srgbClr val="FF0000"/>
                </a:solidFill>
              </a:rPr>
              <a:t> </a:t>
            </a:r>
            <a:r>
              <a:rPr lang="de-AT" sz="2400" dirty="0" err="1">
                <a:solidFill>
                  <a:srgbClr val="FF0000"/>
                </a:solidFill>
              </a:rPr>
              <a:t>expectation</a:t>
            </a:r>
            <a:r>
              <a:rPr lang="de-AT" sz="2400" dirty="0">
                <a:solidFill>
                  <a:srgbClr val="FF0000"/>
                </a:solidFill>
              </a:rPr>
              <a:t/>
            </a:r>
            <a:br>
              <a:rPr lang="de-AT" sz="2400" dirty="0">
                <a:solidFill>
                  <a:srgbClr val="FF0000"/>
                </a:solidFill>
              </a:rPr>
            </a:br>
            <a:r>
              <a:rPr lang="de-AT" sz="2400" dirty="0">
                <a:solidFill>
                  <a:srgbClr val="FF0000"/>
                </a:solidFill>
              </a:rPr>
              <a:t>	</a:t>
            </a:r>
            <a:r>
              <a:rPr lang="de-AT" sz="2400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de-AT" sz="2400" dirty="0" err="1">
                <a:solidFill>
                  <a:srgbClr val="FF0000"/>
                </a:solidFill>
                <a:sym typeface="Wingdings" pitchFamily="2" charset="2"/>
              </a:rPr>
              <a:t>no</a:t>
            </a:r>
            <a:r>
              <a:rPr lang="de-AT" sz="2400" dirty="0">
                <a:solidFill>
                  <a:srgbClr val="FF0000"/>
                </a:solidFill>
                <a:sym typeface="Wingdings" pitchFamily="2" charset="2"/>
              </a:rPr>
              <a:t> experimental </a:t>
            </a:r>
            <a:r>
              <a:rPr lang="de-AT" sz="2400" dirty="0" err="1">
                <a:solidFill>
                  <a:srgbClr val="FF0000"/>
                </a:solidFill>
                <a:sym typeface="Wingdings" pitchFamily="2" charset="2"/>
              </a:rPr>
              <a:t>verification</a:t>
            </a:r>
            <a:endParaRPr lang="de-AT" sz="2400" dirty="0">
              <a:solidFill>
                <a:srgbClr val="FF0000"/>
              </a:solidFill>
            </a:endParaRPr>
          </a:p>
          <a:p>
            <a:endParaRPr lang="de-AT" sz="2400" dirty="0">
              <a:solidFill>
                <a:srgbClr val="FF0000"/>
              </a:solidFill>
            </a:endParaRPr>
          </a:p>
          <a:p>
            <a:r>
              <a:rPr lang="de-AT" sz="2400" dirty="0">
                <a:solidFill>
                  <a:srgbClr val="003399"/>
                </a:solidFill>
              </a:rPr>
              <a:t>Evaluation </a:t>
            </a:r>
            <a:r>
              <a:rPr lang="de-AT" sz="2400" dirty="0" err="1">
                <a:solidFill>
                  <a:srgbClr val="003399"/>
                </a:solidFill>
              </a:rPr>
              <a:t>is</a:t>
            </a:r>
            <a:r>
              <a:rPr lang="de-AT" sz="2400" dirty="0">
                <a:solidFill>
                  <a:srgbClr val="003399"/>
                </a:solidFill>
              </a:rPr>
              <a:t> </a:t>
            </a:r>
            <a:r>
              <a:rPr lang="de-AT" sz="2400" dirty="0" err="1">
                <a:solidFill>
                  <a:srgbClr val="003399"/>
                </a:solidFill>
              </a:rPr>
              <a:t>given</a:t>
            </a:r>
            <a:r>
              <a:rPr lang="de-AT" sz="2400" dirty="0">
                <a:solidFill>
                  <a:srgbClr val="003399"/>
                </a:solidFill>
              </a:rPr>
              <a:t> in </a:t>
            </a:r>
            <a:r>
              <a:rPr lang="de-AT" sz="2400" dirty="0" err="1">
                <a:solidFill>
                  <a:srgbClr val="003399"/>
                </a:solidFill>
              </a:rPr>
              <a:t>terms</a:t>
            </a:r>
            <a:r>
              <a:rPr lang="de-AT" sz="2400" dirty="0">
                <a:solidFill>
                  <a:srgbClr val="003399"/>
                </a:solidFill>
              </a:rPr>
              <a:t> </a:t>
            </a:r>
            <a:r>
              <a:rPr lang="de-AT" sz="2400" dirty="0" err="1">
                <a:solidFill>
                  <a:srgbClr val="003399"/>
                </a:solidFill>
              </a:rPr>
              <a:t>of</a:t>
            </a:r>
            <a:endParaRPr lang="de-AT" sz="2400" dirty="0">
              <a:solidFill>
                <a:srgbClr val="003399"/>
              </a:solidFill>
            </a:endParaRPr>
          </a:p>
          <a:p>
            <a:r>
              <a:rPr lang="de-AT" sz="2400" dirty="0">
                <a:solidFill>
                  <a:srgbClr val="003399"/>
                </a:solidFill>
              </a:rPr>
              <a:t>- </a:t>
            </a:r>
            <a:r>
              <a:rPr lang="de-AT" sz="2400" dirty="0" err="1">
                <a:solidFill>
                  <a:srgbClr val="003399"/>
                </a:solidFill>
              </a:rPr>
              <a:t>expectation</a:t>
            </a:r>
            <a:r>
              <a:rPr lang="de-AT" sz="2400" dirty="0">
                <a:solidFill>
                  <a:srgbClr val="003399"/>
                </a:solidFill>
              </a:rPr>
              <a:t> </a:t>
            </a:r>
            <a:r>
              <a:rPr lang="de-AT" sz="2400" dirty="0" err="1">
                <a:solidFill>
                  <a:srgbClr val="003399"/>
                </a:solidFill>
              </a:rPr>
              <a:t>values</a:t>
            </a:r>
            <a:r>
              <a:rPr lang="de-AT" sz="2400" dirty="0">
                <a:solidFill>
                  <a:srgbClr val="003399"/>
                </a:solidFill>
              </a:rPr>
              <a:t> </a:t>
            </a:r>
            <a:r>
              <a:rPr lang="de-AT" sz="2400" dirty="0" err="1">
                <a:solidFill>
                  <a:srgbClr val="003399"/>
                </a:solidFill>
              </a:rPr>
              <a:t>of</a:t>
            </a:r>
            <a:r>
              <a:rPr lang="de-AT" sz="2400" dirty="0">
                <a:solidFill>
                  <a:srgbClr val="003399"/>
                </a:solidFill>
              </a:rPr>
              <a:t> observables</a:t>
            </a:r>
            <a:br>
              <a:rPr lang="de-AT" sz="2400" dirty="0">
                <a:solidFill>
                  <a:srgbClr val="003399"/>
                </a:solidFill>
              </a:rPr>
            </a:br>
            <a:r>
              <a:rPr lang="de-AT" sz="2400" dirty="0">
                <a:solidFill>
                  <a:srgbClr val="003399"/>
                </a:solidFill>
              </a:rPr>
              <a:t/>
            </a:r>
            <a:br>
              <a:rPr lang="de-AT" sz="2400" dirty="0">
                <a:solidFill>
                  <a:srgbClr val="003399"/>
                </a:solidFill>
              </a:rPr>
            </a:br>
            <a:r>
              <a:rPr lang="de-AT" sz="2400" dirty="0">
                <a:solidFill>
                  <a:srgbClr val="003399"/>
                </a:solidFill>
              </a:rPr>
              <a:t/>
            </a:r>
            <a:br>
              <a:rPr lang="de-AT" sz="2400" dirty="0">
                <a:solidFill>
                  <a:srgbClr val="003399"/>
                </a:solidFill>
              </a:rPr>
            </a:br>
            <a:r>
              <a:rPr lang="de-AT" sz="2400" dirty="0">
                <a:solidFill>
                  <a:srgbClr val="003399"/>
                </a:solidFill>
              </a:rPr>
              <a:t>- </a:t>
            </a:r>
            <a:r>
              <a:rPr lang="de-AT" sz="2400" dirty="0" err="1">
                <a:solidFill>
                  <a:srgbClr val="003399"/>
                </a:solidFill>
              </a:rPr>
              <a:t>covariance</a:t>
            </a:r>
            <a:r>
              <a:rPr lang="de-AT" sz="2400" dirty="0">
                <a:solidFill>
                  <a:srgbClr val="003399"/>
                </a:solidFill>
              </a:rPr>
              <a:t> </a:t>
            </a:r>
            <a:r>
              <a:rPr lang="de-AT" sz="2400" dirty="0" err="1">
                <a:solidFill>
                  <a:srgbClr val="003399"/>
                </a:solidFill>
              </a:rPr>
              <a:t>matrices</a:t>
            </a:r>
            <a:r>
              <a:rPr lang="de-AT" sz="2400" dirty="0">
                <a:solidFill>
                  <a:srgbClr val="003399"/>
                </a:solidFill>
              </a:rPr>
              <a:t> </a:t>
            </a:r>
            <a:r>
              <a:rPr lang="de-AT" sz="2400" dirty="0" err="1">
                <a:solidFill>
                  <a:srgbClr val="003399"/>
                </a:solidFill>
              </a:rPr>
              <a:t>of</a:t>
            </a:r>
            <a:r>
              <a:rPr lang="de-AT" sz="2400" dirty="0">
                <a:solidFill>
                  <a:srgbClr val="003399"/>
                </a:solidFill>
              </a:rPr>
              <a:t> observables (</a:t>
            </a:r>
            <a:r>
              <a:rPr lang="de-AT" sz="2400" dirty="0" err="1">
                <a:solidFill>
                  <a:srgbClr val="003399"/>
                </a:solidFill>
              </a:rPr>
              <a:t>cross</a:t>
            </a:r>
            <a:r>
              <a:rPr lang="de-AT" sz="2400" dirty="0">
                <a:solidFill>
                  <a:srgbClr val="003399"/>
                </a:solidFill>
              </a:rPr>
              <a:t> </a:t>
            </a:r>
            <a:r>
              <a:rPr lang="de-AT" sz="2400" dirty="0" err="1">
                <a:solidFill>
                  <a:srgbClr val="003399"/>
                </a:solidFill>
              </a:rPr>
              <a:t>sections</a:t>
            </a:r>
            <a:r>
              <a:rPr lang="de-AT" sz="2400" dirty="0">
                <a:solidFill>
                  <a:srgbClr val="003399"/>
                </a:solidFill>
              </a:rPr>
              <a:t>)</a:t>
            </a:r>
          </a:p>
          <a:p>
            <a:r>
              <a:rPr lang="de-AT" sz="2400" dirty="0">
                <a:solidFill>
                  <a:srgbClr val="003399"/>
                </a:solidFill>
              </a:rPr>
              <a:t> </a:t>
            </a:r>
          </a:p>
          <a:p>
            <a:endParaRPr lang="de-AT" sz="2400" dirty="0">
              <a:solidFill>
                <a:srgbClr val="003399"/>
              </a:solidFill>
            </a:endParaRPr>
          </a:p>
          <a:p>
            <a:r>
              <a:rPr lang="de-AT" sz="2400" b="1" dirty="0">
                <a:solidFill>
                  <a:srgbClr val="003399"/>
                </a:solidFill>
              </a:rPr>
              <a:t>					</a:t>
            </a:r>
            <a:r>
              <a:rPr lang="de-AT" sz="2400" b="1" dirty="0">
                <a:solidFill>
                  <a:srgbClr val="C00000"/>
                </a:solidFill>
              </a:rPr>
              <a:t>BAYESIAN STATISTICS</a:t>
            </a: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47700" y="4060825"/>
          <a:ext cx="8281988" cy="582613"/>
        </p:xfrm>
        <a:graphic>
          <a:graphicData uri="http://schemas.openxmlformats.org/presentationml/2006/ole">
            <p:oleObj spid="_x0000_s138242" name="Formel" r:id="rId4" imgW="3606480" imgH="253800" progId="Equation.3">
              <p:embed/>
            </p:oleObj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714375" y="5099050"/>
          <a:ext cx="5072063" cy="615950"/>
        </p:xfrm>
        <a:graphic>
          <a:graphicData uri="http://schemas.openxmlformats.org/presentationml/2006/ole">
            <p:oleObj spid="_x0000_s138243" name="Formel" r:id="rId5" imgW="2298600" imgH="279360" progId="Equation.3">
              <p:embed/>
            </p:oleObj>
          </a:graphicData>
        </a:graphic>
      </p:graphicFrame>
      <p:sp>
        <p:nvSpPr>
          <p:cNvPr id="10" name="Pfeil nach rechts 7"/>
          <p:cNvSpPr>
            <a:spLocks noChangeArrowheads="1"/>
          </p:cNvSpPr>
          <p:nvPr/>
        </p:nvSpPr>
        <p:spPr bwMode="auto">
          <a:xfrm>
            <a:off x="3022600" y="5588000"/>
            <a:ext cx="977900" cy="269875"/>
          </a:xfrm>
          <a:prstGeom prst="rightArrow">
            <a:avLst>
              <a:gd name="adj1" fmla="val 50000"/>
              <a:gd name="adj2" fmla="val 50058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 err="1" smtClean="0"/>
              <a:t>Bayes</a:t>
            </a:r>
            <a:r>
              <a:rPr lang="de-AT" dirty="0" smtClean="0"/>
              <a:t> </a:t>
            </a:r>
            <a:r>
              <a:rPr lang="de-AT" dirty="0" err="1" smtClean="0"/>
              <a:t>theorem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11</a:t>
            </a:fld>
            <a:endParaRPr lang="de-AT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14375" y="1214438"/>
            <a:ext cx="8077200" cy="2308225"/>
          </a:xfrm>
          <a:prstGeom prst="rect">
            <a:avLst/>
          </a:prstGeom>
          <a:solidFill>
            <a:srgbClr val="008080"/>
          </a:solidFill>
          <a:ln w="76200" cmpd="tri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2400">
                <a:solidFill>
                  <a:srgbClr val="FFFF00"/>
                </a:solidFill>
              </a:rPr>
              <a:t>Bayes Theorem (1763):</a:t>
            </a:r>
          </a:p>
          <a:p>
            <a:endParaRPr lang="de-DE" sz="2400">
              <a:solidFill>
                <a:srgbClr val="FFFF00"/>
              </a:solidFill>
            </a:endParaRPr>
          </a:p>
          <a:p>
            <a:r>
              <a:rPr lang="de-DE" sz="2400">
                <a:solidFill>
                  <a:srgbClr val="FFFF00"/>
                </a:solidFill>
              </a:rPr>
              <a:t>	</a:t>
            </a:r>
            <a:r>
              <a:rPr lang="de-DE" sz="2400" i="1">
                <a:solidFill>
                  <a:srgbClr val="FFFF00"/>
                </a:solidFill>
              </a:rPr>
              <a:t>p(</a:t>
            </a:r>
            <a:r>
              <a:rPr lang="de-DE" sz="2400" i="1" u="sng">
                <a:solidFill>
                  <a:srgbClr val="FFFF00"/>
                </a:solidFill>
              </a:rPr>
              <a:t>x</a:t>
            </a:r>
            <a:r>
              <a:rPr lang="de-DE" sz="2400" i="1">
                <a:solidFill>
                  <a:srgbClr val="FFFF00"/>
                </a:solidFill>
              </a:rPr>
              <a:t>|</a:t>
            </a:r>
            <a:r>
              <a:rPr lang="de-DE" sz="2400" i="1" u="sng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 i="1">
                <a:solidFill>
                  <a:srgbClr val="FFFF00"/>
                </a:solidFill>
              </a:rPr>
              <a:t> M)</a:t>
            </a:r>
            <a:r>
              <a:rPr lang="de-DE" sz="2400">
                <a:solidFill>
                  <a:srgbClr val="FFFF00"/>
                </a:solidFill>
              </a:rPr>
              <a:t>   =   </a:t>
            </a:r>
            <a:r>
              <a:rPr lang="de-DE" sz="2400" i="1">
                <a:solidFill>
                  <a:srgbClr val="FFFF00"/>
                </a:solidFill>
              </a:rPr>
              <a:t>p(</a:t>
            </a:r>
            <a:r>
              <a:rPr lang="de-DE" sz="2400" i="1" u="sng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 i="1">
                <a:solidFill>
                  <a:srgbClr val="FFFF00"/>
                </a:solidFill>
              </a:rPr>
              <a:t> |</a:t>
            </a:r>
            <a:r>
              <a:rPr lang="de-DE" sz="2400" i="1" u="sng">
                <a:solidFill>
                  <a:srgbClr val="FFFF00"/>
                </a:solidFill>
              </a:rPr>
              <a:t>x</a:t>
            </a:r>
            <a:r>
              <a:rPr lang="de-DE" sz="2400" i="1">
                <a:solidFill>
                  <a:srgbClr val="FFFF00"/>
                </a:solidFill>
              </a:rPr>
              <a:t>M)     </a:t>
            </a:r>
            <a:r>
              <a:rPr lang="de-DE" sz="2400" i="1">
                <a:solidFill>
                  <a:schemeClr val="bg1"/>
                </a:solidFill>
              </a:rPr>
              <a:t>p(</a:t>
            </a:r>
            <a:r>
              <a:rPr lang="de-DE" sz="2400" i="1" u="sng">
                <a:solidFill>
                  <a:schemeClr val="bg1"/>
                </a:solidFill>
              </a:rPr>
              <a:t>x</a:t>
            </a:r>
            <a:r>
              <a:rPr lang="de-DE" sz="2400" i="1">
                <a:solidFill>
                  <a:schemeClr val="bg1"/>
                </a:solidFill>
              </a:rPr>
              <a:t>|M</a:t>
            </a:r>
            <a:r>
              <a:rPr lang="de-DE" sz="2400">
                <a:solidFill>
                  <a:schemeClr val="bg1"/>
                </a:solidFill>
              </a:rPr>
              <a:t>)</a:t>
            </a:r>
            <a:r>
              <a:rPr lang="de-DE" sz="2400">
                <a:solidFill>
                  <a:srgbClr val="FFFF00"/>
                </a:solidFill>
              </a:rPr>
              <a:t>  /  </a:t>
            </a:r>
            <a:r>
              <a:rPr lang="de-DE" sz="2400" i="1">
                <a:solidFill>
                  <a:srgbClr val="FFFF00"/>
                </a:solidFill>
              </a:rPr>
              <a:t>p(</a:t>
            </a:r>
            <a:r>
              <a:rPr lang="de-DE" sz="2400" i="1" u="sng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 i="1">
                <a:solidFill>
                  <a:srgbClr val="FFFF00"/>
                </a:solidFill>
              </a:rPr>
              <a:t> |M)</a:t>
            </a:r>
          </a:p>
          <a:p>
            <a:r>
              <a:rPr lang="de-DE" sz="2400">
                <a:solidFill>
                  <a:srgbClr val="FFFF00"/>
                </a:solidFill>
              </a:rPr>
              <a:t>	posterior  =  likelihood</a:t>
            </a:r>
            <a:r>
              <a:rPr lang="de-DE" sz="2400">
                <a:solidFill>
                  <a:schemeClr val="bg1"/>
                </a:solidFill>
              </a:rPr>
              <a:t>  x  prior   </a:t>
            </a:r>
            <a:r>
              <a:rPr lang="de-DE" sz="2400">
                <a:solidFill>
                  <a:srgbClr val="FFFF00"/>
                </a:solidFill>
              </a:rPr>
              <a:t>/  evidence</a:t>
            </a:r>
          </a:p>
          <a:p>
            <a:endParaRPr lang="de-DE" sz="2400">
              <a:solidFill>
                <a:srgbClr val="FFFF00"/>
              </a:solidFill>
            </a:endParaRPr>
          </a:p>
          <a:p>
            <a:r>
              <a:rPr lang="de-DE" sz="2400" i="1" u="sng">
                <a:solidFill>
                  <a:srgbClr val="FFFF00"/>
                </a:solidFill>
              </a:rPr>
              <a:t>x</a:t>
            </a:r>
            <a:r>
              <a:rPr lang="de-DE" sz="2400">
                <a:solidFill>
                  <a:srgbClr val="FFFF00"/>
                </a:solidFill>
              </a:rPr>
              <a:t> ... model parameter    </a:t>
            </a:r>
            <a:r>
              <a:rPr lang="de-DE" sz="2400" i="1" u="sng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>
                <a:solidFill>
                  <a:srgbClr val="FFFF00"/>
                </a:solidFill>
              </a:rPr>
              <a:t> ... data	    </a:t>
            </a:r>
            <a:r>
              <a:rPr lang="de-DE" sz="2400" i="1">
                <a:solidFill>
                  <a:srgbClr val="FFFF00"/>
                </a:solidFill>
              </a:rPr>
              <a:t>M</a:t>
            </a:r>
            <a:r>
              <a:rPr lang="de-DE" sz="2400">
                <a:solidFill>
                  <a:srgbClr val="FFFF00"/>
                </a:solidFill>
              </a:rPr>
              <a:t> ... other information </a:t>
            </a:r>
            <a:endParaRPr lang="de-AT" sz="2400">
              <a:solidFill>
                <a:srgbClr val="FFFF00"/>
              </a:solidFill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924175" y="4033838"/>
            <a:ext cx="2191626" cy="40011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b="1">
                <a:solidFill>
                  <a:schemeClr val="accent2"/>
                </a:solidFill>
              </a:rPr>
              <a:t>from experiment</a:t>
            </a:r>
            <a:endParaRPr lang="de-AT" sz="2000" b="1">
              <a:solidFill>
                <a:schemeClr val="accent2"/>
              </a:solidFill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438775" y="2814638"/>
            <a:ext cx="228600" cy="1600200"/>
          </a:xfrm>
          <a:prstGeom prst="upArrow">
            <a:avLst>
              <a:gd name="adj1" fmla="val 50000"/>
              <a:gd name="adj2" fmla="val 175000"/>
            </a:avLst>
          </a:prstGeom>
          <a:solidFill>
            <a:srgbClr val="FF0000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5514975" y="4033838"/>
            <a:ext cx="3276600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2000" b="1">
                <a:solidFill>
                  <a:schemeClr val="bg1"/>
                </a:solidFill>
              </a:rPr>
              <a:t>Choice of proper prior ?</a:t>
            </a:r>
            <a:endParaRPr lang="de-AT" sz="2000" b="1">
              <a:solidFill>
                <a:schemeClr val="bg1"/>
              </a:solidFill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3762375" y="2814638"/>
            <a:ext cx="228600" cy="1219200"/>
          </a:xfrm>
          <a:prstGeom prst="upArrow">
            <a:avLst>
              <a:gd name="adj1" fmla="val 50000"/>
              <a:gd name="adj2" fmla="val 133333"/>
            </a:avLst>
          </a:prstGeom>
          <a:solidFill>
            <a:srgbClr val="0000FF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2" name="Textfeld 7"/>
          <p:cNvSpPr txBox="1">
            <a:spLocks noChangeArrowheads="1"/>
          </p:cNvSpPr>
          <p:nvPr/>
        </p:nvSpPr>
        <p:spPr bwMode="auto">
          <a:xfrm>
            <a:off x="833438" y="4670425"/>
            <a:ext cx="330411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 dirty="0" err="1"/>
              <a:t>Expectation</a:t>
            </a:r>
            <a:r>
              <a:rPr lang="de-AT" sz="2000" dirty="0"/>
              <a:t> </a:t>
            </a:r>
            <a:r>
              <a:rPr lang="de-AT" sz="2000" dirty="0" err="1"/>
              <a:t>value</a:t>
            </a:r>
            <a:r>
              <a:rPr lang="de-AT" sz="2000" dirty="0"/>
              <a:t>:</a:t>
            </a:r>
          </a:p>
          <a:p>
            <a:pPr>
              <a:spcBef>
                <a:spcPts val="1200"/>
              </a:spcBef>
            </a:pPr>
            <a:r>
              <a:rPr lang="de-AT" sz="2000" dirty="0" err="1"/>
              <a:t>Covariance</a:t>
            </a:r>
            <a:r>
              <a:rPr lang="de-AT" sz="2000" dirty="0"/>
              <a:t> </a:t>
            </a:r>
            <a:r>
              <a:rPr lang="de-AT" sz="2000" dirty="0" err="1"/>
              <a:t>matrix</a:t>
            </a:r>
            <a:r>
              <a:rPr lang="de-AT" sz="2000" dirty="0"/>
              <a:t> </a:t>
            </a:r>
            <a:r>
              <a:rPr lang="de-AT" sz="2000" dirty="0" err="1"/>
              <a:t>element</a:t>
            </a:r>
            <a:r>
              <a:rPr lang="de-AT" sz="2000" dirty="0"/>
              <a:t>:</a:t>
            </a:r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4006850" y="4643438"/>
          <a:ext cx="4779963" cy="623887"/>
        </p:xfrm>
        <a:graphic>
          <a:graphicData uri="http://schemas.openxmlformats.org/presentationml/2006/ole">
            <p:oleObj spid="_x0000_s139266" name="Formel" r:id="rId4" imgW="2336760" imgH="304560" progId="Equation.3">
              <p:embed/>
            </p:oleObj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928688" y="5572125"/>
          <a:ext cx="6767512" cy="601663"/>
        </p:xfrm>
        <a:graphic>
          <a:graphicData uri="http://schemas.openxmlformats.org/presentationml/2006/ole">
            <p:oleObj spid="_x0000_s139267" name="Formel" r:id="rId5" imgW="3429000" imgH="3045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sz="3200" dirty="0" smtClean="0"/>
              <a:t>Evaluations </a:t>
            </a:r>
            <a:r>
              <a:rPr lang="de-AT" sz="3200" dirty="0" err="1" smtClean="0"/>
              <a:t>done</a:t>
            </a:r>
            <a:r>
              <a:rPr lang="de-AT" sz="3200" dirty="0" smtClean="0"/>
              <a:t> </a:t>
            </a:r>
            <a:r>
              <a:rPr lang="de-AT" sz="3200" dirty="0" err="1" smtClean="0"/>
              <a:t>by</a:t>
            </a:r>
            <a:r>
              <a:rPr lang="de-AT" sz="3200" dirty="0" smtClean="0"/>
              <a:t> </a:t>
            </a:r>
            <a:r>
              <a:rPr lang="de-AT" sz="3200" dirty="0" err="1" smtClean="0"/>
              <a:t>Vonach</a:t>
            </a:r>
            <a:r>
              <a:rPr lang="de-AT" sz="3200" dirty="0" smtClean="0"/>
              <a:t> et al.</a:t>
            </a:r>
            <a:endParaRPr lang="de-DE" sz="32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12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214282" y="1071546"/>
            <a:ext cx="87868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First </a:t>
            </a:r>
            <a:r>
              <a:rPr lang="de-AT" sz="2000" dirty="0" err="1" smtClean="0"/>
              <a:t>evaluations</a:t>
            </a:r>
            <a:r>
              <a:rPr lang="de-AT" sz="2000" dirty="0" smtClean="0"/>
              <a:t> in </a:t>
            </a:r>
            <a:r>
              <a:rPr lang="de-AT" sz="2000" dirty="0" err="1" smtClean="0"/>
              <a:t>the</a:t>
            </a:r>
            <a:r>
              <a:rPr lang="de-AT" sz="2000" dirty="0" smtClean="0"/>
              <a:t> </a:t>
            </a:r>
            <a:r>
              <a:rPr lang="de-AT" sz="2000" dirty="0" err="1" smtClean="0"/>
              <a:t>field</a:t>
            </a:r>
            <a:r>
              <a:rPr lang="de-AT" sz="2000" dirty="0" smtClean="0"/>
              <a:t> </a:t>
            </a:r>
            <a:r>
              <a:rPr lang="de-AT" sz="2000" dirty="0" err="1" smtClean="0"/>
              <a:t>of</a:t>
            </a:r>
            <a:r>
              <a:rPr lang="de-AT" sz="2000" dirty="0" smtClean="0"/>
              <a:t> </a:t>
            </a:r>
            <a:r>
              <a:rPr lang="de-AT" sz="2000" dirty="0" err="1" smtClean="0"/>
              <a:t>nuclear</a:t>
            </a:r>
            <a:r>
              <a:rPr lang="de-AT" sz="2000" dirty="0" smtClean="0"/>
              <a:t> </a:t>
            </a:r>
            <a:r>
              <a:rPr lang="de-AT" sz="2000" dirty="0" err="1" smtClean="0"/>
              <a:t>date</a:t>
            </a:r>
            <a:r>
              <a:rPr lang="de-AT" sz="2000" dirty="0" smtClean="0"/>
              <a:t>  </a:t>
            </a:r>
            <a:r>
              <a:rPr lang="de-AT" sz="2000" dirty="0" err="1" smtClean="0"/>
              <a:t>which</a:t>
            </a:r>
            <a:r>
              <a:rPr lang="de-AT" sz="2000" dirty="0" smtClean="0"/>
              <a:t> </a:t>
            </a:r>
            <a:r>
              <a:rPr lang="de-AT" sz="2000" dirty="0" err="1" smtClean="0"/>
              <a:t>include</a:t>
            </a:r>
            <a:r>
              <a:rPr lang="de-AT" sz="2000" dirty="0" smtClean="0"/>
              <a:t> </a:t>
            </a:r>
            <a:r>
              <a:rPr lang="de-AT" sz="2000" dirty="0" err="1" smtClean="0"/>
              <a:t>uncertainties</a:t>
            </a:r>
            <a:r>
              <a:rPr lang="de-AT" sz="2000" dirty="0" smtClean="0"/>
              <a:t> </a:t>
            </a:r>
            <a:r>
              <a:rPr lang="de-AT" sz="2000" dirty="0" err="1" smtClean="0"/>
              <a:t>were</a:t>
            </a:r>
            <a:r>
              <a:rPr lang="de-AT" sz="2000" dirty="0" smtClean="0"/>
              <a:t> </a:t>
            </a:r>
            <a:r>
              <a:rPr lang="de-AT" sz="2000" dirty="0" err="1" smtClean="0"/>
              <a:t>performed</a:t>
            </a:r>
            <a:r>
              <a:rPr lang="de-AT" sz="2000" dirty="0" smtClean="0"/>
              <a:t> </a:t>
            </a:r>
            <a:r>
              <a:rPr lang="de-AT" sz="2000" dirty="0" err="1" smtClean="0"/>
              <a:t>by</a:t>
            </a:r>
            <a:r>
              <a:rPr lang="de-AT" sz="2000" dirty="0" smtClean="0"/>
              <a:t> </a:t>
            </a:r>
            <a:r>
              <a:rPr lang="de-AT" sz="2000" dirty="0" err="1" smtClean="0"/>
              <a:t>Vonach</a:t>
            </a:r>
            <a:r>
              <a:rPr lang="de-AT" sz="2000" dirty="0" smtClean="0"/>
              <a:t> et al. (Univ. Vienna) </a:t>
            </a:r>
            <a:r>
              <a:rPr lang="de-AT" sz="2000" dirty="0" err="1" smtClean="0"/>
              <a:t>about</a:t>
            </a:r>
            <a:r>
              <a:rPr lang="de-AT" sz="2000" dirty="0" smtClean="0"/>
              <a:t> 1990</a:t>
            </a:r>
          </a:p>
          <a:p>
            <a:endParaRPr lang="de-AT" sz="2000" dirty="0" smtClean="0"/>
          </a:p>
          <a:p>
            <a:r>
              <a:rPr lang="de-AT" sz="2000" dirty="0" err="1" smtClean="0"/>
              <a:t>They</a:t>
            </a:r>
            <a:r>
              <a:rPr lang="de-AT" sz="2000" dirty="0" smtClean="0"/>
              <a:t> </a:t>
            </a:r>
            <a:r>
              <a:rPr lang="de-AT" sz="2000" dirty="0" err="1" smtClean="0"/>
              <a:t>c</a:t>
            </a:r>
            <a:r>
              <a:rPr lang="de-AT" sz="2000" dirty="0" err="1" smtClean="0"/>
              <a:t>onsidered</a:t>
            </a:r>
            <a:r>
              <a:rPr lang="de-AT" sz="2000" dirty="0" smtClean="0"/>
              <a:t> </a:t>
            </a:r>
            <a:r>
              <a:rPr lang="de-AT" sz="2000" dirty="0" err="1" smtClean="0"/>
              <a:t>nuclei</a:t>
            </a:r>
            <a:r>
              <a:rPr lang="de-AT" sz="2000" dirty="0" smtClean="0"/>
              <a:t> </a:t>
            </a:r>
            <a:r>
              <a:rPr lang="de-AT" sz="2000" dirty="0" err="1" smtClean="0"/>
              <a:t>where</a:t>
            </a:r>
            <a:r>
              <a:rPr lang="de-AT" sz="2000" dirty="0" smtClean="0"/>
              <a:t> </a:t>
            </a:r>
            <a:r>
              <a:rPr lang="de-AT" sz="2000" dirty="0" err="1" smtClean="0"/>
              <a:t>many</a:t>
            </a:r>
            <a:r>
              <a:rPr lang="de-AT" sz="2000" dirty="0" smtClean="0"/>
              <a:t> experimental </a:t>
            </a:r>
            <a:r>
              <a:rPr lang="de-AT" sz="2000" dirty="0" err="1" smtClean="0"/>
              <a:t>data</a:t>
            </a:r>
            <a:r>
              <a:rPr lang="de-AT" sz="2000" dirty="0" smtClean="0"/>
              <a:t> </a:t>
            </a:r>
            <a:r>
              <a:rPr lang="de-AT" sz="2000" dirty="0" err="1" smtClean="0"/>
              <a:t>have</a:t>
            </a:r>
            <a:r>
              <a:rPr lang="de-AT" sz="2000" dirty="0" smtClean="0"/>
              <a:t> </a:t>
            </a:r>
            <a:r>
              <a:rPr lang="de-AT" sz="2000" dirty="0" err="1" smtClean="0"/>
              <a:t>been</a:t>
            </a:r>
            <a:r>
              <a:rPr lang="de-AT" sz="2000" dirty="0" smtClean="0"/>
              <a:t> </a:t>
            </a:r>
            <a:r>
              <a:rPr lang="de-AT" sz="2000" dirty="0" err="1" smtClean="0"/>
              <a:t>available</a:t>
            </a:r>
            <a:r>
              <a:rPr lang="de-AT" sz="2000" dirty="0" smtClean="0"/>
              <a:t> </a:t>
            </a:r>
          </a:p>
          <a:p>
            <a:r>
              <a:rPr lang="de-AT" sz="2000" dirty="0" smtClean="0">
                <a:sym typeface="Wingdings" pitchFamily="2" charset="2"/>
              </a:rPr>
              <a:t> </a:t>
            </a:r>
            <a:r>
              <a:rPr lang="de-AT" sz="2000" dirty="0" err="1" smtClean="0">
                <a:solidFill>
                  <a:srgbClr val="FF0000"/>
                </a:solidFill>
                <a:sym typeface="Wingdings" pitchFamily="2" charset="2"/>
              </a:rPr>
              <a:t>choice</a:t>
            </a:r>
            <a:r>
              <a:rPr lang="de-AT" sz="2000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AT" sz="2000" dirty="0" err="1" smtClean="0">
                <a:solidFill>
                  <a:srgbClr val="FF0000"/>
                </a:solidFill>
                <a:sym typeface="Wingdings" pitchFamily="2" charset="2"/>
              </a:rPr>
              <a:t>of</a:t>
            </a:r>
            <a:r>
              <a:rPr lang="de-AT" sz="2000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de-AT" sz="2000" dirty="0" err="1" smtClean="0">
                <a:solidFill>
                  <a:srgbClr val="FF0000"/>
                </a:solidFill>
                <a:sym typeface="Wingdings" pitchFamily="2" charset="2"/>
              </a:rPr>
              <a:t>prior</a:t>
            </a:r>
            <a:r>
              <a:rPr lang="de-AT" sz="2000" dirty="0" smtClean="0">
                <a:solidFill>
                  <a:srgbClr val="FF0000"/>
                </a:solidFill>
                <a:sym typeface="Wingdings" pitchFamily="2" charset="2"/>
              </a:rPr>
              <a:t> not essential</a:t>
            </a:r>
            <a:endParaRPr lang="de-DE" sz="2000" dirty="0">
              <a:solidFill>
                <a:srgbClr val="FF0000"/>
              </a:solidFill>
            </a:endParaRPr>
          </a:p>
        </p:txBody>
      </p:sp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1640" y="2714620"/>
            <a:ext cx="4572360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029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44" y="2643182"/>
            <a:ext cx="4357718" cy="316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feld 9"/>
          <p:cNvSpPr txBox="1"/>
          <p:nvPr/>
        </p:nvSpPr>
        <p:spPr>
          <a:xfrm>
            <a:off x="214282" y="5786454"/>
            <a:ext cx="4660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 smtClean="0"/>
              <a:t>S. </a:t>
            </a:r>
            <a:r>
              <a:rPr lang="de-AT" sz="1800" dirty="0" err="1" smtClean="0"/>
              <a:t>Tagesen</a:t>
            </a:r>
            <a:r>
              <a:rPr lang="de-AT" sz="1800" dirty="0" smtClean="0"/>
              <a:t>, H. </a:t>
            </a:r>
            <a:r>
              <a:rPr lang="de-AT" sz="1800" dirty="0" err="1" smtClean="0"/>
              <a:t>Vonach</a:t>
            </a:r>
            <a:r>
              <a:rPr lang="de-AT" sz="1800" dirty="0" smtClean="0"/>
              <a:t>, A. Wallner, ND2007</a:t>
            </a:r>
            <a:endParaRPr lang="de-DE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 bwMode="auto">
          <a:xfrm>
            <a:off x="428596" y="3643314"/>
            <a:ext cx="8501122" cy="1214446"/>
          </a:xfrm>
          <a:prstGeom prst="rect">
            <a:avLst/>
          </a:prstGeom>
          <a:solidFill>
            <a:srgbClr val="FFFF99"/>
          </a:solidFill>
          <a:ln w="38100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rgbClr val="000099"/>
              </a:solidFill>
              <a:effectLst/>
              <a:latin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0"/>
            <a:ext cx="7158062" cy="685800"/>
          </a:xfrm>
        </p:spPr>
        <p:txBody>
          <a:bodyPr/>
          <a:lstStyle/>
          <a:p>
            <a:pPr algn="ctr"/>
            <a:r>
              <a:rPr lang="de-AT" sz="2800" dirty="0" err="1" smtClean="0"/>
              <a:t>Developments</a:t>
            </a:r>
            <a:r>
              <a:rPr lang="de-AT" sz="2800" dirty="0" smtClean="0"/>
              <a:t> in </a:t>
            </a:r>
            <a:r>
              <a:rPr lang="de-AT" sz="2800" dirty="0" err="1" smtClean="0"/>
              <a:t>nuclear</a:t>
            </a:r>
            <a:r>
              <a:rPr lang="de-AT" sz="2800" dirty="0" smtClean="0"/>
              <a:t> </a:t>
            </a:r>
            <a:r>
              <a:rPr lang="de-AT" sz="2800" dirty="0" err="1" smtClean="0"/>
              <a:t>data</a:t>
            </a:r>
            <a:r>
              <a:rPr lang="de-AT" sz="2800" dirty="0" smtClean="0"/>
              <a:t> </a:t>
            </a:r>
            <a:r>
              <a:rPr lang="de-AT" sz="2800" dirty="0" err="1" smtClean="0"/>
              <a:t>evaluation</a:t>
            </a:r>
            <a:endParaRPr lang="de-DE" sz="2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13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357158" y="1214422"/>
            <a:ext cx="84321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u="sng" dirty="0" err="1" smtClean="0"/>
              <a:t>Current</a:t>
            </a:r>
            <a:r>
              <a:rPr lang="de-AT" b="1" u="sng" dirty="0" smtClean="0"/>
              <a:t> </a:t>
            </a:r>
            <a:r>
              <a:rPr lang="de-AT" b="1" u="sng" dirty="0" err="1" smtClean="0"/>
              <a:t>Demands</a:t>
            </a:r>
            <a:r>
              <a:rPr lang="de-AT" b="1" u="sng" dirty="0" smtClean="0"/>
              <a:t>:  </a:t>
            </a:r>
          </a:p>
          <a:p>
            <a:pPr>
              <a:buFont typeface="Arial" pitchFamily="34" charset="0"/>
              <a:buChar char="•"/>
            </a:pPr>
            <a:r>
              <a:rPr lang="de-AT" dirty="0" smtClean="0"/>
              <a:t>  </a:t>
            </a:r>
            <a:r>
              <a:rPr lang="de-AT" dirty="0" err="1" smtClean="0"/>
              <a:t>Inclusion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uncertainty</a:t>
            </a:r>
            <a:r>
              <a:rPr lang="de-AT" dirty="0" smtClean="0"/>
              <a:t> </a:t>
            </a:r>
            <a:r>
              <a:rPr lang="de-AT" dirty="0" err="1" smtClean="0"/>
              <a:t>information</a:t>
            </a:r>
            <a:r>
              <a:rPr lang="de-AT" dirty="0" smtClean="0"/>
              <a:t> </a:t>
            </a:r>
            <a:r>
              <a:rPr lang="de-AT" dirty="0" smtClean="0">
                <a:sym typeface="Wingdings" pitchFamily="2" charset="2"/>
              </a:rPr>
              <a:t> </a:t>
            </a:r>
            <a:r>
              <a:rPr lang="de-AT" dirty="0" err="1" smtClean="0">
                <a:sym typeface="Wingdings" pitchFamily="2" charset="2"/>
              </a:rPr>
              <a:t>covariance</a:t>
            </a:r>
            <a:r>
              <a:rPr lang="de-AT" dirty="0" smtClean="0">
                <a:sym typeface="Wingdings" pitchFamily="2" charset="2"/>
              </a:rPr>
              <a:t> </a:t>
            </a:r>
            <a:r>
              <a:rPr lang="de-AT" dirty="0" err="1" smtClean="0">
                <a:sym typeface="Wingdings" pitchFamily="2" charset="2"/>
              </a:rPr>
              <a:t>matrices</a:t>
            </a:r>
            <a:endParaRPr lang="de-AT" dirty="0" smtClean="0">
              <a:sym typeface="Wingdings" pitchFamily="2" charset="2"/>
            </a:endParaRPr>
          </a:p>
          <a:p>
            <a:pPr>
              <a:buFont typeface="Arial" pitchFamily="34" charset="0"/>
              <a:buChar char="•"/>
            </a:pPr>
            <a:r>
              <a:rPr lang="de-AT" dirty="0" smtClean="0">
                <a:sym typeface="Wingdings" pitchFamily="2" charset="2"/>
              </a:rPr>
              <a:t>  Extension </a:t>
            </a:r>
            <a:r>
              <a:rPr lang="de-AT" dirty="0" err="1" smtClean="0">
                <a:sym typeface="Wingdings" pitchFamily="2" charset="2"/>
              </a:rPr>
              <a:t>of</a:t>
            </a:r>
            <a:r>
              <a:rPr lang="de-AT" dirty="0" smtClean="0">
                <a:sym typeface="Wingdings" pitchFamily="2" charset="2"/>
              </a:rPr>
              <a:t> </a:t>
            </a:r>
            <a:r>
              <a:rPr lang="de-AT" dirty="0" err="1" smtClean="0">
                <a:sym typeface="Wingdings" pitchFamily="2" charset="2"/>
              </a:rPr>
              <a:t>energy</a:t>
            </a:r>
            <a:r>
              <a:rPr lang="de-AT" dirty="0" smtClean="0">
                <a:sym typeface="Wingdings" pitchFamily="2" charset="2"/>
              </a:rPr>
              <a:t> </a:t>
            </a:r>
            <a:r>
              <a:rPr lang="de-AT" dirty="0" err="1" smtClean="0">
                <a:sym typeface="Wingdings" pitchFamily="2" charset="2"/>
              </a:rPr>
              <a:t>range</a:t>
            </a:r>
            <a:r>
              <a:rPr lang="de-AT" dirty="0" smtClean="0">
                <a:sym typeface="Wingdings" pitchFamily="2" charset="2"/>
              </a:rPr>
              <a:t> </a:t>
            </a:r>
            <a:r>
              <a:rPr lang="de-AT" dirty="0" err="1" smtClean="0">
                <a:sym typeface="Wingdings" pitchFamily="2" charset="2"/>
              </a:rPr>
              <a:t>to</a:t>
            </a:r>
            <a:r>
              <a:rPr lang="de-AT" dirty="0" smtClean="0">
                <a:sym typeface="Wingdings" pitchFamily="2" charset="2"/>
              </a:rPr>
              <a:t> ~150MeV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500034" y="3143248"/>
            <a:ext cx="8276625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de-AT" b="1" u="sng" dirty="0" err="1" smtClean="0"/>
              <a:t>Challenges</a:t>
            </a:r>
            <a:r>
              <a:rPr lang="de-AT" b="1" u="sng" dirty="0" smtClean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de-AT" dirty="0" smtClean="0"/>
              <a:t> Evaluation </a:t>
            </a:r>
            <a:r>
              <a:rPr lang="de-AT" dirty="0" err="1" smtClean="0"/>
              <a:t>process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covariance</a:t>
            </a:r>
            <a:r>
              <a:rPr lang="de-AT" dirty="0" smtClean="0"/>
              <a:t> </a:t>
            </a:r>
            <a:r>
              <a:rPr lang="de-AT" dirty="0" err="1" smtClean="0"/>
              <a:t>matrices</a:t>
            </a:r>
            <a:r>
              <a:rPr lang="de-AT" dirty="0" smtClean="0"/>
              <a:t> – </a:t>
            </a:r>
            <a:r>
              <a:rPr lang="de-AT" dirty="0" err="1" smtClean="0"/>
              <a:t>scarcity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/>
            </a:r>
            <a:br>
              <a:rPr lang="de-AT" dirty="0" smtClean="0"/>
            </a:br>
            <a:r>
              <a:rPr lang="de-AT" dirty="0" smtClean="0"/>
              <a:t>   experimental </a:t>
            </a:r>
            <a:r>
              <a:rPr lang="de-AT" dirty="0" err="1" smtClean="0"/>
              <a:t>data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i="1" dirty="0" smtClean="0"/>
              <a:t> E </a:t>
            </a:r>
            <a:r>
              <a:rPr lang="de-AT" dirty="0" smtClean="0"/>
              <a:t>&gt; 20 </a:t>
            </a:r>
            <a:r>
              <a:rPr lang="de-AT" dirty="0" err="1" smtClean="0"/>
              <a:t>MeV</a:t>
            </a:r>
            <a:r>
              <a:rPr lang="de-AT" dirty="0" smtClean="0"/>
              <a:t> </a:t>
            </a:r>
            <a:r>
              <a:rPr lang="de-AT" dirty="0" smtClean="0">
                <a:sym typeface="Wingdings" pitchFamily="2" charset="2"/>
              </a:rPr>
              <a:t> </a:t>
            </a:r>
            <a:r>
              <a:rPr lang="de-AT" dirty="0" smtClean="0"/>
              <a:t>quest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uncertainty</a:t>
            </a:r>
            <a:r>
              <a:rPr lang="de-AT" dirty="0" smtClean="0"/>
              <a:t> </a:t>
            </a:r>
            <a:br>
              <a:rPr lang="de-AT" dirty="0" smtClean="0"/>
            </a:br>
            <a:r>
              <a:rPr lang="de-AT" dirty="0" smtClean="0"/>
              <a:t>  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nuclear</a:t>
            </a:r>
            <a:r>
              <a:rPr lang="de-AT" dirty="0" smtClean="0"/>
              <a:t> </a:t>
            </a:r>
            <a:r>
              <a:rPr lang="de-AT" dirty="0" err="1" smtClean="0"/>
              <a:t>models</a:t>
            </a:r>
            <a:r>
              <a:rPr lang="de-AT" dirty="0" smtClean="0"/>
              <a:t/>
            </a:r>
            <a:br>
              <a:rPr lang="de-AT" dirty="0" smtClean="0"/>
            </a:br>
            <a:endParaRPr lang="de-AT" dirty="0" smtClean="0"/>
          </a:p>
          <a:p>
            <a:pPr>
              <a:buFont typeface="Wingdings" pitchFamily="2" charset="2"/>
              <a:buChar char="§"/>
            </a:pPr>
            <a:r>
              <a:rPr lang="de-AT" dirty="0" smtClean="0"/>
              <a:t>  </a:t>
            </a:r>
            <a:r>
              <a:rPr lang="de-AT" dirty="0" err="1" smtClean="0"/>
              <a:t>Improvement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models</a:t>
            </a:r>
            <a:r>
              <a:rPr lang="de-AT" dirty="0" smtClean="0"/>
              <a:t>: </a:t>
            </a:r>
            <a:r>
              <a:rPr lang="de-AT" dirty="0" err="1" smtClean="0"/>
              <a:t>nuclear</a:t>
            </a:r>
            <a:r>
              <a:rPr lang="de-AT" dirty="0" smtClean="0"/>
              <a:t> </a:t>
            </a:r>
            <a:r>
              <a:rPr lang="de-AT" dirty="0" err="1" smtClean="0"/>
              <a:t>reactions</a:t>
            </a:r>
            <a:r>
              <a:rPr lang="de-AT" dirty="0" smtClean="0"/>
              <a:t>, </a:t>
            </a:r>
            <a:r>
              <a:rPr lang="de-AT" dirty="0" err="1" smtClean="0"/>
              <a:t>fission</a:t>
            </a:r>
            <a:r>
              <a:rPr lang="de-AT" dirty="0" smtClean="0"/>
              <a:t>, …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 err="1" smtClean="0"/>
              <a:t>Bayes</a:t>
            </a:r>
            <a:r>
              <a:rPr lang="de-AT" dirty="0" smtClean="0"/>
              <a:t> </a:t>
            </a:r>
            <a:r>
              <a:rPr lang="de-AT" dirty="0" err="1" smtClean="0"/>
              <a:t>theorem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14</a:t>
            </a:fld>
            <a:endParaRPr lang="de-AT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14375" y="1214438"/>
            <a:ext cx="8077200" cy="2308225"/>
          </a:xfrm>
          <a:prstGeom prst="rect">
            <a:avLst/>
          </a:prstGeom>
          <a:solidFill>
            <a:srgbClr val="008080"/>
          </a:solidFill>
          <a:ln w="76200" cmpd="tri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2400">
                <a:solidFill>
                  <a:srgbClr val="FFFF00"/>
                </a:solidFill>
              </a:rPr>
              <a:t>Bayes Theorem (1763):</a:t>
            </a:r>
          </a:p>
          <a:p>
            <a:endParaRPr lang="de-DE" sz="2400">
              <a:solidFill>
                <a:srgbClr val="FFFF00"/>
              </a:solidFill>
            </a:endParaRPr>
          </a:p>
          <a:p>
            <a:r>
              <a:rPr lang="de-DE" sz="2400">
                <a:solidFill>
                  <a:srgbClr val="FFFF00"/>
                </a:solidFill>
              </a:rPr>
              <a:t>	</a:t>
            </a:r>
            <a:r>
              <a:rPr lang="de-DE" sz="2400" i="1">
                <a:solidFill>
                  <a:srgbClr val="FFFF00"/>
                </a:solidFill>
              </a:rPr>
              <a:t>p(</a:t>
            </a:r>
            <a:r>
              <a:rPr lang="de-DE" sz="2400" i="1" u="sng">
                <a:solidFill>
                  <a:srgbClr val="FFFF00"/>
                </a:solidFill>
              </a:rPr>
              <a:t>x</a:t>
            </a:r>
            <a:r>
              <a:rPr lang="de-DE" sz="2400" i="1">
                <a:solidFill>
                  <a:srgbClr val="FFFF00"/>
                </a:solidFill>
              </a:rPr>
              <a:t>|</a:t>
            </a:r>
            <a:r>
              <a:rPr lang="de-DE" sz="2400" i="1" u="sng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 i="1">
                <a:solidFill>
                  <a:srgbClr val="FFFF00"/>
                </a:solidFill>
              </a:rPr>
              <a:t> M)</a:t>
            </a:r>
            <a:r>
              <a:rPr lang="de-DE" sz="2400">
                <a:solidFill>
                  <a:srgbClr val="FFFF00"/>
                </a:solidFill>
              </a:rPr>
              <a:t>   =   </a:t>
            </a:r>
            <a:r>
              <a:rPr lang="de-DE" sz="2400" i="1">
                <a:solidFill>
                  <a:srgbClr val="FFFF00"/>
                </a:solidFill>
              </a:rPr>
              <a:t>p(</a:t>
            </a:r>
            <a:r>
              <a:rPr lang="de-DE" sz="2400" i="1" u="sng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 i="1">
                <a:solidFill>
                  <a:srgbClr val="FFFF00"/>
                </a:solidFill>
              </a:rPr>
              <a:t> |</a:t>
            </a:r>
            <a:r>
              <a:rPr lang="de-DE" sz="2400" i="1" u="sng">
                <a:solidFill>
                  <a:srgbClr val="FFFF00"/>
                </a:solidFill>
              </a:rPr>
              <a:t>x</a:t>
            </a:r>
            <a:r>
              <a:rPr lang="de-DE" sz="2400" i="1">
                <a:solidFill>
                  <a:srgbClr val="FFFF00"/>
                </a:solidFill>
              </a:rPr>
              <a:t>M)     </a:t>
            </a:r>
            <a:r>
              <a:rPr lang="de-DE" sz="2400" i="1">
                <a:solidFill>
                  <a:schemeClr val="bg1"/>
                </a:solidFill>
              </a:rPr>
              <a:t>p(</a:t>
            </a:r>
            <a:r>
              <a:rPr lang="de-DE" sz="2400" i="1" u="sng">
                <a:solidFill>
                  <a:schemeClr val="bg1"/>
                </a:solidFill>
              </a:rPr>
              <a:t>x</a:t>
            </a:r>
            <a:r>
              <a:rPr lang="de-DE" sz="2400" i="1">
                <a:solidFill>
                  <a:schemeClr val="bg1"/>
                </a:solidFill>
              </a:rPr>
              <a:t>|M</a:t>
            </a:r>
            <a:r>
              <a:rPr lang="de-DE" sz="2400">
                <a:solidFill>
                  <a:schemeClr val="bg1"/>
                </a:solidFill>
              </a:rPr>
              <a:t>)</a:t>
            </a:r>
            <a:r>
              <a:rPr lang="de-DE" sz="2400">
                <a:solidFill>
                  <a:srgbClr val="FFFF00"/>
                </a:solidFill>
              </a:rPr>
              <a:t>  /  </a:t>
            </a:r>
            <a:r>
              <a:rPr lang="de-DE" sz="2400" i="1">
                <a:solidFill>
                  <a:srgbClr val="FFFF00"/>
                </a:solidFill>
              </a:rPr>
              <a:t>p(</a:t>
            </a:r>
            <a:r>
              <a:rPr lang="de-DE" sz="2400" i="1" u="sng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 i="1">
                <a:solidFill>
                  <a:srgbClr val="FFFF00"/>
                </a:solidFill>
              </a:rPr>
              <a:t> |M)</a:t>
            </a:r>
          </a:p>
          <a:p>
            <a:r>
              <a:rPr lang="de-DE" sz="2400">
                <a:solidFill>
                  <a:srgbClr val="FFFF00"/>
                </a:solidFill>
              </a:rPr>
              <a:t>	posterior  =  likelihood</a:t>
            </a:r>
            <a:r>
              <a:rPr lang="de-DE" sz="2400">
                <a:solidFill>
                  <a:schemeClr val="bg1"/>
                </a:solidFill>
              </a:rPr>
              <a:t>  x  prior   </a:t>
            </a:r>
            <a:r>
              <a:rPr lang="de-DE" sz="2400">
                <a:solidFill>
                  <a:srgbClr val="FFFF00"/>
                </a:solidFill>
              </a:rPr>
              <a:t>/  evidence</a:t>
            </a:r>
          </a:p>
          <a:p>
            <a:endParaRPr lang="de-DE" sz="2400">
              <a:solidFill>
                <a:srgbClr val="FFFF00"/>
              </a:solidFill>
            </a:endParaRPr>
          </a:p>
          <a:p>
            <a:r>
              <a:rPr lang="de-DE" sz="2400" i="1" u="sng">
                <a:solidFill>
                  <a:srgbClr val="FFFF00"/>
                </a:solidFill>
              </a:rPr>
              <a:t>x</a:t>
            </a:r>
            <a:r>
              <a:rPr lang="de-DE" sz="2400">
                <a:solidFill>
                  <a:srgbClr val="FFFF00"/>
                </a:solidFill>
              </a:rPr>
              <a:t> ... model parameter    </a:t>
            </a:r>
            <a:r>
              <a:rPr lang="de-DE" sz="2400" i="1" u="sng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>
                <a:solidFill>
                  <a:srgbClr val="FFFF00"/>
                </a:solidFill>
              </a:rPr>
              <a:t> ... data	    </a:t>
            </a:r>
            <a:r>
              <a:rPr lang="de-DE" sz="2400" i="1">
                <a:solidFill>
                  <a:srgbClr val="FFFF00"/>
                </a:solidFill>
              </a:rPr>
              <a:t>M</a:t>
            </a:r>
            <a:r>
              <a:rPr lang="de-DE" sz="2400">
                <a:solidFill>
                  <a:srgbClr val="FFFF00"/>
                </a:solidFill>
              </a:rPr>
              <a:t> ... other information </a:t>
            </a:r>
            <a:endParaRPr lang="de-AT" sz="2400">
              <a:solidFill>
                <a:srgbClr val="FFFF00"/>
              </a:solidFill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924175" y="4033838"/>
            <a:ext cx="2191626" cy="40011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b="1">
                <a:solidFill>
                  <a:schemeClr val="accent2"/>
                </a:solidFill>
              </a:rPr>
              <a:t>from experiment</a:t>
            </a:r>
            <a:endParaRPr lang="de-AT" sz="2000" b="1">
              <a:solidFill>
                <a:schemeClr val="accent2"/>
              </a:solidFill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438775" y="2814638"/>
            <a:ext cx="228600" cy="1600200"/>
          </a:xfrm>
          <a:prstGeom prst="upArrow">
            <a:avLst>
              <a:gd name="adj1" fmla="val 50000"/>
              <a:gd name="adj2" fmla="val 175000"/>
            </a:avLst>
          </a:prstGeom>
          <a:solidFill>
            <a:srgbClr val="FF0000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5514975" y="4033838"/>
            <a:ext cx="3276600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2000" b="1">
                <a:solidFill>
                  <a:schemeClr val="bg1"/>
                </a:solidFill>
              </a:rPr>
              <a:t>Choice of proper prior ?</a:t>
            </a:r>
            <a:endParaRPr lang="de-AT" sz="2000" b="1">
              <a:solidFill>
                <a:schemeClr val="bg1"/>
              </a:solidFill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3762375" y="2814638"/>
            <a:ext cx="228600" cy="1219200"/>
          </a:xfrm>
          <a:prstGeom prst="upArrow">
            <a:avLst>
              <a:gd name="adj1" fmla="val 50000"/>
              <a:gd name="adj2" fmla="val 133333"/>
            </a:avLst>
          </a:prstGeom>
          <a:solidFill>
            <a:srgbClr val="0000FF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2" name="Textfeld 7"/>
          <p:cNvSpPr txBox="1">
            <a:spLocks noChangeArrowheads="1"/>
          </p:cNvSpPr>
          <p:nvPr/>
        </p:nvSpPr>
        <p:spPr bwMode="auto">
          <a:xfrm>
            <a:off x="833438" y="4670425"/>
            <a:ext cx="330411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 dirty="0" err="1"/>
              <a:t>Expectation</a:t>
            </a:r>
            <a:r>
              <a:rPr lang="de-AT" sz="2000" dirty="0"/>
              <a:t> </a:t>
            </a:r>
            <a:r>
              <a:rPr lang="de-AT" sz="2000" dirty="0" err="1"/>
              <a:t>value</a:t>
            </a:r>
            <a:r>
              <a:rPr lang="de-AT" sz="2000" dirty="0"/>
              <a:t>:</a:t>
            </a:r>
          </a:p>
          <a:p>
            <a:pPr>
              <a:spcBef>
                <a:spcPts val="1200"/>
              </a:spcBef>
            </a:pPr>
            <a:r>
              <a:rPr lang="de-AT" sz="2000" dirty="0" err="1"/>
              <a:t>Covariance</a:t>
            </a:r>
            <a:r>
              <a:rPr lang="de-AT" sz="2000" dirty="0"/>
              <a:t> </a:t>
            </a:r>
            <a:r>
              <a:rPr lang="de-AT" sz="2000" dirty="0" err="1"/>
              <a:t>matrix</a:t>
            </a:r>
            <a:r>
              <a:rPr lang="de-AT" sz="2000" dirty="0"/>
              <a:t> </a:t>
            </a:r>
            <a:r>
              <a:rPr lang="de-AT" sz="2000" dirty="0" err="1"/>
              <a:t>element</a:t>
            </a:r>
            <a:r>
              <a:rPr lang="de-AT" sz="2000" dirty="0"/>
              <a:t>:</a:t>
            </a:r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4006850" y="4643438"/>
          <a:ext cx="4779963" cy="623887"/>
        </p:xfrm>
        <a:graphic>
          <a:graphicData uri="http://schemas.openxmlformats.org/presentationml/2006/ole">
            <p:oleObj spid="_x0000_s141314" name="Formel" r:id="rId4" imgW="2336760" imgH="304560" progId="Equation.3">
              <p:embed/>
            </p:oleObj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928688" y="5572125"/>
          <a:ext cx="6767512" cy="601663"/>
        </p:xfrm>
        <a:graphic>
          <a:graphicData uri="http://schemas.openxmlformats.org/presentationml/2006/ole">
            <p:oleObj spid="_x0000_s141315" name="Formel" r:id="rId5" imgW="3429000" imgH="3045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Choice </a:t>
            </a:r>
            <a:r>
              <a:rPr lang="de-AT" dirty="0" err="1" smtClean="0"/>
              <a:t>of</a:t>
            </a:r>
            <a:r>
              <a:rPr lang="de-AT" dirty="0" smtClean="0"/>
              <a:t> proper </a:t>
            </a:r>
            <a:r>
              <a:rPr lang="de-AT" dirty="0" err="1" smtClean="0"/>
              <a:t>prior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15</a:t>
            </a:fld>
            <a:endParaRPr lang="de-AT"/>
          </a:p>
        </p:txBody>
      </p:sp>
      <p:sp>
        <p:nvSpPr>
          <p:cNvPr id="8" name="Textfeld 7"/>
          <p:cNvSpPr txBox="1"/>
          <p:nvPr/>
        </p:nvSpPr>
        <p:spPr>
          <a:xfrm>
            <a:off x="571500" y="1428750"/>
            <a:ext cx="7929563" cy="187801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de-AT" sz="2400" b="1" dirty="0">
                <a:solidFill>
                  <a:schemeClr val="bg1"/>
                </a:solidFill>
              </a:rPr>
              <a:t>GOAL</a:t>
            </a:r>
          </a:p>
          <a:p>
            <a:pPr>
              <a:defRPr/>
            </a:pPr>
            <a:endParaRPr lang="de-AT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de-AT" sz="2400" dirty="0">
                <a:solidFill>
                  <a:schemeClr val="bg1"/>
                </a:solidFill>
              </a:rPr>
              <a:t>quantitative </a:t>
            </a:r>
            <a:r>
              <a:rPr lang="de-AT" sz="2400" dirty="0" err="1">
                <a:solidFill>
                  <a:schemeClr val="bg1"/>
                </a:solidFill>
              </a:rPr>
              <a:t>estimate</a:t>
            </a:r>
            <a:r>
              <a:rPr lang="de-AT" sz="2400" dirty="0">
                <a:solidFill>
                  <a:schemeClr val="bg1"/>
                </a:solidFill>
              </a:rPr>
              <a:t> </a:t>
            </a:r>
            <a:r>
              <a:rPr lang="de-AT" sz="2400" dirty="0" err="1">
                <a:solidFill>
                  <a:schemeClr val="bg1"/>
                </a:solidFill>
              </a:rPr>
              <a:t>of</a:t>
            </a:r>
            <a:r>
              <a:rPr lang="de-AT" sz="2400" dirty="0">
                <a:solidFill>
                  <a:schemeClr val="bg1"/>
                </a:solidFill>
              </a:rPr>
              <a:t> </a:t>
            </a:r>
            <a:r>
              <a:rPr lang="de-AT" sz="2400" dirty="0" err="1">
                <a:solidFill>
                  <a:schemeClr val="bg1"/>
                </a:solidFill>
              </a:rPr>
              <a:t>the</a:t>
            </a:r>
            <a:r>
              <a:rPr lang="de-AT" sz="2400" dirty="0">
                <a:solidFill>
                  <a:schemeClr val="bg1"/>
                </a:solidFill>
              </a:rPr>
              <a:t> </a:t>
            </a:r>
            <a:r>
              <a:rPr lang="de-AT" sz="2400" dirty="0" err="1">
                <a:solidFill>
                  <a:schemeClr val="bg1"/>
                </a:solidFill>
              </a:rPr>
              <a:t>reliability</a:t>
            </a:r>
            <a:r>
              <a:rPr lang="de-AT" sz="2400" dirty="0">
                <a:solidFill>
                  <a:schemeClr val="bg1"/>
                </a:solidFill>
              </a:rPr>
              <a:t> </a:t>
            </a:r>
            <a:r>
              <a:rPr lang="de-AT" sz="2400" dirty="0" err="1">
                <a:solidFill>
                  <a:schemeClr val="bg1"/>
                </a:solidFill>
              </a:rPr>
              <a:t>of</a:t>
            </a:r>
            <a:r>
              <a:rPr lang="de-AT" sz="2400" dirty="0">
                <a:solidFill>
                  <a:schemeClr val="bg1"/>
                </a:solidFill>
              </a:rPr>
              <a:t> </a:t>
            </a:r>
            <a:r>
              <a:rPr lang="de-AT" sz="2400" dirty="0" err="1">
                <a:solidFill>
                  <a:schemeClr val="bg1"/>
                </a:solidFill>
              </a:rPr>
              <a:t>nuclear</a:t>
            </a:r>
            <a:r>
              <a:rPr lang="de-AT" sz="2400" dirty="0">
                <a:solidFill>
                  <a:schemeClr val="bg1"/>
                </a:solidFill>
              </a:rPr>
              <a:t> model </a:t>
            </a:r>
          </a:p>
          <a:p>
            <a:pPr>
              <a:defRPr/>
            </a:pPr>
            <a:r>
              <a:rPr lang="de-AT" sz="2400" dirty="0" err="1">
                <a:solidFill>
                  <a:schemeClr val="bg1"/>
                </a:solidFill>
              </a:rPr>
              <a:t>based</a:t>
            </a:r>
            <a:r>
              <a:rPr lang="de-AT" sz="2400" dirty="0">
                <a:solidFill>
                  <a:schemeClr val="bg1"/>
                </a:solidFill>
              </a:rPr>
              <a:t> </a:t>
            </a:r>
            <a:r>
              <a:rPr lang="de-AT" sz="2400" dirty="0" err="1">
                <a:solidFill>
                  <a:schemeClr val="bg1"/>
                </a:solidFill>
              </a:rPr>
              <a:t>evaluations</a:t>
            </a:r>
            <a:endParaRPr lang="de-AT" sz="2400" dirty="0">
              <a:solidFill>
                <a:schemeClr val="bg1"/>
              </a:solidFill>
            </a:endParaRPr>
          </a:p>
          <a:p>
            <a:pPr>
              <a:defRPr/>
            </a:pPr>
            <a:endParaRPr lang="de-AT" sz="2400" dirty="0">
              <a:solidFill>
                <a:schemeClr val="bg1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588963" y="3714750"/>
            <a:ext cx="4983162" cy="19383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de-AT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AT" sz="2400" dirty="0" err="1">
                <a:solidFill>
                  <a:schemeClr val="accent6">
                    <a:lumMod val="75000"/>
                  </a:schemeClr>
                </a:solidFill>
              </a:rPr>
              <a:t>Define</a:t>
            </a:r>
            <a:r>
              <a:rPr lang="de-AT" sz="2400" dirty="0">
                <a:solidFill>
                  <a:schemeClr val="accent6">
                    <a:lumMod val="75000"/>
                  </a:schemeClr>
                </a:solidFill>
              </a:rPr>
              <a:t> an </a:t>
            </a:r>
            <a:r>
              <a:rPr lang="de-AT" sz="2400" dirty="0" err="1">
                <a:solidFill>
                  <a:schemeClr val="accent6">
                    <a:lumMod val="75000"/>
                  </a:schemeClr>
                </a:solidFill>
              </a:rPr>
              <a:t>almost</a:t>
            </a:r>
            <a:r>
              <a:rPr lang="de-AT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AT" sz="2400" dirty="0" err="1">
                <a:solidFill>
                  <a:schemeClr val="accent6">
                    <a:lumMod val="75000"/>
                  </a:schemeClr>
                </a:solidFill>
              </a:rPr>
              <a:t>unbiased</a:t>
            </a:r>
            <a:r>
              <a:rPr lang="de-AT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AT" sz="2400" dirty="0" err="1">
                <a:solidFill>
                  <a:schemeClr val="accent6">
                    <a:lumMod val="75000"/>
                  </a:schemeClr>
                </a:solidFill>
              </a:rPr>
              <a:t>prior</a:t>
            </a:r>
            <a:endParaRPr lang="de-AT" sz="2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endParaRPr lang="de-AT" sz="2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de-AT" sz="2400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de-AT" sz="2400" dirty="0" err="1">
                <a:solidFill>
                  <a:schemeClr val="accent6">
                    <a:lumMod val="75000"/>
                  </a:schemeClr>
                </a:solidFill>
              </a:rPr>
              <a:t>Account</a:t>
            </a:r>
            <a:r>
              <a:rPr lang="de-AT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AT" sz="2400" dirty="0" err="1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de-AT" sz="2400" dirty="0">
                <a:solidFill>
                  <a:schemeClr val="accent6">
                    <a:lumMod val="75000"/>
                  </a:schemeClr>
                </a:solidFill>
              </a:rPr>
              <a:t> all </a:t>
            </a:r>
            <a:r>
              <a:rPr lang="de-AT" sz="2400" dirty="0" err="1">
                <a:solidFill>
                  <a:schemeClr val="accent6">
                    <a:lumMod val="75000"/>
                  </a:schemeClr>
                </a:solidFill>
              </a:rPr>
              <a:t>apriori</a:t>
            </a:r>
            <a:r>
              <a:rPr lang="de-AT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AT" sz="2400" dirty="0" err="1">
                <a:solidFill>
                  <a:schemeClr val="accent6">
                    <a:lumMod val="75000"/>
                  </a:schemeClr>
                </a:solidFill>
              </a:rPr>
              <a:t>knowledge</a:t>
            </a:r>
            <a:endParaRPr lang="de-AT" sz="2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endParaRPr lang="de-AT" sz="2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de-AT" sz="2400" dirty="0">
                <a:solidFill>
                  <a:schemeClr val="accent6">
                    <a:lumMod val="75000"/>
                  </a:schemeClr>
                </a:solidFill>
              </a:rPr>
              <a:t>  Minimal </a:t>
            </a:r>
            <a:r>
              <a:rPr lang="de-AT" sz="2400" dirty="0" err="1">
                <a:solidFill>
                  <a:schemeClr val="accent6">
                    <a:lumMod val="75000"/>
                  </a:schemeClr>
                </a:solidFill>
              </a:rPr>
              <a:t>use</a:t>
            </a:r>
            <a:r>
              <a:rPr lang="de-AT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AT" sz="2400" dirty="0" err="1">
                <a:solidFill>
                  <a:schemeClr val="accent6">
                    <a:lumMod val="75000"/>
                  </a:schemeClr>
                </a:solidFill>
              </a:rPr>
              <a:t>of</a:t>
            </a:r>
            <a:r>
              <a:rPr lang="de-AT" sz="2400" dirty="0">
                <a:solidFill>
                  <a:schemeClr val="accent6">
                    <a:lumMod val="75000"/>
                  </a:schemeClr>
                </a:solidFill>
              </a:rPr>
              <a:t> experimental </a:t>
            </a:r>
            <a:r>
              <a:rPr lang="de-AT" sz="2400" dirty="0" err="1">
                <a:solidFill>
                  <a:schemeClr val="accent6">
                    <a:lumMod val="75000"/>
                  </a:schemeClr>
                </a:solidFill>
              </a:rPr>
              <a:t>data</a:t>
            </a:r>
            <a:endParaRPr lang="de-DE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 err="1" smtClean="0"/>
              <a:t>Sources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uncertainties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16</a:t>
            </a:fld>
            <a:endParaRPr lang="de-AT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762000" y="2465388"/>
            <a:ext cx="7739063" cy="1306512"/>
          </a:xfrm>
          <a:prstGeom prst="rect">
            <a:avLst/>
          </a:prstGeom>
          <a:solidFill>
            <a:srgbClr val="000099"/>
          </a:solidFill>
          <a:ln w="57150" cmpd="thickThin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e-DE" sz="2400">
                <a:solidFill>
                  <a:schemeClr val="bg1"/>
                </a:solidFill>
                <a:latin typeface="Times New Roman" pitchFamily="18" charset="0"/>
              </a:rPr>
              <a:t>The contributions to the covariance matrix of the model are </a:t>
            </a:r>
          </a:p>
          <a:p>
            <a:pPr algn="ctr"/>
            <a:endParaRPr lang="de-DE" sz="2400">
              <a:solidFill>
                <a:schemeClr val="bg1"/>
              </a:solidFill>
              <a:latin typeface="Times New Roman" pitchFamily="18" charset="0"/>
            </a:endParaRPr>
          </a:p>
          <a:p>
            <a:pPr algn="ctr"/>
            <a:r>
              <a:rPr lang="de-DE" sz="2400">
                <a:solidFill>
                  <a:schemeClr val="bg1"/>
                </a:solidFill>
                <a:latin typeface="Times New Roman" pitchFamily="18" charset="0"/>
              </a:rPr>
              <a:t>  </a:t>
            </a:r>
            <a:r>
              <a:rPr lang="de-DE" sz="2800">
                <a:solidFill>
                  <a:schemeClr val="bg1"/>
                </a:solidFill>
                <a:latin typeface="Comic Sans MS" pitchFamily="66" charset="0"/>
              </a:rPr>
              <a:t>M</a:t>
            </a:r>
            <a:r>
              <a:rPr lang="de-DE" sz="2800" baseline="30000">
                <a:solidFill>
                  <a:schemeClr val="bg1"/>
                </a:solidFill>
                <a:latin typeface="Times New Roman" pitchFamily="18" charset="0"/>
              </a:rPr>
              <a:t>(mod)</a:t>
            </a:r>
            <a:r>
              <a:rPr lang="de-DE" sz="2800">
                <a:solidFill>
                  <a:schemeClr val="bg1"/>
                </a:solidFill>
                <a:latin typeface="Times New Roman" pitchFamily="18" charset="0"/>
              </a:rPr>
              <a:t> = </a:t>
            </a:r>
            <a:r>
              <a:rPr lang="de-DE" sz="2800">
                <a:solidFill>
                  <a:schemeClr val="bg1"/>
                </a:solidFill>
                <a:latin typeface="Comic Sans MS" pitchFamily="66" charset="0"/>
              </a:rPr>
              <a:t>M</a:t>
            </a:r>
            <a:r>
              <a:rPr lang="de-DE" sz="2800" baseline="30000">
                <a:solidFill>
                  <a:schemeClr val="bg1"/>
                </a:solidFill>
                <a:latin typeface="Times New Roman" pitchFamily="18" charset="0"/>
              </a:rPr>
              <a:t>(par)</a:t>
            </a:r>
            <a:r>
              <a:rPr lang="de-DE" sz="2800">
                <a:solidFill>
                  <a:schemeClr val="bg1"/>
                </a:solidFill>
                <a:latin typeface="Times New Roman" pitchFamily="18" charset="0"/>
              </a:rPr>
              <a:t> + </a:t>
            </a:r>
            <a:r>
              <a:rPr lang="de-DE" sz="2800">
                <a:solidFill>
                  <a:schemeClr val="bg1"/>
                </a:solidFill>
                <a:latin typeface="Comic Sans MS" pitchFamily="66" charset="0"/>
              </a:rPr>
              <a:t>M</a:t>
            </a:r>
            <a:r>
              <a:rPr lang="de-DE" sz="2800" baseline="30000">
                <a:solidFill>
                  <a:schemeClr val="bg1"/>
                </a:solidFill>
                <a:latin typeface="Times New Roman" pitchFamily="18" charset="0"/>
              </a:rPr>
              <a:t>(num)</a:t>
            </a:r>
            <a:r>
              <a:rPr lang="de-DE" sz="2800">
                <a:solidFill>
                  <a:schemeClr val="bg1"/>
                </a:solidFill>
                <a:latin typeface="Times New Roman" pitchFamily="18" charset="0"/>
              </a:rPr>
              <a:t> + </a:t>
            </a:r>
            <a:r>
              <a:rPr lang="de-DE" sz="2800">
                <a:solidFill>
                  <a:schemeClr val="bg1"/>
                </a:solidFill>
                <a:latin typeface="Comic Sans MS" pitchFamily="66" charset="0"/>
              </a:rPr>
              <a:t>M</a:t>
            </a:r>
            <a:r>
              <a:rPr lang="de-DE" sz="2800" baseline="30000">
                <a:solidFill>
                  <a:schemeClr val="bg1"/>
                </a:solidFill>
                <a:latin typeface="Times New Roman" pitchFamily="18" charset="0"/>
              </a:rPr>
              <a:t>(def)</a:t>
            </a:r>
            <a:endParaRPr lang="de-AT" sz="2800" baseline="30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0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57250" y="4500563"/>
            <a:ext cx="2057400" cy="830262"/>
          </a:xfrm>
          <a:prstGeom prst="rect">
            <a:avLst/>
          </a:prstGeom>
          <a:solidFill>
            <a:srgbClr val="800080"/>
          </a:solidFill>
          <a:ln w="38100">
            <a:solidFill>
              <a:srgbClr val="CC00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e-DE" sz="2400" b="1">
                <a:solidFill>
                  <a:schemeClr val="bg1"/>
                </a:solidFill>
                <a:latin typeface="Times New Roman" pitchFamily="18" charset="0"/>
              </a:rPr>
              <a:t>parameter uncertainties </a:t>
            </a:r>
            <a:endParaRPr lang="de-AT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189288" y="4800600"/>
            <a:ext cx="216852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2400">
                <a:solidFill>
                  <a:srgbClr val="000099"/>
                </a:solidFill>
                <a:latin typeface="Times New Roman" pitchFamily="18" charset="0"/>
              </a:rPr>
              <a:t>numerical </a:t>
            </a:r>
          </a:p>
          <a:p>
            <a:pPr algn="ctr"/>
            <a:r>
              <a:rPr lang="de-DE" sz="2400">
                <a:solidFill>
                  <a:srgbClr val="000099"/>
                </a:solidFill>
                <a:latin typeface="Times New Roman" pitchFamily="18" charset="0"/>
              </a:rPr>
              <a:t>implementation </a:t>
            </a:r>
          </a:p>
          <a:p>
            <a:pPr algn="ctr"/>
            <a:r>
              <a:rPr lang="de-DE" sz="2400">
                <a:solidFill>
                  <a:srgbClr val="000099"/>
                </a:solidFill>
                <a:latin typeface="Times New Roman" pitchFamily="18" charset="0"/>
              </a:rPr>
              <a:t>error</a:t>
            </a:r>
            <a:endParaRPr lang="de-AT" sz="240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5462588" y="4527550"/>
            <a:ext cx="2895600" cy="830263"/>
          </a:xfrm>
          <a:prstGeom prst="rect">
            <a:avLst/>
          </a:prstGeom>
          <a:solidFill>
            <a:srgbClr val="FF0000"/>
          </a:solidFill>
          <a:ln w="38100">
            <a:solidFill>
              <a:srgbClr val="FF66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e-AT" sz="2400" b="1">
                <a:solidFill>
                  <a:schemeClr val="bg1"/>
                </a:solidFill>
                <a:latin typeface="Times New Roman" pitchFamily="18" charset="0"/>
              </a:rPr>
              <a:t>Model defects</a:t>
            </a:r>
            <a:endParaRPr lang="de-DE" sz="2400">
              <a:solidFill>
                <a:schemeClr val="bg1"/>
              </a:solidFill>
              <a:latin typeface="Times New Roman" pitchFamily="18" charset="0"/>
            </a:endParaRPr>
          </a:p>
          <a:p>
            <a:pPr algn="ctr"/>
            <a:r>
              <a:rPr lang="de-DE" sz="2400">
                <a:solidFill>
                  <a:schemeClr val="bg1"/>
                </a:solidFill>
                <a:latin typeface="Times New Roman" pitchFamily="18" charset="0"/>
              </a:rPr>
              <a:t>non-statistical error</a:t>
            </a:r>
            <a:endParaRPr lang="de-AT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 flipH="1">
            <a:off x="1714500" y="3786188"/>
            <a:ext cx="2143125" cy="714375"/>
          </a:xfrm>
          <a:prstGeom prst="line">
            <a:avLst/>
          </a:prstGeom>
          <a:noFill/>
          <a:ln w="5080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4" name="Line 8"/>
          <p:cNvSpPr>
            <a:spLocks noChangeShapeType="1"/>
          </p:cNvSpPr>
          <p:nvPr/>
        </p:nvSpPr>
        <p:spPr bwMode="auto">
          <a:xfrm rot="20306136" flipH="1">
            <a:off x="4037013" y="3997325"/>
            <a:ext cx="1284287" cy="720725"/>
          </a:xfrm>
          <a:prstGeom prst="line">
            <a:avLst/>
          </a:prstGeom>
          <a:noFill/>
          <a:ln w="50800">
            <a:solidFill>
              <a:schemeClr val="accent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 rot="20226934">
            <a:off x="6656388" y="3735388"/>
            <a:ext cx="117475" cy="820737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16" name="Object 0"/>
          <p:cNvGraphicFramePr>
            <a:graphicFrameLocks noChangeAspect="1"/>
          </p:cNvGraphicFramePr>
          <p:nvPr/>
        </p:nvGraphicFramePr>
        <p:xfrm>
          <a:off x="914400" y="1643063"/>
          <a:ext cx="7391400" cy="533400"/>
        </p:xfrm>
        <a:graphic>
          <a:graphicData uri="http://schemas.openxmlformats.org/presentationml/2006/ole">
            <p:oleObj spid="_x0000_s67585" name="Formel" r:id="rId4" imgW="4228920" imgH="304560" progId="Equation.DSMT4">
              <p:embed/>
            </p:oleObj>
          </a:graphicData>
        </a:graphic>
      </p:graphicFrame>
      <p:sp>
        <p:nvSpPr>
          <p:cNvPr id="17" name="Textfeld 15"/>
          <p:cNvSpPr txBox="1">
            <a:spLocks noChangeArrowheads="1"/>
          </p:cNvSpPr>
          <p:nvPr/>
        </p:nvSpPr>
        <p:spPr bwMode="auto">
          <a:xfrm>
            <a:off x="1092200" y="5429250"/>
            <a:ext cx="15509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1600"/>
              <a:t>EFFDOC-1047</a:t>
            </a:r>
            <a:endParaRPr lang="de-DE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 smtClean="0"/>
              <a:t>Parameter </a:t>
            </a:r>
            <a:r>
              <a:rPr lang="de-AT" dirty="0" err="1" smtClean="0"/>
              <a:t>uncertainties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17</a:t>
            </a:fld>
            <a:endParaRPr lang="de-AT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09600" y="990600"/>
            <a:ext cx="7889875" cy="11287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>
                <a:solidFill>
                  <a:schemeClr val="tx1"/>
                </a:solidFill>
                <a:latin typeface="Times New Roman" pitchFamily="18" charset="0"/>
              </a:rPr>
              <a:t>For most cases where there is no obvious prior Baye proposed to apply </a:t>
            </a:r>
          </a:p>
          <a:p>
            <a:r>
              <a:rPr lang="de-DE" sz="2000" b="1">
                <a:solidFill>
                  <a:srgbClr val="FF0000"/>
                </a:solidFill>
                <a:latin typeface="Times New Roman" pitchFamily="18" charset="0"/>
              </a:rPr>
              <a:t>Laplace principle of insufficient reasoning, i.e. a uniform distribution</a:t>
            </a:r>
          </a:p>
          <a:p>
            <a:r>
              <a:rPr lang="de-DE" sz="2000" b="1">
                <a:solidFill>
                  <a:schemeClr val="tx1"/>
                </a:solidFill>
                <a:latin typeface="Times New Roman" pitchFamily="18" charset="0"/>
              </a:rPr>
              <a:t>Main criticism from objectivist: the choice of prior is arbitrary</a:t>
            </a:r>
            <a:r>
              <a:rPr lang="de-DE" sz="2000" b="1"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lang="de-DE" sz="2800" b="1">
                <a:solidFill>
                  <a:srgbClr val="FF0000"/>
                </a:solidFill>
                <a:latin typeface="Times New Roman" pitchFamily="18" charset="0"/>
              </a:rPr>
              <a:t>!!!</a:t>
            </a:r>
            <a:endParaRPr lang="de-AT" sz="2800" b="1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09600" y="2209800"/>
            <a:ext cx="7924800" cy="1676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sz="2000" b="1">
              <a:solidFill>
                <a:srgbClr val="000066"/>
              </a:solidFill>
              <a:latin typeface="Times New Roman" pitchFamily="18" charset="0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822325" y="2251075"/>
            <a:ext cx="6046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b="1">
                <a:solidFill>
                  <a:srgbClr val="000066"/>
                </a:solidFill>
                <a:latin typeface="Times New Roman" pitchFamily="18" charset="0"/>
              </a:rPr>
              <a:t>INFORMATION  THEORY</a:t>
            </a:r>
            <a:r>
              <a:rPr lang="de-DE" b="1"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lang="de-DE" b="1">
                <a:solidFill>
                  <a:srgbClr val="000066"/>
                </a:solidFill>
                <a:latin typeface="Times New Roman" pitchFamily="18" charset="0"/>
              </a:rPr>
              <a:t>(Shannon 1949)</a:t>
            </a:r>
            <a:endParaRPr lang="de-AT" b="1">
              <a:solidFill>
                <a:srgbClr val="000066"/>
              </a:solidFill>
              <a:latin typeface="Times New Roman" pitchFamily="18" charset="0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822325" y="2833688"/>
            <a:ext cx="2501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>
                <a:solidFill>
                  <a:srgbClr val="000066"/>
                </a:solidFill>
                <a:latin typeface="Times New Roman" pitchFamily="18" charset="0"/>
              </a:rPr>
              <a:t>Information entropy:</a:t>
            </a:r>
            <a:endParaRPr lang="de-AT" sz="2000" b="1">
              <a:solidFill>
                <a:srgbClr val="000066"/>
              </a:solidFill>
              <a:latin typeface="Times New Roman" pitchFamily="18" charset="0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22325" y="3367088"/>
            <a:ext cx="71643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>
                <a:solidFill>
                  <a:srgbClr val="000066"/>
                </a:solidFill>
                <a:latin typeface="Times New Roman" pitchFamily="18" charset="0"/>
              </a:rPr>
              <a:t>The amount of uncertainty is maximal if the entropy is maximal.</a:t>
            </a:r>
            <a:endParaRPr lang="de-AT" sz="2000" b="1">
              <a:solidFill>
                <a:srgbClr val="000066"/>
              </a:solidFill>
              <a:latin typeface="Times New Roman" pitchFamily="18" charset="0"/>
            </a:endParaRPr>
          </a:p>
        </p:txBody>
      </p:sp>
      <p:graphicFrame>
        <p:nvGraphicFramePr>
          <p:cNvPr id="12" name="Object 8"/>
          <p:cNvGraphicFramePr>
            <a:graphicFrameLocks noChangeAspect="1"/>
          </p:cNvGraphicFramePr>
          <p:nvPr/>
        </p:nvGraphicFramePr>
        <p:xfrm>
          <a:off x="4114800" y="2590800"/>
          <a:ext cx="2895600" cy="920750"/>
        </p:xfrm>
        <a:graphic>
          <a:graphicData uri="http://schemas.openxmlformats.org/presentationml/2006/ole">
            <p:oleObj spid="_x0000_s143362" name="Formel" r:id="rId4" imgW="1358640" imgH="431640" progId="Equation.DSMT4">
              <p:embed/>
            </p:oleObj>
          </a:graphicData>
        </a:graphic>
      </p:graphicFrame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28600" y="3962400"/>
            <a:ext cx="8686800" cy="2133600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sz="2000" b="1">
              <a:solidFill>
                <a:srgbClr val="000066"/>
              </a:solidFill>
              <a:latin typeface="Times New Roman" pitchFamily="18" charset="0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669925" y="4052888"/>
            <a:ext cx="76835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>
                <a:solidFill>
                  <a:schemeClr val="bg1"/>
                </a:solidFill>
                <a:latin typeface="Times New Roman" pitchFamily="18" charset="0"/>
              </a:rPr>
              <a:t>Assumption: Besides the marginalisation we know an expection value</a:t>
            </a:r>
          </a:p>
          <a:p>
            <a:r>
              <a:rPr lang="de-DE" sz="2000" b="1">
                <a:solidFill>
                  <a:schemeClr val="bg1"/>
                </a:solidFill>
                <a:latin typeface="Times New Roman" pitchFamily="18" charset="0"/>
              </a:rPr>
              <a:t>	 </a:t>
            </a:r>
            <a:endParaRPr lang="de-AT" sz="2000" b="1">
              <a:solidFill>
                <a:schemeClr val="bg1"/>
              </a:solidFill>
              <a:latin typeface="Times New Roman" pitchFamily="18" charset="0"/>
            </a:endParaRPr>
          </a:p>
        </p:txBody>
      </p:sp>
      <p:graphicFrame>
        <p:nvGraphicFramePr>
          <p:cNvPr id="15" name="Object 11"/>
          <p:cNvGraphicFramePr>
            <a:graphicFrameLocks noChangeAspect="1"/>
          </p:cNvGraphicFramePr>
          <p:nvPr/>
        </p:nvGraphicFramePr>
        <p:xfrm>
          <a:off x="2286000" y="3187700"/>
          <a:ext cx="4572000" cy="482600"/>
        </p:xfrm>
        <a:graphic>
          <a:graphicData uri="http://schemas.openxmlformats.org/presentationml/2006/ole">
            <p:oleObj spid="_x0000_s143363" name="Formel" r:id="rId5" imgW="4572000" imgH="482400" progId="Equation.DSMT4">
              <p:embed/>
            </p:oleObj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304800" y="4800600"/>
          <a:ext cx="8610600" cy="909638"/>
        </p:xfrm>
        <a:graphic>
          <a:graphicData uri="http://schemas.openxmlformats.org/presentationml/2006/ole">
            <p:oleObj spid="_x0000_s143364" name="Formel" r:id="rId6" imgW="4572000" imgH="482400" progId="Equation.DSMT4">
              <p:embed/>
            </p:oleObj>
          </a:graphicData>
        </a:graphic>
      </p:graphicFrame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4724400" y="4419600"/>
            <a:ext cx="685800" cy="533400"/>
          </a:xfrm>
          <a:prstGeom prst="line">
            <a:avLst/>
          </a:prstGeom>
          <a:noFill/>
          <a:ln w="635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7315200" y="4419600"/>
            <a:ext cx="533400" cy="609600"/>
          </a:xfrm>
          <a:prstGeom prst="line">
            <a:avLst/>
          </a:prstGeom>
          <a:noFill/>
          <a:ln w="635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eck 25"/>
          <p:cNvSpPr/>
          <p:nvPr/>
        </p:nvSpPr>
        <p:spPr bwMode="auto">
          <a:xfrm>
            <a:off x="285720" y="3286124"/>
            <a:ext cx="8643998" cy="171451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rgbClr val="000099"/>
              </a:solidFill>
              <a:effectLst/>
              <a:latin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Theory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dirty="0" smtClean="0"/>
              <a:t> </a:t>
            </a:r>
            <a:r>
              <a:rPr lang="de-AT" dirty="0" err="1" smtClean="0"/>
              <a:t>prior</a:t>
            </a:r>
            <a:r>
              <a:rPr lang="de-AT" dirty="0" smtClean="0"/>
              <a:t> </a:t>
            </a:r>
            <a:r>
              <a:rPr lang="de-AT" dirty="0" err="1" smtClean="0"/>
              <a:t>determination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18</a:t>
            </a:fld>
            <a:endParaRPr lang="de-AT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77875" y="1360488"/>
            <a:ext cx="7924800" cy="1763712"/>
          </a:xfrm>
          <a:prstGeom prst="rect">
            <a:avLst/>
          </a:prstGeom>
          <a:solidFill>
            <a:schemeClr val="bg1"/>
          </a:solidFill>
          <a:ln w="76200" cmpd="tri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 sz="2000">
              <a:solidFill>
                <a:srgbClr val="FFFF00"/>
              </a:solidFill>
              <a:latin typeface="Times New Roman" pitchFamily="18" charset="0"/>
            </a:endParaRP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914400" y="1371600"/>
          <a:ext cx="5334000" cy="1579563"/>
        </p:xfrm>
        <a:graphic>
          <a:graphicData uri="http://schemas.openxmlformats.org/presentationml/2006/ole">
            <p:oleObj spid="_x0000_s145410" name="Formel" r:id="rId4" imgW="3263760" imgH="965160" progId="Equation.DSMT4">
              <p:embed/>
            </p:oleObj>
          </a:graphicData>
        </a:graphic>
      </p:graphicFrame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781800" y="1524000"/>
            <a:ext cx="2057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DE" sz="1600" b="1">
                <a:solidFill>
                  <a:srgbClr val="FF0000"/>
                </a:solidFill>
                <a:latin typeface="Times New Roman" pitchFamily="18" charset="0"/>
              </a:rPr>
              <a:t>Information Entropy</a:t>
            </a:r>
            <a:endParaRPr lang="de-AT" sz="1600" b="1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781800" y="2819400"/>
            <a:ext cx="2057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DE" sz="1600" b="1">
                <a:solidFill>
                  <a:srgbClr val="000066"/>
                </a:solidFill>
                <a:latin typeface="Times New Roman" pitchFamily="18" charset="0"/>
              </a:rPr>
              <a:t>Constraints</a:t>
            </a:r>
            <a:endParaRPr lang="de-AT" sz="1600" b="1">
              <a:solidFill>
                <a:srgbClr val="000066"/>
              </a:solidFill>
              <a:latin typeface="Times New Roman" pitchFamily="18" charset="0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2667000" y="3048000"/>
            <a:ext cx="403860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rot="10800000">
            <a:off x="2667000" y="2819400"/>
            <a:ext cx="0" cy="2286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rot="10800000">
            <a:off x="4876800" y="2819400"/>
            <a:ext cx="0" cy="2286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H="1">
            <a:off x="4572000" y="1752600"/>
            <a:ext cx="2133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1600200" y="3352800"/>
          <a:ext cx="3136900" cy="712788"/>
        </p:xfrm>
        <a:graphic>
          <a:graphicData uri="http://schemas.openxmlformats.org/presentationml/2006/ole">
            <p:oleObj spid="_x0000_s145411" name="Formel" r:id="rId5" imgW="1955520" imgH="444240" progId="Equation.DSMT4">
              <p:embed/>
            </p:oleObj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828800" y="4332288"/>
          <a:ext cx="3076575" cy="447675"/>
        </p:xfrm>
        <a:graphic>
          <a:graphicData uri="http://schemas.openxmlformats.org/presentationml/2006/ole">
            <p:oleObj spid="_x0000_s145412" name="Formel" r:id="rId6" imgW="1917360" imgH="279360" progId="Equation.DSMT4">
              <p:embed/>
            </p:oleObj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7010400" y="3417888"/>
          <a:ext cx="1609725" cy="639762"/>
        </p:xfrm>
        <a:graphic>
          <a:graphicData uri="http://schemas.openxmlformats.org/presentationml/2006/ole">
            <p:oleObj spid="_x0000_s145413" name="Formel" r:id="rId7" imgW="990360" imgH="393480" progId="Equation.DSMT4">
              <p:embed/>
            </p:oleObj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6934200" y="4256088"/>
          <a:ext cx="1960563" cy="681037"/>
        </p:xfrm>
        <a:graphic>
          <a:graphicData uri="http://schemas.openxmlformats.org/presentationml/2006/ole">
            <p:oleObj spid="_x0000_s145414" name="Formel" r:id="rId8" imgW="1206360" imgH="419040" progId="Equation.DSMT4">
              <p:embed/>
            </p:oleObj>
          </a:graphicData>
        </a:graphic>
      </p:graphicFrame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838200" y="3494088"/>
            <a:ext cx="7477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>
                <a:latin typeface="Times New Roman" pitchFamily="18" charset="0"/>
              </a:rPr>
              <a:t>prior</a:t>
            </a:r>
            <a:endParaRPr lang="de-AT" sz="2000" b="1">
              <a:latin typeface="Times New Roman" pitchFamily="18" charset="0"/>
            </a:endParaRP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762000" y="4179888"/>
            <a:ext cx="11414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>
                <a:latin typeface="Times New Roman" pitchFamily="18" charset="0"/>
              </a:rPr>
              <a:t>partition</a:t>
            </a:r>
          </a:p>
          <a:p>
            <a:r>
              <a:rPr lang="de-DE" sz="2000" b="1">
                <a:latin typeface="Times New Roman" pitchFamily="18" charset="0"/>
              </a:rPr>
              <a:t>function</a:t>
            </a:r>
            <a:endParaRPr lang="de-AT" sz="2000" b="1">
              <a:latin typeface="Times New Roman" pitchFamily="18" charset="0"/>
            </a:endParaRP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4876800" y="3417888"/>
            <a:ext cx="21002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>
                <a:latin typeface="Times New Roman" pitchFamily="18" charset="0"/>
              </a:rPr>
              <a:t>Determination of </a:t>
            </a:r>
          </a:p>
          <a:p>
            <a:r>
              <a:rPr lang="de-DE" sz="2000" b="1">
                <a:latin typeface="Times New Roman" pitchFamily="18" charset="0"/>
              </a:rPr>
              <a:t>Lagrange par. </a:t>
            </a:r>
            <a:r>
              <a:rPr lang="de-DE" sz="2000" b="1">
                <a:latin typeface="Symbol" pitchFamily="18" charset="2"/>
              </a:rPr>
              <a:t>l</a:t>
            </a:r>
            <a:endParaRPr lang="de-AT" sz="2000" b="1">
              <a:latin typeface="Symbol" pitchFamily="18" charset="2"/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4937125" y="4422775"/>
            <a:ext cx="1114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>
                <a:latin typeface="Times New Roman" pitchFamily="18" charset="0"/>
              </a:rPr>
              <a:t>variance</a:t>
            </a:r>
            <a:endParaRPr lang="de-AT" sz="2000" b="1">
              <a:latin typeface="Times New Roman" pitchFamily="18" charset="0"/>
            </a:endParaRP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990600" y="5105400"/>
            <a:ext cx="6399213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>
                <a:latin typeface="Times New Roman" pitchFamily="18" charset="0"/>
              </a:rPr>
              <a:t>Invariant measure to account for continuous parameters:</a:t>
            </a:r>
          </a:p>
          <a:p>
            <a:pPr>
              <a:spcBef>
                <a:spcPct val="40000"/>
              </a:spcBef>
            </a:pPr>
            <a:r>
              <a:rPr lang="de-DE" sz="2000" b="1">
                <a:latin typeface="Times New Roman" pitchFamily="18" charset="0"/>
              </a:rPr>
              <a:t>         for scaling parameters:   </a:t>
            </a:r>
            <a:endParaRPr lang="de-AT" sz="2000" b="1">
              <a:latin typeface="Times New Roman" pitchFamily="18" charset="0"/>
            </a:endParaRPr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4953000" y="5486400"/>
          <a:ext cx="1100138" cy="488950"/>
        </p:xfrm>
        <a:graphic>
          <a:graphicData uri="http://schemas.openxmlformats.org/presentationml/2006/ole">
            <p:oleObj spid="_x0000_s145415" name="Formel" r:id="rId9" imgW="685800" imgH="304560" progId="Equation.DSMT4">
              <p:embed/>
            </p:oleObj>
          </a:graphicData>
        </a:graphic>
      </p:graphicFrame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762000" y="903288"/>
            <a:ext cx="5186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 dirty="0" err="1"/>
              <a:t>Principle</a:t>
            </a:r>
            <a:r>
              <a:rPr lang="de-DE" sz="2000" b="1" dirty="0"/>
              <a:t> </a:t>
            </a:r>
            <a:r>
              <a:rPr lang="de-DE" sz="2000" b="1" dirty="0" err="1"/>
              <a:t>of</a:t>
            </a:r>
            <a:r>
              <a:rPr lang="de-DE" sz="2000" b="1" dirty="0"/>
              <a:t> maximal </a:t>
            </a:r>
            <a:r>
              <a:rPr lang="de-DE" sz="2000" b="1" dirty="0" err="1"/>
              <a:t>information</a:t>
            </a:r>
            <a:r>
              <a:rPr lang="de-DE" sz="2000" b="1" dirty="0"/>
              <a:t> </a:t>
            </a:r>
            <a:r>
              <a:rPr lang="de-DE" sz="2000" b="1" dirty="0" err="1"/>
              <a:t>entropy</a:t>
            </a:r>
            <a:r>
              <a:rPr lang="de-DE" sz="2000" b="1" dirty="0"/>
              <a:t> </a:t>
            </a:r>
            <a:endParaRPr lang="de-AT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sz="3200" dirty="0" err="1" smtClean="0"/>
              <a:t>Admissible</a:t>
            </a:r>
            <a:r>
              <a:rPr lang="de-AT" sz="3200" dirty="0" smtClean="0"/>
              <a:t> </a:t>
            </a:r>
            <a:r>
              <a:rPr lang="de-AT" sz="3200" dirty="0" err="1" smtClean="0"/>
              <a:t>range</a:t>
            </a:r>
            <a:r>
              <a:rPr lang="de-AT" sz="3200" dirty="0" smtClean="0"/>
              <a:t> </a:t>
            </a:r>
            <a:r>
              <a:rPr lang="de-AT" sz="3200" dirty="0" err="1" smtClean="0"/>
              <a:t>of</a:t>
            </a:r>
            <a:r>
              <a:rPr lang="de-AT" sz="3200" dirty="0" smtClean="0"/>
              <a:t> </a:t>
            </a:r>
            <a:r>
              <a:rPr lang="de-AT" sz="3200" dirty="0" err="1" smtClean="0"/>
              <a:t>parameters</a:t>
            </a:r>
            <a:endParaRPr lang="de-DE" sz="32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19</a:t>
            </a:fld>
            <a:endParaRPr lang="de-AT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3733800"/>
            <a:ext cx="30480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2000" y="3505200"/>
            <a:ext cx="4638675" cy="242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62000" y="914400"/>
            <a:ext cx="4343400" cy="268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486400" y="914400"/>
            <a:ext cx="28305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>
                <a:latin typeface="Times New Roman" pitchFamily="18" charset="0"/>
              </a:rPr>
              <a:t>dependence on a</a:t>
            </a:r>
            <a:r>
              <a:rPr lang="de-DE" baseline="-25000">
                <a:latin typeface="Times New Roman" pitchFamily="18" charset="0"/>
              </a:rPr>
              <a:t>v</a:t>
            </a:r>
            <a:r>
              <a:rPr lang="de-DE">
                <a:latin typeface="Times New Roman" pitchFamily="18" charset="0"/>
              </a:rPr>
              <a:t> of </a:t>
            </a:r>
          </a:p>
          <a:p>
            <a:r>
              <a:rPr lang="de-DE">
                <a:latin typeface="Times New Roman" pitchFamily="18" charset="0"/>
              </a:rPr>
              <a:t>admissible range in r</a:t>
            </a:r>
            <a:r>
              <a:rPr lang="de-DE" baseline="-25000">
                <a:latin typeface="Times New Roman" pitchFamily="18" charset="0"/>
              </a:rPr>
              <a:t>v</a:t>
            </a:r>
            <a:endParaRPr lang="de-AT" baseline="-25000">
              <a:latin typeface="Times New Roman" pitchFamily="18" charset="0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699125" y="3470275"/>
            <a:ext cx="2863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>
                <a:latin typeface="Times New Roman" pitchFamily="18" charset="0"/>
              </a:rPr>
              <a:t>admissible range in a</a:t>
            </a:r>
            <a:r>
              <a:rPr lang="de-DE" baseline="-25000">
                <a:latin typeface="Times New Roman" pitchFamily="18" charset="0"/>
              </a:rPr>
              <a:t>v</a:t>
            </a:r>
            <a:endParaRPr lang="de-AT" baseline="-25000">
              <a:latin typeface="Times New Roman" pitchFamily="18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6400800" y="4648200"/>
            <a:ext cx="25019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1800">
                <a:latin typeface="Times New Roman" pitchFamily="18" charset="0"/>
              </a:rPr>
              <a:t>z defines lower boundary</a:t>
            </a:r>
            <a:endParaRPr lang="de-AT" sz="1800">
              <a:latin typeface="Times New Roman" pitchFamily="18" charset="0"/>
            </a:endParaRPr>
          </a:p>
        </p:txBody>
      </p:sp>
      <p:pic>
        <p:nvPicPr>
          <p:cNvPr id="13" name="Picture 1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638800" y="5029200"/>
            <a:ext cx="28194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5181600" y="1828800"/>
          <a:ext cx="3697288" cy="1171575"/>
        </p:xfrm>
        <a:graphic>
          <a:graphicData uri="http://schemas.openxmlformats.org/presentationml/2006/ole">
            <p:oleObj spid="_x0000_s146434" name="Formel" r:id="rId8" imgW="2882880" imgH="914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Parameter </a:t>
            </a:r>
            <a:r>
              <a:rPr lang="de-AT" dirty="0" err="1" smtClean="0"/>
              <a:t>distribution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dirty="0" smtClean="0"/>
              <a:t> </a:t>
            </a:r>
            <a:r>
              <a:rPr lang="de-AT" baseline="30000" dirty="0" smtClean="0"/>
              <a:t>208</a:t>
            </a:r>
            <a:r>
              <a:rPr lang="de-AT" dirty="0" smtClean="0"/>
              <a:t>Pb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20</a:t>
            </a:fld>
            <a:endParaRPr lang="de-AT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09600" y="914400"/>
            <a:ext cx="2659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>
                <a:latin typeface="Times New Roman" pitchFamily="18" charset="0"/>
              </a:rPr>
              <a:t>potential parameters</a:t>
            </a:r>
            <a:endParaRPr lang="de-AT">
              <a:latin typeface="Times New Roman" pitchFamily="18" charset="0"/>
            </a:endParaRPr>
          </a:p>
        </p:txBody>
      </p:sp>
      <p:pic>
        <p:nvPicPr>
          <p:cNvPr id="8" name="Picture 12" descr="C:\Dokumente und Einstellungen\Helmut Leeb\Eigene Dateien\Research\Conferences\ND2007\leeb-stat-pres\Pb208\KD\pam-1bb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371600"/>
            <a:ext cx="9144000" cy="2562225"/>
          </a:xfrm>
          <a:prstGeom prst="rect">
            <a:avLst/>
          </a:prstGeom>
          <a:noFill/>
        </p:spPr>
      </p:pic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3886200" y="2743200"/>
            <a:ext cx="101282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i="1">
                <a:solidFill>
                  <a:schemeClr val="tx1"/>
                </a:solidFill>
              </a:rPr>
              <a:t>r</a:t>
            </a:r>
            <a:r>
              <a:rPr lang="de-DE" i="1" baseline="-25000">
                <a:solidFill>
                  <a:schemeClr val="tx1"/>
                </a:solidFill>
              </a:rPr>
              <a:t>v</a:t>
            </a:r>
            <a:r>
              <a:rPr lang="de-DE" i="1">
                <a:solidFill>
                  <a:schemeClr val="tx1"/>
                </a:solidFill>
              </a:rPr>
              <a:t> </a:t>
            </a:r>
            <a:r>
              <a:rPr lang="de-DE">
                <a:solidFill>
                  <a:schemeClr val="tx1"/>
                </a:solidFill>
              </a:rPr>
              <a:t>(fm)</a:t>
            </a:r>
            <a:endParaRPr lang="de-AT">
              <a:solidFill>
                <a:schemeClr val="tx1"/>
              </a:solidFill>
            </a:endParaRPr>
          </a:p>
        </p:txBody>
      </p:sp>
      <p:pic>
        <p:nvPicPr>
          <p:cNvPr id="10" name="Picture 14" descr="C:\Dokumente und Einstellungen\Helmut Leeb\Eigene Dateien\Research\Conferences\ND2007\leeb-stat-pres\Pb208\KD\pam-3bb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57600"/>
            <a:ext cx="9144000" cy="2560638"/>
          </a:xfrm>
          <a:prstGeom prst="rect">
            <a:avLst/>
          </a:prstGeom>
          <a:noFill/>
        </p:spPr>
      </p:pic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3886200" y="5029200"/>
            <a:ext cx="1363663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i="1">
                <a:solidFill>
                  <a:schemeClr val="tx1"/>
                </a:solidFill>
              </a:rPr>
              <a:t>v</a:t>
            </a:r>
            <a:r>
              <a:rPr lang="de-DE" i="1" baseline="-25000">
                <a:solidFill>
                  <a:schemeClr val="tx1"/>
                </a:solidFill>
              </a:rPr>
              <a:t>1</a:t>
            </a:r>
            <a:r>
              <a:rPr lang="de-DE" i="1">
                <a:solidFill>
                  <a:schemeClr val="tx1"/>
                </a:solidFill>
              </a:rPr>
              <a:t> </a:t>
            </a:r>
            <a:r>
              <a:rPr lang="de-DE">
                <a:solidFill>
                  <a:schemeClr val="tx1"/>
                </a:solidFill>
              </a:rPr>
              <a:t>(MeV)</a:t>
            </a:r>
            <a:endParaRPr lang="de-AT">
              <a:solidFill>
                <a:schemeClr val="tx1"/>
              </a:solidFill>
            </a:endParaRP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4343400" y="5943600"/>
            <a:ext cx="990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sz="2800" dirty="0" smtClean="0"/>
              <a:t>Parameter </a:t>
            </a:r>
            <a:r>
              <a:rPr lang="de-AT" sz="2800" dirty="0" err="1" smtClean="0"/>
              <a:t>uncertainties-correlations</a:t>
            </a:r>
            <a:endParaRPr lang="de-DE" sz="2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21</a:t>
            </a:fld>
            <a:endParaRPr lang="de-AT"/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85720" y="857232"/>
            <a:ext cx="3863828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857232"/>
            <a:ext cx="3929090" cy="494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feld 8"/>
          <p:cNvSpPr txBox="1"/>
          <p:nvPr/>
        </p:nvSpPr>
        <p:spPr>
          <a:xfrm>
            <a:off x="214282" y="5715016"/>
            <a:ext cx="42498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2000" dirty="0" err="1" smtClean="0"/>
              <a:t>phenomenological</a:t>
            </a:r>
            <a:r>
              <a:rPr lang="de-AT" sz="2000" dirty="0" smtClean="0"/>
              <a:t> </a:t>
            </a:r>
            <a:r>
              <a:rPr lang="de-AT" sz="2000" dirty="0" err="1" smtClean="0"/>
              <a:t>optical</a:t>
            </a:r>
            <a:r>
              <a:rPr lang="de-AT" sz="2000" dirty="0" smtClean="0"/>
              <a:t> </a:t>
            </a:r>
            <a:r>
              <a:rPr lang="de-AT" sz="2000" dirty="0" err="1" smtClean="0"/>
              <a:t>potentials</a:t>
            </a:r>
            <a:endParaRPr lang="de-DE" sz="2000" dirty="0"/>
          </a:p>
        </p:txBody>
      </p:sp>
      <p:sp>
        <p:nvSpPr>
          <p:cNvPr id="10" name="Textfeld 9"/>
          <p:cNvSpPr txBox="1"/>
          <p:nvPr/>
        </p:nvSpPr>
        <p:spPr>
          <a:xfrm>
            <a:off x="5072066" y="5715016"/>
            <a:ext cx="35205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2000" dirty="0" err="1" smtClean="0"/>
              <a:t>microscopic</a:t>
            </a:r>
            <a:r>
              <a:rPr lang="de-AT" sz="2000" dirty="0" smtClean="0"/>
              <a:t> </a:t>
            </a:r>
            <a:r>
              <a:rPr lang="de-AT" sz="2000" dirty="0" err="1" smtClean="0"/>
              <a:t>optical</a:t>
            </a:r>
            <a:r>
              <a:rPr lang="de-AT" sz="2000" dirty="0" smtClean="0"/>
              <a:t> </a:t>
            </a:r>
            <a:r>
              <a:rPr lang="de-AT" sz="2000" dirty="0" err="1" smtClean="0"/>
              <a:t>potentials</a:t>
            </a:r>
            <a:endParaRPr lang="de-DE" sz="2000" dirty="0"/>
          </a:p>
        </p:txBody>
      </p:sp>
      <p:sp>
        <p:nvSpPr>
          <p:cNvPr id="11" name="Textfeld 10"/>
          <p:cNvSpPr txBox="1"/>
          <p:nvPr/>
        </p:nvSpPr>
        <p:spPr>
          <a:xfrm>
            <a:off x="4071934" y="1071546"/>
            <a:ext cx="1045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3600" dirty="0" err="1" smtClean="0">
                <a:latin typeface="Symbol" pitchFamily="18" charset="2"/>
              </a:rPr>
              <a:t>s</a:t>
            </a:r>
            <a:r>
              <a:rPr lang="de-AT" sz="3600" baseline="-25000" dirty="0" err="1" smtClean="0"/>
              <a:t>total</a:t>
            </a:r>
            <a:endParaRPr lang="de-DE" sz="3600" baseline="-25000" dirty="0"/>
          </a:p>
        </p:txBody>
      </p:sp>
      <p:sp>
        <p:nvSpPr>
          <p:cNvPr id="12" name="Textfeld 11"/>
          <p:cNvSpPr txBox="1"/>
          <p:nvPr/>
        </p:nvSpPr>
        <p:spPr>
          <a:xfrm>
            <a:off x="3929058" y="3357562"/>
            <a:ext cx="1337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3600" dirty="0" err="1" smtClean="0">
                <a:latin typeface="Symbol" pitchFamily="18" charset="2"/>
              </a:rPr>
              <a:t>s</a:t>
            </a:r>
            <a:r>
              <a:rPr lang="de-AT" sz="3600" baseline="-25000" dirty="0" err="1" smtClean="0"/>
              <a:t>elastic</a:t>
            </a:r>
            <a:endParaRPr lang="de-DE" sz="36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Model </a:t>
            </a:r>
            <a:r>
              <a:rPr lang="de-AT" dirty="0" err="1" smtClean="0"/>
              <a:t>defects</a:t>
            </a:r>
            <a:r>
              <a:rPr lang="de-AT" dirty="0" smtClean="0"/>
              <a:t> - </a:t>
            </a:r>
            <a:r>
              <a:rPr lang="de-AT" dirty="0" err="1" smtClean="0"/>
              <a:t>scaling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22</a:t>
            </a:fld>
            <a:endParaRPr lang="de-AT"/>
          </a:p>
        </p:txBody>
      </p:sp>
      <p:sp>
        <p:nvSpPr>
          <p:cNvPr id="7" name="Flussdiagramm: Prozess 6"/>
          <p:cNvSpPr/>
          <p:nvPr/>
        </p:nvSpPr>
        <p:spPr bwMode="auto">
          <a:xfrm>
            <a:off x="571500" y="4643438"/>
            <a:ext cx="8358188" cy="928687"/>
          </a:xfrm>
          <a:prstGeom prst="flowChartProcess">
            <a:avLst/>
          </a:prstGeom>
          <a:solidFill>
            <a:schemeClr val="bg1"/>
          </a:solidFill>
          <a:ln w="381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Textfeld 5"/>
          <p:cNvSpPr txBox="1">
            <a:spLocks noChangeArrowheads="1"/>
          </p:cNvSpPr>
          <p:nvPr/>
        </p:nvSpPr>
        <p:spPr bwMode="auto">
          <a:xfrm>
            <a:off x="5495925" y="1169988"/>
            <a:ext cx="35052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400"/>
              <a:t>Global scaling factor for </a:t>
            </a:r>
          </a:p>
          <a:p>
            <a:r>
              <a:rPr lang="de-AT" sz="2400"/>
              <a:t>each reaction channel </a:t>
            </a:r>
            <a:r>
              <a:rPr lang="de-AT" sz="2400" i="1"/>
              <a:t>c</a:t>
            </a:r>
            <a:endParaRPr lang="de-DE" sz="2400" i="1"/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642938" y="1665288"/>
          <a:ext cx="8143875" cy="3835400"/>
        </p:xfrm>
        <a:graphic>
          <a:graphicData uri="http://schemas.openxmlformats.org/presentationml/2006/ole">
            <p:oleObj spid="_x0000_s147458" name="Formel" r:id="rId4" imgW="5613120" imgH="2641320" progId="Equation.3">
              <p:embed/>
            </p:oleObj>
          </a:graphicData>
        </a:graphic>
      </p:graphicFrame>
      <p:sp>
        <p:nvSpPr>
          <p:cNvPr id="10" name="Textfeld 7"/>
          <p:cNvSpPr txBox="1">
            <a:spLocks noChangeArrowheads="1"/>
          </p:cNvSpPr>
          <p:nvPr/>
        </p:nvSpPr>
        <p:spPr bwMode="auto">
          <a:xfrm>
            <a:off x="571500" y="4676775"/>
            <a:ext cx="652462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/>
              <a:t>This coarse approximation provides a covariance matrix</a:t>
            </a:r>
          </a:p>
          <a:p>
            <a:endParaRPr lang="de-AT"/>
          </a:p>
          <a:p>
            <a:endParaRPr lang="de-AT">
              <a:sym typeface="Wingdings" pitchFamily="2" charset="2"/>
            </a:endParaRPr>
          </a:p>
          <a:p>
            <a:r>
              <a:rPr lang="de-AT" b="1" u="sng">
                <a:solidFill>
                  <a:srgbClr val="800080"/>
                </a:solidFill>
                <a:sym typeface="Wingdings" pitchFamily="2" charset="2"/>
              </a:rPr>
              <a:t>PROBLEM: </a:t>
            </a:r>
            <a:r>
              <a:rPr lang="de-AT">
                <a:solidFill>
                  <a:srgbClr val="800080"/>
                </a:solidFill>
                <a:sym typeface="Wingdings" pitchFamily="2" charset="2"/>
              </a:rPr>
              <a:t>not statistically defined</a:t>
            </a:r>
          </a:p>
        </p:txBody>
      </p:sp>
      <p:sp>
        <p:nvSpPr>
          <p:cNvPr id="11" name="Geschweifte Klammer rechts 9"/>
          <p:cNvSpPr>
            <a:spLocks/>
          </p:cNvSpPr>
          <p:nvPr/>
        </p:nvSpPr>
        <p:spPr bwMode="auto">
          <a:xfrm>
            <a:off x="5000625" y="1643063"/>
            <a:ext cx="357188" cy="2214562"/>
          </a:xfrm>
          <a:prstGeom prst="rightBrace">
            <a:avLst>
              <a:gd name="adj1" fmla="val 8324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feld 10"/>
          <p:cNvSpPr txBox="1">
            <a:spLocks noChangeArrowheads="1"/>
          </p:cNvSpPr>
          <p:nvPr/>
        </p:nvSpPr>
        <p:spPr bwMode="auto">
          <a:xfrm>
            <a:off x="5556250" y="2290763"/>
            <a:ext cx="3211513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1800">
                <a:solidFill>
                  <a:schemeClr val="tx1"/>
                </a:solidFill>
              </a:rPr>
              <a:t>Mean value and vairance for </a:t>
            </a:r>
          </a:p>
          <a:p>
            <a:r>
              <a:rPr lang="de-AT" sz="1800">
                <a:solidFill>
                  <a:schemeClr val="tx1"/>
                </a:solidFill>
              </a:rPr>
              <a:t>each energy bin </a:t>
            </a:r>
            <a:r>
              <a:rPr lang="de-AT" sz="1800" i="1">
                <a:solidFill>
                  <a:schemeClr val="tx1"/>
                </a:solidFill>
              </a:rPr>
              <a:t>E</a:t>
            </a:r>
            <a:r>
              <a:rPr lang="de-AT" sz="1800" baseline="-25000">
                <a:solidFill>
                  <a:schemeClr val="tx1"/>
                </a:solidFill>
              </a:rPr>
              <a:t>m </a:t>
            </a:r>
            <a:r>
              <a:rPr lang="de-AT" sz="1800">
                <a:solidFill>
                  <a:schemeClr val="tx1"/>
                </a:solidFill>
              </a:rPr>
              <a:t>and </a:t>
            </a:r>
          </a:p>
          <a:p>
            <a:r>
              <a:rPr lang="de-AT" sz="1800">
                <a:solidFill>
                  <a:schemeClr val="tx1"/>
                </a:solidFill>
              </a:rPr>
              <a:t>isotope </a:t>
            </a:r>
            <a:r>
              <a:rPr lang="de-AT" sz="1800" i="1">
                <a:solidFill>
                  <a:schemeClr val="tx1"/>
                </a:solidFill>
              </a:rPr>
              <a:t>n</a:t>
            </a:r>
            <a:endParaRPr lang="de-DE" sz="1800" i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94238" y="3673475"/>
            <a:ext cx="4449762" cy="197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Model </a:t>
            </a:r>
            <a:r>
              <a:rPr lang="de-AT" dirty="0" err="1" smtClean="0"/>
              <a:t>defects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baseline="30000" dirty="0" smtClean="0"/>
              <a:t>16</a:t>
            </a:r>
            <a:r>
              <a:rPr lang="de-AT" dirty="0" smtClean="0"/>
              <a:t>O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23</a:t>
            </a:fld>
            <a:endParaRPr lang="de-AT"/>
          </a:p>
        </p:txBody>
      </p:sp>
      <p:cxnSp>
        <p:nvCxnSpPr>
          <p:cNvPr id="7" name="Gerade Verbindung 20"/>
          <p:cNvCxnSpPr>
            <a:cxnSpLocks noChangeShapeType="1"/>
          </p:cNvCxnSpPr>
          <p:nvPr/>
        </p:nvCxnSpPr>
        <p:spPr bwMode="auto">
          <a:xfrm>
            <a:off x="5010150" y="4572000"/>
            <a:ext cx="3276600" cy="1588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</p:cxn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9788" y="1214438"/>
            <a:ext cx="4384675" cy="235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feld 6"/>
          <p:cNvSpPr txBox="1">
            <a:spLocks noChangeArrowheads="1"/>
          </p:cNvSpPr>
          <p:nvPr/>
        </p:nvSpPr>
        <p:spPr bwMode="auto">
          <a:xfrm>
            <a:off x="1716088" y="3857625"/>
            <a:ext cx="9302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/>
              <a:t>E‘  MeV</a:t>
            </a:r>
            <a:endParaRPr lang="de-DE"/>
          </a:p>
        </p:txBody>
      </p:sp>
      <p:sp>
        <p:nvSpPr>
          <p:cNvPr id="10" name="Textfeld 7"/>
          <p:cNvSpPr txBox="1">
            <a:spLocks noChangeArrowheads="1"/>
          </p:cNvSpPr>
          <p:nvPr/>
        </p:nvSpPr>
        <p:spPr bwMode="auto">
          <a:xfrm rot="16200000">
            <a:off x="3744912" y="2498726"/>
            <a:ext cx="12541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/>
              <a:t>E  MeV</a:t>
            </a:r>
            <a:endParaRPr lang="de-DE"/>
          </a:p>
        </p:txBody>
      </p:sp>
      <p:sp>
        <p:nvSpPr>
          <p:cNvPr id="11" name="Textfeld 10"/>
          <p:cNvSpPr txBox="1"/>
          <p:nvPr/>
        </p:nvSpPr>
        <p:spPr>
          <a:xfrm>
            <a:off x="5500688" y="1143000"/>
            <a:ext cx="3000375" cy="830263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AT" sz="2400" dirty="0" err="1"/>
              <a:t>Example</a:t>
            </a:r>
            <a:r>
              <a:rPr lang="de-AT" sz="2400" dirty="0"/>
              <a:t> </a:t>
            </a:r>
            <a:r>
              <a:rPr lang="de-AT" sz="2400" baseline="30000" dirty="0"/>
              <a:t>16</a:t>
            </a:r>
            <a:r>
              <a:rPr lang="de-AT" sz="2400" dirty="0"/>
              <a:t>O</a:t>
            </a:r>
          </a:p>
          <a:p>
            <a:pPr>
              <a:defRPr/>
            </a:pPr>
            <a:r>
              <a:rPr lang="de-AT" sz="2400" dirty="0"/>
              <a:t>total </a:t>
            </a:r>
            <a:r>
              <a:rPr lang="de-AT" sz="2400" dirty="0" err="1"/>
              <a:t>cross</a:t>
            </a:r>
            <a:r>
              <a:rPr lang="de-AT" sz="2400" dirty="0"/>
              <a:t> </a:t>
            </a:r>
            <a:r>
              <a:rPr lang="de-AT" sz="2400" dirty="0" err="1"/>
              <a:t>section</a:t>
            </a:r>
            <a:endParaRPr lang="de-DE" sz="2400" dirty="0"/>
          </a:p>
        </p:txBody>
      </p:sp>
      <p:sp>
        <p:nvSpPr>
          <p:cNvPr id="12" name="Textfeld 13"/>
          <p:cNvSpPr txBox="1">
            <a:spLocks noChangeArrowheads="1"/>
          </p:cNvSpPr>
          <p:nvPr/>
        </p:nvSpPr>
        <p:spPr bwMode="auto">
          <a:xfrm>
            <a:off x="5572125" y="2143125"/>
            <a:ext cx="328612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 dirty="0"/>
              <a:t>experimental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for</a:t>
            </a:r>
            <a:endParaRPr lang="de-AT" dirty="0"/>
          </a:p>
          <a:p>
            <a:r>
              <a:rPr lang="de-AT" sz="2000" baseline="30000" dirty="0"/>
              <a:t>12</a:t>
            </a:r>
            <a:r>
              <a:rPr lang="de-AT" sz="2000" dirty="0"/>
              <a:t>C,</a:t>
            </a:r>
            <a:r>
              <a:rPr lang="de-AT" sz="2000" baseline="30000" dirty="0"/>
              <a:t>14</a:t>
            </a:r>
            <a:r>
              <a:rPr lang="de-AT" sz="2000" dirty="0"/>
              <a:t>N,</a:t>
            </a:r>
            <a:r>
              <a:rPr lang="de-AT" sz="2000" baseline="30000" dirty="0"/>
              <a:t>19</a:t>
            </a:r>
            <a:r>
              <a:rPr lang="de-AT" sz="2000" dirty="0"/>
              <a:t>F,</a:t>
            </a:r>
            <a:r>
              <a:rPr lang="de-AT" sz="2000" baseline="30000" dirty="0"/>
              <a:t>20</a:t>
            </a:r>
            <a:r>
              <a:rPr lang="de-AT" sz="2000" dirty="0"/>
              <a:t>Ne,</a:t>
            </a:r>
            <a:r>
              <a:rPr lang="de-AT" sz="2000" baseline="30000" dirty="0"/>
              <a:t>23</a:t>
            </a:r>
            <a:r>
              <a:rPr lang="de-AT" sz="2000" dirty="0"/>
              <a:t>Na,</a:t>
            </a:r>
            <a:r>
              <a:rPr lang="de-AT" sz="2000" baseline="30000" dirty="0"/>
              <a:t>24</a:t>
            </a:r>
            <a:r>
              <a:rPr lang="de-AT" sz="2000" dirty="0"/>
              <a:t>Mg</a:t>
            </a:r>
            <a:endParaRPr lang="de-DE" sz="2000" dirty="0"/>
          </a:p>
        </p:txBody>
      </p:sp>
      <p:cxnSp>
        <p:nvCxnSpPr>
          <p:cNvPr id="13" name="Gerade Verbindung mit Pfeil 18"/>
          <p:cNvCxnSpPr>
            <a:cxnSpLocks noChangeShapeType="1"/>
          </p:cNvCxnSpPr>
          <p:nvPr/>
        </p:nvCxnSpPr>
        <p:spPr bwMode="auto">
          <a:xfrm>
            <a:off x="1000125" y="1357313"/>
            <a:ext cx="4000500" cy="26431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prstDash val="lgDashDot"/>
            <a:round/>
            <a:headEnd/>
            <a:tailEnd type="arrow" w="med" len="med"/>
          </a:ln>
        </p:spPr>
      </p:cxnSp>
      <p:cxnSp>
        <p:nvCxnSpPr>
          <p:cNvPr id="14" name="Gerade Verbindung 13"/>
          <p:cNvCxnSpPr/>
          <p:nvPr/>
        </p:nvCxnSpPr>
        <p:spPr bwMode="auto">
          <a:xfrm>
            <a:off x="928688" y="1285875"/>
            <a:ext cx="3857625" cy="2571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77863" y="3857625"/>
            <a:ext cx="325120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feld 15"/>
          <p:cNvSpPr txBox="1">
            <a:spLocks noChangeArrowheads="1"/>
          </p:cNvSpPr>
          <p:nvPr/>
        </p:nvSpPr>
        <p:spPr bwMode="auto">
          <a:xfrm>
            <a:off x="5000625" y="5572125"/>
            <a:ext cx="3857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 sz="2000"/>
              <a:t>60                 10                   60</a:t>
            </a:r>
            <a:endParaRPr lang="de-DE" sz="2000"/>
          </a:p>
        </p:txBody>
      </p:sp>
      <p:sp>
        <p:nvSpPr>
          <p:cNvPr id="17" name="Textfeld 16"/>
          <p:cNvSpPr txBox="1">
            <a:spLocks noChangeArrowheads="1"/>
          </p:cNvSpPr>
          <p:nvPr/>
        </p:nvSpPr>
        <p:spPr bwMode="auto">
          <a:xfrm>
            <a:off x="7572375" y="5072063"/>
            <a:ext cx="1219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 sz="2000" dirty="0"/>
              <a:t>E  </a:t>
            </a:r>
            <a:r>
              <a:rPr lang="de-AT" sz="2000" dirty="0" err="1"/>
              <a:t>MeV</a:t>
            </a:r>
            <a:endParaRPr lang="de-DE" sz="2000" dirty="0"/>
          </a:p>
        </p:txBody>
      </p:sp>
      <p:sp>
        <p:nvSpPr>
          <p:cNvPr id="18" name="Textfeld 17"/>
          <p:cNvSpPr txBox="1">
            <a:spLocks noChangeArrowheads="1"/>
          </p:cNvSpPr>
          <p:nvPr/>
        </p:nvSpPr>
        <p:spPr bwMode="auto">
          <a:xfrm>
            <a:off x="5003800" y="4243388"/>
            <a:ext cx="2825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/>
              <a:t>0</a:t>
            </a:r>
            <a:endParaRPr lang="de-DE"/>
          </a:p>
        </p:txBody>
      </p:sp>
      <p:sp>
        <p:nvSpPr>
          <p:cNvPr id="19" name="Textfeld 21"/>
          <p:cNvSpPr txBox="1">
            <a:spLocks noChangeArrowheads="1"/>
          </p:cNvSpPr>
          <p:nvPr/>
        </p:nvSpPr>
        <p:spPr bwMode="auto">
          <a:xfrm>
            <a:off x="3214688" y="4600575"/>
            <a:ext cx="9286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 sz="2000" dirty="0"/>
              <a:t>30%</a:t>
            </a:r>
            <a:endParaRPr lang="de-DE" sz="2000" dirty="0"/>
          </a:p>
        </p:txBody>
      </p:sp>
      <p:sp>
        <p:nvSpPr>
          <p:cNvPr id="20" name="Textfeld 22"/>
          <p:cNvSpPr txBox="1">
            <a:spLocks noChangeArrowheads="1"/>
          </p:cNvSpPr>
          <p:nvPr/>
        </p:nvSpPr>
        <p:spPr bwMode="auto">
          <a:xfrm>
            <a:off x="3214688" y="5221288"/>
            <a:ext cx="9286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 sz="2000"/>
              <a:t>20%</a:t>
            </a:r>
            <a:endParaRPr lang="de-DE" sz="2000"/>
          </a:p>
        </p:txBody>
      </p:sp>
      <p:sp>
        <p:nvSpPr>
          <p:cNvPr id="22" name="Textfeld 14"/>
          <p:cNvSpPr txBox="1">
            <a:spLocks noChangeArrowheads="1"/>
          </p:cNvSpPr>
          <p:nvPr/>
        </p:nvSpPr>
        <p:spPr bwMode="auto">
          <a:xfrm rot="16200000">
            <a:off x="-566737" y="4729163"/>
            <a:ext cx="222408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 sz="1600" dirty="0"/>
              <a:t>relative </a:t>
            </a:r>
            <a:r>
              <a:rPr lang="de-AT" sz="1600" dirty="0" err="1"/>
              <a:t>variance</a:t>
            </a:r>
            <a:r>
              <a:rPr lang="de-AT" sz="1600" dirty="0"/>
              <a:t> in %</a:t>
            </a:r>
            <a:endParaRPr lang="de-DE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sz="3200" dirty="0" err="1" smtClean="0"/>
              <a:t>Correlations</a:t>
            </a:r>
            <a:r>
              <a:rPr lang="de-AT" sz="3200" dirty="0" smtClean="0"/>
              <a:t> - </a:t>
            </a:r>
            <a:r>
              <a:rPr lang="de-AT" sz="3200" dirty="0" err="1" smtClean="0"/>
              <a:t>comparison</a:t>
            </a:r>
            <a:endParaRPr lang="de-DE" sz="32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24</a:t>
            </a:fld>
            <a:endParaRPr lang="de-AT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3" y="1000125"/>
            <a:ext cx="5362575" cy="264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625" y="3643313"/>
            <a:ext cx="5500688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feld 8"/>
          <p:cNvSpPr txBox="1"/>
          <p:nvPr/>
        </p:nvSpPr>
        <p:spPr>
          <a:xfrm>
            <a:off x="6072188" y="1071563"/>
            <a:ext cx="3046412" cy="157003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AT" sz="2400" dirty="0" err="1"/>
              <a:t>correlations</a:t>
            </a:r>
            <a:r>
              <a:rPr lang="de-AT" sz="2400" dirty="0"/>
              <a:t> </a:t>
            </a:r>
            <a:r>
              <a:rPr lang="de-AT" sz="2400" dirty="0" err="1"/>
              <a:t>of</a:t>
            </a:r>
            <a:r>
              <a:rPr lang="de-AT" sz="2400" dirty="0"/>
              <a:t> total </a:t>
            </a:r>
            <a:r>
              <a:rPr lang="de-AT" sz="2400" dirty="0" err="1"/>
              <a:t>cross</a:t>
            </a:r>
            <a:r>
              <a:rPr lang="de-AT" sz="2400" dirty="0"/>
              <a:t> </a:t>
            </a:r>
            <a:r>
              <a:rPr lang="de-AT" sz="2400" dirty="0" err="1"/>
              <a:t>section</a:t>
            </a:r>
            <a:r>
              <a:rPr lang="de-AT" sz="2400" dirty="0"/>
              <a:t> uncertainties</a:t>
            </a:r>
            <a:r>
              <a:rPr lang="de-AT" sz="2400" baseline="30000" dirty="0"/>
              <a:t>16</a:t>
            </a:r>
            <a:r>
              <a:rPr lang="de-AT" sz="2400" dirty="0"/>
              <a:t>O</a:t>
            </a:r>
          </a:p>
          <a:p>
            <a:pPr>
              <a:defRPr/>
            </a:pPr>
            <a:r>
              <a:rPr lang="de-AT" dirty="0" err="1" smtClean="0"/>
              <a:t>c</a:t>
            </a:r>
            <a:r>
              <a:rPr lang="de-AT" sz="2400" dirty="0" err="1" smtClean="0"/>
              <a:t>ut</a:t>
            </a:r>
            <a:r>
              <a:rPr lang="de-AT" sz="2400" dirty="0"/>
              <a:t>: </a:t>
            </a:r>
            <a:r>
              <a:rPr lang="de-AT" sz="2400" i="1" dirty="0"/>
              <a:t>E+E‘</a:t>
            </a:r>
            <a:r>
              <a:rPr lang="de-AT" sz="2400" dirty="0"/>
              <a:t>=</a:t>
            </a:r>
            <a:r>
              <a:rPr lang="de-AT" sz="2400" dirty="0" err="1"/>
              <a:t>const</a:t>
            </a:r>
            <a:endParaRPr lang="de-DE" sz="2400" dirty="0"/>
          </a:p>
        </p:txBody>
      </p:sp>
      <p:sp>
        <p:nvSpPr>
          <p:cNvPr id="10" name="Textfeld 8"/>
          <p:cNvSpPr txBox="1">
            <a:spLocks noChangeArrowheads="1"/>
          </p:cNvSpPr>
          <p:nvPr/>
        </p:nvSpPr>
        <p:spPr bwMode="auto">
          <a:xfrm>
            <a:off x="4221163" y="2786063"/>
            <a:ext cx="18085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/>
              <a:t>complete prior</a:t>
            </a:r>
            <a:endParaRPr lang="de-DE" sz="2000"/>
          </a:p>
        </p:txBody>
      </p:sp>
      <p:sp>
        <p:nvSpPr>
          <p:cNvPr id="11" name="Textfeld 9"/>
          <p:cNvSpPr txBox="1">
            <a:spLocks noChangeArrowheads="1"/>
          </p:cNvSpPr>
          <p:nvPr/>
        </p:nvSpPr>
        <p:spPr bwMode="auto">
          <a:xfrm>
            <a:off x="3079750" y="5357813"/>
            <a:ext cx="28761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/>
              <a:t>parameter uncertainties</a:t>
            </a:r>
            <a:endParaRPr lang="de-DE" sz="2000"/>
          </a:p>
        </p:txBody>
      </p:sp>
      <p:cxnSp>
        <p:nvCxnSpPr>
          <p:cNvPr id="12" name="Gerade Verbindung 11"/>
          <p:cNvCxnSpPr>
            <a:cxnSpLocks noChangeShapeType="1"/>
          </p:cNvCxnSpPr>
          <p:nvPr/>
        </p:nvCxnSpPr>
        <p:spPr bwMode="auto">
          <a:xfrm>
            <a:off x="785813" y="2428875"/>
            <a:ext cx="4429125" cy="1588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3" name="Gerade Verbindung 12"/>
          <p:cNvCxnSpPr/>
          <p:nvPr/>
        </p:nvCxnSpPr>
        <p:spPr bwMode="auto">
          <a:xfrm>
            <a:off x="857250" y="1714500"/>
            <a:ext cx="4357688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feld 15"/>
          <p:cNvSpPr txBox="1">
            <a:spLocks noChangeArrowheads="1"/>
          </p:cNvSpPr>
          <p:nvPr/>
        </p:nvSpPr>
        <p:spPr bwMode="auto">
          <a:xfrm>
            <a:off x="857250" y="1385888"/>
            <a:ext cx="5397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 dirty="0"/>
              <a:t>0.6</a:t>
            </a:r>
            <a:endParaRPr lang="de-DE" sz="2000" dirty="0"/>
          </a:p>
        </p:txBody>
      </p:sp>
      <p:sp>
        <p:nvSpPr>
          <p:cNvPr id="15" name="Textfeld 16"/>
          <p:cNvSpPr txBox="1">
            <a:spLocks noChangeArrowheads="1"/>
          </p:cNvSpPr>
          <p:nvPr/>
        </p:nvSpPr>
        <p:spPr bwMode="auto">
          <a:xfrm>
            <a:off x="887413" y="4500563"/>
            <a:ext cx="5413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/>
              <a:t>0.6</a:t>
            </a:r>
            <a:endParaRPr lang="de-DE"/>
          </a:p>
        </p:txBody>
      </p:sp>
      <p:sp>
        <p:nvSpPr>
          <p:cNvPr id="16" name="Textfeld 17"/>
          <p:cNvSpPr txBox="1">
            <a:spLocks noChangeArrowheads="1"/>
          </p:cNvSpPr>
          <p:nvPr/>
        </p:nvSpPr>
        <p:spPr bwMode="auto">
          <a:xfrm>
            <a:off x="857250" y="2071688"/>
            <a:ext cx="5397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 dirty="0">
                <a:solidFill>
                  <a:srgbClr val="FF0000"/>
                </a:solidFill>
              </a:rPr>
              <a:t>0.0</a:t>
            </a:r>
            <a:endParaRPr lang="de-DE" sz="2000" dirty="0">
              <a:solidFill>
                <a:srgbClr val="FF0000"/>
              </a:solidFill>
            </a:endParaRPr>
          </a:p>
        </p:txBody>
      </p:sp>
      <p:sp>
        <p:nvSpPr>
          <p:cNvPr id="17" name="Textfeld 18"/>
          <p:cNvSpPr txBox="1">
            <a:spLocks noChangeArrowheads="1"/>
          </p:cNvSpPr>
          <p:nvPr/>
        </p:nvSpPr>
        <p:spPr bwMode="auto">
          <a:xfrm>
            <a:off x="928688" y="5886450"/>
            <a:ext cx="44967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 dirty="0"/>
              <a:t>60                       10                          60</a:t>
            </a:r>
            <a:endParaRPr lang="de-DE" sz="2000" dirty="0"/>
          </a:p>
        </p:txBody>
      </p:sp>
      <p:sp>
        <p:nvSpPr>
          <p:cNvPr id="18" name="Textfeld 19"/>
          <p:cNvSpPr txBox="1">
            <a:spLocks noChangeArrowheads="1"/>
          </p:cNvSpPr>
          <p:nvPr/>
        </p:nvSpPr>
        <p:spPr bwMode="auto">
          <a:xfrm>
            <a:off x="1928813" y="5429250"/>
            <a:ext cx="10239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 dirty="0"/>
              <a:t>E  </a:t>
            </a:r>
            <a:r>
              <a:rPr lang="de-AT" sz="2000" dirty="0" err="1"/>
              <a:t>MeV</a:t>
            </a:r>
            <a:endParaRPr lang="de-DE" sz="2000" dirty="0"/>
          </a:p>
        </p:txBody>
      </p:sp>
      <p:sp>
        <p:nvSpPr>
          <p:cNvPr id="19" name="Textfeld 20"/>
          <p:cNvSpPr txBox="1">
            <a:spLocks noChangeArrowheads="1"/>
          </p:cNvSpPr>
          <p:nvPr/>
        </p:nvSpPr>
        <p:spPr bwMode="auto">
          <a:xfrm>
            <a:off x="928688" y="3386138"/>
            <a:ext cx="44259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 dirty="0"/>
              <a:t>60                       10                         60</a:t>
            </a:r>
            <a:endParaRPr lang="de-DE" sz="2000" dirty="0"/>
          </a:p>
        </p:txBody>
      </p:sp>
      <p:sp>
        <p:nvSpPr>
          <p:cNvPr id="20" name="Textfeld 21"/>
          <p:cNvSpPr txBox="1">
            <a:spLocks noChangeArrowheads="1"/>
          </p:cNvSpPr>
          <p:nvPr/>
        </p:nvSpPr>
        <p:spPr bwMode="auto">
          <a:xfrm>
            <a:off x="1928813" y="2928938"/>
            <a:ext cx="10239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/>
              <a:t>E  MeV</a:t>
            </a:r>
            <a:endParaRPr lang="de-DE" sz="2000"/>
          </a:p>
        </p:txBody>
      </p:sp>
      <p:sp>
        <p:nvSpPr>
          <p:cNvPr id="21" name="Textfeld 22"/>
          <p:cNvSpPr txBox="1">
            <a:spLocks noChangeArrowheads="1"/>
          </p:cNvSpPr>
          <p:nvPr/>
        </p:nvSpPr>
        <p:spPr bwMode="auto">
          <a:xfrm>
            <a:off x="6215063" y="3643313"/>
            <a:ext cx="286067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1600"/>
              <a:t>more details in</a:t>
            </a:r>
          </a:p>
          <a:p>
            <a:r>
              <a:rPr lang="de-AT" sz="1600"/>
              <a:t>Final report of</a:t>
            </a:r>
          </a:p>
          <a:p>
            <a:r>
              <a:rPr lang="de-AT" sz="1600"/>
              <a:t>EFDA-TW6-TTMN-001B-D7a</a:t>
            </a:r>
            <a:endParaRPr lang="de-DE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sz="2800" dirty="0" err="1" smtClean="0"/>
              <a:t>Importance</a:t>
            </a:r>
            <a:r>
              <a:rPr lang="de-AT" sz="2800" dirty="0" smtClean="0"/>
              <a:t> </a:t>
            </a:r>
            <a:r>
              <a:rPr lang="de-AT" sz="2800" dirty="0" err="1" smtClean="0"/>
              <a:t>of</a:t>
            </a:r>
            <a:r>
              <a:rPr lang="de-AT" sz="2800" dirty="0" smtClean="0"/>
              <a:t> </a:t>
            </a:r>
            <a:r>
              <a:rPr lang="de-AT" sz="2800" dirty="0" err="1" smtClean="0"/>
              <a:t>uncertainty</a:t>
            </a:r>
            <a:r>
              <a:rPr lang="de-AT" sz="2800" dirty="0" smtClean="0"/>
              <a:t> </a:t>
            </a:r>
            <a:r>
              <a:rPr lang="de-AT" sz="2800" dirty="0" err="1" smtClean="0"/>
              <a:t>information</a:t>
            </a:r>
            <a:endParaRPr lang="de-DE" sz="2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25</a:t>
            </a:fld>
            <a:endParaRPr lang="de-AT"/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762000" y="1581136"/>
          <a:ext cx="6254750" cy="1497013"/>
        </p:xfrm>
        <a:graphic>
          <a:graphicData uri="http://schemas.openxmlformats.org/presentationml/2006/ole">
            <p:oleObj spid="_x0000_s148482" name="Formel" r:id="rId4" imgW="2971800" imgH="711000" progId="Equation.DSMT4">
              <p:embed/>
            </p:oleObj>
          </a:graphicData>
        </a:graphic>
      </p:graphicFrame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413125" y="3068624"/>
            <a:ext cx="3676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cross section covariances</a:t>
            </a:r>
            <a:endParaRPr lang="de-AT">
              <a:solidFill>
                <a:srgbClr val="FF0000"/>
              </a:solidFill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 flipV="1">
            <a:off x="3810000" y="2724136"/>
            <a:ext cx="0" cy="4572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609600" y="1428736"/>
            <a:ext cx="8077200" cy="2133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785786" y="4286256"/>
            <a:ext cx="581601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Safety</a:t>
            </a:r>
            <a:r>
              <a:rPr lang="de-AT" dirty="0" smtClean="0"/>
              <a:t> </a:t>
            </a:r>
            <a:r>
              <a:rPr lang="de-AT" dirty="0" err="1" smtClean="0"/>
              <a:t>margins</a:t>
            </a:r>
            <a:r>
              <a:rPr lang="de-AT" dirty="0" smtClean="0"/>
              <a:t> – </a:t>
            </a:r>
            <a:r>
              <a:rPr lang="de-AT" dirty="0" err="1" smtClean="0"/>
              <a:t>commissioning</a:t>
            </a:r>
            <a:endParaRPr lang="de-AT" dirty="0" smtClean="0"/>
          </a:p>
          <a:p>
            <a:r>
              <a:rPr lang="de-AT" dirty="0" err="1" smtClean="0"/>
              <a:t>Reduce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number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experimental </a:t>
            </a:r>
            <a:r>
              <a:rPr lang="de-AT" dirty="0" err="1" smtClean="0"/>
              <a:t>tests</a:t>
            </a:r>
            <a:endParaRPr lang="de-AT" dirty="0" smtClean="0"/>
          </a:p>
          <a:p>
            <a:endParaRPr lang="de-AT" dirty="0" smtClean="0"/>
          </a:p>
          <a:p>
            <a:r>
              <a:rPr lang="de-AT" dirty="0" smtClean="0">
                <a:sym typeface="Wingdings" pitchFamily="2" charset="2"/>
              </a:rPr>
              <a:t> </a:t>
            </a:r>
            <a:r>
              <a:rPr lang="de-AT" dirty="0" err="1" smtClean="0">
                <a:sym typeface="Wingdings" pitchFamily="2" charset="2"/>
              </a:rPr>
              <a:t>s</a:t>
            </a:r>
            <a:r>
              <a:rPr lang="de-AT" dirty="0" err="1" smtClean="0">
                <a:sym typeface="Wingdings" pitchFamily="2" charset="2"/>
              </a:rPr>
              <a:t>ignificant</a:t>
            </a:r>
            <a:r>
              <a:rPr lang="de-AT" dirty="0" smtClean="0">
                <a:sym typeface="Wingdings" pitchFamily="2" charset="2"/>
              </a:rPr>
              <a:t> </a:t>
            </a:r>
            <a:r>
              <a:rPr lang="de-AT" dirty="0" err="1" smtClean="0">
                <a:sym typeface="Wingdings" pitchFamily="2" charset="2"/>
              </a:rPr>
              <a:t>economic</a:t>
            </a:r>
            <a:r>
              <a:rPr lang="de-AT" dirty="0" smtClean="0">
                <a:sym typeface="Wingdings" pitchFamily="2" charset="2"/>
              </a:rPr>
              <a:t> </a:t>
            </a:r>
            <a:r>
              <a:rPr lang="de-AT" dirty="0" err="1" smtClean="0">
                <a:sym typeface="Wingdings" pitchFamily="2" charset="2"/>
              </a:rPr>
              <a:t>impact</a:t>
            </a:r>
            <a:endParaRPr lang="de-AT" dirty="0" smtClean="0"/>
          </a:p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sz="2800" dirty="0" err="1" smtClean="0"/>
              <a:t>Implementation</a:t>
            </a:r>
            <a:r>
              <a:rPr lang="de-AT" sz="2800" dirty="0" smtClean="0"/>
              <a:t> </a:t>
            </a:r>
            <a:r>
              <a:rPr lang="de-AT" sz="2800" dirty="0" err="1" smtClean="0"/>
              <a:t>of</a:t>
            </a:r>
            <a:r>
              <a:rPr lang="de-AT" sz="2800" dirty="0" smtClean="0"/>
              <a:t> </a:t>
            </a:r>
            <a:r>
              <a:rPr lang="de-AT" sz="2800" dirty="0" err="1" smtClean="0"/>
              <a:t>Bayesian</a:t>
            </a:r>
            <a:r>
              <a:rPr lang="de-AT" sz="2800" dirty="0" smtClean="0"/>
              <a:t> </a:t>
            </a:r>
            <a:r>
              <a:rPr lang="de-AT" sz="2800" dirty="0" err="1" smtClean="0"/>
              <a:t>statistics</a:t>
            </a:r>
            <a:endParaRPr lang="de-DE" sz="2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26</a:t>
            </a:fld>
            <a:endParaRPr lang="de-AT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71472" y="2000240"/>
            <a:ext cx="8077200" cy="2308225"/>
          </a:xfrm>
          <a:prstGeom prst="rect">
            <a:avLst/>
          </a:prstGeom>
          <a:solidFill>
            <a:srgbClr val="008080"/>
          </a:solidFill>
          <a:ln w="76200" cmpd="tri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2400" dirty="0" err="1">
                <a:solidFill>
                  <a:srgbClr val="FFFF00"/>
                </a:solidFill>
              </a:rPr>
              <a:t>Bayes</a:t>
            </a:r>
            <a:r>
              <a:rPr lang="de-DE" sz="2400" dirty="0">
                <a:solidFill>
                  <a:srgbClr val="FFFF00"/>
                </a:solidFill>
              </a:rPr>
              <a:t> Theorem (1763):</a:t>
            </a:r>
          </a:p>
          <a:p>
            <a:endParaRPr lang="de-DE" sz="2400" dirty="0">
              <a:solidFill>
                <a:srgbClr val="FFFF00"/>
              </a:solidFill>
            </a:endParaRPr>
          </a:p>
          <a:p>
            <a:r>
              <a:rPr lang="de-DE" sz="2400" dirty="0">
                <a:solidFill>
                  <a:srgbClr val="FFFF00"/>
                </a:solidFill>
              </a:rPr>
              <a:t>	</a:t>
            </a:r>
            <a:r>
              <a:rPr lang="de-DE" sz="2400" i="1" dirty="0">
                <a:solidFill>
                  <a:srgbClr val="FFFF00"/>
                </a:solidFill>
              </a:rPr>
              <a:t>p(</a:t>
            </a:r>
            <a:r>
              <a:rPr lang="de-DE" sz="2400" i="1" u="sng" dirty="0" err="1">
                <a:solidFill>
                  <a:srgbClr val="FFFF00"/>
                </a:solidFill>
              </a:rPr>
              <a:t>x</a:t>
            </a:r>
            <a:r>
              <a:rPr lang="de-DE" sz="2400" i="1" dirty="0" err="1">
                <a:solidFill>
                  <a:srgbClr val="FFFF00"/>
                </a:solidFill>
              </a:rPr>
              <a:t>|</a:t>
            </a:r>
            <a:r>
              <a:rPr lang="de-DE" sz="2400" i="1" u="sng" dirty="0" err="1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 i="1" dirty="0">
                <a:solidFill>
                  <a:srgbClr val="FFFF00"/>
                </a:solidFill>
              </a:rPr>
              <a:t> M)</a:t>
            </a:r>
            <a:r>
              <a:rPr lang="de-DE" sz="2400" dirty="0">
                <a:solidFill>
                  <a:srgbClr val="FFFF00"/>
                </a:solidFill>
              </a:rPr>
              <a:t>   =   </a:t>
            </a:r>
            <a:r>
              <a:rPr lang="de-DE" sz="2400" i="1" dirty="0">
                <a:solidFill>
                  <a:srgbClr val="FFFF00"/>
                </a:solidFill>
              </a:rPr>
              <a:t>p(</a:t>
            </a:r>
            <a:r>
              <a:rPr lang="de-DE" sz="2400" i="1" u="sng" dirty="0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 i="1" dirty="0">
                <a:solidFill>
                  <a:srgbClr val="FFFF00"/>
                </a:solidFill>
              </a:rPr>
              <a:t> |</a:t>
            </a:r>
            <a:r>
              <a:rPr lang="de-DE" sz="2400" i="1" u="sng" dirty="0" err="1">
                <a:solidFill>
                  <a:srgbClr val="FFFF00"/>
                </a:solidFill>
              </a:rPr>
              <a:t>x</a:t>
            </a:r>
            <a:r>
              <a:rPr lang="de-DE" sz="2400" i="1" dirty="0" err="1">
                <a:solidFill>
                  <a:srgbClr val="FFFF00"/>
                </a:solidFill>
              </a:rPr>
              <a:t>M</a:t>
            </a:r>
            <a:r>
              <a:rPr lang="de-DE" sz="2400" i="1" dirty="0">
                <a:solidFill>
                  <a:srgbClr val="FFFF00"/>
                </a:solidFill>
              </a:rPr>
              <a:t>)     </a:t>
            </a:r>
            <a:r>
              <a:rPr lang="de-DE" sz="2400" i="1" dirty="0">
                <a:solidFill>
                  <a:schemeClr val="bg1"/>
                </a:solidFill>
              </a:rPr>
              <a:t>p(</a:t>
            </a:r>
            <a:r>
              <a:rPr lang="de-DE" sz="2400" i="1" u="sng" dirty="0" err="1">
                <a:solidFill>
                  <a:schemeClr val="bg1"/>
                </a:solidFill>
              </a:rPr>
              <a:t>x</a:t>
            </a:r>
            <a:r>
              <a:rPr lang="de-DE" sz="2400" i="1" dirty="0" err="1">
                <a:solidFill>
                  <a:schemeClr val="bg1"/>
                </a:solidFill>
              </a:rPr>
              <a:t>|M</a:t>
            </a:r>
            <a:r>
              <a:rPr lang="de-DE" sz="2400" dirty="0">
                <a:solidFill>
                  <a:schemeClr val="bg1"/>
                </a:solidFill>
              </a:rPr>
              <a:t>)</a:t>
            </a:r>
            <a:r>
              <a:rPr lang="de-DE" sz="2400" dirty="0">
                <a:solidFill>
                  <a:srgbClr val="FFFF00"/>
                </a:solidFill>
              </a:rPr>
              <a:t>  /  </a:t>
            </a:r>
            <a:r>
              <a:rPr lang="de-DE" sz="2400" i="1" dirty="0">
                <a:solidFill>
                  <a:srgbClr val="FFFF00"/>
                </a:solidFill>
              </a:rPr>
              <a:t>p(</a:t>
            </a:r>
            <a:r>
              <a:rPr lang="de-DE" sz="2400" i="1" u="sng" dirty="0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 i="1" dirty="0">
                <a:solidFill>
                  <a:srgbClr val="FFFF00"/>
                </a:solidFill>
              </a:rPr>
              <a:t> |M)</a:t>
            </a:r>
          </a:p>
          <a:p>
            <a:r>
              <a:rPr lang="de-DE" sz="2400" dirty="0">
                <a:solidFill>
                  <a:srgbClr val="FFFF00"/>
                </a:solidFill>
              </a:rPr>
              <a:t>	</a:t>
            </a:r>
            <a:r>
              <a:rPr lang="de-DE" sz="2400" dirty="0" err="1">
                <a:solidFill>
                  <a:srgbClr val="FFFF00"/>
                </a:solidFill>
              </a:rPr>
              <a:t>posterior</a:t>
            </a:r>
            <a:r>
              <a:rPr lang="de-DE" sz="2400" dirty="0">
                <a:solidFill>
                  <a:srgbClr val="FFFF00"/>
                </a:solidFill>
              </a:rPr>
              <a:t>  =  </a:t>
            </a:r>
            <a:r>
              <a:rPr lang="de-DE" sz="2400" dirty="0" err="1">
                <a:solidFill>
                  <a:srgbClr val="FFFF00"/>
                </a:solidFill>
              </a:rPr>
              <a:t>likelihood</a:t>
            </a:r>
            <a:r>
              <a:rPr lang="de-DE" sz="2400" dirty="0">
                <a:solidFill>
                  <a:schemeClr val="bg1"/>
                </a:solidFill>
              </a:rPr>
              <a:t>  x  </a:t>
            </a:r>
            <a:r>
              <a:rPr lang="de-DE" sz="2400" dirty="0" err="1">
                <a:solidFill>
                  <a:schemeClr val="bg1"/>
                </a:solidFill>
              </a:rPr>
              <a:t>prior</a:t>
            </a:r>
            <a:r>
              <a:rPr lang="de-DE" sz="2400" dirty="0">
                <a:solidFill>
                  <a:schemeClr val="bg1"/>
                </a:solidFill>
              </a:rPr>
              <a:t>   </a:t>
            </a:r>
            <a:r>
              <a:rPr lang="de-DE" sz="2400" dirty="0">
                <a:solidFill>
                  <a:srgbClr val="FFFF00"/>
                </a:solidFill>
              </a:rPr>
              <a:t>/  </a:t>
            </a:r>
            <a:r>
              <a:rPr lang="de-DE" sz="2400" dirty="0" err="1">
                <a:solidFill>
                  <a:srgbClr val="FFFF00"/>
                </a:solidFill>
              </a:rPr>
              <a:t>evidence</a:t>
            </a:r>
            <a:endParaRPr lang="de-DE" sz="2400" dirty="0">
              <a:solidFill>
                <a:srgbClr val="FFFF00"/>
              </a:solidFill>
            </a:endParaRPr>
          </a:p>
          <a:p>
            <a:endParaRPr lang="de-DE" sz="2400" dirty="0">
              <a:solidFill>
                <a:srgbClr val="FFFF00"/>
              </a:solidFill>
            </a:endParaRPr>
          </a:p>
          <a:p>
            <a:r>
              <a:rPr lang="de-DE" sz="2400" i="1" u="sng" dirty="0">
                <a:solidFill>
                  <a:srgbClr val="FFFF00"/>
                </a:solidFill>
              </a:rPr>
              <a:t>x</a:t>
            </a:r>
            <a:r>
              <a:rPr lang="de-DE" sz="2400" dirty="0">
                <a:solidFill>
                  <a:srgbClr val="FFFF00"/>
                </a:solidFill>
              </a:rPr>
              <a:t> ... model </a:t>
            </a:r>
            <a:r>
              <a:rPr lang="de-DE" sz="2400" dirty="0" err="1">
                <a:solidFill>
                  <a:srgbClr val="FFFF00"/>
                </a:solidFill>
              </a:rPr>
              <a:t>parameter</a:t>
            </a:r>
            <a:r>
              <a:rPr lang="de-DE" sz="2400" dirty="0">
                <a:solidFill>
                  <a:srgbClr val="FFFF00"/>
                </a:solidFill>
              </a:rPr>
              <a:t>    </a:t>
            </a:r>
            <a:r>
              <a:rPr lang="de-DE" sz="2400" i="1" u="sng" dirty="0">
                <a:solidFill>
                  <a:srgbClr val="FFFF00"/>
                </a:solidFill>
                <a:latin typeface="Symbol" pitchFamily="18" charset="2"/>
              </a:rPr>
              <a:t>s</a:t>
            </a:r>
            <a:r>
              <a:rPr lang="de-DE" sz="2400" dirty="0">
                <a:solidFill>
                  <a:srgbClr val="FFFF00"/>
                </a:solidFill>
              </a:rPr>
              <a:t> ... </a:t>
            </a:r>
            <a:r>
              <a:rPr lang="de-DE" sz="2400" dirty="0" err="1">
                <a:solidFill>
                  <a:srgbClr val="FFFF00"/>
                </a:solidFill>
              </a:rPr>
              <a:t>data</a:t>
            </a:r>
            <a:r>
              <a:rPr lang="de-DE" sz="2400" dirty="0">
                <a:solidFill>
                  <a:srgbClr val="FFFF00"/>
                </a:solidFill>
              </a:rPr>
              <a:t>	    </a:t>
            </a:r>
            <a:r>
              <a:rPr lang="de-DE" sz="2400" i="1" dirty="0">
                <a:solidFill>
                  <a:srgbClr val="FFFF00"/>
                </a:solidFill>
              </a:rPr>
              <a:t>M</a:t>
            </a:r>
            <a:r>
              <a:rPr lang="de-DE" sz="2400" dirty="0">
                <a:solidFill>
                  <a:srgbClr val="FFFF00"/>
                </a:solidFill>
              </a:rPr>
              <a:t> ... </a:t>
            </a:r>
            <a:r>
              <a:rPr lang="de-DE" sz="2400" dirty="0" err="1">
                <a:solidFill>
                  <a:srgbClr val="FFFF00"/>
                </a:solidFill>
              </a:rPr>
              <a:t>other</a:t>
            </a:r>
            <a:r>
              <a:rPr lang="de-DE" sz="2400" dirty="0">
                <a:solidFill>
                  <a:srgbClr val="FFFF00"/>
                </a:solidFill>
              </a:rPr>
              <a:t> </a:t>
            </a:r>
            <a:r>
              <a:rPr lang="de-DE" sz="2400" dirty="0" err="1">
                <a:solidFill>
                  <a:srgbClr val="FFFF00"/>
                </a:solidFill>
              </a:rPr>
              <a:t>information</a:t>
            </a:r>
            <a:r>
              <a:rPr lang="de-DE" sz="2400" dirty="0">
                <a:solidFill>
                  <a:srgbClr val="FFFF00"/>
                </a:solidFill>
              </a:rPr>
              <a:t> </a:t>
            </a:r>
            <a:endParaRPr lang="de-AT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 err="1" smtClean="0"/>
              <a:t>Bayesian</a:t>
            </a:r>
            <a:r>
              <a:rPr lang="de-AT" dirty="0" smtClean="0"/>
              <a:t> update </a:t>
            </a:r>
            <a:r>
              <a:rPr lang="de-AT" dirty="0" err="1" smtClean="0"/>
              <a:t>procedure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27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7177088" y="1357313"/>
            <a:ext cx="86433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de-AT" sz="1800" dirty="0"/>
              <a:t>Exp-01</a:t>
            </a:r>
            <a:endParaRPr lang="de-DE" sz="1800" dirty="0"/>
          </a:p>
        </p:txBody>
      </p:sp>
      <p:sp>
        <p:nvSpPr>
          <p:cNvPr id="8" name="Textfeld 7"/>
          <p:cNvSpPr txBox="1"/>
          <p:nvPr/>
        </p:nvSpPr>
        <p:spPr>
          <a:xfrm>
            <a:off x="7234238" y="2000250"/>
            <a:ext cx="9398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de-AT" sz="1800" dirty="0"/>
              <a:t>Exp-02</a:t>
            </a:r>
            <a:endParaRPr lang="de-DE" sz="1800" dirty="0"/>
          </a:p>
        </p:txBody>
      </p:sp>
      <p:sp>
        <p:nvSpPr>
          <p:cNvPr id="9" name="Textfeld 8"/>
          <p:cNvSpPr txBox="1"/>
          <p:nvPr/>
        </p:nvSpPr>
        <p:spPr>
          <a:xfrm>
            <a:off x="7245350" y="4386263"/>
            <a:ext cx="92868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de-AT" sz="1800" dirty="0" err="1"/>
              <a:t>Exp</a:t>
            </a:r>
            <a:r>
              <a:rPr lang="de-AT" sz="1800" dirty="0"/>
              <a:t>-m</a:t>
            </a:r>
            <a:endParaRPr lang="de-DE" sz="1800" dirty="0"/>
          </a:p>
        </p:txBody>
      </p:sp>
      <p:sp>
        <p:nvSpPr>
          <p:cNvPr id="10" name="Textfeld 9"/>
          <p:cNvSpPr txBox="1"/>
          <p:nvPr/>
        </p:nvSpPr>
        <p:spPr>
          <a:xfrm>
            <a:off x="7234238" y="2643188"/>
            <a:ext cx="86433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de-AT" sz="1800" dirty="0"/>
              <a:t>Exp-03</a:t>
            </a:r>
            <a:endParaRPr lang="de-DE" sz="1800" dirty="0"/>
          </a:p>
        </p:txBody>
      </p:sp>
      <p:sp>
        <p:nvSpPr>
          <p:cNvPr id="11" name="Abgerundetes Rechteck 10"/>
          <p:cNvSpPr/>
          <p:nvPr/>
        </p:nvSpPr>
        <p:spPr bwMode="auto">
          <a:xfrm>
            <a:off x="1744663" y="1285875"/>
            <a:ext cx="928687" cy="5000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rgbClr val="0066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de-AT" sz="1800" i="1" u="sng" dirty="0">
                <a:solidFill>
                  <a:srgbClr val="006666"/>
                </a:solidFill>
              </a:rPr>
              <a:t>x</a:t>
            </a:r>
            <a:r>
              <a:rPr lang="de-AT" sz="1800" i="1" baseline="-25000" dirty="0">
                <a:solidFill>
                  <a:srgbClr val="006666"/>
                </a:solidFill>
              </a:rPr>
              <a:t>0    </a:t>
            </a:r>
            <a:r>
              <a:rPr lang="de-AT" sz="1800" i="1" dirty="0">
                <a:solidFill>
                  <a:srgbClr val="006666"/>
                </a:solidFill>
              </a:rPr>
              <a:t>M</a:t>
            </a:r>
            <a:r>
              <a:rPr lang="de-AT" sz="1800" i="1" baseline="-25000" dirty="0">
                <a:solidFill>
                  <a:srgbClr val="006666"/>
                </a:solidFill>
              </a:rPr>
              <a:t>0 </a:t>
            </a:r>
            <a:endParaRPr lang="de-DE" sz="1800" i="1" dirty="0">
              <a:solidFill>
                <a:srgbClr val="006666"/>
              </a:solidFill>
            </a:endParaRPr>
          </a:p>
        </p:txBody>
      </p:sp>
      <p:sp>
        <p:nvSpPr>
          <p:cNvPr id="12" name="Abgerundetes Rechteck 14"/>
          <p:cNvSpPr>
            <a:spLocks noChangeArrowheads="1"/>
          </p:cNvSpPr>
          <p:nvPr/>
        </p:nvSpPr>
        <p:spPr bwMode="auto">
          <a:xfrm>
            <a:off x="3387725" y="2571750"/>
            <a:ext cx="928688" cy="500063"/>
          </a:xfrm>
          <a:prstGeom prst="roundRect">
            <a:avLst>
              <a:gd name="adj" fmla="val 16667"/>
            </a:avLst>
          </a:prstGeom>
          <a:solidFill>
            <a:srgbClr val="FF99FF"/>
          </a:solidFill>
          <a:ln w="28575" algn="ctr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r>
              <a:rPr lang="de-AT" sz="1800" i="1" u="sng">
                <a:solidFill>
                  <a:srgbClr val="800080"/>
                </a:solidFill>
              </a:rPr>
              <a:t>x</a:t>
            </a:r>
            <a:r>
              <a:rPr lang="de-AT" sz="1800" i="1" baseline="-25000">
                <a:solidFill>
                  <a:srgbClr val="800080"/>
                </a:solidFill>
              </a:rPr>
              <a:t>2    </a:t>
            </a:r>
            <a:r>
              <a:rPr lang="de-AT" sz="1800" i="1">
                <a:solidFill>
                  <a:srgbClr val="800080"/>
                </a:solidFill>
              </a:rPr>
              <a:t>M</a:t>
            </a:r>
            <a:r>
              <a:rPr lang="de-AT" sz="1800" i="1" baseline="-25000">
                <a:solidFill>
                  <a:srgbClr val="800080"/>
                </a:solidFill>
              </a:rPr>
              <a:t>2 </a:t>
            </a:r>
            <a:endParaRPr lang="de-DE" sz="1800" i="1">
              <a:solidFill>
                <a:srgbClr val="800080"/>
              </a:solidFill>
            </a:endParaRPr>
          </a:p>
        </p:txBody>
      </p:sp>
      <p:sp>
        <p:nvSpPr>
          <p:cNvPr id="13" name="Abgerundetes Rechteck 15"/>
          <p:cNvSpPr>
            <a:spLocks noChangeArrowheads="1"/>
          </p:cNvSpPr>
          <p:nvPr/>
        </p:nvSpPr>
        <p:spPr bwMode="auto">
          <a:xfrm>
            <a:off x="3387725" y="3214688"/>
            <a:ext cx="928688" cy="500062"/>
          </a:xfrm>
          <a:prstGeom prst="roundRect">
            <a:avLst>
              <a:gd name="adj" fmla="val 16667"/>
            </a:avLst>
          </a:prstGeom>
          <a:solidFill>
            <a:srgbClr val="FF99FF"/>
          </a:solidFill>
          <a:ln w="28575" algn="ctr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r>
              <a:rPr lang="de-AT" sz="1800" i="1" u="sng">
                <a:solidFill>
                  <a:srgbClr val="800080"/>
                </a:solidFill>
              </a:rPr>
              <a:t>x</a:t>
            </a:r>
            <a:r>
              <a:rPr lang="de-AT" sz="1800" i="1" baseline="-25000">
                <a:solidFill>
                  <a:srgbClr val="800080"/>
                </a:solidFill>
              </a:rPr>
              <a:t>3    </a:t>
            </a:r>
            <a:r>
              <a:rPr lang="de-AT" sz="1800" i="1">
                <a:solidFill>
                  <a:srgbClr val="800080"/>
                </a:solidFill>
              </a:rPr>
              <a:t>M</a:t>
            </a:r>
            <a:r>
              <a:rPr lang="de-AT" sz="1800" i="1" baseline="-25000">
                <a:solidFill>
                  <a:srgbClr val="800080"/>
                </a:solidFill>
              </a:rPr>
              <a:t>3 </a:t>
            </a:r>
            <a:endParaRPr lang="de-DE" sz="1800" i="1">
              <a:solidFill>
                <a:srgbClr val="800080"/>
              </a:solidFill>
            </a:endParaRPr>
          </a:p>
        </p:txBody>
      </p:sp>
      <p:sp>
        <p:nvSpPr>
          <p:cNvPr id="14" name="Abgerundetes Rechteck 16"/>
          <p:cNvSpPr>
            <a:spLocks noChangeArrowheads="1"/>
          </p:cNvSpPr>
          <p:nvPr/>
        </p:nvSpPr>
        <p:spPr bwMode="auto">
          <a:xfrm>
            <a:off x="3387725" y="4857750"/>
            <a:ext cx="928688" cy="500063"/>
          </a:xfrm>
          <a:prstGeom prst="roundRect">
            <a:avLst>
              <a:gd name="adj" fmla="val 16667"/>
            </a:avLst>
          </a:prstGeom>
          <a:solidFill>
            <a:srgbClr val="FF99FF"/>
          </a:solidFill>
          <a:ln w="28575" algn="ctr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r>
              <a:rPr lang="de-AT" sz="1800" i="1" u="sng">
                <a:solidFill>
                  <a:srgbClr val="800080"/>
                </a:solidFill>
              </a:rPr>
              <a:t>x</a:t>
            </a:r>
            <a:r>
              <a:rPr lang="de-AT" sz="1800" i="1" baseline="-25000">
                <a:solidFill>
                  <a:srgbClr val="800080"/>
                </a:solidFill>
              </a:rPr>
              <a:t>m  </a:t>
            </a:r>
            <a:r>
              <a:rPr lang="de-AT" sz="1800" i="1">
                <a:solidFill>
                  <a:srgbClr val="800080"/>
                </a:solidFill>
              </a:rPr>
              <a:t>M</a:t>
            </a:r>
            <a:r>
              <a:rPr lang="de-AT" sz="1800" i="1" baseline="-25000">
                <a:solidFill>
                  <a:srgbClr val="800080"/>
                </a:solidFill>
              </a:rPr>
              <a:t>m </a:t>
            </a:r>
            <a:endParaRPr lang="de-DE" sz="1800" i="1">
              <a:solidFill>
                <a:srgbClr val="800080"/>
              </a:solidFill>
            </a:endParaRPr>
          </a:p>
        </p:txBody>
      </p:sp>
      <p:sp>
        <p:nvSpPr>
          <p:cNvPr id="15" name="Abgerundetes Rechteck 17"/>
          <p:cNvSpPr>
            <a:spLocks noChangeArrowheads="1"/>
          </p:cNvSpPr>
          <p:nvPr/>
        </p:nvSpPr>
        <p:spPr bwMode="auto">
          <a:xfrm>
            <a:off x="3387725" y="1928813"/>
            <a:ext cx="928688" cy="500062"/>
          </a:xfrm>
          <a:prstGeom prst="roundRect">
            <a:avLst>
              <a:gd name="adj" fmla="val 16667"/>
            </a:avLst>
          </a:prstGeom>
          <a:solidFill>
            <a:srgbClr val="FF99FF"/>
          </a:solidFill>
          <a:ln w="28575" algn="ctr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r>
              <a:rPr lang="de-AT" sz="1800" i="1" u="sng">
                <a:solidFill>
                  <a:srgbClr val="800080"/>
                </a:solidFill>
              </a:rPr>
              <a:t>x</a:t>
            </a:r>
            <a:r>
              <a:rPr lang="de-AT" sz="1800" i="1" baseline="-25000">
                <a:solidFill>
                  <a:srgbClr val="800080"/>
                </a:solidFill>
              </a:rPr>
              <a:t>1    </a:t>
            </a:r>
            <a:r>
              <a:rPr lang="de-AT" sz="1800" i="1">
                <a:solidFill>
                  <a:srgbClr val="800080"/>
                </a:solidFill>
              </a:rPr>
              <a:t>M</a:t>
            </a:r>
            <a:r>
              <a:rPr lang="de-AT" sz="1800" i="1" baseline="-25000">
                <a:solidFill>
                  <a:srgbClr val="800080"/>
                </a:solidFill>
              </a:rPr>
              <a:t>1 </a:t>
            </a:r>
            <a:endParaRPr lang="de-DE" sz="1800" i="1">
              <a:solidFill>
                <a:srgbClr val="800080"/>
              </a:solidFill>
            </a:endParaRPr>
          </a:p>
        </p:txBody>
      </p:sp>
      <p:cxnSp>
        <p:nvCxnSpPr>
          <p:cNvPr id="16" name="Form 21"/>
          <p:cNvCxnSpPr>
            <a:stCxn id="7" idx="1"/>
            <a:endCxn id="15" idx="3"/>
          </p:cNvCxnSpPr>
          <p:nvPr/>
        </p:nvCxnSpPr>
        <p:spPr bwMode="auto">
          <a:xfrm rot="10800000" flipV="1">
            <a:off x="4316414" y="1541978"/>
            <a:ext cx="2860675" cy="636865"/>
          </a:xfrm>
          <a:prstGeom prst="bentConnector3">
            <a:avLst>
              <a:gd name="adj1" fmla="val 54918"/>
            </a:avLst>
          </a:prstGeom>
          <a:solidFill>
            <a:schemeClr val="accent1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Form 16"/>
          <p:cNvCxnSpPr>
            <a:stCxn id="11" idx="2"/>
            <a:endCxn id="15" idx="1"/>
          </p:cNvCxnSpPr>
          <p:nvPr/>
        </p:nvCxnSpPr>
        <p:spPr bwMode="auto">
          <a:xfrm rot="16200000" flipH="1">
            <a:off x="2601913" y="1392238"/>
            <a:ext cx="392112" cy="1179512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Gewinkelte Verbindung 26"/>
          <p:cNvCxnSpPr>
            <a:cxnSpLocks noChangeShapeType="1"/>
            <a:stCxn id="8" idx="1"/>
            <a:endCxn id="12" idx="3"/>
          </p:cNvCxnSpPr>
          <p:nvPr/>
        </p:nvCxnSpPr>
        <p:spPr bwMode="auto">
          <a:xfrm rot="10800000" flipV="1">
            <a:off x="4316414" y="2184916"/>
            <a:ext cx="2917825" cy="636866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rgbClr val="333399"/>
            </a:solidFill>
            <a:round/>
            <a:headEnd/>
            <a:tailEnd type="arrow" w="med" len="med"/>
          </a:ln>
        </p:spPr>
      </p:cxnSp>
      <p:cxnSp>
        <p:nvCxnSpPr>
          <p:cNvPr id="19" name="Gewinkelte Verbindung 31"/>
          <p:cNvCxnSpPr>
            <a:cxnSpLocks noChangeShapeType="1"/>
            <a:stCxn id="10" idx="1"/>
            <a:endCxn id="13" idx="3"/>
          </p:cNvCxnSpPr>
          <p:nvPr/>
        </p:nvCxnSpPr>
        <p:spPr bwMode="auto">
          <a:xfrm rot="10800000" flipV="1">
            <a:off x="4316414" y="2827853"/>
            <a:ext cx="2917825" cy="636865"/>
          </a:xfrm>
          <a:prstGeom prst="bentConnector3">
            <a:avLst>
              <a:gd name="adj1" fmla="val 43732"/>
            </a:avLst>
          </a:prstGeom>
          <a:noFill/>
          <a:ln w="28575" algn="ctr">
            <a:solidFill>
              <a:srgbClr val="003399"/>
            </a:solidFill>
            <a:round/>
            <a:headEnd/>
            <a:tailEnd type="arrow" w="med" len="med"/>
          </a:ln>
        </p:spPr>
      </p:cxnSp>
      <p:cxnSp>
        <p:nvCxnSpPr>
          <p:cNvPr id="20" name="Gerade Verbindung mit Pfeil 19"/>
          <p:cNvCxnSpPr>
            <a:stCxn id="13" idx="2"/>
            <a:endCxn id="14" idx="0"/>
          </p:cNvCxnSpPr>
          <p:nvPr/>
        </p:nvCxnSpPr>
        <p:spPr bwMode="auto">
          <a:xfrm rot="5400000">
            <a:off x="3280569" y="4287044"/>
            <a:ext cx="1144588" cy="0"/>
          </a:xfrm>
          <a:prstGeom prst="straightConnector1">
            <a:avLst/>
          </a:prstGeom>
          <a:ln w="28575">
            <a:solidFill>
              <a:srgbClr val="800080"/>
            </a:solidFill>
            <a:prstDash val="dash"/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winkelte Verbindung 42"/>
          <p:cNvCxnSpPr>
            <a:cxnSpLocks noChangeShapeType="1"/>
            <a:stCxn id="9" idx="1"/>
            <a:endCxn id="14" idx="3"/>
          </p:cNvCxnSpPr>
          <p:nvPr/>
        </p:nvCxnSpPr>
        <p:spPr bwMode="auto">
          <a:xfrm rot="10800000" flipV="1">
            <a:off x="4316414" y="4570928"/>
            <a:ext cx="2928937" cy="536853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rgbClr val="333399"/>
            </a:solidFill>
            <a:round/>
            <a:headEnd/>
            <a:tailEnd type="arrow" w="med" len="med"/>
          </a:ln>
        </p:spPr>
      </p:cxnSp>
      <p:sp>
        <p:nvSpPr>
          <p:cNvPr id="22" name="Textfeld 21"/>
          <p:cNvSpPr txBox="1"/>
          <p:nvPr/>
        </p:nvSpPr>
        <p:spPr>
          <a:xfrm>
            <a:off x="673100" y="1285875"/>
            <a:ext cx="76815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de-AT" sz="2000" b="1" dirty="0" err="1">
                <a:solidFill>
                  <a:schemeClr val="accent1">
                    <a:lumMod val="50000"/>
                  </a:schemeClr>
                </a:solidFill>
              </a:rPr>
              <a:t>prior</a:t>
            </a:r>
            <a:endParaRPr lang="de-DE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6888163" y="5429250"/>
            <a:ext cx="15520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de-AT" sz="2000" b="1" dirty="0" err="1">
                <a:solidFill>
                  <a:schemeClr val="accent2">
                    <a:lumMod val="75000"/>
                  </a:schemeClr>
                </a:solidFill>
              </a:rPr>
              <a:t>experiment</a:t>
            </a:r>
            <a:endParaRPr lang="de-DE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Textfeld 46"/>
          <p:cNvSpPr txBox="1">
            <a:spLocks noChangeArrowheads="1"/>
          </p:cNvSpPr>
          <p:nvPr/>
        </p:nvSpPr>
        <p:spPr bwMode="auto">
          <a:xfrm>
            <a:off x="3030538" y="5500688"/>
            <a:ext cx="129554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 b="1">
                <a:solidFill>
                  <a:srgbClr val="800080"/>
                </a:solidFill>
              </a:rPr>
              <a:t>posterior</a:t>
            </a:r>
            <a:endParaRPr lang="de-DE" sz="2000" b="1">
              <a:solidFill>
                <a:srgbClr val="800080"/>
              </a:solidFill>
            </a:endParaRPr>
          </a:p>
        </p:txBody>
      </p:sp>
      <p:cxnSp>
        <p:nvCxnSpPr>
          <p:cNvPr id="25" name="Gerade Verbindung mit Pfeil 48"/>
          <p:cNvCxnSpPr>
            <a:cxnSpLocks noChangeShapeType="1"/>
            <a:stCxn id="15" idx="2"/>
            <a:endCxn id="12" idx="0"/>
          </p:cNvCxnSpPr>
          <p:nvPr/>
        </p:nvCxnSpPr>
        <p:spPr bwMode="auto">
          <a:xfrm rot="5400000">
            <a:off x="3780631" y="2499519"/>
            <a:ext cx="142875" cy="1588"/>
          </a:xfrm>
          <a:prstGeom prst="straightConnector1">
            <a:avLst/>
          </a:prstGeom>
          <a:noFill/>
          <a:ln w="28575" algn="ctr">
            <a:solidFill>
              <a:srgbClr val="800080"/>
            </a:solidFill>
            <a:round/>
            <a:headEnd/>
            <a:tailEnd type="arrow" w="med" len="med"/>
          </a:ln>
        </p:spPr>
      </p:cxnSp>
      <p:cxnSp>
        <p:nvCxnSpPr>
          <p:cNvPr id="26" name="Gerade Verbindung mit Pfeil 50"/>
          <p:cNvCxnSpPr>
            <a:cxnSpLocks noChangeShapeType="1"/>
            <a:stCxn id="12" idx="2"/>
            <a:endCxn id="13" idx="0"/>
          </p:cNvCxnSpPr>
          <p:nvPr/>
        </p:nvCxnSpPr>
        <p:spPr bwMode="auto">
          <a:xfrm rot="5400000">
            <a:off x="3780631" y="3142457"/>
            <a:ext cx="142875" cy="1588"/>
          </a:xfrm>
          <a:prstGeom prst="straightConnector1">
            <a:avLst/>
          </a:prstGeom>
          <a:noFill/>
          <a:ln w="28575" algn="ctr">
            <a:solidFill>
              <a:srgbClr val="800080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 smtClean="0"/>
              <a:t>Problem </a:t>
            </a:r>
            <a:r>
              <a:rPr lang="de-AT" dirty="0" err="1" smtClean="0"/>
              <a:t>of</a:t>
            </a:r>
            <a:r>
              <a:rPr lang="de-AT" dirty="0" smtClean="0"/>
              <a:t> update </a:t>
            </a:r>
            <a:r>
              <a:rPr lang="de-AT" dirty="0" err="1" smtClean="0"/>
              <a:t>procedure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28</a:t>
            </a:fld>
            <a:endParaRPr lang="de-AT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813" y="1214438"/>
            <a:ext cx="3100387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29188" y="3714750"/>
            <a:ext cx="3133725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00125" y="3714750"/>
            <a:ext cx="3057525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4619625" y="1500188"/>
          <a:ext cx="4214813" cy="428625"/>
        </p:xfrm>
        <a:graphic>
          <a:graphicData uri="http://schemas.openxmlformats.org/presentationml/2006/ole">
            <p:oleObj spid="_x0000_s144386" name="Formel" r:id="rId7" imgW="2247840" imgH="228600" progId="Equation.3">
              <p:embed/>
            </p:oleObj>
          </a:graphicData>
        </a:graphic>
      </p:graphicFrame>
      <p:cxnSp>
        <p:nvCxnSpPr>
          <p:cNvPr id="11" name="Gerade Verbindung mit Pfeil 10"/>
          <p:cNvCxnSpPr>
            <a:cxnSpLocks noChangeShapeType="1"/>
          </p:cNvCxnSpPr>
          <p:nvPr/>
        </p:nvCxnSpPr>
        <p:spPr bwMode="auto">
          <a:xfrm rot="10800000" flipV="1">
            <a:off x="5357813" y="1857375"/>
            <a:ext cx="2357437" cy="857250"/>
          </a:xfrm>
          <a:prstGeom prst="straightConnector1">
            <a:avLst/>
          </a:prstGeom>
          <a:noFill/>
          <a:ln w="28575" algn="ctr">
            <a:solidFill>
              <a:srgbClr val="CC0099"/>
            </a:solidFill>
            <a:round/>
            <a:headEnd/>
            <a:tailEnd type="arrow" w="med" len="med"/>
          </a:ln>
        </p:spPr>
      </p:cxnSp>
      <p:cxnSp>
        <p:nvCxnSpPr>
          <p:cNvPr id="12" name="Gerade Verbindung mit Pfeil 12"/>
          <p:cNvCxnSpPr>
            <a:cxnSpLocks noChangeShapeType="1"/>
          </p:cNvCxnSpPr>
          <p:nvPr/>
        </p:nvCxnSpPr>
        <p:spPr bwMode="auto">
          <a:xfrm rot="5400000" flipH="1" flipV="1">
            <a:off x="8466137" y="2106613"/>
            <a:ext cx="500063" cy="1588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3" name="Textfeld 13"/>
          <p:cNvSpPr txBox="1">
            <a:spLocks noChangeArrowheads="1"/>
          </p:cNvSpPr>
          <p:nvPr/>
        </p:nvSpPr>
        <p:spPr bwMode="auto">
          <a:xfrm>
            <a:off x="4572000" y="2714625"/>
            <a:ext cx="18494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>
                <a:solidFill>
                  <a:srgbClr val="CC0099"/>
                </a:solidFill>
              </a:rPr>
              <a:t>statistical error</a:t>
            </a:r>
            <a:endParaRPr lang="de-DE">
              <a:solidFill>
                <a:srgbClr val="CC0099"/>
              </a:solidFill>
            </a:endParaRPr>
          </a:p>
        </p:txBody>
      </p:sp>
      <p:sp>
        <p:nvSpPr>
          <p:cNvPr id="14" name="Textfeld 14"/>
          <p:cNvSpPr txBox="1">
            <a:spLocks noChangeArrowheads="1"/>
          </p:cNvSpPr>
          <p:nvPr/>
        </p:nvSpPr>
        <p:spPr bwMode="auto">
          <a:xfrm>
            <a:off x="7500938" y="2428875"/>
            <a:ext cx="139541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de-AT">
                <a:solidFill>
                  <a:srgbClr val="FF0000"/>
                </a:solidFill>
              </a:rPr>
              <a:t>systematic</a:t>
            </a:r>
          </a:p>
          <a:p>
            <a:pPr algn="r"/>
            <a:r>
              <a:rPr lang="de-AT">
                <a:solidFill>
                  <a:srgbClr val="FF0000"/>
                </a:solidFill>
              </a:rPr>
              <a:t>error</a:t>
            </a:r>
            <a:endParaRPr lang="de-DE">
              <a:solidFill>
                <a:srgbClr val="FF0000"/>
              </a:solidFill>
            </a:endParaRPr>
          </a:p>
        </p:txBody>
      </p:sp>
      <p:sp>
        <p:nvSpPr>
          <p:cNvPr id="15" name="Textfeld 15"/>
          <p:cNvSpPr txBox="1">
            <a:spLocks noChangeArrowheads="1"/>
          </p:cNvSpPr>
          <p:nvPr/>
        </p:nvSpPr>
        <p:spPr bwMode="auto">
          <a:xfrm>
            <a:off x="1357313" y="3786188"/>
            <a:ext cx="19081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/>
              <a:t>Bayes theorem</a:t>
            </a:r>
            <a:endParaRPr lang="de-DE"/>
          </a:p>
        </p:txBody>
      </p:sp>
      <p:sp>
        <p:nvSpPr>
          <p:cNvPr id="16" name="Textfeld 16"/>
          <p:cNvSpPr txBox="1">
            <a:spLocks noChangeArrowheads="1"/>
          </p:cNvSpPr>
          <p:nvPr/>
        </p:nvSpPr>
        <p:spPr bwMode="auto">
          <a:xfrm>
            <a:off x="5429250" y="3929063"/>
            <a:ext cx="2095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/>
              <a:t>Bayesian update</a:t>
            </a:r>
            <a:endParaRPr lang="de-DE"/>
          </a:p>
        </p:txBody>
      </p:sp>
      <p:sp>
        <p:nvSpPr>
          <p:cNvPr id="17" name="Textfeld 17"/>
          <p:cNvSpPr txBox="1">
            <a:spLocks noChangeArrowheads="1"/>
          </p:cNvSpPr>
          <p:nvPr/>
        </p:nvSpPr>
        <p:spPr bwMode="auto">
          <a:xfrm>
            <a:off x="1357313" y="1428750"/>
            <a:ext cx="6969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/>
              <a:t>prior</a:t>
            </a:r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 smtClean="0"/>
              <a:t>Origin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the</a:t>
            </a:r>
            <a:r>
              <a:rPr lang="de-AT" dirty="0" smtClean="0"/>
              <a:t> </a:t>
            </a:r>
            <a:r>
              <a:rPr lang="de-AT" dirty="0" err="1" smtClean="0"/>
              <a:t>difference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29</a:t>
            </a:fld>
            <a:endParaRPr lang="de-AT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813" y="1357313"/>
            <a:ext cx="3668712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57763" y="1357313"/>
            <a:ext cx="3757612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feld 7"/>
          <p:cNvSpPr txBox="1">
            <a:spLocks noChangeArrowheads="1"/>
          </p:cNvSpPr>
          <p:nvPr/>
        </p:nvSpPr>
        <p:spPr bwMode="auto">
          <a:xfrm>
            <a:off x="4929188" y="4429125"/>
            <a:ext cx="3500437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 sz="2000"/>
              <a:t>Standard Bayesian update procedure – no correlations</a:t>
            </a:r>
          </a:p>
          <a:p>
            <a:r>
              <a:rPr lang="de-AT" sz="2000"/>
              <a:t>between experiments</a:t>
            </a:r>
            <a:endParaRPr lang="de-DE" sz="2000"/>
          </a:p>
        </p:txBody>
      </p:sp>
      <p:sp>
        <p:nvSpPr>
          <p:cNvPr id="10" name="Textfeld 8"/>
          <p:cNvSpPr txBox="1">
            <a:spLocks noChangeArrowheads="1"/>
          </p:cNvSpPr>
          <p:nvPr/>
        </p:nvSpPr>
        <p:spPr bwMode="auto">
          <a:xfrm>
            <a:off x="785813" y="4357688"/>
            <a:ext cx="3944937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/>
              <a:t>The ‚experiments‘ covariance </a:t>
            </a:r>
          </a:p>
          <a:p>
            <a:r>
              <a:rPr lang="de-AT" sz="2000"/>
              <a:t>matrix </a:t>
            </a:r>
            <a:r>
              <a:rPr lang="de-AT" sz="2000" i="1">
                <a:solidFill>
                  <a:srgbClr val="006666"/>
                </a:solidFill>
              </a:rPr>
              <a:t>V</a:t>
            </a:r>
            <a:r>
              <a:rPr lang="de-AT" sz="2000"/>
              <a:t> contains all experiments</a:t>
            </a:r>
          </a:p>
          <a:p>
            <a:r>
              <a:rPr lang="de-AT" sz="2000"/>
              <a:t>and all correlations</a:t>
            </a:r>
          </a:p>
        </p:txBody>
      </p:sp>
      <p:sp>
        <p:nvSpPr>
          <p:cNvPr id="11" name="Textfeld 10"/>
          <p:cNvSpPr txBox="1">
            <a:spLocks noChangeArrowheads="1"/>
          </p:cNvSpPr>
          <p:nvPr/>
        </p:nvSpPr>
        <p:spPr bwMode="auto">
          <a:xfrm>
            <a:off x="3857625" y="5429250"/>
            <a:ext cx="49641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AT" sz="2000">
                <a:solidFill>
                  <a:srgbClr val="800080"/>
                </a:solidFill>
              </a:rPr>
              <a:t>Systematic errors are treated like a </a:t>
            </a:r>
          </a:p>
          <a:p>
            <a:r>
              <a:rPr lang="de-AT" sz="2000">
                <a:solidFill>
                  <a:srgbClr val="800080"/>
                </a:solidFill>
              </a:rPr>
              <a:t>statistical uncertainty i.e. </a:t>
            </a:r>
            <a:endParaRPr lang="de-DE" sz="2000">
              <a:solidFill>
                <a:srgbClr val="800080"/>
              </a:solidFill>
              <a:latin typeface="Symbol" pitchFamily="18" charset="2"/>
            </a:endParaRPr>
          </a:p>
        </p:txBody>
      </p:sp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6657975" y="5715000"/>
          <a:ext cx="1771650" cy="500063"/>
        </p:xfrm>
        <a:graphic>
          <a:graphicData uri="http://schemas.openxmlformats.org/presentationml/2006/ole">
            <p:oleObj spid="_x0000_s149506" name="Formel" r:id="rId6" imgW="1079280" imgH="3045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Evaluation Tool GENEUS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30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714375" y="3578225"/>
            <a:ext cx="960438" cy="400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de-AT" sz="2000" dirty="0"/>
              <a:t>TALYS</a:t>
            </a:r>
            <a:endParaRPr lang="de-DE" sz="2000" dirty="0"/>
          </a:p>
        </p:txBody>
      </p:sp>
      <p:sp>
        <p:nvSpPr>
          <p:cNvPr id="8" name="Textfeld 7"/>
          <p:cNvSpPr txBox="1"/>
          <p:nvPr/>
        </p:nvSpPr>
        <p:spPr>
          <a:xfrm>
            <a:off x="2071688" y="3292475"/>
            <a:ext cx="996950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de-AT" sz="2000" dirty="0"/>
              <a:t>PRIOR</a:t>
            </a:r>
            <a:endParaRPr lang="de-DE" sz="2000" dirty="0"/>
          </a:p>
        </p:txBody>
      </p:sp>
      <p:sp>
        <p:nvSpPr>
          <p:cNvPr id="9" name="Textfeld 8"/>
          <p:cNvSpPr txBox="1">
            <a:spLocks noChangeArrowheads="1"/>
          </p:cNvSpPr>
          <p:nvPr/>
        </p:nvSpPr>
        <p:spPr bwMode="auto">
          <a:xfrm>
            <a:off x="2071688" y="4006850"/>
            <a:ext cx="1027112" cy="4000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/>
              <a:t>SCALE</a:t>
            </a:r>
            <a:endParaRPr lang="de-DE" sz="2000"/>
          </a:p>
        </p:txBody>
      </p:sp>
      <p:sp>
        <p:nvSpPr>
          <p:cNvPr id="10" name="Textfeld 9"/>
          <p:cNvSpPr txBox="1">
            <a:spLocks noChangeArrowheads="1"/>
          </p:cNvSpPr>
          <p:nvPr/>
        </p:nvSpPr>
        <p:spPr bwMode="auto">
          <a:xfrm>
            <a:off x="3571875" y="3649663"/>
            <a:ext cx="1241425" cy="4000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/>
              <a:t>SC2COV</a:t>
            </a:r>
            <a:endParaRPr lang="de-DE" sz="2000"/>
          </a:p>
        </p:txBody>
      </p:sp>
      <p:sp>
        <p:nvSpPr>
          <p:cNvPr id="11" name="Textfeld 10"/>
          <p:cNvSpPr txBox="1">
            <a:spLocks noChangeArrowheads="1"/>
          </p:cNvSpPr>
          <p:nvPr/>
        </p:nvSpPr>
        <p:spPr bwMode="auto">
          <a:xfrm>
            <a:off x="5500688" y="3649663"/>
            <a:ext cx="1023937" cy="40005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>
                <a:solidFill>
                  <a:schemeClr val="bg1"/>
                </a:solidFill>
              </a:rPr>
              <a:t>BAYES</a:t>
            </a:r>
            <a:endParaRPr lang="de-DE" sz="2000">
              <a:solidFill>
                <a:schemeClr val="bg1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532063" y="5149850"/>
            <a:ext cx="1611312" cy="7080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de-AT" sz="2000" dirty="0"/>
              <a:t>EXFOR</a:t>
            </a:r>
          </a:p>
          <a:p>
            <a:pPr>
              <a:defRPr/>
            </a:pPr>
            <a:r>
              <a:rPr lang="de-AT" sz="2000" dirty="0"/>
              <a:t>Janis-</a:t>
            </a:r>
            <a:r>
              <a:rPr lang="de-AT" sz="2000" dirty="0" err="1"/>
              <a:t>Tables</a:t>
            </a:r>
            <a:endParaRPr lang="de-DE" sz="2000" dirty="0"/>
          </a:p>
        </p:txBody>
      </p:sp>
      <p:sp>
        <p:nvSpPr>
          <p:cNvPr id="13" name="Textfeld 12"/>
          <p:cNvSpPr txBox="1"/>
          <p:nvPr/>
        </p:nvSpPr>
        <p:spPr>
          <a:xfrm>
            <a:off x="7204075" y="2220913"/>
            <a:ext cx="1154113" cy="40005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de-AT" sz="2000" dirty="0" err="1">
                <a:solidFill>
                  <a:schemeClr val="accent1">
                    <a:lumMod val="50000"/>
                  </a:schemeClr>
                </a:solidFill>
              </a:rPr>
              <a:t>graphics</a:t>
            </a:r>
            <a:endParaRPr lang="de-DE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feld 14"/>
          <p:cNvSpPr txBox="1">
            <a:spLocks noChangeArrowheads="1"/>
          </p:cNvSpPr>
          <p:nvPr/>
        </p:nvSpPr>
        <p:spPr bwMode="auto">
          <a:xfrm>
            <a:off x="4286250" y="2220913"/>
            <a:ext cx="1298575" cy="40005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>
                <a:solidFill>
                  <a:srgbClr val="FF0000"/>
                </a:solidFill>
              </a:rPr>
              <a:t>ENDF-file</a:t>
            </a:r>
            <a:endParaRPr lang="de-DE" sz="2000">
              <a:solidFill>
                <a:srgbClr val="FF0000"/>
              </a:solidFill>
            </a:endParaRPr>
          </a:p>
        </p:txBody>
      </p:sp>
      <p:cxnSp>
        <p:nvCxnSpPr>
          <p:cNvPr id="15" name="Gewinkelte Verbindung 29"/>
          <p:cNvCxnSpPr>
            <a:cxnSpLocks noChangeShapeType="1"/>
            <a:endCxn id="9" idx="1"/>
          </p:cNvCxnSpPr>
          <p:nvPr/>
        </p:nvCxnSpPr>
        <p:spPr bwMode="auto">
          <a:xfrm>
            <a:off x="1643063" y="3935413"/>
            <a:ext cx="428625" cy="271462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6" name="Gewinkelte Verbindung 34"/>
          <p:cNvCxnSpPr>
            <a:cxnSpLocks noChangeShapeType="1"/>
            <a:endCxn id="8" idx="1"/>
          </p:cNvCxnSpPr>
          <p:nvPr/>
        </p:nvCxnSpPr>
        <p:spPr bwMode="auto">
          <a:xfrm flipV="1">
            <a:off x="1643063" y="3492500"/>
            <a:ext cx="428625" cy="157163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7" name="Gewinkelte Verbindung 36"/>
          <p:cNvCxnSpPr>
            <a:cxnSpLocks noChangeShapeType="1"/>
            <a:stCxn id="8" idx="3"/>
          </p:cNvCxnSpPr>
          <p:nvPr/>
        </p:nvCxnSpPr>
        <p:spPr bwMode="auto">
          <a:xfrm>
            <a:off x="3068638" y="3492500"/>
            <a:ext cx="503237" cy="228600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8" name="Gewinkelte Verbindung 38"/>
          <p:cNvCxnSpPr>
            <a:cxnSpLocks noChangeShapeType="1"/>
            <a:stCxn id="9" idx="3"/>
          </p:cNvCxnSpPr>
          <p:nvPr/>
        </p:nvCxnSpPr>
        <p:spPr bwMode="auto">
          <a:xfrm flipV="1">
            <a:off x="3098800" y="3935413"/>
            <a:ext cx="473075" cy="271462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9" name="Gewinkelte Verbindung 40"/>
          <p:cNvCxnSpPr>
            <a:cxnSpLocks noChangeShapeType="1"/>
            <a:stCxn id="12" idx="0"/>
            <a:endCxn id="9" idx="2"/>
          </p:cNvCxnSpPr>
          <p:nvPr/>
        </p:nvCxnSpPr>
        <p:spPr bwMode="auto">
          <a:xfrm rot="16200000" flipV="1">
            <a:off x="2590007" y="4402931"/>
            <a:ext cx="742950" cy="750887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rgbClr val="00B050"/>
            </a:solidFill>
            <a:round/>
            <a:headEnd/>
            <a:tailEnd type="arrow" w="med" len="med"/>
          </a:ln>
        </p:spPr>
      </p:cxnSp>
      <p:cxnSp>
        <p:nvCxnSpPr>
          <p:cNvPr id="20" name="Gewinkelte Verbindung 44"/>
          <p:cNvCxnSpPr>
            <a:cxnSpLocks noChangeShapeType="1"/>
            <a:stCxn id="10" idx="3"/>
            <a:endCxn id="11" idx="1"/>
          </p:cNvCxnSpPr>
          <p:nvPr/>
        </p:nvCxnSpPr>
        <p:spPr bwMode="auto">
          <a:xfrm>
            <a:off x="4813300" y="3849688"/>
            <a:ext cx="687388" cy="1587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prstDash val="sysDash"/>
            <a:round/>
            <a:headEnd/>
            <a:tailEnd type="arrow" w="med" len="med"/>
          </a:ln>
        </p:spPr>
      </p:cxnSp>
      <p:cxnSp>
        <p:nvCxnSpPr>
          <p:cNvPr id="21" name="Form 57"/>
          <p:cNvCxnSpPr>
            <a:cxnSpLocks noChangeShapeType="1"/>
            <a:endCxn id="14" idx="1"/>
          </p:cNvCxnSpPr>
          <p:nvPr/>
        </p:nvCxnSpPr>
        <p:spPr bwMode="auto">
          <a:xfrm rot="5400000" flipH="1" flipV="1">
            <a:off x="3457575" y="2820988"/>
            <a:ext cx="1228725" cy="428625"/>
          </a:xfrm>
          <a:prstGeom prst="bentConnector2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22" name="Gewinkelte Verbindung 59"/>
          <p:cNvCxnSpPr>
            <a:cxnSpLocks noChangeShapeType="1"/>
            <a:endCxn id="14" idx="2"/>
          </p:cNvCxnSpPr>
          <p:nvPr/>
        </p:nvCxnSpPr>
        <p:spPr bwMode="auto">
          <a:xfrm rot="16200000" flipV="1">
            <a:off x="4810919" y="2745582"/>
            <a:ext cx="1028700" cy="779462"/>
          </a:xfrm>
          <a:prstGeom prst="bentConnector3">
            <a:avLst>
              <a:gd name="adj1" fmla="val 67778"/>
            </a:avLst>
          </a:prstGeom>
          <a:noFill/>
          <a:ln w="38100" algn="ctr">
            <a:solidFill>
              <a:srgbClr val="FF0000"/>
            </a:solidFill>
            <a:prstDash val="dash"/>
            <a:round/>
            <a:headEnd/>
            <a:tailEnd type="arrow" w="med" len="med"/>
          </a:ln>
        </p:spPr>
      </p:cxnSp>
      <p:sp>
        <p:nvSpPr>
          <p:cNvPr id="23" name="Textfeld 62"/>
          <p:cNvSpPr txBox="1">
            <a:spLocks noChangeArrowheads="1"/>
          </p:cNvSpPr>
          <p:nvPr/>
        </p:nvSpPr>
        <p:spPr bwMode="auto">
          <a:xfrm>
            <a:off x="5387975" y="5292725"/>
            <a:ext cx="1255713" cy="40005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>
                <a:solidFill>
                  <a:schemeClr val="bg1"/>
                </a:solidFill>
              </a:rPr>
              <a:t>EXPCOV</a:t>
            </a:r>
            <a:endParaRPr lang="de-DE" sz="2000">
              <a:solidFill>
                <a:schemeClr val="bg1"/>
              </a:solidFill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6000750" y="2220913"/>
            <a:ext cx="869950" cy="40005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de-AT" sz="2000" dirty="0" err="1">
                <a:solidFill>
                  <a:schemeClr val="accent1">
                    <a:lumMod val="50000"/>
                  </a:schemeClr>
                </a:solidFill>
              </a:rPr>
              <a:t>tables</a:t>
            </a:r>
            <a:endParaRPr lang="de-DE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5" name="Gewinkelte Verbindung 24"/>
          <p:cNvCxnSpPr>
            <a:stCxn id="10" idx="0"/>
            <a:endCxn id="24" idx="2"/>
          </p:cNvCxnSpPr>
          <p:nvPr/>
        </p:nvCxnSpPr>
        <p:spPr bwMode="auto">
          <a:xfrm rot="5400000" flipH="1" flipV="1">
            <a:off x="4799807" y="2013744"/>
            <a:ext cx="1028700" cy="224313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Gewinkelte Verbindung 25"/>
          <p:cNvCxnSpPr>
            <a:stCxn id="11" idx="3"/>
            <a:endCxn id="13" idx="3"/>
          </p:cNvCxnSpPr>
          <p:nvPr/>
        </p:nvCxnSpPr>
        <p:spPr bwMode="auto">
          <a:xfrm flipV="1">
            <a:off x="6524625" y="2420938"/>
            <a:ext cx="1833563" cy="1428750"/>
          </a:xfrm>
          <a:prstGeom prst="bentConnector3">
            <a:avLst>
              <a:gd name="adj1" fmla="val 112463"/>
            </a:avLst>
          </a:prstGeom>
          <a:solidFill>
            <a:schemeClr val="accent1"/>
          </a:solidFill>
          <a:ln w="38100" cap="flat" cmpd="sng" algn="ctr">
            <a:solidFill>
              <a:schemeClr val="accent1">
                <a:lumMod val="50000"/>
              </a:schemeClr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7" name="Gewinkelte Verbindung 26"/>
          <p:cNvCxnSpPr/>
          <p:nvPr/>
        </p:nvCxnSpPr>
        <p:spPr bwMode="auto">
          <a:xfrm rot="5400000" flipH="1" flipV="1">
            <a:off x="6036469" y="2899569"/>
            <a:ext cx="1000125" cy="500063"/>
          </a:xfrm>
          <a:prstGeom prst="bentConnector3">
            <a:avLst>
              <a:gd name="adj1" fmla="val 14835"/>
            </a:avLst>
          </a:prstGeom>
          <a:solidFill>
            <a:schemeClr val="accent1"/>
          </a:solidFill>
          <a:ln w="38100" cap="flat" cmpd="sng" algn="ctr">
            <a:solidFill>
              <a:schemeClr val="accent1">
                <a:lumMod val="50000"/>
              </a:schemeClr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8" name="Form 85"/>
          <p:cNvCxnSpPr/>
          <p:nvPr/>
        </p:nvCxnSpPr>
        <p:spPr bwMode="auto">
          <a:xfrm rot="5400000" flipH="1" flipV="1">
            <a:off x="5834857" y="1340644"/>
            <a:ext cx="1028700" cy="3589337"/>
          </a:xfrm>
          <a:prstGeom prst="bentConnector3">
            <a:avLst>
              <a:gd name="adj1" fmla="val 33590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Gewinkelte Verbindung 94"/>
          <p:cNvCxnSpPr>
            <a:cxnSpLocks noChangeShapeType="1"/>
            <a:stCxn id="12" idx="3"/>
          </p:cNvCxnSpPr>
          <p:nvPr/>
        </p:nvCxnSpPr>
        <p:spPr bwMode="auto">
          <a:xfrm>
            <a:off x="4143375" y="5503863"/>
            <a:ext cx="1285875" cy="3175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rgbClr val="00B050"/>
            </a:solidFill>
            <a:prstDash val="sysDash"/>
            <a:round/>
            <a:headEnd/>
            <a:tailEnd type="arrow" w="med" len="med"/>
          </a:ln>
        </p:spPr>
      </p:cxnSp>
      <p:cxnSp>
        <p:nvCxnSpPr>
          <p:cNvPr id="30" name="Gewinkelte Verbindung 98"/>
          <p:cNvCxnSpPr>
            <a:cxnSpLocks noChangeShapeType="1"/>
            <a:stCxn id="23" idx="0"/>
            <a:endCxn id="11" idx="2"/>
          </p:cNvCxnSpPr>
          <p:nvPr/>
        </p:nvCxnSpPr>
        <p:spPr bwMode="auto">
          <a:xfrm rot="16200000" flipV="1">
            <a:off x="5392738" y="4668838"/>
            <a:ext cx="1243012" cy="4762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rgbClr val="0070C0"/>
            </a:solidFill>
            <a:prstDash val="sysDash"/>
            <a:round/>
            <a:headEnd/>
            <a:tailEnd type="arrow" w="med" len="med"/>
          </a:ln>
        </p:spPr>
      </p:cxnSp>
      <p:sp>
        <p:nvSpPr>
          <p:cNvPr id="31" name="Textfeld 99"/>
          <p:cNvSpPr txBox="1">
            <a:spLocks noChangeArrowheads="1"/>
          </p:cNvSpPr>
          <p:nvPr/>
        </p:nvSpPr>
        <p:spPr bwMode="auto">
          <a:xfrm>
            <a:off x="642938" y="1214438"/>
            <a:ext cx="3033712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/>
              <a:t>semi-automatic for single</a:t>
            </a:r>
          </a:p>
          <a:p>
            <a:r>
              <a:rPr lang="de-AT" sz="2000"/>
              <a:t>isotope and restricted </a:t>
            </a:r>
          </a:p>
          <a:p>
            <a:r>
              <a:rPr lang="de-AT" sz="2000"/>
              <a:t>reaction channels</a:t>
            </a:r>
            <a:endParaRPr lang="de-DE" sz="2000"/>
          </a:p>
        </p:txBody>
      </p:sp>
      <p:cxnSp>
        <p:nvCxnSpPr>
          <p:cNvPr id="32" name="Gerade Verbindung mit Pfeil 101"/>
          <p:cNvCxnSpPr>
            <a:cxnSpLocks noChangeShapeType="1"/>
          </p:cNvCxnSpPr>
          <p:nvPr/>
        </p:nvCxnSpPr>
        <p:spPr bwMode="auto">
          <a:xfrm>
            <a:off x="6303963" y="1357313"/>
            <a:ext cx="857250" cy="1587"/>
          </a:xfrm>
          <a:prstGeom prst="straightConnector1">
            <a:avLst/>
          </a:prstGeom>
          <a:noFill/>
          <a:ln w="9525" algn="ctr">
            <a:solidFill>
              <a:srgbClr val="333399"/>
            </a:solidFill>
            <a:round/>
            <a:headEnd/>
            <a:tailEnd type="arrow" w="med" len="med"/>
          </a:ln>
        </p:spPr>
      </p:cxnSp>
      <p:cxnSp>
        <p:nvCxnSpPr>
          <p:cNvPr id="33" name="Gerade Verbindung mit Pfeil 32"/>
          <p:cNvCxnSpPr/>
          <p:nvPr/>
        </p:nvCxnSpPr>
        <p:spPr bwMode="auto">
          <a:xfrm>
            <a:off x="6303963" y="1714500"/>
            <a:ext cx="928687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50000"/>
              </a:schemeClr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34" name="Textfeld 105"/>
          <p:cNvSpPr txBox="1">
            <a:spLocks noChangeArrowheads="1"/>
          </p:cNvSpPr>
          <p:nvPr/>
        </p:nvSpPr>
        <p:spPr bwMode="auto">
          <a:xfrm>
            <a:off x="7375525" y="1071563"/>
            <a:ext cx="14684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/>
              <a:t>still manual</a:t>
            </a:r>
            <a:endParaRPr lang="de-DE" sz="2000"/>
          </a:p>
        </p:txBody>
      </p:sp>
      <p:sp>
        <p:nvSpPr>
          <p:cNvPr id="35" name="Textfeld 34"/>
          <p:cNvSpPr txBox="1"/>
          <p:nvPr/>
        </p:nvSpPr>
        <p:spPr>
          <a:xfrm>
            <a:off x="7375525" y="1500188"/>
            <a:ext cx="16256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de-AT" sz="2000" dirty="0">
                <a:solidFill>
                  <a:schemeClr val="accent1">
                    <a:lumMod val="50000"/>
                  </a:schemeClr>
                </a:solidFill>
              </a:rPr>
              <a:t>not </a:t>
            </a:r>
            <a:r>
              <a:rPr lang="de-AT" sz="2000" dirty="0" err="1">
                <a:solidFill>
                  <a:schemeClr val="accent1">
                    <a:lumMod val="50000"/>
                  </a:schemeClr>
                </a:solidFill>
              </a:rPr>
              <a:t>available</a:t>
            </a:r>
            <a:endParaRPr lang="de-DE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Textfeld 108"/>
          <p:cNvSpPr txBox="1">
            <a:spLocks noChangeArrowheads="1"/>
          </p:cNvSpPr>
          <p:nvPr/>
        </p:nvSpPr>
        <p:spPr bwMode="auto">
          <a:xfrm>
            <a:off x="4857750" y="4386263"/>
            <a:ext cx="2406650" cy="4000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AT" sz="2000"/>
              <a:t>one-step procedure</a:t>
            </a:r>
            <a:endParaRPr lang="de-DE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 bwMode="auto">
          <a:xfrm>
            <a:off x="285720" y="5000636"/>
            <a:ext cx="8501122" cy="714380"/>
          </a:xfrm>
          <a:prstGeom prst="rect">
            <a:avLst/>
          </a:prstGeom>
          <a:solidFill>
            <a:srgbClr val="FFFF99"/>
          </a:solidFill>
          <a:ln w="38100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rgbClr val="000099"/>
              </a:solidFill>
              <a:effectLst/>
              <a:latin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0"/>
            <a:ext cx="7158062" cy="685800"/>
          </a:xfrm>
        </p:spPr>
        <p:txBody>
          <a:bodyPr/>
          <a:lstStyle/>
          <a:p>
            <a:pPr algn="ctr"/>
            <a:r>
              <a:rPr lang="de-AT" sz="2800" dirty="0" err="1" smtClean="0"/>
              <a:t>Perspective</a:t>
            </a:r>
            <a:r>
              <a:rPr lang="de-AT" sz="2800" dirty="0" err="1" smtClean="0"/>
              <a:t>s</a:t>
            </a:r>
            <a:endParaRPr lang="de-DE" sz="2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31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357158" y="1214422"/>
            <a:ext cx="84321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u="sng" dirty="0" err="1" smtClean="0"/>
              <a:t>Current</a:t>
            </a:r>
            <a:r>
              <a:rPr lang="de-AT" b="1" u="sng" dirty="0" smtClean="0"/>
              <a:t> </a:t>
            </a:r>
            <a:r>
              <a:rPr lang="de-AT" b="1" u="sng" dirty="0" err="1" smtClean="0"/>
              <a:t>Demands</a:t>
            </a:r>
            <a:r>
              <a:rPr lang="de-AT" b="1" u="sng" dirty="0" smtClean="0"/>
              <a:t>:  </a:t>
            </a:r>
          </a:p>
          <a:p>
            <a:pPr>
              <a:buFont typeface="Arial" pitchFamily="34" charset="0"/>
              <a:buChar char="•"/>
            </a:pPr>
            <a:r>
              <a:rPr lang="de-AT" dirty="0" smtClean="0"/>
              <a:t>  </a:t>
            </a:r>
            <a:r>
              <a:rPr lang="de-AT" dirty="0" err="1" smtClean="0"/>
              <a:t>Inclusion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uncertainty</a:t>
            </a:r>
            <a:r>
              <a:rPr lang="de-AT" dirty="0" smtClean="0"/>
              <a:t> </a:t>
            </a:r>
            <a:r>
              <a:rPr lang="de-AT" dirty="0" err="1" smtClean="0"/>
              <a:t>information</a:t>
            </a:r>
            <a:r>
              <a:rPr lang="de-AT" dirty="0" smtClean="0"/>
              <a:t> </a:t>
            </a:r>
            <a:r>
              <a:rPr lang="de-AT" dirty="0" smtClean="0">
                <a:sym typeface="Wingdings" pitchFamily="2" charset="2"/>
              </a:rPr>
              <a:t> </a:t>
            </a:r>
            <a:r>
              <a:rPr lang="de-AT" dirty="0" err="1" smtClean="0">
                <a:sym typeface="Wingdings" pitchFamily="2" charset="2"/>
              </a:rPr>
              <a:t>covariance</a:t>
            </a:r>
            <a:r>
              <a:rPr lang="de-AT" dirty="0" smtClean="0">
                <a:sym typeface="Wingdings" pitchFamily="2" charset="2"/>
              </a:rPr>
              <a:t> </a:t>
            </a:r>
            <a:r>
              <a:rPr lang="de-AT" dirty="0" err="1" smtClean="0">
                <a:sym typeface="Wingdings" pitchFamily="2" charset="2"/>
              </a:rPr>
              <a:t>matrices</a:t>
            </a:r>
            <a:endParaRPr lang="de-AT" dirty="0" smtClean="0">
              <a:sym typeface="Wingdings" pitchFamily="2" charset="2"/>
            </a:endParaRPr>
          </a:p>
          <a:p>
            <a:pPr>
              <a:buFont typeface="Arial" pitchFamily="34" charset="0"/>
              <a:buChar char="•"/>
            </a:pPr>
            <a:r>
              <a:rPr lang="de-AT" dirty="0" smtClean="0">
                <a:sym typeface="Wingdings" pitchFamily="2" charset="2"/>
              </a:rPr>
              <a:t>  Extension </a:t>
            </a:r>
            <a:r>
              <a:rPr lang="de-AT" dirty="0" err="1" smtClean="0">
                <a:sym typeface="Wingdings" pitchFamily="2" charset="2"/>
              </a:rPr>
              <a:t>of</a:t>
            </a:r>
            <a:r>
              <a:rPr lang="de-AT" dirty="0" smtClean="0">
                <a:sym typeface="Wingdings" pitchFamily="2" charset="2"/>
              </a:rPr>
              <a:t> </a:t>
            </a:r>
            <a:r>
              <a:rPr lang="de-AT" dirty="0" err="1" smtClean="0">
                <a:sym typeface="Wingdings" pitchFamily="2" charset="2"/>
              </a:rPr>
              <a:t>energy</a:t>
            </a:r>
            <a:r>
              <a:rPr lang="de-AT" dirty="0" smtClean="0">
                <a:sym typeface="Wingdings" pitchFamily="2" charset="2"/>
              </a:rPr>
              <a:t> </a:t>
            </a:r>
            <a:r>
              <a:rPr lang="de-AT" dirty="0" err="1" smtClean="0">
                <a:sym typeface="Wingdings" pitchFamily="2" charset="2"/>
              </a:rPr>
              <a:t>range</a:t>
            </a:r>
            <a:r>
              <a:rPr lang="de-AT" dirty="0" smtClean="0">
                <a:sym typeface="Wingdings" pitchFamily="2" charset="2"/>
              </a:rPr>
              <a:t> </a:t>
            </a:r>
            <a:r>
              <a:rPr lang="de-AT" dirty="0" err="1" smtClean="0">
                <a:sym typeface="Wingdings" pitchFamily="2" charset="2"/>
              </a:rPr>
              <a:t>to</a:t>
            </a:r>
            <a:r>
              <a:rPr lang="de-AT" dirty="0" smtClean="0">
                <a:sym typeface="Wingdings" pitchFamily="2" charset="2"/>
              </a:rPr>
              <a:t> ~150MeV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500034" y="3143248"/>
            <a:ext cx="8276625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de-AT" b="1" u="sng" dirty="0" err="1" smtClean="0"/>
              <a:t>Challenges</a:t>
            </a:r>
            <a:r>
              <a:rPr lang="de-AT" b="1" u="sng" dirty="0" smtClean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de-AT" dirty="0" smtClean="0"/>
              <a:t> Evaluation </a:t>
            </a:r>
            <a:r>
              <a:rPr lang="de-AT" dirty="0" err="1" smtClean="0"/>
              <a:t>process</a:t>
            </a:r>
            <a:r>
              <a:rPr lang="de-AT" dirty="0" smtClean="0"/>
              <a:t> </a:t>
            </a:r>
            <a:r>
              <a:rPr lang="de-AT" dirty="0" err="1" smtClean="0"/>
              <a:t>and</a:t>
            </a:r>
            <a:r>
              <a:rPr lang="de-AT" dirty="0" smtClean="0"/>
              <a:t> </a:t>
            </a:r>
            <a:r>
              <a:rPr lang="de-AT" dirty="0" err="1" smtClean="0"/>
              <a:t>covariance</a:t>
            </a:r>
            <a:r>
              <a:rPr lang="de-AT" dirty="0" smtClean="0"/>
              <a:t> </a:t>
            </a:r>
            <a:r>
              <a:rPr lang="de-AT" dirty="0" err="1" smtClean="0"/>
              <a:t>matrices</a:t>
            </a:r>
            <a:r>
              <a:rPr lang="de-AT" dirty="0" smtClean="0"/>
              <a:t> – </a:t>
            </a:r>
            <a:r>
              <a:rPr lang="de-AT" dirty="0" err="1" smtClean="0"/>
              <a:t>scarcity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/>
            </a:r>
            <a:br>
              <a:rPr lang="de-AT" dirty="0" smtClean="0"/>
            </a:br>
            <a:r>
              <a:rPr lang="de-AT" dirty="0" smtClean="0"/>
              <a:t>   experimental </a:t>
            </a:r>
            <a:r>
              <a:rPr lang="de-AT" dirty="0" err="1" smtClean="0"/>
              <a:t>data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i="1" dirty="0" smtClean="0"/>
              <a:t> E </a:t>
            </a:r>
            <a:r>
              <a:rPr lang="de-AT" dirty="0" smtClean="0"/>
              <a:t>&gt; 20 </a:t>
            </a:r>
            <a:r>
              <a:rPr lang="de-AT" dirty="0" err="1" smtClean="0"/>
              <a:t>MeV</a:t>
            </a:r>
            <a:r>
              <a:rPr lang="de-AT" dirty="0" smtClean="0"/>
              <a:t> </a:t>
            </a:r>
            <a:r>
              <a:rPr lang="de-AT" dirty="0" smtClean="0">
                <a:sym typeface="Wingdings" pitchFamily="2" charset="2"/>
              </a:rPr>
              <a:t> </a:t>
            </a:r>
            <a:r>
              <a:rPr lang="de-AT" dirty="0" smtClean="0"/>
              <a:t>quest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uncertainty</a:t>
            </a:r>
            <a:r>
              <a:rPr lang="de-AT" dirty="0" smtClean="0"/>
              <a:t> </a:t>
            </a:r>
            <a:br>
              <a:rPr lang="de-AT" dirty="0" smtClean="0"/>
            </a:br>
            <a:r>
              <a:rPr lang="de-AT" dirty="0" smtClean="0"/>
              <a:t>  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nuclear</a:t>
            </a:r>
            <a:r>
              <a:rPr lang="de-AT" dirty="0" smtClean="0"/>
              <a:t> </a:t>
            </a:r>
            <a:r>
              <a:rPr lang="de-AT" dirty="0" err="1" smtClean="0"/>
              <a:t>models</a:t>
            </a:r>
            <a:r>
              <a:rPr lang="de-AT" dirty="0" smtClean="0"/>
              <a:t/>
            </a:r>
            <a:br>
              <a:rPr lang="de-AT" dirty="0" smtClean="0"/>
            </a:br>
            <a:endParaRPr lang="de-AT" dirty="0" smtClean="0"/>
          </a:p>
          <a:p>
            <a:pPr>
              <a:buFont typeface="Wingdings" pitchFamily="2" charset="2"/>
              <a:buChar char="§"/>
            </a:pPr>
            <a:r>
              <a:rPr lang="de-AT" dirty="0" smtClean="0"/>
              <a:t>  </a:t>
            </a:r>
            <a:r>
              <a:rPr lang="de-AT" dirty="0" err="1" smtClean="0"/>
              <a:t>Improvement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models</a:t>
            </a:r>
            <a:r>
              <a:rPr lang="de-AT" dirty="0" smtClean="0"/>
              <a:t>: </a:t>
            </a:r>
            <a:r>
              <a:rPr lang="de-AT" dirty="0" err="1" smtClean="0"/>
              <a:t>nuclear</a:t>
            </a:r>
            <a:r>
              <a:rPr lang="de-AT" dirty="0" smtClean="0"/>
              <a:t> </a:t>
            </a:r>
            <a:r>
              <a:rPr lang="de-AT" dirty="0" err="1" smtClean="0"/>
              <a:t>reactions</a:t>
            </a:r>
            <a:r>
              <a:rPr lang="de-AT" dirty="0" smtClean="0"/>
              <a:t>, </a:t>
            </a:r>
            <a:r>
              <a:rPr lang="de-AT" dirty="0" err="1" smtClean="0"/>
              <a:t>fission</a:t>
            </a:r>
            <a:r>
              <a:rPr lang="de-AT" dirty="0" smtClean="0"/>
              <a:t>, …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7"/>
          <p:cNvSpPr/>
          <p:nvPr/>
        </p:nvSpPr>
        <p:spPr bwMode="auto">
          <a:xfrm>
            <a:off x="500034" y="1643050"/>
            <a:ext cx="8358246" cy="27146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rgbClr val="000099"/>
              </a:solidFill>
              <a:effectLst/>
              <a:latin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Topics in </a:t>
            </a:r>
            <a:r>
              <a:rPr lang="de-AT" dirty="0" err="1" smtClean="0"/>
              <a:t>nuclear</a:t>
            </a:r>
            <a:r>
              <a:rPr lang="de-AT" dirty="0" smtClean="0"/>
              <a:t> </a:t>
            </a:r>
            <a:r>
              <a:rPr lang="de-AT" dirty="0" err="1" smtClean="0"/>
              <a:t>reactions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32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571472" y="1000108"/>
            <a:ext cx="8404865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Future </a:t>
            </a:r>
            <a:r>
              <a:rPr lang="de-AT" dirty="0" err="1" smtClean="0"/>
              <a:t>research</a:t>
            </a:r>
            <a:r>
              <a:rPr lang="de-AT" dirty="0" smtClean="0"/>
              <a:t> will </a:t>
            </a:r>
            <a:r>
              <a:rPr lang="de-AT" dirty="0" err="1" smtClean="0"/>
              <a:t>focus</a:t>
            </a:r>
            <a:r>
              <a:rPr lang="de-AT" dirty="0" smtClean="0"/>
              <a:t> on </a:t>
            </a:r>
            <a:r>
              <a:rPr lang="de-AT" dirty="0" err="1" smtClean="0"/>
              <a:t>challenges</a:t>
            </a:r>
            <a:r>
              <a:rPr lang="de-AT" dirty="0" smtClean="0"/>
              <a:t> in </a:t>
            </a:r>
            <a:r>
              <a:rPr lang="de-AT" dirty="0" err="1" smtClean="0"/>
              <a:t>reaction</a:t>
            </a:r>
            <a:r>
              <a:rPr lang="de-AT" dirty="0" smtClean="0"/>
              <a:t> </a:t>
            </a:r>
            <a:r>
              <a:rPr lang="de-AT" dirty="0" err="1" smtClean="0"/>
              <a:t>theory</a:t>
            </a:r>
            <a:r>
              <a:rPr lang="de-AT" dirty="0" smtClean="0"/>
              <a:t>:</a:t>
            </a:r>
          </a:p>
          <a:p>
            <a:endParaRPr lang="de-AT" dirty="0" smtClean="0"/>
          </a:p>
          <a:p>
            <a:pPr>
              <a:buFont typeface="Arial" pitchFamily="34" charset="0"/>
              <a:buChar char="•"/>
            </a:pPr>
            <a:r>
              <a:rPr lang="de-AT" dirty="0" smtClean="0"/>
              <a:t> </a:t>
            </a:r>
            <a:r>
              <a:rPr lang="de-AT" dirty="0" err="1" smtClean="0"/>
              <a:t>Reactions</a:t>
            </a:r>
            <a:r>
              <a:rPr lang="de-AT" dirty="0" smtClean="0"/>
              <a:t> </a:t>
            </a:r>
            <a:r>
              <a:rPr lang="de-AT" dirty="0" err="1" smtClean="0"/>
              <a:t>involving</a:t>
            </a:r>
            <a:r>
              <a:rPr lang="de-AT" dirty="0" smtClean="0"/>
              <a:t> </a:t>
            </a:r>
            <a:r>
              <a:rPr lang="de-AT" dirty="0" err="1" smtClean="0"/>
              <a:t>charged</a:t>
            </a:r>
            <a:r>
              <a:rPr lang="de-AT" dirty="0" smtClean="0"/>
              <a:t> </a:t>
            </a:r>
            <a:r>
              <a:rPr lang="de-AT" dirty="0" err="1" smtClean="0"/>
              <a:t>composite</a:t>
            </a:r>
            <a:r>
              <a:rPr lang="de-AT" dirty="0" smtClean="0"/>
              <a:t> </a:t>
            </a:r>
            <a:r>
              <a:rPr lang="de-AT" dirty="0" err="1" smtClean="0"/>
              <a:t>nuclei</a:t>
            </a:r>
            <a:r>
              <a:rPr lang="de-AT" dirty="0" smtClean="0"/>
              <a:t/>
            </a:r>
            <a:br>
              <a:rPr lang="de-AT" dirty="0" smtClean="0"/>
            </a:br>
            <a:r>
              <a:rPr lang="de-AT" dirty="0" smtClean="0"/>
              <a:t>	</a:t>
            </a:r>
            <a:r>
              <a:rPr lang="de-AT" sz="2000" dirty="0" err="1" smtClean="0"/>
              <a:t>embrittlement</a:t>
            </a:r>
            <a:r>
              <a:rPr lang="de-AT" sz="2000" dirty="0" smtClean="0"/>
              <a:t> due </a:t>
            </a:r>
            <a:r>
              <a:rPr lang="de-AT" sz="2000" dirty="0" err="1" smtClean="0"/>
              <a:t>to</a:t>
            </a:r>
            <a:r>
              <a:rPr lang="de-AT" sz="2000" dirty="0" smtClean="0"/>
              <a:t> gas </a:t>
            </a:r>
            <a:r>
              <a:rPr lang="de-AT" sz="2000" dirty="0" err="1" smtClean="0"/>
              <a:t>production</a:t>
            </a:r>
            <a:r>
              <a:rPr lang="de-AT" sz="2000" dirty="0" smtClean="0"/>
              <a:t> in </a:t>
            </a:r>
            <a:r>
              <a:rPr lang="de-AT" sz="2000" dirty="0" err="1" smtClean="0"/>
              <a:t>structure</a:t>
            </a:r>
            <a:r>
              <a:rPr lang="de-AT" sz="2000" dirty="0" smtClean="0"/>
              <a:t> </a:t>
            </a:r>
            <a:r>
              <a:rPr lang="de-AT" sz="2000" dirty="0" err="1" smtClean="0"/>
              <a:t>materials</a:t>
            </a:r>
            <a:r>
              <a:rPr lang="de-AT" sz="2000" dirty="0" smtClean="0"/>
              <a:t> </a:t>
            </a:r>
            <a:br>
              <a:rPr lang="de-AT" sz="2000" dirty="0" smtClean="0"/>
            </a:br>
            <a:r>
              <a:rPr lang="de-AT" sz="2000" dirty="0" smtClean="0"/>
              <a:t>	p-</a:t>
            </a:r>
            <a:r>
              <a:rPr lang="de-AT" sz="2000" dirty="0" err="1" smtClean="0"/>
              <a:t>process</a:t>
            </a:r>
            <a:r>
              <a:rPr lang="de-AT" sz="2000" dirty="0" smtClean="0"/>
              <a:t> </a:t>
            </a:r>
            <a:r>
              <a:rPr lang="de-AT" sz="2000" dirty="0" err="1" smtClean="0"/>
              <a:t>reactions</a:t>
            </a:r>
            <a:r>
              <a:rPr lang="de-AT" sz="2000" dirty="0" smtClean="0"/>
              <a:t> in </a:t>
            </a:r>
            <a:r>
              <a:rPr lang="de-AT" sz="2000" dirty="0" err="1" smtClean="0"/>
              <a:t>nuclear</a:t>
            </a:r>
            <a:r>
              <a:rPr lang="de-AT" sz="2000" dirty="0" smtClean="0"/>
              <a:t> </a:t>
            </a:r>
            <a:r>
              <a:rPr lang="de-AT" sz="2000" dirty="0" err="1" smtClean="0"/>
              <a:t>astrophysics</a:t>
            </a:r>
            <a:r>
              <a:rPr lang="de-AT" sz="2000" dirty="0" smtClean="0"/>
              <a:t>, (</a:t>
            </a:r>
            <a:r>
              <a:rPr lang="de-AT" sz="2000" dirty="0" err="1" smtClean="0">
                <a:latin typeface="Symbol" pitchFamily="18" charset="2"/>
              </a:rPr>
              <a:t>a,g</a:t>
            </a:r>
            <a:r>
              <a:rPr lang="de-AT" sz="2000" dirty="0" smtClean="0"/>
              <a:t>), (</a:t>
            </a:r>
            <a:r>
              <a:rPr lang="de-AT" sz="2000" dirty="0" err="1" smtClean="0"/>
              <a:t>p,</a:t>
            </a:r>
            <a:r>
              <a:rPr lang="de-AT" sz="2000" dirty="0" err="1" smtClean="0">
                <a:latin typeface="Symbol" pitchFamily="18" charset="2"/>
              </a:rPr>
              <a:t>g</a:t>
            </a:r>
            <a:r>
              <a:rPr lang="de-AT" sz="2000" dirty="0" smtClean="0"/>
              <a:t>)</a:t>
            </a:r>
            <a:br>
              <a:rPr lang="de-AT" sz="2000" dirty="0" smtClean="0"/>
            </a:br>
            <a:r>
              <a:rPr lang="de-AT" sz="2000" dirty="0" smtClean="0"/>
              <a:t>	</a:t>
            </a:r>
          </a:p>
          <a:p>
            <a:pPr>
              <a:buFont typeface="Arial" pitchFamily="34" charset="0"/>
              <a:buChar char="•"/>
            </a:pPr>
            <a:r>
              <a:rPr lang="de-AT" dirty="0" smtClean="0"/>
              <a:t> </a:t>
            </a:r>
            <a:r>
              <a:rPr lang="de-AT" dirty="0" err="1" smtClean="0"/>
              <a:t>Reactions</a:t>
            </a:r>
            <a:r>
              <a:rPr lang="de-AT" dirty="0" smtClean="0"/>
              <a:t> </a:t>
            </a:r>
            <a:r>
              <a:rPr lang="de-AT" dirty="0" err="1" smtClean="0"/>
              <a:t>involving</a:t>
            </a:r>
            <a:r>
              <a:rPr lang="de-AT" dirty="0" smtClean="0"/>
              <a:t> </a:t>
            </a:r>
            <a:r>
              <a:rPr lang="de-AT" dirty="0" err="1" smtClean="0"/>
              <a:t>weakly</a:t>
            </a:r>
            <a:r>
              <a:rPr lang="de-AT" dirty="0" smtClean="0"/>
              <a:t> </a:t>
            </a:r>
            <a:r>
              <a:rPr lang="de-AT" dirty="0" err="1" smtClean="0"/>
              <a:t>bound</a:t>
            </a:r>
            <a:r>
              <a:rPr lang="de-AT" dirty="0" smtClean="0"/>
              <a:t> </a:t>
            </a:r>
            <a:r>
              <a:rPr lang="de-AT" dirty="0" err="1" smtClean="0"/>
              <a:t>nuclei</a:t>
            </a:r>
            <a:r>
              <a:rPr lang="de-AT" dirty="0" smtClean="0"/>
              <a:t/>
            </a:r>
            <a:br>
              <a:rPr lang="de-AT" dirty="0" smtClean="0"/>
            </a:br>
            <a:r>
              <a:rPr lang="de-AT" dirty="0" smtClean="0"/>
              <a:t>	</a:t>
            </a:r>
            <a:r>
              <a:rPr lang="de-AT" sz="2000" dirty="0" smtClean="0"/>
              <a:t>break-</a:t>
            </a:r>
            <a:r>
              <a:rPr lang="de-AT" sz="2000" dirty="0" err="1" smtClean="0"/>
              <a:t>up</a:t>
            </a:r>
            <a:r>
              <a:rPr lang="de-AT" sz="2000" dirty="0" smtClean="0"/>
              <a:t> </a:t>
            </a:r>
            <a:r>
              <a:rPr lang="de-AT" sz="2000" dirty="0" err="1" smtClean="0"/>
              <a:t>contributions</a:t>
            </a:r>
            <a:r>
              <a:rPr lang="de-AT" sz="2000" dirty="0" smtClean="0"/>
              <a:t> in </a:t>
            </a:r>
            <a:r>
              <a:rPr lang="de-AT" sz="2000" dirty="0" err="1" smtClean="0"/>
              <a:t>deuteron</a:t>
            </a:r>
            <a:r>
              <a:rPr lang="de-AT" sz="2000" dirty="0" smtClean="0"/>
              <a:t> </a:t>
            </a:r>
            <a:r>
              <a:rPr lang="de-AT" sz="2000" dirty="0" err="1" smtClean="0"/>
              <a:t>involving</a:t>
            </a:r>
            <a:r>
              <a:rPr lang="de-AT" sz="2000" dirty="0" smtClean="0"/>
              <a:t> </a:t>
            </a:r>
            <a:r>
              <a:rPr lang="de-AT" sz="2000" dirty="0" err="1" smtClean="0"/>
              <a:t>reactions</a:t>
            </a:r>
            <a:r>
              <a:rPr lang="de-AT" sz="2000" dirty="0" smtClean="0"/>
              <a:t/>
            </a:r>
            <a:br>
              <a:rPr lang="de-AT" sz="2000" dirty="0" smtClean="0"/>
            </a:br>
            <a:r>
              <a:rPr lang="de-AT" sz="2000" dirty="0" smtClean="0"/>
              <a:t>	</a:t>
            </a:r>
            <a:r>
              <a:rPr lang="de-AT" sz="2000" dirty="0" err="1" smtClean="0"/>
              <a:t>reaction</a:t>
            </a:r>
            <a:r>
              <a:rPr lang="de-AT" sz="2000" dirty="0" smtClean="0"/>
              <a:t> </a:t>
            </a:r>
            <a:r>
              <a:rPr lang="de-AT" sz="2000" dirty="0" err="1" smtClean="0"/>
              <a:t>processes</a:t>
            </a:r>
            <a:r>
              <a:rPr lang="de-AT" sz="2000" dirty="0" smtClean="0"/>
              <a:t> </a:t>
            </a:r>
            <a:r>
              <a:rPr lang="de-AT" sz="2000" dirty="0" err="1" smtClean="0"/>
              <a:t>with</a:t>
            </a:r>
            <a:r>
              <a:rPr lang="de-AT" sz="2000" dirty="0" smtClean="0"/>
              <a:t> </a:t>
            </a:r>
            <a:r>
              <a:rPr lang="de-AT" sz="2000" dirty="0" err="1" smtClean="0"/>
              <a:t>exotic</a:t>
            </a:r>
            <a:r>
              <a:rPr lang="de-AT" sz="2000" dirty="0" smtClean="0"/>
              <a:t> </a:t>
            </a:r>
            <a:r>
              <a:rPr lang="de-AT" sz="2000" dirty="0" err="1" smtClean="0"/>
              <a:t>weakly</a:t>
            </a:r>
            <a:r>
              <a:rPr lang="de-AT" sz="2000" dirty="0" smtClean="0"/>
              <a:t> </a:t>
            </a:r>
            <a:r>
              <a:rPr lang="de-AT" sz="2000" dirty="0" err="1" smtClean="0"/>
              <a:t>bound</a:t>
            </a:r>
            <a:r>
              <a:rPr lang="de-AT" sz="2000" dirty="0" smtClean="0"/>
              <a:t> </a:t>
            </a:r>
            <a:r>
              <a:rPr lang="de-AT" sz="2000" dirty="0" err="1" smtClean="0"/>
              <a:t>nuclei</a:t>
            </a:r>
            <a:r>
              <a:rPr lang="de-AT" dirty="0" smtClean="0"/>
              <a:t/>
            </a:r>
            <a:br>
              <a:rPr lang="de-AT" dirty="0" smtClean="0"/>
            </a:br>
            <a:endParaRPr lang="de-AT" dirty="0" smtClean="0"/>
          </a:p>
          <a:p>
            <a:pPr>
              <a:buFont typeface="Arial" pitchFamily="34" charset="0"/>
              <a:buChar char="•"/>
            </a:pPr>
            <a:r>
              <a:rPr lang="de-AT" dirty="0" smtClean="0"/>
              <a:t> (</a:t>
            </a:r>
            <a:r>
              <a:rPr lang="de-AT" dirty="0" err="1" smtClean="0"/>
              <a:t>Microscopic</a:t>
            </a:r>
            <a:r>
              <a:rPr lang="de-AT" dirty="0" smtClean="0"/>
              <a:t>) </a:t>
            </a:r>
            <a:r>
              <a:rPr lang="de-AT" dirty="0" err="1" smtClean="0"/>
              <a:t>modelling</a:t>
            </a:r>
            <a:r>
              <a:rPr lang="de-AT" dirty="0" smtClean="0"/>
              <a:t> </a:t>
            </a:r>
            <a:r>
              <a:rPr lang="de-AT" dirty="0" err="1" smtClean="0"/>
              <a:t>of</a:t>
            </a:r>
            <a:r>
              <a:rPr lang="de-AT" dirty="0" smtClean="0"/>
              <a:t> </a:t>
            </a:r>
            <a:r>
              <a:rPr lang="de-AT" dirty="0" err="1" smtClean="0"/>
              <a:t>nuclear</a:t>
            </a:r>
            <a:r>
              <a:rPr lang="de-AT" dirty="0" smtClean="0"/>
              <a:t> </a:t>
            </a:r>
            <a:r>
              <a:rPr lang="de-AT" dirty="0" err="1" smtClean="0"/>
              <a:t>fission</a:t>
            </a:r>
            <a:r>
              <a:rPr lang="de-AT" dirty="0" smtClean="0"/>
              <a:t> </a:t>
            </a:r>
            <a:br>
              <a:rPr lang="de-AT" dirty="0" smtClean="0"/>
            </a:br>
            <a:r>
              <a:rPr lang="de-AT" dirty="0" smtClean="0"/>
              <a:t>	</a:t>
            </a:r>
            <a:r>
              <a:rPr lang="de-AT" sz="2000" dirty="0" err="1" smtClean="0"/>
              <a:t>microscopic</a:t>
            </a:r>
            <a:r>
              <a:rPr lang="de-AT" sz="2000" dirty="0" smtClean="0"/>
              <a:t> </a:t>
            </a:r>
            <a:r>
              <a:rPr lang="de-AT" sz="2000" dirty="0" err="1" smtClean="0"/>
              <a:t>understanding</a:t>
            </a:r>
            <a:r>
              <a:rPr lang="de-AT" sz="2000" dirty="0" smtClean="0"/>
              <a:t> </a:t>
            </a:r>
            <a:r>
              <a:rPr lang="de-AT" sz="2000" dirty="0" err="1" smtClean="0"/>
              <a:t>of</a:t>
            </a:r>
            <a:r>
              <a:rPr lang="de-AT" sz="2000" dirty="0" smtClean="0"/>
              <a:t> </a:t>
            </a:r>
            <a:r>
              <a:rPr lang="de-AT" sz="2000" dirty="0" err="1" smtClean="0"/>
              <a:t>fission</a:t>
            </a:r>
            <a:r>
              <a:rPr lang="de-AT" sz="2000" dirty="0" smtClean="0"/>
              <a:t> </a:t>
            </a:r>
            <a:r>
              <a:rPr lang="de-AT" sz="2000" dirty="0" err="1" smtClean="0"/>
              <a:t>process</a:t>
            </a:r>
            <a:r>
              <a:rPr lang="de-AT" sz="2000" dirty="0" smtClean="0"/>
              <a:t/>
            </a:r>
            <a:br>
              <a:rPr lang="de-AT" sz="2000" dirty="0" smtClean="0"/>
            </a:br>
            <a:r>
              <a:rPr lang="de-AT" sz="2000" dirty="0" smtClean="0"/>
              <a:t>	</a:t>
            </a:r>
            <a:r>
              <a:rPr lang="de-AT" sz="2000" dirty="0" err="1" smtClean="0"/>
              <a:t>modelling</a:t>
            </a:r>
            <a:r>
              <a:rPr lang="de-AT" sz="2000" dirty="0" smtClean="0"/>
              <a:t> </a:t>
            </a:r>
            <a:r>
              <a:rPr lang="de-AT" sz="2000" dirty="0" err="1" smtClean="0"/>
              <a:t>of</a:t>
            </a:r>
            <a:r>
              <a:rPr lang="de-AT" sz="2000" dirty="0" smtClean="0"/>
              <a:t> </a:t>
            </a:r>
            <a:r>
              <a:rPr lang="de-AT" sz="2000" dirty="0" err="1" smtClean="0"/>
              <a:t>fission</a:t>
            </a:r>
            <a:r>
              <a:rPr lang="de-AT" sz="2000" dirty="0" smtClean="0"/>
              <a:t> </a:t>
            </a:r>
            <a:r>
              <a:rPr lang="de-AT" sz="2000" dirty="0" err="1" smtClean="0"/>
              <a:t>cross</a:t>
            </a:r>
            <a:r>
              <a:rPr lang="de-AT" sz="2000" dirty="0" smtClean="0"/>
              <a:t> </a:t>
            </a:r>
            <a:r>
              <a:rPr lang="de-AT" sz="2000" dirty="0" err="1" smtClean="0"/>
              <a:t>sections</a:t>
            </a:r>
            <a:r>
              <a:rPr lang="de-AT" sz="2000" dirty="0" smtClean="0"/>
              <a:t> </a:t>
            </a:r>
            <a:r>
              <a:rPr lang="de-AT" sz="2000" dirty="0" err="1" smtClean="0"/>
              <a:t>experimentally</a:t>
            </a:r>
            <a:r>
              <a:rPr lang="de-AT" sz="2000" dirty="0" smtClean="0"/>
              <a:t> not </a:t>
            </a:r>
            <a:r>
              <a:rPr lang="de-AT" sz="2000" dirty="0" err="1" smtClean="0"/>
              <a:t>accessible</a:t>
            </a:r>
            <a:r>
              <a:rPr lang="de-AT" sz="2000" dirty="0" smtClean="0"/>
              <a:t/>
            </a:r>
            <a:br>
              <a:rPr lang="de-AT" sz="2000" dirty="0" smtClean="0"/>
            </a:br>
            <a:r>
              <a:rPr lang="de-AT" sz="2000" dirty="0" smtClean="0"/>
              <a:t>	isotopes (MA) </a:t>
            </a:r>
            <a:endParaRPr lang="de-DE" sz="2000" dirty="0"/>
          </a:p>
        </p:txBody>
      </p:sp>
      <p:sp>
        <p:nvSpPr>
          <p:cNvPr id="9" name="Interaktive Schaltfläche: Nächste(r) oder Weiter 8">
            <a:hlinkClick r:id="rId3" action="ppaction://hlinksldjump" highlightClick="1"/>
          </p:cNvPr>
          <p:cNvSpPr/>
          <p:nvPr/>
        </p:nvSpPr>
        <p:spPr bwMode="auto">
          <a:xfrm>
            <a:off x="642910" y="2357430"/>
            <a:ext cx="285752" cy="285752"/>
          </a:xfrm>
          <a:prstGeom prst="actionButtonForwardNex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rgbClr val="000099"/>
              </a:solidFill>
              <a:effectLst/>
              <a:latin typeface="Arial" charset="0"/>
            </a:endParaRPr>
          </a:p>
        </p:txBody>
      </p:sp>
      <p:sp>
        <p:nvSpPr>
          <p:cNvPr id="10" name="Interaktive Schaltfläche: Nächste(r) oder Weiter 9">
            <a:hlinkClick r:id="rId4" action="ppaction://hlinksldjump" highlightClick="1"/>
          </p:cNvPr>
          <p:cNvSpPr/>
          <p:nvPr/>
        </p:nvSpPr>
        <p:spPr bwMode="auto">
          <a:xfrm>
            <a:off x="642910" y="3571876"/>
            <a:ext cx="285752" cy="285752"/>
          </a:xfrm>
          <a:prstGeom prst="actionButtonForwardNex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rgbClr val="000099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sz="2800" dirty="0" err="1" smtClean="0"/>
              <a:t>Summary</a:t>
            </a:r>
            <a:r>
              <a:rPr lang="de-AT" sz="2800" dirty="0" smtClean="0"/>
              <a:t> </a:t>
            </a:r>
            <a:r>
              <a:rPr lang="de-AT" sz="2800" dirty="0" err="1" smtClean="0"/>
              <a:t>and</a:t>
            </a:r>
            <a:r>
              <a:rPr lang="de-AT" sz="2800" dirty="0" smtClean="0"/>
              <a:t> </a:t>
            </a:r>
            <a:r>
              <a:rPr lang="de-AT" sz="2800" dirty="0" err="1" smtClean="0"/>
              <a:t>outlook</a:t>
            </a:r>
            <a:endParaRPr lang="de-DE" sz="2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33</a:t>
            </a:fld>
            <a:endParaRPr lang="de-AT"/>
          </a:p>
        </p:txBody>
      </p:sp>
      <p:sp>
        <p:nvSpPr>
          <p:cNvPr id="7" name="Textfeld 6"/>
          <p:cNvSpPr txBox="1"/>
          <p:nvPr/>
        </p:nvSpPr>
        <p:spPr>
          <a:xfrm>
            <a:off x="714348" y="1142984"/>
            <a:ext cx="7960064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u="sng" dirty="0" err="1" smtClean="0"/>
              <a:t>Summary</a:t>
            </a:r>
            <a:r>
              <a:rPr lang="de-AT" b="1" u="sng" dirty="0" smtClean="0"/>
              <a:t>:</a:t>
            </a:r>
          </a:p>
          <a:p>
            <a:pPr>
              <a:spcBef>
                <a:spcPts val="1200"/>
              </a:spcBef>
              <a:buFont typeface="Arial" pitchFamily="34" charset="0"/>
              <a:buChar char="•"/>
            </a:pPr>
            <a:r>
              <a:rPr lang="de-AT" dirty="0" smtClean="0"/>
              <a:t>  Neutron-</a:t>
            </a:r>
            <a:r>
              <a:rPr lang="de-AT" dirty="0" err="1" smtClean="0"/>
              <a:t>induced</a:t>
            </a:r>
            <a:r>
              <a:rPr lang="de-AT" dirty="0" smtClean="0"/>
              <a:t> </a:t>
            </a:r>
            <a:r>
              <a:rPr lang="de-AT" dirty="0" err="1" smtClean="0"/>
              <a:t>cross</a:t>
            </a:r>
            <a:r>
              <a:rPr lang="de-AT" dirty="0" smtClean="0"/>
              <a:t> </a:t>
            </a:r>
            <a:r>
              <a:rPr lang="de-AT" dirty="0" err="1" smtClean="0"/>
              <a:t>section</a:t>
            </a:r>
            <a:r>
              <a:rPr lang="de-AT" dirty="0" smtClean="0"/>
              <a:t> </a:t>
            </a:r>
            <a:r>
              <a:rPr lang="de-AT" dirty="0" err="1" smtClean="0"/>
              <a:t>measured</a:t>
            </a:r>
            <a:endParaRPr lang="de-AT" dirty="0" smtClean="0"/>
          </a:p>
          <a:p>
            <a:pPr>
              <a:spcBef>
                <a:spcPts val="1200"/>
              </a:spcBef>
              <a:buFont typeface="Arial" pitchFamily="34" charset="0"/>
              <a:buChar char="•"/>
            </a:pPr>
            <a:r>
              <a:rPr lang="de-AT" dirty="0" smtClean="0"/>
              <a:t>  Well </a:t>
            </a:r>
            <a:r>
              <a:rPr lang="de-AT" dirty="0" err="1" smtClean="0"/>
              <a:t>defined</a:t>
            </a:r>
            <a:r>
              <a:rPr lang="de-AT" dirty="0" smtClean="0"/>
              <a:t> </a:t>
            </a:r>
            <a:r>
              <a:rPr lang="de-AT" dirty="0" err="1" smtClean="0"/>
              <a:t>evaluation</a:t>
            </a:r>
            <a:r>
              <a:rPr lang="de-AT" dirty="0" smtClean="0"/>
              <a:t> </a:t>
            </a:r>
            <a:r>
              <a:rPr lang="de-AT" dirty="0" err="1" smtClean="0"/>
              <a:t>procedure</a:t>
            </a:r>
            <a:r>
              <a:rPr lang="de-AT" dirty="0" smtClean="0"/>
              <a:t> </a:t>
            </a:r>
            <a:r>
              <a:rPr lang="de-AT" dirty="0" err="1" smtClean="0"/>
              <a:t>based</a:t>
            </a:r>
            <a:r>
              <a:rPr lang="de-AT" dirty="0" smtClean="0"/>
              <a:t> on </a:t>
            </a:r>
            <a:r>
              <a:rPr lang="de-AT" dirty="0" err="1" smtClean="0"/>
              <a:t>modelling</a:t>
            </a:r>
            <a:r>
              <a:rPr lang="de-AT" dirty="0" smtClean="0"/>
              <a:t> </a:t>
            </a:r>
            <a:br>
              <a:rPr lang="de-AT" dirty="0" smtClean="0"/>
            </a:br>
            <a:r>
              <a:rPr lang="de-AT" dirty="0" smtClean="0"/>
              <a:t>   </a:t>
            </a:r>
            <a:r>
              <a:rPr lang="de-AT" dirty="0" err="1" smtClean="0"/>
              <a:t>developed</a:t>
            </a:r>
            <a:endParaRPr lang="de-AT" dirty="0" smtClean="0"/>
          </a:p>
          <a:p>
            <a:pPr>
              <a:spcBef>
                <a:spcPts val="1200"/>
              </a:spcBef>
              <a:buFont typeface="Arial" pitchFamily="34" charset="0"/>
              <a:buChar char="•"/>
            </a:pPr>
            <a:r>
              <a:rPr lang="de-AT" dirty="0" smtClean="0"/>
              <a:t>  General </a:t>
            </a:r>
            <a:r>
              <a:rPr lang="de-AT" dirty="0" err="1" smtClean="0"/>
              <a:t>evaluation</a:t>
            </a:r>
            <a:r>
              <a:rPr lang="de-AT" dirty="0" smtClean="0"/>
              <a:t> </a:t>
            </a:r>
            <a:r>
              <a:rPr lang="de-AT" dirty="0" err="1" smtClean="0"/>
              <a:t>tool</a:t>
            </a:r>
            <a:r>
              <a:rPr lang="de-AT" dirty="0" smtClean="0"/>
              <a:t> GENEUS </a:t>
            </a:r>
            <a:r>
              <a:rPr lang="de-AT" dirty="0" err="1" smtClean="0"/>
              <a:t>is</a:t>
            </a:r>
            <a:r>
              <a:rPr lang="de-AT" dirty="0" smtClean="0"/>
              <a:t> </a:t>
            </a:r>
            <a:r>
              <a:rPr lang="de-AT" dirty="0" err="1" smtClean="0"/>
              <a:t>under</a:t>
            </a:r>
            <a:r>
              <a:rPr lang="de-AT" dirty="0" smtClean="0"/>
              <a:t> </a:t>
            </a:r>
            <a:r>
              <a:rPr lang="de-AT" dirty="0" err="1" smtClean="0"/>
              <a:t>construction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857224" y="4214818"/>
            <a:ext cx="771557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u="sng" dirty="0" smtClean="0">
                <a:solidFill>
                  <a:srgbClr val="FF0000"/>
                </a:solidFill>
              </a:rPr>
              <a:t>Outlook:</a:t>
            </a:r>
          </a:p>
          <a:p>
            <a:r>
              <a:rPr lang="de-AT" dirty="0" smtClean="0">
                <a:solidFill>
                  <a:srgbClr val="FF0000"/>
                </a:solidFill>
              </a:rPr>
              <a:t>Focus </a:t>
            </a:r>
            <a:r>
              <a:rPr lang="de-AT" dirty="0" err="1" smtClean="0">
                <a:solidFill>
                  <a:srgbClr val="FF0000"/>
                </a:solidFill>
              </a:rPr>
              <a:t>is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currently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changing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to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topics</a:t>
            </a:r>
            <a:r>
              <a:rPr lang="de-AT" dirty="0" smtClean="0">
                <a:solidFill>
                  <a:srgbClr val="FF0000"/>
                </a:solidFill>
              </a:rPr>
              <a:t> on </a:t>
            </a:r>
            <a:r>
              <a:rPr lang="de-AT" dirty="0" err="1" smtClean="0">
                <a:solidFill>
                  <a:srgbClr val="FF0000"/>
                </a:solidFill>
              </a:rPr>
              <a:t>reaction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theory</a:t>
            </a:r>
            <a:r>
              <a:rPr lang="de-AT" dirty="0" smtClean="0">
                <a:solidFill>
                  <a:srgbClr val="FF0000"/>
                </a:solidFill>
              </a:rPr>
              <a:t/>
            </a:r>
            <a:br>
              <a:rPr lang="de-AT" dirty="0" smtClean="0">
                <a:solidFill>
                  <a:srgbClr val="FF0000"/>
                </a:solidFill>
              </a:rPr>
            </a:br>
            <a:r>
              <a:rPr lang="de-AT" dirty="0" smtClean="0">
                <a:solidFill>
                  <a:srgbClr val="FF0000"/>
                </a:solidFill>
              </a:rPr>
              <a:t>      	- </a:t>
            </a:r>
            <a:r>
              <a:rPr lang="de-AT" dirty="0" err="1" smtClean="0">
                <a:solidFill>
                  <a:srgbClr val="FF0000"/>
                </a:solidFill>
              </a:rPr>
              <a:t>composite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particle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scattering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theory</a:t>
            </a:r>
            <a:r>
              <a:rPr lang="de-AT" dirty="0" smtClean="0">
                <a:solidFill>
                  <a:srgbClr val="FF0000"/>
                </a:solidFill>
              </a:rPr>
              <a:t/>
            </a:r>
            <a:br>
              <a:rPr lang="de-AT" dirty="0" smtClean="0">
                <a:solidFill>
                  <a:srgbClr val="FF0000"/>
                </a:solidFill>
              </a:rPr>
            </a:br>
            <a:r>
              <a:rPr lang="de-AT" dirty="0" smtClean="0">
                <a:solidFill>
                  <a:srgbClr val="FF0000"/>
                </a:solidFill>
              </a:rPr>
              <a:t>	- </a:t>
            </a:r>
            <a:r>
              <a:rPr lang="de-AT" dirty="0" err="1" smtClean="0">
                <a:solidFill>
                  <a:srgbClr val="FF0000"/>
                </a:solidFill>
              </a:rPr>
              <a:t>reactions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involving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weakly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bound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nuclei</a:t>
            </a:r>
            <a:endParaRPr lang="de-DE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Working Group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H. Leeb </a:t>
            </a:r>
          </a:p>
          <a:p>
            <a:r>
              <a:rPr lang="de-DE" dirty="0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34</a:t>
            </a:fld>
            <a:endParaRPr lang="de-AT"/>
          </a:p>
        </p:txBody>
      </p:sp>
      <p:sp>
        <p:nvSpPr>
          <p:cNvPr id="7" name="Rechteck 6"/>
          <p:cNvSpPr/>
          <p:nvPr/>
        </p:nvSpPr>
        <p:spPr>
          <a:xfrm>
            <a:off x="642942" y="1071546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AT" dirty="0" smtClean="0"/>
              <a:t>J. </a:t>
            </a:r>
            <a:r>
              <a:rPr lang="de-AT" dirty="0" err="1" smtClean="0"/>
              <a:t>Gundacker</a:t>
            </a:r>
            <a:r>
              <a:rPr lang="de-AT" dirty="0" smtClean="0"/>
              <a:t> (Master)</a:t>
            </a:r>
          </a:p>
          <a:p>
            <a:r>
              <a:rPr lang="de-AT" dirty="0" smtClean="0"/>
              <a:t>J. </a:t>
            </a:r>
            <a:r>
              <a:rPr lang="de-AT" dirty="0" err="1" smtClean="0"/>
              <a:t>Haidvogl</a:t>
            </a:r>
            <a:r>
              <a:rPr lang="de-AT" dirty="0" smtClean="0"/>
              <a:t> (</a:t>
            </a:r>
            <a:r>
              <a:rPr lang="de-AT" dirty="0" err="1" smtClean="0"/>
              <a:t>PhD</a:t>
            </a:r>
            <a:r>
              <a:rPr lang="de-AT" dirty="0" smtClean="0"/>
              <a:t>)</a:t>
            </a:r>
          </a:p>
          <a:p>
            <a:r>
              <a:rPr lang="de-AT" dirty="0" smtClean="0"/>
              <a:t>D. Neudecker (</a:t>
            </a:r>
            <a:r>
              <a:rPr lang="de-AT" dirty="0" err="1" smtClean="0"/>
              <a:t>PhD</a:t>
            </a:r>
            <a:r>
              <a:rPr lang="de-AT" dirty="0" smtClean="0"/>
              <a:t>)</a:t>
            </a:r>
          </a:p>
          <a:p>
            <a:r>
              <a:rPr lang="de-AT" dirty="0" err="1" smtClean="0"/>
              <a:t>Th</a:t>
            </a:r>
            <a:r>
              <a:rPr lang="de-AT" dirty="0" smtClean="0"/>
              <a:t>. </a:t>
            </a:r>
            <a:r>
              <a:rPr lang="de-AT" dirty="0" err="1" smtClean="0"/>
              <a:t>Srdinko</a:t>
            </a:r>
            <a:r>
              <a:rPr lang="de-AT" dirty="0" smtClean="0"/>
              <a:t> (Master)</a:t>
            </a:r>
          </a:p>
          <a:p>
            <a:r>
              <a:rPr lang="de-AT" dirty="0" smtClean="0"/>
              <a:t>V. </a:t>
            </a:r>
            <a:r>
              <a:rPr lang="de-AT" dirty="0" err="1" smtClean="0"/>
              <a:t>Wildpaner</a:t>
            </a:r>
            <a:endParaRPr lang="de-AT" dirty="0" smtClean="0"/>
          </a:p>
          <a:p>
            <a:endParaRPr lang="de-AT" dirty="0" smtClean="0"/>
          </a:p>
          <a:p>
            <a:endParaRPr lang="de-AT" dirty="0" smtClean="0"/>
          </a:p>
          <a:p>
            <a:endParaRPr lang="de-AT" dirty="0" smtClean="0"/>
          </a:p>
          <a:p>
            <a:endParaRPr lang="de-AT" dirty="0" smtClean="0"/>
          </a:p>
          <a:p>
            <a:r>
              <a:rPr lang="de-AT" u="sng" dirty="0" smtClean="0"/>
              <a:t>Former </a:t>
            </a:r>
            <a:r>
              <a:rPr lang="de-AT" u="sng" dirty="0" err="1" smtClean="0"/>
              <a:t>students</a:t>
            </a:r>
            <a:endParaRPr lang="de-AT" u="sng" dirty="0" smtClean="0"/>
          </a:p>
          <a:p>
            <a:r>
              <a:rPr lang="de-AT" dirty="0" smtClean="0"/>
              <a:t>K. </a:t>
            </a:r>
            <a:r>
              <a:rPr lang="de-AT" dirty="0" err="1" smtClean="0"/>
              <a:t>Nikolics</a:t>
            </a:r>
            <a:endParaRPr lang="de-AT" dirty="0" smtClean="0"/>
          </a:p>
          <a:p>
            <a:r>
              <a:rPr lang="de-AT" dirty="0" smtClean="0"/>
              <a:t>M.T. </a:t>
            </a:r>
            <a:r>
              <a:rPr lang="de-AT" dirty="0" err="1" smtClean="0"/>
              <a:t>Pigni</a:t>
            </a:r>
            <a:r>
              <a:rPr lang="de-AT" dirty="0" smtClean="0"/>
              <a:t> (</a:t>
            </a:r>
            <a:r>
              <a:rPr lang="de-AT" dirty="0" err="1" smtClean="0"/>
              <a:t>PhD</a:t>
            </a:r>
            <a:r>
              <a:rPr lang="de-AT" dirty="0" smtClean="0"/>
              <a:t>)</a:t>
            </a:r>
          </a:p>
          <a:p>
            <a:r>
              <a:rPr lang="de-AT" dirty="0" smtClean="0"/>
              <a:t>I. </a:t>
            </a:r>
            <a:r>
              <a:rPr lang="de-AT" dirty="0" err="1" smtClean="0"/>
              <a:t>Raskinyte</a:t>
            </a:r>
            <a:r>
              <a:rPr lang="de-AT" dirty="0" smtClean="0"/>
              <a:t> (</a:t>
            </a:r>
            <a:r>
              <a:rPr lang="de-AT" dirty="0" err="1" smtClean="0"/>
              <a:t>PostDoc</a:t>
            </a:r>
            <a:r>
              <a:rPr lang="de-AT" dirty="0" smtClean="0"/>
              <a:t>)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4143372" y="1142984"/>
            <a:ext cx="4592924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smtClean="0"/>
              <a:t>EU Research Projects:</a:t>
            </a:r>
          </a:p>
          <a:p>
            <a:endParaRPr lang="de-AT" dirty="0" smtClean="0"/>
          </a:p>
          <a:p>
            <a:r>
              <a:rPr lang="de-AT" dirty="0" smtClean="0"/>
              <a:t>EURATOM P&amp;T: </a:t>
            </a:r>
          </a:p>
          <a:p>
            <a:r>
              <a:rPr lang="de-AT" dirty="0" smtClean="0"/>
              <a:t>      </a:t>
            </a:r>
            <a:r>
              <a:rPr lang="de-AT" dirty="0" err="1" smtClean="0"/>
              <a:t>n_TOF,IP_EUROTRANS</a:t>
            </a:r>
            <a:r>
              <a:rPr lang="de-AT" dirty="0" smtClean="0"/>
              <a:t> </a:t>
            </a:r>
          </a:p>
          <a:p>
            <a:endParaRPr lang="de-AT" dirty="0" smtClean="0"/>
          </a:p>
          <a:p>
            <a:r>
              <a:rPr lang="de-AT" dirty="0" smtClean="0"/>
              <a:t>EURATOM Fusion:</a:t>
            </a:r>
          </a:p>
          <a:p>
            <a:r>
              <a:rPr lang="de-AT" dirty="0" smtClean="0"/>
              <a:t>      EFDA-</a:t>
            </a:r>
            <a:r>
              <a:rPr lang="de-AT" dirty="0" err="1" smtClean="0"/>
              <a:t>Projrects</a:t>
            </a:r>
            <a:r>
              <a:rPr lang="de-AT" dirty="0" smtClean="0"/>
              <a:t>, F4E-Grants</a:t>
            </a:r>
          </a:p>
          <a:p>
            <a:endParaRPr lang="de-AT" dirty="0" smtClean="0"/>
          </a:p>
          <a:p>
            <a:r>
              <a:rPr lang="de-AT" dirty="0" smtClean="0"/>
              <a:t>EU I3-Project: </a:t>
            </a:r>
            <a:r>
              <a:rPr lang="de-AT" dirty="0" smtClean="0"/>
              <a:t>EURONS</a:t>
            </a:r>
          </a:p>
          <a:p>
            <a:endParaRPr lang="de-AT" dirty="0" smtClean="0"/>
          </a:p>
          <a:p>
            <a:endParaRPr lang="de-AT" dirty="0" smtClean="0"/>
          </a:p>
          <a:p>
            <a:r>
              <a:rPr lang="de-AT" dirty="0" smtClean="0">
                <a:solidFill>
                  <a:srgbClr val="FF0000"/>
                </a:solidFill>
              </a:rPr>
              <a:t>Strong </a:t>
            </a:r>
            <a:r>
              <a:rPr lang="de-AT" dirty="0" err="1" smtClean="0">
                <a:solidFill>
                  <a:srgbClr val="FF0000"/>
                </a:solidFill>
              </a:rPr>
              <a:t>collaboration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with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the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</a:p>
          <a:p>
            <a:r>
              <a:rPr lang="de-AT" dirty="0" err="1" smtClean="0">
                <a:solidFill>
                  <a:srgbClr val="FF0000"/>
                </a:solidFill>
              </a:rPr>
              <a:t>n</a:t>
            </a:r>
            <a:r>
              <a:rPr lang="de-AT" dirty="0" err="1" smtClean="0">
                <a:solidFill>
                  <a:srgbClr val="FF0000"/>
                </a:solidFill>
              </a:rPr>
              <a:t>uclear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data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centers</a:t>
            </a:r>
            <a:r>
              <a:rPr lang="de-AT" dirty="0" smtClean="0">
                <a:solidFill>
                  <a:srgbClr val="FF0000"/>
                </a:solidFill>
              </a:rPr>
              <a:t> NEA, IAEA</a:t>
            </a:r>
            <a:endParaRPr lang="de-AT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35</a:t>
            </a:fld>
            <a:endParaRPr lang="de-AT"/>
          </a:p>
        </p:txBody>
      </p:sp>
      <p:sp>
        <p:nvSpPr>
          <p:cNvPr id="7" name="Rechteck 6"/>
          <p:cNvSpPr/>
          <p:nvPr/>
        </p:nvSpPr>
        <p:spPr>
          <a:xfrm>
            <a:off x="2286000" y="3013502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b="1" dirty="0" smtClean="0">
                <a:solidFill>
                  <a:srgbClr val="0000CC"/>
                </a:solidFill>
              </a:rPr>
              <a:t>THANK YOU FOR </a:t>
            </a:r>
            <a:br>
              <a:rPr lang="de-DE" b="1" dirty="0" smtClean="0">
                <a:solidFill>
                  <a:srgbClr val="0000CC"/>
                </a:solidFill>
              </a:rPr>
            </a:br>
            <a:r>
              <a:rPr lang="de-DE" b="1" dirty="0" smtClean="0">
                <a:solidFill>
                  <a:srgbClr val="0000CC"/>
                </a:solidFill>
              </a:rPr>
              <a:t>YOUR ATTENTION</a:t>
            </a:r>
            <a:endParaRPr lang="de-DE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>
                <a:latin typeface="Symbol" pitchFamily="18" charset="2"/>
              </a:rPr>
              <a:t>a</a:t>
            </a:r>
            <a:r>
              <a:rPr lang="de-AT" dirty="0" smtClean="0"/>
              <a:t>-</a:t>
            </a:r>
            <a:r>
              <a:rPr lang="de-AT" dirty="0" err="1" smtClean="0"/>
              <a:t>nucleus</a:t>
            </a:r>
            <a:r>
              <a:rPr lang="de-AT" dirty="0" smtClean="0"/>
              <a:t> </a:t>
            </a:r>
            <a:r>
              <a:rPr lang="de-AT" dirty="0" err="1" smtClean="0"/>
              <a:t>optical</a:t>
            </a:r>
            <a:r>
              <a:rPr lang="de-AT" dirty="0" smtClean="0"/>
              <a:t> </a:t>
            </a:r>
            <a:r>
              <a:rPr lang="de-AT" dirty="0" err="1" smtClean="0"/>
              <a:t>potentials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36</a:t>
            </a:fld>
            <a:endParaRPr lang="de-AT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92100" y="1143000"/>
            <a:ext cx="82028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>
                <a:solidFill>
                  <a:srgbClr val="000099"/>
                </a:solidFill>
              </a:rPr>
              <a:t>(semi)microscopic approach for low energies (relevant to astrophysics)</a:t>
            </a:r>
            <a:endParaRPr lang="de-AT" sz="2000">
              <a:solidFill>
                <a:srgbClr val="000099"/>
              </a:solidFill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65125" y="2098675"/>
            <a:ext cx="228940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b="1" u="sng">
                <a:solidFill>
                  <a:srgbClr val="000099"/>
                </a:solidFill>
              </a:rPr>
              <a:t>Optical Potential:</a:t>
            </a:r>
            <a:endParaRPr lang="de-AT" sz="2000" b="1" u="sng">
              <a:solidFill>
                <a:srgbClr val="000099"/>
              </a:solidFill>
            </a:endParaRP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3048000" y="2057400"/>
          <a:ext cx="4572000" cy="576263"/>
        </p:xfrm>
        <a:graphic>
          <a:graphicData uri="http://schemas.openxmlformats.org/presentationml/2006/ole">
            <p:oleObj spid="_x0000_s57346" name="Formel" r:id="rId4" imgW="2019240" imgH="253800" progId="">
              <p:embed/>
            </p:oleObj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3124200" y="4800600"/>
          <a:ext cx="4800600" cy="528638"/>
        </p:xfrm>
        <a:graphic>
          <a:graphicData uri="http://schemas.openxmlformats.org/presentationml/2006/ole">
            <p:oleObj spid="_x0000_s57347" name="Formel" r:id="rId5" imgW="2311200" imgH="253800" progId="">
              <p:embed/>
            </p:oleObj>
          </a:graphicData>
        </a:graphic>
      </p:graphicFrame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33400" y="4800600"/>
            <a:ext cx="14366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u="sng">
                <a:solidFill>
                  <a:srgbClr val="000099"/>
                </a:solidFill>
              </a:rPr>
              <a:t>Direct part:</a:t>
            </a:r>
            <a:endParaRPr lang="de-AT" sz="2000" u="sng">
              <a:solidFill>
                <a:srgbClr val="000099"/>
              </a:solidFill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048000" y="5410200"/>
            <a:ext cx="49085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>
                <a:solidFill>
                  <a:srgbClr val="000099"/>
                </a:solidFill>
                <a:latin typeface="Arial" charset="0"/>
              </a:rPr>
              <a:t>evaluated within RGM in order to account </a:t>
            </a:r>
          </a:p>
          <a:p>
            <a:r>
              <a:rPr lang="de-DE" sz="2000">
                <a:solidFill>
                  <a:srgbClr val="000099"/>
                </a:solidFill>
                <a:latin typeface="Arial" charset="0"/>
              </a:rPr>
              <a:t>correctly for the antisymmetrisation</a:t>
            </a:r>
            <a:endParaRPr lang="de-AT" sz="2000">
              <a:solidFill>
                <a:srgbClr val="000099"/>
              </a:solidFill>
              <a:latin typeface="Arial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96875" y="2971800"/>
          <a:ext cx="8229600" cy="1373188"/>
        </p:xfrm>
        <a:graphic>
          <a:graphicData uri="http://schemas.openxmlformats.org/presentationml/2006/ole">
            <p:oleObj spid="_x0000_s57348" name="Formel" r:id="rId6" imgW="3962160" imgH="660240" progId="">
              <p:embed/>
            </p:oleObj>
          </a:graphicData>
        </a:graphic>
      </p:graphicFrame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381000" y="1981200"/>
            <a:ext cx="8382000" cy="24384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sz="2000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6477000" y="2971800"/>
            <a:ext cx="1381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>
                <a:solidFill>
                  <a:srgbClr val="FF0000"/>
                </a:solidFill>
                <a:latin typeface="Arial" charset="0"/>
              </a:rPr>
              <a:t>direct term</a:t>
            </a:r>
            <a:endParaRPr lang="de-AT" sz="200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 flipH="1">
            <a:off x="5791200" y="32004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 sz="2000"/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533400" y="4038600"/>
            <a:ext cx="170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>
                <a:solidFill>
                  <a:srgbClr val="FF0000"/>
                </a:solidFill>
                <a:latin typeface="Arial" charset="0"/>
              </a:rPr>
              <a:t>coupling term</a:t>
            </a:r>
            <a:endParaRPr lang="de-AT" sz="200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8" name="Line 21"/>
          <p:cNvSpPr>
            <a:spLocks noChangeShapeType="1"/>
          </p:cNvSpPr>
          <p:nvPr/>
        </p:nvSpPr>
        <p:spPr bwMode="auto">
          <a:xfrm>
            <a:off x="2286000" y="4343400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 sz="2000"/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 flipV="1">
            <a:off x="3733800" y="4114800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sz="2800" dirty="0" err="1" smtClean="0"/>
              <a:t>Imaginary</a:t>
            </a:r>
            <a:r>
              <a:rPr lang="de-AT" sz="2800" dirty="0" smtClean="0"/>
              <a:t> </a:t>
            </a:r>
            <a:r>
              <a:rPr lang="de-AT" sz="2800" dirty="0" smtClean="0">
                <a:latin typeface="Symbol" pitchFamily="18" charset="2"/>
              </a:rPr>
              <a:t>a</a:t>
            </a:r>
            <a:r>
              <a:rPr lang="de-AT" sz="2800" dirty="0" smtClean="0"/>
              <a:t>-</a:t>
            </a:r>
            <a:r>
              <a:rPr lang="de-AT" sz="2800" dirty="0" err="1" smtClean="0"/>
              <a:t>nucleus</a:t>
            </a:r>
            <a:r>
              <a:rPr lang="de-AT" sz="2800" dirty="0" smtClean="0"/>
              <a:t> </a:t>
            </a:r>
            <a:r>
              <a:rPr lang="de-AT" sz="2800" dirty="0" err="1" smtClean="0"/>
              <a:t>optical</a:t>
            </a:r>
            <a:r>
              <a:rPr lang="de-AT" sz="2800" dirty="0" smtClean="0"/>
              <a:t> </a:t>
            </a:r>
            <a:r>
              <a:rPr lang="de-AT" sz="2800" dirty="0" err="1" smtClean="0"/>
              <a:t>potentials</a:t>
            </a:r>
            <a:endParaRPr lang="de-DE" sz="2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37</a:t>
            </a:fld>
            <a:endParaRPr lang="de-AT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46075" y="1905000"/>
          <a:ext cx="8624888" cy="739775"/>
        </p:xfrm>
        <a:graphic>
          <a:graphicData uri="http://schemas.openxmlformats.org/presentationml/2006/ole">
            <p:oleObj spid="_x0000_s58370" name="Formel" r:id="rId4" imgW="4152600" imgH="355320" progId="">
              <p:embed/>
            </p:oleObj>
          </a:graphicData>
        </a:graphic>
      </p:graphicFrame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33400" y="1219200"/>
            <a:ext cx="2251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u="sng">
                <a:solidFill>
                  <a:srgbClr val="000099"/>
                </a:solidFill>
                <a:latin typeface="Arial" charset="0"/>
              </a:rPr>
              <a:t>Imaginary Part:</a:t>
            </a:r>
            <a:endParaRPr lang="de-AT" u="sng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447800" y="2971800"/>
            <a:ext cx="3201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>
                <a:solidFill>
                  <a:srgbClr val="CC0099"/>
                </a:solidFill>
                <a:latin typeface="Arial" charset="0"/>
              </a:rPr>
              <a:t>Intermediate states in RPA</a:t>
            </a:r>
            <a:endParaRPr lang="de-AT" sz="2000">
              <a:solidFill>
                <a:srgbClr val="CC0099"/>
              </a:solidFill>
              <a:latin typeface="Arial" charset="0"/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V="1">
            <a:off x="4343400" y="2438400"/>
            <a:ext cx="76200" cy="533400"/>
          </a:xfrm>
          <a:prstGeom prst="line">
            <a:avLst/>
          </a:prstGeom>
          <a:noFill/>
          <a:ln w="38100">
            <a:solidFill>
              <a:srgbClr val="99336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V="1">
            <a:off x="4724400" y="2362200"/>
            <a:ext cx="2057400" cy="762000"/>
          </a:xfrm>
          <a:prstGeom prst="line">
            <a:avLst/>
          </a:prstGeom>
          <a:noFill/>
          <a:ln w="38100">
            <a:solidFill>
              <a:srgbClr val="99336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038600" y="3627438"/>
            <a:ext cx="42546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dirty="0">
                <a:solidFill>
                  <a:srgbClr val="000066"/>
                </a:solidFill>
                <a:latin typeface="Arial" charset="0"/>
              </a:rPr>
              <a:t>Green </a:t>
            </a:r>
            <a:r>
              <a:rPr lang="de-DE" sz="2000" dirty="0" err="1">
                <a:solidFill>
                  <a:srgbClr val="000066"/>
                </a:solidFill>
                <a:latin typeface="Arial" charset="0"/>
              </a:rPr>
              <a:t>function</a:t>
            </a:r>
            <a:r>
              <a:rPr lang="de-DE" sz="2000" dirty="0">
                <a:solidFill>
                  <a:srgbClr val="000066"/>
                </a:solidFill>
                <a:latin typeface="Arial" charset="0"/>
              </a:rPr>
              <a:t> </a:t>
            </a:r>
            <a:r>
              <a:rPr lang="de-DE" sz="2000" dirty="0" err="1">
                <a:solidFill>
                  <a:srgbClr val="000066"/>
                </a:solidFill>
                <a:latin typeface="Arial" charset="0"/>
              </a:rPr>
              <a:t>at</a:t>
            </a:r>
            <a:r>
              <a:rPr lang="de-DE" sz="2000" dirty="0">
                <a:solidFill>
                  <a:srgbClr val="000066"/>
                </a:solidFill>
                <a:latin typeface="Arial" charset="0"/>
              </a:rPr>
              <a:t> intermediate </a:t>
            </a:r>
            <a:r>
              <a:rPr lang="de-DE" sz="2000" dirty="0" err="1" smtClean="0">
                <a:solidFill>
                  <a:srgbClr val="000066"/>
                </a:solidFill>
                <a:latin typeface="Arial" charset="0"/>
              </a:rPr>
              <a:t>state</a:t>
            </a:r>
            <a:endParaRPr lang="de-AT" sz="2000" dirty="0">
              <a:solidFill>
                <a:srgbClr val="000066"/>
              </a:solidFill>
              <a:latin typeface="Arial" charset="0"/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flipH="1" flipV="1">
            <a:off x="5638800" y="2514600"/>
            <a:ext cx="457200" cy="9906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57200" y="4191000"/>
            <a:ext cx="7649851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 dirty="0" err="1">
                <a:solidFill>
                  <a:srgbClr val="000099"/>
                </a:solidFill>
              </a:rPr>
              <a:t>It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can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be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considered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as</a:t>
            </a:r>
            <a:r>
              <a:rPr lang="de-DE" sz="2000" dirty="0">
                <a:solidFill>
                  <a:srgbClr val="000099"/>
                </a:solidFill>
              </a:rPr>
              <a:t> a </a:t>
            </a:r>
            <a:r>
              <a:rPr lang="de-DE" sz="2000" dirty="0" err="1">
                <a:solidFill>
                  <a:srgbClr val="000099"/>
                </a:solidFill>
              </a:rPr>
              <a:t>nuclear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structure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approach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to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>
                <a:solidFill>
                  <a:srgbClr val="000099"/>
                </a:solidFill>
                <a:latin typeface="Symbol" pitchFamily="18" charset="2"/>
              </a:rPr>
              <a:t>a</a:t>
            </a:r>
            <a:r>
              <a:rPr lang="de-DE" sz="2000" dirty="0">
                <a:solidFill>
                  <a:srgbClr val="000099"/>
                </a:solidFill>
              </a:rPr>
              <a:t>-</a:t>
            </a:r>
            <a:r>
              <a:rPr lang="de-DE" sz="2000" dirty="0" err="1">
                <a:solidFill>
                  <a:srgbClr val="000099"/>
                </a:solidFill>
              </a:rPr>
              <a:t>nucleus</a:t>
            </a:r>
            <a:endParaRPr lang="de-DE" sz="2000" dirty="0">
              <a:solidFill>
                <a:srgbClr val="000099"/>
              </a:solidFill>
            </a:endParaRPr>
          </a:p>
          <a:p>
            <a:r>
              <a:rPr lang="de-DE" sz="2000" dirty="0" err="1">
                <a:solidFill>
                  <a:srgbClr val="000099"/>
                </a:solidFill>
              </a:rPr>
              <a:t>optical</a:t>
            </a:r>
            <a:r>
              <a:rPr lang="de-DE" sz="2000" dirty="0">
                <a:solidFill>
                  <a:srgbClr val="000099"/>
                </a:solidFill>
              </a:rPr>
              <a:t> potential, </a:t>
            </a:r>
            <a:r>
              <a:rPr lang="de-DE" sz="2000" dirty="0" err="1">
                <a:solidFill>
                  <a:srgbClr val="000099"/>
                </a:solidFill>
              </a:rPr>
              <a:t>which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should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work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satisfactory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at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low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energies</a:t>
            </a:r>
            <a:endParaRPr lang="de-DE" sz="2000" dirty="0">
              <a:solidFill>
                <a:srgbClr val="000099"/>
              </a:solidFill>
            </a:endParaRPr>
          </a:p>
          <a:p>
            <a:endParaRPr lang="de-DE" sz="2000" dirty="0">
              <a:solidFill>
                <a:srgbClr val="000099"/>
              </a:solidFill>
            </a:endParaRPr>
          </a:p>
          <a:p>
            <a:r>
              <a:rPr lang="de-DE" sz="2000" dirty="0" err="1">
                <a:solidFill>
                  <a:srgbClr val="000099"/>
                </a:solidFill>
              </a:rPr>
              <a:t>calculations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 err="1">
                <a:solidFill>
                  <a:srgbClr val="000099"/>
                </a:solidFill>
              </a:rPr>
              <a:t>for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>
                <a:solidFill>
                  <a:srgbClr val="000099"/>
                </a:solidFill>
                <a:latin typeface="Symbol" pitchFamily="18" charset="2"/>
              </a:rPr>
              <a:t>a</a:t>
            </a:r>
            <a:r>
              <a:rPr lang="de-DE" sz="2000" dirty="0">
                <a:solidFill>
                  <a:srgbClr val="000099"/>
                </a:solidFill>
              </a:rPr>
              <a:t>-</a:t>
            </a:r>
            <a:r>
              <a:rPr lang="de-DE" sz="2000" baseline="30000" dirty="0">
                <a:solidFill>
                  <a:srgbClr val="000099"/>
                </a:solidFill>
              </a:rPr>
              <a:t>16</a:t>
            </a:r>
            <a:r>
              <a:rPr lang="de-DE" sz="2000" dirty="0">
                <a:solidFill>
                  <a:srgbClr val="000099"/>
                </a:solidFill>
              </a:rPr>
              <a:t>O </a:t>
            </a:r>
            <a:r>
              <a:rPr lang="de-DE" sz="2000" dirty="0" err="1">
                <a:solidFill>
                  <a:srgbClr val="000099"/>
                </a:solidFill>
              </a:rPr>
              <a:t>and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>
                <a:solidFill>
                  <a:srgbClr val="000099"/>
                </a:solidFill>
                <a:latin typeface="Symbol" pitchFamily="18" charset="2"/>
              </a:rPr>
              <a:t>a</a:t>
            </a:r>
            <a:r>
              <a:rPr lang="de-DE" sz="2000" dirty="0">
                <a:solidFill>
                  <a:srgbClr val="000099"/>
                </a:solidFill>
              </a:rPr>
              <a:t>-</a:t>
            </a:r>
            <a:r>
              <a:rPr lang="de-DE" sz="2000" baseline="30000" dirty="0">
                <a:solidFill>
                  <a:srgbClr val="000099"/>
                </a:solidFill>
              </a:rPr>
              <a:t>40</a:t>
            </a:r>
            <a:r>
              <a:rPr lang="de-DE" sz="2000" dirty="0">
                <a:solidFill>
                  <a:srgbClr val="000099"/>
                </a:solidFill>
              </a:rPr>
              <a:t>Ca </a:t>
            </a:r>
            <a:r>
              <a:rPr lang="de-DE" sz="2000" dirty="0" err="1">
                <a:solidFill>
                  <a:srgbClr val="000099"/>
                </a:solidFill>
              </a:rPr>
              <a:t>and</a:t>
            </a:r>
            <a:r>
              <a:rPr lang="de-DE" sz="2000" dirty="0">
                <a:solidFill>
                  <a:srgbClr val="000099"/>
                </a:solidFill>
              </a:rPr>
              <a:t> </a:t>
            </a:r>
            <a:r>
              <a:rPr lang="de-DE" sz="2000" dirty="0">
                <a:solidFill>
                  <a:srgbClr val="000099"/>
                </a:solidFill>
                <a:latin typeface="Symbol" pitchFamily="18" charset="2"/>
              </a:rPr>
              <a:t>a</a:t>
            </a:r>
            <a:r>
              <a:rPr lang="de-DE" sz="2000" dirty="0">
                <a:solidFill>
                  <a:srgbClr val="000099"/>
                </a:solidFill>
              </a:rPr>
              <a:t>-</a:t>
            </a:r>
            <a:r>
              <a:rPr lang="de-DE" sz="2000" baseline="30000" dirty="0">
                <a:solidFill>
                  <a:srgbClr val="000099"/>
                </a:solidFill>
              </a:rPr>
              <a:t>208</a:t>
            </a:r>
            <a:r>
              <a:rPr lang="de-DE" sz="2000" dirty="0">
                <a:solidFill>
                  <a:srgbClr val="000099"/>
                </a:solidFill>
              </a:rPr>
              <a:t>Pb </a:t>
            </a:r>
            <a:r>
              <a:rPr lang="de-DE" sz="2000" dirty="0" err="1">
                <a:solidFill>
                  <a:srgbClr val="000099"/>
                </a:solidFill>
              </a:rPr>
              <a:t>are</a:t>
            </a:r>
            <a:r>
              <a:rPr lang="de-DE" sz="2000" dirty="0">
                <a:solidFill>
                  <a:srgbClr val="000099"/>
                </a:solidFill>
              </a:rPr>
              <a:t> in </a:t>
            </a:r>
            <a:r>
              <a:rPr lang="de-DE" sz="2000" dirty="0" err="1">
                <a:solidFill>
                  <a:srgbClr val="000099"/>
                </a:solidFill>
              </a:rPr>
              <a:t>progress</a:t>
            </a:r>
            <a:endParaRPr lang="de-AT" sz="2000" dirty="0">
              <a:solidFill>
                <a:srgbClr val="000099"/>
              </a:solidFill>
            </a:endParaRPr>
          </a:p>
        </p:txBody>
      </p:sp>
      <p:sp>
        <p:nvSpPr>
          <p:cNvPr id="15" name="Interaktive Schaltfläche: Zurück oder Vorherige(r) 14">
            <a:hlinkClick r:id="rId5" action="ppaction://hlinksldjump" highlightClick="1"/>
          </p:cNvPr>
          <p:cNvSpPr/>
          <p:nvPr/>
        </p:nvSpPr>
        <p:spPr bwMode="auto">
          <a:xfrm>
            <a:off x="428596" y="5786454"/>
            <a:ext cx="285752" cy="285752"/>
          </a:xfrm>
          <a:prstGeom prst="actionButtonBackPrevio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rgbClr val="000099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sz="3200" dirty="0" err="1" smtClean="0"/>
              <a:t>Reactions</a:t>
            </a:r>
            <a:r>
              <a:rPr lang="de-AT" sz="3200" dirty="0" smtClean="0"/>
              <a:t> </a:t>
            </a:r>
            <a:r>
              <a:rPr lang="de-AT" sz="3200" dirty="0" err="1" smtClean="0"/>
              <a:t>of</a:t>
            </a:r>
            <a:r>
              <a:rPr lang="de-AT" sz="3200" dirty="0" smtClean="0"/>
              <a:t> </a:t>
            </a:r>
            <a:r>
              <a:rPr lang="de-AT" sz="3200" dirty="0" err="1" smtClean="0"/>
              <a:t>weakly</a:t>
            </a:r>
            <a:r>
              <a:rPr lang="de-AT" sz="3200" dirty="0" smtClean="0"/>
              <a:t> </a:t>
            </a:r>
            <a:r>
              <a:rPr lang="de-AT" sz="3200" dirty="0" err="1" smtClean="0"/>
              <a:t>bound</a:t>
            </a:r>
            <a:r>
              <a:rPr lang="de-AT" sz="3200" dirty="0" smtClean="0"/>
              <a:t> </a:t>
            </a:r>
            <a:r>
              <a:rPr lang="de-AT" sz="3200" dirty="0" err="1" smtClean="0"/>
              <a:t>nuclei</a:t>
            </a:r>
            <a:endParaRPr lang="de-DE" sz="32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38</a:t>
            </a:fld>
            <a:endParaRPr lang="de-AT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81000" y="1189038"/>
            <a:ext cx="4725988" cy="422275"/>
          </a:xfrm>
          <a:prstGeom prst="rect">
            <a:avLst/>
          </a:prstGeom>
          <a:noFill/>
          <a:ln w="2540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>
                <a:solidFill>
                  <a:srgbClr val="000099"/>
                </a:solidFill>
                <a:latin typeface="Arial" charset="0"/>
              </a:rPr>
              <a:t>deuteron breaks up easily (E</a:t>
            </a:r>
            <a:r>
              <a:rPr lang="de-DE" sz="2000" baseline="-25000">
                <a:solidFill>
                  <a:srgbClr val="000099"/>
                </a:solidFill>
                <a:latin typeface="Arial" charset="0"/>
              </a:rPr>
              <a:t>B</a:t>
            </a:r>
            <a:r>
              <a:rPr lang="de-DE" sz="2000">
                <a:solidFill>
                  <a:srgbClr val="000099"/>
                </a:solidFill>
                <a:latin typeface="Arial" charset="0"/>
              </a:rPr>
              <a:t>=2,2 MeV)</a:t>
            </a:r>
            <a:endParaRPr lang="de-AT" sz="200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886200" y="1752600"/>
            <a:ext cx="4238625" cy="428625"/>
          </a:xfrm>
          <a:prstGeom prst="rect">
            <a:avLst/>
          </a:prstGeom>
          <a:noFill/>
          <a:ln w="3175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>
                <a:solidFill>
                  <a:srgbClr val="000099"/>
                </a:solidFill>
                <a:latin typeface="Arial" charset="0"/>
              </a:rPr>
              <a:t>breakup leads to additional flux loss</a:t>
            </a:r>
            <a:endParaRPr lang="de-AT" sz="200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15" name="AutoShape 7"/>
          <p:cNvSpPr>
            <a:spLocks noChangeArrowheads="1"/>
          </p:cNvSpPr>
          <p:nvPr/>
        </p:nvSpPr>
        <p:spPr bwMode="auto">
          <a:xfrm flipV="1">
            <a:off x="3429000" y="1600200"/>
            <a:ext cx="457200" cy="561975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rgbClr val="000099">
              <a:alpha val="50000"/>
            </a:srgbClr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457200" y="3733800"/>
            <a:ext cx="82946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2000">
                <a:solidFill>
                  <a:srgbClr val="000099"/>
                </a:solidFill>
                <a:latin typeface="Arial" charset="0"/>
              </a:rPr>
              <a:t>Neglecting breakup leads to non-standard parameters in fitted potentials</a:t>
            </a:r>
            <a:endParaRPr lang="de-AT" sz="200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3962400" y="2514600"/>
            <a:ext cx="1143000" cy="1066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5181600" y="3048000"/>
            <a:ext cx="762000" cy="304800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5181600" y="3352800"/>
            <a:ext cx="762000" cy="2286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5181600" y="2514600"/>
            <a:ext cx="762000" cy="533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>
            <a:off x="5105400" y="2514600"/>
            <a:ext cx="0" cy="106680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2" name="Rectangle 16" descr="Horizontal dunkel"/>
          <p:cNvSpPr>
            <a:spLocks noChangeArrowheads="1"/>
          </p:cNvSpPr>
          <p:nvPr/>
        </p:nvSpPr>
        <p:spPr bwMode="auto">
          <a:xfrm>
            <a:off x="5181600" y="2895600"/>
            <a:ext cx="762000" cy="152400"/>
          </a:xfrm>
          <a:prstGeom prst="rect">
            <a:avLst/>
          </a:prstGeom>
          <a:pattFill prst="dkHorz">
            <a:fgClr>
              <a:srgbClr val="000066"/>
            </a:fgClr>
            <a:bgClr>
              <a:srgbClr val="FF0000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6096000" y="3048000"/>
            <a:ext cx="2819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DE" sz="1600">
                <a:solidFill>
                  <a:srgbClr val="000099"/>
                </a:solidFill>
                <a:latin typeface="Arial" charset="0"/>
              </a:rPr>
              <a:t>nonelastic due to n-collision</a:t>
            </a:r>
            <a:endParaRPr lang="de-AT" sz="160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6096000" y="2819400"/>
            <a:ext cx="2489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DE" sz="1600">
                <a:solidFill>
                  <a:srgbClr val="CC0099"/>
                </a:solidFill>
                <a:latin typeface="Arial" charset="0"/>
              </a:rPr>
              <a:t>Breakup of the deuteron</a:t>
            </a:r>
            <a:endParaRPr lang="de-AT" sz="1600">
              <a:solidFill>
                <a:srgbClr val="CC0099"/>
              </a:solidFill>
              <a:latin typeface="Arial" charset="0"/>
            </a:endParaRPr>
          </a:p>
        </p:txBody>
      </p:sp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6096000" y="3276600"/>
            <a:ext cx="2819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DE" sz="1600">
                <a:solidFill>
                  <a:srgbClr val="FF0000"/>
                </a:solidFill>
                <a:latin typeface="Arial" charset="0"/>
              </a:rPr>
              <a:t>nonelastic due to p-collision</a:t>
            </a:r>
            <a:endParaRPr lang="de-AT" sz="160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26" name="Text Box 20"/>
          <p:cNvSpPr txBox="1">
            <a:spLocks noChangeArrowheads="1"/>
          </p:cNvSpPr>
          <p:nvPr/>
        </p:nvSpPr>
        <p:spPr bwMode="auto">
          <a:xfrm>
            <a:off x="6096000" y="2514600"/>
            <a:ext cx="289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DE" sz="1600">
                <a:solidFill>
                  <a:srgbClr val="006600"/>
                </a:solidFill>
                <a:latin typeface="Arial" charset="0"/>
              </a:rPr>
              <a:t>Elastic d-A channel</a:t>
            </a:r>
            <a:endParaRPr lang="de-AT" sz="1600">
              <a:solidFill>
                <a:srgbClr val="006600"/>
              </a:solidFill>
              <a:latin typeface="Arial" charset="0"/>
            </a:endParaRPr>
          </a:p>
        </p:txBody>
      </p:sp>
      <p:sp>
        <p:nvSpPr>
          <p:cNvPr id="27" name="Text Box 21"/>
          <p:cNvSpPr txBox="1">
            <a:spLocks noChangeArrowheads="1"/>
          </p:cNvSpPr>
          <p:nvPr/>
        </p:nvSpPr>
        <p:spPr bwMode="auto">
          <a:xfrm>
            <a:off x="2438400" y="2209800"/>
            <a:ext cx="55340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1600" b="1">
                <a:solidFill>
                  <a:srgbClr val="000099"/>
                </a:solidFill>
                <a:latin typeface="Arial" charset="0"/>
              </a:rPr>
              <a:t>Incoming channel	  		outgoing channel</a:t>
            </a:r>
            <a:endParaRPr lang="de-AT" sz="1600" b="1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8" name="Text Box 22"/>
          <p:cNvSpPr txBox="1">
            <a:spLocks noChangeArrowheads="1"/>
          </p:cNvSpPr>
          <p:nvPr/>
        </p:nvSpPr>
        <p:spPr bwMode="auto">
          <a:xfrm>
            <a:off x="2498725" y="2727325"/>
            <a:ext cx="12668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1600">
                <a:solidFill>
                  <a:srgbClr val="006600"/>
                </a:solidFill>
                <a:latin typeface="Arial" charset="0"/>
              </a:rPr>
              <a:t>Incoming</a:t>
            </a:r>
          </a:p>
          <a:p>
            <a:r>
              <a:rPr lang="de-DE" sz="1600">
                <a:solidFill>
                  <a:srgbClr val="006600"/>
                </a:solidFill>
                <a:latin typeface="Arial" charset="0"/>
              </a:rPr>
              <a:t>d-A channel</a:t>
            </a:r>
            <a:endParaRPr lang="de-AT" sz="1600">
              <a:solidFill>
                <a:srgbClr val="006600"/>
              </a:solidFill>
              <a:latin typeface="Arial" charset="0"/>
            </a:endParaRPr>
          </a:p>
        </p:txBody>
      </p:sp>
      <p:sp>
        <p:nvSpPr>
          <p:cNvPr id="29" name="Rectangle 29"/>
          <p:cNvSpPr>
            <a:spLocks noChangeArrowheads="1"/>
          </p:cNvSpPr>
          <p:nvPr/>
        </p:nvSpPr>
        <p:spPr bwMode="auto">
          <a:xfrm>
            <a:off x="457200" y="3810000"/>
            <a:ext cx="8305800" cy="2362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457200" y="4114800"/>
            <a:ext cx="62166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>
                <a:solidFill>
                  <a:srgbClr val="000099"/>
                </a:solidFill>
                <a:latin typeface="Arial" charset="0"/>
              </a:rPr>
              <a:t>Keaton, Armstrong (1973)</a:t>
            </a:r>
          </a:p>
          <a:p>
            <a:r>
              <a:rPr lang="de-DE" sz="2000">
                <a:solidFill>
                  <a:srgbClr val="000099"/>
                </a:solidFill>
                <a:latin typeface="Arial" charset="0"/>
              </a:rPr>
              <a:t>Ansatz of a complete wave function of the d-A system</a:t>
            </a:r>
            <a:endParaRPr lang="de-AT" sz="2000">
              <a:solidFill>
                <a:srgbClr val="000099"/>
              </a:solidFill>
              <a:latin typeface="Arial" charset="0"/>
            </a:endParaRPr>
          </a:p>
        </p:txBody>
      </p:sp>
      <p:graphicFrame>
        <p:nvGraphicFramePr>
          <p:cNvPr id="31" name="Object 0"/>
          <p:cNvGraphicFramePr>
            <a:graphicFrameLocks noChangeAspect="1"/>
          </p:cNvGraphicFramePr>
          <p:nvPr/>
        </p:nvGraphicFramePr>
        <p:xfrm>
          <a:off x="1447800" y="5105400"/>
          <a:ext cx="4740275" cy="514350"/>
        </p:xfrm>
        <a:graphic>
          <a:graphicData uri="http://schemas.openxmlformats.org/presentationml/2006/ole">
            <p:oleObj spid="_x0000_s59394" name="Formel" r:id="rId4" imgW="2806560" imgH="304560" progId="">
              <p:embed/>
            </p:oleObj>
          </a:graphicData>
        </a:graphic>
      </p:graphicFrame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990600" y="5791200"/>
            <a:ext cx="2284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1600">
                <a:solidFill>
                  <a:srgbClr val="FF0000"/>
                </a:solidFill>
                <a:latin typeface="Arial" charset="0"/>
              </a:rPr>
              <a:t>deuteron wave function</a:t>
            </a:r>
            <a:endParaRPr lang="de-AT" sz="160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auto">
          <a:xfrm>
            <a:off x="4495800" y="5791200"/>
            <a:ext cx="38449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1600">
                <a:solidFill>
                  <a:srgbClr val="FF0000"/>
                </a:solidFill>
                <a:latin typeface="Arial" charset="0"/>
              </a:rPr>
              <a:t>p-n scattering wave function (continuum)</a:t>
            </a:r>
            <a:endParaRPr lang="de-AT" sz="160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34" name="Line 27"/>
          <p:cNvSpPr>
            <a:spLocks noChangeShapeType="1"/>
          </p:cNvSpPr>
          <p:nvPr/>
        </p:nvSpPr>
        <p:spPr bwMode="auto">
          <a:xfrm>
            <a:off x="2743200" y="5562600"/>
            <a:ext cx="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5" name="Line 28"/>
          <p:cNvSpPr>
            <a:spLocks noChangeShapeType="1"/>
          </p:cNvSpPr>
          <p:nvPr/>
        </p:nvSpPr>
        <p:spPr bwMode="auto">
          <a:xfrm>
            <a:off x="4876800" y="5562600"/>
            <a:ext cx="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  <p:bldP spid="15" grpId="0" animBg="1"/>
      <p:bldP spid="22" grpId="0" animBg="1"/>
      <p:bldP spid="24" grpId="0" autoUpdateAnimBg="0"/>
      <p:bldP spid="29" grpId="0" animBg="1"/>
      <p:bldP spid="30" grpId="0" autoUpdateAnimBg="0"/>
      <p:bldP spid="32" grpId="0" autoUpdateAnimBg="0"/>
      <p:bldP spid="33" grpId="0" autoUpdateAnimBg="0"/>
      <p:bldP spid="34" grpId="0" animBg="1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Breakup</a:t>
            </a:r>
            <a:r>
              <a:rPr lang="de-AT" dirty="0" smtClean="0"/>
              <a:t> </a:t>
            </a:r>
            <a:r>
              <a:rPr lang="de-AT" dirty="0" err="1" smtClean="0"/>
              <a:t>contribution</a:t>
            </a:r>
            <a:r>
              <a:rPr lang="de-AT" dirty="0" smtClean="0"/>
              <a:t> </a:t>
            </a:r>
            <a:r>
              <a:rPr lang="de-AT" dirty="0" err="1" smtClean="0"/>
              <a:t>for</a:t>
            </a:r>
            <a:r>
              <a:rPr lang="de-AT" dirty="0" smtClean="0"/>
              <a:t> </a:t>
            </a:r>
            <a:r>
              <a:rPr lang="de-AT" dirty="0" smtClean="0"/>
              <a:t>d-</a:t>
            </a:r>
            <a:r>
              <a:rPr lang="de-AT" baseline="30000" dirty="0" smtClean="0"/>
              <a:t>6</a:t>
            </a:r>
            <a:r>
              <a:rPr lang="de-AT" dirty="0" smtClean="0"/>
              <a:t>Li</a:t>
            </a:r>
            <a:r>
              <a:rPr lang="de-AT" sz="2400" dirty="0" smtClean="0">
                <a:latin typeface="+mj-lt"/>
              </a:rPr>
              <a:t/>
            </a:r>
            <a:br>
              <a:rPr lang="de-AT" sz="2400" dirty="0" smtClean="0">
                <a:latin typeface="+mj-lt"/>
              </a:rPr>
            </a:br>
            <a:r>
              <a:rPr lang="de-AT" sz="2400" dirty="0" smtClean="0">
                <a:latin typeface="+mj-lt"/>
              </a:rPr>
              <a:t/>
            </a:r>
            <a:br>
              <a:rPr lang="de-AT" sz="2400" dirty="0" smtClean="0">
                <a:latin typeface="+mj-lt"/>
              </a:rPr>
            </a:br>
            <a:r>
              <a:rPr lang="de-AT" sz="2400" dirty="0" smtClean="0">
                <a:latin typeface="+mj-lt"/>
              </a:rPr>
              <a:t/>
            </a:r>
            <a:br>
              <a:rPr lang="de-AT" sz="2400" dirty="0" smtClean="0">
                <a:latin typeface="+mj-lt"/>
              </a:rPr>
            </a:br>
            <a:r>
              <a:rPr lang="de-AT" sz="2400" dirty="0" smtClean="0">
                <a:latin typeface="+mj-lt"/>
              </a:rPr>
              <a:t/>
            </a:r>
            <a:br>
              <a:rPr lang="de-AT" sz="2400" dirty="0" smtClean="0">
                <a:latin typeface="+mj-lt"/>
              </a:rPr>
            </a:br>
            <a:r>
              <a:rPr lang="de-AT" sz="2400" dirty="0" smtClean="0">
                <a:latin typeface="+mj-lt"/>
              </a:rPr>
              <a:t/>
            </a:r>
            <a:br>
              <a:rPr lang="de-AT" sz="2400" dirty="0" smtClean="0">
                <a:latin typeface="+mj-lt"/>
              </a:rPr>
            </a:b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H. Leeb </a:t>
            </a:r>
          </a:p>
          <a:p>
            <a:r>
              <a:rPr lang="de-DE" smtClean="0"/>
              <a:t>Atominstitut, TU Wien, Austria</a:t>
            </a:r>
            <a:endParaRPr lang="de-AT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NuPECC Meeting,Vienna, March 13, 2009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smtClean="0"/>
          </a:p>
          <a:p>
            <a:r>
              <a:rPr lang="de-DE" smtClean="0"/>
              <a:t> </a:t>
            </a:r>
            <a:fld id="{0F24F410-EF60-4DAA-BE0D-B9465B80A9A1}" type="slidenum">
              <a:rPr lang="de-AT" smtClean="0"/>
              <a:pPr/>
              <a:t>39</a:t>
            </a:fld>
            <a:endParaRPr lang="de-AT"/>
          </a:p>
        </p:txBody>
      </p:sp>
      <p:pic>
        <p:nvPicPr>
          <p:cNvPr id="7" name="Picture 3" descr="F:\ORNL06\DA_Dungel\data\OEPGTagung\reactioncros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00794" y="1466867"/>
            <a:ext cx="2820988" cy="2039938"/>
          </a:xfrm>
          <a:prstGeom prst="rect">
            <a:avLst/>
          </a:prstGeom>
          <a:noFill/>
        </p:spPr>
      </p:pic>
      <p:pic>
        <p:nvPicPr>
          <p:cNvPr id="8" name="Picture 4" descr="F:\ORNL06\DA_Dungel\data\OEPGTagung\nlpot.Li.12,0MeV.00.I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24194" y="1314467"/>
            <a:ext cx="2667000" cy="2189163"/>
          </a:xfrm>
          <a:prstGeom prst="rect">
            <a:avLst/>
          </a:prstGeom>
          <a:noFill/>
        </p:spPr>
      </p:pic>
      <p:pic>
        <p:nvPicPr>
          <p:cNvPr id="9" name="Picture 5" descr="F:\ORNL06\DA_Dungel\data\OEPGTagung\nlpot.Li.12,0MeV.00.Re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7194" y="1300180"/>
            <a:ext cx="2667000" cy="2185987"/>
          </a:xfrm>
          <a:prstGeom prst="rect">
            <a:avLst/>
          </a:prstGeom>
          <a:noFill/>
        </p:spPr>
      </p:pic>
      <p:pic>
        <p:nvPicPr>
          <p:cNvPr id="10" name="Picture 6" descr="F:\ORNL06\DA_Dungel\data\OEPGTagung\nlpot.Li.12,0MeV.05.Im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24194" y="3600467"/>
            <a:ext cx="2667000" cy="2187575"/>
          </a:xfrm>
          <a:prstGeom prst="rect">
            <a:avLst/>
          </a:prstGeom>
          <a:noFill/>
        </p:spPr>
      </p:pic>
      <p:pic>
        <p:nvPicPr>
          <p:cNvPr id="11" name="Picture 7" descr="F:\ORNL06\DA_Dungel\data\OEPGTagung\nlpot.Li.12,0MeV.05.Re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7194" y="3600467"/>
            <a:ext cx="2667000" cy="2189163"/>
          </a:xfrm>
          <a:prstGeom prst="rect">
            <a:avLst/>
          </a:prstGeom>
          <a:noFill/>
        </p:spPr>
      </p:pic>
      <p:pic>
        <p:nvPicPr>
          <p:cNvPr id="12" name="Picture 8" descr="F:\ORNL06\DA_Dungel\data\OEPGTagung\diffcross.14,7MeV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872194" y="3752867"/>
            <a:ext cx="3200400" cy="2105025"/>
          </a:xfrm>
          <a:prstGeom prst="rect">
            <a:avLst/>
          </a:prstGeom>
          <a:noFill/>
        </p:spPr>
      </p:pic>
      <p:sp>
        <p:nvSpPr>
          <p:cNvPr id="13" name="Interaktive Schaltfläche: Zurück oder Vorherige(r) 12">
            <a:hlinkClick r:id="rId9" action="ppaction://hlinksldjump" highlightClick="1"/>
          </p:cNvPr>
          <p:cNvSpPr/>
          <p:nvPr/>
        </p:nvSpPr>
        <p:spPr bwMode="auto">
          <a:xfrm>
            <a:off x="428596" y="5857892"/>
            <a:ext cx="285752" cy="285752"/>
          </a:xfrm>
          <a:prstGeom prst="actionButtonBackPrevio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 smtClean="0">
              <a:ln>
                <a:noFill/>
              </a:ln>
              <a:solidFill>
                <a:srgbClr val="000099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AT" sz="2400" b="0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AT" sz="2400" b="0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2096</Words>
  <Application>Microsoft PowerPoint</Application>
  <PresentationFormat>Bildschirmpräsentation (4:3)</PresentationFormat>
  <Paragraphs>610</Paragraphs>
  <Slides>39</Slides>
  <Notes>39</Notes>
  <HiddenSlides>0</HiddenSlides>
  <MMClips>0</MMClips>
  <ScaleCrop>false</ScaleCrop>
  <HeadingPairs>
    <vt:vector size="6" baseType="variant">
      <vt:variant>
        <vt:lpstr>Design</vt:lpstr>
      </vt:variant>
      <vt:variant>
        <vt:i4>1</vt:i4>
      </vt:variant>
      <vt:variant>
        <vt:lpstr>Eingebettete OLE-Server</vt:lpstr>
      </vt:variant>
      <vt:variant>
        <vt:i4>3</vt:i4>
      </vt:variant>
      <vt:variant>
        <vt:lpstr>Folientitel</vt:lpstr>
      </vt:variant>
      <vt:variant>
        <vt:i4>39</vt:i4>
      </vt:variant>
    </vt:vector>
  </HeadingPairs>
  <TitlesOfParts>
    <vt:vector size="43" baseType="lpstr">
      <vt:lpstr>Standarddesign</vt:lpstr>
      <vt:lpstr>Formel</vt:lpstr>
      <vt:lpstr>Microsoft Formel-Editor 3.0</vt:lpstr>
      <vt:lpstr>MathType 5.0 Equation</vt:lpstr>
      <vt:lpstr>Basics of Nuclear Data Evaluation and Perspectives</vt:lpstr>
      <vt:lpstr>Research at the Atominstitut</vt:lpstr>
      <vt:lpstr>Nuclear and Particle Physics</vt:lpstr>
      <vt:lpstr>Nuclear Physics and Nuclear Astrophysics</vt:lpstr>
      <vt:lpstr>Experiments: n-induced cross sections</vt:lpstr>
      <vt:lpstr>(n,xn) cross sections</vt:lpstr>
      <vt:lpstr>(n,g) cross sections</vt:lpstr>
      <vt:lpstr>Experimental uncertainties at n_TOF</vt:lpstr>
      <vt:lpstr>Nuclear data evaluation</vt:lpstr>
      <vt:lpstr>Concept of evaluation</vt:lpstr>
      <vt:lpstr>Bayes theorem</vt:lpstr>
      <vt:lpstr>Evaluations done by Vonach et al.</vt:lpstr>
      <vt:lpstr>Developments in nuclear data evaluation</vt:lpstr>
      <vt:lpstr>Bayes theorem</vt:lpstr>
      <vt:lpstr>Choice of proper prior</vt:lpstr>
      <vt:lpstr>Sources of uncertainties</vt:lpstr>
      <vt:lpstr>Parameter uncertainties</vt:lpstr>
      <vt:lpstr>Theory for prior determination</vt:lpstr>
      <vt:lpstr>Admissible range of parameters</vt:lpstr>
      <vt:lpstr>Parameter distribution for 208Pb</vt:lpstr>
      <vt:lpstr>Parameter uncertainties-correlations</vt:lpstr>
      <vt:lpstr>Model defects - scaling</vt:lpstr>
      <vt:lpstr>Model defects of 16O</vt:lpstr>
      <vt:lpstr>Correlations - comparison</vt:lpstr>
      <vt:lpstr>Importance of uncertainty information</vt:lpstr>
      <vt:lpstr>Implementation of Bayesian statistics</vt:lpstr>
      <vt:lpstr>Bayesian update procedure</vt:lpstr>
      <vt:lpstr>Problem of update procedure</vt:lpstr>
      <vt:lpstr>Origin of the difference</vt:lpstr>
      <vt:lpstr>Evaluation Tool GENEUS</vt:lpstr>
      <vt:lpstr>Perspectives</vt:lpstr>
      <vt:lpstr>Topics in nuclear reactions</vt:lpstr>
      <vt:lpstr>Summary and outlook</vt:lpstr>
      <vt:lpstr>Working Group</vt:lpstr>
      <vt:lpstr>Folie 35</vt:lpstr>
      <vt:lpstr>a-nucleus optical potentials</vt:lpstr>
      <vt:lpstr>Imaginary a-nucleus optical potentials</vt:lpstr>
      <vt:lpstr>Reactions of weakly bound nuclei</vt:lpstr>
      <vt:lpstr>Breakup contribution for d-6Li     </vt:lpstr>
    </vt:vector>
  </TitlesOfParts>
  <Company>Atominstitut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Helmut Leeb</dc:creator>
  <cp:lastModifiedBy>Windows-Benutzer</cp:lastModifiedBy>
  <cp:revision>237</cp:revision>
  <dcterms:created xsi:type="dcterms:W3CDTF">2006-01-09T20:37:21Z</dcterms:created>
  <dcterms:modified xsi:type="dcterms:W3CDTF">2009-03-13T23:27:59Z</dcterms:modified>
</cp:coreProperties>
</file>