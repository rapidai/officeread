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gif" ContentType="image/gif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81" r:id="rId1"/>
  </p:sldMasterIdLst>
  <p:notesMasterIdLst>
    <p:notesMasterId r:id="rId10"/>
  </p:notesMasterIdLst>
  <p:handoutMasterIdLst>
    <p:handoutMasterId r:id="rId11"/>
  </p:handoutMasterIdLst>
  <p:sldIdLst>
    <p:sldId id="338" r:id="rId2"/>
    <p:sldId id="368" r:id="rId3"/>
    <p:sldId id="373" r:id="rId4"/>
    <p:sldId id="370" r:id="rId5"/>
    <p:sldId id="371" r:id="rId6"/>
    <p:sldId id="366" r:id="rId7"/>
    <p:sldId id="372" r:id="rId8"/>
    <p:sldId id="369" r:id="rId9"/>
  </p:sldIdLst>
  <p:sldSz cx="9144000" cy="6858000" type="screen4x3"/>
  <p:notesSz cx="7010400" cy="9296400"/>
  <p:embeddedFontLst>
    <p:embeddedFont>
      <p:font typeface="Franklin Gothic Heavy" pitchFamily="34" charset="0"/>
      <p:regular r:id="rId12"/>
      <p:italic r:id="rId13"/>
    </p:embeddedFont>
    <p:embeddedFont>
      <p:font typeface="Franklin Gothic Medium Cond" pitchFamily="34" charset="0"/>
      <p:regular r:id="rId14"/>
    </p:embeddedFont>
    <p:embeddedFont>
      <p:font typeface="Franklin Gothic Demi" pitchFamily="34" charset="0"/>
      <p:regular r:id="rId15"/>
      <p:italic r:id="rId16"/>
    </p:embeddedFont>
    <p:embeddedFont>
      <p:font typeface="Franklin Gothic Medium" pitchFamily="34" charset="0"/>
      <p:regular r:id="rId17"/>
      <p:italic r:id="rId18"/>
    </p:embeddedFont>
    <p:embeddedFont>
      <p:font typeface="Franklin Gothic Book" pitchFamily="34" charset="0"/>
      <p:regular r:id="rId19"/>
      <p:italic r:id="rId20"/>
    </p:embeddedFont>
  </p:embeddedFontLst>
  <p:custDataLst>
    <p:tags r:id="rId2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724"/>
    <a:srgbClr val="8D8B47"/>
    <a:srgbClr val="807F41"/>
    <a:srgbClr val="78773C"/>
    <a:srgbClr val="EED886"/>
    <a:srgbClr val="F4F3BA"/>
    <a:srgbClr val="F1EFA7"/>
    <a:srgbClr val="696835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330" autoAdjust="0"/>
    <p:restoredTop sz="94724" autoAdjust="0"/>
  </p:normalViewPr>
  <p:slideViewPr>
    <p:cSldViewPr>
      <p:cViewPr varScale="1">
        <p:scale>
          <a:sx n="98" d="100"/>
          <a:sy n="98" d="100"/>
        </p:scale>
        <p:origin x="-90" y="-210"/>
      </p:cViewPr>
      <p:guideLst>
        <p:guide orient="horz" pos="2160"/>
        <p:guide pos="575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1848" y="-102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t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r>
              <a:rPr lang="en-US"/>
              <a:t>FOR OFFICIAL USE ONLY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09A72B6A-11C8-4DB5-9A2C-A699F194722C}" type="datetime1">
              <a:rPr lang="en-US"/>
              <a:pPr/>
              <a:t>11/7/2008</a:t>
            </a:fld>
            <a:endParaRPr lang="en-US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b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r>
              <a:rPr lang="en-US"/>
              <a:t>APPROPRIATE CLASSIFICATION MARKINGS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C06E1933-F17C-4A0E-AF19-EA74CEED947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t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r>
              <a:rPr lang="en-US"/>
              <a:t>FOR OFFICIAL USE ONLY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6DA8706A-E2E8-4217-B243-D37FF297201D}" type="datetime1">
              <a:rPr lang="en-US"/>
              <a:pPr/>
              <a:t>11/7/2008</a:t>
            </a:fld>
            <a:endParaRPr lang="en-US"/>
          </a:p>
        </p:txBody>
      </p:sp>
      <p:sp>
        <p:nvSpPr>
          <p:cNvPr id="76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700088"/>
            <a:ext cx="4646613" cy="34845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3263" y="4418013"/>
            <a:ext cx="560387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b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r>
              <a:rPr lang="en-US"/>
              <a:t>APPROPRIATE CLASSIFICATION MARKINGS</a:t>
            </a:r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17" tIns="46460" rIns="92917" bIns="46460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56023D4C-9BC7-4E76-BB84-ADF0A816B3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FOR OFFICIAL USE ONLY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7DE397-4DB7-4C42-8D1C-3B0C0AC4D149}" type="slidenum">
              <a:rPr lang="en-US"/>
              <a:pPr/>
              <a:t>1</a:t>
            </a:fld>
            <a:endParaRPr 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8500"/>
            <a:ext cx="4648200" cy="3486150"/>
          </a:xfrm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FOR OFFICIAL USE ONLY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0A6D71-5484-44AE-8181-8D007DC5E645}" type="slidenum">
              <a:rPr lang="en-US"/>
              <a:pPr/>
              <a:t>2</a:t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95972" name="Rectangle 4"/>
          <p:cNvSpPr>
            <a:spLocks noChangeArrowheads="1"/>
          </p:cNvSpPr>
          <p:nvPr/>
        </p:nvSpPr>
        <p:spPr bwMode="auto">
          <a:xfrm>
            <a:off x="855663" y="4570413"/>
            <a:ext cx="560387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917" tIns="46460" rIns="92917" bIns="46460"/>
          <a:lstStyle/>
          <a:p>
            <a:pPr lvl="1">
              <a:spcBef>
                <a:spcPct val="30000"/>
              </a:spcBef>
            </a:pP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FOR OFFICIAL USE ONLY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BC818B-FE1A-4111-A581-29D80E0CEFFA}" type="slidenum">
              <a:rPr lang="en-US"/>
              <a:pPr/>
              <a:t>3</a:t>
            </a:fld>
            <a:endParaRPr lang="en-US"/>
          </a:p>
        </p:txBody>
      </p:sp>
      <p:sp>
        <p:nvSpPr>
          <p:cNvPr id="59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5025" cy="3484562"/>
          </a:xfrm>
          <a:ln/>
        </p:spPr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FOR OFFICIAL USE ONLY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5BAA83-6720-48B2-A07A-223CC8C7E4C9}" type="slidenum">
              <a:rPr lang="en-US"/>
              <a:pPr/>
              <a:t>4</a:t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00068" name="Rectangle 4"/>
          <p:cNvSpPr>
            <a:spLocks noChangeArrowheads="1"/>
          </p:cNvSpPr>
          <p:nvPr/>
        </p:nvSpPr>
        <p:spPr bwMode="auto">
          <a:xfrm>
            <a:off x="855663" y="4570413"/>
            <a:ext cx="560387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917" tIns="46460" rIns="92917" bIns="46460"/>
          <a:lstStyle/>
          <a:p>
            <a:pPr lvl="1">
              <a:spcBef>
                <a:spcPct val="30000"/>
              </a:spcBef>
            </a:pP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FOR OFFICIAL USE ONLY</a:t>
            </a:r>
          </a:p>
        </p:txBody>
      </p:sp>
      <p:sp>
        <p:nvSpPr>
          <p:cNvPr id="133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A4CC4C-91B7-4305-9F15-1455E9A8E18A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33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5025" cy="3484562"/>
          </a:xfrm>
          <a:ln/>
        </p:spPr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FOR OFFICIAL USE ONLY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BC818B-FE1A-4111-A581-29D80E0CEFFA}" type="slidenum">
              <a:rPr lang="en-US"/>
              <a:pPr/>
              <a:t>6</a:t>
            </a:fld>
            <a:endParaRPr lang="en-US"/>
          </a:p>
        </p:txBody>
      </p:sp>
      <p:sp>
        <p:nvSpPr>
          <p:cNvPr id="59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5025" cy="3484562"/>
          </a:xfrm>
          <a:ln/>
        </p:spPr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FOR OFFICIAL USE ONLY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BC818B-FE1A-4111-A581-29D80E0CEFFA}" type="slidenum">
              <a:rPr lang="en-US"/>
              <a:pPr/>
              <a:t>7</a:t>
            </a:fld>
            <a:endParaRPr lang="en-US"/>
          </a:p>
        </p:txBody>
      </p:sp>
      <p:sp>
        <p:nvSpPr>
          <p:cNvPr id="59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5025" cy="3484562"/>
          </a:xfrm>
          <a:ln/>
        </p:spPr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FOR OFFICIAL USE ONLY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E400B3-AAD0-4F8D-B4C7-F2CF63811746}" type="slidenum">
              <a:rPr lang="en-US"/>
              <a:pPr/>
              <a:t>8</a:t>
            </a:fld>
            <a:endParaRPr lang="en-US"/>
          </a:p>
        </p:txBody>
      </p:sp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2209800"/>
          </a:xfrm>
          <a:ln/>
        </p:spPr>
        <p:txBody>
          <a:bodyPr/>
          <a:lstStyle>
            <a:lvl1pPr algn="l">
              <a:lnSpc>
                <a:spcPct val="100000"/>
              </a:lnSpc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181600"/>
            <a:ext cx="5486400" cy="1676400"/>
          </a:xfrm>
        </p:spPr>
        <p:txBody>
          <a:bodyPr tIns="182880" rIns="182880"/>
          <a:lstStyle>
            <a:lvl1pPr algn="l">
              <a:defRPr sz="3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2209800"/>
            <a:ext cx="9144000" cy="2971800"/>
          </a:xfrm>
          <a:prstGeom prst="rect">
            <a:avLst/>
          </a:prstGeom>
          <a:solidFill>
            <a:schemeClr val="tx1">
              <a:alpha val="70000"/>
            </a:schemeClr>
          </a:solidFill>
          <a:effectLst>
            <a:innerShdw blurRad="114300">
              <a:prstClr val="black"/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52400" y="2285999"/>
            <a:ext cx="3429000" cy="280554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 userDrawn="1"/>
        </p:nvSpPr>
        <p:spPr>
          <a:xfrm>
            <a:off x="3733800" y="2285999"/>
            <a:ext cx="3429000" cy="280554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315200" y="2286000"/>
            <a:ext cx="1676400" cy="13716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315200" y="3733800"/>
            <a:ext cx="1676400" cy="137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34"/>
          <p:cNvSpPr>
            <a:spLocks noChangeArrowheads="1"/>
          </p:cNvSpPr>
          <p:nvPr userDrawn="1"/>
        </p:nvSpPr>
        <p:spPr bwMode="auto">
          <a:xfrm>
            <a:off x="2514600" y="0"/>
            <a:ext cx="464820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16" name="Text Box 1038"/>
          <p:cNvSpPr txBox="1">
            <a:spLocks noChangeArrowheads="1"/>
          </p:cNvSpPr>
          <p:nvPr userDrawn="1"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8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21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35113"/>
            <a:ext cx="4419600" cy="639762"/>
          </a:xfrm>
        </p:spPr>
        <p:txBody>
          <a:bodyPr anchor="b"/>
          <a:lstStyle>
            <a:lvl1pPr marL="0" indent="0">
              <a:buNone/>
              <a:defRPr sz="2000" b="0">
                <a:latin typeface="Franklin Gothic Dem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00" y="2174875"/>
            <a:ext cx="44196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35113"/>
            <a:ext cx="4343400" cy="639762"/>
          </a:xfrm>
        </p:spPr>
        <p:txBody>
          <a:bodyPr anchor="b"/>
          <a:lstStyle>
            <a:lvl1pPr marL="0" indent="0">
              <a:buNone/>
              <a:defRPr sz="2000" b="0">
                <a:latin typeface="Franklin Gothic Dem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74875"/>
            <a:ext cx="43434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/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2800" y="1447800"/>
            <a:ext cx="3657600" cy="5093208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chemeClr val="accent1">
                    <a:lumMod val="75000"/>
                  </a:schemeClr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495800" y="1447800"/>
            <a:ext cx="3657600" cy="5093208"/>
          </a:xfrm>
          <a:gradFill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rgbClr val="008000"/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965200" y="2057400"/>
            <a:ext cx="3352800" cy="18288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56555" y="1447800"/>
            <a:ext cx="337009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kern="1200" dirty="0" smtClean="0">
                <a:solidFill>
                  <a:srgbClr val="000066"/>
                </a:solidFill>
                <a:latin typeface="Franklin Gothic Heavy" pitchFamily="34" charset="0"/>
                <a:ea typeface="+mn-ea"/>
                <a:cs typeface="+mn-cs"/>
              </a:rPr>
              <a:t>MISSION</a:t>
            </a:r>
          </a:p>
        </p:txBody>
      </p:sp>
      <p:sp>
        <p:nvSpPr>
          <p:cNvPr id="17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648200" y="2057400"/>
            <a:ext cx="3352800" cy="18288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566234" y="1447800"/>
            <a:ext cx="351673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kern="1200" dirty="0" smtClean="0">
                <a:solidFill>
                  <a:schemeClr val="accent5">
                    <a:lumMod val="50000"/>
                  </a:schemeClr>
                </a:solidFill>
                <a:latin typeface="Franklin Gothic Heavy" pitchFamily="34" charset="0"/>
                <a:ea typeface="+mn-ea"/>
                <a:cs typeface="+mn-cs"/>
              </a:rPr>
              <a:t>VISION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371600"/>
            <a:ext cx="9144000" cy="518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uxtonEarth_FullP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" y="283"/>
            <a:ext cx="9143244" cy="6857434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620000" cy="137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1828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 descr="Dept of Commerce Seal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17475" y="6588125"/>
            <a:ext cx="236538" cy="234950"/>
          </a:xfrm>
          <a:prstGeom prst="rect">
            <a:avLst/>
          </a:prstGeom>
          <a:noFill/>
        </p:spPr>
      </p:pic>
      <p:pic>
        <p:nvPicPr>
          <p:cNvPr id="1032" name="Picture 8" descr="NOAA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46075" y="6591300"/>
            <a:ext cx="228600" cy="228600"/>
          </a:xfrm>
          <a:prstGeom prst="rect">
            <a:avLst/>
          </a:prstGeom>
          <a:noFill/>
        </p:spPr>
      </p:pic>
      <p:sp>
        <p:nvSpPr>
          <p:cNvPr id="11" name="Rectangle 15"/>
          <p:cNvSpPr>
            <a:spLocks noChangeArrowheads="1"/>
          </p:cNvSpPr>
          <p:nvPr userDrawn="1"/>
        </p:nvSpPr>
        <p:spPr bwMode="auto">
          <a:xfrm>
            <a:off x="3124200" y="6526213"/>
            <a:ext cx="46482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13" name="Text Box 24"/>
          <p:cNvSpPr txBox="1">
            <a:spLocks noChangeArrowheads="1"/>
          </p:cNvSpPr>
          <p:nvPr userDrawn="1"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i="1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90" r:id="rId8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effectLst/>
          <a:latin typeface="Franklin Gothic Demi" pitchFamily="34" charset="0"/>
          <a:ea typeface="+mj-ea"/>
          <a:cs typeface="+mj-cs"/>
        </a:defRPr>
      </a:lvl1pPr>
      <a:lvl2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2pPr>
      <a:lvl3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3pPr>
      <a:lvl4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4pPr>
      <a:lvl5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5pPr>
      <a:lvl6pPr marL="4572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6pPr>
      <a:lvl7pPr marL="9144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7pPr>
      <a:lvl8pPr marL="13716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8pPr>
      <a:lvl9pPr marL="18288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75000"/>
        </a:spcBef>
        <a:spcAft>
          <a:spcPct val="0"/>
        </a:spcAft>
        <a:defRPr sz="2800">
          <a:solidFill>
            <a:schemeClr val="accent1">
              <a:lumMod val="50000"/>
            </a:schemeClr>
          </a:solidFill>
          <a:latin typeface="Franklin Gothic Medium" pitchFamily="34" charset="0"/>
          <a:ea typeface="+mn-ea"/>
          <a:cs typeface="+mn-cs"/>
        </a:defRPr>
      </a:lvl1pPr>
      <a:lvl2pPr marL="514350" indent="-285750" algn="l" rtl="0" eaLnBrk="1" fontAlgn="base" hangingPunct="1">
        <a:spcBef>
          <a:spcPct val="5000"/>
        </a:spcBef>
        <a:spcAft>
          <a:spcPct val="0"/>
        </a:spcAft>
        <a:buFontTx/>
        <a:buBlip>
          <a:blip r:embed="rId13"/>
        </a:buBlip>
        <a:defRPr sz="20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2pPr>
      <a:lvl3pPr marL="9144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4"/>
        </a:buBlip>
        <a:defRPr sz="18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3pPr>
      <a:lvl4pPr marL="12573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5"/>
        </a:buBlip>
        <a:defRPr sz="16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4pPr>
      <a:lvl5pPr marL="1600200" indent="-228600" algn="l" rtl="0" eaLnBrk="1" fontAlgn="base" hangingPunct="1">
        <a:spcBef>
          <a:spcPct val="5000"/>
        </a:spcBef>
        <a:spcAft>
          <a:spcPct val="0"/>
        </a:spcAft>
        <a:buChar char="»"/>
        <a:defRPr sz="1600">
          <a:solidFill>
            <a:schemeClr val="accent2"/>
          </a:solidFill>
          <a:latin typeface="Franklin Gothic Medium Cond" pitchFamily="34" charset="0"/>
        </a:defRPr>
      </a:lvl5pPr>
      <a:lvl6pPr marL="20574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6pPr>
      <a:lvl7pPr marL="25146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7pPr>
      <a:lvl8pPr marL="29718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8pPr>
      <a:lvl9pPr marL="34290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12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png"/><Relationship Id="rId10" Type="http://schemas.openxmlformats.org/officeDocument/2006/relationships/image" Target="../media/image19.jpe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91" name="Rectangle 19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Office of Space Commercialization</a:t>
            </a:r>
            <a:endParaRPr lang="en-US" dirty="0"/>
          </a:p>
        </p:txBody>
      </p:sp>
      <p:sp>
        <p:nvSpPr>
          <p:cNvPr id="515092" name="Rectangle 20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Overview and Accomplishments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OSC Background/</a:t>
            </a:r>
            <a:br>
              <a:rPr lang="en-US" dirty="0" smtClean="0"/>
            </a:br>
            <a:r>
              <a:rPr lang="en-US" dirty="0" smtClean="0"/>
              <a:t>Mission Areas</a:t>
            </a:r>
            <a:endParaRPr lang="en-US" dirty="0"/>
          </a:p>
        </p:txBody>
      </p:sp>
      <p:sp>
        <p:nvSpPr>
          <p:cNvPr id="5949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209800"/>
            <a:ext cx="8534400" cy="4343400"/>
          </a:xfrm>
        </p:spPr>
        <p:txBody>
          <a:bodyPr/>
          <a:lstStyle/>
          <a:p>
            <a:r>
              <a:rPr lang="en-US" dirty="0" smtClean="0"/>
              <a:t>Established in 1988</a:t>
            </a:r>
          </a:p>
          <a:p>
            <a:pPr lvl="1"/>
            <a:r>
              <a:rPr lang="en-US" dirty="0" smtClean="0"/>
              <a:t>Initially within the Office of the Secretary</a:t>
            </a:r>
          </a:p>
          <a:p>
            <a:pPr lvl="1"/>
            <a:r>
              <a:rPr lang="en-US" dirty="0" smtClean="0"/>
              <a:t>Funding transferred to NOAA/NESDIS in 2004</a:t>
            </a:r>
          </a:p>
          <a:p>
            <a:r>
              <a:rPr lang="en-US" dirty="0" smtClean="0"/>
              <a:t>Mission Areas </a:t>
            </a:r>
          </a:p>
          <a:p>
            <a:pPr lvl="1"/>
            <a:r>
              <a:rPr lang="en-US" dirty="0" smtClean="0"/>
              <a:t>National Space Policy Stewardship (DOC and Industry)</a:t>
            </a:r>
          </a:p>
          <a:p>
            <a:pPr lvl="2"/>
            <a:r>
              <a:rPr lang="en-US" dirty="0" smtClean="0"/>
              <a:t>Commercial Remote Sensing (CRS)</a:t>
            </a:r>
          </a:p>
          <a:p>
            <a:pPr lvl="2"/>
            <a:r>
              <a:rPr lang="en-US" dirty="0" smtClean="0"/>
              <a:t>Positioning, Navigation and Timing (PNT)</a:t>
            </a:r>
          </a:p>
          <a:p>
            <a:pPr lvl="2"/>
            <a:r>
              <a:rPr lang="en-US" dirty="0" smtClean="0"/>
              <a:t>Space Transportation (w/FAA)</a:t>
            </a:r>
          </a:p>
          <a:p>
            <a:pPr lvl="1"/>
            <a:r>
              <a:rPr lang="en-US" dirty="0" smtClean="0"/>
              <a:t>Entrepreneurial “New Space” (Operational U.S. civil requirements)</a:t>
            </a:r>
          </a:p>
          <a:p>
            <a:pPr lvl="1"/>
            <a:r>
              <a:rPr lang="en-US" dirty="0" smtClean="0"/>
              <a:t>Export Control Policy Reviews</a:t>
            </a:r>
          </a:p>
          <a:p>
            <a:pPr lvl="1"/>
            <a:r>
              <a:rPr lang="en-US" dirty="0" smtClean="0"/>
              <a:t>USG Lead Negotiator for GPS-Galileo Trade Issues</a:t>
            </a:r>
          </a:p>
          <a:p>
            <a:pPr lvl="1"/>
            <a:r>
              <a:rPr lang="en-US" dirty="0" smtClean="0"/>
              <a:t>Long-Term Office Sustainability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609600" y="1561528"/>
            <a:ext cx="7927975" cy="572072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91440" rIns="0" bIns="9144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80000"/>
              </a:spcBef>
            </a:pPr>
            <a:r>
              <a:rPr lang="en-US" sz="2400" dirty="0">
                <a:latin typeface="Franklin Gothic Demi" pitchFamily="34" charset="0"/>
              </a:rPr>
              <a:t>Vision: A Robust and Responsive U.S. </a:t>
            </a:r>
            <a:r>
              <a:rPr lang="en-US" sz="2400" dirty="0" smtClean="0">
                <a:latin typeface="Franklin Gothic Demi" pitchFamily="34" charset="0"/>
              </a:rPr>
              <a:t>Industry</a:t>
            </a:r>
            <a:endParaRPr lang="en-US" sz="2400" dirty="0">
              <a:latin typeface="Franklin Gothic Demi" pitchFamily="34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OSC Staff and Responsibilities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90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Ed Morris, SES</a:t>
            </a:r>
          </a:p>
          <a:p>
            <a:pPr lvl="1"/>
            <a:r>
              <a:rPr lang="en-US" dirty="0" smtClean="0"/>
              <a:t>Office Director</a:t>
            </a:r>
          </a:p>
          <a:p>
            <a:pPr lvl="1"/>
            <a:r>
              <a:rPr lang="en-US" dirty="0" smtClean="0"/>
              <a:t>Jason Kim, Senior Policy Analyst</a:t>
            </a:r>
          </a:p>
          <a:p>
            <a:pPr lvl="2"/>
            <a:r>
              <a:rPr lang="en-US" dirty="0" smtClean="0"/>
              <a:t>Positioning, Navigation, and Timing (PNT)</a:t>
            </a:r>
          </a:p>
          <a:p>
            <a:pPr lvl="2"/>
            <a:r>
              <a:rPr lang="en-US" dirty="0" smtClean="0"/>
              <a:t>PNT EXCOM Staff Member</a:t>
            </a:r>
          </a:p>
          <a:p>
            <a:pPr lvl="1"/>
            <a:r>
              <a:rPr lang="en-US" dirty="0" smtClean="0"/>
              <a:t>Eve Douglas, Senior Program Analyst</a:t>
            </a:r>
          </a:p>
          <a:p>
            <a:pPr lvl="2"/>
            <a:r>
              <a:rPr lang="en-US" dirty="0" smtClean="0"/>
              <a:t>Commercial Remote Sensing (CRS)</a:t>
            </a:r>
          </a:p>
          <a:p>
            <a:pPr lvl="2"/>
            <a:r>
              <a:rPr lang="en-US" dirty="0" smtClean="0"/>
              <a:t>NOAA Resource Allocation Program Manager</a:t>
            </a:r>
          </a:p>
          <a:p>
            <a:pPr lvl="1"/>
            <a:r>
              <a:rPr lang="en-US" dirty="0" smtClean="0"/>
              <a:t>Michael </a:t>
            </a:r>
            <a:r>
              <a:rPr lang="en-US" dirty="0" err="1" smtClean="0"/>
              <a:t>Beavin</a:t>
            </a:r>
            <a:r>
              <a:rPr lang="en-US" dirty="0" smtClean="0"/>
              <a:t>, Senior Program Analyst</a:t>
            </a:r>
          </a:p>
          <a:p>
            <a:pPr lvl="2"/>
            <a:r>
              <a:rPr lang="en-US" dirty="0" smtClean="0"/>
              <a:t>Entrepreneurial “New Space”</a:t>
            </a:r>
          </a:p>
          <a:p>
            <a:pPr lvl="2"/>
            <a:r>
              <a:rPr lang="en-US" dirty="0" smtClean="0"/>
              <a:t>Space Transportation</a:t>
            </a:r>
          </a:p>
          <a:p>
            <a:pPr lvl="1"/>
            <a:r>
              <a:rPr lang="en-US" dirty="0" smtClean="0"/>
              <a:t>Joyce </a:t>
            </a:r>
            <a:r>
              <a:rPr lang="en-US" dirty="0" err="1" smtClean="0"/>
              <a:t>Voyles</a:t>
            </a:r>
            <a:r>
              <a:rPr lang="en-US" dirty="0" smtClean="0"/>
              <a:t>, Program Support Specialist</a:t>
            </a:r>
          </a:p>
          <a:p>
            <a:pPr lvl="2"/>
            <a:r>
              <a:rPr lang="en-US" dirty="0" smtClean="0"/>
              <a:t>Office Manager</a:t>
            </a:r>
          </a:p>
          <a:p>
            <a:pPr lvl="2"/>
            <a:endParaRPr lang="en-US" dirty="0"/>
          </a:p>
        </p:txBody>
      </p:sp>
      <p:sp>
        <p:nvSpPr>
          <p:cNvPr id="590854" name="AutoShape 6"/>
          <p:cNvSpPr>
            <a:spLocks noChangeArrowheads="1"/>
          </p:cNvSpPr>
          <p:nvPr/>
        </p:nvSpPr>
        <p:spPr bwMode="auto">
          <a:xfrm>
            <a:off x="457200" y="5867400"/>
            <a:ext cx="8204200" cy="55164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91440" rIns="0" bIns="9144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dirty="0" smtClean="0">
                <a:latin typeface="Franklin Gothic Demi" pitchFamily="34" charset="0"/>
              </a:rPr>
              <a:t>OSC Staff Aligned to meet Stakeholder Requirements</a:t>
            </a:r>
            <a:endParaRPr lang="en-US" sz="2400" dirty="0">
              <a:latin typeface="Franklin Gothic Demi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PNT EXCOM Support  </a:t>
            </a:r>
            <a:endParaRPr lang="en-US" dirty="0"/>
          </a:p>
        </p:txBody>
      </p:sp>
      <p:sp>
        <p:nvSpPr>
          <p:cNvPr id="59904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Assigned to support National Space-Based Positioning, Navigation, and Timing (PNT) Executive Committee (EXCOM) staff in 2005 </a:t>
            </a:r>
          </a:p>
          <a:p>
            <a:pPr lvl="1"/>
            <a:r>
              <a:rPr lang="en-US" dirty="0" smtClean="0"/>
              <a:t>National GPS management system (2004 PNT National Policy)</a:t>
            </a:r>
          </a:p>
          <a:p>
            <a:pPr lvl="1"/>
            <a:r>
              <a:rPr lang="en-US" dirty="0" smtClean="0"/>
              <a:t>OSC provides facilities, IT services, and administrative support</a:t>
            </a:r>
          </a:p>
          <a:p>
            <a:pPr lvl="1"/>
            <a:r>
              <a:rPr lang="en-US" dirty="0" smtClean="0"/>
              <a:t>OSC authorities used for EXCOM staff funding transfers and contracts</a:t>
            </a:r>
          </a:p>
          <a:p>
            <a:endParaRPr lang="en-US" dirty="0"/>
          </a:p>
        </p:txBody>
      </p:sp>
      <p:sp>
        <p:nvSpPr>
          <p:cNvPr id="599044" name="AutoShape 4"/>
          <p:cNvSpPr>
            <a:spLocks noChangeArrowheads="1"/>
          </p:cNvSpPr>
          <p:nvPr/>
        </p:nvSpPr>
        <p:spPr bwMode="auto">
          <a:xfrm>
            <a:off x="533400" y="5791200"/>
            <a:ext cx="8205788" cy="572072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91440" rIns="0" bIns="9144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80000"/>
              </a:spcBef>
            </a:pPr>
            <a:r>
              <a:rPr lang="en-US" sz="2400" dirty="0" smtClean="0">
                <a:latin typeface="Franklin Gothic Demi" pitchFamily="34" charset="0"/>
              </a:rPr>
              <a:t>OSC provides “Tenant” support to PNT EXCOM Staff</a:t>
            </a:r>
            <a:endParaRPr lang="en-US" sz="2400" dirty="0">
              <a:latin typeface="Franklin Gothic Demi" pitchFamily="34" charset="0"/>
            </a:endParaRPr>
          </a:p>
        </p:txBody>
      </p:sp>
      <p:grpSp>
        <p:nvGrpSpPr>
          <p:cNvPr id="599048" name="Group 8"/>
          <p:cNvGrpSpPr>
            <a:grpSpLocks/>
          </p:cNvGrpSpPr>
          <p:nvPr/>
        </p:nvGrpSpPr>
        <p:grpSpPr bwMode="auto">
          <a:xfrm>
            <a:off x="1828800" y="4191000"/>
            <a:ext cx="5486400" cy="1463675"/>
            <a:chOff x="1152" y="1680"/>
            <a:chExt cx="3456" cy="922"/>
          </a:xfrm>
        </p:grpSpPr>
        <p:sp>
          <p:nvSpPr>
            <p:cNvPr id="599049" name="Rectangle 9"/>
            <p:cNvSpPr>
              <a:spLocks noChangeArrowheads="1"/>
            </p:cNvSpPr>
            <p:nvPr/>
          </p:nvSpPr>
          <p:spPr bwMode="auto">
            <a:xfrm>
              <a:off x="1152" y="1978"/>
              <a:ext cx="3456" cy="62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>
                <a:latin typeface="Franklin Gothic Demi" pitchFamily="34" charset="0"/>
              </a:endParaRPr>
            </a:p>
          </p:txBody>
        </p:sp>
        <p:sp>
          <p:nvSpPr>
            <p:cNvPr id="599050" name="Rectangle 10"/>
            <p:cNvSpPr>
              <a:spLocks noChangeArrowheads="1"/>
            </p:cNvSpPr>
            <p:nvPr/>
          </p:nvSpPr>
          <p:spPr bwMode="auto">
            <a:xfrm>
              <a:off x="1296" y="2122"/>
              <a:ext cx="1296" cy="38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Franklin Gothic Demi" pitchFamily="34" charset="0"/>
                </a:rPr>
                <a:t>OSC Staff</a:t>
              </a:r>
            </a:p>
          </p:txBody>
        </p:sp>
        <p:sp>
          <p:nvSpPr>
            <p:cNvPr id="599051" name="Text Box 11"/>
            <p:cNvSpPr txBox="1">
              <a:spLocks noChangeArrowheads="1"/>
            </p:cNvSpPr>
            <p:nvPr/>
          </p:nvSpPr>
          <p:spPr bwMode="auto">
            <a:xfrm>
              <a:off x="1840" y="1680"/>
              <a:ext cx="20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Franklin Gothic Demi" pitchFamily="34" charset="0"/>
                </a:rPr>
                <a:t>OSC Office Location </a:t>
              </a:r>
              <a:r>
                <a:rPr lang="en-US" sz="2000" dirty="0" smtClean="0">
                  <a:solidFill>
                    <a:schemeClr val="bg1"/>
                  </a:solidFill>
                  <a:latin typeface="Franklin Gothic Demi" pitchFamily="34" charset="0"/>
                </a:rPr>
                <a:t>(HCHB)</a:t>
              </a:r>
              <a:endParaRPr lang="en-US" sz="2000" dirty="0">
                <a:solidFill>
                  <a:schemeClr val="bg1"/>
                </a:solidFill>
                <a:latin typeface="Franklin Gothic Demi" pitchFamily="34" charset="0"/>
              </a:endParaRPr>
            </a:p>
          </p:txBody>
        </p:sp>
        <p:sp>
          <p:nvSpPr>
            <p:cNvPr id="599052" name="Rectangle 12"/>
            <p:cNvSpPr>
              <a:spLocks noChangeArrowheads="1"/>
            </p:cNvSpPr>
            <p:nvPr/>
          </p:nvSpPr>
          <p:spPr bwMode="auto">
            <a:xfrm>
              <a:off x="2976" y="2122"/>
              <a:ext cx="1536" cy="38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>
                  <a:latin typeface="Franklin Gothic Demi" pitchFamily="34" charset="0"/>
                </a:rPr>
                <a:t>PNT Staff</a:t>
              </a:r>
            </a:p>
          </p:txBody>
        </p:sp>
      </p:grp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OSC Stakeholders</a:t>
            </a:r>
            <a:endParaRPr lang="en-US" dirty="0" smtClean="0"/>
          </a:p>
        </p:txBody>
      </p:sp>
      <p:pic>
        <p:nvPicPr>
          <p:cNvPr id="6160" name="Picture 6" descr="onstar_std_buttons[1]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00400" y="3962400"/>
            <a:ext cx="1060869" cy="848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1" name="Picture 7" descr="TV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0" y="3429000"/>
            <a:ext cx="183776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2" name="Picture 8" descr="RoadyXT-XM-768265[1]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752600" y="4495800"/>
            <a:ext cx="1400432" cy="101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3" name="Picture 9" descr="0022646artwork"/>
          <p:cNvPicPr>
            <a:picLocks noChangeAspect="1" noChangeArrowheads="1"/>
          </p:cNvPicPr>
          <p:nvPr/>
        </p:nvPicPr>
        <p:blipFill>
          <a:blip r:embed="rId6"/>
          <a:srcRect t="7471" r="3935" b="-586"/>
          <a:stretch>
            <a:fillRect/>
          </a:stretch>
        </p:blipFill>
        <p:spPr bwMode="auto">
          <a:xfrm>
            <a:off x="1143000" y="3048000"/>
            <a:ext cx="1961635" cy="1222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64" name="Picture 10" descr="googlemaps"/>
          <p:cNvPicPr>
            <a:picLocks noChangeAspect="1" noChangeArrowheads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3200400" y="1524000"/>
            <a:ext cx="2145957" cy="2277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5" name="Picture 11" descr="DSC00171"/>
          <p:cNvPicPr>
            <a:picLocks noChangeAspect="1" noChangeArrowheads="1"/>
          </p:cNvPicPr>
          <p:nvPr/>
        </p:nvPicPr>
        <p:blipFill>
          <a:blip r:embed="rId8" cstate="print"/>
          <a:stretch>
            <a:fillRect/>
          </a:stretch>
        </p:blipFill>
        <p:spPr bwMode="auto">
          <a:xfrm>
            <a:off x="152400" y="1752600"/>
            <a:ext cx="1676400" cy="1251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3" name="Picture 13" descr="02_ISS%20front%20view"/>
          <p:cNvPicPr>
            <a:picLocks noChangeAspect="1" noChangeArrowheads="1"/>
          </p:cNvPicPr>
          <p:nvPr/>
        </p:nvPicPr>
        <p:blipFill>
          <a:blip r:embed="rId9" cstate="print"/>
          <a:srcRect r="8254" b="7694"/>
          <a:stretch>
            <a:fillRect/>
          </a:stretch>
        </p:blipFill>
        <p:spPr bwMode="auto">
          <a:xfrm>
            <a:off x="7315200" y="1600200"/>
            <a:ext cx="16764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5" name="Picture 17" descr="US Soldier in Iraq using a satellite phone rental to call home"/>
          <p:cNvPicPr>
            <a:picLocks noChangeAspect="1" noChangeArrowheads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5486401" y="1600200"/>
            <a:ext cx="1752600" cy="125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6" name="Picture 18" descr="pa-west-nile_lg"/>
          <p:cNvPicPr>
            <a:picLocks noChangeAspect="1" noChangeArrowheads="1"/>
          </p:cNvPicPr>
          <p:nvPr/>
        </p:nvPicPr>
        <p:blipFill>
          <a:blip r:embed="rId11" cstate="print"/>
          <a:stretch>
            <a:fillRect/>
          </a:stretch>
        </p:blipFill>
        <p:spPr bwMode="auto">
          <a:xfrm>
            <a:off x="4343400" y="4343400"/>
            <a:ext cx="1828800" cy="142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7" name="Picture 19" descr="grascutout1"/>
          <p:cNvPicPr>
            <a:picLocks noChangeAspect="1" noChangeArrowheads="1"/>
          </p:cNvPicPr>
          <p:nvPr/>
        </p:nvPicPr>
        <p:blipFill>
          <a:blip r:embed="rId12"/>
          <a:srcRect t="39960" b="7919"/>
          <a:stretch>
            <a:fillRect/>
          </a:stretch>
        </p:blipFill>
        <p:spPr bwMode="auto">
          <a:xfrm>
            <a:off x="6477000" y="4343514"/>
            <a:ext cx="2362200" cy="1334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6533" name="AutoShape 21"/>
          <p:cNvSpPr>
            <a:spLocks noChangeArrowheads="1"/>
          </p:cNvSpPr>
          <p:nvPr/>
        </p:nvSpPr>
        <p:spPr bwMode="auto">
          <a:xfrm>
            <a:off x="533400" y="5791200"/>
            <a:ext cx="8204200" cy="55086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91440" rIns="0" bIns="91440" anchor="ctr">
            <a:spAutoFit/>
          </a:bodyPr>
          <a:lstStyle/>
          <a:p>
            <a:pPr algn="ctr">
              <a:lnSpc>
                <a:spcPct val="85000"/>
              </a:lnSpc>
              <a:defRPr/>
            </a:pPr>
            <a:r>
              <a:rPr lang="en-US" sz="2400" dirty="0">
                <a:latin typeface="Franklin Gothic Demi" pitchFamily="34" charset="0"/>
              </a:rPr>
              <a:t>Stakeholders include Commercial and Government Markets 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324600" y="2895602"/>
            <a:ext cx="1828798" cy="1446070"/>
            <a:chOff x="5486401" y="2895601"/>
            <a:chExt cx="2216455" cy="1752599"/>
          </a:xfrm>
        </p:grpSpPr>
        <p:pic>
          <p:nvPicPr>
            <p:cNvPr id="6158" name="Picture 15" descr="0_23_iran_alleged_nuke_facility"/>
            <p:cNvPicPr>
              <a:picLocks noChangeAspect="1" noChangeArrowheads="1"/>
            </p:cNvPicPr>
            <p:nvPr/>
          </p:nvPicPr>
          <p:blipFill>
            <a:blip r:embed="rId13"/>
            <a:stretch>
              <a:fillRect/>
            </a:stretch>
          </p:blipFill>
          <p:spPr bwMode="auto">
            <a:xfrm>
              <a:off x="5486401" y="2895601"/>
              <a:ext cx="2209800" cy="17186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59" name="Rectangle 16"/>
            <p:cNvSpPr>
              <a:spLocks noChangeArrowheads="1"/>
            </p:cNvSpPr>
            <p:nvPr/>
          </p:nvSpPr>
          <p:spPr bwMode="auto">
            <a:xfrm>
              <a:off x="5638800" y="4419600"/>
              <a:ext cx="2064056" cy="22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r"/>
              <a:r>
                <a:rPr lang="en-US" sz="700" dirty="0">
                  <a:latin typeface="Franklin Gothic Medium Cond" pitchFamily="34" charset="0"/>
                </a:rPr>
                <a:t>AP/IKONOS satellite image courtesy of </a:t>
              </a:r>
              <a:r>
                <a:rPr lang="en-US" sz="700" dirty="0" err="1">
                  <a:latin typeface="Franklin Gothic Medium Cond" pitchFamily="34" charset="0"/>
                </a:rPr>
                <a:t>GeoEye</a:t>
              </a:r>
              <a:r>
                <a:rPr lang="en-US" sz="700" dirty="0">
                  <a:latin typeface="Franklin Gothic Medium Cond" pitchFamily="34" charset="0"/>
                </a:rPr>
                <a:t> </a:t>
              </a:r>
            </a:p>
          </p:txBody>
        </p:sp>
      </p:grpSp>
      <p:sp>
        <p:nvSpPr>
          <p:cNvPr id="25" name="Slide Number Placeholder 2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Accomplishments </a:t>
            </a:r>
            <a:br>
              <a:rPr lang="en-US" smtClean="0"/>
            </a:br>
            <a:r>
              <a:rPr lang="en-US" smtClean="0"/>
              <a:t>Since FY04 </a:t>
            </a:r>
            <a:br>
              <a:rPr lang="en-US" smtClean="0"/>
            </a:br>
            <a:endParaRPr lang="en-US" dirty="0"/>
          </a:p>
        </p:txBody>
      </p:sp>
      <p:sp>
        <p:nvSpPr>
          <p:cNvPr id="590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National Space Policy Stewardship (DOC and Industry)</a:t>
            </a:r>
          </a:p>
          <a:p>
            <a:pPr lvl="1"/>
            <a:r>
              <a:rPr lang="en-US" smtClean="0"/>
              <a:t>Established PNT National Coordination Office (NCO) (PNT Policy) </a:t>
            </a:r>
          </a:p>
          <a:p>
            <a:pPr lvl="1"/>
            <a:r>
              <a:rPr lang="en-US" smtClean="0"/>
              <a:t>DOC lead for BASIC Joint Analysis Team Policy (CRS Policy) Evaluation</a:t>
            </a:r>
          </a:p>
          <a:p>
            <a:pPr lvl="1"/>
            <a:r>
              <a:rPr lang="en-US" smtClean="0"/>
              <a:t>Lead advocate (w/DHS) for Distress Alerting Satellite System (DASS) </a:t>
            </a:r>
          </a:p>
          <a:p>
            <a:pPr lvl="1"/>
            <a:r>
              <a:rPr lang="en-US" smtClean="0"/>
              <a:t>EOP selected for Senior Management Oversight Committee Vice-Chair (w/NGA)</a:t>
            </a:r>
          </a:p>
          <a:p>
            <a:pPr lvl="1"/>
            <a:r>
              <a:rPr lang="en-US" smtClean="0"/>
              <a:t>Established Space Transportation MOU with FAA/AST</a:t>
            </a:r>
          </a:p>
          <a:p>
            <a:r>
              <a:rPr lang="en-US" smtClean="0"/>
              <a:t>Entrepreneurial “New Space”</a:t>
            </a:r>
          </a:p>
          <a:p>
            <a:pPr lvl="1"/>
            <a:r>
              <a:rPr lang="en-US" smtClean="0"/>
              <a:t>Issued commercial solution studies (8) for civil agency requirements</a:t>
            </a:r>
          </a:p>
          <a:p>
            <a:pPr lvl="1"/>
            <a:r>
              <a:rPr lang="en-US" smtClean="0"/>
              <a:t>Finalized agreement to negotiate NOAA access to personal space flight system</a:t>
            </a:r>
            <a:endParaRPr lang="en-US" dirty="0" smtClean="0"/>
          </a:p>
        </p:txBody>
      </p:sp>
      <p:sp>
        <p:nvSpPr>
          <p:cNvPr id="590854" name="AutoShape 6"/>
          <p:cNvSpPr>
            <a:spLocks noChangeArrowheads="1"/>
          </p:cNvSpPr>
          <p:nvPr/>
        </p:nvSpPr>
        <p:spPr bwMode="auto">
          <a:xfrm>
            <a:off x="457200" y="5638800"/>
            <a:ext cx="8204200" cy="55164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91440" rIns="0" bIns="9144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dirty="0" smtClean="0">
                <a:latin typeface="Franklin Gothic Demi" pitchFamily="34" charset="0"/>
              </a:rPr>
              <a:t>Target Specific Actions for Broad Stakeholder Community</a:t>
            </a:r>
            <a:endParaRPr lang="en-US" sz="2400" dirty="0">
              <a:latin typeface="Franklin Gothic Demi" pitchFamily="34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Accomplishments Since FY04 </a:t>
            </a:r>
            <a:r>
              <a:rPr lang="en-US" sz="2800" dirty="0" smtClean="0">
                <a:latin typeface="Franklin Gothic Medium Cond" pitchFamily="34" charset="0"/>
              </a:rPr>
              <a:t>(Cont.)</a:t>
            </a:r>
            <a:endParaRPr lang="en-US" sz="2800" dirty="0">
              <a:latin typeface="Franklin Gothic Medium Cond" pitchFamily="34" charset="0"/>
            </a:endParaRPr>
          </a:p>
        </p:txBody>
      </p:sp>
      <p:sp>
        <p:nvSpPr>
          <p:cNvPr id="590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Export Control Policy Reviews</a:t>
            </a:r>
          </a:p>
          <a:p>
            <a:pPr lvl="1"/>
            <a:r>
              <a:rPr lang="en-US" smtClean="0"/>
              <a:t>Partnered with BIS to generate Space Industrial Base Study</a:t>
            </a:r>
          </a:p>
          <a:p>
            <a:pPr lvl="1"/>
            <a:r>
              <a:rPr lang="en-US" smtClean="0"/>
              <a:t>USG Lead Negotiator for GPS-Galileo Trade Issues</a:t>
            </a:r>
          </a:p>
          <a:p>
            <a:pPr lvl="2"/>
            <a:r>
              <a:rPr lang="en-US" smtClean="0"/>
              <a:t>Secured EU intent to authorize sale of Galileo simulators to US manufacturers</a:t>
            </a:r>
          </a:p>
          <a:p>
            <a:pPr lvl="1"/>
            <a:r>
              <a:rPr lang="en-US" smtClean="0"/>
              <a:t>Long-Term Office Sustainability</a:t>
            </a:r>
          </a:p>
          <a:p>
            <a:pPr lvl="2"/>
            <a:r>
              <a:rPr lang="en-US" smtClean="0"/>
              <a:t>Published OSC Strategic Plan based on stakeholder requirements</a:t>
            </a:r>
          </a:p>
          <a:p>
            <a:pPr lvl="2"/>
            <a:r>
              <a:rPr lang="en-US" smtClean="0"/>
              <a:t>Administration proposed Space Commerce Act of 2007 legislation</a:t>
            </a:r>
            <a:endParaRPr lang="en-US" dirty="0"/>
          </a:p>
        </p:txBody>
      </p:sp>
      <p:sp>
        <p:nvSpPr>
          <p:cNvPr id="590854" name="AutoShape 6"/>
          <p:cNvSpPr>
            <a:spLocks noChangeArrowheads="1"/>
          </p:cNvSpPr>
          <p:nvPr/>
        </p:nvSpPr>
        <p:spPr bwMode="auto">
          <a:xfrm>
            <a:off x="457200" y="5257800"/>
            <a:ext cx="8204200" cy="55164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91440" rIns="0" bIns="9144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dirty="0" smtClean="0">
                <a:latin typeface="Franklin Gothic Demi" pitchFamily="34" charset="0"/>
              </a:rPr>
              <a:t>Target Specific Actions for Broad Stakeholder Community</a:t>
            </a:r>
            <a:endParaRPr lang="en-US" sz="2400" dirty="0">
              <a:latin typeface="Franklin Gothic Demi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997" name="Picture 5" descr="i_m-just-a-bill_l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2971800"/>
            <a:ext cx="2590800" cy="2711302"/>
          </a:xfrm>
          <a:prstGeom prst="rect">
            <a:avLst/>
          </a:prstGeom>
          <a:noFill/>
        </p:spPr>
      </p:pic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Space Commerce Act of 2008 </a:t>
            </a:r>
            <a:endParaRPr lang="en-US" dirty="0"/>
          </a:p>
        </p:txBody>
      </p:sp>
      <p:sp>
        <p:nvSpPr>
          <p:cNvPr id="596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Proposal updates institutional OSC authorities</a:t>
            </a:r>
          </a:p>
          <a:p>
            <a:pPr lvl="1"/>
            <a:r>
              <a:rPr lang="en-US" smtClean="0"/>
              <a:t>Serve as principal unit in DOC for space commerce policy activities</a:t>
            </a:r>
          </a:p>
          <a:p>
            <a:pPr lvl="1"/>
            <a:r>
              <a:rPr lang="en-US" smtClean="0"/>
              <a:t>Foster conditions for economic growth and technological advancement</a:t>
            </a:r>
          </a:p>
          <a:p>
            <a:pPr lvl="1"/>
            <a:r>
              <a:rPr lang="en-US" smtClean="0"/>
              <a:t>Represent space commerce interests within USG and internationally</a:t>
            </a:r>
          </a:p>
          <a:p>
            <a:pPr lvl="1"/>
            <a:r>
              <a:rPr lang="en-US" smtClean="0"/>
              <a:t>Promote U.S. geospatial technologies</a:t>
            </a:r>
          </a:p>
          <a:p>
            <a:pPr lvl="1"/>
            <a:r>
              <a:rPr lang="en-US" smtClean="0"/>
              <a:t>Support national management of GPS</a:t>
            </a:r>
          </a:p>
          <a:p>
            <a:r>
              <a:rPr lang="en-US" smtClean="0"/>
              <a:t>H.R. 6935 and S.3504 introduced</a:t>
            </a:r>
          </a:p>
          <a:p>
            <a:pPr lvl="1"/>
            <a:r>
              <a:rPr lang="en-US" smtClean="0"/>
              <a:t>Growing stakeholder support</a:t>
            </a:r>
          </a:p>
          <a:p>
            <a:pPr lvl="1"/>
            <a:r>
              <a:rPr lang="en-US" smtClean="0"/>
              <a:t>Include in transition package</a:t>
            </a:r>
            <a:endParaRPr lang="en-US" dirty="0"/>
          </a:p>
        </p:txBody>
      </p:sp>
      <p:sp>
        <p:nvSpPr>
          <p:cNvPr id="596996" name="AutoShape 4"/>
          <p:cNvSpPr>
            <a:spLocks noChangeArrowheads="1"/>
          </p:cNvSpPr>
          <p:nvPr/>
        </p:nvSpPr>
        <p:spPr bwMode="auto">
          <a:xfrm>
            <a:off x="449263" y="5705475"/>
            <a:ext cx="8237537" cy="55164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91440" rIns="0" bIns="9144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dirty="0" smtClean="0">
                <a:latin typeface="Franklin Gothic Demi" pitchFamily="34" charset="0"/>
              </a:rPr>
              <a:t>Proposed Legislation Required to Update Authorities</a:t>
            </a:r>
            <a:endParaRPr lang="en-US" sz="2400" dirty="0">
              <a:latin typeface="Franklin Gothic Demi" pitchFamily="34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Space Commercialization: Overview and Accomplishments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3"/>
  <p:tag name="MMPROD_UIDATA" val="&lt;database version=&quot;7.0&quot;&gt;&lt;object type=&quot;1&quot; unique_id=&quot;10001&quot;&gt;&lt;object type=&quot;8&quot; unique_id=&quot;46383&quot;&gt;&lt;/object&gt;&lt;object type=&quot;2&quot; unique_id=&quot;46384&quot;&gt;&lt;object type=&quot;3&quot; unique_id=&quot;46385&quot;&gt;&lt;property id=&quot;20148&quot; value=&quot;5&quot;/&gt;&lt;property id=&quot;20300&quot; value=&quot;Slide 1 - &amp;quot;Office of Space Commercialization&amp;quot;&quot;/&gt;&lt;property id=&quot;20307&quot; value=&quot;338&quot;/&gt;&lt;/object&gt;&lt;object type=&quot;3&quot; unique_id=&quot;46386&quot;&gt;&lt;property id=&quot;20148&quot; value=&quot;5&quot;/&gt;&lt;property id=&quot;20300&quot; value=&quot;Slide 2 - &amp;quot;OSC Background/&amp;#x0D;&amp;#x0A;Mission Areas&amp;quot;&quot;/&gt;&lt;property id=&quot;20307&quot; value=&quot;368&quot;/&gt;&lt;/object&gt;&lt;object type=&quot;3&quot; unique_id=&quot;46387&quot;&gt;&lt;property id=&quot;20148&quot; value=&quot;5&quot;/&gt;&lt;property id=&quot;20300&quot; value=&quot;Slide 3 - &amp;quot;&amp;#x0D;&amp;#x0A;OSC Staff and Responsibilities&amp;#x0D;&amp;#x0A;&amp;quot;&quot;/&gt;&lt;property id=&quot;20307&quot; value=&quot;373&quot;/&gt;&lt;/object&gt;&lt;object type=&quot;3&quot; unique_id=&quot;46388&quot;&gt;&lt;property id=&quot;20148&quot; value=&quot;5&quot;/&gt;&lt;property id=&quot;20300&quot; value=&quot;Slide 4 - &amp;quot;PNT EXCOM Support  &amp;quot;&quot;/&gt;&lt;property id=&quot;20307&quot; value=&quot;370&quot;/&gt;&lt;/object&gt;&lt;object type=&quot;3&quot; unique_id=&quot;46389&quot;&gt;&lt;property id=&quot;20148&quot; value=&quot;5&quot;/&gt;&lt;property id=&quot;20300&quot; value=&quot;Slide 5 - &amp;quot;OSC Stakeholders&amp;quot;&quot;/&gt;&lt;property id=&quot;20307&quot; value=&quot;371&quot;/&gt;&lt;/object&gt;&lt;object type=&quot;3&quot; unique_id=&quot;46390&quot;&gt;&lt;property id=&quot;20148&quot; value=&quot;5&quot;/&gt;&lt;property id=&quot;20300&quot; value=&quot;Slide 6 - &amp;quot;&amp;#x0D;&amp;#x0A;Accomplishments &amp;#x0D;&amp;#x0A;Since FY04 &amp;#x0D;&amp;#x0A;&amp;quot;&quot;/&gt;&lt;property id=&quot;20307&quot; value=&quot;366&quot;/&gt;&lt;/object&gt;&lt;object type=&quot;3&quot; unique_id=&quot;46391&quot;&gt;&lt;property id=&quot;20148&quot; value=&quot;5&quot;/&gt;&lt;property id=&quot;20300&quot; value=&quot;Slide 7 - &amp;quot;Accomplishments Since FY04 (Cont.)&amp;quot;&quot;/&gt;&lt;property id=&quot;20307&quot; value=&quot;372&quot;/&gt;&lt;/object&gt;&lt;object type=&quot;3&quot; unique_id=&quot;46392&quot;&gt;&lt;property id=&quot;20148&quot; value=&quot;5&quot;/&gt;&lt;property id=&quot;20300&quot; value=&quot;Slide 8 - &amp;quot;Space Commerce Act of 2008 &amp;quot;&quot;/&gt;&lt;property id=&quot;20307&quot; value=&quot;36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luxton_EnergyBriefing">
  <a:themeElements>
    <a:clrScheme name="Edited Multi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AGO</Template>
  <TotalTime>0</TotalTime>
  <Words>581</Words>
  <Application>Microsoft PowerPoint</Application>
  <PresentationFormat>On-screen Show (4:3)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Franklin Gothic Heavy</vt:lpstr>
      <vt:lpstr>Franklin Gothic Medium Cond</vt:lpstr>
      <vt:lpstr>Franklin Gothic Demi</vt:lpstr>
      <vt:lpstr>Franklin Gothic Medium</vt:lpstr>
      <vt:lpstr>SolexRegularLining</vt:lpstr>
      <vt:lpstr>SolexBlackLiningItalic</vt:lpstr>
      <vt:lpstr>Franklin Gothic Book</vt:lpstr>
      <vt:lpstr>luxton_EnergyBriefing</vt:lpstr>
      <vt:lpstr>Office of Space Commercialization</vt:lpstr>
      <vt:lpstr>OSC Background/ Mission Areas</vt:lpstr>
      <vt:lpstr> OSC Staff and Responsibilities </vt:lpstr>
      <vt:lpstr>PNT EXCOM Support  </vt:lpstr>
      <vt:lpstr>OSC Stakeholders</vt:lpstr>
      <vt:lpstr> Accomplishments  Since FY04  </vt:lpstr>
      <vt:lpstr>Accomplishments Since FY04 (Cont.)</vt:lpstr>
      <vt:lpstr>Space Commerce Act of 2008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/>
  <cp:lastModifiedBy/>
  <cp:revision>1</cp:revision>
  <dcterms:created xsi:type="dcterms:W3CDTF">2008-11-07T21:09:24Z</dcterms:created>
  <dcterms:modified xsi:type="dcterms:W3CDTF">2008-11-07T21:09:27Z</dcterms:modified>
</cp:coreProperties>
</file>