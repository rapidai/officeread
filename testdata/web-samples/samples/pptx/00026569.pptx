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81" r:id="rId3"/>
    <p:sldId id="282" r:id="rId4"/>
    <p:sldId id="283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57" r:id="rId21"/>
    <p:sldId id="259" r:id="rId22"/>
    <p:sldId id="260" r:id="rId23"/>
    <p:sldId id="261" r:id="rId24"/>
    <p:sldId id="262" r:id="rId25"/>
    <p:sldId id="263" r:id="rId26"/>
    <p:sldId id="264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SPRU%20Map\IDR%20Org%20Mapping\Rao-Stirling%20Diversity%20and%20Coherence-LAST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SPRU%20Map\IDR%20Org%20Mapping\Rao-Stirling%20Diversity%20and%20Coherence-LAS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chart>
    <c:autoTitleDeleted val="1"/>
    <c:plotArea>
      <c:layout>
        <c:manualLayout>
          <c:layoutTarget val="inner"/>
          <c:xMode val="edge"/>
          <c:yMode val="edge"/>
          <c:x val="0.20215162340818488"/>
          <c:y val="3.5952297841949379E-2"/>
          <c:w val="0.71784084281131577"/>
          <c:h val="0.85886781445511906"/>
        </c:manualLayout>
      </c:layout>
      <c:barChart>
        <c:barDir val="col"/>
        <c:grouping val="clustered"/>
        <c:ser>
          <c:idx val="0"/>
          <c:order val="0"/>
          <c:tx>
            <c:strRef>
              <c:f>Intermediation!$C$14</c:f>
              <c:strCache>
                <c:ptCount val="1"/>
                <c:pt idx="0">
                  <c:v>Pubs</c:v>
                </c:pt>
              </c:strCache>
            </c:strRef>
          </c:tx>
          <c:dPt>
            <c:idx val="3"/>
            <c:spPr>
              <a:solidFill>
                <a:schemeClr val="accent6">
                  <a:lumMod val="75000"/>
                </a:schemeClr>
              </a:solidFill>
            </c:spPr>
          </c:dPt>
          <c:dPt>
            <c:idx val="4"/>
            <c:spPr>
              <a:solidFill>
                <a:srgbClr val="F79646">
                  <a:lumMod val="75000"/>
                </a:srgbClr>
              </a:solidFill>
            </c:spPr>
          </c:dPt>
          <c:dPt>
            <c:idx val="5"/>
            <c:spPr>
              <a:solidFill>
                <a:srgbClr val="F79646">
                  <a:lumMod val="75000"/>
                </a:srgbClr>
              </a:solidFill>
            </c:spPr>
          </c:dPt>
          <c:cat>
            <c:strRef>
              <c:f>Intermediation!$B$15:$B$20</c:f>
              <c:strCache>
                <c:ptCount val="6"/>
                <c:pt idx="0">
                  <c:v>ISSTI</c:v>
                </c:pt>
                <c:pt idx="1">
                  <c:v>SPRU</c:v>
                </c:pt>
                <c:pt idx="2">
                  <c:v>MIoIR</c:v>
                </c:pt>
                <c:pt idx="3">
                  <c:v>Imperial</c:v>
                </c:pt>
                <c:pt idx="4">
                  <c:v>WBS</c:v>
                </c:pt>
                <c:pt idx="5">
                  <c:v>LBS</c:v>
                </c:pt>
              </c:strCache>
            </c:strRef>
          </c:cat>
          <c:val>
            <c:numRef>
              <c:f>Intermediation!$C$15:$C$20</c:f>
              <c:numCache>
                <c:formatCode>General</c:formatCode>
                <c:ptCount val="6"/>
                <c:pt idx="0">
                  <c:v>0.128</c:v>
                </c:pt>
                <c:pt idx="1">
                  <c:v>9.800000000000017E-2</c:v>
                </c:pt>
                <c:pt idx="2">
                  <c:v>7.5000000000000067E-2</c:v>
                </c:pt>
                <c:pt idx="3">
                  <c:v>0.18900000000000014</c:v>
                </c:pt>
                <c:pt idx="4">
                  <c:v>0.16500000000000017</c:v>
                </c:pt>
                <c:pt idx="5">
                  <c:v>0.20200000000000001</c:v>
                </c:pt>
              </c:numCache>
            </c:numRef>
          </c:val>
        </c:ser>
        <c:axId val="71184768"/>
        <c:axId val="71186304"/>
      </c:barChart>
      <c:catAx>
        <c:axId val="71184768"/>
        <c:scaling>
          <c:orientation val="minMax"/>
        </c:scaling>
        <c:axPos val="b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71186304"/>
        <c:crosses val="max"/>
        <c:auto val="1"/>
        <c:lblAlgn val="ctr"/>
        <c:lblOffset val="100"/>
      </c:catAx>
      <c:valAx>
        <c:axId val="71186304"/>
        <c:scaling>
          <c:orientation val="maxMin"/>
          <c:max val="0.25"/>
          <c:min val="5.0000000000000044E-2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600"/>
                </a:pPr>
                <a:r>
                  <a:rPr lang="en-GB" sz="1600" dirty="0" smtClean="0"/>
                  <a:t>Clustering Coefficient of Publications</a:t>
                </a:r>
                <a:endParaRPr lang="en-GB" sz="1600" dirty="0"/>
              </a:p>
            </c:rich>
          </c:tx>
          <c:layout>
            <c:manualLayout>
              <c:xMode val="edge"/>
              <c:yMode val="edge"/>
              <c:x val="3.7878092951192877E-2"/>
              <c:y val="0.19239471915477291"/>
            </c:manualLayout>
          </c:layout>
        </c:title>
        <c:numFmt formatCode="General" sourceLinked="1"/>
        <c:tickLblPos val="nextTo"/>
        <c:crossAx val="71184768"/>
        <c:crosses val="autoZero"/>
        <c:crossBetween val="between"/>
        <c:majorUnit val="5.0000000000000044E-2"/>
      </c:valAx>
    </c:plotArea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autoTitleDeleted val="1"/>
    <c:plotArea>
      <c:layout>
        <c:manualLayout>
          <c:layoutTarget val="inner"/>
          <c:xMode val="edge"/>
          <c:yMode val="edge"/>
          <c:x val="0.17620078740157491"/>
          <c:y val="3.6260518615783402E-2"/>
          <c:w val="0.7941695829687957"/>
          <c:h val="0.85765788145910371"/>
        </c:manualLayout>
      </c:layout>
      <c:barChart>
        <c:barDir val="col"/>
        <c:grouping val="clustered"/>
        <c:ser>
          <c:idx val="0"/>
          <c:order val="0"/>
          <c:tx>
            <c:strRef>
              <c:f>Intermediation!$H$14</c:f>
              <c:strCache>
                <c:ptCount val="1"/>
                <c:pt idx="0">
                  <c:v>Pubs</c:v>
                </c:pt>
              </c:strCache>
            </c:strRef>
          </c:tx>
          <c:dPt>
            <c:idx val="3"/>
            <c:spPr>
              <a:solidFill>
                <a:srgbClr val="F79646">
                  <a:lumMod val="75000"/>
                </a:srgbClr>
              </a:solidFill>
            </c:spPr>
          </c:dPt>
          <c:dPt>
            <c:idx val="4"/>
            <c:spPr>
              <a:solidFill>
                <a:srgbClr val="F79646">
                  <a:lumMod val="75000"/>
                </a:srgbClr>
              </a:solidFill>
            </c:spPr>
          </c:dPt>
          <c:dPt>
            <c:idx val="5"/>
            <c:spPr>
              <a:solidFill>
                <a:srgbClr val="F79646">
                  <a:lumMod val="75000"/>
                </a:srgbClr>
              </a:solidFill>
            </c:spPr>
          </c:dPt>
          <c:cat>
            <c:strRef>
              <c:f>Intermediation!$G$15:$G$20</c:f>
              <c:strCache>
                <c:ptCount val="6"/>
                <c:pt idx="0">
                  <c:v>ISSTI</c:v>
                </c:pt>
                <c:pt idx="1">
                  <c:v>SPRU</c:v>
                </c:pt>
                <c:pt idx="2">
                  <c:v>MIoIR</c:v>
                </c:pt>
                <c:pt idx="3">
                  <c:v>Imperial</c:v>
                </c:pt>
                <c:pt idx="4">
                  <c:v>WBS</c:v>
                </c:pt>
                <c:pt idx="5">
                  <c:v>LBS</c:v>
                </c:pt>
              </c:strCache>
            </c:strRef>
          </c:cat>
          <c:val>
            <c:numRef>
              <c:f>Intermediation!$H$15:$H$20</c:f>
              <c:numCache>
                <c:formatCode>General</c:formatCode>
                <c:ptCount val="6"/>
                <c:pt idx="0">
                  <c:v>2.8000000000000001E-2</c:v>
                </c:pt>
                <c:pt idx="1">
                  <c:v>3.4000000000000002E-2</c:v>
                </c:pt>
                <c:pt idx="2">
                  <c:v>3.5999999999999997E-2</c:v>
                </c:pt>
                <c:pt idx="3">
                  <c:v>0.05</c:v>
                </c:pt>
                <c:pt idx="4">
                  <c:v>4.5000000000000012E-2</c:v>
                </c:pt>
                <c:pt idx="5">
                  <c:v>6.0000000000000032E-2</c:v>
                </c:pt>
              </c:numCache>
            </c:numRef>
          </c:val>
        </c:ser>
        <c:axId val="71246208"/>
        <c:axId val="71247744"/>
      </c:barChart>
      <c:catAx>
        <c:axId val="71246208"/>
        <c:scaling>
          <c:orientation val="minMax"/>
        </c:scaling>
        <c:axPos val="b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71247744"/>
        <c:crosses val="max"/>
        <c:auto val="1"/>
        <c:lblAlgn val="ctr"/>
        <c:lblOffset val="100"/>
      </c:catAx>
      <c:valAx>
        <c:axId val="71247744"/>
        <c:scaling>
          <c:orientation val="maxMin"/>
          <c:max val="7.0000000000000021E-2"/>
          <c:min val="2.0000000000000011E-2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600"/>
                </a:pPr>
                <a:r>
                  <a:rPr lang="en-US" sz="1600" dirty="0" smtClean="0"/>
                  <a:t>  </a:t>
                </a:r>
                <a:endParaRPr lang="en-US" sz="1600" dirty="0"/>
              </a:p>
              <a:p>
                <a:pPr>
                  <a:defRPr sz="1600"/>
                </a:pPr>
                <a:r>
                  <a:rPr lang="en-US" sz="1600" dirty="0"/>
                  <a:t>Average </a:t>
                </a:r>
                <a:r>
                  <a:rPr lang="en-US" sz="1600" dirty="0" smtClean="0"/>
                  <a:t>Similarity of Publications</a:t>
                </a:r>
                <a:endParaRPr lang="en-US" sz="1600" dirty="0"/>
              </a:p>
            </c:rich>
          </c:tx>
          <c:layout>
            <c:manualLayout>
              <c:xMode val="edge"/>
              <c:yMode val="edge"/>
              <c:x val="2.2329338253233841E-2"/>
              <c:y val="0.25037737312237773"/>
            </c:manualLayout>
          </c:layout>
        </c:title>
        <c:numFmt formatCode="General" sourceLinked="1"/>
        <c:tickLblPos val="nextTo"/>
        <c:crossAx val="71246208"/>
        <c:crosses val="autoZero"/>
        <c:crossBetween val="between"/>
        <c:majorUnit val="1.0000000000000005E-2"/>
      </c:valAx>
    </c:plotArea>
    <c:plotVisOnly val="1"/>
  </c:chart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FC5A-833F-4B0B-BB68-CB3D7B255D1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EFF7-DF72-4E3E-80E2-2AAFAD87F3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FC5A-833F-4B0B-BB68-CB3D7B255D1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EFF7-DF72-4E3E-80E2-2AAFAD87F3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FC5A-833F-4B0B-BB68-CB3D7B255D1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EFF7-DF72-4E3E-80E2-2AAFAD87F3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FC5A-833F-4B0B-BB68-CB3D7B255D1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EFF7-DF72-4E3E-80E2-2AAFAD87F3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FC5A-833F-4B0B-BB68-CB3D7B255D1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EFF7-DF72-4E3E-80E2-2AAFAD87F3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FC5A-833F-4B0B-BB68-CB3D7B255D1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EFF7-DF72-4E3E-80E2-2AAFAD87F3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FC5A-833F-4B0B-BB68-CB3D7B255D1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EFF7-DF72-4E3E-80E2-2AAFAD87F3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FC5A-833F-4B0B-BB68-CB3D7B255D1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EFF7-DF72-4E3E-80E2-2AAFAD87F3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FC5A-833F-4B0B-BB68-CB3D7B255D1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EFF7-DF72-4E3E-80E2-2AAFAD87F3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FC5A-833F-4B0B-BB68-CB3D7B255D1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EFF7-DF72-4E3E-80E2-2AAFAD87F3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FC5A-833F-4B0B-BB68-CB3D7B255D1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CEFF7-DF72-4E3E-80E2-2AAFAD87F3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8FC5A-833F-4B0B-BB68-CB3D7B255D1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CEFF7-DF72-4E3E-80E2-2AAFAD87F3A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ssex.ac.uk/Users/ir28/IDR/Rafols2011-Rankings&amp;IDR.pdf" TargetMode="External"/><Relationship Id="rId2" Type="http://schemas.openxmlformats.org/officeDocument/2006/relationships/hyperlink" Target="http://www.interdisciplinaryscience.net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loet@leydesdorff.net" TargetMode="External"/><Relationship Id="rId4" Type="http://schemas.openxmlformats.org/officeDocument/2006/relationships/hyperlink" Target="mailto:i.rafols@sussex.ac.uk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332656"/>
            <a:ext cx="7772400" cy="1181993"/>
          </a:xfrm>
        </p:spPr>
        <p:txBody>
          <a:bodyPr/>
          <a:lstStyle/>
          <a:p>
            <a:r>
              <a:rPr lang="en-GB" dirty="0" smtClean="0"/>
              <a:t>Intermediation of Units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2492896"/>
            <a:ext cx="7884368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These slides expand the article</a:t>
            </a:r>
          </a:p>
          <a:p>
            <a:pPr algn="ctr"/>
            <a:endParaRPr lang="en-US" b="1" dirty="0" smtClean="0"/>
          </a:p>
          <a:p>
            <a:pPr algn="ctr"/>
            <a:r>
              <a:rPr lang="en-US" b="1" dirty="0" smtClean="0"/>
              <a:t>How journal rankings can suppress </a:t>
            </a:r>
            <a:r>
              <a:rPr lang="en-US" b="1" smtClean="0"/>
              <a:t>interdisciplinary research.</a:t>
            </a:r>
            <a:endParaRPr lang="en-GB" dirty="0" smtClean="0"/>
          </a:p>
          <a:p>
            <a:pPr algn="ctr"/>
            <a:r>
              <a:rPr lang="en-US" b="1" dirty="0" smtClean="0"/>
              <a:t>A comparison between innovation studies and business &amp; management</a:t>
            </a:r>
          </a:p>
          <a:p>
            <a:pPr algn="ctr"/>
            <a:endParaRPr lang="en-US" b="1" dirty="0" smtClean="0"/>
          </a:p>
          <a:p>
            <a:pPr algn="ctr"/>
            <a:r>
              <a:rPr lang="en-GB" dirty="0" smtClean="0"/>
              <a:t>Available at: </a:t>
            </a:r>
          </a:p>
          <a:p>
            <a:pPr algn="ctr"/>
            <a:r>
              <a:rPr lang="en-GB" dirty="0" smtClean="0">
                <a:hlinkClick r:id="rId2"/>
              </a:rPr>
              <a:t>www.interdisciplinaryscience.net</a:t>
            </a:r>
            <a:r>
              <a:rPr lang="en-GB" dirty="0" smtClean="0"/>
              <a:t> </a:t>
            </a:r>
          </a:p>
          <a:p>
            <a:pPr algn="ctr"/>
            <a:r>
              <a:rPr lang="en-GB" dirty="0" smtClean="0">
                <a:hlinkClick r:id="rId3"/>
              </a:rPr>
              <a:t>http://www.sussex.ac.uk/Users/ir28/IDR/Rafols2011-Rankings&amp;IDR.pdf</a:t>
            </a:r>
            <a:endParaRPr lang="en-GB" dirty="0" smtClean="0"/>
          </a:p>
          <a:p>
            <a:pPr algn="ctr"/>
            <a:endParaRPr lang="en-GB" dirty="0" smtClean="0"/>
          </a:p>
          <a:p>
            <a:pPr algn="ctr"/>
            <a:endParaRPr lang="en-GB" dirty="0" smtClean="0"/>
          </a:p>
          <a:p>
            <a:pPr algn="ctr"/>
            <a:r>
              <a:rPr lang="en-GB" sz="1600" dirty="0" smtClean="0"/>
              <a:t>Ismael Rafols</a:t>
            </a:r>
            <a:r>
              <a:rPr lang="en-GB" sz="1600" baseline="30000" dirty="0" smtClean="0"/>
              <a:t>1</a:t>
            </a:r>
            <a:r>
              <a:rPr lang="en-GB" sz="1600" dirty="0" smtClean="0"/>
              <a:t>, </a:t>
            </a:r>
            <a:r>
              <a:rPr lang="en-GB" sz="1600" dirty="0" err="1" smtClean="0"/>
              <a:t>Loet</a:t>
            </a:r>
            <a:r>
              <a:rPr lang="en-GB" sz="1600" dirty="0" smtClean="0"/>
              <a:t> Leydesdorff</a:t>
            </a:r>
            <a:r>
              <a:rPr lang="en-GB" sz="1600" baseline="30000" dirty="0" smtClean="0"/>
              <a:t>2</a:t>
            </a:r>
            <a:r>
              <a:rPr lang="en-GB" sz="1600" dirty="0" smtClean="0"/>
              <a:t>,</a:t>
            </a:r>
            <a:r>
              <a:rPr lang="en-GB" sz="1600" baseline="-25000" dirty="0" smtClean="0"/>
              <a:t> </a:t>
            </a:r>
            <a:r>
              <a:rPr lang="en-GB" sz="1600" dirty="0" smtClean="0"/>
              <a:t>Alice O’Hare</a:t>
            </a:r>
            <a:r>
              <a:rPr lang="en-GB" sz="1600" baseline="30000" dirty="0" smtClean="0"/>
              <a:t>1</a:t>
            </a:r>
            <a:r>
              <a:rPr lang="en-GB" sz="1600" dirty="0" smtClean="0"/>
              <a:t>, </a:t>
            </a:r>
          </a:p>
          <a:p>
            <a:pPr algn="ctr"/>
            <a:r>
              <a:rPr lang="en-GB" sz="1600" dirty="0" smtClean="0"/>
              <a:t>Paul Nightingale</a:t>
            </a:r>
            <a:r>
              <a:rPr lang="en-GB" sz="1600" baseline="30000" dirty="0" smtClean="0"/>
              <a:t>1</a:t>
            </a:r>
            <a:r>
              <a:rPr lang="en-GB" sz="1600" dirty="0" smtClean="0"/>
              <a:t> and Andy Stirling</a:t>
            </a:r>
            <a:r>
              <a:rPr lang="en-GB" sz="1600" baseline="30000" dirty="0" smtClean="0"/>
              <a:t>1</a:t>
            </a:r>
          </a:p>
          <a:p>
            <a:pPr algn="ctr"/>
            <a:endParaRPr lang="en-GB" dirty="0" smtClean="0"/>
          </a:p>
          <a:p>
            <a:pPr algn="ctr"/>
            <a:r>
              <a:rPr lang="en-GB" i="1" baseline="30000" dirty="0" smtClean="0"/>
              <a:t>	</a:t>
            </a:r>
            <a:r>
              <a:rPr lang="en-GB" sz="1200" i="1" baseline="30000" dirty="0" smtClean="0">
                <a:latin typeface="Arial" pitchFamily="34" charset="0"/>
                <a:cs typeface="Arial" pitchFamily="34" charset="0"/>
              </a:rPr>
              <a:t>1 </a:t>
            </a:r>
            <a:r>
              <a:rPr lang="en-GB" sz="1200" dirty="0" smtClean="0">
                <a:latin typeface="Arial" pitchFamily="34" charset="0"/>
                <a:cs typeface="Arial" pitchFamily="34" charset="0"/>
              </a:rPr>
              <a:t>SPRU —Science  and Technology Policy Research, University of Sussex, </a:t>
            </a:r>
            <a:r>
              <a:rPr lang="en-GB" sz="1200" i="1" u="sng" dirty="0" smtClean="0">
                <a:latin typeface="Arial" pitchFamily="34" charset="0"/>
                <a:cs typeface="Arial" pitchFamily="34" charset="0"/>
                <a:hlinkClick r:id="rId4"/>
              </a:rPr>
              <a:t>i.rafols@sussex.ac.uk</a:t>
            </a:r>
            <a:r>
              <a:rPr lang="en-GB" sz="1200" i="1" dirty="0" smtClean="0">
                <a:latin typeface="Arial" pitchFamily="34" charset="0"/>
                <a:cs typeface="Arial" pitchFamily="34" charset="0"/>
              </a:rPr>
              <a:t> </a:t>
            </a:r>
            <a:endParaRPr lang="en-GB" sz="120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200" baseline="30000" dirty="0" smtClean="0">
                <a:latin typeface="Arial" pitchFamily="34" charset="0"/>
                <a:cs typeface="Arial" pitchFamily="34" charset="0"/>
              </a:rPr>
              <a:t>2 </a:t>
            </a:r>
            <a:r>
              <a:rPr lang="en-GB" sz="1200" dirty="0" smtClean="0">
                <a:latin typeface="Arial" pitchFamily="34" charset="0"/>
                <a:cs typeface="Arial" pitchFamily="34" charset="0"/>
              </a:rPr>
              <a:t>Amsterdam School of Communication Research (</a:t>
            </a:r>
            <a:r>
              <a:rPr lang="en-GB" sz="1200" dirty="0" err="1" smtClean="0">
                <a:latin typeface="Arial" pitchFamily="34" charset="0"/>
                <a:cs typeface="Arial" pitchFamily="34" charset="0"/>
              </a:rPr>
              <a:t>ASCoR</a:t>
            </a:r>
            <a:r>
              <a:rPr lang="en-GB" sz="1200" dirty="0" smtClean="0">
                <a:latin typeface="Arial" pitchFamily="34" charset="0"/>
                <a:cs typeface="Arial" pitchFamily="34" charset="0"/>
              </a:rPr>
              <a:t>), University of Amsterdam,</a:t>
            </a:r>
            <a:r>
              <a:rPr lang="en-GB" sz="1200" i="1" u="sng" dirty="0" smtClean="0">
                <a:latin typeface="Arial" pitchFamily="34" charset="0"/>
                <a:cs typeface="Arial" pitchFamily="34" charset="0"/>
                <a:hlinkClick r:id="rId5"/>
              </a:rPr>
              <a:t> loet@leydesdorff.net</a:t>
            </a:r>
            <a:r>
              <a:rPr lang="en-GB" sz="1200" i="1" dirty="0" smtClean="0">
                <a:latin typeface="Arial" pitchFamily="34" charset="0"/>
                <a:cs typeface="Arial" pitchFamily="34" charset="0"/>
              </a:rPr>
              <a:t> </a:t>
            </a:r>
            <a:endParaRPr lang="en-GB" sz="1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3526" y="764704"/>
          <a:ext cx="7992889" cy="5288488"/>
        </p:xfrm>
        <a:graphic>
          <a:graphicData uri="http://schemas.openxmlformats.org/drawingml/2006/table">
            <a:tbl>
              <a:tblPr/>
              <a:tblGrid>
                <a:gridCol w="2061247"/>
                <a:gridCol w="988607"/>
                <a:gridCol w="988607"/>
                <a:gridCol w="1074109"/>
                <a:gridCol w="903105"/>
                <a:gridCol w="988607"/>
                <a:gridCol w="988607"/>
              </a:tblGrid>
              <a:tr h="438308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414" marR="8414" marT="84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Edinburgh ISSTI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Sussex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BE5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Manchester 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MIoIR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Imperial ISSTI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Warwick Business School 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London Business School 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  <a:tr h="21915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414" marR="8414" marT="84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SPRU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#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pubs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with journals included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218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%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pubs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with journals included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91%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92%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73%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Journals of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publications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Clustering Coefficient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0.128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0.098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0.075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0.189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0.165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0.202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Std Error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0.06%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0.06%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0.06%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Average similarity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0.028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0.034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0.036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0.050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0.045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0.060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Std Error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0.06%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0.07%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0.07%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#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refs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with journals included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1340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2134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1505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4840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9327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9327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%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refs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with journals included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Journals of references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Clustering Coefficient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0.178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0.166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0.236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0.221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0.235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Std Error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0.05%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0.05%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Average similarity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0.044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0.050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0.058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0.066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0.065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0.068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Std Error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0.05%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0.05%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#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citations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with journals included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140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424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237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651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603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917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%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citations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with journals included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57%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Journals of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citations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Clustering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Coefficient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0.120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0.096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0.157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0.167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0.183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Std Error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0.06%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0.05%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0.06%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0.03%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Average similarity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0.029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0.034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0.046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0.044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871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Std Error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0.05%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0.06%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0.06%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0.03%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0.03%</a:t>
                      </a:r>
                    </a:p>
                  </a:txBody>
                  <a:tcPr marL="8414" marR="8414" marT="84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915816" y="188640"/>
            <a:ext cx="3750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Indicators of intermediation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95536" y="6021288"/>
            <a:ext cx="80648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Note: </a:t>
            </a:r>
          </a:p>
          <a:p>
            <a:r>
              <a:rPr lang="en-GB" sz="1400" dirty="0" smtClean="0"/>
              <a:t>Only a sub-set of 391 journals was used in these journal maps, which is reflected in the values for numbers and percentages of “publications with journals included”.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en-GB" sz="3200" dirty="0" smtClean="0"/>
              <a:t>Intermediation as average Clustering Coefficient</a:t>
            </a:r>
            <a:endParaRPr lang="en-GB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Intermediation as average</a:t>
            </a:r>
            <a:r>
              <a:rPr kumimoji="0" lang="en-GB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similarity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</p:nvPr>
        </p:nvGraphicFramePr>
        <p:xfrm>
          <a:off x="457200" y="1124744"/>
          <a:ext cx="8229600" cy="50014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391Journals-labels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Heat-map of entire journal sub-set (391 journals), based on the cited similarities between journals (</a:t>
            </a:r>
            <a:r>
              <a:rPr lang="en-GB" dirty="0" err="1" smtClean="0">
                <a:solidFill>
                  <a:schemeClr val="bg1"/>
                </a:solidFill>
              </a:rPr>
              <a:t>WoS</a:t>
            </a:r>
            <a:r>
              <a:rPr lang="en-GB" dirty="0" smtClean="0">
                <a:solidFill>
                  <a:schemeClr val="bg1"/>
                </a:solidFill>
              </a:rPr>
              <a:t> 2009) 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Journals of Unit’s Publication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3886200"/>
            <a:ext cx="7160840" cy="1752600"/>
          </a:xfrm>
        </p:spPr>
        <p:txBody>
          <a:bodyPr>
            <a:normAutofit/>
          </a:bodyPr>
          <a:lstStyle/>
          <a:p>
            <a:r>
              <a:rPr lang="en-GB" sz="2400" dirty="0" smtClean="0"/>
              <a:t>Proportion of publications per journal</a:t>
            </a:r>
          </a:p>
          <a:p>
            <a:r>
              <a:rPr lang="en-GB" sz="2400" b="1" baseline="-25000" dirty="0" smtClean="0"/>
              <a:t>Note: </a:t>
            </a:r>
            <a:r>
              <a:rPr lang="en-GB" sz="2400" baseline="-25000" dirty="0" smtClean="0"/>
              <a:t>Sum of node areas not consistent between maps</a:t>
            </a:r>
            <a:endParaRPr 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28816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ISSTI Journals of Publications</a:t>
            </a: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publications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6" name="Picture 5" descr="Edinburgh-CosSim-Journals.emf"/>
          <p:cNvPicPr>
            <a:picLocks noChangeAspect="1"/>
          </p:cNvPicPr>
          <p:nvPr/>
        </p:nvPicPr>
        <p:blipFill>
          <a:blip r:embed="rId3" cstate="print"/>
          <a:srcRect l="1194" t="1479" r="870" b="916"/>
          <a:stretch>
            <a:fillRect/>
          </a:stretch>
        </p:blipFill>
        <p:spPr>
          <a:xfrm>
            <a:off x="2801392" y="1506695"/>
            <a:ext cx="5816554" cy="4681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29409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SPRU Journals of Publications</a:t>
            </a: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publications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" name="Picture 6" descr="SPRU-CosSim-Journals.emf"/>
          <p:cNvPicPr>
            <a:picLocks noChangeAspect="1"/>
          </p:cNvPicPr>
          <p:nvPr/>
        </p:nvPicPr>
        <p:blipFill>
          <a:blip r:embed="rId3" cstate="print"/>
          <a:srcRect l="1522" t="1421" r="737" b="1204"/>
          <a:stretch>
            <a:fillRect/>
          </a:stretch>
        </p:blipFill>
        <p:spPr>
          <a:xfrm>
            <a:off x="2123728" y="908720"/>
            <a:ext cx="6264696" cy="504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300351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 smtClean="0">
                <a:solidFill>
                  <a:schemeClr val="bg1"/>
                </a:solidFill>
              </a:rPr>
              <a:t>MIoIR</a:t>
            </a:r>
            <a:r>
              <a:rPr lang="en-GB" dirty="0" smtClean="0">
                <a:solidFill>
                  <a:schemeClr val="bg1"/>
                </a:solidFill>
              </a:rPr>
              <a:t> Journals of Publications</a:t>
            </a: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publications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6" name="Picture 5" descr="Manch-CosSim-Journals.emf"/>
          <p:cNvPicPr>
            <a:picLocks noChangeAspect="1"/>
          </p:cNvPicPr>
          <p:nvPr/>
        </p:nvPicPr>
        <p:blipFill>
          <a:blip r:embed="rId3" cstate="print"/>
          <a:srcRect l="835" t="1419" r="1292" b="2181"/>
          <a:stretch>
            <a:fillRect/>
          </a:stretch>
        </p:blipFill>
        <p:spPr>
          <a:xfrm>
            <a:off x="1547664" y="764704"/>
            <a:ext cx="6336704" cy="504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pic>
        <p:nvPicPr>
          <p:cNvPr id="6" name="Picture 5" descr="Imperial-CosSim-Journals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32199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Imperial Journals of Publications</a:t>
            </a: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publications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5536" y="116632"/>
            <a:ext cx="28800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</a:t>
            </a:r>
            <a:r>
              <a:rPr lang="en-GB" dirty="0" smtClean="0">
                <a:solidFill>
                  <a:schemeClr val="bg1"/>
                </a:solidFill>
              </a:rPr>
              <a:t>BS Journals of Publications</a:t>
            </a: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publications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6" name="Picture 5" descr="WBS-CosSim-Journals.emf"/>
          <p:cNvPicPr>
            <a:picLocks noChangeAspect="1"/>
          </p:cNvPicPr>
          <p:nvPr/>
        </p:nvPicPr>
        <p:blipFill>
          <a:blip r:embed="rId3" cstate="print"/>
          <a:srcRect l="800" t="448" r="1337" b="1679"/>
          <a:stretch>
            <a:fillRect/>
          </a:stretch>
        </p:blipFill>
        <p:spPr>
          <a:xfrm>
            <a:off x="395536" y="404664"/>
            <a:ext cx="7488832" cy="60486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27726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LBS Journals of Publications</a:t>
            </a: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publications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" name="Picture 6" descr="LBS-CosSim-Journals.emf"/>
          <p:cNvPicPr>
            <a:picLocks noChangeAspect="1"/>
          </p:cNvPicPr>
          <p:nvPr/>
        </p:nvPicPr>
        <p:blipFill>
          <a:blip r:embed="rId3" cstate="print"/>
          <a:srcRect l="652" t="1923" r="1428" b="1080"/>
          <a:stretch>
            <a:fillRect/>
          </a:stretch>
        </p:blipFill>
        <p:spPr>
          <a:xfrm>
            <a:off x="539552" y="1052736"/>
            <a:ext cx="6120680" cy="48965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Journals of Unit’s References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Proportion of references per journal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pic>
        <p:nvPicPr>
          <p:cNvPr id="6" name="Picture 5" descr="Edinburgh-CosSim-CitedJournals-Smaller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4915" y="-86523"/>
            <a:ext cx="8526418" cy="6886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277787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ISSTI Journals of References</a:t>
            </a: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references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pic>
        <p:nvPicPr>
          <p:cNvPr id="6" name="Picture 5" descr="SPRU-CosSim-CitedJournals.emf"/>
          <p:cNvPicPr>
            <a:picLocks noChangeAspect="1"/>
          </p:cNvPicPr>
          <p:nvPr/>
        </p:nvPicPr>
        <p:blipFill>
          <a:blip r:embed="rId3" cstate="print"/>
          <a:srcRect l="506" t="1348" r="780" b="1523"/>
          <a:stretch>
            <a:fillRect/>
          </a:stretch>
        </p:blipFill>
        <p:spPr>
          <a:xfrm>
            <a:off x="467544" y="116632"/>
            <a:ext cx="8064896" cy="6408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28371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SPRU Journals of References</a:t>
            </a: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references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28997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 smtClean="0">
                <a:solidFill>
                  <a:schemeClr val="bg1"/>
                </a:solidFill>
              </a:rPr>
              <a:t>MIoIR</a:t>
            </a:r>
            <a:r>
              <a:rPr lang="en-GB" dirty="0" smtClean="0">
                <a:solidFill>
                  <a:schemeClr val="bg1"/>
                </a:solidFill>
              </a:rPr>
              <a:t> Journals of References</a:t>
            </a: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references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" name="Picture 6" descr="Manch-CosSim-CitedJournals.emf"/>
          <p:cNvPicPr>
            <a:picLocks noChangeAspect="1"/>
          </p:cNvPicPr>
          <p:nvPr/>
        </p:nvPicPr>
        <p:blipFill>
          <a:blip r:embed="rId3" cstate="print"/>
          <a:srcRect l="451" t="830" r="527" b="622"/>
          <a:stretch>
            <a:fillRect/>
          </a:stretch>
        </p:blipFill>
        <p:spPr>
          <a:xfrm>
            <a:off x="539552" y="332656"/>
            <a:ext cx="7704856" cy="6192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pic>
        <p:nvPicPr>
          <p:cNvPr id="7" name="Picture 6" descr="Imp-CosSim-CitedJournals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311610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Imperial Journals of References</a:t>
            </a: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references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5536" y="116632"/>
            <a:ext cx="27762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</a:t>
            </a:r>
            <a:r>
              <a:rPr lang="en-GB" dirty="0" smtClean="0">
                <a:solidFill>
                  <a:schemeClr val="bg1"/>
                </a:solidFill>
              </a:rPr>
              <a:t>BS Journals of References</a:t>
            </a: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references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" name="Picture 6" descr="WBS-CosSim-CitedJournals.emf"/>
          <p:cNvPicPr>
            <a:picLocks noChangeAspect="1"/>
          </p:cNvPicPr>
          <p:nvPr/>
        </p:nvPicPr>
        <p:blipFill>
          <a:blip r:embed="rId3" cstate="print"/>
          <a:srcRect l="927" t="421" r="437" b="977"/>
          <a:stretch>
            <a:fillRect/>
          </a:stretch>
        </p:blipFill>
        <p:spPr>
          <a:xfrm>
            <a:off x="467544" y="260648"/>
            <a:ext cx="7848872" cy="63367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pic>
        <p:nvPicPr>
          <p:cNvPr id="7" name="Picture 6" descr="LBS-CosSim-CitedJournals-Smaller.emf"/>
          <p:cNvPicPr>
            <a:picLocks noChangeAspect="1"/>
          </p:cNvPicPr>
          <p:nvPr/>
        </p:nvPicPr>
        <p:blipFill>
          <a:blip r:embed="rId3" cstate="print"/>
          <a:srcRect l="519" t="1248" b="1523"/>
          <a:stretch>
            <a:fillRect/>
          </a:stretch>
        </p:blipFill>
        <p:spPr>
          <a:xfrm>
            <a:off x="467544" y="404664"/>
            <a:ext cx="7663003" cy="6048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271792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LBS Journals of References</a:t>
            </a: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references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Journals of Unit’s </a:t>
            </a:r>
            <a:r>
              <a:rPr lang="en-GB" dirty="0" smtClean="0"/>
              <a:t>citations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Proportion of </a:t>
            </a:r>
            <a:r>
              <a:rPr lang="en-GB" dirty="0" smtClean="0"/>
              <a:t>citations </a:t>
            </a:r>
            <a:r>
              <a:rPr lang="en-GB" dirty="0" smtClean="0"/>
              <a:t>per journal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25425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ISSTI Journals of </a:t>
            </a:r>
            <a:r>
              <a:rPr lang="en-GB" dirty="0" smtClean="0">
                <a:solidFill>
                  <a:schemeClr val="bg1"/>
                </a:solidFill>
              </a:rPr>
              <a:t>citations</a:t>
            </a:r>
            <a:endParaRPr lang="en-GB" dirty="0" smtClean="0">
              <a:solidFill>
                <a:schemeClr val="bg1"/>
              </a:solidFill>
            </a:endParaRP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</a:t>
            </a:r>
            <a:r>
              <a:rPr lang="en-GB" sz="1200" dirty="0" smtClean="0">
                <a:solidFill>
                  <a:schemeClr val="bg1"/>
                </a:solidFill>
              </a:rPr>
              <a:t>citations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8" name="Picture 7" descr="Edin-CosSim-CitingJournals.emf"/>
          <p:cNvPicPr>
            <a:picLocks noChangeAspect="1"/>
          </p:cNvPicPr>
          <p:nvPr/>
        </p:nvPicPr>
        <p:blipFill>
          <a:blip r:embed="rId3" cstate="print"/>
          <a:srcRect l="1321" t="1892" r="1825" b="2452"/>
          <a:stretch>
            <a:fillRect/>
          </a:stretch>
        </p:blipFill>
        <p:spPr>
          <a:xfrm>
            <a:off x="2339752" y="980728"/>
            <a:ext cx="6048672" cy="4824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26018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SPRU Journals of </a:t>
            </a:r>
            <a:r>
              <a:rPr lang="en-GB" dirty="0" smtClean="0">
                <a:solidFill>
                  <a:schemeClr val="bg1"/>
                </a:solidFill>
              </a:rPr>
              <a:t>citations</a:t>
            </a:r>
            <a:endParaRPr lang="en-GB" dirty="0" smtClean="0">
              <a:solidFill>
                <a:schemeClr val="bg1"/>
              </a:solidFill>
            </a:endParaRP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</a:t>
            </a:r>
            <a:r>
              <a:rPr lang="en-GB" sz="1200" dirty="0" smtClean="0">
                <a:solidFill>
                  <a:schemeClr val="bg1"/>
                </a:solidFill>
              </a:rPr>
              <a:t>citations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" name="Picture 6" descr="SPRU-CosSim-CitingJournals.emf"/>
          <p:cNvPicPr>
            <a:picLocks noChangeAspect="1"/>
          </p:cNvPicPr>
          <p:nvPr/>
        </p:nvPicPr>
        <p:blipFill>
          <a:blip r:embed="rId3" cstate="print"/>
          <a:srcRect l="602" t="1236" b="1226"/>
          <a:stretch>
            <a:fillRect/>
          </a:stretch>
        </p:blipFill>
        <p:spPr>
          <a:xfrm>
            <a:off x="1979712" y="908720"/>
            <a:ext cx="6269508" cy="49685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26643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MIoIR Journals of </a:t>
            </a:r>
            <a:r>
              <a:rPr lang="en-GB" dirty="0" smtClean="0">
                <a:solidFill>
                  <a:schemeClr val="bg1"/>
                </a:solidFill>
              </a:rPr>
              <a:t>citations</a:t>
            </a:r>
            <a:endParaRPr lang="en-GB" dirty="0" smtClean="0">
              <a:solidFill>
                <a:schemeClr val="bg1"/>
              </a:solidFill>
            </a:endParaRP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</a:t>
            </a:r>
            <a:r>
              <a:rPr lang="en-GB" sz="1200" dirty="0" smtClean="0">
                <a:solidFill>
                  <a:schemeClr val="bg1"/>
                </a:solidFill>
              </a:rPr>
              <a:t>citations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6" name="Picture 5" descr="Manch-CosSim-CitingJournals.emf"/>
          <p:cNvPicPr>
            <a:picLocks noChangeAspect="1"/>
          </p:cNvPicPr>
          <p:nvPr/>
        </p:nvPicPr>
        <p:blipFill>
          <a:blip r:embed="rId3" cstate="print"/>
          <a:srcRect l="1298" t="1041" r="779" b="1692"/>
          <a:stretch>
            <a:fillRect/>
          </a:stretch>
        </p:blipFill>
        <p:spPr>
          <a:xfrm>
            <a:off x="1619672" y="692696"/>
            <a:ext cx="6552728" cy="5256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288078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Imperial Journals of </a:t>
            </a:r>
            <a:r>
              <a:rPr lang="en-GB" dirty="0" smtClean="0">
                <a:solidFill>
                  <a:schemeClr val="bg1"/>
                </a:solidFill>
              </a:rPr>
              <a:t>citations</a:t>
            </a:r>
            <a:endParaRPr lang="en-GB" dirty="0" smtClean="0">
              <a:solidFill>
                <a:schemeClr val="bg1"/>
              </a:solidFill>
            </a:endParaRP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</a:t>
            </a:r>
            <a:r>
              <a:rPr lang="en-GB" sz="1200" dirty="0" smtClean="0">
                <a:solidFill>
                  <a:schemeClr val="bg1"/>
                </a:solidFill>
              </a:rPr>
              <a:t>citations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6" name="Picture 5" descr="Imp-CosSim-CitingJournals.emf"/>
          <p:cNvPicPr>
            <a:picLocks noChangeAspect="1"/>
          </p:cNvPicPr>
          <p:nvPr/>
        </p:nvPicPr>
        <p:blipFill>
          <a:blip r:embed="rId3" cstate="print"/>
          <a:srcRect l="249" t="1387" r="853" b="647"/>
          <a:stretch>
            <a:fillRect/>
          </a:stretch>
        </p:blipFill>
        <p:spPr>
          <a:xfrm>
            <a:off x="395536" y="260648"/>
            <a:ext cx="7920880" cy="63367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5536" y="116632"/>
            <a:ext cx="25409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</a:t>
            </a:r>
            <a:r>
              <a:rPr lang="en-GB" dirty="0" smtClean="0">
                <a:solidFill>
                  <a:schemeClr val="bg1"/>
                </a:solidFill>
              </a:rPr>
              <a:t>BS Journals of </a:t>
            </a:r>
            <a:r>
              <a:rPr lang="en-GB" dirty="0" smtClean="0">
                <a:solidFill>
                  <a:schemeClr val="bg1"/>
                </a:solidFill>
              </a:rPr>
              <a:t>citations</a:t>
            </a:r>
            <a:endParaRPr lang="en-GB" dirty="0" smtClean="0">
              <a:solidFill>
                <a:schemeClr val="bg1"/>
              </a:solidFill>
            </a:endParaRP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</a:t>
            </a:r>
            <a:r>
              <a:rPr lang="en-GB" sz="1200" smtClean="0">
                <a:solidFill>
                  <a:schemeClr val="bg1"/>
                </a:solidFill>
              </a:rPr>
              <a:t>number </a:t>
            </a:r>
            <a:r>
              <a:rPr lang="en-GB" sz="1200" smtClean="0">
                <a:solidFill>
                  <a:schemeClr val="bg1"/>
                </a:solidFill>
              </a:rPr>
              <a:t>citations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6" name="Picture 5" descr="WBS-CosSim-CitingJournals.emf"/>
          <p:cNvPicPr>
            <a:picLocks noChangeAspect="1"/>
          </p:cNvPicPr>
          <p:nvPr/>
        </p:nvPicPr>
        <p:blipFill>
          <a:blip r:embed="rId3" cstate="print"/>
          <a:srcRect l="951" t="437" r="824" b="1370"/>
          <a:stretch>
            <a:fillRect/>
          </a:stretch>
        </p:blipFill>
        <p:spPr>
          <a:xfrm>
            <a:off x="395536" y="188640"/>
            <a:ext cx="7848872" cy="63367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91Journals-nolabels-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143" y="0"/>
            <a:ext cx="849171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16632"/>
            <a:ext cx="24929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LBS Journals of </a:t>
            </a:r>
            <a:r>
              <a:rPr lang="en-GB" dirty="0" smtClean="0">
                <a:solidFill>
                  <a:schemeClr val="bg1"/>
                </a:solidFill>
              </a:rPr>
              <a:t>citations</a:t>
            </a:r>
            <a:endParaRPr lang="en-GB" dirty="0" smtClean="0">
              <a:solidFill>
                <a:schemeClr val="bg1"/>
              </a:solidFill>
            </a:endParaRPr>
          </a:p>
          <a:p>
            <a:r>
              <a:rPr lang="en-GB" sz="1200" dirty="0" smtClean="0">
                <a:solidFill>
                  <a:schemeClr val="bg1"/>
                </a:solidFill>
              </a:rPr>
              <a:t>Normalised to total number </a:t>
            </a:r>
            <a:r>
              <a:rPr lang="en-GB" sz="1200" dirty="0" smtClean="0">
                <a:solidFill>
                  <a:schemeClr val="bg1"/>
                </a:solidFill>
              </a:rPr>
              <a:t>citations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6" name="Picture 5" descr="LBS-CosSim-CitingJournals.emf"/>
          <p:cNvPicPr>
            <a:picLocks noChangeAspect="1"/>
          </p:cNvPicPr>
          <p:nvPr/>
        </p:nvPicPr>
        <p:blipFill>
          <a:blip r:embed="rId3" cstate="print"/>
          <a:srcRect l="1337" t="1147" r="863" b="1269"/>
          <a:stretch>
            <a:fillRect/>
          </a:stretch>
        </p:blipFill>
        <p:spPr>
          <a:xfrm>
            <a:off x="611560" y="476672"/>
            <a:ext cx="7416824" cy="59766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557</Words>
  <Application>Microsoft Office PowerPoint</Application>
  <PresentationFormat>On-screen Show (4:3)</PresentationFormat>
  <Paragraphs>220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Intermediation of Units</vt:lpstr>
      <vt:lpstr>Slide 2</vt:lpstr>
      <vt:lpstr>Intermediation as average Clustering Coefficient</vt:lpstr>
      <vt:lpstr>Slide 4</vt:lpstr>
      <vt:lpstr>Slide 5</vt:lpstr>
      <vt:lpstr>Journals of Unit’s Publication</vt:lpstr>
      <vt:lpstr>Slide 7</vt:lpstr>
      <vt:lpstr>Slide 8</vt:lpstr>
      <vt:lpstr>Slide 9</vt:lpstr>
      <vt:lpstr>Slide 10</vt:lpstr>
      <vt:lpstr>Slide 11</vt:lpstr>
      <vt:lpstr>Slide 12</vt:lpstr>
      <vt:lpstr>Journals of Unit’s References</vt:lpstr>
      <vt:lpstr>Slide 14</vt:lpstr>
      <vt:lpstr>Slide 15</vt:lpstr>
      <vt:lpstr>Slide 16</vt:lpstr>
      <vt:lpstr>Slide 17</vt:lpstr>
      <vt:lpstr>Slide 18</vt:lpstr>
      <vt:lpstr>Slide 19</vt:lpstr>
      <vt:lpstr>Journals of Unit’s citations</vt:lpstr>
      <vt:lpstr>Slide 21</vt:lpstr>
      <vt:lpstr>Slide 22</vt:lpstr>
      <vt:lpstr>Slide 23</vt:lpstr>
      <vt:lpstr>Slide 24</vt:lpstr>
      <vt:lpstr>Slide 25</vt:lpstr>
      <vt:lpstr>Slide 26</vt:lpstr>
    </vt:vector>
  </TitlesOfParts>
  <Company>IT Services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Journals of Cites Maps</dc:title>
  <dc:creator>Alice O'Hare</dc:creator>
  <cp:lastModifiedBy>ir28</cp:lastModifiedBy>
  <cp:revision>38</cp:revision>
  <dcterms:created xsi:type="dcterms:W3CDTF">2011-01-13T17:03:51Z</dcterms:created>
  <dcterms:modified xsi:type="dcterms:W3CDTF">2011-12-04T12:26:59Z</dcterms:modified>
</cp:coreProperties>
</file>