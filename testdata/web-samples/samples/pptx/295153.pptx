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77" r:id="rId3"/>
    <p:sldId id="297" r:id="rId4"/>
    <p:sldId id="282" r:id="rId5"/>
    <p:sldId id="278" r:id="rId6"/>
    <p:sldId id="279" r:id="rId7"/>
    <p:sldId id="280" r:id="rId8"/>
    <p:sldId id="284" r:id="rId9"/>
    <p:sldId id="281" r:id="rId10"/>
    <p:sldId id="262" r:id="rId11"/>
    <p:sldId id="259" r:id="rId12"/>
    <p:sldId id="263" r:id="rId13"/>
    <p:sldId id="260" r:id="rId14"/>
    <p:sldId id="261" r:id="rId15"/>
    <p:sldId id="264" r:id="rId16"/>
    <p:sldId id="289" r:id="rId17"/>
    <p:sldId id="267" r:id="rId18"/>
    <p:sldId id="265" r:id="rId19"/>
    <p:sldId id="285" r:id="rId20"/>
    <p:sldId id="269" r:id="rId21"/>
    <p:sldId id="268" r:id="rId22"/>
    <p:sldId id="266" r:id="rId23"/>
    <p:sldId id="287" r:id="rId24"/>
    <p:sldId id="290" r:id="rId25"/>
    <p:sldId id="270" r:id="rId26"/>
    <p:sldId id="273" r:id="rId27"/>
    <p:sldId id="272" r:id="rId28"/>
    <p:sldId id="274" r:id="rId29"/>
    <p:sldId id="275" r:id="rId30"/>
    <p:sldId id="276" r:id="rId31"/>
    <p:sldId id="291" r:id="rId32"/>
    <p:sldId id="294" r:id="rId33"/>
    <p:sldId id="292" r:id="rId34"/>
    <p:sldId id="293" r:id="rId35"/>
    <p:sldId id="295" r:id="rId36"/>
    <p:sldId id="296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EB4"/>
    <a:srgbClr val="FFE18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1406" autoAdjust="0"/>
  </p:normalViewPr>
  <p:slideViewPr>
    <p:cSldViewPr>
      <p:cViewPr varScale="1">
        <p:scale>
          <a:sx n="66" d="100"/>
          <a:sy n="66" d="100"/>
        </p:scale>
        <p:origin x="-6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7C7C40D5-1461-45C7-859C-54B6B029835F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8D6BEF5B-CA1D-4427-8B32-F67B9C00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Enhanced Fe/O &amp; charge states at E &gt; 25 </a:t>
            </a:r>
            <a:r>
              <a:rPr lang="en-US" dirty="0" err="1" smtClean="0"/>
              <a:t>MeV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6BEF5B-CA1D-4427-8B32-F67B9C00862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Problems with flare scenario: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US" dirty="0" smtClean="0"/>
              <a:t>Seed particles irrelevant for SEP event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US" dirty="0" smtClean="0"/>
              <a:t>SEPs need to escape from CME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en-US" dirty="0" smtClean="0"/>
              <a:t>More energetic  interacting particles from weaker fields?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163973D-3689-4F15-B6AC-0B6B9CBBE041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A7A1F-F1BB-4B37-A859-6972F3E97A66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7551B-498B-4ED2-8448-DA15FAA9D3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7034F-E636-4A0E-A083-80BC8C9614D1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590AA-4A63-481D-A22C-213269F416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53A2C-2F4D-4B08-9693-F46511502366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8F092-ABEB-4978-AD69-1ABA9314AD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CB8DD-8151-4246-9C9B-274BB963102A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EDC36B-C49B-4FFB-B886-D73D965D01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D92B2-F2C7-44B1-8800-699DB5B321E5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FB902-E73D-4436-B1A7-83E6E6BA33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29818-B780-436D-905A-A862BEA84604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66F93-02D2-4FDF-B112-76979E4FCA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71693-A462-4888-91D6-C6ED26C0FAB0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7951C-E2B7-4140-9E85-947C1881CC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D20A0-C149-4779-9424-9B1643DA1672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9BF10-A665-46F7-8501-74BE52AD82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C9434-F370-4FB4-8B88-5A17CF53BD0D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2292D-A7DA-4631-87CF-88C0F57BBD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AB044-4C2F-4549-940D-4F2B8135E570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5C63C-DCE4-4224-A0D4-1439DFD1B0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2A2CF-0C47-463C-B50F-C1F4A704D2FB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594C5-B10E-4169-8AC4-D27BA89D2B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28C9663-4BF0-42B2-A498-409CF94E6D27}" type="datetimeFigureOut">
              <a:rPr lang="en-US"/>
              <a:pPr>
                <a:defRPr/>
              </a:pPr>
              <a:t>1/6/2009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66E1AEC-AF7B-4579-9C96-437ABAFC2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hyperlink" Target="http://images.google.com/imgres?imgurl=http://www.tasorienteering.asn.au/gallery/EC3D%202006/thumbs/Hilary%20Cane.jpg&amp;imgrefurl=http://www.tasorienteering.asn.au/gallery/EC3D%202006/index.html&amp;usg=__6Ozz9ZCK75BZ36zsVftf6vjmdnk=&amp;h=120&amp;w=90&amp;sz=7&amp;hl=en&amp;start=2&amp;tbnid=G5Q36y99LfAv8M:&amp;tbnh=88&amp;tbnw=66&amp;prev=/images?q=hilary+cane&amp;gbv=2&amp;hl=e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 descr="AFRL GLOBE LOGO_colo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457200"/>
            <a:ext cx="4495800" cy="144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2035230" y="2844225"/>
            <a:ext cx="489897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Calibri" pitchFamily="34" charset="0"/>
              </a:rPr>
              <a:t>Ground Level Events (GLEs</a:t>
            </a:r>
            <a:r>
              <a:rPr lang="en-US" sz="32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endParaRPr lang="en-US" sz="32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052" name="Text Box 6"/>
          <p:cNvSpPr txBox="1">
            <a:spLocks noChangeArrowheads="1"/>
          </p:cNvSpPr>
          <p:nvPr/>
        </p:nvSpPr>
        <p:spPr bwMode="auto">
          <a:xfrm>
            <a:off x="1295400" y="4038600"/>
            <a:ext cx="629761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</a:rPr>
              <a:t>                               </a:t>
            </a:r>
            <a:r>
              <a:rPr lang="en-US" dirty="0" smtClean="0">
                <a:latin typeface="Calibri" pitchFamily="34" charset="0"/>
              </a:rPr>
              <a:t>                 </a:t>
            </a:r>
            <a:r>
              <a:rPr lang="en-US" sz="2000" b="1" dirty="0">
                <a:latin typeface="Calibri" pitchFamily="34" charset="0"/>
              </a:rPr>
              <a:t>E.W. </a:t>
            </a:r>
            <a:r>
              <a:rPr lang="en-US" sz="2000" b="1" dirty="0" err="1">
                <a:latin typeface="Calibri" pitchFamily="34" charset="0"/>
              </a:rPr>
              <a:t>Cliver</a:t>
            </a:r>
            <a:endParaRPr lang="en-US" sz="2000" b="1" dirty="0">
              <a:latin typeface="Calibri" pitchFamily="34" charset="0"/>
            </a:endParaRPr>
          </a:p>
          <a:p>
            <a:r>
              <a:rPr lang="en-US" sz="2000" b="1" dirty="0">
                <a:latin typeface="Calibri" pitchFamily="34" charset="0"/>
              </a:rPr>
              <a:t>Space Vehicles Directorate, Air Force Research Laboratory</a:t>
            </a:r>
            <a:endParaRPr lang="en-US" sz="2000" dirty="0">
              <a:latin typeface="Calibri" pitchFamily="34" charset="0"/>
            </a:endParaRPr>
          </a:p>
          <a:p>
            <a:endParaRPr lang="en-US" sz="2000" dirty="0">
              <a:latin typeface="Calibri" pitchFamily="34" charset="0"/>
            </a:endParaRPr>
          </a:p>
        </p:txBody>
      </p:sp>
      <p:sp>
        <p:nvSpPr>
          <p:cNvPr id="2053" name="Text Box 7"/>
          <p:cNvSpPr txBox="1">
            <a:spLocks noChangeArrowheads="1"/>
          </p:cNvSpPr>
          <p:nvPr/>
        </p:nvSpPr>
        <p:spPr bwMode="auto">
          <a:xfrm>
            <a:off x="7392987" y="5943600"/>
            <a:ext cx="162826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latin typeface="Calibri" pitchFamily="34" charset="0"/>
              </a:rPr>
              <a:t>GLE CDAW</a:t>
            </a:r>
          </a:p>
          <a:p>
            <a:pPr algn="ctr"/>
            <a:r>
              <a:rPr lang="en-US" sz="1600" b="1" dirty="0">
                <a:latin typeface="Calibri" pitchFamily="34" charset="0"/>
              </a:rPr>
              <a:t>Palo Alto, CA</a:t>
            </a:r>
          </a:p>
          <a:p>
            <a:pPr algn="ctr"/>
            <a:r>
              <a:rPr lang="en-US" sz="1600" b="1" dirty="0">
                <a:latin typeface="Calibri" pitchFamily="34" charset="0"/>
              </a:rPr>
              <a:t>6</a:t>
            </a:r>
            <a:r>
              <a:rPr lang="en-US" sz="1600" b="1" dirty="0" smtClean="0">
                <a:latin typeface="Calibri" pitchFamily="34" charset="0"/>
              </a:rPr>
              <a:t>-9 </a:t>
            </a:r>
            <a:r>
              <a:rPr lang="en-US" sz="1600" b="1" dirty="0">
                <a:latin typeface="Calibri" pitchFamily="34" charset="0"/>
              </a:rPr>
              <a:t>January 2009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/>
          <p:cNvSpPr txBox="1">
            <a:spLocks noChangeArrowheads="1"/>
          </p:cNvSpPr>
          <p:nvPr/>
        </p:nvSpPr>
        <p:spPr bwMode="auto">
          <a:xfrm>
            <a:off x="2895600" y="381000"/>
            <a:ext cx="31702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What is a GLE? </a:t>
            </a:r>
          </a:p>
        </p:txBody>
      </p:sp>
      <p:sp>
        <p:nvSpPr>
          <p:cNvPr id="3075" name="TextBox 2"/>
          <p:cNvSpPr txBox="1">
            <a:spLocks noChangeArrowheads="1"/>
          </p:cNvSpPr>
          <p:nvPr/>
        </p:nvSpPr>
        <p:spPr bwMode="auto">
          <a:xfrm>
            <a:off x="228600" y="1371600"/>
            <a:ext cx="8550482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en-US" dirty="0"/>
              <a:t>  Ground Level Event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  A high energy (&gt; 500 </a:t>
            </a:r>
            <a:r>
              <a:rPr lang="en-US" dirty="0" err="1"/>
              <a:t>MeV</a:t>
            </a:r>
            <a:r>
              <a:rPr lang="en-US" dirty="0"/>
              <a:t>) solar energetic particle (SEP) event</a:t>
            </a:r>
          </a:p>
          <a:p>
            <a:r>
              <a:rPr lang="en-US" dirty="0"/>
              <a:t>   detected on the Earth’s surface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  First detected in 1942 by ionization </a:t>
            </a:r>
            <a:r>
              <a:rPr lang="en-US" dirty="0" smtClean="0"/>
              <a:t>chambers (</a:t>
            </a:r>
            <a:r>
              <a:rPr lang="en-US" dirty="0" err="1" smtClean="0"/>
              <a:t>Forbush</a:t>
            </a:r>
            <a:r>
              <a:rPr lang="en-US" dirty="0"/>
              <a:t>, 1946)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  Currently detected by Simpson-developed neutron monitors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  70 events detected since </a:t>
            </a:r>
            <a:r>
              <a:rPr lang="en-US" dirty="0" smtClean="0"/>
              <a:t>1942 (solar maximum)</a:t>
            </a:r>
            <a:endParaRPr lang="en-US" dirty="0"/>
          </a:p>
          <a:p>
            <a:endParaRPr lang="en-US" dirty="0"/>
          </a:p>
          <a:p>
            <a:pPr>
              <a:buFontTx/>
              <a:buChar char="-"/>
            </a:pPr>
            <a:r>
              <a:rPr lang="en-US" dirty="0"/>
              <a:t>  Associated with solar flares &amp; coronal mass ejections (CMEs)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  Central question in SEP Physics today:  Are high-energy SEP </a:t>
            </a:r>
            <a:r>
              <a:rPr lang="en-US" dirty="0" smtClean="0">
                <a:solidFill>
                  <a:srgbClr val="FF0000"/>
                </a:solidFill>
              </a:rPr>
              <a:t>events dominated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 </a:t>
            </a:r>
            <a:r>
              <a:rPr lang="en-US" dirty="0" smtClean="0">
                <a:solidFill>
                  <a:srgbClr val="FF0000"/>
                </a:solidFill>
              </a:rPr>
              <a:t>by </a:t>
            </a:r>
            <a:r>
              <a:rPr lang="en-US" dirty="0">
                <a:solidFill>
                  <a:srgbClr val="FF0000"/>
                </a:solidFill>
              </a:rPr>
              <a:t>flares or </a:t>
            </a:r>
            <a:r>
              <a:rPr lang="en-US" dirty="0" smtClean="0">
                <a:solidFill>
                  <a:srgbClr val="FF0000"/>
                </a:solidFill>
              </a:rPr>
              <a:t>by CME-driven </a:t>
            </a:r>
            <a:r>
              <a:rPr lang="en-US" dirty="0">
                <a:solidFill>
                  <a:srgbClr val="FF0000"/>
                </a:solidFill>
              </a:rPr>
              <a:t>shocks?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6600" y="1676400"/>
            <a:ext cx="1809750" cy="2441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7239000" y="4191000"/>
            <a:ext cx="1531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S.E. Forbush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56144"/>
            <a:ext cx="730430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</a:rPr>
              <a:t>                        Overview</a:t>
            </a:r>
          </a:p>
          <a:p>
            <a:endParaRPr lang="en-US" sz="800" dirty="0" smtClean="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US" sz="2400" dirty="0" smtClean="0"/>
              <a:t> Current picture of SEP events</a:t>
            </a:r>
          </a:p>
          <a:p>
            <a:pPr>
              <a:buFontTx/>
              <a:buChar char="-"/>
            </a:pPr>
            <a:endParaRPr lang="en-US" sz="800" dirty="0" smtClean="0"/>
          </a:p>
          <a:p>
            <a:pPr>
              <a:buFontTx/>
              <a:buChar char="-"/>
            </a:pPr>
            <a:r>
              <a:rPr lang="en-US" sz="2400" dirty="0" smtClean="0"/>
              <a:t> Unusual GLEs</a:t>
            </a:r>
          </a:p>
          <a:p>
            <a:pPr lvl="1">
              <a:buFontTx/>
              <a:buChar char="-"/>
            </a:pPr>
            <a:r>
              <a:rPr lang="en-US" sz="2400" dirty="0" smtClean="0"/>
              <a:t> GLEs associated with weak flares</a:t>
            </a:r>
          </a:p>
          <a:p>
            <a:pPr lvl="1">
              <a:buFontTx/>
              <a:buChar char="-"/>
            </a:pPr>
            <a:r>
              <a:rPr lang="en-US" sz="2400" dirty="0" smtClean="0"/>
              <a:t> GLEs associated with impulsive flares</a:t>
            </a:r>
          </a:p>
          <a:p>
            <a:pPr lvl="1">
              <a:buFontTx/>
              <a:buChar char="-"/>
            </a:pPr>
            <a:r>
              <a:rPr lang="en-US" sz="2400" dirty="0" smtClean="0"/>
              <a:t> GLEs associated with poorly-connected flares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4648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729335"/>
            <a:ext cx="2529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- Open questions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/>
          <p:cNvSpPr txBox="1">
            <a:spLocks noChangeArrowheads="1"/>
          </p:cNvSpPr>
          <p:nvPr/>
        </p:nvSpPr>
        <p:spPr bwMode="auto">
          <a:xfrm>
            <a:off x="2019300" y="2274888"/>
            <a:ext cx="514350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What is the current picture </a:t>
            </a:r>
          </a:p>
          <a:p>
            <a:r>
              <a:rPr lang="en-US" sz="3200">
                <a:solidFill>
                  <a:schemeClr val="tx2"/>
                </a:solidFill>
              </a:rPr>
              <a:t>     of SEP acceleration?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7" descr="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76200"/>
            <a:ext cx="5765800" cy="6324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4343400" y="1905000"/>
            <a:ext cx="304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124" name="Picture 5" descr="ream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13320" y="1885950"/>
            <a:ext cx="1173480" cy="1466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125" name="Picture 4" descr="http://tbn3.google.com/images?q=tbn:G5Q36y99LfAv8M:http://www.tasorienteering.asn.au/gallery/EC3D%25202006/thumbs/Hilary%2520Cane.jpg">
            <a:hlinkClick r:id="rId4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" y="1879600"/>
            <a:ext cx="1104900" cy="147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905000" y="57150"/>
            <a:ext cx="5181600" cy="400050"/>
          </a:xfrm>
          <a:prstGeom prst="rect">
            <a:avLst/>
          </a:prstGeom>
          <a:solidFill>
            <a:srgbClr val="F7FEB4"/>
          </a:solidFill>
          <a:ln w="38100">
            <a:solidFill>
              <a:srgbClr val="3333FF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    </a:t>
            </a:r>
            <a:r>
              <a:rPr lang="en-US" sz="2000" b="1" dirty="0">
                <a:solidFill>
                  <a:schemeClr val="tx2"/>
                </a:solidFill>
              </a:rPr>
              <a:t>Two-class Paradigm for SEP Events</a:t>
            </a:r>
            <a:r>
              <a:rPr lang="en-US" sz="2000" b="1" dirty="0">
                <a:solidFill>
                  <a:schemeClr val="accent6"/>
                </a:solidFill>
              </a:rPr>
              <a:t>   </a:t>
            </a:r>
          </a:p>
        </p:txBody>
      </p:sp>
      <p:sp>
        <p:nvSpPr>
          <p:cNvPr id="5127" name="Text Box 6"/>
          <p:cNvSpPr txBox="1">
            <a:spLocks noChangeArrowheads="1"/>
          </p:cNvSpPr>
          <p:nvPr/>
        </p:nvSpPr>
        <p:spPr bwMode="auto">
          <a:xfrm>
            <a:off x="4953000" y="6384925"/>
            <a:ext cx="4076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tx2"/>
                </a:solidFill>
              </a:rPr>
              <a:t>Reames (1990, 1993, 1995, 1999)</a:t>
            </a:r>
          </a:p>
        </p:txBody>
      </p:sp>
      <p:sp>
        <p:nvSpPr>
          <p:cNvPr id="5128" name="TextBox 9"/>
          <p:cNvSpPr txBox="1">
            <a:spLocks noChangeArrowheads="1"/>
          </p:cNvSpPr>
          <p:nvPr/>
        </p:nvSpPr>
        <p:spPr bwMode="auto">
          <a:xfrm>
            <a:off x="381000" y="3429000"/>
            <a:ext cx="12271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H.V. Cane</a:t>
            </a:r>
          </a:p>
        </p:txBody>
      </p:sp>
      <p:sp>
        <p:nvSpPr>
          <p:cNvPr id="5129" name="TextBox 10"/>
          <p:cNvSpPr txBox="1">
            <a:spLocks noChangeArrowheads="1"/>
          </p:cNvSpPr>
          <p:nvPr/>
        </p:nvSpPr>
        <p:spPr bwMode="auto">
          <a:xfrm>
            <a:off x="7315200" y="3429000"/>
            <a:ext cx="15351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D.V. </a:t>
            </a:r>
            <a:r>
              <a:rPr lang="en-US" dirty="0" err="1"/>
              <a:t>Reames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"/>
          <p:cNvSpPr txBox="1">
            <a:spLocks noChangeArrowheads="1"/>
          </p:cNvSpPr>
          <p:nvPr/>
        </p:nvSpPr>
        <p:spPr bwMode="auto">
          <a:xfrm>
            <a:off x="609600" y="0"/>
            <a:ext cx="8153400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/>
              <a:t>  An Inherent Flaw in the Two-class Picture</a:t>
            </a:r>
          </a:p>
          <a:p>
            <a:endParaRPr lang="en-US" sz="2000" dirty="0"/>
          </a:p>
          <a:p>
            <a:r>
              <a:rPr lang="en-US" sz="2400" dirty="0"/>
              <a:t>Impulsive Events represented a “forced marriage” of:</a:t>
            </a:r>
          </a:p>
          <a:p>
            <a:endParaRPr lang="en-US" sz="2400" dirty="0"/>
          </a:p>
          <a:p>
            <a:r>
              <a:rPr lang="en-US" sz="2400" dirty="0"/>
              <a:t>          - low-energy </a:t>
            </a:r>
            <a:r>
              <a:rPr lang="en-US" sz="2400" baseline="30000" dirty="0"/>
              <a:t>3</a:t>
            </a:r>
            <a:r>
              <a:rPr lang="en-US" sz="2400" dirty="0"/>
              <a:t>He-rich events of </a:t>
            </a:r>
            <a:r>
              <a:rPr lang="en-US" sz="2400" dirty="0" err="1"/>
              <a:t>Reames</a:t>
            </a:r>
            <a:r>
              <a:rPr lang="en-US" sz="2400" dirty="0"/>
              <a:t>,</a:t>
            </a:r>
          </a:p>
          <a:p>
            <a:r>
              <a:rPr lang="en-US" sz="2400" dirty="0"/>
              <a:t>            von </a:t>
            </a:r>
            <a:r>
              <a:rPr lang="en-US" sz="2400" dirty="0" err="1"/>
              <a:t>Rosenvinge</a:t>
            </a:r>
            <a:r>
              <a:rPr lang="en-US" sz="2400" dirty="0"/>
              <a:t> &amp; Lin (1985) and the</a:t>
            </a:r>
          </a:p>
          <a:p>
            <a:endParaRPr lang="en-US" sz="2400" dirty="0"/>
          </a:p>
          <a:p>
            <a:r>
              <a:rPr lang="en-US" sz="2400" dirty="0"/>
              <a:t>          - high-energy events of Cane, McGuire, &amp;</a:t>
            </a:r>
          </a:p>
          <a:p>
            <a:r>
              <a:rPr lang="en-US" sz="2400" dirty="0"/>
              <a:t>	 von </a:t>
            </a:r>
            <a:r>
              <a:rPr lang="en-US" sz="2400" dirty="0" err="1"/>
              <a:t>Rosenvinge</a:t>
            </a:r>
            <a:r>
              <a:rPr lang="en-US" sz="2400" dirty="0"/>
              <a:t> (1986)</a:t>
            </a:r>
          </a:p>
        </p:txBody>
      </p:sp>
      <p:sp>
        <p:nvSpPr>
          <p:cNvPr id="3" name="Rectangle 2"/>
          <p:cNvSpPr/>
          <p:nvPr/>
        </p:nvSpPr>
        <p:spPr>
          <a:xfrm>
            <a:off x="6303963" y="0"/>
            <a:ext cx="249237" cy="23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148" name="TextBox 6"/>
          <p:cNvSpPr txBox="1">
            <a:spLocks noChangeArrowheads="1"/>
          </p:cNvSpPr>
          <p:nvPr/>
        </p:nvSpPr>
        <p:spPr bwMode="auto">
          <a:xfrm>
            <a:off x="7696200" y="1600200"/>
            <a:ext cx="12366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2-100 </a:t>
            </a:r>
            <a:r>
              <a:rPr lang="en-US" dirty="0" err="1">
                <a:solidFill>
                  <a:srgbClr val="FF0000"/>
                </a:solidFill>
              </a:rPr>
              <a:t>keV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electrons</a:t>
            </a:r>
          </a:p>
        </p:txBody>
      </p:sp>
      <p:sp>
        <p:nvSpPr>
          <p:cNvPr id="6149" name="TextBox 7"/>
          <p:cNvSpPr txBox="1">
            <a:spLocks noChangeArrowheads="1"/>
          </p:cNvSpPr>
          <p:nvPr/>
        </p:nvSpPr>
        <p:spPr bwMode="auto">
          <a:xfrm>
            <a:off x="7772400" y="2667000"/>
            <a:ext cx="11207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&gt;3 </a:t>
            </a:r>
            <a:r>
              <a:rPr lang="en-US" dirty="0" err="1">
                <a:solidFill>
                  <a:srgbClr val="FF0000"/>
                </a:solidFill>
              </a:rPr>
              <a:t>MeV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electrons</a:t>
            </a:r>
          </a:p>
        </p:txBody>
      </p:sp>
      <p:sp>
        <p:nvSpPr>
          <p:cNvPr id="6150" name="TextBox 5"/>
          <p:cNvSpPr txBox="1">
            <a:spLocks noChangeArrowheads="1"/>
          </p:cNvSpPr>
          <p:nvPr/>
        </p:nvSpPr>
        <p:spPr bwMode="auto">
          <a:xfrm>
            <a:off x="1066800" y="3657600"/>
            <a:ext cx="7162800" cy="1200329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 </a:t>
            </a:r>
            <a:r>
              <a:rPr lang="en-US" sz="2400" baseline="30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He-rich events rarely had detectable </a:t>
            </a:r>
            <a:r>
              <a:rPr lang="en-US" sz="2400" dirty="0" smtClean="0">
                <a:solidFill>
                  <a:schemeClr val="tx2"/>
                </a:solidFill>
              </a:rPr>
              <a:t>~ 10 </a:t>
            </a:r>
            <a:r>
              <a:rPr lang="en-US" sz="2400" dirty="0" err="1" smtClean="0">
                <a:solidFill>
                  <a:schemeClr val="tx2"/>
                </a:solidFill>
              </a:rPr>
              <a:t>MeV</a:t>
            </a:r>
            <a:r>
              <a:rPr lang="en-US" sz="2400" dirty="0" smtClean="0">
                <a:solidFill>
                  <a:schemeClr val="tx2"/>
                </a:solidFill>
              </a:rPr>
              <a:t> protons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smtClean="0">
                <a:solidFill>
                  <a:schemeClr val="tx2"/>
                </a:solidFill>
              </a:rPr>
              <a:t>while </a:t>
            </a:r>
            <a:r>
              <a:rPr lang="en-US" sz="2400" dirty="0">
                <a:solidFill>
                  <a:schemeClr val="tx2"/>
                </a:solidFill>
              </a:rPr>
              <a:t>the impulsive events of Cane et al. </a:t>
            </a:r>
            <a:r>
              <a:rPr lang="en-US" sz="2400" dirty="0" smtClean="0">
                <a:solidFill>
                  <a:schemeClr val="tx2"/>
                </a:solidFill>
              </a:rPr>
              <a:t>included large </a:t>
            </a:r>
            <a:r>
              <a:rPr lang="en-US" sz="2400" dirty="0">
                <a:solidFill>
                  <a:schemeClr val="tx2"/>
                </a:solidFill>
              </a:rPr>
              <a:t>proton events (e.g., 3 June 1982)  </a:t>
            </a:r>
          </a:p>
        </p:txBody>
      </p:sp>
      <p:sp>
        <p:nvSpPr>
          <p:cNvPr id="6151" name="TextBox 6"/>
          <p:cNvSpPr txBox="1">
            <a:spLocks noChangeArrowheads="1"/>
          </p:cNvSpPr>
          <p:nvPr/>
        </p:nvSpPr>
        <p:spPr bwMode="auto">
          <a:xfrm>
            <a:off x="152400" y="5135563"/>
            <a:ext cx="907896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This flaw was revealed when ACE &amp; SAMPEX observations</a:t>
            </a:r>
          </a:p>
          <a:p>
            <a:r>
              <a:rPr lang="en-US" sz="2400" dirty="0"/>
              <a:t>early in cycle 23 </a:t>
            </a:r>
            <a:r>
              <a:rPr lang="en-US" sz="2400" dirty="0" smtClean="0"/>
              <a:t>revealed four </a:t>
            </a:r>
            <a:r>
              <a:rPr lang="en-US" sz="2400" dirty="0"/>
              <a:t>large (and therefore presumably</a:t>
            </a:r>
          </a:p>
          <a:p>
            <a:r>
              <a:rPr lang="en-US" sz="2400" dirty="0" smtClean="0"/>
              <a:t>Gradual) </a:t>
            </a:r>
            <a:r>
              <a:rPr lang="en-US" sz="2400" dirty="0"/>
              <a:t>SEP events with </a:t>
            </a:r>
            <a:r>
              <a:rPr lang="en-US" sz="2400" dirty="0" smtClean="0"/>
              <a:t>Impulsive </a:t>
            </a:r>
            <a:r>
              <a:rPr lang="en-US" sz="2400" dirty="0"/>
              <a:t>characteristics  (Cohen et al.,</a:t>
            </a:r>
          </a:p>
          <a:p>
            <a:r>
              <a:rPr lang="en-US" sz="2400" dirty="0"/>
              <a:t>1999; Mazur et al., 1999).  </a:t>
            </a:r>
            <a:r>
              <a:rPr lang="en-US" sz="2400" dirty="0">
                <a:solidFill>
                  <a:srgbClr val="FF0000"/>
                </a:solidFill>
              </a:rPr>
              <a:t>Three of these events were GLEs.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1219200" y="2227263"/>
            <a:ext cx="6816290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en-US" sz="2800" dirty="0"/>
              <a:t>              Two Proposed Solutions:</a:t>
            </a:r>
          </a:p>
          <a:p>
            <a:pPr marL="342900" indent="-342900"/>
            <a:endParaRPr lang="en-US" sz="800" dirty="0"/>
          </a:p>
          <a:p>
            <a:pPr marL="342900" indent="-342900">
              <a:buFontTx/>
              <a:buAutoNum type="arabicParenBoth"/>
            </a:pPr>
            <a:r>
              <a:rPr lang="en-US" sz="2400" dirty="0" smtClean="0"/>
              <a:t> Flare </a:t>
            </a:r>
            <a:r>
              <a:rPr lang="en-US" sz="2400" dirty="0"/>
              <a:t>process accelerates &gt; 25 </a:t>
            </a:r>
            <a:r>
              <a:rPr lang="en-US" sz="2400" dirty="0" err="1"/>
              <a:t>MeV</a:t>
            </a:r>
            <a:r>
              <a:rPr lang="en-US" sz="2400" dirty="0"/>
              <a:t>/</a:t>
            </a:r>
            <a:r>
              <a:rPr lang="en-US" sz="2400" dirty="0" err="1"/>
              <a:t>nuc</a:t>
            </a:r>
            <a:r>
              <a:rPr lang="en-US" sz="2400" dirty="0"/>
              <a:t> ions</a:t>
            </a:r>
          </a:p>
          <a:p>
            <a:pPr marL="342900" indent="-342900"/>
            <a:r>
              <a:rPr lang="en-US" sz="2400" dirty="0"/>
              <a:t>   </a:t>
            </a:r>
            <a:r>
              <a:rPr lang="en-US" sz="2400" dirty="0" smtClean="0"/>
              <a:t>  </a:t>
            </a:r>
            <a:r>
              <a:rPr lang="en-US" sz="2400" dirty="0"/>
              <a:t>(Cane et al. 2002, 2003, 2006)</a:t>
            </a:r>
          </a:p>
          <a:p>
            <a:pPr marL="342900" indent="-342900"/>
            <a:endParaRPr lang="en-US" sz="800" dirty="0"/>
          </a:p>
          <a:p>
            <a:pPr marL="342900" indent="-342900"/>
            <a:r>
              <a:rPr lang="en-US" sz="2400" dirty="0"/>
              <a:t>(2) Variable shock geometry &amp; seed particle </a:t>
            </a:r>
          </a:p>
          <a:p>
            <a:pPr marL="342900" indent="-342900"/>
            <a:r>
              <a:rPr lang="en-US" dirty="0"/>
              <a:t>       </a:t>
            </a:r>
            <a:r>
              <a:rPr lang="en-US" sz="2400" dirty="0"/>
              <a:t>populations responsible for composition &amp;</a:t>
            </a:r>
          </a:p>
          <a:p>
            <a:pPr marL="342900" indent="-342900"/>
            <a:r>
              <a:rPr lang="en-US" sz="2400" dirty="0"/>
              <a:t>     charge state </a:t>
            </a:r>
            <a:r>
              <a:rPr lang="en-US" sz="2400" dirty="0" smtClean="0"/>
              <a:t>variability in large SEP events</a:t>
            </a:r>
          </a:p>
          <a:p>
            <a:pPr marL="342900" indent="-342900"/>
            <a:r>
              <a:rPr lang="en-US" sz="2400" dirty="0" smtClean="0"/>
              <a:t>     </a:t>
            </a:r>
            <a:r>
              <a:rPr lang="en-US" sz="2400" dirty="0"/>
              <a:t>(</a:t>
            </a:r>
            <a:r>
              <a:rPr lang="en-US" sz="2400" dirty="0" err="1"/>
              <a:t>Tylka</a:t>
            </a:r>
            <a:r>
              <a:rPr lang="en-US" sz="2400" dirty="0"/>
              <a:t> et al. </a:t>
            </a:r>
            <a:r>
              <a:rPr lang="en-US" sz="2400" dirty="0" smtClean="0"/>
              <a:t>2005, </a:t>
            </a:r>
            <a:r>
              <a:rPr lang="en-US" sz="2400" dirty="0" err="1" smtClean="0"/>
              <a:t>Tylka</a:t>
            </a:r>
            <a:r>
              <a:rPr lang="en-US" sz="2400" dirty="0" smtClean="0"/>
              <a:t> </a:t>
            </a:r>
            <a:r>
              <a:rPr lang="en-US" sz="2400" dirty="0"/>
              <a:t>&amp; Lee, 2006)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1371600" y="654050"/>
            <a:ext cx="643731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account for flare SEP properties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   in large (gradual) events?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pPr>
              <a:defRPr/>
            </a:pPr>
            <a:fld id="{015B8ADD-FA96-4ED4-8898-FB73CBC6E4FD}" type="slidenum">
              <a:rPr lang="en-US" smtClean="0"/>
              <a:pPr>
                <a:defRPr/>
              </a:pPr>
              <a:t>8</a:t>
            </a:fld>
            <a:endParaRPr lang="en-US" smtClean="0"/>
          </a:p>
        </p:txBody>
      </p:sp>
      <p:sp>
        <p:nvSpPr>
          <p:cNvPr id="8195" name="Text Box 9"/>
          <p:cNvSpPr txBox="1">
            <a:spLocks noChangeArrowheads="1"/>
          </p:cNvSpPr>
          <p:nvPr/>
        </p:nvSpPr>
        <p:spPr bwMode="auto">
          <a:xfrm>
            <a:off x="762000" y="76200"/>
            <a:ext cx="77724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latin typeface="Courier New" pitchFamily="49" charset="0"/>
              </a:rPr>
              <a:t> Revised SEP Event Classification Scheme</a:t>
            </a:r>
          </a:p>
          <a:p>
            <a:r>
              <a:rPr lang="en-US" sz="2400" b="1" dirty="0" smtClean="0">
                <a:latin typeface="Courier New" pitchFamily="49" charset="0"/>
              </a:rPr>
              <a:t>               </a:t>
            </a: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  <a:latin typeface="Courier New" pitchFamily="49" charset="0"/>
              </a:rPr>
              <a:t>(Flare-based)</a:t>
            </a:r>
            <a:endParaRPr lang="en-US" sz="2400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                       </a:t>
            </a:r>
            <a:r>
              <a:rPr lang="en-US" sz="2400" b="1" u="sng" dirty="0">
                <a:solidFill>
                  <a:srgbClr val="FF0000"/>
                </a:solidFill>
                <a:latin typeface="Courier New" pitchFamily="49" charset="0"/>
              </a:rPr>
              <a:t>Flare</a:t>
            </a:r>
            <a:r>
              <a:rPr lang="en-US" b="1" dirty="0">
                <a:latin typeface="Courier New" pitchFamily="49" charset="0"/>
              </a:rPr>
              <a:t>               </a:t>
            </a:r>
            <a:r>
              <a:rPr lang="en-US" sz="2400" b="1" u="sng" dirty="0">
                <a:solidFill>
                  <a:srgbClr val="FF0000"/>
                </a:solidFill>
                <a:latin typeface="Courier New" pitchFamily="49" charset="0"/>
              </a:rPr>
              <a:t>Shock</a:t>
            </a:r>
            <a:r>
              <a:rPr lang="en-US" b="1" u="sng" dirty="0">
                <a:latin typeface="Courier New" pitchFamily="49" charset="0"/>
              </a:rPr>
              <a:t>  </a:t>
            </a:r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               </a:t>
            </a:r>
            <a:r>
              <a:rPr lang="en-US" sz="2000" b="1" baseline="30000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000" b="1" u="sng" dirty="0">
                <a:solidFill>
                  <a:srgbClr val="FF0000"/>
                </a:solidFill>
                <a:latin typeface="Courier New" pitchFamily="49" charset="0"/>
              </a:rPr>
              <a:t>He-rich</a:t>
            </a:r>
            <a:r>
              <a:rPr lang="en-US" b="1" dirty="0">
                <a:latin typeface="Courier New" pitchFamily="49" charset="0"/>
              </a:rPr>
              <a:t>    </a:t>
            </a:r>
            <a:r>
              <a:rPr lang="en-US" sz="2000" b="1" u="sng" dirty="0">
                <a:solidFill>
                  <a:srgbClr val="FF0000"/>
                </a:solidFill>
                <a:latin typeface="Courier New" pitchFamily="49" charset="0"/>
              </a:rPr>
              <a:t>Energetic</a:t>
            </a:r>
          </a:p>
          <a:p>
            <a:r>
              <a:rPr lang="en-US" b="1" dirty="0">
                <a:latin typeface="Courier New" pitchFamily="49" charset="0"/>
              </a:rPr>
              <a:t>      e/p        10</a:t>
            </a:r>
            <a:r>
              <a:rPr lang="en-US" b="1" baseline="30000" dirty="0">
                <a:latin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</a:rPr>
              <a:t>        ~100</a:t>
            </a:r>
            <a:r>
              <a:rPr lang="en-US" b="1" baseline="50000" dirty="0">
                <a:latin typeface="Courier New" pitchFamily="49" charset="0"/>
              </a:rPr>
              <a:t>                 </a:t>
            </a:r>
            <a:r>
              <a:rPr lang="en-US" b="1" dirty="0">
                <a:latin typeface="Courier New" pitchFamily="49" charset="0"/>
              </a:rPr>
              <a:t> ~50</a:t>
            </a:r>
          </a:p>
          <a:p>
            <a:r>
              <a:rPr lang="en-US" b="1" dirty="0">
                <a:latin typeface="Courier New" pitchFamily="49" charset="0"/>
              </a:rPr>
              <a:t>    </a:t>
            </a:r>
            <a:r>
              <a:rPr lang="en-US" b="1" baseline="30000" dirty="0">
                <a:latin typeface="Courier New" pitchFamily="49" charset="0"/>
              </a:rPr>
              <a:t>3</a:t>
            </a:r>
            <a:r>
              <a:rPr lang="en-US" b="1" dirty="0">
                <a:latin typeface="Courier New" pitchFamily="49" charset="0"/>
              </a:rPr>
              <a:t>He/</a:t>
            </a:r>
            <a:r>
              <a:rPr lang="en-US" b="1" baseline="30000" dirty="0">
                <a:latin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</a:rPr>
              <a:t>He       10</a:t>
            </a:r>
            <a:r>
              <a:rPr lang="en-US" b="1" baseline="30000" dirty="0">
                <a:latin typeface="Courier New" pitchFamily="49" charset="0"/>
              </a:rPr>
              <a:t>3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</a:rPr>
              <a:t>      10</a:t>
            </a:r>
            <a:r>
              <a:rPr lang="en-US" b="1" baseline="30000" dirty="0"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</a:rPr>
              <a:t>            ~1</a:t>
            </a:r>
          </a:p>
          <a:p>
            <a:r>
              <a:rPr lang="en-US" b="1" dirty="0">
                <a:latin typeface="Courier New" pitchFamily="49" charset="0"/>
              </a:rPr>
              <a:t>     Fe/O          ~8           ~3              &lt;1</a:t>
            </a:r>
          </a:p>
          <a:p>
            <a:r>
              <a:rPr lang="en-US" b="1" dirty="0">
                <a:latin typeface="Courier New" pitchFamily="49" charset="0"/>
              </a:rPr>
              <a:t>   Z(&gt;50)/O      10</a:t>
            </a:r>
            <a:r>
              <a:rPr lang="en-US" b="1" baseline="30000" dirty="0">
                <a:latin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3</a:t>
            </a:r>
            <a:r>
              <a:rPr lang="en-US" b="1" dirty="0">
                <a:latin typeface="Courier New" pitchFamily="49" charset="0"/>
              </a:rPr>
              <a:t>      10</a:t>
            </a:r>
            <a:r>
              <a:rPr lang="en-US" b="1" baseline="30000" dirty="0">
                <a:latin typeface="Courier New" pitchFamily="49" charset="0"/>
              </a:rPr>
              <a:t>-1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         10</a:t>
            </a:r>
            <a:r>
              <a:rPr lang="en-US" b="1" baseline="30000" dirty="0">
                <a:latin typeface="Courier New" pitchFamily="49" charset="0"/>
              </a:rPr>
              <a:t>-1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1</a:t>
            </a:r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Ion Spectra       --       Power-law      Exp Rollover</a:t>
            </a:r>
          </a:p>
          <a:p>
            <a:r>
              <a:rPr lang="en-US" b="1" dirty="0">
                <a:latin typeface="Courier New" pitchFamily="49" charset="0"/>
              </a:rPr>
              <a:t>     Q(Fe)        ~20          ~20             ~11</a:t>
            </a:r>
          </a:p>
          <a:p>
            <a:r>
              <a:rPr lang="en-US" b="1" dirty="0">
                <a:latin typeface="Courier New" pitchFamily="49" charset="0"/>
              </a:rPr>
              <a:t> SEP Duration   &lt;1-20 hr     1-3 days        1-3 days</a:t>
            </a:r>
          </a:p>
          <a:p>
            <a:r>
              <a:rPr lang="en-US" b="1" dirty="0">
                <a:latin typeface="Courier New" pitchFamily="49" charset="0"/>
              </a:rPr>
              <a:t>Longitude Cone   &lt;30-70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º       ~100º          ~180º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Radio Type 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“normal” III   III-</a:t>
            </a:r>
            <a:r>
              <a:rPr lang="en-US" b="1" i="1" dirty="0" smtClean="0">
                <a:latin typeface="Courier New" pitchFamily="49" charset="0"/>
                <a:cs typeface="Courier New" pitchFamily="49" charset="0"/>
              </a:rPr>
              <a:t>l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(II)        IP II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X-ray Duration  10-60 min     ~1 hr           &gt;1 hr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Coronagraph       --          CME         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CME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Solar Wind        --     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IP Shock   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IP Shock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990850" y="5111750"/>
            <a:ext cx="1325563" cy="923925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  </a:t>
            </a:r>
            <a:r>
              <a:rPr lang="en-US" dirty="0" err="1">
                <a:solidFill>
                  <a:schemeClr val="tx2"/>
                </a:solidFill>
              </a:rPr>
              <a:t>Reames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et al., 1985</a:t>
            </a:r>
          </a:p>
          <a:p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b="1" baseline="30000" dirty="0">
                <a:solidFill>
                  <a:schemeClr val="tx2"/>
                </a:solidFill>
              </a:rPr>
              <a:t>3</a:t>
            </a:r>
            <a:r>
              <a:rPr lang="en-US" dirty="0">
                <a:solidFill>
                  <a:schemeClr val="tx2"/>
                </a:solidFill>
              </a:rPr>
              <a:t>He-rich)</a:t>
            </a:r>
            <a:endParaRPr lang="en-US" baseline="30000" dirty="0">
              <a:solidFill>
                <a:schemeClr val="tx2"/>
              </a:solidFill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667250" y="5111750"/>
            <a:ext cx="1325563" cy="923925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   Cane </a:t>
            </a:r>
          </a:p>
          <a:p>
            <a:r>
              <a:rPr lang="en-US" dirty="0">
                <a:solidFill>
                  <a:schemeClr val="tx2"/>
                </a:solidFill>
              </a:rPr>
              <a:t>et al., 1986</a:t>
            </a:r>
          </a:p>
          <a:p>
            <a:r>
              <a:rPr lang="en-US" dirty="0">
                <a:solidFill>
                  <a:schemeClr val="tx2"/>
                </a:solidFill>
              </a:rPr>
              <a:t>(Impulsive)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267200"/>
            <a:ext cx="7086600" cy="2286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9200" y="2057400"/>
            <a:ext cx="6781800" cy="2286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19200" y="1524000"/>
            <a:ext cx="6781800" cy="2286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pPr>
              <a:defRPr/>
            </a:pPr>
            <a:fld id="{C396D50E-1CB3-425E-AC37-94D509BD222A}" type="slidenum">
              <a:rPr lang="en-US" smtClean="0"/>
              <a:pPr>
                <a:defRPr/>
              </a:pPr>
              <a:t>9</a:t>
            </a:fld>
            <a:endParaRPr lang="en-US" dirty="0" smtClean="0"/>
          </a:p>
        </p:txBody>
      </p:sp>
      <p:sp>
        <p:nvSpPr>
          <p:cNvPr id="9219" name="Text Box 9"/>
          <p:cNvSpPr txBox="1">
            <a:spLocks noChangeArrowheads="1"/>
          </p:cNvSpPr>
          <p:nvPr/>
        </p:nvSpPr>
        <p:spPr bwMode="auto">
          <a:xfrm>
            <a:off x="762000" y="76200"/>
            <a:ext cx="7772400" cy="506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latin typeface="Courier New" pitchFamily="49" charset="0"/>
              </a:rPr>
              <a:t> Revised SEP Event Classification Scheme</a:t>
            </a:r>
          </a:p>
          <a:p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  <a:latin typeface="Courier New" pitchFamily="49" charset="0"/>
              </a:rPr>
              <a:t>                              (Shock-based)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                </a:t>
            </a:r>
            <a:r>
              <a:rPr lang="en-US" sz="2400" b="1" u="sng" dirty="0">
                <a:solidFill>
                  <a:srgbClr val="FF0000"/>
                </a:solidFill>
                <a:latin typeface="Courier New" pitchFamily="49" charset="0"/>
              </a:rPr>
              <a:t>Flare</a:t>
            </a:r>
            <a:r>
              <a:rPr lang="en-US" b="1" dirty="0">
                <a:latin typeface="Courier New" pitchFamily="49" charset="0"/>
              </a:rPr>
              <a:t>              </a:t>
            </a:r>
            <a:r>
              <a:rPr lang="en-US" sz="2400" b="1" u="sng" dirty="0">
                <a:solidFill>
                  <a:srgbClr val="FF0000"/>
                </a:solidFill>
                <a:latin typeface="Courier New" pitchFamily="49" charset="0"/>
              </a:rPr>
              <a:t>Shock</a:t>
            </a:r>
            <a:r>
              <a:rPr lang="en-US" b="1" u="sng" dirty="0">
                <a:latin typeface="Courier New" pitchFamily="49" charset="0"/>
              </a:rPr>
              <a:t>  </a:t>
            </a:r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                          </a:t>
            </a:r>
            <a:r>
              <a:rPr lang="en-US" sz="2000" b="1" u="sng" dirty="0">
                <a:solidFill>
                  <a:srgbClr val="FF0000"/>
                </a:solidFill>
                <a:latin typeface="Courier New" pitchFamily="49" charset="0"/>
              </a:rPr>
              <a:t>Quasi-</a:t>
            </a:r>
            <a:r>
              <a:rPr lang="en-US" sz="2000" b="1" u="sng" dirty="0" err="1">
                <a:solidFill>
                  <a:srgbClr val="FF0000"/>
                </a:solidFill>
                <a:latin typeface="Courier New" pitchFamily="49" charset="0"/>
              </a:rPr>
              <a:t>Perp</a:t>
            </a:r>
            <a:r>
              <a:rPr lang="en-US" b="1" dirty="0">
                <a:latin typeface="Courier New" pitchFamily="49" charset="0"/>
              </a:rPr>
              <a:t>      </a:t>
            </a:r>
            <a:r>
              <a:rPr lang="en-US" sz="2000" b="1" u="sng" dirty="0">
                <a:solidFill>
                  <a:srgbClr val="FF0000"/>
                </a:solidFill>
                <a:latin typeface="Courier New" pitchFamily="49" charset="0"/>
              </a:rPr>
              <a:t>Quasi-Par</a:t>
            </a:r>
          </a:p>
          <a:p>
            <a:r>
              <a:rPr lang="en-US" b="1" dirty="0">
                <a:latin typeface="Courier New" pitchFamily="49" charset="0"/>
              </a:rPr>
              <a:t>      e/p        10</a:t>
            </a:r>
            <a:r>
              <a:rPr lang="en-US" b="1" baseline="30000" dirty="0">
                <a:latin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</a:rPr>
              <a:t>        ~100</a:t>
            </a:r>
            <a:r>
              <a:rPr lang="en-US" b="1" baseline="50000" dirty="0">
                <a:latin typeface="Courier New" pitchFamily="49" charset="0"/>
              </a:rPr>
              <a:t>                 </a:t>
            </a:r>
            <a:r>
              <a:rPr lang="en-US" b="1" dirty="0">
                <a:latin typeface="Courier New" pitchFamily="49" charset="0"/>
              </a:rPr>
              <a:t> ~50</a:t>
            </a:r>
          </a:p>
          <a:p>
            <a:r>
              <a:rPr lang="en-US" b="1" dirty="0">
                <a:latin typeface="Courier New" pitchFamily="49" charset="0"/>
              </a:rPr>
              <a:t>    </a:t>
            </a:r>
            <a:r>
              <a:rPr lang="en-US" b="1" baseline="30000" dirty="0">
                <a:latin typeface="Courier New" pitchFamily="49" charset="0"/>
              </a:rPr>
              <a:t>3</a:t>
            </a:r>
            <a:r>
              <a:rPr lang="en-US" b="1" dirty="0">
                <a:latin typeface="Courier New" pitchFamily="49" charset="0"/>
              </a:rPr>
              <a:t>He/</a:t>
            </a:r>
            <a:r>
              <a:rPr lang="en-US" b="1" baseline="30000" dirty="0">
                <a:latin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</a:rPr>
              <a:t>He       10</a:t>
            </a:r>
            <a:r>
              <a:rPr lang="en-US" b="1" baseline="30000" dirty="0">
                <a:latin typeface="Courier New" pitchFamily="49" charset="0"/>
              </a:rPr>
              <a:t>3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</a:rPr>
              <a:t>      10</a:t>
            </a:r>
            <a:r>
              <a:rPr lang="en-US" b="1" baseline="30000" dirty="0"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</a:rPr>
              <a:t>            ~1</a:t>
            </a:r>
          </a:p>
          <a:p>
            <a:r>
              <a:rPr lang="en-US" b="1" dirty="0">
                <a:latin typeface="Courier New" pitchFamily="49" charset="0"/>
              </a:rPr>
              <a:t>     Fe/O          ~8           ~3              &lt;1</a:t>
            </a:r>
          </a:p>
          <a:p>
            <a:r>
              <a:rPr lang="en-US" b="1" dirty="0">
                <a:latin typeface="Courier New" pitchFamily="49" charset="0"/>
              </a:rPr>
              <a:t>   Z(&gt;50)/O      10</a:t>
            </a:r>
            <a:r>
              <a:rPr lang="en-US" b="1" baseline="30000" dirty="0">
                <a:latin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3</a:t>
            </a:r>
            <a:r>
              <a:rPr lang="en-US" b="1" dirty="0">
                <a:latin typeface="Courier New" pitchFamily="49" charset="0"/>
              </a:rPr>
              <a:t>      10</a:t>
            </a:r>
            <a:r>
              <a:rPr lang="en-US" b="1" baseline="30000" dirty="0">
                <a:latin typeface="Courier New" pitchFamily="49" charset="0"/>
              </a:rPr>
              <a:t>-1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</a:rPr>
              <a:t>         10</a:t>
            </a:r>
            <a:r>
              <a:rPr lang="en-US" b="1" baseline="30000" dirty="0">
                <a:latin typeface="Courier New" pitchFamily="49" charset="0"/>
              </a:rPr>
              <a:t>-1</a:t>
            </a:r>
            <a:r>
              <a:rPr lang="en-US" b="1" dirty="0">
                <a:latin typeface="Courier New" pitchFamily="49" charset="0"/>
              </a:rPr>
              <a:t>-10</a:t>
            </a:r>
            <a:r>
              <a:rPr lang="en-US" b="1" baseline="30000" dirty="0">
                <a:latin typeface="Courier New" pitchFamily="49" charset="0"/>
              </a:rPr>
              <a:t>1</a:t>
            </a:r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Ion Spectra       --       Power-law      Exp Rollover</a:t>
            </a:r>
          </a:p>
          <a:p>
            <a:r>
              <a:rPr lang="en-US" b="1" dirty="0">
                <a:latin typeface="Courier New" pitchFamily="49" charset="0"/>
              </a:rPr>
              <a:t>     Q(Fe)        ~20          ~20             ~11</a:t>
            </a:r>
          </a:p>
          <a:p>
            <a:r>
              <a:rPr lang="en-US" b="1" dirty="0">
                <a:latin typeface="Courier New" pitchFamily="49" charset="0"/>
              </a:rPr>
              <a:t> SEP Duration   &lt;1-20 hr     1-3 days        1-3 days</a:t>
            </a:r>
          </a:p>
          <a:p>
            <a:r>
              <a:rPr lang="en-US" b="1" dirty="0">
                <a:latin typeface="Courier New" pitchFamily="49" charset="0"/>
              </a:rPr>
              <a:t>Longitude Cone   &lt;30-70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º       ~100º          ~180º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Seed Particles     N/A      Flare STs       Coronal STs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Radio Type        III          II          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II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X-ray Duration  10-60 min     ~1 hr           &gt;1 hr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Coronagraph       --          CME         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CME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Solar Wind        --       IP Shock        IP Shock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990850" y="5111750"/>
            <a:ext cx="1325563" cy="923925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  </a:t>
            </a:r>
            <a:r>
              <a:rPr lang="en-US" dirty="0" err="1">
                <a:solidFill>
                  <a:schemeClr val="tx2"/>
                </a:solidFill>
              </a:rPr>
              <a:t>Reames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et al., 1985</a:t>
            </a:r>
          </a:p>
          <a:p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b="1" baseline="30000" dirty="0">
                <a:solidFill>
                  <a:schemeClr val="tx2"/>
                </a:solidFill>
              </a:rPr>
              <a:t>3</a:t>
            </a:r>
            <a:r>
              <a:rPr lang="en-US" dirty="0">
                <a:solidFill>
                  <a:schemeClr val="tx2"/>
                </a:solidFill>
              </a:rPr>
              <a:t>He-rich)</a:t>
            </a:r>
            <a:endParaRPr lang="en-US" baseline="30000" dirty="0">
              <a:solidFill>
                <a:schemeClr val="tx2"/>
              </a:solidFill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667250" y="5111750"/>
            <a:ext cx="1325563" cy="923925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    Cane </a:t>
            </a:r>
          </a:p>
          <a:p>
            <a:r>
              <a:rPr lang="en-US">
                <a:solidFill>
                  <a:schemeClr val="tx2"/>
                </a:solidFill>
              </a:rPr>
              <a:t>et al., 1986</a:t>
            </a:r>
          </a:p>
          <a:p>
            <a:r>
              <a:rPr lang="en-US">
                <a:solidFill>
                  <a:schemeClr val="tx2"/>
                </a:solidFill>
              </a:rPr>
              <a:t>(Impulsive)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267200"/>
            <a:ext cx="7086600" cy="2286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9200" y="2057400"/>
            <a:ext cx="6781800" cy="2286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19200" y="1524000"/>
            <a:ext cx="6781800" cy="22860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457200" y="1828800"/>
            <a:ext cx="83820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cs typeface="Arial" charset="0"/>
              </a:rPr>
              <a:t>Most GLEs are associated with both big flares &amp; fast </a:t>
            </a:r>
            <a:r>
              <a:rPr lang="en-US" sz="2400" dirty="0" smtClean="0">
                <a:cs typeface="Arial" charset="0"/>
              </a:rPr>
              <a:t>CMEs</a:t>
            </a:r>
            <a:endParaRPr lang="en-US" sz="2400" dirty="0">
              <a:cs typeface="Arial" charset="0"/>
            </a:endParaRPr>
          </a:p>
          <a:p>
            <a:endParaRPr lang="en-US" sz="2400" dirty="0">
              <a:cs typeface="Arial" charset="0"/>
            </a:endParaRPr>
          </a:p>
          <a:p>
            <a:r>
              <a:rPr lang="en-US" sz="2400" dirty="0">
                <a:cs typeface="Arial" charset="0"/>
              </a:rPr>
              <a:t>GLEs on 21 August 1979 &amp; 10 May 1981 provided notable exceptions to this rule of </a:t>
            </a:r>
            <a:r>
              <a:rPr lang="en-US" sz="2400" dirty="0" smtClean="0">
                <a:cs typeface="Arial" charset="0"/>
              </a:rPr>
              <a:t>thumb</a:t>
            </a:r>
            <a:endParaRPr lang="en-US" sz="2400" dirty="0">
              <a:cs typeface="Arial" charset="0"/>
            </a:endParaRPr>
          </a:p>
          <a:p>
            <a:endParaRPr lang="en-US" sz="2400" dirty="0">
              <a:cs typeface="Arial" charset="0"/>
            </a:endParaRPr>
          </a:p>
        </p:txBody>
      </p:sp>
      <p:sp>
        <p:nvSpPr>
          <p:cNvPr id="12291" name="TextBox 2"/>
          <p:cNvSpPr txBox="1">
            <a:spLocks noChangeArrowheads="1"/>
          </p:cNvSpPr>
          <p:nvPr/>
        </p:nvSpPr>
        <p:spPr bwMode="auto">
          <a:xfrm>
            <a:off x="1524000" y="381000"/>
            <a:ext cx="673973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200" dirty="0" smtClean="0">
                <a:solidFill>
                  <a:schemeClr val="tx2"/>
                </a:solidFill>
              </a:rPr>
              <a:t>GLES Associated with Weak Flares:</a:t>
            </a:r>
          </a:p>
          <a:p>
            <a:pPr algn="ctr"/>
            <a:r>
              <a:rPr lang="en-US" sz="3200" dirty="0" smtClean="0">
                <a:solidFill>
                  <a:schemeClr val="tx2"/>
                </a:solidFill>
              </a:rPr>
              <a:t>Seed </a:t>
            </a:r>
            <a:r>
              <a:rPr lang="en-US" sz="3200" dirty="0">
                <a:solidFill>
                  <a:schemeClr val="tx2"/>
                </a:solidFill>
              </a:rPr>
              <a:t>Particles for Shocks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www.journals.uchicago.edu/na101/home/literatum/publisher/uchicago/journals/production/apj/2006/639/2/499765/images/large/fg1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0075" y="3581400"/>
            <a:ext cx="712152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4" descr="http://www.journals.uchicago.edu/na101/home/literatum/publisher/uchicago/journals/production/apj/2006/639/2/499765/images/large/fg2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52400"/>
            <a:ext cx="47339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209800" y="5334000"/>
            <a:ext cx="1143000" cy="1066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2551907" y="800894"/>
            <a:ext cx="533400" cy="158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3085307" y="5066506"/>
            <a:ext cx="533400" cy="158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www.journals.uchicago.edu/na101/home/literatum/publisher/uchicago/journals/production/apj/2006/639/2/499765/images/large/fg3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09600"/>
            <a:ext cx="7724775" cy="596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Oval 2"/>
          <p:cNvSpPr/>
          <p:nvPr/>
        </p:nvSpPr>
        <p:spPr>
          <a:xfrm>
            <a:off x="2514600" y="4953000"/>
            <a:ext cx="6858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/>
          <p:cNvSpPr txBox="1">
            <a:spLocks noChangeArrowheads="1"/>
          </p:cNvSpPr>
          <p:nvPr/>
        </p:nvSpPr>
        <p:spPr bwMode="auto">
          <a:xfrm>
            <a:off x="762000" y="76200"/>
            <a:ext cx="7696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>
                <a:solidFill>
                  <a:schemeClr val="tx2"/>
                </a:solidFill>
                <a:cs typeface="Arial" charset="0"/>
              </a:rPr>
              <a:t>Why did these eruptions “over-achieve”? </a:t>
            </a:r>
          </a:p>
        </p:txBody>
      </p:sp>
      <p:pic>
        <p:nvPicPr>
          <p:cNvPr id="15363" name="Picture 4" descr="http://www.journals.uchicago.edu/na101/home/literatum/publisher/uchicago/journals/production/apj/2006/639/2/499765/images/large/fg12_online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6413"/>
            <a:ext cx="4495800" cy="36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6" descr="http://www.journals.uchicago.edu/na101/home/literatum/publisher/uchicago/journals/production/apj/2006/639/2/499765/images/large/fg13_online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4850" y="838200"/>
            <a:ext cx="447675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5" name="TextBox 6"/>
          <p:cNvSpPr txBox="1">
            <a:spLocks noChangeArrowheads="1"/>
          </p:cNvSpPr>
          <p:nvPr/>
        </p:nvSpPr>
        <p:spPr bwMode="auto">
          <a:xfrm>
            <a:off x="5715000" y="4678363"/>
            <a:ext cx="2859088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cs typeface="Arial" charset="0"/>
              </a:rPr>
              <a:t>  Enhanced seed </a:t>
            </a:r>
          </a:p>
          <a:p>
            <a:r>
              <a:rPr lang="en-US" sz="2400">
                <a:cs typeface="Arial" charset="0"/>
              </a:rPr>
              <a:t>particle population?</a:t>
            </a:r>
          </a:p>
          <a:p>
            <a:endParaRPr lang="en-US" sz="2400">
              <a:cs typeface="Arial" charset="0"/>
            </a:endParaRPr>
          </a:p>
          <a:p>
            <a:r>
              <a:rPr lang="en-US" sz="2400">
                <a:cs typeface="Arial" charset="0"/>
              </a:rPr>
              <a:t>             </a:t>
            </a:r>
            <a:r>
              <a:rPr lang="en-US" sz="2000" i="1">
                <a:cs typeface="Arial" charset="0"/>
              </a:rPr>
              <a:t>Cliver (2006)</a:t>
            </a:r>
            <a:endParaRPr lang="en-US" sz="200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www.journals.uchicago.edu/na101/home/literatum/publisher/uchicago/journals/production/apj/2006/639/2/499765/images/large/fg15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5463" y="990600"/>
            <a:ext cx="5748337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TextBox 2"/>
          <p:cNvSpPr txBox="1">
            <a:spLocks noChangeArrowheads="1"/>
          </p:cNvSpPr>
          <p:nvPr/>
        </p:nvSpPr>
        <p:spPr bwMode="auto">
          <a:xfrm>
            <a:off x="533400" y="5751513"/>
            <a:ext cx="82296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cs typeface="Arial" charset="0"/>
              </a:rPr>
              <a:t>               Timing of 1</a:t>
            </a:r>
            <a:r>
              <a:rPr lang="en-US" sz="2400" baseline="30000">
                <a:cs typeface="Arial" charset="0"/>
              </a:rPr>
              <a:t>st</a:t>
            </a:r>
            <a:r>
              <a:rPr lang="en-US" sz="2400">
                <a:cs typeface="Arial" charset="0"/>
              </a:rPr>
              <a:t> arriving GLE particles =&gt; </a:t>
            </a:r>
          </a:p>
          <a:p>
            <a:endParaRPr lang="en-US" sz="800">
              <a:cs typeface="Arial" charset="0"/>
            </a:endParaRPr>
          </a:p>
          <a:p>
            <a:r>
              <a:rPr lang="en-US" sz="2400">
                <a:cs typeface="Arial" charset="0"/>
              </a:rPr>
              <a:t>      Shock has access to seed particles within 2-5 R</a:t>
            </a:r>
            <a:r>
              <a:rPr lang="en-US" sz="2400" baseline="-25000">
                <a:latin typeface="Tahoma" pitchFamily="34" charset="0"/>
                <a:cs typeface="Arial" charset="0"/>
              </a:rPr>
              <a:t>๏</a:t>
            </a:r>
            <a:r>
              <a:rPr lang="en-US" sz="2400">
                <a:cs typeface="Arial" charset="0"/>
              </a:rPr>
              <a:t> </a:t>
            </a:r>
          </a:p>
        </p:txBody>
      </p:sp>
      <p:sp>
        <p:nvSpPr>
          <p:cNvPr id="16388" name="TextBox 3"/>
          <p:cNvSpPr txBox="1">
            <a:spLocks noChangeArrowheads="1"/>
          </p:cNvSpPr>
          <p:nvPr/>
        </p:nvSpPr>
        <p:spPr bwMode="auto">
          <a:xfrm>
            <a:off x="519113" y="84138"/>
            <a:ext cx="80914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Proposed scenario: Consistent with strong shocks &amp; weak</a:t>
            </a:r>
          </a:p>
          <a:p>
            <a:r>
              <a:rPr lang="en-US" sz="2400">
                <a:solidFill>
                  <a:schemeClr val="tx2"/>
                </a:solidFill>
              </a:rPr>
              <a:t>                      flares observed in these two events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/>
          <p:cNvSpPr txBox="1">
            <a:spLocks noChangeArrowheads="1"/>
          </p:cNvSpPr>
          <p:nvPr/>
        </p:nvSpPr>
        <p:spPr bwMode="auto">
          <a:xfrm>
            <a:off x="1100137" y="1066800"/>
            <a:ext cx="7510463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cs typeface="Arial" charset="0"/>
              </a:rPr>
              <a:t>       </a:t>
            </a:r>
            <a:r>
              <a:rPr lang="en-US" sz="3200" dirty="0" smtClean="0">
                <a:solidFill>
                  <a:schemeClr val="tx2"/>
                </a:solidFill>
                <a:cs typeface="Arial" charset="0"/>
              </a:rPr>
              <a:t>Possible </a:t>
            </a:r>
            <a:r>
              <a:rPr lang="en-US" sz="3200" dirty="0">
                <a:solidFill>
                  <a:schemeClr val="tx2"/>
                </a:solidFill>
                <a:cs typeface="Arial" charset="0"/>
              </a:rPr>
              <a:t>workshop exercise:</a:t>
            </a:r>
          </a:p>
          <a:p>
            <a:endParaRPr lang="en-US" sz="2400" dirty="0">
              <a:solidFill>
                <a:schemeClr val="tx2"/>
              </a:solidFill>
              <a:cs typeface="Arial" charset="0"/>
            </a:endParaRPr>
          </a:p>
          <a:p>
            <a:r>
              <a:rPr lang="en-US" sz="2400" dirty="0" smtClean="0">
                <a:cs typeface="Arial" charset="0"/>
              </a:rPr>
              <a:t>Modeling</a:t>
            </a:r>
            <a:r>
              <a:rPr lang="en-US" sz="2400" dirty="0">
                <a:cs typeface="Arial" charset="0"/>
              </a:rPr>
              <a:t>: Does scenario make sense? Quantify?</a:t>
            </a:r>
          </a:p>
          <a:p>
            <a:r>
              <a:rPr lang="en-US" sz="2400" dirty="0">
                <a:cs typeface="Arial" charset="0"/>
              </a:rPr>
              <a:t>Spectra of </a:t>
            </a:r>
            <a:r>
              <a:rPr lang="en-US" sz="2400" dirty="0" smtClean="0">
                <a:cs typeface="Arial" charset="0"/>
              </a:rPr>
              <a:t>seed particles </a:t>
            </a:r>
            <a:r>
              <a:rPr lang="en-US" sz="2400" dirty="0">
                <a:cs typeface="Arial" charset="0"/>
              </a:rPr>
              <a:t>close to the Sun</a:t>
            </a:r>
            <a:r>
              <a:rPr lang="en-US" sz="2400" dirty="0" smtClean="0">
                <a:cs typeface="Arial" charset="0"/>
              </a:rPr>
              <a:t>? (e.g., </a:t>
            </a:r>
            <a:r>
              <a:rPr lang="en-US" sz="2400" dirty="0" err="1" smtClean="0">
                <a:cs typeface="Arial" charset="0"/>
              </a:rPr>
              <a:t>Mewaldt</a:t>
            </a:r>
            <a:r>
              <a:rPr lang="en-US" sz="2400" dirty="0" smtClean="0">
                <a:cs typeface="Arial" charset="0"/>
              </a:rPr>
              <a:t> et al., 2006)</a:t>
            </a:r>
            <a:endParaRPr lang="en-US" sz="2400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"/>
          <p:cNvSpPr txBox="1">
            <a:spLocks noChangeArrowheads="1"/>
          </p:cNvSpPr>
          <p:nvPr/>
        </p:nvSpPr>
        <p:spPr bwMode="auto">
          <a:xfrm>
            <a:off x="1012825" y="914400"/>
            <a:ext cx="6988175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Effect of Seed Particle Enhancement </a:t>
            </a:r>
          </a:p>
          <a:p>
            <a:r>
              <a:rPr lang="en-US" sz="3200">
                <a:solidFill>
                  <a:schemeClr val="tx2"/>
                </a:solidFill>
              </a:rPr>
              <a:t>             on a Major Eruption?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1447800" y="152400"/>
            <a:ext cx="6443663" cy="680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         20 January 2005 GLE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/>
              <a:t>Flare Origin: ~10</a:t>
            </a:r>
            <a:r>
              <a:rPr lang="en-US" sz="2400" baseline="30000" dirty="0"/>
              <a:t>5</a:t>
            </a:r>
            <a:r>
              <a:rPr lang="en-US" sz="2400" dirty="0"/>
              <a:t> </a:t>
            </a:r>
            <a:r>
              <a:rPr lang="en-US" sz="2400" dirty="0" err="1"/>
              <a:t>sfu</a:t>
            </a:r>
            <a:r>
              <a:rPr lang="en-US" sz="2400" dirty="0"/>
              <a:t> at </a:t>
            </a:r>
            <a:r>
              <a:rPr lang="en-US" sz="2400" dirty="0" smtClean="0"/>
              <a:t>~30 </a:t>
            </a:r>
            <a:r>
              <a:rPr lang="en-US" sz="2400" dirty="0"/>
              <a:t>GHz</a:t>
            </a:r>
          </a:p>
          <a:p>
            <a:r>
              <a:rPr lang="en-US" sz="2400" dirty="0"/>
              <a:t>                     </a:t>
            </a:r>
            <a:r>
              <a:rPr lang="en-US" sz="2000" i="1" dirty="0"/>
              <a:t>(</a:t>
            </a:r>
            <a:r>
              <a:rPr lang="en-US" sz="2000" i="1" dirty="0" err="1"/>
              <a:t>Grechnev</a:t>
            </a:r>
            <a:r>
              <a:rPr lang="en-US" sz="2000" i="1" dirty="0"/>
              <a:t> et al., 2008)</a:t>
            </a:r>
          </a:p>
          <a:p>
            <a:endParaRPr lang="en-US" sz="2000" i="1" dirty="0"/>
          </a:p>
          <a:p>
            <a:r>
              <a:rPr lang="en-US" sz="2400" dirty="0"/>
              <a:t>Shock Origin: CME speed ~3200 km s</a:t>
            </a:r>
            <a:r>
              <a:rPr lang="en-US" sz="2400" baseline="30000" dirty="0"/>
              <a:t>-1</a:t>
            </a:r>
          </a:p>
          <a:p>
            <a:r>
              <a:rPr lang="en-US" sz="2000" i="1" dirty="0"/>
              <a:t>                          (</a:t>
            </a:r>
            <a:r>
              <a:rPr lang="en-US" sz="2000" i="1" dirty="0" err="1"/>
              <a:t>Gopalswamy</a:t>
            </a:r>
            <a:r>
              <a:rPr lang="en-US" sz="2000" i="1" dirty="0"/>
              <a:t> et al., 2005)</a:t>
            </a:r>
          </a:p>
          <a:p>
            <a:endParaRPr lang="en-US" sz="2000" i="1" dirty="0"/>
          </a:p>
          <a:p>
            <a:r>
              <a:rPr lang="en-US" sz="2400" dirty="0"/>
              <a:t>Seed Particles: Of 37 GLEs from 1979-2005,</a:t>
            </a:r>
          </a:p>
          <a:p>
            <a:r>
              <a:rPr lang="en-US" sz="2400" dirty="0"/>
              <a:t>only five events located from W40-70 had</a:t>
            </a:r>
          </a:p>
          <a:p>
            <a:r>
              <a:rPr lang="en-US" sz="2400" dirty="0"/>
              <a:t>pre-event 15-25 </a:t>
            </a:r>
            <a:r>
              <a:rPr lang="en-US" sz="2400" dirty="0" err="1"/>
              <a:t>MeV</a:t>
            </a:r>
            <a:r>
              <a:rPr lang="en-US" sz="2400" dirty="0"/>
              <a:t> fluxes at Earth ≥ 10</a:t>
            </a:r>
          </a:p>
          <a:p>
            <a:r>
              <a:rPr lang="en-US" sz="2400" dirty="0"/>
              <a:t>pr cm</a:t>
            </a:r>
            <a:r>
              <a:rPr lang="en-US" sz="2400" baseline="30000" dirty="0"/>
              <a:t>-2</a:t>
            </a:r>
            <a:r>
              <a:rPr lang="en-US" sz="2400" dirty="0"/>
              <a:t> s</a:t>
            </a:r>
            <a:r>
              <a:rPr lang="en-US" sz="2400" baseline="30000" dirty="0"/>
              <a:t>-1</a:t>
            </a:r>
            <a:r>
              <a:rPr lang="en-US" sz="2400" dirty="0"/>
              <a:t> sr</a:t>
            </a:r>
            <a:r>
              <a:rPr lang="en-US" sz="2400" baseline="30000" dirty="0"/>
              <a:t>-1</a:t>
            </a:r>
            <a:r>
              <a:rPr lang="en-US" sz="2400" dirty="0"/>
              <a:t> MeV</a:t>
            </a:r>
            <a:r>
              <a:rPr lang="en-US" sz="2400" baseline="30000" dirty="0"/>
              <a:t>-1</a:t>
            </a:r>
          </a:p>
          <a:p>
            <a:r>
              <a:rPr lang="en-US" sz="2400" dirty="0"/>
              <a:t>                                               SEP          GLE</a:t>
            </a:r>
          </a:p>
          <a:p>
            <a:r>
              <a:rPr lang="en-US" sz="2400" dirty="0"/>
              <a:t>                                Long.       </a:t>
            </a:r>
            <a:r>
              <a:rPr lang="en-US" sz="2400" dirty="0" err="1"/>
              <a:t>Bkg</a:t>
            </a:r>
            <a:r>
              <a:rPr lang="en-US" sz="2400" dirty="0"/>
              <a:t>         % Inc.</a:t>
            </a:r>
          </a:p>
          <a:p>
            <a:r>
              <a:rPr lang="en-US" sz="2400" dirty="0"/>
              <a:t>21 August 1979       W40          20              6</a:t>
            </a:r>
          </a:p>
          <a:p>
            <a:r>
              <a:rPr lang="en-US" sz="2400" dirty="0"/>
              <a:t>24 October 1989     W57          30             95 </a:t>
            </a:r>
          </a:p>
          <a:p>
            <a:r>
              <a:rPr lang="en-US" sz="2400" dirty="0"/>
              <a:t>2 November 2003   W56          10           ~10*</a:t>
            </a:r>
          </a:p>
          <a:p>
            <a:r>
              <a:rPr lang="en-US" sz="2400" dirty="0"/>
              <a:t>20 January 2005     W58          30          ~300*</a:t>
            </a:r>
            <a:endParaRPr lang="en-US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838200"/>
            <a:ext cx="5148263" cy="520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TextBox 1"/>
          <p:cNvSpPr txBox="1">
            <a:spLocks noChangeArrowheads="1"/>
          </p:cNvSpPr>
          <p:nvPr/>
        </p:nvSpPr>
        <p:spPr bwMode="auto">
          <a:xfrm>
            <a:off x="0" y="-76200"/>
            <a:ext cx="92964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>
                <a:solidFill>
                  <a:schemeClr val="tx2"/>
                </a:solidFill>
                <a:cs typeface="Arial" charset="0"/>
              </a:rPr>
              <a:t>                              Related Topic:</a:t>
            </a:r>
          </a:p>
          <a:p>
            <a:r>
              <a:rPr lang="en-US" sz="3200">
                <a:solidFill>
                  <a:schemeClr val="tx2"/>
                </a:solidFill>
                <a:cs typeface="Arial" charset="0"/>
              </a:rPr>
              <a:t>Origin of long-duration pion-rich gamma-ray-flares</a:t>
            </a:r>
          </a:p>
          <a:p>
            <a:endParaRPr lang="en-US" sz="3200">
              <a:latin typeface="Calibri" pitchFamily="34" charset="0"/>
            </a:endParaRPr>
          </a:p>
        </p:txBody>
      </p:sp>
      <p:sp>
        <p:nvSpPr>
          <p:cNvPr id="20484" name="TextBox 3"/>
          <p:cNvSpPr txBox="1">
            <a:spLocks noChangeArrowheads="1"/>
          </p:cNvSpPr>
          <p:nvPr/>
        </p:nvSpPr>
        <p:spPr bwMode="auto">
          <a:xfrm>
            <a:off x="609600" y="6243638"/>
            <a:ext cx="8001000" cy="461962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cs typeface="Arial" charset="0"/>
              </a:rPr>
              <a:t>Forget everything you </a:t>
            </a:r>
            <a:r>
              <a:rPr lang="en-US" sz="2400" dirty="0" smtClean="0">
                <a:solidFill>
                  <a:schemeClr val="tx2"/>
                </a:solidFill>
                <a:cs typeface="Arial" charset="0"/>
              </a:rPr>
              <a:t>ever thought </a:t>
            </a:r>
            <a:r>
              <a:rPr lang="en-US" sz="2400" dirty="0">
                <a:solidFill>
                  <a:schemeClr val="tx2"/>
                </a:solidFill>
                <a:cs typeface="Arial" charset="0"/>
              </a:rPr>
              <a:t>you knew about flares</a:t>
            </a:r>
            <a:endParaRPr lang="en-US" sz="2400" dirty="0">
              <a:cs typeface="Arial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rot="10800000">
            <a:off x="7239000" y="4267200"/>
            <a:ext cx="1066800" cy="158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20000" y="99060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tx2"/>
                </a:solidFill>
              </a:rPr>
              <a:t>(Ryan, 2000)</a:t>
            </a:r>
            <a:endParaRPr lang="en-US" b="1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1"/>
          <p:cNvSpPr txBox="1">
            <a:spLocks noChangeArrowheads="1"/>
          </p:cNvSpPr>
          <p:nvPr/>
        </p:nvSpPr>
        <p:spPr bwMode="auto">
          <a:xfrm>
            <a:off x="1295400" y="1066800"/>
            <a:ext cx="68834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Two Possible Acceleration Scenarios</a:t>
            </a:r>
          </a:p>
          <a:p>
            <a:endParaRPr lang="en-US" sz="240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US" sz="2400">
                <a:solidFill>
                  <a:schemeClr val="tx2"/>
                </a:solidFill>
              </a:rPr>
              <a:t> Late-phase SEP acceleration in a flare</a:t>
            </a:r>
          </a:p>
          <a:p>
            <a:pPr>
              <a:buFontTx/>
              <a:buChar char="-"/>
            </a:pPr>
            <a:endParaRPr lang="en-US" sz="240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US" sz="2400">
                <a:solidFill>
                  <a:schemeClr val="tx2"/>
                </a:solidFill>
              </a:rPr>
              <a:t> Precipitation of SEPs from a CME-driven Shock</a:t>
            </a:r>
          </a:p>
          <a:p>
            <a:endParaRPr lang="en-US" sz="24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2989263" y="406400"/>
            <a:ext cx="3259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Flare Hypothesis</a:t>
            </a:r>
          </a:p>
        </p:txBody>
      </p:sp>
      <p:pic>
        <p:nvPicPr>
          <p:cNvPr id="22531" name="Picture 4" descr="http://www.journals.uchicago.edu/na101/home/literatum/publisher/uchicago/journals/production/apj/2004/605/2/382651/images/large/fg9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2879" y="1143001"/>
            <a:ext cx="4888921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1219200" y="5786438"/>
            <a:ext cx="6791325" cy="461962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CSHKP-type reconnection in the wake of a CME</a:t>
            </a:r>
          </a:p>
        </p:txBody>
      </p:sp>
      <p:sp>
        <p:nvSpPr>
          <p:cNvPr id="6" name="Oval 5"/>
          <p:cNvSpPr/>
          <p:nvPr/>
        </p:nvSpPr>
        <p:spPr>
          <a:xfrm>
            <a:off x="1752600" y="3886200"/>
            <a:ext cx="15240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4" name="TextBox 6"/>
          <p:cNvSpPr txBox="1">
            <a:spLocks noChangeArrowheads="1"/>
          </p:cNvSpPr>
          <p:nvPr/>
        </p:nvSpPr>
        <p:spPr bwMode="auto">
          <a:xfrm>
            <a:off x="4267200" y="3886200"/>
            <a:ext cx="3905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1981200" y="1066800"/>
            <a:ext cx="419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105400" y="1447800"/>
            <a:ext cx="8382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95600" y="1447800"/>
            <a:ext cx="914400" cy="45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1"/>
          <p:cNvSpPr txBox="1">
            <a:spLocks noChangeArrowheads="1"/>
          </p:cNvSpPr>
          <p:nvPr/>
        </p:nvSpPr>
        <p:spPr bwMode="auto">
          <a:xfrm>
            <a:off x="2514600" y="76200"/>
            <a:ext cx="34655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Shock Hypothesis</a:t>
            </a:r>
          </a:p>
        </p:txBody>
      </p:sp>
      <p:sp>
        <p:nvSpPr>
          <p:cNvPr id="23555" name="TextBox 2"/>
          <p:cNvSpPr txBox="1">
            <a:spLocks noChangeArrowheads="1"/>
          </p:cNvSpPr>
          <p:nvPr/>
        </p:nvSpPr>
        <p:spPr bwMode="auto">
          <a:xfrm>
            <a:off x="1219200" y="5867400"/>
            <a:ext cx="6740525" cy="830263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Extended Pion-rich Gamma-Ray-Flares Due to </a:t>
            </a:r>
          </a:p>
          <a:p>
            <a:r>
              <a:rPr lang="en-US" sz="2400">
                <a:solidFill>
                  <a:schemeClr val="tx2"/>
                </a:solidFill>
              </a:rPr>
              <a:t>Precipitation from Coronal/Interplanetary Shock </a:t>
            </a:r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609600"/>
            <a:ext cx="2614613" cy="493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TextBox 4"/>
          <p:cNvSpPr txBox="1">
            <a:spLocks noChangeArrowheads="1"/>
          </p:cNvSpPr>
          <p:nvPr/>
        </p:nvSpPr>
        <p:spPr bwMode="auto">
          <a:xfrm>
            <a:off x="5638800" y="5334000"/>
            <a:ext cx="35353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Cliver, Kahler, &amp; Vestrand (1993)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"/>
          <p:cNvSpPr txBox="1">
            <a:spLocks noChangeArrowheads="1"/>
          </p:cNvSpPr>
          <p:nvPr/>
        </p:nvSpPr>
        <p:spPr bwMode="auto">
          <a:xfrm>
            <a:off x="1905000" y="1073150"/>
            <a:ext cx="5095875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alibri" pitchFamily="34" charset="0"/>
              </a:rPr>
              <a:t>                 Long-Duration Gamma-ray Flares</a:t>
            </a:r>
          </a:p>
          <a:p>
            <a:endParaRPr lang="en-US" dirty="0">
              <a:latin typeface="Calibri" pitchFamily="34" charset="0"/>
            </a:endParaRPr>
          </a:p>
          <a:p>
            <a:r>
              <a:rPr lang="en-US" dirty="0">
                <a:latin typeface="Calibri" pitchFamily="34" charset="0"/>
              </a:rPr>
              <a:t>      Date                                          GLE?            </a:t>
            </a:r>
            <a:r>
              <a:rPr lang="en-US" dirty="0" smtClean="0">
                <a:latin typeface="Calibri" pitchFamily="34" charset="0"/>
              </a:rPr>
              <a:t> SEP</a:t>
            </a:r>
            <a:r>
              <a:rPr lang="en-US" dirty="0">
                <a:latin typeface="Calibri" pitchFamily="34" charset="0"/>
              </a:rPr>
              <a:t>? </a:t>
            </a:r>
          </a:p>
          <a:p>
            <a:r>
              <a:rPr lang="en-US" dirty="0">
                <a:latin typeface="Calibri" pitchFamily="34" charset="0"/>
              </a:rPr>
              <a:t>3 June 1982                               No (E71)           Yes</a:t>
            </a:r>
          </a:p>
          <a:p>
            <a:r>
              <a:rPr lang="en-US" dirty="0">
                <a:latin typeface="Calibri" pitchFamily="34" charset="0"/>
              </a:rPr>
              <a:t>25 April 1984                             No (E43)           Yes</a:t>
            </a:r>
          </a:p>
          <a:p>
            <a:r>
              <a:rPr lang="en-US" dirty="0">
                <a:latin typeface="Calibri" pitchFamily="34" charset="0"/>
              </a:rPr>
              <a:t>16 December 1988                   No (E33)           Yes</a:t>
            </a:r>
          </a:p>
          <a:p>
            <a:r>
              <a:rPr lang="en-US" dirty="0">
                <a:latin typeface="Calibri" pitchFamily="34" charset="0"/>
              </a:rPr>
              <a:t>6 March 1989                            No (E69)           Yes</a:t>
            </a:r>
          </a:p>
          <a:p>
            <a:r>
              <a:rPr lang="en-US" dirty="0">
                <a:latin typeface="Calibri" pitchFamily="34" charset="0"/>
              </a:rPr>
              <a:t>15 April 1990                             No (E57)           Yes</a:t>
            </a:r>
          </a:p>
          <a:p>
            <a:r>
              <a:rPr lang="en-US" dirty="0">
                <a:latin typeface="Calibri" pitchFamily="34" charset="0"/>
              </a:rPr>
              <a:t>26 Mar 1991                              No (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W23</a:t>
            </a:r>
            <a:r>
              <a:rPr lang="en-US" dirty="0">
                <a:latin typeface="Calibri" pitchFamily="34" charset="0"/>
              </a:rPr>
              <a:t>)          </a:t>
            </a:r>
            <a:r>
              <a:rPr lang="en-US" dirty="0" smtClean="0">
                <a:latin typeface="Calibri" pitchFamily="34" charset="0"/>
              </a:rPr>
              <a:t>Yes?</a:t>
            </a:r>
            <a:endParaRPr lang="en-US" dirty="0">
              <a:latin typeface="Calibri" pitchFamily="34" charset="0"/>
            </a:endParaRPr>
          </a:p>
          <a:p>
            <a:r>
              <a:rPr lang="en-US" dirty="0">
                <a:latin typeface="Calibri" pitchFamily="34" charset="0"/>
              </a:rPr>
              <a:t>4 June 1991                                No (E70)          </a:t>
            </a:r>
            <a:r>
              <a:rPr lang="en-US" dirty="0" smtClean="0">
                <a:latin typeface="Calibri" pitchFamily="34" charset="0"/>
              </a:rPr>
              <a:t> Yes</a:t>
            </a:r>
            <a:endParaRPr lang="en-US" dirty="0">
              <a:solidFill>
                <a:srgbClr val="FF0000"/>
              </a:solidFill>
              <a:latin typeface="Calibri" pitchFamily="34" charset="0"/>
            </a:endParaRPr>
          </a:p>
          <a:p>
            <a:r>
              <a:rPr lang="en-US" dirty="0">
                <a:latin typeface="Calibri" pitchFamily="34" charset="0"/>
              </a:rPr>
              <a:t>6 June 1991                                No (E44)           Yes</a:t>
            </a:r>
          </a:p>
          <a:p>
            <a:r>
              <a:rPr lang="en-US" dirty="0">
                <a:latin typeface="Calibri" pitchFamily="34" charset="0"/>
              </a:rPr>
              <a:t>9 June 1991                                No (E04)           Yes</a:t>
            </a:r>
          </a:p>
          <a:p>
            <a:endParaRPr lang="en-US" dirty="0">
              <a:latin typeface="Calibri" pitchFamily="34" charset="0"/>
            </a:endParaRPr>
          </a:p>
          <a:p>
            <a:endParaRPr lang="en-US" dirty="0">
              <a:latin typeface="Calibri" pitchFamily="34" charset="0"/>
            </a:endParaRPr>
          </a:p>
          <a:p>
            <a:r>
              <a:rPr lang="en-US" dirty="0">
                <a:latin typeface="Calibri" pitchFamily="34" charset="0"/>
              </a:rPr>
              <a:t>29 September 1989                  Yes (W100)</a:t>
            </a:r>
          </a:p>
          <a:p>
            <a:r>
              <a:rPr lang="en-US" dirty="0">
                <a:latin typeface="Calibri" pitchFamily="34" charset="0"/>
              </a:rPr>
              <a:t>24 May 1990                              Yes (W76)</a:t>
            </a:r>
          </a:p>
          <a:p>
            <a:r>
              <a:rPr lang="en-US" dirty="0">
                <a:latin typeface="Calibri" pitchFamily="34" charset="0"/>
              </a:rPr>
              <a:t>11 June 1991                             Yes (W15)</a:t>
            </a:r>
          </a:p>
          <a:p>
            <a:r>
              <a:rPr lang="en-US" dirty="0">
                <a:latin typeface="Calibri" pitchFamily="34" charset="0"/>
              </a:rPr>
              <a:t>15 June 1991                             Yes (W70)</a:t>
            </a:r>
          </a:p>
          <a:p>
            <a:r>
              <a:rPr lang="en-US" dirty="0">
                <a:latin typeface="Calibri" pitchFamily="34" charset="0"/>
              </a:rPr>
              <a:t>28 October 2003                       Yes (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E08</a:t>
            </a:r>
            <a:r>
              <a:rPr lang="en-US" dirty="0">
                <a:latin typeface="Calibri" pitchFamily="34" charset="0"/>
              </a:rPr>
              <a:t>)</a:t>
            </a:r>
          </a:p>
          <a:p>
            <a:r>
              <a:rPr lang="en-US" dirty="0">
                <a:latin typeface="Calibri" pitchFamily="34" charset="0"/>
              </a:rPr>
              <a:t>20 January 2005                        Yes (W58)</a:t>
            </a:r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1752600" y="76200"/>
            <a:ext cx="511333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Requirement  for Shock Hypothesis:</a:t>
            </a:r>
          </a:p>
          <a:p>
            <a:r>
              <a:rPr lang="en-US" sz="2400"/>
              <a:t>          Concurrent SEP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600" y="5782270"/>
            <a:ext cx="28777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 smtClean="0">
                <a:solidFill>
                  <a:schemeClr val="tx2">
                    <a:lumMod val="50000"/>
                  </a:schemeClr>
                </a:solidFill>
              </a:rPr>
              <a:t>Dunphy</a:t>
            </a:r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 &amp; </a:t>
            </a:r>
            <a:r>
              <a:rPr lang="en-US" b="1" i="1" dirty="0" err="1" smtClean="0">
                <a:solidFill>
                  <a:schemeClr val="tx2">
                    <a:lumMod val="50000"/>
                  </a:schemeClr>
                </a:solidFill>
              </a:rPr>
              <a:t>Chupp</a:t>
            </a:r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 (1994);</a:t>
            </a:r>
          </a:p>
          <a:p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Ryan (2000); </a:t>
            </a:r>
            <a:r>
              <a:rPr lang="en-US" b="1" i="1" dirty="0" err="1" smtClean="0">
                <a:solidFill>
                  <a:schemeClr val="tx2">
                    <a:lumMod val="50000"/>
                  </a:schemeClr>
                </a:solidFill>
              </a:rPr>
              <a:t>Chupp</a:t>
            </a:r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 &amp; </a:t>
            </a:r>
          </a:p>
          <a:p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Ryan (2009)</a:t>
            </a:r>
            <a:endParaRPr lang="en-US" b="1" i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/>
          <p:cNvSpPr txBox="1">
            <a:spLocks noChangeArrowheads="1"/>
          </p:cNvSpPr>
          <p:nvPr/>
        </p:nvSpPr>
        <p:spPr bwMode="auto">
          <a:xfrm>
            <a:off x="685800" y="1066800"/>
            <a:ext cx="7739063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cs typeface="Arial" charset="0"/>
              </a:rPr>
              <a:t>        </a:t>
            </a:r>
            <a:r>
              <a:rPr lang="en-US" sz="3200" dirty="0" smtClean="0">
                <a:solidFill>
                  <a:schemeClr val="tx2"/>
                </a:solidFill>
                <a:cs typeface="Arial" charset="0"/>
              </a:rPr>
              <a:t>   </a:t>
            </a:r>
            <a:r>
              <a:rPr lang="en-US" sz="3200" dirty="0">
                <a:solidFill>
                  <a:schemeClr val="tx2"/>
                </a:solidFill>
                <a:cs typeface="Arial" charset="0"/>
              </a:rPr>
              <a:t>Possible workshop exercise:</a:t>
            </a:r>
          </a:p>
          <a:p>
            <a:endParaRPr lang="en-US" sz="2400" dirty="0">
              <a:solidFill>
                <a:schemeClr val="tx2"/>
              </a:solidFill>
              <a:cs typeface="Arial" charset="0"/>
            </a:endParaRPr>
          </a:p>
          <a:p>
            <a:r>
              <a:rPr lang="en-US" sz="2400" dirty="0">
                <a:cs typeface="Arial" charset="0"/>
              </a:rPr>
              <a:t>   Modeling:  Can precipitation of shock-accelerated</a:t>
            </a:r>
          </a:p>
          <a:p>
            <a:r>
              <a:rPr lang="en-US" sz="2400" dirty="0">
                <a:cs typeface="Arial" charset="0"/>
              </a:rPr>
              <a:t>                     SEPs account for the extended gamma-</a:t>
            </a:r>
          </a:p>
          <a:p>
            <a:r>
              <a:rPr lang="en-US" sz="2400" dirty="0">
                <a:cs typeface="Arial" charset="0"/>
              </a:rPr>
              <a:t>                     ray emission?</a:t>
            </a:r>
          </a:p>
          <a:p>
            <a:endParaRPr lang="en-US" sz="2400" dirty="0">
              <a:cs typeface="Arial" charset="0"/>
            </a:endParaRPr>
          </a:p>
          <a:p>
            <a:r>
              <a:rPr lang="en-US" sz="2400" dirty="0">
                <a:cs typeface="Arial" charset="0"/>
              </a:rPr>
              <a:t>  Analysis: Use GRO data to look for enhanced gamma-</a:t>
            </a:r>
          </a:p>
          <a:p>
            <a:r>
              <a:rPr lang="en-US" sz="2400" dirty="0">
                <a:cs typeface="Arial" charset="0"/>
              </a:rPr>
              <a:t>                  ray emission during times of enhanced SEP</a:t>
            </a:r>
          </a:p>
          <a:p>
            <a:r>
              <a:rPr lang="en-US" sz="2400" dirty="0">
                <a:cs typeface="Arial" charset="0"/>
              </a:rPr>
              <a:t>                  flux (outside of </a:t>
            </a:r>
            <a:r>
              <a:rPr lang="en-US" sz="2400" dirty="0" smtClean="0">
                <a:cs typeface="Arial" charset="0"/>
              </a:rPr>
              <a:t>flares; occulted flares).</a:t>
            </a:r>
            <a:endParaRPr lang="en-US" sz="2400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/>
          <p:cNvSpPr txBox="1">
            <a:spLocks noChangeArrowheads="1"/>
          </p:cNvSpPr>
          <p:nvPr/>
        </p:nvSpPr>
        <p:spPr bwMode="auto">
          <a:xfrm>
            <a:off x="1020882" y="1284982"/>
            <a:ext cx="7361118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GLEs </a:t>
            </a:r>
            <a:r>
              <a:rPr lang="en-US" sz="3200" dirty="0" smtClean="0">
                <a:solidFill>
                  <a:schemeClr val="tx2"/>
                </a:solidFill>
              </a:rPr>
              <a:t>Associated with Impulsive Flares:</a:t>
            </a:r>
            <a:endParaRPr lang="en-US" sz="3200" dirty="0">
              <a:solidFill>
                <a:schemeClr val="tx2"/>
              </a:solidFill>
            </a:endParaRPr>
          </a:p>
          <a:p>
            <a:r>
              <a:rPr lang="en-US" sz="3200" dirty="0" smtClean="0">
                <a:solidFill>
                  <a:schemeClr val="tx2"/>
                </a:solidFill>
              </a:rPr>
              <a:t>                       Flare Origin?</a:t>
            </a:r>
            <a:endParaRPr lang="en-US" sz="3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1"/>
          <p:cNvSpPr txBox="1">
            <a:spLocks noChangeArrowheads="1"/>
          </p:cNvSpPr>
          <p:nvPr/>
        </p:nvSpPr>
        <p:spPr bwMode="auto">
          <a:xfrm>
            <a:off x="1905000" y="228600"/>
            <a:ext cx="551656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tx2"/>
                </a:solidFill>
                <a:cs typeface="Arial" charset="0"/>
              </a:rPr>
              <a:t>Impulsive GLEs in May 1990:</a:t>
            </a:r>
          </a:p>
          <a:p>
            <a:r>
              <a:rPr lang="en-US" sz="3200">
                <a:solidFill>
                  <a:schemeClr val="tx2"/>
                </a:solidFill>
                <a:cs typeface="Arial" charset="0"/>
              </a:rPr>
              <a:t>              Flare Origin? 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3538" y="1447800"/>
            <a:ext cx="8393112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/>
          <p:nvPr/>
        </p:nvCxnSpPr>
        <p:spPr>
          <a:xfrm rot="10800000">
            <a:off x="8001000" y="3733800"/>
            <a:ext cx="381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8001000" y="4038600"/>
            <a:ext cx="381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0800000">
            <a:off x="8001000" y="4267200"/>
            <a:ext cx="3810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33400" y="4648200"/>
            <a:ext cx="236220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6" name="TextBox 15"/>
          <p:cNvSpPr txBox="1">
            <a:spLocks noChangeArrowheads="1"/>
          </p:cNvSpPr>
          <p:nvPr/>
        </p:nvSpPr>
        <p:spPr bwMode="auto">
          <a:xfrm>
            <a:off x="1066800" y="5181600"/>
            <a:ext cx="7319963" cy="1200150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>
                <a:solidFill>
                  <a:schemeClr val="tx2"/>
                </a:solidFill>
              </a:rPr>
              <a:t>Subsequent GLEs linked to impulsive flares</a:t>
            </a:r>
          </a:p>
          <a:p>
            <a:pPr algn="ctr"/>
            <a:r>
              <a:rPr lang="en-US" sz="2400">
                <a:solidFill>
                  <a:schemeClr val="tx2"/>
                </a:solidFill>
              </a:rPr>
              <a:t>[6 November 1997, 2 May 1998, 6 May 1998]</a:t>
            </a:r>
          </a:p>
          <a:p>
            <a:pPr algn="ctr"/>
            <a:r>
              <a:rPr lang="en-US" sz="2400">
                <a:solidFill>
                  <a:schemeClr val="tx2"/>
                </a:solidFill>
              </a:rPr>
              <a:t>had high Fe charge states  (~19) and high Fe/O (~5)</a:t>
            </a:r>
          </a:p>
        </p:txBody>
      </p:sp>
      <p:sp>
        <p:nvSpPr>
          <p:cNvPr id="27657" name="TextBox 16"/>
          <p:cNvSpPr txBox="1">
            <a:spLocks noChangeArrowheads="1"/>
          </p:cNvSpPr>
          <p:nvPr/>
        </p:nvSpPr>
        <p:spPr bwMode="auto">
          <a:xfrm>
            <a:off x="6248400" y="1524000"/>
            <a:ext cx="13017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(1976-1990)</a:t>
            </a:r>
          </a:p>
        </p:txBody>
      </p:sp>
      <p:sp>
        <p:nvSpPr>
          <p:cNvPr id="27658" name="TextBox 17"/>
          <p:cNvSpPr txBox="1">
            <a:spLocks noChangeArrowheads="1"/>
          </p:cNvSpPr>
          <p:nvPr/>
        </p:nvSpPr>
        <p:spPr bwMode="auto">
          <a:xfrm>
            <a:off x="6858000" y="6400800"/>
            <a:ext cx="2159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Cohen et al. (1999)</a:t>
            </a:r>
          </a:p>
        </p:txBody>
      </p:sp>
      <p:sp>
        <p:nvSpPr>
          <p:cNvPr id="27659" name="TextBox 18"/>
          <p:cNvSpPr txBox="1">
            <a:spLocks noChangeArrowheads="1"/>
          </p:cNvSpPr>
          <p:nvPr/>
        </p:nvSpPr>
        <p:spPr bwMode="auto">
          <a:xfrm>
            <a:off x="6540500" y="4648200"/>
            <a:ext cx="21463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Kahler et al. (1991)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63525"/>
            <a:ext cx="4724400" cy="654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905000" y="3581400"/>
            <a:ext cx="5486400" cy="327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9700" name="TextBox 3"/>
          <p:cNvSpPr txBox="1">
            <a:spLocks noChangeArrowheads="1"/>
          </p:cNvSpPr>
          <p:nvPr/>
        </p:nvSpPr>
        <p:spPr bwMode="auto">
          <a:xfrm>
            <a:off x="609600" y="4038600"/>
            <a:ext cx="8229600" cy="1816100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/>
              <a:t>Electron-to-proton ratios as a diagnostic of </a:t>
            </a:r>
          </a:p>
          <a:p>
            <a:pPr algn="ctr"/>
            <a:r>
              <a:rPr lang="en-US" sz="2400"/>
              <a:t>flare vs. shock acceleration</a:t>
            </a:r>
          </a:p>
          <a:p>
            <a:r>
              <a:rPr lang="en-US" sz="2400"/>
              <a:t> </a:t>
            </a:r>
            <a:r>
              <a:rPr lang="en-US" sz="2000"/>
              <a:t>1)  Flare SEP events have higher and more variable e/p ratios</a:t>
            </a:r>
            <a:endParaRPr lang="en-US" sz="2400"/>
          </a:p>
          <a:p>
            <a:r>
              <a:rPr lang="en-US"/>
              <a:t>  </a:t>
            </a:r>
            <a:r>
              <a:rPr lang="en-US" sz="2000"/>
              <a:t>2)  Interacting particles have e/p ratios comparable to the largest</a:t>
            </a:r>
          </a:p>
          <a:p>
            <a:r>
              <a:rPr lang="en-US" sz="2000"/>
              <a:t>       values found in flare SEP events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3794" y="3276600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(</a:t>
            </a:r>
            <a:r>
              <a:rPr lang="en-US" dirty="0" err="1" smtClean="0">
                <a:solidFill>
                  <a:schemeClr val="tx2"/>
                </a:solidFill>
              </a:rPr>
              <a:t>C</a:t>
            </a:r>
            <a:r>
              <a:rPr lang="en-US" i="1" dirty="0" err="1" smtClean="0">
                <a:solidFill>
                  <a:schemeClr val="tx2"/>
                </a:solidFill>
              </a:rPr>
              <a:t>liver</a:t>
            </a:r>
            <a:r>
              <a:rPr lang="en-US" i="1" dirty="0" smtClean="0">
                <a:solidFill>
                  <a:schemeClr val="tx2"/>
                </a:solidFill>
              </a:rPr>
              <a:t> &amp; Ling, 2007)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3"/>
          <p:cNvGrpSpPr>
            <a:grpSpLocks/>
          </p:cNvGrpSpPr>
          <p:nvPr/>
        </p:nvGrpSpPr>
        <p:grpSpPr bwMode="auto">
          <a:xfrm>
            <a:off x="609600" y="269875"/>
            <a:ext cx="7923213" cy="5749925"/>
            <a:chOff x="533400" y="212725"/>
            <a:chExt cx="7923213" cy="5749925"/>
          </a:xfrm>
        </p:grpSpPr>
        <p:pic>
          <p:nvPicPr>
            <p:cNvPr id="30724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33400" y="212725"/>
              <a:ext cx="7923213" cy="5749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Rectangle 5"/>
            <p:cNvSpPr/>
            <p:nvPr/>
          </p:nvSpPr>
          <p:spPr>
            <a:xfrm>
              <a:off x="4267200" y="1905000"/>
              <a:ext cx="152400" cy="1524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29000" y="2514600"/>
              <a:ext cx="152400" cy="1524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505200" y="1981200"/>
              <a:ext cx="152400" cy="1524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962400" y="2057400"/>
              <a:ext cx="152400" cy="1524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/>
            </a:p>
          </p:txBody>
        </p:sp>
      </p:grpSp>
      <p:sp>
        <p:nvSpPr>
          <p:cNvPr id="30723" name="TextBox 2"/>
          <p:cNvSpPr txBox="1">
            <a:spLocks noChangeArrowheads="1"/>
          </p:cNvSpPr>
          <p:nvPr/>
        </p:nvSpPr>
        <p:spPr bwMode="auto">
          <a:xfrm>
            <a:off x="1589411" y="5951538"/>
            <a:ext cx="6335389" cy="830997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Large SEP events with higher e/p </a:t>
            </a:r>
            <a:r>
              <a:rPr lang="en-US" sz="2400" dirty="0" smtClean="0">
                <a:solidFill>
                  <a:schemeClr val="tx2"/>
                </a:solidFill>
              </a:rPr>
              <a:t>ratios tend</a:t>
            </a: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 smtClean="0">
                <a:solidFill>
                  <a:schemeClr val="tx2"/>
                </a:solidFill>
              </a:rPr>
              <a:t>              to </a:t>
            </a:r>
            <a:r>
              <a:rPr lang="en-US" sz="2400" dirty="0">
                <a:solidFill>
                  <a:schemeClr val="tx2"/>
                </a:solidFill>
              </a:rPr>
              <a:t>have higher Fe/O </a:t>
            </a:r>
            <a:r>
              <a:rPr lang="en-US" sz="2400" dirty="0" smtClean="0">
                <a:solidFill>
                  <a:schemeClr val="tx2"/>
                </a:solidFill>
              </a:rPr>
              <a:t>ratios 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Box 2"/>
          <p:cNvSpPr txBox="1">
            <a:spLocks noChangeArrowheads="1"/>
          </p:cNvSpPr>
          <p:nvPr/>
        </p:nvSpPr>
        <p:spPr bwMode="auto">
          <a:xfrm>
            <a:off x="1295400" y="4907340"/>
            <a:ext cx="6742615" cy="1569660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There </a:t>
            </a:r>
            <a:r>
              <a:rPr lang="en-US" sz="2400" dirty="0">
                <a:solidFill>
                  <a:schemeClr val="tx2"/>
                </a:solidFill>
              </a:rPr>
              <a:t>is a tendency for SEP events associated </a:t>
            </a:r>
          </a:p>
          <a:p>
            <a:r>
              <a:rPr lang="en-US" sz="2400" dirty="0" smtClean="0">
                <a:solidFill>
                  <a:schemeClr val="tx2"/>
                </a:solidFill>
              </a:rPr>
              <a:t>  with </a:t>
            </a:r>
            <a:r>
              <a:rPr lang="en-US" sz="2400" dirty="0">
                <a:solidFill>
                  <a:schemeClr val="tx2"/>
                </a:solidFill>
              </a:rPr>
              <a:t>impulsive flares to have high Fe/O ratios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                                  Why?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447800" y="228600"/>
            <a:ext cx="6400800" cy="4419600"/>
            <a:chOff x="1747837" y="1490662"/>
            <a:chExt cx="5648325" cy="3876675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747837" y="1490662"/>
              <a:ext cx="5648325" cy="3876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Oval 5"/>
            <p:cNvSpPr/>
            <p:nvPr/>
          </p:nvSpPr>
          <p:spPr>
            <a:xfrm>
              <a:off x="3276255" y="1904429"/>
              <a:ext cx="152441" cy="152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38458" y="2057204"/>
              <a:ext cx="152441" cy="152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657356" y="1980817"/>
              <a:ext cx="152441" cy="152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9541" y="0"/>
            <a:ext cx="6712859" cy="2466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3276600"/>
            <a:ext cx="416242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TextBox 2"/>
          <p:cNvSpPr txBox="1">
            <a:spLocks noChangeArrowheads="1"/>
          </p:cNvSpPr>
          <p:nvPr/>
        </p:nvSpPr>
        <p:spPr bwMode="auto">
          <a:xfrm>
            <a:off x="1462088" y="2590800"/>
            <a:ext cx="6005512" cy="461963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Lateral expansion from a compact source?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1"/>
          <p:cNvSpPr txBox="1">
            <a:spLocks noChangeArrowheads="1"/>
          </p:cNvSpPr>
          <p:nvPr/>
        </p:nvSpPr>
        <p:spPr bwMode="auto">
          <a:xfrm>
            <a:off x="1585913" y="330200"/>
            <a:ext cx="58054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smtClean="0">
                <a:solidFill>
                  <a:schemeClr val="tx2"/>
                </a:solidFill>
              </a:rPr>
              <a:t> Possible </a:t>
            </a:r>
            <a:r>
              <a:rPr lang="en-US" sz="3200" dirty="0">
                <a:solidFill>
                  <a:schemeClr val="tx2"/>
                </a:solidFill>
              </a:rPr>
              <a:t>Workshop  </a:t>
            </a:r>
            <a:r>
              <a:rPr lang="en-US" sz="3200" dirty="0" smtClean="0">
                <a:solidFill>
                  <a:schemeClr val="tx2"/>
                </a:solidFill>
              </a:rPr>
              <a:t>Exercise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3795" name="TextBox 3"/>
          <p:cNvSpPr txBox="1">
            <a:spLocks noChangeArrowheads="1"/>
          </p:cNvSpPr>
          <p:nvPr/>
        </p:nvSpPr>
        <p:spPr bwMode="auto">
          <a:xfrm>
            <a:off x="1676400" y="1066800"/>
            <a:ext cx="5840413" cy="397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For  the GLE data base, determine, insofar as possible:</a:t>
            </a:r>
          </a:p>
          <a:p>
            <a:endParaRPr lang="en-US" dirty="0"/>
          </a:p>
          <a:p>
            <a:r>
              <a:rPr lang="en-US" dirty="0"/>
              <a:t>	- flare time scale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- e/p ratio</a:t>
            </a:r>
          </a:p>
          <a:p>
            <a:endParaRPr lang="en-US" dirty="0"/>
          </a:p>
          <a:p>
            <a:r>
              <a:rPr lang="en-US" dirty="0"/>
              <a:t>	- Fe/O ratio (</a:t>
            </a:r>
            <a:r>
              <a:rPr lang="en-US" dirty="0" err="1"/>
              <a:t>Tylka</a:t>
            </a:r>
            <a:r>
              <a:rPr lang="en-US" dirty="0"/>
              <a:t> et al., 2005)</a:t>
            </a:r>
          </a:p>
          <a:p>
            <a:endParaRPr lang="en-US" dirty="0"/>
          </a:p>
          <a:p>
            <a:r>
              <a:rPr lang="en-US" dirty="0"/>
              <a:t>               - Fe charge states</a:t>
            </a:r>
          </a:p>
          <a:p>
            <a:endParaRPr lang="en-US" dirty="0"/>
          </a:p>
          <a:p>
            <a:r>
              <a:rPr lang="en-US" dirty="0"/>
              <a:t>	- wave </a:t>
            </a:r>
            <a:r>
              <a:rPr lang="en-US" dirty="0" smtClean="0"/>
              <a:t>association </a:t>
            </a:r>
            <a:r>
              <a:rPr lang="en-US" dirty="0"/>
              <a:t>(H</a:t>
            </a:r>
            <a:r>
              <a:rPr lang="el-GR" dirty="0"/>
              <a:t>α</a:t>
            </a:r>
            <a:r>
              <a:rPr lang="en-US" dirty="0"/>
              <a:t>, EUV, SXR)</a:t>
            </a:r>
          </a:p>
          <a:p>
            <a:r>
              <a:rPr lang="en-US" dirty="0"/>
              <a:t>                 [e.g., 16 July 59 (</a:t>
            </a:r>
            <a:r>
              <a:rPr lang="en-US" dirty="0" err="1"/>
              <a:t>Athay</a:t>
            </a:r>
            <a:r>
              <a:rPr lang="en-US" dirty="0"/>
              <a:t> &amp; </a:t>
            </a:r>
            <a:r>
              <a:rPr lang="en-US" dirty="0" err="1"/>
              <a:t>Moreton</a:t>
            </a:r>
            <a:r>
              <a:rPr lang="en-US" dirty="0"/>
              <a:t>,  1961);</a:t>
            </a:r>
          </a:p>
          <a:p>
            <a:r>
              <a:rPr lang="en-US" dirty="0"/>
              <a:t>                 24 May 1990 (</a:t>
            </a:r>
            <a:r>
              <a:rPr lang="en-US" dirty="0" err="1"/>
              <a:t>Kocharov</a:t>
            </a:r>
            <a:r>
              <a:rPr lang="en-US" dirty="0"/>
              <a:t> et al., 1994)]</a:t>
            </a:r>
          </a:p>
          <a:p>
            <a:endParaRPr lang="en-US" dirty="0"/>
          </a:p>
        </p:txBody>
      </p:sp>
      <p:sp>
        <p:nvSpPr>
          <p:cNvPr id="33796" name="TextBox 4"/>
          <p:cNvSpPr txBox="1">
            <a:spLocks noChangeArrowheads="1"/>
          </p:cNvSpPr>
          <p:nvPr/>
        </p:nvSpPr>
        <p:spPr bwMode="auto">
          <a:xfrm>
            <a:off x="914400" y="5105400"/>
            <a:ext cx="731642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Science questions:</a:t>
            </a:r>
          </a:p>
          <a:p>
            <a:r>
              <a:rPr lang="en-US" sz="2400" dirty="0"/>
              <a:t>                    -  flare </a:t>
            </a:r>
            <a:r>
              <a:rPr lang="en-US" sz="2400" dirty="0" smtClean="0"/>
              <a:t>or shock?</a:t>
            </a:r>
            <a:endParaRPr lang="en-US" sz="2400" dirty="0"/>
          </a:p>
          <a:p>
            <a:r>
              <a:rPr lang="en-US" sz="2400" dirty="0"/>
              <a:t>                    -  quasi-perpendicular </a:t>
            </a:r>
            <a:r>
              <a:rPr lang="en-US" sz="2400" dirty="0" smtClean="0"/>
              <a:t>or quasi-parallel?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"/>
          <p:cNvSpPr txBox="1">
            <a:spLocks noChangeArrowheads="1"/>
          </p:cNvSpPr>
          <p:nvPr/>
        </p:nvSpPr>
        <p:spPr bwMode="auto">
          <a:xfrm>
            <a:off x="363366" y="76200"/>
            <a:ext cx="870443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</a:rPr>
              <a:t>GLEs Associated with Poorly-connected Flares</a:t>
            </a:r>
          </a:p>
          <a:p>
            <a:r>
              <a:rPr lang="en-US" sz="2400" dirty="0" smtClean="0">
                <a:solidFill>
                  <a:schemeClr val="tx2"/>
                </a:solidFill>
              </a:rPr>
              <a:t>                     </a:t>
            </a:r>
            <a:r>
              <a:rPr lang="en-US" sz="2400" dirty="0" smtClean="0">
                <a:solidFill>
                  <a:srgbClr val="FF0000"/>
                </a:solidFill>
              </a:rPr>
              <a:t>(Longitude &lt; W05  or  &gt;  W105)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2590800" y="1073289"/>
            <a:ext cx="457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/>
            <a:r>
              <a:rPr lang="en-US" dirty="0" smtClean="0">
                <a:cs typeface="Arial" charset="0"/>
              </a:rPr>
              <a:t>         Date                       Location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28 February 1942                E04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25 July 1946                        E15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31 August 1956                    E15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3 September 1960               E88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12 November 1960             W04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20 November 1960           W113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28 January 1967               W154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28 January 1967               W154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30 March 1969                  W106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1 September 1971            W120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4 August 1972                      E08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24 Sep 1977                     W120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12 </a:t>
            </a:r>
            <a:r>
              <a:rPr lang="en-US" dirty="0">
                <a:cs typeface="Arial" charset="0"/>
              </a:rPr>
              <a:t>October </a:t>
            </a:r>
            <a:r>
              <a:rPr lang="en-US" dirty="0" smtClean="0">
                <a:cs typeface="Arial" charset="0"/>
              </a:rPr>
              <a:t>1981                  E31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16 February 1984             W130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19 </a:t>
            </a:r>
            <a:r>
              <a:rPr lang="en-US" dirty="0">
                <a:cs typeface="Arial" charset="0"/>
              </a:rPr>
              <a:t>October </a:t>
            </a:r>
            <a:r>
              <a:rPr lang="en-US" dirty="0" smtClean="0">
                <a:cs typeface="Arial" charset="0"/>
              </a:rPr>
              <a:t>1989                  E09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28 May 1990                     W120</a:t>
            </a:r>
            <a:endParaRPr lang="en-US" dirty="0">
              <a:cs typeface="Arial" charset="0"/>
            </a:endParaRPr>
          </a:p>
          <a:p>
            <a:pPr marL="514350" indent="-514350"/>
            <a:r>
              <a:rPr lang="en-US" dirty="0" smtClean="0">
                <a:cs typeface="Arial" charset="0"/>
              </a:rPr>
              <a:t>24 </a:t>
            </a:r>
            <a:r>
              <a:rPr lang="en-US" dirty="0">
                <a:cs typeface="Arial" charset="0"/>
              </a:rPr>
              <a:t>August </a:t>
            </a:r>
            <a:r>
              <a:rPr lang="en-US" dirty="0" smtClean="0">
                <a:cs typeface="Arial" charset="0"/>
              </a:rPr>
              <a:t>1998                    E09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18 April 2001                     W115</a:t>
            </a:r>
          </a:p>
          <a:p>
            <a:pPr marL="514350" indent="-514350"/>
            <a:r>
              <a:rPr lang="en-US" dirty="0" smtClean="0">
                <a:cs typeface="Arial" charset="0"/>
              </a:rPr>
              <a:t>28 </a:t>
            </a:r>
            <a:r>
              <a:rPr lang="en-US" dirty="0">
                <a:cs typeface="Arial" charset="0"/>
              </a:rPr>
              <a:t>October </a:t>
            </a:r>
            <a:r>
              <a:rPr lang="en-US" dirty="0" smtClean="0">
                <a:cs typeface="Arial" charset="0"/>
              </a:rPr>
              <a:t>2003                  E08</a:t>
            </a:r>
            <a:endParaRPr lang="en-US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015186"/>
            <a:ext cx="6859378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</a:rPr>
              <a:t>Two Possible Propagation Scenarios</a:t>
            </a:r>
          </a:p>
          <a:p>
            <a:endParaRPr lang="en-US" sz="3200" dirty="0">
              <a:solidFill>
                <a:schemeClr val="tx2"/>
              </a:solidFill>
            </a:endParaRPr>
          </a:p>
          <a:p>
            <a:r>
              <a:rPr lang="en-US" sz="2400" dirty="0" smtClean="0"/>
              <a:t>- Flare: Connection via a preceding CME</a:t>
            </a:r>
          </a:p>
          <a:p>
            <a:endParaRPr lang="en-US" sz="2400" dirty="0"/>
          </a:p>
          <a:p>
            <a:r>
              <a:rPr lang="en-US" sz="2400" dirty="0" smtClean="0"/>
              <a:t>- Shock: Widespread acceleration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28600"/>
            <a:ext cx="5580062" cy="492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295400" y="5710535"/>
            <a:ext cx="6468437" cy="461665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Direct magnetic </a:t>
            </a:r>
            <a:r>
              <a:rPr lang="en-US" sz="2400" dirty="0"/>
              <a:t>c</a:t>
            </a:r>
            <a:r>
              <a:rPr lang="en-US" sz="2400" dirty="0" smtClean="0"/>
              <a:t>onnection via previous CME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343400" y="6324600"/>
            <a:ext cx="4788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tx2"/>
                </a:solidFill>
              </a:rPr>
              <a:t>Richardson, Cane, von </a:t>
            </a:r>
            <a:r>
              <a:rPr lang="en-US" b="1" i="1" dirty="0" err="1" smtClean="0">
                <a:solidFill>
                  <a:schemeClr val="tx2"/>
                </a:solidFill>
              </a:rPr>
              <a:t>Rosenvinge</a:t>
            </a:r>
            <a:r>
              <a:rPr lang="en-US" b="1" i="1" dirty="0" smtClean="0">
                <a:solidFill>
                  <a:schemeClr val="tx2"/>
                </a:solidFill>
              </a:rPr>
              <a:t> (1991)</a:t>
            </a:r>
            <a:endParaRPr lang="en-US" b="1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www.journals.uchicago.edu/na101/home/literatum/publisher/uchicago/journals/production/apj/1999/519/2/307415/images/large/fg7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8369300" cy="605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172200" y="3048000"/>
            <a:ext cx="2286000" cy="304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905000" y="6096000"/>
            <a:ext cx="4991623" cy="369332"/>
          </a:xfrm>
          <a:prstGeom prst="rect">
            <a:avLst/>
          </a:prstGeom>
          <a:solidFill>
            <a:srgbClr val="F7FEB4"/>
          </a:solidFill>
          <a:ln w="38100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Widespread acceleration at a coronal shock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3727" y="6477000"/>
            <a:ext cx="3570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chemeClr val="tx2"/>
                </a:solidFill>
              </a:rPr>
              <a:t>Krucker</a:t>
            </a:r>
            <a:r>
              <a:rPr lang="en-US" i="1" dirty="0" smtClean="0">
                <a:solidFill>
                  <a:schemeClr val="tx2"/>
                </a:solidFill>
              </a:rPr>
              <a:t>, Lin, &amp; Thompson (1999)</a:t>
            </a:r>
            <a:endParaRPr lang="en-US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914400"/>
            <a:ext cx="6747168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</a:rPr>
              <a:t>      Possible workshop exercise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US" sz="2400" dirty="0" smtClean="0"/>
              <a:t> IP connection from space plasma &amp; field data</a:t>
            </a:r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r>
              <a:rPr lang="en-US" sz="2400" dirty="0" smtClean="0"/>
              <a:t> Wave associations &amp; comparison with injection</a:t>
            </a:r>
          </a:p>
          <a:p>
            <a:r>
              <a:rPr lang="en-US" sz="2400" dirty="0" smtClean="0"/>
              <a:t>  onset of GLE particles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3800" y="381000"/>
            <a:ext cx="1938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</a:rPr>
              <a:t>Summary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1849" y="1219200"/>
            <a:ext cx="666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en-US" dirty="0" smtClean="0">
                <a:solidFill>
                  <a:srgbClr val="FF0000"/>
                </a:solidFill>
              </a:rPr>
              <a:t> Central question in SEP Physics today:  Are high-energy SEP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  events dominated by flares or CME-driven shocks?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75227" y="2286000"/>
            <a:ext cx="651556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              Possible workshop exercises</a:t>
            </a:r>
          </a:p>
          <a:p>
            <a:endParaRPr lang="en-US" sz="800" dirty="0" smtClean="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en-US" dirty="0" smtClean="0"/>
              <a:t> Seed particle populations  &amp; SEP precipitation (long-duration</a:t>
            </a:r>
          </a:p>
          <a:p>
            <a:r>
              <a:rPr lang="en-US" dirty="0"/>
              <a:t> </a:t>
            </a:r>
            <a:r>
              <a:rPr lang="en-US" dirty="0" smtClean="0"/>
              <a:t> gamma-ray events)</a:t>
            </a:r>
          </a:p>
          <a:p>
            <a:endParaRPr lang="en-US" dirty="0"/>
          </a:p>
          <a:p>
            <a:pPr>
              <a:buFontTx/>
              <a:buChar char="-"/>
            </a:pPr>
            <a:r>
              <a:rPr lang="en-US" dirty="0" smtClean="0"/>
              <a:t> Relationships between flare time-scale, e/p, &amp; Fe/O in GLES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smtClean="0"/>
              <a:t> Poorly connected GLEs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1631</Words>
  <Application>Microsoft Office PowerPoint</Application>
  <PresentationFormat>On-screen Show (4:3)</PresentationFormat>
  <Paragraphs>298</Paragraphs>
  <Slides>36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U.S. Air Force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cliver</dc:creator>
  <cp:lastModifiedBy>USAF User</cp:lastModifiedBy>
  <cp:revision>129</cp:revision>
  <dcterms:created xsi:type="dcterms:W3CDTF">2008-12-29T20:04:06Z</dcterms:created>
  <dcterms:modified xsi:type="dcterms:W3CDTF">2009-01-06T21:24:25Z</dcterms:modified>
</cp:coreProperties>
</file>