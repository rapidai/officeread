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4"/>
  </p:notesMasterIdLst>
  <p:handoutMasterIdLst>
    <p:handoutMasterId r:id="rId25"/>
  </p:handoutMasterIdLst>
  <p:sldIdLst>
    <p:sldId id="414" r:id="rId2"/>
    <p:sldId id="467" r:id="rId3"/>
    <p:sldId id="450" r:id="rId4"/>
    <p:sldId id="452" r:id="rId5"/>
    <p:sldId id="468" r:id="rId6"/>
    <p:sldId id="470" r:id="rId7"/>
    <p:sldId id="454" r:id="rId8"/>
    <p:sldId id="471" r:id="rId9"/>
    <p:sldId id="469" r:id="rId10"/>
    <p:sldId id="457" r:id="rId11"/>
    <p:sldId id="460" r:id="rId12"/>
    <p:sldId id="465" r:id="rId13"/>
    <p:sldId id="459" r:id="rId14"/>
    <p:sldId id="473" r:id="rId15"/>
    <p:sldId id="474" r:id="rId16"/>
    <p:sldId id="478" r:id="rId17"/>
    <p:sldId id="479" r:id="rId18"/>
    <p:sldId id="480" r:id="rId19"/>
    <p:sldId id="482" r:id="rId20"/>
    <p:sldId id="476" r:id="rId21"/>
    <p:sldId id="463" r:id="rId22"/>
    <p:sldId id="446" r:id="rId23"/>
  </p:sldIdLst>
  <p:sldSz cx="9144000" cy="6858000" type="screen4x3"/>
  <p:notesSz cx="6858000" cy="9199563"/>
  <p:defaultTextStyle>
    <a:defPPr>
      <a:defRPr lang="en-US"/>
    </a:defPPr>
    <a:lvl1pPr algn="ctr" rtl="0" fontAlgn="base">
      <a:spcBef>
        <a:spcPct val="0"/>
      </a:spcBef>
      <a:spcAft>
        <a:spcPct val="0"/>
      </a:spcAft>
      <a:defRPr sz="4400" kern="1200">
        <a:solidFill>
          <a:schemeClr val="tx1"/>
        </a:solidFill>
        <a:latin typeface="Tahoma" pitchFamily="34" charset="0"/>
        <a:ea typeface="+mn-ea"/>
        <a:cs typeface="+mn-cs"/>
      </a:defRPr>
    </a:lvl1pPr>
    <a:lvl2pPr marL="457200" algn="ctr" rtl="0" fontAlgn="base">
      <a:spcBef>
        <a:spcPct val="0"/>
      </a:spcBef>
      <a:spcAft>
        <a:spcPct val="0"/>
      </a:spcAft>
      <a:defRPr sz="4400" kern="1200">
        <a:solidFill>
          <a:schemeClr val="tx1"/>
        </a:solidFill>
        <a:latin typeface="Tahoma" pitchFamily="34" charset="0"/>
        <a:ea typeface="+mn-ea"/>
        <a:cs typeface="+mn-cs"/>
      </a:defRPr>
    </a:lvl2pPr>
    <a:lvl3pPr marL="914400" algn="ctr" rtl="0" fontAlgn="base">
      <a:spcBef>
        <a:spcPct val="0"/>
      </a:spcBef>
      <a:spcAft>
        <a:spcPct val="0"/>
      </a:spcAft>
      <a:defRPr sz="4400" kern="1200">
        <a:solidFill>
          <a:schemeClr val="tx1"/>
        </a:solidFill>
        <a:latin typeface="Tahoma" pitchFamily="34" charset="0"/>
        <a:ea typeface="+mn-ea"/>
        <a:cs typeface="+mn-cs"/>
      </a:defRPr>
    </a:lvl3pPr>
    <a:lvl4pPr marL="1371600" algn="ctr" rtl="0" fontAlgn="base">
      <a:spcBef>
        <a:spcPct val="0"/>
      </a:spcBef>
      <a:spcAft>
        <a:spcPct val="0"/>
      </a:spcAft>
      <a:defRPr sz="4400" kern="1200">
        <a:solidFill>
          <a:schemeClr val="tx1"/>
        </a:solidFill>
        <a:latin typeface="Tahoma" pitchFamily="34" charset="0"/>
        <a:ea typeface="+mn-ea"/>
        <a:cs typeface="+mn-cs"/>
      </a:defRPr>
    </a:lvl4pPr>
    <a:lvl5pPr marL="1828800" algn="ctr" rtl="0" fontAlgn="base">
      <a:spcBef>
        <a:spcPct val="0"/>
      </a:spcBef>
      <a:spcAft>
        <a:spcPct val="0"/>
      </a:spcAft>
      <a:defRPr sz="4400" kern="1200">
        <a:solidFill>
          <a:schemeClr val="tx1"/>
        </a:solidFill>
        <a:latin typeface="Tahoma" pitchFamily="34" charset="0"/>
        <a:ea typeface="+mn-ea"/>
        <a:cs typeface="+mn-cs"/>
      </a:defRPr>
    </a:lvl5pPr>
    <a:lvl6pPr marL="2286000" algn="l" defTabSz="914400" rtl="0" eaLnBrk="1" latinLnBrk="0" hangingPunct="1">
      <a:defRPr sz="4400" kern="1200">
        <a:solidFill>
          <a:schemeClr val="tx1"/>
        </a:solidFill>
        <a:latin typeface="Tahoma" pitchFamily="34" charset="0"/>
        <a:ea typeface="+mn-ea"/>
        <a:cs typeface="+mn-cs"/>
      </a:defRPr>
    </a:lvl6pPr>
    <a:lvl7pPr marL="2743200" algn="l" defTabSz="914400" rtl="0" eaLnBrk="1" latinLnBrk="0" hangingPunct="1">
      <a:defRPr sz="4400" kern="1200">
        <a:solidFill>
          <a:schemeClr val="tx1"/>
        </a:solidFill>
        <a:latin typeface="Tahoma" pitchFamily="34" charset="0"/>
        <a:ea typeface="+mn-ea"/>
        <a:cs typeface="+mn-cs"/>
      </a:defRPr>
    </a:lvl7pPr>
    <a:lvl8pPr marL="3200400" algn="l" defTabSz="914400" rtl="0" eaLnBrk="1" latinLnBrk="0" hangingPunct="1">
      <a:defRPr sz="4400" kern="1200">
        <a:solidFill>
          <a:schemeClr val="tx1"/>
        </a:solidFill>
        <a:latin typeface="Tahoma" pitchFamily="34" charset="0"/>
        <a:ea typeface="+mn-ea"/>
        <a:cs typeface="+mn-cs"/>
      </a:defRPr>
    </a:lvl8pPr>
    <a:lvl9pPr marL="3657600" algn="l" defTabSz="914400" rtl="0" eaLnBrk="1" latinLnBrk="0" hangingPunct="1">
      <a:defRPr sz="4400" kern="1200">
        <a:solidFill>
          <a:schemeClr val="tx1"/>
        </a:solidFill>
        <a:latin typeface="Tahoma"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ott Cameron" initials="SJ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FF00"/>
    <a:srgbClr val="CCFF66"/>
    <a:srgbClr val="FF6600"/>
    <a:srgbClr val="000000"/>
    <a:srgbClr val="FFFF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418" autoAdjust="0"/>
    <p:restoredTop sz="92606" autoAdjust="0"/>
  </p:normalViewPr>
  <p:slideViewPr>
    <p:cSldViewPr>
      <p:cViewPr varScale="1">
        <p:scale>
          <a:sx n="110" d="100"/>
          <a:sy n="110" d="100"/>
        </p:scale>
        <p:origin x="-4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62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pitchFamily="18" charset="0"/>
              </a:defRPr>
            </a:lvl1pPr>
          </a:lstStyle>
          <a:p>
            <a:pPr>
              <a:defRPr/>
            </a:pPr>
            <a:endParaRPr lang="en-US" dirty="0"/>
          </a:p>
        </p:txBody>
      </p:sp>
      <p:sp>
        <p:nvSpPr>
          <p:cNvPr id="448515" name="Rectangle 3"/>
          <p:cNvSpPr>
            <a:spLocks noGrp="1" noChangeArrowheads="1"/>
          </p:cNvSpPr>
          <p:nvPr>
            <p:ph type="dt" sz="quarter"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dirty="0"/>
          </a:p>
        </p:txBody>
      </p:sp>
      <p:sp>
        <p:nvSpPr>
          <p:cNvPr id="448516" name="Rectangle 4"/>
          <p:cNvSpPr>
            <a:spLocks noGrp="1" noChangeArrowheads="1"/>
          </p:cNvSpPr>
          <p:nvPr>
            <p:ph type="ftr" sz="quarter" idx="2"/>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imes New Roman" pitchFamily="18" charset="0"/>
              </a:defRPr>
            </a:lvl1pPr>
          </a:lstStyle>
          <a:p>
            <a:pPr>
              <a:defRPr/>
            </a:pPr>
            <a:endParaRPr lang="en-US" dirty="0"/>
          </a:p>
        </p:txBody>
      </p:sp>
      <p:sp>
        <p:nvSpPr>
          <p:cNvPr id="448517" name="Rectangle 5"/>
          <p:cNvSpPr>
            <a:spLocks noGrp="1" noChangeArrowheads="1"/>
          </p:cNvSpPr>
          <p:nvPr>
            <p:ph type="sldNum" sz="quarter" idx="3"/>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957DA38F-1461-4B49-8AFD-98D514EDE318}"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algn="l" defTabSz="917575">
              <a:defRPr sz="1200">
                <a:latin typeface="Tahoma" pitchFamily="34" charset="0"/>
              </a:defRPr>
            </a:lvl1pPr>
          </a:lstStyle>
          <a:p>
            <a:pPr>
              <a:defRPr/>
            </a:pPr>
            <a:endParaRPr lang="en-US" dirty="0"/>
          </a:p>
        </p:txBody>
      </p:sp>
      <p:sp>
        <p:nvSpPr>
          <p:cNvPr id="34819"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algn="r" defTabSz="917575">
              <a:defRPr sz="1200">
                <a:latin typeface="Tahoma" pitchFamily="34" charset="0"/>
              </a:defRPr>
            </a:lvl1pPr>
          </a:lstStyle>
          <a:p>
            <a:pPr>
              <a:defRPr/>
            </a:pPr>
            <a:endParaRPr lang="en-US" dirty="0"/>
          </a:p>
        </p:txBody>
      </p:sp>
      <p:sp>
        <p:nvSpPr>
          <p:cNvPr id="32772" name="Rectangle 4"/>
          <p:cNvSpPr>
            <a:spLocks noGrp="1" noRot="1" noChangeAspect="1" noChangeArrowheads="1" noTextEdit="1"/>
          </p:cNvSpPr>
          <p:nvPr>
            <p:ph type="sldImg" idx="2"/>
          </p:nvPr>
        </p:nvSpPr>
        <p:spPr bwMode="auto">
          <a:xfrm>
            <a:off x="1128713" y="688975"/>
            <a:ext cx="4602162" cy="3451225"/>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70388"/>
            <a:ext cx="5029200" cy="4140200"/>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822" name="Rectangle 6"/>
          <p:cNvSpPr>
            <a:spLocks noGrp="1" noChangeArrowheads="1"/>
          </p:cNvSpPr>
          <p:nvPr>
            <p:ph type="ftr" sz="quarter" idx="4"/>
          </p:nvPr>
        </p:nvSpPr>
        <p:spPr bwMode="auto">
          <a:xfrm>
            <a:off x="0" y="8739188"/>
            <a:ext cx="2971800" cy="460375"/>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algn="l" defTabSz="917575">
              <a:defRPr sz="1200">
                <a:latin typeface="Tahoma" pitchFamily="34" charset="0"/>
              </a:defRPr>
            </a:lvl1pPr>
          </a:lstStyle>
          <a:p>
            <a:pPr>
              <a:defRPr/>
            </a:pPr>
            <a:endParaRPr lang="en-US" dirty="0"/>
          </a:p>
        </p:txBody>
      </p:sp>
      <p:sp>
        <p:nvSpPr>
          <p:cNvPr id="34823" name="Rectangle 7"/>
          <p:cNvSpPr>
            <a:spLocks noGrp="1" noChangeArrowheads="1"/>
          </p:cNvSpPr>
          <p:nvPr>
            <p:ph type="sldNum" sz="quarter" idx="5"/>
          </p:nvPr>
        </p:nvSpPr>
        <p:spPr bwMode="auto">
          <a:xfrm>
            <a:off x="3886200" y="8739188"/>
            <a:ext cx="2971800" cy="460375"/>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algn="r" defTabSz="917575">
              <a:defRPr sz="1200">
                <a:latin typeface="Tahoma" pitchFamily="34" charset="0"/>
              </a:defRPr>
            </a:lvl1pPr>
          </a:lstStyle>
          <a:p>
            <a:pPr>
              <a:defRPr/>
            </a:pPr>
            <a:fld id="{0A70529D-3E9C-4126-854B-7B8EFD317B71}"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14BF8661-FB47-4F83-A187-03F607CA59B3}" type="slidenum">
              <a:rPr lang="en-US" smtClean="0"/>
              <a:pPr/>
              <a:t>1</a:t>
            </a:fld>
            <a:endParaRPr lang="en-US" dirty="0"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pPr eaLnBrk="1" hangingPunct="1">
              <a:spcBef>
                <a:spcPct val="0"/>
              </a:spcBef>
              <a:buFontTx/>
              <a:buChar char="•"/>
            </a:pPr>
            <a:endParaRPr lang="en-US" dirty="0" smtClean="0"/>
          </a:p>
        </p:txBody>
      </p:sp>
      <p:sp>
        <p:nvSpPr>
          <p:cNvPr id="37892" name="Slide Number Placeholder 3"/>
          <p:cNvSpPr>
            <a:spLocks noGrp="1"/>
          </p:cNvSpPr>
          <p:nvPr>
            <p:ph type="sldNum" sz="quarter" idx="5"/>
          </p:nvPr>
        </p:nvSpPr>
        <p:spPr>
          <a:noFill/>
        </p:spPr>
        <p:txBody>
          <a:bodyPr/>
          <a:lstStyle/>
          <a:p>
            <a:pPr defTabSz="911225"/>
            <a:fld id="{55FE7E3D-7442-46CB-A966-61E5F365B31A}" type="slidenum">
              <a:rPr lang="en-US" smtClean="0"/>
              <a:pPr defTabSz="911225"/>
              <a:t>11</a:t>
            </a:fld>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9"/>
          <p:cNvSpPr>
            <a:spLocks noChangeArrowheads="1"/>
          </p:cNvSpPr>
          <p:nvPr/>
        </p:nvSpPr>
        <p:spPr bwMode="auto">
          <a:xfrm>
            <a:off x="0" y="0"/>
            <a:ext cx="9144000" cy="228600"/>
          </a:xfrm>
          <a:prstGeom prst="rect">
            <a:avLst/>
          </a:prstGeom>
          <a:gradFill rotWithShape="0">
            <a:gsLst>
              <a:gs pos="0">
                <a:schemeClr val="tx1"/>
              </a:gs>
              <a:gs pos="100000">
                <a:srgbClr val="009900"/>
              </a:gs>
            </a:gsLst>
            <a:lin ang="0" scaled="1"/>
          </a:gradFill>
          <a:ln w="9525">
            <a:solidFill>
              <a:schemeClr val="tx1"/>
            </a:solidFill>
            <a:miter lim="800000"/>
            <a:headEnd/>
            <a:tailEnd/>
          </a:ln>
          <a:effectLst/>
        </p:spPr>
        <p:txBody>
          <a:bodyPr wrap="none" anchor="ctr"/>
          <a:lstStyle/>
          <a:p>
            <a:pPr>
              <a:defRPr/>
            </a:pPr>
            <a:endParaRPr lang="en-US" dirty="0"/>
          </a:p>
        </p:txBody>
      </p:sp>
      <p:pic>
        <p:nvPicPr>
          <p:cNvPr id="5" name="Picture 80"/>
          <p:cNvPicPr>
            <a:picLocks noChangeAspect="1" noChangeArrowheads="1"/>
          </p:cNvPicPr>
          <p:nvPr/>
        </p:nvPicPr>
        <p:blipFill>
          <a:blip r:embed="rId2" cstate="print"/>
          <a:srcRect/>
          <a:stretch>
            <a:fillRect/>
          </a:stretch>
        </p:blipFill>
        <p:spPr bwMode="auto">
          <a:xfrm>
            <a:off x="0" y="304800"/>
            <a:ext cx="3048000" cy="2032000"/>
          </a:xfrm>
          <a:prstGeom prst="rect">
            <a:avLst/>
          </a:prstGeom>
          <a:noFill/>
          <a:ln w="9525">
            <a:noFill/>
            <a:miter lim="800000"/>
            <a:headEnd/>
            <a:tailEnd/>
          </a:ln>
        </p:spPr>
      </p:pic>
      <p:sp>
        <p:nvSpPr>
          <p:cNvPr id="6201" name="Rectangle 57"/>
          <p:cNvSpPr>
            <a:spLocks noGrp="1" noChangeArrowheads="1"/>
          </p:cNvSpPr>
          <p:nvPr>
            <p:ph type="ctrTitle"/>
          </p:nvPr>
        </p:nvSpPr>
        <p:spPr>
          <a:xfrm>
            <a:off x="838200" y="2438400"/>
            <a:ext cx="7772400" cy="1143000"/>
          </a:xfrm>
        </p:spPr>
        <p:txBody>
          <a:bodyPr/>
          <a:lstStyle>
            <a:lvl1pPr algn="ctr">
              <a:defRPr/>
            </a:lvl1pPr>
          </a:lstStyle>
          <a:p>
            <a:r>
              <a:rPr lang="en-US"/>
              <a:t>Click to edit Master title style</a:t>
            </a:r>
          </a:p>
        </p:txBody>
      </p:sp>
      <p:sp>
        <p:nvSpPr>
          <p:cNvPr id="6202" name="Rectangle 58" descr="Rectangle: Click to edit Master text styles&#10;Second level&#10;Third level&#10;Fourth level&#10;Fifth level"/>
          <p:cNvSpPr>
            <a:spLocks noGrp="1" noChangeArrowheads="1"/>
          </p:cNvSpPr>
          <p:nvPr>
            <p:ph type="subTitle" idx="1"/>
          </p:nvPr>
        </p:nvSpPr>
        <p:spPr>
          <a:xfrm>
            <a:off x="1905000" y="4038600"/>
            <a:ext cx="6629400" cy="1676400"/>
          </a:xfrm>
        </p:spPr>
        <p:txBody>
          <a:bodyPr/>
          <a:lstStyle>
            <a:lvl1pPr marL="0" indent="0">
              <a:buFont typeface="Wingdings" pitchFamily="2" charset="2"/>
              <a:buNone/>
              <a:defRPr/>
            </a:lvl1pPr>
          </a:lstStyle>
          <a:p>
            <a:r>
              <a:rPr lang="en-US"/>
              <a:t>Click to edit Master subtitle style</a:t>
            </a:r>
          </a:p>
        </p:txBody>
      </p:sp>
      <p:sp>
        <p:nvSpPr>
          <p:cNvPr id="6" name="Rectangle 72"/>
          <p:cNvSpPr>
            <a:spLocks noGrp="1" noChangeArrowheads="1"/>
          </p:cNvSpPr>
          <p:nvPr>
            <p:ph type="ftr" sz="quarter" idx="10"/>
          </p:nvPr>
        </p:nvSpPr>
        <p:spPr>
          <a:xfrm>
            <a:off x="3124200" y="6248400"/>
            <a:ext cx="2895600" cy="457200"/>
          </a:xfrm>
        </p:spPr>
        <p:txBody>
          <a:bodyPr/>
          <a:lstStyle>
            <a:lvl1pPr>
              <a:defRPr/>
            </a:lvl1pPr>
          </a:lstStyle>
          <a:p>
            <a:pPr>
              <a:defRPr/>
            </a:pPr>
            <a:endParaRPr lang="en-US" dirty="0"/>
          </a:p>
        </p:txBody>
      </p:sp>
      <p:sp>
        <p:nvSpPr>
          <p:cNvPr id="7" name="Rectangle 73"/>
          <p:cNvSpPr>
            <a:spLocks noGrp="1" noChangeArrowheads="1"/>
          </p:cNvSpPr>
          <p:nvPr>
            <p:ph type="sldNum" sz="quarter" idx="11"/>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400">
                <a:latin typeface="Tahoma" pitchFamily="34" charset="0"/>
              </a:defRPr>
            </a:lvl1pPr>
          </a:lstStyle>
          <a:p>
            <a:pPr>
              <a:defRPr/>
            </a:pPr>
            <a:fld id="{F0A2F8D8-8E89-405E-B098-03A1FB5DBDC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68"/>
          <p:cNvSpPr>
            <a:spLocks noGrp="1" noChangeArrowheads="1"/>
          </p:cNvSpPr>
          <p:nvPr>
            <p:ph type="dt" sz="half" idx="10"/>
          </p:nvPr>
        </p:nvSpPr>
        <p:spPr>
          <a:ln/>
        </p:spPr>
        <p:txBody>
          <a:bodyPr/>
          <a:lstStyle>
            <a:lvl1pPr>
              <a:defRPr/>
            </a:lvl1pPr>
          </a:lstStyle>
          <a:p>
            <a:pPr>
              <a:defRPr/>
            </a:pPr>
            <a:endParaRPr lang="en-US" dirty="0"/>
          </a:p>
        </p:txBody>
      </p:sp>
      <p:sp>
        <p:nvSpPr>
          <p:cNvPr id="5" name="Rectangle 69"/>
          <p:cNvSpPr>
            <a:spLocks noGrp="1" noChangeArrowheads="1"/>
          </p:cNvSpPr>
          <p:nvPr>
            <p:ph type="ftr" sz="quarter" idx="11"/>
          </p:nvPr>
        </p:nvSpPr>
        <p:spPr>
          <a:ln/>
        </p:spPr>
        <p:txBody>
          <a:bodyPr/>
          <a:lstStyle>
            <a:lvl1pPr>
              <a:defRPr/>
            </a:lvl1pPr>
          </a:lstStyle>
          <a:p>
            <a:pPr>
              <a:defRPr/>
            </a:pPr>
            <a:endParaRPr lang="en-US" dirty="0"/>
          </a:p>
        </p:txBody>
      </p:sp>
      <p:pic>
        <p:nvPicPr>
          <p:cNvPr id="6" name="Picture 9"/>
          <p:cNvPicPr>
            <a:picLocks noChangeAspect="1" noChangeArrowheads="1"/>
          </p:cNvPicPr>
          <p:nvPr userDrawn="1"/>
        </p:nvPicPr>
        <p:blipFill>
          <a:blip r:embed="rId2" cstate="print"/>
          <a:srcRect l="9720" t="17390" r="14394" b="16769"/>
          <a:stretch>
            <a:fillRect/>
          </a:stretch>
        </p:blipFill>
        <p:spPr bwMode="auto">
          <a:xfrm>
            <a:off x="6324600" y="6172201"/>
            <a:ext cx="2170112" cy="566541"/>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8"/>
          <p:cNvSpPr>
            <a:spLocks noGrp="1" noChangeArrowheads="1"/>
          </p:cNvSpPr>
          <p:nvPr>
            <p:ph type="dt" sz="half" idx="10"/>
          </p:nvPr>
        </p:nvSpPr>
        <p:spPr>
          <a:ln/>
        </p:spPr>
        <p:txBody>
          <a:bodyPr/>
          <a:lstStyle>
            <a:lvl1pPr>
              <a:defRPr/>
            </a:lvl1pPr>
          </a:lstStyle>
          <a:p>
            <a:pPr>
              <a:defRPr/>
            </a:pPr>
            <a:endParaRPr lang="en-US" dirty="0"/>
          </a:p>
        </p:txBody>
      </p:sp>
      <p:sp>
        <p:nvSpPr>
          <p:cNvPr id="5"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600200"/>
            <a:ext cx="381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381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8"/>
          <p:cNvSpPr>
            <a:spLocks noGrp="1" noChangeArrowheads="1"/>
          </p:cNvSpPr>
          <p:nvPr>
            <p:ph type="dt" sz="half" idx="10"/>
          </p:nvPr>
        </p:nvSpPr>
        <p:spPr>
          <a:ln/>
        </p:spPr>
        <p:txBody>
          <a:bodyPr/>
          <a:lstStyle>
            <a:lvl1pPr>
              <a:defRPr/>
            </a:lvl1pPr>
          </a:lstStyle>
          <a:p>
            <a:pPr>
              <a:defRPr/>
            </a:pPr>
            <a:endParaRPr lang="en-US" dirty="0"/>
          </a:p>
        </p:txBody>
      </p:sp>
      <p:sp>
        <p:nvSpPr>
          <p:cNvPr id="6"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8"/>
          <p:cNvSpPr>
            <a:spLocks noGrp="1" noChangeArrowheads="1"/>
          </p:cNvSpPr>
          <p:nvPr>
            <p:ph type="dt" sz="half" idx="10"/>
          </p:nvPr>
        </p:nvSpPr>
        <p:spPr>
          <a:ln/>
        </p:spPr>
        <p:txBody>
          <a:bodyPr/>
          <a:lstStyle>
            <a:lvl1pPr>
              <a:defRPr/>
            </a:lvl1pPr>
          </a:lstStyle>
          <a:p>
            <a:pPr>
              <a:defRPr/>
            </a:pPr>
            <a:endParaRPr lang="en-US" dirty="0"/>
          </a:p>
        </p:txBody>
      </p:sp>
      <p:sp>
        <p:nvSpPr>
          <p:cNvPr id="8"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8"/>
          <p:cNvSpPr>
            <a:spLocks noGrp="1" noChangeArrowheads="1"/>
          </p:cNvSpPr>
          <p:nvPr>
            <p:ph type="dt" sz="half" idx="10"/>
          </p:nvPr>
        </p:nvSpPr>
        <p:spPr>
          <a:ln/>
        </p:spPr>
        <p:txBody>
          <a:bodyPr/>
          <a:lstStyle>
            <a:lvl1pPr>
              <a:defRPr/>
            </a:lvl1pPr>
          </a:lstStyle>
          <a:p>
            <a:pPr>
              <a:defRPr/>
            </a:pPr>
            <a:endParaRPr lang="en-US" dirty="0"/>
          </a:p>
        </p:txBody>
      </p:sp>
      <p:sp>
        <p:nvSpPr>
          <p:cNvPr id="4"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8"/>
          <p:cNvSpPr>
            <a:spLocks noGrp="1" noChangeArrowheads="1"/>
          </p:cNvSpPr>
          <p:nvPr>
            <p:ph type="dt" sz="half" idx="10"/>
          </p:nvPr>
        </p:nvSpPr>
        <p:spPr>
          <a:ln/>
        </p:spPr>
        <p:txBody>
          <a:bodyPr/>
          <a:lstStyle>
            <a:lvl1pPr>
              <a:defRPr/>
            </a:lvl1pPr>
          </a:lstStyle>
          <a:p>
            <a:pPr>
              <a:defRPr/>
            </a:pPr>
            <a:endParaRPr lang="en-US" dirty="0"/>
          </a:p>
        </p:txBody>
      </p:sp>
      <p:sp>
        <p:nvSpPr>
          <p:cNvPr id="3"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dirty="0"/>
          </a:p>
        </p:txBody>
      </p:sp>
      <p:sp>
        <p:nvSpPr>
          <p:cNvPr id="6"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dirty="0"/>
          </a:p>
        </p:txBody>
      </p:sp>
      <p:sp>
        <p:nvSpPr>
          <p:cNvPr id="6"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dirty="0"/>
          </a:p>
        </p:txBody>
      </p:sp>
      <p:sp>
        <p:nvSpPr>
          <p:cNvPr id="5"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04800"/>
            <a:ext cx="201930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905500"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dirty="0"/>
          </a:p>
        </p:txBody>
      </p:sp>
      <p:sp>
        <p:nvSpPr>
          <p:cNvPr id="5" name="Rectangle 69"/>
          <p:cNvSpPr>
            <a:spLocks noGrp="1" noChangeArrowheads="1"/>
          </p:cNvSpPr>
          <p:nvPr>
            <p:ph type="ftr" sz="quarter" idx="11"/>
          </p:nvPr>
        </p:nvSpPr>
        <p:spPr>
          <a:ln/>
        </p:spPr>
        <p:txBody>
          <a:bodyPr/>
          <a:lstStyle>
            <a:lvl1pPr>
              <a:defRPr/>
            </a:lvl1pPr>
          </a:lstStyle>
          <a:p>
            <a:pPr>
              <a:defRPr/>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1" name="Rectangle 57"/>
          <p:cNvSpPr>
            <a:spLocks noChangeArrowheads="1"/>
          </p:cNvSpPr>
          <p:nvPr/>
        </p:nvSpPr>
        <p:spPr bwMode="ltGray">
          <a:xfrm>
            <a:off x="0" y="0"/>
            <a:ext cx="9144000" cy="152400"/>
          </a:xfrm>
          <a:prstGeom prst="rect">
            <a:avLst/>
          </a:prstGeom>
          <a:gradFill rotWithShape="0">
            <a:gsLst>
              <a:gs pos="0">
                <a:schemeClr val="tx1"/>
              </a:gs>
              <a:gs pos="100000">
                <a:srgbClr val="009900"/>
              </a:gs>
            </a:gsLst>
            <a:lin ang="0" scaled="1"/>
          </a:gradFill>
          <a:ln w="9525">
            <a:noFill/>
            <a:miter lim="800000"/>
            <a:headEnd/>
            <a:tailEnd/>
          </a:ln>
          <a:effectLst/>
        </p:spPr>
        <p:txBody>
          <a:bodyPr wrap="none" anchor="ctr"/>
          <a:lstStyle/>
          <a:p>
            <a:pPr>
              <a:defRPr/>
            </a:pPr>
            <a:endParaRPr lang="en-US" dirty="0"/>
          </a:p>
        </p:txBody>
      </p:sp>
      <p:sp>
        <p:nvSpPr>
          <p:cNvPr id="1027"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914400" y="1600200"/>
            <a:ext cx="7772400" cy="426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92" name="Rectangle 68"/>
          <p:cNvSpPr>
            <a:spLocks noGrp="1" noChangeArrowheads="1"/>
          </p:cNvSpPr>
          <p:nvPr>
            <p:ph type="dt" sz="half" idx="2"/>
          </p:nvPr>
        </p:nvSpPr>
        <p:spPr bwMode="auto">
          <a:xfrm>
            <a:off x="1981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400">
                <a:latin typeface="Tahoma" pitchFamily="34" charset="0"/>
              </a:defRPr>
            </a:lvl1pPr>
          </a:lstStyle>
          <a:p>
            <a:pPr>
              <a:defRPr/>
            </a:pPr>
            <a:endParaRPr lang="en-US" dirty="0"/>
          </a:p>
        </p:txBody>
      </p:sp>
      <p:sp>
        <p:nvSpPr>
          <p:cNvPr id="1093" name="Rectangle 69"/>
          <p:cNvSpPr>
            <a:spLocks noGrp="1" noChangeArrowheads="1"/>
          </p:cNvSpPr>
          <p:nvPr>
            <p:ph type="ftr" sz="quarter" idx="3"/>
          </p:nvPr>
        </p:nvSpPr>
        <p:spPr bwMode="auto">
          <a:xfrm>
            <a:off x="41910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Tahoma" pitchFamily="34" charset="0"/>
              </a:defRPr>
            </a:lvl1pPr>
          </a:lstStyle>
          <a:p>
            <a:pPr>
              <a:defRPr/>
            </a:pPr>
            <a:endParaRPr lang="en-US" dirty="0"/>
          </a:p>
        </p:txBody>
      </p:sp>
      <p:sp>
        <p:nvSpPr>
          <p:cNvPr id="1099" name="Text Box 75"/>
          <p:cNvSpPr txBox="1">
            <a:spLocks noChangeArrowheads="1"/>
          </p:cNvSpPr>
          <p:nvPr/>
        </p:nvSpPr>
        <p:spPr bwMode="auto">
          <a:xfrm>
            <a:off x="8429625" y="6384925"/>
            <a:ext cx="561975" cy="396875"/>
          </a:xfrm>
          <a:prstGeom prst="rect">
            <a:avLst/>
          </a:prstGeom>
          <a:noFill/>
          <a:ln w="9525">
            <a:noFill/>
            <a:miter lim="800000"/>
            <a:headEnd/>
            <a:tailEnd/>
          </a:ln>
          <a:effectLst/>
        </p:spPr>
        <p:txBody>
          <a:bodyPr wrap="none">
            <a:spAutoFit/>
          </a:bodyPr>
          <a:lstStyle/>
          <a:p>
            <a:pPr algn="r">
              <a:defRPr/>
            </a:pPr>
            <a:fld id="{CD082AFB-652E-499C-9327-CE6F103AC002}" type="slidenum">
              <a:rPr lang="en-US" sz="2000"/>
              <a:pPr algn="r">
                <a:defRPr/>
              </a:pPr>
              <a:t>‹#›</a:t>
            </a:fld>
            <a:endParaRPr lang="en-US" sz="2000" dirty="0"/>
          </a:p>
        </p:txBody>
      </p:sp>
      <p:pic>
        <p:nvPicPr>
          <p:cNvPr id="1032" name="Picture 76"/>
          <p:cNvPicPr>
            <a:picLocks noChangeAspect="1" noChangeArrowheads="1"/>
          </p:cNvPicPr>
          <p:nvPr/>
        </p:nvPicPr>
        <p:blipFill>
          <a:blip r:embed="rId13" cstate="print"/>
          <a:srcRect/>
          <a:stretch>
            <a:fillRect/>
          </a:stretch>
        </p:blipFill>
        <p:spPr bwMode="auto">
          <a:xfrm>
            <a:off x="0" y="5226050"/>
            <a:ext cx="2438400" cy="1625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14"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Tahoma" pitchFamily="34" charset="0"/>
        </a:defRPr>
      </a:lvl2pPr>
      <a:lvl3pPr algn="l" rtl="0" eaLnBrk="0" fontAlgn="base" hangingPunct="0">
        <a:spcBef>
          <a:spcPct val="0"/>
        </a:spcBef>
        <a:spcAft>
          <a:spcPct val="0"/>
        </a:spcAft>
        <a:defRPr sz="4400">
          <a:solidFill>
            <a:schemeClr val="tx1"/>
          </a:solidFill>
          <a:latin typeface="Tahoma" pitchFamily="34" charset="0"/>
        </a:defRPr>
      </a:lvl3pPr>
      <a:lvl4pPr algn="l" rtl="0" eaLnBrk="0" fontAlgn="base" hangingPunct="0">
        <a:spcBef>
          <a:spcPct val="0"/>
        </a:spcBef>
        <a:spcAft>
          <a:spcPct val="0"/>
        </a:spcAft>
        <a:defRPr sz="4400">
          <a:solidFill>
            <a:schemeClr val="tx1"/>
          </a:solidFill>
          <a:latin typeface="Tahoma" pitchFamily="34" charset="0"/>
        </a:defRPr>
      </a:lvl4pPr>
      <a:lvl5pPr algn="l" rtl="0" eaLnBrk="0" fontAlgn="base" hangingPunct="0">
        <a:spcBef>
          <a:spcPct val="0"/>
        </a:spcBef>
        <a:spcAft>
          <a:spcPct val="0"/>
        </a:spcAft>
        <a:defRPr sz="4400">
          <a:solidFill>
            <a:schemeClr val="tx1"/>
          </a:solidFill>
          <a:latin typeface="Tahoma" pitchFamily="34" charset="0"/>
        </a:defRPr>
      </a:lvl5pPr>
      <a:lvl6pPr marL="457200" algn="l" rtl="0" fontAlgn="base">
        <a:spcBef>
          <a:spcPct val="0"/>
        </a:spcBef>
        <a:spcAft>
          <a:spcPct val="0"/>
        </a:spcAft>
        <a:defRPr sz="4400">
          <a:solidFill>
            <a:schemeClr val="tx1"/>
          </a:solidFill>
          <a:latin typeface="Tahoma" pitchFamily="34" charset="0"/>
        </a:defRPr>
      </a:lvl6pPr>
      <a:lvl7pPr marL="914400" algn="l" rtl="0" fontAlgn="base">
        <a:spcBef>
          <a:spcPct val="0"/>
        </a:spcBef>
        <a:spcAft>
          <a:spcPct val="0"/>
        </a:spcAft>
        <a:defRPr sz="4400">
          <a:solidFill>
            <a:schemeClr val="tx1"/>
          </a:solidFill>
          <a:latin typeface="Tahoma" pitchFamily="34" charset="0"/>
        </a:defRPr>
      </a:lvl7pPr>
      <a:lvl8pPr marL="1371600" algn="l" rtl="0" fontAlgn="base">
        <a:spcBef>
          <a:spcPct val="0"/>
        </a:spcBef>
        <a:spcAft>
          <a:spcPct val="0"/>
        </a:spcAft>
        <a:defRPr sz="4400">
          <a:solidFill>
            <a:schemeClr val="tx1"/>
          </a:solidFill>
          <a:latin typeface="Tahoma" pitchFamily="34" charset="0"/>
        </a:defRPr>
      </a:lvl8pPr>
      <a:lvl9pPr marL="1828800" algn="l" rtl="0" fontAlgn="base">
        <a:spcBef>
          <a:spcPct val="0"/>
        </a:spcBef>
        <a:spcAft>
          <a:spcPct val="0"/>
        </a:spcAft>
        <a:defRPr sz="4400">
          <a:solidFill>
            <a:schemeClr val="tx1"/>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geoplatform.ideascale.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www.geoplatform.gov/" TargetMode="Externa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2209800"/>
            <a:ext cx="8763000" cy="838200"/>
          </a:xfrm>
        </p:spPr>
        <p:txBody>
          <a:bodyPr/>
          <a:lstStyle/>
          <a:p>
            <a:r>
              <a:rPr lang="en-US" sz="3600" dirty="0" smtClean="0"/>
              <a:t>Geospatial Platform Update</a:t>
            </a:r>
            <a:endParaRPr lang="en-US" sz="2800" dirty="0" smtClean="0">
              <a:solidFill>
                <a:srgbClr val="FF0000"/>
              </a:solidFill>
            </a:endParaRPr>
          </a:p>
        </p:txBody>
      </p:sp>
      <p:sp>
        <p:nvSpPr>
          <p:cNvPr id="3076" name="Rectangle 4"/>
          <p:cNvSpPr>
            <a:spLocks noChangeArrowheads="1"/>
          </p:cNvSpPr>
          <p:nvPr/>
        </p:nvSpPr>
        <p:spPr bwMode="auto">
          <a:xfrm>
            <a:off x="2743200" y="990600"/>
            <a:ext cx="6324600" cy="1143000"/>
          </a:xfrm>
          <a:prstGeom prst="rect">
            <a:avLst/>
          </a:prstGeom>
          <a:noFill/>
          <a:ln w="9525">
            <a:noFill/>
            <a:miter lim="800000"/>
            <a:headEnd/>
            <a:tailEnd/>
          </a:ln>
        </p:spPr>
        <p:txBody>
          <a:bodyPr anchor="b"/>
          <a:lstStyle/>
          <a:p>
            <a:endParaRPr lang="en-US" dirty="0"/>
          </a:p>
        </p:txBody>
      </p:sp>
      <p:sp>
        <p:nvSpPr>
          <p:cNvPr id="6" name="Rectangle 3"/>
          <p:cNvSpPr>
            <a:spLocks noChangeArrowheads="1"/>
          </p:cNvSpPr>
          <p:nvPr/>
        </p:nvSpPr>
        <p:spPr bwMode="auto">
          <a:xfrm>
            <a:off x="1066800" y="3886200"/>
            <a:ext cx="7086600" cy="1877437"/>
          </a:xfrm>
          <a:prstGeom prst="rect">
            <a:avLst/>
          </a:prstGeom>
          <a:noFill/>
          <a:ln w="9525">
            <a:noFill/>
            <a:miter lim="800000"/>
            <a:headEnd/>
            <a:tailEnd/>
          </a:ln>
        </p:spPr>
        <p:txBody>
          <a:bodyPr wrap="square">
            <a:spAutoFit/>
          </a:bodyPr>
          <a:lstStyle/>
          <a:p>
            <a:pPr>
              <a:buFont typeface="Arial" charset="0"/>
              <a:buNone/>
            </a:pPr>
            <a:r>
              <a:rPr lang="en-US" sz="2000" b="1" dirty="0" smtClean="0"/>
              <a:t>NGAC Meeting</a:t>
            </a:r>
          </a:p>
          <a:p>
            <a:pPr>
              <a:buFont typeface="Arial" charset="0"/>
              <a:buNone/>
            </a:pPr>
            <a:r>
              <a:rPr lang="en-US" sz="2000" b="1" dirty="0" smtClean="0"/>
              <a:t>December 7, 2010</a:t>
            </a:r>
            <a:endParaRPr lang="en-US" sz="2800" b="1" dirty="0" smtClean="0"/>
          </a:p>
          <a:p>
            <a:pPr>
              <a:buFont typeface="Arial" charset="0"/>
              <a:buNone/>
            </a:pPr>
            <a:endParaRPr lang="en-US" sz="2000" dirty="0" smtClean="0"/>
          </a:p>
          <a:p>
            <a:pPr>
              <a:buFont typeface="Arial" charset="0"/>
              <a:buNone/>
            </a:pPr>
            <a:r>
              <a:rPr lang="en-US" sz="2000" dirty="0" smtClean="0"/>
              <a:t>Karen Siderelis</a:t>
            </a:r>
            <a:endParaRPr lang="en-US" sz="2000" dirty="0"/>
          </a:p>
          <a:p>
            <a:pPr>
              <a:buFont typeface="Arial" charset="0"/>
              <a:buNone/>
            </a:pPr>
            <a:r>
              <a:rPr lang="en-US" sz="1800" dirty="0"/>
              <a:t>Geospatial Information Officer</a:t>
            </a:r>
          </a:p>
          <a:p>
            <a:pPr>
              <a:buFont typeface="Arial" charset="0"/>
              <a:buNone/>
            </a:pPr>
            <a:r>
              <a:rPr lang="en-US" sz="1800" dirty="0"/>
              <a:t>Department of the </a:t>
            </a:r>
            <a:r>
              <a:rPr lang="en-US" sz="1800" dirty="0" smtClean="0"/>
              <a:t>Interior</a:t>
            </a:r>
          </a:p>
        </p:txBody>
      </p:sp>
      <p:pic>
        <p:nvPicPr>
          <p:cNvPr id="5" name="Picture 9"/>
          <p:cNvPicPr>
            <a:picLocks noChangeAspect="1" noChangeArrowheads="1"/>
          </p:cNvPicPr>
          <p:nvPr/>
        </p:nvPicPr>
        <p:blipFill>
          <a:blip r:embed="rId3" cstate="print"/>
          <a:srcRect l="9720" t="17390" r="14394" b="16769"/>
          <a:stretch>
            <a:fillRect/>
          </a:stretch>
        </p:blipFill>
        <p:spPr bwMode="auto">
          <a:xfrm>
            <a:off x="6400800" y="5943600"/>
            <a:ext cx="2474912" cy="6461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04800"/>
            <a:ext cx="7772400" cy="838200"/>
          </a:xfrm>
        </p:spPr>
        <p:txBody>
          <a:bodyPr/>
          <a:lstStyle/>
          <a:p>
            <a:r>
              <a:rPr lang="en-US" dirty="0" smtClean="0"/>
              <a:t>Overview</a:t>
            </a:r>
            <a:endParaRPr lang="en-US" dirty="0"/>
          </a:p>
        </p:txBody>
      </p:sp>
      <p:sp>
        <p:nvSpPr>
          <p:cNvPr id="5" name="Content Placeholder 4"/>
          <p:cNvSpPr>
            <a:spLocks noGrp="1"/>
          </p:cNvSpPr>
          <p:nvPr>
            <p:ph idx="1"/>
          </p:nvPr>
        </p:nvSpPr>
        <p:spPr>
          <a:xfrm>
            <a:off x="914400" y="1219200"/>
            <a:ext cx="7772400" cy="4648200"/>
          </a:xfrm>
        </p:spPr>
        <p:txBody>
          <a:bodyPr/>
          <a:lstStyle/>
          <a:p>
            <a:endParaRPr lang="en-US" dirty="0" smtClean="0"/>
          </a:p>
          <a:p>
            <a:r>
              <a:rPr lang="en-US" sz="2800" dirty="0" smtClean="0"/>
              <a:t>Background</a:t>
            </a:r>
          </a:p>
          <a:p>
            <a:endParaRPr lang="en-US" sz="2800" dirty="0" smtClean="0"/>
          </a:p>
          <a:p>
            <a:r>
              <a:rPr lang="en-US" sz="2800" dirty="0" smtClean="0"/>
              <a:t>Accomplishments Over Last 9 Months</a:t>
            </a:r>
          </a:p>
          <a:p>
            <a:endParaRPr lang="en-US" sz="2800" dirty="0" smtClean="0"/>
          </a:p>
          <a:p>
            <a:r>
              <a:rPr lang="en-US" sz="2800" dirty="0" smtClean="0"/>
              <a:t>Next Steps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609600" y="304800"/>
            <a:ext cx="8305800" cy="914400"/>
          </a:xfrm>
        </p:spPr>
        <p:txBody>
          <a:bodyPr/>
          <a:lstStyle/>
          <a:p>
            <a:pPr eaLnBrk="1" hangingPunct="1"/>
            <a:r>
              <a:rPr lang="en-US" sz="4000" dirty="0" smtClean="0"/>
              <a:t>Geospatial Platform: Call to Action</a:t>
            </a:r>
          </a:p>
        </p:txBody>
      </p:sp>
      <p:sp>
        <p:nvSpPr>
          <p:cNvPr id="7171" name="Content Placeholder 4" descr="Rectangle: Click to edit Master text styles&#10;Second level&#10;Third level&#10;Fourth level&#10;Fifth level"/>
          <p:cNvSpPr>
            <a:spLocks noGrp="1"/>
          </p:cNvSpPr>
          <p:nvPr>
            <p:ph sz="half" idx="1"/>
          </p:nvPr>
        </p:nvSpPr>
        <p:spPr/>
        <p:txBody>
          <a:bodyPr/>
          <a:lstStyle/>
          <a:p>
            <a:pPr marL="0" indent="0" eaLnBrk="1" hangingPunct="1">
              <a:lnSpc>
                <a:spcPct val="150000"/>
              </a:lnSpc>
              <a:buFontTx/>
              <a:buNone/>
            </a:pPr>
            <a:r>
              <a:rPr lang="en-US" sz="1200" dirty="0" smtClean="0"/>
              <a:t>"In 2010 and 2011, Federal data managers for geospatial data will move to a </a:t>
            </a:r>
            <a:r>
              <a:rPr lang="en-US" sz="1200" u="sng" dirty="0" smtClean="0"/>
              <a:t>portfolio management </a:t>
            </a:r>
            <a:r>
              <a:rPr lang="en-US" sz="1200" dirty="0" smtClean="0"/>
              <a:t>approach, creating a Geospatial Platform to support Geospatial One-Stop, place-based initiatives, and other potential future programs. This transformation will be facilitated by improving the </a:t>
            </a:r>
            <a:r>
              <a:rPr lang="en-US" sz="1200" u="sng" dirty="0" smtClean="0"/>
              <a:t>governance</a:t>
            </a:r>
            <a:r>
              <a:rPr lang="en-US" sz="1200" dirty="0" smtClean="0"/>
              <a:t> framework to address the requirements of State, local and tribal agencies, Administration policy, and agency mission objectives.  Investments will be prioritized based on business needs. The Geospatial Platform will explore opportunities for increased collaboration with Data.gov, with an emphasis on reuse of </a:t>
            </a:r>
            <a:r>
              <a:rPr lang="en-US" sz="1200" u="sng" dirty="0" smtClean="0"/>
              <a:t>architectural</a:t>
            </a:r>
            <a:r>
              <a:rPr lang="en-US" sz="1200" dirty="0" smtClean="0"/>
              <a:t> standards and technology, ultimately increasing access to geospatial data.“</a:t>
            </a:r>
          </a:p>
          <a:p>
            <a:pPr marL="0" indent="0" eaLnBrk="1" hangingPunct="1">
              <a:lnSpc>
                <a:spcPct val="150000"/>
              </a:lnSpc>
              <a:buFontTx/>
              <a:buNone/>
            </a:pPr>
            <a:endParaRPr lang="en-US" sz="1200" dirty="0" smtClean="0"/>
          </a:p>
          <a:p>
            <a:pPr marL="0" indent="0" algn="r" eaLnBrk="1" hangingPunct="1">
              <a:lnSpc>
                <a:spcPct val="150000"/>
              </a:lnSpc>
              <a:buFontTx/>
              <a:buNone/>
            </a:pPr>
            <a:r>
              <a:rPr lang="en-US" sz="1000" dirty="0" smtClean="0"/>
              <a:t>President’s Budget, Fiscal Year 2011 </a:t>
            </a:r>
          </a:p>
          <a:p>
            <a:pPr marL="0" indent="0" eaLnBrk="1" hangingPunct="1">
              <a:lnSpc>
                <a:spcPct val="150000"/>
              </a:lnSpc>
              <a:buFont typeface="Wingdings" pitchFamily="2" charset="2"/>
              <a:buChar char="•"/>
            </a:pPr>
            <a:endParaRPr lang="en-US" sz="1200" dirty="0" smtClean="0"/>
          </a:p>
        </p:txBody>
      </p:sp>
      <p:pic>
        <p:nvPicPr>
          <p:cNvPr id="5" name="Picture 2" descr="White-House-Barack-Obama-and-Map-Cabinet-picture-001.jpg"/>
          <p:cNvPicPr>
            <a:picLocks noGrp="1" noChangeAspect="1" noChangeArrowheads="1"/>
          </p:cNvPicPr>
          <p:nvPr>
            <p:ph sz="half" idx="2"/>
          </p:nvPr>
        </p:nvPicPr>
        <p:blipFill>
          <a:blip r:embed="rId2" cstate="print"/>
          <a:srcRect/>
          <a:stretch>
            <a:fillRect/>
          </a:stretch>
        </p:blipFill>
        <p:spPr>
          <a:xfrm>
            <a:off x="5181600" y="2133600"/>
            <a:ext cx="3505200" cy="2334051"/>
          </a:xfrm>
        </p:spPr>
      </p:pic>
      <p:pic>
        <p:nvPicPr>
          <p:cNvPr id="6" name="Picture 9"/>
          <p:cNvPicPr>
            <a:picLocks noChangeAspect="1" noChangeArrowheads="1"/>
          </p:cNvPicPr>
          <p:nvPr/>
        </p:nvPicPr>
        <p:blipFill>
          <a:blip r:embed="rId3" cstate="print"/>
          <a:srcRect l="9720" t="17390" r="14394" b="16769"/>
          <a:stretch>
            <a:fillRect/>
          </a:stretch>
        </p:blipFill>
        <p:spPr bwMode="auto">
          <a:xfrm>
            <a:off x="6400800" y="6172201"/>
            <a:ext cx="2170112" cy="5665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xfrm>
            <a:off x="609600" y="304800"/>
            <a:ext cx="7772400" cy="914400"/>
          </a:xfrm>
        </p:spPr>
        <p:txBody>
          <a:bodyPr/>
          <a:lstStyle/>
          <a:p>
            <a:pPr eaLnBrk="1" hangingPunct="1"/>
            <a:r>
              <a:rPr lang="en-US" dirty="0" smtClean="0"/>
              <a:t>Geospatial Platform</a:t>
            </a:r>
          </a:p>
        </p:txBody>
      </p:sp>
      <p:sp>
        <p:nvSpPr>
          <p:cNvPr id="9219" name="Content Placeholder 2" descr="Rectangle: Click to edit Master text styles&#10;Second level&#10;Third level&#10;Fourth level&#10;Fifth level"/>
          <p:cNvSpPr>
            <a:spLocks noGrp="1"/>
          </p:cNvSpPr>
          <p:nvPr>
            <p:ph type="body" idx="1"/>
          </p:nvPr>
        </p:nvSpPr>
        <p:spPr>
          <a:xfrm>
            <a:off x="457200" y="1295400"/>
            <a:ext cx="8229600" cy="4953000"/>
          </a:xfrm>
        </p:spPr>
        <p:txBody>
          <a:bodyPr/>
          <a:lstStyle/>
          <a:p>
            <a:pPr eaLnBrk="1" hangingPunct="1">
              <a:lnSpc>
                <a:spcPct val="90000"/>
              </a:lnSpc>
            </a:pPr>
            <a:r>
              <a:rPr lang="en-US" sz="1800" b="1" dirty="0" smtClean="0"/>
              <a:t>Definition</a:t>
            </a:r>
          </a:p>
          <a:p>
            <a:pPr marL="569913" lvl="1" indent="0" eaLnBrk="1" hangingPunct="1">
              <a:buFontTx/>
              <a:buNone/>
            </a:pPr>
            <a:r>
              <a:rPr lang="en-US" sz="1200" dirty="0" smtClean="0"/>
              <a:t>The Geospatial Platform will be a managed portfolio of common geospatial data, services, and applications contributed and administered by authoritative sources and hosted on a shared infrastructure, for use by government agencies and partners to meet their mission needs and the broader needs of the Nation</a:t>
            </a:r>
          </a:p>
          <a:p>
            <a:pPr marL="569913" lvl="1" indent="0" eaLnBrk="1" hangingPunct="1">
              <a:buFontTx/>
              <a:buNone/>
            </a:pPr>
            <a:endParaRPr lang="en-US" sz="1200" dirty="0" smtClean="0"/>
          </a:p>
          <a:p>
            <a:pPr eaLnBrk="1" hangingPunct="1">
              <a:lnSpc>
                <a:spcPct val="90000"/>
              </a:lnSpc>
            </a:pPr>
            <a:r>
              <a:rPr lang="en-US" sz="1800" b="1" dirty="0" smtClean="0"/>
              <a:t>Key Components</a:t>
            </a:r>
          </a:p>
          <a:p>
            <a:pPr lvl="1" eaLnBrk="1" hangingPunct="1">
              <a:buClr>
                <a:srgbClr val="339933"/>
              </a:buClr>
            </a:pPr>
            <a:r>
              <a:rPr lang="en-US" sz="1200" b="1" dirty="0" smtClean="0">
                <a:solidFill>
                  <a:srgbClr val="339933"/>
                </a:solidFill>
              </a:rPr>
              <a:t>Common Data, Services, and Applications</a:t>
            </a:r>
            <a:endParaRPr lang="en-US" sz="1200" dirty="0" smtClean="0">
              <a:solidFill>
                <a:srgbClr val="339933"/>
              </a:solidFill>
            </a:endParaRPr>
          </a:p>
          <a:p>
            <a:pPr eaLnBrk="1" hangingPunct="1">
              <a:buNone/>
            </a:pPr>
            <a:r>
              <a:rPr lang="en-US" sz="1200" dirty="0" smtClean="0"/>
              <a:t>	</a:t>
            </a:r>
            <a:r>
              <a:rPr lang="en-US" sz="1000" dirty="0" smtClean="0"/>
              <a:t>The Platform will deliver trusted geospatial data, services, and applications that are valuable to multiple agencies or customers to meet their business requirements. These common services will be registered and accessible through the Platform.</a:t>
            </a:r>
          </a:p>
          <a:p>
            <a:pPr eaLnBrk="1" hangingPunct="1">
              <a:buNone/>
            </a:pPr>
            <a:endParaRPr lang="en-US" sz="600" dirty="0" smtClean="0"/>
          </a:p>
          <a:p>
            <a:pPr lvl="1" eaLnBrk="1" hangingPunct="1">
              <a:buClr>
                <a:srgbClr val="339933"/>
              </a:buClr>
            </a:pPr>
            <a:r>
              <a:rPr lang="en-US" sz="1200" b="1" dirty="0" smtClean="0">
                <a:solidFill>
                  <a:srgbClr val="339933"/>
                </a:solidFill>
              </a:rPr>
              <a:t>Shared Infrastructure</a:t>
            </a:r>
            <a:endParaRPr lang="en-US" sz="1200" dirty="0" smtClean="0">
              <a:solidFill>
                <a:srgbClr val="339933"/>
              </a:solidFill>
            </a:endParaRPr>
          </a:p>
          <a:p>
            <a:pPr eaLnBrk="1" hangingPunct="1">
              <a:buClr>
                <a:srgbClr val="339933"/>
              </a:buClr>
              <a:buNone/>
            </a:pPr>
            <a:r>
              <a:rPr lang="en-US" sz="1200" dirty="0" smtClean="0"/>
              <a:t>	</a:t>
            </a:r>
            <a:r>
              <a:rPr lang="en-US" sz="1000" dirty="0" smtClean="0"/>
              <a:t>The Platform will promote and foster utilization of IT solutions (e.g., cloud computing) and shared investments across multiple partner organizations for joint development, operations, and maintenance of common geospatial services.</a:t>
            </a:r>
          </a:p>
          <a:p>
            <a:pPr eaLnBrk="1" hangingPunct="1">
              <a:buClr>
                <a:srgbClr val="339933"/>
              </a:buClr>
              <a:buNone/>
            </a:pPr>
            <a:endParaRPr lang="en-US" sz="600" dirty="0" smtClean="0"/>
          </a:p>
          <a:p>
            <a:pPr lvl="1" eaLnBrk="1" hangingPunct="1">
              <a:buClr>
                <a:srgbClr val="339933"/>
              </a:buClr>
            </a:pPr>
            <a:r>
              <a:rPr lang="en-US" sz="1200" b="1" dirty="0" smtClean="0">
                <a:solidFill>
                  <a:srgbClr val="339933"/>
                </a:solidFill>
              </a:rPr>
              <a:t>Geospatial Segment Architecture</a:t>
            </a:r>
            <a:endParaRPr lang="en-US" sz="1200" dirty="0" smtClean="0">
              <a:solidFill>
                <a:srgbClr val="339933"/>
              </a:solidFill>
            </a:endParaRPr>
          </a:p>
          <a:p>
            <a:pPr eaLnBrk="1" hangingPunct="1">
              <a:buClr>
                <a:srgbClr val="339933"/>
              </a:buClr>
              <a:buNone/>
            </a:pPr>
            <a:r>
              <a:rPr lang="en-US" sz="1200" dirty="0" smtClean="0"/>
              <a:t>	</a:t>
            </a:r>
            <a:r>
              <a:rPr lang="en-US" sz="1000" dirty="0" smtClean="0"/>
              <a:t>The Platform components will be designed and deployed through a process-driven approach that can be readily deployed in solution architectures by partners collaborating on geospatial data and services.</a:t>
            </a:r>
          </a:p>
          <a:p>
            <a:pPr eaLnBrk="1" hangingPunct="1">
              <a:buClr>
                <a:srgbClr val="339933"/>
              </a:buClr>
              <a:buNone/>
            </a:pPr>
            <a:endParaRPr lang="en-US" sz="600" dirty="0" smtClean="0"/>
          </a:p>
          <a:p>
            <a:pPr lvl="1" eaLnBrk="1" hangingPunct="1">
              <a:buClr>
                <a:srgbClr val="339933"/>
              </a:buClr>
            </a:pPr>
            <a:r>
              <a:rPr lang="en-US" sz="1200" b="1" dirty="0" smtClean="0">
                <a:solidFill>
                  <a:srgbClr val="339933"/>
                </a:solidFill>
              </a:rPr>
              <a:t>Collaborative Governance</a:t>
            </a:r>
            <a:endParaRPr lang="en-US" sz="1200" dirty="0" smtClean="0">
              <a:solidFill>
                <a:srgbClr val="339933"/>
              </a:solidFill>
            </a:endParaRPr>
          </a:p>
          <a:p>
            <a:pPr eaLnBrk="1" hangingPunct="1">
              <a:buClr>
                <a:srgbClr val="339933"/>
              </a:buClr>
              <a:buNone/>
            </a:pPr>
            <a:r>
              <a:rPr lang="en-US" sz="1200" dirty="0" smtClean="0"/>
              <a:t>	</a:t>
            </a:r>
            <a:r>
              <a:rPr lang="en-US" sz="1000" dirty="0" smtClean="0"/>
              <a:t>The Platform will be managed in a collaborative manner allowing partners and stakeholders the opportunity to help shape its structure, functions, and capabilities.</a:t>
            </a:r>
          </a:p>
          <a:p>
            <a:pPr eaLnBrk="1" hangingPunct="1">
              <a:buClr>
                <a:srgbClr val="339933"/>
              </a:buClr>
              <a:buNone/>
            </a:pPr>
            <a:endParaRPr lang="en-US" sz="600" dirty="0" smtClean="0"/>
          </a:p>
          <a:p>
            <a:pPr lvl="1" eaLnBrk="1" hangingPunct="1">
              <a:buClr>
                <a:srgbClr val="339933"/>
              </a:buClr>
            </a:pPr>
            <a:r>
              <a:rPr lang="en-US" sz="1200" b="1" dirty="0" smtClean="0">
                <a:solidFill>
                  <a:srgbClr val="339933"/>
                </a:solidFill>
              </a:rPr>
              <a:t>Portfolio Management</a:t>
            </a:r>
            <a:endParaRPr lang="en-US" sz="1200" dirty="0" smtClean="0">
              <a:solidFill>
                <a:srgbClr val="339933"/>
              </a:solidFill>
            </a:endParaRPr>
          </a:p>
          <a:p>
            <a:pPr eaLnBrk="1" hangingPunct="1">
              <a:buNone/>
            </a:pPr>
            <a:r>
              <a:rPr lang="en-US" sz="1200" dirty="0" smtClean="0"/>
              <a:t>	</a:t>
            </a:r>
            <a:r>
              <a:rPr lang="en-US" sz="1000" dirty="0" smtClean="0"/>
              <a:t>The Platform will support the prioritization, selection, and allocation of resources to maximize value in geospatial data, services, and applications to obtain positive outcomes from investments.</a:t>
            </a:r>
          </a:p>
          <a:p>
            <a:pPr marL="569913" lvl="1" indent="0" eaLnBrk="1" hangingPunct="1">
              <a:lnSpc>
                <a:spcPct val="150000"/>
              </a:lnSpc>
              <a:buFontTx/>
              <a:buNone/>
            </a:pPr>
            <a:r>
              <a:rPr lang="en-US" sz="1800" dirty="0" smtClean="0"/>
              <a:t>				</a:t>
            </a:r>
          </a:p>
          <a:p>
            <a:pPr marL="569913" lvl="1" indent="0" eaLnBrk="1" hangingPunct="1">
              <a:lnSpc>
                <a:spcPct val="150000"/>
              </a:lnSpc>
              <a:buFontTx/>
              <a:buNone/>
            </a:pPr>
            <a:r>
              <a:rPr lang="en-US" sz="1800" dirty="0" smtClean="0"/>
              <a: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Accomplishments</a:t>
            </a:r>
            <a:endParaRPr lang="en-US" dirty="0"/>
          </a:p>
        </p:txBody>
      </p:sp>
      <p:sp>
        <p:nvSpPr>
          <p:cNvPr id="3" name="Content Placeholder 2"/>
          <p:cNvSpPr>
            <a:spLocks noGrp="1"/>
          </p:cNvSpPr>
          <p:nvPr>
            <p:ph idx="1"/>
          </p:nvPr>
        </p:nvSpPr>
        <p:spPr/>
        <p:txBody>
          <a:bodyPr/>
          <a:lstStyle/>
          <a:p>
            <a:r>
              <a:rPr lang="en-US" sz="1800" dirty="0" smtClean="0"/>
              <a:t>Modernization Roadmap with Business Model and Time Boxes</a:t>
            </a:r>
          </a:p>
          <a:p>
            <a:endParaRPr lang="en-US" sz="1800" dirty="0" smtClean="0"/>
          </a:p>
          <a:p>
            <a:r>
              <a:rPr lang="en-US" sz="1800" dirty="0" smtClean="0"/>
              <a:t>Stakeholder Review and Engagement</a:t>
            </a:r>
          </a:p>
          <a:p>
            <a:endParaRPr lang="en-US" sz="1800" dirty="0" smtClean="0"/>
          </a:p>
          <a:p>
            <a:r>
              <a:rPr lang="en-US" sz="1800" dirty="0" smtClean="0"/>
              <a:t>Intergovernmental Subcommittee</a:t>
            </a:r>
          </a:p>
          <a:p>
            <a:endParaRPr lang="en-US" sz="1800" dirty="0" smtClean="0"/>
          </a:p>
          <a:p>
            <a:r>
              <a:rPr lang="en-US" sz="1800" dirty="0" smtClean="0"/>
              <a:t>Technical Implementation Activities</a:t>
            </a:r>
          </a:p>
          <a:p>
            <a:endParaRPr lang="en-US" sz="1800" dirty="0" smtClean="0"/>
          </a:p>
          <a:p>
            <a:r>
              <a:rPr lang="en-US" sz="1800" dirty="0" smtClean="0"/>
              <a:t>Collaborative Interactions</a:t>
            </a:r>
          </a:p>
          <a:p>
            <a:endParaRPr lang="en-US" sz="1800" dirty="0" smtClean="0"/>
          </a:p>
          <a:p>
            <a:r>
              <a:rPr lang="en-US" sz="1800" dirty="0" smtClean="0"/>
              <a:t>Interim Management Framework</a:t>
            </a:r>
          </a:p>
          <a:p>
            <a:endParaRPr lang="en-US" sz="1800" dirty="0" smtClean="0"/>
          </a:p>
          <a:p>
            <a:r>
              <a:rPr lang="en-US" sz="1800" dirty="0" smtClean="0"/>
              <a:t>Managing Partner Discussions</a:t>
            </a:r>
          </a:p>
          <a:p>
            <a:endParaRPr lang="en-US" sz="1600"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title"/>
          </p:nvPr>
        </p:nvSpPr>
        <p:spPr/>
        <p:txBody>
          <a:bodyPr/>
          <a:lstStyle/>
          <a:p>
            <a:pPr eaLnBrk="1" hangingPunct="1"/>
            <a:r>
              <a:rPr lang="en-US" dirty="0" smtClean="0"/>
              <a:t>Modernization Roadmap</a:t>
            </a:r>
          </a:p>
        </p:txBody>
      </p:sp>
      <p:sp>
        <p:nvSpPr>
          <p:cNvPr id="22530" name="Content Placeholder 2" descr="Rectangle: Click to edit Master text styles&#10;Second level&#10;Third level&#10;Fourth level&#10;Fifth level"/>
          <p:cNvSpPr>
            <a:spLocks noGrp="1"/>
          </p:cNvSpPr>
          <p:nvPr>
            <p:ph type="body" idx="1"/>
          </p:nvPr>
        </p:nvSpPr>
        <p:spPr>
          <a:xfrm>
            <a:off x="457200" y="1600200"/>
            <a:ext cx="5943600" cy="5029200"/>
          </a:xfrm>
        </p:spPr>
        <p:txBody>
          <a:bodyPr/>
          <a:lstStyle/>
          <a:p>
            <a:pPr eaLnBrk="1" hangingPunct="1">
              <a:spcAft>
                <a:spcPts val="1200"/>
              </a:spcAft>
            </a:pPr>
            <a:r>
              <a:rPr lang="en-US" sz="2000" smtClean="0"/>
              <a:t>Defines Geospatial Platform </a:t>
            </a:r>
          </a:p>
          <a:p>
            <a:pPr eaLnBrk="1" hangingPunct="1">
              <a:spcAft>
                <a:spcPts val="1200"/>
              </a:spcAft>
            </a:pPr>
            <a:r>
              <a:rPr lang="en-US" sz="2000" smtClean="0"/>
              <a:t>Establishes vision and purpose</a:t>
            </a:r>
          </a:p>
          <a:p>
            <a:pPr eaLnBrk="1" hangingPunct="1">
              <a:spcAft>
                <a:spcPts val="1200"/>
              </a:spcAft>
            </a:pPr>
            <a:r>
              <a:rPr lang="en-US" sz="2000" smtClean="0"/>
              <a:t>Describes future state technology architecture</a:t>
            </a:r>
          </a:p>
          <a:p>
            <a:pPr eaLnBrk="1" hangingPunct="1">
              <a:spcAft>
                <a:spcPts val="1200"/>
              </a:spcAft>
            </a:pPr>
            <a:r>
              <a:rPr lang="en-US" sz="2000" smtClean="0"/>
              <a:t>Identifies processes and organization elements to ensure success</a:t>
            </a:r>
          </a:p>
          <a:p>
            <a:pPr eaLnBrk="1" hangingPunct="1">
              <a:spcAft>
                <a:spcPts val="1200"/>
              </a:spcAft>
            </a:pPr>
            <a:r>
              <a:rPr lang="en-US" sz="2000" smtClean="0"/>
              <a:t>Describe strategic path forward to implement vision</a:t>
            </a:r>
          </a:p>
          <a:p>
            <a:pPr eaLnBrk="1" hangingPunct="1">
              <a:spcAft>
                <a:spcPts val="1200"/>
              </a:spcAft>
            </a:pPr>
            <a:r>
              <a:rPr lang="en-US" sz="2000" smtClean="0"/>
              <a:t>Identify actionable projects and activities for short and mid-term implementation including operations</a:t>
            </a:r>
          </a:p>
        </p:txBody>
      </p:sp>
      <p:grpSp>
        <p:nvGrpSpPr>
          <p:cNvPr id="2" name="Group 8"/>
          <p:cNvGrpSpPr>
            <a:grpSpLocks noChangeAspect="1"/>
          </p:cNvGrpSpPr>
          <p:nvPr/>
        </p:nvGrpSpPr>
        <p:grpSpPr bwMode="auto">
          <a:xfrm>
            <a:off x="6248400" y="1752600"/>
            <a:ext cx="2770188" cy="3429000"/>
            <a:chOff x="5867399" y="2133600"/>
            <a:chExt cx="2667000" cy="3429000"/>
          </a:xfrm>
        </p:grpSpPr>
        <p:pic>
          <p:nvPicPr>
            <p:cNvPr id="22533" name="Picture 2"/>
            <p:cNvPicPr>
              <a:picLocks noChangeAspect="1" noChangeArrowheads="1"/>
            </p:cNvPicPr>
            <p:nvPr/>
          </p:nvPicPr>
          <p:blipFill>
            <a:blip r:embed="rId2" cstate="print"/>
            <a:srcRect l="40149" t="18199" r="19649" b="12883"/>
            <a:stretch>
              <a:fillRect/>
            </a:stretch>
          </p:blipFill>
          <p:spPr bwMode="auto">
            <a:xfrm>
              <a:off x="5867399" y="2133600"/>
              <a:ext cx="2667000" cy="3429000"/>
            </a:xfrm>
            <a:prstGeom prst="rect">
              <a:avLst/>
            </a:prstGeom>
            <a:noFill/>
            <a:ln w="9525">
              <a:noFill/>
              <a:miter lim="800000"/>
              <a:headEnd/>
              <a:tailEnd/>
            </a:ln>
          </p:spPr>
        </p:pic>
        <p:sp>
          <p:nvSpPr>
            <p:cNvPr id="22534" name="Rectangle 7"/>
            <p:cNvSpPr>
              <a:spLocks noChangeArrowheads="1"/>
            </p:cNvSpPr>
            <p:nvPr/>
          </p:nvSpPr>
          <p:spPr bwMode="auto">
            <a:xfrm>
              <a:off x="6096000" y="2362200"/>
              <a:ext cx="2286000" cy="3124200"/>
            </a:xfrm>
            <a:prstGeom prst="rect">
              <a:avLst/>
            </a:prstGeom>
            <a:noFill/>
            <a:ln w="9525" algn="ctr">
              <a:solidFill>
                <a:srgbClr val="000000"/>
              </a:solidFill>
              <a:round/>
              <a:headEnd/>
              <a:tailEnd/>
            </a:ln>
          </p:spPr>
          <p:txBody>
            <a:bodyPr/>
            <a:lstStyle/>
            <a:p>
              <a:pPr marL="342900" indent="-342900" eaLnBrk="0" hangingPunct="0">
                <a:spcBef>
                  <a:spcPct val="20000"/>
                </a:spcBef>
                <a:buClr>
                  <a:schemeClr val="hlink"/>
                </a:buClr>
                <a:buSzPct val="110000"/>
                <a:buFont typeface="Wingdings" pitchFamily="2" charset="2"/>
                <a:buBlip>
                  <a:blip r:embed="rId3"/>
                </a:buBlip>
              </a:pPr>
              <a:endParaRPr 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type="title"/>
          </p:nvPr>
        </p:nvSpPr>
        <p:spPr/>
        <p:txBody>
          <a:bodyPr/>
          <a:lstStyle/>
          <a:p>
            <a:pPr eaLnBrk="1" hangingPunct="1"/>
            <a:r>
              <a:rPr lang="en-US" dirty="0" smtClean="0"/>
              <a:t>Business Model</a:t>
            </a:r>
          </a:p>
        </p:txBody>
      </p:sp>
      <p:sp>
        <p:nvSpPr>
          <p:cNvPr id="11267" name="Content Placeholder 2" descr="Rectangle: Click to edit Master text styles&#10;Second level&#10;Third level&#10;Fourth level&#10;Fifth level"/>
          <p:cNvSpPr>
            <a:spLocks noGrp="1"/>
          </p:cNvSpPr>
          <p:nvPr>
            <p:ph type="body" idx="1"/>
          </p:nvPr>
        </p:nvSpPr>
        <p:spPr>
          <a:xfrm>
            <a:off x="457200" y="1447800"/>
            <a:ext cx="3429000" cy="4525963"/>
          </a:xfrm>
        </p:spPr>
        <p:txBody>
          <a:bodyPr/>
          <a:lstStyle/>
          <a:p>
            <a:pPr eaLnBrk="1" hangingPunct="1">
              <a:lnSpc>
                <a:spcPct val="90000"/>
              </a:lnSpc>
            </a:pPr>
            <a:r>
              <a:rPr lang="en-US" sz="1800" dirty="0" smtClean="0"/>
              <a:t>The Offering</a:t>
            </a:r>
          </a:p>
          <a:p>
            <a:pPr eaLnBrk="1" hangingPunct="1">
              <a:lnSpc>
                <a:spcPct val="90000"/>
              </a:lnSpc>
            </a:pPr>
            <a:endParaRPr lang="en-US" sz="1800" dirty="0" smtClean="0"/>
          </a:p>
          <a:p>
            <a:pPr eaLnBrk="1" hangingPunct="1">
              <a:lnSpc>
                <a:spcPct val="90000"/>
              </a:lnSpc>
            </a:pPr>
            <a:r>
              <a:rPr lang="en-US" sz="1800" dirty="0" smtClean="0"/>
              <a:t>Business Institution</a:t>
            </a:r>
          </a:p>
          <a:p>
            <a:pPr lvl="1" eaLnBrk="1" hangingPunct="1">
              <a:lnSpc>
                <a:spcPct val="90000"/>
              </a:lnSpc>
            </a:pPr>
            <a:r>
              <a:rPr lang="en-US" sz="1600" dirty="0" smtClean="0"/>
              <a:t>Managing Partner</a:t>
            </a:r>
          </a:p>
          <a:p>
            <a:pPr lvl="1" eaLnBrk="1" hangingPunct="1">
              <a:lnSpc>
                <a:spcPct val="90000"/>
              </a:lnSpc>
            </a:pPr>
            <a:r>
              <a:rPr lang="en-US" sz="1600" dirty="0" smtClean="0"/>
              <a:t>Partner Network</a:t>
            </a:r>
          </a:p>
          <a:p>
            <a:pPr lvl="1" eaLnBrk="1" hangingPunct="1">
              <a:lnSpc>
                <a:spcPct val="90000"/>
              </a:lnSpc>
            </a:pPr>
            <a:r>
              <a:rPr lang="en-US" sz="1600" dirty="0" smtClean="0"/>
              <a:t>Governing Body</a:t>
            </a:r>
          </a:p>
          <a:p>
            <a:pPr lvl="1" eaLnBrk="1" hangingPunct="1">
              <a:lnSpc>
                <a:spcPct val="90000"/>
              </a:lnSpc>
            </a:pPr>
            <a:r>
              <a:rPr lang="en-US" sz="1600" dirty="0" smtClean="0"/>
              <a:t>Business Processes</a:t>
            </a:r>
          </a:p>
          <a:p>
            <a:pPr lvl="1" eaLnBrk="1" hangingPunct="1">
              <a:lnSpc>
                <a:spcPct val="90000"/>
              </a:lnSpc>
            </a:pPr>
            <a:endParaRPr lang="en-US" sz="1600" dirty="0" smtClean="0"/>
          </a:p>
          <a:p>
            <a:pPr eaLnBrk="1" hangingPunct="1">
              <a:lnSpc>
                <a:spcPct val="90000"/>
              </a:lnSpc>
            </a:pPr>
            <a:r>
              <a:rPr lang="en-US" sz="1800" dirty="0" smtClean="0"/>
              <a:t>Customers</a:t>
            </a:r>
          </a:p>
          <a:p>
            <a:pPr lvl="1" eaLnBrk="1" hangingPunct="1">
              <a:lnSpc>
                <a:spcPct val="90000"/>
              </a:lnSpc>
            </a:pPr>
            <a:r>
              <a:rPr lang="en-US" sz="1600" dirty="0" smtClean="0"/>
              <a:t>Target Customers</a:t>
            </a:r>
          </a:p>
          <a:p>
            <a:pPr lvl="1" eaLnBrk="1" hangingPunct="1">
              <a:lnSpc>
                <a:spcPct val="90000"/>
              </a:lnSpc>
            </a:pPr>
            <a:r>
              <a:rPr lang="en-US" sz="1600" dirty="0" smtClean="0"/>
              <a:t>Customer Relations</a:t>
            </a:r>
          </a:p>
          <a:p>
            <a:pPr lvl="1" eaLnBrk="1" hangingPunct="1">
              <a:lnSpc>
                <a:spcPct val="90000"/>
              </a:lnSpc>
            </a:pPr>
            <a:endParaRPr lang="en-US" sz="1600" dirty="0" smtClean="0"/>
          </a:p>
          <a:p>
            <a:pPr eaLnBrk="1" hangingPunct="1">
              <a:lnSpc>
                <a:spcPct val="90000"/>
              </a:lnSpc>
            </a:pPr>
            <a:r>
              <a:rPr lang="en-US" sz="1800" dirty="0" smtClean="0"/>
              <a:t>Financial Approach</a:t>
            </a:r>
          </a:p>
          <a:p>
            <a:pPr lvl="1" eaLnBrk="1" hangingPunct="1">
              <a:lnSpc>
                <a:spcPct val="90000"/>
              </a:lnSpc>
            </a:pPr>
            <a:r>
              <a:rPr lang="en-US" sz="1600" dirty="0" smtClean="0"/>
              <a:t>Capital Investments</a:t>
            </a:r>
          </a:p>
          <a:p>
            <a:pPr lvl="1" eaLnBrk="1" hangingPunct="1">
              <a:lnSpc>
                <a:spcPct val="90000"/>
              </a:lnSpc>
            </a:pPr>
            <a:r>
              <a:rPr lang="en-US" sz="1600" dirty="0" smtClean="0"/>
              <a:t>Operating Expenses</a:t>
            </a:r>
          </a:p>
          <a:p>
            <a:pPr lvl="1" eaLnBrk="1" hangingPunct="1">
              <a:lnSpc>
                <a:spcPct val="90000"/>
              </a:lnSpc>
            </a:pPr>
            <a:r>
              <a:rPr lang="en-US" sz="1600" dirty="0" smtClean="0"/>
              <a:t>Funding Sources</a:t>
            </a:r>
            <a:endParaRPr lang="en-US" sz="1800" dirty="0" smtClean="0"/>
          </a:p>
          <a:p>
            <a:pPr eaLnBrk="1" hangingPunct="1">
              <a:lnSpc>
                <a:spcPct val="90000"/>
              </a:lnSpc>
              <a:buFontTx/>
              <a:buNone/>
            </a:pPr>
            <a:endParaRPr lang="en-US" sz="2000" dirty="0" smtClean="0"/>
          </a:p>
        </p:txBody>
      </p:sp>
      <p:pic>
        <p:nvPicPr>
          <p:cNvPr id="11268" name="Picture 10"/>
          <p:cNvPicPr>
            <a:picLocks noChangeAspect="1" noChangeArrowheads="1"/>
          </p:cNvPicPr>
          <p:nvPr/>
        </p:nvPicPr>
        <p:blipFill>
          <a:blip r:embed="rId2" cstate="print"/>
          <a:srcRect/>
          <a:stretch>
            <a:fillRect/>
          </a:stretch>
        </p:blipFill>
        <p:spPr bwMode="auto">
          <a:xfrm>
            <a:off x="3352800" y="1828800"/>
            <a:ext cx="5791200" cy="3276600"/>
          </a:xfrm>
          <a:prstGeom prst="rect">
            <a:avLst/>
          </a:prstGeom>
          <a:noFill/>
          <a:ln w="9525">
            <a:noFill/>
            <a:miter lim="800000"/>
            <a:headEnd/>
            <a:tailEnd/>
          </a:ln>
        </p:spPr>
      </p:pic>
      <p:sp>
        <p:nvSpPr>
          <p:cNvPr id="5" name="Down Arrow 4"/>
          <p:cNvSpPr/>
          <p:nvPr/>
        </p:nvSpPr>
        <p:spPr bwMode="auto">
          <a:xfrm rot="2116866">
            <a:off x="6533760" y="1461807"/>
            <a:ext cx="990600" cy="1303117"/>
          </a:xfrm>
          <a:prstGeom prst="downArrow">
            <a:avLst/>
          </a:prstGeom>
          <a:solidFill>
            <a:schemeClr val="tx2"/>
          </a:solidFill>
          <a:ln w="9525" cap="flat" cmpd="sng" algn="ctr">
            <a:solidFill>
              <a:schemeClr val="tx1"/>
            </a:solidFill>
            <a:prstDash val="solid"/>
            <a:round/>
            <a:headEnd type="none" w="med" len="med"/>
            <a:tailEnd type="none" w="med" len="med"/>
          </a:ln>
          <a:effectLst/>
          <a:scene3d>
            <a:camera prst="isometricLeftDown"/>
            <a:lightRig rig="threePt" dir="t"/>
          </a:scene3d>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400" b="0" i="0" u="none" strike="noStrike" cap="none" normalizeH="0" baseline="0" smtClean="0">
              <a:ln>
                <a:noFill/>
              </a:ln>
              <a:solidFill>
                <a:schemeClr val="tx1"/>
              </a:solidFill>
              <a:effectLst/>
              <a:latin typeface="Tahom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Boxes</a:t>
            </a:r>
            <a:endParaRPr lang="en-US" dirty="0"/>
          </a:p>
        </p:txBody>
      </p:sp>
      <p:sp>
        <p:nvSpPr>
          <p:cNvPr id="5" name="Content Placeholder 4"/>
          <p:cNvSpPr>
            <a:spLocks noGrp="1"/>
          </p:cNvSpPr>
          <p:nvPr>
            <p:ph sz="half" idx="1"/>
          </p:nvPr>
        </p:nvSpPr>
        <p:spPr>
          <a:xfrm>
            <a:off x="685800" y="1676400"/>
            <a:ext cx="4267200" cy="4267200"/>
          </a:xfrm>
        </p:spPr>
        <p:txBody>
          <a:bodyPr/>
          <a:lstStyle/>
          <a:p>
            <a:r>
              <a:rPr lang="en-US" sz="1200" dirty="0" smtClean="0"/>
              <a:t>Time Box 1 (Jul – Sep 2010)</a:t>
            </a:r>
          </a:p>
          <a:p>
            <a:pPr lvl="1"/>
            <a:r>
              <a:rPr lang="en-US" sz="1000" dirty="0" smtClean="0"/>
              <a:t>Gulf Oil Spill Mapping</a:t>
            </a:r>
          </a:p>
          <a:p>
            <a:pPr lvl="1"/>
            <a:r>
              <a:rPr lang="en-US" sz="1000" dirty="0" err="1" smtClean="0"/>
              <a:t>DoD</a:t>
            </a:r>
            <a:r>
              <a:rPr lang="en-US" sz="1000" dirty="0" smtClean="0"/>
              <a:t> Geospatial Visualization Enterprise Solution(GV-ES)</a:t>
            </a:r>
          </a:p>
          <a:p>
            <a:pPr lvl="1"/>
            <a:r>
              <a:rPr lang="en-US" sz="1000" dirty="0" smtClean="0"/>
              <a:t>Homeland Security Infrastructure Protection (HSIP) data</a:t>
            </a:r>
          </a:p>
          <a:p>
            <a:pPr lvl="1"/>
            <a:r>
              <a:rPr lang="en-US" sz="1000" dirty="0" smtClean="0"/>
              <a:t>Base map and base map service options</a:t>
            </a:r>
          </a:p>
          <a:p>
            <a:pPr lvl="1"/>
            <a:r>
              <a:rPr lang="en-US" sz="1000" dirty="0" smtClean="0"/>
              <a:t>Commercial and government Cloud Computing environment</a:t>
            </a:r>
          </a:p>
          <a:p>
            <a:pPr lvl="1"/>
            <a:r>
              <a:rPr lang="en-US" sz="1000" dirty="0" smtClean="0"/>
              <a:t>"Platform as a Service" suites with Federal-wide certification and accreditation</a:t>
            </a:r>
          </a:p>
          <a:p>
            <a:pPr lvl="1"/>
            <a:r>
              <a:rPr lang="en-US" sz="1000" dirty="0" smtClean="0"/>
              <a:t>Geospatial Segment Architecture Guidance document</a:t>
            </a:r>
          </a:p>
          <a:p>
            <a:pPr lvl="1"/>
            <a:r>
              <a:rPr lang="en-US" sz="1000" dirty="0" smtClean="0"/>
              <a:t>FGDC approval and endorsement for existing open geospatial standards</a:t>
            </a:r>
          </a:p>
          <a:p>
            <a:pPr lvl="1"/>
            <a:r>
              <a:rPr lang="en-US" sz="1000" dirty="0" smtClean="0"/>
              <a:t>Approach for registering shared data, services and applications</a:t>
            </a:r>
          </a:p>
          <a:p>
            <a:pPr lvl="1"/>
            <a:r>
              <a:rPr lang="en-US" sz="1000" dirty="0" smtClean="0"/>
              <a:t>Interim Geospatial Platform Managing Partner</a:t>
            </a:r>
          </a:p>
          <a:p>
            <a:pPr lvl="1"/>
            <a:r>
              <a:rPr lang="en-US" sz="1000" dirty="0" smtClean="0"/>
              <a:t>Interim intergovernmental body</a:t>
            </a:r>
          </a:p>
          <a:p>
            <a:pPr lvl="1"/>
            <a:r>
              <a:rPr lang="en-US" sz="1000" dirty="0" smtClean="0"/>
              <a:t>Draft Geospatial Platform Business Model</a:t>
            </a:r>
          </a:p>
          <a:p>
            <a:pPr lvl="1"/>
            <a:r>
              <a:rPr lang="en-US" sz="1000" dirty="0" smtClean="0"/>
              <a:t>Final approval of the A-16 Supplemental Guidance</a:t>
            </a:r>
          </a:p>
          <a:p>
            <a:pPr lvl="1"/>
            <a:r>
              <a:rPr lang="en-US" sz="1000" dirty="0" smtClean="0"/>
              <a:t>Inventory of data</a:t>
            </a:r>
          </a:p>
          <a:p>
            <a:pPr lvl="1"/>
            <a:r>
              <a:rPr lang="en-US" sz="1000" dirty="0" smtClean="0"/>
              <a:t>Strategy to conduct outreach and input with key stakeholders</a:t>
            </a:r>
          </a:p>
          <a:p>
            <a:pPr lvl="1"/>
            <a:r>
              <a:rPr lang="en-US" sz="1000" dirty="0" smtClean="0"/>
              <a:t>Enhanced existing GeoPlatform.gov website</a:t>
            </a:r>
          </a:p>
          <a:p>
            <a:endParaRPr lang="en-US" sz="1200" dirty="0" smtClean="0"/>
          </a:p>
          <a:p>
            <a:pPr>
              <a:buNone/>
            </a:pPr>
            <a:endParaRPr lang="en-US" dirty="0"/>
          </a:p>
        </p:txBody>
      </p:sp>
      <p:sp>
        <p:nvSpPr>
          <p:cNvPr id="6" name="Content Placeholder 5"/>
          <p:cNvSpPr>
            <a:spLocks noGrp="1"/>
          </p:cNvSpPr>
          <p:nvPr>
            <p:ph sz="half" idx="2"/>
          </p:nvPr>
        </p:nvSpPr>
        <p:spPr>
          <a:xfrm>
            <a:off x="4876800" y="1676400"/>
            <a:ext cx="3810000" cy="4267200"/>
          </a:xfrm>
        </p:spPr>
        <p:txBody>
          <a:bodyPr/>
          <a:lstStyle/>
          <a:p>
            <a:r>
              <a:rPr lang="en-US" sz="1200" dirty="0" smtClean="0"/>
              <a:t>Time Box 2 (Oct – Dec 2010)</a:t>
            </a:r>
          </a:p>
          <a:p>
            <a:pPr lvl="1"/>
            <a:r>
              <a:rPr lang="en-US" sz="1000" dirty="0" smtClean="0"/>
              <a:t>Common </a:t>
            </a:r>
            <a:r>
              <a:rPr lang="en-US" sz="1000" dirty="0" err="1" smtClean="0"/>
              <a:t>geocoding</a:t>
            </a:r>
            <a:r>
              <a:rPr lang="en-US" sz="1000" dirty="0" smtClean="0"/>
              <a:t> service(s) requirements</a:t>
            </a:r>
          </a:p>
          <a:p>
            <a:pPr lvl="1"/>
            <a:r>
              <a:rPr lang="en-US" sz="1000" dirty="0" smtClean="0"/>
              <a:t>National database pilot projects</a:t>
            </a:r>
          </a:p>
          <a:p>
            <a:pPr lvl="1"/>
            <a:r>
              <a:rPr lang="en-US" sz="1000" dirty="0" smtClean="0"/>
              <a:t>National Urban Change Indicator (NUCI) dataset</a:t>
            </a:r>
          </a:p>
          <a:p>
            <a:pPr lvl="1"/>
            <a:r>
              <a:rPr lang="en-US" sz="1000" dirty="0" smtClean="0"/>
              <a:t>Additional FSAM compliant data</a:t>
            </a:r>
          </a:p>
          <a:p>
            <a:pPr lvl="1"/>
            <a:r>
              <a:rPr lang="en-US" sz="1000" dirty="0" smtClean="0"/>
              <a:t>Sensitive But Unclassified (SBU) Architecture</a:t>
            </a:r>
          </a:p>
          <a:p>
            <a:pPr lvl="1"/>
            <a:r>
              <a:rPr lang="en-US" sz="1000" dirty="0" smtClean="0"/>
              <a:t>Guidance language to Federal agencies for geospatial grants and contracts</a:t>
            </a:r>
          </a:p>
          <a:p>
            <a:pPr lvl="1"/>
            <a:r>
              <a:rPr lang="en-US" sz="1000" dirty="0" smtClean="0"/>
              <a:t>Select geospatial data for inclusion in the Geospatial Platform portfolio</a:t>
            </a:r>
          </a:p>
          <a:p>
            <a:pPr lvl="1"/>
            <a:r>
              <a:rPr lang="en-US" sz="1000" dirty="0" smtClean="0"/>
              <a:t>Inventory of available tools to gather and analyze high-level requirements</a:t>
            </a:r>
          </a:p>
          <a:p>
            <a:pPr lvl="1"/>
            <a:r>
              <a:rPr lang="en-US" sz="1000" dirty="0" smtClean="0"/>
              <a:t>Selection criteria for shared services and applications</a:t>
            </a:r>
          </a:p>
          <a:p>
            <a:pPr lvl="1"/>
            <a:endParaRPr lang="en-US" sz="1000" dirty="0" smtClean="0"/>
          </a:p>
          <a:p>
            <a:r>
              <a:rPr lang="en-US" sz="1200" dirty="0" smtClean="0"/>
              <a:t>Time Box 3 (Jan – Sep 2011)</a:t>
            </a:r>
          </a:p>
          <a:p>
            <a:pPr lvl="1"/>
            <a:r>
              <a:rPr lang="en-US" sz="1000" dirty="0" smtClean="0"/>
              <a:t>Common </a:t>
            </a:r>
            <a:r>
              <a:rPr lang="en-US" sz="1000" dirty="0" err="1" smtClean="0"/>
              <a:t>geocoding</a:t>
            </a:r>
            <a:r>
              <a:rPr lang="en-US" sz="1000" dirty="0" smtClean="0"/>
              <a:t> service</a:t>
            </a:r>
          </a:p>
          <a:p>
            <a:pPr lvl="1"/>
            <a:r>
              <a:rPr lang="en-US" sz="1000" dirty="0" smtClean="0"/>
              <a:t>Permanent Managing Partner</a:t>
            </a:r>
          </a:p>
          <a:p>
            <a:pPr lvl="1"/>
            <a:r>
              <a:rPr lang="en-US" sz="1000" dirty="0" smtClean="0"/>
              <a:t>Final structure for intergovernmental body</a:t>
            </a:r>
          </a:p>
          <a:p>
            <a:pPr lvl="1"/>
            <a:r>
              <a:rPr lang="en-US" sz="1000" dirty="0" smtClean="0"/>
              <a:t>National study by trusted institution</a:t>
            </a:r>
          </a:p>
          <a:p>
            <a:pPr lvl="1"/>
            <a:endParaRPr lang="en-US" sz="1000" dirty="0" smtClean="0"/>
          </a:p>
          <a:p>
            <a:r>
              <a:rPr lang="en-US" sz="1200" dirty="0" smtClean="0"/>
              <a:t>Time Box 4 (Oct 2011 – Sep 2012)</a:t>
            </a:r>
          </a:p>
          <a:p>
            <a:pPr lvl="1"/>
            <a:r>
              <a:rPr lang="en-US" sz="1000" dirty="0" smtClean="0"/>
              <a:t>Full operations mode</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153400" cy="1143000"/>
          </a:xfrm>
        </p:spPr>
        <p:txBody>
          <a:bodyPr/>
          <a:lstStyle/>
          <a:p>
            <a:r>
              <a:rPr lang="en-US" sz="4000" dirty="0" smtClean="0"/>
              <a:t>Stakeholder Review &amp; Engagement</a:t>
            </a:r>
            <a:endParaRPr lang="en-US" sz="4000" dirty="0"/>
          </a:p>
        </p:txBody>
      </p:sp>
      <p:sp>
        <p:nvSpPr>
          <p:cNvPr id="3" name="Content Placeholder 2"/>
          <p:cNvSpPr>
            <a:spLocks noGrp="1"/>
          </p:cNvSpPr>
          <p:nvPr>
            <p:ph idx="1"/>
          </p:nvPr>
        </p:nvSpPr>
        <p:spPr/>
        <p:txBody>
          <a:bodyPr/>
          <a:lstStyle/>
          <a:p>
            <a:r>
              <a:rPr lang="en-US" sz="1800" dirty="0" smtClean="0"/>
              <a:t>Formal Federal Interagency Review</a:t>
            </a:r>
          </a:p>
          <a:p>
            <a:pPr lvl="1"/>
            <a:r>
              <a:rPr lang="en-US" sz="1400" dirty="0" smtClean="0"/>
              <a:t>11</a:t>
            </a:r>
            <a:r>
              <a:rPr lang="en-US" sz="1400" dirty="0" smtClean="0"/>
              <a:t> </a:t>
            </a:r>
            <a:r>
              <a:rPr lang="en-US" sz="1400" dirty="0" smtClean="0"/>
              <a:t>Agencies Responded</a:t>
            </a:r>
          </a:p>
          <a:p>
            <a:pPr lvl="1"/>
            <a:r>
              <a:rPr lang="en-US" sz="1400" dirty="0" smtClean="0"/>
              <a:t>70</a:t>
            </a:r>
            <a:r>
              <a:rPr lang="en-US" sz="1400" dirty="0" smtClean="0"/>
              <a:t> </a:t>
            </a:r>
            <a:r>
              <a:rPr lang="en-US" sz="1400" dirty="0" smtClean="0"/>
              <a:t>Comments</a:t>
            </a:r>
          </a:p>
          <a:p>
            <a:pPr lvl="1"/>
            <a:r>
              <a:rPr lang="en-US" sz="1400" dirty="0" smtClean="0"/>
              <a:t>Largely Favorable Feedback</a:t>
            </a:r>
          </a:p>
          <a:p>
            <a:endParaRPr lang="en-US" sz="1800" dirty="0" smtClean="0"/>
          </a:p>
          <a:p>
            <a:r>
              <a:rPr lang="en-US" sz="1800" dirty="0" smtClean="0"/>
              <a:t>National Geospatial Advisory Committee</a:t>
            </a:r>
          </a:p>
          <a:p>
            <a:pPr lvl="1"/>
            <a:r>
              <a:rPr lang="en-US" sz="1400" dirty="0" smtClean="0"/>
              <a:t>March – Review of Initial Concepts</a:t>
            </a:r>
          </a:p>
          <a:p>
            <a:pPr lvl="1"/>
            <a:r>
              <a:rPr lang="en-US" sz="1400" dirty="0" smtClean="0"/>
              <a:t>June – Review of Roadmap V2</a:t>
            </a:r>
          </a:p>
          <a:p>
            <a:pPr lvl="1"/>
            <a:r>
              <a:rPr lang="en-US" sz="1400" dirty="0" smtClean="0"/>
              <a:t>September – Advice on Three Key Issues</a:t>
            </a:r>
          </a:p>
          <a:p>
            <a:pPr lvl="2"/>
            <a:r>
              <a:rPr lang="en-US" sz="1000" dirty="0" smtClean="0"/>
              <a:t>Intergovernmental Approach</a:t>
            </a:r>
          </a:p>
          <a:p>
            <a:pPr lvl="2"/>
            <a:r>
              <a:rPr lang="en-US" sz="1000" dirty="0" smtClean="0"/>
              <a:t>Managing Partner</a:t>
            </a:r>
          </a:p>
          <a:p>
            <a:pPr lvl="2"/>
            <a:r>
              <a:rPr lang="en-US" sz="1000" dirty="0" smtClean="0"/>
              <a:t>Stakeholder Engagement</a:t>
            </a:r>
          </a:p>
          <a:p>
            <a:pPr lvl="1"/>
            <a:r>
              <a:rPr lang="en-US" sz="1400" dirty="0" smtClean="0"/>
              <a:t>December – Continuing Feedback</a:t>
            </a:r>
          </a:p>
          <a:p>
            <a:endParaRPr lang="en-US" sz="1800" dirty="0" smtClean="0"/>
          </a:p>
          <a:p>
            <a:r>
              <a:rPr lang="en-US" sz="1800" dirty="0" smtClean="0"/>
              <a:t>Broad Stakeholder Engagement</a:t>
            </a:r>
          </a:p>
          <a:p>
            <a:pPr lvl="1"/>
            <a:r>
              <a:rPr lang="en-US" sz="1400" dirty="0" smtClean="0"/>
              <a:t>Initiated October 2010</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p:cNvSpPr>
            <a:spLocks noGrp="1"/>
          </p:cNvSpPr>
          <p:nvPr>
            <p:ph type="title"/>
          </p:nvPr>
        </p:nvSpPr>
        <p:spPr>
          <a:xfrm>
            <a:off x="457200" y="274638"/>
            <a:ext cx="8382000" cy="1143000"/>
          </a:xfrm>
        </p:spPr>
        <p:txBody>
          <a:bodyPr/>
          <a:lstStyle/>
          <a:p>
            <a:r>
              <a:rPr lang="en-US" sz="3600" dirty="0" smtClean="0"/>
              <a:t>National Geospatial Advisory Committee</a:t>
            </a:r>
          </a:p>
        </p:txBody>
      </p:sp>
      <p:sp>
        <p:nvSpPr>
          <p:cNvPr id="14339" name="Content Placeholder 3" descr="Rectangle: Click to edit Master text styles&#10;Second level&#10;Third level&#10;Fourth level&#10;Fifth level"/>
          <p:cNvSpPr>
            <a:spLocks noGrp="1"/>
          </p:cNvSpPr>
          <p:nvPr>
            <p:ph idx="1"/>
          </p:nvPr>
        </p:nvSpPr>
        <p:spPr/>
        <p:txBody>
          <a:bodyPr/>
          <a:lstStyle/>
          <a:p>
            <a:r>
              <a:rPr lang="en-US" sz="2400" dirty="0" smtClean="0"/>
              <a:t>NGAC provided comments on the draft Roadmap approved the following resolution at the June 2010 NGAC meeting:</a:t>
            </a:r>
          </a:p>
          <a:p>
            <a:pPr>
              <a:buFont typeface="Wingdings" pitchFamily="2" charset="2"/>
              <a:buNone/>
            </a:pPr>
            <a:endParaRPr lang="en-US" sz="2000" dirty="0" smtClean="0"/>
          </a:p>
          <a:p>
            <a:pPr lvl="1">
              <a:buFont typeface="Wingdings" pitchFamily="2" charset="2"/>
              <a:buNone/>
            </a:pPr>
            <a:r>
              <a:rPr lang="en-US" sz="2000" b="1" i="1" dirty="0" smtClean="0"/>
              <a:t>	“The NGAC endorses the Geospatial Platform concept as described in the Platform Roadmap and encourages the Administration, along with federal agency leadership, to adopt, support, and implement this initiative in partnership with State, local, regional and Tribal governments.”</a:t>
            </a:r>
            <a:endParaRPr lang="en-US" sz="2000" dirty="0" smtClean="0"/>
          </a:p>
          <a:p>
            <a:endParaRPr lang="en-US" sz="24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7"/>
          <p:cNvSpPr>
            <a:spLocks noGrp="1"/>
          </p:cNvSpPr>
          <p:nvPr>
            <p:ph type="title"/>
          </p:nvPr>
        </p:nvSpPr>
        <p:spPr>
          <a:xfrm>
            <a:off x="457200" y="274638"/>
            <a:ext cx="8229600" cy="1020762"/>
          </a:xfrm>
        </p:spPr>
        <p:txBody>
          <a:bodyPr/>
          <a:lstStyle/>
          <a:p>
            <a:pPr eaLnBrk="1" hangingPunct="1"/>
            <a:r>
              <a:rPr lang="en-US" dirty="0" smtClean="0"/>
              <a:t>Stakeholder Engagement</a:t>
            </a:r>
          </a:p>
        </p:txBody>
      </p:sp>
      <p:sp>
        <p:nvSpPr>
          <p:cNvPr id="14338" name="Content Placeholder 2" descr="Rectangle: Click to edit Master text styles&#10;Second level&#10;Third level&#10;Fourth level&#10;Fifth level"/>
          <p:cNvSpPr>
            <a:spLocks noGrp="1"/>
          </p:cNvSpPr>
          <p:nvPr>
            <p:ph idx="1"/>
          </p:nvPr>
        </p:nvSpPr>
        <p:spPr>
          <a:xfrm>
            <a:off x="457200" y="1798638"/>
            <a:ext cx="4114800" cy="3992562"/>
          </a:xfrm>
        </p:spPr>
        <p:txBody>
          <a:bodyPr rtlCol="0">
            <a:normAutofit lnSpcReduction="10000"/>
          </a:bodyPr>
          <a:lstStyle/>
          <a:p>
            <a:pPr lvl="1" eaLnBrk="1" fontAlgn="auto" hangingPunct="1">
              <a:spcAft>
                <a:spcPts val="0"/>
              </a:spcAft>
              <a:buFont typeface="Wingdings" pitchFamily="2" charset="2"/>
              <a:buNone/>
              <a:defRPr/>
            </a:pPr>
            <a:endParaRPr lang="en-US" sz="500" dirty="0" smtClean="0"/>
          </a:p>
          <a:p>
            <a:pPr eaLnBrk="1" fontAlgn="auto" hangingPunct="1">
              <a:spcAft>
                <a:spcPts val="0"/>
              </a:spcAft>
              <a:buFont typeface="Wingdings" pitchFamily="2" charset="2"/>
              <a:buChar char="§"/>
              <a:defRPr/>
            </a:pPr>
            <a:r>
              <a:rPr lang="en-US" sz="1600" dirty="0" smtClean="0"/>
              <a:t>IdeaScale website (</a:t>
            </a:r>
            <a:r>
              <a:rPr lang="en-US" sz="1600" dirty="0" smtClean="0">
                <a:hlinkClick r:id="rId3"/>
              </a:rPr>
              <a:t>http://geoplatform.ideascale.com</a:t>
            </a:r>
            <a:r>
              <a:rPr lang="en-US" sz="1600" dirty="0" smtClean="0"/>
              <a:t>)  promotes dialogue and user ideas, comments, voting</a:t>
            </a:r>
          </a:p>
          <a:p>
            <a:pPr eaLnBrk="1" fontAlgn="auto" hangingPunct="1">
              <a:spcAft>
                <a:spcPts val="0"/>
              </a:spcAft>
              <a:buFont typeface="Wingdings" pitchFamily="2" charset="2"/>
              <a:buChar char="§"/>
              <a:defRPr/>
            </a:pPr>
            <a:endParaRPr lang="en-US" sz="1600" dirty="0" smtClean="0"/>
          </a:p>
          <a:p>
            <a:pPr eaLnBrk="1" fontAlgn="auto" hangingPunct="1">
              <a:spcAft>
                <a:spcPts val="0"/>
              </a:spcAft>
              <a:buFont typeface="Wingdings" pitchFamily="2" charset="2"/>
              <a:buChar char="§"/>
              <a:defRPr/>
            </a:pPr>
            <a:r>
              <a:rPr lang="en-US" sz="1600" dirty="0" smtClean="0"/>
              <a:t>Collaboration with National Geospatial Advisory Committee</a:t>
            </a:r>
          </a:p>
          <a:p>
            <a:pPr eaLnBrk="1" fontAlgn="auto" hangingPunct="1">
              <a:spcAft>
                <a:spcPts val="0"/>
              </a:spcAft>
              <a:buFont typeface="Wingdings" pitchFamily="2" charset="2"/>
              <a:buChar char="§"/>
              <a:defRPr/>
            </a:pPr>
            <a:endParaRPr lang="en-US" sz="1600" dirty="0" smtClean="0"/>
          </a:p>
          <a:p>
            <a:pPr eaLnBrk="1" fontAlgn="auto" hangingPunct="1">
              <a:spcAft>
                <a:spcPts val="0"/>
              </a:spcAft>
              <a:buFont typeface="Wingdings" pitchFamily="2" charset="2"/>
              <a:buChar char="§"/>
              <a:defRPr/>
            </a:pPr>
            <a:r>
              <a:rPr lang="en-US" sz="1600" dirty="0" smtClean="0"/>
              <a:t>Targeted e-mails – stakeholders/partners</a:t>
            </a:r>
          </a:p>
          <a:p>
            <a:pPr eaLnBrk="1" fontAlgn="auto" hangingPunct="1">
              <a:spcAft>
                <a:spcPts val="0"/>
              </a:spcAft>
              <a:buFont typeface="Wingdings" pitchFamily="2" charset="2"/>
              <a:buChar char="§"/>
              <a:defRPr/>
            </a:pPr>
            <a:endParaRPr lang="en-US" sz="1600" dirty="0" smtClean="0"/>
          </a:p>
          <a:p>
            <a:pPr eaLnBrk="1" fontAlgn="auto" hangingPunct="1">
              <a:spcAft>
                <a:spcPts val="0"/>
              </a:spcAft>
              <a:buFont typeface="Wingdings" pitchFamily="2" charset="2"/>
              <a:buChar char="§"/>
              <a:defRPr/>
            </a:pPr>
            <a:r>
              <a:rPr lang="en-US" sz="1600" dirty="0" smtClean="0"/>
              <a:t>Webinar(s), conference presentations</a:t>
            </a:r>
          </a:p>
          <a:p>
            <a:pPr eaLnBrk="1" fontAlgn="auto" hangingPunct="1">
              <a:spcAft>
                <a:spcPts val="0"/>
              </a:spcAft>
              <a:buFont typeface="Wingdings" pitchFamily="2" charset="2"/>
              <a:buChar char="§"/>
              <a:defRPr/>
            </a:pPr>
            <a:endParaRPr lang="en-US" sz="1600" dirty="0" smtClean="0"/>
          </a:p>
          <a:p>
            <a:pPr eaLnBrk="1" fontAlgn="auto" hangingPunct="1">
              <a:spcAft>
                <a:spcPts val="0"/>
              </a:spcAft>
              <a:buFont typeface="Wingdings" pitchFamily="2" charset="2"/>
              <a:buChar char="§"/>
              <a:defRPr/>
            </a:pPr>
            <a:r>
              <a:rPr lang="en-US" sz="1600" dirty="0" smtClean="0"/>
              <a:t>GeoPlatform.gov website</a:t>
            </a:r>
          </a:p>
          <a:p>
            <a:pPr lvl="1" eaLnBrk="1" fontAlgn="auto" hangingPunct="1">
              <a:spcAft>
                <a:spcPts val="0"/>
              </a:spcAft>
              <a:buFont typeface="Wingdings" pitchFamily="2" charset="2"/>
              <a:buChar char="§"/>
              <a:defRPr/>
            </a:pPr>
            <a:endParaRPr lang="en-US" sz="1600" dirty="0" smtClean="0"/>
          </a:p>
          <a:p>
            <a:pPr lvl="1" eaLnBrk="1" fontAlgn="auto" hangingPunct="1">
              <a:spcAft>
                <a:spcPts val="0"/>
              </a:spcAft>
              <a:buFont typeface="Wingdings" pitchFamily="2" charset="2"/>
              <a:buChar char="§"/>
              <a:defRPr/>
            </a:pPr>
            <a:endParaRPr lang="en-US" sz="1800" dirty="0" smtClean="0"/>
          </a:p>
          <a:p>
            <a:pPr lvl="1" eaLnBrk="1" fontAlgn="auto" hangingPunct="1">
              <a:spcAft>
                <a:spcPts val="0"/>
              </a:spcAft>
              <a:buFont typeface="Arial" pitchFamily="34" charset="0"/>
              <a:buChar char="–"/>
              <a:defRPr/>
            </a:pPr>
            <a:endParaRPr lang="en-US" dirty="0" smtClean="0"/>
          </a:p>
        </p:txBody>
      </p:sp>
      <p:pic>
        <p:nvPicPr>
          <p:cNvPr id="17412" name="Picture 2"/>
          <p:cNvPicPr>
            <a:picLocks noChangeAspect="1" noChangeArrowheads="1"/>
          </p:cNvPicPr>
          <p:nvPr/>
        </p:nvPicPr>
        <p:blipFill>
          <a:blip r:embed="rId4" cstate="print"/>
          <a:srcRect/>
          <a:stretch>
            <a:fillRect/>
          </a:stretch>
        </p:blipFill>
        <p:spPr bwMode="auto">
          <a:xfrm>
            <a:off x="4495800" y="1981200"/>
            <a:ext cx="4343400" cy="3386138"/>
          </a:xfrm>
          <a:prstGeom prst="rect">
            <a:avLst/>
          </a:prstGeom>
          <a:noFill/>
          <a:ln w="9525">
            <a:noFill/>
            <a:miter lim="800000"/>
            <a:headEnd/>
            <a:tailEnd/>
          </a:ln>
        </p:spPr>
      </p:pic>
      <p:sp>
        <p:nvSpPr>
          <p:cNvPr id="7" name="TextBox 6"/>
          <p:cNvSpPr txBox="1"/>
          <p:nvPr/>
        </p:nvSpPr>
        <p:spPr>
          <a:xfrm>
            <a:off x="381000" y="1295400"/>
            <a:ext cx="8458200" cy="561975"/>
          </a:xfrm>
          <a:prstGeom prst="rect">
            <a:avLst/>
          </a:prstGeom>
          <a:noFill/>
        </p:spPr>
        <p:txBody>
          <a:bodyPr>
            <a:spAutoFit/>
          </a:bodyPr>
          <a:lstStyle/>
          <a:p>
            <a:pPr eaLnBrk="0" hangingPunct="0">
              <a:defRPr/>
            </a:pPr>
            <a:r>
              <a:rPr lang="en-US" sz="2000" b="1" dirty="0">
                <a:solidFill>
                  <a:srgbClr val="339933"/>
                </a:solidFill>
                <a:latin typeface="Tahoma" charset="0"/>
              </a:rPr>
              <a:t>60 Day Stakeholder Engagement Process (Nov-Dec 2010)</a:t>
            </a:r>
            <a:endParaRPr lang="en-US" sz="1050" b="1" dirty="0">
              <a:solidFill>
                <a:srgbClr val="339933"/>
              </a:solidFill>
              <a:latin typeface="Tahoma" charset="0"/>
            </a:endParaRPr>
          </a:p>
          <a:p>
            <a:pPr eaLnBrk="0" hangingPunct="0">
              <a:defRPr/>
            </a:pPr>
            <a:endParaRPr lang="en-US" sz="1050" b="1" dirty="0">
              <a:solidFill>
                <a:srgbClr val="339933"/>
              </a:solidFill>
              <a:latin typeface="Tahoma" charset="0"/>
            </a:endParaRPr>
          </a:p>
        </p:txBody>
      </p:sp>
      <p:sp>
        <p:nvSpPr>
          <p:cNvPr id="17414" name="TextBox 7"/>
          <p:cNvSpPr txBox="1">
            <a:spLocks noChangeArrowheads="1"/>
          </p:cNvSpPr>
          <p:nvPr/>
        </p:nvSpPr>
        <p:spPr bwMode="auto">
          <a:xfrm>
            <a:off x="4618037" y="5562600"/>
            <a:ext cx="4144963" cy="307975"/>
          </a:xfrm>
          <a:prstGeom prst="rect">
            <a:avLst/>
          </a:prstGeom>
          <a:noFill/>
          <a:ln w="9525">
            <a:noFill/>
            <a:miter lim="800000"/>
            <a:headEnd/>
            <a:tailEnd/>
          </a:ln>
        </p:spPr>
        <p:txBody>
          <a:bodyPr wrap="none">
            <a:spAutoFit/>
          </a:bodyPr>
          <a:lstStyle/>
          <a:p>
            <a:pPr eaLnBrk="0" hangingPunct="0"/>
            <a:r>
              <a:rPr lang="en-US" sz="1400" dirty="0"/>
              <a:t>For more information visit: </a:t>
            </a:r>
            <a:r>
              <a:rPr lang="en-US" sz="1400" dirty="0">
                <a:hlinkClick r:id="rId5"/>
              </a:rPr>
              <a:t>www.geoplatform.gov</a:t>
            </a:r>
            <a:r>
              <a:rPr lang="en-US" sz="1400" dirty="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7772400" y="6248400"/>
            <a:ext cx="762000" cy="457200"/>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400" b="0" i="0" u="none" strike="noStrike" cap="none" normalizeH="0" baseline="0" smtClean="0">
              <a:ln>
                <a:noFill/>
              </a:ln>
              <a:solidFill>
                <a:schemeClr val="tx1"/>
              </a:solidFill>
              <a:effectLst/>
              <a:latin typeface="Tahoma" pitchFamily="34" charset="0"/>
            </a:endParaRPr>
          </a:p>
        </p:txBody>
      </p:sp>
      <p:sp>
        <p:nvSpPr>
          <p:cNvPr id="18434" name="Title 4"/>
          <p:cNvSpPr>
            <a:spLocks noGrp="1"/>
          </p:cNvSpPr>
          <p:nvPr>
            <p:ph type="title"/>
          </p:nvPr>
        </p:nvSpPr>
        <p:spPr>
          <a:xfrm>
            <a:off x="685800" y="152400"/>
            <a:ext cx="7772400" cy="685800"/>
          </a:xfrm>
        </p:spPr>
        <p:txBody>
          <a:bodyPr/>
          <a:lstStyle/>
          <a:p>
            <a:pPr algn="ctr"/>
            <a:r>
              <a:rPr lang="en-US" sz="3600" dirty="0" smtClean="0"/>
              <a:t>www.geoplatform.gov</a:t>
            </a:r>
          </a:p>
        </p:txBody>
      </p:sp>
      <p:pic>
        <p:nvPicPr>
          <p:cNvPr id="9" name="Picture 8" descr="platform_home.jpg"/>
          <p:cNvPicPr>
            <a:picLocks noChangeAspect="1"/>
          </p:cNvPicPr>
          <p:nvPr/>
        </p:nvPicPr>
        <p:blipFill>
          <a:blip r:embed="rId2" cstate="print"/>
          <a:srcRect t="7016" r="27500"/>
          <a:stretch>
            <a:fillRect/>
          </a:stretch>
        </p:blipFill>
        <p:spPr>
          <a:xfrm>
            <a:off x="304800" y="914400"/>
            <a:ext cx="8137283" cy="5867400"/>
          </a:xfrm>
          <a:prstGeom prst="rect">
            <a:avLst/>
          </a:prstGeom>
          <a:ln>
            <a:noFill/>
          </a:ln>
          <a:effectLst>
            <a:outerShdw blurRad="292100" dist="139700" dir="2700000" algn="tl" rotWithShape="0">
              <a:srgbClr val="333333">
                <a:alpha val="65000"/>
              </a:srgbClr>
            </a:outerShdw>
          </a:effectLst>
        </p:spPr>
      </p:pic>
      <p:sp>
        <p:nvSpPr>
          <p:cNvPr id="18436" name="Oval 9"/>
          <p:cNvSpPr>
            <a:spLocks noChangeArrowheads="1"/>
          </p:cNvSpPr>
          <p:nvPr/>
        </p:nvSpPr>
        <p:spPr bwMode="auto">
          <a:xfrm>
            <a:off x="1981200" y="2971800"/>
            <a:ext cx="4419600" cy="1219200"/>
          </a:xfrm>
          <a:prstGeom prst="ellipse">
            <a:avLst/>
          </a:prstGeom>
          <a:noFill/>
          <a:ln w="9525" algn="ctr">
            <a:noFill/>
            <a:round/>
            <a:headEnd/>
            <a:tailEnd/>
          </a:ln>
        </p:spPr>
        <p:txBody>
          <a:bodyPr/>
          <a:lstStyle/>
          <a:p>
            <a:pPr marL="342900" indent="-342900" algn="l">
              <a:spcBef>
                <a:spcPct val="20000"/>
              </a:spcBef>
              <a:buClr>
                <a:schemeClr val="hlink"/>
              </a:buClr>
              <a:buSzPct val="110000"/>
              <a:buFont typeface="Wingdings" pitchFamily="2" charset="2"/>
              <a:buBlip>
                <a:blip r:embed="rId3"/>
              </a:buBlip>
            </a:pPr>
            <a:endParaRPr lang="en-US" sz="3200" dirty="0"/>
          </a:p>
        </p:txBody>
      </p:sp>
      <p:sp>
        <p:nvSpPr>
          <p:cNvPr id="6" name="Oval 5"/>
          <p:cNvSpPr>
            <a:spLocks noChangeArrowheads="1"/>
          </p:cNvSpPr>
          <p:nvPr/>
        </p:nvSpPr>
        <p:spPr bwMode="auto">
          <a:xfrm>
            <a:off x="1600200" y="3733800"/>
            <a:ext cx="5181600" cy="685800"/>
          </a:xfrm>
          <a:prstGeom prst="ellipse">
            <a:avLst/>
          </a:prstGeom>
          <a:noFill/>
          <a:ln w="22225" algn="ctr">
            <a:solidFill>
              <a:srgbClr val="FF0000"/>
            </a:solidFill>
            <a:round/>
            <a:headEnd/>
            <a:tailEnd/>
          </a:ln>
        </p:spPr>
        <p:txBody>
          <a:bodyPr wrap="none"/>
          <a:lstStyle/>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title"/>
          </p:nvPr>
        </p:nvSpPr>
        <p:spPr>
          <a:xfrm>
            <a:off x="457200" y="274638"/>
            <a:ext cx="8382000" cy="1143000"/>
          </a:xfrm>
        </p:spPr>
        <p:txBody>
          <a:bodyPr/>
          <a:lstStyle/>
          <a:p>
            <a:r>
              <a:rPr lang="en-US" sz="4000" dirty="0" smtClean="0"/>
              <a:t>Intergovernmental Subcommittee</a:t>
            </a:r>
          </a:p>
        </p:txBody>
      </p:sp>
      <p:sp>
        <p:nvSpPr>
          <p:cNvPr id="16387" name="Content Placeholder 4" descr="Rectangle: Click to edit Master text styles&#10;Second level&#10;Third level&#10;Fourth level&#10;Fifth level"/>
          <p:cNvSpPr>
            <a:spLocks noGrp="1"/>
          </p:cNvSpPr>
          <p:nvPr>
            <p:ph idx="1"/>
          </p:nvPr>
        </p:nvSpPr>
        <p:spPr>
          <a:xfrm>
            <a:off x="457200" y="1371600"/>
            <a:ext cx="8229600" cy="4525963"/>
          </a:xfrm>
        </p:spPr>
        <p:txBody>
          <a:bodyPr/>
          <a:lstStyle/>
          <a:p>
            <a:endParaRPr lang="en-US" sz="2000" dirty="0" smtClean="0"/>
          </a:p>
          <a:p>
            <a:r>
              <a:rPr lang="en-US" sz="2000" dirty="0" smtClean="0"/>
              <a:t>Purpose: Interim body to provide advice and recommendations in the development of the Geospatial Platform</a:t>
            </a:r>
            <a:endParaRPr lang="en-US" sz="800" dirty="0" smtClean="0"/>
          </a:p>
          <a:p>
            <a:pPr>
              <a:buFont typeface="Wingdings" pitchFamily="2" charset="2"/>
              <a:buNone/>
            </a:pPr>
            <a:endParaRPr lang="en-US" sz="700" dirty="0" smtClean="0"/>
          </a:p>
          <a:p>
            <a:r>
              <a:rPr lang="en-US" sz="2000" dirty="0" smtClean="0"/>
              <a:t>Subcommittee Membership:</a:t>
            </a:r>
          </a:p>
          <a:p>
            <a:pPr lvl="2"/>
            <a:r>
              <a:rPr lang="en-US" sz="1800" dirty="0" smtClean="0"/>
              <a:t>Jerry Johnston (EPA) - Chair</a:t>
            </a:r>
          </a:p>
          <a:p>
            <a:pPr lvl="2"/>
            <a:r>
              <a:rPr lang="en-US" sz="1800" dirty="0" smtClean="0"/>
              <a:t>Sean Ahearn (Hunter College)</a:t>
            </a:r>
          </a:p>
          <a:p>
            <a:pPr lvl="2"/>
            <a:r>
              <a:rPr lang="en-US" sz="1800" dirty="0" smtClean="0"/>
              <a:t>Sophia Beym (State of New Mexico)</a:t>
            </a:r>
          </a:p>
          <a:p>
            <a:pPr lvl="2"/>
            <a:r>
              <a:rPr lang="en-US" sz="1800" dirty="0" smtClean="0"/>
              <a:t>Dick Clark (State of Montana)</a:t>
            </a:r>
          </a:p>
          <a:p>
            <a:pPr lvl="2"/>
            <a:r>
              <a:rPr lang="en-US" sz="1800" dirty="0" smtClean="0"/>
              <a:t>Randy Johnson (Hennepin County, MN)</a:t>
            </a:r>
          </a:p>
          <a:p>
            <a:pPr lvl="2"/>
            <a:r>
              <a:rPr lang="en-US" sz="1800" dirty="0" smtClean="0"/>
              <a:t>Barney Krucoff (District of Columbia)</a:t>
            </a:r>
          </a:p>
          <a:p>
            <a:pPr lvl="2"/>
            <a:r>
              <a:rPr lang="en-US" sz="1800" dirty="0" smtClean="0"/>
              <a:t>Anne Miglarese (Booz Allen Hamilton)</a:t>
            </a:r>
          </a:p>
          <a:p>
            <a:pPr lvl="2"/>
            <a:r>
              <a:rPr lang="en-US" sz="1800" dirty="0" smtClean="0"/>
              <a:t>Gene Schiller (SW Florida Water Management District)</a:t>
            </a:r>
          </a:p>
          <a:p>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305800" cy="914400"/>
          </a:xfrm>
        </p:spPr>
        <p:txBody>
          <a:bodyPr/>
          <a:lstStyle/>
          <a:p>
            <a:r>
              <a:rPr lang="en-US" sz="4000" dirty="0" smtClean="0"/>
              <a:t>Technical Implementation Activities</a:t>
            </a:r>
            <a:endParaRPr lang="en-US" sz="4000" dirty="0"/>
          </a:p>
        </p:txBody>
      </p:sp>
      <p:sp>
        <p:nvSpPr>
          <p:cNvPr id="3" name="Content Placeholder 2"/>
          <p:cNvSpPr>
            <a:spLocks noGrp="1"/>
          </p:cNvSpPr>
          <p:nvPr>
            <p:ph idx="1"/>
          </p:nvPr>
        </p:nvSpPr>
        <p:spPr/>
        <p:txBody>
          <a:bodyPr/>
          <a:lstStyle/>
          <a:p>
            <a:r>
              <a:rPr lang="en-US" sz="1800" dirty="0" smtClean="0"/>
              <a:t>GeoPlatform.gov</a:t>
            </a:r>
          </a:p>
          <a:p>
            <a:endParaRPr lang="en-US" sz="1000" dirty="0" smtClean="0"/>
          </a:p>
          <a:p>
            <a:r>
              <a:rPr lang="en-US" sz="1800" dirty="0" smtClean="0"/>
              <a:t>GeoPlatform.gov/GULFRESPONSE</a:t>
            </a:r>
          </a:p>
          <a:p>
            <a:pPr lvl="1"/>
            <a:r>
              <a:rPr lang="en-US" sz="1400" dirty="0" smtClean="0"/>
              <a:t>CNN News</a:t>
            </a:r>
          </a:p>
          <a:p>
            <a:pPr lvl="1"/>
            <a:r>
              <a:rPr lang="en-US" sz="1400" dirty="0" smtClean="0"/>
              <a:t>Government Computer News – Top Ten for 2010</a:t>
            </a:r>
          </a:p>
          <a:p>
            <a:endParaRPr lang="en-US" sz="1000" dirty="0" smtClean="0"/>
          </a:p>
          <a:p>
            <a:r>
              <a:rPr lang="en-US" sz="1800" dirty="0" smtClean="0"/>
              <a:t>Technical Deployment Task Team</a:t>
            </a:r>
          </a:p>
          <a:p>
            <a:pPr lvl="1"/>
            <a:r>
              <a:rPr lang="en-US" sz="1400" dirty="0" smtClean="0"/>
              <a:t>Evaluate and stand-up data, applications and services in Roadmap V3 time boxes</a:t>
            </a:r>
          </a:p>
          <a:p>
            <a:pPr lvl="1"/>
            <a:r>
              <a:rPr lang="en-US" sz="1400" dirty="0" smtClean="0"/>
              <a:t>Evaluate underlying infrastructure requirements</a:t>
            </a:r>
          </a:p>
          <a:p>
            <a:pPr lvl="1"/>
            <a:r>
              <a:rPr lang="en-US" sz="1400" dirty="0" smtClean="0"/>
              <a:t>Initiate and stand-up other approved data, applications and services </a:t>
            </a:r>
          </a:p>
          <a:p>
            <a:pPr lvl="1"/>
            <a:r>
              <a:rPr lang="en-US" sz="1400" dirty="0" smtClean="0"/>
              <a:t>Develop "quick-start guide" </a:t>
            </a:r>
          </a:p>
          <a:p>
            <a:pPr lvl="1"/>
            <a:endParaRPr lang="en-US" sz="1000" dirty="0" smtClean="0"/>
          </a:p>
          <a:p>
            <a:r>
              <a:rPr lang="en-US" sz="1800" dirty="0" smtClean="0"/>
              <a:t>Calls for Content</a:t>
            </a:r>
          </a:p>
          <a:p>
            <a:pPr lvl="1" eaLnBrk="1" hangingPunct="1">
              <a:lnSpc>
                <a:spcPct val="80000"/>
              </a:lnSpc>
            </a:pPr>
            <a:r>
              <a:rPr lang="en-US" sz="1400" dirty="0" smtClean="0"/>
              <a:t>Federal agencies</a:t>
            </a:r>
          </a:p>
          <a:p>
            <a:pPr lvl="1" eaLnBrk="1" hangingPunct="1">
              <a:lnSpc>
                <a:spcPct val="80000"/>
              </a:lnSpc>
            </a:pPr>
            <a:r>
              <a:rPr lang="en-US" sz="1400" dirty="0" smtClean="0"/>
              <a:t>State, local, tribal and regional organizations</a:t>
            </a:r>
          </a:p>
          <a:p>
            <a:pPr lvl="1" eaLnBrk="1" hangingPunct="1">
              <a:lnSpc>
                <a:spcPct val="80000"/>
              </a:lnSpc>
            </a:pPr>
            <a:r>
              <a:rPr lang="en-US" sz="1400" dirty="0" smtClean="0"/>
              <a:t>Possible RFI and Industry Day</a:t>
            </a:r>
          </a:p>
          <a:p>
            <a:pPr lvl="1"/>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Collaborative Interactions</a:t>
            </a:r>
            <a:endParaRPr lang="en-US" dirty="0"/>
          </a:p>
        </p:txBody>
      </p:sp>
      <p:sp>
        <p:nvSpPr>
          <p:cNvPr id="3" name="Content Placeholder 2"/>
          <p:cNvSpPr>
            <a:spLocks noGrp="1"/>
          </p:cNvSpPr>
          <p:nvPr>
            <p:ph idx="1"/>
          </p:nvPr>
        </p:nvSpPr>
        <p:spPr/>
        <p:txBody>
          <a:bodyPr/>
          <a:lstStyle/>
          <a:p>
            <a:r>
              <a:rPr lang="en-US" sz="2400" dirty="0" smtClean="0"/>
              <a:t>Data.gov</a:t>
            </a:r>
          </a:p>
          <a:p>
            <a:pPr lvl="1"/>
            <a:r>
              <a:rPr lang="en-US" sz="2000" dirty="0" smtClean="0"/>
              <a:t>Sharing infrastructure, tools, and content; clarifying “swim lanes”</a:t>
            </a:r>
          </a:p>
          <a:p>
            <a:pPr lvl="1"/>
            <a:endParaRPr lang="en-US" sz="1200" dirty="0" smtClean="0"/>
          </a:p>
          <a:p>
            <a:r>
              <a:rPr lang="en-US" sz="2400" dirty="0" smtClean="0"/>
              <a:t>GSA Federal Cloud </a:t>
            </a:r>
          </a:p>
          <a:p>
            <a:pPr lvl="1"/>
            <a:r>
              <a:rPr lang="en-US" sz="2000" dirty="0" smtClean="0"/>
              <a:t>Understanding infrastructure requirements and options</a:t>
            </a:r>
          </a:p>
          <a:p>
            <a:pPr lvl="1"/>
            <a:endParaRPr lang="en-US" sz="1200" dirty="0" smtClean="0"/>
          </a:p>
          <a:p>
            <a:r>
              <a:rPr lang="en-US" sz="2400" dirty="0" smtClean="0"/>
              <a:t>Broadband Mapping</a:t>
            </a:r>
          </a:p>
          <a:p>
            <a:pPr lvl="1"/>
            <a:r>
              <a:rPr lang="en-US" sz="2000" dirty="0" smtClean="0"/>
              <a:t>Seeking efficiencies and sharing lessons learned</a:t>
            </a:r>
          </a:p>
          <a:p>
            <a:pPr lvl="1"/>
            <a:endParaRPr lang="en-US" sz="1200" dirty="0" smtClean="0"/>
          </a:p>
          <a:p>
            <a:r>
              <a:rPr lang="en-US" sz="2400" dirty="0" smtClean="0"/>
              <a:t>A-16 Supplemental Guidance</a:t>
            </a:r>
          </a:p>
          <a:p>
            <a:pPr lvl="1"/>
            <a:r>
              <a:rPr lang="en-US" sz="2000" dirty="0" smtClean="0"/>
              <a:t>Building the framework for portfolio management</a:t>
            </a:r>
            <a:endParaRPr 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09600" y="304800"/>
            <a:ext cx="8077200" cy="1143000"/>
          </a:xfrm>
        </p:spPr>
        <p:txBody>
          <a:bodyPr/>
          <a:lstStyle/>
          <a:p>
            <a:r>
              <a:rPr lang="en-US" sz="4000" dirty="0" smtClean="0"/>
              <a:t>Interim Management Framework</a:t>
            </a:r>
          </a:p>
        </p:txBody>
      </p:sp>
      <p:sp>
        <p:nvSpPr>
          <p:cNvPr id="69635" name="Rectangle 3" descr="Rectangle: Click to edit Master text styles&#10;Second level&#10;Third level&#10;Fourth level&#10;Fifth level"/>
          <p:cNvSpPr>
            <a:spLocks noGrp="1" noChangeArrowheads="1"/>
          </p:cNvSpPr>
          <p:nvPr>
            <p:ph type="body" idx="1"/>
          </p:nvPr>
        </p:nvSpPr>
        <p:spPr>
          <a:xfrm>
            <a:off x="914400" y="1905000"/>
            <a:ext cx="7772400" cy="4267200"/>
          </a:xfrm>
        </p:spPr>
        <p:txBody>
          <a:bodyPr/>
          <a:lstStyle/>
          <a:p>
            <a:r>
              <a:rPr lang="en-US" sz="2800" dirty="0" smtClean="0"/>
              <a:t>Focus on the Geospatial Platform</a:t>
            </a:r>
          </a:p>
          <a:p>
            <a:endParaRPr lang="en-US" sz="1000" dirty="0" smtClean="0"/>
          </a:p>
          <a:p>
            <a:r>
              <a:rPr lang="en-US" sz="2800" dirty="0" smtClean="0"/>
              <a:t>Make the existing governance structure work</a:t>
            </a:r>
          </a:p>
          <a:p>
            <a:endParaRPr lang="en-US" sz="1000" dirty="0" smtClean="0"/>
          </a:p>
          <a:p>
            <a:r>
              <a:rPr lang="en-US" sz="2800" dirty="0" smtClean="0"/>
              <a:t>Use project management discipline</a:t>
            </a:r>
          </a:p>
          <a:p>
            <a:endParaRPr lang="en-US" sz="1000" dirty="0" smtClean="0"/>
          </a:p>
          <a:p>
            <a:r>
              <a:rPr lang="en-US" sz="2800" dirty="0" smtClean="0"/>
              <a:t>Form around tasks</a:t>
            </a:r>
          </a:p>
          <a:p>
            <a:endParaRPr lang="en-US" sz="1000" dirty="0" smtClean="0"/>
          </a:p>
          <a:p>
            <a:r>
              <a:rPr lang="en-US" sz="2800" dirty="0" smtClean="0"/>
              <a:t>Keep it simple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09600" y="304800"/>
            <a:ext cx="8153400" cy="1143000"/>
          </a:xfrm>
        </p:spPr>
        <p:txBody>
          <a:bodyPr/>
          <a:lstStyle/>
          <a:p>
            <a:r>
              <a:rPr lang="en-US" sz="4000" dirty="0" smtClean="0"/>
              <a:t>Interim Management Framework</a:t>
            </a:r>
          </a:p>
        </p:txBody>
      </p:sp>
      <p:sp>
        <p:nvSpPr>
          <p:cNvPr id="70659" name="Rectangle 3" descr="Rectangle: Click to edit Master text styles&#10;Second level&#10;Third level&#10;Fourth level&#10;Fifth level"/>
          <p:cNvSpPr>
            <a:spLocks noGrp="1" noChangeArrowheads="1"/>
          </p:cNvSpPr>
          <p:nvPr>
            <p:ph type="body" sz="half" idx="1"/>
          </p:nvPr>
        </p:nvSpPr>
        <p:spPr>
          <a:xfrm>
            <a:off x="914400" y="1600200"/>
            <a:ext cx="3814763" cy="4267200"/>
          </a:xfrm>
        </p:spPr>
        <p:txBody>
          <a:bodyPr/>
          <a:lstStyle/>
          <a:p>
            <a:r>
              <a:rPr lang="en-US" smtClean="0"/>
              <a:t>FGDC Governance Structure</a:t>
            </a:r>
          </a:p>
          <a:p>
            <a:pPr lvl="1"/>
            <a:r>
              <a:rPr lang="en-US" smtClean="0"/>
              <a:t>Steering Committee</a:t>
            </a:r>
          </a:p>
          <a:p>
            <a:pPr lvl="1"/>
            <a:r>
              <a:rPr lang="en-US" smtClean="0"/>
              <a:t>Executive Committee</a:t>
            </a:r>
          </a:p>
          <a:p>
            <a:pPr lvl="1"/>
            <a:r>
              <a:rPr lang="en-US" smtClean="0"/>
              <a:t>Coordination Group</a:t>
            </a:r>
          </a:p>
          <a:p>
            <a:pPr lvl="1"/>
            <a:r>
              <a:rPr lang="en-US" smtClean="0"/>
              <a:t>ExCom/CG Liaisons</a:t>
            </a:r>
          </a:p>
          <a:p>
            <a:pPr lvl="1"/>
            <a:r>
              <a:rPr lang="en-US" smtClean="0"/>
              <a:t>Secretariat</a:t>
            </a:r>
          </a:p>
          <a:p>
            <a:pPr lvl="1"/>
            <a:r>
              <a:rPr lang="en-US" smtClean="0"/>
              <a:t>National Geospatial Advisory Committee</a:t>
            </a:r>
          </a:p>
        </p:txBody>
      </p:sp>
      <p:sp>
        <p:nvSpPr>
          <p:cNvPr id="70660" name="Rectangle 4" descr="Rectangle: Click to edit Master text styles&#10;Second level&#10;Third level&#10;Fourth level&#10;Fifth level"/>
          <p:cNvSpPr>
            <a:spLocks noGrp="1" noChangeArrowheads="1"/>
          </p:cNvSpPr>
          <p:nvPr>
            <p:ph type="body" sz="half" idx="2"/>
          </p:nvPr>
        </p:nvSpPr>
        <p:spPr>
          <a:xfrm>
            <a:off x="4872038" y="1600200"/>
            <a:ext cx="3814762" cy="4267200"/>
          </a:xfrm>
        </p:spPr>
        <p:txBody>
          <a:bodyPr/>
          <a:lstStyle/>
          <a:p>
            <a:r>
              <a:rPr lang="en-US" dirty="0" smtClean="0"/>
              <a:t>Geospatial Platform Project Management</a:t>
            </a:r>
          </a:p>
          <a:p>
            <a:pPr lvl="1"/>
            <a:r>
              <a:rPr lang="en-US" dirty="0" smtClean="0"/>
              <a:t>Political Leadership</a:t>
            </a:r>
          </a:p>
          <a:p>
            <a:pPr lvl="1"/>
            <a:r>
              <a:rPr lang="en-US" dirty="0" smtClean="0"/>
              <a:t>Project Sponsor</a:t>
            </a:r>
          </a:p>
          <a:p>
            <a:pPr lvl="1"/>
            <a:r>
              <a:rPr lang="en-US" dirty="0" smtClean="0"/>
              <a:t>Project Manager</a:t>
            </a:r>
          </a:p>
          <a:p>
            <a:pPr lvl="1"/>
            <a:r>
              <a:rPr lang="en-US" dirty="0" smtClean="0"/>
              <a:t>Core Team</a:t>
            </a:r>
          </a:p>
          <a:p>
            <a:pPr lvl="1"/>
            <a:r>
              <a:rPr lang="en-US" dirty="0" smtClean="0"/>
              <a:t>Task Teams</a:t>
            </a:r>
          </a:p>
          <a:p>
            <a:pPr lvl="1"/>
            <a:r>
              <a:rPr lang="en-US" dirty="0" smtClean="0"/>
              <a:t>NGAC Intergovernmental Subcommittee</a:t>
            </a:r>
          </a:p>
          <a:p>
            <a:pPr lvl="1"/>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dirty="0" smtClean="0"/>
              <a:t>Interim Project Management</a:t>
            </a:r>
          </a:p>
        </p:txBody>
      </p:sp>
      <p:sp>
        <p:nvSpPr>
          <p:cNvPr id="71683" name="Rectangle 3" descr="Rectangle: Click to edit Master text styles&#10;Second level&#10;Third level&#10;Fourth level&#10;Fifth level"/>
          <p:cNvSpPr>
            <a:spLocks noGrp="1" noChangeArrowheads="1"/>
          </p:cNvSpPr>
          <p:nvPr>
            <p:ph type="body" idx="1"/>
          </p:nvPr>
        </p:nvSpPr>
        <p:spPr>
          <a:xfrm>
            <a:off x="914400" y="1600200"/>
            <a:ext cx="7696200" cy="4191000"/>
          </a:xfrm>
        </p:spPr>
        <p:txBody>
          <a:bodyPr/>
          <a:lstStyle/>
          <a:p>
            <a:pPr>
              <a:lnSpc>
                <a:spcPct val="90000"/>
              </a:lnSpc>
            </a:pPr>
            <a:r>
              <a:rPr lang="en-US" sz="2400" dirty="0" smtClean="0"/>
              <a:t>Sponsor – DOI (Siderelis)</a:t>
            </a:r>
          </a:p>
          <a:p>
            <a:pPr>
              <a:lnSpc>
                <a:spcPct val="90000"/>
              </a:lnSpc>
            </a:pPr>
            <a:r>
              <a:rPr lang="en-US" sz="2400" dirty="0" smtClean="0"/>
              <a:t>Project Managers (Johnston and Siderelis)</a:t>
            </a:r>
          </a:p>
          <a:p>
            <a:pPr>
              <a:lnSpc>
                <a:spcPct val="90000"/>
              </a:lnSpc>
            </a:pPr>
            <a:r>
              <a:rPr lang="en-US" sz="2400" dirty="0" smtClean="0"/>
              <a:t>Core Team</a:t>
            </a:r>
          </a:p>
          <a:p>
            <a:pPr lvl="1">
              <a:lnSpc>
                <a:spcPct val="90000"/>
              </a:lnSpc>
            </a:pPr>
            <a:r>
              <a:rPr lang="en-US" sz="1800" dirty="0" smtClean="0"/>
              <a:t>Sponsor</a:t>
            </a:r>
          </a:p>
          <a:p>
            <a:pPr lvl="1">
              <a:lnSpc>
                <a:spcPct val="90000"/>
              </a:lnSpc>
            </a:pPr>
            <a:r>
              <a:rPr lang="en-US" sz="1800" dirty="0" smtClean="0"/>
              <a:t>PMs</a:t>
            </a:r>
          </a:p>
          <a:p>
            <a:pPr lvl="1">
              <a:lnSpc>
                <a:spcPct val="90000"/>
              </a:lnSpc>
            </a:pPr>
            <a:r>
              <a:rPr lang="en-US" sz="1800" dirty="0" smtClean="0"/>
              <a:t>CG co-chairs (DeLoatch and Fusaro) </a:t>
            </a:r>
          </a:p>
          <a:p>
            <a:pPr lvl="1">
              <a:lnSpc>
                <a:spcPct val="90000"/>
              </a:lnSpc>
            </a:pPr>
            <a:r>
              <a:rPr lang="en-US" sz="1800" dirty="0" smtClean="0"/>
              <a:t>Secretariat (Shaffer and Mahoney)</a:t>
            </a:r>
          </a:p>
          <a:p>
            <a:pPr lvl="1">
              <a:lnSpc>
                <a:spcPct val="90000"/>
              </a:lnSpc>
            </a:pPr>
            <a:r>
              <a:rPr lang="en-US" sz="1800" dirty="0" smtClean="0"/>
              <a:t>GT (Garie, Archetto, Nolan)</a:t>
            </a:r>
          </a:p>
          <a:p>
            <a:pPr>
              <a:lnSpc>
                <a:spcPct val="90000"/>
              </a:lnSpc>
            </a:pPr>
            <a:r>
              <a:rPr lang="en-US" sz="2400" dirty="0" smtClean="0"/>
              <a:t>Task Teams (TBD and adaptive)</a:t>
            </a:r>
          </a:p>
          <a:p>
            <a:pPr lvl="1">
              <a:lnSpc>
                <a:spcPct val="90000"/>
              </a:lnSpc>
            </a:pPr>
            <a:r>
              <a:rPr lang="en-US" sz="1800" dirty="0" smtClean="0"/>
              <a:t>Technical Deployment  Task Team</a:t>
            </a:r>
          </a:p>
          <a:p>
            <a:pPr>
              <a:lnSpc>
                <a:spcPct val="90000"/>
              </a:lnSpc>
            </a:pPr>
            <a:r>
              <a:rPr lang="en-US" sz="2400" dirty="0" smtClean="0"/>
              <a:t>NGAC Subcommittee (TBD and adaptive)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smtClean="0"/>
              <a:t>Platform Management Roles</a:t>
            </a:r>
          </a:p>
        </p:txBody>
      </p:sp>
      <p:sp>
        <p:nvSpPr>
          <p:cNvPr id="72707" name="Rectangle 3" descr="Rectangle: Click to edit Master text styles&#10;Second level&#10;Third level&#10;Fourth level&#10;Fifth level"/>
          <p:cNvSpPr>
            <a:spLocks noGrp="1" noChangeArrowheads="1"/>
          </p:cNvSpPr>
          <p:nvPr>
            <p:ph type="body" idx="1"/>
          </p:nvPr>
        </p:nvSpPr>
        <p:spPr>
          <a:xfrm>
            <a:off x="457200" y="1600200"/>
            <a:ext cx="8229600" cy="4724400"/>
          </a:xfrm>
        </p:spPr>
        <p:txBody>
          <a:bodyPr/>
          <a:lstStyle/>
          <a:p>
            <a:pPr>
              <a:lnSpc>
                <a:spcPct val="80000"/>
              </a:lnSpc>
            </a:pPr>
            <a:r>
              <a:rPr lang="en-US" sz="1800" dirty="0" smtClean="0"/>
              <a:t>High Level Strategic Directions</a:t>
            </a:r>
          </a:p>
          <a:p>
            <a:pPr lvl="1">
              <a:lnSpc>
                <a:spcPct val="80000"/>
              </a:lnSpc>
            </a:pPr>
            <a:r>
              <a:rPr lang="en-US" sz="1600" dirty="0" smtClean="0"/>
              <a:t>Political Leadership</a:t>
            </a:r>
          </a:p>
          <a:p>
            <a:pPr lvl="1">
              <a:lnSpc>
                <a:spcPct val="80000"/>
              </a:lnSpc>
            </a:pPr>
            <a:r>
              <a:rPr lang="en-US" sz="1600" dirty="0" smtClean="0"/>
              <a:t>Steering Committee</a:t>
            </a:r>
          </a:p>
          <a:p>
            <a:pPr lvl="1">
              <a:lnSpc>
                <a:spcPct val="80000"/>
              </a:lnSpc>
            </a:pPr>
            <a:r>
              <a:rPr lang="en-US" sz="1600" dirty="0" smtClean="0"/>
              <a:t>Project Sponsor</a:t>
            </a:r>
          </a:p>
          <a:p>
            <a:pPr>
              <a:lnSpc>
                <a:spcPct val="80000"/>
              </a:lnSpc>
            </a:pPr>
            <a:r>
              <a:rPr lang="en-US" sz="1800" dirty="0" smtClean="0"/>
              <a:t>Strategic Technical and Programmatic Directions</a:t>
            </a:r>
          </a:p>
          <a:p>
            <a:pPr lvl="1">
              <a:lnSpc>
                <a:spcPct val="80000"/>
              </a:lnSpc>
            </a:pPr>
            <a:r>
              <a:rPr lang="en-US" sz="1600" dirty="0" err="1" smtClean="0"/>
              <a:t>ExCom</a:t>
            </a:r>
            <a:endParaRPr lang="en-US" sz="1600" dirty="0" smtClean="0"/>
          </a:p>
          <a:p>
            <a:pPr lvl="1">
              <a:lnSpc>
                <a:spcPct val="80000"/>
              </a:lnSpc>
            </a:pPr>
            <a:r>
              <a:rPr lang="en-US" sz="1600" dirty="0" smtClean="0"/>
              <a:t>PM(s)</a:t>
            </a:r>
          </a:p>
          <a:p>
            <a:pPr>
              <a:lnSpc>
                <a:spcPct val="80000"/>
              </a:lnSpc>
            </a:pPr>
            <a:r>
              <a:rPr lang="en-US" sz="1800" dirty="0" smtClean="0"/>
              <a:t>Technical and Programmatic Advice and Recommendations to </a:t>
            </a:r>
            <a:r>
              <a:rPr lang="en-US" sz="1800" dirty="0" err="1" smtClean="0"/>
              <a:t>ExCom</a:t>
            </a:r>
            <a:endParaRPr lang="en-US" sz="1800" dirty="0" smtClean="0"/>
          </a:p>
          <a:p>
            <a:pPr lvl="1">
              <a:lnSpc>
                <a:spcPct val="80000"/>
              </a:lnSpc>
            </a:pPr>
            <a:r>
              <a:rPr lang="en-US" sz="1600" dirty="0" smtClean="0"/>
              <a:t>Coordination Group</a:t>
            </a:r>
          </a:p>
          <a:p>
            <a:pPr lvl="1">
              <a:lnSpc>
                <a:spcPct val="80000"/>
              </a:lnSpc>
            </a:pPr>
            <a:r>
              <a:rPr lang="en-US" sz="1600" dirty="0" smtClean="0"/>
              <a:t>NGAC</a:t>
            </a:r>
          </a:p>
          <a:p>
            <a:pPr>
              <a:lnSpc>
                <a:spcPct val="80000"/>
              </a:lnSpc>
            </a:pPr>
            <a:r>
              <a:rPr lang="en-US" sz="1800" dirty="0" smtClean="0"/>
              <a:t>Tactical Activities That Support Strategic Decisions</a:t>
            </a:r>
          </a:p>
          <a:p>
            <a:pPr lvl="1">
              <a:lnSpc>
                <a:spcPct val="80000"/>
              </a:lnSpc>
            </a:pPr>
            <a:r>
              <a:rPr lang="en-US" sz="1600" dirty="0" smtClean="0"/>
              <a:t>PM(s)</a:t>
            </a:r>
          </a:p>
          <a:p>
            <a:pPr lvl="1">
              <a:lnSpc>
                <a:spcPct val="80000"/>
              </a:lnSpc>
            </a:pPr>
            <a:r>
              <a:rPr lang="en-US" sz="1600" dirty="0" smtClean="0"/>
              <a:t>Core Team</a:t>
            </a:r>
          </a:p>
          <a:p>
            <a:pPr lvl="1">
              <a:lnSpc>
                <a:spcPct val="80000"/>
              </a:lnSpc>
            </a:pPr>
            <a:r>
              <a:rPr lang="en-US" sz="1600" dirty="0" smtClean="0"/>
              <a:t>Secretariat</a:t>
            </a:r>
          </a:p>
          <a:p>
            <a:pPr lvl="1">
              <a:lnSpc>
                <a:spcPct val="80000"/>
              </a:lnSpc>
            </a:pPr>
            <a:r>
              <a:rPr lang="en-US" sz="1600" dirty="0" smtClean="0"/>
              <a:t>GT</a:t>
            </a:r>
          </a:p>
          <a:p>
            <a:pPr>
              <a:lnSpc>
                <a:spcPct val="80000"/>
              </a:lnSpc>
            </a:pPr>
            <a:r>
              <a:rPr lang="en-US" sz="1800" dirty="0" smtClean="0"/>
              <a:t>Communication and Coordination</a:t>
            </a:r>
          </a:p>
          <a:p>
            <a:pPr lvl="1">
              <a:lnSpc>
                <a:spcPct val="80000"/>
              </a:lnSpc>
            </a:pPr>
            <a:r>
              <a:rPr lang="en-US" sz="1600" dirty="0" err="1" smtClean="0"/>
              <a:t>ExCom</a:t>
            </a:r>
            <a:r>
              <a:rPr lang="en-US" sz="1600" dirty="0" smtClean="0"/>
              <a:t>/CG Liaisons</a:t>
            </a:r>
          </a:p>
          <a:p>
            <a:pPr lvl="1">
              <a:lnSpc>
                <a:spcPct val="80000"/>
              </a:lnSpc>
            </a:pPr>
            <a:endParaRPr lang="en-US" sz="1600" dirty="0" smtClean="0"/>
          </a:p>
          <a:p>
            <a:pPr>
              <a:lnSpc>
                <a:spcPct val="80000"/>
              </a:lnSpc>
            </a:pPr>
            <a:endParaRPr lang="en-US" sz="18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8"/>
          <p:cNvSpPr>
            <a:spLocks noGrp="1" noChangeArrowheads="1"/>
          </p:cNvSpPr>
          <p:nvPr>
            <p:ph type="title" sz="quarter" idx="4294967295"/>
          </p:nvPr>
        </p:nvSpPr>
        <p:spPr/>
        <p:txBody>
          <a:bodyPr anchor="b"/>
          <a:lstStyle/>
          <a:p>
            <a:r>
              <a:rPr lang="en-US" dirty="0" smtClean="0"/>
              <a:t>Managing Partner Discussions</a:t>
            </a:r>
            <a:endParaRPr lang="en-US" dirty="0"/>
          </a:p>
        </p:txBody>
      </p:sp>
      <p:pic>
        <p:nvPicPr>
          <p:cNvPr id="23555" name="Content Placeholder 9" descr="Dave &amp; Sean.jpg"/>
          <p:cNvPicPr>
            <a:picLocks noGrp="1" noChangeAspect="1"/>
          </p:cNvPicPr>
          <p:nvPr>
            <p:ph sz="quarter" idx="4294967295"/>
          </p:nvPr>
        </p:nvPicPr>
        <p:blipFill>
          <a:blip r:embed="rId2" cstate="print"/>
          <a:srcRect l="-9734" r="-9734"/>
          <a:stretch>
            <a:fillRect/>
          </a:stretch>
        </p:blipFill>
        <p:spPr>
          <a:xfrm>
            <a:off x="6172200" y="1905000"/>
            <a:ext cx="2903538" cy="3657600"/>
          </a:xfrm>
        </p:spPr>
      </p:pic>
      <p:pic>
        <p:nvPicPr>
          <p:cNvPr id="23556" name="Content Placeholder 8" descr="Option 2 Rev.jpg"/>
          <p:cNvPicPr>
            <a:picLocks noGrp="1" noChangeAspect="1"/>
          </p:cNvPicPr>
          <p:nvPr>
            <p:ph sz="quarter" idx="4294967295"/>
          </p:nvPr>
        </p:nvPicPr>
        <p:blipFill>
          <a:blip r:embed="rId3" cstate="print"/>
          <a:srcRect l="-9734" r="-9734"/>
          <a:stretch>
            <a:fillRect/>
          </a:stretch>
        </p:blipFill>
        <p:spPr>
          <a:xfrm>
            <a:off x="3022600" y="1924050"/>
            <a:ext cx="3073400" cy="4121150"/>
          </a:xfrm>
        </p:spPr>
      </p:pic>
      <p:pic>
        <p:nvPicPr>
          <p:cNvPr id="23557" name="Content Placeholder 14" descr="Jack.jpg"/>
          <p:cNvPicPr>
            <a:picLocks noGrp="1" noChangeAspect="1"/>
          </p:cNvPicPr>
          <p:nvPr>
            <p:ph sz="quarter" idx="4294967295"/>
          </p:nvPr>
        </p:nvPicPr>
        <p:blipFill>
          <a:blip r:embed="rId4" cstate="print"/>
          <a:srcRect l="-9734" r="-9734"/>
          <a:stretch>
            <a:fillRect/>
          </a:stretch>
        </p:blipFill>
        <p:spPr>
          <a:xfrm>
            <a:off x="152400" y="1905000"/>
            <a:ext cx="2903538" cy="3733800"/>
          </a:xfr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dirty="0" smtClean="0"/>
              <a:t>Next Steps</a:t>
            </a:r>
          </a:p>
        </p:txBody>
      </p:sp>
      <p:sp>
        <p:nvSpPr>
          <p:cNvPr id="20483" name="Content Placeholder 2" descr="Rectangle: Click to edit Master text styles&#10;Second level&#10;Third level&#10;Fourth level&#10;Fifth level"/>
          <p:cNvSpPr>
            <a:spLocks noGrp="1"/>
          </p:cNvSpPr>
          <p:nvPr>
            <p:ph idx="1"/>
          </p:nvPr>
        </p:nvSpPr>
        <p:spPr/>
        <p:txBody>
          <a:bodyPr/>
          <a:lstStyle/>
          <a:p>
            <a:pPr eaLnBrk="1" hangingPunct="1">
              <a:lnSpc>
                <a:spcPct val="80000"/>
              </a:lnSpc>
            </a:pPr>
            <a:r>
              <a:rPr lang="en-US" sz="2000" dirty="0" smtClean="0"/>
              <a:t>Continue Outreach and Communications</a:t>
            </a:r>
          </a:p>
          <a:p>
            <a:pPr lvl="1" eaLnBrk="1" hangingPunct="1">
              <a:lnSpc>
                <a:spcPct val="80000"/>
              </a:lnSpc>
            </a:pPr>
            <a:endParaRPr lang="en-US" sz="2000" dirty="0" smtClean="0"/>
          </a:p>
          <a:p>
            <a:pPr eaLnBrk="1" hangingPunct="1">
              <a:lnSpc>
                <a:spcPct val="80000"/>
              </a:lnSpc>
            </a:pPr>
            <a:r>
              <a:rPr lang="en-US" sz="2000" dirty="0" smtClean="0"/>
              <a:t>Publish Roadmap Version 4</a:t>
            </a:r>
          </a:p>
          <a:p>
            <a:pPr eaLnBrk="1" hangingPunct="1">
              <a:lnSpc>
                <a:spcPct val="80000"/>
              </a:lnSpc>
            </a:pPr>
            <a:endParaRPr lang="en-US" sz="2000" dirty="0" smtClean="0"/>
          </a:p>
          <a:p>
            <a:pPr eaLnBrk="1" hangingPunct="1">
              <a:lnSpc>
                <a:spcPct val="80000"/>
              </a:lnSpc>
            </a:pPr>
            <a:r>
              <a:rPr lang="en-US" sz="2000" dirty="0" smtClean="0"/>
              <a:t>Identify Managing Partner and Refine Business Model</a:t>
            </a:r>
          </a:p>
          <a:p>
            <a:pPr eaLnBrk="1" hangingPunct="1">
              <a:lnSpc>
                <a:spcPct val="80000"/>
              </a:lnSpc>
            </a:pPr>
            <a:endParaRPr lang="en-US" sz="2000" dirty="0" smtClean="0"/>
          </a:p>
          <a:p>
            <a:pPr eaLnBrk="1" hangingPunct="1">
              <a:lnSpc>
                <a:spcPct val="80000"/>
              </a:lnSpc>
            </a:pPr>
            <a:r>
              <a:rPr lang="en-US" sz="2000" dirty="0" smtClean="0"/>
              <a:t>Enhance Intergovernmental Approach</a:t>
            </a:r>
          </a:p>
          <a:p>
            <a:pPr eaLnBrk="1" hangingPunct="1">
              <a:lnSpc>
                <a:spcPct val="80000"/>
              </a:lnSpc>
            </a:pPr>
            <a:endParaRPr lang="en-US" sz="2000" dirty="0" smtClean="0"/>
          </a:p>
          <a:p>
            <a:pPr eaLnBrk="1" hangingPunct="1">
              <a:lnSpc>
                <a:spcPct val="80000"/>
              </a:lnSpc>
            </a:pPr>
            <a:r>
              <a:rPr lang="en-US" sz="2000" dirty="0" smtClean="0"/>
              <a:t>Accelerate Technical Implementation</a:t>
            </a:r>
          </a:p>
          <a:p>
            <a:pPr lvl="1" eaLnBrk="1" hangingPunct="1">
              <a:lnSpc>
                <a:spcPct val="80000"/>
              </a:lnSpc>
            </a:pPr>
            <a:endParaRPr lang="en-US" sz="2000" dirty="0" smtClean="0"/>
          </a:p>
          <a:p>
            <a:pPr eaLnBrk="1" hangingPunct="1">
              <a:lnSpc>
                <a:spcPct val="80000"/>
              </a:lnSpc>
            </a:pPr>
            <a:r>
              <a:rPr lang="en-US" sz="2000" dirty="0" smtClean="0"/>
              <a:t>Inventory Potential Content</a:t>
            </a:r>
          </a:p>
          <a:p>
            <a:pPr lvl="2" eaLnBrk="1" hangingPunct="1">
              <a:lnSpc>
                <a:spcPct val="80000"/>
              </a:lnSpc>
            </a:pPr>
            <a:r>
              <a:rPr lang="en-US" sz="1600" dirty="0" smtClean="0"/>
              <a:t>Federal agencies</a:t>
            </a:r>
          </a:p>
          <a:p>
            <a:pPr lvl="2" eaLnBrk="1" hangingPunct="1">
              <a:lnSpc>
                <a:spcPct val="80000"/>
              </a:lnSpc>
            </a:pPr>
            <a:r>
              <a:rPr lang="en-US" sz="1600" dirty="0" smtClean="0"/>
              <a:t>State, local, tribal and regional organizations</a:t>
            </a:r>
          </a:p>
          <a:p>
            <a:pPr lvl="2" eaLnBrk="1" hangingPunct="1">
              <a:lnSpc>
                <a:spcPct val="80000"/>
              </a:lnSpc>
            </a:pPr>
            <a:r>
              <a:rPr lang="en-US" sz="1600" dirty="0" smtClean="0"/>
              <a:t>Possible RFI and Industry Day</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3"/>
          <p:cNvSpPr txBox="1">
            <a:spLocks noChangeArrowheads="1"/>
          </p:cNvSpPr>
          <p:nvPr/>
        </p:nvSpPr>
        <p:spPr bwMode="auto">
          <a:xfrm>
            <a:off x="2953862" y="2286000"/>
            <a:ext cx="2980688" cy="2369880"/>
          </a:xfrm>
          <a:prstGeom prst="rect">
            <a:avLst/>
          </a:prstGeom>
          <a:noFill/>
          <a:ln w="9525">
            <a:noFill/>
            <a:miter lim="800000"/>
            <a:headEnd/>
            <a:tailEnd/>
          </a:ln>
        </p:spPr>
        <p:txBody>
          <a:bodyPr wrap="none">
            <a:spAutoFit/>
          </a:bodyPr>
          <a:lstStyle/>
          <a:p>
            <a:r>
              <a:rPr lang="en-US" dirty="0"/>
              <a:t>Thank </a:t>
            </a:r>
            <a:r>
              <a:rPr lang="en-US" dirty="0" smtClean="0"/>
              <a:t>you!</a:t>
            </a:r>
          </a:p>
          <a:p>
            <a:endParaRPr lang="en-US" dirty="0"/>
          </a:p>
          <a:p>
            <a:endParaRPr lang="en-US" sz="2000" dirty="0"/>
          </a:p>
          <a:p>
            <a:r>
              <a:rPr lang="en-US" sz="4000" dirty="0"/>
              <a:t>Questions?</a:t>
            </a:r>
          </a:p>
        </p:txBody>
      </p:sp>
      <p:pic>
        <p:nvPicPr>
          <p:cNvPr id="3" name="Picture 9"/>
          <p:cNvPicPr>
            <a:picLocks noChangeAspect="1" noChangeArrowheads="1"/>
          </p:cNvPicPr>
          <p:nvPr/>
        </p:nvPicPr>
        <p:blipFill>
          <a:blip r:embed="rId3" cstate="print"/>
          <a:srcRect l="9720" t="17390" r="14394" b="16769"/>
          <a:stretch>
            <a:fillRect/>
          </a:stretch>
        </p:blipFill>
        <p:spPr bwMode="auto">
          <a:xfrm>
            <a:off x="6400800" y="6172201"/>
            <a:ext cx="2170112" cy="5665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FGDC">
  <a:themeElements>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FGD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FGDC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FGDC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FGDC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FGDC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FGDC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FGDC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FGDC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Data\Microsoft\Templates\FGDC.ppt</Template>
  <TotalTime>7350</TotalTime>
  <Words>1062</Words>
  <Application>Microsoft Office PowerPoint</Application>
  <PresentationFormat>On-screen Show (4:3)</PresentationFormat>
  <Paragraphs>269</Paragraphs>
  <Slides>22</Slides>
  <Notes>3</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FGDC</vt:lpstr>
      <vt:lpstr>Geospatial Platform Update</vt:lpstr>
      <vt:lpstr>Overview</vt:lpstr>
      <vt:lpstr>Geospatial Platform: Call to Action</vt:lpstr>
      <vt:lpstr>Geospatial Platform</vt:lpstr>
      <vt:lpstr>Accomplishments</vt:lpstr>
      <vt:lpstr>Modernization Roadmap</vt:lpstr>
      <vt:lpstr>Business Model</vt:lpstr>
      <vt:lpstr>Time Boxes</vt:lpstr>
      <vt:lpstr>Stakeholder Review &amp; Engagement</vt:lpstr>
      <vt:lpstr>National Geospatial Advisory Committee</vt:lpstr>
      <vt:lpstr>Stakeholder Engagement</vt:lpstr>
      <vt:lpstr>www.geoplatform.gov</vt:lpstr>
      <vt:lpstr>Intergovernmental Subcommittee</vt:lpstr>
      <vt:lpstr>Technical Implementation Activities</vt:lpstr>
      <vt:lpstr>Collaborative Interactions</vt:lpstr>
      <vt:lpstr>Interim Management Framework</vt:lpstr>
      <vt:lpstr>Interim Management Framework</vt:lpstr>
      <vt:lpstr>Interim Project Management</vt:lpstr>
      <vt:lpstr>Platform Management Roles</vt:lpstr>
      <vt:lpstr>Managing Partner Discussions</vt:lpstr>
      <vt:lpstr>Next Steps</vt:lpstr>
      <vt:lpstr>Slide 22</vt:lpstr>
    </vt:vector>
  </TitlesOfParts>
  <Company>FGDC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Platform-A16 Webinar 12-3-10</dc:title>
  <dc:creator>Lewan, Allison</dc:creator>
  <cp:lastModifiedBy>Department Of The Interior</cp:lastModifiedBy>
  <cp:revision>430</cp:revision>
  <cp:lastPrinted>1601-01-01T00:00:00Z</cp:lastPrinted>
  <dcterms:created xsi:type="dcterms:W3CDTF">2006-01-17T21:53:02Z</dcterms:created>
  <dcterms:modified xsi:type="dcterms:W3CDTF">2010-12-07T13:10:29Z</dcterms:modified>
</cp:coreProperties>
</file>