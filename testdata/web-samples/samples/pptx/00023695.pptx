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18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696" r:id="rId2"/>
    <p:sldId id="748" r:id="rId3"/>
    <p:sldId id="749" r:id="rId4"/>
    <p:sldId id="751" r:id="rId5"/>
    <p:sldId id="750" r:id="rId6"/>
    <p:sldId id="752" r:id="rId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mshaffer" initials="k" lastIdx="3" clrIdx="0"/>
  <p:cmAuthor id="1" name="Jeffrey Cullen" initials="JC" lastIdx="22" clrIdx="1"/>
  <p:cmAuthor id="2" name="GTAdmin" initials="G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3A9"/>
    <a:srgbClr val="000000"/>
    <a:srgbClr val="C7050A"/>
    <a:srgbClr val="BCBCBC"/>
    <a:srgbClr val="00FF00"/>
    <a:srgbClr val="FF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69" autoAdjust="0"/>
    <p:restoredTop sz="98992" autoAdjust="0"/>
  </p:normalViewPr>
  <p:slideViewPr>
    <p:cSldViewPr>
      <p:cViewPr varScale="1">
        <p:scale>
          <a:sx n="113" d="100"/>
          <a:sy n="113" d="100"/>
        </p:scale>
        <p:origin x="-204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1902" y="-72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6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5" rIns="91408" bIns="45705" numCol="1" anchor="t" anchorCtr="0" compatLnSpc="1">
            <a:prstTxWarp prst="textNoShape">
              <a:avLst/>
            </a:prstTxWarp>
          </a:bodyPr>
          <a:lstStyle>
            <a:lvl1pPr defTabSz="933287">
              <a:spcBef>
                <a:spcPct val="0"/>
              </a:spcBef>
              <a:buClrTx/>
              <a:buSzTx/>
              <a:buFontTx/>
              <a:buNone/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758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6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5" rIns="91408" bIns="45705" numCol="1" anchor="t" anchorCtr="0" compatLnSpc="1">
            <a:prstTxWarp prst="textNoShape">
              <a:avLst/>
            </a:prstTxWarp>
          </a:bodyPr>
          <a:lstStyle>
            <a:lvl1pPr algn="r" defTabSz="933287">
              <a:spcBef>
                <a:spcPct val="0"/>
              </a:spcBef>
              <a:buClrTx/>
              <a:buSzTx/>
              <a:buFontTx/>
              <a:buNone/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758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8352"/>
            <a:ext cx="3037840" cy="466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5" rIns="91408" bIns="45705" numCol="1" anchor="b" anchorCtr="0" compatLnSpc="1">
            <a:prstTxWarp prst="textNoShape">
              <a:avLst/>
            </a:prstTxWarp>
          </a:bodyPr>
          <a:lstStyle>
            <a:lvl1pPr defTabSz="933287">
              <a:spcBef>
                <a:spcPct val="0"/>
              </a:spcBef>
              <a:buClrTx/>
              <a:buSzTx/>
              <a:buFontTx/>
              <a:buNone/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758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8352"/>
            <a:ext cx="3037840" cy="466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5" rIns="91408" bIns="45705" numCol="1" anchor="b" anchorCtr="0" compatLnSpc="1">
            <a:prstTxWarp prst="textNoShape">
              <a:avLst/>
            </a:prstTxWarp>
          </a:bodyPr>
          <a:lstStyle>
            <a:lvl1pPr algn="r" defTabSz="933287">
              <a:spcBef>
                <a:spcPct val="0"/>
              </a:spcBef>
              <a:buClrTx/>
              <a:buSzTx/>
              <a:buFontTx/>
              <a:buNone/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fld id="{2272BF8E-91A8-4EE0-93C6-FB1360D10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377129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6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6" tIns="46572" rIns="93146" bIns="46572" numCol="1" anchor="t" anchorCtr="0" compatLnSpc="1">
            <a:prstTxWarp prst="textNoShape">
              <a:avLst/>
            </a:prstTxWarp>
          </a:bodyPr>
          <a:lstStyle>
            <a:lvl1pPr defTabSz="930112">
              <a:spcBef>
                <a:spcPct val="0"/>
              </a:spcBef>
              <a:buClrTx/>
              <a:buSzTx/>
              <a:buFontTx/>
              <a:buNone/>
              <a:defRPr sz="11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6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6" tIns="46572" rIns="93146" bIns="46572" numCol="1" anchor="t" anchorCtr="0" compatLnSpc="1">
            <a:prstTxWarp prst="textNoShape">
              <a:avLst/>
            </a:prstTxWarp>
          </a:bodyPr>
          <a:lstStyle>
            <a:lvl1pPr algn="r" defTabSz="930112">
              <a:spcBef>
                <a:spcPct val="0"/>
              </a:spcBef>
              <a:buClrTx/>
              <a:buSzTx/>
              <a:buFontTx/>
              <a:buNone/>
              <a:defRPr sz="11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5325"/>
            <a:ext cx="4649788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344" y="4415790"/>
            <a:ext cx="5137714" cy="4184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6" tIns="46572" rIns="93146" bIns="465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6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6" tIns="46572" rIns="93146" bIns="46572" numCol="1" anchor="b" anchorCtr="0" compatLnSpc="1">
            <a:prstTxWarp prst="textNoShape">
              <a:avLst/>
            </a:prstTxWarp>
          </a:bodyPr>
          <a:lstStyle>
            <a:lvl1pPr defTabSz="930112">
              <a:spcBef>
                <a:spcPct val="0"/>
              </a:spcBef>
              <a:buClrTx/>
              <a:buSzTx/>
              <a:buFontTx/>
              <a:buNone/>
              <a:defRPr sz="11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29967"/>
            <a:ext cx="3037840" cy="466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6" tIns="46572" rIns="93146" bIns="46572" numCol="1" anchor="b" anchorCtr="0" compatLnSpc="1">
            <a:prstTxWarp prst="textNoShape">
              <a:avLst/>
            </a:prstTxWarp>
          </a:bodyPr>
          <a:lstStyle>
            <a:lvl1pPr algn="r" defTabSz="930112">
              <a:spcBef>
                <a:spcPct val="0"/>
              </a:spcBef>
              <a:buClrTx/>
              <a:buSzTx/>
              <a:buFontTx/>
              <a:buNone/>
              <a:defRPr sz="1100"/>
            </a:lvl1pPr>
          </a:lstStyle>
          <a:p>
            <a:pPr>
              <a:defRPr/>
            </a:pPr>
            <a:fld id="{1772B0AC-ADE4-412C-A7AE-4199DD713D1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270545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8706"/>
            <a:fld id="{E025F68D-9690-4A10-82B4-29F2F72CD4BA}" type="slidenum">
              <a:rPr lang="en-US" smtClean="0">
                <a:latin typeface="Tahoma" charset="0"/>
              </a:rPr>
              <a:pPr defTabSz="928706"/>
              <a:t>1</a:t>
            </a:fld>
            <a:endParaRPr lang="en-US" dirty="0" smtClean="0">
              <a:latin typeface="Tahoma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7"/>
          <p:cNvSpPr>
            <a:spLocks noChangeArrowheads="1"/>
          </p:cNvSpPr>
          <p:nvPr/>
        </p:nvSpPr>
        <p:spPr bwMode="ltGray">
          <a:xfrm>
            <a:off x="0" y="0"/>
            <a:ext cx="9144000" cy="1524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  <a:defRPr/>
            </a:pPr>
            <a:endParaRPr lang="en-US" dirty="0"/>
          </a:p>
        </p:txBody>
      </p:sp>
      <p:sp>
        <p:nvSpPr>
          <p:cNvPr id="5" name="Text Box 75"/>
          <p:cNvSpPr txBox="1">
            <a:spLocks noChangeArrowheads="1"/>
          </p:cNvSpPr>
          <p:nvPr/>
        </p:nvSpPr>
        <p:spPr bwMode="auto">
          <a:xfrm>
            <a:off x="8429625" y="6384925"/>
            <a:ext cx="5619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defRPr/>
            </a:pPr>
            <a:fld id="{5B55BE75-1AD3-416C-9276-FC98646AFEF3}" type="slidenum">
              <a:rPr lang="en-US" sz="2000"/>
              <a:pPr algn="r">
                <a:defRPr/>
              </a:pPr>
              <a:t>‹#›</a:t>
            </a:fld>
            <a:endParaRPr lang="en-US" sz="2000" dirty="0"/>
          </a:p>
        </p:txBody>
      </p:sp>
      <p:sp>
        <p:nvSpPr>
          <p:cNvPr id="6" name="Rectangle 79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  <a:defRPr/>
            </a:pPr>
            <a:endParaRPr lang="en-US" dirty="0"/>
          </a:p>
        </p:txBody>
      </p:sp>
      <p:pic>
        <p:nvPicPr>
          <p:cNvPr id="7" name="Picture 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304800"/>
            <a:ext cx="30480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3"/>
          <p:cNvPicPr>
            <a:picLocks noChangeAspect="1" noChangeArrowheads="1"/>
          </p:cNvPicPr>
          <p:nvPr userDrawn="1"/>
        </p:nvPicPr>
        <p:blipFill>
          <a:blip r:embed="rId3" cstate="print"/>
          <a:srcRect l="9720" t="17390" r="14394" b="16769"/>
          <a:stretch>
            <a:fillRect/>
          </a:stretch>
        </p:blipFill>
        <p:spPr bwMode="auto">
          <a:xfrm>
            <a:off x="152400" y="381000"/>
            <a:ext cx="463867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01" name="Rectangle 57"/>
          <p:cNvSpPr>
            <a:spLocks noGrp="1" noChangeArrowheads="1"/>
          </p:cNvSpPr>
          <p:nvPr>
            <p:ph type="ctrTitle"/>
          </p:nvPr>
        </p:nvSpPr>
        <p:spPr>
          <a:xfrm>
            <a:off x="838200" y="2438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202" name="Rectangle 5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4038600"/>
            <a:ext cx="6629400" cy="16764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Rectangle 7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718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  <p:sp>
        <p:nvSpPr>
          <p:cNvPr id="10" name="Rectangle 7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fld id="{4CEFA00C-FDE4-4CCB-BD76-65FE1AD5CF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1588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9088" y="304800"/>
            <a:ext cx="2019300" cy="5562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907088" cy="5562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 noChangeArrowheads="1"/>
          </p:cNvPicPr>
          <p:nvPr userDrawn="1"/>
        </p:nvPicPr>
        <p:blipFill>
          <a:blip r:embed="rId14" cstate="print"/>
          <a:srcRect l="9720" t="17390" r="14394" b="16769"/>
          <a:stretch>
            <a:fillRect/>
          </a:stretch>
        </p:blipFill>
        <p:spPr bwMode="auto">
          <a:xfrm>
            <a:off x="0" y="6022975"/>
            <a:ext cx="3200400" cy="83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7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810000" y="5435600"/>
            <a:ext cx="2133600" cy="1422400"/>
          </a:xfrm>
          <a:prstGeom prst="rect">
            <a:avLst/>
          </a:prstGeom>
          <a:blipFill dpi="0" rotWithShape="1">
            <a:blip r:embed="rId16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</p:pic>
      <p:sp>
        <p:nvSpPr>
          <p:cNvPr id="1028" name="Rectangle 57"/>
          <p:cNvSpPr>
            <a:spLocks noChangeArrowheads="1"/>
          </p:cNvSpPr>
          <p:nvPr/>
        </p:nvSpPr>
        <p:spPr bwMode="ltGray">
          <a:xfrm>
            <a:off x="0" y="0"/>
            <a:ext cx="9144000" cy="1524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  <a:defRPr/>
            </a:pPr>
            <a:endParaRPr lang="en-US" dirty="0"/>
          </a:p>
        </p:txBody>
      </p:sp>
      <p:sp>
        <p:nvSpPr>
          <p:cNvPr id="102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7773988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92" name="Rectangle 6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981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93" name="Rectangle 6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r>
              <a:rPr lang="en-US" dirty="0"/>
              <a:t>April 2007 FGDC Coordination Group Meeting</a:t>
            </a:r>
          </a:p>
        </p:txBody>
      </p:sp>
      <p:sp>
        <p:nvSpPr>
          <p:cNvPr id="1033" name="Text Box 75"/>
          <p:cNvSpPr txBox="1">
            <a:spLocks noChangeArrowheads="1"/>
          </p:cNvSpPr>
          <p:nvPr/>
        </p:nvSpPr>
        <p:spPr bwMode="auto">
          <a:xfrm>
            <a:off x="8429625" y="6384925"/>
            <a:ext cx="5619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defRPr/>
            </a:pPr>
            <a:fld id="{683DDA3B-2085-468C-A0EE-D7B61CB3F124}" type="slidenum">
              <a:rPr lang="en-US" sz="2000"/>
              <a:pPr algn="r">
                <a:defRPr/>
              </a:pPr>
              <a:t>‹#›</a:t>
            </a:fld>
            <a:endParaRPr lang="en-US" sz="2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52" r:id="rId2"/>
    <p:sldLayoutId id="2147483753" r:id="rId3"/>
    <p:sldLayoutId id="214748376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7"/>
        </a:buBlip>
        <a:defRPr sz="3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2514600"/>
            <a:ext cx="7772400" cy="2209800"/>
          </a:xfrm>
        </p:spPr>
        <p:txBody>
          <a:bodyPr/>
          <a:lstStyle/>
          <a:p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 smtClean="0"/>
              <a:t>Geospatial Platform</a:t>
            </a:r>
            <a:br>
              <a:rPr lang="en-US" sz="3600" b="1" dirty="0" smtClean="0"/>
            </a:br>
            <a:r>
              <a:rPr lang="en-US" sz="3600" b="1" dirty="0" smtClean="0"/>
              <a:t>Business Plan</a:t>
            </a:r>
            <a:r>
              <a:rPr lang="en-US" sz="3600" b="1" dirty="0"/>
              <a:t> </a:t>
            </a:r>
            <a:r>
              <a:rPr lang="en-US" sz="3600" b="1" dirty="0" smtClean="0"/>
              <a:t>Outline </a:t>
            </a:r>
            <a:r>
              <a:rPr lang="en-US" sz="4000" dirty="0" smtClean="0"/>
              <a:t/>
            </a:r>
            <a:br>
              <a:rPr lang="en-US" sz="4000" dirty="0" smtClean="0"/>
            </a:br>
            <a:endParaRPr lang="en-US" sz="40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5791200" y="4876800"/>
            <a:ext cx="21419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/>
              <a:t>Jerry Johnston</a:t>
            </a:r>
          </a:p>
          <a:p>
            <a:pPr algn="r"/>
            <a:r>
              <a:rPr lang="en-US" sz="2000" dirty="0" smtClean="0"/>
              <a:t>NGAC Meeting</a:t>
            </a:r>
          </a:p>
          <a:p>
            <a:pPr algn="r"/>
            <a:r>
              <a:rPr lang="en-US" sz="2000" dirty="0" smtClean="0"/>
              <a:t>January 12, 2012</a:t>
            </a:r>
            <a:endParaRPr lang="en-US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382000" cy="762000"/>
          </a:xfrm>
        </p:spPr>
        <p:txBody>
          <a:bodyPr/>
          <a:lstStyle/>
          <a:p>
            <a:r>
              <a:rPr lang="en-US" dirty="0" smtClean="0"/>
              <a:t>Business Plan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7773988" cy="5334000"/>
          </a:xfrm>
        </p:spPr>
        <p:txBody>
          <a:bodyPr/>
          <a:lstStyle/>
          <a:p>
            <a:pPr marL="571500" indent="-571500">
              <a:buClr>
                <a:srgbClr val="40458C"/>
              </a:buClr>
              <a:buFont typeface="+mj-lt"/>
              <a:buAutoNum type="romanUcPeriod"/>
            </a:pPr>
            <a:r>
              <a:rPr lang="en-US" dirty="0" smtClean="0"/>
              <a:t>Executive Summary</a:t>
            </a:r>
          </a:p>
          <a:p>
            <a:pPr marL="571500" indent="-571500">
              <a:buClr>
                <a:srgbClr val="40458C"/>
              </a:buClr>
              <a:buFont typeface="+mj-lt"/>
              <a:buAutoNum type="romanUcPeriod"/>
            </a:pPr>
            <a:r>
              <a:rPr lang="en-US" dirty="0" smtClean="0"/>
              <a:t>Geospatial Platform Value Proposition</a:t>
            </a:r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dirty="0"/>
              <a:t>Why the Geospatial Platform is Needed</a:t>
            </a:r>
          </a:p>
          <a:p>
            <a:pPr marL="576263" lvl="1" indent="-176213">
              <a:buClr>
                <a:srgbClr val="40458C"/>
              </a:buClr>
              <a:buSzPct val="80000"/>
              <a:buFont typeface="Arial" pitchFamily="34" charset="0"/>
              <a:buChar char="•"/>
            </a:pPr>
            <a:r>
              <a:rPr lang="en-US" sz="2000" dirty="0"/>
              <a:t>How the Geospatial Platform Promotes Effective Management of Geospatial Assets </a:t>
            </a:r>
          </a:p>
          <a:p>
            <a:pPr marL="576263" lvl="1" indent="-176213">
              <a:buClr>
                <a:srgbClr val="40458C"/>
              </a:buClr>
              <a:buSzPct val="80000"/>
              <a:buFont typeface="Arial" pitchFamily="34" charset="0"/>
              <a:buChar char="•"/>
            </a:pPr>
            <a:r>
              <a:rPr lang="en-US" sz="2000" dirty="0"/>
              <a:t>Benefits of the Geospatial </a:t>
            </a:r>
            <a:r>
              <a:rPr lang="en-US" sz="2000" dirty="0" smtClean="0"/>
              <a:t>Platform</a:t>
            </a:r>
          </a:p>
          <a:p>
            <a:pPr marL="571500" indent="-571500">
              <a:buClr>
                <a:srgbClr val="40458C"/>
              </a:buClr>
              <a:buFont typeface="+mj-lt"/>
              <a:buAutoNum type="romanUcPeriod"/>
            </a:pPr>
            <a:r>
              <a:rPr lang="en-US" dirty="0" smtClean="0"/>
              <a:t>Background</a:t>
            </a:r>
          </a:p>
          <a:p>
            <a:pPr marL="571500" indent="-571500">
              <a:buClr>
                <a:srgbClr val="40458C"/>
              </a:buClr>
              <a:buFont typeface="+mj-lt"/>
              <a:buAutoNum type="romanUcPeriod"/>
            </a:pPr>
            <a:r>
              <a:rPr lang="en-US" dirty="0" smtClean="0"/>
              <a:t>Concept of Operations</a:t>
            </a:r>
            <a:endParaRPr lang="en-US" dirty="0"/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dirty="0"/>
              <a:t>What the Geospatial Platform </a:t>
            </a:r>
            <a:r>
              <a:rPr lang="en-US" sz="2000" dirty="0" smtClean="0"/>
              <a:t>Is</a:t>
            </a:r>
            <a:endParaRPr lang="en-US" sz="2000" dirty="0"/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dirty="0"/>
              <a:t>What the Geospatial Platform Offers</a:t>
            </a:r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dirty="0" smtClean="0"/>
              <a:t>Describing </a:t>
            </a:r>
            <a:r>
              <a:rPr lang="en-US" sz="2000" dirty="0"/>
              <a:t>“Trusted” Assets</a:t>
            </a:r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dirty="0"/>
              <a:t>User Functionality, Roles, and Access Management</a:t>
            </a:r>
          </a:p>
        </p:txBody>
      </p:sp>
    </p:spTree>
    <p:extLst>
      <p:ext uri="{BB962C8B-B14F-4D97-AF65-F5344CB8AC3E}">
        <p14:creationId xmlns:p14="http://schemas.microsoft.com/office/powerpoint/2010/main" xmlns="" val="266037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382000" cy="762000"/>
          </a:xfrm>
        </p:spPr>
        <p:txBody>
          <a:bodyPr/>
          <a:lstStyle/>
          <a:p>
            <a:r>
              <a:rPr lang="en-US" dirty="0" smtClean="0"/>
              <a:t>Business Plan Outline 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7773988" cy="5334000"/>
          </a:xfrm>
        </p:spPr>
        <p:txBody>
          <a:bodyPr/>
          <a:lstStyle/>
          <a:p>
            <a:pPr marL="571500" indent="-571500">
              <a:buClr>
                <a:srgbClr val="40458C"/>
              </a:buClr>
              <a:buFont typeface="+mj-lt"/>
              <a:buAutoNum type="romanUcPeriod" startAt="5"/>
            </a:pPr>
            <a:r>
              <a:rPr lang="en-US" dirty="0" smtClean="0"/>
              <a:t>Governance and Organizational Approach</a:t>
            </a:r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dirty="0"/>
              <a:t>Governance Framework</a:t>
            </a:r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dirty="0"/>
              <a:t>Relationship to Portfolio Management</a:t>
            </a:r>
          </a:p>
          <a:p>
            <a:pPr marL="571500" indent="-571500">
              <a:buClr>
                <a:srgbClr val="40458C"/>
              </a:buClr>
              <a:buFont typeface="+mj-lt"/>
              <a:buAutoNum type="romanUcPeriod" startAt="5"/>
            </a:pPr>
            <a:r>
              <a:rPr lang="en-US" dirty="0" smtClean="0"/>
              <a:t>Costs and Funding Model</a:t>
            </a:r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dirty="0"/>
              <a:t>Costs</a:t>
            </a:r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dirty="0"/>
              <a:t>Funding Options</a:t>
            </a:r>
          </a:p>
          <a:p>
            <a:pPr marL="571500" indent="-571500">
              <a:buClr>
                <a:srgbClr val="40458C"/>
              </a:buClr>
              <a:buFont typeface="+mj-lt"/>
              <a:buAutoNum type="romanUcPeriod" startAt="5"/>
            </a:pPr>
            <a:r>
              <a:rPr lang="en-US" dirty="0" smtClean="0"/>
              <a:t>Risk Management</a:t>
            </a:r>
          </a:p>
          <a:p>
            <a:pPr marL="571500" indent="-571500">
              <a:buClr>
                <a:srgbClr val="40458C"/>
              </a:buClr>
              <a:buFont typeface="+mj-lt"/>
              <a:buAutoNum type="romanUcPeriod" startAt="5"/>
            </a:pPr>
            <a:r>
              <a:rPr lang="en-US" dirty="0" smtClean="0"/>
              <a:t>Measuring Performance</a:t>
            </a:r>
          </a:p>
          <a:p>
            <a:pPr marL="571500" indent="-571500">
              <a:buClr>
                <a:srgbClr val="40458C"/>
              </a:buClr>
              <a:buFont typeface="+mj-lt"/>
              <a:buAutoNum type="romanUcPeriod" startAt="5"/>
            </a:pPr>
            <a:r>
              <a:rPr lang="en-US" dirty="0" smtClean="0"/>
              <a:t>Appendices and Reference Documents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421787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915400" cy="762000"/>
          </a:xfrm>
        </p:spPr>
        <p:txBody>
          <a:bodyPr/>
          <a:lstStyle/>
          <a:p>
            <a:r>
              <a:rPr lang="en-US" dirty="0" smtClean="0"/>
              <a:t>Issues that FGDC continues to work 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8001000" cy="5334000"/>
          </a:xfrm>
        </p:spPr>
        <p:txBody>
          <a:bodyPr/>
          <a:lstStyle/>
          <a:p>
            <a:pPr>
              <a:buClr>
                <a:srgbClr val="40458C"/>
              </a:buClr>
              <a:buSzPct val="100000"/>
              <a:buFont typeface="Arial" pitchFamily="34" charset="0"/>
              <a:buChar char="•"/>
            </a:pPr>
            <a:r>
              <a:rPr lang="en-US" dirty="0" smtClean="0"/>
              <a:t>Governance and Organizational Approach</a:t>
            </a:r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u="sng" dirty="0"/>
              <a:t>Issue</a:t>
            </a:r>
            <a:r>
              <a:rPr lang="en-US" sz="2000" dirty="0"/>
              <a:t>: </a:t>
            </a:r>
            <a:r>
              <a:rPr lang="en-US" sz="2000" dirty="0" smtClean="0"/>
              <a:t>Determining </a:t>
            </a:r>
            <a:r>
              <a:rPr lang="en-US" sz="2000" dirty="0"/>
              <a:t>the </a:t>
            </a:r>
            <a:r>
              <a:rPr lang="en-US" sz="2000" dirty="0" smtClean="0"/>
              <a:t>selection process for </a:t>
            </a:r>
            <a:r>
              <a:rPr lang="en-US" sz="2000" dirty="0"/>
              <a:t>the Managing Partner</a:t>
            </a:r>
          </a:p>
          <a:p>
            <a:pPr marL="403225" lvl="1" indent="0">
              <a:buClr>
                <a:srgbClr val="40458C"/>
              </a:buClr>
              <a:buSzPct val="80000"/>
              <a:buNone/>
              <a:tabLst>
                <a:tab pos="576263" algn="l"/>
              </a:tabLst>
            </a:pPr>
            <a:endParaRPr lang="en-US" sz="2000" dirty="0"/>
          </a:p>
          <a:p>
            <a:pPr>
              <a:buClr>
                <a:srgbClr val="40458C"/>
              </a:buClr>
              <a:buSzPct val="100000"/>
              <a:buFont typeface="Arial" pitchFamily="34" charset="0"/>
              <a:buChar char="•"/>
            </a:pPr>
            <a:r>
              <a:rPr lang="en-US" dirty="0" smtClean="0"/>
              <a:t>Costs and Funding Model</a:t>
            </a:r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u="sng" dirty="0"/>
              <a:t>Issue</a:t>
            </a:r>
            <a:r>
              <a:rPr lang="en-US" sz="2000" dirty="0"/>
              <a:t>: </a:t>
            </a:r>
            <a:r>
              <a:rPr lang="en-US" sz="2000" dirty="0" smtClean="0"/>
              <a:t>Refining </a:t>
            </a:r>
            <a:r>
              <a:rPr lang="en-US" sz="2000" dirty="0"/>
              <a:t>cost information</a:t>
            </a:r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u="sng" dirty="0"/>
              <a:t>Issue</a:t>
            </a:r>
            <a:r>
              <a:rPr lang="en-US" sz="2000" dirty="0"/>
              <a:t>: </a:t>
            </a:r>
            <a:r>
              <a:rPr lang="en-US" sz="2000" dirty="0" smtClean="0"/>
              <a:t>Developing alternatives for interim and longer term funding models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246356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382000" cy="762000"/>
          </a:xfrm>
        </p:spPr>
        <p:txBody>
          <a:bodyPr/>
          <a:lstStyle/>
          <a:p>
            <a:r>
              <a:rPr lang="en-US" dirty="0" smtClean="0"/>
              <a:t>Issues for NGAC Attention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8382000" cy="5334000"/>
          </a:xfrm>
        </p:spPr>
        <p:txBody>
          <a:bodyPr/>
          <a:lstStyle/>
          <a:p>
            <a:pPr>
              <a:buClr>
                <a:srgbClr val="40458C"/>
              </a:buClr>
              <a:buSzPct val="100000"/>
              <a:buFont typeface="Arial" pitchFamily="34" charset="0"/>
              <a:buChar char="•"/>
            </a:pPr>
            <a:r>
              <a:rPr lang="en-US" dirty="0"/>
              <a:t>Concept of </a:t>
            </a:r>
            <a:r>
              <a:rPr lang="en-US" dirty="0" smtClean="0"/>
              <a:t>Operations</a:t>
            </a:r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u="sng" dirty="0" smtClean="0"/>
              <a:t>Issue</a:t>
            </a:r>
            <a:r>
              <a:rPr lang="en-US" sz="2000" dirty="0" smtClean="0"/>
              <a:t>: Developing </a:t>
            </a:r>
            <a:r>
              <a:rPr lang="en-US" sz="2000" dirty="0"/>
              <a:t>criteria </a:t>
            </a:r>
            <a:r>
              <a:rPr lang="en-US" sz="2000" dirty="0" smtClean="0"/>
              <a:t>for establishing a network of </a:t>
            </a:r>
            <a:r>
              <a:rPr lang="en-US" sz="2000" dirty="0"/>
              <a:t>trusted partners </a:t>
            </a:r>
            <a:r>
              <a:rPr lang="en-US" sz="2000" dirty="0" smtClean="0"/>
              <a:t>who can contribute data, services, and applications to the Geospatial Platform</a:t>
            </a:r>
          </a:p>
          <a:p>
            <a:pPr marL="976313" lvl="2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1600" dirty="0" smtClean="0"/>
              <a:t>Exploring the prospects of applying data.gov data policy to the Geospatial Platform as a starting point</a:t>
            </a:r>
          </a:p>
          <a:p>
            <a:pPr marL="976313" lvl="2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1600" dirty="0" smtClean="0"/>
              <a:t>Identifying Data.gov criteria that are </a:t>
            </a:r>
            <a:r>
              <a:rPr lang="en-US" sz="1600" dirty="0" smtClean="0"/>
              <a:t>appropriate </a:t>
            </a:r>
            <a:r>
              <a:rPr lang="en-US" sz="1600" dirty="0" smtClean="0"/>
              <a:t>for Geospatial Platform, identifying other relevant criteria</a:t>
            </a:r>
          </a:p>
          <a:p>
            <a:pPr marL="176213" indent="-173038">
              <a:buClr>
                <a:srgbClr val="40458C"/>
              </a:buClr>
              <a:buSzPct val="10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dirty="0" smtClean="0"/>
              <a:t> Governance </a:t>
            </a:r>
            <a:r>
              <a:rPr lang="en-US" sz="2400" dirty="0" smtClean="0"/>
              <a:t> </a:t>
            </a:r>
          </a:p>
          <a:p>
            <a:pPr marL="576263" lvl="1" indent="-173038">
              <a:buClr>
                <a:srgbClr val="40458C"/>
              </a:buClr>
              <a:buSzPct val="80000"/>
              <a:buFont typeface="Arial" pitchFamily="34" charset="0"/>
              <a:buChar char="•"/>
              <a:tabLst>
                <a:tab pos="576263" algn="l"/>
              </a:tabLst>
            </a:pPr>
            <a:r>
              <a:rPr lang="en-US" sz="2000" u="sng" dirty="0" smtClean="0"/>
              <a:t>Issue</a:t>
            </a:r>
            <a:r>
              <a:rPr lang="en-US" sz="2000" dirty="0"/>
              <a:t>: </a:t>
            </a:r>
            <a:r>
              <a:rPr lang="en-US" sz="2000" dirty="0" smtClean="0"/>
              <a:t>Including non-Federal stakeholders in the Geospatial Platform governance process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49363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NGAC Geospatial Platform Subcommittee: </a:t>
            </a:r>
          </a:p>
          <a:p>
            <a:pPr lvl="1"/>
            <a:r>
              <a:rPr lang="en-US" dirty="0" smtClean="0"/>
              <a:t>Feedback/suggestions on Business Plan outline</a:t>
            </a:r>
          </a:p>
          <a:p>
            <a:pPr lvl="1">
              <a:buNone/>
            </a:pPr>
            <a:r>
              <a:rPr lang="en-US" dirty="0" smtClean="0"/>
              <a:t>	(January 2012) 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FGDC">
  <a:themeElements>
    <a:clrScheme name="FGDC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110000"/>
          <a:buFont typeface="Wingdings" pitchFamily="2" charset="2"/>
          <a:buBlip>
            <a:blip xmlns:r="http://schemas.openxmlformats.org/officeDocument/2006/relationships" r:embed="rId1"/>
          </a:buBlip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110000"/>
          <a:buFont typeface="Wingdings" pitchFamily="2" charset="2"/>
          <a:buBlip>
            <a:blip xmlns:r="http://schemas.openxmlformats.org/officeDocument/2006/relationships" r:embed="rId1"/>
          </a:buBlip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FGDC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GDC 2">
    <a:dk1>
      <a:srgbClr val="40458C"/>
    </a:dk1>
    <a:lt1>
      <a:srgbClr val="FFFFFF"/>
    </a:lt1>
    <a:dk2>
      <a:srgbClr val="660066"/>
    </a:dk2>
    <a:lt2>
      <a:srgbClr val="B7C1EB"/>
    </a:lt2>
    <a:accent1>
      <a:srgbClr val="ECD882"/>
    </a:accent1>
    <a:accent2>
      <a:srgbClr val="B2B2B2"/>
    </a:accent2>
    <a:accent3>
      <a:srgbClr val="FFFFFF"/>
    </a:accent3>
    <a:accent4>
      <a:srgbClr val="353A77"/>
    </a:accent4>
    <a:accent5>
      <a:srgbClr val="F4E9C1"/>
    </a:accent5>
    <a:accent6>
      <a:srgbClr val="A1A1A1"/>
    </a:accent6>
    <a:hlink>
      <a:srgbClr val="6F89F7"/>
    </a:hlink>
    <a:folHlink>
      <a:srgbClr val="CFDBF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22333</TotalTime>
  <Words>224</Words>
  <Application>Microsoft Office PowerPoint</Application>
  <PresentationFormat>On-screen Show (4:3)</PresentationFormat>
  <Paragraphs>45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FGDC</vt:lpstr>
      <vt:lpstr>              Geospatial Platform Business Plan Outline  </vt:lpstr>
      <vt:lpstr>Business Plan Outline</vt:lpstr>
      <vt:lpstr>Business Plan Outline (continued)</vt:lpstr>
      <vt:lpstr>Issues that FGDC continues to work on</vt:lpstr>
      <vt:lpstr>Issues for NGAC Attention  </vt:lpstr>
      <vt:lpstr>Next Steps</vt:lpstr>
    </vt:vector>
  </TitlesOfParts>
  <Company>FGDC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Geospatial Platform Update for NGAC</dc:title>
  <cp:lastModifiedBy>USGS</cp:lastModifiedBy>
  <cp:revision>1487</cp:revision>
  <cp:lastPrinted>1601-01-01T00:00:00Z</cp:lastPrinted>
  <dcterms:created xsi:type="dcterms:W3CDTF">2006-01-17T21:53:02Z</dcterms:created>
  <dcterms:modified xsi:type="dcterms:W3CDTF">2012-01-12T16:09:54Z</dcterms:modified>
</cp:coreProperties>
</file>