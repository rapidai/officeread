
<file path=[Content_Types].xml><?xml version="1.0" encoding="utf-8"?>
<Types xmlns="http://schemas.openxmlformats.org/package/2006/content-types">
  <Default Extension="bin" ContentType="application/vnd.openxmlformats-officedocument.presentationml.printerSettings"/>
  <Override PartName="/ppt/notesSlides/notesSlide24.xml" ContentType="application/vnd.openxmlformats-officedocument.presentationml.notesSlide+xml"/>
  <Override PartName="/ppt/slides/slide14.xml" ContentType="application/vnd.openxmlformats-officedocument.presentationml.slide+xml"/>
  <Default Extension="rels" ContentType="application/vnd.openxmlformats-package.relationships+xml"/>
  <Override PartName="/ppt/notesSlides/notesSlide16.xml" ContentType="application/vnd.openxmlformats-officedocument.presentationml.notesSlide+xml"/>
  <Default Extension="xml" ContentType="application/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slides/slide44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notesSlides/notesSlide8.xml" ContentType="application/vnd.openxmlformats-officedocument.presentationml.notesSlide+xml"/>
  <Default Extension="png" ContentType="image/png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43.xml" ContentType="application/vnd.openxmlformats-officedocument.presentationml.slide+xml"/>
  <Override PartName="/ppt/slides/slide26.xml" ContentType="application/vnd.openxmlformats-officedocument.presentationml.slide+xml"/>
  <Override PartName="/ppt/slides/slide35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2.xml" ContentType="application/vnd.openxmlformats-officedocument.presentationml.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slides/slide4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1.xml" ContentType="application/vnd.openxmlformats-officedocument.presentationml.slide+xml"/>
  <Override PartName="/ppt/theme/theme3.xml" ContentType="application/vnd.openxmlformats-officedocument.theme+xml"/>
  <Override PartName="/ppt/slides/slide24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notesSlides/notesSlide26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Default Extension="jpeg" ContentType="image/jpeg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0.xml" ContentType="application/vnd.openxmlformats-officedocument.presentationml.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notesSlides/notesSlide25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slides/slide38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Default Extension="pdf" ContentType="application/pd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 autoCompressPictures="0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8" r:id="rId3"/>
    <p:sldId id="259" r:id="rId4"/>
    <p:sldId id="31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01" r:id="rId22"/>
    <p:sldId id="286" r:id="rId23"/>
    <p:sldId id="287" r:id="rId24"/>
    <p:sldId id="288" r:id="rId25"/>
    <p:sldId id="296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5" r:id="rId36"/>
    <p:sldId id="289" r:id="rId37"/>
    <p:sldId id="284" r:id="rId38"/>
    <p:sldId id="291" r:id="rId39"/>
    <p:sldId id="290" r:id="rId40"/>
    <p:sldId id="292" r:id="rId41"/>
    <p:sldId id="293" r:id="rId42"/>
    <p:sldId id="294" r:id="rId43"/>
    <p:sldId id="303" r:id="rId44"/>
    <p:sldId id="304" r:id="rId45"/>
    <p:sldId id="295" r:id="rId46"/>
    <p:sldId id="305" r:id="rId47"/>
    <p:sldId id="306" r:id="rId48"/>
    <p:sldId id="307" r:id="rId49"/>
    <p:sldId id="297" r:id="rId50"/>
    <p:sldId id="298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599" autoAdjust="0"/>
    <p:restoredTop sz="94660"/>
  </p:normalViewPr>
  <p:slideViewPr>
    <p:cSldViewPr snapToGrid="0">
      <p:cViewPr varScale="1">
        <p:scale>
          <a:sx n="52" d="100"/>
          <a:sy n="52" d="100"/>
        </p:scale>
        <p:origin x="-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printerSettings" Target="printerSettings/printerSettings1.bin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F6303-1CBA-184F-952B-94BA1ECDCE55}" type="datetimeFigureOut">
              <a:rPr lang="en-US" smtClean="0"/>
              <a:pPr/>
              <a:t>5/26/10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A245C-3FFE-664B-8F5D-8C0F6EE0D1D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EB8BA-B519-2A4C-967E-E6FD0A9134CC}" type="datetimeFigureOut">
              <a:rPr lang="en-US" smtClean="0"/>
              <a:pPr/>
              <a:t>5/26/10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47F00-D6B5-A344-A814-C3562982DCD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Picture : Luc-Antoine Couturier (courtesy of Québec City Tourism)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of</a:t>
            </a:r>
            <a:r>
              <a:rPr lang="en-US" baseline="0" dirty="0" smtClean="0"/>
              <a:t> a great many resources now available, including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of</a:t>
            </a:r>
            <a:r>
              <a:rPr lang="en-US" baseline="0" dirty="0" smtClean="0"/>
              <a:t> a great many resources now available, including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Midlife: National Post, January 30, 2008.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Amari</a:t>
            </a:r>
            <a:r>
              <a:rPr lang="en-US" dirty="0" smtClean="0"/>
              <a:t> 1982 </a:t>
            </a:r>
            <a:r>
              <a:rPr lang="en-US" dirty="0" err="1" smtClean="0"/>
              <a:t>Biometrika</a:t>
            </a:r>
            <a:r>
              <a:rPr lang="en-US" dirty="0" smtClean="0"/>
              <a:t>; </a:t>
            </a:r>
            <a:r>
              <a:rPr lang="en-US" dirty="0" err="1" smtClean="0"/>
              <a:t>Efron</a:t>
            </a:r>
            <a:r>
              <a:rPr lang="en-US" dirty="0" smtClean="0"/>
              <a:t>, 1975</a:t>
            </a:r>
            <a:r>
              <a:rPr lang="en-US" baseline="0" dirty="0" smtClean="0"/>
              <a:t> Annals; 2</a:t>
            </a:r>
            <a:r>
              <a:rPr lang="en-US" baseline="30000" dirty="0" smtClean="0"/>
              <a:t>nd</a:t>
            </a:r>
            <a:r>
              <a:rPr lang="en-US" baseline="0" dirty="0" smtClean="0"/>
              <a:t> order efficiency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Fraser, Reid </a:t>
            </a:r>
            <a:r>
              <a:rPr lang="en-US" dirty="0" err="1" smtClean="0"/>
              <a:t>Jianrong</a:t>
            </a:r>
            <a:r>
              <a:rPr lang="en-US" dirty="0" smtClean="0"/>
              <a:t> Wu</a:t>
            </a:r>
            <a:r>
              <a:rPr lang="en-US" baseline="0" dirty="0" smtClean="0"/>
              <a:t> 1999</a:t>
            </a:r>
            <a:r>
              <a:rPr lang="en-US" dirty="0" smtClean="0"/>
              <a:t>; Reid 2003; Fraser 1990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Fraser, Reid </a:t>
            </a:r>
            <a:r>
              <a:rPr lang="en-US" dirty="0" err="1" smtClean="0"/>
              <a:t>Jianrong</a:t>
            </a:r>
            <a:r>
              <a:rPr lang="en-US" dirty="0" smtClean="0"/>
              <a:t> Wu</a:t>
            </a:r>
            <a:r>
              <a:rPr lang="en-US" baseline="0" dirty="0" smtClean="0"/>
              <a:t> 1999</a:t>
            </a:r>
            <a:r>
              <a:rPr lang="en-US" dirty="0" smtClean="0"/>
              <a:t>; Reid 2003; Fraser 1990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Davison, Fraser, Reid 2006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Davison Fraser Reid </a:t>
            </a:r>
            <a:r>
              <a:rPr lang="en-US" dirty="0" err="1" smtClean="0"/>
              <a:t>Sartori</a:t>
            </a:r>
            <a:r>
              <a:rPr lang="en-US" dirty="0" smtClean="0"/>
              <a:t>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Fraser Reid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Default</a:t>
            </a:r>
            <a:r>
              <a:rPr lang="en-US" baseline="0" dirty="0" smtClean="0"/>
              <a:t> priors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Ye Sun and Reid 2009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Heinrich 2003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Default</a:t>
            </a:r>
            <a:r>
              <a:rPr lang="en-US" baseline="0" dirty="0" smtClean="0"/>
              <a:t> priors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Varin</a:t>
            </a:r>
            <a:r>
              <a:rPr lang="en-US" dirty="0" smtClean="0"/>
              <a:t> and </a:t>
            </a:r>
            <a:r>
              <a:rPr lang="en-US" dirty="0" err="1" smtClean="0"/>
              <a:t>czado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Varin</a:t>
            </a:r>
            <a:r>
              <a:rPr lang="en-US" dirty="0" smtClean="0"/>
              <a:t> 2008; </a:t>
            </a:r>
            <a:r>
              <a:rPr lang="en-US" dirty="0" err="1" smtClean="0"/>
              <a:t>Varin</a:t>
            </a:r>
            <a:r>
              <a:rPr lang="en-US" dirty="0" smtClean="0"/>
              <a:t> Reid and Firth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Cox and </a:t>
            </a:r>
            <a:r>
              <a:rPr lang="en-US" dirty="0" err="1" smtClean="0"/>
              <a:t>reid</a:t>
            </a:r>
            <a:r>
              <a:rPr lang="en-US" dirty="0" smtClean="0"/>
              <a:t> 2004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Lindsay 1988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&lt;2-&gt; 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</a:t>
            </a:r>
            <a:r>
              <a:rPr lang="en-US" dirty="0" err="1" smtClean="0"/>
              <a:t>Molenberghs</a:t>
            </a:r>
            <a:r>
              <a:rPr lang="en-US" dirty="0" smtClean="0"/>
              <a:t> and </a:t>
            </a:r>
            <a:r>
              <a:rPr lang="en-US" dirty="0" err="1" smtClean="0"/>
              <a:t>Verbeke</a:t>
            </a:r>
            <a:r>
              <a:rPr lang="en-US" dirty="0" smtClean="0"/>
              <a:t>, 2005, Ch.~9; Zhao \&amp; Joe, 2005}}\\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&lt;4-&gt;\</a:t>
            </a:r>
            <a:r>
              <a:rPr lang="en-US" dirty="0" err="1" smtClean="0"/>
              <a:t>hfill{\footnotesize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</a:t>
            </a:r>
            <a:r>
              <a:rPr lang="en-US" dirty="0" err="1" smtClean="0"/>
              <a:t>Parner</a:t>
            </a:r>
            <a:r>
              <a:rPr lang="en-US" dirty="0" smtClean="0"/>
              <a:t>, 2001; Andersen, 2004; </a:t>
            </a:r>
            <a:r>
              <a:rPr lang="en-US" dirty="0" err="1" smtClean="0"/>
              <a:t>Fiocco</a:t>
            </a:r>
            <a:r>
              <a:rPr lang="en-US" dirty="0" smtClean="0"/>
              <a:t> et al., 2009}}\\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&lt;6-&gt; 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footnotesize{\color{gray</a:t>
            </a:r>
            <a:r>
              <a:rPr lang="en-US" dirty="0" smtClean="0"/>
              <a:t>} de Leon and </a:t>
            </a:r>
            <a:r>
              <a:rPr lang="en-US" dirty="0" err="1" smtClean="0"/>
              <a:t>Carriere</a:t>
            </a:r>
            <a:r>
              <a:rPr lang="en-US" dirty="0" smtClean="0"/>
              <a:t>, 2007; </a:t>
            </a:r>
            <a:r>
              <a:rPr lang="en-US" dirty="0" err="1" smtClean="0"/>
              <a:t>Fieuws</a:t>
            </a:r>
            <a:r>
              <a:rPr lang="en-US" dirty="0" smtClean="0"/>
              <a:t> et al.,2007}}\\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&lt;8-&gt;\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Engle et al., 2009}}\\</a:t>
            </a:r>
          </a:p>
          <a:p>
            <a:r>
              <a:rPr lang="en-US" dirty="0" smtClean="0"/>
              <a:t>literature \\</a:t>
            </a:r>
          </a:p>
          <a:p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&lt;10-&gt;\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footnotesize{\color{gray}Tamura</a:t>
            </a:r>
            <a:r>
              <a:rPr lang="en-US" dirty="0" smtClean="0"/>
              <a:t> et al.,2007; Li, 2008; </a:t>
            </a:r>
            <a:r>
              <a:rPr lang="en-US" dirty="0" err="1" smtClean="0"/>
              <a:t>Mardia</a:t>
            </a:r>
            <a:r>
              <a:rPr lang="en-US" dirty="0" smtClean="0"/>
              <a:t> et al.,2009}}\\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&lt;13-&gt;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Stein, 2004; </a:t>
            </a:r>
            <a:r>
              <a:rPr lang="en-US" dirty="0" err="1" smtClean="0"/>
              <a:t>Caragea</a:t>
            </a:r>
            <a:r>
              <a:rPr lang="en-US" dirty="0" smtClean="0"/>
              <a:t> and Smith, 2008; </a:t>
            </a:r>
            <a:r>
              <a:rPr lang="en-US" dirty="0" err="1" smtClean="0"/>
              <a:t>Varin</a:t>
            </a:r>
            <a:r>
              <a:rPr lang="en-US" dirty="0" smtClean="0"/>
              <a:t> et al., 2005;  ...}}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&lt;2-&gt; 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</a:t>
            </a:r>
            <a:r>
              <a:rPr lang="en-US" dirty="0" err="1" smtClean="0"/>
              <a:t>Molenberghs</a:t>
            </a:r>
            <a:r>
              <a:rPr lang="en-US" dirty="0" smtClean="0"/>
              <a:t> and </a:t>
            </a:r>
            <a:r>
              <a:rPr lang="en-US" dirty="0" err="1" smtClean="0"/>
              <a:t>Verbeke</a:t>
            </a:r>
            <a:r>
              <a:rPr lang="en-US" dirty="0" smtClean="0"/>
              <a:t>, 2005, Ch.~9; Zhao \&amp; Joe, 2005}}\\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&lt;4-&gt;\</a:t>
            </a:r>
            <a:r>
              <a:rPr lang="en-US" dirty="0" err="1" smtClean="0"/>
              <a:t>hfill{\footnotesize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</a:t>
            </a:r>
            <a:r>
              <a:rPr lang="en-US" dirty="0" err="1" smtClean="0"/>
              <a:t>Parner</a:t>
            </a:r>
            <a:r>
              <a:rPr lang="en-US" dirty="0" smtClean="0"/>
              <a:t>, 2001; Andersen, 2004; </a:t>
            </a:r>
            <a:r>
              <a:rPr lang="en-US" dirty="0" err="1" smtClean="0"/>
              <a:t>Fiocco</a:t>
            </a:r>
            <a:r>
              <a:rPr lang="en-US" dirty="0" smtClean="0"/>
              <a:t> et al., 2009}}\\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&lt;6-&gt; 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footnotesize{\color{gray</a:t>
            </a:r>
            <a:r>
              <a:rPr lang="en-US" dirty="0" smtClean="0"/>
              <a:t>} de Leon and </a:t>
            </a:r>
            <a:r>
              <a:rPr lang="en-US" dirty="0" err="1" smtClean="0"/>
              <a:t>Carriere</a:t>
            </a:r>
            <a:r>
              <a:rPr lang="en-US" dirty="0" smtClean="0"/>
              <a:t>, 2007; </a:t>
            </a:r>
            <a:r>
              <a:rPr lang="en-US" dirty="0" err="1" smtClean="0"/>
              <a:t>Fieuws</a:t>
            </a:r>
            <a:r>
              <a:rPr lang="en-US" dirty="0" smtClean="0"/>
              <a:t> et al.,2007}}\\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&lt;8-&gt;\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Engle et al., 2009}}\\</a:t>
            </a:r>
          </a:p>
          <a:p>
            <a:r>
              <a:rPr lang="en-US" dirty="0" smtClean="0"/>
              <a:t>literature \\</a:t>
            </a:r>
          </a:p>
          <a:p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&lt;10-&gt;\</a:t>
            </a:r>
            <a:r>
              <a:rPr lang="en-US" dirty="0" err="1" smtClean="0"/>
              <a:t>hfill</a:t>
            </a:r>
            <a:r>
              <a:rPr lang="en-US" dirty="0" smtClean="0"/>
              <a:t> {\</a:t>
            </a:r>
            <a:r>
              <a:rPr lang="en-US" dirty="0" err="1" smtClean="0"/>
              <a:t>footnotesize{\color{gray}Tamura</a:t>
            </a:r>
            <a:r>
              <a:rPr lang="en-US" dirty="0" smtClean="0"/>
              <a:t> et al.,2007; Li, 2008; </a:t>
            </a:r>
            <a:r>
              <a:rPr lang="en-US" dirty="0" err="1" smtClean="0"/>
              <a:t>Mardia</a:t>
            </a:r>
            <a:r>
              <a:rPr lang="en-US" dirty="0" smtClean="0"/>
              <a:t> et al.,2009}}\\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\</a:t>
            </a:r>
            <a:r>
              <a:rPr lang="en-US" dirty="0" err="1" smtClean="0"/>
              <a:t>onslide</a:t>
            </a:r>
            <a:r>
              <a:rPr lang="en-US" dirty="0" smtClean="0"/>
              <a:t>&lt;13-&gt; {\</a:t>
            </a:r>
            <a:r>
              <a:rPr lang="en-US" dirty="0" err="1" smtClean="0"/>
              <a:t>footnotesize</a:t>
            </a:r>
            <a:r>
              <a:rPr lang="en-US" dirty="0" smtClean="0"/>
              <a:t> {\</a:t>
            </a:r>
            <a:r>
              <a:rPr lang="en-US" dirty="0" err="1" smtClean="0"/>
              <a:t>color{gray</a:t>
            </a:r>
            <a:r>
              <a:rPr lang="en-US" dirty="0" smtClean="0"/>
              <a:t>} Stein, 2004; </a:t>
            </a:r>
            <a:r>
              <a:rPr lang="en-US" dirty="0" err="1" smtClean="0"/>
              <a:t>Caragea</a:t>
            </a:r>
            <a:r>
              <a:rPr lang="en-US" dirty="0" smtClean="0"/>
              <a:t> and Smith, 2008; </a:t>
            </a:r>
            <a:r>
              <a:rPr lang="en-US" dirty="0" err="1" smtClean="0"/>
              <a:t>Varin</a:t>
            </a:r>
            <a:r>
              <a:rPr lang="en-US" dirty="0" smtClean="0"/>
              <a:t> et al., 2005;  ...}}</a:t>
            </a:r>
          </a:p>
          <a:p>
            <a:r>
              <a:rPr lang="en-US" dirty="0" smtClean="0"/>
              <a:t>NottandRyden,1999 Fearnhead,2008;Song,2008</a:t>
            </a:r>
          </a:p>
          <a:p>
            <a:r>
              <a:rPr lang="en-US" dirty="0" smtClean="0"/>
              <a:t>LarribeandLessard,2008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 subscript here from</a:t>
            </a:r>
            <a:r>
              <a:rPr lang="en-US" baseline="0" dirty="0" smtClean="0"/>
              <a:t> NSF report and Wasserman/Genovese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 subscript here from</a:t>
            </a:r>
            <a:r>
              <a:rPr lang="en-US" baseline="0" dirty="0" smtClean="0"/>
              <a:t> NSF report and Wasserman/Genovese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 subscript here from</a:t>
            </a:r>
            <a:r>
              <a:rPr lang="en-US" baseline="0" dirty="0" smtClean="0"/>
              <a:t> NSF report and Wasserman/Genovese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http://epiac1216.wordpress.com/2008/09/23/origins-of-the-phrase-pie-in-the-sky/  for photo credit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 we’re doomed!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 we’re doomed!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TRADUCTION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47F00-D6B5-A344-A814-C3562982DCD9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CA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CA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496C960-140D-1947-92CA-0C3F581D88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r>
              <a:rPr lang="en-CA" smtClean="0"/>
              <a:t>Theory of statistics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SSC  2010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CA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CA" dirty="0" smtClean="0"/>
              <a:t>Click to edit Master text styles</a:t>
            </a:r>
          </a:p>
          <a:p>
            <a:pPr lvl="1" eaLnBrk="1" latinLnBrk="0" hangingPunct="1"/>
            <a:r>
              <a:rPr kumimoji="0" lang="en-CA" dirty="0" smtClean="0"/>
              <a:t>Second level</a:t>
            </a:r>
          </a:p>
          <a:p>
            <a:pPr lvl="2" eaLnBrk="1" latinLnBrk="0" hangingPunct="1"/>
            <a:r>
              <a:rPr kumimoji="0" lang="en-CA" dirty="0" smtClean="0"/>
              <a:t>Third level</a:t>
            </a:r>
          </a:p>
          <a:p>
            <a:pPr lvl="3" eaLnBrk="1" latinLnBrk="0" hangingPunct="1"/>
            <a:r>
              <a:rPr kumimoji="0" lang="en-CA" dirty="0" smtClean="0"/>
              <a:t>Fourth level</a:t>
            </a:r>
          </a:p>
          <a:p>
            <a:pPr lvl="4" eaLnBrk="1" latinLnBrk="0" hangingPunct="1"/>
            <a:r>
              <a:rPr kumimoji="0" lang="en-CA" dirty="0" smtClean="0"/>
              <a:t>Fifth level</a:t>
            </a:r>
            <a:endParaRPr kumimoji="0" lang="en-US" dirty="0"/>
          </a:p>
        </p:txBody>
      </p:sp>
      <p:pic>
        <p:nvPicPr>
          <p:cNvPr id="20" name="Picture 19" descr="qc.png"/>
          <p:cNvPicPr>
            <a:picLocks noChangeAspect="1"/>
          </p:cNvPicPr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4800" y="155448"/>
            <a:ext cx="1073150" cy="11866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/>
  <p:txStyles>
    <p:titleStyle>
      <a:lvl1pPr algn="ctr" rtl="0" eaLnBrk="1" latinLnBrk="0" hangingPunct="1">
        <a:spcBef>
          <a:spcPct val="0"/>
        </a:spcBef>
        <a:buNone/>
        <a:defRPr kumimoji="0" sz="3600" kern="1200">
          <a:solidFill>
            <a:schemeClr val="accent3">
              <a:shade val="75000"/>
            </a:schemeClr>
          </a:solidFill>
          <a:latin typeface="Calibri"/>
          <a:ea typeface="+mj-ea"/>
          <a:cs typeface="Calibri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Calibri"/>
          <a:ea typeface="+mn-ea"/>
          <a:cs typeface="Calibri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400" kern="1200">
          <a:solidFill>
            <a:schemeClr val="tx2"/>
          </a:solidFill>
          <a:latin typeface="Calibri"/>
          <a:ea typeface="+mn-ea"/>
          <a:cs typeface="Calibri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8" Type="http://schemas.openxmlformats.org/officeDocument/2006/relationships/image" Target="../media/image14.jpeg"/><Relationship Id="rId9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df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df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0.png"/><Relationship Id="rId12" Type="http://schemas.openxmlformats.org/officeDocument/2006/relationships/image" Target="../media/image31.pdf"/><Relationship Id="rId13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5" Type="http://schemas.openxmlformats.org/officeDocument/2006/relationships/image" Target="../media/image24.pdf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df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df"/><Relationship Id="rId5" Type="http://schemas.openxmlformats.org/officeDocument/2006/relationships/image" Target="../media/image36.png"/><Relationship Id="rId6" Type="http://schemas.openxmlformats.org/officeDocument/2006/relationships/image" Target="../media/image37.pdf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d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1.pdf"/><Relationship Id="rId5" Type="http://schemas.openxmlformats.org/officeDocument/2006/relationships/image" Target="../media/image42.png"/><Relationship Id="rId6" Type="http://schemas.openxmlformats.org/officeDocument/2006/relationships/image" Target="../media/image43.pdf"/><Relationship Id="rId7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df"/></Relationships>
</file>

<file path=ppt/slides/_rels/slide1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4.png"/><Relationship Id="rId12" Type="http://schemas.openxmlformats.org/officeDocument/2006/relationships/image" Target="../media/image55.pdf"/><Relationship Id="rId13" Type="http://schemas.openxmlformats.org/officeDocument/2006/relationships/image" Target="../media/image56.png"/><Relationship Id="rId14" Type="http://schemas.openxmlformats.org/officeDocument/2006/relationships/image" Target="../media/image57.pdf"/><Relationship Id="rId15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df"/><Relationship Id="rId3" Type="http://schemas.openxmlformats.org/officeDocument/2006/relationships/image" Target="../media/image46.png"/><Relationship Id="rId4" Type="http://schemas.openxmlformats.org/officeDocument/2006/relationships/image" Target="../media/image47.pdf"/><Relationship Id="rId5" Type="http://schemas.openxmlformats.org/officeDocument/2006/relationships/image" Target="../media/image48.png"/><Relationship Id="rId6" Type="http://schemas.openxmlformats.org/officeDocument/2006/relationships/image" Target="../media/image49.pdf"/><Relationship Id="rId7" Type="http://schemas.openxmlformats.org/officeDocument/2006/relationships/image" Target="../media/image50.png"/><Relationship Id="rId8" Type="http://schemas.openxmlformats.org/officeDocument/2006/relationships/image" Target="../media/image51.pdf"/><Relationship Id="rId9" Type="http://schemas.openxmlformats.org/officeDocument/2006/relationships/image" Target="../media/image52.png"/><Relationship Id="rId10" Type="http://schemas.openxmlformats.org/officeDocument/2006/relationships/image" Target="../media/image53.pd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4" Type="http://schemas.openxmlformats.org/officeDocument/2006/relationships/image" Target="../media/image61.pdf"/><Relationship Id="rId5" Type="http://schemas.openxmlformats.org/officeDocument/2006/relationships/image" Target="../media/image62.png"/><Relationship Id="rId6" Type="http://schemas.openxmlformats.org/officeDocument/2006/relationships/image" Target="../media/image63.pdf"/><Relationship Id="rId7" Type="http://schemas.openxmlformats.org/officeDocument/2006/relationships/image" Target="../media/image64.png"/><Relationship Id="rId8" Type="http://schemas.openxmlformats.org/officeDocument/2006/relationships/image" Target="../media/image65.pdf"/><Relationship Id="rId9" Type="http://schemas.openxmlformats.org/officeDocument/2006/relationships/image" Target="../media/image66.png"/><Relationship Id="rId10" Type="http://schemas.openxmlformats.org/officeDocument/2006/relationships/image" Target="../media/image67.pdf"/><Relationship Id="rId11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d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4" Type="http://schemas.openxmlformats.org/officeDocument/2006/relationships/image" Target="../media/image71.pdf"/><Relationship Id="rId5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d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df"/><Relationship Id="rId3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df"/><Relationship Id="rId3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df"/><Relationship Id="rId3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4" Type="http://schemas.openxmlformats.org/officeDocument/2006/relationships/image" Target="../media/image79.pdf"/><Relationship Id="rId5" Type="http://schemas.openxmlformats.org/officeDocument/2006/relationships/image" Target="../media/image80.png"/><Relationship Id="rId6" Type="http://schemas.openxmlformats.org/officeDocument/2006/relationships/image" Target="../media/image81.pdf"/><Relationship Id="rId7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d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df"/><Relationship Id="rId5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d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df"/><Relationship Id="rId4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df"/><Relationship Id="rId4" Type="http://schemas.openxmlformats.org/officeDocument/2006/relationships/image" Target="../media/image76.png"/><Relationship Id="rId5" Type="http://schemas.openxmlformats.org/officeDocument/2006/relationships/image" Target="../media/image91.pdf"/><Relationship Id="rId6" Type="http://schemas.openxmlformats.org/officeDocument/2006/relationships/image" Target="../media/image92.png"/><Relationship Id="rId7" Type="http://schemas.openxmlformats.org/officeDocument/2006/relationships/image" Target="../media/image93.pdf"/><Relationship Id="rId8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df"/><Relationship Id="rId4" Type="http://schemas.openxmlformats.org/officeDocument/2006/relationships/image" Target="../media/image96.png"/><Relationship Id="rId5" Type="http://schemas.openxmlformats.org/officeDocument/2006/relationships/image" Target="../media/image97.pdf"/><Relationship Id="rId6" Type="http://schemas.openxmlformats.org/officeDocument/2006/relationships/image" Target="../media/image98.png"/><Relationship Id="rId7" Type="http://schemas.openxmlformats.org/officeDocument/2006/relationships/image" Target="../media/image99.pdf"/><Relationship Id="rId8" Type="http://schemas.openxmlformats.org/officeDocument/2006/relationships/image" Target="../media/image100.png"/><Relationship Id="rId9" Type="http://schemas.openxmlformats.org/officeDocument/2006/relationships/image" Target="../media/image101.pdf"/><Relationship Id="rId10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df"/><Relationship Id="rId4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4" Type="http://schemas.openxmlformats.org/officeDocument/2006/relationships/image" Target="../media/image106.pdf"/><Relationship Id="rId5" Type="http://schemas.openxmlformats.org/officeDocument/2006/relationships/image" Target="../media/image107.png"/><Relationship Id="rId6" Type="http://schemas.openxmlformats.org/officeDocument/2006/relationships/image" Target="../media/image108.pdf"/><Relationship Id="rId7" Type="http://schemas.openxmlformats.org/officeDocument/2006/relationships/image" Target="../media/image109.png"/><Relationship Id="rId8" Type="http://schemas.openxmlformats.org/officeDocument/2006/relationships/image" Target="../media/image110.pdf"/><Relationship Id="rId9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d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0.pdf"/><Relationship Id="rId1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2.pdf"/><Relationship Id="rId4" Type="http://schemas.openxmlformats.org/officeDocument/2006/relationships/image" Target="../media/image113.png"/><Relationship Id="rId5" Type="http://schemas.openxmlformats.org/officeDocument/2006/relationships/image" Target="../media/image114.pdf"/><Relationship Id="rId6" Type="http://schemas.openxmlformats.org/officeDocument/2006/relationships/image" Target="../media/image115.png"/><Relationship Id="rId7" Type="http://schemas.openxmlformats.org/officeDocument/2006/relationships/image" Target="../media/image116.pdf"/><Relationship Id="rId8" Type="http://schemas.openxmlformats.org/officeDocument/2006/relationships/image" Target="../media/image117.png"/><Relationship Id="rId9" Type="http://schemas.openxmlformats.org/officeDocument/2006/relationships/image" Target="../media/image118.pdf"/><Relationship Id="rId10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df"/><Relationship Id="rId3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df"/><Relationship Id="rId4" Type="http://schemas.openxmlformats.org/officeDocument/2006/relationships/image" Target="../media/image125.png"/><Relationship Id="rId5" Type="http://schemas.openxmlformats.org/officeDocument/2006/relationships/image" Target="../media/image126.pdf"/><Relationship Id="rId6" Type="http://schemas.openxmlformats.org/officeDocument/2006/relationships/image" Target="../media/image127.png"/><Relationship Id="rId7" Type="http://schemas.openxmlformats.org/officeDocument/2006/relationships/image" Target="../media/image128.pdf"/><Relationship Id="rId8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38.pdf"/><Relationship Id="rId12" Type="http://schemas.openxmlformats.org/officeDocument/2006/relationships/image" Target="../media/image139.png"/><Relationship Id="rId13" Type="http://schemas.openxmlformats.org/officeDocument/2006/relationships/image" Target="../media/image140.pdf"/><Relationship Id="rId14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0.pdf"/><Relationship Id="rId4" Type="http://schemas.openxmlformats.org/officeDocument/2006/relationships/image" Target="../media/image131.png"/><Relationship Id="rId5" Type="http://schemas.openxmlformats.org/officeDocument/2006/relationships/image" Target="../media/image132.pdf"/><Relationship Id="rId6" Type="http://schemas.openxmlformats.org/officeDocument/2006/relationships/image" Target="../media/image133.png"/><Relationship Id="rId7" Type="http://schemas.openxmlformats.org/officeDocument/2006/relationships/image" Target="../media/image134.pdf"/><Relationship Id="rId8" Type="http://schemas.openxmlformats.org/officeDocument/2006/relationships/image" Target="../media/image135.png"/><Relationship Id="rId9" Type="http://schemas.openxmlformats.org/officeDocument/2006/relationships/image" Target="../media/image136.pdf"/><Relationship Id="rId10" Type="http://schemas.openxmlformats.org/officeDocument/2006/relationships/image" Target="../media/image137.png"/></Relationships>
</file>

<file path=ppt/slides/_rels/slide3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50.pdf"/><Relationship Id="rId1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2.pdf"/><Relationship Id="rId4" Type="http://schemas.openxmlformats.org/officeDocument/2006/relationships/image" Target="../media/image143.png"/><Relationship Id="rId5" Type="http://schemas.openxmlformats.org/officeDocument/2006/relationships/image" Target="../media/image144.pdf"/><Relationship Id="rId6" Type="http://schemas.openxmlformats.org/officeDocument/2006/relationships/image" Target="../media/image145.png"/><Relationship Id="rId7" Type="http://schemas.openxmlformats.org/officeDocument/2006/relationships/image" Target="../media/image146.pdf"/><Relationship Id="rId8" Type="http://schemas.openxmlformats.org/officeDocument/2006/relationships/image" Target="../media/image147.png"/><Relationship Id="rId9" Type="http://schemas.openxmlformats.org/officeDocument/2006/relationships/image" Target="../media/image148.pdf"/><Relationship Id="rId10" Type="http://schemas.openxmlformats.org/officeDocument/2006/relationships/image" Target="../media/image14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df"/><Relationship Id="rId4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covery.gov/Transparency/RecipientReportedData/Pages/RecipientReportedDataMap.aspx" TargetMode="External"/><Relationship Id="rId3" Type="http://schemas.openxmlformats.org/officeDocument/2006/relationships/image" Target="../media/image15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nseaboutscience.org.uk/" TargetMode="External"/><Relationship Id="rId4" Type="http://schemas.openxmlformats.org/officeDocument/2006/relationships/hyperlink" Target="http://epiac1216.wordpress.com/2008/09/23/origins-of-the-phrase-pie-in-the-sky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58952"/>
          </a:xfrm>
        </p:spPr>
        <p:txBody>
          <a:bodyPr>
            <a:normAutofit/>
          </a:bodyPr>
          <a:lstStyle/>
          <a:p>
            <a:r>
              <a:rPr lang="en-US" dirty="0" smtClean="0"/>
              <a:t>Thoughts on the theory of statistics</a:t>
            </a:r>
            <a:endParaRPr lang="en-US" dirty="0"/>
          </a:p>
        </p:txBody>
      </p:sp>
      <p:pic>
        <p:nvPicPr>
          <p:cNvPr id="6" name="Content Placeholder 5" descr="qc.png"/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l="-52843" r="-52843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3645019" y="987553"/>
            <a:ext cx="185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Nancy Reid</a:t>
            </a:r>
            <a:endParaRPr lang="en-US" sz="2400" dirty="0"/>
          </a:p>
        </p:txBody>
      </p:sp>
      <p:pic>
        <p:nvPicPr>
          <p:cNvPr id="8" name="Picture 7" descr="sscmt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5495925"/>
            <a:ext cx="7378700" cy="990600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Statistics in 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“Statistical science is undergoing unprecedented growth in both opportunity and activity”</a:t>
            </a:r>
          </a:p>
          <a:p>
            <a:r>
              <a:rPr lang="en-US" dirty="0" smtClean="0"/>
              <a:t>High energy physics</a:t>
            </a:r>
          </a:p>
          <a:p>
            <a:r>
              <a:rPr lang="en-US" dirty="0" smtClean="0"/>
              <a:t>Art history </a:t>
            </a:r>
          </a:p>
          <a:p>
            <a:r>
              <a:rPr lang="en-US" dirty="0" smtClean="0"/>
              <a:t>Reality mining</a:t>
            </a:r>
          </a:p>
          <a:p>
            <a:r>
              <a:rPr lang="en-US" dirty="0" smtClean="0"/>
              <a:t>Bioinformatics</a:t>
            </a:r>
          </a:p>
          <a:p>
            <a:r>
              <a:rPr lang="en-US" dirty="0" smtClean="0"/>
              <a:t>Complex surveys</a:t>
            </a:r>
          </a:p>
          <a:p>
            <a:r>
              <a:rPr lang="en-US" dirty="0" smtClean="0"/>
              <a:t>Climate and environment</a:t>
            </a:r>
          </a:p>
          <a:p>
            <a:r>
              <a:rPr lang="en-US" dirty="0" smtClean="0"/>
              <a:t>SSC 2010 … </a:t>
            </a:r>
            <a:endParaRPr lang="en-US" dirty="0"/>
          </a:p>
        </p:txBody>
      </p:sp>
      <p:pic>
        <p:nvPicPr>
          <p:cNvPr id="4" name="Picture 3" descr="berger_lyons_reid_babu_bai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00" y="2794000"/>
            <a:ext cx="4848000" cy="3636000"/>
          </a:xfrm>
          <a:prstGeom prst="rect">
            <a:avLst/>
          </a:prstGeom>
        </p:spPr>
      </p:pic>
      <p:pic>
        <p:nvPicPr>
          <p:cNvPr id="5" name="Picture 4" descr="lh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532" y="3572933"/>
            <a:ext cx="4964467" cy="2857067"/>
          </a:xfrm>
          <a:prstGeom prst="rect">
            <a:avLst/>
          </a:prstGeom>
        </p:spPr>
      </p:pic>
      <p:pic>
        <p:nvPicPr>
          <p:cNvPr id="6" name="Picture 5" descr="so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333" y="1998133"/>
            <a:ext cx="3546089" cy="4650353"/>
          </a:xfrm>
          <a:prstGeom prst="rect">
            <a:avLst/>
          </a:prstGeom>
        </p:spPr>
      </p:pic>
      <p:pic>
        <p:nvPicPr>
          <p:cNvPr id="7" name="Picture 6" descr="rea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705" y="3001412"/>
            <a:ext cx="5024967" cy="34285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534400" cy="758952"/>
          </a:xfrm>
        </p:spPr>
        <p:txBody>
          <a:bodyPr/>
          <a:lstStyle/>
          <a:p>
            <a:r>
              <a:rPr lang="en-US" dirty="0" smtClean="0"/>
              <a:t>      Statistical Thinking                      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83800"/>
          </a:xfrm>
        </p:spPr>
        <p:txBody>
          <a:bodyPr wrap="square">
            <a:noAutofit/>
          </a:bodyPr>
          <a:lstStyle/>
          <a:p>
            <a:r>
              <a:rPr lang="en-US" sz="2800" dirty="0" smtClean="0"/>
              <a:t>Dramatic increase in resources now available</a:t>
            </a:r>
          </a:p>
          <a:p>
            <a:endParaRPr lang="en-US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pic>
        <p:nvPicPr>
          <p:cNvPr id="11" name="Picture 10" descr="moreorl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3" y="2219827"/>
            <a:ext cx="7457483" cy="3060000"/>
          </a:xfrm>
          <a:prstGeom prst="rect">
            <a:avLst/>
          </a:prstGeom>
        </p:spPr>
      </p:pic>
      <p:pic>
        <p:nvPicPr>
          <p:cNvPr id="12" name="Picture 11" descr="Screen shot 2010-05-24 at 3.21.40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52352"/>
            <a:ext cx="9144000" cy="1953296"/>
          </a:xfrm>
          <a:prstGeom prst="rect">
            <a:avLst/>
          </a:prstGeom>
        </p:spPr>
      </p:pic>
      <p:pic>
        <p:nvPicPr>
          <p:cNvPr id="13" name="Picture 12" descr="Screen shot 2010-05-24 at 3.22.49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82270"/>
            <a:ext cx="9144000" cy="1493459"/>
          </a:xfrm>
          <a:prstGeom prst="rect">
            <a:avLst/>
          </a:prstGeom>
        </p:spPr>
      </p:pic>
      <p:pic>
        <p:nvPicPr>
          <p:cNvPr id="14" name="Picture 13" descr="Screen shot 2010-05-24 at 3.23.15 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197422"/>
            <a:ext cx="7391400" cy="3238500"/>
          </a:xfrm>
          <a:prstGeom prst="rect">
            <a:avLst/>
          </a:prstGeom>
        </p:spPr>
      </p:pic>
      <p:pic>
        <p:nvPicPr>
          <p:cNvPr id="15" name="Picture 14" descr="stru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36" y="2810042"/>
            <a:ext cx="1574800" cy="2387600"/>
          </a:xfrm>
          <a:prstGeom prst="rect">
            <a:avLst/>
          </a:prstGeom>
        </p:spPr>
      </p:pic>
      <p:pic>
        <p:nvPicPr>
          <p:cNvPr id="16" name="Picture 15" descr="significan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4659" y="2780631"/>
            <a:ext cx="1754682" cy="2412000"/>
          </a:xfrm>
          <a:prstGeom prst="rect">
            <a:avLst/>
          </a:prstGeom>
        </p:spPr>
      </p:pic>
      <p:pic>
        <p:nvPicPr>
          <p:cNvPr id="17" name="Picture 16" descr="b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4232" y="2752892"/>
            <a:ext cx="1608000" cy="241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84" y="228600"/>
            <a:ext cx="8534400" cy="758952"/>
          </a:xfrm>
        </p:spPr>
        <p:txBody>
          <a:bodyPr/>
          <a:lstStyle/>
          <a:p>
            <a:pPr algn="r"/>
            <a:r>
              <a:rPr lang="en-US" dirty="0" smtClean="0"/>
              <a:t>Statistical Thinking                      </a:t>
            </a:r>
            <a:r>
              <a:rPr lang="en-US" baseline="30000" dirty="0" smtClean="0"/>
              <a:t>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83800"/>
          </a:xfrm>
        </p:spPr>
        <p:txBody>
          <a:bodyPr wrap="square">
            <a:noAutofit/>
          </a:bodyPr>
          <a:lstStyle/>
          <a:p>
            <a:r>
              <a:rPr lang="en-US" sz="2800" dirty="0" smtClean="0"/>
              <a:t>If a statistic was the answer, what was the question?</a:t>
            </a:r>
          </a:p>
          <a:p>
            <a:pPr lvl="1"/>
            <a:r>
              <a:rPr lang="en-US" sz="2800" dirty="0" smtClean="0"/>
              <a:t>What are we counting?</a:t>
            </a:r>
          </a:p>
          <a:p>
            <a:r>
              <a:rPr lang="en-US" sz="2800" dirty="0" smtClean="0"/>
              <a:t>Common pitfalls</a:t>
            </a:r>
          </a:p>
          <a:p>
            <a:pPr lvl="1"/>
            <a:r>
              <a:rPr lang="en-US" sz="2800" dirty="0" smtClean="0"/>
              <a:t>means, medians and outliers</a:t>
            </a:r>
          </a:p>
          <a:p>
            <a:r>
              <a:rPr lang="en-US" sz="2800" dirty="0" smtClean="0"/>
              <a:t>How sure are we?</a:t>
            </a:r>
          </a:p>
          <a:p>
            <a:pPr lvl="1"/>
            <a:r>
              <a:rPr lang="en-US" sz="2800" dirty="0" smtClean="0"/>
              <a:t>statistical significance and confidence</a:t>
            </a:r>
          </a:p>
          <a:p>
            <a:r>
              <a:rPr lang="en-US" sz="2800" dirty="0" smtClean="0"/>
              <a:t>Percentages and risk</a:t>
            </a:r>
          </a:p>
          <a:p>
            <a:pPr lvl="1"/>
            <a:r>
              <a:rPr lang="en-US" sz="2800" dirty="0" smtClean="0"/>
              <a:t>relative and absolute change</a:t>
            </a:r>
            <a:endParaRPr lang="en-US" sz="2800" dirty="0"/>
          </a:p>
        </p:txBody>
      </p:sp>
      <p:pic>
        <p:nvPicPr>
          <p:cNvPr id="8" name="Picture 7" descr="s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58" y="2230851"/>
            <a:ext cx="8861484" cy="2396298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pic>
        <p:nvPicPr>
          <p:cNvPr id="9" name="Picture 8" descr="histogram.png"/>
          <p:cNvPicPr>
            <a:picLocks noChangeAspect="1"/>
          </p:cNvPicPr>
          <p:nvPr/>
        </p:nvPicPr>
        <p:blipFill>
          <a:blip r:embed="rId4">
            <a:alphaModFix amt="34000"/>
          </a:blip>
          <a:stretch>
            <a:fillRect/>
          </a:stretch>
        </p:blipFill>
        <p:spPr>
          <a:xfrm>
            <a:off x="306324" y="4572000"/>
            <a:ext cx="8531352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theory for 20xx	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What should we be teaching?</a:t>
            </a:r>
          </a:p>
          <a:p>
            <a:r>
              <a:rPr lang="en-US" dirty="0" smtClean="0"/>
              <a:t>If a statistic was the answer, what was the question?</a:t>
            </a:r>
          </a:p>
          <a:p>
            <a:pPr lvl="1"/>
            <a:r>
              <a:rPr lang="en-US" sz="2800" dirty="0" smtClean="0"/>
              <a:t>Design of experiments and surveys</a:t>
            </a:r>
          </a:p>
          <a:p>
            <a:r>
              <a:rPr lang="en-US" dirty="0" smtClean="0"/>
              <a:t>Common pitfalls</a:t>
            </a:r>
          </a:p>
          <a:p>
            <a:pPr lvl="1"/>
            <a:r>
              <a:rPr lang="en-US" sz="2800" dirty="0" smtClean="0"/>
              <a:t>Summary statistics: sufficiency etc.</a:t>
            </a:r>
          </a:p>
          <a:p>
            <a:r>
              <a:rPr lang="en-US" dirty="0" smtClean="0"/>
              <a:t>How sure are we?</a:t>
            </a:r>
          </a:p>
          <a:p>
            <a:pPr lvl="1"/>
            <a:r>
              <a:rPr lang="en-US" sz="2800" dirty="0" smtClean="0"/>
              <a:t>Inference</a:t>
            </a:r>
          </a:p>
          <a:p>
            <a:r>
              <a:rPr lang="en-US" dirty="0" smtClean="0"/>
              <a:t>Percentages and risk</a:t>
            </a:r>
          </a:p>
          <a:p>
            <a:pPr lvl="1"/>
            <a:r>
              <a:rPr lang="en-US" sz="2800" dirty="0" smtClean="0"/>
              <a:t>Interpretation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pic>
        <p:nvPicPr>
          <p:cNvPr id="7" name="Picture 6" descr="histogram.png"/>
          <p:cNvPicPr>
            <a:picLocks noChangeAspect="1"/>
          </p:cNvPicPr>
          <p:nvPr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304801" y="4572000"/>
            <a:ext cx="8531352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4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580D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6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580D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and likelihood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Modelling</a:t>
            </a:r>
            <a:r>
              <a:rPr lang="en-US" dirty="0" smtClean="0"/>
              <a:t> is difficult and important</a:t>
            </a:r>
          </a:p>
          <a:p>
            <a:r>
              <a:rPr lang="en-US" dirty="0" smtClean="0"/>
              <a:t>We can get a lot from the likelihood function</a:t>
            </a:r>
          </a:p>
          <a:p>
            <a:r>
              <a:rPr lang="en-US" dirty="0" smtClean="0"/>
              <a:t>Not only point estimators</a:t>
            </a:r>
          </a:p>
          <a:p>
            <a:r>
              <a:rPr lang="en-US" dirty="0" smtClean="0"/>
              <a:t>Not only (not at all!!) most powerful tests</a:t>
            </a:r>
          </a:p>
          <a:p>
            <a:r>
              <a:rPr lang="en-US" dirty="0" smtClean="0"/>
              <a:t>Inferential quantities (pivots)</a:t>
            </a:r>
          </a:p>
          <a:p>
            <a:r>
              <a:rPr lang="en-US" dirty="0" smtClean="0"/>
              <a:t>Inferential distributions (</a:t>
            </a:r>
            <a:r>
              <a:rPr lang="en-US" dirty="0" err="1" smtClean="0"/>
              <a:t>asymptotics</a:t>
            </a:r>
            <a:r>
              <a:rPr lang="en-US" dirty="0" smtClean="0"/>
              <a:t>)</a:t>
            </a:r>
          </a:p>
          <a:p>
            <a:r>
              <a:rPr lang="en-US" dirty="0" smtClean="0"/>
              <a:t>A natural starting point, even for very complex models </a:t>
            </a:r>
          </a:p>
          <a:p>
            <a:pPr lvl="1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0916" y="2609894"/>
            <a:ext cx="165100" cy="3556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7036067" y="2979738"/>
            <a:ext cx="1168400" cy="850900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534400" cy="758952"/>
          </a:xfrm>
        </p:spPr>
        <p:txBody>
          <a:bodyPr/>
          <a:lstStyle/>
          <a:p>
            <a:r>
              <a:rPr lang="en-US" dirty="0" smtClean="0"/>
              <a:t>              Likelihood is everywhere!             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5" name="Content Placeholder 4" descr="compbio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3"/>
              <a:srcRect l="-21866" r="-21866"/>
              <a:stretch>
                <a:fillRect/>
              </a:stretch>
            </p:blipFill>
          </mc:Choice>
          <mc:Fallback>
            <p:blipFill>
              <a:blip r:embed="rId4"/>
              <a:srcRect l="-21866" r="-21866"/>
              <a:stretch>
                <a:fillRect/>
              </a:stretch>
            </p:blipFill>
          </mc:Fallback>
        </mc:AlternateContent>
        <p:spPr/>
      </p:pic>
      <p:pic>
        <p:nvPicPr>
          <p:cNvPr id="6" name="Picture 5" descr="crop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0" y="814539"/>
            <a:ext cx="8875059" cy="6858000"/>
          </a:xfrm>
          <a:prstGeom prst="rect">
            <a:avLst/>
          </a:prstGeom>
        </p:spPr>
      </p:pic>
      <p:pic>
        <p:nvPicPr>
          <p:cNvPr id="7" name="Picture 6" descr="financ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50" y="793750"/>
            <a:ext cx="8902700" cy="5270500"/>
          </a:xfrm>
          <a:prstGeom prst="rect">
            <a:avLst/>
          </a:prstGeom>
        </p:spPr>
      </p:pic>
      <p:pic>
        <p:nvPicPr>
          <p:cNvPr id="8" name="Picture 7" descr="infotheory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rcRect b="60693"/>
              <a:stretch>
                <a:fillRect/>
              </a:stretch>
            </p:blipFill>
          </mc:Choice>
          <mc:Fallback>
            <p:blipFill>
              <a:blip r:embed="rId9"/>
              <a:srcRect b="60693"/>
              <a:stretch>
                <a:fillRect/>
              </a:stretch>
            </p:blipFill>
          </mc:Fallback>
        </mc:AlternateContent>
        <p:spPr>
          <a:xfrm>
            <a:off x="210228" y="1223322"/>
            <a:ext cx="8723545" cy="4572000"/>
          </a:xfrm>
          <a:prstGeom prst="rect">
            <a:avLst/>
          </a:prstGeom>
        </p:spPr>
      </p:pic>
      <p:pic>
        <p:nvPicPr>
          <p:cNvPr id="9" name="Picture 8" descr="physic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366005"/>
            <a:ext cx="9144000" cy="5865512"/>
          </a:xfrm>
          <a:prstGeom prst="rect">
            <a:avLst/>
          </a:prstGeom>
        </p:spPr>
      </p:pic>
      <p:pic>
        <p:nvPicPr>
          <p:cNvPr id="10" name="Picture 9" descr="pat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736031"/>
            <a:ext cx="9144000" cy="5385937"/>
          </a:xfrm>
          <a:prstGeom prst="rect">
            <a:avLst/>
          </a:prstGeom>
        </p:spPr>
      </p:pic>
      <p:pic>
        <p:nvPicPr>
          <p:cNvPr id="11" name="Picture 10" descr="midlife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2"/>
              <a:srcRect/>
              <a:stretch>
                <a:fillRect/>
              </a:stretch>
            </p:blipFill>
          </mc:Choice>
          <mc:Fallback>
            <p:blipFill>
              <a:blip r:embed="rId13"/>
              <a:srcRect/>
              <a:stretch>
                <a:fillRect/>
              </a:stretch>
            </p:blipFill>
          </mc:Fallback>
        </mc:AlternateContent>
        <p:spPr>
          <a:xfrm>
            <a:off x="2206866" y="1223322"/>
            <a:ext cx="4730268" cy="5795322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B9899"/>
                </a:solidFill>
                <a:latin typeface="Calibri" charset="0"/>
              </a:rPr>
              <a:t>Outline </a:t>
            </a:r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ea typeface="ＭＳ Ｐゴシック" charset="-128"/>
                <a:cs typeface="ＭＳ Ｐゴシック" charset="-128"/>
              </a:rPr>
              <a:t>SSC  2010</a:t>
            </a:r>
            <a:endParaRPr lang="en-US"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31914" y="1745246"/>
            <a:ext cx="8504238" cy="4068806"/>
          </a:xfrm>
        </p:spPr>
        <p:txBody>
          <a:bodyPr>
            <a:spAutoFit/>
          </a:bodyPr>
          <a:lstStyle/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Higher order </a:t>
            </a:r>
            <a:r>
              <a:rPr lang="en-US" dirty="0" err="1" smtClean="0">
                <a:ea typeface="+mn-ea"/>
              </a:rPr>
              <a:t>asymptotics</a:t>
            </a:r>
            <a:endParaRPr lang="en-US" dirty="0" smtClean="0">
              <a:ea typeface="+mn-ea"/>
            </a:endParaRPr>
          </a:p>
          <a:p>
            <a:pPr marL="788670" lvl="1" indent="-514350">
              <a:buNone/>
              <a:defRPr/>
            </a:pPr>
            <a:r>
              <a:rPr lang="en-US" dirty="0" smtClean="0"/>
              <a:t>	</a:t>
            </a:r>
            <a:r>
              <a:rPr lang="en-US" dirty="0" smtClean="0">
                <a:ea typeface="+mn-ea"/>
              </a:rPr>
              <a:t>likelihood as pivotal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Bayesian and non-Bayesian inference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Partial, quasi, composite likelihood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smtClean="0">
                <a:ea typeface="+mn-ea"/>
              </a:rPr>
              <a:t>Where are we headed?</a:t>
            </a:r>
          </a:p>
          <a:p>
            <a:pPr marL="274320" indent="-274320" fontAlgn="auto">
              <a:spcAft>
                <a:spcPts val="0"/>
              </a:spcAft>
              <a:buNone/>
              <a:defRPr/>
            </a:pPr>
            <a:endParaRPr lang="en-US" dirty="0" smtClean="0">
              <a:ea typeface="+mn-ea"/>
            </a:endParaRPr>
          </a:p>
          <a:p>
            <a:pPr marL="274320" indent="-274320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>
              <a:ea typeface="+mn-ea"/>
            </a:endParaRPr>
          </a:p>
          <a:p>
            <a:pPr marL="274320" indent="-274320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ea typeface="+mn-ea"/>
            </a:endParaRPr>
          </a:p>
        </p:txBody>
      </p:sp>
      <p:sp>
        <p:nvSpPr>
          <p:cNvPr id="23557" name="Date Placeholder 4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A" smtClean="0">
                <a:ea typeface="ＭＳ Ｐゴシック" charset="-128"/>
                <a:cs typeface="ＭＳ Ｐゴシック" charset="-128"/>
              </a:rPr>
              <a:t>Theory of statistics</a:t>
            </a:r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P-value functions from likelihood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12" name="Content Placeholder 11" descr="loglikplot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39850" y="649344"/>
            <a:ext cx="6464300" cy="6121400"/>
          </a:xfrm>
        </p:spPr>
      </p:pic>
      <p:pic>
        <p:nvPicPr>
          <p:cNvPr id="13" name="Picture 12" descr="loglikplot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339850" y="649344"/>
            <a:ext cx="6464300" cy="6121400"/>
          </a:xfrm>
          <a:prstGeom prst="rect">
            <a:avLst/>
          </a:prstGeom>
        </p:spPr>
      </p:pic>
      <p:pic>
        <p:nvPicPr>
          <p:cNvPr id="14" name="Picture 13" descr="loglikplot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1339850" y="649344"/>
            <a:ext cx="6464300" cy="612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P-value functions from likelihood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16" name="Content Placeholder 15" descr="pvalplot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339850" y="736600"/>
            <a:ext cx="6464300" cy="6121400"/>
          </a:xfrm>
        </p:spPr>
      </p:pic>
      <p:pic>
        <p:nvPicPr>
          <p:cNvPr id="17" name="Picture 16" descr="pvalplot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339850" y="736600"/>
            <a:ext cx="6464300" cy="6121400"/>
          </a:xfrm>
          <a:prstGeom prst="rect">
            <a:avLst/>
          </a:prstGeom>
        </p:spPr>
      </p:pic>
      <p:pic>
        <p:nvPicPr>
          <p:cNvPr id="18" name="Picture 17" descr="pvalplot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1339850" y="736600"/>
            <a:ext cx="6464300" cy="612140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V="1">
            <a:off x="828292" y="1767134"/>
            <a:ext cx="1228633" cy="593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4800" y="2360781"/>
            <a:ext cx="75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0.975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64892" y="5080512"/>
            <a:ext cx="1149915" cy="5108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4800" y="4721562"/>
            <a:ext cx="78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1527048"/>
            <a:ext cx="8500871" cy="4572000"/>
          </a:xfrm>
        </p:spPr>
        <p:txBody>
          <a:bodyPr/>
          <a:lstStyle/>
          <a:p>
            <a:r>
              <a:rPr lang="en-US" dirty="0" smtClean="0"/>
              <a:t>Likelihood root</a:t>
            </a:r>
          </a:p>
          <a:p>
            <a:r>
              <a:rPr lang="en-US" dirty="0" smtClean="0"/>
              <a:t>Maximum likelihood estimate</a:t>
            </a:r>
          </a:p>
          <a:p>
            <a:r>
              <a:rPr lang="en-US" dirty="0" smtClean="0"/>
              <a:t>Score function </a:t>
            </a:r>
          </a:p>
          <a:p>
            <a:r>
              <a:rPr lang="en-US" dirty="0" smtClean="0"/>
              <a:t>All approximately distributed as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    Much better :</a:t>
            </a:r>
          </a:p>
          <a:p>
            <a:endParaRPr lang="en-US" dirty="0" smtClean="0">
              <a:solidFill>
                <a:srgbClr val="0000FF"/>
              </a:solidFill>
            </a:endParaRPr>
          </a:p>
          <a:p>
            <a:r>
              <a:rPr lang="en-US" dirty="0" smtClean="0">
                <a:solidFill>
                  <a:srgbClr val="0000FF"/>
                </a:solidFill>
              </a:rPr>
              <a:t>  </a:t>
            </a:r>
            <a:r>
              <a:rPr lang="en-US" dirty="0" smtClean="0"/>
              <a:t>        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can be </a:t>
            </a:r>
            <a:endParaRPr lang="en-US" dirty="0"/>
          </a:p>
        </p:txBody>
      </p:sp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237447" y="1554660"/>
            <a:ext cx="3987800" cy="4445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286375" y="2082657"/>
            <a:ext cx="3175000" cy="444500"/>
          </a:xfrm>
          <a:prstGeom prst="rect">
            <a:avLst/>
          </a:prstGeom>
        </p:spPr>
      </p:pic>
      <p:pic>
        <p:nvPicPr>
          <p:cNvPr id="19" name="Picture 1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3355975" y="2580651"/>
            <a:ext cx="3035300" cy="444500"/>
          </a:xfrm>
          <a:prstGeom prst="rect">
            <a:avLst/>
          </a:prstGeom>
        </p:spPr>
      </p:pic>
      <p:pic>
        <p:nvPicPr>
          <p:cNvPr id="21" name="Picture 2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5458308" y="3183562"/>
            <a:ext cx="1066800" cy="368300"/>
          </a:xfrm>
          <a:prstGeom prst="rect">
            <a:avLst/>
          </a:prstGeom>
        </p:spPr>
      </p:pic>
      <p:sp>
        <p:nvSpPr>
          <p:cNvPr id="22" name="Smiley Face 21"/>
          <p:cNvSpPr>
            <a:spLocks noChangeAspect="1"/>
          </p:cNvSpPr>
          <p:nvPr/>
        </p:nvSpPr>
        <p:spPr>
          <a:xfrm>
            <a:off x="346215" y="4116805"/>
            <a:ext cx="467999" cy="467999"/>
          </a:xfrm>
          <a:prstGeom prst="smileyFac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Picture 2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762000" y="5240195"/>
            <a:ext cx="685800" cy="368300"/>
          </a:xfrm>
          <a:prstGeom prst="rect">
            <a:avLst/>
          </a:prstGeom>
        </p:spPr>
      </p:pic>
      <p:pic>
        <p:nvPicPr>
          <p:cNvPr id="30" name="Picture 2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2"/>
              <a:stretch>
                <a:fillRect/>
              </a:stretch>
            </p:blipFill>
          </mc:Choice>
          <mc:Fallback>
            <p:blipFill>
              <a:blip r:embed="rId13"/>
              <a:stretch>
                <a:fillRect/>
              </a:stretch>
            </p:blipFill>
          </mc:Fallback>
        </mc:AlternateContent>
        <p:spPr>
          <a:xfrm>
            <a:off x="2702953" y="5212583"/>
            <a:ext cx="2603500" cy="368300"/>
          </a:xfrm>
          <a:prstGeom prst="rect">
            <a:avLst/>
          </a:prstGeom>
        </p:spPr>
      </p:pic>
      <p:pic>
        <p:nvPicPr>
          <p:cNvPr id="31" name="Picture 3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4"/>
              <a:stretch>
                <a:fillRect/>
              </a:stretch>
            </p:blipFill>
          </mc:Choice>
          <mc:Fallback>
            <p:blipFill>
              <a:blip r:embed="rId15"/>
              <a:stretch>
                <a:fillRect/>
              </a:stretch>
            </p:blipFill>
          </mc:Fallback>
        </mc:AlternateContent>
        <p:spPr>
          <a:xfrm>
            <a:off x="3287713" y="3945758"/>
            <a:ext cx="4368800" cy="85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1527048"/>
            <a:ext cx="8500871" cy="4572000"/>
          </a:xfrm>
        </p:spPr>
        <p:txBody>
          <a:bodyPr/>
          <a:lstStyle/>
          <a:p>
            <a:r>
              <a:rPr lang="en-US" dirty="0" smtClean="0"/>
              <a:t>Likelihood root</a:t>
            </a:r>
          </a:p>
          <a:p>
            <a:r>
              <a:rPr lang="en-US" dirty="0" smtClean="0"/>
              <a:t>Maximum likelihood estimate</a:t>
            </a:r>
          </a:p>
          <a:p>
            <a:r>
              <a:rPr lang="en-US" dirty="0" smtClean="0"/>
              <a:t>Score function </a:t>
            </a:r>
          </a:p>
          <a:p>
            <a:endParaRPr lang="en-US" dirty="0" smtClean="0"/>
          </a:p>
          <a:p>
            <a:endParaRPr lang="en-US" dirty="0" smtClean="0">
              <a:solidFill>
                <a:srgbClr val="0000FF"/>
              </a:solidFill>
            </a:endParaRPr>
          </a:p>
        </p:txBody>
      </p:sp>
      <p:pic>
        <p:nvPicPr>
          <p:cNvPr id="16" name="Picture 15" descr="loglikplot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986960" y="3078522"/>
            <a:ext cx="3801660" cy="3600000"/>
          </a:xfrm>
          <a:prstGeom prst="rect">
            <a:avLst/>
          </a:prstGeom>
        </p:spPr>
      </p:pic>
      <p:pic>
        <p:nvPicPr>
          <p:cNvPr id="17" name="Picture 1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3072312" y="1567152"/>
            <a:ext cx="3987800" cy="444500"/>
          </a:xfrm>
          <a:prstGeom prst="rect">
            <a:avLst/>
          </a:prstGeom>
        </p:spPr>
      </p:pic>
      <p:pic>
        <p:nvPicPr>
          <p:cNvPr id="18" name="Picture 1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5245100" y="2097088"/>
            <a:ext cx="3175000" cy="444500"/>
          </a:xfrm>
          <a:prstGeom prst="rect">
            <a:avLst/>
          </a:prstGeom>
        </p:spPr>
      </p:pic>
      <p:pic>
        <p:nvPicPr>
          <p:cNvPr id="20" name="Picture 1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3270970" y="2634022"/>
            <a:ext cx="3035300" cy="444500"/>
          </a:xfrm>
          <a:prstGeom prst="rect">
            <a:avLst/>
          </a:prstGeom>
        </p:spPr>
      </p:pic>
      <p:cxnSp>
        <p:nvCxnSpPr>
          <p:cNvPr id="24" name="Curved Connector 23"/>
          <p:cNvCxnSpPr/>
          <p:nvPr/>
        </p:nvCxnSpPr>
        <p:spPr>
          <a:xfrm rot="5400000">
            <a:off x="2196884" y="2121229"/>
            <a:ext cx="1917741" cy="160582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/>
        </p:nvCxnSpPr>
        <p:spPr>
          <a:xfrm rot="10800000" flipV="1">
            <a:off x="2513263" y="2420127"/>
            <a:ext cx="3680694" cy="3502084"/>
          </a:xfrm>
          <a:prstGeom prst="curvedConnector3">
            <a:avLst>
              <a:gd name="adj1" fmla="val 2239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3010620" y="3294987"/>
            <a:ext cx="1300365" cy="7796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6365875" y="5270500"/>
            <a:ext cx="2133600" cy="36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16" name="Content Placeholder 15" descr="pvalue2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2969" r="-42969"/>
              <a:stretch>
                <a:fillRect/>
              </a:stretch>
            </p:blipFill>
          </mc:Choice>
          <mc:Fallback>
            <p:blipFill>
              <a:blip r:embed="rId3"/>
              <a:srcRect l="-42969" r="-42969"/>
              <a:stretch>
                <a:fillRect/>
              </a:stretch>
            </p:blipFill>
          </mc:Fallback>
        </mc:AlternateContent>
        <p:spPr>
          <a:xfrm>
            <a:off x="304800" y="1527175"/>
            <a:ext cx="8501063" cy="4572000"/>
          </a:xfrm>
        </p:spPr>
      </p:pic>
      <p:pic>
        <p:nvPicPr>
          <p:cNvPr id="14" name="Picture 13" descr="pvalue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2034000" y="1306152"/>
            <a:ext cx="5076000" cy="507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16" name="Content Placeholder 15" descr="pvalue2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2969" r="-42969"/>
              <a:stretch>
                <a:fillRect/>
              </a:stretch>
            </p:blipFill>
          </mc:Choice>
          <mc:Fallback>
            <p:blipFill>
              <a:blip r:embed="rId3"/>
              <a:srcRect l="-42969" r="-42969"/>
              <a:stretch>
                <a:fillRect/>
              </a:stretch>
            </p:blipFill>
          </mc:Fallback>
        </mc:AlternateContent>
        <p:spPr>
          <a:xfrm>
            <a:off x="66556" y="1256322"/>
            <a:ext cx="8983278" cy="5076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7" name="Content Placeholder 6" descr="pvalue3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3003" r="-43003"/>
              <a:stretch>
                <a:fillRect/>
              </a:stretch>
            </p:blipFill>
          </mc:Choice>
          <mc:Fallback>
            <p:blipFill>
              <a:blip r:embed="rId3"/>
              <a:srcRect l="-43003" r="-43003"/>
              <a:stretch>
                <a:fillRect/>
              </a:stretch>
            </p:blipFill>
          </mc:Fallback>
        </mc:AlternateContent>
        <p:spPr>
          <a:xfrm>
            <a:off x="-148680" y="1328984"/>
            <a:ext cx="9441360" cy="5076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be nearly exact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8" name="Content Placeholder 7" descr="pvalue4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3003" r="-43003"/>
              <a:stretch>
                <a:fillRect/>
              </a:stretch>
            </p:blipFill>
          </mc:Choice>
          <mc:Fallback>
            <p:blipFill>
              <a:blip r:embed="rId3"/>
              <a:srcRect l="-43003" r="-43003"/>
              <a:stretch>
                <a:fillRect/>
              </a:stretch>
            </p:blipFill>
          </mc:Fallback>
        </mc:AlternateContent>
        <p:spPr>
          <a:xfrm>
            <a:off x="-148680" y="1328984"/>
            <a:ext cx="9441360" cy="5076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dirty="0" smtClean="0"/>
              <a:t>                   Can be nearly exact                     </a:t>
            </a:r>
            <a:r>
              <a:rPr lang="en-US" baseline="30000" dirty="0" smtClean="0"/>
              <a:t>3</a:t>
            </a:r>
            <a:endParaRPr lang="en-US" baseline="30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7" name="Content Placeholder 6" descr="pvalue5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rcRect l="-43003" r="-43003"/>
              <a:stretch>
                <a:fillRect/>
              </a:stretch>
            </p:blipFill>
          </mc:Choice>
          <mc:Fallback>
            <p:blipFill>
              <a:blip r:embed="rId3"/>
              <a:srcRect l="-43003" r="-43003"/>
              <a:stretch>
                <a:fillRect/>
              </a:stretch>
            </p:blipFill>
          </mc:Fallback>
        </mc:AlternateContent>
        <p:spPr>
          <a:xfrm>
            <a:off x="-148680" y="1328984"/>
            <a:ext cx="9441360" cy="5076000"/>
          </a:xfrm>
        </p:spPr>
      </p:pic>
      <p:pic>
        <p:nvPicPr>
          <p:cNvPr id="14" name="Picture 13" descr="pvalue5.pdf"/>
          <p:cNvPicPr>
            <a:picLocks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3760152" y="1334848"/>
            <a:ext cx="5076000" cy="5076000"/>
          </a:xfrm>
          <a:prstGeom prst="rect">
            <a:avLst/>
          </a:prstGeom>
        </p:spPr>
      </p:pic>
      <p:pic>
        <p:nvPicPr>
          <p:cNvPr id="16" name="Picture 1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304800" y="2833688"/>
            <a:ext cx="2946400" cy="184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Using higher order approximations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Excellent approximations for ‘easy’ cases</a:t>
            </a:r>
          </a:p>
          <a:p>
            <a:pPr lvl="1"/>
            <a:r>
              <a:rPr lang="en-US" dirty="0" smtClean="0"/>
              <a:t>Exponential families, non-normal linear regression</a:t>
            </a:r>
          </a:p>
          <a:p>
            <a:r>
              <a:rPr lang="en-US" dirty="0" smtClean="0"/>
              <a:t>More work to construct for ‘moderate’ cases</a:t>
            </a:r>
          </a:p>
          <a:p>
            <a:pPr lvl="1"/>
            <a:r>
              <a:rPr lang="en-US" dirty="0" smtClean="0"/>
              <a:t>Autoregressive models, fixed and random effects,</a:t>
            </a:r>
          </a:p>
          <a:p>
            <a:pPr lvl="1">
              <a:buNone/>
            </a:pPr>
            <a:r>
              <a:rPr lang="en-US" dirty="0" smtClean="0"/>
              <a:t>     discrete responses</a:t>
            </a:r>
          </a:p>
          <a:p>
            <a:r>
              <a:rPr lang="en-US" dirty="0" smtClean="0"/>
              <a:t>Fairly delicate for ‘difficult’ cases</a:t>
            </a:r>
          </a:p>
          <a:p>
            <a:pPr lvl="1"/>
            <a:r>
              <a:rPr lang="en-US" dirty="0" smtClean="0"/>
              <a:t>Complex structural models with several sources of variation</a:t>
            </a:r>
          </a:p>
          <a:p>
            <a:r>
              <a:rPr lang="en-US" dirty="0" smtClean="0"/>
              <a:t>Best results for scalar parameter of interest</a:t>
            </a:r>
          </a:p>
          <a:p>
            <a:pPr lvl="1"/>
            <a:r>
              <a:rPr lang="en-US" dirty="0" smtClean="0"/>
              <a:t>But we may need inference for vector parameters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does this come from?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6" name="Content Placeholder 5" descr="diffgeom.png"/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l="-645" r="-645"/>
          <a:stretch>
            <a:fillRect/>
          </a:stretch>
        </p:blipFill>
        <p:spPr>
          <a:xfrm>
            <a:off x="855725" y="1527051"/>
            <a:ext cx="7432550" cy="3995995"/>
          </a:xfrm>
        </p:spPr>
      </p:pic>
      <p:sp>
        <p:nvSpPr>
          <p:cNvPr id="7" name="TextBox 6"/>
          <p:cNvSpPr txBox="1"/>
          <p:nvPr/>
        </p:nvSpPr>
        <p:spPr>
          <a:xfrm>
            <a:off x="2116377" y="5867438"/>
            <a:ext cx="491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 smtClean="0"/>
              <a:t>4</a:t>
            </a:r>
            <a:r>
              <a:rPr lang="en-US" dirty="0" smtClean="0"/>
              <a:t>Amari, 1982, </a:t>
            </a:r>
            <a:r>
              <a:rPr lang="en-US" dirty="0" err="1" smtClean="0"/>
              <a:t>Biometrika</a:t>
            </a:r>
            <a:r>
              <a:rPr lang="en-US" dirty="0" smtClean="0"/>
              <a:t>; </a:t>
            </a:r>
            <a:r>
              <a:rPr lang="en-US" dirty="0" err="1" smtClean="0"/>
              <a:t>Efron</a:t>
            </a:r>
            <a:r>
              <a:rPr lang="en-US" dirty="0" smtClean="0"/>
              <a:t>, 1975, Annals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Where does this come from?         </a:t>
            </a:r>
            <a:r>
              <a:rPr lang="en-US" baseline="30000" dirty="0" smtClean="0"/>
              <a:t>5,6,7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/>
          <a:lstStyle/>
          <a:p>
            <a:r>
              <a:rPr lang="en-US" dirty="0" smtClean="0"/>
              <a:t>Differential geometry of statistical models</a:t>
            </a:r>
          </a:p>
          <a:p>
            <a:r>
              <a:rPr lang="en-US" dirty="0" smtClean="0"/>
              <a:t>Theory of exponential families</a:t>
            </a:r>
          </a:p>
          <a:p>
            <a:r>
              <a:rPr lang="en-US" dirty="0" err="1" smtClean="0"/>
              <a:t>Edgeworth</a:t>
            </a:r>
            <a:r>
              <a:rPr lang="en-US" dirty="0" smtClean="0"/>
              <a:t> and </a:t>
            </a:r>
            <a:r>
              <a:rPr lang="en-US" dirty="0" err="1" smtClean="0"/>
              <a:t>saddlepoint</a:t>
            </a:r>
            <a:r>
              <a:rPr lang="en-US" dirty="0" smtClean="0"/>
              <a:t> approximations</a:t>
            </a:r>
          </a:p>
          <a:p>
            <a:r>
              <a:rPr lang="en-US" dirty="0" smtClean="0"/>
              <a:t>Key idea:</a:t>
            </a:r>
          </a:p>
          <a:p>
            <a:r>
              <a:rPr lang="en-US" dirty="0" smtClean="0"/>
              <a:t>A smooth parametric model can be approximated 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smtClean="0">
                <a:solidFill>
                  <a:srgbClr val="0000FF"/>
                </a:solidFill>
              </a:rPr>
              <a:t> by a tangent exponential family model</a:t>
            </a:r>
          </a:p>
          <a:p>
            <a:r>
              <a:rPr lang="en-US" dirty="0" smtClean="0"/>
              <a:t>Requires differentiating log-likelihood function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rgbClr val="0000FF"/>
                </a:solidFill>
              </a:rPr>
              <a:t>on the sample space</a:t>
            </a:r>
          </a:p>
          <a:p>
            <a:r>
              <a:rPr lang="en-US" dirty="0" smtClean="0"/>
              <a:t>Permits extensions to more complex models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Where does this come from?         </a:t>
            </a:r>
            <a:r>
              <a:rPr lang="en-US" baseline="30000" dirty="0" smtClean="0"/>
              <a:t> </a:t>
            </a:r>
            <a:r>
              <a:rPr lang="en-US" dirty="0" smtClean="0"/>
              <a:t>    </a:t>
            </a:r>
            <a:r>
              <a:rPr lang="en-US" baseline="30000" dirty="0" smtClean="0"/>
              <a:t>8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9" name="Content Placeholder 8" descr="waldfig.png"/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l="-13375" r="-13375"/>
          <a:stretch>
            <a:fillRect/>
          </a:stretch>
        </p:blipFill>
        <p:spPr>
          <a:xfrm>
            <a:off x="-48240" y="1346040"/>
            <a:ext cx="9240480" cy="496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16" y="228600"/>
            <a:ext cx="8534400" cy="758952"/>
          </a:xfrm>
        </p:spPr>
        <p:txBody>
          <a:bodyPr/>
          <a:lstStyle/>
          <a:p>
            <a:r>
              <a:rPr lang="en-US" dirty="0" smtClean="0"/>
              <a:t> Generalizations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/>
          <a:lstStyle/>
          <a:p>
            <a:r>
              <a:rPr lang="en-US" dirty="0" smtClean="0"/>
              <a:t>To discrete data</a:t>
            </a:r>
          </a:p>
          <a:p>
            <a:r>
              <a:rPr lang="en-US" dirty="0" smtClean="0"/>
              <a:t>Where differentiating the log-likelihood on the sample space is more difficult</a:t>
            </a:r>
          </a:p>
          <a:p>
            <a:r>
              <a:rPr lang="en-US" dirty="0" smtClean="0"/>
              <a:t>Solution: use expected value of score statistic instead</a:t>
            </a:r>
          </a:p>
          <a:p>
            <a:r>
              <a:rPr lang="en-US" dirty="0" smtClean="0"/>
              <a:t>Relative error                  instead of</a:t>
            </a:r>
          </a:p>
          <a:p>
            <a:r>
              <a:rPr lang="en-US" dirty="0" smtClean="0"/>
              <a:t>Still better than the normal approximation  </a:t>
            </a:r>
            <a:endParaRPr lang="en-US" dirty="0"/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801798" y="3599721"/>
            <a:ext cx="1104900" cy="3937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5678908" y="3572733"/>
            <a:ext cx="1397000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Generalizations                   </a:t>
            </a:r>
            <a:r>
              <a:rPr lang="en-US" baseline="30000" dirty="0" smtClean="0"/>
              <a:t>9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9" name="Content Placeholder 8" descr="poisson-figure-eps-converted-to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3"/>
              <a:srcRect t="-9430" b="-9430"/>
              <a:stretch>
                <a:fillRect/>
              </a:stretch>
            </p:blipFill>
          </mc:Choice>
          <mc:Fallback>
            <p:blipFill>
              <a:blip r:embed="rId4"/>
              <a:srcRect t="-9430" b="-9430"/>
              <a:stretch>
                <a:fillRect/>
              </a:stretch>
            </p:blipFill>
          </mc:Fallback>
        </mc:AlternateContent>
        <p:spPr>
          <a:xfrm>
            <a:off x="301625" y="1527175"/>
            <a:ext cx="8504238" cy="46847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16" y="228600"/>
            <a:ext cx="8534400" cy="758952"/>
          </a:xfrm>
        </p:spPr>
        <p:txBody>
          <a:bodyPr/>
          <a:lstStyle/>
          <a:p>
            <a:r>
              <a:rPr lang="en-US" dirty="0" smtClean="0"/>
              <a:t>                         Generalizations                     </a:t>
            </a:r>
            <a:r>
              <a:rPr lang="en-US" baseline="30000" dirty="0" smtClean="0"/>
              <a:t>10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/>
          <a:lstStyle/>
          <a:p>
            <a:r>
              <a:rPr lang="en-US" dirty="0" smtClean="0"/>
              <a:t>To vector parameters of interest</a:t>
            </a:r>
          </a:p>
          <a:p>
            <a:r>
              <a:rPr lang="en-US" dirty="0" smtClean="0"/>
              <a:t>But our solutions require a single parameter </a:t>
            </a:r>
          </a:p>
          <a:p>
            <a:r>
              <a:rPr lang="en-US" dirty="0" smtClean="0"/>
              <a:t>Solution: use length of the vector, conditioned on the direction</a:t>
            </a:r>
          </a:p>
        </p:txBody>
      </p:sp>
      <p:pic>
        <p:nvPicPr>
          <p:cNvPr id="9" name="Content Placeholder 7" descr="pvalue4.pdf"/>
          <p:cNvPicPr>
            <a:picLocks noGrp="1"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-43003" r="-43003"/>
              <a:stretch>
                <a:fillRect/>
              </a:stretch>
            </p:blipFill>
          </mc:Choice>
          <mc:Fallback>
            <p:blipFill>
              <a:blip r:embed="rId4"/>
              <a:srcRect l="-43003" r="-43003"/>
              <a:stretch>
                <a:fillRect/>
              </a:stretch>
            </p:blipFill>
          </mc:Fallback>
        </mc:AlternateContent>
        <p:spPr>
          <a:xfrm>
            <a:off x="7068240" y="1527048"/>
            <a:ext cx="2075760" cy="1116000"/>
          </a:xfrm>
          <a:prstGeom prst="rect">
            <a:avLst/>
          </a:prstGeom>
        </p:spPr>
      </p:pic>
      <p:pic>
        <p:nvPicPr>
          <p:cNvPr id="10" name="Picture 9" descr="psihat-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044118" y="3296582"/>
            <a:ext cx="3852562" cy="2916000"/>
          </a:xfrm>
          <a:prstGeom prst="rect">
            <a:avLst/>
          </a:prstGeom>
        </p:spPr>
      </p:pic>
      <p:pic>
        <p:nvPicPr>
          <p:cNvPr id="11" name="Picture 10" descr="st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6007120" y="3296582"/>
            <a:ext cx="2916000" cy="29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16" y="228600"/>
            <a:ext cx="8534400" cy="758952"/>
          </a:xfrm>
        </p:spPr>
        <p:txBody>
          <a:bodyPr/>
          <a:lstStyle/>
          <a:p>
            <a:r>
              <a:rPr lang="en-US" dirty="0" smtClean="0"/>
              <a:t>                         Generalizations                     </a:t>
            </a:r>
            <a:r>
              <a:rPr lang="en-US" baseline="30000" dirty="0" smtClean="0"/>
              <a:t>11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Likelihood as pivotal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/>
          <a:lstStyle/>
          <a:p>
            <a:r>
              <a:rPr lang="en-US" dirty="0" smtClean="0"/>
              <a:t>Extending the role of the exponential family</a:t>
            </a:r>
          </a:p>
          <a:p>
            <a:r>
              <a:rPr lang="en-US" dirty="0" smtClean="0"/>
              <a:t>By generalizing differentiation on the sample space</a:t>
            </a:r>
          </a:p>
          <a:p>
            <a:r>
              <a:rPr lang="en-US" dirty="0" smtClean="0"/>
              <a:t>Idea: differentiate the expected log-likelihood</a:t>
            </a:r>
          </a:p>
          <a:p>
            <a:pPr lvl="1"/>
            <a:r>
              <a:rPr lang="en-US" dirty="0" smtClean="0"/>
              <a:t>Instead of the log-likelihood</a:t>
            </a:r>
          </a:p>
          <a:p>
            <a:r>
              <a:rPr lang="en-US" dirty="0" smtClean="0"/>
              <a:t>Leads to a new version of approximating exponential family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Can be used with pseudo-likelihoods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What can we learn?               </a:t>
            </a:r>
            <a:r>
              <a:rPr lang="en-US" baseline="30000" dirty="0" smtClean="0"/>
              <a:t>12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Bayesian/nonBayesian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>
            <a:normAutofit/>
          </a:bodyPr>
          <a:lstStyle/>
          <a:p>
            <a:r>
              <a:rPr lang="en-US" dirty="0" smtClean="0"/>
              <a:t>Higher order approximation requires</a:t>
            </a:r>
          </a:p>
          <a:p>
            <a:r>
              <a:rPr lang="en-US" dirty="0" smtClean="0"/>
              <a:t>Differentiating the log-likelihood function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rgbClr val="0000FF"/>
                </a:solidFill>
              </a:rPr>
              <a:t>on the sample space</a:t>
            </a:r>
            <a:endParaRPr lang="en-US" dirty="0" smtClean="0"/>
          </a:p>
          <a:p>
            <a:r>
              <a:rPr lang="en-US" dirty="0" smtClean="0"/>
              <a:t>Bayesian inference will be different</a:t>
            </a:r>
          </a:p>
          <a:p>
            <a:r>
              <a:rPr lang="en-US" dirty="0" smtClean="0"/>
              <a:t>Asymptotic expansion highlights the discrepancy</a:t>
            </a:r>
          </a:p>
          <a:p>
            <a:r>
              <a:rPr lang="en-US" dirty="0" smtClean="0"/>
              <a:t>Bayesian posteriors are in general not calibrated</a:t>
            </a:r>
          </a:p>
          <a:p>
            <a:r>
              <a:rPr lang="en-US" dirty="0" smtClean="0"/>
              <a:t>Cannot always be corrected by choice of the prior</a:t>
            </a:r>
          </a:p>
          <a:p>
            <a:r>
              <a:rPr lang="en-US" dirty="0" smtClean="0"/>
              <a:t>We can study this by comparing Bayesian and </a:t>
            </a:r>
            <a:r>
              <a:rPr lang="en-US" dirty="0" err="1" smtClean="0"/>
              <a:t>nonBayesian</a:t>
            </a:r>
            <a:r>
              <a:rPr lang="en-US" dirty="0" smtClean="0"/>
              <a:t> approximations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Example: inference for ED50         </a:t>
            </a:r>
            <a:r>
              <a:rPr lang="en-US" baseline="30000" dirty="0" smtClean="0"/>
              <a:t>13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Bayesian/nonBayesian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85534"/>
          </a:xfrm>
        </p:spPr>
        <p:txBody>
          <a:bodyPr>
            <a:normAutofit/>
          </a:bodyPr>
          <a:lstStyle/>
          <a:p>
            <a:r>
              <a:rPr lang="en-US" dirty="0" smtClean="0"/>
              <a:t>Logistic regression with a single covariate</a:t>
            </a:r>
          </a:p>
          <a:p>
            <a:r>
              <a:rPr lang="en-US" dirty="0" smtClean="0"/>
              <a:t>On the logistic scale</a:t>
            </a:r>
          </a:p>
          <a:p>
            <a:r>
              <a:rPr lang="en-US" dirty="0" smtClean="0"/>
              <a:t>Use flat priors for </a:t>
            </a:r>
          </a:p>
          <a:p>
            <a:r>
              <a:rPr lang="en-US" dirty="0" smtClean="0"/>
              <a:t>Parameter of interest is</a:t>
            </a:r>
          </a:p>
          <a:p>
            <a:r>
              <a:rPr lang="en-US" dirty="0" smtClean="0"/>
              <a:t>Empirical coverage of Bayesian posterior intervals:</a:t>
            </a:r>
          </a:p>
          <a:p>
            <a:pPr lvl="1"/>
            <a:r>
              <a:rPr lang="en-US" dirty="0" smtClean="0"/>
              <a:t>0.90, 0.88, 0.89, 0.90</a:t>
            </a:r>
          </a:p>
          <a:p>
            <a:r>
              <a:rPr lang="en-US" dirty="0" smtClean="0"/>
              <a:t>Empirical coverage of intervals using</a:t>
            </a:r>
          </a:p>
          <a:p>
            <a:pPr lvl="1"/>
            <a:r>
              <a:rPr lang="en-US" dirty="0" smtClean="0"/>
              <a:t>0.95, 0.95, 0.95, 0.95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957638" y="2176463"/>
            <a:ext cx="3238500" cy="3683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411538" y="2673350"/>
            <a:ext cx="825500" cy="3683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4335043" y="3157056"/>
            <a:ext cx="1600200" cy="368300"/>
          </a:xfrm>
          <a:prstGeom prst="rect">
            <a:avLst/>
          </a:prstGeom>
        </p:spPr>
      </p:pic>
      <p:pic>
        <p:nvPicPr>
          <p:cNvPr id="14" name="Picture 13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6072721" y="4658255"/>
            <a:ext cx="825500" cy="36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Flat priors are not a good idea!       </a:t>
            </a:r>
            <a:r>
              <a:rPr lang="en-US" baseline="30000" dirty="0" smtClean="0"/>
              <a:t>14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Bayesian/nonBayesian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16" name="Content Placeholder 15" descr="heinrich3.png"/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l="-36452" r="-36452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Flat priors are not a good idea!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Bayesian/nonBayesian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7" name="Content Placeholder 6" descr="ncircleall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800000" y="1226744"/>
            <a:ext cx="5544000" cy="5544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Flat priors are not a good idea!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Bayesian/nonBayesian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pic>
        <p:nvPicPr>
          <p:cNvPr id="7" name="Content Placeholder 6" descr="ncircleall.pdf"/>
          <p:cNvPicPr>
            <a:picLocks noGrp="1" noChangeAspect="1"/>
          </p:cNvPicPr>
          <p:nvPr>
            <p:ph sz="quarter" idx="1"/>
          </p:nvPr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600000" y="1226744"/>
            <a:ext cx="5544000" cy="5544000"/>
          </a:xfrm>
        </p:spPr>
      </p:pic>
      <p:sp>
        <p:nvSpPr>
          <p:cNvPr id="6" name="TextBox 5"/>
          <p:cNvSpPr txBox="1"/>
          <p:nvPr/>
        </p:nvSpPr>
        <p:spPr>
          <a:xfrm>
            <a:off x="301752" y="1503314"/>
            <a:ext cx="32455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Calibri"/>
                <a:cs typeface="Calibri"/>
              </a:rPr>
              <a:t>Bayesian </a:t>
            </a:r>
            <a:r>
              <a:rPr lang="en-US" sz="2800" dirty="0" err="1" smtClean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lang="en-US" sz="2800" dirty="0" smtClean="0">
                <a:solidFill>
                  <a:srgbClr val="FF0000"/>
                </a:solidFill>
                <a:latin typeface="Calibri"/>
                <a:cs typeface="Calibri"/>
              </a:rPr>
              <a:t>-value </a:t>
            </a:r>
            <a:r>
              <a:rPr lang="en-US" sz="2800" dirty="0" smtClean="0">
                <a:latin typeface="Calibri"/>
                <a:cs typeface="Calibri"/>
              </a:rPr>
              <a:t>– </a:t>
            </a:r>
          </a:p>
          <a:p>
            <a:r>
              <a:rPr lang="en-US" sz="2800" dirty="0" smtClean="0">
                <a:latin typeface="Calibri"/>
                <a:cs typeface="Calibri"/>
              </a:rPr>
              <a:t>   </a:t>
            </a:r>
            <a:r>
              <a:rPr lang="en-US" sz="2800" dirty="0" err="1" smtClean="0">
                <a:solidFill>
                  <a:srgbClr val="0000FF"/>
                </a:solidFill>
                <a:latin typeface="Calibri"/>
                <a:cs typeface="Calibri"/>
              </a:rPr>
              <a:t>Frequentist</a:t>
            </a:r>
            <a:r>
              <a:rPr lang="en-US" sz="2800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lang="en-US" sz="2800" dirty="0" smtClean="0">
                <a:solidFill>
                  <a:srgbClr val="0000FF"/>
                </a:solidFill>
                <a:latin typeface="Calibri"/>
                <a:cs typeface="Calibri"/>
              </a:rPr>
              <a:t>-value</a:t>
            </a:r>
            <a:r>
              <a:rPr lang="en-US" sz="2800" dirty="0" smtClean="0">
                <a:latin typeface="Calibri"/>
                <a:cs typeface="Calibri"/>
              </a:rPr>
              <a:t> 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865188" y="2707413"/>
            <a:ext cx="1498600" cy="8509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781050" y="3883025"/>
            <a:ext cx="2146300" cy="7366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781050" y="4835525"/>
            <a:ext cx="2349500" cy="104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complex models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Likelihood inference has desirable properties</a:t>
            </a:r>
          </a:p>
          <a:p>
            <a:r>
              <a:rPr lang="en-US" dirty="0" smtClean="0"/>
              <a:t>Sufficiency, asymptotic efficiency</a:t>
            </a:r>
          </a:p>
          <a:p>
            <a:r>
              <a:rPr lang="en-US" dirty="0" smtClean="0"/>
              <a:t>Good approximations to needed distributions</a:t>
            </a:r>
          </a:p>
          <a:p>
            <a:r>
              <a:rPr lang="en-US" dirty="0" smtClean="0"/>
              <a:t>Derived naturally from parametric models</a:t>
            </a:r>
          </a:p>
          <a:p>
            <a:r>
              <a:rPr lang="en-US" dirty="0" smtClean="0"/>
              <a:t>Can be difficult to construct, </a:t>
            </a:r>
          </a:p>
          <a:p>
            <a:pPr>
              <a:buNone/>
            </a:pPr>
            <a:r>
              <a:rPr lang="en-US" dirty="0" smtClean="0"/>
              <a:t>             especially in complex models</a:t>
            </a:r>
          </a:p>
          <a:p>
            <a:r>
              <a:rPr lang="en-US" dirty="0" smtClean="0"/>
              <a:t>Many natural extensions: partial likelihood for censored data, quasi-likelihood for generalized estimating equations, </a:t>
            </a:r>
            <a:r>
              <a:rPr lang="en-US" dirty="0" smtClean="0">
                <a:solidFill>
                  <a:srgbClr val="0000FF"/>
                </a:solidFill>
              </a:rPr>
              <a:t>composite likelihood for dependent 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Complex models                  </a:t>
            </a:r>
            <a:r>
              <a:rPr lang="en-US" baseline="30000" dirty="0" smtClean="0"/>
              <a:t>14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Example: longitudinal study of migraine sufferers</a:t>
            </a:r>
          </a:p>
          <a:p>
            <a:r>
              <a:rPr lang="en-US" dirty="0" smtClean="0"/>
              <a:t>Latent variable </a:t>
            </a:r>
          </a:p>
          <a:p>
            <a:r>
              <a:rPr lang="en-US" dirty="0" smtClean="0"/>
              <a:t>Observed variable </a:t>
            </a:r>
          </a:p>
          <a:p>
            <a:endParaRPr lang="en-US" dirty="0" smtClean="0"/>
          </a:p>
          <a:p>
            <a:r>
              <a:rPr lang="en-US" dirty="0" smtClean="0"/>
              <a:t>E.g. no headache, mild, moderate, intense …</a:t>
            </a:r>
          </a:p>
          <a:p>
            <a:r>
              <a:rPr lang="en-US" dirty="0" smtClean="0"/>
              <a:t>         Covariates: age, education, painkillers, weather, …</a:t>
            </a:r>
          </a:p>
          <a:p>
            <a:r>
              <a:rPr lang="en-US" dirty="0" smtClean="0"/>
              <a:t>              random effects between and within subjects</a:t>
            </a:r>
          </a:p>
          <a:p>
            <a:r>
              <a:rPr lang="en-US" dirty="0" smtClean="0"/>
              <a:t>Serial correlation </a:t>
            </a:r>
          </a:p>
        </p:txBody>
      </p:sp>
      <p:pic>
        <p:nvPicPr>
          <p:cNvPr id="6" name="Picture 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100388" y="2132013"/>
            <a:ext cx="3187700" cy="4572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152753" y="3081338"/>
            <a:ext cx="5867400" cy="4191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812318" y="4320746"/>
            <a:ext cx="419100" cy="2794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674688" y="4722813"/>
            <a:ext cx="914400" cy="3556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3426993" y="5196031"/>
            <a:ext cx="4381500" cy="43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534400" cy="758952"/>
          </a:xfrm>
        </p:spPr>
        <p:txBody>
          <a:bodyPr/>
          <a:lstStyle/>
          <a:p>
            <a:r>
              <a:rPr lang="en-US" dirty="0" smtClean="0"/>
              <a:t>     Likelihood for longitudinal discrete data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Likelihood function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Hard to compute</a:t>
            </a:r>
          </a:p>
          <a:p>
            <a:r>
              <a:rPr lang="en-US" dirty="0" smtClean="0"/>
              <a:t>Makes strong assumptions</a:t>
            </a:r>
          </a:p>
          <a:p>
            <a:r>
              <a:rPr lang="en-US" dirty="0" smtClean="0"/>
              <a:t>Proposal:  use </a:t>
            </a:r>
            <a:r>
              <a:rPr lang="en-US" dirty="0" err="1" smtClean="0"/>
              <a:t>bivariate</a:t>
            </a:r>
            <a:r>
              <a:rPr lang="en-US" dirty="0" smtClean="0"/>
              <a:t> marginal densities </a:t>
            </a:r>
          </a:p>
          <a:p>
            <a:pPr>
              <a:buNone/>
            </a:pPr>
            <a:r>
              <a:rPr lang="en-US" dirty="0" smtClean="0"/>
              <a:t>           instead of full multivariate normal densities</a:t>
            </a:r>
          </a:p>
          <a:p>
            <a:r>
              <a:rPr lang="en-US" dirty="0" smtClean="0"/>
              <a:t>Giving a </a:t>
            </a:r>
            <a:r>
              <a:rPr lang="en-US" dirty="0" err="1" smtClean="0"/>
              <a:t>mis</a:t>
            </a:r>
            <a:r>
              <a:rPr lang="en-US" dirty="0" smtClean="0"/>
              <a:t>-specified model</a:t>
            </a:r>
          </a:p>
        </p:txBody>
      </p:sp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86448" y="2347913"/>
            <a:ext cx="84201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Composite likelihood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Composite likelihood function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More generally</a:t>
            </a:r>
          </a:p>
          <a:p>
            <a:endParaRPr lang="en-US" dirty="0" smtClean="0"/>
          </a:p>
          <a:p>
            <a:r>
              <a:rPr lang="en-US" dirty="0" smtClean="0"/>
              <a:t>Sets           index marginal or conditional (or …) </a:t>
            </a:r>
          </a:p>
          <a:p>
            <a:pPr>
              <a:buNone/>
            </a:pPr>
            <a:r>
              <a:rPr lang="en-US" dirty="0" smtClean="0"/>
              <a:t>	     distributions</a:t>
            </a:r>
          </a:p>
          <a:p>
            <a:r>
              <a:rPr lang="en-US" dirty="0" smtClean="0"/>
              <a:t>Inference based on theory of estimating equations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03300" y="2316163"/>
            <a:ext cx="7137400" cy="10414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189693" y="3379163"/>
            <a:ext cx="4165600" cy="10541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1482103" y="4736137"/>
            <a:ext cx="431800" cy="33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             A simple example                   </a:t>
            </a:r>
            <a:r>
              <a:rPr lang="en-US" baseline="30000" dirty="0" smtClean="0"/>
              <a:t>16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Pairwise</a:t>
            </a:r>
            <a:r>
              <a:rPr lang="en-US" dirty="0" smtClean="0"/>
              <a:t> likelihood estimator of      fully efficient</a:t>
            </a:r>
          </a:p>
          <a:p>
            <a:r>
              <a:rPr lang="en-US" dirty="0" smtClean="0"/>
              <a:t>If               ,  loss of efficiency depends on dimension</a:t>
            </a:r>
          </a:p>
          <a:p>
            <a:r>
              <a:rPr lang="en-US" dirty="0" smtClean="0"/>
              <a:t>Small for dimension less than, say, 10</a:t>
            </a:r>
          </a:p>
          <a:p>
            <a:r>
              <a:rPr lang="en-US" dirty="0" smtClean="0"/>
              <a:t>Falls apart if                   for fixed sample size</a:t>
            </a:r>
          </a:p>
          <a:p>
            <a:pPr lvl="1"/>
            <a:r>
              <a:rPr lang="en-US" dirty="0" smtClean="0"/>
              <a:t>Relevant for time series, genetics applications 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8" name="Picture 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89375" y="1533435"/>
            <a:ext cx="4038600" cy="19304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5363400" y="3731107"/>
            <a:ext cx="152400" cy="2667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1079080" y="4175125"/>
            <a:ext cx="990600" cy="3175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8172480" y="4311026"/>
            <a:ext cx="190500" cy="2413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877888" y="2138363"/>
            <a:ext cx="2082800" cy="774700"/>
          </a:xfrm>
          <a:prstGeom prst="rect">
            <a:avLst/>
          </a:prstGeom>
        </p:spPr>
      </p:pic>
      <p:pic>
        <p:nvPicPr>
          <p:cNvPr id="16" name="Picture 1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3"/>
              <a:stretch>
                <a:fillRect/>
              </a:stretch>
            </p:blipFill>
          </mc:Choice>
          <mc:Fallback>
            <p:blipFill>
              <a:blip r:embed="rId14"/>
              <a:stretch>
                <a:fillRect/>
              </a:stretch>
            </p:blipFill>
          </mc:Fallback>
        </mc:AlternateContent>
        <p:spPr>
          <a:xfrm>
            <a:off x="2621928" y="5318607"/>
            <a:ext cx="1079500" cy="26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Composite likelihood estimator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err="1" smtClean="0"/>
              <a:t>Godambe</a:t>
            </a:r>
            <a:r>
              <a:rPr lang="en-US" dirty="0" smtClean="0"/>
              <a:t> information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330450" y="1742398"/>
            <a:ext cx="4483100" cy="3810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829050" y="2543175"/>
            <a:ext cx="1485900" cy="4064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2260600" y="3319463"/>
            <a:ext cx="4622800" cy="4826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2768600" y="4179888"/>
            <a:ext cx="3683000" cy="393700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466725" y="5573074"/>
            <a:ext cx="8369300" cy="39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Recent Applications                  </a:t>
            </a:r>
            <a:r>
              <a:rPr lang="en-US" baseline="30000" dirty="0" smtClean="0"/>
              <a:t>17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Longitudinal data, binary and continuous:  random effects models</a:t>
            </a:r>
          </a:p>
          <a:p>
            <a:r>
              <a:rPr lang="en-US" dirty="0" smtClean="0"/>
              <a:t>Survival analysis:  frailty models, copulas </a:t>
            </a:r>
          </a:p>
          <a:p>
            <a:r>
              <a:rPr lang="en-US" dirty="0" smtClean="0"/>
              <a:t>Multi-type responses: discrete and continuous;     markers and event times</a:t>
            </a:r>
          </a:p>
          <a:p>
            <a:r>
              <a:rPr lang="en-US" dirty="0" smtClean="0"/>
              <a:t>Finance: time-varying covariance models </a:t>
            </a:r>
          </a:p>
          <a:p>
            <a:r>
              <a:rPr lang="en-US" dirty="0" smtClean="0"/>
              <a:t>Genetics/bioinformatics:  CCL for </a:t>
            </a:r>
            <a:r>
              <a:rPr lang="en-US" dirty="0" err="1" smtClean="0"/>
              <a:t>vonMises</a:t>
            </a:r>
            <a:r>
              <a:rPr lang="en-US" dirty="0" smtClean="0"/>
              <a:t> distribution: protein folding; gene mapping; linkage disequilibrium</a:t>
            </a:r>
          </a:p>
          <a:p>
            <a:r>
              <a:rPr lang="en-US" dirty="0" smtClean="0"/>
              <a:t>Spatial data: </a:t>
            </a:r>
            <a:r>
              <a:rPr lang="en-US" dirty="0" err="1" smtClean="0"/>
              <a:t>geostatistics</a:t>
            </a:r>
            <a:r>
              <a:rPr lang="en-US" dirty="0" smtClean="0"/>
              <a:t>, spatial point processes 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 and more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Image analysis </a:t>
            </a:r>
          </a:p>
          <a:p>
            <a:r>
              <a:rPr lang="en-US" dirty="0" err="1" smtClean="0"/>
              <a:t>Rasch</a:t>
            </a:r>
            <a:r>
              <a:rPr lang="en-US" dirty="0" smtClean="0"/>
              <a:t> model</a:t>
            </a:r>
          </a:p>
          <a:p>
            <a:r>
              <a:rPr lang="en-US" dirty="0" smtClean="0"/>
              <a:t>Bradley-Terry model  </a:t>
            </a:r>
          </a:p>
          <a:p>
            <a:r>
              <a:rPr lang="en-US" dirty="0" smtClean="0"/>
              <a:t>State space models</a:t>
            </a:r>
          </a:p>
          <a:p>
            <a:r>
              <a:rPr lang="en-US" dirty="0" smtClean="0"/>
              <a:t>Population dynamics</a:t>
            </a:r>
          </a:p>
          <a:p>
            <a:r>
              <a:rPr lang="en-US" dirty="0" smtClean="0"/>
              <a:t> … 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we learn?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need to know?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Why are composite likelihood estimators efficient?</a:t>
            </a:r>
          </a:p>
          <a:p>
            <a:r>
              <a:rPr lang="en-US" dirty="0" smtClean="0"/>
              <a:t>How much information should we use?</a:t>
            </a:r>
          </a:p>
          <a:p>
            <a:r>
              <a:rPr lang="en-US" dirty="0" smtClean="0"/>
              <a:t>Are the parameters guaranteed to be identifiable?</a:t>
            </a:r>
          </a:p>
          <a:p>
            <a:r>
              <a:rPr lang="en-US" dirty="0" smtClean="0"/>
              <a:t>Are we sure the components are consistent with a ‘true’ model?</a:t>
            </a:r>
          </a:p>
          <a:p>
            <a:r>
              <a:rPr lang="en-US" dirty="0" smtClean="0"/>
              <a:t>Can we make progress if not?</a:t>
            </a:r>
          </a:p>
          <a:p>
            <a:r>
              <a:rPr lang="en-US" dirty="0" smtClean="0"/>
              <a:t>How do joint densities get constructed?</a:t>
            </a:r>
          </a:p>
          <a:p>
            <a:r>
              <a:rPr lang="en-US" dirty="0" smtClean="0"/>
              <a:t>What properties do these constructions have?</a:t>
            </a:r>
          </a:p>
          <a:p>
            <a:r>
              <a:rPr lang="en-US" dirty="0" smtClean="0"/>
              <a:t>Is composite likelihood robust?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this important?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Partial, quasi, composite likelihood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Composite likelihood ideas generated from applications</a:t>
            </a:r>
          </a:p>
          <a:p>
            <a:r>
              <a:rPr lang="en-US" dirty="0" smtClean="0"/>
              <a:t>Likelihood methods seem too complicated</a:t>
            </a:r>
          </a:p>
          <a:p>
            <a:r>
              <a:rPr lang="en-US" dirty="0" smtClean="0"/>
              <a:t>A range of application areas all use the same/similar ideas</a:t>
            </a:r>
          </a:p>
          <a:p>
            <a:r>
              <a:rPr lang="en-US" dirty="0" smtClean="0"/>
              <a:t>Abstraction provided by theory allows us to step back from the particular application</a:t>
            </a:r>
          </a:p>
          <a:p>
            <a:r>
              <a:rPr lang="en-US" dirty="0" smtClean="0"/>
              <a:t>Get some understanding about when the methods might not work</a:t>
            </a:r>
          </a:p>
          <a:p>
            <a:r>
              <a:rPr lang="en-US" dirty="0" smtClean="0"/>
              <a:t>As well as when they are expected to work well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theory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Abstracts the main ideas</a:t>
            </a:r>
          </a:p>
          <a:p>
            <a:r>
              <a:rPr lang="en-US" dirty="0" smtClean="0"/>
              <a:t>Simplifies the details</a:t>
            </a:r>
          </a:p>
          <a:p>
            <a:r>
              <a:rPr lang="en-US" dirty="0" smtClean="0"/>
              <a:t>Isolates particular features</a:t>
            </a:r>
          </a:p>
          <a:p>
            <a:r>
              <a:rPr lang="en-US" dirty="0" smtClean="0"/>
              <a:t>In the best scenario, gives new insight into what underlies our intuition</a:t>
            </a:r>
          </a:p>
          <a:p>
            <a:r>
              <a:rPr lang="en-US" dirty="0" smtClean="0"/>
              <a:t>Example: curvature and Bayesian inference</a:t>
            </a:r>
          </a:p>
          <a:p>
            <a:r>
              <a:rPr lang="en-US" dirty="0" smtClean="0"/>
              <a:t>Example: composite likelihood 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Example: false discovery rates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False discovery rates                </a:t>
            </a:r>
            <a:r>
              <a:rPr lang="en-US" baseline="30000" dirty="0" smtClean="0"/>
              <a:t>18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Problem of multiple comparisons</a:t>
            </a:r>
          </a:p>
          <a:p>
            <a:pPr lvl="1"/>
            <a:r>
              <a:rPr lang="en-US" dirty="0" smtClean="0"/>
              <a:t>Simultaneous statistical inference – R.G. Miller, 1966</a:t>
            </a:r>
          </a:p>
          <a:p>
            <a:r>
              <a:rPr lang="en-US" dirty="0" err="1" smtClean="0"/>
              <a:t>Bonferroni</a:t>
            </a:r>
            <a:r>
              <a:rPr lang="en-US" dirty="0" smtClean="0"/>
              <a:t> correction too strong</a:t>
            </a:r>
          </a:p>
          <a:p>
            <a:r>
              <a:rPr lang="en-US" dirty="0" err="1" smtClean="0"/>
              <a:t>Benjamini</a:t>
            </a:r>
            <a:r>
              <a:rPr lang="en-US" dirty="0" smtClean="0"/>
              <a:t> and Hochberg, 1995</a:t>
            </a:r>
          </a:p>
          <a:p>
            <a:r>
              <a:rPr lang="en-US" dirty="0" smtClean="0"/>
              <a:t>Introduce False Discovery Rate</a:t>
            </a:r>
          </a:p>
          <a:p>
            <a:pPr lvl="1"/>
            <a:r>
              <a:rPr lang="en-US" dirty="0" smtClean="0"/>
              <a:t>An improvement (huge!) on “Type I and Type II error”</a:t>
            </a:r>
          </a:p>
          <a:p>
            <a:r>
              <a:rPr lang="en-US" dirty="0" smtClean="0"/>
              <a:t>Then comes data, in this case from astrophysics</a:t>
            </a:r>
          </a:p>
          <a:p>
            <a:r>
              <a:rPr lang="en-US" dirty="0" smtClean="0"/>
              <a:t>Genovese &amp; Wasserman collaborating with Miller and Nichol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False discovery rates                </a:t>
            </a:r>
            <a:r>
              <a:rPr lang="en-US" baseline="30000" dirty="0" smtClean="0"/>
              <a:t>19</a:t>
            </a:r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 descr="230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7680"/>
              <a:stretch>
                <a:fillRect/>
              </a:stretch>
            </p:blipFill>
          </mc:Choice>
          <mc:Fallback>
            <p:blipFill>
              <a:blip r:embed="rId4"/>
              <a:srcRect t="27680"/>
              <a:stretch>
                <a:fillRect/>
              </a:stretch>
            </p:blipFill>
          </mc:Fallback>
        </mc:AlternateContent>
        <p:spPr>
          <a:xfrm>
            <a:off x="1935686" y="1403684"/>
            <a:ext cx="5299364" cy="4959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     Speculation               </a:t>
            </a:r>
            <a:r>
              <a:rPr lang="en-US" baseline="30000" dirty="0" smtClean="0"/>
              <a:t>20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Composite likelihood as a smoother</a:t>
            </a:r>
          </a:p>
          <a:p>
            <a:r>
              <a:rPr lang="en-US" dirty="0" smtClean="0"/>
              <a:t>Calibration of posterior inference</a:t>
            </a:r>
          </a:p>
          <a:p>
            <a:r>
              <a:rPr lang="en-US" dirty="0" smtClean="0"/>
              <a:t>Extension of higher order </a:t>
            </a:r>
            <a:r>
              <a:rPr lang="en-US" dirty="0" err="1" smtClean="0"/>
              <a:t>asymptotics</a:t>
            </a:r>
            <a:r>
              <a:rPr lang="en-US" dirty="0" smtClean="0"/>
              <a:t> to composite likelihood</a:t>
            </a:r>
          </a:p>
          <a:p>
            <a:r>
              <a:rPr lang="en-US" dirty="0" smtClean="0"/>
              <a:t>Exponential families and empirical likelihood</a:t>
            </a:r>
          </a:p>
          <a:p>
            <a:r>
              <a:rPr lang="en-US" dirty="0" smtClean="0"/>
              <a:t>Semi-parametric and non-parametric models connected to higher order </a:t>
            </a:r>
            <a:r>
              <a:rPr lang="en-US" dirty="0" err="1" smtClean="0"/>
              <a:t>asymptotics</a:t>
            </a:r>
            <a:endParaRPr lang="en-US" dirty="0" smtClean="0"/>
          </a:p>
          <a:p>
            <a:r>
              <a:rPr lang="en-US" dirty="0" smtClean="0"/>
              <a:t>Effective dimension reduction for inference</a:t>
            </a:r>
          </a:p>
          <a:p>
            <a:r>
              <a:rPr lang="en-US" dirty="0" smtClean="0"/>
              <a:t>Ensemble methods in machine learning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353" y="128970"/>
            <a:ext cx="1093799" cy="12518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Speculation                </a:t>
            </a:r>
            <a:r>
              <a:rPr lang="en-US" baseline="30000" dirty="0" smtClean="0"/>
              <a:t>21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“in statistics the problems always evolve relative to the development of new data structures and new computational tools”  …   NSF report</a:t>
            </a:r>
          </a:p>
          <a:p>
            <a:r>
              <a:rPr lang="en-US" dirty="0" smtClean="0"/>
              <a:t>“Statistics is driven by data” … Don McLeish</a:t>
            </a:r>
          </a:p>
          <a:p>
            <a:r>
              <a:rPr lang="en-US" dirty="0" smtClean="0"/>
              <a:t>“Our discipline needs collaborations” … Hugh </a:t>
            </a:r>
            <a:r>
              <a:rPr lang="en-US" dirty="0" err="1" smtClean="0"/>
              <a:t>Chipman</a:t>
            </a:r>
            <a:endParaRPr lang="en-US" dirty="0" smtClean="0"/>
          </a:p>
          <a:p>
            <a:r>
              <a:rPr lang="en-US" dirty="0" smtClean="0"/>
              <a:t>How do we create opportunities? </a:t>
            </a:r>
          </a:p>
          <a:p>
            <a:r>
              <a:rPr lang="en-US" dirty="0" smtClean="0"/>
              <a:t>How do we establish an independent identity?</a:t>
            </a:r>
          </a:p>
          <a:p>
            <a:r>
              <a:rPr lang="en-US" dirty="0" smtClean="0"/>
              <a:t>In the face of bureaucratic pressures to merge?</a:t>
            </a:r>
          </a:p>
          <a:p>
            <a:r>
              <a:rPr lang="en-US" dirty="0" smtClean="0"/>
              <a:t>Keep emphasizing what we do best!!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7" name="Picture 6" descr="Screen shot 2010-05-24 at 2.04.12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41" y="80208"/>
            <a:ext cx="1307901" cy="12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Speculation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Where are we headed?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877936"/>
          </a:xfrm>
        </p:spPr>
        <p:txBody>
          <a:bodyPr>
            <a:normAutofit/>
          </a:bodyPr>
          <a:lstStyle/>
          <a:p>
            <a:r>
              <a:rPr lang="en-US" dirty="0" smtClean="0"/>
              <a:t>Engle</a:t>
            </a:r>
          </a:p>
          <a:p>
            <a:pPr lvl="1"/>
            <a:r>
              <a:rPr lang="en-US" dirty="0" smtClean="0"/>
              <a:t>Variation, </a:t>
            </a:r>
            <a:r>
              <a:rPr lang="en-US" dirty="0" err="1" smtClean="0"/>
              <a:t>modelling</a:t>
            </a:r>
            <a:r>
              <a:rPr lang="en-US" dirty="0" smtClean="0"/>
              <a:t>, data, theory, data, theory</a:t>
            </a:r>
          </a:p>
          <a:p>
            <a:r>
              <a:rPr lang="en-US" dirty="0" err="1" smtClean="0"/>
              <a:t>Tibshirani</a:t>
            </a:r>
            <a:endParaRPr lang="en-US" dirty="0" smtClean="0"/>
          </a:p>
          <a:p>
            <a:pPr lvl="1"/>
            <a:r>
              <a:rPr lang="en-US" dirty="0" smtClean="0"/>
              <a:t>Cross-validation; forensic statistics </a:t>
            </a:r>
          </a:p>
          <a:p>
            <a:r>
              <a:rPr lang="en-US" dirty="0" smtClean="0"/>
              <a:t>Netflix Grand Prize</a:t>
            </a:r>
          </a:p>
          <a:p>
            <a:pPr lvl="1"/>
            <a:r>
              <a:rPr lang="en-US" dirty="0" smtClean="0"/>
              <a:t>Recommender systems: machine learning, psychology, statistics!</a:t>
            </a:r>
          </a:p>
          <a:p>
            <a:r>
              <a:rPr lang="en-US" dirty="0" err="1" smtClean="0"/>
              <a:t>Tufte</a:t>
            </a:r>
            <a:endParaRPr lang="en-US" dirty="0" smtClean="0"/>
          </a:p>
          <a:p>
            <a:pPr lvl="1"/>
            <a:r>
              <a:rPr lang="en-US" dirty="0" smtClean="0"/>
              <a:t> “Visual Display of Quantitative Information” -- 1983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7" name="Picture 6" descr="Screen shot 2010-05-24 at 2.04.12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41" y="80208"/>
            <a:ext cx="1307901" cy="12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</a:t>
            </a:r>
            <a:r>
              <a:rPr lang="en-US" dirty="0" err="1" smtClean="0">
                <a:hlinkClick r:id="rId2"/>
              </a:rPr>
              <a:t>recovery.gov</a:t>
            </a:r>
            <a:endParaRPr lang="en-US" dirty="0"/>
          </a:p>
        </p:txBody>
      </p:sp>
      <p:pic>
        <p:nvPicPr>
          <p:cNvPr id="4" name="Content Placeholder 3" descr="Screen shot 2010-04-15 at 2.19.15 PM.png"/>
          <p:cNvPicPr>
            <a:picLocks noGrp="1" noChangeAspect="1"/>
          </p:cNvPicPr>
          <p:nvPr>
            <p:ph idx="1"/>
          </p:nvPr>
        </p:nvPicPr>
        <p:blipFill>
          <a:blip r:embed="rId3"/>
          <a:srcRect l="21765" t="24434" r="22100" b="24167"/>
          <a:stretch>
            <a:fillRect/>
          </a:stretch>
        </p:blipFill>
        <p:spPr>
          <a:xfrm>
            <a:off x="-1029724" y="196200"/>
            <a:ext cx="11090562" cy="6661800"/>
          </a:xfrm>
        </p:spPr>
      </p:pic>
      <p:sp>
        <p:nvSpPr>
          <p:cNvPr id="5" name="TextBox 4"/>
          <p:cNvSpPr txBox="1"/>
          <p:nvPr/>
        </p:nvSpPr>
        <p:spPr>
          <a:xfrm>
            <a:off x="1066800" y="2209800"/>
            <a:ext cx="6862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787,000,000,000  $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58952"/>
          </a:xfrm>
        </p:spPr>
        <p:txBody>
          <a:bodyPr>
            <a:normAutofit/>
          </a:bodyPr>
          <a:lstStyle/>
          <a:p>
            <a:r>
              <a:rPr lang="en-US" dirty="0" smtClean="0"/>
              <a:t>Thank you!!</a:t>
            </a:r>
            <a:endParaRPr lang="en-US" dirty="0"/>
          </a:p>
        </p:txBody>
      </p:sp>
      <p:pic>
        <p:nvPicPr>
          <p:cNvPr id="6" name="Content Placeholder 5" descr="qc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-52843" r="-52843"/>
          <a:stretch>
            <a:fillRect/>
          </a:stretch>
        </p:blipFill>
        <p:spPr>
          <a:xfrm>
            <a:off x="301752" y="1104068"/>
            <a:ext cx="8503920" cy="4572000"/>
          </a:xfrm>
        </p:spPr>
      </p:pic>
      <p:pic>
        <p:nvPicPr>
          <p:cNvPr id="8" name="Picture 7" descr="sscm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5495925"/>
            <a:ext cx="7378700" cy="990600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58952"/>
          </a:xfrm>
        </p:spPr>
        <p:txBody>
          <a:bodyPr>
            <a:normAutofit/>
          </a:bodyPr>
          <a:lstStyle/>
          <a:p>
            <a:r>
              <a:rPr lang="en-US" dirty="0" smtClean="0"/>
              <a:t>End Notes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45019" y="987553"/>
            <a:ext cx="185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SSC  2010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smtClean="0"/>
              <a:t>Theory of statistics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87947" y="973747"/>
            <a:ext cx="8503920" cy="5111495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“Making Sense of Statistics” </a:t>
            </a:r>
            <a:r>
              <a:rPr lang="en-US" sz="2857" dirty="0" smtClean="0">
                <a:solidFill>
                  <a:prstClr val="black"/>
                </a:solidFill>
                <a:latin typeface="+mn-lt"/>
              </a:rPr>
              <a:t>Accessed on May 5, 2010.</a:t>
            </a:r>
            <a:r>
              <a:rPr lang="en-US" sz="2857" dirty="0" smtClean="0">
                <a:latin typeface="+mn-lt"/>
              </a:rPr>
              <a:t> </a:t>
            </a:r>
            <a:r>
              <a:rPr lang="en-US" sz="2857" dirty="0" smtClean="0">
                <a:latin typeface="+mn-lt"/>
                <a:hlinkClick r:id="rId3"/>
              </a:rPr>
              <a:t>http://www.senseaboutscience.org.uk/</a:t>
            </a:r>
            <a:endParaRPr lang="en-US" sz="2857" baseline="30000" dirty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Midlife Crisis: National Post, January 30, 2008.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Alessandra </a:t>
            </a:r>
            <a:r>
              <a:rPr lang="en-US" sz="2857" dirty="0" err="1" smtClean="0">
                <a:latin typeface="+mn-lt"/>
              </a:rPr>
              <a:t>Brazzale</a:t>
            </a:r>
            <a:r>
              <a:rPr lang="en-US" sz="2857" dirty="0" smtClean="0">
                <a:latin typeface="+mn-lt"/>
              </a:rPr>
              <a:t>, Anthony Davison and Reid (2007). </a:t>
            </a:r>
            <a:r>
              <a:rPr lang="en-US" sz="2857" i="1" dirty="0" smtClean="0">
                <a:latin typeface="+mn-lt"/>
              </a:rPr>
              <a:t>Applied </a:t>
            </a:r>
            <a:r>
              <a:rPr lang="en-US" sz="2857" i="1" dirty="0" err="1" smtClean="0">
                <a:latin typeface="+mn-lt"/>
              </a:rPr>
              <a:t>Asymptotics</a:t>
            </a:r>
            <a:r>
              <a:rPr lang="en-US" sz="2857" i="1" dirty="0" smtClean="0">
                <a:latin typeface="+mn-lt"/>
              </a:rPr>
              <a:t>.  </a:t>
            </a:r>
            <a:r>
              <a:rPr lang="en-US" sz="2857" dirty="0" smtClean="0">
                <a:latin typeface="+mn-lt"/>
              </a:rPr>
              <a:t>Cambridge University Press.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err="1" smtClean="0">
                <a:latin typeface="+mn-lt"/>
              </a:rPr>
              <a:t>Amari</a:t>
            </a:r>
            <a:r>
              <a:rPr lang="en-US" sz="2857" dirty="0" smtClean="0">
                <a:latin typeface="+mn-lt"/>
              </a:rPr>
              <a:t> (1982). </a:t>
            </a:r>
            <a:r>
              <a:rPr lang="en-US" sz="2857" i="1" dirty="0" err="1" smtClean="0">
                <a:latin typeface="+mn-lt"/>
              </a:rPr>
              <a:t>Biometrika</a:t>
            </a:r>
            <a:r>
              <a:rPr lang="en-US" sz="2857" i="1" dirty="0" smtClean="0">
                <a:latin typeface="+mn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Fraser, Reid, </a:t>
            </a:r>
            <a:r>
              <a:rPr lang="en-US" sz="2857" dirty="0" err="1" smtClean="0">
                <a:latin typeface="+mn-lt"/>
              </a:rPr>
              <a:t>Jianrong</a:t>
            </a:r>
            <a:r>
              <a:rPr lang="en-US" sz="2857" dirty="0" smtClean="0">
                <a:latin typeface="+mn-lt"/>
              </a:rPr>
              <a:t> Wu. (1999). </a:t>
            </a:r>
            <a:r>
              <a:rPr lang="en-US" sz="2857" i="1" dirty="0" err="1" smtClean="0">
                <a:latin typeface="+mn-lt"/>
              </a:rPr>
              <a:t>Biometrika</a:t>
            </a:r>
            <a:r>
              <a:rPr lang="en-US" sz="2857" i="1" dirty="0" smtClean="0">
                <a:latin typeface="+mn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Reid (2003). </a:t>
            </a:r>
            <a:r>
              <a:rPr lang="en-US" sz="2857" i="1" dirty="0" smtClean="0">
                <a:latin typeface="+mn-lt"/>
              </a:rPr>
              <a:t>Annals 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Fraser (1990). </a:t>
            </a:r>
            <a:r>
              <a:rPr lang="en-US" sz="2857" i="1" dirty="0" smtClean="0">
                <a:latin typeface="+mn-lt"/>
              </a:rPr>
              <a:t>J. Multivariate Anal</a:t>
            </a:r>
            <a:r>
              <a:rPr lang="en-US" sz="2857" dirty="0" smtClean="0">
                <a:latin typeface="+mn-lt"/>
              </a:rPr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Figure drawn by Alessandra </a:t>
            </a:r>
            <a:r>
              <a:rPr lang="en-US" sz="2857" dirty="0" err="1" smtClean="0">
                <a:latin typeface="+mn-lt"/>
              </a:rPr>
              <a:t>Brazzale</a:t>
            </a:r>
            <a:r>
              <a:rPr lang="en-US" sz="2857" dirty="0" smtClean="0">
                <a:latin typeface="+mn-lt"/>
              </a:rPr>
              <a:t>.  From Reid (2003).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Davison, Fraser, Reid (2006). </a:t>
            </a:r>
            <a:r>
              <a:rPr lang="en-US" sz="2857" i="1" dirty="0" smtClean="0">
                <a:latin typeface="+mn-lt"/>
              </a:rPr>
              <a:t>JRSS B.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Davison, Fraser, Reid, </a:t>
            </a:r>
            <a:r>
              <a:rPr lang="en-US" sz="2857" dirty="0" smtClean="0">
                <a:solidFill>
                  <a:srgbClr val="0000FF"/>
                </a:solidFill>
                <a:latin typeface="+mn-lt"/>
              </a:rPr>
              <a:t>Nicola </a:t>
            </a:r>
            <a:r>
              <a:rPr lang="en-US" sz="2857" dirty="0" err="1" smtClean="0">
                <a:solidFill>
                  <a:srgbClr val="0000FF"/>
                </a:solidFill>
                <a:latin typeface="+mn-lt"/>
              </a:rPr>
              <a:t>Sartori</a:t>
            </a:r>
            <a:r>
              <a:rPr lang="en-US" sz="2857" dirty="0" smtClean="0">
                <a:solidFill>
                  <a:srgbClr val="0000FF"/>
                </a:solidFill>
                <a:latin typeface="+mn-lt"/>
              </a:rPr>
              <a:t> (</a:t>
            </a:r>
            <a:r>
              <a:rPr lang="en-US" sz="2857" dirty="0" smtClean="0">
                <a:latin typeface="+mn-lt"/>
              </a:rPr>
              <a:t>2010). in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Reid and Fraser (2010). </a:t>
            </a:r>
            <a:r>
              <a:rPr lang="en-US" sz="2857" i="1" dirty="0" err="1" smtClean="0">
                <a:latin typeface="+mn-lt"/>
              </a:rPr>
              <a:t>Biometrika</a:t>
            </a:r>
            <a:endParaRPr lang="en-US" sz="2857" i="1" dirty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Fraser, Reid, </a:t>
            </a:r>
            <a:r>
              <a:rPr lang="en-US" sz="2857" dirty="0" err="1" smtClean="0">
                <a:latin typeface="+mn-lt"/>
              </a:rPr>
              <a:t>Elisabetta</a:t>
            </a:r>
            <a:r>
              <a:rPr lang="en-US" sz="2857" dirty="0" smtClean="0">
                <a:latin typeface="+mn-lt"/>
              </a:rPr>
              <a:t> </a:t>
            </a:r>
            <a:r>
              <a:rPr lang="en-US" sz="2857" dirty="0" err="1" smtClean="0">
                <a:latin typeface="+mn-lt"/>
              </a:rPr>
              <a:t>Marras</a:t>
            </a:r>
            <a:r>
              <a:rPr lang="en-US" sz="2857" dirty="0" smtClean="0">
                <a:latin typeface="+mn-lt"/>
              </a:rPr>
              <a:t>, Grace </a:t>
            </a:r>
            <a:r>
              <a:rPr lang="en-US" sz="2857" dirty="0" err="1" smtClean="0">
                <a:latin typeface="+mn-lt"/>
              </a:rPr>
              <a:t>Yun</a:t>
            </a:r>
            <a:r>
              <a:rPr lang="en-US" sz="2857" dirty="0" smtClean="0">
                <a:latin typeface="+mn-lt"/>
              </a:rPr>
              <a:t>-Yi (2010). </a:t>
            </a:r>
            <a:r>
              <a:rPr lang="en-US" sz="2857" i="1" dirty="0" smtClean="0">
                <a:latin typeface="+mn-lt"/>
              </a:rPr>
              <a:t>JRSSB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Reid and Ye Sun (2009). </a:t>
            </a:r>
            <a:r>
              <a:rPr lang="en-US" sz="2857" i="1" dirty="0" smtClean="0">
                <a:latin typeface="+mn-lt"/>
              </a:rPr>
              <a:t>Communications in 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J. Heinrich (2003). </a:t>
            </a:r>
            <a:r>
              <a:rPr lang="en-US" sz="2857" i="1" dirty="0" err="1" smtClean="0">
                <a:latin typeface="+mn-lt"/>
              </a:rPr>
              <a:t>Phystat</a:t>
            </a:r>
            <a:r>
              <a:rPr lang="en-US" sz="2857" i="1" dirty="0" smtClean="0">
                <a:latin typeface="+mn-lt"/>
              </a:rPr>
              <a:t> Proceedings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C. </a:t>
            </a:r>
            <a:r>
              <a:rPr lang="en-US" sz="2857" dirty="0" err="1" smtClean="0">
                <a:latin typeface="+mn-lt"/>
              </a:rPr>
              <a:t>Varin</a:t>
            </a:r>
            <a:r>
              <a:rPr lang="en-US" sz="2857" dirty="0" smtClean="0">
                <a:latin typeface="+mn-lt"/>
              </a:rPr>
              <a:t>, C. </a:t>
            </a:r>
            <a:r>
              <a:rPr lang="en-US" sz="2857" dirty="0" err="1" smtClean="0">
                <a:latin typeface="+mn-lt"/>
              </a:rPr>
              <a:t>Czado</a:t>
            </a:r>
            <a:r>
              <a:rPr lang="en-US" sz="2857" dirty="0" smtClean="0">
                <a:latin typeface="+mn-lt"/>
              </a:rPr>
              <a:t> (2010). </a:t>
            </a:r>
            <a:r>
              <a:rPr lang="en-US" sz="2857" i="1" dirty="0" smtClean="0">
                <a:latin typeface="+mn-lt"/>
              </a:rPr>
              <a:t>Biostatistics.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err="1" smtClean="0">
                <a:latin typeface="+mn-lt"/>
              </a:rPr>
              <a:t>D.Cox</a:t>
            </a:r>
            <a:r>
              <a:rPr lang="en-US" sz="2857" dirty="0" smtClean="0">
                <a:latin typeface="+mn-lt"/>
              </a:rPr>
              <a:t>, Reid (2004). </a:t>
            </a:r>
            <a:r>
              <a:rPr lang="en-US" sz="2857" i="1" dirty="0" err="1" smtClean="0">
                <a:latin typeface="+mn-lt"/>
              </a:rPr>
              <a:t>Biometrika</a:t>
            </a:r>
            <a:r>
              <a:rPr lang="en-US" sz="2857" i="1" dirty="0" smtClean="0">
                <a:latin typeface="+mn-lt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CL references in </a:t>
            </a:r>
            <a:r>
              <a:rPr lang="en-US" sz="2857" dirty="0" err="1" smtClean="0">
                <a:latin typeface="+mn-lt"/>
              </a:rPr>
              <a:t>C.Varin</a:t>
            </a:r>
            <a:r>
              <a:rPr lang="en-US" sz="2857" dirty="0" smtClean="0">
                <a:latin typeface="+mn-lt"/>
              </a:rPr>
              <a:t>, </a:t>
            </a:r>
            <a:r>
              <a:rPr lang="en-US" sz="2857" dirty="0" err="1" smtClean="0">
                <a:latin typeface="+mn-lt"/>
              </a:rPr>
              <a:t>D.Firth</a:t>
            </a:r>
            <a:r>
              <a:rPr lang="en-US" sz="2857" dirty="0" smtClean="0">
                <a:latin typeface="+mn-lt"/>
              </a:rPr>
              <a:t>, Reid (2010). Submitted for publication.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Account of FDR and astronomy taken from Lindsay et al (2004). NSF Report on the Future of 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Miller et al. (2001). </a:t>
            </a:r>
            <a:r>
              <a:rPr lang="en-US" sz="2857" i="1" dirty="0" smtClean="0">
                <a:latin typeface="+mn-lt"/>
              </a:rPr>
              <a:t>Science.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Photo: </a:t>
            </a:r>
            <a:r>
              <a:rPr lang="en-US" sz="2857" dirty="0" smtClean="0">
                <a:latin typeface="+mn-lt"/>
                <a:hlinkClick r:id="rId4"/>
              </a:rPr>
              <a:t>http://epiac1216.wordpress.com/2008/09/23/origins-of-the-phrase-pie-in-the-sky/</a:t>
            </a:r>
            <a:r>
              <a:rPr lang="en-US" sz="2857" dirty="0" smtClean="0">
                <a:latin typeface="+mn-lt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57" dirty="0" smtClean="0">
                <a:latin typeface="+mn-lt"/>
              </a:rPr>
              <a:t>Photo: http://www.bankofcanada.ca/en/banknotes/legislation/images/023361-lg.jpg</a:t>
            </a:r>
          </a:p>
          <a:p>
            <a:pPr marL="514350" indent="-514350">
              <a:buFont typeface="+mj-lt"/>
              <a:buAutoNum type="arabicPeriod"/>
            </a:pPr>
            <a:endParaRPr lang="en-US" sz="2857" dirty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i="1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>
              <a:buNone/>
            </a:pPr>
            <a:endParaRPr lang="en-US" baseline="30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Civic.thmx</Template>
  <TotalTime>23271</TotalTime>
  <Words>2656</Words>
  <Application>Microsoft Macintosh PowerPoint</Application>
  <PresentationFormat>On-screen Show (4:3)</PresentationFormat>
  <Paragraphs>470</Paragraphs>
  <Slides>50</Slides>
  <Notes>27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Civic</vt:lpstr>
      <vt:lpstr>Thoughts on the theory of statistics</vt:lpstr>
      <vt:lpstr>Statistics in demand</vt:lpstr>
      <vt:lpstr>      Statistical Thinking                      </vt:lpstr>
      <vt:lpstr>Statistical Thinking                      1</vt:lpstr>
      <vt:lpstr>Statistical theory for 20xx </vt:lpstr>
      <vt:lpstr>Models and likelihood</vt:lpstr>
      <vt:lpstr>              Likelihood is everywhere!             2</vt:lpstr>
      <vt:lpstr>Outline </vt:lpstr>
      <vt:lpstr>P-value functions from likelihood</vt:lpstr>
      <vt:lpstr>P-value functions from likelihood</vt:lpstr>
      <vt:lpstr>Can be nearly exact</vt:lpstr>
      <vt:lpstr>Can be nearly exact</vt:lpstr>
      <vt:lpstr>Can be nearly exact</vt:lpstr>
      <vt:lpstr>Can be nearly exact</vt:lpstr>
      <vt:lpstr>Can be nearly exact</vt:lpstr>
      <vt:lpstr>Can be nearly exact</vt:lpstr>
      <vt:lpstr>                   Can be nearly exact                     3</vt:lpstr>
      <vt:lpstr>     Using higher order approximations</vt:lpstr>
      <vt:lpstr>Where does this come from?</vt:lpstr>
      <vt:lpstr>             Where does this come from?         5,6,7</vt:lpstr>
      <vt:lpstr>             Where does this come from?              8</vt:lpstr>
      <vt:lpstr> Generalizations</vt:lpstr>
      <vt:lpstr>                     Generalizations                   9</vt:lpstr>
      <vt:lpstr>                         Generalizations                     10</vt:lpstr>
      <vt:lpstr>                         Generalizations                     11</vt:lpstr>
      <vt:lpstr>                 What can we learn?               12</vt:lpstr>
      <vt:lpstr>            Example: inference for ED50         13</vt:lpstr>
      <vt:lpstr>          Flat priors are not a good idea!       14</vt:lpstr>
      <vt:lpstr>Flat priors are not a good idea!</vt:lpstr>
      <vt:lpstr>Flat priors are not a good idea!</vt:lpstr>
      <vt:lpstr>More complex models</vt:lpstr>
      <vt:lpstr>                   Complex models                  14</vt:lpstr>
      <vt:lpstr>     Likelihood for longitudinal discrete data</vt:lpstr>
      <vt:lpstr>Composite likelihood</vt:lpstr>
      <vt:lpstr>                          A simple example                   16</vt:lpstr>
      <vt:lpstr>Composite likelihood estimator</vt:lpstr>
      <vt:lpstr>                        Recent Applications                  17</vt:lpstr>
      <vt:lpstr>… and more</vt:lpstr>
      <vt:lpstr>What can we learn?</vt:lpstr>
      <vt:lpstr>What do we need to know?</vt:lpstr>
      <vt:lpstr>Why is this important?</vt:lpstr>
      <vt:lpstr>The role of theory</vt:lpstr>
      <vt:lpstr>                   False discovery rates                18</vt:lpstr>
      <vt:lpstr>                   False discovery rates                19        </vt:lpstr>
      <vt:lpstr>                  Speculation               20</vt:lpstr>
      <vt:lpstr>                   Speculation                21</vt:lpstr>
      <vt:lpstr>Speculation</vt:lpstr>
      <vt:lpstr>http://recovery.gov</vt:lpstr>
      <vt:lpstr>Thank you!!</vt:lpstr>
      <vt:lpstr>End Notes</vt:lpstr>
    </vt:vector>
  </TitlesOfParts>
  <Company>University of Toronto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Thoughts on the theory of statistics</dc:title>
  <dc:creator>Nancy Reid</dc:creator>
  <cp:lastModifiedBy>Nancy Reid</cp:lastModifiedBy>
  <cp:revision>43</cp:revision>
  <cp:lastPrinted>2010-05-10T16:24:53Z</cp:lastPrinted>
  <dcterms:created xsi:type="dcterms:W3CDTF">2010-05-26T15:43:46Z</dcterms:created>
  <dcterms:modified xsi:type="dcterms:W3CDTF">2010-05-26T15:48:36Z</dcterms:modified>
</cp:coreProperties>
</file>