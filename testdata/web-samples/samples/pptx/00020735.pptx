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46"/>
  </p:notesMasterIdLst>
  <p:handoutMasterIdLst>
    <p:handoutMasterId r:id="rId47"/>
  </p:handoutMasterIdLst>
  <p:sldIdLst>
    <p:sldId id="257" r:id="rId2"/>
    <p:sldId id="258" r:id="rId3"/>
    <p:sldId id="330" r:id="rId4"/>
    <p:sldId id="265" r:id="rId5"/>
    <p:sldId id="299" r:id="rId6"/>
    <p:sldId id="266" r:id="rId7"/>
    <p:sldId id="366" r:id="rId8"/>
    <p:sldId id="269" r:id="rId9"/>
    <p:sldId id="284" r:id="rId10"/>
    <p:sldId id="324" r:id="rId11"/>
    <p:sldId id="301" r:id="rId12"/>
    <p:sldId id="285" r:id="rId13"/>
    <p:sldId id="286" r:id="rId14"/>
    <p:sldId id="328" r:id="rId15"/>
    <p:sldId id="337" r:id="rId16"/>
    <p:sldId id="348" r:id="rId17"/>
    <p:sldId id="288" r:id="rId18"/>
    <p:sldId id="311" r:id="rId19"/>
    <p:sldId id="289" r:id="rId20"/>
    <p:sldId id="303" r:id="rId21"/>
    <p:sldId id="341" r:id="rId22"/>
    <p:sldId id="370" r:id="rId23"/>
    <p:sldId id="334" r:id="rId24"/>
    <p:sldId id="291" r:id="rId25"/>
    <p:sldId id="331" r:id="rId26"/>
    <p:sldId id="292" r:id="rId27"/>
    <p:sldId id="309" r:id="rId28"/>
    <p:sldId id="310" r:id="rId29"/>
    <p:sldId id="294" r:id="rId30"/>
    <p:sldId id="295" r:id="rId31"/>
    <p:sldId id="296" r:id="rId32"/>
    <p:sldId id="322" r:id="rId33"/>
    <p:sldId id="297" r:id="rId34"/>
    <p:sldId id="298" r:id="rId35"/>
    <p:sldId id="313" r:id="rId36"/>
    <p:sldId id="314" r:id="rId37"/>
    <p:sldId id="315" r:id="rId38"/>
    <p:sldId id="316" r:id="rId39"/>
    <p:sldId id="326" r:id="rId40"/>
    <p:sldId id="319" r:id="rId41"/>
    <p:sldId id="367" r:id="rId42"/>
    <p:sldId id="368" r:id="rId43"/>
    <p:sldId id="369" r:id="rId44"/>
    <p:sldId id="345" r:id="rId45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84F89A"/>
    <a:srgbClr val="FF33CC"/>
    <a:srgbClr val="FF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851" autoAdjust="0"/>
  </p:normalViewPr>
  <p:slideViewPr>
    <p:cSldViewPr>
      <p:cViewPr>
        <p:scale>
          <a:sx n="75" d="100"/>
          <a:sy n="75" d="100"/>
        </p:scale>
        <p:origin x="-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675715-A080-4163-866C-2B995F8E8374}" type="doc">
      <dgm:prSet loTypeId="urn:microsoft.com/office/officeart/2005/8/layout/vList6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fr-FR"/>
        </a:p>
      </dgm:t>
    </dgm:pt>
    <dgm:pt modelId="{C22A83C3-E213-4D47-B41B-344A74988192}">
      <dgm:prSet phldrT="[Texte]"/>
      <dgm:spPr/>
      <dgm:t>
        <a:bodyPr/>
        <a:lstStyle/>
        <a:p>
          <a:r>
            <a:rPr lang="fr-FR" b="1" u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Niveau 1 </a:t>
          </a:r>
          <a:r>
            <a:rPr lang="fr-FR" dirty="0" smtClean="0"/>
            <a:t>Connaître les effectifs par métiers</a:t>
          </a:r>
          <a:endParaRPr lang="fr-FR" dirty="0"/>
        </a:p>
      </dgm:t>
    </dgm:pt>
    <dgm:pt modelId="{CF06C188-30DC-4CB7-B1E3-B7AE55AC3F49}" type="parTrans" cxnId="{F4E391E2-4944-4921-B69D-F2979C4F6927}">
      <dgm:prSet/>
      <dgm:spPr/>
      <dgm:t>
        <a:bodyPr/>
        <a:lstStyle/>
        <a:p>
          <a:endParaRPr lang="fr-FR"/>
        </a:p>
      </dgm:t>
    </dgm:pt>
    <dgm:pt modelId="{5A4A540F-C396-4CE1-B209-C28708B5A181}" type="sibTrans" cxnId="{F4E391E2-4944-4921-B69D-F2979C4F6927}">
      <dgm:prSet/>
      <dgm:spPr/>
      <dgm:t>
        <a:bodyPr/>
        <a:lstStyle/>
        <a:p>
          <a:endParaRPr lang="fr-FR"/>
        </a:p>
      </dgm:t>
    </dgm:pt>
    <dgm:pt modelId="{CF325E9C-64E7-4C4C-81AB-88ECAB38BC07}">
      <dgm:prSet phldrT="[Texte]" custT="1"/>
      <dgm:spPr/>
      <dgm:t>
        <a:bodyPr/>
        <a:lstStyle/>
        <a:p>
          <a:r>
            <a:rPr lang="fr-FR" sz="1600" dirty="0" smtClean="0"/>
            <a:t>Quels sont les métiers de mon établissement/pôle/service ?</a:t>
          </a:r>
          <a:endParaRPr lang="fr-FR" sz="1600" dirty="0"/>
        </a:p>
      </dgm:t>
    </dgm:pt>
    <dgm:pt modelId="{14F6353B-2D7B-4F73-916A-EE01A42D778C}" type="parTrans" cxnId="{8EA28B8F-C99B-4AB9-88CB-D200742D3777}">
      <dgm:prSet/>
      <dgm:spPr/>
      <dgm:t>
        <a:bodyPr/>
        <a:lstStyle/>
        <a:p>
          <a:endParaRPr lang="fr-FR"/>
        </a:p>
      </dgm:t>
    </dgm:pt>
    <dgm:pt modelId="{C81388E3-EF41-4899-98AB-88262CA8B14D}" type="sibTrans" cxnId="{8EA28B8F-C99B-4AB9-88CB-D200742D3777}">
      <dgm:prSet/>
      <dgm:spPr/>
      <dgm:t>
        <a:bodyPr/>
        <a:lstStyle/>
        <a:p>
          <a:endParaRPr lang="fr-FR"/>
        </a:p>
      </dgm:t>
    </dgm:pt>
    <dgm:pt modelId="{662446F4-2E2D-405D-8299-3B532535DC05}">
      <dgm:prSet phldrT="[Texte]" custT="1"/>
      <dgm:spPr/>
      <dgm:t>
        <a:bodyPr/>
        <a:lstStyle/>
        <a:p>
          <a:r>
            <a:rPr lang="fr-FR" sz="1600" dirty="0" smtClean="0"/>
            <a:t>Combien y a-t-il d’agents par métier?</a:t>
          </a:r>
          <a:endParaRPr lang="fr-FR" sz="1600" dirty="0"/>
        </a:p>
      </dgm:t>
    </dgm:pt>
    <dgm:pt modelId="{E5C2BCF5-65DA-4120-ABF8-BD6B1DE7BA67}" type="parTrans" cxnId="{C896B039-E5C1-4000-8DB4-98504A4DFD24}">
      <dgm:prSet/>
      <dgm:spPr/>
      <dgm:t>
        <a:bodyPr/>
        <a:lstStyle/>
        <a:p>
          <a:endParaRPr lang="fr-FR"/>
        </a:p>
      </dgm:t>
    </dgm:pt>
    <dgm:pt modelId="{95B77833-BEE4-48B8-A84F-DAB657A2701D}" type="sibTrans" cxnId="{C896B039-E5C1-4000-8DB4-98504A4DFD24}">
      <dgm:prSet/>
      <dgm:spPr/>
      <dgm:t>
        <a:bodyPr/>
        <a:lstStyle/>
        <a:p>
          <a:endParaRPr lang="fr-FR"/>
        </a:p>
      </dgm:t>
    </dgm:pt>
    <dgm:pt modelId="{D759644C-5DD5-4B76-B185-2683D83E2357}">
      <dgm:prSet phldrT="[Texte]" custT="1"/>
      <dgm:spPr/>
      <dgm:t>
        <a:bodyPr/>
        <a:lstStyle/>
        <a:p>
          <a:endParaRPr lang="fr-FR" sz="2800" dirty="0"/>
        </a:p>
      </dgm:t>
    </dgm:pt>
    <dgm:pt modelId="{DBD2C75F-5444-4AE2-93A6-339A54954395}" type="parTrans" cxnId="{E67FCE0F-0101-4D08-8BB8-F930CA18A854}">
      <dgm:prSet/>
      <dgm:spPr/>
      <dgm:t>
        <a:bodyPr/>
        <a:lstStyle/>
        <a:p>
          <a:endParaRPr lang="fr-FR"/>
        </a:p>
      </dgm:t>
    </dgm:pt>
    <dgm:pt modelId="{AF203933-243B-4E9A-899C-ABC18516BE18}" type="sibTrans" cxnId="{E67FCE0F-0101-4D08-8BB8-F930CA18A854}">
      <dgm:prSet/>
      <dgm:spPr/>
      <dgm:t>
        <a:bodyPr/>
        <a:lstStyle/>
        <a:p>
          <a:endParaRPr lang="fr-FR"/>
        </a:p>
      </dgm:t>
    </dgm:pt>
    <dgm:pt modelId="{46F140F5-C3A8-4EB8-AA85-0A98FB101443}" type="pres">
      <dgm:prSet presAssocID="{B1675715-A080-4163-866C-2B995F8E8374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51E01C1B-D24B-40AB-B343-A55403E7EE52}" type="pres">
      <dgm:prSet presAssocID="{C22A83C3-E213-4D47-B41B-344A74988192}" presName="linNode" presStyleCnt="0"/>
      <dgm:spPr/>
      <dgm:t>
        <a:bodyPr/>
        <a:lstStyle/>
        <a:p>
          <a:endParaRPr lang="fr-FR"/>
        </a:p>
      </dgm:t>
    </dgm:pt>
    <dgm:pt modelId="{7F168855-1A81-42D3-AAD4-6F76C86FA766}" type="pres">
      <dgm:prSet presAssocID="{C22A83C3-E213-4D47-B41B-344A74988192}" presName="parent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C54A649-35D2-4369-9727-2E2A92822F5E}" type="pres">
      <dgm:prSet presAssocID="{C22A83C3-E213-4D47-B41B-344A74988192}" presName="childShp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4E391E2-4944-4921-B69D-F2979C4F6927}" srcId="{B1675715-A080-4163-866C-2B995F8E8374}" destId="{C22A83C3-E213-4D47-B41B-344A74988192}" srcOrd="0" destOrd="0" parTransId="{CF06C188-30DC-4CB7-B1E3-B7AE55AC3F49}" sibTransId="{5A4A540F-C396-4CE1-B209-C28708B5A181}"/>
    <dgm:cxn modelId="{69F2F13D-C171-4466-9F0F-99D226B09B03}" type="presOf" srcId="{D759644C-5DD5-4B76-B185-2683D83E2357}" destId="{7C54A649-35D2-4369-9727-2E2A92822F5E}" srcOrd="0" destOrd="0" presId="urn:microsoft.com/office/officeart/2005/8/layout/vList6"/>
    <dgm:cxn modelId="{E67FCE0F-0101-4D08-8BB8-F930CA18A854}" srcId="{C22A83C3-E213-4D47-B41B-344A74988192}" destId="{D759644C-5DD5-4B76-B185-2683D83E2357}" srcOrd="0" destOrd="0" parTransId="{DBD2C75F-5444-4AE2-93A6-339A54954395}" sibTransId="{AF203933-243B-4E9A-899C-ABC18516BE18}"/>
    <dgm:cxn modelId="{94300224-ED1E-4883-913A-8A15D06959F0}" type="presOf" srcId="{C22A83C3-E213-4D47-B41B-344A74988192}" destId="{7F168855-1A81-42D3-AAD4-6F76C86FA766}" srcOrd="0" destOrd="0" presId="urn:microsoft.com/office/officeart/2005/8/layout/vList6"/>
    <dgm:cxn modelId="{916F9661-8485-412F-A81D-D9F2E5306958}" type="presOf" srcId="{662446F4-2E2D-405D-8299-3B532535DC05}" destId="{7C54A649-35D2-4369-9727-2E2A92822F5E}" srcOrd="0" destOrd="2" presId="urn:microsoft.com/office/officeart/2005/8/layout/vList6"/>
    <dgm:cxn modelId="{8EA28B8F-C99B-4AB9-88CB-D200742D3777}" srcId="{C22A83C3-E213-4D47-B41B-344A74988192}" destId="{CF325E9C-64E7-4C4C-81AB-88ECAB38BC07}" srcOrd="1" destOrd="0" parTransId="{14F6353B-2D7B-4F73-916A-EE01A42D778C}" sibTransId="{C81388E3-EF41-4899-98AB-88262CA8B14D}"/>
    <dgm:cxn modelId="{BA706F1A-FFDE-4E07-A750-9093C1246D3C}" type="presOf" srcId="{CF325E9C-64E7-4C4C-81AB-88ECAB38BC07}" destId="{7C54A649-35D2-4369-9727-2E2A92822F5E}" srcOrd="0" destOrd="1" presId="urn:microsoft.com/office/officeart/2005/8/layout/vList6"/>
    <dgm:cxn modelId="{955E914B-77FF-4DD3-A56B-9ADD1555D75B}" type="presOf" srcId="{B1675715-A080-4163-866C-2B995F8E8374}" destId="{46F140F5-C3A8-4EB8-AA85-0A98FB101443}" srcOrd="0" destOrd="0" presId="urn:microsoft.com/office/officeart/2005/8/layout/vList6"/>
    <dgm:cxn modelId="{C896B039-E5C1-4000-8DB4-98504A4DFD24}" srcId="{C22A83C3-E213-4D47-B41B-344A74988192}" destId="{662446F4-2E2D-405D-8299-3B532535DC05}" srcOrd="2" destOrd="0" parTransId="{E5C2BCF5-65DA-4120-ABF8-BD6B1DE7BA67}" sibTransId="{95B77833-BEE4-48B8-A84F-DAB657A2701D}"/>
    <dgm:cxn modelId="{64B3614F-E43C-45CA-969A-5AA9C3DA06C4}" type="presParOf" srcId="{46F140F5-C3A8-4EB8-AA85-0A98FB101443}" destId="{51E01C1B-D24B-40AB-B343-A55403E7EE52}" srcOrd="0" destOrd="0" presId="urn:microsoft.com/office/officeart/2005/8/layout/vList6"/>
    <dgm:cxn modelId="{6973E483-8CF6-4E6C-9139-61DD6644A9B2}" type="presParOf" srcId="{51E01C1B-D24B-40AB-B343-A55403E7EE52}" destId="{7F168855-1A81-42D3-AAD4-6F76C86FA766}" srcOrd="0" destOrd="0" presId="urn:microsoft.com/office/officeart/2005/8/layout/vList6"/>
    <dgm:cxn modelId="{9996864F-6BB3-4FC0-9E01-A2CA2F359C5D}" type="presParOf" srcId="{51E01C1B-D24B-40AB-B343-A55403E7EE52}" destId="{7C54A649-35D2-4369-9727-2E2A92822F5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675715-A080-4163-866C-2B995F8E8374}" type="doc">
      <dgm:prSet loTypeId="urn:microsoft.com/office/officeart/2005/8/layout/vList6" loCatId="list" qsTypeId="urn:microsoft.com/office/officeart/2005/8/quickstyle/3d1" qsCatId="3D" csTypeId="urn:microsoft.com/office/officeart/2005/8/colors/accent2_4" csCatId="accent2" phldr="1"/>
      <dgm:spPr/>
      <dgm:t>
        <a:bodyPr/>
        <a:lstStyle/>
        <a:p>
          <a:endParaRPr lang="fr-FR"/>
        </a:p>
      </dgm:t>
    </dgm:pt>
    <dgm:pt modelId="{C22A83C3-E213-4D47-B41B-344A74988192}">
      <dgm:prSet phldrT="[Texte]"/>
      <dgm:spPr/>
      <dgm:t>
        <a:bodyPr/>
        <a:lstStyle/>
        <a:p>
          <a:r>
            <a:rPr lang="fr-FR" b="1" u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Niveau 2</a:t>
          </a:r>
        </a:p>
        <a:p>
          <a:r>
            <a:rPr lang="fr-FR" dirty="0" smtClean="0"/>
            <a:t>Intégrer la gestion des métiers et des compétences dans les actes de GRH </a:t>
          </a:r>
          <a:endParaRPr lang="fr-FR" dirty="0"/>
        </a:p>
      </dgm:t>
    </dgm:pt>
    <dgm:pt modelId="{CF06C188-30DC-4CB7-B1E3-B7AE55AC3F49}" type="parTrans" cxnId="{F4E391E2-4944-4921-B69D-F2979C4F6927}">
      <dgm:prSet/>
      <dgm:spPr/>
      <dgm:t>
        <a:bodyPr/>
        <a:lstStyle/>
        <a:p>
          <a:endParaRPr lang="fr-FR"/>
        </a:p>
      </dgm:t>
    </dgm:pt>
    <dgm:pt modelId="{5A4A540F-C396-4CE1-B209-C28708B5A181}" type="sibTrans" cxnId="{F4E391E2-4944-4921-B69D-F2979C4F6927}">
      <dgm:prSet/>
      <dgm:spPr/>
      <dgm:t>
        <a:bodyPr/>
        <a:lstStyle/>
        <a:p>
          <a:endParaRPr lang="fr-FR"/>
        </a:p>
      </dgm:t>
    </dgm:pt>
    <dgm:pt modelId="{CF325E9C-64E7-4C4C-81AB-88ECAB38BC07}">
      <dgm:prSet phldrT="[Texte]"/>
      <dgm:spPr/>
      <dgm:t>
        <a:bodyPr/>
        <a:lstStyle/>
        <a:p>
          <a:r>
            <a:rPr lang="fr-FR" dirty="0" smtClean="0"/>
            <a:t>Quelles sont les compétences requises par chacun des métiers?</a:t>
          </a:r>
          <a:endParaRPr lang="fr-FR" dirty="0"/>
        </a:p>
      </dgm:t>
    </dgm:pt>
    <dgm:pt modelId="{14F6353B-2D7B-4F73-916A-EE01A42D778C}" type="parTrans" cxnId="{8EA28B8F-C99B-4AB9-88CB-D200742D3777}">
      <dgm:prSet/>
      <dgm:spPr/>
      <dgm:t>
        <a:bodyPr/>
        <a:lstStyle/>
        <a:p>
          <a:endParaRPr lang="fr-FR"/>
        </a:p>
      </dgm:t>
    </dgm:pt>
    <dgm:pt modelId="{C81388E3-EF41-4899-98AB-88262CA8B14D}" type="sibTrans" cxnId="{8EA28B8F-C99B-4AB9-88CB-D200742D3777}">
      <dgm:prSet/>
      <dgm:spPr/>
      <dgm:t>
        <a:bodyPr/>
        <a:lstStyle/>
        <a:p>
          <a:endParaRPr lang="fr-FR"/>
        </a:p>
      </dgm:t>
    </dgm:pt>
    <dgm:pt modelId="{4C4183AC-CDE1-47BF-A7DD-4A2EC078803D}">
      <dgm:prSet phldrT="[Texte]"/>
      <dgm:spPr/>
      <dgm:t>
        <a:bodyPr/>
        <a:lstStyle/>
        <a:p>
          <a:r>
            <a:rPr lang="fr-FR" dirty="0" smtClean="0"/>
            <a:t>Quels sont les besoins de formation des salariés de l’établissement?</a:t>
          </a:r>
          <a:endParaRPr lang="fr-FR" dirty="0"/>
        </a:p>
      </dgm:t>
    </dgm:pt>
    <dgm:pt modelId="{71407A12-D8F4-4C79-B449-020F46BBC098}" type="parTrans" cxnId="{2BCF0C32-4E11-4FF4-A6A7-BBDAC1715F09}">
      <dgm:prSet/>
      <dgm:spPr/>
      <dgm:t>
        <a:bodyPr/>
        <a:lstStyle/>
        <a:p>
          <a:endParaRPr lang="fr-FR"/>
        </a:p>
      </dgm:t>
    </dgm:pt>
    <dgm:pt modelId="{0A0AD5E6-8B25-49DB-9DCA-E2E1AA23AC04}" type="sibTrans" cxnId="{2BCF0C32-4E11-4FF4-A6A7-BBDAC1715F09}">
      <dgm:prSet/>
      <dgm:spPr/>
      <dgm:t>
        <a:bodyPr/>
        <a:lstStyle/>
        <a:p>
          <a:endParaRPr lang="fr-FR"/>
        </a:p>
      </dgm:t>
    </dgm:pt>
    <dgm:pt modelId="{FC3CC900-7152-4800-9607-600FDEDE7956}">
      <dgm:prSet phldrT="[Texte]"/>
      <dgm:spPr/>
      <dgm:t>
        <a:bodyPr/>
        <a:lstStyle/>
        <a:p>
          <a:r>
            <a:rPr lang="fr-FR" dirty="0" smtClean="0"/>
            <a:t>Où sont situés les experts?</a:t>
          </a:r>
          <a:endParaRPr lang="fr-FR" dirty="0"/>
        </a:p>
      </dgm:t>
    </dgm:pt>
    <dgm:pt modelId="{CE39289A-B17E-45B7-9EA8-BEAFD0055AB1}" type="parTrans" cxnId="{0123DA74-A394-4AC0-A345-CE0B4ECC8F59}">
      <dgm:prSet/>
      <dgm:spPr/>
      <dgm:t>
        <a:bodyPr/>
        <a:lstStyle/>
        <a:p>
          <a:endParaRPr lang="fr-FR"/>
        </a:p>
      </dgm:t>
    </dgm:pt>
    <dgm:pt modelId="{A4A305E4-7170-4FD4-8855-591882807B7F}" type="sibTrans" cxnId="{0123DA74-A394-4AC0-A345-CE0B4ECC8F59}">
      <dgm:prSet/>
      <dgm:spPr/>
      <dgm:t>
        <a:bodyPr/>
        <a:lstStyle/>
        <a:p>
          <a:endParaRPr lang="fr-FR"/>
        </a:p>
      </dgm:t>
    </dgm:pt>
    <dgm:pt modelId="{51D86BD3-0B4E-4564-8CE4-7CB947BE3B1C}">
      <dgm:prSet phldrT="[Texte]"/>
      <dgm:spPr/>
      <dgm:t>
        <a:bodyPr/>
        <a:lstStyle/>
        <a:p>
          <a:r>
            <a:rPr lang="fr-FR" dirty="0" smtClean="0"/>
            <a:t>Quelles sont les compétences en carence?</a:t>
          </a:r>
          <a:endParaRPr lang="fr-FR" dirty="0"/>
        </a:p>
      </dgm:t>
    </dgm:pt>
    <dgm:pt modelId="{567A6A82-C29D-4B76-AB38-B4B7F47101E2}" type="parTrans" cxnId="{58EF1A38-D7F7-4992-AB07-BF6831F44678}">
      <dgm:prSet/>
      <dgm:spPr/>
      <dgm:t>
        <a:bodyPr/>
        <a:lstStyle/>
        <a:p>
          <a:endParaRPr lang="fr-FR"/>
        </a:p>
      </dgm:t>
    </dgm:pt>
    <dgm:pt modelId="{E1991405-C04E-4680-BB47-8DBBABC2CC8E}" type="sibTrans" cxnId="{58EF1A38-D7F7-4992-AB07-BF6831F44678}">
      <dgm:prSet/>
      <dgm:spPr/>
      <dgm:t>
        <a:bodyPr/>
        <a:lstStyle/>
        <a:p>
          <a:endParaRPr lang="fr-FR"/>
        </a:p>
      </dgm:t>
    </dgm:pt>
    <dgm:pt modelId="{08A82B09-0AF3-412A-B199-A878E9B6674B}">
      <dgm:prSet phldrT="[Texte]"/>
      <dgm:spPr/>
      <dgm:t>
        <a:bodyPr/>
        <a:lstStyle/>
        <a:p>
          <a:endParaRPr lang="fr-FR" dirty="0"/>
        </a:p>
      </dgm:t>
    </dgm:pt>
    <dgm:pt modelId="{B3242A84-8913-4583-A32A-368FAEDE18E6}" type="parTrans" cxnId="{8E822900-A650-4A0F-8AA7-126DA3EE0022}">
      <dgm:prSet/>
      <dgm:spPr/>
      <dgm:t>
        <a:bodyPr/>
        <a:lstStyle/>
        <a:p>
          <a:endParaRPr lang="fr-FR"/>
        </a:p>
      </dgm:t>
    </dgm:pt>
    <dgm:pt modelId="{E1BB40C4-57DB-481F-8B97-7BC80D350941}" type="sibTrans" cxnId="{8E822900-A650-4A0F-8AA7-126DA3EE0022}">
      <dgm:prSet/>
      <dgm:spPr/>
      <dgm:t>
        <a:bodyPr/>
        <a:lstStyle/>
        <a:p>
          <a:endParaRPr lang="fr-FR"/>
        </a:p>
      </dgm:t>
    </dgm:pt>
    <dgm:pt modelId="{0E258C9D-7BE1-46E5-98CD-5566370D3210}">
      <dgm:prSet phldrT="[Texte]"/>
      <dgm:spPr/>
      <dgm:t>
        <a:bodyPr/>
        <a:lstStyle/>
        <a:p>
          <a:r>
            <a:rPr lang="fr-FR" dirty="0" smtClean="0"/>
            <a:t>Quelles passerelles promouvoir?</a:t>
          </a:r>
          <a:endParaRPr lang="fr-FR" dirty="0"/>
        </a:p>
      </dgm:t>
    </dgm:pt>
    <dgm:pt modelId="{3543601B-C846-47E3-A32E-11ACCE27598A}" type="parTrans" cxnId="{04A89351-48D3-4E9D-BF59-C09817310DA2}">
      <dgm:prSet/>
      <dgm:spPr/>
      <dgm:t>
        <a:bodyPr/>
        <a:lstStyle/>
        <a:p>
          <a:endParaRPr lang="fr-FR"/>
        </a:p>
      </dgm:t>
    </dgm:pt>
    <dgm:pt modelId="{6D828E4B-7925-4FB0-8914-1789AA3A852D}" type="sibTrans" cxnId="{04A89351-48D3-4E9D-BF59-C09817310DA2}">
      <dgm:prSet/>
      <dgm:spPr/>
      <dgm:t>
        <a:bodyPr/>
        <a:lstStyle/>
        <a:p>
          <a:endParaRPr lang="fr-FR"/>
        </a:p>
      </dgm:t>
    </dgm:pt>
    <dgm:pt modelId="{46F140F5-C3A8-4EB8-AA85-0A98FB101443}" type="pres">
      <dgm:prSet presAssocID="{B1675715-A080-4163-866C-2B995F8E8374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51E01C1B-D24B-40AB-B343-A55403E7EE52}" type="pres">
      <dgm:prSet presAssocID="{C22A83C3-E213-4D47-B41B-344A74988192}" presName="linNode" presStyleCnt="0"/>
      <dgm:spPr/>
      <dgm:t>
        <a:bodyPr/>
        <a:lstStyle/>
        <a:p>
          <a:endParaRPr lang="fr-FR"/>
        </a:p>
      </dgm:t>
    </dgm:pt>
    <dgm:pt modelId="{7F168855-1A81-42D3-AAD4-6F76C86FA766}" type="pres">
      <dgm:prSet presAssocID="{C22A83C3-E213-4D47-B41B-344A74988192}" presName="parent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C54A649-35D2-4369-9727-2E2A92822F5E}" type="pres">
      <dgm:prSet presAssocID="{C22A83C3-E213-4D47-B41B-344A74988192}" presName="childShp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F786FC1-1C2F-4CCF-B00B-A92C0C1605E7}" type="presOf" srcId="{C22A83C3-E213-4D47-B41B-344A74988192}" destId="{7F168855-1A81-42D3-AAD4-6F76C86FA766}" srcOrd="0" destOrd="0" presId="urn:microsoft.com/office/officeart/2005/8/layout/vList6"/>
    <dgm:cxn modelId="{F4E391E2-4944-4921-B69D-F2979C4F6927}" srcId="{B1675715-A080-4163-866C-2B995F8E8374}" destId="{C22A83C3-E213-4D47-B41B-344A74988192}" srcOrd="0" destOrd="0" parTransId="{CF06C188-30DC-4CB7-B1E3-B7AE55AC3F49}" sibTransId="{5A4A540F-C396-4CE1-B209-C28708B5A181}"/>
    <dgm:cxn modelId="{04A89351-48D3-4E9D-BF59-C09817310DA2}" srcId="{C22A83C3-E213-4D47-B41B-344A74988192}" destId="{0E258C9D-7BE1-46E5-98CD-5566370D3210}" srcOrd="5" destOrd="0" parTransId="{3543601B-C846-47E3-A32E-11ACCE27598A}" sibTransId="{6D828E4B-7925-4FB0-8914-1789AA3A852D}"/>
    <dgm:cxn modelId="{5A42DEB3-3058-4809-A357-661C513AD647}" type="presOf" srcId="{0E258C9D-7BE1-46E5-98CD-5566370D3210}" destId="{7C54A649-35D2-4369-9727-2E2A92822F5E}" srcOrd="0" destOrd="5" presId="urn:microsoft.com/office/officeart/2005/8/layout/vList6"/>
    <dgm:cxn modelId="{2BCF0C32-4E11-4FF4-A6A7-BBDAC1715F09}" srcId="{C22A83C3-E213-4D47-B41B-344A74988192}" destId="{4C4183AC-CDE1-47BF-A7DD-4A2EC078803D}" srcOrd="2" destOrd="0" parTransId="{71407A12-D8F4-4C79-B449-020F46BBC098}" sibTransId="{0A0AD5E6-8B25-49DB-9DCA-E2E1AA23AC04}"/>
    <dgm:cxn modelId="{0123DA74-A394-4AC0-A345-CE0B4ECC8F59}" srcId="{C22A83C3-E213-4D47-B41B-344A74988192}" destId="{FC3CC900-7152-4800-9607-600FDEDE7956}" srcOrd="3" destOrd="0" parTransId="{CE39289A-B17E-45B7-9EA8-BEAFD0055AB1}" sibTransId="{A4A305E4-7170-4FD4-8855-591882807B7F}"/>
    <dgm:cxn modelId="{3F5416DF-86F7-460F-A79C-9AD1D58FC8BD}" type="presOf" srcId="{51D86BD3-0B4E-4564-8CE4-7CB947BE3B1C}" destId="{7C54A649-35D2-4369-9727-2E2A92822F5E}" srcOrd="0" destOrd="4" presId="urn:microsoft.com/office/officeart/2005/8/layout/vList6"/>
    <dgm:cxn modelId="{8EA28B8F-C99B-4AB9-88CB-D200742D3777}" srcId="{C22A83C3-E213-4D47-B41B-344A74988192}" destId="{CF325E9C-64E7-4C4C-81AB-88ECAB38BC07}" srcOrd="1" destOrd="0" parTransId="{14F6353B-2D7B-4F73-916A-EE01A42D778C}" sibTransId="{C81388E3-EF41-4899-98AB-88262CA8B14D}"/>
    <dgm:cxn modelId="{5704A93F-AB74-4CFA-B4A4-44AA92203594}" type="presOf" srcId="{4C4183AC-CDE1-47BF-A7DD-4A2EC078803D}" destId="{7C54A649-35D2-4369-9727-2E2A92822F5E}" srcOrd="0" destOrd="2" presId="urn:microsoft.com/office/officeart/2005/8/layout/vList6"/>
    <dgm:cxn modelId="{AA3BF234-1994-4860-99C4-4084AE663D81}" type="presOf" srcId="{B1675715-A080-4163-866C-2B995F8E8374}" destId="{46F140F5-C3A8-4EB8-AA85-0A98FB101443}" srcOrd="0" destOrd="0" presId="urn:microsoft.com/office/officeart/2005/8/layout/vList6"/>
    <dgm:cxn modelId="{0801975D-ABBC-4F6E-91EE-9F9495D1978D}" type="presOf" srcId="{08A82B09-0AF3-412A-B199-A878E9B6674B}" destId="{7C54A649-35D2-4369-9727-2E2A92822F5E}" srcOrd="0" destOrd="0" presId="urn:microsoft.com/office/officeart/2005/8/layout/vList6"/>
    <dgm:cxn modelId="{58EF1A38-D7F7-4992-AB07-BF6831F44678}" srcId="{C22A83C3-E213-4D47-B41B-344A74988192}" destId="{51D86BD3-0B4E-4564-8CE4-7CB947BE3B1C}" srcOrd="4" destOrd="0" parTransId="{567A6A82-C29D-4B76-AB38-B4B7F47101E2}" sibTransId="{E1991405-C04E-4680-BB47-8DBBABC2CC8E}"/>
    <dgm:cxn modelId="{C10BF73F-D4D6-4610-9D09-412FE1BD9002}" type="presOf" srcId="{CF325E9C-64E7-4C4C-81AB-88ECAB38BC07}" destId="{7C54A649-35D2-4369-9727-2E2A92822F5E}" srcOrd="0" destOrd="1" presId="urn:microsoft.com/office/officeart/2005/8/layout/vList6"/>
    <dgm:cxn modelId="{D28D53BF-7BE9-4E81-A2FF-7C9A353857DD}" type="presOf" srcId="{FC3CC900-7152-4800-9607-600FDEDE7956}" destId="{7C54A649-35D2-4369-9727-2E2A92822F5E}" srcOrd="0" destOrd="3" presId="urn:microsoft.com/office/officeart/2005/8/layout/vList6"/>
    <dgm:cxn modelId="{8E822900-A650-4A0F-8AA7-126DA3EE0022}" srcId="{C22A83C3-E213-4D47-B41B-344A74988192}" destId="{08A82B09-0AF3-412A-B199-A878E9B6674B}" srcOrd="0" destOrd="0" parTransId="{B3242A84-8913-4583-A32A-368FAEDE18E6}" sibTransId="{E1BB40C4-57DB-481F-8B97-7BC80D350941}"/>
    <dgm:cxn modelId="{498FCF76-DE33-484E-80D1-B4B36995AA6F}" type="presParOf" srcId="{46F140F5-C3A8-4EB8-AA85-0A98FB101443}" destId="{51E01C1B-D24B-40AB-B343-A55403E7EE52}" srcOrd="0" destOrd="0" presId="urn:microsoft.com/office/officeart/2005/8/layout/vList6"/>
    <dgm:cxn modelId="{523037F8-CD46-4853-BE7B-323531E447EA}" type="presParOf" srcId="{51E01C1B-D24B-40AB-B343-A55403E7EE52}" destId="{7F168855-1A81-42D3-AAD4-6F76C86FA766}" srcOrd="0" destOrd="0" presId="urn:microsoft.com/office/officeart/2005/8/layout/vList6"/>
    <dgm:cxn modelId="{DE5EE5AF-6B7A-4F55-AA47-25AC9FF88204}" type="presParOf" srcId="{51E01C1B-D24B-40AB-B343-A55403E7EE52}" destId="{7C54A649-35D2-4369-9727-2E2A92822F5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675715-A080-4163-866C-2B995F8E8374}" type="doc">
      <dgm:prSet loTypeId="urn:microsoft.com/office/officeart/2005/8/layout/vList6" loCatId="list" qsTypeId="urn:microsoft.com/office/officeart/2005/8/quickstyle/3d1" qsCatId="3D" csTypeId="urn:microsoft.com/office/officeart/2005/8/colors/accent6_3" csCatId="accent6" phldr="1"/>
      <dgm:spPr/>
      <dgm:t>
        <a:bodyPr/>
        <a:lstStyle/>
        <a:p>
          <a:endParaRPr lang="fr-FR"/>
        </a:p>
      </dgm:t>
    </dgm:pt>
    <dgm:pt modelId="{C22A83C3-E213-4D47-B41B-344A74988192}">
      <dgm:prSet phldrT="[Texte]" custT="1"/>
      <dgm:spPr/>
      <dgm:t>
        <a:bodyPr/>
        <a:lstStyle/>
        <a:p>
          <a:r>
            <a:rPr lang="fr-FR" sz="2400" b="1" u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Niveau 3</a:t>
          </a:r>
        </a:p>
        <a:p>
          <a:r>
            <a:rPr lang="fr-FR" sz="2000" dirty="0" smtClean="0"/>
            <a:t>Anticiper à moyen et long terme l’impact des évolutions d’activité et d’organisation sur les métiers </a:t>
          </a:r>
        </a:p>
        <a:p>
          <a:r>
            <a:rPr lang="fr-FR" sz="2000" dirty="0" smtClean="0"/>
            <a:t>sensibles et les compétences critiques </a:t>
          </a:r>
          <a:endParaRPr lang="fr-FR" sz="2000" b="1" u="none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06C188-30DC-4CB7-B1E3-B7AE55AC3F49}" type="parTrans" cxnId="{F4E391E2-4944-4921-B69D-F2979C4F6927}">
      <dgm:prSet/>
      <dgm:spPr/>
      <dgm:t>
        <a:bodyPr/>
        <a:lstStyle/>
        <a:p>
          <a:endParaRPr lang="fr-FR"/>
        </a:p>
      </dgm:t>
    </dgm:pt>
    <dgm:pt modelId="{5A4A540F-C396-4CE1-B209-C28708B5A181}" type="sibTrans" cxnId="{F4E391E2-4944-4921-B69D-F2979C4F6927}">
      <dgm:prSet/>
      <dgm:spPr/>
      <dgm:t>
        <a:bodyPr/>
        <a:lstStyle/>
        <a:p>
          <a:endParaRPr lang="fr-FR"/>
        </a:p>
      </dgm:t>
    </dgm:pt>
    <dgm:pt modelId="{CF325E9C-64E7-4C4C-81AB-88ECAB38BC07}">
      <dgm:prSet phldrT="[Texte]"/>
      <dgm:spPr/>
      <dgm:t>
        <a:bodyPr/>
        <a:lstStyle/>
        <a:p>
          <a:r>
            <a:rPr lang="fr-FR" dirty="0" smtClean="0"/>
            <a:t>Quels métiers vont être en sous ou en sureffectif?</a:t>
          </a:r>
          <a:endParaRPr lang="fr-FR" dirty="0"/>
        </a:p>
      </dgm:t>
    </dgm:pt>
    <dgm:pt modelId="{14F6353B-2D7B-4F73-916A-EE01A42D778C}" type="parTrans" cxnId="{8EA28B8F-C99B-4AB9-88CB-D200742D3777}">
      <dgm:prSet/>
      <dgm:spPr/>
      <dgm:t>
        <a:bodyPr/>
        <a:lstStyle/>
        <a:p>
          <a:endParaRPr lang="fr-FR"/>
        </a:p>
      </dgm:t>
    </dgm:pt>
    <dgm:pt modelId="{C81388E3-EF41-4899-98AB-88262CA8B14D}" type="sibTrans" cxnId="{8EA28B8F-C99B-4AB9-88CB-D200742D3777}">
      <dgm:prSet/>
      <dgm:spPr/>
      <dgm:t>
        <a:bodyPr/>
        <a:lstStyle/>
        <a:p>
          <a:endParaRPr lang="fr-FR"/>
        </a:p>
      </dgm:t>
    </dgm:pt>
    <dgm:pt modelId="{E5010260-E41F-4F14-812B-6E681BC60D0E}">
      <dgm:prSet phldrT="[Texte]"/>
      <dgm:spPr/>
      <dgm:t>
        <a:bodyPr/>
        <a:lstStyle/>
        <a:p>
          <a:r>
            <a:rPr lang="fr-FR" dirty="0" smtClean="0"/>
            <a:t>Quels seront nos besoins?</a:t>
          </a:r>
          <a:endParaRPr lang="fr-FR" dirty="0"/>
        </a:p>
      </dgm:t>
    </dgm:pt>
    <dgm:pt modelId="{6B3A805B-9919-44C5-82BC-3A63E3260670}" type="parTrans" cxnId="{A057F9C4-70A9-4EE3-87E4-1FAD62614CDA}">
      <dgm:prSet/>
      <dgm:spPr/>
      <dgm:t>
        <a:bodyPr/>
        <a:lstStyle/>
        <a:p>
          <a:endParaRPr lang="fr-FR"/>
        </a:p>
      </dgm:t>
    </dgm:pt>
    <dgm:pt modelId="{D61824CF-474F-4DCD-BE01-084866EF19CA}" type="sibTrans" cxnId="{A057F9C4-70A9-4EE3-87E4-1FAD62614CDA}">
      <dgm:prSet/>
      <dgm:spPr/>
      <dgm:t>
        <a:bodyPr/>
        <a:lstStyle/>
        <a:p>
          <a:endParaRPr lang="fr-FR"/>
        </a:p>
      </dgm:t>
    </dgm:pt>
    <dgm:pt modelId="{4A76B155-BE86-48CD-89B1-FE900970B186}">
      <dgm:prSet phldrT="[Texte]"/>
      <dgm:spPr/>
      <dgm:t>
        <a:bodyPr/>
        <a:lstStyle/>
        <a:p>
          <a:r>
            <a:rPr lang="fr-FR" dirty="0" smtClean="0"/>
            <a:t>A quelle échéance?</a:t>
          </a:r>
          <a:endParaRPr lang="fr-FR" dirty="0"/>
        </a:p>
      </dgm:t>
    </dgm:pt>
    <dgm:pt modelId="{6A55A049-AB42-42CB-B28D-F390AA1562F8}" type="parTrans" cxnId="{2014BB12-2356-457B-828F-73ACAFE1710B}">
      <dgm:prSet/>
      <dgm:spPr/>
      <dgm:t>
        <a:bodyPr/>
        <a:lstStyle/>
        <a:p>
          <a:endParaRPr lang="fr-FR"/>
        </a:p>
      </dgm:t>
    </dgm:pt>
    <dgm:pt modelId="{DF41610A-4603-4EA0-9628-9A46447CA6DC}" type="sibTrans" cxnId="{2014BB12-2356-457B-828F-73ACAFE1710B}">
      <dgm:prSet/>
      <dgm:spPr/>
      <dgm:t>
        <a:bodyPr/>
        <a:lstStyle/>
        <a:p>
          <a:endParaRPr lang="fr-FR"/>
        </a:p>
      </dgm:t>
    </dgm:pt>
    <dgm:pt modelId="{FFDA5BED-FDFB-4CCE-96BC-875B19AFAB53}">
      <dgm:prSet phldrT="[Texte]"/>
      <dgm:spPr/>
      <dgm:t>
        <a:bodyPr/>
        <a:lstStyle/>
        <a:p>
          <a:r>
            <a:rPr lang="fr-FR" dirty="0" smtClean="0"/>
            <a:t>De quelles compétences aurons-nous besoin demain?</a:t>
          </a:r>
          <a:endParaRPr lang="fr-FR" dirty="0"/>
        </a:p>
      </dgm:t>
    </dgm:pt>
    <dgm:pt modelId="{778901D5-548D-440A-9833-D71572947CF8}" type="parTrans" cxnId="{E8483DD5-1798-4BEB-AF0D-1E283752793D}">
      <dgm:prSet/>
      <dgm:spPr/>
      <dgm:t>
        <a:bodyPr/>
        <a:lstStyle/>
        <a:p>
          <a:endParaRPr lang="fr-FR"/>
        </a:p>
      </dgm:t>
    </dgm:pt>
    <dgm:pt modelId="{6E5AA567-325B-41BB-8F7F-2B37B24A8031}" type="sibTrans" cxnId="{E8483DD5-1798-4BEB-AF0D-1E283752793D}">
      <dgm:prSet/>
      <dgm:spPr/>
      <dgm:t>
        <a:bodyPr/>
        <a:lstStyle/>
        <a:p>
          <a:endParaRPr lang="fr-FR"/>
        </a:p>
      </dgm:t>
    </dgm:pt>
    <dgm:pt modelId="{D11485F7-079B-4993-86E6-FA2ADCBDCC97}">
      <dgm:prSet phldrT="[Texte]"/>
      <dgm:spPr/>
      <dgm:t>
        <a:bodyPr/>
        <a:lstStyle/>
        <a:p>
          <a:r>
            <a:rPr lang="fr-FR" dirty="0" smtClean="0"/>
            <a:t>Quelles compétences optimiser dans le cadre d’opération de coopération ou de regroupement? </a:t>
          </a:r>
          <a:endParaRPr lang="fr-FR" dirty="0"/>
        </a:p>
      </dgm:t>
    </dgm:pt>
    <dgm:pt modelId="{CFE9FAC5-66FE-4FF6-B5BA-72618CAF1A7C}" type="parTrans" cxnId="{FEF662D7-23FF-4E2C-B50F-133DD7C49623}">
      <dgm:prSet/>
      <dgm:spPr/>
      <dgm:t>
        <a:bodyPr/>
        <a:lstStyle/>
        <a:p>
          <a:endParaRPr lang="fr-FR"/>
        </a:p>
      </dgm:t>
    </dgm:pt>
    <dgm:pt modelId="{B77D3A36-A16E-415C-9BBF-23E7BDFBB084}" type="sibTrans" cxnId="{FEF662D7-23FF-4E2C-B50F-133DD7C49623}">
      <dgm:prSet/>
      <dgm:spPr/>
      <dgm:t>
        <a:bodyPr/>
        <a:lstStyle/>
        <a:p>
          <a:endParaRPr lang="fr-FR"/>
        </a:p>
      </dgm:t>
    </dgm:pt>
    <dgm:pt modelId="{87AB4C4F-E4C2-42E5-ABCE-2068D0ECDDA2}">
      <dgm:prSet phldrT="[Texte]"/>
      <dgm:spPr/>
      <dgm:t>
        <a:bodyPr/>
        <a:lstStyle/>
        <a:p>
          <a:r>
            <a:rPr lang="fr-FR" dirty="0" smtClean="0"/>
            <a:t>Quelles compétences vont émerger, disparaître?</a:t>
          </a:r>
          <a:endParaRPr lang="fr-FR" dirty="0"/>
        </a:p>
      </dgm:t>
    </dgm:pt>
    <dgm:pt modelId="{02DC48BD-306B-48E8-92B5-03939CBDE413}" type="parTrans" cxnId="{0481E0F6-C5E7-4B1D-BDDF-8005432814CF}">
      <dgm:prSet/>
      <dgm:spPr/>
      <dgm:t>
        <a:bodyPr/>
        <a:lstStyle/>
        <a:p>
          <a:endParaRPr lang="fr-FR"/>
        </a:p>
      </dgm:t>
    </dgm:pt>
    <dgm:pt modelId="{3CDF677F-C242-408B-B78C-19EA8271388C}" type="sibTrans" cxnId="{0481E0F6-C5E7-4B1D-BDDF-8005432814CF}">
      <dgm:prSet/>
      <dgm:spPr/>
      <dgm:t>
        <a:bodyPr/>
        <a:lstStyle/>
        <a:p>
          <a:endParaRPr lang="fr-FR"/>
        </a:p>
      </dgm:t>
    </dgm:pt>
    <dgm:pt modelId="{6EB55728-52B2-4D34-91C9-37E1CDE96427}">
      <dgm:prSet phldrT="[Texte]"/>
      <dgm:spPr/>
      <dgm:t>
        <a:bodyPr/>
        <a:lstStyle/>
        <a:p>
          <a:r>
            <a:rPr lang="fr-FR" dirty="0" smtClean="0"/>
            <a:t>A quoi doit-on former aujourd’hui pour demain?</a:t>
          </a:r>
          <a:endParaRPr lang="fr-FR" dirty="0"/>
        </a:p>
      </dgm:t>
    </dgm:pt>
    <dgm:pt modelId="{2AEB5FE0-5F6D-4D61-BE82-E3C186C74856}" type="parTrans" cxnId="{FE6256C0-C28E-48E7-A030-50655A9B8926}">
      <dgm:prSet/>
      <dgm:spPr/>
      <dgm:t>
        <a:bodyPr/>
        <a:lstStyle/>
        <a:p>
          <a:endParaRPr lang="fr-FR"/>
        </a:p>
      </dgm:t>
    </dgm:pt>
    <dgm:pt modelId="{D6B9EC42-695B-40CE-B6C2-70DA96CB866E}" type="sibTrans" cxnId="{FE6256C0-C28E-48E7-A030-50655A9B8926}">
      <dgm:prSet/>
      <dgm:spPr/>
      <dgm:t>
        <a:bodyPr/>
        <a:lstStyle/>
        <a:p>
          <a:endParaRPr lang="fr-FR"/>
        </a:p>
      </dgm:t>
    </dgm:pt>
    <dgm:pt modelId="{745399DC-B24D-4DF2-9193-1B312A841D6F}">
      <dgm:prSet phldrT="[Texte]"/>
      <dgm:spPr/>
      <dgm:t>
        <a:bodyPr/>
        <a:lstStyle/>
        <a:p>
          <a:endParaRPr lang="fr-FR" dirty="0"/>
        </a:p>
      </dgm:t>
    </dgm:pt>
    <dgm:pt modelId="{FF09D998-69A7-4319-9A44-AFB513B4175E}" type="parTrans" cxnId="{3108BFEB-97D0-497C-AC8D-36942B2A529F}">
      <dgm:prSet/>
      <dgm:spPr/>
      <dgm:t>
        <a:bodyPr/>
        <a:lstStyle/>
        <a:p>
          <a:endParaRPr lang="fr-FR"/>
        </a:p>
      </dgm:t>
    </dgm:pt>
    <dgm:pt modelId="{36955C5B-8542-4A61-A4FB-BC0E4611A79E}" type="sibTrans" cxnId="{3108BFEB-97D0-497C-AC8D-36942B2A529F}">
      <dgm:prSet/>
      <dgm:spPr/>
      <dgm:t>
        <a:bodyPr/>
        <a:lstStyle/>
        <a:p>
          <a:endParaRPr lang="fr-FR"/>
        </a:p>
      </dgm:t>
    </dgm:pt>
    <dgm:pt modelId="{BD2AC783-2390-410F-BFB9-855303075EC4}">
      <dgm:prSet phldrT="[Texte]"/>
      <dgm:spPr/>
      <dgm:t>
        <a:bodyPr/>
        <a:lstStyle/>
        <a:p>
          <a:r>
            <a:rPr lang="fr-FR" dirty="0" smtClean="0"/>
            <a:t>Quels sont les flux entrant et sortant?</a:t>
          </a:r>
          <a:endParaRPr lang="fr-FR" dirty="0"/>
        </a:p>
      </dgm:t>
    </dgm:pt>
    <dgm:pt modelId="{D04F9D46-6BBB-415D-BBFA-2CCC5AF80D2C}" type="parTrans" cxnId="{B4EB032D-4992-4E77-A87C-C61772DBCE6A}">
      <dgm:prSet/>
      <dgm:spPr/>
      <dgm:t>
        <a:bodyPr/>
        <a:lstStyle/>
        <a:p>
          <a:endParaRPr lang="fr-FR"/>
        </a:p>
      </dgm:t>
    </dgm:pt>
    <dgm:pt modelId="{537B5479-B76D-4B14-93BF-3B00303D2AA0}" type="sibTrans" cxnId="{B4EB032D-4992-4E77-A87C-C61772DBCE6A}">
      <dgm:prSet/>
      <dgm:spPr/>
      <dgm:t>
        <a:bodyPr/>
        <a:lstStyle/>
        <a:p>
          <a:endParaRPr lang="fr-FR"/>
        </a:p>
      </dgm:t>
    </dgm:pt>
    <dgm:pt modelId="{46F140F5-C3A8-4EB8-AA85-0A98FB101443}" type="pres">
      <dgm:prSet presAssocID="{B1675715-A080-4163-866C-2B995F8E8374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51E01C1B-D24B-40AB-B343-A55403E7EE52}" type="pres">
      <dgm:prSet presAssocID="{C22A83C3-E213-4D47-B41B-344A74988192}" presName="linNode" presStyleCnt="0"/>
      <dgm:spPr/>
    </dgm:pt>
    <dgm:pt modelId="{7F168855-1A81-42D3-AAD4-6F76C86FA766}" type="pres">
      <dgm:prSet presAssocID="{C22A83C3-E213-4D47-B41B-344A74988192}" presName="parent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C54A649-35D2-4369-9727-2E2A92822F5E}" type="pres">
      <dgm:prSet presAssocID="{C22A83C3-E213-4D47-B41B-344A74988192}" presName="childShp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4E391E2-4944-4921-B69D-F2979C4F6927}" srcId="{B1675715-A080-4163-866C-2B995F8E8374}" destId="{C22A83C3-E213-4D47-B41B-344A74988192}" srcOrd="0" destOrd="0" parTransId="{CF06C188-30DC-4CB7-B1E3-B7AE55AC3F49}" sibTransId="{5A4A540F-C396-4CE1-B209-C28708B5A181}"/>
    <dgm:cxn modelId="{9E340DAD-676A-40EB-8673-E1AB4579A86A}" type="presOf" srcId="{FFDA5BED-FDFB-4CCE-96BC-875B19AFAB53}" destId="{7C54A649-35D2-4369-9727-2E2A92822F5E}" srcOrd="0" destOrd="4" presId="urn:microsoft.com/office/officeart/2005/8/layout/vList6"/>
    <dgm:cxn modelId="{0481E0F6-C5E7-4B1D-BDDF-8005432814CF}" srcId="{C22A83C3-E213-4D47-B41B-344A74988192}" destId="{87AB4C4F-E4C2-42E5-ABCE-2068D0ECDDA2}" srcOrd="6" destOrd="0" parTransId="{02DC48BD-306B-48E8-92B5-03939CBDE413}" sibTransId="{3CDF677F-C242-408B-B78C-19EA8271388C}"/>
    <dgm:cxn modelId="{FE6256C0-C28E-48E7-A030-50655A9B8926}" srcId="{C22A83C3-E213-4D47-B41B-344A74988192}" destId="{6EB55728-52B2-4D34-91C9-37E1CDE96427}" srcOrd="7" destOrd="0" parTransId="{2AEB5FE0-5F6D-4D61-BE82-E3C186C74856}" sibTransId="{D6B9EC42-695B-40CE-B6C2-70DA96CB866E}"/>
    <dgm:cxn modelId="{D31E33E6-1AB1-4983-8558-ED0BC4C425CD}" type="presOf" srcId="{4A76B155-BE86-48CD-89B1-FE900970B186}" destId="{7C54A649-35D2-4369-9727-2E2A92822F5E}" srcOrd="0" destOrd="3" presId="urn:microsoft.com/office/officeart/2005/8/layout/vList6"/>
    <dgm:cxn modelId="{CF4D10B6-0730-4C31-8025-E80B301130CC}" type="presOf" srcId="{CF325E9C-64E7-4C4C-81AB-88ECAB38BC07}" destId="{7C54A649-35D2-4369-9727-2E2A92822F5E}" srcOrd="0" destOrd="1" presId="urn:microsoft.com/office/officeart/2005/8/layout/vList6"/>
    <dgm:cxn modelId="{CC75ABF8-90E9-4F8A-85A2-576E46C6448A}" type="presOf" srcId="{C22A83C3-E213-4D47-B41B-344A74988192}" destId="{7F168855-1A81-42D3-AAD4-6F76C86FA766}" srcOrd="0" destOrd="0" presId="urn:microsoft.com/office/officeart/2005/8/layout/vList6"/>
    <dgm:cxn modelId="{886FEE62-057A-44D6-A637-8D7279762D5E}" type="presOf" srcId="{D11485F7-079B-4993-86E6-FA2ADCBDCC97}" destId="{7C54A649-35D2-4369-9727-2E2A92822F5E}" srcOrd="0" destOrd="5" presId="urn:microsoft.com/office/officeart/2005/8/layout/vList6"/>
    <dgm:cxn modelId="{8EA28B8F-C99B-4AB9-88CB-D200742D3777}" srcId="{C22A83C3-E213-4D47-B41B-344A74988192}" destId="{CF325E9C-64E7-4C4C-81AB-88ECAB38BC07}" srcOrd="1" destOrd="0" parTransId="{14F6353B-2D7B-4F73-916A-EE01A42D778C}" sibTransId="{C81388E3-EF41-4899-98AB-88262CA8B14D}"/>
    <dgm:cxn modelId="{4B418F4C-C0DC-4C49-8C7C-AF4C9FB36806}" type="presOf" srcId="{B1675715-A080-4163-866C-2B995F8E8374}" destId="{46F140F5-C3A8-4EB8-AA85-0A98FB101443}" srcOrd="0" destOrd="0" presId="urn:microsoft.com/office/officeart/2005/8/layout/vList6"/>
    <dgm:cxn modelId="{5047D2D7-EBBF-4A91-A816-9E1231FAFAB9}" type="presOf" srcId="{745399DC-B24D-4DF2-9193-1B312A841D6F}" destId="{7C54A649-35D2-4369-9727-2E2A92822F5E}" srcOrd="0" destOrd="0" presId="urn:microsoft.com/office/officeart/2005/8/layout/vList6"/>
    <dgm:cxn modelId="{3B2F4586-F151-4A0B-8CC2-F62B4F1CD81D}" type="presOf" srcId="{BD2AC783-2390-410F-BFB9-855303075EC4}" destId="{7C54A649-35D2-4369-9727-2E2A92822F5E}" srcOrd="0" destOrd="8" presId="urn:microsoft.com/office/officeart/2005/8/layout/vList6"/>
    <dgm:cxn modelId="{FEF662D7-23FF-4E2C-B50F-133DD7C49623}" srcId="{C22A83C3-E213-4D47-B41B-344A74988192}" destId="{D11485F7-079B-4993-86E6-FA2ADCBDCC97}" srcOrd="5" destOrd="0" parTransId="{CFE9FAC5-66FE-4FF6-B5BA-72618CAF1A7C}" sibTransId="{B77D3A36-A16E-415C-9BBF-23E7BDFBB084}"/>
    <dgm:cxn modelId="{2014BB12-2356-457B-828F-73ACAFE1710B}" srcId="{C22A83C3-E213-4D47-B41B-344A74988192}" destId="{4A76B155-BE86-48CD-89B1-FE900970B186}" srcOrd="3" destOrd="0" parTransId="{6A55A049-AB42-42CB-B28D-F390AA1562F8}" sibTransId="{DF41610A-4603-4EA0-9628-9A46447CA6DC}"/>
    <dgm:cxn modelId="{B4EB032D-4992-4E77-A87C-C61772DBCE6A}" srcId="{C22A83C3-E213-4D47-B41B-344A74988192}" destId="{BD2AC783-2390-410F-BFB9-855303075EC4}" srcOrd="8" destOrd="0" parTransId="{D04F9D46-6BBB-415D-BBFA-2CCC5AF80D2C}" sibTransId="{537B5479-B76D-4B14-93BF-3B00303D2AA0}"/>
    <dgm:cxn modelId="{BB398D7C-C47A-4772-BED7-A0FE573D539C}" type="presOf" srcId="{6EB55728-52B2-4D34-91C9-37E1CDE96427}" destId="{7C54A649-35D2-4369-9727-2E2A92822F5E}" srcOrd="0" destOrd="7" presId="urn:microsoft.com/office/officeart/2005/8/layout/vList6"/>
    <dgm:cxn modelId="{6B08AE79-2C83-432D-9436-57BC1114AECE}" type="presOf" srcId="{87AB4C4F-E4C2-42E5-ABCE-2068D0ECDDA2}" destId="{7C54A649-35D2-4369-9727-2E2A92822F5E}" srcOrd="0" destOrd="6" presId="urn:microsoft.com/office/officeart/2005/8/layout/vList6"/>
    <dgm:cxn modelId="{E8483DD5-1798-4BEB-AF0D-1E283752793D}" srcId="{C22A83C3-E213-4D47-B41B-344A74988192}" destId="{FFDA5BED-FDFB-4CCE-96BC-875B19AFAB53}" srcOrd="4" destOrd="0" parTransId="{778901D5-548D-440A-9833-D71572947CF8}" sibTransId="{6E5AA567-325B-41BB-8F7F-2B37B24A8031}"/>
    <dgm:cxn modelId="{3108BFEB-97D0-497C-AC8D-36942B2A529F}" srcId="{C22A83C3-E213-4D47-B41B-344A74988192}" destId="{745399DC-B24D-4DF2-9193-1B312A841D6F}" srcOrd="0" destOrd="0" parTransId="{FF09D998-69A7-4319-9A44-AFB513B4175E}" sibTransId="{36955C5B-8542-4A61-A4FB-BC0E4611A79E}"/>
    <dgm:cxn modelId="{A057F9C4-70A9-4EE3-87E4-1FAD62614CDA}" srcId="{C22A83C3-E213-4D47-B41B-344A74988192}" destId="{E5010260-E41F-4F14-812B-6E681BC60D0E}" srcOrd="2" destOrd="0" parTransId="{6B3A805B-9919-44C5-82BC-3A63E3260670}" sibTransId="{D61824CF-474F-4DCD-BE01-084866EF19CA}"/>
    <dgm:cxn modelId="{F05DA059-077D-4451-BBA8-FCA19271E6D7}" type="presOf" srcId="{E5010260-E41F-4F14-812B-6E681BC60D0E}" destId="{7C54A649-35D2-4369-9727-2E2A92822F5E}" srcOrd="0" destOrd="2" presId="urn:microsoft.com/office/officeart/2005/8/layout/vList6"/>
    <dgm:cxn modelId="{BC263B0C-736F-4A18-934B-EC41A173511E}" type="presParOf" srcId="{46F140F5-C3A8-4EB8-AA85-0A98FB101443}" destId="{51E01C1B-D24B-40AB-B343-A55403E7EE52}" srcOrd="0" destOrd="0" presId="urn:microsoft.com/office/officeart/2005/8/layout/vList6"/>
    <dgm:cxn modelId="{D0F3A047-C816-4AED-97F4-D426D4DBEB6C}" type="presParOf" srcId="{51E01C1B-D24B-40AB-B343-A55403E7EE52}" destId="{7F168855-1A81-42D3-AAD4-6F76C86FA766}" srcOrd="0" destOrd="0" presId="urn:microsoft.com/office/officeart/2005/8/layout/vList6"/>
    <dgm:cxn modelId="{71F78096-F1FC-484D-B4B2-7DFA00FF9C0E}" type="presParOf" srcId="{51E01C1B-D24B-40AB-B343-A55403E7EE52}" destId="{7C54A649-35D2-4369-9727-2E2A92822F5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C54A649-35D2-4369-9727-2E2A92822F5E}">
      <dsp:nvSpPr>
        <dsp:cNvPr id="0" name=""/>
        <dsp:cNvSpPr/>
      </dsp:nvSpPr>
      <dsp:spPr>
        <a:xfrm>
          <a:off x="3147823" y="0"/>
          <a:ext cx="4721736" cy="4453954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2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Quels sont les métiers de mon établissement/pôle/service ?</a:t>
          </a: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Combien y a-t-il d’agents par métier?</a:t>
          </a:r>
          <a:endParaRPr lang="fr-FR" sz="1600" kern="1200" dirty="0"/>
        </a:p>
      </dsp:txBody>
      <dsp:txXfrm>
        <a:off x="3147823" y="0"/>
        <a:ext cx="4721736" cy="4453954"/>
      </dsp:txXfrm>
    </dsp:sp>
    <dsp:sp modelId="{7F168855-1A81-42D3-AAD4-6F76C86FA766}">
      <dsp:nvSpPr>
        <dsp:cNvPr id="0" name=""/>
        <dsp:cNvSpPr/>
      </dsp:nvSpPr>
      <dsp:spPr>
        <a:xfrm>
          <a:off x="0" y="0"/>
          <a:ext cx="3147824" cy="445395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4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700" b="1" u="none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Niveau 1 </a:t>
          </a:r>
          <a:r>
            <a:rPr lang="fr-FR" sz="3700" kern="1200" dirty="0" smtClean="0"/>
            <a:t>Connaître les effectifs par métiers</a:t>
          </a:r>
          <a:endParaRPr lang="fr-FR" sz="3700" kern="1200" dirty="0"/>
        </a:p>
      </dsp:txBody>
      <dsp:txXfrm>
        <a:off x="0" y="0"/>
        <a:ext cx="3147824" cy="4453954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C54A649-35D2-4369-9727-2E2A92822F5E}">
      <dsp:nvSpPr>
        <dsp:cNvPr id="0" name=""/>
        <dsp:cNvSpPr/>
      </dsp:nvSpPr>
      <dsp:spPr>
        <a:xfrm>
          <a:off x="3024336" y="0"/>
          <a:ext cx="4536504" cy="4320480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400" kern="1200" dirty="0" smtClean="0"/>
            <a:t>Quelles sont les compétences requises par chacun des métiers?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400" kern="1200" dirty="0" smtClean="0"/>
            <a:t>Quels sont les besoins de formation des salariés de l’établissement?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400" kern="1200" dirty="0" smtClean="0"/>
            <a:t>Où sont situés les experts?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400" kern="1200" dirty="0" smtClean="0"/>
            <a:t>Quelles sont les compétences en carence?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400" kern="1200" dirty="0" smtClean="0"/>
            <a:t>Quelles passerelles promouvoir?</a:t>
          </a:r>
          <a:endParaRPr lang="fr-FR" sz="1400" kern="1200" dirty="0"/>
        </a:p>
      </dsp:txBody>
      <dsp:txXfrm>
        <a:off x="3024336" y="0"/>
        <a:ext cx="4536504" cy="4320480"/>
      </dsp:txXfrm>
    </dsp:sp>
    <dsp:sp modelId="{7F168855-1A81-42D3-AAD4-6F76C86FA766}">
      <dsp:nvSpPr>
        <dsp:cNvPr id="0" name=""/>
        <dsp:cNvSpPr/>
      </dsp:nvSpPr>
      <dsp:spPr>
        <a:xfrm>
          <a:off x="0" y="0"/>
          <a:ext cx="3024336" cy="432048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2">
                <a:shade val="5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2">
                <a:shade val="5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b="1" u="none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Niveau 2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kern="1200" dirty="0" smtClean="0"/>
            <a:t>Intégrer la gestion des métiers et des compétences dans les actes de GRH </a:t>
          </a:r>
          <a:endParaRPr lang="fr-FR" sz="2800" kern="1200" dirty="0"/>
        </a:p>
      </dsp:txBody>
      <dsp:txXfrm>
        <a:off x="0" y="0"/>
        <a:ext cx="3024336" cy="432048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C54A649-35D2-4369-9727-2E2A92822F5E}">
      <dsp:nvSpPr>
        <dsp:cNvPr id="0" name=""/>
        <dsp:cNvSpPr/>
      </dsp:nvSpPr>
      <dsp:spPr>
        <a:xfrm>
          <a:off x="3201292" y="0"/>
          <a:ext cx="4801939" cy="5256583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Quels métiers vont être en sous ou en sureffectif?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Quels seront nos besoins?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A quelle échéance?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De quelles compétences aurons-nous besoin demain?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Quelles compétences optimiser dans le cadre d’opération de coopération ou de regroupement? 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Quelles compétences vont émerger, disparaître?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A quoi doit-on former aujourd’hui pour demain?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Quels sont les flux entrant et sortant?</a:t>
          </a:r>
          <a:endParaRPr lang="fr-FR" sz="1200" kern="1200" dirty="0"/>
        </a:p>
      </dsp:txBody>
      <dsp:txXfrm>
        <a:off x="3201292" y="0"/>
        <a:ext cx="4801939" cy="5256583"/>
      </dsp:txXfrm>
    </dsp:sp>
    <dsp:sp modelId="{7F168855-1A81-42D3-AAD4-6F76C86FA766}">
      <dsp:nvSpPr>
        <dsp:cNvPr id="0" name=""/>
        <dsp:cNvSpPr/>
      </dsp:nvSpPr>
      <dsp:spPr>
        <a:xfrm>
          <a:off x="0" y="0"/>
          <a:ext cx="3201292" cy="5256583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u="none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Niveau 3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/>
            <a:t>Anticiper à moyen et long terme l’impact des évolutions d’activité et d’organisation sur les métiers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/>
            <a:t>sensibles et les compétences critiques </a:t>
          </a:r>
          <a:endParaRPr lang="fr-FR" sz="2000" b="1" u="none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3201292" cy="5256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C8A40-E947-4DBA-A5E5-BE01DE6B7770}" type="datetimeFigureOut">
              <a:rPr lang="fr-FR" smtClean="0"/>
              <a:pPr/>
              <a:t>30/09/2011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2E0B7-EDAC-47E5-8511-BB0D7B944B2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7E575ED-ED39-433D-B8FA-121A0104CFD9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71597FA9-983E-443C-AFC3-E69E4B1817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0FA792-818B-4218-A945-5D5223ADAC90}" type="slidenum">
              <a:rPr lang="fr-FR" smtClean="0"/>
              <a:pPr/>
              <a:t>4</a:t>
            </a:fld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rectangle 9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grpSp>
        <p:nvGrpSpPr>
          <p:cNvPr id="5" name="Groupe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orme libre 6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  <a:ea typeface="+mn-ea"/>
              </a:endParaRPr>
            </a:p>
          </p:txBody>
        </p:sp>
        <p:sp>
          <p:nvSpPr>
            <p:cNvPr id="7" name="Forme libre 7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  <a:ea typeface="+mn-ea"/>
              </a:endParaRPr>
            </a:p>
          </p:txBody>
        </p:sp>
        <p:sp>
          <p:nvSpPr>
            <p:cNvPr id="8" name="Forme lib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cxnSp>
          <p:nvCxnSpPr>
            <p:cNvPr id="10" name="Connecteur droit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 smtClean="0"/>
              <a:t>Cliquez pour modifier le style des sous-titres du masque</a:t>
            </a:r>
            <a:endParaRPr lang="en-US"/>
          </a:p>
        </p:txBody>
      </p:sp>
      <p:sp>
        <p:nvSpPr>
          <p:cNvPr id="11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DA2CBC7-C5DD-4661-B7C2-38486D65A2DD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12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777B8A2-8B25-48C3-B473-E4FFBF44B9F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DB07D-FB6E-4A4E-A62C-D587D2716C05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61A67-2C37-4A4D-B7A1-0610D7131ED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6"/>
          <p:cNvSpPr>
            <a:spLocks noChangeArrowheads="1"/>
          </p:cNvSpPr>
          <p:nvPr/>
        </p:nvSpPr>
        <p:spPr bwMode="auto"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" name="Chevron 7"/>
          <p:cNvSpPr>
            <a:spLocks noChangeArrowheads="1"/>
          </p:cNvSpPr>
          <p:nvPr/>
        </p:nvSpPr>
        <p:spPr bwMode="auto"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88148-DF5C-44C5-95C0-02F2B8BDDF2E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8182B-0F9D-41A0-9983-204B3026E44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1186A-D485-4989-8ABD-D359A5B9E785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B38D8-67D8-4629-A586-EFE5134D3A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FF944-D994-4B21-A6A8-E81497DC0A72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DB7268-F611-4E30-A8DA-73A4E705E54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C91CF-7D18-4D8D-B7D6-F6AD2454166E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E33D3-B844-42A9-AB26-E2EC963212B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55258-9B61-4EEB-9017-9F55333F27CF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3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DC06F-C7AE-445E-A2B0-C0B93C7D276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0850E-7B73-4A93-AD14-B65508D2B727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E0449-D60F-472B-A04C-8046B00553C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7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ea typeface="+mn-ea"/>
            </a:endParaRPr>
          </a:p>
        </p:txBody>
      </p:sp>
      <p:sp>
        <p:nvSpPr>
          <p:cNvPr id="6" name="Forme libre 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ea typeface="+mn-ea"/>
            </a:endParaRPr>
          </a:p>
        </p:txBody>
      </p:sp>
      <p:sp>
        <p:nvSpPr>
          <p:cNvPr id="7" name="Triangle rect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cxnSp>
        <p:nvCxnSpPr>
          <p:cNvPr id="8" name="Connecteur droit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1"/>
          <p:cNvSpPr>
            <a:spLocks noChangeArrowheads="1"/>
          </p:cNvSpPr>
          <p:nvPr/>
        </p:nvSpPr>
        <p:spPr bwMode="auto"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0" name="Chevron 12"/>
          <p:cNvSpPr>
            <a:spLocks noChangeArrowheads="1"/>
          </p:cNvSpPr>
          <p:nvPr/>
        </p:nvSpPr>
        <p:spPr bwMode="auto"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en-US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11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F12FC-E681-48C8-B8DF-2BAD9AAFE8AB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12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05DAB-D1B4-492A-A505-EFEFADCE28F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C84B7-8850-4900-96C2-262C074DE1E1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A6422-F4ED-41B6-985F-EE3D67BBEA1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DFCBF-FC71-4926-8ECD-CF80EDCF5604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00EE5-8F99-4A58-9E30-8D52B8F682C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Cliquez pour modifier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457200" y="1481138"/>
            <a:ext cx="8229600" cy="4525962"/>
          </a:xfrm>
        </p:spPr>
        <p:txBody>
          <a:bodyPr>
            <a:norm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2995C-E91B-482E-84E9-94F5FFE357FA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DB3B-C0CA-406E-8FBB-C6D5F8E4A7B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ea typeface="+mn-ea"/>
            </a:endParaRPr>
          </a:p>
        </p:txBody>
      </p:sp>
      <p:sp>
        <p:nvSpPr>
          <p:cNvPr id="12" name="Forme libre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ea typeface="+mn-ea"/>
            </a:endParaRPr>
          </a:p>
        </p:txBody>
      </p:sp>
      <p:sp>
        <p:nvSpPr>
          <p:cNvPr id="14" name="Triangle rect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cxnSp>
        <p:nvCxnSpPr>
          <p:cNvPr id="15" name="Connecteur droit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smtClean="0"/>
              <a:t>Cliquez pour modifier le style du titre</a:t>
            </a:r>
            <a:endParaRPr lang="en-US" smtClean="0"/>
          </a:p>
        </p:txBody>
      </p:sp>
      <p:sp>
        <p:nvSpPr>
          <p:cNvPr id="2057" name="Espace réservé du texte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smtClean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Lucida Sans Unicode" pitchFamily="34" charset="0"/>
              </a:defRPr>
            </a:lvl1pPr>
          </a:lstStyle>
          <a:p>
            <a:pPr>
              <a:defRPr/>
            </a:pPr>
            <a:fld id="{8F4E90BF-2D26-4035-A5E7-2E559E1DA0B8}" type="datetime1">
              <a:rPr lang="fr-FR"/>
              <a:pPr>
                <a:defRPr/>
              </a:pPr>
              <a:t>30/09/2011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itchFamily="34" charset="0"/>
              </a:defRPr>
            </a:lvl1pPr>
          </a:lstStyle>
          <a:p>
            <a:pPr>
              <a:defRPr/>
            </a:pPr>
            <a:fld id="{01E3763F-BCC2-4273-937C-4FF5001C451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67" r:id="rId2"/>
    <p:sldLayoutId id="2147483873" r:id="rId3"/>
    <p:sldLayoutId id="2147483874" r:id="rId4"/>
    <p:sldLayoutId id="2147483875" r:id="rId5"/>
    <p:sldLayoutId id="2147483876" r:id="rId6"/>
    <p:sldLayoutId id="2147483868" r:id="rId7"/>
    <p:sldLayoutId id="2147483877" r:id="rId8"/>
    <p:sldLayoutId id="2147483878" r:id="rId9"/>
    <p:sldLayoutId id="2147483869" r:id="rId10"/>
    <p:sldLayoutId id="2147483870" r:id="rId11"/>
    <p:sldLayoutId id="214748387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76375" y="3213100"/>
            <a:ext cx="6651625" cy="1871663"/>
          </a:xfrm>
        </p:spPr>
        <p:txBody>
          <a:bodyPr>
            <a:normAutofit/>
          </a:bodyPr>
          <a:lstStyle/>
          <a:p>
            <a:pPr marR="0" eaLnBrk="1" hangingPunct="1">
              <a:defRPr/>
            </a:pPr>
            <a:r>
              <a:rPr lang="fr-FR" sz="3200" b="1" dirty="0" smtClean="0"/>
              <a:t> </a:t>
            </a:r>
            <a:endParaRPr lang="fr-FR" sz="3200" dirty="0" smtClean="0"/>
          </a:p>
          <a:p>
            <a:pPr marR="0" eaLnBrk="1" hangingPunct="1">
              <a:defRPr/>
            </a:pPr>
            <a:r>
              <a:rPr lang="fr-FR" sz="3200" b="1" dirty="0" smtClean="0">
                <a:solidFill>
                  <a:srgbClr val="2B4A7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GungsuhChe" pitchFamily="49" charset="-127"/>
              </a:rPr>
              <a:t> </a:t>
            </a:r>
            <a:endParaRPr lang="fr-FR" sz="3200" dirty="0" smtClean="0">
              <a:solidFill>
                <a:srgbClr val="2B4A7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GungsuhChe" pitchFamily="49" charset="-127"/>
            </a:endParaRPr>
          </a:p>
          <a:p>
            <a:pPr marR="0" eaLnBrk="1" hangingPunct="1">
              <a:defRPr/>
            </a:pPr>
            <a:r>
              <a:rPr lang="fr-FR" sz="3200" b="1" dirty="0" smtClean="0">
                <a:solidFill>
                  <a:srgbClr val="2B4A7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GungsuhChe" pitchFamily="49" charset="-127"/>
              </a:rPr>
              <a:t>« La GPMC Comprendre et agir »</a:t>
            </a:r>
          </a:p>
          <a:p>
            <a:pPr marR="0" eaLnBrk="1" hangingPunct="1">
              <a:defRPr/>
            </a:pPr>
            <a:endParaRPr lang="fr-FR" sz="3000" b="1" dirty="0" smtClean="0">
              <a:solidFill>
                <a:srgbClr val="2B4A76"/>
              </a:solidFill>
              <a:latin typeface="GungsuhChe" pitchFamily="49" charset="-127"/>
              <a:ea typeface="GungsuhChe" pitchFamily="49" charset="-127"/>
            </a:endParaRPr>
          </a:p>
          <a:p>
            <a:pPr marR="0" eaLnBrk="1" hangingPunct="1">
              <a:defRPr/>
            </a:pPr>
            <a:endParaRPr lang="fr-FR" sz="3000" dirty="0" smtClean="0">
              <a:solidFill>
                <a:srgbClr val="2B4A76"/>
              </a:solidFill>
              <a:latin typeface="GungsuhChe" pitchFamily="49" charset="-127"/>
              <a:ea typeface="GungsuhChe" pitchFamily="49" charset="-127"/>
            </a:endParaRPr>
          </a:p>
          <a:p>
            <a:pPr marR="0" eaLnBrk="1" hangingPunct="1">
              <a:defRPr/>
            </a:pPr>
            <a:endParaRPr lang="fr-FR" sz="2500" dirty="0" smtClean="0"/>
          </a:p>
        </p:txBody>
      </p:sp>
      <p:sp>
        <p:nvSpPr>
          <p:cNvPr id="10243" name="ZoneTexte 3"/>
          <p:cNvSpPr txBox="1">
            <a:spLocks noChangeArrowheads="1"/>
          </p:cNvSpPr>
          <p:nvPr/>
        </p:nvSpPr>
        <p:spPr bwMode="auto">
          <a:xfrm>
            <a:off x="0" y="0"/>
            <a:ext cx="9144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ANFH  Champagne-Ardenne</a:t>
            </a:r>
          </a:p>
          <a:p>
            <a:r>
              <a:rPr lang="fr-FR" sz="3200" b="1" dirty="0" smtClean="0"/>
              <a:t>Journées d’études de l’URHB</a:t>
            </a:r>
          </a:p>
          <a:p>
            <a:endParaRPr lang="fr-FR" sz="3200" b="1" dirty="0"/>
          </a:p>
          <a:p>
            <a:r>
              <a:rPr lang="fr-FR" sz="3200" b="1" dirty="0"/>
              <a:t>        </a:t>
            </a:r>
            <a:r>
              <a:rPr lang="fr-FR" sz="3200" b="1" dirty="0" smtClean="0"/>
              <a:t>                                    6 octobre 2011</a:t>
            </a:r>
            <a:endParaRPr lang="fr-FR" sz="3200" b="1" dirty="0"/>
          </a:p>
        </p:txBody>
      </p:sp>
      <p:pic>
        <p:nvPicPr>
          <p:cNvPr id="10244" name="Image 4"/>
          <p:cNvPicPr>
            <a:picLocks noChangeAspect="1" noChangeArrowheads="1"/>
          </p:cNvPicPr>
          <p:nvPr/>
        </p:nvPicPr>
        <p:blipFill>
          <a:blip r:embed="rId2" cstate="print"/>
          <a:srcRect l="60037" t="34019" r="21176" b="55544"/>
          <a:stretch>
            <a:fillRect/>
          </a:stretch>
        </p:blipFill>
        <p:spPr bwMode="auto">
          <a:xfrm>
            <a:off x="3348038" y="2133600"/>
            <a:ext cx="4464050" cy="158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contenu 2"/>
          <p:cNvSpPr>
            <a:spLocks noGrp="1"/>
          </p:cNvSpPr>
          <p:nvPr>
            <p:ph idx="1"/>
          </p:nvPr>
        </p:nvSpPr>
        <p:spPr>
          <a:xfrm>
            <a:off x="827088" y="1844675"/>
            <a:ext cx="7772400" cy="3455988"/>
          </a:xfrm>
        </p:spPr>
        <p:txBody>
          <a:bodyPr/>
          <a:lstStyle/>
          <a:p>
            <a:pPr eaLnBrk="1" hangingPunct="1"/>
            <a:r>
              <a:rPr lang="fr-FR" sz="2800" dirty="0" smtClean="0">
                <a:latin typeface="Arial" charset="0"/>
                <a:cs typeface="Arial" charset="0"/>
              </a:rPr>
              <a:t>Les enjeux de la GPMC en milieu hospitalier</a:t>
            </a:r>
          </a:p>
          <a:p>
            <a:pPr eaLnBrk="1" hangingPunct="1"/>
            <a:endParaRPr lang="fr-FR" sz="2800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fr-FR" sz="2800" dirty="0" smtClean="0">
                <a:latin typeface="Arial" charset="0"/>
                <a:cs typeface="Arial" charset="0"/>
              </a:rPr>
              <a:t>Les fondamentaux de la GPMC</a:t>
            </a:r>
          </a:p>
          <a:p>
            <a:pPr eaLnBrk="1" hangingPunct="1"/>
            <a:endParaRPr lang="fr-FR" sz="2800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fr-FR" sz="2800" dirty="0" smtClean="0">
                <a:latin typeface="Arial" charset="0"/>
                <a:cs typeface="Arial" charset="0"/>
              </a:rPr>
              <a:t>Le positionnement des acteurs</a:t>
            </a:r>
          </a:p>
          <a:p>
            <a:pPr eaLnBrk="1" hangingPunct="1"/>
            <a:endParaRPr lang="fr-FR" sz="2800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fr-FR" sz="2800" dirty="0" smtClean="0">
                <a:latin typeface="Arial" charset="0"/>
                <a:cs typeface="Arial" charset="0"/>
              </a:rPr>
              <a:t>Les dispositifs d’appui et d’accompagnement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latin typeface="Arial" pitchFamily="34" charset="0"/>
                <a:ea typeface="+mj-ea"/>
                <a:cs typeface="Arial" pitchFamily="34" charset="0"/>
              </a:rPr>
              <a:t>Structure de l’intervention</a:t>
            </a:r>
            <a:r>
              <a:rPr lang="fr-FR" sz="3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lang="fr-FR" sz="3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Arial" pitchFamily="34" charset="0"/>
              </a:rPr>
            </a:br>
            <a:r>
              <a:rPr lang="fr-FR" sz="2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Arial" pitchFamily="34" charset="0"/>
              </a:rPr>
              <a:t>Martine VANPEENE, CAPITAN</a:t>
            </a:r>
            <a:endParaRPr lang="fr-FR" sz="27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1268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4213" y="2565400"/>
            <a:ext cx="7585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 GPMC dans le contexte hospitalier</a:t>
            </a:r>
          </a:p>
        </p:txBody>
      </p:sp>
      <p:pic>
        <p:nvPicPr>
          <p:cNvPr id="16387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u contenu 2"/>
          <p:cNvSpPr>
            <a:spLocks noGrp="1"/>
          </p:cNvSpPr>
          <p:nvPr>
            <p:ph idx="1"/>
          </p:nvPr>
        </p:nvSpPr>
        <p:spPr>
          <a:xfrm>
            <a:off x="755650" y="1628775"/>
            <a:ext cx="7772400" cy="4572000"/>
          </a:xfrm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dirty="0" smtClean="0">
                <a:latin typeface="Arial" charset="0"/>
                <a:cs typeface="Arial" charset="0"/>
              </a:rPr>
              <a:t>L’impact des réformes hospitalières</a:t>
            </a:r>
            <a:r>
              <a:rPr lang="fr-FR" sz="1900" dirty="0" smtClean="0">
                <a:latin typeface="Arial" charset="0"/>
                <a:cs typeface="Arial" charset="0"/>
              </a:rPr>
              <a:t> en cours : certification, nouvelle gouvernance,  T2A-EPRD… sur les règles de fonctionnement et l’organisation des établissements de santé, territorialisation de l’offre de soins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 3" pitchFamily="18" charset="2"/>
              <a:buNone/>
            </a:pPr>
            <a:endParaRPr lang="fr-FR" sz="1900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dirty="0" smtClean="0">
                <a:latin typeface="Arial" charset="0"/>
                <a:cs typeface="Arial" charset="0"/>
              </a:rPr>
              <a:t>Modernisation de la GRH</a:t>
            </a:r>
            <a:r>
              <a:rPr lang="fr-FR" sz="1900" dirty="0" smtClean="0">
                <a:latin typeface="Arial" charset="0"/>
                <a:cs typeface="Arial" charset="0"/>
              </a:rPr>
              <a:t>: raisonnement en termes de métiers et pas seulement en termes de grades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 3" pitchFamily="18" charset="2"/>
              <a:buNone/>
            </a:pPr>
            <a:endParaRPr lang="fr-FR" sz="1900" dirty="0" smtClean="0">
              <a:latin typeface="Arial" charset="0"/>
              <a:cs typeface="Arial" charset="0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dirty="0" smtClean="0">
                <a:latin typeface="Arial" charset="0"/>
                <a:cs typeface="Arial" charset="0"/>
              </a:rPr>
              <a:t>L’optimisation du budget masse salariale </a:t>
            </a:r>
            <a:r>
              <a:rPr lang="fr-FR" sz="1900" dirty="0" smtClean="0">
                <a:latin typeface="Arial" charset="0"/>
                <a:cs typeface="Arial" charset="0"/>
              </a:rPr>
              <a:t>dans un contexte financier très contraint laissant de faibles marges de manœuvre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endParaRPr lang="fr-FR" sz="2800" dirty="0" smtClean="0">
              <a:latin typeface="Arial" charset="0"/>
              <a:cs typeface="Arial" charset="0"/>
            </a:endParaRPr>
          </a:p>
          <a:p>
            <a:pPr marL="342900" indent="-342900" eaLnBrk="1" hangingPunct="1"/>
            <a:endParaRPr lang="fr-FR" sz="1900" dirty="0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La GPMC au cœur des évolutions hospitalières</a:t>
            </a:r>
            <a:endParaRPr lang="fr-FR" dirty="0">
              <a:ea typeface="+mj-ea"/>
            </a:endParaRPr>
          </a:p>
        </p:txBody>
      </p:sp>
      <p:pic>
        <p:nvPicPr>
          <p:cNvPr id="28676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3"/>
          <p:cNvPicPr>
            <a:picLocks noChangeAspect="1" noChangeArrowheads="1"/>
          </p:cNvPicPr>
          <p:nvPr/>
        </p:nvPicPr>
        <p:blipFill>
          <a:blip r:embed="rId4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smtClean="0">
                <a:latin typeface="Arial" charset="0"/>
                <a:cs typeface="Arial" charset="0"/>
              </a:rPr>
              <a:t>L’évolution de la démographie</a:t>
            </a:r>
            <a:r>
              <a:rPr lang="fr-FR" sz="1900" smtClean="0">
                <a:latin typeface="Arial" charset="0"/>
                <a:cs typeface="Arial" charset="0"/>
              </a:rPr>
              <a:t> qui touche aussi bien les patients que les professionnels de santé eux-mêmes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endParaRPr lang="fr-FR" sz="1900" smtClean="0">
              <a:latin typeface="Arial" charset="0"/>
              <a:cs typeface="Arial" charset="0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smtClean="0">
                <a:latin typeface="Arial" charset="0"/>
                <a:cs typeface="Arial" charset="0"/>
              </a:rPr>
              <a:t>L’évolution de la demande des usagers</a:t>
            </a:r>
            <a:r>
              <a:rPr lang="fr-FR" sz="1900" smtClean="0">
                <a:latin typeface="Arial" charset="0"/>
                <a:cs typeface="Arial" charset="0"/>
              </a:rPr>
              <a:t> qui oriente les stratégie de soins des établissements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endParaRPr lang="fr-FR" sz="1900" smtClean="0">
              <a:latin typeface="Arial" charset="0"/>
              <a:cs typeface="Arial" charset="0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smtClean="0">
                <a:latin typeface="Arial" charset="0"/>
                <a:cs typeface="Arial" charset="0"/>
              </a:rPr>
              <a:t>La prise en compte indispensable de la motivation </a:t>
            </a:r>
            <a:r>
              <a:rPr lang="fr-FR" sz="1900" smtClean="0">
                <a:latin typeface="Arial" charset="0"/>
                <a:cs typeface="Arial" charset="0"/>
              </a:rPr>
              <a:t>des personnels de santé pour répondre au mieux à ces besoins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endParaRPr lang="fr-FR" sz="1900" smtClean="0">
              <a:latin typeface="Arial" charset="0"/>
              <a:cs typeface="Arial" charset="0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sz="1900" b="1" smtClean="0">
                <a:latin typeface="Arial" charset="0"/>
                <a:cs typeface="Arial" charset="0"/>
              </a:rPr>
              <a:t>Les tensions fortes sur certains métiers :</a:t>
            </a:r>
            <a:r>
              <a:rPr lang="fr-FR" sz="1900" smtClean="0">
                <a:latin typeface="Arial" charset="0"/>
                <a:cs typeface="Arial" charset="0"/>
              </a:rPr>
              <a:t> difficultés de recrutement, turn-over, besoins d’expertises</a:t>
            </a:r>
          </a:p>
          <a:p>
            <a:pPr marL="342900" indent="-342900" eaLnBrk="1" hangingPunct="1"/>
            <a:endParaRPr lang="fr-FR" smtClean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La GPMC au cœur des évolutions hospitalières</a:t>
            </a:r>
            <a:endParaRPr lang="fr-FR" dirty="0">
              <a:ea typeface="+mj-ea"/>
            </a:endParaRPr>
          </a:p>
        </p:txBody>
      </p:sp>
      <p:pic>
        <p:nvPicPr>
          <p:cNvPr id="29700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u contenu 2"/>
          <p:cNvSpPr>
            <a:spLocks noGrp="1"/>
          </p:cNvSpPr>
          <p:nvPr>
            <p:ph idx="1"/>
          </p:nvPr>
        </p:nvSpPr>
        <p:spPr>
          <a:xfrm>
            <a:off x="755650" y="1844675"/>
            <a:ext cx="7772400" cy="352901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r>
              <a:rPr lang="fr-FR" sz="2500" i="1" dirty="0" smtClean="0">
                <a:latin typeface="Arial" charset="0"/>
                <a:cs typeface="Arial" charset="0"/>
              </a:rPr>
              <a:t> </a:t>
            </a:r>
            <a:r>
              <a:rPr lang="fr-FR" sz="3600" i="1" dirty="0" smtClean="0">
                <a:latin typeface="Arial" charset="0"/>
                <a:cs typeface="Arial" charset="0"/>
              </a:rPr>
              <a:t>Mettre en cohérence le projet</a:t>
            </a:r>
          </a:p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r>
              <a:rPr lang="fr-FR" sz="3600" i="1" dirty="0" smtClean="0">
                <a:latin typeface="Arial" charset="0"/>
                <a:cs typeface="Arial" charset="0"/>
              </a:rPr>
              <a:t>stratégique de l’établissement et</a:t>
            </a:r>
          </a:p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r>
              <a:rPr lang="fr-FR" sz="3600" i="1" dirty="0" smtClean="0">
                <a:latin typeface="Arial" charset="0"/>
                <a:cs typeface="Arial" charset="0"/>
              </a:rPr>
              <a:t>la politique de gestion des </a:t>
            </a:r>
          </a:p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r>
              <a:rPr lang="fr-FR" sz="3600" i="1" dirty="0" smtClean="0">
                <a:latin typeface="Arial" charset="0"/>
                <a:cs typeface="Arial" charset="0"/>
              </a:rPr>
              <a:t>ressources humaines</a:t>
            </a:r>
          </a:p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endParaRPr lang="fr-FR" sz="3600" i="1" dirty="0" smtClean="0">
              <a:latin typeface="Arial" charset="0"/>
              <a:cs typeface="Arial" charset="0"/>
            </a:endParaRPr>
          </a:p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r>
              <a:rPr lang="fr-FR" sz="3600" i="1" dirty="0" smtClean="0">
                <a:latin typeface="Arial" charset="0"/>
                <a:cs typeface="Arial" charset="0"/>
              </a:rPr>
              <a:t>Prendre en compte les besoins et attentes des agents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9592" y="548680"/>
            <a:ext cx="7772400" cy="1143000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100" dirty="0" smtClean="0">
                <a:ea typeface="+mj-ea"/>
              </a:rPr>
              <a:t/>
            </a:r>
            <a:br>
              <a:rPr lang="fr-FR" sz="3100" dirty="0" smtClean="0">
                <a:ea typeface="+mj-ea"/>
              </a:rPr>
            </a:br>
            <a:r>
              <a:rPr lang="fr-FR" sz="4600" dirty="0" smtClean="0">
                <a:ea typeface="+mj-ea"/>
              </a:rPr>
              <a:t>La démarche GPMC vise 2 objectifs principaux:</a:t>
            </a:r>
            <a:r>
              <a:rPr lang="fr-FR" dirty="0" smtClean="0">
                <a:ea typeface="+mj-ea"/>
              </a:rPr>
              <a:t/>
            </a:r>
            <a:br>
              <a:rPr lang="fr-FR" dirty="0" smtClean="0">
                <a:ea typeface="+mj-ea"/>
              </a:rPr>
            </a:br>
            <a:endParaRPr lang="fr-FR" dirty="0">
              <a:ea typeface="+mj-ea"/>
            </a:endParaRPr>
          </a:p>
        </p:txBody>
      </p:sp>
      <p:pic>
        <p:nvPicPr>
          <p:cNvPr id="30724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u contenu 2"/>
          <p:cNvSpPr>
            <a:spLocks noGrp="1"/>
          </p:cNvSpPr>
          <p:nvPr>
            <p:ph idx="1"/>
          </p:nvPr>
        </p:nvSpPr>
        <p:spPr>
          <a:xfrm>
            <a:off x="611188" y="1557338"/>
            <a:ext cx="7772400" cy="3276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 3" pitchFamily="18" charset="2"/>
              <a:buNone/>
            </a:pPr>
            <a:endParaRPr lang="fr-FR" sz="2200" dirty="0" smtClean="0">
              <a:latin typeface="Arial" charset="0"/>
              <a:cs typeface="Arial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fr-FR" sz="2200" dirty="0" smtClean="0">
                <a:latin typeface="Arial" charset="0"/>
                <a:cs typeface="Arial" charset="0"/>
              </a:rPr>
              <a:t>Décret du 17/09/2007</a:t>
            </a:r>
            <a:r>
              <a:rPr lang="fr-FR" sz="22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fr-FR" sz="2200" b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sur l’entretien professionnel dans la fonction publique</a:t>
            </a:r>
          </a:p>
          <a:p>
            <a:pPr algn="just" eaLnBrk="1" hangingPunct="1">
              <a:lnSpc>
                <a:spcPct val="80000"/>
              </a:lnSpc>
              <a:buFont typeface="Wingdings 3" pitchFamily="18" charset="2"/>
              <a:buNone/>
            </a:pPr>
            <a:endParaRPr lang="fr-FR" sz="2200" b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fr-FR" sz="2200" dirty="0" smtClean="0">
                <a:latin typeface="Arial" charset="0"/>
                <a:cs typeface="Arial" charset="0"/>
              </a:rPr>
              <a:t>Circulaire de la DHOS du 09/10/2007 –</a:t>
            </a:r>
            <a:r>
              <a:rPr lang="fr-FR" sz="2200" b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 Renforcement de la gestion RH dans les établissements de santé</a:t>
            </a:r>
          </a:p>
          <a:p>
            <a:pPr algn="just" eaLnBrk="1" hangingPunct="1">
              <a:lnSpc>
                <a:spcPct val="80000"/>
              </a:lnSpc>
            </a:pPr>
            <a:endParaRPr lang="fr-FR" sz="2200" dirty="0" smtClean="0">
              <a:latin typeface="Arial" charset="0"/>
              <a:cs typeface="Arial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fr-FR" sz="2200" dirty="0" smtClean="0">
                <a:latin typeface="Arial" charset="0"/>
                <a:cs typeface="Arial" charset="0"/>
              </a:rPr>
              <a:t>FPTLV décret du 21/08/2008 et Circulaire DHOS du 22/06/2009 – </a:t>
            </a:r>
            <a:r>
              <a:rPr lang="fr-FR" sz="2200" b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Développement de compétences et l’individualisation des parcours</a:t>
            </a:r>
          </a:p>
          <a:p>
            <a:pPr eaLnBrk="1" hangingPunct="1">
              <a:lnSpc>
                <a:spcPct val="80000"/>
              </a:lnSpc>
            </a:pPr>
            <a:endParaRPr lang="fr-FR" sz="2200" b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 3" pitchFamily="18" charset="2"/>
              <a:buNone/>
            </a:pPr>
            <a:endParaRPr lang="fr-FR" sz="2200" b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 3" pitchFamily="18" charset="2"/>
              <a:buNone/>
            </a:pPr>
            <a:endParaRPr lang="fr-FR" sz="2200" b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 3" pitchFamily="18" charset="2"/>
              <a:buNone/>
            </a:pPr>
            <a:endParaRPr lang="fr-FR" dirty="0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Les références réglementaires</a:t>
            </a:r>
            <a:endParaRPr lang="fr-FR" dirty="0">
              <a:ea typeface="+mj-ea"/>
            </a:endParaRPr>
          </a:p>
        </p:txBody>
      </p:sp>
      <p:pic>
        <p:nvPicPr>
          <p:cNvPr id="3277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contenu 2"/>
          <p:cNvSpPr>
            <a:spLocks noGrp="1"/>
          </p:cNvSpPr>
          <p:nvPr>
            <p:ph idx="1"/>
          </p:nvPr>
        </p:nvSpPr>
        <p:spPr>
          <a:xfrm>
            <a:off x="827088" y="1412776"/>
            <a:ext cx="7772400" cy="4176812"/>
          </a:xfrm>
        </p:spPr>
        <p:txBody>
          <a:bodyPr/>
          <a:lstStyle/>
          <a:p>
            <a:pPr algn="just" eaLnBrk="1" hangingPunct="1"/>
            <a:r>
              <a:rPr lang="fr-FR" sz="2200" dirty="0" smtClean="0">
                <a:latin typeface="Arial" charset="0"/>
                <a:cs typeface="Arial" charset="0"/>
              </a:rPr>
              <a:t>Loi Hôpital, Patients, Santé et Territoires du 22/07/2009 – </a:t>
            </a:r>
            <a:r>
              <a:rPr lang="fr-FR" sz="2200" b="1" i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Développement de coopération entre les professionnels de santé</a:t>
            </a:r>
          </a:p>
          <a:p>
            <a:pPr algn="just" eaLnBrk="1" hangingPunct="1">
              <a:buFont typeface="Wingdings 3" pitchFamily="18" charset="2"/>
              <a:buNone/>
            </a:pPr>
            <a:endParaRPr lang="fr-FR" sz="2200" b="1" i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algn="just" eaLnBrk="1" hangingPunct="1"/>
            <a:r>
              <a:rPr lang="fr-FR" sz="2200" dirty="0" smtClean="0">
                <a:latin typeface="Arial" charset="0"/>
                <a:cs typeface="Arial" charset="0"/>
              </a:rPr>
              <a:t>Création des ARS au 01/04/2010 –</a:t>
            </a:r>
            <a:r>
              <a:rPr lang="fr-FR" sz="2200" b="1" i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 vision globale et chiffrée des effectifs et des métiers sur le territoire</a:t>
            </a:r>
          </a:p>
          <a:p>
            <a:pPr algn="just" eaLnBrk="1" hangingPunct="1"/>
            <a:endParaRPr lang="fr-FR" sz="2200" dirty="0" smtClean="0">
              <a:latin typeface="Arial" charset="0"/>
              <a:cs typeface="Arial" charset="0"/>
            </a:endParaRPr>
          </a:p>
          <a:p>
            <a:pPr algn="just" eaLnBrk="1" hangingPunct="1"/>
            <a:r>
              <a:rPr lang="fr-FR" sz="2200" dirty="0" smtClean="0">
                <a:latin typeface="Arial" charset="0"/>
                <a:cs typeface="Arial" charset="0"/>
              </a:rPr>
              <a:t>Décret du 1/10/2010 </a:t>
            </a:r>
            <a:r>
              <a:rPr lang="fr-FR" sz="2200" b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sur l’entretien professionnel dans la fonction publique hospitalière</a:t>
            </a:r>
          </a:p>
          <a:p>
            <a:pPr algn="just" eaLnBrk="1" hangingPunct="1"/>
            <a:endParaRPr lang="fr-FR" sz="2200" b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algn="just" eaLnBrk="1" hangingPunct="1"/>
            <a:r>
              <a:rPr lang="fr-FR" sz="2200" i="1" dirty="0" smtClean="0">
                <a:latin typeface="Arial" charset="0"/>
                <a:cs typeface="Arial" charset="0"/>
              </a:rPr>
              <a:t>Prochain décret relatif au bilan social </a:t>
            </a:r>
            <a:r>
              <a:rPr lang="fr-FR" sz="2200" dirty="0" smtClean="0">
                <a:latin typeface="Arial" charset="0"/>
                <a:cs typeface="Arial" charset="0"/>
              </a:rPr>
              <a:t>–</a:t>
            </a:r>
            <a:r>
              <a:rPr lang="fr-FR" sz="2200" b="1" i="1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 Chapitre COMPETENCES</a:t>
            </a:r>
          </a:p>
          <a:p>
            <a:pPr eaLnBrk="1" hangingPunct="1"/>
            <a:endParaRPr lang="fr-FR" sz="2200" b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eaLnBrk="1" hangingPunct="1"/>
            <a:endParaRPr lang="fr-FR" sz="2200" b="1" i="1" dirty="0" smtClean="0">
              <a:solidFill>
                <a:srgbClr val="7030A0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Les références réglementaires</a:t>
            </a:r>
            <a:endParaRPr lang="fr-FR" dirty="0">
              <a:ea typeface="+mj-ea"/>
            </a:endParaRPr>
          </a:p>
        </p:txBody>
      </p:sp>
      <p:pic>
        <p:nvPicPr>
          <p:cNvPr id="33796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7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8229600" cy="5400600"/>
          </a:xfrm>
        </p:spPr>
        <p:txBody>
          <a:bodyPr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LES FONDAMENTAUX DE LA GPMC</a:t>
            </a:r>
            <a:r>
              <a:rPr lang="fr-FR" sz="4400" dirty="0" smtClean="0">
                <a:ea typeface="+mj-ea"/>
              </a:rPr>
              <a:t/>
            </a:r>
            <a:br>
              <a:rPr lang="fr-FR" sz="4400" dirty="0" smtClean="0">
                <a:ea typeface="+mj-ea"/>
              </a:rPr>
            </a:br>
            <a:r>
              <a:rPr lang="fr-FR" sz="4400" dirty="0" smtClean="0">
                <a:ea typeface="+mj-ea"/>
              </a:rPr>
              <a:t/>
            </a:r>
            <a:br>
              <a:rPr lang="fr-FR" sz="4400" dirty="0" smtClean="0">
                <a:ea typeface="+mj-ea"/>
              </a:rPr>
            </a:br>
            <a:r>
              <a:rPr lang="fr-FR" sz="3200" dirty="0" smtClean="0">
                <a:ea typeface="+mj-ea"/>
              </a:rPr>
              <a:t>Les 3 niveaux de la GPMC</a:t>
            </a:r>
            <a:r>
              <a:rPr lang="fr-FR" sz="3600" dirty="0" smtClean="0">
                <a:ea typeface="+mj-ea"/>
              </a:rPr>
              <a:t/>
            </a:r>
            <a:br>
              <a:rPr lang="fr-FR" sz="3600" dirty="0" smtClean="0">
                <a:ea typeface="+mj-ea"/>
              </a:rPr>
            </a:br>
            <a:r>
              <a:rPr lang="fr-FR" sz="3600" dirty="0" smtClean="0">
                <a:ea typeface="+mj-ea"/>
              </a:rPr>
              <a:t/>
            </a:r>
            <a:br>
              <a:rPr lang="fr-FR" sz="3600" dirty="0" smtClean="0">
                <a:ea typeface="+mj-ea"/>
              </a:rPr>
            </a:br>
            <a:r>
              <a:rPr lang="fr-FR" sz="2400" dirty="0" smtClean="0">
                <a:ea typeface="+mj-ea"/>
              </a:rPr>
              <a:t>Selon l’instruction de la DGOS du 23 juin 2010</a:t>
            </a:r>
            <a:endParaRPr lang="fr-FR" sz="2400" dirty="0">
              <a:ea typeface="+mj-ea"/>
            </a:endParaRPr>
          </a:p>
        </p:txBody>
      </p:sp>
      <p:pic>
        <p:nvPicPr>
          <p:cNvPr id="34819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/>
          </p:nvPr>
        </p:nvSpPr>
        <p:spPr bwMode="auto">
          <a:xfrm>
            <a:off x="457200" y="266700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ffectLst/>
                <a:ea typeface="+mj-ea"/>
              </a:rPr>
              <a:t>Les 3 niveaux </a:t>
            </a:r>
          </a:p>
        </p:txBody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sz="2400" b="1" smtClean="0">
                <a:latin typeface="Arial" charset="0"/>
                <a:cs typeface="Arial" charset="0"/>
              </a:rPr>
              <a:t>Niveau 1</a:t>
            </a:r>
            <a:r>
              <a:rPr lang="fr-FR" sz="2400" smtClean="0">
                <a:latin typeface="Arial" charset="0"/>
                <a:cs typeface="Arial" charset="0"/>
              </a:rPr>
              <a:t>: Connaître les effectifs par métier</a:t>
            </a:r>
          </a:p>
          <a:p>
            <a:pPr eaLnBrk="1" hangingPunct="1"/>
            <a:endParaRPr lang="fr-FR" sz="2400" smtClean="0">
              <a:latin typeface="Arial" charset="0"/>
              <a:cs typeface="Arial" charset="0"/>
            </a:endParaRPr>
          </a:p>
          <a:p>
            <a:pPr eaLnBrk="1" hangingPunct="1"/>
            <a:r>
              <a:rPr lang="fr-FR" sz="2400" b="1" smtClean="0">
                <a:latin typeface="Arial" charset="0"/>
                <a:cs typeface="Arial" charset="0"/>
              </a:rPr>
              <a:t>Niveau 2 </a:t>
            </a:r>
            <a:r>
              <a:rPr lang="fr-FR" sz="2400" smtClean="0">
                <a:latin typeface="Arial" charset="0"/>
                <a:cs typeface="Arial" charset="0"/>
              </a:rPr>
              <a:t>: Intégrer la gestion des métiers et des compétences dans les actes de GRH</a:t>
            </a:r>
          </a:p>
          <a:p>
            <a:pPr eaLnBrk="1" hangingPunct="1"/>
            <a:endParaRPr lang="fr-FR" sz="2400" smtClean="0">
              <a:latin typeface="Arial" charset="0"/>
              <a:cs typeface="Arial" charset="0"/>
            </a:endParaRPr>
          </a:p>
          <a:p>
            <a:pPr eaLnBrk="1" hangingPunct="1"/>
            <a:r>
              <a:rPr lang="fr-FR" sz="2400" b="1" smtClean="0">
                <a:latin typeface="Arial" charset="0"/>
                <a:cs typeface="Arial" charset="0"/>
              </a:rPr>
              <a:t>Niveau 3 </a:t>
            </a:r>
            <a:r>
              <a:rPr lang="fr-FR" sz="2400" smtClean="0">
                <a:latin typeface="Arial" charset="0"/>
                <a:cs typeface="Arial" charset="0"/>
              </a:rPr>
              <a:t>: Anticiper les impacts des évolutions sur les métiers et compétences</a:t>
            </a:r>
          </a:p>
        </p:txBody>
      </p:sp>
      <p:pic>
        <p:nvPicPr>
          <p:cNvPr id="35844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899592" y="1028353"/>
          <a:ext cx="7869560" cy="4453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6867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8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313" y="1773238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Méthodologie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smtClean="0">
                <a:latin typeface="Arial" charset="0"/>
                <a:cs typeface="Arial" charset="0"/>
              </a:rPr>
              <a:t>Rattacher les effectifs de l’établissement au répertoire des métiers de la FPH adapté aux réalités de l’établissement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Prise en compte des données RH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Prise en compte de l’avis des cadres et des intéressés (Entretien Annuel)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Arbitrage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Recensement exhaustif  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1</a:t>
            </a:r>
            <a:endParaRPr lang="fr-FR" sz="3600" dirty="0">
              <a:ea typeface="+mj-ea"/>
            </a:endParaRPr>
          </a:p>
        </p:txBody>
      </p:sp>
      <p:pic>
        <p:nvPicPr>
          <p:cNvPr id="3789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313" y="1773238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Outils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La structure du répertoire national des métiers de la FPH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Des fiches métiers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Un support de recueil des données par agent 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dirty="0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1</a:t>
            </a:r>
            <a:endParaRPr lang="fr-FR" sz="3600" dirty="0">
              <a:ea typeface="+mj-ea"/>
            </a:endParaRPr>
          </a:p>
        </p:txBody>
      </p:sp>
      <p:pic>
        <p:nvPicPr>
          <p:cNvPr id="38916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39" name="ZoneTexte 5"/>
          <p:cNvSpPr txBox="1">
            <a:spLocks noChangeArrowheads="1"/>
          </p:cNvSpPr>
          <p:nvPr/>
        </p:nvSpPr>
        <p:spPr bwMode="auto">
          <a:xfrm>
            <a:off x="827088" y="1557338"/>
            <a:ext cx="7632700" cy="409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2000" b="1" dirty="0"/>
              <a:t>9 familles de métiers:  </a:t>
            </a:r>
          </a:p>
          <a:p>
            <a:endParaRPr lang="fr-FR" sz="2000" b="1" dirty="0"/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Gestion de l’information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Ingénierie et maintenance techniques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Management, gestion et aide à la décision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Qualité, hygiène, sécurité, environnement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Recherche clinique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Services logistiques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Social, éducatif et cultuel, culturel, sports et loisirs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Soins</a:t>
            </a:r>
          </a:p>
          <a:p>
            <a:pPr>
              <a:buFont typeface="Wingdings" pitchFamily="2" charset="2"/>
              <a:buChar char="§"/>
            </a:pPr>
            <a:r>
              <a:rPr lang="fr-FR" sz="2000" b="1" dirty="0"/>
              <a:t> Systèmes d'information</a:t>
            </a:r>
          </a:p>
          <a:p>
            <a:pPr>
              <a:buFont typeface="Wingdings" pitchFamily="2" charset="2"/>
              <a:buChar char="§"/>
            </a:pPr>
            <a:endParaRPr lang="fr-FR" sz="2000" b="1" dirty="0"/>
          </a:p>
          <a:p>
            <a:pPr>
              <a:buFontTx/>
              <a:buChar char="-"/>
            </a:pPr>
            <a:endParaRPr lang="fr-FR" sz="2000" b="1" dirty="0"/>
          </a:p>
        </p:txBody>
      </p:sp>
      <p:pic>
        <p:nvPicPr>
          <p:cNvPr id="39940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1" name="Picture 3"/>
          <p:cNvPicPr>
            <a:picLocks noChangeAspect="1" noChangeArrowheads="1"/>
          </p:cNvPicPr>
          <p:nvPr/>
        </p:nvPicPr>
        <p:blipFill>
          <a:blip r:embed="rId4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ZoneTexte 3"/>
          <p:cNvSpPr txBox="1">
            <a:spLocks noChangeArrowheads="1"/>
          </p:cNvSpPr>
          <p:nvPr/>
        </p:nvSpPr>
        <p:spPr bwMode="auto">
          <a:xfrm>
            <a:off x="467544" y="1484784"/>
            <a:ext cx="8136904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smtClean="0"/>
              <a:t>3 fiches Métier:</a:t>
            </a:r>
          </a:p>
          <a:p>
            <a:pPr algn="ctr"/>
            <a:endParaRPr lang="fr-FR" b="1" dirty="0" smtClean="0"/>
          </a:p>
          <a:p>
            <a:pPr>
              <a:buFontTx/>
              <a:buChar char="-"/>
            </a:pPr>
            <a:r>
              <a:rPr lang="fr-FR" b="1" dirty="0" smtClean="0"/>
              <a:t>Agent de blanchisserie</a:t>
            </a:r>
          </a:p>
          <a:p>
            <a:pPr>
              <a:buFontTx/>
              <a:buChar char="-"/>
            </a:pPr>
            <a:endParaRPr lang="fr-FR" b="1" dirty="0" smtClean="0"/>
          </a:p>
          <a:p>
            <a:pPr>
              <a:buFontTx/>
              <a:buChar char="-"/>
            </a:pPr>
            <a:r>
              <a:rPr lang="fr-FR" b="1" dirty="0" smtClean="0"/>
              <a:t>Encadrant de blanchisserie</a:t>
            </a:r>
          </a:p>
          <a:p>
            <a:pPr>
              <a:buFontTx/>
              <a:buChar char="-"/>
            </a:pPr>
            <a:endParaRPr lang="fr-FR" b="1" dirty="0" smtClean="0"/>
          </a:p>
          <a:p>
            <a:pPr>
              <a:buFontTx/>
              <a:buChar char="-"/>
            </a:pPr>
            <a:r>
              <a:rPr lang="fr-FR" b="1" dirty="0" smtClean="0"/>
              <a:t>Lingère, couturière</a:t>
            </a:r>
          </a:p>
          <a:p>
            <a:pPr>
              <a:buFontTx/>
              <a:buChar char="-"/>
            </a:pPr>
            <a:endParaRPr lang="fr-FR" sz="2800" b="1" dirty="0" smtClean="0"/>
          </a:p>
          <a:p>
            <a:pPr algn="ctr"/>
            <a:r>
              <a:rPr lang="fr-FR" sz="2800" b="1" dirty="0" smtClean="0">
                <a:solidFill>
                  <a:schemeClr val="accent2">
                    <a:lumMod val="75000"/>
                  </a:schemeClr>
                </a:solidFill>
              </a:rPr>
              <a:t>www.metiers-fonctionpubliquehospitaliere.sante.gouv.fr</a:t>
            </a:r>
            <a:r>
              <a:rPr lang="fr-FR" sz="2800" b="1" dirty="0" smtClean="0"/>
              <a:t> </a:t>
            </a:r>
            <a:endParaRPr lang="fr-FR" sz="2800" b="1" dirty="0"/>
          </a:p>
          <a:p>
            <a:r>
              <a:rPr lang="fr-FR" sz="2800" b="1" dirty="0"/>
              <a:t>                 </a:t>
            </a:r>
          </a:p>
          <a:p>
            <a:r>
              <a:rPr lang="fr-FR" sz="2800" b="1" dirty="0"/>
              <a:t>                  </a:t>
            </a: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4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4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313" y="1989138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Produits de sortie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Fichier rattachant chaque employé de l’établissement à un métier 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Ratio d’effectifs par activité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Contrôle d’exhaustivité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1</a:t>
            </a:r>
            <a:endParaRPr lang="fr-FR" sz="3600" dirty="0">
              <a:ea typeface="+mj-ea"/>
            </a:endParaRPr>
          </a:p>
        </p:txBody>
      </p:sp>
      <p:pic>
        <p:nvPicPr>
          <p:cNvPr id="41988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9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115616" y="908720"/>
          <a:ext cx="7560840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4035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8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ganigramme : Connecteur 3"/>
          <p:cNvSpPr>
            <a:spLocks noChangeArrowheads="1"/>
          </p:cNvSpPr>
          <p:nvPr/>
        </p:nvSpPr>
        <p:spPr bwMode="auto">
          <a:xfrm>
            <a:off x="2568575" y="1265238"/>
            <a:ext cx="1439863" cy="1223962"/>
          </a:xfrm>
          <a:prstGeom prst="flowChartConnector">
            <a:avLst/>
          </a:prstGeom>
          <a:gradFill rotWithShape="1">
            <a:gsLst>
              <a:gs pos="0">
                <a:srgbClr val="FFD0D1"/>
              </a:gs>
              <a:gs pos="35001">
                <a:srgbClr val="FFC2C3"/>
              </a:gs>
              <a:gs pos="100000">
                <a:srgbClr val="FF8D8F"/>
              </a:gs>
            </a:gsLst>
            <a:lin ang="5400000"/>
          </a:gradFill>
          <a:ln w="9525">
            <a:solidFill>
              <a:schemeClr val="accent2"/>
            </a:solidFill>
            <a:round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rPr>
              <a:t>Evaluation</a:t>
            </a:r>
          </a:p>
        </p:txBody>
      </p:sp>
      <p:sp>
        <p:nvSpPr>
          <p:cNvPr id="9" name="Organigramme : Connecteur 8"/>
          <p:cNvSpPr>
            <a:spLocks noChangeArrowheads="1"/>
          </p:cNvSpPr>
          <p:nvPr/>
        </p:nvSpPr>
        <p:spPr bwMode="auto">
          <a:xfrm>
            <a:off x="1331913" y="2976563"/>
            <a:ext cx="1968500" cy="1223962"/>
          </a:xfrm>
          <a:prstGeom prst="flowChartConnector">
            <a:avLst/>
          </a:prstGeom>
          <a:solidFill>
            <a:srgbClr val="78D6EA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rPr>
              <a:t>Parcours Professionnel</a:t>
            </a:r>
          </a:p>
        </p:txBody>
      </p:sp>
      <p:sp>
        <p:nvSpPr>
          <p:cNvPr id="10" name="Organigramme : Connecteur 9"/>
          <p:cNvSpPr>
            <a:spLocks noChangeArrowheads="1"/>
          </p:cNvSpPr>
          <p:nvPr/>
        </p:nvSpPr>
        <p:spPr bwMode="auto">
          <a:xfrm>
            <a:off x="2663825" y="4506913"/>
            <a:ext cx="1655763" cy="1295400"/>
          </a:xfrm>
          <a:prstGeom prst="flowChartConnector">
            <a:avLst/>
          </a:prstGeom>
          <a:solidFill>
            <a:srgbClr val="FF33CC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rPr>
              <a:t>Tutorat</a:t>
            </a:r>
          </a:p>
        </p:txBody>
      </p:sp>
      <p:sp>
        <p:nvSpPr>
          <p:cNvPr id="11" name="Organigramme : Connecteur 10"/>
          <p:cNvSpPr>
            <a:spLocks noChangeArrowheads="1"/>
          </p:cNvSpPr>
          <p:nvPr/>
        </p:nvSpPr>
        <p:spPr bwMode="auto">
          <a:xfrm>
            <a:off x="4851400" y="4437063"/>
            <a:ext cx="2016125" cy="1368425"/>
          </a:xfrm>
          <a:prstGeom prst="flowChartConnector">
            <a:avLst/>
          </a:prstGeom>
          <a:solidFill>
            <a:srgbClr val="84F89A"/>
          </a:solidFill>
          <a:ln w="9525">
            <a:solidFill>
              <a:schemeClr val="accent2"/>
            </a:solidFill>
            <a:round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rPr>
              <a:t>Evolution Professionnelle</a:t>
            </a:r>
          </a:p>
        </p:txBody>
      </p:sp>
      <p:sp>
        <p:nvSpPr>
          <p:cNvPr id="12" name="Organigramme : Connecteur 11"/>
          <p:cNvSpPr>
            <a:spLocks noChangeArrowheads="1"/>
          </p:cNvSpPr>
          <p:nvPr/>
        </p:nvSpPr>
        <p:spPr bwMode="auto">
          <a:xfrm>
            <a:off x="5867400" y="2738438"/>
            <a:ext cx="1800225" cy="1368425"/>
          </a:xfrm>
          <a:prstGeom prst="flowChartConnector">
            <a:avLst/>
          </a:prstGeom>
          <a:solidFill>
            <a:srgbClr val="F7C1A4"/>
          </a:solidFill>
          <a:ln w="9525">
            <a:solidFill>
              <a:schemeClr val="accent2"/>
            </a:solidFill>
            <a:round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rPr>
              <a:t>Recrutement</a:t>
            </a:r>
          </a:p>
        </p:txBody>
      </p:sp>
      <p:sp>
        <p:nvSpPr>
          <p:cNvPr id="13" name="Organigramme : Connecteur 12"/>
          <p:cNvSpPr>
            <a:spLocks noChangeArrowheads="1"/>
          </p:cNvSpPr>
          <p:nvPr/>
        </p:nvSpPr>
        <p:spPr bwMode="auto">
          <a:xfrm>
            <a:off x="4859338" y="1193800"/>
            <a:ext cx="1439862" cy="1223963"/>
          </a:xfrm>
          <a:prstGeom prst="flowChartConnector">
            <a:avLst/>
          </a:prstGeom>
          <a:gradFill rotWithShape="1">
            <a:gsLst>
              <a:gs pos="0">
                <a:srgbClr val="E1E2EC"/>
              </a:gs>
              <a:gs pos="35001">
                <a:srgbClr val="D6D7E3"/>
              </a:gs>
              <a:gs pos="100000">
                <a:srgbClr val="A8A9C0"/>
              </a:gs>
            </a:gsLst>
            <a:lin ang="5400000"/>
          </a:gradFill>
          <a:ln w="9525">
            <a:solidFill>
              <a:srgbClr val="474B78"/>
            </a:solidFill>
            <a:round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rPr>
              <a:t>Formation</a:t>
            </a:r>
          </a:p>
        </p:txBody>
      </p:sp>
      <p:sp>
        <p:nvSpPr>
          <p:cNvPr id="14" name="Ellipse 13"/>
          <p:cNvSpPr/>
          <p:nvPr/>
        </p:nvSpPr>
        <p:spPr>
          <a:xfrm>
            <a:off x="3635375" y="2633663"/>
            <a:ext cx="1800225" cy="15128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400">
                <a:solidFill>
                  <a:srgbClr val="FFFFFF"/>
                </a:solidFill>
                <a:latin typeface="Arial" charset="0"/>
                <a:ea typeface="ＭＳ Ｐゴシック" pitchFamily="34" charset="-128"/>
              </a:rPr>
              <a:t>Compétence</a:t>
            </a:r>
          </a:p>
        </p:txBody>
      </p:sp>
      <p:cxnSp>
        <p:nvCxnSpPr>
          <p:cNvPr id="20" name="Connecteur droit 19"/>
          <p:cNvCxnSpPr>
            <a:stCxn id="4" idx="5"/>
          </p:cNvCxnSpPr>
          <p:nvPr/>
        </p:nvCxnSpPr>
        <p:spPr>
          <a:xfrm rot="16200000" flipH="1">
            <a:off x="3669506" y="2437607"/>
            <a:ext cx="466725" cy="211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 flipV="1">
            <a:off x="5003800" y="2309813"/>
            <a:ext cx="168275" cy="396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>
            <a:stCxn id="14" idx="6"/>
          </p:cNvCxnSpPr>
          <p:nvPr/>
        </p:nvCxnSpPr>
        <p:spPr>
          <a:xfrm flipV="1">
            <a:off x="5435600" y="3354388"/>
            <a:ext cx="431800" cy="3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>
            <a:stCxn id="14" idx="5"/>
          </p:cNvCxnSpPr>
          <p:nvPr/>
        </p:nvCxnSpPr>
        <p:spPr>
          <a:xfrm>
            <a:off x="5172075" y="3924300"/>
            <a:ext cx="407988" cy="582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H="1">
            <a:off x="3287713" y="3587750"/>
            <a:ext cx="420687" cy="100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H="1">
            <a:off x="3752850" y="4106863"/>
            <a:ext cx="260350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2400" dirty="0" smtClean="0">
                <a:ea typeface="+mj-ea"/>
              </a:rPr>
              <a:t>La place de la compétence dans les actes de Gestion individuelle et collective des RH</a:t>
            </a:r>
            <a:endParaRPr lang="fr-FR" sz="2400" dirty="0">
              <a:ea typeface="+mj-ea"/>
            </a:endParaRPr>
          </a:p>
        </p:txBody>
      </p:sp>
      <p:pic>
        <p:nvPicPr>
          <p:cNvPr id="4507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6165850"/>
            <a:ext cx="8636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73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667625" y="6092825"/>
            <a:ext cx="1225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9"/>
          <p:cNvGrpSpPr>
            <a:grpSpLocks noGrp="1"/>
          </p:cNvGrpSpPr>
          <p:nvPr/>
        </p:nvGrpSpPr>
        <p:grpSpPr bwMode="auto">
          <a:xfrm>
            <a:off x="468313" y="1484313"/>
            <a:ext cx="5111750" cy="4248150"/>
            <a:chOff x="840" y="816"/>
            <a:chExt cx="3008" cy="2576"/>
          </a:xfrm>
        </p:grpSpPr>
        <p:sp>
          <p:nvSpPr>
            <p:cNvPr id="46103" name="Line 15"/>
            <p:cNvSpPr>
              <a:spLocks noChangeShapeType="1"/>
            </p:cNvSpPr>
            <p:nvPr/>
          </p:nvSpPr>
          <p:spPr bwMode="auto">
            <a:xfrm flipV="1">
              <a:off x="3068" y="2448"/>
              <a:ext cx="780" cy="6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04" name="Line 16"/>
            <p:cNvSpPr>
              <a:spLocks noChangeShapeType="1"/>
            </p:cNvSpPr>
            <p:nvPr/>
          </p:nvSpPr>
          <p:spPr bwMode="auto">
            <a:xfrm>
              <a:off x="3068" y="1248"/>
              <a:ext cx="78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05" name="Line 17"/>
            <p:cNvSpPr>
              <a:spLocks noChangeShapeType="1"/>
            </p:cNvSpPr>
            <p:nvPr/>
          </p:nvSpPr>
          <p:spPr bwMode="auto">
            <a:xfrm flipV="1">
              <a:off x="3068" y="1872"/>
              <a:ext cx="780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06" name="Rectangle 19"/>
            <p:cNvSpPr>
              <a:spLocks noChangeArrowheads="1"/>
            </p:cNvSpPr>
            <p:nvPr/>
          </p:nvSpPr>
          <p:spPr bwMode="auto">
            <a:xfrm>
              <a:off x="840" y="816"/>
              <a:ext cx="2232" cy="25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defTabSz="762000"/>
              <a:endParaRPr lang="fr-FR" sz="1000" b="1"/>
            </a:p>
          </p:txBody>
        </p:sp>
        <p:sp>
          <p:nvSpPr>
            <p:cNvPr id="46107" name="Line 22"/>
            <p:cNvSpPr>
              <a:spLocks noChangeShapeType="1"/>
            </p:cNvSpPr>
            <p:nvPr/>
          </p:nvSpPr>
          <p:spPr bwMode="auto">
            <a:xfrm>
              <a:off x="3068" y="1488"/>
              <a:ext cx="780" cy="7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08" name="Line 23"/>
            <p:cNvSpPr>
              <a:spLocks noChangeShapeType="1"/>
            </p:cNvSpPr>
            <p:nvPr/>
          </p:nvSpPr>
          <p:spPr bwMode="auto">
            <a:xfrm flipV="1">
              <a:off x="3068" y="1584"/>
              <a:ext cx="78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Le concept de compétence</a:t>
            </a:r>
            <a:endParaRPr lang="fr-FR" dirty="0">
              <a:ea typeface="+mj-ea"/>
            </a:endParaRPr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611188" y="1700213"/>
            <a:ext cx="3273425" cy="17748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7325" indent="-187325" defTabSz="762000"/>
            <a:r>
              <a:rPr lang="fr-FR" sz="1200" b="1">
                <a:solidFill>
                  <a:schemeClr val="accent2"/>
                </a:solidFill>
              </a:rPr>
              <a:t>Ressources propres</a:t>
            </a:r>
            <a:endParaRPr lang="fr-FR" sz="1200" b="1"/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Savoirs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Savoir-faire techniques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Savoir-faire managériaux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Maîtrise du langage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Capacités relationnelles 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Capacité de mémorisation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« Sens de l’initiative, créativité, … »</a:t>
            </a:r>
          </a:p>
          <a:p>
            <a:pPr marL="187325" indent="-187325" defTabSz="762000">
              <a:buFont typeface="Symbol" pitchFamily="18" charset="2"/>
              <a:buChar char="·"/>
            </a:pPr>
            <a:r>
              <a:rPr lang="fr-FR" sz="1200" b="1"/>
              <a:t>Culture ....</a:t>
            </a:r>
          </a:p>
        </p:txBody>
      </p:sp>
      <p:sp>
        <p:nvSpPr>
          <p:cNvPr id="12" name="AutoShape 20"/>
          <p:cNvSpPr>
            <a:spLocks noChangeArrowheads="1"/>
          </p:cNvSpPr>
          <p:nvPr/>
        </p:nvSpPr>
        <p:spPr bwMode="auto">
          <a:xfrm>
            <a:off x="1908175" y="3573463"/>
            <a:ext cx="330200" cy="985837"/>
          </a:xfrm>
          <a:prstGeom prst="upDownArrow">
            <a:avLst>
              <a:gd name="adj1" fmla="val 42306"/>
              <a:gd name="adj2" fmla="val 3521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 sz="1800">
              <a:latin typeface="Lucida Sans Unicode" pitchFamily="34" charset="0"/>
            </a:endParaRPr>
          </a:p>
        </p:txBody>
      </p:sp>
      <p:sp useBgFill="1"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539750" y="3789363"/>
            <a:ext cx="3168650" cy="461962"/>
          </a:xfrm>
          <a:prstGeom prst="rect">
            <a:avLst/>
          </a:prstGeom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200" b="1" i="1">
                <a:solidFill>
                  <a:srgbClr val="000000"/>
                </a:solidFill>
              </a:rPr>
              <a:t>Aptitude à mobiliser les ressources externes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539750" y="4581525"/>
            <a:ext cx="3302000" cy="10445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7325" indent="-187325" defTabSz="762000"/>
            <a:r>
              <a:rPr lang="fr-FR" sz="1200" b="1">
                <a:solidFill>
                  <a:schemeClr val="accent2"/>
                </a:solidFill>
              </a:rPr>
              <a:t>Ressources externes</a:t>
            </a:r>
            <a:endParaRPr lang="fr-FR" sz="1200" b="1"/>
          </a:p>
          <a:p>
            <a:pPr marL="187325" indent="-187325" defTabSz="762000">
              <a:buFontTx/>
              <a:buChar char="•"/>
            </a:pPr>
            <a:r>
              <a:rPr lang="fr-FR" sz="1200" b="1"/>
              <a:t>Réseaux de collègues, d’experts</a:t>
            </a:r>
          </a:p>
          <a:p>
            <a:pPr marL="187325" indent="-187325" defTabSz="762000">
              <a:buFontTx/>
              <a:buChar char="•"/>
            </a:pPr>
            <a:r>
              <a:rPr lang="fr-FR" sz="1200" b="1"/>
              <a:t>Documentation papier</a:t>
            </a:r>
          </a:p>
          <a:p>
            <a:pPr marL="187325" indent="-187325" defTabSz="762000">
              <a:buFontTx/>
              <a:buChar char="•"/>
            </a:pPr>
            <a:r>
              <a:rPr lang="fr-FR" sz="1200" b="1"/>
              <a:t>Internet</a:t>
            </a:r>
          </a:p>
          <a:p>
            <a:pPr marL="187325" indent="-187325" defTabSz="762000">
              <a:buFontTx/>
              <a:buChar char="•"/>
            </a:pPr>
            <a:r>
              <a:rPr lang="fr-FR" sz="1200" b="1"/>
              <a:t>Autres sources externes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651500" y="2276475"/>
            <a:ext cx="2305050" cy="2665413"/>
            <a:chOff x="3848" y="1200"/>
            <a:chExt cx="1552" cy="1728"/>
          </a:xfrm>
        </p:grpSpPr>
        <p:sp>
          <p:nvSpPr>
            <p:cNvPr id="46097" name="Rectangle 7"/>
            <p:cNvSpPr>
              <a:spLocks noChangeArrowheads="1"/>
            </p:cNvSpPr>
            <p:nvPr/>
          </p:nvSpPr>
          <p:spPr bwMode="auto">
            <a:xfrm>
              <a:off x="3848" y="1200"/>
              <a:ext cx="9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sz="1200" b="1" i="1"/>
                <a:t>Activité</a:t>
              </a:r>
            </a:p>
            <a:p>
              <a:pPr algn="ctr"/>
              <a:r>
                <a:rPr lang="fr-FR" sz="1200" b="1" i="1"/>
                <a:t>professionnelle</a:t>
              </a:r>
            </a:p>
          </p:txBody>
        </p:sp>
        <p:sp>
          <p:nvSpPr>
            <p:cNvPr id="46098" name="Rectangle 8"/>
            <p:cNvSpPr>
              <a:spLocks noChangeArrowheads="1"/>
            </p:cNvSpPr>
            <p:nvPr/>
          </p:nvSpPr>
          <p:spPr bwMode="auto">
            <a:xfrm>
              <a:off x="3848" y="1680"/>
              <a:ext cx="9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sz="1200" b="1" i="1"/>
                <a:t>Activité</a:t>
              </a:r>
            </a:p>
            <a:p>
              <a:pPr algn="ctr"/>
              <a:r>
                <a:rPr lang="fr-FR" sz="1200" b="1" i="1"/>
                <a:t>professionnelle</a:t>
              </a:r>
            </a:p>
          </p:txBody>
        </p:sp>
        <p:sp>
          <p:nvSpPr>
            <p:cNvPr id="46099" name="Rectangle 9"/>
            <p:cNvSpPr>
              <a:spLocks noChangeArrowheads="1"/>
            </p:cNvSpPr>
            <p:nvPr/>
          </p:nvSpPr>
          <p:spPr bwMode="auto">
            <a:xfrm>
              <a:off x="3848" y="2160"/>
              <a:ext cx="936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sz="1200" b="1" i="1"/>
                <a:t>Activité</a:t>
              </a:r>
            </a:p>
            <a:p>
              <a:pPr algn="ctr"/>
              <a:r>
                <a:rPr lang="fr-FR" sz="1200" b="1" i="1"/>
                <a:t>professionnelle</a:t>
              </a:r>
            </a:p>
          </p:txBody>
        </p:sp>
        <p:cxnSp>
          <p:nvCxnSpPr>
            <p:cNvPr id="46100" name="AutoShape 10"/>
            <p:cNvCxnSpPr>
              <a:cxnSpLocks noChangeShapeType="1"/>
              <a:stCxn id="46097" idx="3"/>
            </p:cNvCxnSpPr>
            <p:nvPr/>
          </p:nvCxnSpPr>
          <p:spPr bwMode="auto">
            <a:xfrm>
              <a:off x="4792" y="1392"/>
              <a:ext cx="608" cy="96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46101" name="AutoShape 11"/>
            <p:cNvCxnSpPr>
              <a:cxnSpLocks noChangeShapeType="1"/>
              <a:stCxn id="46099" idx="3"/>
            </p:cNvCxnSpPr>
            <p:nvPr/>
          </p:nvCxnSpPr>
          <p:spPr bwMode="auto">
            <a:xfrm>
              <a:off x="4792" y="2352"/>
              <a:ext cx="608" cy="576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46102" name="AutoShape 12"/>
            <p:cNvCxnSpPr>
              <a:cxnSpLocks noChangeShapeType="1"/>
              <a:stCxn id="46098" idx="3"/>
            </p:cNvCxnSpPr>
            <p:nvPr/>
          </p:nvCxnSpPr>
          <p:spPr bwMode="auto">
            <a:xfrm>
              <a:off x="4792" y="1872"/>
              <a:ext cx="608" cy="336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7956550" y="2276475"/>
            <a:ext cx="1008063" cy="3186113"/>
            <a:chOff x="5388" y="1336"/>
            <a:chExt cx="635" cy="2007"/>
          </a:xfrm>
        </p:grpSpPr>
        <p:sp>
          <p:nvSpPr>
            <p:cNvPr id="46094" name="Rectangle 3"/>
            <p:cNvSpPr>
              <a:spLocks noChangeArrowheads="1"/>
            </p:cNvSpPr>
            <p:nvPr/>
          </p:nvSpPr>
          <p:spPr bwMode="auto">
            <a:xfrm>
              <a:off x="5388" y="1336"/>
              <a:ext cx="635" cy="544"/>
            </a:xfrm>
            <a:prstGeom prst="rect">
              <a:avLst/>
            </a:prstGeom>
            <a:noFill/>
            <a:ln w="2540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Résultat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attendu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et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destinataire</a:t>
              </a:r>
            </a:p>
          </p:txBody>
        </p:sp>
        <p:sp>
          <p:nvSpPr>
            <p:cNvPr id="46095" name="Rectangle 4"/>
            <p:cNvSpPr>
              <a:spLocks noChangeArrowheads="1"/>
            </p:cNvSpPr>
            <p:nvPr/>
          </p:nvSpPr>
          <p:spPr bwMode="auto">
            <a:xfrm>
              <a:off x="5388" y="2107"/>
              <a:ext cx="635" cy="550"/>
            </a:xfrm>
            <a:prstGeom prst="rect">
              <a:avLst/>
            </a:prstGeom>
            <a:noFill/>
            <a:ln w="2540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Résultat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attendu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et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destinataire</a:t>
              </a:r>
            </a:p>
          </p:txBody>
        </p:sp>
        <p:sp>
          <p:nvSpPr>
            <p:cNvPr id="46096" name="Rectangle 5"/>
            <p:cNvSpPr>
              <a:spLocks noChangeArrowheads="1"/>
            </p:cNvSpPr>
            <p:nvPr/>
          </p:nvSpPr>
          <p:spPr bwMode="auto">
            <a:xfrm>
              <a:off x="5388" y="2833"/>
              <a:ext cx="615" cy="510"/>
            </a:xfrm>
            <a:prstGeom prst="rect">
              <a:avLst/>
            </a:prstGeom>
            <a:noFill/>
            <a:ln w="2540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Résultat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attendu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et</a:t>
              </a:r>
            </a:p>
            <a:p>
              <a:pPr algn="ctr"/>
              <a:r>
                <a:rPr lang="fr-FR" sz="1200" b="1" i="1">
                  <a:solidFill>
                    <a:srgbClr val="006600"/>
                  </a:solidFill>
                </a:rPr>
                <a:t>destinataire</a:t>
              </a:r>
            </a:p>
          </p:txBody>
        </p:sp>
      </p:grp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5435600" y="1557338"/>
            <a:ext cx="3311525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 b="1" i="1">
                <a:solidFill>
                  <a:schemeClr val="tx2"/>
                </a:solidFill>
              </a:rPr>
              <a:t>« Contenu » du poste / de la fonction</a:t>
            </a:r>
          </a:p>
        </p:txBody>
      </p:sp>
      <p:sp>
        <p:nvSpPr>
          <p:cNvPr id="46091" name="Rectangle 26"/>
          <p:cNvSpPr>
            <a:spLocks noChangeArrowheads="1"/>
          </p:cNvSpPr>
          <p:nvPr/>
        </p:nvSpPr>
        <p:spPr bwMode="auto">
          <a:xfrm>
            <a:off x="5003800" y="5300663"/>
            <a:ext cx="2368550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b="1" i="1"/>
              <a:t>d’après G. Le Boterf Consultant</a:t>
            </a:r>
          </a:p>
        </p:txBody>
      </p:sp>
      <p:pic>
        <p:nvPicPr>
          <p:cNvPr id="4609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93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 animBg="1"/>
      <p:bldP spid="13" grpId="0" animBg="1" autoUpdateAnimBg="0"/>
      <p:bldP spid="14" grpId="0" animBg="1" autoUpdateAnimBg="0"/>
      <p:bldP spid="2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ZoneTexte 4"/>
          <p:cNvSpPr txBox="1">
            <a:spLocks noChangeArrowheads="1"/>
          </p:cNvSpPr>
          <p:nvPr/>
        </p:nvSpPr>
        <p:spPr bwMode="auto">
          <a:xfrm>
            <a:off x="755650" y="765175"/>
            <a:ext cx="23764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fr-FR" sz="1800">
              <a:latin typeface="Lucida Sans Unicode" pitchFamily="34" charset="0"/>
            </a:endParaRPr>
          </a:p>
        </p:txBody>
      </p:sp>
      <p:sp>
        <p:nvSpPr>
          <p:cNvPr id="47107" name="Rectangle 10"/>
          <p:cNvSpPr>
            <a:spLocks noChangeArrowheads="1"/>
          </p:cNvSpPr>
          <p:nvPr/>
        </p:nvSpPr>
        <p:spPr bwMode="auto">
          <a:xfrm>
            <a:off x="2700338" y="549275"/>
            <a:ext cx="3551237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285750" indent="-285750"/>
            <a:r>
              <a:rPr lang="fr-FR" sz="1400" b="1">
                <a:solidFill>
                  <a:srgbClr val="900000"/>
                </a:solidFill>
              </a:rPr>
              <a:t>Disposer de la compétence </a:t>
            </a:r>
          </a:p>
          <a:p>
            <a:pPr marL="285750" indent="-285750">
              <a:buFontTx/>
              <a:buChar char="•"/>
            </a:pPr>
            <a:endParaRPr lang="fr-FR" sz="1400" b="1">
              <a:solidFill>
                <a:srgbClr val="900000"/>
              </a:solidFill>
            </a:endParaRPr>
          </a:p>
          <a:p>
            <a:pPr marL="285750" indent="-285750">
              <a:buFontTx/>
              <a:buChar char="•"/>
            </a:pPr>
            <a:r>
              <a:rPr lang="fr-FR" sz="1400" b="1">
                <a:solidFill>
                  <a:srgbClr val="900000"/>
                </a:solidFill>
              </a:rPr>
              <a:t>Ressources internes </a:t>
            </a:r>
          </a:p>
          <a:p>
            <a:pPr marL="285750" indent="-285750">
              <a:buFontTx/>
              <a:buChar char="•"/>
            </a:pPr>
            <a:r>
              <a:rPr lang="fr-FR" sz="1400" b="1">
                <a:solidFill>
                  <a:srgbClr val="900000"/>
                </a:solidFill>
              </a:rPr>
              <a:t>Ressources externes</a:t>
            </a:r>
          </a:p>
          <a:p>
            <a:pPr marL="285750" indent="-285750">
              <a:buFontTx/>
              <a:buChar char="•"/>
            </a:pPr>
            <a:r>
              <a:rPr lang="fr-FR" sz="1400" b="1">
                <a:solidFill>
                  <a:srgbClr val="900000"/>
                </a:solidFill>
              </a:rPr>
              <a:t>Bonne combinatoire pour atteindre le résultat souhaité</a:t>
            </a:r>
          </a:p>
          <a:p>
            <a:pPr marL="285750" indent="-285750">
              <a:buFontTx/>
              <a:buChar char="•"/>
            </a:pPr>
            <a:endParaRPr lang="fr-FR" sz="1400" b="1">
              <a:solidFill>
                <a:srgbClr val="900000"/>
              </a:solidFill>
            </a:endParaRPr>
          </a:p>
        </p:txBody>
      </p:sp>
      <p:sp>
        <p:nvSpPr>
          <p:cNvPr id="47108" name="Rectangle 12"/>
          <p:cNvSpPr>
            <a:spLocks noChangeArrowheads="1"/>
          </p:cNvSpPr>
          <p:nvPr/>
        </p:nvSpPr>
        <p:spPr bwMode="auto">
          <a:xfrm>
            <a:off x="2411413" y="476250"/>
            <a:ext cx="3871912" cy="1439863"/>
          </a:xfrm>
          <a:prstGeom prst="rect">
            <a:avLst/>
          </a:prstGeom>
          <a:noFill/>
          <a:ln w="12700">
            <a:solidFill>
              <a:srgbClr val="9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800">
              <a:latin typeface="Lucida Sans Unicode" pitchFamily="34" charset="0"/>
            </a:endParaRPr>
          </a:p>
        </p:txBody>
      </p:sp>
      <p:sp>
        <p:nvSpPr>
          <p:cNvPr id="47109" name="AutoShape 11"/>
          <p:cNvSpPr>
            <a:spLocks noChangeArrowheads="1"/>
          </p:cNvSpPr>
          <p:nvPr/>
        </p:nvSpPr>
        <p:spPr bwMode="auto">
          <a:xfrm>
            <a:off x="4140200" y="1989138"/>
            <a:ext cx="107950" cy="371475"/>
          </a:xfrm>
          <a:prstGeom prst="downArrow">
            <a:avLst>
              <a:gd name="adj1" fmla="val 50000"/>
              <a:gd name="adj2" fmla="val 172075"/>
            </a:avLst>
          </a:prstGeom>
          <a:solidFill>
            <a:srgbClr val="900000"/>
          </a:solidFill>
          <a:ln w="12700">
            <a:solidFill>
              <a:srgbClr val="9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 sz="1800">
              <a:latin typeface="Lucida Sans Unicode" pitchFamily="34" charset="0"/>
            </a:endParaRPr>
          </a:p>
        </p:txBody>
      </p:sp>
      <p:sp>
        <p:nvSpPr>
          <p:cNvPr id="47110" name="Rectangle 17"/>
          <p:cNvSpPr>
            <a:spLocks noChangeArrowheads="1"/>
          </p:cNvSpPr>
          <p:nvPr/>
        </p:nvSpPr>
        <p:spPr bwMode="auto">
          <a:xfrm>
            <a:off x="3779838" y="2349500"/>
            <a:ext cx="9334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1400" b="1">
                <a:solidFill>
                  <a:srgbClr val="900000"/>
                </a:solidFill>
              </a:rPr>
              <a:t>Savoir le faire</a:t>
            </a:r>
          </a:p>
        </p:txBody>
      </p:sp>
      <p:sp>
        <p:nvSpPr>
          <p:cNvPr id="47111" name="AutoShape 7"/>
          <p:cNvSpPr>
            <a:spLocks noChangeArrowheads="1"/>
          </p:cNvSpPr>
          <p:nvPr/>
        </p:nvSpPr>
        <p:spPr bwMode="auto">
          <a:xfrm>
            <a:off x="3419475" y="2852738"/>
            <a:ext cx="1673225" cy="1666875"/>
          </a:xfrm>
          <a:prstGeom prst="triangle">
            <a:avLst>
              <a:gd name="adj" fmla="val 4999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/>
            <a:endParaRPr lang="fr-FR">
              <a:latin typeface="Lucida Sans Unicode" pitchFamily="34" charset="0"/>
            </a:endParaRP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3563938" y="3716338"/>
            <a:ext cx="14033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1400" b="1"/>
              <a:t>Agir avec compétence</a:t>
            </a:r>
          </a:p>
        </p:txBody>
      </p:sp>
      <p:sp>
        <p:nvSpPr>
          <p:cNvPr id="47113" name="Rectangle 5"/>
          <p:cNvSpPr>
            <a:spLocks noChangeArrowheads="1"/>
          </p:cNvSpPr>
          <p:nvPr/>
        </p:nvSpPr>
        <p:spPr bwMode="auto">
          <a:xfrm>
            <a:off x="250825" y="4365625"/>
            <a:ext cx="2714625" cy="133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fr-FR" sz="1800" b="1">
                <a:solidFill>
                  <a:srgbClr val="006600"/>
                </a:solidFill>
              </a:rPr>
              <a:t> </a:t>
            </a:r>
            <a:r>
              <a:rPr lang="fr-FR" sz="1400" b="1">
                <a:solidFill>
                  <a:srgbClr val="006600"/>
                </a:solidFill>
              </a:rPr>
              <a:t>Valorisation personnelle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006600"/>
                </a:solidFill>
              </a:rPr>
              <a:t> Reconnaissance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006600"/>
                </a:solidFill>
              </a:rPr>
              <a:t> Sens de son action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006600"/>
                </a:solidFill>
              </a:rPr>
              <a:t> Valorisation de la tâche</a:t>
            </a:r>
          </a:p>
        </p:txBody>
      </p:sp>
      <p:sp>
        <p:nvSpPr>
          <p:cNvPr id="47114" name="Rectangle 6"/>
          <p:cNvSpPr>
            <a:spLocks noChangeArrowheads="1"/>
          </p:cNvSpPr>
          <p:nvPr/>
        </p:nvSpPr>
        <p:spPr bwMode="auto">
          <a:xfrm>
            <a:off x="323850" y="4437063"/>
            <a:ext cx="2641600" cy="1327150"/>
          </a:xfrm>
          <a:prstGeom prst="rect">
            <a:avLst/>
          </a:prstGeom>
          <a:noFill/>
          <a:ln w="12700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 sz="1800">
              <a:latin typeface="Lucida Sans Unicode" pitchFamily="34" charset="0"/>
            </a:endParaRPr>
          </a:p>
        </p:txBody>
      </p:sp>
      <p:sp>
        <p:nvSpPr>
          <p:cNvPr id="47115" name="AutoShape 4"/>
          <p:cNvSpPr>
            <a:spLocks noChangeArrowheads="1"/>
          </p:cNvSpPr>
          <p:nvPr/>
        </p:nvSpPr>
        <p:spPr bwMode="auto">
          <a:xfrm>
            <a:off x="2987675" y="5157788"/>
            <a:ext cx="288925" cy="142875"/>
          </a:xfrm>
          <a:prstGeom prst="rightArrow">
            <a:avLst>
              <a:gd name="adj1" fmla="val 50000"/>
              <a:gd name="adj2" fmla="val 123365"/>
            </a:avLst>
          </a:prstGeom>
          <a:solidFill>
            <a:srgbClr val="006600"/>
          </a:solidFill>
          <a:ln w="12700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 sz="1800">
              <a:latin typeface="Lucida Sans Unicode" pitchFamily="34" charset="0"/>
            </a:endParaRPr>
          </a:p>
        </p:txBody>
      </p:sp>
      <p:sp>
        <p:nvSpPr>
          <p:cNvPr id="47116" name="Rectangle 3"/>
          <p:cNvSpPr>
            <a:spLocks noChangeArrowheads="1"/>
          </p:cNvSpPr>
          <p:nvPr/>
        </p:nvSpPr>
        <p:spPr bwMode="auto">
          <a:xfrm>
            <a:off x="3203575" y="4941888"/>
            <a:ext cx="9239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1400" b="1">
                <a:solidFill>
                  <a:srgbClr val="006600"/>
                </a:solidFill>
              </a:rPr>
              <a:t>Vouloir le faire</a:t>
            </a:r>
          </a:p>
        </p:txBody>
      </p:sp>
      <p:sp>
        <p:nvSpPr>
          <p:cNvPr id="47117" name="Rectangle 14"/>
          <p:cNvSpPr>
            <a:spLocks noChangeArrowheads="1"/>
          </p:cNvSpPr>
          <p:nvPr/>
        </p:nvSpPr>
        <p:spPr bwMode="auto">
          <a:xfrm>
            <a:off x="5508625" y="4076700"/>
            <a:ext cx="3222625" cy="20320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90500" indent="-190500"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2B4A76"/>
                </a:solidFill>
              </a:rPr>
              <a:t>Missions clairement établies et reconnues</a:t>
            </a:r>
          </a:p>
          <a:p>
            <a:pPr marL="190500" indent="-190500"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2B4A76"/>
                </a:solidFill>
              </a:rPr>
              <a:t> Moyens correspondant aux objectifs</a:t>
            </a:r>
          </a:p>
          <a:p>
            <a:pPr marL="190500" indent="-190500"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2B4A76"/>
                </a:solidFill>
              </a:rPr>
              <a:t>Style de management</a:t>
            </a:r>
          </a:p>
          <a:p>
            <a:pPr marL="190500" indent="-190500"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2B4A76"/>
                </a:solidFill>
              </a:rPr>
              <a:t>Conditions, volume de travail</a:t>
            </a:r>
          </a:p>
          <a:p>
            <a:pPr marL="190500" indent="-190500">
              <a:spcBef>
                <a:spcPct val="50000"/>
              </a:spcBef>
              <a:buFontTx/>
              <a:buChar char="•"/>
            </a:pPr>
            <a:r>
              <a:rPr lang="fr-FR" sz="1400" b="1">
                <a:solidFill>
                  <a:srgbClr val="2B4A76"/>
                </a:solidFill>
              </a:rPr>
              <a:t>Réseau de ressources externes</a:t>
            </a:r>
          </a:p>
        </p:txBody>
      </p:sp>
      <p:sp>
        <p:nvSpPr>
          <p:cNvPr id="20" name="AutoShape 15"/>
          <p:cNvSpPr>
            <a:spLocks noChangeArrowheads="1"/>
          </p:cNvSpPr>
          <p:nvPr/>
        </p:nvSpPr>
        <p:spPr bwMode="auto">
          <a:xfrm>
            <a:off x="5148263" y="5300663"/>
            <a:ext cx="338137" cy="119062"/>
          </a:xfrm>
          <a:prstGeom prst="leftArrow">
            <a:avLst>
              <a:gd name="adj1" fmla="val 50000"/>
              <a:gd name="adj2" fmla="val 141986"/>
            </a:avLst>
          </a:prstGeom>
          <a:solidFill>
            <a:srgbClr val="002060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 dirty="0">
              <a:ln>
                <a:solidFill>
                  <a:srgbClr val="002060"/>
                </a:solidFill>
              </a:ln>
              <a:solidFill>
                <a:schemeClr val="accent4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4356100" y="5084763"/>
            <a:ext cx="933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fr-FR" sz="1400" b="1" dirty="0">
                <a:solidFill>
                  <a:schemeClr val="accent4">
                    <a:lumMod val="75000"/>
                  </a:schemeClr>
                </a:solidFill>
                <a:ea typeface="+mn-ea"/>
              </a:rPr>
              <a:t>Pouvoir le faire</a:t>
            </a:r>
          </a:p>
        </p:txBody>
      </p:sp>
      <p:pic>
        <p:nvPicPr>
          <p:cNvPr id="47120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688" y="6308725"/>
            <a:ext cx="863600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21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80288" y="6237288"/>
            <a:ext cx="122396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22" name="ZoneTexte 18"/>
          <p:cNvSpPr txBox="1">
            <a:spLocks noChangeArrowheads="1"/>
          </p:cNvSpPr>
          <p:nvPr/>
        </p:nvSpPr>
        <p:spPr bwMode="auto">
          <a:xfrm>
            <a:off x="5940425" y="2349500"/>
            <a:ext cx="2582863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800"/>
              <a:t>La compétence </a:t>
            </a:r>
          </a:p>
          <a:p>
            <a:r>
              <a:rPr lang="fr-FR" sz="1800"/>
              <a:t>S’apprécie en situation </a:t>
            </a:r>
          </a:p>
          <a:p>
            <a:r>
              <a:rPr lang="fr-FR" sz="1800"/>
              <a:t>de travail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 txBox="1">
            <a:spLocks noGrp="1"/>
          </p:cNvSpPr>
          <p:nvPr>
            <p:ph idx="1"/>
          </p:nvPr>
        </p:nvSpPr>
        <p:spPr>
          <a:xfrm>
            <a:off x="971550" y="2708275"/>
            <a:ext cx="7345363" cy="954088"/>
          </a:xfrm>
        </p:spPr>
        <p:txBody>
          <a:bodyPr>
            <a:sp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8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 compétence  s’apprécie   en   faisant  référence à des situations de travail </a:t>
            </a:r>
          </a:p>
        </p:txBody>
      </p:sp>
      <p:pic>
        <p:nvPicPr>
          <p:cNvPr id="48131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2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 txBox="1">
            <a:spLocks noGrp="1"/>
          </p:cNvSpPr>
          <p:nvPr>
            <p:ph idx="1"/>
          </p:nvPr>
        </p:nvSpPr>
        <p:spPr>
          <a:xfrm>
            <a:off x="971550" y="1700808"/>
            <a:ext cx="7345363" cy="2657138"/>
          </a:xfrm>
        </p:spPr>
        <p:txBody>
          <a:bodyPr wrap="square">
            <a:spAutoFit/>
          </a:bodyPr>
          <a:lstStyle/>
          <a:p>
            <a:pPr algn="ctr" eaLnBrk="1" hangingPunct="1">
              <a:buFont typeface="Wingdings 3" pitchFamily="18" charset="2"/>
              <a:buNone/>
              <a:defRPr/>
            </a:pPr>
            <a:r>
              <a:rPr lang="fr-FR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Cf. Arrêté du 29.09.2010 relatif au compte-rendu annuel de l’entretien professionnel</a:t>
            </a:r>
          </a:p>
          <a:p>
            <a:pPr algn="ctr" eaLnBrk="1" hangingPunct="1">
              <a:buFont typeface="Wingdings 3" pitchFamily="18" charset="2"/>
              <a:buNone/>
              <a:defRPr/>
            </a:pPr>
            <a:endParaRPr lang="fr-FR" sz="2800" b="1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1" hangingPunct="1">
              <a:buFont typeface="Wingdings 3" pitchFamily="18" charset="2"/>
              <a:buNone/>
              <a:defRPr/>
            </a:pPr>
            <a:r>
              <a:rPr lang="fr-FR" sz="2000" b="1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Expérimentation de l’évaluation ayant pour but d’apprécier la valeur professionnelle de l’agent</a:t>
            </a:r>
            <a:r>
              <a:rPr lang="fr-FR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fr-FR" sz="2800" b="1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8131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2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u contenu 1"/>
          <p:cNvSpPr>
            <a:spLocks noGrp="1"/>
          </p:cNvSpPr>
          <p:nvPr>
            <p:ph idx="1"/>
          </p:nvPr>
        </p:nvSpPr>
        <p:spPr>
          <a:xfrm>
            <a:off x="468313" y="1196975"/>
            <a:ext cx="8229600" cy="4824413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endParaRPr lang="fr-FR" sz="2400" smtClean="0"/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Le savoir-faire requis en 4 niveaux 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        à développer</a:t>
            </a:r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        pratique courante</a:t>
            </a:r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        maîtrise</a:t>
            </a:r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        expert</a:t>
            </a:r>
          </a:p>
          <a:p>
            <a:pPr eaLnBrk="1" hangingPunct="1">
              <a:buFont typeface="Wingdings 3" pitchFamily="18" charset="2"/>
              <a:buNone/>
            </a:pPr>
            <a:endParaRPr lang="fr-FR" sz="2400" smtClean="0"/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Les manières de servir en 4 niveaux </a:t>
            </a:r>
          </a:p>
          <a:p>
            <a:pPr eaLnBrk="1" hangingPunct="1">
              <a:buFont typeface="Wingdings 3" pitchFamily="18" charset="2"/>
              <a:buNone/>
            </a:pPr>
            <a:r>
              <a:rPr lang="fr-FR" sz="2400" smtClean="0"/>
              <a:t>        d’insuffisant à excellent</a:t>
            </a:r>
          </a:p>
          <a:p>
            <a:pPr eaLnBrk="1" hangingPunct="1">
              <a:buFont typeface="Wingdings 3" pitchFamily="18" charset="2"/>
              <a:buNone/>
            </a:pPr>
            <a:endParaRPr lang="fr-FR" smtClean="0">
              <a:solidFill>
                <a:srgbClr val="FF0000"/>
              </a:solidFill>
            </a:endParaRPr>
          </a:p>
        </p:txBody>
      </p:sp>
      <p:sp>
        <p:nvSpPr>
          <p:cNvPr id="51203" name="ZoneTexte 2"/>
          <p:cNvSpPr txBox="1">
            <a:spLocks noChangeArrowheads="1"/>
          </p:cNvSpPr>
          <p:nvPr/>
        </p:nvSpPr>
        <p:spPr bwMode="auto">
          <a:xfrm>
            <a:off x="395288" y="476250"/>
            <a:ext cx="8480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b="1"/>
              <a:t>Le  décret sur </a:t>
            </a:r>
            <a:r>
              <a:rPr lang="fr-FR" b="1">
                <a:latin typeface="Lucida Sans Unicode" pitchFamily="34" charset="0"/>
              </a:rPr>
              <a:t>l’Entretien</a:t>
            </a:r>
            <a:r>
              <a:rPr lang="fr-FR" b="1"/>
              <a:t> Professionnel prévoit d’évaluer</a:t>
            </a:r>
          </a:p>
        </p:txBody>
      </p:sp>
      <p:pic>
        <p:nvPicPr>
          <p:cNvPr id="51204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288" y="1700213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Méthodologie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Identifier les compétences par métier/poste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Utiliser, dans le cadre de l’entretien annuel, un support d’évaluation avec une partie compétence propre à chaque métier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Construire les tableaux de bord synthétisant les niveaux des compétences des équipes par métier 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2 </a:t>
            </a:r>
            <a:endParaRPr lang="fr-FR" sz="3600" dirty="0">
              <a:ea typeface="+mj-ea"/>
            </a:endParaRPr>
          </a:p>
        </p:txBody>
      </p:sp>
      <p:pic>
        <p:nvPicPr>
          <p:cNvPr id="52228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9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u contenu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338772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fr-FR" sz="2000" b="1" dirty="0" smtClean="0"/>
              <a:t>Identifier les compétences par métier</a:t>
            </a:r>
            <a:r>
              <a:rPr lang="fr-FR" dirty="0" smtClean="0"/>
              <a:t> - </a:t>
            </a:r>
            <a:r>
              <a:rPr lang="fr-FR" sz="2000" b="1" dirty="0" smtClean="0"/>
              <a:t>3 approches:</a:t>
            </a:r>
          </a:p>
          <a:p>
            <a:pPr eaLnBrk="1" hangingPunct="1">
              <a:buFont typeface="Wingdings 3" pitchFamily="18" charset="2"/>
              <a:buNone/>
            </a:pPr>
            <a:endParaRPr lang="fr-FR" sz="2000" dirty="0" smtClean="0"/>
          </a:p>
          <a:p>
            <a:pPr eaLnBrk="1" hangingPunct="1">
              <a:buFontTx/>
              <a:buChar char="-"/>
            </a:pPr>
            <a:r>
              <a:rPr lang="fr-FR" sz="2000" dirty="0" smtClean="0"/>
              <a:t>Reprendre les fiches du Répertoire National des Métiers: savoirs, savoir-faire et manière de servir</a:t>
            </a:r>
          </a:p>
          <a:p>
            <a:pPr eaLnBrk="1" hangingPunct="1">
              <a:buFontTx/>
              <a:buChar char="-"/>
            </a:pPr>
            <a:endParaRPr lang="fr-FR" sz="2000" dirty="0" smtClean="0"/>
          </a:p>
          <a:p>
            <a:pPr eaLnBrk="1" hangingPunct="1">
              <a:buFontTx/>
              <a:buChar char="-"/>
            </a:pPr>
            <a:r>
              <a:rPr lang="fr-FR" sz="2000" dirty="0" smtClean="0"/>
              <a:t>Pour certains métiers et en cohérence avec la fiche métier: adapter un référentiel compétences spécifiques (situation de travail)</a:t>
            </a:r>
          </a:p>
          <a:p>
            <a:pPr eaLnBrk="1" hangingPunct="1">
              <a:buFontTx/>
              <a:buChar char="-"/>
            </a:pPr>
            <a:endParaRPr lang="fr-FR" sz="2000" dirty="0" smtClean="0"/>
          </a:p>
          <a:p>
            <a:pPr eaLnBrk="1" hangingPunct="1">
              <a:buFontTx/>
              <a:buChar char="-"/>
            </a:pPr>
            <a:r>
              <a:rPr lang="fr-FR" sz="2000" dirty="0" smtClean="0"/>
              <a:t>Créer un référentiel métiers/compétences spécifique de A à Z.</a:t>
            </a:r>
          </a:p>
          <a:p>
            <a:pPr eaLnBrk="1" hangingPunct="1">
              <a:buFontTx/>
              <a:buChar char="-"/>
            </a:pPr>
            <a:endParaRPr lang="fr-FR" dirty="0" smtClean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2 </a:t>
            </a:r>
            <a:endParaRPr lang="fr-FR" sz="3600" dirty="0">
              <a:ea typeface="+mj-ea"/>
            </a:endParaRPr>
          </a:p>
        </p:txBody>
      </p:sp>
      <p:pic>
        <p:nvPicPr>
          <p:cNvPr id="5325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3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Outils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just"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Le répertoire national des métiers de la fonction publique hospitalière</a:t>
            </a:r>
          </a:p>
          <a:p>
            <a:pPr algn="just" eaLnBrk="1" hangingPunct="1"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algn="just"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Les fiches de postes de l’établissement</a:t>
            </a:r>
          </a:p>
          <a:p>
            <a:pPr algn="just" eaLnBrk="1" hangingPunct="1"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algn="just"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Référentiel de compétences par métier / poste</a:t>
            </a:r>
          </a:p>
          <a:p>
            <a:pPr algn="just" eaLnBrk="1" hangingPunct="1"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algn="just"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Support d’entretien annuel + grille spécifique d’évaluation des compétences attendues par métier ou poste</a:t>
            </a:r>
          </a:p>
          <a:p>
            <a:pPr eaLnBrk="1" hangingPunct="1"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endParaRPr lang="fr-FR" dirty="0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2</a:t>
            </a:r>
            <a:endParaRPr lang="fr-FR" sz="3600" dirty="0">
              <a:ea typeface="+mj-ea"/>
            </a:endParaRPr>
          </a:p>
        </p:txBody>
      </p:sp>
      <p:pic>
        <p:nvPicPr>
          <p:cNvPr id="54276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7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778098"/>
          </a:xfrm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2800" dirty="0" smtClean="0">
                <a:ea typeface="+mj-ea"/>
              </a:rPr>
              <a:t>Niveau 2 – Ex d’une grille d’évaluation</a:t>
            </a:r>
            <a:endParaRPr lang="fr-FR" sz="2800" dirty="0">
              <a:ea typeface="+mj-ea"/>
            </a:endParaRP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/>
          <a:srcRect l="20508" t="14648" r="19727" b="12109"/>
          <a:stretch>
            <a:fillRect/>
          </a:stretch>
        </p:blipFill>
        <p:spPr bwMode="auto">
          <a:xfrm>
            <a:off x="755650" y="1052513"/>
            <a:ext cx="7650163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3" name="Picture 3"/>
          <p:cNvPicPr>
            <a:picLocks noChangeAspect="1" noChangeArrowheads="1"/>
          </p:cNvPicPr>
          <p:nvPr/>
        </p:nvPicPr>
        <p:blipFill>
          <a:blip r:embed="rId4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850106"/>
          </a:xfrm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2800" dirty="0" smtClean="0">
                <a:ea typeface="+mj-ea"/>
              </a:rPr>
              <a:t>Niveau 2 - Outils</a:t>
            </a:r>
            <a:endParaRPr lang="fr-FR" sz="2800" dirty="0">
              <a:ea typeface="+mj-ea"/>
            </a:endParaRPr>
          </a:p>
        </p:txBody>
      </p:sp>
      <p:pic>
        <p:nvPicPr>
          <p:cNvPr id="59395" name="Picture 7"/>
          <p:cNvPicPr>
            <a:picLocks noChangeAspect="1" noChangeArrowheads="1"/>
          </p:cNvPicPr>
          <p:nvPr/>
        </p:nvPicPr>
        <p:blipFill>
          <a:blip r:embed="rId2" cstate="print"/>
          <a:srcRect l="19922" t="27344" r="19141" b="5273"/>
          <a:stretch>
            <a:fillRect/>
          </a:stretch>
        </p:blipFill>
        <p:spPr bwMode="auto">
          <a:xfrm>
            <a:off x="900113" y="1052513"/>
            <a:ext cx="7429500" cy="49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6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3"/>
          <p:cNvPicPr>
            <a:picLocks noChangeAspect="1" noChangeArrowheads="1"/>
          </p:cNvPicPr>
          <p:nvPr/>
        </p:nvPicPr>
        <p:blipFill>
          <a:blip r:embed="rId4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313" y="1557338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Produits de sortie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Un référentiel de compétences par métier intégré au support annuel d’évaluation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Une échelle des niveaux de maîtrise permettant d’évaluer la compétence d’un salarié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Le tableau de bord des niveaux de compétences de l’équipe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2  </a:t>
            </a:r>
            <a:endParaRPr lang="fr-FR" sz="3600" dirty="0">
              <a:ea typeface="+mj-ea"/>
            </a:endParaRPr>
          </a:p>
        </p:txBody>
      </p:sp>
      <p:pic>
        <p:nvPicPr>
          <p:cNvPr id="61444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5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683568" y="548680"/>
          <a:ext cx="8003232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2467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8" name="Picture 3"/>
          <p:cNvPicPr>
            <a:picLocks noChangeAspect="1" noChangeArrowheads="1"/>
          </p:cNvPicPr>
          <p:nvPr/>
        </p:nvPicPr>
        <p:blipFill>
          <a:blip r:embed="rId8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313" y="1412875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Méthodologie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Identifier les flux entrants et les flux sortants d’effectifs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Projeter les effectifs à partir des données existantes et des flux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smtClean="0">
                <a:latin typeface="Arial" charset="0"/>
                <a:cs typeface="Arial" charset="0"/>
              </a:rPr>
              <a:t>Identifiés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Mesurer l’impact des données de l’environnement et du projet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smtClean="0">
                <a:latin typeface="Arial" charset="0"/>
                <a:cs typeface="Arial" charset="0"/>
              </a:rPr>
              <a:t>d’établissement sur les métiers et les compétences</a:t>
            </a:r>
          </a:p>
          <a:p>
            <a:pPr eaLnBrk="1" hangingPunct="1">
              <a:defRPr/>
            </a:pPr>
            <a:r>
              <a:rPr lang="fr-FR" sz="2000" smtClean="0">
                <a:latin typeface="Arial" charset="0"/>
                <a:cs typeface="Arial" charset="0"/>
              </a:rPr>
              <a:t>Concevoir et mettre en œuvre des plans de développement des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smtClean="0">
                <a:latin typeface="Arial" charset="0"/>
                <a:cs typeface="Arial" charset="0"/>
              </a:rPr>
              <a:t>compétences 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3</a:t>
            </a:r>
            <a:endParaRPr lang="fr-FR" sz="3600" dirty="0">
              <a:ea typeface="+mj-ea"/>
            </a:endParaRPr>
          </a:p>
        </p:txBody>
      </p:sp>
      <p:pic>
        <p:nvPicPr>
          <p:cNvPr id="63492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3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/>
          <p:cNvSpPr>
            <a:spLocks noGrp="1"/>
          </p:cNvSpPr>
          <p:nvPr>
            <p:ph sz="half" idx="4294967295"/>
          </p:nvPr>
        </p:nvSpPr>
        <p:spPr>
          <a:xfrm>
            <a:off x="4648200" y="1481138"/>
            <a:ext cx="4038600" cy="4525962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endParaRPr lang="fr-FR" sz="2300" smtClean="0"/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Evolution économique</a:t>
            </a:r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Organisation et management</a:t>
            </a:r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SI et gestion des flux</a:t>
            </a:r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Politiques de qualité et gestion des risques</a:t>
            </a:r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Formation professionnelle initiale et continue</a:t>
            </a:r>
          </a:p>
        </p:txBody>
      </p:sp>
      <p:sp>
        <p:nvSpPr>
          <p:cNvPr id="6" name="Rectangle 4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2400" dirty="0" smtClean="0">
                <a:effectLst/>
                <a:latin typeface="Arial" pitchFamily="34" charset="0"/>
                <a:ea typeface="+mj-ea"/>
                <a:cs typeface="Arial" pitchFamily="34" charset="0"/>
              </a:rPr>
              <a:t>Les 10 facteurs d’évolution  impactant les métiers</a:t>
            </a:r>
          </a:p>
        </p:txBody>
      </p:sp>
      <p:sp>
        <p:nvSpPr>
          <p:cNvPr id="64516" name="Rectangle 5"/>
          <p:cNvSpPr txBox="1">
            <a:spLocks/>
          </p:cNvSpPr>
          <p:nvPr/>
        </p:nvSpPr>
        <p:spPr bwMode="auto">
          <a:xfrm>
            <a:off x="457200" y="1481138"/>
            <a:ext cx="4038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sz="2300">
              <a:latin typeface="Lucida Sans Unicode" pitchFamily="34" charset="0"/>
            </a:endParaRP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sz="2000"/>
              <a:t>Démographie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sz="2000"/>
              <a:t>Demande des usagers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sz="2000"/>
              <a:t>Organisation de l’offre de soins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sz="2000"/>
              <a:t>Pratiques de soins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sz="2000"/>
              <a:t>Technologies médicales, innovation, recherche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sz="2000"/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sz="2000"/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fr-FR" sz="2000" i="1"/>
              <a:t>Source: Ministère de la Santé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sz="2300">
              <a:latin typeface="Lucida Sans Unicode" pitchFamily="34" charset="0"/>
            </a:endParaRPr>
          </a:p>
        </p:txBody>
      </p:sp>
      <p:pic>
        <p:nvPicPr>
          <p:cNvPr id="64517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1138"/>
            <a:ext cx="793115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Outils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Simulation de l’évolution de la pyramide des âges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Tableau de prévision des départs en retraite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Tableau des flux (entrants et sortants) et de projection des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effectifs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Le projet d’établissement, les projets de pôle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3</a:t>
            </a:r>
            <a:endParaRPr lang="fr-FR" sz="3600" dirty="0">
              <a:ea typeface="+mj-ea"/>
            </a:endParaRPr>
          </a:p>
        </p:txBody>
      </p:sp>
      <p:pic>
        <p:nvPicPr>
          <p:cNvPr id="66564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5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288" y="1268413"/>
            <a:ext cx="8229600" cy="4525962"/>
          </a:xfrm>
        </p:spPr>
        <p:txBody>
          <a:bodyPr>
            <a:normAutofit/>
          </a:bodyPr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fr-FR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Produits de sortie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Les tableaux et graphiques des projections d’effectifs</a:t>
            </a:r>
          </a:p>
          <a:p>
            <a:pPr eaLnBrk="1" hangingPunct="1"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Liste des métiers de l’établissement qui vont changer : métiers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en déclin, métiers émergents, métiers en évolution (indication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de l’échéance)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Pour les métiers stratégiques, identification des mesures RH à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fr-FR" sz="2000" dirty="0" smtClean="0">
                <a:latin typeface="Arial" charset="0"/>
                <a:cs typeface="Arial" charset="0"/>
              </a:rPr>
              <a:t>mettre en œuvre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fr-FR" sz="2000" dirty="0" smtClean="0">
              <a:latin typeface="Arial" charset="0"/>
              <a:cs typeface="Arial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a typeface="+mj-ea"/>
              </a:rPr>
              <a:t>Niveau 3</a:t>
            </a:r>
            <a:endParaRPr lang="fr-FR" sz="3600" dirty="0">
              <a:ea typeface="+mj-ea"/>
            </a:endParaRPr>
          </a:p>
        </p:txBody>
      </p:sp>
      <p:pic>
        <p:nvPicPr>
          <p:cNvPr id="67588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9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Le positionnement des acteurs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/>
          </p:cNvSpPr>
          <p:nvPr>
            <p:ph idx="1"/>
          </p:nvPr>
        </p:nvSpPr>
        <p:spPr>
          <a:xfrm>
            <a:off x="611188" y="1481138"/>
            <a:ext cx="8075612" cy="3819525"/>
          </a:xfrm>
        </p:spPr>
        <p:txBody>
          <a:bodyPr/>
          <a:lstStyle/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Direction Générale</a:t>
            </a:r>
          </a:p>
          <a:p>
            <a:pPr eaLnBrk="1" hangingPunct="1">
              <a:buFont typeface="Wingdings 3" pitchFamily="18" charset="2"/>
              <a:buNone/>
            </a:pPr>
            <a:endParaRPr lang="fr-FR" smtClean="0"/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DRH</a:t>
            </a:r>
          </a:p>
          <a:p>
            <a:pPr eaLnBrk="1" hangingPunct="1">
              <a:buFont typeface="Wingdings 3" pitchFamily="18" charset="2"/>
              <a:buNone/>
            </a:pPr>
            <a:endParaRPr lang="fr-FR" smtClean="0"/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Encadrement </a:t>
            </a:r>
          </a:p>
          <a:p>
            <a:pPr eaLnBrk="1" hangingPunct="1"/>
            <a:endParaRPr lang="fr-FR" sz="2000" smtClean="0">
              <a:latin typeface="Arial" charset="0"/>
              <a:cs typeface="Arial" charset="0"/>
            </a:endParaRPr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Médecins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Partenaires sociaux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z="2000" smtClean="0">
                <a:latin typeface="Arial" charset="0"/>
                <a:cs typeface="Arial" charset="0"/>
              </a:rPr>
              <a:t>Personnels</a:t>
            </a:r>
          </a:p>
          <a:p>
            <a:pPr eaLnBrk="1" hangingPunct="1"/>
            <a:endParaRPr lang="fr-FR" smtClean="0"/>
          </a:p>
          <a:p>
            <a:pPr eaLnBrk="1" hangingPunct="1"/>
            <a:endParaRPr lang="fr-FR" smtClean="0"/>
          </a:p>
        </p:txBody>
      </p:sp>
      <p:sp>
        <p:nvSpPr>
          <p:cNvPr id="65538" name="Rectangle 2"/>
          <p:cNvSpPr>
            <a:spLocks noGrp="1"/>
          </p:cNvSpPr>
          <p:nvPr>
            <p:ph type="title"/>
          </p:nvPr>
        </p:nvSpPr>
        <p:spPr bwMode="auto"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ffectLst/>
                <a:ea typeface="+mj-ea"/>
              </a:rPr>
              <a:t>Les différents acteurs internes</a:t>
            </a:r>
          </a:p>
        </p:txBody>
      </p:sp>
      <p:pic>
        <p:nvPicPr>
          <p:cNvPr id="69636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 bwMode="auto">
          <a:xfrm>
            <a:off x="467544" y="0"/>
            <a:ext cx="8229600" cy="1143000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700" dirty="0" smtClean="0">
                <a:effectLst/>
                <a:ea typeface="+mj-ea"/>
              </a:rPr>
              <a:t>Les enjeux pour chacun des acteurs internes</a:t>
            </a:r>
          </a:p>
        </p:txBody>
      </p:sp>
      <p:graphicFrame>
        <p:nvGraphicFramePr>
          <p:cNvPr id="58418" name="Group 50"/>
          <p:cNvGraphicFramePr>
            <a:graphicFrameLocks noGrp="1"/>
          </p:cNvGraphicFramePr>
          <p:nvPr/>
        </p:nvGraphicFramePr>
        <p:xfrm>
          <a:off x="900113" y="1196975"/>
          <a:ext cx="7704137" cy="4519613"/>
        </p:xfrm>
        <a:graphic>
          <a:graphicData uri="http://schemas.openxmlformats.org/drawingml/2006/table">
            <a:tbl>
              <a:tblPr/>
              <a:tblGrid>
                <a:gridCol w="2311400"/>
                <a:gridCol w="5392737"/>
              </a:tblGrid>
              <a:tr h="1027113"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Direction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Se donner les moyens  de réaliser les CPOM  ou  projets d’établissement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Optimiser  les investissements et les ressources humaines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Développer le professionnalisme et donc la qualité du service au patient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3900"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DRH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Observer les évolutions internes et externes qui se dessinent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Associer toutes les parties prenantes à la réflexion sur objectifs/moyens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Projeter, anticiper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Adapter les besoins en personnel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Construire un plan de formation permettant de combler les écarts de compétences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Moderniser la gestion des ressources humaines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8600"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Médecins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Anticiper l’impact de l’évolution des activités et de l’organisation médicale sur les métiers/compétences médicales et paramédicales.</a:t>
                      </a: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0673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74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 bwMode="auto">
          <a:xfrm>
            <a:off x="467544" y="0"/>
            <a:ext cx="8229600" cy="1143000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700" dirty="0" smtClean="0">
                <a:effectLst/>
                <a:ea typeface="+mj-ea"/>
              </a:rPr>
              <a:t>Les enjeux pour chacun des acteurs internes</a:t>
            </a:r>
          </a:p>
        </p:txBody>
      </p:sp>
      <p:graphicFrame>
        <p:nvGraphicFramePr>
          <p:cNvPr id="72722" name="Group 18"/>
          <p:cNvGraphicFramePr>
            <a:graphicFrameLocks noGrp="1"/>
          </p:cNvGraphicFramePr>
          <p:nvPr/>
        </p:nvGraphicFramePr>
        <p:xfrm>
          <a:off x="611188" y="1268413"/>
          <a:ext cx="7869237" cy="4464051"/>
        </p:xfrm>
        <a:graphic>
          <a:graphicData uri="http://schemas.openxmlformats.org/drawingml/2006/table">
            <a:tbl>
              <a:tblPr/>
              <a:tblGrid>
                <a:gridCol w="2351087"/>
                <a:gridCol w="5518150"/>
              </a:tblGrid>
              <a:tr h="1223963"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Encadrement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Avoir les moyens de gérer les compétences collectives et individuelles au plus près des équipes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Disposer d’une certaine flexibilité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Anticiper les besoins des pôles en matière RH au regard des projets médicaux et de soins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Dialoguer en temps réel avec DRH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Etre formé sur GPMC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3963"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Partenaires sociaux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Relancer le dialogue social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Participer à la définition des besoins et des moyens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Etre formé sur GPMC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5288"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Personnels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Etre accompagné et reconnu dans son travail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Mieux comprendre les évolutions collectives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Enrichir les tâches, développer son autonomie professionnelle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Se sentir écouté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Bâtir et sécuriser son parcours, améliorer ses compétences</a:t>
                      </a:r>
                    </a:p>
                    <a:p>
                      <a:pPr marL="109538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1697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98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 idx="4294967295"/>
          </p:nvPr>
        </p:nvSpPr>
        <p:spPr bwMode="auto"/>
        <p:txBody>
          <a:bodyPr rtlCol="0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ffectLst/>
                <a:ea typeface="+mj-ea"/>
              </a:rPr>
              <a:t>3 principaux facteurs clés de réussite</a:t>
            </a:r>
          </a:p>
        </p:txBody>
      </p:sp>
      <p:sp>
        <p:nvSpPr>
          <p:cNvPr id="75779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1700213"/>
            <a:ext cx="8229600" cy="4525962"/>
          </a:xfrm>
        </p:spPr>
        <p:txBody>
          <a:bodyPr/>
          <a:lstStyle/>
          <a:p>
            <a:pPr algn="just" eaLnBrk="1" hangingPunct="1"/>
            <a:r>
              <a:rPr lang="fr-FR" sz="2000" dirty="0" smtClean="0">
                <a:latin typeface="Arial" charset="0"/>
                <a:cs typeface="Arial" charset="0"/>
              </a:rPr>
              <a:t>Le pilotage en mode projet, méthode de travail collaboratif</a:t>
            </a:r>
          </a:p>
          <a:p>
            <a:pPr algn="just" eaLnBrk="1" hangingPunct="1">
              <a:buFont typeface="Wingdings 3" pitchFamily="18" charset="2"/>
              <a:buNone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algn="just" eaLnBrk="1" hangingPunct="1"/>
            <a:r>
              <a:rPr lang="fr-FR" sz="2000" dirty="0" smtClean="0">
                <a:latin typeface="Arial" charset="0"/>
                <a:cs typeface="Arial" charset="0"/>
              </a:rPr>
              <a:t>L’ancrage de la GPMC dans une politique RH globale, dans le management et l’organisation</a:t>
            </a:r>
          </a:p>
          <a:p>
            <a:pPr algn="just" eaLnBrk="1" hangingPunct="1">
              <a:buFont typeface="Wingdings 3" pitchFamily="18" charset="2"/>
              <a:buNone/>
            </a:pPr>
            <a:endParaRPr lang="fr-FR" sz="2000" dirty="0" smtClean="0">
              <a:latin typeface="Arial" charset="0"/>
              <a:cs typeface="Arial" charset="0"/>
            </a:endParaRPr>
          </a:p>
          <a:p>
            <a:pPr algn="just" eaLnBrk="1" hangingPunct="1"/>
            <a:r>
              <a:rPr lang="fr-FR" sz="2000" dirty="0" smtClean="0">
                <a:latin typeface="Arial" charset="0"/>
                <a:cs typeface="Arial" charset="0"/>
              </a:rPr>
              <a:t>L’implication de tous les acteurs: visibilité et communication sur les objectifs et les moyens</a:t>
            </a:r>
          </a:p>
          <a:p>
            <a:pPr eaLnBrk="1" hangingPunct="1">
              <a:buFont typeface="Wingdings 3" pitchFamily="18" charset="2"/>
              <a:buNone/>
            </a:pPr>
            <a:endParaRPr lang="fr-FR" dirty="0" smtClean="0"/>
          </a:p>
        </p:txBody>
      </p:sp>
      <p:pic>
        <p:nvPicPr>
          <p:cNvPr id="75780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1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 bwMode="auto"/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700" dirty="0" smtClean="0">
                <a:effectLst/>
                <a:ea typeface="+mj-ea"/>
              </a:rPr>
              <a:t>Le fonctionnement en mode projet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1403350" y="1773238"/>
            <a:ext cx="2663825" cy="1295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400" b="1">
                <a:solidFill>
                  <a:srgbClr val="FFFFFF"/>
                </a:solidFill>
                <a:latin typeface="Arial" charset="0"/>
                <a:ea typeface="ＭＳ Ｐゴシック" pitchFamily="34" charset="-128"/>
              </a:rPr>
              <a:t>Commanditaire (maîtrise d’ouvrage)</a:t>
            </a:r>
          </a:p>
        </p:txBody>
      </p:sp>
      <p:sp>
        <p:nvSpPr>
          <p:cNvPr id="5" name="Ellipse 4"/>
          <p:cNvSpPr/>
          <p:nvPr/>
        </p:nvSpPr>
        <p:spPr>
          <a:xfrm>
            <a:off x="3203575" y="4724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800" dirty="0"/>
              <a:t>A</a:t>
            </a:r>
          </a:p>
        </p:txBody>
      </p:sp>
      <p:sp>
        <p:nvSpPr>
          <p:cNvPr id="6" name="Ellipse 5"/>
          <p:cNvSpPr/>
          <p:nvPr/>
        </p:nvSpPr>
        <p:spPr>
          <a:xfrm>
            <a:off x="5003800" y="4724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800" dirty="0"/>
              <a:t>B</a:t>
            </a:r>
          </a:p>
        </p:txBody>
      </p:sp>
      <p:sp>
        <p:nvSpPr>
          <p:cNvPr id="7" name="Ellipse 6"/>
          <p:cNvSpPr/>
          <p:nvPr/>
        </p:nvSpPr>
        <p:spPr>
          <a:xfrm>
            <a:off x="323850" y="3500438"/>
            <a:ext cx="2592388" cy="144145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400" b="1">
                <a:solidFill>
                  <a:srgbClr val="FFFFFF"/>
                </a:solidFill>
                <a:latin typeface="Arial" charset="0"/>
                <a:ea typeface="ＭＳ Ｐゴシック" pitchFamily="34" charset="-128"/>
              </a:rPr>
              <a:t>Chef / Groupe projet</a:t>
            </a:r>
          </a:p>
          <a:p>
            <a:pPr algn="ctr">
              <a:defRPr/>
            </a:pPr>
            <a:r>
              <a:rPr lang="fr-FR" sz="1400" b="1">
                <a:solidFill>
                  <a:srgbClr val="FFFFFF"/>
                </a:solidFill>
                <a:latin typeface="Arial" charset="0"/>
                <a:ea typeface="ＭＳ Ｐゴシック" pitchFamily="34" charset="-128"/>
              </a:rPr>
              <a:t>(maîtrise d’oeuvre)</a:t>
            </a:r>
          </a:p>
        </p:txBody>
      </p:sp>
      <p:sp>
        <p:nvSpPr>
          <p:cNvPr id="8" name="Ellipse 7"/>
          <p:cNvSpPr/>
          <p:nvPr/>
        </p:nvSpPr>
        <p:spPr>
          <a:xfrm>
            <a:off x="6732588" y="4724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800" dirty="0"/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0425" y="1773238"/>
            <a:ext cx="2376488" cy="17065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800" b="1">
                <a:solidFill>
                  <a:srgbClr val="FFFFFF"/>
                </a:solidFill>
                <a:ea typeface="ＭＳ Ｐゴシック" pitchFamily="34" charset="-128"/>
              </a:rPr>
              <a:t>Information, concertation et négociation avec les différents</a:t>
            </a:r>
          </a:p>
          <a:p>
            <a:pPr algn="ctr">
              <a:defRPr/>
            </a:pPr>
            <a:r>
              <a:rPr lang="fr-FR" sz="1800" b="1">
                <a:solidFill>
                  <a:srgbClr val="FFFFFF"/>
                </a:solidFill>
                <a:ea typeface="ＭＳ Ｐゴシック" pitchFamily="34" charset="-128"/>
              </a:rPr>
              <a:t>acteurs</a:t>
            </a:r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2771775" y="4724400"/>
            <a:ext cx="360363" cy="2174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3059113" y="4292600"/>
            <a:ext cx="1873250" cy="57626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rot="10800000">
            <a:off x="2987675" y="3933825"/>
            <a:ext cx="3744913" cy="863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rot="5400000">
            <a:off x="1458119" y="3086894"/>
            <a:ext cx="431800" cy="25241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4211638" y="2349500"/>
            <a:ext cx="1584325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814" name="ZoneTexte 32"/>
          <p:cNvSpPr txBox="1">
            <a:spLocks noChangeArrowheads="1"/>
          </p:cNvSpPr>
          <p:nvPr/>
        </p:nvSpPr>
        <p:spPr bwMode="auto">
          <a:xfrm>
            <a:off x="3851275" y="5732463"/>
            <a:ext cx="3278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800" b="1">
                <a:latin typeface="Lucida Sans Unicode" pitchFamily="34" charset="0"/>
              </a:rPr>
              <a:t>Groupes Professionnels</a:t>
            </a:r>
          </a:p>
        </p:txBody>
      </p:sp>
      <p:pic>
        <p:nvPicPr>
          <p:cNvPr id="76815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6308725"/>
            <a:ext cx="719137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16" name="Picture 3"/>
          <p:cNvPicPr>
            <a:picLocks noChangeAspect="1" noChangeArrowheads="1"/>
          </p:cNvPicPr>
          <p:nvPr/>
        </p:nvPicPr>
        <p:blipFill>
          <a:blip r:embed="rId3" cstate="print"/>
          <a:srcRect l="30435" t="24606" r="5534" b="29527"/>
          <a:stretch>
            <a:fillRect/>
          </a:stretch>
        </p:blipFill>
        <p:spPr bwMode="auto">
          <a:xfrm>
            <a:off x="7524750" y="6223000"/>
            <a:ext cx="10795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817" name="ZoneTexte 32"/>
          <p:cNvSpPr txBox="1">
            <a:spLocks noChangeArrowheads="1"/>
          </p:cNvSpPr>
          <p:nvPr/>
        </p:nvSpPr>
        <p:spPr bwMode="auto">
          <a:xfrm>
            <a:off x="1563688" y="1474788"/>
            <a:ext cx="2647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800">
                <a:latin typeface="Lucida Sans Unicode" pitchFamily="34" charset="0"/>
              </a:rPr>
              <a:t>Comité de pilotage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 smtClean="0">
                <a:ea typeface="+mj-ea"/>
              </a:rPr>
              <a:t>Les dispositifs d’appui et d’accompagnement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 bwMode="auto">
          <a:xfrm>
            <a:off x="457200" y="260648"/>
            <a:ext cx="8229600" cy="648072"/>
          </a:xfrm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ffectLst/>
                <a:ea typeface="+mj-ea"/>
              </a:rPr>
              <a:t>Démarche initiée dans la FPH</a:t>
            </a:r>
          </a:p>
        </p:txBody>
      </p:sp>
      <p:sp>
        <p:nvSpPr>
          <p:cNvPr id="80899" name="Rectangle 3"/>
          <p:cNvSpPr txBox="1">
            <a:spLocks/>
          </p:cNvSpPr>
          <p:nvPr/>
        </p:nvSpPr>
        <p:spPr bwMode="auto">
          <a:xfrm>
            <a:off x="395288" y="1125538"/>
            <a:ext cx="82296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 smtClean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 smtClean="0"/>
              <a:t>Observatoire national des emplois et des métiers de la FPH</a:t>
            </a:r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 smtClean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 smtClean="0"/>
              <a:t>Outils: RNM, études prospectives métiers, …</a:t>
            </a:r>
            <a:endParaRPr lang="fr-FR" sz="1800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 smtClean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 smtClean="0"/>
              <a:t>Moyens: fonds FMESPP 2007,  puis 2010</a:t>
            </a:r>
          </a:p>
        </p:txBody>
      </p:sp>
      <p:pic>
        <p:nvPicPr>
          <p:cNvPr id="80900" name="Picture 3"/>
          <p:cNvPicPr>
            <a:picLocks noChangeAspect="1" noChangeArrowheads="1"/>
          </p:cNvPicPr>
          <p:nvPr/>
        </p:nvPicPr>
        <p:blipFill>
          <a:blip r:embed="rId2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1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Formation/accompagnement</a:t>
            </a:r>
          </a:p>
          <a:p>
            <a:endParaRPr lang="fr-FR" dirty="0" smtClean="0"/>
          </a:p>
          <a:p>
            <a:r>
              <a:rPr lang="fr-FR" dirty="0" smtClean="0"/>
              <a:t>Conseil</a:t>
            </a:r>
          </a:p>
          <a:p>
            <a:endParaRPr lang="fr-FR" dirty="0" smtClean="0"/>
          </a:p>
          <a:p>
            <a:r>
              <a:rPr lang="fr-FR" dirty="0" smtClean="0"/>
              <a:t>Outils GPMC</a:t>
            </a:r>
          </a:p>
          <a:p>
            <a:endParaRPr lang="fr-FR" dirty="0" smtClean="0"/>
          </a:p>
          <a:p>
            <a:r>
              <a:rPr lang="fr-FR" dirty="0" smtClean="0"/>
              <a:t>Selon les régions, partenariat ANFH-ARS</a:t>
            </a: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Appuis et accompagnements ANFH</a:t>
            </a:r>
            <a:endParaRPr lang="fr-FR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 bwMode="auto">
          <a:xfrm>
            <a:off x="457200" y="260648"/>
            <a:ext cx="8229600" cy="648072"/>
          </a:xfrm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effectLst/>
                <a:ea typeface="+mj-ea"/>
              </a:rPr>
              <a:t>En conclusion, la GPMC c’est</a:t>
            </a:r>
          </a:p>
        </p:txBody>
      </p:sp>
      <p:sp>
        <p:nvSpPr>
          <p:cNvPr id="80899" name="Rectangle 3"/>
          <p:cNvSpPr txBox="1">
            <a:spLocks/>
          </p:cNvSpPr>
          <p:nvPr/>
        </p:nvSpPr>
        <p:spPr bwMode="auto">
          <a:xfrm>
            <a:off x="395288" y="1125538"/>
            <a:ext cx="82296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/>
              <a:t>Un mode de gestion dynamique et </a:t>
            </a:r>
            <a:r>
              <a:rPr lang="fr-FR" dirty="0" smtClean="0"/>
              <a:t>préventive partagée</a:t>
            </a:r>
            <a:endParaRPr lang="fr-FR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/>
              <a:t>Une démarche prospective et stratégique</a:t>
            </a:r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/>
              <a:t>Un dispositif collectif et individuel</a:t>
            </a:r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/>
              <a:t>Un concept Métier/compétences</a:t>
            </a:r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/>
              <a:t>Un levier pour la mise en œuvre du projet d’établissement</a:t>
            </a:r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dirty="0"/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fr-FR" dirty="0"/>
              <a:t>Un état d’esprit</a:t>
            </a:r>
          </a:p>
          <a:p>
            <a:pPr marL="365125" indent="-255588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endParaRPr lang="fr-FR" sz="1800" dirty="0"/>
          </a:p>
        </p:txBody>
      </p:sp>
      <p:pic>
        <p:nvPicPr>
          <p:cNvPr id="80900" name="Picture 3"/>
          <p:cNvPicPr>
            <a:picLocks noChangeAspect="1" noChangeArrowheads="1"/>
          </p:cNvPicPr>
          <p:nvPr/>
        </p:nvPicPr>
        <p:blipFill>
          <a:blip r:embed="rId2" cstate="print"/>
          <a:srcRect l="30435" t="24606" r="5534" b="29527"/>
          <a:stretch>
            <a:fillRect/>
          </a:stretch>
        </p:blipFill>
        <p:spPr bwMode="auto">
          <a:xfrm>
            <a:off x="7308850" y="6092825"/>
            <a:ext cx="12239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1" name="Picture 2" descr="http://www.ipsilan-networks.fr/image/ANF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6165850"/>
            <a:ext cx="8651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otonde">
  <a:themeElements>
    <a:clrScheme name="Rotond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Rotond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Rotond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otond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Rotond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Rotond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Rotond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2179</TotalTime>
  <Words>1682</Words>
  <Application>Microsoft Office PowerPoint</Application>
  <PresentationFormat>Affichage à l'écran (4:3)</PresentationFormat>
  <Paragraphs>383</Paragraphs>
  <Slides>44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5" baseType="lpstr">
      <vt:lpstr>Rotonde</vt:lpstr>
      <vt:lpstr>Diapositive 1</vt:lpstr>
      <vt:lpstr>Structure de l’intervention Martine VANPEENE, CAPITAN</vt:lpstr>
      <vt:lpstr>Diapositive 3</vt:lpstr>
      <vt:lpstr>La GPMC au cœur des évolutions hospitalières</vt:lpstr>
      <vt:lpstr>La GPMC au cœur des évolutions hospitalières</vt:lpstr>
      <vt:lpstr> La démarche GPMC vise 2 objectifs principaux: </vt:lpstr>
      <vt:lpstr>Les références réglementaires</vt:lpstr>
      <vt:lpstr>Les références réglementaires</vt:lpstr>
      <vt:lpstr>LES FONDAMENTAUX DE LA GPMC  Les 3 niveaux de la GPMC  Selon l’instruction de la DGOS du 23 juin 2010</vt:lpstr>
      <vt:lpstr>Les 3 niveaux </vt:lpstr>
      <vt:lpstr>Diapositive 11</vt:lpstr>
      <vt:lpstr>Niveau 1</vt:lpstr>
      <vt:lpstr>Niveau 1</vt:lpstr>
      <vt:lpstr>Diapositive 14</vt:lpstr>
      <vt:lpstr>Diapositive 15</vt:lpstr>
      <vt:lpstr>Niveau 1</vt:lpstr>
      <vt:lpstr>Diapositive 17</vt:lpstr>
      <vt:lpstr>La place de la compétence dans les actes de Gestion individuelle et collective des RH</vt:lpstr>
      <vt:lpstr>Le concept de compétence</vt:lpstr>
      <vt:lpstr>Diapositive 20</vt:lpstr>
      <vt:lpstr>Diapositive 21</vt:lpstr>
      <vt:lpstr>Diapositive 22</vt:lpstr>
      <vt:lpstr>Diapositive 23</vt:lpstr>
      <vt:lpstr>Niveau 2 </vt:lpstr>
      <vt:lpstr>Niveau 2 </vt:lpstr>
      <vt:lpstr>Niveau 2</vt:lpstr>
      <vt:lpstr>Niveau 2 – Ex d’une grille d’évaluation</vt:lpstr>
      <vt:lpstr>Niveau 2 - Outils</vt:lpstr>
      <vt:lpstr>Niveau 2  </vt:lpstr>
      <vt:lpstr>Diapositive 30</vt:lpstr>
      <vt:lpstr>Niveau 3</vt:lpstr>
      <vt:lpstr>Les 10 facteurs d’évolution  impactant les métiers</vt:lpstr>
      <vt:lpstr>Niveau 3</vt:lpstr>
      <vt:lpstr>Niveau 3</vt:lpstr>
      <vt:lpstr>Le positionnement des acteurs</vt:lpstr>
      <vt:lpstr>Les différents acteurs internes</vt:lpstr>
      <vt:lpstr>Les enjeux pour chacun des acteurs internes</vt:lpstr>
      <vt:lpstr>Les enjeux pour chacun des acteurs internes</vt:lpstr>
      <vt:lpstr>3 principaux facteurs clés de réussite</vt:lpstr>
      <vt:lpstr>Le fonctionnement en mode projet</vt:lpstr>
      <vt:lpstr>Les dispositifs d’appui et d’accompagnement</vt:lpstr>
      <vt:lpstr>Démarche initiée dans la FPH</vt:lpstr>
      <vt:lpstr>Appuis et accompagnements ANFH</vt:lpstr>
      <vt:lpstr>En conclusion, la GPMC c’est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ANFH</dc:title>
  <dc:creator>Utilisateur Windows</dc:creator>
  <cp:lastModifiedBy>Utilisateur Windows</cp:lastModifiedBy>
  <cp:revision>195</cp:revision>
  <dcterms:created xsi:type="dcterms:W3CDTF">2010-10-11T20:27:39Z</dcterms:created>
  <dcterms:modified xsi:type="dcterms:W3CDTF">2011-09-30T05:01:39Z</dcterms:modified>
</cp:coreProperties>
</file>