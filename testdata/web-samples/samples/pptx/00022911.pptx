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>
  <p:sldMasterIdLst>
    <p:sldMasterId id="2147483651" r:id="rId1"/>
    <p:sldMasterId id="2147483657" r:id="rId2"/>
    <p:sldMasterId id="2147483653" r:id="rId3"/>
    <p:sldMasterId id="2147483654" r:id="rId4"/>
    <p:sldMasterId id="2147483655" r:id="rId5"/>
    <p:sldMasterId id="2147483656" r:id="rId6"/>
  </p:sldMasterIdLst>
  <p:notesMasterIdLst>
    <p:notesMasterId r:id="rId45"/>
  </p:notesMasterIdLst>
  <p:handoutMasterIdLst>
    <p:handoutMasterId r:id="rId46"/>
  </p:handoutMasterIdLst>
  <p:sldIdLst>
    <p:sldId id="314" r:id="rId7"/>
    <p:sldId id="725" r:id="rId8"/>
    <p:sldId id="726" r:id="rId9"/>
    <p:sldId id="727" r:id="rId10"/>
    <p:sldId id="702" r:id="rId11"/>
    <p:sldId id="706" r:id="rId12"/>
    <p:sldId id="729" r:id="rId13"/>
    <p:sldId id="707" r:id="rId14"/>
    <p:sldId id="717" r:id="rId15"/>
    <p:sldId id="734" r:id="rId16"/>
    <p:sldId id="718" r:id="rId17"/>
    <p:sldId id="728" r:id="rId18"/>
    <p:sldId id="699" r:id="rId19"/>
    <p:sldId id="705" r:id="rId20"/>
    <p:sldId id="708" r:id="rId21"/>
    <p:sldId id="719" r:id="rId22"/>
    <p:sldId id="732" r:id="rId23"/>
    <p:sldId id="733" r:id="rId24"/>
    <p:sldId id="724" r:id="rId25"/>
    <p:sldId id="700" r:id="rId26"/>
    <p:sldId id="701" r:id="rId27"/>
    <p:sldId id="721" r:id="rId28"/>
    <p:sldId id="722" r:id="rId29"/>
    <p:sldId id="709" r:id="rId30"/>
    <p:sldId id="710" r:id="rId31"/>
    <p:sldId id="713" r:id="rId32"/>
    <p:sldId id="712" r:id="rId33"/>
    <p:sldId id="723" r:id="rId34"/>
    <p:sldId id="711" r:id="rId35"/>
    <p:sldId id="714" r:id="rId36"/>
    <p:sldId id="716" r:id="rId37"/>
    <p:sldId id="736" r:id="rId38"/>
    <p:sldId id="737" r:id="rId39"/>
    <p:sldId id="634" r:id="rId40"/>
    <p:sldId id="730" r:id="rId41"/>
    <p:sldId id="720" r:id="rId42"/>
    <p:sldId id="704" r:id="rId43"/>
    <p:sldId id="735" r:id="rId44"/>
  </p:sldIdLst>
  <p:sldSz cx="9144000" cy="6858000" type="screen4x3"/>
  <p:notesSz cx="7010400" cy="9296400"/>
  <p:embeddedFontLst>
    <p:embeddedFont>
      <p:font typeface="Verdana" pitchFamily="34" charset="0"/>
      <p:regular r:id="rId47"/>
      <p:bold r:id="rId48"/>
      <p:italic r:id="rId49"/>
      <p:boldItalic r:id="rId50"/>
    </p:embeddedFont>
    <p:embeddedFont>
      <p:font typeface="Tahoma" pitchFamily="34" charset="0"/>
      <p:regular r:id="rId51"/>
      <p:bold r:id="rId52"/>
    </p:embeddedFont>
    <p:embeddedFont>
      <p:font typeface="CMMI8" pitchFamily="34" charset="0"/>
      <p:regular r:id="rId53"/>
    </p:embeddedFont>
    <p:embeddedFont>
      <p:font typeface="LCMSS8" pitchFamily="34" charset="0"/>
      <p:regular r:id="rId54"/>
    </p:embeddedFont>
    <p:embeddedFont>
      <p:font typeface="CMSY8" pitchFamily="34" charset="0"/>
      <p:regular r:id="rId55"/>
    </p:embeddedFont>
    <p:embeddedFont>
      <p:font typeface="cmmi10" pitchFamily="34" charset="0"/>
      <p:regular r:id="rId56"/>
    </p:embeddedFont>
    <p:embeddedFont>
      <p:font typeface="cmsy10" pitchFamily="34" charset="0"/>
      <p:regular r:id="rId57"/>
    </p:embeddedFont>
  </p:embeddedFontLst>
  <p:custDataLst>
    <p:tags r:id="rId58"/>
  </p:custDataLst>
  <p:defaultTextStyle>
    <a:defPPr>
      <a:defRPr lang="he-IL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CC99FF"/>
    <a:srgbClr val="0000FF"/>
    <a:srgbClr val="FF5050"/>
    <a:srgbClr val="CC00CC"/>
    <a:srgbClr val="DC53F3"/>
    <a:srgbClr val="FF0066"/>
    <a:srgbClr val="6600CC"/>
    <a:srgbClr val="CC9900"/>
    <a:srgbClr val="6699FF"/>
    <a:srgbClr val="33CC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51" autoAdjust="0"/>
    <p:restoredTop sz="97350" autoAdjust="0"/>
  </p:normalViewPr>
  <p:slideViewPr>
    <p:cSldViewPr snapToGrid="0">
      <p:cViewPr varScale="1">
        <p:scale>
          <a:sx n="75" d="100"/>
          <a:sy n="75" d="100"/>
        </p:scale>
        <p:origin x="-1314" y="-84"/>
      </p:cViewPr>
      <p:guideLst>
        <p:guide orient="horz" pos="742"/>
        <p:guide pos="5759"/>
        <p:guide pos="78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-108" y="5712"/>
    </p:cViewPr>
  </p:sorterViewPr>
  <p:notesViewPr>
    <p:cSldViewPr snapToGrid="0">
      <p:cViewPr varScale="1">
        <p:scale>
          <a:sx n="55" d="100"/>
          <a:sy n="55" d="100"/>
        </p:scale>
        <p:origin x="-1260" y="-96"/>
      </p:cViewPr>
      <p:guideLst>
        <p:guide orient="horz" pos="2928"/>
        <p:guide pos="2208"/>
      </p:guideLst>
    </p:cSldViewPr>
  </p:notesViewPr>
  <p:gridSpacing cx="77716063" cy="77716063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font" Target="fonts/font8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61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font" Target="fonts/font6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2.xml"/><Relationship Id="rId51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handoutMaster" Target="handoutMasters/handoutMaster1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5938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0175" y="0"/>
            <a:ext cx="3057525" cy="43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1425"/>
            <a:ext cx="3055938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0175" y="8861425"/>
            <a:ext cx="3057525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385FDABD-B4B3-499C-A8D1-E8F219F2332F}" type="slidenum">
              <a:rPr lang="ar-SA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777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7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7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77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0" hangingPunct="0">
              <a:defRPr sz="1200"/>
            </a:lvl1pPr>
          </a:lstStyle>
          <a:p>
            <a:fld id="{330FA5B3-51B5-42F8-BE42-FC855FF1AF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8F2B98-8864-471E-BE85-3A53453EEE33}" type="slidenum">
              <a:rPr lang="en-US"/>
              <a:pPr/>
              <a:t>1</a:t>
            </a:fld>
            <a:endParaRPr lang="en-US"/>
          </a:p>
        </p:txBody>
      </p:sp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FA5B3-51B5-42F8-BE42-FC855FF1AF7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 anchor="ctr" anchorCtr="1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 bwMode="auto">
          <a:xfrm>
            <a:off x="7976680" y="6214301"/>
            <a:ext cx="72840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of 33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028944" y="6208649"/>
            <a:ext cx="2133600" cy="476250"/>
          </a:xfrm>
        </p:spPr>
        <p:txBody>
          <a:bodyPr/>
          <a:lstStyle/>
          <a:p>
            <a:fld id="{E9617DEA-1EA9-490E-9CAE-DF7678F81A2B}" type="slidenum">
              <a:rPr lang="ar-SA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5D11AF-510C-457B-B7F3-78720251C64A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5CBD6-5CB1-4C52-AAA4-14DA2AF0F3E7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071779-7C15-4620-9775-3C02208CB754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0AF73-4355-4AA5-9D56-0E3217C6366F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A9427-BD95-46EF-8291-9A34BFD6456C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D7F96-0417-4E10-968D-AE7FE14DFEF1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62B44-F4FD-432E-97C8-BD53D95EBD92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B4616-4C7A-41ED-9D0F-A0B41241762A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32D7D-91A4-4FBC-84DA-25A5D25C1772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60778-35F3-4ED5-9038-411AC32F76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B206F-49B5-499F-AF21-C782AE6550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B6ED3-2FAC-41FE-81C0-C17D976FFD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7B9DC-AD7C-43CB-8FD0-0CD111D42D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8FCE3-05F1-405C-B51E-247450F95C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97FEDC-01CB-47E9-8E9D-5A63B1FBA7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B0CA1-CFAB-460E-950B-2E74A5D8ED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1D40-7EED-42A3-95D3-F18076C574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C92CB-DFE6-487F-9177-2523B3F588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165561-114D-4571-8BAD-6DEEF05243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0AA25-8945-4B4C-AE4C-4F9D6A9209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F8C50-3D44-418F-842B-6AAF0A4C91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C6513E-33B7-4E12-B12D-BB38749532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576FD-B1F7-42F9-88BF-36FDCDDBD0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6FCC1B-661A-460A-AF9A-550EBCACA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82523-04E1-49CC-8A60-BE113831A5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64EB4-2521-441F-8E2C-70345AA2D9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1DCD0-33DC-4D5A-BEDC-B81D8B477C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629D2-AE92-4FDB-8032-74E842CD4C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F9D3A-AF4D-4365-9B57-5E5486EBDB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5441D2-683B-44C0-BE1C-A3529ED0D2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CC4EC-9224-4441-817E-F2DC47288F0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52C02-A70C-4F3A-B395-1BF4550BEF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0A92C-CD49-4A9C-B414-CE1F1773C5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A6E28-EF6B-4245-8238-A86A8BB15A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A3EAD-EAD6-4C9F-8D7D-20000463FC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A50FC2-6DB8-4B02-B3AA-7018A59665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E204C-7ED2-423F-8244-B2DDE5CF9C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DB75C-C411-4B39-859B-EEA5132601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8D36A-62C1-4C40-B211-E89A2313C7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41FD0-C09A-452A-861E-389B6AEB9DC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DB11C3-4B0F-47A6-86E2-D36F0EA669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501FB-78B8-47DC-A592-7D2B29E2A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60CF5-ECC8-446A-9643-D458DB8A32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1B9F5-770C-4E05-8639-639CC579DF4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0ADA9D-888B-4882-A0F1-C7DA722EEB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3C6C6-8211-4E61-A05A-444970AE0D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7C2894-1075-40ED-8055-28DC01B824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89C3D-0E00-4FEE-881A-9B8028DB06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145E3-DFE0-4D67-8A78-C005765962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DD46C-9552-4E95-BD8B-FB9E0CF12D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7379E-C569-48CA-B3BB-8D5C8AD05D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306748-892D-4AAC-A82F-66BC49401D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421DD-8EAE-4E7E-94E2-8C885DA547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78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378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30488" y="6196013"/>
            <a:ext cx="38592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378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defRPr>
            </a:lvl1pPr>
          </a:lstStyle>
          <a:p>
            <a:fld id="{E9617DEA-1EA9-490E-9CAE-DF7678F81A2B}" type="slidenum">
              <a:rPr lang="ar-SA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ransition/>
  <p:timing>
    <p:tnLst>
      <p:par>
        <p:cTn id="1" dur="indefinite" restart="never" nodeType="tmRoot"/>
      </p:par>
    </p:tnLst>
  </p:timing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FF00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400">
          <a:solidFill>
            <a:srgbClr val="0000FF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rgbClr val="00B050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rgbClr val="C000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rgbClr val="6600CC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rgbClr val="FF66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rgbClr val="FF66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rgbClr val="FF66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rgbClr val="FF66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ransition/>
  <p:timing>
    <p:tnLst>
      <p:par>
        <p:cTn id="1" dur="indefinite" restart="never" nodeType="tmRoot"/>
      </p:par>
    </p:tnLst>
  </p:timing>
  <p:hf hd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0066"/>
          </a:solidFill>
          <a:effectLst>
            <a:outerShdw blurRad="38100" dist="38100" dir="2700000" algn="tl">
              <a:srgbClr val="000000"/>
            </a:outerShdw>
          </a:effectLst>
          <a:latin typeface="Verdana" pitchFamily="34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4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73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8475" y="62611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0" hangingPunct="0">
              <a:defRPr sz="1400"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773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0" hangingPunct="0">
              <a:defRPr sz="1400"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73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z="1400"/>
            </a:lvl1pPr>
          </a:lstStyle>
          <a:p>
            <a:fld id="{BCF4DD00-DCB2-4F51-B5EB-3B9E08B804B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74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74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0" hangingPunct="0">
              <a:defRPr sz="1400"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774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0" hangingPunct="0">
              <a:defRPr sz="1400"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74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z="1400"/>
            </a:lvl1pPr>
          </a:lstStyle>
          <a:p>
            <a:fld id="{661728CF-A598-4C40-9AC0-F5B383EC2FF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7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0" hangingPunct="0">
              <a:defRPr sz="1400"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77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0" hangingPunct="0">
              <a:defRPr sz="1400"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7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z="1400"/>
            </a:lvl1pPr>
          </a:lstStyle>
          <a:p>
            <a:fld id="{3B6878AF-A805-4BBD-A035-2DE65E957B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76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0" hangingPunct="0">
              <a:defRPr sz="1400"/>
            </a:lvl1pPr>
          </a:lstStyle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776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0" hangingPunct="0">
              <a:defRPr sz="1400"/>
            </a:lvl1pPr>
          </a:lstStyle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776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z="1400"/>
            </a:lvl1pPr>
          </a:lstStyle>
          <a:p>
            <a:fld id="{7BF35389-BD61-494A-9986-77278C92E53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52400" y="1096963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sz="3600" b="1" dirty="0" smtClean="0"/>
              <a:t>The Method of Multiplicities</a:t>
            </a:r>
            <a:endParaRPr lang="en-US" sz="3600" b="1" dirty="0"/>
          </a:p>
        </p:txBody>
      </p:sp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1655248" y="2905340"/>
            <a:ext cx="5943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0000FF"/>
                </a:solidFill>
                <a:latin typeface="Tahoma" pitchFamily="34" charset="0"/>
              </a:rPr>
              <a:t>Madhu</a:t>
            </a:r>
            <a:r>
              <a:rPr lang="en-US" sz="3600" b="1" dirty="0" smtClean="0">
                <a:solidFill>
                  <a:srgbClr val="0000FF"/>
                </a:solidFill>
                <a:latin typeface="Tahoma" pitchFamily="34" charset="0"/>
              </a:rPr>
              <a:t> Sudan</a:t>
            </a:r>
          </a:p>
          <a:p>
            <a:pPr algn="ctr"/>
            <a:r>
              <a:rPr lang="en-US" dirty="0" smtClean="0">
                <a:solidFill>
                  <a:srgbClr val="FF0066"/>
                </a:solidFill>
                <a:latin typeface="Tahoma" pitchFamily="34" charset="0"/>
              </a:rPr>
              <a:t>Microsoft New England/MIT</a:t>
            </a:r>
            <a:endParaRPr lang="en-US" dirty="0">
              <a:solidFill>
                <a:srgbClr val="FF0066"/>
              </a:solidFill>
              <a:latin typeface="Tahoma" pitchFamily="34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/>
              <a:t>TexPoint fonts used in EMF. </a:t>
            </a:r>
          </a:p>
          <a:p>
            <a:r>
              <a:rPr lang="en-US" smtClean="0"/>
              <a:t>Read the TexPoint manual before you delete this box.: </a:t>
            </a:r>
            <a:r>
              <a:rPr lang="en-US" smtClean="0">
                <a:latin typeface="CMMI8"/>
              </a:rPr>
              <a:t>A</a:t>
            </a:r>
            <a:r>
              <a:rPr lang="en-US" smtClean="0">
                <a:latin typeface="LCMSS8"/>
              </a:rPr>
              <a:t>A</a:t>
            </a:r>
            <a:r>
              <a:rPr lang="en-US" smtClean="0">
                <a:latin typeface="CMSY8"/>
              </a:rPr>
              <a:t>A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04983" y="4399006"/>
            <a:ext cx="3595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Based on joint works with: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V. </a:t>
            </a:r>
            <a:r>
              <a:rPr lang="en-US" sz="1800" dirty="0" err="1" smtClean="0">
                <a:solidFill>
                  <a:srgbClr val="0000FF"/>
                </a:solidFill>
                <a:latin typeface="Tahoma" pitchFamily="34" charset="0"/>
              </a:rPr>
              <a:t>Guruswami</a:t>
            </a: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‘98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S. </a:t>
            </a:r>
            <a:r>
              <a:rPr lang="en-US" sz="1800" dirty="0" err="1" smtClean="0">
                <a:solidFill>
                  <a:srgbClr val="0000FF"/>
                </a:solidFill>
                <a:latin typeface="Tahoma" pitchFamily="34" charset="0"/>
              </a:rPr>
              <a:t>Saraf</a:t>
            </a: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‘08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Z. </a:t>
            </a:r>
            <a:r>
              <a:rPr lang="en-US" sz="1800" dirty="0" err="1" smtClean="0">
                <a:solidFill>
                  <a:srgbClr val="0000FF"/>
                </a:solidFill>
                <a:latin typeface="Tahoma" pitchFamily="34" charset="0"/>
              </a:rPr>
              <a:t>Dvir</a:t>
            </a: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, S. </a:t>
            </a:r>
            <a:r>
              <a:rPr lang="en-US" sz="1800" dirty="0" err="1" smtClean="0">
                <a:solidFill>
                  <a:srgbClr val="0000FF"/>
                </a:solidFill>
                <a:latin typeface="Tahoma" pitchFamily="34" charset="0"/>
              </a:rPr>
              <a:t>Kopparty</a:t>
            </a: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, S. </a:t>
            </a:r>
            <a:r>
              <a:rPr lang="en-US" sz="1800" dirty="0" err="1" smtClean="0">
                <a:solidFill>
                  <a:srgbClr val="0000FF"/>
                </a:solidFill>
                <a:latin typeface="Tahoma" pitchFamily="34" charset="0"/>
              </a:rPr>
              <a:t>Saraf</a:t>
            </a:r>
            <a:r>
              <a:rPr lang="en-US" sz="1800" dirty="0" smtClean="0">
                <a:solidFill>
                  <a:srgbClr val="0000FF"/>
                </a:solidFill>
                <a:latin typeface="Tahoma" pitchFamily="34" charset="0"/>
              </a:rPr>
              <a:t> ‘09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643188" y="6245225"/>
            <a:ext cx="3859212" cy="476250"/>
          </a:xfrm>
        </p:spPr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371600"/>
            <a:ext cx="8458200" cy="4724400"/>
          </a:xfrm>
        </p:spPr>
        <p:txBody>
          <a:bodyPr/>
          <a:lstStyle/>
          <a:p>
            <a:pPr lvl="2">
              <a:buNone/>
            </a:pPr>
            <a:endParaRPr lang="en-US" dirty="0" smtClean="0"/>
          </a:p>
          <a:p>
            <a:r>
              <a:rPr lang="en-US" dirty="0" smtClean="0"/>
              <a:t>A technique for </a:t>
            </a:r>
            <a:r>
              <a:rPr lang="en-US" dirty="0" err="1" smtClean="0"/>
              <a:t>combinatorics</a:t>
            </a:r>
            <a:r>
              <a:rPr lang="en-US" dirty="0" smtClean="0"/>
              <a:t>, via algebra:</a:t>
            </a:r>
          </a:p>
          <a:p>
            <a:pPr lvl="1"/>
            <a:r>
              <a:rPr lang="en-US" dirty="0" smtClean="0"/>
              <a:t>Polynomial (Interpolation) Method + Multiplicity method</a:t>
            </a:r>
          </a:p>
          <a:p>
            <a:pPr lvl="2"/>
            <a:r>
              <a:rPr lang="en-US" dirty="0" smtClean="0"/>
              <a:t>List-decoding of Reed-Solomon Codes</a:t>
            </a:r>
          </a:p>
          <a:p>
            <a:pPr lvl="2"/>
            <a:r>
              <a:rPr lang="en-US" dirty="0" smtClean="0"/>
              <a:t>Bounding size of </a:t>
            </a:r>
            <a:r>
              <a:rPr lang="en-US" dirty="0" err="1" smtClean="0"/>
              <a:t>Kakeya</a:t>
            </a:r>
            <a:r>
              <a:rPr lang="en-US" dirty="0" smtClean="0"/>
              <a:t> Sets</a:t>
            </a:r>
          </a:p>
          <a:p>
            <a:pPr lvl="2"/>
            <a:r>
              <a:rPr lang="en-US" dirty="0" smtClean="0"/>
              <a:t>Extractor constructions</a:t>
            </a:r>
          </a:p>
          <a:p>
            <a:pPr lvl="2"/>
            <a:r>
              <a:rPr lang="en-US" dirty="0" smtClean="0"/>
              <a:t>(won’t cover) Locally </a:t>
            </a:r>
            <a:r>
              <a:rPr lang="en-US" smtClean="0"/>
              <a:t>decodable codes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I: Decoding Reed-Solomon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Reed-Solomon Codes:</a:t>
            </a:r>
          </a:p>
          <a:p>
            <a:pPr lvl="1"/>
            <a:r>
              <a:rPr lang="en-US" dirty="0" smtClean="0"/>
              <a:t>Commonly used codes to store information (on CDs, DVDs etc.)</a:t>
            </a:r>
          </a:p>
          <a:p>
            <a:pPr lvl="2"/>
            <a:r>
              <a:rPr lang="en-US" dirty="0" smtClean="0">
                <a:solidFill>
                  <a:srgbClr val="0000FF"/>
                </a:solidFill>
              </a:rPr>
              <a:t>Message: </a:t>
            </a:r>
            <a:r>
              <a:rPr lang="en-US" dirty="0" smtClean="0">
                <a:latin typeface="Verdana"/>
              </a:rPr>
              <a:t>C</a:t>
            </a:r>
            <a:r>
              <a:rPr lang="en-US" baseline="-25000" dirty="0" smtClean="0">
                <a:latin typeface="Verdana"/>
              </a:rPr>
              <a:t>0</a:t>
            </a:r>
            <a:r>
              <a:rPr lang="en-US" dirty="0" smtClean="0">
                <a:latin typeface="Verdana"/>
              </a:rPr>
              <a:t>, C</a:t>
            </a:r>
            <a:r>
              <a:rPr lang="en-US" baseline="-25000" dirty="0" smtClean="0">
                <a:latin typeface="Verdana"/>
              </a:rPr>
              <a:t>1</a:t>
            </a:r>
            <a:r>
              <a:rPr lang="en-US" dirty="0" smtClean="0"/>
              <a:t>, …, </a:t>
            </a:r>
            <a:r>
              <a:rPr lang="en-US" dirty="0" err="1" smtClean="0">
                <a:latin typeface="Verdana"/>
              </a:rPr>
              <a:t>C</a:t>
            </a:r>
            <a:r>
              <a:rPr lang="en-US" baseline="-25000" dirty="0" err="1" smtClean="0">
                <a:latin typeface="Verdana"/>
              </a:rPr>
              <a:t>d</a:t>
            </a:r>
            <a:r>
              <a:rPr lang="en-US" dirty="0" smtClean="0"/>
              <a:t> </a:t>
            </a:r>
            <a:r>
              <a:rPr lang="az-Cyrl-AZ" dirty="0" smtClean="0"/>
              <a:t>є</a:t>
            </a:r>
            <a:r>
              <a:rPr lang="en-US" dirty="0" smtClean="0"/>
              <a:t> F </a:t>
            </a:r>
            <a:r>
              <a:rPr lang="en-US" sz="2000" dirty="0" smtClean="0">
                <a:solidFill>
                  <a:srgbClr val="0000FF"/>
                </a:solidFill>
              </a:rPr>
              <a:t>(finite field)</a:t>
            </a:r>
            <a:endParaRPr lang="en-US" dirty="0" smtClean="0">
              <a:solidFill>
                <a:srgbClr val="0000FF"/>
              </a:solidFill>
            </a:endParaRPr>
          </a:p>
          <a:p>
            <a:pPr lvl="2"/>
            <a:r>
              <a:rPr lang="en-US" dirty="0" smtClean="0">
                <a:solidFill>
                  <a:srgbClr val="0000FF"/>
                </a:solidFill>
              </a:rPr>
              <a:t>Encoding:	</a:t>
            </a:r>
          </a:p>
          <a:p>
            <a:pPr lvl="3"/>
            <a:r>
              <a:rPr lang="en-US" dirty="0" smtClean="0"/>
              <a:t>View message as polynomial: </a:t>
            </a:r>
            <a:r>
              <a:rPr lang="en-US" sz="2400" dirty="0" smtClean="0">
                <a:solidFill>
                  <a:srgbClr val="00B050"/>
                </a:solidFill>
              </a:rPr>
              <a:t>M(x) = </a:t>
            </a:r>
            <a:r>
              <a:rPr lang="en-US" sz="2400" dirty="0" smtClean="0">
                <a:solidFill>
                  <a:srgbClr val="00B050"/>
                </a:solidFill>
                <a:latin typeface="Symbol"/>
                <a:sym typeface="Symbol"/>
              </a:rPr>
              <a:t></a:t>
            </a:r>
            <a:r>
              <a:rPr lang="en-US" sz="2400" baseline="-25000" dirty="0" err="1" smtClean="0">
                <a:solidFill>
                  <a:srgbClr val="00B050"/>
                </a:solidFill>
                <a:latin typeface="Tahoma"/>
                <a:sym typeface="Symbol"/>
              </a:rPr>
              <a:t>i</a:t>
            </a:r>
            <a:r>
              <a:rPr lang="en-US" sz="2400" baseline="-25000" dirty="0" smtClean="0">
                <a:solidFill>
                  <a:srgbClr val="00B050"/>
                </a:solidFill>
                <a:latin typeface="Tahoma"/>
                <a:sym typeface="Symbol"/>
              </a:rPr>
              <a:t>=0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baseline="30000" dirty="0" smtClean="0">
                <a:solidFill>
                  <a:srgbClr val="00B050"/>
                </a:solidFill>
                <a:latin typeface="Tahoma"/>
              </a:rPr>
              <a:t>d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Verdana"/>
              </a:rPr>
              <a:t>C</a:t>
            </a:r>
            <a:r>
              <a:rPr lang="en-US" sz="2400" baseline="-25000" dirty="0" err="1" smtClean="0">
                <a:solidFill>
                  <a:srgbClr val="00B050"/>
                </a:solidFill>
                <a:latin typeface="Tahoma"/>
              </a:rPr>
              <a:t>i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sz="2400" baseline="30000" dirty="0" smtClean="0">
                <a:solidFill>
                  <a:srgbClr val="00B050"/>
                </a:solidFill>
                <a:latin typeface="Tahoma"/>
              </a:rPr>
              <a:t>i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endParaRPr lang="en-US" baseline="30000" dirty="0" smtClean="0">
              <a:solidFill>
                <a:srgbClr val="00B050"/>
              </a:solidFill>
              <a:latin typeface="Tahoma"/>
            </a:endParaRPr>
          </a:p>
          <a:p>
            <a:pPr lvl="3"/>
            <a:r>
              <a:rPr lang="en-US" dirty="0" smtClean="0"/>
              <a:t>Encoding = evaluations: { M(</a:t>
            </a:r>
            <a:r>
              <a:rPr lang="en-US" dirty="0" smtClean="0">
                <a:latin typeface="cmmi10"/>
              </a:rPr>
              <a:t>®</a:t>
            </a:r>
            <a:r>
              <a:rPr lang="en-US" dirty="0" smtClean="0"/>
              <a:t>) }_{ </a:t>
            </a:r>
            <a:r>
              <a:rPr lang="en-US" dirty="0" smtClean="0">
                <a:latin typeface="cmmi10"/>
              </a:rPr>
              <a:t>®</a:t>
            </a:r>
            <a:r>
              <a:rPr lang="en-US" dirty="0" smtClean="0"/>
              <a:t> </a:t>
            </a:r>
            <a:r>
              <a:rPr lang="az-Cyrl-AZ" dirty="0" smtClean="0"/>
              <a:t>є</a:t>
            </a:r>
            <a:r>
              <a:rPr lang="en-US" dirty="0" smtClean="0"/>
              <a:t> F }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Decoding Problem: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Given: 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y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) … (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err="1" smtClean="0">
                <a:solidFill>
                  <a:srgbClr val="00B050"/>
                </a:solidFill>
              </a:rPr>
              <a:t>,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y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az-Cyrl-AZ" dirty="0" smtClean="0">
                <a:solidFill>
                  <a:srgbClr val="00B050"/>
                </a:solidFill>
              </a:rPr>
              <a:t>є</a:t>
            </a:r>
            <a:r>
              <a:rPr lang="en-US" dirty="0" smtClean="0">
                <a:solidFill>
                  <a:srgbClr val="00B050"/>
                </a:solidFill>
              </a:rPr>
              <a:t> F x F</a:t>
            </a:r>
            <a:r>
              <a:rPr lang="en-US" sz="2000" dirty="0" smtClean="0">
                <a:solidFill>
                  <a:srgbClr val="0000FF"/>
                </a:solidFill>
              </a:rPr>
              <a:t>; integers </a:t>
            </a:r>
            <a:r>
              <a:rPr lang="en-US" dirty="0" err="1" smtClean="0">
                <a:solidFill>
                  <a:srgbClr val="00B050"/>
                </a:solidFill>
              </a:rPr>
              <a:t>t,d</a:t>
            </a:r>
            <a:r>
              <a:rPr lang="en-US" dirty="0" smtClean="0">
                <a:solidFill>
                  <a:srgbClr val="00B050"/>
                </a:solidFill>
              </a:rPr>
              <a:t>; 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Find: deg. </a:t>
            </a:r>
            <a:r>
              <a:rPr lang="en-US" dirty="0" smtClean="0">
                <a:solidFill>
                  <a:srgbClr val="00B050"/>
                </a:solidFill>
              </a:rPr>
              <a:t>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poly through </a:t>
            </a:r>
            <a:r>
              <a:rPr lang="en-US" dirty="0" smtClean="0">
                <a:solidFill>
                  <a:srgbClr val="00B050"/>
                </a:solidFill>
              </a:rPr>
              <a:t>t</a:t>
            </a:r>
            <a:r>
              <a:rPr lang="en-US" dirty="0" smtClean="0">
                <a:solidFill>
                  <a:srgbClr val="0000FF"/>
                </a:solidFill>
              </a:rPr>
              <a:t> of the </a:t>
            </a:r>
            <a:r>
              <a:rPr lang="en-US" dirty="0" smtClean="0">
                <a:solidFill>
                  <a:srgbClr val="00B050"/>
                </a:solidFill>
              </a:rPr>
              <a:t>n</a:t>
            </a:r>
            <a:r>
              <a:rPr lang="en-US" dirty="0" smtClean="0">
                <a:solidFill>
                  <a:srgbClr val="0000FF"/>
                </a:solidFill>
              </a:rPr>
              <a:t> points.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List-decoding?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#errors (</a:t>
            </a:r>
            <a:r>
              <a:rPr lang="en-US" dirty="0" smtClean="0">
                <a:solidFill>
                  <a:srgbClr val="00B050"/>
                </a:solidFill>
              </a:rPr>
              <a:t>n-t</a:t>
            </a:r>
            <a:r>
              <a:rPr lang="en-US" dirty="0" smtClean="0"/>
              <a:t>) very large, then several polynomials may agree with </a:t>
            </a:r>
            <a:r>
              <a:rPr lang="en-US" dirty="0" smtClean="0">
                <a:solidFill>
                  <a:srgbClr val="00B050"/>
                </a:solidFill>
              </a:rPr>
              <a:t>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00B050"/>
                </a:solidFill>
              </a:rPr>
              <a:t>n</a:t>
            </a:r>
            <a:r>
              <a:rPr lang="en-US" dirty="0" smtClean="0"/>
              <a:t> points.</a:t>
            </a:r>
          </a:p>
          <a:p>
            <a:pPr lvl="1"/>
            <a:r>
              <a:rPr lang="en-US" dirty="0" smtClean="0"/>
              <a:t>List-decoding problem: 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Report </a:t>
            </a:r>
            <a:r>
              <a:rPr lang="en-US" u="sng" dirty="0" smtClean="0">
                <a:solidFill>
                  <a:srgbClr val="C00000"/>
                </a:solidFill>
              </a:rPr>
              <a:t>all</a:t>
            </a:r>
            <a:r>
              <a:rPr lang="en-US" dirty="0" smtClean="0">
                <a:solidFill>
                  <a:srgbClr val="C00000"/>
                </a:solidFill>
              </a:rPr>
              <a:t> such polynomials.</a:t>
            </a:r>
          </a:p>
          <a:p>
            <a:pPr lvl="1"/>
            <a:r>
              <a:rPr lang="en-US" dirty="0" smtClean="0"/>
              <a:t>Combinatorial obstacle: 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There may be too many such polynomials. 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Hope – can’t happen. 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To analyze: Focus on polynomials </a:t>
            </a:r>
            <a:r>
              <a:rPr lang="en-US" dirty="0" smtClean="0">
                <a:latin typeface="Verdana"/>
              </a:rPr>
              <a:t>P</a:t>
            </a:r>
            <a:r>
              <a:rPr lang="en-US" baseline="-25000" dirty="0" smtClean="0">
                <a:latin typeface="Verdana"/>
              </a:rPr>
              <a:t>1</a:t>
            </a:r>
            <a:r>
              <a:rPr lang="en-US" dirty="0" smtClean="0"/>
              <a:t>,…, </a:t>
            </a:r>
            <a:r>
              <a:rPr lang="en-US" dirty="0" smtClean="0">
                <a:latin typeface="Verdana"/>
              </a:rPr>
              <a:t>P</a:t>
            </a:r>
            <a:r>
              <a:rPr lang="en-US" baseline="-25000" dirty="0" smtClean="0">
                <a:latin typeface="Verdana"/>
              </a:rPr>
              <a:t>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and set of agreements </a:t>
            </a:r>
            <a:r>
              <a:rPr lang="en-US" dirty="0" smtClean="0"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1</a:t>
            </a:r>
            <a:r>
              <a:rPr lang="en-US" dirty="0" smtClean="0"/>
              <a:t> … </a:t>
            </a:r>
            <a:r>
              <a:rPr lang="en-US" dirty="0" smtClean="0"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L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Combinatorial question: Can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 …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be large, while </a:t>
            </a:r>
            <a:r>
              <a:rPr lang="en-US" dirty="0" smtClean="0">
                <a:solidFill>
                  <a:srgbClr val="00B050"/>
                </a:solidFill>
              </a:rPr>
              <a:t>n = | </a:t>
            </a:r>
            <a:r>
              <a:rPr lang="en-US" dirty="0" smtClean="0">
                <a:solidFill>
                  <a:srgbClr val="00B050"/>
                </a:solidFill>
                <a:latin typeface="cmsy10"/>
              </a:rPr>
              <a:t>[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j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j</a:t>
            </a:r>
            <a:r>
              <a:rPr lang="en-US" dirty="0" smtClean="0">
                <a:solidFill>
                  <a:srgbClr val="00B050"/>
                </a:solidFill>
              </a:rPr>
              <a:t> | </a:t>
            </a:r>
            <a:r>
              <a:rPr lang="en-US" dirty="0" smtClean="0"/>
              <a:t>is small?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List-decoding of Reed-Solomon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</a:t>
            </a:r>
            <a:r>
              <a:rPr lang="en-US" dirty="0" smtClean="0">
                <a:solidFill>
                  <a:srgbClr val="00B050"/>
                </a:solidFill>
              </a:rPr>
              <a:t>L</a:t>
            </a:r>
            <a:r>
              <a:rPr lang="en-US" dirty="0" smtClean="0"/>
              <a:t> polynomials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P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P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of degree </a:t>
            </a:r>
            <a:r>
              <a:rPr lang="en-US" dirty="0" smtClean="0">
                <a:solidFill>
                  <a:srgbClr val="00B050"/>
                </a:solidFill>
              </a:rPr>
              <a:t>d</a:t>
            </a:r>
            <a:r>
              <a:rPr lang="en-US" dirty="0" smtClean="0"/>
              <a:t>;</a:t>
            </a:r>
            <a:r>
              <a:rPr lang="en-US" dirty="0"/>
              <a:t> </a:t>
            </a:r>
            <a:r>
              <a:rPr lang="en-US" dirty="0" smtClean="0"/>
              <a:t>and sets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00B050"/>
                </a:solidFill>
              </a:rPr>
              <a:t> F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£</a:t>
            </a:r>
            <a:r>
              <a:rPr lang="en-US" dirty="0" smtClean="0">
                <a:solidFill>
                  <a:srgbClr val="00B050"/>
                </a:solidFill>
              </a:rPr>
              <a:t> F </a:t>
            </a:r>
            <a:r>
              <a:rPr lang="en-US" dirty="0" err="1" smtClean="0"/>
              <a:t>s.t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|</a:t>
            </a:r>
            <a:r>
              <a:rPr lang="en-US" dirty="0" smtClean="0"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i</a:t>
            </a:r>
            <a:r>
              <a:rPr lang="en-US" dirty="0" smtClean="0"/>
              <a:t>| = t</a:t>
            </a:r>
          </a:p>
          <a:p>
            <a:pPr lvl="2"/>
            <a:r>
              <a:rPr lang="en-US" dirty="0" smtClean="0"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i</a:t>
            </a:r>
            <a:r>
              <a:rPr lang="en-US" dirty="0" smtClean="0"/>
              <a:t> </a:t>
            </a:r>
            <a:r>
              <a:rPr lang="en-US" b="1" dirty="0" smtClean="0">
                <a:latin typeface="cmsy10"/>
              </a:rPr>
              <a:t>½</a:t>
            </a:r>
            <a:r>
              <a:rPr lang="en-US" dirty="0" smtClean="0"/>
              <a:t> {(</a:t>
            </a:r>
            <a:r>
              <a:rPr lang="en-US" dirty="0" err="1" smtClean="0">
                <a:latin typeface="Verdana"/>
              </a:rPr>
              <a:t>x,P</a:t>
            </a:r>
            <a:r>
              <a:rPr lang="en-US" baseline="-25000" dirty="0" err="1" smtClean="0">
                <a:latin typeface="Verdana"/>
              </a:rPr>
              <a:t>i</a:t>
            </a:r>
            <a:r>
              <a:rPr lang="en-US" dirty="0" smtClean="0">
                <a:latin typeface="Verdana"/>
              </a:rPr>
              <a:t>(x</a:t>
            </a:r>
            <a:r>
              <a:rPr lang="en-US" dirty="0" smtClean="0"/>
              <a:t>)) | x </a:t>
            </a:r>
            <a:r>
              <a:rPr lang="en-US" b="1" dirty="0" smtClean="0">
                <a:latin typeface="cmsy10"/>
              </a:rPr>
              <a:t>2</a:t>
            </a:r>
            <a:r>
              <a:rPr lang="en-US" dirty="0" smtClean="0"/>
              <a:t> F}</a:t>
            </a:r>
          </a:p>
          <a:p>
            <a:pPr lvl="1"/>
            <a:r>
              <a:rPr lang="en-US" dirty="0" smtClean="0"/>
              <a:t>How small can </a:t>
            </a:r>
            <a:r>
              <a:rPr lang="en-US" dirty="0" smtClean="0">
                <a:solidFill>
                  <a:srgbClr val="00B050"/>
                </a:solidFill>
              </a:rPr>
              <a:t>n = |S| </a:t>
            </a:r>
            <a:r>
              <a:rPr lang="en-US" dirty="0" smtClean="0"/>
              <a:t>be, where </a:t>
            </a:r>
            <a:r>
              <a:rPr lang="en-US" dirty="0" smtClean="0">
                <a:solidFill>
                  <a:srgbClr val="00B050"/>
                </a:solidFill>
              </a:rPr>
              <a:t>S =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[</a:t>
            </a:r>
            <a:r>
              <a:rPr lang="en-US" b="1" baseline="-25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i</a:t>
            </a:r>
            <a:r>
              <a:rPr lang="en-US" dirty="0" smtClean="0"/>
              <a:t> 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Algebraic analysis from </a:t>
            </a:r>
            <a:r>
              <a:rPr lang="en-US" sz="2000" dirty="0" smtClean="0">
                <a:solidFill>
                  <a:srgbClr val="C00000"/>
                </a:solidFill>
              </a:rPr>
              <a:t>[S. ‘96, </a:t>
            </a:r>
            <a:r>
              <a:rPr lang="en-US" sz="2000" dirty="0" err="1" smtClean="0">
                <a:solidFill>
                  <a:srgbClr val="C00000"/>
                </a:solidFill>
              </a:rPr>
              <a:t>GuruswamiS</a:t>
            </a:r>
            <a:r>
              <a:rPr lang="en-US" sz="2000" dirty="0" smtClean="0">
                <a:solidFill>
                  <a:srgbClr val="C00000"/>
                </a:solidFill>
              </a:rPr>
              <a:t> ’98] </a:t>
            </a:r>
            <a:r>
              <a:rPr lang="en-US" dirty="0" smtClean="0"/>
              <a:t>basis of decoding algorithms.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List-decoding analysis [S ‘96]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7600"/>
            <a:ext cx="8229600" cy="4724400"/>
          </a:xfrm>
        </p:spPr>
        <p:txBody>
          <a:bodyPr/>
          <a:lstStyle/>
          <a:p>
            <a:r>
              <a:rPr lang="en-US" dirty="0" smtClean="0"/>
              <a:t>Construct </a:t>
            </a:r>
            <a:r>
              <a:rPr lang="en-US" dirty="0" smtClean="0">
                <a:solidFill>
                  <a:srgbClr val="00B050"/>
                </a:solidFill>
              </a:rPr>
              <a:t>Q(</a:t>
            </a:r>
            <a:r>
              <a:rPr lang="en-US" dirty="0" err="1" smtClean="0">
                <a:solidFill>
                  <a:srgbClr val="00B050"/>
                </a:solidFill>
              </a:rPr>
              <a:t>x,y</a:t>
            </a:r>
            <a:r>
              <a:rPr lang="en-US" dirty="0" smtClean="0">
                <a:solidFill>
                  <a:srgbClr val="00B050"/>
                </a:solidFill>
              </a:rPr>
              <a:t>) ≠ 0 </a:t>
            </a:r>
            <a:r>
              <a:rPr lang="en-US" dirty="0" err="1" smtClean="0"/>
              <a:t>s.t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>
                <a:solidFill>
                  <a:srgbClr val="CC00CC"/>
                </a:solidFill>
                <a:latin typeface="Verdana"/>
              </a:rPr>
              <a:t>Deg</a:t>
            </a:r>
            <a:r>
              <a:rPr lang="en-US" baseline="-25000" dirty="0" err="1" smtClean="0">
                <a:latin typeface="Verdana"/>
              </a:rPr>
              <a:t>y</a:t>
            </a:r>
            <a:r>
              <a:rPr lang="en-US" dirty="0" smtClean="0">
                <a:latin typeface="Verdana"/>
              </a:rPr>
              <a:t>(Q</a:t>
            </a:r>
            <a:r>
              <a:rPr lang="en-US" dirty="0" smtClean="0"/>
              <a:t>) &lt; L</a:t>
            </a:r>
          </a:p>
          <a:p>
            <a:pPr lvl="2"/>
            <a:r>
              <a:rPr lang="en-US" dirty="0" err="1" smtClean="0">
                <a:solidFill>
                  <a:srgbClr val="CC00CC"/>
                </a:solidFill>
                <a:latin typeface="Verdana"/>
              </a:rPr>
              <a:t>Deg</a:t>
            </a:r>
            <a:r>
              <a:rPr lang="en-US" baseline="-25000" dirty="0" err="1" smtClean="0">
                <a:latin typeface="Verdana"/>
              </a:rPr>
              <a:t>x</a:t>
            </a:r>
            <a:r>
              <a:rPr lang="en-US" dirty="0" smtClean="0">
                <a:latin typeface="Verdana"/>
              </a:rPr>
              <a:t>(Q</a:t>
            </a:r>
            <a:r>
              <a:rPr lang="en-US" dirty="0" smtClean="0"/>
              <a:t>) &lt; n/L   </a:t>
            </a:r>
          </a:p>
          <a:p>
            <a:pPr lvl="2"/>
            <a:r>
              <a:rPr lang="en-US" dirty="0" smtClean="0"/>
              <a:t>Q(</a:t>
            </a:r>
            <a:r>
              <a:rPr lang="en-US" dirty="0" err="1" smtClean="0"/>
              <a:t>x,y</a:t>
            </a:r>
            <a:r>
              <a:rPr lang="en-US" dirty="0" smtClean="0"/>
              <a:t>) = 0 </a:t>
            </a:r>
            <a:r>
              <a:rPr lang="en-US" dirty="0" smtClean="0">
                <a:solidFill>
                  <a:srgbClr val="0000FF"/>
                </a:solidFill>
              </a:rPr>
              <a:t>for every 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) </a:t>
            </a:r>
            <a:r>
              <a:rPr lang="en-US" b="1" dirty="0" smtClean="0">
                <a:latin typeface="cmsy10"/>
              </a:rPr>
              <a:t>2</a:t>
            </a:r>
            <a:r>
              <a:rPr lang="en-US" dirty="0" smtClean="0"/>
              <a:t> S = </a:t>
            </a:r>
            <a:r>
              <a:rPr lang="en-US" b="1" dirty="0" smtClean="0">
                <a:latin typeface="cmsy10"/>
              </a:rPr>
              <a:t>[</a:t>
            </a:r>
            <a:r>
              <a:rPr lang="en-US" b="1" baseline="-25000" dirty="0" err="1" smtClean="0">
                <a:latin typeface="Verdana"/>
              </a:rPr>
              <a:t>i</a:t>
            </a:r>
            <a:r>
              <a:rPr lang="en-US" dirty="0" smtClean="0"/>
              <a:t> </a:t>
            </a:r>
            <a:r>
              <a:rPr lang="en-US" dirty="0" smtClean="0">
                <a:latin typeface="Verdana"/>
              </a:rPr>
              <a:t>S</a:t>
            </a:r>
            <a:r>
              <a:rPr lang="en-US" baseline="-25000" dirty="0" smtClean="0">
                <a:latin typeface="Verdana"/>
              </a:rPr>
              <a:t>i</a:t>
            </a:r>
          </a:p>
          <a:p>
            <a:r>
              <a:rPr lang="en-US" dirty="0" smtClean="0"/>
              <a:t>Can Show: </a:t>
            </a:r>
          </a:p>
          <a:p>
            <a:pPr lvl="1"/>
            <a:r>
              <a:rPr lang="en-US" dirty="0" smtClean="0"/>
              <a:t>Such a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exists (interpolation/counting).</a:t>
            </a:r>
          </a:p>
          <a:p>
            <a:pPr lvl="1"/>
            <a:r>
              <a:rPr lang="en-US" dirty="0" smtClean="0"/>
              <a:t>Implies: </a:t>
            </a:r>
            <a:r>
              <a:rPr lang="en-US" dirty="0" smtClean="0">
                <a:solidFill>
                  <a:srgbClr val="00B050"/>
                </a:solidFill>
              </a:rPr>
              <a:t>t &gt; n/L + </a:t>
            </a:r>
            <a:r>
              <a:rPr lang="en-US" dirty="0" err="1" smtClean="0">
                <a:solidFill>
                  <a:srgbClr val="00B050"/>
                </a:solidFill>
              </a:rPr>
              <a:t>dL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)</a:t>
            </a:r>
            <a:r>
              <a:rPr lang="en-US" dirty="0" smtClean="0">
                <a:solidFill>
                  <a:srgbClr val="00B050"/>
                </a:solidFill>
              </a:rPr>
              <a:t> (y –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P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(x</a:t>
            </a:r>
            <a:r>
              <a:rPr lang="en-US" dirty="0" smtClean="0">
                <a:solidFill>
                  <a:srgbClr val="00B050"/>
                </a:solidFill>
              </a:rPr>
              <a:t>)) | Q</a:t>
            </a:r>
            <a:endParaRPr lang="en-US" dirty="0" smtClean="0"/>
          </a:p>
          <a:p>
            <a:r>
              <a:rPr lang="en-US" dirty="0" smtClean="0"/>
              <a:t>Conclude: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L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¢</a:t>
            </a:r>
            <a:r>
              <a:rPr lang="en-US" dirty="0" smtClean="0">
                <a:solidFill>
                  <a:srgbClr val="00B050"/>
                </a:solidFill>
              </a:rPr>
              <a:t> (t – </a:t>
            </a:r>
            <a:r>
              <a:rPr lang="en-US" dirty="0" err="1" smtClean="0">
                <a:solidFill>
                  <a:srgbClr val="00B050"/>
                </a:solidFill>
              </a:rPr>
              <a:t>dL</a:t>
            </a:r>
            <a:r>
              <a:rPr lang="en-US" dirty="0" smtClean="0">
                <a:solidFill>
                  <a:srgbClr val="00B050"/>
                </a:solidFill>
              </a:rPr>
              <a:t>).</a:t>
            </a:r>
          </a:p>
          <a:p>
            <a:pPr lvl="2"/>
            <a:r>
              <a:rPr lang="en-US" dirty="0" smtClean="0">
                <a:solidFill>
                  <a:srgbClr val="0000FF"/>
                </a:solidFill>
              </a:rPr>
              <a:t>(Can be proved </a:t>
            </a:r>
            <a:r>
              <a:rPr lang="en-US" dirty="0" err="1" smtClean="0">
                <a:solidFill>
                  <a:srgbClr val="0000FF"/>
                </a:solidFill>
              </a:rPr>
              <a:t>combinatorially</a:t>
            </a:r>
            <a:r>
              <a:rPr lang="en-US" dirty="0" smtClean="0">
                <a:solidFill>
                  <a:srgbClr val="0000FF"/>
                </a:solidFill>
              </a:rPr>
              <a:t> also;</a:t>
            </a:r>
          </a:p>
          <a:p>
            <a:pPr lvl="2">
              <a:buNone/>
            </a:pPr>
            <a:r>
              <a:rPr lang="en-US" dirty="0" smtClean="0">
                <a:solidFill>
                  <a:srgbClr val="0000FF"/>
                </a:solidFill>
              </a:rPr>
              <a:t>     using inclusion-exclusion)</a:t>
            </a:r>
          </a:p>
          <a:p>
            <a:pPr lvl="2"/>
            <a:r>
              <a:rPr lang="en-US" dirty="0" smtClean="0">
                <a:solidFill>
                  <a:srgbClr val="0000FF"/>
                </a:solidFill>
              </a:rPr>
              <a:t>If </a:t>
            </a:r>
            <a:r>
              <a:rPr lang="en-US" dirty="0" smtClean="0"/>
              <a:t>L &gt; t/(2d), </a:t>
            </a:r>
            <a:r>
              <a:rPr lang="en-US" dirty="0" smtClean="0">
                <a:solidFill>
                  <a:srgbClr val="0000FF"/>
                </a:solidFill>
              </a:rPr>
              <a:t>yield</a:t>
            </a:r>
            <a:r>
              <a:rPr lang="en-US" dirty="0" smtClean="0"/>
              <a:t> n </a:t>
            </a:r>
            <a:r>
              <a:rPr lang="en-US" b="1" dirty="0" smtClean="0">
                <a:latin typeface="cmsy10"/>
              </a:rPr>
              <a:t>¸</a:t>
            </a:r>
            <a:r>
              <a:rPr lang="en-US" dirty="0" smtClean="0"/>
              <a:t> </a:t>
            </a:r>
            <a:r>
              <a:rPr lang="en-US" dirty="0" smtClean="0">
                <a:latin typeface="Verdana"/>
              </a:rPr>
              <a:t>t</a:t>
            </a:r>
            <a:r>
              <a:rPr lang="en-US" baseline="30000" dirty="0" smtClean="0">
                <a:latin typeface="Verdana"/>
              </a:rPr>
              <a:t>2</a:t>
            </a:r>
            <a:r>
              <a:rPr lang="en-US" dirty="0" smtClean="0"/>
              <a:t>/(4d)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Focus: The Polynomial Method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analyze size of “algebraically nice” set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Find polynomial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vanishing on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(Can prove existence of </a:t>
            </a:r>
            <a:r>
              <a:rPr lang="en-US" dirty="0" smtClean="0"/>
              <a:t>Q </a:t>
            </a:r>
            <a:r>
              <a:rPr lang="en-US" dirty="0" smtClean="0">
                <a:solidFill>
                  <a:srgbClr val="C00000"/>
                </a:solidFill>
              </a:rPr>
              <a:t>by counting coefficients … degree </a:t>
            </a:r>
            <a:r>
              <a:rPr lang="en-US" dirty="0" smtClean="0"/>
              <a:t>Q </a:t>
            </a:r>
            <a:r>
              <a:rPr lang="en-US" dirty="0" smtClean="0">
                <a:solidFill>
                  <a:srgbClr val="C00000"/>
                </a:solidFill>
              </a:rPr>
              <a:t>grows with </a:t>
            </a:r>
            <a:r>
              <a:rPr lang="en-US" dirty="0" smtClean="0"/>
              <a:t>|S|</a:t>
            </a:r>
            <a:r>
              <a:rPr lang="en-US" dirty="0" smtClean="0">
                <a:solidFill>
                  <a:srgbClr val="C00000"/>
                </a:solidFill>
              </a:rPr>
              <a:t>.)</a:t>
            </a:r>
          </a:p>
          <a:p>
            <a:pPr lvl="1"/>
            <a:r>
              <a:rPr lang="en-US" dirty="0" smtClean="0"/>
              <a:t>Use “algebraic niceness” of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 to prove </a:t>
            </a:r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/>
              <a:t>vanishes at other places as well.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(In our case whenever </a:t>
            </a:r>
            <a:r>
              <a:rPr lang="en-US" dirty="0" smtClean="0"/>
              <a:t>y = P</a:t>
            </a:r>
            <a:r>
              <a:rPr lang="en-US" baseline="-25000" dirty="0" smtClean="0">
                <a:latin typeface="Verdana"/>
              </a:rPr>
              <a:t>i</a:t>
            </a:r>
            <a:r>
              <a:rPr lang="en-US" dirty="0" smtClean="0">
                <a:latin typeface="Verdana"/>
              </a:rPr>
              <a:t>(x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pPr lvl="1"/>
            <a:r>
              <a:rPr lang="en-US" dirty="0" smtClean="0"/>
              <a:t>Conclude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zero too often (unless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 large).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3">
              <a:buNone/>
            </a:pPr>
            <a:r>
              <a:rPr lang="en-US" dirty="0" smtClean="0"/>
              <a:t>…            (abstraction based on [</a:t>
            </a:r>
            <a:r>
              <a:rPr lang="en-US" dirty="0" err="1" smtClean="0"/>
              <a:t>Dvir</a:t>
            </a:r>
            <a:r>
              <a:rPr lang="en-US" dirty="0" smtClean="0"/>
              <a:t>]’s work)</a:t>
            </a:r>
          </a:p>
          <a:p>
            <a:pPr lvl="2"/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Improved L-D. Analysis [G.+S. ‘98]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we improve on the inclusion-exclusion bound? One that works when </a:t>
            </a:r>
            <a:r>
              <a:rPr lang="en-US" dirty="0" smtClean="0">
                <a:solidFill>
                  <a:srgbClr val="00B050"/>
                </a:solidFill>
              </a:rPr>
              <a:t>n &gt;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t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/(4d)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smtClean="0"/>
              <a:t>Idea: Try fitting a polynomial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that passes</a:t>
            </a:r>
            <a:r>
              <a:rPr lang="en-US" dirty="0"/>
              <a:t> </a:t>
            </a:r>
            <a:r>
              <a:rPr lang="en-US" dirty="0" smtClean="0"/>
              <a:t>through each point with “</a:t>
            </a:r>
            <a:r>
              <a:rPr lang="en-US" dirty="0" smtClean="0">
                <a:solidFill>
                  <a:srgbClr val="C00000"/>
                </a:solidFill>
              </a:rPr>
              <a:t>multiplicity</a:t>
            </a:r>
            <a:r>
              <a:rPr lang="en-US" dirty="0" smtClean="0"/>
              <a:t>” </a:t>
            </a:r>
            <a:r>
              <a:rPr lang="en-US" dirty="0" smtClean="0">
                <a:solidFill>
                  <a:srgbClr val="00B050"/>
                </a:solidFill>
              </a:rPr>
              <a:t>2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Can find with </a:t>
            </a:r>
            <a:r>
              <a:rPr lang="en-US" dirty="0" err="1" smtClean="0">
                <a:solidFill>
                  <a:srgbClr val="CC00CC"/>
                </a:solidFill>
                <a:latin typeface="Verdana"/>
              </a:rPr>
              <a:t>Deg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y</a:t>
            </a:r>
            <a:r>
              <a:rPr lang="en-US" dirty="0" smtClean="0">
                <a:solidFill>
                  <a:srgbClr val="00B050"/>
                </a:solidFill>
              </a:rPr>
              <a:t> &lt; L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CC00CC"/>
                </a:solidFill>
                <a:latin typeface="Verdana"/>
              </a:rPr>
              <a:t>Deg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dirty="0" smtClean="0">
                <a:solidFill>
                  <a:srgbClr val="00B050"/>
                </a:solidFill>
              </a:rPr>
              <a:t> &lt; 3n/L.</a:t>
            </a:r>
          </a:p>
          <a:p>
            <a:pPr lvl="1"/>
            <a:r>
              <a:rPr lang="en-US" dirty="0" smtClean="0"/>
              <a:t>If </a:t>
            </a:r>
            <a:r>
              <a:rPr lang="en-US" dirty="0" smtClean="0">
                <a:solidFill>
                  <a:srgbClr val="00B050"/>
                </a:solidFill>
              </a:rPr>
              <a:t>2t &gt; 3n/L + </a:t>
            </a:r>
            <a:r>
              <a:rPr lang="en-US" dirty="0" err="1" smtClean="0">
                <a:solidFill>
                  <a:srgbClr val="00B050"/>
                </a:solidFill>
              </a:rPr>
              <a:t>dL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then 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y-P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(x</a:t>
            </a:r>
            <a:r>
              <a:rPr lang="en-US" dirty="0" smtClean="0">
                <a:solidFill>
                  <a:srgbClr val="00B050"/>
                </a:solidFill>
              </a:rPr>
              <a:t>)) | Q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Yields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(L/3).(2t – </a:t>
            </a:r>
            <a:r>
              <a:rPr lang="en-US" dirty="0" err="1" smtClean="0">
                <a:solidFill>
                  <a:srgbClr val="00B050"/>
                </a:solidFill>
              </a:rPr>
              <a:t>dL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</a:p>
          <a:p>
            <a:pPr lvl="1"/>
            <a:r>
              <a:rPr lang="en-US" dirty="0" smtClean="0"/>
              <a:t>If </a:t>
            </a:r>
            <a:r>
              <a:rPr lang="en-US" dirty="0" smtClean="0">
                <a:solidFill>
                  <a:srgbClr val="00B050"/>
                </a:solidFill>
              </a:rPr>
              <a:t>L&gt;t/d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t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/(3d).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Optimizing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; letting </a:t>
            </a:r>
            <a:r>
              <a:rPr lang="en-US" dirty="0" err="1" smtClean="0"/>
              <a:t>mult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1</a:t>
            </a:r>
            <a:r>
              <a:rPr lang="en-US" dirty="0" smtClean="0"/>
              <a:t>, get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t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2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/d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Aside: Is the factor of 2 important?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Results in some improvement in </a:t>
            </a:r>
            <a:r>
              <a:rPr lang="en-US" dirty="0" smtClean="0">
                <a:solidFill>
                  <a:srgbClr val="C00000"/>
                </a:solidFill>
              </a:rPr>
              <a:t>[GS] </a:t>
            </a:r>
            <a:r>
              <a:rPr lang="en-US" dirty="0" smtClean="0"/>
              <a:t>(allowed us to improve list-decoding for codes of high rate) …</a:t>
            </a:r>
          </a:p>
          <a:p>
            <a:endParaRPr lang="en-US" dirty="0" smtClean="0"/>
          </a:p>
          <a:p>
            <a:r>
              <a:rPr lang="en-US" dirty="0" smtClean="0"/>
              <a:t>But crucial to subsequent work 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[</a:t>
            </a:r>
            <a:r>
              <a:rPr lang="en-US" dirty="0" err="1" smtClean="0">
                <a:solidFill>
                  <a:srgbClr val="C00000"/>
                </a:solidFill>
              </a:rPr>
              <a:t>Guruswami-Rudra</a:t>
            </a:r>
            <a:r>
              <a:rPr lang="en-US" dirty="0" smtClean="0">
                <a:solidFill>
                  <a:srgbClr val="C00000"/>
                </a:solidFill>
              </a:rPr>
              <a:t>] </a:t>
            </a:r>
            <a:r>
              <a:rPr lang="en-US" dirty="0" smtClean="0"/>
              <a:t>construction of rate-optimal codes: Couldn’t afford to lose this factor of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(or any constant </a:t>
            </a:r>
            <a:r>
              <a:rPr lang="en-US" dirty="0" smtClean="0">
                <a:solidFill>
                  <a:srgbClr val="C00000"/>
                </a:solidFill>
              </a:rPr>
              <a:t>&gt; 1</a:t>
            </a:r>
            <a:r>
              <a:rPr lang="en-US" dirty="0" smtClean="0"/>
              <a:t>).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Focus: The </a:t>
            </a:r>
            <a:r>
              <a:rPr lang="en-US" u="sng" dirty="0" smtClean="0"/>
              <a:t>Multiplicity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Method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analyze size of “algebraically nice” set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Find poly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zero on </a:t>
            </a:r>
            <a:r>
              <a:rPr lang="en-US" dirty="0" smtClean="0">
                <a:solidFill>
                  <a:srgbClr val="00B050"/>
                </a:solidFill>
              </a:rPr>
              <a:t>S 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u="sng" dirty="0" smtClean="0">
                <a:solidFill>
                  <a:srgbClr val="FF0000"/>
                </a:solidFill>
              </a:rPr>
              <a:t>w. high multiplicity</a:t>
            </a:r>
            <a:r>
              <a:rPr lang="en-US" dirty="0" smtClean="0">
                <a:solidFill>
                  <a:srgbClr val="FF0000"/>
                </a:solidFill>
              </a:rPr>
              <a:t>);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(Can prove existence of </a:t>
            </a:r>
            <a:r>
              <a:rPr lang="en-US" dirty="0" smtClean="0"/>
              <a:t>Q </a:t>
            </a:r>
            <a:r>
              <a:rPr lang="en-US" dirty="0" smtClean="0">
                <a:solidFill>
                  <a:srgbClr val="C00000"/>
                </a:solidFill>
              </a:rPr>
              <a:t>by counting coefficients … degree </a:t>
            </a:r>
            <a:r>
              <a:rPr lang="en-US" dirty="0" smtClean="0"/>
              <a:t>Q </a:t>
            </a:r>
            <a:r>
              <a:rPr lang="en-US" dirty="0" smtClean="0">
                <a:solidFill>
                  <a:srgbClr val="C00000"/>
                </a:solidFill>
              </a:rPr>
              <a:t>grows with </a:t>
            </a:r>
            <a:r>
              <a:rPr lang="en-US" dirty="0" smtClean="0"/>
              <a:t>|S|</a:t>
            </a:r>
            <a:r>
              <a:rPr lang="en-US" dirty="0" smtClean="0">
                <a:solidFill>
                  <a:srgbClr val="C00000"/>
                </a:solidFill>
              </a:rPr>
              <a:t>.)</a:t>
            </a:r>
          </a:p>
          <a:p>
            <a:pPr lvl="1"/>
            <a:r>
              <a:rPr lang="en-US" dirty="0" smtClean="0"/>
              <a:t>Use “algebraic niceness” of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 to prove </a:t>
            </a:r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/>
              <a:t>vanishes at other places as well.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(In our case whenever </a:t>
            </a:r>
            <a:r>
              <a:rPr lang="en-US" dirty="0" smtClean="0"/>
              <a:t>y = P</a:t>
            </a:r>
            <a:r>
              <a:rPr lang="en-US" baseline="-25000" dirty="0" smtClean="0">
                <a:latin typeface="Verdana"/>
              </a:rPr>
              <a:t>i</a:t>
            </a:r>
            <a:r>
              <a:rPr lang="en-US" dirty="0" smtClean="0">
                <a:latin typeface="Verdana"/>
              </a:rPr>
              <a:t>(x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pPr lvl="1"/>
            <a:r>
              <a:rPr lang="en-US" dirty="0" smtClean="0"/>
              <a:t>Conclude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zero too often (unless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/>
              <a:t> large).</a:t>
            </a:r>
          </a:p>
          <a:p>
            <a:pPr lvl="2"/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Multiplicity =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</a:t>
            </a:r>
            <a:r>
              <a:rPr lang="en-US" dirty="0" err="1" smtClean="0"/>
              <a:t>reals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B050"/>
                </a:solidFill>
              </a:rPr>
              <a:t>Q(</a:t>
            </a:r>
            <a:r>
              <a:rPr lang="en-US" dirty="0" err="1" smtClean="0">
                <a:solidFill>
                  <a:srgbClr val="00B050"/>
                </a:solidFill>
              </a:rPr>
              <a:t>x,y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  <a:r>
              <a:rPr lang="en-US" dirty="0" smtClean="0"/>
              <a:t> has root of multiplicity </a:t>
            </a:r>
            <a:r>
              <a:rPr lang="en-US" dirty="0" smtClean="0">
                <a:solidFill>
                  <a:srgbClr val="00B050"/>
                </a:solidFill>
              </a:rPr>
              <a:t>m+1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a,b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en-US" dirty="0" smtClean="0"/>
              <a:t>if every partial derivative of order up to </a:t>
            </a:r>
            <a:r>
              <a:rPr lang="en-US" dirty="0" smtClean="0">
                <a:solidFill>
                  <a:srgbClr val="00B050"/>
                </a:solidFill>
              </a:rPr>
              <a:t>m</a:t>
            </a:r>
            <a:r>
              <a:rPr lang="en-US" dirty="0" smtClean="0"/>
              <a:t> vanishes at </a:t>
            </a:r>
            <a:r>
              <a:rPr lang="en-US" dirty="0" smtClean="0">
                <a:solidFill>
                  <a:srgbClr val="00B050"/>
                </a:solidFill>
              </a:rPr>
              <a:t>0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Over finite fields? </a:t>
            </a:r>
          </a:p>
          <a:p>
            <a:pPr lvl="1"/>
            <a:r>
              <a:rPr lang="en-US" dirty="0" smtClean="0"/>
              <a:t>Derivatives don’t work; but “</a:t>
            </a:r>
            <a:r>
              <a:rPr lang="en-US" dirty="0" err="1" smtClean="0"/>
              <a:t>Hasse</a:t>
            </a:r>
            <a:r>
              <a:rPr lang="en-US" dirty="0" smtClean="0"/>
              <a:t> derivatives” do. What are these? Later…</a:t>
            </a:r>
          </a:p>
          <a:p>
            <a:pPr lvl="1"/>
            <a:r>
              <a:rPr lang="en-US" dirty="0" smtClean="0"/>
              <a:t>There are </a:t>
            </a:r>
            <a:r>
              <a:rPr lang="en-US" dirty="0" smtClean="0">
                <a:solidFill>
                  <a:srgbClr val="00B050"/>
                </a:solidFill>
              </a:rPr>
              <a:t>{</a:t>
            </a:r>
            <a:r>
              <a:rPr lang="en-US" dirty="0" err="1" smtClean="0">
                <a:solidFill>
                  <a:srgbClr val="00B050"/>
                </a:solidFill>
              </a:rPr>
              <a:t>m+n</a:t>
            </a:r>
            <a:r>
              <a:rPr lang="en-US" dirty="0" smtClean="0">
                <a:solidFill>
                  <a:srgbClr val="00B050"/>
                </a:solidFill>
              </a:rPr>
              <a:t> choose n}</a:t>
            </a:r>
            <a:r>
              <a:rPr lang="en-US" dirty="0" smtClean="0"/>
              <a:t> such derivatives, for </a:t>
            </a:r>
            <a:r>
              <a:rPr lang="en-US" dirty="0" smtClean="0">
                <a:solidFill>
                  <a:srgbClr val="00B050"/>
                </a:solidFill>
              </a:rPr>
              <a:t>n</a:t>
            </a:r>
            <a:r>
              <a:rPr lang="en-US" dirty="0" smtClean="0"/>
              <a:t>-</a:t>
            </a:r>
            <a:r>
              <a:rPr lang="en-US" dirty="0" err="1" smtClean="0"/>
              <a:t>variate</a:t>
            </a:r>
            <a:r>
              <a:rPr lang="en-US" dirty="0" smtClean="0"/>
              <a:t> polynomials; </a:t>
            </a:r>
          </a:p>
          <a:p>
            <a:pPr lvl="2"/>
            <a:r>
              <a:rPr lang="en-US" dirty="0" smtClean="0">
                <a:solidFill>
                  <a:srgbClr val="0000FF"/>
                </a:solidFill>
              </a:rPr>
              <a:t>Each is a linear function of coefficients of </a:t>
            </a:r>
            <a:r>
              <a:rPr lang="en-US" dirty="0" smtClean="0"/>
              <a:t>f</a:t>
            </a:r>
            <a:r>
              <a:rPr lang="en-US" dirty="0" smtClean="0">
                <a:solidFill>
                  <a:srgbClr val="0000FF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2882900"/>
            <a:ext cx="8229600" cy="609600"/>
          </a:xfrm>
        </p:spPr>
        <p:txBody>
          <a:bodyPr/>
          <a:lstStyle/>
          <a:p>
            <a:pPr algn="ctr"/>
            <a:r>
              <a:rPr lang="en-US" dirty="0" smtClean="0"/>
              <a:t>Part II: </a:t>
            </a:r>
            <a:r>
              <a:rPr lang="en-US" dirty="0" err="1" smtClean="0"/>
              <a:t>Kakeya</a:t>
            </a:r>
            <a:r>
              <a:rPr lang="en-US" dirty="0" smtClean="0"/>
              <a:t> Sets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Kakeya</a:t>
            </a:r>
            <a:r>
              <a:rPr lang="en-US" dirty="0" smtClean="0"/>
              <a:t>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K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/>
              <a:t> is a </a:t>
            </a:r>
            <a:r>
              <a:rPr lang="en-US" dirty="0" err="1" smtClean="0">
                <a:solidFill>
                  <a:srgbClr val="CC00CC"/>
                </a:solidFill>
              </a:rPr>
              <a:t>Kakeya</a:t>
            </a:r>
            <a:r>
              <a:rPr lang="en-US" dirty="0" smtClean="0">
                <a:solidFill>
                  <a:srgbClr val="CC00CC"/>
                </a:solidFill>
              </a:rPr>
              <a:t> set </a:t>
            </a:r>
            <a:r>
              <a:rPr lang="en-US" dirty="0" smtClean="0"/>
              <a:t>if it has a line in every direction.</a:t>
            </a:r>
          </a:p>
          <a:p>
            <a:pPr lvl="1"/>
            <a:r>
              <a:rPr lang="en-US" dirty="0" smtClean="0"/>
              <a:t>I.e.,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8</a:t>
            </a:r>
            <a:r>
              <a:rPr lang="en-US" dirty="0" smtClean="0">
                <a:solidFill>
                  <a:srgbClr val="00B050"/>
                </a:solidFill>
              </a:rPr>
              <a:t> y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9</a:t>
            </a:r>
            <a:r>
              <a:rPr lang="en-US" dirty="0" smtClean="0">
                <a:solidFill>
                  <a:srgbClr val="00B050"/>
                </a:solidFill>
              </a:rPr>
              <a:t> x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s.t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50"/>
                </a:solidFill>
              </a:rPr>
              <a:t>{x + </a:t>
            </a:r>
            <a:r>
              <a:rPr lang="en-US" dirty="0" err="1" smtClean="0">
                <a:solidFill>
                  <a:srgbClr val="00B050"/>
                </a:solidFill>
              </a:rPr>
              <a:t>t.y</a:t>
            </a:r>
            <a:r>
              <a:rPr lang="en-US" dirty="0" smtClean="0">
                <a:solidFill>
                  <a:srgbClr val="00B050"/>
                </a:solidFill>
              </a:rPr>
              <a:t> | t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F}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00B050"/>
                </a:solidFill>
              </a:rPr>
              <a:t> K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F </a:t>
            </a:r>
            <a:r>
              <a:rPr lang="en-US" dirty="0" smtClean="0"/>
              <a:t>is a field (could be </a:t>
            </a:r>
            <a:r>
              <a:rPr lang="en-US" dirty="0" err="1" smtClean="0"/>
              <a:t>Reals</a:t>
            </a:r>
            <a:r>
              <a:rPr lang="en-US" dirty="0" smtClean="0"/>
              <a:t>, </a:t>
            </a:r>
            <a:r>
              <a:rPr lang="en-US" dirty="0" err="1" smtClean="0"/>
              <a:t>Rationals</a:t>
            </a:r>
            <a:r>
              <a:rPr lang="en-US" dirty="0" smtClean="0"/>
              <a:t>, Finite).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Our Interest: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F =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(finite field of cardinality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Lower bounds.</a:t>
            </a:r>
          </a:p>
          <a:p>
            <a:pPr lvl="1"/>
            <a:r>
              <a:rPr lang="en-US" dirty="0" smtClean="0"/>
              <a:t>Simple/Obvious: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/2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·</a:t>
            </a:r>
            <a:r>
              <a:rPr lang="en-US" dirty="0" smtClean="0">
                <a:solidFill>
                  <a:srgbClr val="00B050"/>
                </a:solidFill>
              </a:rPr>
              <a:t> K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·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endParaRPr lang="en-US" baseline="30000" dirty="0" smtClean="0">
              <a:solidFill>
                <a:srgbClr val="00B050"/>
              </a:solidFill>
              <a:latin typeface="Verdana"/>
            </a:endParaRPr>
          </a:p>
          <a:p>
            <a:pPr lvl="1"/>
            <a:r>
              <a:rPr lang="en-US" dirty="0" smtClean="0">
                <a:latin typeface="Verdana"/>
              </a:rPr>
              <a:t>Do better? Mostly open till </a:t>
            </a:r>
            <a:r>
              <a:rPr lang="en-US" dirty="0" smtClean="0">
                <a:solidFill>
                  <a:srgbClr val="C00000"/>
                </a:solidFill>
                <a:latin typeface="Verdana"/>
              </a:rPr>
              <a:t>[</a:t>
            </a:r>
            <a:r>
              <a:rPr lang="en-US" dirty="0" err="1" smtClean="0">
                <a:solidFill>
                  <a:srgbClr val="C00000"/>
                </a:solidFill>
                <a:latin typeface="Verdana"/>
              </a:rPr>
              <a:t>Dvir</a:t>
            </a:r>
            <a:r>
              <a:rPr lang="en-US" dirty="0" smtClean="0">
                <a:solidFill>
                  <a:srgbClr val="C00000"/>
                </a:solidFill>
                <a:latin typeface="Verdana"/>
              </a:rPr>
              <a:t> 2008].</a:t>
            </a:r>
            <a:endParaRPr lang="en-US" baseline="30000" dirty="0" smtClean="0">
              <a:solidFill>
                <a:srgbClr val="C00000"/>
              </a:solidFill>
              <a:latin typeface="Verdana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Kakeya</a:t>
            </a:r>
            <a:r>
              <a:rPr lang="en-US" dirty="0" smtClean="0"/>
              <a:t> Set analysis [</a:t>
            </a:r>
            <a:r>
              <a:rPr lang="en-US" dirty="0" err="1" smtClean="0"/>
              <a:t>Dvir</a:t>
            </a:r>
            <a:r>
              <a:rPr lang="en-US" dirty="0" smtClean="0"/>
              <a:t> ‘08]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Q(x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) ≠ 0 </a:t>
            </a:r>
            <a:r>
              <a:rPr lang="en-US" dirty="0" err="1" smtClean="0"/>
              <a:t>s.t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Total deg. of </a:t>
            </a:r>
            <a:r>
              <a:rPr lang="en-US" dirty="0" smtClean="0">
                <a:solidFill>
                  <a:srgbClr val="00B050"/>
                </a:solidFill>
              </a:rPr>
              <a:t>Q &lt; q </a:t>
            </a:r>
            <a:r>
              <a:rPr lang="en-US" dirty="0" smtClean="0"/>
              <a:t>(let deg. </a:t>
            </a:r>
            <a:r>
              <a:rPr lang="en-US" dirty="0" smtClean="0">
                <a:solidFill>
                  <a:srgbClr val="00B050"/>
                </a:solidFill>
              </a:rPr>
              <a:t>= d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Q(x) = 0</a:t>
            </a:r>
            <a:r>
              <a:rPr lang="en-US" dirty="0" smtClean="0"/>
              <a:t> for every </a:t>
            </a:r>
            <a:r>
              <a:rPr lang="en-US" dirty="0" smtClean="0">
                <a:solidFill>
                  <a:srgbClr val="00B050"/>
                </a:solidFill>
              </a:rPr>
              <a:t>x </a:t>
            </a:r>
            <a:r>
              <a:rPr lang="en-US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K</a:t>
            </a:r>
            <a:r>
              <a:rPr lang="en-US" dirty="0" smtClean="0"/>
              <a:t>. (</a:t>
            </a:r>
            <a:r>
              <a:rPr lang="en-US" sz="1800" dirty="0" smtClean="0"/>
              <a:t>exists if </a:t>
            </a:r>
            <a:r>
              <a:rPr lang="en-US" dirty="0" smtClean="0">
                <a:solidFill>
                  <a:srgbClr val="00B050"/>
                </a:solidFill>
              </a:rPr>
              <a:t>|K| &lt;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/n</a:t>
            </a:r>
            <a:r>
              <a:rPr lang="en-US" dirty="0" smtClean="0">
                <a:solidFill>
                  <a:srgbClr val="00B050"/>
                </a:solidFill>
              </a:rPr>
              <a:t>!</a:t>
            </a:r>
            <a:r>
              <a:rPr lang="en-US" dirty="0" smtClean="0"/>
              <a:t>)</a:t>
            </a:r>
          </a:p>
          <a:p>
            <a:r>
              <a:rPr lang="en-US" dirty="0" smtClean="0"/>
              <a:t>Prove that (homogenous deg. </a:t>
            </a:r>
            <a:r>
              <a:rPr lang="en-US" dirty="0" smtClean="0">
                <a:solidFill>
                  <a:srgbClr val="00B050"/>
                </a:solidFill>
              </a:rPr>
              <a:t>d</a:t>
            </a:r>
            <a:r>
              <a:rPr lang="en-US" dirty="0" smtClean="0"/>
              <a:t> part of)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vanishes on </a:t>
            </a:r>
            <a:r>
              <a:rPr lang="en-US" dirty="0" smtClean="0">
                <a:solidFill>
                  <a:srgbClr val="00B050"/>
                </a:solidFill>
              </a:rPr>
              <a:t>y</a:t>
            </a:r>
            <a:r>
              <a:rPr lang="en-US" dirty="0" smtClean="0"/>
              <a:t>, if there exists a line in direction </a:t>
            </a:r>
            <a:r>
              <a:rPr lang="en-US" dirty="0" smtClean="0">
                <a:solidFill>
                  <a:srgbClr val="00B050"/>
                </a:solidFill>
              </a:rPr>
              <a:t>y </a:t>
            </a:r>
            <a:r>
              <a:rPr lang="en-US" dirty="0" smtClean="0"/>
              <a:t>that is contained in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Line </a:t>
            </a:r>
            <a:r>
              <a:rPr lang="en-US" dirty="0" smtClean="0">
                <a:solidFill>
                  <a:srgbClr val="00B050"/>
                </a:solidFill>
              </a:rPr>
              <a:t>L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00B050"/>
                </a:solidFill>
              </a:rPr>
              <a:t> K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)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Q|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>
                <a:solidFill>
                  <a:srgbClr val="00B050"/>
                </a:solidFill>
              </a:rPr>
              <a:t> = 0. </a:t>
            </a:r>
          </a:p>
          <a:p>
            <a:pPr lvl="1"/>
            <a:r>
              <a:rPr lang="en-US" dirty="0" smtClean="0"/>
              <a:t>Highest degree coefficient of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Q|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/>
              <a:t> is homogenous part of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evaluated at </a:t>
            </a:r>
            <a:r>
              <a:rPr lang="en-US" dirty="0" smtClean="0">
                <a:solidFill>
                  <a:srgbClr val="00B050"/>
                </a:solidFill>
              </a:rPr>
              <a:t>y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Conclude: homogenous part of </a:t>
            </a:r>
            <a:r>
              <a:rPr lang="en-US" dirty="0" smtClean="0">
                <a:solidFill>
                  <a:srgbClr val="00B050"/>
                </a:solidFill>
              </a:rPr>
              <a:t>Q = 0</a:t>
            </a:r>
            <a:r>
              <a:rPr lang="en-US" dirty="0" smtClean="0"/>
              <a:t>.     &gt;&lt;.</a:t>
            </a:r>
          </a:p>
          <a:p>
            <a:r>
              <a:rPr lang="en-US" dirty="0" smtClean="0"/>
              <a:t>Yields </a:t>
            </a:r>
            <a:r>
              <a:rPr lang="en-US" dirty="0" smtClean="0">
                <a:solidFill>
                  <a:srgbClr val="00B050"/>
                </a:solidFill>
              </a:rPr>
              <a:t>|K| </a:t>
            </a:r>
            <a:r>
              <a:rPr lang="en-US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/n</a:t>
            </a:r>
            <a:r>
              <a:rPr lang="en-US" dirty="0" smtClean="0">
                <a:solidFill>
                  <a:srgbClr val="00B050"/>
                </a:solidFill>
              </a:rPr>
              <a:t>!.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627" y="541641"/>
            <a:ext cx="8229600" cy="609600"/>
          </a:xfrm>
        </p:spPr>
        <p:txBody>
          <a:bodyPr/>
          <a:lstStyle/>
          <a:p>
            <a:r>
              <a:rPr lang="en-US" dirty="0" smtClean="0"/>
              <a:t>Multiplicities in </a:t>
            </a:r>
            <a:r>
              <a:rPr lang="en-US" dirty="0" err="1" smtClean="0"/>
              <a:t>Kakeya</a:t>
            </a:r>
            <a:r>
              <a:rPr lang="en-US" dirty="0" smtClean="0"/>
              <a:t> [</a:t>
            </a:r>
            <a:r>
              <a:rPr lang="en-US" dirty="0" err="1" smtClean="0"/>
              <a:t>Saraf</a:t>
            </a:r>
            <a:r>
              <a:rPr lang="en-US" dirty="0" smtClean="0"/>
              <a:t>, S ’08]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Fit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that vanishes often?</a:t>
            </a:r>
          </a:p>
          <a:p>
            <a:pPr lvl="1"/>
            <a:r>
              <a:rPr lang="en-US" dirty="0" smtClean="0"/>
              <a:t>Good choice: #multiplicity </a:t>
            </a:r>
            <a:r>
              <a:rPr lang="en-US" dirty="0" smtClean="0">
                <a:solidFill>
                  <a:srgbClr val="00B050"/>
                </a:solidFill>
              </a:rPr>
              <a:t>m = n</a:t>
            </a:r>
          </a:p>
          <a:p>
            <a:pPr lvl="1"/>
            <a:r>
              <a:rPr lang="en-US" dirty="0" smtClean="0"/>
              <a:t>Can find </a:t>
            </a:r>
            <a:r>
              <a:rPr lang="en-US" dirty="0" smtClean="0">
                <a:solidFill>
                  <a:srgbClr val="00B050"/>
                </a:solidFill>
              </a:rPr>
              <a:t>Q ≠ 0 </a:t>
            </a:r>
            <a:r>
              <a:rPr lang="en-US" dirty="0" smtClean="0"/>
              <a:t>of individual degree </a:t>
            </a:r>
            <a:r>
              <a:rPr lang="en-US" dirty="0" smtClean="0">
                <a:solidFill>
                  <a:srgbClr val="00B050"/>
                </a:solidFill>
              </a:rPr>
              <a:t>&lt; q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smtClean="0"/>
              <a:t>that vanishes at each point in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  <a:r>
              <a:rPr lang="en-US" dirty="0" smtClean="0"/>
              <a:t> with multiplicity </a:t>
            </a:r>
            <a:r>
              <a:rPr lang="en-US" dirty="0" smtClean="0">
                <a:solidFill>
                  <a:srgbClr val="00B050"/>
                </a:solidFill>
              </a:rPr>
              <a:t>n</a:t>
            </a:r>
            <a:r>
              <a:rPr lang="en-US" dirty="0" smtClean="0"/>
              <a:t>, provided </a:t>
            </a:r>
            <a:r>
              <a:rPr lang="en-US" dirty="0" smtClean="0">
                <a:solidFill>
                  <a:srgbClr val="00B050"/>
                </a:solidFill>
              </a:rPr>
              <a:t>|K|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4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&lt;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endParaRPr lang="en-US" baseline="30000" dirty="0" smtClean="0">
              <a:solidFill>
                <a:srgbClr val="00B050"/>
              </a:solidFill>
              <a:latin typeface="Verdana"/>
            </a:endParaRPr>
          </a:p>
          <a:p>
            <a:pPr lvl="1"/>
            <a:r>
              <a:rPr lang="en-US" dirty="0" smtClean="0">
                <a:solidFill>
                  <a:srgbClr val="00B050"/>
                </a:solidFill>
                <a:latin typeface="Verdana"/>
              </a:rPr>
              <a:t>Q|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</a:t>
            </a:r>
            <a:r>
              <a:rPr lang="en-US" dirty="0" smtClean="0">
                <a:latin typeface="Verdana"/>
              </a:rPr>
              <a:t>is of degree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&lt; qn</a:t>
            </a:r>
            <a:r>
              <a:rPr lang="en-US" dirty="0" smtClean="0">
                <a:latin typeface="Verdana"/>
              </a:rPr>
              <a:t>.</a:t>
            </a:r>
          </a:p>
          <a:p>
            <a:pPr lvl="1"/>
            <a:r>
              <a:rPr lang="en-US" dirty="0" smtClean="0">
                <a:latin typeface="Verdana"/>
              </a:rPr>
              <a:t>But it vanishes with multiplicity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latin typeface="Verdana"/>
              </a:rPr>
              <a:t> at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dirty="0" smtClean="0">
                <a:latin typeface="Verdana"/>
              </a:rPr>
              <a:t> points!</a:t>
            </a:r>
          </a:p>
          <a:p>
            <a:pPr lvl="1"/>
            <a:r>
              <a:rPr lang="en-US" dirty="0" smtClean="0">
                <a:latin typeface="Verdana"/>
              </a:rPr>
              <a:t>So it is identically zero </a:t>
            </a:r>
            <a:r>
              <a:rPr lang="en-US" b="1" dirty="0" smtClean="0">
                <a:latin typeface="cmsy10"/>
              </a:rPr>
              <a:t>)</a:t>
            </a:r>
            <a:r>
              <a:rPr lang="en-US" dirty="0" smtClean="0">
                <a:latin typeface="Verdana"/>
              </a:rPr>
              <a:t> its highest degree </a:t>
            </a:r>
            <a:r>
              <a:rPr lang="en-US" dirty="0" err="1" smtClean="0">
                <a:latin typeface="Verdana"/>
              </a:rPr>
              <a:t>coeff</a:t>
            </a:r>
            <a:r>
              <a:rPr lang="en-US" dirty="0" smtClean="0">
                <a:latin typeface="Verdana"/>
              </a:rPr>
              <a:t>. is zero.            &gt;&lt;</a:t>
            </a:r>
          </a:p>
          <a:p>
            <a:pPr lvl="1"/>
            <a:endParaRPr lang="en-US" dirty="0" smtClean="0">
              <a:latin typeface="Verdana"/>
            </a:endParaRPr>
          </a:p>
          <a:p>
            <a:r>
              <a:rPr lang="en-US" dirty="0" smtClean="0">
                <a:latin typeface="Verdana"/>
              </a:rPr>
              <a:t>Conclude: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|K|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(q/4)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the bounds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6600CC"/>
                </a:solidFill>
              </a:rPr>
              <a:t>Simple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|K| </a:t>
            </a:r>
            <a:r>
              <a:rPr lang="en-US" b="1" dirty="0" smtClean="0">
                <a:solidFill>
                  <a:srgbClr val="FF000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FF0000"/>
                </a:solidFill>
                <a:latin typeface="Verdana"/>
              </a:rPr>
              <a:t>n</a:t>
            </a:r>
            <a:r>
              <a:rPr lang="en-US" baseline="30000" dirty="0" smtClean="0">
                <a:solidFill>
                  <a:srgbClr val="FF0000"/>
                </a:solidFill>
                <a:latin typeface="Verdana"/>
              </a:rPr>
              <a:t>/2</a:t>
            </a:r>
          </a:p>
          <a:p>
            <a:r>
              <a:rPr lang="en-US" dirty="0" smtClean="0">
                <a:solidFill>
                  <a:srgbClr val="6600CC"/>
                </a:solidFill>
              </a:rPr>
              <a:t>[</a:t>
            </a:r>
            <a:r>
              <a:rPr lang="en-US" dirty="0" err="1" smtClean="0">
                <a:solidFill>
                  <a:srgbClr val="6600CC"/>
                </a:solidFill>
              </a:rPr>
              <a:t>Dvir</a:t>
            </a:r>
            <a:r>
              <a:rPr lang="en-US" dirty="0" smtClean="0">
                <a:solidFill>
                  <a:srgbClr val="6600CC"/>
                </a:solidFill>
              </a:rPr>
              <a:t>]: </a:t>
            </a:r>
            <a:r>
              <a:rPr lang="en-US" dirty="0" smtClean="0">
                <a:solidFill>
                  <a:srgbClr val="FF0000"/>
                </a:solidFill>
              </a:rPr>
              <a:t>|K| </a:t>
            </a:r>
            <a:r>
              <a:rPr lang="en-US" b="1" dirty="0" smtClean="0">
                <a:solidFill>
                  <a:srgbClr val="FF000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FF000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FF0000"/>
                </a:solidFill>
                <a:latin typeface="Verdana"/>
              </a:rPr>
              <a:t>/n</a:t>
            </a:r>
            <a:r>
              <a:rPr lang="en-US" dirty="0" smtClean="0">
                <a:solidFill>
                  <a:srgbClr val="FF0000"/>
                </a:solidFill>
              </a:rPr>
              <a:t>!</a:t>
            </a:r>
          </a:p>
          <a:p>
            <a:r>
              <a:rPr lang="en-US" dirty="0" smtClean="0">
                <a:solidFill>
                  <a:srgbClr val="6600CC"/>
                </a:solidFill>
              </a:rPr>
              <a:t>[SS]: </a:t>
            </a:r>
            <a:r>
              <a:rPr lang="en-US" dirty="0" smtClean="0">
                <a:solidFill>
                  <a:srgbClr val="FF0000"/>
                </a:solidFill>
              </a:rPr>
              <a:t>|K| </a:t>
            </a:r>
            <a:r>
              <a:rPr lang="en-US" b="1" dirty="0" smtClean="0">
                <a:solidFill>
                  <a:srgbClr val="FF000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FF000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FF0000"/>
                </a:solidFill>
                <a:latin typeface="Verdana"/>
              </a:rPr>
              <a:t>/4</a:t>
            </a:r>
            <a:r>
              <a:rPr lang="en-US" baseline="30000" dirty="0" smtClean="0">
                <a:solidFill>
                  <a:srgbClr val="FF0000"/>
                </a:solidFill>
                <a:latin typeface="Verdana"/>
              </a:rPr>
              <a:t>n</a:t>
            </a:r>
          </a:p>
          <a:p>
            <a:endParaRPr lang="en-US" baseline="30000" dirty="0" smtClean="0">
              <a:latin typeface="Verdana"/>
            </a:endParaRPr>
          </a:p>
          <a:p>
            <a:r>
              <a:rPr lang="en-US" dirty="0" smtClean="0">
                <a:solidFill>
                  <a:srgbClr val="6600CC"/>
                </a:solidFill>
              </a:rPr>
              <a:t>[SS] </a:t>
            </a:r>
            <a:r>
              <a:rPr lang="en-US" dirty="0" smtClean="0"/>
              <a:t>improves </a:t>
            </a:r>
            <a:r>
              <a:rPr lang="en-US" dirty="0" smtClean="0">
                <a:solidFill>
                  <a:srgbClr val="6600CC"/>
                </a:solidFill>
              </a:rPr>
              <a:t>Simple</a:t>
            </a:r>
            <a:r>
              <a:rPr lang="en-US" dirty="0" smtClean="0"/>
              <a:t> even when </a:t>
            </a:r>
            <a:r>
              <a:rPr lang="en-US" dirty="0" smtClean="0">
                <a:solidFill>
                  <a:srgbClr val="6600CC"/>
                </a:solidFill>
              </a:rPr>
              <a:t>q</a:t>
            </a:r>
            <a:r>
              <a:rPr lang="en-US" dirty="0" smtClean="0"/>
              <a:t> (large) constant and </a:t>
            </a:r>
            <a:r>
              <a:rPr lang="en-US" dirty="0" smtClean="0">
                <a:solidFill>
                  <a:srgbClr val="6600CC"/>
                </a:solidFill>
              </a:rPr>
              <a:t>n </a:t>
            </a:r>
            <a:r>
              <a:rPr lang="en-US" dirty="0" smtClean="0">
                <a:solidFill>
                  <a:srgbClr val="6600CC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6600CC"/>
                </a:solidFill>
              </a:rPr>
              <a:t> </a:t>
            </a:r>
            <a:r>
              <a:rPr lang="en-US" b="1" dirty="0" smtClean="0">
                <a:solidFill>
                  <a:srgbClr val="6600CC"/>
                </a:solidFill>
                <a:latin typeface="cmsy10"/>
              </a:rPr>
              <a:t>1 </a:t>
            </a:r>
            <a:r>
              <a:rPr lang="en-US" dirty="0" smtClean="0"/>
              <a:t>(in particular, allows </a:t>
            </a:r>
            <a:r>
              <a:rPr lang="en-US" dirty="0" smtClean="0">
                <a:solidFill>
                  <a:srgbClr val="6600CC"/>
                </a:solidFill>
              </a:rPr>
              <a:t>q &lt; n</a:t>
            </a:r>
            <a:r>
              <a:rPr lang="en-US" dirty="0" smtClean="0"/>
              <a:t>)</a:t>
            </a:r>
          </a:p>
          <a:p>
            <a:r>
              <a:rPr lang="en-US" dirty="0" smtClean="0">
                <a:solidFill>
                  <a:srgbClr val="6600CC"/>
                </a:solidFill>
              </a:rPr>
              <a:t>[</a:t>
            </a:r>
            <a:r>
              <a:rPr lang="en-US" dirty="0" err="1" smtClean="0">
                <a:solidFill>
                  <a:srgbClr val="6600CC"/>
                </a:solidFill>
              </a:rPr>
              <a:t>MockenhauptTao</a:t>
            </a:r>
            <a:r>
              <a:rPr lang="en-US" dirty="0" smtClean="0">
                <a:solidFill>
                  <a:srgbClr val="6600CC"/>
                </a:solidFill>
              </a:rPr>
              <a:t>, </a:t>
            </a:r>
            <a:r>
              <a:rPr lang="en-US" dirty="0" err="1" smtClean="0">
                <a:solidFill>
                  <a:srgbClr val="6600CC"/>
                </a:solidFill>
              </a:rPr>
              <a:t>Dvir</a:t>
            </a:r>
            <a:r>
              <a:rPr lang="en-US" dirty="0" smtClean="0">
                <a:solidFill>
                  <a:srgbClr val="6600CC"/>
                </a:solidFill>
              </a:rPr>
              <a:t>]: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        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9</a:t>
            </a:r>
            <a:r>
              <a:rPr lang="en-US" dirty="0" smtClean="0">
                <a:solidFill>
                  <a:srgbClr val="00B050"/>
                </a:solidFill>
              </a:rPr>
              <a:t> K </a:t>
            </a:r>
            <a:r>
              <a:rPr lang="en-US" dirty="0" err="1" smtClean="0">
                <a:solidFill>
                  <a:srgbClr val="00B050"/>
                </a:solidFill>
              </a:rPr>
              <a:t>s.t</a:t>
            </a:r>
            <a:r>
              <a:rPr lang="en-US" dirty="0" smtClean="0">
                <a:solidFill>
                  <a:srgbClr val="00B050"/>
                </a:solidFill>
              </a:rPr>
              <a:t>. |K|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·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/2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n-1</a:t>
            </a:r>
            <a:r>
              <a:rPr lang="en-US" dirty="0" smtClean="0">
                <a:solidFill>
                  <a:srgbClr val="00B050"/>
                </a:solidFill>
              </a:rPr>
              <a:t> +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O(q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n-1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</a:p>
          <a:p>
            <a:pPr>
              <a:buNone/>
            </a:pP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Can we do even better?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1000"/>
            <a:ext cx="8229600" cy="609600"/>
          </a:xfrm>
        </p:spPr>
        <p:txBody>
          <a:bodyPr/>
          <a:lstStyle/>
          <a:p>
            <a:pPr algn="ctr"/>
            <a:r>
              <a:rPr lang="en-US" dirty="0" smtClean="0"/>
              <a:t>Part III: </a:t>
            </a:r>
            <a:br>
              <a:rPr lang="en-US" dirty="0" smtClean="0"/>
            </a:br>
            <a:r>
              <a:rPr lang="en-US" dirty="0" smtClean="0"/>
              <a:t>Randomness Mergers &amp; Extractors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motivations for </a:t>
            </a:r>
            <a:r>
              <a:rPr lang="en-US" dirty="0" err="1" smtClean="0"/>
              <a:t>Dvir’s</a:t>
            </a:r>
            <a:r>
              <a:rPr lang="en-US" dirty="0" smtClean="0"/>
              <a:t> work:</a:t>
            </a:r>
          </a:p>
          <a:p>
            <a:pPr lvl="1"/>
            <a:r>
              <a:rPr lang="en-US" dirty="0" smtClean="0"/>
              <a:t>Build better “randomness extractors”</a:t>
            </a:r>
          </a:p>
          <a:p>
            <a:pPr lvl="1"/>
            <a:r>
              <a:rPr lang="en-US" dirty="0" smtClean="0"/>
              <a:t>Approach proposed in </a:t>
            </a:r>
            <a:r>
              <a:rPr lang="en-US" dirty="0" smtClean="0">
                <a:solidFill>
                  <a:srgbClr val="C00000"/>
                </a:solidFill>
              </a:rPr>
              <a:t>[</a:t>
            </a:r>
            <a:r>
              <a:rPr lang="en-US" dirty="0" err="1" smtClean="0">
                <a:solidFill>
                  <a:srgbClr val="C00000"/>
                </a:solidFill>
              </a:rPr>
              <a:t>Dvir-Shpilka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</a:p>
          <a:p>
            <a:pPr lvl="1"/>
            <a:r>
              <a:rPr lang="en-US" dirty="0" smtClean="0"/>
              <a:t>Following </a:t>
            </a:r>
            <a:r>
              <a:rPr lang="en-US" dirty="0" smtClean="0">
                <a:solidFill>
                  <a:srgbClr val="C00000"/>
                </a:solidFill>
              </a:rPr>
              <a:t>[</a:t>
            </a:r>
            <a:r>
              <a:rPr lang="en-US" dirty="0" err="1" smtClean="0">
                <a:solidFill>
                  <a:srgbClr val="C00000"/>
                </a:solidFill>
              </a:rPr>
              <a:t>Dvir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  <a:r>
              <a:rPr lang="en-US" dirty="0" smtClean="0"/>
              <a:t> , new “randomness merger” and analysis given by </a:t>
            </a:r>
            <a:r>
              <a:rPr lang="en-US" dirty="0" smtClean="0">
                <a:solidFill>
                  <a:srgbClr val="C00000"/>
                </a:solidFill>
              </a:rPr>
              <a:t>[</a:t>
            </a:r>
            <a:r>
              <a:rPr lang="en-US" dirty="0" err="1" smtClean="0">
                <a:solidFill>
                  <a:srgbClr val="C00000"/>
                </a:solidFill>
              </a:rPr>
              <a:t>Dvir-Wigderson</a:t>
            </a:r>
            <a:r>
              <a:rPr lang="en-US" dirty="0" smtClean="0">
                <a:solidFill>
                  <a:srgbClr val="C00000"/>
                </a:solidFill>
              </a:rPr>
              <a:t>]</a:t>
            </a:r>
          </a:p>
          <a:p>
            <a:pPr lvl="1"/>
            <a:r>
              <a:rPr lang="en-US" dirty="0" smtClean="0"/>
              <a:t>Led to “extractors” matching known constructions, but not improving them …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What are Extractors? Mergers? … can we improve them?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hape 19"/>
          <p:cNvCxnSpPr>
            <a:stCxn id="18" idx="6"/>
            <a:endCxn id="7" idx="2"/>
          </p:cNvCxnSpPr>
          <p:nvPr/>
        </p:nvCxnSpPr>
        <p:spPr bwMode="auto">
          <a:xfrm flipV="1">
            <a:off x="5689600" y="2794000"/>
            <a:ext cx="1365250" cy="863600"/>
          </a:xfrm>
          <a:prstGeom prst="bentConnector2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927600" y="2438400"/>
            <a:ext cx="774700" cy="2413000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Random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4927600" y="2463800"/>
            <a:ext cx="762000" cy="23876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/>
              <a:t>Uniform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 in Computation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auto">
          <a:xfrm>
            <a:off x="6413500" y="1828800"/>
            <a:ext cx="1282700" cy="965200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err="1" smtClean="0"/>
              <a:t>Alg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5435600" y="2324100"/>
            <a:ext cx="977900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7696200" y="2336800"/>
            <a:ext cx="977900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5575300" y="1663700"/>
            <a:ext cx="396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051800" y="1638300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 bwMode="auto">
          <a:xfrm rot="16200000" flipH="1">
            <a:off x="2025650" y="3689350"/>
            <a:ext cx="5257800" cy="381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Rectangle 27"/>
          <p:cNvSpPr/>
          <p:nvPr/>
        </p:nvSpPr>
        <p:spPr bwMode="auto">
          <a:xfrm>
            <a:off x="2106758" y="3607889"/>
            <a:ext cx="1981200" cy="1206500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Randomness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Processors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2106758" y="2452189"/>
            <a:ext cx="2006600" cy="6985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Distributio</a:t>
            </a:r>
            <a:r>
              <a:rPr lang="en-US" sz="1400" dirty="0" smtClean="0"/>
              <a:t>n A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2118369" y="5284289"/>
            <a:ext cx="2006600" cy="6985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Distributio</a:t>
            </a:r>
            <a:r>
              <a:rPr lang="en-US" sz="1400" dirty="0" smtClean="0"/>
              <a:t>n B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32" name="Straight Arrow Connector 31"/>
          <p:cNvCxnSpPr>
            <a:stCxn id="29" idx="4"/>
            <a:endCxn id="28" idx="0"/>
          </p:cNvCxnSpPr>
          <p:nvPr/>
        </p:nvCxnSpPr>
        <p:spPr bwMode="auto">
          <a:xfrm rot="5400000">
            <a:off x="2875108" y="3372939"/>
            <a:ext cx="457200" cy="127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>
            <a:stCxn id="28" idx="2"/>
            <a:endCxn id="30" idx="0"/>
          </p:cNvCxnSpPr>
          <p:nvPr/>
        </p:nvCxnSpPr>
        <p:spPr bwMode="auto">
          <a:xfrm rot="16200000" flipH="1">
            <a:off x="2874563" y="5037183"/>
            <a:ext cx="469900" cy="243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" y="1371600"/>
            <a:ext cx="2222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Support industry:</a:t>
            </a:r>
            <a:endParaRPr lang="en-US" dirty="0"/>
          </a:p>
        </p:txBody>
      </p:sp>
      <p:cxnSp>
        <p:nvCxnSpPr>
          <p:cNvPr id="39" name="Curved Connector 38"/>
          <p:cNvCxnSpPr>
            <a:stCxn id="30" idx="4"/>
            <a:endCxn id="18" idx="2"/>
          </p:cNvCxnSpPr>
          <p:nvPr/>
        </p:nvCxnSpPr>
        <p:spPr bwMode="auto">
          <a:xfrm rot="5400000" flipH="1" flipV="1">
            <a:off x="2862039" y="3917229"/>
            <a:ext cx="2325189" cy="1805931"/>
          </a:xfrm>
          <a:prstGeom prst="curvedConnector4">
            <a:avLst>
              <a:gd name="adj1" fmla="val -9831"/>
              <a:gd name="adj2" fmla="val 77778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Oval 45"/>
          <p:cNvSpPr/>
          <p:nvPr/>
        </p:nvSpPr>
        <p:spPr bwMode="auto">
          <a:xfrm>
            <a:off x="2111104" y="1066800"/>
            <a:ext cx="2006600" cy="9525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/>
              <a:t>Readily available randomness</a:t>
            </a:r>
          </a:p>
        </p:txBody>
      </p:sp>
      <p:cxnSp>
        <p:nvCxnSpPr>
          <p:cNvPr id="34" name="Straight Arrow Connector 33"/>
          <p:cNvCxnSpPr>
            <a:stCxn id="46" idx="4"/>
            <a:endCxn id="29" idx="0"/>
          </p:cNvCxnSpPr>
          <p:nvPr/>
        </p:nvCxnSpPr>
        <p:spPr bwMode="auto">
          <a:xfrm rot="5400000">
            <a:off x="2895787" y="2233571"/>
            <a:ext cx="432889" cy="434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185421" y="4513943"/>
            <a:ext cx="1865448" cy="181588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Prgs</a:t>
            </a:r>
            <a:r>
              <a:rPr lang="en-US" sz="1400" dirty="0" smtClean="0"/>
              <a:t>, (seeded) extractors, limited independence generators, epsilon-biased generators,</a:t>
            </a:r>
          </a:p>
          <a:p>
            <a:r>
              <a:rPr lang="en-US" sz="1400" dirty="0" smtClean="0"/>
              <a:t>Condensers, mergers, </a:t>
            </a:r>
            <a:endParaRPr lang="en-US" sz="1400" dirty="0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19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18" grpId="0" animBg="1"/>
      <p:bldP spid="28" grpId="0" animBg="1"/>
      <p:bldP spid="29" grpId="0" animBg="1"/>
      <p:bldP spid="30" grpId="0" animBg="1"/>
      <p:bldP spid="37" grpId="0"/>
      <p:bldP spid="46" grpId="1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 Extractors and Mergers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Extractors</a:t>
            </a:r>
            <a:r>
              <a:rPr lang="en-US" dirty="0" smtClean="0">
                <a:solidFill>
                  <a:srgbClr val="6600CC"/>
                </a:solidFill>
              </a:rPr>
              <a:t>: </a:t>
            </a:r>
          </a:p>
          <a:p>
            <a:pPr lvl="1"/>
            <a:r>
              <a:rPr lang="en-US" dirty="0" smtClean="0">
                <a:solidFill>
                  <a:srgbClr val="6600CC"/>
                </a:solidFill>
              </a:rPr>
              <a:t>Dirty randomness </a:t>
            </a:r>
            <a:r>
              <a:rPr lang="en-US" sz="3600" dirty="0" smtClean="0">
                <a:solidFill>
                  <a:srgbClr val="6600CC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6600CC"/>
                </a:solidFill>
              </a:rPr>
              <a:t> Pure randomness</a:t>
            </a:r>
          </a:p>
          <a:p>
            <a:pPr lvl="1"/>
            <a:endParaRPr lang="en-US" dirty="0" smtClean="0">
              <a:solidFill>
                <a:srgbClr val="6600CC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Mergers: </a:t>
            </a:r>
            <a:r>
              <a:rPr lang="en-US" dirty="0" smtClean="0">
                <a:solidFill>
                  <a:srgbClr val="6600CC"/>
                </a:solidFill>
              </a:rPr>
              <a:t>General primitive useful in the context of manipulating randomness.</a:t>
            </a:r>
            <a:endParaRPr lang="en-US" baseline="30000" dirty="0" smtClean="0">
              <a:solidFill>
                <a:srgbClr val="6600CC"/>
              </a:solidFill>
              <a:latin typeface="Verdana"/>
            </a:endParaRPr>
          </a:p>
          <a:p>
            <a:pPr lvl="1"/>
            <a:r>
              <a:rPr lang="en-US" dirty="0" smtClean="0">
                <a:solidFill>
                  <a:srgbClr val="6600CC"/>
                </a:solidFill>
                <a:latin typeface="Verdana"/>
              </a:rPr>
              <a:t>k random variables </a:t>
            </a:r>
            <a:r>
              <a:rPr lang="en-US" sz="3200" dirty="0" smtClean="0">
                <a:solidFill>
                  <a:srgbClr val="6600CC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6600CC"/>
                </a:solidFill>
                <a:latin typeface="Verdana"/>
              </a:rPr>
              <a:t> 1 random variable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91557" y="2355671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(Biased, correlated)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4496165" y="2351315"/>
            <a:ext cx="42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(Uniform, independent … nearly)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2699" y="2690950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+ small pure seed</a:t>
            </a:r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1010557" y="4705171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(One of them uniform)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4960257" y="4768671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(high entropy)</a:t>
            </a: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1048657" y="5149671"/>
            <a:ext cx="327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(Don’t know which, others </a:t>
            </a:r>
          </a:p>
          <a:p>
            <a:r>
              <a:rPr lang="en-US" sz="1800" dirty="0" smtClean="0"/>
              <a:t>potentially correlated)</a:t>
            </a:r>
            <a:endParaRPr lang="en-US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1066799" y="5853250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+ small pure seed</a:t>
            </a: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Merger Analysis Problem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6600CC"/>
                </a:solidFill>
                <a:latin typeface="Verdana"/>
              </a:rPr>
              <a:t>Merger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(X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>
                <a:solidFill>
                  <a:srgbClr val="00B050"/>
                </a:solidFill>
              </a:rPr>
              <a:t>; s) = </a:t>
            </a:r>
            <a:r>
              <a:rPr lang="en-US" dirty="0" smtClean="0">
                <a:solidFill>
                  <a:srgbClr val="6600CC"/>
                </a:solidFill>
              </a:rPr>
              <a:t>f</a:t>
            </a:r>
            <a:r>
              <a:rPr lang="en-US" dirty="0" smtClean="0">
                <a:solidFill>
                  <a:srgbClr val="00B050"/>
                </a:solidFill>
              </a:rPr>
              <a:t>(s)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smtClean="0">
                <a:solidFill>
                  <a:srgbClr val="0000FF"/>
                </a:solidFill>
              </a:rPr>
              <a:t>where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 …,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; s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q</a:t>
            </a:r>
            <a:endParaRPr lang="en-US" baseline="-25000" dirty="0" smtClean="0">
              <a:solidFill>
                <a:srgbClr val="00B050"/>
              </a:solidFill>
              <a:latin typeface="Verdana"/>
            </a:endParaRPr>
          </a:p>
          <a:p>
            <a:pPr>
              <a:buNone/>
            </a:pPr>
            <a:r>
              <a:rPr lang="en-US" dirty="0" smtClean="0">
                <a:solidFill>
                  <a:srgbClr val="0000FF"/>
                </a:solidFill>
              </a:rPr>
              <a:t>        and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66"/>
                </a:solidFill>
              </a:rPr>
              <a:t>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is deg. </a:t>
            </a:r>
            <a:r>
              <a:rPr lang="en-US" dirty="0" smtClean="0">
                <a:solidFill>
                  <a:srgbClr val="00B050"/>
                </a:solidFill>
              </a:rPr>
              <a:t>k-1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function mapping </a:t>
            </a:r>
            <a:r>
              <a:rPr lang="en-US" dirty="0" smtClean="0">
                <a:solidFill>
                  <a:srgbClr val="00B050"/>
                </a:solidFill>
              </a:rPr>
              <a:t>F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dirty="0" err="1" smtClean="0">
                <a:solidFill>
                  <a:srgbClr val="0000FF"/>
                </a:solidFill>
              </a:rPr>
              <a:t>s.t</a:t>
            </a:r>
            <a:r>
              <a:rPr lang="en-US" dirty="0" smtClean="0">
                <a:solidFill>
                  <a:srgbClr val="0000FF"/>
                </a:solidFill>
              </a:rPr>
              <a:t>.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66"/>
                </a:solidFill>
              </a:rPr>
              <a:t>f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i</a:t>
            </a:r>
            <a:r>
              <a:rPr lang="en-US" dirty="0" smtClean="0">
                <a:solidFill>
                  <a:srgbClr val="00B050"/>
                </a:solidFill>
              </a:rPr>
              <a:t>) =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</a:rPr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	    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FF0066"/>
                </a:solidFill>
              </a:rPr>
              <a:t>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is the curve through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Question: </a:t>
            </a:r>
            <a:r>
              <a:rPr lang="en-US" dirty="0" smtClean="0">
                <a:solidFill>
                  <a:srgbClr val="0000FF"/>
                </a:solidFill>
              </a:rPr>
              <a:t>For what choices of </a:t>
            </a:r>
            <a:r>
              <a:rPr lang="en-US" dirty="0" smtClean="0">
                <a:solidFill>
                  <a:srgbClr val="00B050"/>
                </a:solidFill>
              </a:rPr>
              <a:t>q, n, k </a:t>
            </a:r>
            <a:r>
              <a:rPr lang="en-US" dirty="0" smtClean="0">
                <a:solidFill>
                  <a:srgbClr val="0000FF"/>
                </a:solidFill>
              </a:rPr>
              <a:t>is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6600CC"/>
                </a:solidFill>
              </a:rPr>
              <a:t>Merger</a:t>
            </a:r>
            <a:r>
              <a:rPr lang="en-US" dirty="0" smtClean="0">
                <a:solidFill>
                  <a:srgbClr val="0000FF"/>
                </a:solidFill>
              </a:rPr>
              <a:t>’s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output close to uniform?</a:t>
            </a:r>
          </a:p>
          <a:p>
            <a:endParaRPr lang="en-US" dirty="0" smtClean="0"/>
          </a:p>
          <a:p>
            <a:r>
              <a:rPr lang="en-US" dirty="0" smtClean="0"/>
              <a:t>Arises from </a:t>
            </a:r>
            <a:r>
              <a:rPr lang="en-US" dirty="0" smtClean="0">
                <a:solidFill>
                  <a:srgbClr val="C00000"/>
                </a:solidFill>
              </a:rPr>
              <a:t>[DvirShpilka’05, DvirWigderson’08].</a:t>
            </a:r>
          </a:p>
          <a:p>
            <a:pPr lvl="1"/>
            <a:r>
              <a:rPr lang="en-US" sz="2000" dirty="0" smtClean="0"/>
              <a:t>“Statistical high-deg. version” of </a:t>
            </a:r>
            <a:r>
              <a:rPr lang="en-US" sz="2000" dirty="0" err="1" smtClean="0"/>
              <a:t>Kakeya</a:t>
            </a:r>
            <a:r>
              <a:rPr lang="en-US" sz="2000" dirty="0" smtClean="0"/>
              <a:t> problem.</a:t>
            </a:r>
            <a:endParaRPr lang="en-US" sz="2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Concerns from Merger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[DW] Analysis: Worked only if </a:t>
            </a:r>
            <a:r>
              <a:rPr lang="en-US" dirty="0" smtClean="0">
                <a:solidFill>
                  <a:srgbClr val="00B050"/>
                </a:solidFill>
              </a:rPr>
              <a:t>q &gt; n.</a:t>
            </a:r>
          </a:p>
          <a:p>
            <a:pPr lvl="1"/>
            <a:r>
              <a:rPr lang="en-US" dirty="0" smtClean="0"/>
              <a:t>So seed length </a:t>
            </a:r>
            <a:r>
              <a:rPr lang="en-US" dirty="0" smtClean="0">
                <a:solidFill>
                  <a:srgbClr val="00B050"/>
                </a:solidFill>
              </a:rPr>
              <a:t>=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log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q &gt;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log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n</a:t>
            </a:r>
          </a:p>
          <a:p>
            <a:pPr lvl="1"/>
            <a:r>
              <a:rPr lang="en-US" dirty="0" smtClean="0"/>
              <a:t>Not good enough for setting where </a:t>
            </a:r>
            <a:r>
              <a:rPr lang="en-US" dirty="0" smtClean="0">
                <a:solidFill>
                  <a:srgbClr val="00B050"/>
                </a:solidFill>
              </a:rPr>
              <a:t>k = O(1),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1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(Would like seed length to be </a:t>
            </a:r>
            <a:r>
              <a:rPr lang="en-US" dirty="0" smtClean="0">
                <a:solidFill>
                  <a:srgbClr val="00B050"/>
                </a:solidFill>
              </a:rPr>
              <a:t>O(log k)</a:t>
            </a:r>
            <a:r>
              <a:rPr lang="en-US" dirty="0" smtClean="0"/>
              <a:t>).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Multiplicity technique:</a:t>
            </a:r>
          </a:p>
          <a:p>
            <a:pPr lvl="1"/>
            <a:r>
              <a:rPr lang="en-US" dirty="0" smtClean="0"/>
              <a:t> seems bottlenecked at </a:t>
            </a:r>
            <a:r>
              <a:rPr lang="en-US" dirty="0" err="1" smtClean="0"/>
              <a:t>mult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= 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obstacle in multiplicity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Can’t force polynomial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to vanish with too high a multiplicity. Gives no benefit.</a:t>
            </a:r>
          </a:p>
          <a:p>
            <a:endParaRPr lang="en-US" dirty="0" smtClean="0"/>
          </a:p>
          <a:p>
            <a:r>
              <a:rPr lang="en-US" dirty="0" smtClean="0"/>
              <a:t>E.g. </a:t>
            </a:r>
            <a:r>
              <a:rPr lang="en-US" dirty="0" err="1" smtClean="0"/>
              <a:t>Kakeya</a:t>
            </a:r>
            <a:r>
              <a:rPr lang="en-US" dirty="0" smtClean="0"/>
              <a:t> problem: Why stop at </a:t>
            </a:r>
            <a:r>
              <a:rPr lang="en-US" dirty="0" err="1" smtClean="0"/>
              <a:t>mult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= n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Most we can hope from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is that it vanishes on all of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/>
              <a:t>; </a:t>
            </a:r>
          </a:p>
          <a:p>
            <a:pPr lvl="1"/>
            <a:r>
              <a:rPr lang="en-US" dirty="0" smtClean="0"/>
              <a:t>Once this happens, </a:t>
            </a:r>
            <a:r>
              <a:rPr lang="en-US" dirty="0" smtClean="0">
                <a:solidFill>
                  <a:srgbClr val="00B050"/>
                </a:solidFill>
              </a:rPr>
              <a:t>Q = 0</a:t>
            </a:r>
            <a:r>
              <a:rPr lang="en-US" dirty="0" smtClean="0"/>
              <a:t>, if its degree is </a:t>
            </a:r>
            <a:r>
              <a:rPr lang="en-US" dirty="0" smtClean="0">
                <a:solidFill>
                  <a:srgbClr val="00B050"/>
                </a:solidFill>
              </a:rPr>
              <a:t>&lt; q </a:t>
            </a:r>
            <a:r>
              <a:rPr lang="en-US" dirty="0" smtClean="0"/>
              <a:t>in each variable. </a:t>
            </a:r>
          </a:p>
          <a:p>
            <a:pPr lvl="1"/>
            <a:r>
              <a:rPr lang="en-US" dirty="0" smtClean="0"/>
              <a:t>So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Q|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is of degree at most </a:t>
            </a:r>
            <a:r>
              <a:rPr lang="en-US" dirty="0" err="1" smtClean="0">
                <a:solidFill>
                  <a:srgbClr val="00B050"/>
                </a:solidFill>
              </a:rPr>
              <a:t>qn</a:t>
            </a:r>
            <a:r>
              <a:rPr lang="en-US" dirty="0" smtClean="0"/>
              <a:t>, so </a:t>
            </a:r>
            <a:r>
              <a:rPr lang="en-US" dirty="0" err="1" smtClean="0"/>
              <a:t>mult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dirty="0" smtClean="0"/>
              <a:t>suffices. Using larger multiplicity can’t help!</a:t>
            </a:r>
          </a:p>
          <a:p>
            <a:pPr lvl="1"/>
            <a:r>
              <a:rPr lang="en-US" dirty="0" smtClean="0"/>
              <a:t>Or can it?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method of multiplicities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(In </a:t>
            </a:r>
            <a:r>
              <a:rPr lang="en-US" dirty="0" err="1" smtClean="0"/>
              <a:t>Kakeya</a:t>
            </a:r>
            <a:r>
              <a:rPr lang="en-US" dirty="0" smtClean="0"/>
              <a:t> context):</a:t>
            </a:r>
          </a:p>
          <a:p>
            <a:pPr lvl="1"/>
            <a:r>
              <a:rPr lang="en-US" dirty="0" smtClean="0"/>
              <a:t>Perhaps vanishing of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with high multiplicity at each point shows higher degree polynomials (deg </a:t>
            </a:r>
            <a:r>
              <a:rPr lang="en-US" dirty="0" smtClean="0">
                <a:solidFill>
                  <a:srgbClr val="00B050"/>
                </a:solidFill>
              </a:rPr>
              <a:t>&gt; q</a:t>
            </a:r>
            <a:r>
              <a:rPr lang="en-US" dirty="0" smtClean="0"/>
              <a:t> in each variable) are identically zero?</a:t>
            </a:r>
          </a:p>
          <a:p>
            <a:pPr lvl="2"/>
            <a:r>
              <a:rPr lang="en-US" dirty="0" smtClean="0"/>
              <a:t>(Needed: Condition on multiplicity of zeroes of multivariate polynomials .)</a:t>
            </a:r>
          </a:p>
          <a:p>
            <a:pPr lvl="1"/>
            <a:r>
              <a:rPr lang="en-US" dirty="0" smtClean="0"/>
              <a:t>Perhaps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can be shown to vanish with high multiplicity at each point in </a:t>
            </a:r>
            <a:r>
              <a:rPr lang="en-US" dirty="0" smtClean="0">
                <a:solidFill>
                  <a:srgbClr val="00B050"/>
                </a:solidFill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</a:rPr>
              <a:t>n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(Technical question: How?)</a:t>
            </a:r>
          </a:p>
          <a:p>
            <a:pPr lvl="2"/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Vanishing of high-degree polynomials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B050"/>
                </a:solidFill>
              </a:rPr>
              <a:t>Mult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Q,a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en-US" dirty="0" smtClean="0">
                <a:solidFill>
                  <a:srgbClr val="0000FF"/>
                </a:solidFill>
              </a:rPr>
              <a:t>= multiplicity of zeroes of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at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I(</a:t>
            </a:r>
            <a:r>
              <a:rPr lang="en-US" dirty="0" err="1" smtClean="0">
                <a:solidFill>
                  <a:srgbClr val="00B050"/>
                </a:solidFill>
              </a:rPr>
              <a:t>Q,a</a:t>
            </a:r>
            <a:r>
              <a:rPr lang="en-US" dirty="0" smtClean="0">
                <a:solidFill>
                  <a:srgbClr val="00B050"/>
                </a:solidFill>
              </a:rPr>
              <a:t>) = 1 </a:t>
            </a:r>
            <a:r>
              <a:rPr lang="en-US" dirty="0" smtClean="0">
                <a:solidFill>
                  <a:srgbClr val="0000FF"/>
                </a:solidFill>
              </a:rPr>
              <a:t>if </a:t>
            </a:r>
            <a:r>
              <a:rPr lang="en-US" dirty="0" err="1" smtClean="0">
                <a:solidFill>
                  <a:srgbClr val="00B050"/>
                </a:solidFill>
              </a:rPr>
              <a:t>mult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Q,a</a:t>
            </a:r>
            <a:r>
              <a:rPr lang="en-US" dirty="0" smtClean="0">
                <a:solidFill>
                  <a:srgbClr val="00B050"/>
                </a:solidFill>
              </a:rPr>
              <a:t>) &gt; 0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and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0 </a:t>
            </a:r>
            <a:r>
              <a:rPr lang="en-US" dirty="0" err="1" smtClean="0">
                <a:solidFill>
                  <a:srgbClr val="0000FF"/>
                </a:solidFill>
              </a:rPr>
              <a:t>o.w</a:t>
            </a:r>
            <a:r>
              <a:rPr lang="en-US" dirty="0" smtClean="0">
                <a:solidFill>
                  <a:srgbClr val="0000FF"/>
                </a:solidFill>
              </a:rPr>
              <a:t>.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             =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min{1, </a:t>
            </a:r>
            <a:r>
              <a:rPr lang="en-US" dirty="0" err="1" smtClean="0">
                <a:solidFill>
                  <a:srgbClr val="00B050"/>
                </a:solidFill>
              </a:rPr>
              <a:t>mult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Q,a</a:t>
            </a:r>
            <a:r>
              <a:rPr lang="en-US" dirty="0" smtClean="0">
                <a:solidFill>
                  <a:srgbClr val="00B050"/>
                </a:solidFill>
              </a:rPr>
              <a:t>)}</a:t>
            </a:r>
          </a:p>
          <a:p>
            <a:endParaRPr lang="en-US" dirty="0" smtClean="0"/>
          </a:p>
          <a:p>
            <a:r>
              <a:rPr lang="en-US" dirty="0" smtClean="0"/>
              <a:t>Schwartz-</a:t>
            </a:r>
            <a:r>
              <a:rPr lang="en-US" dirty="0" err="1" smtClean="0"/>
              <a:t>Zippel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00FF"/>
                </a:solidFill>
              </a:rPr>
              <a:t>for any </a:t>
            </a:r>
            <a:r>
              <a:rPr lang="en-US" dirty="0" smtClean="0">
                <a:solidFill>
                  <a:srgbClr val="00B050"/>
                </a:solidFill>
              </a:rPr>
              <a:t>S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00B050"/>
                </a:solidFill>
              </a:rPr>
              <a:t> F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       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</a:t>
            </a:r>
            <a:r>
              <a:rPr lang="en-US" dirty="0" smtClean="0">
                <a:solidFill>
                  <a:srgbClr val="00B050"/>
                </a:solidFill>
              </a:rPr>
              <a:t> I(</a:t>
            </a:r>
            <a:r>
              <a:rPr lang="en-US" dirty="0" err="1" smtClean="0">
                <a:solidFill>
                  <a:srgbClr val="00B050"/>
                </a:solidFill>
              </a:rPr>
              <a:t>Q,a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·</a:t>
            </a:r>
            <a:r>
              <a:rPr lang="en-US" dirty="0" smtClean="0">
                <a:solidFill>
                  <a:srgbClr val="00B050"/>
                </a:solidFill>
              </a:rPr>
              <a:t> d. |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S|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n-1   </a:t>
            </a:r>
            <a:r>
              <a:rPr lang="en-US" dirty="0" smtClean="0">
                <a:solidFill>
                  <a:srgbClr val="0000FF"/>
                </a:solidFill>
              </a:rPr>
              <a:t>where sum is over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a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endParaRPr lang="en-US" baseline="30000" dirty="0" smtClean="0">
              <a:solidFill>
                <a:srgbClr val="00B050"/>
              </a:solidFill>
              <a:latin typeface="Verdana"/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Can we replace </a:t>
            </a:r>
            <a:r>
              <a:rPr lang="en-US" dirty="0" smtClean="0">
                <a:solidFill>
                  <a:srgbClr val="00B050"/>
                </a:solidFill>
              </a:rPr>
              <a:t>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with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B050"/>
                </a:solidFill>
              </a:rPr>
              <a:t>mult</a:t>
            </a:r>
            <a:r>
              <a:rPr lang="en-US" dirty="0" smtClean="0">
                <a:solidFill>
                  <a:srgbClr val="0000FF"/>
                </a:solidFill>
              </a:rPr>
              <a:t> above? Would strengthen S-Z, and be useful in our case.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[DKSS ‘09]: </a:t>
            </a:r>
            <a:r>
              <a:rPr lang="en-US" dirty="0" smtClean="0">
                <a:solidFill>
                  <a:srgbClr val="0000FF"/>
                </a:solidFill>
              </a:rPr>
              <a:t>Yes … (simple inductive proof </a:t>
            </a:r>
          </a:p>
          <a:p>
            <a:pPr>
              <a:buNone/>
            </a:pPr>
            <a:r>
              <a:rPr lang="en-US" dirty="0" smtClean="0"/>
              <a:t>                          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… that I can never remember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Multiplicities?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latin typeface="Verdana"/>
              </a:rPr>
              <a:t>Q(X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en-US" dirty="0" smtClean="0"/>
              <a:t>has zero of </a:t>
            </a:r>
            <a:r>
              <a:rPr lang="en-US" dirty="0" err="1" smtClean="0"/>
              <a:t>mult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50"/>
                </a:solidFill>
              </a:rPr>
              <a:t>m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00B050"/>
                </a:solidFill>
              </a:rPr>
              <a:t>a = 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a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a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/>
              <a:t>if all (</a:t>
            </a:r>
            <a:r>
              <a:rPr lang="en-US" dirty="0" err="1" smtClean="0"/>
              <a:t>Hasse</a:t>
            </a:r>
            <a:r>
              <a:rPr lang="en-US" dirty="0" smtClean="0"/>
              <a:t>) derivatives of order </a:t>
            </a:r>
            <a:r>
              <a:rPr lang="en-US" dirty="0" smtClean="0">
                <a:solidFill>
                  <a:srgbClr val="00B050"/>
                </a:solidFill>
              </a:rPr>
              <a:t>&lt; m</a:t>
            </a:r>
            <a:r>
              <a:rPr lang="en-US" dirty="0" smtClean="0"/>
              <a:t> vanish.</a:t>
            </a:r>
          </a:p>
          <a:p>
            <a:r>
              <a:rPr lang="en-US" dirty="0" err="1" smtClean="0"/>
              <a:t>Hasse</a:t>
            </a:r>
            <a:r>
              <a:rPr lang="en-US" dirty="0" smtClean="0"/>
              <a:t> derivative = ?</a:t>
            </a:r>
          </a:p>
          <a:p>
            <a:pPr lvl="1"/>
            <a:r>
              <a:rPr lang="en-US" dirty="0" smtClean="0"/>
              <a:t>Formally defined in terms of coefficients of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, various multinomial coefficients and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But really …</a:t>
            </a:r>
          </a:p>
          <a:p>
            <a:pPr lvl="2"/>
            <a:r>
              <a:rPr lang="en-US" dirty="0" smtClean="0">
                <a:solidFill>
                  <a:srgbClr val="7030A0"/>
                </a:solidFill>
              </a:rPr>
              <a:t>The </a:t>
            </a:r>
            <a:r>
              <a:rPr lang="en-US" dirty="0" err="1" smtClean="0"/>
              <a:t>i</a:t>
            </a:r>
            <a:r>
              <a:rPr lang="en-US" dirty="0" smtClean="0"/>
              <a:t> = (i1,…, in)</a:t>
            </a:r>
            <a:r>
              <a:rPr lang="en-US" dirty="0" err="1" smtClean="0"/>
              <a:t>th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derivative is the coefficient of </a:t>
            </a:r>
            <a:r>
              <a:rPr lang="en-US" dirty="0" smtClean="0">
                <a:latin typeface="Verdana"/>
              </a:rPr>
              <a:t>z</a:t>
            </a:r>
            <a:r>
              <a:rPr lang="en-US" baseline="-25000" dirty="0" smtClean="0">
                <a:latin typeface="Verdana"/>
              </a:rPr>
              <a:t>1</a:t>
            </a:r>
            <a:r>
              <a:rPr lang="en-US" baseline="30000" dirty="0" smtClean="0"/>
              <a:t>i1</a:t>
            </a:r>
            <a:r>
              <a:rPr lang="en-US" dirty="0" smtClean="0"/>
              <a:t>…</a:t>
            </a:r>
            <a:r>
              <a:rPr lang="en-US" dirty="0" err="1" smtClean="0">
                <a:latin typeface="Verdana"/>
              </a:rPr>
              <a:t>z</a:t>
            </a:r>
            <a:r>
              <a:rPr lang="en-US" baseline="-25000" dirty="0" err="1" smtClean="0">
                <a:latin typeface="Verdana"/>
              </a:rPr>
              <a:t>n</a:t>
            </a:r>
            <a:r>
              <a:rPr lang="en-US" baseline="30000" dirty="0" err="1" smtClean="0"/>
              <a:t>in</a:t>
            </a:r>
            <a:r>
              <a:rPr lang="en-US" dirty="0" smtClean="0">
                <a:solidFill>
                  <a:srgbClr val="7030A0"/>
                </a:solidFill>
              </a:rPr>
              <a:t> in </a:t>
            </a:r>
            <a:r>
              <a:rPr lang="en-US" dirty="0" smtClean="0"/>
              <a:t>Q(z + a).</a:t>
            </a:r>
          </a:p>
          <a:p>
            <a:pPr lvl="1"/>
            <a:r>
              <a:rPr lang="en-US" dirty="0" smtClean="0"/>
              <a:t>Even better … </a:t>
            </a:r>
            <a:r>
              <a:rPr lang="en-US" dirty="0" err="1" smtClean="0"/>
              <a:t>coeff</a:t>
            </a:r>
            <a:r>
              <a:rPr lang="en-US" dirty="0" smtClean="0"/>
              <a:t>. of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z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00B050"/>
                </a:solidFill>
              </a:rPr>
              <a:t>Q(</a:t>
            </a:r>
            <a:r>
              <a:rPr lang="en-US" dirty="0" err="1" smtClean="0">
                <a:solidFill>
                  <a:srgbClr val="00B050"/>
                </a:solidFill>
              </a:rPr>
              <a:t>z+x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</a:p>
          <a:p>
            <a:pPr lvl="2"/>
            <a:r>
              <a:rPr lang="en-US" dirty="0" smtClean="0">
                <a:solidFill>
                  <a:srgbClr val="7030A0"/>
                </a:solidFill>
              </a:rPr>
              <a:t>(defines </a:t>
            </a:r>
            <a:r>
              <a:rPr lang="en-US" dirty="0" err="1" smtClean="0">
                <a:solidFill>
                  <a:srgbClr val="7030A0"/>
                </a:solidFill>
              </a:rPr>
              <a:t>ith</a:t>
            </a:r>
            <a:r>
              <a:rPr lang="en-US" dirty="0" smtClean="0">
                <a:solidFill>
                  <a:srgbClr val="7030A0"/>
                </a:solidFill>
              </a:rPr>
              <a:t> derivative </a:t>
            </a:r>
            <a:r>
              <a:rPr lang="en-US" dirty="0" err="1" smtClean="0">
                <a:latin typeface="Verdana"/>
              </a:rPr>
              <a:t>Q</a:t>
            </a:r>
            <a:r>
              <a:rPr lang="en-US" baseline="-25000" dirty="0" err="1" smtClean="0">
                <a:latin typeface="Verdana"/>
              </a:rPr>
              <a:t>i</a:t>
            </a:r>
            <a:r>
              <a:rPr lang="en-US" dirty="0" smtClean="0">
                <a:solidFill>
                  <a:srgbClr val="7030A0"/>
                </a:solidFill>
              </a:rPr>
              <a:t> as a function of </a:t>
            </a:r>
            <a:r>
              <a:rPr lang="en-US" dirty="0" smtClean="0"/>
              <a:t>x</a:t>
            </a:r>
            <a:r>
              <a:rPr lang="en-US" dirty="0" smtClean="0">
                <a:solidFill>
                  <a:srgbClr val="7030A0"/>
                </a:solidFill>
              </a:rPr>
              <a:t>; can evaluate at </a:t>
            </a:r>
            <a:r>
              <a:rPr lang="en-US" dirty="0" smtClean="0"/>
              <a:t>x = a</a:t>
            </a:r>
            <a:r>
              <a:rPr lang="en-US" dirty="0" smtClean="0">
                <a:solidFill>
                  <a:srgbClr val="7030A0"/>
                </a:solidFill>
              </a:rPr>
              <a:t>).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Each derivative is a linear function of coefficients of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>
                <a:solidFill>
                  <a:srgbClr val="0000FF"/>
                </a:solidFill>
              </a:rPr>
              <a:t>. [</a:t>
            </a:r>
            <a:r>
              <a:rPr lang="en-US" dirty="0" smtClean="0">
                <a:solidFill>
                  <a:srgbClr val="DC53F3"/>
                </a:solidFill>
              </a:rPr>
              <a:t>Used in </a:t>
            </a:r>
            <a:r>
              <a:rPr lang="en-US" dirty="0" smtClean="0">
                <a:solidFill>
                  <a:srgbClr val="C00000"/>
                </a:solidFill>
              </a:rPr>
              <a:t>[GS’98], [SS’09] </a:t>
            </a:r>
            <a:r>
              <a:rPr lang="en-US" dirty="0" smtClean="0">
                <a:solidFill>
                  <a:srgbClr val="0000FF"/>
                </a:solidFill>
              </a:rPr>
              <a:t>.] </a:t>
            </a:r>
            <a:r>
              <a:rPr lang="en-US" sz="2000" dirty="0" smtClean="0">
                <a:solidFill>
                  <a:srgbClr val="00B050"/>
                </a:solidFill>
              </a:rPr>
              <a:t>(Q+R)</a:t>
            </a:r>
            <a:r>
              <a:rPr lang="en-US" sz="2000" baseline="-25000" dirty="0" err="1" smtClean="0">
                <a:solidFill>
                  <a:srgbClr val="00B050"/>
                </a:solidFill>
              </a:rPr>
              <a:t>i</a:t>
            </a:r>
            <a:r>
              <a:rPr lang="en-US" sz="2000" dirty="0" smtClean="0">
                <a:solidFill>
                  <a:srgbClr val="00B050"/>
                </a:solidFill>
              </a:rPr>
              <a:t> = </a:t>
            </a:r>
            <a:r>
              <a:rPr lang="en-US" sz="2000" dirty="0" err="1" smtClean="0">
                <a:solidFill>
                  <a:srgbClr val="00B050"/>
                </a:solidFill>
              </a:rPr>
              <a:t>Q</a:t>
            </a:r>
            <a:r>
              <a:rPr lang="en-US" sz="2000" baseline="-25000" dirty="0" err="1" smtClean="0">
                <a:solidFill>
                  <a:srgbClr val="00B050"/>
                </a:solidFill>
              </a:rPr>
              <a:t>i</a:t>
            </a:r>
            <a:r>
              <a:rPr lang="en-US" sz="2000" dirty="0" smtClean="0">
                <a:solidFill>
                  <a:srgbClr val="00B050"/>
                </a:solidFill>
              </a:rPr>
              <a:t> + </a:t>
            </a:r>
            <a:r>
              <a:rPr lang="en-US" sz="2000" dirty="0" err="1" smtClean="0">
                <a:solidFill>
                  <a:srgbClr val="00B050"/>
                </a:solidFill>
              </a:rPr>
              <a:t>R</a:t>
            </a:r>
            <a:r>
              <a:rPr lang="en-US" sz="2000" baseline="-25000" dirty="0" err="1" smtClean="0">
                <a:solidFill>
                  <a:srgbClr val="00B050"/>
                </a:solidFill>
              </a:rPr>
              <a:t>i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>
                <a:solidFill>
                  <a:srgbClr val="0000FF"/>
                </a:solidFill>
              </a:rPr>
              <a:t>has zero of </a:t>
            </a:r>
            <a:r>
              <a:rPr lang="en-US" dirty="0" err="1" smtClean="0">
                <a:solidFill>
                  <a:srgbClr val="0000FF"/>
                </a:solidFill>
              </a:rPr>
              <a:t>mult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m </a:t>
            </a:r>
            <a:r>
              <a:rPr lang="en-US" dirty="0" smtClean="0">
                <a:solidFill>
                  <a:srgbClr val="0000FF"/>
                </a:solidFill>
              </a:rPr>
              <a:t>at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>
                <a:solidFill>
                  <a:srgbClr val="0000FF"/>
                </a:solidFill>
              </a:rPr>
              <a:t>, and </a:t>
            </a:r>
            <a:r>
              <a:rPr lang="en-US" dirty="0" smtClean="0">
                <a:solidFill>
                  <a:srgbClr val="00B050"/>
                </a:solidFill>
              </a:rPr>
              <a:t>S </a:t>
            </a:r>
            <a:r>
              <a:rPr lang="en-US" dirty="0" smtClean="0">
                <a:solidFill>
                  <a:srgbClr val="0000FF"/>
                </a:solidFill>
              </a:rPr>
              <a:t>is a curve that passes through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>
                <a:solidFill>
                  <a:srgbClr val="0000FF"/>
                </a:solidFill>
              </a:rPr>
              <a:t>, then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Q|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S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has zero of </a:t>
            </a:r>
            <a:r>
              <a:rPr lang="en-US" dirty="0" err="1" smtClean="0">
                <a:solidFill>
                  <a:srgbClr val="0000FF"/>
                </a:solidFill>
              </a:rPr>
              <a:t>mult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at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00FF"/>
                </a:solidFill>
              </a:rPr>
              <a:t>[</a:t>
            </a:r>
            <a:r>
              <a:rPr lang="en-US" dirty="0" smtClean="0">
                <a:solidFill>
                  <a:srgbClr val="DC53F3"/>
                </a:solidFill>
              </a:rPr>
              <a:t>Used for lines in prior work</a:t>
            </a:r>
            <a:r>
              <a:rPr lang="en-US" dirty="0" smtClean="0">
                <a:solidFill>
                  <a:srgbClr val="0000FF"/>
                </a:solidFill>
              </a:rPr>
              <a:t>.]</a:t>
            </a:r>
          </a:p>
          <a:p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is a polynomial of degree </a:t>
            </a:r>
            <a:r>
              <a:rPr lang="en-US" dirty="0" smtClean="0">
                <a:solidFill>
                  <a:srgbClr val="00B050"/>
                </a:solidFill>
              </a:rPr>
              <a:t>deg(Q) -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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  <a:sym typeface="Symbol"/>
              </a:rPr>
              <a:t>j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i </a:t>
            </a:r>
            <a:r>
              <a:rPr lang="en-US" dirty="0" smtClean="0">
                <a:solidFill>
                  <a:srgbClr val="DC53F3"/>
                </a:solidFill>
                <a:latin typeface="Verdana"/>
              </a:rPr>
              <a:t>(not used in prior works)</a:t>
            </a:r>
            <a:endParaRPr lang="en-US" baseline="-25000" dirty="0" smtClean="0">
              <a:solidFill>
                <a:srgbClr val="DC53F3"/>
              </a:solidFill>
              <a:latin typeface="Verdana"/>
            </a:endParaRPr>
          </a:p>
          <a:p>
            <a:r>
              <a:rPr lang="en-US" dirty="0" smtClean="0">
                <a:solidFill>
                  <a:srgbClr val="00B050"/>
                </a:solidFill>
                <a:latin typeface="Verdana"/>
              </a:rPr>
              <a:t>(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)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j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≠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i+j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, but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i+j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(a) = 0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)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(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)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j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(a) = 0</a:t>
            </a:r>
          </a:p>
          <a:p>
            <a:r>
              <a:rPr lang="en-US" dirty="0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vanishes with </a:t>
            </a:r>
            <a:r>
              <a:rPr lang="en-US" dirty="0" err="1" smtClean="0">
                <a:solidFill>
                  <a:srgbClr val="0000FF"/>
                </a:solidFill>
                <a:latin typeface="Verdana"/>
              </a:rPr>
              <a:t>mult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at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a</a:t>
            </a:r>
            <a:r>
              <a:rPr lang="en-US" dirty="0" smtClean="0">
                <a:latin typeface="Verdana"/>
              </a:rPr>
              <a:t> </a:t>
            </a:r>
          </a:p>
          <a:p>
            <a:pPr>
              <a:buNone/>
            </a:pPr>
            <a:r>
              <a:rPr lang="en-US" b="1" dirty="0" smtClean="0">
                <a:latin typeface="Verdana"/>
              </a:rPr>
              <a:t>          </a:t>
            </a:r>
            <a:r>
              <a:rPr lang="en-US" b="1" dirty="0" smtClean="0">
                <a:latin typeface="cmsy10"/>
              </a:rPr>
              <a:t>)</a:t>
            </a:r>
            <a:r>
              <a:rPr lang="en-US" dirty="0" smtClean="0">
                <a:latin typeface="Verdana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vanishes with </a:t>
            </a:r>
            <a:r>
              <a:rPr lang="en-US" dirty="0" err="1" smtClean="0">
                <a:solidFill>
                  <a:srgbClr val="0000FF"/>
                </a:solidFill>
                <a:latin typeface="Verdana"/>
              </a:rPr>
              <a:t>mult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 - </a:t>
            </a:r>
            <a:r>
              <a:rPr lang="en-US" dirty="0" smtClean="0">
                <a:solidFill>
                  <a:srgbClr val="00B050"/>
                </a:solidFill>
                <a:latin typeface="Symbol"/>
                <a:sym typeface="Symbol"/>
              </a:rPr>
              <a:t>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  <a:sym typeface="Symbol"/>
              </a:rPr>
              <a:t>j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i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at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a</a:t>
            </a:r>
            <a:r>
              <a:rPr lang="en-US" dirty="0" smtClean="0">
                <a:latin typeface="Verdana"/>
              </a:rPr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Propagating multiplicities (in </a:t>
            </a:r>
            <a:r>
              <a:rPr lang="en-US" dirty="0" err="1" smtClean="0"/>
              <a:t>Kakeya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Find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that vanishes with </a:t>
            </a:r>
            <a:r>
              <a:rPr lang="en-US" dirty="0" err="1" smtClean="0">
                <a:solidFill>
                  <a:srgbClr val="0000FF"/>
                </a:solidFill>
              </a:rPr>
              <a:t>mult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</a:p>
          <a:p>
            <a:r>
              <a:rPr lang="en-US" dirty="0" smtClean="0">
                <a:solidFill>
                  <a:srgbClr val="0000FF"/>
                </a:solidFill>
                <a:latin typeface="Verdana"/>
              </a:rPr>
              <a:t>For every</a:t>
            </a:r>
            <a:r>
              <a:rPr lang="en-US" dirty="0" smtClean="0">
                <a:latin typeface="Verdana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i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of order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m/2</a:t>
            </a:r>
            <a:r>
              <a:rPr lang="en-US" dirty="0" smtClean="0">
                <a:latin typeface="Verdana"/>
              </a:rPr>
              <a:t>,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Q_i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vanishes with </a:t>
            </a:r>
            <a:r>
              <a:rPr lang="en-US" dirty="0" err="1" smtClean="0">
                <a:solidFill>
                  <a:srgbClr val="0000FF"/>
                </a:solidFill>
                <a:latin typeface="Verdana"/>
              </a:rPr>
              <a:t>mult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m/2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on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>
                <a:latin typeface="Verdana"/>
              </a:rPr>
              <a:t>.</a:t>
            </a:r>
          </a:p>
          <a:p>
            <a:r>
              <a:rPr lang="en-US" dirty="0" smtClean="0">
                <a:latin typeface="Verdana"/>
              </a:rPr>
              <a:t>Conclude: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, as well as all derivatives of Q of order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m/2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vanish on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latin typeface="Verdana"/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00B050"/>
                </a:solidFill>
                <a:latin typeface="Verdana"/>
              </a:rPr>
              <a:t>    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)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Q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vanishes with multiplicity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m/2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on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</a:p>
          <a:p>
            <a:endParaRPr lang="en-US" dirty="0" smtClean="0">
              <a:latin typeface="Verdana"/>
            </a:endParaRPr>
          </a:p>
          <a:p>
            <a:r>
              <a:rPr lang="en-US" dirty="0" smtClean="0">
                <a:latin typeface="Verdana"/>
              </a:rPr>
              <a:t>Next Question: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When is a polynomial </a:t>
            </a:r>
            <a:r>
              <a:rPr lang="en-US" dirty="0" smtClean="0">
                <a:latin typeface="Verdana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of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deg &gt;</a:t>
            </a:r>
            <a:r>
              <a:rPr lang="en-US" dirty="0" smtClean="0">
                <a:latin typeface="Verdana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qn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, or even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latin typeface="Verdana"/>
              </a:rPr>
              <a:t>)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that vanishes with high multiplicity on</a:t>
            </a:r>
            <a:r>
              <a:rPr lang="en-US" dirty="0" smtClean="0">
                <a:latin typeface="Verdana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latin typeface="Verdana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identically zero</a:t>
            </a:r>
            <a:r>
              <a:rPr lang="en-US" dirty="0" smtClean="0">
                <a:latin typeface="Verdana"/>
              </a:rPr>
              <a:t>?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</a:t>
            </a:r>
            <a:r>
              <a:rPr lang="en-US" dirty="0" err="1" smtClean="0"/>
              <a:t>Kakeya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/>
              <a:t>of degree </a:t>
            </a:r>
            <a:r>
              <a:rPr lang="en-US" dirty="0" smtClean="0">
                <a:solidFill>
                  <a:srgbClr val="00B050"/>
                </a:solidFill>
              </a:rPr>
              <a:t>d</a:t>
            </a:r>
            <a:r>
              <a:rPr lang="en-US" dirty="0" smtClean="0"/>
              <a:t> vanishing on </a:t>
            </a:r>
            <a:r>
              <a:rPr lang="en-US" dirty="0" smtClean="0">
                <a:solidFill>
                  <a:srgbClr val="00B050"/>
                </a:solidFill>
              </a:rPr>
              <a:t>K </a:t>
            </a:r>
            <a:r>
              <a:rPr lang="en-US" dirty="0" smtClean="0"/>
              <a:t>with </a:t>
            </a:r>
            <a:r>
              <a:rPr lang="en-US" dirty="0" err="1" smtClean="0"/>
              <a:t>mult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m</a:t>
            </a:r>
            <a:r>
              <a:rPr lang="en-US" dirty="0" smtClean="0"/>
              <a:t>. (can do if 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m/n)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|K| &lt; 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d/n)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 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,</a:t>
            </a:r>
            <a:r>
              <a:rPr lang="en-US" dirty="0" smtClean="0">
                <a:solidFill>
                  <a:srgbClr val="00B050"/>
                </a:solidFill>
              </a:rPr>
              <a:t>  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d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&gt;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m</a:t>
            </a:r>
            <a:r>
              <a:rPr lang="en-US" baseline="30000" dirty="0" err="1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 |K| 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Conclude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vanishes on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  <a:r>
              <a:rPr lang="en-US" dirty="0" smtClean="0"/>
              <a:t> with </a:t>
            </a:r>
            <a:r>
              <a:rPr lang="en-US" dirty="0" err="1" smtClean="0"/>
              <a:t>mult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0B050"/>
                </a:solidFill>
              </a:rPr>
              <a:t>m/2</a:t>
            </a:r>
            <a:r>
              <a:rPr lang="en-US" dirty="0" smtClean="0"/>
              <a:t>.</a:t>
            </a:r>
          </a:p>
          <a:p>
            <a:r>
              <a:rPr lang="en-US" dirty="0" smtClean="0"/>
              <a:t>Apply Extended-Schwartz-</a:t>
            </a:r>
            <a:r>
              <a:rPr lang="en-US" dirty="0" err="1" smtClean="0"/>
              <a:t>Zippel</a:t>
            </a:r>
            <a:r>
              <a:rPr lang="en-US" dirty="0" smtClean="0"/>
              <a:t> to conclude</a:t>
            </a:r>
          </a:p>
          <a:p>
            <a:pPr lvl="2">
              <a:buNone/>
            </a:pPr>
            <a:r>
              <a:rPr lang="en-US" dirty="0" smtClean="0"/>
              <a:t>      (m/2) </a:t>
            </a:r>
            <a:r>
              <a:rPr lang="en-US" dirty="0" err="1" smtClean="0">
                <a:latin typeface="Verdana"/>
              </a:rPr>
              <a:t>q</a:t>
            </a:r>
            <a:r>
              <a:rPr lang="en-US" baseline="30000" dirty="0" err="1" smtClean="0">
                <a:latin typeface="Verdana"/>
              </a:rPr>
              <a:t>n</a:t>
            </a:r>
            <a:r>
              <a:rPr lang="en-US" dirty="0" smtClean="0"/>
              <a:t> &lt; d </a:t>
            </a:r>
            <a:r>
              <a:rPr lang="en-US" dirty="0" smtClean="0">
                <a:latin typeface="Verdana"/>
              </a:rPr>
              <a:t>q</a:t>
            </a:r>
            <a:r>
              <a:rPr lang="en-US" baseline="30000" dirty="0" smtClean="0">
                <a:latin typeface="Verdana"/>
              </a:rPr>
              <a:t>n-1</a:t>
            </a:r>
            <a:r>
              <a:rPr lang="en-US" dirty="0" smtClean="0"/>
              <a:t> </a:t>
            </a:r>
          </a:p>
          <a:p>
            <a:pPr lvl="2">
              <a:buNone/>
            </a:pPr>
            <a:r>
              <a:rPr lang="en-US" b="1" dirty="0" smtClean="0">
                <a:latin typeface="cmsy10"/>
              </a:rPr>
              <a:t>,</a:t>
            </a:r>
            <a:r>
              <a:rPr lang="en-US" dirty="0" smtClean="0"/>
              <a:t>   (m/2) q &lt; d</a:t>
            </a:r>
          </a:p>
          <a:p>
            <a:pPr lvl="2">
              <a:buNone/>
            </a:pPr>
            <a:r>
              <a:rPr lang="en-US" b="1" dirty="0" smtClean="0">
                <a:latin typeface="cmsy10"/>
              </a:rPr>
              <a:t>,</a:t>
            </a:r>
            <a:r>
              <a:rPr lang="en-US" dirty="0" smtClean="0"/>
              <a:t> (</a:t>
            </a:r>
            <a:r>
              <a:rPr lang="en-US" dirty="0" smtClean="0">
                <a:latin typeface="Verdana"/>
              </a:rPr>
              <a:t>m/2)</a:t>
            </a:r>
            <a:r>
              <a:rPr lang="en-US" baseline="30000" dirty="0" smtClean="0">
                <a:latin typeface="Verdana"/>
              </a:rPr>
              <a:t>n</a:t>
            </a:r>
            <a:r>
              <a:rPr lang="en-US" dirty="0" smtClean="0"/>
              <a:t> </a:t>
            </a:r>
            <a:r>
              <a:rPr lang="en-US" dirty="0" err="1" smtClean="0">
                <a:latin typeface="Verdana"/>
              </a:rPr>
              <a:t>q</a:t>
            </a:r>
            <a:r>
              <a:rPr lang="en-US" baseline="30000" dirty="0" err="1" smtClean="0">
                <a:latin typeface="Verdana"/>
              </a:rPr>
              <a:t>n</a:t>
            </a:r>
            <a:r>
              <a:rPr lang="en-US" dirty="0" smtClean="0"/>
              <a:t> &lt; </a:t>
            </a:r>
            <a:r>
              <a:rPr lang="en-US" dirty="0" err="1" smtClean="0">
                <a:latin typeface="Verdana"/>
              </a:rPr>
              <a:t>d</a:t>
            </a:r>
            <a:r>
              <a:rPr lang="en-US" baseline="30000" dirty="0" err="1" smtClean="0">
                <a:latin typeface="Verdana"/>
              </a:rPr>
              <a:t>n</a:t>
            </a:r>
            <a:r>
              <a:rPr lang="en-US" dirty="0" smtClean="0"/>
              <a:t> = </a:t>
            </a:r>
            <a:r>
              <a:rPr lang="en-US" dirty="0" err="1" smtClean="0">
                <a:latin typeface="Verdana"/>
              </a:rPr>
              <a:t>m</a:t>
            </a:r>
            <a:r>
              <a:rPr lang="en-US" baseline="30000" dirty="0" err="1" smtClean="0">
                <a:latin typeface="Verdana"/>
              </a:rPr>
              <a:t>n</a:t>
            </a:r>
            <a:r>
              <a:rPr lang="en-US" dirty="0" smtClean="0"/>
              <a:t> |K| </a:t>
            </a:r>
          </a:p>
          <a:p>
            <a:pPr lvl="2">
              <a:buNone/>
            </a:pPr>
            <a:endParaRPr lang="en-US" dirty="0" smtClean="0"/>
          </a:p>
          <a:p>
            <a:r>
              <a:rPr lang="en-US" dirty="0" smtClean="0"/>
              <a:t>Conclude: </a:t>
            </a:r>
            <a:r>
              <a:rPr lang="en-US" dirty="0" smtClean="0">
                <a:solidFill>
                  <a:srgbClr val="00B050"/>
                </a:solidFill>
              </a:rPr>
              <a:t>|K|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¸</a:t>
            </a:r>
            <a:r>
              <a:rPr lang="en-US" dirty="0" smtClean="0">
                <a:solidFill>
                  <a:srgbClr val="00B050"/>
                </a:solidFill>
              </a:rPr>
              <a:t> (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q/2)</a:t>
            </a:r>
            <a:r>
              <a:rPr lang="en-US" baseline="30000" dirty="0" smtClean="0">
                <a:solidFill>
                  <a:srgbClr val="00B050"/>
                </a:solidFill>
                <a:latin typeface="Verdana"/>
              </a:rPr>
              <a:t>n</a:t>
            </a:r>
          </a:p>
          <a:p>
            <a:endParaRPr lang="en-US" baseline="30000" dirty="0" smtClean="0">
              <a:latin typeface="Verdana"/>
            </a:endParaRPr>
          </a:p>
          <a:p>
            <a:r>
              <a:rPr lang="en-US" dirty="0" smtClean="0"/>
              <a:t>Tight to within </a:t>
            </a:r>
            <a:r>
              <a:rPr lang="en-US" dirty="0" smtClean="0">
                <a:solidFill>
                  <a:srgbClr val="00B050"/>
                </a:solidFill>
              </a:rPr>
              <a:t>2+o(1) </a:t>
            </a:r>
            <a:r>
              <a:rPr lang="en-US" dirty="0" smtClean="0"/>
              <a:t>factor!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29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Consequences for Mergers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analyze [DW] </a:t>
            </a:r>
            <a:r>
              <a:rPr lang="en-US" dirty="0" smtClean="0">
                <a:solidFill>
                  <a:srgbClr val="CC00CC"/>
                </a:solidFill>
              </a:rPr>
              <a:t>merger </a:t>
            </a:r>
            <a:r>
              <a:rPr lang="en-US" dirty="0" smtClean="0"/>
              <a:t>when </a:t>
            </a:r>
            <a:r>
              <a:rPr lang="en-US" dirty="0" smtClean="0">
                <a:solidFill>
                  <a:srgbClr val="00B050"/>
                </a:solidFill>
              </a:rPr>
              <a:t>q &gt; k</a:t>
            </a:r>
            <a:r>
              <a:rPr lang="en-US" dirty="0" smtClean="0"/>
              <a:t> very small, </a:t>
            </a:r>
            <a:r>
              <a:rPr lang="en-US" dirty="0" smtClean="0">
                <a:solidFill>
                  <a:srgbClr val="00B050"/>
                </a:solidFill>
              </a:rPr>
              <a:t>n </a:t>
            </a:r>
            <a:r>
              <a:rPr lang="en-US" dirty="0" smtClean="0"/>
              <a:t>growing; </a:t>
            </a:r>
          </a:p>
          <a:p>
            <a:pPr lvl="1"/>
            <a:r>
              <a:rPr lang="en-US" dirty="0" smtClean="0"/>
              <a:t>Analysis similar, more calculations.</a:t>
            </a:r>
          </a:p>
          <a:p>
            <a:pPr lvl="1"/>
            <a:r>
              <a:rPr lang="en-US" dirty="0" smtClean="0"/>
              <a:t>Yields: Seed length </a:t>
            </a:r>
            <a:r>
              <a:rPr lang="en-US" dirty="0" smtClean="0">
                <a:solidFill>
                  <a:srgbClr val="00B050"/>
                </a:solidFill>
              </a:rPr>
              <a:t>log q</a:t>
            </a:r>
            <a:r>
              <a:rPr lang="en-US" dirty="0" smtClean="0"/>
              <a:t> (independent of </a:t>
            </a:r>
            <a:r>
              <a:rPr lang="en-US" dirty="0" smtClean="0">
                <a:solidFill>
                  <a:srgbClr val="00B050"/>
                </a:solidFill>
              </a:rPr>
              <a:t>n</a:t>
            </a:r>
            <a:r>
              <a:rPr lang="en-US" dirty="0" smtClean="0"/>
              <a:t>).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By combining it with every other ingredient in </a:t>
            </a:r>
            <a:r>
              <a:rPr lang="en-US" dirty="0" smtClean="0">
                <a:solidFill>
                  <a:srgbClr val="CC00CC"/>
                </a:solidFill>
              </a:rPr>
              <a:t>extractor</a:t>
            </a:r>
            <a:r>
              <a:rPr lang="en-US" dirty="0" smtClean="0"/>
              <a:t> construction: </a:t>
            </a:r>
          </a:p>
          <a:p>
            <a:pPr lvl="1"/>
            <a:r>
              <a:rPr lang="en-US" dirty="0" smtClean="0"/>
              <a:t>Extract all but vanishing entropy (</a:t>
            </a:r>
            <a:r>
              <a:rPr lang="en-US" dirty="0" smtClean="0">
                <a:solidFill>
                  <a:srgbClr val="00B050"/>
                </a:solidFill>
              </a:rPr>
              <a:t>k – o(k) </a:t>
            </a:r>
            <a:r>
              <a:rPr lang="en-US" dirty="0" smtClean="0"/>
              <a:t>bits of randomness from 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n,k</a:t>
            </a:r>
            <a:r>
              <a:rPr lang="en-US" dirty="0" smtClean="0">
                <a:solidFill>
                  <a:srgbClr val="00B050"/>
                </a:solidFill>
              </a:rPr>
              <a:t>) </a:t>
            </a:r>
            <a:r>
              <a:rPr lang="en-US" dirty="0" smtClean="0"/>
              <a:t>sources) using </a:t>
            </a:r>
            <a:r>
              <a:rPr lang="en-US" dirty="0" smtClean="0">
                <a:solidFill>
                  <a:srgbClr val="00B050"/>
                </a:solidFill>
              </a:rPr>
              <a:t>O(log n) </a:t>
            </a:r>
            <a:r>
              <a:rPr lang="en-US" dirty="0" smtClean="0"/>
              <a:t>seed (for the first time).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Combinatorics</a:t>
            </a:r>
            <a:r>
              <a:rPr lang="en-US" dirty="0" smtClean="0"/>
              <a:t> does have many “techniques” …</a:t>
            </a:r>
          </a:p>
          <a:p>
            <a:endParaRPr lang="en-US" dirty="0" smtClean="0"/>
          </a:p>
          <a:p>
            <a:r>
              <a:rPr lang="en-US" dirty="0" smtClean="0"/>
              <a:t>Polynomial method + Multiplicity method adds to the body</a:t>
            </a:r>
          </a:p>
          <a:p>
            <a:pPr lvl="1"/>
            <a:r>
              <a:rPr lang="en-US" dirty="0" smtClean="0"/>
              <a:t>Supporting evidence:</a:t>
            </a:r>
          </a:p>
          <a:p>
            <a:pPr lvl="2"/>
            <a:r>
              <a:rPr lang="en-US" dirty="0" smtClean="0"/>
              <a:t>List decoding</a:t>
            </a:r>
          </a:p>
          <a:p>
            <a:pPr lvl="2"/>
            <a:r>
              <a:rPr lang="en-US" dirty="0" err="1" smtClean="0"/>
              <a:t>Kakeya</a:t>
            </a:r>
            <a:r>
              <a:rPr lang="en-US" dirty="0" smtClean="0"/>
              <a:t> sets</a:t>
            </a:r>
          </a:p>
          <a:p>
            <a:pPr lvl="2"/>
            <a:r>
              <a:rPr lang="en-US" dirty="0" smtClean="0"/>
              <a:t>Extractors/Mergers</a:t>
            </a:r>
          </a:p>
          <a:p>
            <a:pPr lvl="2"/>
            <a:r>
              <a:rPr lang="en-US" dirty="0" smtClean="0"/>
              <a:t>Others …</a:t>
            </a:r>
          </a:p>
          <a:p>
            <a:pPr lvl="2"/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[Woodruff-</a:t>
            </a:r>
            <a:r>
              <a:rPr lang="en-US" dirty="0" err="1" smtClean="0">
                <a:solidFill>
                  <a:srgbClr val="C00000"/>
                </a:solidFill>
              </a:rPr>
              <a:t>Yekhanin</a:t>
            </a:r>
            <a:r>
              <a:rPr lang="en-US" dirty="0" smtClean="0">
                <a:solidFill>
                  <a:srgbClr val="C00000"/>
                </a:solidFill>
              </a:rPr>
              <a:t> ‘05]: </a:t>
            </a:r>
            <a:r>
              <a:rPr lang="en-US" dirty="0" smtClean="0"/>
              <a:t>An elegant construction of novel “LDCs (locally decodable codes)”. [</a:t>
            </a:r>
            <a:r>
              <a:rPr lang="en-US" dirty="0" smtClean="0">
                <a:solidFill>
                  <a:srgbClr val="7030A0"/>
                </a:solidFill>
              </a:rPr>
              <a:t>Outclassed by more recent </a:t>
            </a:r>
            <a:r>
              <a:rPr lang="en-US" dirty="0" err="1" smtClean="0">
                <a:solidFill>
                  <a:srgbClr val="7030A0"/>
                </a:solidFill>
              </a:rPr>
              <a:t>Yekhanin</a:t>
            </a:r>
            <a:r>
              <a:rPr lang="en-US" dirty="0" smtClean="0">
                <a:solidFill>
                  <a:srgbClr val="7030A0"/>
                </a:solidFill>
              </a:rPr>
              <a:t>/</a:t>
            </a:r>
            <a:r>
              <a:rPr lang="en-US" dirty="0" err="1" smtClean="0">
                <a:solidFill>
                  <a:srgbClr val="7030A0"/>
                </a:solidFill>
              </a:rPr>
              <a:t>Efremenko</a:t>
            </a:r>
            <a:r>
              <a:rPr lang="en-US" dirty="0" smtClean="0">
                <a:solidFill>
                  <a:srgbClr val="7030A0"/>
                </a:solidFill>
              </a:rPr>
              <a:t> constructions</a:t>
            </a:r>
            <a:r>
              <a:rPr lang="en-US" dirty="0" smtClean="0"/>
              <a:t>.]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[</a:t>
            </a:r>
            <a:r>
              <a:rPr lang="en-US" dirty="0" err="1" smtClean="0">
                <a:solidFill>
                  <a:srgbClr val="C00000"/>
                </a:solidFill>
              </a:rPr>
              <a:t>Kopparty</a:t>
            </a:r>
            <a:r>
              <a:rPr lang="en-US" dirty="0" smtClean="0">
                <a:solidFill>
                  <a:srgbClr val="C00000"/>
                </a:solidFill>
              </a:rPr>
              <a:t>-Lev-</a:t>
            </a:r>
            <a:r>
              <a:rPr lang="en-US" dirty="0" err="1" smtClean="0">
                <a:solidFill>
                  <a:srgbClr val="C00000"/>
                </a:solidFill>
              </a:rPr>
              <a:t>Saraf</a:t>
            </a:r>
            <a:r>
              <a:rPr lang="en-US" dirty="0" smtClean="0">
                <a:solidFill>
                  <a:srgbClr val="C00000"/>
                </a:solidFill>
              </a:rPr>
              <a:t>-S. ‘09]:</a:t>
            </a:r>
            <a:r>
              <a:rPr lang="en-US" dirty="0" smtClean="0"/>
              <a:t> Higher dimensional </a:t>
            </a:r>
            <a:r>
              <a:rPr lang="en-US" dirty="0" err="1" smtClean="0"/>
              <a:t>Kakeya</a:t>
            </a:r>
            <a:r>
              <a:rPr lang="en-US" dirty="0" smtClean="0"/>
              <a:t> problems.</a:t>
            </a:r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 err="1" smtClean="0"/>
              <a:t>Kopparty-Saraf-Yekhanin</a:t>
            </a:r>
            <a:r>
              <a:rPr lang="en-US" dirty="0" smtClean="0"/>
              <a:t> </a:t>
            </a:r>
            <a:r>
              <a:rPr lang="en-US" dirty="0" smtClean="0"/>
              <a:t>‘2011]: </a:t>
            </a:r>
            <a:r>
              <a:rPr lang="en-US" dirty="0" smtClean="0"/>
              <a:t>Locally decodable codes with Rate </a:t>
            </a:r>
            <a:r>
              <a:rPr lang="en-US" dirty="0" smtClean="0">
                <a:latin typeface="Symbol"/>
                <a:sym typeface="Symbol"/>
              </a:rPr>
              <a:t></a:t>
            </a:r>
            <a:r>
              <a:rPr lang="en-US" dirty="0" smtClean="0"/>
              <a:t> 1.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(?) technique in </a:t>
            </a:r>
            <a:r>
              <a:rPr lang="en-US" dirty="0" err="1" smtClean="0"/>
              <a:t>combinatorics</a:t>
            </a:r>
            <a:r>
              <a:rPr lang="en-US" dirty="0" smtClean="0"/>
              <a:t> …</a:t>
            </a:r>
          </a:p>
          <a:p>
            <a:endParaRPr lang="en-US" dirty="0" smtClean="0"/>
          </a:p>
          <a:p>
            <a:r>
              <a:rPr lang="en-US" dirty="0" smtClean="0"/>
              <a:t>Polynomial method + Multiplicity method</a:t>
            </a:r>
          </a:p>
          <a:p>
            <a:pPr lvl="1"/>
            <a:r>
              <a:rPr lang="en-US" dirty="0" smtClean="0"/>
              <a:t>Supporting evidence:</a:t>
            </a:r>
          </a:p>
          <a:p>
            <a:pPr lvl="2"/>
            <a:r>
              <a:rPr lang="en-US" dirty="0" smtClean="0"/>
              <a:t>List decoding</a:t>
            </a:r>
          </a:p>
          <a:p>
            <a:pPr lvl="2"/>
            <a:r>
              <a:rPr lang="en-US" dirty="0" err="1" smtClean="0"/>
              <a:t>Kakeya</a:t>
            </a:r>
            <a:r>
              <a:rPr lang="en-US" dirty="0" smtClean="0"/>
              <a:t> sets</a:t>
            </a:r>
          </a:p>
          <a:p>
            <a:pPr lvl="2"/>
            <a:r>
              <a:rPr lang="en-US" dirty="0" smtClean="0"/>
              <a:t>Extractors/Mergers</a:t>
            </a:r>
          </a:p>
          <a:p>
            <a:pPr lvl="2"/>
            <a:r>
              <a:rPr lang="en-US" dirty="0" smtClean="0"/>
              <a:t>Locally decodable codes </a:t>
            </a:r>
            <a:r>
              <a:rPr lang="en-US" dirty="0" smtClean="0"/>
              <a:t>…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More?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1828800"/>
          </a:xfrm>
        </p:spPr>
        <p:txBody>
          <a:bodyPr/>
          <a:lstStyle/>
          <a:p>
            <a:r>
              <a:rPr lang="en-US" sz="4400" dirty="0" smtClean="0"/>
              <a:t>Thank You</a:t>
            </a:r>
            <a:endParaRPr lang="en-US" sz="44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2643188" y="6245225"/>
            <a:ext cx="3859212" cy="476250"/>
          </a:xfrm>
        </p:spPr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Mutliplicity</a:t>
            </a:r>
            <a:r>
              <a:rPr lang="en-US" dirty="0" smtClean="0"/>
              <a:t> =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 vanishes with multiplicity 2 at (</a:t>
            </a:r>
            <a:r>
              <a:rPr lang="en-US" dirty="0" err="1" smtClean="0"/>
              <a:t>a,b</a:t>
            </a:r>
            <a:r>
              <a:rPr lang="en-US" dirty="0" smtClean="0"/>
              <a:t>):</a:t>
            </a:r>
          </a:p>
          <a:p>
            <a:pPr lvl="1"/>
            <a:r>
              <a:rPr lang="en-US" dirty="0" smtClean="0"/>
              <a:t>Q(</a:t>
            </a:r>
            <a:r>
              <a:rPr lang="en-US" dirty="0" err="1" smtClean="0"/>
              <a:t>a,b</a:t>
            </a:r>
            <a:r>
              <a:rPr lang="en-US" dirty="0" smtClean="0"/>
              <a:t>) = 0; \del Q/del x(</a:t>
            </a:r>
            <a:r>
              <a:rPr lang="en-US" dirty="0" err="1" smtClean="0"/>
              <a:t>a,b</a:t>
            </a:r>
            <a:r>
              <a:rPr lang="en-US" dirty="0" smtClean="0"/>
              <a:t>) = 0; \del Q/\del y(</a:t>
            </a:r>
            <a:r>
              <a:rPr lang="en-US" dirty="0" err="1" smtClean="0"/>
              <a:t>a,b</a:t>
            </a:r>
            <a:r>
              <a:rPr lang="en-US" dirty="0" smtClean="0"/>
              <a:t>) = 0.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\del Q/del x? </a:t>
            </a:r>
          </a:p>
          <a:p>
            <a:pPr lvl="2"/>
            <a:r>
              <a:rPr lang="en-US" dirty="0" err="1" smtClean="0"/>
              <a:t>Hasse</a:t>
            </a:r>
            <a:r>
              <a:rPr lang="en-US" dirty="0" smtClean="0"/>
              <a:t> derivative;</a:t>
            </a:r>
          </a:p>
          <a:p>
            <a:pPr lvl="2"/>
            <a:r>
              <a:rPr lang="en-US" dirty="0" smtClean="0"/>
              <a:t>Linear function of coefficients of Q;</a:t>
            </a:r>
          </a:p>
          <a:p>
            <a:pPr lvl="2"/>
            <a:r>
              <a:rPr lang="en-US" dirty="0" smtClean="0"/>
              <a:t>Q zero with multiplicity m at (</a:t>
            </a:r>
            <a:r>
              <a:rPr lang="en-US" dirty="0" err="1" smtClean="0"/>
              <a:t>a,b</a:t>
            </a:r>
            <a:r>
              <a:rPr lang="en-US" dirty="0" smtClean="0"/>
              <a:t>) and C=(x(t),y(t)) is curve passing through (</a:t>
            </a:r>
            <a:r>
              <a:rPr lang="en-US" dirty="0" err="1" smtClean="0"/>
              <a:t>a,b</a:t>
            </a:r>
            <a:r>
              <a:rPr lang="en-US" dirty="0" smtClean="0"/>
              <a:t>), then Q|C has zero of </a:t>
            </a:r>
            <a:r>
              <a:rPr lang="en-US" dirty="0" err="1" smtClean="0"/>
              <a:t>multiplity</a:t>
            </a:r>
            <a:r>
              <a:rPr lang="en-US" dirty="0" smtClean="0"/>
              <a:t> m at (</a:t>
            </a:r>
            <a:r>
              <a:rPr lang="en-US" dirty="0" err="1" smtClean="0"/>
              <a:t>a,b</a:t>
            </a:r>
            <a:r>
              <a:rPr lang="en-US" dirty="0" smtClean="0"/>
              <a:t>).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Concerns from Merger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Recall </a:t>
            </a:r>
            <a:r>
              <a:rPr lang="en-US" dirty="0" smtClean="0">
                <a:solidFill>
                  <a:srgbClr val="CC00CC"/>
                </a:solidFill>
              </a:rPr>
              <a:t>Merger</a:t>
            </a:r>
            <a:r>
              <a:rPr lang="en-US" dirty="0" smtClean="0">
                <a:solidFill>
                  <a:srgbClr val="00B050"/>
                </a:solidFill>
              </a:rPr>
              <a:t>(X</a:t>
            </a:r>
            <a:r>
              <a:rPr lang="en-US" baseline="-25000" dirty="0" smtClean="0">
                <a:solidFill>
                  <a:srgbClr val="00B050"/>
                </a:solidFill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B050"/>
                </a:solidFill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</a:rPr>
              <a:t>k</a:t>
            </a:r>
            <a:r>
              <a:rPr lang="en-US" dirty="0" smtClean="0">
                <a:solidFill>
                  <a:srgbClr val="00B050"/>
                </a:solidFill>
              </a:rPr>
              <a:t>; s) = f(s),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smtClean="0">
                <a:solidFill>
                  <a:srgbClr val="0000FF"/>
                </a:solidFill>
              </a:rPr>
              <a:t>where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 …, </a:t>
            </a:r>
            <a:r>
              <a:rPr lang="en-US" dirty="0" err="1" smtClean="0">
                <a:solidFill>
                  <a:srgbClr val="00B050"/>
                </a:solidFill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</a:rPr>
              <a:t>k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F</a:t>
            </a:r>
            <a:r>
              <a:rPr lang="en-US" baseline="-25000" dirty="0" err="1" smtClean="0">
                <a:solidFill>
                  <a:srgbClr val="00B050"/>
                </a:solidFill>
              </a:rPr>
              <a:t>q</a:t>
            </a:r>
            <a:r>
              <a:rPr lang="en-US" baseline="30000" dirty="0" err="1" smtClean="0">
                <a:solidFill>
                  <a:srgbClr val="00B050"/>
                </a:solidFill>
              </a:rPr>
              <a:t>n</a:t>
            </a:r>
            <a:r>
              <a:rPr lang="en-US" dirty="0" smtClean="0">
                <a:solidFill>
                  <a:srgbClr val="00B050"/>
                </a:solidFill>
              </a:rPr>
              <a:t>; s </a:t>
            </a:r>
            <a:r>
              <a:rPr lang="en-US" b="1" dirty="0" smtClean="0">
                <a:solidFill>
                  <a:srgbClr val="00B050"/>
                </a:solidFill>
                <a:latin typeface="cmsy10"/>
              </a:rPr>
              <a:t>2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F</a:t>
            </a:r>
            <a:r>
              <a:rPr lang="en-US" baseline="-25000" dirty="0" err="1" smtClean="0">
                <a:solidFill>
                  <a:srgbClr val="00B050"/>
                </a:solidFill>
              </a:rPr>
              <a:t>q</a:t>
            </a:r>
            <a:endParaRPr lang="en-US" baseline="-25000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smtClean="0">
                <a:solidFill>
                  <a:srgbClr val="0000FF"/>
                </a:solidFill>
              </a:rPr>
              <a:t>and </a:t>
            </a:r>
            <a:r>
              <a:rPr lang="en-US" dirty="0" smtClean="0">
                <a:solidFill>
                  <a:srgbClr val="00B050"/>
                </a:solidFill>
              </a:rPr>
              <a:t>f</a:t>
            </a:r>
            <a:r>
              <a:rPr lang="en-US" dirty="0" smtClean="0">
                <a:solidFill>
                  <a:srgbClr val="0000FF"/>
                </a:solidFill>
              </a:rPr>
              <a:t> is deg. </a:t>
            </a:r>
            <a:r>
              <a:rPr lang="en-US" dirty="0" smtClean="0">
                <a:solidFill>
                  <a:srgbClr val="00B050"/>
                </a:solidFill>
              </a:rPr>
              <a:t>k-1 </a:t>
            </a:r>
            <a:r>
              <a:rPr lang="en-US" dirty="0" smtClean="0">
                <a:solidFill>
                  <a:srgbClr val="0000FF"/>
                </a:solidFill>
              </a:rPr>
              <a:t>curve</a:t>
            </a:r>
            <a:r>
              <a:rPr lang="en-US" baseline="30000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s.t</a:t>
            </a:r>
            <a:r>
              <a:rPr lang="en-US" dirty="0" smtClean="0">
                <a:solidFill>
                  <a:srgbClr val="0000FF"/>
                </a:solidFill>
              </a:rPr>
              <a:t>. </a:t>
            </a:r>
            <a:r>
              <a:rPr lang="en-US" dirty="0" smtClean="0">
                <a:solidFill>
                  <a:srgbClr val="00B050"/>
                </a:solidFill>
              </a:rPr>
              <a:t>f(</a:t>
            </a:r>
            <a:r>
              <a:rPr lang="en-US" dirty="0" err="1" smtClean="0">
                <a:solidFill>
                  <a:srgbClr val="00B050"/>
                </a:solidFill>
              </a:rPr>
              <a:t>i</a:t>
            </a:r>
            <a:r>
              <a:rPr lang="en-US" dirty="0" smtClean="0">
                <a:solidFill>
                  <a:srgbClr val="00B050"/>
                </a:solidFill>
              </a:rPr>
              <a:t>) = X</a:t>
            </a:r>
            <a:r>
              <a:rPr lang="en-US" baseline="-25000" dirty="0" smtClean="0">
                <a:solidFill>
                  <a:srgbClr val="00B050"/>
                </a:solidFill>
              </a:rPr>
              <a:t>i</a:t>
            </a:r>
            <a:r>
              <a:rPr lang="en-US" dirty="0" smtClean="0"/>
              <a:t>.</a:t>
            </a:r>
          </a:p>
          <a:p>
            <a:r>
              <a:rPr lang="en-US" dirty="0" smtClean="0"/>
              <a:t>[DW08] </a:t>
            </a:r>
            <a:r>
              <a:rPr lang="en-US" dirty="0" smtClean="0">
                <a:solidFill>
                  <a:srgbClr val="0000FF"/>
                </a:solidFill>
              </a:rPr>
              <a:t>Say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random; Let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be such that </a:t>
            </a:r>
            <a:r>
              <a:rPr lang="en-US" b="1" dirty="0" smtClean="0">
                <a:solidFill>
                  <a:srgbClr val="00B050"/>
                </a:solidFill>
                <a:latin typeface="cmmi10"/>
              </a:rPr>
              <a:t>²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fraction of choices of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</a:rPr>
              <a:t>,…,</a:t>
            </a:r>
            <a:r>
              <a:rPr lang="en-US" dirty="0" err="1" smtClean="0">
                <a:solidFill>
                  <a:srgbClr val="0000FF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00FF"/>
                </a:solidFill>
                <a:latin typeface="Verdana"/>
              </a:rPr>
              <a:t>k</a:t>
            </a:r>
            <a:r>
              <a:rPr lang="en-US" dirty="0" smtClean="0">
                <a:solidFill>
                  <a:srgbClr val="0000FF"/>
                </a:solidFill>
              </a:rPr>
              <a:t> lead to “bad” curves such that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B050"/>
                </a:solidFill>
                <a:latin typeface="cmmi10"/>
              </a:rPr>
              <a:t>²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fraction of </a:t>
            </a:r>
            <a:r>
              <a:rPr lang="en-US" dirty="0" err="1" smtClean="0">
                <a:solidFill>
                  <a:srgbClr val="00B050"/>
                </a:solidFill>
              </a:rPr>
              <a:t>s</a:t>
            </a:r>
            <a:r>
              <a:rPr lang="en-US" dirty="0" err="1" smtClean="0">
                <a:solidFill>
                  <a:srgbClr val="0000FF"/>
                </a:solidFill>
              </a:rPr>
              <a:t>’s</a:t>
            </a:r>
            <a:r>
              <a:rPr lang="en-US" dirty="0" smtClean="0">
                <a:solidFill>
                  <a:srgbClr val="0000FF"/>
                </a:solidFill>
              </a:rPr>
              <a:t> such that </a:t>
            </a:r>
            <a:r>
              <a:rPr lang="en-US" dirty="0" smtClean="0">
                <a:solidFill>
                  <a:srgbClr val="CC00CC"/>
                </a:solidFill>
              </a:rPr>
              <a:t>Merger </a:t>
            </a:r>
            <a:r>
              <a:rPr lang="en-US" dirty="0" smtClean="0">
                <a:solidFill>
                  <a:srgbClr val="0000FF"/>
                </a:solidFill>
              </a:rPr>
              <a:t>outputs value in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with high probability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Build low-deg. poly </a:t>
            </a:r>
            <a:r>
              <a:rPr lang="en-US" dirty="0" smtClean="0">
                <a:solidFill>
                  <a:srgbClr val="00B050"/>
                </a:solidFill>
              </a:rPr>
              <a:t>Q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FF"/>
                </a:solidFill>
              </a:rPr>
              <a:t>vanishing on </a:t>
            </a:r>
            <a:r>
              <a:rPr lang="en-US" dirty="0" smtClean="0">
                <a:solidFill>
                  <a:srgbClr val="00B050"/>
                </a:solidFill>
              </a:rPr>
              <a:t>K</a:t>
            </a:r>
            <a:r>
              <a:rPr lang="en-US" dirty="0" smtClean="0">
                <a:solidFill>
                  <a:srgbClr val="0000FF"/>
                </a:solidFill>
              </a:rPr>
              <a:t>; Prove for “bad” curves,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>
                <a:solidFill>
                  <a:srgbClr val="0000FF"/>
                </a:solidFill>
              </a:rPr>
              <a:t>vanishes on curve; and so </a:t>
            </a:r>
            <a:r>
              <a:rPr lang="en-US" dirty="0" smtClean="0">
                <a:solidFill>
                  <a:srgbClr val="00B050"/>
                </a:solidFill>
              </a:rPr>
              <a:t>Q </a:t>
            </a:r>
            <a:r>
              <a:rPr lang="en-US" dirty="0" smtClean="0">
                <a:solidFill>
                  <a:srgbClr val="0000FF"/>
                </a:solidFill>
              </a:rPr>
              <a:t>vanishes on </a:t>
            </a:r>
            <a:r>
              <a:rPr lang="en-US" b="1" dirty="0" smtClean="0">
                <a:solidFill>
                  <a:srgbClr val="0000FF"/>
                </a:solidFill>
                <a:latin typeface="cmmi10"/>
              </a:rPr>
              <a:t>²</a:t>
            </a:r>
            <a:r>
              <a:rPr lang="en-US" dirty="0" smtClean="0">
                <a:solidFill>
                  <a:srgbClr val="0000FF"/>
                </a:solidFill>
              </a:rPr>
              <a:t>-fraction of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00FF"/>
                </a:solidFill>
                <a:latin typeface="Verdana"/>
              </a:rPr>
              <a:t>’s</a:t>
            </a:r>
            <a:r>
              <a:rPr lang="en-US" dirty="0" smtClean="0">
                <a:solidFill>
                  <a:srgbClr val="0000FF"/>
                </a:solidFill>
              </a:rPr>
              <a:t> (and so </a:t>
            </a:r>
            <a:r>
              <a:rPr lang="en-US" b="1" dirty="0" smtClean="0">
                <a:solidFill>
                  <a:srgbClr val="00B050"/>
                </a:solidFill>
                <a:latin typeface="cmmi10"/>
              </a:rPr>
              <a:t>²</a:t>
            </a:r>
            <a:r>
              <a:rPr lang="en-US" dirty="0" smtClean="0">
                <a:solidFill>
                  <a:srgbClr val="0000FF"/>
                </a:solidFill>
              </a:rPr>
              <a:t>-fraction of domain). 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Apply Schwartz-</a:t>
            </a:r>
            <a:r>
              <a:rPr lang="en-US" dirty="0" err="1" smtClean="0">
                <a:solidFill>
                  <a:srgbClr val="0000FF"/>
                </a:solidFill>
              </a:rPr>
              <a:t>Zippel</a:t>
            </a:r>
            <a:r>
              <a:rPr lang="en-US" dirty="0" smtClean="0">
                <a:solidFill>
                  <a:srgbClr val="0000FF"/>
                </a:solidFill>
              </a:rPr>
              <a:t>. &gt;&lt;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common?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a set in </a:t>
            </a:r>
            <a:r>
              <a:rPr lang="en-US" dirty="0" err="1" smtClean="0">
                <a:solidFill>
                  <a:srgbClr val="C00000"/>
                </a:solidFill>
                <a:latin typeface="Verdana"/>
              </a:rPr>
              <a:t>F</a:t>
            </a:r>
            <a:r>
              <a:rPr lang="en-US" baseline="-25000" dirty="0" err="1" smtClean="0">
                <a:solidFill>
                  <a:srgbClr val="C00000"/>
                </a:solidFill>
                <a:latin typeface="Verdana"/>
              </a:rPr>
              <a:t>q</a:t>
            </a:r>
            <a:r>
              <a:rPr lang="en-US" baseline="30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with nice algebraic properties, want to understand its size.</a:t>
            </a:r>
          </a:p>
          <a:p>
            <a:pPr lvl="1"/>
            <a:r>
              <a:rPr lang="en-US" dirty="0" err="1" smtClean="0"/>
              <a:t>Kakeya</a:t>
            </a:r>
            <a:r>
              <a:rPr lang="en-US" dirty="0" smtClean="0"/>
              <a:t> Problem: </a:t>
            </a:r>
          </a:p>
          <a:p>
            <a:pPr lvl="2"/>
            <a:r>
              <a:rPr lang="en-US" dirty="0" smtClean="0"/>
              <a:t>The </a:t>
            </a:r>
            <a:r>
              <a:rPr lang="en-US" dirty="0" err="1" smtClean="0"/>
              <a:t>Kakeya</a:t>
            </a:r>
            <a:r>
              <a:rPr lang="en-US" dirty="0" smtClean="0"/>
              <a:t> Set.</a:t>
            </a:r>
          </a:p>
          <a:p>
            <a:pPr lvl="1"/>
            <a:r>
              <a:rPr lang="en-US" dirty="0" smtClean="0"/>
              <a:t>Merger Problem: </a:t>
            </a:r>
          </a:p>
          <a:p>
            <a:pPr lvl="2"/>
            <a:r>
              <a:rPr lang="en-US" dirty="0" smtClean="0"/>
              <a:t>Any set </a:t>
            </a:r>
            <a:r>
              <a:rPr lang="en-US" dirty="0" smtClean="0">
                <a:solidFill>
                  <a:srgbClr val="C00000"/>
                </a:solidFill>
              </a:rPr>
              <a:t>T </a:t>
            </a:r>
            <a:r>
              <a:rPr lang="en-US" b="1" dirty="0" smtClean="0">
                <a:solidFill>
                  <a:srgbClr val="C00000"/>
                </a:solidFill>
                <a:latin typeface="cmsy10"/>
              </a:rPr>
              <a:t>½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Verdana"/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  <a:latin typeface="Verdana"/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that contains </a:t>
            </a:r>
            <a:r>
              <a:rPr lang="en-US" b="1" dirty="0" smtClean="0">
                <a:solidFill>
                  <a:srgbClr val="C00000"/>
                </a:solidFill>
                <a:latin typeface="cmmi10"/>
              </a:rPr>
              <a:t>²</a:t>
            </a:r>
            <a:r>
              <a:rPr lang="en-US" dirty="0" smtClean="0"/>
              <a:t>-fraction of points on </a:t>
            </a:r>
            <a:r>
              <a:rPr lang="en-US" b="1" dirty="0" smtClean="0">
                <a:solidFill>
                  <a:srgbClr val="C00000"/>
                </a:solidFill>
                <a:latin typeface="cmmi10"/>
              </a:rPr>
              <a:t>²</a:t>
            </a:r>
            <a:r>
              <a:rPr lang="en-US" dirty="0" smtClean="0"/>
              <a:t>-fraction of merger curves.</a:t>
            </a:r>
          </a:p>
          <a:p>
            <a:pPr lvl="2"/>
            <a:r>
              <a:rPr lang="en-US" dirty="0" smtClean="0"/>
              <a:t>If </a:t>
            </a:r>
            <a:r>
              <a:rPr lang="en-US" dirty="0" smtClean="0">
                <a:solidFill>
                  <a:srgbClr val="C00000"/>
                </a:solidFill>
              </a:rPr>
              <a:t>T</a:t>
            </a:r>
            <a:r>
              <a:rPr lang="en-US" dirty="0" smtClean="0"/>
              <a:t> small, then output is non-uniform; else output is uniform.</a:t>
            </a:r>
          </a:p>
          <a:p>
            <a:pPr lvl="1"/>
            <a:r>
              <a:rPr lang="en-US" dirty="0" smtClean="0"/>
              <a:t>List-decoding problem: </a:t>
            </a:r>
          </a:p>
          <a:p>
            <a:pPr lvl="2"/>
            <a:r>
              <a:rPr lang="en-US" dirty="0" smtClean="0"/>
              <a:t>The union of the sets.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Randomness Extractors and Mergers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Extractors</a:t>
            </a:r>
            <a:r>
              <a:rPr lang="en-US" dirty="0" smtClean="0">
                <a:solidFill>
                  <a:srgbClr val="6600CC"/>
                </a:solidFill>
              </a:rPr>
              <a:t>: </a:t>
            </a:r>
          </a:p>
          <a:p>
            <a:pPr lvl="1"/>
            <a:r>
              <a:rPr lang="en-US" dirty="0" smtClean="0">
                <a:solidFill>
                  <a:srgbClr val="6600CC"/>
                </a:solidFill>
              </a:rPr>
              <a:t>Dirty randomness </a:t>
            </a:r>
            <a:r>
              <a:rPr lang="en-US" sz="3600" dirty="0" smtClean="0">
                <a:solidFill>
                  <a:srgbClr val="6600CC"/>
                </a:solidFill>
                <a:latin typeface="Symbol"/>
                <a:sym typeface="Symbol"/>
              </a:rPr>
              <a:t></a:t>
            </a:r>
            <a:r>
              <a:rPr lang="en-US" dirty="0" smtClean="0">
                <a:solidFill>
                  <a:srgbClr val="6600CC"/>
                </a:solidFill>
              </a:rPr>
              <a:t> Pure randomness</a:t>
            </a:r>
          </a:p>
          <a:p>
            <a:pPr lvl="1"/>
            <a:endParaRPr lang="en-US" dirty="0" smtClean="0">
              <a:solidFill>
                <a:srgbClr val="6600CC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Mergers: </a:t>
            </a:r>
            <a:r>
              <a:rPr lang="en-US" dirty="0" smtClean="0">
                <a:solidFill>
                  <a:srgbClr val="6600CC"/>
                </a:solidFill>
              </a:rPr>
              <a:t>General primitive useful in the context of manipulating randomness.</a:t>
            </a:r>
            <a:endParaRPr lang="en-US" baseline="30000" dirty="0" smtClean="0">
              <a:solidFill>
                <a:srgbClr val="6600CC"/>
              </a:solidFill>
              <a:latin typeface="Verdana"/>
            </a:endParaRPr>
          </a:p>
          <a:p>
            <a:pPr lvl="1"/>
            <a:r>
              <a:rPr lang="en-US" dirty="0" smtClean="0">
                <a:solidFill>
                  <a:srgbClr val="CC00CC"/>
                </a:solidFill>
                <a:latin typeface="Verdana"/>
              </a:rPr>
              <a:t>Given: 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>
                <a:latin typeface="Verdana"/>
              </a:rPr>
              <a:t> (dependent) random variables </a:t>
            </a:r>
          </a:p>
          <a:p>
            <a:pPr lvl="1">
              <a:buNone/>
            </a:pPr>
            <a:r>
              <a:rPr lang="en-US" dirty="0" smtClean="0">
                <a:solidFill>
                  <a:srgbClr val="00B050"/>
                </a:solidFill>
                <a:latin typeface="Verdana"/>
              </a:rPr>
              <a:t>             X</a:t>
            </a:r>
            <a:r>
              <a:rPr lang="en-US" baseline="-25000" dirty="0" smtClean="0">
                <a:solidFill>
                  <a:srgbClr val="00B050"/>
                </a:solidFill>
                <a:latin typeface="Verdana"/>
              </a:rPr>
              <a:t>1</a:t>
            </a:r>
            <a:r>
              <a:rPr lang="en-US" dirty="0" smtClean="0">
                <a:solidFill>
                  <a:srgbClr val="00B050"/>
                </a:solidFill>
                <a:latin typeface="Verdana"/>
              </a:rPr>
              <a:t> … </a:t>
            </a:r>
            <a:r>
              <a:rPr lang="en-US" dirty="0" err="1" smtClean="0">
                <a:solidFill>
                  <a:srgbClr val="00B050"/>
                </a:solidFill>
                <a:latin typeface="Verdana"/>
              </a:rPr>
              <a:t>X</a:t>
            </a:r>
            <a:r>
              <a:rPr lang="en-US" baseline="-25000" dirty="0" err="1" smtClean="0">
                <a:solidFill>
                  <a:srgbClr val="00B050"/>
                </a:solidFill>
                <a:latin typeface="Verdana"/>
              </a:rPr>
              <a:t>k</a:t>
            </a:r>
            <a:r>
              <a:rPr lang="en-US" dirty="0" smtClean="0">
                <a:latin typeface="Verdana"/>
              </a:rPr>
              <a:t>, such that one is uniform.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CC00CC"/>
                </a:solidFill>
              </a:rPr>
              <a:t>Add:</a:t>
            </a:r>
            <a:r>
              <a:rPr lang="en-US" dirty="0" smtClean="0"/>
              <a:t> small seed </a:t>
            </a:r>
            <a:r>
              <a:rPr lang="en-US" dirty="0" smtClean="0">
                <a:solidFill>
                  <a:srgbClr val="00B050"/>
                </a:solidFill>
              </a:rPr>
              <a:t>s </a:t>
            </a:r>
            <a:r>
              <a:rPr lang="en-US" sz="1800" dirty="0" smtClean="0">
                <a:latin typeface="Verdana"/>
              </a:rPr>
              <a:t>(Additional randomness)</a:t>
            </a:r>
            <a:endParaRPr lang="en-US" dirty="0" smtClean="0">
              <a:latin typeface="Verdana"/>
            </a:endParaRPr>
          </a:p>
          <a:p>
            <a:pPr lvl="1"/>
            <a:r>
              <a:rPr lang="en-US" dirty="0" smtClean="0">
                <a:solidFill>
                  <a:srgbClr val="CC00CC"/>
                </a:solidFill>
              </a:rPr>
              <a:t>Output: </a:t>
            </a:r>
            <a:r>
              <a:rPr lang="en-US" dirty="0" smtClean="0"/>
              <a:t>a uniform random variable </a:t>
            </a:r>
            <a:r>
              <a:rPr lang="en-US" dirty="0" smtClean="0">
                <a:solidFill>
                  <a:srgbClr val="00B050"/>
                </a:solidFill>
              </a:rPr>
              <a:t>Y</a:t>
            </a:r>
            <a:r>
              <a:rPr lang="en-US" dirty="0" smtClean="0"/>
              <a:t>.</a:t>
            </a:r>
          </a:p>
          <a:p>
            <a:endParaRPr lang="en-US" dirty="0" smtClean="0">
              <a:latin typeface="Verdana"/>
            </a:endParaRPr>
          </a:p>
          <a:p>
            <a:endParaRPr lang="en-US" dirty="0" smtClean="0">
              <a:latin typeface="Verdana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13-18, 2011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17DEA-1EA9-490E-9CAE-DF7678F81A2B}" type="slidenum">
              <a:rPr lang="ar-SA" smtClean="0"/>
              <a:pPr/>
              <a:t>38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Mutliplicities @ CSR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91557" y="2355671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(Biased, correlated)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4496165" y="2351315"/>
            <a:ext cx="42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(Uniform, independent … nearly)</a:t>
            </a:r>
            <a:endParaRPr 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2699" y="2690950"/>
            <a:ext cx="327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+ small pure seed</a:t>
            </a: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AMSFONTS" val="True"/>
  <p:tag name="USEBOLDAMS" val="False"/>
  <p:tag name="TEX2PS" val="latex $(base).tex; dvips -D $(res) -E -o $(base).ps $(base).dvi"/>
  <p:tag name="TEX2PSBATCH" val="latex --interaction=nonstopmode $(base).tex; dvips -D $(res) -E -o $(base).ps $(base).dvi"/>
  <p:tag name="DEFAULTFONTSIZE" val="10"/>
  <p:tag name="DEFAULTBITMAP" val="pngmono"/>
  <p:tag name="DEFAULTBLEND" val="False"/>
  <p:tag name="DEFAULTTRANSPARENT" val="False"/>
  <p:tag name="DEFAULTWORKAROUNDTRANSPARENCYBUG" val="False"/>
  <p:tag name="DEFAULTRESOLUTION" val="1200"/>
  <p:tag name="DEFAULTWIDTH" val="348"/>
  <p:tag name="DEFAULTHEIGHT" val="278"/>
  <p:tag name="DEFAULTMAGNIFICATION" val="2"/>
  <p:tag name="PREAMBLE" val="\documentclass{article}&#10;\pagestyle{empty}&#10;\usepackage{xspace,amssymb,amsfonts,amsmath}&#10;\usepackage{color}&#10;\usepackage{TeX4PPT}&#10;\newcommand{\F}{{\mathbb F}}&#10;\newcommand{\K}{{\mathbb K}}&#10;\newcommand{\calf}{{\cal F}}&#10;\newcommand{\calg}{{\cal G}}&#10;\newcommand{\mm}[1]{{\color[rgb]{1,1,1}$#1$}}&#10;\newcommand{\green}[1]{{\color[rgb]{0,1,0}#1}}&#10;\newcommand{\vote}{{\rm \green{Vote}}}&#10;\newcommand{\blue}[1]{{\color[rgb]{0.25,0.75,1}#1}}&#10;"/>
  <p:tag name="MAGPC" val="260"/>
  <p:tag name="FONTSIZE" val="20"/>
  <p:tag name="DEFAULTDISPLAYSOURCE" val="\documentclass{slides}\pagestyle{empty}&#10;\begin{document}&#10;&#10;\end{document}&#10;"/>
  <p:tag name="EMBEDFONT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theme1.xml><?xml version="1.0" encoding="utf-8"?>
<a:theme xmlns:a="http://schemas.openxmlformats.org/drawingml/2006/main" name="Textured">
  <a:themeElements>
    <a:clrScheme name="Textured 8">
      <a:dk1>
        <a:srgbClr val="000000"/>
      </a:dk1>
      <a:lt1>
        <a:srgbClr val="DCE8F4"/>
      </a:lt1>
      <a:dk2>
        <a:srgbClr val="7B9CB5"/>
      </a:dk2>
      <a:lt2>
        <a:srgbClr val="969696"/>
      </a:lt2>
      <a:accent1>
        <a:srgbClr val="FFFFFF"/>
      </a:accent1>
      <a:accent2>
        <a:srgbClr val="00BAB6"/>
      </a:accent2>
      <a:accent3>
        <a:srgbClr val="EBF2F8"/>
      </a:accent3>
      <a:accent4>
        <a:srgbClr val="000000"/>
      </a:accent4>
      <a:accent5>
        <a:srgbClr val="FFFFFF"/>
      </a:accent5>
      <a:accent6>
        <a:srgbClr val="00A8A5"/>
      </a:accent6>
      <a:hlink>
        <a:srgbClr val="8A8AD8"/>
      </a:hlink>
      <a:folHlink>
        <a:srgbClr val="242492"/>
      </a:folHlink>
    </a:clrScheme>
    <a:fontScheme name="Textured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9">
        <a:dk1>
          <a:srgbClr val="003366"/>
        </a:dk1>
        <a:lt1>
          <a:srgbClr val="FFFFFF"/>
        </a:lt1>
        <a:dk2>
          <a:srgbClr val="0101AB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AAAD2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10">
        <a:dk1>
          <a:srgbClr val="003366"/>
        </a:dk1>
        <a:lt1>
          <a:srgbClr val="FFFFFF"/>
        </a:lt1>
        <a:dk2>
          <a:srgbClr val="0101AB"/>
        </a:dk2>
        <a:lt2>
          <a:srgbClr val="E5FFFF"/>
        </a:lt2>
        <a:accent1>
          <a:srgbClr val="179901"/>
        </a:accent1>
        <a:accent2>
          <a:srgbClr val="FFFF00"/>
        </a:accent2>
        <a:accent3>
          <a:srgbClr val="AAAAD2"/>
        </a:accent3>
        <a:accent4>
          <a:srgbClr val="DADADA"/>
        </a:accent4>
        <a:accent5>
          <a:srgbClr val="ABCAAA"/>
        </a:accent5>
        <a:accent6>
          <a:srgbClr val="E7E700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11">
        <a:dk1>
          <a:srgbClr val="003366"/>
        </a:dk1>
        <a:lt1>
          <a:srgbClr val="FFFF4F"/>
        </a:lt1>
        <a:dk2>
          <a:srgbClr val="010E51"/>
        </a:dk2>
        <a:lt2>
          <a:srgbClr val="E5FFFF"/>
        </a:lt2>
        <a:accent1>
          <a:srgbClr val="179901"/>
        </a:accent1>
        <a:accent2>
          <a:srgbClr val="FBA1FB"/>
        </a:accent2>
        <a:accent3>
          <a:srgbClr val="AAAAB3"/>
        </a:accent3>
        <a:accent4>
          <a:srgbClr val="DADA42"/>
        </a:accent4>
        <a:accent5>
          <a:srgbClr val="ABCAAA"/>
        </a:accent5>
        <a:accent6>
          <a:srgbClr val="E391E3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12">
        <a:dk1>
          <a:srgbClr val="003366"/>
        </a:dk1>
        <a:lt1>
          <a:srgbClr val="FFFF4F"/>
        </a:lt1>
        <a:dk2>
          <a:srgbClr val="010E51"/>
        </a:dk2>
        <a:lt2>
          <a:srgbClr val="E5FFFF"/>
        </a:lt2>
        <a:accent1>
          <a:srgbClr val="179901"/>
        </a:accent1>
        <a:accent2>
          <a:srgbClr val="66FF33"/>
        </a:accent2>
        <a:accent3>
          <a:srgbClr val="AAAAB3"/>
        </a:accent3>
        <a:accent4>
          <a:srgbClr val="DADA42"/>
        </a:accent4>
        <a:accent5>
          <a:srgbClr val="ABCAAA"/>
        </a:accent5>
        <a:accent6>
          <a:srgbClr val="5CE72D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13">
        <a:dk1>
          <a:srgbClr val="003366"/>
        </a:dk1>
        <a:lt1>
          <a:srgbClr val="FFFF4F"/>
        </a:lt1>
        <a:dk2>
          <a:srgbClr val="000520"/>
        </a:dk2>
        <a:lt2>
          <a:srgbClr val="E5FFFF"/>
        </a:lt2>
        <a:accent1>
          <a:srgbClr val="179901"/>
        </a:accent1>
        <a:accent2>
          <a:srgbClr val="66FF33"/>
        </a:accent2>
        <a:accent3>
          <a:srgbClr val="AAAAAB"/>
        </a:accent3>
        <a:accent4>
          <a:srgbClr val="DADA42"/>
        </a:accent4>
        <a:accent5>
          <a:srgbClr val="ABCAAA"/>
        </a:accent5>
        <a:accent6>
          <a:srgbClr val="5CE72D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xtured">
  <a:themeElements>
    <a:clrScheme name="1_Textured 13">
      <a:dk1>
        <a:srgbClr val="003366"/>
      </a:dk1>
      <a:lt1>
        <a:srgbClr val="FFFF4F"/>
      </a:lt1>
      <a:dk2>
        <a:srgbClr val="000520"/>
      </a:dk2>
      <a:lt2>
        <a:srgbClr val="E5FFFF"/>
      </a:lt2>
      <a:accent1>
        <a:srgbClr val="179901"/>
      </a:accent1>
      <a:accent2>
        <a:srgbClr val="66FF33"/>
      </a:accent2>
      <a:accent3>
        <a:srgbClr val="AAAAAB"/>
      </a:accent3>
      <a:accent4>
        <a:srgbClr val="DADA42"/>
      </a:accent4>
      <a:accent5>
        <a:srgbClr val="ABCAAA"/>
      </a:accent5>
      <a:accent6>
        <a:srgbClr val="5CE72D"/>
      </a:accent6>
      <a:hlink>
        <a:srgbClr val="00CCFF"/>
      </a:hlink>
      <a:folHlink>
        <a:srgbClr val="FFCC00"/>
      </a:folHlink>
    </a:clrScheme>
    <a:fontScheme name="1_Textured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ured 9">
        <a:dk1>
          <a:srgbClr val="003366"/>
        </a:dk1>
        <a:lt1>
          <a:srgbClr val="FFFFFF"/>
        </a:lt1>
        <a:dk2>
          <a:srgbClr val="0101AB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AAAD2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10">
        <a:dk1>
          <a:srgbClr val="003366"/>
        </a:dk1>
        <a:lt1>
          <a:srgbClr val="FFFFFF"/>
        </a:lt1>
        <a:dk2>
          <a:srgbClr val="0101AB"/>
        </a:dk2>
        <a:lt2>
          <a:srgbClr val="E5FFFF"/>
        </a:lt2>
        <a:accent1>
          <a:srgbClr val="179901"/>
        </a:accent1>
        <a:accent2>
          <a:srgbClr val="FFFF00"/>
        </a:accent2>
        <a:accent3>
          <a:srgbClr val="AAAAD2"/>
        </a:accent3>
        <a:accent4>
          <a:srgbClr val="DADADA"/>
        </a:accent4>
        <a:accent5>
          <a:srgbClr val="ABCAAA"/>
        </a:accent5>
        <a:accent6>
          <a:srgbClr val="E7E700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11">
        <a:dk1>
          <a:srgbClr val="003366"/>
        </a:dk1>
        <a:lt1>
          <a:srgbClr val="FFFF4F"/>
        </a:lt1>
        <a:dk2>
          <a:srgbClr val="010E51"/>
        </a:dk2>
        <a:lt2>
          <a:srgbClr val="E5FFFF"/>
        </a:lt2>
        <a:accent1>
          <a:srgbClr val="179901"/>
        </a:accent1>
        <a:accent2>
          <a:srgbClr val="FBA1FB"/>
        </a:accent2>
        <a:accent3>
          <a:srgbClr val="AAAAB3"/>
        </a:accent3>
        <a:accent4>
          <a:srgbClr val="DADA42"/>
        </a:accent4>
        <a:accent5>
          <a:srgbClr val="ABCAAA"/>
        </a:accent5>
        <a:accent6>
          <a:srgbClr val="E391E3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12">
        <a:dk1>
          <a:srgbClr val="003366"/>
        </a:dk1>
        <a:lt1>
          <a:srgbClr val="FFFF4F"/>
        </a:lt1>
        <a:dk2>
          <a:srgbClr val="010E51"/>
        </a:dk2>
        <a:lt2>
          <a:srgbClr val="E5FFFF"/>
        </a:lt2>
        <a:accent1>
          <a:srgbClr val="179901"/>
        </a:accent1>
        <a:accent2>
          <a:srgbClr val="66FF33"/>
        </a:accent2>
        <a:accent3>
          <a:srgbClr val="AAAAB3"/>
        </a:accent3>
        <a:accent4>
          <a:srgbClr val="DADA42"/>
        </a:accent4>
        <a:accent5>
          <a:srgbClr val="ABCAAA"/>
        </a:accent5>
        <a:accent6>
          <a:srgbClr val="5CE72D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ured 13">
        <a:dk1>
          <a:srgbClr val="003366"/>
        </a:dk1>
        <a:lt1>
          <a:srgbClr val="FFFF4F"/>
        </a:lt1>
        <a:dk2>
          <a:srgbClr val="000520"/>
        </a:dk2>
        <a:lt2>
          <a:srgbClr val="E5FFFF"/>
        </a:lt2>
        <a:accent1>
          <a:srgbClr val="179901"/>
        </a:accent1>
        <a:accent2>
          <a:srgbClr val="66FF33"/>
        </a:accent2>
        <a:accent3>
          <a:srgbClr val="AAAAAB"/>
        </a:accent3>
        <a:accent4>
          <a:srgbClr val="DADA42"/>
        </a:accent4>
        <a:accent5>
          <a:srgbClr val="ABCAAA"/>
        </a:accent5>
        <a:accent6>
          <a:srgbClr val="5CE72D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Custom Design">
  <a:themeElements>
    <a:clrScheme name="3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41265</TotalTime>
  <Words>2947</Words>
  <Application>Microsoft Office PowerPoint</Application>
  <PresentationFormat>On-screen Show (4:3)</PresentationFormat>
  <Paragraphs>437</Paragraphs>
  <Slides>38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38</vt:i4>
      </vt:variant>
    </vt:vector>
  </HeadingPairs>
  <TitlesOfParts>
    <vt:vector size="54" baseType="lpstr">
      <vt:lpstr>Arial</vt:lpstr>
      <vt:lpstr>Verdana</vt:lpstr>
      <vt:lpstr>Tahoma</vt:lpstr>
      <vt:lpstr>CMMI8</vt:lpstr>
      <vt:lpstr>LCMSS8</vt:lpstr>
      <vt:lpstr>CMSY8</vt:lpstr>
      <vt:lpstr>Wingdings</vt:lpstr>
      <vt:lpstr>Symbol</vt:lpstr>
      <vt:lpstr>cmmi10</vt:lpstr>
      <vt:lpstr>cmsy10</vt:lpstr>
      <vt:lpstr>Textured</vt:lpstr>
      <vt:lpstr>1_Textured</vt:lpstr>
      <vt:lpstr>Custom Design</vt:lpstr>
      <vt:lpstr>1_Custom Design</vt:lpstr>
      <vt:lpstr>2_Custom Design</vt:lpstr>
      <vt:lpstr>3_Custom Design</vt:lpstr>
      <vt:lpstr>Slide 1</vt:lpstr>
      <vt:lpstr>Agenda</vt:lpstr>
      <vt:lpstr>Part I: Decoding Reed-Solomon Codes</vt:lpstr>
      <vt:lpstr>List-decoding?</vt:lpstr>
      <vt:lpstr>List-decoding of Reed-Solomon codes</vt:lpstr>
      <vt:lpstr>List-decoding analysis [S ‘96]</vt:lpstr>
      <vt:lpstr>Focus: The Polynomial Method</vt:lpstr>
      <vt:lpstr>Improved L-D. Analysis [G.+S. ‘98]</vt:lpstr>
      <vt:lpstr>Aside: Is the factor of 2 important?</vt:lpstr>
      <vt:lpstr>Focus: The Multiplicity Method</vt:lpstr>
      <vt:lpstr>Multiplicity = ?</vt:lpstr>
      <vt:lpstr>Part II: Kakeya Sets</vt:lpstr>
      <vt:lpstr>Kakeya Sets</vt:lpstr>
      <vt:lpstr>Kakeya Set analysis [Dvir ‘08]</vt:lpstr>
      <vt:lpstr>Multiplicities in Kakeya [Saraf, S ’08]</vt:lpstr>
      <vt:lpstr>Comparing the bounds</vt:lpstr>
      <vt:lpstr>Part III:  Randomness Mergers &amp; Extractors</vt:lpstr>
      <vt:lpstr>Context</vt:lpstr>
      <vt:lpstr>Randomness in Computation</vt:lpstr>
      <vt:lpstr>Randomness Extractors and Mergers</vt:lpstr>
      <vt:lpstr>Merger Analysis Problem </vt:lpstr>
      <vt:lpstr>Concerns from Merger Analysis</vt:lpstr>
      <vt:lpstr>General obstacle in multiplicity method</vt:lpstr>
      <vt:lpstr>Extended method of multiplicities</vt:lpstr>
      <vt:lpstr>Vanishing of high-degree polynomials</vt:lpstr>
      <vt:lpstr>Multiplicities?</vt:lpstr>
      <vt:lpstr>Key Properties</vt:lpstr>
      <vt:lpstr>Propagating multiplicities (in Kakeya)</vt:lpstr>
      <vt:lpstr>Back to Kakeya</vt:lpstr>
      <vt:lpstr>Consequences for Mergers</vt:lpstr>
      <vt:lpstr>Conclusions</vt:lpstr>
      <vt:lpstr>Other applications</vt:lpstr>
      <vt:lpstr>Conclusions</vt:lpstr>
      <vt:lpstr>Thank You</vt:lpstr>
      <vt:lpstr>Mutliplicity = ?</vt:lpstr>
      <vt:lpstr>Concerns from Merger Analysis</vt:lpstr>
      <vt:lpstr>What is common?</vt:lpstr>
      <vt:lpstr>Randomness Extractors and Mergers</vt:lpstr>
    </vt:vector>
  </TitlesOfParts>
  <Company>MIT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PCPs</dc:title>
  <dc:creator>Madhu+Eli</dc:creator>
  <cp:lastModifiedBy>Madhu</cp:lastModifiedBy>
  <cp:revision>1480</cp:revision>
  <cp:lastPrinted>2001-06-13T20:26:27Z</cp:lastPrinted>
  <dcterms:created xsi:type="dcterms:W3CDTF">2001-06-13T15:36:44Z</dcterms:created>
  <dcterms:modified xsi:type="dcterms:W3CDTF">2011-06-13T22:06:30Z</dcterms:modified>
</cp:coreProperties>
</file>