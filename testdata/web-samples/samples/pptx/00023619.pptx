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59" r:id="rId3"/>
    <p:sldId id="261" r:id="rId4"/>
    <p:sldId id="260" r:id="rId5"/>
    <p:sldId id="258" r:id="rId6"/>
    <p:sldId id="257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-10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40CE9-1D8E-A347-B8F9-89353B77D674}" type="datetimeFigureOut">
              <a:rPr lang="en-US" smtClean="0"/>
              <a:pPr/>
              <a:t>12/8/2009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D2F56-161B-5B48-BF61-650FC1ADE2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40CE9-1D8E-A347-B8F9-89353B77D674}" type="datetimeFigureOut">
              <a:rPr lang="en-US" smtClean="0"/>
              <a:pPr/>
              <a:t>12/8/2009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D2F56-161B-5B48-BF61-650FC1ADE2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40CE9-1D8E-A347-B8F9-89353B77D674}" type="datetimeFigureOut">
              <a:rPr lang="en-US" smtClean="0"/>
              <a:pPr/>
              <a:t>12/8/2009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D2F56-161B-5B48-BF61-650FC1ADE2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40CE9-1D8E-A347-B8F9-89353B77D674}" type="datetimeFigureOut">
              <a:rPr lang="en-US" smtClean="0"/>
              <a:pPr/>
              <a:t>12/8/2009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D2F56-161B-5B48-BF61-650FC1ADE2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40CE9-1D8E-A347-B8F9-89353B77D674}" type="datetimeFigureOut">
              <a:rPr lang="en-US" smtClean="0"/>
              <a:pPr/>
              <a:t>12/8/2009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D2F56-161B-5B48-BF61-650FC1ADE2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40CE9-1D8E-A347-B8F9-89353B77D674}" type="datetimeFigureOut">
              <a:rPr lang="en-US" smtClean="0"/>
              <a:pPr/>
              <a:t>12/8/2009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D2F56-161B-5B48-BF61-650FC1ADE2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40CE9-1D8E-A347-B8F9-89353B77D674}" type="datetimeFigureOut">
              <a:rPr lang="en-US" smtClean="0"/>
              <a:pPr/>
              <a:t>12/8/2009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D2F56-161B-5B48-BF61-650FC1ADE2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40CE9-1D8E-A347-B8F9-89353B77D674}" type="datetimeFigureOut">
              <a:rPr lang="en-US" smtClean="0"/>
              <a:pPr/>
              <a:t>12/8/2009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D2F56-161B-5B48-BF61-650FC1ADE2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40CE9-1D8E-A347-B8F9-89353B77D674}" type="datetimeFigureOut">
              <a:rPr lang="en-US" smtClean="0"/>
              <a:pPr/>
              <a:t>12/8/2009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D2F56-161B-5B48-BF61-650FC1ADE2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40CE9-1D8E-A347-B8F9-89353B77D674}" type="datetimeFigureOut">
              <a:rPr lang="en-US" smtClean="0"/>
              <a:pPr/>
              <a:t>12/8/2009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D2F56-161B-5B48-BF61-650FC1ADE2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40CE9-1D8E-A347-B8F9-89353B77D674}" type="datetimeFigureOut">
              <a:rPr lang="en-US" smtClean="0"/>
              <a:pPr/>
              <a:t>12/8/2009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D2F56-161B-5B48-BF61-650FC1ADE2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40CE9-1D8E-A347-B8F9-89353B77D674}" type="datetimeFigureOut">
              <a:rPr lang="en-US" smtClean="0"/>
              <a:pPr/>
              <a:t>12/8/2009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9D2F56-161B-5B48-BF61-650FC1ADE26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National Map Subcommittee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sz="2400" b="1" dirty="0" smtClean="0"/>
              <a:t>NGAC Meeting</a:t>
            </a:r>
          </a:p>
          <a:p>
            <a:pPr algn="r"/>
            <a:r>
              <a:rPr lang="en-US" sz="2400" b="1" dirty="0" smtClean="0"/>
              <a:t>December 2, 2009</a:t>
            </a:r>
            <a:endParaRPr lang="en-US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National Map Subcommittee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Assisting TNM strategic planning process</a:t>
            </a:r>
          </a:p>
          <a:p>
            <a:pPr>
              <a:spcAft>
                <a:spcPts val="600"/>
              </a:spcAft>
            </a:pP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Met 11/30 to discuss questions and issues outlined by Larry </a:t>
            </a:r>
            <a:r>
              <a:rPr lang="en-US" sz="2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Sugarbaker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and Mark </a:t>
            </a:r>
            <a:r>
              <a:rPr lang="en-US" sz="2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DeMulder</a:t>
            </a:r>
            <a:endParaRPr lang="en-US" sz="28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spcAft>
                <a:spcPts val="600"/>
              </a:spcAft>
            </a:pP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Participants:</a:t>
            </a:r>
          </a:p>
          <a:p>
            <a:pPr lvl="1"/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</a:rPr>
              <a:t>NGAC: Allen Carroll, Dennis </a:t>
            </a:r>
            <a:r>
              <a:rPr lang="en-US" sz="2400" dirty="0" err="1" smtClean="0">
                <a:solidFill>
                  <a:schemeClr val="accent1">
                    <a:lumMod val="50000"/>
                  </a:schemeClr>
                </a:solidFill>
              </a:rPr>
              <a:t>Goreham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</a:rPr>
              <a:t>, Jay Parrish, Dave </a:t>
            </a:r>
            <a:r>
              <a:rPr lang="en-US" sz="2400" dirty="0" err="1" smtClean="0">
                <a:solidFill>
                  <a:schemeClr val="accent1">
                    <a:lumMod val="50000"/>
                  </a:schemeClr>
                </a:solidFill>
              </a:rPr>
              <a:t>Maune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</a:rPr>
              <a:t>, Steve Wallach</a:t>
            </a:r>
          </a:p>
          <a:p>
            <a:pPr lvl="1"/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</a:rPr>
              <a:t>TNM: Mark </a:t>
            </a:r>
            <a:r>
              <a:rPr lang="en-US" sz="2400" dirty="0" err="1" smtClean="0">
                <a:solidFill>
                  <a:schemeClr val="accent1">
                    <a:lumMod val="50000"/>
                  </a:schemeClr>
                </a:solidFill>
              </a:rPr>
              <a:t>DeMulder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</a:rPr>
              <a:t>, Larry </a:t>
            </a:r>
            <a:r>
              <a:rPr lang="en-US" sz="2400" dirty="0" err="1" smtClean="0">
                <a:solidFill>
                  <a:schemeClr val="accent1">
                    <a:lumMod val="50000"/>
                  </a:schemeClr>
                </a:solidFill>
              </a:rPr>
              <a:t>Sugarbaker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</a:rPr>
              <a:t>, Mike </a:t>
            </a:r>
            <a:r>
              <a:rPr lang="en-US" sz="2400" dirty="0" err="1" smtClean="0">
                <a:solidFill>
                  <a:schemeClr val="accent1">
                    <a:lumMod val="50000"/>
                  </a:schemeClr>
                </a:solidFill>
              </a:rPr>
              <a:t>Domerantz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TNM Strategic Planning Process</a:t>
            </a:r>
            <a:endParaRPr lang="en-US" sz="3600" b="1" dirty="0"/>
          </a:p>
        </p:txBody>
      </p:sp>
      <p:sp>
        <p:nvSpPr>
          <p:cNvPr id="5" name="Rectangle 4"/>
          <p:cNvSpPr/>
          <p:nvPr/>
        </p:nvSpPr>
        <p:spPr>
          <a:xfrm>
            <a:off x="457200" y="1394958"/>
            <a:ext cx="8229600" cy="50629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 smtClean="0"/>
              <a:t>Strategic Intent and Objectives, </a:t>
            </a:r>
            <a:r>
              <a:rPr lang="en-US" sz="2000" b="1" dirty="0" smtClean="0">
                <a:solidFill>
                  <a:srgbClr val="7F7F7F"/>
                </a:solidFill>
              </a:rPr>
              <a:t>October – December 2009</a:t>
            </a:r>
          </a:p>
          <a:p>
            <a:pPr lvl="1">
              <a:buFont typeface="Arial"/>
              <a:buChar char="•"/>
            </a:pPr>
            <a:r>
              <a:rPr lang="en-US" dirty="0" smtClean="0">
                <a:solidFill>
                  <a:srgbClr val="7F7F7F"/>
                </a:solidFill>
              </a:rPr>
              <a:t>   Compile stakeholder </a:t>
            </a:r>
            <a:r>
              <a:rPr lang="en-US" dirty="0">
                <a:solidFill>
                  <a:srgbClr val="7F7F7F"/>
                </a:solidFill>
              </a:rPr>
              <a:t>q</a:t>
            </a:r>
            <a:r>
              <a:rPr lang="en-US" dirty="0" smtClean="0">
                <a:solidFill>
                  <a:srgbClr val="7F7F7F"/>
                </a:solidFill>
              </a:rPr>
              <a:t>uestions</a:t>
            </a:r>
          </a:p>
          <a:p>
            <a:pPr lvl="1">
              <a:buFont typeface="Arial"/>
              <a:buChar char="•"/>
            </a:pPr>
            <a:r>
              <a:rPr lang="en-US" dirty="0" smtClean="0">
                <a:solidFill>
                  <a:srgbClr val="7F7F7F"/>
                </a:solidFill>
              </a:rPr>
              <a:t>   Formulate strategic </a:t>
            </a:r>
            <a:r>
              <a:rPr lang="en-US" dirty="0">
                <a:solidFill>
                  <a:srgbClr val="7F7F7F"/>
                </a:solidFill>
              </a:rPr>
              <a:t>q</a:t>
            </a:r>
            <a:r>
              <a:rPr lang="en-US" dirty="0" smtClean="0">
                <a:solidFill>
                  <a:srgbClr val="7F7F7F"/>
                </a:solidFill>
              </a:rPr>
              <a:t>uestions</a:t>
            </a:r>
          </a:p>
          <a:p>
            <a:pPr lvl="1">
              <a:buFont typeface="Arial"/>
              <a:buChar char="•"/>
            </a:pPr>
            <a:r>
              <a:rPr lang="en-US" dirty="0" smtClean="0">
                <a:solidFill>
                  <a:srgbClr val="7F7F7F"/>
                </a:solidFill>
              </a:rPr>
              <a:t>   Identify external reviewers</a:t>
            </a:r>
          </a:p>
          <a:p>
            <a:pPr lvl="1">
              <a:spcAft>
                <a:spcPts val="1200"/>
              </a:spcAft>
              <a:buFont typeface="Arial"/>
              <a:buChar char="•"/>
            </a:pPr>
            <a:r>
              <a:rPr lang="en-US" dirty="0" smtClean="0">
                <a:solidFill>
                  <a:srgbClr val="7F7F7F"/>
                </a:solidFill>
              </a:rPr>
              <a:t>   Key themes and business drivers</a:t>
            </a:r>
          </a:p>
          <a:p>
            <a:pPr>
              <a:spcAft>
                <a:spcPts val="600"/>
              </a:spcAft>
            </a:pPr>
            <a:r>
              <a:rPr lang="en-US" sz="2000" b="1" dirty="0" smtClean="0">
                <a:solidFill>
                  <a:srgbClr val="000000"/>
                </a:solidFill>
              </a:rPr>
              <a:t>Draft one of strategic plan, </a:t>
            </a:r>
            <a:r>
              <a:rPr lang="en-US" sz="2000" b="1" dirty="0" smtClean="0">
                <a:solidFill>
                  <a:srgbClr val="7F7F7F"/>
                </a:solidFill>
              </a:rPr>
              <a:t>January – June 2010</a:t>
            </a:r>
          </a:p>
          <a:p>
            <a:pPr lvl="1">
              <a:buFont typeface="Arial"/>
              <a:buChar char="•"/>
            </a:pPr>
            <a:r>
              <a:rPr lang="en-US" dirty="0" smtClean="0">
                <a:solidFill>
                  <a:srgbClr val="7F7F7F"/>
                </a:solidFill>
              </a:rPr>
              <a:t>   Develop internal draft one of strategic plan</a:t>
            </a:r>
          </a:p>
          <a:p>
            <a:pPr marL="681038" lvl="1" indent="-223838">
              <a:buFont typeface="Arial"/>
              <a:buChar char="•"/>
            </a:pPr>
            <a:r>
              <a:rPr lang="en-US" dirty="0" smtClean="0">
                <a:solidFill>
                  <a:srgbClr val="7F7F7F"/>
                </a:solidFill>
              </a:rPr>
              <a:t>Prepare draft one for external reviewers (NGAC and other Federal reviewers)</a:t>
            </a:r>
          </a:p>
          <a:p>
            <a:pPr marL="681038" lvl="1" indent="-223838">
              <a:spcAft>
                <a:spcPts val="1200"/>
              </a:spcAft>
              <a:buFont typeface="Arial"/>
              <a:buChar char="•"/>
            </a:pPr>
            <a:r>
              <a:rPr lang="en-US" dirty="0" smtClean="0">
                <a:solidFill>
                  <a:srgbClr val="7F7F7F"/>
                </a:solidFill>
              </a:rPr>
              <a:t>Finalize draft one</a:t>
            </a:r>
          </a:p>
          <a:p>
            <a:pPr>
              <a:spcAft>
                <a:spcPts val="600"/>
              </a:spcAft>
            </a:pPr>
            <a:r>
              <a:rPr lang="en-US" sz="2000" b="1" dirty="0" smtClean="0">
                <a:solidFill>
                  <a:srgbClr val="000000"/>
                </a:solidFill>
              </a:rPr>
              <a:t>Final draft of strategic plan, </a:t>
            </a:r>
            <a:r>
              <a:rPr lang="en-US" sz="2000" b="1" dirty="0" smtClean="0">
                <a:solidFill>
                  <a:srgbClr val="7F7F7F"/>
                </a:solidFill>
              </a:rPr>
              <a:t>June – October 2010</a:t>
            </a:r>
          </a:p>
          <a:p>
            <a:pPr lvl="1">
              <a:buFont typeface="Arial"/>
              <a:buChar char="•"/>
            </a:pPr>
            <a:r>
              <a:rPr lang="en-US" dirty="0" smtClean="0">
                <a:solidFill>
                  <a:srgbClr val="7F7F7F"/>
                </a:solidFill>
              </a:rPr>
              <a:t>   Develop final draft of strategic plan and review internally</a:t>
            </a:r>
          </a:p>
          <a:p>
            <a:pPr marL="681038" lvl="1" indent="-223838">
              <a:buFont typeface="Arial"/>
              <a:buChar char="•"/>
            </a:pPr>
            <a:r>
              <a:rPr lang="en-US" dirty="0" smtClean="0">
                <a:solidFill>
                  <a:srgbClr val="7F7F7F"/>
                </a:solidFill>
              </a:rPr>
              <a:t>Prepare final draft for external reviewers (NGAC and other Federal reviewers)</a:t>
            </a:r>
          </a:p>
          <a:p>
            <a:pPr marL="681038" lvl="1" indent="-223838">
              <a:buFont typeface="Arial"/>
              <a:buChar char="•"/>
            </a:pPr>
            <a:r>
              <a:rPr lang="en-US" dirty="0" smtClean="0">
                <a:solidFill>
                  <a:srgbClr val="7F7F7F"/>
                </a:solidFill>
              </a:rPr>
              <a:t>Public comment period</a:t>
            </a:r>
          </a:p>
          <a:p>
            <a:pPr lvl="1">
              <a:spcAft>
                <a:spcPts val="1200"/>
              </a:spcAft>
              <a:buFont typeface="Arial"/>
              <a:buChar char="•"/>
            </a:pPr>
            <a:r>
              <a:rPr lang="en-US" dirty="0" smtClean="0">
                <a:solidFill>
                  <a:srgbClr val="7F7F7F"/>
                </a:solidFill>
              </a:rPr>
              <a:t>   Internal review of critical comments and risks</a:t>
            </a:r>
          </a:p>
          <a:p>
            <a:pPr>
              <a:spcAft>
                <a:spcPts val="600"/>
              </a:spcAft>
            </a:pPr>
            <a:r>
              <a:rPr lang="en-US" sz="2000" b="1" dirty="0" smtClean="0">
                <a:solidFill>
                  <a:srgbClr val="000000"/>
                </a:solidFill>
              </a:rPr>
              <a:t>Publish final five year National Geospatial Program plan</a:t>
            </a:r>
            <a:r>
              <a:rPr lang="en-US" sz="2000" b="1" dirty="0">
                <a:solidFill>
                  <a:srgbClr val="000000"/>
                </a:solidFill>
              </a:rPr>
              <a:t>,</a:t>
            </a:r>
            <a:r>
              <a:rPr lang="en-US" sz="2000" b="1" dirty="0" smtClean="0">
                <a:solidFill>
                  <a:srgbClr val="000000"/>
                </a:solidFill>
              </a:rPr>
              <a:t> </a:t>
            </a:r>
            <a:r>
              <a:rPr lang="en-US" sz="2000" b="1" dirty="0" smtClean="0">
                <a:solidFill>
                  <a:srgbClr val="7F7F7F"/>
                </a:solidFill>
              </a:rPr>
              <a:t>October 2010</a:t>
            </a:r>
            <a:endParaRPr lang="en-US" sz="2000" b="1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Issues discussed at the Monday session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10396" cy="4525963"/>
          </a:xfrm>
        </p:spPr>
        <p:txBody>
          <a:bodyPr>
            <a:normAutofit lnSpcReduction="10000"/>
          </a:bodyPr>
          <a:lstStyle/>
          <a:p>
            <a:pPr>
              <a:spcAft>
                <a:spcPts val="1200"/>
              </a:spcAft>
            </a:pPr>
            <a:r>
              <a:rPr 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Results of TNM questionnaire</a:t>
            </a:r>
          </a:p>
          <a:p>
            <a:pPr>
              <a:spcAft>
                <a:spcPts val="1200"/>
              </a:spcAft>
            </a:pPr>
            <a:r>
              <a:rPr 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Who are </a:t>
            </a:r>
            <a:r>
              <a:rPr lang="en-US" sz="24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TNM’s</a:t>
            </a:r>
            <a:r>
              <a:rPr 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customers and constituencies? (Challenge: constituencies are numerous and diverse)</a:t>
            </a:r>
          </a:p>
          <a:p>
            <a:pPr>
              <a:spcAft>
                <a:spcPts val="1200"/>
              </a:spcAft>
            </a:pPr>
            <a:r>
              <a:rPr 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Role of federal, state, local governments in providing data and as TNM customers</a:t>
            </a:r>
          </a:p>
          <a:p>
            <a:pPr>
              <a:spcAft>
                <a:spcPts val="1200"/>
              </a:spcAft>
            </a:pPr>
            <a:r>
              <a:rPr 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Tension among TNM roles as providing “foundation” base map, vs. data services, vs. products (e.g. published </a:t>
            </a:r>
            <a:r>
              <a:rPr lang="en-US" sz="24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topo</a:t>
            </a:r>
            <a:r>
              <a:rPr 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maps)</a:t>
            </a:r>
          </a:p>
          <a:p>
            <a:pPr>
              <a:spcAft>
                <a:spcPts val="600"/>
              </a:spcAft>
            </a:pPr>
            <a:r>
              <a:rPr 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Tension among “nationally consistent” vs. “best available” vs. “authoritative” data</a:t>
            </a:r>
          </a:p>
          <a:p>
            <a:pPr>
              <a:spcAft>
                <a:spcPts val="600"/>
              </a:spcAft>
              <a:buNone/>
            </a:pPr>
            <a:r>
              <a:rPr 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31963"/>
            <a:ext cx="7772400" cy="4446904"/>
          </a:xfrm>
        </p:spPr>
        <p:txBody>
          <a:bodyPr anchor="t">
            <a:normAutofit/>
          </a:bodyPr>
          <a:lstStyle/>
          <a:p>
            <a:r>
              <a:rPr lang="en-US" sz="2400" dirty="0" smtClean="0"/>
              <a:t>The National Map strategic planning process</a:t>
            </a:r>
            <a:r>
              <a:rPr lang="en-US" sz="3333" dirty="0" smtClean="0"/>
              <a:t/>
            </a:r>
            <a:br>
              <a:rPr lang="en-US" sz="3333" dirty="0" smtClean="0"/>
            </a:br>
            <a:r>
              <a:rPr lang="en-US" sz="3000" b="1" dirty="0" smtClean="0">
                <a:solidFill>
                  <a:srgbClr val="7F7F7F"/>
                </a:solidFill>
              </a:rPr>
              <a:t>QUESTION </a:t>
            </a:r>
            <a:r>
              <a:rPr lang="en-US" sz="3000" b="1" dirty="0">
                <a:solidFill>
                  <a:srgbClr val="7F7F7F"/>
                </a:solidFill>
              </a:rPr>
              <a:t>ONE</a:t>
            </a:r>
            <a:r>
              <a:rPr lang="en-US" sz="3000" b="1" dirty="0" smtClean="0">
                <a:solidFill>
                  <a:srgbClr val="7F7F7F"/>
                </a:solidFill>
              </a:rPr>
              <a:t>:</a:t>
            </a:r>
            <a:r>
              <a:rPr lang="en-US" sz="3000" dirty="0" smtClean="0"/>
              <a:t/>
            </a:r>
            <a:br>
              <a:rPr lang="en-US" sz="3000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4000" dirty="0">
                <a:solidFill>
                  <a:schemeClr val="accent1">
                    <a:lumMod val="50000"/>
                  </a:schemeClr>
                </a:solidFill>
              </a:rPr>
              <a:t>Should there be an</a:t>
            </a:r>
            <a:r>
              <a:rPr lang="en-US" sz="4000" dirty="0" smtClean="0">
                <a:solidFill>
                  <a:schemeClr val="accent1">
                    <a:lumMod val="50000"/>
                  </a:schemeClr>
                </a:solidFill>
              </a:rPr>
              <a:t> agency 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</a:rPr>
              <a:t>that integrates geospatial framework data services for </a:t>
            </a:r>
            <a:r>
              <a:rPr lang="en-US" sz="4000" dirty="0" smtClean="0">
                <a:solidFill>
                  <a:schemeClr val="accent1">
                    <a:lumMod val="50000"/>
                  </a:schemeClr>
                </a:solidFill>
              </a:rPr>
              <a:t>the 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</a:rPr>
              <a:t>nation?</a:t>
            </a:r>
            <a:r>
              <a:rPr lang="en-US" sz="40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br>
              <a:rPr lang="en-US" sz="4000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4000" dirty="0" smtClean="0">
                <a:solidFill>
                  <a:schemeClr val="accent1">
                    <a:lumMod val="50000"/>
                  </a:schemeClr>
                </a:solidFill>
              </a:rPr>
              <a:t>Should 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</a:rPr>
              <a:t>it be USGS?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0600" y="1031962"/>
            <a:ext cx="8001000" cy="4967017"/>
          </a:xfrm>
        </p:spPr>
        <p:txBody>
          <a:bodyPr anchor="t">
            <a:normAutofit fontScale="90000"/>
          </a:bodyPr>
          <a:lstStyle/>
          <a:p>
            <a:r>
              <a:rPr lang="en-US" sz="2667" dirty="0" smtClean="0"/>
              <a:t>The National Map strategic planning process</a:t>
            </a:r>
            <a:r>
              <a:rPr lang="en-US" sz="3333" dirty="0" smtClean="0"/>
              <a:t/>
            </a:r>
            <a:br>
              <a:rPr lang="en-US" sz="3333" dirty="0" smtClean="0"/>
            </a:br>
            <a:r>
              <a:rPr lang="en-US" sz="3333" b="1" dirty="0" smtClean="0">
                <a:solidFill>
                  <a:srgbClr val="7F7F7F"/>
                </a:solidFill>
              </a:rPr>
              <a:t>QUESTION TWO:</a:t>
            </a:r>
            <a:r>
              <a:rPr lang="en-US" sz="3333" dirty="0" smtClean="0"/>
              <a:t/>
            </a:r>
            <a:br>
              <a:rPr lang="en-US" sz="3333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>
                <a:solidFill>
                  <a:srgbClr val="254061"/>
                </a:solidFill>
              </a:rPr>
              <a:t>Should all National Map data be available to users without restriction?</a:t>
            </a:r>
            <a:r>
              <a:rPr lang="en-US" dirty="0" smtClean="0">
                <a:solidFill>
                  <a:srgbClr val="254061"/>
                </a:solidFill>
              </a:rPr>
              <a:t> </a:t>
            </a:r>
            <a:br>
              <a:rPr lang="en-US" dirty="0" smtClean="0">
                <a:solidFill>
                  <a:srgbClr val="254061"/>
                </a:solidFill>
              </a:rPr>
            </a:br>
            <a:r>
              <a:rPr lang="en-US" dirty="0" smtClean="0">
                <a:solidFill>
                  <a:srgbClr val="254061"/>
                </a:solidFill>
              </a:rPr>
              <a:t>If not, </a:t>
            </a:r>
            <a:r>
              <a:rPr lang="en-US" dirty="0">
                <a:solidFill>
                  <a:srgbClr val="254061"/>
                </a:solidFill>
              </a:rPr>
              <a:t>under what terms should The National Map use data on which there are restrictions?</a:t>
            </a:r>
            <a:r>
              <a:rPr lang="en-US" dirty="0"/>
              <a:t/>
            </a:r>
            <a:br>
              <a:rPr lang="en-US" dirty="0"/>
            </a:b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1308</TotalTime>
  <Words>279</Words>
  <Application>Microsoft Office PowerPoint</Application>
  <PresentationFormat>On-screen Show (4:3)</PresentationFormat>
  <Paragraphs>35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National Map Subcommittee</vt:lpstr>
      <vt:lpstr>National Map Subcommittee</vt:lpstr>
      <vt:lpstr>TNM Strategic Planning Process</vt:lpstr>
      <vt:lpstr>Issues discussed at the Monday session</vt:lpstr>
      <vt:lpstr>The National Map strategic planning process QUESTION ONE:  Should there be an agency that integrates geospatial framework data services for the nation?  Should it be USGS?</vt:lpstr>
      <vt:lpstr>The National Map strategic planning process QUESTION TWO:  Should all National Map data be available to users without restriction?  If not, under what terms should The National Map use data on which there are restrictions? </vt:lpstr>
    </vt:vector>
  </TitlesOfParts>
  <Company>NGS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National Map strategic planning process QUESTION ONE: Should there be an agency that integrates geospatial framework data services for the nation?  Should it be USGS?</dc:title>
  <dc:creator>acarroll</dc:creator>
  <cp:lastModifiedBy>USGS</cp:lastModifiedBy>
  <cp:revision>9</cp:revision>
  <dcterms:created xsi:type="dcterms:W3CDTF">2009-12-01T14:21:08Z</dcterms:created>
  <dcterms:modified xsi:type="dcterms:W3CDTF">2009-12-08T21:05:44Z</dcterms:modified>
</cp:coreProperties>
</file>