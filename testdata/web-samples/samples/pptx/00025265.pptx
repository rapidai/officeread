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93" r:id="rId2"/>
    <p:sldId id="297" r:id="rId3"/>
    <p:sldId id="292" r:id="rId4"/>
    <p:sldId id="276" r:id="rId5"/>
    <p:sldId id="277" r:id="rId6"/>
    <p:sldId id="278" r:id="rId7"/>
    <p:sldId id="275" r:id="rId8"/>
    <p:sldId id="270" r:id="rId9"/>
    <p:sldId id="279" r:id="rId10"/>
    <p:sldId id="280" r:id="rId11"/>
    <p:sldId id="281" r:id="rId12"/>
    <p:sldId id="294" r:id="rId13"/>
    <p:sldId id="271" r:id="rId14"/>
    <p:sldId id="282" r:id="rId15"/>
    <p:sldId id="283" r:id="rId16"/>
    <p:sldId id="295" r:id="rId17"/>
    <p:sldId id="272" r:id="rId18"/>
    <p:sldId id="284" r:id="rId19"/>
    <p:sldId id="285" r:id="rId20"/>
    <p:sldId id="286" r:id="rId21"/>
    <p:sldId id="273" r:id="rId22"/>
    <p:sldId id="264" r:id="rId23"/>
    <p:sldId id="290" r:id="rId24"/>
    <p:sldId id="287" r:id="rId25"/>
    <p:sldId id="274" r:id="rId26"/>
    <p:sldId id="288" r:id="rId27"/>
    <p:sldId id="289" r:id="rId28"/>
    <p:sldId id="291" r:id="rId29"/>
    <p:sldId id="296" r:id="rId30"/>
    <p:sldId id="298" r:id="rId31"/>
    <p:sldId id="299" r:id="rId32"/>
    <p:sldId id="263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clrMru>
    <a:srgbClr val="4F2683"/>
    <a:srgbClr val="F6AC41"/>
    <a:srgbClr val="DE3B3C"/>
    <a:srgbClr val="ABC61F"/>
    <a:srgbClr val="1573BD"/>
    <a:srgbClr val="807F83"/>
    <a:srgbClr val="3C1B71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-31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E7E02-177F-1742-9B54-4359DFA80663}" type="datetimeFigureOut">
              <a:rPr lang="en-US" smtClean="0"/>
              <a:pPr/>
              <a:t>8/14/2012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90D64E-5987-2D4B-9D87-3BA09D935B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358915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A97568-298B-6740-9B9F-550E69FACD20}" type="datetimeFigureOut">
              <a:rPr lang="en-US" smtClean="0"/>
              <a:pPr/>
              <a:t>8/14/2012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DC7D68-8AC4-0440-B1C1-67A64591BB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44458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315164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315164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1516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pPr/>
              <a:t>8/14/2012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03273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pPr/>
              <a:t>8/14/2012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36936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pPr/>
              <a:t>8/14/2012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19723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pPr/>
              <a:t>8/14/2012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98721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pPr/>
              <a:t>8/14/2012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84641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pPr/>
              <a:t>8/14/2012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97255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pPr/>
              <a:t>8/14/2012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8264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pPr/>
              <a:t>8/14/2012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38866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pPr/>
              <a:t>8/14/2012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41190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pPr/>
              <a:t>8/14/2012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59881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pPr/>
              <a:t>8/14/2012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9505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34A24-CCD4-E849-8882-22BD847D2D41}" type="datetimeFigureOut">
              <a:rPr lang="en-US" smtClean="0"/>
              <a:pPr/>
              <a:t>8/14/2012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F8058-3785-FA4E-971F-CD59832881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3807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8748" y="1880075"/>
            <a:ext cx="797158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BACKGROUND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Design concept for new graduate application built from feedback from:</a:t>
            </a:r>
            <a:br>
              <a:rPr lang="en-US" dirty="0" smtClean="0"/>
            </a:br>
            <a:endParaRPr lang="en-US" dirty="0" smtClean="0"/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Associate Deans, meeting (September 2011)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Graduate Assistants, town hall meetings, survey (December 2011)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Oracle Training (March 2012)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Prototyping (May 2012 to November 2012)</a:t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7230" y="4680842"/>
            <a:ext cx="8686800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8748" y="1880075"/>
            <a:ext cx="79715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LOCATION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Project aims to develop full service admissions system within Student Center environment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Lifecycle of application will be created, updated, assessed and decided upon within Student Center</a:t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7230" y="4680842"/>
            <a:ext cx="8686800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635" y="1341439"/>
            <a:ext cx="5001577" cy="266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488180" y="1965960"/>
            <a:ext cx="4495799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CREATION</a:t>
            </a:r>
          </a:p>
          <a:p>
            <a:r>
              <a:rPr lang="en-US" b="1" dirty="0" smtClean="0"/>
              <a:t>How can individuals access the application?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dirty="0" smtClean="0"/>
              <a:t>Three distinct groups will access the application in three distinct manners</a:t>
            </a:r>
          </a:p>
          <a:p>
            <a:endParaRPr lang="en-US" dirty="0" smtClean="0"/>
          </a:p>
          <a:p>
            <a:r>
              <a:rPr lang="en-US" dirty="0" smtClean="0"/>
              <a:t>1. Persons with previous record in PeopleSoft Student Center system including: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Current students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Previously registered students 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Current applicants who have already submitted an application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sp>
        <p:nvSpPr>
          <p:cNvPr id="16" name="Right Arrow 15"/>
          <p:cNvSpPr/>
          <p:nvPr/>
        </p:nvSpPr>
        <p:spPr>
          <a:xfrm>
            <a:off x="0" y="2376894"/>
            <a:ext cx="381635" cy="18651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635" y="1341439"/>
            <a:ext cx="5022890" cy="2677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488180" y="1965960"/>
            <a:ext cx="4495799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CREATION</a:t>
            </a:r>
          </a:p>
          <a:p>
            <a:r>
              <a:rPr lang="en-US" b="1" dirty="0" smtClean="0"/>
              <a:t>How can individuals access the application?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dirty="0" smtClean="0"/>
              <a:t>Three distinct groups will access the application in three distinct manners</a:t>
            </a:r>
          </a:p>
          <a:p>
            <a:endParaRPr lang="en-US" dirty="0" smtClean="0"/>
          </a:p>
          <a:p>
            <a:r>
              <a:rPr lang="en-US" dirty="0" smtClean="0"/>
              <a:t>2. Persons who do not currently have a person record in PeopleSoft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Will create user ID and password for guest account into PeopleSoft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Access restricted to ONLY application</a:t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sp>
        <p:nvSpPr>
          <p:cNvPr id="9" name="Right Arrow 8"/>
          <p:cNvSpPr/>
          <p:nvPr/>
        </p:nvSpPr>
        <p:spPr>
          <a:xfrm>
            <a:off x="0" y="3219629"/>
            <a:ext cx="381635" cy="18651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635" y="1341439"/>
            <a:ext cx="5043487" cy="3744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488180" y="1965960"/>
            <a:ext cx="4495799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CREATION</a:t>
            </a:r>
          </a:p>
          <a:p>
            <a:r>
              <a:rPr lang="en-US" b="1" dirty="0" smtClean="0"/>
              <a:t>How can individuals access the application?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dirty="0" smtClean="0"/>
              <a:t>Three distinct groups will access the application in three distinct manners</a:t>
            </a:r>
          </a:p>
          <a:p>
            <a:endParaRPr lang="en-US" dirty="0" smtClean="0"/>
          </a:p>
          <a:p>
            <a:r>
              <a:rPr lang="en-US" dirty="0" smtClean="0"/>
              <a:t>3. Persons who have previously established a Guest account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 Will use their chosen ID and password to return and continue working on application</a:t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sp>
        <p:nvSpPr>
          <p:cNvPr id="5" name="Right Arrow 4"/>
          <p:cNvSpPr/>
          <p:nvPr/>
        </p:nvSpPr>
        <p:spPr>
          <a:xfrm>
            <a:off x="0" y="4135844"/>
            <a:ext cx="381635" cy="18651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635" y="1341439"/>
            <a:ext cx="5043487" cy="3744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488180" y="1965960"/>
            <a:ext cx="4495799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CREATION</a:t>
            </a:r>
          </a:p>
          <a:p>
            <a:r>
              <a:rPr lang="en-US" b="1" dirty="0" smtClean="0"/>
              <a:t>What if a user forgets their account information?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dirty="0" smtClean="0"/>
              <a:t>Existing Student Center users:</a:t>
            </a:r>
          </a:p>
          <a:p>
            <a:r>
              <a:rPr lang="en-US" dirty="0" smtClean="0"/>
              <a:t>	Will rely on existing ITS structure to 	reconnect with user account information</a:t>
            </a:r>
          </a:p>
          <a:p>
            <a:endParaRPr lang="en-US" dirty="0" smtClean="0"/>
          </a:p>
          <a:p>
            <a:r>
              <a:rPr lang="en-US" dirty="0" smtClean="0"/>
              <a:t>Guest account users:</a:t>
            </a:r>
          </a:p>
          <a:p>
            <a:r>
              <a:rPr lang="en-US" dirty="0" smtClean="0"/>
              <a:t>	Will be able to request a reminder email 	be sent to their primary email account of 	record</a:t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sp>
        <p:nvSpPr>
          <p:cNvPr id="5" name="Right Arrow 4"/>
          <p:cNvSpPr/>
          <p:nvPr/>
        </p:nvSpPr>
        <p:spPr>
          <a:xfrm>
            <a:off x="0" y="4737914"/>
            <a:ext cx="381635" cy="18651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635" y="1341439"/>
            <a:ext cx="5043487" cy="3744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488180" y="1965960"/>
            <a:ext cx="4495799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CREATION</a:t>
            </a:r>
          </a:p>
          <a:p>
            <a:r>
              <a:rPr lang="en-US" b="1" dirty="0" smtClean="0"/>
              <a:t>Additional Proposed Features: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Identifying current students and providing existing Student Center data within their application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Identifying students applying to further studies within their current program and expediting their application</a:t>
            </a:r>
          </a:p>
          <a:p>
            <a:r>
              <a:rPr lang="en-US" b="1" dirty="0" smtClean="0"/>
              <a:t/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101839" y="5806128"/>
            <a:ext cx="38821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Successful CREATION leads user to APPLICATION phase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9743" y="3984636"/>
            <a:ext cx="828563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APPLICATION</a:t>
            </a:r>
          </a:p>
          <a:p>
            <a:r>
              <a:rPr lang="en-US" i="1" dirty="0" smtClean="0"/>
              <a:t>Essential information for each application</a:t>
            </a:r>
          </a:p>
          <a:p>
            <a:r>
              <a:rPr lang="en-US" b="1" dirty="0" smtClean="0"/>
              <a:t>Biographical and Contact Information:</a:t>
            </a:r>
          </a:p>
          <a:p>
            <a:r>
              <a:rPr lang="en-US" dirty="0" smtClean="0"/>
              <a:t>Preferred First Name, Date of Birth, Gender, SIN (optional), Phone (Home and Cellular), Address, Citizenship, First language (English/Other)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7230" y="1346201"/>
            <a:ext cx="5755640" cy="2466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9743" y="3984636"/>
            <a:ext cx="828563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APPLICATION</a:t>
            </a:r>
          </a:p>
          <a:p>
            <a:r>
              <a:rPr lang="en-US" i="1" dirty="0" smtClean="0"/>
              <a:t>Essential information for each application</a:t>
            </a:r>
          </a:p>
          <a:p>
            <a:r>
              <a:rPr lang="en-US" b="1" dirty="0" smtClean="0"/>
              <a:t>Academic History: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Previous Western Experience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Postsecondary Academic Experience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7230" y="1346201"/>
            <a:ext cx="5797550" cy="2484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9743" y="3984636"/>
            <a:ext cx="8285637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APPLICATION</a:t>
            </a:r>
          </a:p>
          <a:p>
            <a:r>
              <a:rPr lang="en-US" i="1" dirty="0" smtClean="0"/>
              <a:t>Essential information for each application</a:t>
            </a:r>
          </a:p>
          <a:p>
            <a:r>
              <a:rPr lang="en-US" b="1" dirty="0" smtClean="0"/>
              <a:t>Reference Information: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Contact information for referee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Number of references required set by program and degree</a:t>
            </a:r>
          </a:p>
          <a:p>
            <a:r>
              <a:rPr lang="en-US" b="1" dirty="0" smtClean="0"/>
              <a:t>Electronic References: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Application will connect directly to existing </a:t>
            </a:r>
            <a:r>
              <a:rPr lang="en-US" dirty="0" err="1" smtClean="0"/>
              <a:t>GradNet</a:t>
            </a:r>
            <a:r>
              <a:rPr lang="en-US" dirty="0" smtClean="0"/>
              <a:t> service </a:t>
            </a:r>
          </a:p>
          <a:p>
            <a:endParaRPr lang="en-US" dirty="0" smtClean="0"/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7230" y="1346201"/>
            <a:ext cx="5700872" cy="2443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9743" y="3984636"/>
            <a:ext cx="8285637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APPLICATION</a:t>
            </a:r>
          </a:p>
          <a:p>
            <a:r>
              <a:rPr lang="en-US" i="1" dirty="0" smtClean="0"/>
              <a:t>Essential information for each application</a:t>
            </a:r>
          </a:p>
          <a:p>
            <a:r>
              <a:rPr lang="en-US" b="1" dirty="0" smtClean="0"/>
              <a:t>Supplemental Questions:</a:t>
            </a:r>
          </a:p>
          <a:p>
            <a:r>
              <a:rPr lang="en-US" b="1" dirty="0" smtClean="0"/>
              <a:t>	Program controlled questions</a:t>
            </a:r>
          </a:p>
          <a:p>
            <a:r>
              <a:rPr lang="en-US" b="1" dirty="0" smtClean="0"/>
              <a:t>		</a:t>
            </a:r>
            <a:r>
              <a:rPr lang="en-US" dirty="0" smtClean="0"/>
              <a:t>Set questions and, if necessary, min/max character count in response</a:t>
            </a:r>
          </a:p>
          <a:p>
            <a:r>
              <a:rPr lang="en-US" b="1" dirty="0" smtClean="0"/>
              <a:t>	Central questions</a:t>
            </a:r>
          </a:p>
          <a:p>
            <a:r>
              <a:rPr lang="en-US" b="1" dirty="0" smtClean="0"/>
              <a:t>		</a:t>
            </a:r>
            <a:r>
              <a:rPr lang="en-US" dirty="0" smtClean="0"/>
              <a:t>Include: residence, source of interest, collaborative program interest</a:t>
            </a:r>
          </a:p>
          <a:p>
            <a:endParaRPr lang="en-US" dirty="0" smtClean="0"/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7230" y="1346201"/>
            <a:ext cx="5708650" cy="2616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9743" y="3984636"/>
            <a:ext cx="867425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APPLICATION</a:t>
            </a:r>
          </a:p>
          <a:p>
            <a:r>
              <a:rPr lang="en-US" b="1" dirty="0" smtClean="0"/>
              <a:t>Additional Proposed Features: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Population of updateable information for person with existing identity in Student Center</a:t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7230" y="1346201"/>
            <a:ext cx="5708650" cy="2616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101839" y="5806128"/>
            <a:ext cx="38821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Successful APPLICATION leads user to PAYMENT phase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56860" y="1821180"/>
            <a:ext cx="3627119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PAYMENT</a:t>
            </a:r>
          </a:p>
          <a:p>
            <a:r>
              <a:rPr lang="en-US" b="1" dirty="0" smtClean="0"/>
              <a:t>How can individuals pay for the application?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dirty="0" smtClean="0"/>
              <a:t>Three methods of payment</a:t>
            </a:r>
          </a:p>
          <a:p>
            <a:endParaRPr lang="en-US" dirty="0" smtClean="0"/>
          </a:p>
          <a:p>
            <a:r>
              <a:rPr lang="en-US" b="1" dirty="0" smtClean="0"/>
              <a:t>1. Credit Card Payment</a:t>
            </a:r>
          </a:p>
          <a:p>
            <a:r>
              <a:rPr lang="en-US" dirty="0" smtClean="0"/>
              <a:t>Applicants routed to third-party credit card payment system </a:t>
            </a:r>
            <a:r>
              <a:rPr lang="en-US" b="1" dirty="0" smtClean="0"/>
              <a:t>Psi-gate</a:t>
            </a:r>
            <a:r>
              <a:rPr lang="en-US" dirty="0" smtClean="0"/>
              <a:t> which presents required amount, collects payment, and allows applicant to proceed to next stage</a:t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7220" y="1341037"/>
            <a:ext cx="4735617" cy="2409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56860" y="1821180"/>
            <a:ext cx="3627119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PAYMENT</a:t>
            </a:r>
          </a:p>
          <a:p>
            <a:r>
              <a:rPr lang="en-US" b="1" dirty="0" smtClean="0"/>
              <a:t>How can individuals pay for the application?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dirty="0" smtClean="0"/>
              <a:t>Three methods of payment</a:t>
            </a:r>
          </a:p>
          <a:p>
            <a:endParaRPr lang="en-US" dirty="0" smtClean="0"/>
          </a:p>
          <a:p>
            <a:r>
              <a:rPr lang="en-US" b="1" dirty="0" smtClean="0"/>
              <a:t>2. Fee Waiver</a:t>
            </a:r>
          </a:p>
          <a:p>
            <a:r>
              <a:rPr lang="en-US" dirty="0" smtClean="0"/>
              <a:t>Fee waived for applicant by SGPS</a:t>
            </a:r>
          </a:p>
          <a:p>
            <a:endParaRPr lang="en-US" dirty="0" smtClean="0"/>
          </a:p>
          <a:p>
            <a:r>
              <a:rPr lang="en-US" b="1" dirty="0" smtClean="0"/>
              <a:t>Important to Note:</a:t>
            </a:r>
          </a:p>
          <a:p>
            <a:r>
              <a:rPr lang="en-US" dirty="0" smtClean="0"/>
              <a:t>This will require procedure to approve request for waiver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4716" y="1341037"/>
            <a:ext cx="4762144" cy="2422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7220" y="1341037"/>
            <a:ext cx="4739640" cy="2655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356860" y="1821180"/>
            <a:ext cx="362711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PAYMENT</a:t>
            </a:r>
          </a:p>
          <a:p>
            <a:r>
              <a:rPr lang="en-US" b="1" dirty="0" smtClean="0"/>
              <a:t>How can individuals pay for the application?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dirty="0" smtClean="0"/>
              <a:t>Three methods of payment</a:t>
            </a:r>
          </a:p>
          <a:p>
            <a:endParaRPr lang="en-US" dirty="0" smtClean="0"/>
          </a:p>
          <a:p>
            <a:r>
              <a:rPr lang="en-US" b="1" dirty="0" smtClean="0"/>
              <a:t>3. </a:t>
            </a:r>
            <a:r>
              <a:rPr lang="en-US" b="1" dirty="0" err="1" smtClean="0"/>
              <a:t>Cheque</a:t>
            </a:r>
            <a:r>
              <a:rPr lang="en-US" b="1" dirty="0" smtClean="0"/>
              <a:t>/Money Order</a:t>
            </a:r>
          </a:p>
          <a:p>
            <a:r>
              <a:rPr lang="en-US" dirty="0" smtClean="0"/>
              <a:t>Payment received at SGPS and staff confirms receipt of payment in application center</a:t>
            </a:r>
          </a:p>
          <a:p>
            <a:endParaRPr lang="en-US" dirty="0" smtClean="0"/>
          </a:p>
          <a:p>
            <a:r>
              <a:rPr lang="en-US" b="1" dirty="0" smtClean="0"/>
              <a:t>Important to Note:</a:t>
            </a:r>
          </a:p>
          <a:p>
            <a:r>
              <a:rPr lang="en-US" dirty="0" smtClean="0"/>
              <a:t>This will require human resources in SGPS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7220" y="1341037"/>
            <a:ext cx="4739640" cy="2655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356860" y="1821180"/>
            <a:ext cx="3627119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PAYMENT</a:t>
            </a:r>
          </a:p>
          <a:p>
            <a:r>
              <a:rPr lang="en-US" b="1" dirty="0" smtClean="0"/>
              <a:t>Important to Note:</a:t>
            </a:r>
          </a:p>
          <a:p>
            <a:r>
              <a:rPr lang="en-US" dirty="0" smtClean="0"/>
              <a:t>Applicants cannot progress further within the application without one of these three payment options being completed.</a:t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101838" y="5806128"/>
            <a:ext cx="4042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Successful PAYMENT leads user to DOCUMENTATION phase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16881" y="1927860"/>
            <a:ext cx="3627119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DOCUMENTATION</a:t>
            </a:r>
          </a:p>
          <a:p>
            <a:r>
              <a:rPr lang="en-US" b="1" dirty="0" smtClean="0"/>
              <a:t>What documents will an applicant be asked to submit?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b="1" dirty="0" smtClean="0"/>
              <a:t>1. SGPS Requirements</a:t>
            </a:r>
          </a:p>
          <a:p>
            <a:r>
              <a:rPr lang="en-US" dirty="0" smtClean="0"/>
              <a:t>Standard requirements for all applicants: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Transcripts for each institution reported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r>
              <a:rPr lang="en-US" b="1" dirty="0" smtClean="0"/>
              <a:t>Additional Proposed Features: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Western records/transcripts will not be requested and instead be collected automatically</a:t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8489" y="1343183"/>
            <a:ext cx="4736507" cy="2851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8489" y="1343183"/>
            <a:ext cx="4765041" cy="2868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516881" y="1927860"/>
            <a:ext cx="3627119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DOCUMENTATION</a:t>
            </a:r>
          </a:p>
          <a:p>
            <a:r>
              <a:rPr lang="en-US" b="1" dirty="0" smtClean="0"/>
              <a:t>What documents will an applicant be asked to submit?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b="1" dirty="0" smtClean="0"/>
              <a:t>2. Program Requirements</a:t>
            </a:r>
          </a:p>
          <a:p>
            <a:r>
              <a:rPr lang="en-US" dirty="0" smtClean="0"/>
              <a:t>Program may dictate specific requirements based on program or degree including: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Writing samples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Statements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CV</a:t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4296" y="1343183"/>
            <a:ext cx="4779234" cy="2876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16881" y="1927860"/>
            <a:ext cx="3627119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DOCUMENTATION</a:t>
            </a:r>
          </a:p>
          <a:p>
            <a:r>
              <a:rPr lang="en-US" b="1" dirty="0" smtClean="0"/>
              <a:t>How will applicants submit their documentation?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b="1" dirty="0" smtClean="0"/>
              <a:t>1. Direct upload</a:t>
            </a:r>
          </a:p>
          <a:p>
            <a:r>
              <a:rPr lang="en-US" dirty="0" smtClean="0"/>
              <a:t>Applicant will obtain a digital copy of the document and upload the file directly through the application process </a:t>
            </a:r>
          </a:p>
          <a:p>
            <a:endParaRPr lang="en-US" dirty="0" smtClean="0"/>
          </a:p>
          <a:p>
            <a:r>
              <a:rPr lang="en-US" b="1" dirty="0" smtClean="0"/>
              <a:t>Additional Proposed Features: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Restrictions on file type and size</a:t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8489" y="1343183"/>
            <a:ext cx="4727959" cy="2846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8489" y="1343183"/>
            <a:ext cx="4765041" cy="2868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516881" y="1927860"/>
            <a:ext cx="3627119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DOCUMENTATION</a:t>
            </a:r>
          </a:p>
          <a:p>
            <a:r>
              <a:rPr lang="en-US" b="1" dirty="0" smtClean="0"/>
              <a:t>How will applicants submit their documentation?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b="1" dirty="0" smtClean="0"/>
              <a:t>2. Indirect upload</a:t>
            </a:r>
          </a:p>
          <a:p>
            <a:r>
              <a:rPr lang="en-US" dirty="0" smtClean="0"/>
              <a:t>SGPS will obtain document and upload copy into application on behalf of applicant</a:t>
            </a:r>
          </a:p>
          <a:p>
            <a:endParaRPr lang="en-US" dirty="0" smtClean="0"/>
          </a:p>
          <a:p>
            <a:r>
              <a:rPr lang="en-US" b="1" dirty="0" smtClean="0"/>
              <a:t>Important to Note:</a:t>
            </a:r>
          </a:p>
          <a:p>
            <a:r>
              <a:rPr lang="en-US" dirty="0" smtClean="0"/>
              <a:t>This will require human resources in SGPS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982196" y="5806128"/>
            <a:ext cx="42899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Successful DOCUMENTATION leads user to SUBMISSION phase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7220" y="1342212"/>
            <a:ext cx="4762500" cy="2235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516881" y="1927860"/>
            <a:ext cx="3627119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SUBMISSION</a:t>
            </a:r>
          </a:p>
          <a:p>
            <a:r>
              <a:rPr lang="en-US" b="1" dirty="0" smtClean="0"/>
              <a:t>How will applicants declare their application complete?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dirty="0" smtClean="0"/>
              <a:t>Summary of responses and documentation presented to application.</a:t>
            </a:r>
          </a:p>
          <a:p>
            <a:endParaRPr lang="en-US" dirty="0" smtClean="0"/>
          </a:p>
          <a:p>
            <a:r>
              <a:rPr lang="en-US" dirty="0" smtClean="0"/>
              <a:t>Applicant informed of any missing responses or documentation and asked to verify validity of application and supporting documents.</a:t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982196" y="5806128"/>
            <a:ext cx="42899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Successful SUBMISSION leads user to REVIEW phase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1418412"/>
            <a:ext cx="4853940" cy="362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516881" y="1927860"/>
            <a:ext cx="3627119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REVIEW</a:t>
            </a:r>
          </a:p>
          <a:p>
            <a:r>
              <a:rPr lang="en-US" b="1" dirty="0" smtClean="0"/>
              <a:t>How will SGPS review applications?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dirty="0" smtClean="0"/>
              <a:t>User interface in Student Center summarizes all applications requiring assessment.</a:t>
            </a:r>
          </a:p>
          <a:p>
            <a:endParaRPr lang="en-US" dirty="0" smtClean="0"/>
          </a:p>
          <a:p>
            <a:r>
              <a:rPr lang="en-US" b="1" dirty="0" smtClean="0"/>
              <a:t>Initial assessment: </a:t>
            </a:r>
            <a:r>
              <a:rPr lang="en-US" dirty="0" smtClean="0"/>
              <a:t>are all required documents received and legible?</a:t>
            </a:r>
          </a:p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Additional Proposed Features: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Western academic records will be populated on demand for each applicant ensuring they are up to date</a:t>
            </a:r>
          </a:p>
          <a:p>
            <a:endParaRPr lang="en-US" dirty="0" smtClean="0"/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" y="1418412"/>
            <a:ext cx="4853940" cy="362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1418412"/>
            <a:ext cx="4853940" cy="362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516881" y="1927860"/>
            <a:ext cx="3627119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REVIEW</a:t>
            </a:r>
          </a:p>
          <a:p>
            <a:r>
              <a:rPr lang="en-US" b="1" dirty="0" smtClean="0"/>
              <a:t>How will SGPS review applications?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dirty="0" smtClean="0"/>
              <a:t>User interface in Student Center summarizes all applications requiring assessment.</a:t>
            </a:r>
          </a:p>
          <a:p>
            <a:endParaRPr lang="en-US" dirty="0" smtClean="0"/>
          </a:p>
          <a:p>
            <a:r>
              <a:rPr lang="en-US" dirty="0" smtClean="0"/>
              <a:t>Missing/illegible documents results in an </a:t>
            </a:r>
            <a:r>
              <a:rPr lang="en-US" b="1" dirty="0" smtClean="0"/>
              <a:t>unsuccessful review</a:t>
            </a:r>
            <a:r>
              <a:rPr lang="en-US" dirty="0" smtClean="0"/>
              <a:t>. 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Communication to applicant requests revised documents.</a:t>
            </a:r>
          </a:p>
          <a:p>
            <a:endParaRPr lang="en-US" dirty="0" smtClean="0"/>
          </a:p>
          <a:p>
            <a:r>
              <a:rPr lang="en-US" dirty="0" smtClean="0"/>
              <a:t>Applicant returned to documentation phase of application.  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" y="1418412"/>
            <a:ext cx="4853940" cy="3629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1418412"/>
            <a:ext cx="4853940" cy="362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516881" y="1927860"/>
            <a:ext cx="362711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REVIEW</a:t>
            </a:r>
          </a:p>
          <a:p>
            <a:r>
              <a:rPr lang="en-US" b="1" dirty="0" smtClean="0"/>
              <a:t>How will SGPS review applications?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dirty="0" smtClean="0"/>
              <a:t>User interface in Student Center summarizes all applications requiring assessment.</a:t>
            </a:r>
          </a:p>
          <a:p>
            <a:endParaRPr lang="en-US" dirty="0" smtClean="0"/>
          </a:p>
          <a:p>
            <a:r>
              <a:rPr lang="en-US" dirty="0" smtClean="0"/>
              <a:t>All required documents results in a </a:t>
            </a:r>
            <a:r>
              <a:rPr lang="en-US" b="1" dirty="0" smtClean="0"/>
              <a:t>successful review</a:t>
            </a:r>
            <a:r>
              <a:rPr lang="en-US" dirty="0" smtClean="0"/>
              <a:t>.  </a:t>
            </a:r>
          </a:p>
          <a:p>
            <a:endParaRPr lang="en-US" dirty="0" smtClean="0"/>
          </a:p>
          <a:p>
            <a:r>
              <a:rPr lang="en-US" b="1" dirty="0" smtClean="0"/>
              <a:t>SGPS determines: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Admission average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Basis of admission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Admission conditions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00699" y="1927860"/>
            <a:ext cx="3543301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DECISION</a:t>
            </a:r>
          </a:p>
          <a:p>
            <a:r>
              <a:rPr lang="en-US" b="1" dirty="0" smtClean="0"/>
              <a:t>How will programs render decisions?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dirty="0" smtClean="0"/>
              <a:t>User interface in Student Center summarizes all applications requiring decision.</a:t>
            </a:r>
          </a:p>
          <a:p>
            <a:endParaRPr lang="en-US" dirty="0" smtClean="0"/>
          </a:p>
          <a:p>
            <a:r>
              <a:rPr lang="en-US" dirty="0" smtClean="0"/>
              <a:t>Program administrator reviews applications and sorts them into various cohorts as determined by program need.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9260" y="1418412"/>
            <a:ext cx="4988774" cy="2855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00699" y="1927860"/>
            <a:ext cx="3543301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DECISION</a:t>
            </a:r>
          </a:p>
          <a:p>
            <a:r>
              <a:rPr lang="en-US" b="1" dirty="0" smtClean="0"/>
              <a:t>How will programs render decisions?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dirty="0" smtClean="0"/>
              <a:t>Faculty have access to applications based on cohort setup of program administrator.</a:t>
            </a:r>
          </a:p>
          <a:p>
            <a:endParaRPr lang="en-US" dirty="0" smtClean="0"/>
          </a:p>
          <a:p>
            <a:r>
              <a:rPr lang="en-US" dirty="0" smtClean="0"/>
              <a:t>Faculty can view applicant information and supporting documentation.  Able to submit comments on applications to administrator via student center.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9259" y="1418412"/>
            <a:ext cx="4979525" cy="4674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00699" y="1927860"/>
            <a:ext cx="3543301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DECISION</a:t>
            </a:r>
          </a:p>
          <a:p>
            <a:r>
              <a:rPr lang="en-US" b="1" dirty="0" smtClean="0"/>
              <a:t>How will programs render decisions?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dirty="0" smtClean="0"/>
              <a:t>Administrator or Faculty Review may determine that documents are insufficient for accurate decision.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Administrator able to reconnect with applicant via email through Student Center and request updated documentation. </a:t>
            </a:r>
          </a:p>
          <a:p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9260" y="1418412"/>
            <a:ext cx="5001342" cy="4695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00699" y="1927860"/>
            <a:ext cx="3543301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DECISION</a:t>
            </a:r>
          </a:p>
          <a:p>
            <a:r>
              <a:rPr lang="en-US" b="1" dirty="0" smtClean="0"/>
              <a:t>How will programs render decisions?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dirty="0" smtClean="0"/>
              <a:t>Department administrator maintains the decision process within the program.  </a:t>
            </a:r>
          </a:p>
          <a:p>
            <a:endParaRPr lang="en-US" dirty="0" smtClean="0"/>
          </a:p>
          <a:p>
            <a:r>
              <a:rPr lang="en-US" dirty="0" smtClean="0"/>
              <a:t>Ultimately submits the decisions within the Student Center resulting in immediate actions both in processing application and alerting applicant.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9260" y="1411867"/>
            <a:ext cx="5008505" cy="4701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00699" y="1927860"/>
            <a:ext cx="3543301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DECISION</a:t>
            </a:r>
          </a:p>
          <a:p>
            <a:r>
              <a:rPr lang="en-US" b="1" dirty="0" smtClean="0"/>
              <a:t>How will applicants learn of decision?</a:t>
            </a:r>
            <a:br>
              <a:rPr lang="en-US" b="1" dirty="0" smtClean="0"/>
            </a:br>
            <a:endParaRPr lang="en-US" b="1" dirty="0" smtClean="0"/>
          </a:p>
          <a:p>
            <a:r>
              <a:rPr lang="en-US" dirty="0" smtClean="0"/>
              <a:t>Department decisions will automatically create communications to applicants informing them of an update to their application.  </a:t>
            </a:r>
          </a:p>
          <a:p>
            <a:endParaRPr lang="en-US" dirty="0" smtClean="0"/>
          </a:p>
          <a:p>
            <a:r>
              <a:rPr lang="en-US" dirty="0" smtClean="0"/>
              <a:t>Applicants may then enter Student Center to view decision and, if admitted, accept the offer.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9260" y="1411867"/>
            <a:ext cx="5008505" cy="4701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800" b="1" dirty="0" smtClean="0">
                <a:solidFill>
                  <a:srgbClr val="3B1B70"/>
                </a:solidFill>
                <a:cs typeface="Arial Unicode MS"/>
              </a:rPr>
              <a:t>Graduate Admissions Project</a:t>
            </a:r>
            <a:r>
              <a:rPr lang="en-US" sz="3200" b="1" dirty="0" smtClean="0">
                <a:solidFill>
                  <a:srgbClr val="3B1B70"/>
                </a:solidFill>
                <a:cs typeface="Arial Unicode MS"/>
              </a:rPr>
              <a:t/>
            </a:r>
            <a:br>
              <a:rPr lang="en-US" sz="3200" b="1" dirty="0" smtClean="0">
                <a:solidFill>
                  <a:srgbClr val="3B1B70"/>
                </a:solidFill>
                <a:cs typeface="Arial Unicode MS"/>
              </a:rPr>
            </a:br>
            <a:r>
              <a:rPr lang="en-US" sz="3200" b="1" dirty="0" smtClean="0">
                <a:solidFill>
                  <a:srgbClr val="3B1B70"/>
                </a:solidFill>
                <a:cs typeface="Arial Unicode MS"/>
              </a:rPr>
              <a:t/>
            </a:r>
            <a:br>
              <a:rPr lang="en-US" sz="3200" b="1" dirty="0" smtClean="0">
                <a:solidFill>
                  <a:srgbClr val="3B1B70"/>
                </a:solidFill>
                <a:cs typeface="Arial Unicode MS"/>
              </a:rPr>
            </a:br>
            <a:r>
              <a:rPr lang="en-US" sz="3200" b="1" dirty="0" smtClean="0">
                <a:solidFill>
                  <a:srgbClr val="807F83"/>
                </a:solidFill>
                <a:cs typeface="Arial"/>
              </a:rPr>
              <a:t>Project Task Force</a:t>
            </a:r>
          </a:p>
          <a:p>
            <a:pPr lvl="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3B1B70"/>
                </a:solidFill>
                <a:cs typeface="Arial Unicode MS"/>
              </a:rPr>
              <a:t> Looking for representatives to be attached to the project as testers</a:t>
            </a:r>
          </a:p>
          <a:p>
            <a:pPr lvl="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3B1B70"/>
                </a:solidFill>
                <a:cs typeface="Arial Unicode MS"/>
              </a:rPr>
              <a:t> Work would begin in January 2013</a:t>
            </a:r>
          </a:p>
          <a:p>
            <a:pPr lvl="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3B1B70"/>
                </a:solidFill>
                <a:cs typeface="Arial Unicode MS"/>
              </a:rPr>
              <a:t> Would not be more than a few hours a month </a:t>
            </a:r>
          </a:p>
          <a:p>
            <a:pPr lvl="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3B1B70"/>
                </a:solidFill>
                <a:cs typeface="Arial Unicode MS"/>
              </a:rPr>
              <a:t> If you are interested in helping in this project please speak with Matt or Teri</a:t>
            </a:r>
          </a:p>
        </p:txBody>
      </p:sp>
    </p:spTree>
    <p:extLst>
      <p:ext uri="{BB962C8B-B14F-4D97-AF65-F5344CB8AC3E}">
        <p14:creationId xmlns="" xmlns:p14="http://schemas.microsoft.com/office/powerpoint/2010/main" val="342581467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800" b="1" dirty="0" smtClean="0">
                <a:solidFill>
                  <a:srgbClr val="3B1B70"/>
                </a:solidFill>
                <a:cs typeface="Arial Unicode MS"/>
              </a:rPr>
              <a:t>Graduate Admissions Project</a:t>
            </a:r>
            <a:r>
              <a:rPr lang="en-US" sz="3200" b="1" dirty="0" smtClean="0">
                <a:solidFill>
                  <a:srgbClr val="3B1B70"/>
                </a:solidFill>
                <a:cs typeface="Arial Unicode MS"/>
              </a:rPr>
              <a:t/>
            </a:r>
            <a:br>
              <a:rPr lang="en-US" sz="3200" b="1" dirty="0" smtClean="0">
                <a:solidFill>
                  <a:srgbClr val="3B1B70"/>
                </a:solidFill>
                <a:cs typeface="Arial Unicode MS"/>
              </a:rPr>
            </a:br>
            <a:r>
              <a:rPr lang="en-US" sz="3200" b="1" dirty="0" smtClean="0">
                <a:solidFill>
                  <a:srgbClr val="3B1B70"/>
                </a:solidFill>
                <a:cs typeface="Arial Unicode MS"/>
              </a:rPr>
              <a:t/>
            </a:r>
            <a:br>
              <a:rPr lang="en-US" sz="3200" b="1" dirty="0" smtClean="0">
                <a:solidFill>
                  <a:srgbClr val="3B1B70"/>
                </a:solidFill>
                <a:cs typeface="Arial Unicode MS"/>
              </a:rPr>
            </a:br>
            <a:r>
              <a:rPr lang="en-US" sz="3200" b="1" dirty="0" smtClean="0">
                <a:solidFill>
                  <a:srgbClr val="807F83"/>
                </a:solidFill>
                <a:cs typeface="Arial"/>
              </a:rPr>
              <a:t>Schedule</a:t>
            </a:r>
          </a:p>
          <a:p>
            <a:pPr lvl="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3B1B70"/>
                </a:solidFill>
                <a:cs typeface="Arial Unicode MS"/>
              </a:rPr>
              <a:t> June 2012 – October 2012: Prototyping within Student Center Upgrade Project</a:t>
            </a:r>
          </a:p>
          <a:p>
            <a:pPr lvl="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3B1B70"/>
                </a:solidFill>
                <a:cs typeface="Arial Unicode MS"/>
              </a:rPr>
              <a:t> November 2012 – October 2013: Development of Admissions System</a:t>
            </a:r>
          </a:p>
          <a:p>
            <a:pPr lvl="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3B1B70"/>
                </a:solidFill>
                <a:cs typeface="Arial Unicode MS"/>
              </a:rPr>
              <a:t> October 2013: New Admissions System Online</a:t>
            </a:r>
          </a:p>
        </p:txBody>
      </p:sp>
    </p:spTree>
    <p:extLst>
      <p:ext uri="{BB962C8B-B14F-4D97-AF65-F5344CB8AC3E}">
        <p14:creationId xmlns="" xmlns:p14="http://schemas.microsoft.com/office/powerpoint/2010/main" val="342581467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230" y="238125"/>
            <a:ext cx="865276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b="1" dirty="0" smtClean="0">
                <a:solidFill>
                  <a:srgbClr val="3B1B70"/>
                </a:solidFill>
                <a:latin typeface="+mj-lt"/>
                <a:cs typeface="Arial Unicode MS"/>
              </a:rPr>
              <a:t>Graduate Application Project</a:t>
            </a: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/>
            </a:r>
            <a:b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</a:br>
            <a:r>
              <a:rPr lang="en-US" sz="5000" b="1" dirty="0" smtClean="0">
                <a:solidFill>
                  <a:srgbClr val="3B1B70"/>
                </a:solidFill>
                <a:latin typeface="+mj-lt"/>
                <a:cs typeface="Arial Unicode MS"/>
              </a:rPr>
              <a:t>Design Concept Walkthrough</a:t>
            </a:r>
            <a:endParaRPr lang="en-US" sz="2800" dirty="0" smtClean="0">
              <a:solidFill>
                <a:srgbClr val="807F83"/>
              </a:solidFill>
              <a:latin typeface="Arial"/>
              <a:cs typeface="Arial"/>
            </a:endParaRPr>
          </a:p>
          <a:p>
            <a:endParaRPr lang="en-US" sz="6000" b="1" dirty="0" smtClean="0">
              <a:solidFill>
                <a:srgbClr val="807F83"/>
              </a:solidFill>
              <a:latin typeface="Arial"/>
              <a:cs typeface="Arial Unicode M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68091" y="3019245"/>
            <a:ext cx="303910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 smtClean="0">
                <a:solidFill>
                  <a:srgbClr val="3B1B70"/>
                </a:solidFill>
                <a:cs typeface="Arial Unicode MS"/>
              </a:rPr>
              <a:t>Questions?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xmlns="" val="3425814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10239</TotalTime>
  <Words>549</Words>
  <Application>Microsoft Office PowerPoint</Application>
  <PresentationFormat>On-screen Show (4:3)</PresentationFormat>
  <Paragraphs>273</Paragraphs>
  <Slides>32</Slides>
  <Notes>32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UWO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Jennifer Wilson</dc:creator>
  <cp:lastModifiedBy>Mathew Dumouchel</cp:lastModifiedBy>
  <cp:revision>995</cp:revision>
  <cp:lastPrinted>2012-01-12T15:01:17Z</cp:lastPrinted>
  <dcterms:created xsi:type="dcterms:W3CDTF">2011-12-23T15:22:14Z</dcterms:created>
  <dcterms:modified xsi:type="dcterms:W3CDTF">2012-08-14T19:33:21Z</dcterms:modified>
</cp:coreProperties>
</file>