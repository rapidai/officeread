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120" r:id="rId2"/>
    <p:sldId id="1596" r:id="rId3"/>
    <p:sldId id="1597" r:id="rId4"/>
    <p:sldId id="1605" r:id="rId5"/>
    <p:sldId id="1599" r:id="rId6"/>
    <p:sldId id="1700" r:id="rId7"/>
    <p:sldId id="1625" r:id="rId8"/>
    <p:sldId id="1603" r:id="rId9"/>
    <p:sldId id="1701" r:id="rId10"/>
  </p:sldIdLst>
  <p:sldSz cx="8686800" cy="6400800"/>
  <p:notesSz cx="6997700" cy="9271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chemeClr val="tx1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990099"/>
    <a:srgbClr val="FFFF99"/>
    <a:srgbClr val="009900"/>
    <a:srgbClr val="008000"/>
    <a:srgbClr val="339933"/>
    <a:srgbClr val="26C2FF"/>
    <a:srgbClr val="C9F9FF"/>
    <a:srgbClr val="41FF1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90" y="-540"/>
      </p:cViewPr>
      <p:guideLst>
        <p:guide orient="horz" pos="2016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60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071557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06513" y="779463"/>
            <a:ext cx="4386262" cy="32321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433888"/>
            <a:ext cx="5143500" cy="41227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489" tIns="45133" rIns="93489" bIns="451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25153922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5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5" charset="0"/>
        <a:ea typeface="ＭＳ Ｐゴシック" pitchFamily="2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5" charset="0"/>
        <a:ea typeface="ＭＳ Ｐゴシック" pitchFamily="2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5" charset="0"/>
        <a:ea typeface="ＭＳ Ｐゴシック" pitchFamily="2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5" charset="0"/>
        <a:ea typeface="ＭＳ Ｐゴシック" pitchFamily="2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solidFill>
                  <a:srgbClr val="0000FF"/>
                </a:solidFill>
                <a:latin typeface="Calibri" charset="0"/>
                <a:ea typeface="ＭＳ Ｐゴシック" charset="0"/>
                <a:cs typeface="ＭＳ Ｐゴシック" charset="0"/>
              </a:rPr>
              <a:t>CARVE air-borne observations connect satellite and ground-based measurements with vastly different spatial and temporal characteristics</a:t>
            </a:r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If we are looking for climate change perturbations to the Earth system, it makes sense to look at the domains that have the largest sensitivity to change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Read them yourselves – they are straight from the proposal</a:t>
            </a:r>
          </a:p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Thermokarst ponds emphasize the inseparable coupling between the carbon (green) and hydrologic (blue) cycles in the Alaskan Arctic</a:t>
            </a:r>
          </a:p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Cartoon: vertical cross section of microtopographic variability in thermokarst regions and how the presence or absence of water drives carbon cycle dynamics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CO2-CH4 Correlations are an important tool for understanding the origins of the signals/variations we observe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Arial" charset="0"/>
              </a:rPr>
              <a:t>CARVE 4/12/11 Engineering Test Flight – North Slope flight path #1 to Deadhorse</a:t>
            </a:r>
          </a:p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Flyovers for multiple ground sites from Fairbanks to Deadhorse and back</a:t>
            </a:r>
          </a:p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Spiral over Deadhorse (Prudhoe Bay Refineries) to sample potentially polluted air</a:t>
            </a:r>
          </a:p>
          <a:p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Continuous in situ CO2 and CH4 show strong correlation and agree well with measurements made by NOAA on their 4/4/11 flight – highest concentrations of CO2 and CH4 observed over Deadhorse at ~6500 ft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0"/>
            <a:ext cx="8686800" cy="64008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1913" y="990600"/>
            <a:ext cx="8567737" cy="0"/>
          </a:xfrm>
          <a:prstGeom prst="line">
            <a:avLst/>
          </a:prstGeom>
          <a:noFill/>
          <a:ln w="57150" cmpd="thinThick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18"/>
          <p:cNvSpPr>
            <a:spLocks noChangeShapeType="1"/>
          </p:cNvSpPr>
          <p:nvPr userDrawn="1"/>
        </p:nvSpPr>
        <p:spPr bwMode="auto">
          <a:xfrm>
            <a:off x="0" y="5791200"/>
            <a:ext cx="8686800" cy="0"/>
          </a:xfrm>
          <a:prstGeom prst="line">
            <a:avLst/>
          </a:prstGeom>
          <a:noFill/>
          <a:ln w="317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 userDrawn="1"/>
        </p:nvGraphicFramePr>
        <p:xfrm>
          <a:off x="76200" y="63500"/>
          <a:ext cx="687388" cy="622300"/>
        </p:xfrm>
        <a:graphic>
          <a:graphicData uri="http://schemas.openxmlformats.org/presentationml/2006/ole">
            <p:oleObj spid="_x0000_s27680" name="Photo Editor Photo" r:id="rId3" imgW="1523810" imgH="1380952" progId="">
              <p:embed/>
            </p:oleObj>
          </a:graphicData>
        </a:graphic>
      </p:graphicFrame>
      <p:sp>
        <p:nvSpPr>
          <p:cNvPr id="7" name="Rectangle 40"/>
          <p:cNvSpPr>
            <a:spLocks noChangeArrowheads="1"/>
          </p:cNvSpPr>
          <p:nvPr userDrawn="1"/>
        </p:nvSpPr>
        <p:spPr bwMode="auto">
          <a:xfrm>
            <a:off x="609600" y="152400"/>
            <a:ext cx="2209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7" rIns="91434" bIns="45717">
            <a:spAutoFit/>
          </a:bodyPr>
          <a:lstStyle/>
          <a:p>
            <a:pPr algn="l"/>
            <a:r>
              <a:rPr lang="en-US" sz="1000">
                <a:solidFill>
                  <a:schemeClr val="accent2"/>
                </a:solidFill>
                <a:latin typeface="Helvetica" charset="0"/>
              </a:rPr>
              <a:t>National Aeronautics and Space Administration</a:t>
            </a:r>
          </a:p>
          <a:p>
            <a:pPr algn="l"/>
            <a:r>
              <a:rPr lang="en-US" sz="1000" b="1">
                <a:solidFill>
                  <a:schemeClr val="accent2"/>
                </a:solidFill>
                <a:latin typeface="Helvetica" charset="0"/>
              </a:rPr>
              <a:t>Jet Propulsion Laboratory</a:t>
            </a:r>
          </a:p>
          <a:p>
            <a:pPr algn="l"/>
            <a:r>
              <a:rPr lang="en-US" sz="1000" b="1">
                <a:solidFill>
                  <a:schemeClr val="accent2"/>
                </a:solidFill>
                <a:latin typeface="Helvetica" charset="0"/>
              </a:rPr>
              <a:t>California Institute of Technology</a:t>
            </a:r>
          </a:p>
        </p:txBody>
      </p:sp>
      <p:pic>
        <p:nvPicPr>
          <p:cNvPr id="8" name="Picture 71"/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4913" y="5943600"/>
            <a:ext cx="9794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1"/>
          <p:cNvSpPr>
            <a:spLocks noChangeArrowheads="1"/>
          </p:cNvSpPr>
          <p:nvPr userDrawn="1"/>
        </p:nvSpPr>
        <p:spPr bwMode="auto">
          <a:xfrm>
            <a:off x="152400" y="6011863"/>
            <a:ext cx="1905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7" rIns="91434" bIns="45717">
            <a:spAutoFit/>
          </a:bodyPr>
          <a:lstStyle/>
          <a:p>
            <a:pPr algn="l"/>
            <a:r>
              <a:rPr lang="en-US" sz="1000" b="1">
                <a:solidFill>
                  <a:schemeClr val="accent2"/>
                </a:solidFill>
                <a:latin typeface="Helvetica" charset="0"/>
              </a:rPr>
              <a:t>JPL Proprietary Information</a:t>
            </a:r>
          </a:p>
        </p:txBody>
      </p:sp>
      <p:sp>
        <p:nvSpPr>
          <p:cNvPr id="134210" name="Rectangle 66"/>
          <p:cNvSpPr>
            <a:spLocks noGrp="1" noChangeArrowheads="1"/>
          </p:cNvSpPr>
          <p:nvPr>
            <p:ph type="ctrTitle" sz="quarter"/>
          </p:nvPr>
        </p:nvSpPr>
        <p:spPr>
          <a:xfrm>
            <a:off x="2622550" y="309563"/>
            <a:ext cx="5105400" cy="762000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295143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7"/>
          <p:cNvSpPr>
            <a:spLocks noGrp="1" noChangeArrowheads="1"/>
          </p:cNvSpPr>
          <p:nvPr>
            <p:ph type="title"/>
          </p:nvPr>
        </p:nvSpPr>
        <p:spPr bwMode="auto">
          <a:xfrm>
            <a:off x="1066801" y="141288"/>
            <a:ext cx="64008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816850" cy="4224337"/>
          </a:xfrm>
          <a:prstGeom prst="rect">
            <a:avLst/>
          </a:prstGeom>
        </p:spPr>
        <p:txBody>
          <a:bodyPr vert="horz"/>
          <a:lstStyle>
            <a:lvl1pPr marL="228600" indent="-228600">
              <a:defRPr sz="2000">
                <a:latin typeface="Arial"/>
                <a:cs typeface="Arial"/>
              </a:defRPr>
            </a:lvl1pPr>
            <a:lvl2pPr marL="457200" indent="-228600">
              <a:defRPr sz="2000">
                <a:latin typeface="Arial"/>
                <a:cs typeface="Arial"/>
              </a:defRPr>
            </a:lvl2pPr>
            <a:lvl3pPr marL="688975" indent="-215900">
              <a:defRPr sz="1800">
                <a:latin typeface="Arial"/>
                <a:cs typeface="Arial"/>
              </a:defRPr>
            </a:lvl3pPr>
            <a:lvl4pPr marL="974725" indent="-214313">
              <a:defRPr sz="1800">
                <a:latin typeface="Arial"/>
                <a:cs typeface="Arial"/>
              </a:defRPr>
            </a:lvl4pPr>
            <a:lvl5pPr marL="1203325" indent="-215900"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49085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13213"/>
            <a:ext cx="7383463" cy="127158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713038"/>
            <a:ext cx="7383463" cy="1400175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41734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3" y="141288"/>
            <a:ext cx="4948237" cy="62071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4975" y="1493838"/>
            <a:ext cx="3832225" cy="4224337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493838"/>
            <a:ext cx="3832225" cy="4224337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64709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975" y="255588"/>
            <a:ext cx="7816850" cy="106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4975" y="1433513"/>
            <a:ext cx="3836988" cy="5969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975" y="2030413"/>
            <a:ext cx="3836988" cy="3687762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3250" y="1433513"/>
            <a:ext cx="3838575" cy="5969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3250" y="2030413"/>
            <a:ext cx="3838575" cy="3687762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3945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7"/>
          <p:cNvSpPr>
            <a:spLocks noGrp="1" noChangeArrowheads="1"/>
          </p:cNvSpPr>
          <p:nvPr>
            <p:ph type="title"/>
          </p:nvPr>
        </p:nvSpPr>
        <p:spPr bwMode="auto">
          <a:xfrm>
            <a:off x="1066801" y="141288"/>
            <a:ext cx="6400800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33451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70530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975" y="255588"/>
            <a:ext cx="2857500" cy="10842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5663" y="255588"/>
            <a:ext cx="4856162" cy="5462587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975" y="1339850"/>
            <a:ext cx="2857500" cy="43783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419737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388" y="4479925"/>
            <a:ext cx="5211762" cy="5302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03388" y="571500"/>
            <a:ext cx="5211762" cy="38401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3388" y="5010150"/>
            <a:ext cx="5211762" cy="75088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3703637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3" y="141288"/>
            <a:ext cx="4948237" cy="62071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4975" y="1493838"/>
            <a:ext cx="7816850" cy="422433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4243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7613" y="325438"/>
            <a:ext cx="1954212" cy="5392737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4975" y="325438"/>
            <a:ext cx="5710238" cy="539273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6085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8686800" cy="64008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Line 14"/>
          <p:cNvSpPr>
            <a:spLocks noChangeShapeType="1"/>
          </p:cNvSpPr>
          <p:nvPr userDrawn="1"/>
        </p:nvSpPr>
        <p:spPr bwMode="auto">
          <a:xfrm>
            <a:off x="0" y="5943600"/>
            <a:ext cx="8686800" cy="0"/>
          </a:xfrm>
          <a:prstGeom prst="line">
            <a:avLst/>
          </a:prstGeom>
          <a:noFill/>
          <a:ln w="317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" name="Line 22"/>
          <p:cNvSpPr>
            <a:spLocks noChangeShapeType="1"/>
          </p:cNvSpPr>
          <p:nvPr userDrawn="1"/>
        </p:nvSpPr>
        <p:spPr bwMode="auto">
          <a:xfrm>
            <a:off x="0" y="914400"/>
            <a:ext cx="8686800" cy="0"/>
          </a:xfrm>
          <a:prstGeom prst="line">
            <a:avLst/>
          </a:prstGeom>
          <a:noFill/>
          <a:ln w="57150" cmpd="thinThick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9" name="Object 2"/>
          <p:cNvGraphicFramePr>
            <a:graphicFrameLocks noChangeAspect="1"/>
          </p:cNvGraphicFramePr>
          <p:nvPr userDrawn="1"/>
        </p:nvGraphicFramePr>
        <p:xfrm>
          <a:off x="52388" y="95250"/>
          <a:ext cx="938212" cy="766763"/>
        </p:xfrm>
        <a:graphic>
          <a:graphicData uri="http://schemas.openxmlformats.org/presentationml/2006/ole">
            <p:oleObj spid="_x0000_s1068" name="Photo Editor Photo" r:id="rId14" imgW="1523810" imgH="1380952" progId="">
              <p:embed/>
            </p:oleObj>
          </a:graphicData>
        </a:graphic>
      </p:graphicFrame>
      <p:sp>
        <p:nvSpPr>
          <p:cNvPr id="1030" name="Rectangle 67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141288"/>
            <a:ext cx="6400800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1031" name="Picture 8" descr="CARVE figure.jpg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3800" y="55563"/>
            <a:ext cx="1081088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656513" y="533400"/>
            <a:ext cx="8985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smtClean="0">
                <a:solidFill>
                  <a:schemeClr val="bg1"/>
                </a:solidFill>
              </a:rPr>
              <a:t>CARVE</a:t>
            </a:r>
            <a:endParaRPr lang="en-US" b="1" smtClean="0">
              <a:solidFill>
                <a:schemeClr val="bg1"/>
              </a:solidFill>
            </a:endParaRPr>
          </a:p>
        </p:txBody>
      </p:sp>
      <p:sp>
        <p:nvSpPr>
          <p:cNvPr id="19" name="Text Box 53"/>
          <p:cNvSpPr txBox="1">
            <a:spLocks noChangeArrowheads="1"/>
          </p:cNvSpPr>
          <p:nvPr userDrawn="1"/>
        </p:nvSpPr>
        <p:spPr bwMode="auto">
          <a:xfrm>
            <a:off x="2514600" y="5962650"/>
            <a:ext cx="3671888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8" tIns="45714" rIns="91428" bIns="45714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ts val="1000"/>
              </a:lnSpc>
              <a:defRPr/>
            </a:pPr>
            <a:r>
              <a:rPr lang="en-US" sz="1000" b="1" smtClean="0"/>
              <a:t>                                          </a:t>
            </a:r>
            <a:fld id="{31D23DA1-B6CF-ED46-A207-3CA7A46DEF5F}" type="slidenum">
              <a:rPr lang="en-US" sz="1000" b="1" smtClean="0"/>
              <a:pPr>
                <a:lnSpc>
                  <a:spcPts val="1000"/>
                </a:lnSpc>
                <a:defRPr/>
              </a:pPr>
              <a:t>‹#›</a:t>
            </a:fld>
            <a:r>
              <a:rPr lang="en-US" sz="1000" b="1" smtClean="0"/>
              <a:t>                                           </a:t>
            </a:r>
          </a:p>
          <a:p>
            <a:pPr>
              <a:lnSpc>
                <a:spcPts val="1000"/>
              </a:lnSpc>
              <a:defRPr/>
            </a:pPr>
            <a:r>
              <a:rPr lang="en-US" sz="1000" b="1" smtClean="0">
                <a:solidFill>
                  <a:srgbClr val="0000FF"/>
                </a:solidFill>
              </a:rPr>
              <a:t>Carbon in Arctic Reservoirs Vulnerability Experiment</a:t>
            </a:r>
          </a:p>
        </p:txBody>
      </p:sp>
      <p:sp>
        <p:nvSpPr>
          <p:cNvPr id="20" name="Text Box 76"/>
          <p:cNvSpPr txBox="1">
            <a:spLocks noChangeArrowheads="1"/>
          </p:cNvSpPr>
          <p:nvPr userDrawn="1"/>
        </p:nvSpPr>
        <p:spPr bwMode="auto">
          <a:xfrm>
            <a:off x="6259513" y="5962650"/>
            <a:ext cx="242728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8" tIns="45714" rIns="91428" bIns="45714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ts val="1000"/>
              </a:lnSpc>
              <a:defRPr/>
            </a:pPr>
            <a:endParaRPr lang="en-US" sz="1000" dirty="0" smtClean="0"/>
          </a:p>
          <a:p>
            <a:pPr>
              <a:lnSpc>
                <a:spcPts val="1000"/>
              </a:lnSpc>
              <a:defRPr/>
            </a:pPr>
            <a:r>
              <a:rPr lang="en-US" sz="1000" dirty="0" smtClean="0"/>
              <a:t>October 2011</a:t>
            </a:r>
          </a:p>
        </p:txBody>
      </p:sp>
      <p:sp>
        <p:nvSpPr>
          <p:cNvPr id="21" name="Text Box 76"/>
          <p:cNvSpPr txBox="1">
            <a:spLocks noChangeArrowheads="1"/>
          </p:cNvSpPr>
          <p:nvPr userDrawn="1"/>
        </p:nvSpPr>
        <p:spPr bwMode="auto">
          <a:xfrm>
            <a:off x="0" y="6026150"/>
            <a:ext cx="2514600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8" tIns="45714" rIns="91428" bIns="45714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ts val="1000"/>
              </a:lnSpc>
              <a:defRPr/>
            </a:pPr>
            <a:r>
              <a:rPr lang="en-US" sz="1000" dirty="0" smtClean="0"/>
              <a:t>Spring 2011 I&amp;T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</p:sldLayoutIdLst>
  <p:timing>
    <p:tnLst>
      <p:par>
        <p:cTn id="1" dur="indefinite" restart="never" nodeType="tmRoot"/>
      </p:par>
    </p:tnLst>
  </p:timing>
  <p:txStyles>
    <p:titleStyle>
      <a:lvl1pPr algn="ctr" defTabSz="862013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FF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defTabSz="862013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FF"/>
          </a:solidFill>
          <a:latin typeface="Arial" pitchFamily="25" charset="0"/>
          <a:ea typeface="ＭＳ Ｐゴシック" pitchFamily="-110" charset="-128"/>
          <a:cs typeface="ＭＳ Ｐゴシック" pitchFamily="-110" charset="-128"/>
        </a:defRPr>
      </a:lvl2pPr>
      <a:lvl3pPr algn="ctr" defTabSz="862013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FF"/>
          </a:solidFill>
          <a:latin typeface="Arial" pitchFamily="25" charset="0"/>
          <a:ea typeface="ＭＳ Ｐゴシック" pitchFamily="-110" charset="-128"/>
          <a:cs typeface="ＭＳ Ｐゴシック" pitchFamily="-110" charset="-128"/>
        </a:defRPr>
      </a:lvl3pPr>
      <a:lvl4pPr algn="ctr" defTabSz="862013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FF"/>
          </a:solidFill>
          <a:latin typeface="Arial" pitchFamily="25" charset="0"/>
          <a:ea typeface="ＭＳ Ｐゴシック" pitchFamily="-110" charset="-128"/>
          <a:cs typeface="ＭＳ Ｐゴシック" pitchFamily="-110" charset="-128"/>
        </a:defRPr>
      </a:lvl4pPr>
      <a:lvl5pPr algn="ctr" defTabSz="862013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00FF"/>
          </a:solidFill>
          <a:latin typeface="Arial" pitchFamily="25" charset="0"/>
          <a:ea typeface="ＭＳ Ｐゴシック" pitchFamily="-110" charset="-128"/>
          <a:cs typeface="ＭＳ Ｐゴシック" pitchFamily="-110" charset="-128"/>
        </a:defRPr>
      </a:lvl5pPr>
      <a:lvl6pPr marL="457200" algn="ctr" defTabSz="862013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25" charset="0"/>
        </a:defRPr>
      </a:lvl6pPr>
      <a:lvl7pPr marL="914400" algn="ctr" defTabSz="862013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25" charset="0"/>
        </a:defRPr>
      </a:lvl7pPr>
      <a:lvl8pPr marL="1371600" algn="ctr" defTabSz="862013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25" charset="0"/>
        </a:defRPr>
      </a:lvl8pPr>
      <a:lvl9pPr marL="1828800" algn="ctr" defTabSz="862013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itchFamily="25" charset="0"/>
        </a:defRPr>
      </a:lvl9pPr>
    </p:titleStyle>
    <p:bodyStyle>
      <a:lvl1pPr marL="323850" indent="-323850" algn="l" defTabSz="862013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30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00088" indent="-242888" algn="l" defTabSz="862013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600">
          <a:solidFill>
            <a:schemeClr val="tx1"/>
          </a:solidFill>
          <a:latin typeface="+mn-lt"/>
          <a:ea typeface="ＭＳ Ｐゴシック" pitchFamily="25" charset="-128"/>
        </a:defRPr>
      </a:lvl2pPr>
      <a:lvl3pPr marL="1077913" indent="-215900" algn="l" defTabSz="862013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300">
          <a:solidFill>
            <a:schemeClr val="tx1"/>
          </a:solidFill>
          <a:latin typeface="+mn-lt"/>
          <a:ea typeface="ＭＳ Ｐゴシック" pitchFamily="25" charset="-128"/>
        </a:defRPr>
      </a:lvl3pPr>
      <a:lvl4pPr marL="1508125" indent="-214313" algn="l" defTabSz="862013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900">
          <a:solidFill>
            <a:schemeClr val="tx1"/>
          </a:solidFill>
          <a:latin typeface="+mn-lt"/>
          <a:ea typeface="ＭＳ Ｐゴシック" pitchFamily="25" charset="-128"/>
        </a:defRPr>
      </a:lvl4pPr>
      <a:lvl5pPr marL="1939925" indent="-215900" algn="l" defTabSz="862013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900">
          <a:solidFill>
            <a:schemeClr val="tx1"/>
          </a:solidFill>
          <a:latin typeface="+mn-lt"/>
          <a:ea typeface="ＭＳ Ｐゴシック" pitchFamily="25" charset="-128"/>
        </a:defRPr>
      </a:lvl5pPr>
      <a:lvl6pPr marL="2397125" indent="-215900" algn="l" defTabSz="862013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900">
          <a:solidFill>
            <a:schemeClr val="tx1"/>
          </a:solidFill>
          <a:latin typeface="+mn-lt"/>
          <a:ea typeface="ＭＳ Ｐゴシック" pitchFamily="25" charset="-128"/>
        </a:defRPr>
      </a:lvl6pPr>
      <a:lvl7pPr marL="2854325" indent="-215900" algn="l" defTabSz="862013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900">
          <a:solidFill>
            <a:schemeClr val="tx1"/>
          </a:solidFill>
          <a:latin typeface="+mn-lt"/>
          <a:ea typeface="ＭＳ Ｐゴシック" pitchFamily="25" charset="-128"/>
        </a:defRPr>
      </a:lvl7pPr>
      <a:lvl8pPr marL="3311525" indent="-215900" algn="l" defTabSz="862013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900">
          <a:solidFill>
            <a:schemeClr val="tx1"/>
          </a:solidFill>
          <a:latin typeface="+mn-lt"/>
          <a:ea typeface="ＭＳ Ｐゴシック" pitchFamily="25" charset="-128"/>
        </a:defRPr>
      </a:lvl8pPr>
      <a:lvl9pPr marL="3768725" indent="-215900" algn="l" defTabSz="862013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900">
          <a:solidFill>
            <a:schemeClr val="tx1"/>
          </a:solidFill>
          <a:latin typeface="+mn-lt"/>
          <a:ea typeface="ＭＳ Ｐゴシック" pitchFamily="2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5"/>
          <p:cNvSpPr>
            <a:spLocks noChangeArrowheads="1"/>
          </p:cNvSpPr>
          <p:nvPr/>
        </p:nvSpPr>
        <p:spPr bwMode="auto">
          <a:xfrm>
            <a:off x="0" y="4064000"/>
            <a:ext cx="86868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862013"/>
            <a:r>
              <a:rPr lang="en-US" b="1">
                <a:solidFill>
                  <a:schemeClr val="bg1"/>
                </a:solidFill>
              </a:rPr>
              <a:t>Charles Miller, Annmarie Eldering, Kevin Bowman</a:t>
            </a:r>
            <a:br>
              <a:rPr lang="en-US" b="1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Meemong Lee, Zheng Qu, James Wood</a:t>
            </a:r>
          </a:p>
        </p:txBody>
      </p:sp>
      <p:sp>
        <p:nvSpPr>
          <p:cNvPr id="5122" name="Title 1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5123" name="Picture 8" descr="Image Carbon in Arctic Reservoirs &#10;Vulnerability Experiment (CARVE) image of earth with remote sensing grids overlaying earth&#10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8680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2"/>
          <p:cNvSpPr txBox="1">
            <a:spLocks noChangeArrowheads="1"/>
          </p:cNvSpPr>
          <p:nvPr/>
        </p:nvSpPr>
        <p:spPr bwMode="auto">
          <a:xfrm>
            <a:off x="-17463" y="0"/>
            <a:ext cx="4437063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72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chemeClr val="bg1"/>
                </a:solidFill>
              </a:rPr>
              <a:t>Carbon in Arctic Reservoirs 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Vulnerability Experiment (CARVE)</a:t>
            </a:r>
          </a:p>
          <a:p>
            <a:pPr eaLnBrk="1" hangingPunct="1"/>
            <a:endParaRPr lang="en-US" sz="2400" b="1" dirty="0">
              <a:solidFill>
                <a:schemeClr val="bg1"/>
              </a:solidFill>
            </a:endParaRPr>
          </a:p>
          <a:p>
            <a:pPr eaLnBrk="1" hangingPunct="1"/>
            <a:endParaRPr lang="en-US" sz="2400" b="1" dirty="0">
              <a:solidFill>
                <a:schemeClr val="bg1"/>
              </a:solidFill>
            </a:endParaRPr>
          </a:p>
          <a:p>
            <a:pPr eaLnBrk="1" hangingPunct="1"/>
            <a:endParaRPr lang="en-US" sz="2400" b="1" dirty="0">
              <a:solidFill>
                <a:schemeClr val="bg1"/>
              </a:solidFill>
            </a:endParaRPr>
          </a:p>
          <a:p>
            <a:pPr eaLnBrk="1" hangingPunct="1"/>
            <a:endParaRPr lang="en-US" sz="2400" b="1" dirty="0">
              <a:solidFill>
                <a:schemeClr val="bg1"/>
              </a:solidFill>
            </a:endParaRPr>
          </a:p>
          <a:p>
            <a:pPr eaLnBrk="1" hangingPunct="1"/>
            <a:endParaRPr lang="en-US" sz="2400" b="1" dirty="0">
              <a:solidFill>
                <a:schemeClr val="bg1"/>
              </a:solidFill>
            </a:endParaRP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</a:rPr>
              <a:t>Spring 2011 </a:t>
            </a:r>
            <a:r>
              <a:rPr lang="en-US" sz="2400" b="1" dirty="0" smtClean="0">
                <a:solidFill>
                  <a:schemeClr val="bg1"/>
                </a:solidFill>
              </a:rPr>
              <a:t>Update</a:t>
            </a:r>
          </a:p>
          <a:p>
            <a:pPr eaLnBrk="1" hangingPunct="1"/>
            <a:r>
              <a:rPr lang="en-US" sz="2400" b="1" dirty="0" smtClean="0">
                <a:solidFill>
                  <a:schemeClr val="bg1"/>
                </a:solidFill>
              </a:rPr>
              <a:t>Engineering Flights &amp; Project Status</a:t>
            </a: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1000" b="1" dirty="0">
                <a:solidFill>
                  <a:schemeClr val="bg1"/>
                </a:solidFill>
              </a:rPr>
              <a:t/>
            </a:r>
            <a:br>
              <a:rPr lang="en-US" sz="1000" b="1" dirty="0">
                <a:solidFill>
                  <a:schemeClr val="bg1"/>
                </a:solidFill>
              </a:rPr>
            </a:br>
            <a:endParaRPr lang="en-US" sz="1000" b="1" dirty="0" smtClean="0">
              <a:solidFill>
                <a:schemeClr val="bg1"/>
              </a:solidFill>
            </a:endParaRPr>
          </a:p>
          <a:p>
            <a:pPr eaLnBrk="1" hangingPunct="1"/>
            <a:r>
              <a:rPr lang="en-US" b="1" dirty="0" smtClean="0">
                <a:solidFill>
                  <a:schemeClr val="bg1"/>
                </a:solidFill>
              </a:rPr>
              <a:t>Charles </a:t>
            </a:r>
            <a:r>
              <a:rPr lang="en-US" b="1" dirty="0">
                <a:solidFill>
                  <a:schemeClr val="bg1"/>
                </a:solidFill>
              </a:rPr>
              <a:t>Miller, PI</a:t>
            </a:r>
          </a:p>
          <a:p>
            <a:pPr eaLnBrk="1" hangingPunct="1"/>
            <a:r>
              <a:rPr lang="en-US" b="1" dirty="0">
                <a:solidFill>
                  <a:schemeClr val="bg1"/>
                </a:solidFill>
              </a:rPr>
              <a:t>Steve </a:t>
            </a:r>
            <a:r>
              <a:rPr lang="en-US" b="1" dirty="0" err="1">
                <a:solidFill>
                  <a:schemeClr val="bg1"/>
                </a:solidFill>
              </a:rPr>
              <a:t>Dinardo</a:t>
            </a:r>
            <a:r>
              <a:rPr lang="en-US" b="1" dirty="0">
                <a:solidFill>
                  <a:schemeClr val="bg1"/>
                </a:solidFill>
              </a:rPr>
              <a:t>, PM</a:t>
            </a:r>
          </a:p>
          <a:p>
            <a:pPr eaLnBrk="1" hangingPunct="1"/>
            <a:r>
              <a:rPr lang="en-US" b="1" dirty="0">
                <a:solidFill>
                  <a:schemeClr val="bg1"/>
                </a:solidFill>
              </a:rPr>
              <a:t>CARVE Science Team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sz="1000" b="1" dirty="0">
                <a:solidFill>
                  <a:schemeClr val="bg1"/>
                </a:solidFill>
              </a:rPr>
              <a:t/>
            </a:r>
            <a:br>
              <a:rPr lang="en-US" sz="1000" b="1" dirty="0">
                <a:solidFill>
                  <a:schemeClr val="bg1"/>
                </a:solidFill>
              </a:rPr>
            </a:br>
            <a:r>
              <a:rPr lang="en-US" sz="1600" b="1" dirty="0" smtClean="0">
                <a:solidFill>
                  <a:schemeClr val="bg1"/>
                </a:solidFill>
              </a:rPr>
              <a:t>NASA CCE Joint Workshop</a:t>
            </a:r>
          </a:p>
          <a:p>
            <a:pPr eaLnBrk="1" hangingPunct="1"/>
            <a:r>
              <a:rPr lang="en-US" sz="1600" b="1" dirty="0" smtClean="0">
                <a:solidFill>
                  <a:schemeClr val="bg1"/>
                </a:solidFill>
              </a:rPr>
              <a:t>Alexandria, VA</a:t>
            </a:r>
          </a:p>
          <a:p>
            <a:pPr eaLnBrk="1" hangingPunct="1"/>
            <a:r>
              <a:rPr lang="en-US" sz="1600" b="1" dirty="0" smtClean="0">
                <a:solidFill>
                  <a:schemeClr val="bg1"/>
                </a:solidFill>
              </a:rPr>
              <a:t>3-5 October 2011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 descr="Alaska permafrost domains schematic, Brown etc al 2001 [NSIDC]"/>
          <p:cNvGrpSpPr/>
          <p:nvPr/>
        </p:nvGrpSpPr>
        <p:grpSpPr>
          <a:xfrm>
            <a:off x="5334000" y="3276600"/>
            <a:ext cx="3352800" cy="2667000"/>
            <a:chOff x="5334000" y="3276600"/>
            <a:chExt cx="3352800" cy="2667000"/>
          </a:xfrm>
        </p:grpSpPr>
        <p:sp>
          <p:nvSpPr>
            <p:cNvPr id="8199" name="TextBox 10"/>
            <p:cNvSpPr txBox="1">
              <a:spLocks noChangeArrowheads="1"/>
            </p:cNvSpPr>
            <p:nvPr/>
          </p:nvSpPr>
          <p:spPr bwMode="auto">
            <a:xfrm rot="-5400000">
              <a:off x="7205663" y="4310062"/>
              <a:ext cx="19812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solidFill>
                    <a:srgbClr val="0000FF"/>
                  </a:solidFill>
                </a:rPr>
                <a:t>Brown et al., 2001 [NSIDC]</a:t>
              </a:r>
            </a:p>
          </p:txBody>
        </p:sp>
        <p:pic>
          <p:nvPicPr>
            <p:cNvPr id="8198" name="Picture 9" descr="alaska_permafrost_map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0" y="3276600"/>
              <a:ext cx="2438400" cy="2606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0" name="TextBox 8"/>
            <p:cNvSpPr txBox="1">
              <a:spLocks noChangeArrowheads="1"/>
            </p:cNvSpPr>
            <p:nvPr/>
          </p:nvSpPr>
          <p:spPr bwMode="auto">
            <a:xfrm>
              <a:off x="6624638" y="5667375"/>
              <a:ext cx="2062162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200" dirty="0"/>
                <a:t>Alaska permafrost domains</a:t>
              </a:r>
            </a:p>
          </p:txBody>
        </p:sp>
      </p:grpSp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41288"/>
            <a:ext cx="6400800" cy="620712"/>
          </a:xfrm>
          <a:ln/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Massive Reservoirs of Arctic Carbon are Vulnerable to Climate Change</a:t>
            </a:r>
          </a:p>
        </p:txBody>
      </p:sp>
      <p:sp>
        <p:nvSpPr>
          <p:cNvPr id="8194" name="TextBox 6"/>
          <p:cNvSpPr txBox="1">
            <a:spLocks noChangeArrowheads="1"/>
          </p:cNvSpPr>
          <p:nvPr/>
        </p:nvSpPr>
        <p:spPr bwMode="auto">
          <a:xfrm>
            <a:off x="76200" y="1014413"/>
            <a:ext cx="5131296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indent="-233363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lang="en-US" sz="1700" dirty="0" smtClean="0">
                <a:cs typeface="Calibri" charset="0"/>
              </a:rPr>
              <a:t>Rapidly increasing </a:t>
            </a:r>
            <a:r>
              <a:rPr lang="en-US" sz="1700" dirty="0">
                <a:cs typeface="Calibri" charset="0"/>
              </a:rPr>
              <a:t>temperatures threaten to mobilize permafrost C into dynamic cycling, creating a potentially massive perturbation to the climate </a:t>
            </a:r>
            <a:r>
              <a:rPr lang="en-US" sz="1700" dirty="0" smtClean="0">
                <a:cs typeface="Calibri" charset="0"/>
              </a:rPr>
              <a:t>system</a:t>
            </a:r>
          </a:p>
          <a:p>
            <a:pPr algn="l">
              <a:lnSpc>
                <a:spcPts val="1800"/>
              </a:lnSpc>
              <a:spcAft>
                <a:spcPts val="400"/>
              </a:spcAft>
            </a:pPr>
            <a:endParaRPr lang="en-US" sz="1700" dirty="0" smtClean="0">
              <a:cs typeface="Calibri" charset="0"/>
            </a:endParaRPr>
          </a:p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lang="en-US" sz="1700" dirty="0" smtClean="0">
                <a:cs typeface="Calibri" charset="0"/>
              </a:rPr>
              <a:t>An estimated 1400–1850 </a:t>
            </a:r>
            <a:r>
              <a:rPr lang="en-US" sz="1700" dirty="0" err="1">
                <a:cs typeface="Calibri" charset="0"/>
              </a:rPr>
              <a:t>PgC</a:t>
            </a:r>
            <a:r>
              <a:rPr lang="en-US" sz="1700" dirty="0">
                <a:cs typeface="Calibri" charset="0"/>
              </a:rPr>
              <a:t> are </a:t>
            </a:r>
            <a:r>
              <a:rPr lang="en-US" sz="1700" dirty="0" smtClean="0">
                <a:cs typeface="Calibri" charset="0"/>
              </a:rPr>
              <a:t>stored </a:t>
            </a:r>
            <a:r>
              <a:rPr lang="en-US" sz="1700" dirty="0">
                <a:cs typeface="Calibri" charset="0"/>
              </a:rPr>
              <a:t>in permafrost and frozen </a:t>
            </a:r>
            <a:r>
              <a:rPr lang="en-US" sz="1700" dirty="0" smtClean="0">
                <a:cs typeface="Calibri" charset="0"/>
              </a:rPr>
              <a:t>soils [McGuire et al., 2010]</a:t>
            </a:r>
            <a:endParaRPr lang="en-US" sz="1700" dirty="0">
              <a:cs typeface="Calibri" charset="0"/>
            </a:endParaRPr>
          </a:p>
          <a:p>
            <a:pPr marL="223837" lvl="1" indent="0" algn="l">
              <a:lnSpc>
                <a:spcPts val="1800"/>
              </a:lnSpc>
              <a:spcAft>
                <a:spcPts val="400"/>
              </a:spcAft>
            </a:pPr>
            <a:r>
              <a:rPr lang="en-US" sz="1700" dirty="0" smtClean="0">
                <a:cs typeface="Calibri" charset="0"/>
              </a:rPr>
              <a:t>  ~200 </a:t>
            </a:r>
            <a:r>
              <a:rPr lang="en-US" sz="1700" dirty="0" err="1" smtClean="0">
                <a:cs typeface="Calibri" charset="0"/>
              </a:rPr>
              <a:t>PgC</a:t>
            </a:r>
            <a:r>
              <a:rPr lang="en-US" sz="1700" dirty="0" smtClean="0">
                <a:cs typeface="Calibri" charset="0"/>
              </a:rPr>
              <a:t> at depths 0 – 30 cm</a:t>
            </a:r>
          </a:p>
          <a:p>
            <a:pPr marL="223837" lvl="1" indent="0" algn="l">
              <a:lnSpc>
                <a:spcPts val="1800"/>
              </a:lnSpc>
              <a:spcAft>
                <a:spcPts val="400"/>
              </a:spcAft>
            </a:pPr>
            <a:r>
              <a:rPr lang="en-US" sz="1700" dirty="0" smtClean="0">
                <a:cs typeface="Calibri" charset="0"/>
              </a:rPr>
              <a:t>  ~500 </a:t>
            </a:r>
            <a:r>
              <a:rPr lang="en-US" sz="1700" dirty="0" err="1" smtClean="0">
                <a:cs typeface="Calibri" charset="0"/>
              </a:rPr>
              <a:t>PgC</a:t>
            </a:r>
            <a:r>
              <a:rPr lang="en-US" sz="1700" dirty="0" smtClean="0">
                <a:cs typeface="Calibri" charset="0"/>
              </a:rPr>
              <a:t> at depths 0 – 100 cm</a:t>
            </a:r>
          </a:p>
          <a:p>
            <a:pPr marL="223837" lvl="1" indent="0" algn="l">
              <a:lnSpc>
                <a:spcPts val="1800"/>
              </a:lnSpc>
              <a:spcAft>
                <a:spcPts val="400"/>
              </a:spcAft>
            </a:pPr>
            <a:r>
              <a:rPr lang="en-US" sz="1700" dirty="0" smtClean="0">
                <a:cs typeface="Calibri" charset="0"/>
              </a:rPr>
              <a:t>~1000 </a:t>
            </a:r>
            <a:r>
              <a:rPr lang="en-US" sz="1700" dirty="0" err="1" smtClean="0">
                <a:cs typeface="Calibri" charset="0"/>
              </a:rPr>
              <a:t>PgC</a:t>
            </a:r>
            <a:r>
              <a:rPr lang="en-US" sz="1700" dirty="0" smtClean="0">
                <a:cs typeface="Calibri" charset="0"/>
              </a:rPr>
              <a:t> at depths 0 – 300 cm</a:t>
            </a:r>
          </a:p>
          <a:p>
            <a:pPr lvl="1" algn="l">
              <a:lnSpc>
                <a:spcPts val="1800"/>
              </a:lnSpc>
              <a:spcAft>
                <a:spcPts val="400"/>
              </a:spcAft>
            </a:pPr>
            <a:r>
              <a:rPr lang="en-US" sz="1700" dirty="0" smtClean="0">
                <a:cs typeface="Calibri" charset="0"/>
              </a:rPr>
              <a:t>[</a:t>
            </a:r>
            <a:r>
              <a:rPr lang="en-US" sz="1700" dirty="0" err="1" smtClean="0">
                <a:cs typeface="Calibri" charset="0"/>
              </a:rPr>
              <a:t>Tarnocai</a:t>
            </a:r>
            <a:r>
              <a:rPr lang="en-US" sz="1700" dirty="0" smtClean="0">
                <a:cs typeface="Calibri" charset="0"/>
              </a:rPr>
              <a:t> et al., 2009]</a:t>
            </a:r>
          </a:p>
          <a:p>
            <a:pPr algn="l">
              <a:lnSpc>
                <a:spcPts val="1800"/>
              </a:lnSpc>
              <a:spcAft>
                <a:spcPts val="400"/>
              </a:spcAft>
            </a:pPr>
            <a:endParaRPr lang="en-US" sz="1700" dirty="0">
              <a:cs typeface="Calibri" charset="0"/>
            </a:endParaRPr>
          </a:p>
          <a:p>
            <a:pPr algn="l">
              <a:lnSpc>
                <a:spcPts val="1800"/>
              </a:lnSpc>
              <a:spcAft>
                <a:spcPts val="400"/>
              </a:spcAft>
              <a:buFont typeface="Arial" charset="0"/>
              <a:buChar char="•"/>
            </a:pPr>
            <a:r>
              <a:rPr lang="en-US" sz="1700" dirty="0">
                <a:cs typeface="Calibri" charset="0"/>
              </a:rPr>
              <a:t>How much C is vulnerable to release?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buFont typeface="Arial" charset="0"/>
              <a:buChar char="•"/>
            </a:pPr>
            <a:r>
              <a:rPr lang="en-US" sz="1700" dirty="0">
                <a:cs typeface="Calibri" charset="0"/>
              </a:rPr>
              <a:t>How fast might it be released?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buFont typeface="Arial" charset="0"/>
              <a:buChar char="•"/>
            </a:pPr>
            <a:r>
              <a:rPr lang="en-US" sz="1700" dirty="0">
                <a:cs typeface="Calibri" charset="0"/>
              </a:rPr>
              <a:t>What fraction would be released as CO</a:t>
            </a:r>
            <a:r>
              <a:rPr lang="en-US" sz="1700" baseline="-25000" dirty="0">
                <a:cs typeface="Calibri" charset="0"/>
              </a:rPr>
              <a:t>2</a:t>
            </a:r>
            <a:r>
              <a:rPr lang="en-US" sz="1700" dirty="0">
                <a:cs typeface="Calibri" charset="0"/>
              </a:rPr>
              <a:t>? As CH</a:t>
            </a:r>
            <a:r>
              <a:rPr lang="en-US" sz="1700" baseline="-25000" dirty="0">
                <a:cs typeface="Calibri" charset="0"/>
              </a:rPr>
              <a:t>4</a:t>
            </a:r>
            <a:r>
              <a:rPr lang="en-US" sz="1700" dirty="0">
                <a:cs typeface="Calibri" charset="0"/>
              </a:rPr>
              <a:t>?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buFont typeface="Arial" charset="0"/>
              <a:buChar char="•"/>
            </a:pPr>
            <a:r>
              <a:rPr lang="en-US" sz="1700" dirty="0">
                <a:cs typeface="Calibri" charset="0"/>
              </a:rPr>
              <a:t>Are there signatures that an irreversible climate system </a:t>
            </a:r>
            <a:r>
              <a:rPr lang="ja-JP" altLang="en-US" sz="1700" dirty="0">
                <a:cs typeface="Calibri" charset="0"/>
              </a:rPr>
              <a:t>“</a:t>
            </a:r>
            <a:r>
              <a:rPr lang="en-US" altLang="ja-JP" sz="1700" dirty="0">
                <a:cs typeface="Calibri" charset="0"/>
              </a:rPr>
              <a:t>tipping point</a:t>
            </a:r>
            <a:r>
              <a:rPr lang="ja-JP" altLang="en-US" sz="1700" dirty="0">
                <a:cs typeface="Calibri" charset="0"/>
              </a:rPr>
              <a:t>”</a:t>
            </a:r>
            <a:r>
              <a:rPr lang="en-US" altLang="ja-JP" sz="1700" dirty="0">
                <a:cs typeface="Calibri" charset="0"/>
              </a:rPr>
              <a:t> is approaching?</a:t>
            </a:r>
            <a:endParaRPr lang="en-US" sz="1700" dirty="0">
              <a:cs typeface="Calibri" charset="0"/>
            </a:endParaRPr>
          </a:p>
        </p:txBody>
      </p:sp>
      <p:grpSp>
        <p:nvGrpSpPr>
          <p:cNvPr id="11" name="Group 10" descr="Soil temperature trends graph, Osterkamp, 2003"/>
          <p:cNvGrpSpPr/>
          <p:nvPr/>
        </p:nvGrpSpPr>
        <p:grpSpPr>
          <a:xfrm>
            <a:off x="5207496" y="990600"/>
            <a:ext cx="3479304" cy="2333625"/>
            <a:chOff x="5207496" y="990600"/>
            <a:chExt cx="3479304" cy="2333625"/>
          </a:xfrm>
        </p:grpSpPr>
        <p:pic>
          <p:nvPicPr>
            <p:cNvPr id="8196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=""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7496" y="990600"/>
              <a:ext cx="2895600" cy="220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7" name="TextBox 7"/>
            <p:cNvSpPr txBox="1">
              <a:spLocks noChangeArrowheads="1"/>
            </p:cNvSpPr>
            <p:nvPr/>
          </p:nvSpPr>
          <p:spPr bwMode="auto">
            <a:xfrm rot="-5400000">
              <a:off x="7339509" y="1903412"/>
              <a:ext cx="19812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 err="1">
                  <a:solidFill>
                    <a:srgbClr val="0000FF"/>
                  </a:solidFill>
                </a:rPr>
                <a:t>Osterkamp</a:t>
              </a:r>
              <a:r>
                <a:rPr lang="en-US" sz="1400" dirty="0">
                  <a:solidFill>
                    <a:srgbClr val="0000FF"/>
                  </a:solidFill>
                </a:rPr>
                <a:t>, 2003</a:t>
              </a:r>
            </a:p>
          </p:txBody>
        </p:sp>
        <p:sp>
          <p:nvSpPr>
            <p:cNvPr id="8201" name="TextBox 9"/>
            <p:cNvSpPr txBox="1">
              <a:spLocks noChangeArrowheads="1"/>
            </p:cNvSpPr>
            <p:nvPr/>
          </p:nvSpPr>
          <p:spPr bwMode="auto">
            <a:xfrm>
              <a:off x="6899275" y="3048000"/>
              <a:ext cx="1787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200" dirty="0"/>
                <a:t>Soil temperature trends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244599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41288"/>
            <a:ext cx="6400800" cy="620712"/>
          </a:xfrm>
          <a:ln/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CARVE Addresses </a:t>
            </a:r>
            <a:br>
              <a:rPr lang="en-US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Key Unanswered Science Questions</a:t>
            </a:r>
          </a:p>
        </p:txBody>
      </p:sp>
      <p:sp>
        <p:nvSpPr>
          <p:cNvPr id="10242" name="TextBox 2"/>
          <p:cNvSpPr txBox="1">
            <a:spLocks noChangeArrowheads="1"/>
          </p:cNvSpPr>
          <p:nvPr/>
        </p:nvSpPr>
        <p:spPr bwMode="auto">
          <a:xfrm>
            <a:off x="150813" y="1143000"/>
            <a:ext cx="4573587" cy="491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>
              <a:spcAft>
                <a:spcPts val="1500"/>
              </a:spcAft>
              <a:buFont typeface="Arial" charset="0"/>
              <a:buAutoNum type="arabicParenR"/>
            </a:pPr>
            <a:r>
              <a:rPr lang="en-US"/>
              <a:t>What are the sensitivities of the Alaskan Arctic carbon cycle and ecosystems to climate change? </a:t>
            </a:r>
          </a:p>
          <a:p>
            <a:pPr algn="l">
              <a:spcAft>
                <a:spcPts val="1500"/>
              </a:spcAft>
              <a:buFontTx/>
              <a:buAutoNum type="arabicParenR"/>
            </a:pPr>
            <a:r>
              <a:rPr lang="en-US"/>
              <a:t>How does interannual variability in surface controls (e.g., soil moisture) affect landscape-scale atmospheric concentrations and surface-atmosphere fluxes of CO</a:t>
            </a:r>
            <a:r>
              <a:rPr lang="en-US" baseline="-25000"/>
              <a:t>2</a:t>
            </a:r>
            <a:r>
              <a:rPr lang="en-US"/>
              <a:t> and CH</a:t>
            </a:r>
            <a:r>
              <a:rPr lang="en-US" baseline="-25000"/>
              <a:t>4</a:t>
            </a:r>
            <a:r>
              <a:rPr lang="en-US"/>
              <a:t> in the Alaskan Arctic?</a:t>
            </a:r>
          </a:p>
          <a:p>
            <a:pPr algn="l">
              <a:spcAft>
                <a:spcPts val="1500"/>
              </a:spcAft>
              <a:buFontTx/>
              <a:buAutoNum type="arabicParenR"/>
            </a:pPr>
            <a:r>
              <a:rPr lang="en-US"/>
              <a:t>What are the impacts of fire and thawing permafrost on the Alaskan Arctic carbon cycle and ecosystems?</a:t>
            </a:r>
          </a:p>
          <a:p>
            <a:pPr algn="l"/>
            <a:endParaRPr lang="en-US" sz="1600"/>
          </a:p>
        </p:txBody>
      </p:sp>
      <p:pic>
        <p:nvPicPr>
          <p:cNvPr id="10243" name="Picture 4" descr="Mosaic of wet and try areas photograph and 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05400" y="966788"/>
            <a:ext cx="3124200" cy="375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TextBox 5"/>
          <p:cNvSpPr txBox="1">
            <a:spLocks noChangeArrowheads="1"/>
          </p:cNvSpPr>
          <p:nvPr/>
        </p:nvSpPr>
        <p:spPr bwMode="auto">
          <a:xfrm>
            <a:off x="4764088" y="4703763"/>
            <a:ext cx="38465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/>
            <a:r>
              <a:rPr lang="en-US" sz="1200">
                <a:cs typeface="Arial" charset="0"/>
              </a:rPr>
              <a:t>A mosaic of wet and dry areas is common for regions in the Arctic. Microtopography dictates the partitioning of soil respiration into aerobic processes (CO</a:t>
            </a:r>
            <a:r>
              <a:rPr lang="en-US" sz="1200" baseline="-25000">
                <a:cs typeface="Arial" charset="0"/>
              </a:rPr>
              <a:t>2</a:t>
            </a:r>
            <a:r>
              <a:rPr lang="en-US" sz="1200">
                <a:cs typeface="Arial" charset="0"/>
              </a:rPr>
              <a:t> release) and anaerobic processes (CH</a:t>
            </a:r>
            <a:r>
              <a:rPr lang="en-US" sz="1200" baseline="-25000">
                <a:cs typeface="Arial" charset="0"/>
              </a:rPr>
              <a:t>4</a:t>
            </a:r>
            <a:r>
              <a:rPr lang="en-US" sz="1200">
                <a:cs typeface="Arial" charset="0"/>
              </a:rPr>
              <a:t> release). The partitioning of carbon fluxes from Arctic ecosystems is not known accurately. </a:t>
            </a:r>
          </a:p>
        </p:txBody>
      </p:sp>
    </p:spTree>
    <p:extLst>
      <p:ext uri="{BB962C8B-B14F-4D97-AF65-F5344CB8AC3E}">
        <p14:creationId xmlns="" xmlns:p14="http://schemas.microsoft.com/office/powerpoint/2010/main" val="200978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41288"/>
            <a:ext cx="6400800" cy="620712"/>
          </a:xfrm>
          <a:ln/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The CARVE Science Investigation</a:t>
            </a:r>
          </a:p>
        </p:txBody>
      </p:sp>
      <p:sp>
        <p:nvSpPr>
          <p:cNvPr id="45058" name="Content Placeholder 11"/>
          <p:cNvSpPr>
            <a:spLocks noGrp="1"/>
          </p:cNvSpPr>
          <p:nvPr>
            <p:ph idx="1"/>
          </p:nvPr>
        </p:nvSpPr>
        <p:spPr bwMode="auto">
          <a:xfrm>
            <a:off x="88900" y="1066800"/>
            <a:ext cx="4022725" cy="4224338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33363" indent="-233363">
              <a:lnSpc>
                <a:spcPts val="19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sz="1800">
                <a:latin typeface="Arial" charset="0"/>
                <a:ea typeface="Calibri" charset="0"/>
              </a:rPr>
              <a:t>CARVE operates out of Fairbanks, AK</a:t>
            </a:r>
          </a:p>
          <a:p>
            <a:pPr marL="233363" indent="-233363">
              <a:lnSpc>
                <a:spcPts val="19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sz="1800">
                <a:latin typeface="Arial" charset="0"/>
                <a:ea typeface="Calibri" charset="0"/>
              </a:rPr>
              <a:t>Each colored loop represents a single day</a:t>
            </a:r>
            <a:r>
              <a:rPr lang="ja-JP" altLang="en-US" sz="1800">
                <a:latin typeface="Arial" charset="0"/>
                <a:ea typeface="Calibri" charset="0"/>
              </a:rPr>
              <a:t>’</a:t>
            </a:r>
            <a:r>
              <a:rPr lang="en-US" altLang="ja-JP" sz="1800">
                <a:latin typeface="Arial" charset="0"/>
                <a:ea typeface="Arial" charset="0"/>
                <a:cs typeface="Arial" charset="0"/>
              </a:rPr>
              <a:t>s flight path. Each flight path would be covered multiple times per intensive.</a:t>
            </a:r>
          </a:p>
          <a:p>
            <a:pPr marL="233363" indent="-233363">
              <a:lnSpc>
                <a:spcPts val="19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sz="1800">
                <a:latin typeface="Arial" charset="0"/>
                <a:ea typeface="Arial" charset="0"/>
                <a:cs typeface="Arial" charset="0"/>
              </a:rPr>
              <a:t>CARVE flight plans sample multiple permafrost domains, ecosystems, burn-recovery chronosequences, and well-instrumented ground cal/val sites</a:t>
            </a:r>
          </a:p>
          <a:p>
            <a:pPr marL="233363" indent="-233363">
              <a:lnSpc>
                <a:spcPts val="19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sz="1800">
                <a:latin typeface="Arial" charset="0"/>
                <a:ea typeface="Arial" charset="0"/>
                <a:cs typeface="Arial" charset="0"/>
              </a:rPr>
              <a:t>Flight plans sample regions where conditions and variability may be used as a proxy for climate change </a:t>
            </a:r>
          </a:p>
          <a:p>
            <a:pPr marL="233363" indent="-233363">
              <a:lnSpc>
                <a:spcPts val="1900"/>
              </a:lnSpc>
              <a:spcBef>
                <a:spcPct val="0"/>
              </a:spcBef>
              <a:spcAft>
                <a:spcPts val="900"/>
              </a:spcAft>
            </a:pPr>
            <a:r>
              <a:rPr lang="en-US" sz="1800">
                <a:latin typeface="Arial" charset="0"/>
                <a:ea typeface="Arial" charset="0"/>
                <a:cs typeface="Arial" charset="0"/>
              </a:rPr>
              <a:t>CARVE measurements will provide strong model constraints on key processes</a:t>
            </a:r>
          </a:p>
        </p:txBody>
      </p:sp>
      <p:pic>
        <p:nvPicPr>
          <p:cNvPr id="45059" name="Picture 4" descr="Schematic of flight plans over Alask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37025" y="1143000"/>
            <a:ext cx="447357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Box 4"/>
          <p:cNvSpPr txBox="1">
            <a:spLocks noChangeArrowheads="1"/>
          </p:cNvSpPr>
          <p:nvPr/>
        </p:nvSpPr>
        <p:spPr bwMode="auto">
          <a:xfrm>
            <a:off x="5889625" y="4648200"/>
            <a:ext cx="2667000" cy="830263"/>
          </a:xfrm>
          <a:prstGeom prst="rect">
            <a:avLst/>
          </a:prstGeom>
          <a:solidFill>
            <a:srgbClr val="26C2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tabLst>
                <a:tab pos="1882775" algn="r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1882775" algn="r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tabLst>
                <a:tab pos="1882775" algn="r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tabLst>
                <a:tab pos="1882775" algn="r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tabLst>
                <a:tab pos="1882775" algn="r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82775" algn="r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82775" algn="r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82775" algn="r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82775" algn="r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/>
            <a:r>
              <a:rPr lang="en-US" sz="1200" b="1">
                <a:cs typeface="Arial" charset="0"/>
              </a:rPr>
              <a:t>Permafrost domains: continuous (dark blue), discontinuous (light blue), sporadic (gray), and subsea (hatched).  	NSIDC, 2001</a:t>
            </a:r>
          </a:p>
        </p:txBody>
      </p:sp>
    </p:spTree>
    <p:extLst>
      <p:ext uri="{BB962C8B-B14F-4D97-AF65-F5344CB8AC3E}">
        <p14:creationId xmlns="" xmlns:p14="http://schemas.microsoft.com/office/powerpoint/2010/main" val="313060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41288"/>
            <a:ext cx="6400800" cy="620712"/>
          </a:xfrm>
          <a:ln/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The CARVE Flight System:</a:t>
            </a:r>
            <a:br>
              <a:rPr lang="en-US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Twin Otter + Science Instruments</a:t>
            </a:r>
          </a:p>
        </p:txBody>
      </p:sp>
      <p:sp>
        <p:nvSpPr>
          <p:cNvPr id="14338" name="Content Placeholder 6"/>
          <p:cNvSpPr>
            <a:spLocks noGrp="1"/>
          </p:cNvSpPr>
          <p:nvPr>
            <p:ph idx="1"/>
          </p:nvPr>
        </p:nvSpPr>
        <p:spPr bwMode="auto">
          <a:xfrm>
            <a:off x="228600" y="4462463"/>
            <a:ext cx="8458200" cy="1023937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100"/>
              </a:lnSpc>
              <a:spcBef>
                <a:spcPct val="0"/>
              </a:spcBef>
              <a:spcAft>
                <a:spcPts val="400"/>
              </a:spcAft>
              <a:buFontTx/>
              <a:buNone/>
            </a:pPr>
            <a:r>
              <a:rPr lang="en-US">
                <a:latin typeface="Arial" charset="0"/>
                <a:ea typeface="ＭＳ Ｐゴシック" charset="0"/>
                <a:cs typeface="Arial" charset="0"/>
              </a:rPr>
              <a:t>The CARVE Science instruments include</a:t>
            </a:r>
          </a:p>
          <a:p>
            <a:pPr lvl="1">
              <a:lnSpc>
                <a:spcPts val="2100"/>
              </a:lnSpc>
              <a:spcBef>
                <a:spcPct val="0"/>
              </a:spcBef>
              <a:spcAft>
                <a:spcPts val="400"/>
              </a:spcAft>
              <a:buFont typeface="Arial" charset="0"/>
              <a:buChar char="•"/>
            </a:pPr>
            <a:r>
              <a:rPr lang="en-US">
                <a:latin typeface="Arial" charset="0"/>
                <a:ea typeface="ＭＳ Ｐゴシック" charset="0"/>
                <a:cs typeface="Arial" charset="0"/>
              </a:rPr>
              <a:t>PALS (Passive-Active L-band System)—surface control variables</a:t>
            </a:r>
          </a:p>
          <a:p>
            <a:pPr lvl="1">
              <a:lnSpc>
                <a:spcPts val="2100"/>
              </a:lnSpc>
              <a:spcBef>
                <a:spcPct val="0"/>
              </a:spcBef>
              <a:spcAft>
                <a:spcPts val="400"/>
              </a:spcAft>
              <a:buFont typeface="Arial" charset="0"/>
              <a:buChar char="•"/>
            </a:pPr>
            <a:r>
              <a:rPr lang="en-US">
                <a:latin typeface="Arial" charset="0"/>
                <a:ea typeface="ＭＳ Ｐゴシック" charset="0"/>
                <a:cs typeface="Arial" charset="0"/>
              </a:rPr>
              <a:t>FTS—Column CO</a:t>
            </a:r>
            <a:r>
              <a:rPr lang="en-US" baseline="-25000">
                <a:latin typeface="Arial" charset="0"/>
                <a:ea typeface="ＭＳ Ｐゴシック" charset="0"/>
                <a:cs typeface="Arial" charset="0"/>
              </a:rPr>
              <a:t>2</a:t>
            </a:r>
            <a:r>
              <a:rPr lang="en-US">
                <a:latin typeface="Arial" charset="0"/>
                <a:ea typeface="ＭＳ Ｐゴシック" charset="0"/>
                <a:cs typeface="Arial" charset="0"/>
              </a:rPr>
              <a:t>, CH</a:t>
            </a:r>
            <a:r>
              <a:rPr lang="en-US" baseline="-25000">
                <a:latin typeface="Arial" charset="0"/>
                <a:ea typeface="ＭＳ Ｐゴシック" charset="0"/>
                <a:cs typeface="Arial" charset="0"/>
              </a:rPr>
              <a:t>4</a:t>
            </a:r>
            <a:r>
              <a:rPr lang="en-US">
                <a:latin typeface="Arial" charset="0"/>
                <a:ea typeface="ＭＳ Ｐゴシック" charset="0"/>
                <a:cs typeface="Arial" charset="0"/>
              </a:rPr>
              <a:t>, and CO</a:t>
            </a:r>
          </a:p>
          <a:p>
            <a:pPr lvl="1">
              <a:lnSpc>
                <a:spcPts val="2100"/>
              </a:lnSpc>
              <a:spcBef>
                <a:spcPct val="0"/>
              </a:spcBef>
              <a:spcAft>
                <a:spcPts val="400"/>
              </a:spcAft>
              <a:buFont typeface="Arial" charset="0"/>
              <a:buChar char="•"/>
            </a:pPr>
            <a:r>
              <a:rPr lang="en-US">
                <a:latin typeface="Arial" charset="0"/>
                <a:ea typeface="ＭＳ Ｐゴシック" charset="0"/>
                <a:cs typeface="Arial" charset="0"/>
              </a:rPr>
              <a:t>ISGA (In situ Gas Analyzer)—atmospheric trace gas concentrations</a:t>
            </a:r>
          </a:p>
        </p:txBody>
      </p:sp>
      <p:pic>
        <p:nvPicPr>
          <p:cNvPr id="14339" name="Picture 5" descr="Schematic of CARVE instruments Figure 3-1_091029-1.tif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663" y="1073150"/>
            <a:ext cx="7181850" cy="330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15448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41288"/>
            <a:ext cx="6400800" cy="620712"/>
          </a:xfrm>
          <a:ln/>
        </p:spPr>
        <p:txBody>
          <a:bodyPr/>
          <a:lstStyle/>
          <a:p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Summary of CARVE AK 2011 Test Flights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Picture 3" descr="Graph of CH4 and CO2 for test flight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07096" y="968151"/>
            <a:ext cx="5616624" cy="4904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35488" y="3653172"/>
            <a:ext cx="1813959" cy="170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94366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4" descr="CH4 versus CO2 graph shown in acg_vs_carve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400" y="3055938"/>
            <a:ext cx="3841750" cy="288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 descr="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6688" y="968375"/>
            <a:ext cx="442595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41288"/>
            <a:ext cx="6400800" cy="620712"/>
          </a:xfrm>
          <a:ln/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AK Test Flight #2 - 12 April 2011</a:t>
            </a:r>
            <a:br>
              <a:rPr lang="en-US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North Slope/</a:t>
            </a:r>
            <a:r>
              <a:rPr lang="en-US" dirty="0" err="1">
                <a:latin typeface="Arial" charset="0"/>
                <a:ea typeface="ＭＳ Ｐゴシック" charset="0"/>
                <a:cs typeface="ＭＳ Ｐゴシック" charset="0"/>
              </a:rPr>
              <a:t>Deadhorse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AK Flight Path</a:t>
            </a:r>
          </a:p>
        </p:txBody>
      </p:sp>
      <p:pic>
        <p:nvPicPr>
          <p:cNvPr id="7172" name="Picture 1" descr="Overview of Flight Track on 4/12/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1432" y="968152"/>
            <a:ext cx="39243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6864350" y="4064000"/>
            <a:ext cx="16240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Flight Track</a:t>
            </a:r>
          </a:p>
          <a:p>
            <a:r>
              <a:rPr lang="en-US" b="1">
                <a:solidFill>
                  <a:schemeClr val="bg1"/>
                </a:solidFill>
              </a:rPr>
              <a:t>4/12/11</a:t>
            </a:r>
          </a:p>
        </p:txBody>
      </p:sp>
      <p:sp>
        <p:nvSpPr>
          <p:cNvPr id="7174" name="TextBox 7" descr="Overview of flight path over Deadhorse"/>
          <p:cNvSpPr txBox="1">
            <a:spLocks noChangeArrowheads="1"/>
          </p:cNvSpPr>
          <p:nvPr/>
        </p:nvSpPr>
        <p:spPr bwMode="auto">
          <a:xfrm>
            <a:off x="1247775" y="1039813"/>
            <a:ext cx="290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Spiral over </a:t>
            </a:r>
            <a:r>
              <a:rPr lang="en-US" b="1" dirty="0" err="1">
                <a:solidFill>
                  <a:schemeClr val="bg1"/>
                </a:solidFill>
              </a:rPr>
              <a:t>Deadhorse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632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41288"/>
            <a:ext cx="6400800" cy="620712"/>
          </a:xfrm>
          <a:ln/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Science Operations are Scheduled </a:t>
            </a:r>
            <a:br>
              <a:rPr lang="en-US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2012–2014</a:t>
            </a:r>
          </a:p>
        </p:txBody>
      </p:sp>
      <p:sp>
        <p:nvSpPr>
          <p:cNvPr id="40962" name="Content Placeholder 9"/>
          <p:cNvSpPr>
            <a:spLocks noGrp="1"/>
          </p:cNvSpPr>
          <p:nvPr>
            <p:ph idx="1"/>
          </p:nvPr>
        </p:nvSpPr>
        <p:spPr bwMode="auto">
          <a:xfrm>
            <a:off x="304800" y="4452938"/>
            <a:ext cx="8153400" cy="13716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1900"/>
              </a:lnSpc>
              <a:spcBef>
                <a:spcPct val="0"/>
              </a:spcBef>
              <a:spcAft>
                <a:spcPts val="400"/>
              </a:spcAft>
              <a:buFontTx/>
              <a:buNone/>
            </a:pPr>
            <a:r>
              <a:rPr lang="en-US" sz="1800">
                <a:latin typeface="Arial" charset="0"/>
                <a:ea typeface="ＭＳ Ｐゴシック" charset="0"/>
                <a:cs typeface="Arial" charset="0"/>
              </a:rPr>
              <a:t>The CARVE Science Investigation entails </a:t>
            </a:r>
          </a:p>
          <a:p>
            <a:pPr>
              <a:lnSpc>
                <a:spcPts val="1900"/>
              </a:lnSpc>
              <a:spcBef>
                <a:spcPct val="0"/>
              </a:spcBef>
              <a:spcAft>
                <a:spcPts val="400"/>
              </a:spcAft>
            </a:pPr>
            <a:r>
              <a:rPr lang="en-US" sz="1800">
                <a:latin typeface="Arial" charset="0"/>
                <a:ea typeface="ＭＳ Ｐゴシック" charset="0"/>
                <a:cs typeface="Arial" charset="0"/>
              </a:rPr>
              <a:t>Engineering test flights in summer–fall 2011 </a:t>
            </a:r>
          </a:p>
          <a:p>
            <a:pPr>
              <a:lnSpc>
                <a:spcPts val="1900"/>
              </a:lnSpc>
              <a:spcBef>
                <a:spcPct val="0"/>
              </a:spcBef>
              <a:spcAft>
                <a:spcPts val="400"/>
              </a:spcAft>
            </a:pPr>
            <a:r>
              <a:rPr lang="en-US" sz="1800">
                <a:latin typeface="Arial" charset="0"/>
                <a:ea typeface="ＭＳ Ｐゴシック" charset="0"/>
                <a:cs typeface="Arial" charset="0"/>
              </a:rPr>
              <a:t>Intensive field deployments in Alaska during the spring, summer, and fall of each year from 2012 to 2014 </a:t>
            </a:r>
          </a:p>
          <a:p>
            <a:pPr>
              <a:lnSpc>
                <a:spcPts val="1900"/>
              </a:lnSpc>
              <a:spcBef>
                <a:spcPct val="0"/>
              </a:spcBef>
              <a:spcAft>
                <a:spcPts val="400"/>
              </a:spcAft>
            </a:pPr>
            <a:r>
              <a:rPr lang="en-US" sz="1800">
                <a:latin typeface="Arial" charset="0"/>
                <a:ea typeface="ＭＳ Ｐゴシック" charset="0"/>
                <a:cs typeface="Arial" charset="0"/>
              </a:rPr>
              <a:t>Each campaign will provide up to 80 hours of flight data</a:t>
            </a:r>
          </a:p>
        </p:txBody>
      </p:sp>
      <p:grpSp>
        <p:nvGrpSpPr>
          <p:cNvPr id="7" name="Group 6" descr="CARVE Master Schedule"/>
          <p:cNvGrpSpPr/>
          <p:nvPr/>
        </p:nvGrpSpPr>
        <p:grpSpPr>
          <a:xfrm>
            <a:off x="1319064" y="896144"/>
            <a:ext cx="6319986" cy="3948113"/>
            <a:chOff x="1319064" y="896144"/>
            <a:chExt cx="6319986" cy="3948113"/>
          </a:xfrm>
        </p:grpSpPr>
        <p:sp>
          <p:nvSpPr>
            <p:cNvPr id="40964" name="TextBox 7"/>
            <p:cNvSpPr txBox="1">
              <a:spLocks noChangeArrowheads="1"/>
            </p:cNvSpPr>
            <p:nvPr/>
          </p:nvSpPr>
          <p:spPr bwMode="auto">
            <a:xfrm rot="-5400000">
              <a:off x="5909469" y="2470944"/>
              <a:ext cx="30591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solidFill>
                    <a:srgbClr val="0000FF"/>
                  </a:solidFill>
                </a:rPr>
                <a:t>CARVE Master Schedule</a:t>
              </a:r>
            </a:p>
          </p:txBody>
        </p:sp>
        <p:pic>
          <p:nvPicPr>
            <p:cNvPr id="40965" name="Picture 127" descr="Carve Master Schedule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9064" y="896144"/>
              <a:ext cx="5867400" cy="394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253834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06152" y="104056"/>
            <a:ext cx="6705600" cy="702605"/>
          </a:xfrm>
        </p:spPr>
        <p:txBody>
          <a:bodyPr anchor="t"/>
          <a:lstStyle/>
          <a:p>
            <a:r>
              <a:rPr lang="en-US" dirty="0" smtClean="0"/>
              <a:t>Carbon in Arctic Reservoirs Vulnerability Experiment (CARVE): An EV-1 Investigation</a:t>
            </a:r>
          </a:p>
        </p:txBody>
      </p:sp>
      <p:sp>
        <p:nvSpPr>
          <p:cNvPr id="13319" name="Rectangle 17"/>
          <p:cNvSpPr>
            <a:spLocks noChangeArrowheads="1"/>
          </p:cNvSpPr>
          <p:nvPr/>
        </p:nvSpPr>
        <p:spPr bwMode="auto">
          <a:xfrm>
            <a:off x="4897437" y="987896"/>
            <a:ext cx="3560763" cy="4876800"/>
          </a:xfrm>
          <a:prstGeom prst="rect">
            <a:avLst/>
          </a:prstGeom>
          <a:noFill/>
          <a:ln w="9525">
            <a:solidFill>
              <a:srgbClr val="000090"/>
            </a:solidFill>
            <a:miter lim="800000"/>
            <a:headEnd/>
            <a:tailEnd/>
          </a:ln>
        </p:spPr>
        <p:txBody>
          <a:bodyPr lIns="86210" tIns="43105" rIns="86210" bIns="43105">
            <a:prstTxWarp prst="textNoShape">
              <a:avLst/>
            </a:prstTxWarp>
          </a:bodyPr>
          <a:lstStyle/>
          <a:p>
            <a:pPr marL="107762">
              <a:lnSpc>
                <a:spcPct val="90000"/>
              </a:lnSpc>
              <a:spcBef>
                <a:spcPct val="20000"/>
              </a:spcBef>
            </a:pPr>
            <a:r>
              <a:rPr lang="en-US" sz="1200" i="1" dirty="0" smtClean="0">
                <a:solidFill>
                  <a:srgbClr val="0000FF"/>
                </a:solidFill>
                <a:latin typeface="Calibri" charset="0"/>
                <a:ea typeface="Calibri" charset="0"/>
                <a:cs typeface="Calibri" charset="0"/>
              </a:rPr>
              <a:t>CARVE bridges critical gaps in our knowledge and understanding of Alaskan Arctic  ecosystems, linkages between the terrestrial carbon and hydrologic cycles, and the feedbacks from fires and thawing permafrost</a:t>
            </a:r>
            <a:r>
              <a:rPr lang="en-US" sz="1200" i="1" dirty="0" smtClean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pPr marL="107762">
              <a:lnSpc>
                <a:spcPct val="90000"/>
              </a:lnSpc>
              <a:spcBef>
                <a:spcPct val="20000"/>
              </a:spcBef>
            </a:pPr>
            <a:endParaRPr lang="en-US" sz="1100" b="1" dirty="0" smtClean="0">
              <a:solidFill>
                <a:srgbClr val="000090"/>
              </a:solidFill>
              <a:latin typeface="Calibri" charset="0"/>
            </a:endParaRPr>
          </a:p>
          <a:p>
            <a:pPr marL="107762">
              <a:lnSpc>
                <a:spcPct val="90000"/>
              </a:lnSpc>
              <a:spcBef>
                <a:spcPct val="20000"/>
              </a:spcBef>
            </a:pPr>
            <a:r>
              <a:rPr lang="en-US" sz="1100" b="1" dirty="0">
                <a:solidFill>
                  <a:srgbClr val="000090"/>
                </a:solidFill>
                <a:latin typeface="Calibri" charset="0"/>
              </a:rPr>
              <a:t>Instrument</a:t>
            </a:r>
            <a:r>
              <a:rPr lang="en-US" sz="1100" b="1" dirty="0" smtClean="0">
                <a:solidFill>
                  <a:srgbClr val="000090"/>
                </a:solidFill>
                <a:latin typeface="Calibri" charset="0"/>
              </a:rPr>
              <a:t> Payload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L</a:t>
            </a:r>
            <a:r>
              <a:rPr lang="en-US" sz="1100" dirty="0">
                <a:solidFill>
                  <a:srgbClr val="000090"/>
                </a:solidFill>
                <a:latin typeface="Calibri" charset="0"/>
              </a:rPr>
              <a:t>-band radar/radiometer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>
                <a:solidFill>
                  <a:srgbClr val="000090"/>
                </a:solidFill>
                <a:latin typeface="Calibri" charset="0"/>
              </a:rPr>
              <a:t>Nadir viewing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 Fourier transform spectrometer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Continuous in CO</a:t>
            </a:r>
            <a:r>
              <a:rPr lang="en-US" sz="1100" baseline="-25000" dirty="0" smtClean="0">
                <a:solidFill>
                  <a:srgbClr val="000090"/>
                </a:solidFill>
                <a:latin typeface="Calibri" charset="0"/>
              </a:rPr>
              <a:t>2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, CH</a:t>
            </a:r>
            <a:r>
              <a:rPr lang="en-US" sz="1100" baseline="-25000" dirty="0" smtClean="0">
                <a:solidFill>
                  <a:srgbClr val="000090"/>
                </a:solidFill>
                <a:latin typeface="Calibri" charset="0"/>
              </a:rPr>
              <a:t>4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 and CO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Programmable flask packages (whole air sampling)</a:t>
            </a:r>
          </a:p>
          <a:p>
            <a:pPr marL="107762">
              <a:lnSpc>
                <a:spcPct val="90000"/>
              </a:lnSpc>
              <a:spcBef>
                <a:spcPct val="20000"/>
              </a:spcBef>
            </a:pPr>
            <a:endParaRPr lang="en-US" sz="1100" b="1" dirty="0" smtClean="0">
              <a:solidFill>
                <a:srgbClr val="000090"/>
              </a:solidFill>
              <a:latin typeface="Calibri" charset="0"/>
            </a:endParaRPr>
          </a:p>
          <a:p>
            <a:pPr marL="107762">
              <a:lnSpc>
                <a:spcPct val="90000"/>
              </a:lnSpc>
              <a:spcBef>
                <a:spcPct val="20000"/>
              </a:spcBef>
            </a:pPr>
            <a:r>
              <a:rPr lang="en-US" sz="1100" b="1" dirty="0">
                <a:solidFill>
                  <a:srgbClr val="000090"/>
                </a:solidFill>
                <a:latin typeface="Calibri" charset="0"/>
              </a:rPr>
              <a:t>Measurements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>
                <a:solidFill>
                  <a:srgbClr val="000090"/>
                </a:solidFill>
                <a:latin typeface="Calibri" charset="0"/>
              </a:rPr>
              <a:t>Surface parameters controlling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 carbon emissions:     soil </a:t>
            </a:r>
            <a:r>
              <a:rPr lang="en-US" sz="1100" dirty="0">
                <a:solidFill>
                  <a:srgbClr val="000090"/>
                </a:solidFill>
                <a:latin typeface="Calibri" charset="0"/>
              </a:rPr>
              <a:t>moisture, freeze/thaw state,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 inundation state, surface </a:t>
            </a:r>
            <a:r>
              <a:rPr lang="en-US" sz="1100" dirty="0">
                <a:solidFill>
                  <a:srgbClr val="000090"/>
                </a:solidFill>
                <a:latin typeface="Calibri" charset="0"/>
              </a:rPr>
              <a:t>temperature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>
                <a:solidFill>
                  <a:srgbClr val="000090"/>
                </a:solidFill>
                <a:latin typeface="Calibri" charset="0"/>
              </a:rPr>
              <a:t>Total atmospheric columns of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 CO</a:t>
            </a:r>
            <a:r>
              <a:rPr lang="en-US" sz="1100" baseline="-25000" dirty="0" smtClean="0">
                <a:solidFill>
                  <a:srgbClr val="000090"/>
                </a:solidFill>
                <a:latin typeface="Calibri" charset="0"/>
              </a:rPr>
              <a:t>2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, CH</a:t>
            </a:r>
            <a:r>
              <a:rPr lang="en-US" sz="1100" baseline="-25000" dirty="0" smtClean="0">
                <a:solidFill>
                  <a:srgbClr val="000090"/>
                </a:solidFill>
                <a:latin typeface="Calibri" charset="0"/>
              </a:rPr>
              <a:t>4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 and CO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Atmospheric concentrations of CO</a:t>
            </a:r>
            <a:r>
              <a:rPr lang="en-US" sz="1100" baseline="-25000" dirty="0" smtClean="0">
                <a:solidFill>
                  <a:srgbClr val="000090"/>
                </a:solidFill>
                <a:latin typeface="Calibri" charset="0"/>
              </a:rPr>
              <a:t>2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, CH</a:t>
            </a:r>
            <a:r>
              <a:rPr lang="en-US" sz="1100" baseline="-25000" dirty="0" smtClean="0">
                <a:solidFill>
                  <a:srgbClr val="000090"/>
                </a:solidFill>
                <a:latin typeface="Calibri" charset="0"/>
              </a:rPr>
              <a:t>4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 and CO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Ground-based measurements of </a:t>
            </a:r>
            <a:r>
              <a:rPr lang="en-US" sz="1100" baseline="30000" dirty="0" smtClean="0">
                <a:solidFill>
                  <a:srgbClr val="000090"/>
                </a:solidFill>
                <a:latin typeface="Calibri" charset="0"/>
              </a:rPr>
              <a:t>14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CO</a:t>
            </a:r>
            <a:r>
              <a:rPr lang="en-US" sz="1100" baseline="-25000" dirty="0" smtClean="0">
                <a:solidFill>
                  <a:srgbClr val="000090"/>
                </a:solidFill>
                <a:latin typeface="Calibri" charset="0"/>
              </a:rPr>
              <a:t>2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 and </a:t>
            </a:r>
            <a:r>
              <a:rPr lang="en-US" sz="1100" baseline="30000" dirty="0" smtClean="0">
                <a:solidFill>
                  <a:srgbClr val="000090"/>
                </a:solidFill>
                <a:latin typeface="Calibri" charset="0"/>
              </a:rPr>
              <a:t>14</a:t>
            </a:r>
            <a:r>
              <a:rPr lang="en-US" sz="1100" dirty="0" smtClean="0">
                <a:solidFill>
                  <a:srgbClr val="000090"/>
                </a:solidFill>
                <a:latin typeface="Calibri" charset="0"/>
              </a:rPr>
              <a:t>CH</a:t>
            </a:r>
            <a:r>
              <a:rPr lang="en-US" sz="1100" baseline="-25000" dirty="0" smtClean="0">
                <a:solidFill>
                  <a:srgbClr val="000090"/>
                </a:solidFill>
                <a:latin typeface="Calibri" charset="0"/>
              </a:rPr>
              <a:t>4</a:t>
            </a:r>
          </a:p>
          <a:p>
            <a:pPr marL="107762">
              <a:lnSpc>
                <a:spcPct val="90000"/>
              </a:lnSpc>
              <a:spcBef>
                <a:spcPct val="20000"/>
              </a:spcBef>
            </a:pPr>
            <a:endParaRPr lang="en-US" sz="1100" b="1" dirty="0">
              <a:solidFill>
                <a:srgbClr val="000090"/>
              </a:solidFill>
              <a:latin typeface="Calibri" charset="0"/>
            </a:endParaRPr>
          </a:p>
          <a:p>
            <a:pPr marL="107762">
              <a:lnSpc>
                <a:spcPct val="90000"/>
              </a:lnSpc>
              <a:spcBef>
                <a:spcPct val="20000"/>
              </a:spcBef>
            </a:pPr>
            <a:r>
              <a:rPr lang="en-US" sz="1100" b="1" dirty="0">
                <a:solidFill>
                  <a:srgbClr val="000090"/>
                </a:solidFill>
                <a:latin typeface="Calibri" charset="0"/>
              </a:rPr>
              <a:t>Earth Science Relevance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>
                <a:solidFill>
                  <a:srgbClr val="000090"/>
                </a:solidFill>
                <a:latin typeface="Calibri" charset="0"/>
              </a:rPr>
              <a:t>High priority objectives across NASA’s Carbon Cycle &amp; Ecosystems, Atmospheric Composition, and Climate Variability &amp; Change focus areas</a:t>
            </a:r>
          </a:p>
          <a:p>
            <a:pPr marL="269405" lvl="1" indent="-161643" algn="l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100" dirty="0">
                <a:solidFill>
                  <a:srgbClr val="000090"/>
                </a:solidFill>
                <a:latin typeface="Calibri" charset="0"/>
              </a:rPr>
              <a:t>Air Quality and Ecosystems elements of Applied Sciences Program</a:t>
            </a:r>
          </a:p>
          <a:p>
            <a:pPr marL="269405" lvl="1" indent="-161643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100" dirty="0">
              <a:solidFill>
                <a:srgbClr val="000090"/>
              </a:solidFill>
              <a:latin typeface="Calibri" charset="0"/>
            </a:endParaRPr>
          </a:p>
          <a:p>
            <a:pPr marL="269405" lvl="1" indent="-161643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100" dirty="0">
              <a:solidFill>
                <a:srgbClr val="000090"/>
              </a:solidFill>
              <a:latin typeface="Calibri" charset="0"/>
            </a:endParaRPr>
          </a:p>
          <a:p>
            <a:pPr marL="269405" lvl="1" indent="-161643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100" dirty="0">
              <a:solidFill>
                <a:srgbClr val="000090"/>
              </a:solidFill>
              <a:latin typeface="Calibri" charset="0"/>
            </a:endParaRPr>
          </a:p>
          <a:p>
            <a:pPr marL="269405" lvl="1" indent="-161643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100" dirty="0">
              <a:solidFill>
                <a:srgbClr val="000090"/>
              </a:solidFill>
              <a:latin typeface="Calibri" charset="0"/>
            </a:endParaRP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381000" y="4188296"/>
            <a:ext cx="2255900" cy="548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210" tIns="43105" rIns="86210" bIns="43105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000" b="1" i="1" dirty="0" smtClean="0">
                <a:latin typeface="Calibri" charset="0"/>
              </a:rPr>
              <a:t>Principal Investigator : </a:t>
            </a:r>
            <a:r>
              <a:rPr lang="en-US" sz="1000" b="1" i="1" dirty="0">
                <a:latin typeface="Calibri" charset="0"/>
              </a:rPr>
              <a:t>Charles </a:t>
            </a:r>
            <a:r>
              <a:rPr lang="en-US" sz="1000" b="1" i="1" dirty="0" smtClean="0">
                <a:latin typeface="Calibri" charset="0"/>
              </a:rPr>
              <a:t>Miller</a:t>
            </a:r>
            <a:endParaRPr lang="en-US" sz="1000" b="1" i="1" dirty="0">
              <a:latin typeface="Calibri" charset="0"/>
            </a:endParaRPr>
          </a:p>
          <a:p>
            <a:pPr eaLnBrk="0" hangingPunct="0"/>
            <a:r>
              <a:rPr lang="en-US" sz="1000" b="1" i="1" dirty="0" smtClean="0">
                <a:latin typeface="Calibri" charset="0"/>
              </a:rPr>
              <a:t>Project </a:t>
            </a:r>
            <a:r>
              <a:rPr lang="en-US" sz="1000" b="1" i="1" dirty="0">
                <a:latin typeface="Calibri" charset="0"/>
              </a:rPr>
              <a:t>Manager: Steve </a:t>
            </a:r>
            <a:r>
              <a:rPr lang="en-US" sz="1000" b="1" i="1" dirty="0" err="1" smtClean="0">
                <a:latin typeface="Calibri" charset="0"/>
              </a:rPr>
              <a:t>Dinardo</a:t>
            </a:r>
            <a:endParaRPr lang="en-US" sz="1000" b="1" i="1" dirty="0" smtClean="0">
              <a:latin typeface="Calibri" charset="0"/>
            </a:endParaRPr>
          </a:p>
          <a:p>
            <a:pPr eaLnBrk="0" hangingPunct="0"/>
            <a:r>
              <a:rPr lang="en-US" sz="1000" b="1" i="1" dirty="0" smtClean="0">
                <a:latin typeface="Calibri" charset="0"/>
              </a:rPr>
              <a:t>Implementation Center:  JPL</a:t>
            </a:r>
            <a:endParaRPr lang="en-US" sz="1000" b="1" i="1" dirty="0">
              <a:latin typeface="Calibri" charset="0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374015" y="4791969"/>
            <a:ext cx="4174490" cy="1072727"/>
          </a:xfrm>
          <a:prstGeom prst="rect">
            <a:avLst/>
          </a:prstGeom>
          <a:noFill/>
          <a:ln w="9525">
            <a:solidFill>
              <a:srgbClr val="000090"/>
            </a:solidFill>
            <a:miter lim="800000"/>
            <a:headEnd/>
            <a:tailEnd/>
          </a:ln>
        </p:spPr>
        <p:txBody>
          <a:bodyPr lIns="86210" tIns="43105" rIns="86210" bIns="43105">
            <a:prstTxWarp prst="textNoShape">
              <a:avLst/>
            </a:prstTxWarp>
          </a:bodyPr>
          <a:lstStyle/>
          <a:p>
            <a:pPr marL="323286" indent="-323286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000090"/>
                </a:solidFill>
                <a:latin typeface="+mj-lt"/>
              </a:rPr>
              <a:t>Flights</a:t>
            </a:r>
            <a:endParaRPr lang="en-US" sz="1100" b="1" dirty="0" smtClean="0">
              <a:solidFill>
                <a:srgbClr val="000090"/>
              </a:solidFill>
              <a:latin typeface="+mj-lt"/>
            </a:endParaRPr>
          </a:p>
          <a:p>
            <a:pPr marL="269405" lvl="1" indent="-161643" algn="l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r>
              <a:rPr lang="en-US" sz="1100" b="1" dirty="0" smtClean="0">
                <a:solidFill>
                  <a:srgbClr val="000090"/>
                </a:solidFill>
                <a:latin typeface="+mj-lt"/>
              </a:rPr>
              <a:t>Platform</a:t>
            </a:r>
            <a:r>
              <a:rPr lang="en-US" sz="1100" dirty="0" smtClean="0">
                <a:solidFill>
                  <a:srgbClr val="000090"/>
                </a:solidFill>
                <a:latin typeface="+mj-lt"/>
              </a:rPr>
              <a:t>: De Havilland DHC-6 Twin</a:t>
            </a:r>
            <a:r>
              <a:rPr lang="en-US" sz="1100" dirty="0">
                <a:solidFill>
                  <a:srgbClr val="000090"/>
                </a:solidFill>
                <a:latin typeface="+mj-lt"/>
              </a:rPr>
              <a:t>-Otter</a:t>
            </a:r>
            <a:endParaRPr lang="en-US" sz="1100" dirty="0" smtClean="0">
              <a:solidFill>
                <a:srgbClr val="000090"/>
              </a:solidFill>
              <a:latin typeface="+mj-lt"/>
            </a:endParaRPr>
          </a:p>
          <a:p>
            <a:pPr marL="269405" lvl="1" indent="-161643" algn="l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r>
              <a:rPr lang="en-US" sz="1100" b="1" dirty="0" smtClean="0">
                <a:solidFill>
                  <a:srgbClr val="000090"/>
                </a:solidFill>
                <a:latin typeface="+mj-lt"/>
              </a:rPr>
              <a:t>Engineering test flights</a:t>
            </a:r>
            <a:r>
              <a:rPr lang="en-US" sz="1100" dirty="0" smtClean="0">
                <a:solidFill>
                  <a:srgbClr val="000090"/>
                </a:solidFill>
                <a:latin typeface="+mj-lt"/>
              </a:rPr>
              <a:t> start in April </a:t>
            </a:r>
            <a:r>
              <a:rPr lang="en-US" sz="1100" dirty="0">
                <a:solidFill>
                  <a:srgbClr val="000090"/>
                </a:solidFill>
                <a:latin typeface="+mj-lt"/>
              </a:rPr>
              <a:t>2011</a:t>
            </a:r>
            <a:endParaRPr lang="en-US" sz="1100" dirty="0" smtClean="0">
              <a:solidFill>
                <a:srgbClr val="FF0000"/>
              </a:solidFill>
              <a:latin typeface="+mj-lt"/>
            </a:endParaRPr>
          </a:p>
          <a:p>
            <a:pPr marL="269405" lvl="1" indent="-161643" algn="l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r>
              <a:rPr lang="en-US" sz="1100" b="1" dirty="0" smtClean="0">
                <a:solidFill>
                  <a:srgbClr val="000090"/>
                </a:solidFill>
                <a:latin typeface="+mj-lt"/>
              </a:rPr>
              <a:t>Science Operations</a:t>
            </a:r>
            <a:r>
              <a:rPr lang="en-US" sz="1100" dirty="0" smtClean="0">
                <a:solidFill>
                  <a:srgbClr val="000090"/>
                </a:solidFill>
                <a:latin typeface="+mj-lt"/>
              </a:rPr>
              <a:t>: Regular spring, summer and fall deployments annually 2012 – 2014 when </a:t>
            </a:r>
            <a:r>
              <a:rPr lang="en-US" sz="1100" dirty="0">
                <a:solidFill>
                  <a:srgbClr val="000090"/>
                </a:solidFill>
                <a:latin typeface="+mj-lt"/>
              </a:rPr>
              <a:t>arctic carbon fluxes are large and change rapidly</a:t>
            </a:r>
          </a:p>
          <a:p>
            <a:pPr marL="269405" lvl="1" indent="-161643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endParaRPr lang="en-US" sz="1100" dirty="0">
              <a:solidFill>
                <a:srgbClr val="000090"/>
              </a:solidFill>
              <a:latin typeface="+mj-lt"/>
            </a:endParaRPr>
          </a:p>
          <a:p>
            <a:pPr marL="269405" lvl="1" indent="-161643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endParaRPr lang="en-US" sz="1100" dirty="0">
              <a:solidFill>
                <a:srgbClr val="000090"/>
              </a:solidFill>
              <a:latin typeface="+mj-lt"/>
            </a:endParaRPr>
          </a:p>
          <a:p>
            <a:pPr marL="269405" lvl="1" indent="-161643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endParaRPr lang="en-US" sz="1100" dirty="0">
              <a:solidFill>
                <a:srgbClr val="000090"/>
              </a:solidFill>
              <a:latin typeface="+mj-lt"/>
            </a:endParaRPr>
          </a:p>
          <a:p>
            <a:pPr marL="269405" lvl="1" indent="-161643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endParaRPr lang="en-US" sz="1100" dirty="0">
              <a:solidFill>
                <a:srgbClr val="000090"/>
              </a:solidFill>
              <a:latin typeface="+mj-lt"/>
            </a:endParaRPr>
          </a:p>
          <a:p>
            <a:pPr marL="700453" lvl="1" indent="-269405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FontTx/>
              <a:buChar char="–"/>
              <a:defRPr/>
            </a:pPr>
            <a:endParaRPr lang="en-US" sz="1100" dirty="0">
              <a:solidFill>
                <a:srgbClr val="000090"/>
              </a:solidFill>
              <a:latin typeface="+mj-lt"/>
            </a:endParaRPr>
          </a:p>
        </p:txBody>
      </p:sp>
      <p:grpSp>
        <p:nvGrpSpPr>
          <p:cNvPr id="14" name="Group 13" descr="Repeat of graphics showing flight tracks, instrucments, flight areas and satellite grid area."/>
          <p:cNvGrpSpPr/>
          <p:nvPr/>
        </p:nvGrpSpPr>
        <p:grpSpPr>
          <a:xfrm>
            <a:off x="152401" y="978446"/>
            <a:ext cx="4648199" cy="3590850"/>
            <a:chOff x="152401" y="978446"/>
            <a:chExt cx="4648199" cy="3590850"/>
          </a:xfrm>
        </p:grpSpPr>
        <p:pic>
          <p:nvPicPr>
            <p:cNvPr id="8" name="Picture 8" descr="CARVE figure.jp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=""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686" y="1064097"/>
              <a:ext cx="2275114" cy="167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5" descr="Figure 3-1_091029-1.tif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=""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1" y="2969096"/>
              <a:ext cx="2667000" cy="12269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895600" y="978446"/>
              <a:ext cx="1905000" cy="1914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=""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2938933"/>
              <a:ext cx="1905000" cy="1630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TextBox 12"/>
          <p:cNvSpPr txBox="1"/>
          <p:nvPr/>
        </p:nvSpPr>
        <p:spPr>
          <a:xfrm>
            <a:off x="3529155" y="2514600"/>
            <a:ext cx="13476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Flight Tracks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1569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86210" tIns="43105" rIns="86210" bIns="43105" numCol="1" anchor="t" anchorCtr="0" compatLnSpc="1">
        <a:prstTxWarp prst="textNoShape">
          <a:avLst/>
        </a:prstTxWarp>
        <a:spAutoFit/>
      </a:bodyPr>
      <a:lstStyle>
        <a:defPPr marL="0" marR="0" indent="0" algn="ctr" defTabSz="8620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2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86210" tIns="43105" rIns="86210" bIns="43105" numCol="1" anchor="t" anchorCtr="0" compatLnSpc="1">
        <a:prstTxWarp prst="textNoShape">
          <a:avLst/>
        </a:prstTxWarp>
        <a:spAutoFit/>
      </a:bodyPr>
      <a:lstStyle>
        <a:defPPr marL="0" marR="0" indent="0" algn="ctr" defTabSz="8620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2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2080498929</TotalTime>
  <Words>858</Words>
  <Application>Microsoft Office PowerPoint</Application>
  <PresentationFormat>Custom</PresentationFormat>
  <Paragraphs>100</Paragraphs>
  <Slides>9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Default Design</vt:lpstr>
      <vt:lpstr>Photo Editor Photo</vt:lpstr>
      <vt:lpstr>Slide 1</vt:lpstr>
      <vt:lpstr>Massive Reservoirs of Arctic Carbon are Vulnerable to Climate Change</vt:lpstr>
      <vt:lpstr>CARVE Addresses  Key Unanswered Science Questions</vt:lpstr>
      <vt:lpstr>The CARVE Science Investigation</vt:lpstr>
      <vt:lpstr>The CARVE Flight System: Twin Otter + Science Instruments</vt:lpstr>
      <vt:lpstr>Summary of CARVE AK 2011 Test Flights</vt:lpstr>
      <vt:lpstr>AK Test Flight #2 - 12 April 2011 North Slope/Deadhorse AK Flight Path</vt:lpstr>
      <vt:lpstr>Science Operations are Scheduled  2012–2014</vt:lpstr>
      <vt:lpstr>Carbon in Arctic Reservoirs Vulnerability Experiment (CARVE): An EV-1 Investigation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cp:lastModifiedBy> </cp:lastModifiedBy>
  <cp:revision>647</cp:revision>
  <cp:lastPrinted>2010-12-05T23:36:22Z</cp:lastPrinted>
  <dcterms:created xsi:type="dcterms:W3CDTF">2011-01-14T21:06:41Z</dcterms:created>
  <dcterms:modified xsi:type="dcterms:W3CDTF">2011-11-14T23:37:02Z</dcterms:modified>
</cp:coreProperties>
</file>