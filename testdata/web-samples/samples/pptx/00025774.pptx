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22.xml" ContentType="application/vnd.openxmlformats-officedocument.presentationml.slide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3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jpeg" ContentType="image/jpeg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slides/slide8.xml" ContentType="application/vnd.openxmlformats-officedocument.presentationml.slide+xml"/>
  <Override PartName="/ppt/slides/slide15.xml" ContentType="application/vnd.openxmlformats-officedocument.presentationml.slide+xml"/>
  <Default Extension="bin" ContentType="application/vnd.openxmlformats-officedocument.presentationml.printerSettings"/>
  <Default Extension="rels" ContentType="application/vnd.openxmlformats-package.relationships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6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4" r:id="rId10"/>
    <p:sldId id="262" r:id="rId11"/>
    <p:sldId id="267" r:id="rId12"/>
    <p:sldId id="268" r:id="rId13"/>
    <p:sldId id="273" r:id="rId14"/>
    <p:sldId id="274" r:id="rId15"/>
    <p:sldId id="275" r:id="rId16"/>
    <p:sldId id="277" r:id="rId17"/>
    <p:sldId id="276" r:id="rId18"/>
    <p:sldId id="269" r:id="rId19"/>
    <p:sldId id="271" r:id="rId20"/>
    <p:sldId id="270" r:id="rId21"/>
    <p:sldId id="272" r:id="rId22"/>
    <p:sldId id="278" r:id="rId23"/>
    <p:sldId id="26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-33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slide" Target="slides/slide6.xml"/><Relationship Id="rId1" Type="http://schemas.openxmlformats.org/officeDocument/2006/relationships/slideMaster" Target="slideMasters/slideMaster1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9" Type="http://schemas.openxmlformats.org/officeDocument/2006/relationships/slide" Target="slides/slide8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7" Type="http://schemas.openxmlformats.org/officeDocument/2006/relationships/presProps" Target="presProps.xml"/><Relationship Id="rId14" Type="http://schemas.openxmlformats.org/officeDocument/2006/relationships/slide" Target="slides/slide13.xml"/><Relationship Id="rId23" Type="http://schemas.openxmlformats.org/officeDocument/2006/relationships/slide" Target="slides/slide22.xml"/><Relationship Id="rId4" Type="http://schemas.openxmlformats.org/officeDocument/2006/relationships/slide" Target="slides/slide3.xml"/><Relationship Id="rId28" Type="http://schemas.openxmlformats.org/officeDocument/2006/relationships/viewProps" Target="viewProps.xml"/><Relationship Id="rId26" Type="http://schemas.openxmlformats.org/officeDocument/2006/relationships/printerSettings" Target="printerSettings/printerSettings1.bin"/><Relationship Id="rId30" Type="http://schemas.openxmlformats.org/officeDocument/2006/relationships/tableStyles" Target="tableStyles.xml"/><Relationship Id="rId11" Type="http://schemas.openxmlformats.org/officeDocument/2006/relationships/slide" Target="slides/slide10.xml"/><Relationship Id="rId29" Type="http://schemas.openxmlformats.org/officeDocument/2006/relationships/theme" Target="theme/theme1.xml"/><Relationship Id="rId6" Type="http://schemas.openxmlformats.org/officeDocument/2006/relationships/slide" Target="slides/slide5.xml"/><Relationship Id="rId16" Type="http://schemas.openxmlformats.org/officeDocument/2006/relationships/slide" Target="slides/slide1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1F8BA-D7EF-4B42-BCA5-7176599422ED}" type="datetimeFigureOut">
              <a:rPr lang="en-US" smtClean="0"/>
              <a:pPr/>
              <a:t>5/28/11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7C84CA-06BA-8748-A332-04CD41284D0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Keck &amp; Sikkink</a:t>
            </a:r>
            <a:r>
              <a:rPr lang="en-US" baseline="0" dirty="0" smtClean="0"/>
              <a:t> – history – women’s movement, environment movement (earth hour from Australia to around the globe in just a few years), human rights; historical precedents include anti-slavery movement and woman’s suffrage movement. Transnational advocacy networks work by sharing information / strategies, boomerang / shame, symbolic politics, leverage politics, tools. Facilitated by the Internet.  Examples of information politics:  common </a:t>
            </a:r>
            <a:r>
              <a:rPr lang="en-US" baseline="0" dirty="0" err="1" smtClean="0"/>
              <a:t>listservs</a:t>
            </a:r>
            <a:r>
              <a:rPr lang="en-US" baseline="0" dirty="0" smtClean="0"/>
              <a:t>, tools such as SHERPA ROMEO, SHERPA JULIET, DOAJ, OATP and OAD. Symbolic politics: nominating people for awards, the SPARC Innovator series. Leverage politics: working with funding agencies on policies. Sharing tools:  OJS, OAI.  Global scope: considerable activity in every continent except </a:t>
            </a:r>
            <a:r>
              <a:rPr lang="en-US" baseline="0" dirty="0" err="1" smtClean="0"/>
              <a:t>Antartica</a:t>
            </a:r>
            <a:r>
              <a:rPr lang="en-US" baseline="0" dirty="0" smtClean="0"/>
              <a:t>.  How transnational networks work: connecting local activists with each other to share and coordinate efforts where this makes sense while connecting with local cultures when this makes sense.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7C84CA-06BA-8748-A332-04CD41284D0F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If time:  repeat with environmental sciences.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7C84CA-06BA-8748-A332-04CD41284D0F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01EC5-1A98-E046-AF1E-39010AFD3691}" type="datetimeFigureOut">
              <a:rPr lang="en-US" smtClean="0"/>
              <a:pPr/>
              <a:t>5/28/11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8764E-9102-7642-A6D1-5BBDAA7BA1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01EC5-1A98-E046-AF1E-39010AFD3691}" type="datetimeFigureOut">
              <a:rPr lang="en-US" smtClean="0"/>
              <a:pPr/>
              <a:t>5/28/11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8764E-9102-7642-A6D1-5BBDAA7BA1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01EC5-1A98-E046-AF1E-39010AFD3691}" type="datetimeFigureOut">
              <a:rPr lang="en-US" smtClean="0"/>
              <a:pPr/>
              <a:t>5/28/11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8764E-9102-7642-A6D1-5BBDAA7BA1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01EC5-1A98-E046-AF1E-39010AFD3691}" type="datetimeFigureOut">
              <a:rPr lang="en-US" smtClean="0"/>
              <a:pPr/>
              <a:t>5/28/11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8764E-9102-7642-A6D1-5BBDAA7BA1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01EC5-1A98-E046-AF1E-39010AFD3691}" type="datetimeFigureOut">
              <a:rPr lang="en-US" smtClean="0"/>
              <a:pPr/>
              <a:t>5/28/11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8764E-9102-7642-A6D1-5BBDAA7BA1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01EC5-1A98-E046-AF1E-39010AFD3691}" type="datetimeFigureOut">
              <a:rPr lang="en-US" smtClean="0"/>
              <a:pPr/>
              <a:t>5/28/11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8764E-9102-7642-A6D1-5BBDAA7BA1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01EC5-1A98-E046-AF1E-39010AFD3691}" type="datetimeFigureOut">
              <a:rPr lang="en-US" smtClean="0"/>
              <a:pPr/>
              <a:t>5/28/11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8764E-9102-7642-A6D1-5BBDAA7BA1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01EC5-1A98-E046-AF1E-39010AFD3691}" type="datetimeFigureOut">
              <a:rPr lang="en-US" smtClean="0"/>
              <a:pPr/>
              <a:t>5/28/11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8764E-9102-7642-A6D1-5BBDAA7BA1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01EC5-1A98-E046-AF1E-39010AFD3691}" type="datetimeFigureOut">
              <a:rPr lang="en-US" smtClean="0"/>
              <a:pPr/>
              <a:t>5/28/11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8764E-9102-7642-A6D1-5BBDAA7BA1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01EC5-1A98-E046-AF1E-39010AFD3691}" type="datetimeFigureOut">
              <a:rPr lang="en-US" smtClean="0"/>
              <a:pPr/>
              <a:t>5/28/11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8764E-9102-7642-A6D1-5BBDAA7BA1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01EC5-1A98-E046-AF1E-39010AFD3691}" type="datetimeFigureOut">
              <a:rPr lang="en-US" smtClean="0"/>
              <a:pPr/>
              <a:t>5/28/11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8764E-9102-7642-A6D1-5BBDAA7BA1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01EC5-1A98-E046-AF1E-39010AFD3691}" type="datetimeFigureOut">
              <a:rPr lang="en-US" smtClean="0"/>
              <a:pPr/>
              <a:t>5/28/11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8764E-9102-7642-A6D1-5BBDAA7BA1A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hyperlink" Target="http://pages.cmns.sfu.ca/heather-morrison/" TargetMode="External"/><Relationship Id="rId3" Type="http://schemas.openxmlformats.org/officeDocument/2006/relationships/hyperlink" Target="http://creativecommons.org/licenses/by-nc-sa/3.0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herpa.ac.uk/juliet/" TargetMode="External"/><Relationship Id="rId3" Type="http://schemas.openxmlformats.org/officeDocument/2006/relationships/hyperlink" Target="http://roarmap.eprints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rl.org/sparc/advocacy/frpaa/index.s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hyperlink" Target="http://www.springeropen.com/" TargetMode="External"/><Relationship Id="rId4" Type="http://schemas.openxmlformats.org/officeDocument/2006/relationships/hyperlink" Target="http://www.nature.com/srep/marketing/index.html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bit.ly/kTvrRR" TargetMode="External"/><Relationship Id="rId3" Type="http://schemas.openxmlformats.org/officeDocument/2006/relationships/hyperlink" Target="http://bit.ly/kB76Ny" TargetMode="External"/><Relationship Id="rId5" Type="http://schemas.openxmlformats.org/officeDocument/2006/relationships/hyperlink" Target="http://www.wileyopenaccess.com/view/index.html" TargetMode="Externa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hyperlink" Target="http://www.arl.org/sparc/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connotea.org/tag/oa.new" TargetMode="External"/><Relationship Id="rId3" Type="http://schemas.openxmlformats.org/officeDocument/2006/relationships/hyperlink" Target="http://oad.simmons.edu/oadwiki/Main_Page" TargetMode="External"/><Relationship Id="rId5" Type="http://schemas.openxmlformats.org/officeDocument/2006/relationships/hyperlink" Target="http://www.arl.org/sparc/media/11-0526.shtml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rl.org/sparc/media/11-0526.shtml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hyperlink" Target="http://rzblx1.uni-regensburg.de/ezeit/index.phtml?lang=en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eln.bc.ca/view.php?id=1129" TargetMode="External"/><Relationship Id="rId3" Type="http://schemas.openxmlformats.org/officeDocument/2006/relationships/hyperlink" Target="http://www.eln.bc.ca/view.php?id=1876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eprints.ecs.soton.ac.uk/10999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755775"/>
          </a:xfrm>
        </p:spPr>
        <p:txBody>
          <a:bodyPr>
            <a:normAutofit/>
          </a:bodyPr>
          <a:lstStyle/>
          <a:p>
            <a:r>
              <a:rPr lang="en-US" dirty="0" smtClean="0"/>
              <a:t>LIBR 559K – Open Access, UBC SLAIS, May 28, 2011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5473" y="3886200"/>
            <a:ext cx="7562726" cy="1752600"/>
          </a:xfrm>
        </p:spPr>
        <p:txBody>
          <a:bodyPr/>
          <a:lstStyle/>
          <a:p>
            <a:r>
              <a:rPr lang="en-US" dirty="0" smtClean="0"/>
              <a:t>Heather Morrison</a:t>
            </a:r>
          </a:p>
          <a:p>
            <a:r>
              <a:rPr lang="en-US" dirty="0" smtClean="0">
                <a:hlinkClick r:id="rId2"/>
              </a:rPr>
              <a:t>http://pages.cmns.sfu.ca/heather-morrison/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124582" y="5597154"/>
            <a:ext cx="5333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work is licensed under a </a:t>
            </a:r>
            <a:r>
              <a:rPr lang="en-US" dirty="0" smtClean="0">
                <a:hlinkClick r:id="rId3"/>
              </a:rPr>
              <a:t>Creative Commons Attribution-NonCommercial-ShareAlike 3.0 Unported License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5638800"/>
            <a:ext cx="1117600" cy="393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 Access 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SHERPA JULIET Research Funders’ Open Access Policies </a:t>
            </a:r>
            <a:r>
              <a:rPr lang="en-US" dirty="0" smtClean="0">
                <a:hlinkClick r:id="rId2"/>
              </a:rPr>
              <a:t>http://www.sherpa.ac.uk/juliet/</a:t>
            </a:r>
            <a:endParaRPr lang="en-US" dirty="0" smtClean="0"/>
          </a:p>
          <a:p>
            <a:r>
              <a:rPr lang="en-US" dirty="0" smtClean="0"/>
              <a:t>Registry of Open Access Repository Material Archiving Policies </a:t>
            </a:r>
            <a:r>
              <a:rPr lang="en-US" dirty="0" smtClean="0">
                <a:hlinkClick r:id="rId3"/>
              </a:rPr>
              <a:t>http://roarmap.eprints.org/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Canadian open access mandate polices (funding agencies) (selected)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Canadian Institutes of Health Research Policy on Access to Research Outputs (data &amp; articles)</a:t>
            </a:r>
          </a:p>
          <a:p>
            <a:r>
              <a:rPr lang="en-US" dirty="0" smtClean="0"/>
              <a:t> Canadian Cancer Society</a:t>
            </a:r>
          </a:p>
          <a:p>
            <a:r>
              <a:rPr lang="en-US" dirty="0" smtClean="0"/>
              <a:t>Genome Canada</a:t>
            </a:r>
          </a:p>
          <a:p>
            <a:r>
              <a:rPr lang="en-US" dirty="0" smtClean="0"/>
              <a:t>Ontario Institutes of Health Research</a:t>
            </a:r>
          </a:p>
          <a:p>
            <a:r>
              <a:rPr lang="en-US" dirty="0" smtClean="0"/>
              <a:t>Michael Smith Foundation for Health Research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Canadian Open Access Mandate Policies (Institutional) (Selected)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Athabasca University</a:t>
            </a:r>
          </a:p>
          <a:p>
            <a:r>
              <a:rPr lang="en-US" dirty="0" smtClean="0"/>
              <a:t>Concordia University</a:t>
            </a:r>
          </a:p>
          <a:p>
            <a:r>
              <a:rPr lang="en-US" dirty="0" smtClean="0"/>
              <a:t>Mount St. Vincent University</a:t>
            </a:r>
          </a:p>
          <a:p>
            <a:r>
              <a:rPr lang="en-US" dirty="0" smtClean="0"/>
              <a:t>University of Calgary: Library and Cultural Resources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International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Research Councils UK</a:t>
            </a:r>
          </a:p>
          <a:p>
            <a:r>
              <a:rPr lang="en-US" dirty="0" smtClean="0"/>
              <a:t>Wellcome Trust</a:t>
            </a:r>
          </a:p>
          <a:p>
            <a:r>
              <a:rPr lang="en-US" dirty="0" smtClean="0"/>
              <a:t>U.S.</a:t>
            </a:r>
          </a:p>
          <a:p>
            <a:r>
              <a:rPr lang="en-US" dirty="0" smtClean="0"/>
              <a:t>National Institutes of Health Public Access Policy</a:t>
            </a:r>
          </a:p>
          <a:p>
            <a:r>
              <a:rPr lang="en-US" dirty="0" smtClean="0"/>
              <a:t>Federal Research Public Access Act (re-introduced 2010) </a:t>
            </a:r>
            <a:r>
              <a:rPr lang="en-US" dirty="0" smtClean="0">
                <a:hlinkClick r:id="rId2"/>
              </a:rPr>
              <a:t>http://www.arl.org/sparc/advocacy/frpaa/index.shtml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makes for good OA policy?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OA archiving (green) not gold</a:t>
            </a:r>
          </a:p>
          <a:p>
            <a:r>
              <a:rPr lang="en-US" dirty="0" smtClean="0"/>
              <a:t>OA required not requested</a:t>
            </a:r>
          </a:p>
          <a:p>
            <a:r>
              <a:rPr lang="en-US" dirty="0" smtClean="0"/>
              <a:t>Deposit immediate even if access is delayed</a:t>
            </a:r>
          </a:p>
          <a:p>
            <a:r>
              <a:rPr lang="en-US" dirty="0" smtClean="0"/>
              <a:t>Minimal embargo (delay) permitted</a:t>
            </a:r>
          </a:p>
          <a:p>
            <a:r>
              <a:rPr lang="en-US" dirty="0" smtClean="0"/>
              <a:t>Not subject to publisher policy (funders &amp; universities are upstream)</a:t>
            </a:r>
          </a:p>
          <a:p>
            <a:r>
              <a:rPr lang="en-US" dirty="0" smtClean="0"/>
              <a:t>Monitoring &amp; enforcement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Policy &amp; advocacy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Keck &amp; Sikkink – transnational advocacy networks</a:t>
            </a:r>
          </a:p>
          <a:p>
            <a:r>
              <a:rPr lang="en-US" dirty="0" smtClean="0"/>
              <a:t>Global scope of the OA movement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Culture, history, policy &amp; advocacy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Latin America – open access publishing</a:t>
            </a:r>
          </a:p>
          <a:p>
            <a:pPr lvl="1"/>
            <a:r>
              <a:rPr lang="en-US" dirty="0" smtClean="0"/>
              <a:t>Scielo http://</a:t>
            </a:r>
            <a:r>
              <a:rPr lang="en-US" dirty="0" err="1" smtClean="0"/>
              <a:t>www.scielo.br</a:t>
            </a:r>
            <a:r>
              <a:rPr lang="en-US" dirty="0" smtClean="0"/>
              <a:t>/, </a:t>
            </a:r>
            <a:r>
              <a:rPr lang="en-US" dirty="0" err="1" smtClean="0"/>
              <a:t>Redalyc</a:t>
            </a:r>
            <a:r>
              <a:rPr lang="en-US" dirty="0" smtClean="0"/>
              <a:t> http://</a:t>
            </a:r>
            <a:r>
              <a:rPr lang="en-US" dirty="0" err="1" smtClean="0"/>
              <a:t>redalyc.uaemex.mx</a:t>
            </a:r>
            <a:r>
              <a:rPr lang="en-US" dirty="0" smtClean="0"/>
              <a:t>/</a:t>
            </a:r>
          </a:p>
          <a:p>
            <a:r>
              <a:rPr lang="en-US" dirty="0" smtClean="0"/>
              <a:t>UK – open access archiving &amp; mandate policies</a:t>
            </a:r>
          </a:p>
          <a:p>
            <a:pPr lvl="1"/>
            <a:r>
              <a:rPr lang="en-US" dirty="0" smtClean="0"/>
              <a:t>UK &amp; Australia: Research Assessment Exercise (RAE)</a:t>
            </a:r>
          </a:p>
          <a:p>
            <a:r>
              <a:rPr lang="en-US" dirty="0" smtClean="0"/>
              <a:t>EU coordinated approach to research</a:t>
            </a:r>
          </a:p>
          <a:p>
            <a:pPr lvl="1"/>
            <a:r>
              <a:rPr lang="en-US" dirty="0" smtClean="0"/>
              <a:t>DRIVER, </a:t>
            </a:r>
            <a:r>
              <a:rPr lang="en-US" dirty="0" smtClean="0"/>
              <a:t>PEER http://</a:t>
            </a:r>
            <a:r>
              <a:rPr lang="en-US" dirty="0" err="1" smtClean="0"/>
              <a:t>www.peerproject.eu</a:t>
            </a:r>
            <a:r>
              <a:rPr lang="en-US" dirty="0" smtClean="0"/>
              <a:t>/, </a:t>
            </a:r>
            <a:r>
              <a:rPr lang="en-US" dirty="0" smtClean="0"/>
              <a:t>EU open access policy</a:t>
            </a:r>
          </a:p>
          <a:p>
            <a:pPr lvl="1"/>
            <a:r>
              <a:rPr lang="en-US" dirty="0" smtClean="0"/>
              <a:t>Finland:  all universities adopt OA policy at once</a:t>
            </a:r>
          </a:p>
          <a:p>
            <a:r>
              <a:rPr lang="en-US" dirty="0" smtClean="0"/>
              <a:t>North America – decentralized</a:t>
            </a:r>
          </a:p>
          <a:p>
            <a:r>
              <a:rPr lang="en-US" dirty="0" smtClean="0"/>
              <a:t>China</a:t>
            </a:r>
            <a:r>
              <a:rPr lang="en-US" dirty="0" smtClean="0"/>
              <a:t> – centralized / Chinese National Academy of Sciences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Organizational culture &amp; policy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Top-down</a:t>
            </a:r>
          </a:p>
          <a:p>
            <a:r>
              <a:rPr lang="en-US" dirty="0" smtClean="0"/>
              <a:t>Bottom-</a:t>
            </a:r>
            <a:r>
              <a:rPr lang="en-US" dirty="0" smtClean="0"/>
              <a:t>up</a:t>
            </a:r>
          </a:p>
          <a:p>
            <a:r>
              <a:rPr lang="en-US" dirty="0" smtClean="0"/>
              <a:t>Local faculty IP / employment conditions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for librarians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OA policy advocacy (campus &amp; funding agencies)</a:t>
            </a:r>
          </a:p>
          <a:p>
            <a:r>
              <a:rPr lang="en-US" dirty="0" smtClean="0"/>
              <a:t>Education</a:t>
            </a:r>
          </a:p>
          <a:p>
            <a:r>
              <a:rPr lang="en-US" dirty="0" smtClean="0"/>
              <a:t>Facilitating compliance	</a:t>
            </a:r>
          </a:p>
          <a:p>
            <a:pPr lvl="1"/>
            <a:r>
              <a:rPr lang="en-US" dirty="0" smtClean="0"/>
              <a:t>Author’s rights</a:t>
            </a:r>
          </a:p>
          <a:p>
            <a:pPr lvl="1"/>
            <a:r>
              <a:rPr lang="en-US" dirty="0" smtClean="0"/>
              <a:t>“Self” archiving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Things to know about institutional 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Given a mandate, over 80% of researchers would self-archive willing (Swan &amp; Brown; Vézina)</a:t>
            </a:r>
          </a:p>
          <a:p>
            <a:r>
              <a:rPr lang="en-US" dirty="0" smtClean="0"/>
              <a:t>Arthur Sale – on the effectiveness of OA mandates http://bit.ly/mC5MW5</a:t>
            </a:r>
          </a:p>
          <a:p>
            <a:r>
              <a:rPr lang="en-US" dirty="0" smtClean="0"/>
              <a:t>Funding agencies and university employment contracts are </a:t>
            </a:r>
            <a:r>
              <a:rPr lang="en-US" i="1" dirty="0" smtClean="0"/>
              <a:t>upstream</a:t>
            </a:r>
            <a:r>
              <a:rPr lang="en-US" dirty="0" smtClean="0"/>
              <a:t> from publishers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Advocacy strategies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Taxpayer rights / Alliance for Taxpayer Access</a:t>
            </a:r>
          </a:p>
          <a:p>
            <a:r>
              <a:rPr lang="en-US" dirty="0" smtClean="0"/>
              <a:t>Public good</a:t>
            </a:r>
          </a:p>
          <a:p>
            <a:r>
              <a:rPr lang="en-US" dirty="0" smtClean="0"/>
              <a:t>Research effectiveness / speed</a:t>
            </a:r>
          </a:p>
          <a:p>
            <a:r>
              <a:rPr lang="en-US" dirty="0" smtClean="0"/>
              <a:t>Business (</a:t>
            </a:r>
            <a:r>
              <a:rPr lang="en-US" dirty="0" err="1" smtClean="0"/>
              <a:t>SMEs</a:t>
            </a:r>
            <a:r>
              <a:rPr lang="en-US" dirty="0" smtClean="0"/>
              <a:t> call for open access) http://bit.ly/kQw2QB</a:t>
            </a:r>
          </a:p>
          <a:p>
            <a:r>
              <a:rPr lang="en-US" dirty="0" smtClean="0"/>
              <a:t>Researcher champions</a:t>
            </a:r>
          </a:p>
          <a:p>
            <a:r>
              <a:rPr lang="en-US" dirty="0" smtClean="0"/>
              <a:t>Alliances with like-minded groups (e.g. fair copyright / net neutrality / open access)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Exercise: OA advocacy - arguments (pairs / small groups &amp; class)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initial focus of open access mandate policies was medical research funding agencies, where the public good arguments are easily understood by all.</a:t>
            </a:r>
          </a:p>
          <a:p>
            <a:r>
              <a:rPr lang="en-US" dirty="0" smtClean="0"/>
              <a:t>What about other areas? Let’s start with agriculture. Should scholarly literature in this area be openly accessible? Why or why not?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Exercise: OA advocacy strategies: agriculture (small groups &amp; class)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could people go about encouraging open access to the agricultural literature?</a:t>
            </a:r>
          </a:p>
          <a:p>
            <a:pPr lvl="1"/>
            <a:r>
              <a:rPr lang="en-US" dirty="0" smtClean="0"/>
              <a:t>Who is involved?</a:t>
            </a:r>
          </a:p>
          <a:p>
            <a:pPr lvl="1"/>
            <a:r>
              <a:rPr lang="en-US" dirty="0" smtClean="0"/>
              <a:t>What strategies might be employed to convince them to transition to open access?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74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Exercise: OA advocacy strategies:  elevator speech (individual, small group &amp; class)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6174"/>
            <a:ext cx="8229600" cy="4139989"/>
          </a:xfrm>
        </p:spPr>
        <p:txBody>
          <a:bodyPr/>
          <a:lstStyle/>
          <a:p>
            <a:r>
              <a:rPr lang="en-US" dirty="0" smtClean="0"/>
              <a:t>You just entered an elevator with a faculty member in one of the research areas we were just discussing. You have about a minute to make a pitch…</a:t>
            </a:r>
          </a:p>
          <a:p>
            <a:r>
              <a:rPr lang="en-US" dirty="0" smtClean="0"/>
              <a:t>(substitute other decision-maker for faculty member if you like)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Exercise (class) – OA advocacy strategies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Sage’s </a:t>
            </a:r>
            <a:r>
              <a:rPr lang="en-US" i="1" dirty="0" smtClean="0"/>
              <a:t>Action Research</a:t>
            </a:r>
          </a:p>
          <a:p>
            <a:r>
              <a:rPr lang="en-US" dirty="0" smtClean="0"/>
              <a:t>Pay per view US $25 to view article at one computer for one day</a:t>
            </a:r>
            <a:r>
              <a:rPr lang="en-US" i="1" dirty="0" smtClean="0"/>
              <a:t> </a:t>
            </a:r>
          </a:p>
          <a:p>
            <a:r>
              <a:rPr lang="en-US" i="1" dirty="0" smtClean="0"/>
              <a:t>Strategies for encouraging change?</a:t>
            </a:r>
            <a:endParaRPr lang="en-US" i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Disciplinary differences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Physics vs. chemistry</a:t>
            </a:r>
          </a:p>
          <a:p>
            <a:r>
              <a:rPr lang="en-US" dirty="0" smtClean="0"/>
              <a:t>History: primary source materials</a:t>
            </a:r>
          </a:p>
          <a:p>
            <a:r>
              <a:rPr lang="en-US" dirty="0" smtClean="0"/>
              <a:t>Literature: free access to public domain materials, data-mining texts for research</a:t>
            </a:r>
          </a:p>
          <a:p>
            <a:r>
              <a:rPr lang="en-US" dirty="0" smtClean="0"/>
              <a:t>Academic activists: expanded reach beyond the academy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 access: some 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 access archives:  versions</a:t>
            </a:r>
          </a:p>
          <a:p>
            <a:r>
              <a:rPr lang="en-US" dirty="0" smtClean="0"/>
              <a:t>Open access publishing: quality of new entrants (Open Access Scholarly Publishers’ Association)</a:t>
            </a:r>
          </a:p>
          <a:p>
            <a:r>
              <a:rPr lang="en-US" dirty="0" smtClean="0"/>
              <a:t>Economics</a:t>
            </a:r>
          </a:p>
          <a:p>
            <a:r>
              <a:rPr lang="en-US" dirty="0" smtClean="0"/>
              <a:t>Lobbying (policy)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OA: some recent developments – traditional commercial publishers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Sage Open </a:t>
            </a:r>
            <a:r>
              <a:rPr lang="en-US" dirty="0" smtClean="0">
                <a:hlinkClick r:id="rId2"/>
              </a:rPr>
              <a:t>http://bit.ly/kTvrRR</a:t>
            </a:r>
            <a:r>
              <a:rPr lang="en-US" dirty="0" smtClean="0"/>
              <a:t> (this week)</a:t>
            </a:r>
          </a:p>
          <a:p>
            <a:r>
              <a:rPr lang="en-US" dirty="0" smtClean="0"/>
              <a:t>Job ad for forthcoming Elsevier OA journal Cell Reports </a:t>
            </a:r>
            <a:r>
              <a:rPr lang="en-US" dirty="0" smtClean="0">
                <a:hlinkClick r:id="rId3"/>
              </a:rPr>
              <a:t>http://bit.ly/kB76Ny</a:t>
            </a:r>
            <a:r>
              <a:rPr lang="en-US" dirty="0" smtClean="0"/>
              <a:t> (May 9)</a:t>
            </a:r>
          </a:p>
          <a:p>
            <a:r>
              <a:rPr lang="en-US" dirty="0" smtClean="0"/>
              <a:t>Nature </a:t>
            </a:r>
            <a:r>
              <a:rPr lang="en-US" i="1" dirty="0" smtClean="0"/>
              <a:t>Scientific Reports </a:t>
            </a:r>
            <a:r>
              <a:rPr lang="en-US" dirty="0" smtClean="0"/>
              <a:t>– first papers June 2011 </a:t>
            </a:r>
            <a:r>
              <a:rPr lang="en-US" dirty="0" smtClean="0">
                <a:hlinkClick r:id="rId4"/>
              </a:rPr>
              <a:t>http://www.nature.com/srep/marketing/index.html</a:t>
            </a:r>
            <a:endParaRPr lang="en-US" dirty="0" smtClean="0"/>
          </a:p>
          <a:p>
            <a:r>
              <a:rPr lang="en-US" dirty="0" smtClean="0"/>
              <a:t>Wiley Open Access – launching in 2011 </a:t>
            </a:r>
            <a:r>
              <a:rPr lang="en-US" dirty="0" smtClean="0">
                <a:hlinkClick r:id="rId5"/>
              </a:rPr>
              <a:t>http://www.wileyopenaccess.com/view/index.html</a:t>
            </a:r>
            <a:endParaRPr lang="en-US" dirty="0" smtClean="0"/>
          </a:p>
          <a:p>
            <a:r>
              <a:rPr lang="en-US" dirty="0" err="1" smtClean="0"/>
              <a:t>SpringerOpen</a:t>
            </a:r>
            <a:r>
              <a:rPr lang="en-US" dirty="0" smtClean="0"/>
              <a:t> journals </a:t>
            </a:r>
            <a:r>
              <a:rPr lang="en-US" dirty="0" smtClean="0">
                <a:hlinkClick r:id="rId6"/>
              </a:rPr>
              <a:t>http://www.springeropen.com/</a:t>
            </a:r>
            <a:r>
              <a:rPr lang="en-US" dirty="0" smtClean="0"/>
              <a:t> - 2011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Open access: some tools &amp; 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News:  Open Access Tracking Project </a:t>
            </a:r>
            <a:r>
              <a:rPr lang="en-US" dirty="0" smtClean="0">
                <a:hlinkClick r:id="rId2"/>
              </a:rPr>
              <a:t>http://www.connotea.org/tag/oa.new</a:t>
            </a:r>
            <a:endParaRPr lang="en-US" dirty="0" smtClean="0"/>
          </a:p>
          <a:p>
            <a:r>
              <a:rPr lang="en-US" dirty="0" smtClean="0"/>
              <a:t>Open Access Directory </a:t>
            </a:r>
            <a:r>
              <a:rPr lang="en-US" dirty="0" smtClean="0">
                <a:hlinkClick r:id="rId3"/>
              </a:rPr>
              <a:t>http://oad.simmons.edu/oadwiki/Main_Page</a:t>
            </a:r>
            <a:endParaRPr lang="en-US" dirty="0" smtClean="0"/>
          </a:p>
          <a:p>
            <a:r>
              <a:rPr lang="en-US" dirty="0" smtClean="0"/>
              <a:t>Scholarly Publishing and Academic Resources Coalition </a:t>
            </a:r>
            <a:r>
              <a:rPr lang="en-US" dirty="0" smtClean="0">
                <a:hlinkClick r:id="rId4"/>
              </a:rPr>
              <a:t>http://www.arl.org/sparc/</a:t>
            </a:r>
            <a:endParaRPr lang="en-US" dirty="0" smtClean="0"/>
          </a:p>
          <a:p>
            <a:r>
              <a:rPr lang="en-US" dirty="0" smtClean="0"/>
              <a:t>SPARC OA Journal Publishing Resource Index </a:t>
            </a:r>
            <a:r>
              <a:rPr lang="en-US" dirty="0" smtClean="0">
                <a:hlinkClick r:id="rId5"/>
              </a:rPr>
              <a:t>http://www.arl.org/sparc/media/11-0526.shtml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OA: some tools &amp; 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ACRL Scholarly Communication Toolkit</a:t>
            </a:r>
          </a:p>
          <a:p>
            <a:r>
              <a:rPr lang="en-US" dirty="0" smtClean="0">
                <a:hlinkClick r:id="rId2"/>
              </a:rPr>
              <a:t>http://www.arl.org/sparc/media/11-0526.shtml</a:t>
            </a:r>
            <a:endParaRPr lang="en-US" dirty="0" smtClean="0"/>
          </a:p>
          <a:p>
            <a:r>
              <a:rPr lang="en-US" dirty="0" smtClean="0"/>
              <a:t>Twitter #</a:t>
            </a:r>
            <a:r>
              <a:rPr lang="en-US" dirty="0" err="1" smtClean="0"/>
              <a:t>openaccess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Collecting open access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CUFTS Free! Open </a:t>
            </a:r>
            <a:r>
              <a:rPr lang="en-US" dirty="0" smtClean="0"/>
              <a:t>Access Collections </a:t>
            </a:r>
            <a:r>
              <a:rPr lang="en-US" dirty="0" smtClean="0">
                <a:hlinkClick r:id="rId2"/>
              </a:rPr>
              <a:t>http://www.eln.bc.ca/view.php?id=</a:t>
            </a:r>
            <a:r>
              <a:rPr lang="en-US" dirty="0" smtClean="0">
                <a:hlinkClick r:id="rId2"/>
              </a:rPr>
              <a:t>1129</a:t>
            </a:r>
            <a:endParaRPr lang="en-US" dirty="0" smtClean="0"/>
          </a:p>
          <a:p>
            <a:r>
              <a:rPr lang="en-US" dirty="0" smtClean="0"/>
              <a:t>Legislative Library </a:t>
            </a:r>
            <a:r>
              <a:rPr lang="en-US" dirty="0" smtClean="0"/>
              <a:t>MARC Records </a:t>
            </a:r>
            <a:r>
              <a:rPr lang="en-US" dirty="0" smtClean="0">
                <a:hlinkClick r:id="rId3"/>
              </a:rPr>
              <a:t>http://www.eln.bc.ca/view.php?id=</a:t>
            </a:r>
            <a:r>
              <a:rPr lang="en-US" dirty="0" smtClean="0">
                <a:hlinkClick r:id="rId3"/>
              </a:rPr>
              <a:t>1876</a:t>
            </a:r>
            <a:endParaRPr lang="en-US" dirty="0" smtClean="0"/>
          </a:p>
          <a:p>
            <a:r>
              <a:rPr lang="en-US" dirty="0" smtClean="0"/>
              <a:t>Electronic </a:t>
            </a:r>
            <a:r>
              <a:rPr lang="en-US" dirty="0" smtClean="0"/>
              <a:t>Journals Library </a:t>
            </a:r>
            <a:r>
              <a:rPr lang="en-US" dirty="0" smtClean="0">
                <a:hlinkClick r:id="rId4"/>
              </a:rPr>
              <a:t>http://rzblx1.uni-regensburg.de/ezeit/index.phtml?lang=</a:t>
            </a:r>
            <a:r>
              <a:rPr lang="en-US" dirty="0" smtClean="0">
                <a:hlinkClick r:id="rId4"/>
              </a:rPr>
              <a:t>en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Swan &amp; Brown (2005). Open access self-archiving: an author study. </a:t>
            </a:r>
            <a:r>
              <a:rPr lang="en-US" dirty="0" smtClean="0">
                <a:hlinkClick r:id="rId2"/>
              </a:rPr>
              <a:t>http://eprints.ecs.soton.ac.uk/10999/</a:t>
            </a:r>
            <a:endParaRPr lang="en-US" dirty="0" smtClean="0"/>
          </a:p>
          <a:p>
            <a:r>
              <a:rPr lang="en-US" dirty="0" smtClean="0"/>
              <a:t>Vézina, K. (2006). Libre </a:t>
            </a:r>
            <a:r>
              <a:rPr lang="en-US" dirty="0" err="1" smtClean="0"/>
              <a:t>accès</a:t>
            </a:r>
            <a:r>
              <a:rPr lang="en-US" dirty="0" smtClean="0"/>
              <a:t> </a:t>
            </a:r>
            <a:r>
              <a:rPr lang="en-US" dirty="0" err="1" smtClean="0"/>
              <a:t>à</a:t>
            </a:r>
            <a:r>
              <a:rPr lang="en-US" dirty="0" smtClean="0"/>
              <a:t> la </a:t>
            </a:r>
            <a:r>
              <a:rPr lang="en-US" dirty="0" err="1" smtClean="0"/>
              <a:t>recherche</a:t>
            </a:r>
            <a:r>
              <a:rPr lang="en-US" dirty="0" smtClean="0"/>
              <a:t> </a:t>
            </a:r>
            <a:r>
              <a:rPr lang="en-US" dirty="0" err="1" smtClean="0"/>
              <a:t>scientifique</a:t>
            </a:r>
            <a:r>
              <a:rPr lang="en-US" dirty="0" smtClean="0"/>
              <a:t> : opinions et </a:t>
            </a:r>
            <a:r>
              <a:rPr lang="en-US" dirty="0" err="1" smtClean="0"/>
              <a:t>pratiques</a:t>
            </a:r>
            <a:r>
              <a:rPr lang="en-US" dirty="0" smtClean="0"/>
              <a:t> des </a:t>
            </a:r>
            <a:r>
              <a:rPr lang="en-US" dirty="0" err="1" smtClean="0"/>
              <a:t>chercheurs</a:t>
            </a:r>
            <a:r>
              <a:rPr lang="en-US" dirty="0" smtClean="0"/>
              <a:t> au Québec. Partnership: the Canadian Journal of Library and Information Practice and Research 1:1 http://journal.lib.uoguelph.ca/index.php/perj/article/view/103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1353</Words>
  <Application>Microsoft Macintosh PowerPoint</Application>
  <PresentationFormat>On-screen Show (4:3)</PresentationFormat>
  <Paragraphs>115</Paragraphs>
  <Slides>23</Slides>
  <Notes>2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LIBR 559K – Open Access, UBC SLAIS, May 28, 2011</vt:lpstr>
      <vt:lpstr>Open Access Policy</vt:lpstr>
      <vt:lpstr>Canadian open access mandate polices (funding agencies) (selected)</vt:lpstr>
      <vt:lpstr>Canadian Open Access Mandate Policies (Institutional) (Selected)</vt:lpstr>
      <vt:lpstr>International</vt:lpstr>
      <vt:lpstr>What makes for good OA policy?</vt:lpstr>
      <vt:lpstr>Policy &amp; advocacy</vt:lpstr>
      <vt:lpstr>Culture, history, policy &amp; advocacy</vt:lpstr>
      <vt:lpstr>Organizational culture &amp; policy </vt:lpstr>
      <vt:lpstr>Roles for librarians </vt:lpstr>
      <vt:lpstr>Things to know about institutional policy</vt:lpstr>
      <vt:lpstr>Advocacy strategies</vt:lpstr>
      <vt:lpstr>Exercise: OA advocacy - arguments (pairs / small groups &amp; class)</vt:lpstr>
      <vt:lpstr>Exercise: OA advocacy strategies: agriculture (small groups &amp; class)</vt:lpstr>
      <vt:lpstr>Exercise: OA advocacy strategies:  elevator speech (individual, small group &amp; class)</vt:lpstr>
      <vt:lpstr>Exercise (class) – OA advocacy strategies</vt:lpstr>
      <vt:lpstr>Disciplinary differences</vt:lpstr>
      <vt:lpstr>Open access: some issues</vt:lpstr>
      <vt:lpstr>OA: some recent developments – traditional commercial publishers</vt:lpstr>
      <vt:lpstr>Open access: some tools &amp; resources</vt:lpstr>
      <vt:lpstr>OA: some tools &amp; resources</vt:lpstr>
      <vt:lpstr>Collecting open access</vt:lpstr>
      <vt:lpstr>References</vt:lpstr>
    </vt:vector>
  </TitlesOfParts>
  <Company>Simon Fraser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 559L – Topics in scholarly communication &amp; publishing, UBC SLAIS, May 24, 2011</dc:title>
  <dc:creator>Anon ymous</dc:creator>
  <cp:lastModifiedBy>Anon ymous</cp:lastModifiedBy>
  <cp:revision>79</cp:revision>
  <dcterms:created xsi:type="dcterms:W3CDTF">2011-05-28T15:40:56Z</dcterms:created>
  <dcterms:modified xsi:type="dcterms:W3CDTF">2011-05-28T15:51:24Z</dcterms:modified>
</cp:coreProperties>
</file>