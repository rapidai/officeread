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2"/>
  </p:notesMasterIdLst>
  <p:sldIdLst>
    <p:sldId id="256" r:id="rId4"/>
    <p:sldId id="275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2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E8B1E-0864-459E-8F18-C151F936B070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4E9E9-1A40-4E2D-B019-5B96D89BA8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33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AF240A-3B97-4F93-B114-C86DB86FCE51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A3E7-BBF7-4DD1-8F7E-E6F9EAA457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DB3A6-72F8-4FD3-9259-ACDA956AF4A1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B6FE6-A0B0-4B6B-9F03-9C33848FDC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54DBA-E0D0-44A8-A5FB-30D38ABECB35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5EABF-F910-49C3-8239-4F4E5AF88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A7CC66-AC0D-4B55-96B6-8DAAC55A6FCC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6B037-670B-4B29-822C-C64CAF6E2F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1E3C2-DC36-4716-BFA1-A222E4BC4828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783F8-0DAE-465D-A586-590A8263F6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2341A-321A-4D6B-906A-2E44DE6E994A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5FF07-898B-4916-BEEA-4642217702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B173B-74BD-4BCC-B666-4CF21237E6B5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53FED-472E-4F10-A784-AE881C4673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2FC63-19FD-46E7-969A-BD6D4798C0F7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DF0DE-2268-4E37-B1EE-E17BC085A9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EC25B3-F083-44A4-97AA-5525050BF3BE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0722C1-3CBB-4811-B7A4-0EB03E6323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413DB2-1CE0-4CAE-B016-49E42953CD6C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BCF65-826C-4F0B-8A75-FABA9AA494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6718F-EFC5-4C71-98A4-9115A93F8841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FD138-F74E-4803-AFA6-80616C79E3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39DA6-B280-4B65-891C-D13A290CC7D5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D0A36-1A1C-4D25-90D2-808730EBA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90638-E36C-4593-80D2-2460B48C8E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3B30-6B92-481C-A182-122397CBB5C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D3716CA-6AB1-47DB-AEBF-354490C5A8FB}" type="datetimeFigureOut">
              <a:rPr lang="en-US"/>
              <a:pPr>
                <a:defRPr/>
              </a:pPr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AB67C98-7579-4B5C-B6DD-CD3D899B83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Things I Learned </a:t>
            </a:r>
            <a:r>
              <a:rPr lang="en-US" smtClean="0"/>
              <a:t>in Pennsylvania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Dave Cowen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91200" y="5867400"/>
            <a:ext cx="2581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June 2011 NGAC Meeting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 Council 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828800"/>
            <a:ext cx="6490648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4038600"/>
            <a:ext cx="730567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 rot="18256248">
            <a:off x="4419600" y="3200400"/>
            <a:ext cx="25963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 smtClean="0"/>
              <a:t>TABLED</a:t>
            </a:r>
            <a:endParaRPr lang="en-US" sz="6000" b="1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295400"/>
            <a:ext cx="5320193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PASDA Parcel Data</a:t>
            </a:r>
            <a:br>
              <a:rPr lang="en-US" dirty="0" smtClean="0"/>
            </a:br>
            <a:r>
              <a:rPr lang="en-US" dirty="0" smtClean="0"/>
              <a:t>Four Counties / Two Cities 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206" y="1295400"/>
            <a:ext cx="6454808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Oval Callout 3"/>
          <p:cNvSpPr/>
          <p:nvPr/>
        </p:nvSpPr>
        <p:spPr>
          <a:xfrm>
            <a:off x="6248400" y="2667000"/>
            <a:ext cx="2133600" cy="990600"/>
          </a:xfrm>
          <a:prstGeom prst="wedgeEllipseCallout">
            <a:avLst>
              <a:gd name="adj1" fmla="val -83441"/>
              <a:gd name="adj2" fmla="val -595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</a:rPr>
              <a:t>66/67 Counties</a:t>
            </a:r>
          </a:p>
          <a:p>
            <a:pPr algn="ctr"/>
            <a:r>
              <a:rPr lang="en-US" sz="1600" dirty="0">
                <a:solidFill>
                  <a:prstClr val="white"/>
                </a:solidFill>
              </a:rPr>
              <a:t>5,858,465 Parcels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But – Core Logic has all but Mifflin County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81000"/>
            <a:ext cx="8411064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1752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>
                <a:solidFill>
                  <a:srgbClr val="FFFF00"/>
                </a:solidFill>
              </a:rPr>
              <a:t>Tackling Land Records Implementation</a:t>
            </a:r>
            <a:br>
              <a:rPr lang="en-US" sz="5400" dirty="0" smtClean="0">
                <a:solidFill>
                  <a:srgbClr val="FFFF00"/>
                </a:solidFill>
              </a:rPr>
            </a:br>
            <a:r>
              <a:rPr lang="en-US" sz="5400" dirty="0" smtClean="0">
                <a:solidFill>
                  <a:srgbClr val="FFFF00"/>
                </a:solidFill>
              </a:rPr>
              <a:t/>
            </a:r>
            <a:br>
              <a:rPr lang="en-US" sz="5400" dirty="0" smtClean="0">
                <a:solidFill>
                  <a:srgbClr val="FFFF00"/>
                </a:solidFill>
              </a:rPr>
            </a:br>
            <a:r>
              <a:rPr lang="en-US" sz="5400" dirty="0" smtClean="0">
                <a:solidFill>
                  <a:srgbClr val="FFFF00"/>
                </a:solidFill>
              </a:rPr>
              <a:t>UPI an enabling force</a:t>
            </a:r>
            <a:br>
              <a:rPr lang="en-US" sz="5400" dirty="0" smtClean="0">
                <a:solidFill>
                  <a:srgbClr val="FFFF00"/>
                </a:solidFill>
              </a:rPr>
            </a:br>
            <a:endParaRPr lang="en-US" sz="5400" dirty="0" smtClean="0">
              <a:solidFill>
                <a:srgbClr val="FFFF00"/>
              </a:solidFill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4572000"/>
            <a:ext cx="7086600" cy="1752600"/>
          </a:xfrm>
        </p:spPr>
        <p:txBody>
          <a:bodyPr/>
          <a:lstStyle/>
          <a:p>
            <a:pPr marL="342900" indent="-342900" algn="l" eaLnBrk="1" hangingPunct="1">
              <a:lnSpc>
                <a:spcPct val="80000"/>
              </a:lnSpc>
            </a:pPr>
            <a:r>
              <a:rPr lang="en-US" sz="2400" smtClean="0">
                <a:solidFill>
                  <a:schemeClr val="accent1"/>
                </a:solidFill>
              </a:rPr>
              <a:t>Presented by:</a:t>
            </a: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en-US" sz="2000" smtClean="0">
                <a:solidFill>
                  <a:srgbClr val="FFFFC9"/>
                </a:solidFill>
              </a:rPr>
              <a:t>David T. Skoronski, GISP</a:t>
            </a: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en-US" sz="2000" smtClean="0">
                <a:solidFill>
                  <a:srgbClr val="FFFFC9"/>
                </a:solidFill>
              </a:rPr>
              <a:t>Director</a:t>
            </a: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en-US" sz="2000" smtClean="0">
                <a:solidFill>
                  <a:srgbClr val="FFFFC9"/>
                </a:solidFill>
              </a:rPr>
              <a:t>Luzerne County GIS/Mapping Department</a:t>
            </a: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en-US" sz="2000" smtClean="0">
                <a:solidFill>
                  <a:srgbClr val="FFFFC9"/>
                </a:solidFill>
              </a:rPr>
              <a:t>Phone: 570-825-1521</a:t>
            </a:r>
          </a:p>
          <a:p>
            <a:pPr marL="342900" indent="-342900" algn="l" eaLnBrk="1" hangingPunct="1">
              <a:lnSpc>
                <a:spcPct val="80000"/>
              </a:lnSpc>
            </a:pPr>
            <a:endParaRPr lang="en-US" sz="2000" smtClean="0">
              <a:solidFill>
                <a:srgbClr val="FFFFC9"/>
              </a:solidFill>
            </a:endParaRPr>
          </a:p>
        </p:txBody>
      </p:sp>
      <p:pic>
        <p:nvPicPr>
          <p:cNvPr id="53252" name="Picture 12" descr="GIS_SEAL_COLOR_NO_BA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4495800"/>
            <a:ext cx="2209800" cy="142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6" descr="Marcellus_Wells_depth_crop_ma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2000"/>
            <a:ext cx="53213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5" name="Picture 7" descr="Marcellus_Wells_depth_legen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362200"/>
            <a:ext cx="3795713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4952" name="Text Box 8"/>
          <p:cNvSpPr txBox="1">
            <a:spLocks noChangeArrowheads="1"/>
          </p:cNvSpPr>
          <p:nvPr/>
        </p:nvSpPr>
        <p:spPr bwMode="auto">
          <a:xfrm>
            <a:off x="5410200" y="838200"/>
            <a:ext cx="3733800" cy="1373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</a:rPr>
              <a:t>Luzerne County is on the edge of the “economical” area</a:t>
            </a:r>
          </a:p>
        </p:txBody>
      </p:sp>
      <p:sp>
        <p:nvSpPr>
          <p:cNvPr id="54277" name="Line 9"/>
          <p:cNvSpPr>
            <a:spLocks noChangeShapeType="1"/>
          </p:cNvSpPr>
          <p:nvPr/>
        </p:nvSpPr>
        <p:spPr bwMode="auto">
          <a:xfrm flipH="1" flipV="1">
            <a:off x="2971800" y="3962400"/>
            <a:ext cx="381000" cy="60960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4278" name="Line 11"/>
          <p:cNvSpPr>
            <a:spLocks noChangeShapeType="1"/>
          </p:cNvSpPr>
          <p:nvPr/>
        </p:nvSpPr>
        <p:spPr bwMode="auto">
          <a:xfrm flipH="1" flipV="1">
            <a:off x="3581400" y="3657600"/>
            <a:ext cx="762000" cy="53340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94956" name="Text Box 12"/>
          <p:cNvSpPr txBox="1">
            <a:spLocks noChangeArrowheads="1"/>
          </p:cNvSpPr>
          <p:nvPr/>
        </p:nvSpPr>
        <p:spPr bwMode="auto">
          <a:xfrm>
            <a:off x="0" y="0"/>
            <a:ext cx="9144000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</a:rPr>
              <a:t>Marcellus Shale Leasing Database Project</a:t>
            </a:r>
          </a:p>
        </p:txBody>
      </p:sp>
      <p:sp>
        <p:nvSpPr>
          <p:cNvPr id="594957" name="Text Box 13"/>
          <p:cNvSpPr txBox="1">
            <a:spLocks noChangeArrowheads="1"/>
          </p:cNvSpPr>
          <p:nvPr/>
        </p:nvSpPr>
        <p:spPr bwMode="auto">
          <a:xfrm>
            <a:off x="0" y="6491288"/>
            <a:ext cx="327660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Arial" charset="0"/>
              </a:rPr>
              <a:t>Source: PSU MCOR</a:t>
            </a: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9" name="Text Box 3"/>
          <p:cNvSpPr txBox="1">
            <a:spLocks noChangeArrowheads="1"/>
          </p:cNvSpPr>
          <p:nvPr/>
        </p:nvSpPr>
        <p:spPr bwMode="auto">
          <a:xfrm>
            <a:off x="838200" y="0"/>
            <a:ext cx="7467600" cy="10683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The public </a:t>
            </a:r>
            <a:r>
              <a: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(the press)</a:t>
            </a: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 crave the numbers</a:t>
            </a:r>
          </a:p>
          <a:p>
            <a:pPr algn="ctr">
              <a:defRPr/>
            </a:pP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(and the politicians)</a:t>
            </a:r>
            <a:endParaRPr 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Arial" charset="0"/>
            </a:endParaRPr>
          </a:p>
        </p:txBody>
      </p:sp>
      <p:pic>
        <p:nvPicPr>
          <p:cNvPr id="55299" name="Picture 5" descr="All_Areas_Leased_tra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74738"/>
            <a:ext cx="5943600" cy="578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0" name="Text Box 6"/>
          <p:cNvSpPr txBox="1">
            <a:spLocks noChangeArrowheads="1"/>
          </p:cNvSpPr>
          <p:nvPr/>
        </p:nvSpPr>
        <p:spPr bwMode="auto">
          <a:xfrm>
            <a:off x="5334000" y="1447800"/>
            <a:ext cx="3810000" cy="5492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000" b="1">
                <a:solidFill>
                  <a:srgbClr val="FAFD00"/>
                </a:solidFill>
                <a:cs typeface="Arial" charset="0"/>
              </a:rPr>
              <a:t>Currently 36,000 Acres</a:t>
            </a:r>
          </a:p>
        </p:txBody>
      </p:sp>
      <p:sp>
        <p:nvSpPr>
          <p:cNvPr id="55301" name="Text Box 7"/>
          <p:cNvSpPr txBox="1">
            <a:spLocks noChangeArrowheads="1"/>
          </p:cNvSpPr>
          <p:nvPr/>
        </p:nvSpPr>
        <p:spPr bwMode="auto">
          <a:xfrm>
            <a:off x="5562600" y="2286000"/>
            <a:ext cx="35814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000" b="1">
                <a:solidFill>
                  <a:srgbClr val="FAFD00"/>
                </a:solidFill>
                <a:cs typeface="Arial" charset="0"/>
              </a:rPr>
              <a:t>41 out of 76 Municipalities affected</a:t>
            </a:r>
          </a:p>
        </p:txBody>
      </p:sp>
      <p:sp>
        <p:nvSpPr>
          <p:cNvPr id="55302" name="Text Box 8"/>
          <p:cNvSpPr txBox="1">
            <a:spLocks noChangeArrowheads="1"/>
          </p:cNvSpPr>
          <p:nvPr/>
        </p:nvSpPr>
        <p:spPr bwMode="auto">
          <a:xfrm>
            <a:off x="5562600" y="4800600"/>
            <a:ext cx="3581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000" b="1">
                <a:solidFill>
                  <a:srgbClr val="000000"/>
                </a:solidFill>
                <a:cs typeface="Arial" charset="0"/>
              </a:rPr>
              <a:t>Numerous ad hoc analysis requests!</a:t>
            </a:r>
          </a:p>
        </p:txBody>
      </p:sp>
    </p:spTree>
  </p:cSld>
  <p:clrMapOvr>
    <a:masterClrMapping/>
  </p:clrMapOvr>
  <p:transition>
    <p:cover dir="l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101</Words>
  <Application>Microsoft Office PowerPoint</Application>
  <PresentationFormat>On-screen Show (4:3)</PresentationFormat>
  <Paragraphs>23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Office Theme</vt:lpstr>
      <vt:lpstr>1_Office Theme</vt:lpstr>
      <vt:lpstr>2_Office Theme</vt:lpstr>
      <vt:lpstr>Things I Learned in Pennsylvania </vt:lpstr>
      <vt:lpstr>No Council </vt:lpstr>
      <vt:lpstr>PASDA Parcel Data Four Counties / Two Cities  </vt:lpstr>
      <vt:lpstr>But – Core Logic has all but Mifflin County </vt:lpstr>
      <vt:lpstr>Slide 5</vt:lpstr>
      <vt:lpstr>Tackling Land Records Implementation  UPI an enabling force </vt:lpstr>
      <vt:lpstr>Slide 7</vt:lpstr>
      <vt:lpstr>Slide 8</vt:lpstr>
    </vt:vector>
  </TitlesOfParts>
  <Company>The University of South Carolina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Things I learned in Pennsylvannia</dc:title>
  <dc:creator>Dave</dc:creator>
  <cp:lastModifiedBy>USGS</cp:lastModifiedBy>
  <cp:revision>5</cp:revision>
  <dcterms:created xsi:type="dcterms:W3CDTF">2011-06-08T02:27:57Z</dcterms:created>
  <dcterms:modified xsi:type="dcterms:W3CDTF">2011-06-16T18:39:26Z</dcterms:modified>
</cp:coreProperties>
</file>