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xls" ContentType="application/vnd.ms-exce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5"/>
  </p:notesMasterIdLst>
  <p:handoutMasterIdLst>
    <p:handoutMasterId r:id="rId26"/>
  </p:handoutMasterIdLst>
  <p:sldIdLst>
    <p:sldId id="785" r:id="rId3"/>
    <p:sldId id="1581" r:id="rId4"/>
    <p:sldId id="1583" r:id="rId5"/>
    <p:sldId id="1585" r:id="rId6"/>
    <p:sldId id="1586" r:id="rId7"/>
    <p:sldId id="1584" r:id="rId8"/>
    <p:sldId id="1563" r:id="rId9"/>
    <p:sldId id="1564" r:id="rId10"/>
    <p:sldId id="1529" r:id="rId11"/>
    <p:sldId id="1531" r:id="rId12"/>
    <p:sldId id="1498" r:id="rId13"/>
    <p:sldId id="1565" r:id="rId14"/>
    <p:sldId id="1559" r:id="rId15"/>
    <p:sldId id="1567" r:id="rId16"/>
    <p:sldId id="1569" r:id="rId17"/>
    <p:sldId id="1574" r:id="rId18"/>
    <p:sldId id="1568" r:id="rId19"/>
    <p:sldId id="1570" r:id="rId20"/>
    <p:sldId id="1571" r:id="rId21"/>
    <p:sldId id="1572" r:id="rId22"/>
    <p:sldId id="1573" r:id="rId23"/>
    <p:sldId id="1438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800000"/>
    <a:srgbClr val="B06000"/>
    <a:srgbClr val="C70101"/>
    <a:srgbClr val="00CC00"/>
    <a:srgbClr val="9999FF"/>
    <a:srgbClr val="6600FF"/>
    <a:srgbClr val="0066CC"/>
    <a:srgbClr val="B2B2B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3403" autoAdjust="0"/>
  </p:normalViewPr>
  <p:slideViewPr>
    <p:cSldViewPr>
      <p:cViewPr varScale="1">
        <p:scale>
          <a:sx n="94" d="100"/>
          <a:sy n="94" d="100"/>
        </p:scale>
        <p:origin x="-47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916"/>
    </p:cViewPr>
  </p:sorterViewPr>
  <p:notesViewPr>
    <p:cSldViewPr>
      <p:cViewPr varScale="1">
        <p:scale>
          <a:sx n="86" d="100"/>
          <a:sy n="86" d="100"/>
        </p:scale>
        <p:origin x="-1902" y="-84"/>
      </p:cViewPr>
      <p:guideLst>
        <p:guide orient="horz" pos="2929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t" anchorCtr="0" compatLnSpc="1">
            <a:prstTxWarp prst="textNoShape">
              <a:avLst/>
            </a:prstTxWarp>
          </a:bodyPr>
          <a:lstStyle>
            <a:lvl1pPr defTabSz="928927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734" y="2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t" anchorCtr="0" compatLnSpc="1">
            <a:prstTxWarp prst="textNoShape">
              <a:avLst/>
            </a:prstTxWarp>
          </a:bodyPr>
          <a:lstStyle>
            <a:lvl1pPr algn="r" defTabSz="928927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660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b" anchorCtr="0" compatLnSpc="1">
            <a:prstTxWarp prst="textNoShape">
              <a:avLst/>
            </a:prstTxWarp>
          </a:bodyPr>
          <a:lstStyle>
            <a:lvl1pPr defTabSz="928927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734" y="8830660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b" anchorCtr="0" compatLnSpc="1">
            <a:prstTxWarp prst="textNoShape">
              <a:avLst/>
            </a:prstTxWarp>
          </a:bodyPr>
          <a:lstStyle>
            <a:lvl1pPr algn="r" defTabSz="928691">
              <a:defRPr sz="1200"/>
            </a:lvl1pPr>
          </a:lstStyle>
          <a:p>
            <a:fld id="{9CB0B02A-FF17-45CD-881E-6BB2977316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0381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t" anchorCtr="0" compatLnSpc="1">
            <a:prstTxWarp prst="textNoShape">
              <a:avLst/>
            </a:prstTxWarp>
          </a:bodyPr>
          <a:lstStyle>
            <a:lvl1pPr defTabSz="928927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4" y="2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t" anchorCtr="0" compatLnSpc="1">
            <a:prstTxWarp prst="textNoShape">
              <a:avLst/>
            </a:prstTxWarp>
          </a:bodyPr>
          <a:lstStyle>
            <a:lvl1pPr algn="r" defTabSz="928927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46" y="4414562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0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b" anchorCtr="0" compatLnSpc="1">
            <a:prstTxWarp prst="textNoShape">
              <a:avLst/>
            </a:prstTxWarp>
          </a:bodyPr>
          <a:lstStyle>
            <a:lvl1pPr defTabSz="928927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734" y="8830660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14" tIns="46407" rIns="92814" bIns="46407" numCol="1" anchor="b" anchorCtr="0" compatLnSpc="1">
            <a:prstTxWarp prst="textNoShape">
              <a:avLst/>
            </a:prstTxWarp>
          </a:bodyPr>
          <a:lstStyle>
            <a:lvl1pPr algn="r" defTabSz="928691">
              <a:defRPr sz="1200"/>
            </a:lvl1pPr>
          </a:lstStyle>
          <a:p>
            <a:fld id="{5F22A08B-038D-407B-8CED-59970A6B2A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7844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4F8BBD-5D78-4737-B267-C9BE568D26C7}" type="slidenum">
              <a:rPr lang="en-US"/>
              <a:pPr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F97CEB-4CEB-40CC-B023-D3E9046C03C0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5025" cy="3484563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970734" y="8830660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36" tIns="46570" rIns="93136" bIns="46570" anchor="b"/>
          <a:lstStyle/>
          <a:p>
            <a:pPr algn="r"/>
            <a:fld id="{DCFBC62F-6B04-4D55-9D0E-C8C3798A5615}" type="slidenum">
              <a:rPr lang="en-US" sz="1200">
                <a:latin typeface="Calibri" charset="0"/>
              </a:rPr>
              <a:pPr algn="r"/>
              <a:t>3</a:t>
            </a:fld>
            <a:endParaRPr lang="en-US" sz="1200" dirty="0">
              <a:latin typeface="Calibri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err="1" smtClean="0"/>
              <a:t>Pbc</a:t>
            </a:r>
            <a:r>
              <a:rPr lang="en-US" dirty="0" smtClean="0"/>
              <a:t> 1/10/11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College going rates of recent HS grads are from digest of </a:t>
            </a:r>
            <a:r>
              <a:rPr lang="en-US" dirty="0" err="1" smtClean="0"/>
              <a:t>ed</a:t>
            </a:r>
            <a:r>
              <a:rPr lang="en-US" dirty="0" smtClean="0"/>
              <a:t> statistics 2010 http://nces.ed.gov/programs/digest/d10/tables/dt10_203.asp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They are 2007-08 student numbers. 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Freshman classes are first-time freshman, full-time and part-time, based on October headcount (from Jeannie).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F97CEB-4CEB-40CC-B023-D3E9046C03C0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5025" cy="3484563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F97CEB-4CEB-40CC-B023-D3E9046C03C0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5025" cy="3484563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41B0CF-309C-4EEE-9971-517788086C11}" type="slidenum">
              <a:rPr lang="en-US"/>
              <a:pPr/>
              <a:t>6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Updated 1/11/11, pbc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2009 data is from the ACS 2005-2009 data set. 2010 full census data not yet available.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01223F-2AD3-425E-9094-A3759C5C2E16}" type="slidenum">
              <a:rPr lang="en-US"/>
              <a:pPr/>
              <a:t>7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endParaRPr lang="en-US" sz="1000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01223F-2AD3-425E-9094-A3759C5C2E16}" type="slidenum">
              <a:rPr lang="en-US"/>
              <a:pPr/>
              <a:t>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endParaRPr lang="en-US" sz="1000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EE4277-B980-4271-AB28-0F4756A98437}" type="slidenum">
              <a:rPr lang="en-US"/>
              <a:pPr/>
              <a:t>9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endParaRPr lang="en-US" sz="1000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A98BFC-9B67-4481-B232-15B743FD8A8A}" type="slidenum">
              <a:rPr lang="en-US"/>
              <a:pPr/>
              <a:t>10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endParaRPr lang="en-US" sz="1000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0CC100-1C87-416F-B171-D544DB26542E}" type="slidenum">
              <a:rPr lang="en-US"/>
              <a:pPr/>
              <a:t>11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endParaRPr lang="en-US" sz="1000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FC2331-4DCF-438E-85E8-E83801359F43}" type="slidenum">
              <a:rPr lang="en-US"/>
              <a:pPr/>
              <a:t>12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0088"/>
            <a:ext cx="4645025" cy="3484562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7" y="4413026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/>
              <a:t>Training Map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01223F-2AD3-425E-9094-A3759C5C2E16}" type="slidenum">
              <a:rPr lang="en-US"/>
              <a:pPr/>
              <a:t>13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endParaRPr lang="en-US" sz="1000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DAFF62-17B5-4AA2-9527-7B27D8C9847A}" type="slidenum">
              <a:rPr lang="en-US"/>
              <a:pPr/>
              <a:t>14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 smtClean="0"/>
              <a:t>Accounts created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DAFF62-17B5-4AA2-9527-7B27D8C9847A}" type="slidenum">
              <a:rPr lang="en-US"/>
              <a:pPr/>
              <a:t>15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 smtClean="0"/>
              <a:t>Accounts created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C4E7B0-016E-4487-9E68-C6D3713354DD}" type="slidenum">
              <a:rPr lang="en-US"/>
              <a:pPr/>
              <a:t>16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0088"/>
            <a:ext cx="4645025" cy="3484562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7" y="4413026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/>
              <a:t>CGS Chart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DAFF62-17B5-4AA2-9527-7B27D8C9847A}" type="slidenum">
              <a:rPr lang="en-US"/>
              <a:pPr/>
              <a:t>17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4562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6" y="4413025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 smtClean="0"/>
              <a:t>Accounts created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B33C00-9D9F-47AA-BDCE-643FE464F4E1}" type="slidenum">
              <a:rPr lang="en-US"/>
              <a:pPr/>
              <a:t>18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0088"/>
            <a:ext cx="4645025" cy="3484562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7" y="4413026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/>
              <a:t>Accounts created by user role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A0C1D-60A2-4E2C-AE6D-6771AAA5CD84}" type="slidenum">
              <a:rPr lang="en-US"/>
              <a:pPr/>
              <a:t>19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0088"/>
            <a:ext cx="4645025" cy="348456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7" y="4413026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/>
              <a:t>College applications submitted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A0C1D-60A2-4E2C-AE6D-6771AAA5CD84}" type="slidenum">
              <a:rPr lang="en-US"/>
              <a:pPr/>
              <a:t>20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0088"/>
            <a:ext cx="4645025" cy="3484562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7" y="4413026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/>
              <a:t>College applications submitted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EA31B0-A0AB-4549-8BB6-C3586D9DB7AD}" type="slidenum">
              <a:rPr lang="en-US"/>
              <a:pPr/>
              <a:t>21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0088"/>
            <a:ext cx="4645025" cy="3484562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7" y="4413026"/>
            <a:ext cx="5607711" cy="4183995"/>
          </a:xfrm>
          <a:noFill/>
          <a:ln/>
        </p:spPr>
        <p:txBody>
          <a:bodyPr/>
          <a:lstStyle/>
          <a:p>
            <a:pPr eaLnBrk="1" hangingPunct="1"/>
            <a:r>
              <a:rPr lang="en-US" sz="1000" dirty="0" err="1"/>
              <a:t>Procenter</a:t>
            </a:r>
            <a:r>
              <a:rPr lang="en-US" sz="1000" dirty="0"/>
              <a:t> accounts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734409-EDE0-401B-8D9B-08FEEC618634}" type="slidenum">
              <a:rPr lang="en-US"/>
              <a:pPr/>
              <a:t>22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698500"/>
            <a:ext cx="4643437" cy="3484563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9823" y="4414562"/>
            <a:ext cx="5610754" cy="418399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2292D9-EE1D-4C8D-BBAE-AD351FFAEA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C0C28F-AFBC-492E-AFF8-92805A7F47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E7B915-D187-4095-8E6D-CB713E3FE2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CF4F15-0186-4A40-8AD6-E54A9E263F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B32A47-92E6-4BE2-AB4E-979915A255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60F650-323F-403D-93E4-5197DD4615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CF844C-62DE-4644-8000-73BA58E9EC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65AB1-D67D-4331-8043-778A3A37236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CDFE00-FF12-49F8-9B2D-421F0203E4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A00044-EA6A-4119-A57C-A96FCB1936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DFD695-00FD-4959-A499-5D0C54E36A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257800" y="5334000"/>
            <a:ext cx="388620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900"/>
              <a:t>304.558.0699 (Phone) </a:t>
            </a:r>
            <a:r>
              <a:rPr lang="en-US" sz="900">
                <a:cs typeface="Arial" charset="0"/>
              </a:rPr>
              <a:t>• 304.558.1011 (Fax) • www.hepc.wvnet.edu</a:t>
            </a:r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2209800"/>
          </a:xfrm>
        </p:spPr>
        <p:txBody>
          <a:bodyPr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6600"/>
            <a:ext cx="6400800" cy="1828800"/>
          </a:xfrm>
        </p:spPr>
        <p:txBody>
          <a:bodyPr/>
          <a:lstStyle>
            <a:lvl1pPr marL="0" indent="0" algn="ctr">
              <a:buFontTx/>
              <a:buNone/>
              <a:defRPr sz="36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5334000"/>
            <a:ext cx="3886200" cy="171450"/>
          </a:xfrm>
        </p:spPr>
        <p:txBody>
          <a:bodyPr/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en-US"/>
              <a:t>191018 Kanawha Blvd. East </a:t>
            </a:r>
            <a:r>
              <a:rPr lang="en-US">
                <a:cs typeface="Arial" charset="0"/>
              </a:rPr>
              <a:t>• Suite 700 • Charleston, WV • 25301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6E9DF780-2170-4E3C-8FF2-2AFEE1B4AF57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694D7CCB-0000-478F-863C-2B76F49C6739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8382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5BF2EF50-589E-4BE5-9A2A-66C3BCAF34D8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890E6496-10A6-41DD-A807-7041E36C2F95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A3B2BF9C-21D3-4C01-AA69-AFB71BCBE44B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441CEEE4-ED4F-407B-9066-1991BB2F12E8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2F8A90F5-A16F-4941-A684-E90BC6BE19A6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65CA477E-D3EB-49B0-9243-1C6C0F67D81B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D8D7C3B2-EF80-434D-AF78-77C27FD915A2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0"/>
            <a:ext cx="2247900" cy="6248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5913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State Budget Office-   November 2, 2006					- </a:t>
            </a:r>
            <a:fld id="{F71400B8-BD5E-4A40-B300-957EF3D8E929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19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C07FB3D-8B5F-45FA-8696-13CA3D5108E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99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38200"/>
            <a:ext cx="88392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9971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8200" y="6324600"/>
            <a:ext cx="815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State Budget Office-   November 2, 2006					- </a:t>
            </a:r>
            <a:fld id="{590653CA-2235-47EB-AD28-9983968C1691}" type="slidenum">
              <a:rPr lang="en-US"/>
              <a:pPr/>
              <a:t>‹#›</a:t>
            </a:fld>
            <a:r>
              <a:rPr lang="en-US"/>
              <a:t> -</a:t>
            </a:r>
          </a:p>
        </p:txBody>
      </p:sp>
      <p:sp>
        <p:nvSpPr>
          <p:cNvPr id="499717" name="Line 5"/>
          <p:cNvSpPr>
            <a:spLocks noChangeShapeType="1"/>
          </p:cNvSpPr>
          <p:nvPr userDrawn="1"/>
        </p:nvSpPr>
        <p:spPr bwMode="auto">
          <a:xfrm>
            <a:off x="152400" y="762000"/>
            <a:ext cx="883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jpeg"/><Relationship Id="rId5" Type="http://schemas.openxmlformats.org/officeDocument/2006/relationships/image" Target="../media/image4.jpeg"/><Relationship Id="rId4" Type="http://schemas.openxmlformats.org/officeDocument/2006/relationships/oleObject" Target="../embeddings/Microsoft_Office_Excel_97-2003_Worksheet1.xls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federalstudentaid.ed.gov/datacenter/fafsah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jpeg"/><Relationship Id="rId5" Type="http://schemas.openxmlformats.org/officeDocument/2006/relationships/image" Target="../media/image4.jpeg"/><Relationship Id="rId4" Type="http://schemas.openxmlformats.org/officeDocument/2006/relationships/oleObject" Target="../embeddings/Microsoft_Office_Excel_97-2003_Worksheet2.xls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fwv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8.jpeg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green@hepc.wvnet.edu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0" y="1828800"/>
            <a:ext cx="8686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4000" b="1" dirty="0" smtClean="0">
              <a:solidFill>
                <a:srgbClr val="B06000"/>
              </a:solidFill>
              <a:latin typeface="Times New Roman" charset="0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 charset="0"/>
            </a:endParaRPr>
          </a:p>
          <a:p>
            <a:pPr algn="ctr"/>
            <a:endParaRPr lang="en-US" sz="4000" b="1" dirty="0">
              <a:solidFill>
                <a:srgbClr val="B06000"/>
              </a:solidFill>
              <a:latin typeface="Times New Roman" charset="0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 charset="0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4000" b="1" dirty="0" smtClean="0">
                <a:solidFill>
                  <a:srgbClr val="B06000"/>
                </a:solidFill>
                <a:latin typeface="Times New Roman"/>
                <a:cs typeface="Times New Roman"/>
              </a:rPr>
              <a:t>Elevating Postsecondary Enrollment </a:t>
            </a:r>
          </a:p>
          <a:p>
            <a:pPr algn="ctr"/>
            <a:r>
              <a:rPr lang="en-US" sz="4000" b="1" dirty="0" smtClean="0">
                <a:solidFill>
                  <a:srgbClr val="B06000"/>
                </a:solidFill>
                <a:latin typeface="Times New Roman"/>
                <a:cs typeface="Times New Roman"/>
              </a:rPr>
              <a:t>in West Virginia</a:t>
            </a: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500" b="1" dirty="0" smtClean="0">
                <a:latin typeface="Times New Roman"/>
                <a:cs typeface="Times New Roman"/>
              </a:rPr>
              <a:t>Presented during the </a:t>
            </a:r>
          </a:p>
          <a:p>
            <a:pPr algn="ctr"/>
            <a:r>
              <a:rPr lang="en-US" sz="2500" b="1" dirty="0" smtClean="0">
                <a:latin typeface="Times New Roman"/>
                <a:cs typeface="Times New Roman"/>
              </a:rPr>
              <a:t>2012 State Superintendents Leadership Institute</a:t>
            </a:r>
          </a:p>
          <a:p>
            <a:pPr algn="ctr"/>
            <a:r>
              <a:rPr lang="en-US" sz="2500" b="1" dirty="0" smtClean="0">
                <a:latin typeface="Times New Roman"/>
                <a:cs typeface="Times New Roman"/>
              </a:rPr>
              <a:t>Wednesday, June 27, 2012 </a:t>
            </a: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4000" b="1" dirty="0" smtClean="0">
                <a:solidFill>
                  <a:srgbClr val="B06000"/>
                </a:solidFill>
                <a:latin typeface="Times New Roman"/>
                <a:cs typeface="Times New Roman"/>
              </a:rPr>
              <a:t> </a:t>
            </a:r>
            <a:endParaRPr lang="en-US" sz="4000" b="1" dirty="0" smtClean="0">
              <a:latin typeface="Times New Roman"/>
              <a:cs typeface="Times New Roman"/>
            </a:endParaRPr>
          </a:p>
          <a:p>
            <a:pPr algn="ctr"/>
            <a:endParaRPr lang="en-US" sz="4000" b="1" dirty="0" smtClean="0">
              <a:solidFill>
                <a:srgbClr val="B06000"/>
              </a:solidFill>
              <a:latin typeface="Times New Roman" charset="0"/>
            </a:endParaRPr>
          </a:p>
          <a:p>
            <a:pPr algn="ctr"/>
            <a:endParaRPr lang="en-US" sz="4000" i="1" dirty="0">
              <a:solidFill>
                <a:srgbClr val="B06000"/>
              </a:solidFill>
              <a:latin typeface="Times New Roman" charset="0"/>
            </a:endParaRPr>
          </a:p>
        </p:txBody>
      </p:sp>
      <p:sp>
        <p:nvSpPr>
          <p:cNvPr id="27652" name="Rectangle 29"/>
          <p:cNvSpPr>
            <a:spLocks noChangeArrowheads="1"/>
          </p:cNvSpPr>
          <p:nvPr/>
        </p:nvSpPr>
        <p:spPr bwMode="auto">
          <a:xfrm>
            <a:off x="0" y="2514600"/>
            <a:ext cx="87630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endParaRPr lang="en-US" sz="2300" b="1" dirty="0" smtClean="0">
              <a:latin typeface="Times New Roman" charset="0"/>
            </a:endParaRPr>
          </a:p>
          <a:p>
            <a:pPr algn="ctr"/>
            <a:endParaRPr lang="en-US" sz="2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3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8600" y="457200"/>
            <a:ext cx="8458200" cy="582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 smtClean="0">
              <a:solidFill>
                <a:schemeClr val="accent2"/>
              </a:solidFill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  <a:cs typeface="Times New Roman" charset="0"/>
              </a:rPr>
              <a:t>P-20 </a:t>
            </a:r>
            <a:r>
              <a:rPr lang="en-US" sz="2400" dirty="0">
                <a:latin typeface="Times New Roman" charset="0"/>
                <a:cs typeface="Times New Roman" charset="0"/>
              </a:rPr>
              <a:t>refers to a seamless system of education that follows  student progress from Pre-K though postgraduate study and into the workforce.</a:t>
            </a: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1600" dirty="0">
                <a:latin typeface="Times New Roman" charset="0"/>
                <a:cs typeface="Times New Roman" charset="0"/>
              </a:rPr>
              <a:t>Supports mutually beneficial partnerships related to education and training at all levels from preschool (P) through graduate studies (20+) in schools, workplaces and community settings</a:t>
            </a: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1600" dirty="0">
                <a:latin typeface="Times New Roman" charset="0"/>
                <a:cs typeface="Times New Roman" charset="0"/>
              </a:rPr>
              <a:t>Is a coordinated set of policies designed to ease student transitions between grades and schools by providing student information, support services, and coordinated policies among all sectors of the educational system </a:t>
            </a: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1600" dirty="0">
                <a:latin typeface="Times New Roman" charset="0"/>
                <a:cs typeface="Times New Roman" charset="0"/>
              </a:rPr>
              <a:t>Aims to enhance student access to postsecondary education, especially for disadvantaged and minority students, by aligning high school expectations with college admission requirements </a:t>
            </a: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1600" dirty="0">
                <a:latin typeface="Times New Roman" charset="0"/>
                <a:cs typeface="Times New Roman" charset="0"/>
              </a:rPr>
              <a:t>Strengthens communication and collaborative decision-making</a:t>
            </a: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1600" dirty="0">
                <a:latin typeface="Times New Roman" charset="0"/>
                <a:cs typeface="Times New Roman" charset="0"/>
              </a:rPr>
              <a:t>Often includes focus on improving the quantity and quality of teacher candidates (and current teachers) so that every classroom has a highly qualified teacher </a:t>
            </a:r>
            <a:endParaRPr lang="en-US" sz="1500" dirty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endParaRPr lang="en-US" sz="2400" dirty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>
              <a:latin typeface="Times New Roman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81000" y="152400"/>
            <a:ext cx="7696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What is P-20?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152400" y="76200"/>
            <a:ext cx="8305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B06000"/>
                </a:solidFill>
                <a:latin typeface="Times New Roman" charset="0"/>
              </a:rPr>
              <a:t>Enrollment of Recent High School Graduates</a:t>
            </a:r>
          </a:p>
        </p:txBody>
      </p:sp>
      <p:graphicFrame>
        <p:nvGraphicFramePr>
          <p:cNvPr id="37890" name="Object 3"/>
          <p:cNvGraphicFramePr>
            <a:graphicFrameLocks noChangeAspect="1"/>
          </p:cNvGraphicFramePr>
          <p:nvPr/>
        </p:nvGraphicFramePr>
        <p:xfrm>
          <a:off x="827088" y="914400"/>
          <a:ext cx="8664575" cy="5051425"/>
        </p:xfrm>
        <a:graphic>
          <a:graphicData uri="http://schemas.openxmlformats.org/presentationml/2006/ole">
            <p:oleObj spid="_x0000_s121860" name="Worksheet" r:id="rId4" imgW="6019935" imgH="3562485" progId="Excel.Sheet.8">
              <p:embed/>
            </p:oleObj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4724400" y="6172200"/>
            <a:ext cx="2590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" b="1" dirty="0">
                <a:latin typeface="Times New Roman" charset="0"/>
              </a:rPr>
              <a:t>Digest of Education Statistics 2010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6872288"/>
            <a:chOff x="0" y="0"/>
            <a:chExt cx="5760" cy="4329"/>
          </a:xfrm>
        </p:grpSpPr>
        <p:sp>
          <p:nvSpPr>
            <p:cNvPr id="37896" name="Rectangle 7"/>
            <p:cNvSpPr>
              <a:spLocks noChangeArrowheads="1"/>
            </p:cNvSpPr>
            <p:nvPr/>
          </p:nvSpPr>
          <p:spPr bwMode="auto">
            <a:xfrm>
              <a:off x="5568" y="0"/>
              <a:ext cx="192" cy="4329"/>
            </a:xfrm>
            <a:prstGeom prst="rect">
              <a:avLst/>
            </a:prstGeom>
            <a:solidFill>
              <a:srgbClr val="B06000"/>
            </a:solidFill>
            <a:ln w="9525">
              <a:solidFill>
                <a:srgbClr val="CE65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37897" name="Line 8"/>
            <p:cNvSpPr>
              <a:spLocks noChangeShapeType="1"/>
            </p:cNvSpPr>
            <p:nvPr/>
          </p:nvSpPr>
          <p:spPr bwMode="auto">
            <a:xfrm>
              <a:off x="5529" y="0"/>
              <a:ext cx="0" cy="43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98" name="Text Box 9"/>
            <p:cNvSpPr txBox="1">
              <a:spLocks noChangeArrowheads="1"/>
            </p:cNvSpPr>
            <p:nvPr/>
          </p:nvSpPr>
          <p:spPr bwMode="auto">
            <a:xfrm>
              <a:off x="0" y="4089"/>
              <a:ext cx="369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1400" b="1" i="1" dirty="0">
                <a:solidFill>
                  <a:srgbClr val="B06000"/>
                </a:solidFill>
                <a:latin typeface="Times New Roman" charset="0"/>
              </a:endParaRPr>
            </a:p>
          </p:txBody>
        </p:sp>
      </p:grpSp>
      <p:pic>
        <p:nvPicPr>
          <p:cNvPr id="37895" name="Picture 10" descr="New HEPC Seal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53400" y="6248400"/>
            <a:ext cx="5032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8600" y="457200"/>
            <a:ext cx="8458200" cy="659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 smtClean="0">
              <a:solidFill>
                <a:schemeClr val="accent2"/>
              </a:solidFill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1600" dirty="0" smtClean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  <a:cs typeface="Times New Roman" charset="0"/>
              </a:rPr>
              <a:t>We need to enroll </a:t>
            </a:r>
            <a:r>
              <a:rPr lang="en-US" sz="2400" b="1" u="sng" dirty="0" smtClean="0">
                <a:latin typeface="Times New Roman" charset="0"/>
                <a:cs typeface="Times New Roman" charset="0"/>
              </a:rPr>
              <a:t>738</a:t>
            </a:r>
            <a:r>
              <a:rPr lang="en-US" sz="2400" dirty="0" smtClean="0">
                <a:latin typeface="Times New Roman" charset="0"/>
                <a:cs typeface="Times New Roman" charset="0"/>
              </a:rPr>
              <a:t> more students across the state to meet the SREB average of 62.52</a:t>
            </a:r>
          </a:p>
          <a:p>
            <a:pPr marL="1089025" lvl="2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2000" dirty="0" smtClean="0">
                <a:latin typeface="Times New Roman" charset="0"/>
                <a:cs typeface="Times New Roman" charset="0"/>
              </a:rPr>
              <a:t>That equates to approximately </a:t>
            </a:r>
            <a:r>
              <a:rPr lang="en-US" sz="2000" b="1" u="sng" dirty="0" smtClean="0">
                <a:latin typeface="Times New Roman" charset="0"/>
                <a:cs typeface="Times New Roman" charset="0"/>
              </a:rPr>
              <a:t>6</a:t>
            </a:r>
            <a:r>
              <a:rPr lang="en-US" sz="2000" dirty="0" smtClean="0">
                <a:latin typeface="Times New Roman" charset="0"/>
                <a:cs typeface="Times New Roman" charset="0"/>
              </a:rPr>
              <a:t> more students from every public </a:t>
            </a:r>
            <a:r>
              <a:rPr lang="en-US" sz="2000" dirty="0">
                <a:latin typeface="Times New Roman" charset="0"/>
                <a:cs typeface="Times New Roman" charset="0"/>
              </a:rPr>
              <a:t/>
            </a:r>
            <a:br>
              <a:rPr lang="en-US" sz="2000" dirty="0">
                <a:latin typeface="Times New Roman" charset="0"/>
                <a:cs typeface="Times New Roman" charset="0"/>
              </a:rPr>
            </a:br>
            <a:r>
              <a:rPr lang="en-US" sz="2000" dirty="0" smtClean="0">
                <a:latin typeface="Times New Roman" charset="0"/>
                <a:cs typeface="Times New Roman" charset="0"/>
              </a:rPr>
              <a:t>high school</a:t>
            </a:r>
          </a:p>
          <a:p>
            <a:pPr marL="1089025" lvl="2" indent="-174625">
              <a:spcBef>
                <a:spcPct val="45000"/>
              </a:spcBef>
              <a:buClr>
                <a:srgbClr val="B06000"/>
              </a:buClr>
            </a:pPr>
            <a:endParaRPr lang="en-US" sz="2000" dirty="0" smtClean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  <a:cs typeface="Times New Roman" charset="0"/>
              </a:rPr>
              <a:t>We need to enroll </a:t>
            </a:r>
            <a:r>
              <a:rPr lang="en-US" sz="2400" b="1" u="sng" dirty="0" smtClean="0">
                <a:latin typeface="Times New Roman" charset="0"/>
                <a:cs typeface="Times New Roman" charset="0"/>
              </a:rPr>
              <a:t>1,098</a:t>
            </a:r>
            <a:r>
              <a:rPr lang="en-US" sz="2400" dirty="0" smtClean="0">
                <a:latin typeface="Times New Roman" charset="0"/>
                <a:cs typeface="Times New Roman" charset="0"/>
              </a:rPr>
              <a:t> more students across the state to meet the U.S. average of 63.82</a:t>
            </a:r>
          </a:p>
          <a:p>
            <a:pPr marL="1089025" lvl="2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sz="2000" dirty="0" smtClean="0">
                <a:latin typeface="Times New Roman" charset="0"/>
                <a:cs typeface="Times New Roman" charset="0"/>
              </a:rPr>
              <a:t>That equates to approximately</a:t>
            </a:r>
            <a:r>
              <a:rPr lang="en-US" sz="2000" b="1" dirty="0" smtClean="0">
                <a:latin typeface="Times New Roman" charset="0"/>
                <a:cs typeface="Times New Roman" charset="0"/>
              </a:rPr>
              <a:t> </a:t>
            </a:r>
            <a:r>
              <a:rPr lang="en-US" sz="2000" b="1" u="sng" dirty="0" smtClean="0">
                <a:latin typeface="Times New Roman" charset="0"/>
                <a:cs typeface="Times New Roman" charset="0"/>
              </a:rPr>
              <a:t>9</a:t>
            </a:r>
            <a:r>
              <a:rPr lang="en-US" sz="2000" b="1" dirty="0" smtClean="0">
                <a:latin typeface="Times New Roman" charset="0"/>
                <a:cs typeface="Times New Roman" charset="0"/>
              </a:rPr>
              <a:t> </a:t>
            </a:r>
            <a:r>
              <a:rPr lang="en-US" sz="2000" dirty="0" smtClean="0">
                <a:latin typeface="Times New Roman" charset="0"/>
                <a:cs typeface="Times New Roman" charset="0"/>
              </a:rPr>
              <a:t>more students from every public </a:t>
            </a:r>
            <a:br>
              <a:rPr lang="en-US" sz="2000" dirty="0" smtClean="0">
                <a:latin typeface="Times New Roman" charset="0"/>
                <a:cs typeface="Times New Roman" charset="0"/>
              </a:rPr>
            </a:br>
            <a:r>
              <a:rPr lang="en-US" sz="2000" dirty="0" smtClean="0">
                <a:latin typeface="Times New Roman" charset="0"/>
                <a:cs typeface="Times New Roman" charset="0"/>
              </a:rPr>
              <a:t>high school</a:t>
            </a:r>
          </a:p>
          <a:p>
            <a:pPr marL="1089025" lvl="2" indent="-174625">
              <a:spcBef>
                <a:spcPct val="45000"/>
              </a:spcBef>
              <a:buClr>
                <a:srgbClr val="B06000"/>
              </a:buClr>
            </a:pPr>
            <a:endParaRPr lang="en-US" sz="2000" dirty="0" smtClean="0">
              <a:latin typeface="Times New Roman" charset="0"/>
              <a:cs typeface="Times New Roman" charset="0"/>
            </a:endParaRP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endParaRPr lang="en-US" sz="1600" dirty="0" smtClean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endParaRPr lang="en-US" sz="2400" dirty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>
              <a:latin typeface="Times New Roman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52400" y="152400"/>
            <a:ext cx="8610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Using the Facts to Create Reasonable Expectations</a:t>
            </a:r>
            <a:endParaRPr lang="en-US" sz="3200" b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8600" y="457200"/>
            <a:ext cx="8458200" cy="7294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 smtClean="0">
              <a:solidFill>
                <a:schemeClr val="accent2"/>
              </a:solidFill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1600" dirty="0" smtClean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  <a:cs typeface="Times New Roman" charset="0"/>
              </a:rPr>
              <a:t>The </a:t>
            </a:r>
            <a:r>
              <a:rPr lang="en-US" sz="2400" b="1" u="sng" dirty="0" smtClean="0">
                <a:latin typeface="Times New Roman" charset="0"/>
                <a:cs typeface="Times New Roman" charset="0"/>
              </a:rPr>
              <a:t>#1 predictor</a:t>
            </a:r>
            <a:r>
              <a:rPr lang="en-US" sz="2400" dirty="0" smtClean="0">
                <a:latin typeface="Times New Roman" charset="0"/>
                <a:cs typeface="Times New Roman" charset="0"/>
              </a:rPr>
              <a:t> of whether or not a student will enroll in postsecondary education is the </a:t>
            </a:r>
            <a:r>
              <a:rPr lang="en-US" sz="2400" b="1" u="sng" dirty="0" smtClean="0">
                <a:latin typeface="Times New Roman" charset="0"/>
                <a:cs typeface="Times New Roman" charset="0"/>
              </a:rPr>
              <a:t>completion of the FAFSA.</a:t>
            </a: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 smtClean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of May 13 –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Less than 50%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West Virginia’s High School Seniors had successfully completed a FAFSA.</a:t>
            </a: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FAFSA completion by High School is updated every two weeks on the U.S. Department of Education's website at this link: 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http://federalstudentaid.ed.gov/datacenter/fafsahs.html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000" dirty="0" smtClean="0">
              <a:latin typeface="Times New Roman" charset="0"/>
              <a:cs typeface="Times New Roman" charset="0"/>
            </a:endParaRPr>
          </a:p>
          <a:p>
            <a:pPr marL="1089025" lvl="2" indent="-174625">
              <a:spcBef>
                <a:spcPct val="45000"/>
              </a:spcBef>
              <a:buClr>
                <a:srgbClr val="B06000"/>
              </a:buClr>
            </a:pPr>
            <a:endParaRPr lang="en-US" sz="2000" dirty="0" smtClean="0">
              <a:latin typeface="Times New Roman" charset="0"/>
              <a:cs typeface="Times New Roman" charset="0"/>
            </a:endParaRPr>
          </a:p>
          <a:p>
            <a:pPr marL="631825" lvl="1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endParaRPr lang="en-US" sz="1600" dirty="0" smtClean="0">
              <a:latin typeface="Times New Roman" charset="0"/>
              <a:cs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endParaRPr lang="en-US" sz="2400" dirty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>
              <a:latin typeface="Times New Roman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52400" y="152400"/>
            <a:ext cx="8610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Using the Facts to Create Reasonable Expectations</a:t>
            </a:r>
            <a:endParaRPr lang="en-US" sz="3200" b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838200" y="1219200"/>
          <a:ext cx="6858000" cy="5283935"/>
        </p:xfrm>
        <a:graphic>
          <a:graphicData uri="http://schemas.openxmlformats.org/presentationml/2006/ole">
            <p:oleObj spid="_x0000_s122884" name="Worksheet" r:id="rId4" imgW="4572000" imgH="3524385" progId="Excel.Sheet.8">
              <p:embed/>
            </p:oleObj>
          </a:graphicData>
        </a:graphic>
      </p:graphicFrame>
      <p:sp>
        <p:nvSpPr>
          <p:cNvPr id="39940" name="Rectangle 12"/>
          <p:cNvSpPr>
            <a:spLocks noChangeArrowheads="1"/>
          </p:cNvSpPr>
          <p:nvPr/>
        </p:nvSpPr>
        <p:spPr bwMode="auto">
          <a:xfrm>
            <a:off x="228600" y="228600"/>
            <a:ext cx="8229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Postsecondary Educational </a:t>
            </a:r>
            <a:r>
              <a:rPr lang="en-US" sz="3200" b="1" dirty="0">
                <a:solidFill>
                  <a:srgbClr val="B06000"/>
                </a:solidFill>
                <a:latin typeface="Times New Roman" charset="0"/>
              </a:rPr>
              <a:t>Attainment - SREB States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0" y="0"/>
            <a:ext cx="9144000" cy="6872288"/>
            <a:chOff x="0" y="0"/>
            <a:chExt cx="5760" cy="4329"/>
          </a:xfrm>
        </p:grpSpPr>
        <p:sp>
          <p:nvSpPr>
            <p:cNvPr id="39943" name="Rectangle 25"/>
            <p:cNvSpPr>
              <a:spLocks noChangeArrowheads="1"/>
            </p:cNvSpPr>
            <p:nvPr/>
          </p:nvSpPr>
          <p:spPr bwMode="auto">
            <a:xfrm>
              <a:off x="5568" y="0"/>
              <a:ext cx="192" cy="4329"/>
            </a:xfrm>
            <a:prstGeom prst="rect">
              <a:avLst/>
            </a:prstGeom>
            <a:solidFill>
              <a:srgbClr val="B06000"/>
            </a:solidFill>
            <a:ln w="9525">
              <a:solidFill>
                <a:srgbClr val="CE65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39944" name="Line 26"/>
            <p:cNvSpPr>
              <a:spLocks noChangeShapeType="1"/>
            </p:cNvSpPr>
            <p:nvPr/>
          </p:nvSpPr>
          <p:spPr bwMode="auto">
            <a:xfrm>
              <a:off x="5529" y="0"/>
              <a:ext cx="0" cy="43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45" name="Text Box 27"/>
            <p:cNvSpPr txBox="1">
              <a:spLocks noChangeArrowheads="1"/>
            </p:cNvSpPr>
            <p:nvPr/>
          </p:nvSpPr>
          <p:spPr bwMode="auto">
            <a:xfrm>
              <a:off x="0" y="4089"/>
              <a:ext cx="369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1400" b="1" i="1" dirty="0">
                <a:solidFill>
                  <a:srgbClr val="B06000"/>
                </a:solidFill>
                <a:latin typeface="Times New Roman" charset="0"/>
              </a:endParaRPr>
            </a:p>
          </p:txBody>
        </p:sp>
      </p:grpSp>
      <p:pic>
        <p:nvPicPr>
          <p:cNvPr id="39942" name="Picture 28" descr="New HEPC Seal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53400" y="6248400"/>
            <a:ext cx="5032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0" y="228600"/>
            <a:ext cx="8763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Helping You Through Statewide P-20 Initiatives</a:t>
            </a:r>
            <a:endParaRPr lang="en-US" sz="3200" b="1" i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152400" y="0"/>
            <a:ext cx="8458200" cy="5710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r>
              <a:rPr lang="en-US" sz="2400" dirty="0">
                <a:solidFill>
                  <a:schemeClr val="accent2"/>
                </a:solidFill>
                <a:latin typeface="Times New Roman" charset="0"/>
              </a:rPr>
              <a:t> </a:t>
            </a:r>
            <a:endParaRPr lang="en-US" sz="2400" dirty="0" smtClean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endParaRPr lang="en-US" sz="2400" dirty="0" smtClean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</a:rPr>
              <a:t>College Foundation of West Virginia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Build public awareness of the college- and career-planning processes;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Inform the public of postsecondary opportunities;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Encourage utilization of the state’s free college- and career-planning web portal, </a:t>
            </a:r>
            <a:r>
              <a:rPr lang="en-US" dirty="0" smtClean="0">
                <a:latin typeface="Times New Roman" charset="0"/>
                <a:hlinkClick r:id="rId3"/>
              </a:rPr>
              <a:t>www.cfwv.com</a:t>
            </a:r>
            <a:r>
              <a:rPr lang="en-US" dirty="0" smtClean="0">
                <a:latin typeface="Times New Roman" charset="0"/>
              </a:rPr>
              <a:t>;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Provide professional development to assist educators and counselors in improving the college-readiness of students; and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Build a college-going culture in West Virginia.</a:t>
            </a: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</a:rPr>
              <a:t> West Virginia GEAR UP</a:t>
            </a:r>
          </a:p>
          <a:p>
            <a:pPr marL="631825" lvl="2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Deliver direct, intensive college readiness and rigorous academic preparation services to students in 10 high-need counties; and</a:t>
            </a:r>
          </a:p>
          <a:p>
            <a:pPr marL="631825" lvl="2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Evaluate the impact of intensive college readiness interventions. </a:t>
            </a:r>
            <a:endParaRPr lang="en-US" dirty="0">
              <a:latin typeface="Times New Roman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304800" y="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P-20 Initiatives</a:t>
            </a:r>
            <a:endParaRPr lang="en-US" sz="3200" b="1" i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152400" y="304800"/>
            <a:ext cx="8458200" cy="614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r>
              <a:rPr lang="en-US" sz="2400" dirty="0">
                <a:solidFill>
                  <a:schemeClr val="accent2"/>
                </a:solidFill>
                <a:latin typeface="Times New Roman" charset="0"/>
              </a:rPr>
              <a:t> </a:t>
            </a:r>
            <a:endParaRPr lang="en-US" sz="2400" dirty="0" smtClean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</a:rPr>
              <a:t>College Exploration and Application Week—</a:t>
            </a:r>
            <a:r>
              <a:rPr lang="en-US" sz="2400" u="sng" dirty="0" smtClean="0">
                <a:latin typeface="Times New Roman" charset="0"/>
              </a:rPr>
              <a:t>October 1-5, 2012 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solidFill>
                  <a:srgbClr val="000000"/>
                </a:solidFill>
                <a:latin typeface="Times New Roman" charset="0"/>
              </a:rPr>
              <a:t>Provide schools with implementation kits to create a college going culture within high schools.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solidFill>
                  <a:srgbClr val="000000"/>
                </a:solidFill>
                <a:latin typeface="Times New Roman" charset="0"/>
              </a:rPr>
              <a:t>Schools must pre-register before September 14</a:t>
            </a:r>
            <a:endParaRPr lang="en-US" sz="2400" u="sng" dirty="0" smtClean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</a:rPr>
              <a:t>College Goal Sunday—</a:t>
            </a:r>
            <a:r>
              <a:rPr lang="en-US" sz="2400" u="sng" dirty="0" smtClean="0">
                <a:latin typeface="Times New Roman" charset="0"/>
              </a:rPr>
              <a:t>February 10, 2013</a:t>
            </a:r>
            <a:endParaRPr lang="en-US" sz="2400" dirty="0" smtClean="0">
              <a:latin typeface="Times New Roman" charset="0"/>
            </a:endParaRP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Provide students and families with personalized assistance in applying for state and federal financial aid; and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Increase public awareness of financial aid opportunities and the need to complete the Free Application for Federal Student Aid (FAFSA).</a:t>
            </a:r>
          </a:p>
          <a:p>
            <a:pPr marL="174625" lvl="2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</a:rPr>
              <a:t>P-20 Collaboration and Support</a:t>
            </a:r>
          </a:p>
          <a:p>
            <a:pPr marL="631825" lvl="2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Support the work of the Commission’s </a:t>
            </a:r>
            <a:r>
              <a:rPr lang="en-US" b="1" dirty="0" smtClean="0">
                <a:solidFill>
                  <a:srgbClr val="B06000"/>
                </a:solidFill>
                <a:latin typeface="Times New Roman" charset="0"/>
              </a:rPr>
              <a:t>adult-learner degree completion programs</a:t>
            </a:r>
            <a:r>
              <a:rPr lang="en-US" dirty="0" smtClean="0">
                <a:latin typeface="Times New Roman" charset="0"/>
              </a:rPr>
              <a:t>, including the “Degree Now” grant program and the “RBA Today” initiative. Support the work of the Commission’s Division of </a:t>
            </a:r>
            <a:r>
              <a:rPr lang="en-US" b="1" dirty="0" smtClean="0">
                <a:solidFill>
                  <a:srgbClr val="B06000"/>
                </a:solidFill>
                <a:latin typeface="Times New Roman" charset="0"/>
              </a:rPr>
              <a:t>Financial Aid</a:t>
            </a:r>
            <a:r>
              <a:rPr lang="en-US" dirty="0" smtClean="0">
                <a:solidFill>
                  <a:srgbClr val="B06000"/>
                </a:solidFill>
                <a:latin typeface="Times New Roman" charset="0"/>
              </a:rPr>
              <a:t> </a:t>
            </a:r>
            <a:r>
              <a:rPr lang="en-US" dirty="0" smtClean="0">
                <a:latin typeface="Times New Roman" charset="0"/>
              </a:rPr>
              <a:t>in informing students, families, and counselors of the availability of financial aid and the application process.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ChangeArrowheads="1"/>
          </p:cNvSpPr>
          <p:nvPr/>
        </p:nvSpPr>
        <p:spPr bwMode="auto">
          <a:xfrm>
            <a:off x="381000" y="3810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Partnering to Provide You with the Tools to Elevate Postsecondary Enrollment 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Screen Shot 2012-02-01 at 10.57.15 AM.png"/>
          <p:cNvPicPr>
            <a:picLocks noChangeAspect="1"/>
          </p:cNvPicPr>
          <p:nvPr/>
        </p:nvPicPr>
        <p:blipFill>
          <a:blip r:embed="rId4"/>
          <a:srcRect l="1307" t="1270" r="2878" b="16182"/>
          <a:stretch>
            <a:fillRect/>
          </a:stretch>
        </p:blipFill>
        <p:spPr>
          <a:xfrm>
            <a:off x="914400" y="1371600"/>
            <a:ext cx="4419600" cy="4709410"/>
          </a:xfrm>
          <a:prstGeom prst="rect">
            <a:avLst/>
          </a:prstGeom>
          <a:ln w="158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Rectangle 5"/>
          <p:cNvSpPr/>
          <p:nvPr/>
        </p:nvSpPr>
        <p:spPr>
          <a:xfrm>
            <a:off x="5562600" y="2286000"/>
            <a:ext cx="2895600" cy="2474524"/>
          </a:xfrm>
          <a:prstGeom prst="rect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 smtClean="0">
                <a:latin typeface="Times New Roman" charset="0"/>
              </a:rPr>
              <a:t>West Virginia’s </a:t>
            </a:r>
          </a:p>
          <a:p>
            <a:pPr algn="ctr">
              <a:lnSpc>
                <a:spcPct val="90000"/>
              </a:lnSpc>
            </a:pPr>
            <a:r>
              <a:rPr lang="en-US" sz="2800" b="1" dirty="0" smtClean="0">
                <a:latin typeface="Times New Roman" charset="0"/>
              </a:rPr>
              <a:t>“One-Stop Shop” for College and Career Planning</a:t>
            </a:r>
          </a:p>
          <a:p>
            <a:pPr algn="ctr">
              <a:lnSpc>
                <a:spcPct val="90000"/>
              </a:lnSpc>
            </a:pPr>
            <a:endParaRPr lang="en-US" sz="2800" b="1" i="1" dirty="0" smtClean="0">
              <a:latin typeface="Times New Roman" charset="0"/>
            </a:endParaRPr>
          </a:p>
          <a:p>
            <a:pPr algn="ctr">
              <a:lnSpc>
                <a:spcPct val="90000"/>
              </a:lnSpc>
            </a:pPr>
            <a:r>
              <a:rPr lang="en-US" sz="3200" b="1" i="1" dirty="0" smtClean="0">
                <a:solidFill>
                  <a:schemeClr val="bg1"/>
                </a:solidFill>
                <a:latin typeface="Times New Roman" charset="0"/>
              </a:rPr>
              <a:t>www.cfwv.com</a:t>
            </a:r>
            <a:endParaRPr lang="en-US" sz="3200" b="1" i="1" dirty="0">
              <a:solidFill>
                <a:schemeClr val="bg1"/>
              </a:solidFill>
              <a:latin typeface="Times New Roman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381000" y="8382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“One-Stop Shop” for College </a:t>
            </a:r>
            <a:b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</a:b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and Career Planning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11366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133600"/>
            <a:ext cx="728122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04800" y="3810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Building the College-Going Culture &amp; Focusing on Student Support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14" name="Picture 8" descr="12x48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1627431"/>
            <a:ext cx="4800600" cy="128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FinAid1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75031"/>
            <a:ext cx="3168650" cy="4648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6" name="Picture 15" descr="SeniorHighMag8,5x10,875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846631"/>
            <a:ext cx="2897088" cy="3706569"/>
          </a:xfrm>
          <a:prstGeom prst="rect">
            <a:avLst/>
          </a:prstGeom>
        </p:spPr>
      </p:pic>
      <p:pic>
        <p:nvPicPr>
          <p:cNvPr id="17" name="Picture 16" descr="SJ_5x3,5_BW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2694231"/>
            <a:ext cx="3188860" cy="2232202"/>
          </a:xfrm>
          <a:prstGeom prst="rect">
            <a:avLst/>
          </a:prstGeom>
        </p:spPr>
      </p:pic>
      <p:pic>
        <p:nvPicPr>
          <p:cNvPr id="18" name="Picture 17" descr="DM.pdf"/>
          <p:cNvPicPr>
            <a:picLocks noChangeAspect="1"/>
          </p:cNvPicPr>
          <p:nvPr/>
        </p:nvPicPr>
        <p:blipFill>
          <a:blip r:embed="rId7"/>
          <a:srcRect t="51359" r="4331" b="3508"/>
          <a:stretch>
            <a:fillRect/>
          </a:stretch>
        </p:blipFill>
        <p:spPr>
          <a:xfrm rot="10800000">
            <a:off x="5181600" y="4675431"/>
            <a:ext cx="2581789" cy="16946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ChangeArrowheads="1"/>
          </p:cNvSpPr>
          <p:nvPr/>
        </p:nvSpPr>
        <p:spPr bwMode="auto">
          <a:xfrm>
            <a:off x="381000" y="0"/>
            <a:ext cx="8305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en-US" sz="1500" b="1" dirty="0">
              <a:solidFill>
                <a:srgbClr val="B06000"/>
              </a:solidFill>
              <a:latin typeface="Times New Roman" charset="0"/>
            </a:endParaRP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1143000" y="5867400"/>
            <a:ext cx="44958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Training Records </a:t>
            </a:r>
            <a:r>
              <a:rPr lang="en-US" sz="900" dirty="0" smtClean="0">
                <a:latin typeface="Times New Roman" charset="0"/>
              </a:rPr>
              <a:t>(May 2012)</a:t>
            </a:r>
            <a:endParaRPr lang="en-US" sz="900" dirty="0">
              <a:latin typeface="Times New Roman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4800" y="3810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Building the College-Going Culture &amp; Focusing on Student Support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7" name="Picture 6" descr="2011_Annual_Report_Training_Map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273" y="1274324"/>
            <a:ext cx="6420254" cy="46692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Building Momentum: Early Results</a:t>
            </a:r>
            <a:endParaRPr lang="en-US" sz="3200" b="1" i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228600" y="381000"/>
            <a:ext cx="8458200" cy="5161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spcBef>
                <a:spcPct val="45000"/>
              </a:spcBef>
              <a:buClr>
                <a:srgbClr val="B06000"/>
              </a:buClr>
            </a:pPr>
            <a:r>
              <a:rPr lang="en-US" sz="2400" dirty="0" smtClean="0">
                <a:solidFill>
                  <a:schemeClr val="accent2"/>
                </a:solidFill>
                <a:latin typeface="Times New Roman" charset="0"/>
              </a:rPr>
              <a:t> </a:t>
            </a:r>
            <a:endParaRPr lang="en-US" sz="2400" dirty="0" smtClean="0">
              <a:latin typeface="Times New Roman" charset="0"/>
            </a:endParaRPr>
          </a:p>
          <a:p>
            <a:pPr marL="174625" indent="-174625">
              <a:spcBef>
                <a:spcPct val="45000"/>
              </a:spcBef>
              <a:buClr>
                <a:srgbClr val="B06000"/>
              </a:buClr>
              <a:buFont typeface="Wingdings" charset="2"/>
              <a:buChar char="Ø"/>
            </a:pPr>
            <a:r>
              <a:rPr lang="en-US" sz="2400" dirty="0" smtClean="0">
                <a:latin typeface="Times New Roman" charset="0"/>
              </a:rPr>
              <a:t>Increased participation-levels among target audiences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Since fall 2009, nearly 115,000 individuals </a:t>
            </a:r>
            <a:r>
              <a:rPr lang="en-US" dirty="0">
                <a:latin typeface="Times New Roman" charset="0"/>
              </a:rPr>
              <a:t>have created accounts on </a:t>
            </a:r>
            <a:r>
              <a:rPr lang="en-US" dirty="0" err="1">
                <a:latin typeface="Times New Roman" charset="0"/>
              </a:rPr>
              <a:t>cfwv.com</a:t>
            </a:r>
            <a:r>
              <a:rPr lang="en-US" dirty="0" smtClean="0">
                <a:latin typeface="Times New Roman" charset="0"/>
              </a:rPr>
              <a:t>. </a:t>
            </a:r>
            <a:r>
              <a:rPr lang="en-US" sz="1200" dirty="0" smtClean="0">
                <a:latin typeface="Times New Roman" charset="0"/>
              </a:rPr>
              <a:t>(CFWV System Utilization Reports) 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In 2011, nearly 195,000 individuals visited the CFWV web portal. The average visitor viewed more than 11 pages on the site. </a:t>
            </a:r>
            <a:r>
              <a:rPr lang="en-US" sz="1200" dirty="0" smtClean="0">
                <a:latin typeface="Times New Roman" charset="0"/>
              </a:rPr>
              <a:t>(Google Analytics Unique Visitor and Average Page View Statistics) 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Participation in College Goal Sunday 2012 (year three) has grown by 444 percent as compared to College Goal Sunday 2010 (year one). </a:t>
            </a:r>
            <a:r>
              <a:rPr lang="en-US" sz="1200" dirty="0" smtClean="0">
                <a:latin typeface="Times New Roman" charset="0"/>
              </a:rPr>
              <a:t>(College Goal Sunday Participation Summaries, 2010, 2011, 2012) 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62 percent of those participating in College Goal Sunday 2012 were from low-income families. </a:t>
            </a:r>
            <a:r>
              <a:rPr lang="en-US" sz="1200" dirty="0" smtClean="0">
                <a:latin typeface="Times New Roman" charset="0"/>
              </a:rPr>
              <a:t>(College Goal Sunday West Virginia Participant Survey, 2012) 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The number of adult learners creating accounts on </a:t>
            </a:r>
            <a:r>
              <a:rPr lang="en-US" dirty="0" err="1" smtClean="0">
                <a:latin typeface="Times New Roman" charset="0"/>
              </a:rPr>
              <a:t>cfwv.com</a:t>
            </a:r>
            <a:r>
              <a:rPr lang="en-US" dirty="0" smtClean="0">
                <a:latin typeface="Times New Roman" charset="0"/>
              </a:rPr>
              <a:t> has increased steadily during the 2011-12 academic year as compared to 2010-11 and 2009-10. </a:t>
            </a:r>
          </a:p>
          <a:p>
            <a:pPr marL="631825" lvl="3" indent="-174625">
              <a:spcBef>
                <a:spcPct val="45000"/>
              </a:spcBef>
              <a:buClr>
                <a:srgbClr val="B06000"/>
              </a:buClr>
              <a:buFont typeface="Arial" charset="0"/>
              <a:buChar char="•"/>
            </a:pPr>
            <a:r>
              <a:rPr lang="en-US" dirty="0" smtClean="0">
                <a:latin typeface="Times New Roman" charset="0"/>
              </a:rPr>
              <a:t>ACT test-preparation tool use has continued to grow substantially.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Early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1981200" y="59436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 </a:t>
            </a:r>
            <a:r>
              <a:rPr lang="en-US" sz="900" dirty="0" smtClean="0">
                <a:latin typeface="Times New Roman" charset="0"/>
              </a:rPr>
              <a:t>(May 2012)</a:t>
            </a:r>
            <a:endParaRPr lang="en-US" sz="900" dirty="0">
              <a:latin typeface="Times New Roman" charset="0"/>
            </a:endParaRPr>
          </a:p>
        </p:txBody>
      </p:sp>
      <p:pic>
        <p:nvPicPr>
          <p:cNvPr id="107521" name="Picture 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27870" y="914400"/>
            <a:ext cx="7459660" cy="500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Early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1447800" y="61722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 </a:t>
            </a:r>
            <a:r>
              <a:rPr lang="en-US" sz="900" dirty="0" smtClean="0">
                <a:latin typeface="Times New Roman" charset="0"/>
              </a:rPr>
              <a:t>(May 2011)</a:t>
            </a:r>
            <a:endParaRPr lang="en-US" sz="900" dirty="0">
              <a:latin typeface="Times New Roman" charset="0"/>
            </a:endParaRPr>
          </a:p>
        </p:txBody>
      </p:sp>
      <p:pic>
        <p:nvPicPr>
          <p:cNvPr id="135170" name="Picture 2" descr="V:\GEAR UP New 12.08\JESS\Division\Presentations\PlymaleSpring2012\K12Accounts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71600" y="1212052"/>
            <a:ext cx="6324600" cy="4621183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en-US" sz="4400" b="1" i="1" dirty="0"/>
          </a:p>
        </p:txBody>
      </p:sp>
      <p:sp>
        <p:nvSpPr>
          <p:cNvPr id="70661" name="Text Box 3"/>
          <p:cNvSpPr txBox="1">
            <a:spLocks noChangeArrowheads="1"/>
          </p:cNvSpPr>
          <p:nvPr/>
        </p:nvSpPr>
        <p:spPr bwMode="auto">
          <a:xfrm>
            <a:off x="3124200" y="6400800"/>
            <a:ext cx="4724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Goal Sunday Participation Records </a:t>
            </a:r>
            <a:r>
              <a:rPr lang="en-US" sz="900" dirty="0" smtClean="0">
                <a:latin typeface="Times New Roman" charset="0"/>
              </a:rPr>
              <a:t>(2010-2012)</a:t>
            </a:r>
            <a:endParaRPr lang="en-US" sz="900" dirty="0">
              <a:latin typeface="Times New Roman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2400" y="304800"/>
            <a:ext cx="853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Statewide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 descr="ParticipantsByRole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0478" t="3783" r="2236" b="5889"/>
          <a:stretch/>
        </p:blipFill>
        <p:spPr>
          <a:xfrm>
            <a:off x="4038600" y="2021442"/>
            <a:ext cx="4475282" cy="2779974"/>
          </a:xfrm>
          <a:prstGeom prst="rect">
            <a:avLst/>
          </a:prstGeom>
        </p:spPr>
      </p:pic>
      <p:pic>
        <p:nvPicPr>
          <p:cNvPr id="3" name="Picture 2" descr="ParticipantsByYear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5" t="9537" r="4823" b="2262"/>
          <a:stretch/>
        </p:blipFill>
        <p:spPr>
          <a:xfrm>
            <a:off x="533400" y="1447800"/>
            <a:ext cx="3158443" cy="4522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143000"/>
            <a:ext cx="3733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Myriad Pro"/>
                <a:cs typeface="Myriad Pro"/>
              </a:rPr>
              <a:t>College Goal Sunday Participation</a:t>
            </a:r>
            <a:endParaRPr lang="en-US" b="1" dirty="0">
              <a:latin typeface="Myriad Pro"/>
              <a:cs typeface="Myriad P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133600"/>
            <a:ext cx="3733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Myriad Pro"/>
                <a:cs typeface="Myriad Pro"/>
              </a:rPr>
              <a:t>Participation by Role</a:t>
            </a:r>
            <a:endParaRPr lang="en-US" b="1" dirty="0">
              <a:latin typeface="Myriad Pro"/>
              <a:cs typeface="Myriad Pro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Statewide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1600200" y="57912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 </a:t>
            </a:r>
            <a:r>
              <a:rPr lang="en-US" sz="900" dirty="0" smtClean="0">
                <a:latin typeface="Times New Roman" charset="0"/>
              </a:rPr>
              <a:t>(May 2012)</a:t>
            </a:r>
            <a:endParaRPr lang="en-US" sz="900" dirty="0">
              <a:latin typeface="Times New Roman" charset="0"/>
            </a:endParaRPr>
          </a:p>
        </p:txBody>
      </p:sp>
      <p:pic>
        <p:nvPicPr>
          <p:cNvPr id="130050" name="Picture 2" descr="V:\GEAR UP New 12.08\JESS\Division\Presentations\PlymaleSpring2012\UserRoles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43000" y="990653"/>
            <a:ext cx="6654151" cy="4830657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algn="ctr">
              <a:lnSpc>
                <a:spcPct val="90000"/>
              </a:lnSpc>
            </a:pPr>
            <a:endParaRPr lang="en-US" sz="4400" b="1" i="1" dirty="0">
              <a:solidFill>
                <a:srgbClr val="000000"/>
              </a:solidFill>
            </a:endParaRP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2057400" y="57912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 </a:t>
            </a:r>
            <a:r>
              <a:rPr lang="en-US" sz="900" dirty="0" smtClean="0">
                <a:latin typeface="Times New Roman" charset="0"/>
              </a:rPr>
              <a:t>(May 2012)</a:t>
            </a:r>
            <a:endParaRPr lang="en-US" sz="900" dirty="0">
              <a:latin typeface="Times New Roman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3048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Statewide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105473" name="Picture 1" descr="V:\GEAR UP New 12.08\JESS\Division\Presentations\PlymaleSpring2012\AdultLearnerAccounts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18817" y="1447800"/>
            <a:ext cx="7526626" cy="4343400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algn="ctr">
              <a:lnSpc>
                <a:spcPct val="90000"/>
              </a:lnSpc>
            </a:pPr>
            <a:endParaRPr lang="en-US" sz="4400" b="1" i="1" dirty="0">
              <a:solidFill>
                <a:srgbClr val="000000"/>
              </a:solidFill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1905000" y="59436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 </a:t>
            </a:r>
            <a:r>
              <a:rPr lang="en-US" sz="900" dirty="0" smtClean="0">
                <a:latin typeface="Times New Roman" charset="0"/>
              </a:rPr>
              <a:t>(May 2012)</a:t>
            </a:r>
            <a:endParaRPr lang="en-US" sz="900" dirty="0">
              <a:latin typeface="Times New Roman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3048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Statewide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101377" name="Picture 1" descr="V:\GEAR UP New 12.08\JESS\Division\Presentations\PlymaleSpring2012\CollegeApps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71156" y="1066800"/>
            <a:ext cx="7374674" cy="4852322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228600" y="152400"/>
            <a:ext cx="8382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algn="ctr">
              <a:lnSpc>
                <a:spcPct val="90000"/>
              </a:lnSpc>
            </a:pPr>
            <a:endParaRPr lang="en-US" sz="4400" b="1" i="1" dirty="0">
              <a:solidFill>
                <a:srgbClr val="000000"/>
              </a:solidFill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1905000" y="58674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 </a:t>
            </a:r>
            <a:r>
              <a:rPr lang="en-US" sz="900" dirty="0" smtClean="0">
                <a:latin typeface="Times New Roman" charset="0"/>
              </a:rPr>
              <a:t>(May 2012)</a:t>
            </a:r>
            <a:endParaRPr lang="en-US" sz="900" dirty="0">
              <a:latin typeface="Times New Roman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3048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Statewide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133122" name="Picture 2" descr="V:\GEAR UP New 12.08\JESS\Division\Presentations\PlymaleSpring2012\ACTPrep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46657" y="990600"/>
            <a:ext cx="7298285" cy="4860827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381000" y="1524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algn="ctr">
              <a:lnSpc>
                <a:spcPct val="90000"/>
              </a:lnSpc>
            </a:pPr>
            <a:endParaRPr lang="en-US" sz="4400" b="1" i="1" dirty="0">
              <a:solidFill>
                <a:srgbClr val="000000"/>
              </a:solidFill>
            </a:endParaRP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981200" y="5867400"/>
            <a:ext cx="62484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dirty="0">
                <a:latin typeface="Times New Roman" charset="0"/>
              </a:rPr>
              <a:t>Source: College Foundation of West Virginia Utilization Statistics</a:t>
            </a:r>
            <a:r>
              <a:rPr lang="en-US" sz="900" dirty="0" smtClean="0">
                <a:latin typeface="Times New Roman" charset="0"/>
              </a:rPr>
              <a:t> (May 2012)</a:t>
            </a:r>
            <a:endParaRPr lang="en-US" sz="900" dirty="0">
              <a:latin typeface="Times New Roman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304800"/>
            <a:ext cx="815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200" b="1" dirty="0" smtClean="0">
                <a:solidFill>
                  <a:srgbClr val="B06000"/>
                </a:solidFill>
                <a:latin typeface="Times New Roman" charset="0"/>
              </a:rPr>
              <a:t>Statewide Results</a:t>
            </a:r>
            <a:endParaRPr lang="en-US" sz="3200" b="1" i="1" dirty="0">
              <a:solidFill>
                <a:srgbClr val="B06000"/>
              </a:solidFill>
              <a:latin typeface="Times New Roman" charset="0"/>
            </a:endParaRPr>
          </a:p>
        </p:txBody>
      </p:sp>
      <p:pic>
        <p:nvPicPr>
          <p:cNvPr id="97281" name="Picture 1" descr="V:\GEAR UP New 12.08\JESS\Division\Presentations\PlymaleSpring2012\ProCenter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3760" y="1143001"/>
            <a:ext cx="7100280" cy="4726680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4343400" y="5684838"/>
            <a:ext cx="533400" cy="460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236" name="Text Box 8"/>
          <p:cNvSpPr txBox="1">
            <a:spLocks noChangeArrowheads="1"/>
          </p:cNvSpPr>
          <p:nvPr/>
        </p:nvSpPr>
        <p:spPr bwMode="auto">
          <a:xfrm>
            <a:off x="723900" y="2024622"/>
            <a:ext cx="7696200" cy="5595378"/>
          </a:xfrm>
          <a:prstGeom prst="rect">
            <a:avLst/>
          </a:prstGeom>
          <a:noFill/>
          <a:ln w="76200" cmpd="tri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dirty="0"/>
          </a:p>
          <a:p>
            <a:pPr algn="ctr">
              <a:spcBef>
                <a:spcPct val="10000"/>
              </a:spcBef>
            </a:pPr>
            <a:r>
              <a:rPr lang="en-US" sz="2500" dirty="0">
                <a:latin typeface="Times New Roman" charset="0"/>
              </a:rPr>
              <a:t>Adam S. Green, </a:t>
            </a:r>
            <a:r>
              <a:rPr lang="en-US" sz="2500" dirty="0" err="1">
                <a:latin typeface="Times New Roman" charset="0"/>
              </a:rPr>
              <a:t>Ed.D</a:t>
            </a:r>
            <a:r>
              <a:rPr lang="en-US" sz="2500" dirty="0">
                <a:latin typeface="Times New Roman" charset="0"/>
              </a:rPr>
              <a:t>.</a:t>
            </a:r>
          </a:p>
          <a:p>
            <a:pPr algn="ctr">
              <a:spcBef>
                <a:spcPct val="10000"/>
              </a:spcBef>
            </a:pPr>
            <a:r>
              <a:rPr lang="en-US" sz="2500" dirty="0" smtClean="0">
                <a:latin typeface="Times New Roman" charset="0"/>
              </a:rPr>
              <a:t>Senior Director </a:t>
            </a:r>
          </a:p>
          <a:p>
            <a:pPr algn="ctr">
              <a:spcBef>
                <a:spcPct val="10000"/>
              </a:spcBef>
            </a:pPr>
            <a:r>
              <a:rPr lang="en-US" sz="2500" dirty="0" smtClean="0">
                <a:latin typeface="Times New Roman" charset="0"/>
              </a:rPr>
              <a:t>Division </a:t>
            </a:r>
            <a:r>
              <a:rPr lang="en-US" sz="2500" dirty="0">
                <a:latin typeface="Times New Roman" charset="0"/>
              </a:rPr>
              <a:t>of Student Success and P-20 </a:t>
            </a:r>
            <a:r>
              <a:rPr lang="en-US" sz="2500" dirty="0" smtClean="0">
                <a:latin typeface="Times New Roman" charset="0"/>
              </a:rPr>
              <a:t>Initiatives</a:t>
            </a:r>
            <a:endParaRPr lang="en-US" sz="2500" dirty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r>
              <a:rPr lang="en-US" sz="2500" dirty="0" smtClean="0">
                <a:latin typeface="Times New Roman" charset="0"/>
              </a:rPr>
              <a:t>WV Higher Education Policy Commission</a:t>
            </a:r>
          </a:p>
          <a:p>
            <a:pPr algn="ctr">
              <a:spcBef>
                <a:spcPct val="10000"/>
              </a:spcBef>
            </a:pPr>
            <a:r>
              <a:rPr lang="en-US" sz="2500" dirty="0" smtClean="0">
                <a:latin typeface="Times New Roman" charset="0"/>
              </a:rPr>
              <a:t>(</a:t>
            </a:r>
            <a:r>
              <a:rPr lang="en-US" sz="2500" dirty="0">
                <a:latin typeface="Times New Roman" charset="0"/>
              </a:rPr>
              <a:t>304) 558-0655 </a:t>
            </a:r>
            <a:r>
              <a:rPr lang="en-US" sz="2500" dirty="0" smtClean="0">
                <a:latin typeface="Times New Roman" charset="0"/>
              </a:rPr>
              <a:t>| </a:t>
            </a:r>
            <a:r>
              <a:rPr lang="en-US" sz="2500" dirty="0" smtClean="0">
                <a:latin typeface="Times New Roman" charset="0"/>
                <a:hlinkClick r:id="rId3"/>
              </a:rPr>
              <a:t>green@hepc.wvnet.edu</a:t>
            </a:r>
            <a:endParaRPr lang="en-US" sz="2500" dirty="0" smtClean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sz="2500" dirty="0" smtClean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sz="2500" dirty="0" smtClean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sz="2500" dirty="0" smtClean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sz="2500" dirty="0" smtClean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sz="2500" dirty="0" smtClean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sz="2500" dirty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dirty="0">
              <a:latin typeface="Times New Roman" charset="0"/>
            </a:endParaRPr>
          </a:p>
          <a:p>
            <a:pPr algn="ctr">
              <a:spcBef>
                <a:spcPct val="10000"/>
              </a:spcBef>
            </a:pPr>
            <a:endParaRPr lang="en-US" dirty="0">
              <a:latin typeface="Times New Roman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6324600"/>
            <a:ext cx="1226907" cy="41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24175</TotalTime>
  <Words>1011</Words>
  <Application>Microsoft Macintosh PowerPoint</Application>
  <PresentationFormat>On-screen Show (4:3)</PresentationFormat>
  <Paragraphs>159</Paragraphs>
  <Slides>22</Slides>
  <Notes>22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Default Design</vt:lpstr>
      <vt:lpstr>Custom Design</vt:lpstr>
      <vt:lpstr>Worksheet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State of Tennessee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Cb50301</dc:creator>
  <cp:lastModifiedBy>Adam Green</cp:lastModifiedBy>
  <cp:revision>622</cp:revision>
  <cp:lastPrinted>2011-04-06T02:09:45Z</cp:lastPrinted>
  <dcterms:created xsi:type="dcterms:W3CDTF">2012-02-01T15:07:21Z</dcterms:created>
  <dcterms:modified xsi:type="dcterms:W3CDTF">2012-06-26T13:36:19Z</dcterms:modified>
</cp:coreProperties>
</file>