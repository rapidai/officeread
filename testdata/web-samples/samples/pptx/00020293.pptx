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5" r:id="rId3"/>
    <p:sldId id="256" r:id="rId4"/>
    <p:sldId id="263" r:id="rId5"/>
    <p:sldId id="264" r:id="rId6"/>
    <p:sldId id="257" r:id="rId7"/>
    <p:sldId id="266" r:id="rId8"/>
    <p:sldId id="258" r:id="rId9"/>
    <p:sldId id="268" r:id="rId10"/>
    <p:sldId id="259" r:id="rId11"/>
    <p:sldId id="269" r:id="rId12"/>
    <p:sldId id="260" r:id="rId13"/>
    <p:sldId id="261" r:id="rId14"/>
    <p:sldId id="262" r:id="rId15"/>
    <p:sldId id="270" r:id="rId1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3952667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2517752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840368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970046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105526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3147534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2535051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3664463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662497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883591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DC7957-5B5F-47CE-B0B5-2655248F18ED}"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3383817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DC7957-5B5F-47CE-B0B5-2655248F18ED}" type="datetimeFigureOut">
              <a:rPr lang="en-US" smtClean="0"/>
              <a:pPr/>
              <a:t>11/30/2012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3A62E4-C004-4645-B679-C6B1A6CCE003}" type="slidenum">
              <a:rPr lang="en-US" smtClean="0"/>
              <a:pPr/>
              <a:t>‹#›</a:t>
            </a:fld>
            <a:endParaRPr lang="en-US"/>
          </a:p>
        </p:txBody>
      </p:sp>
    </p:spTree>
    <p:extLst>
      <p:ext uri="{BB962C8B-B14F-4D97-AF65-F5344CB8AC3E}">
        <p14:creationId xmlns="" xmlns:p14="http://schemas.microsoft.com/office/powerpoint/2010/main" val="846101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hyperlink" Target="http://www.ted.com/" TargetMode="Externa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hyperlink" Target="http://www.ted.com/" TargetMode="Externa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hyperlink" Target="http://www.voicesofmen.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www.voicesofmen.or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voicesofmen.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mencanstoprape.or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mailto:menagainstviolence@yahoogroups.com" TargetMode="External"/><Relationship Id="rId3" Type="http://schemas.openxmlformats.org/officeDocument/2006/relationships/hyperlink" Target="http://www.voicesofmen.org/" TargetMode="External"/><Relationship Id="rId7" Type="http://schemas.openxmlformats.org/officeDocument/2006/relationships/hyperlink" Target="http://www.mencanstoprape.org/" TargetMode="External"/><Relationship Id="rId12" Type="http://schemas.openxmlformats.org/officeDocument/2006/relationships/hyperlink" Target="http://www.nrcdv.org/" TargetMode="External"/><Relationship Id="rId2" Type="http://schemas.openxmlformats.org/officeDocument/2006/relationships/hyperlink" Target="mailto:benazeman@hotmail.com" TargetMode="External"/><Relationship Id="rId1" Type="http://schemas.openxmlformats.org/officeDocument/2006/relationships/slideLayout" Target="../slideLayouts/slideLayout2.xml"/><Relationship Id="rId6" Type="http://schemas.openxmlformats.org/officeDocument/2006/relationships/hyperlink" Target="http://www.theribbonlady.com/" TargetMode="External"/><Relationship Id="rId11" Type="http://schemas.openxmlformats.org/officeDocument/2006/relationships/hyperlink" Target="http://www.endabuse.org/" TargetMode="External"/><Relationship Id="rId5" Type="http://schemas.openxmlformats.org/officeDocument/2006/relationships/hyperlink" Target="http://www.whiteribbon.com/" TargetMode="External"/><Relationship Id="rId10" Type="http://schemas.openxmlformats.org/officeDocument/2006/relationships/hyperlink" Target="http://www.ncadv.org/" TargetMode="External"/><Relationship Id="rId4" Type="http://schemas.openxmlformats.org/officeDocument/2006/relationships/hyperlink" Target="http://www.nomas.org/" TargetMode="External"/><Relationship Id="rId9" Type="http://schemas.openxmlformats.org/officeDocument/2006/relationships/hyperlink" Target="http://www.acalltomen.org/"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www.mijd.org/" TargetMode="External"/><Relationship Id="rId3" Type="http://schemas.openxmlformats.org/officeDocument/2006/relationships/hyperlink" Target="http://www.cpsdv.org/" TargetMode="External"/><Relationship Id="rId7" Type="http://schemas.openxmlformats.org/officeDocument/2006/relationships/hyperlink" Target="http://www.homefrontcalgary.com/" TargetMode="External"/><Relationship Id="rId12" Type="http://schemas.openxmlformats.org/officeDocument/2006/relationships/hyperlink" Target="http://www.jeankilbourne.com/" TargetMode="External"/><Relationship Id="rId2" Type="http://schemas.openxmlformats.org/officeDocument/2006/relationships/hyperlink" Target="http://www.menagainstsexualviolence.org/" TargetMode="External"/><Relationship Id="rId1" Type="http://schemas.openxmlformats.org/officeDocument/2006/relationships/slideLayout" Target="../slideLayouts/slideLayout2.xml"/><Relationship Id="rId6" Type="http://schemas.openxmlformats.org/officeDocument/2006/relationships/hyperlink" Target="http://www.dadsanddaughters.org/" TargetMode="External"/><Relationship Id="rId11" Type="http://schemas.openxmlformats.org/officeDocument/2006/relationships/hyperlink" Target="http://www.mediaed.org/" TargetMode="External"/><Relationship Id="rId5" Type="http://schemas.openxmlformats.org/officeDocument/2006/relationships/hyperlink" Target="http://www.mediaandwomen.org/" TargetMode="External"/><Relationship Id="rId10" Type="http://schemas.openxmlformats.org/officeDocument/2006/relationships/hyperlink" Target="http://www.jacksonkatz.com/" TargetMode="External"/><Relationship Id="rId4" Type="http://schemas.openxmlformats.org/officeDocument/2006/relationships/hyperlink" Target="http://www.now.org/" TargetMode="External"/><Relationship Id="rId9" Type="http://schemas.openxmlformats.org/officeDocument/2006/relationships/hyperlink" Target="http://www.strongmendontbully.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838201"/>
            <a:ext cx="7772400" cy="2762250"/>
          </a:xfrm>
          <a:ln w="76200">
            <a:solidFill>
              <a:schemeClr val="tx2">
                <a:lumMod val="60000"/>
                <a:lumOff val="40000"/>
              </a:schemeClr>
            </a:solidFill>
          </a:ln>
        </p:spPr>
        <p:txBody>
          <a:bodyPr/>
          <a:lstStyle/>
          <a:p>
            <a:r>
              <a:rPr lang="en-US" b="1" dirty="0" smtClean="0"/>
              <a:t>Masculinity bulletin board and educational program idea</a:t>
            </a:r>
            <a:endParaRPr lang="en-US" b="1" dirty="0"/>
          </a:p>
        </p:txBody>
      </p:sp>
      <p:sp>
        <p:nvSpPr>
          <p:cNvPr id="5" name="Subtitle 4"/>
          <p:cNvSpPr>
            <a:spLocks noGrp="1"/>
          </p:cNvSpPr>
          <p:nvPr>
            <p:ph type="subTitle" idx="1"/>
          </p:nvPr>
        </p:nvSpPr>
        <p:spPr/>
        <p:txBody>
          <a:bodyPr>
            <a:normAutofit/>
          </a:bodyPr>
          <a:lstStyle/>
          <a:p>
            <a:r>
              <a:rPr lang="en-US" b="1" dirty="0" smtClean="0">
                <a:solidFill>
                  <a:schemeClr val="tx2">
                    <a:lumMod val="60000"/>
                    <a:lumOff val="40000"/>
                  </a:schemeClr>
                </a:solidFill>
              </a:rPr>
              <a:t>Brian Michael Finn</a:t>
            </a:r>
            <a:br>
              <a:rPr lang="en-US" b="1" dirty="0" smtClean="0">
                <a:solidFill>
                  <a:schemeClr val="tx2">
                    <a:lumMod val="60000"/>
                    <a:lumOff val="40000"/>
                  </a:schemeClr>
                </a:solidFill>
              </a:rPr>
            </a:br>
            <a:r>
              <a:rPr lang="en-US" b="1" dirty="0" smtClean="0">
                <a:solidFill>
                  <a:schemeClr val="tx2">
                    <a:lumMod val="60000"/>
                    <a:lumOff val="40000"/>
                  </a:schemeClr>
                </a:solidFill>
              </a:rPr>
              <a:t>Purdue University </a:t>
            </a:r>
            <a:r>
              <a:rPr lang="en-US" dirty="0" smtClean="0"/>
              <a:t/>
            </a:r>
            <a:br>
              <a:rPr lang="en-US" dirty="0" smtClean="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1" y="295870"/>
            <a:ext cx="6019800" cy="923330"/>
          </a:xfrm>
          <a:prstGeom prst="rect">
            <a:avLst/>
          </a:prstGeom>
          <a:noFill/>
        </p:spPr>
        <p:txBody>
          <a:bodyPr wrap="square" rtlCol="0">
            <a:spAutoFit/>
          </a:bodyPr>
          <a:lstStyle/>
          <a:p>
            <a:pPr algn="ctr"/>
            <a:r>
              <a:rPr lang="en-US" sz="5400" b="1" dirty="0" smtClean="0">
                <a:solidFill>
                  <a:srgbClr val="0070C0"/>
                </a:solidFill>
              </a:rPr>
              <a:t>…Topics in the Air…</a:t>
            </a:r>
            <a:endParaRPr lang="en-US" sz="5400" b="1" dirty="0">
              <a:solidFill>
                <a:srgbClr val="0070C0"/>
              </a:solidFill>
            </a:endParaRPr>
          </a:p>
        </p:txBody>
      </p:sp>
      <p:pic>
        <p:nvPicPr>
          <p:cNvPr id="4099"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352473" y="3733800"/>
            <a:ext cx="3703588" cy="29628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882640" y="4623141"/>
            <a:ext cx="2060632" cy="4545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6200" y="2468005"/>
            <a:ext cx="6858000" cy="883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0" y="1447800"/>
            <a:ext cx="6057900" cy="866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5" name="Picture 9"/>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276461" y="4501429"/>
            <a:ext cx="4704006" cy="756371"/>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8" name="Picture 12"/>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288035" y="5638800"/>
            <a:ext cx="4686300" cy="74295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9" name="Picture 13"/>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7027791" y="215531"/>
            <a:ext cx="2028270" cy="31359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10" name="Picture 14"/>
          <p:cNvPicPr>
            <a:picLocks noChangeAspect="1" noChangeArrowheads="1"/>
          </p:cNvPicPr>
          <p:nvPr/>
        </p:nvPicPr>
        <p:blipFill>
          <a:blip r:embed="rId9" cstate="print">
            <a:extLst>
              <a:ext uri="{28A0092B-C50C-407E-A947-70E740481C1C}">
                <a14:useLocalDpi xmlns="" xmlns:a14="http://schemas.microsoft.com/office/drawing/2010/main" val="0"/>
              </a:ext>
            </a:extLst>
          </a:blip>
          <a:srcRect/>
          <a:stretch>
            <a:fillRect/>
          </a:stretch>
        </p:blipFill>
        <p:spPr bwMode="auto">
          <a:xfrm>
            <a:off x="138112" y="3886201"/>
            <a:ext cx="4945351" cy="35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874260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14400" y="1630218"/>
            <a:ext cx="3352800" cy="4649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047875" y="381000"/>
            <a:ext cx="5495925" cy="769441"/>
          </a:xfrm>
          <a:prstGeom prst="rect">
            <a:avLst/>
          </a:prstGeom>
          <a:noFill/>
        </p:spPr>
        <p:txBody>
          <a:bodyPr wrap="square" rtlCol="0">
            <a:spAutoFit/>
          </a:bodyPr>
          <a:lstStyle/>
          <a:p>
            <a:pPr algn="ctr"/>
            <a:r>
              <a:rPr lang="en-US" sz="4400" b="1" dirty="0" smtClean="0">
                <a:solidFill>
                  <a:srgbClr val="0070C0"/>
                </a:solidFill>
              </a:rPr>
              <a:t>Recommended Media</a:t>
            </a:r>
            <a:endParaRPr lang="en-US" sz="4400" b="1" dirty="0">
              <a:solidFill>
                <a:srgbClr val="0070C0"/>
              </a:solidFill>
            </a:endParaRPr>
          </a:p>
        </p:txBody>
      </p:sp>
      <p:pic>
        <p:nvPicPr>
          <p:cNvPr id="1027"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181600" y="1630218"/>
            <a:ext cx="3152834" cy="46500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8256407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381000"/>
            <a:ext cx="5943600" cy="990600"/>
          </a:xfrm>
        </p:spPr>
        <p:txBody>
          <a:bodyPr>
            <a:normAutofit fontScale="90000"/>
          </a:bodyPr>
          <a:lstStyle/>
          <a:p>
            <a:r>
              <a:rPr lang="en-US" b="1" dirty="0" smtClean="0"/>
              <a:t>Videos that Speak Volumes</a:t>
            </a:r>
            <a:endParaRPr lang="en-US" b="1" dirty="0"/>
          </a:p>
        </p:txBody>
      </p:sp>
      <p:pic>
        <p:nvPicPr>
          <p:cNvPr id="2050" name="Picture 2" descr="http://ts1.mm.bing.net/th?id=I.4657355887084860&amp;pid=1.7&amp;w=219&amp;h=151&amp;c=7&amp;rs=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09600" y="152400"/>
            <a:ext cx="2085975" cy="1438275"/>
          </a:xfrm>
          <a:prstGeom prst="rect">
            <a:avLst/>
          </a:prstGeom>
          <a:noFill/>
          <a:extLst>
            <a:ext uri="{909E8E84-426E-40DD-AFC4-6F175D3DCCD1}">
              <a14:hiddenFill xmlns="" xmlns:a14="http://schemas.microsoft.com/office/drawing/2010/main">
                <a:solidFill>
                  <a:srgbClr val="FFFFFF"/>
                </a:solidFill>
              </a14:hiddenFill>
            </a:ext>
          </a:extLst>
        </p:spPr>
      </p:pic>
      <p:pic>
        <p:nvPicPr>
          <p:cNvPr id="205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199" y="1295400"/>
            <a:ext cx="4425495" cy="2743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689048" y="1295400"/>
            <a:ext cx="4404152" cy="2743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609600" y="4876800"/>
            <a:ext cx="3048000" cy="369332"/>
          </a:xfrm>
          <a:prstGeom prst="rect">
            <a:avLst/>
          </a:prstGeom>
          <a:noFill/>
        </p:spPr>
        <p:txBody>
          <a:bodyPr wrap="square" rtlCol="0">
            <a:spAutoFit/>
          </a:bodyPr>
          <a:lstStyle/>
          <a:p>
            <a:endParaRPr lang="en-US" dirty="0"/>
          </a:p>
        </p:txBody>
      </p:sp>
      <p:sp>
        <p:nvSpPr>
          <p:cNvPr id="11" name="TextBox 10"/>
          <p:cNvSpPr txBox="1"/>
          <p:nvPr/>
        </p:nvSpPr>
        <p:spPr>
          <a:xfrm>
            <a:off x="5181600" y="5024582"/>
            <a:ext cx="3048000" cy="369332"/>
          </a:xfrm>
          <a:prstGeom prst="rect">
            <a:avLst/>
          </a:prstGeom>
          <a:noFill/>
        </p:spPr>
        <p:txBody>
          <a:bodyPr wrap="square" rtlCol="0">
            <a:spAutoFit/>
          </a:bodyPr>
          <a:lstStyle/>
          <a:p>
            <a:endParaRPr lang="en-US" dirty="0"/>
          </a:p>
        </p:txBody>
      </p:sp>
      <p:sp>
        <p:nvSpPr>
          <p:cNvPr id="12" name="TextBox 11"/>
          <p:cNvSpPr txBox="1"/>
          <p:nvPr/>
        </p:nvSpPr>
        <p:spPr>
          <a:xfrm>
            <a:off x="94673" y="4027054"/>
            <a:ext cx="4343400" cy="2616101"/>
          </a:xfrm>
          <a:prstGeom prst="rect">
            <a:avLst/>
          </a:prstGeom>
          <a:noFill/>
        </p:spPr>
        <p:txBody>
          <a:bodyPr wrap="square" rtlCol="0">
            <a:spAutoFit/>
          </a:bodyPr>
          <a:lstStyle/>
          <a:p>
            <a:r>
              <a:rPr lang="en-US" sz="1600" b="1" dirty="0" err="1" smtClean="0"/>
              <a:t>Brene</a:t>
            </a:r>
            <a:r>
              <a:rPr lang="en-US" sz="1600" b="1" dirty="0" smtClean="0"/>
              <a:t> Brown: The power of vulnerability </a:t>
            </a:r>
          </a:p>
          <a:p>
            <a:endParaRPr lang="en-US" sz="1600" dirty="0" smtClean="0">
              <a:hlinkClick r:id="rId5" tooltip="http://www.ted.com"/>
            </a:endParaRPr>
          </a:p>
          <a:p>
            <a:r>
              <a:rPr lang="en-US" sz="1600" dirty="0" smtClean="0">
                <a:hlinkClick r:id="rId5" tooltip="http://www.ted.com"/>
              </a:rPr>
              <a:t>http://www.ted.com</a:t>
            </a:r>
            <a:r>
              <a:rPr lang="en-US" sz="1600" dirty="0" smtClean="0"/>
              <a:t> </a:t>
            </a:r>
            <a:r>
              <a:rPr lang="en-US" sz="1600" dirty="0" err="1" smtClean="0"/>
              <a:t>Brene</a:t>
            </a:r>
            <a:r>
              <a:rPr lang="en-US" sz="1600" dirty="0" smtClean="0"/>
              <a:t> Brown studies human connection -- our ability to empathize, belong, love. In a poignant, funny talk at </a:t>
            </a:r>
            <a:r>
              <a:rPr lang="en-US" sz="1600" dirty="0" err="1" smtClean="0"/>
              <a:t>TEDxHouston</a:t>
            </a:r>
            <a:r>
              <a:rPr lang="en-US" sz="1600" dirty="0" smtClean="0"/>
              <a:t>, she shares a deep insight from her research, one that sent her on a personal quest to know herself as well as to understand humanity. A talk to share.</a:t>
            </a:r>
            <a:r>
              <a:rPr lang="en-US" dirty="0" smtClean="0"/>
              <a:t/>
            </a:r>
            <a:br>
              <a:rPr lang="en-US" dirty="0" smtClean="0"/>
            </a:br>
            <a:r>
              <a:rPr lang="en-US" dirty="0" smtClean="0"/>
              <a:t/>
            </a:r>
            <a:br>
              <a:rPr lang="en-US" dirty="0" smtClean="0"/>
            </a:br>
            <a:endParaRPr lang="en-US" dirty="0"/>
          </a:p>
        </p:txBody>
      </p:sp>
      <p:sp>
        <p:nvSpPr>
          <p:cNvPr id="13" name="TextBox 12"/>
          <p:cNvSpPr txBox="1"/>
          <p:nvPr/>
        </p:nvSpPr>
        <p:spPr>
          <a:xfrm>
            <a:off x="4747491" y="4085863"/>
            <a:ext cx="4343400" cy="3108543"/>
          </a:xfrm>
          <a:prstGeom prst="rect">
            <a:avLst/>
          </a:prstGeom>
          <a:noFill/>
        </p:spPr>
        <p:txBody>
          <a:bodyPr wrap="square" rtlCol="0">
            <a:spAutoFit/>
          </a:bodyPr>
          <a:lstStyle/>
          <a:p>
            <a:r>
              <a:rPr lang="en-US" sz="1600" b="1" dirty="0" smtClean="0"/>
              <a:t>How to Fight - Carlos Andrés Gómez</a:t>
            </a:r>
          </a:p>
          <a:p>
            <a:endParaRPr lang="en-US" sz="1600" dirty="0" smtClean="0">
              <a:hlinkClick r:id="rId5" tooltip="http://www.ted.com"/>
            </a:endParaRPr>
          </a:p>
          <a:p>
            <a:r>
              <a:rPr lang="en-US" sz="1600" dirty="0" smtClean="0"/>
              <a:t>Like many men in our society, Gómez grew up believing that he had to be ready to fight at all times, treat women as objects, and close off his emotional self. It wasn't until he discovered acting that he began to see the true cost of squelching one's emotions—and how aggression dominates everything that young males are taught.</a:t>
            </a:r>
            <a:br>
              <a:rPr lang="en-US" sz="1600" dirty="0" smtClean="0"/>
            </a:br>
            <a:r>
              <a:rPr lang="en-US" sz="1600" dirty="0" smtClean="0"/>
              <a:t/>
            </a:r>
            <a:br>
              <a:rPr lang="en-US" sz="1600" dirty="0" smtClean="0"/>
            </a:br>
            <a:r>
              <a:rPr lang="en-US" dirty="0" smtClean="0"/>
              <a:t/>
            </a:r>
            <a:br>
              <a:rPr lang="en-US" dirty="0" smtClean="0"/>
            </a:br>
            <a:endParaRPr lang="en-US" dirty="0"/>
          </a:p>
        </p:txBody>
      </p:sp>
    </p:spTree>
    <p:extLst>
      <p:ext uri="{BB962C8B-B14F-4D97-AF65-F5344CB8AC3E}">
        <p14:creationId xmlns="" xmlns:p14="http://schemas.microsoft.com/office/powerpoint/2010/main" val="42979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381000"/>
            <a:ext cx="5943600" cy="990600"/>
          </a:xfrm>
        </p:spPr>
        <p:txBody>
          <a:bodyPr>
            <a:normAutofit fontScale="90000"/>
          </a:bodyPr>
          <a:lstStyle/>
          <a:p>
            <a:r>
              <a:rPr lang="en-US" b="1" dirty="0" smtClean="0"/>
              <a:t>Videos that Speak Volumes</a:t>
            </a:r>
            <a:endParaRPr lang="en-US" b="1" dirty="0"/>
          </a:p>
        </p:txBody>
      </p:sp>
      <p:pic>
        <p:nvPicPr>
          <p:cNvPr id="2050" name="Picture 2" descr="http://ts1.mm.bing.net/th?id=I.4657355887084860&amp;pid=1.7&amp;w=219&amp;h=151&amp;c=7&amp;rs=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09600" y="152400"/>
            <a:ext cx="2085975" cy="1438275"/>
          </a:xfrm>
          <a:prstGeom prst="rect">
            <a:avLst/>
          </a:prstGeom>
          <a:noFill/>
          <a:extLst>
            <a:ext uri="{909E8E84-426E-40DD-AFC4-6F175D3DCCD1}">
              <a14:hiddenFill xmlns="" xmlns:a14="http://schemas.microsoft.com/office/drawing/2010/main">
                <a:solidFill>
                  <a:srgbClr val="FFFFFF"/>
                </a:solidFill>
              </a14:hiddenFill>
            </a:ext>
          </a:extLst>
        </p:spPr>
      </p:pic>
      <p:pic>
        <p:nvPicPr>
          <p:cNvPr id="3074"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94673" y="1267692"/>
            <a:ext cx="4267200" cy="26651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468317" y="1295400"/>
            <a:ext cx="4654140" cy="263953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623687" y="4027054"/>
            <a:ext cx="4343400" cy="2616101"/>
          </a:xfrm>
          <a:prstGeom prst="rect">
            <a:avLst/>
          </a:prstGeom>
          <a:noFill/>
        </p:spPr>
        <p:txBody>
          <a:bodyPr wrap="square" rtlCol="0">
            <a:spAutoFit/>
          </a:bodyPr>
          <a:lstStyle/>
          <a:p>
            <a:r>
              <a:rPr lang="en-US" sz="1600" b="1" dirty="0" err="1" smtClean="0"/>
              <a:t>TEDxIsfeld</a:t>
            </a:r>
            <a:r>
              <a:rPr lang="en-US" sz="1600" b="1" dirty="0" smtClean="0"/>
              <a:t> Bill </a:t>
            </a:r>
            <a:r>
              <a:rPr lang="en-US" sz="1600" b="1" dirty="0" err="1" smtClean="0"/>
              <a:t>Pozzobon</a:t>
            </a:r>
            <a:r>
              <a:rPr lang="en-US" sz="1600" b="1" dirty="0" smtClean="0"/>
              <a:t> Breaking the Boys Code of Masculinity </a:t>
            </a:r>
          </a:p>
          <a:p>
            <a:r>
              <a:rPr lang="en-US" sz="1600" dirty="0" smtClean="0"/>
              <a:t>Bill has worked on gender and violence issues with youth and educators for over a decade. In his role as Director of the </a:t>
            </a:r>
            <a:r>
              <a:rPr lang="en-US" sz="1600" dirty="0" err="1" smtClean="0"/>
              <a:t>SafeTeen</a:t>
            </a:r>
            <a:r>
              <a:rPr lang="en-US" sz="1600" dirty="0" smtClean="0"/>
              <a:t> Boy's Program, he trains the new </a:t>
            </a:r>
            <a:r>
              <a:rPr lang="en-US" sz="1600" dirty="0" err="1" smtClean="0"/>
              <a:t>SafeTeen</a:t>
            </a:r>
            <a:r>
              <a:rPr lang="en-US" sz="1600" dirty="0" smtClean="0"/>
              <a:t> Agents for Change and co-leads Educator Trainings locally, nationally and internationally. With </a:t>
            </a:r>
            <a:r>
              <a:rPr lang="en-US" sz="1600" dirty="0" err="1" smtClean="0"/>
              <a:t>humour</a:t>
            </a:r>
            <a:r>
              <a:rPr lang="en-US" sz="1600" dirty="0" smtClean="0"/>
              <a:t> and skill Bill invites the boys and men he works with to step into their full humanity with dignity and courage</a:t>
            </a:r>
            <a:endParaRPr lang="en-US" sz="1600" dirty="0"/>
          </a:p>
        </p:txBody>
      </p:sp>
      <p:sp>
        <p:nvSpPr>
          <p:cNvPr id="10" name="TextBox 9"/>
          <p:cNvSpPr txBox="1"/>
          <p:nvPr/>
        </p:nvSpPr>
        <p:spPr>
          <a:xfrm>
            <a:off x="94673" y="4027054"/>
            <a:ext cx="4343400" cy="2800767"/>
          </a:xfrm>
          <a:prstGeom prst="rect">
            <a:avLst/>
          </a:prstGeom>
          <a:noFill/>
        </p:spPr>
        <p:txBody>
          <a:bodyPr wrap="square" rtlCol="0">
            <a:spAutoFit/>
          </a:bodyPr>
          <a:lstStyle/>
          <a:p>
            <a:r>
              <a:rPr lang="en-US" sz="1600" b="1" dirty="0" smtClean="0"/>
              <a:t>The Moth Presents Anthony Griffith: The Best of Times, The Worst of Times </a:t>
            </a:r>
            <a:endParaRPr lang="en-US" sz="1600" dirty="0" smtClean="0">
              <a:hlinkClick r:id="rId5" tooltip="http://www.ted.com"/>
            </a:endParaRPr>
          </a:p>
          <a:p>
            <a:r>
              <a:rPr lang="en-US" sz="1600" dirty="0" smtClean="0"/>
              <a:t>Anthony Griffith lives in the mountains of California at 5,000 feet elevation in an animal protected community. It's much different from the inner city of Chicago where he used to live, but he still travels doing stand-up. He says that the overwhelming positive response of him telling his story at The Moth has prompted him to write my one man show and pen other short stories now in development.</a:t>
            </a:r>
            <a:endParaRPr lang="en-US" sz="1600" dirty="0"/>
          </a:p>
        </p:txBody>
      </p:sp>
    </p:spTree>
    <p:extLst>
      <p:ext uri="{BB962C8B-B14F-4D97-AF65-F5344CB8AC3E}">
        <p14:creationId xmlns="" xmlns:p14="http://schemas.microsoft.com/office/powerpoint/2010/main" val="29968124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401762"/>
          </a:xfrm>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r>
              <a:rPr lang="en-US" b="1" u="sng" dirty="0" smtClean="0"/>
              <a:t/>
            </a:r>
            <a:br>
              <a:rPr lang="en-US" b="1" u="sng" dirty="0" smtClean="0"/>
            </a:br>
            <a:endParaRPr lang="en-US" dirty="0"/>
          </a:p>
        </p:txBody>
      </p:sp>
      <p:sp>
        <p:nvSpPr>
          <p:cNvPr id="3" name="Content Placeholder 2"/>
          <p:cNvSpPr>
            <a:spLocks noGrp="1"/>
          </p:cNvSpPr>
          <p:nvPr>
            <p:ph idx="1"/>
          </p:nvPr>
        </p:nvSpPr>
        <p:spPr>
          <a:xfrm>
            <a:off x="457200" y="1295400"/>
            <a:ext cx="8229600" cy="5181600"/>
          </a:xfrm>
        </p:spPr>
        <p:txBody>
          <a:bodyPr>
            <a:normAutofit fontScale="32500" lnSpcReduction="20000"/>
          </a:bodyPr>
          <a:lstStyle/>
          <a:p>
            <a:pPr marL="0" indent="0">
              <a:buNone/>
            </a:pPr>
            <a:r>
              <a:rPr lang="en-US" sz="3700" dirty="0" smtClean="0"/>
              <a:t>By </a:t>
            </a:r>
            <a:r>
              <a:rPr lang="en-US" sz="3700" dirty="0"/>
              <a:t>Ben Atherton-</a:t>
            </a:r>
            <a:r>
              <a:rPr lang="en-US" sz="3700" dirty="0" err="1"/>
              <a:t>Zeman</a:t>
            </a:r>
            <a:r>
              <a:rPr lang="en-US" sz="3700" dirty="0"/>
              <a:t>, 2007 (</a:t>
            </a:r>
            <a:r>
              <a:rPr lang="en-US" sz="3700" u="sng" dirty="0">
                <a:hlinkClick r:id="rId2"/>
              </a:rPr>
              <a:t>www.voicesofmen.org</a:t>
            </a:r>
            <a:r>
              <a:rPr lang="en-US" dirty="0"/>
              <a:t>) </a:t>
            </a:r>
            <a:endParaRPr lang="en-US" dirty="0" smtClean="0"/>
          </a:p>
          <a:p>
            <a:pPr marL="0" indent="0">
              <a:buNone/>
            </a:pPr>
            <a:endParaRPr lang="en-US" dirty="0"/>
          </a:p>
          <a:p>
            <a:pPr marL="0" indent="0">
              <a:buNone/>
            </a:pPr>
            <a:r>
              <a:rPr lang="en-US" dirty="0"/>
              <a:t> </a:t>
            </a:r>
            <a:r>
              <a:rPr lang="en-US" sz="7200" b="1" dirty="0" smtClean="0">
                <a:solidFill>
                  <a:srgbClr val="FF0000"/>
                </a:solidFill>
              </a:rPr>
              <a:t>Myth </a:t>
            </a:r>
            <a:r>
              <a:rPr lang="en-US" sz="7200" b="1" dirty="0">
                <a:solidFill>
                  <a:srgbClr val="FF0000"/>
                </a:solidFill>
              </a:rPr>
              <a:t>1: It’s the victim/survivor’s fault.  </a:t>
            </a:r>
            <a:r>
              <a:rPr lang="en-US" sz="7200" dirty="0"/>
              <a:t>Because she wore a short skirt, went up to his room, was attracted to him, she deserved to be raped.  </a:t>
            </a:r>
          </a:p>
          <a:p>
            <a:pPr marL="0" indent="0">
              <a:buNone/>
            </a:pPr>
            <a:r>
              <a:rPr lang="en-US" sz="7200" dirty="0"/>
              <a:t> </a:t>
            </a:r>
          </a:p>
          <a:p>
            <a:pPr marL="0" indent="0">
              <a:buNone/>
            </a:pPr>
            <a:r>
              <a:rPr lang="en-US" sz="7200" b="1" dirty="0">
                <a:solidFill>
                  <a:srgbClr val="00B050"/>
                </a:solidFill>
              </a:rPr>
              <a:t>Reality Check 1:</a:t>
            </a:r>
            <a:r>
              <a:rPr lang="en-US" sz="7200" dirty="0">
                <a:solidFill>
                  <a:srgbClr val="00B050"/>
                </a:solidFill>
              </a:rPr>
              <a:t> </a:t>
            </a:r>
            <a:r>
              <a:rPr lang="en-US" sz="7200" dirty="0"/>
              <a:t>Rape is never the victim/survivor’s fault.  Girls and women get to wear anything they want to – it is never an excuse to rape them.  Girls and women get to be attracted to someone, get to go to someone’s room – she should be safe there.  Many victims of rape blame themselves for the rape – it’s up to the rest of us to say clearly that it’s never their fault, they’re not alone and that help is available.  </a:t>
            </a:r>
          </a:p>
          <a:p>
            <a:pPr marL="0" indent="0">
              <a:buNone/>
            </a:pPr>
            <a:r>
              <a:rPr lang="en-US" sz="7200" dirty="0"/>
              <a:t> </a:t>
            </a:r>
          </a:p>
          <a:p>
            <a:pPr marL="0" indent="0">
              <a:buNone/>
            </a:pPr>
            <a:r>
              <a:rPr lang="en-US" dirty="0"/>
              <a:t> </a:t>
            </a:r>
          </a:p>
          <a:p>
            <a:endParaRPr lang="en-US" dirty="0"/>
          </a:p>
        </p:txBody>
      </p:sp>
    </p:spTree>
    <p:extLst>
      <p:ext uri="{BB962C8B-B14F-4D97-AF65-F5344CB8AC3E}">
        <p14:creationId xmlns="" xmlns:p14="http://schemas.microsoft.com/office/powerpoint/2010/main" val="3366702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endParaRPr lang="en-US" dirty="0"/>
          </a:p>
        </p:txBody>
      </p:sp>
      <p:sp>
        <p:nvSpPr>
          <p:cNvPr id="5" name="Content Placeholder 4"/>
          <p:cNvSpPr>
            <a:spLocks noGrp="1"/>
          </p:cNvSpPr>
          <p:nvPr>
            <p:ph idx="1"/>
          </p:nvPr>
        </p:nvSpPr>
        <p:spPr/>
        <p:txBody>
          <a:bodyPr>
            <a:normAutofit fontScale="70000" lnSpcReduction="20000"/>
          </a:bodyPr>
          <a:lstStyle/>
          <a:p>
            <a:pPr marL="0" indent="0">
              <a:buNone/>
            </a:pPr>
            <a:r>
              <a:rPr lang="en-US" dirty="0" smtClean="0"/>
              <a:t>By Ben Atherton-</a:t>
            </a:r>
            <a:r>
              <a:rPr lang="en-US" dirty="0" err="1" smtClean="0"/>
              <a:t>Zeman</a:t>
            </a:r>
            <a:r>
              <a:rPr lang="en-US" dirty="0" smtClean="0"/>
              <a:t>, 2007 (</a:t>
            </a:r>
            <a:r>
              <a:rPr lang="en-US" u="sng" dirty="0" smtClean="0">
                <a:hlinkClick r:id="rId2"/>
              </a:rPr>
              <a:t>www.voicesofmen.org</a:t>
            </a:r>
            <a:r>
              <a:rPr lang="en-US" dirty="0" smtClean="0"/>
              <a:t>)</a:t>
            </a:r>
          </a:p>
          <a:p>
            <a:pPr marL="0" indent="0">
              <a:buNone/>
            </a:pPr>
            <a:r>
              <a:rPr lang="en-US" dirty="0" smtClean="0"/>
              <a:t> </a:t>
            </a:r>
          </a:p>
          <a:p>
            <a:pPr marL="0" indent="0">
              <a:buNone/>
            </a:pPr>
            <a:r>
              <a:rPr lang="en-US" b="1" dirty="0" smtClean="0">
                <a:solidFill>
                  <a:srgbClr val="FF0000"/>
                </a:solidFill>
              </a:rPr>
              <a:t>Myth 2:</a:t>
            </a:r>
            <a:r>
              <a:rPr lang="en-US" dirty="0" smtClean="0">
                <a:solidFill>
                  <a:srgbClr val="FF0000"/>
                </a:solidFill>
              </a:rPr>
              <a:t> </a:t>
            </a:r>
            <a:r>
              <a:rPr lang="en-US" b="1" dirty="0" smtClean="0">
                <a:solidFill>
                  <a:srgbClr val="FF0000"/>
                </a:solidFill>
              </a:rPr>
              <a:t>Victim/survivors are all beautiful young women, who respond to being raped by crying.  </a:t>
            </a:r>
            <a:endParaRPr lang="en-US" dirty="0" smtClean="0">
              <a:solidFill>
                <a:srgbClr val="FF0000"/>
              </a:solidFill>
            </a:endParaRPr>
          </a:p>
          <a:p>
            <a:pPr marL="0" indent="0">
              <a:buNone/>
            </a:pPr>
            <a:r>
              <a:rPr lang="en-US" dirty="0" smtClean="0"/>
              <a:t> </a:t>
            </a:r>
          </a:p>
          <a:p>
            <a:pPr marL="0" indent="0">
              <a:buNone/>
            </a:pPr>
            <a:r>
              <a:rPr lang="en-US" b="1" dirty="0" smtClean="0">
                <a:solidFill>
                  <a:srgbClr val="00B050"/>
                </a:solidFill>
              </a:rPr>
              <a:t>Reality Check 2:</a:t>
            </a:r>
            <a:r>
              <a:rPr lang="en-US" dirty="0" smtClean="0">
                <a:solidFill>
                  <a:srgbClr val="00B050"/>
                </a:solidFill>
              </a:rPr>
              <a:t> </a:t>
            </a:r>
            <a:r>
              <a:rPr lang="en-US" dirty="0" smtClean="0"/>
              <a:t>Rape and sexual assault can happen to women, men, and children.  It can happen to straight people, lesbians, gay men, bisexuals and transgender folks.  Most rapists are men – but most men do not rape, and can become part of the movement to end sexual violence.  Every rape victim/survivor will respond in different ways to their rape – some will seem traumatized, some will seem numb, many will blame themselves.  Some will pass judgment on victim/survivors, but we must support them.  </a:t>
            </a:r>
          </a:p>
          <a:p>
            <a:pPr marL="0" indent="0">
              <a:buNone/>
            </a:pPr>
            <a:r>
              <a:rPr lang="en-US" dirty="0" smtClean="0"/>
              <a: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endParaRPr lang="en-US" dirty="0"/>
          </a:p>
        </p:txBody>
      </p:sp>
      <p:sp>
        <p:nvSpPr>
          <p:cNvPr id="3" name="Content Placeholder 2"/>
          <p:cNvSpPr>
            <a:spLocks noGrp="1"/>
          </p:cNvSpPr>
          <p:nvPr>
            <p:ph idx="1"/>
          </p:nvPr>
        </p:nvSpPr>
        <p:spPr/>
        <p:txBody>
          <a:bodyPr>
            <a:noAutofit/>
          </a:bodyPr>
          <a:lstStyle/>
          <a:p>
            <a:pPr marL="0" indent="0">
              <a:buNone/>
            </a:pPr>
            <a:r>
              <a:rPr lang="en-US" sz="1800" dirty="0" smtClean="0"/>
              <a:t>By Ben Atherton-</a:t>
            </a:r>
            <a:r>
              <a:rPr lang="en-US" sz="1800" dirty="0" err="1" smtClean="0"/>
              <a:t>Zeman</a:t>
            </a:r>
            <a:r>
              <a:rPr lang="en-US" sz="1800" dirty="0" smtClean="0"/>
              <a:t>, 2007 (</a:t>
            </a:r>
            <a:r>
              <a:rPr lang="en-US" sz="1800" u="sng" dirty="0" smtClean="0">
                <a:hlinkClick r:id="rId2"/>
              </a:rPr>
              <a:t>www.voicesofmen.org</a:t>
            </a:r>
            <a:r>
              <a:rPr lang="en-US" sz="1800" dirty="0" smtClean="0"/>
              <a:t>)</a:t>
            </a:r>
          </a:p>
          <a:p>
            <a:pPr marL="0" indent="0">
              <a:buNone/>
            </a:pPr>
            <a:endParaRPr lang="en-US" sz="1800" b="1" dirty="0" smtClean="0">
              <a:solidFill>
                <a:srgbClr val="FF0000"/>
              </a:solidFill>
            </a:endParaRPr>
          </a:p>
          <a:p>
            <a:pPr marL="0" indent="0">
              <a:buNone/>
            </a:pPr>
            <a:r>
              <a:rPr lang="en-US" sz="2400" b="1" dirty="0" smtClean="0">
                <a:solidFill>
                  <a:srgbClr val="FF0000"/>
                </a:solidFill>
              </a:rPr>
              <a:t>Myth 3: Rapists are all ugly, leering men on a dark street corner.</a:t>
            </a:r>
            <a:r>
              <a:rPr lang="en-US" sz="2400" dirty="0" smtClean="0">
                <a:solidFill>
                  <a:srgbClr val="FF0000"/>
                </a:solidFill>
              </a:rPr>
              <a:t> </a:t>
            </a:r>
          </a:p>
          <a:p>
            <a:pPr marL="0" indent="0">
              <a:buNone/>
            </a:pPr>
            <a:r>
              <a:rPr lang="en-US" sz="2400" dirty="0" smtClean="0"/>
              <a:t> </a:t>
            </a:r>
          </a:p>
          <a:p>
            <a:pPr marL="0" indent="0">
              <a:buNone/>
            </a:pPr>
            <a:r>
              <a:rPr lang="en-US" sz="2400" b="1" dirty="0" smtClean="0">
                <a:solidFill>
                  <a:srgbClr val="00B050"/>
                </a:solidFill>
              </a:rPr>
              <a:t>Reality Check 3:</a:t>
            </a:r>
            <a:r>
              <a:rPr lang="en-US" sz="2400" dirty="0" smtClean="0">
                <a:solidFill>
                  <a:srgbClr val="00B050"/>
                </a:solidFill>
              </a:rPr>
              <a:t> </a:t>
            </a:r>
            <a:r>
              <a:rPr lang="en-US" sz="2400" dirty="0" smtClean="0"/>
              <a:t>Rapists, like batterers, can be charming, convincing and “model citizens.”  Most rapists’ parents and friends will defend the rapist, and might attack the survivor – challenging “her version” of the story.  This myth of rapists helps charming rapists garner sympathy and collusion – any rapist should be held accountable, even if he is a “good guy.”  </a:t>
            </a:r>
          </a:p>
          <a:p>
            <a:pPr marL="0" indent="0">
              <a:buNone/>
            </a:pPr>
            <a:endParaRPr lang="en-US" sz="1800" b="1" dirty="0" smtClean="0"/>
          </a:p>
          <a:p>
            <a:pPr marL="0" indent="0">
              <a:buNone/>
            </a:pPr>
            <a:r>
              <a:rPr lang="en-US" sz="1800" dirty="0" smtClean="0"/>
              <a:t> </a:t>
            </a:r>
          </a:p>
          <a:p>
            <a:endParaRPr lang="en-US" sz="1800" dirty="0"/>
          </a:p>
        </p:txBody>
      </p:sp>
    </p:spTree>
    <p:extLst>
      <p:ext uri="{BB962C8B-B14F-4D97-AF65-F5344CB8AC3E}">
        <p14:creationId xmlns="" xmlns:p14="http://schemas.microsoft.com/office/powerpoint/2010/main" val="41376000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solidFill>
                  <a:srgbClr val="FF0000"/>
                </a:solidFill>
              </a:rPr>
              <a:t>Myth 4: A stranger jumping out from behind a bush using physical force is the worst form of rape.</a:t>
            </a:r>
            <a:endParaRPr lang="en-US" dirty="0" smtClean="0">
              <a:solidFill>
                <a:srgbClr val="FF0000"/>
              </a:solidFill>
            </a:endParaRPr>
          </a:p>
          <a:p>
            <a:pPr marL="0" indent="0">
              <a:buNone/>
            </a:pPr>
            <a:r>
              <a:rPr lang="en-US" dirty="0" smtClean="0"/>
              <a:t> </a:t>
            </a:r>
          </a:p>
          <a:p>
            <a:pPr marL="0" indent="0">
              <a:buNone/>
            </a:pPr>
            <a:r>
              <a:rPr lang="en-US" b="1" dirty="0" smtClean="0">
                <a:solidFill>
                  <a:srgbClr val="00B050"/>
                </a:solidFill>
              </a:rPr>
              <a:t>Reality Check 4:</a:t>
            </a:r>
            <a:r>
              <a:rPr lang="en-US" dirty="0" smtClean="0">
                <a:solidFill>
                  <a:srgbClr val="00B050"/>
                </a:solidFill>
              </a:rPr>
              <a:t> </a:t>
            </a:r>
            <a:r>
              <a:rPr lang="en-US" dirty="0" smtClean="0"/>
              <a:t>Most rapists know their victim – many are trusted friends and family members.  Certainly stranger rape is very difficult for the survivor, but when the rapist is someone they know, the trauma can be as bad, or even worse.  Many rapists do not use physical force – they use coercion and cajoling, alcohol and drugs.  Survivors who succumbed to coercion often blame themselves for letting the person in the door, for drinking, for not saying no more strenuously – again, it is the rapist’s fault, not the survivor’s.  </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endParaRPr lang="en-US" dirty="0"/>
          </a:p>
        </p:txBody>
      </p:sp>
      <p:sp>
        <p:nvSpPr>
          <p:cNvPr id="3" name="Content Placeholder 2"/>
          <p:cNvSpPr>
            <a:spLocks noGrp="1"/>
          </p:cNvSpPr>
          <p:nvPr>
            <p:ph idx="1"/>
          </p:nvPr>
        </p:nvSpPr>
        <p:spPr/>
        <p:txBody>
          <a:bodyPr>
            <a:normAutofit fontScale="70000" lnSpcReduction="20000"/>
          </a:bodyPr>
          <a:lstStyle/>
          <a:p>
            <a:endParaRPr lang="en-US" sz="3800" b="1" dirty="0" smtClean="0">
              <a:solidFill>
                <a:srgbClr val="FF0000"/>
              </a:solidFill>
            </a:endParaRPr>
          </a:p>
          <a:p>
            <a:pPr marL="0" indent="0">
              <a:buNone/>
            </a:pPr>
            <a:r>
              <a:rPr lang="en-US" sz="3300" b="1" dirty="0" smtClean="0">
                <a:solidFill>
                  <a:srgbClr val="FF0000"/>
                </a:solidFill>
              </a:rPr>
              <a:t>Myth 5: Sexual assault and rape are usually “he said/she said” communication problems.</a:t>
            </a:r>
            <a:endParaRPr lang="en-US" sz="3300" dirty="0" smtClean="0">
              <a:solidFill>
                <a:srgbClr val="FF0000"/>
              </a:solidFill>
            </a:endParaRPr>
          </a:p>
          <a:p>
            <a:pPr marL="0" indent="0">
              <a:buNone/>
            </a:pPr>
            <a:r>
              <a:rPr lang="en-US" sz="3300" dirty="0" smtClean="0"/>
              <a:t> </a:t>
            </a:r>
          </a:p>
          <a:p>
            <a:pPr marL="0" indent="0">
              <a:buNone/>
            </a:pPr>
            <a:r>
              <a:rPr lang="en-US" sz="3300" b="1" dirty="0" smtClean="0">
                <a:solidFill>
                  <a:srgbClr val="00B050"/>
                </a:solidFill>
              </a:rPr>
              <a:t>Reality Check 5:</a:t>
            </a:r>
            <a:r>
              <a:rPr lang="en-US" sz="3300" dirty="0" smtClean="0">
                <a:solidFill>
                  <a:srgbClr val="00B050"/>
                </a:solidFill>
              </a:rPr>
              <a:t> </a:t>
            </a:r>
            <a:r>
              <a:rPr lang="en-US" sz="3300" dirty="0" smtClean="0"/>
              <a:t>There are many ways to say “No,” both verbal and nonverbal.  Rapists choose to continue despite receiving clear messages that the person they are with is uncomfortable – they choose to try to “make them relax” rather than backing off.  Many rapists will testify that the sex was consensual – usually this is the rapist minimizing the extent that they pressured or cajoled the victim/survivor.  </a:t>
            </a:r>
          </a:p>
          <a:p>
            <a:pPr marL="0" indent="0">
              <a:buNone/>
            </a:pPr>
            <a:r>
              <a:rPr lang="en-US" sz="3300" dirty="0" smtClean="0">
                <a:solidFill>
                  <a:srgbClr val="FF0000"/>
                </a:solidFill>
              </a:rPr>
              <a:t> </a:t>
            </a:r>
            <a:endParaRPr lang="en-US" sz="3300" b="1" dirty="0" smtClean="0">
              <a:solidFill>
                <a:srgbClr val="FF0000"/>
              </a:solidFill>
            </a:endParaRPr>
          </a:p>
          <a:p>
            <a:endParaRPr lang="en-US" dirty="0"/>
          </a:p>
        </p:txBody>
      </p:sp>
    </p:spTree>
    <p:extLst>
      <p:ext uri="{BB962C8B-B14F-4D97-AF65-F5344CB8AC3E}">
        <p14:creationId xmlns="" xmlns:p14="http://schemas.microsoft.com/office/powerpoint/2010/main" val="9184105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solidFill>
                  <a:srgbClr val="FF0000"/>
                </a:solidFill>
              </a:rPr>
              <a:t>Myth 6: Men can’t be expected to stop when they are aroused.  </a:t>
            </a:r>
            <a:endParaRPr lang="en-US" dirty="0" smtClean="0">
              <a:solidFill>
                <a:srgbClr val="FF0000"/>
              </a:solidFill>
            </a:endParaRPr>
          </a:p>
          <a:p>
            <a:pPr marL="0" indent="0">
              <a:buNone/>
            </a:pPr>
            <a:r>
              <a:rPr lang="en-US" dirty="0" smtClean="0"/>
              <a:t> </a:t>
            </a:r>
          </a:p>
          <a:p>
            <a:pPr marL="0" indent="0">
              <a:buNone/>
            </a:pPr>
            <a:r>
              <a:rPr lang="en-US" b="1" dirty="0" smtClean="0">
                <a:solidFill>
                  <a:srgbClr val="00B050"/>
                </a:solidFill>
              </a:rPr>
              <a:t>Reality Check 6: </a:t>
            </a:r>
            <a:r>
              <a:rPr lang="en-US" dirty="0" smtClean="0"/>
              <a:t>Guys – imagine yourself in high school.  You have a girlfriend and you’re at her house, kissing.  Her parents suddenly come home.  You would stop then!  So you can stop when she wants you to.</a:t>
            </a:r>
          </a:p>
          <a:p>
            <a:pPr marL="0" indent="0">
              <a:buNone/>
            </a:pPr>
            <a:r>
              <a:rPr lang="en-US" dirty="0" smtClean="0"/>
              <a:t>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u="sng" dirty="0" smtClean="0">
                <a:solidFill>
                  <a:schemeClr val="tx2">
                    <a:lumMod val="60000"/>
                    <a:lumOff val="40000"/>
                  </a:schemeClr>
                </a:solidFill>
              </a:rPr>
              <a:t>Some Major Myths About </a:t>
            </a:r>
            <a:br>
              <a:rPr lang="en-US" b="1" u="sng" dirty="0" smtClean="0">
                <a:solidFill>
                  <a:schemeClr val="tx2">
                    <a:lumMod val="60000"/>
                    <a:lumOff val="40000"/>
                  </a:schemeClr>
                </a:solidFill>
              </a:rPr>
            </a:br>
            <a:r>
              <a:rPr lang="en-US" b="1" u="sng" dirty="0" smtClean="0">
                <a:solidFill>
                  <a:schemeClr val="tx2">
                    <a:lumMod val="60000"/>
                    <a:lumOff val="40000"/>
                  </a:schemeClr>
                </a:solidFill>
              </a:rPr>
              <a:t>Sexual Violence</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solidFill>
                  <a:srgbClr val="FF0000"/>
                </a:solidFill>
              </a:rPr>
              <a:t>Myth 7: Anti-rape advocates are also anti-male.  </a:t>
            </a:r>
            <a:endParaRPr lang="en-US" dirty="0" smtClean="0">
              <a:solidFill>
                <a:srgbClr val="FF0000"/>
              </a:solidFill>
            </a:endParaRPr>
          </a:p>
          <a:p>
            <a:pPr marL="0" indent="0">
              <a:buNone/>
            </a:pPr>
            <a:r>
              <a:rPr lang="en-US" dirty="0" smtClean="0"/>
              <a:t> </a:t>
            </a:r>
          </a:p>
          <a:p>
            <a:pPr marL="0" indent="0">
              <a:buNone/>
            </a:pPr>
            <a:r>
              <a:rPr lang="en-US" b="1" dirty="0" smtClean="0">
                <a:solidFill>
                  <a:srgbClr val="00B050"/>
                </a:solidFill>
              </a:rPr>
              <a:t>Reality Check 7: </a:t>
            </a:r>
            <a:r>
              <a:rPr lang="en-US" dirty="0" smtClean="0"/>
              <a:t>Holding men accountable to our behavior is not anti-male – it is anti-rape.  Since most rapists are men, it is our responsibility as a gender to support survivors and speak out against rape.  We need to make these issues “men’s issues” and support women who have been taking leadership in this movement for so many years.  We need to interrupt rape-supportive behavior such as sexist jokes, pornography, degrading and objectifying images of women, sexism, racism, homophobia, etc.  We need to support our local rape crisis center, and groups like Men Can Stop Rape </a:t>
            </a:r>
            <a:r>
              <a:rPr lang="en-US" u="sng" dirty="0" smtClean="0">
                <a:hlinkClick r:id="rId2"/>
              </a:rPr>
              <a:t>www.mencanstoprape.org</a:t>
            </a:r>
            <a:r>
              <a:rPr lang="en-US" dirty="0" smtClean="0"/>
              <a:t>.  We need to keep raising our voices until this violence stops.  </a:t>
            </a:r>
          </a:p>
          <a:p>
            <a:endParaRPr lang="en-US" dirty="0"/>
          </a:p>
        </p:txBody>
      </p:sp>
    </p:spTree>
    <p:extLst>
      <p:ext uri="{BB962C8B-B14F-4D97-AF65-F5344CB8AC3E}">
        <p14:creationId xmlns="" xmlns:p14="http://schemas.microsoft.com/office/powerpoint/2010/main" val="40058856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Organizations</a:t>
            </a:r>
            <a:endParaRPr lang="en-US" dirty="0"/>
          </a:p>
        </p:txBody>
      </p:sp>
      <p:sp>
        <p:nvSpPr>
          <p:cNvPr id="3" name="Content Placeholder 2"/>
          <p:cNvSpPr>
            <a:spLocks noGrp="1"/>
          </p:cNvSpPr>
          <p:nvPr>
            <p:ph idx="1"/>
          </p:nvPr>
        </p:nvSpPr>
        <p:spPr>
          <a:xfrm>
            <a:off x="457200" y="1371600"/>
            <a:ext cx="8229600" cy="5181600"/>
          </a:xfrm>
        </p:spPr>
        <p:txBody>
          <a:bodyPr>
            <a:noAutofit/>
          </a:bodyPr>
          <a:lstStyle/>
          <a:p>
            <a:pPr marL="0" indent="0">
              <a:lnSpc>
                <a:spcPct val="120000"/>
              </a:lnSpc>
              <a:buNone/>
            </a:pPr>
            <a:r>
              <a:rPr lang="en-US" sz="800" b="1" dirty="0"/>
              <a:t>Voices of Men</a:t>
            </a:r>
          </a:p>
          <a:p>
            <a:pPr marL="0" indent="0">
              <a:lnSpc>
                <a:spcPct val="120000"/>
              </a:lnSpc>
              <a:buNone/>
            </a:pPr>
            <a:r>
              <a:rPr lang="en-US" sz="800" dirty="0"/>
              <a:t>By Ben Atherton-</a:t>
            </a:r>
            <a:r>
              <a:rPr lang="en-US" sz="800" dirty="0" err="1"/>
              <a:t>Zeman</a:t>
            </a:r>
            <a:r>
              <a:rPr lang="en-US" sz="800" dirty="0"/>
              <a:t>, </a:t>
            </a:r>
            <a:r>
              <a:rPr lang="en-US" sz="800" u="sng" dirty="0">
                <a:hlinkClick r:id="rId2"/>
              </a:rPr>
              <a:t>benazeman@hotmail.com</a:t>
            </a:r>
            <a:r>
              <a:rPr lang="en-US" sz="800" dirty="0"/>
              <a:t>, </a:t>
            </a:r>
            <a:r>
              <a:rPr lang="en-US" sz="800" u="sng" dirty="0">
                <a:hlinkClick r:id="rId3"/>
              </a:rPr>
              <a:t>www.voicesofmen.org</a:t>
            </a:r>
            <a:r>
              <a:rPr lang="en-US" sz="800" dirty="0"/>
              <a:t> </a:t>
            </a:r>
          </a:p>
          <a:p>
            <a:pPr marL="0" indent="0" algn="ctr">
              <a:lnSpc>
                <a:spcPct val="120000"/>
              </a:lnSpc>
              <a:buNone/>
            </a:pPr>
            <a:r>
              <a:rPr lang="en-US" sz="1100" b="1" i="1" dirty="0"/>
              <a:t>I pledge to never commit, condone, or remain silent about men’s violence against women.</a:t>
            </a:r>
            <a:endParaRPr lang="en-US" sz="1100" dirty="0"/>
          </a:p>
          <a:p>
            <a:pPr marL="0" indent="0" algn="ctr">
              <a:lnSpc>
                <a:spcPct val="120000"/>
              </a:lnSpc>
              <a:buNone/>
            </a:pPr>
            <a:r>
              <a:rPr lang="en-US" sz="1100" b="1" i="1" dirty="0"/>
              <a:t>I pledge to never coerce anyone I know into having sex, or to pressure them into any kind of unwanted physical contact.</a:t>
            </a:r>
            <a:endParaRPr lang="en-US" sz="1100" dirty="0"/>
          </a:p>
          <a:p>
            <a:pPr marL="0" indent="0" algn="ctr">
              <a:lnSpc>
                <a:spcPct val="120000"/>
              </a:lnSpc>
              <a:buNone/>
            </a:pPr>
            <a:r>
              <a:rPr lang="en-US" sz="1100" b="1" i="1" dirty="0"/>
              <a:t>I will always seek clear communication instead of assuming consent.</a:t>
            </a:r>
            <a:endParaRPr lang="en-US" sz="1100" dirty="0"/>
          </a:p>
          <a:p>
            <a:pPr marL="0" indent="0" algn="ctr">
              <a:lnSpc>
                <a:spcPct val="120000"/>
              </a:lnSpc>
              <a:buNone/>
            </a:pPr>
            <a:r>
              <a:rPr lang="en-US" sz="1100" b="1" i="1" dirty="0"/>
              <a:t>I choose to respect, listen to and seek equality with every person I date, and every person I know</a:t>
            </a:r>
            <a:r>
              <a:rPr lang="en-US" sz="1100" b="1" i="1" dirty="0" smtClean="0"/>
              <a:t>.</a:t>
            </a:r>
            <a:endParaRPr lang="en-US" sz="1100" dirty="0"/>
          </a:p>
          <a:p>
            <a:pPr lvl="0">
              <a:lnSpc>
                <a:spcPct val="120000"/>
              </a:lnSpc>
            </a:pPr>
            <a:endParaRPr lang="en-US" sz="1100" b="1" dirty="0" smtClean="0"/>
          </a:p>
          <a:p>
            <a:pPr lvl="0">
              <a:lnSpc>
                <a:spcPct val="120000"/>
              </a:lnSpc>
            </a:pPr>
            <a:r>
              <a:rPr lang="en-US" sz="1300" b="1" dirty="0" smtClean="0"/>
              <a:t>National </a:t>
            </a:r>
            <a:r>
              <a:rPr lang="en-US" sz="1300" b="1" dirty="0"/>
              <a:t>Organization for Men Against Sexism</a:t>
            </a:r>
            <a:r>
              <a:rPr lang="en-US" sz="1300" dirty="0"/>
              <a:t>: </a:t>
            </a:r>
            <a:r>
              <a:rPr lang="en-US" sz="1300" u="sng" dirty="0">
                <a:hlinkClick r:id="rId4"/>
              </a:rPr>
              <a:t>www.nomas.org</a:t>
            </a:r>
            <a:r>
              <a:rPr lang="en-US" sz="1300" dirty="0"/>
              <a:t>.  Become a dues-paying member, form a chapter. </a:t>
            </a:r>
          </a:p>
          <a:p>
            <a:pPr lvl="0">
              <a:lnSpc>
                <a:spcPct val="120000"/>
              </a:lnSpc>
            </a:pPr>
            <a:r>
              <a:rPr lang="en-US" sz="1300" b="1" dirty="0"/>
              <a:t>White Ribbon Campaign</a:t>
            </a:r>
            <a:r>
              <a:rPr lang="en-US" sz="1300" dirty="0"/>
              <a:t>, </a:t>
            </a:r>
            <a:r>
              <a:rPr lang="en-US" sz="1300" u="sng" dirty="0">
                <a:hlinkClick r:id="rId5"/>
              </a:rPr>
              <a:t>www.whiteribbon.com</a:t>
            </a:r>
            <a:r>
              <a:rPr lang="en-US" sz="1300" dirty="0"/>
              <a:t>, based in Canada but works well here, excellent organizer’s manual.  Self-adhesive white ribbons can be ordered at </a:t>
            </a:r>
            <a:r>
              <a:rPr lang="en-US" sz="1300" u="sng" dirty="0">
                <a:hlinkClick r:id="rId6"/>
              </a:rPr>
              <a:t>www.theribbonlady.com</a:t>
            </a:r>
            <a:r>
              <a:rPr lang="en-US" sz="1300" dirty="0"/>
              <a:t>. </a:t>
            </a:r>
          </a:p>
          <a:p>
            <a:pPr lvl="0">
              <a:lnSpc>
                <a:spcPct val="120000"/>
              </a:lnSpc>
            </a:pPr>
            <a:r>
              <a:rPr lang="en-US" sz="1300" b="1" dirty="0"/>
              <a:t>Men Can Stop Rape</a:t>
            </a:r>
            <a:r>
              <a:rPr lang="en-US" sz="1300" dirty="0"/>
              <a:t>: </a:t>
            </a:r>
            <a:r>
              <a:rPr lang="en-US" sz="1300" u="sng" dirty="0">
                <a:hlinkClick r:id="rId7"/>
              </a:rPr>
              <a:t>www.mencanstoprape.org</a:t>
            </a:r>
            <a:r>
              <a:rPr lang="en-US" sz="1300" dirty="0"/>
              <a:t>,  has an excellent e-newsletter and an “Anti-Rape Man” comic.  The “Strength Campaign” posters used in the play are available here.  </a:t>
            </a:r>
          </a:p>
          <a:p>
            <a:pPr lvl="0">
              <a:lnSpc>
                <a:spcPct val="120000"/>
              </a:lnSpc>
            </a:pPr>
            <a:r>
              <a:rPr lang="en-US" sz="1300" b="1" dirty="0"/>
              <a:t>Men Against Violence</a:t>
            </a:r>
            <a:r>
              <a:rPr lang="en-US" sz="1300" dirty="0"/>
              <a:t> is a Yahoo Group of more than 250 people – send an email requesting to join to </a:t>
            </a:r>
            <a:r>
              <a:rPr lang="en-US" sz="1300" u="sng" dirty="0">
                <a:hlinkClick r:id="rId8"/>
              </a:rPr>
              <a:t>menagainstviolence@yahoogroups.com</a:t>
            </a:r>
            <a:r>
              <a:rPr lang="en-US" sz="1300" dirty="0"/>
              <a:t>.</a:t>
            </a:r>
          </a:p>
          <a:p>
            <a:pPr lvl="0">
              <a:lnSpc>
                <a:spcPct val="120000"/>
              </a:lnSpc>
            </a:pPr>
            <a:r>
              <a:rPr lang="en-US" sz="1300" b="1" dirty="0"/>
              <a:t>National Association of Men and Women Committed to Ending Violence Against Women</a:t>
            </a:r>
            <a:r>
              <a:rPr lang="en-US" sz="1300" dirty="0"/>
              <a:t>: </a:t>
            </a:r>
            <a:r>
              <a:rPr lang="en-US" sz="1300" u="sng" dirty="0">
                <a:hlinkClick r:id="rId9"/>
              </a:rPr>
              <a:t>www.acalltomen.org</a:t>
            </a:r>
            <a:r>
              <a:rPr lang="en-US" sz="1300" dirty="0"/>
              <a:t> </a:t>
            </a:r>
          </a:p>
          <a:p>
            <a:pPr lvl="0">
              <a:lnSpc>
                <a:spcPct val="120000"/>
              </a:lnSpc>
            </a:pPr>
            <a:r>
              <a:rPr lang="en-US" sz="1300" b="1" dirty="0"/>
              <a:t>National Coalition Against Domestic Violence</a:t>
            </a:r>
            <a:r>
              <a:rPr lang="en-US" sz="1300" dirty="0"/>
              <a:t> holds national conferences every two years: </a:t>
            </a:r>
            <a:r>
              <a:rPr lang="en-US" sz="1300" u="sng" dirty="0">
                <a:hlinkClick r:id="rId10"/>
              </a:rPr>
              <a:t>www.ncadv.org</a:t>
            </a:r>
            <a:r>
              <a:rPr lang="en-US" sz="1300" dirty="0"/>
              <a:t> </a:t>
            </a:r>
          </a:p>
          <a:p>
            <a:pPr lvl="0">
              <a:lnSpc>
                <a:spcPct val="120000"/>
              </a:lnSpc>
            </a:pPr>
            <a:r>
              <a:rPr lang="en-US" sz="1300" b="1" dirty="0"/>
              <a:t>Family Violence Prevention Fund</a:t>
            </a:r>
            <a:r>
              <a:rPr lang="en-US" sz="1300" dirty="0"/>
              <a:t>: </a:t>
            </a:r>
            <a:r>
              <a:rPr lang="en-US" sz="1300" u="sng" dirty="0">
                <a:hlinkClick r:id="rId11"/>
              </a:rPr>
              <a:t>www.endabuse.org</a:t>
            </a:r>
            <a:r>
              <a:rPr lang="en-US" sz="1300" dirty="0"/>
              <a:t>, has television PSAs that you can get for your town.</a:t>
            </a:r>
          </a:p>
          <a:p>
            <a:pPr lvl="0">
              <a:lnSpc>
                <a:spcPct val="120000"/>
              </a:lnSpc>
            </a:pPr>
            <a:r>
              <a:rPr lang="en-US" sz="1300" b="1" dirty="0"/>
              <a:t>National Resource Center on Domestic Violence</a:t>
            </a:r>
            <a:r>
              <a:rPr lang="en-US" sz="1300" dirty="0"/>
              <a:t>: </a:t>
            </a:r>
            <a:r>
              <a:rPr lang="en-US" sz="1300" u="sng" dirty="0">
                <a:hlinkClick r:id="rId12"/>
              </a:rPr>
              <a:t>www.nrcdv.org</a:t>
            </a:r>
            <a:r>
              <a:rPr lang="en-US" sz="1300" dirty="0"/>
              <a:t>, or call them at 800-537-2238 </a:t>
            </a:r>
            <a:r>
              <a:rPr lang="en-US" sz="1100" dirty="0"/>
              <a:t>for info.  </a:t>
            </a:r>
          </a:p>
        </p:txBody>
      </p:sp>
    </p:spTree>
    <p:extLst>
      <p:ext uri="{BB962C8B-B14F-4D97-AF65-F5344CB8AC3E}">
        <p14:creationId xmlns="" xmlns:p14="http://schemas.microsoft.com/office/powerpoint/2010/main" val="8060674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Organizations - Continued</a:t>
            </a:r>
            <a:endParaRPr lang="en-US" dirty="0"/>
          </a:p>
        </p:txBody>
      </p:sp>
      <p:sp>
        <p:nvSpPr>
          <p:cNvPr id="3" name="Content Placeholder 2"/>
          <p:cNvSpPr>
            <a:spLocks noGrp="1"/>
          </p:cNvSpPr>
          <p:nvPr>
            <p:ph idx="1"/>
          </p:nvPr>
        </p:nvSpPr>
        <p:spPr/>
        <p:txBody>
          <a:bodyPr>
            <a:normAutofit fontScale="40000" lnSpcReduction="20000"/>
          </a:bodyPr>
          <a:lstStyle/>
          <a:p>
            <a:pPr lvl="0">
              <a:lnSpc>
                <a:spcPct val="120000"/>
              </a:lnSpc>
            </a:pPr>
            <a:r>
              <a:rPr lang="en-US" b="1" dirty="0"/>
              <a:t>Men Against Sexual Violence</a:t>
            </a:r>
            <a:r>
              <a:rPr lang="en-US" dirty="0"/>
              <a:t>: a project of  PA Coalition Against Rape.  </a:t>
            </a:r>
            <a:r>
              <a:rPr lang="en-US" u="sng" dirty="0">
                <a:hlinkClick r:id="rId2"/>
              </a:rPr>
              <a:t>www.menagainstsexualviolence.org</a:t>
            </a:r>
            <a:r>
              <a:rPr lang="en-US" dirty="0"/>
              <a:t> </a:t>
            </a:r>
          </a:p>
          <a:p>
            <a:pPr lvl="0">
              <a:lnSpc>
                <a:spcPct val="120000"/>
              </a:lnSpc>
            </a:pPr>
            <a:r>
              <a:rPr lang="en-US" b="1" dirty="0"/>
              <a:t>Faith-Trust Institute</a:t>
            </a:r>
            <a:r>
              <a:rPr lang="en-US" dirty="0"/>
              <a:t>: </a:t>
            </a:r>
            <a:r>
              <a:rPr lang="en-US" u="sng" dirty="0">
                <a:hlinkClick r:id="rId3"/>
              </a:rPr>
              <a:t>http://www.cpsdv.org/</a:t>
            </a:r>
            <a:r>
              <a:rPr lang="en-US" dirty="0"/>
              <a:t>, faith-based responses to domestic violence, sexual assault, etc.</a:t>
            </a:r>
          </a:p>
          <a:p>
            <a:pPr lvl="0">
              <a:lnSpc>
                <a:spcPct val="120000"/>
              </a:lnSpc>
            </a:pPr>
            <a:r>
              <a:rPr lang="en-US" b="1" dirty="0"/>
              <a:t>National Organization for Women </a:t>
            </a:r>
            <a:r>
              <a:rPr lang="en-US" dirty="0"/>
              <a:t>has chapters in every state and welcomes males: </a:t>
            </a:r>
            <a:r>
              <a:rPr lang="en-US" u="sng" dirty="0">
                <a:hlinkClick r:id="rId4"/>
              </a:rPr>
              <a:t>www.now.org</a:t>
            </a:r>
            <a:r>
              <a:rPr lang="en-US" dirty="0"/>
              <a:t> </a:t>
            </a:r>
          </a:p>
          <a:p>
            <a:pPr lvl="0">
              <a:lnSpc>
                <a:spcPct val="120000"/>
              </a:lnSpc>
            </a:pPr>
            <a:r>
              <a:rPr lang="en-US" b="1" dirty="0"/>
              <a:t>The Girls, Women and Media Project </a:t>
            </a:r>
            <a:r>
              <a:rPr lang="en-US" dirty="0"/>
              <a:t>promotes more positive images of girls and women in the media.  </a:t>
            </a:r>
            <a:r>
              <a:rPr lang="en-US" u="sng" dirty="0">
                <a:hlinkClick r:id="rId5"/>
              </a:rPr>
              <a:t>www.mediaandwomen.org</a:t>
            </a:r>
            <a:r>
              <a:rPr lang="en-US" dirty="0"/>
              <a:t> - they also promote media literacy and citizen activism.  </a:t>
            </a:r>
          </a:p>
          <a:p>
            <a:pPr lvl="0">
              <a:lnSpc>
                <a:spcPct val="120000"/>
              </a:lnSpc>
            </a:pPr>
            <a:r>
              <a:rPr lang="en-US" b="1" dirty="0"/>
              <a:t>Dads and Daughters</a:t>
            </a:r>
            <a:r>
              <a:rPr lang="en-US" dirty="0"/>
              <a:t>: </a:t>
            </a:r>
            <a:r>
              <a:rPr lang="en-US" u="sng" dirty="0">
                <a:hlinkClick r:id="rId6"/>
              </a:rPr>
              <a:t>www.dadsanddaughters.org</a:t>
            </a:r>
            <a:r>
              <a:rPr lang="en-US" dirty="0"/>
              <a:t>, feminist man Joe Kelly cares about his daughters so much that he wants to help create a world free of violence for them.  You don’t have to be a dad of a daughter.  </a:t>
            </a:r>
          </a:p>
          <a:p>
            <a:pPr lvl="0">
              <a:lnSpc>
                <a:spcPct val="120000"/>
              </a:lnSpc>
            </a:pPr>
            <a:r>
              <a:rPr lang="en-US" b="1" dirty="0" err="1"/>
              <a:t>HomeFront</a:t>
            </a:r>
            <a:r>
              <a:rPr lang="en-US" b="1" dirty="0"/>
              <a:t> Calgary</a:t>
            </a:r>
            <a:r>
              <a:rPr lang="en-US" dirty="0"/>
              <a:t>: Canadian group working to stop violence against women – </a:t>
            </a:r>
            <a:r>
              <a:rPr lang="en-US" u="sng" dirty="0">
                <a:hlinkClick r:id="rId7"/>
              </a:rPr>
              <a:t>www.homefrontcalgary.com</a:t>
            </a:r>
            <a:r>
              <a:rPr lang="en-US" dirty="0"/>
              <a:t>.  </a:t>
            </a:r>
          </a:p>
          <a:p>
            <a:pPr lvl="0">
              <a:lnSpc>
                <a:spcPct val="120000"/>
              </a:lnSpc>
            </a:pPr>
            <a:r>
              <a:rPr lang="en-US" b="1" dirty="0"/>
              <a:t>Men’s Initiative for Jane Doe, Inc</a:t>
            </a:r>
            <a:r>
              <a:rPr lang="en-US" dirty="0"/>
              <a:t>.: Massachusetts statewide clearing house and networking resource for men working to end violence against women, facilitating collaborations between men's associations, rape crisis centers and resources for domestic violence intervention.  </a:t>
            </a:r>
            <a:r>
              <a:rPr lang="en-US" u="sng" dirty="0">
                <a:hlinkClick r:id="rId8"/>
              </a:rPr>
              <a:t>www.mijd.org</a:t>
            </a:r>
            <a:r>
              <a:rPr lang="en-US" dirty="0"/>
              <a:t>.  </a:t>
            </a:r>
          </a:p>
          <a:p>
            <a:pPr lvl="0">
              <a:lnSpc>
                <a:spcPct val="120000"/>
              </a:lnSpc>
            </a:pPr>
            <a:r>
              <a:rPr lang="en-US" b="1" dirty="0"/>
              <a:t>Gloucester Men Against Domestic Abuse</a:t>
            </a:r>
            <a:r>
              <a:rPr lang="en-US" dirty="0"/>
              <a:t>: </a:t>
            </a:r>
            <a:r>
              <a:rPr lang="en-US" u="sng" dirty="0">
                <a:hlinkClick r:id="rId9"/>
              </a:rPr>
              <a:t>www.strongmendontbully.com</a:t>
            </a:r>
            <a:r>
              <a:rPr lang="en-US" dirty="0"/>
              <a:t>, mentioned in the play.</a:t>
            </a:r>
          </a:p>
          <a:p>
            <a:pPr lvl="0">
              <a:lnSpc>
                <a:spcPct val="120000"/>
              </a:lnSpc>
            </a:pPr>
            <a:r>
              <a:rPr lang="en-US" b="1" dirty="0"/>
              <a:t>Jackson Katz</a:t>
            </a:r>
            <a:r>
              <a:rPr lang="en-US" dirty="0"/>
              <a:t>: </a:t>
            </a:r>
            <a:r>
              <a:rPr lang="en-US" u="sng" dirty="0">
                <a:hlinkClick r:id="rId10"/>
              </a:rPr>
              <a:t>www.jacksonkatz.com</a:t>
            </a:r>
            <a:r>
              <a:rPr lang="en-US" dirty="0"/>
              <a:t>, outstanding public speaker on this issue.  His video, “Tough Guise” is excerpted in the beginning of the play – it’s worth purchasing at </a:t>
            </a:r>
            <a:r>
              <a:rPr lang="en-US" u="sng" dirty="0">
                <a:hlinkClick r:id="rId11"/>
              </a:rPr>
              <a:t>www.mediaed.org</a:t>
            </a:r>
            <a:r>
              <a:rPr lang="en-US" dirty="0"/>
              <a:t>.  </a:t>
            </a:r>
          </a:p>
          <a:p>
            <a:pPr lvl="0">
              <a:lnSpc>
                <a:spcPct val="120000"/>
              </a:lnSpc>
            </a:pPr>
            <a:r>
              <a:rPr lang="en-US" b="1" dirty="0"/>
              <a:t>Jean </a:t>
            </a:r>
            <a:r>
              <a:rPr lang="en-US" b="1" dirty="0" err="1"/>
              <a:t>Kilbourne</a:t>
            </a:r>
            <a:r>
              <a:rPr lang="en-US" dirty="0"/>
              <a:t>: </a:t>
            </a:r>
            <a:r>
              <a:rPr lang="en-US" u="sng" dirty="0">
                <a:hlinkClick r:id="rId12"/>
              </a:rPr>
              <a:t>www.jeankilbourne.com</a:t>
            </a:r>
            <a:r>
              <a:rPr lang="en-US" dirty="0"/>
              <a:t>.  She is a phenomenal and award-winning speaker and writer - her “Killing Us Softly 3,” about advertising images of women, is also available at </a:t>
            </a:r>
            <a:r>
              <a:rPr lang="en-US" u="sng" dirty="0">
                <a:hlinkClick r:id="rId11"/>
              </a:rPr>
              <a:t>www.mediaed.org</a:t>
            </a:r>
            <a:r>
              <a:rPr lang="en-US" dirty="0"/>
              <a:t>.  </a:t>
            </a:r>
          </a:p>
          <a:p>
            <a:pPr lvl="0">
              <a:lnSpc>
                <a:spcPct val="120000"/>
              </a:lnSpc>
            </a:pPr>
            <a:r>
              <a:rPr lang="en-US" b="1" dirty="0"/>
              <a:t>Your local rape crisis center or domestic violence program</a:t>
            </a:r>
            <a:r>
              <a:rPr lang="en-US" dirty="0"/>
              <a:t>: look in the phone book or call the National Domestic Violence Hotline to get contact info: 1-800-799-SAFE (7233).  The National Sexual Assault Hotline from RAINN is 1-800-656-HOPE.  </a:t>
            </a:r>
          </a:p>
        </p:txBody>
      </p:sp>
    </p:spTree>
    <p:extLst>
      <p:ext uri="{BB962C8B-B14F-4D97-AF65-F5344CB8AC3E}">
        <p14:creationId xmlns="" xmlns:p14="http://schemas.microsoft.com/office/powerpoint/2010/main" val="9741299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76200">
            <a:solidFill>
              <a:schemeClr val="tx2">
                <a:lumMod val="60000"/>
                <a:lumOff val="40000"/>
              </a:schemeClr>
            </a:solidFill>
          </a:ln>
        </p:spPr>
        <p:txBody>
          <a:bodyPr>
            <a:normAutofit fontScale="90000"/>
          </a:bodyPr>
          <a:lstStyle/>
          <a:p>
            <a:r>
              <a:rPr lang="en-US" dirty="0" smtClean="0"/>
              <a:t>Note from the author and from the editor</a:t>
            </a:r>
            <a:endParaRPr lang="en-US" dirty="0"/>
          </a:p>
        </p:txBody>
      </p:sp>
      <p:sp>
        <p:nvSpPr>
          <p:cNvPr id="5" name="Content Placeholder 4"/>
          <p:cNvSpPr>
            <a:spLocks noGrp="1"/>
          </p:cNvSpPr>
          <p:nvPr>
            <p:ph idx="1"/>
          </p:nvPr>
        </p:nvSpPr>
        <p:spPr/>
        <p:txBody>
          <a:bodyPr>
            <a:normAutofit fontScale="85000" lnSpcReduction="20000"/>
          </a:bodyPr>
          <a:lstStyle/>
          <a:p>
            <a:pPr>
              <a:buNone/>
            </a:pPr>
            <a:r>
              <a:rPr lang="en-US" dirty="0" smtClean="0"/>
              <a:t>	This document can be printed or edited  for a bulletin or bulletin board.</a:t>
            </a:r>
          </a:p>
          <a:p>
            <a:pPr>
              <a:buNone/>
            </a:pPr>
            <a:r>
              <a:rPr lang="en-US" dirty="0" smtClean="0"/>
              <a:t>	Best,</a:t>
            </a:r>
          </a:p>
          <a:p>
            <a:pPr>
              <a:buNone/>
            </a:pPr>
            <a:endParaRPr lang="en-US" dirty="0" smtClean="0"/>
          </a:p>
          <a:p>
            <a:pPr>
              <a:buNone/>
            </a:pPr>
            <a:r>
              <a:rPr lang="en-US" dirty="0" smtClean="0"/>
              <a:t>	Brian</a:t>
            </a:r>
          </a:p>
          <a:p>
            <a:pPr>
              <a:buNone/>
            </a:pPr>
            <a:r>
              <a:rPr lang="en-US" b="1" smtClean="0">
                <a:solidFill>
                  <a:schemeClr val="tx2">
                    <a:lumMod val="60000"/>
                    <a:lumOff val="40000"/>
                  </a:schemeClr>
                </a:solidFill>
              </a:rPr>
              <a:t>	Brian </a:t>
            </a:r>
            <a:r>
              <a:rPr lang="en-US" b="1" dirty="0" smtClean="0">
                <a:solidFill>
                  <a:schemeClr val="tx2">
                    <a:lumMod val="60000"/>
                    <a:lumOff val="40000"/>
                  </a:schemeClr>
                </a:solidFill>
              </a:rPr>
              <a:t>Michael Finn</a:t>
            </a:r>
            <a:br>
              <a:rPr lang="en-US" b="1" dirty="0" smtClean="0">
                <a:solidFill>
                  <a:schemeClr val="tx2">
                    <a:lumMod val="60000"/>
                    <a:lumOff val="40000"/>
                  </a:schemeClr>
                </a:solidFill>
              </a:rPr>
            </a:br>
            <a:r>
              <a:rPr lang="en-US" b="1" dirty="0" smtClean="0">
                <a:solidFill>
                  <a:schemeClr val="tx2">
                    <a:lumMod val="60000"/>
                    <a:lumOff val="40000"/>
                  </a:schemeClr>
                </a:solidFill>
              </a:rPr>
              <a:t>Purdue University</a:t>
            </a:r>
            <a:endParaRPr lang="en-US" dirty="0" smtClean="0"/>
          </a:p>
          <a:p>
            <a:r>
              <a:rPr lang="en-US" dirty="0" smtClean="0"/>
              <a:t>Note from the editor:  This power point can also be edited for use as an on-line or vibrant-in-person  educational program.  It has the potential to generate interesting and dynamic conversations.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347</TotalTime>
  <Words>1029</Words>
  <Application>Microsoft Office PowerPoint</Application>
  <PresentationFormat>On-screen Show (4:3)</PresentationFormat>
  <Paragraphs>93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Masculinity bulletin board and educational program idea</vt:lpstr>
      <vt:lpstr>Slide 2</vt:lpstr>
      <vt:lpstr>Slide 3</vt:lpstr>
      <vt:lpstr>Videos that Speak Volumes</vt:lpstr>
      <vt:lpstr>Videos that Speak Volumes</vt:lpstr>
      <vt:lpstr>Some Major Myths About  Sexual Violence </vt:lpstr>
      <vt:lpstr>Some Major Myths About  Sexual Violence</vt:lpstr>
      <vt:lpstr>Some Major Myths About  Sexual Violence</vt:lpstr>
      <vt:lpstr>Some Major Myths About  Sexual Violence</vt:lpstr>
      <vt:lpstr>Some Major Myths About  Sexual Violence</vt:lpstr>
      <vt:lpstr>Some Major Myths About  Sexual Violence</vt:lpstr>
      <vt:lpstr>Some Major Myths About  Sexual Violence</vt:lpstr>
      <vt:lpstr>Organizations</vt:lpstr>
      <vt:lpstr>Organizations - Continued</vt:lpstr>
      <vt:lpstr>Note from the author and from the editor</vt:lpstr>
    </vt:vector>
  </TitlesOfParts>
  <Company>Purdue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Finn, Brian M</dc:creator>
  <cp:lastModifiedBy>owner</cp:lastModifiedBy>
  <cp:revision>21</cp:revision>
  <cp:lastPrinted>2012-10-01T03:46:27Z</cp:lastPrinted>
  <dcterms:created xsi:type="dcterms:W3CDTF">2012-10-01T02:38:36Z</dcterms:created>
  <dcterms:modified xsi:type="dcterms:W3CDTF">2012-11-30T21:09:25Z</dcterms:modified>
</cp:coreProperties>
</file>