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3"/>
  </p:notesMasterIdLst>
  <p:handoutMasterIdLst>
    <p:handoutMasterId r:id="rId24"/>
  </p:handoutMasterIdLst>
  <p:sldIdLst>
    <p:sldId id="316" r:id="rId2"/>
    <p:sldId id="256" r:id="rId3"/>
    <p:sldId id="301" r:id="rId4"/>
    <p:sldId id="308" r:id="rId5"/>
    <p:sldId id="310" r:id="rId6"/>
    <p:sldId id="260" r:id="rId7"/>
    <p:sldId id="302" r:id="rId8"/>
    <p:sldId id="299" r:id="rId9"/>
    <p:sldId id="303" r:id="rId10"/>
    <p:sldId id="313" r:id="rId11"/>
    <p:sldId id="305" r:id="rId12"/>
    <p:sldId id="306" r:id="rId13"/>
    <p:sldId id="314" r:id="rId14"/>
    <p:sldId id="315" r:id="rId15"/>
    <p:sldId id="304" r:id="rId16"/>
    <p:sldId id="307" r:id="rId17"/>
    <p:sldId id="309" r:id="rId18"/>
    <p:sldId id="288" r:id="rId19"/>
    <p:sldId id="297" r:id="rId20"/>
    <p:sldId id="312" r:id="rId21"/>
    <p:sldId id="311" r:id="rId22"/>
  </p:sldIdLst>
  <p:sldSz cx="9144000" cy="6858000" type="screen4x3"/>
  <p:notesSz cx="6858000" cy="9144000"/>
  <p:defaultTextStyle>
    <a:defPPr>
      <a:defRPr lang="en-AU"/>
    </a:defPPr>
    <a:lvl1pPr algn="l" rtl="0" eaLnBrk="0" fontAlgn="base" hangingPunct="0">
      <a:spcBef>
        <a:spcPct val="0"/>
      </a:spcBef>
      <a:spcAft>
        <a:spcPct val="0"/>
      </a:spcAft>
      <a:defRPr kern="1200">
        <a:solidFill>
          <a:schemeClr val="tx1"/>
        </a:solidFill>
        <a:latin typeface="Courier New" pitchFamily="49"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Courier New" pitchFamily="49" charset="0"/>
        <a:ea typeface="+mn-ea"/>
        <a:cs typeface="Arial" pitchFamily="34" charset="0"/>
      </a:defRPr>
    </a:lvl2pPr>
    <a:lvl3pPr marL="914400" algn="l" rtl="0" eaLnBrk="0" fontAlgn="base" hangingPunct="0">
      <a:spcBef>
        <a:spcPct val="0"/>
      </a:spcBef>
      <a:spcAft>
        <a:spcPct val="0"/>
      </a:spcAft>
      <a:defRPr kern="1200">
        <a:solidFill>
          <a:schemeClr val="tx1"/>
        </a:solidFill>
        <a:latin typeface="Courier New" pitchFamily="49" charset="0"/>
        <a:ea typeface="+mn-ea"/>
        <a:cs typeface="Arial" pitchFamily="34" charset="0"/>
      </a:defRPr>
    </a:lvl3pPr>
    <a:lvl4pPr marL="1371600" algn="l" rtl="0" eaLnBrk="0" fontAlgn="base" hangingPunct="0">
      <a:spcBef>
        <a:spcPct val="0"/>
      </a:spcBef>
      <a:spcAft>
        <a:spcPct val="0"/>
      </a:spcAft>
      <a:defRPr kern="1200">
        <a:solidFill>
          <a:schemeClr val="tx1"/>
        </a:solidFill>
        <a:latin typeface="Courier New" pitchFamily="49" charset="0"/>
        <a:ea typeface="+mn-ea"/>
        <a:cs typeface="Arial" pitchFamily="34" charset="0"/>
      </a:defRPr>
    </a:lvl4pPr>
    <a:lvl5pPr marL="1828800" algn="l" rtl="0" eaLnBrk="0" fontAlgn="base" hangingPunct="0">
      <a:spcBef>
        <a:spcPct val="0"/>
      </a:spcBef>
      <a:spcAft>
        <a:spcPct val="0"/>
      </a:spcAft>
      <a:defRPr kern="1200">
        <a:solidFill>
          <a:schemeClr val="tx1"/>
        </a:solidFill>
        <a:latin typeface="Courier New" pitchFamily="49" charset="0"/>
        <a:ea typeface="+mn-ea"/>
        <a:cs typeface="Arial" pitchFamily="34" charset="0"/>
      </a:defRPr>
    </a:lvl5pPr>
    <a:lvl6pPr marL="2286000" algn="l" defTabSz="914400" rtl="0" eaLnBrk="1" latinLnBrk="0" hangingPunct="1">
      <a:defRPr kern="1200">
        <a:solidFill>
          <a:schemeClr val="tx1"/>
        </a:solidFill>
        <a:latin typeface="Courier New" pitchFamily="49" charset="0"/>
        <a:ea typeface="+mn-ea"/>
        <a:cs typeface="Arial" pitchFamily="34" charset="0"/>
      </a:defRPr>
    </a:lvl6pPr>
    <a:lvl7pPr marL="2743200" algn="l" defTabSz="914400" rtl="0" eaLnBrk="1" latinLnBrk="0" hangingPunct="1">
      <a:defRPr kern="1200">
        <a:solidFill>
          <a:schemeClr val="tx1"/>
        </a:solidFill>
        <a:latin typeface="Courier New" pitchFamily="49" charset="0"/>
        <a:ea typeface="+mn-ea"/>
        <a:cs typeface="Arial" pitchFamily="34" charset="0"/>
      </a:defRPr>
    </a:lvl7pPr>
    <a:lvl8pPr marL="3200400" algn="l" defTabSz="914400" rtl="0" eaLnBrk="1" latinLnBrk="0" hangingPunct="1">
      <a:defRPr kern="1200">
        <a:solidFill>
          <a:schemeClr val="tx1"/>
        </a:solidFill>
        <a:latin typeface="Courier New" pitchFamily="49" charset="0"/>
        <a:ea typeface="+mn-ea"/>
        <a:cs typeface="Arial" pitchFamily="34" charset="0"/>
      </a:defRPr>
    </a:lvl8pPr>
    <a:lvl9pPr marL="3657600" algn="l" defTabSz="914400" rtl="0" eaLnBrk="1" latinLnBrk="0" hangingPunct="1">
      <a:defRPr kern="1200">
        <a:solidFill>
          <a:schemeClr val="tx1"/>
        </a:solidFill>
        <a:latin typeface="Courier New" pitchFamily="49"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12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endParaRPr lang="en-AU"/>
          </a:p>
        </p:txBody>
      </p:sp>
      <p:sp>
        <p:nvSpPr>
          <p:cNvPr id="5120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endParaRPr lang="en-AU"/>
          </a:p>
        </p:txBody>
      </p:sp>
      <p:sp>
        <p:nvSpPr>
          <p:cNvPr id="5120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endParaRPr lang="en-AU"/>
          </a:p>
        </p:txBody>
      </p:sp>
      <p:sp>
        <p:nvSpPr>
          <p:cNvPr id="5120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fld id="{2AB92174-BECC-43B7-9027-4A888AE0CBEB}" type="slidenum">
              <a:rPr lang="en-AU"/>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endParaRPr lang="en-AU"/>
          </a:p>
        </p:txBody>
      </p:sp>
      <p:sp>
        <p:nvSpPr>
          <p:cNvPr id="501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endParaRPr lang="en-AU"/>
          </a:p>
        </p:txBody>
      </p:sp>
      <p:sp>
        <p:nvSpPr>
          <p:cNvPr id="5018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01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01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endParaRPr lang="en-AU"/>
          </a:p>
        </p:txBody>
      </p:sp>
      <p:sp>
        <p:nvSpPr>
          <p:cNvPr id="501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fld id="{865A7613-FCEF-46AC-9DAC-C33721DC7B7B}" type="slidenum">
              <a:rPr lang="en-AU"/>
              <a:pPr/>
              <a:t>‹#›</a:t>
            </a:fld>
            <a:endParaRPr lang="en-AU"/>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2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2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2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49074D-8CAF-49F1-AC28-32D81AA43C69}" type="slidenum">
              <a:rPr lang="en-AU"/>
              <a:pPr/>
              <a:t>2</a:t>
            </a:fld>
            <a:endParaRPr lang="en-AU"/>
          </a:p>
        </p:txBody>
      </p:sp>
      <p:sp>
        <p:nvSpPr>
          <p:cNvPr id="52226" name="Rectangle 2"/>
          <p:cNvSpPr>
            <a:spLocks noRo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29E146-12E6-495A-850B-5566F5604F64}" type="slidenum">
              <a:rPr lang="en-AU"/>
              <a:pPr/>
              <a:t>3</a:t>
            </a:fld>
            <a:endParaRPr lang="en-AU"/>
          </a:p>
        </p:txBody>
      </p:sp>
      <p:sp>
        <p:nvSpPr>
          <p:cNvPr id="81922" name="Rectangle 2"/>
          <p:cNvSpPr>
            <a:spLocks noRot="1" noChangeArrowheads="1" noTextEdit="1"/>
          </p:cNvSpPr>
          <p:nvPr>
            <p:ph type="sldImg"/>
          </p:nvPr>
        </p:nvSpPr>
        <p:spPr>
          <a:ln/>
        </p:spPr>
      </p:sp>
      <p:sp>
        <p:nvSpPr>
          <p:cNvPr id="8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13B515-8E29-41D0-8134-06A3DDCFBB27}" type="slidenum">
              <a:rPr lang="en-AU"/>
              <a:pPr/>
              <a:t>4</a:t>
            </a:fld>
            <a:endParaRPr lang="en-AU"/>
          </a:p>
        </p:txBody>
      </p:sp>
      <p:sp>
        <p:nvSpPr>
          <p:cNvPr id="93186" name="Rectangle 2"/>
          <p:cNvSpPr>
            <a:spLocks noRo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C681E5-9D46-4152-B03E-17B8BA94F52E}" type="slidenum">
              <a:rPr lang="en-AU"/>
              <a:pPr/>
              <a:t>5</a:t>
            </a:fld>
            <a:endParaRPr lang="en-AU"/>
          </a:p>
        </p:txBody>
      </p:sp>
      <p:sp>
        <p:nvSpPr>
          <p:cNvPr id="97282" name="Rectangle 2"/>
          <p:cNvSpPr>
            <a:spLocks noRo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99D470-E089-4294-98AC-96480688862D}" type="slidenum">
              <a:rPr lang="en-AU"/>
              <a:pPr/>
              <a:t>6</a:t>
            </a:fld>
            <a:endParaRPr lang="en-AU"/>
          </a:p>
        </p:txBody>
      </p:sp>
      <p:sp>
        <p:nvSpPr>
          <p:cNvPr id="53250" name="Rectangle 2"/>
          <p:cNvSpPr>
            <a:spLocks noRo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FDA690-9E87-4EA6-9636-4C01854BD6A6}" type="slidenum">
              <a:rPr lang="en-AU"/>
              <a:pPr/>
              <a:t>7</a:t>
            </a:fld>
            <a:endParaRPr lang="en-AU"/>
          </a:p>
        </p:txBody>
      </p:sp>
      <p:sp>
        <p:nvSpPr>
          <p:cNvPr id="105474" name="Rectangle 2"/>
          <p:cNvSpPr>
            <a:spLocks noRo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701D47-E22B-4CE4-8061-B89D9B2447A6}" type="slidenum">
              <a:rPr lang="en-AU"/>
              <a:pPr/>
              <a:t>8</a:t>
            </a:fld>
            <a:endParaRPr lang="en-AU"/>
          </a:p>
        </p:txBody>
      </p:sp>
      <p:sp>
        <p:nvSpPr>
          <p:cNvPr id="77826" name="Rectangle 2"/>
          <p:cNvSpPr>
            <a:spLocks noRo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5F0912-C6A3-476A-A0D0-81BFE82BB901}" type="slidenum">
              <a:rPr lang="en-AU"/>
              <a:pPr/>
              <a:t>9</a:t>
            </a:fld>
            <a:endParaRPr lang="en-AU"/>
          </a:p>
        </p:txBody>
      </p:sp>
      <p:sp>
        <p:nvSpPr>
          <p:cNvPr id="106498" name="Rectangle 2"/>
          <p:cNvSpPr>
            <a:spLocks noRo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94BA75-FBBA-4BC4-AAF8-243F9783212E}" type="slidenum">
              <a:rPr lang="en-AU"/>
              <a:pPr/>
              <a:t>10</a:t>
            </a:fld>
            <a:endParaRPr lang="en-AU"/>
          </a:p>
        </p:txBody>
      </p:sp>
      <p:sp>
        <p:nvSpPr>
          <p:cNvPr id="112642" name="Rectangle 2"/>
          <p:cNvSpPr>
            <a:spLocks noRo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ECC18A-D040-4CA3-8A02-7CDA40F611D6}" type="slidenum">
              <a:rPr lang="en-AU"/>
              <a:pPr/>
              <a:t>11</a:t>
            </a:fld>
            <a:endParaRPr lang="en-AU"/>
          </a:p>
        </p:txBody>
      </p:sp>
      <p:sp>
        <p:nvSpPr>
          <p:cNvPr id="107522" name="Rectangle 2"/>
          <p:cNvSpPr>
            <a:spLocks noRo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2BF688-1D0F-4DEA-A6E6-0EAB76E91EFA}" type="slidenum">
              <a:rPr lang="en-AU"/>
              <a:pPr/>
              <a:t>12</a:t>
            </a:fld>
            <a:endParaRPr lang="en-AU"/>
          </a:p>
        </p:txBody>
      </p:sp>
      <p:sp>
        <p:nvSpPr>
          <p:cNvPr id="108546" name="Rectangle 2"/>
          <p:cNvSpPr>
            <a:spLocks noRo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DBDAF2-0E1C-46CE-84CF-51C5BB148F62}" type="slidenum">
              <a:rPr lang="en-AU"/>
              <a:pPr/>
              <a:t>13</a:t>
            </a:fld>
            <a:endParaRPr lang="en-AU"/>
          </a:p>
        </p:txBody>
      </p:sp>
      <p:sp>
        <p:nvSpPr>
          <p:cNvPr id="114690" name="Rectangle 2"/>
          <p:cNvSpPr>
            <a:spLocks noRo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464000-B9DB-4AF2-A5D5-618AEE9A2281}" type="slidenum">
              <a:rPr lang="en-AU"/>
              <a:pPr/>
              <a:t>14</a:t>
            </a:fld>
            <a:endParaRPr lang="en-AU"/>
          </a:p>
        </p:txBody>
      </p:sp>
      <p:sp>
        <p:nvSpPr>
          <p:cNvPr id="116738" name="Rectangle 2"/>
          <p:cNvSpPr>
            <a:spLocks noRo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267CB9-4B5C-4F82-87F1-AAFA79B38528}" type="slidenum">
              <a:rPr lang="en-AU"/>
              <a:pPr/>
              <a:t>15</a:t>
            </a:fld>
            <a:endParaRPr lang="en-AU"/>
          </a:p>
        </p:txBody>
      </p:sp>
      <p:sp>
        <p:nvSpPr>
          <p:cNvPr id="110594" name="Rectangle 2"/>
          <p:cNvSpPr>
            <a:spLocks noRo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63CBF8-DCFC-4E35-A31C-FEE92B0B4124}" type="slidenum">
              <a:rPr lang="en-AU"/>
              <a:pPr/>
              <a:t>16</a:t>
            </a:fld>
            <a:endParaRPr lang="en-AU"/>
          </a:p>
        </p:txBody>
      </p:sp>
      <p:sp>
        <p:nvSpPr>
          <p:cNvPr id="109570" name="Rectangle 2"/>
          <p:cNvSpPr>
            <a:spLocks noRo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81504C-38BB-4FCC-8E76-2DC20DB161DA}" type="slidenum">
              <a:rPr lang="en-AU"/>
              <a:pPr/>
              <a:t>17</a:t>
            </a:fld>
            <a:endParaRPr lang="en-AU"/>
          </a:p>
        </p:txBody>
      </p:sp>
      <p:sp>
        <p:nvSpPr>
          <p:cNvPr id="95234" name="Rectangle 2"/>
          <p:cNvSpPr>
            <a:spLocks noRo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9A74B1-A138-4DC3-A710-946FA5586104}" type="slidenum">
              <a:rPr lang="en-AU"/>
              <a:pPr/>
              <a:t>18</a:t>
            </a:fld>
            <a:endParaRPr lang="en-AU"/>
          </a:p>
        </p:txBody>
      </p:sp>
      <p:sp>
        <p:nvSpPr>
          <p:cNvPr id="65538" name="Rectangle 2"/>
          <p:cNvSpPr>
            <a:spLocks noRo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69442B-7219-47CE-A2CA-D03E3598C4D4}" type="slidenum">
              <a:rPr lang="en-AU"/>
              <a:pPr/>
              <a:t>19</a:t>
            </a:fld>
            <a:endParaRPr lang="en-AU"/>
          </a:p>
        </p:txBody>
      </p:sp>
      <p:sp>
        <p:nvSpPr>
          <p:cNvPr id="68610" name="Rectangle 2"/>
          <p:cNvSpPr>
            <a:spLocks noRo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C643FE-973B-4169-80BE-5B1AA9B7F091}" type="slidenum">
              <a:rPr lang="en-AU"/>
              <a:pPr/>
              <a:t>20</a:t>
            </a:fld>
            <a:endParaRPr lang="en-AU"/>
          </a:p>
        </p:txBody>
      </p:sp>
      <p:sp>
        <p:nvSpPr>
          <p:cNvPr id="104450" name="Rectangle 2"/>
          <p:cNvSpPr>
            <a:spLocks noRo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F1D65F-32E6-44A1-8A18-75409E885E03}" type="slidenum">
              <a:rPr lang="en-AU"/>
              <a:pPr/>
              <a:t>21</a:t>
            </a:fld>
            <a:endParaRPr lang="en-AU"/>
          </a:p>
        </p:txBody>
      </p:sp>
      <p:sp>
        <p:nvSpPr>
          <p:cNvPr id="102402" name="Rectangle 2"/>
          <p:cNvSpPr>
            <a:spLocks noRo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FBCA16C-961D-4D9F-8CFA-F1B9005C41F5}" type="slidenum">
              <a:rPr lang="en-AU"/>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7426EAB4-F209-47DA-8C4A-065C9E9BD257}" type="slidenum">
              <a:rPr lang="en-AU"/>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0E03244-C2CC-47BF-BDA5-DBF2C228FB5B}" type="slidenum">
              <a:rPr lang="en-AU"/>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CB66B8B5-C10D-4572-81B5-8AF0FE792B0E}" type="slidenum">
              <a:rPr lang="en-AU"/>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33F51F43-6DF8-4B9E-82E9-066A8D19050A}" type="slidenum">
              <a:rPr lang="en-AU"/>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49A4092C-E519-44CC-94CC-447FBCEA1DBC}" type="slidenum">
              <a:rPr lang="en-AU"/>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7D549904-37BE-46D4-A6ED-2F07AE62E395}" type="slidenum">
              <a:rPr lang="en-AU"/>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E9C60A64-43AE-40D9-A96F-97F1256F32BB}" type="slidenum">
              <a:rPr lang="en-AU"/>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38BD0B9F-39DB-4F6B-9752-EE9A728727FE}" type="slidenum">
              <a:rPr lang="en-AU"/>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8F63E32C-EBF1-4ECC-9D52-5F04C38D776A}" type="slidenum">
              <a:rPr lang="en-AU"/>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29C48F16-10A8-433C-95BE-FACC7056C20E}" type="slidenum">
              <a:rPr lang="en-AU"/>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
        <p:nvSpPr>
          <p:cNvPr id="7373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endParaRPr lang="en-AU"/>
          </a:p>
        </p:txBody>
      </p:sp>
      <p:sp>
        <p:nvSpPr>
          <p:cNvPr id="7373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endParaRPr lang="en-AU"/>
          </a:p>
        </p:txBody>
      </p:sp>
      <p:sp>
        <p:nvSpPr>
          <p:cNvPr id="7373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fld id="{48B38692-CA48-49E9-B33E-3DAE29F2F9DC}"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rtl="0" fontAlgn="base">
        <a:spcBef>
          <a:spcPts val="1800"/>
        </a:spcBef>
        <a:spcAft>
          <a:spcPts val="600"/>
        </a:spcAft>
        <a:defRPr sz="4400" b="1">
          <a:solidFill>
            <a:schemeClr val="tx2"/>
          </a:solidFill>
          <a:latin typeface="+mj-lt"/>
          <a:ea typeface="+mj-ea"/>
          <a:cs typeface="+mj-cs"/>
        </a:defRPr>
      </a:lvl1pPr>
      <a:lvl2pPr algn="ctr" rtl="0" fontAlgn="base">
        <a:spcBef>
          <a:spcPts val="1800"/>
        </a:spcBef>
        <a:spcAft>
          <a:spcPts val="600"/>
        </a:spcAft>
        <a:defRPr sz="4400" b="1">
          <a:solidFill>
            <a:schemeClr val="tx2"/>
          </a:solidFill>
          <a:latin typeface="Times" charset="0"/>
          <a:cs typeface="Arial" pitchFamily="34" charset="0"/>
        </a:defRPr>
      </a:lvl2pPr>
      <a:lvl3pPr algn="ctr" rtl="0" fontAlgn="base">
        <a:spcBef>
          <a:spcPts val="1800"/>
        </a:spcBef>
        <a:spcAft>
          <a:spcPts val="600"/>
        </a:spcAft>
        <a:defRPr sz="4400" b="1">
          <a:solidFill>
            <a:schemeClr val="tx2"/>
          </a:solidFill>
          <a:latin typeface="Times" charset="0"/>
          <a:cs typeface="Arial" pitchFamily="34" charset="0"/>
        </a:defRPr>
      </a:lvl3pPr>
      <a:lvl4pPr algn="ctr" rtl="0" fontAlgn="base">
        <a:spcBef>
          <a:spcPts val="1800"/>
        </a:spcBef>
        <a:spcAft>
          <a:spcPts val="600"/>
        </a:spcAft>
        <a:defRPr sz="4400" b="1">
          <a:solidFill>
            <a:schemeClr val="tx2"/>
          </a:solidFill>
          <a:latin typeface="Times" charset="0"/>
          <a:cs typeface="Arial" pitchFamily="34" charset="0"/>
        </a:defRPr>
      </a:lvl4pPr>
      <a:lvl5pPr algn="ctr" rtl="0" fontAlgn="base">
        <a:spcBef>
          <a:spcPts val="1800"/>
        </a:spcBef>
        <a:spcAft>
          <a:spcPts val="600"/>
        </a:spcAft>
        <a:defRPr sz="4400" b="1">
          <a:solidFill>
            <a:schemeClr val="tx2"/>
          </a:solidFill>
          <a:latin typeface="Times" charset="0"/>
          <a:cs typeface="Arial" pitchFamily="34" charset="0"/>
        </a:defRPr>
      </a:lvl5pPr>
      <a:lvl6pPr marL="457200" algn="ctr" rtl="0" fontAlgn="base">
        <a:spcBef>
          <a:spcPts val="1800"/>
        </a:spcBef>
        <a:spcAft>
          <a:spcPts val="600"/>
        </a:spcAft>
        <a:defRPr sz="4400" b="1">
          <a:solidFill>
            <a:schemeClr val="tx2"/>
          </a:solidFill>
          <a:latin typeface="Times" charset="0"/>
          <a:cs typeface="Arial" pitchFamily="34" charset="0"/>
        </a:defRPr>
      </a:lvl6pPr>
      <a:lvl7pPr marL="914400" algn="ctr" rtl="0" fontAlgn="base">
        <a:spcBef>
          <a:spcPts val="1800"/>
        </a:spcBef>
        <a:spcAft>
          <a:spcPts val="600"/>
        </a:spcAft>
        <a:defRPr sz="4400" b="1">
          <a:solidFill>
            <a:schemeClr val="tx2"/>
          </a:solidFill>
          <a:latin typeface="Times" charset="0"/>
          <a:cs typeface="Arial" pitchFamily="34" charset="0"/>
        </a:defRPr>
      </a:lvl7pPr>
      <a:lvl8pPr marL="1371600" algn="ctr" rtl="0" fontAlgn="base">
        <a:spcBef>
          <a:spcPts val="1800"/>
        </a:spcBef>
        <a:spcAft>
          <a:spcPts val="600"/>
        </a:spcAft>
        <a:defRPr sz="4400" b="1">
          <a:solidFill>
            <a:schemeClr val="tx2"/>
          </a:solidFill>
          <a:latin typeface="Times" charset="0"/>
          <a:cs typeface="Arial" pitchFamily="34" charset="0"/>
        </a:defRPr>
      </a:lvl8pPr>
      <a:lvl9pPr marL="1828800" algn="ctr" rtl="0" fontAlgn="base">
        <a:spcBef>
          <a:spcPts val="1800"/>
        </a:spcBef>
        <a:spcAft>
          <a:spcPts val="600"/>
        </a:spcAft>
        <a:defRPr sz="4400" b="1">
          <a:solidFill>
            <a:schemeClr val="tx2"/>
          </a:solidFill>
          <a:latin typeface="Times" charset="0"/>
          <a:cs typeface="Arial" pitchFamily="34" charset="0"/>
        </a:defRPr>
      </a:lvl9pPr>
    </p:titleStyle>
    <p:bodyStyle>
      <a:lvl1pPr marL="342900" indent="-342900" algn="l" rtl="0" fontAlgn="base">
        <a:spcBef>
          <a:spcPts val="600"/>
        </a:spcBef>
        <a:spcAft>
          <a:spcPts val="600"/>
        </a:spcAft>
        <a:buChar char="•"/>
        <a:defRPr sz="3200" b="1" i="1">
          <a:solidFill>
            <a:srgbClr val="000000"/>
          </a:solidFill>
          <a:latin typeface="+mn-lt"/>
          <a:ea typeface="+mn-ea"/>
          <a:cs typeface="+mn-cs"/>
        </a:defRPr>
      </a:lvl1pPr>
      <a:lvl2pPr marL="742950" indent="-285750" algn="l" rtl="0" fontAlgn="base">
        <a:spcBef>
          <a:spcPts val="1800"/>
        </a:spcBef>
        <a:spcAft>
          <a:spcPts val="1800"/>
        </a:spcAft>
        <a:buChar char="–"/>
        <a:defRPr sz="2800" b="1" i="1">
          <a:solidFill>
            <a:schemeClr val="tx1"/>
          </a:solidFill>
          <a:latin typeface="Calibri" pitchFamily="34" charset="0"/>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5616" y="1700808"/>
            <a:ext cx="6984776" cy="2585323"/>
          </a:xfrm>
          <a:prstGeom prst="rect">
            <a:avLst/>
          </a:prstGeom>
        </p:spPr>
        <p:txBody>
          <a:bodyPr wrap="square">
            <a:spAutoFit/>
          </a:bodyPr>
          <a:lstStyle/>
          <a:p>
            <a:r>
              <a:rPr lang="en-AU" dirty="0" smtClean="0"/>
              <a:t>Author’s Notes: </a:t>
            </a:r>
          </a:p>
          <a:p>
            <a:endParaRPr lang="en-AU" dirty="0"/>
          </a:p>
          <a:p>
            <a:r>
              <a:rPr lang="en-AU" dirty="0" smtClean="0"/>
              <a:t>The </a:t>
            </a:r>
            <a:r>
              <a:rPr lang="en-AU" dirty="0"/>
              <a:t>slides presented here are a subset of those used for the </a:t>
            </a:r>
            <a:r>
              <a:rPr lang="en-AU" dirty="0" smtClean="0"/>
              <a:t>AAANZ conference held at the Gallery of Modern Art (GOMA), Brisbane, Australia from  4-6  November, 2008.</a:t>
            </a:r>
          </a:p>
          <a:p>
            <a:r>
              <a:rPr lang="en-AU" dirty="0"/>
              <a:t/>
            </a:r>
            <a:br>
              <a:rPr lang="en-AU" dirty="0"/>
            </a:br>
            <a:r>
              <a:rPr lang="en-AU" dirty="0"/>
              <a:t>Some images have been withdrawn pending permissions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11188" y="1196975"/>
            <a:ext cx="8229600" cy="4608513"/>
          </a:xfrm>
        </p:spPr>
        <p:txBody>
          <a:bodyPr/>
          <a:lstStyle/>
          <a:p>
            <a:r>
              <a:rPr lang="en-AU" sz="3200" b="0" dirty="0">
                <a:latin typeface="Courier New" pitchFamily="49" charset="0"/>
              </a:rPr>
              <a:t>Fashion design research:</a:t>
            </a:r>
            <a:r>
              <a:rPr lang="en-AU" b="0" dirty="0">
                <a:latin typeface="Courier New" pitchFamily="49" charset="0"/>
              </a:rPr>
              <a:t> </a:t>
            </a:r>
            <a:r>
              <a:rPr lang="en-AU" sz="3200" b="0" dirty="0">
                <a:latin typeface="Courier New" pitchFamily="49" charset="0"/>
              </a:rPr>
              <a:t>Research methodologies for emerging researchers</a:t>
            </a:r>
            <a:r>
              <a:rPr lang="en-AU" b="0" dirty="0">
                <a:latin typeface="Courier New" pitchFamily="49" charset="0"/>
              </a:rPr>
              <a:t/>
            </a:r>
            <a:br>
              <a:rPr lang="en-AU" b="0" dirty="0">
                <a:latin typeface="Courier New" pitchFamily="49" charset="0"/>
              </a:rPr>
            </a:br>
            <a:r>
              <a:rPr lang="en-AU" b="0" dirty="0">
                <a:latin typeface="Courier New" pitchFamily="49" charset="0"/>
              </a:rPr>
              <a:t/>
            </a:r>
            <a:br>
              <a:rPr lang="en-AU" b="0" dirty="0">
                <a:latin typeface="Courier New" pitchFamily="49" charset="0"/>
              </a:rPr>
            </a:br>
            <a:r>
              <a:rPr lang="en-AU" sz="2000" b="0" dirty="0" smtClean="0">
                <a:latin typeface="Courier New" pitchFamily="49" charset="0"/>
              </a:rPr>
              <a:t>Angela </a:t>
            </a:r>
            <a:r>
              <a:rPr lang="en-AU" sz="2000" b="0" dirty="0">
                <a:latin typeface="Courier New" pitchFamily="49" charset="0"/>
              </a:rPr>
              <a:t>Finn</a:t>
            </a:r>
            <a:br>
              <a:rPr lang="en-AU" sz="2000" b="0" dirty="0">
                <a:latin typeface="Courier New" pitchFamily="49" charset="0"/>
              </a:rPr>
            </a:br>
            <a:r>
              <a:rPr lang="en-AU" sz="2000" b="0" dirty="0" smtClean="0">
                <a:latin typeface="Courier New" pitchFamily="49" charset="0"/>
              </a:rPr>
              <a:t>AUT University</a:t>
            </a:r>
            <a:br>
              <a:rPr lang="en-AU" sz="2000" b="0" dirty="0" smtClean="0">
                <a:latin typeface="Courier New" pitchFamily="49" charset="0"/>
              </a:rPr>
            </a:br>
            <a:r>
              <a:rPr lang="en-AU" sz="2000" b="0" dirty="0" smtClean="0">
                <a:latin typeface="Courier New" pitchFamily="49" charset="0"/>
              </a:rPr>
              <a:t>Auckland, New Zealand</a:t>
            </a:r>
            <a:endParaRPr lang="en-AU" sz="2000" b="0" dirty="0">
              <a:latin typeface="Courier New" pitchFamily="49"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116013" y="1989138"/>
            <a:ext cx="6840537" cy="2808287"/>
          </a:xfrm>
        </p:spPr>
        <p:txBody>
          <a:bodyPr/>
          <a:lstStyle/>
          <a:p>
            <a:pPr algn="l"/>
            <a:r>
              <a:rPr lang="en-AU" sz="2000" b="0">
                <a:latin typeface="Courier New" pitchFamily="49" charset="0"/>
              </a:rPr>
              <a:t>What happens when experienced practitioners are introduced to academic research and research methodology?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5" name="Rectangle 5"/>
          <p:cNvSpPr>
            <a:spLocks noGrp="1" noChangeArrowheads="1"/>
          </p:cNvSpPr>
          <p:nvPr>
            <p:ph type="title"/>
          </p:nvPr>
        </p:nvSpPr>
        <p:spPr>
          <a:xfrm>
            <a:off x="395288" y="2852738"/>
            <a:ext cx="8229600" cy="1143000"/>
          </a:xfrm>
          <a:noFill/>
          <a:ln/>
        </p:spPr>
        <p:txBody>
          <a:bodyPr/>
          <a:lstStyle/>
          <a:p>
            <a:r>
              <a:rPr lang="en-AU" sz="1800" i="1">
                <a:solidFill>
                  <a:srgbClr val="000000"/>
                </a:solidFill>
                <a:latin typeface="Courier New" pitchFamily="49" charset="0"/>
              </a:rPr>
              <a:t>Methodology</a:t>
            </a:r>
            <a:r>
              <a:rPr lang="en-AU" sz="1800" b="0" i="1">
                <a:solidFill>
                  <a:srgbClr val="000000"/>
                </a:solidFill>
                <a:latin typeface="Courier New" pitchFamily="49" charset="0"/>
              </a:rPr>
              <a:t> is the study of ‘</a:t>
            </a:r>
            <a:r>
              <a:rPr lang="en-AU" sz="1800" b="0">
                <a:solidFill>
                  <a:srgbClr val="000000"/>
                </a:solidFill>
                <a:latin typeface="Courier New" pitchFamily="49" charset="0"/>
              </a:rPr>
              <a:t>the system of methods and principles used in a </a:t>
            </a:r>
            <a:r>
              <a:rPr lang="en-AU" sz="1800">
                <a:solidFill>
                  <a:srgbClr val="000000"/>
                </a:solidFill>
                <a:latin typeface="Courier New" pitchFamily="49" charset="0"/>
              </a:rPr>
              <a:t>particular discipline</a:t>
            </a:r>
            <a:r>
              <a:rPr lang="en-AU" sz="1800" b="0">
                <a:solidFill>
                  <a:srgbClr val="000000"/>
                </a:solidFill>
                <a:latin typeface="Courier New" pitchFamily="49" charset="0"/>
              </a:rPr>
              <a:t>’ </a:t>
            </a:r>
            <a:r>
              <a:rPr lang="en-AU" sz="1800" b="0" i="1">
                <a:solidFill>
                  <a:srgbClr val="000000"/>
                </a:solidFill>
                <a:latin typeface="Courier New" pitchFamily="49" charset="0"/>
              </a:rPr>
              <a:t>(New Collins Dictionary.1986)… The aim of methodology is to help us understand, in the broadest possible terms, not the </a:t>
            </a:r>
            <a:r>
              <a:rPr lang="en-AU" sz="1800" i="1">
                <a:solidFill>
                  <a:srgbClr val="000000"/>
                </a:solidFill>
                <a:latin typeface="Courier New" pitchFamily="49" charset="0"/>
              </a:rPr>
              <a:t>products</a:t>
            </a:r>
            <a:r>
              <a:rPr lang="en-AU" sz="1800" b="0" i="1">
                <a:solidFill>
                  <a:srgbClr val="000000"/>
                </a:solidFill>
                <a:latin typeface="Courier New" pitchFamily="49" charset="0"/>
              </a:rPr>
              <a:t> of inquiry, but </a:t>
            </a:r>
            <a:r>
              <a:rPr lang="en-AU" sz="1800" i="1">
                <a:solidFill>
                  <a:srgbClr val="000000"/>
                </a:solidFill>
                <a:latin typeface="Courier New" pitchFamily="49" charset="0"/>
              </a:rPr>
              <a:t>the process itself</a:t>
            </a:r>
            <a:r>
              <a:rPr lang="en-AU" sz="1800" b="0" i="1">
                <a:solidFill>
                  <a:srgbClr val="000000"/>
                </a:solidFill>
                <a:latin typeface="Courier New" pitchFamily="49" charset="0"/>
              </a:rPr>
              <a:t>. </a:t>
            </a:r>
          </a:p>
        </p:txBody>
      </p:sp>
      <p:sp>
        <p:nvSpPr>
          <p:cNvPr id="92166" name="Rectangle 6"/>
          <p:cNvSpPr>
            <a:spLocks noChangeArrowheads="1"/>
          </p:cNvSpPr>
          <p:nvPr/>
        </p:nvSpPr>
        <p:spPr bwMode="auto">
          <a:xfrm>
            <a:off x="4356100" y="4797425"/>
            <a:ext cx="3268663" cy="304800"/>
          </a:xfrm>
          <a:prstGeom prst="rect">
            <a:avLst/>
          </a:prstGeom>
          <a:noFill/>
          <a:ln w="9525">
            <a:noFill/>
            <a:miter lim="800000"/>
            <a:headEnd/>
            <a:tailEnd/>
          </a:ln>
          <a:effectLst/>
        </p:spPr>
        <p:txBody>
          <a:bodyPr wrap="none">
            <a:spAutoFit/>
          </a:bodyPr>
          <a:lstStyle/>
          <a:p>
            <a:r>
              <a:rPr lang="en-AU" sz="1400">
                <a:solidFill>
                  <a:schemeClr val="tx2"/>
                </a:solidFill>
              </a:rPr>
              <a:t>(Gray, C., &amp; Malins, J. 2004)</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403350" y="981075"/>
            <a:ext cx="6481763" cy="5327650"/>
          </a:xfrm>
        </p:spPr>
        <p:txBody>
          <a:bodyPr/>
          <a:lstStyle/>
          <a:p>
            <a:pPr algn="l"/>
            <a:r>
              <a:rPr lang="en-AU" sz="2000" b="0">
                <a:latin typeface="Courier New" pitchFamily="49" charset="0"/>
              </a:rPr>
              <a:t>Is it appropriate for </a:t>
            </a:r>
            <a:r>
              <a:rPr lang="en-AU" sz="2000">
                <a:latin typeface="Courier New" pitchFamily="49" charset="0"/>
              </a:rPr>
              <a:t>practice based</a:t>
            </a:r>
            <a:r>
              <a:rPr lang="en-AU" sz="2000" b="0">
                <a:latin typeface="Courier New" pitchFamily="49" charset="0"/>
              </a:rPr>
              <a:t> fashion researchers to adopt and adapt existing research methodologies to find a scholarly, academic voice? </a:t>
            </a:r>
            <a:br>
              <a:rPr lang="en-AU" sz="2000" b="0">
                <a:latin typeface="Courier New" pitchFamily="49" charset="0"/>
              </a:rPr>
            </a:br>
            <a:r>
              <a:rPr lang="en-AU" sz="2000" b="0">
                <a:latin typeface="Courier New" pitchFamily="49" charset="0"/>
              </a:rPr>
              <a:t/>
            </a:r>
            <a:br>
              <a:rPr lang="en-AU" sz="2000" b="0">
                <a:latin typeface="Courier New" pitchFamily="49" charset="0"/>
              </a:rPr>
            </a:br>
            <a:endParaRPr lang="en-AU" sz="2000" b="0">
              <a:latin typeface="Courier New" pitchFamily="49"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7"/>
          <p:cNvSpPr>
            <a:spLocks noChangeArrowheads="1"/>
          </p:cNvSpPr>
          <p:nvPr/>
        </p:nvSpPr>
        <p:spPr bwMode="auto">
          <a:xfrm>
            <a:off x="4572000" y="3500438"/>
            <a:ext cx="4103688" cy="2838450"/>
          </a:xfrm>
          <a:prstGeom prst="rect">
            <a:avLst/>
          </a:prstGeom>
          <a:noFill/>
          <a:ln w="9525">
            <a:noFill/>
            <a:miter lim="800000"/>
            <a:headEnd/>
            <a:tailEnd/>
          </a:ln>
          <a:effectLst/>
        </p:spPr>
        <p:txBody>
          <a:bodyPr>
            <a:spAutoFit/>
          </a:bodyPr>
          <a:lstStyle/>
          <a:p>
            <a:r>
              <a:rPr lang="en-AU" b="1"/>
              <a:t>Madeleine Vionnet</a:t>
            </a:r>
            <a:r>
              <a:rPr lang="en-AU"/>
              <a:t>, …… aged ninety-six she was asked by Robert Freson, who was a photographer for the Sunday Times Magazine in London, if she would allow her photograph to be taken. Her reply was, </a:t>
            </a:r>
            <a:r>
              <a:rPr lang="en-AU" b="1"/>
              <a:t>“Sure, but you won’t be able to take what’s inside my head.”</a:t>
            </a:r>
            <a:r>
              <a:rPr lang="en-AU"/>
              <a:t> </a:t>
            </a:r>
            <a:endParaRPr lang="en-AU" sz="1200"/>
          </a:p>
        </p:txBody>
      </p:sp>
      <p:sp>
        <p:nvSpPr>
          <p:cNvPr id="6152" name="Rectangle 8"/>
          <p:cNvSpPr>
            <a:spLocks noChangeArrowheads="1"/>
          </p:cNvSpPr>
          <p:nvPr/>
        </p:nvSpPr>
        <p:spPr bwMode="auto">
          <a:xfrm>
            <a:off x="179388" y="333375"/>
            <a:ext cx="4824412" cy="366713"/>
          </a:xfrm>
          <a:prstGeom prst="rect">
            <a:avLst/>
          </a:prstGeom>
          <a:noFill/>
          <a:ln w="9525">
            <a:noFill/>
            <a:miter lim="800000"/>
            <a:headEnd/>
            <a:tailEnd/>
          </a:ln>
          <a:effectLst/>
        </p:spPr>
        <p:txBody>
          <a:bodyPr>
            <a:spAutoFit/>
          </a:bodyPr>
          <a:lstStyle/>
          <a:p>
            <a:r>
              <a:rPr lang="en-AU"/>
              <a:t>Why should we care?</a:t>
            </a:r>
          </a:p>
        </p:txBody>
      </p:sp>
      <p:sp>
        <p:nvSpPr>
          <p:cNvPr id="6153" name="Rectangle 9"/>
          <p:cNvSpPr>
            <a:spLocks noChangeArrowheads="1"/>
          </p:cNvSpPr>
          <p:nvPr/>
        </p:nvSpPr>
        <p:spPr bwMode="auto">
          <a:xfrm>
            <a:off x="539552" y="4653136"/>
            <a:ext cx="3222625" cy="1600438"/>
          </a:xfrm>
          <a:prstGeom prst="rect">
            <a:avLst/>
          </a:prstGeom>
          <a:noFill/>
          <a:ln w="9525">
            <a:noFill/>
            <a:miter lim="800000"/>
            <a:headEnd/>
            <a:tailEnd/>
          </a:ln>
          <a:effectLst/>
        </p:spPr>
        <p:txBody>
          <a:bodyPr>
            <a:spAutoFit/>
          </a:bodyPr>
          <a:lstStyle/>
          <a:p>
            <a:r>
              <a:rPr lang="en-AU" sz="1400" dirty="0"/>
              <a:t>Madeleine </a:t>
            </a:r>
            <a:r>
              <a:rPr lang="en-AU" sz="1400" dirty="0" err="1"/>
              <a:t>Vionnet</a:t>
            </a:r>
            <a:r>
              <a:rPr lang="en-AU" sz="1400" dirty="0"/>
              <a:t> draping the pattern for her design on an articulated artist model mounted on a piano bench, 1923. Photo by </a:t>
            </a:r>
            <a:r>
              <a:rPr lang="en-AU" sz="1400" dirty="0" err="1"/>
              <a:t>Thérèse</a:t>
            </a:r>
            <a:r>
              <a:rPr lang="en-AU" sz="1400" dirty="0"/>
              <a:t> </a:t>
            </a:r>
            <a:r>
              <a:rPr lang="en-AU" sz="1400" dirty="0" err="1"/>
              <a:t>Bonney</a:t>
            </a:r>
            <a:endParaRPr lang="en-AU" sz="1400" dirty="0"/>
          </a:p>
          <a:p>
            <a:r>
              <a:rPr lang="en-AU" sz="1400" dirty="0"/>
              <a:t>(</a:t>
            </a:r>
            <a:r>
              <a:rPr lang="en-AU" sz="1400" dirty="0" err="1"/>
              <a:t>Kirke</a:t>
            </a:r>
            <a:r>
              <a:rPr lang="en-AU" sz="1400" dirty="0"/>
              <a:t>, B. 1991).</a:t>
            </a:r>
          </a:p>
        </p:txBody>
      </p:sp>
      <p:sp>
        <p:nvSpPr>
          <p:cNvPr id="9" name="Rectangle 8"/>
          <p:cNvSpPr/>
          <p:nvPr/>
        </p:nvSpPr>
        <p:spPr bwMode="auto">
          <a:xfrm>
            <a:off x="683568" y="980728"/>
            <a:ext cx="2952328" cy="338437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1800" b="0" i="0" u="none" strike="noStrike" cap="none" normalizeH="0" baseline="0" smtClean="0">
              <a:ln>
                <a:noFill/>
              </a:ln>
              <a:solidFill>
                <a:schemeClr val="tx1"/>
              </a:solidFill>
              <a:effectLst/>
              <a:latin typeface="Courier New" pitchFamily="49" charset="0"/>
              <a:cs typeface="Arial" pitchFamily="34" charset="0"/>
            </a:endParaRPr>
          </a:p>
        </p:txBody>
      </p:sp>
      <p:sp>
        <p:nvSpPr>
          <p:cNvPr id="10" name="Rectangle 9"/>
          <p:cNvSpPr/>
          <p:nvPr/>
        </p:nvSpPr>
        <p:spPr bwMode="auto">
          <a:xfrm>
            <a:off x="5004048" y="980728"/>
            <a:ext cx="2952328" cy="22322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1800" b="0" i="0" u="none" strike="noStrike" cap="none" normalizeH="0" baseline="0" smtClean="0">
              <a:ln>
                <a:noFill/>
              </a:ln>
              <a:solidFill>
                <a:schemeClr val="tx1"/>
              </a:solidFill>
              <a:effectLst/>
              <a:latin typeface="Courier New" pitchFamily="49"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4"/>
          <p:cNvPicPr>
            <a:picLocks noChangeAspect="1" noChangeArrowheads="1"/>
          </p:cNvPicPr>
          <p:nvPr/>
        </p:nvPicPr>
        <p:blipFill>
          <a:blip r:embed="rId3" cstate="print"/>
          <a:srcRect/>
          <a:stretch>
            <a:fillRect/>
          </a:stretch>
        </p:blipFill>
        <p:spPr bwMode="auto">
          <a:xfrm>
            <a:off x="900113" y="4365625"/>
            <a:ext cx="6480175" cy="2336800"/>
          </a:xfrm>
          <a:prstGeom prst="rect">
            <a:avLst/>
          </a:prstGeom>
          <a:noFill/>
          <a:ln w="9525">
            <a:noFill/>
            <a:miter lim="800000"/>
            <a:headEnd/>
            <a:tailEnd/>
          </a:ln>
          <a:effectLst/>
        </p:spPr>
      </p:pic>
      <p:pic>
        <p:nvPicPr>
          <p:cNvPr id="82949" name="Picture 5"/>
          <p:cNvPicPr>
            <a:picLocks noChangeAspect="1" noChangeArrowheads="1"/>
          </p:cNvPicPr>
          <p:nvPr/>
        </p:nvPicPr>
        <p:blipFill>
          <a:blip r:embed="rId4" cstate="print"/>
          <a:srcRect/>
          <a:stretch>
            <a:fillRect/>
          </a:stretch>
        </p:blipFill>
        <p:spPr bwMode="auto">
          <a:xfrm>
            <a:off x="395288" y="404813"/>
            <a:ext cx="2441575" cy="3887787"/>
          </a:xfrm>
          <a:prstGeom prst="rect">
            <a:avLst/>
          </a:prstGeom>
          <a:noFill/>
          <a:ln w="9525">
            <a:noFill/>
            <a:miter lim="800000"/>
            <a:headEnd/>
            <a:tailEnd/>
          </a:ln>
          <a:effectLst/>
        </p:spPr>
      </p:pic>
      <p:sp>
        <p:nvSpPr>
          <p:cNvPr id="82950" name="Rectangle 6"/>
          <p:cNvSpPr>
            <a:spLocks noChangeArrowheads="1"/>
          </p:cNvSpPr>
          <p:nvPr/>
        </p:nvSpPr>
        <p:spPr bwMode="auto">
          <a:xfrm>
            <a:off x="3492500" y="981075"/>
            <a:ext cx="4895850" cy="3070225"/>
          </a:xfrm>
          <a:prstGeom prst="rect">
            <a:avLst/>
          </a:prstGeom>
          <a:noFill/>
          <a:ln w="9525">
            <a:noFill/>
            <a:miter lim="800000"/>
            <a:headEnd/>
            <a:tailEnd/>
          </a:ln>
          <a:effectLst/>
        </p:spPr>
        <p:txBody>
          <a:bodyPr>
            <a:spAutoFit/>
          </a:bodyPr>
          <a:lstStyle/>
          <a:p>
            <a:pPr>
              <a:buFontTx/>
              <a:buChar char="•"/>
            </a:pPr>
            <a:r>
              <a:rPr lang="en-AU" sz="1400">
                <a:solidFill>
                  <a:schemeClr val="tx2"/>
                </a:solidFill>
              </a:rPr>
              <a:t> Looking at the final product, here a garment designed by Madeline Vionnet, the practitioner can not fully appreciate the </a:t>
            </a:r>
            <a:r>
              <a:rPr lang="en-AU" sz="1400" b="1">
                <a:solidFill>
                  <a:schemeClr val="tx2"/>
                </a:solidFill>
              </a:rPr>
              <a:t>innovation</a:t>
            </a:r>
            <a:r>
              <a:rPr lang="en-AU" sz="1400">
                <a:solidFill>
                  <a:schemeClr val="tx2"/>
                </a:solidFill>
              </a:rPr>
              <a:t> that has occurred though the development process</a:t>
            </a:r>
          </a:p>
          <a:p>
            <a:pPr>
              <a:buFontTx/>
              <a:buChar char="•"/>
            </a:pPr>
            <a:endParaRPr lang="en-AU" sz="1400">
              <a:solidFill>
                <a:schemeClr val="tx2"/>
              </a:solidFill>
            </a:endParaRPr>
          </a:p>
          <a:p>
            <a:pPr>
              <a:buFontTx/>
              <a:buChar char="•"/>
            </a:pPr>
            <a:r>
              <a:rPr lang="en-AU" sz="1400">
                <a:solidFill>
                  <a:schemeClr val="tx2"/>
                </a:solidFill>
              </a:rPr>
              <a:t> Modern texts attempt to capture this information by accompanying a ‘plan of action’ with images of her work</a:t>
            </a:r>
          </a:p>
          <a:p>
            <a:pPr>
              <a:buFontTx/>
              <a:buChar char="•"/>
            </a:pPr>
            <a:endParaRPr lang="en-AU" sz="1400">
              <a:solidFill>
                <a:schemeClr val="tx2"/>
              </a:solidFill>
            </a:endParaRPr>
          </a:p>
          <a:p>
            <a:pPr>
              <a:buFontTx/>
              <a:buChar char="•"/>
            </a:pPr>
            <a:r>
              <a:rPr lang="en-AU" sz="1400">
                <a:solidFill>
                  <a:schemeClr val="tx2"/>
                </a:solidFill>
              </a:rPr>
              <a:t> This plan has been created by a person who was not the creator…what </a:t>
            </a:r>
            <a:r>
              <a:rPr lang="en-AU" sz="1400" b="1">
                <a:solidFill>
                  <a:schemeClr val="tx2"/>
                </a:solidFill>
              </a:rPr>
              <a:t>insight</a:t>
            </a:r>
            <a:r>
              <a:rPr lang="en-AU" sz="1400">
                <a:solidFill>
                  <a:schemeClr val="tx2"/>
                </a:solidFill>
              </a:rPr>
              <a:t> could have been gained if the work had been captured by the designer herself?</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005"/>
          <p:cNvPicPr>
            <a:picLocks noChangeAspect="1" noChangeArrowheads="1"/>
          </p:cNvPicPr>
          <p:nvPr/>
        </p:nvPicPr>
        <p:blipFill>
          <a:blip r:embed="rId3" cstate="print"/>
          <a:srcRect/>
          <a:stretch>
            <a:fillRect/>
          </a:stretch>
        </p:blipFill>
        <p:spPr bwMode="auto">
          <a:xfrm>
            <a:off x="0" y="476250"/>
            <a:ext cx="9144000" cy="3959225"/>
          </a:xfrm>
          <a:prstGeom prst="rect">
            <a:avLst/>
          </a:prstGeom>
          <a:noFill/>
        </p:spPr>
      </p:pic>
      <p:sp>
        <p:nvSpPr>
          <p:cNvPr id="76806" name="Rectangle 6"/>
          <p:cNvSpPr>
            <a:spLocks noChangeArrowheads="1"/>
          </p:cNvSpPr>
          <p:nvPr/>
        </p:nvSpPr>
        <p:spPr bwMode="auto">
          <a:xfrm>
            <a:off x="611188" y="4941888"/>
            <a:ext cx="7993062" cy="641350"/>
          </a:xfrm>
          <a:prstGeom prst="rect">
            <a:avLst/>
          </a:prstGeom>
          <a:noFill/>
          <a:ln w="9525">
            <a:noFill/>
            <a:miter lim="800000"/>
            <a:headEnd/>
            <a:tailEnd/>
          </a:ln>
          <a:effectLst/>
        </p:spPr>
        <p:txBody>
          <a:bodyPr>
            <a:spAutoFit/>
          </a:bodyPr>
          <a:lstStyle/>
          <a:p>
            <a:pPr algn="ctr"/>
            <a:r>
              <a:rPr lang="en-AU">
                <a:solidFill>
                  <a:schemeClr val="tx2"/>
                </a:solidFill>
              </a:rPr>
              <a:t>Fashion Manufacturing in New Zealand: Can design contribute to a sustainable industry?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ChangeArrowheads="1"/>
          </p:cNvSpPr>
          <p:nvPr/>
        </p:nvSpPr>
        <p:spPr bwMode="auto">
          <a:xfrm>
            <a:off x="1476375" y="2924175"/>
            <a:ext cx="6191250" cy="304800"/>
          </a:xfrm>
          <a:prstGeom prst="rect">
            <a:avLst/>
          </a:prstGeom>
          <a:noFill/>
          <a:ln w="9525">
            <a:noFill/>
            <a:miter lim="800000"/>
            <a:headEnd/>
            <a:tailEnd/>
          </a:ln>
          <a:effectLst/>
        </p:spPr>
        <p:txBody>
          <a:bodyPr>
            <a:spAutoFit/>
          </a:bodyPr>
          <a:lstStyle/>
          <a:p>
            <a:r>
              <a:rPr lang="en-AU" sz="1400">
                <a:solidFill>
                  <a:schemeClr val="tx2"/>
                </a:solidFill>
              </a:rPr>
              <a:t> </a:t>
            </a:r>
          </a:p>
        </p:txBody>
      </p:sp>
      <p:sp>
        <p:nvSpPr>
          <p:cNvPr id="83974" name="Rectangle 6"/>
          <p:cNvSpPr>
            <a:spLocks noChangeArrowheads="1"/>
          </p:cNvSpPr>
          <p:nvPr/>
        </p:nvSpPr>
        <p:spPr bwMode="auto">
          <a:xfrm>
            <a:off x="755650" y="1484313"/>
            <a:ext cx="7993063" cy="3937000"/>
          </a:xfrm>
          <a:prstGeom prst="rect">
            <a:avLst/>
          </a:prstGeom>
          <a:noFill/>
          <a:ln w="9525">
            <a:noFill/>
            <a:miter lim="800000"/>
            <a:headEnd/>
            <a:tailEnd/>
          </a:ln>
          <a:effectLst/>
        </p:spPr>
        <p:txBody>
          <a:bodyPr>
            <a:spAutoFit/>
          </a:bodyPr>
          <a:lstStyle/>
          <a:p>
            <a:r>
              <a:rPr lang="en-AU">
                <a:solidFill>
                  <a:schemeClr val="tx2"/>
                </a:solidFill>
              </a:rPr>
              <a:t>What are the specific </a:t>
            </a:r>
            <a:r>
              <a:rPr lang="en-AU" b="1">
                <a:solidFill>
                  <a:schemeClr val="tx2"/>
                </a:solidFill>
              </a:rPr>
              <a:t>research questions</a:t>
            </a:r>
            <a:r>
              <a:rPr lang="en-AU">
                <a:solidFill>
                  <a:schemeClr val="tx2"/>
                </a:solidFill>
              </a:rPr>
              <a:t> addressed through this practice based research project?</a:t>
            </a:r>
          </a:p>
          <a:p>
            <a:endParaRPr lang="en-AU">
              <a:solidFill>
                <a:schemeClr val="tx2"/>
              </a:solidFill>
            </a:endParaRPr>
          </a:p>
          <a:p>
            <a:r>
              <a:rPr lang="en-AU">
                <a:solidFill>
                  <a:schemeClr val="tx2"/>
                </a:solidFill>
              </a:rPr>
              <a:t>How does the </a:t>
            </a:r>
            <a:r>
              <a:rPr lang="en-AU" b="1">
                <a:solidFill>
                  <a:schemeClr val="tx2"/>
                </a:solidFill>
              </a:rPr>
              <a:t>practice</a:t>
            </a:r>
            <a:r>
              <a:rPr lang="en-AU">
                <a:solidFill>
                  <a:schemeClr val="tx2"/>
                </a:solidFill>
              </a:rPr>
              <a:t> address the </a:t>
            </a:r>
            <a:r>
              <a:rPr lang="en-AU" b="1">
                <a:solidFill>
                  <a:schemeClr val="tx2"/>
                </a:solidFill>
              </a:rPr>
              <a:t>research questions</a:t>
            </a:r>
            <a:r>
              <a:rPr lang="en-AU">
                <a:solidFill>
                  <a:schemeClr val="tx2"/>
                </a:solidFill>
              </a:rPr>
              <a:t>?</a:t>
            </a:r>
          </a:p>
          <a:p>
            <a:endParaRPr lang="en-AU">
              <a:solidFill>
                <a:schemeClr val="tx2"/>
              </a:solidFill>
            </a:endParaRPr>
          </a:p>
          <a:p>
            <a:r>
              <a:rPr lang="en-AU">
                <a:solidFill>
                  <a:schemeClr val="tx2"/>
                </a:solidFill>
              </a:rPr>
              <a:t>What are the </a:t>
            </a:r>
            <a:r>
              <a:rPr lang="en-AU" b="1">
                <a:solidFill>
                  <a:schemeClr val="tx2"/>
                </a:solidFill>
              </a:rPr>
              <a:t>methods</a:t>
            </a:r>
            <a:r>
              <a:rPr lang="en-AU">
                <a:solidFill>
                  <a:schemeClr val="tx2"/>
                </a:solidFill>
              </a:rPr>
              <a:t> that have been used to investigate the possibilities of the research?</a:t>
            </a:r>
          </a:p>
          <a:p>
            <a:endParaRPr lang="en-AU">
              <a:solidFill>
                <a:schemeClr val="tx2"/>
              </a:solidFill>
            </a:endParaRPr>
          </a:p>
          <a:p>
            <a:r>
              <a:rPr lang="en-AU">
                <a:solidFill>
                  <a:schemeClr val="tx2"/>
                </a:solidFill>
              </a:rPr>
              <a:t>What was the </a:t>
            </a:r>
            <a:r>
              <a:rPr lang="en-AU" b="1">
                <a:solidFill>
                  <a:schemeClr val="tx2"/>
                </a:solidFill>
              </a:rPr>
              <a:t>scope</a:t>
            </a:r>
            <a:r>
              <a:rPr lang="en-AU">
                <a:solidFill>
                  <a:schemeClr val="tx2"/>
                </a:solidFill>
              </a:rPr>
              <a:t> of the research, what is the </a:t>
            </a:r>
            <a:r>
              <a:rPr lang="en-AU" b="1">
                <a:solidFill>
                  <a:schemeClr val="tx2"/>
                </a:solidFill>
              </a:rPr>
              <a:t>context</a:t>
            </a:r>
            <a:r>
              <a:rPr lang="en-AU">
                <a:solidFill>
                  <a:schemeClr val="tx2"/>
                </a:solidFill>
              </a:rPr>
              <a:t> of the research? How </a:t>
            </a:r>
            <a:r>
              <a:rPr lang="en-AU" b="1">
                <a:solidFill>
                  <a:schemeClr val="tx2"/>
                </a:solidFill>
              </a:rPr>
              <a:t>effective</a:t>
            </a:r>
            <a:r>
              <a:rPr lang="en-AU">
                <a:solidFill>
                  <a:schemeClr val="tx2"/>
                </a:solidFill>
              </a:rPr>
              <a:t> has the researcher been in seeking a solution?</a:t>
            </a:r>
          </a:p>
          <a:p>
            <a:endParaRPr lang="en-AU">
              <a:solidFill>
                <a:schemeClr val="tx2"/>
              </a:solidFill>
            </a:endParaRPr>
          </a:p>
          <a:p>
            <a:r>
              <a:rPr lang="en-AU">
                <a:solidFill>
                  <a:schemeClr val="tx2"/>
                </a:solidFill>
              </a:rPr>
              <a:t>What </a:t>
            </a:r>
            <a:r>
              <a:rPr lang="en-AU" b="1">
                <a:solidFill>
                  <a:schemeClr val="tx2"/>
                </a:solidFill>
              </a:rPr>
              <a:t>other questions</a:t>
            </a:r>
            <a:r>
              <a:rPr lang="en-AU">
                <a:solidFill>
                  <a:schemeClr val="tx2"/>
                </a:solidFill>
              </a:rPr>
              <a:t> could be asked as a result of this research?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3" cstate="print"/>
          <a:srcRect/>
          <a:stretch>
            <a:fillRect/>
          </a:stretch>
        </p:blipFill>
        <p:spPr bwMode="auto">
          <a:xfrm>
            <a:off x="684213" y="620713"/>
            <a:ext cx="7427912" cy="6065837"/>
          </a:xfrm>
          <a:prstGeom prst="rect">
            <a:avLst/>
          </a:prstGeom>
          <a:noFill/>
          <a:ln w="9525">
            <a:noFill/>
            <a:miter lim="800000"/>
            <a:headEnd/>
            <a:tailEnd/>
          </a:ln>
          <a:effectLst/>
        </p:spPr>
      </p:pic>
      <p:sp>
        <p:nvSpPr>
          <p:cNvPr id="111619" name="Rectangle 3"/>
          <p:cNvSpPr>
            <a:spLocks noChangeArrowheads="1"/>
          </p:cNvSpPr>
          <p:nvPr/>
        </p:nvSpPr>
        <p:spPr bwMode="auto">
          <a:xfrm>
            <a:off x="323850" y="260350"/>
            <a:ext cx="3168650" cy="730250"/>
          </a:xfrm>
          <a:prstGeom prst="rect">
            <a:avLst/>
          </a:prstGeom>
          <a:noFill/>
          <a:ln w="9525">
            <a:noFill/>
            <a:miter lim="800000"/>
            <a:headEnd/>
            <a:tailEnd/>
          </a:ln>
          <a:effectLst/>
        </p:spPr>
        <p:txBody>
          <a:bodyPr>
            <a:spAutoFit/>
          </a:bodyPr>
          <a:lstStyle/>
          <a:p>
            <a:r>
              <a:rPr lang="en-AU" sz="1400">
                <a:solidFill>
                  <a:schemeClr val="tx2"/>
                </a:solidFill>
              </a:rPr>
              <a:t>A designers sketchbook records concepts for development…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9" name="Picture 3"/>
          <p:cNvPicPr>
            <a:picLocks noChangeAspect="1" noChangeArrowheads="1"/>
          </p:cNvPicPr>
          <p:nvPr/>
        </p:nvPicPr>
        <p:blipFill>
          <a:blip r:embed="rId3" cstate="print"/>
          <a:srcRect/>
          <a:stretch>
            <a:fillRect/>
          </a:stretch>
        </p:blipFill>
        <p:spPr bwMode="auto">
          <a:xfrm>
            <a:off x="5795963" y="620713"/>
            <a:ext cx="2386012" cy="4878387"/>
          </a:xfrm>
          <a:prstGeom prst="rect">
            <a:avLst/>
          </a:prstGeom>
          <a:noFill/>
          <a:ln w="9525">
            <a:noFill/>
            <a:miter lim="800000"/>
            <a:headEnd/>
            <a:tailEnd/>
          </a:ln>
          <a:effectLst/>
        </p:spPr>
      </p:pic>
      <p:pic>
        <p:nvPicPr>
          <p:cNvPr id="86020" name="Picture 4"/>
          <p:cNvPicPr>
            <a:picLocks noChangeAspect="1" noChangeArrowheads="1"/>
          </p:cNvPicPr>
          <p:nvPr/>
        </p:nvPicPr>
        <p:blipFill>
          <a:blip r:embed="rId4" cstate="print"/>
          <a:srcRect/>
          <a:stretch>
            <a:fillRect/>
          </a:stretch>
        </p:blipFill>
        <p:spPr bwMode="auto">
          <a:xfrm>
            <a:off x="1042988" y="1125538"/>
            <a:ext cx="2809875" cy="4537075"/>
          </a:xfrm>
          <a:prstGeom prst="rect">
            <a:avLst/>
          </a:prstGeom>
          <a:noFill/>
          <a:ln w="9525">
            <a:noFill/>
            <a:miter lim="800000"/>
            <a:headEnd/>
            <a:tailEnd/>
          </a:ln>
          <a:effectLst/>
        </p:spPr>
      </p:pic>
      <p:sp>
        <p:nvSpPr>
          <p:cNvPr id="86021" name="Rectangle 5"/>
          <p:cNvSpPr>
            <a:spLocks noChangeArrowheads="1"/>
          </p:cNvSpPr>
          <p:nvPr/>
        </p:nvSpPr>
        <p:spPr bwMode="auto">
          <a:xfrm>
            <a:off x="611188" y="188913"/>
            <a:ext cx="5375275" cy="915987"/>
          </a:xfrm>
          <a:prstGeom prst="rect">
            <a:avLst/>
          </a:prstGeom>
          <a:noFill/>
          <a:ln w="9525">
            <a:noFill/>
            <a:miter lim="800000"/>
            <a:headEnd/>
            <a:tailEnd/>
          </a:ln>
          <a:effectLst/>
        </p:spPr>
        <p:txBody>
          <a:bodyPr>
            <a:spAutoFit/>
          </a:bodyPr>
          <a:lstStyle/>
          <a:p>
            <a:r>
              <a:rPr lang="en-AU">
                <a:solidFill>
                  <a:schemeClr val="tx2"/>
                </a:solidFill>
              </a:rPr>
              <a:t>What are the methods that can be used to minimise redundancy and make research practice more effective?</a:t>
            </a:r>
          </a:p>
        </p:txBody>
      </p:sp>
      <p:sp>
        <p:nvSpPr>
          <p:cNvPr id="86022" name="Rectangle 6"/>
          <p:cNvSpPr>
            <a:spLocks noChangeArrowheads="1"/>
          </p:cNvSpPr>
          <p:nvPr/>
        </p:nvSpPr>
        <p:spPr bwMode="auto">
          <a:xfrm>
            <a:off x="5580063" y="5876925"/>
            <a:ext cx="3168650" cy="730250"/>
          </a:xfrm>
          <a:prstGeom prst="rect">
            <a:avLst/>
          </a:prstGeom>
          <a:noFill/>
          <a:ln w="9525">
            <a:noFill/>
            <a:miter lim="800000"/>
            <a:headEnd/>
            <a:tailEnd/>
          </a:ln>
          <a:effectLst/>
        </p:spPr>
        <p:txBody>
          <a:bodyPr>
            <a:spAutoFit/>
          </a:bodyPr>
          <a:lstStyle/>
          <a:p>
            <a:r>
              <a:rPr lang="en-AU" sz="1400">
                <a:solidFill>
                  <a:schemeClr val="tx2"/>
                </a:solidFill>
              </a:rPr>
              <a:t>Rudimentary toile made to 1:2 scale to test an initial design concept</a:t>
            </a:r>
          </a:p>
        </p:txBody>
      </p:sp>
      <p:sp>
        <p:nvSpPr>
          <p:cNvPr id="86023" name="Rectangle 7"/>
          <p:cNvSpPr>
            <a:spLocks noChangeArrowheads="1"/>
          </p:cNvSpPr>
          <p:nvPr/>
        </p:nvSpPr>
        <p:spPr bwMode="auto">
          <a:xfrm>
            <a:off x="755650" y="5734050"/>
            <a:ext cx="3168650" cy="942975"/>
          </a:xfrm>
          <a:prstGeom prst="rect">
            <a:avLst/>
          </a:prstGeom>
          <a:noFill/>
          <a:ln w="9525">
            <a:noFill/>
            <a:miter lim="800000"/>
            <a:headEnd/>
            <a:tailEnd/>
          </a:ln>
          <a:effectLst/>
        </p:spPr>
        <p:txBody>
          <a:bodyPr>
            <a:spAutoFit/>
          </a:bodyPr>
          <a:lstStyle/>
          <a:p>
            <a:r>
              <a:rPr lang="en-AU" sz="1400">
                <a:solidFill>
                  <a:schemeClr val="tx2"/>
                </a:solidFill>
              </a:rPr>
              <a:t>A plan of action can be recorded to capture the initial approach that could be taken to a problem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3" name="Picture 3"/>
          <p:cNvPicPr>
            <a:picLocks noChangeAspect="1" noChangeArrowheads="1"/>
          </p:cNvPicPr>
          <p:nvPr/>
        </p:nvPicPr>
        <p:blipFill>
          <a:blip r:embed="rId3" cstate="print"/>
          <a:srcRect/>
          <a:stretch>
            <a:fillRect/>
          </a:stretch>
        </p:blipFill>
        <p:spPr bwMode="auto">
          <a:xfrm>
            <a:off x="2268538" y="1773238"/>
            <a:ext cx="4537075" cy="4284662"/>
          </a:xfrm>
          <a:prstGeom prst="rect">
            <a:avLst/>
          </a:prstGeom>
          <a:noFill/>
          <a:ln w="9525">
            <a:noFill/>
            <a:miter lim="800000"/>
            <a:headEnd/>
            <a:tailEnd/>
          </a:ln>
          <a:effectLst/>
        </p:spPr>
      </p:pic>
      <p:sp>
        <p:nvSpPr>
          <p:cNvPr id="87044" name="Rectangle 4"/>
          <p:cNvSpPr>
            <a:spLocks noChangeArrowheads="1"/>
          </p:cNvSpPr>
          <p:nvPr/>
        </p:nvSpPr>
        <p:spPr bwMode="auto">
          <a:xfrm>
            <a:off x="1763713" y="404813"/>
            <a:ext cx="6264275" cy="915987"/>
          </a:xfrm>
          <a:prstGeom prst="rect">
            <a:avLst/>
          </a:prstGeom>
          <a:noFill/>
          <a:ln w="9525">
            <a:noFill/>
            <a:miter lim="800000"/>
            <a:headEnd/>
            <a:tailEnd/>
          </a:ln>
          <a:effectLst/>
        </p:spPr>
        <p:txBody>
          <a:bodyPr>
            <a:spAutoFit/>
          </a:bodyPr>
          <a:lstStyle/>
          <a:p>
            <a:r>
              <a:rPr lang="en-AU">
                <a:solidFill>
                  <a:schemeClr val="tx2"/>
                </a:solidFill>
              </a:rPr>
              <a:t>Recording and reflecting on design concepts can lead to the same research being applied to a different problem (transferability)</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ChangeArrowheads="1"/>
          </p:cNvSpPr>
          <p:nvPr/>
        </p:nvSpPr>
        <p:spPr bwMode="auto">
          <a:xfrm>
            <a:off x="5003800" y="2276475"/>
            <a:ext cx="3671888" cy="2014538"/>
          </a:xfrm>
          <a:prstGeom prst="rect">
            <a:avLst/>
          </a:prstGeom>
          <a:noFill/>
          <a:ln w="9525">
            <a:noFill/>
            <a:miter lim="800000"/>
            <a:headEnd/>
            <a:tailEnd/>
          </a:ln>
          <a:effectLst/>
        </p:spPr>
        <p:txBody>
          <a:bodyPr>
            <a:spAutoFit/>
          </a:bodyPr>
          <a:lstStyle/>
          <a:p>
            <a:r>
              <a:rPr lang="en-AU">
                <a:solidFill>
                  <a:schemeClr val="tx2"/>
                </a:solidFill>
              </a:rPr>
              <a:t>A designer’s sketch </a:t>
            </a:r>
            <a:r>
              <a:rPr lang="en-AU" b="1">
                <a:solidFill>
                  <a:schemeClr val="tx2"/>
                </a:solidFill>
              </a:rPr>
              <a:t>communicates</a:t>
            </a:r>
            <a:r>
              <a:rPr lang="en-AU">
                <a:solidFill>
                  <a:schemeClr val="tx2"/>
                </a:solidFill>
              </a:rPr>
              <a:t> a concept to other designers and makers…but does it communicate to readers without this </a:t>
            </a:r>
            <a:r>
              <a:rPr lang="en-AU" b="1">
                <a:solidFill>
                  <a:schemeClr val="tx2"/>
                </a:solidFill>
              </a:rPr>
              <a:t>tacit knowledge?</a:t>
            </a:r>
          </a:p>
        </p:txBody>
      </p:sp>
      <p:pic>
        <p:nvPicPr>
          <p:cNvPr id="113668" name="Picture 4"/>
          <p:cNvPicPr>
            <a:picLocks noChangeAspect="1" noChangeArrowheads="1"/>
          </p:cNvPicPr>
          <p:nvPr/>
        </p:nvPicPr>
        <p:blipFill>
          <a:blip r:embed="rId3" cstate="print"/>
          <a:srcRect/>
          <a:stretch>
            <a:fillRect/>
          </a:stretch>
        </p:blipFill>
        <p:spPr bwMode="auto">
          <a:xfrm>
            <a:off x="539750" y="1052513"/>
            <a:ext cx="4371975" cy="51704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4356100" y="836613"/>
            <a:ext cx="4392613" cy="4772025"/>
          </a:xfrm>
          <a:prstGeom prst="rect">
            <a:avLst/>
          </a:prstGeom>
          <a:noFill/>
          <a:ln w="9525">
            <a:noFill/>
            <a:miter lim="800000"/>
            <a:headEnd/>
            <a:tailEnd/>
          </a:ln>
          <a:effectLst/>
        </p:spPr>
        <p:txBody>
          <a:bodyPr>
            <a:spAutoFit/>
          </a:bodyPr>
          <a:lstStyle/>
          <a:p>
            <a:r>
              <a:rPr lang="en-AU" sz="1400"/>
              <a:t>In his book </a:t>
            </a:r>
            <a:r>
              <a:rPr lang="en-AU" sz="1400" i="1"/>
              <a:t>Personal Knowledge</a:t>
            </a:r>
            <a:r>
              <a:rPr lang="en-AU" sz="1400"/>
              <a:t> (1962) Michael Polanyi challenges the accepted theories of knowing. His later writings refer to this concept as tacit knowledge…</a:t>
            </a:r>
          </a:p>
          <a:p>
            <a:endParaRPr lang="en-AU" sz="1400"/>
          </a:p>
          <a:p>
            <a:r>
              <a:rPr lang="en-AU" sz="1400" i="1"/>
              <a:t>To learn by example is to submit to authority. You follow your master because you trust his manner of doing things even when you cannot analyse and account in detail for its effectiveness. By watching the master and emulating his efforts in the presence of his example, the apprentice unconsciously picks up the rules of the art, including those which are not explicitly known to the master himself. These hidden rules can be assimilated only by a person who surrenders himself to that extent uncritically to the imitation of another (Mitchell, M. T. 2006).</a:t>
            </a:r>
          </a:p>
        </p:txBody>
      </p:sp>
      <p:pic>
        <p:nvPicPr>
          <p:cNvPr id="115717" name="Picture 5" descr="mpphto"/>
          <p:cNvPicPr>
            <a:picLocks noChangeAspect="1" noChangeArrowheads="1"/>
          </p:cNvPicPr>
          <p:nvPr/>
        </p:nvPicPr>
        <p:blipFill>
          <a:blip r:embed="rId3" cstate="print"/>
          <a:srcRect/>
          <a:stretch>
            <a:fillRect/>
          </a:stretch>
        </p:blipFill>
        <p:spPr bwMode="auto">
          <a:xfrm>
            <a:off x="250825" y="836613"/>
            <a:ext cx="3748088" cy="4824412"/>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3" cstate="print"/>
          <a:srcRect/>
          <a:stretch>
            <a:fillRect/>
          </a:stretch>
        </p:blipFill>
        <p:spPr bwMode="auto">
          <a:xfrm>
            <a:off x="468313" y="1700213"/>
            <a:ext cx="4751387" cy="3886200"/>
          </a:xfrm>
          <a:prstGeom prst="rect">
            <a:avLst/>
          </a:prstGeom>
          <a:noFill/>
          <a:ln w="9525">
            <a:noFill/>
            <a:miter lim="800000"/>
            <a:headEnd/>
            <a:tailEnd/>
          </a:ln>
          <a:effectLst/>
        </p:spPr>
      </p:pic>
      <p:sp>
        <p:nvSpPr>
          <p:cNvPr id="84995" name="Rectangle 3"/>
          <p:cNvSpPr>
            <a:spLocks noChangeArrowheads="1"/>
          </p:cNvSpPr>
          <p:nvPr/>
        </p:nvSpPr>
        <p:spPr bwMode="auto">
          <a:xfrm>
            <a:off x="2268538" y="404813"/>
            <a:ext cx="4186237" cy="641350"/>
          </a:xfrm>
          <a:prstGeom prst="rect">
            <a:avLst/>
          </a:prstGeom>
          <a:noFill/>
          <a:ln w="9525">
            <a:noFill/>
            <a:miter lim="800000"/>
            <a:headEnd/>
            <a:tailEnd/>
          </a:ln>
          <a:effectLst/>
        </p:spPr>
        <p:txBody>
          <a:bodyPr>
            <a:spAutoFit/>
          </a:bodyPr>
          <a:lstStyle/>
          <a:p>
            <a:r>
              <a:rPr lang="en-AU">
                <a:solidFill>
                  <a:schemeClr val="tx2"/>
                </a:solidFill>
              </a:rPr>
              <a:t>Development of concepts that address research questions</a:t>
            </a:r>
          </a:p>
        </p:txBody>
      </p:sp>
      <p:sp>
        <p:nvSpPr>
          <p:cNvPr id="84996" name="Rectangle 4"/>
          <p:cNvSpPr>
            <a:spLocks noChangeArrowheads="1"/>
          </p:cNvSpPr>
          <p:nvPr/>
        </p:nvSpPr>
        <p:spPr bwMode="auto">
          <a:xfrm>
            <a:off x="5435600" y="1700213"/>
            <a:ext cx="3168650" cy="3495675"/>
          </a:xfrm>
          <a:prstGeom prst="rect">
            <a:avLst/>
          </a:prstGeom>
          <a:noFill/>
          <a:ln w="9525">
            <a:noFill/>
            <a:miter lim="800000"/>
            <a:headEnd/>
            <a:tailEnd/>
          </a:ln>
          <a:effectLst/>
        </p:spPr>
        <p:txBody>
          <a:bodyPr>
            <a:spAutoFit/>
          </a:bodyPr>
          <a:lstStyle/>
          <a:p>
            <a:r>
              <a:rPr lang="en-AU" sz="1400">
                <a:solidFill>
                  <a:schemeClr val="tx2"/>
                </a:solidFill>
              </a:rPr>
              <a:t>A plan of action communicates the concept in terms of the original research question to readers with </a:t>
            </a:r>
            <a:r>
              <a:rPr lang="en-AU" sz="1400" b="1">
                <a:solidFill>
                  <a:schemeClr val="tx2"/>
                </a:solidFill>
              </a:rPr>
              <a:t>tacit knowledge</a:t>
            </a:r>
            <a:r>
              <a:rPr lang="en-AU" sz="1400">
                <a:solidFill>
                  <a:schemeClr val="tx2"/>
                </a:solidFill>
              </a:rPr>
              <a:t> of garment design and making.</a:t>
            </a:r>
          </a:p>
          <a:p>
            <a:endParaRPr lang="en-AU" sz="1400">
              <a:solidFill>
                <a:schemeClr val="tx2"/>
              </a:solidFill>
            </a:endParaRPr>
          </a:p>
          <a:p>
            <a:pPr>
              <a:buFontTx/>
              <a:buChar char="•"/>
            </a:pPr>
            <a:r>
              <a:rPr lang="en-AU" sz="1400">
                <a:solidFill>
                  <a:schemeClr val="tx2"/>
                </a:solidFill>
              </a:rPr>
              <a:t>Fabric minimisation</a:t>
            </a:r>
          </a:p>
          <a:p>
            <a:pPr>
              <a:buFontTx/>
              <a:buChar char="•"/>
            </a:pPr>
            <a:r>
              <a:rPr lang="en-AU" sz="1400">
                <a:solidFill>
                  <a:schemeClr val="tx2"/>
                </a:solidFill>
              </a:rPr>
              <a:t>Cutting minimisation</a:t>
            </a:r>
          </a:p>
          <a:p>
            <a:pPr>
              <a:buFontTx/>
              <a:buChar char="•"/>
            </a:pPr>
            <a:r>
              <a:rPr lang="en-AU" sz="1400">
                <a:solidFill>
                  <a:schemeClr val="tx2"/>
                </a:solidFill>
              </a:rPr>
              <a:t>Minimal seaming (single seam garment)</a:t>
            </a:r>
          </a:p>
          <a:p>
            <a:pPr>
              <a:buFontTx/>
              <a:buChar char="•"/>
            </a:pPr>
            <a:r>
              <a:rPr lang="en-AU" sz="1400">
                <a:solidFill>
                  <a:schemeClr val="tx2"/>
                </a:solidFill>
              </a:rPr>
              <a:t>Limited use of high tech machinery</a:t>
            </a:r>
          </a:p>
          <a:p>
            <a:pPr>
              <a:buFontTx/>
              <a:buChar char="•"/>
            </a:pPr>
            <a:r>
              <a:rPr lang="en-AU" sz="1400">
                <a:solidFill>
                  <a:schemeClr val="tx2"/>
                </a:solidFill>
              </a:rPr>
              <a:t>Minimisation or elimination of pattern and grading processes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7" name="Picture 3"/>
          <p:cNvPicPr>
            <a:picLocks noChangeAspect="1" noChangeArrowheads="1"/>
          </p:cNvPicPr>
          <p:nvPr/>
        </p:nvPicPr>
        <p:blipFill>
          <a:blip r:embed="rId3" cstate="print"/>
          <a:srcRect/>
          <a:stretch>
            <a:fillRect/>
          </a:stretch>
        </p:blipFill>
        <p:spPr bwMode="auto">
          <a:xfrm>
            <a:off x="1331913" y="1268413"/>
            <a:ext cx="1879600" cy="3671887"/>
          </a:xfrm>
          <a:prstGeom prst="rect">
            <a:avLst/>
          </a:prstGeom>
          <a:noFill/>
          <a:ln w="9525">
            <a:noFill/>
            <a:miter lim="800000"/>
            <a:headEnd/>
            <a:tailEnd/>
          </a:ln>
          <a:effectLst/>
        </p:spPr>
      </p:pic>
      <p:pic>
        <p:nvPicPr>
          <p:cNvPr id="88068" name="Picture 4"/>
          <p:cNvPicPr>
            <a:picLocks noChangeAspect="1" noChangeArrowheads="1"/>
          </p:cNvPicPr>
          <p:nvPr/>
        </p:nvPicPr>
        <p:blipFill>
          <a:blip r:embed="rId4" cstate="print"/>
          <a:srcRect/>
          <a:stretch>
            <a:fillRect/>
          </a:stretch>
        </p:blipFill>
        <p:spPr bwMode="auto">
          <a:xfrm>
            <a:off x="3348038" y="260350"/>
            <a:ext cx="1749425" cy="3771900"/>
          </a:xfrm>
          <a:prstGeom prst="rect">
            <a:avLst/>
          </a:prstGeom>
          <a:noFill/>
          <a:ln w="9525">
            <a:noFill/>
            <a:miter lim="800000"/>
            <a:headEnd/>
            <a:tailEnd/>
          </a:ln>
          <a:effectLst/>
        </p:spPr>
      </p:pic>
      <p:pic>
        <p:nvPicPr>
          <p:cNvPr id="88069" name="Picture 5"/>
          <p:cNvPicPr>
            <a:picLocks noChangeAspect="1" noChangeArrowheads="1"/>
          </p:cNvPicPr>
          <p:nvPr/>
        </p:nvPicPr>
        <p:blipFill>
          <a:blip r:embed="rId5" cstate="print"/>
          <a:srcRect/>
          <a:stretch>
            <a:fillRect/>
          </a:stretch>
        </p:blipFill>
        <p:spPr bwMode="auto">
          <a:xfrm>
            <a:off x="5219700" y="1268413"/>
            <a:ext cx="1874838" cy="3851275"/>
          </a:xfrm>
          <a:prstGeom prst="rect">
            <a:avLst/>
          </a:prstGeom>
          <a:noFill/>
          <a:ln w="9525">
            <a:noFill/>
            <a:miter lim="800000"/>
            <a:headEnd/>
            <a:tailEnd/>
          </a:ln>
          <a:effectLst/>
        </p:spPr>
      </p:pic>
      <p:sp>
        <p:nvSpPr>
          <p:cNvPr id="88070" name="Rectangle 6"/>
          <p:cNvSpPr>
            <a:spLocks noChangeArrowheads="1"/>
          </p:cNvSpPr>
          <p:nvPr/>
        </p:nvSpPr>
        <p:spPr bwMode="auto">
          <a:xfrm>
            <a:off x="1258888" y="5229225"/>
            <a:ext cx="6815137" cy="641350"/>
          </a:xfrm>
          <a:prstGeom prst="rect">
            <a:avLst/>
          </a:prstGeom>
          <a:noFill/>
          <a:ln w="9525">
            <a:noFill/>
            <a:miter lim="800000"/>
            <a:headEnd/>
            <a:tailEnd/>
          </a:ln>
          <a:effectLst/>
        </p:spPr>
        <p:txBody>
          <a:bodyPr>
            <a:spAutoFit/>
          </a:bodyPr>
          <a:lstStyle/>
          <a:p>
            <a:r>
              <a:rPr lang="en-AU">
                <a:solidFill>
                  <a:schemeClr val="tx2"/>
                </a:solidFill>
              </a:rPr>
              <a:t>What is the best way to </a:t>
            </a:r>
            <a:r>
              <a:rPr lang="en-AU" b="1">
                <a:solidFill>
                  <a:schemeClr val="tx2"/>
                </a:solidFill>
              </a:rPr>
              <a:t>document</a:t>
            </a:r>
            <a:r>
              <a:rPr lang="en-AU">
                <a:solidFill>
                  <a:schemeClr val="tx2"/>
                </a:solidFill>
              </a:rPr>
              <a:t> prototypes to allow the designer to evaluate, improve, extend?</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2" name="Picture 4"/>
          <p:cNvPicPr>
            <a:picLocks noChangeAspect="1" noChangeArrowheads="1"/>
          </p:cNvPicPr>
          <p:nvPr/>
        </p:nvPicPr>
        <p:blipFill>
          <a:blip r:embed="rId3" cstate="print"/>
          <a:srcRect/>
          <a:stretch>
            <a:fillRect/>
          </a:stretch>
        </p:blipFill>
        <p:spPr bwMode="auto">
          <a:xfrm>
            <a:off x="1476375" y="692150"/>
            <a:ext cx="6083300" cy="5430838"/>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8313" y="2420938"/>
            <a:ext cx="8229600" cy="1143000"/>
          </a:xfrm>
        </p:spPr>
        <p:txBody>
          <a:bodyPr/>
          <a:lstStyle/>
          <a:p>
            <a:r>
              <a:rPr lang="en-AU" sz="1800" b="0">
                <a:latin typeface="Courier New" pitchFamily="49" charset="0"/>
              </a:rPr>
              <a:t>An examination of the </a:t>
            </a:r>
            <a:r>
              <a:rPr lang="en-AU" sz="1800">
                <a:latin typeface="Courier New" pitchFamily="49" charset="0"/>
              </a:rPr>
              <a:t>methods and processes</a:t>
            </a:r>
            <a:r>
              <a:rPr lang="en-AU" sz="1800" b="0">
                <a:latin typeface="Courier New" pitchFamily="49" charset="0"/>
              </a:rPr>
              <a:t> used by fashion design practitioners, as in the case of the examples discussed, could allow for the </a:t>
            </a:r>
            <a:r>
              <a:rPr lang="en-AU" sz="1800">
                <a:latin typeface="Courier New" pitchFamily="49" charset="0"/>
              </a:rPr>
              <a:t>development of appropriate models</a:t>
            </a:r>
            <a:r>
              <a:rPr lang="en-AU" sz="1800" b="0">
                <a:latin typeface="Courier New" pitchFamily="49" charset="0"/>
              </a:rPr>
              <a:t> for framing fashion design research.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39750" y="2708275"/>
            <a:ext cx="8229600" cy="1143000"/>
          </a:xfrm>
        </p:spPr>
        <p:txBody>
          <a:bodyPr/>
          <a:lstStyle/>
          <a:p>
            <a:r>
              <a:rPr lang="en-AU" sz="1800" b="0">
                <a:latin typeface="Courier New" pitchFamily="49" charset="0"/>
              </a:rPr>
              <a:t>The future for new and emerging researchers in the discipline of Fashion design appears to depend on the </a:t>
            </a:r>
            <a:r>
              <a:rPr lang="en-AU" sz="1800">
                <a:latin typeface="Courier New" pitchFamily="49" charset="0"/>
              </a:rPr>
              <a:t>development</a:t>
            </a:r>
            <a:r>
              <a:rPr lang="en-AU" sz="1800" b="0">
                <a:latin typeface="Courier New" pitchFamily="49" charset="0"/>
              </a:rPr>
              <a:t> and </a:t>
            </a:r>
            <a:r>
              <a:rPr lang="en-AU" sz="1800">
                <a:latin typeface="Courier New" pitchFamily="49" charset="0"/>
              </a:rPr>
              <a:t>acceptance</a:t>
            </a:r>
            <a:r>
              <a:rPr lang="en-AU" sz="1800" b="0">
                <a:latin typeface="Courier New" pitchFamily="49" charset="0"/>
              </a:rPr>
              <a:t> of a set of research methods that support </a:t>
            </a:r>
            <a:r>
              <a:rPr lang="en-AU" sz="1800">
                <a:latin typeface="Courier New" pitchFamily="49" charset="0"/>
              </a:rPr>
              <a:t>rigorous inquiry</a:t>
            </a:r>
            <a:r>
              <a:rPr lang="en-AU" sz="1800" b="0">
                <a:latin typeface="Courier New" pitchFamily="49" charset="0"/>
              </a:rPr>
              <a:t> and the </a:t>
            </a:r>
            <a:r>
              <a:rPr lang="en-AU" sz="1800">
                <a:latin typeface="Courier New" pitchFamily="49" charset="0"/>
              </a:rPr>
              <a:t>dissemination</a:t>
            </a:r>
            <a:r>
              <a:rPr lang="en-AU" sz="1800" b="0">
                <a:latin typeface="Courier New" pitchFamily="49" charset="0"/>
              </a:rPr>
              <a:t> of findings in an appropriate manner. </a:t>
            </a:r>
            <a:br>
              <a:rPr lang="en-AU" sz="1800" b="0">
                <a:latin typeface="Courier New" pitchFamily="49" charset="0"/>
              </a:rPr>
            </a:br>
            <a:r>
              <a:rPr lang="en-AU" sz="1800" b="0">
                <a:latin typeface="Courier New" pitchFamily="49" charset="0"/>
              </a:rPr>
              <a:t/>
            </a:r>
            <a:br>
              <a:rPr lang="en-AU" sz="1800" b="0">
                <a:latin typeface="Courier New" pitchFamily="49" charset="0"/>
              </a:rPr>
            </a:br>
            <a:r>
              <a:rPr lang="en-AU" sz="1800" b="0">
                <a:latin typeface="Courier New" pitchFamily="49" charset="0"/>
              </a:rPr>
              <a:t>The development of new methodologies, </a:t>
            </a:r>
            <a:r>
              <a:rPr lang="en-AU" sz="1800">
                <a:latin typeface="Courier New" pitchFamily="49" charset="0"/>
              </a:rPr>
              <a:t>building</a:t>
            </a:r>
            <a:r>
              <a:rPr lang="en-AU" sz="1800" b="0">
                <a:latin typeface="Courier New" pitchFamily="49" charset="0"/>
              </a:rPr>
              <a:t> on the accepted work of predecessors in Visual Arts, Education and Architecture, may be beneficial in advancing the development of a </a:t>
            </a:r>
            <a:r>
              <a:rPr lang="en-AU" sz="1800">
                <a:latin typeface="Courier New" pitchFamily="49" charset="0"/>
              </a:rPr>
              <a:t>distinctive style</a:t>
            </a:r>
            <a:r>
              <a:rPr lang="en-AU" sz="1800" b="0">
                <a:latin typeface="Courier New" pitchFamily="49" charset="0"/>
              </a:rPr>
              <a:t> that speaks most effectively and directly to readers from within the </a:t>
            </a:r>
            <a:r>
              <a:rPr lang="en-AU" sz="1800">
                <a:latin typeface="Courier New" pitchFamily="49" charset="0"/>
              </a:rPr>
              <a:t>discipline</a:t>
            </a:r>
            <a:r>
              <a:rPr lang="en-AU" sz="1800" b="0">
                <a:latin typeface="Courier New" pitchFamily="49" charset="0"/>
              </a:rPr>
              <a:t> of fashion design; ultimately those who would benefit most from the resultant research, as well as to researchers in the </a:t>
            </a:r>
            <a:r>
              <a:rPr lang="en-AU" sz="1800">
                <a:latin typeface="Courier New" pitchFamily="49" charset="0"/>
              </a:rPr>
              <a:t>wider academic community</a:t>
            </a:r>
            <a:r>
              <a:rPr lang="en-AU" sz="1800" b="0">
                <a:latin typeface="Courier New" pitchFamily="49"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539750" y="3365500"/>
            <a:ext cx="8229600" cy="1143000"/>
          </a:xfrm>
        </p:spPr>
        <p:txBody>
          <a:bodyPr/>
          <a:lstStyle/>
          <a:p>
            <a:pPr algn="l"/>
            <a:r>
              <a:rPr lang="en-AU" sz="1800" b="0" u="sng" dirty="0">
                <a:latin typeface="Courier New" pitchFamily="49" charset="0"/>
              </a:rPr>
              <a:t>Reference List</a:t>
            </a:r>
            <a:br>
              <a:rPr lang="en-AU" sz="1800" b="0" u="sng"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a:latin typeface="Courier New" pitchFamily="49" charset="0"/>
              </a:rPr>
              <a:t>Brewer, J &amp; Hunter, A. (1989). </a:t>
            </a:r>
            <a:r>
              <a:rPr lang="en-AU" sz="1800" b="0" i="1" dirty="0" err="1">
                <a:latin typeface="Courier New" pitchFamily="49" charset="0"/>
              </a:rPr>
              <a:t>Multimethod</a:t>
            </a:r>
            <a:r>
              <a:rPr lang="en-AU" sz="1800" b="0" i="1" dirty="0">
                <a:latin typeface="Courier New" pitchFamily="49" charset="0"/>
              </a:rPr>
              <a:t> research: a synthesis of styles.</a:t>
            </a:r>
            <a:r>
              <a:rPr lang="en-AU" sz="1800" b="0" dirty="0">
                <a:latin typeface="Courier New" pitchFamily="49" charset="0"/>
              </a:rPr>
              <a:t> Newbury Park, California: Sage.</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a:latin typeface="Courier New" pitchFamily="49" charset="0"/>
              </a:rPr>
              <a:t>Gray, C., &amp; </a:t>
            </a:r>
            <a:r>
              <a:rPr lang="en-AU" sz="1800" b="0" dirty="0" err="1">
                <a:latin typeface="Courier New" pitchFamily="49" charset="0"/>
              </a:rPr>
              <a:t>Malins</a:t>
            </a:r>
            <a:r>
              <a:rPr lang="en-AU" sz="1800" b="0" dirty="0">
                <a:latin typeface="Courier New" pitchFamily="49" charset="0"/>
              </a:rPr>
              <a:t>, J. (2004). </a:t>
            </a:r>
            <a:r>
              <a:rPr lang="en-AU" sz="1800" b="0" i="1" dirty="0">
                <a:latin typeface="Courier New" pitchFamily="49" charset="0"/>
              </a:rPr>
              <a:t>Visualizing research: A guide to the research process in art and design.</a:t>
            </a:r>
            <a:r>
              <a:rPr lang="en-AU" sz="1800" b="0" dirty="0">
                <a:latin typeface="Courier New" pitchFamily="49" charset="0"/>
              </a:rPr>
              <a:t> Aldershot, Hants: </a:t>
            </a:r>
            <a:r>
              <a:rPr lang="en-AU" sz="1800" b="0" dirty="0" err="1">
                <a:latin typeface="Courier New" pitchFamily="49" charset="0"/>
              </a:rPr>
              <a:t>Ashgate</a:t>
            </a:r>
            <a:r>
              <a:rPr lang="en-AU" sz="1800" b="0" dirty="0">
                <a:latin typeface="Courier New" pitchFamily="49" charset="0"/>
              </a:rPr>
              <a:t> Publishing Limited.</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err="1">
                <a:latin typeface="Courier New" pitchFamily="49" charset="0"/>
              </a:rPr>
              <a:t>Guba</a:t>
            </a:r>
            <a:r>
              <a:rPr lang="en-AU" sz="1800" b="0" dirty="0">
                <a:latin typeface="Courier New" pitchFamily="49" charset="0"/>
              </a:rPr>
              <a:t>, E., &amp; Lincoln, Y. (1985). </a:t>
            </a:r>
            <a:r>
              <a:rPr lang="en-AU" sz="1800" b="0" i="1" dirty="0">
                <a:latin typeface="Courier New" pitchFamily="49" charset="0"/>
              </a:rPr>
              <a:t>Naturalistic inquiry.</a:t>
            </a:r>
            <a:r>
              <a:rPr lang="en-AU" sz="1800" b="0" dirty="0">
                <a:latin typeface="Courier New" pitchFamily="49" charset="0"/>
              </a:rPr>
              <a:t> Newbury Park, California: Sage.</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err="1">
                <a:latin typeface="Courier New" pitchFamily="49" charset="0"/>
              </a:rPr>
              <a:t>Kirke</a:t>
            </a:r>
            <a:r>
              <a:rPr lang="en-AU" sz="1800" b="0" dirty="0">
                <a:latin typeface="Courier New" pitchFamily="49" charset="0"/>
              </a:rPr>
              <a:t>, B. </a:t>
            </a:r>
            <a:r>
              <a:rPr lang="en-AU" sz="1800" b="0" i="1" dirty="0">
                <a:latin typeface="Courier New" pitchFamily="49" charset="0"/>
              </a:rPr>
              <a:t>Madeleine </a:t>
            </a:r>
            <a:r>
              <a:rPr lang="en-AU" sz="1800" b="0" i="1" dirty="0" err="1">
                <a:latin typeface="Courier New" pitchFamily="49" charset="0"/>
              </a:rPr>
              <a:t>Vionnet</a:t>
            </a:r>
            <a:r>
              <a:rPr lang="en-AU" sz="1800" b="0" i="1" dirty="0">
                <a:latin typeface="Courier New" pitchFamily="49" charset="0"/>
              </a:rPr>
              <a:t>.</a:t>
            </a:r>
            <a:r>
              <a:rPr lang="en-AU" sz="1800" b="0" dirty="0">
                <a:latin typeface="Courier New" pitchFamily="49" charset="0"/>
              </a:rPr>
              <a:t> California: Chronicle Books LLC.</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a:latin typeface="Courier New" pitchFamily="49" charset="0"/>
              </a:rPr>
              <a:t>Mitchell, M. T. (2006). </a:t>
            </a:r>
            <a:r>
              <a:rPr lang="en-AU" sz="1800" b="0" i="1" dirty="0">
                <a:latin typeface="Courier New" pitchFamily="49" charset="0"/>
              </a:rPr>
              <a:t>Michael Polanyi: The art of knowing.</a:t>
            </a:r>
            <a:r>
              <a:rPr lang="en-AU" sz="1800" b="0" dirty="0">
                <a:latin typeface="Courier New" pitchFamily="49" charset="0"/>
              </a:rPr>
              <a:t> Wilmington, Del.: ISI Books.</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r>
              <a:rPr lang="en-AU" sz="1800" b="0" dirty="0">
                <a:latin typeface="Courier New" pitchFamily="49" charset="0"/>
              </a:rPr>
              <a:t/>
            </a:r>
            <a:br>
              <a:rPr lang="en-AU" sz="1800" b="0" dirty="0">
                <a:latin typeface="Courier New" pitchFamily="49" charset="0"/>
              </a:rPr>
            </a:br>
            <a:endParaRPr lang="en-AU" sz="1800" b="0" dirty="0">
              <a:latin typeface="Courier New"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539750" y="2708275"/>
            <a:ext cx="8229600" cy="1143000"/>
          </a:xfrm>
        </p:spPr>
        <p:txBody>
          <a:bodyPr/>
          <a:lstStyle/>
          <a:p>
            <a:r>
              <a:rPr lang="en-AU" b="0">
                <a:latin typeface="Courier New" pitchFamily="49" charset="0"/>
              </a:rPr>
              <a:t>Thank You</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1800" b="0" i="0" u="none" strike="noStrike" cap="none" normalizeH="0" baseline="0" smtClean="0">
            <a:ln>
              <a:noFill/>
            </a:ln>
            <a:solidFill>
              <a:schemeClr val="tx1"/>
            </a:solidFill>
            <a:effectLst/>
            <a:latin typeface="Courier New" pitchFamily="49"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1800" b="0" i="0" u="none" strike="noStrike" cap="none" normalizeH="0" baseline="0" smtClean="0">
            <a:ln>
              <a:noFill/>
            </a:ln>
            <a:solidFill>
              <a:schemeClr val="tx1"/>
            </a:solidFill>
            <a:effectLst/>
            <a:latin typeface="Courier New" pitchFamily="49"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436</TotalTime>
  <Words>818</Words>
  <Application>Microsoft Office PowerPoint</Application>
  <PresentationFormat>On-screen Show (4:3)</PresentationFormat>
  <Paragraphs>71</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Times</vt:lpstr>
      <vt:lpstr>Calibri</vt:lpstr>
      <vt:lpstr>Courier New</vt:lpstr>
      <vt:lpstr>Default Design</vt:lpstr>
      <vt:lpstr>Slide 1</vt:lpstr>
      <vt:lpstr>Fashion design research: Research methodologies for emerging researchers  Angela Finn AUT University Auckland, New Zealand</vt:lpstr>
      <vt:lpstr>What happens when experienced practitioners are introduced to academic research and research methodology?</vt:lpstr>
      <vt:lpstr>Methodology is the study of ‘the system of methods and principles used in a particular discipline’ (New Collins Dictionary.1986)… The aim of methodology is to help us understand, in the broadest possible terms, not the products of inquiry, but the process itself. </vt:lpstr>
      <vt:lpstr>Is it appropriate for practice based fashion researchers to adopt and adapt existing research methodologies to find a scholarly, academic voice?   </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An examination of the methods and processes used by fashion design practitioners, as in the case of the examples discussed, could allow for the development of appropriate models for framing fashion design research. </vt:lpstr>
      <vt:lpstr>The future for new and emerging researchers in the discipline of Fashion design appears to depend on the development and acceptance of a set of research methods that support rigorous inquiry and the dissemination of findings in an appropriate manner.   The development of new methodologies, building on the accepted work of predecessors in Visual Arts, Education and Architecture, may be beneficial in advancing the development of a distinctive style that speaks most effectively and directly to readers from within the discipline of fashion design; ultimately those who would benefit most from the resultant research, as well as to researchers in the wider academic community.</vt:lpstr>
      <vt:lpstr>Reference List  Brewer, J &amp; Hunter, A. (1989). Multimethod research: a synthesis of styles. Newbury Park, California: Sage.  Gray, C., &amp; Malins, J. (2004). Visualizing research: A guide to the research process in art and design. Aldershot, Hants: Ashgate Publishing Limited.  Guba, E., &amp; Lincoln, Y. (1985). Naturalistic inquiry. Newbury Park, California: Sage.  Kirke, B. Madeleine Vionnet. California: Chronicle Books LLC.  Mitchell, M. T. (2006). Michael Polanyi: The art of knowing. Wilmington, Del.: ISI Books.    </vt:lpstr>
      <vt:lpstr>Thank You</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design research: Research methodologies for emerging researchers  Angie Finn AUT University Auckland, New Zealand</dc:title>
  <dc:creator>Lee</dc:creator>
  <cp:lastModifiedBy>Angela L Finn</cp:lastModifiedBy>
  <cp:revision>14</cp:revision>
  <dcterms:created xsi:type="dcterms:W3CDTF">2008-12-03T21:57:19Z</dcterms:created>
  <dcterms:modified xsi:type="dcterms:W3CDTF">2011-03-10T03:07:27Z</dcterms:modified>
</cp:coreProperties>
</file>