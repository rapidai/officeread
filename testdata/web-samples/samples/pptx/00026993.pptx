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67"/>
  </p:notesMasterIdLst>
  <p:sldIdLst>
    <p:sldId id="368" r:id="rId2"/>
    <p:sldId id="369" r:id="rId3"/>
    <p:sldId id="366" r:id="rId4"/>
    <p:sldId id="257" r:id="rId5"/>
    <p:sldId id="273" r:id="rId6"/>
    <p:sldId id="259" r:id="rId7"/>
    <p:sldId id="260" r:id="rId8"/>
    <p:sldId id="262" r:id="rId9"/>
    <p:sldId id="320" r:id="rId10"/>
    <p:sldId id="321" r:id="rId11"/>
    <p:sldId id="322" r:id="rId12"/>
    <p:sldId id="324" r:id="rId13"/>
    <p:sldId id="325" r:id="rId14"/>
    <p:sldId id="323" r:id="rId15"/>
    <p:sldId id="353" r:id="rId16"/>
    <p:sldId id="274" r:id="rId17"/>
    <p:sldId id="268" r:id="rId18"/>
    <p:sldId id="275" r:id="rId19"/>
    <p:sldId id="270" r:id="rId20"/>
    <p:sldId id="272" r:id="rId21"/>
    <p:sldId id="278" r:id="rId22"/>
    <p:sldId id="271" r:id="rId23"/>
    <p:sldId id="326" r:id="rId24"/>
    <p:sldId id="281" r:id="rId25"/>
    <p:sldId id="289" r:id="rId26"/>
    <p:sldId id="327" r:id="rId27"/>
    <p:sldId id="288" r:id="rId28"/>
    <p:sldId id="286" r:id="rId29"/>
    <p:sldId id="287" r:id="rId30"/>
    <p:sldId id="264" r:id="rId31"/>
    <p:sldId id="328" r:id="rId32"/>
    <p:sldId id="298" r:id="rId33"/>
    <p:sldId id="300" r:id="rId34"/>
    <p:sldId id="291" r:id="rId35"/>
    <p:sldId id="294" r:id="rId36"/>
    <p:sldId id="293" r:id="rId37"/>
    <p:sldId id="306" r:id="rId38"/>
    <p:sldId id="292" r:id="rId39"/>
    <p:sldId id="330" r:id="rId40"/>
    <p:sldId id="331" r:id="rId41"/>
    <p:sldId id="344" r:id="rId42"/>
    <p:sldId id="296" r:id="rId43"/>
    <p:sldId id="332" r:id="rId44"/>
    <p:sldId id="333" r:id="rId45"/>
    <p:sldId id="335" r:id="rId46"/>
    <p:sldId id="337" r:id="rId47"/>
    <p:sldId id="340" r:id="rId48"/>
    <p:sldId id="341" r:id="rId49"/>
    <p:sldId id="345" r:id="rId50"/>
    <p:sldId id="342" r:id="rId51"/>
    <p:sldId id="343" r:id="rId52"/>
    <p:sldId id="350" r:id="rId53"/>
    <p:sldId id="351" r:id="rId54"/>
    <p:sldId id="352" r:id="rId55"/>
    <p:sldId id="346" r:id="rId56"/>
    <p:sldId id="347" r:id="rId57"/>
    <p:sldId id="348" r:id="rId58"/>
    <p:sldId id="339" r:id="rId59"/>
    <p:sldId id="338" r:id="rId60"/>
    <p:sldId id="360" r:id="rId61"/>
    <p:sldId id="370" r:id="rId62"/>
    <p:sldId id="371" r:id="rId63"/>
    <p:sldId id="372" r:id="rId64"/>
    <p:sldId id="364" r:id="rId65"/>
    <p:sldId id="365" r:id="rId66"/>
  </p:sldIdLst>
  <p:sldSz cx="9144000" cy="6858000" type="screen4x3"/>
  <p:notesSz cx="7099300" cy="10234613"/>
  <p:defaultTextStyle>
    <a:defPPr>
      <a:defRPr lang="en-AU"/>
    </a:defPPr>
    <a:lvl1pPr algn="l" rtl="0" fontAlgn="base">
      <a:spcBef>
        <a:spcPct val="0"/>
      </a:spcBef>
      <a:spcAft>
        <a:spcPct val="0"/>
      </a:spcAft>
      <a:defRPr i="1" kern="1200">
        <a:solidFill>
          <a:schemeClr val="bg1"/>
        </a:solidFill>
        <a:latin typeface="Arial" charset="0"/>
        <a:ea typeface="+mn-ea"/>
        <a:cs typeface="Arial" charset="0"/>
      </a:defRPr>
    </a:lvl1pPr>
    <a:lvl2pPr marL="457200" algn="l" rtl="0" fontAlgn="base">
      <a:spcBef>
        <a:spcPct val="0"/>
      </a:spcBef>
      <a:spcAft>
        <a:spcPct val="0"/>
      </a:spcAft>
      <a:defRPr i="1" kern="1200">
        <a:solidFill>
          <a:schemeClr val="bg1"/>
        </a:solidFill>
        <a:latin typeface="Arial" charset="0"/>
        <a:ea typeface="+mn-ea"/>
        <a:cs typeface="Arial" charset="0"/>
      </a:defRPr>
    </a:lvl2pPr>
    <a:lvl3pPr marL="914400" algn="l" rtl="0" fontAlgn="base">
      <a:spcBef>
        <a:spcPct val="0"/>
      </a:spcBef>
      <a:spcAft>
        <a:spcPct val="0"/>
      </a:spcAft>
      <a:defRPr i="1" kern="1200">
        <a:solidFill>
          <a:schemeClr val="bg1"/>
        </a:solidFill>
        <a:latin typeface="Arial" charset="0"/>
        <a:ea typeface="+mn-ea"/>
        <a:cs typeface="Arial" charset="0"/>
      </a:defRPr>
    </a:lvl3pPr>
    <a:lvl4pPr marL="1371600" algn="l" rtl="0" fontAlgn="base">
      <a:spcBef>
        <a:spcPct val="0"/>
      </a:spcBef>
      <a:spcAft>
        <a:spcPct val="0"/>
      </a:spcAft>
      <a:defRPr i="1" kern="1200">
        <a:solidFill>
          <a:schemeClr val="bg1"/>
        </a:solidFill>
        <a:latin typeface="Arial" charset="0"/>
        <a:ea typeface="+mn-ea"/>
        <a:cs typeface="Arial" charset="0"/>
      </a:defRPr>
    </a:lvl4pPr>
    <a:lvl5pPr marL="1828800" algn="l" rtl="0" fontAlgn="base">
      <a:spcBef>
        <a:spcPct val="0"/>
      </a:spcBef>
      <a:spcAft>
        <a:spcPct val="0"/>
      </a:spcAft>
      <a:defRPr i="1" kern="1200">
        <a:solidFill>
          <a:schemeClr val="bg1"/>
        </a:solidFill>
        <a:latin typeface="Arial" charset="0"/>
        <a:ea typeface="+mn-ea"/>
        <a:cs typeface="Arial" charset="0"/>
      </a:defRPr>
    </a:lvl5pPr>
    <a:lvl6pPr marL="2286000" algn="l" defTabSz="914400" rtl="0" eaLnBrk="1" latinLnBrk="0" hangingPunct="1">
      <a:defRPr i="1" kern="1200">
        <a:solidFill>
          <a:schemeClr val="bg1"/>
        </a:solidFill>
        <a:latin typeface="Arial" charset="0"/>
        <a:ea typeface="+mn-ea"/>
        <a:cs typeface="Arial" charset="0"/>
      </a:defRPr>
    </a:lvl6pPr>
    <a:lvl7pPr marL="2743200" algn="l" defTabSz="914400" rtl="0" eaLnBrk="1" latinLnBrk="0" hangingPunct="1">
      <a:defRPr i="1" kern="1200">
        <a:solidFill>
          <a:schemeClr val="bg1"/>
        </a:solidFill>
        <a:latin typeface="Arial" charset="0"/>
        <a:ea typeface="+mn-ea"/>
        <a:cs typeface="Arial" charset="0"/>
      </a:defRPr>
    </a:lvl7pPr>
    <a:lvl8pPr marL="3200400" algn="l" defTabSz="914400" rtl="0" eaLnBrk="1" latinLnBrk="0" hangingPunct="1">
      <a:defRPr i="1" kern="1200">
        <a:solidFill>
          <a:schemeClr val="bg1"/>
        </a:solidFill>
        <a:latin typeface="Arial" charset="0"/>
        <a:ea typeface="+mn-ea"/>
        <a:cs typeface="Arial" charset="0"/>
      </a:defRPr>
    </a:lvl8pPr>
    <a:lvl9pPr marL="3657600" algn="l" defTabSz="914400" rtl="0" eaLnBrk="1" latinLnBrk="0" hangingPunct="1">
      <a:defRPr i="1" kern="1200">
        <a:solidFill>
          <a:schemeClr val="bg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99FF"/>
    <a:srgbClr val="CCECFF"/>
    <a:srgbClr val="4D4D4D"/>
    <a:srgbClr val="FFFFCC"/>
    <a:srgbClr val="3333CC"/>
    <a:srgbClr val="FF9900"/>
    <a:srgbClr val="FFF5C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1348" autoAdjust="0"/>
  </p:normalViewPr>
  <p:slideViewPr>
    <p:cSldViewPr snapToGrid="0">
      <p:cViewPr varScale="1">
        <p:scale>
          <a:sx n="90" d="100"/>
          <a:sy n="90" d="100"/>
        </p:scale>
        <p:origin x="-600" y="-96"/>
      </p:cViewPr>
      <p:guideLst>
        <p:guide orient="horz" pos="508"/>
        <p:guide orient="horz" pos="1187"/>
        <p:guide orient="horz" pos="4116"/>
        <p:guide orient="horz" pos="1712"/>
        <p:guide orient="horz" pos="4042"/>
        <p:guide pos="2880"/>
        <p:guide pos="276"/>
        <p:guide pos="4079"/>
      </p:guideLst>
    </p:cSldViewPr>
  </p:slideViewPr>
  <p:notesTextViewPr>
    <p:cViewPr>
      <p:scale>
        <a:sx n="100" d="100"/>
        <a:sy n="100" d="100"/>
      </p:scale>
      <p:origin x="0" y="0"/>
    </p:cViewPr>
  </p:notesTextViewPr>
  <p:sorterViewPr>
    <p:cViewPr>
      <p:scale>
        <a:sx n="33" d="100"/>
        <a:sy n="33" d="100"/>
      </p:scale>
      <p:origin x="0" y="0"/>
    </p:cViewPr>
  </p:sorterViewPr>
  <p:notesViewPr>
    <p:cSldViewPr snapToGrid="0">
      <p:cViewPr varScale="1">
        <p:scale>
          <a:sx n="75" d="100"/>
          <a:sy n="75" d="100"/>
        </p:scale>
        <p:origin x="-2118" y="-90"/>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714" name="Rectangle 2"/>
          <p:cNvSpPr>
            <a:spLocks noGrp="1" noChangeArrowheads="1"/>
          </p:cNvSpPr>
          <p:nvPr>
            <p:ph type="hdr" sz="quarter"/>
          </p:nvPr>
        </p:nvSpPr>
        <p:spPr bwMode="auto">
          <a:xfrm>
            <a:off x="0" y="0"/>
            <a:ext cx="3076575" cy="511175"/>
          </a:xfrm>
          <a:prstGeom prst="rect">
            <a:avLst/>
          </a:prstGeom>
          <a:noFill/>
          <a:ln>
            <a:noFill/>
          </a:ln>
          <a:effectLst/>
          <a:extLst/>
        </p:spPr>
        <p:txBody>
          <a:bodyPr vert="horz" wrap="square" lIns="94897" tIns="47449" rIns="94897" bIns="47449" numCol="1" anchor="t" anchorCtr="0" compatLnSpc="1">
            <a:prstTxWarp prst="textNoShape">
              <a:avLst/>
            </a:prstTxWarp>
          </a:bodyPr>
          <a:lstStyle>
            <a:lvl1pPr defTabSz="949325">
              <a:lnSpc>
                <a:spcPct val="100000"/>
              </a:lnSpc>
              <a:buClrTx/>
              <a:buSzTx/>
              <a:buFontTx/>
              <a:buNone/>
              <a:defRPr sz="1200" i="0">
                <a:solidFill>
                  <a:schemeClr val="tx1"/>
                </a:solidFill>
              </a:defRPr>
            </a:lvl1pPr>
          </a:lstStyle>
          <a:p>
            <a:pPr>
              <a:defRPr/>
            </a:pPr>
            <a:endParaRPr lang="en-US"/>
          </a:p>
        </p:txBody>
      </p:sp>
      <p:sp>
        <p:nvSpPr>
          <p:cNvPr id="115715" name="Rectangle 3"/>
          <p:cNvSpPr>
            <a:spLocks noGrp="1" noChangeArrowheads="1"/>
          </p:cNvSpPr>
          <p:nvPr>
            <p:ph type="dt" idx="1"/>
          </p:nvPr>
        </p:nvSpPr>
        <p:spPr bwMode="auto">
          <a:xfrm>
            <a:off x="4021138" y="0"/>
            <a:ext cx="3076575" cy="511175"/>
          </a:xfrm>
          <a:prstGeom prst="rect">
            <a:avLst/>
          </a:prstGeom>
          <a:noFill/>
          <a:ln>
            <a:noFill/>
          </a:ln>
          <a:effectLst/>
          <a:extLst/>
        </p:spPr>
        <p:txBody>
          <a:bodyPr vert="horz" wrap="square" lIns="94897" tIns="47449" rIns="94897" bIns="47449" numCol="1" anchor="t" anchorCtr="0" compatLnSpc="1">
            <a:prstTxWarp prst="textNoShape">
              <a:avLst/>
            </a:prstTxWarp>
          </a:bodyPr>
          <a:lstStyle>
            <a:lvl1pPr algn="r" defTabSz="949325">
              <a:lnSpc>
                <a:spcPct val="100000"/>
              </a:lnSpc>
              <a:buClrTx/>
              <a:buSzTx/>
              <a:buFontTx/>
              <a:buNone/>
              <a:defRPr sz="1200" i="0">
                <a:solidFill>
                  <a:schemeClr val="tx1"/>
                </a:solidFill>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992188" y="768350"/>
            <a:ext cx="5116512" cy="3836988"/>
          </a:xfrm>
          <a:prstGeom prst="rect">
            <a:avLst/>
          </a:prstGeom>
          <a:noFill/>
          <a:ln w="9525">
            <a:solidFill>
              <a:srgbClr val="000000"/>
            </a:solidFill>
            <a:miter lim="800000"/>
            <a:headEnd/>
            <a:tailEnd/>
          </a:ln>
        </p:spPr>
      </p:sp>
      <p:sp>
        <p:nvSpPr>
          <p:cNvPr id="115717" name="Rectangle 5"/>
          <p:cNvSpPr>
            <a:spLocks noGrp="1" noChangeArrowheads="1"/>
          </p:cNvSpPr>
          <p:nvPr>
            <p:ph type="body" sz="quarter" idx="3"/>
          </p:nvPr>
        </p:nvSpPr>
        <p:spPr bwMode="auto">
          <a:xfrm>
            <a:off x="709613" y="4860925"/>
            <a:ext cx="5680075" cy="4605338"/>
          </a:xfrm>
          <a:prstGeom prst="rect">
            <a:avLst/>
          </a:prstGeom>
          <a:noFill/>
          <a:ln>
            <a:noFill/>
          </a:ln>
          <a:effectLst/>
          <a:extLst/>
        </p:spPr>
        <p:txBody>
          <a:bodyPr vert="horz" wrap="square" lIns="94897" tIns="47449" rIns="94897" bIns="47449"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15718" name="Rectangle 6"/>
          <p:cNvSpPr>
            <a:spLocks noGrp="1" noChangeArrowheads="1"/>
          </p:cNvSpPr>
          <p:nvPr>
            <p:ph type="ftr" sz="quarter" idx="4"/>
          </p:nvPr>
        </p:nvSpPr>
        <p:spPr bwMode="auto">
          <a:xfrm>
            <a:off x="0" y="9721850"/>
            <a:ext cx="3076575" cy="511175"/>
          </a:xfrm>
          <a:prstGeom prst="rect">
            <a:avLst/>
          </a:prstGeom>
          <a:noFill/>
          <a:ln>
            <a:noFill/>
          </a:ln>
          <a:effectLst/>
          <a:extLst/>
        </p:spPr>
        <p:txBody>
          <a:bodyPr vert="horz" wrap="square" lIns="94897" tIns="47449" rIns="94897" bIns="47449" numCol="1" anchor="b" anchorCtr="0" compatLnSpc="1">
            <a:prstTxWarp prst="textNoShape">
              <a:avLst/>
            </a:prstTxWarp>
          </a:bodyPr>
          <a:lstStyle>
            <a:lvl1pPr defTabSz="949325">
              <a:lnSpc>
                <a:spcPct val="100000"/>
              </a:lnSpc>
              <a:buClrTx/>
              <a:buSzTx/>
              <a:buFontTx/>
              <a:buNone/>
              <a:defRPr sz="1200" i="0">
                <a:solidFill>
                  <a:schemeClr val="tx1"/>
                </a:solidFill>
              </a:defRPr>
            </a:lvl1pPr>
          </a:lstStyle>
          <a:p>
            <a:pPr>
              <a:defRPr/>
            </a:pPr>
            <a:endParaRPr lang="en-US"/>
          </a:p>
        </p:txBody>
      </p:sp>
      <p:sp>
        <p:nvSpPr>
          <p:cNvPr id="115719" name="Rectangle 7"/>
          <p:cNvSpPr>
            <a:spLocks noGrp="1" noChangeArrowheads="1"/>
          </p:cNvSpPr>
          <p:nvPr>
            <p:ph type="sldNum" sz="quarter" idx="5"/>
          </p:nvPr>
        </p:nvSpPr>
        <p:spPr bwMode="auto">
          <a:xfrm>
            <a:off x="4021138" y="9721850"/>
            <a:ext cx="3076575" cy="511175"/>
          </a:xfrm>
          <a:prstGeom prst="rect">
            <a:avLst/>
          </a:prstGeom>
          <a:noFill/>
          <a:ln>
            <a:noFill/>
          </a:ln>
          <a:effectLst/>
          <a:extLst/>
        </p:spPr>
        <p:txBody>
          <a:bodyPr vert="horz" wrap="square" lIns="94897" tIns="47449" rIns="94897" bIns="47449" numCol="1" anchor="b" anchorCtr="0" compatLnSpc="1">
            <a:prstTxWarp prst="textNoShape">
              <a:avLst/>
            </a:prstTxWarp>
          </a:bodyPr>
          <a:lstStyle>
            <a:lvl1pPr algn="r" defTabSz="949325">
              <a:lnSpc>
                <a:spcPct val="100000"/>
              </a:lnSpc>
              <a:buClrTx/>
              <a:buSzTx/>
              <a:buFontTx/>
              <a:buNone/>
              <a:defRPr sz="1200" i="0">
                <a:solidFill>
                  <a:schemeClr val="tx1"/>
                </a:solidFill>
              </a:defRPr>
            </a:lvl1pPr>
          </a:lstStyle>
          <a:p>
            <a:pPr>
              <a:defRPr/>
            </a:pPr>
            <a:fld id="{438D94BC-A55B-4830-86EF-99B7CEF65F28}" type="slidenum">
              <a:rPr lang="en-US"/>
              <a:pPr>
                <a:defRPr/>
              </a:pPr>
              <a:t>‹#›</a:t>
            </a:fld>
            <a:endParaRPr lang="en-US"/>
          </a:p>
        </p:txBody>
      </p:sp>
    </p:spTree>
    <p:extLst>
      <p:ext uri="{BB962C8B-B14F-4D97-AF65-F5344CB8AC3E}">
        <p14:creationId xmlns:p14="http://schemas.microsoft.com/office/powerpoint/2010/main" val="26385099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Text Box 1"/>
          <p:cNvSpPr txBox="1">
            <a:spLocks noChangeArrowheads="1"/>
          </p:cNvSpPr>
          <p:nvPr/>
        </p:nvSpPr>
        <p:spPr bwMode="auto">
          <a:xfrm>
            <a:off x="2217738" y="777875"/>
            <a:ext cx="2663825" cy="3838575"/>
          </a:xfrm>
          <a:prstGeom prst="rect">
            <a:avLst/>
          </a:prstGeom>
          <a:solidFill>
            <a:srgbClr val="FFFFFF"/>
          </a:solidFill>
          <a:ln w="9360">
            <a:solidFill>
              <a:srgbClr val="000000"/>
            </a:solidFill>
            <a:miter lim="800000"/>
            <a:headEnd/>
            <a:tailEnd/>
          </a:ln>
        </p:spPr>
        <p:txBody>
          <a:bodyPr wrap="none" lIns="99048" tIns="49524" rIns="99048" bIns="49524" anchor="ctr"/>
          <a:lstStyle/>
          <a:p>
            <a:pPr>
              <a:lnSpc>
                <a:spcPct val="31000"/>
              </a:lnSpc>
              <a:buClr>
                <a:srgbClr val="000000"/>
              </a:buClr>
              <a:buSzPct val="100000"/>
              <a:buFont typeface="Times New Roman" pitchFamily="18" charset="0"/>
              <a:buNone/>
            </a:pPr>
            <a:endParaRPr lang="en-US" i="0"/>
          </a:p>
        </p:txBody>
      </p:sp>
      <p:sp>
        <p:nvSpPr>
          <p:cNvPr id="16387" name="Text Box 2"/>
          <p:cNvSpPr>
            <a:spLocks noGrp="1" noChangeArrowheads="1"/>
          </p:cNvSpPr>
          <p:nvPr>
            <p:ph type="body"/>
          </p:nvPr>
        </p:nvSpPr>
        <p:spPr>
          <a:xfrm>
            <a:off x="709613" y="4860925"/>
            <a:ext cx="5668962" cy="4605338"/>
          </a:xfrm>
          <a:noFill/>
        </p:spPr>
        <p:txBody>
          <a:bodyPr/>
          <a:lstStyle/>
          <a:p>
            <a:pPr eaLnBrk="1" hangingPunct="1">
              <a:lnSpc>
                <a:spcPct val="95000"/>
              </a:lnSpc>
              <a:spcBef>
                <a:spcPts val="488"/>
              </a:spcBef>
              <a:tabLst>
                <a:tab pos="0" algn="l"/>
                <a:tab pos="484188" algn="l"/>
                <a:tab pos="971550" algn="l"/>
                <a:tab pos="1457325" algn="l"/>
                <a:tab pos="1944688" algn="l"/>
                <a:tab pos="2430463" algn="l"/>
                <a:tab pos="2917825" algn="l"/>
                <a:tab pos="3403600" algn="l"/>
                <a:tab pos="3890963" algn="l"/>
                <a:tab pos="4376738" algn="l"/>
                <a:tab pos="4864100" algn="l"/>
                <a:tab pos="5349875" algn="l"/>
                <a:tab pos="5837238" algn="l"/>
                <a:tab pos="6324600" algn="l"/>
                <a:tab pos="6810375" algn="l"/>
                <a:tab pos="7297738" algn="l"/>
                <a:tab pos="7783513" algn="l"/>
                <a:tab pos="8270875" algn="l"/>
                <a:tab pos="8756650" algn="l"/>
                <a:tab pos="9244013" algn="l"/>
                <a:tab pos="9729788" algn="l"/>
              </a:tabLst>
            </a:pPr>
            <a:r>
              <a:rPr lang="en-AU" sz="2200" smtClean="0">
                <a:latin typeface="Times New Roman" pitchFamily="18" charset="0"/>
                <a:cs typeface="Lucida Sans Unicode" pitchFamily="34" charset="0"/>
              </a:rPr>
              <a:t>This slide must be displayed before talk commences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Text Box 1"/>
          <p:cNvSpPr txBox="1">
            <a:spLocks noChangeArrowheads="1"/>
          </p:cNvSpPr>
          <p:nvPr/>
        </p:nvSpPr>
        <p:spPr bwMode="auto">
          <a:xfrm>
            <a:off x="2217738" y="777875"/>
            <a:ext cx="2663825" cy="3838575"/>
          </a:xfrm>
          <a:prstGeom prst="rect">
            <a:avLst/>
          </a:prstGeom>
          <a:solidFill>
            <a:srgbClr val="FFFFFF"/>
          </a:solidFill>
          <a:ln w="9360">
            <a:solidFill>
              <a:srgbClr val="000000"/>
            </a:solidFill>
            <a:miter lim="800000"/>
            <a:headEnd/>
            <a:tailEnd/>
          </a:ln>
        </p:spPr>
        <p:txBody>
          <a:bodyPr wrap="none" lIns="99048" tIns="49524" rIns="99048" bIns="49524" anchor="ctr"/>
          <a:lstStyle/>
          <a:p>
            <a:pPr>
              <a:lnSpc>
                <a:spcPct val="31000"/>
              </a:lnSpc>
              <a:buClr>
                <a:srgbClr val="000000"/>
              </a:buClr>
              <a:buSzPct val="100000"/>
              <a:buFont typeface="Times New Roman" pitchFamily="18" charset="0"/>
              <a:buNone/>
            </a:pPr>
            <a:endParaRPr lang="en-US" i="0"/>
          </a:p>
        </p:txBody>
      </p:sp>
      <p:sp>
        <p:nvSpPr>
          <p:cNvPr id="18435" name="Text Box 2"/>
          <p:cNvSpPr>
            <a:spLocks noGrp="1" noChangeArrowheads="1"/>
          </p:cNvSpPr>
          <p:nvPr>
            <p:ph type="body"/>
          </p:nvPr>
        </p:nvSpPr>
        <p:spPr>
          <a:xfrm>
            <a:off x="709613" y="4860925"/>
            <a:ext cx="5668962" cy="4605338"/>
          </a:xfrm>
          <a:noFill/>
        </p:spPr>
        <p:txBody>
          <a:bodyPr/>
          <a:lstStyle/>
          <a:p>
            <a:pPr eaLnBrk="1" hangingPunct="1">
              <a:lnSpc>
                <a:spcPct val="95000"/>
              </a:lnSpc>
              <a:spcBef>
                <a:spcPts val="488"/>
              </a:spcBef>
              <a:tabLst>
                <a:tab pos="0" algn="l"/>
                <a:tab pos="484188" algn="l"/>
                <a:tab pos="971550" algn="l"/>
                <a:tab pos="1457325" algn="l"/>
                <a:tab pos="1944688" algn="l"/>
                <a:tab pos="2430463" algn="l"/>
                <a:tab pos="2917825" algn="l"/>
                <a:tab pos="3403600" algn="l"/>
                <a:tab pos="3890963" algn="l"/>
                <a:tab pos="4376738" algn="l"/>
                <a:tab pos="4864100" algn="l"/>
                <a:tab pos="5349875" algn="l"/>
                <a:tab pos="5837238" algn="l"/>
                <a:tab pos="6324600" algn="l"/>
                <a:tab pos="6810375" algn="l"/>
                <a:tab pos="7297738" algn="l"/>
                <a:tab pos="7783513" algn="l"/>
                <a:tab pos="8270875" algn="l"/>
                <a:tab pos="8756650" algn="l"/>
                <a:tab pos="9244013" algn="l"/>
                <a:tab pos="9729788" algn="l"/>
              </a:tabLst>
            </a:pPr>
            <a:r>
              <a:rPr lang="en-AU" sz="2200" smtClean="0">
                <a:latin typeface="Times New Roman" pitchFamily="18" charset="0"/>
                <a:cs typeface="Lucida Sans Unicode" pitchFamily="34" charset="0"/>
              </a:rPr>
              <a:t>This slide must be displayed before talk commences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miter lim="800000"/>
            <a:headEnd/>
            <a:tailEnd/>
          </a:ln>
        </p:spPr>
        <p:txBody>
          <a:bodyPr/>
          <a:lstStyle/>
          <a:p>
            <a:fld id="{A08DEEBE-DB04-42A2-A531-59B671277357}" type="slidenum">
              <a:rPr lang="en-US" smtClean="0"/>
              <a:pPr/>
              <a:t>3</a:t>
            </a:fld>
            <a:endParaRPr lang="en-US" smtClean="0"/>
          </a:p>
        </p:txBody>
      </p:sp>
      <p:sp>
        <p:nvSpPr>
          <p:cNvPr id="20483" name="Text Box 2"/>
          <p:cNvSpPr>
            <a:spLocks noGrp="1" noChangeArrowheads="1"/>
          </p:cNvSpPr>
          <p:nvPr>
            <p:ph type="body"/>
          </p:nvPr>
        </p:nvSpPr>
        <p:spPr>
          <a:xfrm>
            <a:off x="709613" y="4860925"/>
            <a:ext cx="5667375" cy="4605338"/>
          </a:xfrm>
          <a:noFill/>
        </p:spPr>
        <p:txBody>
          <a:bodyPr lIns="0" tIns="18308" rIns="0" bIns="0"/>
          <a:lstStyle/>
          <a:p>
            <a:pPr defTabSz="449263" eaLnBrk="1" hangingPunct="1">
              <a:lnSpc>
                <a:spcPct val="90000"/>
              </a:lnSpc>
              <a:spcBef>
                <a:spcPts val="4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z="1400" dirty="0" smtClean="0">
                <a:cs typeface="Lucida Sans Unicode" pitchFamily="34" charset="0"/>
              </a:rPr>
              <a:t>This talk discusses groundwater and its key part of the water cycle.</a:t>
            </a:r>
          </a:p>
          <a:p>
            <a:pPr defTabSz="449263" eaLnBrk="1" hangingPunct="1">
              <a:lnSpc>
                <a:spcPct val="9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AU" sz="1400" dirty="0" smtClean="0">
              <a:cs typeface="Lucida Sans Unicode" pitchFamily="34" charset="0"/>
            </a:endParaRPr>
          </a:p>
          <a:p>
            <a:pPr defTabSz="449263" eaLnBrk="1" hangingPunct="1">
              <a:lnSpc>
                <a:spcPct val="9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z="1400" dirty="0" smtClean="0">
                <a:cs typeface="Lucida Sans Unicode" pitchFamily="34" charset="0"/>
              </a:rPr>
              <a:t>Prepared by Chris McAuley, Principal Hydrogeologist, Department of Sustainability and Environment, Victoria.</a:t>
            </a:r>
          </a:p>
          <a:p>
            <a:pPr defTabSz="449263" eaLnBrk="1" hangingPunct="1">
              <a:lnSpc>
                <a:spcPct val="9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AU" sz="1000" dirty="0" smtClean="0"/>
          </a:p>
          <a:p>
            <a:pPr defTabSz="449263" eaLnBrk="1" hangingPunct="1">
              <a:lnSpc>
                <a:spcPct val="9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z="1400" dirty="0" smtClean="0">
                <a:cs typeface="Lucida Sans Unicode" pitchFamily="34" charset="0"/>
              </a:rPr>
              <a:t>Support figures sourced from:</a:t>
            </a:r>
          </a:p>
          <a:p>
            <a:pPr marL="742950" lvl="1" indent="-285750" defTabSz="449263" eaLnBrk="1" hangingPunct="1">
              <a:lnSpc>
                <a:spcPct val="90000"/>
              </a:lnSpc>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z="1400" dirty="0" smtClean="0">
                <a:cs typeface="Lucida Sans Unicode" pitchFamily="34" charset="0"/>
              </a:rPr>
              <a:t>Lectures given by Chris McAuley</a:t>
            </a:r>
          </a:p>
          <a:p>
            <a:pPr marL="742950" lvl="1" indent="-285750" defTabSz="449263" eaLnBrk="1" hangingPunct="1">
              <a:lnSpc>
                <a:spcPct val="90000"/>
              </a:lnSpc>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z="1400" dirty="0" smtClean="0">
                <a:cs typeface="Lucida Sans Unicode" pitchFamily="34" charset="0"/>
              </a:rPr>
              <a:t>TESEP teaching package developed by Louse Goldie </a:t>
            </a:r>
            <a:r>
              <a:rPr lang="en-AU" sz="1400" dirty="0" err="1" smtClean="0">
                <a:cs typeface="Lucida Sans Unicode" pitchFamily="34" charset="0"/>
              </a:rPr>
              <a:t>Divko</a:t>
            </a:r>
            <a:r>
              <a:rPr lang="en-AU" sz="1400" dirty="0" smtClean="0">
                <a:cs typeface="Lucida Sans Unicode" pitchFamily="34" charset="0"/>
              </a:rPr>
              <a:t> (Department of Primary Industries, Victoria), Megan Bourke (independent education consultant) and Philomena Manifold (independent consultant)</a:t>
            </a:r>
          </a:p>
          <a:p>
            <a:pPr marL="742950" lvl="1" indent="-285750" defTabSz="449263" eaLnBrk="1" hangingPunct="1">
              <a:lnSpc>
                <a:spcPct val="90000"/>
              </a:lnSpc>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z="1400" dirty="0" smtClean="0">
                <a:cs typeface="Lucida Sans Unicode" pitchFamily="34" charset="0"/>
              </a:rPr>
              <a:t>Referenced sources </a:t>
            </a:r>
            <a:endParaRPr lang="en-US" sz="1400" dirty="0" smtClean="0">
              <a:cs typeface="Lucida Sans Unicode" pitchFamily="34" charset="0"/>
            </a:endParaRPr>
          </a:p>
        </p:txBody>
      </p:sp>
      <p:sp>
        <p:nvSpPr>
          <p:cNvPr id="20484" name="Rectangle 3"/>
          <p:cNvSpPr>
            <a:spLocks noGrp="1" noRot="1" noChangeAspect="1" noChangeArrowheads="1" noTextEdit="1"/>
          </p:cNvSpPr>
          <p:nvPr>
            <p:ph type="sldImg"/>
          </p:nvPr>
        </p:nvSpPr>
        <p:spPr>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a:spLocks noGrp="1" noChangeArrowheads="1"/>
          </p:cNvSpPr>
          <p:nvPr>
            <p:ph type="sldNum" sz="quarter" idx="5"/>
          </p:nvPr>
        </p:nvSpPr>
        <p:spPr>
          <a:noFill/>
          <a:ln>
            <a:miter lim="800000"/>
            <a:headEnd/>
            <a:tailEnd/>
          </a:ln>
        </p:spPr>
        <p:txBody>
          <a:bodyPr/>
          <a:lstStyle/>
          <a:p>
            <a:fld id="{CE3BC2A7-3D13-4808-AABE-CA33FBA5F9CE}" type="slidenum">
              <a:rPr lang="en-US" smtClean="0"/>
              <a:pPr/>
              <a:t>4</a:t>
            </a:fld>
            <a:endParaRPr lang="en-US" smtClean="0"/>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p:spPr>
        <p:txBody>
          <a:bodyPr/>
          <a:lstStyle/>
          <a:p>
            <a:pPr eaLnBrk="1" hangingPunct="1"/>
            <a:r>
              <a:rPr lang="en-AU" dirty="0" smtClean="0"/>
              <a:t>This presentation is designed to provide teachers with the basic knowledge of groundwater.  It outlines the role of groundwater in the water cycle, how groundwater “flows” and how management of groundwater is approached.  There is discussion of the interaction with surface water, and how surface and groundwater can be managed together.  Finally there is a discussion on the consequences of contamination of groundwater. </a:t>
            </a:r>
          </a:p>
          <a:p>
            <a:pPr eaLnBrk="1" hangingPunct="1"/>
            <a:endParaRPr lang="en-AU" dirty="0" smtClean="0"/>
          </a:p>
          <a:p>
            <a:pPr eaLnBrk="1" hangingPunct="1"/>
            <a:r>
              <a:rPr lang="en-AU" dirty="0" smtClean="0"/>
              <a:t>This presentation can be used in conjunction with:</a:t>
            </a:r>
          </a:p>
          <a:p>
            <a:pPr eaLnBrk="1" hangingPunct="1"/>
            <a:r>
              <a:rPr lang="en-US" dirty="0" smtClean="0"/>
              <a:t>TESEP_PD5_Wet_Rocks_Teaching_Notes_V1_March2010.doc</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a:ln>
            <a:miter lim="800000"/>
            <a:headEnd/>
            <a:tailEnd/>
          </a:ln>
        </p:spPr>
        <p:txBody>
          <a:bodyPr/>
          <a:lstStyle/>
          <a:p>
            <a:fld id="{6E6EF2A8-8521-4A16-92E9-E48E3F7F7694}" type="slidenum">
              <a:rPr lang="en-US" smtClean="0"/>
              <a:pPr/>
              <a:t>5</a:t>
            </a:fld>
            <a:endParaRPr lang="en-US" smtClean="0"/>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p:spPr>
        <p:txBody>
          <a:bodyPr/>
          <a:lstStyle/>
          <a:p>
            <a:pPr eaLnBrk="1" hangingPunct="1"/>
            <a:r>
              <a:rPr lang="en-AU" smtClean="0"/>
              <a:t>Groundwater is a significant water resource.  Although surface water is commonly thought of as the main supply of water for drinking, agriculture and the environment, in fact there is much more groundwater available.  In some parts of the world, groundwater is the only reliable source of water.</a:t>
            </a:r>
          </a:p>
          <a:p>
            <a:pPr eaLnBrk="1" hangingPunct="1"/>
            <a:endParaRPr lang="en-AU" smtClean="0"/>
          </a:p>
          <a:p>
            <a:pPr eaLnBrk="1" hangingPunct="1"/>
            <a:r>
              <a:rPr lang="en-AU" smtClean="0"/>
              <a:t>Of the available groundwater, a significant proportion is suitable for drinking water.  This far outstrips the available surface water. </a:t>
            </a:r>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a:ln>
            <a:miter lim="800000"/>
            <a:headEnd/>
            <a:tailEnd/>
          </a:ln>
        </p:spPr>
        <p:txBody>
          <a:bodyPr/>
          <a:lstStyle/>
          <a:p>
            <a:fld id="{D90C0112-6FF2-4DCF-BDC7-0E4F06DAD415}" type="slidenum">
              <a:rPr lang="en-US" smtClean="0"/>
              <a:pPr/>
              <a:t>6</a:t>
            </a:fld>
            <a:endParaRPr lang="en-US" smtClean="0"/>
          </a:p>
        </p:txBody>
      </p:sp>
      <p:sp>
        <p:nvSpPr>
          <p:cNvPr id="26626" name="Rectangle 2"/>
          <p:cNvSpPr>
            <a:spLocks noGrp="1" noRot="1" noChangeAspect="1" noChangeArrowheads="1" noTextEdit="1"/>
          </p:cNvSpPr>
          <p:nvPr>
            <p:ph type="sldImg"/>
          </p:nvPr>
        </p:nvSpPr>
        <p:spPr>
          <a:ln/>
        </p:spPr>
      </p:sp>
      <p:sp>
        <p:nvSpPr>
          <p:cNvPr id="26627" name="Rectangle 3"/>
          <p:cNvSpPr>
            <a:spLocks noGrp="1" noChangeArrowheads="1"/>
          </p:cNvSpPr>
          <p:nvPr>
            <p:ph type="body" idx="1"/>
          </p:nvPr>
        </p:nvSpPr>
        <p:spPr>
          <a:noFill/>
        </p:spPr>
        <p:txBody>
          <a:bodyPr/>
          <a:lstStyle/>
          <a:p>
            <a:pPr eaLnBrk="1" hangingPunct="1"/>
            <a:r>
              <a:rPr lang="en-AU" smtClean="0"/>
              <a:t>The importance of groundwater is global.  Large and small resources are utilised in all continents of the world.  </a:t>
            </a:r>
          </a:p>
          <a:p>
            <a:pPr eaLnBrk="1" hangingPunct="1"/>
            <a:r>
              <a:rPr lang="en-AU" smtClean="0"/>
              <a:t>In many countries, the distance between the source of water and the need for water can be considerable.  There is substantial effort in collecting water each and every day to meet basic human needs.  </a:t>
            </a:r>
          </a:p>
          <a:p>
            <a:pPr eaLnBrk="1" hangingPunct="1"/>
            <a:r>
              <a:rPr lang="en-AU" smtClean="0"/>
              <a:t>One of the key advantages of groundwater is that you don’t need pipes to connect you to a supply.  You can be hundreds of kilometres from the nearest surface water and simply “tap” into the underground supply system.  The capacity for groundwater to be used where it is needed makes it a very cost effective resource.</a:t>
            </a:r>
          </a:p>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ln>
            <a:miter lim="800000"/>
            <a:headEnd/>
            <a:tailEnd/>
          </a:ln>
        </p:spPr>
        <p:txBody>
          <a:bodyPr/>
          <a:lstStyle/>
          <a:p>
            <a:fld id="{5B11F064-571D-433E-BC0C-470432E7A357}" type="slidenum">
              <a:rPr lang="en-US" smtClean="0"/>
              <a:pPr/>
              <a:t>7</a:t>
            </a:fld>
            <a:endParaRPr lang="en-US" smtClean="0"/>
          </a:p>
        </p:txBody>
      </p:sp>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p:spPr>
        <p:txBody>
          <a:bodyPr/>
          <a:lstStyle/>
          <a:p>
            <a:pPr eaLnBrk="1" hangingPunct="1"/>
            <a:r>
              <a:rPr lang="en-AU" dirty="0" smtClean="0"/>
              <a:t>Within Australia, different states have different levels of dependence on groundwater.  Overall 21% of Australia’s total water use comes from groundwater.  As our demand is increasing, and if our climate continues to dry, the level of groundwater use is likely to increase as well.</a:t>
            </a:r>
          </a:p>
          <a:p>
            <a:pPr eaLnBrk="1" hangingPunct="1"/>
            <a:endParaRPr lang="en-AU" dirty="0" smtClean="0"/>
          </a:p>
          <a:p>
            <a:pPr eaLnBrk="1" hangingPunct="1"/>
            <a:r>
              <a:rPr lang="en-AU" dirty="0" smtClean="0"/>
              <a:t>The figure above only refers to the use of groundwater for human activities.  The environment is dependent on groundwater as well, and any use of groundwater must be shared with the environment.</a:t>
            </a:r>
          </a:p>
          <a:p>
            <a:pPr eaLnBrk="1" hangingPunct="1"/>
            <a:r>
              <a:rPr lang="en-AU" dirty="0" smtClean="0"/>
              <a:t> </a:t>
            </a:r>
            <a:endParaRPr lang="en-US"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a:ln>
            <a:miter lim="800000"/>
            <a:headEnd/>
            <a:tailEnd/>
          </a:ln>
        </p:spPr>
        <p:txBody>
          <a:bodyPr/>
          <a:lstStyle/>
          <a:p>
            <a:fld id="{029772DC-F6CC-45C1-AFF6-834A91A87D97}" type="slidenum">
              <a:rPr lang="en-US" smtClean="0"/>
              <a:pPr/>
              <a:t>8</a:t>
            </a:fld>
            <a:endParaRPr lang="en-US" smtClean="0"/>
          </a:p>
        </p:txBody>
      </p:sp>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p:spPr>
        <p:txBody>
          <a:bodyPr/>
          <a:lstStyle/>
          <a:p>
            <a:pPr eaLnBrk="1" hangingPunct="1">
              <a:lnSpc>
                <a:spcPct val="90000"/>
              </a:lnSpc>
            </a:pPr>
            <a:r>
              <a:rPr lang="en-AU" smtClean="0"/>
              <a:t>The water cycle is the description of how water moves through our atmosphere, rivers, lakes, ocean, soil and rock.  The concept is that use of water in any part of the cycle affects other parts of the cycle.  Water resource management is the activity of deciding where water goes to in the cycle.</a:t>
            </a:r>
          </a:p>
          <a:p>
            <a:pPr eaLnBrk="1" hangingPunct="1">
              <a:lnSpc>
                <a:spcPct val="90000"/>
              </a:lnSpc>
            </a:pPr>
            <a:endParaRPr lang="en-AU" smtClean="0"/>
          </a:p>
          <a:p>
            <a:pPr eaLnBrk="1" hangingPunct="1">
              <a:lnSpc>
                <a:spcPct val="90000"/>
              </a:lnSpc>
            </a:pPr>
            <a:r>
              <a:rPr lang="en-AU" smtClean="0"/>
              <a:t>Most descriptions start with rainfall.  Rain falling on the earth is either evaporated back from the earths surface, runs off the earths surface into rivers, waterways or lakes, or may soak into the soil.  Water in rivers and waterways flows back to the ocean over days or perhaps years (for the worlds biggest rivers) to the ocean, where it is available for evaporation back into the atmosphere where it can form clouds.</a:t>
            </a:r>
          </a:p>
          <a:p>
            <a:pPr eaLnBrk="1" hangingPunct="1">
              <a:lnSpc>
                <a:spcPct val="90000"/>
              </a:lnSpc>
            </a:pPr>
            <a:endParaRPr lang="en-AU" smtClean="0"/>
          </a:p>
          <a:p>
            <a:pPr eaLnBrk="1" hangingPunct="1">
              <a:lnSpc>
                <a:spcPct val="90000"/>
              </a:lnSpc>
            </a:pPr>
            <a:r>
              <a:rPr lang="en-AU" smtClean="0"/>
              <a:t>The water that moves into the soil is available for vegetation to use.  This process is called transpiration.  The sum of moisture evaporated to the atmosphere from the soil directly and the water used by plants is called evapotranspiration.  </a:t>
            </a:r>
          </a:p>
          <a:p>
            <a:pPr eaLnBrk="1" hangingPunct="1">
              <a:lnSpc>
                <a:spcPct val="90000"/>
              </a:lnSpc>
            </a:pPr>
            <a:r>
              <a:rPr lang="en-AU" smtClean="0"/>
              <a:t> </a:t>
            </a:r>
          </a:p>
          <a:p>
            <a:pPr eaLnBrk="1" hangingPunct="1">
              <a:lnSpc>
                <a:spcPct val="90000"/>
              </a:lnSpc>
            </a:pPr>
            <a:r>
              <a:rPr lang="en-AU" smtClean="0"/>
              <a:t>Of the water that is not used by plants, some will be stored in the soil, and some will continue to move through the soil to become groundwater.  This is called </a:t>
            </a:r>
            <a:r>
              <a:rPr lang="en-AU" b="1" smtClean="0"/>
              <a:t>RECHARGE. </a:t>
            </a:r>
            <a:r>
              <a:rPr lang="en-AU" smtClean="0"/>
              <a:t> In the majority of cases, groundwater will eventually flow to a waterway or to the ocean. </a:t>
            </a:r>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a:ln>
            <a:miter lim="800000"/>
            <a:headEnd/>
            <a:tailEnd/>
          </a:ln>
        </p:spPr>
        <p:txBody>
          <a:bodyPr/>
          <a:lstStyle/>
          <a:p>
            <a:fld id="{86591820-E9CD-469D-81FE-FEE4CC86B49D}" type="slidenum">
              <a:rPr lang="en-US" smtClean="0"/>
              <a:pPr/>
              <a:t>9</a:t>
            </a:fld>
            <a:endParaRPr lang="en-US" smtClean="0"/>
          </a:p>
        </p:txBody>
      </p:sp>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p:spPr>
        <p:txBody>
          <a:bodyPr/>
          <a:lstStyle/>
          <a:p>
            <a:pPr eaLnBrk="1" hangingPunct="1"/>
            <a:r>
              <a:rPr lang="en-AU" smtClean="0"/>
              <a:t>This section talks about the basics of how groundwater moves through the soil and rock, and how do you get it out of the ground.</a:t>
            </a:r>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ln>
            <a:miter lim="800000"/>
            <a:headEnd/>
            <a:tailEnd/>
          </a:ln>
        </p:spPr>
        <p:txBody>
          <a:bodyPr/>
          <a:lstStyle/>
          <a:p>
            <a:fld id="{A3BF9AAD-634C-404A-8D31-A4AA925CFB23}" type="slidenum">
              <a:rPr lang="en-US" smtClean="0"/>
              <a:pPr/>
              <a:t>10</a:t>
            </a:fld>
            <a:endParaRPr lang="en-US" smtClean="0"/>
          </a:p>
        </p:txBody>
      </p:sp>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p:spPr>
        <p:txBody>
          <a:bodyPr/>
          <a:lstStyle/>
          <a:p>
            <a:pPr eaLnBrk="1" hangingPunct="1"/>
            <a:r>
              <a:rPr lang="en-AU" smtClean="0"/>
              <a:t>Underground rivers do exist, but they are rare.  They are only found where water flows through caves in limestone and lava tunnels in basalts. </a:t>
            </a:r>
          </a:p>
          <a:p>
            <a:pPr eaLnBrk="1" hangingPunct="1"/>
            <a:r>
              <a:rPr lang="en-AU" smtClean="0"/>
              <a:t>Generally groundwater flows through gaps between particles of soil and rock.  How well it flows depends on how many gaps there are (porosity) and how well connected the gaps are (permeability).</a:t>
            </a:r>
          </a:p>
          <a:p>
            <a:pPr eaLnBrk="1" hangingPunct="1"/>
            <a:r>
              <a:rPr lang="en-AU" smtClean="0"/>
              <a:t>The measure used by hydrogeologists to describe how well water will move through rock and soil is the </a:t>
            </a:r>
            <a:r>
              <a:rPr lang="en-AU" b="1" smtClean="0"/>
              <a:t>hydraulic conductivity</a:t>
            </a:r>
            <a:r>
              <a:rPr lang="en-AU" smtClean="0"/>
              <a:t>. The units of measurement of hydraulic conductivity are length over time (L/T) – usually expressed as m/day or m/sec.  </a:t>
            </a:r>
          </a:p>
          <a:p>
            <a:pPr eaLnBrk="1" hangingPunct="1"/>
            <a:r>
              <a:rPr lang="en-AU" smtClean="0"/>
              <a:t>The higher the hydraulic conductivity, the easier it is for water to flow through the soil or rock. Gravels generally have high porosity and good permeability, resulting in high hydraulic conductivities.  Clays have high porosity, but very low permeability, and hence low hydraulic conductivity.</a:t>
            </a:r>
          </a:p>
          <a:p>
            <a:pPr eaLnBrk="1" hangingPunct="1"/>
            <a:r>
              <a:rPr lang="en-AU" smtClean="0"/>
              <a:t>Although the hydraulic conductivity is a measure of the capacity for water to flow through soil or rock, it also applies a physical constraint to how fast water can move.  In this way it also describes the resistance of the soil or rock to flow.   In a pipe, the resistance to flow is from the friction losses on the side of the pipe.  In groundwater, resistance to flow is from the side walls of all of the very small pathways between the soil and rock particles formed by the porosity and permeability – and is much, much greater than any resistance in a pipe.</a:t>
            </a:r>
          </a:p>
          <a:p>
            <a:pPr eaLnBrk="1" hangingPunct="1"/>
            <a:endParaRPr lang="en-AU"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ln>
            <a:miter lim="800000"/>
            <a:headEnd/>
            <a:tailEnd/>
          </a:ln>
        </p:spPr>
        <p:txBody>
          <a:bodyPr/>
          <a:lstStyle/>
          <a:p>
            <a:fld id="{5329128D-86D3-456A-9FF0-62916A9F197E}" type="slidenum">
              <a:rPr lang="en-US" smtClean="0"/>
              <a:pPr/>
              <a:t>11</a:t>
            </a:fld>
            <a:endParaRPr lang="en-US" smtClean="0"/>
          </a:p>
        </p:txBody>
      </p:sp>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noFill/>
        </p:spPr>
        <p:txBody>
          <a:bodyPr/>
          <a:lstStyle/>
          <a:p>
            <a:pPr eaLnBrk="1" hangingPunct="1"/>
            <a:r>
              <a:rPr lang="en-AU" smtClean="0"/>
              <a:t>Groundwater flows not so much “down hill” as “down hydraulic gradient”.  Flow is driven from where the surface of groundwater is at a higher elevation to areas of lower elevation.  In many cases the surface of groundwater is a reflection of the surface of the ground – only smoothed out.  However, there are also many cases where the surface of the groundwater has a different gradient and direction to the ground surface.  </a:t>
            </a:r>
          </a:p>
          <a:p>
            <a:pPr eaLnBrk="1" hangingPunct="1"/>
            <a:r>
              <a:rPr lang="en-AU" smtClean="0"/>
              <a:t>The head elevation of groundwater is measured by drilling bores into the groundwater and measuring the level of the water in the bore relative to some uniform measurement point (sea level or equivalent is often used).  By contouring these points of measurement, the overall surface of groundwater can be interpreted.   </a:t>
            </a:r>
          </a:p>
          <a:p>
            <a:pPr eaLnBrk="1" hangingPunct="1"/>
            <a:r>
              <a:rPr lang="en-AU" smtClean="0"/>
              <a:t>If the section above was just an empty tray with no sand in it, and you poured water in from one end, the water level in the trays would (more or less) fill uniformly. Water would rapidly move from one end of the tray to the other and the water surface would be approximately level.  Why doesn’t this happen in groundwater?</a:t>
            </a:r>
          </a:p>
          <a:p>
            <a:pPr eaLnBrk="1" hangingPunct="1"/>
            <a:r>
              <a:rPr lang="en-AU" smtClean="0"/>
              <a:t>In a groundwater system, the porosity and permeability (hydraulic conductivity) of the soil or rock limits the speed of transfer between the top and bottom of the tray.  In this way as you pour water into one end, it will form a hydraulic gradient from one end to the other as the speed of transfer of water is limited by the hydraulic conductivity.  Over time the surface will level out.  </a:t>
            </a:r>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ln>
            <a:miter lim="800000"/>
            <a:headEnd/>
            <a:tailEnd/>
          </a:ln>
        </p:spPr>
        <p:txBody>
          <a:bodyPr/>
          <a:lstStyle/>
          <a:p>
            <a:fld id="{8D7E7477-C864-4B88-8718-3B188F4AF051}" type="slidenum">
              <a:rPr lang="en-US" smtClean="0"/>
              <a:pPr/>
              <a:t>12</a:t>
            </a:fld>
            <a:endParaRPr lang="en-US" smtClean="0"/>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a:noFill/>
        </p:spPr>
        <p:txBody>
          <a:bodyPr/>
          <a:lstStyle/>
          <a:p>
            <a:pPr eaLnBrk="1" hangingPunct="1"/>
            <a:r>
              <a:rPr lang="en-US" smtClean="0"/>
              <a:t>The number of pores and crevices in soil and rock and how well they are connected determines how easily groundwater moves through the ground and how much groundwater comes from a particular layer. Where useable volumes of groundwater can be pumped from a soil or rock layer, the layer is called an </a:t>
            </a:r>
            <a:r>
              <a:rPr lang="en-US" b="1" smtClean="0"/>
              <a:t>aquifer</a:t>
            </a:r>
            <a:r>
              <a:rPr lang="en-US" smtClean="0"/>
              <a:t>.</a:t>
            </a:r>
          </a:p>
          <a:p>
            <a:pPr eaLnBrk="1" hangingPunct="1"/>
            <a:r>
              <a:rPr lang="en-AU" smtClean="0"/>
              <a:t>If a rock or sediment layer is not porous or permeable (i.e. cannot hold a lot of water and does not let water through easily), then it is called an </a:t>
            </a:r>
            <a:r>
              <a:rPr lang="en-AU" b="1" smtClean="0"/>
              <a:t>aquitard</a:t>
            </a:r>
            <a:r>
              <a:rPr lang="en-AU" smtClean="0"/>
              <a:t>.</a:t>
            </a:r>
            <a:r>
              <a:rPr lang="en-US" smtClean="0"/>
              <a:t> </a:t>
            </a:r>
            <a:endParaRPr lang="en-AU" smtClean="0"/>
          </a:p>
          <a:p>
            <a:pPr eaLnBrk="1" hangingPunct="1"/>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noChangeArrowheads="1"/>
          </p:cNvSpPr>
          <p:nvPr>
            <p:ph type="sldNum" sz="quarter" idx="5"/>
          </p:nvPr>
        </p:nvSpPr>
        <p:spPr>
          <a:noFill/>
          <a:ln>
            <a:miter lim="800000"/>
            <a:headEnd/>
            <a:tailEnd/>
          </a:ln>
        </p:spPr>
        <p:txBody>
          <a:bodyPr/>
          <a:lstStyle/>
          <a:p>
            <a:fld id="{C23E1C83-72FC-4E86-85F0-297C8ECD3E6D}" type="slidenum">
              <a:rPr lang="en-US" smtClean="0"/>
              <a:pPr/>
              <a:t>13</a:t>
            </a:fld>
            <a:endParaRPr lang="en-US" smtClean="0"/>
          </a:p>
        </p:txBody>
      </p:sp>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a:noFill/>
        </p:spPr>
        <p:txBody>
          <a:bodyPr/>
          <a:lstStyle/>
          <a:p>
            <a:pPr eaLnBrk="1" hangingPunct="1"/>
            <a:r>
              <a:rPr lang="en-US" dirty="0" smtClean="0"/>
              <a:t>Aquifers may be unconfined or confined.</a:t>
            </a:r>
          </a:p>
          <a:p>
            <a:pPr eaLnBrk="1" hangingPunct="1"/>
            <a:r>
              <a:rPr lang="en-US" dirty="0" smtClean="0"/>
              <a:t>• An </a:t>
            </a:r>
            <a:r>
              <a:rPr lang="en-US" b="1" dirty="0" smtClean="0"/>
              <a:t>unconfined aquifer </a:t>
            </a:r>
            <a:r>
              <a:rPr lang="en-US" dirty="0" smtClean="0"/>
              <a:t>forms the water table. It behaves a bit like a bucket in which the water table is the level of water in the bucket.</a:t>
            </a:r>
          </a:p>
          <a:p>
            <a:pPr eaLnBrk="1" hangingPunct="1"/>
            <a:r>
              <a:rPr lang="en-US" dirty="0" smtClean="0"/>
              <a:t>• In a </a:t>
            </a:r>
            <a:r>
              <a:rPr lang="en-US" b="1" dirty="0" smtClean="0"/>
              <a:t>confined aquifer </a:t>
            </a:r>
            <a:r>
              <a:rPr lang="en-US" dirty="0" smtClean="0"/>
              <a:t>the groundwater is under pressure: its movement upward is capped by a layer of rock or soil that does not easily allow the water to move through it. This is called a </a:t>
            </a:r>
            <a:r>
              <a:rPr lang="en-US" b="1" dirty="0" smtClean="0"/>
              <a:t>confining layer </a:t>
            </a:r>
            <a:r>
              <a:rPr lang="en-US" dirty="0" smtClean="0"/>
              <a:t>or </a:t>
            </a:r>
            <a:r>
              <a:rPr lang="en-US" b="1" dirty="0" err="1" smtClean="0"/>
              <a:t>aquitard</a:t>
            </a:r>
            <a:r>
              <a:rPr lang="en-US" b="1" dirty="0" smtClean="0"/>
              <a:t>. </a:t>
            </a:r>
            <a:r>
              <a:rPr lang="en-US" dirty="0" smtClean="0"/>
              <a:t>When a bore intersects the aquifer, the water level rises above the top of the aquifer. How high it rises depends on the pressure. Where the pressure is high enough, the groundwater rises above the ground’s surface. This is commonly called a ‘free flowing’ or artesian bore.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noChangeArrowheads="1"/>
          </p:cNvSpPr>
          <p:nvPr>
            <p:ph type="sldNum" sz="quarter" idx="5"/>
          </p:nvPr>
        </p:nvSpPr>
        <p:spPr>
          <a:noFill/>
          <a:ln>
            <a:miter lim="800000"/>
            <a:headEnd/>
            <a:tailEnd/>
          </a:ln>
        </p:spPr>
        <p:txBody>
          <a:bodyPr/>
          <a:lstStyle/>
          <a:p>
            <a:fld id="{904F7234-04BB-40F4-BDE8-8DF6A0AA21B7}" type="slidenum">
              <a:rPr lang="en-US" smtClean="0"/>
              <a:pPr/>
              <a:t>14</a:t>
            </a:fld>
            <a:endParaRPr lang="en-US" smtClean="0"/>
          </a:p>
        </p:txBody>
      </p:sp>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noFill/>
        </p:spPr>
        <p:txBody>
          <a:bodyPr/>
          <a:lstStyle/>
          <a:p>
            <a:pPr eaLnBrk="1" hangingPunct="1"/>
            <a:r>
              <a:rPr lang="en-AU" smtClean="0"/>
              <a:t>In reality, aquifers and aquitards often form layers beneath the ground.  This produces multi-layer aquifer systems.  Understanding the interaction between different layers is a key part of groundwater management.</a:t>
            </a:r>
          </a:p>
          <a:p>
            <a:pPr eaLnBrk="1" hangingPunct="1"/>
            <a:r>
              <a:rPr lang="en-AU" smtClean="0"/>
              <a:t>When groundwater is pumped from an </a:t>
            </a:r>
            <a:r>
              <a:rPr lang="en-AU" b="1" smtClean="0"/>
              <a:t>unconfined aquifer</a:t>
            </a:r>
            <a:r>
              <a:rPr lang="en-AU" smtClean="0"/>
              <a:t>, the </a:t>
            </a:r>
            <a:r>
              <a:rPr lang="en-AU" b="1" smtClean="0"/>
              <a:t>water comes from storage</a:t>
            </a:r>
            <a:r>
              <a:rPr lang="en-AU" smtClean="0"/>
              <a:t>.  That is, as you pump, pores drain out to provide the water.  The volume of water pumped is equal to the volume of pores that have drained.</a:t>
            </a:r>
          </a:p>
          <a:p>
            <a:pPr eaLnBrk="1" hangingPunct="1"/>
            <a:r>
              <a:rPr lang="en-AU" smtClean="0"/>
              <a:t>When groundwater is pumped from a </a:t>
            </a:r>
            <a:r>
              <a:rPr lang="en-AU" b="1" smtClean="0"/>
              <a:t>confined aquifer</a:t>
            </a:r>
            <a:r>
              <a:rPr lang="en-AU" smtClean="0"/>
              <a:t>, the </a:t>
            </a:r>
            <a:r>
              <a:rPr lang="en-AU" b="1" smtClean="0"/>
              <a:t>water comes from expansion of the water</a:t>
            </a:r>
            <a:r>
              <a:rPr lang="en-AU" smtClean="0"/>
              <a:t>.  In a confined aquifer, the water is under pressure, that is, it is compressed or squeezed.  When you pump the water, it locally reduces the pressure.  In response, the water expands.  The volume of water extracted is the volume created by the expansion of the water.  </a:t>
            </a:r>
            <a:endParaRPr lang="en-US" smtClean="0"/>
          </a:p>
          <a:p>
            <a:pPr eaLnBrk="1" hangingPunct="1"/>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a:spLocks noGrp="1" noChangeArrowheads="1"/>
          </p:cNvSpPr>
          <p:nvPr>
            <p:ph type="sldNum" sz="quarter" idx="5"/>
          </p:nvPr>
        </p:nvSpPr>
        <p:spPr>
          <a:noFill/>
          <a:ln>
            <a:miter lim="800000"/>
            <a:headEnd/>
            <a:tailEnd/>
          </a:ln>
        </p:spPr>
        <p:txBody>
          <a:bodyPr/>
          <a:lstStyle/>
          <a:p>
            <a:fld id="{35E322D2-C128-492D-9602-EEB5AF13E4DD}" type="slidenum">
              <a:rPr lang="en-US" smtClean="0"/>
              <a:pPr/>
              <a:t>15</a:t>
            </a:fld>
            <a:endParaRPr lang="en-US" smtClean="0"/>
          </a:p>
        </p:txBody>
      </p:sp>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a:noFill/>
        </p:spPr>
        <p:txBody>
          <a:bodyPr/>
          <a:lstStyle/>
          <a:p>
            <a:pPr eaLnBrk="1" hangingPunct="1">
              <a:lnSpc>
                <a:spcPct val="80000"/>
              </a:lnSpc>
            </a:pPr>
            <a:r>
              <a:rPr lang="en-AU" sz="1000" smtClean="0"/>
              <a:t>Groundwater moves very slowly through aquifers from an area of recharge to discharge. In some cases, aquifers extend over very large areas, whereas in other cases the areas are much smaller. Scientists who study groundwater divide these areas according to their size. These areas are known as </a:t>
            </a:r>
            <a:r>
              <a:rPr lang="en-AU" sz="1000" b="1" smtClean="0"/>
              <a:t>groundwater flow systems</a:t>
            </a:r>
            <a:r>
              <a:rPr lang="en-AU" sz="1000" smtClean="0"/>
              <a:t>. The three types of groundwater flow systems are known as local, intermediate and regional.</a:t>
            </a:r>
          </a:p>
          <a:p>
            <a:pPr eaLnBrk="1" hangingPunct="1">
              <a:lnSpc>
                <a:spcPct val="80000"/>
              </a:lnSpc>
            </a:pPr>
            <a:r>
              <a:rPr lang="en-AU" sz="1000" b="1" smtClean="0"/>
              <a:t>Local groundwater flow systems</a:t>
            </a:r>
            <a:r>
              <a:rPr lang="en-AU" sz="1000" smtClean="0"/>
              <a:t> are generally shallow and groundwater moves from a recharge point to the nearest discharge point. Local flow systems are often only a few square kilometres in area and extend from a few metres to hundreds of metres. The groundwater that discharges from this system is usually quite young in age, ranging from one year to ten years to hundreds of years. Local flow systems are often close to each other.</a:t>
            </a:r>
            <a:endParaRPr lang="en-AU" sz="1000" b="1" smtClean="0"/>
          </a:p>
          <a:p>
            <a:pPr eaLnBrk="1" hangingPunct="1">
              <a:lnSpc>
                <a:spcPct val="80000"/>
              </a:lnSpc>
            </a:pPr>
            <a:r>
              <a:rPr lang="en-AU" sz="1000" b="1" smtClean="0"/>
              <a:t>Intermediate groundwater flow systems </a:t>
            </a:r>
            <a:r>
              <a:rPr lang="en-AU" sz="1000" smtClean="0"/>
              <a:t>are deeper than local flow systems and can be tens to hundreds</a:t>
            </a:r>
            <a:r>
              <a:rPr lang="en-AU" sz="1000" b="1" smtClean="0"/>
              <a:t> </a:t>
            </a:r>
            <a:r>
              <a:rPr lang="en-AU" sz="1000" smtClean="0"/>
              <a:t>of square kilometres in area. The age of the groundwater discharging from</a:t>
            </a:r>
            <a:r>
              <a:rPr lang="en-AU" sz="1000" b="1" smtClean="0"/>
              <a:t> </a:t>
            </a:r>
            <a:r>
              <a:rPr lang="en-AU" sz="1000" smtClean="0"/>
              <a:t>this system can be from hundreds of years to tens of thousands of years. Intermediate flow systems extend from hundreds to thousands of metres and are often</a:t>
            </a:r>
            <a:r>
              <a:rPr lang="en-AU" sz="1000" b="1" smtClean="0"/>
              <a:t> </a:t>
            </a:r>
            <a:r>
              <a:rPr lang="en-AU" sz="1000" smtClean="0"/>
              <a:t>separated from each other by a groundwater or water table divide. A </a:t>
            </a:r>
            <a:r>
              <a:rPr lang="en-AU" sz="1000" b="1" smtClean="0"/>
              <a:t>groundwater divide</a:t>
            </a:r>
            <a:r>
              <a:rPr lang="en-AU" sz="1000" smtClean="0"/>
              <a:t> is usually a high point in the water table and the land surface where groundwater flows in divergent paths. This means that on either side of the high in the water table, groundwater will flow in opposite directions. </a:t>
            </a:r>
            <a:endParaRPr lang="en-AU" sz="1000" b="1" smtClean="0"/>
          </a:p>
          <a:p>
            <a:pPr eaLnBrk="1" hangingPunct="1">
              <a:lnSpc>
                <a:spcPct val="80000"/>
              </a:lnSpc>
            </a:pPr>
            <a:r>
              <a:rPr lang="en-AU" sz="1000" b="1" smtClean="0"/>
              <a:t>Regional groundwater flow systems </a:t>
            </a:r>
            <a:r>
              <a:rPr lang="en-AU" sz="1000" smtClean="0"/>
              <a:t>are generally deeper and often cover hundreds to thousands of</a:t>
            </a:r>
            <a:r>
              <a:rPr lang="en-AU" sz="1000" b="1" smtClean="0"/>
              <a:t> </a:t>
            </a:r>
            <a:r>
              <a:rPr lang="en-AU" sz="1000" smtClean="0"/>
              <a:t>square kilometres. The age of groundwater discharged from these systems can be tens of thousands of years</a:t>
            </a:r>
            <a:r>
              <a:rPr lang="en-AU" sz="1000" b="1" smtClean="0"/>
              <a:t> </a:t>
            </a:r>
            <a:r>
              <a:rPr lang="en-AU" sz="1000" smtClean="0"/>
              <a:t>old to millions of years old. An example of a regional flow system is the Great Artesian Basin,</a:t>
            </a:r>
            <a:r>
              <a:rPr lang="en-AU" sz="1000" b="1" smtClean="0"/>
              <a:t> </a:t>
            </a:r>
            <a:r>
              <a:rPr lang="en-AU" sz="1000" smtClean="0"/>
              <a:t>where groundwater that is being discharged today in South Australia actually entered the aquifer</a:t>
            </a:r>
            <a:r>
              <a:rPr lang="en-AU" sz="1000" b="1" smtClean="0"/>
              <a:t> </a:t>
            </a:r>
            <a:r>
              <a:rPr lang="en-AU" sz="1000" smtClean="0"/>
              <a:t>two million years ago in Queensland.</a:t>
            </a:r>
          </a:p>
          <a:p>
            <a:pPr eaLnBrk="1" hangingPunct="1">
              <a:lnSpc>
                <a:spcPct val="80000"/>
              </a:lnSpc>
            </a:pPr>
            <a:r>
              <a:rPr lang="en-AU" sz="1000" smtClean="0"/>
              <a:t>The different scales of groundwater system have different “responsiveness” to change.  Local systems have relatively lower volumes of water stored groundwater.  Activities which change the amount of recharge to or discharge from a local system will have a proportionally more significant response than for larger systems.  In this way, a management action in a local system may create an observable change in a relatively short timeframe (years).  In intermediate and regional systems, the relative change has to be much bigger to generate an impact, and it may take decades to centuries to observe the change.  When considering groundwater management, the responsiveness of the system needs to be considered.</a:t>
            </a:r>
            <a:r>
              <a:rPr lang="en-US" sz="1000" smtClean="0"/>
              <a:t>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a:spLocks noGrp="1" noChangeArrowheads="1"/>
          </p:cNvSpPr>
          <p:nvPr>
            <p:ph type="sldNum" sz="quarter" idx="5"/>
          </p:nvPr>
        </p:nvSpPr>
        <p:spPr>
          <a:noFill/>
          <a:ln>
            <a:miter lim="800000"/>
            <a:headEnd/>
            <a:tailEnd/>
          </a:ln>
        </p:spPr>
        <p:txBody>
          <a:bodyPr/>
          <a:lstStyle/>
          <a:p>
            <a:fld id="{6EF67CEB-39CB-4FED-9468-9A006632A444}" type="slidenum">
              <a:rPr lang="en-US" smtClean="0"/>
              <a:pPr/>
              <a:t>16</a:t>
            </a:fld>
            <a:endParaRPr lang="en-US" smtClean="0"/>
          </a:p>
        </p:txBody>
      </p:sp>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noFill/>
        </p:spPr>
        <p:txBody>
          <a:bodyPr/>
          <a:lstStyle/>
          <a:p>
            <a:pPr eaLnBrk="1" hangingPunct="1"/>
            <a:r>
              <a:rPr lang="en-AU" dirty="0" smtClean="0"/>
              <a:t>This diagram shows the component parts of the water cycle as they apply to groundwater.  Each part of the process will be discussed further.</a:t>
            </a:r>
          </a:p>
          <a:p>
            <a:pPr eaLnBrk="1" hangingPunct="1"/>
            <a:r>
              <a:rPr lang="en-AU" dirty="0" smtClean="0"/>
              <a:t>This is a simple representation of a volume cut through the ground.  It captures the main processes that pass water into the groundwater and then flow through it.  Much of groundwater management is based on trying to “balance” the various components of the water cycle.  </a:t>
            </a:r>
          </a:p>
          <a:p>
            <a:pPr eaLnBrk="1" hangingPunct="1"/>
            <a:r>
              <a:rPr lang="en-AU" dirty="0" smtClean="0"/>
              <a:t>From a groundwater perspective, one of the key components of the process is the volume of water that reaches the </a:t>
            </a:r>
            <a:r>
              <a:rPr lang="en-AU" dirty="0" err="1" smtClean="0"/>
              <a:t>watertable</a:t>
            </a:r>
            <a:r>
              <a:rPr lang="en-AU" dirty="0" smtClean="0"/>
              <a:t> to form groundwater.  This is </a:t>
            </a:r>
            <a:r>
              <a:rPr lang="en-AU" b="1" dirty="0" smtClean="0"/>
              <a:t>recharge</a:t>
            </a:r>
            <a:r>
              <a:rPr lang="en-AU" dirty="0" smtClean="0"/>
              <a:t>. The amount of water that can pass through the unsaturated zone to the </a:t>
            </a:r>
            <a:r>
              <a:rPr lang="en-AU" dirty="0" err="1" smtClean="0"/>
              <a:t>watertable</a:t>
            </a:r>
            <a:r>
              <a:rPr lang="en-AU" dirty="0" smtClean="0"/>
              <a:t> to form recharge is a product of atmospheric processes (primarily rainfall), the amount that evaporates from the soil or is used by plants (collectively called </a:t>
            </a:r>
            <a:r>
              <a:rPr lang="en-AU" dirty="0" err="1" smtClean="0"/>
              <a:t>evapo</a:t>
            </a:r>
            <a:r>
              <a:rPr lang="en-AU" dirty="0" smtClean="0"/>
              <a:t>-transpiration) and how much water is stored in the soil profile as it moves through it.  </a:t>
            </a:r>
            <a:endParaRPr lang="en-US"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noChangeArrowheads="1"/>
          </p:cNvSpPr>
          <p:nvPr>
            <p:ph type="sldNum" sz="quarter" idx="5"/>
          </p:nvPr>
        </p:nvSpPr>
        <p:spPr>
          <a:noFill/>
          <a:ln>
            <a:miter lim="800000"/>
            <a:headEnd/>
            <a:tailEnd/>
          </a:ln>
        </p:spPr>
        <p:txBody>
          <a:bodyPr/>
          <a:lstStyle/>
          <a:p>
            <a:fld id="{C8425A5B-39B5-4444-847B-E29BCE6FB72C}" type="slidenum">
              <a:rPr lang="en-US" smtClean="0"/>
              <a:pPr/>
              <a:t>17</a:t>
            </a:fld>
            <a:endParaRPr lang="en-US" smtClean="0"/>
          </a:p>
        </p:txBody>
      </p:sp>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a:noFill/>
        </p:spPr>
        <p:txBody>
          <a:bodyPr/>
          <a:lstStyle/>
          <a:p>
            <a:pPr eaLnBrk="1" hangingPunct="1"/>
            <a:r>
              <a:rPr lang="en-AU" dirty="0" smtClean="0"/>
              <a:t>In the overall water cycle, rainfall is often considered the starting point for recharge to groundwater.  However, there are many other things that affect recharge.  Water gets to the soil surface by a number of processes in our highly altered environment.  Seepage from waterways, and in particular from flooding provides significant volumes of water that recharge groundwater. Likewise, irrigation supply networks and irrigation itself apply significant volumes of water to the soil and subsequently recharge.  How much water is used from the soil by evapotranspiration processes is determined by the climate conditions and the type of land use.</a:t>
            </a:r>
          </a:p>
          <a:p>
            <a:pPr eaLnBrk="1" hangingPunct="1"/>
            <a:endParaRPr lang="en-AU" dirty="0" smtClean="0"/>
          </a:p>
          <a:p>
            <a:pPr eaLnBrk="1" hangingPunct="1"/>
            <a:r>
              <a:rPr lang="en-AU" dirty="0" smtClean="0"/>
              <a:t>Overall, the interaction of all these processes determines how much water enters the groundwater as </a:t>
            </a:r>
            <a:r>
              <a:rPr lang="en-AU" b="1" dirty="0" smtClean="0"/>
              <a:t>recharge</a:t>
            </a:r>
            <a:r>
              <a:rPr lang="en-AU" dirty="0" smtClean="0"/>
              <a:t>.  </a:t>
            </a:r>
            <a:endParaRPr lang="en-US" dirty="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a:spLocks noGrp="1" noChangeArrowheads="1"/>
          </p:cNvSpPr>
          <p:nvPr>
            <p:ph type="sldNum" sz="quarter" idx="5"/>
          </p:nvPr>
        </p:nvSpPr>
        <p:spPr>
          <a:noFill/>
          <a:ln>
            <a:miter lim="800000"/>
            <a:headEnd/>
            <a:tailEnd/>
          </a:ln>
        </p:spPr>
        <p:txBody>
          <a:bodyPr/>
          <a:lstStyle/>
          <a:p>
            <a:fld id="{81BA0962-700C-4A8E-A4F0-0FADF35BC88C}" type="slidenum">
              <a:rPr lang="en-US" smtClean="0"/>
              <a:pPr/>
              <a:t>18</a:t>
            </a:fld>
            <a:endParaRPr lang="en-US" smtClean="0"/>
          </a:p>
        </p:txBody>
      </p:sp>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p:spPr>
        <p:txBody>
          <a:bodyPr/>
          <a:lstStyle/>
          <a:p>
            <a:pPr eaLnBrk="1" hangingPunct="1">
              <a:lnSpc>
                <a:spcPct val="90000"/>
              </a:lnSpc>
            </a:pPr>
            <a:r>
              <a:rPr lang="en-AU" smtClean="0"/>
              <a:t>Changing rainfall, and what it means</a:t>
            </a:r>
          </a:p>
          <a:p>
            <a:pPr eaLnBrk="1" hangingPunct="1">
              <a:lnSpc>
                <a:spcPct val="90000"/>
              </a:lnSpc>
            </a:pPr>
            <a:r>
              <a:rPr lang="en-AU" smtClean="0"/>
              <a:t>As discussed, over much of the land surface, recharge is dependent on rainfall.  Often when thinking about rainfall, we talk in “averages” over long periods.  These numbers are often used to determine how much groundwater is available to be pumped out.  But is the recharge from rainfall always constant?</a:t>
            </a:r>
          </a:p>
          <a:p>
            <a:pPr eaLnBrk="1" hangingPunct="1">
              <a:lnSpc>
                <a:spcPct val="90000"/>
              </a:lnSpc>
            </a:pPr>
            <a:r>
              <a:rPr lang="en-AU" smtClean="0"/>
              <a:t>The graph is a “cumulative residual” rainfall plot.  The average rainfall (over the whole record length) is subtracted from the actual rainfall for a particular year to give the annual residual, then added to the sum of all previous residuals.  So when the annual rainfall is less than the long term average, the residual will be negative.  When the annual is greater than the average, the residual will be positive. Summing the residuals will give an indication of periods of time when rainfall is above or below average.  These are climatic cycles.  </a:t>
            </a:r>
          </a:p>
          <a:p>
            <a:pPr eaLnBrk="1" hangingPunct="1">
              <a:lnSpc>
                <a:spcPct val="90000"/>
              </a:lnSpc>
            </a:pPr>
            <a:r>
              <a:rPr lang="en-AU" smtClean="0"/>
              <a:t>In the above graph, from the 1900’s to the 1950’s rainfall was generally below average.  From the 1950’s to the 1990’s,  rainfall was generally above average.  From the late 1990’s to the present, it is strongly below average.</a:t>
            </a:r>
          </a:p>
          <a:p>
            <a:pPr eaLnBrk="1" hangingPunct="1">
              <a:lnSpc>
                <a:spcPct val="90000"/>
              </a:lnSpc>
            </a:pPr>
            <a:r>
              <a:rPr lang="en-AU" smtClean="0"/>
              <a:t>If we think about recharge being at least in some way proportional to rainfall, and that the groundwater level is a measure of how much groundwater is in storage, then the longer term “trends” in net rainfall can give an indication of the trend (rising, falling or steady) of groundwater levels.</a:t>
            </a:r>
          </a:p>
          <a:p>
            <a:pPr eaLnBrk="1" hangingPunct="1">
              <a:lnSpc>
                <a:spcPct val="90000"/>
              </a:lnSpc>
            </a:pPr>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noChangeArrowheads="1"/>
          </p:cNvSpPr>
          <p:nvPr>
            <p:ph type="sldNum" sz="quarter" idx="5"/>
          </p:nvPr>
        </p:nvSpPr>
        <p:spPr>
          <a:noFill/>
          <a:ln>
            <a:miter lim="800000"/>
            <a:headEnd/>
            <a:tailEnd/>
          </a:ln>
        </p:spPr>
        <p:txBody>
          <a:bodyPr/>
          <a:lstStyle/>
          <a:p>
            <a:fld id="{176B47FB-7F12-4828-B317-AF19E92BCF01}" type="slidenum">
              <a:rPr lang="en-US" smtClean="0"/>
              <a:pPr/>
              <a:t>19</a:t>
            </a:fld>
            <a:endParaRPr lang="en-US" smtClean="0"/>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p:spPr>
        <p:txBody>
          <a:bodyPr/>
          <a:lstStyle/>
          <a:p>
            <a:pPr eaLnBrk="1" hangingPunct="1"/>
            <a:r>
              <a:rPr lang="en-AU" smtClean="0"/>
              <a:t>Climate change is the long term shifting of our climate averages and patterns (See TESEP PD2 “Riding the Climate Change Rollercoaster”).  However there is concern that climate may make “step changes” as particular processes “shift” substantially in response to forcing factors.  In the south of Australia, there is a concern that a step change has already occurred, reducing rainfall by up to 11% on average already.  This is affecting water resource planning.   </a:t>
            </a:r>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a:spLocks noGrp="1" noChangeArrowheads="1"/>
          </p:cNvSpPr>
          <p:nvPr>
            <p:ph type="sldNum" sz="quarter" idx="5"/>
          </p:nvPr>
        </p:nvSpPr>
        <p:spPr>
          <a:noFill/>
          <a:ln>
            <a:miter lim="800000"/>
            <a:headEnd/>
            <a:tailEnd/>
          </a:ln>
        </p:spPr>
        <p:txBody>
          <a:bodyPr/>
          <a:lstStyle/>
          <a:p>
            <a:fld id="{4C2CC0AC-D9D1-48A6-A1B9-E100E74AB023}" type="slidenum">
              <a:rPr lang="en-US" smtClean="0"/>
              <a:pPr/>
              <a:t>20</a:t>
            </a:fld>
            <a:endParaRPr lang="en-US" smtClean="0"/>
          </a:p>
        </p:txBody>
      </p:sp>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p:spPr>
        <p:txBody>
          <a:bodyPr/>
          <a:lstStyle/>
          <a:p>
            <a:pPr eaLnBrk="1" hangingPunct="1"/>
            <a:r>
              <a:rPr lang="en-AU" smtClean="0"/>
              <a:t>A key determiner of recharge is how much water that soaks into the ground evaporates back from the soil or is used by vegetation.  This varies with the type of soil and the type of vegetation on the land.  </a:t>
            </a:r>
          </a:p>
          <a:p>
            <a:pPr eaLnBrk="1" hangingPunct="1"/>
            <a:r>
              <a:rPr lang="en-AU" smtClean="0"/>
              <a:t>The above graph shows some modelled solutions for the amount of recharge given different soil types and vegetation use.  Annual pasture (has a growing season, then dies), crops (usually annual) and perennial pasture (grows through out the year) are all </a:t>
            </a:r>
            <a:r>
              <a:rPr lang="en-AU" b="1" smtClean="0"/>
              <a:t>shallow rooted</a:t>
            </a:r>
            <a:r>
              <a:rPr lang="en-AU" smtClean="0"/>
              <a:t> vegetation types.  Roots generally don’t grow past 2 metres in depth.  Native forests, plantation forests and woodland include varying densities of </a:t>
            </a:r>
            <a:r>
              <a:rPr lang="en-AU" b="1" smtClean="0"/>
              <a:t>deep rooted</a:t>
            </a:r>
            <a:r>
              <a:rPr lang="en-AU" smtClean="0"/>
              <a:t> trees.  Tree roots, when mature, are generally thought to grow to at least 6 metres in depth. This enables them to capture water from a much greater part of the soil profile.  In arid areas, the tap roots of some indigenous tree species often penetrate many 10’s of metres into the watertable and use groundwater directly.  </a:t>
            </a:r>
          </a:p>
          <a:p>
            <a:pPr eaLnBrk="1" hangingPunct="1"/>
            <a:r>
              <a:rPr lang="en-AU" smtClean="0"/>
              <a:t>The above graph shows that although soil type does affect the overall recharge, the vegetation type is much more significant.  In particular, it can be seen that </a:t>
            </a:r>
            <a:r>
              <a:rPr lang="en-AU" b="1" smtClean="0"/>
              <a:t>regardless of the type of shallow rooted vegetation, deep rooted vegetation has by far the biggest effect on recharge.</a:t>
            </a:r>
            <a:r>
              <a:rPr lang="en-AU" smtClean="0"/>
              <a:t> In fact, the above graph indicates that under certain circumstances, the water requirement of deep rooted vegetation (trees) will actually be greater than the soil profile can deliver.</a:t>
            </a:r>
            <a:r>
              <a:rPr lang="en-US" smtClean="0"/>
              <a:t> </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a:spLocks noGrp="1" noChangeArrowheads="1"/>
          </p:cNvSpPr>
          <p:nvPr>
            <p:ph type="sldNum" sz="quarter" idx="5"/>
          </p:nvPr>
        </p:nvSpPr>
        <p:spPr>
          <a:noFill/>
          <a:ln>
            <a:miter lim="800000"/>
            <a:headEnd/>
            <a:tailEnd/>
          </a:ln>
        </p:spPr>
        <p:txBody>
          <a:bodyPr/>
          <a:lstStyle/>
          <a:p>
            <a:fld id="{F54BB1D1-3D9C-4E65-B03F-25F7DD603FA8}" type="slidenum">
              <a:rPr lang="en-US" smtClean="0"/>
              <a:pPr/>
              <a:t>21</a:t>
            </a:fld>
            <a:endParaRPr lang="en-US" smtClean="0"/>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p:spPr>
        <p:txBody>
          <a:bodyPr/>
          <a:lstStyle/>
          <a:p>
            <a:pPr eaLnBrk="1" hangingPunct="1"/>
            <a:r>
              <a:rPr lang="en-AU" smtClean="0"/>
              <a:t>What happens in the soil profile?</a:t>
            </a:r>
          </a:p>
          <a:p>
            <a:pPr eaLnBrk="1" hangingPunct="1"/>
            <a:r>
              <a:rPr lang="en-AU" smtClean="0"/>
              <a:t>The soil profile acts as a store of water.  The more water stored in the soil profile, the greater the volume of water that soaks into the ground can pass through it to the watertable.  The capacity for soil to pass water through it, is proportional to the moisture content in the soil.  </a:t>
            </a:r>
          </a:p>
          <a:p>
            <a:pPr eaLnBrk="1" hangingPunct="1"/>
            <a:r>
              <a:rPr lang="en-AU" smtClean="0"/>
              <a:t>Dry soil has very little capacity to pass water through it – not no capacity, but very little capacity.  As moisture is added, it will be “stored” in the soil as increasing soil moisture.  As the soil moisture increases, so too does the capacity for that moisture to move through the soil.  Eventually, if the soil is fully saturated, the maximum capacity for passing water through it is reached.  </a:t>
            </a:r>
          </a:p>
          <a:p>
            <a:pPr eaLnBrk="1" hangingPunct="1"/>
            <a:r>
              <a:rPr lang="en-AU" smtClean="0"/>
              <a:t>The maximum rate of recharge to groundwater occurs when the profile has significant moisture in it.  In this way groundwater is a bit like surface water – that is, the “wetter” the catchment when it rains, the more of that rain is likely to run-off and reach the waterways.  The “wetter” the soil profile, the greater the proportion of rain that soaks in into the ground that is likely to reach the groundwater as recharge.</a:t>
            </a:r>
          </a:p>
          <a:p>
            <a:pPr eaLnBrk="1" hangingPunct="1"/>
            <a:r>
              <a:rPr lang="en-AU" smtClean="0"/>
              <a:t>In this way recharge is not 1:1 proportional with rainfall – it depends on how much rainfall has occurred over what period.  Recharge is likely to be significantly greater in wetter years than in drier years.    </a:t>
            </a:r>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a:spLocks noGrp="1" noChangeArrowheads="1"/>
          </p:cNvSpPr>
          <p:nvPr>
            <p:ph type="sldNum" sz="quarter" idx="5"/>
          </p:nvPr>
        </p:nvSpPr>
        <p:spPr>
          <a:noFill/>
          <a:ln>
            <a:miter lim="800000"/>
            <a:headEnd/>
            <a:tailEnd/>
          </a:ln>
        </p:spPr>
        <p:txBody>
          <a:bodyPr/>
          <a:lstStyle/>
          <a:p>
            <a:fld id="{46DD0BBB-0856-41BE-95E5-5C3A81A97443}" type="slidenum">
              <a:rPr lang="en-US" smtClean="0"/>
              <a:pPr/>
              <a:t>22</a:t>
            </a:fld>
            <a:endParaRPr lang="en-US" smtClean="0"/>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p:spPr>
        <p:txBody>
          <a:bodyPr/>
          <a:lstStyle/>
          <a:p>
            <a:pPr eaLnBrk="1" hangingPunct="1"/>
            <a:r>
              <a:rPr lang="en-AU" smtClean="0"/>
              <a:t>This graph maps a simple rainfall / recharge relationship.  The blue and the red lines are a 1:1 proportional relationship with rainfall – where 10% (blue) and 5% (red) of rainfall goes to recharge.  </a:t>
            </a:r>
          </a:p>
          <a:p>
            <a:pPr eaLnBrk="1" hangingPunct="1"/>
            <a:r>
              <a:rPr lang="en-AU" smtClean="0"/>
              <a:t>The yellow lines assumes NO recharge until the rainfall total (for a given year) reaches the median plus one standard deviation, then 20% of the rainfall becomes recharge.  This tries to simulate the importance of wetter years.</a:t>
            </a:r>
          </a:p>
          <a:p>
            <a:pPr eaLnBrk="1" hangingPunct="1"/>
            <a:r>
              <a:rPr lang="en-AU" smtClean="0"/>
              <a:t>The bar chart shows the difference in the total volume of recharge per hectare per year.  It shows the potential significance of higher rainfall periods on recharge volumes.  </a:t>
            </a:r>
          </a:p>
          <a:p>
            <a:pPr eaLnBrk="1" hangingPunct="1"/>
            <a:r>
              <a:rPr lang="en-AU" smtClean="0"/>
              <a:t>For comparison, an extra BAR CHART column has been added, showing how if instead of using the long term rainfall, only the period 1998 to 2008 (a dry period in south east Australia) was used.  For the same recharge assumption, it shows a significant reduction in the amount of recharge that has occurred.  </a:t>
            </a:r>
          </a:p>
          <a:p>
            <a:pPr eaLnBrk="1" hangingPunct="1"/>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a:spLocks noGrp="1" noChangeArrowheads="1"/>
          </p:cNvSpPr>
          <p:nvPr>
            <p:ph type="sldNum" sz="quarter" idx="5"/>
          </p:nvPr>
        </p:nvSpPr>
        <p:spPr>
          <a:noFill/>
          <a:ln>
            <a:miter lim="800000"/>
            <a:headEnd/>
            <a:tailEnd/>
          </a:ln>
        </p:spPr>
        <p:txBody>
          <a:bodyPr/>
          <a:lstStyle/>
          <a:p>
            <a:fld id="{8718CC4A-EC6C-460A-9FBE-7E8CDAA610F5}" type="slidenum">
              <a:rPr lang="en-US" smtClean="0"/>
              <a:pPr/>
              <a:t>23</a:t>
            </a:fld>
            <a:endParaRPr lang="en-US" smtClean="0"/>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noFill/>
        </p:spPr>
        <p:txBody>
          <a:bodyPr/>
          <a:lstStyle/>
          <a:p>
            <a:pPr eaLnBrk="1" hangingPunct="1"/>
            <a:r>
              <a:rPr lang="en-AU" smtClean="0"/>
              <a:t>Once water has passed through the unsaturated zone and reached the saturated zone, it is termed recharge.  In an unconfined aquifer, as water recharges it causes a change in storage in the aquifer.  The water fills the pore spaces, and more of the aquifer becomes saturated – the tank fills, the water level rises.  In unconfined aquifers, the amount of water entering and leaving the aquifer is measured as a change in the storage volume.  </a:t>
            </a:r>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a:spLocks noGrp="1" noChangeArrowheads="1"/>
          </p:cNvSpPr>
          <p:nvPr>
            <p:ph type="sldNum" sz="quarter" idx="5"/>
          </p:nvPr>
        </p:nvSpPr>
        <p:spPr>
          <a:noFill/>
          <a:ln>
            <a:miter lim="800000"/>
            <a:headEnd/>
            <a:tailEnd/>
          </a:ln>
        </p:spPr>
        <p:txBody>
          <a:bodyPr/>
          <a:lstStyle/>
          <a:p>
            <a:fld id="{187282A1-4D9E-4BFA-9795-0BFFD628E9CD}" type="slidenum">
              <a:rPr lang="en-US" smtClean="0"/>
              <a:pPr/>
              <a:t>24</a:t>
            </a:fld>
            <a:endParaRPr lang="en-US" smtClean="0"/>
          </a:p>
        </p:txBody>
      </p:sp>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a:noFill/>
        </p:spPr>
        <p:txBody>
          <a:bodyPr/>
          <a:lstStyle/>
          <a:p>
            <a:pPr eaLnBrk="1" hangingPunct="1"/>
            <a:r>
              <a:rPr lang="en-AU" smtClean="0"/>
              <a:t>Another activity that affects the total volume in storage is groundwater pumping.  </a:t>
            </a:r>
          </a:p>
          <a:p>
            <a:pPr eaLnBrk="1" hangingPunct="1"/>
            <a:r>
              <a:rPr lang="en-AU" smtClean="0"/>
              <a:t>An individual bore pumping from an aquifer creates a cone of depression in the watertable.  This is the zone, spreading radially out from the point of pumping, where water is removed from storage (in an unconfined aquifer).  The volume of water pumped is equal to the volume of the aquifer (well, of the pore spaces within the aquifer) being “drained”.</a:t>
            </a:r>
          </a:p>
          <a:p>
            <a:pPr eaLnBrk="1" hangingPunct="1"/>
            <a:r>
              <a:rPr lang="en-AU" smtClean="0"/>
              <a:t>In a confined aquifer, pumping creates a similar “cone of depression”, only in this case the cone represents the area over which the pressure in the aquifer is reduced.  By reducing pressure, the water in the aquifer (which is compressed) expands.  The volume pumped is the volume of water released by this “expansion” of the water.</a:t>
            </a:r>
          </a:p>
          <a:p>
            <a:pPr eaLnBrk="1" hangingPunct="1"/>
            <a:r>
              <a:rPr lang="en-AU" smtClean="0"/>
              <a:t>When more than one well is “pumped”, each well generates a “cone of depression”.  Where these cones intersect, the total drawdown, or lowering of the watertable (in an unconfined aquifer) is the sum of the drawdown from each individual pump.  </a:t>
            </a:r>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a:spLocks noGrp="1" noChangeArrowheads="1"/>
          </p:cNvSpPr>
          <p:nvPr>
            <p:ph type="sldNum" sz="quarter" idx="5"/>
          </p:nvPr>
        </p:nvSpPr>
        <p:spPr>
          <a:noFill/>
          <a:ln>
            <a:miter lim="800000"/>
            <a:headEnd/>
            <a:tailEnd/>
          </a:ln>
        </p:spPr>
        <p:txBody>
          <a:bodyPr/>
          <a:lstStyle/>
          <a:p>
            <a:fld id="{F4F90800-3CEF-43EA-9DA7-6CF946BFFDB8}" type="slidenum">
              <a:rPr lang="en-US" smtClean="0"/>
              <a:pPr/>
              <a:t>25</a:t>
            </a:fld>
            <a:endParaRPr lang="en-US" smtClean="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a:noFill/>
        </p:spPr>
        <p:txBody>
          <a:bodyPr/>
          <a:lstStyle/>
          <a:p>
            <a:pPr eaLnBrk="1" hangingPunct="1"/>
            <a:r>
              <a:rPr lang="en-AU" smtClean="0"/>
              <a:t>We have previously talked about how vegetation uses water in the soil profile.  Groundwater itself can become an important part of the total water demand for an ecosystem where the watertable is close to the surface, or where the groundwater moves from the aquifer back into waterways of the surface (discharge).  </a:t>
            </a:r>
          </a:p>
          <a:p>
            <a:pPr eaLnBrk="1" hangingPunct="1"/>
            <a:r>
              <a:rPr lang="en-AU" smtClean="0"/>
              <a:t>Where groundwater provides a significant amount of water, ecosystems can be described as dependent on groundwater for their overall health.  These are termed Groundwater Dependent Ecosystems.</a:t>
            </a:r>
          </a:p>
          <a:p>
            <a:pPr eaLnBrk="1" hangingPunct="1"/>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a:spLocks noGrp="1" noChangeArrowheads="1"/>
          </p:cNvSpPr>
          <p:nvPr>
            <p:ph type="sldNum" sz="quarter" idx="5"/>
          </p:nvPr>
        </p:nvSpPr>
        <p:spPr>
          <a:noFill/>
          <a:ln>
            <a:miter lim="800000"/>
            <a:headEnd/>
            <a:tailEnd/>
          </a:ln>
        </p:spPr>
        <p:txBody>
          <a:bodyPr/>
          <a:lstStyle/>
          <a:p>
            <a:fld id="{E84F5464-D9BC-4108-AE2F-7656136FB837}" type="slidenum">
              <a:rPr lang="en-US" smtClean="0"/>
              <a:pPr/>
              <a:t>26</a:t>
            </a:fld>
            <a:endParaRPr lang="en-US" smtClean="0"/>
          </a:p>
        </p:txBody>
      </p:sp>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a:noFill/>
        </p:spPr>
        <p:txBody>
          <a:bodyPr/>
          <a:lstStyle/>
          <a:p>
            <a:pPr marL="180975" indent="-180975" eaLnBrk="1" hangingPunct="1">
              <a:lnSpc>
                <a:spcPct val="90000"/>
              </a:lnSpc>
            </a:pPr>
            <a:r>
              <a:rPr lang="en-AU" sz="1000" smtClean="0"/>
              <a:t>There are three types of groundwater dependent ecosystems (GDEs):</a:t>
            </a:r>
          </a:p>
          <a:p>
            <a:pPr marL="180975" indent="-180975" eaLnBrk="1" hangingPunct="1">
              <a:lnSpc>
                <a:spcPct val="90000"/>
              </a:lnSpc>
              <a:buFontTx/>
              <a:buChar char="•"/>
            </a:pPr>
            <a:r>
              <a:rPr lang="en-US" sz="1000" smtClean="0"/>
              <a:t>ecosystems within aquifers, for example in caves and in the cracks and pores in aquifers themselves</a:t>
            </a:r>
          </a:p>
          <a:p>
            <a:pPr marL="180975" indent="-180975" eaLnBrk="1" hangingPunct="1">
              <a:lnSpc>
                <a:spcPct val="90000"/>
              </a:lnSpc>
              <a:buFontTx/>
              <a:buChar char="•"/>
            </a:pPr>
            <a:r>
              <a:rPr lang="en-US" sz="1000" smtClean="0"/>
              <a:t>surface ecosystems that depend on groundwater flowing (discharging) to the surface, for example river base flows and some wetlands and estuaries</a:t>
            </a:r>
            <a:endParaRPr lang="en-AU" sz="1000" smtClean="0"/>
          </a:p>
          <a:p>
            <a:pPr marL="180975" indent="-180975" eaLnBrk="1" hangingPunct="1">
              <a:lnSpc>
                <a:spcPct val="90000"/>
              </a:lnSpc>
              <a:buFontTx/>
              <a:buChar char="•"/>
            </a:pPr>
            <a:r>
              <a:rPr lang="en-US" sz="1000" smtClean="0"/>
              <a:t>ecosystems that tap into groundwater, for example terrestrial vegetation using groundwater directly from shallow aquifers.</a:t>
            </a:r>
          </a:p>
          <a:p>
            <a:pPr marL="180975" indent="-180975" eaLnBrk="1" hangingPunct="1">
              <a:lnSpc>
                <a:spcPct val="90000"/>
              </a:lnSpc>
            </a:pPr>
            <a:r>
              <a:rPr lang="en-US" sz="1000" smtClean="0"/>
              <a:t>Different GDEs can have different levels of dependence on groundwater:</a:t>
            </a:r>
          </a:p>
          <a:p>
            <a:pPr marL="180975" indent="-180975" eaLnBrk="1" hangingPunct="1">
              <a:lnSpc>
                <a:spcPct val="90000"/>
              </a:lnSpc>
              <a:buFontTx/>
              <a:buChar char="•"/>
            </a:pPr>
            <a:r>
              <a:rPr lang="en-US" sz="1000" smtClean="0"/>
              <a:t>An ecosystem is entirely dependent if it would be lost with only a slight change in key groundwater characteristics. Such ecosystems include the saline discharge lakes of the western Murray Basin.</a:t>
            </a:r>
          </a:p>
          <a:p>
            <a:pPr marL="180975" indent="-180975" eaLnBrk="1" hangingPunct="1">
              <a:lnSpc>
                <a:spcPct val="90000"/>
              </a:lnSpc>
              <a:buFontTx/>
              <a:buChar char="•"/>
            </a:pPr>
            <a:r>
              <a:rPr lang="en-US" sz="1000" smtClean="0"/>
              <a:t>Some ecosystems may be highly dependent on groundwater, and even moderate changes in groundwater discharge would cause substantial change to the ecosystem.</a:t>
            </a:r>
          </a:p>
          <a:p>
            <a:pPr marL="180975" indent="-180975" eaLnBrk="1" hangingPunct="1">
              <a:lnSpc>
                <a:spcPct val="90000"/>
              </a:lnSpc>
              <a:buFontTx/>
              <a:buChar char="•"/>
            </a:pPr>
            <a:r>
              <a:rPr lang="en-US" sz="1000" smtClean="0"/>
              <a:t>Some wetlands use groundwater and surface and/or soil water. They would be substantially changed if they stopped receiving groundwater or if groundwater inflows were reduced moderately at certain times.</a:t>
            </a:r>
          </a:p>
          <a:p>
            <a:pPr marL="180975" indent="-180975" eaLnBrk="1" hangingPunct="1">
              <a:lnSpc>
                <a:spcPct val="90000"/>
              </a:lnSpc>
              <a:buFontTx/>
              <a:buChar char="•"/>
            </a:pPr>
            <a:r>
              <a:rPr lang="en-US" sz="1000" smtClean="0"/>
              <a:t>Some ecosystems have limited or opportunistic use of groundwater, for example at the end of a dry season or during extreme drought. These include coastal floodplain swamp forests, Banksia woodlands and lignum shrublands along inland river systems. This water source may be critical to the survival of some ecosystems. For example, river base flows may maintain drought refuges during low flow periods.</a:t>
            </a:r>
          </a:p>
          <a:p>
            <a:pPr marL="180975" indent="-180975" eaLnBrk="1" hangingPunct="1">
              <a:lnSpc>
                <a:spcPct val="90000"/>
              </a:lnSpc>
              <a:buFontTx/>
              <a:buChar char="•"/>
            </a:pPr>
            <a:r>
              <a:rPr lang="en-US" sz="1000" smtClean="0"/>
              <a:t>Some ecosystems may appear to be groundwater dependent, but are entirely supported by rain or surface flows. Examples include the large seasonal floodplain lakes and instream ecosystems of the Murray and Darling Rivers.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a:spLocks noGrp="1" noChangeArrowheads="1"/>
          </p:cNvSpPr>
          <p:nvPr>
            <p:ph type="sldNum" sz="quarter" idx="5"/>
          </p:nvPr>
        </p:nvSpPr>
        <p:spPr>
          <a:noFill/>
          <a:ln>
            <a:miter lim="800000"/>
            <a:headEnd/>
            <a:tailEnd/>
          </a:ln>
        </p:spPr>
        <p:txBody>
          <a:bodyPr/>
          <a:lstStyle/>
          <a:p>
            <a:fld id="{B5588E3F-7E86-471C-B785-C8785E9BA4F3}" type="slidenum">
              <a:rPr lang="en-US" smtClean="0"/>
              <a:pPr/>
              <a:t>27</a:t>
            </a:fld>
            <a:endParaRPr lang="en-US" smtClean="0"/>
          </a:p>
        </p:txBody>
      </p:sp>
      <p:sp>
        <p:nvSpPr>
          <p:cNvPr id="69634"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a:noFill/>
        </p:spPr>
        <p:txBody>
          <a:bodyPr/>
          <a:lstStyle/>
          <a:p>
            <a:pPr eaLnBrk="1" hangingPunct="1">
              <a:lnSpc>
                <a:spcPct val="90000"/>
              </a:lnSpc>
            </a:pPr>
            <a:r>
              <a:rPr lang="en-AU" smtClean="0"/>
              <a:t>Groundwater and surface water are commonly connected.  Waterways can represent significant sources of recharge to aquifers.  Likewise, groundwater can contribute significantly to flows within waterways, particularly in dry periods when there is no run-off.  This is often referred to as a waterway’s “baseflow”.  </a:t>
            </a:r>
          </a:p>
          <a:p>
            <a:pPr eaLnBrk="1" hangingPunct="1">
              <a:lnSpc>
                <a:spcPct val="90000"/>
              </a:lnSpc>
            </a:pPr>
            <a:r>
              <a:rPr lang="en-AU" smtClean="0"/>
              <a:t>In general, waterways and groundwater are described in one of three ways.</a:t>
            </a:r>
          </a:p>
          <a:p>
            <a:pPr eaLnBrk="1" hangingPunct="1">
              <a:lnSpc>
                <a:spcPct val="90000"/>
              </a:lnSpc>
            </a:pPr>
            <a:r>
              <a:rPr lang="en-AU" smtClean="0"/>
              <a:t>Connected gaining – this is where the groundwater level is connected to the waterway, and is higher than the waterlevel in the waterway.  Thinking back to our previous slides on how groundwater moves, when the groundwater level is higher than the waterway level, groundwater moves into the waterway.  The waterway is described as “gaining” – as in, it is gaining groundwater to become surface water flow.</a:t>
            </a:r>
          </a:p>
          <a:p>
            <a:pPr eaLnBrk="1" hangingPunct="1">
              <a:lnSpc>
                <a:spcPct val="90000"/>
              </a:lnSpc>
            </a:pPr>
            <a:r>
              <a:rPr lang="en-AU" smtClean="0"/>
              <a:t>Connected losing – This is where the groundwater and waterway are connected, that is there is a saturated zone beneath the waterway that connects with the watertable.  But in this case, the waterway level is higher than groundwater level, and water recharges the groundwater.  This is a “losing” system – that is the waterway is losing water to the groundwater.</a:t>
            </a:r>
          </a:p>
          <a:p>
            <a:pPr eaLnBrk="1" hangingPunct="1">
              <a:lnSpc>
                <a:spcPct val="90000"/>
              </a:lnSpc>
            </a:pPr>
            <a:r>
              <a:rPr lang="en-AU" smtClean="0"/>
              <a:t>Disconnected – This is where there is an unsaturated zone between the waterway and the groundwater.  Some leakage can still occur from the waterway, but the rate of loss, and whether it reaches the groundwater, is dependent on the unsaturated zone flow processes.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a:spLocks noGrp="1" noChangeArrowheads="1"/>
          </p:cNvSpPr>
          <p:nvPr>
            <p:ph type="sldNum" sz="quarter" idx="5"/>
          </p:nvPr>
        </p:nvSpPr>
        <p:spPr>
          <a:noFill/>
          <a:ln>
            <a:miter lim="800000"/>
            <a:headEnd/>
            <a:tailEnd/>
          </a:ln>
        </p:spPr>
        <p:txBody>
          <a:bodyPr/>
          <a:lstStyle/>
          <a:p>
            <a:fld id="{FF582015-91FB-4E13-833D-336C050CA8DD}" type="slidenum">
              <a:rPr lang="en-US" smtClean="0"/>
              <a:pPr/>
              <a:t>28</a:t>
            </a:fld>
            <a:endParaRPr lang="en-US" smtClean="0"/>
          </a:p>
        </p:txBody>
      </p:sp>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p:spPr>
        <p:txBody>
          <a:bodyPr/>
          <a:lstStyle/>
          <a:p>
            <a:pPr eaLnBrk="1" hangingPunct="1"/>
            <a:r>
              <a:rPr lang="en-AU" smtClean="0"/>
              <a:t>When thinking about the water cycle, groundwater and surface water are ultimately connected.  It all ends up back in the ocean and available for evaporation. A critical thing for groundwater managers is understanding how connected groundwater and surface water are, and how management of one affects the other.  A key element is understanding the “time lag” between how an action in one affects the other.  Where this time frame is within management timeframes, then integrated management is required.</a:t>
            </a:r>
            <a:endParaRPr lang="en-US" smtClean="0"/>
          </a:p>
          <a:p>
            <a:pPr eaLnBrk="1" hangingPunct="1"/>
            <a:r>
              <a:rPr lang="en-AU" smtClean="0"/>
              <a:t>The diagrams above show how pumping groundwater can interact with a waterway.  In this case, a waterway that is receiving groundwater (connected gaining) is affected by pumping.  Initially, pumping intercepts groundwater that was flowing to the waterway, reducing the discharge to the waterway.  As pumping continues, water is actually drawn from the waterway to the bore, and it becomes a connected losing waterway.   </a:t>
            </a:r>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a:spLocks noGrp="1" noChangeArrowheads="1"/>
          </p:cNvSpPr>
          <p:nvPr>
            <p:ph type="sldNum" sz="quarter" idx="5"/>
          </p:nvPr>
        </p:nvSpPr>
        <p:spPr>
          <a:noFill/>
          <a:ln>
            <a:miter lim="800000"/>
            <a:headEnd/>
            <a:tailEnd/>
          </a:ln>
        </p:spPr>
        <p:txBody>
          <a:bodyPr/>
          <a:lstStyle/>
          <a:p>
            <a:fld id="{D5DAB895-FA29-4042-BC91-ABA4CED0E4A0}" type="slidenum">
              <a:rPr lang="en-US" smtClean="0"/>
              <a:pPr/>
              <a:t>29</a:t>
            </a:fld>
            <a:endParaRPr lang="en-US" smtClean="0"/>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a:noFill/>
        </p:spPr>
        <p:txBody>
          <a:bodyPr/>
          <a:lstStyle/>
          <a:p>
            <a:pPr eaLnBrk="1" hangingPunct="1"/>
            <a:r>
              <a:rPr lang="en-AU" smtClean="0"/>
              <a:t>Extensive work has been undertaken within the Murray Darling Basin looking at the degree of connectedness between waterways and groundwater.  Such work notes that the degree and nature of connectedness varies with the seasons and with climate cycles.  </a:t>
            </a:r>
            <a:endParaRPr 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p:cNvSpPr>
            <a:spLocks noGrp="1" noChangeArrowheads="1"/>
          </p:cNvSpPr>
          <p:nvPr>
            <p:ph type="sldNum" sz="quarter" idx="5"/>
          </p:nvPr>
        </p:nvSpPr>
        <p:spPr>
          <a:noFill/>
          <a:ln>
            <a:miter lim="800000"/>
            <a:headEnd/>
            <a:tailEnd/>
          </a:ln>
        </p:spPr>
        <p:txBody>
          <a:bodyPr/>
          <a:lstStyle/>
          <a:p>
            <a:fld id="{9BC4A826-7270-4062-9CDE-EB187FA31D5D}" type="slidenum">
              <a:rPr lang="en-US" smtClean="0"/>
              <a:pPr/>
              <a:t>30</a:t>
            </a:fld>
            <a:endParaRPr lang="en-US" smtClean="0"/>
          </a:p>
        </p:txBody>
      </p:sp>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a:noFill/>
        </p:spPr>
        <p:txBody>
          <a:bodyPr/>
          <a:lstStyle/>
          <a:p>
            <a:pPr eaLnBrk="1" hangingPunct="1"/>
            <a:r>
              <a:rPr lang="en-AU" smtClean="0"/>
              <a:t>Connectedness also varies with position in the landscape.</a:t>
            </a:r>
          </a:p>
          <a:p>
            <a:pPr eaLnBrk="1" hangingPunct="1"/>
            <a:r>
              <a:rPr lang="en-AU" smtClean="0"/>
              <a:t>In upland areas, particularly where waterways are within steep valleys, groundwater more consistently discharges to waterways (connected gaining).</a:t>
            </a:r>
          </a:p>
          <a:p>
            <a:pPr eaLnBrk="1" hangingPunct="1"/>
            <a:r>
              <a:rPr lang="en-AU" smtClean="0"/>
              <a:t>As the valleys become less steep, they are often filled with river gravels, sands and flood plain clays.  These form alluvial aquifers.  Water in the rivers and during flooding recharges the watertable, and as river levels decrease, groundwater flows into the waterway as baseflow.</a:t>
            </a:r>
          </a:p>
          <a:p>
            <a:pPr eaLnBrk="1" hangingPunct="1"/>
            <a:r>
              <a:rPr lang="en-AU" smtClean="0"/>
              <a:t>As you move down further onto the plains, the connection between the waterway and groundwater becomes more variable.  In general, water is more likely to move from the waterway into the groundwater. </a:t>
            </a:r>
          </a:p>
          <a:p>
            <a:pPr eaLnBrk="1" hangingPunct="1"/>
            <a:r>
              <a:rPr lang="en-AU" smtClean="0"/>
              <a:t>In all cases in a groundwater basin, the groundwater will discharge from the aquifer at some point and rejoin surface water, or be evaporated to the atmosphere.  In large basins like the Murray Basin, the water seeps upward through the other layers and into the Murray River.  In many of our coastal aquifers, the water discharges back directly to the ocean.     </a:t>
            </a:r>
            <a:endParaRPr 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a:spLocks noGrp="1" noChangeArrowheads="1"/>
          </p:cNvSpPr>
          <p:nvPr>
            <p:ph type="sldNum" sz="quarter" idx="5"/>
          </p:nvPr>
        </p:nvSpPr>
        <p:spPr>
          <a:noFill/>
          <a:ln>
            <a:miter lim="800000"/>
            <a:headEnd/>
            <a:tailEnd/>
          </a:ln>
        </p:spPr>
        <p:txBody>
          <a:bodyPr/>
          <a:lstStyle/>
          <a:p>
            <a:fld id="{BFA11A13-7B64-4D9F-B006-A46BD75C5A19}" type="slidenum">
              <a:rPr lang="en-US" smtClean="0"/>
              <a:pPr/>
              <a:t>31</a:t>
            </a:fld>
            <a:endParaRPr lang="en-US" smtClean="0"/>
          </a:p>
        </p:txBody>
      </p:sp>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a:noFill/>
        </p:spPr>
        <p:txBody>
          <a:bodyPr/>
          <a:lstStyle/>
          <a:p>
            <a:pPr eaLnBrk="1" hangingPunct="1"/>
            <a:r>
              <a:rPr lang="en-AU" sz="1000" smtClean="0"/>
              <a:t>Groundwater management is about changing elements of the water cycle as they relate to groundwater.  In any management problem, we try to change those things we can affect, often to manage a flow-on effect.  In complex natural systems, this is an imprecise science.  </a:t>
            </a:r>
          </a:p>
          <a:p>
            <a:pPr eaLnBrk="1" hangingPunct="1"/>
            <a:r>
              <a:rPr lang="en-AU" sz="1000" smtClean="0"/>
              <a:t>Despite the best efforts of cloud seeding and the global impacts of CO2 emissions, for this exercise there is an assumption that we can not deliberately increase or decrease rainfall over a particular area.</a:t>
            </a:r>
          </a:p>
          <a:p>
            <a:pPr eaLnBrk="1" hangingPunct="1"/>
            <a:r>
              <a:rPr lang="en-AU" sz="1000" smtClean="0"/>
              <a:t>Land forming and land use can change how much water enters the soil.  In management, quite often a problem is generated by a change in land use, and then more land management is required to try and address it!  Examples are the change from native vegetation to agriculture (salinity, nutrient contamination) and increasing urbanisation (reduced recharge, contamination).</a:t>
            </a:r>
          </a:p>
          <a:p>
            <a:pPr eaLnBrk="1" hangingPunct="1"/>
            <a:r>
              <a:rPr lang="en-AU" sz="1000" smtClean="0"/>
              <a:t>Although there are methods to treat soils to change their moisture holding capacity (primarily to improve agricultural production), the main effect we can have on soil moisture content is changing how much water enters the soil (see above).  So our capacity to affect soil moisture is more indirect.  It follows then that our capacity to affect recharge is also an indirect consequence of how much water we allow to enter the soil profile.</a:t>
            </a:r>
          </a:p>
          <a:p>
            <a:pPr eaLnBrk="1" hangingPunct="1"/>
            <a:r>
              <a:rPr lang="en-AU" sz="1000" smtClean="0"/>
              <a:t>Changes in recharge change the level of groundwater, the gradient driving groundwater flow and ultimately the amount of water that discharges from the groundwater system in a particular way.  This may affect flows in waterways or other groundwater dependent ecosystems.</a:t>
            </a:r>
          </a:p>
          <a:p>
            <a:pPr eaLnBrk="1" hangingPunct="1"/>
            <a:r>
              <a:rPr lang="en-US" sz="1000" smtClean="0"/>
              <a:t>Management of groundwater predominantly involves how we interact with these principal parts of the water cycle.  Regardless of the problem under management, it is generally about how to best manage these elements to achieve the required outcome.  However, as with all complex systems, changing one thing produces more than one response.  </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a:spLocks noGrp="1" noChangeArrowheads="1"/>
          </p:cNvSpPr>
          <p:nvPr>
            <p:ph type="sldNum" sz="quarter" idx="5"/>
          </p:nvPr>
        </p:nvSpPr>
        <p:spPr>
          <a:noFill/>
          <a:ln>
            <a:miter lim="800000"/>
            <a:headEnd/>
            <a:tailEnd/>
          </a:ln>
        </p:spPr>
        <p:txBody>
          <a:bodyPr/>
          <a:lstStyle/>
          <a:p>
            <a:fld id="{29FCEE9D-DCFA-46D9-997F-E090DE877D79}" type="slidenum">
              <a:rPr lang="en-US" smtClean="0"/>
              <a:pPr/>
              <a:t>32</a:t>
            </a:fld>
            <a:endParaRPr lang="en-US" smtClean="0"/>
          </a:p>
        </p:txBody>
      </p:sp>
      <p:sp>
        <p:nvSpPr>
          <p:cNvPr id="79874" name="Rectangle 2"/>
          <p:cNvSpPr>
            <a:spLocks noGrp="1" noRot="1" noChangeAspect="1" noChangeArrowheads="1" noTextEdit="1"/>
          </p:cNvSpPr>
          <p:nvPr>
            <p:ph type="sldImg"/>
          </p:nvPr>
        </p:nvSpPr>
        <p:spPr>
          <a:xfrm>
            <a:off x="1150938" y="889000"/>
            <a:ext cx="4794250" cy="3595688"/>
          </a:xfrm>
          <a:ln/>
        </p:spPr>
      </p:sp>
      <p:sp>
        <p:nvSpPr>
          <p:cNvPr id="79875" name="Rectangle 3"/>
          <p:cNvSpPr>
            <a:spLocks noGrp="1" noChangeArrowheads="1"/>
          </p:cNvSpPr>
          <p:nvPr>
            <p:ph type="body" idx="1"/>
          </p:nvPr>
        </p:nvSpPr>
        <p:spPr>
          <a:xfrm>
            <a:off x="949325" y="4867275"/>
            <a:ext cx="5200650" cy="4316413"/>
          </a:xfrm>
          <a:noFill/>
        </p:spPr>
        <p:txBody>
          <a:bodyPr/>
          <a:lstStyle/>
          <a:p>
            <a:pPr eaLnBrk="1" hangingPunct="1"/>
            <a:r>
              <a:rPr lang="en-US" smtClean="0"/>
              <a:t>Using groundwater for agriculture, water supplies or for industrial uses really should be thought of as “sharing” the resource with the other users.  Taking groundwater for one use means that another use will be impacted.  Managing groundwater sustainably means equitably sharing its use between all users.  This always requires compromises and trade-offs.  Judgment on what is acceptable can be a complex process.  It involves decisions that some people agree with, and others do not.  Where possible, the best compromise between uses should be developed considering all users. </a:t>
            </a:r>
          </a:p>
          <a:p>
            <a:pPr eaLnBrk="1" hangingPunct="1"/>
            <a:endParaRPr lang="en-US" smtClean="0"/>
          </a:p>
          <a:p>
            <a:pPr eaLnBrk="1" hangingPunct="1"/>
            <a:endParaRPr 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p:cNvSpPr>
            <a:spLocks noGrp="1" noChangeArrowheads="1"/>
          </p:cNvSpPr>
          <p:nvPr>
            <p:ph type="sldNum" sz="quarter" idx="5"/>
          </p:nvPr>
        </p:nvSpPr>
        <p:spPr>
          <a:noFill/>
          <a:ln>
            <a:miter lim="800000"/>
            <a:headEnd/>
            <a:tailEnd/>
          </a:ln>
        </p:spPr>
        <p:txBody>
          <a:bodyPr/>
          <a:lstStyle/>
          <a:p>
            <a:fld id="{BE08E6D3-4ABD-4602-9366-8325225C0990}" type="slidenum">
              <a:rPr lang="en-US" smtClean="0"/>
              <a:pPr/>
              <a:t>33</a:t>
            </a:fld>
            <a:endParaRPr lang="en-US" smtClean="0"/>
          </a:p>
        </p:txBody>
      </p:sp>
      <p:sp>
        <p:nvSpPr>
          <p:cNvPr id="81922" name="Rectangle 2"/>
          <p:cNvSpPr>
            <a:spLocks noGrp="1" noRot="1" noChangeAspect="1" noChangeArrowheads="1" noTextEdit="1"/>
          </p:cNvSpPr>
          <p:nvPr>
            <p:ph type="sldImg"/>
          </p:nvPr>
        </p:nvSpPr>
        <p:spPr>
          <a:xfrm>
            <a:off x="1150938" y="889000"/>
            <a:ext cx="4794250" cy="3595688"/>
          </a:xfrm>
          <a:ln/>
        </p:spPr>
      </p:sp>
      <p:sp>
        <p:nvSpPr>
          <p:cNvPr id="81923" name="Rectangle 3"/>
          <p:cNvSpPr>
            <a:spLocks noGrp="1" noChangeArrowheads="1"/>
          </p:cNvSpPr>
          <p:nvPr>
            <p:ph type="body" idx="1"/>
          </p:nvPr>
        </p:nvSpPr>
        <p:spPr>
          <a:xfrm>
            <a:off x="427038" y="4867275"/>
            <a:ext cx="6169025" cy="5110163"/>
          </a:xfrm>
          <a:noFill/>
        </p:spPr>
        <p:txBody>
          <a:bodyPr/>
          <a:lstStyle/>
          <a:p>
            <a:pPr eaLnBrk="1" hangingPunct="1"/>
            <a:r>
              <a:rPr lang="en-US" smtClean="0"/>
              <a:t>Sustainability should be seen as something to </a:t>
            </a:r>
            <a:r>
              <a:rPr lang="en-US" b="1" smtClean="0"/>
              <a:t>continuously strive for</a:t>
            </a:r>
            <a:r>
              <a:rPr lang="en-US" smtClean="0"/>
              <a:t> - the Holy Grail or Groundwater Utopia.</a:t>
            </a:r>
          </a:p>
          <a:p>
            <a:pPr eaLnBrk="1" hangingPunct="1"/>
            <a:r>
              <a:rPr lang="en-AU" smtClean="0"/>
              <a:t>The definition of ‘unacceptable consequences/impacts’ is largely subjective and may involve many criteria. Also, groundwater sustainability must be defined in the context of the complete hydrologic system.  </a:t>
            </a:r>
            <a:r>
              <a:rPr lang="en-AU" u="sng" smtClean="0"/>
              <a:t>For example</a:t>
            </a:r>
            <a:r>
              <a:rPr lang="en-AU" smtClean="0"/>
              <a:t>, an acceptable rate of drawdown with respect to water levels, may reduce stream flow to an unacceptable level.  But unacceptable for whom – the ecosystems that depend on the groundwater baseflow, or the irrigator or town who draws a supply from it.   </a:t>
            </a:r>
          </a:p>
          <a:p>
            <a:pPr eaLnBrk="1" hangingPunct="1"/>
            <a:r>
              <a:rPr lang="en-AU" smtClean="0"/>
              <a:t>In some cases, where there is little other water available, there is the potential to deliberately deplete a storage.  An example is the highly saline confined aquifers in the Goldfields of Western Australia.  They are pumped knowing that they will not refill.</a:t>
            </a:r>
          </a:p>
          <a:p>
            <a:pPr eaLnBrk="1" hangingPunct="1"/>
            <a:r>
              <a:rPr lang="en-AU" smtClean="0"/>
              <a:t>Communities have a vested interest in decisions made about managing groundwater. Governments should not take the full risk of management.</a:t>
            </a:r>
          </a:p>
          <a:p>
            <a:pPr eaLnBrk="1" hangingPunct="1"/>
            <a:endParaRPr lang="en-AU" smtClean="0"/>
          </a:p>
          <a:p>
            <a:pPr eaLnBrk="1" hangingPunct="1"/>
            <a:r>
              <a:rPr lang="en-US" smtClean="0">
                <a:solidFill>
                  <a:schemeClr val="hlink"/>
                </a:solidFill>
              </a:rPr>
              <a:t>Q When will we know when we’ve achieved it?</a:t>
            </a:r>
          </a:p>
          <a:p>
            <a:pPr eaLnBrk="1" hangingPunct="1"/>
            <a:r>
              <a:rPr lang="en-US" smtClean="0">
                <a:solidFill>
                  <a:schemeClr val="hlink"/>
                </a:solidFill>
              </a:rPr>
              <a:t>Q Is it achievable in a dynamic world of population changes, climatic changes, economic and social pressures?</a:t>
            </a:r>
          </a:p>
          <a:p>
            <a:pPr eaLnBrk="1" hangingPunct="1"/>
            <a:endParaRPr lang="en-US" smtClean="0">
              <a:solidFill>
                <a:schemeClr val="hlink"/>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p:cNvSpPr>
            <a:spLocks noGrp="1" noChangeArrowheads="1"/>
          </p:cNvSpPr>
          <p:nvPr>
            <p:ph type="sldNum" sz="quarter" idx="5"/>
          </p:nvPr>
        </p:nvSpPr>
        <p:spPr>
          <a:noFill/>
          <a:ln>
            <a:miter lim="800000"/>
            <a:headEnd/>
            <a:tailEnd/>
          </a:ln>
        </p:spPr>
        <p:txBody>
          <a:bodyPr/>
          <a:lstStyle/>
          <a:p>
            <a:fld id="{922463E4-BEED-499C-8403-2DA2AEB5A44F}" type="slidenum">
              <a:rPr lang="en-US" smtClean="0"/>
              <a:pPr/>
              <a:t>34</a:t>
            </a:fld>
            <a:endParaRPr lang="en-US" smtClean="0"/>
          </a:p>
        </p:txBody>
      </p:sp>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a:noFill/>
        </p:spPr>
        <p:txBody>
          <a:bodyPr/>
          <a:lstStyle/>
          <a:p>
            <a:pPr eaLnBrk="1" hangingPunct="1"/>
            <a:r>
              <a:rPr lang="en-US" smtClean="0"/>
              <a:t>In this example, we are looking at a confined aquifer, although the basic principles apply to an unconfined aquifer as well.  To understand the consequences of pumping groundwater, we need to know the basic elements of the system.  There needs to be an understanding of the amount of water entering the system (recharge), and where this recharge is coming from – through the soil profile, or from waterways.  There is a need to understand how water moves through the system (throughflow), and how it interacts with waterways or other ecosystems along its length (discharge).  There is also a need to understand how pumping groundwater affects discharge to waterways, other ecosystems, leakage from layers above and below the aquifer, recharge to the aquifer and impacts on other users.  This requires an understanding of how water moves through the aquifer (hydraulic properties) and how it moves through overlying and underlying layers.  </a:t>
            </a:r>
          </a:p>
          <a:p>
            <a:pPr eaLnBrk="1" hangingPunct="1"/>
            <a:r>
              <a:rPr lang="en-US" smtClean="0"/>
              <a:t>Where decisions on the resource share are made based on a certain amount of recharge, then consideration of changes in the recharge rate must be considered.  For example changes in rainfall (climate variability and change), land-use (to deep rooted vegetation or perhaps urban development) can affect the amount of recharge.  This can ultimately affect the volume of water available.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p:cNvSpPr>
            <a:spLocks noGrp="1" noChangeArrowheads="1"/>
          </p:cNvSpPr>
          <p:nvPr>
            <p:ph type="sldNum" sz="quarter" idx="5"/>
          </p:nvPr>
        </p:nvSpPr>
        <p:spPr>
          <a:noFill/>
          <a:ln>
            <a:miter lim="800000"/>
            <a:headEnd/>
            <a:tailEnd/>
          </a:ln>
        </p:spPr>
        <p:txBody>
          <a:bodyPr/>
          <a:lstStyle/>
          <a:p>
            <a:fld id="{AE7D5526-0B24-4FF0-83DC-2C5E72698900}" type="slidenum">
              <a:rPr lang="en-US" smtClean="0"/>
              <a:pPr/>
              <a:t>35</a:t>
            </a:fld>
            <a:endParaRPr lang="en-US" smtClean="0"/>
          </a:p>
        </p:txBody>
      </p:sp>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a:noFill/>
        </p:spPr>
        <p:txBody>
          <a:bodyPr/>
          <a:lstStyle/>
          <a:p>
            <a:pPr eaLnBrk="1" hangingPunct="1"/>
            <a:r>
              <a:rPr lang="en-US" smtClean="0"/>
              <a:t>Where waterway flows and other ecosystems have very high values, then consideration as to how much taking water will impact on these water needs may be a critical determining feature in how much water can be taken for other uses.  Maintaining specific volumes of water to these systems at different times of the year may be critical.</a:t>
            </a:r>
          </a:p>
          <a:p>
            <a:pPr eaLnBrk="1" hangingPunct="1"/>
            <a:endParaRPr 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p:cNvSpPr>
            <a:spLocks noGrp="1" noChangeArrowheads="1"/>
          </p:cNvSpPr>
          <p:nvPr>
            <p:ph type="sldNum" sz="quarter" idx="5"/>
          </p:nvPr>
        </p:nvSpPr>
        <p:spPr>
          <a:noFill/>
          <a:ln>
            <a:miter lim="800000"/>
            <a:headEnd/>
            <a:tailEnd/>
          </a:ln>
        </p:spPr>
        <p:txBody>
          <a:bodyPr/>
          <a:lstStyle/>
          <a:p>
            <a:fld id="{D34B23D0-23F0-43FB-A796-84411BC1031B}" type="slidenum">
              <a:rPr lang="en-US" smtClean="0"/>
              <a:pPr/>
              <a:t>36</a:t>
            </a:fld>
            <a:endParaRPr lang="en-US" smtClean="0"/>
          </a:p>
        </p:txBody>
      </p:sp>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p:spPr>
        <p:txBody>
          <a:bodyPr/>
          <a:lstStyle/>
          <a:p>
            <a:pPr eaLnBrk="1" hangingPunct="1"/>
            <a:r>
              <a:rPr lang="en-US" smtClean="0"/>
              <a:t>In this particular example, it is the flow of groundwater to a wetland or waterway that drives management decisions.  So in this problem, the critical issue is maintaining flow TO an environmental value.  All of the same elements of the system need to be considered, only this time, the emphasis is not on how much groundwater can be taken from the system, but ensuring that the wetland / waterway is continuously supplied with groundwater in volumes that retain its ecological function.  </a:t>
            </a:r>
          </a:p>
          <a:p>
            <a:pPr eaLnBrk="1" hangingPunct="1"/>
            <a:r>
              <a:rPr lang="en-US" smtClean="0"/>
              <a:t>Here we want to ensure that groundwater pumping can not occur to affect the volume of water flowing to the wetland.  Restriction may be placed on pumping, or in cases of real significance, prevented all together.  </a:t>
            </a:r>
          </a:p>
          <a:p>
            <a:pPr eaLnBrk="1" hangingPunct="1"/>
            <a:r>
              <a:rPr lang="en-US" smtClean="0"/>
              <a:t>Likewise, where recharge to the aquifer occurs that is vital to the water supply to the system, anything that may affect this could be significant.  Introduction of plantation forestry, expanding hard stand (urban) development – all these can impact on the water entering the system, and hence the water leaving the system to feed the wetland.</a:t>
            </a:r>
          </a:p>
          <a:p>
            <a:pPr eaLnBrk="1" hangingPunct="1"/>
            <a:r>
              <a:rPr lang="en-US" smtClean="0"/>
              <a:t>Groundwater pumping has the greatest impact where the drawdown cone directly intersects the wetland, lowering the groundwater level and reducing or preventing flow to the wetland.  </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p:cNvSpPr>
            <a:spLocks noGrp="1" noChangeArrowheads="1"/>
          </p:cNvSpPr>
          <p:nvPr>
            <p:ph type="sldNum" sz="quarter" idx="5"/>
          </p:nvPr>
        </p:nvSpPr>
        <p:spPr>
          <a:noFill/>
          <a:ln>
            <a:miter lim="800000"/>
            <a:headEnd/>
            <a:tailEnd/>
          </a:ln>
        </p:spPr>
        <p:txBody>
          <a:bodyPr/>
          <a:lstStyle/>
          <a:p>
            <a:fld id="{37A06A4C-D235-4693-AA23-244B3A8098C4}" type="slidenum">
              <a:rPr lang="en-US" smtClean="0"/>
              <a:pPr/>
              <a:t>37</a:t>
            </a:fld>
            <a:endParaRPr lang="en-US" smtClean="0"/>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a:noFill/>
        </p:spPr>
        <p:txBody>
          <a:bodyPr/>
          <a:lstStyle/>
          <a:p>
            <a:pPr eaLnBrk="1" hangingPunct="1"/>
            <a:r>
              <a:rPr lang="en-US" smtClean="0"/>
              <a:t>Dryland salinity is a process of environmental degradation that is a result of broad-scale change of land use.  The replacement of native forests and woodlands with shallow rooted annual crops and grassland changed the amount of water entering the soil.  The increased soil moisture in turn increased the rate of recharge.  As more water reached the groundwater the level of groundwater started to rise.  </a:t>
            </a:r>
          </a:p>
          <a:p>
            <a:pPr eaLnBrk="1" hangingPunct="1"/>
            <a:r>
              <a:rPr lang="en-US" smtClean="0"/>
              <a:t>The groundwater contained salts at concentrations that inhibited the plants’ capacity to uptake water, causing loss of production and ultimately replacement by species that could cope with higher salinities.  Making the problem worse was that salt stored in the soil profile beneath the root zone of the previous vegetation was mobilised by the rising watertable.  This increased the salt content in the water, and the impact on vegetation.</a:t>
            </a:r>
          </a:p>
          <a:p>
            <a:pPr eaLnBrk="1" hangingPunct="1"/>
            <a:r>
              <a:rPr lang="en-US" smtClean="0"/>
              <a:t>Where the watertable came within several metres of the surface (generally considered to be 2m, although this varies with soil type), groundwater could then be evaporated directly from the watertable.  This concentrated the salt from the groundwater in the shallow soil profile.  In the worst cases, salt plains or salt pans formed.  </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p:cNvSpPr>
            <a:spLocks noGrp="1" noChangeArrowheads="1"/>
          </p:cNvSpPr>
          <p:nvPr>
            <p:ph type="sldNum" sz="quarter" idx="5"/>
          </p:nvPr>
        </p:nvSpPr>
        <p:spPr>
          <a:noFill/>
          <a:ln>
            <a:miter lim="800000"/>
            <a:headEnd/>
            <a:tailEnd/>
          </a:ln>
        </p:spPr>
        <p:txBody>
          <a:bodyPr/>
          <a:lstStyle/>
          <a:p>
            <a:fld id="{034D0D80-9485-4192-8B64-94A1AD26D256}" type="slidenum">
              <a:rPr lang="en-US" smtClean="0"/>
              <a:pPr/>
              <a:t>38</a:t>
            </a:fld>
            <a:endParaRPr lang="en-US" smtClean="0"/>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a:noFill/>
        </p:spPr>
        <p:txBody>
          <a:bodyPr/>
          <a:lstStyle/>
          <a:p>
            <a:pPr eaLnBrk="1" hangingPunct="1"/>
            <a:r>
              <a:rPr lang="en-US" smtClean="0"/>
              <a:t>If we look back at our catchment “model” again, the same elements are in play.  However this time the aim is to </a:t>
            </a:r>
            <a:r>
              <a:rPr lang="en-US" b="1" smtClean="0"/>
              <a:t>lower</a:t>
            </a:r>
            <a:r>
              <a:rPr lang="en-US" smtClean="0"/>
              <a:t> the watertable where it discharges to cause salinity.  In this case, deep-rooted vegetation may be planted in the recharge zones to reduce the amount of water getting into the system, and ultimately discharging in the salinity area.  Likewise direct pumping of groundwater can be used to manage groundwater levels immediately around the salt affected area.  Of course, you have to decide what to do with the salty water you pump out! </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p:cNvSpPr>
            <a:spLocks noGrp="1" noChangeArrowheads="1"/>
          </p:cNvSpPr>
          <p:nvPr>
            <p:ph type="sldNum" sz="quarter" idx="5"/>
          </p:nvPr>
        </p:nvSpPr>
        <p:spPr>
          <a:noFill/>
          <a:ln>
            <a:miter lim="800000"/>
            <a:headEnd/>
            <a:tailEnd/>
          </a:ln>
        </p:spPr>
        <p:txBody>
          <a:bodyPr/>
          <a:lstStyle/>
          <a:p>
            <a:fld id="{9053EDFF-C5F1-4962-9135-3D179E5EEA05}" type="slidenum">
              <a:rPr lang="en-US" smtClean="0"/>
              <a:pPr/>
              <a:t>39</a:t>
            </a:fld>
            <a:endParaRPr lang="en-US" smtClean="0"/>
          </a:p>
        </p:txBody>
      </p:sp>
      <p:sp>
        <p:nvSpPr>
          <p:cNvPr id="94210" name="Rectangle 2"/>
          <p:cNvSpPr>
            <a:spLocks noGrp="1" noRot="1" noChangeAspect="1" noChangeArrowheads="1" noTextEdit="1"/>
          </p:cNvSpPr>
          <p:nvPr>
            <p:ph type="sldImg"/>
          </p:nvPr>
        </p:nvSpPr>
        <p:spPr>
          <a:ln/>
        </p:spPr>
      </p:sp>
      <p:sp>
        <p:nvSpPr>
          <p:cNvPr id="94211" name="Rectangle 3"/>
          <p:cNvSpPr>
            <a:spLocks noGrp="1" noChangeArrowheads="1"/>
          </p:cNvSpPr>
          <p:nvPr>
            <p:ph type="body" idx="1"/>
          </p:nvPr>
        </p:nvSpPr>
        <p:spPr>
          <a:noFill/>
        </p:spPr>
        <p:txBody>
          <a:bodyPr/>
          <a:lstStyle/>
          <a:p>
            <a:pPr eaLnBrk="1" hangingPunct="1"/>
            <a:r>
              <a:rPr lang="en-AU" smtClean="0"/>
              <a:t>When excavations are made deep enough into the ground, they will encounter groundwater.  The groundwater often has to be managed to provide stability to the excavation, and provide a safe operating environment.  For large open pit excavations, whether it be for a building foundation and car park, or a quarry or mine, bores may be required as part of the construction to “dewater” the ground before it is excavated.  The watertable has to be continually managed throughout the life of the excavation.  Depending on the rate of inflow to the excavation, this may be maintained by bores or in-pit pumping systems.</a:t>
            </a:r>
          </a:p>
          <a:p>
            <a:pPr eaLnBrk="1" hangingPunct="1"/>
            <a:r>
              <a:rPr lang="en-AU" smtClean="0"/>
              <a:t>It is not uncommon for major buildings with deep basements to have continuous pumping systems built into their basements, continually managing the level of groundwater. </a:t>
            </a:r>
          </a:p>
          <a:p>
            <a:pPr eaLnBrk="1" hangingPunct="1"/>
            <a:r>
              <a:rPr lang="en-AU" smtClean="0"/>
              <a:t>In dewatering excavations, the key element that is being managed is the level of groundwater in the aquifer.  It is managed by extraction, using bores or in-pit pumps.  In this case, the aim is to design a system of bores or pumps where the drawdown cones intersect to give the desired drawdown. </a:t>
            </a:r>
          </a:p>
          <a:p>
            <a:pPr eaLnBrk="1" hangingPunct="1"/>
            <a:r>
              <a:rPr lang="en-AU" smtClean="0"/>
              <a:t>   </a:t>
            </a:r>
            <a:endParaRPr lang="en-US"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p:cNvSpPr>
            <a:spLocks noGrp="1" noChangeArrowheads="1"/>
          </p:cNvSpPr>
          <p:nvPr>
            <p:ph type="sldNum" sz="quarter" idx="5"/>
          </p:nvPr>
        </p:nvSpPr>
        <p:spPr>
          <a:noFill/>
          <a:ln>
            <a:miter lim="800000"/>
            <a:headEnd/>
            <a:tailEnd/>
          </a:ln>
        </p:spPr>
        <p:txBody>
          <a:bodyPr/>
          <a:lstStyle/>
          <a:p>
            <a:fld id="{F64880DA-86EA-4878-B9A3-D5D06E84758D}" type="slidenum">
              <a:rPr lang="en-US" smtClean="0"/>
              <a:pPr/>
              <a:t>40</a:t>
            </a:fld>
            <a:endParaRPr lang="en-US" smtClean="0"/>
          </a:p>
        </p:txBody>
      </p:sp>
      <p:sp>
        <p:nvSpPr>
          <p:cNvPr id="96258" name="Rectangle 2"/>
          <p:cNvSpPr>
            <a:spLocks noGrp="1" noRot="1" noChangeAspect="1" noChangeArrowheads="1" noTextEdit="1"/>
          </p:cNvSpPr>
          <p:nvPr>
            <p:ph type="sldImg"/>
          </p:nvPr>
        </p:nvSpPr>
        <p:spPr>
          <a:ln/>
        </p:spPr>
      </p:sp>
      <p:sp>
        <p:nvSpPr>
          <p:cNvPr id="96259" name="Rectangle 3"/>
          <p:cNvSpPr>
            <a:spLocks noGrp="1" noChangeArrowheads="1"/>
          </p:cNvSpPr>
          <p:nvPr>
            <p:ph type="body" idx="1"/>
          </p:nvPr>
        </p:nvSpPr>
        <p:spPr>
          <a:noFill/>
        </p:spPr>
        <p:txBody>
          <a:bodyPr/>
          <a:lstStyle/>
          <a:p>
            <a:pPr eaLnBrk="1" hangingPunct="1"/>
            <a:r>
              <a:rPr lang="en-AU" smtClean="0"/>
              <a:t>Where groundwater is pumped adjacent to the sea, or a saline waterbody, there is the potential for the saline water from the waterbody to extend inland.  Freshwater is less dense than salty water.  Therefore it requires a thicker column of freshwater (greater volume) to displace a saline column of water.  In all cases the fresh water has to be at a higher elevation than the adjacent waterbody in order to stop the salty water displacing the fresh water.  It is this principle that provides fresh water to many low-lying island systems in the Pacific Ocean.  </a:t>
            </a:r>
          </a:p>
          <a:p>
            <a:pPr eaLnBrk="1" hangingPunct="1"/>
            <a:r>
              <a:rPr lang="en-AU" smtClean="0"/>
              <a:t>As the better quality groundwater is pumped, there is the potential for saline water to move landward.  Excessive pumping can result in total depletion of the fresh water, as the salt water mixes in with it.</a:t>
            </a:r>
          </a:p>
          <a:p>
            <a:pPr eaLnBrk="1" hangingPunct="1"/>
            <a:r>
              <a:rPr lang="en-AU" smtClean="0"/>
              <a:t>The opposite relationship also applies – if you increase the elevation of the sea or lake, the saline wedge will move inland.  For low-lying Pacific nations, a rise in sea level means a loss of better quality groundwater.</a:t>
            </a:r>
          </a:p>
          <a:p>
            <a:pPr eaLnBrk="1" hangingPunct="1"/>
            <a:endParaRPr lang="en-US"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p:cNvSpPr>
            <a:spLocks noGrp="1" noChangeArrowheads="1"/>
          </p:cNvSpPr>
          <p:nvPr>
            <p:ph type="sldNum" sz="quarter" idx="5"/>
          </p:nvPr>
        </p:nvSpPr>
        <p:spPr>
          <a:noFill/>
          <a:ln>
            <a:miter lim="800000"/>
            <a:headEnd/>
            <a:tailEnd/>
          </a:ln>
        </p:spPr>
        <p:txBody>
          <a:bodyPr/>
          <a:lstStyle/>
          <a:p>
            <a:fld id="{FE14FAE8-4AC7-4AF4-B5BC-D55530F564D7}" type="slidenum">
              <a:rPr lang="en-US" smtClean="0"/>
              <a:pPr/>
              <a:t>41</a:t>
            </a:fld>
            <a:endParaRPr lang="en-US" smtClean="0"/>
          </a:p>
        </p:txBody>
      </p:sp>
      <p:sp>
        <p:nvSpPr>
          <p:cNvPr id="98306" name="Rectangle 2"/>
          <p:cNvSpPr>
            <a:spLocks noGrp="1" noRot="1" noChangeAspect="1" noChangeArrowheads="1" noTextEdit="1"/>
          </p:cNvSpPr>
          <p:nvPr>
            <p:ph type="sldImg"/>
          </p:nvPr>
        </p:nvSpPr>
        <p:spPr>
          <a:ln/>
        </p:spPr>
      </p:sp>
      <p:sp>
        <p:nvSpPr>
          <p:cNvPr id="98307" name="Rectangle 3"/>
          <p:cNvSpPr>
            <a:spLocks noGrp="1" noChangeArrowheads="1"/>
          </p:cNvSpPr>
          <p:nvPr>
            <p:ph type="body" idx="1"/>
          </p:nvPr>
        </p:nvSpPr>
        <p:spPr>
          <a:noFill/>
        </p:spPr>
        <p:txBody>
          <a:bodyPr/>
          <a:lstStyle/>
          <a:p>
            <a:pPr eaLnBrk="1" hangingPunct="1"/>
            <a:endParaRPr lang="en-US"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7"/>
          <p:cNvSpPr>
            <a:spLocks noGrp="1" noChangeArrowheads="1"/>
          </p:cNvSpPr>
          <p:nvPr>
            <p:ph type="sldNum" sz="quarter" idx="5"/>
          </p:nvPr>
        </p:nvSpPr>
        <p:spPr>
          <a:noFill/>
          <a:ln>
            <a:miter lim="800000"/>
            <a:headEnd/>
            <a:tailEnd/>
          </a:ln>
        </p:spPr>
        <p:txBody>
          <a:bodyPr/>
          <a:lstStyle/>
          <a:p>
            <a:fld id="{22656ADD-77A4-4E69-A439-4560D58D14CC}" type="slidenum">
              <a:rPr lang="en-US" smtClean="0"/>
              <a:pPr/>
              <a:t>42</a:t>
            </a:fld>
            <a:endParaRPr lang="en-US" smtClean="0"/>
          </a:p>
        </p:txBody>
      </p:sp>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a:noFill/>
        </p:spPr>
        <p:txBody>
          <a:bodyPr/>
          <a:lstStyle/>
          <a:p>
            <a:pPr eaLnBrk="1" hangingPunct="1"/>
            <a:r>
              <a:rPr lang="en-AU" smtClean="0"/>
              <a:t>Provision of what we now consider to be basic necessities is built on extensive industrial development and supply and distribution systems.  There is a legacy of this development.  Invariably practices in the past (and many continue today) result in chemicals from industrial processes entering the groundwater.  Where this groundwater is used by others for water supply, industry or by the environment, the presence of these chemicals can make it no longer “fit for purpose”.  </a:t>
            </a:r>
          </a:p>
          <a:p>
            <a:pPr eaLnBrk="1" hangingPunct="1"/>
            <a:r>
              <a:rPr lang="en-AU" smtClean="0"/>
              <a:t> </a:t>
            </a:r>
            <a:endParaRPr lang="en-US"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7"/>
          <p:cNvSpPr>
            <a:spLocks noGrp="1" noChangeArrowheads="1"/>
          </p:cNvSpPr>
          <p:nvPr>
            <p:ph type="sldNum" sz="quarter" idx="5"/>
          </p:nvPr>
        </p:nvSpPr>
        <p:spPr>
          <a:noFill/>
          <a:ln>
            <a:miter lim="800000"/>
            <a:headEnd/>
            <a:tailEnd/>
          </a:ln>
        </p:spPr>
        <p:txBody>
          <a:bodyPr/>
          <a:lstStyle/>
          <a:p>
            <a:fld id="{A94F97C3-5A5B-4D68-9B15-6B3BD2F1407D}" type="slidenum">
              <a:rPr lang="en-US" smtClean="0"/>
              <a:pPr/>
              <a:t>43</a:t>
            </a:fld>
            <a:endParaRPr lang="en-US" smtClean="0"/>
          </a:p>
        </p:txBody>
      </p:sp>
      <p:sp>
        <p:nvSpPr>
          <p:cNvPr id="102402" name="Rectangle 2"/>
          <p:cNvSpPr>
            <a:spLocks noGrp="1" noRot="1" noChangeAspect="1" noChangeArrowheads="1" noTextEdit="1"/>
          </p:cNvSpPr>
          <p:nvPr>
            <p:ph type="sldImg"/>
          </p:nvPr>
        </p:nvSpPr>
        <p:spPr>
          <a:ln/>
        </p:spPr>
      </p:sp>
      <p:sp>
        <p:nvSpPr>
          <p:cNvPr id="102403" name="Rectangle 3"/>
          <p:cNvSpPr>
            <a:spLocks noGrp="1" noChangeArrowheads="1"/>
          </p:cNvSpPr>
          <p:nvPr>
            <p:ph type="body" idx="1"/>
          </p:nvPr>
        </p:nvSpPr>
        <p:spPr>
          <a:noFill/>
        </p:spPr>
        <p:txBody>
          <a:bodyPr/>
          <a:lstStyle/>
          <a:p>
            <a:pPr eaLnBrk="1" hangingPunct="1"/>
            <a:r>
              <a:rPr lang="en-AU" smtClean="0"/>
              <a:t>Contamination of groundwater can be broken into two main groups. </a:t>
            </a:r>
          </a:p>
          <a:p>
            <a:pPr eaLnBrk="1" hangingPunct="1"/>
            <a:r>
              <a:rPr lang="en-AU" smtClean="0"/>
              <a:t>Point source contamination is related to a localised geographic area – a specific tank, a petrol station, a landfill.  </a:t>
            </a:r>
          </a:p>
          <a:p>
            <a:pPr eaLnBrk="1" hangingPunct="1"/>
            <a:r>
              <a:rPr lang="en-AU" smtClean="0"/>
              <a:t>Diffuse recharge occurs over an extensive area.  The main diffuse sources of contamination are various forms of agriculture where pesticides or fertilizers are used over very large areas.  </a:t>
            </a:r>
          </a:p>
          <a:p>
            <a:pPr eaLnBrk="1" hangingPunct="1"/>
            <a:endParaRPr lang="en-AU" smtClean="0"/>
          </a:p>
          <a:p>
            <a:pPr eaLnBrk="1" hangingPunct="1"/>
            <a:endParaRPr lang="en-US"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7"/>
          <p:cNvSpPr>
            <a:spLocks noGrp="1" noChangeArrowheads="1"/>
          </p:cNvSpPr>
          <p:nvPr>
            <p:ph type="sldNum" sz="quarter" idx="5"/>
          </p:nvPr>
        </p:nvSpPr>
        <p:spPr>
          <a:noFill/>
          <a:ln>
            <a:miter lim="800000"/>
            <a:headEnd/>
            <a:tailEnd/>
          </a:ln>
        </p:spPr>
        <p:txBody>
          <a:bodyPr/>
          <a:lstStyle/>
          <a:p>
            <a:fld id="{89E32209-92C6-4880-B34B-D04275AACB73}" type="slidenum">
              <a:rPr lang="en-US" smtClean="0"/>
              <a:pPr/>
              <a:t>44</a:t>
            </a:fld>
            <a:endParaRPr lang="en-US" smtClean="0"/>
          </a:p>
        </p:txBody>
      </p:sp>
      <p:sp>
        <p:nvSpPr>
          <p:cNvPr id="104450" name="Rectangle 2"/>
          <p:cNvSpPr>
            <a:spLocks noGrp="1" noRot="1" noChangeAspect="1" noChangeArrowheads="1" noTextEdit="1"/>
          </p:cNvSpPr>
          <p:nvPr>
            <p:ph type="sldImg"/>
          </p:nvPr>
        </p:nvSpPr>
        <p:spPr>
          <a:ln/>
        </p:spPr>
      </p:sp>
      <p:sp>
        <p:nvSpPr>
          <p:cNvPr id="104451" name="Rectangle 3"/>
          <p:cNvSpPr>
            <a:spLocks noGrp="1" noChangeArrowheads="1"/>
          </p:cNvSpPr>
          <p:nvPr>
            <p:ph type="body" idx="1"/>
          </p:nvPr>
        </p:nvSpPr>
        <p:spPr>
          <a:noFill/>
        </p:spPr>
        <p:txBody>
          <a:bodyPr/>
          <a:lstStyle/>
          <a:p>
            <a:pPr eaLnBrk="1" hangingPunct="1"/>
            <a:endParaRPr lang="en-US"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p:cNvSpPr>
            <a:spLocks noGrp="1" noChangeArrowheads="1"/>
          </p:cNvSpPr>
          <p:nvPr>
            <p:ph type="sldNum" sz="quarter" idx="5"/>
          </p:nvPr>
        </p:nvSpPr>
        <p:spPr>
          <a:noFill/>
          <a:ln>
            <a:miter lim="800000"/>
            <a:headEnd/>
            <a:tailEnd/>
          </a:ln>
        </p:spPr>
        <p:txBody>
          <a:bodyPr/>
          <a:lstStyle/>
          <a:p>
            <a:fld id="{B7154B95-079D-41DB-8EFE-6E0196D8EDB1}" type="slidenum">
              <a:rPr lang="en-US" smtClean="0"/>
              <a:pPr/>
              <a:t>45</a:t>
            </a:fld>
            <a:endParaRPr lang="en-US" smtClean="0"/>
          </a:p>
        </p:txBody>
      </p:sp>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a:noFill/>
        </p:spPr>
        <p:txBody>
          <a:bodyPr/>
          <a:lstStyle/>
          <a:p>
            <a:pPr eaLnBrk="1" hangingPunct="1"/>
            <a:endParaRPr lang="en-US"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7"/>
          <p:cNvSpPr>
            <a:spLocks noGrp="1" noChangeArrowheads="1"/>
          </p:cNvSpPr>
          <p:nvPr>
            <p:ph type="sldNum" sz="quarter" idx="5"/>
          </p:nvPr>
        </p:nvSpPr>
        <p:spPr>
          <a:noFill/>
          <a:ln>
            <a:miter lim="800000"/>
            <a:headEnd/>
            <a:tailEnd/>
          </a:ln>
        </p:spPr>
        <p:txBody>
          <a:bodyPr/>
          <a:lstStyle/>
          <a:p>
            <a:fld id="{18823C5A-FD6A-4AB9-9704-74144F8F19C7}" type="slidenum">
              <a:rPr lang="en-US" smtClean="0"/>
              <a:pPr/>
              <a:t>46</a:t>
            </a:fld>
            <a:endParaRPr lang="en-US" smtClean="0"/>
          </a:p>
        </p:txBody>
      </p:sp>
      <p:sp>
        <p:nvSpPr>
          <p:cNvPr id="108546" name="Rectangle 2"/>
          <p:cNvSpPr>
            <a:spLocks noGrp="1" noRot="1" noChangeAspect="1" noChangeArrowheads="1" noTextEdit="1"/>
          </p:cNvSpPr>
          <p:nvPr>
            <p:ph type="sldImg"/>
          </p:nvPr>
        </p:nvSpPr>
        <p:spPr>
          <a:ln/>
        </p:spPr>
      </p:sp>
      <p:sp>
        <p:nvSpPr>
          <p:cNvPr id="108547" name="Rectangle 3"/>
          <p:cNvSpPr>
            <a:spLocks noGrp="1" noChangeArrowheads="1"/>
          </p:cNvSpPr>
          <p:nvPr>
            <p:ph type="body" idx="1"/>
          </p:nvPr>
        </p:nvSpPr>
        <p:spPr>
          <a:noFill/>
        </p:spPr>
        <p:txBody>
          <a:bodyPr/>
          <a:lstStyle/>
          <a:p>
            <a:pPr eaLnBrk="1" hangingPunct="1"/>
            <a:r>
              <a:rPr lang="en-AU" smtClean="0"/>
              <a:t>Processes of contamination are particularly complex.  Once a contaminant enters the soil, its interaction with the soil will determine how it moves through it.  Likewise once it enters the groundwater, its movement is constricted by the pathways available, and the interaction with both the soil material it is passing through and the groundwater itself.  </a:t>
            </a:r>
          </a:p>
          <a:p>
            <a:pPr eaLnBrk="1" hangingPunct="1"/>
            <a:r>
              <a:rPr lang="en-AU" smtClean="0"/>
              <a:t>The four key processes that dictate how a contaminant moves through the groundwater are advection, mechanical dispersion, decay / degradation and retardation. </a:t>
            </a:r>
          </a:p>
          <a:p>
            <a:pPr eaLnBrk="1" hangingPunct="1"/>
            <a:endParaRPr lang="en-US"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p:cNvSpPr>
            <a:spLocks noGrp="1" noChangeArrowheads="1"/>
          </p:cNvSpPr>
          <p:nvPr>
            <p:ph type="sldNum" sz="quarter" idx="5"/>
          </p:nvPr>
        </p:nvSpPr>
        <p:spPr>
          <a:noFill/>
          <a:ln>
            <a:miter lim="800000"/>
            <a:headEnd/>
            <a:tailEnd/>
          </a:ln>
        </p:spPr>
        <p:txBody>
          <a:bodyPr/>
          <a:lstStyle/>
          <a:p>
            <a:fld id="{C8749717-597D-44D2-8DB5-A436C3059438}" type="slidenum">
              <a:rPr lang="en-US" smtClean="0"/>
              <a:pPr/>
              <a:t>47</a:t>
            </a:fld>
            <a:endParaRPr lang="en-US" smtClean="0"/>
          </a:p>
        </p:txBody>
      </p:sp>
      <p:sp>
        <p:nvSpPr>
          <p:cNvPr id="110594" name="Rectangle 2"/>
          <p:cNvSpPr>
            <a:spLocks noGrp="1" noRot="1" noChangeAspect="1" noChangeArrowheads="1" noTextEdit="1"/>
          </p:cNvSpPr>
          <p:nvPr>
            <p:ph type="sldImg"/>
          </p:nvPr>
        </p:nvSpPr>
        <p:spPr>
          <a:ln/>
        </p:spPr>
      </p:sp>
      <p:sp>
        <p:nvSpPr>
          <p:cNvPr id="110595" name="Rectangle 3"/>
          <p:cNvSpPr>
            <a:spLocks noGrp="1" noChangeArrowheads="1"/>
          </p:cNvSpPr>
          <p:nvPr>
            <p:ph type="body" idx="1"/>
          </p:nvPr>
        </p:nvSpPr>
        <p:spPr>
          <a:noFill/>
        </p:spPr>
        <p:txBody>
          <a:bodyPr/>
          <a:lstStyle/>
          <a:p>
            <a:pPr eaLnBrk="1" hangingPunct="1"/>
            <a:r>
              <a:rPr lang="en-AU" smtClean="0"/>
              <a:t>Advective movement of a contaminant means that the contaminant will move at the source concentration at a uniform velocity through the aquifer.  The velocity term is known as the average linear velocity, and is a product of the hydraulic conductivity, the gradient driving flow and the porosity of the material.  </a:t>
            </a:r>
          </a:p>
          <a:p>
            <a:pPr eaLnBrk="1" hangingPunct="1"/>
            <a:r>
              <a:rPr lang="en-AU" smtClean="0"/>
              <a:t>If a one-off “pulse” or spill enters the groundwater, then under advective processes, the source concentration would move through the aquifer without any form of reduction.</a:t>
            </a:r>
            <a:endParaRPr lang="en-US"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p:cNvSpPr>
            <a:spLocks noGrp="1" noChangeArrowheads="1"/>
          </p:cNvSpPr>
          <p:nvPr>
            <p:ph type="sldNum" sz="quarter" idx="5"/>
          </p:nvPr>
        </p:nvSpPr>
        <p:spPr>
          <a:noFill/>
          <a:ln>
            <a:miter lim="800000"/>
            <a:headEnd/>
            <a:tailEnd/>
          </a:ln>
        </p:spPr>
        <p:txBody>
          <a:bodyPr/>
          <a:lstStyle/>
          <a:p>
            <a:fld id="{95B89F23-A241-42E7-BCED-C6ED580E7C24}" type="slidenum">
              <a:rPr lang="en-US" smtClean="0"/>
              <a:pPr/>
              <a:t>48</a:t>
            </a:fld>
            <a:endParaRPr lang="en-US" smtClean="0"/>
          </a:p>
        </p:txBody>
      </p:sp>
      <p:sp>
        <p:nvSpPr>
          <p:cNvPr id="112642" name="Rectangle 2"/>
          <p:cNvSpPr>
            <a:spLocks noGrp="1" noRot="1" noChangeAspect="1" noChangeArrowheads="1" noTextEdit="1"/>
          </p:cNvSpPr>
          <p:nvPr>
            <p:ph type="sldImg"/>
          </p:nvPr>
        </p:nvSpPr>
        <p:spPr>
          <a:ln/>
        </p:spPr>
      </p:sp>
      <p:sp>
        <p:nvSpPr>
          <p:cNvPr id="112643" name="Rectangle 3"/>
          <p:cNvSpPr>
            <a:spLocks noGrp="1" noChangeArrowheads="1"/>
          </p:cNvSpPr>
          <p:nvPr>
            <p:ph type="body" idx="1"/>
          </p:nvPr>
        </p:nvSpPr>
        <p:spPr>
          <a:noFill/>
        </p:spPr>
        <p:txBody>
          <a:bodyPr/>
          <a:lstStyle/>
          <a:p>
            <a:pPr eaLnBrk="1" hangingPunct="1"/>
            <a:r>
              <a:rPr lang="en-AU" smtClean="0"/>
              <a:t>If a continuous source of contamination is added into the groundwater system, then a “stream” of the source concentration will move through the aquifer.  </a:t>
            </a:r>
            <a:endParaRPr lang="en-US"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7"/>
          <p:cNvSpPr>
            <a:spLocks noGrp="1" noChangeArrowheads="1"/>
          </p:cNvSpPr>
          <p:nvPr>
            <p:ph type="sldNum" sz="quarter" idx="5"/>
          </p:nvPr>
        </p:nvSpPr>
        <p:spPr>
          <a:noFill/>
          <a:ln>
            <a:miter lim="800000"/>
            <a:headEnd/>
            <a:tailEnd/>
          </a:ln>
        </p:spPr>
        <p:txBody>
          <a:bodyPr/>
          <a:lstStyle/>
          <a:p>
            <a:fld id="{D38FF977-D3EA-4AEF-A1BF-CF304076BBD0}" type="slidenum">
              <a:rPr lang="en-US" smtClean="0"/>
              <a:pPr/>
              <a:t>49</a:t>
            </a:fld>
            <a:endParaRPr lang="en-US" smtClean="0"/>
          </a:p>
        </p:txBody>
      </p:sp>
      <p:sp>
        <p:nvSpPr>
          <p:cNvPr id="114690" name="Rectangle 2"/>
          <p:cNvSpPr>
            <a:spLocks noGrp="1" noRot="1" noChangeAspect="1" noChangeArrowheads="1" noTextEdit="1"/>
          </p:cNvSpPr>
          <p:nvPr>
            <p:ph type="sldImg"/>
          </p:nvPr>
        </p:nvSpPr>
        <p:spPr>
          <a:ln/>
        </p:spPr>
      </p:sp>
      <p:sp>
        <p:nvSpPr>
          <p:cNvPr id="114691" name="Rectangle 3"/>
          <p:cNvSpPr>
            <a:spLocks noGrp="1" noChangeArrowheads="1"/>
          </p:cNvSpPr>
          <p:nvPr>
            <p:ph type="body" idx="1"/>
          </p:nvPr>
        </p:nvSpPr>
        <p:spPr>
          <a:noFill/>
        </p:spPr>
        <p:txBody>
          <a:bodyPr/>
          <a:lstStyle/>
          <a:p>
            <a:pPr eaLnBrk="1" hangingPunct="1"/>
            <a:r>
              <a:rPr lang="en-AU" smtClean="0"/>
              <a:t>Mechanical dispersion occurs because not all the flow pathways through rock and soil are of the same length.  If you think about a soil or rock, the pattern of the spaces between the grains (porosity) and the pathways that connect them (permeability) will be highly variable.  As a contaminant moves through the soil or rock, parts of the contaminant will travel by different pathways through the pores and connecting passageways.  As this occurs, the contaminant starts to disperse – that is the source concentration starts to diminish.  However, if the total mass of contaminant does not change (it is not reacting with the soil or rock) then as its concentration decreases, the volume of the aquifer in which there is contaminant increases. </a:t>
            </a:r>
            <a:endParaRPr lang="en-US"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7"/>
          <p:cNvSpPr>
            <a:spLocks noGrp="1" noChangeArrowheads="1"/>
          </p:cNvSpPr>
          <p:nvPr>
            <p:ph type="sldNum" sz="quarter" idx="5"/>
          </p:nvPr>
        </p:nvSpPr>
        <p:spPr>
          <a:noFill/>
          <a:ln>
            <a:miter lim="800000"/>
            <a:headEnd/>
            <a:tailEnd/>
          </a:ln>
        </p:spPr>
        <p:txBody>
          <a:bodyPr/>
          <a:lstStyle/>
          <a:p>
            <a:fld id="{89C58CC3-35FC-43C7-8830-954821B312D9}" type="slidenum">
              <a:rPr lang="en-US" smtClean="0"/>
              <a:pPr/>
              <a:t>50</a:t>
            </a:fld>
            <a:endParaRPr lang="en-US" smtClean="0"/>
          </a:p>
        </p:txBody>
      </p:sp>
      <p:sp>
        <p:nvSpPr>
          <p:cNvPr id="116738" name="Rectangle 2"/>
          <p:cNvSpPr>
            <a:spLocks noGrp="1" noRot="1" noChangeAspect="1" noChangeArrowheads="1" noTextEdit="1"/>
          </p:cNvSpPr>
          <p:nvPr>
            <p:ph type="sldImg"/>
          </p:nvPr>
        </p:nvSpPr>
        <p:spPr>
          <a:ln/>
        </p:spPr>
      </p:sp>
      <p:sp>
        <p:nvSpPr>
          <p:cNvPr id="116739" name="Rectangle 3"/>
          <p:cNvSpPr>
            <a:spLocks noGrp="1" noChangeArrowheads="1"/>
          </p:cNvSpPr>
          <p:nvPr>
            <p:ph type="body" idx="1"/>
          </p:nvPr>
        </p:nvSpPr>
        <p:spPr>
          <a:noFill/>
        </p:spPr>
        <p:txBody>
          <a:bodyPr/>
          <a:lstStyle/>
          <a:p>
            <a:pPr eaLnBrk="1" hangingPunct="1"/>
            <a:r>
              <a:rPr lang="en-AU" smtClean="0"/>
              <a:t>For a continuous source of contamination, what we see is a change in concentration of the contaminant down the flow path, particularly at the contaminant front. </a:t>
            </a:r>
            <a:endParaRPr lang="en-US"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p:cNvSpPr>
            <a:spLocks noGrp="1" noChangeArrowheads="1"/>
          </p:cNvSpPr>
          <p:nvPr>
            <p:ph type="sldNum" sz="quarter" idx="5"/>
          </p:nvPr>
        </p:nvSpPr>
        <p:spPr>
          <a:noFill/>
          <a:ln>
            <a:miter lim="800000"/>
            <a:headEnd/>
            <a:tailEnd/>
          </a:ln>
        </p:spPr>
        <p:txBody>
          <a:bodyPr/>
          <a:lstStyle/>
          <a:p>
            <a:fld id="{EDA1A562-6EE5-4202-8433-4F28163F24D1}" type="slidenum">
              <a:rPr lang="en-US" smtClean="0"/>
              <a:pPr/>
              <a:t>51</a:t>
            </a:fld>
            <a:endParaRPr lang="en-US" smtClean="0"/>
          </a:p>
        </p:txBody>
      </p:sp>
      <p:sp>
        <p:nvSpPr>
          <p:cNvPr id="118786" name="Rectangle 2"/>
          <p:cNvSpPr>
            <a:spLocks noGrp="1" noRot="1" noChangeAspect="1" noChangeArrowheads="1" noTextEdit="1"/>
          </p:cNvSpPr>
          <p:nvPr>
            <p:ph type="sldImg"/>
          </p:nvPr>
        </p:nvSpPr>
        <p:spPr>
          <a:ln/>
        </p:spPr>
      </p:sp>
      <p:sp>
        <p:nvSpPr>
          <p:cNvPr id="118787" name="Rectangle 3"/>
          <p:cNvSpPr>
            <a:spLocks noGrp="1" noChangeArrowheads="1"/>
          </p:cNvSpPr>
          <p:nvPr>
            <p:ph type="body" idx="1"/>
          </p:nvPr>
        </p:nvSpPr>
        <p:spPr>
          <a:noFill/>
        </p:spPr>
        <p:txBody>
          <a:bodyPr/>
          <a:lstStyle/>
          <a:p>
            <a:pPr eaLnBrk="1" hangingPunct="1"/>
            <a:r>
              <a:rPr lang="en-AU" smtClean="0"/>
              <a:t>For a point source, the effect is to have a gradual reduction in the concentration down the flow path, but an increase in the area over which the contaminant occurs.</a:t>
            </a:r>
            <a:endParaRPr lang="en-US"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7"/>
          <p:cNvSpPr>
            <a:spLocks noGrp="1" noChangeArrowheads="1"/>
          </p:cNvSpPr>
          <p:nvPr>
            <p:ph type="sldNum" sz="quarter" idx="5"/>
          </p:nvPr>
        </p:nvSpPr>
        <p:spPr>
          <a:noFill/>
          <a:ln>
            <a:miter lim="800000"/>
            <a:headEnd/>
            <a:tailEnd/>
          </a:ln>
        </p:spPr>
        <p:txBody>
          <a:bodyPr/>
          <a:lstStyle/>
          <a:p>
            <a:fld id="{626FAD50-3CB5-445C-B5CF-A9C4C9D57E5D}" type="slidenum">
              <a:rPr lang="en-US" smtClean="0"/>
              <a:pPr/>
              <a:t>52</a:t>
            </a:fld>
            <a:endParaRPr lang="en-US" smtClean="0"/>
          </a:p>
        </p:txBody>
      </p:sp>
      <p:sp>
        <p:nvSpPr>
          <p:cNvPr id="120834" name="Rectangle 2"/>
          <p:cNvSpPr>
            <a:spLocks noGrp="1" noRot="1" noChangeAspect="1" noChangeArrowheads="1" noTextEdit="1"/>
          </p:cNvSpPr>
          <p:nvPr>
            <p:ph type="sldImg"/>
          </p:nvPr>
        </p:nvSpPr>
        <p:spPr>
          <a:ln/>
        </p:spPr>
      </p:sp>
      <p:sp>
        <p:nvSpPr>
          <p:cNvPr id="120835" name="Rectangle 3"/>
          <p:cNvSpPr>
            <a:spLocks noGrp="1" noChangeArrowheads="1"/>
          </p:cNvSpPr>
          <p:nvPr>
            <p:ph type="body" idx="1"/>
          </p:nvPr>
        </p:nvSpPr>
        <p:spPr>
          <a:noFill/>
        </p:spPr>
        <p:txBody>
          <a:bodyPr/>
          <a:lstStyle/>
          <a:p>
            <a:pPr eaLnBrk="1" hangingPunct="1"/>
            <a:endParaRPr lang="en-US"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p:cNvSpPr>
            <a:spLocks noGrp="1" noChangeArrowheads="1"/>
          </p:cNvSpPr>
          <p:nvPr>
            <p:ph type="sldNum" sz="quarter" idx="5"/>
          </p:nvPr>
        </p:nvSpPr>
        <p:spPr>
          <a:noFill/>
          <a:ln>
            <a:miter lim="800000"/>
            <a:headEnd/>
            <a:tailEnd/>
          </a:ln>
        </p:spPr>
        <p:txBody>
          <a:bodyPr/>
          <a:lstStyle/>
          <a:p>
            <a:fld id="{0A26D4FD-BF81-456E-8B1A-5EBCDB046594}" type="slidenum">
              <a:rPr lang="en-US" smtClean="0"/>
              <a:pPr/>
              <a:t>53</a:t>
            </a:fld>
            <a:endParaRPr lang="en-US" smtClean="0"/>
          </a:p>
        </p:txBody>
      </p:sp>
      <p:sp>
        <p:nvSpPr>
          <p:cNvPr id="122882" name="Rectangle 2"/>
          <p:cNvSpPr>
            <a:spLocks noGrp="1" noRot="1" noChangeAspect="1" noChangeArrowheads="1" noTextEdit="1"/>
          </p:cNvSpPr>
          <p:nvPr>
            <p:ph type="sldImg"/>
          </p:nvPr>
        </p:nvSpPr>
        <p:spPr>
          <a:ln/>
        </p:spPr>
      </p:sp>
      <p:sp>
        <p:nvSpPr>
          <p:cNvPr id="122883" name="Rectangle 3"/>
          <p:cNvSpPr>
            <a:spLocks noGrp="1" noChangeArrowheads="1"/>
          </p:cNvSpPr>
          <p:nvPr>
            <p:ph type="body" idx="1"/>
          </p:nvPr>
        </p:nvSpPr>
        <p:spPr>
          <a:noFill/>
        </p:spPr>
        <p:txBody>
          <a:bodyPr/>
          <a:lstStyle/>
          <a:p>
            <a:pPr eaLnBrk="1" hangingPunct="1"/>
            <a:r>
              <a:rPr lang="en-AU" smtClean="0"/>
              <a:t>Degradation is where the contaminant, due to its own chemical make-up, will breakdown to create one or more new compounds.  When observing this in the field, we observe the concentration of the primary contaminant reducing and the “daughter product” increasing.</a:t>
            </a:r>
            <a:endParaRPr lang="en-US"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7"/>
          <p:cNvSpPr>
            <a:spLocks noGrp="1" noChangeArrowheads="1"/>
          </p:cNvSpPr>
          <p:nvPr>
            <p:ph type="sldNum" sz="quarter" idx="5"/>
          </p:nvPr>
        </p:nvSpPr>
        <p:spPr>
          <a:noFill/>
          <a:ln>
            <a:miter lim="800000"/>
            <a:headEnd/>
            <a:tailEnd/>
          </a:ln>
        </p:spPr>
        <p:txBody>
          <a:bodyPr/>
          <a:lstStyle/>
          <a:p>
            <a:fld id="{B942F2B0-EDA9-4A8F-836C-FC4135B56C69}" type="slidenum">
              <a:rPr lang="en-US" smtClean="0"/>
              <a:pPr/>
              <a:t>54</a:t>
            </a:fld>
            <a:endParaRPr lang="en-US" smtClean="0"/>
          </a:p>
        </p:txBody>
      </p:sp>
      <p:sp>
        <p:nvSpPr>
          <p:cNvPr id="124930" name="Rectangle 2"/>
          <p:cNvSpPr>
            <a:spLocks noGrp="1" noRot="1" noChangeAspect="1" noChangeArrowheads="1" noTextEdit="1"/>
          </p:cNvSpPr>
          <p:nvPr>
            <p:ph type="sldImg"/>
          </p:nvPr>
        </p:nvSpPr>
        <p:spPr>
          <a:ln/>
        </p:spPr>
      </p:sp>
      <p:sp>
        <p:nvSpPr>
          <p:cNvPr id="124931" name="Rectangle 3"/>
          <p:cNvSpPr>
            <a:spLocks noGrp="1" noChangeArrowheads="1"/>
          </p:cNvSpPr>
          <p:nvPr>
            <p:ph type="body" idx="1"/>
          </p:nvPr>
        </p:nvSpPr>
        <p:spPr>
          <a:noFill/>
        </p:spPr>
        <p:txBody>
          <a:bodyPr/>
          <a:lstStyle/>
          <a:p>
            <a:pPr eaLnBrk="1" hangingPunct="1"/>
            <a:r>
              <a:rPr lang="en-AU" smtClean="0"/>
              <a:t>A specific form of degradation is where biological processes break down the contaminant.  This can occur in special circumstances where conditions are right to support the biological material that degrades the contaminant.</a:t>
            </a:r>
            <a:endParaRPr lang="en-US"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7"/>
          <p:cNvSpPr>
            <a:spLocks noGrp="1" noChangeArrowheads="1"/>
          </p:cNvSpPr>
          <p:nvPr>
            <p:ph type="sldNum" sz="quarter" idx="5"/>
          </p:nvPr>
        </p:nvSpPr>
        <p:spPr>
          <a:noFill/>
          <a:ln>
            <a:miter lim="800000"/>
            <a:headEnd/>
            <a:tailEnd/>
          </a:ln>
        </p:spPr>
        <p:txBody>
          <a:bodyPr/>
          <a:lstStyle/>
          <a:p>
            <a:fld id="{A1ED8D35-422C-424B-A5A2-6AC4573D98BE}" type="slidenum">
              <a:rPr lang="en-US" smtClean="0"/>
              <a:pPr/>
              <a:t>55</a:t>
            </a:fld>
            <a:endParaRPr lang="en-US" smtClean="0"/>
          </a:p>
        </p:txBody>
      </p:sp>
      <p:sp>
        <p:nvSpPr>
          <p:cNvPr id="126978" name="Rectangle 2"/>
          <p:cNvSpPr>
            <a:spLocks noGrp="1" noRot="1" noChangeAspect="1" noChangeArrowheads="1" noTextEdit="1"/>
          </p:cNvSpPr>
          <p:nvPr>
            <p:ph type="sldImg"/>
          </p:nvPr>
        </p:nvSpPr>
        <p:spPr>
          <a:ln/>
        </p:spPr>
      </p:sp>
      <p:sp>
        <p:nvSpPr>
          <p:cNvPr id="126979" name="Rectangle 3"/>
          <p:cNvSpPr>
            <a:spLocks noGrp="1" noChangeArrowheads="1"/>
          </p:cNvSpPr>
          <p:nvPr>
            <p:ph type="body" idx="1"/>
          </p:nvPr>
        </p:nvSpPr>
        <p:spPr>
          <a:noFill/>
        </p:spPr>
        <p:txBody>
          <a:bodyPr/>
          <a:lstStyle/>
          <a:p>
            <a:pPr eaLnBrk="1" hangingPunct="1"/>
            <a:r>
              <a:rPr lang="en-AU" smtClean="0"/>
              <a:t>The third main process is retardation.  </a:t>
            </a:r>
          </a:p>
          <a:p>
            <a:pPr eaLnBrk="1" hangingPunct="1"/>
            <a:r>
              <a:rPr lang="en-AU" smtClean="0"/>
              <a:t>As a mixture of contaminants moves through an aquifer (represented by the different colour green circles), some contaminants have a natural attraction to the soil and rock grains.  This attraction slows the contaminants progress preferentially.  As a result it appears that some contaminants move more slowly than others, producing a “separation” of contaminants as the mixture of contaminants moves down the flow path.</a:t>
            </a:r>
          </a:p>
          <a:p>
            <a:pPr eaLnBrk="1" hangingPunct="1"/>
            <a:r>
              <a:rPr lang="en-AU" smtClean="0"/>
              <a:t>In some cases the “retardation” can be so effective, that the likelihood that the contaminant will be released is very small.  In this case, the contaminant is described as “attenuated” – that is it is held so well that it is unlikely to enter the dissolved phase of the water again and can be assumed to be removed from the water.</a:t>
            </a:r>
            <a:endParaRPr lang="en-US"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7"/>
          <p:cNvSpPr>
            <a:spLocks noGrp="1" noChangeArrowheads="1"/>
          </p:cNvSpPr>
          <p:nvPr>
            <p:ph type="sldNum" sz="quarter" idx="5"/>
          </p:nvPr>
        </p:nvSpPr>
        <p:spPr>
          <a:noFill/>
          <a:ln>
            <a:miter lim="800000"/>
            <a:headEnd/>
            <a:tailEnd/>
          </a:ln>
        </p:spPr>
        <p:txBody>
          <a:bodyPr/>
          <a:lstStyle/>
          <a:p>
            <a:fld id="{4A7844BE-4923-4B87-9312-8700FEBECAF7}" type="slidenum">
              <a:rPr lang="en-US" smtClean="0"/>
              <a:pPr/>
              <a:t>56</a:t>
            </a:fld>
            <a:endParaRPr lang="en-US" smtClean="0"/>
          </a:p>
        </p:txBody>
      </p:sp>
      <p:sp>
        <p:nvSpPr>
          <p:cNvPr id="129026" name="Rectangle 2"/>
          <p:cNvSpPr>
            <a:spLocks noGrp="1" noRot="1" noChangeAspect="1" noChangeArrowheads="1" noTextEdit="1"/>
          </p:cNvSpPr>
          <p:nvPr>
            <p:ph type="sldImg"/>
          </p:nvPr>
        </p:nvSpPr>
        <p:spPr>
          <a:ln/>
        </p:spPr>
      </p:sp>
      <p:sp>
        <p:nvSpPr>
          <p:cNvPr id="129027" name="Rectangle 3"/>
          <p:cNvSpPr>
            <a:spLocks noGrp="1" noChangeArrowheads="1"/>
          </p:cNvSpPr>
          <p:nvPr>
            <p:ph type="body" idx="1"/>
          </p:nvPr>
        </p:nvSpPr>
        <p:spPr>
          <a:noFill/>
        </p:spPr>
        <p:txBody>
          <a:bodyPr/>
          <a:lstStyle/>
          <a:p>
            <a:pPr eaLnBrk="1" hangingPunct="1"/>
            <a:r>
              <a:rPr lang="en-AU" smtClean="0"/>
              <a:t>The example here is a complex mix of contaminants.  It represent the concentration of each of the contaminants at a specific spot 5 metres from where the contaminant was introduced.  It clearly shows the effects of advection, dispersion and in particular retardation of the different chemicals.</a:t>
            </a:r>
            <a:endParaRPr lang="en-US"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p:cNvSpPr>
            <a:spLocks noGrp="1" noChangeArrowheads="1"/>
          </p:cNvSpPr>
          <p:nvPr>
            <p:ph type="sldNum" sz="quarter" idx="5"/>
          </p:nvPr>
        </p:nvSpPr>
        <p:spPr>
          <a:noFill/>
          <a:ln>
            <a:miter lim="800000"/>
            <a:headEnd/>
            <a:tailEnd/>
          </a:ln>
        </p:spPr>
        <p:txBody>
          <a:bodyPr/>
          <a:lstStyle/>
          <a:p>
            <a:fld id="{74D1CC3A-DC64-4C90-8D7D-075571063FF3}" type="slidenum">
              <a:rPr lang="en-US" smtClean="0"/>
              <a:pPr/>
              <a:t>57</a:t>
            </a:fld>
            <a:endParaRPr lang="en-US" smtClean="0"/>
          </a:p>
        </p:txBody>
      </p:sp>
      <p:sp>
        <p:nvSpPr>
          <p:cNvPr id="131074" name="Rectangle 2"/>
          <p:cNvSpPr>
            <a:spLocks noGrp="1" noRot="1" noChangeAspect="1" noChangeArrowheads="1" noTextEdit="1"/>
          </p:cNvSpPr>
          <p:nvPr>
            <p:ph type="sldImg"/>
          </p:nvPr>
        </p:nvSpPr>
        <p:spPr>
          <a:ln/>
        </p:spPr>
      </p:sp>
      <p:sp>
        <p:nvSpPr>
          <p:cNvPr id="131075" name="Rectangle 3"/>
          <p:cNvSpPr>
            <a:spLocks noGrp="1" noChangeArrowheads="1"/>
          </p:cNvSpPr>
          <p:nvPr>
            <p:ph type="body" idx="1"/>
          </p:nvPr>
        </p:nvSpPr>
        <p:spPr>
          <a:noFill/>
        </p:spPr>
        <p:txBody>
          <a:bodyPr/>
          <a:lstStyle/>
          <a:p>
            <a:pPr eaLnBrk="1" hangingPunct="1"/>
            <a:r>
              <a:rPr lang="en-AU" smtClean="0"/>
              <a:t>If we look at this spatially and see how the different contaminant plumes move, we see a distinct separation of the plumes by chemical.</a:t>
            </a:r>
            <a:endParaRPr lang="en-US"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7"/>
          <p:cNvSpPr>
            <a:spLocks noGrp="1" noChangeArrowheads="1"/>
          </p:cNvSpPr>
          <p:nvPr>
            <p:ph type="sldNum" sz="quarter" idx="5"/>
          </p:nvPr>
        </p:nvSpPr>
        <p:spPr>
          <a:noFill/>
          <a:ln>
            <a:miter lim="800000"/>
            <a:headEnd/>
            <a:tailEnd/>
          </a:ln>
        </p:spPr>
        <p:txBody>
          <a:bodyPr/>
          <a:lstStyle/>
          <a:p>
            <a:fld id="{E54FFD91-70A2-4C5A-96AB-4A2A3CD4F86F}" type="slidenum">
              <a:rPr lang="en-US" smtClean="0"/>
              <a:pPr/>
              <a:t>58</a:t>
            </a:fld>
            <a:endParaRPr lang="en-US" smtClean="0"/>
          </a:p>
        </p:txBody>
      </p:sp>
      <p:sp>
        <p:nvSpPr>
          <p:cNvPr id="133122" name="Rectangle 2"/>
          <p:cNvSpPr>
            <a:spLocks noGrp="1" noRot="1" noChangeAspect="1" noChangeArrowheads="1" noTextEdit="1"/>
          </p:cNvSpPr>
          <p:nvPr>
            <p:ph type="sldImg"/>
          </p:nvPr>
        </p:nvSpPr>
        <p:spPr>
          <a:ln/>
        </p:spPr>
      </p:sp>
      <p:sp>
        <p:nvSpPr>
          <p:cNvPr id="133123" name="Rectangle 3"/>
          <p:cNvSpPr>
            <a:spLocks noGrp="1" noChangeArrowheads="1"/>
          </p:cNvSpPr>
          <p:nvPr>
            <p:ph type="body" idx="1"/>
          </p:nvPr>
        </p:nvSpPr>
        <p:spPr>
          <a:noFill/>
        </p:spPr>
        <p:txBody>
          <a:bodyPr/>
          <a:lstStyle/>
          <a:p>
            <a:pPr eaLnBrk="1" hangingPunct="1"/>
            <a:endParaRPr lang="en-US"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7"/>
          <p:cNvSpPr>
            <a:spLocks noGrp="1" noChangeArrowheads="1"/>
          </p:cNvSpPr>
          <p:nvPr>
            <p:ph type="sldNum" sz="quarter" idx="5"/>
          </p:nvPr>
        </p:nvSpPr>
        <p:spPr>
          <a:noFill/>
          <a:ln>
            <a:miter lim="800000"/>
            <a:headEnd/>
            <a:tailEnd/>
          </a:ln>
        </p:spPr>
        <p:txBody>
          <a:bodyPr/>
          <a:lstStyle/>
          <a:p>
            <a:fld id="{BD538B62-26F6-4950-A4FC-39ECE811CA04}" type="slidenum">
              <a:rPr lang="en-US" smtClean="0"/>
              <a:pPr/>
              <a:t>59</a:t>
            </a:fld>
            <a:endParaRPr lang="en-US" smtClean="0"/>
          </a:p>
        </p:txBody>
      </p:sp>
      <p:sp>
        <p:nvSpPr>
          <p:cNvPr id="135170" name="Rectangle 2"/>
          <p:cNvSpPr>
            <a:spLocks noGrp="1" noRot="1" noChangeAspect="1" noChangeArrowheads="1" noTextEdit="1"/>
          </p:cNvSpPr>
          <p:nvPr>
            <p:ph type="sldImg"/>
          </p:nvPr>
        </p:nvSpPr>
        <p:spPr>
          <a:ln/>
        </p:spPr>
      </p:sp>
      <p:sp>
        <p:nvSpPr>
          <p:cNvPr id="135171" name="Rectangle 3"/>
          <p:cNvSpPr>
            <a:spLocks noGrp="1" noChangeArrowheads="1"/>
          </p:cNvSpPr>
          <p:nvPr>
            <p:ph type="body" idx="1"/>
          </p:nvPr>
        </p:nvSpPr>
        <p:spPr>
          <a:noFill/>
        </p:spPr>
        <p:txBody>
          <a:bodyPr/>
          <a:lstStyle/>
          <a:p>
            <a:pPr eaLnBrk="1" hangingPunct="1"/>
            <a:endParaRPr lang="en-US"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miter lim="800000"/>
            <a:headEnd/>
            <a:tailEnd/>
          </a:ln>
        </p:spPr>
        <p:txBody>
          <a:bodyPr/>
          <a:lstStyle/>
          <a:p>
            <a:fld id="{A586CB49-C7BA-47D9-9CB8-1D595983F178}" type="slidenum">
              <a:rPr lang="en-US" smtClean="0"/>
              <a:pPr/>
              <a:t>60</a:t>
            </a:fld>
            <a:endParaRPr lang="en-US" smtClean="0"/>
          </a:p>
        </p:txBody>
      </p:sp>
      <p:sp>
        <p:nvSpPr>
          <p:cNvPr id="137219" name="Rectangle 2"/>
          <p:cNvSpPr>
            <a:spLocks noGrp="1" noChangeArrowheads="1"/>
          </p:cNvSpPr>
          <p:nvPr>
            <p:ph type="body"/>
          </p:nvPr>
        </p:nvSpPr>
        <p:spPr>
          <a:xfrm>
            <a:off x="709613" y="4860925"/>
            <a:ext cx="5645150" cy="4598988"/>
          </a:xfrm>
          <a:noFill/>
        </p:spPr>
        <p:txBody>
          <a:bodyPr wrap="none" lIns="0" tIns="0" rIns="0" bIns="0" anchor="ctr"/>
          <a:lstStyle/>
          <a:p>
            <a:pPr eaLnBrk="1" hangingPunct="1"/>
            <a:endParaRPr lang="en-US" smtClean="0"/>
          </a:p>
        </p:txBody>
      </p:sp>
      <p:sp>
        <p:nvSpPr>
          <p:cNvPr id="137220" name="Rectangle 4"/>
          <p:cNvSpPr>
            <a:spLocks noGrp="1" noRot="1" noChangeAspect="1" noChangeArrowheads="1" noTextEdit="1"/>
          </p:cNvSpPr>
          <p:nvPr>
            <p:ph type="sldImg"/>
          </p:nvPr>
        </p:nvSpPr>
        <p:spPr>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9266" name="Text Box 1"/>
          <p:cNvSpPr txBox="1">
            <a:spLocks noChangeArrowheads="1"/>
          </p:cNvSpPr>
          <p:nvPr/>
        </p:nvSpPr>
        <p:spPr bwMode="auto">
          <a:xfrm>
            <a:off x="0" y="-7242175"/>
            <a:ext cx="1588" cy="16041688"/>
          </a:xfrm>
          <a:prstGeom prst="rect">
            <a:avLst/>
          </a:prstGeom>
          <a:solidFill>
            <a:srgbClr val="FFFFFF"/>
          </a:solidFill>
          <a:ln w="9360">
            <a:solidFill>
              <a:srgbClr val="000000"/>
            </a:solidFill>
            <a:miter lim="800000"/>
            <a:headEnd/>
            <a:tailEnd/>
          </a:ln>
        </p:spPr>
        <p:txBody>
          <a:bodyPr wrap="none" lIns="99048" tIns="49524" rIns="99048" bIns="49524" anchor="ctr"/>
          <a:lstStyle/>
          <a:p>
            <a:pPr>
              <a:lnSpc>
                <a:spcPct val="31000"/>
              </a:lnSpc>
              <a:buClr>
                <a:srgbClr val="000000"/>
              </a:buClr>
              <a:buSzPct val="100000"/>
              <a:buFont typeface="Times New Roman" pitchFamily="18" charset="0"/>
              <a:buNone/>
            </a:pPr>
            <a:endParaRPr lang="en-US" i="0"/>
          </a:p>
        </p:txBody>
      </p:sp>
      <p:sp>
        <p:nvSpPr>
          <p:cNvPr id="139267" name="Rectangle 2"/>
          <p:cNvSpPr>
            <a:spLocks noGrp="1" noChangeArrowheads="1"/>
          </p:cNvSpPr>
          <p:nvPr>
            <p:ph type="body"/>
          </p:nvPr>
        </p:nvSpPr>
        <p:spPr>
          <a:xfrm>
            <a:off x="709613" y="4860925"/>
            <a:ext cx="5645150" cy="4597400"/>
          </a:xfrm>
          <a:noFill/>
        </p:spPr>
        <p:txBody>
          <a:bodyPr wrap="none" anchor="ctr"/>
          <a:lstStyle/>
          <a:p>
            <a:pPr eaLnBrk="1" hangingPunct="1"/>
            <a:endParaRPr lang="en-US" smtClean="0">
              <a:latin typeface="Times New Roman"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1314" name="Text Box 1"/>
          <p:cNvSpPr txBox="1">
            <a:spLocks noChangeArrowheads="1"/>
          </p:cNvSpPr>
          <p:nvPr/>
        </p:nvSpPr>
        <p:spPr bwMode="auto">
          <a:xfrm>
            <a:off x="4763" y="4763"/>
            <a:ext cx="1587" cy="16041687"/>
          </a:xfrm>
          <a:prstGeom prst="rect">
            <a:avLst/>
          </a:prstGeom>
          <a:solidFill>
            <a:srgbClr val="FFFFFF"/>
          </a:solidFill>
          <a:ln w="9360">
            <a:solidFill>
              <a:srgbClr val="000000"/>
            </a:solidFill>
            <a:miter lim="800000"/>
            <a:headEnd/>
            <a:tailEnd/>
          </a:ln>
        </p:spPr>
        <p:txBody>
          <a:bodyPr wrap="none" lIns="99048" tIns="49524" rIns="99048" bIns="49524" anchor="ctr"/>
          <a:lstStyle/>
          <a:p>
            <a:pPr>
              <a:lnSpc>
                <a:spcPct val="31000"/>
              </a:lnSpc>
              <a:buClr>
                <a:srgbClr val="000000"/>
              </a:buClr>
              <a:buSzPct val="100000"/>
              <a:buFont typeface="Times New Roman" pitchFamily="18" charset="0"/>
              <a:buNone/>
            </a:pPr>
            <a:endParaRPr lang="en-US" i="0"/>
          </a:p>
        </p:txBody>
      </p:sp>
      <p:sp>
        <p:nvSpPr>
          <p:cNvPr id="141315" name="Rectangle 2"/>
          <p:cNvSpPr>
            <a:spLocks noGrp="1" noChangeArrowheads="1"/>
          </p:cNvSpPr>
          <p:nvPr>
            <p:ph type="body"/>
          </p:nvPr>
        </p:nvSpPr>
        <p:spPr>
          <a:xfrm>
            <a:off x="709613" y="4860925"/>
            <a:ext cx="5645150" cy="4597400"/>
          </a:xfrm>
          <a:noFill/>
        </p:spPr>
        <p:txBody>
          <a:bodyPr wrap="none" anchor="ctr"/>
          <a:lstStyle/>
          <a:p>
            <a:pPr eaLnBrk="1" hangingPunct="1"/>
            <a:endParaRPr lang="en-US" smtClean="0">
              <a:latin typeface="Times New Roman"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62" name="Text Box 1"/>
          <p:cNvSpPr txBox="1">
            <a:spLocks noChangeArrowheads="1"/>
          </p:cNvSpPr>
          <p:nvPr/>
        </p:nvSpPr>
        <p:spPr bwMode="auto">
          <a:xfrm>
            <a:off x="4763" y="4763"/>
            <a:ext cx="1587" cy="16041687"/>
          </a:xfrm>
          <a:prstGeom prst="rect">
            <a:avLst/>
          </a:prstGeom>
          <a:solidFill>
            <a:srgbClr val="FFFFFF"/>
          </a:solidFill>
          <a:ln w="9360">
            <a:solidFill>
              <a:srgbClr val="000000"/>
            </a:solidFill>
            <a:miter lim="800000"/>
            <a:headEnd/>
            <a:tailEnd/>
          </a:ln>
        </p:spPr>
        <p:txBody>
          <a:bodyPr wrap="none" lIns="99048" tIns="49524" rIns="99048" bIns="49524" anchor="ctr"/>
          <a:lstStyle/>
          <a:p>
            <a:pPr>
              <a:lnSpc>
                <a:spcPct val="31000"/>
              </a:lnSpc>
              <a:buClr>
                <a:srgbClr val="000000"/>
              </a:buClr>
              <a:buSzPct val="100000"/>
              <a:buFont typeface="Times New Roman" pitchFamily="18" charset="0"/>
              <a:buNone/>
            </a:pPr>
            <a:endParaRPr lang="en-US" i="0"/>
          </a:p>
        </p:txBody>
      </p:sp>
      <p:sp>
        <p:nvSpPr>
          <p:cNvPr id="143363" name="Rectangle 2"/>
          <p:cNvSpPr>
            <a:spLocks noGrp="1" noChangeArrowheads="1"/>
          </p:cNvSpPr>
          <p:nvPr>
            <p:ph type="body"/>
          </p:nvPr>
        </p:nvSpPr>
        <p:spPr>
          <a:xfrm>
            <a:off x="709613" y="4860925"/>
            <a:ext cx="5645150" cy="4597400"/>
          </a:xfrm>
          <a:noFill/>
        </p:spPr>
        <p:txBody>
          <a:bodyPr wrap="none" anchor="ctr"/>
          <a:lstStyle/>
          <a:p>
            <a:pPr eaLnBrk="1" hangingPunct="1"/>
            <a:endParaRPr lang="en-US" smtClean="0">
              <a:latin typeface="Times New Roman"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a:miter lim="800000"/>
            <a:headEnd/>
            <a:tailEnd/>
          </a:ln>
        </p:spPr>
        <p:txBody>
          <a:bodyPr/>
          <a:lstStyle/>
          <a:p>
            <a:fld id="{156C1C2C-B200-4701-A7AD-7B586775D6E4}" type="slidenum">
              <a:rPr lang="en-US" smtClean="0"/>
              <a:pPr/>
              <a:t>64</a:t>
            </a:fld>
            <a:endParaRPr lang="en-US" smtClean="0"/>
          </a:p>
        </p:txBody>
      </p:sp>
      <p:sp>
        <p:nvSpPr>
          <p:cNvPr id="145411" name="Rectangle 2"/>
          <p:cNvSpPr>
            <a:spLocks noGrp="1" noChangeArrowheads="1"/>
          </p:cNvSpPr>
          <p:nvPr>
            <p:ph type="body"/>
          </p:nvPr>
        </p:nvSpPr>
        <p:spPr>
          <a:xfrm>
            <a:off x="709613" y="4860925"/>
            <a:ext cx="5645150" cy="4598988"/>
          </a:xfrm>
          <a:noFill/>
        </p:spPr>
        <p:txBody>
          <a:bodyPr wrap="none" lIns="0" tIns="0" rIns="0" bIns="0" anchor="ctr"/>
          <a:lstStyle/>
          <a:p>
            <a:pPr eaLnBrk="1" hangingPunct="1"/>
            <a:endParaRPr lang="en-US" smtClean="0"/>
          </a:p>
        </p:txBody>
      </p:sp>
      <p:sp>
        <p:nvSpPr>
          <p:cNvPr id="145412" name="Rectangle 4"/>
          <p:cNvSpPr>
            <a:spLocks noGrp="1" noRot="1" noChangeAspect="1" noChangeArrowheads="1" noTextEdit="1"/>
          </p:cNvSpPr>
          <p:nvPr>
            <p:ph type="sldImg"/>
          </p:nvPr>
        </p:nvSpPr>
        <p:spPr>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miter lim="800000"/>
            <a:headEnd/>
            <a:tailEnd/>
          </a:ln>
        </p:spPr>
        <p:txBody>
          <a:bodyPr/>
          <a:lstStyle/>
          <a:p>
            <a:fld id="{F1A5765D-70F7-4359-947B-6D0165776954}" type="slidenum">
              <a:rPr lang="en-US" smtClean="0"/>
              <a:pPr/>
              <a:t>65</a:t>
            </a:fld>
            <a:endParaRPr lang="en-US" smtClean="0"/>
          </a:p>
        </p:txBody>
      </p:sp>
      <p:sp>
        <p:nvSpPr>
          <p:cNvPr id="147459" name="Rectangle 2"/>
          <p:cNvSpPr>
            <a:spLocks noGrp="1" noChangeArrowheads="1"/>
          </p:cNvSpPr>
          <p:nvPr>
            <p:ph type="body"/>
          </p:nvPr>
        </p:nvSpPr>
        <p:spPr>
          <a:xfrm>
            <a:off x="709613" y="4860925"/>
            <a:ext cx="5645150" cy="4598988"/>
          </a:xfrm>
          <a:noFill/>
        </p:spPr>
        <p:txBody>
          <a:bodyPr wrap="none" lIns="0" tIns="0" rIns="0" bIns="0" anchor="ctr"/>
          <a:lstStyle/>
          <a:p>
            <a:pPr eaLnBrk="1" hangingPunct="1"/>
            <a:endParaRPr lang="en-US" smtClean="0"/>
          </a:p>
        </p:txBody>
      </p:sp>
      <p:sp>
        <p:nvSpPr>
          <p:cNvPr id="147460" name="Rectangle 4"/>
          <p:cNvSpPr>
            <a:spLocks noGrp="1" noRot="1" noChangeAspect="1" noChangeArrowheads="1" noTextEdit="1"/>
          </p:cNvSpPr>
          <p:nvPr>
            <p:ph type="sldImg"/>
          </p:nvPr>
        </p:nvSpPr>
        <p:spPr>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38150" y="1876425"/>
            <a:ext cx="4232275" cy="4600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822825" y="1876425"/>
            <a:ext cx="4233863" cy="4600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02450" y="806450"/>
            <a:ext cx="2154238" cy="5670550"/>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38150" y="806450"/>
            <a:ext cx="6311900" cy="56705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38150" y="806450"/>
            <a:ext cx="8440738" cy="493713"/>
          </a:xfrm>
        </p:spPr>
        <p:txBody>
          <a:bodyPr/>
          <a:lstStyle/>
          <a:p>
            <a:r>
              <a:rPr lang="en-US" smtClean="0"/>
              <a:t>Click to edit Master title style</a:t>
            </a:r>
            <a:endParaRPr lang="en-AU"/>
          </a:p>
        </p:txBody>
      </p:sp>
      <p:sp>
        <p:nvSpPr>
          <p:cNvPr id="3" name="Table Placeholder 2"/>
          <p:cNvSpPr>
            <a:spLocks noGrp="1"/>
          </p:cNvSpPr>
          <p:nvPr>
            <p:ph type="tbl" idx="1"/>
          </p:nvPr>
        </p:nvSpPr>
        <p:spPr>
          <a:xfrm>
            <a:off x="438150" y="1876425"/>
            <a:ext cx="8618538" cy="4600575"/>
          </a:xfrm>
        </p:spPr>
        <p:txBody>
          <a:bodyPr/>
          <a:lstStyle/>
          <a:p>
            <a:pPr lvl="0"/>
            <a:endParaRPr lang="en-AU"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1"/>
          <p:cNvPicPr>
            <a:picLocks noChangeAspect="1" noChangeArrowheads="1"/>
          </p:cNvPicPr>
          <p:nvPr/>
        </p:nvPicPr>
        <p:blipFill>
          <a:blip r:embed="rId14"/>
          <a:srcRect/>
          <a:stretch>
            <a:fillRect/>
          </a:stretch>
        </p:blipFill>
        <p:spPr bwMode="auto">
          <a:xfrm>
            <a:off x="4691063" y="187325"/>
            <a:ext cx="4278312" cy="6481763"/>
          </a:xfrm>
          <a:prstGeom prst="rect">
            <a:avLst/>
          </a:prstGeom>
          <a:noFill/>
          <a:ln w="9525">
            <a:noFill/>
            <a:miter lim="800000"/>
            <a:headEnd/>
            <a:tailEnd/>
          </a:ln>
        </p:spPr>
      </p:pic>
      <p:sp>
        <p:nvSpPr>
          <p:cNvPr id="2" name="Freeform 2"/>
          <p:cNvSpPr>
            <a:spLocks noChangeArrowheads="1"/>
          </p:cNvSpPr>
          <p:nvPr/>
        </p:nvSpPr>
        <p:spPr bwMode="auto">
          <a:xfrm>
            <a:off x="5511800" y="187325"/>
            <a:ext cx="3155950" cy="6484938"/>
          </a:xfrm>
          <a:custGeom>
            <a:avLst/>
            <a:gdLst/>
            <a:ahLst/>
            <a:cxnLst>
              <a:cxn ang="0">
                <a:pos x="1357" y="1828"/>
              </a:cxn>
              <a:cxn ang="0">
                <a:pos x="1356" y="1748"/>
              </a:cxn>
              <a:cxn ang="0">
                <a:pos x="1350" y="1670"/>
              </a:cxn>
              <a:cxn ang="0">
                <a:pos x="1342" y="1592"/>
              </a:cxn>
              <a:cxn ang="0">
                <a:pos x="1330" y="1517"/>
              </a:cxn>
              <a:cxn ang="0">
                <a:pos x="1316" y="1441"/>
              </a:cxn>
              <a:cxn ang="0">
                <a:pos x="1299" y="1367"/>
              </a:cxn>
              <a:cxn ang="0">
                <a:pos x="1279" y="1294"/>
              </a:cxn>
              <a:cxn ang="0">
                <a:pos x="1256" y="1221"/>
              </a:cxn>
              <a:cxn ang="0">
                <a:pos x="1230" y="1150"/>
              </a:cxn>
              <a:cxn ang="0">
                <a:pos x="1201" y="1080"/>
              </a:cxn>
              <a:cxn ang="0">
                <a:pos x="1170" y="1012"/>
              </a:cxn>
              <a:cxn ang="0">
                <a:pos x="1136" y="946"/>
              </a:cxn>
              <a:cxn ang="0">
                <a:pos x="1099" y="880"/>
              </a:cxn>
              <a:cxn ang="0">
                <a:pos x="1060" y="816"/>
              </a:cxn>
              <a:cxn ang="0">
                <a:pos x="1018" y="754"/>
              </a:cxn>
              <a:cxn ang="0">
                <a:pos x="975" y="694"/>
              </a:cxn>
              <a:cxn ang="0">
                <a:pos x="880" y="577"/>
              </a:cxn>
              <a:cxn ang="0">
                <a:pos x="777" y="469"/>
              </a:cxn>
              <a:cxn ang="0">
                <a:pos x="665" y="369"/>
              </a:cxn>
              <a:cxn ang="0">
                <a:pos x="547" y="276"/>
              </a:cxn>
              <a:cxn ang="0">
                <a:pos x="419" y="192"/>
              </a:cxn>
              <a:cxn ang="0">
                <a:pos x="321" y="136"/>
              </a:cxn>
              <a:cxn ang="0">
                <a:pos x="253" y="101"/>
              </a:cxn>
              <a:cxn ang="0">
                <a:pos x="183" y="70"/>
              </a:cxn>
              <a:cxn ang="0">
                <a:pos x="111" y="40"/>
              </a:cxn>
              <a:cxn ang="0">
                <a:pos x="39" y="12"/>
              </a:cxn>
              <a:cxn ang="0">
                <a:pos x="0" y="0"/>
              </a:cxn>
              <a:cxn ang="0">
                <a:pos x="1092" y="2789"/>
              </a:cxn>
              <a:cxn ang="0">
                <a:pos x="1122" y="2736"/>
              </a:cxn>
              <a:cxn ang="0">
                <a:pos x="1178" y="2625"/>
              </a:cxn>
              <a:cxn ang="0">
                <a:pos x="1227" y="2511"/>
              </a:cxn>
              <a:cxn ang="0">
                <a:pos x="1269" y="2394"/>
              </a:cxn>
              <a:cxn ang="0">
                <a:pos x="1303" y="2273"/>
              </a:cxn>
              <a:cxn ang="0">
                <a:pos x="1329" y="2149"/>
              </a:cxn>
              <a:cxn ang="0">
                <a:pos x="1347" y="2022"/>
              </a:cxn>
              <a:cxn ang="0">
                <a:pos x="1356" y="1892"/>
              </a:cxn>
              <a:cxn ang="0">
                <a:pos x="1357" y="1828"/>
              </a:cxn>
            </a:cxnLst>
            <a:rect l="0" t="0" r="r" b="b"/>
            <a:pathLst>
              <a:path w="1357" h="2789">
                <a:moveTo>
                  <a:pt x="1357" y="1828"/>
                </a:moveTo>
                <a:lnTo>
                  <a:pt x="1357" y="1828"/>
                </a:lnTo>
                <a:lnTo>
                  <a:pt x="1357" y="1788"/>
                </a:lnTo>
                <a:lnTo>
                  <a:pt x="1356" y="1748"/>
                </a:lnTo>
                <a:lnTo>
                  <a:pt x="1353" y="1709"/>
                </a:lnTo>
                <a:lnTo>
                  <a:pt x="1350" y="1670"/>
                </a:lnTo>
                <a:lnTo>
                  <a:pt x="1346" y="1632"/>
                </a:lnTo>
                <a:lnTo>
                  <a:pt x="1342" y="1592"/>
                </a:lnTo>
                <a:lnTo>
                  <a:pt x="1336" y="1554"/>
                </a:lnTo>
                <a:lnTo>
                  <a:pt x="1330" y="1517"/>
                </a:lnTo>
                <a:lnTo>
                  <a:pt x="1324" y="1478"/>
                </a:lnTo>
                <a:lnTo>
                  <a:pt x="1316" y="1441"/>
                </a:lnTo>
                <a:lnTo>
                  <a:pt x="1309" y="1404"/>
                </a:lnTo>
                <a:lnTo>
                  <a:pt x="1299" y="1367"/>
                </a:lnTo>
                <a:lnTo>
                  <a:pt x="1290" y="1330"/>
                </a:lnTo>
                <a:lnTo>
                  <a:pt x="1279" y="1294"/>
                </a:lnTo>
                <a:lnTo>
                  <a:pt x="1268" y="1257"/>
                </a:lnTo>
                <a:lnTo>
                  <a:pt x="1256" y="1221"/>
                </a:lnTo>
                <a:lnTo>
                  <a:pt x="1243" y="1186"/>
                </a:lnTo>
                <a:lnTo>
                  <a:pt x="1230" y="1150"/>
                </a:lnTo>
                <a:lnTo>
                  <a:pt x="1216" y="1115"/>
                </a:lnTo>
                <a:lnTo>
                  <a:pt x="1201" y="1080"/>
                </a:lnTo>
                <a:lnTo>
                  <a:pt x="1186" y="1047"/>
                </a:lnTo>
                <a:lnTo>
                  <a:pt x="1170" y="1012"/>
                </a:lnTo>
                <a:lnTo>
                  <a:pt x="1153" y="978"/>
                </a:lnTo>
                <a:lnTo>
                  <a:pt x="1136" y="946"/>
                </a:lnTo>
                <a:lnTo>
                  <a:pt x="1118" y="912"/>
                </a:lnTo>
                <a:lnTo>
                  <a:pt x="1099" y="880"/>
                </a:lnTo>
                <a:lnTo>
                  <a:pt x="1080" y="849"/>
                </a:lnTo>
                <a:lnTo>
                  <a:pt x="1060" y="816"/>
                </a:lnTo>
                <a:lnTo>
                  <a:pt x="1040" y="785"/>
                </a:lnTo>
                <a:lnTo>
                  <a:pt x="1018" y="754"/>
                </a:lnTo>
                <a:lnTo>
                  <a:pt x="997" y="724"/>
                </a:lnTo>
                <a:lnTo>
                  <a:pt x="975" y="694"/>
                </a:lnTo>
                <a:lnTo>
                  <a:pt x="928" y="635"/>
                </a:lnTo>
                <a:lnTo>
                  <a:pt x="880" y="577"/>
                </a:lnTo>
                <a:lnTo>
                  <a:pt x="830" y="522"/>
                </a:lnTo>
                <a:lnTo>
                  <a:pt x="777" y="469"/>
                </a:lnTo>
                <a:lnTo>
                  <a:pt x="722" y="418"/>
                </a:lnTo>
                <a:lnTo>
                  <a:pt x="665" y="369"/>
                </a:lnTo>
                <a:lnTo>
                  <a:pt x="607" y="322"/>
                </a:lnTo>
                <a:lnTo>
                  <a:pt x="547" y="276"/>
                </a:lnTo>
                <a:lnTo>
                  <a:pt x="484" y="233"/>
                </a:lnTo>
                <a:lnTo>
                  <a:pt x="419" y="192"/>
                </a:lnTo>
                <a:lnTo>
                  <a:pt x="353" y="155"/>
                </a:lnTo>
                <a:lnTo>
                  <a:pt x="321" y="136"/>
                </a:lnTo>
                <a:lnTo>
                  <a:pt x="286" y="119"/>
                </a:lnTo>
                <a:lnTo>
                  <a:pt x="253" y="101"/>
                </a:lnTo>
                <a:lnTo>
                  <a:pt x="218" y="86"/>
                </a:lnTo>
                <a:lnTo>
                  <a:pt x="183" y="70"/>
                </a:lnTo>
                <a:lnTo>
                  <a:pt x="147" y="54"/>
                </a:lnTo>
                <a:lnTo>
                  <a:pt x="111" y="40"/>
                </a:lnTo>
                <a:lnTo>
                  <a:pt x="75" y="26"/>
                </a:lnTo>
                <a:lnTo>
                  <a:pt x="39" y="12"/>
                </a:lnTo>
                <a:lnTo>
                  <a:pt x="2" y="0"/>
                </a:lnTo>
                <a:lnTo>
                  <a:pt x="0" y="0"/>
                </a:lnTo>
                <a:lnTo>
                  <a:pt x="0" y="2789"/>
                </a:lnTo>
                <a:lnTo>
                  <a:pt x="1092" y="2789"/>
                </a:lnTo>
                <a:lnTo>
                  <a:pt x="1092" y="2789"/>
                </a:lnTo>
                <a:lnTo>
                  <a:pt x="1122" y="2736"/>
                </a:lnTo>
                <a:lnTo>
                  <a:pt x="1150" y="2681"/>
                </a:lnTo>
                <a:lnTo>
                  <a:pt x="1178" y="2625"/>
                </a:lnTo>
                <a:lnTo>
                  <a:pt x="1204" y="2569"/>
                </a:lnTo>
                <a:lnTo>
                  <a:pt x="1227" y="2511"/>
                </a:lnTo>
                <a:lnTo>
                  <a:pt x="1249" y="2453"/>
                </a:lnTo>
                <a:lnTo>
                  <a:pt x="1269" y="2394"/>
                </a:lnTo>
                <a:lnTo>
                  <a:pt x="1287" y="2334"/>
                </a:lnTo>
                <a:lnTo>
                  <a:pt x="1303" y="2273"/>
                </a:lnTo>
                <a:lnTo>
                  <a:pt x="1317" y="2212"/>
                </a:lnTo>
                <a:lnTo>
                  <a:pt x="1329" y="2149"/>
                </a:lnTo>
                <a:lnTo>
                  <a:pt x="1339" y="2086"/>
                </a:lnTo>
                <a:lnTo>
                  <a:pt x="1347" y="2022"/>
                </a:lnTo>
                <a:lnTo>
                  <a:pt x="1352" y="1958"/>
                </a:lnTo>
                <a:lnTo>
                  <a:pt x="1356" y="1892"/>
                </a:lnTo>
                <a:lnTo>
                  <a:pt x="1357" y="1828"/>
                </a:lnTo>
                <a:lnTo>
                  <a:pt x="1357" y="1828"/>
                </a:lnTo>
                <a:close/>
              </a:path>
            </a:pathLst>
          </a:custGeom>
          <a:solidFill>
            <a:srgbClr val="FFF5C8"/>
          </a:solidFill>
          <a:ln w="9525">
            <a:noFill/>
            <a:round/>
            <a:headEnd/>
            <a:tailEnd/>
          </a:ln>
          <a:effectLst/>
        </p:spPr>
        <p:txBody>
          <a:bodyPr wrap="none" anchor="ctr"/>
          <a:lstStyle/>
          <a:p>
            <a:pPr>
              <a:lnSpc>
                <a:spcPct val="31000"/>
              </a:lnSpc>
              <a:buClr>
                <a:srgbClr val="000000"/>
              </a:buClr>
              <a:buSzPct val="100000"/>
              <a:buFont typeface="Times New Roman" pitchFamily="18" charset="0"/>
              <a:buNone/>
              <a:defRPr/>
            </a:pPr>
            <a:endParaRPr lang="en-US" i="0"/>
          </a:p>
        </p:txBody>
      </p:sp>
      <p:sp>
        <p:nvSpPr>
          <p:cNvPr id="1027" name="Rectangle 3"/>
          <p:cNvSpPr>
            <a:spLocks noChangeArrowheads="1"/>
          </p:cNvSpPr>
          <p:nvPr/>
        </p:nvSpPr>
        <p:spPr bwMode="auto">
          <a:xfrm>
            <a:off x="250825" y="187325"/>
            <a:ext cx="5270500" cy="6475413"/>
          </a:xfrm>
          <a:prstGeom prst="rect">
            <a:avLst/>
          </a:prstGeom>
          <a:solidFill>
            <a:srgbClr val="FFF5C8"/>
          </a:solidFill>
          <a:ln w="3240">
            <a:solidFill>
              <a:srgbClr val="FFF5C8"/>
            </a:solidFill>
            <a:miter lim="800000"/>
            <a:headEnd/>
            <a:tailEnd/>
          </a:ln>
          <a:effectLst/>
        </p:spPr>
        <p:txBody>
          <a:bodyPr wrap="none" anchor="ctr"/>
          <a:lstStyle/>
          <a:p>
            <a:pPr>
              <a:lnSpc>
                <a:spcPct val="31000"/>
              </a:lnSpc>
              <a:buClr>
                <a:srgbClr val="000000"/>
              </a:buClr>
              <a:buSzPct val="100000"/>
              <a:buFont typeface="Times New Roman" pitchFamily="18" charset="0"/>
              <a:buNone/>
              <a:defRPr/>
            </a:pPr>
            <a:endParaRPr lang="en-US" i="0"/>
          </a:p>
        </p:txBody>
      </p:sp>
      <p:sp>
        <p:nvSpPr>
          <p:cNvPr id="1028" name="Rectangle 4"/>
          <p:cNvSpPr>
            <a:spLocks noChangeArrowheads="1"/>
          </p:cNvSpPr>
          <p:nvPr/>
        </p:nvSpPr>
        <p:spPr bwMode="auto">
          <a:xfrm>
            <a:off x="250825" y="187325"/>
            <a:ext cx="5270500" cy="446088"/>
          </a:xfrm>
          <a:prstGeom prst="rect">
            <a:avLst/>
          </a:prstGeom>
          <a:solidFill>
            <a:srgbClr val="186C94"/>
          </a:solidFill>
          <a:ln w="9525">
            <a:noFill/>
            <a:round/>
            <a:headEnd/>
            <a:tailEnd/>
          </a:ln>
          <a:effectLst/>
        </p:spPr>
        <p:txBody>
          <a:bodyPr wrap="none" anchor="ctr"/>
          <a:lstStyle/>
          <a:p>
            <a:pPr>
              <a:lnSpc>
                <a:spcPct val="31000"/>
              </a:lnSpc>
              <a:buClr>
                <a:srgbClr val="000000"/>
              </a:buClr>
              <a:buSzPct val="100000"/>
              <a:buFont typeface="Times New Roman" pitchFamily="18" charset="0"/>
              <a:buNone/>
              <a:defRPr/>
            </a:pPr>
            <a:endParaRPr lang="en-US" i="0"/>
          </a:p>
        </p:txBody>
      </p:sp>
      <p:sp>
        <p:nvSpPr>
          <p:cNvPr id="1029" name="Freeform 5"/>
          <p:cNvSpPr>
            <a:spLocks noChangeArrowheads="1"/>
          </p:cNvSpPr>
          <p:nvPr/>
        </p:nvSpPr>
        <p:spPr bwMode="auto">
          <a:xfrm>
            <a:off x="5511800" y="187325"/>
            <a:ext cx="974725" cy="446088"/>
          </a:xfrm>
          <a:custGeom>
            <a:avLst/>
            <a:gdLst/>
            <a:ahLst/>
            <a:cxnLst>
              <a:cxn ang="0">
                <a:pos x="614" y="281"/>
              </a:cxn>
              <a:cxn ang="0">
                <a:pos x="517" y="227"/>
              </a:cxn>
              <a:cxn ang="0">
                <a:pos x="470" y="199"/>
              </a:cxn>
              <a:cxn ang="0">
                <a:pos x="419" y="174"/>
              </a:cxn>
              <a:cxn ang="0">
                <a:pos x="371" y="148"/>
              </a:cxn>
              <a:cxn ang="0">
                <a:pos x="319" y="126"/>
              </a:cxn>
              <a:cxn ang="0">
                <a:pos x="268" y="102"/>
              </a:cxn>
              <a:cxn ang="0">
                <a:pos x="215" y="79"/>
              </a:cxn>
              <a:cxn ang="0">
                <a:pos x="163" y="59"/>
              </a:cxn>
              <a:cxn ang="0">
                <a:pos x="110" y="38"/>
              </a:cxn>
              <a:cxn ang="0">
                <a:pos x="57" y="18"/>
              </a:cxn>
              <a:cxn ang="0">
                <a:pos x="3" y="0"/>
              </a:cxn>
              <a:cxn ang="0">
                <a:pos x="0" y="0"/>
              </a:cxn>
              <a:cxn ang="0">
                <a:pos x="2" y="281"/>
              </a:cxn>
              <a:cxn ang="0">
                <a:pos x="614" y="281"/>
              </a:cxn>
            </a:cxnLst>
            <a:rect l="0" t="0" r="r" b="b"/>
            <a:pathLst>
              <a:path w="614" h="281">
                <a:moveTo>
                  <a:pt x="614" y="281"/>
                </a:moveTo>
                <a:lnTo>
                  <a:pt x="517" y="227"/>
                </a:lnTo>
                <a:lnTo>
                  <a:pt x="470" y="199"/>
                </a:lnTo>
                <a:lnTo>
                  <a:pt x="419" y="174"/>
                </a:lnTo>
                <a:lnTo>
                  <a:pt x="371" y="148"/>
                </a:lnTo>
                <a:lnTo>
                  <a:pt x="319" y="126"/>
                </a:lnTo>
                <a:lnTo>
                  <a:pt x="268" y="102"/>
                </a:lnTo>
                <a:lnTo>
                  <a:pt x="215" y="79"/>
                </a:lnTo>
                <a:lnTo>
                  <a:pt x="163" y="59"/>
                </a:lnTo>
                <a:lnTo>
                  <a:pt x="110" y="38"/>
                </a:lnTo>
                <a:lnTo>
                  <a:pt x="57" y="18"/>
                </a:lnTo>
                <a:lnTo>
                  <a:pt x="3" y="0"/>
                </a:lnTo>
                <a:lnTo>
                  <a:pt x="0" y="0"/>
                </a:lnTo>
                <a:lnTo>
                  <a:pt x="2" y="281"/>
                </a:lnTo>
                <a:lnTo>
                  <a:pt x="614" y="281"/>
                </a:lnTo>
                <a:close/>
              </a:path>
            </a:pathLst>
          </a:custGeom>
          <a:solidFill>
            <a:srgbClr val="186C94"/>
          </a:solidFill>
          <a:ln w="9525">
            <a:noFill/>
            <a:round/>
            <a:headEnd/>
            <a:tailEnd/>
          </a:ln>
          <a:effectLst/>
        </p:spPr>
        <p:txBody>
          <a:bodyPr wrap="none" anchor="ctr"/>
          <a:lstStyle/>
          <a:p>
            <a:pPr>
              <a:lnSpc>
                <a:spcPct val="31000"/>
              </a:lnSpc>
              <a:buClr>
                <a:srgbClr val="000000"/>
              </a:buClr>
              <a:buSzPct val="100000"/>
              <a:buFont typeface="Times New Roman" pitchFamily="18" charset="0"/>
              <a:buNone/>
              <a:defRPr/>
            </a:pPr>
            <a:endParaRPr lang="en-US" i="0"/>
          </a:p>
        </p:txBody>
      </p:sp>
      <p:sp>
        <p:nvSpPr>
          <p:cNvPr id="1030" name="Freeform 6"/>
          <p:cNvSpPr>
            <a:spLocks noChangeArrowheads="1"/>
          </p:cNvSpPr>
          <p:nvPr/>
        </p:nvSpPr>
        <p:spPr bwMode="auto">
          <a:xfrm>
            <a:off x="7970838" y="1790700"/>
            <a:ext cx="850900" cy="4872038"/>
          </a:xfrm>
          <a:custGeom>
            <a:avLst/>
            <a:gdLst/>
            <a:ahLst/>
            <a:cxnLst>
              <a:cxn ang="0">
                <a:pos x="365" y="1111"/>
              </a:cxn>
              <a:cxn ang="0">
                <a:pos x="359" y="968"/>
              </a:cxn>
              <a:cxn ang="0">
                <a:pos x="343" y="828"/>
              </a:cxn>
              <a:cxn ang="0">
                <a:pos x="317" y="691"/>
              </a:cxn>
              <a:cxn ang="0">
                <a:pos x="281" y="558"/>
              </a:cxn>
              <a:cxn ang="0">
                <a:pos x="281" y="558"/>
              </a:cxn>
              <a:cxn ang="0">
                <a:pos x="281" y="558"/>
              </a:cxn>
              <a:cxn ang="0">
                <a:pos x="258" y="490"/>
              </a:cxn>
              <a:cxn ang="0">
                <a:pos x="258" y="490"/>
              </a:cxn>
              <a:cxn ang="0">
                <a:pos x="246" y="454"/>
              </a:cxn>
              <a:cxn ang="0">
                <a:pos x="218" y="385"/>
              </a:cxn>
              <a:cxn ang="0">
                <a:pos x="187" y="317"/>
              </a:cxn>
              <a:cxn ang="0">
                <a:pos x="155" y="250"/>
              </a:cxn>
              <a:cxn ang="0">
                <a:pos x="137" y="217"/>
              </a:cxn>
              <a:cxn ang="0">
                <a:pos x="137" y="215"/>
              </a:cxn>
              <a:cxn ang="0">
                <a:pos x="136" y="215"/>
              </a:cxn>
              <a:cxn ang="0">
                <a:pos x="136" y="215"/>
              </a:cxn>
              <a:cxn ang="0">
                <a:pos x="86" y="129"/>
              </a:cxn>
              <a:cxn ang="0">
                <a:pos x="32" y="46"/>
              </a:cxn>
              <a:cxn ang="0">
                <a:pos x="32" y="46"/>
              </a:cxn>
              <a:cxn ang="0">
                <a:pos x="32" y="45"/>
              </a:cxn>
              <a:cxn ang="0">
                <a:pos x="31" y="43"/>
              </a:cxn>
              <a:cxn ang="0">
                <a:pos x="0" y="0"/>
              </a:cxn>
              <a:cxn ang="0">
                <a:pos x="0" y="0"/>
              </a:cxn>
              <a:cxn ang="0">
                <a:pos x="24" y="36"/>
              </a:cxn>
              <a:cxn ang="0">
                <a:pos x="71" y="112"/>
              </a:cxn>
              <a:cxn ang="0">
                <a:pos x="94" y="149"/>
              </a:cxn>
              <a:cxn ang="0">
                <a:pos x="95" y="153"/>
              </a:cxn>
              <a:cxn ang="0">
                <a:pos x="131" y="216"/>
              </a:cxn>
              <a:cxn ang="0">
                <a:pos x="174" y="299"/>
              </a:cxn>
              <a:cxn ang="0">
                <a:pos x="212" y="383"/>
              </a:cxn>
              <a:cxn ang="0">
                <a:pos x="246" y="471"/>
              </a:cxn>
              <a:cxn ang="0">
                <a:pos x="276" y="559"/>
              </a:cxn>
              <a:cxn ang="0">
                <a:pos x="276" y="558"/>
              </a:cxn>
              <a:cxn ang="0">
                <a:pos x="276" y="559"/>
              </a:cxn>
              <a:cxn ang="0">
                <a:pos x="296" y="629"/>
              </a:cxn>
              <a:cxn ang="0">
                <a:pos x="311" y="687"/>
              </a:cxn>
              <a:cxn ang="0">
                <a:pos x="335" y="805"/>
              </a:cxn>
              <a:cxn ang="0">
                <a:pos x="350" y="926"/>
              </a:cxn>
              <a:cxn ang="0">
                <a:pos x="359" y="1050"/>
              </a:cxn>
              <a:cxn ang="0">
                <a:pos x="360" y="1111"/>
              </a:cxn>
              <a:cxn ang="0">
                <a:pos x="355" y="1246"/>
              </a:cxn>
              <a:cxn ang="0">
                <a:pos x="341" y="1378"/>
              </a:cxn>
              <a:cxn ang="0">
                <a:pos x="318" y="1507"/>
              </a:cxn>
              <a:cxn ang="0">
                <a:pos x="286" y="1632"/>
              </a:cxn>
              <a:cxn ang="0">
                <a:pos x="246" y="1755"/>
              </a:cxn>
              <a:cxn ang="0">
                <a:pos x="197" y="1874"/>
              </a:cxn>
              <a:cxn ang="0">
                <a:pos x="142" y="1988"/>
              </a:cxn>
              <a:cxn ang="0">
                <a:pos x="78" y="2099"/>
              </a:cxn>
              <a:cxn ang="0">
                <a:pos x="84" y="2099"/>
              </a:cxn>
              <a:cxn ang="0">
                <a:pos x="146" y="1988"/>
              </a:cxn>
              <a:cxn ang="0">
                <a:pos x="203" y="1874"/>
              </a:cxn>
              <a:cxn ang="0">
                <a:pos x="251" y="1754"/>
              </a:cxn>
              <a:cxn ang="0">
                <a:pos x="290" y="1632"/>
              </a:cxn>
              <a:cxn ang="0">
                <a:pos x="323" y="1506"/>
              </a:cxn>
              <a:cxn ang="0">
                <a:pos x="346" y="1378"/>
              </a:cxn>
              <a:cxn ang="0">
                <a:pos x="360" y="1246"/>
              </a:cxn>
              <a:cxn ang="0">
                <a:pos x="365" y="1111"/>
              </a:cxn>
            </a:cxnLst>
            <a:rect l="0" t="0" r="r" b="b"/>
            <a:pathLst>
              <a:path w="365" h="2099">
                <a:moveTo>
                  <a:pt x="365" y="1111"/>
                </a:moveTo>
                <a:lnTo>
                  <a:pt x="365" y="1111"/>
                </a:lnTo>
                <a:lnTo>
                  <a:pt x="364" y="1040"/>
                </a:lnTo>
                <a:lnTo>
                  <a:pt x="359" y="968"/>
                </a:lnTo>
                <a:lnTo>
                  <a:pt x="353" y="898"/>
                </a:lnTo>
                <a:lnTo>
                  <a:pt x="343" y="828"/>
                </a:lnTo>
                <a:lnTo>
                  <a:pt x="331" y="760"/>
                </a:lnTo>
                <a:lnTo>
                  <a:pt x="317" y="691"/>
                </a:lnTo>
                <a:lnTo>
                  <a:pt x="300" y="624"/>
                </a:lnTo>
                <a:lnTo>
                  <a:pt x="281" y="558"/>
                </a:lnTo>
                <a:lnTo>
                  <a:pt x="281" y="558"/>
                </a:lnTo>
                <a:lnTo>
                  <a:pt x="281" y="558"/>
                </a:lnTo>
                <a:lnTo>
                  <a:pt x="281" y="558"/>
                </a:lnTo>
                <a:lnTo>
                  <a:pt x="281" y="558"/>
                </a:lnTo>
                <a:lnTo>
                  <a:pt x="281" y="558"/>
                </a:lnTo>
                <a:lnTo>
                  <a:pt x="258" y="490"/>
                </a:lnTo>
                <a:lnTo>
                  <a:pt x="258" y="490"/>
                </a:lnTo>
                <a:lnTo>
                  <a:pt x="258" y="490"/>
                </a:lnTo>
                <a:lnTo>
                  <a:pt x="258" y="490"/>
                </a:lnTo>
                <a:lnTo>
                  <a:pt x="246" y="454"/>
                </a:lnTo>
                <a:lnTo>
                  <a:pt x="232" y="419"/>
                </a:lnTo>
                <a:lnTo>
                  <a:pt x="218" y="385"/>
                </a:lnTo>
                <a:lnTo>
                  <a:pt x="203" y="351"/>
                </a:lnTo>
                <a:lnTo>
                  <a:pt x="187" y="317"/>
                </a:lnTo>
                <a:lnTo>
                  <a:pt x="172" y="283"/>
                </a:lnTo>
                <a:lnTo>
                  <a:pt x="155" y="250"/>
                </a:lnTo>
                <a:lnTo>
                  <a:pt x="137" y="217"/>
                </a:lnTo>
                <a:lnTo>
                  <a:pt x="137" y="217"/>
                </a:lnTo>
                <a:lnTo>
                  <a:pt x="137" y="217"/>
                </a:lnTo>
                <a:lnTo>
                  <a:pt x="137" y="215"/>
                </a:lnTo>
                <a:lnTo>
                  <a:pt x="137" y="215"/>
                </a:lnTo>
                <a:lnTo>
                  <a:pt x="136" y="215"/>
                </a:lnTo>
                <a:lnTo>
                  <a:pt x="136" y="215"/>
                </a:lnTo>
                <a:lnTo>
                  <a:pt x="136" y="215"/>
                </a:lnTo>
                <a:lnTo>
                  <a:pt x="112" y="172"/>
                </a:lnTo>
                <a:lnTo>
                  <a:pt x="86" y="129"/>
                </a:lnTo>
                <a:lnTo>
                  <a:pt x="60" y="88"/>
                </a:lnTo>
                <a:lnTo>
                  <a:pt x="32" y="46"/>
                </a:lnTo>
                <a:lnTo>
                  <a:pt x="32" y="46"/>
                </a:lnTo>
                <a:lnTo>
                  <a:pt x="32" y="46"/>
                </a:lnTo>
                <a:lnTo>
                  <a:pt x="32" y="45"/>
                </a:lnTo>
                <a:lnTo>
                  <a:pt x="32" y="45"/>
                </a:lnTo>
                <a:lnTo>
                  <a:pt x="31" y="43"/>
                </a:lnTo>
                <a:lnTo>
                  <a:pt x="31" y="43"/>
                </a:lnTo>
                <a:lnTo>
                  <a:pt x="31" y="43"/>
                </a:lnTo>
                <a:lnTo>
                  <a:pt x="0" y="0"/>
                </a:lnTo>
                <a:lnTo>
                  <a:pt x="0" y="0"/>
                </a:lnTo>
                <a:lnTo>
                  <a:pt x="0" y="0"/>
                </a:lnTo>
                <a:lnTo>
                  <a:pt x="0" y="0"/>
                </a:lnTo>
                <a:lnTo>
                  <a:pt x="24" y="36"/>
                </a:lnTo>
                <a:lnTo>
                  <a:pt x="48" y="73"/>
                </a:lnTo>
                <a:lnTo>
                  <a:pt x="71" y="112"/>
                </a:lnTo>
                <a:lnTo>
                  <a:pt x="94" y="149"/>
                </a:lnTo>
                <a:lnTo>
                  <a:pt x="94" y="149"/>
                </a:lnTo>
                <a:lnTo>
                  <a:pt x="95" y="153"/>
                </a:lnTo>
                <a:lnTo>
                  <a:pt x="95" y="153"/>
                </a:lnTo>
                <a:lnTo>
                  <a:pt x="131" y="216"/>
                </a:lnTo>
                <a:lnTo>
                  <a:pt x="131" y="216"/>
                </a:lnTo>
                <a:lnTo>
                  <a:pt x="152" y="257"/>
                </a:lnTo>
                <a:lnTo>
                  <a:pt x="174" y="299"/>
                </a:lnTo>
                <a:lnTo>
                  <a:pt x="193" y="341"/>
                </a:lnTo>
                <a:lnTo>
                  <a:pt x="212" y="383"/>
                </a:lnTo>
                <a:lnTo>
                  <a:pt x="229" y="426"/>
                </a:lnTo>
                <a:lnTo>
                  <a:pt x="246" y="471"/>
                </a:lnTo>
                <a:lnTo>
                  <a:pt x="262" y="515"/>
                </a:lnTo>
                <a:lnTo>
                  <a:pt x="276" y="559"/>
                </a:lnTo>
                <a:lnTo>
                  <a:pt x="276" y="559"/>
                </a:lnTo>
                <a:lnTo>
                  <a:pt x="276" y="558"/>
                </a:lnTo>
                <a:lnTo>
                  <a:pt x="276" y="558"/>
                </a:lnTo>
                <a:lnTo>
                  <a:pt x="276" y="559"/>
                </a:lnTo>
                <a:lnTo>
                  <a:pt x="276" y="559"/>
                </a:lnTo>
                <a:lnTo>
                  <a:pt x="296" y="629"/>
                </a:lnTo>
                <a:lnTo>
                  <a:pt x="296" y="629"/>
                </a:lnTo>
                <a:lnTo>
                  <a:pt x="311" y="687"/>
                </a:lnTo>
                <a:lnTo>
                  <a:pt x="324" y="746"/>
                </a:lnTo>
                <a:lnTo>
                  <a:pt x="335" y="805"/>
                </a:lnTo>
                <a:lnTo>
                  <a:pt x="343" y="865"/>
                </a:lnTo>
                <a:lnTo>
                  <a:pt x="350" y="926"/>
                </a:lnTo>
                <a:lnTo>
                  <a:pt x="355" y="988"/>
                </a:lnTo>
                <a:lnTo>
                  <a:pt x="359" y="1050"/>
                </a:lnTo>
                <a:lnTo>
                  <a:pt x="360" y="1111"/>
                </a:lnTo>
                <a:lnTo>
                  <a:pt x="360" y="1111"/>
                </a:lnTo>
                <a:lnTo>
                  <a:pt x="359" y="1180"/>
                </a:lnTo>
                <a:lnTo>
                  <a:pt x="355" y="1246"/>
                </a:lnTo>
                <a:lnTo>
                  <a:pt x="349" y="1312"/>
                </a:lnTo>
                <a:lnTo>
                  <a:pt x="341" y="1378"/>
                </a:lnTo>
                <a:lnTo>
                  <a:pt x="330" y="1442"/>
                </a:lnTo>
                <a:lnTo>
                  <a:pt x="318" y="1507"/>
                </a:lnTo>
                <a:lnTo>
                  <a:pt x="302" y="1570"/>
                </a:lnTo>
                <a:lnTo>
                  <a:pt x="286" y="1632"/>
                </a:lnTo>
                <a:lnTo>
                  <a:pt x="266" y="1694"/>
                </a:lnTo>
                <a:lnTo>
                  <a:pt x="246" y="1755"/>
                </a:lnTo>
                <a:lnTo>
                  <a:pt x="222" y="1814"/>
                </a:lnTo>
                <a:lnTo>
                  <a:pt x="197" y="1874"/>
                </a:lnTo>
                <a:lnTo>
                  <a:pt x="170" y="1932"/>
                </a:lnTo>
                <a:lnTo>
                  <a:pt x="142" y="1988"/>
                </a:lnTo>
                <a:lnTo>
                  <a:pt x="110" y="2045"/>
                </a:lnTo>
                <a:lnTo>
                  <a:pt x="78" y="2099"/>
                </a:lnTo>
                <a:lnTo>
                  <a:pt x="84" y="2099"/>
                </a:lnTo>
                <a:lnTo>
                  <a:pt x="84" y="2099"/>
                </a:lnTo>
                <a:lnTo>
                  <a:pt x="116" y="2045"/>
                </a:lnTo>
                <a:lnTo>
                  <a:pt x="146" y="1988"/>
                </a:lnTo>
                <a:lnTo>
                  <a:pt x="175" y="1932"/>
                </a:lnTo>
                <a:lnTo>
                  <a:pt x="203" y="1874"/>
                </a:lnTo>
                <a:lnTo>
                  <a:pt x="228" y="1814"/>
                </a:lnTo>
                <a:lnTo>
                  <a:pt x="251" y="1754"/>
                </a:lnTo>
                <a:lnTo>
                  <a:pt x="272" y="1694"/>
                </a:lnTo>
                <a:lnTo>
                  <a:pt x="290" y="1632"/>
                </a:lnTo>
                <a:lnTo>
                  <a:pt x="308" y="1570"/>
                </a:lnTo>
                <a:lnTo>
                  <a:pt x="323" y="1506"/>
                </a:lnTo>
                <a:lnTo>
                  <a:pt x="335" y="1442"/>
                </a:lnTo>
                <a:lnTo>
                  <a:pt x="346" y="1378"/>
                </a:lnTo>
                <a:lnTo>
                  <a:pt x="354" y="1312"/>
                </a:lnTo>
                <a:lnTo>
                  <a:pt x="360" y="1246"/>
                </a:lnTo>
                <a:lnTo>
                  <a:pt x="364" y="1180"/>
                </a:lnTo>
                <a:lnTo>
                  <a:pt x="365" y="1111"/>
                </a:lnTo>
                <a:lnTo>
                  <a:pt x="365" y="1111"/>
                </a:lnTo>
                <a:close/>
              </a:path>
            </a:pathLst>
          </a:custGeom>
          <a:solidFill>
            <a:srgbClr val="FFFF00"/>
          </a:solidFill>
          <a:ln w="9525">
            <a:noFill/>
            <a:round/>
            <a:headEnd/>
            <a:tailEnd/>
          </a:ln>
          <a:effectLst/>
        </p:spPr>
        <p:txBody>
          <a:bodyPr wrap="none" anchor="ctr"/>
          <a:lstStyle/>
          <a:p>
            <a:pPr>
              <a:lnSpc>
                <a:spcPct val="31000"/>
              </a:lnSpc>
              <a:buClr>
                <a:srgbClr val="000000"/>
              </a:buClr>
              <a:buSzPct val="100000"/>
              <a:buFont typeface="Times New Roman" pitchFamily="18" charset="0"/>
              <a:buNone/>
              <a:defRPr/>
            </a:pPr>
            <a:endParaRPr lang="en-US" i="0"/>
          </a:p>
        </p:txBody>
      </p:sp>
      <p:sp>
        <p:nvSpPr>
          <p:cNvPr id="1031" name="Freeform 7"/>
          <p:cNvSpPr>
            <a:spLocks noChangeArrowheads="1"/>
          </p:cNvSpPr>
          <p:nvPr/>
        </p:nvSpPr>
        <p:spPr bwMode="auto">
          <a:xfrm>
            <a:off x="6396038" y="187325"/>
            <a:ext cx="2349500" cy="5192713"/>
          </a:xfrm>
          <a:custGeom>
            <a:avLst/>
            <a:gdLst/>
            <a:ahLst/>
            <a:cxnLst>
              <a:cxn ang="0">
                <a:pos x="424" y="311"/>
              </a:cxn>
              <a:cxn ang="0">
                <a:pos x="329" y="224"/>
              </a:cxn>
              <a:cxn ang="0">
                <a:pos x="228" y="143"/>
              </a:cxn>
              <a:cxn ang="0">
                <a:pos x="121" y="69"/>
              </a:cxn>
              <a:cxn ang="0">
                <a:pos x="10" y="0"/>
              </a:cxn>
              <a:cxn ang="0">
                <a:pos x="0" y="0"/>
              </a:cxn>
              <a:cxn ang="0">
                <a:pos x="113" y="69"/>
              </a:cxn>
              <a:cxn ang="0">
                <a:pos x="222" y="144"/>
              </a:cxn>
              <a:cxn ang="0">
                <a:pos x="324" y="226"/>
              </a:cxn>
              <a:cxn ang="0">
                <a:pos x="421" y="315"/>
              </a:cxn>
              <a:cxn ang="0">
                <a:pos x="454" y="348"/>
              </a:cxn>
              <a:cxn ang="0">
                <a:pos x="518" y="417"/>
              </a:cxn>
              <a:cxn ang="0">
                <a:pos x="580" y="489"/>
              </a:cxn>
              <a:cxn ang="0">
                <a:pos x="637" y="564"/>
              </a:cxn>
              <a:cxn ang="0">
                <a:pos x="690" y="642"/>
              </a:cxn>
              <a:cxn ang="0">
                <a:pos x="741" y="721"/>
              </a:cxn>
              <a:cxn ang="0">
                <a:pos x="786" y="804"/>
              </a:cxn>
              <a:cxn ang="0">
                <a:pos x="828" y="889"/>
              </a:cxn>
              <a:cxn ang="0">
                <a:pos x="867" y="977"/>
              </a:cxn>
              <a:cxn ang="0">
                <a:pos x="900" y="1067"/>
              </a:cxn>
              <a:cxn ang="0">
                <a:pos x="929" y="1158"/>
              </a:cxn>
              <a:cxn ang="0">
                <a:pos x="954" y="1252"/>
              </a:cxn>
              <a:cxn ang="0">
                <a:pos x="973" y="1347"/>
              </a:cxn>
              <a:cxn ang="0">
                <a:pos x="989" y="1442"/>
              </a:cxn>
              <a:cxn ang="0">
                <a:pos x="999" y="1541"/>
              </a:cxn>
              <a:cxn ang="0">
                <a:pos x="1005" y="1640"/>
              </a:cxn>
              <a:cxn ang="0">
                <a:pos x="1005" y="1691"/>
              </a:cxn>
              <a:cxn ang="0">
                <a:pos x="1001" y="1813"/>
              </a:cxn>
              <a:cxn ang="0">
                <a:pos x="989" y="1934"/>
              </a:cxn>
              <a:cxn ang="0">
                <a:pos x="971" y="2053"/>
              </a:cxn>
              <a:cxn ang="0">
                <a:pos x="945" y="2168"/>
              </a:cxn>
              <a:cxn ang="0">
                <a:pos x="930" y="2237"/>
              </a:cxn>
              <a:cxn ang="0">
                <a:pos x="948" y="2172"/>
              </a:cxn>
              <a:cxn ang="0">
                <a:pos x="978" y="2038"/>
              </a:cxn>
              <a:cxn ang="0">
                <a:pos x="999" y="1901"/>
              </a:cxn>
              <a:cxn ang="0">
                <a:pos x="1008" y="1762"/>
              </a:cxn>
              <a:cxn ang="0">
                <a:pos x="1009" y="1691"/>
              </a:cxn>
              <a:cxn ang="0">
                <a:pos x="1007" y="1590"/>
              </a:cxn>
              <a:cxn ang="0">
                <a:pos x="1000" y="1492"/>
              </a:cxn>
              <a:cxn ang="0">
                <a:pos x="987" y="1393"/>
              </a:cxn>
              <a:cxn ang="0">
                <a:pos x="969" y="1297"/>
              </a:cxn>
              <a:cxn ang="0">
                <a:pos x="947" y="1204"/>
              </a:cxn>
              <a:cxn ang="0">
                <a:pos x="919" y="1110"/>
              </a:cxn>
              <a:cxn ang="0">
                <a:pos x="888" y="1020"/>
              </a:cxn>
              <a:cxn ang="0">
                <a:pos x="852" y="931"/>
              </a:cxn>
              <a:cxn ang="0">
                <a:pos x="813" y="845"/>
              </a:cxn>
              <a:cxn ang="0">
                <a:pos x="768" y="761"/>
              </a:cxn>
              <a:cxn ang="0">
                <a:pos x="720" y="679"/>
              </a:cxn>
              <a:cxn ang="0">
                <a:pos x="669" y="600"/>
              </a:cxn>
              <a:cxn ang="0">
                <a:pos x="612" y="523"/>
              </a:cxn>
              <a:cxn ang="0">
                <a:pos x="553" y="449"/>
              </a:cxn>
              <a:cxn ang="0">
                <a:pos x="491" y="378"/>
              </a:cxn>
              <a:cxn ang="0">
                <a:pos x="424" y="311"/>
              </a:cxn>
            </a:cxnLst>
            <a:rect l="0" t="0" r="r" b="b"/>
            <a:pathLst>
              <a:path w="1009" h="2237">
                <a:moveTo>
                  <a:pt x="424" y="311"/>
                </a:moveTo>
                <a:lnTo>
                  <a:pt x="424" y="311"/>
                </a:lnTo>
                <a:lnTo>
                  <a:pt x="377" y="267"/>
                </a:lnTo>
                <a:lnTo>
                  <a:pt x="329" y="224"/>
                </a:lnTo>
                <a:lnTo>
                  <a:pt x="278" y="183"/>
                </a:lnTo>
                <a:lnTo>
                  <a:pt x="228" y="143"/>
                </a:lnTo>
                <a:lnTo>
                  <a:pt x="175" y="105"/>
                </a:lnTo>
                <a:lnTo>
                  <a:pt x="121" y="69"/>
                </a:lnTo>
                <a:lnTo>
                  <a:pt x="66" y="34"/>
                </a:lnTo>
                <a:lnTo>
                  <a:pt x="10" y="0"/>
                </a:lnTo>
                <a:lnTo>
                  <a:pt x="0" y="0"/>
                </a:lnTo>
                <a:lnTo>
                  <a:pt x="0" y="0"/>
                </a:lnTo>
                <a:lnTo>
                  <a:pt x="58" y="34"/>
                </a:lnTo>
                <a:lnTo>
                  <a:pt x="113" y="69"/>
                </a:lnTo>
                <a:lnTo>
                  <a:pt x="168" y="106"/>
                </a:lnTo>
                <a:lnTo>
                  <a:pt x="222" y="144"/>
                </a:lnTo>
                <a:lnTo>
                  <a:pt x="274" y="184"/>
                </a:lnTo>
                <a:lnTo>
                  <a:pt x="324" y="226"/>
                </a:lnTo>
                <a:lnTo>
                  <a:pt x="373" y="269"/>
                </a:lnTo>
                <a:lnTo>
                  <a:pt x="421" y="315"/>
                </a:lnTo>
                <a:lnTo>
                  <a:pt x="421" y="315"/>
                </a:lnTo>
                <a:lnTo>
                  <a:pt x="454" y="348"/>
                </a:lnTo>
                <a:lnTo>
                  <a:pt x="487" y="382"/>
                </a:lnTo>
                <a:lnTo>
                  <a:pt x="518" y="417"/>
                </a:lnTo>
                <a:lnTo>
                  <a:pt x="550" y="453"/>
                </a:lnTo>
                <a:lnTo>
                  <a:pt x="580" y="489"/>
                </a:lnTo>
                <a:lnTo>
                  <a:pt x="608" y="526"/>
                </a:lnTo>
                <a:lnTo>
                  <a:pt x="637" y="564"/>
                </a:lnTo>
                <a:lnTo>
                  <a:pt x="664" y="603"/>
                </a:lnTo>
                <a:lnTo>
                  <a:pt x="690" y="642"/>
                </a:lnTo>
                <a:lnTo>
                  <a:pt x="717" y="682"/>
                </a:lnTo>
                <a:lnTo>
                  <a:pt x="741" y="721"/>
                </a:lnTo>
                <a:lnTo>
                  <a:pt x="765" y="763"/>
                </a:lnTo>
                <a:lnTo>
                  <a:pt x="786" y="804"/>
                </a:lnTo>
                <a:lnTo>
                  <a:pt x="808" y="847"/>
                </a:lnTo>
                <a:lnTo>
                  <a:pt x="828" y="889"/>
                </a:lnTo>
                <a:lnTo>
                  <a:pt x="849" y="934"/>
                </a:lnTo>
                <a:lnTo>
                  <a:pt x="867" y="977"/>
                </a:lnTo>
                <a:lnTo>
                  <a:pt x="883" y="1021"/>
                </a:lnTo>
                <a:lnTo>
                  <a:pt x="900" y="1067"/>
                </a:lnTo>
                <a:lnTo>
                  <a:pt x="916" y="1113"/>
                </a:lnTo>
                <a:lnTo>
                  <a:pt x="929" y="1158"/>
                </a:lnTo>
                <a:lnTo>
                  <a:pt x="942" y="1205"/>
                </a:lnTo>
                <a:lnTo>
                  <a:pt x="954" y="1252"/>
                </a:lnTo>
                <a:lnTo>
                  <a:pt x="965" y="1299"/>
                </a:lnTo>
                <a:lnTo>
                  <a:pt x="973" y="1347"/>
                </a:lnTo>
                <a:lnTo>
                  <a:pt x="982" y="1395"/>
                </a:lnTo>
                <a:lnTo>
                  <a:pt x="989" y="1442"/>
                </a:lnTo>
                <a:lnTo>
                  <a:pt x="995" y="1492"/>
                </a:lnTo>
                <a:lnTo>
                  <a:pt x="999" y="1541"/>
                </a:lnTo>
                <a:lnTo>
                  <a:pt x="1002" y="1591"/>
                </a:lnTo>
                <a:lnTo>
                  <a:pt x="1005" y="1640"/>
                </a:lnTo>
                <a:lnTo>
                  <a:pt x="1005" y="1691"/>
                </a:lnTo>
                <a:lnTo>
                  <a:pt x="1005" y="1691"/>
                </a:lnTo>
                <a:lnTo>
                  <a:pt x="1003" y="1752"/>
                </a:lnTo>
                <a:lnTo>
                  <a:pt x="1001" y="1813"/>
                </a:lnTo>
                <a:lnTo>
                  <a:pt x="996" y="1874"/>
                </a:lnTo>
                <a:lnTo>
                  <a:pt x="989" y="1934"/>
                </a:lnTo>
                <a:lnTo>
                  <a:pt x="981" y="1993"/>
                </a:lnTo>
                <a:lnTo>
                  <a:pt x="971" y="2053"/>
                </a:lnTo>
                <a:lnTo>
                  <a:pt x="958" y="2111"/>
                </a:lnTo>
                <a:lnTo>
                  <a:pt x="945" y="2168"/>
                </a:lnTo>
                <a:lnTo>
                  <a:pt x="945" y="2168"/>
                </a:lnTo>
                <a:lnTo>
                  <a:pt x="930" y="2237"/>
                </a:lnTo>
                <a:lnTo>
                  <a:pt x="930" y="2237"/>
                </a:lnTo>
                <a:lnTo>
                  <a:pt x="948" y="2172"/>
                </a:lnTo>
                <a:lnTo>
                  <a:pt x="965" y="2105"/>
                </a:lnTo>
                <a:lnTo>
                  <a:pt x="978" y="2038"/>
                </a:lnTo>
                <a:lnTo>
                  <a:pt x="989" y="1970"/>
                </a:lnTo>
                <a:lnTo>
                  <a:pt x="999" y="1901"/>
                </a:lnTo>
                <a:lnTo>
                  <a:pt x="1005" y="1832"/>
                </a:lnTo>
                <a:lnTo>
                  <a:pt x="1008" y="1762"/>
                </a:lnTo>
                <a:lnTo>
                  <a:pt x="1009" y="1691"/>
                </a:lnTo>
                <a:lnTo>
                  <a:pt x="1009" y="1691"/>
                </a:lnTo>
                <a:lnTo>
                  <a:pt x="1009" y="1640"/>
                </a:lnTo>
                <a:lnTo>
                  <a:pt x="1007" y="1590"/>
                </a:lnTo>
                <a:lnTo>
                  <a:pt x="1003" y="1541"/>
                </a:lnTo>
                <a:lnTo>
                  <a:pt x="1000" y="1492"/>
                </a:lnTo>
                <a:lnTo>
                  <a:pt x="994" y="1442"/>
                </a:lnTo>
                <a:lnTo>
                  <a:pt x="987" y="1393"/>
                </a:lnTo>
                <a:lnTo>
                  <a:pt x="978" y="1345"/>
                </a:lnTo>
                <a:lnTo>
                  <a:pt x="969" y="1297"/>
                </a:lnTo>
                <a:lnTo>
                  <a:pt x="959" y="1251"/>
                </a:lnTo>
                <a:lnTo>
                  <a:pt x="947" y="1204"/>
                </a:lnTo>
                <a:lnTo>
                  <a:pt x="934" y="1157"/>
                </a:lnTo>
                <a:lnTo>
                  <a:pt x="919" y="1110"/>
                </a:lnTo>
                <a:lnTo>
                  <a:pt x="905" y="1065"/>
                </a:lnTo>
                <a:lnTo>
                  <a:pt x="888" y="1020"/>
                </a:lnTo>
                <a:lnTo>
                  <a:pt x="871" y="976"/>
                </a:lnTo>
                <a:lnTo>
                  <a:pt x="852" y="931"/>
                </a:lnTo>
                <a:lnTo>
                  <a:pt x="833" y="888"/>
                </a:lnTo>
                <a:lnTo>
                  <a:pt x="813" y="845"/>
                </a:lnTo>
                <a:lnTo>
                  <a:pt x="791" y="803"/>
                </a:lnTo>
                <a:lnTo>
                  <a:pt x="768" y="761"/>
                </a:lnTo>
                <a:lnTo>
                  <a:pt x="745" y="719"/>
                </a:lnTo>
                <a:lnTo>
                  <a:pt x="720" y="679"/>
                </a:lnTo>
                <a:lnTo>
                  <a:pt x="695" y="639"/>
                </a:lnTo>
                <a:lnTo>
                  <a:pt x="669" y="600"/>
                </a:lnTo>
                <a:lnTo>
                  <a:pt x="641" y="561"/>
                </a:lnTo>
                <a:lnTo>
                  <a:pt x="612" y="523"/>
                </a:lnTo>
                <a:lnTo>
                  <a:pt x="583" y="486"/>
                </a:lnTo>
                <a:lnTo>
                  <a:pt x="553" y="449"/>
                </a:lnTo>
                <a:lnTo>
                  <a:pt x="522" y="414"/>
                </a:lnTo>
                <a:lnTo>
                  <a:pt x="491" y="378"/>
                </a:lnTo>
                <a:lnTo>
                  <a:pt x="457" y="345"/>
                </a:lnTo>
                <a:lnTo>
                  <a:pt x="424" y="311"/>
                </a:lnTo>
                <a:lnTo>
                  <a:pt x="424" y="311"/>
                </a:lnTo>
                <a:close/>
              </a:path>
            </a:pathLst>
          </a:custGeom>
          <a:solidFill>
            <a:srgbClr val="FFFF00"/>
          </a:solidFill>
          <a:ln w="9525">
            <a:noFill/>
            <a:round/>
            <a:headEnd/>
            <a:tailEnd/>
          </a:ln>
          <a:effectLst/>
        </p:spPr>
        <p:txBody>
          <a:bodyPr wrap="none" anchor="ctr"/>
          <a:lstStyle/>
          <a:p>
            <a:pPr>
              <a:lnSpc>
                <a:spcPct val="31000"/>
              </a:lnSpc>
              <a:buClr>
                <a:srgbClr val="000000"/>
              </a:buClr>
              <a:buSzPct val="100000"/>
              <a:buFont typeface="Times New Roman" pitchFamily="18" charset="0"/>
              <a:buNone/>
              <a:defRPr/>
            </a:pPr>
            <a:endParaRPr lang="en-US" i="0"/>
          </a:p>
        </p:txBody>
      </p:sp>
      <p:sp>
        <p:nvSpPr>
          <p:cNvPr id="1032" name="Freeform 8"/>
          <p:cNvSpPr>
            <a:spLocks noChangeArrowheads="1"/>
          </p:cNvSpPr>
          <p:nvPr/>
        </p:nvSpPr>
        <p:spPr bwMode="auto">
          <a:xfrm>
            <a:off x="5824538" y="187325"/>
            <a:ext cx="2138362" cy="1609725"/>
          </a:xfrm>
          <a:custGeom>
            <a:avLst/>
            <a:gdLst/>
            <a:ahLst/>
            <a:cxnLst>
              <a:cxn ang="0">
                <a:pos x="702" y="435"/>
              </a:cxn>
              <a:cxn ang="0">
                <a:pos x="657" y="393"/>
              </a:cxn>
              <a:cxn ang="0">
                <a:pos x="656" y="392"/>
              </a:cxn>
              <a:cxn ang="0">
                <a:pos x="655" y="390"/>
              </a:cxn>
              <a:cxn ang="0">
                <a:pos x="655" y="390"/>
              </a:cxn>
              <a:cxn ang="0">
                <a:pos x="550" y="303"/>
              </a:cxn>
              <a:cxn ang="0">
                <a:pos x="440" y="222"/>
              </a:cxn>
              <a:cxn ang="0">
                <a:pos x="440" y="222"/>
              </a:cxn>
              <a:cxn ang="0">
                <a:pos x="439" y="221"/>
              </a:cxn>
              <a:cxn ang="0">
                <a:pos x="436" y="220"/>
              </a:cxn>
              <a:cxn ang="0">
                <a:pos x="400" y="196"/>
              </a:cxn>
              <a:cxn ang="0">
                <a:pos x="326" y="150"/>
              </a:cxn>
              <a:cxn ang="0">
                <a:pos x="250" y="107"/>
              </a:cxn>
              <a:cxn ang="0">
                <a:pos x="172" y="69"/>
              </a:cxn>
              <a:cxn ang="0">
                <a:pos x="133" y="50"/>
              </a:cxn>
              <a:cxn ang="0">
                <a:pos x="130" y="48"/>
              </a:cxn>
              <a:cxn ang="0">
                <a:pos x="127" y="47"/>
              </a:cxn>
              <a:cxn ang="0">
                <a:pos x="127" y="47"/>
              </a:cxn>
              <a:cxn ang="0">
                <a:pos x="13" y="0"/>
              </a:cxn>
              <a:cxn ang="0">
                <a:pos x="0" y="0"/>
              </a:cxn>
              <a:cxn ang="0">
                <a:pos x="118" y="48"/>
              </a:cxn>
              <a:cxn ang="0">
                <a:pos x="159" y="68"/>
              </a:cxn>
              <a:cxn ang="0">
                <a:pos x="240" y="107"/>
              </a:cxn>
              <a:cxn ang="0">
                <a:pos x="318" y="150"/>
              </a:cxn>
              <a:cxn ang="0">
                <a:pos x="393" y="197"/>
              </a:cxn>
              <a:cxn ang="0">
                <a:pos x="430" y="221"/>
              </a:cxn>
              <a:cxn ang="0">
                <a:pos x="542" y="303"/>
              </a:cxn>
              <a:cxn ang="0">
                <a:pos x="649" y="392"/>
              </a:cxn>
              <a:cxn ang="0">
                <a:pos x="699" y="438"/>
              </a:cxn>
              <a:cxn ang="0">
                <a:pos x="729" y="468"/>
              </a:cxn>
              <a:cxn ang="0">
                <a:pos x="788" y="531"/>
              </a:cxn>
              <a:cxn ang="0">
                <a:pos x="817" y="563"/>
              </a:cxn>
              <a:cxn ang="0">
                <a:pos x="871" y="627"/>
              </a:cxn>
              <a:cxn ang="0">
                <a:pos x="921" y="693"/>
              </a:cxn>
              <a:cxn ang="0">
                <a:pos x="896" y="657"/>
              </a:cxn>
              <a:cxn ang="0">
                <a:pos x="842" y="587"/>
              </a:cxn>
              <a:cxn ang="0">
                <a:pos x="814" y="553"/>
              </a:cxn>
              <a:cxn ang="0">
                <a:pos x="759" y="492"/>
              </a:cxn>
              <a:cxn ang="0">
                <a:pos x="702" y="435"/>
              </a:cxn>
            </a:cxnLst>
            <a:rect l="0" t="0" r="r" b="b"/>
            <a:pathLst>
              <a:path w="921" h="693">
                <a:moveTo>
                  <a:pt x="702" y="435"/>
                </a:moveTo>
                <a:lnTo>
                  <a:pt x="702" y="435"/>
                </a:lnTo>
                <a:lnTo>
                  <a:pt x="657" y="393"/>
                </a:lnTo>
                <a:lnTo>
                  <a:pt x="657" y="393"/>
                </a:lnTo>
                <a:lnTo>
                  <a:pt x="657" y="393"/>
                </a:lnTo>
                <a:lnTo>
                  <a:pt x="656" y="392"/>
                </a:lnTo>
                <a:lnTo>
                  <a:pt x="656" y="392"/>
                </a:lnTo>
                <a:lnTo>
                  <a:pt x="655" y="390"/>
                </a:lnTo>
                <a:lnTo>
                  <a:pt x="655" y="390"/>
                </a:lnTo>
                <a:lnTo>
                  <a:pt x="655" y="390"/>
                </a:lnTo>
                <a:lnTo>
                  <a:pt x="603" y="346"/>
                </a:lnTo>
                <a:lnTo>
                  <a:pt x="550" y="303"/>
                </a:lnTo>
                <a:lnTo>
                  <a:pt x="496" y="262"/>
                </a:lnTo>
                <a:lnTo>
                  <a:pt x="440" y="222"/>
                </a:lnTo>
                <a:lnTo>
                  <a:pt x="440" y="222"/>
                </a:lnTo>
                <a:lnTo>
                  <a:pt x="440" y="222"/>
                </a:lnTo>
                <a:lnTo>
                  <a:pt x="439" y="221"/>
                </a:lnTo>
                <a:lnTo>
                  <a:pt x="439" y="221"/>
                </a:lnTo>
                <a:lnTo>
                  <a:pt x="436" y="220"/>
                </a:lnTo>
                <a:lnTo>
                  <a:pt x="436" y="220"/>
                </a:lnTo>
                <a:lnTo>
                  <a:pt x="436" y="220"/>
                </a:lnTo>
                <a:lnTo>
                  <a:pt x="400" y="196"/>
                </a:lnTo>
                <a:lnTo>
                  <a:pt x="363" y="172"/>
                </a:lnTo>
                <a:lnTo>
                  <a:pt x="326" y="150"/>
                </a:lnTo>
                <a:lnTo>
                  <a:pt x="289" y="129"/>
                </a:lnTo>
                <a:lnTo>
                  <a:pt x="250" y="107"/>
                </a:lnTo>
                <a:lnTo>
                  <a:pt x="212" y="88"/>
                </a:lnTo>
                <a:lnTo>
                  <a:pt x="172" y="69"/>
                </a:lnTo>
                <a:lnTo>
                  <a:pt x="133" y="50"/>
                </a:lnTo>
                <a:lnTo>
                  <a:pt x="133" y="50"/>
                </a:lnTo>
                <a:lnTo>
                  <a:pt x="133" y="50"/>
                </a:lnTo>
                <a:lnTo>
                  <a:pt x="130" y="48"/>
                </a:lnTo>
                <a:lnTo>
                  <a:pt x="130" y="48"/>
                </a:lnTo>
                <a:lnTo>
                  <a:pt x="127" y="47"/>
                </a:lnTo>
                <a:lnTo>
                  <a:pt x="127" y="47"/>
                </a:lnTo>
                <a:lnTo>
                  <a:pt x="127" y="47"/>
                </a:lnTo>
                <a:lnTo>
                  <a:pt x="70" y="23"/>
                </a:lnTo>
                <a:lnTo>
                  <a:pt x="13" y="0"/>
                </a:lnTo>
                <a:lnTo>
                  <a:pt x="0" y="0"/>
                </a:lnTo>
                <a:lnTo>
                  <a:pt x="0" y="0"/>
                </a:lnTo>
                <a:lnTo>
                  <a:pt x="60" y="23"/>
                </a:lnTo>
                <a:lnTo>
                  <a:pt x="118" y="48"/>
                </a:lnTo>
                <a:lnTo>
                  <a:pt x="118" y="48"/>
                </a:lnTo>
                <a:lnTo>
                  <a:pt x="159" y="68"/>
                </a:lnTo>
                <a:lnTo>
                  <a:pt x="200" y="87"/>
                </a:lnTo>
                <a:lnTo>
                  <a:pt x="240" y="107"/>
                </a:lnTo>
                <a:lnTo>
                  <a:pt x="278" y="129"/>
                </a:lnTo>
                <a:lnTo>
                  <a:pt x="318" y="150"/>
                </a:lnTo>
                <a:lnTo>
                  <a:pt x="356" y="173"/>
                </a:lnTo>
                <a:lnTo>
                  <a:pt x="393" y="197"/>
                </a:lnTo>
                <a:lnTo>
                  <a:pt x="430" y="221"/>
                </a:lnTo>
                <a:lnTo>
                  <a:pt x="430" y="221"/>
                </a:lnTo>
                <a:lnTo>
                  <a:pt x="487" y="261"/>
                </a:lnTo>
                <a:lnTo>
                  <a:pt x="542" y="303"/>
                </a:lnTo>
                <a:lnTo>
                  <a:pt x="596" y="346"/>
                </a:lnTo>
                <a:lnTo>
                  <a:pt x="649" y="392"/>
                </a:lnTo>
                <a:lnTo>
                  <a:pt x="649" y="392"/>
                </a:lnTo>
                <a:lnTo>
                  <a:pt x="699" y="438"/>
                </a:lnTo>
                <a:lnTo>
                  <a:pt x="699" y="438"/>
                </a:lnTo>
                <a:lnTo>
                  <a:pt x="729" y="468"/>
                </a:lnTo>
                <a:lnTo>
                  <a:pt x="759" y="499"/>
                </a:lnTo>
                <a:lnTo>
                  <a:pt x="788" y="531"/>
                </a:lnTo>
                <a:lnTo>
                  <a:pt x="817" y="563"/>
                </a:lnTo>
                <a:lnTo>
                  <a:pt x="817" y="563"/>
                </a:lnTo>
                <a:lnTo>
                  <a:pt x="844" y="594"/>
                </a:lnTo>
                <a:lnTo>
                  <a:pt x="871" y="627"/>
                </a:lnTo>
                <a:lnTo>
                  <a:pt x="896" y="659"/>
                </a:lnTo>
                <a:lnTo>
                  <a:pt x="921" y="693"/>
                </a:lnTo>
                <a:lnTo>
                  <a:pt x="921" y="693"/>
                </a:lnTo>
                <a:lnTo>
                  <a:pt x="896" y="657"/>
                </a:lnTo>
                <a:lnTo>
                  <a:pt x="870" y="622"/>
                </a:lnTo>
                <a:lnTo>
                  <a:pt x="842" y="587"/>
                </a:lnTo>
                <a:lnTo>
                  <a:pt x="814" y="553"/>
                </a:lnTo>
                <a:lnTo>
                  <a:pt x="814" y="553"/>
                </a:lnTo>
                <a:lnTo>
                  <a:pt x="788" y="522"/>
                </a:lnTo>
                <a:lnTo>
                  <a:pt x="759" y="492"/>
                </a:lnTo>
                <a:lnTo>
                  <a:pt x="732" y="464"/>
                </a:lnTo>
                <a:lnTo>
                  <a:pt x="702" y="435"/>
                </a:lnTo>
                <a:lnTo>
                  <a:pt x="702" y="435"/>
                </a:lnTo>
                <a:close/>
              </a:path>
            </a:pathLst>
          </a:custGeom>
          <a:solidFill>
            <a:srgbClr val="FFFF00"/>
          </a:solidFill>
          <a:ln w="9525">
            <a:noFill/>
            <a:round/>
            <a:headEnd/>
            <a:tailEnd/>
          </a:ln>
          <a:effectLst/>
        </p:spPr>
        <p:txBody>
          <a:bodyPr wrap="none" anchor="ctr"/>
          <a:lstStyle/>
          <a:p>
            <a:pPr>
              <a:lnSpc>
                <a:spcPct val="31000"/>
              </a:lnSpc>
              <a:buClr>
                <a:srgbClr val="000000"/>
              </a:buClr>
              <a:buSzPct val="100000"/>
              <a:buFont typeface="Times New Roman" pitchFamily="18" charset="0"/>
              <a:buNone/>
              <a:defRPr/>
            </a:pPr>
            <a:endParaRPr lang="en-US" i="0"/>
          </a:p>
        </p:txBody>
      </p:sp>
      <p:sp>
        <p:nvSpPr>
          <p:cNvPr id="1033" name="Freeform 9"/>
          <p:cNvSpPr>
            <a:spLocks noChangeArrowheads="1"/>
          </p:cNvSpPr>
          <p:nvPr/>
        </p:nvSpPr>
        <p:spPr bwMode="auto">
          <a:xfrm>
            <a:off x="6005513" y="187325"/>
            <a:ext cx="2752725" cy="6475413"/>
          </a:xfrm>
          <a:custGeom>
            <a:avLst/>
            <a:gdLst/>
            <a:ahLst/>
            <a:cxnLst>
              <a:cxn ang="0">
                <a:pos x="931" y="826"/>
              </a:cxn>
              <a:cxn ang="0">
                <a:pos x="941" y="841"/>
              </a:cxn>
              <a:cxn ang="0">
                <a:pos x="937" y="837"/>
              </a:cxn>
              <a:cxn ang="0">
                <a:pos x="893" y="762"/>
              </a:cxn>
              <a:cxn ang="0">
                <a:pos x="846" y="690"/>
              </a:cxn>
              <a:cxn ang="0">
                <a:pos x="846" y="690"/>
              </a:cxn>
              <a:cxn ang="0">
                <a:pos x="789" y="612"/>
              </a:cxn>
              <a:cxn ang="0">
                <a:pos x="698" y="502"/>
              </a:cxn>
              <a:cxn ang="0">
                <a:pos x="600" y="399"/>
              </a:cxn>
              <a:cxn ang="0">
                <a:pos x="535" y="338"/>
              </a:cxn>
              <a:cxn ang="0">
                <a:pos x="433" y="252"/>
              </a:cxn>
              <a:cxn ang="0">
                <a:pos x="325" y="174"/>
              </a:cxn>
              <a:cxn ang="0">
                <a:pos x="212" y="102"/>
              </a:cxn>
              <a:cxn ang="0">
                <a:pos x="93" y="39"/>
              </a:cxn>
              <a:cxn ang="0">
                <a:pos x="0" y="0"/>
              </a:cxn>
              <a:cxn ang="0">
                <a:pos x="83" y="39"/>
              </a:cxn>
              <a:cxn ang="0">
                <a:pos x="203" y="104"/>
              </a:cxn>
              <a:cxn ang="0">
                <a:pos x="318" y="176"/>
              </a:cxn>
              <a:cxn ang="0">
                <a:pos x="427" y="255"/>
              </a:cxn>
              <a:cxn ang="0">
                <a:pos x="530" y="341"/>
              </a:cxn>
              <a:cxn ang="0">
                <a:pos x="596" y="401"/>
              </a:cxn>
              <a:cxn ang="0">
                <a:pos x="703" y="514"/>
              </a:cxn>
              <a:cxn ang="0">
                <a:pos x="763" y="587"/>
              </a:cxn>
              <a:cxn ang="0">
                <a:pos x="842" y="693"/>
              </a:cxn>
              <a:cxn ang="0">
                <a:pos x="918" y="811"/>
              </a:cxn>
              <a:cxn ang="0">
                <a:pos x="1015" y="1001"/>
              </a:cxn>
              <a:cxn ang="0">
                <a:pos x="1092" y="1201"/>
              </a:cxn>
              <a:cxn ang="0">
                <a:pos x="1145" y="1411"/>
              </a:cxn>
              <a:cxn ang="0">
                <a:pos x="1175" y="1628"/>
              </a:cxn>
              <a:cxn ang="0">
                <a:pos x="1181" y="1741"/>
              </a:cxn>
              <a:cxn ang="0">
                <a:pos x="1180" y="1848"/>
              </a:cxn>
              <a:cxn ang="0">
                <a:pos x="1162" y="2051"/>
              </a:cxn>
              <a:cxn ang="0">
                <a:pos x="1122" y="2248"/>
              </a:cxn>
              <a:cxn ang="0">
                <a:pos x="1063" y="2437"/>
              </a:cxn>
              <a:cxn ang="0">
                <a:pos x="986" y="2618"/>
              </a:cxn>
              <a:cxn ang="0">
                <a:pos x="892" y="2789"/>
              </a:cxn>
              <a:cxn ang="0">
                <a:pos x="930" y="2733"/>
              </a:cxn>
              <a:cxn ang="0">
                <a:pos x="1019" y="2559"/>
              </a:cxn>
              <a:cxn ang="0">
                <a:pos x="1091" y="2375"/>
              </a:cxn>
              <a:cxn ang="0">
                <a:pos x="1142" y="2183"/>
              </a:cxn>
              <a:cxn ang="0">
                <a:pos x="1175" y="1984"/>
              </a:cxn>
              <a:cxn ang="0">
                <a:pos x="1186" y="1778"/>
              </a:cxn>
              <a:cxn ang="0">
                <a:pos x="1181" y="1652"/>
              </a:cxn>
              <a:cxn ang="0">
                <a:pos x="1160" y="1466"/>
              </a:cxn>
              <a:cxn ang="0">
                <a:pos x="1122" y="1287"/>
              </a:cxn>
              <a:cxn ang="0">
                <a:pos x="1067" y="1114"/>
              </a:cxn>
              <a:cxn ang="0">
                <a:pos x="996" y="948"/>
              </a:cxn>
              <a:cxn ang="0">
                <a:pos x="941" y="841"/>
              </a:cxn>
              <a:cxn ang="0">
                <a:pos x="770" y="593"/>
              </a:cxn>
              <a:cxn ang="0">
                <a:pos x="780" y="605"/>
              </a:cxn>
              <a:cxn ang="0">
                <a:pos x="762" y="583"/>
              </a:cxn>
              <a:cxn ang="0">
                <a:pos x="737" y="553"/>
              </a:cxn>
            </a:cxnLst>
            <a:rect l="0" t="0" r="r" b="b"/>
            <a:pathLst>
              <a:path w="1186" h="2789">
                <a:moveTo>
                  <a:pt x="941" y="841"/>
                </a:moveTo>
                <a:lnTo>
                  <a:pt x="941" y="841"/>
                </a:lnTo>
                <a:lnTo>
                  <a:pt x="931" y="826"/>
                </a:lnTo>
                <a:lnTo>
                  <a:pt x="931" y="826"/>
                </a:lnTo>
                <a:lnTo>
                  <a:pt x="941" y="841"/>
                </a:lnTo>
                <a:lnTo>
                  <a:pt x="941" y="841"/>
                </a:lnTo>
                <a:lnTo>
                  <a:pt x="940" y="840"/>
                </a:lnTo>
                <a:lnTo>
                  <a:pt x="940" y="840"/>
                </a:lnTo>
                <a:lnTo>
                  <a:pt x="937" y="837"/>
                </a:lnTo>
                <a:lnTo>
                  <a:pt x="937" y="837"/>
                </a:lnTo>
                <a:lnTo>
                  <a:pt x="916" y="799"/>
                </a:lnTo>
                <a:lnTo>
                  <a:pt x="893" y="762"/>
                </a:lnTo>
                <a:lnTo>
                  <a:pt x="870" y="725"/>
                </a:lnTo>
                <a:lnTo>
                  <a:pt x="846" y="690"/>
                </a:lnTo>
                <a:lnTo>
                  <a:pt x="846" y="690"/>
                </a:lnTo>
                <a:lnTo>
                  <a:pt x="844" y="687"/>
                </a:lnTo>
                <a:lnTo>
                  <a:pt x="844" y="687"/>
                </a:lnTo>
                <a:lnTo>
                  <a:pt x="846" y="690"/>
                </a:lnTo>
                <a:lnTo>
                  <a:pt x="846" y="690"/>
                </a:lnTo>
                <a:lnTo>
                  <a:pt x="818" y="651"/>
                </a:lnTo>
                <a:lnTo>
                  <a:pt x="789" y="612"/>
                </a:lnTo>
                <a:lnTo>
                  <a:pt x="761" y="575"/>
                </a:lnTo>
                <a:lnTo>
                  <a:pt x="729" y="538"/>
                </a:lnTo>
                <a:lnTo>
                  <a:pt x="698" y="502"/>
                </a:lnTo>
                <a:lnTo>
                  <a:pt x="667" y="467"/>
                </a:lnTo>
                <a:lnTo>
                  <a:pt x="633" y="432"/>
                </a:lnTo>
                <a:lnTo>
                  <a:pt x="600" y="399"/>
                </a:lnTo>
                <a:lnTo>
                  <a:pt x="600" y="399"/>
                </a:lnTo>
                <a:lnTo>
                  <a:pt x="567" y="368"/>
                </a:lnTo>
                <a:lnTo>
                  <a:pt x="535" y="338"/>
                </a:lnTo>
                <a:lnTo>
                  <a:pt x="501" y="309"/>
                </a:lnTo>
                <a:lnTo>
                  <a:pt x="468" y="280"/>
                </a:lnTo>
                <a:lnTo>
                  <a:pt x="433" y="252"/>
                </a:lnTo>
                <a:lnTo>
                  <a:pt x="397" y="226"/>
                </a:lnTo>
                <a:lnTo>
                  <a:pt x="362" y="200"/>
                </a:lnTo>
                <a:lnTo>
                  <a:pt x="325" y="174"/>
                </a:lnTo>
                <a:lnTo>
                  <a:pt x="288" y="149"/>
                </a:lnTo>
                <a:lnTo>
                  <a:pt x="251" y="126"/>
                </a:lnTo>
                <a:lnTo>
                  <a:pt x="212" y="102"/>
                </a:lnTo>
                <a:lnTo>
                  <a:pt x="173" y="81"/>
                </a:lnTo>
                <a:lnTo>
                  <a:pt x="133" y="59"/>
                </a:lnTo>
                <a:lnTo>
                  <a:pt x="93" y="39"/>
                </a:lnTo>
                <a:lnTo>
                  <a:pt x="53" y="20"/>
                </a:lnTo>
                <a:lnTo>
                  <a:pt x="12" y="0"/>
                </a:lnTo>
                <a:lnTo>
                  <a:pt x="0" y="0"/>
                </a:lnTo>
                <a:lnTo>
                  <a:pt x="0" y="0"/>
                </a:lnTo>
                <a:lnTo>
                  <a:pt x="42" y="20"/>
                </a:lnTo>
                <a:lnTo>
                  <a:pt x="83" y="39"/>
                </a:lnTo>
                <a:lnTo>
                  <a:pt x="123" y="59"/>
                </a:lnTo>
                <a:lnTo>
                  <a:pt x="163" y="81"/>
                </a:lnTo>
                <a:lnTo>
                  <a:pt x="203" y="104"/>
                </a:lnTo>
                <a:lnTo>
                  <a:pt x="242" y="126"/>
                </a:lnTo>
                <a:lnTo>
                  <a:pt x="281" y="150"/>
                </a:lnTo>
                <a:lnTo>
                  <a:pt x="318" y="176"/>
                </a:lnTo>
                <a:lnTo>
                  <a:pt x="355" y="201"/>
                </a:lnTo>
                <a:lnTo>
                  <a:pt x="391" y="227"/>
                </a:lnTo>
                <a:lnTo>
                  <a:pt x="427" y="255"/>
                </a:lnTo>
                <a:lnTo>
                  <a:pt x="463" y="282"/>
                </a:lnTo>
                <a:lnTo>
                  <a:pt x="497" y="311"/>
                </a:lnTo>
                <a:lnTo>
                  <a:pt x="530" y="341"/>
                </a:lnTo>
                <a:lnTo>
                  <a:pt x="564" y="371"/>
                </a:lnTo>
                <a:lnTo>
                  <a:pt x="596" y="401"/>
                </a:lnTo>
                <a:lnTo>
                  <a:pt x="596" y="401"/>
                </a:lnTo>
                <a:lnTo>
                  <a:pt x="632" y="438"/>
                </a:lnTo>
                <a:lnTo>
                  <a:pt x="668" y="475"/>
                </a:lnTo>
                <a:lnTo>
                  <a:pt x="703" y="514"/>
                </a:lnTo>
                <a:lnTo>
                  <a:pt x="735" y="553"/>
                </a:lnTo>
                <a:lnTo>
                  <a:pt x="735" y="553"/>
                </a:lnTo>
                <a:lnTo>
                  <a:pt x="763" y="587"/>
                </a:lnTo>
                <a:lnTo>
                  <a:pt x="791" y="622"/>
                </a:lnTo>
                <a:lnTo>
                  <a:pt x="817" y="657"/>
                </a:lnTo>
                <a:lnTo>
                  <a:pt x="842" y="693"/>
                </a:lnTo>
                <a:lnTo>
                  <a:pt x="842" y="693"/>
                </a:lnTo>
                <a:lnTo>
                  <a:pt x="881" y="751"/>
                </a:lnTo>
                <a:lnTo>
                  <a:pt x="918" y="811"/>
                </a:lnTo>
                <a:lnTo>
                  <a:pt x="953" y="874"/>
                </a:lnTo>
                <a:lnTo>
                  <a:pt x="985" y="936"/>
                </a:lnTo>
                <a:lnTo>
                  <a:pt x="1015" y="1001"/>
                </a:lnTo>
                <a:lnTo>
                  <a:pt x="1043" y="1067"/>
                </a:lnTo>
                <a:lnTo>
                  <a:pt x="1068" y="1133"/>
                </a:lnTo>
                <a:lnTo>
                  <a:pt x="1092" y="1201"/>
                </a:lnTo>
                <a:lnTo>
                  <a:pt x="1112" y="1270"/>
                </a:lnTo>
                <a:lnTo>
                  <a:pt x="1130" y="1341"/>
                </a:lnTo>
                <a:lnTo>
                  <a:pt x="1145" y="1411"/>
                </a:lnTo>
                <a:lnTo>
                  <a:pt x="1158" y="1483"/>
                </a:lnTo>
                <a:lnTo>
                  <a:pt x="1168" y="1555"/>
                </a:lnTo>
                <a:lnTo>
                  <a:pt x="1175" y="1628"/>
                </a:lnTo>
                <a:lnTo>
                  <a:pt x="1177" y="1666"/>
                </a:lnTo>
                <a:lnTo>
                  <a:pt x="1180" y="1703"/>
                </a:lnTo>
                <a:lnTo>
                  <a:pt x="1181" y="1741"/>
                </a:lnTo>
                <a:lnTo>
                  <a:pt x="1181" y="1778"/>
                </a:lnTo>
                <a:lnTo>
                  <a:pt x="1181" y="1778"/>
                </a:lnTo>
                <a:lnTo>
                  <a:pt x="1180" y="1848"/>
                </a:lnTo>
                <a:lnTo>
                  <a:pt x="1176" y="1916"/>
                </a:lnTo>
                <a:lnTo>
                  <a:pt x="1170" y="1984"/>
                </a:lnTo>
                <a:lnTo>
                  <a:pt x="1162" y="2051"/>
                </a:lnTo>
                <a:lnTo>
                  <a:pt x="1151" y="2118"/>
                </a:lnTo>
                <a:lnTo>
                  <a:pt x="1138" y="2183"/>
                </a:lnTo>
                <a:lnTo>
                  <a:pt x="1122" y="2248"/>
                </a:lnTo>
                <a:lnTo>
                  <a:pt x="1105" y="2312"/>
                </a:lnTo>
                <a:lnTo>
                  <a:pt x="1085" y="2375"/>
                </a:lnTo>
                <a:lnTo>
                  <a:pt x="1063" y="2437"/>
                </a:lnTo>
                <a:lnTo>
                  <a:pt x="1039" y="2498"/>
                </a:lnTo>
                <a:lnTo>
                  <a:pt x="1014" y="2559"/>
                </a:lnTo>
                <a:lnTo>
                  <a:pt x="986" y="2618"/>
                </a:lnTo>
                <a:lnTo>
                  <a:pt x="956" y="2676"/>
                </a:lnTo>
                <a:lnTo>
                  <a:pt x="924" y="2733"/>
                </a:lnTo>
                <a:lnTo>
                  <a:pt x="892" y="2789"/>
                </a:lnTo>
                <a:lnTo>
                  <a:pt x="896" y="2789"/>
                </a:lnTo>
                <a:lnTo>
                  <a:pt x="896" y="2789"/>
                </a:lnTo>
                <a:lnTo>
                  <a:pt x="930" y="2733"/>
                </a:lnTo>
                <a:lnTo>
                  <a:pt x="961" y="2676"/>
                </a:lnTo>
                <a:lnTo>
                  <a:pt x="991" y="2618"/>
                </a:lnTo>
                <a:lnTo>
                  <a:pt x="1019" y="2559"/>
                </a:lnTo>
                <a:lnTo>
                  <a:pt x="1045" y="2498"/>
                </a:lnTo>
                <a:lnTo>
                  <a:pt x="1068" y="2437"/>
                </a:lnTo>
                <a:lnTo>
                  <a:pt x="1091" y="2375"/>
                </a:lnTo>
                <a:lnTo>
                  <a:pt x="1110" y="2312"/>
                </a:lnTo>
                <a:lnTo>
                  <a:pt x="1127" y="2248"/>
                </a:lnTo>
                <a:lnTo>
                  <a:pt x="1142" y="2183"/>
                </a:lnTo>
                <a:lnTo>
                  <a:pt x="1156" y="2118"/>
                </a:lnTo>
                <a:lnTo>
                  <a:pt x="1166" y="2051"/>
                </a:lnTo>
                <a:lnTo>
                  <a:pt x="1175" y="1984"/>
                </a:lnTo>
                <a:lnTo>
                  <a:pt x="1181" y="1916"/>
                </a:lnTo>
                <a:lnTo>
                  <a:pt x="1184" y="1848"/>
                </a:lnTo>
                <a:lnTo>
                  <a:pt x="1186" y="1778"/>
                </a:lnTo>
                <a:lnTo>
                  <a:pt x="1186" y="1778"/>
                </a:lnTo>
                <a:lnTo>
                  <a:pt x="1184" y="1715"/>
                </a:lnTo>
                <a:lnTo>
                  <a:pt x="1181" y="1652"/>
                </a:lnTo>
                <a:lnTo>
                  <a:pt x="1176" y="1590"/>
                </a:lnTo>
                <a:lnTo>
                  <a:pt x="1169" y="1528"/>
                </a:lnTo>
                <a:lnTo>
                  <a:pt x="1160" y="1466"/>
                </a:lnTo>
                <a:lnTo>
                  <a:pt x="1150" y="1406"/>
                </a:lnTo>
                <a:lnTo>
                  <a:pt x="1136" y="1347"/>
                </a:lnTo>
                <a:lnTo>
                  <a:pt x="1122" y="1287"/>
                </a:lnTo>
                <a:lnTo>
                  <a:pt x="1105" y="1229"/>
                </a:lnTo>
                <a:lnTo>
                  <a:pt x="1086" y="1170"/>
                </a:lnTo>
                <a:lnTo>
                  <a:pt x="1067" y="1114"/>
                </a:lnTo>
                <a:lnTo>
                  <a:pt x="1044" y="1057"/>
                </a:lnTo>
                <a:lnTo>
                  <a:pt x="1021" y="1002"/>
                </a:lnTo>
                <a:lnTo>
                  <a:pt x="996" y="948"/>
                </a:lnTo>
                <a:lnTo>
                  <a:pt x="968" y="894"/>
                </a:lnTo>
                <a:lnTo>
                  <a:pt x="941" y="841"/>
                </a:lnTo>
                <a:lnTo>
                  <a:pt x="941" y="841"/>
                </a:lnTo>
                <a:close/>
                <a:moveTo>
                  <a:pt x="783" y="609"/>
                </a:moveTo>
                <a:lnTo>
                  <a:pt x="783" y="609"/>
                </a:lnTo>
                <a:lnTo>
                  <a:pt x="770" y="593"/>
                </a:lnTo>
                <a:lnTo>
                  <a:pt x="770" y="593"/>
                </a:lnTo>
                <a:lnTo>
                  <a:pt x="780" y="605"/>
                </a:lnTo>
                <a:lnTo>
                  <a:pt x="780" y="605"/>
                </a:lnTo>
                <a:lnTo>
                  <a:pt x="783" y="609"/>
                </a:lnTo>
                <a:lnTo>
                  <a:pt x="783" y="609"/>
                </a:lnTo>
                <a:close/>
                <a:moveTo>
                  <a:pt x="762" y="583"/>
                </a:moveTo>
                <a:lnTo>
                  <a:pt x="762" y="583"/>
                </a:lnTo>
                <a:lnTo>
                  <a:pt x="737" y="553"/>
                </a:lnTo>
                <a:lnTo>
                  <a:pt x="737" y="553"/>
                </a:lnTo>
                <a:lnTo>
                  <a:pt x="762" y="583"/>
                </a:lnTo>
                <a:lnTo>
                  <a:pt x="762" y="583"/>
                </a:lnTo>
                <a:close/>
              </a:path>
            </a:pathLst>
          </a:custGeom>
          <a:solidFill>
            <a:srgbClr val="FFFF00"/>
          </a:solidFill>
          <a:ln w="9525">
            <a:noFill/>
            <a:round/>
            <a:headEnd/>
            <a:tailEnd/>
          </a:ln>
          <a:effectLst/>
        </p:spPr>
        <p:txBody>
          <a:bodyPr wrap="none" anchor="ctr"/>
          <a:lstStyle/>
          <a:p>
            <a:pPr>
              <a:lnSpc>
                <a:spcPct val="31000"/>
              </a:lnSpc>
              <a:buClr>
                <a:srgbClr val="000000"/>
              </a:buClr>
              <a:buSzPct val="100000"/>
              <a:buFont typeface="Times New Roman" pitchFamily="18" charset="0"/>
              <a:buNone/>
              <a:defRPr/>
            </a:pPr>
            <a:endParaRPr lang="en-US" i="0"/>
          </a:p>
        </p:txBody>
      </p:sp>
      <p:sp>
        <p:nvSpPr>
          <p:cNvPr id="1034" name="Freeform 10"/>
          <p:cNvSpPr>
            <a:spLocks noChangeArrowheads="1"/>
          </p:cNvSpPr>
          <p:nvPr/>
        </p:nvSpPr>
        <p:spPr bwMode="auto">
          <a:xfrm>
            <a:off x="8143875" y="2062163"/>
            <a:ext cx="42863" cy="69850"/>
          </a:xfrm>
          <a:custGeom>
            <a:avLst/>
            <a:gdLst/>
            <a:ahLst/>
            <a:cxnLst>
              <a:cxn ang="0">
                <a:pos x="0" y="0"/>
              </a:cxn>
              <a:cxn ang="0">
                <a:pos x="0" y="0"/>
              </a:cxn>
              <a:cxn ang="0">
                <a:pos x="17" y="29"/>
              </a:cxn>
              <a:cxn ang="0">
                <a:pos x="17" y="29"/>
              </a:cxn>
              <a:cxn ang="0">
                <a:pos x="20" y="31"/>
              </a:cxn>
              <a:cxn ang="0">
                <a:pos x="20" y="31"/>
              </a:cxn>
              <a:cxn ang="0">
                <a:pos x="0" y="0"/>
              </a:cxn>
              <a:cxn ang="0">
                <a:pos x="0" y="0"/>
              </a:cxn>
            </a:cxnLst>
            <a:rect l="0" t="0" r="r" b="b"/>
            <a:pathLst>
              <a:path w="20" h="31">
                <a:moveTo>
                  <a:pt x="0" y="0"/>
                </a:moveTo>
                <a:lnTo>
                  <a:pt x="0" y="0"/>
                </a:lnTo>
                <a:lnTo>
                  <a:pt x="17" y="29"/>
                </a:lnTo>
                <a:lnTo>
                  <a:pt x="17" y="29"/>
                </a:lnTo>
                <a:lnTo>
                  <a:pt x="20" y="31"/>
                </a:lnTo>
                <a:lnTo>
                  <a:pt x="20" y="31"/>
                </a:lnTo>
                <a:lnTo>
                  <a:pt x="0" y="0"/>
                </a:lnTo>
                <a:lnTo>
                  <a:pt x="0" y="0"/>
                </a:lnTo>
                <a:close/>
              </a:path>
            </a:pathLst>
          </a:custGeom>
          <a:solidFill>
            <a:srgbClr val="FFFF00"/>
          </a:solidFill>
          <a:ln w="9525">
            <a:noFill/>
            <a:round/>
            <a:headEnd/>
            <a:tailEnd/>
          </a:ln>
          <a:effectLst/>
        </p:spPr>
        <p:txBody>
          <a:bodyPr wrap="none" anchor="ctr"/>
          <a:lstStyle/>
          <a:p>
            <a:pPr>
              <a:lnSpc>
                <a:spcPct val="31000"/>
              </a:lnSpc>
              <a:buClr>
                <a:srgbClr val="000000"/>
              </a:buClr>
              <a:buSzPct val="100000"/>
              <a:buFont typeface="Times New Roman" pitchFamily="18" charset="0"/>
              <a:buNone/>
              <a:defRPr/>
            </a:pPr>
            <a:endParaRPr lang="en-US" i="0"/>
          </a:p>
        </p:txBody>
      </p:sp>
      <p:sp>
        <p:nvSpPr>
          <p:cNvPr id="1035" name="Line 11"/>
          <p:cNvSpPr>
            <a:spLocks noChangeShapeType="1"/>
          </p:cNvSpPr>
          <p:nvPr/>
        </p:nvSpPr>
        <p:spPr bwMode="auto">
          <a:xfrm>
            <a:off x="7358063" y="5630863"/>
            <a:ext cx="6350" cy="6350"/>
          </a:xfrm>
          <a:prstGeom prst="line">
            <a:avLst/>
          </a:prstGeom>
          <a:noFill/>
          <a:ln w="3240">
            <a:solidFill>
              <a:srgbClr val="FF0000"/>
            </a:solidFill>
            <a:miter lim="800000"/>
            <a:headEnd/>
            <a:tailEnd/>
          </a:ln>
          <a:effectLst/>
        </p:spPr>
        <p:txBody>
          <a:bodyPr/>
          <a:lstStyle/>
          <a:p>
            <a:pPr defTabSz="449263">
              <a:lnSpc>
                <a:spcPct val="31000"/>
              </a:lnSpc>
              <a:buClr>
                <a:srgbClr val="000000"/>
              </a:buClr>
              <a:buSzPct val="100000"/>
              <a:buFont typeface="Times New Roman" pitchFamily="16" charset="0"/>
              <a:buNone/>
              <a:defRPr/>
            </a:pPr>
            <a:endParaRPr lang="en-AU" i="0"/>
          </a:p>
        </p:txBody>
      </p:sp>
      <p:sp>
        <p:nvSpPr>
          <p:cNvPr id="1036" name="Freeform 12"/>
          <p:cNvSpPr>
            <a:spLocks noChangeArrowheads="1"/>
          </p:cNvSpPr>
          <p:nvPr/>
        </p:nvSpPr>
        <p:spPr bwMode="auto">
          <a:xfrm>
            <a:off x="6569075" y="187325"/>
            <a:ext cx="2413000" cy="6475413"/>
          </a:xfrm>
          <a:custGeom>
            <a:avLst/>
            <a:gdLst/>
            <a:ahLst/>
            <a:cxnLst>
              <a:cxn ang="0">
                <a:pos x="1040" y="0"/>
              </a:cxn>
              <a:cxn ang="0">
                <a:pos x="0" y="0"/>
              </a:cxn>
              <a:cxn ang="0">
                <a:pos x="0" y="0"/>
              </a:cxn>
              <a:cxn ang="0">
                <a:pos x="40" y="16"/>
              </a:cxn>
              <a:cxn ang="0">
                <a:pos x="78" y="32"/>
              </a:cxn>
              <a:cxn ang="0">
                <a:pos x="117" y="48"/>
              </a:cxn>
              <a:cxn ang="0">
                <a:pos x="154" y="65"/>
              </a:cxn>
              <a:cxn ang="0">
                <a:pos x="192" y="83"/>
              </a:cxn>
              <a:cxn ang="0">
                <a:pos x="228" y="102"/>
              </a:cxn>
              <a:cxn ang="0">
                <a:pos x="265" y="122"/>
              </a:cxn>
              <a:cxn ang="0">
                <a:pos x="301" y="142"/>
              </a:cxn>
              <a:cxn ang="0">
                <a:pos x="336" y="162"/>
              </a:cxn>
              <a:cxn ang="0">
                <a:pos x="372" y="184"/>
              </a:cxn>
              <a:cxn ang="0">
                <a:pos x="406" y="207"/>
              </a:cxn>
              <a:cxn ang="0">
                <a:pos x="441" y="230"/>
              </a:cxn>
              <a:cxn ang="0">
                <a:pos x="474" y="252"/>
              </a:cxn>
              <a:cxn ang="0">
                <a:pos x="507" y="276"/>
              </a:cxn>
              <a:cxn ang="0">
                <a:pos x="539" y="302"/>
              </a:cxn>
              <a:cxn ang="0">
                <a:pos x="571" y="327"/>
              </a:cxn>
              <a:cxn ang="0">
                <a:pos x="603" y="353"/>
              </a:cxn>
              <a:cxn ang="0">
                <a:pos x="634" y="380"/>
              </a:cxn>
              <a:cxn ang="0">
                <a:pos x="664" y="407"/>
              </a:cxn>
              <a:cxn ang="0">
                <a:pos x="693" y="435"/>
              </a:cxn>
              <a:cxn ang="0">
                <a:pos x="723" y="464"/>
              </a:cxn>
              <a:cxn ang="0">
                <a:pos x="750" y="492"/>
              </a:cxn>
              <a:cxn ang="0">
                <a:pos x="778" y="522"/>
              </a:cxn>
              <a:cxn ang="0">
                <a:pos x="806" y="552"/>
              </a:cxn>
              <a:cxn ang="0">
                <a:pos x="832" y="583"/>
              </a:cxn>
              <a:cxn ang="0">
                <a:pos x="858" y="615"/>
              </a:cxn>
              <a:cxn ang="0">
                <a:pos x="884" y="646"/>
              </a:cxn>
              <a:cxn ang="0">
                <a:pos x="908" y="678"/>
              </a:cxn>
              <a:cxn ang="0">
                <a:pos x="932" y="711"/>
              </a:cxn>
              <a:cxn ang="0">
                <a:pos x="954" y="744"/>
              </a:cxn>
              <a:cxn ang="0">
                <a:pos x="977" y="778"/>
              </a:cxn>
              <a:cxn ang="0">
                <a:pos x="999" y="813"/>
              </a:cxn>
              <a:cxn ang="0">
                <a:pos x="999" y="2789"/>
              </a:cxn>
              <a:cxn ang="0">
                <a:pos x="1040" y="2789"/>
              </a:cxn>
              <a:cxn ang="0">
                <a:pos x="1040" y="0"/>
              </a:cxn>
            </a:cxnLst>
            <a:rect l="0" t="0" r="r" b="b"/>
            <a:pathLst>
              <a:path w="1040" h="2789">
                <a:moveTo>
                  <a:pt x="1040" y="0"/>
                </a:moveTo>
                <a:lnTo>
                  <a:pt x="0" y="0"/>
                </a:lnTo>
                <a:lnTo>
                  <a:pt x="0" y="0"/>
                </a:lnTo>
                <a:lnTo>
                  <a:pt x="40" y="16"/>
                </a:lnTo>
                <a:lnTo>
                  <a:pt x="78" y="32"/>
                </a:lnTo>
                <a:lnTo>
                  <a:pt x="117" y="48"/>
                </a:lnTo>
                <a:lnTo>
                  <a:pt x="154" y="65"/>
                </a:lnTo>
                <a:lnTo>
                  <a:pt x="192" y="83"/>
                </a:lnTo>
                <a:lnTo>
                  <a:pt x="228" y="102"/>
                </a:lnTo>
                <a:lnTo>
                  <a:pt x="265" y="122"/>
                </a:lnTo>
                <a:lnTo>
                  <a:pt x="301" y="142"/>
                </a:lnTo>
                <a:lnTo>
                  <a:pt x="336" y="162"/>
                </a:lnTo>
                <a:lnTo>
                  <a:pt x="372" y="184"/>
                </a:lnTo>
                <a:lnTo>
                  <a:pt x="406" y="207"/>
                </a:lnTo>
                <a:lnTo>
                  <a:pt x="441" y="230"/>
                </a:lnTo>
                <a:lnTo>
                  <a:pt x="474" y="252"/>
                </a:lnTo>
                <a:lnTo>
                  <a:pt x="507" y="276"/>
                </a:lnTo>
                <a:lnTo>
                  <a:pt x="539" y="302"/>
                </a:lnTo>
                <a:lnTo>
                  <a:pt x="571" y="327"/>
                </a:lnTo>
                <a:lnTo>
                  <a:pt x="603" y="353"/>
                </a:lnTo>
                <a:lnTo>
                  <a:pt x="634" y="380"/>
                </a:lnTo>
                <a:lnTo>
                  <a:pt x="664" y="407"/>
                </a:lnTo>
                <a:lnTo>
                  <a:pt x="693" y="435"/>
                </a:lnTo>
                <a:lnTo>
                  <a:pt x="723" y="464"/>
                </a:lnTo>
                <a:lnTo>
                  <a:pt x="750" y="492"/>
                </a:lnTo>
                <a:lnTo>
                  <a:pt x="778" y="522"/>
                </a:lnTo>
                <a:lnTo>
                  <a:pt x="806" y="552"/>
                </a:lnTo>
                <a:lnTo>
                  <a:pt x="832" y="583"/>
                </a:lnTo>
                <a:lnTo>
                  <a:pt x="858" y="615"/>
                </a:lnTo>
                <a:lnTo>
                  <a:pt x="884" y="646"/>
                </a:lnTo>
                <a:lnTo>
                  <a:pt x="908" y="678"/>
                </a:lnTo>
                <a:lnTo>
                  <a:pt x="932" y="711"/>
                </a:lnTo>
                <a:lnTo>
                  <a:pt x="954" y="744"/>
                </a:lnTo>
                <a:lnTo>
                  <a:pt x="977" y="778"/>
                </a:lnTo>
                <a:lnTo>
                  <a:pt x="999" y="813"/>
                </a:lnTo>
                <a:lnTo>
                  <a:pt x="999" y="2789"/>
                </a:lnTo>
                <a:lnTo>
                  <a:pt x="1040" y="2789"/>
                </a:lnTo>
                <a:lnTo>
                  <a:pt x="1040" y="0"/>
                </a:lnTo>
                <a:close/>
              </a:path>
            </a:pathLst>
          </a:custGeom>
          <a:solidFill>
            <a:srgbClr val="FFFFFF"/>
          </a:solidFill>
          <a:ln w="3240">
            <a:solidFill>
              <a:srgbClr val="FFFFFF"/>
            </a:solidFill>
            <a:round/>
            <a:headEnd/>
            <a:tailEnd/>
          </a:ln>
          <a:effectLst/>
        </p:spPr>
        <p:txBody>
          <a:bodyPr wrap="none" anchor="ctr"/>
          <a:lstStyle/>
          <a:p>
            <a:pPr>
              <a:lnSpc>
                <a:spcPct val="31000"/>
              </a:lnSpc>
              <a:buClr>
                <a:srgbClr val="000000"/>
              </a:buClr>
              <a:buSzPct val="100000"/>
              <a:buFont typeface="Times New Roman" pitchFamily="18" charset="0"/>
              <a:buNone/>
              <a:defRPr/>
            </a:pPr>
            <a:endParaRPr lang="en-US" i="0"/>
          </a:p>
        </p:txBody>
      </p:sp>
      <p:sp>
        <p:nvSpPr>
          <p:cNvPr id="1037" name="Text Box 13"/>
          <p:cNvSpPr txBox="1">
            <a:spLocks noChangeArrowheads="1"/>
          </p:cNvSpPr>
          <p:nvPr/>
        </p:nvSpPr>
        <p:spPr bwMode="auto">
          <a:xfrm>
            <a:off x="427038" y="287338"/>
            <a:ext cx="4392612" cy="244475"/>
          </a:xfrm>
          <a:prstGeom prst="rect">
            <a:avLst/>
          </a:prstGeom>
          <a:noFill/>
          <a:ln w="9525">
            <a:noFill/>
            <a:round/>
            <a:headEnd/>
            <a:tailEnd/>
          </a:ln>
          <a:effectLst/>
        </p:spPr>
        <p:txBody>
          <a:bodyPr wrap="none" lIns="0" tIns="0" rIns="0" bIns="0">
            <a:spAutoFit/>
          </a:bodyPr>
          <a:lstStyle/>
          <a:p>
            <a:pPr defTabSz="449263">
              <a:buClr>
                <a:srgbClr val="000000"/>
              </a:buClr>
              <a:buSzPct val="100000"/>
              <a:buFont typeface="Times New Roman" pitchFamily="16"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AU" sz="1600" b="1" i="0">
                <a:solidFill>
                  <a:srgbClr val="FFFFFF"/>
                </a:solidFill>
              </a:rPr>
              <a:t>Teacher Earth Science Education Programme</a:t>
            </a:r>
          </a:p>
        </p:txBody>
      </p:sp>
      <p:sp>
        <p:nvSpPr>
          <p:cNvPr id="1039" name="Rectangle 14"/>
          <p:cNvSpPr>
            <a:spLocks noGrp="1" noChangeArrowheads="1"/>
          </p:cNvSpPr>
          <p:nvPr>
            <p:ph type="title"/>
          </p:nvPr>
        </p:nvSpPr>
        <p:spPr bwMode="auto">
          <a:xfrm>
            <a:off x="438150" y="806450"/>
            <a:ext cx="8440738" cy="493713"/>
          </a:xfrm>
          <a:prstGeom prst="rect">
            <a:avLst/>
          </a:prstGeom>
          <a:noFill/>
          <a:ln w="9525">
            <a:noFill/>
            <a:miter lim="800000"/>
            <a:headEnd/>
            <a:tailEnd/>
          </a:ln>
        </p:spPr>
        <p:txBody>
          <a:bodyPr vert="horz" wrap="square" lIns="0" tIns="0" rIns="0" bIns="0" numCol="1" anchor="ctr" anchorCtr="0" compatLnSpc="1">
            <a:prstTxWarp prst="textNoShape">
              <a:avLst/>
            </a:prstTxWarp>
            <a:spAutoFit/>
          </a:bodyPr>
          <a:lstStyle/>
          <a:p>
            <a:pPr lvl="0"/>
            <a:r>
              <a:rPr lang="en-GB" smtClean="0"/>
              <a:t>Click to edit the title text format</a:t>
            </a:r>
          </a:p>
        </p:txBody>
      </p:sp>
      <p:sp>
        <p:nvSpPr>
          <p:cNvPr id="1040" name="Rectangle 15"/>
          <p:cNvSpPr>
            <a:spLocks noGrp="1" noChangeArrowheads="1"/>
          </p:cNvSpPr>
          <p:nvPr>
            <p:ph type="body" idx="1"/>
          </p:nvPr>
        </p:nvSpPr>
        <p:spPr bwMode="auto">
          <a:xfrm>
            <a:off x="438150" y="1876425"/>
            <a:ext cx="8618538" cy="46005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a:p>
            <a:pPr lvl="4"/>
            <a:r>
              <a:rPr lang="en-GB" smtClean="0"/>
              <a:t>Eighth Outline Level</a:t>
            </a:r>
          </a:p>
          <a:p>
            <a:pPr lvl="4"/>
            <a:r>
              <a:rPr lang="en-GB" smtClean="0"/>
              <a:t>Ninth Outline Level</a:t>
            </a:r>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defTabSz="449263" rtl="0" eaLnBrk="0" fontAlgn="base" hangingPunct="0">
        <a:lnSpc>
          <a:spcPct val="90000"/>
        </a:lnSpc>
        <a:spcBef>
          <a:spcPct val="0"/>
        </a:spcBef>
        <a:spcAft>
          <a:spcPct val="0"/>
        </a:spcAft>
        <a:buClr>
          <a:srgbClr val="000000"/>
        </a:buClr>
        <a:buSzPct val="100000"/>
        <a:buFont typeface="Times New Roman" pitchFamily="18" charset="0"/>
        <a:defRPr sz="3600">
          <a:solidFill>
            <a:srgbClr val="000000"/>
          </a:solidFill>
          <a:latin typeface="+mj-lt"/>
          <a:ea typeface="+mj-ea"/>
          <a:cs typeface="+mj-cs"/>
        </a:defRPr>
      </a:lvl1pPr>
      <a:lvl2pPr algn="l" defTabSz="449263" rtl="0" eaLnBrk="0" fontAlgn="base" hangingPunct="0">
        <a:lnSpc>
          <a:spcPct val="90000"/>
        </a:lnSpc>
        <a:spcBef>
          <a:spcPct val="0"/>
        </a:spcBef>
        <a:spcAft>
          <a:spcPct val="0"/>
        </a:spcAft>
        <a:buClr>
          <a:srgbClr val="000000"/>
        </a:buClr>
        <a:buSzPct val="100000"/>
        <a:buFont typeface="Times New Roman" pitchFamily="18" charset="0"/>
        <a:defRPr sz="3600">
          <a:solidFill>
            <a:srgbClr val="000000"/>
          </a:solidFill>
          <a:latin typeface="Arial" charset="0"/>
          <a:cs typeface="Arial" charset="0"/>
        </a:defRPr>
      </a:lvl2pPr>
      <a:lvl3pPr algn="l" defTabSz="449263" rtl="0" eaLnBrk="0" fontAlgn="base" hangingPunct="0">
        <a:lnSpc>
          <a:spcPct val="90000"/>
        </a:lnSpc>
        <a:spcBef>
          <a:spcPct val="0"/>
        </a:spcBef>
        <a:spcAft>
          <a:spcPct val="0"/>
        </a:spcAft>
        <a:buClr>
          <a:srgbClr val="000000"/>
        </a:buClr>
        <a:buSzPct val="100000"/>
        <a:buFont typeface="Times New Roman" pitchFamily="18" charset="0"/>
        <a:defRPr sz="3600">
          <a:solidFill>
            <a:srgbClr val="000000"/>
          </a:solidFill>
          <a:latin typeface="Arial" charset="0"/>
          <a:cs typeface="Arial" charset="0"/>
        </a:defRPr>
      </a:lvl3pPr>
      <a:lvl4pPr algn="l" defTabSz="449263" rtl="0" eaLnBrk="0" fontAlgn="base" hangingPunct="0">
        <a:lnSpc>
          <a:spcPct val="90000"/>
        </a:lnSpc>
        <a:spcBef>
          <a:spcPct val="0"/>
        </a:spcBef>
        <a:spcAft>
          <a:spcPct val="0"/>
        </a:spcAft>
        <a:buClr>
          <a:srgbClr val="000000"/>
        </a:buClr>
        <a:buSzPct val="100000"/>
        <a:buFont typeface="Times New Roman" pitchFamily="18" charset="0"/>
        <a:defRPr sz="3600">
          <a:solidFill>
            <a:srgbClr val="000000"/>
          </a:solidFill>
          <a:latin typeface="Arial" charset="0"/>
          <a:cs typeface="Arial" charset="0"/>
        </a:defRPr>
      </a:lvl4pPr>
      <a:lvl5pPr algn="l" defTabSz="449263" rtl="0" eaLnBrk="0" fontAlgn="base" hangingPunct="0">
        <a:lnSpc>
          <a:spcPct val="90000"/>
        </a:lnSpc>
        <a:spcBef>
          <a:spcPct val="0"/>
        </a:spcBef>
        <a:spcAft>
          <a:spcPct val="0"/>
        </a:spcAft>
        <a:buClr>
          <a:srgbClr val="000000"/>
        </a:buClr>
        <a:buSzPct val="100000"/>
        <a:buFont typeface="Times New Roman" pitchFamily="18" charset="0"/>
        <a:defRPr sz="3600">
          <a:solidFill>
            <a:srgbClr val="000000"/>
          </a:solidFill>
          <a:latin typeface="Arial" charset="0"/>
          <a:cs typeface="Arial" charset="0"/>
        </a:defRPr>
      </a:lvl5pPr>
      <a:lvl6pPr marL="457200" algn="l" defTabSz="449263" rtl="0" eaLnBrk="0" fontAlgn="base" hangingPunct="0">
        <a:lnSpc>
          <a:spcPct val="90000"/>
        </a:lnSpc>
        <a:spcBef>
          <a:spcPct val="0"/>
        </a:spcBef>
        <a:spcAft>
          <a:spcPct val="0"/>
        </a:spcAft>
        <a:buClr>
          <a:srgbClr val="000000"/>
        </a:buClr>
        <a:buSzPct val="100000"/>
        <a:buFont typeface="Times New Roman" pitchFamily="18" charset="0"/>
        <a:defRPr sz="3600">
          <a:solidFill>
            <a:srgbClr val="000000"/>
          </a:solidFill>
          <a:latin typeface="Arial" charset="0"/>
          <a:cs typeface="Arial" charset="0"/>
        </a:defRPr>
      </a:lvl6pPr>
      <a:lvl7pPr marL="914400" algn="l" defTabSz="449263" rtl="0" eaLnBrk="0" fontAlgn="base" hangingPunct="0">
        <a:lnSpc>
          <a:spcPct val="90000"/>
        </a:lnSpc>
        <a:spcBef>
          <a:spcPct val="0"/>
        </a:spcBef>
        <a:spcAft>
          <a:spcPct val="0"/>
        </a:spcAft>
        <a:buClr>
          <a:srgbClr val="000000"/>
        </a:buClr>
        <a:buSzPct val="100000"/>
        <a:buFont typeface="Times New Roman" pitchFamily="18" charset="0"/>
        <a:defRPr sz="3600">
          <a:solidFill>
            <a:srgbClr val="000000"/>
          </a:solidFill>
          <a:latin typeface="Arial" charset="0"/>
          <a:cs typeface="Arial" charset="0"/>
        </a:defRPr>
      </a:lvl7pPr>
      <a:lvl8pPr marL="1371600" algn="l" defTabSz="449263" rtl="0" eaLnBrk="0" fontAlgn="base" hangingPunct="0">
        <a:lnSpc>
          <a:spcPct val="90000"/>
        </a:lnSpc>
        <a:spcBef>
          <a:spcPct val="0"/>
        </a:spcBef>
        <a:spcAft>
          <a:spcPct val="0"/>
        </a:spcAft>
        <a:buClr>
          <a:srgbClr val="000000"/>
        </a:buClr>
        <a:buSzPct val="100000"/>
        <a:buFont typeface="Times New Roman" pitchFamily="18" charset="0"/>
        <a:defRPr sz="3600">
          <a:solidFill>
            <a:srgbClr val="000000"/>
          </a:solidFill>
          <a:latin typeface="Arial" charset="0"/>
          <a:cs typeface="Arial" charset="0"/>
        </a:defRPr>
      </a:lvl8pPr>
      <a:lvl9pPr marL="1828800" algn="l" defTabSz="449263" rtl="0" eaLnBrk="0" fontAlgn="base" hangingPunct="0">
        <a:lnSpc>
          <a:spcPct val="90000"/>
        </a:lnSpc>
        <a:spcBef>
          <a:spcPct val="0"/>
        </a:spcBef>
        <a:spcAft>
          <a:spcPct val="0"/>
        </a:spcAft>
        <a:buClr>
          <a:srgbClr val="000000"/>
        </a:buClr>
        <a:buSzPct val="100000"/>
        <a:buFont typeface="Times New Roman" pitchFamily="18" charset="0"/>
        <a:defRPr sz="3600">
          <a:solidFill>
            <a:srgbClr val="000000"/>
          </a:solidFill>
          <a:latin typeface="Arial" charset="0"/>
          <a:cs typeface="Arial" charset="0"/>
        </a:defRPr>
      </a:lvl9pPr>
    </p:titleStyle>
    <p:bodyStyle>
      <a:lvl1pPr marL="266700" indent="-266700" algn="l" defTabSz="449263" rtl="0" eaLnBrk="0" fontAlgn="base" hangingPunct="0">
        <a:spcBef>
          <a:spcPct val="40000"/>
        </a:spcBef>
        <a:spcAft>
          <a:spcPct val="0"/>
        </a:spcAft>
        <a:buClr>
          <a:srgbClr val="000000"/>
        </a:buClr>
        <a:buSzPct val="100000"/>
        <a:buFont typeface="Times New Roman" pitchFamily="18" charset="0"/>
        <a:defRPr sz="2400">
          <a:solidFill>
            <a:srgbClr val="000000"/>
          </a:solidFill>
          <a:latin typeface="+mn-lt"/>
          <a:ea typeface="+mn-ea"/>
          <a:cs typeface="+mn-cs"/>
        </a:defRPr>
      </a:lvl1pPr>
      <a:lvl2pPr marL="808038" indent="-266700" algn="l" defTabSz="449263" rtl="0" eaLnBrk="0" fontAlgn="base" hangingPunct="0">
        <a:spcBef>
          <a:spcPct val="40000"/>
        </a:spcBef>
        <a:spcAft>
          <a:spcPct val="0"/>
        </a:spcAft>
        <a:buClr>
          <a:srgbClr val="000000"/>
        </a:buClr>
        <a:buSzPct val="100000"/>
        <a:buFont typeface="Times New Roman" pitchFamily="18" charset="0"/>
        <a:defRPr sz="2000">
          <a:solidFill>
            <a:srgbClr val="000000"/>
          </a:solidFill>
          <a:latin typeface="+mn-lt"/>
          <a:cs typeface="+mn-cs"/>
        </a:defRPr>
      </a:lvl2pPr>
      <a:lvl3pPr marL="1339850" indent="-265113" algn="l" defTabSz="449263" rtl="0" eaLnBrk="0" fontAlgn="base" hangingPunct="0">
        <a:spcBef>
          <a:spcPct val="40000"/>
        </a:spcBef>
        <a:spcAft>
          <a:spcPct val="0"/>
        </a:spcAft>
        <a:buClr>
          <a:srgbClr val="000000"/>
        </a:buClr>
        <a:buSzPct val="100000"/>
        <a:buFont typeface="Times New Roman" pitchFamily="18" charset="0"/>
        <a:defRPr sz="2000">
          <a:solidFill>
            <a:srgbClr val="000000"/>
          </a:solidFill>
          <a:latin typeface="+mn-lt"/>
          <a:cs typeface="+mn-cs"/>
        </a:defRPr>
      </a:lvl3pPr>
      <a:lvl4pPr marL="1882775" indent="-266700" algn="l" defTabSz="449263" rtl="0" eaLnBrk="0" fontAlgn="base" hangingPunct="0">
        <a:spcBef>
          <a:spcPct val="40000"/>
        </a:spcBef>
        <a:spcAft>
          <a:spcPct val="0"/>
        </a:spcAft>
        <a:buClr>
          <a:srgbClr val="000000"/>
        </a:buClr>
        <a:buSzPct val="100000"/>
        <a:buFont typeface="Times New Roman" pitchFamily="18" charset="0"/>
        <a:defRPr sz="2000">
          <a:solidFill>
            <a:srgbClr val="000000"/>
          </a:solidFill>
          <a:latin typeface="+mn-lt"/>
          <a:cs typeface="+mn-cs"/>
        </a:defRPr>
      </a:lvl4pPr>
      <a:lvl5pPr marL="2424113" indent="-276225" algn="l" defTabSz="449263" rtl="0" eaLnBrk="0" fontAlgn="base" hangingPunct="0">
        <a:spcBef>
          <a:spcPct val="40000"/>
        </a:spcBef>
        <a:spcAft>
          <a:spcPct val="0"/>
        </a:spcAft>
        <a:buClr>
          <a:srgbClr val="000000"/>
        </a:buClr>
        <a:buSzPct val="100000"/>
        <a:buFont typeface="Times New Roman" pitchFamily="18" charset="0"/>
        <a:defRPr sz="2000">
          <a:solidFill>
            <a:srgbClr val="000000"/>
          </a:solidFill>
          <a:latin typeface="+mn-lt"/>
          <a:cs typeface="+mn-cs"/>
        </a:defRPr>
      </a:lvl5pPr>
      <a:lvl6pPr marL="2881313" indent="-276225" algn="l" defTabSz="449263" rtl="0" eaLnBrk="0" fontAlgn="base" hangingPunct="0">
        <a:spcBef>
          <a:spcPct val="40000"/>
        </a:spcBef>
        <a:spcAft>
          <a:spcPct val="0"/>
        </a:spcAft>
        <a:buClr>
          <a:srgbClr val="000000"/>
        </a:buClr>
        <a:buSzPct val="100000"/>
        <a:buFont typeface="Times New Roman" pitchFamily="18" charset="0"/>
        <a:defRPr sz="2000">
          <a:solidFill>
            <a:srgbClr val="000000"/>
          </a:solidFill>
          <a:latin typeface="+mn-lt"/>
          <a:cs typeface="+mn-cs"/>
        </a:defRPr>
      </a:lvl6pPr>
      <a:lvl7pPr marL="3338513" indent="-276225" algn="l" defTabSz="449263" rtl="0" eaLnBrk="0" fontAlgn="base" hangingPunct="0">
        <a:spcBef>
          <a:spcPct val="40000"/>
        </a:spcBef>
        <a:spcAft>
          <a:spcPct val="0"/>
        </a:spcAft>
        <a:buClr>
          <a:srgbClr val="000000"/>
        </a:buClr>
        <a:buSzPct val="100000"/>
        <a:buFont typeface="Times New Roman" pitchFamily="18" charset="0"/>
        <a:defRPr sz="2000">
          <a:solidFill>
            <a:srgbClr val="000000"/>
          </a:solidFill>
          <a:latin typeface="+mn-lt"/>
          <a:cs typeface="+mn-cs"/>
        </a:defRPr>
      </a:lvl7pPr>
      <a:lvl8pPr marL="3795713" indent="-276225" algn="l" defTabSz="449263" rtl="0" eaLnBrk="0" fontAlgn="base" hangingPunct="0">
        <a:spcBef>
          <a:spcPct val="40000"/>
        </a:spcBef>
        <a:spcAft>
          <a:spcPct val="0"/>
        </a:spcAft>
        <a:buClr>
          <a:srgbClr val="000000"/>
        </a:buClr>
        <a:buSzPct val="100000"/>
        <a:buFont typeface="Times New Roman" pitchFamily="18" charset="0"/>
        <a:defRPr sz="2000">
          <a:solidFill>
            <a:srgbClr val="000000"/>
          </a:solidFill>
          <a:latin typeface="+mn-lt"/>
          <a:cs typeface="+mn-cs"/>
        </a:defRPr>
      </a:lvl8pPr>
      <a:lvl9pPr marL="4252913" indent="-276225" algn="l" defTabSz="449263" rtl="0" eaLnBrk="0" fontAlgn="base" hangingPunct="0">
        <a:spcBef>
          <a:spcPct val="40000"/>
        </a:spcBef>
        <a:spcAft>
          <a:spcPct val="0"/>
        </a:spcAft>
        <a:buClr>
          <a:srgbClr val="000000"/>
        </a:buClr>
        <a:buSzPct val="100000"/>
        <a:buFont typeface="Times New Roman" pitchFamily="18" charset="0"/>
        <a:defRPr sz="2000">
          <a:solidFill>
            <a:srgbClr val="000000"/>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5.jpeg"/><Relationship Id="rId11" Type="http://schemas.openxmlformats.org/officeDocument/2006/relationships/image" Target="../media/image10.png"/><Relationship Id="rId5" Type="http://schemas.openxmlformats.org/officeDocument/2006/relationships/image" Target="../media/image4.jpeg"/><Relationship Id="rId10" Type="http://schemas.openxmlformats.org/officeDocument/2006/relationships/image" Target="../media/image9.emf"/><Relationship Id="rId4" Type="http://schemas.openxmlformats.org/officeDocument/2006/relationships/image" Target="../media/image3.wmf"/><Relationship Id="rId9" Type="http://schemas.openxmlformats.org/officeDocument/2006/relationships/image" Target="../media/image8.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wmf"/></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3.png"/><Relationship Id="rId4"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www.geosciencepathways.org.au/" TargetMode="External"/><Relationship Id="rId2" Type="http://schemas.openxmlformats.org/officeDocument/2006/relationships/notesSlide" Target="../notesSlides/notesSlide60.xml"/><Relationship Id="rId1" Type="http://schemas.openxmlformats.org/officeDocument/2006/relationships/slideLayout" Target="../slideLayouts/slideLayout7.xml"/><Relationship Id="rId4" Type="http://schemas.openxmlformats.org/officeDocument/2006/relationships/image" Target="../media/image46.jpe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7.jpeg"/><Relationship Id="rId7" Type="http://schemas.openxmlformats.org/officeDocument/2006/relationships/image" Target="../media/image9.emf"/><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jpeg"/><Relationship Id="rId4" Type="http://schemas.openxmlformats.org/officeDocument/2006/relationships/image" Target="../media/image48.jpe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1" name="Group 1"/>
          <p:cNvGrpSpPr>
            <a:grpSpLocks/>
          </p:cNvGrpSpPr>
          <p:nvPr/>
        </p:nvGrpSpPr>
        <p:grpSpPr bwMode="auto">
          <a:xfrm>
            <a:off x="250825" y="190500"/>
            <a:ext cx="8412163" cy="6472238"/>
            <a:chOff x="158" y="120"/>
            <a:chExt cx="5299" cy="4077"/>
          </a:xfrm>
        </p:grpSpPr>
        <p:sp>
          <p:nvSpPr>
            <p:cNvPr id="15398" name="Freeform 2"/>
            <p:cNvSpPr>
              <a:spLocks noChangeArrowheads="1"/>
            </p:cNvSpPr>
            <p:nvPr/>
          </p:nvSpPr>
          <p:spPr bwMode="auto">
            <a:xfrm>
              <a:off x="3471" y="122"/>
              <a:ext cx="1987" cy="4076"/>
            </a:xfrm>
            <a:custGeom>
              <a:avLst/>
              <a:gdLst>
                <a:gd name="T0" fmla="*/ 1983 w 1988"/>
                <a:gd name="T1" fmla="*/ 2664 h 4077"/>
                <a:gd name="T2" fmla="*/ 1982 w 1988"/>
                <a:gd name="T3" fmla="*/ 2547 h 4077"/>
                <a:gd name="T4" fmla="*/ 1973 w 1988"/>
                <a:gd name="T5" fmla="*/ 2433 h 4077"/>
                <a:gd name="T6" fmla="*/ 1961 w 1988"/>
                <a:gd name="T7" fmla="*/ 2319 h 4077"/>
                <a:gd name="T8" fmla="*/ 1943 w 1988"/>
                <a:gd name="T9" fmla="*/ 2209 h 4077"/>
                <a:gd name="T10" fmla="*/ 1923 w 1988"/>
                <a:gd name="T11" fmla="*/ 2098 h 4077"/>
                <a:gd name="T12" fmla="*/ 1898 w 1988"/>
                <a:gd name="T13" fmla="*/ 1994 h 4077"/>
                <a:gd name="T14" fmla="*/ 1869 w 1988"/>
                <a:gd name="T15" fmla="*/ 1887 h 4077"/>
                <a:gd name="T16" fmla="*/ 1835 w 1988"/>
                <a:gd name="T17" fmla="*/ 1780 h 4077"/>
                <a:gd name="T18" fmla="*/ 1797 w 1988"/>
                <a:gd name="T19" fmla="*/ 1676 h 4077"/>
                <a:gd name="T20" fmla="*/ 1754 w 1988"/>
                <a:gd name="T21" fmla="*/ 1574 h 4077"/>
                <a:gd name="T22" fmla="*/ 1709 w 1988"/>
                <a:gd name="T23" fmla="*/ 1474 h 4077"/>
                <a:gd name="T24" fmla="*/ 1659 w 1988"/>
                <a:gd name="T25" fmla="*/ 1378 h 4077"/>
                <a:gd name="T26" fmla="*/ 1605 w 1988"/>
                <a:gd name="T27" fmla="*/ 1281 h 4077"/>
                <a:gd name="T28" fmla="*/ 1548 w 1988"/>
                <a:gd name="T29" fmla="*/ 1187 h 4077"/>
                <a:gd name="T30" fmla="*/ 1486 w 1988"/>
                <a:gd name="T31" fmla="*/ 1096 h 4077"/>
                <a:gd name="T32" fmla="*/ 1423 w 1988"/>
                <a:gd name="T33" fmla="*/ 1008 h 4077"/>
                <a:gd name="T34" fmla="*/ 1284 w 1988"/>
                <a:gd name="T35" fmla="*/ 837 h 4077"/>
                <a:gd name="T36" fmla="*/ 1133 w 1988"/>
                <a:gd name="T37" fmla="*/ 679 h 4077"/>
                <a:gd name="T38" fmla="*/ 974 w 1988"/>
                <a:gd name="T39" fmla="*/ 532 h 4077"/>
                <a:gd name="T40" fmla="*/ 801 w 1988"/>
                <a:gd name="T41" fmla="*/ 396 h 4077"/>
                <a:gd name="T42" fmla="*/ 614 w 1988"/>
                <a:gd name="T43" fmla="*/ 273 h 4077"/>
                <a:gd name="T44" fmla="*/ 470 w 1988"/>
                <a:gd name="T45" fmla="*/ 191 h 4077"/>
                <a:gd name="T46" fmla="*/ 371 w 1988"/>
                <a:gd name="T47" fmla="*/ 140 h 4077"/>
                <a:gd name="T48" fmla="*/ 268 w 1988"/>
                <a:gd name="T49" fmla="*/ 95 h 4077"/>
                <a:gd name="T50" fmla="*/ 163 w 1988"/>
                <a:gd name="T51" fmla="*/ 51 h 4077"/>
                <a:gd name="T52" fmla="*/ 57 w 1988"/>
                <a:gd name="T53" fmla="*/ 10 h 4077"/>
                <a:gd name="T54" fmla="*/ 0 w 1988"/>
                <a:gd name="T55" fmla="*/ 4072 h 4077"/>
                <a:gd name="T56" fmla="*/ 1595 w 1988"/>
                <a:gd name="T57" fmla="*/ 4072 h 4077"/>
                <a:gd name="T58" fmla="*/ 1680 w 1988"/>
                <a:gd name="T59" fmla="*/ 3914 h 4077"/>
                <a:gd name="T60" fmla="*/ 1759 w 1988"/>
                <a:gd name="T61" fmla="*/ 3750 h 4077"/>
                <a:gd name="T62" fmla="*/ 1825 w 1988"/>
                <a:gd name="T63" fmla="*/ 3580 h 4077"/>
                <a:gd name="T64" fmla="*/ 1880 w 1988"/>
                <a:gd name="T65" fmla="*/ 3406 h 4077"/>
                <a:gd name="T66" fmla="*/ 1924 w 1988"/>
                <a:gd name="T67" fmla="*/ 3227 h 4077"/>
                <a:gd name="T68" fmla="*/ 1957 w 1988"/>
                <a:gd name="T69" fmla="*/ 3042 h 4077"/>
                <a:gd name="T70" fmla="*/ 1976 w 1988"/>
                <a:gd name="T71" fmla="*/ 2855 h 4077"/>
                <a:gd name="T72" fmla="*/ 1983 w 1988"/>
                <a:gd name="T73" fmla="*/ 2664 h 40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988"/>
                <a:gd name="T112" fmla="*/ 0 h 4077"/>
                <a:gd name="T113" fmla="*/ 1988 w 1988"/>
                <a:gd name="T114" fmla="*/ 4077 h 40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988" h="4077">
                  <a:moveTo>
                    <a:pt x="1988" y="2669"/>
                  </a:moveTo>
                  <a:lnTo>
                    <a:pt x="1988" y="2669"/>
                  </a:lnTo>
                  <a:lnTo>
                    <a:pt x="1988" y="2611"/>
                  </a:lnTo>
                  <a:lnTo>
                    <a:pt x="1987" y="2552"/>
                  </a:lnTo>
                  <a:lnTo>
                    <a:pt x="1982" y="2495"/>
                  </a:lnTo>
                  <a:lnTo>
                    <a:pt x="1978" y="2438"/>
                  </a:lnTo>
                  <a:lnTo>
                    <a:pt x="1972" y="2382"/>
                  </a:lnTo>
                  <a:lnTo>
                    <a:pt x="1966" y="2324"/>
                  </a:lnTo>
                  <a:lnTo>
                    <a:pt x="1957" y="2268"/>
                  </a:lnTo>
                  <a:lnTo>
                    <a:pt x="1948" y="2214"/>
                  </a:lnTo>
                  <a:lnTo>
                    <a:pt x="1940" y="2157"/>
                  </a:lnTo>
                  <a:lnTo>
                    <a:pt x="1928" y="2103"/>
                  </a:lnTo>
                  <a:lnTo>
                    <a:pt x="1918" y="2048"/>
                  </a:lnTo>
                  <a:lnTo>
                    <a:pt x="1903" y="1994"/>
                  </a:lnTo>
                  <a:lnTo>
                    <a:pt x="1890" y="1940"/>
                  </a:lnTo>
                  <a:lnTo>
                    <a:pt x="1874" y="1887"/>
                  </a:lnTo>
                  <a:lnTo>
                    <a:pt x="1858" y="1833"/>
                  </a:lnTo>
                  <a:lnTo>
                    <a:pt x="1840" y="1780"/>
                  </a:lnTo>
                  <a:lnTo>
                    <a:pt x="1821" y="1729"/>
                  </a:lnTo>
                  <a:lnTo>
                    <a:pt x="1802" y="1676"/>
                  </a:lnTo>
                  <a:lnTo>
                    <a:pt x="1781" y="1625"/>
                  </a:lnTo>
                  <a:lnTo>
                    <a:pt x="1759" y="1574"/>
                  </a:lnTo>
                  <a:lnTo>
                    <a:pt x="1737" y="1526"/>
                  </a:lnTo>
                  <a:lnTo>
                    <a:pt x="1714" y="1474"/>
                  </a:lnTo>
                  <a:lnTo>
                    <a:pt x="1689" y="1424"/>
                  </a:lnTo>
                  <a:lnTo>
                    <a:pt x="1664" y="1378"/>
                  </a:lnTo>
                  <a:lnTo>
                    <a:pt x="1638" y="1328"/>
                  </a:lnTo>
                  <a:lnTo>
                    <a:pt x="1610" y="1281"/>
                  </a:lnTo>
                  <a:lnTo>
                    <a:pt x="1582" y="1236"/>
                  </a:lnTo>
                  <a:lnTo>
                    <a:pt x="1553" y="1187"/>
                  </a:lnTo>
                  <a:lnTo>
                    <a:pt x="1524" y="1142"/>
                  </a:lnTo>
                  <a:lnTo>
                    <a:pt x="1491" y="1096"/>
                  </a:lnTo>
                  <a:lnTo>
                    <a:pt x="1461" y="1052"/>
                  </a:lnTo>
                  <a:lnTo>
                    <a:pt x="1428" y="1008"/>
                  </a:lnTo>
                  <a:lnTo>
                    <a:pt x="1360" y="922"/>
                  </a:lnTo>
                  <a:lnTo>
                    <a:pt x="1289" y="837"/>
                  </a:lnTo>
                  <a:lnTo>
                    <a:pt x="1216" y="757"/>
                  </a:lnTo>
                  <a:lnTo>
                    <a:pt x="1138" y="679"/>
                  </a:lnTo>
                  <a:lnTo>
                    <a:pt x="1058" y="604"/>
                  </a:lnTo>
                  <a:lnTo>
                    <a:pt x="974" y="532"/>
                  </a:lnTo>
                  <a:lnTo>
                    <a:pt x="889" y="464"/>
                  </a:lnTo>
                  <a:lnTo>
                    <a:pt x="801" y="396"/>
                  </a:lnTo>
                  <a:lnTo>
                    <a:pt x="709" y="333"/>
                  </a:lnTo>
                  <a:lnTo>
                    <a:pt x="614" y="273"/>
                  </a:lnTo>
                  <a:lnTo>
                    <a:pt x="517" y="219"/>
                  </a:lnTo>
                  <a:lnTo>
                    <a:pt x="470" y="191"/>
                  </a:lnTo>
                  <a:lnTo>
                    <a:pt x="419" y="166"/>
                  </a:lnTo>
                  <a:lnTo>
                    <a:pt x="371" y="140"/>
                  </a:lnTo>
                  <a:lnTo>
                    <a:pt x="319" y="118"/>
                  </a:lnTo>
                  <a:lnTo>
                    <a:pt x="268" y="95"/>
                  </a:lnTo>
                  <a:lnTo>
                    <a:pt x="215" y="71"/>
                  </a:lnTo>
                  <a:lnTo>
                    <a:pt x="163" y="51"/>
                  </a:lnTo>
                  <a:lnTo>
                    <a:pt x="110" y="30"/>
                  </a:lnTo>
                  <a:lnTo>
                    <a:pt x="57" y="10"/>
                  </a:lnTo>
                  <a:lnTo>
                    <a:pt x="1" y="0"/>
                  </a:lnTo>
                  <a:lnTo>
                    <a:pt x="0" y="4077"/>
                  </a:lnTo>
                  <a:lnTo>
                    <a:pt x="1600" y="4077"/>
                  </a:lnTo>
                  <a:lnTo>
                    <a:pt x="1644" y="3999"/>
                  </a:lnTo>
                  <a:lnTo>
                    <a:pt x="1685" y="3919"/>
                  </a:lnTo>
                  <a:lnTo>
                    <a:pt x="1726" y="3837"/>
                  </a:lnTo>
                  <a:lnTo>
                    <a:pt x="1764" y="3755"/>
                  </a:lnTo>
                  <a:lnTo>
                    <a:pt x="1798" y="3670"/>
                  </a:lnTo>
                  <a:lnTo>
                    <a:pt x="1830" y="3585"/>
                  </a:lnTo>
                  <a:lnTo>
                    <a:pt x="1859" y="3498"/>
                  </a:lnTo>
                  <a:lnTo>
                    <a:pt x="1885" y="3411"/>
                  </a:lnTo>
                  <a:lnTo>
                    <a:pt x="1909" y="3321"/>
                  </a:lnTo>
                  <a:lnTo>
                    <a:pt x="1929" y="3232"/>
                  </a:lnTo>
                  <a:lnTo>
                    <a:pt x="1947" y="3140"/>
                  </a:lnTo>
                  <a:lnTo>
                    <a:pt x="1962" y="3047"/>
                  </a:lnTo>
                  <a:lnTo>
                    <a:pt x="1973" y="2954"/>
                  </a:lnTo>
                  <a:lnTo>
                    <a:pt x="1981" y="2860"/>
                  </a:lnTo>
                  <a:lnTo>
                    <a:pt x="1987" y="2763"/>
                  </a:lnTo>
                  <a:lnTo>
                    <a:pt x="1988" y="2669"/>
                  </a:lnTo>
                  <a:close/>
                </a:path>
              </a:pathLst>
            </a:custGeom>
            <a:solidFill>
              <a:srgbClr val="186C94"/>
            </a:solidFill>
            <a:ln w="9525">
              <a:noFill/>
              <a:round/>
              <a:headEnd/>
              <a:tailEnd/>
            </a:ln>
          </p:spPr>
          <p:txBody>
            <a:bodyPr wrap="none" anchor="ctr"/>
            <a:lstStyle/>
            <a:p>
              <a:endParaRPr lang="en-US"/>
            </a:p>
          </p:txBody>
        </p:sp>
        <p:sp>
          <p:nvSpPr>
            <p:cNvPr id="15399" name="Rectangle 3"/>
            <p:cNvSpPr>
              <a:spLocks noChangeArrowheads="1"/>
            </p:cNvSpPr>
            <p:nvPr/>
          </p:nvSpPr>
          <p:spPr bwMode="auto">
            <a:xfrm>
              <a:off x="158" y="120"/>
              <a:ext cx="3319" cy="4078"/>
            </a:xfrm>
            <a:prstGeom prst="rect">
              <a:avLst/>
            </a:prstGeom>
            <a:solidFill>
              <a:srgbClr val="186C94"/>
            </a:solid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i="0"/>
            </a:p>
          </p:txBody>
        </p:sp>
      </p:grpSp>
      <p:sp>
        <p:nvSpPr>
          <p:cNvPr id="15362" name="Text Box 5"/>
          <p:cNvSpPr txBox="1">
            <a:spLocks noChangeArrowheads="1"/>
          </p:cNvSpPr>
          <p:nvPr/>
        </p:nvSpPr>
        <p:spPr bwMode="auto">
          <a:xfrm>
            <a:off x="693738" y="1171575"/>
            <a:ext cx="5513387" cy="661988"/>
          </a:xfrm>
          <a:prstGeom prst="rect">
            <a:avLst/>
          </a:prstGeom>
          <a:noFill/>
          <a:ln w="9525">
            <a:noFill/>
            <a:miter lim="800000"/>
            <a:headEnd/>
            <a:tailEnd/>
          </a:ln>
        </p:spPr>
        <p:txBody>
          <a:bodyPr wrap="none" lIns="0" tIns="0" rIns="0" bIns="0">
            <a:spAutoFit/>
          </a:bodyPr>
          <a:lstStyle/>
          <a:p>
            <a:pPr algn="ctr">
              <a:lnSpc>
                <a:spcPct val="93000"/>
              </a:lnSpc>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z="2000" b="1" i="0">
                <a:solidFill>
                  <a:srgbClr val="FFFFFF"/>
                </a:solidFill>
              </a:rPr>
              <a:t>Teacher Earth Science Education Programme</a:t>
            </a:r>
          </a:p>
          <a:p>
            <a:pPr algn="ctr">
              <a:lnSpc>
                <a:spcPct val="93000"/>
              </a:lnSpc>
              <a:spcBef>
                <a:spcPts val="750"/>
              </a:spcBef>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z="2000" b="1" i="0">
                <a:solidFill>
                  <a:srgbClr val="FFFFFF"/>
                </a:solidFill>
              </a:rPr>
              <a:t>PARTNERS</a:t>
            </a:r>
          </a:p>
        </p:txBody>
      </p:sp>
      <p:sp>
        <p:nvSpPr>
          <p:cNvPr id="15363" name="Text Box 6"/>
          <p:cNvSpPr txBox="1">
            <a:spLocks noChangeArrowheads="1"/>
          </p:cNvSpPr>
          <p:nvPr/>
        </p:nvSpPr>
        <p:spPr bwMode="auto">
          <a:xfrm>
            <a:off x="395288" y="2622550"/>
            <a:ext cx="1371600" cy="304800"/>
          </a:xfrm>
          <a:prstGeom prst="rect">
            <a:avLst/>
          </a:prstGeom>
          <a:noFill/>
          <a:ln w="9525">
            <a:noFill/>
            <a:miter lim="800000"/>
            <a:headEnd/>
            <a:tailEnd/>
          </a:ln>
        </p:spPr>
        <p:txBody>
          <a:bodyPr wrap="none" lIns="0" tIns="0" rIns="0" bIns="0">
            <a:spAutoFit/>
          </a:bodyPr>
          <a:lstStyle/>
          <a:p>
            <a:pPr hangingPunct="0">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z="2000" b="1" i="0">
                <a:solidFill>
                  <a:srgbClr val="FFFFFF"/>
                </a:solidFill>
              </a:rPr>
              <a:t>PRINCIPAL</a:t>
            </a:r>
          </a:p>
        </p:txBody>
      </p:sp>
      <p:sp>
        <p:nvSpPr>
          <p:cNvPr id="15364" name="Text Box 7"/>
          <p:cNvSpPr txBox="1">
            <a:spLocks noChangeArrowheads="1"/>
          </p:cNvSpPr>
          <p:nvPr/>
        </p:nvSpPr>
        <p:spPr bwMode="auto">
          <a:xfrm>
            <a:off x="395288" y="4048125"/>
            <a:ext cx="1316037" cy="304800"/>
          </a:xfrm>
          <a:prstGeom prst="rect">
            <a:avLst/>
          </a:prstGeom>
          <a:noFill/>
          <a:ln w="9525">
            <a:noFill/>
            <a:miter lim="800000"/>
            <a:headEnd/>
            <a:tailEnd/>
          </a:ln>
        </p:spPr>
        <p:txBody>
          <a:bodyPr wrap="none" lIns="0" tIns="0" rIns="0" bIns="0">
            <a:spAutoFit/>
          </a:bodyPr>
          <a:lstStyle/>
          <a:p>
            <a:pPr hangingPunct="0">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z="2000" b="1" i="0">
                <a:solidFill>
                  <a:srgbClr val="FFFFFF"/>
                </a:solidFill>
              </a:rPr>
              <a:t>PLATINUM</a:t>
            </a:r>
          </a:p>
        </p:txBody>
      </p:sp>
      <p:sp>
        <p:nvSpPr>
          <p:cNvPr id="15365" name="Text Box 8"/>
          <p:cNvSpPr txBox="1">
            <a:spLocks noChangeArrowheads="1"/>
          </p:cNvSpPr>
          <p:nvPr/>
        </p:nvSpPr>
        <p:spPr bwMode="auto">
          <a:xfrm>
            <a:off x="393700" y="5538788"/>
            <a:ext cx="736600" cy="304800"/>
          </a:xfrm>
          <a:prstGeom prst="rect">
            <a:avLst/>
          </a:prstGeom>
          <a:noFill/>
          <a:ln w="9525">
            <a:noFill/>
            <a:miter lim="800000"/>
            <a:headEnd/>
            <a:tailEnd/>
          </a:ln>
        </p:spPr>
        <p:txBody>
          <a:bodyPr wrap="none" lIns="0" tIns="0" rIns="0" bIns="0">
            <a:spAutoFit/>
          </a:bodyPr>
          <a:lstStyle/>
          <a:p>
            <a:pPr hangingPunct="0">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z="2000" b="1" i="0">
                <a:solidFill>
                  <a:srgbClr val="FFFFFF"/>
                </a:solidFill>
              </a:rPr>
              <a:t>GOLD</a:t>
            </a:r>
          </a:p>
        </p:txBody>
      </p:sp>
      <p:sp>
        <p:nvSpPr>
          <p:cNvPr id="15366" name="Line 14"/>
          <p:cNvSpPr>
            <a:spLocks noChangeShapeType="1"/>
          </p:cNvSpPr>
          <p:nvPr/>
        </p:nvSpPr>
        <p:spPr bwMode="auto">
          <a:xfrm>
            <a:off x="1903413" y="3581400"/>
            <a:ext cx="5356225" cy="1588"/>
          </a:xfrm>
          <a:prstGeom prst="line">
            <a:avLst/>
          </a:prstGeom>
          <a:noFill/>
          <a:ln w="28440">
            <a:solidFill>
              <a:srgbClr val="186C94"/>
            </a:solidFill>
            <a:miter lim="800000"/>
            <a:headEnd/>
            <a:tailEnd/>
          </a:ln>
        </p:spPr>
        <p:txBody>
          <a:bodyPr/>
          <a:lstStyle/>
          <a:p>
            <a:endParaRPr lang="en-US"/>
          </a:p>
        </p:txBody>
      </p:sp>
      <p:sp>
        <p:nvSpPr>
          <p:cNvPr id="15367" name="Line 15"/>
          <p:cNvSpPr>
            <a:spLocks noChangeShapeType="1"/>
          </p:cNvSpPr>
          <p:nvPr/>
        </p:nvSpPr>
        <p:spPr bwMode="auto">
          <a:xfrm>
            <a:off x="1903413" y="4819650"/>
            <a:ext cx="5384800" cy="1588"/>
          </a:xfrm>
          <a:prstGeom prst="line">
            <a:avLst/>
          </a:prstGeom>
          <a:noFill/>
          <a:ln w="28440">
            <a:solidFill>
              <a:srgbClr val="186C94"/>
            </a:solidFill>
            <a:miter lim="800000"/>
            <a:headEnd/>
            <a:tailEnd/>
          </a:ln>
        </p:spPr>
        <p:txBody>
          <a:bodyPr/>
          <a:lstStyle/>
          <a:p>
            <a:endParaRPr lang="en-US"/>
          </a:p>
        </p:txBody>
      </p:sp>
      <p:grpSp>
        <p:nvGrpSpPr>
          <p:cNvPr id="15368" name="Group 16"/>
          <p:cNvGrpSpPr>
            <a:grpSpLocks/>
          </p:cNvGrpSpPr>
          <p:nvPr/>
        </p:nvGrpSpPr>
        <p:grpSpPr bwMode="auto">
          <a:xfrm>
            <a:off x="1971675" y="363538"/>
            <a:ext cx="3043238" cy="657225"/>
            <a:chOff x="1242" y="229"/>
            <a:chExt cx="1917" cy="414"/>
          </a:xfrm>
        </p:grpSpPr>
        <p:grpSp>
          <p:nvGrpSpPr>
            <p:cNvPr id="15378" name="Group 17"/>
            <p:cNvGrpSpPr>
              <a:grpSpLocks/>
            </p:cNvGrpSpPr>
            <p:nvPr/>
          </p:nvGrpSpPr>
          <p:grpSpPr bwMode="auto">
            <a:xfrm>
              <a:off x="1242" y="229"/>
              <a:ext cx="593" cy="385"/>
              <a:chOff x="1242" y="229"/>
              <a:chExt cx="593" cy="385"/>
            </a:xfrm>
          </p:grpSpPr>
          <p:sp>
            <p:nvSpPr>
              <p:cNvPr id="15381" name="Freeform 18"/>
              <p:cNvSpPr>
                <a:spLocks noChangeArrowheads="1"/>
              </p:cNvSpPr>
              <p:nvPr/>
            </p:nvSpPr>
            <p:spPr bwMode="auto">
              <a:xfrm>
                <a:off x="1368" y="280"/>
                <a:ext cx="364" cy="330"/>
              </a:xfrm>
              <a:custGeom>
                <a:avLst/>
                <a:gdLst>
                  <a:gd name="T0" fmla="*/ 360 w 365"/>
                  <a:gd name="T1" fmla="*/ 169 h 331"/>
                  <a:gd name="T2" fmla="*/ 5 w 365"/>
                  <a:gd name="T3" fmla="*/ 174 h 331"/>
                  <a:gd name="T4" fmla="*/ 32 w 365"/>
                  <a:gd name="T5" fmla="*/ 216 h 331"/>
                  <a:gd name="T6" fmla="*/ 40 w 365"/>
                  <a:gd name="T7" fmla="*/ 251 h 331"/>
                  <a:gd name="T8" fmla="*/ 68 w 365"/>
                  <a:gd name="T9" fmla="*/ 253 h 331"/>
                  <a:gd name="T10" fmla="*/ 96 w 365"/>
                  <a:gd name="T11" fmla="*/ 237 h 331"/>
                  <a:gd name="T12" fmla="*/ 123 w 365"/>
                  <a:gd name="T13" fmla="*/ 217 h 331"/>
                  <a:gd name="T14" fmla="*/ 179 w 365"/>
                  <a:gd name="T15" fmla="*/ 209 h 331"/>
                  <a:gd name="T16" fmla="*/ 194 w 365"/>
                  <a:gd name="T17" fmla="*/ 219 h 331"/>
                  <a:gd name="T18" fmla="*/ 205 w 365"/>
                  <a:gd name="T19" fmla="*/ 237 h 331"/>
                  <a:gd name="T20" fmla="*/ 219 w 365"/>
                  <a:gd name="T21" fmla="*/ 217 h 331"/>
                  <a:gd name="T22" fmla="*/ 216 w 365"/>
                  <a:gd name="T23" fmla="*/ 237 h 331"/>
                  <a:gd name="T24" fmla="*/ 226 w 365"/>
                  <a:gd name="T25" fmla="*/ 240 h 331"/>
                  <a:gd name="T26" fmla="*/ 240 w 365"/>
                  <a:gd name="T27" fmla="*/ 264 h 331"/>
                  <a:gd name="T28" fmla="*/ 272 w 365"/>
                  <a:gd name="T29" fmla="*/ 272 h 331"/>
                  <a:gd name="T30" fmla="*/ 281 w 365"/>
                  <a:gd name="T31" fmla="*/ 275 h 331"/>
                  <a:gd name="T32" fmla="*/ 291 w 365"/>
                  <a:gd name="T33" fmla="*/ 276 h 331"/>
                  <a:gd name="T34" fmla="*/ 317 w 365"/>
                  <a:gd name="T35" fmla="*/ 262 h 331"/>
                  <a:gd name="T36" fmla="*/ 331 w 365"/>
                  <a:gd name="T37" fmla="*/ 235 h 331"/>
                  <a:gd name="T38" fmla="*/ 344 w 365"/>
                  <a:gd name="T39" fmla="*/ 219 h 331"/>
                  <a:gd name="T40" fmla="*/ 358 w 365"/>
                  <a:gd name="T41" fmla="*/ 181 h 331"/>
                  <a:gd name="T42" fmla="*/ 357 w 365"/>
                  <a:gd name="T43" fmla="*/ 155 h 331"/>
                  <a:gd name="T44" fmla="*/ 339 w 365"/>
                  <a:gd name="T45" fmla="*/ 130 h 331"/>
                  <a:gd name="T46" fmla="*/ 328 w 365"/>
                  <a:gd name="T47" fmla="*/ 119 h 331"/>
                  <a:gd name="T48" fmla="*/ 320 w 365"/>
                  <a:gd name="T49" fmla="*/ 96 h 331"/>
                  <a:gd name="T50" fmla="*/ 299 w 365"/>
                  <a:gd name="T51" fmla="*/ 82 h 331"/>
                  <a:gd name="T52" fmla="*/ 291 w 365"/>
                  <a:gd name="T53" fmla="*/ 53 h 331"/>
                  <a:gd name="T54" fmla="*/ 273 w 365"/>
                  <a:gd name="T55" fmla="*/ 32 h 331"/>
                  <a:gd name="T56" fmla="*/ 266 w 365"/>
                  <a:gd name="T57" fmla="*/ 0 h 331"/>
                  <a:gd name="T58" fmla="*/ 254 w 365"/>
                  <a:gd name="T59" fmla="*/ 23 h 331"/>
                  <a:gd name="T60" fmla="*/ 237 w 365"/>
                  <a:gd name="T61" fmla="*/ 69 h 331"/>
                  <a:gd name="T62" fmla="*/ 205 w 365"/>
                  <a:gd name="T63" fmla="*/ 51 h 331"/>
                  <a:gd name="T64" fmla="*/ 200 w 365"/>
                  <a:gd name="T65" fmla="*/ 26 h 331"/>
                  <a:gd name="T66" fmla="*/ 206 w 365"/>
                  <a:gd name="T67" fmla="*/ 16 h 331"/>
                  <a:gd name="T68" fmla="*/ 198 w 365"/>
                  <a:gd name="T69" fmla="*/ 15 h 331"/>
                  <a:gd name="T70" fmla="*/ 182 w 365"/>
                  <a:gd name="T71" fmla="*/ 13 h 331"/>
                  <a:gd name="T72" fmla="*/ 167 w 365"/>
                  <a:gd name="T73" fmla="*/ 8 h 331"/>
                  <a:gd name="T74" fmla="*/ 157 w 365"/>
                  <a:gd name="T75" fmla="*/ 23 h 331"/>
                  <a:gd name="T76" fmla="*/ 146 w 365"/>
                  <a:gd name="T77" fmla="*/ 34 h 331"/>
                  <a:gd name="T78" fmla="*/ 131 w 365"/>
                  <a:gd name="T79" fmla="*/ 47 h 331"/>
                  <a:gd name="T80" fmla="*/ 115 w 365"/>
                  <a:gd name="T81" fmla="*/ 39 h 331"/>
                  <a:gd name="T82" fmla="*/ 104 w 365"/>
                  <a:gd name="T83" fmla="*/ 45 h 331"/>
                  <a:gd name="T84" fmla="*/ 95 w 365"/>
                  <a:gd name="T85" fmla="*/ 63 h 331"/>
                  <a:gd name="T86" fmla="*/ 87 w 365"/>
                  <a:gd name="T87" fmla="*/ 74 h 331"/>
                  <a:gd name="T88" fmla="*/ 77 w 365"/>
                  <a:gd name="T89" fmla="*/ 82 h 331"/>
                  <a:gd name="T90" fmla="*/ 53 w 365"/>
                  <a:gd name="T91" fmla="*/ 106 h 331"/>
                  <a:gd name="T92" fmla="*/ 24 w 365"/>
                  <a:gd name="T93" fmla="*/ 117 h 331"/>
                  <a:gd name="T94" fmla="*/ 4 w 365"/>
                  <a:gd name="T95" fmla="*/ 138 h 331"/>
                  <a:gd name="T96" fmla="*/ 2 w 365"/>
                  <a:gd name="T97" fmla="*/ 160 h 331"/>
                  <a:gd name="T98" fmla="*/ 299 w 365"/>
                  <a:gd name="T99" fmla="*/ 305 h 331"/>
                  <a:gd name="T100" fmla="*/ 277 w 365"/>
                  <a:gd name="T101" fmla="*/ 297 h 331"/>
                  <a:gd name="T102" fmla="*/ 281 w 365"/>
                  <a:gd name="T103" fmla="*/ 323 h 331"/>
                  <a:gd name="T104" fmla="*/ 293 w 365"/>
                  <a:gd name="T105" fmla="*/ 320 h 331"/>
                  <a:gd name="T106" fmla="*/ 205 w 365"/>
                  <a:gd name="T107" fmla="*/ 8 h 331"/>
                  <a:gd name="T108" fmla="*/ 155 w 365"/>
                  <a:gd name="T109" fmla="*/ 15 h 331"/>
                  <a:gd name="T110" fmla="*/ 149 w 365"/>
                  <a:gd name="T111" fmla="*/ 12 h 331"/>
                  <a:gd name="T112" fmla="*/ 205 w 365"/>
                  <a:gd name="T113" fmla="*/ 32 h 331"/>
                  <a:gd name="T114" fmla="*/ 234 w 365"/>
                  <a:gd name="T115" fmla="*/ 61 h 331"/>
                  <a:gd name="T116" fmla="*/ 219 w 365"/>
                  <a:gd name="T117" fmla="*/ 243 h 331"/>
                  <a:gd name="T118" fmla="*/ 299 w 365"/>
                  <a:gd name="T119" fmla="*/ 294 h 33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65"/>
                  <a:gd name="T181" fmla="*/ 0 h 331"/>
                  <a:gd name="T182" fmla="*/ 365 w 365"/>
                  <a:gd name="T183" fmla="*/ 331 h 331"/>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65" h="331">
                    <a:moveTo>
                      <a:pt x="363" y="157"/>
                    </a:moveTo>
                    <a:lnTo>
                      <a:pt x="362" y="155"/>
                    </a:lnTo>
                    <a:lnTo>
                      <a:pt x="362" y="154"/>
                    </a:lnTo>
                    <a:lnTo>
                      <a:pt x="363" y="150"/>
                    </a:lnTo>
                    <a:lnTo>
                      <a:pt x="365" y="149"/>
                    </a:lnTo>
                    <a:lnTo>
                      <a:pt x="363" y="147"/>
                    </a:lnTo>
                    <a:lnTo>
                      <a:pt x="365" y="147"/>
                    </a:lnTo>
                    <a:lnTo>
                      <a:pt x="365" y="149"/>
                    </a:lnTo>
                    <a:lnTo>
                      <a:pt x="365" y="152"/>
                    </a:lnTo>
                    <a:lnTo>
                      <a:pt x="363" y="155"/>
                    </a:lnTo>
                    <a:lnTo>
                      <a:pt x="363" y="157"/>
                    </a:lnTo>
                    <a:close/>
                    <a:moveTo>
                      <a:pt x="365" y="176"/>
                    </a:moveTo>
                    <a:lnTo>
                      <a:pt x="365" y="176"/>
                    </a:lnTo>
                    <a:lnTo>
                      <a:pt x="365" y="174"/>
                    </a:lnTo>
                    <a:lnTo>
                      <a:pt x="363" y="174"/>
                    </a:lnTo>
                    <a:lnTo>
                      <a:pt x="365" y="176"/>
                    </a:lnTo>
                    <a:close/>
                    <a:moveTo>
                      <a:pt x="8" y="178"/>
                    </a:moveTo>
                    <a:lnTo>
                      <a:pt x="10" y="179"/>
                    </a:lnTo>
                    <a:lnTo>
                      <a:pt x="10" y="181"/>
                    </a:lnTo>
                    <a:lnTo>
                      <a:pt x="10" y="182"/>
                    </a:lnTo>
                    <a:lnTo>
                      <a:pt x="8" y="182"/>
                    </a:lnTo>
                    <a:lnTo>
                      <a:pt x="8" y="181"/>
                    </a:lnTo>
                    <a:lnTo>
                      <a:pt x="7" y="181"/>
                    </a:lnTo>
                    <a:lnTo>
                      <a:pt x="7" y="179"/>
                    </a:lnTo>
                    <a:lnTo>
                      <a:pt x="5" y="179"/>
                    </a:lnTo>
                    <a:lnTo>
                      <a:pt x="4" y="178"/>
                    </a:lnTo>
                    <a:lnTo>
                      <a:pt x="5" y="179"/>
                    </a:lnTo>
                    <a:lnTo>
                      <a:pt x="5" y="181"/>
                    </a:lnTo>
                    <a:lnTo>
                      <a:pt x="7" y="181"/>
                    </a:lnTo>
                    <a:lnTo>
                      <a:pt x="7" y="182"/>
                    </a:lnTo>
                    <a:lnTo>
                      <a:pt x="8" y="184"/>
                    </a:lnTo>
                    <a:lnTo>
                      <a:pt x="10" y="186"/>
                    </a:lnTo>
                    <a:lnTo>
                      <a:pt x="13" y="186"/>
                    </a:lnTo>
                    <a:lnTo>
                      <a:pt x="15" y="189"/>
                    </a:lnTo>
                    <a:lnTo>
                      <a:pt x="16" y="192"/>
                    </a:lnTo>
                    <a:lnTo>
                      <a:pt x="16" y="195"/>
                    </a:lnTo>
                    <a:lnTo>
                      <a:pt x="20" y="198"/>
                    </a:lnTo>
                    <a:lnTo>
                      <a:pt x="23" y="200"/>
                    </a:lnTo>
                    <a:lnTo>
                      <a:pt x="23" y="203"/>
                    </a:lnTo>
                    <a:lnTo>
                      <a:pt x="26" y="206"/>
                    </a:lnTo>
                    <a:lnTo>
                      <a:pt x="28" y="208"/>
                    </a:lnTo>
                    <a:lnTo>
                      <a:pt x="29" y="213"/>
                    </a:lnTo>
                    <a:lnTo>
                      <a:pt x="29" y="218"/>
                    </a:lnTo>
                    <a:lnTo>
                      <a:pt x="32" y="221"/>
                    </a:lnTo>
                    <a:lnTo>
                      <a:pt x="34" y="222"/>
                    </a:lnTo>
                    <a:lnTo>
                      <a:pt x="36" y="224"/>
                    </a:lnTo>
                    <a:lnTo>
                      <a:pt x="39" y="229"/>
                    </a:lnTo>
                    <a:lnTo>
                      <a:pt x="40" y="232"/>
                    </a:lnTo>
                    <a:lnTo>
                      <a:pt x="40" y="235"/>
                    </a:lnTo>
                    <a:lnTo>
                      <a:pt x="42" y="238"/>
                    </a:lnTo>
                    <a:lnTo>
                      <a:pt x="40" y="240"/>
                    </a:lnTo>
                    <a:lnTo>
                      <a:pt x="40" y="242"/>
                    </a:lnTo>
                    <a:lnTo>
                      <a:pt x="42" y="243"/>
                    </a:lnTo>
                    <a:lnTo>
                      <a:pt x="42" y="245"/>
                    </a:lnTo>
                    <a:lnTo>
                      <a:pt x="42" y="246"/>
                    </a:lnTo>
                    <a:lnTo>
                      <a:pt x="40" y="250"/>
                    </a:lnTo>
                    <a:lnTo>
                      <a:pt x="39" y="250"/>
                    </a:lnTo>
                    <a:lnTo>
                      <a:pt x="39" y="251"/>
                    </a:lnTo>
                    <a:lnTo>
                      <a:pt x="40" y="256"/>
                    </a:lnTo>
                    <a:lnTo>
                      <a:pt x="42" y="256"/>
                    </a:lnTo>
                    <a:lnTo>
                      <a:pt x="44" y="256"/>
                    </a:lnTo>
                    <a:lnTo>
                      <a:pt x="45" y="258"/>
                    </a:lnTo>
                    <a:lnTo>
                      <a:pt x="47" y="259"/>
                    </a:lnTo>
                    <a:lnTo>
                      <a:pt x="50" y="261"/>
                    </a:lnTo>
                    <a:lnTo>
                      <a:pt x="52" y="261"/>
                    </a:lnTo>
                    <a:lnTo>
                      <a:pt x="53" y="261"/>
                    </a:lnTo>
                    <a:lnTo>
                      <a:pt x="56" y="261"/>
                    </a:lnTo>
                    <a:lnTo>
                      <a:pt x="61" y="259"/>
                    </a:lnTo>
                    <a:lnTo>
                      <a:pt x="63" y="261"/>
                    </a:lnTo>
                    <a:lnTo>
                      <a:pt x="63" y="259"/>
                    </a:lnTo>
                    <a:lnTo>
                      <a:pt x="64" y="259"/>
                    </a:lnTo>
                    <a:lnTo>
                      <a:pt x="64" y="258"/>
                    </a:lnTo>
                    <a:lnTo>
                      <a:pt x="66" y="259"/>
                    </a:lnTo>
                    <a:lnTo>
                      <a:pt x="68" y="258"/>
                    </a:lnTo>
                    <a:lnTo>
                      <a:pt x="69" y="256"/>
                    </a:lnTo>
                    <a:lnTo>
                      <a:pt x="69" y="254"/>
                    </a:lnTo>
                    <a:lnTo>
                      <a:pt x="71" y="253"/>
                    </a:lnTo>
                    <a:lnTo>
                      <a:pt x="74" y="251"/>
                    </a:lnTo>
                    <a:lnTo>
                      <a:pt x="76" y="251"/>
                    </a:lnTo>
                    <a:lnTo>
                      <a:pt x="77" y="250"/>
                    </a:lnTo>
                    <a:lnTo>
                      <a:pt x="76" y="248"/>
                    </a:lnTo>
                    <a:lnTo>
                      <a:pt x="77" y="248"/>
                    </a:lnTo>
                    <a:lnTo>
                      <a:pt x="79" y="246"/>
                    </a:lnTo>
                    <a:lnTo>
                      <a:pt x="79" y="245"/>
                    </a:lnTo>
                    <a:lnTo>
                      <a:pt x="87" y="243"/>
                    </a:lnTo>
                    <a:lnTo>
                      <a:pt x="88" y="242"/>
                    </a:lnTo>
                    <a:lnTo>
                      <a:pt x="90" y="242"/>
                    </a:lnTo>
                    <a:lnTo>
                      <a:pt x="93" y="242"/>
                    </a:lnTo>
                    <a:lnTo>
                      <a:pt x="95" y="242"/>
                    </a:lnTo>
                    <a:lnTo>
                      <a:pt x="96" y="240"/>
                    </a:lnTo>
                    <a:lnTo>
                      <a:pt x="96" y="242"/>
                    </a:lnTo>
                    <a:lnTo>
                      <a:pt x="98" y="242"/>
                    </a:lnTo>
                    <a:lnTo>
                      <a:pt x="103" y="240"/>
                    </a:lnTo>
                    <a:lnTo>
                      <a:pt x="104" y="240"/>
                    </a:lnTo>
                    <a:lnTo>
                      <a:pt x="106" y="240"/>
                    </a:lnTo>
                    <a:lnTo>
                      <a:pt x="108" y="240"/>
                    </a:lnTo>
                    <a:lnTo>
                      <a:pt x="109" y="238"/>
                    </a:lnTo>
                    <a:lnTo>
                      <a:pt x="111" y="237"/>
                    </a:lnTo>
                    <a:lnTo>
                      <a:pt x="111" y="235"/>
                    </a:lnTo>
                    <a:lnTo>
                      <a:pt x="112" y="232"/>
                    </a:lnTo>
                    <a:lnTo>
                      <a:pt x="112" y="230"/>
                    </a:lnTo>
                    <a:lnTo>
                      <a:pt x="114" y="229"/>
                    </a:lnTo>
                    <a:lnTo>
                      <a:pt x="115" y="229"/>
                    </a:lnTo>
                    <a:lnTo>
                      <a:pt x="117" y="227"/>
                    </a:lnTo>
                    <a:lnTo>
                      <a:pt x="119" y="227"/>
                    </a:lnTo>
                    <a:lnTo>
                      <a:pt x="120" y="226"/>
                    </a:lnTo>
                    <a:lnTo>
                      <a:pt x="123" y="222"/>
                    </a:lnTo>
                    <a:lnTo>
                      <a:pt x="125" y="221"/>
                    </a:lnTo>
                    <a:lnTo>
                      <a:pt x="128" y="221"/>
                    </a:lnTo>
                    <a:lnTo>
                      <a:pt x="130" y="221"/>
                    </a:lnTo>
                    <a:lnTo>
                      <a:pt x="135" y="219"/>
                    </a:lnTo>
                    <a:lnTo>
                      <a:pt x="138" y="219"/>
                    </a:lnTo>
                    <a:lnTo>
                      <a:pt x="141" y="218"/>
                    </a:lnTo>
                    <a:lnTo>
                      <a:pt x="143" y="218"/>
                    </a:lnTo>
                    <a:lnTo>
                      <a:pt x="144" y="218"/>
                    </a:lnTo>
                    <a:lnTo>
                      <a:pt x="147" y="214"/>
                    </a:lnTo>
                    <a:lnTo>
                      <a:pt x="154" y="211"/>
                    </a:lnTo>
                    <a:lnTo>
                      <a:pt x="155" y="211"/>
                    </a:lnTo>
                    <a:lnTo>
                      <a:pt x="162" y="211"/>
                    </a:lnTo>
                    <a:lnTo>
                      <a:pt x="167" y="210"/>
                    </a:lnTo>
                    <a:lnTo>
                      <a:pt x="171" y="210"/>
                    </a:lnTo>
                    <a:lnTo>
                      <a:pt x="173" y="210"/>
                    </a:lnTo>
                    <a:lnTo>
                      <a:pt x="175" y="210"/>
                    </a:lnTo>
                    <a:lnTo>
                      <a:pt x="179" y="214"/>
                    </a:lnTo>
                    <a:lnTo>
                      <a:pt x="181" y="214"/>
                    </a:lnTo>
                    <a:lnTo>
                      <a:pt x="181" y="213"/>
                    </a:lnTo>
                    <a:lnTo>
                      <a:pt x="183" y="213"/>
                    </a:lnTo>
                    <a:lnTo>
                      <a:pt x="186" y="214"/>
                    </a:lnTo>
                    <a:lnTo>
                      <a:pt x="187" y="216"/>
                    </a:lnTo>
                    <a:lnTo>
                      <a:pt x="189" y="216"/>
                    </a:lnTo>
                    <a:lnTo>
                      <a:pt x="189" y="214"/>
                    </a:lnTo>
                    <a:lnTo>
                      <a:pt x="192" y="218"/>
                    </a:lnTo>
                    <a:lnTo>
                      <a:pt x="195" y="218"/>
                    </a:lnTo>
                    <a:lnTo>
                      <a:pt x="195" y="221"/>
                    </a:lnTo>
                    <a:lnTo>
                      <a:pt x="195" y="222"/>
                    </a:lnTo>
                    <a:lnTo>
                      <a:pt x="195" y="224"/>
                    </a:lnTo>
                    <a:lnTo>
                      <a:pt x="197" y="224"/>
                    </a:lnTo>
                    <a:lnTo>
                      <a:pt x="199" y="224"/>
                    </a:lnTo>
                    <a:lnTo>
                      <a:pt x="200" y="224"/>
                    </a:lnTo>
                    <a:lnTo>
                      <a:pt x="200" y="226"/>
                    </a:lnTo>
                    <a:lnTo>
                      <a:pt x="202" y="227"/>
                    </a:lnTo>
                    <a:lnTo>
                      <a:pt x="202" y="229"/>
                    </a:lnTo>
                    <a:lnTo>
                      <a:pt x="203" y="230"/>
                    </a:lnTo>
                    <a:lnTo>
                      <a:pt x="205" y="232"/>
                    </a:lnTo>
                    <a:lnTo>
                      <a:pt x="205" y="234"/>
                    </a:lnTo>
                    <a:lnTo>
                      <a:pt x="207" y="235"/>
                    </a:lnTo>
                    <a:lnTo>
                      <a:pt x="207" y="237"/>
                    </a:lnTo>
                    <a:lnTo>
                      <a:pt x="207" y="238"/>
                    </a:lnTo>
                    <a:lnTo>
                      <a:pt x="203" y="237"/>
                    </a:lnTo>
                    <a:lnTo>
                      <a:pt x="203" y="238"/>
                    </a:lnTo>
                    <a:lnTo>
                      <a:pt x="205" y="238"/>
                    </a:lnTo>
                    <a:lnTo>
                      <a:pt x="207" y="240"/>
                    </a:lnTo>
                    <a:lnTo>
                      <a:pt x="208" y="240"/>
                    </a:lnTo>
                    <a:lnTo>
                      <a:pt x="208" y="242"/>
                    </a:lnTo>
                    <a:lnTo>
                      <a:pt x="210" y="242"/>
                    </a:lnTo>
                    <a:lnTo>
                      <a:pt x="211" y="243"/>
                    </a:lnTo>
                    <a:lnTo>
                      <a:pt x="211" y="240"/>
                    </a:lnTo>
                    <a:lnTo>
                      <a:pt x="210" y="240"/>
                    </a:lnTo>
                    <a:lnTo>
                      <a:pt x="210" y="238"/>
                    </a:lnTo>
                    <a:lnTo>
                      <a:pt x="211" y="237"/>
                    </a:lnTo>
                    <a:lnTo>
                      <a:pt x="213" y="235"/>
                    </a:lnTo>
                    <a:lnTo>
                      <a:pt x="215" y="232"/>
                    </a:lnTo>
                    <a:lnTo>
                      <a:pt x="216" y="232"/>
                    </a:lnTo>
                    <a:lnTo>
                      <a:pt x="218" y="230"/>
                    </a:lnTo>
                    <a:lnTo>
                      <a:pt x="218" y="229"/>
                    </a:lnTo>
                    <a:lnTo>
                      <a:pt x="219" y="229"/>
                    </a:lnTo>
                    <a:lnTo>
                      <a:pt x="221" y="229"/>
                    </a:lnTo>
                    <a:lnTo>
                      <a:pt x="221" y="227"/>
                    </a:lnTo>
                    <a:lnTo>
                      <a:pt x="223" y="224"/>
                    </a:lnTo>
                    <a:lnTo>
                      <a:pt x="224" y="222"/>
                    </a:lnTo>
                    <a:lnTo>
                      <a:pt x="226" y="222"/>
                    </a:lnTo>
                    <a:lnTo>
                      <a:pt x="226" y="219"/>
                    </a:lnTo>
                    <a:lnTo>
                      <a:pt x="226" y="218"/>
                    </a:lnTo>
                    <a:lnTo>
                      <a:pt x="226" y="219"/>
                    </a:lnTo>
                    <a:lnTo>
                      <a:pt x="227" y="221"/>
                    </a:lnTo>
                    <a:lnTo>
                      <a:pt x="227" y="222"/>
                    </a:lnTo>
                    <a:lnTo>
                      <a:pt x="227" y="224"/>
                    </a:lnTo>
                    <a:lnTo>
                      <a:pt x="226" y="224"/>
                    </a:lnTo>
                    <a:lnTo>
                      <a:pt x="226" y="227"/>
                    </a:lnTo>
                    <a:lnTo>
                      <a:pt x="226" y="229"/>
                    </a:lnTo>
                    <a:lnTo>
                      <a:pt x="224" y="229"/>
                    </a:lnTo>
                    <a:lnTo>
                      <a:pt x="223" y="234"/>
                    </a:lnTo>
                    <a:lnTo>
                      <a:pt x="223" y="235"/>
                    </a:lnTo>
                    <a:lnTo>
                      <a:pt x="223" y="237"/>
                    </a:lnTo>
                    <a:lnTo>
                      <a:pt x="223" y="240"/>
                    </a:lnTo>
                    <a:lnTo>
                      <a:pt x="221" y="242"/>
                    </a:lnTo>
                    <a:lnTo>
                      <a:pt x="219" y="242"/>
                    </a:lnTo>
                    <a:lnTo>
                      <a:pt x="218" y="245"/>
                    </a:lnTo>
                    <a:lnTo>
                      <a:pt x="219" y="245"/>
                    </a:lnTo>
                    <a:lnTo>
                      <a:pt x="221" y="245"/>
                    </a:lnTo>
                    <a:lnTo>
                      <a:pt x="223" y="245"/>
                    </a:lnTo>
                    <a:lnTo>
                      <a:pt x="224" y="243"/>
                    </a:lnTo>
                    <a:lnTo>
                      <a:pt x="226" y="243"/>
                    </a:lnTo>
                    <a:lnTo>
                      <a:pt x="226" y="242"/>
                    </a:lnTo>
                    <a:lnTo>
                      <a:pt x="226" y="240"/>
                    </a:lnTo>
                    <a:lnTo>
                      <a:pt x="226" y="238"/>
                    </a:lnTo>
                    <a:lnTo>
                      <a:pt x="227" y="234"/>
                    </a:lnTo>
                    <a:lnTo>
                      <a:pt x="229" y="235"/>
                    </a:lnTo>
                    <a:lnTo>
                      <a:pt x="231" y="237"/>
                    </a:lnTo>
                    <a:lnTo>
                      <a:pt x="232" y="240"/>
                    </a:lnTo>
                    <a:lnTo>
                      <a:pt x="232" y="242"/>
                    </a:lnTo>
                    <a:lnTo>
                      <a:pt x="231" y="245"/>
                    </a:lnTo>
                    <a:lnTo>
                      <a:pt x="229" y="246"/>
                    </a:lnTo>
                    <a:lnTo>
                      <a:pt x="229" y="248"/>
                    </a:lnTo>
                    <a:lnTo>
                      <a:pt x="231" y="248"/>
                    </a:lnTo>
                    <a:lnTo>
                      <a:pt x="234" y="248"/>
                    </a:lnTo>
                    <a:lnTo>
                      <a:pt x="235" y="246"/>
                    </a:lnTo>
                    <a:lnTo>
                      <a:pt x="237" y="246"/>
                    </a:lnTo>
                    <a:lnTo>
                      <a:pt x="239" y="246"/>
                    </a:lnTo>
                    <a:lnTo>
                      <a:pt x="237" y="250"/>
                    </a:lnTo>
                    <a:lnTo>
                      <a:pt x="240" y="254"/>
                    </a:lnTo>
                    <a:lnTo>
                      <a:pt x="242" y="258"/>
                    </a:lnTo>
                    <a:lnTo>
                      <a:pt x="242" y="259"/>
                    </a:lnTo>
                    <a:lnTo>
                      <a:pt x="242" y="261"/>
                    </a:lnTo>
                    <a:lnTo>
                      <a:pt x="242" y="262"/>
                    </a:lnTo>
                    <a:lnTo>
                      <a:pt x="243" y="267"/>
                    </a:lnTo>
                    <a:lnTo>
                      <a:pt x="245" y="267"/>
                    </a:lnTo>
                    <a:lnTo>
                      <a:pt x="245" y="269"/>
                    </a:lnTo>
                    <a:lnTo>
                      <a:pt x="247" y="270"/>
                    </a:lnTo>
                    <a:lnTo>
                      <a:pt x="248" y="272"/>
                    </a:lnTo>
                    <a:lnTo>
                      <a:pt x="251" y="272"/>
                    </a:lnTo>
                    <a:lnTo>
                      <a:pt x="253" y="275"/>
                    </a:lnTo>
                    <a:lnTo>
                      <a:pt x="255" y="277"/>
                    </a:lnTo>
                    <a:lnTo>
                      <a:pt x="256" y="275"/>
                    </a:lnTo>
                    <a:lnTo>
                      <a:pt x="258" y="275"/>
                    </a:lnTo>
                    <a:lnTo>
                      <a:pt x="259" y="277"/>
                    </a:lnTo>
                    <a:lnTo>
                      <a:pt x="263" y="277"/>
                    </a:lnTo>
                    <a:lnTo>
                      <a:pt x="266" y="278"/>
                    </a:lnTo>
                    <a:lnTo>
                      <a:pt x="269" y="280"/>
                    </a:lnTo>
                    <a:lnTo>
                      <a:pt x="269" y="281"/>
                    </a:lnTo>
                    <a:lnTo>
                      <a:pt x="271" y="281"/>
                    </a:lnTo>
                    <a:lnTo>
                      <a:pt x="274" y="280"/>
                    </a:lnTo>
                    <a:lnTo>
                      <a:pt x="275" y="278"/>
                    </a:lnTo>
                    <a:lnTo>
                      <a:pt x="277" y="277"/>
                    </a:lnTo>
                    <a:lnTo>
                      <a:pt x="278" y="277"/>
                    </a:lnTo>
                    <a:lnTo>
                      <a:pt x="280" y="275"/>
                    </a:lnTo>
                    <a:lnTo>
                      <a:pt x="278" y="274"/>
                    </a:lnTo>
                    <a:lnTo>
                      <a:pt x="282" y="272"/>
                    </a:lnTo>
                    <a:lnTo>
                      <a:pt x="283" y="274"/>
                    </a:lnTo>
                    <a:lnTo>
                      <a:pt x="282" y="275"/>
                    </a:lnTo>
                    <a:lnTo>
                      <a:pt x="282" y="277"/>
                    </a:lnTo>
                    <a:lnTo>
                      <a:pt x="280" y="277"/>
                    </a:lnTo>
                    <a:lnTo>
                      <a:pt x="282" y="278"/>
                    </a:lnTo>
                    <a:lnTo>
                      <a:pt x="283" y="278"/>
                    </a:lnTo>
                    <a:lnTo>
                      <a:pt x="285" y="277"/>
                    </a:lnTo>
                    <a:lnTo>
                      <a:pt x="286" y="277"/>
                    </a:lnTo>
                    <a:lnTo>
                      <a:pt x="286" y="278"/>
                    </a:lnTo>
                    <a:lnTo>
                      <a:pt x="286" y="280"/>
                    </a:lnTo>
                    <a:lnTo>
                      <a:pt x="286" y="281"/>
                    </a:lnTo>
                    <a:lnTo>
                      <a:pt x="288" y="281"/>
                    </a:lnTo>
                    <a:lnTo>
                      <a:pt x="288" y="283"/>
                    </a:lnTo>
                    <a:lnTo>
                      <a:pt x="290" y="283"/>
                    </a:lnTo>
                    <a:lnTo>
                      <a:pt x="291" y="283"/>
                    </a:lnTo>
                    <a:lnTo>
                      <a:pt x="293" y="286"/>
                    </a:lnTo>
                    <a:lnTo>
                      <a:pt x="293" y="285"/>
                    </a:lnTo>
                    <a:lnTo>
                      <a:pt x="294" y="283"/>
                    </a:lnTo>
                    <a:lnTo>
                      <a:pt x="293" y="283"/>
                    </a:lnTo>
                    <a:lnTo>
                      <a:pt x="291" y="283"/>
                    </a:lnTo>
                    <a:lnTo>
                      <a:pt x="291" y="281"/>
                    </a:lnTo>
                    <a:lnTo>
                      <a:pt x="293" y="281"/>
                    </a:lnTo>
                    <a:lnTo>
                      <a:pt x="296" y="281"/>
                    </a:lnTo>
                    <a:lnTo>
                      <a:pt x="299" y="280"/>
                    </a:lnTo>
                    <a:lnTo>
                      <a:pt x="299" y="278"/>
                    </a:lnTo>
                    <a:lnTo>
                      <a:pt x="302" y="277"/>
                    </a:lnTo>
                    <a:lnTo>
                      <a:pt x="304" y="277"/>
                    </a:lnTo>
                    <a:lnTo>
                      <a:pt x="307" y="275"/>
                    </a:lnTo>
                    <a:lnTo>
                      <a:pt x="309" y="275"/>
                    </a:lnTo>
                    <a:lnTo>
                      <a:pt x="317" y="275"/>
                    </a:lnTo>
                    <a:lnTo>
                      <a:pt x="320" y="275"/>
                    </a:lnTo>
                    <a:lnTo>
                      <a:pt x="320" y="274"/>
                    </a:lnTo>
                    <a:lnTo>
                      <a:pt x="322" y="274"/>
                    </a:lnTo>
                    <a:lnTo>
                      <a:pt x="323" y="272"/>
                    </a:lnTo>
                    <a:lnTo>
                      <a:pt x="323" y="270"/>
                    </a:lnTo>
                    <a:lnTo>
                      <a:pt x="322" y="267"/>
                    </a:lnTo>
                    <a:lnTo>
                      <a:pt x="323" y="266"/>
                    </a:lnTo>
                    <a:lnTo>
                      <a:pt x="325" y="264"/>
                    </a:lnTo>
                    <a:lnTo>
                      <a:pt x="325" y="262"/>
                    </a:lnTo>
                    <a:lnTo>
                      <a:pt x="325" y="261"/>
                    </a:lnTo>
                    <a:lnTo>
                      <a:pt x="326" y="259"/>
                    </a:lnTo>
                    <a:lnTo>
                      <a:pt x="326" y="256"/>
                    </a:lnTo>
                    <a:lnTo>
                      <a:pt x="328" y="254"/>
                    </a:lnTo>
                    <a:lnTo>
                      <a:pt x="328" y="253"/>
                    </a:lnTo>
                    <a:lnTo>
                      <a:pt x="330" y="250"/>
                    </a:lnTo>
                    <a:lnTo>
                      <a:pt x="331" y="251"/>
                    </a:lnTo>
                    <a:lnTo>
                      <a:pt x="331" y="250"/>
                    </a:lnTo>
                    <a:lnTo>
                      <a:pt x="334" y="243"/>
                    </a:lnTo>
                    <a:lnTo>
                      <a:pt x="336" y="242"/>
                    </a:lnTo>
                    <a:lnTo>
                      <a:pt x="336" y="240"/>
                    </a:lnTo>
                    <a:lnTo>
                      <a:pt x="338" y="238"/>
                    </a:lnTo>
                    <a:lnTo>
                      <a:pt x="338" y="237"/>
                    </a:lnTo>
                    <a:lnTo>
                      <a:pt x="338" y="235"/>
                    </a:lnTo>
                    <a:lnTo>
                      <a:pt x="339" y="235"/>
                    </a:lnTo>
                    <a:lnTo>
                      <a:pt x="341" y="234"/>
                    </a:lnTo>
                    <a:lnTo>
                      <a:pt x="341" y="230"/>
                    </a:lnTo>
                    <a:lnTo>
                      <a:pt x="342" y="230"/>
                    </a:lnTo>
                    <a:lnTo>
                      <a:pt x="344" y="229"/>
                    </a:lnTo>
                    <a:lnTo>
                      <a:pt x="346" y="227"/>
                    </a:lnTo>
                    <a:lnTo>
                      <a:pt x="347" y="227"/>
                    </a:lnTo>
                    <a:lnTo>
                      <a:pt x="349" y="224"/>
                    </a:lnTo>
                    <a:lnTo>
                      <a:pt x="349" y="222"/>
                    </a:lnTo>
                    <a:lnTo>
                      <a:pt x="350" y="222"/>
                    </a:lnTo>
                    <a:lnTo>
                      <a:pt x="350" y="221"/>
                    </a:lnTo>
                    <a:lnTo>
                      <a:pt x="352" y="219"/>
                    </a:lnTo>
                    <a:lnTo>
                      <a:pt x="355" y="214"/>
                    </a:lnTo>
                    <a:lnTo>
                      <a:pt x="355" y="213"/>
                    </a:lnTo>
                    <a:lnTo>
                      <a:pt x="355" y="211"/>
                    </a:lnTo>
                    <a:lnTo>
                      <a:pt x="357" y="210"/>
                    </a:lnTo>
                    <a:lnTo>
                      <a:pt x="357" y="206"/>
                    </a:lnTo>
                    <a:lnTo>
                      <a:pt x="358" y="203"/>
                    </a:lnTo>
                    <a:lnTo>
                      <a:pt x="360" y="198"/>
                    </a:lnTo>
                    <a:lnTo>
                      <a:pt x="362" y="195"/>
                    </a:lnTo>
                    <a:lnTo>
                      <a:pt x="362" y="192"/>
                    </a:lnTo>
                    <a:lnTo>
                      <a:pt x="363" y="190"/>
                    </a:lnTo>
                    <a:lnTo>
                      <a:pt x="363" y="187"/>
                    </a:lnTo>
                    <a:lnTo>
                      <a:pt x="363" y="186"/>
                    </a:lnTo>
                    <a:lnTo>
                      <a:pt x="365" y="184"/>
                    </a:lnTo>
                    <a:lnTo>
                      <a:pt x="363" y="179"/>
                    </a:lnTo>
                    <a:lnTo>
                      <a:pt x="362" y="176"/>
                    </a:lnTo>
                    <a:lnTo>
                      <a:pt x="362" y="174"/>
                    </a:lnTo>
                    <a:lnTo>
                      <a:pt x="362" y="173"/>
                    </a:lnTo>
                    <a:lnTo>
                      <a:pt x="362" y="171"/>
                    </a:lnTo>
                    <a:lnTo>
                      <a:pt x="362" y="170"/>
                    </a:lnTo>
                    <a:lnTo>
                      <a:pt x="363" y="171"/>
                    </a:lnTo>
                    <a:lnTo>
                      <a:pt x="362" y="170"/>
                    </a:lnTo>
                    <a:lnTo>
                      <a:pt x="362" y="165"/>
                    </a:lnTo>
                    <a:lnTo>
                      <a:pt x="362" y="163"/>
                    </a:lnTo>
                    <a:lnTo>
                      <a:pt x="363" y="160"/>
                    </a:lnTo>
                    <a:lnTo>
                      <a:pt x="363" y="157"/>
                    </a:lnTo>
                    <a:lnTo>
                      <a:pt x="362" y="158"/>
                    </a:lnTo>
                    <a:lnTo>
                      <a:pt x="362" y="157"/>
                    </a:lnTo>
                    <a:lnTo>
                      <a:pt x="362" y="155"/>
                    </a:lnTo>
                    <a:lnTo>
                      <a:pt x="362" y="152"/>
                    </a:lnTo>
                    <a:lnTo>
                      <a:pt x="360" y="150"/>
                    </a:lnTo>
                    <a:lnTo>
                      <a:pt x="358" y="150"/>
                    </a:lnTo>
                    <a:lnTo>
                      <a:pt x="360" y="149"/>
                    </a:lnTo>
                    <a:lnTo>
                      <a:pt x="357" y="146"/>
                    </a:lnTo>
                    <a:lnTo>
                      <a:pt x="355" y="144"/>
                    </a:lnTo>
                    <a:lnTo>
                      <a:pt x="354" y="143"/>
                    </a:lnTo>
                    <a:lnTo>
                      <a:pt x="354" y="141"/>
                    </a:lnTo>
                    <a:lnTo>
                      <a:pt x="352" y="138"/>
                    </a:lnTo>
                    <a:lnTo>
                      <a:pt x="350" y="138"/>
                    </a:lnTo>
                    <a:lnTo>
                      <a:pt x="349" y="138"/>
                    </a:lnTo>
                    <a:lnTo>
                      <a:pt x="347" y="135"/>
                    </a:lnTo>
                    <a:lnTo>
                      <a:pt x="346" y="133"/>
                    </a:lnTo>
                    <a:lnTo>
                      <a:pt x="344" y="133"/>
                    </a:lnTo>
                    <a:lnTo>
                      <a:pt x="344" y="130"/>
                    </a:lnTo>
                    <a:lnTo>
                      <a:pt x="344" y="125"/>
                    </a:lnTo>
                    <a:lnTo>
                      <a:pt x="344" y="122"/>
                    </a:lnTo>
                    <a:lnTo>
                      <a:pt x="344" y="120"/>
                    </a:lnTo>
                    <a:lnTo>
                      <a:pt x="342" y="119"/>
                    </a:lnTo>
                    <a:lnTo>
                      <a:pt x="342" y="122"/>
                    </a:lnTo>
                    <a:lnTo>
                      <a:pt x="341" y="120"/>
                    </a:lnTo>
                    <a:lnTo>
                      <a:pt x="339" y="120"/>
                    </a:lnTo>
                    <a:lnTo>
                      <a:pt x="338" y="119"/>
                    </a:lnTo>
                    <a:lnTo>
                      <a:pt x="338" y="117"/>
                    </a:lnTo>
                    <a:lnTo>
                      <a:pt x="336" y="117"/>
                    </a:lnTo>
                    <a:lnTo>
                      <a:pt x="336" y="120"/>
                    </a:lnTo>
                    <a:lnTo>
                      <a:pt x="334" y="120"/>
                    </a:lnTo>
                    <a:lnTo>
                      <a:pt x="334" y="119"/>
                    </a:lnTo>
                    <a:lnTo>
                      <a:pt x="333" y="119"/>
                    </a:lnTo>
                    <a:lnTo>
                      <a:pt x="333" y="117"/>
                    </a:lnTo>
                    <a:lnTo>
                      <a:pt x="333" y="115"/>
                    </a:lnTo>
                    <a:lnTo>
                      <a:pt x="333" y="111"/>
                    </a:lnTo>
                    <a:lnTo>
                      <a:pt x="331" y="111"/>
                    </a:lnTo>
                    <a:lnTo>
                      <a:pt x="331" y="109"/>
                    </a:lnTo>
                    <a:lnTo>
                      <a:pt x="331" y="107"/>
                    </a:lnTo>
                    <a:lnTo>
                      <a:pt x="331" y="106"/>
                    </a:lnTo>
                    <a:lnTo>
                      <a:pt x="330" y="104"/>
                    </a:lnTo>
                    <a:lnTo>
                      <a:pt x="330" y="103"/>
                    </a:lnTo>
                    <a:lnTo>
                      <a:pt x="328" y="103"/>
                    </a:lnTo>
                    <a:lnTo>
                      <a:pt x="326" y="103"/>
                    </a:lnTo>
                    <a:lnTo>
                      <a:pt x="326" y="99"/>
                    </a:lnTo>
                    <a:lnTo>
                      <a:pt x="328" y="101"/>
                    </a:lnTo>
                    <a:lnTo>
                      <a:pt x="328" y="98"/>
                    </a:lnTo>
                    <a:lnTo>
                      <a:pt x="326" y="98"/>
                    </a:lnTo>
                    <a:lnTo>
                      <a:pt x="325" y="96"/>
                    </a:lnTo>
                    <a:lnTo>
                      <a:pt x="325" y="95"/>
                    </a:lnTo>
                    <a:lnTo>
                      <a:pt x="323" y="96"/>
                    </a:lnTo>
                    <a:lnTo>
                      <a:pt x="322" y="95"/>
                    </a:lnTo>
                    <a:lnTo>
                      <a:pt x="322" y="93"/>
                    </a:lnTo>
                    <a:lnTo>
                      <a:pt x="320" y="93"/>
                    </a:lnTo>
                    <a:lnTo>
                      <a:pt x="318" y="91"/>
                    </a:lnTo>
                    <a:lnTo>
                      <a:pt x="317" y="93"/>
                    </a:lnTo>
                    <a:lnTo>
                      <a:pt x="315" y="91"/>
                    </a:lnTo>
                    <a:lnTo>
                      <a:pt x="315" y="90"/>
                    </a:lnTo>
                    <a:lnTo>
                      <a:pt x="315" y="87"/>
                    </a:lnTo>
                    <a:lnTo>
                      <a:pt x="314" y="88"/>
                    </a:lnTo>
                    <a:lnTo>
                      <a:pt x="310" y="87"/>
                    </a:lnTo>
                    <a:lnTo>
                      <a:pt x="309" y="87"/>
                    </a:lnTo>
                    <a:lnTo>
                      <a:pt x="307" y="85"/>
                    </a:lnTo>
                    <a:lnTo>
                      <a:pt x="306" y="83"/>
                    </a:lnTo>
                    <a:lnTo>
                      <a:pt x="304" y="82"/>
                    </a:lnTo>
                    <a:lnTo>
                      <a:pt x="304" y="80"/>
                    </a:lnTo>
                    <a:lnTo>
                      <a:pt x="304" y="79"/>
                    </a:lnTo>
                    <a:lnTo>
                      <a:pt x="302" y="79"/>
                    </a:lnTo>
                    <a:lnTo>
                      <a:pt x="302" y="77"/>
                    </a:lnTo>
                    <a:lnTo>
                      <a:pt x="302" y="74"/>
                    </a:lnTo>
                    <a:lnTo>
                      <a:pt x="302" y="71"/>
                    </a:lnTo>
                    <a:lnTo>
                      <a:pt x="302" y="69"/>
                    </a:lnTo>
                    <a:lnTo>
                      <a:pt x="301" y="64"/>
                    </a:lnTo>
                    <a:lnTo>
                      <a:pt x="301" y="63"/>
                    </a:lnTo>
                    <a:lnTo>
                      <a:pt x="299" y="63"/>
                    </a:lnTo>
                    <a:lnTo>
                      <a:pt x="298" y="59"/>
                    </a:lnTo>
                    <a:lnTo>
                      <a:pt x="296" y="58"/>
                    </a:lnTo>
                    <a:lnTo>
                      <a:pt x="296" y="55"/>
                    </a:lnTo>
                    <a:lnTo>
                      <a:pt x="296" y="53"/>
                    </a:lnTo>
                    <a:lnTo>
                      <a:pt x="296" y="51"/>
                    </a:lnTo>
                    <a:lnTo>
                      <a:pt x="294" y="50"/>
                    </a:lnTo>
                    <a:lnTo>
                      <a:pt x="296" y="47"/>
                    </a:lnTo>
                    <a:lnTo>
                      <a:pt x="294" y="45"/>
                    </a:lnTo>
                    <a:lnTo>
                      <a:pt x="296" y="43"/>
                    </a:lnTo>
                    <a:lnTo>
                      <a:pt x="294" y="42"/>
                    </a:lnTo>
                    <a:lnTo>
                      <a:pt x="293" y="40"/>
                    </a:lnTo>
                    <a:lnTo>
                      <a:pt x="291" y="39"/>
                    </a:lnTo>
                    <a:lnTo>
                      <a:pt x="290" y="39"/>
                    </a:lnTo>
                    <a:lnTo>
                      <a:pt x="288" y="35"/>
                    </a:lnTo>
                    <a:lnTo>
                      <a:pt x="286" y="35"/>
                    </a:lnTo>
                    <a:lnTo>
                      <a:pt x="285" y="35"/>
                    </a:lnTo>
                    <a:lnTo>
                      <a:pt x="283" y="37"/>
                    </a:lnTo>
                    <a:lnTo>
                      <a:pt x="282" y="37"/>
                    </a:lnTo>
                    <a:lnTo>
                      <a:pt x="280" y="35"/>
                    </a:lnTo>
                    <a:lnTo>
                      <a:pt x="280" y="34"/>
                    </a:lnTo>
                    <a:lnTo>
                      <a:pt x="278" y="32"/>
                    </a:lnTo>
                    <a:lnTo>
                      <a:pt x="278" y="31"/>
                    </a:lnTo>
                    <a:lnTo>
                      <a:pt x="278" y="27"/>
                    </a:lnTo>
                    <a:lnTo>
                      <a:pt x="278" y="24"/>
                    </a:lnTo>
                    <a:lnTo>
                      <a:pt x="277" y="23"/>
                    </a:lnTo>
                    <a:lnTo>
                      <a:pt x="277" y="21"/>
                    </a:lnTo>
                    <a:lnTo>
                      <a:pt x="277" y="19"/>
                    </a:lnTo>
                    <a:lnTo>
                      <a:pt x="275" y="18"/>
                    </a:lnTo>
                    <a:lnTo>
                      <a:pt x="275" y="16"/>
                    </a:lnTo>
                    <a:lnTo>
                      <a:pt x="274" y="16"/>
                    </a:lnTo>
                    <a:lnTo>
                      <a:pt x="274" y="13"/>
                    </a:lnTo>
                    <a:lnTo>
                      <a:pt x="274" y="12"/>
                    </a:lnTo>
                    <a:lnTo>
                      <a:pt x="272" y="12"/>
                    </a:lnTo>
                    <a:lnTo>
                      <a:pt x="271" y="10"/>
                    </a:lnTo>
                    <a:lnTo>
                      <a:pt x="271" y="5"/>
                    </a:lnTo>
                    <a:lnTo>
                      <a:pt x="271" y="2"/>
                    </a:lnTo>
                    <a:lnTo>
                      <a:pt x="271" y="0"/>
                    </a:lnTo>
                    <a:lnTo>
                      <a:pt x="269" y="0"/>
                    </a:lnTo>
                    <a:lnTo>
                      <a:pt x="267" y="2"/>
                    </a:lnTo>
                    <a:lnTo>
                      <a:pt x="266" y="2"/>
                    </a:lnTo>
                    <a:lnTo>
                      <a:pt x="266" y="5"/>
                    </a:lnTo>
                    <a:lnTo>
                      <a:pt x="264" y="8"/>
                    </a:lnTo>
                    <a:lnTo>
                      <a:pt x="263" y="12"/>
                    </a:lnTo>
                    <a:lnTo>
                      <a:pt x="263" y="13"/>
                    </a:lnTo>
                    <a:lnTo>
                      <a:pt x="259" y="13"/>
                    </a:lnTo>
                    <a:lnTo>
                      <a:pt x="259" y="16"/>
                    </a:lnTo>
                    <a:lnTo>
                      <a:pt x="259" y="19"/>
                    </a:lnTo>
                    <a:lnTo>
                      <a:pt x="261" y="19"/>
                    </a:lnTo>
                    <a:lnTo>
                      <a:pt x="261" y="21"/>
                    </a:lnTo>
                    <a:lnTo>
                      <a:pt x="259" y="23"/>
                    </a:lnTo>
                    <a:lnTo>
                      <a:pt x="259" y="26"/>
                    </a:lnTo>
                    <a:lnTo>
                      <a:pt x="258" y="29"/>
                    </a:lnTo>
                    <a:lnTo>
                      <a:pt x="259" y="35"/>
                    </a:lnTo>
                    <a:lnTo>
                      <a:pt x="258" y="37"/>
                    </a:lnTo>
                    <a:lnTo>
                      <a:pt x="259" y="42"/>
                    </a:lnTo>
                    <a:lnTo>
                      <a:pt x="259" y="43"/>
                    </a:lnTo>
                    <a:lnTo>
                      <a:pt x="259" y="47"/>
                    </a:lnTo>
                    <a:lnTo>
                      <a:pt x="258" y="48"/>
                    </a:lnTo>
                    <a:lnTo>
                      <a:pt x="258" y="51"/>
                    </a:lnTo>
                    <a:lnTo>
                      <a:pt x="256" y="59"/>
                    </a:lnTo>
                    <a:lnTo>
                      <a:pt x="253" y="64"/>
                    </a:lnTo>
                    <a:lnTo>
                      <a:pt x="253" y="67"/>
                    </a:lnTo>
                    <a:lnTo>
                      <a:pt x="251" y="67"/>
                    </a:lnTo>
                    <a:lnTo>
                      <a:pt x="250" y="69"/>
                    </a:lnTo>
                    <a:lnTo>
                      <a:pt x="248" y="71"/>
                    </a:lnTo>
                    <a:lnTo>
                      <a:pt x="245" y="71"/>
                    </a:lnTo>
                    <a:lnTo>
                      <a:pt x="242" y="69"/>
                    </a:lnTo>
                    <a:lnTo>
                      <a:pt x="237" y="66"/>
                    </a:lnTo>
                    <a:lnTo>
                      <a:pt x="237" y="64"/>
                    </a:lnTo>
                    <a:lnTo>
                      <a:pt x="235" y="63"/>
                    </a:lnTo>
                    <a:lnTo>
                      <a:pt x="234" y="61"/>
                    </a:lnTo>
                    <a:lnTo>
                      <a:pt x="229" y="61"/>
                    </a:lnTo>
                    <a:lnTo>
                      <a:pt x="227" y="59"/>
                    </a:lnTo>
                    <a:lnTo>
                      <a:pt x="226" y="58"/>
                    </a:lnTo>
                    <a:lnTo>
                      <a:pt x="224" y="58"/>
                    </a:lnTo>
                    <a:lnTo>
                      <a:pt x="223" y="56"/>
                    </a:lnTo>
                    <a:lnTo>
                      <a:pt x="221" y="55"/>
                    </a:lnTo>
                    <a:lnTo>
                      <a:pt x="219" y="55"/>
                    </a:lnTo>
                    <a:lnTo>
                      <a:pt x="218" y="53"/>
                    </a:lnTo>
                    <a:lnTo>
                      <a:pt x="216" y="53"/>
                    </a:lnTo>
                    <a:lnTo>
                      <a:pt x="211" y="51"/>
                    </a:lnTo>
                    <a:lnTo>
                      <a:pt x="210" y="53"/>
                    </a:lnTo>
                    <a:lnTo>
                      <a:pt x="210" y="51"/>
                    </a:lnTo>
                    <a:lnTo>
                      <a:pt x="210" y="50"/>
                    </a:lnTo>
                    <a:lnTo>
                      <a:pt x="210" y="48"/>
                    </a:lnTo>
                    <a:lnTo>
                      <a:pt x="207" y="47"/>
                    </a:lnTo>
                    <a:lnTo>
                      <a:pt x="205" y="45"/>
                    </a:lnTo>
                    <a:lnTo>
                      <a:pt x="203" y="45"/>
                    </a:lnTo>
                    <a:lnTo>
                      <a:pt x="202" y="43"/>
                    </a:lnTo>
                    <a:lnTo>
                      <a:pt x="202" y="42"/>
                    </a:lnTo>
                    <a:lnTo>
                      <a:pt x="203" y="40"/>
                    </a:lnTo>
                    <a:lnTo>
                      <a:pt x="203" y="39"/>
                    </a:lnTo>
                    <a:lnTo>
                      <a:pt x="205" y="35"/>
                    </a:lnTo>
                    <a:lnTo>
                      <a:pt x="205" y="34"/>
                    </a:lnTo>
                    <a:lnTo>
                      <a:pt x="207" y="31"/>
                    </a:lnTo>
                    <a:lnTo>
                      <a:pt x="203" y="31"/>
                    </a:lnTo>
                    <a:lnTo>
                      <a:pt x="205" y="29"/>
                    </a:lnTo>
                    <a:lnTo>
                      <a:pt x="205" y="26"/>
                    </a:lnTo>
                    <a:lnTo>
                      <a:pt x="207" y="27"/>
                    </a:lnTo>
                    <a:lnTo>
                      <a:pt x="207" y="26"/>
                    </a:lnTo>
                    <a:lnTo>
                      <a:pt x="208" y="26"/>
                    </a:lnTo>
                    <a:lnTo>
                      <a:pt x="210" y="26"/>
                    </a:lnTo>
                    <a:lnTo>
                      <a:pt x="211" y="24"/>
                    </a:lnTo>
                    <a:lnTo>
                      <a:pt x="210" y="23"/>
                    </a:lnTo>
                    <a:lnTo>
                      <a:pt x="210" y="21"/>
                    </a:lnTo>
                    <a:lnTo>
                      <a:pt x="211" y="23"/>
                    </a:lnTo>
                    <a:lnTo>
                      <a:pt x="211" y="21"/>
                    </a:lnTo>
                    <a:lnTo>
                      <a:pt x="213" y="19"/>
                    </a:lnTo>
                    <a:lnTo>
                      <a:pt x="213" y="18"/>
                    </a:lnTo>
                    <a:lnTo>
                      <a:pt x="213" y="16"/>
                    </a:lnTo>
                    <a:lnTo>
                      <a:pt x="211" y="16"/>
                    </a:lnTo>
                    <a:lnTo>
                      <a:pt x="210" y="18"/>
                    </a:lnTo>
                    <a:lnTo>
                      <a:pt x="210" y="15"/>
                    </a:lnTo>
                    <a:lnTo>
                      <a:pt x="210" y="13"/>
                    </a:lnTo>
                    <a:lnTo>
                      <a:pt x="208" y="13"/>
                    </a:lnTo>
                    <a:lnTo>
                      <a:pt x="207" y="15"/>
                    </a:lnTo>
                    <a:lnTo>
                      <a:pt x="207" y="16"/>
                    </a:lnTo>
                    <a:lnTo>
                      <a:pt x="208" y="16"/>
                    </a:lnTo>
                    <a:lnTo>
                      <a:pt x="207" y="19"/>
                    </a:lnTo>
                    <a:lnTo>
                      <a:pt x="205" y="19"/>
                    </a:lnTo>
                    <a:lnTo>
                      <a:pt x="205" y="18"/>
                    </a:lnTo>
                    <a:lnTo>
                      <a:pt x="205" y="16"/>
                    </a:lnTo>
                    <a:lnTo>
                      <a:pt x="205" y="15"/>
                    </a:lnTo>
                    <a:lnTo>
                      <a:pt x="203" y="16"/>
                    </a:lnTo>
                    <a:lnTo>
                      <a:pt x="203" y="15"/>
                    </a:lnTo>
                    <a:lnTo>
                      <a:pt x="202" y="15"/>
                    </a:lnTo>
                    <a:lnTo>
                      <a:pt x="200" y="15"/>
                    </a:lnTo>
                    <a:lnTo>
                      <a:pt x="199" y="15"/>
                    </a:lnTo>
                    <a:lnTo>
                      <a:pt x="197" y="18"/>
                    </a:lnTo>
                    <a:lnTo>
                      <a:pt x="195" y="16"/>
                    </a:lnTo>
                    <a:lnTo>
                      <a:pt x="194" y="16"/>
                    </a:lnTo>
                    <a:lnTo>
                      <a:pt x="192" y="15"/>
                    </a:lnTo>
                    <a:lnTo>
                      <a:pt x="191" y="15"/>
                    </a:lnTo>
                    <a:lnTo>
                      <a:pt x="189" y="15"/>
                    </a:lnTo>
                    <a:lnTo>
                      <a:pt x="187" y="15"/>
                    </a:lnTo>
                    <a:lnTo>
                      <a:pt x="186" y="13"/>
                    </a:lnTo>
                    <a:lnTo>
                      <a:pt x="184" y="15"/>
                    </a:lnTo>
                    <a:lnTo>
                      <a:pt x="183" y="13"/>
                    </a:lnTo>
                    <a:lnTo>
                      <a:pt x="181" y="13"/>
                    </a:lnTo>
                    <a:lnTo>
                      <a:pt x="179" y="13"/>
                    </a:lnTo>
                    <a:lnTo>
                      <a:pt x="176" y="13"/>
                    </a:lnTo>
                    <a:lnTo>
                      <a:pt x="175" y="12"/>
                    </a:lnTo>
                    <a:lnTo>
                      <a:pt x="175" y="10"/>
                    </a:lnTo>
                    <a:lnTo>
                      <a:pt x="173" y="10"/>
                    </a:lnTo>
                    <a:lnTo>
                      <a:pt x="173" y="12"/>
                    </a:lnTo>
                    <a:lnTo>
                      <a:pt x="171" y="10"/>
                    </a:lnTo>
                    <a:lnTo>
                      <a:pt x="170" y="8"/>
                    </a:lnTo>
                    <a:lnTo>
                      <a:pt x="168" y="8"/>
                    </a:lnTo>
                    <a:lnTo>
                      <a:pt x="168" y="7"/>
                    </a:lnTo>
                    <a:lnTo>
                      <a:pt x="167" y="7"/>
                    </a:lnTo>
                    <a:lnTo>
                      <a:pt x="167" y="8"/>
                    </a:lnTo>
                    <a:lnTo>
                      <a:pt x="167" y="10"/>
                    </a:lnTo>
                    <a:lnTo>
                      <a:pt x="167" y="12"/>
                    </a:lnTo>
                    <a:lnTo>
                      <a:pt x="168" y="10"/>
                    </a:lnTo>
                    <a:lnTo>
                      <a:pt x="170" y="12"/>
                    </a:lnTo>
                    <a:lnTo>
                      <a:pt x="171" y="12"/>
                    </a:lnTo>
                    <a:lnTo>
                      <a:pt x="171" y="16"/>
                    </a:lnTo>
                    <a:lnTo>
                      <a:pt x="170" y="18"/>
                    </a:lnTo>
                    <a:lnTo>
                      <a:pt x="167" y="18"/>
                    </a:lnTo>
                    <a:lnTo>
                      <a:pt x="165" y="18"/>
                    </a:lnTo>
                    <a:lnTo>
                      <a:pt x="163" y="18"/>
                    </a:lnTo>
                    <a:lnTo>
                      <a:pt x="162" y="18"/>
                    </a:lnTo>
                    <a:lnTo>
                      <a:pt x="159" y="18"/>
                    </a:lnTo>
                    <a:lnTo>
                      <a:pt x="159" y="19"/>
                    </a:lnTo>
                    <a:lnTo>
                      <a:pt x="157" y="18"/>
                    </a:lnTo>
                    <a:lnTo>
                      <a:pt x="155" y="19"/>
                    </a:lnTo>
                    <a:lnTo>
                      <a:pt x="157" y="23"/>
                    </a:lnTo>
                    <a:lnTo>
                      <a:pt x="155" y="23"/>
                    </a:lnTo>
                    <a:lnTo>
                      <a:pt x="154" y="21"/>
                    </a:lnTo>
                    <a:lnTo>
                      <a:pt x="152" y="21"/>
                    </a:lnTo>
                    <a:lnTo>
                      <a:pt x="152" y="23"/>
                    </a:lnTo>
                    <a:lnTo>
                      <a:pt x="151" y="23"/>
                    </a:lnTo>
                    <a:lnTo>
                      <a:pt x="149" y="24"/>
                    </a:lnTo>
                    <a:lnTo>
                      <a:pt x="149" y="26"/>
                    </a:lnTo>
                    <a:lnTo>
                      <a:pt x="149" y="27"/>
                    </a:lnTo>
                    <a:lnTo>
                      <a:pt x="149" y="29"/>
                    </a:lnTo>
                    <a:lnTo>
                      <a:pt x="151" y="27"/>
                    </a:lnTo>
                    <a:lnTo>
                      <a:pt x="151" y="31"/>
                    </a:lnTo>
                    <a:lnTo>
                      <a:pt x="149" y="32"/>
                    </a:lnTo>
                    <a:lnTo>
                      <a:pt x="147" y="32"/>
                    </a:lnTo>
                    <a:lnTo>
                      <a:pt x="146" y="31"/>
                    </a:lnTo>
                    <a:lnTo>
                      <a:pt x="146" y="32"/>
                    </a:lnTo>
                    <a:lnTo>
                      <a:pt x="146" y="34"/>
                    </a:lnTo>
                    <a:lnTo>
                      <a:pt x="144" y="37"/>
                    </a:lnTo>
                    <a:lnTo>
                      <a:pt x="143" y="37"/>
                    </a:lnTo>
                    <a:lnTo>
                      <a:pt x="141" y="40"/>
                    </a:lnTo>
                    <a:lnTo>
                      <a:pt x="146" y="45"/>
                    </a:lnTo>
                    <a:lnTo>
                      <a:pt x="144" y="45"/>
                    </a:lnTo>
                    <a:lnTo>
                      <a:pt x="146" y="48"/>
                    </a:lnTo>
                    <a:lnTo>
                      <a:pt x="144" y="48"/>
                    </a:lnTo>
                    <a:lnTo>
                      <a:pt x="141" y="45"/>
                    </a:lnTo>
                    <a:lnTo>
                      <a:pt x="139" y="45"/>
                    </a:lnTo>
                    <a:lnTo>
                      <a:pt x="138" y="45"/>
                    </a:lnTo>
                    <a:lnTo>
                      <a:pt x="136" y="45"/>
                    </a:lnTo>
                    <a:lnTo>
                      <a:pt x="135" y="45"/>
                    </a:lnTo>
                    <a:lnTo>
                      <a:pt x="133" y="45"/>
                    </a:lnTo>
                    <a:lnTo>
                      <a:pt x="133" y="47"/>
                    </a:lnTo>
                    <a:lnTo>
                      <a:pt x="131" y="47"/>
                    </a:lnTo>
                    <a:lnTo>
                      <a:pt x="131" y="48"/>
                    </a:lnTo>
                    <a:lnTo>
                      <a:pt x="131" y="50"/>
                    </a:lnTo>
                    <a:lnTo>
                      <a:pt x="130" y="50"/>
                    </a:lnTo>
                    <a:lnTo>
                      <a:pt x="130" y="47"/>
                    </a:lnTo>
                    <a:lnTo>
                      <a:pt x="130" y="45"/>
                    </a:lnTo>
                    <a:lnTo>
                      <a:pt x="128" y="43"/>
                    </a:lnTo>
                    <a:lnTo>
                      <a:pt x="125" y="39"/>
                    </a:lnTo>
                    <a:lnTo>
                      <a:pt x="123" y="39"/>
                    </a:lnTo>
                    <a:lnTo>
                      <a:pt x="122" y="37"/>
                    </a:lnTo>
                    <a:lnTo>
                      <a:pt x="120" y="37"/>
                    </a:lnTo>
                    <a:lnTo>
                      <a:pt x="119" y="37"/>
                    </a:lnTo>
                    <a:lnTo>
                      <a:pt x="117" y="35"/>
                    </a:lnTo>
                    <a:lnTo>
                      <a:pt x="115" y="37"/>
                    </a:lnTo>
                    <a:lnTo>
                      <a:pt x="117" y="37"/>
                    </a:lnTo>
                    <a:lnTo>
                      <a:pt x="115" y="39"/>
                    </a:lnTo>
                    <a:lnTo>
                      <a:pt x="114" y="40"/>
                    </a:lnTo>
                    <a:lnTo>
                      <a:pt x="112" y="40"/>
                    </a:lnTo>
                    <a:lnTo>
                      <a:pt x="112" y="39"/>
                    </a:lnTo>
                    <a:lnTo>
                      <a:pt x="112" y="40"/>
                    </a:lnTo>
                    <a:lnTo>
                      <a:pt x="111" y="40"/>
                    </a:lnTo>
                    <a:lnTo>
                      <a:pt x="111" y="39"/>
                    </a:lnTo>
                    <a:lnTo>
                      <a:pt x="109" y="39"/>
                    </a:lnTo>
                    <a:lnTo>
                      <a:pt x="111" y="40"/>
                    </a:lnTo>
                    <a:lnTo>
                      <a:pt x="111" y="42"/>
                    </a:lnTo>
                    <a:lnTo>
                      <a:pt x="109" y="43"/>
                    </a:lnTo>
                    <a:lnTo>
                      <a:pt x="108" y="45"/>
                    </a:lnTo>
                    <a:lnTo>
                      <a:pt x="108" y="43"/>
                    </a:lnTo>
                    <a:lnTo>
                      <a:pt x="106" y="45"/>
                    </a:lnTo>
                    <a:lnTo>
                      <a:pt x="104" y="45"/>
                    </a:lnTo>
                    <a:lnTo>
                      <a:pt x="103" y="45"/>
                    </a:lnTo>
                    <a:lnTo>
                      <a:pt x="101" y="45"/>
                    </a:lnTo>
                    <a:lnTo>
                      <a:pt x="103" y="48"/>
                    </a:lnTo>
                    <a:lnTo>
                      <a:pt x="103" y="50"/>
                    </a:lnTo>
                    <a:lnTo>
                      <a:pt x="100" y="50"/>
                    </a:lnTo>
                    <a:lnTo>
                      <a:pt x="100" y="51"/>
                    </a:lnTo>
                    <a:lnTo>
                      <a:pt x="101" y="53"/>
                    </a:lnTo>
                    <a:lnTo>
                      <a:pt x="100" y="55"/>
                    </a:lnTo>
                    <a:lnTo>
                      <a:pt x="98" y="53"/>
                    </a:lnTo>
                    <a:lnTo>
                      <a:pt x="96" y="53"/>
                    </a:lnTo>
                    <a:lnTo>
                      <a:pt x="96" y="55"/>
                    </a:lnTo>
                    <a:lnTo>
                      <a:pt x="98" y="58"/>
                    </a:lnTo>
                    <a:lnTo>
                      <a:pt x="96" y="59"/>
                    </a:lnTo>
                    <a:lnTo>
                      <a:pt x="95" y="61"/>
                    </a:lnTo>
                    <a:lnTo>
                      <a:pt x="95" y="63"/>
                    </a:lnTo>
                    <a:lnTo>
                      <a:pt x="96" y="64"/>
                    </a:lnTo>
                    <a:lnTo>
                      <a:pt x="96" y="66"/>
                    </a:lnTo>
                    <a:lnTo>
                      <a:pt x="93" y="64"/>
                    </a:lnTo>
                    <a:lnTo>
                      <a:pt x="92" y="63"/>
                    </a:lnTo>
                    <a:lnTo>
                      <a:pt x="90" y="63"/>
                    </a:lnTo>
                    <a:lnTo>
                      <a:pt x="88" y="63"/>
                    </a:lnTo>
                    <a:lnTo>
                      <a:pt x="87" y="63"/>
                    </a:lnTo>
                    <a:lnTo>
                      <a:pt x="88" y="66"/>
                    </a:lnTo>
                    <a:lnTo>
                      <a:pt x="87" y="66"/>
                    </a:lnTo>
                    <a:lnTo>
                      <a:pt x="88" y="67"/>
                    </a:lnTo>
                    <a:lnTo>
                      <a:pt x="90" y="69"/>
                    </a:lnTo>
                    <a:lnTo>
                      <a:pt x="90" y="71"/>
                    </a:lnTo>
                    <a:lnTo>
                      <a:pt x="88" y="72"/>
                    </a:lnTo>
                    <a:lnTo>
                      <a:pt x="88" y="74"/>
                    </a:lnTo>
                    <a:lnTo>
                      <a:pt x="88" y="77"/>
                    </a:lnTo>
                    <a:lnTo>
                      <a:pt x="87" y="75"/>
                    </a:lnTo>
                    <a:lnTo>
                      <a:pt x="87" y="74"/>
                    </a:lnTo>
                    <a:lnTo>
                      <a:pt x="85" y="72"/>
                    </a:lnTo>
                    <a:lnTo>
                      <a:pt x="84" y="71"/>
                    </a:lnTo>
                    <a:lnTo>
                      <a:pt x="82" y="67"/>
                    </a:lnTo>
                    <a:lnTo>
                      <a:pt x="80" y="66"/>
                    </a:lnTo>
                    <a:lnTo>
                      <a:pt x="80" y="67"/>
                    </a:lnTo>
                    <a:lnTo>
                      <a:pt x="80" y="69"/>
                    </a:lnTo>
                    <a:lnTo>
                      <a:pt x="79" y="71"/>
                    </a:lnTo>
                    <a:lnTo>
                      <a:pt x="77" y="71"/>
                    </a:lnTo>
                    <a:lnTo>
                      <a:pt x="76" y="72"/>
                    </a:lnTo>
                    <a:lnTo>
                      <a:pt x="76" y="74"/>
                    </a:lnTo>
                    <a:lnTo>
                      <a:pt x="76" y="77"/>
                    </a:lnTo>
                    <a:lnTo>
                      <a:pt x="76" y="79"/>
                    </a:lnTo>
                    <a:lnTo>
                      <a:pt x="77" y="82"/>
                    </a:lnTo>
                    <a:lnTo>
                      <a:pt x="77" y="83"/>
                    </a:lnTo>
                    <a:lnTo>
                      <a:pt x="74" y="87"/>
                    </a:lnTo>
                    <a:lnTo>
                      <a:pt x="72" y="87"/>
                    </a:lnTo>
                    <a:lnTo>
                      <a:pt x="72" y="88"/>
                    </a:lnTo>
                    <a:lnTo>
                      <a:pt x="72" y="90"/>
                    </a:lnTo>
                    <a:lnTo>
                      <a:pt x="71" y="91"/>
                    </a:lnTo>
                    <a:lnTo>
                      <a:pt x="71" y="93"/>
                    </a:lnTo>
                    <a:lnTo>
                      <a:pt x="71" y="95"/>
                    </a:lnTo>
                    <a:lnTo>
                      <a:pt x="68" y="98"/>
                    </a:lnTo>
                    <a:lnTo>
                      <a:pt x="66" y="99"/>
                    </a:lnTo>
                    <a:lnTo>
                      <a:pt x="64" y="101"/>
                    </a:lnTo>
                    <a:lnTo>
                      <a:pt x="60" y="103"/>
                    </a:lnTo>
                    <a:lnTo>
                      <a:pt x="58" y="103"/>
                    </a:lnTo>
                    <a:lnTo>
                      <a:pt x="56" y="104"/>
                    </a:lnTo>
                    <a:lnTo>
                      <a:pt x="55" y="104"/>
                    </a:lnTo>
                    <a:lnTo>
                      <a:pt x="53" y="106"/>
                    </a:lnTo>
                    <a:lnTo>
                      <a:pt x="52" y="104"/>
                    </a:lnTo>
                    <a:lnTo>
                      <a:pt x="48" y="106"/>
                    </a:lnTo>
                    <a:lnTo>
                      <a:pt x="45" y="109"/>
                    </a:lnTo>
                    <a:lnTo>
                      <a:pt x="44" y="109"/>
                    </a:lnTo>
                    <a:lnTo>
                      <a:pt x="42" y="111"/>
                    </a:lnTo>
                    <a:lnTo>
                      <a:pt x="40" y="111"/>
                    </a:lnTo>
                    <a:lnTo>
                      <a:pt x="39" y="112"/>
                    </a:lnTo>
                    <a:lnTo>
                      <a:pt x="37" y="114"/>
                    </a:lnTo>
                    <a:lnTo>
                      <a:pt x="36" y="114"/>
                    </a:lnTo>
                    <a:lnTo>
                      <a:pt x="34" y="115"/>
                    </a:lnTo>
                    <a:lnTo>
                      <a:pt x="32" y="115"/>
                    </a:lnTo>
                    <a:lnTo>
                      <a:pt x="31" y="114"/>
                    </a:lnTo>
                    <a:lnTo>
                      <a:pt x="28" y="115"/>
                    </a:lnTo>
                    <a:lnTo>
                      <a:pt x="28" y="114"/>
                    </a:lnTo>
                    <a:lnTo>
                      <a:pt x="26" y="115"/>
                    </a:lnTo>
                    <a:lnTo>
                      <a:pt x="24" y="117"/>
                    </a:lnTo>
                    <a:lnTo>
                      <a:pt x="23" y="119"/>
                    </a:lnTo>
                    <a:lnTo>
                      <a:pt x="21" y="119"/>
                    </a:lnTo>
                    <a:lnTo>
                      <a:pt x="20" y="120"/>
                    </a:lnTo>
                    <a:lnTo>
                      <a:pt x="18" y="123"/>
                    </a:lnTo>
                    <a:lnTo>
                      <a:pt x="16" y="125"/>
                    </a:lnTo>
                    <a:lnTo>
                      <a:pt x="16" y="127"/>
                    </a:lnTo>
                    <a:lnTo>
                      <a:pt x="13" y="128"/>
                    </a:lnTo>
                    <a:lnTo>
                      <a:pt x="12" y="130"/>
                    </a:lnTo>
                    <a:lnTo>
                      <a:pt x="10" y="130"/>
                    </a:lnTo>
                    <a:lnTo>
                      <a:pt x="10" y="131"/>
                    </a:lnTo>
                    <a:lnTo>
                      <a:pt x="8" y="131"/>
                    </a:lnTo>
                    <a:lnTo>
                      <a:pt x="7" y="135"/>
                    </a:lnTo>
                    <a:lnTo>
                      <a:pt x="7" y="138"/>
                    </a:lnTo>
                    <a:lnTo>
                      <a:pt x="5" y="139"/>
                    </a:lnTo>
                    <a:lnTo>
                      <a:pt x="4" y="139"/>
                    </a:lnTo>
                    <a:lnTo>
                      <a:pt x="4" y="138"/>
                    </a:lnTo>
                    <a:lnTo>
                      <a:pt x="4" y="136"/>
                    </a:lnTo>
                    <a:lnTo>
                      <a:pt x="4" y="135"/>
                    </a:lnTo>
                    <a:lnTo>
                      <a:pt x="4" y="131"/>
                    </a:lnTo>
                    <a:lnTo>
                      <a:pt x="2" y="133"/>
                    </a:lnTo>
                    <a:lnTo>
                      <a:pt x="2" y="136"/>
                    </a:lnTo>
                    <a:lnTo>
                      <a:pt x="0" y="138"/>
                    </a:lnTo>
                    <a:lnTo>
                      <a:pt x="0" y="141"/>
                    </a:lnTo>
                    <a:lnTo>
                      <a:pt x="2" y="144"/>
                    </a:lnTo>
                    <a:lnTo>
                      <a:pt x="4" y="147"/>
                    </a:lnTo>
                    <a:lnTo>
                      <a:pt x="4" y="149"/>
                    </a:lnTo>
                    <a:lnTo>
                      <a:pt x="4" y="150"/>
                    </a:lnTo>
                    <a:lnTo>
                      <a:pt x="2" y="154"/>
                    </a:lnTo>
                    <a:lnTo>
                      <a:pt x="0" y="155"/>
                    </a:lnTo>
                    <a:lnTo>
                      <a:pt x="2" y="160"/>
                    </a:lnTo>
                    <a:lnTo>
                      <a:pt x="5" y="163"/>
                    </a:lnTo>
                    <a:lnTo>
                      <a:pt x="7" y="166"/>
                    </a:lnTo>
                    <a:lnTo>
                      <a:pt x="8" y="168"/>
                    </a:lnTo>
                    <a:lnTo>
                      <a:pt x="8" y="170"/>
                    </a:lnTo>
                    <a:lnTo>
                      <a:pt x="10" y="171"/>
                    </a:lnTo>
                    <a:lnTo>
                      <a:pt x="12" y="173"/>
                    </a:lnTo>
                    <a:lnTo>
                      <a:pt x="13" y="176"/>
                    </a:lnTo>
                    <a:lnTo>
                      <a:pt x="13" y="178"/>
                    </a:lnTo>
                    <a:lnTo>
                      <a:pt x="13" y="179"/>
                    </a:lnTo>
                    <a:lnTo>
                      <a:pt x="12" y="179"/>
                    </a:lnTo>
                    <a:lnTo>
                      <a:pt x="10" y="178"/>
                    </a:lnTo>
                    <a:lnTo>
                      <a:pt x="10" y="176"/>
                    </a:lnTo>
                    <a:lnTo>
                      <a:pt x="8" y="178"/>
                    </a:lnTo>
                    <a:close/>
                    <a:moveTo>
                      <a:pt x="304" y="317"/>
                    </a:moveTo>
                    <a:lnTo>
                      <a:pt x="304" y="312"/>
                    </a:lnTo>
                    <a:lnTo>
                      <a:pt x="304" y="310"/>
                    </a:lnTo>
                    <a:lnTo>
                      <a:pt x="304" y="309"/>
                    </a:lnTo>
                    <a:lnTo>
                      <a:pt x="304" y="305"/>
                    </a:lnTo>
                    <a:lnTo>
                      <a:pt x="304" y="304"/>
                    </a:lnTo>
                    <a:lnTo>
                      <a:pt x="302" y="304"/>
                    </a:lnTo>
                    <a:lnTo>
                      <a:pt x="301" y="305"/>
                    </a:lnTo>
                    <a:lnTo>
                      <a:pt x="301" y="304"/>
                    </a:lnTo>
                    <a:lnTo>
                      <a:pt x="299" y="304"/>
                    </a:lnTo>
                    <a:lnTo>
                      <a:pt x="298" y="305"/>
                    </a:lnTo>
                    <a:lnTo>
                      <a:pt x="296" y="305"/>
                    </a:lnTo>
                    <a:lnTo>
                      <a:pt x="294" y="305"/>
                    </a:lnTo>
                    <a:lnTo>
                      <a:pt x="293" y="307"/>
                    </a:lnTo>
                    <a:lnTo>
                      <a:pt x="291" y="307"/>
                    </a:lnTo>
                    <a:lnTo>
                      <a:pt x="286" y="305"/>
                    </a:lnTo>
                    <a:lnTo>
                      <a:pt x="283" y="302"/>
                    </a:lnTo>
                    <a:lnTo>
                      <a:pt x="282" y="302"/>
                    </a:lnTo>
                    <a:lnTo>
                      <a:pt x="280" y="302"/>
                    </a:lnTo>
                    <a:lnTo>
                      <a:pt x="280" y="301"/>
                    </a:lnTo>
                    <a:lnTo>
                      <a:pt x="278" y="301"/>
                    </a:lnTo>
                    <a:lnTo>
                      <a:pt x="278" y="305"/>
                    </a:lnTo>
                    <a:lnTo>
                      <a:pt x="280" y="313"/>
                    </a:lnTo>
                    <a:lnTo>
                      <a:pt x="282" y="317"/>
                    </a:lnTo>
                    <a:lnTo>
                      <a:pt x="283" y="317"/>
                    </a:lnTo>
                    <a:lnTo>
                      <a:pt x="282" y="318"/>
                    </a:lnTo>
                    <a:lnTo>
                      <a:pt x="280" y="315"/>
                    </a:lnTo>
                    <a:lnTo>
                      <a:pt x="282" y="321"/>
                    </a:lnTo>
                    <a:lnTo>
                      <a:pt x="282" y="323"/>
                    </a:lnTo>
                    <a:lnTo>
                      <a:pt x="283" y="323"/>
                    </a:lnTo>
                    <a:lnTo>
                      <a:pt x="285" y="326"/>
                    </a:lnTo>
                    <a:lnTo>
                      <a:pt x="285" y="328"/>
                    </a:lnTo>
                    <a:lnTo>
                      <a:pt x="286" y="328"/>
                    </a:lnTo>
                    <a:lnTo>
                      <a:pt x="285" y="328"/>
                    </a:lnTo>
                    <a:lnTo>
                      <a:pt x="285" y="329"/>
                    </a:lnTo>
                    <a:lnTo>
                      <a:pt x="286" y="329"/>
                    </a:lnTo>
                    <a:lnTo>
                      <a:pt x="288" y="331"/>
                    </a:lnTo>
                    <a:lnTo>
                      <a:pt x="288" y="329"/>
                    </a:lnTo>
                    <a:lnTo>
                      <a:pt x="290" y="331"/>
                    </a:lnTo>
                    <a:lnTo>
                      <a:pt x="291" y="331"/>
                    </a:lnTo>
                    <a:lnTo>
                      <a:pt x="293" y="329"/>
                    </a:lnTo>
                    <a:lnTo>
                      <a:pt x="293" y="328"/>
                    </a:lnTo>
                    <a:lnTo>
                      <a:pt x="293" y="326"/>
                    </a:lnTo>
                    <a:lnTo>
                      <a:pt x="294" y="326"/>
                    </a:lnTo>
                    <a:lnTo>
                      <a:pt x="294" y="328"/>
                    </a:lnTo>
                    <a:lnTo>
                      <a:pt x="294" y="326"/>
                    </a:lnTo>
                    <a:lnTo>
                      <a:pt x="296" y="326"/>
                    </a:lnTo>
                    <a:lnTo>
                      <a:pt x="296" y="325"/>
                    </a:lnTo>
                    <a:lnTo>
                      <a:pt x="298" y="325"/>
                    </a:lnTo>
                    <a:lnTo>
                      <a:pt x="298" y="323"/>
                    </a:lnTo>
                    <a:lnTo>
                      <a:pt x="299" y="325"/>
                    </a:lnTo>
                    <a:lnTo>
                      <a:pt x="299" y="323"/>
                    </a:lnTo>
                    <a:lnTo>
                      <a:pt x="301" y="321"/>
                    </a:lnTo>
                    <a:lnTo>
                      <a:pt x="301" y="318"/>
                    </a:lnTo>
                    <a:lnTo>
                      <a:pt x="302" y="317"/>
                    </a:lnTo>
                    <a:lnTo>
                      <a:pt x="304" y="317"/>
                    </a:lnTo>
                    <a:close/>
                    <a:moveTo>
                      <a:pt x="210" y="10"/>
                    </a:moveTo>
                    <a:lnTo>
                      <a:pt x="210" y="8"/>
                    </a:lnTo>
                    <a:lnTo>
                      <a:pt x="211" y="7"/>
                    </a:lnTo>
                    <a:lnTo>
                      <a:pt x="211" y="5"/>
                    </a:lnTo>
                    <a:lnTo>
                      <a:pt x="210" y="5"/>
                    </a:lnTo>
                    <a:lnTo>
                      <a:pt x="210" y="7"/>
                    </a:lnTo>
                    <a:lnTo>
                      <a:pt x="210" y="8"/>
                    </a:lnTo>
                    <a:lnTo>
                      <a:pt x="210" y="10"/>
                    </a:lnTo>
                    <a:close/>
                    <a:moveTo>
                      <a:pt x="167" y="12"/>
                    </a:moveTo>
                    <a:lnTo>
                      <a:pt x="165" y="8"/>
                    </a:lnTo>
                    <a:lnTo>
                      <a:pt x="163" y="8"/>
                    </a:lnTo>
                    <a:lnTo>
                      <a:pt x="165" y="10"/>
                    </a:lnTo>
                    <a:lnTo>
                      <a:pt x="167" y="12"/>
                    </a:lnTo>
                    <a:close/>
                    <a:moveTo>
                      <a:pt x="151" y="10"/>
                    </a:moveTo>
                    <a:lnTo>
                      <a:pt x="152" y="13"/>
                    </a:lnTo>
                    <a:lnTo>
                      <a:pt x="154" y="13"/>
                    </a:lnTo>
                    <a:lnTo>
                      <a:pt x="155" y="15"/>
                    </a:lnTo>
                    <a:lnTo>
                      <a:pt x="157" y="15"/>
                    </a:lnTo>
                    <a:lnTo>
                      <a:pt x="159" y="13"/>
                    </a:lnTo>
                    <a:lnTo>
                      <a:pt x="160" y="12"/>
                    </a:lnTo>
                    <a:lnTo>
                      <a:pt x="160" y="10"/>
                    </a:lnTo>
                    <a:lnTo>
                      <a:pt x="159" y="8"/>
                    </a:lnTo>
                    <a:lnTo>
                      <a:pt x="157" y="10"/>
                    </a:lnTo>
                    <a:lnTo>
                      <a:pt x="155" y="10"/>
                    </a:lnTo>
                    <a:lnTo>
                      <a:pt x="154" y="10"/>
                    </a:lnTo>
                    <a:lnTo>
                      <a:pt x="152" y="10"/>
                    </a:lnTo>
                    <a:lnTo>
                      <a:pt x="151" y="10"/>
                    </a:lnTo>
                    <a:close/>
                    <a:moveTo>
                      <a:pt x="147" y="15"/>
                    </a:moveTo>
                    <a:lnTo>
                      <a:pt x="152" y="15"/>
                    </a:lnTo>
                    <a:lnTo>
                      <a:pt x="151" y="13"/>
                    </a:lnTo>
                    <a:lnTo>
                      <a:pt x="149" y="12"/>
                    </a:lnTo>
                    <a:lnTo>
                      <a:pt x="149" y="10"/>
                    </a:lnTo>
                    <a:lnTo>
                      <a:pt x="147" y="10"/>
                    </a:lnTo>
                    <a:lnTo>
                      <a:pt x="147" y="12"/>
                    </a:lnTo>
                    <a:lnTo>
                      <a:pt x="147" y="13"/>
                    </a:lnTo>
                    <a:lnTo>
                      <a:pt x="147" y="15"/>
                    </a:lnTo>
                    <a:close/>
                    <a:moveTo>
                      <a:pt x="213" y="37"/>
                    </a:moveTo>
                    <a:lnTo>
                      <a:pt x="215" y="35"/>
                    </a:lnTo>
                    <a:lnTo>
                      <a:pt x="213" y="32"/>
                    </a:lnTo>
                    <a:lnTo>
                      <a:pt x="211" y="32"/>
                    </a:lnTo>
                    <a:lnTo>
                      <a:pt x="211" y="31"/>
                    </a:lnTo>
                    <a:lnTo>
                      <a:pt x="211" y="32"/>
                    </a:lnTo>
                    <a:lnTo>
                      <a:pt x="210" y="32"/>
                    </a:lnTo>
                    <a:lnTo>
                      <a:pt x="210" y="35"/>
                    </a:lnTo>
                    <a:lnTo>
                      <a:pt x="211" y="37"/>
                    </a:lnTo>
                    <a:lnTo>
                      <a:pt x="213" y="37"/>
                    </a:lnTo>
                    <a:close/>
                    <a:moveTo>
                      <a:pt x="239" y="61"/>
                    </a:moveTo>
                    <a:lnTo>
                      <a:pt x="240" y="59"/>
                    </a:lnTo>
                    <a:lnTo>
                      <a:pt x="242" y="58"/>
                    </a:lnTo>
                    <a:lnTo>
                      <a:pt x="240" y="58"/>
                    </a:lnTo>
                    <a:lnTo>
                      <a:pt x="239" y="58"/>
                    </a:lnTo>
                    <a:lnTo>
                      <a:pt x="237" y="59"/>
                    </a:lnTo>
                    <a:lnTo>
                      <a:pt x="239" y="61"/>
                    </a:lnTo>
                    <a:close/>
                    <a:moveTo>
                      <a:pt x="8" y="178"/>
                    </a:moveTo>
                    <a:lnTo>
                      <a:pt x="8" y="176"/>
                    </a:lnTo>
                    <a:lnTo>
                      <a:pt x="7" y="174"/>
                    </a:lnTo>
                    <a:lnTo>
                      <a:pt x="5" y="173"/>
                    </a:lnTo>
                    <a:lnTo>
                      <a:pt x="5" y="171"/>
                    </a:lnTo>
                    <a:lnTo>
                      <a:pt x="5" y="173"/>
                    </a:lnTo>
                    <a:lnTo>
                      <a:pt x="8" y="178"/>
                    </a:lnTo>
                    <a:close/>
                    <a:moveTo>
                      <a:pt x="224" y="253"/>
                    </a:moveTo>
                    <a:lnTo>
                      <a:pt x="224" y="251"/>
                    </a:lnTo>
                    <a:lnTo>
                      <a:pt x="227" y="251"/>
                    </a:lnTo>
                    <a:lnTo>
                      <a:pt x="229" y="251"/>
                    </a:lnTo>
                    <a:lnTo>
                      <a:pt x="227" y="250"/>
                    </a:lnTo>
                    <a:lnTo>
                      <a:pt x="226" y="250"/>
                    </a:lnTo>
                    <a:lnTo>
                      <a:pt x="224" y="250"/>
                    </a:lnTo>
                    <a:lnTo>
                      <a:pt x="224" y="248"/>
                    </a:lnTo>
                    <a:lnTo>
                      <a:pt x="223" y="248"/>
                    </a:lnTo>
                    <a:lnTo>
                      <a:pt x="218" y="250"/>
                    </a:lnTo>
                    <a:lnTo>
                      <a:pt x="216" y="250"/>
                    </a:lnTo>
                    <a:lnTo>
                      <a:pt x="216" y="251"/>
                    </a:lnTo>
                    <a:lnTo>
                      <a:pt x="216" y="253"/>
                    </a:lnTo>
                    <a:lnTo>
                      <a:pt x="218" y="253"/>
                    </a:lnTo>
                    <a:lnTo>
                      <a:pt x="223" y="253"/>
                    </a:lnTo>
                    <a:lnTo>
                      <a:pt x="224" y="253"/>
                    </a:lnTo>
                    <a:close/>
                    <a:moveTo>
                      <a:pt x="306" y="296"/>
                    </a:moveTo>
                    <a:lnTo>
                      <a:pt x="304" y="293"/>
                    </a:lnTo>
                    <a:lnTo>
                      <a:pt x="302" y="294"/>
                    </a:lnTo>
                    <a:lnTo>
                      <a:pt x="302" y="296"/>
                    </a:lnTo>
                    <a:lnTo>
                      <a:pt x="304" y="297"/>
                    </a:lnTo>
                    <a:lnTo>
                      <a:pt x="304" y="299"/>
                    </a:lnTo>
                    <a:lnTo>
                      <a:pt x="306" y="299"/>
                    </a:lnTo>
                    <a:lnTo>
                      <a:pt x="306" y="297"/>
                    </a:lnTo>
                    <a:lnTo>
                      <a:pt x="306" y="296"/>
                    </a:lnTo>
                    <a:close/>
                    <a:moveTo>
                      <a:pt x="306" y="301"/>
                    </a:moveTo>
                    <a:lnTo>
                      <a:pt x="307" y="301"/>
                    </a:lnTo>
                    <a:lnTo>
                      <a:pt x="306" y="299"/>
                    </a:lnTo>
                    <a:lnTo>
                      <a:pt x="304" y="301"/>
                    </a:lnTo>
                    <a:lnTo>
                      <a:pt x="306" y="301"/>
                    </a:lnTo>
                    <a:close/>
                  </a:path>
                </a:pathLst>
              </a:custGeom>
              <a:solidFill>
                <a:srgbClr val="FFE600"/>
              </a:solidFill>
              <a:ln w="9525">
                <a:noFill/>
                <a:round/>
                <a:headEnd/>
                <a:tailEnd/>
              </a:ln>
            </p:spPr>
            <p:txBody>
              <a:bodyPr wrap="none" anchor="ctr"/>
              <a:lstStyle/>
              <a:p>
                <a:endParaRPr lang="en-US"/>
              </a:p>
            </p:txBody>
          </p:sp>
          <p:sp>
            <p:nvSpPr>
              <p:cNvPr id="15382" name="Line 19"/>
              <p:cNvSpPr>
                <a:spLocks noChangeShapeType="1"/>
              </p:cNvSpPr>
              <p:nvPr/>
            </p:nvSpPr>
            <p:spPr bwMode="auto">
              <a:xfrm>
                <a:off x="1540" y="307"/>
                <a:ext cx="1" cy="1"/>
              </a:xfrm>
              <a:prstGeom prst="line">
                <a:avLst/>
              </a:prstGeom>
              <a:noFill/>
              <a:ln w="4680">
                <a:solidFill>
                  <a:srgbClr val="000000"/>
                </a:solidFill>
                <a:miter lim="800000"/>
                <a:headEnd/>
                <a:tailEnd/>
              </a:ln>
            </p:spPr>
            <p:txBody>
              <a:bodyPr/>
              <a:lstStyle/>
              <a:p>
                <a:endParaRPr lang="en-US"/>
              </a:p>
            </p:txBody>
          </p:sp>
          <p:sp>
            <p:nvSpPr>
              <p:cNvPr id="15383" name="Freeform 20"/>
              <p:cNvSpPr>
                <a:spLocks noChangeArrowheads="1"/>
              </p:cNvSpPr>
              <p:nvPr/>
            </p:nvSpPr>
            <p:spPr bwMode="auto">
              <a:xfrm>
                <a:off x="1677" y="317"/>
                <a:ext cx="127" cy="35"/>
              </a:xfrm>
              <a:custGeom>
                <a:avLst/>
                <a:gdLst>
                  <a:gd name="T0" fmla="*/ 127 w 127"/>
                  <a:gd name="T1" fmla="*/ 0 h 35"/>
                  <a:gd name="T2" fmla="*/ 127 w 127"/>
                  <a:gd name="T3" fmla="*/ 0 h 35"/>
                  <a:gd name="T4" fmla="*/ 120 w 127"/>
                  <a:gd name="T5" fmla="*/ 3 h 35"/>
                  <a:gd name="T6" fmla="*/ 114 w 127"/>
                  <a:gd name="T7" fmla="*/ 6 h 35"/>
                  <a:gd name="T8" fmla="*/ 100 w 127"/>
                  <a:gd name="T9" fmla="*/ 11 h 35"/>
                  <a:gd name="T10" fmla="*/ 84 w 127"/>
                  <a:gd name="T11" fmla="*/ 11 h 35"/>
                  <a:gd name="T12" fmla="*/ 68 w 127"/>
                  <a:gd name="T13" fmla="*/ 11 h 35"/>
                  <a:gd name="T14" fmla="*/ 53 w 127"/>
                  <a:gd name="T15" fmla="*/ 11 h 35"/>
                  <a:gd name="T16" fmla="*/ 37 w 127"/>
                  <a:gd name="T17" fmla="*/ 13 h 35"/>
                  <a:gd name="T18" fmla="*/ 31 w 127"/>
                  <a:gd name="T19" fmla="*/ 14 h 35"/>
                  <a:gd name="T20" fmla="*/ 23 w 127"/>
                  <a:gd name="T21" fmla="*/ 18 h 35"/>
                  <a:gd name="T22" fmla="*/ 16 w 127"/>
                  <a:gd name="T23" fmla="*/ 21 h 35"/>
                  <a:gd name="T24" fmla="*/ 12 w 127"/>
                  <a:gd name="T25" fmla="*/ 26 h 35"/>
                  <a:gd name="T26" fmla="*/ 12 w 127"/>
                  <a:gd name="T27" fmla="*/ 26 h 35"/>
                  <a:gd name="T28" fmla="*/ 0 w 127"/>
                  <a:gd name="T29" fmla="*/ 35 h 35"/>
                  <a:gd name="T30" fmla="*/ 0 w 127"/>
                  <a:gd name="T31" fmla="*/ 35 h 35"/>
                  <a:gd name="T32" fmla="*/ 7 w 127"/>
                  <a:gd name="T33" fmla="*/ 32 h 35"/>
                  <a:gd name="T34" fmla="*/ 13 w 127"/>
                  <a:gd name="T35" fmla="*/ 29 h 35"/>
                  <a:gd name="T36" fmla="*/ 28 w 127"/>
                  <a:gd name="T37" fmla="*/ 26 h 35"/>
                  <a:gd name="T38" fmla="*/ 42 w 127"/>
                  <a:gd name="T39" fmla="*/ 24 h 35"/>
                  <a:gd name="T40" fmla="*/ 56 w 127"/>
                  <a:gd name="T41" fmla="*/ 24 h 35"/>
                  <a:gd name="T42" fmla="*/ 56 w 127"/>
                  <a:gd name="T43" fmla="*/ 24 h 35"/>
                  <a:gd name="T44" fmla="*/ 72 w 127"/>
                  <a:gd name="T45" fmla="*/ 24 h 35"/>
                  <a:gd name="T46" fmla="*/ 88 w 127"/>
                  <a:gd name="T47" fmla="*/ 22 h 35"/>
                  <a:gd name="T48" fmla="*/ 103 w 127"/>
                  <a:gd name="T49" fmla="*/ 19 h 35"/>
                  <a:gd name="T50" fmla="*/ 109 w 127"/>
                  <a:gd name="T51" fmla="*/ 14 h 35"/>
                  <a:gd name="T52" fmla="*/ 116 w 127"/>
                  <a:gd name="T53" fmla="*/ 11 h 35"/>
                  <a:gd name="T54" fmla="*/ 116 w 127"/>
                  <a:gd name="T55" fmla="*/ 11 h 35"/>
                  <a:gd name="T56" fmla="*/ 127 w 127"/>
                  <a:gd name="T57" fmla="*/ 0 h 35"/>
                  <a:gd name="T58" fmla="*/ 127 w 127"/>
                  <a:gd name="T59" fmla="*/ 0 h 3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27"/>
                  <a:gd name="T91" fmla="*/ 0 h 35"/>
                  <a:gd name="T92" fmla="*/ 127 w 127"/>
                  <a:gd name="T93" fmla="*/ 35 h 3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27" h="35">
                    <a:moveTo>
                      <a:pt x="127" y="0"/>
                    </a:moveTo>
                    <a:lnTo>
                      <a:pt x="127" y="0"/>
                    </a:lnTo>
                    <a:lnTo>
                      <a:pt x="120" y="3"/>
                    </a:lnTo>
                    <a:lnTo>
                      <a:pt x="114" y="6"/>
                    </a:lnTo>
                    <a:lnTo>
                      <a:pt x="100" y="11"/>
                    </a:lnTo>
                    <a:lnTo>
                      <a:pt x="84" y="11"/>
                    </a:lnTo>
                    <a:lnTo>
                      <a:pt x="68" y="11"/>
                    </a:lnTo>
                    <a:lnTo>
                      <a:pt x="53" y="11"/>
                    </a:lnTo>
                    <a:lnTo>
                      <a:pt x="37" y="13"/>
                    </a:lnTo>
                    <a:lnTo>
                      <a:pt x="31" y="14"/>
                    </a:lnTo>
                    <a:lnTo>
                      <a:pt x="23" y="18"/>
                    </a:lnTo>
                    <a:lnTo>
                      <a:pt x="16" y="21"/>
                    </a:lnTo>
                    <a:lnTo>
                      <a:pt x="12" y="26"/>
                    </a:lnTo>
                    <a:lnTo>
                      <a:pt x="0" y="35"/>
                    </a:lnTo>
                    <a:lnTo>
                      <a:pt x="7" y="32"/>
                    </a:lnTo>
                    <a:lnTo>
                      <a:pt x="13" y="29"/>
                    </a:lnTo>
                    <a:lnTo>
                      <a:pt x="28" y="26"/>
                    </a:lnTo>
                    <a:lnTo>
                      <a:pt x="42" y="24"/>
                    </a:lnTo>
                    <a:lnTo>
                      <a:pt x="56" y="24"/>
                    </a:lnTo>
                    <a:lnTo>
                      <a:pt x="72" y="24"/>
                    </a:lnTo>
                    <a:lnTo>
                      <a:pt x="88" y="22"/>
                    </a:lnTo>
                    <a:lnTo>
                      <a:pt x="103" y="19"/>
                    </a:lnTo>
                    <a:lnTo>
                      <a:pt x="109" y="14"/>
                    </a:lnTo>
                    <a:lnTo>
                      <a:pt x="116" y="11"/>
                    </a:lnTo>
                    <a:lnTo>
                      <a:pt x="127" y="0"/>
                    </a:lnTo>
                    <a:close/>
                  </a:path>
                </a:pathLst>
              </a:custGeom>
              <a:solidFill>
                <a:srgbClr val="00C014"/>
              </a:solidFill>
              <a:ln w="9525">
                <a:noFill/>
                <a:round/>
                <a:headEnd/>
                <a:tailEnd/>
              </a:ln>
            </p:spPr>
            <p:txBody>
              <a:bodyPr wrap="none" anchor="ctr"/>
              <a:lstStyle/>
              <a:p>
                <a:endParaRPr lang="en-US"/>
              </a:p>
            </p:txBody>
          </p:sp>
          <p:sp>
            <p:nvSpPr>
              <p:cNvPr id="15384" name="Freeform 21"/>
              <p:cNvSpPr>
                <a:spLocks noChangeArrowheads="1"/>
              </p:cNvSpPr>
              <p:nvPr/>
            </p:nvSpPr>
            <p:spPr bwMode="auto">
              <a:xfrm>
                <a:off x="1242" y="402"/>
                <a:ext cx="126" cy="36"/>
              </a:xfrm>
              <a:custGeom>
                <a:avLst/>
                <a:gdLst>
                  <a:gd name="T0" fmla="*/ 126 w 126"/>
                  <a:gd name="T1" fmla="*/ 0 h 36"/>
                  <a:gd name="T2" fmla="*/ 126 w 126"/>
                  <a:gd name="T3" fmla="*/ 0 h 36"/>
                  <a:gd name="T4" fmla="*/ 120 w 126"/>
                  <a:gd name="T5" fmla="*/ 5 h 36"/>
                  <a:gd name="T6" fmla="*/ 114 w 126"/>
                  <a:gd name="T7" fmla="*/ 8 h 36"/>
                  <a:gd name="T8" fmla="*/ 98 w 126"/>
                  <a:gd name="T9" fmla="*/ 11 h 36"/>
                  <a:gd name="T10" fmla="*/ 83 w 126"/>
                  <a:gd name="T11" fmla="*/ 13 h 36"/>
                  <a:gd name="T12" fmla="*/ 67 w 126"/>
                  <a:gd name="T13" fmla="*/ 13 h 36"/>
                  <a:gd name="T14" fmla="*/ 51 w 126"/>
                  <a:gd name="T15" fmla="*/ 13 h 36"/>
                  <a:gd name="T16" fmla="*/ 37 w 126"/>
                  <a:gd name="T17" fmla="*/ 14 h 36"/>
                  <a:gd name="T18" fmla="*/ 31 w 126"/>
                  <a:gd name="T19" fmla="*/ 16 h 36"/>
                  <a:gd name="T20" fmla="*/ 23 w 126"/>
                  <a:gd name="T21" fmla="*/ 17 h 36"/>
                  <a:gd name="T22" fmla="*/ 16 w 126"/>
                  <a:gd name="T23" fmla="*/ 21 h 36"/>
                  <a:gd name="T24" fmla="*/ 11 w 126"/>
                  <a:gd name="T25" fmla="*/ 25 h 36"/>
                  <a:gd name="T26" fmla="*/ 11 w 126"/>
                  <a:gd name="T27" fmla="*/ 25 h 36"/>
                  <a:gd name="T28" fmla="*/ 0 w 126"/>
                  <a:gd name="T29" fmla="*/ 36 h 36"/>
                  <a:gd name="T30" fmla="*/ 0 w 126"/>
                  <a:gd name="T31" fmla="*/ 36 h 36"/>
                  <a:gd name="T32" fmla="*/ 5 w 126"/>
                  <a:gd name="T33" fmla="*/ 32 h 36"/>
                  <a:gd name="T34" fmla="*/ 11 w 126"/>
                  <a:gd name="T35" fmla="*/ 28 h 36"/>
                  <a:gd name="T36" fmla="*/ 26 w 126"/>
                  <a:gd name="T37" fmla="*/ 25 h 36"/>
                  <a:gd name="T38" fmla="*/ 42 w 126"/>
                  <a:gd name="T39" fmla="*/ 24 h 36"/>
                  <a:gd name="T40" fmla="*/ 56 w 126"/>
                  <a:gd name="T41" fmla="*/ 25 h 36"/>
                  <a:gd name="T42" fmla="*/ 56 w 126"/>
                  <a:gd name="T43" fmla="*/ 25 h 36"/>
                  <a:gd name="T44" fmla="*/ 72 w 126"/>
                  <a:gd name="T45" fmla="*/ 25 h 36"/>
                  <a:gd name="T46" fmla="*/ 86 w 126"/>
                  <a:gd name="T47" fmla="*/ 24 h 36"/>
                  <a:gd name="T48" fmla="*/ 101 w 126"/>
                  <a:gd name="T49" fmla="*/ 19 h 36"/>
                  <a:gd name="T50" fmla="*/ 109 w 126"/>
                  <a:gd name="T51" fmla="*/ 16 h 36"/>
                  <a:gd name="T52" fmla="*/ 115 w 126"/>
                  <a:gd name="T53" fmla="*/ 11 h 36"/>
                  <a:gd name="T54" fmla="*/ 115 w 126"/>
                  <a:gd name="T55" fmla="*/ 11 h 36"/>
                  <a:gd name="T56" fmla="*/ 126 w 126"/>
                  <a:gd name="T57" fmla="*/ 0 h 36"/>
                  <a:gd name="T58" fmla="*/ 126 w 126"/>
                  <a:gd name="T59" fmla="*/ 0 h 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26"/>
                  <a:gd name="T91" fmla="*/ 0 h 36"/>
                  <a:gd name="T92" fmla="*/ 126 w 126"/>
                  <a:gd name="T93" fmla="*/ 36 h 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26" h="36">
                    <a:moveTo>
                      <a:pt x="126" y="0"/>
                    </a:moveTo>
                    <a:lnTo>
                      <a:pt x="126" y="0"/>
                    </a:lnTo>
                    <a:lnTo>
                      <a:pt x="120" y="5"/>
                    </a:lnTo>
                    <a:lnTo>
                      <a:pt x="114" y="8"/>
                    </a:lnTo>
                    <a:lnTo>
                      <a:pt x="98" y="11"/>
                    </a:lnTo>
                    <a:lnTo>
                      <a:pt x="83" y="13"/>
                    </a:lnTo>
                    <a:lnTo>
                      <a:pt x="67" y="13"/>
                    </a:lnTo>
                    <a:lnTo>
                      <a:pt x="51" y="13"/>
                    </a:lnTo>
                    <a:lnTo>
                      <a:pt x="37" y="14"/>
                    </a:lnTo>
                    <a:lnTo>
                      <a:pt x="31" y="16"/>
                    </a:lnTo>
                    <a:lnTo>
                      <a:pt x="23" y="17"/>
                    </a:lnTo>
                    <a:lnTo>
                      <a:pt x="16" y="21"/>
                    </a:lnTo>
                    <a:lnTo>
                      <a:pt x="11" y="25"/>
                    </a:lnTo>
                    <a:lnTo>
                      <a:pt x="0" y="36"/>
                    </a:lnTo>
                    <a:lnTo>
                      <a:pt x="5" y="32"/>
                    </a:lnTo>
                    <a:lnTo>
                      <a:pt x="11" y="28"/>
                    </a:lnTo>
                    <a:lnTo>
                      <a:pt x="26" y="25"/>
                    </a:lnTo>
                    <a:lnTo>
                      <a:pt x="42" y="24"/>
                    </a:lnTo>
                    <a:lnTo>
                      <a:pt x="56" y="25"/>
                    </a:lnTo>
                    <a:lnTo>
                      <a:pt x="72" y="25"/>
                    </a:lnTo>
                    <a:lnTo>
                      <a:pt x="86" y="24"/>
                    </a:lnTo>
                    <a:lnTo>
                      <a:pt x="101" y="19"/>
                    </a:lnTo>
                    <a:lnTo>
                      <a:pt x="109" y="16"/>
                    </a:lnTo>
                    <a:lnTo>
                      <a:pt x="115" y="11"/>
                    </a:lnTo>
                    <a:lnTo>
                      <a:pt x="126" y="0"/>
                    </a:lnTo>
                    <a:close/>
                  </a:path>
                </a:pathLst>
              </a:custGeom>
              <a:solidFill>
                <a:srgbClr val="00C014"/>
              </a:solidFill>
              <a:ln w="9525">
                <a:noFill/>
                <a:round/>
                <a:headEnd/>
                <a:tailEnd/>
              </a:ln>
            </p:spPr>
            <p:txBody>
              <a:bodyPr wrap="none" anchor="ctr"/>
              <a:lstStyle/>
              <a:p>
                <a:endParaRPr lang="en-US"/>
              </a:p>
            </p:txBody>
          </p:sp>
          <p:sp>
            <p:nvSpPr>
              <p:cNvPr id="15385" name="Freeform 22"/>
              <p:cNvSpPr>
                <a:spLocks noChangeArrowheads="1"/>
              </p:cNvSpPr>
              <p:nvPr/>
            </p:nvSpPr>
            <p:spPr bwMode="auto">
              <a:xfrm>
                <a:off x="1708" y="500"/>
                <a:ext cx="128" cy="37"/>
              </a:xfrm>
              <a:custGeom>
                <a:avLst/>
                <a:gdLst>
                  <a:gd name="T0" fmla="*/ 128 w 128"/>
                  <a:gd name="T1" fmla="*/ 0 h 37"/>
                  <a:gd name="T2" fmla="*/ 128 w 128"/>
                  <a:gd name="T3" fmla="*/ 0 h 37"/>
                  <a:gd name="T4" fmla="*/ 120 w 128"/>
                  <a:gd name="T5" fmla="*/ 5 h 37"/>
                  <a:gd name="T6" fmla="*/ 113 w 128"/>
                  <a:gd name="T7" fmla="*/ 8 h 37"/>
                  <a:gd name="T8" fmla="*/ 99 w 128"/>
                  <a:gd name="T9" fmla="*/ 11 h 37"/>
                  <a:gd name="T10" fmla="*/ 83 w 128"/>
                  <a:gd name="T11" fmla="*/ 13 h 37"/>
                  <a:gd name="T12" fmla="*/ 69 w 128"/>
                  <a:gd name="T13" fmla="*/ 13 h 37"/>
                  <a:gd name="T14" fmla="*/ 53 w 128"/>
                  <a:gd name="T15" fmla="*/ 13 h 37"/>
                  <a:gd name="T16" fmla="*/ 38 w 128"/>
                  <a:gd name="T17" fmla="*/ 14 h 37"/>
                  <a:gd name="T18" fmla="*/ 30 w 128"/>
                  <a:gd name="T19" fmla="*/ 16 h 37"/>
                  <a:gd name="T20" fmla="*/ 24 w 128"/>
                  <a:gd name="T21" fmla="*/ 17 h 37"/>
                  <a:gd name="T22" fmla="*/ 17 w 128"/>
                  <a:gd name="T23" fmla="*/ 22 h 37"/>
                  <a:gd name="T24" fmla="*/ 11 w 128"/>
                  <a:gd name="T25" fmla="*/ 27 h 37"/>
                  <a:gd name="T26" fmla="*/ 11 w 128"/>
                  <a:gd name="T27" fmla="*/ 27 h 37"/>
                  <a:gd name="T28" fmla="*/ 0 w 128"/>
                  <a:gd name="T29" fmla="*/ 37 h 37"/>
                  <a:gd name="T30" fmla="*/ 0 w 128"/>
                  <a:gd name="T31" fmla="*/ 37 h 37"/>
                  <a:gd name="T32" fmla="*/ 6 w 128"/>
                  <a:gd name="T33" fmla="*/ 33 h 37"/>
                  <a:gd name="T34" fmla="*/ 13 w 128"/>
                  <a:gd name="T35" fmla="*/ 30 h 37"/>
                  <a:gd name="T36" fmla="*/ 27 w 128"/>
                  <a:gd name="T37" fmla="*/ 25 h 37"/>
                  <a:gd name="T38" fmla="*/ 41 w 128"/>
                  <a:gd name="T39" fmla="*/ 25 h 37"/>
                  <a:gd name="T40" fmla="*/ 56 w 128"/>
                  <a:gd name="T41" fmla="*/ 25 h 37"/>
                  <a:gd name="T42" fmla="*/ 56 w 128"/>
                  <a:gd name="T43" fmla="*/ 25 h 37"/>
                  <a:gd name="T44" fmla="*/ 72 w 128"/>
                  <a:gd name="T45" fmla="*/ 25 h 37"/>
                  <a:gd name="T46" fmla="*/ 88 w 128"/>
                  <a:gd name="T47" fmla="*/ 24 h 37"/>
                  <a:gd name="T48" fmla="*/ 102 w 128"/>
                  <a:gd name="T49" fmla="*/ 19 h 37"/>
                  <a:gd name="T50" fmla="*/ 108 w 128"/>
                  <a:gd name="T51" fmla="*/ 16 h 37"/>
                  <a:gd name="T52" fmla="*/ 115 w 128"/>
                  <a:gd name="T53" fmla="*/ 11 h 37"/>
                  <a:gd name="T54" fmla="*/ 115 w 128"/>
                  <a:gd name="T55" fmla="*/ 11 h 37"/>
                  <a:gd name="T56" fmla="*/ 128 w 128"/>
                  <a:gd name="T57" fmla="*/ 0 h 37"/>
                  <a:gd name="T58" fmla="*/ 128 w 128"/>
                  <a:gd name="T59" fmla="*/ 0 h 3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28"/>
                  <a:gd name="T91" fmla="*/ 0 h 37"/>
                  <a:gd name="T92" fmla="*/ 128 w 128"/>
                  <a:gd name="T93" fmla="*/ 37 h 3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28" h="37">
                    <a:moveTo>
                      <a:pt x="128" y="0"/>
                    </a:moveTo>
                    <a:lnTo>
                      <a:pt x="128" y="0"/>
                    </a:lnTo>
                    <a:lnTo>
                      <a:pt x="120" y="5"/>
                    </a:lnTo>
                    <a:lnTo>
                      <a:pt x="113" y="8"/>
                    </a:lnTo>
                    <a:lnTo>
                      <a:pt x="99" y="11"/>
                    </a:lnTo>
                    <a:lnTo>
                      <a:pt x="83" y="13"/>
                    </a:lnTo>
                    <a:lnTo>
                      <a:pt x="69" y="13"/>
                    </a:lnTo>
                    <a:lnTo>
                      <a:pt x="53" y="13"/>
                    </a:lnTo>
                    <a:lnTo>
                      <a:pt x="38" y="14"/>
                    </a:lnTo>
                    <a:lnTo>
                      <a:pt x="30" y="16"/>
                    </a:lnTo>
                    <a:lnTo>
                      <a:pt x="24" y="17"/>
                    </a:lnTo>
                    <a:lnTo>
                      <a:pt x="17" y="22"/>
                    </a:lnTo>
                    <a:lnTo>
                      <a:pt x="11" y="27"/>
                    </a:lnTo>
                    <a:lnTo>
                      <a:pt x="0" y="37"/>
                    </a:lnTo>
                    <a:lnTo>
                      <a:pt x="6" y="33"/>
                    </a:lnTo>
                    <a:lnTo>
                      <a:pt x="13" y="30"/>
                    </a:lnTo>
                    <a:lnTo>
                      <a:pt x="27" y="25"/>
                    </a:lnTo>
                    <a:lnTo>
                      <a:pt x="41" y="25"/>
                    </a:lnTo>
                    <a:lnTo>
                      <a:pt x="56" y="25"/>
                    </a:lnTo>
                    <a:lnTo>
                      <a:pt x="72" y="25"/>
                    </a:lnTo>
                    <a:lnTo>
                      <a:pt x="88" y="24"/>
                    </a:lnTo>
                    <a:lnTo>
                      <a:pt x="102" y="19"/>
                    </a:lnTo>
                    <a:lnTo>
                      <a:pt x="108" y="16"/>
                    </a:lnTo>
                    <a:lnTo>
                      <a:pt x="115" y="11"/>
                    </a:lnTo>
                    <a:lnTo>
                      <a:pt x="128" y="0"/>
                    </a:lnTo>
                    <a:close/>
                  </a:path>
                </a:pathLst>
              </a:custGeom>
              <a:solidFill>
                <a:srgbClr val="00C014"/>
              </a:solidFill>
              <a:ln w="9525">
                <a:noFill/>
                <a:round/>
                <a:headEnd/>
                <a:tailEnd/>
              </a:ln>
            </p:spPr>
            <p:txBody>
              <a:bodyPr wrap="none" anchor="ctr"/>
              <a:lstStyle/>
              <a:p>
                <a:endParaRPr lang="en-US"/>
              </a:p>
            </p:txBody>
          </p:sp>
          <p:sp>
            <p:nvSpPr>
              <p:cNvPr id="15386" name="Freeform 23"/>
              <p:cNvSpPr>
                <a:spLocks noChangeArrowheads="1"/>
              </p:cNvSpPr>
              <p:nvPr/>
            </p:nvSpPr>
            <p:spPr bwMode="auto">
              <a:xfrm>
                <a:off x="1260" y="529"/>
                <a:ext cx="262" cy="86"/>
              </a:xfrm>
              <a:custGeom>
                <a:avLst/>
                <a:gdLst>
                  <a:gd name="T0" fmla="*/ 258 w 263"/>
                  <a:gd name="T1" fmla="*/ 0 h 86"/>
                  <a:gd name="T2" fmla="*/ 258 w 263"/>
                  <a:gd name="T3" fmla="*/ 0 h 86"/>
                  <a:gd name="T4" fmla="*/ 244 w 263"/>
                  <a:gd name="T5" fmla="*/ 8 h 86"/>
                  <a:gd name="T6" fmla="*/ 230 w 263"/>
                  <a:gd name="T7" fmla="*/ 16 h 86"/>
                  <a:gd name="T8" fmla="*/ 215 w 263"/>
                  <a:gd name="T9" fmla="*/ 22 h 86"/>
                  <a:gd name="T10" fmla="*/ 199 w 263"/>
                  <a:gd name="T11" fmla="*/ 28 h 86"/>
                  <a:gd name="T12" fmla="*/ 185 w 263"/>
                  <a:gd name="T13" fmla="*/ 31 h 86"/>
                  <a:gd name="T14" fmla="*/ 167 w 263"/>
                  <a:gd name="T15" fmla="*/ 35 h 86"/>
                  <a:gd name="T16" fmla="*/ 151 w 263"/>
                  <a:gd name="T17" fmla="*/ 36 h 86"/>
                  <a:gd name="T18" fmla="*/ 135 w 263"/>
                  <a:gd name="T19" fmla="*/ 36 h 86"/>
                  <a:gd name="T20" fmla="*/ 135 w 263"/>
                  <a:gd name="T21" fmla="*/ 36 h 86"/>
                  <a:gd name="T22" fmla="*/ 123 w 263"/>
                  <a:gd name="T23" fmla="*/ 35 h 86"/>
                  <a:gd name="T24" fmla="*/ 105 w 263"/>
                  <a:gd name="T25" fmla="*/ 36 h 86"/>
                  <a:gd name="T26" fmla="*/ 89 w 263"/>
                  <a:gd name="T27" fmla="*/ 39 h 86"/>
                  <a:gd name="T28" fmla="*/ 72 w 263"/>
                  <a:gd name="T29" fmla="*/ 43 h 86"/>
                  <a:gd name="T30" fmla="*/ 56 w 263"/>
                  <a:gd name="T31" fmla="*/ 49 h 86"/>
                  <a:gd name="T32" fmla="*/ 41 w 263"/>
                  <a:gd name="T33" fmla="*/ 57 h 86"/>
                  <a:gd name="T34" fmla="*/ 27 w 263"/>
                  <a:gd name="T35" fmla="*/ 65 h 86"/>
                  <a:gd name="T36" fmla="*/ 13 w 263"/>
                  <a:gd name="T37" fmla="*/ 75 h 86"/>
                  <a:gd name="T38" fmla="*/ 13 w 263"/>
                  <a:gd name="T39" fmla="*/ 75 h 86"/>
                  <a:gd name="T40" fmla="*/ 0 w 263"/>
                  <a:gd name="T41" fmla="*/ 86 h 86"/>
                  <a:gd name="T42" fmla="*/ 0 w 263"/>
                  <a:gd name="T43" fmla="*/ 86 h 86"/>
                  <a:gd name="T44" fmla="*/ 14 w 263"/>
                  <a:gd name="T45" fmla="*/ 76 h 86"/>
                  <a:gd name="T46" fmla="*/ 29 w 263"/>
                  <a:gd name="T47" fmla="*/ 68 h 86"/>
                  <a:gd name="T48" fmla="*/ 43 w 263"/>
                  <a:gd name="T49" fmla="*/ 60 h 86"/>
                  <a:gd name="T50" fmla="*/ 59 w 263"/>
                  <a:gd name="T51" fmla="*/ 55 h 86"/>
                  <a:gd name="T52" fmla="*/ 75 w 263"/>
                  <a:gd name="T53" fmla="*/ 51 h 86"/>
                  <a:gd name="T54" fmla="*/ 91 w 263"/>
                  <a:gd name="T55" fmla="*/ 47 h 86"/>
                  <a:gd name="T56" fmla="*/ 107 w 263"/>
                  <a:gd name="T57" fmla="*/ 46 h 86"/>
                  <a:gd name="T58" fmla="*/ 124 w 263"/>
                  <a:gd name="T59" fmla="*/ 46 h 86"/>
                  <a:gd name="T60" fmla="*/ 124 w 263"/>
                  <a:gd name="T61" fmla="*/ 46 h 86"/>
                  <a:gd name="T62" fmla="*/ 135 w 263"/>
                  <a:gd name="T63" fmla="*/ 46 h 86"/>
                  <a:gd name="T64" fmla="*/ 153 w 263"/>
                  <a:gd name="T65" fmla="*/ 46 h 86"/>
                  <a:gd name="T66" fmla="*/ 169 w 263"/>
                  <a:gd name="T67" fmla="*/ 43 h 86"/>
                  <a:gd name="T68" fmla="*/ 187 w 263"/>
                  <a:gd name="T69" fmla="*/ 39 h 86"/>
                  <a:gd name="T70" fmla="*/ 201 w 263"/>
                  <a:gd name="T71" fmla="*/ 35 h 86"/>
                  <a:gd name="T72" fmla="*/ 217 w 263"/>
                  <a:gd name="T73" fmla="*/ 28 h 86"/>
                  <a:gd name="T74" fmla="*/ 231 w 263"/>
                  <a:gd name="T75" fmla="*/ 20 h 86"/>
                  <a:gd name="T76" fmla="*/ 247 w 263"/>
                  <a:gd name="T77" fmla="*/ 11 h 86"/>
                  <a:gd name="T78" fmla="*/ 247 w 263"/>
                  <a:gd name="T79" fmla="*/ 11 h 86"/>
                  <a:gd name="T80" fmla="*/ 252 w 263"/>
                  <a:gd name="T81" fmla="*/ 4 h 86"/>
                  <a:gd name="T82" fmla="*/ 258 w 263"/>
                  <a:gd name="T83" fmla="*/ 0 h 86"/>
                  <a:gd name="T84" fmla="*/ 258 w 263"/>
                  <a:gd name="T85" fmla="*/ 0 h 8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63"/>
                  <a:gd name="T130" fmla="*/ 0 h 86"/>
                  <a:gd name="T131" fmla="*/ 263 w 263"/>
                  <a:gd name="T132" fmla="*/ 86 h 8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63" h="86">
                    <a:moveTo>
                      <a:pt x="263" y="0"/>
                    </a:moveTo>
                    <a:lnTo>
                      <a:pt x="263" y="0"/>
                    </a:lnTo>
                    <a:lnTo>
                      <a:pt x="249" y="8"/>
                    </a:lnTo>
                    <a:lnTo>
                      <a:pt x="235" y="16"/>
                    </a:lnTo>
                    <a:lnTo>
                      <a:pt x="220" y="22"/>
                    </a:lnTo>
                    <a:lnTo>
                      <a:pt x="204" y="28"/>
                    </a:lnTo>
                    <a:lnTo>
                      <a:pt x="190" y="31"/>
                    </a:lnTo>
                    <a:lnTo>
                      <a:pt x="172" y="35"/>
                    </a:lnTo>
                    <a:lnTo>
                      <a:pt x="156" y="36"/>
                    </a:lnTo>
                    <a:lnTo>
                      <a:pt x="140" y="36"/>
                    </a:lnTo>
                    <a:lnTo>
                      <a:pt x="123" y="35"/>
                    </a:lnTo>
                    <a:lnTo>
                      <a:pt x="105" y="36"/>
                    </a:lnTo>
                    <a:lnTo>
                      <a:pt x="89" y="39"/>
                    </a:lnTo>
                    <a:lnTo>
                      <a:pt x="72" y="43"/>
                    </a:lnTo>
                    <a:lnTo>
                      <a:pt x="56" y="49"/>
                    </a:lnTo>
                    <a:lnTo>
                      <a:pt x="41" y="57"/>
                    </a:lnTo>
                    <a:lnTo>
                      <a:pt x="27" y="65"/>
                    </a:lnTo>
                    <a:lnTo>
                      <a:pt x="13" y="75"/>
                    </a:lnTo>
                    <a:lnTo>
                      <a:pt x="0" y="86"/>
                    </a:lnTo>
                    <a:lnTo>
                      <a:pt x="14" y="76"/>
                    </a:lnTo>
                    <a:lnTo>
                      <a:pt x="29" y="68"/>
                    </a:lnTo>
                    <a:lnTo>
                      <a:pt x="43" y="60"/>
                    </a:lnTo>
                    <a:lnTo>
                      <a:pt x="59" y="55"/>
                    </a:lnTo>
                    <a:lnTo>
                      <a:pt x="75" y="51"/>
                    </a:lnTo>
                    <a:lnTo>
                      <a:pt x="91" y="47"/>
                    </a:lnTo>
                    <a:lnTo>
                      <a:pt x="107" y="46"/>
                    </a:lnTo>
                    <a:lnTo>
                      <a:pt x="124" y="46"/>
                    </a:lnTo>
                    <a:lnTo>
                      <a:pt x="140" y="46"/>
                    </a:lnTo>
                    <a:lnTo>
                      <a:pt x="158" y="46"/>
                    </a:lnTo>
                    <a:lnTo>
                      <a:pt x="174" y="43"/>
                    </a:lnTo>
                    <a:lnTo>
                      <a:pt x="192" y="39"/>
                    </a:lnTo>
                    <a:lnTo>
                      <a:pt x="206" y="35"/>
                    </a:lnTo>
                    <a:lnTo>
                      <a:pt x="222" y="28"/>
                    </a:lnTo>
                    <a:lnTo>
                      <a:pt x="236" y="20"/>
                    </a:lnTo>
                    <a:lnTo>
                      <a:pt x="252" y="11"/>
                    </a:lnTo>
                    <a:lnTo>
                      <a:pt x="257" y="4"/>
                    </a:lnTo>
                    <a:lnTo>
                      <a:pt x="263" y="0"/>
                    </a:lnTo>
                    <a:close/>
                  </a:path>
                </a:pathLst>
              </a:custGeom>
              <a:solidFill>
                <a:srgbClr val="00C014"/>
              </a:solidFill>
              <a:ln w="9525">
                <a:noFill/>
                <a:round/>
                <a:headEnd/>
                <a:tailEnd/>
              </a:ln>
            </p:spPr>
            <p:txBody>
              <a:bodyPr wrap="none" anchor="ctr"/>
              <a:lstStyle/>
              <a:p>
                <a:endParaRPr lang="en-US"/>
              </a:p>
            </p:txBody>
          </p:sp>
          <p:sp>
            <p:nvSpPr>
              <p:cNvPr id="15387" name="Freeform 24"/>
              <p:cNvSpPr>
                <a:spLocks noChangeArrowheads="1"/>
              </p:cNvSpPr>
              <p:nvPr/>
            </p:nvSpPr>
            <p:spPr bwMode="auto">
              <a:xfrm>
                <a:off x="1735" y="410"/>
                <a:ext cx="94" cy="31"/>
              </a:xfrm>
              <a:custGeom>
                <a:avLst/>
                <a:gdLst>
                  <a:gd name="T0" fmla="*/ 94 w 94"/>
                  <a:gd name="T1" fmla="*/ 0 h 31"/>
                  <a:gd name="T2" fmla="*/ 94 w 94"/>
                  <a:gd name="T3" fmla="*/ 0 h 31"/>
                  <a:gd name="T4" fmla="*/ 86 w 94"/>
                  <a:gd name="T5" fmla="*/ 5 h 31"/>
                  <a:gd name="T6" fmla="*/ 78 w 94"/>
                  <a:gd name="T7" fmla="*/ 8 h 31"/>
                  <a:gd name="T8" fmla="*/ 70 w 94"/>
                  <a:gd name="T9" fmla="*/ 10 h 31"/>
                  <a:gd name="T10" fmla="*/ 62 w 94"/>
                  <a:gd name="T11" fmla="*/ 10 h 31"/>
                  <a:gd name="T12" fmla="*/ 46 w 94"/>
                  <a:gd name="T13" fmla="*/ 10 h 31"/>
                  <a:gd name="T14" fmla="*/ 30 w 94"/>
                  <a:gd name="T15" fmla="*/ 10 h 31"/>
                  <a:gd name="T16" fmla="*/ 30 w 94"/>
                  <a:gd name="T17" fmla="*/ 10 h 31"/>
                  <a:gd name="T18" fmla="*/ 21 w 94"/>
                  <a:gd name="T19" fmla="*/ 13 h 31"/>
                  <a:gd name="T20" fmla="*/ 13 w 94"/>
                  <a:gd name="T21" fmla="*/ 18 h 31"/>
                  <a:gd name="T22" fmla="*/ 6 w 94"/>
                  <a:gd name="T23" fmla="*/ 24 h 31"/>
                  <a:gd name="T24" fmla="*/ 0 w 94"/>
                  <a:gd name="T25" fmla="*/ 31 h 31"/>
                  <a:gd name="T26" fmla="*/ 0 w 94"/>
                  <a:gd name="T27" fmla="*/ 31 h 31"/>
                  <a:gd name="T28" fmla="*/ 11 w 94"/>
                  <a:gd name="T29" fmla="*/ 19 h 31"/>
                  <a:gd name="T30" fmla="*/ 11 w 94"/>
                  <a:gd name="T31" fmla="*/ 19 h 31"/>
                  <a:gd name="T32" fmla="*/ 2 w 94"/>
                  <a:gd name="T33" fmla="*/ 27 h 31"/>
                  <a:gd name="T34" fmla="*/ 5 w 94"/>
                  <a:gd name="T35" fmla="*/ 26 h 31"/>
                  <a:gd name="T36" fmla="*/ 5 w 94"/>
                  <a:gd name="T37" fmla="*/ 26 h 31"/>
                  <a:gd name="T38" fmla="*/ 13 w 94"/>
                  <a:gd name="T39" fmla="*/ 23 h 31"/>
                  <a:gd name="T40" fmla="*/ 19 w 94"/>
                  <a:gd name="T41" fmla="*/ 21 h 31"/>
                  <a:gd name="T42" fmla="*/ 19 w 94"/>
                  <a:gd name="T43" fmla="*/ 21 h 31"/>
                  <a:gd name="T44" fmla="*/ 30 w 94"/>
                  <a:gd name="T45" fmla="*/ 21 h 31"/>
                  <a:gd name="T46" fmla="*/ 42 w 94"/>
                  <a:gd name="T47" fmla="*/ 21 h 31"/>
                  <a:gd name="T48" fmla="*/ 42 w 94"/>
                  <a:gd name="T49" fmla="*/ 21 h 31"/>
                  <a:gd name="T50" fmla="*/ 53 w 94"/>
                  <a:gd name="T51" fmla="*/ 23 h 31"/>
                  <a:gd name="T52" fmla="*/ 62 w 94"/>
                  <a:gd name="T53" fmla="*/ 21 h 31"/>
                  <a:gd name="T54" fmla="*/ 73 w 94"/>
                  <a:gd name="T55" fmla="*/ 16 h 31"/>
                  <a:gd name="T56" fmla="*/ 81 w 94"/>
                  <a:gd name="T57" fmla="*/ 12 h 31"/>
                  <a:gd name="T58" fmla="*/ 81 w 94"/>
                  <a:gd name="T59" fmla="*/ 12 h 31"/>
                  <a:gd name="T60" fmla="*/ 88 w 94"/>
                  <a:gd name="T61" fmla="*/ 7 h 31"/>
                  <a:gd name="T62" fmla="*/ 94 w 94"/>
                  <a:gd name="T63" fmla="*/ 0 h 31"/>
                  <a:gd name="T64" fmla="*/ 94 w 94"/>
                  <a:gd name="T65" fmla="*/ 0 h 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4"/>
                  <a:gd name="T100" fmla="*/ 0 h 31"/>
                  <a:gd name="T101" fmla="*/ 94 w 94"/>
                  <a:gd name="T102" fmla="*/ 31 h 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4" h="31">
                    <a:moveTo>
                      <a:pt x="94" y="0"/>
                    </a:moveTo>
                    <a:lnTo>
                      <a:pt x="94" y="0"/>
                    </a:lnTo>
                    <a:lnTo>
                      <a:pt x="86" y="5"/>
                    </a:lnTo>
                    <a:lnTo>
                      <a:pt x="78" y="8"/>
                    </a:lnTo>
                    <a:lnTo>
                      <a:pt x="70" y="10"/>
                    </a:lnTo>
                    <a:lnTo>
                      <a:pt x="62" y="10"/>
                    </a:lnTo>
                    <a:lnTo>
                      <a:pt x="46" y="10"/>
                    </a:lnTo>
                    <a:lnTo>
                      <a:pt x="30" y="10"/>
                    </a:lnTo>
                    <a:lnTo>
                      <a:pt x="21" y="13"/>
                    </a:lnTo>
                    <a:lnTo>
                      <a:pt x="13" y="18"/>
                    </a:lnTo>
                    <a:lnTo>
                      <a:pt x="6" y="24"/>
                    </a:lnTo>
                    <a:lnTo>
                      <a:pt x="0" y="31"/>
                    </a:lnTo>
                    <a:lnTo>
                      <a:pt x="11" y="19"/>
                    </a:lnTo>
                    <a:lnTo>
                      <a:pt x="2" y="27"/>
                    </a:lnTo>
                    <a:lnTo>
                      <a:pt x="5" y="26"/>
                    </a:lnTo>
                    <a:lnTo>
                      <a:pt x="13" y="23"/>
                    </a:lnTo>
                    <a:lnTo>
                      <a:pt x="19" y="21"/>
                    </a:lnTo>
                    <a:lnTo>
                      <a:pt x="30" y="21"/>
                    </a:lnTo>
                    <a:lnTo>
                      <a:pt x="42" y="21"/>
                    </a:lnTo>
                    <a:lnTo>
                      <a:pt x="53" y="23"/>
                    </a:lnTo>
                    <a:lnTo>
                      <a:pt x="62" y="21"/>
                    </a:lnTo>
                    <a:lnTo>
                      <a:pt x="73" y="16"/>
                    </a:lnTo>
                    <a:lnTo>
                      <a:pt x="81" y="12"/>
                    </a:lnTo>
                    <a:lnTo>
                      <a:pt x="88" y="7"/>
                    </a:lnTo>
                    <a:lnTo>
                      <a:pt x="94" y="0"/>
                    </a:lnTo>
                    <a:close/>
                  </a:path>
                </a:pathLst>
              </a:custGeom>
              <a:solidFill>
                <a:srgbClr val="00C014"/>
              </a:solidFill>
              <a:ln w="9525">
                <a:noFill/>
                <a:round/>
                <a:headEnd/>
                <a:tailEnd/>
              </a:ln>
            </p:spPr>
            <p:txBody>
              <a:bodyPr wrap="none" anchor="ctr"/>
              <a:lstStyle/>
              <a:p>
                <a:endParaRPr lang="en-US"/>
              </a:p>
            </p:txBody>
          </p:sp>
          <p:sp>
            <p:nvSpPr>
              <p:cNvPr id="15388" name="Freeform 25"/>
              <p:cNvSpPr>
                <a:spLocks noChangeArrowheads="1"/>
              </p:cNvSpPr>
              <p:nvPr/>
            </p:nvSpPr>
            <p:spPr bwMode="auto">
              <a:xfrm>
                <a:off x="1295" y="481"/>
                <a:ext cx="94" cy="27"/>
              </a:xfrm>
              <a:custGeom>
                <a:avLst/>
                <a:gdLst>
                  <a:gd name="T0" fmla="*/ 94 w 94"/>
                  <a:gd name="T1" fmla="*/ 0 h 27"/>
                  <a:gd name="T2" fmla="*/ 94 w 94"/>
                  <a:gd name="T3" fmla="*/ 0 h 27"/>
                  <a:gd name="T4" fmla="*/ 85 w 94"/>
                  <a:gd name="T5" fmla="*/ 4 h 27"/>
                  <a:gd name="T6" fmla="*/ 73 w 94"/>
                  <a:gd name="T7" fmla="*/ 8 h 27"/>
                  <a:gd name="T8" fmla="*/ 64 w 94"/>
                  <a:gd name="T9" fmla="*/ 9 h 27"/>
                  <a:gd name="T10" fmla="*/ 53 w 94"/>
                  <a:gd name="T11" fmla="*/ 9 h 27"/>
                  <a:gd name="T12" fmla="*/ 53 w 94"/>
                  <a:gd name="T13" fmla="*/ 9 h 27"/>
                  <a:gd name="T14" fmla="*/ 41 w 94"/>
                  <a:gd name="T15" fmla="*/ 8 h 27"/>
                  <a:gd name="T16" fmla="*/ 30 w 94"/>
                  <a:gd name="T17" fmla="*/ 8 h 27"/>
                  <a:gd name="T18" fmla="*/ 21 w 94"/>
                  <a:gd name="T19" fmla="*/ 11 h 27"/>
                  <a:gd name="T20" fmla="*/ 11 w 94"/>
                  <a:gd name="T21" fmla="*/ 16 h 27"/>
                  <a:gd name="T22" fmla="*/ 11 w 94"/>
                  <a:gd name="T23" fmla="*/ 16 h 27"/>
                  <a:gd name="T24" fmla="*/ 5 w 94"/>
                  <a:gd name="T25" fmla="*/ 20 h 27"/>
                  <a:gd name="T26" fmla="*/ 0 w 94"/>
                  <a:gd name="T27" fmla="*/ 27 h 27"/>
                  <a:gd name="T28" fmla="*/ 0 w 94"/>
                  <a:gd name="T29" fmla="*/ 27 h 27"/>
                  <a:gd name="T30" fmla="*/ 8 w 94"/>
                  <a:gd name="T31" fmla="*/ 22 h 27"/>
                  <a:gd name="T32" fmla="*/ 18 w 94"/>
                  <a:gd name="T33" fmla="*/ 20 h 27"/>
                  <a:gd name="T34" fmla="*/ 27 w 94"/>
                  <a:gd name="T35" fmla="*/ 19 h 27"/>
                  <a:gd name="T36" fmla="*/ 37 w 94"/>
                  <a:gd name="T37" fmla="*/ 19 h 27"/>
                  <a:gd name="T38" fmla="*/ 37 w 94"/>
                  <a:gd name="T39" fmla="*/ 19 h 27"/>
                  <a:gd name="T40" fmla="*/ 49 w 94"/>
                  <a:gd name="T41" fmla="*/ 20 h 27"/>
                  <a:gd name="T42" fmla="*/ 61 w 94"/>
                  <a:gd name="T43" fmla="*/ 19 h 27"/>
                  <a:gd name="T44" fmla="*/ 72 w 94"/>
                  <a:gd name="T45" fmla="*/ 16 h 27"/>
                  <a:gd name="T46" fmla="*/ 83 w 94"/>
                  <a:gd name="T47" fmla="*/ 11 h 27"/>
                  <a:gd name="T48" fmla="*/ 83 w 94"/>
                  <a:gd name="T49" fmla="*/ 11 h 27"/>
                  <a:gd name="T50" fmla="*/ 88 w 94"/>
                  <a:gd name="T51" fmla="*/ 4 h 27"/>
                  <a:gd name="T52" fmla="*/ 94 w 94"/>
                  <a:gd name="T53" fmla="*/ 0 h 27"/>
                  <a:gd name="T54" fmla="*/ 94 w 94"/>
                  <a:gd name="T55" fmla="*/ 0 h 2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94"/>
                  <a:gd name="T85" fmla="*/ 0 h 27"/>
                  <a:gd name="T86" fmla="*/ 94 w 94"/>
                  <a:gd name="T87" fmla="*/ 27 h 2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94" h="27">
                    <a:moveTo>
                      <a:pt x="94" y="0"/>
                    </a:moveTo>
                    <a:lnTo>
                      <a:pt x="94" y="0"/>
                    </a:lnTo>
                    <a:lnTo>
                      <a:pt x="85" y="4"/>
                    </a:lnTo>
                    <a:lnTo>
                      <a:pt x="73" y="8"/>
                    </a:lnTo>
                    <a:lnTo>
                      <a:pt x="64" y="9"/>
                    </a:lnTo>
                    <a:lnTo>
                      <a:pt x="53" y="9"/>
                    </a:lnTo>
                    <a:lnTo>
                      <a:pt x="41" y="8"/>
                    </a:lnTo>
                    <a:lnTo>
                      <a:pt x="30" y="8"/>
                    </a:lnTo>
                    <a:lnTo>
                      <a:pt x="21" y="11"/>
                    </a:lnTo>
                    <a:lnTo>
                      <a:pt x="11" y="16"/>
                    </a:lnTo>
                    <a:lnTo>
                      <a:pt x="5" y="20"/>
                    </a:lnTo>
                    <a:lnTo>
                      <a:pt x="0" y="27"/>
                    </a:lnTo>
                    <a:lnTo>
                      <a:pt x="8" y="22"/>
                    </a:lnTo>
                    <a:lnTo>
                      <a:pt x="18" y="20"/>
                    </a:lnTo>
                    <a:lnTo>
                      <a:pt x="27" y="19"/>
                    </a:lnTo>
                    <a:lnTo>
                      <a:pt x="37" y="19"/>
                    </a:lnTo>
                    <a:lnTo>
                      <a:pt x="49" y="20"/>
                    </a:lnTo>
                    <a:lnTo>
                      <a:pt x="61" y="19"/>
                    </a:lnTo>
                    <a:lnTo>
                      <a:pt x="72" y="16"/>
                    </a:lnTo>
                    <a:lnTo>
                      <a:pt x="83" y="11"/>
                    </a:lnTo>
                    <a:lnTo>
                      <a:pt x="88" y="4"/>
                    </a:lnTo>
                    <a:lnTo>
                      <a:pt x="94" y="0"/>
                    </a:lnTo>
                    <a:close/>
                  </a:path>
                </a:pathLst>
              </a:custGeom>
              <a:solidFill>
                <a:srgbClr val="00C014"/>
              </a:solidFill>
              <a:ln w="9525">
                <a:noFill/>
                <a:round/>
                <a:headEnd/>
                <a:tailEnd/>
              </a:ln>
            </p:spPr>
            <p:txBody>
              <a:bodyPr wrap="none" anchor="ctr"/>
              <a:lstStyle/>
              <a:p>
                <a:endParaRPr lang="en-US"/>
              </a:p>
            </p:txBody>
          </p:sp>
          <p:sp>
            <p:nvSpPr>
              <p:cNvPr id="15389" name="Freeform 26"/>
              <p:cNvSpPr>
                <a:spLocks noChangeArrowheads="1"/>
              </p:cNvSpPr>
              <p:nvPr/>
            </p:nvSpPr>
            <p:spPr bwMode="auto">
              <a:xfrm>
                <a:off x="1287" y="319"/>
                <a:ext cx="155" cy="46"/>
              </a:xfrm>
              <a:custGeom>
                <a:avLst/>
                <a:gdLst>
                  <a:gd name="T0" fmla="*/ 155 w 155"/>
                  <a:gd name="T1" fmla="*/ 0 h 46"/>
                  <a:gd name="T2" fmla="*/ 155 w 155"/>
                  <a:gd name="T3" fmla="*/ 0 h 46"/>
                  <a:gd name="T4" fmla="*/ 142 w 155"/>
                  <a:gd name="T5" fmla="*/ 8 h 46"/>
                  <a:gd name="T6" fmla="*/ 128 w 155"/>
                  <a:gd name="T7" fmla="*/ 12 h 46"/>
                  <a:gd name="T8" fmla="*/ 112 w 155"/>
                  <a:gd name="T9" fmla="*/ 16 h 46"/>
                  <a:gd name="T10" fmla="*/ 97 w 155"/>
                  <a:gd name="T11" fmla="*/ 16 h 46"/>
                  <a:gd name="T12" fmla="*/ 69 w 155"/>
                  <a:gd name="T13" fmla="*/ 16 h 46"/>
                  <a:gd name="T14" fmla="*/ 53 w 155"/>
                  <a:gd name="T15" fmla="*/ 17 h 46"/>
                  <a:gd name="T16" fmla="*/ 38 w 155"/>
                  <a:gd name="T17" fmla="*/ 20 h 46"/>
                  <a:gd name="T18" fmla="*/ 38 w 155"/>
                  <a:gd name="T19" fmla="*/ 20 h 46"/>
                  <a:gd name="T20" fmla="*/ 27 w 155"/>
                  <a:gd name="T21" fmla="*/ 24 h 46"/>
                  <a:gd name="T22" fmla="*/ 18 w 155"/>
                  <a:gd name="T23" fmla="*/ 30 h 46"/>
                  <a:gd name="T24" fmla="*/ 8 w 155"/>
                  <a:gd name="T25" fmla="*/ 38 h 46"/>
                  <a:gd name="T26" fmla="*/ 0 w 155"/>
                  <a:gd name="T27" fmla="*/ 46 h 46"/>
                  <a:gd name="T28" fmla="*/ 0 w 155"/>
                  <a:gd name="T29" fmla="*/ 46 h 46"/>
                  <a:gd name="T30" fmla="*/ 13 w 155"/>
                  <a:gd name="T31" fmla="*/ 36 h 46"/>
                  <a:gd name="T32" fmla="*/ 13 w 155"/>
                  <a:gd name="T33" fmla="*/ 36 h 46"/>
                  <a:gd name="T34" fmla="*/ 18 w 155"/>
                  <a:gd name="T35" fmla="*/ 32 h 46"/>
                  <a:gd name="T36" fmla="*/ 24 w 155"/>
                  <a:gd name="T37" fmla="*/ 30 h 46"/>
                  <a:gd name="T38" fmla="*/ 32 w 155"/>
                  <a:gd name="T39" fmla="*/ 28 h 46"/>
                  <a:gd name="T40" fmla="*/ 41 w 155"/>
                  <a:gd name="T41" fmla="*/ 27 h 46"/>
                  <a:gd name="T42" fmla="*/ 61 w 155"/>
                  <a:gd name="T43" fmla="*/ 27 h 46"/>
                  <a:gd name="T44" fmla="*/ 77 w 155"/>
                  <a:gd name="T45" fmla="*/ 28 h 46"/>
                  <a:gd name="T46" fmla="*/ 77 w 155"/>
                  <a:gd name="T47" fmla="*/ 28 h 46"/>
                  <a:gd name="T48" fmla="*/ 94 w 155"/>
                  <a:gd name="T49" fmla="*/ 28 h 46"/>
                  <a:gd name="T50" fmla="*/ 112 w 155"/>
                  <a:gd name="T51" fmla="*/ 25 h 46"/>
                  <a:gd name="T52" fmla="*/ 129 w 155"/>
                  <a:gd name="T53" fmla="*/ 19 h 46"/>
                  <a:gd name="T54" fmla="*/ 144 w 155"/>
                  <a:gd name="T55" fmla="*/ 11 h 46"/>
                  <a:gd name="T56" fmla="*/ 144 w 155"/>
                  <a:gd name="T57" fmla="*/ 11 h 46"/>
                  <a:gd name="T58" fmla="*/ 150 w 155"/>
                  <a:gd name="T59" fmla="*/ 4 h 46"/>
                  <a:gd name="T60" fmla="*/ 155 w 155"/>
                  <a:gd name="T61" fmla="*/ 0 h 46"/>
                  <a:gd name="T62" fmla="*/ 155 w 155"/>
                  <a:gd name="T63" fmla="*/ 0 h 4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55"/>
                  <a:gd name="T97" fmla="*/ 0 h 46"/>
                  <a:gd name="T98" fmla="*/ 155 w 155"/>
                  <a:gd name="T99" fmla="*/ 46 h 4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55" h="46">
                    <a:moveTo>
                      <a:pt x="155" y="0"/>
                    </a:moveTo>
                    <a:lnTo>
                      <a:pt x="155" y="0"/>
                    </a:lnTo>
                    <a:lnTo>
                      <a:pt x="142" y="8"/>
                    </a:lnTo>
                    <a:lnTo>
                      <a:pt x="128" y="12"/>
                    </a:lnTo>
                    <a:lnTo>
                      <a:pt x="112" y="16"/>
                    </a:lnTo>
                    <a:lnTo>
                      <a:pt x="97" y="16"/>
                    </a:lnTo>
                    <a:lnTo>
                      <a:pt x="69" y="16"/>
                    </a:lnTo>
                    <a:lnTo>
                      <a:pt x="53" y="17"/>
                    </a:lnTo>
                    <a:lnTo>
                      <a:pt x="38" y="20"/>
                    </a:lnTo>
                    <a:lnTo>
                      <a:pt x="27" y="24"/>
                    </a:lnTo>
                    <a:lnTo>
                      <a:pt x="18" y="30"/>
                    </a:lnTo>
                    <a:lnTo>
                      <a:pt x="8" y="38"/>
                    </a:lnTo>
                    <a:lnTo>
                      <a:pt x="0" y="46"/>
                    </a:lnTo>
                    <a:lnTo>
                      <a:pt x="13" y="36"/>
                    </a:lnTo>
                    <a:lnTo>
                      <a:pt x="18" y="32"/>
                    </a:lnTo>
                    <a:lnTo>
                      <a:pt x="24" y="30"/>
                    </a:lnTo>
                    <a:lnTo>
                      <a:pt x="32" y="28"/>
                    </a:lnTo>
                    <a:lnTo>
                      <a:pt x="41" y="27"/>
                    </a:lnTo>
                    <a:lnTo>
                      <a:pt x="61" y="27"/>
                    </a:lnTo>
                    <a:lnTo>
                      <a:pt x="77" y="28"/>
                    </a:lnTo>
                    <a:lnTo>
                      <a:pt x="94" y="28"/>
                    </a:lnTo>
                    <a:lnTo>
                      <a:pt x="112" y="25"/>
                    </a:lnTo>
                    <a:lnTo>
                      <a:pt x="129" y="19"/>
                    </a:lnTo>
                    <a:lnTo>
                      <a:pt x="144" y="11"/>
                    </a:lnTo>
                    <a:lnTo>
                      <a:pt x="150" y="4"/>
                    </a:lnTo>
                    <a:lnTo>
                      <a:pt x="155" y="0"/>
                    </a:lnTo>
                    <a:close/>
                  </a:path>
                </a:pathLst>
              </a:custGeom>
              <a:solidFill>
                <a:srgbClr val="00C014"/>
              </a:solidFill>
              <a:ln w="9525">
                <a:noFill/>
                <a:round/>
                <a:headEnd/>
                <a:tailEnd/>
              </a:ln>
            </p:spPr>
            <p:txBody>
              <a:bodyPr wrap="none" anchor="ctr"/>
              <a:lstStyle/>
              <a:p>
                <a:endParaRPr lang="en-US"/>
              </a:p>
            </p:txBody>
          </p:sp>
          <p:sp>
            <p:nvSpPr>
              <p:cNvPr id="15390" name="Freeform 27"/>
              <p:cNvSpPr>
                <a:spLocks noChangeArrowheads="1"/>
              </p:cNvSpPr>
              <p:nvPr/>
            </p:nvSpPr>
            <p:spPr bwMode="auto">
              <a:xfrm>
                <a:off x="1601" y="229"/>
                <a:ext cx="206" cy="66"/>
              </a:xfrm>
              <a:custGeom>
                <a:avLst/>
                <a:gdLst>
                  <a:gd name="T0" fmla="*/ 202 w 207"/>
                  <a:gd name="T1" fmla="*/ 0 h 66"/>
                  <a:gd name="T2" fmla="*/ 202 w 207"/>
                  <a:gd name="T3" fmla="*/ 0 h 66"/>
                  <a:gd name="T4" fmla="*/ 194 w 207"/>
                  <a:gd name="T5" fmla="*/ 7 h 66"/>
                  <a:gd name="T6" fmla="*/ 187 w 207"/>
                  <a:gd name="T7" fmla="*/ 11 h 66"/>
                  <a:gd name="T8" fmla="*/ 169 w 207"/>
                  <a:gd name="T9" fmla="*/ 18 h 66"/>
                  <a:gd name="T10" fmla="*/ 151 w 207"/>
                  <a:gd name="T11" fmla="*/ 21 h 66"/>
                  <a:gd name="T12" fmla="*/ 132 w 207"/>
                  <a:gd name="T13" fmla="*/ 23 h 66"/>
                  <a:gd name="T14" fmla="*/ 99 w 207"/>
                  <a:gd name="T15" fmla="*/ 24 h 66"/>
                  <a:gd name="T16" fmla="*/ 80 w 207"/>
                  <a:gd name="T17" fmla="*/ 24 h 66"/>
                  <a:gd name="T18" fmla="*/ 62 w 207"/>
                  <a:gd name="T19" fmla="*/ 27 h 66"/>
                  <a:gd name="T20" fmla="*/ 62 w 207"/>
                  <a:gd name="T21" fmla="*/ 27 h 66"/>
                  <a:gd name="T22" fmla="*/ 52 w 207"/>
                  <a:gd name="T23" fmla="*/ 29 h 66"/>
                  <a:gd name="T24" fmla="*/ 43 w 207"/>
                  <a:gd name="T25" fmla="*/ 32 h 66"/>
                  <a:gd name="T26" fmla="*/ 27 w 207"/>
                  <a:gd name="T27" fmla="*/ 40 h 66"/>
                  <a:gd name="T28" fmla="*/ 13 w 207"/>
                  <a:gd name="T29" fmla="*/ 51 h 66"/>
                  <a:gd name="T30" fmla="*/ 0 w 207"/>
                  <a:gd name="T31" fmla="*/ 66 h 66"/>
                  <a:gd name="T32" fmla="*/ 0 w 207"/>
                  <a:gd name="T33" fmla="*/ 66 h 66"/>
                  <a:gd name="T34" fmla="*/ 9 w 207"/>
                  <a:gd name="T35" fmla="*/ 56 h 66"/>
                  <a:gd name="T36" fmla="*/ 9 w 207"/>
                  <a:gd name="T37" fmla="*/ 56 h 66"/>
                  <a:gd name="T38" fmla="*/ 19 w 207"/>
                  <a:gd name="T39" fmla="*/ 48 h 66"/>
                  <a:gd name="T40" fmla="*/ 29 w 207"/>
                  <a:gd name="T41" fmla="*/ 42 h 66"/>
                  <a:gd name="T42" fmla="*/ 40 w 207"/>
                  <a:gd name="T43" fmla="*/ 37 h 66"/>
                  <a:gd name="T44" fmla="*/ 51 w 207"/>
                  <a:gd name="T45" fmla="*/ 35 h 66"/>
                  <a:gd name="T46" fmla="*/ 64 w 207"/>
                  <a:gd name="T47" fmla="*/ 34 h 66"/>
                  <a:gd name="T48" fmla="*/ 75 w 207"/>
                  <a:gd name="T49" fmla="*/ 32 h 66"/>
                  <a:gd name="T50" fmla="*/ 100 w 207"/>
                  <a:gd name="T51" fmla="*/ 32 h 66"/>
                  <a:gd name="T52" fmla="*/ 121 w 207"/>
                  <a:gd name="T53" fmla="*/ 32 h 66"/>
                  <a:gd name="T54" fmla="*/ 147 w 207"/>
                  <a:gd name="T55" fmla="*/ 31 h 66"/>
                  <a:gd name="T56" fmla="*/ 158 w 207"/>
                  <a:gd name="T57" fmla="*/ 27 h 66"/>
                  <a:gd name="T58" fmla="*/ 171 w 207"/>
                  <a:gd name="T59" fmla="*/ 24 h 66"/>
                  <a:gd name="T60" fmla="*/ 182 w 207"/>
                  <a:gd name="T61" fmla="*/ 18 h 66"/>
                  <a:gd name="T62" fmla="*/ 191 w 207"/>
                  <a:gd name="T63" fmla="*/ 11 h 66"/>
                  <a:gd name="T64" fmla="*/ 191 w 207"/>
                  <a:gd name="T65" fmla="*/ 11 h 66"/>
                  <a:gd name="T66" fmla="*/ 202 w 207"/>
                  <a:gd name="T67" fmla="*/ 0 h 66"/>
                  <a:gd name="T68" fmla="*/ 202 w 207"/>
                  <a:gd name="T69" fmla="*/ 0 h 6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07"/>
                  <a:gd name="T106" fmla="*/ 0 h 66"/>
                  <a:gd name="T107" fmla="*/ 207 w 207"/>
                  <a:gd name="T108" fmla="*/ 66 h 6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07" h="66">
                    <a:moveTo>
                      <a:pt x="207" y="0"/>
                    </a:moveTo>
                    <a:lnTo>
                      <a:pt x="207" y="0"/>
                    </a:lnTo>
                    <a:lnTo>
                      <a:pt x="199" y="7"/>
                    </a:lnTo>
                    <a:lnTo>
                      <a:pt x="192" y="11"/>
                    </a:lnTo>
                    <a:lnTo>
                      <a:pt x="174" y="18"/>
                    </a:lnTo>
                    <a:lnTo>
                      <a:pt x="156" y="21"/>
                    </a:lnTo>
                    <a:lnTo>
                      <a:pt x="137" y="23"/>
                    </a:lnTo>
                    <a:lnTo>
                      <a:pt x="99" y="24"/>
                    </a:lnTo>
                    <a:lnTo>
                      <a:pt x="80" y="24"/>
                    </a:lnTo>
                    <a:lnTo>
                      <a:pt x="62" y="27"/>
                    </a:lnTo>
                    <a:lnTo>
                      <a:pt x="52" y="29"/>
                    </a:lnTo>
                    <a:lnTo>
                      <a:pt x="43" y="32"/>
                    </a:lnTo>
                    <a:lnTo>
                      <a:pt x="27" y="40"/>
                    </a:lnTo>
                    <a:lnTo>
                      <a:pt x="13" y="51"/>
                    </a:lnTo>
                    <a:lnTo>
                      <a:pt x="0" y="66"/>
                    </a:lnTo>
                    <a:lnTo>
                      <a:pt x="9" y="56"/>
                    </a:lnTo>
                    <a:lnTo>
                      <a:pt x="19" y="48"/>
                    </a:lnTo>
                    <a:lnTo>
                      <a:pt x="29" y="42"/>
                    </a:lnTo>
                    <a:lnTo>
                      <a:pt x="40" y="37"/>
                    </a:lnTo>
                    <a:lnTo>
                      <a:pt x="51" y="35"/>
                    </a:lnTo>
                    <a:lnTo>
                      <a:pt x="64" y="34"/>
                    </a:lnTo>
                    <a:lnTo>
                      <a:pt x="75" y="32"/>
                    </a:lnTo>
                    <a:lnTo>
                      <a:pt x="100" y="32"/>
                    </a:lnTo>
                    <a:lnTo>
                      <a:pt x="126" y="32"/>
                    </a:lnTo>
                    <a:lnTo>
                      <a:pt x="152" y="31"/>
                    </a:lnTo>
                    <a:lnTo>
                      <a:pt x="163" y="27"/>
                    </a:lnTo>
                    <a:lnTo>
                      <a:pt x="176" y="24"/>
                    </a:lnTo>
                    <a:lnTo>
                      <a:pt x="187" y="18"/>
                    </a:lnTo>
                    <a:lnTo>
                      <a:pt x="196" y="11"/>
                    </a:lnTo>
                    <a:lnTo>
                      <a:pt x="207" y="0"/>
                    </a:lnTo>
                    <a:close/>
                  </a:path>
                </a:pathLst>
              </a:custGeom>
              <a:solidFill>
                <a:srgbClr val="00C014"/>
              </a:solidFill>
              <a:ln w="9525">
                <a:noFill/>
                <a:round/>
                <a:headEnd/>
                <a:tailEnd/>
              </a:ln>
            </p:spPr>
            <p:txBody>
              <a:bodyPr wrap="none" anchor="ctr"/>
              <a:lstStyle/>
              <a:p>
                <a:endParaRPr lang="en-US"/>
              </a:p>
            </p:txBody>
          </p:sp>
          <p:sp>
            <p:nvSpPr>
              <p:cNvPr id="15391" name="Freeform 28"/>
              <p:cNvSpPr>
                <a:spLocks noChangeArrowheads="1"/>
              </p:cNvSpPr>
              <p:nvPr/>
            </p:nvSpPr>
            <p:spPr bwMode="auto">
              <a:xfrm>
                <a:off x="1408" y="398"/>
                <a:ext cx="66" cy="78"/>
              </a:xfrm>
              <a:custGeom>
                <a:avLst/>
                <a:gdLst>
                  <a:gd name="T0" fmla="*/ 64 w 66"/>
                  <a:gd name="T1" fmla="*/ 12 h 78"/>
                  <a:gd name="T2" fmla="*/ 39 w 66"/>
                  <a:gd name="T3" fmla="*/ 12 h 78"/>
                  <a:gd name="T4" fmla="*/ 28 w 66"/>
                  <a:gd name="T5" fmla="*/ 78 h 78"/>
                  <a:gd name="T6" fmla="*/ 13 w 66"/>
                  <a:gd name="T7" fmla="*/ 78 h 78"/>
                  <a:gd name="T8" fmla="*/ 24 w 66"/>
                  <a:gd name="T9" fmla="*/ 12 h 78"/>
                  <a:gd name="T10" fmla="*/ 0 w 66"/>
                  <a:gd name="T11" fmla="*/ 12 h 78"/>
                  <a:gd name="T12" fmla="*/ 2 w 66"/>
                  <a:gd name="T13" fmla="*/ 0 h 78"/>
                  <a:gd name="T14" fmla="*/ 66 w 66"/>
                  <a:gd name="T15" fmla="*/ 0 h 78"/>
                  <a:gd name="T16" fmla="*/ 64 w 66"/>
                  <a:gd name="T17" fmla="*/ 12 h 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
                  <a:gd name="T28" fmla="*/ 0 h 78"/>
                  <a:gd name="T29" fmla="*/ 66 w 66"/>
                  <a:gd name="T30" fmla="*/ 78 h 7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 h="78">
                    <a:moveTo>
                      <a:pt x="64" y="12"/>
                    </a:moveTo>
                    <a:lnTo>
                      <a:pt x="39" y="12"/>
                    </a:lnTo>
                    <a:lnTo>
                      <a:pt x="28" y="78"/>
                    </a:lnTo>
                    <a:lnTo>
                      <a:pt x="13" y="78"/>
                    </a:lnTo>
                    <a:lnTo>
                      <a:pt x="24" y="12"/>
                    </a:lnTo>
                    <a:lnTo>
                      <a:pt x="0" y="12"/>
                    </a:lnTo>
                    <a:lnTo>
                      <a:pt x="2" y="0"/>
                    </a:lnTo>
                    <a:lnTo>
                      <a:pt x="66" y="0"/>
                    </a:lnTo>
                    <a:lnTo>
                      <a:pt x="64" y="12"/>
                    </a:lnTo>
                    <a:close/>
                  </a:path>
                </a:pathLst>
              </a:custGeom>
              <a:solidFill>
                <a:srgbClr val="FFE600"/>
              </a:solidFill>
              <a:ln w="9525">
                <a:noFill/>
                <a:round/>
                <a:headEnd/>
                <a:tailEnd/>
              </a:ln>
            </p:spPr>
            <p:txBody>
              <a:bodyPr wrap="none" anchor="ctr"/>
              <a:lstStyle/>
              <a:p>
                <a:endParaRPr lang="en-US"/>
              </a:p>
            </p:txBody>
          </p:sp>
          <p:sp>
            <p:nvSpPr>
              <p:cNvPr id="15392" name="Freeform 29"/>
              <p:cNvSpPr>
                <a:spLocks noChangeArrowheads="1"/>
              </p:cNvSpPr>
              <p:nvPr/>
            </p:nvSpPr>
            <p:spPr bwMode="auto">
              <a:xfrm>
                <a:off x="1639" y="397"/>
                <a:ext cx="64" cy="80"/>
              </a:xfrm>
              <a:custGeom>
                <a:avLst/>
                <a:gdLst>
                  <a:gd name="T0" fmla="*/ 19 w 64"/>
                  <a:gd name="T1" fmla="*/ 51 h 80"/>
                  <a:gd name="T2" fmla="*/ 14 w 64"/>
                  <a:gd name="T3" fmla="*/ 80 h 80"/>
                  <a:gd name="T4" fmla="*/ 0 w 64"/>
                  <a:gd name="T5" fmla="*/ 80 h 80"/>
                  <a:gd name="T6" fmla="*/ 14 w 64"/>
                  <a:gd name="T7" fmla="*/ 2 h 80"/>
                  <a:gd name="T8" fmla="*/ 14 w 64"/>
                  <a:gd name="T9" fmla="*/ 2 h 80"/>
                  <a:gd name="T10" fmla="*/ 32 w 64"/>
                  <a:gd name="T11" fmla="*/ 0 h 80"/>
                  <a:gd name="T12" fmla="*/ 32 w 64"/>
                  <a:gd name="T13" fmla="*/ 0 h 80"/>
                  <a:gd name="T14" fmla="*/ 46 w 64"/>
                  <a:gd name="T15" fmla="*/ 2 h 80"/>
                  <a:gd name="T16" fmla="*/ 51 w 64"/>
                  <a:gd name="T17" fmla="*/ 3 h 80"/>
                  <a:gd name="T18" fmla="*/ 56 w 64"/>
                  <a:gd name="T19" fmla="*/ 6 h 80"/>
                  <a:gd name="T20" fmla="*/ 59 w 64"/>
                  <a:gd name="T21" fmla="*/ 10 h 80"/>
                  <a:gd name="T22" fmla="*/ 61 w 64"/>
                  <a:gd name="T23" fmla="*/ 13 h 80"/>
                  <a:gd name="T24" fmla="*/ 62 w 64"/>
                  <a:gd name="T25" fmla="*/ 18 h 80"/>
                  <a:gd name="T26" fmla="*/ 64 w 64"/>
                  <a:gd name="T27" fmla="*/ 24 h 80"/>
                  <a:gd name="T28" fmla="*/ 64 w 64"/>
                  <a:gd name="T29" fmla="*/ 24 h 80"/>
                  <a:gd name="T30" fmla="*/ 62 w 64"/>
                  <a:gd name="T31" fmla="*/ 30 h 80"/>
                  <a:gd name="T32" fmla="*/ 61 w 64"/>
                  <a:gd name="T33" fmla="*/ 35 h 80"/>
                  <a:gd name="T34" fmla="*/ 58 w 64"/>
                  <a:gd name="T35" fmla="*/ 40 h 80"/>
                  <a:gd name="T36" fmla="*/ 54 w 64"/>
                  <a:gd name="T37" fmla="*/ 45 h 80"/>
                  <a:gd name="T38" fmla="*/ 54 w 64"/>
                  <a:gd name="T39" fmla="*/ 45 h 80"/>
                  <a:gd name="T40" fmla="*/ 48 w 64"/>
                  <a:gd name="T41" fmla="*/ 48 h 80"/>
                  <a:gd name="T42" fmla="*/ 43 w 64"/>
                  <a:gd name="T43" fmla="*/ 49 h 80"/>
                  <a:gd name="T44" fmla="*/ 37 w 64"/>
                  <a:gd name="T45" fmla="*/ 51 h 80"/>
                  <a:gd name="T46" fmla="*/ 29 w 64"/>
                  <a:gd name="T47" fmla="*/ 53 h 80"/>
                  <a:gd name="T48" fmla="*/ 29 w 64"/>
                  <a:gd name="T49" fmla="*/ 53 h 80"/>
                  <a:gd name="T50" fmla="*/ 19 w 64"/>
                  <a:gd name="T51" fmla="*/ 51 h 80"/>
                  <a:gd name="T52" fmla="*/ 19 w 64"/>
                  <a:gd name="T53" fmla="*/ 51 h 80"/>
                  <a:gd name="T54" fmla="*/ 27 w 64"/>
                  <a:gd name="T55" fmla="*/ 13 h 80"/>
                  <a:gd name="T56" fmla="*/ 22 w 64"/>
                  <a:gd name="T57" fmla="*/ 40 h 80"/>
                  <a:gd name="T58" fmla="*/ 22 w 64"/>
                  <a:gd name="T59" fmla="*/ 40 h 80"/>
                  <a:gd name="T60" fmla="*/ 29 w 64"/>
                  <a:gd name="T61" fmla="*/ 40 h 80"/>
                  <a:gd name="T62" fmla="*/ 29 w 64"/>
                  <a:gd name="T63" fmla="*/ 40 h 80"/>
                  <a:gd name="T64" fmla="*/ 37 w 64"/>
                  <a:gd name="T65" fmla="*/ 38 h 80"/>
                  <a:gd name="T66" fmla="*/ 43 w 64"/>
                  <a:gd name="T67" fmla="*/ 37 h 80"/>
                  <a:gd name="T68" fmla="*/ 43 w 64"/>
                  <a:gd name="T69" fmla="*/ 37 h 80"/>
                  <a:gd name="T70" fmla="*/ 48 w 64"/>
                  <a:gd name="T71" fmla="*/ 32 h 80"/>
                  <a:gd name="T72" fmla="*/ 50 w 64"/>
                  <a:gd name="T73" fmla="*/ 26 h 80"/>
                  <a:gd name="T74" fmla="*/ 50 w 64"/>
                  <a:gd name="T75" fmla="*/ 26 h 80"/>
                  <a:gd name="T76" fmla="*/ 48 w 64"/>
                  <a:gd name="T77" fmla="*/ 19 h 80"/>
                  <a:gd name="T78" fmla="*/ 45 w 64"/>
                  <a:gd name="T79" fmla="*/ 16 h 80"/>
                  <a:gd name="T80" fmla="*/ 42 w 64"/>
                  <a:gd name="T81" fmla="*/ 13 h 80"/>
                  <a:gd name="T82" fmla="*/ 35 w 64"/>
                  <a:gd name="T83" fmla="*/ 13 h 80"/>
                  <a:gd name="T84" fmla="*/ 35 w 64"/>
                  <a:gd name="T85" fmla="*/ 13 h 80"/>
                  <a:gd name="T86" fmla="*/ 27 w 64"/>
                  <a:gd name="T87" fmla="*/ 13 h 80"/>
                  <a:gd name="T88" fmla="*/ 27 w 64"/>
                  <a:gd name="T89" fmla="*/ 13 h 8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4"/>
                  <a:gd name="T136" fmla="*/ 0 h 80"/>
                  <a:gd name="T137" fmla="*/ 64 w 64"/>
                  <a:gd name="T138" fmla="*/ 80 h 8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4" h="80">
                    <a:moveTo>
                      <a:pt x="19" y="51"/>
                    </a:moveTo>
                    <a:lnTo>
                      <a:pt x="14" y="80"/>
                    </a:lnTo>
                    <a:lnTo>
                      <a:pt x="0" y="80"/>
                    </a:lnTo>
                    <a:lnTo>
                      <a:pt x="14" y="2"/>
                    </a:lnTo>
                    <a:lnTo>
                      <a:pt x="32" y="0"/>
                    </a:lnTo>
                    <a:lnTo>
                      <a:pt x="46" y="2"/>
                    </a:lnTo>
                    <a:lnTo>
                      <a:pt x="51" y="3"/>
                    </a:lnTo>
                    <a:lnTo>
                      <a:pt x="56" y="6"/>
                    </a:lnTo>
                    <a:lnTo>
                      <a:pt x="59" y="10"/>
                    </a:lnTo>
                    <a:lnTo>
                      <a:pt x="61" y="13"/>
                    </a:lnTo>
                    <a:lnTo>
                      <a:pt x="62" y="18"/>
                    </a:lnTo>
                    <a:lnTo>
                      <a:pt x="64" y="24"/>
                    </a:lnTo>
                    <a:lnTo>
                      <a:pt x="62" y="30"/>
                    </a:lnTo>
                    <a:lnTo>
                      <a:pt x="61" y="35"/>
                    </a:lnTo>
                    <a:lnTo>
                      <a:pt x="58" y="40"/>
                    </a:lnTo>
                    <a:lnTo>
                      <a:pt x="54" y="45"/>
                    </a:lnTo>
                    <a:lnTo>
                      <a:pt x="48" y="48"/>
                    </a:lnTo>
                    <a:lnTo>
                      <a:pt x="43" y="49"/>
                    </a:lnTo>
                    <a:lnTo>
                      <a:pt x="37" y="51"/>
                    </a:lnTo>
                    <a:lnTo>
                      <a:pt x="29" y="53"/>
                    </a:lnTo>
                    <a:lnTo>
                      <a:pt x="19" y="51"/>
                    </a:lnTo>
                    <a:close/>
                    <a:moveTo>
                      <a:pt x="27" y="13"/>
                    </a:moveTo>
                    <a:lnTo>
                      <a:pt x="22" y="40"/>
                    </a:lnTo>
                    <a:lnTo>
                      <a:pt x="29" y="40"/>
                    </a:lnTo>
                    <a:lnTo>
                      <a:pt x="37" y="38"/>
                    </a:lnTo>
                    <a:lnTo>
                      <a:pt x="43" y="37"/>
                    </a:lnTo>
                    <a:lnTo>
                      <a:pt x="48" y="32"/>
                    </a:lnTo>
                    <a:lnTo>
                      <a:pt x="50" y="26"/>
                    </a:lnTo>
                    <a:lnTo>
                      <a:pt x="48" y="19"/>
                    </a:lnTo>
                    <a:lnTo>
                      <a:pt x="45" y="16"/>
                    </a:lnTo>
                    <a:lnTo>
                      <a:pt x="42" y="13"/>
                    </a:lnTo>
                    <a:lnTo>
                      <a:pt x="35" y="13"/>
                    </a:lnTo>
                    <a:lnTo>
                      <a:pt x="27" y="13"/>
                    </a:lnTo>
                    <a:close/>
                  </a:path>
                </a:pathLst>
              </a:custGeom>
              <a:solidFill>
                <a:srgbClr val="FFE600"/>
              </a:solidFill>
              <a:ln w="9525">
                <a:noFill/>
                <a:round/>
                <a:headEnd/>
                <a:tailEnd/>
              </a:ln>
            </p:spPr>
            <p:txBody>
              <a:bodyPr wrap="none" anchor="ctr"/>
              <a:lstStyle/>
              <a:p>
                <a:endParaRPr lang="en-US"/>
              </a:p>
            </p:txBody>
          </p:sp>
          <p:sp>
            <p:nvSpPr>
              <p:cNvPr id="15393" name="Freeform 30"/>
              <p:cNvSpPr>
                <a:spLocks noChangeArrowheads="1"/>
              </p:cNvSpPr>
              <p:nvPr/>
            </p:nvSpPr>
            <p:spPr bwMode="auto">
              <a:xfrm>
                <a:off x="1408" y="398"/>
                <a:ext cx="66" cy="78"/>
              </a:xfrm>
              <a:custGeom>
                <a:avLst/>
                <a:gdLst>
                  <a:gd name="T0" fmla="*/ 64 w 66"/>
                  <a:gd name="T1" fmla="*/ 12 h 78"/>
                  <a:gd name="T2" fmla="*/ 39 w 66"/>
                  <a:gd name="T3" fmla="*/ 12 h 78"/>
                  <a:gd name="T4" fmla="*/ 28 w 66"/>
                  <a:gd name="T5" fmla="*/ 78 h 78"/>
                  <a:gd name="T6" fmla="*/ 13 w 66"/>
                  <a:gd name="T7" fmla="*/ 78 h 78"/>
                  <a:gd name="T8" fmla="*/ 24 w 66"/>
                  <a:gd name="T9" fmla="*/ 12 h 78"/>
                  <a:gd name="T10" fmla="*/ 0 w 66"/>
                  <a:gd name="T11" fmla="*/ 12 h 78"/>
                  <a:gd name="T12" fmla="*/ 2 w 66"/>
                  <a:gd name="T13" fmla="*/ 0 h 78"/>
                  <a:gd name="T14" fmla="*/ 66 w 66"/>
                  <a:gd name="T15" fmla="*/ 0 h 78"/>
                  <a:gd name="T16" fmla="*/ 64 w 66"/>
                  <a:gd name="T17" fmla="*/ 12 h 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
                  <a:gd name="T28" fmla="*/ 0 h 78"/>
                  <a:gd name="T29" fmla="*/ 66 w 66"/>
                  <a:gd name="T30" fmla="*/ 78 h 7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 h="78">
                    <a:moveTo>
                      <a:pt x="64" y="12"/>
                    </a:moveTo>
                    <a:lnTo>
                      <a:pt x="39" y="12"/>
                    </a:lnTo>
                    <a:lnTo>
                      <a:pt x="28" y="78"/>
                    </a:lnTo>
                    <a:lnTo>
                      <a:pt x="13" y="78"/>
                    </a:lnTo>
                    <a:lnTo>
                      <a:pt x="24" y="12"/>
                    </a:lnTo>
                    <a:lnTo>
                      <a:pt x="0" y="12"/>
                    </a:lnTo>
                    <a:lnTo>
                      <a:pt x="2" y="0"/>
                    </a:lnTo>
                    <a:lnTo>
                      <a:pt x="66" y="0"/>
                    </a:lnTo>
                    <a:lnTo>
                      <a:pt x="64" y="12"/>
                    </a:lnTo>
                    <a:close/>
                  </a:path>
                </a:pathLst>
              </a:custGeom>
              <a:solidFill>
                <a:srgbClr val="000000"/>
              </a:solidFill>
              <a:ln w="9525">
                <a:noFill/>
                <a:round/>
                <a:headEnd/>
                <a:tailEnd/>
              </a:ln>
            </p:spPr>
            <p:txBody>
              <a:bodyPr wrap="none" anchor="ctr"/>
              <a:lstStyle/>
              <a:p>
                <a:endParaRPr lang="en-US"/>
              </a:p>
            </p:txBody>
          </p:sp>
          <p:sp>
            <p:nvSpPr>
              <p:cNvPr id="15394" name="Freeform 31"/>
              <p:cNvSpPr>
                <a:spLocks noChangeArrowheads="1"/>
              </p:cNvSpPr>
              <p:nvPr/>
            </p:nvSpPr>
            <p:spPr bwMode="auto">
              <a:xfrm>
                <a:off x="1466" y="398"/>
                <a:ext cx="64" cy="78"/>
              </a:xfrm>
              <a:custGeom>
                <a:avLst/>
                <a:gdLst>
                  <a:gd name="T0" fmla="*/ 62 w 64"/>
                  <a:gd name="T1" fmla="*/ 12 h 78"/>
                  <a:gd name="T2" fmla="*/ 25 w 64"/>
                  <a:gd name="T3" fmla="*/ 12 h 78"/>
                  <a:gd name="T4" fmla="*/ 22 w 64"/>
                  <a:gd name="T5" fmla="*/ 30 h 78"/>
                  <a:gd name="T6" fmla="*/ 48 w 64"/>
                  <a:gd name="T7" fmla="*/ 30 h 78"/>
                  <a:gd name="T8" fmla="*/ 46 w 64"/>
                  <a:gd name="T9" fmla="*/ 41 h 78"/>
                  <a:gd name="T10" fmla="*/ 21 w 64"/>
                  <a:gd name="T11" fmla="*/ 41 h 78"/>
                  <a:gd name="T12" fmla="*/ 16 w 64"/>
                  <a:gd name="T13" fmla="*/ 65 h 78"/>
                  <a:gd name="T14" fmla="*/ 51 w 64"/>
                  <a:gd name="T15" fmla="*/ 65 h 78"/>
                  <a:gd name="T16" fmla="*/ 49 w 64"/>
                  <a:gd name="T17" fmla="*/ 78 h 78"/>
                  <a:gd name="T18" fmla="*/ 0 w 64"/>
                  <a:gd name="T19" fmla="*/ 78 h 78"/>
                  <a:gd name="T20" fmla="*/ 14 w 64"/>
                  <a:gd name="T21" fmla="*/ 0 h 78"/>
                  <a:gd name="T22" fmla="*/ 64 w 64"/>
                  <a:gd name="T23" fmla="*/ 0 h 78"/>
                  <a:gd name="T24" fmla="*/ 62 w 64"/>
                  <a:gd name="T25" fmla="*/ 12 h 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
                  <a:gd name="T40" fmla="*/ 0 h 78"/>
                  <a:gd name="T41" fmla="*/ 64 w 64"/>
                  <a:gd name="T42" fmla="*/ 78 h 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 h="78">
                    <a:moveTo>
                      <a:pt x="62" y="12"/>
                    </a:moveTo>
                    <a:lnTo>
                      <a:pt x="25" y="12"/>
                    </a:lnTo>
                    <a:lnTo>
                      <a:pt x="22" y="30"/>
                    </a:lnTo>
                    <a:lnTo>
                      <a:pt x="48" y="30"/>
                    </a:lnTo>
                    <a:lnTo>
                      <a:pt x="46" y="41"/>
                    </a:lnTo>
                    <a:lnTo>
                      <a:pt x="21" y="41"/>
                    </a:lnTo>
                    <a:lnTo>
                      <a:pt x="16" y="65"/>
                    </a:lnTo>
                    <a:lnTo>
                      <a:pt x="51" y="65"/>
                    </a:lnTo>
                    <a:lnTo>
                      <a:pt x="49" y="78"/>
                    </a:lnTo>
                    <a:lnTo>
                      <a:pt x="0" y="78"/>
                    </a:lnTo>
                    <a:lnTo>
                      <a:pt x="14" y="0"/>
                    </a:lnTo>
                    <a:lnTo>
                      <a:pt x="64" y="0"/>
                    </a:lnTo>
                    <a:lnTo>
                      <a:pt x="62" y="12"/>
                    </a:lnTo>
                    <a:close/>
                  </a:path>
                </a:pathLst>
              </a:custGeom>
              <a:solidFill>
                <a:srgbClr val="000000"/>
              </a:solidFill>
              <a:ln w="9525">
                <a:noFill/>
                <a:round/>
                <a:headEnd/>
                <a:tailEnd/>
              </a:ln>
            </p:spPr>
            <p:txBody>
              <a:bodyPr wrap="none" anchor="ctr"/>
              <a:lstStyle/>
              <a:p>
                <a:endParaRPr lang="en-US"/>
              </a:p>
            </p:txBody>
          </p:sp>
          <p:sp>
            <p:nvSpPr>
              <p:cNvPr id="15395" name="Freeform 32"/>
              <p:cNvSpPr>
                <a:spLocks noChangeArrowheads="1"/>
              </p:cNvSpPr>
              <p:nvPr/>
            </p:nvSpPr>
            <p:spPr bwMode="auto">
              <a:xfrm>
                <a:off x="1527" y="397"/>
                <a:ext cx="53" cy="81"/>
              </a:xfrm>
              <a:custGeom>
                <a:avLst/>
                <a:gdLst>
                  <a:gd name="T0" fmla="*/ 48 w 53"/>
                  <a:gd name="T1" fmla="*/ 18 h 81"/>
                  <a:gd name="T2" fmla="*/ 35 w 53"/>
                  <a:gd name="T3" fmla="*/ 13 h 81"/>
                  <a:gd name="T4" fmla="*/ 31 w 53"/>
                  <a:gd name="T5" fmla="*/ 13 h 81"/>
                  <a:gd name="T6" fmla="*/ 24 w 53"/>
                  <a:gd name="T7" fmla="*/ 18 h 81"/>
                  <a:gd name="T8" fmla="*/ 23 w 53"/>
                  <a:gd name="T9" fmla="*/ 22 h 81"/>
                  <a:gd name="T10" fmla="*/ 29 w 53"/>
                  <a:gd name="T11" fmla="*/ 32 h 81"/>
                  <a:gd name="T12" fmla="*/ 37 w 53"/>
                  <a:gd name="T13" fmla="*/ 38 h 81"/>
                  <a:gd name="T14" fmla="*/ 43 w 53"/>
                  <a:gd name="T15" fmla="*/ 43 h 81"/>
                  <a:gd name="T16" fmla="*/ 47 w 53"/>
                  <a:gd name="T17" fmla="*/ 48 h 81"/>
                  <a:gd name="T18" fmla="*/ 48 w 53"/>
                  <a:gd name="T19" fmla="*/ 53 h 81"/>
                  <a:gd name="T20" fmla="*/ 50 w 53"/>
                  <a:gd name="T21" fmla="*/ 57 h 81"/>
                  <a:gd name="T22" fmla="*/ 47 w 53"/>
                  <a:gd name="T23" fmla="*/ 67 h 81"/>
                  <a:gd name="T24" fmla="*/ 42 w 53"/>
                  <a:gd name="T25" fmla="*/ 75 h 81"/>
                  <a:gd name="T26" fmla="*/ 32 w 53"/>
                  <a:gd name="T27" fmla="*/ 80 h 81"/>
                  <a:gd name="T28" fmla="*/ 19 w 53"/>
                  <a:gd name="T29" fmla="*/ 81 h 81"/>
                  <a:gd name="T30" fmla="*/ 0 w 53"/>
                  <a:gd name="T31" fmla="*/ 77 h 81"/>
                  <a:gd name="T32" fmla="*/ 5 w 53"/>
                  <a:gd name="T33" fmla="*/ 62 h 81"/>
                  <a:gd name="T34" fmla="*/ 21 w 53"/>
                  <a:gd name="T35" fmla="*/ 69 h 81"/>
                  <a:gd name="T36" fmla="*/ 26 w 53"/>
                  <a:gd name="T37" fmla="*/ 67 h 81"/>
                  <a:gd name="T38" fmla="*/ 31 w 53"/>
                  <a:gd name="T39" fmla="*/ 65 h 81"/>
                  <a:gd name="T40" fmla="*/ 34 w 53"/>
                  <a:gd name="T41" fmla="*/ 59 h 81"/>
                  <a:gd name="T42" fmla="*/ 32 w 53"/>
                  <a:gd name="T43" fmla="*/ 54 h 81"/>
                  <a:gd name="T44" fmla="*/ 19 w 53"/>
                  <a:gd name="T45" fmla="*/ 43 h 81"/>
                  <a:gd name="T46" fmla="*/ 15 w 53"/>
                  <a:gd name="T47" fmla="*/ 38 h 81"/>
                  <a:gd name="T48" fmla="*/ 11 w 53"/>
                  <a:gd name="T49" fmla="*/ 33 h 81"/>
                  <a:gd name="T50" fmla="*/ 8 w 53"/>
                  <a:gd name="T51" fmla="*/ 29 h 81"/>
                  <a:gd name="T52" fmla="*/ 8 w 53"/>
                  <a:gd name="T53" fmla="*/ 24 h 81"/>
                  <a:gd name="T54" fmla="*/ 8 w 53"/>
                  <a:gd name="T55" fmla="*/ 19 h 81"/>
                  <a:gd name="T56" fmla="*/ 13 w 53"/>
                  <a:gd name="T57" fmla="*/ 10 h 81"/>
                  <a:gd name="T58" fmla="*/ 16 w 53"/>
                  <a:gd name="T59" fmla="*/ 6 h 81"/>
                  <a:gd name="T60" fmla="*/ 24 w 53"/>
                  <a:gd name="T61" fmla="*/ 2 h 81"/>
                  <a:gd name="T62" fmla="*/ 34 w 53"/>
                  <a:gd name="T63" fmla="*/ 0 h 81"/>
                  <a:gd name="T64" fmla="*/ 43 w 53"/>
                  <a:gd name="T65" fmla="*/ 2 h 81"/>
                  <a:gd name="T66" fmla="*/ 48 w 53"/>
                  <a:gd name="T67" fmla="*/ 18 h 8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
                  <a:gd name="T103" fmla="*/ 0 h 81"/>
                  <a:gd name="T104" fmla="*/ 53 w 53"/>
                  <a:gd name="T105" fmla="*/ 81 h 8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 h="81">
                    <a:moveTo>
                      <a:pt x="48" y="18"/>
                    </a:moveTo>
                    <a:lnTo>
                      <a:pt x="48" y="18"/>
                    </a:lnTo>
                    <a:lnTo>
                      <a:pt x="42" y="14"/>
                    </a:lnTo>
                    <a:lnTo>
                      <a:pt x="35" y="13"/>
                    </a:lnTo>
                    <a:lnTo>
                      <a:pt x="31" y="13"/>
                    </a:lnTo>
                    <a:lnTo>
                      <a:pt x="26" y="14"/>
                    </a:lnTo>
                    <a:lnTo>
                      <a:pt x="24" y="18"/>
                    </a:lnTo>
                    <a:lnTo>
                      <a:pt x="23" y="22"/>
                    </a:lnTo>
                    <a:lnTo>
                      <a:pt x="24" y="27"/>
                    </a:lnTo>
                    <a:lnTo>
                      <a:pt x="29" y="32"/>
                    </a:lnTo>
                    <a:lnTo>
                      <a:pt x="37" y="38"/>
                    </a:lnTo>
                    <a:lnTo>
                      <a:pt x="43" y="43"/>
                    </a:lnTo>
                    <a:lnTo>
                      <a:pt x="47" y="48"/>
                    </a:lnTo>
                    <a:lnTo>
                      <a:pt x="48" y="53"/>
                    </a:lnTo>
                    <a:lnTo>
                      <a:pt x="50" y="57"/>
                    </a:lnTo>
                    <a:lnTo>
                      <a:pt x="48" y="64"/>
                    </a:lnTo>
                    <a:lnTo>
                      <a:pt x="47" y="67"/>
                    </a:lnTo>
                    <a:lnTo>
                      <a:pt x="45" y="72"/>
                    </a:lnTo>
                    <a:lnTo>
                      <a:pt x="42" y="75"/>
                    </a:lnTo>
                    <a:lnTo>
                      <a:pt x="32" y="80"/>
                    </a:lnTo>
                    <a:lnTo>
                      <a:pt x="19" y="81"/>
                    </a:lnTo>
                    <a:lnTo>
                      <a:pt x="10" y="80"/>
                    </a:lnTo>
                    <a:lnTo>
                      <a:pt x="0" y="77"/>
                    </a:lnTo>
                    <a:lnTo>
                      <a:pt x="5" y="62"/>
                    </a:lnTo>
                    <a:lnTo>
                      <a:pt x="13" y="67"/>
                    </a:lnTo>
                    <a:lnTo>
                      <a:pt x="21" y="69"/>
                    </a:lnTo>
                    <a:lnTo>
                      <a:pt x="26" y="67"/>
                    </a:lnTo>
                    <a:lnTo>
                      <a:pt x="31" y="65"/>
                    </a:lnTo>
                    <a:lnTo>
                      <a:pt x="34" y="62"/>
                    </a:lnTo>
                    <a:lnTo>
                      <a:pt x="34" y="59"/>
                    </a:lnTo>
                    <a:lnTo>
                      <a:pt x="32" y="54"/>
                    </a:lnTo>
                    <a:lnTo>
                      <a:pt x="27" y="49"/>
                    </a:lnTo>
                    <a:lnTo>
                      <a:pt x="19" y="43"/>
                    </a:lnTo>
                    <a:lnTo>
                      <a:pt x="15" y="38"/>
                    </a:lnTo>
                    <a:lnTo>
                      <a:pt x="11" y="33"/>
                    </a:lnTo>
                    <a:lnTo>
                      <a:pt x="8" y="29"/>
                    </a:lnTo>
                    <a:lnTo>
                      <a:pt x="8" y="24"/>
                    </a:lnTo>
                    <a:lnTo>
                      <a:pt x="8" y="19"/>
                    </a:lnTo>
                    <a:lnTo>
                      <a:pt x="10" y="14"/>
                    </a:lnTo>
                    <a:lnTo>
                      <a:pt x="13" y="10"/>
                    </a:lnTo>
                    <a:lnTo>
                      <a:pt x="16" y="6"/>
                    </a:lnTo>
                    <a:lnTo>
                      <a:pt x="19" y="3"/>
                    </a:lnTo>
                    <a:lnTo>
                      <a:pt x="24" y="2"/>
                    </a:lnTo>
                    <a:lnTo>
                      <a:pt x="34" y="0"/>
                    </a:lnTo>
                    <a:lnTo>
                      <a:pt x="43" y="2"/>
                    </a:lnTo>
                    <a:lnTo>
                      <a:pt x="53" y="3"/>
                    </a:lnTo>
                    <a:lnTo>
                      <a:pt x="48" y="18"/>
                    </a:lnTo>
                    <a:close/>
                  </a:path>
                </a:pathLst>
              </a:custGeom>
              <a:solidFill>
                <a:srgbClr val="000000"/>
              </a:solidFill>
              <a:ln w="9525">
                <a:noFill/>
                <a:round/>
                <a:headEnd/>
                <a:tailEnd/>
              </a:ln>
            </p:spPr>
            <p:txBody>
              <a:bodyPr wrap="none" anchor="ctr"/>
              <a:lstStyle/>
              <a:p>
                <a:endParaRPr lang="en-US"/>
              </a:p>
            </p:txBody>
          </p:sp>
          <p:sp>
            <p:nvSpPr>
              <p:cNvPr id="15396" name="Freeform 33"/>
              <p:cNvSpPr>
                <a:spLocks noChangeArrowheads="1"/>
              </p:cNvSpPr>
              <p:nvPr/>
            </p:nvSpPr>
            <p:spPr bwMode="auto">
              <a:xfrm>
                <a:off x="1582" y="398"/>
                <a:ext cx="65" cy="78"/>
              </a:xfrm>
              <a:custGeom>
                <a:avLst/>
                <a:gdLst>
                  <a:gd name="T0" fmla="*/ 63 w 65"/>
                  <a:gd name="T1" fmla="*/ 12 h 78"/>
                  <a:gd name="T2" fmla="*/ 27 w 65"/>
                  <a:gd name="T3" fmla="*/ 12 h 78"/>
                  <a:gd name="T4" fmla="*/ 24 w 65"/>
                  <a:gd name="T5" fmla="*/ 30 h 78"/>
                  <a:gd name="T6" fmla="*/ 49 w 65"/>
                  <a:gd name="T7" fmla="*/ 30 h 78"/>
                  <a:gd name="T8" fmla="*/ 48 w 65"/>
                  <a:gd name="T9" fmla="*/ 41 h 78"/>
                  <a:gd name="T10" fmla="*/ 22 w 65"/>
                  <a:gd name="T11" fmla="*/ 41 h 78"/>
                  <a:gd name="T12" fmla="*/ 17 w 65"/>
                  <a:gd name="T13" fmla="*/ 65 h 78"/>
                  <a:gd name="T14" fmla="*/ 52 w 65"/>
                  <a:gd name="T15" fmla="*/ 65 h 78"/>
                  <a:gd name="T16" fmla="*/ 51 w 65"/>
                  <a:gd name="T17" fmla="*/ 78 h 78"/>
                  <a:gd name="T18" fmla="*/ 0 w 65"/>
                  <a:gd name="T19" fmla="*/ 78 h 78"/>
                  <a:gd name="T20" fmla="*/ 14 w 65"/>
                  <a:gd name="T21" fmla="*/ 0 h 78"/>
                  <a:gd name="T22" fmla="*/ 65 w 65"/>
                  <a:gd name="T23" fmla="*/ 0 h 78"/>
                  <a:gd name="T24" fmla="*/ 63 w 65"/>
                  <a:gd name="T25" fmla="*/ 12 h 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5"/>
                  <a:gd name="T40" fmla="*/ 0 h 78"/>
                  <a:gd name="T41" fmla="*/ 65 w 65"/>
                  <a:gd name="T42" fmla="*/ 78 h 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5" h="78">
                    <a:moveTo>
                      <a:pt x="63" y="12"/>
                    </a:moveTo>
                    <a:lnTo>
                      <a:pt x="27" y="12"/>
                    </a:lnTo>
                    <a:lnTo>
                      <a:pt x="24" y="30"/>
                    </a:lnTo>
                    <a:lnTo>
                      <a:pt x="49" y="30"/>
                    </a:lnTo>
                    <a:lnTo>
                      <a:pt x="48" y="41"/>
                    </a:lnTo>
                    <a:lnTo>
                      <a:pt x="22" y="41"/>
                    </a:lnTo>
                    <a:lnTo>
                      <a:pt x="17" y="65"/>
                    </a:lnTo>
                    <a:lnTo>
                      <a:pt x="52" y="65"/>
                    </a:lnTo>
                    <a:lnTo>
                      <a:pt x="51" y="78"/>
                    </a:lnTo>
                    <a:lnTo>
                      <a:pt x="0" y="78"/>
                    </a:lnTo>
                    <a:lnTo>
                      <a:pt x="14" y="0"/>
                    </a:lnTo>
                    <a:lnTo>
                      <a:pt x="65" y="0"/>
                    </a:lnTo>
                    <a:lnTo>
                      <a:pt x="63" y="12"/>
                    </a:lnTo>
                    <a:close/>
                  </a:path>
                </a:pathLst>
              </a:custGeom>
              <a:solidFill>
                <a:srgbClr val="000000"/>
              </a:solidFill>
              <a:ln w="9525">
                <a:noFill/>
                <a:round/>
                <a:headEnd/>
                <a:tailEnd/>
              </a:ln>
            </p:spPr>
            <p:txBody>
              <a:bodyPr wrap="none" anchor="ctr"/>
              <a:lstStyle/>
              <a:p>
                <a:endParaRPr lang="en-US"/>
              </a:p>
            </p:txBody>
          </p:sp>
          <p:sp>
            <p:nvSpPr>
              <p:cNvPr id="15397" name="Freeform 34"/>
              <p:cNvSpPr>
                <a:spLocks noChangeArrowheads="1"/>
              </p:cNvSpPr>
              <p:nvPr/>
            </p:nvSpPr>
            <p:spPr bwMode="auto">
              <a:xfrm>
                <a:off x="1639" y="397"/>
                <a:ext cx="64" cy="80"/>
              </a:xfrm>
              <a:custGeom>
                <a:avLst/>
                <a:gdLst>
                  <a:gd name="T0" fmla="*/ 19 w 64"/>
                  <a:gd name="T1" fmla="*/ 51 h 80"/>
                  <a:gd name="T2" fmla="*/ 14 w 64"/>
                  <a:gd name="T3" fmla="*/ 80 h 80"/>
                  <a:gd name="T4" fmla="*/ 0 w 64"/>
                  <a:gd name="T5" fmla="*/ 80 h 80"/>
                  <a:gd name="T6" fmla="*/ 14 w 64"/>
                  <a:gd name="T7" fmla="*/ 2 h 80"/>
                  <a:gd name="T8" fmla="*/ 14 w 64"/>
                  <a:gd name="T9" fmla="*/ 2 h 80"/>
                  <a:gd name="T10" fmla="*/ 32 w 64"/>
                  <a:gd name="T11" fmla="*/ 0 h 80"/>
                  <a:gd name="T12" fmla="*/ 32 w 64"/>
                  <a:gd name="T13" fmla="*/ 0 h 80"/>
                  <a:gd name="T14" fmla="*/ 46 w 64"/>
                  <a:gd name="T15" fmla="*/ 2 h 80"/>
                  <a:gd name="T16" fmla="*/ 51 w 64"/>
                  <a:gd name="T17" fmla="*/ 3 h 80"/>
                  <a:gd name="T18" fmla="*/ 56 w 64"/>
                  <a:gd name="T19" fmla="*/ 6 h 80"/>
                  <a:gd name="T20" fmla="*/ 59 w 64"/>
                  <a:gd name="T21" fmla="*/ 10 h 80"/>
                  <a:gd name="T22" fmla="*/ 61 w 64"/>
                  <a:gd name="T23" fmla="*/ 13 h 80"/>
                  <a:gd name="T24" fmla="*/ 62 w 64"/>
                  <a:gd name="T25" fmla="*/ 18 h 80"/>
                  <a:gd name="T26" fmla="*/ 64 w 64"/>
                  <a:gd name="T27" fmla="*/ 24 h 80"/>
                  <a:gd name="T28" fmla="*/ 64 w 64"/>
                  <a:gd name="T29" fmla="*/ 24 h 80"/>
                  <a:gd name="T30" fmla="*/ 62 w 64"/>
                  <a:gd name="T31" fmla="*/ 30 h 80"/>
                  <a:gd name="T32" fmla="*/ 61 w 64"/>
                  <a:gd name="T33" fmla="*/ 35 h 80"/>
                  <a:gd name="T34" fmla="*/ 58 w 64"/>
                  <a:gd name="T35" fmla="*/ 40 h 80"/>
                  <a:gd name="T36" fmla="*/ 54 w 64"/>
                  <a:gd name="T37" fmla="*/ 45 h 80"/>
                  <a:gd name="T38" fmla="*/ 54 w 64"/>
                  <a:gd name="T39" fmla="*/ 45 h 80"/>
                  <a:gd name="T40" fmla="*/ 48 w 64"/>
                  <a:gd name="T41" fmla="*/ 48 h 80"/>
                  <a:gd name="T42" fmla="*/ 43 w 64"/>
                  <a:gd name="T43" fmla="*/ 49 h 80"/>
                  <a:gd name="T44" fmla="*/ 37 w 64"/>
                  <a:gd name="T45" fmla="*/ 51 h 80"/>
                  <a:gd name="T46" fmla="*/ 29 w 64"/>
                  <a:gd name="T47" fmla="*/ 53 h 80"/>
                  <a:gd name="T48" fmla="*/ 29 w 64"/>
                  <a:gd name="T49" fmla="*/ 53 h 80"/>
                  <a:gd name="T50" fmla="*/ 19 w 64"/>
                  <a:gd name="T51" fmla="*/ 51 h 80"/>
                  <a:gd name="T52" fmla="*/ 19 w 64"/>
                  <a:gd name="T53" fmla="*/ 51 h 80"/>
                  <a:gd name="T54" fmla="*/ 27 w 64"/>
                  <a:gd name="T55" fmla="*/ 13 h 80"/>
                  <a:gd name="T56" fmla="*/ 22 w 64"/>
                  <a:gd name="T57" fmla="*/ 40 h 80"/>
                  <a:gd name="T58" fmla="*/ 22 w 64"/>
                  <a:gd name="T59" fmla="*/ 40 h 80"/>
                  <a:gd name="T60" fmla="*/ 29 w 64"/>
                  <a:gd name="T61" fmla="*/ 40 h 80"/>
                  <a:gd name="T62" fmla="*/ 29 w 64"/>
                  <a:gd name="T63" fmla="*/ 40 h 80"/>
                  <a:gd name="T64" fmla="*/ 37 w 64"/>
                  <a:gd name="T65" fmla="*/ 38 h 80"/>
                  <a:gd name="T66" fmla="*/ 43 w 64"/>
                  <a:gd name="T67" fmla="*/ 37 h 80"/>
                  <a:gd name="T68" fmla="*/ 43 w 64"/>
                  <a:gd name="T69" fmla="*/ 37 h 80"/>
                  <a:gd name="T70" fmla="*/ 48 w 64"/>
                  <a:gd name="T71" fmla="*/ 32 h 80"/>
                  <a:gd name="T72" fmla="*/ 50 w 64"/>
                  <a:gd name="T73" fmla="*/ 26 h 80"/>
                  <a:gd name="T74" fmla="*/ 50 w 64"/>
                  <a:gd name="T75" fmla="*/ 26 h 80"/>
                  <a:gd name="T76" fmla="*/ 48 w 64"/>
                  <a:gd name="T77" fmla="*/ 19 h 80"/>
                  <a:gd name="T78" fmla="*/ 45 w 64"/>
                  <a:gd name="T79" fmla="*/ 16 h 80"/>
                  <a:gd name="T80" fmla="*/ 42 w 64"/>
                  <a:gd name="T81" fmla="*/ 13 h 80"/>
                  <a:gd name="T82" fmla="*/ 35 w 64"/>
                  <a:gd name="T83" fmla="*/ 13 h 80"/>
                  <a:gd name="T84" fmla="*/ 35 w 64"/>
                  <a:gd name="T85" fmla="*/ 13 h 80"/>
                  <a:gd name="T86" fmla="*/ 27 w 64"/>
                  <a:gd name="T87" fmla="*/ 13 h 80"/>
                  <a:gd name="T88" fmla="*/ 27 w 64"/>
                  <a:gd name="T89" fmla="*/ 13 h 8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4"/>
                  <a:gd name="T136" fmla="*/ 0 h 80"/>
                  <a:gd name="T137" fmla="*/ 64 w 64"/>
                  <a:gd name="T138" fmla="*/ 80 h 8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4" h="80">
                    <a:moveTo>
                      <a:pt x="19" y="51"/>
                    </a:moveTo>
                    <a:lnTo>
                      <a:pt x="14" y="80"/>
                    </a:lnTo>
                    <a:lnTo>
                      <a:pt x="0" y="80"/>
                    </a:lnTo>
                    <a:lnTo>
                      <a:pt x="14" y="2"/>
                    </a:lnTo>
                    <a:lnTo>
                      <a:pt x="32" y="0"/>
                    </a:lnTo>
                    <a:lnTo>
                      <a:pt x="46" y="2"/>
                    </a:lnTo>
                    <a:lnTo>
                      <a:pt x="51" y="3"/>
                    </a:lnTo>
                    <a:lnTo>
                      <a:pt x="56" y="6"/>
                    </a:lnTo>
                    <a:lnTo>
                      <a:pt x="59" y="10"/>
                    </a:lnTo>
                    <a:lnTo>
                      <a:pt x="61" y="13"/>
                    </a:lnTo>
                    <a:lnTo>
                      <a:pt x="62" y="18"/>
                    </a:lnTo>
                    <a:lnTo>
                      <a:pt x="64" y="24"/>
                    </a:lnTo>
                    <a:lnTo>
                      <a:pt x="62" y="30"/>
                    </a:lnTo>
                    <a:lnTo>
                      <a:pt x="61" y="35"/>
                    </a:lnTo>
                    <a:lnTo>
                      <a:pt x="58" y="40"/>
                    </a:lnTo>
                    <a:lnTo>
                      <a:pt x="54" y="45"/>
                    </a:lnTo>
                    <a:lnTo>
                      <a:pt x="48" y="48"/>
                    </a:lnTo>
                    <a:lnTo>
                      <a:pt x="43" y="49"/>
                    </a:lnTo>
                    <a:lnTo>
                      <a:pt x="37" y="51"/>
                    </a:lnTo>
                    <a:lnTo>
                      <a:pt x="29" y="53"/>
                    </a:lnTo>
                    <a:lnTo>
                      <a:pt x="19" y="51"/>
                    </a:lnTo>
                    <a:close/>
                    <a:moveTo>
                      <a:pt x="27" y="13"/>
                    </a:moveTo>
                    <a:lnTo>
                      <a:pt x="22" y="40"/>
                    </a:lnTo>
                    <a:lnTo>
                      <a:pt x="29" y="40"/>
                    </a:lnTo>
                    <a:lnTo>
                      <a:pt x="37" y="38"/>
                    </a:lnTo>
                    <a:lnTo>
                      <a:pt x="43" y="37"/>
                    </a:lnTo>
                    <a:lnTo>
                      <a:pt x="48" y="32"/>
                    </a:lnTo>
                    <a:lnTo>
                      <a:pt x="50" y="26"/>
                    </a:lnTo>
                    <a:lnTo>
                      <a:pt x="48" y="19"/>
                    </a:lnTo>
                    <a:lnTo>
                      <a:pt x="45" y="16"/>
                    </a:lnTo>
                    <a:lnTo>
                      <a:pt x="42" y="13"/>
                    </a:lnTo>
                    <a:lnTo>
                      <a:pt x="35" y="13"/>
                    </a:lnTo>
                    <a:lnTo>
                      <a:pt x="27" y="13"/>
                    </a:lnTo>
                    <a:close/>
                  </a:path>
                </a:pathLst>
              </a:custGeom>
              <a:solidFill>
                <a:srgbClr val="000000"/>
              </a:solidFill>
              <a:ln w="9525">
                <a:noFill/>
                <a:round/>
                <a:headEnd/>
                <a:tailEnd/>
              </a:ln>
            </p:spPr>
            <p:txBody>
              <a:bodyPr wrap="none" anchor="ctr"/>
              <a:lstStyle/>
              <a:p>
                <a:endParaRPr lang="en-US"/>
              </a:p>
            </p:txBody>
          </p:sp>
        </p:grpSp>
        <p:pic>
          <p:nvPicPr>
            <p:cNvPr id="15379" name="Picture 35"/>
            <p:cNvPicPr>
              <a:picLocks noChangeAspect="1" noChangeArrowheads="1"/>
            </p:cNvPicPr>
            <p:nvPr/>
          </p:nvPicPr>
          <p:blipFill>
            <a:blip r:embed="rId3"/>
            <a:srcRect/>
            <a:stretch>
              <a:fillRect/>
            </a:stretch>
          </p:blipFill>
          <p:spPr bwMode="auto">
            <a:xfrm>
              <a:off x="2761" y="249"/>
              <a:ext cx="399" cy="395"/>
            </a:xfrm>
            <a:prstGeom prst="rect">
              <a:avLst/>
            </a:prstGeom>
            <a:noFill/>
            <a:ln w="9525">
              <a:noFill/>
              <a:miter lim="800000"/>
              <a:headEnd/>
              <a:tailEnd/>
            </a:ln>
          </p:spPr>
        </p:pic>
        <p:pic>
          <p:nvPicPr>
            <p:cNvPr id="15380" name="Picture 36"/>
            <p:cNvPicPr>
              <a:picLocks noChangeAspect="1" noChangeArrowheads="1"/>
            </p:cNvPicPr>
            <p:nvPr/>
          </p:nvPicPr>
          <p:blipFill>
            <a:blip r:embed="rId4"/>
            <a:srcRect/>
            <a:stretch>
              <a:fillRect/>
            </a:stretch>
          </p:blipFill>
          <p:spPr bwMode="auto">
            <a:xfrm>
              <a:off x="2016" y="283"/>
              <a:ext cx="564" cy="329"/>
            </a:xfrm>
            <a:prstGeom prst="rect">
              <a:avLst/>
            </a:prstGeom>
            <a:noFill/>
            <a:ln w="9525">
              <a:noFill/>
              <a:miter lim="800000"/>
              <a:headEnd/>
              <a:tailEnd/>
            </a:ln>
          </p:spPr>
        </p:pic>
      </p:grpSp>
      <p:sp>
        <p:nvSpPr>
          <p:cNvPr id="15369" name="Rectangle 4"/>
          <p:cNvSpPr>
            <a:spLocks noChangeArrowheads="1"/>
          </p:cNvSpPr>
          <p:nvPr/>
        </p:nvSpPr>
        <p:spPr bwMode="auto">
          <a:xfrm>
            <a:off x="1903413" y="1989138"/>
            <a:ext cx="5686425" cy="4559300"/>
          </a:xfrm>
          <a:prstGeom prst="rect">
            <a:avLst/>
          </a:prstGeom>
          <a:solidFill>
            <a:srgbClr val="FFFFFF"/>
          </a:solid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i="0"/>
          </a:p>
        </p:txBody>
      </p:sp>
      <p:sp>
        <p:nvSpPr>
          <p:cNvPr id="15370" name="Line 11"/>
          <p:cNvSpPr>
            <a:spLocks noChangeShapeType="1"/>
          </p:cNvSpPr>
          <p:nvPr/>
        </p:nvSpPr>
        <p:spPr bwMode="auto">
          <a:xfrm>
            <a:off x="1903413" y="3581400"/>
            <a:ext cx="5686425" cy="1588"/>
          </a:xfrm>
          <a:prstGeom prst="line">
            <a:avLst/>
          </a:prstGeom>
          <a:noFill/>
          <a:ln w="28448">
            <a:solidFill>
              <a:srgbClr val="186C94"/>
            </a:solidFill>
            <a:miter lim="800000"/>
            <a:headEnd/>
            <a:tailEnd/>
          </a:ln>
        </p:spPr>
        <p:txBody>
          <a:bodyPr/>
          <a:lstStyle/>
          <a:p>
            <a:endParaRPr lang="en-US"/>
          </a:p>
        </p:txBody>
      </p:sp>
      <p:sp>
        <p:nvSpPr>
          <p:cNvPr id="15371" name="Line 12"/>
          <p:cNvSpPr>
            <a:spLocks noChangeShapeType="1"/>
          </p:cNvSpPr>
          <p:nvPr/>
        </p:nvSpPr>
        <p:spPr bwMode="auto">
          <a:xfrm>
            <a:off x="1903413" y="4819650"/>
            <a:ext cx="5686425" cy="1588"/>
          </a:xfrm>
          <a:prstGeom prst="line">
            <a:avLst/>
          </a:prstGeom>
          <a:noFill/>
          <a:ln w="28448">
            <a:solidFill>
              <a:srgbClr val="186C94"/>
            </a:solidFill>
            <a:miter lim="800000"/>
            <a:headEnd/>
            <a:tailEnd/>
          </a:ln>
        </p:spPr>
        <p:txBody>
          <a:bodyPr/>
          <a:lstStyle/>
          <a:p>
            <a:endParaRPr lang="en-US"/>
          </a:p>
        </p:txBody>
      </p:sp>
      <p:pic>
        <p:nvPicPr>
          <p:cNvPr id="15372" name="Picture 34"/>
          <p:cNvPicPr>
            <a:picLocks noChangeAspect="1" noChangeArrowheads="1"/>
          </p:cNvPicPr>
          <p:nvPr/>
        </p:nvPicPr>
        <p:blipFill>
          <a:blip r:embed="rId5"/>
          <a:srcRect/>
          <a:stretch>
            <a:fillRect/>
          </a:stretch>
        </p:blipFill>
        <p:spPr bwMode="auto">
          <a:xfrm>
            <a:off x="2179638" y="3690938"/>
            <a:ext cx="1162050" cy="1019175"/>
          </a:xfrm>
          <a:prstGeom prst="rect">
            <a:avLst/>
          </a:prstGeom>
          <a:noFill/>
          <a:ln w="9525">
            <a:noFill/>
            <a:miter lim="800000"/>
            <a:headEnd/>
            <a:tailEnd/>
          </a:ln>
        </p:spPr>
      </p:pic>
      <p:pic>
        <p:nvPicPr>
          <p:cNvPr id="15373" name="Picture 35"/>
          <p:cNvPicPr>
            <a:picLocks noChangeAspect="1" noChangeArrowheads="1"/>
          </p:cNvPicPr>
          <p:nvPr/>
        </p:nvPicPr>
        <p:blipFill>
          <a:blip r:embed="rId6"/>
          <a:srcRect/>
          <a:stretch>
            <a:fillRect/>
          </a:stretch>
        </p:blipFill>
        <p:spPr bwMode="auto">
          <a:xfrm>
            <a:off x="4940300" y="3990975"/>
            <a:ext cx="2062163" cy="422275"/>
          </a:xfrm>
          <a:prstGeom prst="rect">
            <a:avLst/>
          </a:prstGeom>
          <a:blipFill dpi="0" rotWithShape="0">
            <a:blip r:embed="rId7"/>
            <a:srcRect/>
            <a:tile tx="0" ty="0" sx="100000" sy="100000" flip="none" algn="tl"/>
          </a:blipFill>
          <a:ln w="9525">
            <a:noFill/>
            <a:miter lim="800000"/>
            <a:headEnd/>
            <a:tailEnd/>
          </a:ln>
        </p:spPr>
      </p:pic>
      <p:pic>
        <p:nvPicPr>
          <p:cNvPr id="15374" name="Picture 36"/>
          <p:cNvPicPr>
            <a:picLocks noChangeAspect="1" noChangeArrowheads="1"/>
          </p:cNvPicPr>
          <p:nvPr/>
        </p:nvPicPr>
        <p:blipFill>
          <a:blip r:embed="rId8"/>
          <a:srcRect/>
          <a:stretch>
            <a:fillRect/>
          </a:stretch>
        </p:blipFill>
        <p:spPr bwMode="auto">
          <a:xfrm>
            <a:off x="3629025" y="3690938"/>
            <a:ext cx="1022350" cy="1019175"/>
          </a:xfrm>
          <a:prstGeom prst="rect">
            <a:avLst/>
          </a:prstGeom>
          <a:noFill/>
          <a:ln w="9525">
            <a:noFill/>
            <a:miter lim="800000"/>
            <a:headEnd/>
            <a:tailEnd/>
          </a:ln>
        </p:spPr>
      </p:pic>
      <p:pic>
        <p:nvPicPr>
          <p:cNvPr id="15375" name="Picture 9"/>
          <p:cNvPicPr>
            <a:picLocks noChangeAspect="1" noChangeArrowheads="1"/>
          </p:cNvPicPr>
          <p:nvPr/>
        </p:nvPicPr>
        <p:blipFill>
          <a:blip r:embed="rId9"/>
          <a:srcRect/>
          <a:stretch>
            <a:fillRect/>
          </a:stretch>
        </p:blipFill>
        <p:spPr bwMode="auto">
          <a:xfrm>
            <a:off x="5078413" y="2060575"/>
            <a:ext cx="1439862" cy="1427163"/>
          </a:xfrm>
          <a:prstGeom prst="rect">
            <a:avLst/>
          </a:prstGeom>
          <a:noFill/>
          <a:ln w="9525">
            <a:noFill/>
            <a:miter lim="800000"/>
            <a:headEnd/>
            <a:tailEnd/>
          </a:ln>
        </p:spPr>
      </p:pic>
      <p:pic>
        <p:nvPicPr>
          <p:cNvPr id="15376" name="Picture 43"/>
          <p:cNvPicPr>
            <a:picLocks noChangeAspect="1" noChangeArrowheads="1"/>
          </p:cNvPicPr>
          <p:nvPr/>
        </p:nvPicPr>
        <p:blipFill>
          <a:blip r:embed="rId10"/>
          <a:srcRect/>
          <a:stretch>
            <a:fillRect/>
          </a:stretch>
        </p:blipFill>
        <p:spPr bwMode="auto">
          <a:xfrm>
            <a:off x="2671763" y="2159000"/>
            <a:ext cx="2070100" cy="1233488"/>
          </a:xfrm>
          <a:prstGeom prst="rect">
            <a:avLst/>
          </a:prstGeom>
          <a:noFill/>
          <a:ln w="9525">
            <a:noFill/>
            <a:miter lim="800000"/>
            <a:headEnd/>
            <a:tailEnd/>
          </a:ln>
        </p:spPr>
      </p:pic>
      <p:pic>
        <p:nvPicPr>
          <p:cNvPr id="15377" name="Picture 46" descr="gold_current_partners_oct10"/>
          <p:cNvPicPr>
            <a:picLocks noChangeAspect="1" noChangeArrowheads="1"/>
          </p:cNvPicPr>
          <p:nvPr/>
        </p:nvPicPr>
        <p:blipFill>
          <a:blip r:embed="rId11"/>
          <a:srcRect/>
          <a:stretch>
            <a:fillRect/>
          </a:stretch>
        </p:blipFill>
        <p:spPr bwMode="auto">
          <a:xfrm>
            <a:off x="2179638" y="4916488"/>
            <a:ext cx="5200650" cy="1554162"/>
          </a:xfrm>
          <a:prstGeom prst="rect">
            <a:avLst/>
          </a:prstGeom>
          <a:noFill/>
          <a:ln w="9525">
            <a:noFill/>
            <a:miter lim="800000"/>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409" name="Group 1"/>
          <p:cNvGrpSpPr>
            <a:grpSpLocks/>
          </p:cNvGrpSpPr>
          <p:nvPr/>
        </p:nvGrpSpPr>
        <p:grpSpPr bwMode="auto">
          <a:xfrm>
            <a:off x="250825" y="190500"/>
            <a:ext cx="8412163" cy="6472238"/>
            <a:chOff x="158" y="120"/>
            <a:chExt cx="5299" cy="4077"/>
          </a:xfrm>
        </p:grpSpPr>
        <p:sp>
          <p:nvSpPr>
            <p:cNvPr id="17435" name="Freeform 2"/>
            <p:cNvSpPr>
              <a:spLocks noChangeArrowheads="1"/>
            </p:cNvSpPr>
            <p:nvPr/>
          </p:nvSpPr>
          <p:spPr bwMode="auto">
            <a:xfrm>
              <a:off x="3471" y="122"/>
              <a:ext cx="1987" cy="4076"/>
            </a:xfrm>
            <a:custGeom>
              <a:avLst/>
              <a:gdLst>
                <a:gd name="T0" fmla="*/ 1983 w 1988"/>
                <a:gd name="T1" fmla="*/ 2664 h 4077"/>
                <a:gd name="T2" fmla="*/ 1982 w 1988"/>
                <a:gd name="T3" fmla="*/ 2547 h 4077"/>
                <a:gd name="T4" fmla="*/ 1973 w 1988"/>
                <a:gd name="T5" fmla="*/ 2433 h 4077"/>
                <a:gd name="T6" fmla="*/ 1961 w 1988"/>
                <a:gd name="T7" fmla="*/ 2319 h 4077"/>
                <a:gd name="T8" fmla="*/ 1943 w 1988"/>
                <a:gd name="T9" fmla="*/ 2209 h 4077"/>
                <a:gd name="T10" fmla="*/ 1923 w 1988"/>
                <a:gd name="T11" fmla="*/ 2098 h 4077"/>
                <a:gd name="T12" fmla="*/ 1898 w 1988"/>
                <a:gd name="T13" fmla="*/ 1994 h 4077"/>
                <a:gd name="T14" fmla="*/ 1869 w 1988"/>
                <a:gd name="T15" fmla="*/ 1887 h 4077"/>
                <a:gd name="T16" fmla="*/ 1835 w 1988"/>
                <a:gd name="T17" fmla="*/ 1780 h 4077"/>
                <a:gd name="T18" fmla="*/ 1797 w 1988"/>
                <a:gd name="T19" fmla="*/ 1676 h 4077"/>
                <a:gd name="T20" fmla="*/ 1754 w 1988"/>
                <a:gd name="T21" fmla="*/ 1574 h 4077"/>
                <a:gd name="T22" fmla="*/ 1709 w 1988"/>
                <a:gd name="T23" fmla="*/ 1474 h 4077"/>
                <a:gd name="T24" fmla="*/ 1659 w 1988"/>
                <a:gd name="T25" fmla="*/ 1378 h 4077"/>
                <a:gd name="T26" fmla="*/ 1605 w 1988"/>
                <a:gd name="T27" fmla="*/ 1281 h 4077"/>
                <a:gd name="T28" fmla="*/ 1548 w 1988"/>
                <a:gd name="T29" fmla="*/ 1187 h 4077"/>
                <a:gd name="T30" fmla="*/ 1486 w 1988"/>
                <a:gd name="T31" fmla="*/ 1096 h 4077"/>
                <a:gd name="T32" fmla="*/ 1423 w 1988"/>
                <a:gd name="T33" fmla="*/ 1008 h 4077"/>
                <a:gd name="T34" fmla="*/ 1284 w 1988"/>
                <a:gd name="T35" fmla="*/ 837 h 4077"/>
                <a:gd name="T36" fmla="*/ 1133 w 1988"/>
                <a:gd name="T37" fmla="*/ 679 h 4077"/>
                <a:gd name="T38" fmla="*/ 974 w 1988"/>
                <a:gd name="T39" fmla="*/ 532 h 4077"/>
                <a:gd name="T40" fmla="*/ 801 w 1988"/>
                <a:gd name="T41" fmla="*/ 396 h 4077"/>
                <a:gd name="T42" fmla="*/ 614 w 1988"/>
                <a:gd name="T43" fmla="*/ 273 h 4077"/>
                <a:gd name="T44" fmla="*/ 470 w 1988"/>
                <a:gd name="T45" fmla="*/ 191 h 4077"/>
                <a:gd name="T46" fmla="*/ 371 w 1988"/>
                <a:gd name="T47" fmla="*/ 140 h 4077"/>
                <a:gd name="T48" fmla="*/ 268 w 1988"/>
                <a:gd name="T49" fmla="*/ 95 h 4077"/>
                <a:gd name="T50" fmla="*/ 163 w 1988"/>
                <a:gd name="T51" fmla="*/ 51 h 4077"/>
                <a:gd name="T52" fmla="*/ 57 w 1988"/>
                <a:gd name="T53" fmla="*/ 10 h 4077"/>
                <a:gd name="T54" fmla="*/ 0 w 1988"/>
                <a:gd name="T55" fmla="*/ 4072 h 4077"/>
                <a:gd name="T56" fmla="*/ 1595 w 1988"/>
                <a:gd name="T57" fmla="*/ 4072 h 4077"/>
                <a:gd name="T58" fmla="*/ 1680 w 1988"/>
                <a:gd name="T59" fmla="*/ 3914 h 4077"/>
                <a:gd name="T60" fmla="*/ 1759 w 1988"/>
                <a:gd name="T61" fmla="*/ 3750 h 4077"/>
                <a:gd name="T62" fmla="*/ 1825 w 1988"/>
                <a:gd name="T63" fmla="*/ 3580 h 4077"/>
                <a:gd name="T64" fmla="*/ 1880 w 1988"/>
                <a:gd name="T65" fmla="*/ 3406 h 4077"/>
                <a:gd name="T66" fmla="*/ 1924 w 1988"/>
                <a:gd name="T67" fmla="*/ 3227 h 4077"/>
                <a:gd name="T68" fmla="*/ 1957 w 1988"/>
                <a:gd name="T69" fmla="*/ 3042 h 4077"/>
                <a:gd name="T70" fmla="*/ 1976 w 1988"/>
                <a:gd name="T71" fmla="*/ 2855 h 4077"/>
                <a:gd name="T72" fmla="*/ 1983 w 1988"/>
                <a:gd name="T73" fmla="*/ 2664 h 40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988"/>
                <a:gd name="T112" fmla="*/ 0 h 4077"/>
                <a:gd name="T113" fmla="*/ 1988 w 1988"/>
                <a:gd name="T114" fmla="*/ 4077 h 40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988" h="4077">
                  <a:moveTo>
                    <a:pt x="1988" y="2669"/>
                  </a:moveTo>
                  <a:lnTo>
                    <a:pt x="1988" y="2669"/>
                  </a:lnTo>
                  <a:lnTo>
                    <a:pt x="1988" y="2611"/>
                  </a:lnTo>
                  <a:lnTo>
                    <a:pt x="1987" y="2552"/>
                  </a:lnTo>
                  <a:lnTo>
                    <a:pt x="1982" y="2495"/>
                  </a:lnTo>
                  <a:lnTo>
                    <a:pt x="1978" y="2438"/>
                  </a:lnTo>
                  <a:lnTo>
                    <a:pt x="1972" y="2382"/>
                  </a:lnTo>
                  <a:lnTo>
                    <a:pt x="1966" y="2324"/>
                  </a:lnTo>
                  <a:lnTo>
                    <a:pt x="1957" y="2268"/>
                  </a:lnTo>
                  <a:lnTo>
                    <a:pt x="1948" y="2214"/>
                  </a:lnTo>
                  <a:lnTo>
                    <a:pt x="1940" y="2157"/>
                  </a:lnTo>
                  <a:lnTo>
                    <a:pt x="1928" y="2103"/>
                  </a:lnTo>
                  <a:lnTo>
                    <a:pt x="1918" y="2048"/>
                  </a:lnTo>
                  <a:lnTo>
                    <a:pt x="1903" y="1994"/>
                  </a:lnTo>
                  <a:lnTo>
                    <a:pt x="1890" y="1940"/>
                  </a:lnTo>
                  <a:lnTo>
                    <a:pt x="1874" y="1887"/>
                  </a:lnTo>
                  <a:lnTo>
                    <a:pt x="1858" y="1833"/>
                  </a:lnTo>
                  <a:lnTo>
                    <a:pt x="1840" y="1780"/>
                  </a:lnTo>
                  <a:lnTo>
                    <a:pt x="1821" y="1729"/>
                  </a:lnTo>
                  <a:lnTo>
                    <a:pt x="1802" y="1676"/>
                  </a:lnTo>
                  <a:lnTo>
                    <a:pt x="1781" y="1625"/>
                  </a:lnTo>
                  <a:lnTo>
                    <a:pt x="1759" y="1574"/>
                  </a:lnTo>
                  <a:lnTo>
                    <a:pt x="1737" y="1526"/>
                  </a:lnTo>
                  <a:lnTo>
                    <a:pt x="1714" y="1474"/>
                  </a:lnTo>
                  <a:lnTo>
                    <a:pt x="1689" y="1424"/>
                  </a:lnTo>
                  <a:lnTo>
                    <a:pt x="1664" y="1378"/>
                  </a:lnTo>
                  <a:lnTo>
                    <a:pt x="1638" y="1328"/>
                  </a:lnTo>
                  <a:lnTo>
                    <a:pt x="1610" y="1281"/>
                  </a:lnTo>
                  <a:lnTo>
                    <a:pt x="1582" y="1236"/>
                  </a:lnTo>
                  <a:lnTo>
                    <a:pt x="1553" y="1187"/>
                  </a:lnTo>
                  <a:lnTo>
                    <a:pt x="1524" y="1142"/>
                  </a:lnTo>
                  <a:lnTo>
                    <a:pt x="1491" y="1096"/>
                  </a:lnTo>
                  <a:lnTo>
                    <a:pt x="1461" y="1052"/>
                  </a:lnTo>
                  <a:lnTo>
                    <a:pt x="1428" y="1008"/>
                  </a:lnTo>
                  <a:lnTo>
                    <a:pt x="1360" y="922"/>
                  </a:lnTo>
                  <a:lnTo>
                    <a:pt x="1289" y="837"/>
                  </a:lnTo>
                  <a:lnTo>
                    <a:pt x="1216" y="757"/>
                  </a:lnTo>
                  <a:lnTo>
                    <a:pt x="1138" y="679"/>
                  </a:lnTo>
                  <a:lnTo>
                    <a:pt x="1058" y="604"/>
                  </a:lnTo>
                  <a:lnTo>
                    <a:pt x="974" y="532"/>
                  </a:lnTo>
                  <a:lnTo>
                    <a:pt x="889" y="464"/>
                  </a:lnTo>
                  <a:lnTo>
                    <a:pt x="801" y="396"/>
                  </a:lnTo>
                  <a:lnTo>
                    <a:pt x="709" y="333"/>
                  </a:lnTo>
                  <a:lnTo>
                    <a:pt x="614" y="273"/>
                  </a:lnTo>
                  <a:lnTo>
                    <a:pt x="517" y="219"/>
                  </a:lnTo>
                  <a:lnTo>
                    <a:pt x="470" y="191"/>
                  </a:lnTo>
                  <a:lnTo>
                    <a:pt x="419" y="166"/>
                  </a:lnTo>
                  <a:lnTo>
                    <a:pt x="371" y="140"/>
                  </a:lnTo>
                  <a:lnTo>
                    <a:pt x="319" y="118"/>
                  </a:lnTo>
                  <a:lnTo>
                    <a:pt x="268" y="95"/>
                  </a:lnTo>
                  <a:lnTo>
                    <a:pt x="215" y="71"/>
                  </a:lnTo>
                  <a:lnTo>
                    <a:pt x="163" y="51"/>
                  </a:lnTo>
                  <a:lnTo>
                    <a:pt x="110" y="30"/>
                  </a:lnTo>
                  <a:lnTo>
                    <a:pt x="57" y="10"/>
                  </a:lnTo>
                  <a:lnTo>
                    <a:pt x="1" y="0"/>
                  </a:lnTo>
                  <a:lnTo>
                    <a:pt x="0" y="4077"/>
                  </a:lnTo>
                  <a:lnTo>
                    <a:pt x="1600" y="4077"/>
                  </a:lnTo>
                  <a:lnTo>
                    <a:pt x="1644" y="3999"/>
                  </a:lnTo>
                  <a:lnTo>
                    <a:pt x="1685" y="3919"/>
                  </a:lnTo>
                  <a:lnTo>
                    <a:pt x="1726" y="3837"/>
                  </a:lnTo>
                  <a:lnTo>
                    <a:pt x="1764" y="3755"/>
                  </a:lnTo>
                  <a:lnTo>
                    <a:pt x="1798" y="3670"/>
                  </a:lnTo>
                  <a:lnTo>
                    <a:pt x="1830" y="3585"/>
                  </a:lnTo>
                  <a:lnTo>
                    <a:pt x="1859" y="3498"/>
                  </a:lnTo>
                  <a:lnTo>
                    <a:pt x="1885" y="3411"/>
                  </a:lnTo>
                  <a:lnTo>
                    <a:pt x="1909" y="3321"/>
                  </a:lnTo>
                  <a:lnTo>
                    <a:pt x="1929" y="3232"/>
                  </a:lnTo>
                  <a:lnTo>
                    <a:pt x="1947" y="3140"/>
                  </a:lnTo>
                  <a:lnTo>
                    <a:pt x="1962" y="3047"/>
                  </a:lnTo>
                  <a:lnTo>
                    <a:pt x="1973" y="2954"/>
                  </a:lnTo>
                  <a:lnTo>
                    <a:pt x="1981" y="2860"/>
                  </a:lnTo>
                  <a:lnTo>
                    <a:pt x="1987" y="2763"/>
                  </a:lnTo>
                  <a:lnTo>
                    <a:pt x="1988" y="2669"/>
                  </a:lnTo>
                  <a:close/>
                </a:path>
              </a:pathLst>
            </a:custGeom>
            <a:solidFill>
              <a:srgbClr val="186C94"/>
            </a:solidFill>
            <a:ln w="9525">
              <a:noFill/>
              <a:round/>
              <a:headEnd/>
              <a:tailEnd/>
            </a:ln>
          </p:spPr>
          <p:txBody>
            <a:bodyPr wrap="none" anchor="ctr"/>
            <a:lstStyle/>
            <a:p>
              <a:endParaRPr lang="en-US"/>
            </a:p>
          </p:txBody>
        </p:sp>
        <p:sp>
          <p:nvSpPr>
            <p:cNvPr id="17436" name="Rectangle 3"/>
            <p:cNvSpPr>
              <a:spLocks noChangeArrowheads="1"/>
            </p:cNvSpPr>
            <p:nvPr/>
          </p:nvSpPr>
          <p:spPr bwMode="auto">
            <a:xfrm>
              <a:off x="158" y="120"/>
              <a:ext cx="3319" cy="4078"/>
            </a:xfrm>
            <a:prstGeom prst="rect">
              <a:avLst/>
            </a:prstGeom>
            <a:solidFill>
              <a:srgbClr val="186C94"/>
            </a:solid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i="0"/>
            </a:p>
          </p:txBody>
        </p:sp>
      </p:grpSp>
      <p:sp>
        <p:nvSpPr>
          <p:cNvPr id="17410" name="Text Box 4"/>
          <p:cNvSpPr txBox="1">
            <a:spLocks noChangeArrowheads="1"/>
          </p:cNvSpPr>
          <p:nvPr/>
        </p:nvSpPr>
        <p:spPr bwMode="auto">
          <a:xfrm>
            <a:off x="693738" y="1168400"/>
            <a:ext cx="5513387" cy="566738"/>
          </a:xfrm>
          <a:prstGeom prst="rect">
            <a:avLst/>
          </a:prstGeom>
          <a:noFill/>
          <a:ln w="9525">
            <a:noFill/>
            <a:miter lim="800000"/>
            <a:headEnd/>
            <a:tailEnd/>
          </a:ln>
        </p:spPr>
        <p:txBody>
          <a:bodyPr wrap="none" lIns="0" tIns="0" rIns="0" bIns="0">
            <a:spAutoFit/>
          </a:bodyPr>
          <a:lstStyle/>
          <a:p>
            <a:pPr algn="ctr">
              <a:lnSpc>
                <a:spcPct val="93000"/>
              </a:lnSpc>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z="2000" b="1" i="0">
                <a:solidFill>
                  <a:srgbClr val="FFFFFF"/>
                </a:solidFill>
              </a:rPr>
              <a:t>Teacher Earth Science Education Programme</a:t>
            </a:r>
          </a:p>
          <a:p>
            <a:pPr algn="ctr">
              <a:lnSpc>
                <a:spcPct val="93000"/>
              </a:lnSpc>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z="2000" b="1" i="0">
                <a:solidFill>
                  <a:srgbClr val="FFFFFF"/>
                </a:solidFill>
              </a:rPr>
              <a:t>PARTNERS</a:t>
            </a:r>
          </a:p>
        </p:txBody>
      </p:sp>
      <p:sp>
        <p:nvSpPr>
          <p:cNvPr id="17411" name="Text Box 6"/>
          <p:cNvSpPr txBox="1">
            <a:spLocks noChangeArrowheads="1"/>
          </p:cNvSpPr>
          <p:nvPr/>
        </p:nvSpPr>
        <p:spPr bwMode="auto">
          <a:xfrm>
            <a:off x="693738" y="1168400"/>
            <a:ext cx="5513387" cy="566738"/>
          </a:xfrm>
          <a:prstGeom prst="rect">
            <a:avLst/>
          </a:prstGeom>
          <a:noFill/>
          <a:ln w="9525">
            <a:noFill/>
            <a:miter lim="800000"/>
            <a:headEnd/>
            <a:tailEnd/>
          </a:ln>
        </p:spPr>
        <p:txBody>
          <a:bodyPr wrap="none" lIns="0" tIns="0" rIns="0" bIns="0">
            <a:spAutoFit/>
          </a:bodyPr>
          <a:lstStyle/>
          <a:p>
            <a:pPr algn="ctr">
              <a:lnSpc>
                <a:spcPct val="93000"/>
              </a:lnSpc>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z="2000" b="1" i="0">
                <a:solidFill>
                  <a:srgbClr val="FFFFFF"/>
                </a:solidFill>
              </a:rPr>
              <a:t>Teacher Earth Science Education Programme</a:t>
            </a:r>
          </a:p>
          <a:p>
            <a:pPr algn="ctr">
              <a:lnSpc>
                <a:spcPct val="93000"/>
              </a:lnSpc>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z="2000" b="1" i="0">
                <a:solidFill>
                  <a:srgbClr val="FFFFFF"/>
                </a:solidFill>
              </a:rPr>
              <a:t>PARTNERS</a:t>
            </a:r>
          </a:p>
        </p:txBody>
      </p:sp>
      <p:sp>
        <p:nvSpPr>
          <p:cNvPr id="17412" name="Text Box 7"/>
          <p:cNvSpPr txBox="1">
            <a:spLocks noChangeArrowheads="1"/>
          </p:cNvSpPr>
          <p:nvPr/>
        </p:nvSpPr>
        <p:spPr bwMode="auto">
          <a:xfrm>
            <a:off x="4356100" y="1924050"/>
            <a:ext cx="4176713" cy="4610100"/>
          </a:xfrm>
          <a:prstGeom prst="rect">
            <a:avLst/>
          </a:prstGeom>
          <a:noFill/>
          <a:ln w="9525">
            <a:noFill/>
            <a:miter lim="800000"/>
            <a:headEnd/>
            <a:tailEnd/>
          </a:ln>
        </p:spPr>
        <p:txBody>
          <a:bodyPr lIns="0" tIns="0" rIns="0" bIns="0"/>
          <a:lstStyle/>
          <a:p>
            <a:pPr marL="361950" indent="-180975">
              <a:spcBef>
                <a:spcPts val="200"/>
              </a:spcBef>
              <a:buClr>
                <a:srgbClr val="000000"/>
              </a:buClr>
              <a:buSzPct val="100000"/>
              <a:buFont typeface="Times New Roman" pitchFamily="18" charset="0"/>
              <a:buNone/>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2000" b="1" i="0">
                <a:solidFill>
                  <a:srgbClr val="FFFFFF"/>
                </a:solidFill>
              </a:rPr>
              <a:t>BRONZE</a:t>
            </a:r>
          </a:p>
          <a:p>
            <a:pPr marL="361950" indent="-180975" hangingPunct="0">
              <a:spcBef>
                <a:spcPts val="200"/>
              </a:spcBef>
              <a:buClr>
                <a:srgbClr val="FFFFFF"/>
              </a:buClr>
              <a:buSzPct val="50000"/>
              <a:buFont typeface="Wingdings" pitchFamily="2" charset="2"/>
              <a:buChar char=""/>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rgbClr val="FFFFFF"/>
                </a:solidFill>
              </a:rPr>
              <a:t>Anglo Coal</a:t>
            </a:r>
          </a:p>
          <a:p>
            <a:pPr marL="361950" indent="-180975" hangingPunct="0">
              <a:spcBef>
                <a:spcPts val="200"/>
              </a:spcBef>
              <a:buClr>
                <a:srgbClr val="FFFFFF"/>
              </a:buClr>
              <a:buSzPct val="50000"/>
              <a:buFont typeface="Wingdings" pitchFamily="2" charset="2"/>
              <a:buChar char=""/>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rgbClr val="FFFFFF"/>
                </a:solidFill>
              </a:rPr>
              <a:t>Australian Nuclear Science and Technology Organisation</a:t>
            </a:r>
          </a:p>
          <a:p>
            <a:pPr marL="361950" indent="-180975" hangingPunct="0">
              <a:spcBef>
                <a:spcPts val="200"/>
              </a:spcBef>
              <a:buClr>
                <a:srgbClr val="FFFFFF"/>
              </a:buClr>
              <a:buSzPct val="50000"/>
              <a:buFont typeface="Wingdings" pitchFamily="2" charset="2"/>
              <a:buChar char=""/>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rgbClr val="FFFFFF"/>
                </a:solidFill>
              </a:rPr>
              <a:t>CS Energy</a:t>
            </a:r>
          </a:p>
          <a:p>
            <a:pPr marL="361950" indent="-180975" hangingPunct="0">
              <a:spcBef>
                <a:spcPts val="200"/>
              </a:spcBef>
              <a:buClr>
                <a:srgbClr val="FFFFFF"/>
              </a:buClr>
              <a:buSzPct val="50000"/>
              <a:buFont typeface="Wingdings" pitchFamily="2" charset="2"/>
              <a:buChar char=""/>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US" sz="1200" b="1" i="0">
                <a:solidFill>
                  <a:srgbClr val="FFFFFF"/>
                </a:solidFill>
              </a:rPr>
              <a:t>Department of Sustainability and Environment</a:t>
            </a:r>
            <a:r>
              <a:rPr lang="en-GB" sz="1200" b="1" i="0">
                <a:solidFill>
                  <a:srgbClr val="FFFFFF"/>
                </a:solidFill>
              </a:rPr>
              <a:t>, Vic</a:t>
            </a:r>
          </a:p>
          <a:p>
            <a:pPr marL="361950" indent="-180975" hangingPunct="0">
              <a:spcBef>
                <a:spcPts val="200"/>
              </a:spcBef>
              <a:buClr>
                <a:srgbClr val="FFFFFF"/>
              </a:buClr>
              <a:buSzPct val="50000"/>
              <a:buFont typeface="Wingdings" pitchFamily="2" charset="2"/>
              <a:buChar char=""/>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rgbClr val="FFFFFF"/>
                </a:solidFill>
              </a:rPr>
              <a:t>Essential Petroleum</a:t>
            </a:r>
          </a:p>
          <a:p>
            <a:pPr marL="361950" indent="-180975" hangingPunct="0">
              <a:spcBef>
                <a:spcPts val="200"/>
              </a:spcBef>
              <a:buClr>
                <a:srgbClr val="FFFFFF"/>
              </a:buClr>
              <a:buSzPct val="50000"/>
              <a:buFont typeface="Wingdings" pitchFamily="2" charset="2"/>
              <a:buChar char=""/>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rgbClr val="FFFFFF"/>
                </a:solidFill>
              </a:rPr>
              <a:t>Flinders University</a:t>
            </a:r>
          </a:p>
          <a:p>
            <a:pPr marL="361950" indent="-180975" hangingPunct="0">
              <a:spcBef>
                <a:spcPts val="200"/>
              </a:spcBef>
              <a:buClr>
                <a:srgbClr val="FFFFFF"/>
              </a:buClr>
              <a:buSzPct val="50000"/>
              <a:buFont typeface="Wingdings" pitchFamily="2" charset="2"/>
              <a:buChar char=""/>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rgbClr val="FFFFFF"/>
                </a:solidFill>
              </a:rPr>
              <a:t>Gordon Wakelin King</a:t>
            </a:r>
          </a:p>
          <a:p>
            <a:pPr marL="361950" indent="-180975" hangingPunct="0">
              <a:spcBef>
                <a:spcPts val="200"/>
              </a:spcBef>
              <a:buClr>
                <a:srgbClr val="FFFFFF"/>
              </a:buClr>
              <a:buSzPct val="50000"/>
              <a:buFont typeface="Wingdings" pitchFamily="2" charset="2"/>
              <a:buChar char=""/>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rgbClr val="FFFFFF"/>
                </a:solidFill>
              </a:rPr>
              <a:t>Great Artesian Basin Coordinating Committee</a:t>
            </a:r>
          </a:p>
          <a:p>
            <a:pPr marL="361950" indent="-180975" hangingPunct="0">
              <a:spcBef>
                <a:spcPts val="200"/>
              </a:spcBef>
              <a:buClr>
                <a:srgbClr val="FFFFFF"/>
              </a:buClr>
              <a:buSzPct val="50000"/>
              <a:buFont typeface="Wingdings" pitchFamily="2" charset="2"/>
              <a:buChar char=""/>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rgbClr val="FFFFFF"/>
                </a:solidFill>
              </a:rPr>
              <a:t>Hot Dry Rocks</a:t>
            </a:r>
          </a:p>
          <a:p>
            <a:pPr marL="361950" indent="-180975" hangingPunct="0">
              <a:spcBef>
                <a:spcPts val="200"/>
              </a:spcBef>
              <a:buClr>
                <a:srgbClr val="FFFFFF"/>
              </a:buClr>
              <a:buSzPct val="50000"/>
              <a:buFont typeface="Wingdings" pitchFamily="2" charset="2"/>
              <a:buChar char=""/>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rgbClr val="FFFFFF"/>
                </a:solidFill>
              </a:rPr>
              <a:t>Macquarie University</a:t>
            </a:r>
          </a:p>
          <a:p>
            <a:pPr marL="361950" indent="-180975" hangingPunct="0">
              <a:spcBef>
                <a:spcPts val="200"/>
              </a:spcBef>
              <a:buClr>
                <a:srgbClr val="FFFFFF"/>
              </a:buClr>
              <a:buSzPct val="50000"/>
              <a:buFont typeface="Wingdings" pitchFamily="2" charset="2"/>
              <a:buChar char=""/>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rgbClr val="FFFFFF"/>
                </a:solidFill>
              </a:rPr>
              <a:t>Sandy Menpes</a:t>
            </a:r>
          </a:p>
          <a:p>
            <a:pPr marL="361950" indent="-180975" hangingPunct="0">
              <a:spcBef>
                <a:spcPts val="200"/>
              </a:spcBef>
              <a:buClr>
                <a:srgbClr val="FFFFFF"/>
              </a:buClr>
              <a:buSzPct val="50000"/>
              <a:buFont typeface="Wingdings" pitchFamily="2" charset="2"/>
              <a:buChar char=""/>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rgbClr val="FFFFFF"/>
                </a:solidFill>
              </a:rPr>
              <a:t>Monash Energy</a:t>
            </a:r>
          </a:p>
          <a:p>
            <a:pPr marL="361950" indent="-180975" hangingPunct="0">
              <a:spcBef>
                <a:spcPts val="200"/>
              </a:spcBef>
              <a:buClr>
                <a:srgbClr val="FFFFFF"/>
              </a:buClr>
              <a:buSzPct val="50000"/>
              <a:buFont typeface="Wingdings" pitchFamily="2" charset="2"/>
              <a:buChar char=""/>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rgbClr val="FFFFFF"/>
                </a:solidFill>
              </a:rPr>
              <a:t>Museum Victoria</a:t>
            </a:r>
          </a:p>
          <a:p>
            <a:pPr marL="361950" indent="-180975" hangingPunct="0">
              <a:spcBef>
                <a:spcPts val="200"/>
              </a:spcBef>
              <a:buClr>
                <a:srgbClr val="FFFFFF"/>
              </a:buClr>
              <a:buSzPct val="50000"/>
              <a:buFont typeface="Wingdings" pitchFamily="2" charset="2"/>
              <a:buChar char=""/>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rgbClr val="FFFFFF"/>
                </a:solidFill>
              </a:rPr>
              <a:t>Our Water Our Future, Vic</a:t>
            </a:r>
          </a:p>
          <a:p>
            <a:pPr marL="361950" indent="-180975" hangingPunct="0">
              <a:spcBef>
                <a:spcPts val="200"/>
              </a:spcBef>
              <a:buClr>
                <a:srgbClr val="FFFFFF"/>
              </a:buClr>
              <a:buSzPct val="50000"/>
              <a:buFont typeface="Wingdings" pitchFamily="2" charset="2"/>
              <a:buChar char=""/>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rgbClr val="FFFFFF"/>
                </a:solidFill>
              </a:rPr>
              <a:t>Petroleum Geo-Services</a:t>
            </a:r>
          </a:p>
          <a:p>
            <a:pPr marL="361950" indent="-180975" hangingPunct="0">
              <a:spcBef>
                <a:spcPts val="200"/>
              </a:spcBef>
              <a:buClr>
                <a:srgbClr val="FFFFFF"/>
              </a:buClr>
              <a:buSzPct val="50000"/>
              <a:buFont typeface="Wingdings" pitchFamily="2" charset="2"/>
              <a:buChar char=""/>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rgbClr val="FFFFFF"/>
                </a:solidFill>
              </a:rPr>
              <a:t>Primary Industries and Resources SA</a:t>
            </a:r>
          </a:p>
          <a:p>
            <a:pPr marL="361950" indent="-180975" hangingPunct="0">
              <a:spcBef>
                <a:spcPts val="200"/>
              </a:spcBef>
              <a:buClr>
                <a:srgbClr val="FFFFFF"/>
              </a:buClr>
              <a:buSzPct val="50000"/>
              <a:buFont typeface="Wingdings" pitchFamily="2" charset="2"/>
              <a:buChar char=""/>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rgbClr val="FFFFFF"/>
                </a:solidFill>
              </a:rPr>
              <a:t>Stanwell Corporation</a:t>
            </a:r>
          </a:p>
          <a:p>
            <a:pPr marL="361950" indent="-180975" hangingPunct="0">
              <a:spcBef>
                <a:spcPts val="200"/>
              </a:spcBef>
              <a:buClr>
                <a:srgbClr val="FFFFFF"/>
              </a:buClr>
              <a:buSzPct val="50000"/>
              <a:buFont typeface="Wingdings" pitchFamily="2" charset="2"/>
              <a:buChar char=""/>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rgbClr val="FFFFFF"/>
                </a:solidFill>
              </a:rPr>
              <a:t>Velseis</a:t>
            </a:r>
          </a:p>
          <a:p>
            <a:pPr marL="361950" indent="-180975" hangingPunct="0">
              <a:spcBef>
                <a:spcPts val="200"/>
              </a:spcBef>
              <a:buClr>
                <a:srgbClr val="FFFFFF"/>
              </a:buClr>
              <a:buSzPct val="50000"/>
              <a:buFont typeface="Wingdings" pitchFamily="2" charset="2"/>
              <a:buChar char=""/>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rgbClr val="FFFFFF"/>
                </a:solidFill>
              </a:rPr>
              <a:t>ZeroGen</a:t>
            </a:r>
          </a:p>
        </p:txBody>
      </p:sp>
      <p:grpSp>
        <p:nvGrpSpPr>
          <p:cNvPr id="17413" name="Group 8"/>
          <p:cNvGrpSpPr>
            <a:grpSpLocks/>
          </p:cNvGrpSpPr>
          <p:nvPr/>
        </p:nvGrpSpPr>
        <p:grpSpPr bwMode="auto">
          <a:xfrm>
            <a:off x="1971675" y="363538"/>
            <a:ext cx="3043238" cy="657225"/>
            <a:chOff x="1242" y="229"/>
            <a:chExt cx="1917" cy="414"/>
          </a:xfrm>
        </p:grpSpPr>
        <p:grpSp>
          <p:nvGrpSpPr>
            <p:cNvPr id="17415" name="Group 9"/>
            <p:cNvGrpSpPr>
              <a:grpSpLocks/>
            </p:cNvGrpSpPr>
            <p:nvPr/>
          </p:nvGrpSpPr>
          <p:grpSpPr bwMode="auto">
            <a:xfrm>
              <a:off x="1242" y="229"/>
              <a:ext cx="593" cy="385"/>
              <a:chOff x="1242" y="229"/>
              <a:chExt cx="593" cy="385"/>
            </a:xfrm>
          </p:grpSpPr>
          <p:sp>
            <p:nvSpPr>
              <p:cNvPr id="17418" name="Freeform 10"/>
              <p:cNvSpPr>
                <a:spLocks noChangeArrowheads="1"/>
              </p:cNvSpPr>
              <p:nvPr/>
            </p:nvSpPr>
            <p:spPr bwMode="auto">
              <a:xfrm>
                <a:off x="1368" y="280"/>
                <a:ext cx="364" cy="330"/>
              </a:xfrm>
              <a:custGeom>
                <a:avLst/>
                <a:gdLst>
                  <a:gd name="T0" fmla="*/ 360 w 365"/>
                  <a:gd name="T1" fmla="*/ 169 h 331"/>
                  <a:gd name="T2" fmla="*/ 5 w 365"/>
                  <a:gd name="T3" fmla="*/ 174 h 331"/>
                  <a:gd name="T4" fmla="*/ 32 w 365"/>
                  <a:gd name="T5" fmla="*/ 216 h 331"/>
                  <a:gd name="T6" fmla="*/ 40 w 365"/>
                  <a:gd name="T7" fmla="*/ 251 h 331"/>
                  <a:gd name="T8" fmla="*/ 68 w 365"/>
                  <a:gd name="T9" fmla="*/ 253 h 331"/>
                  <a:gd name="T10" fmla="*/ 96 w 365"/>
                  <a:gd name="T11" fmla="*/ 237 h 331"/>
                  <a:gd name="T12" fmla="*/ 123 w 365"/>
                  <a:gd name="T13" fmla="*/ 217 h 331"/>
                  <a:gd name="T14" fmla="*/ 179 w 365"/>
                  <a:gd name="T15" fmla="*/ 209 h 331"/>
                  <a:gd name="T16" fmla="*/ 194 w 365"/>
                  <a:gd name="T17" fmla="*/ 219 h 331"/>
                  <a:gd name="T18" fmla="*/ 205 w 365"/>
                  <a:gd name="T19" fmla="*/ 237 h 331"/>
                  <a:gd name="T20" fmla="*/ 219 w 365"/>
                  <a:gd name="T21" fmla="*/ 217 h 331"/>
                  <a:gd name="T22" fmla="*/ 216 w 365"/>
                  <a:gd name="T23" fmla="*/ 237 h 331"/>
                  <a:gd name="T24" fmla="*/ 226 w 365"/>
                  <a:gd name="T25" fmla="*/ 240 h 331"/>
                  <a:gd name="T26" fmla="*/ 240 w 365"/>
                  <a:gd name="T27" fmla="*/ 264 h 331"/>
                  <a:gd name="T28" fmla="*/ 272 w 365"/>
                  <a:gd name="T29" fmla="*/ 272 h 331"/>
                  <a:gd name="T30" fmla="*/ 281 w 365"/>
                  <a:gd name="T31" fmla="*/ 275 h 331"/>
                  <a:gd name="T32" fmla="*/ 291 w 365"/>
                  <a:gd name="T33" fmla="*/ 276 h 331"/>
                  <a:gd name="T34" fmla="*/ 317 w 365"/>
                  <a:gd name="T35" fmla="*/ 262 h 331"/>
                  <a:gd name="T36" fmla="*/ 331 w 365"/>
                  <a:gd name="T37" fmla="*/ 235 h 331"/>
                  <a:gd name="T38" fmla="*/ 344 w 365"/>
                  <a:gd name="T39" fmla="*/ 219 h 331"/>
                  <a:gd name="T40" fmla="*/ 358 w 365"/>
                  <a:gd name="T41" fmla="*/ 181 h 331"/>
                  <a:gd name="T42" fmla="*/ 357 w 365"/>
                  <a:gd name="T43" fmla="*/ 155 h 331"/>
                  <a:gd name="T44" fmla="*/ 339 w 365"/>
                  <a:gd name="T45" fmla="*/ 130 h 331"/>
                  <a:gd name="T46" fmla="*/ 328 w 365"/>
                  <a:gd name="T47" fmla="*/ 119 h 331"/>
                  <a:gd name="T48" fmla="*/ 320 w 365"/>
                  <a:gd name="T49" fmla="*/ 96 h 331"/>
                  <a:gd name="T50" fmla="*/ 299 w 365"/>
                  <a:gd name="T51" fmla="*/ 82 h 331"/>
                  <a:gd name="T52" fmla="*/ 291 w 365"/>
                  <a:gd name="T53" fmla="*/ 53 h 331"/>
                  <a:gd name="T54" fmla="*/ 273 w 365"/>
                  <a:gd name="T55" fmla="*/ 32 h 331"/>
                  <a:gd name="T56" fmla="*/ 266 w 365"/>
                  <a:gd name="T57" fmla="*/ 0 h 331"/>
                  <a:gd name="T58" fmla="*/ 254 w 365"/>
                  <a:gd name="T59" fmla="*/ 23 h 331"/>
                  <a:gd name="T60" fmla="*/ 237 w 365"/>
                  <a:gd name="T61" fmla="*/ 69 h 331"/>
                  <a:gd name="T62" fmla="*/ 205 w 365"/>
                  <a:gd name="T63" fmla="*/ 51 h 331"/>
                  <a:gd name="T64" fmla="*/ 200 w 365"/>
                  <a:gd name="T65" fmla="*/ 26 h 331"/>
                  <a:gd name="T66" fmla="*/ 206 w 365"/>
                  <a:gd name="T67" fmla="*/ 16 h 331"/>
                  <a:gd name="T68" fmla="*/ 198 w 365"/>
                  <a:gd name="T69" fmla="*/ 15 h 331"/>
                  <a:gd name="T70" fmla="*/ 182 w 365"/>
                  <a:gd name="T71" fmla="*/ 13 h 331"/>
                  <a:gd name="T72" fmla="*/ 167 w 365"/>
                  <a:gd name="T73" fmla="*/ 8 h 331"/>
                  <a:gd name="T74" fmla="*/ 157 w 365"/>
                  <a:gd name="T75" fmla="*/ 23 h 331"/>
                  <a:gd name="T76" fmla="*/ 146 w 365"/>
                  <a:gd name="T77" fmla="*/ 34 h 331"/>
                  <a:gd name="T78" fmla="*/ 131 w 365"/>
                  <a:gd name="T79" fmla="*/ 47 h 331"/>
                  <a:gd name="T80" fmla="*/ 115 w 365"/>
                  <a:gd name="T81" fmla="*/ 39 h 331"/>
                  <a:gd name="T82" fmla="*/ 104 w 365"/>
                  <a:gd name="T83" fmla="*/ 45 h 331"/>
                  <a:gd name="T84" fmla="*/ 95 w 365"/>
                  <a:gd name="T85" fmla="*/ 63 h 331"/>
                  <a:gd name="T86" fmla="*/ 87 w 365"/>
                  <a:gd name="T87" fmla="*/ 74 h 331"/>
                  <a:gd name="T88" fmla="*/ 77 w 365"/>
                  <a:gd name="T89" fmla="*/ 82 h 331"/>
                  <a:gd name="T90" fmla="*/ 53 w 365"/>
                  <a:gd name="T91" fmla="*/ 106 h 331"/>
                  <a:gd name="T92" fmla="*/ 24 w 365"/>
                  <a:gd name="T93" fmla="*/ 117 h 331"/>
                  <a:gd name="T94" fmla="*/ 4 w 365"/>
                  <a:gd name="T95" fmla="*/ 138 h 331"/>
                  <a:gd name="T96" fmla="*/ 2 w 365"/>
                  <a:gd name="T97" fmla="*/ 160 h 331"/>
                  <a:gd name="T98" fmla="*/ 299 w 365"/>
                  <a:gd name="T99" fmla="*/ 305 h 331"/>
                  <a:gd name="T100" fmla="*/ 277 w 365"/>
                  <a:gd name="T101" fmla="*/ 297 h 331"/>
                  <a:gd name="T102" fmla="*/ 281 w 365"/>
                  <a:gd name="T103" fmla="*/ 323 h 331"/>
                  <a:gd name="T104" fmla="*/ 293 w 365"/>
                  <a:gd name="T105" fmla="*/ 320 h 331"/>
                  <a:gd name="T106" fmla="*/ 205 w 365"/>
                  <a:gd name="T107" fmla="*/ 8 h 331"/>
                  <a:gd name="T108" fmla="*/ 155 w 365"/>
                  <a:gd name="T109" fmla="*/ 15 h 331"/>
                  <a:gd name="T110" fmla="*/ 149 w 365"/>
                  <a:gd name="T111" fmla="*/ 12 h 331"/>
                  <a:gd name="T112" fmla="*/ 205 w 365"/>
                  <a:gd name="T113" fmla="*/ 32 h 331"/>
                  <a:gd name="T114" fmla="*/ 234 w 365"/>
                  <a:gd name="T115" fmla="*/ 61 h 331"/>
                  <a:gd name="T116" fmla="*/ 219 w 365"/>
                  <a:gd name="T117" fmla="*/ 243 h 331"/>
                  <a:gd name="T118" fmla="*/ 299 w 365"/>
                  <a:gd name="T119" fmla="*/ 294 h 33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65"/>
                  <a:gd name="T181" fmla="*/ 0 h 331"/>
                  <a:gd name="T182" fmla="*/ 365 w 365"/>
                  <a:gd name="T183" fmla="*/ 331 h 331"/>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65" h="331">
                    <a:moveTo>
                      <a:pt x="363" y="157"/>
                    </a:moveTo>
                    <a:lnTo>
                      <a:pt x="362" y="155"/>
                    </a:lnTo>
                    <a:lnTo>
                      <a:pt x="362" y="154"/>
                    </a:lnTo>
                    <a:lnTo>
                      <a:pt x="363" y="150"/>
                    </a:lnTo>
                    <a:lnTo>
                      <a:pt x="365" y="149"/>
                    </a:lnTo>
                    <a:lnTo>
                      <a:pt x="363" y="147"/>
                    </a:lnTo>
                    <a:lnTo>
                      <a:pt x="365" y="147"/>
                    </a:lnTo>
                    <a:lnTo>
                      <a:pt x="365" y="149"/>
                    </a:lnTo>
                    <a:lnTo>
                      <a:pt x="365" y="152"/>
                    </a:lnTo>
                    <a:lnTo>
                      <a:pt x="363" y="155"/>
                    </a:lnTo>
                    <a:lnTo>
                      <a:pt x="363" y="157"/>
                    </a:lnTo>
                    <a:close/>
                    <a:moveTo>
                      <a:pt x="365" y="176"/>
                    </a:moveTo>
                    <a:lnTo>
                      <a:pt x="365" y="176"/>
                    </a:lnTo>
                    <a:lnTo>
                      <a:pt x="365" y="174"/>
                    </a:lnTo>
                    <a:lnTo>
                      <a:pt x="363" y="174"/>
                    </a:lnTo>
                    <a:lnTo>
                      <a:pt x="365" y="176"/>
                    </a:lnTo>
                    <a:close/>
                    <a:moveTo>
                      <a:pt x="8" y="178"/>
                    </a:moveTo>
                    <a:lnTo>
                      <a:pt x="10" y="179"/>
                    </a:lnTo>
                    <a:lnTo>
                      <a:pt x="10" y="181"/>
                    </a:lnTo>
                    <a:lnTo>
                      <a:pt x="10" y="182"/>
                    </a:lnTo>
                    <a:lnTo>
                      <a:pt x="8" y="182"/>
                    </a:lnTo>
                    <a:lnTo>
                      <a:pt x="8" y="181"/>
                    </a:lnTo>
                    <a:lnTo>
                      <a:pt x="7" y="181"/>
                    </a:lnTo>
                    <a:lnTo>
                      <a:pt x="7" y="179"/>
                    </a:lnTo>
                    <a:lnTo>
                      <a:pt x="5" y="179"/>
                    </a:lnTo>
                    <a:lnTo>
                      <a:pt x="4" y="178"/>
                    </a:lnTo>
                    <a:lnTo>
                      <a:pt x="5" y="179"/>
                    </a:lnTo>
                    <a:lnTo>
                      <a:pt x="5" y="181"/>
                    </a:lnTo>
                    <a:lnTo>
                      <a:pt x="7" y="181"/>
                    </a:lnTo>
                    <a:lnTo>
                      <a:pt x="7" y="182"/>
                    </a:lnTo>
                    <a:lnTo>
                      <a:pt x="8" y="184"/>
                    </a:lnTo>
                    <a:lnTo>
                      <a:pt x="10" y="186"/>
                    </a:lnTo>
                    <a:lnTo>
                      <a:pt x="13" y="186"/>
                    </a:lnTo>
                    <a:lnTo>
                      <a:pt x="15" y="189"/>
                    </a:lnTo>
                    <a:lnTo>
                      <a:pt x="16" y="192"/>
                    </a:lnTo>
                    <a:lnTo>
                      <a:pt x="16" y="195"/>
                    </a:lnTo>
                    <a:lnTo>
                      <a:pt x="20" y="198"/>
                    </a:lnTo>
                    <a:lnTo>
                      <a:pt x="23" y="200"/>
                    </a:lnTo>
                    <a:lnTo>
                      <a:pt x="23" y="203"/>
                    </a:lnTo>
                    <a:lnTo>
                      <a:pt x="26" y="206"/>
                    </a:lnTo>
                    <a:lnTo>
                      <a:pt x="28" y="208"/>
                    </a:lnTo>
                    <a:lnTo>
                      <a:pt x="29" y="213"/>
                    </a:lnTo>
                    <a:lnTo>
                      <a:pt x="29" y="218"/>
                    </a:lnTo>
                    <a:lnTo>
                      <a:pt x="32" y="221"/>
                    </a:lnTo>
                    <a:lnTo>
                      <a:pt x="34" y="222"/>
                    </a:lnTo>
                    <a:lnTo>
                      <a:pt x="36" y="224"/>
                    </a:lnTo>
                    <a:lnTo>
                      <a:pt x="39" y="229"/>
                    </a:lnTo>
                    <a:lnTo>
                      <a:pt x="40" y="232"/>
                    </a:lnTo>
                    <a:lnTo>
                      <a:pt x="40" y="235"/>
                    </a:lnTo>
                    <a:lnTo>
                      <a:pt x="42" y="238"/>
                    </a:lnTo>
                    <a:lnTo>
                      <a:pt x="40" y="240"/>
                    </a:lnTo>
                    <a:lnTo>
                      <a:pt x="40" y="242"/>
                    </a:lnTo>
                    <a:lnTo>
                      <a:pt x="42" y="243"/>
                    </a:lnTo>
                    <a:lnTo>
                      <a:pt x="42" y="245"/>
                    </a:lnTo>
                    <a:lnTo>
                      <a:pt x="42" y="246"/>
                    </a:lnTo>
                    <a:lnTo>
                      <a:pt x="40" y="250"/>
                    </a:lnTo>
                    <a:lnTo>
                      <a:pt x="39" y="250"/>
                    </a:lnTo>
                    <a:lnTo>
                      <a:pt x="39" y="251"/>
                    </a:lnTo>
                    <a:lnTo>
                      <a:pt x="40" y="256"/>
                    </a:lnTo>
                    <a:lnTo>
                      <a:pt x="42" y="256"/>
                    </a:lnTo>
                    <a:lnTo>
                      <a:pt x="44" y="256"/>
                    </a:lnTo>
                    <a:lnTo>
                      <a:pt x="45" y="258"/>
                    </a:lnTo>
                    <a:lnTo>
                      <a:pt x="47" y="259"/>
                    </a:lnTo>
                    <a:lnTo>
                      <a:pt x="50" y="261"/>
                    </a:lnTo>
                    <a:lnTo>
                      <a:pt x="52" y="261"/>
                    </a:lnTo>
                    <a:lnTo>
                      <a:pt x="53" y="261"/>
                    </a:lnTo>
                    <a:lnTo>
                      <a:pt x="56" y="261"/>
                    </a:lnTo>
                    <a:lnTo>
                      <a:pt x="61" y="259"/>
                    </a:lnTo>
                    <a:lnTo>
                      <a:pt x="63" y="261"/>
                    </a:lnTo>
                    <a:lnTo>
                      <a:pt x="63" y="259"/>
                    </a:lnTo>
                    <a:lnTo>
                      <a:pt x="64" y="259"/>
                    </a:lnTo>
                    <a:lnTo>
                      <a:pt x="64" y="258"/>
                    </a:lnTo>
                    <a:lnTo>
                      <a:pt x="66" y="259"/>
                    </a:lnTo>
                    <a:lnTo>
                      <a:pt x="68" y="258"/>
                    </a:lnTo>
                    <a:lnTo>
                      <a:pt x="69" y="256"/>
                    </a:lnTo>
                    <a:lnTo>
                      <a:pt x="69" y="254"/>
                    </a:lnTo>
                    <a:lnTo>
                      <a:pt x="71" y="253"/>
                    </a:lnTo>
                    <a:lnTo>
                      <a:pt x="74" y="251"/>
                    </a:lnTo>
                    <a:lnTo>
                      <a:pt x="76" y="251"/>
                    </a:lnTo>
                    <a:lnTo>
                      <a:pt x="77" y="250"/>
                    </a:lnTo>
                    <a:lnTo>
                      <a:pt x="76" y="248"/>
                    </a:lnTo>
                    <a:lnTo>
                      <a:pt x="77" y="248"/>
                    </a:lnTo>
                    <a:lnTo>
                      <a:pt x="79" y="246"/>
                    </a:lnTo>
                    <a:lnTo>
                      <a:pt x="79" y="245"/>
                    </a:lnTo>
                    <a:lnTo>
                      <a:pt x="87" y="243"/>
                    </a:lnTo>
                    <a:lnTo>
                      <a:pt x="88" y="242"/>
                    </a:lnTo>
                    <a:lnTo>
                      <a:pt x="90" y="242"/>
                    </a:lnTo>
                    <a:lnTo>
                      <a:pt x="93" y="242"/>
                    </a:lnTo>
                    <a:lnTo>
                      <a:pt x="95" y="242"/>
                    </a:lnTo>
                    <a:lnTo>
                      <a:pt x="96" y="240"/>
                    </a:lnTo>
                    <a:lnTo>
                      <a:pt x="96" y="242"/>
                    </a:lnTo>
                    <a:lnTo>
                      <a:pt x="98" y="242"/>
                    </a:lnTo>
                    <a:lnTo>
                      <a:pt x="103" y="240"/>
                    </a:lnTo>
                    <a:lnTo>
                      <a:pt x="104" y="240"/>
                    </a:lnTo>
                    <a:lnTo>
                      <a:pt x="106" y="240"/>
                    </a:lnTo>
                    <a:lnTo>
                      <a:pt x="108" y="240"/>
                    </a:lnTo>
                    <a:lnTo>
                      <a:pt x="109" y="238"/>
                    </a:lnTo>
                    <a:lnTo>
                      <a:pt x="111" y="237"/>
                    </a:lnTo>
                    <a:lnTo>
                      <a:pt x="111" y="235"/>
                    </a:lnTo>
                    <a:lnTo>
                      <a:pt x="112" y="232"/>
                    </a:lnTo>
                    <a:lnTo>
                      <a:pt x="112" y="230"/>
                    </a:lnTo>
                    <a:lnTo>
                      <a:pt x="114" y="229"/>
                    </a:lnTo>
                    <a:lnTo>
                      <a:pt x="115" y="229"/>
                    </a:lnTo>
                    <a:lnTo>
                      <a:pt x="117" y="227"/>
                    </a:lnTo>
                    <a:lnTo>
                      <a:pt x="119" y="227"/>
                    </a:lnTo>
                    <a:lnTo>
                      <a:pt x="120" y="226"/>
                    </a:lnTo>
                    <a:lnTo>
                      <a:pt x="123" y="222"/>
                    </a:lnTo>
                    <a:lnTo>
                      <a:pt x="125" y="221"/>
                    </a:lnTo>
                    <a:lnTo>
                      <a:pt x="128" y="221"/>
                    </a:lnTo>
                    <a:lnTo>
                      <a:pt x="130" y="221"/>
                    </a:lnTo>
                    <a:lnTo>
                      <a:pt x="135" y="219"/>
                    </a:lnTo>
                    <a:lnTo>
                      <a:pt x="138" y="219"/>
                    </a:lnTo>
                    <a:lnTo>
                      <a:pt x="141" y="218"/>
                    </a:lnTo>
                    <a:lnTo>
                      <a:pt x="143" y="218"/>
                    </a:lnTo>
                    <a:lnTo>
                      <a:pt x="144" y="218"/>
                    </a:lnTo>
                    <a:lnTo>
                      <a:pt x="147" y="214"/>
                    </a:lnTo>
                    <a:lnTo>
                      <a:pt x="154" y="211"/>
                    </a:lnTo>
                    <a:lnTo>
                      <a:pt x="155" y="211"/>
                    </a:lnTo>
                    <a:lnTo>
                      <a:pt x="162" y="211"/>
                    </a:lnTo>
                    <a:lnTo>
                      <a:pt x="167" y="210"/>
                    </a:lnTo>
                    <a:lnTo>
                      <a:pt x="171" y="210"/>
                    </a:lnTo>
                    <a:lnTo>
                      <a:pt x="173" y="210"/>
                    </a:lnTo>
                    <a:lnTo>
                      <a:pt x="175" y="210"/>
                    </a:lnTo>
                    <a:lnTo>
                      <a:pt x="179" y="214"/>
                    </a:lnTo>
                    <a:lnTo>
                      <a:pt x="181" y="214"/>
                    </a:lnTo>
                    <a:lnTo>
                      <a:pt x="181" y="213"/>
                    </a:lnTo>
                    <a:lnTo>
                      <a:pt x="183" y="213"/>
                    </a:lnTo>
                    <a:lnTo>
                      <a:pt x="186" y="214"/>
                    </a:lnTo>
                    <a:lnTo>
                      <a:pt x="187" y="216"/>
                    </a:lnTo>
                    <a:lnTo>
                      <a:pt x="189" y="216"/>
                    </a:lnTo>
                    <a:lnTo>
                      <a:pt x="189" y="214"/>
                    </a:lnTo>
                    <a:lnTo>
                      <a:pt x="192" y="218"/>
                    </a:lnTo>
                    <a:lnTo>
                      <a:pt x="195" y="218"/>
                    </a:lnTo>
                    <a:lnTo>
                      <a:pt x="195" y="221"/>
                    </a:lnTo>
                    <a:lnTo>
                      <a:pt x="195" y="222"/>
                    </a:lnTo>
                    <a:lnTo>
                      <a:pt x="195" y="224"/>
                    </a:lnTo>
                    <a:lnTo>
                      <a:pt x="197" y="224"/>
                    </a:lnTo>
                    <a:lnTo>
                      <a:pt x="199" y="224"/>
                    </a:lnTo>
                    <a:lnTo>
                      <a:pt x="200" y="224"/>
                    </a:lnTo>
                    <a:lnTo>
                      <a:pt x="200" y="226"/>
                    </a:lnTo>
                    <a:lnTo>
                      <a:pt x="202" y="227"/>
                    </a:lnTo>
                    <a:lnTo>
                      <a:pt x="202" y="229"/>
                    </a:lnTo>
                    <a:lnTo>
                      <a:pt x="203" y="230"/>
                    </a:lnTo>
                    <a:lnTo>
                      <a:pt x="205" y="232"/>
                    </a:lnTo>
                    <a:lnTo>
                      <a:pt x="205" y="234"/>
                    </a:lnTo>
                    <a:lnTo>
                      <a:pt x="207" y="235"/>
                    </a:lnTo>
                    <a:lnTo>
                      <a:pt x="207" y="237"/>
                    </a:lnTo>
                    <a:lnTo>
                      <a:pt x="207" y="238"/>
                    </a:lnTo>
                    <a:lnTo>
                      <a:pt x="203" y="237"/>
                    </a:lnTo>
                    <a:lnTo>
                      <a:pt x="203" y="238"/>
                    </a:lnTo>
                    <a:lnTo>
                      <a:pt x="205" y="238"/>
                    </a:lnTo>
                    <a:lnTo>
                      <a:pt x="207" y="240"/>
                    </a:lnTo>
                    <a:lnTo>
                      <a:pt x="208" y="240"/>
                    </a:lnTo>
                    <a:lnTo>
                      <a:pt x="208" y="242"/>
                    </a:lnTo>
                    <a:lnTo>
                      <a:pt x="210" y="242"/>
                    </a:lnTo>
                    <a:lnTo>
                      <a:pt x="211" y="243"/>
                    </a:lnTo>
                    <a:lnTo>
                      <a:pt x="211" y="240"/>
                    </a:lnTo>
                    <a:lnTo>
                      <a:pt x="210" y="240"/>
                    </a:lnTo>
                    <a:lnTo>
                      <a:pt x="210" y="238"/>
                    </a:lnTo>
                    <a:lnTo>
                      <a:pt x="211" y="237"/>
                    </a:lnTo>
                    <a:lnTo>
                      <a:pt x="213" y="235"/>
                    </a:lnTo>
                    <a:lnTo>
                      <a:pt x="215" y="232"/>
                    </a:lnTo>
                    <a:lnTo>
                      <a:pt x="216" y="232"/>
                    </a:lnTo>
                    <a:lnTo>
                      <a:pt x="218" y="230"/>
                    </a:lnTo>
                    <a:lnTo>
                      <a:pt x="218" y="229"/>
                    </a:lnTo>
                    <a:lnTo>
                      <a:pt x="219" y="229"/>
                    </a:lnTo>
                    <a:lnTo>
                      <a:pt x="221" y="229"/>
                    </a:lnTo>
                    <a:lnTo>
                      <a:pt x="221" y="227"/>
                    </a:lnTo>
                    <a:lnTo>
                      <a:pt x="223" y="224"/>
                    </a:lnTo>
                    <a:lnTo>
                      <a:pt x="224" y="222"/>
                    </a:lnTo>
                    <a:lnTo>
                      <a:pt x="226" y="222"/>
                    </a:lnTo>
                    <a:lnTo>
                      <a:pt x="226" y="219"/>
                    </a:lnTo>
                    <a:lnTo>
                      <a:pt x="226" y="218"/>
                    </a:lnTo>
                    <a:lnTo>
                      <a:pt x="226" y="219"/>
                    </a:lnTo>
                    <a:lnTo>
                      <a:pt x="227" y="221"/>
                    </a:lnTo>
                    <a:lnTo>
                      <a:pt x="227" y="222"/>
                    </a:lnTo>
                    <a:lnTo>
                      <a:pt x="227" y="224"/>
                    </a:lnTo>
                    <a:lnTo>
                      <a:pt x="226" y="224"/>
                    </a:lnTo>
                    <a:lnTo>
                      <a:pt x="226" y="227"/>
                    </a:lnTo>
                    <a:lnTo>
                      <a:pt x="226" y="229"/>
                    </a:lnTo>
                    <a:lnTo>
                      <a:pt x="224" y="229"/>
                    </a:lnTo>
                    <a:lnTo>
                      <a:pt x="223" y="234"/>
                    </a:lnTo>
                    <a:lnTo>
                      <a:pt x="223" y="235"/>
                    </a:lnTo>
                    <a:lnTo>
                      <a:pt x="223" y="237"/>
                    </a:lnTo>
                    <a:lnTo>
                      <a:pt x="223" y="240"/>
                    </a:lnTo>
                    <a:lnTo>
                      <a:pt x="221" y="242"/>
                    </a:lnTo>
                    <a:lnTo>
                      <a:pt x="219" y="242"/>
                    </a:lnTo>
                    <a:lnTo>
                      <a:pt x="218" y="245"/>
                    </a:lnTo>
                    <a:lnTo>
                      <a:pt x="219" y="245"/>
                    </a:lnTo>
                    <a:lnTo>
                      <a:pt x="221" y="245"/>
                    </a:lnTo>
                    <a:lnTo>
                      <a:pt x="223" y="245"/>
                    </a:lnTo>
                    <a:lnTo>
                      <a:pt x="224" y="243"/>
                    </a:lnTo>
                    <a:lnTo>
                      <a:pt x="226" y="243"/>
                    </a:lnTo>
                    <a:lnTo>
                      <a:pt x="226" y="242"/>
                    </a:lnTo>
                    <a:lnTo>
                      <a:pt x="226" y="240"/>
                    </a:lnTo>
                    <a:lnTo>
                      <a:pt x="226" y="238"/>
                    </a:lnTo>
                    <a:lnTo>
                      <a:pt x="227" y="234"/>
                    </a:lnTo>
                    <a:lnTo>
                      <a:pt x="229" y="235"/>
                    </a:lnTo>
                    <a:lnTo>
                      <a:pt x="231" y="237"/>
                    </a:lnTo>
                    <a:lnTo>
                      <a:pt x="232" y="240"/>
                    </a:lnTo>
                    <a:lnTo>
                      <a:pt x="232" y="242"/>
                    </a:lnTo>
                    <a:lnTo>
                      <a:pt x="231" y="245"/>
                    </a:lnTo>
                    <a:lnTo>
                      <a:pt x="229" y="246"/>
                    </a:lnTo>
                    <a:lnTo>
                      <a:pt x="229" y="248"/>
                    </a:lnTo>
                    <a:lnTo>
                      <a:pt x="231" y="248"/>
                    </a:lnTo>
                    <a:lnTo>
                      <a:pt x="234" y="248"/>
                    </a:lnTo>
                    <a:lnTo>
                      <a:pt x="235" y="246"/>
                    </a:lnTo>
                    <a:lnTo>
                      <a:pt x="237" y="246"/>
                    </a:lnTo>
                    <a:lnTo>
                      <a:pt x="239" y="246"/>
                    </a:lnTo>
                    <a:lnTo>
                      <a:pt x="237" y="250"/>
                    </a:lnTo>
                    <a:lnTo>
                      <a:pt x="240" y="254"/>
                    </a:lnTo>
                    <a:lnTo>
                      <a:pt x="242" y="258"/>
                    </a:lnTo>
                    <a:lnTo>
                      <a:pt x="242" y="259"/>
                    </a:lnTo>
                    <a:lnTo>
                      <a:pt x="242" y="261"/>
                    </a:lnTo>
                    <a:lnTo>
                      <a:pt x="242" y="262"/>
                    </a:lnTo>
                    <a:lnTo>
                      <a:pt x="243" y="267"/>
                    </a:lnTo>
                    <a:lnTo>
                      <a:pt x="245" y="267"/>
                    </a:lnTo>
                    <a:lnTo>
                      <a:pt x="245" y="269"/>
                    </a:lnTo>
                    <a:lnTo>
                      <a:pt x="247" y="270"/>
                    </a:lnTo>
                    <a:lnTo>
                      <a:pt x="248" y="272"/>
                    </a:lnTo>
                    <a:lnTo>
                      <a:pt x="251" y="272"/>
                    </a:lnTo>
                    <a:lnTo>
                      <a:pt x="253" y="275"/>
                    </a:lnTo>
                    <a:lnTo>
                      <a:pt x="255" y="277"/>
                    </a:lnTo>
                    <a:lnTo>
                      <a:pt x="256" y="275"/>
                    </a:lnTo>
                    <a:lnTo>
                      <a:pt x="258" y="275"/>
                    </a:lnTo>
                    <a:lnTo>
                      <a:pt x="259" y="277"/>
                    </a:lnTo>
                    <a:lnTo>
                      <a:pt x="263" y="277"/>
                    </a:lnTo>
                    <a:lnTo>
                      <a:pt x="266" y="278"/>
                    </a:lnTo>
                    <a:lnTo>
                      <a:pt x="269" y="280"/>
                    </a:lnTo>
                    <a:lnTo>
                      <a:pt x="269" y="281"/>
                    </a:lnTo>
                    <a:lnTo>
                      <a:pt x="271" y="281"/>
                    </a:lnTo>
                    <a:lnTo>
                      <a:pt x="274" y="280"/>
                    </a:lnTo>
                    <a:lnTo>
                      <a:pt x="275" y="278"/>
                    </a:lnTo>
                    <a:lnTo>
                      <a:pt x="277" y="277"/>
                    </a:lnTo>
                    <a:lnTo>
                      <a:pt x="278" y="277"/>
                    </a:lnTo>
                    <a:lnTo>
                      <a:pt x="280" y="275"/>
                    </a:lnTo>
                    <a:lnTo>
                      <a:pt x="278" y="274"/>
                    </a:lnTo>
                    <a:lnTo>
                      <a:pt x="282" y="272"/>
                    </a:lnTo>
                    <a:lnTo>
                      <a:pt x="283" y="274"/>
                    </a:lnTo>
                    <a:lnTo>
                      <a:pt x="282" y="275"/>
                    </a:lnTo>
                    <a:lnTo>
                      <a:pt x="282" y="277"/>
                    </a:lnTo>
                    <a:lnTo>
                      <a:pt x="280" y="277"/>
                    </a:lnTo>
                    <a:lnTo>
                      <a:pt x="282" y="278"/>
                    </a:lnTo>
                    <a:lnTo>
                      <a:pt x="283" y="278"/>
                    </a:lnTo>
                    <a:lnTo>
                      <a:pt x="285" y="277"/>
                    </a:lnTo>
                    <a:lnTo>
                      <a:pt x="286" y="277"/>
                    </a:lnTo>
                    <a:lnTo>
                      <a:pt x="286" y="278"/>
                    </a:lnTo>
                    <a:lnTo>
                      <a:pt x="286" y="280"/>
                    </a:lnTo>
                    <a:lnTo>
                      <a:pt x="286" y="281"/>
                    </a:lnTo>
                    <a:lnTo>
                      <a:pt x="288" y="281"/>
                    </a:lnTo>
                    <a:lnTo>
                      <a:pt x="288" y="283"/>
                    </a:lnTo>
                    <a:lnTo>
                      <a:pt x="290" y="283"/>
                    </a:lnTo>
                    <a:lnTo>
                      <a:pt x="291" y="283"/>
                    </a:lnTo>
                    <a:lnTo>
                      <a:pt x="293" y="286"/>
                    </a:lnTo>
                    <a:lnTo>
                      <a:pt x="293" y="285"/>
                    </a:lnTo>
                    <a:lnTo>
                      <a:pt x="294" y="283"/>
                    </a:lnTo>
                    <a:lnTo>
                      <a:pt x="293" y="283"/>
                    </a:lnTo>
                    <a:lnTo>
                      <a:pt x="291" y="283"/>
                    </a:lnTo>
                    <a:lnTo>
                      <a:pt x="291" y="281"/>
                    </a:lnTo>
                    <a:lnTo>
                      <a:pt x="293" y="281"/>
                    </a:lnTo>
                    <a:lnTo>
                      <a:pt x="296" y="281"/>
                    </a:lnTo>
                    <a:lnTo>
                      <a:pt x="299" y="280"/>
                    </a:lnTo>
                    <a:lnTo>
                      <a:pt x="299" y="278"/>
                    </a:lnTo>
                    <a:lnTo>
                      <a:pt x="302" y="277"/>
                    </a:lnTo>
                    <a:lnTo>
                      <a:pt x="304" y="277"/>
                    </a:lnTo>
                    <a:lnTo>
                      <a:pt x="307" y="275"/>
                    </a:lnTo>
                    <a:lnTo>
                      <a:pt x="309" y="275"/>
                    </a:lnTo>
                    <a:lnTo>
                      <a:pt x="317" y="275"/>
                    </a:lnTo>
                    <a:lnTo>
                      <a:pt x="320" y="275"/>
                    </a:lnTo>
                    <a:lnTo>
                      <a:pt x="320" y="274"/>
                    </a:lnTo>
                    <a:lnTo>
                      <a:pt x="322" y="274"/>
                    </a:lnTo>
                    <a:lnTo>
                      <a:pt x="323" y="272"/>
                    </a:lnTo>
                    <a:lnTo>
                      <a:pt x="323" y="270"/>
                    </a:lnTo>
                    <a:lnTo>
                      <a:pt x="322" y="267"/>
                    </a:lnTo>
                    <a:lnTo>
                      <a:pt x="323" y="266"/>
                    </a:lnTo>
                    <a:lnTo>
                      <a:pt x="325" y="264"/>
                    </a:lnTo>
                    <a:lnTo>
                      <a:pt x="325" y="262"/>
                    </a:lnTo>
                    <a:lnTo>
                      <a:pt x="325" y="261"/>
                    </a:lnTo>
                    <a:lnTo>
                      <a:pt x="326" y="259"/>
                    </a:lnTo>
                    <a:lnTo>
                      <a:pt x="326" y="256"/>
                    </a:lnTo>
                    <a:lnTo>
                      <a:pt x="328" y="254"/>
                    </a:lnTo>
                    <a:lnTo>
                      <a:pt x="328" y="253"/>
                    </a:lnTo>
                    <a:lnTo>
                      <a:pt x="330" y="250"/>
                    </a:lnTo>
                    <a:lnTo>
                      <a:pt x="331" y="251"/>
                    </a:lnTo>
                    <a:lnTo>
                      <a:pt x="331" y="250"/>
                    </a:lnTo>
                    <a:lnTo>
                      <a:pt x="334" y="243"/>
                    </a:lnTo>
                    <a:lnTo>
                      <a:pt x="336" y="242"/>
                    </a:lnTo>
                    <a:lnTo>
                      <a:pt x="336" y="240"/>
                    </a:lnTo>
                    <a:lnTo>
                      <a:pt x="338" y="238"/>
                    </a:lnTo>
                    <a:lnTo>
                      <a:pt x="338" y="237"/>
                    </a:lnTo>
                    <a:lnTo>
                      <a:pt x="338" y="235"/>
                    </a:lnTo>
                    <a:lnTo>
                      <a:pt x="339" y="235"/>
                    </a:lnTo>
                    <a:lnTo>
                      <a:pt x="341" y="234"/>
                    </a:lnTo>
                    <a:lnTo>
                      <a:pt x="341" y="230"/>
                    </a:lnTo>
                    <a:lnTo>
                      <a:pt x="342" y="230"/>
                    </a:lnTo>
                    <a:lnTo>
                      <a:pt x="344" y="229"/>
                    </a:lnTo>
                    <a:lnTo>
                      <a:pt x="346" y="227"/>
                    </a:lnTo>
                    <a:lnTo>
                      <a:pt x="347" y="227"/>
                    </a:lnTo>
                    <a:lnTo>
                      <a:pt x="349" y="224"/>
                    </a:lnTo>
                    <a:lnTo>
                      <a:pt x="349" y="222"/>
                    </a:lnTo>
                    <a:lnTo>
                      <a:pt x="350" y="222"/>
                    </a:lnTo>
                    <a:lnTo>
                      <a:pt x="350" y="221"/>
                    </a:lnTo>
                    <a:lnTo>
                      <a:pt x="352" y="219"/>
                    </a:lnTo>
                    <a:lnTo>
                      <a:pt x="355" y="214"/>
                    </a:lnTo>
                    <a:lnTo>
                      <a:pt x="355" y="213"/>
                    </a:lnTo>
                    <a:lnTo>
                      <a:pt x="355" y="211"/>
                    </a:lnTo>
                    <a:lnTo>
                      <a:pt x="357" y="210"/>
                    </a:lnTo>
                    <a:lnTo>
                      <a:pt x="357" y="206"/>
                    </a:lnTo>
                    <a:lnTo>
                      <a:pt x="358" y="203"/>
                    </a:lnTo>
                    <a:lnTo>
                      <a:pt x="360" y="198"/>
                    </a:lnTo>
                    <a:lnTo>
                      <a:pt x="362" y="195"/>
                    </a:lnTo>
                    <a:lnTo>
                      <a:pt x="362" y="192"/>
                    </a:lnTo>
                    <a:lnTo>
                      <a:pt x="363" y="190"/>
                    </a:lnTo>
                    <a:lnTo>
                      <a:pt x="363" y="187"/>
                    </a:lnTo>
                    <a:lnTo>
                      <a:pt x="363" y="186"/>
                    </a:lnTo>
                    <a:lnTo>
                      <a:pt x="365" y="184"/>
                    </a:lnTo>
                    <a:lnTo>
                      <a:pt x="363" y="179"/>
                    </a:lnTo>
                    <a:lnTo>
                      <a:pt x="362" y="176"/>
                    </a:lnTo>
                    <a:lnTo>
                      <a:pt x="362" y="174"/>
                    </a:lnTo>
                    <a:lnTo>
                      <a:pt x="362" y="173"/>
                    </a:lnTo>
                    <a:lnTo>
                      <a:pt x="362" y="171"/>
                    </a:lnTo>
                    <a:lnTo>
                      <a:pt x="362" y="170"/>
                    </a:lnTo>
                    <a:lnTo>
                      <a:pt x="363" y="171"/>
                    </a:lnTo>
                    <a:lnTo>
                      <a:pt x="362" y="170"/>
                    </a:lnTo>
                    <a:lnTo>
                      <a:pt x="362" y="165"/>
                    </a:lnTo>
                    <a:lnTo>
                      <a:pt x="362" y="163"/>
                    </a:lnTo>
                    <a:lnTo>
                      <a:pt x="363" y="160"/>
                    </a:lnTo>
                    <a:lnTo>
                      <a:pt x="363" y="157"/>
                    </a:lnTo>
                    <a:lnTo>
                      <a:pt x="362" y="158"/>
                    </a:lnTo>
                    <a:lnTo>
                      <a:pt x="362" y="157"/>
                    </a:lnTo>
                    <a:lnTo>
                      <a:pt x="362" y="155"/>
                    </a:lnTo>
                    <a:lnTo>
                      <a:pt x="362" y="152"/>
                    </a:lnTo>
                    <a:lnTo>
                      <a:pt x="360" y="150"/>
                    </a:lnTo>
                    <a:lnTo>
                      <a:pt x="358" y="150"/>
                    </a:lnTo>
                    <a:lnTo>
                      <a:pt x="360" y="149"/>
                    </a:lnTo>
                    <a:lnTo>
                      <a:pt x="357" y="146"/>
                    </a:lnTo>
                    <a:lnTo>
                      <a:pt x="355" y="144"/>
                    </a:lnTo>
                    <a:lnTo>
                      <a:pt x="354" y="143"/>
                    </a:lnTo>
                    <a:lnTo>
                      <a:pt x="354" y="141"/>
                    </a:lnTo>
                    <a:lnTo>
                      <a:pt x="352" y="138"/>
                    </a:lnTo>
                    <a:lnTo>
                      <a:pt x="350" y="138"/>
                    </a:lnTo>
                    <a:lnTo>
                      <a:pt x="349" y="138"/>
                    </a:lnTo>
                    <a:lnTo>
                      <a:pt x="347" y="135"/>
                    </a:lnTo>
                    <a:lnTo>
                      <a:pt x="346" y="133"/>
                    </a:lnTo>
                    <a:lnTo>
                      <a:pt x="344" y="133"/>
                    </a:lnTo>
                    <a:lnTo>
                      <a:pt x="344" y="130"/>
                    </a:lnTo>
                    <a:lnTo>
                      <a:pt x="344" y="125"/>
                    </a:lnTo>
                    <a:lnTo>
                      <a:pt x="344" y="122"/>
                    </a:lnTo>
                    <a:lnTo>
                      <a:pt x="344" y="120"/>
                    </a:lnTo>
                    <a:lnTo>
                      <a:pt x="342" y="119"/>
                    </a:lnTo>
                    <a:lnTo>
                      <a:pt x="342" y="122"/>
                    </a:lnTo>
                    <a:lnTo>
                      <a:pt x="341" y="120"/>
                    </a:lnTo>
                    <a:lnTo>
                      <a:pt x="339" y="120"/>
                    </a:lnTo>
                    <a:lnTo>
                      <a:pt x="338" y="119"/>
                    </a:lnTo>
                    <a:lnTo>
                      <a:pt x="338" y="117"/>
                    </a:lnTo>
                    <a:lnTo>
                      <a:pt x="336" y="117"/>
                    </a:lnTo>
                    <a:lnTo>
                      <a:pt x="336" y="120"/>
                    </a:lnTo>
                    <a:lnTo>
                      <a:pt x="334" y="120"/>
                    </a:lnTo>
                    <a:lnTo>
                      <a:pt x="334" y="119"/>
                    </a:lnTo>
                    <a:lnTo>
                      <a:pt x="333" y="119"/>
                    </a:lnTo>
                    <a:lnTo>
                      <a:pt x="333" y="117"/>
                    </a:lnTo>
                    <a:lnTo>
                      <a:pt x="333" y="115"/>
                    </a:lnTo>
                    <a:lnTo>
                      <a:pt x="333" y="111"/>
                    </a:lnTo>
                    <a:lnTo>
                      <a:pt x="331" y="111"/>
                    </a:lnTo>
                    <a:lnTo>
                      <a:pt x="331" y="109"/>
                    </a:lnTo>
                    <a:lnTo>
                      <a:pt x="331" y="107"/>
                    </a:lnTo>
                    <a:lnTo>
                      <a:pt x="331" y="106"/>
                    </a:lnTo>
                    <a:lnTo>
                      <a:pt x="330" y="104"/>
                    </a:lnTo>
                    <a:lnTo>
                      <a:pt x="330" y="103"/>
                    </a:lnTo>
                    <a:lnTo>
                      <a:pt x="328" y="103"/>
                    </a:lnTo>
                    <a:lnTo>
                      <a:pt x="326" y="103"/>
                    </a:lnTo>
                    <a:lnTo>
                      <a:pt x="326" y="99"/>
                    </a:lnTo>
                    <a:lnTo>
                      <a:pt x="328" y="101"/>
                    </a:lnTo>
                    <a:lnTo>
                      <a:pt x="328" y="98"/>
                    </a:lnTo>
                    <a:lnTo>
                      <a:pt x="326" y="98"/>
                    </a:lnTo>
                    <a:lnTo>
                      <a:pt x="325" y="96"/>
                    </a:lnTo>
                    <a:lnTo>
                      <a:pt x="325" y="95"/>
                    </a:lnTo>
                    <a:lnTo>
                      <a:pt x="323" y="96"/>
                    </a:lnTo>
                    <a:lnTo>
                      <a:pt x="322" y="95"/>
                    </a:lnTo>
                    <a:lnTo>
                      <a:pt x="322" y="93"/>
                    </a:lnTo>
                    <a:lnTo>
                      <a:pt x="320" y="93"/>
                    </a:lnTo>
                    <a:lnTo>
                      <a:pt x="318" y="91"/>
                    </a:lnTo>
                    <a:lnTo>
                      <a:pt x="317" y="93"/>
                    </a:lnTo>
                    <a:lnTo>
                      <a:pt x="315" y="91"/>
                    </a:lnTo>
                    <a:lnTo>
                      <a:pt x="315" y="90"/>
                    </a:lnTo>
                    <a:lnTo>
                      <a:pt x="315" y="87"/>
                    </a:lnTo>
                    <a:lnTo>
                      <a:pt x="314" y="88"/>
                    </a:lnTo>
                    <a:lnTo>
                      <a:pt x="310" y="87"/>
                    </a:lnTo>
                    <a:lnTo>
                      <a:pt x="309" y="87"/>
                    </a:lnTo>
                    <a:lnTo>
                      <a:pt x="307" y="85"/>
                    </a:lnTo>
                    <a:lnTo>
                      <a:pt x="306" y="83"/>
                    </a:lnTo>
                    <a:lnTo>
                      <a:pt x="304" y="82"/>
                    </a:lnTo>
                    <a:lnTo>
                      <a:pt x="304" y="80"/>
                    </a:lnTo>
                    <a:lnTo>
                      <a:pt x="304" y="79"/>
                    </a:lnTo>
                    <a:lnTo>
                      <a:pt x="302" y="79"/>
                    </a:lnTo>
                    <a:lnTo>
                      <a:pt x="302" y="77"/>
                    </a:lnTo>
                    <a:lnTo>
                      <a:pt x="302" y="74"/>
                    </a:lnTo>
                    <a:lnTo>
                      <a:pt x="302" y="71"/>
                    </a:lnTo>
                    <a:lnTo>
                      <a:pt x="302" y="69"/>
                    </a:lnTo>
                    <a:lnTo>
                      <a:pt x="301" y="64"/>
                    </a:lnTo>
                    <a:lnTo>
                      <a:pt x="301" y="63"/>
                    </a:lnTo>
                    <a:lnTo>
                      <a:pt x="299" y="63"/>
                    </a:lnTo>
                    <a:lnTo>
                      <a:pt x="298" y="59"/>
                    </a:lnTo>
                    <a:lnTo>
                      <a:pt x="296" y="58"/>
                    </a:lnTo>
                    <a:lnTo>
                      <a:pt x="296" y="55"/>
                    </a:lnTo>
                    <a:lnTo>
                      <a:pt x="296" y="53"/>
                    </a:lnTo>
                    <a:lnTo>
                      <a:pt x="296" y="51"/>
                    </a:lnTo>
                    <a:lnTo>
                      <a:pt x="294" y="50"/>
                    </a:lnTo>
                    <a:lnTo>
                      <a:pt x="296" y="47"/>
                    </a:lnTo>
                    <a:lnTo>
                      <a:pt x="294" y="45"/>
                    </a:lnTo>
                    <a:lnTo>
                      <a:pt x="296" y="43"/>
                    </a:lnTo>
                    <a:lnTo>
                      <a:pt x="294" y="42"/>
                    </a:lnTo>
                    <a:lnTo>
                      <a:pt x="293" y="40"/>
                    </a:lnTo>
                    <a:lnTo>
                      <a:pt x="291" y="39"/>
                    </a:lnTo>
                    <a:lnTo>
                      <a:pt x="290" y="39"/>
                    </a:lnTo>
                    <a:lnTo>
                      <a:pt x="288" y="35"/>
                    </a:lnTo>
                    <a:lnTo>
                      <a:pt x="286" y="35"/>
                    </a:lnTo>
                    <a:lnTo>
                      <a:pt x="285" y="35"/>
                    </a:lnTo>
                    <a:lnTo>
                      <a:pt x="283" y="37"/>
                    </a:lnTo>
                    <a:lnTo>
                      <a:pt x="282" y="37"/>
                    </a:lnTo>
                    <a:lnTo>
                      <a:pt x="280" y="35"/>
                    </a:lnTo>
                    <a:lnTo>
                      <a:pt x="280" y="34"/>
                    </a:lnTo>
                    <a:lnTo>
                      <a:pt x="278" y="32"/>
                    </a:lnTo>
                    <a:lnTo>
                      <a:pt x="278" y="31"/>
                    </a:lnTo>
                    <a:lnTo>
                      <a:pt x="278" y="27"/>
                    </a:lnTo>
                    <a:lnTo>
                      <a:pt x="278" y="24"/>
                    </a:lnTo>
                    <a:lnTo>
                      <a:pt x="277" y="23"/>
                    </a:lnTo>
                    <a:lnTo>
                      <a:pt x="277" y="21"/>
                    </a:lnTo>
                    <a:lnTo>
                      <a:pt x="277" y="19"/>
                    </a:lnTo>
                    <a:lnTo>
                      <a:pt x="275" y="18"/>
                    </a:lnTo>
                    <a:lnTo>
                      <a:pt x="275" y="16"/>
                    </a:lnTo>
                    <a:lnTo>
                      <a:pt x="274" y="16"/>
                    </a:lnTo>
                    <a:lnTo>
                      <a:pt x="274" y="13"/>
                    </a:lnTo>
                    <a:lnTo>
                      <a:pt x="274" y="12"/>
                    </a:lnTo>
                    <a:lnTo>
                      <a:pt x="272" y="12"/>
                    </a:lnTo>
                    <a:lnTo>
                      <a:pt x="271" y="10"/>
                    </a:lnTo>
                    <a:lnTo>
                      <a:pt x="271" y="5"/>
                    </a:lnTo>
                    <a:lnTo>
                      <a:pt x="271" y="2"/>
                    </a:lnTo>
                    <a:lnTo>
                      <a:pt x="271" y="0"/>
                    </a:lnTo>
                    <a:lnTo>
                      <a:pt x="269" y="0"/>
                    </a:lnTo>
                    <a:lnTo>
                      <a:pt x="267" y="2"/>
                    </a:lnTo>
                    <a:lnTo>
                      <a:pt x="266" y="2"/>
                    </a:lnTo>
                    <a:lnTo>
                      <a:pt x="266" y="5"/>
                    </a:lnTo>
                    <a:lnTo>
                      <a:pt x="264" y="8"/>
                    </a:lnTo>
                    <a:lnTo>
                      <a:pt x="263" y="12"/>
                    </a:lnTo>
                    <a:lnTo>
                      <a:pt x="263" y="13"/>
                    </a:lnTo>
                    <a:lnTo>
                      <a:pt x="259" y="13"/>
                    </a:lnTo>
                    <a:lnTo>
                      <a:pt x="259" y="16"/>
                    </a:lnTo>
                    <a:lnTo>
                      <a:pt x="259" y="19"/>
                    </a:lnTo>
                    <a:lnTo>
                      <a:pt x="261" y="19"/>
                    </a:lnTo>
                    <a:lnTo>
                      <a:pt x="261" y="21"/>
                    </a:lnTo>
                    <a:lnTo>
                      <a:pt x="259" y="23"/>
                    </a:lnTo>
                    <a:lnTo>
                      <a:pt x="259" y="26"/>
                    </a:lnTo>
                    <a:lnTo>
                      <a:pt x="258" y="29"/>
                    </a:lnTo>
                    <a:lnTo>
                      <a:pt x="259" y="35"/>
                    </a:lnTo>
                    <a:lnTo>
                      <a:pt x="258" y="37"/>
                    </a:lnTo>
                    <a:lnTo>
                      <a:pt x="259" y="42"/>
                    </a:lnTo>
                    <a:lnTo>
                      <a:pt x="259" y="43"/>
                    </a:lnTo>
                    <a:lnTo>
                      <a:pt x="259" y="47"/>
                    </a:lnTo>
                    <a:lnTo>
                      <a:pt x="258" y="48"/>
                    </a:lnTo>
                    <a:lnTo>
                      <a:pt x="258" y="51"/>
                    </a:lnTo>
                    <a:lnTo>
                      <a:pt x="256" y="59"/>
                    </a:lnTo>
                    <a:lnTo>
                      <a:pt x="253" y="64"/>
                    </a:lnTo>
                    <a:lnTo>
                      <a:pt x="253" y="67"/>
                    </a:lnTo>
                    <a:lnTo>
                      <a:pt x="251" y="67"/>
                    </a:lnTo>
                    <a:lnTo>
                      <a:pt x="250" y="69"/>
                    </a:lnTo>
                    <a:lnTo>
                      <a:pt x="248" y="71"/>
                    </a:lnTo>
                    <a:lnTo>
                      <a:pt x="245" y="71"/>
                    </a:lnTo>
                    <a:lnTo>
                      <a:pt x="242" y="69"/>
                    </a:lnTo>
                    <a:lnTo>
                      <a:pt x="237" y="66"/>
                    </a:lnTo>
                    <a:lnTo>
                      <a:pt x="237" y="64"/>
                    </a:lnTo>
                    <a:lnTo>
                      <a:pt x="235" y="63"/>
                    </a:lnTo>
                    <a:lnTo>
                      <a:pt x="234" y="61"/>
                    </a:lnTo>
                    <a:lnTo>
                      <a:pt x="229" y="61"/>
                    </a:lnTo>
                    <a:lnTo>
                      <a:pt x="227" y="59"/>
                    </a:lnTo>
                    <a:lnTo>
                      <a:pt x="226" y="58"/>
                    </a:lnTo>
                    <a:lnTo>
                      <a:pt x="224" y="58"/>
                    </a:lnTo>
                    <a:lnTo>
                      <a:pt x="223" y="56"/>
                    </a:lnTo>
                    <a:lnTo>
                      <a:pt x="221" y="55"/>
                    </a:lnTo>
                    <a:lnTo>
                      <a:pt x="219" y="55"/>
                    </a:lnTo>
                    <a:lnTo>
                      <a:pt x="218" y="53"/>
                    </a:lnTo>
                    <a:lnTo>
                      <a:pt x="216" y="53"/>
                    </a:lnTo>
                    <a:lnTo>
                      <a:pt x="211" y="51"/>
                    </a:lnTo>
                    <a:lnTo>
                      <a:pt x="210" y="53"/>
                    </a:lnTo>
                    <a:lnTo>
                      <a:pt x="210" y="51"/>
                    </a:lnTo>
                    <a:lnTo>
                      <a:pt x="210" y="50"/>
                    </a:lnTo>
                    <a:lnTo>
                      <a:pt x="210" y="48"/>
                    </a:lnTo>
                    <a:lnTo>
                      <a:pt x="207" y="47"/>
                    </a:lnTo>
                    <a:lnTo>
                      <a:pt x="205" y="45"/>
                    </a:lnTo>
                    <a:lnTo>
                      <a:pt x="203" y="45"/>
                    </a:lnTo>
                    <a:lnTo>
                      <a:pt x="202" y="43"/>
                    </a:lnTo>
                    <a:lnTo>
                      <a:pt x="202" y="42"/>
                    </a:lnTo>
                    <a:lnTo>
                      <a:pt x="203" y="40"/>
                    </a:lnTo>
                    <a:lnTo>
                      <a:pt x="203" y="39"/>
                    </a:lnTo>
                    <a:lnTo>
                      <a:pt x="205" y="35"/>
                    </a:lnTo>
                    <a:lnTo>
                      <a:pt x="205" y="34"/>
                    </a:lnTo>
                    <a:lnTo>
                      <a:pt x="207" y="31"/>
                    </a:lnTo>
                    <a:lnTo>
                      <a:pt x="203" y="31"/>
                    </a:lnTo>
                    <a:lnTo>
                      <a:pt x="205" y="29"/>
                    </a:lnTo>
                    <a:lnTo>
                      <a:pt x="205" y="26"/>
                    </a:lnTo>
                    <a:lnTo>
                      <a:pt x="207" y="27"/>
                    </a:lnTo>
                    <a:lnTo>
                      <a:pt x="207" y="26"/>
                    </a:lnTo>
                    <a:lnTo>
                      <a:pt x="208" y="26"/>
                    </a:lnTo>
                    <a:lnTo>
                      <a:pt x="210" y="26"/>
                    </a:lnTo>
                    <a:lnTo>
                      <a:pt x="211" y="24"/>
                    </a:lnTo>
                    <a:lnTo>
                      <a:pt x="210" y="23"/>
                    </a:lnTo>
                    <a:lnTo>
                      <a:pt x="210" y="21"/>
                    </a:lnTo>
                    <a:lnTo>
                      <a:pt x="211" y="23"/>
                    </a:lnTo>
                    <a:lnTo>
                      <a:pt x="211" y="21"/>
                    </a:lnTo>
                    <a:lnTo>
                      <a:pt x="213" y="19"/>
                    </a:lnTo>
                    <a:lnTo>
                      <a:pt x="213" y="18"/>
                    </a:lnTo>
                    <a:lnTo>
                      <a:pt x="213" y="16"/>
                    </a:lnTo>
                    <a:lnTo>
                      <a:pt x="211" y="16"/>
                    </a:lnTo>
                    <a:lnTo>
                      <a:pt x="210" y="18"/>
                    </a:lnTo>
                    <a:lnTo>
                      <a:pt x="210" y="15"/>
                    </a:lnTo>
                    <a:lnTo>
                      <a:pt x="210" y="13"/>
                    </a:lnTo>
                    <a:lnTo>
                      <a:pt x="208" y="13"/>
                    </a:lnTo>
                    <a:lnTo>
                      <a:pt x="207" y="15"/>
                    </a:lnTo>
                    <a:lnTo>
                      <a:pt x="207" y="16"/>
                    </a:lnTo>
                    <a:lnTo>
                      <a:pt x="208" y="16"/>
                    </a:lnTo>
                    <a:lnTo>
                      <a:pt x="207" y="19"/>
                    </a:lnTo>
                    <a:lnTo>
                      <a:pt x="205" y="19"/>
                    </a:lnTo>
                    <a:lnTo>
                      <a:pt x="205" y="18"/>
                    </a:lnTo>
                    <a:lnTo>
                      <a:pt x="205" y="16"/>
                    </a:lnTo>
                    <a:lnTo>
                      <a:pt x="205" y="15"/>
                    </a:lnTo>
                    <a:lnTo>
                      <a:pt x="203" y="16"/>
                    </a:lnTo>
                    <a:lnTo>
                      <a:pt x="203" y="15"/>
                    </a:lnTo>
                    <a:lnTo>
                      <a:pt x="202" y="15"/>
                    </a:lnTo>
                    <a:lnTo>
                      <a:pt x="200" y="15"/>
                    </a:lnTo>
                    <a:lnTo>
                      <a:pt x="199" y="15"/>
                    </a:lnTo>
                    <a:lnTo>
                      <a:pt x="197" y="18"/>
                    </a:lnTo>
                    <a:lnTo>
                      <a:pt x="195" y="16"/>
                    </a:lnTo>
                    <a:lnTo>
                      <a:pt x="194" y="16"/>
                    </a:lnTo>
                    <a:lnTo>
                      <a:pt x="192" y="15"/>
                    </a:lnTo>
                    <a:lnTo>
                      <a:pt x="191" y="15"/>
                    </a:lnTo>
                    <a:lnTo>
                      <a:pt x="189" y="15"/>
                    </a:lnTo>
                    <a:lnTo>
                      <a:pt x="187" y="15"/>
                    </a:lnTo>
                    <a:lnTo>
                      <a:pt x="186" y="13"/>
                    </a:lnTo>
                    <a:lnTo>
                      <a:pt x="184" y="15"/>
                    </a:lnTo>
                    <a:lnTo>
                      <a:pt x="183" y="13"/>
                    </a:lnTo>
                    <a:lnTo>
                      <a:pt x="181" y="13"/>
                    </a:lnTo>
                    <a:lnTo>
                      <a:pt x="179" y="13"/>
                    </a:lnTo>
                    <a:lnTo>
                      <a:pt x="176" y="13"/>
                    </a:lnTo>
                    <a:lnTo>
                      <a:pt x="175" y="12"/>
                    </a:lnTo>
                    <a:lnTo>
                      <a:pt x="175" y="10"/>
                    </a:lnTo>
                    <a:lnTo>
                      <a:pt x="173" y="10"/>
                    </a:lnTo>
                    <a:lnTo>
                      <a:pt x="173" y="12"/>
                    </a:lnTo>
                    <a:lnTo>
                      <a:pt x="171" y="10"/>
                    </a:lnTo>
                    <a:lnTo>
                      <a:pt x="170" y="8"/>
                    </a:lnTo>
                    <a:lnTo>
                      <a:pt x="168" y="8"/>
                    </a:lnTo>
                    <a:lnTo>
                      <a:pt x="168" y="7"/>
                    </a:lnTo>
                    <a:lnTo>
                      <a:pt x="167" y="7"/>
                    </a:lnTo>
                    <a:lnTo>
                      <a:pt x="167" y="8"/>
                    </a:lnTo>
                    <a:lnTo>
                      <a:pt x="167" y="10"/>
                    </a:lnTo>
                    <a:lnTo>
                      <a:pt x="167" y="12"/>
                    </a:lnTo>
                    <a:lnTo>
                      <a:pt x="168" y="10"/>
                    </a:lnTo>
                    <a:lnTo>
                      <a:pt x="170" y="12"/>
                    </a:lnTo>
                    <a:lnTo>
                      <a:pt x="171" y="12"/>
                    </a:lnTo>
                    <a:lnTo>
                      <a:pt x="171" y="16"/>
                    </a:lnTo>
                    <a:lnTo>
                      <a:pt x="170" y="18"/>
                    </a:lnTo>
                    <a:lnTo>
                      <a:pt x="167" y="18"/>
                    </a:lnTo>
                    <a:lnTo>
                      <a:pt x="165" y="18"/>
                    </a:lnTo>
                    <a:lnTo>
                      <a:pt x="163" y="18"/>
                    </a:lnTo>
                    <a:lnTo>
                      <a:pt x="162" y="18"/>
                    </a:lnTo>
                    <a:lnTo>
                      <a:pt x="159" y="18"/>
                    </a:lnTo>
                    <a:lnTo>
                      <a:pt x="159" y="19"/>
                    </a:lnTo>
                    <a:lnTo>
                      <a:pt x="157" y="18"/>
                    </a:lnTo>
                    <a:lnTo>
                      <a:pt x="155" y="19"/>
                    </a:lnTo>
                    <a:lnTo>
                      <a:pt x="157" y="23"/>
                    </a:lnTo>
                    <a:lnTo>
                      <a:pt x="155" y="23"/>
                    </a:lnTo>
                    <a:lnTo>
                      <a:pt x="154" y="21"/>
                    </a:lnTo>
                    <a:lnTo>
                      <a:pt x="152" y="21"/>
                    </a:lnTo>
                    <a:lnTo>
                      <a:pt x="152" y="23"/>
                    </a:lnTo>
                    <a:lnTo>
                      <a:pt x="151" y="23"/>
                    </a:lnTo>
                    <a:lnTo>
                      <a:pt x="149" y="24"/>
                    </a:lnTo>
                    <a:lnTo>
                      <a:pt x="149" y="26"/>
                    </a:lnTo>
                    <a:lnTo>
                      <a:pt x="149" y="27"/>
                    </a:lnTo>
                    <a:lnTo>
                      <a:pt x="149" y="29"/>
                    </a:lnTo>
                    <a:lnTo>
                      <a:pt x="151" y="27"/>
                    </a:lnTo>
                    <a:lnTo>
                      <a:pt x="151" y="31"/>
                    </a:lnTo>
                    <a:lnTo>
                      <a:pt x="149" y="32"/>
                    </a:lnTo>
                    <a:lnTo>
                      <a:pt x="147" y="32"/>
                    </a:lnTo>
                    <a:lnTo>
                      <a:pt x="146" y="31"/>
                    </a:lnTo>
                    <a:lnTo>
                      <a:pt x="146" y="32"/>
                    </a:lnTo>
                    <a:lnTo>
                      <a:pt x="146" y="34"/>
                    </a:lnTo>
                    <a:lnTo>
                      <a:pt x="144" y="37"/>
                    </a:lnTo>
                    <a:lnTo>
                      <a:pt x="143" y="37"/>
                    </a:lnTo>
                    <a:lnTo>
                      <a:pt x="141" y="40"/>
                    </a:lnTo>
                    <a:lnTo>
                      <a:pt x="146" y="45"/>
                    </a:lnTo>
                    <a:lnTo>
                      <a:pt x="144" y="45"/>
                    </a:lnTo>
                    <a:lnTo>
                      <a:pt x="146" y="48"/>
                    </a:lnTo>
                    <a:lnTo>
                      <a:pt x="144" y="48"/>
                    </a:lnTo>
                    <a:lnTo>
                      <a:pt x="141" y="45"/>
                    </a:lnTo>
                    <a:lnTo>
                      <a:pt x="139" y="45"/>
                    </a:lnTo>
                    <a:lnTo>
                      <a:pt x="138" y="45"/>
                    </a:lnTo>
                    <a:lnTo>
                      <a:pt x="136" y="45"/>
                    </a:lnTo>
                    <a:lnTo>
                      <a:pt x="135" y="45"/>
                    </a:lnTo>
                    <a:lnTo>
                      <a:pt x="133" y="45"/>
                    </a:lnTo>
                    <a:lnTo>
                      <a:pt x="133" y="47"/>
                    </a:lnTo>
                    <a:lnTo>
                      <a:pt x="131" y="47"/>
                    </a:lnTo>
                    <a:lnTo>
                      <a:pt x="131" y="48"/>
                    </a:lnTo>
                    <a:lnTo>
                      <a:pt x="131" y="50"/>
                    </a:lnTo>
                    <a:lnTo>
                      <a:pt x="130" y="50"/>
                    </a:lnTo>
                    <a:lnTo>
                      <a:pt x="130" y="47"/>
                    </a:lnTo>
                    <a:lnTo>
                      <a:pt x="130" y="45"/>
                    </a:lnTo>
                    <a:lnTo>
                      <a:pt x="128" y="43"/>
                    </a:lnTo>
                    <a:lnTo>
                      <a:pt x="125" y="39"/>
                    </a:lnTo>
                    <a:lnTo>
                      <a:pt x="123" y="39"/>
                    </a:lnTo>
                    <a:lnTo>
                      <a:pt x="122" y="37"/>
                    </a:lnTo>
                    <a:lnTo>
                      <a:pt x="120" y="37"/>
                    </a:lnTo>
                    <a:lnTo>
                      <a:pt x="119" y="37"/>
                    </a:lnTo>
                    <a:lnTo>
                      <a:pt x="117" y="35"/>
                    </a:lnTo>
                    <a:lnTo>
                      <a:pt x="115" y="37"/>
                    </a:lnTo>
                    <a:lnTo>
                      <a:pt x="117" y="37"/>
                    </a:lnTo>
                    <a:lnTo>
                      <a:pt x="115" y="39"/>
                    </a:lnTo>
                    <a:lnTo>
                      <a:pt x="114" y="40"/>
                    </a:lnTo>
                    <a:lnTo>
                      <a:pt x="112" y="40"/>
                    </a:lnTo>
                    <a:lnTo>
                      <a:pt x="112" y="39"/>
                    </a:lnTo>
                    <a:lnTo>
                      <a:pt x="112" y="40"/>
                    </a:lnTo>
                    <a:lnTo>
                      <a:pt x="111" y="40"/>
                    </a:lnTo>
                    <a:lnTo>
                      <a:pt x="111" y="39"/>
                    </a:lnTo>
                    <a:lnTo>
                      <a:pt x="109" y="39"/>
                    </a:lnTo>
                    <a:lnTo>
                      <a:pt x="111" y="40"/>
                    </a:lnTo>
                    <a:lnTo>
                      <a:pt x="111" y="42"/>
                    </a:lnTo>
                    <a:lnTo>
                      <a:pt x="109" y="43"/>
                    </a:lnTo>
                    <a:lnTo>
                      <a:pt x="108" y="45"/>
                    </a:lnTo>
                    <a:lnTo>
                      <a:pt x="108" y="43"/>
                    </a:lnTo>
                    <a:lnTo>
                      <a:pt x="106" y="45"/>
                    </a:lnTo>
                    <a:lnTo>
                      <a:pt x="104" y="45"/>
                    </a:lnTo>
                    <a:lnTo>
                      <a:pt x="103" y="45"/>
                    </a:lnTo>
                    <a:lnTo>
                      <a:pt x="101" y="45"/>
                    </a:lnTo>
                    <a:lnTo>
                      <a:pt x="103" y="48"/>
                    </a:lnTo>
                    <a:lnTo>
                      <a:pt x="103" y="50"/>
                    </a:lnTo>
                    <a:lnTo>
                      <a:pt x="100" y="50"/>
                    </a:lnTo>
                    <a:lnTo>
                      <a:pt x="100" y="51"/>
                    </a:lnTo>
                    <a:lnTo>
                      <a:pt x="101" y="53"/>
                    </a:lnTo>
                    <a:lnTo>
                      <a:pt x="100" y="55"/>
                    </a:lnTo>
                    <a:lnTo>
                      <a:pt x="98" y="53"/>
                    </a:lnTo>
                    <a:lnTo>
                      <a:pt x="96" y="53"/>
                    </a:lnTo>
                    <a:lnTo>
                      <a:pt x="96" y="55"/>
                    </a:lnTo>
                    <a:lnTo>
                      <a:pt x="98" y="58"/>
                    </a:lnTo>
                    <a:lnTo>
                      <a:pt x="96" y="59"/>
                    </a:lnTo>
                    <a:lnTo>
                      <a:pt x="95" y="61"/>
                    </a:lnTo>
                    <a:lnTo>
                      <a:pt x="95" y="63"/>
                    </a:lnTo>
                    <a:lnTo>
                      <a:pt x="96" y="64"/>
                    </a:lnTo>
                    <a:lnTo>
                      <a:pt x="96" y="66"/>
                    </a:lnTo>
                    <a:lnTo>
                      <a:pt x="93" y="64"/>
                    </a:lnTo>
                    <a:lnTo>
                      <a:pt x="92" y="63"/>
                    </a:lnTo>
                    <a:lnTo>
                      <a:pt x="90" y="63"/>
                    </a:lnTo>
                    <a:lnTo>
                      <a:pt x="88" y="63"/>
                    </a:lnTo>
                    <a:lnTo>
                      <a:pt x="87" y="63"/>
                    </a:lnTo>
                    <a:lnTo>
                      <a:pt x="88" y="66"/>
                    </a:lnTo>
                    <a:lnTo>
                      <a:pt x="87" y="66"/>
                    </a:lnTo>
                    <a:lnTo>
                      <a:pt x="88" y="67"/>
                    </a:lnTo>
                    <a:lnTo>
                      <a:pt x="90" y="69"/>
                    </a:lnTo>
                    <a:lnTo>
                      <a:pt x="90" y="71"/>
                    </a:lnTo>
                    <a:lnTo>
                      <a:pt x="88" y="72"/>
                    </a:lnTo>
                    <a:lnTo>
                      <a:pt x="88" y="74"/>
                    </a:lnTo>
                    <a:lnTo>
                      <a:pt x="88" y="77"/>
                    </a:lnTo>
                    <a:lnTo>
                      <a:pt x="87" y="75"/>
                    </a:lnTo>
                    <a:lnTo>
                      <a:pt x="87" y="74"/>
                    </a:lnTo>
                    <a:lnTo>
                      <a:pt x="85" y="72"/>
                    </a:lnTo>
                    <a:lnTo>
                      <a:pt x="84" y="71"/>
                    </a:lnTo>
                    <a:lnTo>
                      <a:pt x="82" y="67"/>
                    </a:lnTo>
                    <a:lnTo>
                      <a:pt x="80" y="66"/>
                    </a:lnTo>
                    <a:lnTo>
                      <a:pt x="80" y="67"/>
                    </a:lnTo>
                    <a:lnTo>
                      <a:pt x="80" y="69"/>
                    </a:lnTo>
                    <a:lnTo>
                      <a:pt x="79" y="71"/>
                    </a:lnTo>
                    <a:lnTo>
                      <a:pt x="77" y="71"/>
                    </a:lnTo>
                    <a:lnTo>
                      <a:pt x="76" y="72"/>
                    </a:lnTo>
                    <a:lnTo>
                      <a:pt x="76" y="74"/>
                    </a:lnTo>
                    <a:lnTo>
                      <a:pt x="76" y="77"/>
                    </a:lnTo>
                    <a:lnTo>
                      <a:pt x="76" y="79"/>
                    </a:lnTo>
                    <a:lnTo>
                      <a:pt x="77" y="82"/>
                    </a:lnTo>
                    <a:lnTo>
                      <a:pt x="77" y="83"/>
                    </a:lnTo>
                    <a:lnTo>
                      <a:pt x="74" y="87"/>
                    </a:lnTo>
                    <a:lnTo>
                      <a:pt x="72" y="87"/>
                    </a:lnTo>
                    <a:lnTo>
                      <a:pt x="72" y="88"/>
                    </a:lnTo>
                    <a:lnTo>
                      <a:pt x="72" y="90"/>
                    </a:lnTo>
                    <a:lnTo>
                      <a:pt x="71" y="91"/>
                    </a:lnTo>
                    <a:lnTo>
                      <a:pt x="71" y="93"/>
                    </a:lnTo>
                    <a:lnTo>
                      <a:pt x="71" y="95"/>
                    </a:lnTo>
                    <a:lnTo>
                      <a:pt x="68" y="98"/>
                    </a:lnTo>
                    <a:lnTo>
                      <a:pt x="66" y="99"/>
                    </a:lnTo>
                    <a:lnTo>
                      <a:pt x="64" y="101"/>
                    </a:lnTo>
                    <a:lnTo>
                      <a:pt x="60" y="103"/>
                    </a:lnTo>
                    <a:lnTo>
                      <a:pt x="58" y="103"/>
                    </a:lnTo>
                    <a:lnTo>
                      <a:pt x="56" y="104"/>
                    </a:lnTo>
                    <a:lnTo>
                      <a:pt x="55" y="104"/>
                    </a:lnTo>
                    <a:lnTo>
                      <a:pt x="53" y="106"/>
                    </a:lnTo>
                    <a:lnTo>
                      <a:pt x="52" y="104"/>
                    </a:lnTo>
                    <a:lnTo>
                      <a:pt x="48" y="106"/>
                    </a:lnTo>
                    <a:lnTo>
                      <a:pt x="45" y="109"/>
                    </a:lnTo>
                    <a:lnTo>
                      <a:pt x="44" y="109"/>
                    </a:lnTo>
                    <a:lnTo>
                      <a:pt x="42" y="111"/>
                    </a:lnTo>
                    <a:lnTo>
                      <a:pt x="40" y="111"/>
                    </a:lnTo>
                    <a:lnTo>
                      <a:pt x="39" y="112"/>
                    </a:lnTo>
                    <a:lnTo>
                      <a:pt x="37" y="114"/>
                    </a:lnTo>
                    <a:lnTo>
                      <a:pt x="36" y="114"/>
                    </a:lnTo>
                    <a:lnTo>
                      <a:pt x="34" y="115"/>
                    </a:lnTo>
                    <a:lnTo>
                      <a:pt x="32" y="115"/>
                    </a:lnTo>
                    <a:lnTo>
                      <a:pt x="31" y="114"/>
                    </a:lnTo>
                    <a:lnTo>
                      <a:pt x="28" y="115"/>
                    </a:lnTo>
                    <a:lnTo>
                      <a:pt x="28" y="114"/>
                    </a:lnTo>
                    <a:lnTo>
                      <a:pt x="26" y="115"/>
                    </a:lnTo>
                    <a:lnTo>
                      <a:pt x="24" y="117"/>
                    </a:lnTo>
                    <a:lnTo>
                      <a:pt x="23" y="119"/>
                    </a:lnTo>
                    <a:lnTo>
                      <a:pt x="21" y="119"/>
                    </a:lnTo>
                    <a:lnTo>
                      <a:pt x="20" y="120"/>
                    </a:lnTo>
                    <a:lnTo>
                      <a:pt x="18" y="123"/>
                    </a:lnTo>
                    <a:lnTo>
                      <a:pt x="16" y="125"/>
                    </a:lnTo>
                    <a:lnTo>
                      <a:pt x="16" y="127"/>
                    </a:lnTo>
                    <a:lnTo>
                      <a:pt x="13" y="128"/>
                    </a:lnTo>
                    <a:lnTo>
                      <a:pt x="12" y="130"/>
                    </a:lnTo>
                    <a:lnTo>
                      <a:pt x="10" y="130"/>
                    </a:lnTo>
                    <a:lnTo>
                      <a:pt x="10" y="131"/>
                    </a:lnTo>
                    <a:lnTo>
                      <a:pt x="8" y="131"/>
                    </a:lnTo>
                    <a:lnTo>
                      <a:pt x="7" y="135"/>
                    </a:lnTo>
                    <a:lnTo>
                      <a:pt x="7" y="138"/>
                    </a:lnTo>
                    <a:lnTo>
                      <a:pt x="5" y="139"/>
                    </a:lnTo>
                    <a:lnTo>
                      <a:pt x="4" y="139"/>
                    </a:lnTo>
                    <a:lnTo>
                      <a:pt x="4" y="138"/>
                    </a:lnTo>
                    <a:lnTo>
                      <a:pt x="4" y="136"/>
                    </a:lnTo>
                    <a:lnTo>
                      <a:pt x="4" y="135"/>
                    </a:lnTo>
                    <a:lnTo>
                      <a:pt x="4" y="131"/>
                    </a:lnTo>
                    <a:lnTo>
                      <a:pt x="2" y="133"/>
                    </a:lnTo>
                    <a:lnTo>
                      <a:pt x="2" y="136"/>
                    </a:lnTo>
                    <a:lnTo>
                      <a:pt x="0" y="138"/>
                    </a:lnTo>
                    <a:lnTo>
                      <a:pt x="0" y="141"/>
                    </a:lnTo>
                    <a:lnTo>
                      <a:pt x="2" y="144"/>
                    </a:lnTo>
                    <a:lnTo>
                      <a:pt x="4" y="147"/>
                    </a:lnTo>
                    <a:lnTo>
                      <a:pt x="4" y="149"/>
                    </a:lnTo>
                    <a:lnTo>
                      <a:pt x="4" y="150"/>
                    </a:lnTo>
                    <a:lnTo>
                      <a:pt x="2" y="154"/>
                    </a:lnTo>
                    <a:lnTo>
                      <a:pt x="0" y="155"/>
                    </a:lnTo>
                    <a:lnTo>
                      <a:pt x="2" y="160"/>
                    </a:lnTo>
                    <a:lnTo>
                      <a:pt x="5" y="163"/>
                    </a:lnTo>
                    <a:lnTo>
                      <a:pt x="7" y="166"/>
                    </a:lnTo>
                    <a:lnTo>
                      <a:pt x="8" y="168"/>
                    </a:lnTo>
                    <a:lnTo>
                      <a:pt x="8" y="170"/>
                    </a:lnTo>
                    <a:lnTo>
                      <a:pt x="10" y="171"/>
                    </a:lnTo>
                    <a:lnTo>
                      <a:pt x="12" y="173"/>
                    </a:lnTo>
                    <a:lnTo>
                      <a:pt x="13" y="176"/>
                    </a:lnTo>
                    <a:lnTo>
                      <a:pt x="13" y="178"/>
                    </a:lnTo>
                    <a:lnTo>
                      <a:pt x="13" y="179"/>
                    </a:lnTo>
                    <a:lnTo>
                      <a:pt x="12" y="179"/>
                    </a:lnTo>
                    <a:lnTo>
                      <a:pt x="10" y="178"/>
                    </a:lnTo>
                    <a:lnTo>
                      <a:pt x="10" y="176"/>
                    </a:lnTo>
                    <a:lnTo>
                      <a:pt x="8" y="178"/>
                    </a:lnTo>
                    <a:close/>
                    <a:moveTo>
                      <a:pt x="304" y="317"/>
                    </a:moveTo>
                    <a:lnTo>
                      <a:pt x="304" y="312"/>
                    </a:lnTo>
                    <a:lnTo>
                      <a:pt x="304" y="310"/>
                    </a:lnTo>
                    <a:lnTo>
                      <a:pt x="304" y="309"/>
                    </a:lnTo>
                    <a:lnTo>
                      <a:pt x="304" y="305"/>
                    </a:lnTo>
                    <a:lnTo>
                      <a:pt x="304" y="304"/>
                    </a:lnTo>
                    <a:lnTo>
                      <a:pt x="302" y="304"/>
                    </a:lnTo>
                    <a:lnTo>
                      <a:pt x="301" y="305"/>
                    </a:lnTo>
                    <a:lnTo>
                      <a:pt x="301" y="304"/>
                    </a:lnTo>
                    <a:lnTo>
                      <a:pt x="299" y="304"/>
                    </a:lnTo>
                    <a:lnTo>
                      <a:pt x="298" y="305"/>
                    </a:lnTo>
                    <a:lnTo>
                      <a:pt x="296" y="305"/>
                    </a:lnTo>
                    <a:lnTo>
                      <a:pt x="294" y="305"/>
                    </a:lnTo>
                    <a:lnTo>
                      <a:pt x="293" y="307"/>
                    </a:lnTo>
                    <a:lnTo>
                      <a:pt x="291" y="307"/>
                    </a:lnTo>
                    <a:lnTo>
                      <a:pt x="286" y="305"/>
                    </a:lnTo>
                    <a:lnTo>
                      <a:pt x="283" y="302"/>
                    </a:lnTo>
                    <a:lnTo>
                      <a:pt x="282" y="302"/>
                    </a:lnTo>
                    <a:lnTo>
                      <a:pt x="280" y="302"/>
                    </a:lnTo>
                    <a:lnTo>
                      <a:pt x="280" y="301"/>
                    </a:lnTo>
                    <a:lnTo>
                      <a:pt x="278" y="301"/>
                    </a:lnTo>
                    <a:lnTo>
                      <a:pt x="278" y="305"/>
                    </a:lnTo>
                    <a:lnTo>
                      <a:pt x="280" y="313"/>
                    </a:lnTo>
                    <a:lnTo>
                      <a:pt x="282" y="317"/>
                    </a:lnTo>
                    <a:lnTo>
                      <a:pt x="283" y="317"/>
                    </a:lnTo>
                    <a:lnTo>
                      <a:pt x="282" y="318"/>
                    </a:lnTo>
                    <a:lnTo>
                      <a:pt x="280" y="315"/>
                    </a:lnTo>
                    <a:lnTo>
                      <a:pt x="282" y="321"/>
                    </a:lnTo>
                    <a:lnTo>
                      <a:pt x="282" y="323"/>
                    </a:lnTo>
                    <a:lnTo>
                      <a:pt x="283" y="323"/>
                    </a:lnTo>
                    <a:lnTo>
                      <a:pt x="285" y="326"/>
                    </a:lnTo>
                    <a:lnTo>
                      <a:pt x="285" y="328"/>
                    </a:lnTo>
                    <a:lnTo>
                      <a:pt x="286" y="328"/>
                    </a:lnTo>
                    <a:lnTo>
                      <a:pt x="285" y="328"/>
                    </a:lnTo>
                    <a:lnTo>
                      <a:pt x="285" y="329"/>
                    </a:lnTo>
                    <a:lnTo>
                      <a:pt x="286" y="329"/>
                    </a:lnTo>
                    <a:lnTo>
                      <a:pt x="288" y="331"/>
                    </a:lnTo>
                    <a:lnTo>
                      <a:pt x="288" y="329"/>
                    </a:lnTo>
                    <a:lnTo>
                      <a:pt x="290" y="331"/>
                    </a:lnTo>
                    <a:lnTo>
                      <a:pt x="291" y="331"/>
                    </a:lnTo>
                    <a:lnTo>
                      <a:pt x="293" y="329"/>
                    </a:lnTo>
                    <a:lnTo>
                      <a:pt x="293" y="328"/>
                    </a:lnTo>
                    <a:lnTo>
                      <a:pt x="293" y="326"/>
                    </a:lnTo>
                    <a:lnTo>
                      <a:pt x="294" y="326"/>
                    </a:lnTo>
                    <a:lnTo>
                      <a:pt x="294" y="328"/>
                    </a:lnTo>
                    <a:lnTo>
                      <a:pt x="294" y="326"/>
                    </a:lnTo>
                    <a:lnTo>
                      <a:pt x="296" y="326"/>
                    </a:lnTo>
                    <a:lnTo>
                      <a:pt x="296" y="325"/>
                    </a:lnTo>
                    <a:lnTo>
                      <a:pt x="298" y="325"/>
                    </a:lnTo>
                    <a:lnTo>
                      <a:pt x="298" y="323"/>
                    </a:lnTo>
                    <a:lnTo>
                      <a:pt x="299" y="325"/>
                    </a:lnTo>
                    <a:lnTo>
                      <a:pt x="299" y="323"/>
                    </a:lnTo>
                    <a:lnTo>
                      <a:pt x="301" y="321"/>
                    </a:lnTo>
                    <a:lnTo>
                      <a:pt x="301" y="318"/>
                    </a:lnTo>
                    <a:lnTo>
                      <a:pt x="302" y="317"/>
                    </a:lnTo>
                    <a:lnTo>
                      <a:pt x="304" y="317"/>
                    </a:lnTo>
                    <a:close/>
                    <a:moveTo>
                      <a:pt x="210" y="10"/>
                    </a:moveTo>
                    <a:lnTo>
                      <a:pt x="210" y="8"/>
                    </a:lnTo>
                    <a:lnTo>
                      <a:pt x="211" y="7"/>
                    </a:lnTo>
                    <a:lnTo>
                      <a:pt x="211" y="5"/>
                    </a:lnTo>
                    <a:lnTo>
                      <a:pt x="210" y="5"/>
                    </a:lnTo>
                    <a:lnTo>
                      <a:pt x="210" y="7"/>
                    </a:lnTo>
                    <a:lnTo>
                      <a:pt x="210" y="8"/>
                    </a:lnTo>
                    <a:lnTo>
                      <a:pt x="210" y="10"/>
                    </a:lnTo>
                    <a:close/>
                    <a:moveTo>
                      <a:pt x="167" y="12"/>
                    </a:moveTo>
                    <a:lnTo>
                      <a:pt x="165" y="8"/>
                    </a:lnTo>
                    <a:lnTo>
                      <a:pt x="163" y="8"/>
                    </a:lnTo>
                    <a:lnTo>
                      <a:pt x="165" y="10"/>
                    </a:lnTo>
                    <a:lnTo>
                      <a:pt x="167" y="12"/>
                    </a:lnTo>
                    <a:close/>
                    <a:moveTo>
                      <a:pt x="151" y="10"/>
                    </a:moveTo>
                    <a:lnTo>
                      <a:pt x="152" y="13"/>
                    </a:lnTo>
                    <a:lnTo>
                      <a:pt x="154" y="13"/>
                    </a:lnTo>
                    <a:lnTo>
                      <a:pt x="155" y="15"/>
                    </a:lnTo>
                    <a:lnTo>
                      <a:pt x="157" y="15"/>
                    </a:lnTo>
                    <a:lnTo>
                      <a:pt x="159" y="13"/>
                    </a:lnTo>
                    <a:lnTo>
                      <a:pt x="160" y="12"/>
                    </a:lnTo>
                    <a:lnTo>
                      <a:pt x="160" y="10"/>
                    </a:lnTo>
                    <a:lnTo>
                      <a:pt x="159" y="8"/>
                    </a:lnTo>
                    <a:lnTo>
                      <a:pt x="157" y="10"/>
                    </a:lnTo>
                    <a:lnTo>
                      <a:pt x="155" y="10"/>
                    </a:lnTo>
                    <a:lnTo>
                      <a:pt x="154" y="10"/>
                    </a:lnTo>
                    <a:lnTo>
                      <a:pt x="152" y="10"/>
                    </a:lnTo>
                    <a:lnTo>
                      <a:pt x="151" y="10"/>
                    </a:lnTo>
                    <a:close/>
                    <a:moveTo>
                      <a:pt x="147" y="15"/>
                    </a:moveTo>
                    <a:lnTo>
                      <a:pt x="152" y="15"/>
                    </a:lnTo>
                    <a:lnTo>
                      <a:pt x="151" y="13"/>
                    </a:lnTo>
                    <a:lnTo>
                      <a:pt x="149" y="12"/>
                    </a:lnTo>
                    <a:lnTo>
                      <a:pt x="149" y="10"/>
                    </a:lnTo>
                    <a:lnTo>
                      <a:pt x="147" y="10"/>
                    </a:lnTo>
                    <a:lnTo>
                      <a:pt x="147" y="12"/>
                    </a:lnTo>
                    <a:lnTo>
                      <a:pt x="147" y="13"/>
                    </a:lnTo>
                    <a:lnTo>
                      <a:pt x="147" y="15"/>
                    </a:lnTo>
                    <a:close/>
                    <a:moveTo>
                      <a:pt x="213" y="37"/>
                    </a:moveTo>
                    <a:lnTo>
                      <a:pt x="215" y="35"/>
                    </a:lnTo>
                    <a:lnTo>
                      <a:pt x="213" y="32"/>
                    </a:lnTo>
                    <a:lnTo>
                      <a:pt x="211" y="32"/>
                    </a:lnTo>
                    <a:lnTo>
                      <a:pt x="211" y="31"/>
                    </a:lnTo>
                    <a:lnTo>
                      <a:pt x="211" y="32"/>
                    </a:lnTo>
                    <a:lnTo>
                      <a:pt x="210" y="32"/>
                    </a:lnTo>
                    <a:lnTo>
                      <a:pt x="210" y="35"/>
                    </a:lnTo>
                    <a:lnTo>
                      <a:pt x="211" y="37"/>
                    </a:lnTo>
                    <a:lnTo>
                      <a:pt x="213" y="37"/>
                    </a:lnTo>
                    <a:close/>
                    <a:moveTo>
                      <a:pt x="239" y="61"/>
                    </a:moveTo>
                    <a:lnTo>
                      <a:pt x="240" y="59"/>
                    </a:lnTo>
                    <a:lnTo>
                      <a:pt x="242" y="58"/>
                    </a:lnTo>
                    <a:lnTo>
                      <a:pt x="240" y="58"/>
                    </a:lnTo>
                    <a:lnTo>
                      <a:pt x="239" y="58"/>
                    </a:lnTo>
                    <a:lnTo>
                      <a:pt x="237" y="59"/>
                    </a:lnTo>
                    <a:lnTo>
                      <a:pt x="239" y="61"/>
                    </a:lnTo>
                    <a:close/>
                    <a:moveTo>
                      <a:pt x="8" y="178"/>
                    </a:moveTo>
                    <a:lnTo>
                      <a:pt x="8" y="176"/>
                    </a:lnTo>
                    <a:lnTo>
                      <a:pt x="7" y="174"/>
                    </a:lnTo>
                    <a:lnTo>
                      <a:pt x="5" y="173"/>
                    </a:lnTo>
                    <a:lnTo>
                      <a:pt x="5" y="171"/>
                    </a:lnTo>
                    <a:lnTo>
                      <a:pt x="5" y="173"/>
                    </a:lnTo>
                    <a:lnTo>
                      <a:pt x="8" y="178"/>
                    </a:lnTo>
                    <a:close/>
                    <a:moveTo>
                      <a:pt x="224" y="253"/>
                    </a:moveTo>
                    <a:lnTo>
                      <a:pt x="224" y="251"/>
                    </a:lnTo>
                    <a:lnTo>
                      <a:pt x="227" y="251"/>
                    </a:lnTo>
                    <a:lnTo>
                      <a:pt x="229" y="251"/>
                    </a:lnTo>
                    <a:lnTo>
                      <a:pt x="227" y="250"/>
                    </a:lnTo>
                    <a:lnTo>
                      <a:pt x="226" y="250"/>
                    </a:lnTo>
                    <a:lnTo>
                      <a:pt x="224" y="250"/>
                    </a:lnTo>
                    <a:lnTo>
                      <a:pt x="224" y="248"/>
                    </a:lnTo>
                    <a:lnTo>
                      <a:pt x="223" y="248"/>
                    </a:lnTo>
                    <a:lnTo>
                      <a:pt x="218" y="250"/>
                    </a:lnTo>
                    <a:lnTo>
                      <a:pt x="216" y="250"/>
                    </a:lnTo>
                    <a:lnTo>
                      <a:pt x="216" y="251"/>
                    </a:lnTo>
                    <a:lnTo>
                      <a:pt x="216" y="253"/>
                    </a:lnTo>
                    <a:lnTo>
                      <a:pt x="218" y="253"/>
                    </a:lnTo>
                    <a:lnTo>
                      <a:pt x="223" y="253"/>
                    </a:lnTo>
                    <a:lnTo>
                      <a:pt x="224" y="253"/>
                    </a:lnTo>
                    <a:close/>
                    <a:moveTo>
                      <a:pt x="306" y="296"/>
                    </a:moveTo>
                    <a:lnTo>
                      <a:pt x="304" y="293"/>
                    </a:lnTo>
                    <a:lnTo>
                      <a:pt x="302" y="294"/>
                    </a:lnTo>
                    <a:lnTo>
                      <a:pt x="302" y="296"/>
                    </a:lnTo>
                    <a:lnTo>
                      <a:pt x="304" y="297"/>
                    </a:lnTo>
                    <a:lnTo>
                      <a:pt x="304" y="299"/>
                    </a:lnTo>
                    <a:lnTo>
                      <a:pt x="306" y="299"/>
                    </a:lnTo>
                    <a:lnTo>
                      <a:pt x="306" y="297"/>
                    </a:lnTo>
                    <a:lnTo>
                      <a:pt x="306" y="296"/>
                    </a:lnTo>
                    <a:close/>
                    <a:moveTo>
                      <a:pt x="306" y="301"/>
                    </a:moveTo>
                    <a:lnTo>
                      <a:pt x="307" y="301"/>
                    </a:lnTo>
                    <a:lnTo>
                      <a:pt x="306" y="299"/>
                    </a:lnTo>
                    <a:lnTo>
                      <a:pt x="304" y="301"/>
                    </a:lnTo>
                    <a:lnTo>
                      <a:pt x="306" y="301"/>
                    </a:lnTo>
                    <a:close/>
                  </a:path>
                </a:pathLst>
              </a:custGeom>
              <a:solidFill>
                <a:srgbClr val="FFE600"/>
              </a:solidFill>
              <a:ln w="9525">
                <a:noFill/>
                <a:round/>
                <a:headEnd/>
                <a:tailEnd/>
              </a:ln>
            </p:spPr>
            <p:txBody>
              <a:bodyPr wrap="none" anchor="ctr"/>
              <a:lstStyle/>
              <a:p>
                <a:endParaRPr lang="en-US"/>
              </a:p>
            </p:txBody>
          </p:sp>
          <p:sp>
            <p:nvSpPr>
              <p:cNvPr id="17419" name="Line 11"/>
              <p:cNvSpPr>
                <a:spLocks noChangeShapeType="1"/>
              </p:cNvSpPr>
              <p:nvPr/>
            </p:nvSpPr>
            <p:spPr bwMode="auto">
              <a:xfrm>
                <a:off x="1540" y="307"/>
                <a:ext cx="1" cy="1"/>
              </a:xfrm>
              <a:prstGeom prst="line">
                <a:avLst/>
              </a:prstGeom>
              <a:noFill/>
              <a:ln w="4680">
                <a:solidFill>
                  <a:srgbClr val="000000"/>
                </a:solidFill>
                <a:miter lim="800000"/>
                <a:headEnd/>
                <a:tailEnd/>
              </a:ln>
            </p:spPr>
            <p:txBody>
              <a:bodyPr/>
              <a:lstStyle/>
              <a:p>
                <a:endParaRPr lang="en-US"/>
              </a:p>
            </p:txBody>
          </p:sp>
          <p:sp>
            <p:nvSpPr>
              <p:cNvPr id="17420" name="Freeform 12"/>
              <p:cNvSpPr>
                <a:spLocks noChangeArrowheads="1"/>
              </p:cNvSpPr>
              <p:nvPr/>
            </p:nvSpPr>
            <p:spPr bwMode="auto">
              <a:xfrm>
                <a:off x="1677" y="317"/>
                <a:ext cx="127" cy="35"/>
              </a:xfrm>
              <a:custGeom>
                <a:avLst/>
                <a:gdLst>
                  <a:gd name="T0" fmla="*/ 127 w 127"/>
                  <a:gd name="T1" fmla="*/ 0 h 35"/>
                  <a:gd name="T2" fmla="*/ 127 w 127"/>
                  <a:gd name="T3" fmla="*/ 0 h 35"/>
                  <a:gd name="T4" fmla="*/ 120 w 127"/>
                  <a:gd name="T5" fmla="*/ 3 h 35"/>
                  <a:gd name="T6" fmla="*/ 114 w 127"/>
                  <a:gd name="T7" fmla="*/ 6 h 35"/>
                  <a:gd name="T8" fmla="*/ 100 w 127"/>
                  <a:gd name="T9" fmla="*/ 11 h 35"/>
                  <a:gd name="T10" fmla="*/ 84 w 127"/>
                  <a:gd name="T11" fmla="*/ 11 h 35"/>
                  <a:gd name="T12" fmla="*/ 68 w 127"/>
                  <a:gd name="T13" fmla="*/ 11 h 35"/>
                  <a:gd name="T14" fmla="*/ 53 w 127"/>
                  <a:gd name="T15" fmla="*/ 11 h 35"/>
                  <a:gd name="T16" fmla="*/ 37 w 127"/>
                  <a:gd name="T17" fmla="*/ 13 h 35"/>
                  <a:gd name="T18" fmla="*/ 31 w 127"/>
                  <a:gd name="T19" fmla="*/ 14 h 35"/>
                  <a:gd name="T20" fmla="*/ 23 w 127"/>
                  <a:gd name="T21" fmla="*/ 18 h 35"/>
                  <a:gd name="T22" fmla="*/ 16 w 127"/>
                  <a:gd name="T23" fmla="*/ 21 h 35"/>
                  <a:gd name="T24" fmla="*/ 12 w 127"/>
                  <a:gd name="T25" fmla="*/ 26 h 35"/>
                  <a:gd name="T26" fmla="*/ 12 w 127"/>
                  <a:gd name="T27" fmla="*/ 26 h 35"/>
                  <a:gd name="T28" fmla="*/ 0 w 127"/>
                  <a:gd name="T29" fmla="*/ 35 h 35"/>
                  <a:gd name="T30" fmla="*/ 0 w 127"/>
                  <a:gd name="T31" fmla="*/ 35 h 35"/>
                  <a:gd name="T32" fmla="*/ 7 w 127"/>
                  <a:gd name="T33" fmla="*/ 32 h 35"/>
                  <a:gd name="T34" fmla="*/ 13 w 127"/>
                  <a:gd name="T35" fmla="*/ 29 h 35"/>
                  <a:gd name="T36" fmla="*/ 28 w 127"/>
                  <a:gd name="T37" fmla="*/ 26 h 35"/>
                  <a:gd name="T38" fmla="*/ 42 w 127"/>
                  <a:gd name="T39" fmla="*/ 24 h 35"/>
                  <a:gd name="T40" fmla="*/ 56 w 127"/>
                  <a:gd name="T41" fmla="*/ 24 h 35"/>
                  <a:gd name="T42" fmla="*/ 56 w 127"/>
                  <a:gd name="T43" fmla="*/ 24 h 35"/>
                  <a:gd name="T44" fmla="*/ 72 w 127"/>
                  <a:gd name="T45" fmla="*/ 24 h 35"/>
                  <a:gd name="T46" fmla="*/ 88 w 127"/>
                  <a:gd name="T47" fmla="*/ 22 h 35"/>
                  <a:gd name="T48" fmla="*/ 103 w 127"/>
                  <a:gd name="T49" fmla="*/ 19 h 35"/>
                  <a:gd name="T50" fmla="*/ 109 w 127"/>
                  <a:gd name="T51" fmla="*/ 14 h 35"/>
                  <a:gd name="T52" fmla="*/ 116 w 127"/>
                  <a:gd name="T53" fmla="*/ 11 h 35"/>
                  <a:gd name="T54" fmla="*/ 116 w 127"/>
                  <a:gd name="T55" fmla="*/ 11 h 35"/>
                  <a:gd name="T56" fmla="*/ 127 w 127"/>
                  <a:gd name="T57" fmla="*/ 0 h 35"/>
                  <a:gd name="T58" fmla="*/ 127 w 127"/>
                  <a:gd name="T59" fmla="*/ 0 h 3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27"/>
                  <a:gd name="T91" fmla="*/ 0 h 35"/>
                  <a:gd name="T92" fmla="*/ 127 w 127"/>
                  <a:gd name="T93" fmla="*/ 35 h 3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27" h="35">
                    <a:moveTo>
                      <a:pt x="127" y="0"/>
                    </a:moveTo>
                    <a:lnTo>
                      <a:pt x="127" y="0"/>
                    </a:lnTo>
                    <a:lnTo>
                      <a:pt x="120" y="3"/>
                    </a:lnTo>
                    <a:lnTo>
                      <a:pt x="114" y="6"/>
                    </a:lnTo>
                    <a:lnTo>
                      <a:pt x="100" y="11"/>
                    </a:lnTo>
                    <a:lnTo>
                      <a:pt x="84" y="11"/>
                    </a:lnTo>
                    <a:lnTo>
                      <a:pt x="68" y="11"/>
                    </a:lnTo>
                    <a:lnTo>
                      <a:pt x="53" y="11"/>
                    </a:lnTo>
                    <a:lnTo>
                      <a:pt x="37" y="13"/>
                    </a:lnTo>
                    <a:lnTo>
                      <a:pt x="31" y="14"/>
                    </a:lnTo>
                    <a:lnTo>
                      <a:pt x="23" y="18"/>
                    </a:lnTo>
                    <a:lnTo>
                      <a:pt x="16" y="21"/>
                    </a:lnTo>
                    <a:lnTo>
                      <a:pt x="12" y="26"/>
                    </a:lnTo>
                    <a:lnTo>
                      <a:pt x="0" y="35"/>
                    </a:lnTo>
                    <a:lnTo>
                      <a:pt x="7" y="32"/>
                    </a:lnTo>
                    <a:lnTo>
                      <a:pt x="13" y="29"/>
                    </a:lnTo>
                    <a:lnTo>
                      <a:pt x="28" y="26"/>
                    </a:lnTo>
                    <a:lnTo>
                      <a:pt x="42" y="24"/>
                    </a:lnTo>
                    <a:lnTo>
                      <a:pt x="56" y="24"/>
                    </a:lnTo>
                    <a:lnTo>
                      <a:pt x="72" y="24"/>
                    </a:lnTo>
                    <a:lnTo>
                      <a:pt x="88" y="22"/>
                    </a:lnTo>
                    <a:lnTo>
                      <a:pt x="103" y="19"/>
                    </a:lnTo>
                    <a:lnTo>
                      <a:pt x="109" y="14"/>
                    </a:lnTo>
                    <a:lnTo>
                      <a:pt x="116" y="11"/>
                    </a:lnTo>
                    <a:lnTo>
                      <a:pt x="127" y="0"/>
                    </a:lnTo>
                    <a:close/>
                  </a:path>
                </a:pathLst>
              </a:custGeom>
              <a:solidFill>
                <a:srgbClr val="00C014"/>
              </a:solidFill>
              <a:ln w="9525">
                <a:noFill/>
                <a:round/>
                <a:headEnd/>
                <a:tailEnd/>
              </a:ln>
            </p:spPr>
            <p:txBody>
              <a:bodyPr wrap="none" anchor="ctr"/>
              <a:lstStyle/>
              <a:p>
                <a:endParaRPr lang="en-US"/>
              </a:p>
            </p:txBody>
          </p:sp>
          <p:sp>
            <p:nvSpPr>
              <p:cNvPr id="17421" name="Freeform 13"/>
              <p:cNvSpPr>
                <a:spLocks noChangeArrowheads="1"/>
              </p:cNvSpPr>
              <p:nvPr/>
            </p:nvSpPr>
            <p:spPr bwMode="auto">
              <a:xfrm>
                <a:off x="1242" y="402"/>
                <a:ext cx="126" cy="36"/>
              </a:xfrm>
              <a:custGeom>
                <a:avLst/>
                <a:gdLst>
                  <a:gd name="T0" fmla="*/ 126 w 126"/>
                  <a:gd name="T1" fmla="*/ 0 h 36"/>
                  <a:gd name="T2" fmla="*/ 126 w 126"/>
                  <a:gd name="T3" fmla="*/ 0 h 36"/>
                  <a:gd name="T4" fmla="*/ 120 w 126"/>
                  <a:gd name="T5" fmla="*/ 5 h 36"/>
                  <a:gd name="T6" fmla="*/ 114 w 126"/>
                  <a:gd name="T7" fmla="*/ 8 h 36"/>
                  <a:gd name="T8" fmla="*/ 98 w 126"/>
                  <a:gd name="T9" fmla="*/ 11 h 36"/>
                  <a:gd name="T10" fmla="*/ 83 w 126"/>
                  <a:gd name="T11" fmla="*/ 13 h 36"/>
                  <a:gd name="T12" fmla="*/ 67 w 126"/>
                  <a:gd name="T13" fmla="*/ 13 h 36"/>
                  <a:gd name="T14" fmla="*/ 51 w 126"/>
                  <a:gd name="T15" fmla="*/ 13 h 36"/>
                  <a:gd name="T16" fmla="*/ 37 w 126"/>
                  <a:gd name="T17" fmla="*/ 14 h 36"/>
                  <a:gd name="T18" fmla="*/ 31 w 126"/>
                  <a:gd name="T19" fmla="*/ 16 h 36"/>
                  <a:gd name="T20" fmla="*/ 23 w 126"/>
                  <a:gd name="T21" fmla="*/ 17 h 36"/>
                  <a:gd name="T22" fmla="*/ 16 w 126"/>
                  <a:gd name="T23" fmla="*/ 21 h 36"/>
                  <a:gd name="T24" fmla="*/ 11 w 126"/>
                  <a:gd name="T25" fmla="*/ 25 h 36"/>
                  <a:gd name="T26" fmla="*/ 11 w 126"/>
                  <a:gd name="T27" fmla="*/ 25 h 36"/>
                  <a:gd name="T28" fmla="*/ 0 w 126"/>
                  <a:gd name="T29" fmla="*/ 36 h 36"/>
                  <a:gd name="T30" fmla="*/ 0 w 126"/>
                  <a:gd name="T31" fmla="*/ 36 h 36"/>
                  <a:gd name="T32" fmla="*/ 5 w 126"/>
                  <a:gd name="T33" fmla="*/ 32 h 36"/>
                  <a:gd name="T34" fmla="*/ 11 w 126"/>
                  <a:gd name="T35" fmla="*/ 28 h 36"/>
                  <a:gd name="T36" fmla="*/ 26 w 126"/>
                  <a:gd name="T37" fmla="*/ 25 h 36"/>
                  <a:gd name="T38" fmla="*/ 42 w 126"/>
                  <a:gd name="T39" fmla="*/ 24 h 36"/>
                  <a:gd name="T40" fmla="*/ 56 w 126"/>
                  <a:gd name="T41" fmla="*/ 25 h 36"/>
                  <a:gd name="T42" fmla="*/ 56 w 126"/>
                  <a:gd name="T43" fmla="*/ 25 h 36"/>
                  <a:gd name="T44" fmla="*/ 72 w 126"/>
                  <a:gd name="T45" fmla="*/ 25 h 36"/>
                  <a:gd name="T46" fmla="*/ 86 w 126"/>
                  <a:gd name="T47" fmla="*/ 24 h 36"/>
                  <a:gd name="T48" fmla="*/ 101 w 126"/>
                  <a:gd name="T49" fmla="*/ 19 h 36"/>
                  <a:gd name="T50" fmla="*/ 109 w 126"/>
                  <a:gd name="T51" fmla="*/ 16 h 36"/>
                  <a:gd name="T52" fmla="*/ 115 w 126"/>
                  <a:gd name="T53" fmla="*/ 11 h 36"/>
                  <a:gd name="T54" fmla="*/ 115 w 126"/>
                  <a:gd name="T55" fmla="*/ 11 h 36"/>
                  <a:gd name="T56" fmla="*/ 126 w 126"/>
                  <a:gd name="T57" fmla="*/ 0 h 36"/>
                  <a:gd name="T58" fmla="*/ 126 w 126"/>
                  <a:gd name="T59" fmla="*/ 0 h 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26"/>
                  <a:gd name="T91" fmla="*/ 0 h 36"/>
                  <a:gd name="T92" fmla="*/ 126 w 126"/>
                  <a:gd name="T93" fmla="*/ 36 h 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26" h="36">
                    <a:moveTo>
                      <a:pt x="126" y="0"/>
                    </a:moveTo>
                    <a:lnTo>
                      <a:pt x="126" y="0"/>
                    </a:lnTo>
                    <a:lnTo>
                      <a:pt x="120" y="5"/>
                    </a:lnTo>
                    <a:lnTo>
                      <a:pt x="114" y="8"/>
                    </a:lnTo>
                    <a:lnTo>
                      <a:pt x="98" y="11"/>
                    </a:lnTo>
                    <a:lnTo>
                      <a:pt x="83" y="13"/>
                    </a:lnTo>
                    <a:lnTo>
                      <a:pt x="67" y="13"/>
                    </a:lnTo>
                    <a:lnTo>
                      <a:pt x="51" y="13"/>
                    </a:lnTo>
                    <a:lnTo>
                      <a:pt x="37" y="14"/>
                    </a:lnTo>
                    <a:lnTo>
                      <a:pt x="31" y="16"/>
                    </a:lnTo>
                    <a:lnTo>
                      <a:pt x="23" y="17"/>
                    </a:lnTo>
                    <a:lnTo>
                      <a:pt x="16" y="21"/>
                    </a:lnTo>
                    <a:lnTo>
                      <a:pt x="11" y="25"/>
                    </a:lnTo>
                    <a:lnTo>
                      <a:pt x="0" y="36"/>
                    </a:lnTo>
                    <a:lnTo>
                      <a:pt x="5" y="32"/>
                    </a:lnTo>
                    <a:lnTo>
                      <a:pt x="11" y="28"/>
                    </a:lnTo>
                    <a:lnTo>
                      <a:pt x="26" y="25"/>
                    </a:lnTo>
                    <a:lnTo>
                      <a:pt x="42" y="24"/>
                    </a:lnTo>
                    <a:lnTo>
                      <a:pt x="56" y="25"/>
                    </a:lnTo>
                    <a:lnTo>
                      <a:pt x="72" y="25"/>
                    </a:lnTo>
                    <a:lnTo>
                      <a:pt x="86" y="24"/>
                    </a:lnTo>
                    <a:lnTo>
                      <a:pt x="101" y="19"/>
                    </a:lnTo>
                    <a:lnTo>
                      <a:pt x="109" y="16"/>
                    </a:lnTo>
                    <a:lnTo>
                      <a:pt x="115" y="11"/>
                    </a:lnTo>
                    <a:lnTo>
                      <a:pt x="126" y="0"/>
                    </a:lnTo>
                    <a:close/>
                  </a:path>
                </a:pathLst>
              </a:custGeom>
              <a:solidFill>
                <a:srgbClr val="00C014"/>
              </a:solidFill>
              <a:ln w="9525">
                <a:noFill/>
                <a:round/>
                <a:headEnd/>
                <a:tailEnd/>
              </a:ln>
            </p:spPr>
            <p:txBody>
              <a:bodyPr wrap="none" anchor="ctr"/>
              <a:lstStyle/>
              <a:p>
                <a:endParaRPr lang="en-US"/>
              </a:p>
            </p:txBody>
          </p:sp>
          <p:sp>
            <p:nvSpPr>
              <p:cNvPr id="17422" name="Freeform 14"/>
              <p:cNvSpPr>
                <a:spLocks noChangeArrowheads="1"/>
              </p:cNvSpPr>
              <p:nvPr/>
            </p:nvSpPr>
            <p:spPr bwMode="auto">
              <a:xfrm>
                <a:off x="1708" y="500"/>
                <a:ext cx="128" cy="37"/>
              </a:xfrm>
              <a:custGeom>
                <a:avLst/>
                <a:gdLst>
                  <a:gd name="T0" fmla="*/ 128 w 128"/>
                  <a:gd name="T1" fmla="*/ 0 h 37"/>
                  <a:gd name="T2" fmla="*/ 128 w 128"/>
                  <a:gd name="T3" fmla="*/ 0 h 37"/>
                  <a:gd name="T4" fmla="*/ 120 w 128"/>
                  <a:gd name="T5" fmla="*/ 5 h 37"/>
                  <a:gd name="T6" fmla="*/ 113 w 128"/>
                  <a:gd name="T7" fmla="*/ 8 h 37"/>
                  <a:gd name="T8" fmla="*/ 99 w 128"/>
                  <a:gd name="T9" fmla="*/ 11 h 37"/>
                  <a:gd name="T10" fmla="*/ 83 w 128"/>
                  <a:gd name="T11" fmla="*/ 13 h 37"/>
                  <a:gd name="T12" fmla="*/ 69 w 128"/>
                  <a:gd name="T13" fmla="*/ 13 h 37"/>
                  <a:gd name="T14" fmla="*/ 53 w 128"/>
                  <a:gd name="T15" fmla="*/ 13 h 37"/>
                  <a:gd name="T16" fmla="*/ 38 w 128"/>
                  <a:gd name="T17" fmla="*/ 14 h 37"/>
                  <a:gd name="T18" fmla="*/ 30 w 128"/>
                  <a:gd name="T19" fmla="*/ 16 h 37"/>
                  <a:gd name="T20" fmla="*/ 24 w 128"/>
                  <a:gd name="T21" fmla="*/ 17 h 37"/>
                  <a:gd name="T22" fmla="*/ 17 w 128"/>
                  <a:gd name="T23" fmla="*/ 22 h 37"/>
                  <a:gd name="T24" fmla="*/ 11 w 128"/>
                  <a:gd name="T25" fmla="*/ 27 h 37"/>
                  <a:gd name="T26" fmla="*/ 11 w 128"/>
                  <a:gd name="T27" fmla="*/ 27 h 37"/>
                  <a:gd name="T28" fmla="*/ 0 w 128"/>
                  <a:gd name="T29" fmla="*/ 37 h 37"/>
                  <a:gd name="T30" fmla="*/ 0 w 128"/>
                  <a:gd name="T31" fmla="*/ 37 h 37"/>
                  <a:gd name="T32" fmla="*/ 6 w 128"/>
                  <a:gd name="T33" fmla="*/ 33 h 37"/>
                  <a:gd name="T34" fmla="*/ 13 w 128"/>
                  <a:gd name="T35" fmla="*/ 30 h 37"/>
                  <a:gd name="T36" fmla="*/ 27 w 128"/>
                  <a:gd name="T37" fmla="*/ 25 h 37"/>
                  <a:gd name="T38" fmla="*/ 41 w 128"/>
                  <a:gd name="T39" fmla="*/ 25 h 37"/>
                  <a:gd name="T40" fmla="*/ 56 w 128"/>
                  <a:gd name="T41" fmla="*/ 25 h 37"/>
                  <a:gd name="T42" fmla="*/ 56 w 128"/>
                  <a:gd name="T43" fmla="*/ 25 h 37"/>
                  <a:gd name="T44" fmla="*/ 72 w 128"/>
                  <a:gd name="T45" fmla="*/ 25 h 37"/>
                  <a:gd name="T46" fmla="*/ 88 w 128"/>
                  <a:gd name="T47" fmla="*/ 24 h 37"/>
                  <a:gd name="T48" fmla="*/ 102 w 128"/>
                  <a:gd name="T49" fmla="*/ 19 h 37"/>
                  <a:gd name="T50" fmla="*/ 108 w 128"/>
                  <a:gd name="T51" fmla="*/ 16 h 37"/>
                  <a:gd name="T52" fmla="*/ 115 w 128"/>
                  <a:gd name="T53" fmla="*/ 11 h 37"/>
                  <a:gd name="T54" fmla="*/ 115 w 128"/>
                  <a:gd name="T55" fmla="*/ 11 h 37"/>
                  <a:gd name="T56" fmla="*/ 128 w 128"/>
                  <a:gd name="T57" fmla="*/ 0 h 37"/>
                  <a:gd name="T58" fmla="*/ 128 w 128"/>
                  <a:gd name="T59" fmla="*/ 0 h 3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28"/>
                  <a:gd name="T91" fmla="*/ 0 h 37"/>
                  <a:gd name="T92" fmla="*/ 128 w 128"/>
                  <a:gd name="T93" fmla="*/ 37 h 3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28" h="37">
                    <a:moveTo>
                      <a:pt x="128" y="0"/>
                    </a:moveTo>
                    <a:lnTo>
                      <a:pt x="128" y="0"/>
                    </a:lnTo>
                    <a:lnTo>
                      <a:pt x="120" y="5"/>
                    </a:lnTo>
                    <a:lnTo>
                      <a:pt x="113" y="8"/>
                    </a:lnTo>
                    <a:lnTo>
                      <a:pt x="99" y="11"/>
                    </a:lnTo>
                    <a:lnTo>
                      <a:pt x="83" y="13"/>
                    </a:lnTo>
                    <a:lnTo>
                      <a:pt x="69" y="13"/>
                    </a:lnTo>
                    <a:lnTo>
                      <a:pt x="53" y="13"/>
                    </a:lnTo>
                    <a:lnTo>
                      <a:pt x="38" y="14"/>
                    </a:lnTo>
                    <a:lnTo>
                      <a:pt x="30" y="16"/>
                    </a:lnTo>
                    <a:lnTo>
                      <a:pt x="24" y="17"/>
                    </a:lnTo>
                    <a:lnTo>
                      <a:pt x="17" y="22"/>
                    </a:lnTo>
                    <a:lnTo>
                      <a:pt x="11" y="27"/>
                    </a:lnTo>
                    <a:lnTo>
                      <a:pt x="0" y="37"/>
                    </a:lnTo>
                    <a:lnTo>
                      <a:pt x="6" y="33"/>
                    </a:lnTo>
                    <a:lnTo>
                      <a:pt x="13" y="30"/>
                    </a:lnTo>
                    <a:lnTo>
                      <a:pt x="27" y="25"/>
                    </a:lnTo>
                    <a:lnTo>
                      <a:pt x="41" y="25"/>
                    </a:lnTo>
                    <a:lnTo>
                      <a:pt x="56" y="25"/>
                    </a:lnTo>
                    <a:lnTo>
                      <a:pt x="72" y="25"/>
                    </a:lnTo>
                    <a:lnTo>
                      <a:pt x="88" y="24"/>
                    </a:lnTo>
                    <a:lnTo>
                      <a:pt x="102" y="19"/>
                    </a:lnTo>
                    <a:lnTo>
                      <a:pt x="108" y="16"/>
                    </a:lnTo>
                    <a:lnTo>
                      <a:pt x="115" y="11"/>
                    </a:lnTo>
                    <a:lnTo>
                      <a:pt x="128" y="0"/>
                    </a:lnTo>
                    <a:close/>
                  </a:path>
                </a:pathLst>
              </a:custGeom>
              <a:solidFill>
                <a:srgbClr val="00C014"/>
              </a:solidFill>
              <a:ln w="9525">
                <a:noFill/>
                <a:round/>
                <a:headEnd/>
                <a:tailEnd/>
              </a:ln>
            </p:spPr>
            <p:txBody>
              <a:bodyPr wrap="none" anchor="ctr"/>
              <a:lstStyle/>
              <a:p>
                <a:endParaRPr lang="en-US"/>
              </a:p>
            </p:txBody>
          </p:sp>
          <p:sp>
            <p:nvSpPr>
              <p:cNvPr id="17423" name="Freeform 15"/>
              <p:cNvSpPr>
                <a:spLocks noChangeArrowheads="1"/>
              </p:cNvSpPr>
              <p:nvPr/>
            </p:nvSpPr>
            <p:spPr bwMode="auto">
              <a:xfrm>
                <a:off x="1260" y="529"/>
                <a:ext cx="262" cy="86"/>
              </a:xfrm>
              <a:custGeom>
                <a:avLst/>
                <a:gdLst>
                  <a:gd name="T0" fmla="*/ 258 w 263"/>
                  <a:gd name="T1" fmla="*/ 0 h 86"/>
                  <a:gd name="T2" fmla="*/ 258 w 263"/>
                  <a:gd name="T3" fmla="*/ 0 h 86"/>
                  <a:gd name="T4" fmla="*/ 244 w 263"/>
                  <a:gd name="T5" fmla="*/ 8 h 86"/>
                  <a:gd name="T6" fmla="*/ 230 w 263"/>
                  <a:gd name="T7" fmla="*/ 16 h 86"/>
                  <a:gd name="T8" fmla="*/ 215 w 263"/>
                  <a:gd name="T9" fmla="*/ 22 h 86"/>
                  <a:gd name="T10" fmla="*/ 199 w 263"/>
                  <a:gd name="T11" fmla="*/ 28 h 86"/>
                  <a:gd name="T12" fmla="*/ 185 w 263"/>
                  <a:gd name="T13" fmla="*/ 31 h 86"/>
                  <a:gd name="T14" fmla="*/ 167 w 263"/>
                  <a:gd name="T15" fmla="*/ 35 h 86"/>
                  <a:gd name="T16" fmla="*/ 151 w 263"/>
                  <a:gd name="T17" fmla="*/ 36 h 86"/>
                  <a:gd name="T18" fmla="*/ 135 w 263"/>
                  <a:gd name="T19" fmla="*/ 36 h 86"/>
                  <a:gd name="T20" fmla="*/ 135 w 263"/>
                  <a:gd name="T21" fmla="*/ 36 h 86"/>
                  <a:gd name="T22" fmla="*/ 123 w 263"/>
                  <a:gd name="T23" fmla="*/ 35 h 86"/>
                  <a:gd name="T24" fmla="*/ 105 w 263"/>
                  <a:gd name="T25" fmla="*/ 36 h 86"/>
                  <a:gd name="T26" fmla="*/ 89 w 263"/>
                  <a:gd name="T27" fmla="*/ 39 h 86"/>
                  <a:gd name="T28" fmla="*/ 72 w 263"/>
                  <a:gd name="T29" fmla="*/ 43 h 86"/>
                  <a:gd name="T30" fmla="*/ 56 w 263"/>
                  <a:gd name="T31" fmla="*/ 49 h 86"/>
                  <a:gd name="T32" fmla="*/ 41 w 263"/>
                  <a:gd name="T33" fmla="*/ 57 h 86"/>
                  <a:gd name="T34" fmla="*/ 27 w 263"/>
                  <a:gd name="T35" fmla="*/ 65 h 86"/>
                  <a:gd name="T36" fmla="*/ 13 w 263"/>
                  <a:gd name="T37" fmla="*/ 75 h 86"/>
                  <a:gd name="T38" fmla="*/ 13 w 263"/>
                  <a:gd name="T39" fmla="*/ 75 h 86"/>
                  <a:gd name="T40" fmla="*/ 0 w 263"/>
                  <a:gd name="T41" fmla="*/ 86 h 86"/>
                  <a:gd name="T42" fmla="*/ 0 w 263"/>
                  <a:gd name="T43" fmla="*/ 86 h 86"/>
                  <a:gd name="T44" fmla="*/ 14 w 263"/>
                  <a:gd name="T45" fmla="*/ 76 h 86"/>
                  <a:gd name="T46" fmla="*/ 29 w 263"/>
                  <a:gd name="T47" fmla="*/ 68 h 86"/>
                  <a:gd name="T48" fmla="*/ 43 w 263"/>
                  <a:gd name="T49" fmla="*/ 60 h 86"/>
                  <a:gd name="T50" fmla="*/ 59 w 263"/>
                  <a:gd name="T51" fmla="*/ 55 h 86"/>
                  <a:gd name="T52" fmla="*/ 75 w 263"/>
                  <a:gd name="T53" fmla="*/ 51 h 86"/>
                  <a:gd name="T54" fmla="*/ 91 w 263"/>
                  <a:gd name="T55" fmla="*/ 47 h 86"/>
                  <a:gd name="T56" fmla="*/ 107 w 263"/>
                  <a:gd name="T57" fmla="*/ 46 h 86"/>
                  <a:gd name="T58" fmla="*/ 124 w 263"/>
                  <a:gd name="T59" fmla="*/ 46 h 86"/>
                  <a:gd name="T60" fmla="*/ 124 w 263"/>
                  <a:gd name="T61" fmla="*/ 46 h 86"/>
                  <a:gd name="T62" fmla="*/ 135 w 263"/>
                  <a:gd name="T63" fmla="*/ 46 h 86"/>
                  <a:gd name="T64" fmla="*/ 153 w 263"/>
                  <a:gd name="T65" fmla="*/ 46 h 86"/>
                  <a:gd name="T66" fmla="*/ 169 w 263"/>
                  <a:gd name="T67" fmla="*/ 43 h 86"/>
                  <a:gd name="T68" fmla="*/ 187 w 263"/>
                  <a:gd name="T69" fmla="*/ 39 h 86"/>
                  <a:gd name="T70" fmla="*/ 201 w 263"/>
                  <a:gd name="T71" fmla="*/ 35 h 86"/>
                  <a:gd name="T72" fmla="*/ 217 w 263"/>
                  <a:gd name="T73" fmla="*/ 28 h 86"/>
                  <a:gd name="T74" fmla="*/ 231 w 263"/>
                  <a:gd name="T75" fmla="*/ 20 h 86"/>
                  <a:gd name="T76" fmla="*/ 247 w 263"/>
                  <a:gd name="T77" fmla="*/ 11 h 86"/>
                  <a:gd name="T78" fmla="*/ 247 w 263"/>
                  <a:gd name="T79" fmla="*/ 11 h 86"/>
                  <a:gd name="T80" fmla="*/ 252 w 263"/>
                  <a:gd name="T81" fmla="*/ 4 h 86"/>
                  <a:gd name="T82" fmla="*/ 258 w 263"/>
                  <a:gd name="T83" fmla="*/ 0 h 86"/>
                  <a:gd name="T84" fmla="*/ 258 w 263"/>
                  <a:gd name="T85" fmla="*/ 0 h 8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63"/>
                  <a:gd name="T130" fmla="*/ 0 h 86"/>
                  <a:gd name="T131" fmla="*/ 263 w 263"/>
                  <a:gd name="T132" fmla="*/ 86 h 8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63" h="86">
                    <a:moveTo>
                      <a:pt x="263" y="0"/>
                    </a:moveTo>
                    <a:lnTo>
                      <a:pt x="263" y="0"/>
                    </a:lnTo>
                    <a:lnTo>
                      <a:pt x="249" y="8"/>
                    </a:lnTo>
                    <a:lnTo>
                      <a:pt x="235" y="16"/>
                    </a:lnTo>
                    <a:lnTo>
                      <a:pt x="220" y="22"/>
                    </a:lnTo>
                    <a:lnTo>
                      <a:pt x="204" y="28"/>
                    </a:lnTo>
                    <a:lnTo>
                      <a:pt x="190" y="31"/>
                    </a:lnTo>
                    <a:lnTo>
                      <a:pt x="172" y="35"/>
                    </a:lnTo>
                    <a:lnTo>
                      <a:pt x="156" y="36"/>
                    </a:lnTo>
                    <a:lnTo>
                      <a:pt x="140" y="36"/>
                    </a:lnTo>
                    <a:lnTo>
                      <a:pt x="123" y="35"/>
                    </a:lnTo>
                    <a:lnTo>
                      <a:pt x="105" y="36"/>
                    </a:lnTo>
                    <a:lnTo>
                      <a:pt x="89" y="39"/>
                    </a:lnTo>
                    <a:lnTo>
                      <a:pt x="72" y="43"/>
                    </a:lnTo>
                    <a:lnTo>
                      <a:pt x="56" y="49"/>
                    </a:lnTo>
                    <a:lnTo>
                      <a:pt x="41" y="57"/>
                    </a:lnTo>
                    <a:lnTo>
                      <a:pt x="27" y="65"/>
                    </a:lnTo>
                    <a:lnTo>
                      <a:pt x="13" y="75"/>
                    </a:lnTo>
                    <a:lnTo>
                      <a:pt x="0" y="86"/>
                    </a:lnTo>
                    <a:lnTo>
                      <a:pt x="14" y="76"/>
                    </a:lnTo>
                    <a:lnTo>
                      <a:pt x="29" y="68"/>
                    </a:lnTo>
                    <a:lnTo>
                      <a:pt x="43" y="60"/>
                    </a:lnTo>
                    <a:lnTo>
                      <a:pt x="59" y="55"/>
                    </a:lnTo>
                    <a:lnTo>
                      <a:pt x="75" y="51"/>
                    </a:lnTo>
                    <a:lnTo>
                      <a:pt x="91" y="47"/>
                    </a:lnTo>
                    <a:lnTo>
                      <a:pt x="107" y="46"/>
                    </a:lnTo>
                    <a:lnTo>
                      <a:pt x="124" y="46"/>
                    </a:lnTo>
                    <a:lnTo>
                      <a:pt x="140" y="46"/>
                    </a:lnTo>
                    <a:lnTo>
                      <a:pt x="158" y="46"/>
                    </a:lnTo>
                    <a:lnTo>
                      <a:pt x="174" y="43"/>
                    </a:lnTo>
                    <a:lnTo>
                      <a:pt x="192" y="39"/>
                    </a:lnTo>
                    <a:lnTo>
                      <a:pt x="206" y="35"/>
                    </a:lnTo>
                    <a:lnTo>
                      <a:pt x="222" y="28"/>
                    </a:lnTo>
                    <a:lnTo>
                      <a:pt x="236" y="20"/>
                    </a:lnTo>
                    <a:lnTo>
                      <a:pt x="252" y="11"/>
                    </a:lnTo>
                    <a:lnTo>
                      <a:pt x="257" y="4"/>
                    </a:lnTo>
                    <a:lnTo>
                      <a:pt x="263" y="0"/>
                    </a:lnTo>
                    <a:close/>
                  </a:path>
                </a:pathLst>
              </a:custGeom>
              <a:solidFill>
                <a:srgbClr val="00C014"/>
              </a:solidFill>
              <a:ln w="9525">
                <a:noFill/>
                <a:round/>
                <a:headEnd/>
                <a:tailEnd/>
              </a:ln>
            </p:spPr>
            <p:txBody>
              <a:bodyPr wrap="none" anchor="ctr"/>
              <a:lstStyle/>
              <a:p>
                <a:endParaRPr lang="en-US"/>
              </a:p>
            </p:txBody>
          </p:sp>
          <p:sp>
            <p:nvSpPr>
              <p:cNvPr id="17424" name="Freeform 16"/>
              <p:cNvSpPr>
                <a:spLocks noChangeArrowheads="1"/>
              </p:cNvSpPr>
              <p:nvPr/>
            </p:nvSpPr>
            <p:spPr bwMode="auto">
              <a:xfrm>
                <a:off x="1735" y="410"/>
                <a:ext cx="94" cy="31"/>
              </a:xfrm>
              <a:custGeom>
                <a:avLst/>
                <a:gdLst>
                  <a:gd name="T0" fmla="*/ 94 w 94"/>
                  <a:gd name="T1" fmla="*/ 0 h 31"/>
                  <a:gd name="T2" fmla="*/ 94 w 94"/>
                  <a:gd name="T3" fmla="*/ 0 h 31"/>
                  <a:gd name="T4" fmla="*/ 86 w 94"/>
                  <a:gd name="T5" fmla="*/ 5 h 31"/>
                  <a:gd name="T6" fmla="*/ 78 w 94"/>
                  <a:gd name="T7" fmla="*/ 8 h 31"/>
                  <a:gd name="T8" fmla="*/ 70 w 94"/>
                  <a:gd name="T9" fmla="*/ 10 h 31"/>
                  <a:gd name="T10" fmla="*/ 62 w 94"/>
                  <a:gd name="T11" fmla="*/ 10 h 31"/>
                  <a:gd name="T12" fmla="*/ 46 w 94"/>
                  <a:gd name="T13" fmla="*/ 10 h 31"/>
                  <a:gd name="T14" fmla="*/ 30 w 94"/>
                  <a:gd name="T15" fmla="*/ 10 h 31"/>
                  <a:gd name="T16" fmla="*/ 30 w 94"/>
                  <a:gd name="T17" fmla="*/ 10 h 31"/>
                  <a:gd name="T18" fmla="*/ 21 w 94"/>
                  <a:gd name="T19" fmla="*/ 13 h 31"/>
                  <a:gd name="T20" fmla="*/ 13 w 94"/>
                  <a:gd name="T21" fmla="*/ 18 h 31"/>
                  <a:gd name="T22" fmla="*/ 6 w 94"/>
                  <a:gd name="T23" fmla="*/ 24 h 31"/>
                  <a:gd name="T24" fmla="*/ 0 w 94"/>
                  <a:gd name="T25" fmla="*/ 31 h 31"/>
                  <a:gd name="T26" fmla="*/ 0 w 94"/>
                  <a:gd name="T27" fmla="*/ 31 h 31"/>
                  <a:gd name="T28" fmla="*/ 11 w 94"/>
                  <a:gd name="T29" fmla="*/ 19 h 31"/>
                  <a:gd name="T30" fmla="*/ 11 w 94"/>
                  <a:gd name="T31" fmla="*/ 19 h 31"/>
                  <a:gd name="T32" fmla="*/ 2 w 94"/>
                  <a:gd name="T33" fmla="*/ 27 h 31"/>
                  <a:gd name="T34" fmla="*/ 5 w 94"/>
                  <a:gd name="T35" fmla="*/ 26 h 31"/>
                  <a:gd name="T36" fmla="*/ 5 w 94"/>
                  <a:gd name="T37" fmla="*/ 26 h 31"/>
                  <a:gd name="T38" fmla="*/ 13 w 94"/>
                  <a:gd name="T39" fmla="*/ 23 h 31"/>
                  <a:gd name="T40" fmla="*/ 19 w 94"/>
                  <a:gd name="T41" fmla="*/ 21 h 31"/>
                  <a:gd name="T42" fmla="*/ 19 w 94"/>
                  <a:gd name="T43" fmla="*/ 21 h 31"/>
                  <a:gd name="T44" fmla="*/ 30 w 94"/>
                  <a:gd name="T45" fmla="*/ 21 h 31"/>
                  <a:gd name="T46" fmla="*/ 42 w 94"/>
                  <a:gd name="T47" fmla="*/ 21 h 31"/>
                  <a:gd name="T48" fmla="*/ 42 w 94"/>
                  <a:gd name="T49" fmla="*/ 21 h 31"/>
                  <a:gd name="T50" fmla="*/ 53 w 94"/>
                  <a:gd name="T51" fmla="*/ 23 h 31"/>
                  <a:gd name="T52" fmla="*/ 62 w 94"/>
                  <a:gd name="T53" fmla="*/ 21 h 31"/>
                  <a:gd name="T54" fmla="*/ 73 w 94"/>
                  <a:gd name="T55" fmla="*/ 16 h 31"/>
                  <a:gd name="T56" fmla="*/ 81 w 94"/>
                  <a:gd name="T57" fmla="*/ 12 h 31"/>
                  <a:gd name="T58" fmla="*/ 81 w 94"/>
                  <a:gd name="T59" fmla="*/ 12 h 31"/>
                  <a:gd name="T60" fmla="*/ 88 w 94"/>
                  <a:gd name="T61" fmla="*/ 7 h 31"/>
                  <a:gd name="T62" fmla="*/ 94 w 94"/>
                  <a:gd name="T63" fmla="*/ 0 h 31"/>
                  <a:gd name="T64" fmla="*/ 94 w 94"/>
                  <a:gd name="T65" fmla="*/ 0 h 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4"/>
                  <a:gd name="T100" fmla="*/ 0 h 31"/>
                  <a:gd name="T101" fmla="*/ 94 w 94"/>
                  <a:gd name="T102" fmla="*/ 31 h 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4" h="31">
                    <a:moveTo>
                      <a:pt x="94" y="0"/>
                    </a:moveTo>
                    <a:lnTo>
                      <a:pt x="94" y="0"/>
                    </a:lnTo>
                    <a:lnTo>
                      <a:pt x="86" y="5"/>
                    </a:lnTo>
                    <a:lnTo>
                      <a:pt x="78" y="8"/>
                    </a:lnTo>
                    <a:lnTo>
                      <a:pt x="70" y="10"/>
                    </a:lnTo>
                    <a:lnTo>
                      <a:pt x="62" y="10"/>
                    </a:lnTo>
                    <a:lnTo>
                      <a:pt x="46" y="10"/>
                    </a:lnTo>
                    <a:lnTo>
                      <a:pt x="30" y="10"/>
                    </a:lnTo>
                    <a:lnTo>
                      <a:pt x="21" y="13"/>
                    </a:lnTo>
                    <a:lnTo>
                      <a:pt x="13" y="18"/>
                    </a:lnTo>
                    <a:lnTo>
                      <a:pt x="6" y="24"/>
                    </a:lnTo>
                    <a:lnTo>
                      <a:pt x="0" y="31"/>
                    </a:lnTo>
                    <a:lnTo>
                      <a:pt x="11" y="19"/>
                    </a:lnTo>
                    <a:lnTo>
                      <a:pt x="2" y="27"/>
                    </a:lnTo>
                    <a:lnTo>
                      <a:pt x="5" y="26"/>
                    </a:lnTo>
                    <a:lnTo>
                      <a:pt x="13" y="23"/>
                    </a:lnTo>
                    <a:lnTo>
                      <a:pt x="19" y="21"/>
                    </a:lnTo>
                    <a:lnTo>
                      <a:pt x="30" y="21"/>
                    </a:lnTo>
                    <a:lnTo>
                      <a:pt x="42" y="21"/>
                    </a:lnTo>
                    <a:lnTo>
                      <a:pt x="53" y="23"/>
                    </a:lnTo>
                    <a:lnTo>
                      <a:pt x="62" y="21"/>
                    </a:lnTo>
                    <a:lnTo>
                      <a:pt x="73" y="16"/>
                    </a:lnTo>
                    <a:lnTo>
                      <a:pt x="81" y="12"/>
                    </a:lnTo>
                    <a:lnTo>
                      <a:pt x="88" y="7"/>
                    </a:lnTo>
                    <a:lnTo>
                      <a:pt x="94" y="0"/>
                    </a:lnTo>
                    <a:close/>
                  </a:path>
                </a:pathLst>
              </a:custGeom>
              <a:solidFill>
                <a:srgbClr val="00C014"/>
              </a:solidFill>
              <a:ln w="9525">
                <a:noFill/>
                <a:round/>
                <a:headEnd/>
                <a:tailEnd/>
              </a:ln>
            </p:spPr>
            <p:txBody>
              <a:bodyPr wrap="none" anchor="ctr"/>
              <a:lstStyle/>
              <a:p>
                <a:endParaRPr lang="en-US"/>
              </a:p>
            </p:txBody>
          </p:sp>
          <p:sp>
            <p:nvSpPr>
              <p:cNvPr id="17425" name="Freeform 17"/>
              <p:cNvSpPr>
                <a:spLocks noChangeArrowheads="1"/>
              </p:cNvSpPr>
              <p:nvPr/>
            </p:nvSpPr>
            <p:spPr bwMode="auto">
              <a:xfrm>
                <a:off x="1295" y="481"/>
                <a:ext cx="94" cy="27"/>
              </a:xfrm>
              <a:custGeom>
                <a:avLst/>
                <a:gdLst>
                  <a:gd name="T0" fmla="*/ 94 w 94"/>
                  <a:gd name="T1" fmla="*/ 0 h 27"/>
                  <a:gd name="T2" fmla="*/ 94 w 94"/>
                  <a:gd name="T3" fmla="*/ 0 h 27"/>
                  <a:gd name="T4" fmla="*/ 85 w 94"/>
                  <a:gd name="T5" fmla="*/ 4 h 27"/>
                  <a:gd name="T6" fmla="*/ 73 w 94"/>
                  <a:gd name="T7" fmla="*/ 8 h 27"/>
                  <a:gd name="T8" fmla="*/ 64 w 94"/>
                  <a:gd name="T9" fmla="*/ 9 h 27"/>
                  <a:gd name="T10" fmla="*/ 53 w 94"/>
                  <a:gd name="T11" fmla="*/ 9 h 27"/>
                  <a:gd name="T12" fmla="*/ 53 w 94"/>
                  <a:gd name="T13" fmla="*/ 9 h 27"/>
                  <a:gd name="T14" fmla="*/ 41 w 94"/>
                  <a:gd name="T15" fmla="*/ 8 h 27"/>
                  <a:gd name="T16" fmla="*/ 30 w 94"/>
                  <a:gd name="T17" fmla="*/ 8 h 27"/>
                  <a:gd name="T18" fmla="*/ 21 w 94"/>
                  <a:gd name="T19" fmla="*/ 11 h 27"/>
                  <a:gd name="T20" fmla="*/ 11 w 94"/>
                  <a:gd name="T21" fmla="*/ 16 h 27"/>
                  <a:gd name="T22" fmla="*/ 11 w 94"/>
                  <a:gd name="T23" fmla="*/ 16 h 27"/>
                  <a:gd name="T24" fmla="*/ 5 w 94"/>
                  <a:gd name="T25" fmla="*/ 20 h 27"/>
                  <a:gd name="T26" fmla="*/ 0 w 94"/>
                  <a:gd name="T27" fmla="*/ 27 h 27"/>
                  <a:gd name="T28" fmla="*/ 0 w 94"/>
                  <a:gd name="T29" fmla="*/ 27 h 27"/>
                  <a:gd name="T30" fmla="*/ 8 w 94"/>
                  <a:gd name="T31" fmla="*/ 22 h 27"/>
                  <a:gd name="T32" fmla="*/ 18 w 94"/>
                  <a:gd name="T33" fmla="*/ 20 h 27"/>
                  <a:gd name="T34" fmla="*/ 27 w 94"/>
                  <a:gd name="T35" fmla="*/ 19 h 27"/>
                  <a:gd name="T36" fmla="*/ 37 w 94"/>
                  <a:gd name="T37" fmla="*/ 19 h 27"/>
                  <a:gd name="T38" fmla="*/ 37 w 94"/>
                  <a:gd name="T39" fmla="*/ 19 h 27"/>
                  <a:gd name="T40" fmla="*/ 49 w 94"/>
                  <a:gd name="T41" fmla="*/ 20 h 27"/>
                  <a:gd name="T42" fmla="*/ 61 w 94"/>
                  <a:gd name="T43" fmla="*/ 19 h 27"/>
                  <a:gd name="T44" fmla="*/ 72 w 94"/>
                  <a:gd name="T45" fmla="*/ 16 h 27"/>
                  <a:gd name="T46" fmla="*/ 83 w 94"/>
                  <a:gd name="T47" fmla="*/ 11 h 27"/>
                  <a:gd name="T48" fmla="*/ 83 w 94"/>
                  <a:gd name="T49" fmla="*/ 11 h 27"/>
                  <a:gd name="T50" fmla="*/ 88 w 94"/>
                  <a:gd name="T51" fmla="*/ 4 h 27"/>
                  <a:gd name="T52" fmla="*/ 94 w 94"/>
                  <a:gd name="T53" fmla="*/ 0 h 27"/>
                  <a:gd name="T54" fmla="*/ 94 w 94"/>
                  <a:gd name="T55" fmla="*/ 0 h 2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94"/>
                  <a:gd name="T85" fmla="*/ 0 h 27"/>
                  <a:gd name="T86" fmla="*/ 94 w 94"/>
                  <a:gd name="T87" fmla="*/ 27 h 2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94" h="27">
                    <a:moveTo>
                      <a:pt x="94" y="0"/>
                    </a:moveTo>
                    <a:lnTo>
                      <a:pt x="94" y="0"/>
                    </a:lnTo>
                    <a:lnTo>
                      <a:pt x="85" y="4"/>
                    </a:lnTo>
                    <a:lnTo>
                      <a:pt x="73" y="8"/>
                    </a:lnTo>
                    <a:lnTo>
                      <a:pt x="64" y="9"/>
                    </a:lnTo>
                    <a:lnTo>
                      <a:pt x="53" y="9"/>
                    </a:lnTo>
                    <a:lnTo>
                      <a:pt x="41" y="8"/>
                    </a:lnTo>
                    <a:lnTo>
                      <a:pt x="30" y="8"/>
                    </a:lnTo>
                    <a:lnTo>
                      <a:pt x="21" y="11"/>
                    </a:lnTo>
                    <a:lnTo>
                      <a:pt x="11" y="16"/>
                    </a:lnTo>
                    <a:lnTo>
                      <a:pt x="5" y="20"/>
                    </a:lnTo>
                    <a:lnTo>
                      <a:pt x="0" y="27"/>
                    </a:lnTo>
                    <a:lnTo>
                      <a:pt x="8" y="22"/>
                    </a:lnTo>
                    <a:lnTo>
                      <a:pt x="18" y="20"/>
                    </a:lnTo>
                    <a:lnTo>
                      <a:pt x="27" y="19"/>
                    </a:lnTo>
                    <a:lnTo>
                      <a:pt x="37" y="19"/>
                    </a:lnTo>
                    <a:lnTo>
                      <a:pt x="49" y="20"/>
                    </a:lnTo>
                    <a:lnTo>
                      <a:pt x="61" y="19"/>
                    </a:lnTo>
                    <a:lnTo>
                      <a:pt x="72" y="16"/>
                    </a:lnTo>
                    <a:lnTo>
                      <a:pt x="83" y="11"/>
                    </a:lnTo>
                    <a:lnTo>
                      <a:pt x="88" y="4"/>
                    </a:lnTo>
                    <a:lnTo>
                      <a:pt x="94" y="0"/>
                    </a:lnTo>
                    <a:close/>
                  </a:path>
                </a:pathLst>
              </a:custGeom>
              <a:solidFill>
                <a:srgbClr val="00C014"/>
              </a:solidFill>
              <a:ln w="9525">
                <a:noFill/>
                <a:round/>
                <a:headEnd/>
                <a:tailEnd/>
              </a:ln>
            </p:spPr>
            <p:txBody>
              <a:bodyPr wrap="none" anchor="ctr"/>
              <a:lstStyle/>
              <a:p>
                <a:endParaRPr lang="en-US"/>
              </a:p>
            </p:txBody>
          </p:sp>
          <p:sp>
            <p:nvSpPr>
              <p:cNvPr id="17426" name="Freeform 18"/>
              <p:cNvSpPr>
                <a:spLocks noChangeArrowheads="1"/>
              </p:cNvSpPr>
              <p:nvPr/>
            </p:nvSpPr>
            <p:spPr bwMode="auto">
              <a:xfrm>
                <a:off x="1287" y="319"/>
                <a:ext cx="155" cy="46"/>
              </a:xfrm>
              <a:custGeom>
                <a:avLst/>
                <a:gdLst>
                  <a:gd name="T0" fmla="*/ 155 w 155"/>
                  <a:gd name="T1" fmla="*/ 0 h 46"/>
                  <a:gd name="T2" fmla="*/ 155 w 155"/>
                  <a:gd name="T3" fmla="*/ 0 h 46"/>
                  <a:gd name="T4" fmla="*/ 142 w 155"/>
                  <a:gd name="T5" fmla="*/ 8 h 46"/>
                  <a:gd name="T6" fmla="*/ 128 w 155"/>
                  <a:gd name="T7" fmla="*/ 12 h 46"/>
                  <a:gd name="T8" fmla="*/ 112 w 155"/>
                  <a:gd name="T9" fmla="*/ 16 h 46"/>
                  <a:gd name="T10" fmla="*/ 97 w 155"/>
                  <a:gd name="T11" fmla="*/ 16 h 46"/>
                  <a:gd name="T12" fmla="*/ 69 w 155"/>
                  <a:gd name="T13" fmla="*/ 16 h 46"/>
                  <a:gd name="T14" fmla="*/ 53 w 155"/>
                  <a:gd name="T15" fmla="*/ 17 h 46"/>
                  <a:gd name="T16" fmla="*/ 38 w 155"/>
                  <a:gd name="T17" fmla="*/ 20 h 46"/>
                  <a:gd name="T18" fmla="*/ 38 w 155"/>
                  <a:gd name="T19" fmla="*/ 20 h 46"/>
                  <a:gd name="T20" fmla="*/ 27 w 155"/>
                  <a:gd name="T21" fmla="*/ 24 h 46"/>
                  <a:gd name="T22" fmla="*/ 18 w 155"/>
                  <a:gd name="T23" fmla="*/ 30 h 46"/>
                  <a:gd name="T24" fmla="*/ 8 w 155"/>
                  <a:gd name="T25" fmla="*/ 38 h 46"/>
                  <a:gd name="T26" fmla="*/ 0 w 155"/>
                  <a:gd name="T27" fmla="*/ 46 h 46"/>
                  <a:gd name="T28" fmla="*/ 0 w 155"/>
                  <a:gd name="T29" fmla="*/ 46 h 46"/>
                  <a:gd name="T30" fmla="*/ 13 w 155"/>
                  <a:gd name="T31" fmla="*/ 36 h 46"/>
                  <a:gd name="T32" fmla="*/ 13 w 155"/>
                  <a:gd name="T33" fmla="*/ 36 h 46"/>
                  <a:gd name="T34" fmla="*/ 18 w 155"/>
                  <a:gd name="T35" fmla="*/ 32 h 46"/>
                  <a:gd name="T36" fmla="*/ 24 w 155"/>
                  <a:gd name="T37" fmla="*/ 30 h 46"/>
                  <a:gd name="T38" fmla="*/ 32 w 155"/>
                  <a:gd name="T39" fmla="*/ 28 h 46"/>
                  <a:gd name="T40" fmla="*/ 41 w 155"/>
                  <a:gd name="T41" fmla="*/ 27 h 46"/>
                  <a:gd name="T42" fmla="*/ 61 w 155"/>
                  <a:gd name="T43" fmla="*/ 27 h 46"/>
                  <a:gd name="T44" fmla="*/ 77 w 155"/>
                  <a:gd name="T45" fmla="*/ 28 h 46"/>
                  <a:gd name="T46" fmla="*/ 77 w 155"/>
                  <a:gd name="T47" fmla="*/ 28 h 46"/>
                  <a:gd name="T48" fmla="*/ 94 w 155"/>
                  <a:gd name="T49" fmla="*/ 28 h 46"/>
                  <a:gd name="T50" fmla="*/ 112 w 155"/>
                  <a:gd name="T51" fmla="*/ 25 h 46"/>
                  <a:gd name="T52" fmla="*/ 129 w 155"/>
                  <a:gd name="T53" fmla="*/ 19 h 46"/>
                  <a:gd name="T54" fmla="*/ 144 w 155"/>
                  <a:gd name="T55" fmla="*/ 11 h 46"/>
                  <a:gd name="T56" fmla="*/ 144 w 155"/>
                  <a:gd name="T57" fmla="*/ 11 h 46"/>
                  <a:gd name="T58" fmla="*/ 150 w 155"/>
                  <a:gd name="T59" fmla="*/ 4 h 46"/>
                  <a:gd name="T60" fmla="*/ 155 w 155"/>
                  <a:gd name="T61" fmla="*/ 0 h 46"/>
                  <a:gd name="T62" fmla="*/ 155 w 155"/>
                  <a:gd name="T63" fmla="*/ 0 h 4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55"/>
                  <a:gd name="T97" fmla="*/ 0 h 46"/>
                  <a:gd name="T98" fmla="*/ 155 w 155"/>
                  <a:gd name="T99" fmla="*/ 46 h 4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55" h="46">
                    <a:moveTo>
                      <a:pt x="155" y="0"/>
                    </a:moveTo>
                    <a:lnTo>
                      <a:pt x="155" y="0"/>
                    </a:lnTo>
                    <a:lnTo>
                      <a:pt x="142" y="8"/>
                    </a:lnTo>
                    <a:lnTo>
                      <a:pt x="128" y="12"/>
                    </a:lnTo>
                    <a:lnTo>
                      <a:pt x="112" y="16"/>
                    </a:lnTo>
                    <a:lnTo>
                      <a:pt x="97" y="16"/>
                    </a:lnTo>
                    <a:lnTo>
                      <a:pt x="69" y="16"/>
                    </a:lnTo>
                    <a:lnTo>
                      <a:pt x="53" y="17"/>
                    </a:lnTo>
                    <a:lnTo>
                      <a:pt x="38" y="20"/>
                    </a:lnTo>
                    <a:lnTo>
                      <a:pt x="27" y="24"/>
                    </a:lnTo>
                    <a:lnTo>
                      <a:pt x="18" y="30"/>
                    </a:lnTo>
                    <a:lnTo>
                      <a:pt x="8" y="38"/>
                    </a:lnTo>
                    <a:lnTo>
                      <a:pt x="0" y="46"/>
                    </a:lnTo>
                    <a:lnTo>
                      <a:pt x="13" y="36"/>
                    </a:lnTo>
                    <a:lnTo>
                      <a:pt x="18" y="32"/>
                    </a:lnTo>
                    <a:lnTo>
                      <a:pt x="24" y="30"/>
                    </a:lnTo>
                    <a:lnTo>
                      <a:pt x="32" y="28"/>
                    </a:lnTo>
                    <a:lnTo>
                      <a:pt x="41" y="27"/>
                    </a:lnTo>
                    <a:lnTo>
                      <a:pt x="61" y="27"/>
                    </a:lnTo>
                    <a:lnTo>
                      <a:pt x="77" y="28"/>
                    </a:lnTo>
                    <a:lnTo>
                      <a:pt x="94" y="28"/>
                    </a:lnTo>
                    <a:lnTo>
                      <a:pt x="112" y="25"/>
                    </a:lnTo>
                    <a:lnTo>
                      <a:pt x="129" y="19"/>
                    </a:lnTo>
                    <a:lnTo>
                      <a:pt x="144" y="11"/>
                    </a:lnTo>
                    <a:lnTo>
                      <a:pt x="150" y="4"/>
                    </a:lnTo>
                    <a:lnTo>
                      <a:pt x="155" y="0"/>
                    </a:lnTo>
                    <a:close/>
                  </a:path>
                </a:pathLst>
              </a:custGeom>
              <a:solidFill>
                <a:srgbClr val="00C014"/>
              </a:solidFill>
              <a:ln w="9525">
                <a:noFill/>
                <a:round/>
                <a:headEnd/>
                <a:tailEnd/>
              </a:ln>
            </p:spPr>
            <p:txBody>
              <a:bodyPr wrap="none" anchor="ctr"/>
              <a:lstStyle/>
              <a:p>
                <a:endParaRPr lang="en-US"/>
              </a:p>
            </p:txBody>
          </p:sp>
          <p:sp>
            <p:nvSpPr>
              <p:cNvPr id="17427" name="Freeform 19"/>
              <p:cNvSpPr>
                <a:spLocks noChangeArrowheads="1"/>
              </p:cNvSpPr>
              <p:nvPr/>
            </p:nvSpPr>
            <p:spPr bwMode="auto">
              <a:xfrm>
                <a:off x="1601" y="229"/>
                <a:ext cx="206" cy="66"/>
              </a:xfrm>
              <a:custGeom>
                <a:avLst/>
                <a:gdLst>
                  <a:gd name="T0" fmla="*/ 202 w 207"/>
                  <a:gd name="T1" fmla="*/ 0 h 66"/>
                  <a:gd name="T2" fmla="*/ 202 w 207"/>
                  <a:gd name="T3" fmla="*/ 0 h 66"/>
                  <a:gd name="T4" fmla="*/ 194 w 207"/>
                  <a:gd name="T5" fmla="*/ 7 h 66"/>
                  <a:gd name="T6" fmla="*/ 187 w 207"/>
                  <a:gd name="T7" fmla="*/ 11 h 66"/>
                  <a:gd name="T8" fmla="*/ 169 w 207"/>
                  <a:gd name="T9" fmla="*/ 18 h 66"/>
                  <a:gd name="T10" fmla="*/ 151 w 207"/>
                  <a:gd name="T11" fmla="*/ 21 h 66"/>
                  <a:gd name="T12" fmla="*/ 132 w 207"/>
                  <a:gd name="T13" fmla="*/ 23 h 66"/>
                  <a:gd name="T14" fmla="*/ 99 w 207"/>
                  <a:gd name="T15" fmla="*/ 24 h 66"/>
                  <a:gd name="T16" fmla="*/ 80 w 207"/>
                  <a:gd name="T17" fmla="*/ 24 h 66"/>
                  <a:gd name="T18" fmla="*/ 62 w 207"/>
                  <a:gd name="T19" fmla="*/ 27 h 66"/>
                  <a:gd name="T20" fmla="*/ 62 w 207"/>
                  <a:gd name="T21" fmla="*/ 27 h 66"/>
                  <a:gd name="T22" fmla="*/ 52 w 207"/>
                  <a:gd name="T23" fmla="*/ 29 h 66"/>
                  <a:gd name="T24" fmla="*/ 43 w 207"/>
                  <a:gd name="T25" fmla="*/ 32 h 66"/>
                  <a:gd name="T26" fmla="*/ 27 w 207"/>
                  <a:gd name="T27" fmla="*/ 40 h 66"/>
                  <a:gd name="T28" fmla="*/ 13 w 207"/>
                  <a:gd name="T29" fmla="*/ 51 h 66"/>
                  <a:gd name="T30" fmla="*/ 0 w 207"/>
                  <a:gd name="T31" fmla="*/ 66 h 66"/>
                  <a:gd name="T32" fmla="*/ 0 w 207"/>
                  <a:gd name="T33" fmla="*/ 66 h 66"/>
                  <a:gd name="T34" fmla="*/ 9 w 207"/>
                  <a:gd name="T35" fmla="*/ 56 h 66"/>
                  <a:gd name="T36" fmla="*/ 9 w 207"/>
                  <a:gd name="T37" fmla="*/ 56 h 66"/>
                  <a:gd name="T38" fmla="*/ 19 w 207"/>
                  <a:gd name="T39" fmla="*/ 48 h 66"/>
                  <a:gd name="T40" fmla="*/ 29 w 207"/>
                  <a:gd name="T41" fmla="*/ 42 h 66"/>
                  <a:gd name="T42" fmla="*/ 40 w 207"/>
                  <a:gd name="T43" fmla="*/ 37 h 66"/>
                  <a:gd name="T44" fmla="*/ 51 w 207"/>
                  <a:gd name="T45" fmla="*/ 35 h 66"/>
                  <a:gd name="T46" fmla="*/ 64 w 207"/>
                  <a:gd name="T47" fmla="*/ 34 h 66"/>
                  <a:gd name="T48" fmla="*/ 75 w 207"/>
                  <a:gd name="T49" fmla="*/ 32 h 66"/>
                  <a:gd name="T50" fmla="*/ 100 w 207"/>
                  <a:gd name="T51" fmla="*/ 32 h 66"/>
                  <a:gd name="T52" fmla="*/ 121 w 207"/>
                  <a:gd name="T53" fmla="*/ 32 h 66"/>
                  <a:gd name="T54" fmla="*/ 147 w 207"/>
                  <a:gd name="T55" fmla="*/ 31 h 66"/>
                  <a:gd name="T56" fmla="*/ 158 w 207"/>
                  <a:gd name="T57" fmla="*/ 27 h 66"/>
                  <a:gd name="T58" fmla="*/ 171 w 207"/>
                  <a:gd name="T59" fmla="*/ 24 h 66"/>
                  <a:gd name="T60" fmla="*/ 182 w 207"/>
                  <a:gd name="T61" fmla="*/ 18 h 66"/>
                  <a:gd name="T62" fmla="*/ 191 w 207"/>
                  <a:gd name="T63" fmla="*/ 11 h 66"/>
                  <a:gd name="T64" fmla="*/ 191 w 207"/>
                  <a:gd name="T65" fmla="*/ 11 h 66"/>
                  <a:gd name="T66" fmla="*/ 202 w 207"/>
                  <a:gd name="T67" fmla="*/ 0 h 66"/>
                  <a:gd name="T68" fmla="*/ 202 w 207"/>
                  <a:gd name="T69" fmla="*/ 0 h 6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07"/>
                  <a:gd name="T106" fmla="*/ 0 h 66"/>
                  <a:gd name="T107" fmla="*/ 207 w 207"/>
                  <a:gd name="T108" fmla="*/ 66 h 6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07" h="66">
                    <a:moveTo>
                      <a:pt x="207" y="0"/>
                    </a:moveTo>
                    <a:lnTo>
                      <a:pt x="207" y="0"/>
                    </a:lnTo>
                    <a:lnTo>
                      <a:pt x="199" y="7"/>
                    </a:lnTo>
                    <a:lnTo>
                      <a:pt x="192" y="11"/>
                    </a:lnTo>
                    <a:lnTo>
                      <a:pt x="174" y="18"/>
                    </a:lnTo>
                    <a:lnTo>
                      <a:pt x="156" y="21"/>
                    </a:lnTo>
                    <a:lnTo>
                      <a:pt x="137" y="23"/>
                    </a:lnTo>
                    <a:lnTo>
                      <a:pt x="99" y="24"/>
                    </a:lnTo>
                    <a:lnTo>
                      <a:pt x="80" y="24"/>
                    </a:lnTo>
                    <a:lnTo>
                      <a:pt x="62" y="27"/>
                    </a:lnTo>
                    <a:lnTo>
                      <a:pt x="52" y="29"/>
                    </a:lnTo>
                    <a:lnTo>
                      <a:pt x="43" y="32"/>
                    </a:lnTo>
                    <a:lnTo>
                      <a:pt x="27" y="40"/>
                    </a:lnTo>
                    <a:lnTo>
                      <a:pt x="13" y="51"/>
                    </a:lnTo>
                    <a:lnTo>
                      <a:pt x="0" y="66"/>
                    </a:lnTo>
                    <a:lnTo>
                      <a:pt x="9" y="56"/>
                    </a:lnTo>
                    <a:lnTo>
                      <a:pt x="19" y="48"/>
                    </a:lnTo>
                    <a:lnTo>
                      <a:pt x="29" y="42"/>
                    </a:lnTo>
                    <a:lnTo>
                      <a:pt x="40" y="37"/>
                    </a:lnTo>
                    <a:lnTo>
                      <a:pt x="51" y="35"/>
                    </a:lnTo>
                    <a:lnTo>
                      <a:pt x="64" y="34"/>
                    </a:lnTo>
                    <a:lnTo>
                      <a:pt x="75" y="32"/>
                    </a:lnTo>
                    <a:lnTo>
                      <a:pt x="100" y="32"/>
                    </a:lnTo>
                    <a:lnTo>
                      <a:pt x="126" y="32"/>
                    </a:lnTo>
                    <a:lnTo>
                      <a:pt x="152" y="31"/>
                    </a:lnTo>
                    <a:lnTo>
                      <a:pt x="163" y="27"/>
                    </a:lnTo>
                    <a:lnTo>
                      <a:pt x="176" y="24"/>
                    </a:lnTo>
                    <a:lnTo>
                      <a:pt x="187" y="18"/>
                    </a:lnTo>
                    <a:lnTo>
                      <a:pt x="196" y="11"/>
                    </a:lnTo>
                    <a:lnTo>
                      <a:pt x="207" y="0"/>
                    </a:lnTo>
                    <a:close/>
                  </a:path>
                </a:pathLst>
              </a:custGeom>
              <a:solidFill>
                <a:srgbClr val="00C014"/>
              </a:solidFill>
              <a:ln w="9525">
                <a:noFill/>
                <a:round/>
                <a:headEnd/>
                <a:tailEnd/>
              </a:ln>
            </p:spPr>
            <p:txBody>
              <a:bodyPr wrap="none" anchor="ctr"/>
              <a:lstStyle/>
              <a:p>
                <a:endParaRPr lang="en-US"/>
              </a:p>
            </p:txBody>
          </p:sp>
          <p:sp>
            <p:nvSpPr>
              <p:cNvPr id="17428" name="Freeform 20"/>
              <p:cNvSpPr>
                <a:spLocks noChangeArrowheads="1"/>
              </p:cNvSpPr>
              <p:nvPr/>
            </p:nvSpPr>
            <p:spPr bwMode="auto">
              <a:xfrm>
                <a:off x="1408" y="398"/>
                <a:ext cx="66" cy="78"/>
              </a:xfrm>
              <a:custGeom>
                <a:avLst/>
                <a:gdLst>
                  <a:gd name="T0" fmla="*/ 64 w 66"/>
                  <a:gd name="T1" fmla="*/ 12 h 78"/>
                  <a:gd name="T2" fmla="*/ 39 w 66"/>
                  <a:gd name="T3" fmla="*/ 12 h 78"/>
                  <a:gd name="T4" fmla="*/ 28 w 66"/>
                  <a:gd name="T5" fmla="*/ 78 h 78"/>
                  <a:gd name="T6" fmla="*/ 13 w 66"/>
                  <a:gd name="T7" fmla="*/ 78 h 78"/>
                  <a:gd name="T8" fmla="*/ 24 w 66"/>
                  <a:gd name="T9" fmla="*/ 12 h 78"/>
                  <a:gd name="T10" fmla="*/ 0 w 66"/>
                  <a:gd name="T11" fmla="*/ 12 h 78"/>
                  <a:gd name="T12" fmla="*/ 2 w 66"/>
                  <a:gd name="T13" fmla="*/ 0 h 78"/>
                  <a:gd name="T14" fmla="*/ 66 w 66"/>
                  <a:gd name="T15" fmla="*/ 0 h 78"/>
                  <a:gd name="T16" fmla="*/ 64 w 66"/>
                  <a:gd name="T17" fmla="*/ 12 h 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
                  <a:gd name="T28" fmla="*/ 0 h 78"/>
                  <a:gd name="T29" fmla="*/ 66 w 66"/>
                  <a:gd name="T30" fmla="*/ 78 h 7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 h="78">
                    <a:moveTo>
                      <a:pt x="64" y="12"/>
                    </a:moveTo>
                    <a:lnTo>
                      <a:pt x="39" y="12"/>
                    </a:lnTo>
                    <a:lnTo>
                      <a:pt x="28" y="78"/>
                    </a:lnTo>
                    <a:lnTo>
                      <a:pt x="13" y="78"/>
                    </a:lnTo>
                    <a:lnTo>
                      <a:pt x="24" y="12"/>
                    </a:lnTo>
                    <a:lnTo>
                      <a:pt x="0" y="12"/>
                    </a:lnTo>
                    <a:lnTo>
                      <a:pt x="2" y="0"/>
                    </a:lnTo>
                    <a:lnTo>
                      <a:pt x="66" y="0"/>
                    </a:lnTo>
                    <a:lnTo>
                      <a:pt x="64" y="12"/>
                    </a:lnTo>
                    <a:close/>
                  </a:path>
                </a:pathLst>
              </a:custGeom>
              <a:solidFill>
                <a:srgbClr val="FFE600"/>
              </a:solidFill>
              <a:ln w="9525">
                <a:noFill/>
                <a:round/>
                <a:headEnd/>
                <a:tailEnd/>
              </a:ln>
            </p:spPr>
            <p:txBody>
              <a:bodyPr wrap="none" anchor="ctr"/>
              <a:lstStyle/>
              <a:p>
                <a:endParaRPr lang="en-US"/>
              </a:p>
            </p:txBody>
          </p:sp>
          <p:sp>
            <p:nvSpPr>
              <p:cNvPr id="17429" name="Freeform 21"/>
              <p:cNvSpPr>
                <a:spLocks noChangeArrowheads="1"/>
              </p:cNvSpPr>
              <p:nvPr/>
            </p:nvSpPr>
            <p:spPr bwMode="auto">
              <a:xfrm>
                <a:off x="1639" y="397"/>
                <a:ext cx="64" cy="80"/>
              </a:xfrm>
              <a:custGeom>
                <a:avLst/>
                <a:gdLst>
                  <a:gd name="T0" fmla="*/ 19 w 64"/>
                  <a:gd name="T1" fmla="*/ 51 h 80"/>
                  <a:gd name="T2" fmla="*/ 14 w 64"/>
                  <a:gd name="T3" fmla="*/ 80 h 80"/>
                  <a:gd name="T4" fmla="*/ 0 w 64"/>
                  <a:gd name="T5" fmla="*/ 80 h 80"/>
                  <a:gd name="T6" fmla="*/ 14 w 64"/>
                  <a:gd name="T7" fmla="*/ 2 h 80"/>
                  <a:gd name="T8" fmla="*/ 14 w 64"/>
                  <a:gd name="T9" fmla="*/ 2 h 80"/>
                  <a:gd name="T10" fmla="*/ 32 w 64"/>
                  <a:gd name="T11" fmla="*/ 0 h 80"/>
                  <a:gd name="T12" fmla="*/ 32 w 64"/>
                  <a:gd name="T13" fmla="*/ 0 h 80"/>
                  <a:gd name="T14" fmla="*/ 46 w 64"/>
                  <a:gd name="T15" fmla="*/ 2 h 80"/>
                  <a:gd name="T16" fmla="*/ 51 w 64"/>
                  <a:gd name="T17" fmla="*/ 3 h 80"/>
                  <a:gd name="T18" fmla="*/ 56 w 64"/>
                  <a:gd name="T19" fmla="*/ 6 h 80"/>
                  <a:gd name="T20" fmla="*/ 59 w 64"/>
                  <a:gd name="T21" fmla="*/ 10 h 80"/>
                  <a:gd name="T22" fmla="*/ 61 w 64"/>
                  <a:gd name="T23" fmla="*/ 13 h 80"/>
                  <a:gd name="T24" fmla="*/ 62 w 64"/>
                  <a:gd name="T25" fmla="*/ 18 h 80"/>
                  <a:gd name="T26" fmla="*/ 64 w 64"/>
                  <a:gd name="T27" fmla="*/ 24 h 80"/>
                  <a:gd name="T28" fmla="*/ 64 w 64"/>
                  <a:gd name="T29" fmla="*/ 24 h 80"/>
                  <a:gd name="T30" fmla="*/ 62 w 64"/>
                  <a:gd name="T31" fmla="*/ 30 h 80"/>
                  <a:gd name="T32" fmla="*/ 61 w 64"/>
                  <a:gd name="T33" fmla="*/ 35 h 80"/>
                  <a:gd name="T34" fmla="*/ 58 w 64"/>
                  <a:gd name="T35" fmla="*/ 40 h 80"/>
                  <a:gd name="T36" fmla="*/ 54 w 64"/>
                  <a:gd name="T37" fmla="*/ 45 h 80"/>
                  <a:gd name="T38" fmla="*/ 54 w 64"/>
                  <a:gd name="T39" fmla="*/ 45 h 80"/>
                  <a:gd name="T40" fmla="*/ 48 w 64"/>
                  <a:gd name="T41" fmla="*/ 48 h 80"/>
                  <a:gd name="T42" fmla="*/ 43 w 64"/>
                  <a:gd name="T43" fmla="*/ 49 h 80"/>
                  <a:gd name="T44" fmla="*/ 37 w 64"/>
                  <a:gd name="T45" fmla="*/ 51 h 80"/>
                  <a:gd name="T46" fmla="*/ 29 w 64"/>
                  <a:gd name="T47" fmla="*/ 53 h 80"/>
                  <a:gd name="T48" fmla="*/ 29 w 64"/>
                  <a:gd name="T49" fmla="*/ 53 h 80"/>
                  <a:gd name="T50" fmla="*/ 19 w 64"/>
                  <a:gd name="T51" fmla="*/ 51 h 80"/>
                  <a:gd name="T52" fmla="*/ 19 w 64"/>
                  <a:gd name="T53" fmla="*/ 51 h 80"/>
                  <a:gd name="T54" fmla="*/ 27 w 64"/>
                  <a:gd name="T55" fmla="*/ 13 h 80"/>
                  <a:gd name="T56" fmla="*/ 22 w 64"/>
                  <a:gd name="T57" fmla="*/ 40 h 80"/>
                  <a:gd name="T58" fmla="*/ 22 w 64"/>
                  <a:gd name="T59" fmla="*/ 40 h 80"/>
                  <a:gd name="T60" fmla="*/ 29 w 64"/>
                  <a:gd name="T61" fmla="*/ 40 h 80"/>
                  <a:gd name="T62" fmla="*/ 29 w 64"/>
                  <a:gd name="T63" fmla="*/ 40 h 80"/>
                  <a:gd name="T64" fmla="*/ 37 w 64"/>
                  <a:gd name="T65" fmla="*/ 38 h 80"/>
                  <a:gd name="T66" fmla="*/ 43 w 64"/>
                  <a:gd name="T67" fmla="*/ 37 h 80"/>
                  <a:gd name="T68" fmla="*/ 43 w 64"/>
                  <a:gd name="T69" fmla="*/ 37 h 80"/>
                  <a:gd name="T70" fmla="*/ 48 w 64"/>
                  <a:gd name="T71" fmla="*/ 32 h 80"/>
                  <a:gd name="T72" fmla="*/ 50 w 64"/>
                  <a:gd name="T73" fmla="*/ 26 h 80"/>
                  <a:gd name="T74" fmla="*/ 50 w 64"/>
                  <a:gd name="T75" fmla="*/ 26 h 80"/>
                  <a:gd name="T76" fmla="*/ 48 w 64"/>
                  <a:gd name="T77" fmla="*/ 19 h 80"/>
                  <a:gd name="T78" fmla="*/ 45 w 64"/>
                  <a:gd name="T79" fmla="*/ 16 h 80"/>
                  <a:gd name="T80" fmla="*/ 42 w 64"/>
                  <a:gd name="T81" fmla="*/ 13 h 80"/>
                  <a:gd name="T82" fmla="*/ 35 w 64"/>
                  <a:gd name="T83" fmla="*/ 13 h 80"/>
                  <a:gd name="T84" fmla="*/ 35 w 64"/>
                  <a:gd name="T85" fmla="*/ 13 h 80"/>
                  <a:gd name="T86" fmla="*/ 27 w 64"/>
                  <a:gd name="T87" fmla="*/ 13 h 80"/>
                  <a:gd name="T88" fmla="*/ 27 w 64"/>
                  <a:gd name="T89" fmla="*/ 13 h 8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4"/>
                  <a:gd name="T136" fmla="*/ 0 h 80"/>
                  <a:gd name="T137" fmla="*/ 64 w 64"/>
                  <a:gd name="T138" fmla="*/ 80 h 8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4" h="80">
                    <a:moveTo>
                      <a:pt x="19" y="51"/>
                    </a:moveTo>
                    <a:lnTo>
                      <a:pt x="14" y="80"/>
                    </a:lnTo>
                    <a:lnTo>
                      <a:pt x="0" y="80"/>
                    </a:lnTo>
                    <a:lnTo>
                      <a:pt x="14" y="2"/>
                    </a:lnTo>
                    <a:lnTo>
                      <a:pt x="32" y="0"/>
                    </a:lnTo>
                    <a:lnTo>
                      <a:pt x="46" y="2"/>
                    </a:lnTo>
                    <a:lnTo>
                      <a:pt x="51" y="3"/>
                    </a:lnTo>
                    <a:lnTo>
                      <a:pt x="56" y="6"/>
                    </a:lnTo>
                    <a:lnTo>
                      <a:pt x="59" y="10"/>
                    </a:lnTo>
                    <a:lnTo>
                      <a:pt x="61" y="13"/>
                    </a:lnTo>
                    <a:lnTo>
                      <a:pt x="62" y="18"/>
                    </a:lnTo>
                    <a:lnTo>
                      <a:pt x="64" y="24"/>
                    </a:lnTo>
                    <a:lnTo>
                      <a:pt x="62" y="30"/>
                    </a:lnTo>
                    <a:lnTo>
                      <a:pt x="61" y="35"/>
                    </a:lnTo>
                    <a:lnTo>
                      <a:pt x="58" y="40"/>
                    </a:lnTo>
                    <a:lnTo>
                      <a:pt x="54" y="45"/>
                    </a:lnTo>
                    <a:lnTo>
                      <a:pt x="48" y="48"/>
                    </a:lnTo>
                    <a:lnTo>
                      <a:pt x="43" y="49"/>
                    </a:lnTo>
                    <a:lnTo>
                      <a:pt x="37" y="51"/>
                    </a:lnTo>
                    <a:lnTo>
                      <a:pt x="29" y="53"/>
                    </a:lnTo>
                    <a:lnTo>
                      <a:pt x="19" y="51"/>
                    </a:lnTo>
                    <a:close/>
                    <a:moveTo>
                      <a:pt x="27" y="13"/>
                    </a:moveTo>
                    <a:lnTo>
                      <a:pt x="22" y="40"/>
                    </a:lnTo>
                    <a:lnTo>
                      <a:pt x="29" y="40"/>
                    </a:lnTo>
                    <a:lnTo>
                      <a:pt x="37" y="38"/>
                    </a:lnTo>
                    <a:lnTo>
                      <a:pt x="43" y="37"/>
                    </a:lnTo>
                    <a:lnTo>
                      <a:pt x="48" y="32"/>
                    </a:lnTo>
                    <a:lnTo>
                      <a:pt x="50" y="26"/>
                    </a:lnTo>
                    <a:lnTo>
                      <a:pt x="48" y="19"/>
                    </a:lnTo>
                    <a:lnTo>
                      <a:pt x="45" y="16"/>
                    </a:lnTo>
                    <a:lnTo>
                      <a:pt x="42" y="13"/>
                    </a:lnTo>
                    <a:lnTo>
                      <a:pt x="35" y="13"/>
                    </a:lnTo>
                    <a:lnTo>
                      <a:pt x="27" y="13"/>
                    </a:lnTo>
                    <a:close/>
                  </a:path>
                </a:pathLst>
              </a:custGeom>
              <a:solidFill>
                <a:srgbClr val="FFE600"/>
              </a:solidFill>
              <a:ln w="9525">
                <a:noFill/>
                <a:round/>
                <a:headEnd/>
                <a:tailEnd/>
              </a:ln>
            </p:spPr>
            <p:txBody>
              <a:bodyPr wrap="none" anchor="ctr"/>
              <a:lstStyle/>
              <a:p>
                <a:endParaRPr lang="en-US"/>
              </a:p>
            </p:txBody>
          </p:sp>
          <p:sp>
            <p:nvSpPr>
              <p:cNvPr id="17430" name="Freeform 22"/>
              <p:cNvSpPr>
                <a:spLocks noChangeArrowheads="1"/>
              </p:cNvSpPr>
              <p:nvPr/>
            </p:nvSpPr>
            <p:spPr bwMode="auto">
              <a:xfrm>
                <a:off x="1408" y="398"/>
                <a:ext cx="66" cy="78"/>
              </a:xfrm>
              <a:custGeom>
                <a:avLst/>
                <a:gdLst>
                  <a:gd name="T0" fmla="*/ 64 w 66"/>
                  <a:gd name="T1" fmla="*/ 12 h 78"/>
                  <a:gd name="T2" fmla="*/ 39 w 66"/>
                  <a:gd name="T3" fmla="*/ 12 h 78"/>
                  <a:gd name="T4" fmla="*/ 28 w 66"/>
                  <a:gd name="T5" fmla="*/ 78 h 78"/>
                  <a:gd name="T6" fmla="*/ 13 w 66"/>
                  <a:gd name="T7" fmla="*/ 78 h 78"/>
                  <a:gd name="T8" fmla="*/ 24 w 66"/>
                  <a:gd name="T9" fmla="*/ 12 h 78"/>
                  <a:gd name="T10" fmla="*/ 0 w 66"/>
                  <a:gd name="T11" fmla="*/ 12 h 78"/>
                  <a:gd name="T12" fmla="*/ 2 w 66"/>
                  <a:gd name="T13" fmla="*/ 0 h 78"/>
                  <a:gd name="T14" fmla="*/ 66 w 66"/>
                  <a:gd name="T15" fmla="*/ 0 h 78"/>
                  <a:gd name="T16" fmla="*/ 64 w 66"/>
                  <a:gd name="T17" fmla="*/ 12 h 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
                  <a:gd name="T28" fmla="*/ 0 h 78"/>
                  <a:gd name="T29" fmla="*/ 66 w 66"/>
                  <a:gd name="T30" fmla="*/ 78 h 7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 h="78">
                    <a:moveTo>
                      <a:pt x="64" y="12"/>
                    </a:moveTo>
                    <a:lnTo>
                      <a:pt x="39" y="12"/>
                    </a:lnTo>
                    <a:lnTo>
                      <a:pt x="28" y="78"/>
                    </a:lnTo>
                    <a:lnTo>
                      <a:pt x="13" y="78"/>
                    </a:lnTo>
                    <a:lnTo>
                      <a:pt x="24" y="12"/>
                    </a:lnTo>
                    <a:lnTo>
                      <a:pt x="0" y="12"/>
                    </a:lnTo>
                    <a:lnTo>
                      <a:pt x="2" y="0"/>
                    </a:lnTo>
                    <a:lnTo>
                      <a:pt x="66" y="0"/>
                    </a:lnTo>
                    <a:lnTo>
                      <a:pt x="64" y="12"/>
                    </a:lnTo>
                    <a:close/>
                  </a:path>
                </a:pathLst>
              </a:custGeom>
              <a:solidFill>
                <a:srgbClr val="000000"/>
              </a:solidFill>
              <a:ln w="9525">
                <a:noFill/>
                <a:round/>
                <a:headEnd/>
                <a:tailEnd/>
              </a:ln>
            </p:spPr>
            <p:txBody>
              <a:bodyPr wrap="none" anchor="ctr"/>
              <a:lstStyle/>
              <a:p>
                <a:endParaRPr lang="en-US"/>
              </a:p>
            </p:txBody>
          </p:sp>
          <p:sp>
            <p:nvSpPr>
              <p:cNvPr id="17431" name="Freeform 23"/>
              <p:cNvSpPr>
                <a:spLocks noChangeArrowheads="1"/>
              </p:cNvSpPr>
              <p:nvPr/>
            </p:nvSpPr>
            <p:spPr bwMode="auto">
              <a:xfrm>
                <a:off x="1466" y="398"/>
                <a:ext cx="64" cy="78"/>
              </a:xfrm>
              <a:custGeom>
                <a:avLst/>
                <a:gdLst>
                  <a:gd name="T0" fmla="*/ 62 w 64"/>
                  <a:gd name="T1" fmla="*/ 12 h 78"/>
                  <a:gd name="T2" fmla="*/ 25 w 64"/>
                  <a:gd name="T3" fmla="*/ 12 h 78"/>
                  <a:gd name="T4" fmla="*/ 22 w 64"/>
                  <a:gd name="T5" fmla="*/ 30 h 78"/>
                  <a:gd name="T6" fmla="*/ 48 w 64"/>
                  <a:gd name="T7" fmla="*/ 30 h 78"/>
                  <a:gd name="T8" fmla="*/ 46 w 64"/>
                  <a:gd name="T9" fmla="*/ 41 h 78"/>
                  <a:gd name="T10" fmla="*/ 21 w 64"/>
                  <a:gd name="T11" fmla="*/ 41 h 78"/>
                  <a:gd name="T12" fmla="*/ 16 w 64"/>
                  <a:gd name="T13" fmla="*/ 65 h 78"/>
                  <a:gd name="T14" fmla="*/ 51 w 64"/>
                  <a:gd name="T15" fmla="*/ 65 h 78"/>
                  <a:gd name="T16" fmla="*/ 49 w 64"/>
                  <a:gd name="T17" fmla="*/ 78 h 78"/>
                  <a:gd name="T18" fmla="*/ 0 w 64"/>
                  <a:gd name="T19" fmla="*/ 78 h 78"/>
                  <a:gd name="T20" fmla="*/ 14 w 64"/>
                  <a:gd name="T21" fmla="*/ 0 h 78"/>
                  <a:gd name="T22" fmla="*/ 64 w 64"/>
                  <a:gd name="T23" fmla="*/ 0 h 78"/>
                  <a:gd name="T24" fmla="*/ 62 w 64"/>
                  <a:gd name="T25" fmla="*/ 12 h 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
                  <a:gd name="T40" fmla="*/ 0 h 78"/>
                  <a:gd name="T41" fmla="*/ 64 w 64"/>
                  <a:gd name="T42" fmla="*/ 78 h 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 h="78">
                    <a:moveTo>
                      <a:pt x="62" y="12"/>
                    </a:moveTo>
                    <a:lnTo>
                      <a:pt x="25" y="12"/>
                    </a:lnTo>
                    <a:lnTo>
                      <a:pt x="22" y="30"/>
                    </a:lnTo>
                    <a:lnTo>
                      <a:pt x="48" y="30"/>
                    </a:lnTo>
                    <a:lnTo>
                      <a:pt x="46" y="41"/>
                    </a:lnTo>
                    <a:lnTo>
                      <a:pt x="21" y="41"/>
                    </a:lnTo>
                    <a:lnTo>
                      <a:pt x="16" y="65"/>
                    </a:lnTo>
                    <a:lnTo>
                      <a:pt x="51" y="65"/>
                    </a:lnTo>
                    <a:lnTo>
                      <a:pt x="49" y="78"/>
                    </a:lnTo>
                    <a:lnTo>
                      <a:pt x="0" y="78"/>
                    </a:lnTo>
                    <a:lnTo>
                      <a:pt x="14" y="0"/>
                    </a:lnTo>
                    <a:lnTo>
                      <a:pt x="64" y="0"/>
                    </a:lnTo>
                    <a:lnTo>
                      <a:pt x="62" y="12"/>
                    </a:lnTo>
                    <a:close/>
                  </a:path>
                </a:pathLst>
              </a:custGeom>
              <a:solidFill>
                <a:srgbClr val="000000"/>
              </a:solidFill>
              <a:ln w="9525">
                <a:noFill/>
                <a:round/>
                <a:headEnd/>
                <a:tailEnd/>
              </a:ln>
            </p:spPr>
            <p:txBody>
              <a:bodyPr wrap="none" anchor="ctr"/>
              <a:lstStyle/>
              <a:p>
                <a:endParaRPr lang="en-US"/>
              </a:p>
            </p:txBody>
          </p:sp>
          <p:sp>
            <p:nvSpPr>
              <p:cNvPr id="17432" name="Freeform 24"/>
              <p:cNvSpPr>
                <a:spLocks noChangeArrowheads="1"/>
              </p:cNvSpPr>
              <p:nvPr/>
            </p:nvSpPr>
            <p:spPr bwMode="auto">
              <a:xfrm>
                <a:off x="1527" y="397"/>
                <a:ext cx="53" cy="81"/>
              </a:xfrm>
              <a:custGeom>
                <a:avLst/>
                <a:gdLst>
                  <a:gd name="T0" fmla="*/ 48 w 53"/>
                  <a:gd name="T1" fmla="*/ 18 h 81"/>
                  <a:gd name="T2" fmla="*/ 35 w 53"/>
                  <a:gd name="T3" fmla="*/ 13 h 81"/>
                  <a:gd name="T4" fmla="*/ 31 w 53"/>
                  <a:gd name="T5" fmla="*/ 13 h 81"/>
                  <a:gd name="T6" fmla="*/ 24 w 53"/>
                  <a:gd name="T7" fmla="*/ 18 h 81"/>
                  <a:gd name="T8" fmla="*/ 23 w 53"/>
                  <a:gd name="T9" fmla="*/ 22 h 81"/>
                  <a:gd name="T10" fmla="*/ 29 w 53"/>
                  <a:gd name="T11" fmla="*/ 32 h 81"/>
                  <a:gd name="T12" fmla="*/ 37 w 53"/>
                  <a:gd name="T13" fmla="*/ 38 h 81"/>
                  <a:gd name="T14" fmla="*/ 43 w 53"/>
                  <a:gd name="T15" fmla="*/ 43 h 81"/>
                  <a:gd name="T16" fmla="*/ 47 w 53"/>
                  <a:gd name="T17" fmla="*/ 48 h 81"/>
                  <a:gd name="T18" fmla="*/ 48 w 53"/>
                  <a:gd name="T19" fmla="*/ 53 h 81"/>
                  <a:gd name="T20" fmla="*/ 50 w 53"/>
                  <a:gd name="T21" fmla="*/ 57 h 81"/>
                  <a:gd name="T22" fmla="*/ 47 w 53"/>
                  <a:gd name="T23" fmla="*/ 67 h 81"/>
                  <a:gd name="T24" fmla="*/ 42 w 53"/>
                  <a:gd name="T25" fmla="*/ 75 h 81"/>
                  <a:gd name="T26" fmla="*/ 32 w 53"/>
                  <a:gd name="T27" fmla="*/ 80 h 81"/>
                  <a:gd name="T28" fmla="*/ 19 w 53"/>
                  <a:gd name="T29" fmla="*/ 81 h 81"/>
                  <a:gd name="T30" fmla="*/ 0 w 53"/>
                  <a:gd name="T31" fmla="*/ 77 h 81"/>
                  <a:gd name="T32" fmla="*/ 5 w 53"/>
                  <a:gd name="T33" fmla="*/ 62 h 81"/>
                  <a:gd name="T34" fmla="*/ 21 w 53"/>
                  <a:gd name="T35" fmla="*/ 69 h 81"/>
                  <a:gd name="T36" fmla="*/ 26 w 53"/>
                  <a:gd name="T37" fmla="*/ 67 h 81"/>
                  <a:gd name="T38" fmla="*/ 31 w 53"/>
                  <a:gd name="T39" fmla="*/ 65 h 81"/>
                  <a:gd name="T40" fmla="*/ 34 w 53"/>
                  <a:gd name="T41" fmla="*/ 59 h 81"/>
                  <a:gd name="T42" fmla="*/ 32 w 53"/>
                  <a:gd name="T43" fmla="*/ 54 h 81"/>
                  <a:gd name="T44" fmla="*/ 19 w 53"/>
                  <a:gd name="T45" fmla="*/ 43 h 81"/>
                  <a:gd name="T46" fmla="*/ 15 w 53"/>
                  <a:gd name="T47" fmla="*/ 38 h 81"/>
                  <a:gd name="T48" fmla="*/ 11 w 53"/>
                  <a:gd name="T49" fmla="*/ 33 h 81"/>
                  <a:gd name="T50" fmla="*/ 8 w 53"/>
                  <a:gd name="T51" fmla="*/ 29 h 81"/>
                  <a:gd name="T52" fmla="*/ 8 w 53"/>
                  <a:gd name="T53" fmla="*/ 24 h 81"/>
                  <a:gd name="T54" fmla="*/ 8 w 53"/>
                  <a:gd name="T55" fmla="*/ 19 h 81"/>
                  <a:gd name="T56" fmla="*/ 13 w 53"/>
                  <a:gd name="T57" fmla="*/ 10 h 81"/>
                  <a:gd name="T58" fmla="*/ 16 w 53"/>
                  <a:gd name="T59" fmla="*/ 6 h 81"/>
                  <a:gd name="T60" fmla="*/ 24 w 53"/>
                  <a:gd name="T61" fmla="*/ 2 h 81"/>
                  <a:gd name="T62" fmla="*/ 34 w 53"/>
                  <a:gd name="T63" fmla="*/ 0 h 81"/>
                  <a:gd name="T64" fmla="*/ 43 w 53"/>
                  <a:gd name="T65" fmla="*/ 2 h 81"/>
                  <a:gd name="T66" fmla="*/ 48 w 53"/>
                  <a:gd name="T67" fmla="*/ 18 h 8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
                  <a:gd name="T103" fmla="*/ 0 h 81"/>
                  <a:gd name="T104" fmla="*/ 53 w 53"/>
                  <a:gd name="T105" fmla="*/ 81 h 8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 h="81">
                    <a:moveTo>
                      <a:pt x="48" y="18"/>
                    </a:moveTo>
                    <a:lnTo>
                      <a:pt x="48" y="18"/>
                    </a:lnTo>
                    <a:lnTo>
                      <a:pt x="42" y="14"/>
                    </a:lnTo>
                    <a:lnTo>
                      <a:pt x="35" y="13"/>
                    </a:lnTo>
                    <a:lnTo>
                      <a:pt x="31" y="13"/>
                    </a:lnTo>
                    <a:lnTo>
                      <a:pt x="26" y="14"/>
                    </a:lnTo>
                    <a:lnTo>
                      <a:pt x="24" y="18"/>
                    </a:lnTo>
                    <a:lnTo>
                      <a:pt x="23" y="22"/>
                    </a:lnTo>
                    <a:lnTo>
                      <a:pt x="24" y="27"/>
                    </a:lnTo>
                    <a:lnTo>
                      <a:pt x="29" y="32"/>
                    </a:lnTo>
                    <a:lnTo>
                      <a:pt x="37" y="38"/>
                    </a:lnTo>
                    <a:lnTo>
                      <a:pt x="43" y="43"/>
                    </a:lnTo>
                    <a:lnTo>
                      <a:pt x="47" y="48"/>
                    </a:lnTo>
                    <a:lnTo>
                      <a:pt x="48" y="53"/>
                    </a:lnTo>
                    <a:lnTo>
                      <a:pt x="50" y="57"/>
                    </a:lnTo>
                    <a:lnTo>
                      <a:pt x="48" y="64"/>
                    </a:lnTo>
                    <a:lnTo>
                      <a:pt x="47" y="67"/>
                    </a:lnTo>
                    <a:lnTo>
                      <a:pt x="45" y="72"/>
                    </a:lnTo>
                    <a:lnTo>
                      <a:pt x="42" y="75"/>
                    </a:lnTo>
                    <a:lnTo>
                      <a:pt x="32" y="80"/>
                    </a:lnTo>
                    <a:lnTo>
                      <a:pt x="19" y="81"/>
                    </a:lnTo>
                    <a:lnTo>
                      <a:pt x="10" y="80"/>
                    </a:lnTo>
                    <a:lnTo>
                      <a:pt x="0" y="77"/>
                    </a:lnTo>
                    <a:lnTo>
                      <a:pt x="5" y="62"/>
                    </a:lnTo>
                    <a:lnTo>
                      <a:pt x="13" y="67"/>
                    </a:lnTo>
                    <a:lnTo>
                      <a:pt x="21" y="69"/>
                    </a:lnTo>
                    <a:lnTo>
                      <a:pt x="26" y="67"/>
                    </a:lnTo>
                    <a:lnTo>
                      <a:pt x="31" y="65"/>
                    </a:lnTo>
                    <a:lnTo>
                      <a:pt x="34" y="62"/>
                    </a:lnTo>
                    <a:lnTo>
                      <a:pt x="34" y="59"/>
                    </a:lnTo>
                    <a:lnTo>
                      <a:pt x="32" y="54"/>
                    </a:lnTo>
                    <a:lnTo>
                      <a:pt x="27" y="49"/>
                    </a:lnTo>
                    <a:lnTo>
                      <a:pt x="19" y="43"/>
                    </a:lnTo>
                    <a:lnTo>
                      <a:pt x="15" y="38"/>
                    </a:lnTo>
                    <a:lnTo>
                      <a:pt x="11" y="33"/>
                    </a:lnTo>
                    <a:lnTo>
                      <a:pt x="8" y="29"/>
                    </a:lnTo>
                    <a:lnTo>
                      <a:pt x="8" y="24"/>
                    </a:lnTo>
                    <a:lnTo>
                      <a:pt x="8" y="19"/>
                    </a:lnTo>
                    <a:lnTo>
                      <a:pt x="10" y="14"/>
                    </a:lnTo>
                    <a:lnTo>
                      <a:pt x="13" y="10"/>
                    </a:lnTo>
                    <a:lnTo>
                      <a:pt x="16" y="6"/>
                    </a:lnTo>
                    <a:lnTo>
                      <a:pt x="19" y="3"/>
                    </a:lnTo>
                    <a:lnTo>
                      <a:pt x="24" y="2"/>
                    </a:lnTo>
                    <a:lnTo>
                      <a:pt x="34" y="0"/>
                    </a:lnTo>
                    <a:lnTo>
                      <a:pt x="43" y="2"/>
                    </a:lnTo>
                    <a:lnTo>
                      <a:pt x="53" y="3"/>
                    </a:lnTo>
                    <a:lnTo>
                      <a:pt x="48" y="18"/>
                    </a:lnTo>
                    <a:close/>
                  </a:path>
                </a:pathLst>
              </a:custGeom>
              <a:solidFill>
                <a:srgbClr val="000000"/>
              </a:solidFill>
              <a:ln w="9525">
                <a:noFill/>
                <a:round/>
                <a:headEnd/>
                <a:tailEnd/>
              </a:ln>
            </p:spPr>
            <p:txBody>
              <a:bodyPr wrap="none" anchor="ctr"/>
              <a:lstStyle/>
              <a:p>
                <a:endParaRPr lang="en-US"/>
              </a:p>
            </p:txBody>
          </p:sp>
          <p:sp>
            <p:nvSpPr>
              <p:cNvPr id="17433" name="Freeform 25"/>
              <p:cNvSpPr>
                <a:spLocks noChangeArrowheads="1"/>
              </p:cNvSpPr>
              <p:nvPr/>
            </p:nvSpPr>
            <p:spPr bwMode="auto">
              <a:xfrm>
                <a:off x="1582" y="398"/>
                <a:ext cx="65" cy="78"/>
              </a:xfrm>
              <a:custGeom>
                <a:avLst/>
                <a:gdLst>
                  <a:gd name="T0" fmla="*/ 63 w 65"/>
                  <a:gd name="T1" fmla="*/ 12 h 78"/>
                  <a:gd name="T2" fmla="*/ 27 w 65"/>
                  <a:gd name="T3" fmla="*/ 12 h 78"/>
                  <a:gd name="T4" fmla="*/ 24 w 65"/>
                  <a:gd name="T5" fmla="*/ 30 h 78"/>
                  <a:gd name="T6" fmla="*/ 49 w 65"/>
                  <a:gd name="T7" fmla="*/ 30 h 78"/>
                  <a:gd name="T8" fmla="*/ 48 w 65"/>
                  <a:gd name="T9" fmla="*/ 41 h 78"/>
                  <a:gd name="T10" fmla="*/ 22 w 65"/>
                  <a:gd name="T11" fmla="*/ 41 h 78"/>
                  <a:gd name="T12" fmla="*/ 17 w 65"/>
                  <a:gd name="T13" fmla="*/ 65 h 78"/>
                  <a:gd name="T14" fmla="*/ 52 w 65"/>
                  <a:gd name="T15" fmla="*/ 65 h 78"/>
                  <a:gd name="T16" fmla="*/ 51 w 65"/>
                  <a:gd name="T17" fmla="*/ 78 h 78"/>
                  <a:gd name="T18" fmla="*/ 0 w 65"/>
                  <a:gd name="T19" fmla="*/ 78 h 78"/>
                  <a:gd name="T20" fmla="*/ 14 w 65"/>
                  <a:gd name="T21" fmla="*/ 0 h 78"/>
                  <a:gd name="T22" fmla="*/ 65 w 65"/>
                  <a:gd name="T23" fmla="*/ 0 h 78"/>
                  <a:gd name="T24" fmla="*/ 63 w 65"/>
                  <a:gd name="T25" fmla="*/ 12 h 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5"/>
                  <a:gd name="T40" fmla="*/ 0 h 78"/>
                  <a:gd name="T41" fmla="*/ 65 w 65"/>
                  <a:gd name="T42" fmla="*/ 78 h 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5" h="78">
                    <a:moveTo>
                      <a:pt x="63" y="12"/>
                    </a:moveTo>
                    <a:lnTo>
                      <a:pt x="27" y="12"/>
                    </a:lnTo>
                    <a:lnTo>
                      <a:pt x="24" y="30"/>
                    </a:lnTo>
                    <a:lnTo>
                      <a:pt x="49" y="30"/>
                    </a:lnTo>
                    <a:lnTo>
                      <a:pt x="48" y="41"/>
                    </a:lnTo>
                    <a:lnTo>
                      <a:pt x="22" y="41"/>
                    </a:lnTo>
                    <a:lnTo>
                      <a:pt x="17" y="65"/>
                    </a:lnTo>
                    <a:lnTo>
                      <a:pt x="52" y="65"/>
                    </a:lnTo>
                    <a:lnTo>
                      <a:pt x="51" y="78"/>
                    </a:lnTo>
                    <a:lnTo>
                      <a:pt x="0" y="78"/>
                    </a:lnTo>
                    <a:lnTo>
                      <a:pt x="14" y="0"/>
                    </a:lnTo>
                    <a:lnTo>
                      <a:pt x="65" y="0"/>
                    </a:lnTo>
                    <a:lnTo>
                      <a:pt x="63" y="12"/>
                    </a:lnTo>
                    <a:close/>
                  </a:path>
                </a:pathLst>
              </a:custGeom>
              <a:solidFill>
                <a:srgbClr val="000000"/>
              </a:solidFill>
              <a:ln w="9525">
                <a:noFill/>
                <a:round/>
                <a:headEnd/>
                <a:tailEnd/>
              </a:ln>
            </p:spPr>
            <p:txBody>
              <a:bodyPr wrap="none" anchor="ctr"/>
              <a:lstStyle/>
              <a:p>
                <a:endParaRPr lang="en-US"/>
              </a:p>
            </p:txBody>
          </p:sp>
          <p:sp>
            <p:nvSpPr>
              <p:cNvPr id="17434" name="Freeform 26"/>
              <p:cNvSpPr>
                <a:spLocks noChangeArrowheads="1"/>
              </p:cNvSpPr>
              <p:nvPr/>
            </p:nvSpPr>
            <p:spPr bwMode="auto">
              <a:xfrm>
                <a:off x="1639" y="397"/>
                <a:ext cx="64" cy="80"/>
              </a:xfrm>
              <a:custGeom>
                <a:avLst/>
                <a:gdLst>
                  <a:gd name="T0" fmla="*/ 19 w 64"/>
                  <a:gd name="T1" fmla="*/ 51 h 80"/>
                  <a:gd name="T2" fmla="*/ 14 w 64"/>
                  <a:gd name="T3" fmla="*/ 80 h 80"/>
                  <a:gd name="T4" fmla="*/ 0 w 64"/>
                  <a:gd name="T5" fmla="*/ 80 h 80"/>
                  <a:gd name="T6" fmla="*/ 14 w 64"/>
                  <a:gd name="T7" fmla="*/ 2 h 80"/>
                  <a:gd name="T8" fmla="*/ 14 w 64"/>
                  <a:gd name="T9" fmla="*/ 2 h 80"/>
                  <a:gd name="T10" fmla="*/ 32 w 64"/>
                  <a:gd name="T11" fmla="*/ 0 h 80"/>
                  <a:gd name="T12" fmla="*/ 32 w 64"/>
                  <a:gd name="T13" fmla="*/ 0 h 80"/>
                  <a:gd name="T14" fmla="*/ 46 w 64"/>
                  <a:gd name="T15" fmla="*/ 2 h 80"/>
                  <a:gd name="T16" fmla="*/ 51 w 64"/>
                  <a:gd name="T17" fmla="*/ 3 h 80"/>
                  <a:gd name="T18" fmla="*/ 56 w 64"/>
                  <a:gd name="T19" fmla="*/ 6 h 80"/>
                  <a:gd name="T20" fmla="*/ 59 w 64"/>
                  <a:gd name="T21" fmla="*/ 10 h 80"/>
                  <a:gd name="T22" fmla="*/ 61 w 64"/>
                  <a:gd name="T23" fmla="*/ 13 h 80"/>
                  <a:gd name="T24" fmla="*/ 62 w 64"/>
                  <a:gd name="T25" fmla="*/ 18 h 80"/>
                  <a:gd name="T26" fmla="*/ 64 w 64"/>
                  <a:gd name="T27" fmla="*/ 24 h 80"/>
                  <a:gd name="T28" fmla="*/ 64 w 64"/>
                  <a:gd name="T29" fmla="*/ 24 h 80"/>
                  <a:gd name="T30" fmla="*/ 62 w 64"/>
                  <a:gd name="T31" fmla="*/ 30 h 80"/>
                  <a:gd name="T32" fmla="*/ 61 w 64"/>
                  <a:gd name="T33" fmla="*/ 35 h 80"/>
                  <a:gd name="T34" fmla="*/ 58 w 64"/>
                  <a:gd name="T35" fmla="*/ 40 h 80"/>
                  <a:gd name="T36" fmla="*/ 54 w 64"/>
                  <a:gd name="T37" fmla="*/ 45 h 80"/>
                  <a:gd name="T38" fmla="*/ 54 w 64"/>
                  <a:gd name="T39" fmla="*/ 45 h 80"/>
                  <a:gd name="T40" fmla="*/ 48 w 64"/>
                  <a:gd name="T41" fmla="*/ 48 h 80"/>
                  <a:gd name="T42" fmla="*/ 43 w 64"/>
                  <a:gd name="T43" fmla="*/ 49 h 80"/>
                  <a:gd name="T44" fmla="*/ 37 w 64"/>
                  <a:gd name="T45" fmla="*/ 51 h 80"/>
                  <a:gd name="T46" fmla="*/ 29 w 64"/>
                  <a:gd name="T47" fmla="*/ 53 h 80"/>
                  <a:gd name="T48" fmla="*/ 29 w 64"/>
                  <a:gd name="T49" fmla="*/ 53 h 80"/>
                  <a:gd name="T50" fmla="*/ 19 w 64"/>
                  <a:gd name="T51" fmla="*/ 51 h 80"/>
                  <a:gd name="T52" fmla="*/ 19 w 64"/>
                  <a:gd name="T53" fmla="*/ 51 h 80"/>
                  <a:gd name="T54" fmla="*/ 27 w 64"/>
                  <a:gd name="T55" fmla="*/ 13 h 80"/>
                  <a:gd name="T56" fmla="*/ 22 w 64"/>
                  <a:gd name="T57" fmla="*/ 40 h 80"/>
                  <a:gd name="T58" fmla="*/ 22 w 64"/>
                  <a:gd name="T59" fmla="*/ 40 h 80"/>
                  <a:gd name="T60" fmla="*/ 29 w 64"/>
                  <a:gd name="T61" fmla="*/ 40 h 80"/>
                  <a:gd name="T62" fmla="*/ 29 w 64"/>
                  <a:gd name="T63" fmla="*/ 40 h 80"/>
                  <a:gd name="T64" fmla="*/ 37 w 64"/>
                  <a:gd name="T65" fmla="*/ 38 h 80"/>
                  <a:gd name="T66" fmla="*/ 43 w 64"/>
                  <a:gd name="T67" fmla="*/ 37 h 80"/>
                  <a:gd name="T68" fmla="*/ 43 w 64"/>
                  <a:gd name="T69" fmla="*/ 37 h 80"/>
                  <a:gd name="T70" fmla="*/ 48 w 64"/>
                  <a:gd name="T71" fmla="*/ 32 h 80"/>
                  <a:gd name="T72" fmla="*/ 50 w 64"/>
                  <a:gd name="T73" fmla="*/ 26 h 80"/>
                  <a:gd name="T74" fmla="*/ 50 w 64"/>
                  <a:gd name="T75" fmla="*/ 26 h 80"/>
                  <a:gd name="T76" fmla="*/ 48 w 64"/>
                  <a:gd name="T77" fmla="*/ 19 h 80"/>
                  <a:gd name="T78" fmla="*/ 45 w 64"/>
                  <a:gd name="T79" fmla="*/ 16 h 80"/>
                  <a:gd name="T80" fmla="*/ 42 w 64"/>
                  <a:gd name="T81" fmla="*/ 13 h 80"/>
                  <a:gd name="T82" fmla="*/ 35 w 64"/>
                  <a:gd name="T83" fmla="*/ 13 h 80"/>
                  <a:gd name="T84" fmla="*/ 35 w 64"/>
                  <a:gd name="T85" fmla="*/ 13 h 80"/>
                  <a:gd name="T86" fmla="*/ 27 w 64"/>
                  <a:gd name="T87" fmla="*/ 13 h 80"/>
                  <a:gd name="T88" fmla="*/ 27 w 64"/>
                  <a:gd name="T89" fmla="*/ 13 h 8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4"/>
                  <a:gd name="T136" fmla="*/ 0 h 80"/>
                  <a:gd name="T137" fmla="*/ 64 w 64"/>
                  <a:gd name="T138" fmla="*/ 80 h 8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4" h="80">
                    <a:moveTo>
                      <a:pt x="19" y="51"/>
                    </a:moveTo>
                    <a:lnTo>
                      <a:pt x="14" y="80"/>
                    </a:lnTo>
                    <a:lnTo>
                      <a:pt x="0" y="80"/>
                    </a:lnTo>
                    <a:lnTo>
                      <a:pt x="14" y="2"/>
                    </a:lnTo>
                    <a:lnTo>
                      <a:pt x="32" y="0"/>
                    </a:lnTo>
                    <a:lnTo>
                      <a:pt x="46" y="2"/>
                    </a:lnTo>
                    <a:lnTo>
                      <a:pt x="51" y="3"/>
                    </a:lnTo>
                    <a:lnTo>
                      <a:pt x="56" y="6"/>
                    </a:lnTo>
                    <a:lnTo>
                      <a:pt x="59" y="10"/>
                    </a:lnTo>
                    <a:lnTo>
                      <a:pt x="61" y="13"/>
                    </a:lnTo>
                    <a:lnTo>
                      <a:pt x="62" y="18"/>
                    </a:lnTo>
                    <a:lnTo>
                      <a:pt x="64" y="24"/>
                    </a:lnTo>
                    <a:lnTo>
                      <a:pt x="62" y="30"/>
                    </a:lnTo>
                    <a:lnTo>
                      <a:pt x="61" y="35"/>
                    </a:lnTo>
                    <a:lnTo>
                      <a:pt x="58" y="40"/>
                    </a:lnTo>
                    <a:lnTo>
                      <a:pt x="54" y="45"/>
                    </a:lnTo>
                    <a:lnTo>
                      <a:pt x="48" y="48"/>
                    </a:lnTo>
                    <a:lnTo>
                      <a:pt x="43" y="49"/>
                    </a:lnTo>
                    <a:lnTo>
                      <a:pt x="37" y="51"/>
                    </a:lnTo>
                    <a:lnTo>
                      <a:pt x="29" y="53"/>
                    </a:lnTo>
                    <a:lnTo>
                      <a:pt x="19" y="51"/>
                    </a:lnTo>
                    <a:close/>
                    <a:moveTo>
                      <a:pt x="27" y="13"/>
                    </a:moveTo>
                    <a:lnTo>
                      <a:pt x="22" y="40"/>
                    </a:lnTo>
                    <a:lnTo>
                      <a:pt x="29" y="40"/>
                    </a:lnTo>
                    <a:lnTo>
                      <a:pt x="37" y="38"/>
                    </a:lnTo>
                    <a:lnTo>
                      <a:pt x="43" y="37"/>
                    </a:lnTo>
                    <a:lnTo>
                      <a:pt x="48" y="32"/>
                    </a:lnTo>
                    <a:lnTo>
                      <a:pt x="50" y="26"/>
                    </a:lnTo>
                    <a:lnTo>
                      <a:pt x="48" y="19"/>
                    </a:lnTo>
                    <a:lnTo>
                      <a:pt x="45" y="16"/>
                    </a:lnTo>
                    <a:lnTo>
                      <a:pt x="42" y="13"/>
                    </a:lnTo>
                    <a:lnTo>
                      <a:pt x="35" y="13"/>
                    </a:lnTo>
                    <a:lnTo>
                      <a:pt x="27" y="13"/>
                    </a:lnTo>
                    <a:close/>
                  </a:path>
                </a:pathLst>
              </a:custGeom>
              <a:solidFill>
                <a:srgbClr val="000000"/>
              </a:solidFill>
              <a:ln w="9525">
                <a:noFill/>
                <a:round/>
                <a:headEnd/>
                <a:tailEnd/>
              </a:ln>
            </p:spPr>
            <p:txBody>
              <a:bodyPr wrap="none" anchor="ctr"/>
              <a:lstStyle/>
              <a:p>
                <a:endParaRPr lang="en-US"/>
              </a:p>
            </p:txBody>
          </p:sp>
        </p:grpSp>
        <p:pic>
          <p:nvPicPr>
            <p:cNvPr id="17416" name="Picture 27"/>
            <p:cNvPicPr>
              <a:picLocks noChangeAspect="1" noChangeArrowheads="1"/>
            </p:cNvPicPr>
            <p:nvPr/>
          </p:nvPicPr>
          <p:blipFill>
            <a:blip r:embed="rId3"/>
            <a:srcRect/>
            <a:stretch>
              <a:fillRect/>
            </a:stretch>
          </p:blipFill>
          <p:spPr bwMode="auto">
            <a:xfrm>
              <a:off x="2761" y="249"/>
              <a:ext cx="399" cy="395"/>
            </a:xfrm>
            <a:prstGeom prst="rect">
              <a:avLst/>
            </a:prstGeom>
            <a:noFill/>
            <a:ln w="9525">
              <a:noFill/>
              <a:miter lim="800000"/>
              <a:headEnd/>
              <a:tailEnd/>
            </a:ln>
          </p:spPr>
        </p:pic>
        <p:pic>
          <p:nvPicPr>
            <p:cNvPr id="17417" name="Picture 28"/>
            <p:cNvPicPr>
              <a:picLocks noChangeAspect="1" noChangeArrowheads="1"/>
            </p:cNvPicPr>
            <p:nvPr/>
          </p:nvPicPr>
          <p:blipFill>
            <a:blip r:embed="rId4"/>
            <a:srcRect/>
            <a:stretch>
              <a:fillRect/>
            </a:stretch>
          </p:blipFill>
          <p:spPr bwMode="auto">
            <a:xfrm>
              <a:off x="2016" y="283"/>
              <a:ext cx="564" cy="329"/>
            </a:xfrm>
            <a:prstGeom prst="rect">
              <a:avLst/>
            </a:prstGeom>
            <a:noFill/>
            <a:ln w="9525">
              <a:noFill/>
              <a:miter lim="800000"/>
              <a:headEnd/>
              <a:tailEnd/>
            </a:ln>
          </p:spPr>
        </p:pic>
      </p:grpSp>
      <p:sp>
        <p:nvSpPr>
          <p:cNvPr id="17414" name="Text Box 3"/>
          <p:cNvSpPr txBox="1">
            <a:spLocks noChangeArrowheads="1"/>
          </p:cNvSpPr>
          <p:nvPr/>
        </p:nvSpPr>
        <p:spPr bwMode="auto">
          <a:xfrm>
            <a:off x="379413" y="1924050"/>
            <a:ext cx="4192587" cy="4745038"/>
          </a:xfrm>
          <a:prstGeom prst="rect">
            <a:avLst/>
          </a:prstGeom>
          <a:noFill/>
          <a:ln w="9525">
            <a:noFill/>
            <a:miter lim="800000"/>
            <a:headEnd/>
            <a:tailEnd/>
          </a:ln>
        </p:spPr>
        <p:txBody>
          <a:bodyPr lIns="0" tIns="0" rIns="0" bIns="0"/>
          <a:lstStyle/>
          <a:p>
            <a:pPr marL="180975" indent="-180975" hangingPunct="0">
              <a:spcBef>
                <a:spcPts val="1200"/>
              </a:spcBef>
              <a:buClr>
                <a:srgbClr val="000000"/>
              </a:buCl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2000" b="1" i="0"/>
              <a:t>SILVER</a:t>
            </a:r>
          </a:p>
          <a:p>
            <a:pPr marL="180975" indent="-180975">
              <a:spcBef>
                <a:spcPts val="600"/>
              </a:spcBef>
              <a:buClr>
                <a:schemeClr val="bg1"/>
              </a:buClr>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b="1" i="0"/>
              <a:t>The Australian National University</a:t>
            </a:r>
          </a:p>
          <a:p>
            <a:pPr marL="180975" indent="-180975">
              <a:spcBef>
                <a:spcPts val="1200"/>
              </a:spcBef>
              <a:buClr>
                <a:schemeClr val="bg1"/>
              </a:buClr>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1600" b="1" i="0"/>
              <a:t>Department of Primary Industries, Vic</a:t>
            </a:r>
            <a:endParaRPr lang="en-GB" sz="1600" b="1" i="0"/>
          </a:p>
          <a:p>
            <a:pPr marL="180975" indent="-180975">
              <a:spcBef>
                <a:spcPts val="1200"/>
              </a:spcBef>
              <a:buClr>
                <a:schemeClr val="bg1"/>
              </a:buClr>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b="1" i="0"/>
              <a:t>Earth Science Western Australia</a:t>
            </a:r>
          </a:p>
          <a:p>
            <a:pPr marL="180975" indent="-180975">
              <a:spcBef>
                <a:spcPts val="1200"/>
              </a:spcBef>
              <a:buClr>
                <a:schemeClr val="bg1"/>
              </a:buClr>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b="1" i="0"/>
              <a:t>Pitney Bowes Business Insight</a:t>
            </a:r>
          </a:p>
          <a:p>
            <a:pPr marL="180975" indent="-180975" hangingPunct="0">
              <a:spcBef>
                <a:spcPts val="1200"/>
              </a:spcBef>
              <a:buClr>
                <a:schemeClr val="bg1"/>
              </a:buClr>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b="1" i="0"/>
              <a:t>PowerWorks</a:t>
            </a:r>
          </a:p>
          <a:p>
            <a:pPr marL="180975" indent="-180975" hangingPunct="0">
              <a:spcBef>
                <a:spcPts val="1200"/>
              </a:spcBef>
              <a:buClr>
                <a:schemeClr val="bg1"/>
              </a:buClr>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b="1" i="0"/>
              <a:t>Queensland Resources Council</a:t>
            </a:r>
          </a:p>
          <a:p>
            <a:pPr marL="180975" indent="-180975" hangingPunct="0">
              <a:spcBef>
                <a:spcPts val="1200"/>
              </a:spcBef>
              <a:buClr>
                <a:schemeClr val="bg1"/>
              </a:buClr>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b="1" i="0"/>
              <a:t>Rob Kirk Consultants</a:t>
            </a:r>
          </a:p>
          <a:p>
            <a:pPr marL="180975" indent="-180975" hangingPunct="0">
              <a:spcBef>
                <a:spcPts val="1200"/>
              </a:spcBef>
              <a:buClr>
                <a:schemeClr val="bg1"/>
              </a:buClr>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b="1" i="0"/>
              <a:t>The University of Sydney </a:t>
            </a:r>
          </a:p>
          <a:p>
            <a:pPr marL="180975" indent="-180975" hangingPunct="0">
              <a:spcBef>
                <a:spcPts val="1200"/>
              </a:spcBef>
              <a:buClr>
                <a:schemeClr val="bg1"/>
              </a:buClr>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b="1" i="0"/>
              <a:t>The University of Tasmania</a:t>
            </a:r>
          </a:p>
          <a:p>
            <a:pPr marL="628650" lvl="1" indent="-182563" hangingPunct="0">
              <a:spcBef>
                <a:spcPts val="1200"/>
              </a:spcBef>
              <a:buClr>
                <a:srgbClr val="FFFFFF"/>
              </a:buClr>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sz="1600" b="1" i="0"/>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7" name="Group 2"/>
          <p:cNvGrpSpPr>
            <a:grpSpLocks/>
          </p:cNvGrpSpPr>
          <p:nvPr/>
        </p:nvGrpSpPr>
        <p:grpSpPr bwMode="auto">
          <a:xfrm>
            <a:off x="250825" y="190500"/>
            <a:ext cx="8415338" cy="6473825"/>
            <a:chOff x="158" y="120"/>
            <a:chExt cx="5301" cy="4078"/>
          </a:xfrm>
        </p:grpSpPr>
        <p:sp>
          <p:nvSpPr>
            <p:cNvPr id="19519" name="Freeform 3"/>
            <p:cNvSpPr>
              <a:spLocks noChangeArrowheads="1"/>
            </p:cNvSpPr>
            <p:nvPr/>
          </p:nvSpPr>
          <p:spPr bwMode="auto">
            <a:xfrm>
              <a:off x="3472" y="122"/>
              <a:ext cx="1988" cy="4077"/>
            </a:xfrm>
            <a:custGeom>
              <a:avLst/>
              <a:gdLst>
                <a:gd name="T0" fmla="*/ 1988 w 1988"/>
                <a:gd name="T1" fmla="*/ 2669 h 4077"/>
                <a:gd name="T2" fmla="*/ 1987 w 1988"/>
                <a:gd name="T3" fmla="*/ 2552 h 4077"/>
                <a:gd name="T4" fmla="*/ 1978 w 1988"/>
                <a:gd name="T5" fmla="*/ 2438 h 4077"/>
                <a:gd name="T6" fmla="*/ 1966 w 1988"/>
                <a:gd name="T7" fmla="*/ 2324 h 4077"/>
                <a:gd name="T8" fmla="*/ 1948 w 1988"/>
                <a:gd name="T9" fmla="*/ 2214 h 4077"/>
                <a:gd name="T10" fmla="*/ 1928 w 1988"/>
                <a:gd name="T11" fmla="*/ 2103 h 4077"/>
                <a:gd name="T12" fmla="*/ 1903 w 1988"/>
                <a:gd name="T13" fmla="*/ 1994 h 4077"/>
                <a:gd name="T14" fmla="*/ 1874 w 1988"/>
                <a:gd name="T15" fmla="*/ 1887 h 4077"/>
                <a:gd name="T16" fmla="*/ 1840 w 1988"/>
                <a:gd name="T17" fmla="*/ 1780 h 4077"/>
                <a:gd name="T18" fmla="*/ 1802 w 1988"/>
                <a:gd name="T19" fmla="*/ 1676 h 4077"/>
                <a:gd name="T20" fmla="*/ 1759 w 1988"/>
                <a:gd name="T21" fmla="*/ 1574 h 4077"/>
                <a:gd name="T22" fmla="*/ 1714 w 1988"/>
                <a:gd name="T23" fmla="*/ 1474 h 4077"/>
                <a:gd name="T24" fmla="*/ 1664 w 1988"/>
                <a:gd name="T25" fmla="*/ 1378 h 4077"/>
                <a:gd name="T26" fmla="*/ 1610 w 1988"/>
                <a:gd name="T27" fmla="*/ 1281 h 4077"/>
                <a:gd name="T28" fmla="*/ 1553 w 1988"/>
                <a:gd name="T29" fmla="*/ 1187 h 4077"/>
                <a:gd name="T30" fmla="*/ 1491 w 1988"/>
                <a:gd name="T31" fmla="*/ 1096 h 4077"/>
                <a:gd name="T32" fmla="*/ 1428 w 1988"/>
                <a:gd name="T33" fmla="*/ 1008 h 4077"/>
                <a:gd name="T34" fmla="*/ 1289 w 1988"/>
                <a:gd name="T35" fmla="*/ 837 h 4077"/>
                <a:gd name="T36" fmla="*/ 1138 w 1988"/>
                <a:gd name="T37" fmla="*/ 679 h 4077"/>
                <a:gd name="T38" fmla="*/ 974 w 1988"/>
                <a:gd name="T39" fmla="*/ 532 h 4077"/>
                <a:gd name="T40" fmla="*/ 801 w 1988"/>
                <a:gd name="T41" fmla="*/ 396 h 4077"/>
                <a:gd name="T42" fmla="*/ 614 w 1988"/>
                <a:gd name="T43" fmla="*/ 273 h 4077"/>
                <a:gd name="T44" fmla="*/ 470 w 1988"/>
                <a:gd name="T45" fmla="*/ 191 h 4077"/>
                <a:gd name="T46" fmla="*/ 371 w 1988"/>
                <a:gd name="T47" fmla="*/ 140 h 4077"/>
                <a:gd name="T48" fmla="*/ 268 w 1988"/>
                <a:gd name="T49" fmla="*/ 95 h 4077"/>
                <a:gd name="T50" fmla="*/ 163 w 1988"/>
                <a:gd name="T51" fmla="*/ 51 h 4077"/>
                <a:gd name="T52" fmla="*/ 57 w 1988"/>
                <a:gd name="T53" fmla="*/ 10 h 4077"/>
                <a:gd name="T54" fmla="*/ 0 w 1988"/>
                <a:gd name="T55" fmla="*/ 4077 h 4077"/>
                <a:gd name="T56" fmla="*/ 1600 w 1988"/>
                <a:gd name="T57" fmla="*/ 4077 h 4077"/>
                <a:gd name="T58" fmla="*/ 1685 w 1988"/>
                <a:gd name="T59" fmla="*/ 3919 h 4077"/>
                <a:gd name="T60" fmla="*/ 1764 w 1988"/>
                <a:gd name="T61" fmla="*/ 3755 h 4077"/>
                <a:gd name="T62" fmla="*/ 1830 w 1988"/>
                <a:gd name="T63" fmla="*/ 3585 h 4077"/>
                <a:gd name="T64" fmla="*/ 1885 w 1988"/>
                <a:gd name="T65" fmla="*/ 3411 h 4077"/>
                <a:gd name="T66" fmla="*/ 1929 w 1988"/>
                <a:gd name="T67" fmla="*/ 3232 h 4077"/>
                <a:gd name="T68" fmla="*/ 1962 w 1988"/>
                <a:gd name="T69" fmla="*/ 3047 h 4077"/>
                <a:gd name="T70" fmla="*/ 1981 w 1988"/>
                <a:gd name="T71" fmla="*/ 2860 h 4077"/>
                <a:gd name="T72" fmla="*/ 1988 w 1988"/>
                <a:gd name="T73" fmla="*/ 2669 h 407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988"/>
                <a:gd name="T112" fmla="*/ 0 h 4077"/>
                <a:gd name="T113" fmla="*/ 1988 w 1988"/>
                <a:gd name="T114" fmla="*/ 4077 h 407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988" h="4077">
                  <a:moveTo>
                    <a:pt x="1988" y="2669"/>
                  </a:moveTo>
                  <a:lnTo>
                    <a:pt x="1988" y="2669"/>
                  </a:lnTo>
                  <a:lnTo>
                    <a:pt x="1988" y="2611"/>
                  </a:lnTo>
                  <a:lnTo>
                    <a:pt x="1987" y="2552"/>
                  </a:lnTo>
                  <a:lnTo>
                    <a:pt x="1982" y="2495"/>
                  </a:lnTo>
                  <a:lnTo>
                    <a:pt x="1978" y="2438"/>
                  </a:lnTo>
                  <a:lnTo>
                    <a:pt x="1972" y="2382"/>
                  </a:lnTo>
                  <a:lnTo>
                    <a:pt x="1966" y="2324"/>
                  </a:lnTo>
                  <a:lnTo>
                    <a:pt x="1957" y="2268"/>
                  </a:lnTo>
                  <a:lnTo>
                    <a:pt x="1948" y="2214"/>
                  </a:lnTo>
                  <a:lnTo>
                    <a:pt x="1940" y="2157"/>
                  </a:lnTo>
                  <a:lnTo>
                    <a:pt x="1928" y="2103"/>
                  </a:lnTo>
                  <a:lnTo>
                    <a:pt x="1918" y="2048"/>
                  </a:lnTo>
                  <a:lnTo>
                    <a:pt x="1903" y="1994"/>
                  </a:lnTo>
                  <a:lnTo>
                    <a:pt x="1890" y="1940"/>
                  </a:lnTo>
                  <a:lnTo>
                    <a:pt x="1874" y="1887"/>
                  </a:lnTo>
                  <a:lnTo>
                    <a:pt x="1858" y="1833"/>
                  </a:lnTo>
                  <a:lnTo>
                    <a:pt x="1840" y="1780"/>
                  </a:lnTo>
                  <a:lnTo>
                    <a:pt x="1821" y="1729"/>
                  </a:lnTo>
                  <a:lnTo>
                    <a:pt x="1802" y="1676"/>
                  </a:lnTo>
                  <a:lnTo>
                    <a:pt x="1781" y="1625"/>
                  </a:lnTo>
                  <a:lnTo>
                    <a:pt x="1759" y="1574"/>
                  </a:lnTo>
                  <a:lnTo>
                    <a:pt x="1737" y="1526"/>
                  </a:lnTo>
                  <a:lnTo>
                    <a:pt x="1714" y="1474"/>
                  </a:lnTo>
                  <a:lnTo>
                    <a:pt x="1689" y="1424"/>
                  </a:lnTo>
                  <a:lnTo>
                    <a:pt x="1664" y="1378"/>
                  </a:lnTo>
                  <a:lnTo>
                    <a:pt x="1638" y="1328"/>
                  </a:lnTo>
                  <a:lnTo>
                    <a:pt x="1610" y="1281"/>
                  </a:lnTo>
                  <a:lnTo>
                    <a:pt x="1582" y="1236"/>
                  </a:lnTo>
                  <a:lnTo>
                    <a:pt x="1553" y="1187"/>
                  </a:lnTo>
                  <a:lnTo>
                    <a:pt x="1524" y="1142"/>
                  </a:lnTo>
                  <a:lnTo>
                    <a:pt x="1491" y="1096"/>
                  </a:lnTo>
                  <a:lnTo>
                    <a:pt x="1461" y="1052"/>
                  </a:lnTo>
                  <a:lnTo>
                    <a:pt x="1428" y="1008"/>
                  </a:lnTo>
                  <a:lnTo>
                    <a:pt x="1360" y="922"/>
                  </a:lnTo>
                  <a:lnTo>
                    <a:pt x="1289" y="837"/>
                  </a:lnTo>
                  <a:lnTo>
                    <a:pt x="1216" y="757"/>
                  </a:lnTo>
                  <a:lnTo>
                    <a:pt x="1138" y="679"/>
                  </a:lnTo>
                  <a:lnTo>
                    <a:pt x="1058" y="604"/>
                  </a:lnTo>
                  <a:lnTo>
                    <a:pt x="974" y="532"/>
                  </a:lnTo>
                  <a:lnTo>
                    <a:pt x="889" y="464"/>
                  </a:lnTo>
                  <a:lnTo>
                    <a:pt x="801" y="396"/>
                  </a:lnTo>
                  <a:lnTo>
                    <a:pt x="709" y="333"/>
                  </a:lnTo>
                  <a:lnTo>
                    <a:pt x="614" y="273"/>
                  </a:lnTo>
                  <a:lnTo>
                    <a:pt x="517" y="219"/>
                  </a:lnTo>
                  <a:lnTo>
                    <a:pt x="470" y="191"/>
                  </a:lnTo>
                  <a:lnTo>
                    <a:pt x="419" y="166"/>
                  </a:lnTo>
                  <a:lnTo>
                    <a:pt x="371" y="140"/>
                  </a:lnTo>
                  <a:lnTo>
                    <a:pt x="319" y="118"/>
                  </a:lnTo>
                  <a:lnTo>
                    <a:pt x="268" y="95"/>
                  </a:lnTo>
                  <a:lnTo>
                    <a:pt x="215" y="71"/>
                  </a:lnTo>
                  <a:lnTo>
                    <a:pt x="163" y="51"/>
                  </a:lnTo>
                  <a:lnTo>
                    <a:pt x="110" y="30"/>
                  </a:lnTo>
                  <a:lnTo>
                    <a:pt x="57" y="10"/>
                  </a:lnTo>
                  <a:lnTo>
                    <a:pt x="1" y="0"/>
                  </a:lnTo>
                  <a:lnTo>
                    <a:pt x="0" y="4077"/>
                  </a:lnTo>
                  <a:lnTo>
                    <a:pt x="1600" y="4077"/>
                  </a:lnTo>
                  <a:lnTo>
                    <a:pt x="1644" y="3999"/>
                  </a:lnTo>
                  <a:lnTo>
                    <a:pt x="1685" y="3919"/>
                  </a:lnTo>
                  <a:lnTo>
                    <a:pt x="1726" y="3837"/>
                  </a:lnTo>
                  <a:lnTo>
                    <a:pt x="1764" y="3755"/>
                  </a:lnTo>
                  <a:lnTo>
                    <a:pt x="1798" y="3670"/>
                  </a:lnTo>
                  <a:lnTo>
                    <a:pt x="1830" y="3585"/>
                  </a:lnTo>
                  <a:lnTo>
                    <a:pt x="1859" y="3498"/>
                  </a:lnTo>
                  <a:lnTo>
                    <a:pt x="1885" y="3411"/>
                  </a:lnTo>
                  <a:lnTo>
                    <a:pt x="1909" y="3321"/>
                  </a:lnTo>
                  <a:lnTo>
                    <a:pt x="1929" y="3232"/>
                  </a:lnTo>
                  <a:lnTo>
                    <a:pt x="1947" y="3140"/>
                  </a:lnTo>
                  <a:lnTo>
                    <a:pt x="1962" y="3047"/>
                  </a:lnTo>
                  <a:lnTo>
                    <a:pt x="1973" y="2954"/>
                  </a:lnTo>
                  <a:lnTo>
                    <a:pt x="1981" y="2860"/>
                  </a:lnTo>
                  <a:lnTo>
                    <a:pt x="1987" y="2763"/>
                  </a:lnTo>
                  <a:lnTo>
                    <a:pt x="1988" y="2669"/>
                  </a:lnTo>
                  <a:close/>
                </a:path>
              </a:pathLst>
            </a:custGeom>
            <a:solidFill>
              <a:srgbClr val="186C94"/>
            </a:solidFill>
            <a:ln w="9525">
              <a:noFill/>
              <a:round/>
              <a:headEnd/>
              <a:tailEnd/>
            </a:ln>
          </p:spPr>
          <p:txBody>
            <a:bodyPr wrap="none" anchor="ctr"/>
            <a:lstStyle/>
            <a:p>
              <a:endParaRPr lang="en-US"/>
            </a:p>
          </p:txBody>
        </p:sp>
        <p:sp>
          <p:nvSpPr>
            <p:cNvPr id="19520" name="Rectangle 4"/>
            <p:cNvSpPr>
              <a:spLocks noChangeArrowheads="1"/>
            </p:cNvSpPr>
            <p:nvPr/>
          </p:nvSpPr>
          <p:spPr bwMode="auto">
            <a:xfrm>
              <a:off x="158" y="120"/>
              <a:ext cx="3320" cy="4079"/>
            </a:xfrm>
            <a:prstGeom prst="rect">
              <a:avLst/>
            </a:prstGeom>
            <a:solidFill>
              <a:srgbClr val="186C94"/>
            </a:solid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sp>
        <p:nvSpPr>
          <p:cNvPr id="19458" name="Text Box 5"/>
          <p:cNvSpPr txBox="1">
            <a:spLocks noChangeArrowheads="1"/>
          </p:cNvSpPr>
          <p:nvPr/>
        </p:nvSpPr>
        <p:spPr bwMode="auto">
          <a:xfrm>
            <a:off x="693738" y="1168400"/>
            <a:ext cx="5513387" cy="290513"/>
          </a:xfrm>
          <a:prstGeom prst="rect">
            <a:avLst/>
          </a:prstGeom>
          <a:noFill/>
          <a:ln w="9525">
            <a:noFill/>
            <a:miter lim="800000"/>
            <a:headEnd/>
            <a:tailEnd/>
          </a:ln>
        </p:spPr>
        <p:txBody>
          <a:bodyPr wrap="none" lIns="0" tIns="32760" rIns="0" bIns="0">
            <a:spAutoFit/>
          </a:bodyPr>
          <a:lstStyle/>
          <a:p>
            <a:pPr algn="ctr" defTabSz="449263">
              <a:lnSpc>
                <a:spcPct val="87000"/>
              </a:lnSpc>
              <a:buClr>
                <a:srgbClr val="000000"/>
              </a:buClr>
              <a:buSzPct val="100000"/>
              <a:buFont typeface="Times New Roman" pitchFamily="18" charset="0"/>
              <a:buNone/>
              <a:tabLst>
                <a:tab pos="723900" algn="l"/>
                <a:tab pos="1447800" algn="l"/>
                <a:tab pos="2171700" algn="l"/>
                <a:tab pos="2895600" algn="l"/>
                <a:tab pos="3619500" algn="l"/>
                <a:tab pos="4343400" algn="l"/>
                <a:tab pos="5067300" algn="l"/>
              </a:tabLst>
            </a:pPr>
            <a:r>
              <a:rPr lang="en-AU" sz="2000" b="1" i="0">
                <a:solidFill>
                  <a:srgbClr val="FFFFFF"/>
                </a:solidFill>
                <a:cs typeface="Lucida Sans Unicode" pitchFamily="34" charset="0"/>
              </a:rPr>
              <a:t>Teacher Earth Science Education Programme</a:t>
            </a:r>
          </a:p>
        </p:txBody>
      </p:sp>
      <p:grpSp>
        <p:nvGrpSpPr>
          <p:cNvPr id="19459" name="Group 9"/>
          <p:cNvGrpSpPr>
            <a:grpSpLocks/>
          </p:cNvGrpSpPr>
          <p:nvPr/>
        </p:nvGrpSpPr>
        <p:grpSpPr bwMode="auto">
          <a:xfrm>
            <a:off x="2057400" y="360363"/>
            <a:ext cx="2881313" cy="625475"/>
            <a:chOff x="1296" y="227"/>
            <a:chExt cx="1815" cy="394"/>
          </a:xfrm>
        </p:grpSpPr>
        <p:grpSp>
          <p:nvGrpSpPr>
            <p:cNvPr id="19462" name="Group 10"/>
            <p:cNvGrpSpPr>
              <a:grpSpLocks/>
            </p:cNvGrpSpPr>
            <p:nvPr/>
          </p:nvGrpSpPr>
          <p:grpSpPr bwMode="auto">
            <a:xfrm>
              <a:off x="1296" y="229"/>
              <a:ext cx="594" cy="386"/>
              <a:chOff x="1296" y="229"/>
              <a:chExt cx="594" cy="386"/>
            </a:xfrm>
          </p:grpSpPr>
          <p:sp>
            <p:nvSpPr>
              <p:cNvPr id="19502" name="Freeform 11"/>
              <p:cNvSpPr>
                <a:spLocks noChangeArrowheads="1"/>
              </p:cNvSpPr>
              <p:nvPr/>
            </p:nvSpPr>
            <p:spPr bwMode="auto">
              <a:xfrm>
                <a:off x="1422" y="280"/>
                <a:ext cx="365" cy="331"/>
              </a:xfrm>
              <a:custGeom>
                <a:avLst/>
                <a:gdLst>
                  <a:gd name="T0" fmla="*/ 365 w 365"/>
                  <a:gd name="T1" fmla="*/ 174 h 331"/>
                  <a:gd name="T2" fmla="*/ 5 w 365"/>
                  <a:gd name="T3" fmla="*/ 179 h 331"/>
                  <a:gd name="T4" fmla="*/ 32 w 365"/>
                  <a:gd name="T5" fmla="*/ 221 h 331"/>
                  <a:gd name="T6" fmla="*/ 40 w 365"/>
                  <a:gd name="T7" fmla="*/ 256 h 331"/>
                  <a:gd name="T8" fmla="*/ 68 w 365"/>
                  <a:gd name="T9" fmla="*/ 258 h 331"/>
                  <a:gd name="T10" fmla="*/ 96 w 365"/>
                  <a:gd name="T11" fmla="*/ 242 h 331"/>
                  <a:gd name="T12" fmla="*/ 123 w 365"/>
                  <a:gd name="T13" fmla="*/ 222 h 331"/>
                  <a:gd name="T14" fmla="*/ 179 w 365"/>
                  <a:gd name="T15" fmla="*/ 214 h 331"/>
                  <a:gd name="T16" fmla="*/ 199 w 365"/>
                  <a:gd name="T17" fmla="*/ 224 h 331"/>
                  <a:gd name="T18" fmla="*/ 210 w 365"/>
                  <a:gd name="T19" fmla="*/ 242 h 331"/>
                  <a:gd name="T20" fmla="*/ 224 w 365"/>
                  <a:gd name="T21" fmla="*/ 222 h 331"/>
                  <a:gd name="T22" fmla="*/ 221 w 365"/>
                  <a:gd name="T23" fmla="*/ 242 h 331"/>
                  <a:gd name="T24" fmla="*/ 231 w 365"/>
                  <a:gd name="T25" fmla="*/ 245 h 331"/>
                  <a:gd name="T26" fmla="*/ 245 w 365"/>
                  <a:gd name="T27" fmla="*/ 269 h 331"/>
                  <a:gd name="T28" fmla="*/ 277 w 365"/>
                  <a:gd name="T29" fmla="*/ 277 h 331"/>
                  <a:gd name="T30" fmla="*/ 286 w 365"/>
                  <a:gd name="T31" fmla="*/ 280 h 331"/>
                  <a:gd name="T32" fmla="*/ 296 w 365"/>
                  <a:gd name="T33" fmla="*/ 281 h 331"/>
                  <a:gd name="T34" fmla="*/ 322 w 365"/>
                  <a:gd name="T35" fmla="*/ 267 h 331"/>
                  <a:gd name="T36" fmla="*/ 336 w 365"/>
                  <a:gd name="T37" fmla="*/ 240 h 331"/>
                  <a:gd name="T38" fmla="*/ 349 w 365"/>
                  <a:gd name="T39" fmla="*/ 224 h 331"/>
                  <a:gd name="T40" fmla="*/ 363 w 365"/>
                  <a:gd name="T41" fmla="*/ 186 h 331"/>
                  <a:gd name="T42" fmla="*/ 362 w 365"/>
                  <a:gd name="T43" fmla="*/ 155 h 331"/>
                  <a:gd name="T44" fmla="*/ 344 w 365"/>
                  <a:gd name="T45" fmla="*/ 130 h 331"/>
                  <a:gd name="T46" fmla="*/ 333 w 365"/>
                  <a:gd name="T47" fmla="*/ 119 h 331"/>
                  <a:gd name="T48" fmla="*/ 325 w 365"/>
                  <a:gd name="T49" fmla="*/ 96 h 331"/>
                  <a:gd name="T50" fmla="*/ 304 w 365"/>
                  <a:gd name="T51" fmla="*/ 82 h 331"/>
                  <a:gd name="T52" fmla="*/ 296 w 365"/>
                  <a:gd name="T53" fmla="*/ 53 h 331"/>
                  <a:gd name="T54" fmla="*/ 278 w 365"/>
                  <a:gd name="T55" fmla="*/ 32 h 331"/>
                  <a:gd name="T56" fmla="*/ 271 w 365"/>
                  <a:gd name="T57" fmla="*/ 0 h 331"/>
                  <a:gd name="T58" fmla="*/ 259 w 365"/>
                  <a:gd name="T59" fmla="*/ 23 h 331"/>
                  <a:gd name="T60" fmla="*/ 242 w 365"/>
                  <a:gd name="T61" fmla="*/ 69 h 331"/>
                  <a:gd name="T62" fmla="*/ 210 w 365"/>
                  <a:gd name="T63" fmla="*/ 51 h 331"/>
                  <a:gd name="T64" fmla="*/ 205 w 365"/>
                  <a:gd name="T65" fmla="*/ 26 h 331"/>
                  <a:gd name="T66" fmla="*/ 211 w 365"/>
                  <a:gd name="T67" fmla="*/ 16 h 331"/>
                  <a:gd name="T68" fmla="*/ 203 w 365"/>
                  <a:gd name="T69" fmla="*/ 15 h 331"/>
                  <a:gd name="T70" fmla="*/ 183 w 365"/>
                  <a:gd name="T71" fmla="*/ 13 h 331"/>
                  <a:gd name="T72" fmla="*/ 167 w 365"/>
                  <a:gd name="T73" fmla="*/ 8 h 331"/>
                  <a:gd name="T74" fmla="*/ 157 w 365"/>
                  <a:gd name="T75" fmla="*/ 23 h 331"/>
                  <a:gd name="T76" fmla="*/ 146 w 365"/>
                  <a:gd name="T77" fmla="*/ 34 h 331"/>
                  <a:gd name="T78" fmla="*/ 131 w 365"/>
                  <a:gd name="T79" fmla="*/ 47 h 331"/>
                  <a:gd name="T80" fmla="*/ 115 w 365"/>
                  <a:gd name="T81" fmla="*/ 39 h 331"/>
                  <a:gd name="T82" fmla="*/ 104 w 365"/>
                  <a:gd name="T83" fmla="*/ 45 h 331"/>
                  <a:gd name="T84" fmla="*/ 95 w 365"/>
                  <a:gd name="T85" fmla="*/ 63 h 331"/>
                  <a:gd name="T86" fmla="*/ 87 w 365"/>
                  <a:gd name="T87" fmla="*/ 74 h 331"/>
                  <a:gd name="T88" fmla="*/ 77 w 365"/>
                  <a:gd name="T89" fmla="*/ 82 h 331"/>
                  <a:gd name="T90" fmla="*/ 53 w 365"/>
                  <a:gd name="T91" fmla="*/ 106 h 331"/>
                  <a:gd name="T92" fmla="*/ 24 w 365"/>
                  <a:gd name="T93" fmla="*/ 117 h 331"/>
                  <a:gd name="T94" fmla="*/ 4 w 365"/>
                  <a:gd name="T95" fmla="*/ 138 h 331"/>
                  <a:gd name="T96" fmla="*/ 2 w 365"/>
                  <a:gd name="T97" fmla="*/ 160 h 331"/>
                  <a:gd name="T98" fmla="*/ 304 w 365"/>
                  <a:gd name="T99" fmla="*/ 310 h 331"/>
                  <a:gd name="T100" fmla="*/ 282 w 365"/>
                  <a:gd name="T101" fmla="*/ 302 h 331"/>
                  <a:gd name="T102" fmla="*/ 286 w 365"/>
                  <a:gd name="T103" fmla="*/ 328 h 331"/>
                  <a:gd name="T104" fmla="*/ 298 w 365"/>
                  <a:gd name="T105" fmla="*/ 325 h 331"/>
                  <a:gd name="T106" fmla="*/ 210 w 365"/>
                  <a:gd name="T107" fmla="*/ 8 h 331"/>
                  <a:gd name="T108" fmla="*/ 155 w 365"/>
                  <a:gd name="T109" fmla="*/ 15 h 331"/>
                  <a:gd name="T110" fmla="*/ 149 w 365"/>
                  <a:gd name="T111" fmla="*/ 12 h 331"/>
                  <a:gd name="T112" fmla="*/ 210 w 365"/>
                  <a:gd name="T113" fmla="*/ 32 h 331"/>
                  <a:gd name="T114" fmla="*/ 239 w 365"/>
                  <a:gd name="T115" fmla="*/ 61 h 331"/>
                  <a:gd name="T116" fmla="*/ 224 w 365"/>
                  <a:gd name="T117" fmla="*/ 248 h 331"/>
                  <a:gd name="T118" fmla="*/ 304 w 365"/>
                  <a:gd name="T119" fmla="*/ 299 h 33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65"/>
                  <a:gd name="T181" fmla="*/ 0 h 331"/>
                  <a:gd name="T182" fmla="*/ 365 w 365"/>
                  <a:gd name="T183" fmla="*/ 331 h 331"/>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65" h="331">
                    <a:moveTo>
                      <a:pt x="363" y="157"/>
                    </a:moveTo>
                    <a:lnTo>
                      <a:pt x="362" y="155"/>
                    </a:lnTo>
                    <a:lnTo>
                      <a:pt x="362" y="154"/>
                    </a:lnTo>
                    <a:lnTo>
                      <a:pt x="363" y="150"/>
                    </a:lnTo>
                    <a:lnTo>
                      <a:pt x="365" y="149"/>
                    </a:lnTo>
                    <a:lnTo>
                      <a:pt x="363" y="147"/>
                    </a:lnTo>
                    <a:lnTo>
                      <a:pt x="365" y="147"/>
                    </a:lnTo>
                    <a:lnTo>
                      <a:pt x="365" y="149"/>
                    </a:lnTo>
                    <a:lnTo>
                      <a:pt x="365" y="152"/>
                    </a:lnTo>
                    <a:lnTo>
                      <a:pt x="363" y="155"/>
                    </a:lnTo>
                    <a:lnTo>
                      <a:pt x="363" y="157"/>
                    </a:lnTo>
                    <a:close/>
                    <a:moveTo>
                      <a:pt x="365" y="176"/>
                    </a:moveTo>
                    <a:lnTo>
                      <a:pt x="365" y="176"/>
                    </a:lnTo>
                    <a:lnTo>
                      <a:pt x="365" y="174"/>
                    </a:lnTo>
                    <a:lnTo>
                      <a:pt x="363" y="174"/>
                    </a:lnTo>
                    <a:lnTo>
                      <a:pt x="365" y="176"/>
                    </a:lnTo>
                    <a:close/>
                    <a:moveTo>
                      <a:pt x="8" y="178"/>
                    </a:moveTo>
                    <a:lnTo>
                      <a:pt x="10" y="179"/>
                    </a:lnTo>
                    <a:lnTo>
                      <a:pt x="10" y="181"/>
                    </a:lnTo>
                    <a:lnTo>
                      <a:pt x="10" y="182"/>
                    </a:lnTo>
                    <a:lnTo>
                      <a:pt x="8" y="182"/>
                    </a:lnTo>
                    <a:lnTo>
                      <a:pt x="8" y="181"/>
                    </a:lnTo>
                    <a:lnTo>
                      <a:pt x="7" y="181"/>
                    </a:lnTo>
                    <a:lnTo>
                      <a:pt x="7" y="179"/>
                    </a:lnTo>
                    <a:lnTo>
                      <a:pt x="5" y="179"/>
                    </a:lnTo>
                    <a:lnTo>
                      <a:pt x="4" y="178"/>
                    </a:lnTo>
                    <a:lnTo>
                      <a:pt x="5" y="179"/>
                    </a:lnTo>
                    <a:lnTo>
                      <a:pt x="5" y="181"/>
                    </a:lnTo>
                    <a:lnTo>
                      <a:pt x="7" y="181"/>
                    </a:lnTo>
                    <a:lnTo>
                      <a:pt x="7" y="182"/>
                    </a:lnTo>
                    <a:lnTo>
                      <a:pt x="8" y="184"/>
                    </a:lnTo>
                    <a:lnTo>
                      <a:pt x="10" y="186"/>
                    </a:lnTo>
                    <a:lnTo>
                      <a:pt x="13" y="186"/>
                    </a:lnTo>
                    <a:lnTo>
                      <a:pt x="15" y="189"/>
                    </a:lnTo>
                    <a:lnTo>
                      <a:pt x="16" y="192"/>
                    </a:lnTo>
                    <a:lnTo>
                      <a:pt x="16" y="195"/>
                    </a:lnTo>
                    <a:lnTo>
                      <a:pt x="20" y="198"/>
                    </a:lnTo>
                    <a:lnTo>
                      <a:pt x="23" y="200"/>
                    </a:lnTo>
                    <a:lnTo>
                      <a:pt x="23" y="203"/>
                    </a:lnTo>
                    <a:lnTo>
                      <a:pt x="26" y="206"/>
                    </a:lnTo>
                    <a:lnTo>
                      <a:pt x="28" y="208"/>
                    </a:lnTo>
                    <a:lnTo>
                      <a:pt x="29" y="213"/>
                    </a:lnTo>
                    <a:lnTo>
                      <a:pt x="29" y="218"/>
                    </a:lnTo>
                    <a:lnTo>
                      <a:pt x="32" y="221"/>
                    </a:lnTo>
                    <a:lnTo>
                      <a:pt x="34" y="222"/>
                    </a:lnTo>
                    <a:lnTo>
                      <a:pt x="36" y="224"/>
                    </a:lnTo>
                    <a:lnTo>
                      <a:pt x="39" y="229"/>
                    </a:lnTo>
                    <a:lnTo>
                      <a:pt x="40" y="232"/>
                    </a:lnTo>
                    <a:lnTo>
                      <a:pt x="40" y="235"/>
                    </a:lnTo>
                    <a:lnTo>
                      <a:pt x="42" y="238"/>
                    </a:lnTo>
                    <a:lnTo>
                      <a:pt x="40" y="240"/>
                    </a:lnTo>
                    <a:lnTo>
                      <a:pt x="40" y="242"/>
                    </a:lnTo>
                    <a:lnTo>
                      <a:pt x="42" y="243"/>
                    </a:lnTo>
                    <a:lnTo>
                      <a:pt x="42" y="245"/>
                    </a:lnTo>
                    <a:lnTo>
                      <a:pt x="42" y="246"/>
                    </a:lnTo>
                    <a:lnTo>
                      <a:pt x="40" y="250"/>
                    </a:lnTo>
                    <a:lnTo>
                      <a:pt x="39" y="250"/>
                    </a:lnTo>
                    <a:lnTo>
                      <a:pt x="39" y="251"/>
                    </a:lnTo>
                    <a:lnTo>
                      <a:pt x="40" y="256"/>
                    </a:lnTo>
                    <a:lnTo>
                      <a:pt x="42" y="256"/>
                    </a:lnTo>
                    <a:lnTo>
                      <a:pt x="44" y="256"/>
                    </a:lnTo>
                    <a:lnTo>
                      <a:pt x="45" y="258"/>
                    </a:lnTo>
                    <a:lnTo>
                      <a:pt x="47" y="259"/>
                    </a:lnTo>
                    <a:lnTo>
                      <a:pt x="50" y="261"/>
                    </a:lnTo>
                    <a:lnTo>
                      <a:pt x="52" y="261"/>
                    </a:lnTo>
                    <a:lnTo>
                      <a:pt x="53" y="261"/>
                    </a:lnTo>
                    <a:lnTo>
                      <a:pt x="56" y="261"/>
                    </a:lnTo>
                    <a:lnTo>
                      <a:pt x="61" y="259"/>
                    </a:lnTo>
                    <a:lnTo>
                      <a:pt x="63" y="261"/>
                    </a:lnTo>
                    <a:lnTo>
                      <a:pt x="63" y="259"/>
                    </a:lnTo>
                    <a:lnTo>
                      <a:pt x="64" y="259"/>
                    </a:lnTo>
                    <a:lnTo>
                      <a:pt x="64" y="258"/>
                    </a:lnTo>
                    <a:lnTo>
                      <a:pt x="66" y="259"/>
                    </a:lnTo>
                    <a:lnTo>
                      <a:pt x="68" y="258"/>
                    </a:lnTo>
                    <a:lnTo>
                      <a:pt x="69" y="256"/>
                    </a:lnTo>
                    <a:lnTo>
                      <a:pt x="69" y="254"/>
                    </a:lnTo>
                    <a:lnTo>
                      <a:pt x="71" y="253"/>
                    </a:lnTo>
                    <a:lnTo>
                      <a:pt x="74" y="251"/>
                    </a:lnTo>
                    <a:lnTo>
                      <a:pt x="76" y="251"/>
                    </a:lnTo>
                    <a:lnTo>
                      <a:pt x="77" y="250"/>
                    </a:lnTo>
                    <a:lnTo>
                      <a:pt x="76" y="248"/>
                    </a:lnTo>
                    <a:lnTo>
                      <a:pt x="77" y="248"/>
                    </a:lnTo>
                    <a:lnTo>
                      <a:pt x="79" y="246"/>
                    </a:lnTo>
                    <a:lnTo>
                      <a:pt x="79" y="245"/>
                    </a:lnTo>
                    <a:lnTo>
                      <a:pt x="87" y="243"/>
                    </a:lnTo>
                    <a:lnTo>
                      <a:pt x="88" y="242"/>
                    </a:lnTo>
                    <a:lnTo>
                      <a:pt x="90" y="242"/>
                    </a:lnTo>
                    <a:lnTo>
                      <a:pt x="93" y="242"/>
                    </a:lnTo>
                    <a:lnTo>
                      <a:pt x="95" y="242"/>
                    </a:lnTo>
                    <a:lnTo>
                      <a:pt x="96" y="240"/>
                    </a:lnTo>
                    <a:lnTo>
                      <a:pt x="96" y="242"/>
                    </a:lnTo>
                    <a:lnTo>
                      <a:pt x="98" y="242"/>
                    </a:lnTo>
                    <a:lnTo>
                      <a:pt x="103" y="240"/>
                    </a:lnTo>
                    <a:lnTo>
                      <a:pt x="104" y="240"/>
                    </a:lnTo>
                    <a:lnTo>
                      <a:pt x="106" y="240"/>
                    </a:lnTo>
                    <a:lnTo>
                      <a:pt x="108" y="240"/>
                    </a:lnTo>
                    <a:lnTo>
                      <a:pt x="109" y="238"/>
                    </a:lnTo>
                    <a:lnTo>
                      <a:pt x="111" y="237"/>
                    </a:lnTo>
                    <a:lnTo>
                      <a:pt x="111" y="235"/>
                    </a:lnTo>
                    <a:lnTo>
                      <a:pt x="112" y="232"/>
                    </a:lnTo>
                    <a:lnTo>
                      <a:pt x="112" y="230"/>
                    </a:lnTo>
                    <a:lnTo>
                      <a:pt x="114" y="229"/>
                    </a:lnTo>
                    <a:lnTo>
                      <a:pt x="115" y="229"/>
                    </a:lnTo>
                    <a:lnTo>
                      <a:pt x="117" y="227"/>
                    </a:lnTo>
                    <a:lnTo>
                      <a:pt x="119" y="227"/>
                    </a:lnTo>
                    <a:lnTo>
                      <a:pt x="120" y="226"/>
                    </a:lnTo>
                    <a:lnTo>
                      <a:pt x="123" y="222"/>
                    </a:lnTo>
                    <a:lnTo>
                      <a:pt x="125" y="221"/>
                    </a:lnTo>
                    <a:lnTo>
                      <a:pt x="128" y="221"/>
                    </a:lnTo>
                    <a:lnTo>
                      <a:pt x="130" y="221"/>
                    </a:lnTo>
                    <a:lnTo>
                      <a:pt x="135" y="219"/>
                    </a:lnTo>
                    <a:lnTo>
                      <a:pt x="138" y="219"/>
                    </a:lnTo>
                    <a:lnTo>
                      <a:pt x="141" y="218"/>
                    </a:lnTo>
                    <a:lnTo>
                      <a:pt x="143" y="218"/>
                    </a:lnTo>
                    <a:lnTo>
                      <a:pt x="144" y="218"/>
                    </a:lnTo>
                    <a:lnTo>
                      <a:pt x="147" y="214"/>
                    </a:lnTo>
                    <a:lnTo>
                      <a:pt x="154" y="211"/>
                    </a:lnTo>
                    <a:lnTo>
                      <a:pt x="155" y="211"/>
                    </a:lnTo>
                    <a:lnTo>
                      <a:pt x="162" y="211"/>
                    </a:lnTo>
                    <a:lnTo>
                      <a:pt x="167" y="210"/>
                    </a:lnTo>
                    <a:lnTo>
                      <a:pt x="171" y="210"/>
                    </a:lnTo>
                    <a:lnTo>
                      <a:pt x="173" y="210"/>
                    </a:lnTo>
                    <a:lnTo>
                      <a:pt x="175" y="210"/>
                    </a:lnTo>
                    <a:lnTo>
                      <a:pt x="179" y="214"/>
                    </a:lnTo>
                    <a:lnTo>
                      <a:pt x="181" y="214"/>
                    </a:lnTo>
                    <a:lnTo>
                      <a:pt x="181" y="213"/>
                    </a:lnTo>
                    <a:lnTo>
                      <a:pt x="183" y="213"/>
                    </a:lnTo>
                    <a:lnTo>
                      <a:pt x="186" y="214"/>
                    </a:lnTo>
                    <a:lnTo>
                      <a:pt x="187" y="216"/>
                    </a:lnTo>
                    <a:lnTo>
                      <a:pt x="189" y="216"/>
                    </a:lnTo>
                    <a:lnTo>
                      <a:pt x="189" y="214"/>
                    </a:lnTo>
                    <a:lnTo>
                      <a:pt x="192" y="218"/>
                    </a:lnTo>
                    <a:lnTo>
                      <a:pt x="195" y="218"/>
                    </a:lnTo>
                    <a:lnTo>
                      <a:pt x="195" y="221"/>
                    </a:lnTo>
                    <a:lnTo>
                      <a:pt x="195" y="222"/>
                    </a:lnTo>
                    <a:lnTo>
                      <a:pt x="195" y="224"/>
                    </a:lnTo>
                    <a:lnTo>
                      <a:pt x="197" y="224"/>
                    </a:lnTo>
                    <a:lnTo>
                      <a:pt x="199" y="224"/>
                    </a:lnTo>
                    <a:lnTo>
                      <a:pt x="200" y="224"/>
                    </a:lnTo>
                    <a:lnTo>
                      <a:pt x="200" y="226"/>
                    </a:lnTo>
                    <a:lnTo>
                      <a:pt x="202" y="227"/>
                    </a:lnTo>
                    <a:lnTo>
                      <a:pt x="202" y="229"/>
                    </a:lnTo>
                    <a:lnTo>
                      <a:pt x="203" y="230"/>
                    </a:lnTo>
                    <a:lnTo>
                      <a:pt x="205" y="232"/>
                    </a:lnTo>
                    <a:lnTo>
                      <a:pt x="205" y="234"/>
                    </a:lnTo>
                    <a:lnTo>
                      <a:pt x="207" y="235"/>
                    </a:lnTo>
                    <a:lnTo>
                      <a:pt x="207" y="237"/>
                    </a:lnTo>
                    <a:lnTo>
                      <a:pt x="207" y="238"/>
                    </a:lnTo>
                    <a:lnTo>
                      <a:pt x="203" y="237"/>
                    </a:lnTo>
                    <a:lnTo>
                      <a:pt x="203" y="238"/>
                    </a:lnTo>
                    <a:lnTo>
                      <a:pt x="205" y="238"/>
                    </a:lnTo>
                    <a:lnTo>
                      <a:pt x="207" y="240"/>
                    </a:lnTo>
                    <a:lnTo>
                      <a:pt x="208" y="240"/>
                    </a:lnTo>
                    <a:lnTo>
                      <a:pt x="208" y="242"/>
                    </a:lnTo>
                    <a:lnTo>
                      <a:pt x="210" y="242"/>
                    </a:lnTo>
                    <a:lnTo>
                      <a:pt x="211" y="243"/>
                    </a:lnTo>
                    <a:lnTo>
                      <a:pt x="211" y="240"/>
                    </a:lnTo>
                    <a:lnTo>
                      <a:pt x="210" y="240"/>
                    </a:lnTo>
                    <a:lnTo>
                      <a:pt x="210" y="238"/>
                    </a:lnTo>
                    <a:lnTo>
                      <a:pt x="211" y="237"/>
                    </a:lnTo>
                    <a:lnTo>
                      <a:pt x="213" y="235"/>
                    </a:lnTo>
                    <a:lnTo>
                      <a:pt x="215" y="232"/>
                    </a:lnTo>
                    <a:lnTo>
                      <a:pt x="216" y="232"/>
                    </a:lnTo>
                    <a:lnTo>
                      <a:pt x="218" y="230"/>
                    </a:lnTo>
                    <a:lnTo>
                      <a:pt x="218" y="229"/>
                    </a:lnTo>
                    <a:lnTo>
                      <a:pt x="219" y="229"/>
                    </a:lnTo>
                    <a:lnTo>
                      <a:pt x="221" y="229"/>
                    </a:lnTo>
                    <a:lnTo>
                      <a:pt x="221" y="227"/>
                    </a:lnTo>
                    <a:lnTo>
                      <a:pt x="223" y="224"/>
                    </a:lnTo>
                    <a:lnTo>
                      <a:pt x="224" y="222"/>
                    </a:lnTo>
                    <a:lnTo>
                      <a:pt x="226" y="222"/>
                    </a:lnTo>
                    <a:lnTo>
                      <a:pt x="226" y="219"/>
                    </a:lnTo>
                    <a:lnTo>
                      <a:pt x="226" y="218"/>
                    </a:lnTo>
                    <a:lnTo>
                      <a:pt x="226" y="219"/>
                    </a:lnTo>
                    <a:lnTo>
                      <a:pt x="227" y="221"/>
                    </a:lnTo>
                    <a:lnTo>
                      <a:pt x="227" y="222"/>
                    </a:lnTo>
                    <a:lnTo>
                      <a:pt x="227" y="224"/>
                    </a:lnTo>
                    <a:lnTo>
                      <a:pt x="226" y="224"/>
                    </a:lnTo>
                    <a:lnTo>
                      <a:pt x="226" y="227"/>
                    </a:lnTo>
                    <a:lnTo>
                      <a:pt x="226" y="229"/>
                    </a:lnTo>
                    <a:lnTo>
                      <a:pt x="224" y="229"/>
                    </a:lnTo>
                    <a:lnTo>
                      <a:pt x="223" y="234"/>
                    </a:lnTo>
                    <a:lnTo>
                      <a:pt x="223" y="235"/>
                    </a:lnTo>
                    <a:lnTo>
                      <a:pt x="223" y="237"/>
                    </a:lnTo>
                    <a:lnTo>
                      <a:pt x="223" y="240"/>
                    </a:lnTo>
                    <a:lnTo>
                      <a:pt x="221" y="242"/>
                    </a:lnTo>
                    <a:lnTo>
                      <a:pt x="219" y="242"/>
                    </a:lnTo>
                    <a:lnTo>
                      <a:pt x="218" y="245"/>
                    </a:lnTo>
                    <a:lnTo>
                      <a:pt x="219" y="245"/>
                    </a:lnTo>
                    <a:lnTo>
                      <a:pt x="221" y="245"/>
                    </a:lnTo>
                    <a:lnTo>
                      <a:pt x="223" y="245"/>
                    </a:lnTo>
                    <a:lnTo>
                      <a:pt x="224" y="243"/>
                    </a:lnTo>
                    <a:lnTo>
                      <a:pt x="226" y="243"/>
                    </a:lnTo>
                    <a:lnTo>
                      <a:pt x="226" y="242"/>
                    </a:lnTo>
                    <a:lnTo>
                      <a:pt x="226" y="240"/>
                    </a:lnTo>
                    <a:lnTo>
                      <a:pt x="226" y="238"/>
                    </a:lnTo>
                    <a:lnTo>
                      <a:pt x="227" y="234"/>
                    </a:lnTo>
                    <a:lnTo>
                      <a:pt x="229" y="235"/>
                    </a:lnTo>
                    <a:lnTo>
                      <a:pt x="231" y="237"/>
                    </a:lnTo>
                    <a:lnTo>
                      <a:pt x="232" y="240"/>
                    </a:lnTo>
                    <a:lnTo>
                      <a:pt x="232" y="242"/>
                    </a:lnTo>
                    <a:lnTo>
                      <a:pt x="231" y="245"/>
                    </a:lnTo>
                    <a:lnTo>
                      <a:pt x="229" y="246"/>
                    </a:lnTo>
                    <a:lnTo>
                      <a:pt x="229" y="248"/>
                    </a:lnTo>
                    <a:lnTo>
                      <a:pt x="231" y="248"/>
                    </a:lnTo>
                    <a:lnTo>
                      <a:pt x="234" y="248"/>
                    </a:lnTo>
                    <a:lnTo>
                      <a:pt x="235" y="246"/>
                    </a:lnTo>
                    <a:lnTo>
                      <a:pt x="237" y="246"/>
                    </a:lnTo>
                    <a:lnTo>
                      <a:pt x="239" y="246"/>
                    </a:lnTo>
                    <a:lnTo>
                      <a:pt x="237" y="250"/>
                    </a:lnTo>
                    <a:lnTo>
                      <a:pt x="240" y="254"/>
                    </a:lnTo>
                    <a:lnTo>
                      <a:pt x="242" y="258"/>
                    </a:lnTo>
                    <a:lnTo>
                      <a:pt x="242" y="259"/>
                    </a:lnTo>
                    <a:lnTo>
                      <a:pt x="242" y="261"/>
                    </a:lnTo>
                    <a:lnTo>
                      <a:pt x="242" y="262"/>
                    </a:lnTo>
                    <a:lnTo>
                      <a:pt x="243" y="267"/>
                    </a:lnTo>
                    <a:lnTo>
                      <a:pt x="245" y="267"/>
                    </a:lnTo>
                    <a:lnTo>
                      <a:pt x="245" y="269"/>
                    </a:lnTo>
                    <a:lnTo>
                      <a:pt x="247" y="270"/>
                    </a:lnTo>
                    <a:lnTo>
                      <a:pt x="248" y="272"/>
                    </a:lnTo>
                    <a:lnTo>
                      <a:pt x="251" y="272"/>
                    </a:lnTo>
                    <a:lnTo>
                      <a:pt x="253" y="275"/>
                    </a:lnTo>
                    <a:lnTo>
                      <a:pt x="255" y="277"/>
                    </a:lnTo>
                    <a:lnTo>
                      <a:pt x="256" y="275"/>
                    </a:lnTo>
                    <a:lnTo>
                      <a:pt x="258" y="275"/>
                    </a:lnTo>
                    <a:lnTo>
                      <a:pt x="259" y="277"/>
                    </a:lnTo>
                    <a:lnTo>
                      <a:pt x="263" y="277"/>
                    </a:lnTo>
                    <a:lnTo>
                      <a:pt x="266" y="278"/>
                    </a:lnTo>
                    <a:lnTo>
                      <a:pt x="269" y="280"/>
                    </a:lnTo>
                    <a:lnTo>
                      <a:pt x="269" y="281"/>
                    </a:lnTo>
                    <a:lnTo>
                      <a:pt x="271" y="281"/>
                    </a:lnTo>
                    <a:lnTo>
                      <a:pt x="274" y="280"/>
                    </a:lnTo>
                    <a:lnTo>
                      <a:pt x="275" y="278"/>
                    </a:lnTo>
                    <a:lnTo>
                      <a:pt x="277" y="277"/>
                    </a:lnTo>
                    <a:lnTo>
                      <a:pt x="278" y="277"/>
                    </a:lnTo>
                    <a:lnTo>
                      <a:pt x="280" y="275"/>
                    </a:lnTo>
                    <a:lnTo>
                      <a:pt x="278" y="274"/>
                    </a:lnTo>
                    <a:lnTo>
                      <a:pt x="282" y="272"/>
                    </a:lnTo>
                    <a:lnTo>
                      <a:pt x="283" y="274"/>
                    </a:lnTo>
                    <a:lnTo>
                      <a:pt x="282" y="275"/>
                    </a:lnTo>
                    <a:lnTo>
                      <a:pt x="282" y="277"/>
                    </a:lnTo>
                    <a:lnTo>
                      <a:pt x="280" y="277"/>
                    </a:lnTo>
                    <a:lnTo>
                      <a:pt x="282" y="278"/>
                    </a:lnTo>
                    <a:lnTo>
                      <a:pt x="283" y="278"/>
                    </a:lnTo>
                    <a:lnTo>
                      <a:pt x="285" y="277"/>
                    </a:lnTo>
                    <a:lnTo>
                      <a:pt x="286" y="277"/>
                    </a:lnTo>
                    <a:lnTo>
                      <a:pt x="286" y="278"/>
                    </a:lnTo>
                    <a:lnTo>
                      <a:pt x="286" y="280"/>
                    </a:lnTo>
                    <a:lnTo>
                      <a:pt x="286" y="281"/>
                    </a:lnTo>
                    <a:lnTo>
                      <a:pt x="288" y="281"/>
                    </a:lnTo>
                    <a:lnTo>
                      <a:pt x="288" y="283"/>
                    </a:lnTo>
                    <a:lnTo>
                      <a:pt x="290" y="283"/>
                    </a:lnTo>
                    <a:lnTo>
                      <a:pt x="291" y="283"/>
                    </a:lnTo>
                    <a:lnTo>
                      <a:pt x="293" y="286"/>
                    </a:lnTo>
                    <a:lnTo>
                      <a:pt x="293" y="285"/>
                    </a:lnTo>
                    <a:lnTo>
                      <a:pt x="294" y="283"/>
                    </a:lnTo>
                    <a:lnTo>
                      <a:pt x="293" y="283"/>
                    </a:lnTo>
                    <a:lnTo>
                      <a:pt x="291" y="283"/>
                    </a:lnTo>
                    <a:lnTo>
                      <a:pt x="291" y="281"/>
                    </a:lnTo>
                    <a:lnTo>
                      <a:pt x="293" y="281"/>
                    </a:lnTo>
                    <a:lnTo>
                      <a:pt x="296" y="281"/>
                    </a:lnTo>
                    <a:lnTo>
                      <a:pt x="299" y="280"/>
                    </a:lnTo>
                    <a:lnTo>
                      <a:pt x="299" y="278"/>
                    </a:lnTo>
                    <a:lnTo>
                      <a:pt x="302" y="277"/>
                    </a:lnTo>
                    <a:lnTo>
                      <a:pt x="304" y="277"/>
                    </a:lnTo>
                    <a:lnTo>
                      <a:pt x="307" y="275"/>
                    </a:lnTo>
                    <a:lnTo>
                      <a:pt x="309" y="275"/>
                    </a:lnTo>
                    <a:lnTo>
                      <a:pt x="317" y="275"/>
                    </a:lnTo>
                    <a:lnTo>
                      <a:pt x="320" y="275"/>
                    </a:lnTo>
                    <a:lnTo>
                      <a:pt x="320" y="274"/>
                    </a:lnTo>
                    <a:lnTo>
                      <a:pt x="322" y="274"/>
                    </a:lnTo>
                    <a:lnTo>
                      <a:pt x="323" y="272"/>
                    </a:lnTo>
                    <a:lnTo>
                      <a:pt x="323" y="270"/>
                    </a:lnTo>
                    <a:lnTo>
                      <a:pt x="322" y="267"/>
                    </a:lnTo>
                    <a:lnTo>
                      <a:pt x="323" y="266"/>
                    </a:lnTo>
                    <a:lnTo>
                      <a:pt x="325" y="264"/>
                    </a:lnTo>
                    <a:lnTo>
                      <a:pt x="325" y="262"/>
                    </a:lnTo>
                    <a:lnTo>
                      <a:pt x="325" y="261"/>
                    </a:lnTo>
                    <a:lnTo>
                      <a:pt x="326" y="259"/>
                    </a:lnTo>
                    <a:lnTo>
                      <a:pt x="326" y="256"/>
                    </a:lnTo>
                    <a:lnTo>
                      <a:pt x="328" y="254"/>
                    </a:lnTo>
                    <a:lnTo>
                      <a:pt x="328" y="253"/>
                    </a:lnTo>
                    <a:lnTo>
                      <a:pt x="330" y="250"/>
                    </a:lnTo>
                    <a:lnTo>
                      <a:pt x="331" y="251"/>
                    </a:lnTo>
                    <a:lnTo>
                      <a:pt x="331" y="250"/>
                    </a:lnTo>
                    <a:lnTo>
                      <a:pt x="334" y="243"/>
                    </a:lnTo>
                    <a:lnTo>
                      <a:pt x="336" y="242"/>
                    </a:lnTo>
                    <a:lnTo>
                      <a:pt x="336" y="240"/>
                    </a:lnTo>
                    <a:lnTo>
                      <a:pt x="338" y="238"/>
                    </a:lnTo>
                    <a:lnTo>
                      <a:pt x="338" y="237"/>
                    </a:lnTo>
                    <a:lnTo>
                      <a:pt x="338" y="235"/>
                    </a:lnTo>
                    <a:lnTo>
                      <a:pt x="339" y="235"/>
                    </a:lnTo>
                    <a:lnTo>
                      <a:pt x="341" y="234"/>
                    </a:lnTo>
                    <a:lnTo>
                      <a:pt x="341" y="230"/>
                    </a:lnTo>
                    <a:lnTo>
                      <a:pt x="342" y="230"/>
                    </a:lnTo>
                    <a:lnTo>
                      <a:pt x="344" y="229"/>
                    </a:lnTo>
                    <a:lnTo>
                      <a:pt x="346" y="227"/>
                    </a:lnTo>
                    <a:lnTo>
                      <a:pt x="347" y="227"/>
                    </a:lnTo>
                    <a:lnTo>
                      <a:pt x="349" y="224"/>
                    </a:lnTo>
                    <a:lnTo>
                      <a:pt x="349" y="222"/>
                    </a:lnTo>
                    <a:lnTo>
                      <a:pt x="350" y="222"/>
                    </a:lnTo>
                    <a:lnTo>
                      <a:pt x="350" y="221"/>
                    </a:lnTo>
                    <a:lnTo>
                      <a:pt x="352" y="219"/>
                    </a:lnTo>
                    <a:lnTo>
                      <a:pt x="355" y="214"/>
                    </a:lnTo>
                    <a:lnTo>
                      <a:pt x="355" y="213"/>
                    </a:lnTo>
                    <a:lnTo>
                      <a:pt x="355" y="211"/>
                    </a:lnTo>
                    <a:lnTo>
                      <a:pt x="357" y="210"/>
                    </a:lnTo>
                    <a:lnTo>
                      <a:pt x="357" y="206"/>
                    </a:lnTo>
                    <a:lnTo>
                      <a:pt x="358" y="203"/>
                    </a:lnTo>
                    <a:lnTo>
                      <a:pt x="360" y="198"/>
                    </a:lnTo>
                    <a:lnTo>
                      <a:pt x="362" y="195"/>
                    </a:lnTo>
                    <a:lnTo>
                      <a:pt x="362" y="192"/>
                    </a:lnTo>
                    <a:lnTo>
                      <a:pt x="363" y="190"/>
                    </a:lnTo>
                    <a:lnTo>
                      <a:pt x="363" y="187"/>
                    </a:lnTo>
                    <a:lnTo>
                      <a:pt x="363" y="186"/>
                    </a:lnTo>
                    <a:lnTo>
                      <a:pt x="365" y="184"/>
                    </a:lnTo>
                    <a:lnTo>
                      <a:pt x="363" y="179"/>
                    </a:lnTo>
                    <a:lnTo>
                      <a:pt x="362" y="176"/>
                    </a:lnTo>
                    <a:lnTo>
                      <a:pt x="362" y="174"/>
                    </a:lnTo>
                    <a:lnTo>
                      <a:pt x="362" y="173"/>
                    </a:lnTo>
                    <a:lnTo>
                      <a:pt x="362" y="171"/>
                    </a:lnTo>
                    <a:lnTo>
                      <a:pt x="362" y="170"/>
                    </a:lnTo>
                    <a:lnTo>
                      <a:pt x="363" y="171"/>
                    </a:lnTo>
                    <a:lnTo>
                      <a:pt x="362" y="170"/>
                    </a:lnTo>
                    <a:lnTo>
                      <a:pt x="362" y="165"/>
                    </a:lnTo>
                    <a:lnTo>
                      <a:pt x="362" y="163"/>
                    </a:lnTo>
                    <a:lnTo>
                      <a:pt x="363" y="160"/>
                    </a:lnTo>
                    <a:lnTo>
                      <a:pt x="363" y="157"/>
                    </a:lnTo>
                    <a:lnTo>
                      <a:pt x="362" y="158"/>
                    </a:lnTo>
                    <a:lnTo>
                      <a:pt x="362" y="157"/>
                    </a:lnTo>
                    <a:lnTo>
                      <a:pt x="362" y="155"/>
                    </a:lnTo>
                    <a:lnTo>
                      <a:pt x="362" y="152"/>
                    </a:lnTo>
                    <a:lnTo>
                      <a:pt x="360" y="150"/>
                    </a:lnTo>
                    <a:lnTo>
                      <a:pt x="358" y="150"/>
                    </a:lnTo>
                    <a:lnTo>
                      <a:pt x="360" y="149"/>
                    </a:lnTo>
                    <a:lnTo>
                      <a:pt x="357" y="146"/>
                    </a:lnTo>
                    <a:lnTo>
                      <a:pt x="355" y="144"/>
                    </a:lnTo>
                    <a:lnTo>
                      <a:pt x="354" y="143"/>
                    </a:lnTo>
                    <a:lnTo>
                      <a:pt x="354" y="141"/>
                    </a:lnTo>
                    <a:lnTo>
                      <a:pt x="352" y="138"/>
                    </a:lnTo>
                    <a:lnTo>
                      <a:pt x="350" y="138"/>
                    </a:lnTo>
                    <a:lnTo>
                      <a:pt x="349" y="138"/>
                    </a:lnTo>
                    <a:lnTo>
                      <a:pt x="347" y="135"/>
                    </a:lnTo>
                    <a:lnTo>
                      <a:pt x="346" y="133"/>
                    </a:lnTo>
                    <a:lnTo>
                      <a:pt x="344" y="133"/>
                    </a:lnTo>
                    <a:lnTo>
                      <a:pt x="344" y="130"/>
                    </a:lnTo>
                    <a:lnTo>
                      <a:pt x="344" y="125"/>
                    </a:lnTo>
                    <a:lnTo>
                      <a:pt x="344" y="122"/>
                    </a:lnTo>
                    <a:lnTo>
                      <a:pt x="344" y="120"/>
                    </a:lnTo>
                    <a:lnTo>
                      <a:pt x="342" y="119"/>
                    </a:lnTo>
                    <a:lnTo>
                      <a:pt x="342" y="122"/>
                    </a:lnTo>
                    <a:lnTo>
                      <a:pt x="341" y="120"/>
                    </a:lnTo>
                    <a:lnTo>
                      <a:pt x="339" y="120"/>
                    </a:lnTo>
                    <a:lnTo>
                      <a:pt x="338" y="119"/>
                    </a:lnTo>
                    <a:lnTo>
                      <a:pt x="338" y="117"/>
                    </a:lnTo>
                    <a:lnTo>
                      <a:pt x="336" y="117"/>
                    </a:lnTo>
                    <a:lnTo>
                      <a:pt x="336" y="120"/>
                    </a:lnTo>
                    <a:lnTo>
                      <a:pt x="334" y="120"/>
                    </a:lnTo>
                    <a:lnTo>
                      <a:pt x="334" y="119"/>
                    </a:lnTo>
                    <a:lnTo>
                      <a:pt x="333" y="119"/>
                    </a:lnTo>
                    <a:lnTo>
                      <a:pt x="333" y="117"/>
                    </a:lnTo>
                    <a:lnTo>
                      <a:pt x="333" y="115"/>
                    </a:lnTo>
                    <a:lnTo>
                      <a:pt x="333" y="111"/>
                    </a:lnTo>
                    <a:lnTo>
                      <a:pt x="331" y="111"/>
                    </a:lnTo>
                    <a:lnTo>
                      <a:pt x="331" y="109"/>
                    </a:lnTo>
                    <a:lnTo>
                      <a:pt x="331" y="107"/>
                    </a:lnTo>
                    <a:lnTo>
                      <a:pt x="331" y="106"/>
                    </a:lnTo>
                    <a:lnTo>
                      <a:pt x="330" y="104"/>
                    </a:lnTo>
                    <a:lnTo>
                      <a:pt x="330" y="103"/>
                    </a:lnTo>
                    <a:lnTo>
                      <a:pt x="328" y="103"/>
                    </a:lnTo>
                    <a:lnTo>
                      <a:pt x="326" y="103"/>
                    </a:lnTo>
                    <a:lnTo>
                      <a:pt x="326" y="99"/>
                    </a:lnTo>
                    <a:lnTo>
                      <a:pt x="328" y="101"/>
                    </a:lnTo>
                    <a:lnTo>
                      <a:pt x="328" y="98"/>
                    </a:lnTo>
                    <a:lnTo>
                      <a:pt x="326" y="98"/>
                    </a:lnTo>
                    <a:lnTo>
                      <a:pt x="325" y="96"/>
                    </a:lnTo>
                    <a:lnTo>
                      <a:pt x="325" y="95"/>
                    </a:lnTo>
                    <a:lnTo>
                      <a:pt x="323" y="96"/>
                    </a:lnTo>
                    <a:lnTo>
                      <a:pt x="322" y="95"/>
                    </a:lnTo>
                    <a:lnTo>
                      <a:pt x="322" y="93"/>
                    </a:lnTo>
                    <a:lnTo>
                      <a:pt x="320" y="93"/>
                    </a:lnTo>
                    <a:lnTo>
                      <a:pt x="318" y="91"/>
                    </a:lnTo>
                    <a:lnTo>
                      <a:pt x="317" y="93"/>
                    </a:lnTo>
                    <a:lnTo>
                      <a:pt x="315" y="91"/>
                    </a:lnTo>
                    <a:lnTo>
                      <a:pt x="315" y="90"/>
                    </a:lnTo>
                    <a:lnTo>
                      <a:pt x="315" y="87"/>
                    </a:lnTo>
                    <a:lnTo>
                      <a:pt x="314" y="88"/>
                    </a:lnTo>
                    <a:lnTo>
                      <a:pt x="310" y="87"/>
                    </a:lnTo>
                    <a:lnTo>
                      <a:pt x="309" y="87"/>
                    </a:lnTo>
                    <a:lnTo>
                      <a:pt x="307" y="85"/>
                    </a:lnTo>
                    <a:lnTo>
                      <a:pt x="306" y="83"/>
                    </a:lnTo>
                    <a:lnTo>
                      <a:pt x="304" y="82"/>
                    </a:lnTo>
                    <a:lnTo>
                      <a:pt x="304" y="80"/>
                    </a:lnTo>
                    <a:lnTo>
                      <a:pt x="304" y="79"/>
                    </a:lnTo>
                    <a:lnTo>
                      <a:pt x="302" y="79"/>
                    </a:lnTo>
                    <a:lnTo>
                      <a:pt x="302" y="77"/>
                    </a:lnTo>
                    <a:lnTo>
                      <a:pt x="302" y="74"/>
                    </a:lnTo>
                    <a:lnTo>
                      <a:pt x="302" y="71"/>
                    </a:lnTo>
                    <a:lnTo>
                      <a:pt x="302" y="69"/>
                    </a:lnTo>
                    <a:lnTo>
                      <a:pt x="301" y="64"/>
                    </a:lnTo>
                    <a:lnTo>
                      <a:pt x="301" y="63"/>
                    </a:lnTo>
                    <a:lnTo>
                      <a:pt x="299" y="63"/>
                    </a:lnTo>
                    <a:lnTo>
                      <a:pt x="298" y="59"/>
                    </a:lnTo>
                    <a:lnTo>
                      <a:pt x="296" y="58"/>
                    </a:lnTo>
                    <a:lnTo>
                      <a:pt x="296" y="55"/>
                    </a:lnTo>
                    <a:lnTo>
                      <a:pt x="296" y="53"/>
                    </a:lnTo>
                    <a:lnTo>
                      <a:pt x="296" y="51"/>
                    </a:lnTo>
                    <a:lnTo>
                      <a:pt x="294" y="50"/>
                    </a:lnTo>
                    <a:lnTo>
                      <a:pt x="296" y="47"/>
                    </a:lnTo>
                    <a:lnTo>
                      <a:pt x="294" y="45"/>
                    </a:lnTo>
                    <a:lnTo>
                      <a:pt x="296" y="43"/>
                    </a:lnTo>
                    <a:lnTo>
                      <a:pt x="294" y="42"/>
                    </a:lnTo>
                    <a:lnTo>
                      <a:pt x="293" y="40"/>
                    </a:lnTo>
                    <a:lnTo>
                      <a:pt x="291" y="39"/>
                    </a:lnTo>
                    <a:lnTo>
                      <a:pt x="290" y="39"/>
                    </a:lnTo>
                    <a:lnTo>
                      <a:pt x="288" y="35"/>
                    </a:lnTo>
                    <a:lnTo>
                      <a:pt x="286" y="35"/>
                    </a:lnTo>
                    <a:lnTo>
                      <a:pt x="285" y="35"/>
                    </a:lnTo>
                    <a:lnTo>
                      <a:pt x="283" y="37"/>
                    </a:lnTo>
                    <a:lnTo>
                      <a:pt x="282" y="37"/>
                    </a:lnTo>
                    <a:lnTo>
                      <a:pt x="280" y="35"/>
                    </a:lnTo>
                    <a:lnTo>
                      <a:pt x="280" y="34"/>
                    </a:lnTo>
                    <a:lnTo>
                      <a:pt x="278" y="32"/>
                    </a:lnTo>
                    <a:lnTo>
                      <a:pt x="278" y="31"/>
                    </a:lnTo>
                    <a:lnTo>
                      <a:pt x="278" y="27"/>
                    </a:lnTo>
                    <a:lnTo>
                      <a:pt x="278" y="24"/>
                    </a:lnTo>
                    <a:lnTo>
                      <a:pt x="277" y="23"/>
                    </a:lnTo>
                    <a:lnTo>
                      <a:pt x="277" y="21"/>
                    </a:lnTo>
                    <a:lnTo>
                      <a:pt x="277" y="19"/>
                    </a:lnTo>
                    <a:lnTo>
                      <a:pt x="275" y="18"/>
                    </a:lnTo>
                    <a:lnTo>
                      <a:pt x="275" y="16"/>
                    </a:lnTo>
                    <a:lnTo>
                      <a:pt x="274" y="16"/>
                    </a:lnTo>
                    <a:lnTo>
                      <a:pt x="274" y="13"/>
                    </a:lnTo>
                    <a:lnTo>
                      <a:pt x="274" y="12"/>
                    </a:lnTo>
                    <a:lnTo>
                      <a:pt x="272" y="12"/>
                    </a:lnTo>
                    <a:lnTo>
                      <a:pt x="271" y="10"/>
                    </a:lnTo>
                    <a:lnTo>
                      <a:pt x="271" y="5"/>
                    </a:lnTo>
                    <a:lnTo>
                      <a:pt x="271" y="2"/>
                    </a:lnTo>
                    <a:lnTo>
                      <a:pt x="271" y="0"/>
                    </a:lnTo>
                    <a:lnTo>
                      <a:pt x="269" y="0"/>
                    </a:lnTo>
                    <a:lnTo>
                      <a:pt x="267" y="2"/>
                    </a:lnTo>
                    <a:lnTo>
                      <a:pt x="266" y="2"/>
                    </a:lnTo>
                    <a:lnTo>
                      <a:pt x="266" y="5"/>
                    </a:lnTo>
                    <a:lnTo>
                      <a:pt x="264" y="8"/>
                    </a:lnTo>
                    <a:lnTo>
                      <a:pt x="263" y="12"/>
                    </a:lnTo>
                    <a:lnTo>
                      <a:pt x="263" y="13"/>
                    </a:lnTo>
                    <a:lnTo>
                      <a:pt x="259" y="13"/>
                    </a:lnTo>
                    <a:lnTo>
                      <a:pt x="259" y="16"/>
                    </a:lnTo>
                    <a:lnTo>
                      <a:pt x="259" y="19"/>
                    </a:lnTo>
                    <a:lnTo>
                      <a:pt x="261" y="19"/>
                    </a:lnTo>
                    <a:lnTo>
                      <a:pt x="261" y="21"/>
                    </a:lnTo>
                    <a:lnTo>
                      <a:pt x="259" y="23"/>
                    </a:lnTo>
                    <a:lnTo>
                      <a:pt x="259" y="26"/>
                    </a:lnTo>
                    <a:lnTo>
                      <a:pt x="258" y="29"/>
                    </a:lnTo>
                    <a:lnTo>
                      <a:pt x="259" y="35"/>
                    </a:lnTo>
                    <a:lnTo>
                      <a:pt x="258" y="37"/>
                    </a:lnTo>
                    <a:lnTo>
                      <a:pt x="259" y="42"/>
                    </a:lnTo>
                    <a:lnTo>
                      <a:pt x="259" y="43"/>
                    </a:lnTo>
                    <a:lnTo>
                      <a:pt x="259" y="47"/>
                    </a:lnTo>
                    <a:lnTo>
                      <a:pt x="258" y="48"/>
                    </a:lnTo>
                    <a:lnTo>
                      <a:pt x="258" y="51"/>
                    </a:lnTo>
                    <a:lnTo>
                      <a:pt x="256" y="59"/>
                    </a:lnTo>
                    <a:lnTo>
                      <a:pt x="253" y="64"/>
                    </a:lnTo>
                    <a:lnTo>
                      <a:pt x="253" y="67"/>
                    </a:lnTo>
                    <a:lnTo>
                      <a:pt x="251" y="67"/>
                    </a:lnTo>
                    <a:lnTo>
                      <a:pt x="250" y="69"/>
                    </a:lnTo>
                    <a:lnTo>
                      <a:pt x="248" y="71"/>
                    </a:lnTo>
                    <a:lnTo>
                      <a:pt x="245" y="71"/>
                    </a:lnTo>
                    <a:lnTo>
                      <a:pt x="242" y="69"/>
                    </a:lnTo>
                    <a:lnTo>
                      <a:pt x="237" y="66"/>
                    </a:lnTo>
                    <a:lnTo>
                      <a:pt x="237" y="64"/>
                    </a:lnTo>
                    <a:lnTo>
                      <a:pt x="235" y="63"/>
                    </a:lnTo>
                    <a:lnTo>
                      <a:pt x="234" y="61"/>
                    </a:lnTo>
                    <a:lnTo>
                      <a:pt x="229" y="61"/>
                    </a:lnTo>
                    <a:lnTo>
                      <a:pt x="227" y="59"/>
                    </a:lnTo>
                    <a:lnTo>
                      <a:pt x="226" y="58"/>
                    </a:lnTo>
                    <a:lnTo>
                      <a:pt x="224" y="58"/>
                    </a:lnTo>
                    <a:lnTo>
                      <a:pt x="223" y="56"/>
                    </a:lnTo>
                    <a:lnTo>
                      <a:pt x="221" y="55"/>
                    </a:lnTo>
                    <a:lnTo>
                      <a:pt x="219" y="55"/>
                    </a:lnTo>
                    <a:lnTo>
                      <a:pt x="218" y="53"/>
                    </a:lnTo>
                    <a:lnTo>
                      <a:pt x="216" y="53"/>
                    </a:lnTo>
                    <a:lnTo>
                      <a:pt x="211" y="51"/>
                    </a:lnTo>
                    <a:lnTo>
                      <a:pt x="210" y="53"/>
                    </a:lnTo>
                    <a:lnTo>
                      <a:pt x="210" y="51"/>
                    </a:lnTo>
                    <a:lnTo>
                      <a:pt x="210" y="50"/>
                    </a:lnTo>
                    <a:lnTo>
                      <a:pt x="210" y="48"/>
                    </a:lnTo>
                    <a:lnTo>
                      <a:pt x="207" y="47"/>
                    </a:lnTo>
                    <a:lnTo>
                      <a:pt x="205" y="45"/>
                    </a:lnTo>
                    <a:lnTo>
                      <a:pt x="203" y="45"/>
                    </a:lnTo>
                    <a:lnTo>
                      <a:pt x="202" y="43"/>
                    </a:lnTo>
                    <a:lnTo>
                      <a:pt x="202" y="42"/>
                    </a:lnTo>
                    <a:lnTo>
                      <a:pt x="203" y="40"/>
                    </a:lnTo>
                    <a:lnTo>
                      <a:pt x="203" y="39"/>
                    </a:lnTo>
                    <a:lnTo>
                      <a:pt x="205" y="35"/>
                    </a:lnTo>
                    <a:lnTo>
                      <a:pt x="205" y="34"/>
                    </a:lnTo>
                    <a:lnTo>
                      <a:pt x="207" y="31"/>
                    </a:lnTo>
                    <a:lnTo>
                      <a:pt x="203" y="31"/>
                    </a:lnTo>
                    <a:lnTo>
                      <a:pt x="205" y="29"/>
                    </a:lnTo>
                    <a:lnTo>
                      <a:pt x="205" y="26"/>
                    </a:lnTo>
                    <a:lnTo>
                      <a:pt x="207" y="27"/>
                    </a:lnTo>
                    <a:lnTo>
                      <a:pt x="207" y="26"/>
                    </a:lnTo>
                    <a:lnTo>
                      <a:pt x="208" y="26"/>
                    </a:lnTo>
                    <a:lnTo>
                      <a:pt x="210" y="26"/>
                    </a:lnTo>
                    <a:lnTo>
                      <a:pt x="211" y="24"/>
                    </a:lnTo>
                    <a:lnTo>
                      <a:pt x="210" y="23"/>
                    </a:lnTo>
                    <a:lnTo>
                      <a:pt x="210" y="21"/>
                    </a:lnTo>
                    <a:lnTo>
                      <a:pt x="211" y="23"/>
                    </a:lnTo>
                    <a:lnTo>
                      <a:pt x="211" y="21"/>
                    </a:lnTo>
                    <a:lnTo>
                      <a:pt x="213" y="19"/>
                    </a:lnTo>
                    <a:lnTo>
                      <a:pt x="213" y="18"/>
                    </a:lnTo>
                    <a:lnTo>
                      <a:pt x="213" y="16"/>
                    </a:lnTo>
                    <a:lnTo>
                      <a:pt x="211" y="16"/>
                    </a:lnTo>
                    <a:lnTo>
                      <a:pt x="210" y="18"/>
                    </a:lnTo>
                    <a:lnTo>
                      <a:pt x="210" y="15"/>
                    </a:lnTo>
                    <a:lnTo>
                      <a:pt x="210" y="13"/>
                    </a:lnTo>
                    <a:lnTo>
                      <a:pt x="208" y="13"/>
                    </a:lnTo>
                    <a:lnTo>
                      <a:pt x="207" y="15"/>
                    </a:lnTo>
                    <a:lnTo>
                      <a:pt x="207" y="16"/>
                    </a:lnTo>
                    <a:lnTo>
                      <a:pt x="208" y="16"/>
                    </a:lnTo>
                    <a:lnTo>
                      <a:pt x="207" y="19"/>
                    </a:lnTo>
                    <a:lnTo>
                      <a:pt x="205" y="19"/>
                    </a:lnTo>
                    <a:lnTo>
                      <a:pt x="205" y="18"/>
                    </a:lnTo>
                    <a:lnTo>
                      <a:pt x="205" y="16"/>
                    </a:lnTo>
                    <a:lnTo>
                      <a:pt x="205" y="15"/>
                    </a:lnTo>
                    <a:lnTo>
                      <a:pt x="203" y="16"/>
                    </a:lnTo>
                    <a:lnTo>
                      <a:pt x="203" y="15"/>
                    </a:lnTo>
                    <a:lnTo>
                      <a:pt x="202" y="15"/>
                    </a:lnTo>
                    <a:lnTo>
                      <a:pt x="200" y="15"/>
                    </a:lnTo>
                    <a:lnTo>
                      <a:pt x="199" y="15"/>
                    </a:lnTo>
                    <a:lnTo>
                      <a:pt x="197" y="18"/>
                    </a:lnTo>
                    <a:lnTo>
                      <a:pt x="195" y="16"/>
                    </a:lnTo>
                    <a:lnTo>
                      <a:pt x="194" y="16"/>
                    </a:lnTo>
                    <a:lnTo>
                      <a:pt x="192" y="15"/>
                    </a:lnTo>
                    <a:lnTo>
                      <a:pt x="191" y="15"/>
                    </a:lnTo>
                    <a:lnTo>
                      <a:pt x="189" y="15"/>
                    </a:lnTo>
                    <a:lnTo>
                      <a:pt x="187" y="15"/>
                    </a:lnTo>
                    <a:lnTo>
                      <a:pt x="186" y="13"/>
                    </a:lnTo>
                    <a:lnTo>
                      <a:pt x="184" y="15"/>
                    </a:lnTo>
                    <a:lnTo>
                      <a:pt x="183" y="13"/>
                    </a:lnTo>
                    <a:lnTo>
                      <a:pt x="181" y="13"/>
                    </a:lnTo>
                    <a:lnTo>
                      <a:pt x="179" y="13"/>
                    </a:lnTo>
                    <a:lnTo>
                      <a:pt x="176" y="13"/>
                    </a:lnTo>
                    <a:lnTo>
                      <a:pt x="175" y="12"/>
                    </a:lnTo>
                    <a:lnTo>
                      <a:pt x="175" y="10"/>
                    </a:lnTo>
                    <a:lnTo>
                      <a:pt x="173" y="10"/>
                    </a:lnTo>
                    <a:lnTo>
                      <a:pt x="173" y="12"/>
                    </a:lnTo>
                    <a:lnTo>
                      <a:pt x="171" y="10"/>
                    </a:lnTo>
                    <a:lnTo>
                      <a:pt x="170" y="8"/>
                    </a:lnTo>
                    <a:lnTo>
                      <a:pt x="168" y="8"/>
                    </a:lnTo>
                    <a:lnTo>
                      <a:pt x="168" y="7"/>
                    </a:lnTo>
                    <a:lnTo>
                      <a:pt x="167" y="7"/>
                    </a:lnTo>
                    <a:lnTo>
                      <a:pt x="167" y="8"/>
                    </a:lnTo>
                    <a:lnTo>
                      <a:pt x="167" y="10"/>
                    </a:lnTo>
                    <a:lnTo>
                      <a:pt x="167" y="12"/>
                    </a:lnTo>
                    <a:lnTo>
                      <a:pt x="168" y="10"/>
                    </a:lnTo>
                    <a:lnTo>
                      <a:pt x="170" y="12"/>
                    </a:lnTo>
                    <a:lnTo>
                      <a:pt x="171" y="12"/>
                    </a:lnTo>
                    <a:lnTo>
                      <a:pt x="171" y="16"/>
                    </a:lnTo>
                    <a:lnTo>
                      <a:pt x="170" y="18"/>
                    </a:lnTo>
                    <a:lnTo>
                      <a:pt x="167" y="18"/>
                    </a:lnTo>
                    <a:lnTo>
                      <a:pt x="165" y="18"/>
                    </a:lnTo>
                    <a:lnTo>
                      <a:pt x="163" y="18"/>
                    </a:lnTo>
                    <a:lnTo>
                      <a:pt x="162" y="18"/>
                    </a:lnTo>
                    <a:lnTo>
                      <a:pt x="159" y="18"/>
                    </a:lnTo>
                    <a:lnTo>
                      <a:pt x="159" y="19"/>
                    </a:lnTo>
                    <a:lnTo>
                      <a:pt x="157" y="18"/>
                    </a:lnTo>
                    <a:lnTo>
                      <a:pt x="155" y="19"/>
                    </a:lnTo>
                    <a:lnTo>
                      <a:pt x="157" y="23"/>
                    </a:lnTo>
                    <a:lnTo>
                      <a:pt x="155" y="23"/>
                    </a:lnTo>
                    <a:lnTo>
                      <a:pt x="154" y="21"/>
                    </a:lnTo>
                    <a:lnTo>
                      <a:pt x="152" y="21"/>
                    </a:lnTo>
                    <a:lnTo>
                      <a:pt x="152" y="23"/>
                    </a:lnTo>
                    <a:lnTo>
                      <a:pt x="151" y="23"/>
                    </a:lnTo>
                    <a:lnTo>
                      <a:pt x="149" y="24"/>
                    </a:lnTo>
                    <a:lnTo>
                      <a:pt x="149" y="26"/>
                    </a:lnTo>
                    <a:lnTo>
                      <a:pt x="149" y="27"/>
                    </a:lnTo>
                    <a:lnTo>
                      <a:pt x="149" y="29"/>
                    </a:lnTo>
                    <a:lnTo>
                      <a:pt x="151" y="27"/>
                    </a:lnTo>
                    <a:lnTo>
                      <a:pt x="151" y="31"/>
                    </a:lnTo>
                    <a:lnTo>
                      <a:pt x="149" y="32"/>
                    </a:lnTo>
                    <a:lnTo>
                      <a:pt x="147" y="32"/>
                    </a:lnTo>
                    <a:lnTo>
                      <a:pt x="146" y="31"/>
                    </a:lnTo>
                    <a:lnTo>
                      <a:pt x="146" y="32"/>
                    </a:lnTo>
                    <a:lnTo>
                      <a:pt x="146" y="34"/>
                    </a:lnTo>
                    <a:lnTo>
                      <a:pt x="144" y="37"/>
                    </a:lnTo>
                    <a:lnTo>
                      <a:pt x="143" y="37"/>
                    </a:lnTo>
                    <a:lnTo>
                      <a:pt x="141" y="40"/>
                    </a:lnTo>
                    <a:lnTo>
                      <a:pt x="146" y="45"/>
                    </a:lnTo>
                    <a:lnTo>
                      <a:pt x="144" y="45"/>
                    </a:lnTo>
                    <a:lnTo>
                      <a:pt x="146" y="48"/>
                    </a:lnTo>
                    <a:lnTo>
                      <a:pt x="144" y="48"/>
                    </a:lnTo>
                    <a:lnTo>
                      <a:pt x="141" y="45"/>
                    </a:lnTo>
                    <a:lnTo>
                      <a:pt x="139" y="45"/>
                    </a:lnTo>
                    <a:lnTo>
                      <a:pt x="138" y="45"/>
                    </a:lnTo>
                    <a:lnTo>
                      <a:pt x="136" y="45"/>
                    </a:lnTo>
                    <a:lnTo>
                      <a:pt x="135" y="45"/>
                    </a:lnTo>
                    <a:lnTo>
                      <a:pt x="133" y="45"/>
                    </a:lnTo>
                    <a:lnTo>
                      <a:pt x="133" y="47"/>
                    </a:lnTo>
                    <a:lnTo>
                      <a:pt x="131" y="47"/>
                    </a:lnTo>
                    <a:lnTo>
                      <a:pt x="131" y="48"/>
                    </a:lnTo>
                    <a:lnTo>
                      <a:pt x="131" y="50"/>
                    </a:lnTo>
                    <a:lnTo>
                      <a:pt x="130" y="50"/>
                    </a:lnTo>
                    <a:lnTo>
                      <a:pt x="130" y="47"/>
                    </a:lnTo>
                    <a:lnTo>
                      <a:pt x="130" y="45"/>
                    </a:lnTo>
                    <a:lnTo>
                      <a:pt x="128" y="43"/>
                    </a:lnTo>
                    <a:lnTo>
                      <a:pt x="125" y="39"/>
                    </a:lnTo>
                    <a:lnTo>
                      <a:pt x="123" y="39"/>
                    </a:lnTo>
                    <a:lnTo>
                      <a:pt x="122" y="37"/>
                    </a:lnTo>
                    <a:lnTo>
                      <a:pt x="120" y="37"/>
                    </a:lnTo>
                    <a:lnTo>
                      <a:pt x="119" y="37"/>
                    </a:lnTo>
                    <a:lnTo>
                      <a:pt x="117" y="35"/>
                    </a:lnTo>
                    <a:lnTo>
                      <a:pt x="115" y="37"/>
                    </a:lnTo>
                    <a:lnTo>
                      <a:pt x="117" y="37"/>
                    </a:lnTo>
                    <a:lnTo>
                      <a:pt x="115" y="39"/>
                    </a:lnTo>
                    <a:lnTo>
                      <a:pt x="114" y="40"/>
                    </a:lnTo>
                    <a:lnTo>
                      <a:pt x="112" y="40"/>
                    </a:lnTo>
                    <a:lnTo>
                      <a:pt x="112" y="39"/>
                    </a:lnTo>
                    <a:lnTo>
                      <a:pt x="112" y="40"/>
                    </a:lnTo>
                    <a:lnTo>
                      <a:pt x="111" y="40"/>
                    </a:lnTo>
                    <a:lnTo>
                      <a:pt x="111" y="39"/>
                    </a:lnTo>
                    <a:lnTo>
                      <a:pt x="109" y="39"/>
                    </a:lnTo>
                    <a:lnTo>
                      <a:pt x="111" y="40"/>
                    </a:lnTo>
                    <a:lnTo>
                      <a:pt x="111" y="42"/>
                    </a:lnTo>
                    <a:lnTo>
                      <a:pt x="109" y="43"/>
                    </a:lnTo>
                    <a:lnTo>
                      <a:pt x="108" y="45"/>
                    </a:lnTo>
                    <a:lnTo>
                      <a:pt x="108" y="43"/>
                    </a:lnTo>
                    <a:lnTo>
                      <a:pt x="106" y="45"/>
                    </a:lnTo>
                    <a:lnTo>
                      <a:pt x="104" y="45"/>
                    </a:lnTo>
                    <a:lnTo>
                      <a:pt x="103" y="45"/>
                    </a:lnTo>
                    <a:lnTo>
                      <a:pt x="101" y="45"/>
                    </a:lnTo>
                    <a:lnTo>
                      <a:pt x="103" y="48"/>
                    </a:lnTo>
                    <a:lnTo>
                      <a:pt x="103" y="50"/>
                    </a:lnTo>
                    <a:lnTo>
                      <a:pt x="100" y="50"/>
                    </a:lnTo>
                    <a:lnTo>
                      <a:pt x="100" y="51"/>
                    </a:lnTo>
                    <a:lnTo>
                      <a:pt x="101" y="53"/>
                    </a:lnTo>
                    <a:lnTo>
                      <a:pt x="100" y="55"/>
                    </a:lnTo>
                    <a:lnTo>
                      <a:pt x="98" y="53"/>
                    </a:lnTo>
                    <a:lnTo>
                      <a:pt x="96" y="53"/>
                    </a:lnTo>
                    <a:lnTo>
                      <a:pt x="96" y="55"/>
                    </a:lnTo>
                    <a:lnTo>
                      <a:pt x="98" y="58"/>
                    </a:lnTo>
                    <a:lnTo>
                      <a:pt x="96" y="59"/>
                    </a:lnTo>
                    <a:lnTo>
                      <a:pt x="95" y="61"/>
                    </a:lnTo>
                    <a:lnTo>
                      <a:pt x="95" y="63"/>
                    </a:lnTo>
                    <a:lnTo>
                      <a:pt x="96" y="64"/>
                    </a:lnTo>
                    <a:lnTo>
                      <a:pt x="96" y="66"/>
                    </a:lnTo>
                    <a:lnTo>
                      <a:pt x="93" y="64"/>
                    </a:lnTo>
                    <a:lnTo>
                      <a:pt x="92" y="63"/>
                    </a:lnTo>
                    <a:lnTo>
                      <a:pt x="90" y="63"/>
                    </a:lnTo>
                    <a:lnTo>
                      <a:pt x="88" y="63"/>
                    </a:lnTo>
                    <a:lnTo>
                      <a:pt x="87" y="63"/>
                    </a:lnTo>
                    <a:lnTo>
                      <a:pt x="88" y="66"/>
                    </a:lnTo>
                    <a:lnTo>
                      <a:pt x="87" y="66"/>
                    </a:lnTo>
                    <a:lnTo>
                      <a:pt x="88" y="67"/>
                    </a:lnTo>
                    <a:lnTo>
                      <a:pt x="90" y="69"/>
                    </a:lnTo>
                    <a:lnTo>
                      <a:pt x="90" y="71"/>
                    </a:lnTo>
                    <a:lnTo>
                      <a:pt x="88" y="72"/>
                    </a:lnTo>
                    <a:lnTo>
                      <a:pt x="88" y="74"/>
                    </a:lnTo>
                    <a:lnTo>
                      <a:pt x="88" y="77"/>
                    </a:lnTo>
                    <a:lnTo>
                      <a:pt x="87" y="75"/>
                    </a:lnTo>
                    <a:lnTo>
                      <a:pt x="87" y="74"/>
                    </a:lnTo>
                    <a:lnTo>
                      <a:pt x="85" y="72"/>
                    </a:lnTo>
                    <a:lnTo>
                      <a:pt x="84" y="71"/>
                    </a:lnTo>
                    <a:lnTo>
                      <a:pt x="82" y="67"/>
                    </a:lnTo>
                    <a:lnTo>
                      <a:pt x="80" y="66"/>
                    </a:lnTo>
                    <a:lnTo>
                      <a:pt x="80" y="67"/>
                    </a:lnTo>
                    <a:lnTo>
                      <a:pt x="80" y="69"/>
                    </a:lnTo>
                    <a:lnTo>
                      <a:pt x="79" y="71"/>
                    </a:lnTo>
                    <a:lnTo>
                      <a:pt x="77" y="71"/>
                    </a:lnTo>
                    <a:lnTo>
                      <a:pt x="76" y="72"/>
                    </a:lnTo>
                    <a:lnTo>
                      <a:pt x="76" y="74"/>
                    </a:lnTo>
                    <a:lnTo>
                      <a:pt x="76" y="77"/>
                    </a:lnTo>
                    <a:lnTo>
                      <a:pt x="76" y="79"/>
                    </a:lnTo>
                    <a:lnTo>
                      <a:pt x="77" y="82"/>
                    </a:lnTo>
                    <a:lnTo>
                      <a:pt x="77" y="83"/>
                    </a:lnTo>
                    <a:lnTo>
                      <a:pt x="74" y="87"/>
                    </a:lnTo>
                    <a:lnTo>
                      <a:pt x="72" y="87"/>
                    </a:lnTo>
                    <a:lnTo>
                      <a:pt x="72" y="88"/>
                    </a:lnTo>
                    <a:lnTo>
                      <a:pt x="72" y="90"/>
                    </a:lnTo>
                    <a:lnTo>
                      <a:pt x="71" y="91"/>
                    </a:lnTo>
                    <a:lnTo>
                      <a:pt x="71" y="93"/>
                    </a:lnTo>
                    <a:lnTo>
                      <a:pt x="71" y="95"/>
                    </a:lnTo>
                    <a:lnTo>
                      <a:pt x="68" y="98"/>
                    </a:lnTo>
                    <a:lnTo>
                      <a:pt x="66" y="99"/>
                    </a:lnTo>
                    <a:lnTo>
                      <a:pt x="64" y="101"/>
                    </a:lnTo>
                    <a:lnTo>
                      <a:pt x="60" y="103"/>
                    </a:lnTo>
                    <a:lnTo>
                      <a:pt x="58" y="103"/>
                    </a:lnTo>
                    <a:lnTo>
                      <a:pt x="56" y="104"/>
                    </a:lnTo>
                    <a:lnTo>
                      <a:pt x="55" y="104"/>
                    </a:lnTo>
                    <a:lnTo>
                      <a:pt x="53" y="106"/>
                    </a:lnTo>
                    <a:lnTo>
                      <a:pt x="52" y="104"/>
                    </a:lnTo>
                    <a:lnTo>
                      <a:pt x="48" y="106"/>
                    </a:lnTo>
                    <a:lnTo>
                      <a:pt x="45" y="109"/>
                    </a:lnTo>
                    <a:lnTo>
                      <a:pt x="44" y="109"/>
                    </a:lnTo>
                    <a:lnTo>
                      <a:pt x="42" y="111"/>
                    </a:lnTo>
                    <a:lnTo>
                      <a:pt x="40" y="111"/>
                    </a:lnTo>
                    <a:lnTo>
                      <a:pt x="39" y="112"/>
                    </a:lnTo>
                    <a:lnTo>
                      <a:pt x="37" y="114"/>
                    </a:lnTo>
                    <a:lnTo>
                      <a:pt x="36" y="114"/>
                    </a:lnTo>
                    <a:lnTo>
                      <a:pt x="34" y="115"/>
                    </a:lnTo>
                    <a:lnTo>
                      <a:pt x="32" y="115"/>
                    </a:lnTo>
                    <a:lnTo>
                      <a:pt x="31" y="114"/>
                    </a:lnTo>
                    <a:lnTo>
                      <a:pt x="28" y="115"/>
                    </a:lnTo>
                    <a:lnTo>
                      <a:pt x="28" y="114"/>
                    </a:lnTo>
                    <a:lnTo>
                      <a:pt x="26" y="115"/>
                    </a:lnTo>
                    <a:lnTo>
                      <a:pt x="24" y="117"/>
                    </a:lnTo>
                    <a:lnTo>
                      <a:pt x="23" y="119"/>
                    </a:lnTo>
                    <a:lnTo>
                      <a:pt x="21" y="119"/>
                    </a:lnTo>
                    <a:lnTo>
                      <a:pt x="20" y="120"/>
                    </a:lnTo>
                    <a:lnTo>
                      <a:pt x="18" y="123"/>
                    </a:lnTo>
                    <a:lnTo>
                      <a:pt x="16" y="125"/>
                    </a:lnTo>
                    <a:lnTo>
                      <a:pt x="16" y="127"/>
                    </a:lnTo>
                    <a:lnTo>
                      <a:pt x="13" y="128"/>
                    </a:lnTo>
                    <a:lnTo>
                      <a:pt x="12" y="130"/>
                    </a:lnTo>
                    <a:lnTo>
                      <a:pt x="10" y="130"/>
                    </a:lnTo>
                    <a:lnTo>
                      <a:pt x="10" y="131"/>
                    </a:lnTo>
                    <a:lnTo>
                      <a:pt x="8" y="131"/>
                    </a:lnTo>
                    <a:lnTo>
                      <a:pt x="7" y="135"/>
                    </a:lnTo>
                    <a:lnTo>
                      <a:pt x="7" y="138"/>
                    </a:lnTo>
                    <a:lnTo>
                      <a:pt x="5" y="139"/>
                    </a:lnTo>
                    <a:lnTo>
                      <a:pt x="4" y="139"/>
                    </a:lnTo>
                    <a:lnTo>
                      <a:pt x="4" y="138"/>
                    </a:lnTo>
                    <a:lnTo>
                      <a:pt x="4" y="136"/>
                    </a:lnTo>
                    <a:lnTo>
                      <a:pt x="4" y="135"/>
                    </a:lnTo>
                    <a:lnTo>
                      <a:pt x="4" y="131"/>
                    </a:lnTo>
                    <a:lnTo>
                      <a:pt x="2" y="133"/>
                    </a:lnTo>
                    <a:lnTo>
                      <a:pt x="2" y="136"/>
                    </a:lnTo>
                    <a:lnTo>
                      <a:pt x="0" y="138"/>
                    </a:lnTo>
                    <a:lnTo>
                      <a:pt x="0" y="141"/>
                    </a:lnTo>
                    <a:lnTo>
                      <a:pt x="2" y="144"/>
                    </a:lnTo>
                    <a:lnTo>
                      <a:pt x="4" y="147"/>
                    </a:lnTo>
                    <a:lnTo>
                      <a:pt x="4" y="149"/>
                    </a:lnTo>
                    <a:lnTo>
                      <a:pt x="4" y="150"/>
                    </a:lnTo>
                    <a:lnTo>
                      <a:pt x="2" y="154"/>
                    </a:lnTo>
                    <a:lnTo>
                      <a:pt x="0" y="155"/>
                    </a:lnTo>
                    <a:lnTo>
                      <a:pt x="2" y="160"/>
                    </a:lnTo>
                    <a:lnTo>
                      <a:pt x="5" y="163"/>
                    </a:lnTo>
                    <a:lnTo>
                      <a:pt x="7" y="166"/>
                    </a:lnTo>
                    <a:lnTo>
                      <a:pt x="8" y="168"/>
                    </a:lnTo>
                    <a:lnTo>
                      <a:pt x="8" y="170"/>
                    </a:lnTo>
                    <a:lnTo>
                      <a:pt x="10" y="171"/>
                    </a:lnTo>
                    <a:lnTo>
                      <a:pt x="12" y="173"/>
                    </a:lnTo>
                    <a:lnTo>
                      <a:pt x="13" y="176"/>
                    </a:lnTo>
                    <a:lnTo>
                      <a:pt x="13" y="178"/>
                    </a:lnTo>
                    <a:lnTo>
                      <a:pt x="13" y="179"/>
                    </a:lnTo>
                    <a:lnTo>
                      <a:pt x="12" y="179"/>
                    </a:lnTo>
                    <a:lnTo>
                      <a:pt x="10" y="178"/>
                    </a:lnTo>
                    <a:lnTo>
                      <a:pt x="10" y="176"/>
                    </a:lnTo>
                    <a:lnTo>
                      <a:pt x="8" y="178"/>
                    </a:lnTo>
                    <a:close/>
                    <a:moveTo>
                      <a:pt x="304" y="317"/>
                    </a:moveTo>
                    <a:lnTo>
                      <a:pt x="304" y="312"/>
                    </a:lnTo>
                    <a:lnTo>
                      <a:pt x="304" y="310"/>
                    </a:lnTo>
                    <a:lnTo>
                      <a:pt x="304" y="309"/>
                    </a:lnTo>
                    <a:lnTo>
                      <a:pt x="304" y="305"/>
                    </a:lnTo>
                    <a:lnTo>
                      <a:pt x="304" y="304"/>
                    </a:lnTo>
                    <a:lnTo>
                      <a:pt x="302" y="304"/>
                    </a:lnTo>
                    <a:lnTo>
                      <a:pt x="301" y="305"/>
                    </a:lnTo>
                    <a:lnTo>
                      <a:pt x="301" y="304"/>
                    </a:lnTo>
                    <a:lnTo>
                      <a:pt x="299" y="304"/>
                    </a:lnTo>
                    <a:lnTo>
                      <a:pt x="298" y="305"/>
                    </a:lnTo>
                    <a:lnTo>
                      <a:pt x="296" y="305"/>
                    </a:lnTo>
                    <a:lnTo>
                      <a:pt x="294" y="305"/>
                    </a:lnTo>
                    <a:lnTo>
                      <a:pt x="293" y="307"/>
                    </a:lnTo>
                    <a:lnTo>
                      <a:pt x="291" y="307"/>
                    </a:lnTo>
                    <a:lnTo>
                      <a:pt x="286" y="305"/>
                    </a:lnTo>
                    <a:lnTo>
                      <a:pt x="283" y="302"/>
                    </a:lnTo>
                    <a:lnTo>
                      <a:pt x="282" y="302"/>
                    </a:lnTo>
                    <a:lnTo>
                      <a:pt x="280" y="302"/>
                    </a:lnTo>
                    <a:lnTo>
                      <a:pt x="280" y="301"/>
                    </a:lnTo>
                    <a:lnTo>
                      <a:pt x="278" y="301"/>
                    </a:lnTo>
                    <a:lnTo>
                      <a:pt x="278" y="305"/>
                    </a:lnTo>
                    <a:lnTo>
                      <a:pt x="280" y="313"/>
                    </a:lnTo>
                    <a:lnTo>
                      <a:pt x="282" y="317"/>
                    </a:lnTo>
                    <a:lnTo>
                      <a:pt x="283" y="317"/>
                    </a:lnTo>
                    <a:lnTo>
                      <a:pt x="282" y="318"/>
                    </a:lnTo>
                    <a:lnTo>
                      <a:pt x="280" y="315"/>
                    </a:lnTo>
                    <a:lnTo>
                      <a:pt x="282" y="321"/>
                    </a:lnTo>
                    <a:lnTo>
                      <a:pt x="282" y="323"/>
                    </a:lnTo>
                    <a:lnTo>
                      <a:pt x="283" y="323"/>
                    </a:lnTo>
                    <a:lnTo>
                      <a:pt x="285" y="326"/>
                    </a:lnTo>
                    <a:lnTo>
                      <a:pt x="285" y="328"/>
                    </a:lnTo>
                    <a:lnTo>
                      <a:pt x="286" y="328"/>
                    </a:lnTo>
                    <a:lnTo>
                      <a:pt x="285" y="328"/>
                    </a:lnTo>
                    <a:lnTo>
                      <a:pt x="285" y="329"/>
                    </a:lnTo>
                    <a:lnTo>
                      <a:pt x="286" y="329"/>
                    </a:lnTo>
                    <a:lnTo>
                      <a:pt x="288" y="331"/>
                    </a:lnTo>
                    <a:lnTo>
                      <a:pt x="288" y="329"/>
                    </a:lnTo>
                    <a:lnTo>
                      <a:pt x="290" y="331"/>
                    </a:lnTo>
                    <a:lnTo>
                      <a:pt x="291" y="331"/>
                    </a:lnTo>
                    <a:lnTo>
                      <a:pt x="293" y="329"/>
                    </a:lnTo>
                    <a:lnTo>
                      <a:pt x="293" y="328"/>
                    </a:lnTo>
                    <a:lnTo>
                      <a:pt x="293" y="326"/>
                    </a:lnTo>
                    <a:lnTo>
                      <a:pt x="294" y="326"/>
                    </a:lnTo>
                    <a:lnTo>
                      <a:pt x="294" y="328"/>
                    </a:lnTo>
                    <a:lnTo>
                      <a:pt x="294" y="326"/>
                    </a:lnTo>
                    <a:lnTo>
                      <a:pt x="296" y="326"/>
                    </a:lnTo>
                    <a:lnTo>
                      <a:pt x="296" y="325"/>
                    </a:lnTo>
                    <a:lnTo>
                      <a:pt x="298" y="325"/>
                    </a:lnTo>
                    <a:lnTo>
                      <a:pt x="298" y="323"/>
                    </a:lnTo>
                    <a:lnTo>
                      <a:pt x="299" y="325"/>
                    </a:lnTo>
                    <a:lnTo>
                      <a:pt x="299" y="323"/>
                    </a:lnTo>
                    <a:lnTo>
                      <a:pt x="301" y="321"/>
                    </a:lnTo>
                    <a:lnTo>
                      <a:pt x="301" y="318"/>
                    </a:lnTo>
                    <a:lnTo>
                      <a:pt x="302" y="317"/>
                    </a:lnTo>
                    <a:lnTo>
                      <a:pt x="304" y="317"/>
                    </a:lnTo>
                    <a:close/>
                    <a:moveTo>
                      <a:pt x="210" y="10"/>
                    </a:moveTo>
                    <a:lnTo>
                      <a:pt x="210" y="8"/>
                    </a:lnTo>
                    <a:lnTo>
                      <a:pt x="211" y="7"/>
                    </a:lnTo>
                    <a:lnTo>
                      <a:pt x="211" y="5"/>
                    </a:lnTo>
                    <a:lnTo>
                      <a:pt x="210" y="5"/>
                    </a:lnTo>
                    <a:lnTo>
                      <a:pt x="210" y="7"/>
                    </a:lnTo>
                    <a:lnTo>
                      <a:pt x="210" y="8"/>
                    </a:lnTo>
                    <a:lnTo>
                      <a:pt x="210" y="10"/>
                    </a:lnTo>
                    <a:close/>
                    <a:moveTo>
                      <a:pt x="167" y="12"/>
                    </a:moveTo>
                    <a:lnTo>
                      <a:pt x="165" y="8"/>
                    </a:lnTo>
                    <a:lnTo>
                      <a:pt x="163" y="8"/>
                    </a:lnTo>
                    <a:lnTo>
                      <a:pt x="165" y="10"/>
                    </a:lnTo>
                    <a:lnTo>
                      <a:pt x="167" y="12"/>
                    </a:lnTo>
                    <a:close/>
                    <a:moveTo>
                      <a:pt x="151" y="10"/>
                    </a:moveTo>
                    <a:lnTo>
                      <a:pt x="152" y="13"/>
                    </a:lnTo>
                    <a:lnTo>
                      <a:pt x="154" y="13"/>
                    </a:lnTo>
                    <a:lnTo>
                      <a:pt x="155" y="15"/>
                    </a:lnTo>
                    <a:lnTo>
                      <a:pt x="157" y="15"/>
                    </a:lnTo>
                    <a:lnTo>
                      <a:pt x="159" y="13"/>
                    </a:lnTo>
                    <a:lnTo>
                      <a:pt x="160" y="12"/>
                    </a:lnTo>
                    <a:lnTo>
                      <a:pt x="160" y="10"/>
                    </a:lnTo>
                    <a:lnTo>
                      <a:pt x="159" y="8"/>
                    </a:lnTo>
                    <a:lnTo>
                      <a:pt x="157" y="10"/>
                    </a:lnTo>
                    <a:lnTo>
                      <a:pt x="155" y="10"/>
                    </a:lnTo>
                    <a:lnTo>
                      <a:pt x="154" y="10"/>
                    </a:lnTo>
                    <a:lnTo>
                      <a:pt x="152" y="10"/>
                    </a:lnTo>
                    <a:lnTo>
                      <a:pt x="151" y="10"/>
                    </a:lnTo>
                    <a:close/>
                    <a:moveTo>
                      <a:pt x="147" y="15"/>
                    </a:moveTo>
                    <a:lnTo>
                      <a:pt x="152" y="15"/>
                    </a:lnTo>
                    <a:lnTo>
                      <a:pt x="151" y="13"/>
                    </a:lnTo>
                    <a:lnTo>
                      <a:pt x="149" y="12"/>
                    </a:lnTo>
                    <a:lnTo>
                      <a:pt x="149" y="10"/>
                    </a:lnTo>
                    <a:lnTo>
                      <a:pt x="147" y="10"/>
                    </a:lnTo>
                    <a:lnTo>
                      <a:pt x="147" y="12"/>
                    </a:lnTo>
                    <a:lnTo>
                      <a:pt x="147" y="13"/>
                    </a:lnTo>
                    <a:lnTo>
                      <a:pt x="147" y="15"/>
                    </a:lnTo>
                    <a:close/>
                    <a:moveTo>
                      <a:pt x="213" y="37"/>
                    </a:moveTo>
                    <a:lnTo>
                      <a:pt x="215" y="35"/>
                    </a:lnTo>
                    <a:lnTo>
                      <a:pt x="213" y="32"/>
                    </a:lnTo>
                    <a:lnTo>
                      <a:pt x="211" y="32"/>
                    </a:lnTo>
                    <a:lnTo>
                      <a:pt x="211" y="31"/>
                    </a:lnTo>
                    <a:lnTo>
                      <a:pt x="211" y="32"/>
                    </a:lnTo>
                    <a:lnTo>
                      <a:pt x="210" y="32"/>
                    </a:lnTo>
                    <a:lnTo>
                      <a:pt x="210" y="35"/>
                    </a:lnTo>
                    <a:lnTo>
                      <a:pt x="211" y="37"/>
                    </a:lnTo>
                    <a:lnTo>
                      <a:pt x="213" y="37"/>
                    </a:lnTo>
                    <a:close/>
                    <a:moveTo>
                      <a:pt x="239" y="61"/>
                    </a:moveTo>
                    <a:lnTo>
                      <a:pt x="240" y="59"/>
                    </a:lnTo>
                    <a:lnTo>
                      <a:pt x="242" y="58"/>
                    </a:lnTo>
                    <a:lnTo>
                      <a:pt x="240" y="58"/>
                    </a:lnTo>
                    <a:lnTo>
                      <a:pt x="239" y="58"/>
                    </a:lnTo>
                    <a:lnTo>
                      <a:pt x="237" y="59"/>
                    </a:lnTo>
                    <a:lnTo>
                      <a:pt x="239" y="61"/>
                    </a:lnTo>
                    <a:close/>
                    <a:moveTo>
                      <a:pt x="8" y="178"/>
                    </a:moveTo>
                    <a:lnTo>
                      <a:pt x="8" y="176"/>
                    </a:lnTo>
                    <a:lnTo>
                      <a:pt x="7" y="174"/>
                    </a:lnTo>
                    <a:lnTo>
                      <a:pt x="5" y="173"/>
                    </a:lnTo>
                    <a:lnTo>
                      <a:pt x="5" y="171"/>
                    </a:lnTo>
                    <a:lnTo>
                      <a:pt x="5" y="173"/>
                    </a:lnTo>
                    <a:lnTo>
                      <a:pt x="8" y="178"/>
                    </a:lnTo>
                    <a:close/>
                    <a:moveTo>
                      <a:pt x="224" y="253"/>
                    </a:moveTo>
                    <a:lnTo>
                      <a:pt x="224" y="251"/>
                    </a:lnTo>
                    <a:lnTo>
                      <a:pt x="227" y="251"/>
                    </a:lnTo>
                    <a:lnTo>
                      <a:pt x="229" y="251"/>
                    </a:lnTo>
                    <a:lnTo>
                      <a:pt x="227" y="250"/>
                    </a:lnTo>
                    <a:lnTo>
                      <a:pt x="226" y="250"/>
                    </a:lnTo>
                    <a:lnTo>
                      <a:pt x="224" y="250"/>
                    </a:lnTo>
                    <a:lnTo>
                      <a:pt x="224" y="248"/>
                    </a:lnTo>
                    <a:lnTo>
                      <a:pt x="223" y="248"/>
                    </a:lnTo>
                    <a:lnTo>
                      <a:pt x="218" y="250"/>
                    </a:lnTo>
                    <a:lnTo>
                      <a:pt x="216" y="250"/>
                    </a:lnTo>
                    <a:lnTo>
                      <a:pt x="216" y="251"/>
                    </a:lnTo>
                    <a:lnTo>
                      <a:pt x="216" y="253"/>
                    </a:lnTo>
                    <a:lnTo>
                      <a:pt x="218" y="253"/>
                    </a:lnTo>
                    <a:lnTo>
                      <a:pt x="223" y="253"/>
                    </a:lnTo>
                    <a:lnTo>
                      <a:pt x="224" y="253"/>
                    </a:lnTo>
                    <a:close/>
                    <a:moveTo>
                      <a:pt x="306" y="296"/>
                    </a:moveTo>
                    <a:lnTo>
                      <a:pt x="304" y="293"/>
                    </a:lnTo>
                    <a:lnTo>
                      <a:pt x="302" y="294"/>
                    </a:lnTo>
                    <a:lnTo>
                      <a:pt x="302" y="296"/>
                    </a:lnTo>
                    <a:lnTo>
                      <a:pt x="304" y="297"/>
                    </a:lnTo>
                    <a:lnTo>
                      <a:pt x="304" y="299"/>
                    </a:lnTo>
                    <a:lnTo>
                      <a:pt x="306" y="299"/>
                    </a:lnTo>
                    <a:lnTo>
                      <a:pt x="306" y="297"/>
                    </a:lnTo>
                    <a:lnTo>
                      <a:pt x="306" y="296"/>
                    </a:lnTo>
                    <a:close/>
                    <a:moveTo>
                      <a:pt x="306" y="301"/>
                    </a:moveTo>
                    <a:lnTo>
                      <a:pt x="307" y="301"/>
                    </a:lnTo>
                    <a:lnTo>
                      <a:pt x="306" y="299"/>
                    </a:lnTo>
                    <a:lnTo>
                      <a:pt x="304" y="301"/>
                    </a:lnTo>
                    <a:lnTo>
                      <a:pt x="306" y="301"/>
                    </a:lnTo>
                    <a:close/>
                  </a:path>
                </a:pathLst>
              </a:custGeom>
              <a:solidFill>
                <a:srgbClr val="FFE600"/>
              </a:solidFill>
              <a:ln w="9525">
                <a:noFill/>
                <a:round/>
                <a:headEnd/>
                <a:tailEnd/>
              </a:ln>
            </p:spPr>
            <p:txBody>
              <a:bodyPr wrap="none" anchor="ctr"/>
              <a:lstStyle/>
              <a:p>
                <a:endParaRPr lang="en-US"/>
              </a:p>
            </p:txBody>
          </p:sp>
          <p:sp>
            <p:nvSpPr>
              <p:cNvPr id="19503" name="Line 12"/>
              <p:cNvSpPr>
                <a:spLocks noChangeShapeType="1"/>
              </p:cNvSpPr>
              <p:nvPr/>
            </p:nvSpPr>
            <p:spPr bwMode="auto">
              <a:xfrm>
                <a:off x="1595" y="307"/>
                <a:ext cx="1" cy="1"/>
              </a:xfrm>
              <a:prstGeom prst="line">
                <a:avLst/>
              </a:prstGeom>
              <a:noFill/>
              <a:ln w="4680">
                <a:solidFill>
                  <a:srgbClr val="000000"/>
                </a:solidFill>
                <a:miter lim="800000"/>
                <a:headEnd/>
                <a:tailEnd/>
              </a:ln>
            </p:spPr>
            <p:txBody>
              <a:bodyPr/>
              <a:lstStyle/>
              <a:p>
                <a:endParaRPr lang="en-US"/>
              </a:p>
            </p:txBody>
          </p:sp>
          <p:sp>
            <p:nvSpPr>
              <p:cNvPr id="19504" name="Freeform 13"/>
              <p:cNvSpPr>
                <a:spLocks noChangeArrowheads="1"/>
              </p:cNvSpPr>
              <p:nvPr/>
            </p:nvSpPr>
            <p:spPr bwMode="auto">
              <a:xfrm>
                <a:off x="1732" y="317"/>
                <a:ext cx="127" cy="35"/>
              </a:xfrm>
              <a:custGeom>
                <a:avLst/>
                <a:gdLst>
                  <a:gd name="T0" fmla="*/ 127 w 127"/>
                  <a:gd name="T1" fmla="*/ 0 h 35"/>
                  <a:gd name="T2" fmla="*/ 127 w 127"/>
                  <a:gd name="T3" fmla="*/ 0 h 35"/>
                  <a:gd name="T4" fmla="*/ 120 w 127"/>
                  <a:gd name="T5" fmla="*/ 3 h 35"/>
                  <a:gd name="T6" fmla="*/ 114 w 127"/>
                  <a:gd name="T7" fmla="*/ 6 h 35"/>
                  <a:gd name="T8" fmla="*/ 100 w 127"/>
                  <a:gd name="T9" fmla="*/ 11 h 35"/>
                  <a:gd name="T10" fmla="*/ 84 w 127"/>
                  <a:gd name="T11" fmla="*/ 11 h 35"/>
                  <a:gd name="T12" fmla="*/ 68 w 127"/>
                  <a:gd name="T13" fmla="*/ 11 h 35"/>
                  <a:gd name="T14" fmla="*/ 53 w 127"/>
                  <a:gd name="T15" fmla="*/ 11 h 35"/>
                  <a:gd name="T16" fmla="*/ 37 w 127"/>
                  <a:gd name="T17" fmla="*/ 13 h 35"/>
                  <a:gd name="T18" fmla="*/ 31 w 127"/>
                  <a:gd name="T19" fmla="*/ 14 h 35"/>
                  <a:gd name="T20" fmla="*/ 23 w 127"/>
                  <a:gd name="T21" fmla="*/ 18 h 35"/>
                  <a:gd name="T22" fmla="*/ 16 w 127"/>
                  <a:gd name="T23" fmla="*/ 21 h 35"/>
                  <a:gd name="T24" fmla="*/ 12 w 127"/>
                  <a:gd name="T25" fmla="*/ 26 h 35"/>
                  <a:gd name="T26" fmla="*/ 12 w 127"/>
                  <a:gd name="T27" fmla="*/ 26 h 35"/>
                  <a:gd name="T28" fmla="*/ 0 w 127"/>
                  <a:gd name="T29" fmla="*/ 35 h 35"/>
                  <a:gd name="T30" fmla="*/ 0 w 127"/>
                  <a:gd name="T31" fmla="*/ 35 h 35"/>
                  <a:gd name="T32" fmla="*/ 7 w 127"/>
                  <a:gd name="T33" fmla="*/ 32 h 35"/>
                  <a:gd name="T34" fmla="*/ 13 w 127"/>
                  <a:gd name="T35" fmla="*/ 29 h 35"/>
                  <a:gd name="T36" fmla="*/ 28 w 127"/>
                  <a:gd name="T37" fmla="*/ 26 h 35"/>
                  <a:gd name="T38" fmla="*/ 42 w 127"/>
                  <a:gd name="T39" fmla="*/ 24 h 35"/>
                  <a:gd name="T40" fmla="*/ 56 w 127"/>
                  <a:gd name="T41" fmla="*/ 24 h 35"/>
                  <a:gd name="T42" fmla="*/ 56 w 127"/>
                  <a:gd name="T43" fmla="*/ 24 h 35"/>
                  <a:gd name="T44" fmla="*/ 72 w 127"/>
                  <a:gd name="T45" fmla="*/ 24 h 35"/>
                  <a:gd name="T46" fmla="*/ 88 w 127"/>
                  <a:gd name="T47" fmla="*/ 22 h 35"/>
                  <a:gd name="T48" fmla="*/ 103 w 127"/>
                  <a:gd name="T49" fmla="*/ 19 h 35"/>
                  <a:gd name="T50" fmla="*/ 109 w 127"/>
                  <a:gd name="T51" fmla="*/ 14 h 35"/>
                  <a:gd name="T52" fmla="*/ 116 w 127"/>
                  <a:gd name="T53" fmla="*/ 11 h 35"/>
                  <a:gd name="T54" fmla="*/ 116 w 127"/>
                  <a:gd name="T55" fmla="*/ 11 h 35"/>
                  <a:gd name="T56" fmla="*/ 127 w 127"/>
                  <a:gd name="T57" fmla="*/ 0 h 35"/>
                  <a:gd name="T58" fmla="*/ 127 w 127"/>
                  <a:gd name="T59" fmla="*/ 0 h 3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27"/>
                  <a:gd name="T91" fmla="*/ 0 h 35"/>
                  <a:gd name="T92" fmla="*/ 127 w 127"/>
                  <a:gd name="T93" fmla="*/ 35 h 3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27" h="35">
                    <a:moveTo>
                      <a:pt x="127" y="0"/>
                    </a:moveTo>
                    <a:lnTo>
                      <a:pt x="127" y="0"/>
                    </a:lnTo>
                    <a:lnTo>
                      <a:pt x="120" y="3"/>
                    </a:lnTo>
                    <a:lnTo>
                      <a:pt x="114" y="6"/>
                    </a:lnTo>
                    <a:lnTo>
                      <a:pt x="100" y="11"/>
                    </a:lnTo>
                    <a:lnTo>
                      <a:pt x="84" y="11"/>
                    </a:lnTo>
                    <a:lnTo>
                      <a:pt x="68" y="11"/>
                    </a:lnTo>
                    <a:lnTo>
                      <a:pt x="53" y="11"/>
                    </a:lnTo>
                    <a:lnTo>
                      <a:pt x="37" y="13"/>
                    </a:lnTo>
                    <a:lnTo>
                      <a:pt x="31" y="14"/>
                    </a:lnTo>
                    <a:lnTo>
                      <a:pt x="23" y="18"/>
                    </a:lnTo>
                    <a:lnTo>
                      <a:pt x="16" y="21"/>
                    </a:lnTo>
                    <a:lnTo>
                      <a:pt x="12" y="26"/>
                    </a:lnTo>
                    <a:lnTo>
                      <a:pt x="0" y="35"/>
                    </a:lnTo>
                    <a:lnTo>
                      <a:pt x="7" y="32"/>
                    </a:lnTo>
                    <a:lnTo>
                      <a:pt x="13" y="29"/>
                    </a:lnTo>
                    <a:lnTo>
                      <a:pt x="28" y="26"/>
                    </a:lnTo>
                    <a:lnTo>
                      <a:pt x="42" y="24"/>
                    </a:lnTo>
                    <a:lnTo>
                      <a:pt x="56" y="24"/>
                    </a:lnTo>
                    <a:lnTo>
                      <a:pt x="72" y="24"/>
                    </a:lnTo>
                    <a:lnTo>
                      <a:pt x="88" y="22"/>
                    </a:lnTo>
                    <a:lnTo>
                      <a:pt x="103" y="19"/>
                    </a:lnTo>
                    <a:lnTo>
                      <a:pt x="109" y="14"/>
                    </a:lnTo>
                    <a:lnTo>
                      <a:pt x="116" y="11"/>
                    </a:lnTo>
                    <a:lnTo>
                      <a:pt x="127" y="0"/>
                    </a:lnTo>
                    <a:close/>
                  </a:path>
                </a:pathLst>
              </a:custGeom>
              <a:solidFill>
                <a:srgbClr val="00C014"/>
              </a:solidFill>
              <a:ln w="9525">
                <a:noFill/>
                <a:round/>
                <a:headEnd/>
                <a:tailEnd/>
              </a:ln>
            </p:spPr>
            <p:txBody>
              <a:bodyPr wrap="none" anchor="ctr"/>
              <a:lstStyle/>
              <a:p>
                <a:endParaRPr lang="en-US"/>
              </a:p>
            </p:txBody>
          </p:sp>
          <p:sp>
            <p:nvSpPr>
              <p:cNvPr id="19505" name="Freeform 14"/>
              <p:cNvSpPr>
                <a:spLocks noChangeArrowheads="1"/>
              </p:cNvSpPr>
              <p:nvPr/>
            </p:nvSpPr>
            <p:spPr bwMode="auto">
              <a:xfrm>
                <a:off x="1296" y="402"/>
                <a:ext cx="126" cy="36"/>
              </a:xfrm>
              <a:custGeom>
                <a:avLst/>
                <a:gdLst>
                  <a:gd name="T0" fmla="*/ 126 w 126"/>
                  <a:gd name="T1" fmla="*/ 0 h 36"/>
                  <a:gd name="T2" fmla="*/ 126 w 126"/>
                  <a:gd name="T3" fmla="*/ 0 h 36"/>
                  <a:gd name="T4" fmla="*/ 120 w 126"/>
                  <a:gd name="T5" fmla="*/ 5 h 36"/>
                  <a:gd name="T6" fmla="*/ 114 w 126"/>
                  <a:gd name="T7" fmla="*/ 8 h 36"/>
                  <a:gd name="T8" fmla="*/ 98 w 126"/>
                  <a:gd name="T9" fmla="*/ 11 h 36"/>
                  <a:gd name="T10" fmla="*/ 83 w 126"/>
                  <a:gd name="T11" fmla="*/ 13 h 36"/>
                  <a:gd name="T12" fmla="*/ 67 w 126"/>
                  <a:gd name="T13" fmla="*/ 13 h 36"/>
                  <a:gd name="T14" fmla="*/ 51 w 126"/>
                  <a:gd name="T15" fmla="*/ 13 h 36"/>
                  <a:gd name="T16" fmla="*/ 37 w 126"/>
                  <a:gd name="T17" fmla="*/ 14 h 36"/>
                  <a:gd name="T18" fmla="*/ 31 w 126"/>
                  <a:gd name="T19" fmla="*/ 16 h 36"/>
                  <a:gd name="T20" fmla="*/ 23 w 126"/>
                  <a:gd name="T21" fmla="*/ 17 h 36"/>
                  <a:gd name="T22" fmla="*/ 16 w 126"/>
                  <a:gd name="T23" fmla="*/ 21 h 36"/>
                  <a:gd name="T24" fmla="*/ 11 w 126"/>
                  <a:gd name="T25" fmla="*/ 25 h 36"/>
                  <a:gd name="T26" fmla="*/ 11 w 126"/>
                  <a:gd name="T27" fmla="*/ 25 h 36"/>
                  <a:gd name="T28" fmla="*/ 0 w 126"/>
                  <a:gd name="T29" fmla="*/ 36 h 36"/>
                  <a:gd name="T30" fmla="*/ 0 w 126"/>
                  <a:gd name="T31" fmla="*/ 36 h 36"/>
                  <a:gd name="T32" fmla="*/ 5 w 126"/>
                  <a:gd name="T33" fmla="*/ 32 h 36"/>
                  <a:gd name="T34" fmla="*/ 11 w 126"/>
                  <a:gd name="T35" fmla="*/ 28 h 36"/>
                  <a:gd name="T36" fmla="*/ 26 w 126"/>
                  <a:gd name="T37" fmla="*/ 25 h 36"/>
                  <a:gd name="T38" fmla="*/ 42 w 126"/>
                  <a:gd name="T39" fmla="*/ 24 h 36"/>
                  <a:gd name="T40" fmla="*/ 56 w 126"/>
                  <a:gd name="T41" fmla="*/ 25 h 36"/>
                  <a:gd name="T42" fmla="*/ 56 w 126"/>
                  <a:gd name="T43" fmla="*/ 25 h 36"/>
                  <a:gd name="T44" fmla="*/ 72 w 126"/>
                  <a:gd name="T45" fmla="*/ 25 h 36"/>
                  <a:gd name="T46" fmla="*/ 86 w 126"/>
                  <a:gd name="T47" fmla="*/ 24 h 36"/>
                  <a:gd name="T48" fmla="*/ 101 w 126"/>
                  <a:gd name="T49" fmla="*/ 19 h 36"/>
                  <a:gd name="T50" fmla="*/ 109 w 126"/>
                  <a:gd name="T51" fmla="*/ 16 h 36"/>
                  <a:gd name="T52" fmla="*/ 115 w 126"/>
                  <a:gd name="T53" fmla="*/ 11 h 36"/>
                  <a:gd name="T54" fmla="*/ 115 w 126"/>
                  <a:gd name="T55" fmla="*/ 11 h 36"/>
                  <a:gd name="T56" fmla="*/ 126 w 126"/>
                  <a:gd name="T57" fmla="*/ 0 h 36"/>
                  <a:gd name="T58" fmla="*/ 126 w 126"/>
                  <a:gd name="T59" fmla="*/ 0 h 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26"/>
                  <a:gd name="T91" fmla="*/ 0 h 36"/>
                  <a:gd name="T92" fmla="*/ 126 w 126"/>
                  <a:gd name="T93" fmla="*/ 36 h 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26" h="36">
                    <a:moveTo>
                      <a:pt x="126" y="0"/>
                    </a:moveTo>
                    <a:lnTo>
                      <a:pt x="126" y="0"/>
                    </a:lnTo>
                    <a:lnTo>
                      <a:pt x="120" y="5"/>
                    </a:lnTo>
                    <a:lnTo>
                      <a:pt x="114" y="8"/>
                    </a:lnTo>
                    <a:lnTo>
                      <a:pt x="98" y="11"/>
                    </a:lnTo>
                    <a:lnTo>
                      <a:pt x="83" y="13"/>
                    </a:lnTo>
                    <a:lnTo>
                      <a:pt x="67" y="13"/>
                    </a:lnTo>
                    <a:lnTo>
                      <a:pt x="51" y="13"/>
                    </a:lnTo>
                    <a:lnTo>
                      <a:pt x="37" y="14"/>
                    </a:lnTo>
                    <a:lnTo>
                      <a:pt x="31" y="16"/>
                    </a:lnTo>
                    <a:lnTo>
                      <a:pt x="23" y="17"/>
                    </a:lnTo>
                    <a:lnTo>
                      <a:pt x="16" y="21"/>
                    </a:lnTo>
                    <a:lnTo>
                      <a:pt x="11" y="25"/>
                    </a:lnTo>
                    <a:lnTo>
                      <a:pt x="0" y="36"/>
                    </a:lnTo>
                    <a:lnTo>
                      <a:pt x="5" y="32"/>
                    </a:lnTo>
                    <a:lnTo>
                      <a:pt x="11" y="28"/>
                    </a:lnTo>
                    <a:lnTo>
                      <a:pt x="26" y="25"/>
                    </a:lnTo>
                    <a:lnTo>
                      <a:pt x="42" y="24"/>
                    </a:lnTo>
                    <a:lnTo>
                      <a:pt x="56" y="25"/>
                    </a:lnTo>
                    <a:lnTo>
                      <a:pt x="72" y="25"/>
                    </a:lnTo>
                    <a:lnTo>
                      <a:pt x="86" y="24"/>
                    </a:lnTo>
                    <a:lnTo>
                      <a:pt x="101" y="19"/>
                    </a:lnTo>
                    <a:lnTo>
                      <a:pt x="109" y="16"/>
                    </a:lnTo>
                    <a:lnTo>
                      <a:pt x="115" y="11"/>
                    </a:lnTo>
                    <a:lnTo>
                      <a:pt x="126" y="0"/>
                    </a:lnTo>
                    <a:close/>
                  </a:path>
                </a:pathLst>
              </a:custGeom>
              <a:solidFill>
                <a:srgbClr val="00C014"/>
              </a:solidFill>
              <a:ln w="9525">
                <a:noFill/>
                <a:round/>
                <a:headEnd/>
                <a:tailEnd/>
              </a:ln>
            </p:spPr>
            <p:txBody>
              <a:bodyPr wrap="none" anchor="ctr"/>
              <a:lstStyle/>
              <a:p>
                <a:endParaRPr lang="en-US"/>
              </a:p>
            </p:txBody>
          </p:sp>
          <p:sp>
            <p:nvSpPr>
              <p:cNvPr id="19506" name="Freeform 15"/>
              <p:cNvSpPr>
                <a:spLocks noChangeArrowheads="1"/>
              </p:cNvSpPr>
              <p:nvPr/>
            </p:nvSpPr>
            <p:spPr bwMode="auto">
              <a:xfrm>
                <a:off x="1763" y="501"/>
                <a:ext cx="128" cy="37"/>
              </a:xfrm>
              <a:custGeom>
                <a:avLst/>
                <a:gdLst>
                  <a:gd name="T0" fmla="*/ 128 w 128"/>
                  <a:gd name="T1" fmla="*/ 0 h 37"/>
                  <a:gd name="T2" fmla="*/ 128 w 128"/>
                  <a:gd name="T3" fmla="*/ 0 h 37"/>
                  <a:gd name="T4" fmla="*/ 120 w 128"/>
                  <a:gd name="T5" fmla="*/ 5 h 37"/>
                  <a:gd name="T6" fmla="*/ 113 w 128"/>
                  <a:gd name="T7" fmla="*/ 8 h 37"/>
                  <a:gd name="T8" fmla="*/ 99 w 128"/>
                  <a:gd name="T9" fmla="*/ 11 h 37"/>
                  <a:gd name="T10" fmla="*/ 83 w 128"/>
                  <a:gd name="T11" fmla="*/ 13 h 37"/>
                  <a:gd name="T12" fmla="*/ 69 w 128"/>
                  <a:gd name="T13" fmla="*/ 13 h 37"/>
                  <a:gd name="T14" fmla="*/ 53 w 128"/>
                  <a:gd name="T15" fmla="*/ 13 h 37"/>
                  <a:gd name="T16" fmla="*/ 38 w 128"/>
                  <a:gd name="T17" fmla="*/ 14 h 37"/>
                  <a:gd name="T18" fmla="*/ 30 w 128"/>
                  <a:gd name="T19" fmla="*/ 16 h 37"/>
                  <a:gd name="T20" fmla="*/ 24 w 128"/>
                  <a:gd name="T21" fmla="*/ 17 h 37"/>
                  <a:gd name="T22" fmla="*/ 17 w 128"/>
                  <a:gd name="T23" fmla="*/ 22 h 37"/>
                  <a:gd name="T24" fmla="*/ 11 w 128"/>
                  <a:gd name="T25" fmla="*/ 27 h 37"/>
                  <a:gd name="T26" fmla="*/ 11 w 128"/>
                  <a:gd name="T27" fmla="*/ 27 h 37"/>
                  <a:gd name="T28" fmla="*/ 0 w 128"/>
                  <a:gd name="T29" fmla="*/ 37 h 37"/>
                  <a:gd name="T30" fmla="*/ 0 w 128"/>
                  <a:gd name="T31" fmla="*/ 37 h 37"/>
                  <a:gd name="T32" fmla="*/ 6 w 128"/>
                  <a:gd name="T33" fmla="*/ 33 h 37"/>
                  <a:gd name="T34" fmla="*/ 13 w 128"/>
                  <a:gd name="T35" fmla="*/ 30 h 37"/>
                  <a:gd name="T36" fmla="*/ 27 w 128"/>
                  <a:gd name="T37" fmla="*/ 25 h 37"/>
                  <a:gd name="T38" fmla="*/ 41 w 128"/>
                  <a:gd name="T39" fmla="*/ 25 h 37"/>
                  <a:gd name="T40" fmla="*/ 56 w 128"/>
                  <a:gd name="T41" fmla="*/ 25 h 37"/>
                  <a:gd name="T42" fmla="*/ 56 w 128"/>
                  <a:gd name="T43" fmla="*/ 25 h 37"/>
                  <a:gd name="T44" fmla="*/ 72 w 128"/>
                  <a:gd name="T45" fmla="*/ 25 h 37"/>
                  <a:gd name="T46" fmla="*/ 88 w 128"/>
                  <a:gd name="T47" fmla="*/ 24 h 37"/>
                  <a:gd name="T48" fmla="*/ 102 w 128"/>
                  <a:gd name="T49" fmla="*/ 19 h 37"/>
                  <a:gd name="T50" fmla="*/ 108 w 128"/>
                  <a:gd name="T51" fmla="*/ 16 h 37"/>
                  <a:gd name="T52" fmla="*/ 115 w 128"/>
                  <a:gd name="T53" fmla="*/ 11 h 37"/>
                  <a:gd name="T54" fmla="*/ 115 w 128"/>
                  <a:gd name="T55" fmla="*/ 11 h 37"/>
                  <a:gd name="T56" fmla="*/ 128 w 128"/>
                  <a:gd name="T57" fmla="*/ 0 h 37"/>
                  <a:gd name="T58" fmla="*/ 128 w 128"/>
                  <a:gd name="T59" fmla="*/ 0 h 3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28"/>
                  <a:gd name="T91" fmla="*/ 0 h 37"/>
                  <a:gd name="T92" fmla="*/ 128 w 128"/>
                  <a:gd name="T93" fmla="*/ 37 h 3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28" h="37">
                    <a:moveTo>
                      <a:pt x="128" y="0"/>
                    </a:moveTo>
                    <a:lnTo>
                      <a:pt x="128" y="0"/>
                    </a:lnTo>
                    <a:lnTo>
                      <a:pt x="120" y="5"/>
                    </a:lnTo>
                    <a:lnTo>
                      <a:pt x="113" y="8"/>
                    </a:lnTo>
                    <a:lnTo>
                      <a:pt x="99" y="11"/>
                    </a:lnTo>
                    <a:lnTo>
                      <a:pt x="83" y="13"/>
                    </a:lnTo>
                    <a:lnTo>
                      <a:pt x="69" y="13"/>
                    </a:lnTo>
                    <a:lnTo>
                      <a:pt x="53" y="13"/>
                    </a:lnTo>
                    <a:lnTo>
                      <a:pt x="38" y="14"/>
                    </a:lnTo>
                    <a:lnTo>
                      <a:pt x="30" y="16"/>
                    </a:lnTo>
                    <a:lnTo>
                      <a:pt x="24" y="17"/>
                    </a:lnTo>
                    <a:lnTo>
                      <a:pt x="17" y="22"/>
                    </a:lnTo>
                    <a:lnTo>
                      <a:pt x="11" y="27"/>
                    </a:lnTo>
                    <a:lnTo>
                      <a:pt x="0" y="37"/>
                    </a:lnTo>
                    <a:lnTo>
                      <a:pt x="6" y="33"/>
                    </a:lnTo>
                    <a:lnTo>
                      <a:pt x="13" y="30"/>
                    </a:lnTo>
                    <a:lnTo>
                      <a:pt x="27" y="25"/>
                    </a:lnTo>
                    <a:lnTo>
                      <a:pt x="41" y="25"/>
                    </a:lnTo>
                    <a:lnTo>
                      <a:pt x="56" y="25"/>
                    </a:lnTo>
                    <a:lnTo>
                      <a:pt x="72" y="25"/>
                    </a:lnTo>
                    <a:lnTo>
                      <a:pt x="88" y="24"/>
                    </a:lnTo>
                    <a:lnTo>
                      <a:pt x="102" y="19"/>
                    </a:lnTo>
                    <a:lnTo>
                      <a:pt x="108" y="16"/>
                    </a:lnTo>
                    <a:lnTo>
                      <a:pt x="115" y="11"/>
                    </a:lnTo>
                    <a:lnTo>
                      <a:pt x="128" y="0"/>
                    </a:lnTo>
                    <a:close/>
                  </a:path>
                </a:pathLst>
              </a:custGeom>
              <a:solidFill>
                <a:srgbClr val="00C014"/>
              </a:solidFill>
              <a:ln w="9525">
                <a:noFill/>
                <a:round/>
                <a:headEnd/>
                <a:tailEnd/>
              </a:ln>
            </p:spPr>
            <p:txBody>
              <a:bodyPr wrap="none" anchor="ctr"/>
              <a:lstStyle/>
              <a:p>
                <a:endParaRPr lang="en-US"/>
              </a:p>
            </p:txBody>
          </p:sp>
          <p:sp>
            <p:nvSpPr>
              <p:cNvPr id="19507" name="Freeform 16"/>
              <p:cNvSpPr>
                <a:spLocks noChangeArrowheads="1"/>
              </p:cNvSpPr>
              <p:nvPr/>
            </p:nvSpPr>
            <p:spPr bwMode="auto">
              <a:xfrm>
                <a:off x="1314" y="530"/>
                <a:ext cx="263" cy="86"/>
              </a:xfrm>
              <a:custGeom>
                <a:avLst/>
                <a:gdLst>
                  <a:gd name="T0" fmla="*/ 263 w 263"/>
                  <a:gd name="T1" fmla="*/ 0 h 86"/>
                  <a:gd name="T2" fmla="*/ 263 w 263"/>
                  <a:gd name="T3" fmla="*/ 0 h 86"/>
                  <a:gd name="T4" fmla="*/ 249 w 263"/>
                  <a:gd name="T5" fmla="*/ 8 h 86"/>
                  <a:gd name="T6" fmla="*/ 235 w 263"/>
                  <a:gd name="T7" fmla="*/ 16 h 86"/>
                  <a:gd name="T8" fmla="*/ 220 w 263"/>
                  <a:gd name="T9" fmla="*/ 22 h 86"/>
                  <a:gd name="T10" fmla="*/ 204 w 263"/>
                  <a:gd name="T11" fmla="*/ 28 h 86"/>
                  <a:gd name="T12" fmla="*/ 190 w 263"/>
                  <a:gd name="T13" fmla="*/ 31 h 86"/>
                  <a:gd name="T14" fmla="*/ 172 w 263"/>
                  <a:gd name="T15" fmla="*/ 35 h 86"/>
                  <a:gd name="T16" fmla="*/ 156 w 263"/>
                  <a:gd name="T17" fmla="*/ 36 h 86"/>
                  <a:gd name="T18" fmla="*/ 140 w 263"/>
                  <a:gd name="T19" fmla="*/ 36 h 86"/>
                  <a:gd name="T20" fmla="*/ 140 w 263"/>
                  <a:gd name="T21" fmla="*/ 36 h 86"/>
                  <a:gd name="T22" fmla="*/ 123 w 263"/>
                  <a:gd name="T23" fmla="*/ 35 h 86"/>
                  <a:gd name="T24" fmla="*/ 105 w 263"/>
                  <a:gd name="T25" fmla="*/ 36 h 86"/>
                  <a:gd name="T26" fmla="*/ 89 w 263"/>
                  <a:gd name="T27" fmla="*/ 39 h 86"/>
                  <a:gd name="T28" fmla="*/ 72 w 263"/>
                  <a:gd name="T29" fmla="*/ 43 h 86"/>
                  <a:gd name="T30" fmla="*/ 56 w 263"/>
                  <a:gd name="T31" fmla="*/ 49 h 86"/>
                  <a:gd name="T32" fmla="*/ 41 w 263"/>
                  <a:gd name="T33" fmla="*/ 57 h 86"/>
                  <a:gd name="T34" fmla="*/ 27 w 263"/>
                  <a:gd name="T35" fmla="*/ 65 h 86"/>
                  <a:gd name="T36" fmla="*/ 13 w 263"/>
                  <a:gd name="T37" fmla="*/ 75 h 86"/>
                  <a:gd name="T38" fmla="*/ 13 w 263"/>
                  <a:gd name="T39" fmla="*/ 75 h 86"/>
                  <a:gd name="T40" fmla="*/ 0 w 263"/>
                  <a:gd name="T41" fmla="*/ 86 h 86"/>
                  <a:gd name="T42" fmla="*/ 0 w 263"/>
                  <a:gd name="T43" fmla="*/ 86 h 86"/>
                  <a:gd name="T44" fmla="*/ 14 w 263"/>
                  <a:gd name="T45" fmla="*/ 76 h 86"/>
                  <a:gd name="T46" fmla="*/ 29 w 263"/>
                  <a:gd name="T47" fmla="*/ 68 h 86"/>
                  <a:gd name="T48" fmla="*/ 43 w 263"/>
                  <a:gd name="T49" fmla="*/ 60 h 86"/>
                  <a:gd name="T50" fmla="*/ 59 w 263"/>
                  <a:gd name="T51" fmla="*/ 55 h 86"/>
                  <a:gd name="T52" fmla="*/ 75 w 263"/>
                  <a:gd name="T53" fmla="*/ 51 h 86"/>
                  <a:gd name="T54" fmla="*/ 91 w 263"/>
                  <a:gd name="T55" fmla="*/ 47 h 86"/>
                  <a:gd name="T56" fmla="*/ 107 w 263"/>
                  <a:gd name="T57" fmla="*/ 46 h 86"/>
                  <a:gd name="T58" fmla="*/ 124 w 263"/>
                  <a:gd name="T59" fmla="*/ 46 h 86"/>
                  <a:gd name="T60" fmla="*/ 124 w 263"/>
                  <a:gd name="T61" fmla="*/ 46 h 86"/>
                  <a:gd name="T62" fmla="*/ 140 w 263"/>
                  <a:gd name="T63" fmla="*/ 46 h 86"/>
                  <a:gd name="T64" fmla="*/ 158 w 263"/>
                  <a:gd name="T65" fmla="*/ 46 h 86"/>
                  <a:gd name="T66" fmla="*/ 174 w 263"/>
                  <a:gd name="T67" fmla="*/ 43 h 86"/>
                  <a:gd name="T68" fmla="*/ 192 w 263"/>
                  <a:gd name="T69" fmla="*/ 39 h 86"/>
                  <a:gd name="T70" fmla="*/ 206 w 263"/>
                  <a:gd name="T71" fmla="*/ 35 h 86"/>
                  <a:gd name="T72" fmla="*/ 222 w 263"/>
                  <a:gd name="T73" fmla="*/ 28 h 86"/>
                  <a:gd name="T74" fmla="*/ 236 w 263"/>
                  <a:gd name="T75" fmla="*/ 20 h 86"/>
                  <a:gd name="T76" fmla="*/ 252 w 263"/>
                  <a:gd name="T77" fmla="*/ 11 h 86"/>
                  <a:gd name="T78" fmla="*/ 252 w 263"/>
                  <a:gd name="T79" fmla="*/ 11 h 86"/>
                  <a:gd name="T80" fmla="*/ 257 w 263"/>
                  <a:gd name="T81" fmla="*/ 4 h 86"/>
                  <a:gd name="T82" fmla="*/ 263 w 263"/>
                  <a:gd name="T83" fmla="*/ 0 h 86"/>
                  <a:gd name="T84" fmla="*/ 263 w 263"/>
                  <a:gd name="T85" fmla="*/ 0 h 8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63"/>
                  <a:gd name="T130" fmla="*/ 0 h 86"/>
                  <a:gd name="T131" fmla="*/ 263 w 263"/>
                  <a:gd name="T132" fmla="*/ 86 h 8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63" h="86">
                    <a:moveTo>
                      <a:pt x="263" y="0"/>
                    </a:moveTo>
                    <a:lnTo>
                      <a:pt x="263" y="0"/>
                    </a:lnTo>
                    <a:lnTo>
                      <a:pt x="249" y="8"/>
                    </a:lnTo>
                    <a:lnTo>
                      <a:pt x="235" y="16"/>
                    </a:lnTo>
                    <a:lnTo>
                      <a:pt x="220" y="22"/>
                    </a:lnTo>
                    <a:lnTo>
                      <a:pt x="204" y="28"/>
                    </a:lnTo>
                    <a:lnTo>
                      <a:pt x="190" y="31"/>
                    </a:lnTo>
                    <a:lnTo>
                      <a:pt x="172" y="35"/>
                    </a:lnTo>
                    <a:lnTo>
                      <a:pt x="156" y="36"/>
                    </a:lnTo>
                    <a:lnTo>
                      <a:pt x="140" y="36"/>
                    </a:lnTo>
                    <a:lnTo>
                      <a:pt x="123" y="35"/>
                    </a:lnTo>
                    <a:lnTo>
                      <a:pt x="105" y="36"/>
                    </a:lnTo>
                    <a:lnTo>
                      <a:pt x="89" y="39"/>
                    </a:lnTo>
                    <a:lnTo>
                      <a:pt x="72" y="43"/>
                    </a:lnTo>
                    <a:lnTo>
                      <a:pt x="56" y="49"/>
                    </a:lnTo>
                    <a:lnTo>
                      <a:pt x="41" y="57"/>
                    </a:lnTo>
                    <a:lnTo>
                      <a:pt x="27" y="65"/>
                    </a:lnTo>
                    <a:lnTo>
                      <a:pt x="13" y="75"/>
                    </a:lnTo>
                    <a:lnTo>
                      <a:pt x="0" y="86"/>
                    </a:lnTo>
                    <a:lnTo>
                      <a:pt x="14" y="76"/>
                    </a:lnTo>
                    <a:lnTo>
                      <a:pt x="29" y="68"/>
                    </a:lnTo>
                    <a:lnTo>
                      <a:pt x="43" y="60"/>
                    </a:lnTo>
                    <a:lnTo>
                      <a:pt x="59" y="55"/>
                    </a:lnTo>
                    <a:lnTo>
                      <a:pt x="75" y="51"/>
                    </a:lnTo>
                    <a:lnTo>
                      <a:pt x="91" y="47"/>
                    </a:lnTo>
                    <a:lnTo>
                      <a:pt x="107" y="46"/>
                    </a:lnTo>
                    <a:lnTo>
                      <a:pt x="124" y="46"/>
                    </a:lnTo>
                    <a:lnTo>
                      <a:pt x="140" y="46"/>
                    </a:lnTo>
                    <a:lnTo>
                      <a:pt x="158" y="46"/>
                    </a:lnTo>
                    <a:lnTo>
                      <a:pt x="174" y="43"/>
                    </a:lnTo>
                    <a:lnTo>
                      <a:pt x="192" y="39"/>
                    </a:lnTo>
                    <a:lnTo>
                      <a:pt x="206" y="35"/>
                    </a:lnTo>
                    <a:lnTo>
                      <a:pt x="222" y="28"/>
                    </a:lnTo>
                    <a:lnTo>
                      <a:pt x="236" y="20"/>
                    </a:lnTo>
                    <a:lnTo>
                      <a:pt x="252" y="11"/>
                    </a:lnTo>
                    <a:lnTo>
                      <a:pt x="257" y="4"/>
                    </a:lnTo>
                    <a:lnTo>
                      <a:pt x="263" y="0"/>
                    </a:lnTo>
                    <a:close/>
                  </a:path>
                </a:pathLst>
              </a:custGeom>
              <a:solidFill>
                <a:srgbClr val="00C014"/>
              </a:solidFill>
              <a:ln w="9525">
                <a:noFill/>
                <a:round/>
                <a:headEnd/>
                <a:tailEnd/>
              </a:ln>
            </p:spPr>
            <p:txBody>
              <a:bodyPr wrap="none" anchor="ctr"/>
              <a:lstStyle/>
              <a:p>
                <a:endParaRPr lang="en-US"/>
              </a:p>
            </p:txBody>
          </p:sp>
          <p:sp>
            <p:nvSpPr>
              <p:cNvPr id="19508" name="Freeform 17"/>
              <p:cNvSpPr>
                <a:spLocks noChangeArrowheads="1"/>
              </p:cNvSpPr>
              <p:nvPr/>
            </p:nvSpPr>
            <p:spPr bwMode="auto">
              <a:xfrm>
                <a:off x="1790" y="411"/>
                <a:ext cx="94" cy="31"/>
              </a:xfrm>
              <a:custGeom>
                <a:avLst/>
                <a:gdLst>
                  <a:gd name="T0" fmla="*/ 94 w 94"/>
                  <a:gd name="T1" fmla="*/ 0 h 31"/>
                  <a:gd name="T2" fmla="*/ 94 w 94"/>
                  <a:gd name="T3" fmla="*/ 0 h 31"/>
                  <a:gd name="T4" fmla="*/ 86 w 94"/>
                  <a:gd name="T5" fmla="*/ 5 h 31"/>
                  <a:gd name="T6" fmla="*/ 78 w 94"/>
                  <a:gd name="T7" fmla="*/ 8 h 31"/>
                  <a:gd name="T8" fmla="*/ 70 w 94"/>
                  <a:gd name="T9" fmla="*/ 10 h 31"/>
                  <a:gd name="T10" fmla="*/ 62 w 94"/>
                  <a:gd name="T11" fmla="*/ 10 h 31"/>
                  <a:gd name="T12" fmla="*/ 46 w 94"/>
                  <a:gd name="T13" fmla="*/ 10 h 31"/>
                  <a:gd name="T14" fmla="*/ 30 w 94"/>
                  <a:gd name="T15" fmla="*/ 10 h 31"/>
                  <a:gd name="T16" fmla="*/ 30 w 94"/>
                  <a:gd name="T17" fmla="*/ 10 h 31"/>
                  <a:gd name="T18" fmla="*/ 21 w 94"/>
                  <a:gd name="T19" fmla="*/ 13 h 31"/>
                  <a:gd name="T20" fmla="*/ 13 w 94"/>
                  <a:gd name="T21" fmla="*/ 18 h 31"/>
                  <a:gd name="T22" fmla="*/ 6 w 94"/>
                  <a:gd name="T23" fmla="*/ 24 h 31"/>
                  <a:gd name="T24" fmla="*/ 0 w 94"/>
                  <a:gd name="T25" fmla="*/ 31 h 31"/>
                  <a:gd name="T26" fmla="*/ 0 w 94"/>
                  <a:gd name="T27" fmla="*/ 31 h 31"/>
                  <a:gd name="T28" fmla="*/ 11 w 94"/>
                  <a:gd name="T29" fmla="*/ 19 h 31"/>
                  <a:gd name="T30" fmla="*/ 11 w 94"/>
                  <a:gd name="T31" fmla="*/ 19 h 31"/>
                  <a:gd name="T32" fmla="*/ 2 w 94"/>
                  <a:gd name="T33" fmla="*/ 27 h 31"/>
                  <a:gd name="T34" fmla="*/ 5 w 94"/>
                  <a:gd name="T35" fmla="*/ 26 h 31"/>
                  <a:gd name="T36" fmla="*/ 5 w 94"/>
                  <a:gd name="T37" fmla="*/ 26 h 31"/>
                  <a:gd name="T38" fmla="*/ 13 w 94"/>
                  <a:gd name="T39" fmla="*/ 23 h 31"/>
                  <a:gd name="T40" fmla="*/ 19 w 94"/>
                  <a:gd name="T41" fmla="*/ 21 h 31"/>
                  <a:gd name="T42" fmla="*/ 19 w 94"/>
                  <a:gd name="T43" fmla="*/ 21 h 31"/>
                  <a:gd name="T44" fmla="*/ 30 w 94"/>
                  <a:gd name="T45" fmla="*/ 21 h 31"/>
                  <a:gd name="T46" fmla="*/ 42 w 94"/>
                  <a:gd name="T47" fmla="*/ 21 h 31"/>
                  <a:gd name="T48" fmla="*/ 42 w 94"/>
                  <a:gd name="T49" fmla="*/ 21 h 31"/>
                  <a:gd name="T50" fmla="*/ 53 w 94"/>
                  <a:gd name="T51" fmla="*/ 23 h 31"/>
                  <a:gd name="T52" fmla="*/ 62 w 94"/>
                  <a:gd name="T53" fmla="*/ 21 h 31"/>
                  <a:gd name="T54" fmla="*/ 73 w 94"/>
                  <a:gd name="T55" fmla="*/ 16 h 31"/>
                  <a:gd name="T56" fmla="*/ 81 w 94"/>
                  <a:gd name="T57" fmla="*/ 12 h 31"/>
                  <a:gd name="T58" fmla="*/ 81 w 94"/>
                  <a:gd name="T59" fmla="*/ 12 h 31"/>
                  <a:gd name="T60" fmla="*/ 88 w 94"/>
                  <a:gd name="T61" fmla="*/ 7 h 31"/>
                  <a:gd name="T62" fmla="*/ 94 w 94"/>
                  <a:gd name="T63" fmla="*/ 0 h 31"/>
                  <a:gd name="T64" fmla="*/ 94 w 94"/>
                  <a:gd name="T65" fmla="*/ 0 h 3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4"/>
                  <a:gd name="T100" fmla="*/ 0 h 31"/>
                  <a:gd name="T101" fmla="*/ 94 w 94"/>
                  <a:gd name="T102" fmla="*/ 31 h 3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4" h="31">
                    <a:moveTo>
                      <a:pt x="94" y="0"/>
                    </a:moveTo>
                    <a:lnTo>
                      <a:pt x="94" y="0"/>
                    </a:lnTo>
                    <a:lnTo>
                      <a:pt x="86" y="5"/>
                    </a:lnTo>
                    <a:lnTo>
                      <a:pt x="78" y="8"/>
                    </a:lnTo>
                    <a:lnTo>
                      <a:pt x="70" y="10"/>
                    </a:lnTo>
                    <a:lnTo>
                      <a:pt x="62" y="10"/>
                    </a:lnTo>
                    <a:lnTo>
                      <a:pt x="46" y="10"/>
                    </a:lnTo>
                    <a:lnTo>
                      <a:pt x="30" y="10"/>
                    </a:lnTo>
                    <a:lnTo>
                      <a:pt x="21" y="13"/>
                    </a:lnTo>
                    <a:lnTo>
                      <a:pt x="13" y="18"/>
                    </a:lnTo>
                    <a:lnTo>
                      <a:pt x="6" y="24"/>
                    </a:lnTo>
                    <a:lnTo>
                      <a:pt x="0" y="31"/>
                    </a:lnTo>
                    <a:lnTo>
                      <a:pt x="11" y="19"/>
                    </a:lnTo>
                    <a:lnTo>
                      <a:pt x="2" y="27"/>
                    </a:lnTo>
                    <a:lnTo>
                      <a:pt x="5" y="26"/>
                    </a:lnTo>
                    <a:lnTo>
                      <a:pt x="13" y="23"/>
                    </a:lnTo>
                    <a:lnTo>
                      <a:pt x="19" y="21"/>
                    </a:lnTo>
                    <a:lnTo>
                      <a:pt x="30" y="21"/>
                    </a:lnTo>
                    <a:lnTo>
                      <a:pt x="42" y="21"/>
                    </a:lnTo>
                    <a:lnTo>
                      <a:pt x="53" y="23"/>
                    </a:lnTo>
                    <a:lnTo>
                      <a:pt x="62" y="21"/>
                    </a:lnTo>
                    <a:lnTo>
                      <a:pt x="73" y="16"/>
                    </a:lnTo>
                    <a:lnTo>
                      <a:pt x="81" y="12"/>
                    </a:lnTo>
                    <a:lnTo>
                      <a:pt x="88" y="7"/>
                    </a:lnTo>
                    <a:lnTo>
                      <a:pt x="94" y="0"/>
                    </a:lnTo>
                    <a:close/>
                  </a:path>
                </a:pathLst>
              </a:custGeom>
              <a:solidFill>
                <a:srgbClr val="00C014"/>
              </a:solidFill>
              <a:ln w="9525">
                <a:noFill/>
                <a:round/>
                <a:headEnd/>
                <a:tailEnd/>
              </a:ln>
            </p:spPr>
            <p:txBody>
              <a:bodyPr wrap="none" anchor="ctr"/>
              <a:lstStyle/>
              <a:p>
                <a:endParaRPr lang="en-US"/>
              </a:p>
            </p:txBody>
          </p:sp>
          <p:sp>
            <p:nvSpPr>
              <p:cNvPr id="19509" name="Freeform 18"/>
              <p:cNvSpPr>
                <a:spLocks noChangeArrowheads="1"/>
              </p:cNvSpPr>
              <p:nvPr/>
            </p:nvSpPr>
            <p:spPr bwMode="auto">
              <a:xfrm>
                <a:off x="1349" y="482"/>
                <a:ext cx="94" cy="27"/>
              </a:xfrm>
              <a:custGeom>
                <a:avLst/>
                <a:gdLst>
                  <a:gd name="T0" fmla="*/ 94 w 94"/>
                  <a:gd name="T1" fmla="*/ 0 h 27"/>
                  <a:gd name="T2" fmla="*/ 94 w 94"/>
                  <a:gd name="T3" fmla="*/ 0 h 27"/>
                  <a:gd name="T4" fmla="*/ 85 w 94"/>
                  <a:gd name="T5" fmla="*/ 4 h 27"/>
                  <a:gd name="T6" fmla="*/ 73 w 94"/>
                  <a:gd name="T7" fmla="*/ 8 h 27"/>
                  <a:gd name="T8" fmla="*/ 64 w 94"/>
                  <a:gd name="T9" fmla="*/ 9 h 27"/>
                  <a:gd name="T10" fmla="*/ 53 w 94"/>
                  <a:gd name="T11" fmla="*/ 9 h 27"/>
                  <a:gd name="T12" fmla="*/ 53 w 94"/>
                  <a:gd name="T13" fmla="*/ 9 h 27"/>
                  <a:gd name="T14" fmla="*/ 41 w 94"/>
                  <a:gd name="T15" fmla="*/ 8 h 27"/>
                  <a:gd name="T16" fmla="*/ 30 w 94"/>
                  <a:gd name="T17" fmla="*/ 8 h 27"/>
                  <a:gd name="T18" fmla="*/ 21 w 94"/>
                  <a:gd name="T19" fmla="*/ 11 h 27"/>
                  <a:gd name="T20" fmla="*/ 11 w 94"/>
                  <a:gd name="T21" fmla="*/ 16 h 27"/>
                  <a:gd name="T22" fmla="*/ 11 w 94"/>
                  <a:gd name="T23" fmla="*/ 16 h 27"/>
                  <a:gd name="T24" fmla="*/ 5 w 94"/>
                  <a:gd name="T25" fmla="*/ 20 h 27"/>
                  <a:gd name="T26" fmla="*/ 0 w 94"/>
                  <a:gd name="T27" fmla="*/ 27 h 27"/>
                  <a:gd name="T28" fmla="*/ 0 w 94"/>
                  <a:gd name="T29" fmla="*/ 27 h 27"/>
                  <a:gd name="T30" fmla="*/ 8 w 94"/>
                  <a:gd name="T31" fmla="*/ 22 h 27"/>
                  <a:gd name="T32" fmla="*/ 18 w 94"/>
                  <a:gd name="T33" fmla="*/ 20 h 27"/>
                  <a:gd name="T34" fmla="*/ 27 w 94"/>
                  <a:gd name="T35" fmla="*/ 19 h 27"/>
                  <a:gd name="T36" fmla="*/ 37 w 94"/>
                  <a:gd name="T37" fmla="*/ 19 h 27"/>
                  <a:gd name="T38" fmla="*/ 37 w 94"/>
                  <a:gd name="T39" fmla="*/ 19 h 27"/>
                  <a:gd name="T40" fmla="*/ 49 w 94"/>
                  <a:gd name="T41" fmla="*/ 20 h 27"/>
                  <a:gd name="T42" fmla="*/ 61 w 94"/>
                  <a:gd name="T43" fmla="*/ 19 h 27"/>
                  <a:gd name="T44" fmla="*/ 72 w 94"/>
                  <a:gd name="T45" fmla="*/ 16 h 27"/>
                  <a:gd name="T46" fmla="*/ 83 w 94"/>
                  <a:gd name="T47" fmla="*/ 11 h 27"/>
                  <a:gd name="T48" fmla="*/ 83 w 94"/>
                  <a:gd name="T49" fmla="*/ 11 h 27"/>
                  <a:gd name="T50" fmla="*/ 88 w 94"/>
                  <a:gd name="T51" fmla="*/ 4 h 27"/>
                  <a:gd name="T52" fmla="*/ 94 w 94"/>
                  <a:gd name="T53" fmla="*/ 0 h 27"/>
                  <a:gd name="T54" fmla="*/ 94 w 94"/>
                  <a:gd name="T55" fmla="*/ 0 h 2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94"/>
                  <a:gd name="T85" fmla="*/ 0 h 27"/>
                  <a:gd name="T86" fmla="*/ 94 w 94"/>
                  <a:gd name="T87" fmla="*/ 27 h 2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94" h="27">
                    <a:moveTo>
                      <a:pt x="94" y="0"/>
                    </a:moveTo>
                    <a:lnTo>
                      <a:pt x="94" y="0"/>
                    </a:lnTo>
                    <a:lnTo>
                      <a:pt x="85" y="4"/>
                    </a:lnTo>
                    <a:lnTo>
                      <a:pt x="73" y="8"/>
                    </a:lnTo>
                    <a:lnTo>
                      <a:pt x="64" y="9"/>
                    </a:lnTo>
                    <a:lnTo>
                      <a:pt x="53" y="9"/>
                    </a:lnTo>
                    <a:lnTo>
                      <a:pt x="41" y="8"/>
                    </a:lnTo>
                    <a:lnTo>
                      <a:pt x="30" y="8"/>
                    </a:lnTo>
                    <a:lnTo>
                      <a:pt x="21" y="11"/>
                    </a:lnTo>
                    <a:lnTo>
                      <a:pt x="11" y="16"/>
                    </a:lnTo>
                    <a:lnTo>
                      <a:pt x="5" y="20"/>
                    </a:lnTo>
                    <a:lnTo>
                      <a:pt x="0" y="27"/>
                    </a:lnTo>
                    <a:lnTo>
                      <a:pt x="8" y="22"/>
                    </a:lnTo>
                    <a:lnTo>
                      <a:pt x="18" y="20"/>
                    </a:lnTo>
                    <a:lnTo>
                      <a:pt x="27" y="19"/>
                    </a:lnTo>
                    <a:lnTo>
                      <a:pt x="37" y="19"/>
                    </a:lnTo>
                    <a:lnTo>
                      <a:pt x="49" y="20"/>
                    </a:lnTo>
                    <a:lnTo>
                      <a:pt x="61" y="19"/>
                    </a:lnTo>
                    <a:lnTo>
                      <a:pt x="72" y="16"/>
                    </a:lnTo>
                    <a:lnTo>
                      <a:pt x="83" y="11"/>
                    </a:lnTo>
                    <a:lnTo>
                      <a:pt x="88" y="4"/>
                    </a:lnTo>
                    <a:lnTo>
                      <a:pt x="94" y="0"/>
                    </a:lnTo>
                    <a:close/>
                  </a:path>
                </a:pathLst>
              </a:custGeom>
              <a:solidFill>
                <a:srgbClr val="00C014"/>
              </a:solidFill>
              <a:ln w="9525">
                <a:noFill/>
                <a:round/>
                <a:headEnd/>
                <a:tailEnd/>
              </a:ln>
            </p:spPr>
            <p:txBody>
              <a:bodyPr wrap="none" anchor="ctr"/>
              <a:lstStyle/>
              <a:p>
                <a:endParaRPr lang="en-US"/>
              </a:p>
            </p:txBody>
          </p:sp>
          <p:sp>
            <p:nvSpPr>
              <p:cNvPr id="19510" name="Freeform 19"/>
              <p:cNvSpPr>
                <a:spLocks noChangeArrowheads="1"/>
              </p:cNvSpPr>
              <p:nvPr/>
            </p:nvSpPr>
            <p:spPr bwMode="auto">
              <a:xfrm>
                <a:off x="1341" y="319"/>
                <a:ext cx="155" cy="46"/>
              </a:xfrm>
              <a:custGeom>
                <a:avLst/>
                <a:gdLst>
                  <a:gd name="T0" fmla="*/ 155 w 155"/>
                  <a:gd name="T1" fmla="*/ 0 h 46"/>
                  <a:gd name="T2" fmla="*/ 155 w 155"/>
                  <a:gd name="T3" fmla="*/ 0 h 46"/>
                  <a:gd name="T4" fmla="*/ 142 w 155"/>
                  <a:gd name="T5" fmla="*/ 8 h 46"/>
                  <a:gd name="T6" fmla="*/ 128 w 155"/>
                  <a:gd name="T7" fmla="*/ 12 h 46"/>
                  <a:gd name="T8" fmla="*/ 112 w 155"/>
                  <a:gd name="T9" fmla="*/ 16 h 46"/>
                  <a:gd name="T10" fmla="*/ 97 w 155"/>
                  <a:gd name="T11" fmla="*/ 16 h 46"/>
                  <a:gd name="T12" fmla="*/ 69 w 155"/>
                  <a:gd name="T13" fmla="*/ 16 h 46"/>
                  <a:gd name="T14" fmla="*/ 53 w 155"/>
                  <a:gd name="T15" fmla="*/ 17 h 46"/>
                  <a:gd name="T16" fmla="*/ 38 w 155"/>
                  <a:gd name="T17" fmla="*/ 20 h 46"/>
                  <a:gd name="T18" fmla="*/ 38 w 155"/>
                  <a:gd name="T19" fmla="*/ 20 h 46"/>
                  <a:gd name="T20" fmla="*/ 27 w 155"/>
                  <a:gd name="T21" fmla="*/ 24 h 46"/>
                  <a:gd name="T22" fmla="*/ 18 w 155"/>
                  <a:gd name="T23" fmla="*/ 30 h 46"/>
                  <a:gd name="T24" fmla="*/ 8 w 155"/>
                  <a:gd name="T25" fmla="*/ 38 h 46"/>
                  <a:gd name="T26" fmla="*/ 0 w 155"/>
                  <a:gd name="T27" fmla="*/ 46 h 46"/>
                  <a:gd name="T28" fmla="*/ 0 w 155"/>
                  <a:gd name="T29" fmla="*/ 46 h 46"/>
                  <a:gd name="T30" fmla="*/ 13 w 155"/>
                  <a:gd name="T31" fmla="*/ 36 h 46"/>
                  <a:gd name="T32" fmla="*/ 13 w 155"/>
                  <a:gd name="T33" fmla="*/ 36 h 46"/>
                  <a:gd name="T34" fmla="*/ 18 w 155"/>
                  <a:gd name="T35" fmla="*/ 32 h 46"/>
                  <a:gd name="T36" fmla="*/ 24 w 155"/>
                  <a:gd name="T37" fmla="*/ 30 h 46"/>
                  <a:gd name="T38" fmla="*/ 32 w 155"/>
                  <a:gd name="T39" fmla="*/ 28 h 46"/>
                  <a:gd name="T40" fmla="*/ 41 w 155"/>
                  <a:gd name="T41" fmla="*/ 27 h 46"/>
                  <a:gd name="T42" fmla="*/ 61 w 155"/>
                  <a:gd name="T43" fmla="*/ 27 h 46"/>
                  <a:gd name="T44" fmla="*/ 77 w 155"/>
                  <a:gd name="T45" fmla="*/ 28 h 46"/>
                  <a:gd name="T46" fmla="*/ 77 w 155"/>
                  <a:gd name="T47" fmla="*/ 28 h 46"/>
                  <a:gd name="T48" fmla="*/ 94 w 155"/>
                  <a:gd name="T49" fmla="*/ 28 h 46"/>
                  <a:gd name="T50" fmla="*/ 112 w 155"/>
                  <a:gd name="T51" fmla="*/ 25 h 46"/>
                  <a:gd name="T52" fmla="*/ 129 w 155"/>
                  <a:gd name="T53" fmla="*/ 19 h 46"/>
                  <a:gd name="T54" fmla="*/ 144 w 155"/>
                  <a:gd name="T55" fmla="*/ 11 h 46"/>
                  <a:gd name="T56" fmla="*/ 144 w 155"/>
                  <a:gd name="T57" fmla="*/ 11 h 46"/>
                  <a:gd name="T58" fmla="*/ 150 w 155"/>
                  <a:gd name="T59" fmla="*/ 4 h 46"/>
                  <a:gd name="T60" fmla="*/ 155 w 155"/>
                  <a:gd name="T61" fmla="*/ 0 h 46"/>
                  <a:gd name="T62" fmla="*/ 155 w 155"/>
                  <a:gd name="T63" fmla="*/ 0 h 4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55"/>
                  <a:gd name="T97" fmla="*/ 0 h 46"/>
                  <a:gd name="T98" fmla="*/ 155 w 155"/>
                  <a:gd name="T99" fmla="*/ 46 h 4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55" h="46">
                    <a:moveTo>
                      <a:pt x="155" y="0"/>
                    </a:moveTo>
                    <a:lnTo>
                      <a:pt x="155" y="0"/>
                    </a:lnTo>
                    <a:lnTo>
                      <a:pt x="142" y="8"/>
                    </a:lnTo>
                    <a:lnTo>
                      <a:pt x="128" y="12"/>
                    </a:lnTo>
                    <a:lnTo>
                      <a:pt x="112" y="16"/>
                    </a:lnTo>
                    <a:lnTo>
                      <a:pt x="97" y="16"/>
                    </a:lnTo>
                    <a:lnTo>
                      <a:pt x="69" y="16"/>
                    </a:lnTo>
                    <a:lnTo>
                      <a:pt x="53" y="17"/>
                    </a:lnTo>
                    <a:lnTo>
                      <a:pt x="38" y="20"/>
                    </a:lnTo>
                    <a:lnTo>
                      <a:pt x="27" y="24"/>
                    </a:lnTo>
                    <a:lnTo>
                      <a:pt x="18" y="30"/>
                    </a:lnTo>
                    <a:lnTo>
                      <a:pt x="8" y="38"/>
                    </a:lnTo>
                    <a:lnTo>
                      <a:pt x="0" y="46"/>
                    </a:lnTo>
                    <a:lnTo>
                      <a:pt x="13" y="36"/>
                    </a:lnTo>
                    <a:lnTo>
                      <a:pt x="18" y="32"/>
                    </a:lnTo>
                    <a:lnTo>
                      <a:pt x="24" y="30"/>
                    </a:lnTo>
                    <a:lnTo>
                      <a:pt x="32" y="28"/>
                    </a:lnTo>
                    <a:lnTo>
                      <a:pt x="41" y="27"/>
                    </a:lnTo>
                    <a:lnTo>
                      <a:pt x="61" y="27"/>
                    </a:lnTo>
                    <a:lnTo>
                      <a:pt x="77" y="28"/>
                    </a:lnTo>
                    <a:lnTo>
                      <a:pt x="94" y="28"/>
                    </a:lnTo>
                    <a:lnTo>
                      <a:pt x="112" y="25"/>
                    </a:lnTo>
                    <a:lnTo>
                      <a:pt x="129" y="19"/>
                    </a:lnTo>
                    <a:lnTo>
                      <a:pt x="144" y="11"/>
                    </a:lnTo>
                    <a:lnTo>
                      <a:pt x="150" y="4"/>
                    </a:lnTo>
                    <a:lnTo>
                      <a:pt x="155" y="0"/>
                    </a:lnTo>
                    <a:close/>
                  </a:path>
                </a:pathLst>
              </a:custGeom>
              <a:solidFill>
                <a:srgbClr val="00C014"/>
              </a:solidFill>
              <a:ln w="9525">
                <a:noFill/>
                <a:round/>
                <a:headEnd/>
                <a:tailEnd/>
              </a:ln>
            </p:spPr>
            <p:txBody>
              <a:bodyPr wrap="none" anchor="ctr"/>
              <a:lstStyle/>
              <a:p>
                <a:endParaRPr lang="en-US"/>
              </a:p>
            </p:txBody>
          </p:sp>
          <p:sp>
            <p:nvSpPr>
              <p:cNvPr id="19511" name="Freeform 20"/>
              <p:cNvSpPr>
                <a:spLocks noChangeArrowheads="1"/>
              </p:cNvSpPr>
              <p:nvPr/>
            </p:nvSpPr>
            <p:spPr bwMode="auto">
              <a:xfrm>
                <a:off x="1656" y="229"/>
                <a:ext cx="207" cy="66"/>
              </a:xfrm>
              <a:custGeom>
                <a:avLst/>
                <a:gdLst>
                  <a:gd name="T0" fmla="*/ 207 w 207"/>
                  <a:gd name="T1" fmla="*/ 0 h 66"/>
                  <a:gd name="T2" fmla="*/ 207 w 207"/>
                  <a:gd name="T3" fmla="*/ 0 h 66"/>
                  <a:gd name="T4" fmla="*/ 199 w 207"/>
                  <a:gd name="T5" fmla="*/ 7 h 66"/>
                  <a:gd name="T6" fmla="*/ 192 w 207"/>
                  <a:gd name="T7" fmla="*/ 11 h 66"/>
                  <a:gd name="T8" fmla="*/ 174 w 207"/>
                  <a:gd name="T9" fmla="*/ 18 h 66"/>
                  <a:gd name="T10" fmla="*/ 156 w 207"/>
                  <a:gd name="T11" fmla="*/ 21 h 66"/>
                  <a:gd name="T12" fmla="*/ 137 w 207"/>
                  <a:gd name="T13" fmla="*/ 23 h 66"/>
                  <a:gd name="T14" fmla="*/ 99 w 207"/>
                  <a:gd name="T15" fmla="*/ 24 h 66"/>
                  <a:gd name="T16" fmla="*/ 80 w 207"/>
                  <a:gd name="T17" fmla="*/ 24 h 66"/>
                  <a:gd name="T18" fmla="*/ 62 w 207"/>
                  <a:gd name="T19" fmla="*/ 27 h 66"/>
                  <a:gd name="T20" fmla="*/ 62 w 207"/>
                  <a:gd name="T21" fmla="*/ 27 h 66"/>
                  <a:gd name="T22" fmla="*/ 52 w 207"/>
                  <a:gd name="T23" fmla="*/ 29 h 66"/>
                  <a:gd name="T24" fmla="*/ 43 w 207"/>
                  <a:gd name="T25" fmla="*/ 32 h 66"/>
                  <a:gd name="T26" fmla="*/ 27 w 207"/>
                  <a:gd name="T27" fmla="*/ 40 h 66"/>
                  <a:gd name="T28" fmla="*/ 13 w 207"/>
                  <a:gd name="T29" fmla="*/ 51 h 66"/>
                  <a:gd name="T30" fmla="*/ 0 w 207"/>
                  <a:gd name="T31" fmla="*/ 66 h 66"/>
                  <a:gd name="T32" fmla="*/ 0 w 207"/>
                  <a:gd name="T33" fmla="*/ 66 h 66"/>
                  <a:gd name="T34" fmla="*/ 9 w 207"/>
                  <a:gd name="T35" fmla="*/ 56 h 66"/>
                  <a:gd name="T36" fmla="*/ 9 w 207"/>
                  <a:gd name="T37" fmla="*/ 56 h 66"/>
                  <a:gd name="T38" fmla="*/ 19 w 207"/>
                  <a:gd name="T39" fmla="*/ 48 h 66"/>
                  <a:gd name="T40" fmla="*/ 29 w 207"/>
                  <a:gd name="T41" fmla="*/ 42 h 66"/>
                  <a:gd name="T42" fmla="*/ 40 w 207"/>
                  <a:gd name="T43" fmla="*/ 37 h 66"/>
                  <a:gd name="T44" fmla="*/ 51 w 207"/>
                  <a:gd name="T45" fmla="*/ 35 h 66"/>
                  <a:gd name="T46" fmla="*/ 64 w 207"/>
                  <a:gd name="T47" fmla="*/ 34 h 66"/>
                  <a:gd name="T48" fmla="*/ 75 w 207"/>
                  <a:gd name="T49" fmla="*/ 32 h 66"/>
                  <a:gd name="T50" fmla="*/ 100 w 207"/>
                  <a:gd name="T51" fmla="*/ 32 h 66"/>
                  <a:gd name="T52" fmla="*/ 126 w 207"/>
                  <a:gd name="T53" fmla="*/ 32 h 66"/>
                  <a:gd name="T54" fmla="*/ 152 w 207"/>
                  <a:gd name="T55" fmla="*/ 31 h 66"/>
                  <a:gd name="T56" fmla="*/ 163 w 207"/>
                  <a:gd name="T57" fmla="*/ 27 h 66"/>
                  <a:gd name="T58" fmla="*/ 176 w 207"/>
                  <a:gd name="T59" fmla="*/ 24 h 66"/>
                  <a:gd name="T60" fmla="*/ 187 w 207"/>
                  <a:gd name="T61" fmla="*/ 18 h 66"/>
                  <a:gd name="T62" fmla="*/ 196 w 207"/>
                  <a:gd name="T63" fmla="*/ 11 h 66"/>
                  <a:gd name="T64" fmla="*/ 196 w 207"/>
                  <a:gd name="T65" fmla="*/ 11 h 66"/>
                  <a:gd name="T66" fmla="*/ 207 w 207"/>
                  <a:gd name="T67" fmla="*/ 0 h 66"/>
                  <a:gd name="T68" fmla="*/ 207 w 207"/>
                  <a:gd name="T69" fmla="*/ 0 h 6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07"/>
                  <a:gd name="T106" fmla="*/ 0 h 66"/>
                  <a:gd name="T107" fmla="*/ 207 w 207"/>
                  <a:gd name="T108" fmla="*/ 66 h 6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07" h="66">
                    <a:moveTo>
                      <a:pt x="207" y="0"/>
                    </a:moveTo>
                    <a:lnTo>
                      <a:pt x="207" y="0"/>
                    </a:lnTo>
                    <a:lnTo>
                      <a:pt x="199" y="7"/>
                    </a:lnTo>
                    <a:lnTo>
                      <a:pt x="192" y="11"/>
                    </a:lnTo>
                    <a:lnTo>
                      <a:pt x="174" y="18"/>
                    </a:lnTo>
                    <a:lnTo>
                      <a:pt x="156" y="21"/>
                    </a:lnTo>
                    <a:lnTo>
                      <a:pt x="137" y="23"/>
                    </a:lnTo>
                    <a:lnTo>
                      <a:pt x="99" y="24"/>
                    </a:lnTo>
                    <a:lnTo>
                      <a:pt x="80" y="24"/>
                    </a:lnTo>
                    <a:lnTo>
                      <a:pt x="62" y="27"/>
                    </a:lnTo>
                    <a:lnTo>
                      <a:pt x="52" y="29"/>
                    </a:lnTo>
                    <a:lnTo>
                      <a:pt x="43" y="32"/>
                    </a:lnTo>
                    <a:lnTo>
                      <a:pt x="27" y="40"/>
                    </a:lnTo>
                    <a:lnTo>
                      <a:pt x="13" y="51"/>
                    </a:lnTo>
                    <a:lnTo>
                      <a:pt x="0" y="66"/>
                    </a:lnTo>
                    <a:lnTo>
                      <a:pt x="9" y="56"/>
                    </a:lnTo>
                    <a:lnTo>
                      <a:pt x="19" y="48"/>
                    </a:lnTo>
                    <a:lnTo>
                      <a:pt x="29" y="42"/>
                    </a:lnTo>
                    <a:lnTo>
                      <a:pt x="40" y="37"/>
                    </a:lnTo>
                    <a:lnTo>
                      <a:pt x="51" y="35"/>
                    </a:lnTo>
                    <a:lnTo>
                      <a:pt x="64" y="34"/>
                    </a:lnTo>
                    <a:lnTo>
                      <a:pt x="75" y="32"/>
                    </a:lnTo>
                    <a:lnTo>
                      <a:pt x="100" y="32"/>
                    </a:lnTo>
                    <a:lnTo>
                      <a:pt x="126" y="32"/>
                    </a:lnTo>
                    <a:lnTo>
                      <a:pt x="152" y="31"/>
                    </a:lnTo>
                    <a:lnTo>
                      <a:pt x="163" y="27"/>
                    </a:lnTo>
                    <a:lnTo>
                      <a:pt x="176" y="24"/>
                    </a:lnTo>
                    <a:lnTo>
                      <a:pt x="187" y="18"/>
                    </a:lnTo>
                    <a:lnTo>
                      <a:pt x="196" y="11"/>
                    </a:lnTo>
                    <a:lnTo>
                      <a:pt x="207" y="0"/>
                    </a:lnTo>
                    <a:close/>
                  </a:path>
                </a:pathLst>
              </a:custGeom>
              <a:solidFill>
                <a:srgbClr val="00C014"/>
              </a:solidFill>
              <a:ln w="9525">
                <a:noFill/>
                <a:round/>
                <a:headEnd/>
                <a:tailEnd/>
              </a:ln>
            </p:spPr>
            <p:txBody>
              <a:bodyPr wrap="none" anchor="ctr"/>
              <a:lstStyle/>
              <a:p>
                <a:endParaRPr lang="en-US"/>
              </a:p>
            </p:txBody>
          </p:sp>
          <p:sp>
            <p:nvSpPr>
              <p:cNvPr id="19512" name="Freeform 21"/>
              <p:cNvSpPr>
                <a:spLocks noChangeArrowheads="1"/>
              </p:cNvSpPr>
              <p:nvPr/>
            </p:nvSpPr>
            <p:spPr bwMode="auto">
              <a:xfrm>
                <a:off x="1462" y="399"/>
                <a:ext cx="66" cy="78"/>
              </a:xfrm>
              <a:custGeom>
                <a:avLst/>
                <a:gdLst>
                  <a:gd name="T0" fmla="*/ 64 w 66"/>
                  <a:gd name="T1" fmla="*/ 12 h 78"/>
                  <a:gd name="T2" fmla="*/ 39 w 66"/>
                  <a:gd name="T3" fmla="*/ 12 h 78"/>
                  <a:gd name="T4" fmla="*/ 28 w 66"/>
                  <a:gd name="T5" fmla="*/ 78 h 78"/>
                  <a:gd name="T6" fmla="*/ 13 w 66"/>
                  <a:gd name="T7" fmla="*/ 78 h 78"/>
                  <a:gd name="T8" fmla="*/ 24 w 66"/>
                  <a:gd name="T9" fmla="*/ 12 h 78"/>
                  <a:gd name="T10" fmla="*/ 0 w 66"/>
                  <a:gd name="T11" fmla="*/ 12 h 78"/>
                  <a:gd name="T12" fmla="*/ 2 w 66"/>
                  <a:gd name="T13" fmla="*/ 0 h 78"/>
                  <a:gd name="T14" fmla="*/ 66 w 66"/>
                  <a:gd name="T15" fmla="*/ 0 h 78"/>
                  <a:gd name="T16" fmla="*/ 64 w 66"/>
                  <a:gd name="T17" fmla="*/ 12 h 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
                  <a:gd name="T28" fmla="*/ 0 h 78"/>
                  <a:gd name="T29" fmla="*/ 66 w 66"/>
                  <a:gd name="T30" fmla="*/ 78 h 7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 h="78">
                    <a:moveTo>
                      <a:pt x="64" y="12"/>
                    </a:moveTo>
                    <a:lnTo>
                      <a:pt x="39" y="12"/>
                    </a:lnTo>
                    <a:lnTo>
                      <a:pt x="28" y="78"/>
                    </a:lnTo>
                    <a:lnTo>
                      <a:pt x="13" y="78"/>
                    </a:lnTo>
                    <a:lnTo>
                      <a:pt x="24" y="12"/>
                    </a:lnTo>
                    <a:lnTo>
                      <a:pt x="0" y="12"/>
                    </a:lnTo>
                    <a:lnTo>
                      <a:pt x="2" y="0"/>
                    </a:lnTo>
                    <a:lnTo>
                      <a:pt x="66" y="0"/>
                    </a:lnTo>
                    <a:lnTo>
                      <a:pt x="64" y="12"/>
                    </a:lnTo>
                    <a:close/>
                  </a:path>
                </a:pathLst>
              </a:custGeom>
              <a:solidFill>
                <a:srgbClr val="FFE600"/>
              </a:solidFill>
              <a:ln w="9525">
                <a:noFill/>
                <a:round/>
                <a:headEnd/>
                <a:tailEnd/>
              </a:ln>
            </p:spPr>
            <p:txBody>
              <a:bodyPr wrap="none" anchor="ctr"/>
              <a:lstStyle/>
              <a:p>
                <a:endParaRPr lang="en-US"/>
              </a:p>
            </p:txBody>
          </p:sp>
          <p:sp>
            <p:nvSpPr>
              <p:cNvPr id="19513" name="Freeform 22"/>
              <p:cNvSpPr>
                <a:spLocks noChangeArrowheads="1"/>
              </p:cNvSpPr>
              <p:nvPr/>
            </p:nvSpPr>
            <p:spPr bwMode="auto">
              <a:xfrm>
                <a:off x="1694" y="397"/>
                <a:ext cx="64" cy="80"/>
              </a:xfrm>
              <a:custGeom>
                <a:avLst/>
                <a:gdLst>
                  <a:gd name="T0" fmla="*/ 19 w 64"/>
                  <a:gd name="T1" fmla="*/ 51 h 80"/>
                  <a:gd name="T2" fmla="*/ 14 w 64"/>
                  <a:gd name="T3" fmla="*/ 80 h 80"/>
                  <a:gd name="T4" fmla="*/ 0 w 64"/>
                  <a:gd name="T5" fmla="*/ 80 h 80"/>
                  <a:gd name="T6" fmla="*/ 14 w 64"/>
                  <a:gd name="T7" fmla="*/ 2 h 80"/>
                  <a:gd name="T8" fmla="*/ 14 w 64"/>
                  <a:gd name="T9" fmla="*/ 2 h 80"/>
                  <a:gd name="T10" fmla="*/ 32 w 64"/>
                  <a:gd name="T11" fmla="*/ 0 h 80"/>
                  <a:gd name="T12" fmla="*/ 32 w 64"/>
                  <a:gd name="T13" fmla="*/ 0 h 80"/>
                  <a:gd name="T14" fmla="*/ 46 w 64"/>
                  <a:gd name="T15" fmla="*/ 2 h 80"/>
                  <a:gd name="T16" fmla="*/ 51 w 64"/>
                  <a:gd name="T17" fmla="*/ 3 h 80"/>
                  <a:gd name="T18" fmla="*/ 56 w 64"/>
                  <a:gd name="T19" fmla="*/ 6 h 80"/>
                  <a:gd name="T20" fmla="*/ 59 w 64"/>
                  <a:gd name="T21" fmla="*/ 10 h 80"/>
                  <a:gd name="T22" fmla="*/ 61 w 64"/>
                  <a:gd name="T23" fmla="*/ 13 h 80"/>
                  <a:gd name="T24" fmla="*/ 62 w 64"/>
                  <a:gd name="T25" fmla="*/ 18 h 80"/>
                  <a:gd name="T26" fmla="*/ 64 w 64"/>
                  <a:gd name="T27" fmla="*/ 24 h 80"/>
                  <a:gd name="T28" fmla="*/ 64 w 64"/>
                  <a:gd name="T29" fmla="*/ 24 h 80"/>
                  <a:gd name="T30" fmla="*/ 62 w 64"/>
                  <a:gd name="T31" fmla="*/ 30 h 80"/>
                  <a:gd name="T32" fmla="*/ 61 w 64"/>
                  <a:gd name="T33" fmla="*/ 35 h 80"/>
                  <a:gd name="T34" fmla="*/ 58 w 64"/>
                  <a:gd name="T35" fmla="*/ 40 h 80"/>
                  <a:gd name="T36" fmla="*/ 54 w 64"/>
                  <a:gd name="T37" fmla="*/ 45 h 80"/>
                  <a:gd name="T38" fmla="*/ 54 w 64"/>
                  <a:gd name="T39" fmla="*/ 45 h 80"/>
                  <a:gd name="T40" fmla="*/ 48 w 64"/>
                  <a:gd name="T41" fmla="*/ 48 h 80"/>
                  <a:gd name="T42" fmla="*/ 43 w 64"/>
                  <a:gd name="T43" fmla="*/ 49 h 80"/>
                  <a:gd name="T44" fmla="*/ 37 w 64"/>
                  <a:gd name="T45" fmla="*/ 51 h 80"/>
                  <a:gd name="T46" fmla="*/ 29 w 64"/>
                  <a:gd name="T47" fmla="*/ 53 h 80"/>
                  <a:gd name="T48" fmla="*/ 29 w 64"/>
                  <a:gd name="T49" fmla="*/ 53 h 80"/>
                  <a:gd name="T50" fmla="*/ 19 w 64"/>
                  <a:gd name="T51" fmla="*/ 51 h 80"/>
                  <a:gd name="T52" fmla="*/ 19 w 64"/>
                  <a:gd name="T53" fmla="*/ 51 h 80"/>
                  <a:gd name="T54" fmla="*/ 27 w 64"/>
                  <a:gd name="T55" fmla="*/ 13 h 80"/>
                  <a:gd name="T56" fmla="*/ 22 w 64"/>
                  <a:gd name="T57" fmla="*/ 40 h 80"/>
                  <a:gd name="T58" fmla="*/ 22 w 64"/>
                  <a:gd name="T59" fmla="*/ 40 h 80"/>
                  <a:gd name="T60" fmla="*/ 29 w 64"/>
                  <a:gd name="T61" fmla="*/ 40 h 80"/>
                  <a:gd name="T62" fmla="*/ 29 w 64"/>
                  <a:gd name="T63" fmla="*/ 40 h 80"/>
                  <a:gd name="T64" fmla="*/ 37 w 64"/>
                  <a:gd name="T65" fmla="*/ 38 h 80"/>
                  <a:gd name="T66" fmla="*/ 43 w 64"/>
                  <a:gd name="T67" fmla="*/ 37 h 80"/>
                  <a:gd name="T68" fmla="*/ 43 w 64"/>
                  <a:gd name="T69" fmla="*/ 37 h 80"/>
                  <a:gd name="T70" fmla="*/ 48 w 64"/>
                  <a:gd name="T71" fmla="*/ 32 h 80"/>
                  <a:gd name="T72" fmla="*/ 50 w 64"/>
                  <a:gd name="T73" fmla="*/ 26 h 80"/>
                  <a:gd name="T74" fmla="*/ 50 w 64"/>
                  <a:gd name="T75" fmla="*/ 26 h 80"/>
                  <a:gd name="T76" fmla="*/ 48 w 64"/>
                  <a:gd name="T77" fmla="*/ 19 h 80"/>
                  <a:gd name="T78" fmla="*/ 45 w 64"/>
                  <a:gd name="T79" fmla="*/ 16 h 80"/>
                  <a:gd name="T80" fmla="*/ 42 w 64"/>
                  <a:gd name="T81" fmla="*/ 13 h 80"/>
                  <a:gd name="T82" fmla="*/ 35 w 64"/>
                  <a:gd name="T83" fmla="*/ 13 h 80"/>
                  <a:gd name="T84" fmla="*/ 35 w 64"/>
                  <a:gd name="T85" fmla="*/ 13 h 80"/>
                  <a:gd name="T86" fmla="*/ 27 w 64"/>
                  <a:gd name="T87" fmla="*/ 13 h 80"/>
                  <a:gd name="T88" fmla="*/ 27 w 64"/>
                  <a:gd name="T89" fmla="*/ 13 h 8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4"/>
                  <a:gd name="T136" fmla="*/ 0 h 80"/>
                  <a:gd name="T137" fmla="*/ 64 w 64"/>
                  <a:gd name="T138" fmla="*/ 80 h 8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4" h="80">
                    <a:moveTo>
                      <a:pt x="19" y="51"/>
                    </a:moveTo>
                    <a:lnTo>
                      <a:pt x="14" y="80"/>
                    </a:lnTo>
                    <a:lnTo>
                      <a:pt x="0" y="80"/>
                    </a:lnTo>
                    <a:lnTo>
                      <a:pt x="14" y="2"/>
                    </a:lnTo>
                    <a:lnTo>
                      <a:pt x="32" y="0"/>
                    </a:lnTo>
                    <a:lnTo>
                      <a:pt x="46" y="2"/>
                    </a:lnTo>
                    <a:lnTo>
                      <a:pt x="51" y="3"/>
                    </a:lnTo>
                    <a:lnTo>
                      <a:pt x="56" y="6"/>
                    </a:lnTo>
                    <a:lnTo>
                      <a:pt x="59" y="10"/>
                    </a:lnTo>
                    <a:lnTo>
                      <a:pt x="61" y="13"/>
                    </a:lnTo>
                    <a:lnTo>
                      <a:pt x="62" y="18"/>
                    </a:lnTo>
                    <a:lnTo>
                      <a:pt x="64" y="24"/>
                    </a:lnTo>
                    <a:lnTo>
                      <a:pt x="62" y="30"/>
                    </a:lnTo>
                    <a:lnTo>
                      <a:pt x="61" y="35"/>
                    </a:lnTo>
                    <a:lnTo>
                      <a:pt x="58" y="40"/>
                    </a:lnTo>
                    <a:lnTo>
                      <a:pt x="54" y="45"/>
                    </a:lnTo>
                    <a:lnTo>
                      <a:pt x="48" y="48"/>
                    </a:lnTo>
                    <a:lnTo>
                      <a:pt x="43" y="49"/>
                    </a:lnTo>
                    <a:lnTo>
                      <a:pt x="37" y="51"/>
                    </a:lnTo>
                    <a:lnTo>
                      <a:pt x="29" y="53"/>
                    </a:lnTo>
                    <a:lnTo>
                      <a:pt x="19" y="51"/>
                    </a:lnTo>
                    <a:close/>
                    <a:moveTo>
                      <a:pt x="27" y="13"/>
                    </a:moveTo>
                    <a:lnTo>
                      <a:pt x="22" y="40"/>
                    </a:lnTo>
                    <a:lnTo>
                      <a:pt x="29" y="40"/>
                    </a:lnTo>
                    <a:lnTo>
                      <a:pt x="37" y="38"/>
                    </a:lnTo>
                    <a:lnTo>
                      <a:pt x="43" y="37"/>
                    </a:lnTo>
                    <a:lnTo>
                      <a:pt x="48" y="32"/>
                    </a:lnTo>
                    <a:lnTo>
                      <a:pt x="50" y="26"/>
                    </a:lnTo>
                    <a:lnTo>
                      <a:pt x="48" y="19"/>
                    </a:lnTo>
                    <a:lnTo>
                      <a:pt x="45" y="16"/>
                    </a:lnTo>
                    <a:lnTo>
                      <a:pt x="42" y="13"/>
                    </a:lnTo>
                    <a:lnTo>
                      <a:pt x="35" y="13"/>
                    </a:lnTo>
                    <a:lnTo>
                      <a:pt x="27" y="13"/>
                    </a:lnTo>
                    <a:close/>
                  </a:path>
                </a:pathLst>
              </a:custGeom>
              <a:solidFill>
                <a:srgbClr val="FFE600"/>
              </a:solidFill>
              <a:ln w="9525">
                <a:noFill/>
                <a:round/>
                <a:headEnd/>
                <a:tailEnd/>
              </a:ln>
            </p:spPr>
            <p:txBody>
              <a:bodyPr wrap="none" anchor="ctr"/>
              <a:lstStyle/>
              <a:p>
                <a:endParaRPr lang="en-US"/>
              </a:p>
            </p:txBody>
          </p:sp>
          <p:sp>
            <p:nvSpPr>
              <p:cNvPr id="19514" name="Freeform 23"/>
              <p:cNvSpPr>
                <a:spLocks noChangeArrowheads="1"/>
              </p:cNvSpPr>
              <p:nvPr/>
            </p:nvSpPr>
            <p:spPr bwMode="auto">
              <a:xfrm>
                <a:off x="1462" y="399"/>
                <a:ext cx="66" cy="78"/>
              </a:xfrm>
              <a:custGeom>
                <a:avLst/>
                <a:gdLst>
                  <a:gd name="T0" fmla="*/ 64 w 66"/>
                  <a:gd name="T1" fmla="*/ 12 h 78"/>
                  <a:gd name="T2" fmla="*/ 39 w 66"/>
                  <a:gd name="T3" fmla="*/ 12 h 78"/>
                  <a:gd name="T4" fmla="*/ 28 w 66"/>
                  <a:gd name="T5" fmla="*/ 78 h 78"/>
                  <a:gd name="T6" fmla="*/ 13 w 66"/>
                  <a:gd name="T7" fmla="*/ 78 h 78"/>
                  <a:gd name="T8" fmla="*/ 24 w 66"/>
                  <a:gd name="T9" fmla="*/ 12 h 78"/>
                  <a:gd name="T10" fmla="*/ 0 w 66"/>
                  <a:gd name="T11" fmla="*/ 12 h 78"/>
                  <a:gd name="T12" fmla="*/ 2 w 66"/>
                  <a:gd name="T13" fmla="*/ 0 h 78"/>
                  <a:gd name="T14" fmla="*/ 66 w 66"/>
                  <a:gd name="T15" fmla="*/ 0 h 78"/>
                  <a:gd name="T16" fmla="*/ 64 w 66"/>
                  <a:gd name="T17" fmla="*/ 12 h 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
                  <a:gd name="T28" fmla="*/ 0 h 78"/>
                  <a:gd name="T29" fmla="*/ 66 w 66"/>
                  <a:gd name="T30" fmla="*/ 78 h 7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 h="78">
                    <a:moveTo>
                      <a:pt x="64" y="12"/>
                    </a:moveTo>
                    <a:lnTo>
                      <a:pt x="39" y="12"/>
                    </a:lnTo>
                    <a:lnTo>
                      <a:pt x="28" y="78"/>
                    </a:lnTo>
                    <a:lnTo>
                      <a:pt x="13" y="78"/>
                    </a:lnTo>
                    <a:lnTo>
                      <a:pt x="24" y="12"/>
                    </a:lnTo>
                    <a:lnTo>
                      <a:pt x="0" y="12"/>
                    </a:lnTo>
                    <a:lnTo>
                      <a:pt x="2" y="0"/>
                    </a:lnTo>
                    <a:lnTo>
                      <a:pt x="66" y="0"/>
                    </a:lnTo>
                    <a:lnTo>
                      <a:pt x="64" y="12"/>
                    </a:lnTo>
                    <a:close/>
                  </a:path>
                </a:pathLst>
              </a:custGeom>
              <a:solidFill>
                <a:srgbClr val="000000"/>
              </a:solidFill>
              <a:ln w="9525">
                <a:noFill/>
                <a:round/>
                <a:headEnd/>
                <a:tailEnd/>
              </a:ln>
            </p:spPr>
            <p:txBody>
              <a:bodyPr wrap="none" anchor="ctr"/>
              <a:lstStyle/>
              <a:p>
                <a:endParaRPr lang="en-US"/>
              </a:p>
            </p:txBody>
          </p:sp>
          <p:sp>
            <p:nvSpPr>
              <p:cNvPr id="19515" name="Freeform 24"/>
              <p:cNvSpPr>
                <a:spLocks noChangeArrowheads="1"/>
              </p:cNvSpPr>
              <p:nvPr/>
            </p:nvSpPr>
            <p:spPr bwMode="auto">
              <a:xfrm>
                <a:off x="1520" y="399"/>
                <a:ext cx="64" cy="78"/>
              </a:xfrm>
              <a:custGeom>
                <a:avLst/>
                <a:gdLst>
                  <a:gd name="T0" fmla="*/ 62 w 64"/>
                  <a:gd name="T1" fmla="*/ 12 h 78"/>
                  <a:gd name="T2" fmla="*/ 25 w 64"/>
                  <a:gd name="T3" fmla="*/ 12 h 78"/>
                  <a:gd name="T4" fmla="*/ 22 w 64"/>
                  <a:gd name="T5" fmla="*/ 30 h 78"/>
                  <a:gd name="T6" fmla="*/ 48 w 64"/>
                  <a:gd name="T7" fmla="*/ 30 h 78"/>
                  <a:gd name="T8" fmla="*/ 46 w 64"/>
                  <a:gd name="T9" fmla="*/ 41 h 78"/>
                  <a:gd name="T10" fmla="*/ 21 w 64"/>
                  <a:gd name="T11" fmla="*/ 41 h 78"/>
                  <a:gd name="T12" fmla="*/ 16 w 64"/>
                  <a:gd name="T13" fmla="*/ 65 h 78"/>
                  <a:gd name="T14" fmla="*/ 51 w 64"/>
                  <a:gd name="T15" fmla="*/ 65 h 78"/>
                  <a:gd name="T16" fmla="*/ 49 w 64"/>
                  <a:gd name="T17" fmla="*/ 78 h 78"/>
                  <a:gd name="T18" fmla="*/ 0 w 64"/>
                  <a:gd name="T19" fmla="*/ 78 h 78"/>
                  <a:gd name="T20" fmla="*/ 14 w 64"/>
                  <a:gd name="T21" fmla="*/ 0 h 78"/>
                  <a:gd name="T22" fmla="*/ 64 w 64"/>
                  <a:gd name="T23" fmla="*/ 0 h 78"/>
                  <a:gd name="T24" fmla="*/ 62 w 64"/>
                  <a:gd name="T25" fmla="*/ 12 h 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
                  <a:gd name="T40" fmla="*/ 0 h 78"/>
                  <a:gd name="T41" fmla="*/ 64 w 64"/>
                  <a:gd name="T42" fmla="*/ 78 h 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 h="78">
                    <a:moveTo>
                      <a:pt x="62" y="12"/>
                    </a:moveTo>
                    <a:lnTo>
                      <a:pt x="25" y="12"/>
                    </a:lnTo>
                    <a:lnTo>
                      <a:pt x="22" y="30"/>
                    </a:lnTo>
                    <a:lnTo>
                      <a:pt x="48" y="30"/>
                    </a:lnTo>
                    <a:lnTo>
                      <a:pt x="46" y="41"/>
                    </a:lnTo>
                    <a:lnTo>
                      <a:pt x="21" y="41"/>
                    </a:lnTo>
                    <a:lnTo>
                      <a:pt x="16" y="65"/>
                    </a:lnTo>
                    <a:lnTo>
                      <a:pt x="51" y="65"/>
                    </a:lnTo>
                    <a:lnTo>
                      <a:pt x="49" y="78"/>
                    </a:lnTo>
                    <a:lnTo>
                      <a:pt x="0" y="78"/>
                    </a:lnTo>
                    <a:lnTo>
                      <a:pt x="14" y="0"/>
                    </a:lnTo>
                    <a:lnTo>
                      <a:pt x="64" y="0"/>
                    </a:lnTo>
                    <a:lnTo>
                      <a:pt x="62" y="12"/>
                    </a:lnTo>
                    <a:close/>
                  </a:path>
                </a:pathLst>
              </a:custGeom>
              <a:solidFill>
                <a:srgbClr val="000000"/>
              </a:solidFill>
              <a:ln w="9525">
                <a:noFill/>
                <a:round/>
                <a:headEnd/>
                <a:tailEnd/>
              </a:ln>
            </p:spPr>
            <p:txBody>
              <a:bodyPr wrap="none" anchor="ctr"/>
              <a:lstStyle/>
              <a:p>
                <a:endParaRPr lang="en-US"/>
              </a:p>
            </p:txBody>
          </p:sp>
          <p:sp>
            <p:nvSpPr>
              <p:cNvPr id="19516" name="Freeform 25"/>
              <p:cNvSpPr>
                <a:spLocks noChangeArrowheads="1"/>
              </p:cNvSpPr>
              <p:nvPr/>
            </p:nvSpPr>
            <p:spPr bwMode="auto">
              <a:xfrm>
                <a:off x="1582" y="397"/>
                <a:ext cx="53" cy="81"/>
              </a:xfrm>
              <a:custGeom>
                <a:avLst/>
                <a:gdLst>
                  <a:gd name="T0" fmla="*/ 48 w 53"/>
                  <a:gd name="T1" fmla="*/ 18 h 81"/>
                  <a:gd name="T2" fmla="*/ 35 w 53"/>
                  <a:gd name="T3" fmla="*/ 13 h 81"/>
                  <a:gd name="T4" fmla="*/ 31 w 53"/>
                  <a:gd name="T5" fmla="*/ 13 h 81"/>
                  <a:gd name="T6" fmla="*/ 24 w 53"/>
                  <a:gd name="T7" fmla="*/ 18 h 81"/>
                  <a:gd name="T8" fmla="*/ 23 w 53"/>
                  <a:gd name="T9" fmla="*/ 22 h 81"/>
                  <a:gd name="T10" fmla="*/ 29 w 53"/>
                  <a:gd name="T11" fmla="*/ 32 h 81"/>
                  <a:gd name="T12" fmla="*/ 37 w 53"/>
                  <a:gd name="T13" fmla="*/ 38 h 81"/>
                  <a:gd name="T14" fmla="*/ 43 w 53"/>
                  <a:gd name="T15" fmla="*/ 43 h 81"/>
                  <a:gd name="T16" fmla="*/ 47 w 53"/>
                  <a:gd name="T17" fmla="*/ 48 h 81"/>
                  <a:gd name="T18" fmla="*/ 48 w 53"/>
                  <a:gd name="T19" fmla="*/ 53 h 81"/>
                  <a:gd name="T20" fmla="*/ 50 w 53"/>
                  <a:gd name="T21" fmla="*/ 57 h 81"/>
                  <a:gd name="T22" fmla="*/ 47 w 53"/>
                  <a:gd name="T23" fmla="*/ 67 h 81"/>
                  <a:gd name="T24" fmla="*/ 42 w 53"/>
                  <a:gd name="T25" fmla="*/ 75 h 81"/>
                  <a:gd name="T26" fmla="*/ 32 w 53"/>
                  <a:gd name="T27" fmla="*/ 80 h 81"/>
                  <a:gd name="T28" fmla="*/ 19 w 53"/>
                  <a:gd name="T29" fmla="*/ 81 h 81"/>
                  <a:gd name="T30" fmla="*/ 0 w 53"/>
                  <a:gd name="T31" fmla="*/ 77 h 81"/>
                  <a:gd name="T32" fmla="*/ 5 w 53"/>
                  <a:gd name="T33" fmla="*/ 62 h 81"/>
                  <a:gd name="T34" fmla="*/ 21 w 53"/>
                  <a:gd name="T35" fmla="*/ 69 h 81"/>
                  <a:gd name="T36" fmla="*/ 26 w 53"/>
                  <a:gd name="T37" fmla="*/ 67 h 81"/>
                  <a:gd name="T38" fmla="*/ 31 w 53"/>
                  <a:gd name="T39" fmla="*/ 65 h 81"/>
                  <a:gd name="T40" fmla="*/ 34 w 53"/>
                  <a:gd name="T41" fmla="*/ 59 h 81"/>
                  <a:gd name="T42" fmla="*/ 32 w 53"/>
                  <a:gd name="T43" fmla="*/ 54 h 81"/>
                  <a:gd name="T44" fmla="*/ 19 w 53"/>
                  <a:gd name="T45" fmla="*/ 43 h 81"/>
                  <a:gd name="T46" fmla="*/ 15 w 53"/>
                  <a:gd name="T47" fmla="*/ 38 h 81"/>
                  <a:gd name="T48" fmla="*/ 11 w 53"/>
                  <a:gd name="T49" fmla="*/ 33 h 81"/>
                  <a:gd name="T50" fmla="*/ 8 w 53"/>
                  <a:gd name="T51" fmla="*/ 29 h 81"/>
                  <a:gd name="T52" fmla="*/ 8 w 53"/>
                  <a:gd name="T53" fmla="*/ 24 h 81"/>
                  <a:gd name="T54" fmla="*/ 8 w 53"/>
                  <a:gd name="T55" fmla="*/ 19 h 81"/>
                  <a:gd name="T56" fmla="*/ 13 w 53"/>
                  <a:gd name="T57" fmla="*/ 10 h 81"/>
                  <a:gd name="T58" fmla="*/ 16 w 53"/>
                  <a:gd name="T59" fmla="*/ 6 h 81"/>
                  <a:gd name="T60" fmla="*/ 24 w 53"/>
                  <a:gd name="T61" fmla="*/ 2 h 81"/>
                  <a:gd name="T62" fmla="*/ 34 w 53"/>
                  <a:gd name="T63" fmla="*/ 0 h 81"/>
                  <a:gd name="T64" fmla="*/ 43 w 53"/>
                  <a:gd name="T65" fmla="*/ 2 h 81"/>
                  <a:gd name="T66" fmla="*/ 48 w 53"/>
                  <a:gd name="T67" fmla="*/ 18 h 8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
                  <a:gd name="T103" fmla="*/ 0 h 81"/>
                  <a:gd name="T104" fmla="*/ 53 w 53"/>
                  <a:gd name="T105" fmla="*/ 81 h 8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 h="81">
                    <a:moveTo>
                      <a:pt x="48" y="18"/>
                    </a:moveTo>
                    <a:lnTo>
                      <a:pt x="48" y="18"/>
                    </a:lnTo>
                    <a:lnTo>
                      <a:pt x="42" y="14"/>
                    </a:lnTo>
                    <a:lnTo>
                      <a:pt x="35" y="13"/>
                    </a:lnTo>
                    <a:lnTo>
                      <a:pt x="31" y="13"/>
                    </a:lnTo>
                    <a:lnTo>
                      <a:pt x="26" y="14"/>
                    </a:lnTo>
                    <a:lnTo>
                      <a:pt x="24" y="18"/>
                    </a:lnTo>
                    <a:lnTo>
                      <a:pt x="23" y="22"/>
                    </a:lnTo>
                    <a:lnTo>
                      <a:pt x="24" y="27"/>
                    </a:lnTo>
                    <a:lnTo>
                      <a:pt x="29" y="32"/>
                    </a:lnTo>
                    <a:lnTo>
                      <a:pt x="37" y="38"/>
                    </a:lnTo>
                    <a:lnTo>
                      <a:pt x="43" y="43"/>
                    </a:lnTo>
                    <a:lnTo>
                      <a:pt x="47" y="48"/>
                    </a:lnTo>
                    <a:lnTo>
                      <a:pt x="48" y="53"/>
                    </a:lnTo>
                    <a:lnTo>
                      <a:pt x="50" y="57"/>
                    </a:lnTo>
                    <a:lnTo>
                      <a:pt x="48" y="64"/>
                    </a:lnTo>
                    <a:lnTo>
                      <a:pt x="47" y="67"/>
                    </a:lnTo>
                    <a:lnTo>
                      <a:pt x="45" y="72"/>
                    </a:lnTo>
                    <a:lnTo>
                      <a:pt x="42" y="75"/>
                    </a:lnTo>
                    <a:lnTo>
                      <a:pt x="32" y="80"/>
                    </a:lnTo>
                    <a:lnTo>
                      <a:pt x="19" y="81"/>
                    </a:lnTo>
                    <a:lnTo>
                      <a:pt x="10" y="80"/>
                    </a:lnTo>
                    <a:lnTo>
                      <a:pt x="0" y="77"/>
                    </a:lnTo>
                    <a:lnTo>
                      <a:pt x="5" y="62"/>
                    </a:lnTo>
                    <a:lnTo>
                      <a:pt x="13" y="67"/>
                    </a:lnTo>
                    <a:lnTo>
                      <a:pt x="21" y="69"/>
                    </a:lnTo>
                    <a:lnTo>
                      <a:pt x="26" y="67"/>
                    </a:lnTo>
                    <a:lnTo>
                      <a:pt x="31" y="65"/>
                    </a:lnTo>
                    <a:lnTo>
                      <a:pt x="34" y="62"/>
                    </a:lnTo>
                    <a:lnTo>
                      <a:pt x="34" y="59"/>
                    </a:lnTo>
                    <a:lnTo>
                      <a:pt x="32" y="54"/>
                    </a:lnTo>
                    <a:lnTo>
                      <a:pt x="27" y="49"/>
                    </a:lnTo>
                    <a:lnTo>
                      <a:pt x="19" y="43"/>
                    </a:lnTo>
                    <a:lnTo>
                      <a:pt x="15" y="38"/>
                    </a:lnTo>
                    <a:lnTo>
                      <a:pt x="11" y="33"/>
                    </a:lnTo>
                    <a:lnTo>
                      <a:pt x="8" y="29"/>
                    </a:lnTo>
                    <a:lnTo>
                      <a:pt x="8" y="24"/>
                    </a:lnTo>
                    <a:lnTo>
                      <a:pt x="8" y="19"/>
                    </a:lnTo>
                    <a:lnTo>
                      <a:pt x="10" y="14"/>
                    </a:lnTo>
                    <a:lnTo>
                      <a:pt x="13" y="10"/>
                    </a:lnTo>
                    <a:lnTo>
                      <a:pt x="16" y="6"/>
                    </a:lnTo>
                    <a:lnTo>
                      <a:pt x="19" y="3"/>
                    </a:lnTo>
                    <a:lnTo>
                      <a:pt x="24" y="2"/>
                    </a:lnTo>
                    <a:lnTo>
                      <a:pt x="34" y="0"/>
                    </a:lnTo>
                    <a:lnTo>
                      <a:pt x="43" y="2"/>
                    </a:lnTo>
                    <a:lnTo>
                      <a:pt x="53" y="3"/>
                    </a:lnTo>
                    <a:lnTo>
                      <a:pt x="48" y="18"/>
                    </a:lnTo>
                    <a:close/>
                  </a:path>
                </a:pathLst>
              </a:custGeom>
              <a:solidFill>
                <a:srgbClr val="000000"/>
              </a:solidFill>
              <a:ln w="9525">
                <a:noFill/>
                <a:round/>
                <a:headEnd/>
                <a:tailEnd/>
              </a:ln>
            </p:spPr>
            <p:txBody>
              <a:bodyPr wrap="none" anchor="ctr"/>
              <a:lstStyle/>
              <a:p>
                <a:endParaRPr lang="en-US"/>
              </a:p>
            </p:txBody>
          </p:sp>
          <p:sp>
            <p:nvSpPr>
              <p:cNvPr id="19517" name="Freeform 26"/>
              <p:cNvSpPr>
                <a:spLocks noChangeArrowheads="1"/>
              </p:cNvSpPr>
              <p:nvPr/>
            </p:nvSpPr>
            <p:spPr bwMode="auto">
              <a:xfrm>
                <a:off x="1637" y="399"/>
                <a:ext cx="65" cy="78"/>
              </a:xfrm>
              <a:custGeom>
                <a:avLst/>
                <a:gdLst>
                  <a:gd name="T0" fmla="*/ 63 w 65"/>
                  <a:gd name="T1" fmla="*/ 12 h 78"/>
                  <a:gd name="T2" fmla="*/ 27 w 65"/>
                  <a:gd name="T3" fmla="*/ 12 h 78"/>
                  <a:gd name="T4" fmla="*/ 24 w 65"/>
                  <a:gd name="T5" fmla="*/ 30 h 78"/>
                  <a:gd name="T6" fmla="*/ 49 w 65"/>
                  <a:gd name="T7" fmla="*/ 30 h 78"/>
                  <a:gd name="T8" fmla="*/ 48 w 65"/>
                  <a:gd name="T9" fmla="*/ 41 h 78"/>
                  <a:gd name="T10" fmla="*/ 22 w 65"/>
                  <a:gd name="T11" fmla="*/ 41 h 78"/>
                  <a:gd name="T12" fmla="*/ 17 w 65"/>
                  <a:gd name="T13" fmla="*/ 65 h 78"/>
                  <a:gd name="T14" fmla="*/ 52 w 65"/>
                  <a:gd name="T15" fmla="*/ 65 h 78"/>
                  <a:gd name="T16" fmla="*/ 51 w 65"/>
                  <a:gd name="T17" fmla="*/ 78 h 78"/>
                  <a:gd name="T18" fmla="*/ 0 w 65"/>
                  <a:gd name="T19" fmla="*/ 78 h 78"/>
                  <a:gd name="T20" fmla="*/ 14 w 65"/>
                  <a:gd name="T21" fmla="*/ 0 h 78"/>
                  <a:gd name="T22" fmla="*/ 65 w 65"/>
                  <a:gd name="T23" fmla="*/ 0 h 78"/>
                  <a:gd name="T24" fmla="*/ 63 w 65"/>
                  <a:gd name="T25" fmla="*/ 12 h 7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5"/>
                  <a:gd name="T40" fmla="*/ 0 h 78"/>
                  <a:gd name="T41" fmla="*/ 65 w 65"/>
                  <a:gd name="T42" fmla="*/ 78 h 7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5" h="78">
                    <a:moveTo>
                      <a:pt x="63" y="12"/>
                    </a:moveTo>
                    <a:lnTo>
                      <a:pt x="27" y="12"/>
                    </a:lnTo>
                    <a:lnTo>
                      <a:pt x="24" y="30"/>
                    </a:lnTo>
                    <a:lnTo>
                      <a:pt x="49" y="30"/>
                    </a:lnTo>
                    <a:lnTo>
                      <a:pt x="48" y="41"/>
                    </a:lnTo>
                    <a:lnTo>
                      <a:pt x="22" y="41"/>
                    </a:lnTo>
                    <a:lnTo>
                      <a:pt x="17" y="65"/>
                    </a:lnTo>
                    <a:lnTo>
                      <a:pt x="52" y="65"/>
                    </a:lnTo>
                    <a:lnTo>
                      <a:pt x="51" y="78"/>
                    </a:lnTo>
                    <a:lnTo>
                      <a:pt x="0" y="78"/>
                    </a:lnTo>
                    <a:lnTo>
                      <a:pt x="14" y="0"/>
                    </a:lnTo>
                    <a:lnTo>
                      <a:pt x="65" y="0"/>
                    </a:lnTo>
                    <a:lnTo>
                      <a:pt x="63" y="12"/>
                    </a:lnTo>
                    <a:close/>
                  </a:path>
                </a:pathLst>
              </a:custGeom>
              <a:solidFill>
                <a:srgbClr val="000000"/>
              </a:solidFill>
              <a:ln w="9525">
                <a:noFill/>
                <a:round/>
                <a:headEnd/>
                <a:tailEnd/>
              </a:ln>
            </p:spPr>
            <p:txBody>
              <a:bodyPr wrap="none" anchor="ctr"/>
              <a:lstStyle/>
              <a:p>
                <a:endParaRPr lang="en-US"/>
              </a:p>
            </p:txBody>
          </p:sp>
          <p:sp>
            <p:nvSpPr>
              <p:cNvPr id="19518" name="Freeform 27"/>
              <p:cNvSpPr>
                <a:spLocks noChangeArrowheads="1"/>
              </p:cNvSpPr>
              <p:nvPr/>
            </p:nvSpPr>
            <p:spPr bwMode="auto">
              <a:xfrm>
                <a:off x="1694" y="397"/>
                <a:ext cx="64" cy="80"/>
              </a:xfrm>
              <a:custGeom>
                <a:avLst/>
                <a:gdLst>
                  <a:gd name="T0" fmla="*/ 19 w 64"/>
                  <a:gd name="T1" fmla="*/ 51 h 80"/>
                  <a:gd name="T2" fmla="*/ 14 w 64"/>
                  <a:gd name="T3" fmla="*/ 80 h 80"/>
                  <a:gd name="T4" fmla="*/ 0 w 64"/>
                  <a:gd name="T5" fmla="*/ 80 h 80"/>
                  <a:gd name="T6" fmla="*/ 14 w 64"/>
                  <a:gd name="T7" fmla="*/ 2 h 80"/>
                  <a:gd name="T8" fmla="*/ 14 w 64"/>
                  <a:gd name="T9" fmla="*/ 2 h 80"/>
                  <a:gd name="T10" fmla="*/ 32 w 64"/>
                  <a:gd name="T11" fmla="*/ 0 h 80"/>
                  <a:gd name="T12" fmla="*/ 32 w 64"/>
                  <a:gd name="T13" fmla="*/ 0 h 80"/>
                  <a:gd name="T14" fmla="*/ 46 w 64"/>
                  <a:gd name="T15" fmla="*/ 2 h 80"/>
                  <a:gd name="T16" fmla="*/ 51 w 64"/>
                  <a:gd name="T17" fmla="*/ 3 h 80"/>
                  <a:gd name="T18" fmla="*/ 56 w 64"/>
                  <a:gd name="T19" fmla="*/ 6 h 80"/>
                  <a:gd name="T20" fmla="*/ 59 w 64"/>
                  <a:gd name="T21" fmla="*/ 10 h 80"/>
                  <a:gd name="T22" fmla="*/ 61 w 64"/>
                  <a:gd name="T23" fmla="*/ 13 h 80"/>
                  <a:gd name="T24" fmla="*/ 62 w 64"/>
                  <a:gd name="T25" fmla="*/ 18 h 80"/>
                  <a:gd name="T26" fmla="*/ 64 w 64"/>
                  <a:gd name="T27" fmla="*/ 24 h 80"/>
                  <a:gd name="T28" fmla="*/ 64 w 64"/>
                  <a:gd name="T29" fmla="*/ 24 h 80"/>
                  <a:gd name="T30" fmla="*/ 62 w 64"/>
                  <a:gd name="T31" fmla="*/ 30 h 80"/>
                  <a:gd name="T32" fmla="*/ 61 w 64"/>
                  <a:gd name="T33" fmla="*/ 35 h 80"/>
                  <a:gd name="T34" fmla="*/ 58 w 64"/>
                  <a:gd name="T35" fmla="*/ 40 h 80"/>
                  <a:gd name="T36" fmla="*/ 54 w 64"/>
                  <a:gd name="T37" fmla="*/ 45 h 80"/>
                  <a:gd name="T38" fmla="*/ 54 w 64"/>
                  <a:gd name="T39" fmla="*/ 45 h 80"/>
                  <a:gd name="T40" fmla="*/ 48 w 64"/>
                  <a:gd name="T41" fmla="*/ 48 h 80"/>
                  <a:gd name="T42" fmla="*/ 43 w 64"/>
                  <a:gd name="T43" fmla="*/ 49 h 80"/>
                  <a:gd name="T44" fmla="*/ 37 w 64"/>
                  <a:gd name="T45" fmla="*/ 51 h 80"/>
                  <a:gd name="T46" fmla="*/ 29 w 64"/>
                  <a:gd name="T47" fmla="*/ 53 h 80"/>
                  <a:gd name="T48" fmla="*/ 29 w 64"/>
                  <a:gd name="T49" fmla="*/ 53 h 80"/>
                  <a:gd name="T50" fmla="*/ 19 w 64"/>
                  <a:gd name="T51" fmla="*/ 51 h 80"/>
                  <a:gd name="T52" fmla="*/ 19 w 64"/>
                  <a:gd name="T53" fmla="*/ 51 h 80"/>
                  <a:gd name="T54" fmla="*/ 27 w 64"/>
                  <a:gd name="T55" fmla="*/ 13 h 80"/>
                  <a:gd name="T56" fmla="*/ 22 w 64"/>
                  <a:gd name="T57" fmla="*/ 40 h 80"/>
                  <a:gd name="T58" fmla="*/ 22 w 64"/>
                  <a:gd name="T59" fmla="*/ 40 h 80"/>
                  <a:gd name="T60" fmla="*/ 29 w 64"/>
                  <a:gd name="T61" fmla="*/ 40 h 80"/>
                  <a:gd name="T62" fmla="*/ 29 w 64"/>
                  <a:gd name="T63" fmla="*/ 40 h 80"/>
                  <a:gd name="T64" fmla="*/ 37 w 64"/>
                  <a:gd name="T65" fmla="*/ 38 h 80"/>
                  <a:gd name="T66" fmla="*/ 43 w 64"/>
                  <a:gd name="T67" fmla="*/ 37 h 80"/>
                  <a:gd name="T68" fmla="*/ 43 w 64"/>
                  <a:gd name="T69" fmla="*/ 37 h 80"/>
                  <a:gd name="T70" fmla="*/ 48 w 64"/>
                  <a:gd name="T71" fmla="*/ 32 h 80"/>
                  <a:gd name="T72" fmla="*/ 50 w 64"/>
                  <a:gd name="T73" fmla="*/ 26 h 80"/>
                  <a:gd name="T74" fmla="*/ 50 w 64"/>
                  <a:gd name="T75" fmla="*/ 26 h 80"/>
                  <a:gd name="T76" fmla="*/ 48 w 64"/>
                  <a:gd name="T77" fmla="*/ 19 h 80"/>
                  <a:gd name="T78" fmla="*/ 45 w 64"/>
                  <a:gd name="T79" fmla="*/ 16 h 80"/>
                  <a:gd name="T80" fmla="*/ 42 w 64"/>
                  <a:gd name="T81" fmla="*/ 13 h 80"/>
                  <a:gd name="T82" fmla="*/ 35 w 64"/>
                  <a:gd name="T83" fmla="*/ 13 h 80"/>
                  <a:gd name="T84" fmla="*/ 35 w 64"/>
                  <a:gd name="T85" fmla="*/ 13 h 80"/>
                  <a:gd name="T86" fmla="*/ 27 w 64"/>
                  <a:gd name="T87" fmla="*/ 13 h 80"/>
                  <a:gd name="T88" fmla="*/ 27 w 64"/>
                  <a:gd name="T89" fmla="*/ 13 h 8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4"/>
                  <a:gd name="T136" fmla="*/ 0 h 80"/>
                  <a:gd name="T137" fmla="*/ 64 w 64"/>
                  <a:gd name="T138" fmla="*/ 80 h 8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4" h="80">
                    <a:moveTo>
                      <a:pt x="19" y="51"/>
                    </a:moveTo>
                    <a:lnTo>
                      <a:pt x="14" y="80"/>
                    </a:lnTo>
                    <a:lnTo>
                      <a:pt x="0" y="80"/>
                    </a:lnTo>
                    <a:lnTo>
                      <a:pt x="14" y="2"/>
                    </a:lnTo>
                    <a:lnTo>
                      <a:pt x="32" y="0"/>
                    </a:lnTo>
                    <a:lnTo>
                      <a:pt x="46" y="2"/>
                    </a:lnTo>
                    <a:lnTo>
                      <a:pt x="51" y="3"/>
                    </a:lnTo>
                    <a:lnTo>
                      <a:pt x="56" y="6"/>
                    </a:lnTo>
                    <a:lnTo>
                      <a:pt x="59" y="10"/>
                    </a:lnTo>
                    <a:lnTo>
                      <a:pt x="61" y="13"/>
                    </a:lnTo>
                    <a:lnTo>
                      <a:pt x="62" y="18"/>
                    </a:lnTo>
                    <a:lnTo>
                      <a:pt x="64" y="24"/>
                    </a:lnTo>
                    <a:lnTo>
                      <a:pt x="62" y="30"/>
                    </a:lnTo>
                    <a:lnTo>
                      <a:pt x="61" y="35"/>
                    </a:lnTo>
                    <a:lnTo>
                      <a:pt x="58" y="40"/>
                    </a:lnTo>
                    <a:lnTo>
                      <a:pt x="54" y="45"/>
                    </a:lnTo>
                    <a:lnTo>
                      <a:pt x="48" y="48"/>
                    </a:lnTo>
                    <a:lnTo>
                      <a:pt x="43" y="49"/>
                    </a:lnTo>
                    <a:lnTo>
                      <a:pt x="37" y="51"/>
                    </a:lnTo>
                    <a:lnTo>
                      <a:pt x="29" y="53"/>
                    </a:lnTo>
                    <a:lnTo>
                      <a:pt x="19" y="51"/>
                    </a:lnTo>
                    <a:close/>
                    <a:moveTo>
                      <a:pt x="27" y="13"/>
                    </a:moveTo>
                    <a:lnTo>
                      <a:pt x="22" y="40"/>
                    </a:lnTo>
                    <a:lnTo>
                      <a:pt x="29" y="40"/>
                    </a:lnTo>
                    <a:lnTo>
                      <a:pt x="37" y="38"/>
                    </a:lnTo>
                    <a:lnTo>
                      <a:pt x="43" y="37"/>
                    </a:lnTo>
                    <a:lnTo>
                      <a:pt x="48" y="32"/>
                    </a:lnTo>
                    <a:lnTo>
                      <a:pt x="50" y="26"/>
                    </a:lnTo>
                    <a:lnTo>
                      <a:pt x="48" y="19"/>
                    </a:lnTo>
                    <a:lnTo>
                      <a:pt x="45" y="16"/>
                    </a:lnTo>
                    <a:lnTo>
                      <a:pt x="42" y="13"/>
                    </a:lnTo>
                    <a:lnTo>
                      <a:pt x="35" y="13"/>
                    </a:lnTo>
                    <a:lnTo>
                      <a:pt x="27" y="13"/>
                    </a:lnTo>
                    <a:close/>
                  </a:path>
                </a:pathLst>
              </a:custGeom>
              <a:solidFill>
                <a:srgbClr val="000000"/>
              </a:solidFill>
              <a:ln w="9525">
                <a:noFill/>
                <a:round/>
                <a:headEnd/>
                <a:tailEnd/>
              </a:ln>
            </p:spPr>
            <p:txBody>
              <a:bodyPr wrap="none" anchor="ctr"/>
              <a:lstStyle/>
              <a:p>
                <a:endParaRPr lang="en-US"/>
              </a:p>
            </p:txBody>
          </p:sp>
        </p:grpSp>
        <p:grpSp>
          <p:nvGrpSpPr>
            <p:cNvPr id="19463" name="Group 28"/>
            <p:cNvGrpSpPr>
              <a:grpSpLocks/>
            </p:cNvGrpSpPr>
            <p:nvPr/>
          </p:nvGrpSpPr>
          <p:grpSpPr bwMode="auto">
            <a:xfrm>
              <a:off x="1992" y="314"/>
              <a:ext cx="619" cy="280"/>
              <a:chOff x="1992" y="314"/>
              <a:chExt cx="619" cy="280"/>
            </a:xfrm>
          </p:grpSpPr>
          <p:sp>
            <p:nvSpPr>
              <p:cNvPr id="19465" name="Freeform 29"/>
              <p:cNvSpPr>
                <a:spLocks noChangeArrowheads="1"/>
              </p:cNvSpPr>
              <p:nvPr/>
            </p:nvSpPr>
            <p:spPr bwMode="auto">
              <a:xfrm>
                <a:off x="2032" y="314"/>
                <a:ext cx="498" cy="244"/>
              </a:xfrm>
              <a:custGeom>
                <a:avLst/>
                <a:gdLst>
                  <a:gd name="T0" fmla="*/ 96 w 498"/>
                  <a:gd name="T1" fmla="*/ 192 h 244"/>
                  <a:gd name="T2" fmla="*/ 76 w 498"/>
                  <a:gd name="T3" fmla="*/ 190 h 244"/>
                  <a:gd name="T4" fmla="*/ 57 w 498"/>
                  <a:gd name="T5" fmla="*/ 171 h 244"/>
                  <a:gd name="T6" fmla="*/ 54 w 498"/>
                  <a:gd name="T7" fmla="*/ 147 h 244"/>
                  <a:gd name="T8" fmla="*/ 72 w 498"/>
                  <a:gd name="T9" fmla="*/ 123 h 244"/>
                  <a:gd name="T10" fmla="*/ 92 w 498"/>
                  <a:gd name="T11" fmla="*/ 116 h 244"/>
                  <a:gd name="T12" fmla="*/ 118 w 498"/>
                  <a:gd name="T13" fmla="*/ 129 h 244"/>
                  <a:gd name="T14" fmla="*/ 128 w 498"/>
                  <a:gd name="T15" fmla="*/ 158 h 244"/>
                  <a:gd name="T16" fmla="*/ 191 w 498"/>
                  <a:gd name="T17" fmla="*/ 244 h 244"/>
                  <a:gd name="T18" fmla="*/ 223 w 498"/>
                  <a:gd name="T19" fmla="*/ 235 h 244"/>
                  <a:gd name="T20" fmla="*/ 255 w 498"/>
                  <a:gd name="T21" fmla="*/ 209 h 244"/>
                  <a:gd name="T22" fmla="*/ 275 w 498"/>
                  <a:gd name="T23" fmla="*/ 169 h 244"/>
                  <a:gd name="T24" fmla="*/ 279 w 498"/>
                  <a:gd name="T25" fmla="*/ 139 h 244"/>
                  <a:gd name="T26" fmla="*/ 302 w 498"/>
                  <a:gd name="T27" fmla="*/ 115 h 244"/>
                  <a:gd name="T28" fmla="*/ 314 w 498"/>
                  <a:gd name="T29" fmla="*/ 158 h 244"/>
                  <a:gd name="T30" fmla="*/ 335 w 498"/>
                  <a:gd name="T31" fmla="*/ 214 h 244"/>
                  <a:gd name="T32" fmla="*/ 372 w 498"/>
                  <a:gd name="T33" fmla="*/ 240 h 244"/>
                  <a:gd name="T34" fmla="*/ 402 w 498"/>
                  <a:gd name="T35" fmla="*/ 244 h 244"/>
                  <a:gd name="T36" fmla="*/ 420 w 498"/>
                  <a:gd name="T37" fmla="*/ 187 h 244"/>
                  <a:gd name="T38" fmla="*/ 399 w 498"/>
                  <a:gd name="T39" fmla="*/ 187 h 244"/>
                  <a:gd name="T40" fmla="*/ 378 w 498"/>
                  <a:gd name="T41" fmla="*/ 172 h 244"/>
                  <a:gd name="T42" fmla="*/ 372 w 498"/>
                  <a:gd name="T43" fmla="*/ 153 h 244"/>
                  <a:gd name="T44" fmla="*/ 382 w 498"/>
                  <a:gd name="T45" fmla="*/ 128 h 244"/>
                  <a:gd name="T46" fmla="*/ 410 w 498"/>
                  <a:gd name="T47" fmla="*/ 115 h 244"/>
                  <a:gd name="T48" fmla="*/ 433 w 498"/>
                  <a:gd name="T49" fmla="*/ 123 h 244"/>
                  <a:gd name="T50" fmla="*/ 444 w 498"/>
                  <a:gd name="T51" fmla="*/ 147 h 244"/>
                  <a:gd name="T52" fmla="*/ 498 w 498"/>
                  <a:gd name="T53" fmla="*/ 244 h 244"/>
                  <a:gd name="T54" fmla="*/ 493 w 498"/>
                  <a:gd name="T55" fmla="*/ 118 h 244"/>
                  <a:gd name="T56" fmla="*/ 466 w 498"/>
                  <a:gd name="T57" fmla="*/ 77 h 244"/>
                  <a:gd name="T58" fmla="*/ 431 w 498"/>
                  <a:gd name="T59" fmla="*/ 57 h 244"/>
                  <a:gd name="T60" fmla="*/ 366 w 498"/>
                  <a:gd name="T61" fmla="*/ 0 h 244"/>
                  <a:gd name="T62" fmla="*/ 300 w 498"/>
                  <a:gd name="T63" fmla="*/ 57 h 244"/>
                  <a:gd name="T64" fmla="*/ 254 w 498"/>
                  <a:gd name="T65" fmla="*/ 78 h 244"/>
                  <a:gd name="T66" fmla="*/ 227 w 498"/>
                  <a:gd name="T67" fmla="*/ 118 h 244"/>
                  <a:gd name="T68" fmla="*/ 220 w 498"/>
                  <a:gd name="T69" fmla="*/ 160 h 244"/>
                  <a:gd name="T70" fmla="*/ 207 w 498"/>
                  <a:gd name="T71" fmla="*/ 182 h 244"/>
                  <a:gd name="T72" fmla="*/ 182 w 498"/>
                  <a:gd name="T73" fmla="*/ 192 h 244"/>
                  <a:gd name="T74" fmla="*/ 180 w 498"/>
                  <a:gd name="T75" fmla="*/ 137 h 244"/>
                  <a:gd name="T76" fmla="*/ 158 w 498"/>
                  <a:gd name="T77" fmla="*/ 91 h 244"/>
                  <a:gd name="T78" fmla="*/ 126 w 498"/>
                  <a:gd name="T79" fmla="*/ 69 h 244"/>
                  <a:gd name="T80" fmla="*/ 89 w 498"/>
                  <a:gd name="T81" fmla="*/ 62 h 244"/>
                  <a:gd name="T82" fmla="*/ 43 w 498"/>
                  <a:gd name="T83" fmla="*/ 73 h 244"/>
                  <a:gd name="T84" fmla="*/ 16 w 498"/>
                  <a:gd name="T85" fmla="*/ 101 h 244"/>
                  <a:gd name="T86" fmla="*/ 0 w 498"/>
                  <a:gd name="T87" fmla="*/ 152 h 244"/>
                  <a:gd name="T88" fmla="*/ 11 w 498"/>
                  <a:gd name="T89" fmla="*/ 196 h 244"/>
                  <a:gd name="T90" fmla="*/ 35 w 498"/>
                  <a:gd name="T91" fmla="*/ 225 h 244"/>
                  <a:gd name="T92" fmla="*/ 72 w 498"/>
                  <a:gd name="T93" fmla="*/ 241 h 244"/>
                  <a:gd name="T94" fmla="*/ 105 w 498"/>
                  <a:gd name="T95" fmla="*/ 188 h 24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98"/>
                  <a:gd name="T145" fmla="*/ 0 h 244"/>
                  <a:gd name="T146" fmla="*/ 498 w 498"/>
                  <a:gd name="T147" fmla="*/ 244 h 24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98" h="244">
                    <a:moveTo>
                      <a:pt x="105" y="188"/>
                    </a:moveTo>
                    <a:lnTo>
                      <a:pt x="105" y="188"/>
                    </a:lnTo>
                    <a:lnTo>
                      <a:pt x="102" y="190"/>
                    </a:lnTo>
                    <a:lnTo>
                      <a:pt x="96" y="192"/>
                    </a:lnTo>
                    <a:lnTo>
                      <a:pt x="88" y="192"/>
                    </a:lnTo>
                    <a:lnTo>
                      <a:pt x="83" y="192"/>
                    </a:lnTo>
                    <a:lnTo>
                      <a:pt x="76" y="190"/>
                    </a:lnTo>
                    <a:lnTo>
                      <a:pt x="72" y="187"/>
                    </a:lnTo>
                    <a:lnTo>
                      <a:pt x="65" y="182"/>
                    </a:lnTo>
                    <a:lnTo>
                      <a:pt x="60" y="177"/>
                    </a:lnTo>
                    <a:lnTo>
                      <a:pt x="57" y="171"/>
                    </a:lnTo>
                    <a:lnTo>
                      <a:pt x="54" y="163"/>
                    </a:lnTo>
                    <a:lnTo>
                      <a:pt x="52" y="155"/>
                    </a:lnTo>
                    <a:lnTo>
                      <a:pt x="54" y="147"/>
                    </a:lnTo>
                    <a:lnTo>
                      <a:pt x="57" y="139"/>
                    </a:lnTo>
                    <a:lnTo>
                      <a:pt x="60" y="132"/>
                    </a:lnTo>
                    <a:lnTo>
                      <a:pt x="65" y="128"/>
                    </a:lnTo>
                    <a:lnTo>
                      <a:pt x="72" y="123"/>
                    </a:lnTo>
                    <a:lnTo>
                      <a:pt x="80" y="120"/>
                    </a:lnTo>
                    <a:lnTo>
                      <a:pt x="86" y="118"/>
                    </a:lnTo>
                    <a:lnTo>
                      <a:pt x="92" y="116"/>
                    </a:lnTo>
                    <a:lnTo>
                      <a:pt x="100" y="118"/>
                    </a:lnTo>
                    <a:lnTo>
                      <a:pt x="107" y="120"/>
                    </a:lnTo>
                    <a:lnTo>
                      <a:pt x="112" y="124"/>
                    </a:lnTo>
                    <a:lnTo>
                      <a:pt x="118" y="129"/>
                    </a:lnTo>
                    <a:lnTo>
                      <a:pt x="123" y="134"/>
                    </a:lnTo>
                    <a:lnTo>
                      <a:pt x="126" y="142"/>
                    </a:lnTo>
                    <a:lnTo>
                      <a:pt x="128" y="150"/>
                    </a:lnTo>
                    <a:lnTo>
                      <a:pt x="128" y="158"/>
                    </a:lnTo>
                    <a:lnTo>
                      <a:pt x="128" y="244"/>
                    </a:lnTo>
                    <a:lnTo>
                      <a:pt x="191" y="244"/>
                    </a:lnTo>
                    <a:lnTo>
                      <a:pt x="206" y="241"/>
                    </a:lnTo>
                    <a:lnTo>
                      <a:pt x="215" y="240"/>
                    </a:lnTo>
                    <a:lnTo>
                      <a:pt x="223" y="235"/>
                    </a:lnTo>
                    <a:lnTo>
                      <a:pt x="233" y="230"/>
                    </a:lnTo>
                    <a:lnTo>
                      <a:pt x="241" y="225"/>
                    </a:lnTo>
                    <a:lnTo>
                      <a:pt x="249" y="217"/>
                    </a:lnTo>
                    <a:lnTo>
                      <a:pt x="255" y="209"/>
                    </a:lnTo>
                    <a:lnTo>
                      <a:pt x="265" y="195"/>
                    </a:lnTo>
                    <a:lnTo>
                      <a:pt x="271" y="180"/>
                    </a:lnTo>
                    <a:lnTo>
                      <a:pt x="275" y="169"/>
                    </a:lnTo>
                    <a:lnTo>
                      <a:pt x="276" y="158"/>
                    </a:lnTo>
                    <a:lnTo>
                      <a:pt x="278" y="145"/>
                    </a:lnTo>
                    <a:lnTo>
                      <a:pt x="279" y="139"/>
                    </a:lnTo>
                    <a:lnTo>
                      <a:pt x="283" y="131"/>
                    </a:lnTo>
                    <a:lnTo>
                      <a:pt x="287" y="124"/>
                    </a:lnTo>
                    <a:lnTo>
                      <a:pt x="294" y="120"/>
                    </a:lnTo>
                    <a:lnTo>
                      <a:pt x="302" y="115"/>
                    </a:lnTo>
                    <a:lnTo>
                      <a:pt x="314" y="112"/>
                    </a:lnTo>
                    <a:lnTo>
                      <a:pt x="314" y="158"/>
                    </a:lnTo>
                    <a:lnTo>
                      <a:pt x="316" y="171"/>
                    </a:lnTo>
                    <a:lnTo>
                      <a:pt x="319" y="185"/>
                    </a:lnTo>
                    <a:lnTo>
                      <a:pt x="326" y="200"/>
                    </a:lnTo>
                    <a:lnTo>
                      <a:pt x="335" y="214"/>
                    </a:lnTo>
                    <a:lnTo>
                      <a:pt x="348" y="227"/>
                    </a:lnTo>
                    <a:lnTo>
                      <a:pt x="356" y="232"/>
                    </a:lnTo>
                    <a:lnTo>
                      <a:pt x="364" y="236"/>
                    </a:lnTo>
                    <a:lnTo>
                      <a:pt x="372" y="240"/>
                    </a:lnTo>
                    <a:lnTo>
                      <a:pt x="382" y="243"/>
                    </a:lnTo>
                    <a:lnTo>
                      <a:pt x="391" y="244"/>
                    </a:lnTo>
                    <a:lnTo>
                      <a:pt x="402" y="244"/>
                    </a:lnTo>
                    <a:lnTo>
                      <a:pt x="423" y="244"/>
                    </a:lnTo>
                    <a:lnTo>
                      <a:pt x="423" y="185"/>
                    </a:lnTo>
                    <a:lnTo>
                      <a:pt x="420" y="187"/>
                    </a:lnTo>
                    <a:lnTo>
                      <a:pt x="414" y="188"/>
                    </a:lnTo>
                    <a:lnTo>
                      <a:pt x="404" y="188"/>
                    </a:lnTo>
                    <a:lnTo>
                      <a:pt x="399" y="187"/>
                    </a:lnTo>
                    <a:lnTo>
                      <a:pt x="393" y="185"/>
                    </a:lnTo>
                    <a:lnTo>
                      <a:pt x="388" y="182"/>
                    </a:lnTo>
                    <a:lnTo>
                      <a:pt x="382" y="177"/>
                    </a:lnTo>
                    <a:lnTo>
                      <a:pt x="378" y="172"/>
                    </a:lnTo>
                    <a:lnTo>
                      <a:pt x="375" y="166"/>
                    </a:lnTo>
                    <a:lnTo>
                      <a:pt x="372" y="160"/>
                    </a:lnTo>
                    <a:lnTo>
                      <a:pt x="372" y="153"/>
                    </a:lnTo>
                    <a:lnTo>
                      <a:pt x="372" y="147"/>
                    </a:lnTo>
                    <a:lnTo>
                      <a:pt x="374" y="140"/>
                    </a:lnTo>
                    <a:lnTo>
                      <a:pt x="377" y="132"/>
                    </a:lnTo>
                    <a:lnTo>
                      <a:pt x="382" y="128"/>
                    </a:lnTo>
                    <a:lnTo>
                      <a:pt x="386" y="123"/>
                    </a:lnTo>
                    <a:lnTo>
                      <a:pt x="393" y="118"/>
                    </a:lnTo>
                    <a:lnTo>
                      <a:pt x="401" y="116"/>
                    </a:lnTo>
                    <a:lnTo>
                      <a:pt x="410" y="115"/>
                    </a:lnTo>
                    <a:lnTo>
                      <a:pt x="420" y="116"/>
                    </a:lnTo>
                    <a:lnTo>
                      <a:pt x="426" y="120"/>
                    </a:lnTo>
                    <a:lnTo>
                      <a:pt x="433" y="123"/>
                    </a:lnTo>
                    <a:lnTo>
                      <a:pt x="438" y="128"/>
                    </a:lnTo>
                    <a:lnTo>
                      <a:pt x="441" y="134"/>
                    </a:lnTo>
                    <a:lnTo>
                      <a:pt x="442" y="139"/>
                    </a:lnTo>
                    <a:lnTo>
                      <a:pt x="444" y="147"/>
                    </a:lnTo>
                    <a:lnTo>
                      <a:pt x="444" y="244"/>
                    </a:lnTo>
                    <a:lnTo>
                      <a:pt x="498" y="244"/>
                    </a:lnTo>
                    <a:lnTo>
                      <a:pt x="498" y="139"/>
                    </a:lnTo>
                    <a:lnTo>
                      <a:pt x="497" y="131"/>
                    </a:lnTo>
                    <a:lnTo>
                      <a:pt x="493" y="118"/>
                    </a:lnTo>
                    <a:lnTo>
                      <a:pt x="489" y="105"/>
                    </a:lnTo>
                    <a:lnTo>
                      <a:pt x="479" y="91"/>
                    </a:lnTo>
                    <a:lnTo>
                      <a:pt x="473" y="85"/>
                    </a:lnTo>
                    <a:lnTo>
                      <a:pt x="466" y="77"/>
                    </a:lnTo>
                    <a:lnTo>
                      <a:pt x="460" y="72"/>
                    </a:lnTo>
                    <a:lnTo>
                      <a:pt x="450" y="65"/>
                    </a:lnTo>
                    <a:lnTo>
                      <a:pt x="441" y="62"/>
                    </a:lnTo>
                    <a:lnTo>
                      <a:pt x="431" y="57"/>
                    </a:lnTo>
                    <a:lnTo>
                      <a:pt x="418" y="56"/>
                    </a:lnTo>
                    <a:lnTo>
                      <a:pt x="406" y="56"/>
                    </a:lnTo>
                    <a:lnTo>
                      <a:pt x="366" y="56"/>
                    </a:lnTo>
                    <a:lnTo>
                      <a:pt x="366" y="0"/>
                    </a:lnTo>
                    <a:lnTo>
                      <a:pt x="313" y="0"/>
                    </a:lnTo>
                    <a:lnTo>
                      <a:pt x="313" y="56"/>
                    </a:lnTo>
                    <a:lnTo>
                      <a:pt x="300" y="57"/>
                    </a:lnTo>
                    <a:lnTo>
                      <a:pt x="289" y="61"/>
                    </a:lnTo>
                    <a:lnTo>
                      <a:pt x="278" y="65"/>
                    </a:lnTo>
                    <a:lnTo>
                      <a:pt x="265" y="72"/>
                    </a:lnTo>
                    <a:lnTo>
                      <a:pt x="254" y="78"/>
                    </a:lnTo>
                    <a:lnTo>
                      <a:pt x="244" y="88"/>
                    </a:lnTo>
                    <a:lnTo>
                      <a:pt x="236" y="97"/>
                    </a:lnTo>
                    <a:lnTo>
                      <a:pt x="227" y="118"/>
                    </a:lnTo>
                    <a:lnTo>
                      <a:pt x="222" y="134"/>
                    </a:lnTo>
                    <a:lnTo>
                      <a:pt x="220" y="147"/>
                    </a:lnTo>
                    <a:lnTo>
                      <a:pt x="220" y="160"/>
                    </a:lnTo>
                    <a:lnTo>
                      <a:pt x="219" y="166"/>
                    </a:lnTo>
                    <a:lnTo>
                      <a:pt x="217" y="171"/>
                    </a:lnTo>
                    <a:lnTo>
                      <a:pt x="212" y="177"/>
                    </a:lnTo>
                    <a:lnTo>
                      <a:pt x="207" y="182"/>
                    </a:lnTo>
                    <a:lnTo>
                      <a:pt x="203" y="185"/>
                    </a:lnTo>
                    <a:lnTo>
                      <a:pt x="196" y="188"/>
                    </a:lnTo>
                    <a:lnTo>
                      <a:pt x="188" y="192"/>
                    </a:lnTo>
                    <a:lnTo>
                      <a:pt x="182" y="192"/>
                    </a:lnTo>
                    <a:lnTo>
                      <a:pt x="182" y="147"/>
                    </a:lnTo>
                    <a:lnTo>
                      <a:pt x="180" y="137"/>
                    </a:lnTo>
                    <a:lnTo>
                      <a:pt x="177" y="126"/>
                    </a:lnTo>
                    <a:lnTo>
                      <a:pt x="172" y="112"/>
                    </a:lnTo>
                    <a:lnTo>
                      <a:pt x="164" y="97"/>
                    </a:lnTo>
                    <a:lnTo>
                      <a:pt x="158" y="91"/>
                    </a:lnTo>
                    <a:lnTo>
                      <a:pt x="151" y="85"/>
                    </a:lnTo>
                    <a:lnTo>
                      <a:pt x="144" y="78"/>
                    </a:lnTo>
                    <a:lnTo>
                      <a:pt x="136" y="72"/>
                    </a:lnTo>
                    <a:lnTo>
                      <a:pt x="126" y="69"/>
                    </a:lnTo>
                    <a:lnTo>
                      <a:pt x="115" y="64"/>
                    </a:lnTo>
                    <a:lnTo>
                      <a:pt x="104" y="62"/>
                    </a:lnTo>
                    <a:lnTo>
                      <a:pt x="89" y="62"/>
                    </a:lnTo>
                    <a:lnTo>
                      <a:pt x="76" y="62"/>
                    </a:lnTo>
                    <a:lnTo>
                      <a:pt x="64" y="65"/>
                    </a:lnTo>
                    <a:lnTo>
                      <a:pt x="52" y="69"/>
                    </a:lnTo>
                    <a:lnTo>
                      <a:pt x="43" y="73"/>
                    </a:lnTo>
                    <a:lnTo>
                      <a:pt x="35" y="78"/>
                    </a:lnTo>
                    <a:lnTo>
                      <a:pt x="28" y="86"/>
                    </a:lnTo>
                    <a:lnTo>
                      <a:pt x="22" y="93"/>
                    </a:lnTo>
                    <a:lnTo>
                      <a:pt x="16" y="101"/>
                    </a:lnTo>
                    <a:lnTo>
                      <a:pt x="8" y="115"/>
                    </a:lnTo>
                    <a:lnTo>
                      <a:pt x="3" y="131"/>
                    </a:lnTo>
                    <a:lnTo>
                      <a:pt x="1" y="142"/>
                    </a:lnTo>
                    <a:lnTo>
                      <a:pt x="0" y="152"/>
                    </a:lnTo>
                    <a:lnTo>
                      <a:pt x="1" y="171"/>
                    </a:lnTo>
                    <a:lnTo>
                      <a:pt x="8" y="188"/>
                    </a:lnTo>
                    <a:lnTo>
                      <a:pt x="11" y="196"/>
                    </a:lnTo>
                    <a:lnTo>
                      <a:pt x="16" y="204"/>
                    </a:lnTo>
                    <a:lnTo>
                      <a:pt x="22" y="212"/>
                    </a:lnTo>
                    <a:lnTo>
                      <a:pt x="28" y="219"/>
                    </a:lnTo>
                    <a:lnTo>
                      <a:pt x="35" y="225"/>
                    </a:lnTo>
                    <a:lnTo>
                      <a:pt x="43" y="230"/>
                    </a:lnTo>
                    <a:lnTo>
                      <a:pt x="52" y="235"/>
                    </a:lnTo>
                    <a:lnTo>
                      <a:pt x="60" y="238"/>
                    </a:lnTo>
                    <a:lnTo>
                      <a:pt x="72" y="241"/>
                    </a:lnTo>
                    <a:lnTo>
                      <a:pt x="81" y="243"/>
                    </a:lnTo>
                    <a:lnTo>
                      <a:pt x="92" y="244"/>
                    </a:lnTo>
                    <a:lnTo>
                      <a:pt x="105" y="243"/>
                    </a:lnTo>
                    <a:lnTo>
                      <a:pt x="105" y="188"/>
                    </a:lnTo>
                    <a:close/>
                  </a:path>
                </a:pathLst>
              </a:custGeom>
              <a:solidFill>
                <a:srgbClr val="89CEC4"/>
              </a:solidFill>
              <a:ln w="9525">
                <a:noFill/>
                <a:round/>
                <a:headEnd/>
                <a:tailEnd/>
              </a:ln>
            </p:spPr>
            <p:txBody>
              <a:bodyPr wrap="none" anchor="ctr"/>
              <a:lstStyle/>
              <a:p>
                <a:endParaRPr lang="en-US"/>
              </a:p>
            </p:txBody>
          </p:sp>
          <p:sp>
            <p:nvSpPr>
              <p:cNvPr id="19466" name="Freeform 30"/>
              <p:cNvSpPr>
                <a:spLocks noChangeArrowheads="1"/>
              </p:cNvSpPr>
              <p:nvPr/>
            </p:nvSpPr>
            <p:spPr bwMode="auto">
              <a:xfrm>
                <a:off x="1992" y="573"/>
                <a:ext cx="22" cy="22"/>
              </a:xfrm>
              <a:custGeom>
                <a:avLst/>
                <a:gdLst>
                  <a:gd name="T0" fmla="*/ 6 w 22"/>
                  <a:gd name="T1" fmla="*/ 17 h 22"/>
                  <a:gd name="T2" fmla="*/ 5 w 22"/>
                  <a:gd name="T3" fmla="*/ 22 h 22"/>
                  <a:gd name="T4" fmla="*/ 0 w 22"/>
                  <a:gd name="T5" fmla="*/ 22 h 22"/>
                  <a:gd name="T6" fmla="*/ 8 w 22"/>
                  <a:gd name="T7" fmla="*/ 0 h 22"/>
                  <a:gd name="T8" fmla="*/ 14 w 22"/>
                  <a:gd name="T9" fmla="*/ 0 h 22"/>
                  <a:gd name="T10" fmla="*/ 22 w 22"/>
                  <a:gd name="T11" fmla="*/ 22 h 22"/>
                  <a:gd name="T12" fmla="*/ 17 w 22"/>
                  <a:gd name="T13" fmla="*/ 22 h 22"/>
                  <a:gd name="T14" fmla="*/ 16 w 22"/>
                  <a:gd name="T15" fmla="*/ 17 h 22"/>
                  <a:gd name="T16" fmla="*/ 6 w 22"/>
                  <a:gd name="T17" fmla="*/ 17 h 22"/>
                  <a:gd name="T18" fmla="*/ 11 w 22"/>
                  <a:gd name="T19" fmla="*/ 3 h 22"/>
                  <a:gd name="T20" fmla="*/ 11 w 22"/>
                  <a:gd name="T21" fmla="*/ 3 h 22"/>
                  <a:gd name="T22" fmla="*/ 6 w 22"/>
                  <a:gd name="T23" fmla="*/ 14 h 22"/>
                  <a:gd name="T24" fmla="*/ 14 w 22"/>
                  <a:gd name="T25" fmla="*/ 14 h 22"/>
                  <a:gd name="T26" fmla="*/ 11 w 22"/>
                  <a:gd name="T27" fmla="*/ 3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
                  <a:gd name="T43" fmla="*/ 0 h 22"/>
                  <a:gd name="T44" fmla="*/ 22 w 22"/>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 h="22">
                    <a:moveTo>
                      <a:pt x="6" y="17"/>
                    </a:moveTo>
                    <a:lnTo>
                      <a:pt x="5" y="22"/>
                    </a:lnTo>
                    <a:lnTo>
                      <a:pt x="0" y="22"/>
                    </a:lnTo>
                    <a:lnTo>
                      <a:pt x="8" y="0"/>
                    </a:lnTo>
                    <a:lnTo>
                      <a:pt x="14" y="0"/>
                    </a:lnTo>
                    <a:lnTo>
                      <a:pt x="22" y="22"/>
                    </a:lnTo>
                    <a:lnTo>
                      <a:pt x="17" y="22"/>
                    </a:lnTo>
                    <a:lnTo>
                      <a:pt x="16" y="17"/>
                    </a:lnTo>
                    <a:lnTo>
                      <a:pt x="6" y="17"/>
                    </a:lnTo>
                    <a:close/>
                    <a:moveTo>
                      <a:pt x="11" y="3"/>
                    </a:moveTo>
                    <a:lnTo>
                      <a:pt x="11" y="3"/>
                    </a:lnTo>
                    <a:lnTo>
                      <a:pt x="6" y="14"/>
                    </a:lnTo>
                    <a:lnTo>
                      <a:pt x="14" y="14"/>
                    </a:lnTo>
                    <a:lnTo>
                      <a:pt x="11" y="3"/>
                    </a:lnTo>
                    <a:close/>
                  </a:path>
                </a:pathLst>
              </a:custGeom>
              <a:solidFill>
                <a:srgbClr val="89CEC4"/>
              </a:solidFill>
              <a:ln w="9525">
                <a:noFill/>
                <a:round/>
                <a:headEnd/>
                <a:tailEnd/>
              </a:ln>
            </p:spPr>
            <p:txBody>
              <a:bodyPr wrap="none" anchor="ctr"/>
              <a:lstStyle/>
              <a:p>
                <a:endParaRPr lang="en-US"/>
              </a:p>
            </p:txBody>
          </p:sp>
          <p:sp>
            <p:nvSpPr>
              <p:cNvPr id="19467" name="Freeform 31"/>
              <p:cNvSpPr>
                <a:spLocks noChangeArrowheads="1"/>
              </p:cNvSpPr>
              <p:nvPr/>
            </p:nvSpPr>
            <p:spPr bwMode="auto">
              <a:xfrm>
                <a:off x="2016" y="579"/>
                <a:ext cx="14" cy="16"/>
              </a:xfrm>
              <a:custGeom>
                <a:avLst/>
                <a:gdLst>
                  <a:gd name="T0" fmla="*/ 11 w 14"/>
                  <a:gd name="T1" fmla="*/ 16 h 16"/>
                  <a:gd name="T2" fmla="*/ 11 w 14"/>
                  <a:gd name="T3" fmla="*/ 14 h 16"/>
                  <a:gd name="T4" fmla="*/ 11 w 14"/>
                  <a:gd name="T5" fmla="*/ 14 h 16"/>
                  <a:gd name="T6" fmla="*/ 11 w 14"/>
                  <a:gd name="T7" fmla="*/ 14 h 16"/>
                  <a:gd name="T8" fmla="*/ 8 w 14"/>
                  <a:gd name="T9" fmla="*/ 16 h 16"/>
                  <a:gd name="T10" fmla="*/ 4 w 14"/>
                  <a:gd name="T11" fmla="*/ 16 h 16"/>
                  <a:gd name="T12" fmla="*/ 4 w 14"/>
                  <a:gd name="T13" fmla="*/ 16 h 16"/>
                  <a:gd name="T14" fmla="*/ 1 w 14"/>
                  <a:gd name="T15" fmla="*/ 16 h 16"/>
                  <a:gd name="T16" fmla="*/ 0 w 14"/>
                  <a:gd name="T17" fmla="*/ 14 h 16"/>
                  <a:gd name="T18" fmla="*/ 0 w 14"/>
                  <a:gd name="T19" fmla="*/ 11 h 16"/>
                  <a:gd name="T20" fmla="*/ 0 w 14"/>
                  <a:gd name="T21" fmla="*/ 0 h 16"/>
                  <a:gd name="T22" fmla="*/ 3 w 14"/>
                  <a:gd name="T23" fmla="*/ 0 h 16"/>
                  <a:gd name="T24" fmla="*/ 3 w 14"/>
                  <a:gd name="T25" fmla="*/ 10 h 16"/>
                  <a:gd name="T26" fmla="*/ 3 w 14"/>
                  <a:gd name="T27" fmla="*/ 10 h 16"/>
                  <a:gd name="T28" fmla="*/ 4 w 14"/>
                  <a:gd name="T29" fmla="*/ 13 h 16"/>
                  <a:gd name="T30" fmla="*/ 6 w 14"/>
                  <a:gd name="T31" fmla="*/ 14 h 16"/>
                  <a:gd name="T32" fmla="*/ 6 w 14"/>
                  <a:gd name="T33" fmla="*/ 14 h 16"/>
                  <a:gd name="T34" fmla="*/ 9 w 14"/>
                  <a:gd name="T35" fmla="*/ 13 h 16"/>
                  <a:gd name="T36" fmla="*/ 11 w 14"/>
                  <a:gd name="T37" fmla="*/ 10 h 16"/>
                  <a:gd name="T38" fmla="*/ 11 w 14"/>
                  <a:gd name="T39" fmla="*/ 0 h 16"/>
                  <a:gd name="T40" fmla="*/ 14 w 14"/>
                  <a:gd name="T41" fmla="*/ 0 h 16"/>
                  <a:gd name="T42" fmla="*/ 14 w 14"/>
                  <a:gd name="T43" fmla="*/ 16 h 16"/>
                  <a:gd name="T44" fmla="*/ 11 w 14"/>
                  <a:gd name="T45" fmla="*/ 16 h 1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4"/>
                  <a:gd name="T70" fmla="*/ 0 h 16"/>
                  <a:gd name="T71" fmla="*/ 14 w 14"/>
                  <a:gd name="T72" fmla="*/ 16 h 1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4" h="16">
                    <a:moveTo>
                      <a:pt x="11" y="16"/>
                    </a:moveTo>
                    <a:lnTo>
                      <a:pt x="11" y="14"/>
                    </a:lnTo>
                    <a:lnTo>
                      <a:pt x="8" y="16"/>
                    </a:lnTo>
                    <a:lnTo>
                      <a:pt x="4" y="16"/>
                    </a:lnTo>
                    <a:lnTo>
                      <a:pt x="1" y="16"/>
                    </a:lnTo>
                    <a:lnTo>
                      <a:pt x="0" y="14"/>
                    </a:lnTo>
                    <a:lnTo>
                      <a:pt x="0" y="11"/>
                    </a:lnTo>
                    <a:lnTo>
                      <a:pt x="0" y="0"/>
                    </a:lnTo>
                    <a:lnTo>
                      <a:pt x="3" y="0"/>
                    </a:lnTo>
                    <a:lnTo>
                      <a:pt x="3" y="10"/>
                    </a:lnTo>
                    <a:lnTo>
                      <a:pt x="4" y="13"/>
                    </a:lnTo>
                    <a:lnTo>
                      <a:pt x="6" y="14"/>
                    </a:lnTo>
                    <a:lnTo>
                      <a:pt x="9" y="13"/>
                    </a:lnTo>
                    <a:lnTo>
                      <a:pt x="11" y="10"/>
                    </a:lnTo>
                    <a:lnTo>
                      <a:pt x="11" y="0"/>
                    </a:lnTo>
                    <a:lnTo>
                      <a:pt x="14" y="0"/>
                    </a:lnTo>
                    <a:lnTo>
                      <a:pt x="14" y="16"/>
                    </a:lnTo>
                    <a:lnTo>
                      <a:pt x="11" y="16"/>
                    </a:lnTo>
                    <a:close/>
                  </a:path>
                </a:pathLst>
              </a:custGeom>
              <a:solidFill>
                <a:srgbClr val="89CEC4"/>
              </a:solidFill>
              <a:ln w="9525">
                <a:noFill/>
                <a:round/>
                <a:headEnd/>
                <a:tailEnd/>
              </a:ln>
            </p:spPr>
            <p:txBody>
              <a:bodyPr wrap="none" anchor="ctr"/>
              <a:lstStyle/>
              <a:p>
                <a:endParaRPr lang="en-US"/>
              </a:p>
            </p:txBody>
          </p:sp>
          <p:sp>
            <p:nvSpPr>
              <p:cNvPr id="19468" name="Freeform 32"/>
              <p:cNvSpPr>
                <a:spLocks noChangeArrowheads="1"/>
              </p:cNvSpPr>
              <p:nvPr/>
            </p:nvSpPr>
            <p:spPr bwMode="auto">
              <a:xfrm>
                <a:off x="2033" y="579"/>
                <a:ext cx="16" cy="16"/>
              </a:xfrm>
              <a:custGeom>
                <a:avLst/>
                <a:gdLst>
                  <a:gd name="T0" fmla="*/ 11 w 16"/>
                  <a:gd name="T1" fmla="*/ 5 h 16"/>
                  <a:gd name="T2" fmla="*/ 11 w 16"/>
                  <a:gd name="T3" fmla="*/ 5 h 16"/>
                  <a:gd name="T4" fmla="*/ 10 w 16"/>
                  <a:gd name="T5" fmla="*/ 3 h 16"/>
                  <a:gd name="T6" fmla="*/ 8 w 16"/>
                  <a:gd name="T7" fmla="*/ 3 h 16"/>
                  <a:gd name="T8" fmla="*/ 8 w 16"/>
                  <a:gd name="T9" fmla="*/ 3 h 16"/>
                  <a:gd name="T10" fmla="*/ 5 w 16"/>
                  <a:gd name="T11" fmla="*/ 3 h 16"/>
                  <a:gd name="T12" fmla="*/ 5 w 16"/>
                  <a:gd name="T13" fmla="*/ 5 h 16"/>
                  <a:gd name="T14" fmla="*/ 5 w 16"/>
                  <a:gd name="T15" fmla="*/ 5 h 16"/>
                  <a:gd name="T16" fmla="*/ 5 w 16"/>
                  <a:gd name="T17" fmla="*/ 6 h 16"/>
                  <a:gd name="T18" fmla="*/ 8 w 16"/>
                  <a:gd name="T19" fmla="*/ 6 h 16"/>
                  <a:gd name="T20" fmla="*/ 8 w 16"/>
                  <a:gd name="T21" fmla="*/ 6 h 16"/>
                  <a:gd name="T22" fmla="*/ 13 w 16"/>
                  <a:gd name="T23" fmla="*/ 6 h 16"/>
                  <a:gd name="T24" fmla="*/ 15 w 16"/>
                  <a:gd name="T25" fmla="*/ 8 h 16"/>
                  <a:gd name="T26" fmla="*/ 16 w 16"/>
                  <a:gd name="T27" fmla="*/ 11 h 16"/>
                  <a:gd name="T28" fmla="*/ 16 w 16"/>
                  <a:gd name="T29" fmla="*/ 11 h 16"/>
                  <a:gd name="T30" fmla="*/ 15 w 16"/>
                  <a:gd name="T31" fmla="*/ 14 h 16"/>
                  <a:gd name="T32" fmla="*/ 13 w 16"/>
                  <a:gd name="T33" fmla="*/ 16 h 16"/>
                  <a:gd name="T34" fmla="*/ 8 w 16"/>
                  <a:gd name="T35" fmla="*/ 16 h 16"/>
                  <a:gd name="T36" fmla="*/ 8 w 16"/>
                  <a:gd name="T37" fmla="*/ 16 h 16"/>
                  <a:gd name="T38" fmla="*/ 2 w 16"/>
                  <a:gd name="T39" fmla="*/ 16 h 16"/>
                  <a:gd name="T40" fmla="*/ 0 w 16"/>
                  <a:gd name="T41" fmla="*/ 14 h 16"/>
                  <a:gd name="T42" fmla="*/ 0 w 16"/>
                  <a:gd name="T43" fmla="*/ 11 h 16"/>
                  <a:gd name="T44" fmla="*/ 5 w 16"/>
                  <a:gd name="T45" fmla="*/ 11 h 16"/>
                  <a:gd name="T46" fmla="*/ 5 w 16"/>
                  <a:gd name="T47" fmla="*/ 11 h 16"/>
                  <a:gd name="T48" fmla="*/ 5 w 16"/>
                  <a:gd name="T49" fmla="*/ 13 h 16"/>
                  <a:gd name="T50" fmla="*/ 8 w 16"/>
                  <a:gd name="T51" fmla="*/ 14 h 16"/>
                  <a:gd name="T52" fmla="*/ 8 w 16"/>
                  <a:gd name="T53" fmla="*/ 14 h 16"/>
                  <a:gd name="T54" fmla="*/ 11 w 16"/>
                  <a:gd name="T55" fmla="*/ 14 h 16"/>
                  <a:gd name="T56" fmla="*/ 11 w 16"/>
                  <a:gd name="T57" fmla="*/ 11 h 16"/>
                  <a:gd name="T58" fmla="*/ 11 w 16"/>
                  <a:gd name="T59" fmla="*/ 11 h 16"/>
                  <a:gd name="T60" fmla="*/ 11 w 16"/>
                  <a:gd name="T61" fmla="*/ 10 h 16"/>
                  <a:gd name="T62" fmla="*/ 8 w 16"/>
                  <a:gd name="T63" fmla="*/ 10 h 16"/>
                  <a:gd name="T64" fmla="*/ 8 w 16"/>
                  <a:gd name="T65" fmla="*/ 10 h 16"/>
                  <a:gd name="T66" fmla="*/ 2 w 16"/>
                  <a:gd name="T67" fmla="*/ 8 h 16"/>
                  <a:gd name="T68" fmla="*/ 0 w 16"/>
                  <a:gd name="T69" fmla="*/ 6 h 16"/>
                  <a:gd name="T70" fmla="*/ 0 w 16"/>
                  <a:gd name="T71" fmla="*/ 5 h 16"/>
                  <a:gd name="T72" fmla="*/ 0 w 16"/>
                  <a:gd name="T73" fmla="*/ 5 h 16"/>
                  <a:gd name="T74" fmla="*/ 0 w 16"/>
                  <a:gd name="T75" fmla="*/ 2 h 16"/>
                  <a:gd name="T76" fmla="*/ 2 w 16"/>
                  <a:gd name="T77" fmla="*/ 0 h 16"/>
                  <a:gd name="T78" fmla="*/ 8 w 16"/>
                  <a:gd name="T79" fmla="*/ 0 h 16"/>
                  <a:gd name="T80" fmla="*/ 8 w 16"/>
                  <a:gd name="T81" fmla="*/ 0 h 16"/>
                  <a:gd name="T82" fmla="*/ 13 w 16"/>
                  <a:gd name="T83" fmla="*/ 0 h 16"/>
                  <a:gd name="T84" fmla="*/ 15 w 16"/>
                  <a:gd name="T85" fmla="*/ 2 h 16"/>
                  <a:gd name="T86" fmla="*/ 15 w 16"/>
                  <a:gd name="T87" fmla="*/ 5 h 16"/>
                  <a:gd name="T88" fmla="*/ 11 w 16"/>
                  <a:gd name="T89" fmla="*/ 5 h 1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6"/>
                  <a:gd name="T136" fmla="*/ 0 h 16"/>
                  <a:gd name="T137" fmla="*/ 16 w 16"/>
                  <a:gd name="T138" fmla="*/ 16 h 1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6" h="16">
                    <a:moveTo>
                      <a:pt x="11" y="5"/>
                    </a:moveTo>
                    <a:lnTo>
                      <a:pt x="11" y="5"/>
                    </a:lnTo>
                    <a:lnTo>
                      <a:pt x="10" y="3"/>
                    </a:lnTo>
                    <a:lnTo>
                      <a:pt x="8" y="3"/>
                    </a:lnTo>
                    <a:lnTo>
                      <a:pt x="5" y="3"/>
                    </a:lnTo>
                    <a:lnTo>
                      <a:pt x="5" y="5"/>
                    </a:lnTo>
                    <a:lnTo>
                      <a:pt x="5" y="6"/>
                    </a:lnTo>
                    <a:lnTo>
                      <a:pt x="8" y="6"/>
                    </a:lnTo>
                    <a:lnTo>
                      <a:pt x="13" y="6"/>
                    </a:lnTo>
                    <a:lnTo>
                      <a:pt x="15" y="8"/>
                    </a:lnTo>
                    <a:lnTo>
                      <a:pt x="16" y="11"/>
                    </a:lnTo>
                    <a:lnTo>
                      <a:pt x="15" y="14"/>
                    </a:lnTo>
                    <a:lnTo>
                      <a:pt x="13" y="16"/>
                    </a:lnTo>
                    <a:lnTo>
                      <a:pt x="8" y="16"/>
                    </a:lnTo>
                    <a:lnTo>
                      <a:pt x="2" y="16"/>
                    </a:lnTo>
                    <a:lnTo>
                      <a:pt x="0" y="14"/>
                    </a:lnTo>
                    <a:lnTo>
                      <a:pt x="0" y="11"/>
                    </a:lnTo>
                    <a:lnTo>
                      <a:pt x="5" y="11"/>
                    </a:lnTo>
                    <a:lnTo>
                      <a:pt x="5" y="13"/>
                    </a:lnTo>
                    <a:lnTo>
                      <a:pt x="8" y="14"/>
                    </a:lnTo>
                    <a:lnTo>
                      <a:pt x="11" y="14"/>
                    </a:lnTo>
                    <a:lnTo>
                      <a:pt x="11" y="11"/>
                    </a:lnTo>
                    <a:lnTo>
                      <a:pt x="11" y="10"/>
                    </a:lnTo>
                    <a:lnTo>
                      <a:pt x="8" y="10"/>
                    </a:lnTo>
                    <a:lnTo>
                      <a:pt x="2" y="8"/>
                    </a:lnTo>
                    <a:lnTo>
                      <a:pt x="0" y="6"/>
                    </a:lnTo>
                    <a:lnTo>
                      <a:pt x="0" y="5"/>
                    </a:lnTo>
                    <a:lnTo>
                      <a:pt x="0" y="2"/>
                    </a:lnTo>
                    <a:lnTo>
                      <a:pt x="2" y="0"/>
                    </a:lnTo>
                    <a:lnTo>
                      <a:pt x="8" y="0"/>
                    </a:lnTo>
                    <a:lnTo>
                      <a:pt x="13" y="0"/>
                    </a:lnTo>
                    <a:lnTo>
                      <a:pt x="15" y="2"/>
                    </a:lnTo>
                    <a:lnTo>
                      <a:pt x="15" y="5"/>
                    </a:lnTo>
                    <a:lnTo>
                      <a:pt x="11" y="5"/>
                    </a:lnTo>
                    <a:close/>
                  </a:path>
                </a:pathLst>
              </a:custGeom>
              <a:solidFill>
                <a:srgbClr val="89CEC4"/>
              </a:solidFill>
              <a:ln w="9525">
                <a:noFill/>
                <a:round/>
                <a:headEnd/>
                <a:tailEnd/>
              </a:ln>
            </p:spPr>
            <p:txBody>
              <a:bodyPr wrap="none" anchor="ctr"/>
              <a:lstStyle/>
              <a:p>
                <a:endParaRPr lang="en-US"/>
              </a:p>
            </p:txBody>
          </p:sp>
          <p:sp>
            <p:nvSpPr>
              <p:cNvPr id="19469" name="Freeform 33"/>
              <p:cNvSpPr>
                <a:spLocks noChangeArrowheads="1"/>
              </p:cNvSpPr>
              <p:nvPr/>
            </p:nvSpPr>
            <p:spPr bwMode="auto">
              <a:xfrm>
                <a:off x="2049" y="576"/>
                <a:ext cx="13" cy="19"/>
              </a:xfrm>
              <a:custGeom>
                <a:avLst/>
                <a:gdLst>
                  <a:gd name="T0" fmla="*/ 0 w 13"/>
                  <a:gd name="T1" fmla="*/ 3 h 19"/>
                  <a:gd name="T2" fmla="*/ 2 w 13"/>
                  <a:gd name="T3" fmla="*/ 3 h 19"/>
                  <a:gd name="T4" fmla="*/ 2 w 13"/>
                  <a:gd name="T5" fmla="*/ 0 h 19"/>
                  <a:gd name="T6" fmla="*/ 7 w 13"/>
                  <a:gd name="T7" fmla="*/ 0 h 19"/>
                  <a:gd name="T8" fmla="*/ 7 w 13"/>
                  <a:gd name="T9" fmla="*/ 3 h 19"/>
                  <a:gd name="T10" fmla="*/ 13 w 13"/>
                  <a:gd name="T11" fmla="*/ 3 h 19"/>
                  <a:gd name="T12" fmla="*/ 13 w 13"/>
                  <a:gd name="T13" fmla="*/ 6 h 19"/>
                  <a:gd name="T14" fmla="*/ 7 w 13"/>
                  <a:gd name="T15" fmla="*/ 6 h 19"/>
                  <a:gd name="T16" fmla="*/ 7 w 13"/>
                  <a:gd name="T17" fmla="*/ 14 h 19"/>
                  <a:gd name="T18" fmla="*/ 7 w 13"/>
                  <a:gd name="T19" fmla="*/ 14 h 19"/>
                  <a:gd name="T20" fmla="*/ 7 w 13"/>
                  <a:gd name="T21" fmla="*/ 16 h 19"/>
                  <a:gd name="T22" fmla="*/ 8 w 13"/>
                  <a:gd name="T23" fmla="*/ 17 h 19"/>
                  <a:gd name="T24" fmla="*/ 8 w 13"/>
                  <a:gd name="T25" fmla="*/ 17 h 19"/>
                  <a:gd name="T26" fmla="*/ 10 w 13"/>
                  <a:gd name="T27" fmla="*/ 16 h 19"/>
                  <a:gd name="T28" fmla="*/ 10 w 13"/>
                  <a:gd name="T29" fmla="*/ 13 h 19"/>
                  <a:gd name="T30" fmla="*/ 13 w 13"/>
                  <a:gd name="T31" fmla="*/ 13 h 19"/>
                  <a:gd name="T32" fmla="*/ 13 w 13"/>
                  <a:gd name="T33" fmla="*/ 13 h 19"/>
                  <a:gd name="T34" fmla="*/ 13 w 13"/>
                  <a:gd name="T35" fmla="*/ 19 h 19"/>
                  <a:gd name="T36" fmla="*/ 11 w 13"/>
                  <a:gd name="T37" fmla="*/ 19 h 19"/>
                  <a:gd name="T38" fmla="*/ 8 w 13"/>
                  <a:gd name="T39" fmla="*/ 19 h 19"/>
                  <a:gd name="T40" fmla="*/ 8 w 13"/>
                  <a:gd name="T41" fmla="*/ 19 h 19"/>
                  <a:gd name="T42" fmla="*/ 3 w 13"/>
                  <a:gd name="T43" fmla="*/ 19 h 19"/>
                  <a:gd name="T44" fmla="*/ 2 w 13"/>
                  <a:gd name="T45" fmla="*/ 14 h 19"/>
                  <a:gd name="T46" fmla="*/ 2 w 13"/>
                  <a:gd name="T47" fmla="*/ 6 h 19"/>
                  <a:gd name="T48" fmla="*/ 0 w 13"/>
                  <a:gd name="T49" fmla="*/ 6 h 19"/>
                  <a:gd name="T50" fmla="*/ 0 w 13"/>
                  <a:gd name="T51" fmla="*/ 3 h 1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
                  <a:gd name="T79" fmla="*/ 0 h 19"/>
                  <a:gd name="T80" fmla="*/ 13 w 13"/>
                  <a:gd name="T81" fmla="*/ 19 h 1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 h="19">
                    <a:moveTo>
                      <a:pt x="0" y="3"/>
                    </a:moveTo>
                    <a:lnTo>
                      <a:pt x="2" y="3"/>
                    </a:lnTo>
                    <a:lnTo>
                      <a:pt x="2" y="0"/>
                    </a:lnTo>
                    <a:lnTo>
                      <a:pt x="7" y="0"/>
                    </a:lnTo>
                    <a:lnTo>
                      <a:pt x="7" y="3"/>
                    </a:lnTo>
                    <a:lnTo>
                      <a:pt x="13" y="3"/>
                    </a:lnTo>
                    <a:lnTo>
                      <a:pt x="13" y="6"/>
                    </a:lnTo>
                    <a:lnTo>
                      <a:pt x="7" y="6"/>
                    </a:lnTo>
                    <a:lnTo>
                      <a:pt x="7" y="14"/>
                    </a:lnTo>
                    <a:lnTo>
                      <a:pt x="7" y="16"/>
                    </a:lnTo>
                    <a:lnTo>
                      <a:pt x="8" y="17"/>
                    </a:lnTo>
                    <a:lnTo>
                      <a:pt x="10" y="16"/>
                    </a:lnTo>
                    <a:lnTo>
                      <a:pt x="10" y="13"/>
                    </a:lnTo>
                    <a:lnTo>
                      <a:pt x="13" y="13"/>
                    </a:lnTo>
                    <a:lnTo>
                      <a:pt x="13" y="19"/>
                    </a:lnTo>
                    <a:lnTo>
                      <a:pt x="11" y="19"/>
                    </a:lnTo>
                    <a:lnTo>
                      <a:pt x="8" y="19"/>
                    </a:lnTo>
                    <a:lnTo>
                      <a:pt x="3" y="19"/>
                    </a:lnTo>
                    <a:lnTo>
                      <a:pt x="2" y="14"/>
                    </a:lnTo>
                    <a:lnTo>
                      <a:pt x="2" y="6"/>
                    </a:lnTo>
                    <a:lnTo>
                      <a:pt x="0" y="6"/>
                    </a:lnTo>
                    <a:lnTo>
                      <a:pt x="0" y="3"/>
                    </a:lnTo>
                    <a:close/>
                  </a:path>
                </a:pathLst>
              </a:custGeom>
              <a:solidFill>
                <a:srgbClr val="89CEC4"/>
              </a:solidFill>
              <a:ln w="9525">
                <a:noFill/>
                <a:round/>
                <a:headEnd/>
                <a:tailEnd/>
              </a:ln>
            </p:spPr>
            <p:txBody>
              <a:bodyPr wrap="none" anchor="ctr"/>
              <a:lstStyle/>
              <a:p>
                <a:endParaRPr lang="en-US"/>
              </a:p>
            </p:txBody>
          </p:sp>
          <p:sp>
            <p:nvSpPr>
              <p:cNvPr id="19470" name="Freeform 34"/>
              <p:cNvSpPr>
                <a:spLocks noChangeArrowheads="1"/>
              </p:cNvSpPr>
              <p:nvPr/>
            </p:nvSpPr>
            <p:spPr bwMode="auto">
              <a:xfrm>
                <a:off x="2065" y="579"/>
                <a:ext cx="13" cy="16"/>
              </a:xfrm>
              <a:custGeom>
                <a:avLst/>
                <a:gdLst>
                  <a:gd name="T0" fmla="*/ 3 w 13"/>
                  <a:gd name="T1" fmla="*/ 0 h 16"/>
                  <a:gd name="T2" fmla="*/ 3 w 13"/>
                  <a:gd name="T3" fmla="*/ 2 h 16"/>
                  <a:gd name="T4" fmla="*/ 3 w 13"/>
                  <a:gd name="T5" fmla="*/ 2 h 16"/>
                  <a:gd name="T6" fmla="*/ 3 w 13"/>
                  <a:gd name="T7" fmla="*/ 2 h 16"/>
                  <a:gd name="T8" fmla="*/ 5 w 13"/>
                  <a:gd name="T9" fmla="*/ 0 h 16"/>
                  <a:gd name="T10" fmla="*/ 8 w 13"/>
                  <a:gd name="T11" fmla="*/ 0 h 16"/>
                  <a:gd name="T12" fmla="*/ 8 w 13"/>
                  <a:gd name="T13" fmla="*/ 0 h 16"/>
                  <a:gd name="T14" fmla="*/ 10 w 13"/>
                  <a:gd name="T15" fmla="*/ 0 h 16"/>
                  <a:gd name="T16" fmla="*/ 11 w 13"/>
                  <a:gd name="T17" fmla="*/ 2 h 16"/>
                  <a:gd name="T18" fmla="*/ 13 w 13"/>
                  <a:gd name="T19" fmla="*/ 5 h 16"/>
                  <a:gd name="T20" fmla="*/ 13 w 13"/>
                  <a:gd name="T21" fmla="*/ 6 h 16"/>
                  <a:gd name="T22" fmla="*/ 8 w 13"/>
                  <a:gd name="T23" fmla="*/ 6 h 16"/>
                  <a:gd name="T24" fmla="*/ 8 w 13"/>
                  <a:gd name="T25" fmla="*/ 5 h 16"/>
                  <a:gd name="T26" fmla="*/ 8 w 13"/>
                  <a:gd name="T27" fmla="*/ 5 h 16"/>
                  <a:gd name="T28" fmla="*/ 8 w 13"/>
                  <a:gd name="T29" fmla="*/ 3 h 16"/>
                  <a:gd name="T30" fmla="*/ 7 w 13"/>
                  <a:gd name="T31" fmla="*/ 3 h 16"/>
                  <a:gd name="T32" fmla="*/ 7 w 13"/>
                  <a:gd name="T33" fmla="*/ 3 h 16"/>
                  <a:gd name="T34" fmla="*/ 3 w 13"/>
                  <a:gd name="T35" fmla="*/ 3 h 16"/>
                  <a:gd name="T36" fmla="*/ 3 w 13"/>
                  <a:gd name="T37" fmla="*/ 6 h 16"/>
                  <a:gd name="T38" fmla="*/ 3 w 13"/>
                  <a:gd name="T39" fmla="*/ 16 h 16"/>
                  <a:gd name="T40" fmla="*/ 0 w 13"/>
                  <a:gd name="T41" fmla="*/ 16 h 16"/>
                  <a:gd name="T42" fmla="*/ 0 w 13"/>
                  <a:gd name="T43" fmla="*/ 0 h 16"/>
                  <a:gd name="T44" fmla="*/ 3 w 13"/>
                  <a:gd name="T45" fmla="*/ 0 h 1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3"/>
                  <a:gd name="T70" fmla="*/ 0 h 16"/>
                  <a:gd name="T71" fmla="*/ 13 w 13"/>
                  <a:gd name="T72" fmla="*/ 16 h 1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3" h="16">
                    <a:moveTo>
                      <a:pt x="3" y="0"/>
                    </a:moveTo>
                    <a:lnTo>
                      <a:pt x="3" y="2"/>
                    </a:lnTo>
                    <a:lnTo>
                      <a:pt x="5" y="0"/>
                    </a:lnTo>
                    <a:lnTo>
                      <a:pt x="8" y="0"/>
                    </a:lnTo>
                    <a:lnTo>
                      <a:pt x="10" y="0"/>
                    </a:lnTo>
                    <a:lnTo>
                      <a:pt x="11" y="2"/>
                    </a:lnTo>
                    <a:lnTo>
                      <a:pt x="13" y="5"/>
                    </a:lnTo>
                    <a:lnTo>
                      <a:pt x="13" y="6"/>
                    </a:lnTo>
                    <a:lnTo>
                      <a:pt x="8" y="6"/>
                    </a:lnTo>
                    <a:lnTo>
                      <a:pt x="8" y="5"/>
                    </a:lnTo>
                    <a:lnTo>
                      <a:pt x="8" y="3"/>
                    </a:lnTo>
                    <a:lnTo>
                      <a:pt x="7" y="3"/>
                    </a:lnTo>
                    <a:lnTo>
                      <a:pt x="3" y="3"/>
                    </a:lnTo>
                    <a:lnTo>
                      <a:pt x="3" y="6"/>
                    </a:lnTo>
                    <a:lnTo>
                      <a:pt x="3" y="16"/>
                    </a:lnTo>
                    <a:lnTo>
                      <a:pt x="0" y="16"/>
                    </a:lnTo>
                    <a:lnTo>
                      <a:pt x="0" y="0"/>
                    </a:lnTo>
                    <a:lnTo>
                      <a:pt x="3" y="0"/>
                    </a:lnTo>
                    <a:close/>
                  </a:path>
                </a:pathLst>
              </a:custGeom>
              <a:solidFill>
                <a:srgbClr val="89CEC4"/>
              </a:solidFill>
              <a:ln w="9525">
                <a:noFill/>
                <a:round/>
                <a:headEnd/>
                <a:tailEnd/>
              </a:ln>
            </p:spPr>
            <p:txBody>
              <a:bodyPr wrap="none" anchor="ctr"/>
              <a:lstStyle/>
              <a:p>
                <a:endParaRPr lang="en-US"/>
              </a:p>
            </p:txBody>
          </p:sp>
          <p:sp>
            <p:nvSpPr>
              <p:cNvPr id="19471" name="Freeform 35"/>
              <p:cNvSpPr>
                <a:spLocks noChangeArrowheads="1"/>
              </p:cNvSpPr>
              <p:nvPr/>
            </p:nvSpPr>
            <p:spPr bwMode="auto">
              <a:xfrm>
                <a:off x="2080" y="579"/>
                <a:ext cx="14" cy="16"/>
              </a:xfrm>
              <a:custGeom>
                <a:avLst/>
                <a:gdLst>
                  <a:gd name="T0" fmla="*/ 11 w 14"/>
                  <a:gd name="T1" fmla="*/ 14 h 16"/>
                  <a:gd name="T2" fmla="*/ 11 w 14"/>
                  <a:gd name="T3" fmla="*/ 14 h 16"/>
                  <a:gd name="T4" fmla="*/ 11 w 14"/>
                  <a:gd name="T5" fmla="*/ 14 h 16"/>
                  <a:gd name="T6" fmla="*/ 8 w 14"/>
                  <a:gd name="T7" fmla="*/ 16 h 16"/>
                  <a:gd name="T8" fmla="*/ 4 w 14"/>
                  <a:gd name="T9" fmla="*/ 16 h 16"/>
                  <a:gd name="T10" fmla="*/ 4 w 14"/>
                  <a:gd name="T11" fmla="*/ 16 h 16"/>
                  <a:gd name="T12" fmla="*/ 1 w 14"/>
                  <a:gd name="T13" fmla="*/ 16 h 16"/>
                  <a:gd name="T14" fmla="*/ 0 w 14"/>
                  <a:gd name="T15" fmla="*/ 14 h 16"/>
                  <a:gd name="T16" fmla="*/ 0 w 14"/>
                  <a:gd name="T17" fmla="*/ 11 h 16"/>
                  <a:gd name="T18" fmla="*/ 0 w 14"/>
                  <a:gd name="T19" fmla="*/ 11 h 16"/>
                  <a:gd name="T20" fmla="*/ 0 w 14"/>
                  <a:gd name="T21" fmla="*/ 10 h 16"/>
                  <a:gd name="T22" fmla="*/ 1 w 14"/>
                  <a:gd name="T23" fmla="*/ 8 h 16"/>
                  <a:gd name="T24" fmla="*/ 4 w 14"/>
                  <a:gd name="T25" fmla="*/ 6 h 16"/>
                  <a:gd name="T26" fmla="*/ 4 w 14"/>
                  <a:gd name="T27" fmla="*/ 6 h 16"/>
                  <a:gd name="T28" fmla="*/ 8 w 14"/>
                  <a:gd name="T29" fmla="*/ 6 h 16"/>
                  <a:gd name="T30" fmla="*/ 11 w 14"/>
                  <a:gd name="T31" fmla="*/ 8 h 16"/>
                  <a:gd name="T32" fmla="*/ 11 w 14"/>
                  <a:gd name="T33" fmla="*/ 8 h 16"/>
                  <a:gd name="T34" fmla="*/ 11 w 14"/>
                  <a:gd name="T35" fmla="*/ 6 h 16"/>
                  <a:gd name="T36" fmla="*/ 11 w 14"/>
                  <a:gd name="T37" fmla="*/ 6 h 16"/>
                  <a:gd name="T38" fmla="*/ 9 w 14"/>
                  <a:gd name="T39" fmla="*/ 3 h 16"/>
                  <a:gd name="T40" fmla="*/ 6 w 14"/>
                  <a:gd name="T41" fmla="*/ 3 h 16"/>
                  <a:gd name="T42" fmla="*/ 6 w 14"/>
                  <a:gd name="T43" fmla="*/ 3 h 16"/>
                  <a:gd name="T44" fmla="*/ 4 w 14"/>
                  <a:gd name="T45" fmla="*/ 3 h 16"/>
                  <a:gd name="T46" fmla="*/ 4 w 14"/>
                  <a:gd name="T47" fmla="*/ 5 h 16"/>
                  <a:gd name="T48" fmla="*/ 0 w 14"/>
                  <a:gd name="T49" fmla="*/ 5 h 16"/>
                  <a:gd name="T50" fmla="*/ 0 w 14"/>
                  <a:gd name="T51" fmla="*/ 5 h 16"/>
                  <a:gd name="T52" fmla="*/ 0 w 14"/>
                  <a:gd name="T53" fmla="*/ 2 h 16"/>
                  <a:gd name="T54" fmla="*/ 1 w 14"/>
                  <a:gd name="T55" fmla="*/ 0 h 16"/>
                  <a:gd name="T56" fmla="*/ 6 w 14"/>
                  <a:gd name="T57" fmla="*/ 0 h 16"/>
                  <a:gd name="T58" fmla="*/ 6 w 14"/>
                  <a:gd name="T59" fmla="*/ 0 h 16"/>
                  <a:gd name="T60" fmla="*/ 11 w 14"/>
                  <a:gd name="T61" fmla="*/ 0 h 16"/>
                  <a:gd name="T62" fmla="*/ 12 w 14"/>
                  <a:gd name="T63" fmla="*/ 2 h 16"/>
                  <a:gd name="T64" fmla="*/ 14 w 14"/>
                  <a:gd name="T65" fmla="*/ 3 h 16"/>
                  <a:gd name="T66" fmla="*/ 14 w 14"/>
                  <a:gd name="T67" fmla="*/ 6 h 16"/>
                  <a:gd name="T68" fmla="*/ 14 w 14"/>
                  <a:gd name="T69" fmla="*/ 16 h 16"/>
                  <a:gd name="T70" fmla="*/ 11 w 14"/>
                  <a:gd name="T71" fmla="*/ 16 h 16"/>
                  <a:gd name="T72" fmla="*/ 11 w 14"/>
                  <a:gd name="T73" fmla="*/ 14 h 16"/>
                  <a:gd name="T74" fmla="*/ 3 w 14"/>
                  <a:gd name="T75" fmla="*/ 11 h 16"/>
                  <a:gd name="T76" fmla="*/ 3 w 14"/>
                  <a:gd name="T77" fmla="*/ 11 h 16"/>
                  <a:gd name="T78" fmla="*/ 4 w 14"/>
                  <a:gd name="T79" fmla="*/ 13 h 16"/>
                  <a:gd name="T80" fmla="*/ 6 w 14"/>
                  <a:gd name="T81" fmla="*/ 14 h 16"/>
                  <a:gd name="T82" fmla="*/ 6 w 14"/>
                  <a:gd name="T83" fmla="*/ 14 h 16"/>
                  <a:gd name="T84" fmla="*/ 9 w 14"/>
                  <a:gd name="T85" fmla="*/ 13 h 16"/>
                  <a:gd name="T86" fmla="*/ 11 w 14"/>
                  <a:gd name="T87" fmla="*/ 11 h 16"/>
                  <a:gd name="T88" fmla="*/ 11 w 14"/>
                  <a:gd name="T89" fmla="*/ 11 h 16"/>
                  <a:gd name="T90" fmla="*/ 9 w 14"/>
                  <a:gd name="T91" fmla="*/ 10 h 16"/>
                  <a:gd name="T92" fmla="*/ 6 w 14"/>
                  <a:gd name="T93" fmla="*/ 10 h 16"/>
                  <a:gd name="T94" fmla="*/ 6 w 14"/>
                  <a:gd name="T95" fmla="*/ 10 h 16"/>
                  <a:gd name="T96" fmla="*/ 4 w 14"/>
                  <a:gd name="T97" fmla="*/ 10 h 16"/>
                  <a:gd name="T98" fmla="*/ 3 w 14"/>
                  <a:gd name="T99" fmla="*/ 11 h 16"/>
                  <a:gd name="T100" fmla="*/ 3 w 14"/>
                  <a:gd name="T101" fmla="*/ 11 h 1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
                  <a:gd name="T154" fmla="*/ 0 h 16"/>
                  <a:gd name="T155" fmla="*/ 14 w 14"/>
                  <a:gd name="T156" fmla="*/ 16 h 1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 h="16">
                    <a:moveTo>
                      <a:pt x="11" y="14"/>
                    </a:moveTo>
                    <a:lnTo>
                      <a:pt x="11" y="14"/>
                    </a:lnTo>
                    <a:lnTo>
                      <a:pt x="8" y="16"/>
                    </a:lnTo>
                    <a:lnTo>
                      <a:pt x="4" y="16"/>
                    </a:lnTo>
                    <a:lnTo>
                      <a:pt x="1" y="16"/>
                    </a:lnTo>
                    <a:lnTo>
                      <a:pt x="0" y="14"/>
                    </a:lnTo>
                    <a:lnTo>
                      <a:pt x="0" y="11"/>
                    </a:lnTo>
                    <a:lnTo>
                      <a:pt x="0" y="10"/>
                    </a:lnTo>
                    <a:lnTo>
                      <a:pt x="1" y="8"/>
                    </a:lnTo>
                    <a:lnTo>
                      <a:pt x="4" y="6"/>
                    </a:lnTo>
                    <a:lnTo>
                      <a:pt x="8" y="6"/>
                    </a:lnTo>
                    <a:lnTo>
                      <a:pt x="11" y="8"/>
                    </a:lnTo>
                    <a:lnTo>
                      <a:pt x="11" y="6"/>
                    </a:lnTo>
                    <a:lnTo>
                      <a:pt x="9" y="3"/>
                    </a:lnTo>
                    <a:lnTo>
                      <a:pt x="6" y="3"/>
                    </a:lnTo>
                    <a:lnTo>
                      <a:pt x="4" y="3"/>
                    </a:lnTo>
                    <a:lnTo>
                      <a:pt x="4" y="5"/>
                    </a:lnTo>
                    <a:lnTo>
                      <a:pt x="0" y="5"/>
                    </a:lnTo>
                    <a:lnTo>
                      <a:pt x="0" y="2"/>
                    </a:lnTo>
                    <a:lnTo>
                      <a:pt x="1" y="0"/>
                    </a:lnTo>
                    <a:lnTo>
                      <a:pt x="6" y="0"/>
                    </a:lnTo>
                    <a:lnTo>
                      <a:pt x="11" y="0"/>
                    </a:lnTo>
                    <a:lnTo>
                      <a:pt x="12" y="2"/>
                    </a:lnTo>
                    <a:lnTo>
                      <a:pt x="14" y="3"/>
                    </a:lnTo>
                    <a:lnTo>
                      <a:pt x="14" y="6"/>
                    </a:lnTo>
                    <a:lnTo>
                      <a:pt x="14" y="16"/>
                    </a:lnTo>
                    <a:lnTo>
                      <a:pt x="11" y="16"/>
                    </a:lnTo>
                    <a:lnTo>
                      <a:pt x="11" y="14"/>
                    </a:lnTo>
                    <a:close/>
                    <a:moveTo>
                      <a:pt x="3" y="11"/>
                    </a:moveTo>
                    <a:lnTo>
                      <a:pt x="3" y="11"/>
                    </a:lnTo>
                    <a:lnTo>
                      <a:pt x="4" y="13"/>
                    </a:lnTo>
                    <a:lnTo>
                      <a:pt x="6" y="14"/>
                    </a:lnTo>
                    <a:lnTo>
                      <a:pt x="9" y="13"/>
                    </a:lnTo>
                    <a:lnTo>
                      <a:pt x="11" y="11"/>
                    </a:lnTo>
                    <a:lnTo>
                      <a:pt x="9" y="10"/>
                    </a:lnTo>
                    <a:lnTo>
                      <a:pt x="6" y="10"/>
                    </a:lnTo>
                    <a:lnTo>
                      <a:pt x="4" y="10"/>
                    </a:lnTo>
                    <a:lnTo>
                      <a:pt x="3" y="11"/>
                    </a:lnTo>
                    <a:close/>
                  </a:path>
                </a:pathLst>
              </a:custGeom>
              <a:solidFill>
                <a:srgbClr val="89CEC4"/>
              </a:solidFill>
              <a:ln w="9525">
                <a:noFill/>
                <a:round/>
                <a:headEnd/>
                <a:tailEnd/>
              </a:ln>
            </p:spPr>
            <p:txBody>
              <a:bodyPr wrap="none" anchor="ctr"/>
              <a:lstStyle/>
              <a:p>
                <a:endParaRPr lang="en-US"/>
              </a:p>
            </p:txBody>
          </p:sp>
          <p:sp>
            <p:nvSpPr>
              <p:cNvPr id="19472" name="Rectangle 36"/>
              <p:cNvSpPr>
                <a:spLocks noChangeArrowheads="1"/>
              </p:cNvSpPr>
              <p:nvPr/>
            </p:nvSpPr>
            <p:spPr bwMode="auto">
              <a:xfrm>
                <a:off x="2099" y="573"/>
                <a:ext cx="3" cy="22"/>
              </a:xfrm>
              <a:prstGeom prst="rect">
                <a:avLst/>
              </a:prstGeom>
              <a:solidFill>
                <a:srgbClr val="89CEC4"/>
              </a:solid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9473" name="Freeform 37"/>
              <p:cNvSpPr>
                <a:spLocks noChangeArrowheads="1"/>
              </p:cNvSpPr>
              <p:nvPr/>
            </p:nvSpPr>
            <p:spPr bwMode="auto">
              <a:xfrm>
                <a:off x="2105" y="573"/>
                <a:ext cx="5" cy="22"/>
              </a:xfrm>
              <a:custGeom>
                <a:avLst/>
                <a:gdLst>
                  <a:gd name="T0" fmla="*/ 5 w 5"/>
                  <a:gd name="T1" fmla="*/ 3 h 22"/>
                  <a:gd name="T2" fmla="*/ 0 w 5"/>
                  <a:gd name="T3" fmla="*/ 3 h 22"/>
                  <a:gd name="T4" fmla="*/ 0 w 5"/>
                  <a:gd name="T5" fmla="*/ 0 h 22"/>
                  <a:gd name="T6" fmla="*/ 5 w 5"/>
                  <a:gd name="T7" fmla="*/ 0 h 22"/>
                  <a:gd name="T8" fmla="*/ 5 w 5"/>
                  <a:gd name="T9" fmla="*/ 3 h 22"/>
                  <a:gd name="T10" fmla="*/ 5 w 5"/>
                  <a:gd name="T11" fmla="*/ 22 h 22"/>
                  <a:gd name="T12" fmla="*/ 0 w 5"/>
                  <a:gd name="T13" fmla="*/ 22 h 22"/>
                  <a:gd name="T14" fmla="*/ 0 w 5"/>
                  <a:gd name="T15" fmla="*/ 6 h 22"/>
                  <a:gd name="T16" fmla="*/ 5 w 5"/>
                  <a:gd name="T17" fmla="*/ 6 h 22"/>
                  <a:gd name="T18" fmla="*/ 5 w 5"/>
                  <a:gd name="T19" fmla="*/ 22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
                  <a:gd name="T31" fmla="*/ 0 h 22"/>
                  <a:gd name="T32" fmla="*/ 5 w 5"/>
                  <a:gd name="T33" fmla="*/ 22 h 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 h="22">
                    <a:moveTo>
                      <a:pt x="5" y="3"/>
                    </a:moveTo>
                    <a:lnTo>
                      <a:pt x="0" y="3"/>
                    </a:lnTo>
                    <a:lnTo>
                      <a:pt x="0" y="0"/>
                    </a:lnTo>
                    <a:lnTo>
                      <a:pt x="5" y="0"/>
                    </a:lnTo>
                    <a:lnTo>
                      <a:pt x="5" y="3"/>
                    </a:lnTo>
                    <a:close/>
                    <a:moveTo>
                      <a:pt x="5" y="22"/>
                    </a:moveTo>
                    <a:lnTo>
                      <a:pt x="0" y="22"/>
                    </a:lnTo>
                    <a:lnTo>
                      <a:pt x="0" y="6"/>
                    </a:lnTo>
                    <a:lnTo>
                      <a:pt x="5" y="6"/>
                    </a:lnTo>
                    <a:lnTo>
                      <a:pt x="5" y="22"/>
                    </a:lnTo>
                    <a:close/>
                  </a:path>
                </a:pathLst>
              </a:custGeom>
              <a:solidFill>
                <a:srgbClr val="89CEC4"/>
              </a:solidFill>
              <a:ln w="9525">
                <a:noFill/>
                <a:round/>
                <a:headEnd/>
                <a:tailEnd/>
              </a:ln>
            </p:spPr>
            <p:txBody>
              <a:bodyPr wrap="none" anchor="ctr"/>
              <a:lstStyle/>
              <a:p>
                <a:endParaRPr lang="en-US"/>
              </a:p>
            </p:txBody>
          </p:sp>
          <p:sp>
            <p:nvSpPr>
              <p:cNvPr id="19474" name="Freeform 38"/>
              <p:cNvSpPr>
                <a:spLocks noChangeArrowheads="1"/>
              </p:cNvSpPr>
              <p:nvPr/>
            </p:nvSpPr>
            <p:spPr bwMode="auto">
              <a:xfrm>
                <a:off x="2113" y="579"/>
                <a:ext cx="15" cy="16"/>
              </a:xfrm>
              <a:custGeom>
                <a:avLst/>
                <a:gdLst>
                  <a:gd name="T0" fmla="*/ 11 w 15"/>
                  <a:gd name="T1" fmla="*/ 14 h 16"/>
                  <a:gd name="T2" fmla="*/ 11 w 15"/>
                  <a:gd name="T3" fmla="*/ 14 h 16"/>
                  <a:gd name="T4" fmla="*/ 11 w 15"/>
                  <a:gd name="T5" fmla="*/ 14 h 16"/>
                  <a:gd name="T6" fmla="*/ 8 w 15"/>
                  <a:gd name="T7" fmla="*/ 16 h 16"/>
                  <a:gd name="T8" fmla="*/ 7 w 15"/>
                  <a:gd name="T9" fmla="*/ 16 h 16"/>
                  <a:gd name="T10" fmla="*/ 7 w 15"/>
                  <a:gd name="T11" fmla="*/ 16 h 16"/>
                  <a:gd name="T12" fmla="*/ 2 w 15"/>
                  <a:gd name="T13" fmla="*/ 16 h 16"/>
                  <a:gd name="T14" fmla="*/ 0 w 15"/>
                  <a:gd name="T15" fmla="*/ 14 h 16"/>
                  <a:gd name="T16" fmla="*/ 0 w 15"/>
                  <a:gd name="T17" fmla="*/ 11 h 16"/>
                  <a:gd name="T18" fmla="*/ 0 w 15"/>
                  <a:gd name="T19" fmla="*/ 11 h 16"/>
                  <a:gd name="T20" fmla="*/ 0 w 15"/>
                  <a:gd name="T21" fmla="*/ 10 h 16"/>
                  <a:gd name="T22" fmla="*/ 2 w 15"/>
                  <a:gd name="T23" fmla="*/ 8 h 16"/>
                  <a:gd name="T24" fmla="*/ 7 w 15"/>
                  <a:gd name="T25" fmla="*/ 6 h 16"/>
                  <a:gd name="T26" fmla="*/ 7 w 15"/>
                  <a:gd name="T27" fmla="*/ 6 h 16"/>
                  <a:gd name="T28" fmla="*/ 8 w 15"/>
                  <a:gd name="T29" fmla="*/ 6 h 16"/>
                  <a:gd name="T30" fmla="*/ 11 w 15"/>
                  <a:gd name="T31" fmla="*/ 8 h 16"/>
                  <a:gd name="T32" fmla="*/ 11 w 15"/>
                  <a:gd name="T33" fmla="*/ 8 h 16"/>
                  <a:gd name="T34" fmla="*/ 11 w 15"/>
                  <a:gd name="T35" fmla="*/ 6 h 16"/>
                  <a:gd name="T36" fmla="*/ 11 w 15"/>
                  <a:gd name="T37" fmla="*/ 6 h 16"/>
                  <a:gd name="T38" fmla="*/ 10 w 15"/>
                  <a:gd name="T39" fmla="*/ 3 h 16"/>
                  <a:gd name="T40" fmla="*/ 8 w 15"/>
                  <a:gd name="T41" fmla="*/ 3 h 16"/>
                  <a:gd name="T42" fmla="*/ 8 w 15"/>
                  <a:gd name="T43" fmla="*/ 3 h 16"/>
                  <a:gd name="T44" fmla="*/ 5 w 15"/>
                  <a:gd name="T45" fmla="*/ 3 h 16"/>
                  <a:gd name="T46" fmla="*/ 5 w 15"/>
                  <a:gd name="T47" fmla="*/ 5 h 16"/>
                  <a:gd name="T48" fmla="*/ 0 w 15"/>
                  <a:gd name="T49" fmla="*/ 5 h 16"/>
                  <a:gd name="T50" fmla="*/ 0 w 15"/>
                  <a:gd name="T51" fmla="*/ 5 h 16"/>
                  <a:gd name="T52" fmla="*/ 2 w 15"/>
                  <a:gd name="T53" fmla="*/ 2 h 16"/>
                  <a:gd name="T54" fmla="*/ 2 w 15"/>
                  <a:gd name="T55" fmla="*/ 0 h 16"/>
                  <a:gd name="T56" fmla="*/ 8 w 15"/>
                  <a:gd name="T57" fmla="*/ 0 h 16"/>
                  <a:gd name="T58" fmla="*/ 8 w 15"/>
                  <a:gd name="T59" fmla="*/ 0 h 16"/>
                  <a:gd name="T60" fmla="*/ 11 w 15"/>
                  <a:gd name="T61" fmla="*/ 0 h 16"/>
                  <a:gd name="T62" fmla="*/ 13 w 15"/>
                  <a:gd name="T63" fmla="*/ 2 h 16"/>
                  <a:gd name="T64" fmla="*/ 15 w 15"/>
                  <a:gd name="T65" fmla="*/ 3 h 16"/>
                  <a:gd name="T66" fmla="*/ 15 w 15"/>
                  <a:gd name="T67" fmla="*/ 6 h 16"/>
                  <a:gd name="T68" fmla="*/ 15 w 15"/>
                  <a:gd name="T69" fmla="*/ 16 h 16"/>
                  <a:gd name="T70" fmla="*/ 11 w 15"/>
                  <a:gd name="T71" fmla="*/ 16 h 16"/>
                  <a:gd name="T72" fmla="*/ 11 w 15"/>
                  <a:gd name="T73" fmla="*/ 14 h 16"/>
                  <a:gd name="T74" fmla="*/ 3 w 15"/>
                  <a:gd name="T75" fmla="*/ 11 h 16"/>
                  <a:gd name="T76" fmla="*/ 3 w 15"/>
                  <a:gd name="T77" fmla="*/ 11 h 16"/>
                  <a:gd name="T78" fmla="*/ 5 w 15"/>
                  <a:gd name="T79" fmla="*/ 13 h 16"/>
                  <a:gd name="T80" fmla="*/ 8 w 15"/>
                  <a:gd name="T81" fmla="*/ 14 h 16"/>
                  <a:gd name="T82" fmla="*/ 8 w 15"/>
                  <a:gd name="T83" fmla="*/ 14 h 16"/>
                  <a:gd name="T84" fmla="*/ 10 w 15"/>
                  <a:gd name="T85" fmla="*/ 13 h 16"/>
                  <a:gd name="T86" fmla="*/ 11 w 15"/>
                  <a:gd name="T87" fmla="*/ 11 h 16"/>
                  <a:gd name="T88" fmla="*/ 11 w 15"/>
                  <a:gd name="T89" fmla="*/ 11 h 16"/>
                  <a:gd name="T90" fmla="*/ 10 w 15"/>
                  <a:gd name="T91" fmla="*/ 10 h 16"/>
                  <a:gd name="T92" fmla="*/ 8 w 15"/>
                  <a:gd name="T93" fmla="*/ 10 h 16"/>
                  <a:gd name="T94" fmla="*/ 8 w 15"/>
                  <a:gd name="T95" fmla="*/ 10 h 16"/>
                  <a:gd name="T96" fmla="*/ 5 w 15"/>
                  <a:gd name="T97" fmla="*/ 10 h 16"/>
                  <a:gd name="T98" fmla="*/ 3 w 15"/>
                  <a:gd name="T99" fmla="*/ 11 h 16"/>
                  <a:gd name="T100" fmla="*/ 3 w 15"/>
                  <a:gd name="T101" fmla="*/ 11 h 1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5"/>
                  <a:gd name="T154" fmla="*/ 0 h 16"/>
                  <a:gd name="T155" fmla="*/ 15 w 15"/>
                  <a:gd name="T156" fmla="*/ 16 h 1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5" h="16">
                    <a:moveTo>
                      <a:pt x="11" y="14"/>
                    </a:moveTo>
                    <a:lnTo>
                      <a:pt x="11" y="14"/>
                    </a:lnTo>
                    <a:lnTo>
                      <a:pt x="8" y="16"/>
                    </a:lnTo>
                    <a:lnTo>
                      <a:pt x="7" y="16"/>
                    </a:lnTo>
                    <a:lnTo>
                      <a:pt x="2" y="16"/>
                    </a:lnTo>
                    <a:lnTo>
                      <a:pt x="0" y="14"/>
                    </a:lnTo>
                    <a:lnTo>
                      <a:pt x="0" y="11"/>
                    </a:lnTo>
                    <a:lnTo>
                      <a:pt x="0" y="10"/>
                    </a:lnTo>
                    <a:lnTo>
                      <a:pt x="2" y="8"/>
                    </a:lnTo>
                    <a:lnTo>
                      <a:pt x="7" y="6"/>
                    </a:lnTo>
                    <a:lnTo>
                      <a:pt x="8" y="6"/>
                    </a:lnTo>
                    <a:lnTo>
                      <a:pt x="11" y="8"/>
                    </a:lnTo>
                    <a:lnTo>
                      <a:pt x="11" y="6"/>
                    </a:lnTo>
                    <a:lnTo>
                      <a:pt x="10" y="3"/>
                    </a:lnTo>
                    <a:lnTo>
                      <a:pt x="8" y="3"/>
                    </a:lnTo>
                    <a:lnTo>
                      <a:pt x="5" y="3"/>
                    </a:lnTo>
                    <a:lnTo>
                      <a:pt x="5" y="5"/>
                    </a:lnTo>
                    <a:lnTo>
                      <a:pt x="0" y="5"/>
                    </a:lnTo>
                    <a:lnTo>
                      <a:pt x="2" y="2"/>
                    </a:lnTo>
                    <a:lnTo>
                      <a:pt x="2" y="0"/>
                    </a:lnTo>
                    <a:lnTo>
                      <a:pt x="8" y="0"/>
                    </a:lnTo>
                    <a:lnTo>
                      <a:pt x="11" y="0"/>
                    </a:lnTo>
                    <a:lnTo>
                      <a:pt x="13" y="2"/>
                    </a:lnTo>
                    <a:lnTo>
                      <a:pt x="15" y="3"/>
                    </a:lnTo>
                    <a:lnTo>
                      <a:pt x="15" y="6"/>
                    </a:lnTo>
                    <a:lnTo>
                      <a:pt x="15" y="16"/>
                    </a:lnTo>
                    <a:lnTo>
                      <a:pt x="11" y="16"/>
                    </a:lnTo>
                    <a:lnTo>
                      <a:pt x="11" y="14"/>
                    </a:lnTo>
                    <a:close/>
                    <a:moveTo>
                      <a:pt x="3" y="11"/>
                    </a:moveTo>
                    <a:lnTo>
                      <a:pt x="3" y="11"/>
                    </a:lnTo>
                    <a:lnTo>
                      <a:pt x="5" y="13"/>
                    </a:lnTo>
                    <a:lnTo>
                      <a:pt x="8" y="14"/>
                    </a:lnTo>
                    <a:lnTo>
                      <a:pt x="10" y="13"/>
                    </a:lnTo>
                    <a:lnTo>
                      <a:pt x="11" y="11"/>
                    </a:lnTo>
                    <a:lnTo>
                      <a:pt x="10" y="10"/>
                    </a:lnTo>
                    <a:lnTo>
                      <a:pt x="8" y="10"/>
                    </a:lnTo>
                    <a:lnTo>
                      <a:pt x="5" y="10"/>
                    </a:lnTo>
                    <a:lnTo>
                      <a:pt x="3" y="11"/>
                    </a:lnTo>
                    <a:close/>
                  </a:path>
                </a:pathLst>
              </a:custGeom>
              <a:solidFill>
                <a:srgbClr val="89CEC4"/>
              </a:solidFill>
              <a:ln w="9525">
                <a:noFill/>
                <a:round/>
                <a:headEnd/>
                <a:tailEnd/>
              </a:ln>
            </p:spPr>
            <p:txBody>
              <a:bodyPr wrap="none" anchor="ctr"/>
              <a:lstStyle/>
              <a:p>
                <a:endParaRPr lang="en-US"/>
              </a:p>
            </p:txBody>
          </p:sp>
          <p:sp>
            <p:nvSpPr>
              <p:cNvPr id="19475" name="Freeform 39"/>
              <p:cNvSpPr>
                <a:spLocks noChangeArrowheads="1"/>
              </p:cNvSpPr>
              <p:nvPr/>
            </p:nvSpPr>
            <p:spPr bwMode="auto">
              <a:xfrm>
                <a:off x="2132" y="579"/>
                <a:ext cx="15" cy="16"/>
              </a:xfrm>
              <a:custGeom>
                <a:avLst/>
                <a:gdLst>
                  <a:gd name="T0" fmla="*/ 4 w 15"/>
                  <a:gd name="T1" fmla="*/ 0 h 16"/>
                  <a:gd name="T2" fmla="*/ 4 w 15"/>
                  <a:gd name="T3" fmla="*/ 3 h 16"/>
                  <a:gd name="T4" fmla="*/ 4 w 15"/>
                  <a:gd name="T5" fmla="*/ 3 h 16"/>
                  <a:gd name="T6" fmla="*/ 4 w 15"/>
                  <a:gd name="T7" fmla="*/ 3 h 16"/>
                  <a:gd name="T8" fmla="*/ 7 w 15"/>
                  <a:gd name="T9" fmla="*/ 0 h 16"/>
                  <a:gd name="T10" fmla="*/ 8 w 15"/>
                  <a:gd name="T11" fmla="*/ 0 h 16"/>
                  <a:gd name="T12" fmla="*/ 8 w 15"/>
                  <a:gd name="T13" fmla="*/ 0 h 16"/>
                  <a:gd name="T14" fmla="*/ 12 w 15"/>
                  <a:gd name="T15" fmla="*/ 0 h 16"/>
                  <a:gd name="T16" fmla="*/ 13 w 15"/>
                  <a:gd name="T17" fmla="*/ 2 h 16"/>
                  <a:gd name="T18" fmla="*/ 15 w 15"/>
                  <a:gd name="T19" fmla="*/ 5 h 16"/>
                  <a:gd name="T20" fmla="*/ 15 w 15"/>
                  <a:gd name="T21" fmla="*/ 16 h 16"/>
                  <a:gd name="T22" fmla="*/ 12 w 15"/>
                  <a:gd name="T23" fmla="*/ 16 h 16"/>
                  <a:gd name="T24" fmla="*/ 12 w 15"/>
                  <a:gd name="T25" fmla="*/ 6 h 16"/>
                  <a:gd name="T26" fmla="*/ 12 w 15"/>
                  <a:gd name="T27" fmla="*/ 6 h 16"/>
                  <a:gd name="T28" fmla="*/ 10 w 15"/>
                  <a:gd name="T29" fmla="*/ 3 h 16"/>
                  <a:gd name="T30" fmla="*/ 8 w 15"/>
                  <a:gd name="T31" fmla="*/ 3 h 16"/>
                  <a:gd name="T32" fmla="*/ 8 w 15"/>
                  <a:gd name="T33" fmla="*/ 3 h 16"/>
                  <a:gd name="T34" fmla="*/ 5 w 15"/>
                  <a:gd name="T35" fmla="*/ 3 h 16"/>
                  <a:gd name="T36" fmla="*/ 4 w 15"/>
                  <a:gd name="T37" fmla="*/ 8 h 16"/>
                  <a:gd name="T38" fmla="*/ 4 w 15"/>
                  <a:gd name="T39" fmla="*/ 16 h 16"/>
                  <a:gd name="T40" fmla="*/ 0 w 15"/>
                  <a:gd name="T41" fmla="*/ 16 h 16"/>
                  <a:gd name="T42" fmla="*/ 0 w 15"/>
                  <a:gd name="T43" fmla="*/ 0 h 16"/>
                  <a:gd name="T44" fmla="*/ 4 w 15"/>
                  <a:gd name="T45" fmla="*/ 0 h 1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5"/>
                  <a:gd name="T70" fmla="*/ 0 h 16"/>
                  <a:gd name="T71" fmla="*/ 15 w 15"/>
                  <a:gd name="T72" fmla="*/ 16 h 1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5" h="16">
                    <a:moveTo>
                      <a:pt x="4" y="0"/>
                    </a:moveTo>
                    <a:lnTo>
                      <a:pt x="4" y="3"/>
                    </a:lnTo>
                    <a:lnTo>
                      <a:pt x="7" y="0"/>
                    </a:lnTo>
                    <a:lnTo>
                      <a:pt x="8" y="0"/>
                    </a:lnTo>
                    <a:lnTo>
                      <a:pt x="12" y="0"/>
                    </a:lnTo>
                    <a:lnTo>
                      <a:pt x="13" y="2"/>
                    </a:lnTo>
                    <a:lnTo>
                      <a:pt x="15" y="5"/>
                    </a:lnTo>
                    <a:lnTo>
                      <a:pt x="15" y="16"/>
                    </a:lnTo>
                    <a:lnTo>
                      <a:pt x="12" y="16"/>
                    </a:lnTo>
                    <a:lnTo>
                      <a:pt x="12" y="6"/>
                    </a:lnTo>
                    <a:lnTo>
                      <a:pt x="10" y="3"/>
                    </a:lnTo>
                    <a:lnTo>
                      <a:pt x="8" y="3"/>
                    </a:lnTo>
                    <a:lnTo>
                      <a:pt x="5" y="3"/>
                    </a:lnTo>
                    <a:lnTo>
                      <a:pt x="4" y="8"/>
                    </a:lnTo>
                    <a:lnTo>
                      <a:pt x="4" y="16"/>
                    </a:lnTo>
                    <a:lnTo>
                      <a:pt x="0" y="16"/>
                    </a:lnTo>
                    <a:lnTo>
                      <a:pt x="0" y="0"/>
                    </a:lnTo>
                    <a:lnTo>
                      <a:pt x="4" y="0"/>
                    </a:lnTo>
                    <a:close/>
                  </a:path>
                </a:pathLst>
              </a:custGeom>
              <a:solidFill>
                <a:srgbClr val="89CEC4"/>
              </a:solidFill>
              <a:ln w="9525">
                <a:noFill/>
                <a:round/>
                <a:headEnd/>
                <a:tailEnd/>
              </a:ln>
            </p:spPr>
            <p:txBody>
              <a:bodyPr wrap="none" anchor="ctr"/>
              <a:lstStyle/>
              <a:p>
                <a:endParaRPr lang="en-US"/>
              </a:p>
            </p:txBody>
          </p:sp>
          <p:sp>
            <p:nvSpPr>
              <p:cNvPr id="19476" name="Freeform 40"/>
              <p:cNvSpPr>
                <a:spLocks noChangeArrowheads="1"/>
              </p:cNvSpPr>
              <p:nvPr/>
            </p:nvSpPr>
            <p:spPr bwMode="auto">
              <a:xfrm>
                <a:off x="2161" y="571"/>
                <a:ext cx="19" cy="24"/>
              </a:xfrm>
              <a:custGeom>
                <a:avLst/>
                <a:gdLst>
                  <a:gd name="T0" fmla="*/ 5 w 19"/>
                  <a:gd name="T1" fmla="*/ 18 h 24"/>
                  <a:gd name="T2" fmla="*/ 5 w 19"/>
                  <a:gd name="T3" fmla="*/ 18 h 24"/>
                  <a:gd name="T4" fmla="*/ 5 w 19"/>
                  <a:gd name="T5" fmla="*/ 18 h 24"/>
                  <a:gd name="T6" fmla="*/ 5 w 19"/>
                  <a:gd name="T7" fmla="*/ 21 h 24"/>
                  <a:gd name="T8" fmla="*/ 10 w 19"/>
                  <a:gd name="T9" fmla="*/ 21 h 24"/>
                  <a:gd name="T10" fmla="*/ 10 w 19"/>
                  <a:gd name="T11" fmla="*/ 21 h 24"/>
                  <a:gd name="T12" fmla="*/ 13 w 19"/>
                  <a:gd name="T13" fmla="*/ 21 h 24"/>
                  <a:gd name="T14" fmla="*/ 15 w 19"/>
                  <a:gd name="T15" fmla="*/ 18 h 24"/>
                  <a:gd name="T16" fmla="*/ 15 w 19"/>
                  <a:gd name="T17" fmla="*/ 18 h 24"/>
                  <a:gd name="T18" fmla="*/ 15 w 19"/>
                  <a:gd name="T19" fmla="*/ 16 h 24"/>
                  <a:gd name="T20" fmla="*/ 13 w 19"/>
                  <a:gd name="T21" fmla="*/ 14 h 24"/>
                  <a:gd name="T22" fmla="*/ 10 w 19"/>
                  <a:gd name="T23" fmla="*/ 14 h 24"/>
                  <a:gd name="T24" fmla="*/ 10 w 19"/>
                  <a:gd name="T25" fmla="*/ 14 h 24"/>
                  <a:gd name="T26" fmla="*/ 2 w 19"/>
                  <a:gd name="T27" fmla="*/ 13 h 24"/>
                  <a:gd name="T28" fmla="*/ 0 w 19"/>
                  <a:gd name="T29" fmla="*/ 11 h 24"/>
                  <a:gd name="T30" fmla="*/ 0 w 19"/>
                  <a:gd name="T31" fmla="*/ 8 h 24"/>
                  <a:gd name="T32" fmla="*/ 0 w 19"/>
                  <a:gd name="T33" fmla="*/ 8 h 24"/>
                  <a:gd name="T34" fmla="*/ 0 w 19"/>
                  <a:gd name="T35" fmla="*/ 3 h 24"/>
                  <a:gd name="T36" fmla="*/ 3 w 19"/>
                  <a:gd name="T37" fmla="*/ 2 h 24"/>
                  <a:gd name="T38" fmla="*/ 10 w 19"/>
                  <a:gd name="T39" fmla="*/ 0 h 24"/>
                  <a:gd name="T40" fmla="*/ 10 w 19"/>
                  <a:gd name="T41" fmla="*/ 0 h 24"/>
                  <a:gd name="T42" fmla="*/ 16 w 19"/>
                  <a:gd name="T43" fmla="*/ 2 h 24"/>
                  <a:gd name="T44" fmla="*/ 18 w 19"/>
                  <a:gd name="T45" fmla="*/ 3 h 24"/>
                  <a:gd name="T46" fmla="*/ 18 w 19"/>
                  <a:gd name="T47" fmla="*/ 6 h 24"/>
                  <a:gd name="T48" fmla="*/ 18 w 19"/>
                  <a:gd name="T49" fmla="*/ 8 h 24"/>
                  <a:gd name="T50" fmla="*/ 15 w 19"/>
                  <a:gd name="T51" fmla="*/ 8 h 24"/>
                  <a:gd name="T52" fmla="*/ 15 w 19"/>
                  <a:gd name="T53" fmla="*/ 6 h 24"/>
                  <a:gd name="T54" fmla="*/ 15 w 19"/>
                  <a:gd name="T55" fmla="*/ 6 h 24"/>
                  <a:gd name="T56" fmla="*/ 13 w 19"/>
                  <a:gd name="T57" fmla="*/ 5 h 24"/>
                  <a:gd name="T58" fmla="*/ 10 w 19"/>
                  <a:gd name="T59" fmla="*/ 5 h 24"/>
                  <a:gd name="T60" fmla="*/ 10 w 19"/>
                  <a:gd name="T61" fmla="*/ 5 h 24"/>
                  <a:gd name="T62" fmla="*/ 5 w 19"/>
                  <a:gd name="T63" fmla="*/ 5 h 24"/>
                  <a:gd name="T64" fmla="*/ 5 w 19"/>
                  <a:gd name="T65" fmla="*/ 8 h 24"/>
                  <a:gd name="T66" fmla="*/ 5 w 19"/>
                  <a:gd name="T67" fmla="*/ 8 h 24"/>
                  <a:gd name="T68" fmla="*/ 5 w 19"/>
                  <a:gd name="T69" fmla="*/ 10 h 24"/>
                  <a:gd name="T70" fmla="*/ 10 w 19"/>
                  <a:gd name="T71" fmla="*/ 11 h 24"/>
                  <a:gd name="T72" fmla="*/ 10 w 19"/>
                  <a:gd name="T73" fmla="*/ 11 h 24"/>
                  <a:gd name="T74" fmla="*/ 16 w 19"/>
                  <a:gd name="T75" fmla="*/ 11 h 24"/>
                  <a:gd name="T76" fmla="*/ 18 w 19"/>
                  <a:gd name="T77" fmla="*/ 14 h 24"/>
                  <a:gd name="T78" fmla="*/ 19 w 19"/>
                  <a:gd name="T79" fmla="*/ 18 h 24"/>
                  <a:gd name="T80" fmla="*/ 19 w 19"/>
                  <a:gd name="T81" fmla="*/ 18 h 24"/>
                  <a:gd name="T82" fmla="*/ 18 w 19"/>
                  <a:gd name="T83" fmla="*/ 21 h 24"/>
                  <a:gd name="T84" fmla="*/ 16 w 19"/>
                  <a:gd name="T85" fmla="*/ 24 h 24"/>
                  <a:gd name="T86" fmla="*/ 13 w 19"/>
                  <a:gd name="T87" fmla="*/ 24 h 24"/>
                  <a:gd name="T88" fmla="*/ 10 w 19"/>
                  <a:gd name="T89" fmla="*/ 24 h 24"/>
                  <a:gd name="T90" fmla="*/ 10 w 19"/>
                  <a:gd name="T91" fmla="*/ 24 h 24"/>
                  <a:gd name="T92" fmla="*/ 3 w 19"/>
                  <a:gd name="T93" fmla="*/ 24 h 24"/>
                  <a:gd name="T94" fmla="*/ 0 w 19"/>
                  <a:gd name="T95" fmla="*/ 22 h 24"/>
                  <a:gd name="T96" fmla="*/ 0 w 19"/>
                  <a:gd name="T97" fmla="*/ 18 h 24"/>
                  <a:gd name="T98" fmla="*/ 0 w 19"/>
                  <a:gd name="T99" fmla="*/ 18 h 24"/>
                  <a:gd name="T100" fmla="*/ 5 w 19"/>
                  <a:gd name="T101" fmla="*/ 18 h 2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
                  <a:gd name="T154" fmla="*/ 0 h 24"/>
                  <a:gd name="T155" fmla="*/ 19 w 19"/>
                  <a:gd name="T156" fmla="*/ 24 h 2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 h="24">
                    <a:moveTo>
                      <a:pt x="5" y="18"/>
                    </a:moveTo>
                    <a:lnTo>
                      <a:pt x="5" y="18"/>
                    </a:lnTo>
                    <a:lnTo>
                      <a:pt x="5" y="21"/>
                    </a:lnTo>
                    <a:lnTo>
                      <a:pt x="10" y="21"/>
                    </a:lnTo>
                    <a:lnTo>
                      <a:pt x="13" y="21"/>
                    </a:lnTo>
                    <a:lnTo>
                      <a:pt x="15" y="18"/>
                    </a:lnTo>
                    <a:lnTo>
                      <a:pt x="15" y="16"/>
                    </a:lnTo>
                    <a:lnTo>
                      <a:pt x="13" y="14"/>
                    </a:lnTo>
                    <a:lnTo>
                      <a:pt x="10" y="14"/>
                    </a:lnTo>
                    <a:lnTo>
                      <a:pt x="2" y="13"/>
                    </a:lnTo>
                    <a:lnTo>
                      <a:pt x="0" y="11"/>
                    </a:lnTo>
                    <a:lnTo>
                      <a:pt x="0" y="8"/>
                    </a:lnTo>
                    <a:lnTo>
                      <a:pt x="0" y="3"/>
                    </a:lnTo>
                    <a:lnTo>
                      <a:pt x="3" y="2"/>
                    </a:lnTo>
                    <a:lnTo>
                      <a:pt x="10" y="0"/>
                    </a:lnTo>
                    <a:lnTo>
                      <a:pt x="16" y="2"/>
                    </a:lnTo>
                    <a:lnTo>
                      <a:pt x="18" y="3"/>
                    </a:lnTo>
                    <a:lnTo>
                      <a:pt x="18" y="6"/>
                    </a:lnTo>
                    <a:lnTo>
                      <a:pt x="18" y="8"/>
                    </a:lnTo>
                    <a:lnTo>
                      <a:pt x="15" y="8"/>
                    </a:lnTo>
                    <a:lnTo>
                      <a:pt x="15" y="6"/>
                    </a:lnTo>
                    <a:lnTo>
                      <a:pt x="13" y="5"/>
                    </a:lnTo>
                    <a:lnTo>
                      <a:pt x="10" y="5"/>
                    </a:lnTo>
                    <a:lnTo>
                      <a:pt x="5" y="5"/>
                    </a:lnTo>
                    <a:lnTo>
                      <a:pt x="5" y="8"/>
                    </a:lnTo>
                    <a:lnTo>
                      <a:pt x="5" y="10"/>
                    </a:lnTo>
                    <a:lnTo>
                      <a:pt x="10" y="11"/>
                    </a:lnTo>
                    <a:lnTo>
                      <a:pt x="16" y="11"/>
                    </a:lnTo>
                    <a:lnTo>
                      <a:pt x="18" y="14"/>
                    </a:lnTo>
                    <a:lnTo>
                      <a:pt x="19" y="18"/>
                    </a:lnTo>
                    <a:lnTo>
                      <a:pt x="18" y="21"/>
                    </a:lnTo>
                    <a:lnTo>
                      <a:pt x="16" y="24"/>
                    </a:lnTo>
                    <a:lnTo>
                      <a:pt x="13" y="24"/>
                    </a:lnTo>
                    <a:lnTo>
                      <a:pt x="10" y="24"/>
                    </a:lnTo>
                    <a:lnTo>
                      <a:pt x="3" y="24"/>
                    </a:lnTo>
                    <a:lnTo>
                      <a:pt x="0" y="22"/>
                    </a:lnTo>
                    <a:lnTo>
                      <a:pt x="0" y="18"/>
                    </a:lnTo>
                    <a:lnTo>
                      <a:pt x="5" y="18"/>
                    </a:lnTo>
                    <a:close/>
                  </a:path>
                </a:pathLst>
              </a:custGeom>
              <a:solidFill>
                <a:srgbClr val="89CEC4"/>
              </a:solidFill>
              <a:ln w="9525">
                <a:noFill/>
                <a:round/>
                <a:headEnd/>
                <a:tailEnd/>
              </a:ln>
            </p:spPr>
            <p:txBody>
              <a:bodyPr wrap="none" anchor="ctr"/>
              <a:lstStyle/>
              <a:p>
                <a:endParaRPr lang="en-US"/>
              </a:p>
            </p:txBody>
          </p:sp>
          <p:sp>
            <p:nvSpPr>
              <p:cNvPr id="19477" name="Freeform 41"/>
              <p:cNvSpPr>
                <a:spLocks noChangeArrowheads="1"/>
              </p:cNvSpPr>
              <p:nvPr/>
            </p:nvSpPr>
            <p:spPr bwMode="auto">
              <a:xfrm>
                <a:off x="2182" y="579"/>
                <a:ext cx="16" cy="16"/>
              </a:xfrm>
              <a:custGeom>
                <a:avLst/>
                <a:gdLst>
                  <a:gd name="T0" fmla="*/ 16 w 16"/>
                  <a:gd name="T1" fmla="*/ 10 h 16"/>
                  <a:gd name="T2" fmla="*/ 16 w 16"/>
                  <a:gd name="T3" fmla="*/ 10 h 16"/>
                  <a:gd name="T4" fmla="*/ 14 w 16"/>
                  <a:gd name="T5" fmla="*/ 13 h 16"/>
                  <a:gd name="T6" fmla="*/ 13 w 16"/>
                  <a:gd name="T7" fmla="*/ 16 h 16"/>
                  <a:gd name="T8" fmla="*/ 11 w 16"/>
                  <a:gd name="T9" fmla="*/ 16 h 16"/>
                  <a:gd name="T10" fmla="*/ 8 w 16"/>
                  <a:gd name="T11" fmla="*/ 16 h 16"/>
                  <a:gd name="T12" fmla="*/ 8 w 16"/>
                  <a:gd name="T13" fmla="*/ 16 h 16"/>
                  <a:gd name="T14" fmla="*/ 5 w 16"/>
                  <a:gd name="T15" fmla="*/ 16 h 16"/>
                  <a:gd name="T16" fmla="*/ 1 w 16"/>
                  <a:gd name="T17" fmla="*/ 14 h 16"/>
                  <a:gd name="T18" fmla="*/ 0 w 16"/>
                  <a:gd name="T19" fmla="*/ 13 h 16"/>
                  <a:gd name="T20" fmla="*/ 0 w 16"/>
                  <a:gd name="T21" fmla="*/ 8 h 16"/>
                  <a:gd name="T22" fmla="*/ 0 w 16"/>
                  <a:gd name="T23" fmla="*/ 8 h 16"/>
                  <a:gd name="T24" fmla="*/ 0 w 16"/>
                  <a:gd name="T25" fmla="*/ 5 h 16"/>
                  <a:gd name="T26" fmla="*/ 1 w 16"/>
                  <a:gd name="T27" fmla="*/ 2 h 16"/>
                  <a:gd name="T28" fmla="*/ 3 w 16"/>
                  <a:gd name="T29" fmla="*/ 0 h 16"/>
                  <a:gd name="T30" fmla="*/ 8 w 16"/>
                  <a:gd name="T31" fmla="*/ 0 h 16"/>
                  <a:gd name="T32" fmla="*/ 8 w 16"/>
                  <a:gd name="T33" fmla="*/ 0 h 16"/>
                  <a:gd name="T34" fmla="*/ 13 w 16"/>
                  <a:gd name="T35" fmla="*/ 2 h 16"/>
                  <a:gd name="T36" fmla="*/ 14 w 16"/>
                  <a:gd name="T37" fmla="*/ 3 h 16"/>
                  <a:gd name="T38" fmla="*/ 16 w 16"/>
                  <a:gd name="T39" fmla="*/ 6 h 16"/>
                  <a:gd name="T40" fmla="*/ 11 w 16"/>
                  <a:gd name="T41" fmla="*/ 6 h 16"/>
                  <a:gd name="T42" fmla="*/ 11 w 16"/>
                  <a:gd name="T43" fmla="*/ 6 h 16"/>
                  <a:gd name="T44" fmla="*/ 11 w 16"/>
                  <a:gd name="T45" fmla="*/ 3 h 16"/>
                  <a:gd name="T46" fmla="*/ 8 w 16"/>
                  <a:gd name="T47" fmla="*/ 3 h 16"/>
                  <a:gd name="T48" fmla="*/ 8 w 16"/>
                  <a:gd name="T49" fmla="*/ 3 h 16"/>
                  <a:gd name="T50" fmla="*/ 5 w 16"/>
                  <a:gd name="T51" fmla="*/ 3 h 16"/>
                  <a:gd name="T52" fmla="*/ 5 w 16"/>
                  <a:gd name="T53" fmla="*/ 8 h 16"/>
                  <a:gd name="T54" fmla="*/ 5 w 16"/>
                  <a:gd name="T55" fmla="*/ 8 h 16"/>
                  <a:gd name="T56" fmla="*/ 5 w 16"/>
                  <a:gd name="T57" fmla="*/ 13 h 16"/>
                  <a:gd name="T58" fmla="*/ 8 w 16"/>
                  <a:gd name="T59" fmla="*/ 14 h 16"/>
                  <a:gd name="T60" fmla="*/ 8 w 16"/>
                  <a:gd name="T61" fmla="*/ 14 h 16"/>
                  <a:gd name="T62" fmla="*/ 11 w 16"/>
                  <a:gd name="T63" fmla="*/ 13 h 16"/>
                  <a:gd name="T64" fmla="*/ 11 w 16"/>
                  <a:gd name="T65" fmla="*/ 10 h 16"/>
                  <a:gd name="T66" fmla="*/ 16 w 16"/>
                  <a:gd name="T67" fmla="*/ 10 h 1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6"/>
                  <a:gd name="T103" fmla="*/ 0 h 16"/>
                  <a:gd name="T104" fmla="*/ 16 w 16"/>
                  <a:gd name="T105" fmla="*/ 16 h 1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6" h="16">
                    <a:moveTo>
                      <a:pt x="16" y="10"/>
                    </a:moveTo>
                    <a:lnTo>
                      <a:pt x="16" y="10"/>
                    </a:lnTo>
                    <a:lnTo>
                      <a:pt x="14" y="13"/>
                    </a:lnTo>
                    <a:lnTo>
                      <a:pt x="13" y="16"/>
                    </a:lnTo>
                    <a:lnTo>
                      <a:pt x="11" y="16"/>
                    </a:lnTo>
                    <a:lnTo>
                      <a:pt x="8" y="16"/>
                    </a:lnTo>
                    <a:lnTo>
                      <a:pt x="5" y="16"/>
                    </a:lnTo>
                    <a:lnTo>
                      <a:pt x="1" y="14"/>
                    </a:lnTo>
                    <a:lnTo>
                      <a:pt x="0" y="13"/>
                    </a:lnTo>
                    <a:lnTo>
                      <a:pt x="0" y="8"/>
                    </a:lnTo>
                    <a:lnTo>
                      <a:pt x="0" y="5"/>
                    </a:lnTo>
                    <a:lnTo>
                      <a:pt x="1" y="2"/>
                    </a:lnTo>
                    <a:lnTo>
                      <a:pt x="3" y="0"/>
                    </a:lnTo>
                    <a:lnTo>
                      <a:pt x="8" y="0"/>
                    </a:lnTo>
                    <a:lnTo>
                      <a:pt x="13" y="2"/>
                    </a:lnTo>
                    <a:lnTo>
                      <a:pt x="14" y="3"/>
                    </a:lnTo>
                    <a:lnTo>
                      <a:pt x="16" y="6"/>
                    </a:lnTo>
                    <a:lnTo>
                      <a:pt x="11" y="6"/>
                    </a:lnTo>
                    <a:lnTo>
                      <a:pt x="11" y="3"/>
                    </a:lnTo>
                    <a:lnTo>
                      <a:pt x="8" y="3"/>
                    </a:lnTo>
                    <a:lnTo>
                      <a:pt x="5" y="3"/>
                    </a:lnTo>
                    <a:lnTo>
                      <a:pt x="5" y="8"/>
                    </a:lnTo>
                    <a:lnTo>
                      <a:pt x="5" y="13"/>
                    </a:lnTo>
                    <a:lnTo>
                      <a:pt x="8" y="14"/>
                    </a:lnTo>
                    <a:lnTo>
                      <a:pt x="11" y="13"/>
                    </a:lnTo>
                    <a:lnTo>
                      <a:pt x="11" y="10"/>
                    </a:lnTo>
                    <a:lnTo>
                      <a:pt x="16" y="10"/>
                    </a:lnTo>
                    <a:close/>
                  </a:path>
                </a:pathLst>
              </a:custGeom>
              <a:solidFill>
                <a:srgbClr val="89CEC4"/>
              </a:solidFill>
              <a:ln w="9525">
                <a:noFill/>
                <a:round/>
                <a:headEnd/>
                <a:tailEnd/>
              </a:ln>
            </p:spPr>
            <p:txBody>
              <a:bodyPr wrap="none" anchor="ctr"/>
              <a:lstStyle/>
              <a:p>
                <a:endParaRPr lang="en-US"/>
              </a:p>
            </p:txBody>
          </p:sp>
          <p:sp>
            <p:nvSpPr>
              <p:cNvPr id="19478" name="Freeform 42"/>
              <p:cNvSpPr>
                <a:spLocks noChangeArrowheads="1"/>
              </p:cNvSpPr>
              <p:nvPr/>
            </p:nvSpPr>
            <p:spPr bwMode="auto">
              <a:xfrm>
                <a:off x="2199" y="573"/>
                <a:ext cx="5" cy="22"/>
              </a:xfrm>
              <a:custGeom>
                <a:avLst/>
                <a:gdLst>
                  <a:gd name="T0" fmla="*/ 5 w 5"/>
                  <a:gd name="T1" fmla="*/ 3 h 22"/>
                  <a:gd name="T2" fmla="*/ 0 w 5"/>
                  <a:gd name="T3" fmla="*/ 3 h 22"/>
                  <a:gd name="T4" fmla="*/ 0 w 5"/>
                  <a:gd name="T5" fmla="*/ 0 h 22"/>
                  <a:gd name="T6" fmla="*/ 5 w 5"/>
                  <a:gd name="T7" fmla="*/ 0 h 22"/>
                  <a:gd name="T8" fmla="*/ 5 w 5"/>
                  <a:gd name="T9" fmla="*/ 3 h 22"/>
                  <a:gd name="T10" fmla="*/ 5 w 5"/>
                  <a:gd name="T11" fmla="*/ 22 h 22"/>
                  <a:gd name="T12" fmla="*/ 0 w 5"/>
                  <a:gd name="T13" fmla="*/ 22 h 22"/>
                  <a:gd name="T14" fmla="*/ 0 w 5"/>
                  <a:gd name="T15" fmla="*/ 6 h 22"/>
                  <a:gd name="T16" fmla="*/ 5 w 5"/>
                  <a:gd name="T17" fmla="*/ 6 h 22"/>
                  <a:gd name="T18" fmla="*/ 5 w 5"/>
                  <a:gd name="T19" fmla="*/ 22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
                  <a:gd name="T31" fmla="*/ 0 h 22"/>
                  <a:gd name="T32" fmla="*/ 5 w 5"/>
                  <a:gd name="T33" fmla="*/ 22 h 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 h="22">
                    <a:moveTo>
                      <a:pt x="5" y="3"/>
                    </a:moveTo>
                    <a:lnTo>
                      <a:pt x="0" y="3"/>
                    </a:lnTo>
                    <a:lnTo>
                      <a:pt x="0" y="0"/>
                    </a:lnTo>
                    <a:lnTo>
                      <a:pt x="5" y="0"/>
                    </a:lnTo>
                    <a:lnTo>
                      <a:pt x="5" y="3"/>
                    </a:lnTo>
                    <a:close/>
                    <a:moveTo>
                      <a:pt x="5" y="22"/>
                    </a:moveTo>
                    <a:lnTo>
                      <a:pt x="0" y="22"/>
                    </a:lnTo>
                    <a:lnTo>
                      <a:pt x="0" y="6"/>
                    </a:lnTo>
                    <a:lnTo>
                      <a:pt x="5" y="6"/>
                    </a:lnTo>
                    <a:lnTo>
                      <a:pt x="5" y="22"/>
                    </a:lnTo>
                    <a:close/>
                  </a:path>
                </a:pathLst>
              </a:custGeom>
              <a:solidFill>
                <a:srgbClr val="89CEC4"/>
              </a:solidFill>
              <a:ln w="9525">
                <a:noFill/>
                <a:round/>
                <a:headEnd/>
                <a:tailEnd/>
              </a:ln>
            </p:spPr>
            <p:txBody>
              <a:bodyPr wrap="none" anchor="ctr"/>
              <a:lstStyle/>
              <a:p>
                <a:endParaRPr lang="en-US"/>
              </a:p>
            </p:txBody>
          </p:sp>
          <p:sp>
            <p:nvSpPr>
              <p:cNvPr id="19479" name="Freeform 43"/>
              <p:cNvSpPr>
                <a:spLocks noChangeArrowheads="1"/>
              </p:cNvSpPr>
              <p:nvPr/>
            </p:nvSpPr>
            <p:spPr bwMode="auto">
              <a:xfrm>
                <a:off x="2207" y="579"/>
                <a:ext cx="15" cy="16"/>
              </a:xfrm>
              <a:custGeom>
                <a:avLst/>
                <a:gdLst>
                  <a:gd name="T0" fmla="*/ 15 w 15"/>
                  <a:gd name="T1" fmla="*/ 11 h 16"/>
                  <a:gd name="T2" fmla="*/ 15 w 15"/>
                  <a:gd name="T3" fmla="*/ 11 h 16"/>
                  <a:gd name="T4" fmla="*/ 15 w 15"/>
                  <a:gd name="T5" fmla="*/ 14 h 16"/>
                  <a:gd name="T6" fmla="*/ 13 w 15"/>
                  <a:gd name="T7" fmla="*/ 16 h 16"/>
                  <a:gd name="T8" fmla="*/ 7 w 15"/>
                  <a:gd name="T9" fmla="*/ 16 h 16"/>
                  <a:gd name="T10" fmla="*/ 7 w 15"/>
                  <a:gd name="T11" fmla="*/ 16 h 16"/>
                  <a:gd name="T12" fmla="*/ 4 w 15"/>
                  <a:gd name="T13" fmla="*/ 16 h 16"/>
                  <a:gd name="T14" fmla="*/ 0 w 15"/>
                  <a:gd name="T15" fmla="*/ 14 h 16"/>
                  <a:gd name="T16" fmla="*/ 0 w 15"/>
                  <a:gd name="T17" fmla="*/ 13 h 16"/>
                  <a:gd name="T18" fmla="*/ 0 w 15"/>
                  <a:gd name="T19" fmla="*/ 8 h 16"/>
                  <a:gd name="T20" fmla="*/ 0 w 15"/>
                  <a:gd name="T21" fmla="*/ 8 h 16"/>
                  <a:gd name="T22" fmla="*/ 0 w 15"/>
                  <a:gd name="T23" fmla="*/ 5 h 16"/>
                  <a:gd name="T24" fmla="*/ 0 w 15"/>
                  <a:gd name="T25" fmla="*/ 2 h 16"/>
                  <a:gd name="T26" fmla="*/ 4 w 15"/>
                  <a:gd name="T27" fmla="*/ 0 h 16"/>
                  <a:gd name="T28" fmla="*/ 7 w 15"/>
                  <a:gd name="T29" fmla="*/ 0 h 16"/>
                  <a:gd name="T30" fmla="*/ 7 w 15"/>
                  <a:gd name="T31" fmla="*/ 0 h 16"/>
                  <a:gd name="T32" fmla="*/ 12 w 15"/>
                  <a:gd name="T33" fmla="*/ 0 h 16"/>
                  <a:gd name="T34" fmla="*/ 13 w 15"/>
                  <a:gd name="T35" fmla="*/ 2 h 16"/>
                  <a:gd name="T36" fmla="*/ 15 w 15"/>
                  <a:gd name="T37" fmla="*/ 5 h 16"/>
                  <a:gd name="T38" fmla="*/ 15 w 15"/>
                  <a:gd name="T39" fmla="*/ 10 h 16"/>
                  <a:gd name="T40" fmla="*/ 4 w 15"/>
                  <a:gd name="T41" fmla="*/ 10 h 16"/>
                  <a:gd name="T42" fmla="*/ 4 w 15"/>
                  <a:gd name="T43" fmla="*/ 10 h 16"/>
                  <a:gd name="T44" fmla="*/ 4 w 15"/>
                  <a:gd name="T45" fmla="*/ 13 h 16"/>
                  <a:gd name="T46" fmla="*/ 7 w 15"/>
                  <a:gd name="T47" fmla="*/ 14 h 16"/>
                  <a:gd name="T48" fmla="*/ 7 w 15"/>
                  <a:gd name="T49" fmla="*/ 14 h 16"/>
                  <a:gd name="T50" fmla="*/ 10 w 15"/>
                  <a:gd name="T51" fmla="*/ 13 h 16"/>
                  <a:gd name="T52" fmla="*/ 12 w 15"/>
                  <a:gd name="T53" fmla="*/ 11 h 16"/>
                  <a:gd name="T54" fmla="*/ 15 w 15"/>
                  <a:gd name="T55" fmla="*/ 11 h 16"/>
                  <a:gd name="T56" fmla="*/ 12 w 15"/>
                  <a:gd name="T57" fmla="*/ 6 h 16"/>
                  <a:gd name="T58" fmla="*/ 12 w 15"/>
                  <a:gd name="T59" fmla="*/ 6 h 16"/>
                  <a:gd name="T60" fmla="*/ 10 w 15"/>
                  <a:gd name="T61" fmla="*/ 3 h 16"/>
                  <a:gd name="T62" fmla="*/ 7 w 15"/>
                  <a:gd name="T63" fmla="*/ 3 h 16"/>
                  <a:gd name="T64" fmla="*/ 7 w 15"/>
                  <a:gd name="T65" fmla="*/ 3 h 16"/>
                  <a:gd name="T66" fmla="*/ 4 w 15"/>
                  <a:gd name="T67" fmla="*/ 3 h 16"/>
                  <a:gd name="T68" fmla="*/ 4 w 15"/>
                  <a:gd name="T69" fmla="*/ 6 h 16"/>
                  <a:gd name="T70" fmla="*/ 12 w 15"/>
                  <a:gd name="T71" fmla="*/ 6 h 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5"/>
                  <a:gd name="T109" fmla="*/ 0 h 16"/>
                  <a:gd name="T110" fmla="*/ 15 w 15"/>
                  <a:gd name="T111" fmla="*/ 16 h 1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5" h="16">
                    <a:moveTo>
                      <a:pt x="15" y="11"/>
                    </a:moveTo>
                    <a:lnTo>
                      <a:pt x="15" y="11"/>
                    </a:lnTo>
                    <a:lnTo>
                      <a:pt x="15" y="14"/>
                    </a:lnTo>
                    <a:lnTo>
                      <a:pt x="13" y="16"/>
                    </a:lnTo>
                    <a:lnTo>
                      <a:pt x="7" y="16"/>
                    </a:lnTo>
                    <a:lnTo>
                      <a:pt x="4" y="16"/>
                    </a:lnTo>
                    <a:lnTo>
                      <a:pt x="0" y="14"/>
                    </a:lnTo>
                    <a:lnTo>
                      <a:pt x="0" y="13"/>
                    </a:lnTo>
                    <a:lnTo>
                      <a:pt x="0" y="8"/>
                    </a:lnTo>
                    <a:lnTo>
                      <a:pt x="0" y="5"/>
                    </a:lnTo>
                    <a:lnTo>
                      <a:pt x="0" y="2"/>
                    </a:lnTo>
                    <a:lnTo>
                      <a:pt x="4" y="0"/>
                    </a:lnTo>
                    <a:lnTo>
                      <a:pt x="7" y="0"/>
                    </a:lnTo>
                    <a:lnTo>
                      <a:pt x="12" y="0"/>
                    </a:lnTo>
                    <a:lnTo>
                      <a:pt x="13" y="2"/>
                    </a:lnTo>
                    <a:lnTo>
                      <a:pt x="15" y="5"/>
                    </a:lnTo>
                    <a:lnTo>
                      <a:pt x="15" y="10"/>
                    </a:lnTo>
                    <a:lnTo>
                      <a:pt x="4" y="10"/>
                    </a:lnTo>
                    <a:lnTo>
                      <a:pt x="4" y="13"/>
                    </a:lnTo>
                    <a:lnTo>
                      <a:pt x="7" y="14"/>
                    </a:lnTo>
                    <a:lnTo>
                      <a:pt x="10" y="13"/>
                    </a:lnTo>
                    <a:lnTo>
                      <a:pt x="12" y="11"/>
                    </a:lnTo>
                    <a:lnTo>
                      <a:pt x="15" y="11"/>
                    </a:lnTo>
                    <a:close/>
                    <a:moveTo>
                      <a:pt x="12" y="6"/>
                    </a:moveTo>
                    <a:lnTo>
                      <a:pt x="12" y="6"/>
                    </a:lnTo>
                    <a:lnTo>
                      <a:pt x="10" y="3"/>
                    </a:lnTo>
                    <a:lnTo>
                      <a:pt x="7" y="3"/>
                    </a:lnTo>
                    <a:lnTo>
                      <a:pt x="4" y="3"/>
                    </a:lnTo>
                    <a:lnTo>
                      <a:pt x="4" y="6"/>
                    </a:lnTo>
                    <a:lnTo>
                      <a:pt x="12" y="6"/>
                    </a:lnTo>
                    <a:close/>
                  </a:path>
                </a:pathLst>
              </a:custGeom>
              <a:solidFill>
                <a:srgbClr val="89CEC4"/>
              </a:solidFill>
              <a:ln w="9525">
                <a:noFill/>
                <a:round/>
                <a:headEnd/>
                <a:tailEnd/>
              </a:ln>
            </p:spPr>
            <p:txBody>
              <a:bodyPr wrap="none" anchor="ctr"/>
              <a:lstStyle/>
              <a:p>
                <a:endParaRPr lang="en-US"/>
              </a:p>
            </p:txBody>
          </p:sp>
          <p:sp>
            <p:nvSpPr>
              <p:cNvPr id="19480" name="Freeform 44"/>
              <p:cNvSpPr>
                <a:spLocks noChangeArrowheads="1"/>
              </p:cNvSpPr>
              <p:nvPr/>
            </p:nvSpPr>
            <p:spPr bwMode="auto">
              <a:xfrm>
                <a:off x="2225" y="579"/>
                <a:ext cx="14" cy="16"/>
              </a:xfrm>
              <a:custGeom>
                <a:avLst/>
                <a:gdLst>
                  <a:gd name="T0" fmla="*/ 5 w 14"/>
                  <a:gd name="T1" fmla="*/ 0 h 16"/>
                  <a:gd name="T2" fmla="*/ 5 w 14"/>
                  <a:gd name="T3" fmla="*/ 3 h 16"/>
                  <a:gd name="T4" fmla="*/ 5 w 14"/>
                  <a:gd name="T5" fmla="*/ 3 h 16"/>
                  <a:gd name="T6" fmla="*/ 5 w 14"/>
                  <a:gd name="T7" fmla="*/ 3 h 16"/>
                  <a:gd name="T8" fmla="*/ 6 w 14"/>
                  <a:gd name="T9" fmla="*/ 0 h 16"/>
                  <a:gd name="T10" fmla="*/ 10 w 14"/>
                  <a:gd name="T11" fmla="*/ 0 h 16"/>
                  <a:gd name="T12" fmla="*/ 10 w 14"/>
                  <a:gd name="T13" fmla="*/ 0 h 16"/>
                  <a:gd name="T14" fmla="*/ 13 w 14"/>
                  <a:gd name="T15" fmla="*/ 0 h 16"/>
                  <a:gd name="T16" fmla="*/ 14 w 14"/>
                  <a:gd name="T17" fmla="*/ 2 h 16"/>
                  <a:gd name="T18" fmla="*/ 14 w 14"/>
                  <a:gd name="T19" fmla="*/ 5 h 16"/>
                  <a:gd name="T20" fmla="*/ 14 w 14"/>
                  <a:gd name="T21" fmla="*/ 16 h 16"/>
                  <a:gd name="T22" fmla="*/ 11 w 14"/>
                  <a:gd name="T23" fmla="*/ 16 h 16"/>
                  <a:gd name="T24" fmla="*/ 11 w 14"/>
                  <a:gd name="T25" fmla="*/ 6 h 16"/>
                  <a:gd name="T26" fmla="*/ 11 w 14"/>
                  <a:gd name="T27" fmla="*/ 6 h 16"/>
                  <a:gd name="T28" fmla="*/ 11 w 14"/>
                  <a:gd name="T29" fmla="*/ 3 h 16"/>
                  <a:gd name="T30" fmla="*/ 8 w 14"/>
                  <a:gd name="T31" fmla="*/ 3 h 16"/>
                  <a:gd name="T32" fmla="*/ 8 w 14"/>
                  <a:gd name="T33" fmla="*/ 3 h 16"/>
                  <a:gd name="T34" fmla="*/ 5 w 14"/>
                  <a:gd name="T35" fmla="*/ 3 h 16"/>
                  <a:gd name="T36" fmla="*/ 5 w 14"/>
                  <a:gd name="T37" fmla="*/ 8 h 16"/>
                  <a:gd name="T38" fmla="*/ 5 w 14"/>
                  <a:gd name="T39" fmla="*/ 16 h 16"/>
                  <a:gd name="T40" fmla="*/ 0 w 14"/>
                  <a:gd name="T41" fmla="*/ 16 h 16"/>
                  <a:gd name="T42" fmla="*/ 0 w 14"/>
                  <a:gd name="T43" fmla="*/ 0 h 16"/>
                  <a:gd name="T44" fmla="*/ 5 w 14"/>
                  <a:gd name="T45" fmla="*/ 0 h 1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4"/>
                  <a:gd name="T70" fmla="*/ 0 h 16"/>
                  <a:gd name="T71" fmla="*/ 14 w 14"/>
                  <a:gd name="T72" fmla="*/ 16 h 1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4" h="16">
                    <a:moveTo>
                      <a:pt x="5" y="0"/>
                    </a:moveTo>
                    <a:lnTo>
                      <a:pt x="5" y="3"/>
                    </a:lnTo>
                    <a:lnTo>
                      <a:pt x="6" y="0"/>
                    </a:lnTo>
                    <a:lnTo>
                      <a:pt x="10" y="0"/>
                    </a:lnTo>
                    <a:lnTo>
                      <a:pt x="13" y="0"/>
                    </a:lnTo>
                    <a:lnTo>
                      <a:pt x="14" y="2"/>
                    </a:lnTo>
                    <a:lnTo>
                      <a:pt x="14" y="5"/>
                    </a:lnTo>
                    <a:lnTo>
                      <a:pt x="14" y="16"/>
                    </a:lnTo>
                    <a:lnTo>
                      <a:pt x="11" y="16"/>
                    </a:lnTo>
                    <a:lnTo>
                      <a:pt x="11" y="6"/>
                    </a:lnTo>
                    <a:lnTo>
                      <a:pt x="11" y="3"/>
                    </a:lnTo>
                    <a:lnTo>
                      <a:pt x="8" y="3"/>
                    </a:lnTo>
                    <a:lnTo>
                      <a:pt x="5" y="3"/>
                    </a:lnTo>
                    <a:lnTo>
                      <a:pt x="5" y="8"/>
                    </a:lnTo>
                    <a:lnTo>
                      <a:pt x="5" y="16"/>
                    </a:lnTo>
                    <a:lnTo>
                      <a:pt x="0" y="16"/>
                    </a:lnTo>
                    <a:lnTo>
                      <a:pt x="0" y="0"/>
                    </a:lnTo>
                    <a:lnTo>
                      <a:pt x="5" y="0"/>
                    </a:lnTo>
                    <a:close/>
                  </a:path>
                </a:pathLst>
              </a:custGeom>
              <a:solidFill>
                <a:srgbClr val="89CEC4"/>
              </a:solidFill>
              <a:ln w="9525">
                <a:noFill/>
                <a:round/>
                <a:headEnd/>
                <a:tailEnd/>
              </a:ln>
            </p:spPr>
            <p:txBody>
              <a:bodyPr wrap="none" anchor="ctr"/>
              <a:lstStyle/>
              <a:p>
                <a:endParaRPr lang="en-US"/>
              </a:p>
            </p:txBody>
          </p:sp>
          <p:sp>
            <p:nvSpPr>
              <p:cNvPr id="19481" name="Freeform 45"/>
              <p:cNvSpPr>
                <a:spLocks noChangeArrowheads="1"/>
              </p:cNvSpPr>
              <p:nvPr/>
            </p:nvSpPr>
            <p:spPr bwMode="auto">
              <a:xfrm>
                <a:off x="2244" y="579"/>
                <a:ext cx="15" cy="16"/>
              </a:xfrm>
              <a:custGeom>
                <a:avLst/>
                <a:gdLst>
                  <a:gd name="T0" fmla="*/ 15 w 15"/>
                  <a:gd name="T1" fmla="*/ 10 h 16"/>
                  <a:gd name="T2" fmla="*/ 15 w 15"/>
                  <a:gd name="T3" fmla="*/ 10 h 16"/>
                  <a:gd name="T4" fmla="*/ 15 w 15"/>
                  <a:gd name="T5" fmla="*/ 13 h 16"/>
                  <a:gd name="T6" fmla="*/ 13 w 15"/>
                  <a:gd name="T7" fmla="*/ 16 h 16"/>
                  <a:gd name="T8" fmla="*/ 10 w 15"/>
                  <a:gd name="T9" fmla="*/ 16 h 16"/>
                  <a:gd name="T10" fmla="*/ 7 w 15"/>
                  <a:gd name="T11" fmla="*/ 16 h 16"/>
                  <a:gd name="T12" fmla="*/ 7 w 15"/>
                  <a:gd name="T13" fmla="*/ 16 h 16"/>
                  <a:gd name="T14" fmla="*/ 3 w 15"/>
                  <a:gd name="T15" fmla="*/ 16 h 16"/>
                  <a:gd name="T16" fmla="*/ 0 w 15"/>
                  <a:gd name="T17" fmla="*/ 14 h 16"/>
                  <a:gd name="T18" fmla="*/ 0 w 15"/>
                  <a:gd name="T19" fmla="*/ 13 h 16"/>
                  <a:gd name="T20" fmla="*/ 0 w 15"/>
                  <a:gd name="T21" fmla="*/ 8 h 16"/>
                  <a:gd name="T22" fmla="*/ 0 w 15"/>
                  <a:gd name="T23" fmla="*/ 8 h 16"/>
                  <a:gd name="T24" fmla="*/ 0 w 15"/>
                  <a:gd name="T25" fmla="*/ 5 h 16"/>
                  <a:gd name="T26" fmla="*/ 0 w 15"/>
                  <a:gd name="T27" fmla="*/ 2 h 16"/>
                  <a:gd name="T28" fmla="*/ 3 w 15"/>
                  <a:gd name="T29" fmla="*/ 0 h 16"/>
                  <a:gd name="T30" fmla="*/ 7 w 15"/>
                  <a:gd name="T31" fmla="*/ 0 h 16"/>
                  <a:gd name="T32" fmla="*/ 7 w 15"/>
                  <a:gd name="T33" fmla="*/ 0 h 16"/>
                  <a:gd name="T34" fmla="*/ 13 w 15"/>
                  <a:gd name="T35" fmla="*/ 2 h 16"/>
                  <a:gd name="T36" fmla="*/ 15 w 15"/>
                  <a:gd name="T37" fmla="*/ 3 h 16"/>
                  <a:gd name="T38" fmla="*/ 15 w 15"/>
                  <a:gd name="T39" fmla="*/ 6 h 16"/>
                  <a:gd name="T40" fmla="*/ 10 w 15"/>
                  <a:gd name="T41" fmla="*/ 6 h 16"/>
                  <a:gd name="T42" fmla="*/ 10 w 15"/>
                  <a:gd name="T43" fmla="*/ 6 h 16"/>
                  <a:gd name="T44" fmla="*/ 10 w 15"/>
                  <a:gd name="T45" fmla="*/ 3 h 16"/>
                  <a:gd name="T46" fmla="*/ 7 w 15"/>
                  <a:gd name="T47" fmla="*/ 3 h 16"/>
                  <a:gd name="T48" fmla="*/ 7 w 15"/>
                  <a:gd name="T49" fmla="*/ 3 h 16"/>
                  <a:gd name="T50" fmla="*/ 3 w 15"/>
                  <a:gd name="T51" fmla="*/ 3 h 16"/>
                  <a:gd name="T52" fmla="*/ 3 w 15"/>
                  <a:gd name="T53" fmla="*/ 8 h 16"/>
                  <a:gd name="T54" fmla="*/ 3 w 15"/>
                  <a:gd name="T55" fmla="*/ 8 h 16"/>
                  <a:gd name="T56" fmla="*/ 3 w 15"/>
                  <a:gd name="T57" fmla="*/ 13 h 16"/>
                  <a:gd name="T58" fmla="*/ 7 w 15"/>
                  <a:gd name="T59" fmla="*/ 14 h 16"/>
                  <a:gd name="T60" fmla="*/ 7 w 15"/>
                  <a:gd name="T61" fmla="*/ 14 h 16"/>
                  <a:gd name="T62" fmla="*/ 10 w 15"/>
                  <a:gd name="T63" fmla="*/ 13 h 16"/>
                  <a:gd name="T64" fmla="*/ 10 w 15"/>
                  <a:gd name="T65" fmla="*/ 10 h 16"/>
                  <a:gd name="T66" fmla="*/ 15 w 15"/>
                  <a:gd name="T67" fmla="*/ 10 h 1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5"/>
                  <a:gd name="T103" fmla="*/ 0 h 16"/>
                  <a:gd name="T104" fmla="*/ 15 w 15"/>
                  <a:gd name="T105" fmla="*/ 16 h 1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5" h="16">
                    <a:moveTo>
                      <a:pt x="15" y="10"/>
                    </a:moveTo>
                    <a:lnTo>
                      <a:pt x="15" y="10"/>
                    </a:lnTo>
                    <a:lnTo>
                      <a:pt x="15" y="13"/>
                    </a:lnTo>
                    <a:lnTo>
                      <a:pt x="13" y="16"/>
                    </a:lnTo>
                    <a:lnTo>
                      <a:pt x="10" y="16"/>
                    </a:lnTo>
                    <a:lnTo>
                      <a:pt x="7" y="16"/>
                    </a:lnTo>
                    <a:lnTo>
                      <a:pt x="3" y="16"/>
                    </a:lnTo>
                    <a:lnTo>
                      <a:pt x="0" y="14"/>
                    </a:lnTo>
                    <a:lnTo>
                      <a:pt x="0" y="13"/>
                    </a:lnTo>
                    <a:lnTo>
                      <a:pt x="0" y="8"/>
                    </a:lnTo>
                    <a:lnTo>
                      <a:pt x="0" y="5"/>
                    </a:lnTo>
                    <a:lnTo>
                      <a:pt x="0" y="2"/>
                    </a:lnTo>
                    <a:lnTo>
                      <a:pt x="3" y="0"/>
                    </a:lnTo>
                    <a:lnTo>
                      <a:pt x="7" y="0"/>
                    </a:lnTo>
                    <a:lnTo>
                      <a:pt x="13" y="2"/>
                    </a:lnTo>
                    <a:lnTo>
                      <a:pt x="15" y="3"/>
                    </a:lnTo>
                    <a:lnTo>
                      <a:pt x="15" y="6"/>
                    </a:lnTo>
                    <a:lnTo>
                      <a:pt x="10" y="6"/>
                    </a:lnTo>
                    <a:lnTo>
                      <a:pt x="10" y="3"/>
                    </a:lnTo>
                    <a:lnTo>
                      <a:pt x="7" y="3"/>
                    </a:lnTo>
                    <a:lnTo>
                      <a:pt x="3" y="3"/>
                    </a:lnTo>
                    <a:lnTo>
                      <a:pt x="3" y="8"/>
                    </a:lnTo>
                    <a:lnTo>
                      <a:pt x="3" y="13"/>
                    </a:lnTo>
                    <a:lnTo>
                      <a:pt x="7" y="14"/>
                    </a:lnTo>
                    <a:lnTo>
                      <a:pt x="10" y="13"/>
                    </a:lnTo>
                    <a:lnTo>
                      <a:pt x="10" y="10"/>
                    </a:lnTo>
                    <a:lnTo>
                      <a:pt x="15" y="10"/>
                    </a:lnTo>
                    <a:close/>
                  </a:path>
                </a:pathLst>
              </a:custGeom>
              <a:solidFill>
                <a:srgbClr val="89CEC4"/>
              </a:solidFill>
              <a:ln w="9525">
                <a:noFill/>
                <a:round/>
                <a:headEnd/>
                <a:tailEnd/>
              </a:ln>
            </p:spPr>
            <p:txBody>
              <a:bodyPr wrap="none" anchor="ctr"/>
              <a:lstStyle/>
              <a:p>
                <a:endParaRPr lang="en-US"/>
              </a:p>
            </p:txBody>
          </p:sp>
          <p:sp>
            <p:nvSpPr>
              <p:cNvPr id="19482" name="Freeform 46"/>
              <p:cNvSpPr>
                <a:spLocks noChangeArrowheads="1"/>
              </p:cNvSpPr>
              <p:nvPr/>
            </p:nvSpPr>
            <p:spPr bwMode="auto">
              <a:xfrm>
                <a:off x="2260" y="579"/>
                <a:ext cx="16" cy="16"/>
              </a:xfrm>
              <a:custGeom>
                <a:avLst/>
                <a:gdLst>
                  <a:gd name="T0" fmla="*/ 16 w 16"/>
                  <a:gd name="T1" fmla="*/ 11 h 16"/>
                  <a:gd name="T2" fmla="*/ 16 w 16"/>
                  <a:gd name="T3" fmla="*/ 11 h 16"/>
                  <a:gd name="T4" fmla="*/ 16 w 16"/>
                  <a:gd name="T5" fmla="*/ 14 h 16"/>
                  <a:gd name="T6" fmla="*/ 15 w 16"/>
                  <a:gd name="T7" fmla="*/ 16 h 16"/>
                  <a:gd name="T8" fmla="*/ 8 w 16"/>
                  <a:gd name="T9" fmla="*/ 16 h 16"/>
                  <a:gd name="T10" fmla="*/ 8 w 16"/>
                  <a:gd name="T11" fmla="*/ 16 h 16"/>
                  <a:gd name="T12" fmla="*/ 5 w 16"/>
                  <a:gd name="T13" fmla="*/ 16 h 16"/>
                  <a:gd name="T14" fmla="*/ 2 w 16"/>
                  <a:gd name="T15" fmla="*/ 14 h 16"/>
                  <a:gd name="T16" fmla="*/ 0 w 16"/>
                  <a:gd name="T17" fmla="*/ 13 h 16"/>
                  <a:gd name="T18" fmla="*/ 0 w 16"/>
                  <a:gd name="T19" fmla="*/ 8 h 16"/>
                  <a:gd name="T20" fmla="*/ 0 w 16"/>
                  <a:gd name="T21" fmla="*/ 8 h 16"/>
                  <a:gd name="T22" fmla="*/ 0 w 16"/>
                  <a:gd name="T23" fmla="*/ 5 h 16"/>
                  <a:gd name="T24" fmla="*/ 2 w 16"/>
                  <a:gd name="T25" fmla="*/ 2 h 16"/>
                  <a:gd name="T26" fmla="*/ 5 w 16"/>
                  <a:gd name="T27" fmla="*/ 0 h 16"/>
                  <a:gd name="T28" fmla="*/ 8 w 16"/>
                  <a:gd name="T29" fmla="*/ 0 h 16"/>
                  <a:gd name="T30" fmla="*/ 8 w 16"/>
                  <a:gd name="T31" fmla="*/ 0 h 16"/>
                  <a:gd name="T32" fmla="*/ 13 w 16"/>
                  <a:gd name="T33" fmla="*/ 0 h 16"/>
                  <a:gd name="T34" fmla="*/ 15 w 16"/>
                  <a:gd name="T35" fmla="*/ 2 h 16"/>
                  <a:gd name="T36" fmla="*/ 16 w 16"/>
                  <a:gd name="T37" fmla="*/ 5 h 16"/>
                  <a:gd name="T38" fmla="*/ 16 w 16"/>
                  <a:gd name="T39" fmla="*/ 10 h 16"/>
                  <a:gd name="T40" fmla="*/ 5 w 16"/>
                  <a:gd name="T41" fmla="*/ 10 h 16"/>
                  <a:gd name="T42" fmla="*/ 5 w 16"/>
                  <a:gd name="T43" fmla="*/ 10 h 16"/>
                  <a:gd name="T44" fmla="*/ 5 w 16"/>
                  <a:gd name="T45" fmla="*/ 13 h 16"/>
                  <a:gd name="T46" fmla="*/ 8 w 16"/>
                  <a:gd name="T47" fmla="*/ 14 h 16"/>
                  <a:gd name="T48" fmla="*/ 8 w 16"/>
                  <a:gd name="T49" fmla="*/ 14 h 16"/>
                  <a:gd name="T50" fmla="*/ 11 w 16"/>
                  <a:gd name="T51" fmla="*/ 13 h 16"/>
                  <a:gd name="T52" fmla="*/ 11 w 16"/>
                  <a:gd name="T53" fmla="*/ 11 h 16"/>
                  <a:gd name="T54" fmla="*/ 16 w 16"/>
                  <a:gd name="T55" fmla="*/ 11 h 16"/>
                  <a:gd name="T56" fmla="*/ 11 w 16"/>
                  <a:gd name="T57" fmla="*/ 6 h 16"/>
                  <a:gd name="T58" fmla="*/ 11 w 16"/>
                  <a:gd name="T59" fmla="*/ 6 h 16"/>
                  <a:gd name="T60" fmla="*/ 11 w 16"/>
                  <a:gd name="T61" fmla="*/ 3 h 16"/>
                  <a:gd name="T62" fmla="*/ 8 w 16"/>
                  <a:gd name="T63" fmla="*/ 3 h 16"/>
                  <a:gd name="T64" fmla="*/ 8 w 16"/>
                  <a:gd name="T65" fmla="*/ 3 h 16"/>
                  <a:gd name="T66" fmla="*/ 5 w 16"/>
                  <a:gd name="T67" fmla="*/ 3 h 16"/>
                  <a:gd name="T68" fmla="*/ 5 w 16"/>
                  <a:gd name="T69" fmla="*/ 6 h 16"/>
                  <a:gd name="T70" fmla="*/ 11 w 16"/>
                  <a:gd name="T71" fmla="*/ 6 h 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
                  <a:gd name="T109" fmla="*/ 0 h 16"/>
                  <a:gd name="T110" fmla="*/ 16 w 16"/>
                  <a:gd name="T111" fmla="*/ 16 h 1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 h="16">
                    <a:moveTo>
                      <a:pt x="16" y="11"/>
                    </a:moveTo>
                    <a:lnTo>
                      <a:pt x="16" y="11"/>
                    </a:lnTo>
                    <a:lnTo>
                      <a:pt x="16" y="14"/>
                    </a:lnTo>
                    <a:lnTo>
                      <a:pt x="15" y="16"/>
                    </a:lnTo>
                    <a:lnTo>
                      <a:pt x="8" y="16"/>
                    </a:lnTo>
                    <a:lnTo>
                      <a:pt x="5" y="16"/>
                    </a:lnTo>
                    <a:lnTo>
                      <a:pt x="2" y="14"/>
                    </a:lnTo>
                    <a:lnTo>
                      <a:pt x="0" y="13"/>
                    </a:lnTo>
                    <a:lnTo>
                      <a:pt x="0" y="8"/>
                    </a:lnTo>
                    <a:lnTo>
                      <a:pt x="0" y="5"/>
                    </a:lnTo>
                    <a:lnTo>
                      <a:pt x="2" y="2"/>
                    </a:lnTo>
                    <a:lnTo>
                      <a:pt x="5" y="0"/>
                    </a:lnTo>
                    <a:lnTo>
                      <a:pt x="8" y="0"/>
                    </a:lnTo>
                    <a:lnTo>
                      <a:pt x="13" y="0"/>
                    </a:lnTo>
                    <a:lnTo>
                      <a:pt x="15" y="2"/>
                    </a:lnTo>
                    <a:lnTo>
                      <a:pt x="16" y="5"/>
                    </a:lnTo>
                    <a:lnTo>
                      <a:pt x="16" y="10"/>
                    </a:lnTo>
                    <a:lnTo>
                      <a:pt x="5" y="10"/>
                    </a:lnTo>
                    <a:lnTo>
                      <a:pt x="5" y="13"/>
                    </a:lnTo>
                    <a:lnTo>
                      <a:pt x="8" y="14"/>
                    </a:lnTo>
                    <a:lnTo>
                      <a:pt x="11" y="13"/>
                    </a:lnTo>
                    <a:lnTo>
                      <a:pt x="11" y="11"/>
                    </a:lnTo>
                    <a:lnTo>
                      <a:pt x="16" y="11"/>
                    </a:lnTo>
                    <a:close/>
                    <a:moveTo>
                      <a:pt x="11" y="6"/>
                    </a:moveTo>
                    <a:lnTo>
                      <a:pt x="11" y="6"/>
                    </a:lnTo>
                    <a:lnTo>
                      <a:pt x="11" y="3"/>
                    </a:lnTo>
                    <a:lnTo>
                      <a:pt x="8" y="3"/>
                    </a:lnTo>
                    <a:lnTo>
                      <a:pt x="5" y="3"/>
                    </a:lnTo>
                    <a:lnTo>
                      <a:pt x="5" y="6"/>
                    </a:lnTo>
                    <a:lnTo>
                      <a:pt x="11" y="6"/>
                    </a:lnTo>
                    <a:close/>
                  </a:path>
                </a:pathLst>
              </a:custGeom>
              <a:solidFill>
                <a:srgbClr val="89CEC4"/>
              </a:solidFill>
              <a:ln w="9525">
                <a:noFill/>
                <a:round/>
                <a:headEnd/>
                <a:tailEnd/>
              </a:ln>
            </p:spPr>
            <p:txBody>
              <a:bodyPr wrap="none" anchor="ctr"/>
              <a:lstStyle/>
              <a:p>
                <a:endParaRPr lang="en-US"/>
              </a:p>
            </p:txBody>
          </p:sp>
          <p:sp>
            <p:nvSpPr>
              <p:cNvPr id="19483" name="Freeform 47"/>
              <p:cNvSpPr>
                <a:spLocks noChangeArrowheads="1"/>
              </p:cNvSpPr>
              <p:nvPr/>
            </p:nvSpPr>
            <p:spPr bwMode="auto">
              <a:xfrm>
                <a:off x="2289" y="573"/>
                <a:ext cx="18" cy="22"/>
              </a:xfrm>
              <a:custGeom>
                <a:avLst/>
                <a:gdLst>
                  <a:gd name="T0" fmla="*/ 11 w 18"/>
                  <a:gd name="T1" fmla="*/ 22 h 22"/>
                  <a:gd name="T2" fmla="*/ 6 w 18"/>
                  <a:gd name="T3" fmla="*/ 22 h 22"/>
                  <a:gd name="T4" fmla="*/ 6 w 18"/>
                  <a:gd name="T5" fmla="*/ 3 h 22"/>
                  <a:gd name="T6" fmla="*/ 0 w 18"/>
                  <a:gd name="T7" fmla="*/ 3 h 22"/>
                  <a:gd name="T8" fmla="*/ 0 w 18"/>
                  <a:gd name="T9" fmla="*/ 0 h 22"/>
                  <a:gd name="T10" fmla="*/ 18 w 18"/>
                  <a:gd name="T11" fmla="*/ 0 h 22"/>
                  <a:gd name="T12" fmla="*/ 18 w 18"/>
                  <a:gd name="T13" fmla="*/ 3 h 22"/>
                  <a:gd name="T14" fmla="*/ 11 w 18"/>
                  <a:gd name="T15" fmla="*/ 3 h 22"/>
                  <a:gd name="T16" fmla="*/ 11 w 18"/>
                  <a:gd name="T17" fmla="*/ 22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
                  <a:gd name="T28" fmla="*/ 0 h 22"/>
                  <a:gd name="T29" fmla="*/ 18 w 18"/>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 h="22">
                    <a:moveTo>
                      <a:pt x="11" y="22"/>
                    </a:moveTo>
                    <a:lnTo>
                      <a:pt x="6" y="22"/>
                    </a:lnTo>
                    <a:lnTo>
                      <a:pt x="6" y="3"/>
                    </a:lnTo>
                    <a:lnTo>
                      <a:pt x="0" y="3"/>
                    </a:lnTo>
                    <a:lnTo>
                      <a:pt x="0" y="0"/>
                    </a:lnTo>
                    <a:lnTo>
                      <a:pt x="18" y="0"/>
                    </a:lnTo>
                    <a:lnTo>
                      <a:pt x="18" y="3"/>
                    </a:lnTo>
                    <a:lnTo>
                      <a:pt x="11" y="3"/>
                    </a:lnTo>
                    <a:lnTo>
                      <a:pt x="11" y="22"/>
                    </a:lnTo>
                    <a:close/>
                  </a:path>
                </a:pathLst>
              </a:custGeom>
              <a:solidFill>
                <a:srgbClr val="89CEC4"/>
              </a:solidFill>
              <a:ln w="9525">
                <a:noFill/>
                <a:round/>
                <a:headEnd/>
                <a:tailEnd/>
              </a:ln>
            </p:spPr>
            <p:txBody>
              <a:bodyPr wrap="none" anchor="ctr"/>
              <a:lstStyle/>
              <a:p>
                <a:endParaRPr lang="en-US"/>
              </a:p>
            </p:txBody>
          </p:sp>
          <p:sp>
            <p:nvSpPr>
              <p:cNvPr id="19484" name="Freeform 48"/>
              <p:cNvSpPr>
                <a:spLocks noChangeArrowheads="1"/>
              </p:cNvSpPr>
              <p:nvPr/>
            </p:nvSpPr>
            <p:spPr bwMode="auto">
              <a:xfrm>
                <a:off x="2305" y="579"/>
                <a:ext cx="16" cy="16"/>
              </a:xfrm>
              <a:custGeom>
                <a:avLst/>
                <a:gdLst>
                  <a:gd name="T0" fmla="*/ 16 w 16"/>
                  <a:gd name="T1" fmla="*/ 11 h 16"/>
                  <a:gd name="T2" fmla="*/ 16 w 16"/>
                  <a:gd name="T3" fmla="*/ 11 h 16"/>
                  <a:gd name="T4" fmla="*/ 14 w 16"/>
                  <a:gd name="T5" fmla="*/ 14 h 16"/>
                  <a:gd name="T6" fmla="*/ 13 w 16"/>
                  <a:gd name="T7" fmla="*/ 16 h 16"/>
                  <a:gd name="T8" fmla="*/ 8 w 16"/>
                  <a:gd name="T9" fmla="*/ 16 h 16"/>
                  <a:gd name="T10" fmla="*/ 8 w 16"/>
                  <a:gd name="T11" fmla="*/ 16 h 16"/>
                  <a:gd name="T12" fmla="*/ 5 w 16"/>
                  <a:gd name="T13" fmla="*/ 16 h 16"/>
                  <a:gd name="T14" fmla="*/ 2 w 16"/>
                  <a:gd name="T15" fmla="*/ 14 h 16"/>
                  <a:gd name="T16" fmla="*/ 0 w 16"/>
                  <a:gd name="T17" fmla="*/ 13 h 16"/>
                  <a:gd name="T18" fmla="*/ 0 w 16"/>
                  <a:gd name="T19" fmla="*/ 8 h 16"/>
                  <a:gd name="T20" fmla="*/ 0 w 16"/>
                  <a:gd name="T21" fmla="*/ 8 h 16"/>
                  <a:gd name="T22" fmla="*/ 0 w 16"/>
                  <a:gd name="T23" fmla="*/ 5 h 16"/>
                  <a:gd name="T24" fmla="*/ 2 w 16"/>
                  <a:gd name="T25" fmla="*/ 2 h 16"/>
                  <a:gd name="T26" fmla="*/ 3 w 16"/>
                  <a:gd name="T27" fmla="*/ 0 h 16"/>
                  <a:gd name="T28" fmla="*/ 8 w 16"/>
                  <a:gd name="T29" fmla="*/ 0 h 16"/>
                  <a:gd name="T30" fmla="*/ 8 w 16"/>
                  <a:gd name="T31" fmla="*/ 0 h 16"/>
                  <a:gd name="T32" fmla="*/ 13 w 16"/>
                  <a:gd name="T33" fmla="*/ 0 h 16"/>
                  <a:gd name="T34" fmla="*/ 14 w 16"/>
                  <a:gd name="T35" fmla="*/ 2 h 16"/>
                  <a:gd name="T36" fmla="*/ 16 w 16"/>
                  <a:gd name="T37" fmla="*/ 5 h 16"/>
                  <a:gd name="T38" fmla="*/ 16 w 16"/>
                  <a:gd name="T39" fmla="*/ 10 h 16"/>
                  <a:gd name="T40" fmla="*/ 5 w 16"/>
                  <a:gd name="T41" fmla="*/ 10 h 16"/>
                  <a:gd name="T42" fmla="*/ 5 w 16"/>
                  <a:gd name="T43" fmla="*/ 10 h 16"/>
                  <a:gd name="T44" fmla="*/ 5 w 16"/>
                  <a:gd name="T45" fmla="*/ 13 h 16"/>
                  <a:gd name="T46" fmla="*/ 8 w 16"/>
                  <a:gd name="T47" fmla="*/ 14 h 16"/>
                  <a:gd name="T48" fmla="*/ 8 w 16"/>
                  <a:gd name="T49" fmla="*/ 14 h 16"/>
                  <a:gd name="T50" fmla="*/ 11 w 16"/>
                  <a:gd name="T51" fmla="*/ 13 h 16"/>
                  <a:gd name="T52" fmla="*/ 11 w 16"/>
                  <a:gd name="T53" fmla="*/ 11 h 16"/>
                  <a:gd name="T54" fmla="*/ 16 w 16"/>
                  <a:gd name="T55" fmla="*/ 11 h 16"/>
                  <a:gd name="T56" fmla="*/ 11 w 16"/>
                  <a:gd name="T57" fmla="*/ 6 h 16"/>
                  <a:gd name="T58" fmla="*/ 11 w 16"/>
                  <a:gd name="T59" fmla="*/ 6 h 16"/>
                  <a:gd name="T60" fmla="*/ 11 w 16"/>
                  <a:gd name="T61" fmla="*/ 3 h 16"/>
                  <a:gd name="T62" fmla="*/ 8 w 16"/>
                  <a:gd name="T63" fmla="*/ 3 h 16"/>
                  <a:gd name="T64" fmla="*/ 8 w 16"/>
                  <a:gd name="T65" fmla="*/ 3 h 16"/>
                  <a:gd name="T66" fmla="*/ 5 w 16"/>
                  <a:gd name="T67" fmla="*/ 3 h 16"/>
                  <a:gd name="T68" fmla="*/ 5 w 16"/>
                  <a:gd name="T69" fmla="*/ 6 h 16"/>
                  <a:gd name="T70" fmla="*/ 11 w 16"/>
                  <a:gd name="T71" fmla="*/ 6 h 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
                  <a:gd name="T109" fmla="*/ 0 h 16"/>
                  <a:gd name="T110" fmla="*/ 16 w 16"/>
                  <a:gd name="T111" fmla="*/ 16 h 1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 h="16">
                    <a:moveTo>
                      <a:pt x="16" y="11"/>
                    </a:moveTo>
                    <a:lnTo>
                      <a:pt x="16" y="11"/>
                    </a:lnTo>
                    <a:lnTo>
                      <a:pt x="14" y="14"/>
                    </a:lnTo>
                    <a:lnTo>
                      <a:pt x="13" y="16"/>
                    </a:lnTo>
                    <a:lnTo>
                      <a:pt x="8" y="16"/>
                    </a:lnTo>
                    <a:lnTo>
                      <a:pt x="5" y="16"/>
                    </a:lnTo>
                    <a:lnTo>
                      <a:pt x="2" y="14"/>
                    </a:lnTo>
                    <a:lnTo>
                      <a:pt x="0" y="13"/>
                    </a:lnTo>
                    <a:lnTo>
                      <a:pt x="0" y="8"/>
                    </a:lnTo>
                    <a:lnTo>
                      <a:pt x="0" y="5"/>
                    </a:lnTo>
                    <a:lnTo>
                      <a:pt x="2" y="2"/>
                    </a:lnTo>
                    <a:lnTo>
                      <a:pt x="3" y="0"/>
                    </a:lnTo>
                    <a:lnTo>
                      <a:pt x="8" y="0"/>
                    </a:lnTo>
                    <a:lnTo>
                      <a:pt x="13" y="0"/>
                    </a:lnTo>
                    <a:lnTo>
                      <a:pt x="14" y="2"/>
                    </a:lnTo>
                    <a:lnTo>
                      <a:pt x="16" y="5"/>
                    </a:lnTo>
                    <a:lnTo>
                      <a:pt x="16" y="10"/>
                    </a:lnTo>
                    <a:lnTo>
                      <a:pt x="5" y="10"/>
                    </a:lnTo>
                    <a:lnTo>
                      <a:pt x="5" y="13"/>
                    </a:lnTo>
                    <a:lnTo>
                      <a:pt x="8" y="14"/>
                    </a:lnTo>
                    <a:lnTo>
                      <a:pt x="11" y="13"/>
                    </a:lnTo>
                    <a:lnTo>
                      <a:pt x="11" y="11"/>
                    </a:lnTo>
                    <a:lnTo>
                      <a:pt x="16" y="11"/>
                    </a:lnTo>
                    <a:close/>
                    <a:moveTo>
                      <a:pt x="11" y="6"/>
                    </a:moveTo>
                    <a:lnTo>
                      <a:pt x="11" y="6"/>
                    </a:lnTo>
                    <a:lnTo>
                      <a:pt x="11" y="3"/>
                    </a:lnTo>
                    <a:lnTo>
                      <a:pt x="8" y="3"/>
                    </a:lnTo>
                    <a:lnTo>
                      <a:pt x="5" y="3"/>
                    </a:lnTo>
                    <a:lnTo>
                      <a:pt x="5" y="6"/>
                    </a:lnTo>
                    <a:lnTo>
                      <a:pt x="11" y="6"/>
                    </a:lnTo>
                    <a:close/>
                  </a:path>
                </a:pathLst>
              </a:custGeom>
              <a:solidFill>
                <a:srgbClr val="89CEC4"/>
              </a:solidFill>
              <a:ln w="9525">
                <a:noFill/>
                <a:round/>
                <a:headEnd/>
                <a:tailEnd/>
              </a:ln>
            </p:spPr>
            <p:txBody>
              <a:bodyPr wrap="none" anchor="ctr"/>
              <a:lstStyle/>
              <a:p>
                <a:endParaRPr lang="en-US"/>
              </a:p>
            </p:txBody>
          </p:sp>
          <p:sp>
            <p:nvSpPr>
              <p:cNvPr id="19485" name="Freeform 49"/>
              <p:cNvSpPr>
                <a:spLocks noChangeArrowheads="1"/>
              </p:cNvSpPr>
              <p:nvPr/>
            </p:nvSpPr>
            <p:spPr bwMode="auto">
              <a:xfrm>
                <a:off x="2323" y="579"/>
                <a:ext cx="15" cy="16"/>
              </a:xfrm>
              <a:custGeom>
                <a:avLst/>
                <a:gdLst>
                  <a:gd name="T0" fmla="*/ 12 w 15"/>
                  <a:gd name="T1" fmla="*/ 14 h 16"/>
                  <a:gd name="T2" fmla="*/ 11 w 15"/>
                  <a:gd name="T3" fmla="*/ 14 h 16"/>
                  <a:gd name="T4" fmla="*/ 11 w 15"/>
                  <a:gd name="T5" fmla="*/ 14 h 16"/>
                  <a:gd name="T6" fmla="*/ 9 w 15"/>
                  <a:gd name="T7" fmla="*/ 16 h 16"/>
                  <a:gd name="T8" fmla="*/ 6 w 15"/>
                  <a:gd name="T9" fmla="*/ 16 h 16"/>
                  <a:gd name="T10" fmla="*/ 6 w 15"/>
                  <a:gd name="T11" fmla="*/ 16 h 16"/>
                  <a:gd name="T12" fmla="*/ 1 w 15"/>
                  <a:gd name="T13" fmla="*/ 16 h 16"/>
                  <a:gd name="T14" fmla="*/ 1 w 15"/>
                  <a:gd name="T15" fmla="*/ 14 h 16"/>
                  <a:gd name="T16" fmla="*/ 0 w 15"/>
                  <a:gd name="T17" fmla="*/ 11 h 16"/>
                  <a:gd name="T18" fmla="*/ 0 w 15"/>
                  <a:gd name="T19" fmla="*/ 11 h 16"/>
                  <a:gd name="T20" fmla="*/ 1 w 15"/>
                  <a:gd name="T21" fmla="*/ 10 h 16"/>
                  <a:gd name="T22" fmla="*/ 1 w 15"/>
                  <a:gd name="T23" fmla="*/ 8 h 16"/>
                  <a:gd name="T24" fmla="*/ 6 w 15"/>
                  <a:gd name="T25" fmla="*/ 6 h 16"/>
                  <a:gd name="T26" fmla="*/ 6 w 15"/>
                  <a:gd name="T27" fmla="*/ 6 h 16"/>
                  <a:gd name="T28" fmla="*/ 9 w 15"/>
                  <a:gd name="T29" fmla="*/ 6 h 16"/>
                  <a:gd name="T30" fmla="*/ 11 w 15"/>
                  <a:gd name="T31" fmla="*/ 8 h 16"/>
                  <a:gd name="T32" fmla="*/ 11 w 15"/>
                  <a:gd name="T33" fmla="*/ 8 h 16"/>
                  <a:gd name="T34" fmla="*/ 11 w 15"/>
                  <a:gd name="T35" fmla="*/ 6 h 16"/>
                  <a:gd name="T36" fmla="*/ 11 w 15"/>
                  <a:gd name="T37" fmla="*/ 6 h 16"/>
                  <a:gd name="T38" fmla="*/ 11 w 15"/>
                  <a:gd name="T39" fmla="*/ 3 h 16"/>
                  <a:gd name="T40" fmla="*/ 8 w 15"/>
                  <a:gd name="T41" fmla="*/ 3 h 16"/>
                  <a:gd name="T42" fmla="*/ 8 w 15"/>
                  <a:gd name="T43" fmla="*/ 3 h 16"/>
                  <a:gd name="T44" fmla="*/ 6 w 15"/>
                  <a:gd name="T45" fmla="*/ 3 h 16"/>
                  <a:gd name="T46" fmla="*/ 4 w 15"/>
                  <a:gd name="T47" fmla="*/ 5 h 16"/>
                  <a:gd name="T48" fmla="*/ 1 w 15"/>
                  <a:gd name="T49" fmla="*/ 5 h 16"/>
                  <a:gd name="T50" fmla="*/ 1 w 15"/>
                  <a:gd name="T51" fmla="*/ 5 h 16"/>
                  <a:gd name="T52" fmla="*/ 1 w 15"/>
                  <a:gd name="T53" fmla="*/ 2 h 16"/>
                  <a:gd name="T54" fmla="*/ 3 w 15"/>
                  <a:gd name="T55" fmla="*/ 0 h 16"/>
                  <a:gd name="T56" fmla="*/ 8 w 15"/>
                  <a:gd name="T57" fmla="*/ 0 h 16"/>
                  <a:gd name="T58" fmla="*/ 8 w 15"/>
                  <a:gd name="T59" fmla="*/ 0 h 16"/>
                  <a:gd name="T60" fmla="*/ 11 w 15"/>
                  <a:gd name="T61" fmla="*/ 0 h 16"/>
                  <a:gd name="T62" fmla="*/ 14 w 15"/>
                  <a:gd name="T63" fmla="*/ 2 h 16"/>
                  <a:gd name="T64" fmla="*/ 15 w 15"/>
                  <a:gd name="T65" fmla="*/ 3 h 16"/>
                  <a:gd name="T66" fmla="*/ 15 w 15"/>
                  <a:gd name="T67" fmla="*/ 6 h 16"/>
                  <a:gd name="T68" fmla="*/ 15 w 15"/>
                  <a:gd name="T69" fmla="*/ 16 h 16"/>
                  <a:gd name="T70" fmla="*/ 11 w 15"/>
                  <a:gd name="T71" fmla="*/ 16 h 16"/>
                  <a:gd name="T72" fmla="*/ 12 w 15"/>
                  <a:gd name="T73" fmla="*/ 14 h 16"/>
                  <a:gd name="T74" fmla="*/ 4 w 15"/>
                  <a:gd name="T75" fmla="*/ 11 h 16"/>
                  <a:gd name="T76" fmla="*/ 4 w 15"/>
                  <a:gd name="T77" fmla="*/ 11 h 16"/>
                  <a:gd name="T78" fmla="*/ 4 w 15"/>
                  <a:gd name="T79" fmla="*/ 13 h 16"/>
                  <a:gd name="T80" fmla="*/ 8 w 15"/>
                  <a:gd name="T81" fmla="*/ 14 h 16"/>
                  <a:gd name="T82" fmla="*/ 8 w 15"/>
                  <a:gd name="T83" fmla="*/ 14 h 16"/>
                  <a:gd name="T84" fmla="*/ 11 w 15"/>
                  <a:gd name="T85" fmla="*/ 13 h 16"/>
                  <a:gd name="T86" fmla="*/ 11 w 15"/>
                  <a:gd name="T87" fmla="*/ 11 h 16"/>
                  <a:gd name="T88" fmla="*/ 11 w 15"/>
                  <a:gd name="T89" fmla="*/ 11 h 16"/>
                  <a:gd name="T90" fmla="*/ 11 w 15"/>
                  <a:gd name="T91" fmla="*/ 10 h 16"/>
                  <a:gd name="T92" fmla="*/ 8 w 15"/>
                  <a:gd name="T93" fmla="*/ 10 h 16"/>
                  <a:gd name="T94" fmla="*/ 8 w 15"/>
                  <a:gd name="T95" fmla="*/ 10 h 16"/>
                  <a:gd name="T96" fmla="*/ 6 w 15"/>
                  <a:gd name="T97" fmla="*/ 10 h 16"/>
                  <a:gd name="T98" fmla="*/ 4 w 15"/>
                  <a:gd name="T99" fmla="*/ 11 h 16"/>
                  <a:gd name="T100" fmla="*/ 4 w 15"/>
                  <a:gd name="T101" fmla="*/ 11 h 1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5"/>
                  <a:gd name="T154" fmla="*/ 0 h 16"/>
                  <a:gd name="T155" fmla="*/ 15 w 15"/>
                  <a:gd name="T156" fmla="*/ 16 h 1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5" h="16">
                    <a:moveTo>
                      <a:pt x="12" y="14"/>
                    </a:moveTo>
                    <a:lnTo>
                      <a:pt x="11" y="14"/>
                    </a:lnTo>
                    <a:lnTo>
                      <a:pt x="9" y="16"/>
                    </a:lnTo>
                    <a:lnTo>
                      <a:pt x="6" y="16"/>
                    </a:lnTo>
                    <a:lnTo>
                      <a:pt x="1" y="16"/>
                    </a:lnTo>
                    <a:lnTo>
                      <a:pt x="1" y="14"/>
                    </a:lnTo>
                    <a:lnTo>
                      <a:pt x="0" y="11"/>
                    </a:lnTo>
                    <a:lnTo>
                      <a:pt x="1" y="10"/>
                    </a:lnTo>
                    <a:lnTo>
                      <a:pt x="1" y="8"/>
                    </a:lnTo>
                    <a:lnTo>
                      <a:pt x="6" y="6"/>
                    </a:lnTo>
                    <a:lnTo>
                      <a:pt x="9" y="6"/>
                    </a:lnTo>
                    <a:lnTo>
                      <a:pt x="11" y="8"/>
                    </a:lnTo>
                    <a:lnTo>
                      <a:pt x="11" y="6"/>
                    </a:lnTo>
                    <a:lnTo>
                      <a:pt x="11" y="3"/>
                    </a:lnTo>
                    <a:lnTo>
                      <a:pt x="8" y="3"/>
                    </a:lnTo>
                    <a:lnTo>
                      <a:pt x="6" y="3"/>
                    </a:lnTo>
                    <a:lnTo>
                      <a:pt x="4" y="5"/>
                    </a:lnTo>
                    <a:lnTo>
                      <a:pt x="1" y="5"/>
                    </a:lnTo>
                    <a:lnTo>
                      <a:pt x="1" y="2"/>
                    </a:lnTo>
                    <a:lnTo>
                      <a:pt x="3" y="0"/>
                    </a:lnTo>
                    <a:lnTo>
                      <a:pt x="8" y="0"/>
                    </a:lnTo>
                    <a:lnTo>
                      <a:pt x="11" y="0"/>
                    </a:lnTo>
                    <a:lnTo>
                      <a:pt x="14" y="2"/>
                    </a:lnTo>
                    <a:lnTo>
                      <a:pt x="15" y="3"/>
                    </a:lnTo>
                    <a:lnTo>
                      <a:pt x="15" y="6"/>
                    </a:lnTo>
                    <a:lnTo>
                      <a:pt x="15" y="16"/>
                    </a:lnTo>
                    <a:lnTo>
                      <a:pt x="11" y="16"/>
                    </a:lnTo>
                    <a:lnTo>
                      <a:pt x="12" y="14"/>
                    </a:lnTo>
                    <a:close/>
                    <a:moveTo>
                      <a:pt x="4" y="11"/>
                    </a:moveTo>
                    <a:lnTo>
                      <a:pt x="4" y="11"/>
                    </a:lnTo>
                    <a:lnTo>
                      <a:pt x="4" y="13"/>
                    </a:lnTo>
                    <a:lnTo>
                      <a:pt x="8" y="14"/>
                    </a:lnTo>
                    <a:lnTo>
                      <a:pt x="11" y="13"/>
                    </a:lnTo>
                    <a:lnTo>
                      <a:pt x="11" y="11"/>
                    </a:lnTo>
                    <a:lnTo>
                      <a:pt x="11" y="10"/>
                    </a:lnTo>
                    <a:lnTo>
                      <a:pt x="8" y="10"/>
                    </a:lnTo>
                    <a:lnTo>
                      <a:pt x="6" y="10"/>
                    </a:lnTo>
                    <a:lnTo>
                      <a:pt x="4" y="11"/>
                    </a:lnTo>
                    <a:close/>
                  </a:path>
                </a:pathLst>
              </a:custGeom>
              <a:solidFill>
                <a:srgbClr val="89CEC4"/>
              </a:solidFill>
              <a:ln w="9525">
                <a:noFill/>
                <a:round/>
                <a:headEnd/>
                <a:tailEnd/>
              </a:ln>
            </p:spPr>
            <p:txBody>
              <a:bodyPr wrap="none" anchor="ctr"/>
              <a:lstStyle/>
              <a:p>
                <a:endParaRPr lang="en-US"/>
              </a:p>
            </p:txBody>
          </p:sp>
          <p:sp>
            <p:nvSpPr>
              <p:cNvPr id="19486" name="Freeform 50"/>
              <p:cNvSpPr>
                <a:spLocks noChangeArrowheads="1"/>
              </p:cNvSpPr>
              <p:nvPr/>
            </p:nvSpPr>
            <p:spPr bwMode="auto">
              <a:xfrm>
                <a:off x="2342" y="579"/>
                <a:ext cx="14" cy="16"/>
              </a:xfrm>
              <a:custGeom>
                <a:avLst/>
                <a:gdLst>
                  <a:gd name="T0" fmla="*/ 14 w 14"/>
                  <a:gd name="T1" fmla="*/ 10 h 16"/>
                  <a:gd name="T2" fmla="*/ 14 w 14"/>
                  <a:gd name="T3" fmla="*/ 10 h 16"/>
                  <a:gd name="T4" fmla="*/ 14 w 14"/>
                  <a:gd name="T5" fmla="*/ 13 h 16"/>
                  <a:gd name="T6" fmla="*/ 12 w 14"/>
                  <a:gd name="T7" fmla="*/ 16 h 16"/>
                  <a:gd name="T8" fmla="*/ 11 w 14"/>
                  <a:gd name="T9" fmla="*/ 16 h 16"/>
                  <a:gd name="T10" fmla="*/ 8 w 14"/>
                  <a:gd name="T11" fmla="*/ 16 h 16"/>
                  <a:gd name="T12" fmla="*/ 8 w 14"/>
                  <a:gd name="T13" fmla="*/ 16 h 16"/>
                  <a:gd name="T14" fmla="*/ 3 w 14"/>
                  <a:gd name="T15" fmla="*/ 16 h 16"/>
                  <a:gd name="T16" fmla="*/ 1 w 14"/>
                  <a:gd name="T17" fmla="*/ 14 h 16"/>
                  <a:gd name="T18" fmla="*/ 0 w 14"/>
                  <a:gd name="T19" fmla="*/ 13 h 16"/>
                  <a:gd name="T20" fmla="*/ 0 w 14"/>
                  <a:gd name="T21" fmla="*/ 8 h 16"/>
                  <a:gd name="T22" fmla="*/ 0 w 14"/>
                  <a:gd name="T23" fmla="*/ 8 h 16"/>
                  <a:gd name="T24" fmla="*/ 0 w 14"/>
                  <a:gd name="T25" fmla="*/ 5 h 16"/>
                  <a:gd name="T26" fmla="*/ 1 w 14"/>
                  <a:gd name="T27" fmla="*/ 2 h 16"/>
                  <a:gd name="T28" fmla="*/ 3 w 14"/>
                  <a:gd name="T29" fmla="*/ 0 h 16"/>
                  <a:gd name="T30" fmla="*/ 8 w 14"/>
                  <a:gd name="T31" fmla="*/ 0 h 16"/>
                  <a:gd name="T32" fmla="*/ 8 w 14"/>
                  <a:gd name="T33" fmla="*/ 0 h 16"/>
                  <a:gd name="T34" fmla="*/ 12 w 14"/>
                  <a:gd name="T35" fmla="*/ 2 h 16"/>
                  <a:gd name="T36" fmla="*/ 14 w 14"/>
                  <a:gd name="T37" fmla="*/ 3 h 16"/>
                  <a:gd name="T38" fmla="*/ 14 w 14"/>
                  <a:gd name="T39" fmla="*/ 6 h 16"/>
                  <a:gd name="T40" fmla="*/ 11 w 14"/>
                  <a:gd name="T41" fmla="*/ 6 h 16"/>
                  <a:gd name="T42" fmla="*/ 11 w 14"/>
                  <a:gd name="T43" fmla="*/ 6 h 16"/>
                  <a:gd name="T44" fmla="*/ 9 w 14"/>
                  <a:gd name="T45" fmla="*/ 3 h 16"/>
                  <a:gd name="T46" fmla="*/ 8 w 14"/>
                  <a:gd name="T47" fmla="*/ 3 h 16"/>
                  <a:gd name="T48" fmla="*/ 8 w 14"/>
                  <a:gd name="T49" fmla="*/ 3 h 16"/>
                  <a:gd name="T50" fmla="*/ 4 w 14"/>
                  <a:gd name="T51" fmla="*/ 3 h 16"/>
                  <a:gd name="T52" fmla="*/ 4 w 14"/>
                  <a:gd name="T53" fmla="*/ 8 h 16"/>
                  <a:gd name="T54" fmla="*/ 4 w 14"/>
                  <a:gd name="T55" fmla="*/ 8 h 16"/>
                  <a:gd name="T56" fmla="*/ 4 w 14"/>
                  <a:gd name="T57" fmla="*/ 13 h 16"/>
                  <a:gd name="T58" fmla="*/ 8 w 14"/>
                  <a:gd name="T59" fmla="*/ 14 h 16"/>
                  <a:gd name="T60" fmla="*/ 8 w 14"/>
                  <a:gd name="T61" fmla="*/ 14 h 16"/>
                  <a:gd name="T62" fmla="*/ 11 w 14"/>
                  <a:gd name="T63" fmla="*/ 13 h 16"/>
                  <a:gd name="T64" fmla="*/ 11 w 14"/>
                  <a:gd name="T65" fmla="*/ 10 h 16"/>
                  <a:gd name="T66" fmla="*/ 14 w 14"/>
                  <a:gd name="T67" fmla="*/ 10 h 1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4"/>
                  <a:gd name="T103" fmla="*/ 0 h 16"/>
                  <a:gd name="T104" fmla="*/ 14 w 14"/>
                  <a:gd name="T105" fmla="*/ 16 h 1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4" h="16">
                    <a:moveTo>
                      <a:pt x="14" y="10"/>
                    </a:moveTo>
                    <a:lnTo>
                      <a:pt x="14" y="10"/>
                    </a:lnTo>
                    <a:lnTo>
                      <a:pt x="14" y="13"/>
                    </a:lnTo>
                    <a:lnTo>
                      <a:pt x="12" y="16"/>
                    </a:lnTo>
                    <a:lnTo>
                      <a:pt x="11" y="16"/>
                    </a:lnTo>
                    <a:lnTo>
                      <a:pt x="8" y="16"/>
                    </a:lnTo>
                    <a:lnTo>
                      <a:pt x="3" y="16"/>
                    </a:lnTo>
                    <a:lnTo>
                      <a:pt x="1" y="14"/>
                    </a:lnTo>
                    <a:lnTo>
                      <a:pt x="0" y="13"/>
                    </a:lnTo>
                    <a:lnTo>
                      <a:pt x="0" y="8"/>
                    </a:lnTo>
                    <a:lnTo>
                      <a:pt x="0" y="5"/>
                    </a:lnTo>
                    <a:lnTo>
                      <a:pt x="1" y="2"/>
                    </a:lnTo>
                    <a:lnTo>
                      <a:pt x="3" y="0"/>
                    </a:lnTo>
                    <a:lnTo>
                      <a:pt x="8" y="0"/>
                    </a:lnTo>
                    <a:lnTo>
                      <a:pt x="12" y="2"/>
                    </a:lnTo>
                    <a:lnTo>
                      <a:pt x="14" y="3"/>
                    </a:lnTo>
                    <a:lnTo>
                      <a:pt x="14" y="6"/>
                    </a:lnTo>
                    <a:lnTo>
                      <a:pt x="11" y="6"/>
                    </a:lnTo>
                    <a:lnTo>
                      <a:pt x="9" y="3"/>
                    </a:lnTo>
                    <a:lnTo>
                      <a:pt x="8" y="3"/>
                    </a:lnTo>
                    <a:lnTo>
                      <a:pt x="4" y="3"/>
                    </a:lnTo>
                    <a:lnTo>
                      <a:pt x="4" y="8"/>
                    </a:lnTo>
                    <a:lnTo>
                      <a:pt x="4" y="13"/>
                    </a:lnTo>
                    <a:lnTo>
                      <a:pt x="8" y="14"/>
                    </a:lnTo>
                    <a:lnTo>
                      <a:pt x="11" y="13"/>
                    </a:lnTo>
                    <a:lnTo>
                      <a:pt x="11" y="10"/>
                    </a:lnTo>
                    <a:lnTo>
                      <a:pt x="14" y="10"/>
                    </a:lnTo>
                    <a:close/>
                  </a:path>
                </a:pathLst>
              </a:custGeom>
              <a:solidFill>
                <a:srgbClr val="89CEC4"/>
              </a:solidFill>
              <a:ln w="9525">
                <a:noFill/>
                <a:round/>
                <a:headEnd/>
                <a:tailEnd/>
              </a:ln>
            </p:spPr>
            <p:txBody>
              <a:bodyPr wrap="none" anchor="ctr"/>
              <a:lstStyle/>
              <a:p>
                <a:endParaRPr lang="en-US"/>
              </a:p>
            </p:txBody>
          </p:sp>
          <p:sp>
            <p:nvSpPr>
              <p:cNvPr id="19487" name="Freeform 51"/>
              <p:cNvSpPr>
                <a:spLocks noChangeArrowheads="1"/>
              </p:cNvSpPr>
              <p:nvPr/>
            </p:nvSpPr>
            <p:spPr bwMode="auto">
              <a:xfrm>
                <a:off x="2359" y="573"/>
                <a:ext cx="15" cy="22"/>
              </a:xfrm>
              <a:custGeom>
                <a:avLst/>
                <a:gdLst>
                  <a:gd name="T0" fmla="*/ 5 w 15"/>
                  <a:gd name="T1" fmla="*/ 9 h 22"/>
                  <a:gd name="T2" fmla="*/ 5 w 15"/>
                  <a:gd name="T3" fmla="*/ 9 h 22"/>
                  <a:gd name="T4" fmla="*/ 5 w 15"/>
                  <a:gd name="T5" fmla="*/ 9 h 22"/>
                  <a:gd name="T6" fmla="*/ 7 w 15"/>
                  <a:gd name="T7" fmla="*/ 6 h 22"/>
                  <a:gd name="T8" fmla="*/ 10 w 15"/>
                  <a:gd name="T9" fmla="*/ 6 h 22"/>
                  <a:gd name="T10" fmla="*/ 10 w 15"/>
                  <a:gd name="T11" fmla="*/ 6 h 22"/>
                  <a:gd name="T12" fmla="*/ 13 w 15"/>
                  <a:gd name="T13" fmla="*/ 6 h 22"/>
                  <a:gd name="T14" fmla="*/ 15 w 15"/>
                  <a:gd name="T15" fmla="*/ 8 h 22"/>
                  <a:gd name="T16" fmla="*/ 15 w 15"/>
                  <a:gd name="T17" fmla="*/ 11 h 22"/>
                  <a:gd name="T18" fmla="*/ 15 w 15"/>
                  <a:gd name="T19" fmla="*/ 22 h 22"/>
                  <a:gd name="T20" fmla="*/ 11 w 15"/>
                  <a:gd name="T21" fmla="*/ 22 h 22"/>
                  <a:gd name="T22" fmla="*/ 11 w 15"/>
                  <a:gd name="T23" fmla="*/ 12 h 22"/>
                  <a:gd name="T24" fmla="*/ 11 w 15"/>
                  <a:gd name="T25" fmla="*/ 12 h 22"/>
                  <a:gd name="T26" fmla="*/ 11 w 15"/>
                  <a:gd name="T27" fmla="*/ 9 h 22"/>
                  <a:gd name="T28" fmla="*/ 8 w 15"/>
                  <a:gd name="T29" fmla="*/ 9 h 22"/>
                  <a:gd name="T30" fmla="*/ 8 w 15"/>
                  <a:gd name="T31" fmla="*/ 9 h 22"/>
                  <a:gd name="T32" fmla="*/ 5 w 15"/>
                  <a:gd name="T33" fmla="*/ 9 h 22"/>
                  <a:gd name="T34" fmla="*/ 5 w 15"/>
                  <a:gd name="T35" fmla="*/ 14 h 22"/>
                  <a:gd name="T36" fmla="*/ 5 w 15"/>
                  <a:gd name="T37" fmla="*/ 22 h 22"/>
                  <a:gd name="T38" fmla="*/ 0 w 15"/>
                  <a:gd name="T39" fmla="*/ 22 h 22"/>
                  <a:gd name="T40" fmla="*/ 0 w 15"/>
                  <a:gd name="T41" fmla="*/ 0 h 22"/>
                  <a:gd name="T42" fmla="*/ 5 w 15"/>
                  <a:gd name="T43" fmla="*/ 0 h 22"/>
                  <a:gd name="T44" fmla="*/ 5 w 15"/>
                  <a:gd name="T45" fmla="*/ 9 h 2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5"/>
                  <a:gd name="T70" fmla="*/ 0 h 22"/>
                  <a:gd name="T71" fmla="*/ 15 w 15"/>
                  <a:gd name="T72" fmla="*/ 22 h 2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5" h="22">
                    <a:moveTo>
                      <a:pt x="5" y="9"/>
                    </a:moveTo>
                    <a:lnTo>
                      <a:pt x="5" y="9"/>
                    </a:lnTo>
                    <a:lnTo>
                      <a:pt x="7" y="6"/>
                    </a:lnTo>
                    <a:lnTo>
                      <a:pt x="10" y="6"/>
                    </a:lnTo>
                    <a:lnTo>
                      <a:pt x="13" y="6"/>
                    </a:lnTo>
                    <a:lnTo>
                      <a:pt x="15" y="8"/>
                    </a:lnTo>
                    <a:lnTo>
                      <a:pt x="15" y="11"/>
                    </a:lnTo>
                    <a:lnTo>
                      <a:pt x="15" y="22"/>
                    </a:lnTo>
                    <a:lnTo>
                      <a:pt x="11" y="22"/>
                    </a:lnTo>
                    <a:lnTo>
                      <a:pt x="11" y="12"/>
                    </a:lnTo>
                    <a:lnTo>
                      <a:pt x="11" y="9"/>
                    </a:lnTo>
                    <a:lnTo>
                      <a:pt x="8" y="9"/>
                    </a:lnTo>
                    <a:lnTo>
                      <a:pt x="5" y="9"/>
                    </a:lnTo>
                    <a:lnTo>
                      <a:pt x="5" y="14"/>
                    </a:lnTo>
                    <a:lnTo>
                      <a:pt x="5" y="22"/>
                    </a:lnTo>
                    <a:lnTo>
                      <a:pt x="0" y="22"/>
                    </a:lnTo>
                    <a:lnTo>
                      <a:pt x="0" y="0"/>
                    </a:lnTo>
                    <a:lnTo>
                      <a:pt x="5" y="0"/>
                    </a:lnTo>
                    <a:lnTo>
                      <a:pt x="5" y="9"/>
                    </a:lnTo>
                    <a:close/>
                  </a:path>
                </a:pathLst>
              </a:custGeom>
              <a:solidFill>
                <a:srgbClr val="89CEC4"/>
              </a:solidFill>
              <a:ln w="9525">
                <a:noFill/>
                <a:round/>
                <a:headEnd/>
                <a:tailEnd/>
              </a:ln>
            </p:spPr>
            <p:txBody>
              <a:bodyPr wrap="none" anchor="ctr"/>
              <a:lstStyle/>
              <a:p>
                <a:endParaRPr lang="en-US"/>
              </a:p>
            </p:txBody>
          </p:sp>
          <p:sp>
            <p:nvSpPr>
              <p:cNvPr id="19488" name="Freeform 52"/>
              <p:cNvSpPr>
                <a:spLocks noChangeArrowheads="1"/>
              </p:cNvSpPr>
              <p:nvPr/>
            </p:nvSpPr>
            <p:spPr bwMode="auto">
              <a:xfrm>
                <a:off x="2377" y="579"/>
                <a:ext cx="16" cy="16"/>
              </a:xfrm>
              <a:custGeom>
                <a:avLst/>
                <a:gdLst>
                  <a:gd name="T0" fmla="*/ 16 w 16"/>
                  <a:gd name="T1" fmla="*/ 11 h 16"/>
                  <a:gd name="T2" fmla="*/ 16 w 16"/>
                  <a:gd name="T3" fmla="*/ 11 h 16"/>
                  <a:gd name="T4" fmla="*/ 16 w 16"/>
                  <a:gd name="T5" fmla="*/ 14 h 16"/>
                  <a:gd name="T6" fmla="*/ 14 w 16"/>
                  <a:gd name="T7" fmla="*/ 16 h 16"/>
                  <a:gd name="T8" fmla="*/ 8 w 16"/>
                  <a:gd name="T9" fmla="*/ 16 h 16"/>
                  <a:gd name="T10" fmla="*/ 8 w 16"/>
                  <a:gd name="T11" fmla="*/ 16 h 16"/>
                  <a:gd name="T12" fmla="*/ 5 w 16"/>
                  <a:gd name="T13" fmla="*/ 16 h 16"/>
                  <a:gd name="T14" fmla="*/ 1 w 16"/>
                  <a:gd name="T15" fmla="*/ 14 h 16"/>
                  <a:gd name="T16" fmla="*/ 1 w 16"/>
                  <a:gd name="T17" fmla="*/ 13 h 16"/>
                  <a:gd name="T18" fmla="*/ 0 w 16"/>
                  <a:gd name="T19" fmla="*/ 8 h 16"/>
                  <a:gd name="T20" fmla="*/ 0 w 16"/>
                  <a:gd name="T21" fmla="*/ 8 h 16"/>
                  <a:gd name="T22" fmla="*/ 1 w 16"/>
                  <a:gd name="T23" fmla="*/ 5 h 16"/>
                  <a:gd name="T24" fmla="*/ 1 w 16"/>
                  <a:gd name="T25" fmla="*/ 2 h 16"/>
                  <a:gd name="T26" fmla="*/ 5 w 16"/>
                  <a:gd name="T27" fmla="*/ 0 h 16"/>
                  <a:gd name="T28" fmla="*/ 8 w 16"/>
                  <a:gd name="T29" fmla="*/ 0 h 16"/>
                  <a:gd name="T30" fmla="*/ 8 w 16"/>
                  <a:gd name="T31" fmla="*/ 0 h 16"/>
                  <a:gd name="T32" fmla="*/ 13 w 16"/>
                  <a:gd name="T33" fmla="*/ 0 h 16"/>
                  <a:gd name="T34" fmla="*/ 14 w 16"/>
                  <a:gd name="T35" fmla="*/ 2 h 16"/>
                  <a:gd name="T36" fmla="*/ 16 w 16"/>
                  <a:gd name="T37" fmla="*/ 5 h 16"/>
                  <a:gd name="T38" fmla="*/ 16 w 16"/>
                  <a:gd name="T39" fmla="*/ 10 h 16"/>
                  <a:gd name="T40" fmla="*/ 5 w 16"/>
                  <a:gd name="T41" fmla="*/ 10 h 16"/>
                  <a:gd name="T42" fmla="*/ 5 w 16"/>
                  <a:gd name="T43" fmla="*/ 10 h 16"/>
                  <a:gd name="T44" fmla="*/ 5 w 16"/>
                  <a:gd name="T45" fmla="*/ 13 h 16"/>
                  <a:gd name="T46" fmla="*/ 8 w 16"/>
                  <a:gd name="T47" fmla="*/ 14 h 16"/>
                  <a:gd name="T48" fmla="*/ 8 w 16"/>
                  <a:gd name="T49" fmla="*/ 14 h 16"/>
                  <a:gd name="T50" fmla="*/ 11 w 16"/>
                  <a:gd name="T51" fmla="*/ 13 h 16"/>
                  <a:gd name="T52" fmla="*/ 13 w 16"/>
                  <a:gd name="T53" fmla="*/ 11 h 16"/>
                  <a:gd name="T54" fmla="*/ 16 w 16"/>
                  <a:gd name="T55" fmla="*/ 11 h 16"/>
                  <a:gd name="T56" fmla="*/ 13 w 16"/>
                  <a:gd name="T57" fmla="*/ 6 h 16"/>
                  <a:gd name="T58" fmla="*/ 13 w 16"/>
                  <a:gd name="T59" fmla="*/ 6 h 16"/>
                  <a:gd name="T60" fmla="*/ 11 w 16"/>
                  <a:gd name="T61" fmla="*/ 3 h 16"/>
                  <a:gd name="T62" fmla="*/ 8 w 16"/>
                  <a:gd name="T63" fmla="*/ 3 h 16"/>
                  <a:gd name="T64" fmla="*/ 8 w 16"/>
                  <a:gd name="T65" fmla="*/ 3 h 16"/>
                  <a:gd name="T66" fmla="*/ 5 w 16"/>
                  <a:gd name="T67" fmla="*/ 3 h 16"/>
                  <a:gd name="T68" fmla="*/ 5 w 16"/>
                  <a:gd name="T69" fmla="*/ 6 h 16"/>
                  <a:gd name="T70" fmla="*/ 13 w 16"/>
                  <a:gd name="T71" fmla="*/ 6 h 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
                  <a:gd name="T109" fmla="*/ 0 h 16"/>
                  <a:gd name="T110" fmla="*/ 16 w 16"/>
                  <a:gd name="T111" fmla="*/ 16 h 1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 h="16">
                    <a:moveTo>
                      <a:pt x="16" y="11"/>
                    </a:moveTo>
                    <a:lnTo>
                      <a:pt x="16" y="11"/>
                    </a:lnTo>
                    <a:lnTo>
                      <a:pt x="16" y="14"/>
                    </a:lnTo>
                    <a:lnTo>
                      <a:pt x="14" y="16"/>
                    </a:lnTo>
                    <a:lnTo>
                      <a:pt x="8" y="16"/>
                    </a:lnTo>
                    <a:lnTo>
                      <a:pt x="5" y="16"/>
                    </a:lnTo>
                    <a:lnTo>
                      <a:pt x="1" y="14"/>
                    </a:lnTo>
                    <a:lnTo>
                      <a:pt x="1" y="13"/>
                    </a:lnTo>
                    <a:lnTo>
                      <a:pt x="0" y="8"/>
                    </a:lnTo>
                    <a:lnTo>
                      <a:pt x="1" y="5"/>
                    </a:lnTo>
                    <a:lnTo>
                      <a:pt x="1" y="2"/>
                    </a:lnTo>
                    <a:lnTo>
                      <a:pt x="5" y="0"/>
                    </a:lnTo>
                    <a:lnTo>
                      <a:pt x="8" y="0"/>
                    </a:lnTo>
                    <a:lnTo>
                      <a:pt x="13" y="0"/>
                    </a:lnTo>
                    <a:lnTo>
                      <a:pt x="14" y="2"/>
                    </a:lnTo>
                    <a:lnTo>
                      <a:pt x="16" y="5"/>
                    </a:lnTo>
                    <a:lnTo>
                      <a:pt x="16" y="10"/>
                    </a:lnTo>
                    <a:lnTo>
                      <a:pt x="5" y="10"/>
                    </a:lnTo>
                    <a:lnTo>
                      <a:pt x="5" y="13"/>
                    </a:lnTo>
                    <a:lnTo>
                      <a:pt x="8" y="14"/>
                    </a:lnTo>
                    <a:lnTo>
                      <a:pt x="11" y="13"/>
                    </a:lnTo>
                    <a:lnTo>
                      <a:pt x="13" y="11"/>
                    </a:lnTo>
                    <a:lnTo>
                      <a:pt x="16" y="11"/>
                    </a:lnTo>
                    <a:close/>
                    <a:moveTo>
                      <a:pt x="13" y="6"/>
                    </a:moveTo>
                    <a:lnTo>
                      <a:pt x="13" y="6"/>
                    </a:lnTo>
                    <a:lnTo>
                      <a:pt x="11" y="3"/>
                    </a:lnTo>
                    <a:lnTo>
                      <a:pt x="8" y="3"/>
                    </a:lnTo>
                    <a:lnTo>
                      <a:pt x="5" y="3"/>
                    </a:lnTo>
                    <a:lnTo>
                      <a:pt x="5" y="6"/>
                    </a:lnTo>
                    <a:lnTo>
                      <a:pt x="13" y="6"/>
                    </a:lnTo>
                    <a:close/>
                  </a:path>
                </a:pathLst>
              </a:custGeom>
              <a:solidFill>
                <a:srgbClr val="89CEC4"/>
              </a:solidFill>
              <a:ln w="9525">
                <a:noFill/>
                <a:round/>
                <a:headEnd/>
                <a:tailEnd/>
              </a:ln>
            </p:spPr>
            <p:txBody>
              <a:bodyPr wrap="none" anchor="ctr"/>
              <a:lstStyle/>
              <a:p>
                <a:endParaRPr lang="en-US"/>
              </a:p>
            </p:txBody>
          </p:sp>
          <p:sp>
            <p:nvSpPr>
              <p:cNvPr id="19489" name="Freeform 53"/>
              <p:cNvSpPr>
                <a:spLocks noChangeArrowheads="1"/>
              </p:cNvSpPr>
              <p:nvPr/>
            </p:nvSpPr>
            <p:spPr bwMode="auto">
              <a:xfrm>
                <a:off x="2396" y="579"/>
                <a:ext cx="13" cy="16"/>
              </a:xfrm>
              <a:custGeom>
                <a:avLst/>
                <a:gdLst>
                  <a:gd name="T0" fmla="*/ 3 w 13"/>
                  <a:gd name="T1" fmla="*/ 0 h 16"/>
                  <a:gd name="T2" fmla="*/ 3 w 13"/>
                  <a:gd name="T3" fmla="*/ 2 h 16"/>
                  <a:gd name="T4" fmla="*/ 3 w 13"/>
                  <a:gd name="T5" fmla="*/ 2 h 16"/>
                  <a:gd name="T6" fmla="*/ 3 w 13"/>
                  <a:gd name="T7" fmla="*/ 2 h 16"/>
                  <a:gd name="T8" fmla="*/ 5 w 13"/>
                  <a:gd name="T9" fmla="*/ 0 h 16"/>
                  <a:gd name="T10" fmla="*/ 8 w 13"/>
                  <a:gd name="T11" fmla="*/ 0 h 16"/>
                  <a:gd name="T12" fmla="*/ 8 w 13"/>
                  <a:gd name="T13" fmla="*/ 0 h 16"/>
                  <a:gd name="T14" fmla="*/ 10 w 13"/>
                  <a:gd name="T15" fmla="*/ 0 h 16"/>
                  <a:gd name="T16" fmla="*/ 11 w 13"/>
                  <a:gd name="T17" fmla="*/ 2 h 16"/>
                  <a:gd name="T18" fmla="*/ 13 w 13"/>
                  <a:gd name="T19" fmla="*/ 5 h 16"/>
                  <a:gd name="T20" fmla="*/ 13 w 13"/>
                  <a:gd name="T21" fmla="*/ 6 h 16"/>
                  <a:gd name="T22" fmla="*/ 8 w 13"/>
                  <a:gd name="T23" fmla="*/ 6 h 16"/>
                  <a:gd name="T24" fmla="*/ 8 w 13"/>
                  <a:gd name="T25" fmla="*/ 5 h 16"/>
                  <a:gd name="T26" fmla="*/ 8 w 13"/>
                  <a:gd name="T27" fmla="*/ 5 h 16"/>
                  <a:gd name="T28" fmla="*/ 8 w 13"/>
                  <a:gd name="T29" fmla="*/ 3 h 16"/>
                  <a:gd name="T30" fmla="*/ 6 w 13"/>
                  <a:gd name="T31" fmla="*/ 3 h 16"/>
                  <a:gd name="T32" fmla="*/ 6 w 13"/>
                  <a:gd name="T33" fmla="*/ 3 h 16"/>
                  <a:gd name="T34" fmla="*/ 5 w 13"/>
                  <a:gd name="T35" fmla="*/ 3 h 16"/>
                  <a:gd name="T36" fmla="*/ 3 w 13"/>
                  <a:gd name="T37" fmla="*/ 6 h 16"/>
                  <a:gd name="T38" fmla="*/ 3 w 13"/>
                  <a:gd name="T39" fmla="*/ 16 h 16"/>
                  <a:gd name="T40" fmla="*/ 0 w 13"/>
                  <a:gd name="T41" fmla="*/ 16 h 16"/>
                  <a:gd name="T42" fmla="*/ 0 w 13"/>
                  <a:gd name="T43" fmla="*/ 0 h 16"/>
                  <a:gd name="T44" fmla="*/ 3 w 13"/>
                  <a:gd name="T45" fmla="*/ 0 h 1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3"/>
                  <a:gd name="T70" fmla="*/ 0 h 16"/>
                  <a:gd name="T71" fmla="*/ 13 w 13"/>
                  <a:gd name="T72" fmla="*/ 16 h 1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3" h="16">
                    <a:moveTo>
                      <a:pt x="3" y="0"/>
                    </a:moveTo>
                    <a:lnTo>
                      <a:pt x="3" y="2"/>
                    </a:lnTo>
                    <a:lnTo>
                      <a:pt x="5" y="0"/>
                    </a:lnTo>
                    <a:lnTo>
                      <a:pt x="8" y="0"/>
                    </a:lnTo>
                    <a:lnTo>
                      <a:pt x="10" y="0"/>
                    </a:lnTo>
                    <a:lnTo>
                      <a:pt x="11" y="2"/>
                    </a:lnTo>
                    <a:lnTo>
                      <a:pt x="13" y="5"/>
                    </a:lnTo>
                    <a:lnTo>
                      <a:pt x="13" y="6"/>
                    </a:lnTo>
                    <a:lnTo>
                      <a:pt x="8" y="6"/>
                    </a:lnTo>
                    <a:lnTo>
                      <a:pt x="8" y="5"/>
                    </a:lnTo>
                    <a:lnTo>
                      <a:pt x="8" y="3"/>
                    </a:lnTo>
                    <a:lnTo>
                      <a:pt x="6" y="3"/>
                    </a:lnTo>
                    <a:lnTo>
                      <a:pt x="5" y="3"/>
                    </a:lnTo>
                    <a:lnTo>
                      <a:pt x="3" y="6"/>
                    </a:lnTo>
                    <a:lnTo>
                      <a:pt x="3" y="16"/>
                    </a:lnTo>
                    <a:lnTo>
                      <a:pt x="0" y="16"/>
                    </a:lnTo>
                    <a:lnTo>
                      <a:pt x="0" y="0"/>
                    </a:lnTo>
                    <a:lnTo>
                      <a:pt x="3" y="0"/>
                    </a:lnTo>
                    <a:close/>
                  </a:path>
                </a:pathLst>
              </a:custGeom>
              <a:solidFill>
                <a:srgbClr val="89CEC4"/>
              </a:solidFill>
              <a:ln w="9525">
                <a:noFill/>
                <a:round/>
                <a:headEnd/>
                <a:tailEnd/>
              </a:ln>
            </p:spPr>
            <p:txBody>
              <a:bodyPr wrap="none" anchor="ctr"/>
              <a:lstStyle/>
              <a:p>
                <a:endParaRPr lang="en-US"/>
              </a:p>
            </p:txBody>
          </p:sp>
          <p:sp>
            <p:nvSpPr>
              <p:cNvPr id="19490" name="Freeform 54"/>
              <p:cNvSpPr>
                <a:spLocks noChangeArrowheads="1"/>
              </p:cNvSpPr>
              <p:nvPr/>
            </p:nvSpPr>
            <p:spPr bwMode="auto">
              <a:xfrm>
                <a:off x="2410" y="579"/>
                <a:ext cx="15" cy="16"/>
              </a:xfrm>
              <a:custGeom>
                <a:avLst/>
                <a:gdLst>
                  <a:gd name="T0" fmla="*/ 12 w 15"/>
                  <a:gd name="T1" fmla="*/ 5 h 16"/>
                  <a:gd name="T2" fmla="*/ 12 w 15"/>
                  <a:gd name="T3" fmla="*/ 5 h 16"/>
                  <a:gd name="T4" fmla="*/ 10 w 15"/>
                  <a:gd name="T5" fmla="*/ 3 h 16"/>
                  <a:gd name="T6" fmla="*/ 8 w 15"/>
                  <a:gd name="T7" fmla="*/ 3 h 16"/>
                  <a:gd name="T8" fmla="*/ 8 w 15"/>
                  <a:gd name="T9" fmla="*/ 3 h 16"/>
                  <a:gd name="T10" fmla="*/ 5 w 15"/>
                  <a:gd name="T11" fmla="*/ 3 h 16"/>
                  <a:gd name="T12" fmla="*/ 4 w 15"/>
                  <a:gd name="T13" fmla="*/ 5 h 16"/>
                  <a:gd name="T14" fmla="*/ 4 w 15"/>
                  <a:gd name="T15" fmla="*/ 5 h 16"/>
                  <a:gd name="T16" fmla="*/ 5 w 15"/>
                  <a:gd name="T17" fmla="*/ 6 h 16"/>
                  <a:gd name="T18" fmla="*/ 8 w 15"/>
                  <a:gd name="T19" fmla="*/ 6 h 16"/>
                  <a:gd name="T20" fmla="*/ 8 w 15"/>
                  <a:gd name="T21" fmla="*/ 6 h 16"/>
                  <a:gd name="T22" fmla="*/ 13 w 15"/>
                  <a:gd name="T23" fmla="*/ 6 h 16"/>
                  <a:gd name="T24" fmla="*/ 15 w 15"/>
                  <a:gd name="T25" fmla="*/ 8 h 16"/>
                  <a:gd name="T26" fmla="*/ 15 w 15"/>
                  <a:gd name="T27" fmla="*/ 11 h 16"/>
                  <a:gd name="T28" fmla="*/ 15 w 15"/>
                  <a:gd name="T29" fmla="*/ 11 h 16"/>
                  <a:gd name="T30" fmla="*/ 15 w 15"/>
                  <a:gd name="T31" fmla="*/ 14 h 16"/>
                  <a:gd name="T32" fmla="*/ 13 w 15"/>
                  <a:gd name="T33" fmla="*/ 16 h 16"/>
                  <a:gd name="T34" fmla="*/ 8 w 15"/>
                  <a:gd name="T35" fmla="*/ 16 h 16"/>
                  <a:gd name="T36" fmla="*/ 8 w 15"/>
                  <a:gd name="T37" fmla="*/ 16 h 16"/>
                  <a:gd name="T38" fmla="*/ 2 w 15"/>
                  <a:gd name="T39" fmla="*/ 16 h 16"/>
                  <a:gd name="T40" fmla="*/ 0 w 15"/>
                  <a:gd name="T41" fmla="*/ 14 h 16"/>
                  <a:gd name="T42" fmla="*/ 0 w 15"/>
                  <a:gd name="T43" fmla="*/ 11 h 16"/>
                  <a:gd name="T44" fmla="*/ 4 w 15"/>
                  <a:gd name="T45" fmla="*/ 11 h 16"/>
                  <a:gd name="T46" fmla="*/ 4 w 15"/>
                  <a:gd name="T47" fmla="*/ 11 h 16"/>
                  <a:gd name="T48" fmla="*/ 5 w 15"/>
                  <a:gd name="T49" fmla="*/ 13 h 16"/>
                  <a:gd name="T50" fmla="*/ 8 w 15"/>
                  <a:gd name="T51" fmla="*/ 14 h 16"/>
                  <a:gd name="T52" fmla="*/ 8 w 15"/>
                  <a:gd name="T53" fmla="*/ 14 h 16"/>
                  <a:gd name="T54" fmla="*/ 10 w 15"/>
                  <a:gd name="T55" fmla="*/ 14 h 16"/>
                  <a:gd name="T56" fmla="*/ 12 w 15"/>
                  <a:gd name="T57" fmla="*/ 11 h 16"/>
                  <a:gd name="T58" fmla="*/ 12 w 15"/>
                  <a:gd name="T59" fmla="*/ 11 h 16"/>
                  <a:gd name="T60" fmla="*/ 12 w 15"/>
                  <a:gd name="T61" fmla="*/ 10 h 16"/>
                  <a:gd name="T62" fmla="*/ 7 w 15"/>
                  <a:gd name="T63" fmla="*/ 10 h 16"/>
                  <a:gd name="T64" fmla="*/ 7 w 15"/>
                  <a:gd name="T65" fmla="*/ 10 h 16"/>
                  <a:gd name="T66" fmla="*/ 2 w 15"/>
                  <a:gd name="T67" fmla="*/ 8 h 16"/>
                  <a:gd name="T68" fmla="*/ 0 w 15"/>
                  <a:gd name="T69" fmla="*/ 6 h 16"/>
                  <a:gd name="T70" fmla="*/ 0 w 15"/>
                  <a:gd name="T71" fmla="*/ 5 h 16"/>
                  <a:gd name="T72" fmla="*/ 0 w 15"/>
                  <a:gd name="T73" fmla="*/ 5 h 16"/>
                  <a:gd name="T74" fmla="*/ 0 w 15"/>
                  <a:gd name="T75" fmla="*/ 2 h 16"/>
                  <a:gd name="T76" fmla="*/ 2 w 15"/>
                  <a:gd name="T77" fmla="*/ 0 h 16"/>
                  <a:gd name="T78" fmla="*/ 8 w 15"/>
                  <a:gd name="T79" fmla="*/ 0 h 16"/>
                  <a:gd name="T80" fmla="*/ 8 w 15"/>
                  <a:gd name="T81" fmla="*/ 0 h 16"/>
                  <a:gd name="T82" fmla="*/ 13 w 15"/>
                  <a:gd name="T83" fmla="*/ 0 h 16"/>
                  <a:gd name="T84" fmla="*/ 15 w 15"/>
                  <a:gd name="T85" fmla="*/ 2 h 16"/>
                  <a:gd name="T86" fmla="*/ 15 w 15"/>
                  <a:gd name="T87" fmla="*/ 5 h 16"/>
                  <a:gd name="T88" fmla="*/ 12 w 15"/>
                  <a:gd name="T89" fmla="*/ 5 h 1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5"/>
                  <a:gd name="T136" fmla="*/ 0 h 16"/>
                  <a:gd name="T137" fmla="*/ 15 w 15"/>
                  <a:gd name="T138" fmla="*/ 16 h 1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5" h="16">
                    <a:moveTo>
                      <a:pt x="12" y="5"/>
                    </a:moveTo>
                    <a:lnTo>
                      <a:pt x="12" y="5"/>
                    </a:lnTo>
                    <a:lnTo>
                      <a:pt x="10" y="3"/>
                    </a:lnTo>
                    <a:lnTo>
                      <a:pt x="8" y="3"/>
                    </a:lnTo>
                    <a:lnTo>
                      <a:pt x="5" y="3"/>
                    </a:lnTo>
                    <a:lnTo>
                      <a:pt x="4" y="5"/>
                    </a:lnTo>
                    <a:lnTo>
                      <a:pt x="5" y="6"/>
                    </a:lnTo>
                    <a:lnTo>
                      <a:pt x="8" y="6"/>
                    </a:lnTo>
                    <a:lnTo>
                      <a:pt x="13" y="6"/>
                    </a:lnTo>
                    <a:lnTo>
                      <a:pt x="15" y="8"/>
                    </a:lnTo>
                    <a:lnTo>
                      <a:pt x="15" y="11"/>
                    </a:lnTo>
                    <a:lnTo>
                      <a:pt x="15" y="14"/>
                    </a:lnTo>
                    <a:lnTo>
                      <a:pt x="13" y="16"/>
                    </a:lnTo>
                    <a:lnTo>
                      <a:pt x="8" y="16"/>
                    </a:lnTo>
                    <a:lnTo>
                      <a:pt x="2" y="16"/>
                    </a:lnTo>
                    <a:lnTo>
                      <a:pt x="0" y="14"/>
                    </a:lnTo>
                    <a:lnTo>
                      <a:pt x="0" y="11"/>
                    </a:lnTo>
                    <a:lnTo>
                      <a:pt x="4" y="11"/>
                    </a:lnTo>
                    <a:lnTo>
                      <a:pt x="5" y="13"/>
                    </a:lnTo>
                    <a:lnTo>
                      <a:pt x="8" y="14"/>
                    </a:lnTo>
                    <a:lnTo>
                      <a:pt x="10" y="14"/>
                    </a:lnTo>
                    <a:lnTo>
                      <a:pt x="12" y="11"/>
                    </a:lnTo>
                    <a:lnTo>
                      <a:pt x="12" y="10"/>
                    </a:lnTo>
                    <a:lnTo>
                      <a:pt x="7" y="10"/>
                    </a:lnTo>
                    <a:lnTo>
                      <a:pt x="2" y="8"/>
                    </a:lnTo>
                    <a:lnTo>
                      <a:pt x="0" y="6"/>
                    </a:lnTo>
                    <a:lnTo>
                      <a:pt x="0" y="5"/>
                    </a:lnTo>
                    <a:lnTo>
                      <a:pt x="0" y="2"/>
                    </a:lnTo>
                    <a:lnTo>
                      <a:pt x="2" y="0"/>
                    </a:lnTo>
                    <a:lnTo>
                      <a:pt x="8" y="0"/>
                    </a:lnTo>
                    <a:lnTo>
                      <a:pt x="13" y="0"/>
                    </a:lnTo>
                    <a:lnTo>
                      <a:pt x="15" y="2"/>
                    </a:lnTo>
                    <a:lnTo>
                      <a:pt x="15" y="5"/>
                    </a:lnTo>
                    <a:lnTo>
                      <a:pt x="12" y="5"/>
                    </a:lnTo>
                    <a:close/>
                  </a:path>
                </a:pathLst>
              </a:custGeom>
              <a:solidFill>
                <a:srgbClr val="89CEC4"/>
              </a:solidFill>
              <a:ln w="9525">
                <a:noFill/>
                <a:round/>
                <a:headEnd/>
                <a:tailEnd/>
              </a:ln>
            </p:spPr>
            <p:txBody>
              <a:bodyPr wrap="none" anchor="ctr"/>
              <a:lstStyle/>
              <a:p>
                <a:endParaRPr lang="en-US"/>
              </a:p>
            </p:txBody>
          </p:sp>
          <p:sp>
            <p:nvSpPr>
              <p:cNvPr id="19491" name="Freeform 55"/>
              <p:cNvSpPr>
                <a:spLocks noChangeArrowheads="1"/>
              </p:cNvSpPr>
              <p:nvPr/>
            </p:nvSpPr>
            <p:spPr bwMode="auto">
              <a:xfrm>
                <a:off x="2438" y="573"/>
                <a:ext cx="22" cy="22"/>
              </a:xfrm>
              <a:custGeom>
                <a:avLst/>
                <a:gdLst>
                  <a:gd name="T0" fmla="*/ 6 w 22"/>
                  <a:gd name="T1" fmla="*/ 17 h 22"/>
                  <a:gd name="T2" fmla="*/ 4 w 22"/>
                  <a:gd name="T3" fmla="*/ 22 h 22"/>
                  <a:gd name="T4" fmla="*/ 0 w 22"/>
                  <a:gd name="T5" fmla="*/ 22 h 22"/>
                  <a:gd name="T6" fmla="*/ 8 w 22"/>
                  <a:gd name="T7" fmla="*/ 0 h 22"/>
                  <a:gd name="T8" fmla="*/ 14 w 22"/>
                  <a:gd name="T9" fmla="*/ 0 h 22"/>
                  <a:gd name="T10" fmla="*/ 22 w 22"/>
                  <a:gd name="T11" fmla="*/ 22 h 22"/>
                  <a:gd name="T12" fmla="*/ 17 w 22"/>
                  <a:gd name="T13" fmla="*/ 22 h 22"/>
                  <a:gd name="T14" fmla="*/ 16 w 22"/>
                  <a:gd name="T15" fmla="*/ 17 h 22"/>
                  <a:gd name="T16" fmla="*/ 6 w 22"/>
                  <a:gd name="T17" fmla="*/ 17 h 22"/>
                  <a:gd name="T18" fmla="*/ 11 w 22"/>
                  <a:gd name="T19" fmla="*/ 3 h 22"/>
                  <a:gd name="T20" fmla="*/ 11 w 22"/>
                  <a:gd name="T21" fmla="*/ 3 h 22"/>
                  <a:gd name="T22" fmla="*/ 6 w 22"/>
                  <a:gd name="T23" fmla="*/ 14 h 22"/>
                  <a:gd name="T24" fmla="*/ 14 w 22"/>
                  <a:gd name="T25" fmla="*/ 14 h 22"/>
                  <a:gd name="T26" fmla="*/ 11 w 22"/>
                  <a:gd name="T27" fmla="*/ 3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
                  <a:gd name="T43" fmla="*/ 0 h 22"/>
                  <a:gd name="T44" fmla="*/ 22 w 22"/>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 h="22">
                    <a:moveTo>
                      <a:pt x="6" y="17"/>
                    </a:moveTo>
                    <a:lnTo>
                      <a:pt x="4" y="22"/>
                    </a:lnTo>
                    <a:lnTo>
                      <a:pt x="0" y="22"/>
                    </a:lnTo>
                    <a:lnTo>
                      <a:pt x="8" y="0"/>
                    </a:lnTo>
                    <a:lnTo>
                      <a:pt x="14" y="0"/>
                    </a:lnTo>
                    <a:lnTo>
                      <a:pt x="22" y="22"/>
                    </a:lnTo>
                    <a:lnTo>
                      <a:pt x="17" y="22"/>
                    </a:lnTo>
                    <a:lnTo>
                      <a:pt x="16" y="17"/>
                    </a:lnTo>
                    <a:lnTo>
                      <a:pt x="6" y="17"/>
                    </a:lnTo>
                    <a:close/>
                    <a:moveTo>
                      <a:pt x="11" y="3"/>
                    </a:moveTo>
                    <a:lnTo>
                      <a:pt x="11" y="3"/>
                    </a:lnTo>
                    <a:lnTo>
                      <a:pt x="6" y="14"/>
                    </a:lnTo>
                    <a:lnTo>
                      <a:pt x="14" y="14"/>
                    </a:lnTo>
                    <a:lnTo>
                      <a:pt x="11" y="3"/>
                    </a:lnTo>
                    <a:close/>
                  </a:path>
                </a:pathLst>
              </a:custGeom>
              <a:solidFill>
                <a:srgbClr val="89CEC4"/>
              </a:solidFill>
              <a:ln w="9525">
                <a:noFill/>
                <a:round/>
                <a:headEnd/>
                <a:tailEnd/>
              </a:ln>
            </p:spPr>
            <p:txBody>
              <a:bodyPr wrap="none" anchor="ctr"/>
              <a:lstStyle/>
              <a:p>
                <a:endParaRPr lang="en-US"/>
              </a:p>
            </p:txBody>
          </p:sp>
          <p:sp>
            <p:nvSpPr>
              <p:cNvPr id="19492" name="Freeform 56"/>
              <p:cNvSpPr>
                <a:spLocks noChangeArrowheads="1"/>
              </p:cNvSpPr>
              <p:nvPr/>
            </p:nvSpPr>
            <p:spPr bwMode="auto">
              <a:xfrm>
                <a:off x="2462" y="579"/>
                <a:ext cx="14" cy="16"/>
              </a:xfrm>
              <a:custGeom>
                <a:avLst/>
                <a:gdLst>
                  <a:gd name="T0" fmla="*/ 9 w 14"/>
                  <a:gd name="T1" fmla="*/ 5 h 16"/>
                  <a:gd name="T2" fmla="*/ 9 w 14"/>
                  <a:gd name="T3" fmla="*/ 5 h 16"/>
                  <a:gd name="T4" fmla="*/ 9 w 14"/>
                  <a:gd name="T5" fmla="*/ 3 h 16"/>
                  <a:gd name="T6" fmla="*/ 6 w 14"/>
                  <a:gd name="T7" fmla="*/ 3 h 16"/>
                  <a:gd name="T8" fmla="*/ 6 w 14"/>
                  <a:gd name="T9" fmla="*/ 3 h 16"/>
                  <a:gd name="T10" fmla="*/ 4 w 14"/>
                  <a:gd name="T11" fmla="*/ 3 h 16"/>
                  <a:gd name="T12" fmla="*/ 3 w 14"/>
                  <a:gd name="T13" fmla="*/ 5 h 16"/>
                  <a:gd name="T14" fmla="*/ 3 w 14"/>
                  <a:gd name="T15" fmla="*/ 5 h 16"/>
                  <a:gd name="T16" fmla="*/ 4 w 14"/>
                  <a:gd name="T17" fmla="*/ 6 h 16"/>
                  <a:gd name="T18" fmla="*/ 8 w 14"/>
                  <a:gd name="T19" fmla="*/ 6 h 16"/>
                  <a:gd name="T20" fmla="*/ 8 w 14"/>
                  <a:gd name="T21" fmla="*/ 6 h 16"/>
                  <a:gd name="T22" fmla="*/ 12 w 14"/>
                  <a:gd name="T23" fmla="*/ 6 h 16"/>
                  <a:gd name="T24" fmla="*/ 14 w 14"/>
                  <a:gd name="T25" fmla="*/ 8 h 16"/>
                  <a:gd name="T26" fmla="*/ 14 w 14"/>
                  <a:gd name="T27" fmla="*/ 11 h 16"/>
                  <a:gd name="T28" fmla="*/ 14 w 14"/>
                  <a:gd name="T29" fmla="*/ 11 h 16"/>
                  <a:gd name="T30" fmla="*/ 14 w 14"/>
                  <a:gd name="T31" fmla="*/ 14 h 16"/>
                  <a:gd name="T32" fmla="*/ 12 w 14"/>
                  <a:gd name="T33" fmla="*/ 16 h 16"/>
                  <a:gd name="T34" fmla="*/ 6 w 14"/>
                  <a:gd name="T35" fmla="*/ 16 h 16"/>
                  <a:gd name="T36" fmla="*/ 6 w 14"/>
                  <a:gd name="T37" fmla="*/ 16 h 16"/>
                  <a:gd name="T38" fmla="*/ 1 w 14"/>
                  <a:gd name="T39" fmla="*/ 16 h 16"/>
                  <a:gd name="T40" fmla="*/ 0 w 14"/>
                  <a:gd name="T41" fmla="*/ 14 h 16"/>
                  <a:gd name="T42" fmla="*/ 0 w 14"/>
                  <a:gd name="T43" fmla="*/ 11 h 16"/>
                  <a:gd name="T44" fmla="*/ 3 w 14"/>
                  <a:gd name="T45" fmla="*/ 11 h 16"/>
                  <a:gd name="T46" fmla="*/ 3 w 14"/>
                  <a:gd name="T47" fmla="*/ 11 h 16"/>
                  <a:gd name="T48" fmla="*/ 4 w 14"/>
                  <a:gd name="T49" fmla="*/ 13 h 16"/>
                  <a:gd name="T50" fmla="*/ 6 w 14"/>
                  <a:gd name="T51" fmla="*/ 14 h 16"/>
                  <a:gd name="T52" fmla="*/ 6 w 14"/>
                  <a:gd name="T53" fmla="*/ 14 h 16"/>
                  <a:gd name="T54" fmla="*/ 9 w 14"/>
                  <a:gd name="T55" fmla="*/ 14 h 16"/>
                  <a:gd name="T56" fmla="*/ 11 w 14"/>
                  <a:gd name="T57" fmla="*/ 11 h 16"/>
                  <a:gd name="T58" fmla="*/ 11 w 14"/>
                  <a:gd name="T59" fmla="*/ 11 h 16"/>
                  <a:gd name="T60" fmla="*/ 9 w 14"/>
                  <a:gd name="T61" fmla="*/ 10 h 16"/>
                  <a:gd name="T62" fmla="*/ 6 w 14"/>
                  <a:gd name="T63" fmla="*/ 10 h 16"/>
                  <a:gd name="T64" fmla="*/ 6 w 14"/>
                  <a:gd name="T65" fmla="*/ 10 h 16"/>
                  <a:gd name="T66" fmla="*/ 0 w 14"/>
                  <a:gd name="T67" fmla="*/ 8 h 16"/>
                  <a:gd name="T68" fmla="*/ 0 w 14"/>
                  <a:gd name="T69" fmla="*/ 6 h 16"/>
                  <a:gd name="T70" fmla="*/ 0 w 14"/>
                  <a:gd name="T71" fmla="*/ 5 h 16"/>
                  <a:gd name="T72" fmla="*/ 0 w 14"/>
                  <a:gd name="T73" fmla="*/ 5 h 16"/>
                  <a:gd name="T74" fmla="*/ 0 w 14"/>
                  <a:gd name="T75" fmla="*/ 2 h 16"/>
                  <a:gd name="T76" fmla="*/ 1 w 14"/>
                  <a:gd name="T77" fmla="*/ 0 h 16"/>
                  <a:gd name="T78" fmla="*/ 6 w 14"/>
                  <a:gd name="T79" fmla="*/ 0 h 16"/>
                  <a:gd name="T80" fmla="*/ 6 w 14"/>
                  <a:gd name="T81" fmla="*/ 0 h 16"/>
                  <a:gd name="T82" fmla="*/ 11 w 14"/>
                  <a:gd name="T83" fmla="*/ 0 h 16"/>
                  <a:gd name="T84" fmla="*/ 12 w 14"/>
                  <a:gd name="T85" fmla="*/ 2 h 16"/>
                  <a:gd name="T86" fmla="*/ 14 w 14"/>
                  <a:gd name="T87" fmla="*/ 5 h 16"/>
                  <a:gd name="T88" fmla="*/ 9 w 14"/>
                  <a:gd name="T89" fmla="*/ 5 h 1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4"/>
                  <a:gd name="T136" fmla="*/ 0 h 16"/>
                  <a:gd name="T137" fmla="*/ 14 w 14"/>
                  <a:gd name="T138" fmla="*/ 16 h 1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4" h="16">
                    <a:moveTo>
                      <a:pt x="9" y="5"/>
                    </a:moveTo>
                    <a:lnTo>
                      <a:pt x="9" y="5"/>
                    </a:lnTo>
                    <a:lnTo>
                      <a:pt x="9" y="3"/>
                    </a:lnTo>
                    <a:lnTo>
                      <a:pt x="6" y="3"/>
                    </a:lnTo>
                    <a:lnTo>
                      <a:pt x="4" y="3"/>
                    </a:lnTo>
                    <a:lnTo>
                      <a:pt x="3" y="5"/>
                    </a:lnTo>
                    <a:lnTo>
                      <a:pt x="4" y="6"/>
                    </a:lnTo>
                    <a:lnTo>
                      <a:pt x="8" y="6"/>
                    </a:lnTo>
                    <a:lnTo>
                      <a:pt x="12" y="6"/>
                    </a:lnTo>
                    <a:lnTo>
                      <a:pt x="14" y="8"/>
                    </a:lnTo>
                    <a:lnTo>
                      <a:pt x="14" y="11"/>
                    </a:lnTo>
                    <a:lnTo>
                      <a:pt x="14" y="14"/>
                    </a:lnTo>
                    <a:lnTo>
                      <a:pt x="12" y="16"/>
                    </a:lnTo>
                    <a:lnTo>
                      <a:pt x="6" y="16"/>
                    </a:lnTo>
                    <a:lnTo>
                      <a:pt x="1" y="16"/>
                    </a:lnTo>
                    <a:lnTo>
                      <a:pt x="0" y="14"/>
                    </a:lnTo>
                    <a:lnTo>
                      <a:pt x="0" y="11"/>
                    </a:lnTo>
                    <a:lnTo>
                      <a:pt x="3" y="11"/>
                    </a:lnTo>
                    <a:lnTo>
                      <a:pt x="4" y="13"/>
                    </a:lnTo>
                    <a:lnTo>
                      <a:pt x="6" y="14"/>
                    </a:lnTo>
                    <a:lnTo>
                      <a:pt x="9" y="14"/>
                    </a:lnTo>
                    <a:lnTo>
                      <a:pt x="11" y="11"/>
                    </a:lnTo>
                    <a:lnTo>
                      <a:pt x="9" y="10"/>
                    </a:lnTo>
                    <a:lnTo>
                      <a:pt x="6" y="10"/>
                    </a:lnTo>
                    <a:lnTo>
                      <a:pt x="0" y="8"/>
                    </a:lnTo>
                    <a:lnTo>
                      <a:pt x="0" y="6"/>
                    </a:lnTo>
                    <a:lnTo>
                      <a:pt x="0" y="5"/>
                    </a:lnTo>
                    <a:lnTo>
                      <a:pt x="0" y="2"/>
                    </a:lnTo>
                    <a:lnTo>
                      <a:pt x="1" y="0"/>
                    </a:lnTo>
                    <a:lnTo>
                      <a:pt x="6" y="0"/>
                    </a:lnTo>
                    <a:lnTo>
                      <a:pt x="11" y="0"/>
                    </a:lnTo>
                    <a:lnTo>
                      <a:pt x="12" y="2"/>
                    </a:lnTo>
                    <a:lnTo>
                      <a:pt x="14" y="5"/>
                    </a:lnTo>
                    <a:lnTo>
                      <a:pt x="9" y="5"/>
                    </a:lnTo>
                    <a:close/>
                  </a:path>
                </a:pathLst>
              </a:custGeom>
              <a:solidFill>
                <a:srgbClr val="89CEC4"/>
              </a:solidFill>
              <a:ln w="9525">
                <a:noFill/>
                <a:round/>
                <a:headEnd/>
                <a:tailEnd/>
              </a:ln>
            </p:spPr>
            <p:txBody>
              <a:bodyPr wrap="none" anchor="ctr"/>
              <a:lstStyle/>
              <a:p>
                <a:endParaRPr lang="en-US"/>
              </a:p>
            </p:txBody>
          </p:sp>
          <p:sp>
            <p:nvSpPr>
              <p:cNvPr id="19493" name="Freeform 57"/>
              <p:cNvSpPr>
                <a:spLocks noChangeArrowheads="1"/>
              </p:cNvSpPr>
              <p:nvPr/>
            </p:nvSpPr>
            <p:spPr bwMode="auto">
              <a:xfrm>
                <a:off x="2479" y="579"/>
                <a:ext cx="15" cy="16"/>
              </a:xfrm>
              <a:custGeom>
                <a:avLst/>
                <a:gdLst>
                  <a:gd name="T0" fmla="*/ 10 w 15"/>
                  <a:gd name="T1" fmla="*/ 5 h 16"/>
                  <a:gd name="T2" fmla="*/ 10 w 15"/>
                  <a:gd name="T3" fmla="*/ 5 h 16"/>
                  <a:gd name="T4" fmla="*/ 10 w 15"/>
                  <a:gd name="T5" fmla="*/ 3 h 16"/>
                  <a:gd name="T6" fmla="*/ 7 w 15"/>
                  <a:gd name="T7" fmla="*/ 3 h 16"/>
                  <a:gd name="T8" fmla="*/ 7 w 15"/>
                  <a:gd name="T9" fmla="*/ 3 h 16"/>
                  <a:gd name="T10" fmla="*/ 5 w 15"/>
                  <a:gd name="T11" fmla="*/ 3 h 16"/>
                  <a:gd name="T12" fmla="*/ 3 w 15"/>
                  <a:gd name="T13" fmla="*/ 5 h 16"/>
                  <a:gd name="T14" fmla="*/ 3 w 15"/>
                  <a:gd name="T15" fmla="*/ 5 h 16"/>
                  <a:gd name="T16" fmla="*/ 3 w 15"/>
                  <a:gd name="T17" fmla="*/ 6 h 16"/>
                  <a:gd name="T18" fmla="*/ 7 w 15"/>
                  <a:gd name="T19" fmla="*/ 6 h 16"/>
                  <a:gd name="T20" fmla="*/ 7 w 15"/>
                  <a:gd name="T21" fmla="*/ 6 h 16"/>
                  <a:gd name="T22" fmla="*/ 13 w 15"/>
                  <a:gd name="T23" fmla="*/ 6 h 16"/>
                  <a:gd name="T24" fmla="*/ 15 w 15"/>
                  <a:gd name="T25" fmla="*/ 8 h 16"/>
                  <a:gd name="T26" fmla="*/ 15 w 15"/>
                  <a:gd name="T27" fmla="*/ 11 h 16"/>
                  <a:gd name="T28" fmla="*/ 15 w 15"/>
                  <a:gd name="T29" fmla="*/ 11 h 16"/>
                  <a:gd name="T30" fmla="*/ 15 w 15"/>
                  <a:gd name="T31" fmla="*/ 14 h 16"/>
                  <a:gd name="T32" fmla="*/ 13 w 15"/>
                  <a:gd name="T33" fmla="*/ 16 h 16"/>
                  <a:gd name="T34" fmla="*/ 7 w 15"/>
                  <a:gd name="T35" fmla="*/ 16 h 16"/>
                  <a:gd name="T36" fmla="*/ 7 w 15"/>
                  <a:gd name="T37" fmla="*/ 16 h 16"/>
                  <a:gd name="T38" fmla="*/ 2 w 15"/>
                  <a:gd name="T39" fmla="*/ 16 h 16"/>
                  <a:gd name="T40" fmla="*/ 0 w 15"/>
                  <a:gd name="T41" fmla="*/ 14 h 16"/>
                  <a:gd name="T42" fmla="*/ 0 w 15"/>
                  <a:gd name="T43" fmla="*/ 11 h 16"/>
                  <a:gd name="T44" fmla="*/ 3 w 15"/>
                  <a:gd name="T45" fmla="*/ 11 h 16"/>
                  <a:gd name="T46" fmla="*/ 3 w 15"/>
                  <a:gd name="T47" fmla="*/ 11 h 16"/>
                  <a:gd name="T48" fmla="*/ 3 w 15"/>
                  <a:gd name="T49" fmla="*/ 13 h 16"/>
                  <a:gd name="T50" fmla="*/ 7 w 15"/>
                  <a:gd name="T51" fmla="*/ 14 h 16"/>
                  <a:gd name="T52" fmla="*/ 7 w 15"/>
                  <a:gd name="T53" fmla="*/ 14 h 16"/>
                  <a:gd name="T54" fmla="*/ 10 w 15"/>
                  <a:gd name="T55" fmla="*/ 14 h 16"/>
                  <a:gd name="T56" fmla="*/ 11 w 15"/>
                  <a:gd name="T57" fmla="*/ 11 h 16"/>
                  <a:gd name="T58" fmla="*/ 11 w 15"/>
                  <a:gd name="T59" fmla="*/ 11 h 16"/>
                  <a:gd name="T60" fmla="*/ 10 w 15"/>
                  <a:gd name="T61" fmla="*/ 10 h 16"/>
                  <a:gd name="T62" fmla="*/ 7 w 15"/>
                  <a:gd name="T63" fmla="*/ 10 h 16"/>
                  <a:gd name="T64" fmla="*/ 7 w 15"/>
                  <a:gd name="T65" fmla="*/ 10 h 16"/>
                  <a:gd name="T66" fmla="*/ 0 w 15"/>
                  <a:gd name="T67" fmla="*/ 8 h 16"/>
                  <a:gd name="T68" fmla="*/ 0 w 15"/>
                  <a:gd name="T69" fmla="*/ 6 h 16"/>
                  <a:gd name="T70" fmla="*/ 0 w 15"/>
                  <a:gd name="T71" fmla="*/ 5 h 16"/>
                  <a:gd name="T72" fmla="*/ 0 w 15"/>
                  <a:gd name="T73" fmla="*/ 5 h 16"/>
                  <a:gd name="T74" fmla="*/ 0 w 15"/>
                  <a:gd name="T75" fmla="*/ 2 h 16"/>
                  <a:gd name="T76" fmla="*/ 2 w 15"/>
                  <a:gd name="T77" fmla="*/ 0 h 16"/>
                  <a:gd name="T78" fmla="*/ 7 w 15"/>
                  <a:gd name="T79" fmla="*/ 0 h 16"/>
                  <a:gd name="T80" fmla="*/ 7 w 15"/>
                  <a:gd name="T81" fmla="*/ 0 h 16"/>
                  <a:gd name="T82" fmla="*/ 11 w 15"/>
                  <a:gd name="T83" fmla="*/ 0 h 16"/>
                  <a:gd name="T84" fmla="*/ 13 w 15"/>
                  <a:gd name="T85" fmla="*/ 2 h 16"/>
                  <a:gd name="T86" fmla="*/ 15 w 15"/>
                  <a:gd name="T87" fmla="*/ 5 h 16"/>
                  <a:gd name="T88" fmla="*/ 10 w 15"/>
                  <a:gd name="T89" fmla="*/ 5 h 1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5"/>
                  <a:gd name="T136" fmla="*/ 0 h 16"/>
                  <a:gd name="T137" fmla="*/ 15 w 15"/>
                  <a:gd name="T138" fmla="*/ 16 h 1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5" h="16">
                    <a:moveTo>
                      <a:pt x="10" y="5"/>
                    </a:moveTo>
                    <a:lnTo>
                      <a:pt x="10" y="5"/>
                    </a:lnTo>
                    <a:lnTo>
                      <a:pt x="10" y="3"/>
                    </a:lnTo>
                    <a:lnTo>
                      <a:pt x="7" y="3"/>
                    </a:lnTo>
                    <a:lnTo>
                      <a:pt x="5" y="3"/>
                    </a:lnTo>
                    <a:lnTo>
                      <a:pt x="3" y="5"/>
                    </a:lnTo>
                    <a:lnTo>
                      <a:pt x="3" y="6"/>
                    </a:lnTo>
                    <a:lnTo>
                      <a:pt x="7" y="6"/>
                    </a:lnTo>
                    <a:lnTo>
                      <a:pt x="13" y="6"/>
                    </a:lnTo>
                    <a:lnTo>
                      <a:pt x="15" y="8"/>
                    </a:lnTo>
                    <a:lnTo>
                      <a:pt x="15" y="11"/>
                    </a:lnTo>
                    <a:lnTo>
                      <a:pt x="15" y="14"/>
                    </a:lnTo>
                    <a:lnTo>
                      <a:pt x="13" y="16"/>
                    </a:lnTo>
                    <a:lnTo>
                      <a:pt x="7" y="16"/>
                    </a:lnTo>
                    <a:lnTo>
                      <a:pt x="2" y="16"/>
                    </a:lnTo>
                    <a:lnTo>
                      <a:pt x="0" y="14"/>
                    </a:lnTo>
                    <a:lnTo>
                      <a:pt x="0" y="11"/>
                    </a:lnTo>
                    <a:lnTo>
                      <a:pt x="3" y="11"/>
                    </a:lnTo>
                    <a:lnTo>
                      <a:pt x="3" y="13"/>
                    </a:lnTo>
                    <a:lnTo>
                      <a:pt x="7" y="14"/>
                    </a:lnTo>
                    <a:lnTo>
                      <a:pt x="10" y="14"/>
                    </a:lnTo>
                    <a:lnTo>
                      <a:pt x="11" y="11"/>
                    </a:lnTo>
                    <a:lnTo>
                      <a:pt x="10" y="10"/>
                    </a:lnTo>
                    <a:lnTo>
                      <a:pt x="7" y="10"/>
                    </a:lnTo>
                    <a:lnTo>
                      <a:pt x="0" y="8"/>
                    </a:lnTo>
                    <a:lnTo>
                      <a:pt x="0" y="6"/>
                    </a:lnTo>
                    <a:lnTo>
                      <a:pt x="0" y="5"/>
                    </a:lnTo>
                    <a:lnTo>
                      <a:pt x="0" y="2"/>
                    </a:lnTo>
                    <a:lnTo>
                      <a:pt x="2" y="0"/>
                    </a:lnTo>
                    <a:lnTo>
                      <a:pt x="7" y="0"/>
                    </a:lnTo>
                    <a:lnTo>
                      <a:pt x="11" y="0"/>
                    </a:lnTo>
                    <a:lnTo>
                      <a:pt x="13" y="2"/>
                    </a:lnTo>
                    <a:lnTo>
                      <a:pt x="15" y="5"/>
                    </a:lnTo>
                    <a:lnTo>
                      <a:pt x="10" y="5"/>
                    </a:lnTo>
                    <a:close/>
                  </a:path>
                </a:pathLst>
              </a:custGeom>
              <a:solidFill>
                <a:srgbClr val="89CEC4"/>
              </a:solidFill>
              <a:ln w="9525">
                <a:noFill/>
                <a:round/>
                <a:headEnd/>
                <a:tailEnd/>
              </a:ln>
            </p:spPr>
            <p:txBody>
              <a:bodyPr wrap="none" anchor="ctr"/>
              <a:lstStyle/>
              <a:p>
                <a:endParaRPr lang="en-US"/>
              </a:p>
            </p:txBody>
          </p:sp>
          <p:sp>
            <p:nvSpPr>
              <p:cNvPr id="19494" name="Freeform 58"/>
              <p:cNvSpPr>
                <a:spLocks noChangeArrowheads="1"/>
              </p:cNvSpPr>
              <p:nvPr/>
            </p:nvSpPr>
            <p:spPr bwMode="auto">
              <a:xfrm>
                <a:off x="2497" y="579"/>
                <a:ext cx="14" cy="16"/>
              </a:xfrm>
              <a:custGeom>
                <a:avLst/>
                <a:gdLst>
                  <a:gd name="T0" fmla="*/ 14 w 14"/>
                  <a:gd name="T1" fmla="*/ 8 h 16"/>
                  <a:gd name="T2" fmla="*/ 14 w 14"/>
                  <a:gd name="T3" fmla="*/ 8 h 16"/>
                  <a:gd name="T4" fmla="*/ 14 w 14"/>
                  <a:gd name="T5" fmla="*/ 13 h 16"/>
                  <a:gd name="T6" fmla="*/ 12 w 14"/>
                  <a:gd name="T7" fmla="*/ 14 h 16"/>
                  <a:gd name="T8" fmla="*/ 11 w 14"/>
                  <a:gd name="T9" fmla="*/ 16 h 16"/>
                  <a:gd name="T10" fmla="*/ 6 w 14"/>
                  <a:gd name="T11" fmla="*/ 16 h 16"/>
                  <a:gd name="T12" fmla="*/ 6 w 14"/>
                  <a:gd name="T13" fmla="*/ 16 h 16"/>
                  <a:gd name="T14" fmla="*/ 3 w 14"/>
                  <a:gd name="T15" fmla="*/ 16 h 16"/>
                  <a:gd name="T16" fmla="*/ 0 w 14"/>
                  <a:gd name="T17" fmla="*/ 14 h 16"/>
                  <a:gd name="T18" fmla="*/ 0 w 14"/>
                  <a:gd name="T19" fmla="*/ 13 h 16"/>
                  <a:gd name="T20" fmla="*/ 0 w 14"/>
                  <a:gd name="T21" fmla="*/ 8 h 16"/>
                  <a:gd name="T22" fmla="*/ 0 w 14"/>
                  <a:gd name="T23" fmla="*/ 8 h 16"/>
                  <a:gd name="T24" fmla="*/ 0 w 14"/>
                  <a:gd name="T25" fmla="*/ 5 h 16"/>
                  <a:gd name="T26" fmla="*/ 0 w 14"/>
                  <a:gd name="T27" fmla="*/ 2 h 16"/>
                  <a:gd name="T28" fmla="*/ 3 w 14"/>
                  <a:gd name="T29" fmla="*/ 0 h 16"/>
                  <a:gd name="T30" fmla="*/ 6 w 14"/>
                  <a:gd name="T31" fmla="*/ 0 h 16"/>
                  <a:gd name="T32" fmla="*/ 6 w 14"/>
                  <a:gd name="T33" fmla="*/ 0 h 16"/>
                  <a:gd name="T34" fmla="*/ 11 w 14"/>
                  <a:gd name="T35" fmla="*/ 0 h 16"/>
                  <a:gd name="T36" fmla="*/ 12 w 14"/>
                  <a:gd name="T37" fmla="*/ 2 h 16"/>
                  <a:gd name="T38" fmla="*/ 14 w 14"/>
                  <a:gd name="T39" fmla="*/ 5 h 16"/>
                  <a:gd name="T40" fmla="*/ 14 w 14"/>
                  <a:gd name="T41" fmla="*/ 8 h 16"/>
                  <a:gd name="T42" fmla="*/ 14 w 14"/>
                  <a:gd name="T43" fmla="*/ 8 h 16"/>
                  <a:gd name="T44" fmla="*/ 3 w 14"/>
                  <a:gd name="T45" fmla="*/ 8 h 16"/>
                  <a:gd name="T46" fmla="*/ 3 w 14"/>
                  <a:gd name="T47" fmla="*/ 8 h 16"/>
                  <a:gd name="T48" fmla="*/ 3 w 14"/>
                  <a:gd name="T49" fmla="*/ 13 h 16"/>
                  <a:gd name="T50" fmla="*/ 6 w 14"/>
                  <a:gd name="T51" fmla="*/ 14 h 16"/>
                  <a:gd name="T52" fmla="*/ 6 w 14"/>
                  <a:gd name="T53" fmla="*/ 14 h 16"/>
                  <a:gd name="T54" fmla="*/ 9 w 14"/>
                  <a:gd name="T55" fmla="*/ 13 h 16"/>
                  <a:gd name="T56" fmla="*/ 11 w 14"/>
                  <a:gd name="T57" fmla="*/ 8 h 16"/>
                  <a:gd name="T58" fmla="*/ 11 w 14"/>
                  <a:gd name="T59" fmla="*/ 8 h 16"/>
                  <a:gd name="T60" fmla="*/ 9 w 14"/>
                  <a:gd name="T61" fmla="*/ 3 h 16"/>
                  <a:gd name="T62" fmla="*/ 6 w 14"/>
                  <a:gd name="T63" fmla="*/ 3 h 16"/>
                  <a:gd name="T64" fmla="*/ 6 w 14"/>
                  <a:gd name="T65" fmla="*/ 3 h 16"/>
                  <a:gd name="T66" fmla="*/ 3 w 14"/>
                  <a:gd name="T67" fmla="*/ 3 h 16"/>
                  <a:gd name="T68" fmla="*/ 3 w 14"/>
                  <a:gd name="T69" fmla="*/ 8 h 16"/>
                  <a:gd name="T70" fmla="*/ 3 w 14"/>
                  <a:gd name="T71" fmla="*/ 8 h 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
                  <a:gd name="T109" fmla="*/ 0 h 16"/>
                  <a:gd name="T110" fmla="*/ 14 w 14"/>
                  <a:gd name="T111" fmla="*/ 16 h 1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 h="16">
                    <a:moveTo>
                      <a:pt x="14" y="8"/>
                    </a:moveTo>
                    <a:lnTo>
                      <a:pt x="14" y="8"/>
                    </a:lnTo>
                    <a:lnTo>
                      <a:pt x="14" y="13"/>
                    </a:lnTo>
                    <a:lnTo>
                      <a:pt x="12" y="14"/>
                    </a:lnTo>
                    <a:lnTo>
                      <a:pt x="11" y="16"/>
                    </a:lnTo>
                    <a:lnTo>
                      <a:pt x="6" y="16"/>
                    </a:lnTo>
                    <a:lnTo>
                      <a:pt x="3" y="16"/>
                    </a:lnTo>
                    <a:lnTo>
                      <a:pt x="0" y="14"/>
                    </a:lnTo>
                    <a:lnTo>
                      <a:pt x="0" y="13"/>
                    </a:lnTo>
                    <a:lnTo>
                      <a:pt x="0" y="8"/>
                    </a:lnTo>
                    <a:lnTo>
                      <a:pt x="0" y="5"/>
                    </a:lnTo>
                    <a:lnTo>
                      <a:pt x="0" y="2"/>
                    </a:lnTo>
                    <a:lnTo>
                      <a:pt x="3" y="0"/>
                    </a:lnTo>
                    <a:lnTo>
                      <a:pt x="6" y="0"/>
                    </a:lnTo>
                    <a:lnTo>
                      <a:pt x="11" y="0"/>
                    </a:lnTo>
                    <a:lnTo>
                      <a:pt x="12" y="2"/>
                    </a:lnTo>
                    <a:lnTo>
                      <a:pt x="14" y="5"/>
                    </a:lnTo>
                    <a:lnTo>
                      <a:pt x="14" y="8"/>
                    </a:lnTo>
                    <a:close/>
                    <a:moveTo>
                      <a:pt x="3" y="8"/>
                    </a:moveTo>
                    <a:lnTo>
                      <a:pt x="3" y="8"/>
                    </a:lnTo>
                    <a:lnTo>
                      <a:pt x="3" y="13"/>
                    </a:lnTo>
                    <a:lnTo>
                      <a:pt x="6" y="14"/>
                    </a:lnTo>
                    <a:lnTo>
                      <a:pt x="9" y="13"/>
                    </a:lnTo>
                    <a:lnTo>
                      <a:pt x="11" y="8"/>
                    </a:lnTo>
                    <a:lnTo>
                      <a:pt x="9" y="3"/>
                    </a:lnTo>
                    <a:lnTo>
                      <a:pt x="6" y="3"/>
                    </a:lnTo>
                    <a:lnTo>
                      <a:pt x="3" y="3"/>
                    </a:lnTo>
                    <a:lnTo>
                      <a:pt x="3" y="8"/>
                    </a:lnTo>
                    <a:close/>
                  </a:path>
                </a:pathLst>
              </a:custGeom>
              <a:solidFill>
                <a:srgbClr val="89CEC4"/>
              </a:solidFill>
              <a:ln w="9525">
                <a:noFill/>
                <a:round/>
                <a:headEnd/>
                <a:tailEnd/>
              </a:ln>
            </p:spPr>
            <p:txBody>
              <a:bodyPr wrap="none" anchor="ctr"/>
              <a:lstStyle/>
              <a:p>
                <a:endParaRPr lang="en-US"/>
              </a:p>
            </p:txBody>
          </p:sp>
          <p:sp>
            <p:nvSpPr>
              <p:cNvPr id="19495" name="Freeform 59"/>
              <p:cNvSpPr>
                <a:spLocks noChangeArrowheads="1"/>
              </p:cNvSpPr>
              <p:nvPr/>
            </p:nvSpPr>
            <p:spPr bwMode="auto">
              <a:xfrm>
                <a:off x="2514" y="579"/>
                <a:ext cx="15" cy="16"/>
              </a:xfrm>
              <a:custGeom>
                <a:avLst/>
                <a:gdLst>
                  <a:gd name="T0" fmla="*/ 15 w 15"/>
                  <a:gd name="T1" fmla="*/ 10 h 16"/>
                  <a:gd name="T2" fmla="*/ 15 w 15"/>
                  <a:gd name="T3" fmla="*/ 10 h 16"/>
                  <a:gd name="T4" fmla="*/ 15 w 15"/>
                  <a:gd name="T5" fmla="*/ 13 h 16"/>
                  <a:gd name="T6" fmla="*/ 13 w 15"/>
                  <a:gd name="T7" fmla="*/ 16 h 16"/>
                  <a:gd name="T8" fmla="*/ 11 w 15"/>
                  <a:gd name="T9" fmla="*/ 16 h 16"/>
                  <a:gd name="T10" fmla="*/ 8 w 15"/>
                  <a:gd name="T11" fmla="*/ 16 h 16"/>
                  <a:gd name="T12" fmla="*/ 8 w 15"/>
                  <a:gd name="T13" fmla="*/ 16 h 16"/>
                  <a:gd name="T14" fmla="*/ 3 w 15"/>
                  <a:gd name="T15" fmla="*/ 16 h 16"/>
                  <a:gd name="T16" fmla="*/ 2 w 15"/>
                  <a:gd name="T17" fmla="*/ 14 h 16"/>
                  <a:gd name="T18" fmla="*/ 0 w 15"/>
                  <a:gd name="T19" fmla="*/ 13 h 16"/>
                  <a:gd name="T20" fmla="*/ 0 w 15"/>
                  <a:gd name="T21" fmla="*/ 8 h 16"/>
                  <a:gd name="T22" fmla="*/ 0 w 15"/>
                  <a:gd name="T23" fmla="*/ 8 h 16"/>
                  <a:gd name="T24" fmla="*/ 0 w 15"/>
                  <a:gd name="T25" fmla="*/ 5 h 16"/>
                  <a:gd name="T26" fmla="*/ 2 w 15"/>
                  <a:gd name="T27" fmla="*/ 2 h 16"/>
                  <a:gd name="T28" fmla="*/ 3 w 15"/>
                  <a:gd name="T29" fmla="*/ 0 h 16"/>
                  <a:gd name="T30" fmla="*/ 8 w 15"/>
                  <a:gd name="T31" fmla="*/ 0 h 16"/>
                  <a:gd name="T32" fmla="*/ 8 w 15"/>
                  <a:gd name="T33" fmla="*/ 0 h 16"/>
                  <a:gd name="T34" fmla="*/ 13 w 15"/>
                  <a:gd name="T35" fmla="*/ 2 h 16"/>
                  <a:gd name="T36" fmla="*/ 15 w 15"/>
                  <a:gd name="T37" fmla="*/ 3 h 16"/>
                  <a:gd name="T38" fmla="*/ 15 w 15"/>
                  <a:gd name="T39" fmla="*/ 6 h 16"/>
                  <a:gd name="T40" fmla="*/ 11 w 15"/>
                  <a:gd name="T41" fmla="*/ 6 h 16"/>
                  <a:gd name="T42" fmla="*/ 11 w 15"/>
                  <a:gd name="T43" fmla="*/ 6 h 16"/>
                  <a:gd name="T44" fmla="*/ 10 w 15"/>
                  <a:gd name="T45" fmla="*/ 3 h 16"/>
                  <a:gd name="T46" fmla="*/ 8 w 15"/>
                  <a:gd name="T47" fmla="*/ 3 h 16"/>
                  <a:gd name="T48" fmla="*/ 8 w 15"/>
                  <a:gd name="T49" fmla="*/ 3 h 16"/>
                  <a:gd name="T50" fmla="*/ 5 w 15"/>
                  <a:gd name="T51" fmla="*/ 3 h 16"/>
                  <a:gd name="T52" fmla="*/ 3 w 15"/>
                  <a:gd name="T53" fmla="*/ 8 h 16"/>
                  <a:gd name="T54" fmla="*/ 3 w 15"/>
                  <a:gd name="T55" fmla="*/ 8 h 16"/>
                  <a:gd name="T56" fmla="*/ 5 w 15"/>
                  <a:gd name="T57" fmla="*/ 13 h 16"/>
                  <a:gd name="T58" fmla="*/ 8 w 15"/>
                  <a:gd name="T59" fmla="*/ 14 h 16"/>
                  <a:gd name="T60" fmla="*/ 8 w 15"/>
                  <a:gd name="T61" fmla="*/ 14 h 16"/>
                  <a:gd name="T62" fmla="*/ 10 w 15"/>
                  <a:gd name="T63" fmla="*/ 13 h 16"/>
                  <a:gd name="T64" fmla="*/ 11 w 15"/>
                  <a:gd name="T65" fmla="*/ 10 h 16"/>
                  <a:gd name="T66" fmla="*/ 15 w 15"/>
                  <a:gd name="T67" fmla="*/ 10 h 1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5"/>
                  <a:gd name="T103" fmla="*/ 0 h 16"/>
                  <a:gd name="T104" fmla="*/ 15 w 15"/>
                  <a:gd name="T105" fmla="*/ 16 h 1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5" h="16">
                    <a:moveTo>
                      <a:pt x="15" y="10"/>
                    </a:moveTo>
                    <a:lnTo>
                      <a:pt x="15" y="10"/>
                    </a:lnTo>
                    <a:lnTo>
                      <a:pt x="15" y="13"/>
                    </a:lnTo>
                    <a:lnTo>
                      <a:pt x="13" y="16"/>
                    </a:lnTo>
                    <a:lnTo>
                      <a:pt x="11" y="16"/>
                    </a:lnTo>
                    <a:lnTo>
                      <a:pt x="8" y="16"/>
                    </a:lnTo>
                    <a:lnTo>
                      <a:pt x="3" y="16"/>
                    </a:lnTo>
                    <a:lnTo>
                      <a:pt x="2" y="14"/>
                    </a:lnTo>
                    <a:lnTo>
                      <a:pt x="0" y="13"/>
                    </a:lnTo>
                    <a:lnTo>
                      <a:pt x="0" y="8"/>
                    </a:lnTo>
                    <a:lnTo>
                      <a:pt x="0" y="5"/>
                    </a:lnTo>
                    <a:lnTo>
                      <a:pt x="2" y="2"/>
                    </a:lnTo>
                    <a:lnTo>
                      <a:pt x="3" y="0"/>
                    </a:lnTo>
                    <a:lnTo>
                      <a:pt x="8" y="0"/>
                    </a:lnTo>
                    <a:lnTo>
                      <a:pt x="13" y="2"/>
                    </a:lnTo>
                    <a:lnTo>
                      <a:pt x="15" y="3"/>
                    </a:lnTo>
                    <a:lnTo>
                      <a:pt x="15" y="6"/>
                    </a:lnTo>
                    <a:lnTo>
                      <a:pt x="11" y="6"/>
                    </a:lnTo>
                    <a:lnTo>
                      <a:pt x="10" y="3"/>
                    </a:lnTo>
                    <a:lnTo>
                      <a:pt x="8" y="3"/>
                    </a:lnTo>
                    <a:lnTo>
                      <a:pt x="5" y="3"/>
                    </a:lnTo>
                    <a:lnTo>
                      <a:pt x="3" y="8"/>
                    </a:lnTo>
                    <a:lnTo>
                      <a:pt x="5" y="13"/>
                    </a:lnTo>
                    <a:lnTo>
                      <a:pt x="8" y="14"/>
                    </a:lnTo>
                    <a:lnTo>
                      <a:pt x="10" y="13"/>
                    </a:lnTo>
                    <a:lnTo>
                      <a:pt x="11" y="10"/>
                    </a:lnTo>
                    <a:lnTo>
                      <a:pt x="15" y="10"/>
                    </a:lnTo>
                    <a:close/>
                  </a:path>
                </a:pathLst>
              </a:custGeom>
              <a:solidFill>
                <a:srgbClr val="89CEC4"/>
              </a:solidFill>
              <a:ln w="9525">
                <a:noFill/>
                <a:round/>
                <a:headEnd/>
                <a:tailEnd/>
              </a:ln>
            </p:spPr>
            <p:txBody>
              <a:bodyPr wrap="none" anchor="ctr"/>
              <a:lstStyle/>
              <a:p>
                <a:endParaRPr lang="en-US"/>
              </a:p>
            </p:txBody>
          </p:sp>
          <p:sp>
            <p:nvSpPr>
              <p:cNvPr id="19496" name="Freeform 60"/>
              <p:cNvSpPr>
                <a:spLocks noChangeArrowheads="1"/>
              </p:cNvSpPr>
              <p:nvPr/>
            </p:nvSpPr>
            <p:spPr bwMode="auto">
              <a:xfrm>
                <a:off x="2532" y="573"/>
                <a:ext cx="3" cy="22"/>
              </a:xfrm>
              <a:custGeom>
                <a:avLst/>
                <a:gdLst>
                  <a:gd name="T0" fmla="*/ 3 w 3"/>
                  <a:gd name="T1" fmla="*/ 3 h 22"/>
                  <a:gd name="T2" fmla="*/ 0 w 3"/>
                  <a:gd name="T3" fmla="*/ 3 h 22"/>
                  <a:gd name="T4" fmla="*/ 0 w 3"/>
                  <a:gd name="T5" fmla="*/ 0 h 22"/>
                  <a:gd name="T6" fmla="*/ 3 w 3"/>
                  <a:gd name="T7" fmla="*/ 0 h 22"/>
                  <a:gd name="T8" fmla="*/ 3 w 3"/>
                  <a:gd name="T9" fmla="*/ 3 h 22"/>
                  <a:gd name="T10" fmla="*/ 3 w 3"/>
                  <a:gd name="T11" fmla="*/ 22 h 22"/>
                  <a:gd name="T12" fmla="*/ 0 w 3"/>
                  <a:gd name="T13" fmla="*/ 22 h 22"/>
                  <a:gd name="T14" fmla="*/ 0 w 3"/>
                  <a:gd name="T15" fmla="*/ 6 h 22"/>
                  <a:gd name="T16" fmla="*/ 3 w 3"/>
                  <a:gd name="T17" fmla="*/ 6 h 22"/>
                  <a:gd name="T18" fmla="*/ 3 w 3"/>
                  <a:gd name="T19" fmla="*/ 22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22"/>
                  <a:gd name="T32" fmla="*/ 3 w 3"/>
                  <a:gd name="T33" fmla="*/ 22 h 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22">
                    <a:moveTo>
                      <a:pt x="3" y="3"/>
                    </a:moveTo>
                    <a:lnTo>
                      <a:pt x="0" y="3"/>
                    </a:lnTo>
                    <a:lnTo>
                      <a:pt x="0" y="0"/>
                    </a:lnTo>
                    <a:lnTo>
                      <a:pt x="3" y="0"/>
                    </a:lnTo>
                    <a:lnTo>
                      <a:pt x="3" y="3"/>
                    </a:lnTo>
                    <a:close/>
                    <a:moveTo>
                      <a:pt x="3" y="22"/>
                    </a:moveTo>
                    <a:lnTo>
                      <a:pt x="0" y="22"/>
                    </a:lnTo>
                    <a:lnTo>
                      <a:pt x="0" y="6"/>
                    </a:lnTo>
                    <a:lnTo>
                      <a:pt x="3" y="6"/>
                    </a:lnTo>
                    <a:lnTo>
                      <a:pt x="3" y="22"/>
                    </a:lnTo>
                    <a:close/>
                  </a:path>
                </a:pathLst>
              </a:custGeom>
              <a:solidFill>
                <a:srgbClr val="89CEC4"/>
              </a:solidFill>
              <a:ln w="9525">
                <a:noFill/>
                <a:round/>
                <a:headEnd/>
                <a:tailEnd/>
              </a:ln>
            </p:spPr>
            <p:txBody>
              <a:bodyPr wrap="none" anchor="ctr"/>
              <a:lstStyle/>
              <a:p>
                <a:endParaRPr lang="en-US"/>
              </a:p>
            </p:txBody>
          </p:sp>
          <p:sp>
            <p:nvSpPr>
              <p:cNvPr id="19497" name="Freeform 61"/>
              <p:cNvSpPr>
                <a:spLocks noChangeArrowheads="1"/>
              </p:cNvSpPr>
              <p:nvPr/>
            </p:nvSpPr>
            <p:spPr bwMode="auto">
              <a:xfrm>
                <a:off x="2538" y="579"/>
                <a:ext cx="16" cy="16"/>
              </a:xfrm>
              <a:custGeom>
                <a:avLst/>
                <a:gdLst>
                  <a:gd name="T0" fmla="*/ 11 w 16"/>
                  <a:gd name="T1" fmla="*/ 14 h 16"/>
                  <a:gd name="T2" fmla="*/ 11 w 16"/>
                  <a:gd name="T3" fmla="*/ 14 h 16"/>
                  <a:gd name="T4" fmla="*/ 11 w 16"/>
                  <a:gd name="T5" fmla="*/ 14 h 16"/>
                  <a:gd name="T6" fmla="*/ 10 w 16"/>
                  <a:gd name="T7" fmla="*/ 16 h 16"/>
                  <a:gd name="T8" fmla="*/ 7 w 16"/>
                  <a:gd name="T9" fmla="*/ 16 h 16"/>
                  <a:gd name="T10" fmla="*/ 7 w 16"/>
                  <a:gd name="T11" fmla="*/ 16 h 16"/>
                  <a:gd name="T12" fmla="*/ 2 w 16"/>
                  <a:gd name="T13" fmla="*/ 16 h 16"/>
                  <a:gd name="T14" fmla="*/ 2 w 16"/>
                  <a:gd name="T15" fmla="*/ 14 h 16"/>
                  <a:gd name="T16" fmla="*/ 0 w 16"/>
                  <a:gd name="T17" fmla="*/ 11 h 16"/>
                  <a:gd name="T18" fmla="*/ 0 w 16"/>
                  <a:gd name="T19" fmla="*/ 11 h 16"/>
                  <a:gd name="T20" fmla="*/ 2 w 16"/>
                  <a:gd name="T21" fmla="*/ 10 h 16"/>
                  <a:gd name="T22" fmla="*/ 2 w 16"/>
                  <a:gd name="T23" fmla="*/ 8 h 16"/>
                  <a:gd name="T24" fmla="*/ 7 w 16"/>
                  <a:gd name="T25" fmla="*/ 6 h 16"/>
                  <a:gd name="T26" fmla="*/ 7 w 16"/>
                  <a:gd name="T27" fmla="*/ 6 h 16"/>
                  <a:gd name="T28" fmla="*/ 10 w 16"/>
                  <a:gd name="T29" fmla="*/ 6 h 16"/>
                  <a:gd name="T30" fmla="*/ 11 w 16"/>
                  <a:gd name="T31" fmla="*/ 8 h 16"/>
                  <a:gd name="T32" fmla="*/ 11 w 16"/>
                  <a:gd name="T33" fmla="*/ 8 h 16"/>
                  <a:gd name="T34" fmla="*/ 11 w 16"/>
                  <a:gd name="T35" fmla="*/ 6 h 16"/>
                  <a:gd name="T36" fmla="*/ 11 w 16"/>
                  <a:gd name="T37" fmla="*/ 6 h 16"/>
                  <a:gd name="T38" fmla="*/ 11 w 16"/>
                  <a:gd name="T39" fmla="*/ 3 h 16"/>
                  <a:gd name="T40" fmla="*/ 8 w 16"/>
                  <a:gd name="T41" fmla="*/ 3 h 16"/>
                  <a:gd name="T42" fmla="*/ 8 w 16"/>
                  <a:gd name="T43" fmla="*/ 3 h 16"/>
                  <a:gd name="T44" fmla="*/ 7 w 16"/>
                  <a:gd name="T45" fmla="*/ 3 h 16"/>
                  <a:gd name="T46" fmla="*/ 5 w 16"/>
                  <a:gd name="T47" fmla="*/ 5 h 16"/>
                  <a:gd name="T48" fmla="*/ 2 w 16"/>
                  <a:gd name="T49" fmla="*/ 5 h 16"/>
                  <a:gd name="T50" fmla="*/ 2 w 16"/>
                  <a:gd name="T51" fmla="*/ 5 h 16"/>
                  <a:gd name="T52" fmla="*/ 2 w 16"/>
                  <a:gd name="T53" fmla="*/ 2 h 16"/>
                  <a:gd name="T54" fmla="*/ 3 w 16"/>
                  <a:gd name="T55" fmla="*/ 0 h 16"/>
                  <a:gd name="T56" fmla="*/ 8 w 16"/>
                  <a:gd name="T57" fmla="*/ 0 h 16"/>
                  <a:gd name="T58" fmla="*/ 8 w 16"/>
                  <a:gd name="T59" fmla="*/ 0 h 16"/>
                  <a:gd name="T60" fmla="*/ 11 w 16"/>
                  <a:gd name="T61" fmla="*/ 0 h 16"/>
                  <a:gd name="T62" fmla="*/ 15 w 16"/>
                  <a:gd name="T63" fmla="*/ 2 h 16"/>
                  <a:gd name="T64" fmla="*/ 16 w 16"/>
                  <a:gd name="T65" fmla="*/ 3 h 16"/>
                  <a:gd name="T66" fmla="*/ 16 w 16"/>
                  <a:gd name="T67" fmla="*/ 6 h 16"/>
                  <a:gd name="T68" fmla="*/ 16 w 16"/>
                  <a:gd name="T69" fmla="*/ 16 h 16"/>
                  <a:gd name="T70" fmla="*/ 11 w 16"/>
                  <a:gd name="T71" fmla="*/ 16 h 16"/>
                  <a:gd name="T72" fmla="*/ 11 w 16"/>
                  <a:gd name="T73" fmla="*/ 14 h 16"/>
                  <a:gd name="T74" fmla="*/ 5 w 16"/>
                  <a:gd name="T75" fmla="*/ 11 h 16"/>
                  <a:gd name="T76" fmla="*/ 5 w 16"/>
                  <a:gd name="T77" fmla="*/ 11 h 16"/>
                  <a:gd name="T78" fmla="*/ 5 w 16"/>
                  <a:gd name="T79" fmla="*/ 13 h 16"/>
                  <a:gd name="T80" fmla="*/ 8 w 16"/>
                  <a:gd name="T81" fmla="*/ 14 h 16"/>
                  <a:gd name="T82" fmla="*/ 8 w 16"/>
                  <a:gd name="T83" fmla="*/ 14 h 16"/>
                  <a:gd name="T84" fmla="*/ 11 w 16"/>
                  <a:gd name="T85" fmla="*/ 13 h 16"/>
                  <a:gd name="T86" fmla="*/ 11 w 16"/>
                  <a:gd name="T87" fmla="*/ 11 h 16"/>
                  <a:gd name="T88" fmla="*/ 11 w 16"/>
                  <a:gd name="T89" fmla="*/ 11 h 16"/>
                  <a:gd name="T90" fmla="*/ 11 w 16"/>
                  <a:gd name="T91" fmla="*/ 10 h 16"/>
                  <a:gd name="T92" fmla="*/ 8 w 16"/>
                  <a:gd name="T93" fmla="*/ 10 h 16"/>
                  <a:gd name="T94" fmla="*/ 8 w 16"/>
                  <a:gd name="T95" fmla="*/ 10 h 16"/>
                  <a:gd name="T96" fmla="*/ 7 w 16"/>
                  <a:gd name="T97" fmla="*/ 10 h 16"/>
                  <a:gd name="T98" fmla="*/ 5 w 16"/>
                  <a:gd name="T99" fmla="*/ 11 h 16"/>
                  <a:gd name="T100" fmla="*/ 5 w 16"/>
                  <a:gd name="T101" fmla="*/ 11 h 1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6"/>
                  <a:gd name="T154" fmla="*/ 0 h 16"/>
                  <a:gd name="T155" fmla="*/ 16 w 16"/>
                  <a:gd name="T156" fmla="*/ 16 h 1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6" h="16">
                    <a:moveTo>
                      <a:pt x="11" y="14"/>
                    </a:moveTo>
                    <a:lnTo>
                      <a:pt x="11" y="14"/>
                    </a:lnTo>
                    <a:lnTo>
                      <a:pt x="10" y="16"/>
                    </a:lnTo>
                    <a:lnTo>
                      <a:pt x="7" y="16"/>
                    </a:lnTo>
                    <a:lnTo>
                      <a:pt x="2" y="16"/>
                    </a:lnTo>
                    <a:lnTo>
                      <a:pt x="2" y="14"/>
                    </a:lnTo>
                    <a:lnTo>
                      <a:pt x="0" y="11"/>
                    </a:lnTo>
                    <a:lnTo>
                      <a:pt x="2" y="10"/>
                    </a:lnTo>
                    <a:lnTo>
                      <a:pt x="2" y="8"/>
                    </a:lnTo>
                    <a:lnTo>
                      <a:pt x="7" y="6"/>
                    </a:lnTo>
                    <a:lnTo>
                      <a:pt x="10" y="6"/>
                    </a:lnTo>
                    <a:lnTo>
                      <a:pt x="11" y="8"/>
                    </a:lnTo>
                    <a:lnTo>
                      <a:pt x="11" y="6"/>
                    </a:lnTo>
                    <a:lnTo>
                      <a:pt x="11" y="3"/>
                    </a:lnTo>
                    <a:lnTo>
                      <a:pt x="8" y="3"/>
                    </a:lnTo>
                    <a:lnTo>
                      <a:pt x="7" y="3"/>
                    </a:lnTo>
                    <a:lnTo>
                      <a:pt x="5" y="5"/>
                    </a:lnTo>
                    <a:lnTo>
                      <a:pt x="2" y="5"/>
                    </a:lnTo>
                    <a:lnTo>
                      <a:pt x="2" y="2"/>
                    </a:lnTo>
                    <a:lnTo>
                      <a:pt x="3" y="0"/>
                    </a:lnTo>
                    <a:lnTo>
                      <a:pt x="8" y="0"/>
                    </a:lnTo>
                    <a:lnTo>
                      <a:pt x="11" y="0"/>
                    </a:lnTo>
                    <a:lnTo>
                      <a:pt x="15" y="2"/>
                    </a:lnTo>
                    <a:lnTo>
                      <a:pt x="16" y="3"/>
                    </a:lnTo>
                    <a:lnTo>
                      <a:pt x="16" y="6"/>
                    </a:lnTo>
                    <a:lnTo>
                      <a:pt x="16" y="16"/>
                    </a:lnTo>
                    <a:lnTo>
                      <a:pt x="11" y="16"/>
                    </a:lnTo>
                    <a:lnTo>
                      <a:pt x="11" y="14"/>
                    </a:lnTo>
                    <a:close/>
                    <a:moveTo>
                      <a:pt x="5" y="11"/>
                    </a:moveTo>
                    <a:lnTo>
                      <a:pt x="5" y="11"/>
                    </a:lnTo>
                    <a:lnTo>
                      <a:pt x="5" y="13"/>
                    </a:lnTo>
                    <a:lnTo>
                      <a:pt x="8" y="14"/>
                    </a:lnTo>
                    <a:lnTo>
                      <a:pt x="11" y="13"/>
                    </a:lnTo>
                    <a:lnTo>
                      <a:pt x="11" y="11"/>
                    </a:lnTo>
                    <a:lnTo>
                      <a:pt x="11" y="10"/>
                    </a:lnTo>
                    <a:lnTo>
                      <a:pt x="8" y="10"/>
                    </a:lnTo>
                    <a:lnTo>
                      <a:pt x="7" y="10"/>
                    </a:lnTo>
                    <a:lnTo>
                      <a:pt x="5" y="11"/>
                    </a:lnTo>
                    <a:close/>
                  </a:path>
                </a:pathLst>
              </a:custGeom>
              <a:solidFill>
                <a:srgbClr val="89CEC4"/>
              </a:solidFill>
              <a:ln w="9525">
                <a:noFill/>
                <a:round/>
                <a:headEnd/>
                <a:tailEnd/>
              </a:ln>
            </p:spPr>
            <p:txBody>
              <a:bodyPr wrap="none" anchor="ctr"/>
              <a:lstStyle/>
              <a:p>
                <a:endParaRPr lang="en-US"/>
              </a:p>
            </p:txBody>
          </p:sp>
          <p:sp>
            <p:nvSpPr>
              <p:cNvPr id="19498" name="Freeform 62"/>
              <p:cNvSpPr>
                <a:spLocks noChangeArrowheads="1"/>
              </p:cNvSpPr>
              <p:nvPr/>
            </p:nvSpPr>
            <p:spPr bwMode="auto">
              <a:xfrm>
                <a:off x="2556" y="576"/>
                <a:ext cx="13" cy="19"/>
              </a:xfrm>
              <a:custGeom>
                <a:avLst/>
                <a:gdLst>
                  <a:gd name="T0" fmla="*/ 0 w 13"/>
                  <a:gd name="T1" fmla="*/ 3 h 19"/>
                  <a:gd name="T2" fmla="*/ 1 w 13"/>
                  <a:gd name="T3" fmla="*/ 3 h 19"/>
                  <a:gd name="T4" fmla="*/ 1 w 13"/>
                  <a:gd name="T5" fmla="*/ 0 h 19"/>
                  <a:gd name="T6" fmla="*/ 6 w 13"/>
                  <a:gd name="T7" fmla="*/ 0 h 19"/>
                  <a:gd name="T8" fmla="*/ 6 w 13"/>
                  <a:gd name="T9" fmla="*/ 3 h 19"/>
                  <a:gd name="T10" fmla="*/ 13 w 13"/>
                  <a:gd name="T11" fmla="*/ 3 h 19"/>
                  <a:gd name="T12" fmla="*/ 13 w 13"/>
                  <a:gd name="T13" fmla="*/ 6 h 19"/>
                  <a:gd name="T14" fmla="*/ 6 w 13"/>
                  <a:gd name="T15" fmla="*/ 6 h 19"/>
                  <a:gd name="T16" fmla="*/ 6 w 13"/>
                  <a:gd name="T17" fmla="*/ 14 h 19"/>
                  <a:gd name="T18" fmla="*/ 6 w 13"/>
                  <a:gd name="T19" fmla="*/ 14 h 19"/>
                  <a:gd name="T20" fmla="*/ 6 w 13"/>
                  <a:gd name="T21" fmla="*/ 16 h 19"/>
                  <a:gd name="T22" fmla="*/ 8 w 13"/>
                  <a:gd name="T23" fmla="*/ 17 h 19"/>
                  <a:gd name="T24" fmla="*/ 8 w 13"/>
                  <a:gd name="T25" fmla="*/ 17 h 19"/>
                  <a:gd name="T26" fmla="*/ 9 w 13"/>
                  <a:gd name="T27" fmla="*/ 16 h 19"/>
                  <a:gd name="T28" fmla="*/ 9 w 13"/>
                  <a:gd name="T29" fmla="*/ 13 h 19"/>
                  <a:gd name="T30" fmla="*/ 13 w 13"/>
                  <a:gd name="T31" fmla="*/ 13 h 19"/>
                  <a:gd name="T32" fmla="*/ 13 w 13"/>
                  <a:gd name="T33" fmla="*/ 13 h 19"/>
                  <a:gd name="T34" fmla="*/ 13 w 13"/>
                  <a:gd name="T35" fmla="*/ 19 h 19"/>
                  <a:gd name="T36" fmla="*/ 11 w 13"/>
                  <a:gd name="T37" fmla="*/ 19 h 19"/>
                  <a:gd name="T38" fmla="*/ 8 w 13"/>
                  <a:gd name="T39" fmla="*/ 19 h 19"/>
                  <a:gd name="T40" fmla="*/ 8 w 13"/>
                  <a:gd name="T41" fmla="*/ 19 h 19"/>
                  <a:gd name="T42" fmla="*/ 3 w 13"/>
                  <a:gd name="T43" fmla="*/ 19 h 19"/>
                  <a:gd name="T44" fmla="*/ 1 w 13"/>
                  <a:gd name="T45" fmla="*/ 14 h 19"/>
                  <a:gd name="T46" fmla="*/ 1 w 13"/>
                  <a:gd name="T47" fmla="*/ 6 h 19"/>
                  <a:gd name="T48" fmla="*/ 0 w 13"/>
                  <a:gd name="T49" fmla="*/ 6 h 19"/>
                  <a:gd name="T50" fmla="*/ 0 w 13"/>
                  <a:gd name="T51" fmla="*/ 3 h 1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
                  <a:gd name="T79" fmla="*/ 0 h 19"/>
                  <a:gd name="T80" fmla="*/ 13 w 13"/>
                  <a:gd name="T81" fmla="*/ 19 h 1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 h="19">
                    <a:moveTo>
                      <a:pt x="0" y="3"/>
                    </a:moveTo>
                    <a:lnTo>
                      <a:pt x="1" y="3"/>
                    </a:lnTo>
                    <a:lnTo>
                      <a:pt x="1" y="0"/>
                    </a:lnTo>
                    <a:lnTo>
                      <a:pt x="6" y="0"/>
                    </a:lnTo>
                    <a:lnTo>
                      <a:pt x="6" y="3"/>
                    </a:lnTo>
                    <a:lnTo>
                      <a:pt x="13" y="3"/>
                    </a:lnTo>
                    <a:lnTo>
                      <a:pt x="13" y="6"/>
                    </a:lnTo>
                    <a:lnTo>
                      <a:pt x="6" y="6"/>
                    </a:lnTo>
                    <a:lnTo>
                      <a:pt x="6" y="14"/>
                    </a:lnTo>
                    <a:lnTo>
                      <a:pt x="6" y="16"/>
                    </a:lnTo>
                    <a:lnTo>
                      <a:pt x="8" y="17"/>
                    </a:lnTo>
                    <a:lnTo>
                      <a:pt x="9" y="16"/>
                    </a:lnTo>
                    <a:lnTo>
                      <a:pt x="9" y="13"/>
                    </a:lnTo>
                    <a:lnTo>
                      <a:pt x="13" y="13"/>
                    </a:lnTo>
                    <a:lnTo>
                      <a:pt x="13" y="19"/>
                    </a:lnTo>
                    <a:lnTo>
                      <a:pt x="11" y="19"/>
                    </a:lnTo>
                    <a:lnTo>
                      <a:pt x="8" y="19"/>
                    </a:lnTo>
                    <a:lnTo>
                      <a:pt x="3" y="19"/>
                    </a:lnTo>
                    <a:lnTo>
                      <a:pt x="1" y="14"/>
                    </a:lnTo>
                    <a:lnTo>
                      <a:pt x="1" y="6"/>
                    </a:lnTo>
                    <a:lnTo>
                      <a:pt x="0" y="6"/>
                    </a:lnTo>
                    <a:lnTo>
                      <a:pt x="0" y="3"/>
                    </a:lnTo>
                    <a:close/>
                  </a:path>
                </a:pathLst>
              </a:custGeom>
              <a:solidFill>
                <a:srgbClr val="89CEC4"/>
              </a:solidFill>
              <a:ln w="9525">
                <a:noFill/>
                <a:round/>
                <a:headEnd/>
                <a:tailEnd/>
              </a:ln>
            </p:spPr>
            <p:txBody>
              <a:bodyPr wrap="none" anchor="ctr"/>
              <a:lstStyle/>
              <a:p>
                <a:endParaRPr lang="en-US"/>
              </a:p>
            </p:txBody>
          </p:sp>
          <p:sp>
            <p:nvSpPr>
              <p:cNvPr id="19499" name="Freeform 63"/>
              <p:cNvSpPr>
                <a:spLocks noChangeArrowheads="1"/>
              </p:cNvSpPr>
              <p:nvPr/>
            </p:nvSpPr>
            <p:spPr bwMode="auto">
              <a:xfrm>
                <a:off x="2572" y="573"/>
                <a:ext cx="3" cy="22"/>
              </a:xfrm>
              <a:custGeom>
                <a:avLst/>
                <a:gdLst>
                  <a:gd name="T0" fmla="*/ 3 w 3"/>
                  <a:gd name="T1" fmla="*/ 3 h 22"/>
                  <a:gd name="T2" fmla="*/ 0 w 3"/>
                  <a:gd name="T3" fmla="*/ 3 h 22"/>
                  <a:gd name="T4" fmla="*/ 0 w 3"/>
                  <a:gd name="T5" fmla="*/ 0 h 22"/>
                  <a:gd name="T6" fmla="*/ 3 w 3"/>
                  <a:gd name="T7" fmla="*/ 0 h 22"/>
                  <a:gd name="T8" fmla="*/ 3 w 3"/>
                  <a:gd name="T9" fmla="*/ 3 h 22"/>
                  <a:gd name="T10" fmla="*/ 3 w 3"/>
                  <a:gd name="T11" fmla="*/ 22 h 22"/>
                  <a:gd name="T12" fmla="*/ 0 w 3"/>
                  <a:gd name="T13" fmla="*/ 22 h 22"/>
                  <a:gd name="T14" fmla="*/ 0 w 3"/>
                  <a:gd name="T15" fmla="*/ 6 h 22"/>
                  <a:gd name="T16" fmla="*/ 3 w 3"/>
                  <a:gd name="T17" fmla="*/ 6 h 22"/>
                  <a:gd name="T18" fmla="*/ 3 w 3"/>
                  <a:gd name="T19" fmla="*/ 22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22"/>
                  <a:gd name="T32" fmla="*/ 3 w 3"/>
                  <a:gd name="T33" fmla="*/ 22 h 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22">
                    <a:moveTo>
                      <a:pt x="3" y="3"/>
                    </a:moveTo>
                    <a:lnTo>
                      <a:pt x="0" y="3"/>
                    </a:lnTo>
                    <a:lnTo>
                      <a:pt x="0" y="0"/>
                    </a:lnTo>
                    <a:lnTo>
                      <a:pt x="3" y="0"/>
                    </a:lnTo>
                    <a:lnTo>
                      <a:pt x="3" y="3"/>
                    </a:lnTo>
                    <a:close/>
                    <a:moveTo>
                      <a:pt x="3" y="22"/>
                    </a:moveTo>
                    <a:lnTo>
                      <a:pt x="0" y="22"/>
                    </a:lnTo>
                    <a:lnTo>
                      <a:pt x="0" y="6"/>
                    </a:lnTo>
                    <a:lnTo>
                      <a:pt x="3" y="6"/>
                    </a:lnTo>
                    <a:lnTo>
                      <a:pt x="3" y="22"/>
                    </a:lnTo>
                    <a:close/>
                  </a:path>
                </a:pathLst>
              </a:custGeom>
              <a:solidFill>
                <a:srgbClr val="89CEC4"/>
              </a:solidFill>
              <a:ln w="9525">
                <a:noFill/>
                <a:round/>
                <a:headEnd/>
                <a:tailEnd/>
              </a:ln>
            </p:spPr>
            <p:txBody>
              <a:bodyPr wrap="none" anchor="ctr"/>
              <a:lstStyle/>
              <a:p>
                <a:endParaRPr lang="en-US"/>
              </a:p>
            </p:txBody>
          </p:sp>
          <p:sp>
            <p:nvSpPr>
              <p:cNvPr id="19500" name="Freeform 64"/>
              <p:cNvSpPr>
                <a:spLocks noChangeArrowheads="1"/>
              </p:cNvSpPr>
              <p:nvPr/>
            </p:nvSpPr>
            <p:spPr bwMode="auto">
              <a:xfrm>
                <a:off x="2578" y="579"/>
                <a:ext cx="16" cy="16"/>
              </a:xfrm>
              <a:custGeom>
                <a:avLst/>
                <a:gdLst>
                  <a:gd name="T0" fmla="*/ 16 w 16"/>
                  <a:gd name="T1" fmla="*/ 8 h 16"/>
                  <a:gd name="T2" fmla="*/ 16 w 16"/>
                  <a:gd name="T3" fmla="*/ 8 h 16"/>
                  <a:gd name="T4" fmla="*/ 15 w 16"/>
                  <a:gd name="T5" fmla="*/ 13 h 16"/>
                  <a:gd name="T6" fmla="*/ 15 w 16"/>
                  <a:gd name="T7" fmla="*/ 14 h 16"/>
                  <a:gd name="T8" fmla="*/ 11 w 16"/>
                  <a:gd name="T9" fmla="*/ 16 h 16"/>
                  <a:gd name="T10" fmla="*/ 8 w 16"/>
                  <a:gd name="T11" fmla="*/ 16 h 16"/>
                  <a:gd name="T12" fmla="*/ 8 w 16"/>
                  <a:gd name="T13" fmla="*/ 16 h 16"/>
                  <a:gd name="T14" fmla="*/ 3 w 16"/>
                  <a:gd name="T15" fmla="*/ 16 h 16"/>
                  <a:gd name="T16" fmla="*/ 2 w 16"/>
                  <a:gd name="T17" fmla="*/ 14 h 16"/>
                  <a:gd name="T18" fmla="*/ 0 w 16"/>
                  <a:gd name="T19" fmla="*/ 13 h 16"/>
                  <a:gd name="T20" fmla="*/ 0 w 16"/>
                  <a:gd name="T21" fmla="*/ 8 h 16"/>
                  <a:gd name="T22" fmla="*/ 0 w 16"/>
                  <a:gd name="T23" fmla="*/ 8 h 16"/>
                  <a:gd name="T24" fmla="*/ 0 w 16"/>
                  <a:gd name="T25" fmla="*/ 5 h 16"/>
                  <a:gd name="T26" fmla="*/ 2 w 16"/>
                  <a:gd name="T27" fmla="*/ 2 h 16"/>
                  <a:gd name="T28" fmla="*/ 3 w 16"/>
                  <a:gd name="T29" fmla="*/ 0 h 16"/>
                  <a:gd name="T30" fmla="*/ 8 w 16"/>
                  <a:gd name="T31" fmla="*/ 0 h 16"/>
                  <a:gd name="T32" fmla="*/ 8 w 16"/>
                  <a:gd name="T33" fmla="*/ 0 h 16"/>
                  <a:gd name="T34" fmla="*/ 11 w 16"/>
                  <a:gd name="T35" fmla="*/ 0 h 16"/>
                  <a:gd name="T36" fmla="*/ 15 w 16"/>
                  <a:gd name="T37" fmla="*/ 2 h 16"/>
                  <a:gd name="T38" fmla="*/ 15 w 16"/>
                  <a:gd name="T39" fmla="*/ 5 h 16"/>
                  <a:gd name="T40" fmla="*/ 16 w 16"/>
                  <a:gd name="T41" fmla="*/ 8 h 16"/>
                  <a:gd name="T42" fmla="*/ 16 w 16"/>
                  <a:gd name="T43" fmla="*/ 8 h 16"/>
                  <a:gd name="T44" fmla="*/ 3 w 16"/>
                  <a:gd name="T45" fmla="*/ 8 h 16"/>
                  <a:gd name="T46" fmla="*/ 3 w 16"/>
                  <a:gd name="T47" fmla="*/ 8 h 16"/>
                  <a:gd name="T48" fmla="*/ 5 w 16"/>
                  <a:gd name="T49" fmla="*/ 13 h 16"/>
                  <a:gd name="T50" fmla="*/ 8 w 16"/>
                  <a:gd name="T51" fmla="*/ 14 h 16"/>
                  <a:gd name="T52" fmla="*/ 8 w 16"/>
                  <a:gd name="T53" fmla="*/ 14 h 16"/>
                  <a:gd name="T54" fmla="*/ 11 w 16"/>
                  <a:gd name="T55" fmla="*/ 13 h 16"/>
                  <a:gd name="T56" fmla="*/ 11 w 16"/>
                  <a:gd name="T57" fmla="*/ 8 h 16"/>
                  <a:gd name="T58" fmla="*/ 11 w 16"/>
                  <a:gd name="T59" fmla="*/ 8 h 16"/>
                  <a:gd name="T60" fmla="*/ 11 w 16"/>
                  <a:gd name="T61" fmla="*/ 3 h 16"/>
                  <a:gd name="T62" fmla="*/ 8 w 16"/>
                  <a:gd name="T63" fmla="*/ 3 h 16"/>
                  <a:gd name="T64" fmla="*/ 8 w 16"/>
                  <a:gd name="T65" fmla="*/ 3 h 16"/>
                  <a:gd name="T66" fmla="*/ 5 w 16"/>
                  <a:gd name="T67" fmla="*/ 3 h 16"/>
                  <a:gd name="T68" fmla="*/ 3 w 16"/>
                  <a:gd name="T69" fmla="*/ 8 h 16"/>
                  <a:gd name="T70" fmla="*/ 3 w 16"/>
                  <a:gd name="T71" fmla="*/ 8 h 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
                  <a:gd name="T109" fmla="*/ 0 h 16"/>
                  <a:gd name="T110" fmla="*/ 16 w 16"/>
                  <a:gd name="T111" fmla="*/ 16 h 1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 h="16">
                    <a:moveTo>
                      <a:pt x="16" y="8"/>
                    </a:moveTo>
                    <a:lnTo>
                      <a:pt x="16" y="8"/>
                    </a:lnTo>
                    <a:lnTo>
                      <a:pt x="15" y="13"/>
                    </a:lnTo>
                    <a:lnTo>
                      <a:pt x="15" y="14"/>
                    </a:lnTo>
                    <a:lnTo>
                      <a:pt x="11" y="16"/>
                    </a:lnTo>
                    <a:lnTo>
                      <a:pt x="8" y="16"/>
                    </a:lnTo>
                    <a:lnTo>
                      <a:pt x="3" y="16"/>
                    </a:lnTo>
                    <a:lnTo>
                      <a:pt x="2" y="14"/>
                    </a:lnTo>
                    <a:lnTo>
                      <a:pt x="0" y="13"/>
                    </a:lnTo>
                    <a:lnTo>
                      <a:pt x="0" y="8"/>
                    </a:lnTo>
                    <a:lnTo>
                      <a:pt x="0" y="5"/>
                    </a:lnTo>
                    <a:lnTo>
                      <a:pt x="2" y="2"/>
                    </a:lnTo>
                    <a:lnTo>
                      <a:pt x="3" y="0"/>
                    </a:lnTo>
                    <a:lnTo>
                      <a:pt x="8" y="0"/>
                    </a:lnTo>
                    <a:lnTo>
                      <a:pt x="11" y="0"/>
                    </a:lnTo>
                    <a:lnTo>
                      <a:pt x="15" y="2"/>
                    </a:lnTo>
                    <a:lnTo>
                      <a:pt x="15" y="5"/>
                    </a:lnTo>
                    <a:lnTo>
                      <a:pt x="16" y="8"/>
                    </a:lnTo>
                    <a:close/>
                    <a:moveTo>
                      <a:pt x="3" y="8"/>
                    </a:moveTo>
                    <a:lnTo>
                      <a:pt x="3" y="8"/>
                    </a:lnTo>
                    <a:lnTo>
                      <a:pt x="5" y="13"/>
                    </a:lnTo>
                    <a:lnTo>
                      <a:pt x="8" y="14"/>
                    </a:lnTo>
                    <a:lnTo>
                      <a:pt x="11" y="13"/>
                    </a:lnTo>
                    <a:lnTo>
                      <a:pt x="11" y="8"/>
                    </a:lnTo>
                    <a:lnTo>
                      <a:pt x="11" y="3"/>
                    </a:lnTo>
                    <a:lnTo>
                      <a:pt x="8" y="3"/>
                    </a:lnTo>
                    <a:lnTo>
                      <a:pt x="5" y="3"/>
                    </a:lnTo>
                    <a:lnTo>
                      <a:pt x="3" y="8"/>
                    </a:lnTo>
                    <a:close/>
                  </a:path>
                </a:pathLst>
              </a:custGeom>
              <a:solidFill>
                <a:srgbClr val="89CEC4"/>
              </a:solidFill>
              <a:ln w="9525">
                <a:noFill/>
                <a:round/>
                <a:headEnd/>
                <a:tailEnd/>
              </a:ln>
            </p:spPr>
            <p:txBody>
              <a:bodyPr wrap="none" anchor="ctr"/>
              <a:lstStyle/>
              <a:p>
                <a:endParaRPr lang="en-US"/>
              </a:p>
            </p:txBody>
          </p:sp>
          <p:sp>
            <p:nvSpPr>
              <p:cNvPr id="19501" name="Freeform 65"/>
              <p:cNvSpPr>
                <a:spLocks noChangeArrowheads="1"/>
              </p:cNvSpPr>
              <p:nvPr/>
            </p:nvSpPr>
            <p:spPr bwMode="auto">
              <a:xfrm>
                <a:off x="2597" y="579"/>
                <a:ext cx="15" cy="16"/>
              </a:xfrm>
              <a:custGeom>
                <a:avLst/>
                <a:gdLst>
                  <a:gd name="T0" fmla="*/ 4 w 15"/>
                  <a:gd name="T1" fmla="*/ 0 h 16"/>
                  <a:gd name="T2" fmla="*/ 4 w 15"/>
                  <a:gd name="T3" fmla="*/ 3 h 16"/>
                  <a:gd name="T4" fmla="*/ 4 w 15"/>
                  <a:gd name="T5" fmla="*/ 3 h 16"/>
                  <a:gd name="T6" fmla="*/ 4 w 15"/>
                  <a:gd name="T7" fmla="*/ 3 h 16"/>
                  <a:gd name="T8" fmla="*/ 7 w 15"/>
                  <a:gd name="T9" fmla="*/ 0 h 16"/>
                  <a:gd name="T10" fmla="*/ 8 w 15"/>
                  <a:gd name="T11" fmla="*/ 0 h 16"/>
                  <a:gd name="T12" fmla="*/ 8 w 15"/>
                  <a:gd name="T13" fmla="*/ 0 h 16"/>
                  <a:gd name="T14" fmla="*/ 12 w 15"/>
                  <a:gd name="T15" fmla="*/ 0 h 16"/>
                  <a:gd name="T16" fmla="*/ 13 w 15"/>
                  <a:gd name="T17" fmla="*/ 2 h 16"/>
                  <a:gd name="T18" fmla="*/ 15 w 15"/>
                  <a:gd name="T19" fmla="*/ 5 h 16"/>
                  <a:gd name="T20" fmla="*/ 15 w 15"/>
                  <a:gd name="T21" fmla="*/ 16 h 16"/>
                  <a:gd name="T22" fmla="*/ 12 w 15"/>
                  <a:gd name="T23" fmla="*/ 16 h 16"/>
                  <a:gd name="T24" fmla="*/ 12 w 15"/>
                  <a:gd name="T25" fmla="*/ 6 h 16"/>
                  <a:gd name="T26" fmla="*/ 12 w 15"/>
                  <a:gd name="T27" fmla="*/ 6 h 16"/>
                  <a:gd name="T28" fmla="*/ 10 w 15"/>
                  <a:gd name="T29" fmla="*/ 3 h 16"/>
                  <a:gd name="T30" fmla="*/ 8 w 15"/>
                  <a:gd name="T31" fmla="*/ 3 h 16"/>
                  <a:gd name="T32" fmla="*/ 8 w 15"/>
                  <a:gd name="T33" fmla="*/ 3 h 16"/>
                  <a:gd name="T34" fmla="*/ 5 w 15"/>
                  <a:gd name="T35" fmla="*/ 3 h 16"/>
                  <a:gd name="T36" fmla="*/ 4 w 15"/>
                  <a:gd name="T37" fmla="*/ 8 h 16"/>
                  <a:gd name="T38" fmla="*/ 4 w 15"/>
                  <a:gd name="T39" fmla="*/ 16 h 16"/>
                  <a:gd name="T40" fmla="*/ 0 w 15"/>
                  <a:gd name="T41" fmla="*/ 16 h 16"/>
                  <a:gd name="T42" fmla="*/ 0 w 15"/>
                  <a:gd name="T43" fmla="*/ 0 h 16"/>
                  <a:gd name="T44" fmla="*/ 4 w 15"/>
                  <a:gd name="T45" fmla="*/ 0 h 1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5"/>
                  <a:gd name="T70" fmla="*/ 0 h 16"/>
                  <a:gd name="T71" fmla="*/ 15 w 15"/>
                  <a:gd name="T72" fmla="*/ 16 h 1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5" h="16">
                    <a:moveTo>
                      <a:pt x="4" y="0"/>
                    </a:moveTo>
                    <a:lnTo>
                      <a:pt x="4" y="3"/>
                    </a:lnTo>
                    <a:lnTo>
                      <a:pt x="7" y="0"/>
                    </a:lnTo>
                    <a:lnTo>
                      <a:pt x="8" y="0"/>
                    </a:lnTo>
                    <a:lnTo>
                      <a:pt x="12" y="0"/>
                    </a:lnTo>
                    <a:lnTo>
                      <a:pt x="13" y="2"/>
                    </a:lnTo>
                    <a:lnTo>
                      <a:pt x="15" y="5"/>
                    </a:lnTo>
                    <a:lnTo>
                      <a:pt x="15" y="16"/>
                    </a:lnTo>
                    <a:lnTo>
                      <a:pt x="12" y="16"/>
                    </a:lnTo>
                    <a:lnTo>
                      <a:pt x="12" y="6"/>
                    </a:lnTo>
                    <a:lnTo>
                      <a:pt x="10" y="3"/>
                    </a:lnTo>
                    <a:lnTo>
                      <a:pt x="8" y="3"/>
                    </a:lnTo>
                    <a:lnTo>
                      <a:pt x="5" y="3"/>
                    </a:lnTo>
                    <a:lnTo>
                      <a:pt x="4" y="8"/>
                    </a:lnTo>
                    <a:lnTo>
                      <a:pt x="4" y="16"/>
                    </a:lnTo>
                    <a:lnTo>
                      <a:pt x="0" y="16"/>
                    </a:lnTo>
                    <a:lnTo>
                      <a:pt x="0" y="0"/>
                    </a:lnTo>
                    <a:lnTo>
                      <a:pt x="4" y="0"/>
                    </a:lnTo>
                    <a:close/>
                  </a:path>
                </a:pathLst>
              </a:custGeom>
              <a:solidFill>
                <a:srgbClr val="89CEC4"/>
              </a:solidFill>
              <a:ln w="9525">
                <a:noFill/>
                <a:round/>
                <a:headEnd/>
                <a:tailEnd/>
              </a:ln>
            </p:spPr>
            <p:txBody>
              <a:bodyPr wrap="none" anchor="ctr"/>
              <a:lstStyle/>
              <a:p>
                <a:endParaRPr lang="en-US"/>
              </a:p>
            </p:txBody>
          </p:sp>
        </p:grpSp>
        <p:pic>
          <p:nvPicPr>
            <p:cNvPr id="19464" name="Picture 66"/>
            <p:cNvPicPr>
              <a:picLocks noChangeAspect="1" noChangeArrowheads="1"/>
            </p:cNvPicPr>
            <p:nvPr/>
          </p:nvPicPr>
          <p:blipFill>
            <a:blip r:embed="rId3"/>
            <a:srcRect/>
            <a:stretch>
              <a:fillRect/>
            </a:stretch>
          </p:blipFill>
          <p:spPr bwMode="auto">
            <a:xfrm>
              <a:off x="2713" y="227"/>
              <a:ext cx="399" cy="395"/>
            </a:xfrm>
            <a:prstGeom prst="rect">
              <a:avLst/>
            </a:prstGeom>
            <a:noFill/>
            <a:ln w="9525">
              <a:noFill/>
              <a:miter lim="800000"/>
              <a:headEnd/>
              <a:tailEnd/>
            </a:ln>
          </p:spPr>
        </p:pic>
      </p:grpSp>
      <p:sp>
        <p:nvSpPr>
          <p:cNvPr id="19460" name="Text Box 6"/>
          <p:cNvSpPr txBox="1">
            <a:spLocks noChangeArrowheads="1"/>
          </p:cNvSpPr>
          <p:nvPr/>
        </p:nvSpPr>
        <p:spPr bwMode="auto">
          <a:xfrm>
            <a:off x="1284288" y="2625725"/>
            <a:ext cx="5567362" cy="1362075"/>
          </a:xfrm>
          <a:prstGeom prst="rect">
            <a:avLst/>
          </a:prstGeom>
          <a:noFill/>
          <a:ln w="9525">
            <a:noFill/>
            <a:miter lim="800000"/>
            <a:headEnd/>
            <a:tailEnd/>
          </a:ln>
        </p:spPr>
        <p:txBody>
          <a:bodyPr wrap="none" lIns="0" tIns="0" rIns="0" bIns="0">
            <a:spAutoFit/>
          </a:bodyPr>
          <a:lstStyle/>
          <a:p>
            <a:pPr algn="ctr" defTabSz="449263">
              <a:lnSpc>
                <a:spcPct val="93000"/>
              </a:lnSpc>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z="3200" b="1" i="0">
                <a:solidFill>
                  <a:srgbClr val="FFF5C8"/>
                </a:solidFill>
              </a:rPr>
              <a:t>Wet Rocks – </a:t>
            </a:r>
          </a:p>
          <a:p>
            <a:pPr algn="ctr" defTabSz="449263">
              <a:lnSpc>
                <a:spcPct val="93000"/>
              </a:lnSpc>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z="3200" b="1" i="0">
                <a:solidFill>
                  <a:srgbClr val="FFF5C8"/>
                </a:solidFill>
              </a:rPr>
              <a:t>Learning about Groundwater</a:t>
            </a:r>
          </a:p>
          <a:p>
            <a:pPr algn="ctr" defTabSz="449263">
              <a:lnSpc>
                <a:spcPct val="93000"/>
              </a:lnSpc>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AU" sz="3200" b="1" i="0">
              <a:solidFill>
                <a:srgbClr val="FFF5C8"/>
              </a:solidFill>
            </a:endParaRPr>
          </a:p>
        </p:txBody>
      </p:sp>
      <p:sp>
        <p:nvSpPr>
          <p:cNvPr id="19461" name="Text Box 7"/>
          <p:cNvSpPr txBox="1">
            <a:spLocks noChangeArrowheads="1"/>
          </p:cNvSpPr>
          <p:nvPr/>
        </p:nvSpPr>
        <p:spPr bwMode="auto">
          <a:xfrm>
            <a:off x="3348182" y="4202272"/>
            <a:ext cx="1447512" cy="1247457"/>
          </a:xfrm>
          <a:prstGeom prst="rect">
            <a:avLst/>
          </a:prstGeom>
          <a:noFill/>
          <a:ln w="9525">
            <a:noFill/>
            <a:miter lim="800000"/>
            <a:headEnd/>
            <a:tailEnd/>
          </a:ln>
        </p:spPr>
        <p:txBody>
          <a:bodyPr wrap="none" lIns="0" tIns="0" rIns="0" bIns="0" anchor="ctr">
            <a:spAutoFit/>
          </a:bodyPr>
          <a:lstStyle/>
          <a:p>
            <a:pPr algn="ctr" defTabSz="449263" hangingPunct="0">
              <a:lnSpc>
                <a:spcPts val="3600"/>
              </a:lnSpc>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z="2600" i="0" dirty="0" smtClean="0">
                <a:solidFill>
                  <a:srgbClr val="FFFF66"/>
                </a:solidFill>
                <a:cs typeface="Lucida Sans Unicode" pitchFamily="34" charset="0"/>
              </a:rPr>
              <a:t>Presenter</a:t>
            </a:r>
            <a:endParaRPr lang="en-AU" sz="2600" i="0" dirty="0">
              <a:solidFill>
                <a:srgbClr val="FFFF66"/>
              </a:solidFill>
              <a:cs typeface="Lucida Sans Unicode" pitchFamily="34" charset="0"/>
            </a:endParaRPr>
          </a:p>
          <a:p>
            <a:pPr algn="ctr" defTabSz="449263" hangingPunct="0">
              <a:lnSpc>
                <a:spcPct val="111000"/>
              </a:lnSpc>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i="0" smtClean="0">
                <a:solidFill>
                  <a:srgbClr val="FFFF66"/>
                </a:solidFill>
                <a:cs typeface="Lucida Sans Unicode" pitchFamily="34" charset="0"/>
              </a:rPr>
              <a:t>Affiliation</a:t>
            </a:r>
            <a:endParaRPr lang="en-AU" i="0" dirty="0">
              <a:solidFill>
                <a:srgbClr val="FFFF66"/>
              </a:solidFill>
              <a:cs typeface="Lucida Sans Unicode" pitchFamily="34" charset="0"/>
            </a:endParaRPr>
          </a:p>
          <a:p>
            <a:pPr algn="ctr" defTabSz="449263" hangingPunct="0">
              <a:lnSpc>
                <a:spcPct val="111000"/>
              </a:lnSpc>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AU" sz="1400" i="0" dirty="0">
              <a:solidFill>
                <a:srgbClr val="FFFF66"/>
              </a:solidFill>
              <a:cs typeface="Lucida Sans Unicode" pitchFamily="34" charset="0"/>
            </a:endParaRPr>
          </a:p>
          <a:p>
            <a:pPr algn="ctr" defTabSz="449263" hangingPunct="0">
              <a:lnSpc>
                <a:spcPct val="111000"/>
              </a:lnSpc>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AU" sz="1400" i="0" dirty="0">
              <a:solidFill>
                <a:srgbClr val="FFFF66"/>
              </a:solidFill>
              <a:cs typeface="Lucida Sans Unicode" pitchFamily="34"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438150" y="806450"/>
            <a:ext cx="2209800" cy="493713"/>
          </a:xfrm>
        </p:spPr>
        <p:txBody>
          <a:bodyPr wrap="none"/>
          <a:lstStyle/>
          <a:p>
            <a:r>
              <a:rPr lang="en-AU" smtClean="0"/>
              <a:t>Wet Rocks</a:t>
            </a:r>
          </a:p>
        </p:txBody>
      </p:sp>
      <p:sp>
        <p:nvSpPr>
          <p:cNvPr id="21506" name="Rectangle 3"/>
          <p:cNvSpPr>
            <a:spLocks noGrp="1" noChangeArrowheads="1"/>
          </p:cNvSpPr>
          <p:nvPr>
            <p:ph type="body" idx="1"/>
          </p:nvPr>
        </p:nvSpPr>
        <p:spPr>
          <a:xfrm>
            <a:off x="438150" y="1884363"/>
            <a:ext cx="7165975" cy="4271962"/>
          </a:xfrm>
        </p:spPr>
        <p:txBody>
          <a:bodyPr/>
          <a:lstStyle/>
          <a:p>
            <a:pPr>
              <a:buFont typeface="Times New Roman" pitchFamily="18" charset="0"/>
              <a:buChar char="•"/>
            </a:pPr>
            <a:r>
              <a:rPr lang="en-AU" smtClean="0"/>
              <a:t>Overview of groundwater</a:t>
            </a:r>
          </a:p>
          <a:p>
            <a:pPr>
              <a:buFont typeface="Times New Roman" pitchFamily="18" charset="0"/>
              <a:buChar char="•"/>
            </a:pPr>
            <a:r>
              <a:rPr lang="en-AU" smtClean="0"/>
              <a:t>Basics of groundwater</a:t>
            </a:r>
          </a:p>
          <a:p>
            <a:pPr>
              <a:buFont typeface="Times New Roman" pitchFamily="18" charset="0"/>
              <a:buChar char="•"/>
            </a:pPr>
            <a:r>
              <a:rPr lang="en-AU" smtClean="0"/>
              <a:t>Management of groundwater resources</a:t>
            </a:r>
          </a:p>
          <a:p>
            <a:pPr>
              <a:buFont typeface="Times New Roman" pitchFamily="18" charset="0"/>
              <a:buChar char="•"/>
            </a:pPr>
            <a:r>
              <a:rPr lang="en-AU" smtClean="0"/>
              <a:t>Management as an integrated resource with surface water </a:t>
            </a:r>
          </a:p>
          <a:p>
            <a:pPr>
              <a:buFont typeface="Times New Roman" pitchFamily="18" charset="0"/>
              <a:buChar char="•"/>
            </a:pPr>
            <a:r>
              <a:rPr lang="en-AU" smtClean="0"/>
              <a:t>Management of groundwater as a hazard</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5"/>
          <p:cNvSpPr>
            <a:spLocks noGrp="1" noChangeArrowheads="1"/>
          </p:cNvSpPr>
          <p:nvPr>
            <p:ph type="title"/>
          </p:nvPr>
        </p:nvSpPr>
        <p:spPr>
          <a:xfrm>
            <a:off x="438150" y="798513"/>
            <a:ext cx="6526213" cy="987425"/>
          </a:xfrm>
        </p:spPr>
        <p:txBody>
          <a:bodyPr/>
          <a:lstStyle/>
          <a:p>
            <a:r>
              <a:rPr lang="en-AU" smtClean="0"/>
              <a:t>Overview of the Groundwater Resource</a:t>
            </a:r>
          </a:p>
        </p:txBody>
      </p:sp>
      <p:pic>
        <p:nvPicPr>
          <p:cNvPr id="23554" name="Picture 8"/>
          <p:cNvPicPr>
            <a:picLocks noChangeAspect="1" noChangeArrowheads="1"/>
          </p:cNvPicPr>
          <p:nvPr/>
        </p:nvPicPr>
        <p:blipFill>
          <a:blip r:embed="rId3"/>
          <a:srcRect/>
          <a:stretch>
            <a:fillRect/>
          </a:stretch>
        </p:blipFill>
        <p:spPr bwMode="auto">
          <a:xfrm>
            <a:off x="658813" y="2128838"/>
            <a:ext cx="6521450" cy="4549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a:xfrm>
            <a:off x="438150" y="806450"/>
            <a:ext cx="6273800" cy="493713"/>
          </a:xfrm>
        </p:spPr>
        <p:txBody>
          <a:bodyPr wrap="none"/>
          <a:lstStyle/>
          <a:p>
            <a:r>
              <a:rPr lang="en-AU" smtClean="0"/>
              <a:t>World Groundwater Resources</a:t>
            </a:r>
          </a:p>
        </p:txBody>
      </p:sp>
      <p:sp>
        <p:nvSpPr>
          <p:cNvPr id="25602" name="Rectangle 7"/>
          <p:cNvSpPr>
            <a:spLocks noChangeArrowheads="1"/>
          </p:cNvSpPr>
          <p:nvPr/>
        </p:nvSpPr>
        <p:spPr bwMode="auto">
          <a:xfrm>
            <a:off x="5934075" y="6456363"/>
            <a:ext cx="1644650" cy="136525"/>
          </a:xfrm>
          <a:prstGeom prst="rect">
            <a:avLst/>
          </a:prstGeom>
          <a:noFill/>
          <a:ln w="9525">
            <a:noFill/>
            <a:miter lim="800000"/>
            <a:headEnd/>
            <a:tailEnd/>
          </a:ln>
        </p:spPr>
        <p:txBody>
          <a:bodyPr wrap="none" lIns="0" tIns="0" rIns="0" bIns="0">
            <a:spAutoFit/>
          </a:bodyPr>
          <a:lstStyle/>
          <a:p>
            <a:r>
              <a:rPr lang="en-US" sz="900" i="0">
                <a:solidFill>
                  <a:schemeClr val="tx1"/>
                </a:solidFill>
              </a:rPr>
              <a:t>Source:  http://www.whymap.org</a:t>
            </a:r>
          </a:p>
        </p:txBody>
      </p:sp>
      <p:pic>
        <p:nvPicPr>
          <p:cNvPr id="25603" name="Picture 13"/>
          <p:cNvPicPr>
            <a:picLocks noChangeAspect="1" noChangeArrowheads="1"/>
          </p:cNvPicPr>
          <p:nvPr/>
        </p:nvPicPr>
        <p:blipFill>
          <a:blip r:embed="rId3"/>
          <a:srcRect/>
          <a:stretch>
            <a:fillRect/>
          </a:stretch>
        </p:blipFill>
        <p:spPr bwMode="auto">
          <a:xfrm>
            <a:off x="438150" y="1674813"/>
            <a:ext cx="7229475" cy="47418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1"/>
          <p:cNvSpPr>
            <a:spLocks noChangeArrowheads="1"/>
          </p:cNvSpPr>
          <p:nvPr/>
        </p:nvSpPr>
        <p:spPr bwMode="auto">
          <a:xfrm>
            <a:off x="5470525" y="2354263"/>
            <a:ext cx="3030538" cy="3695700"/>
          </a:xfrm>
          <a:prstGeom prst="rect">
            <a:avLst/>
          </a:prstGeom>
          <a:solidFill>
            <a:srgbClr val="FFFFFF"/>
          </a:solidFill>
          <a:ln w="9525">
            <a:noFill/>
            <a:miter lim="800000"/>
            <a:headEnd/>
            <a:tailEnd/>
          </a:ln>
        </p:spPr>
        <p:txBody>
          <a:bodyPr/>
          <a:lstStyle/>
          <a:p>
            <a:pPr>
              <a:lnSpc>
                <a:spcPct val="31000"/>
              </a:lnSpc>
              <a:buClr>
                <a:srgbClr val="000000"/>
              </a:buClr>
              <a:buSzPct val="100000"/>
              <a:buFont typeface="Times New Roman" pitchFamily="18" charset="0"/>
              <a:buNone/>
            </a:pPr>
            <a:endParaRPr lang="en-US"/>
          </a:p>
        </p:txBody>
      </p:sp>
      <p:sp>
        <p:nvSpPr>
          <p:cNvPr id="27650" name="Rectangle 2"/>
          <p:cNvSpPr>
            <a:spLocks noGrp="1" noChangeArrowheads="1"/>
          </p:cNvSpPr>
          <p:nvPr>
            <p:ph type="title"/>
          </p:nvPr>
        </p:nvSpPr>
        <p:spPr>
          <a:xfrm>
            <a:off x="438150" y="798513"/>
            <a:ext cx="6011863" cy="987425"/>
          </a:xfrm>
        </p:spPr>
        <p:txBody>
          <a:bodyPr/>
          <a:lstStyle/>
          <a:p>
            <a:r>
              <a:rPr lang="en-AU" smtClean="0"/>
              <a:t>Importance of Groundwater to Australia</a:t>
            </a:r>
          </a:p>
        </p:txBody>
      </p:sp>
      <p:pic>
        <p:nvPicPr>
          <p:cNvPr id="27651" name="Picture 5"/>
          <p:cNvPicPr>
            <a:picLocks noChangeAspect="1" noChangeArrowheads="1"/>
          </p:cNvPicPr>
          <p:nvPr/>
        </p:nvPicPr>
        <p:blipFill>
          <a:blip r:embed="rId3"/>
          <a:srcRect/>
          <a:stretch>
            <a:fillRect/>
          </a:stretch>
        </p:blipFill>
        <p:spPr bwMode="auto">
          <a:xfrm>
            <a:off x="438150" y="2333625"/>
            <a:ext cx="4914900" cy="4314825"/>
          </a:xfrm>
          <a:prstGeom prst="rect">
            <a:avLst/>
          </a:prstGeom>
          <a:noFill/>
          <a:ln w="9525">
            <a:noFill/>
            <a:miter lim="800000"/>
            <a:headEnd/>
            <a:tailEnd/>
          </a:ln>
        </p:spPr>
      </p:pic>
      <p:sp>
        <p:nvSpPr>
          <p:cNvPr id="27652" name="Text Box 7"/>
          <p:cNvSpPr txBox="1">
            <a:spLocks noChangeArrowheads="1"/>
          </p:cNvSpPr>
          <p:nvPr/>
        </p:nvSpPr>
        <p:spPr bwMode="auto">
          <a:xfrm>
            <a:off x="4376738" y="4662488"/>
            <a:ext cx="641350" cy="366712"/>
          </a:xfrm>
          <a:prstGeom prst="rect">
            <a:avLst/>
          </a:prstGeom>
          <a:noFill/>
          <a:ln w="9525">
            <a:noFill/>
            <a:miter lim="800000"/>
            <a:headEnd/>
            <a:tailEnd/>
          </a:ln>
        </p:spPr>
        <p:txBody>
          <a:bodyPr wrap="none">
            <a:spAutoFit/>
          </a:bodyPr>
          <a:lstStyle/>
          <a:p>
            <a:pPr>
              <a:spcBef>
                <a:spcPct val="50000"/>
              </a:spcBef>
            </a:pPr>
            <a:r>
              <a:rPr lang="en-AU" i="0">
                <a:solidFill>
                  <a:srgbClr val="FFFF00"/>
                </a:solidFill>
              </a:rPr>
              <a:t>10%</a:t>
            </a:r>
            <a:endParaRPr lang="en-US" i="0">
              <a:solidFill>
                <a:srgbClr val="FFFF00"/>
              </a:solidFill>
            </a:endParaRPr>
          </a:p>
        </p:txBody>
      </p:sp>
      <p:sp>
        <p:nvSpPr>
          <p:cNvPr id="27653" name="Text Box 8"/>
          <p:cNvSpPr txBox="1">
            <a:spLocks noChangeArrowheads="1"/>
          </p:cNvSpPr>
          <p:nvPr/>
        </p:nvSpPr>
        <p:spPr bwMode="auto">
          <a:xfrm>
            <a:off x="4279900" y="5730875"/>
            <a:ext cx="641350" cy="366713"/>
          </a:xfrm>
          <a:prstGeom prst="rect">
            <a:avLst/>
          </a:prstGeom>
          <a:noFill/>
          <a:ln w="9525">
            <a:noFill/>
            <a:miter lim="800000"/>
            <a:headEnd/>
            <a:tailEnd/>
          </a:ln>
        </p:spPr>
        <p:txBody>
          <a:bodyPr wrap="none">
            <a:spAutoFit/>
          </a:bodyPr>
          <a:lstStyle/>
          <a:p>
            <a:pPr>
              <a:spcBef>
                <a:spcPct val="50000"/>
              </a:spcBef>
            </a:pPr>
            <a:r>
              <a:rPr lang="en-AU" i="0">
                <a:solidFill>
                  <a:srgbClr val="FFFF00"/>
                </a:solidFill>
              </a:rPr>
              <a:t>11%</a:t>
            </a:r>
            <a:endParaRPr lang="en-US" i="0">
              <a:solidFill>
                <a:srgbClr val="FFFF00"/>
              </a:solidFill>
            </a:endParaRPr>
          </a:p>
        </p:txBody>
      </p:sp>
      <p:sp>
        <p:nvSpPr>
          <p:cNvPr id="27654" name="Text Box 9"/>
          <p:cNvSpPr txBox="1">
            <a:spLocks noChangeArrowheads="1"/>
          </p:cNvSpPr>
          <p:nvPr/>
        </p:nvSpPr>
        <p:spPr bwMode="auto">
          <a:xfrm>
            <a:off x="2589213" y="3652838"/>
            <a:ext cx="641350" cy="366712"/>
          </a:xfrm>
          <a:prstGeom prst="rect">
            <a:avLst/>
          </a:prstGeom>
          <a:noFill/>
          <a:ln w="9525">
            <a:noFill/>
            <a:miter lim="800000"/>
            <a:headEnd/>
            <a:tailEnd/>
          </a:ln>
        </p:spPr>
        <p:txBody>
          <a:bodyPr wrap="none">
            <a:spAutoFit/>
          </a:bodyPr>
          <a:lstStyle/>
          <a:p>
            <a:pPr>
              <a:spcBef>
                <a:spcPct val="50000"/>
              </a:spcBef>
            </a:pPr>
            <a:r>
              <a:rPr lang="en-AU" i="0">
                <a:solidFill>
                  <a:srgbClr val="FFFF00"/>
                </a:solidFill>
              </a:rPr>
              <a:t>72%</a:t>
            </a:r>
            <a:endParaRPr lang="en-US" i="0">
              <a:solidFill>
                <a:srgbClr val="FFFF00"/>
              </a:solidFill>
            </a:endParaRPr>
          </a:p>
        </p:txBody>
      </p:sp>
      <p:sp>
        <p:nvSpPr>
          <p:cNvPr id="27655" name="Text Box 10"/>
          <p:cNvSpPr txBox="1">
            <a:spLocks noChangeArrowheads="1"/>
          </p:cNvSpPr>
          <p:nvPr/>
        </p:nvSpPr>
        <p:spPr bwMode="auto">
          <a:xfrm>
            <a:off x="3930650" y="4133850"/>
            <a:ext cx="641350" cy="366713"/>
          </a:xfrm>
          <a:prstGeom prst="rect">
            <a:avLst/>
          </a:prstGeom>
          <a:noFill/>
          <a:ln w="9525">
            <a:noFill/>
            <a:miter lim="800000"/>
            <a:headEnd/>
            <a:tailEnd/>
          </a:ln>
        </p:spPr>
        <p:txBody>
          <a:bodyPr wrap="none">
            <a:spAutoFit/>
          </a:bodyPr>
          <a:lstStyle/>
          <a:p>
            <a:pPr>
              <a:spcBef>
                <a:spcPct val="50000"/>
              </a:spcBef>
            </a:pPr>
            <a:r>
              <a:rPr lang="en-AU" i="0">
                <a:solidFill>
                  <a:srgbClr val="FFFF00"/>
                </a:solidFill>
              </a:rPr>
              <a:t>35%</a:t>
            </a:r>
            <a:endParaRPr lang="en-US" i="0">
              <a:solidFill>
                <a:srgbClr val="FFFF00"/>
              </a:solidFill>
            </a:endParaRPr>
          </a:p>
        </p:txBody>
      </p:sp>
      <p:sp>
        <p:nvSpPr>
          <p:cNvPr id="27656" name="Text Box 11"/>
          <p:cNvSpPr txBox="1">
            <a:spLocks noChangeArrowheads="1"/>
          </p:cNvSpPr>
          <p:nvPr/>
        </p:nvSpPr>
        <p:spPr bwMode="auto">
          <a:xfrm>
            <a:off x="1363663" y="3767138"/>
            <a:ext cx="641350" cy="366712"/>
          </a:xfrm>
          <a:prstGeom prst="rect">
            <a:avLst/>
          </a:prstGeom>
          <a:noFill/>
          <a:ln w="9525">
            <a:noFill/>
            <a:miter lim="800000"/>
            <a:headEnd/>
            <a:tailEnd/>
          </a:ln>
        </p:spPr>
        <p:txBody>
          <a:bodyPr wrap="none">
            <a:spAutoFit/>
          </a:bodyPr>
          <a:lstStyle/>
          <a:p>
            <a:pPr>
              <a:spcBef>
                <a:spcPct val="50000"/>
              </a:spcBef>
            </a:pPr>
            <a:r>
              <a:rPr lang="en-AU" i="0">
                <a:solidFill>
                  <a:srgbClr val="FFFF00"/>
                </a:solidFill>
              </a:rPr>
              <a:t>63%</a:t>
            </a:r>
            <a:endParaRPr lang="en-US" i="0">
              <a:solidFill>
                <a:srgbClr val="FFFF00"/>
              </a:solidFill>
            </a:endParaRPr>
          </a:p>
        </p:txBody>
      </p:sp>
      <p:sp>
        <p:nvSpPr>
          <p:cNvPr id="27657" name="Text Box 12"/>
          <p:cNvSpPr txBox="1">
            <a:spLocks noChangeArrowheads="1"/>
          </p:cNvSpPr>
          <p:nvPr/>
        </p:nvSpPr>
        <p:spPr bwMode="auto">
          <a:xfrm>
            <a:off x="2703513" y="4298950"/>
            <a:ext cx="641350" cy="366713"/>
          </a:xfrm>
          <a:prstGeom prst="rect">
            <a:avLst/>
          </a:prstGeom>
          <a:noFill/>
          <a:ln w="9525">
            <a:noFill/>
            <a:miter lim="800000"/>
            <a:headEnd/>
            <a:tailEnd/>
          </a:ln>
        </p:spPr>
        <p:txBody>
          <a:bodyPr wrap="none">
            <a:spAutoFit/>
          </a:bodyPr>
          <a:lstStyle/>
          <a:p>
            <a:pPr>
              <a:spcBef>
                <a:spcPct val="50000"/>
              </a:spcBef>
            </a:pPr>
            <a:r>
              <a:rPr lang="en-AU" i="0">
                <a:solidFill>
                  <a:srgbClr val="FFFF00"/>
                </a:solidFill>
              </a:rPr>
              <a:t>37%</a:t>
            </a:r>
            <a:endParaRPr lang="en-US" i="0">
              <a:solidFill>
                <a:srgbClr val="FFFF00"/>
              </a:solidFill>
            </a:endParaRPr>
          </a:p>
        </p:txBody>
      </p:sp>
      <p:sp>
        <p:nvSpPr>
          <p:cNvPr id="27658" name="Text Box 13"/>
          <p:cNvSpPr txBox="1">
            <a:spLocks noChangeArrowheads="1"/>
          </p:cNvSpPr>
          <p:nvPr/>
        </p:nvSpPr>
        <p:spPr bwMode="auto">
          <a:xfrm>
            <a:off x="3629025" y="6215063"/>
            <a:ext cx="514350" cy="366712"/>
          </a:xfrm>
          <a:prstGeom prst="rect">
            <a:avLst/>
          </a:prstGeom>
          <a:noFill/>
          <a:ln w="9525">
            <a:noFill/>
            <a:miter lim="800000"/>
            <a:headEnd/>
            <a:tailEnd/>
          </a:ln>
        </p:spPr>
        <p:txBody>
          <a:bodyPr wrap="none">
            <a:spAutoFit/>
          </a:bodyPr>
          <a:lstStyle/>
          <a:p>
            <a:pPr>
              <a:spcBef>
                <a:spcPct val="50000"/>
              </a:spcBef>
            </a:pPr>
            <a:r>
              <a:rPr lang="en-AU" i="0">
                <a:solidFill>
                  <a:srgbClr val="FFFF00"/>
                </a:solidFill>
              </a:rPr>
              <a:t>4%</a:t>
            </a:r>
            <a:endParaRPr lang="en-US" i="0">
              <a:solidFill>
                <a:srgbClr val="FFFF00"/>
              </a:solidFill>
            </a:endParaRPr>
          </a:p>
        </p:txBody>
      </p:sp>
      <p:sp>
        <p:nvSpPr>
          <p:cNvPr id="27659" name="Text Box 14"/>
          <p:cNvSpPr txBox="1">
            <a:spLocks noChangeArrowheads="1"/>
          </p:cNvSpPr>
          <p:nvPr/>
        </p:nvSpPr>
        <p:spPr bwMode="auto">
          <a:xfrm>
            <a:off x="4899025" y="5594350"/>
            <a:ext cx="514350" cy="366713"/>
          </a:xfrm>
          <a:prstGeom prst="rect">
            <a:avLst/>
          </a:prstGeom>
          <a:noFill/>
          <a:ln w="9525">
            <a:noFill/>
            <a:miter lim="800000"/>
            <a:headEnd/>
            <a:tailEnd/>
          </a:ln>
        </p:spPr>
        <p:txBody>
          <a:bodyPr wrap="none">
            <a:spAutoFit/>
          </a:bodyPr>
          <a:lstStyle/>
          <a:p>
            <a:pPr>
              <a:spcBef>
                <a:spcPct val="50000"/>
              </a:spcBef>
            </a:pPr>
            <a:r>
              <a:rPr lang="en-AU" i="0">
                <a:solidFill>
                  <a:srgbClr val="FFFF00"/>
                </a:solidFill>
              </a:rPr>
              <a:t>7%</a:t>
            </a:r>
            <a:endParaRPr lang="en-US" i="0">
              <a:solidFill>
                <a:srgbClr val="FFFF00"/>
              </a:solidFill>
            </a:endParaRPr>
          </a:p>
        </p:txBody>
      </p:sp>
      <p:sp>
        <p:nvSpPr>
          <p:cNvPr id="27660" name="Text Box 15"/>
          <p:cNvSpPr txBox="1">
            <a:spLocks noChangeArrowheads="1"/>
          </p:cNvSpPr>
          <p:nvPr/>
        </p:nvSpPr>
        <p:spPr bwMode="auto">
          <a:xfrm>
            <a:off x="438150" y="1876425"/>
            <a:ext cx="4848225" cy="274638"/>
          </a:xfrm>
          <a:prstGeom prst="rect">
            <a:avLst/>
          </a:prstGeom>
          <a:noFill/>
          <a:ln w="9525">
            <a:noFill/>
            <a:miter lim="800000"/>
            <a:headEnd/>
            <a:tailEnd/>
          </a:ln>
        </p:spPr>
        <p:txBody>
          <a:bodyPr lIns="0" tIns="0" rIns="0" bIns="0">
            <a:spAutoFit/>
          </a:bodyPr>
          <a:lstStyle/>
          <a:p>
            <a:pPr>
              <a:spcBef>
                <a:spcPct val="50000"/>
              </a:spcBef>
            </a:pPr>
            <a:r>
              <a:rPr lang="en-AU" i="0">
                <a:solidFill>
                  <a:schemeClr val="tx1"/>
                </a:solidFill>
              </a:rPr>
              <a:t>Groundwater as a % of total water use (2000) </a:t>
            </a:r>
            <a:endParaRPr lang="en-US" i="0">
              <a:solidFill>
                <a:schemeClr val="tx1"/>
              </a:solidFill>
            </a:endParaRPr>
          </a:p>
        </p:txBody>
      </p:sp>
      <p:sp>
        <p:nvSpPr>
          <p:cNvPr id="27661" name="Text Box 16"/>
          <p:cNvSpPr txBox="1">
            <a:spLocks noChangeArrowheads="1"/>
          </p:cNvSpPr>
          <p:nvPr/>
        </p:nvSpPr>
        <p:spPr bwMode="auto">
          <a:xfrm>
            <a:off x="565150" y="5942013"/>
            <a:ext cx="2965450" cy="366712"/>
          </a:xfrm>
          <a:prstGeom prst="rect">
            <a:avLst/>
          </a:prstGeom>
          <a:noFill/>
          <a:ln w="9525">
            <a:noFill/>
            <a:miter lim="800000"/>
            <a:headEnd/>
            <a:tailEnd/>
          </a:ln>
        </p:spPr>
        <p:txBody>
          <a:bodyPr wrap="none">
            <a:spAutoFit/>
          </a:bodyPr>
          <a:lstStyle/>
          <a:p>
            <a:pPr>
              <a:spcBef>
                <a:spcPct val="50000"/>
              </a:spcBef>
            </a:pPr>
            <a:r>
              <a:rPr lang="en-AU" i="0">
                <a:solidFill>
                  <a:srgbClr val="FFFF00"/>
                </a:solidFill>
              </a:rPr>
              <a:t>21% of total Australian use </a:t>
            </a:r>
            <a:endParaRPr lang="en-US" i="0">
              <a:solidFill>
                <a:srgbClr val="FFFF00"/>
              </a:solidFill>
            </a:endParaRPr>
          </a:p>
        </p:txBody>
      </p:sp>
      <p:sp>
        <p:nvSpPr>
          <p:cNvPr id="27662" name="Text Box 37"/>
          <p:cNvSpPr txBox="1">
            <a:spLocks noChangeArrowheads="1"/>
          </p:cNvSpPr>
          <p:nvPr/>
        </p:nvSpPr>
        <p:spPr bwMode="auto">
          <a:xfrm>
            <a:off x="5470525" y="6283325"/>
            <a:ext cx="3028950" cy="369888"/>
          </a:xfrm>
          <a:prstGeom prst="rect">
            <a:avLst/>
          </a:prstGeom>
          <a:noFill/>
          <a:ln w="9525">
            <a:noFill/>
            <a:miter lim="800000"/>
            <a:headEnd/>
            <a:tailEnd/>
          </a:ln>
        </p:spPr>
        <p:txBody>
          <a:bodyPr>
            <a:spAutoFit/>
          </a:bodyPr>
          <a:lstStyle/>
          <a:p>
            <a:r>
              <a:rPr lang="en-AU" sz="900" i="0">
                <a:solidFill>
                  <a:schemeClr val="tx1"/>
                </a:solidFill>
              </a:rPr>
              <a:t>Source: Google Maps</a:t>
            </a:r>
          </a:p>
          <a:p>
            <a:r>
              <a:rPr lang="en-AU" sz="900" i="0">
                <a:solidFill>
                  <a:schemeClr val="tx1"/>
                </a:solidFill>
              </a:rPr>
              <a:t>National Land and Water Resources Audit (2000)</a:t>
            </a:r>
            <a:endParaRPr lang="en-US" sz="900" i="0">
              <a:solidFill>
                <a:schemeClr val="tx1"/>
              </a:solidFill>
            </a:endParaRPr>
          </a:p>
        </p:txBody>
      </p:sp>
      <p:sp>
        <p:nvSpPr>
          <p:cNvPr id="27663" name="Text Box 61"/>
          <p:cNvSpPr txBox="1">
            <a:spLocks noChangeArrowheads="1"/>
          </p:cNvSpPr>
          <p:nvPr/>
        </p:nvSpPr>
        <p:spPr bwMode="auto">
          <a:xfrm>
            <a:off x="7364413" y="4186238"/>
            <a:ext cx="974725" cy="581025"/>
          </a:xfrm>
          <a:prstGeom prst="rect">
            <a:avLst/>
          </a:prstGeom>
          <a:noFill/>
          <a:ln w="9525">
            <a:noFill/>
            <a:miter lim="800000"/>
            <a:headEnd/>
            <a:tailEnd/>
          </a:ln>
        </p:spPr>
        <p:txBody>
          <a:bodyPr wrap="none">
            <a:spAutoFit/>
          </a:bodyPr>
          <a:lstStyle/>
          <a:p>
            <a:r>
              <a:rPr lang="en-AU" sz="1600" i="0">
                <a:solidFill>
                  <a:srgbClr val="000000"/>
                </a:solidFill>
              </a:rPr>
              <a:t>Irrigation</a:t>
            </a:r>
          </a:p>
          <a:p>
            <a:r>
              <a:rPr lang="en-AU" sz="1600" i="0">
                <a:solidFill>
                  <a:srgbClr val="000000"/>
                </a:solidFill>
              </a:rPr>
              <a:t>(52%)</a:t>
            </a:r>
            <a:endParaRPr lang="en-US" sz="1600" i="0">
              <a:solidFill>
                <a:srgbClr val="000000"/>
              </a:solidFill>
            </a:endParaRPr>
          </a:p>
        </p:txBody>
      </p:sp>
      <p:sp>
        <p:nvSpPr>
          <p:cNvPr id="27664" name="Text Box 62"/>
          <p:cNvSpPr txBox="1">
            <a:spLocks noChangeArrowheads="1"/>
          </p:cNvSpPr>
          <p:nvPr/>
        </p:nvSpPr>
        <p:spPr bwMode="auto">
          <a:xfrm>
            <a:off x="5446713" y="4186238"/>
            <a:ext cx="1695450" cy="581025"/>
          </a:xfrm>
          <a:prstGeom prst="rect">
            <a:avLst/>
          </a:prstGeom>
          <a:noFill/>
          <a:ln w="9525">
            <a:noFill/>
            <a:miter lim="800000"/>
            <a:headEnd/>
            <a:tailEnd/>
          </a:ln>
        </p:spPr>
        <p:txBody>
          <a:bodyPr>
            <a:spAutoFit/>
          </a:bodyPr>
          <a:lstStyle/>
          <a:p>
            <a:r>
              <a:rPr lang="en-AU" sz="1600" i="0">
                <a:solidFill>
                  <a:srgbClr val="000000"/>
                </a:solidFill>
              </a:rPr>
              <a:t>Urban / Industrial (29%)</a:t>
            </a:r>
            <a:endParaRPr lang="en-US" sz="1600" i="0">
              <a:solidFill>
                <a:srgbClr val="000000"/>
              </a:solidFill>
            </a:endParaRPr>
          </a:p>
        </p:txBody>
      </p:sp>
      <p:sp>
        <p:nvSpPr>
          <p:cNvPr id="27665" name="Text Box 63"/>
          <p:cNvSpPr txBox="1">
            <a:spLocks noChangeArrowheads="1"/>
          </p:cNvSpPr>
          <p:nvPr/>
        </p:nvSpPr>
        <p:spPr bwMode="auto">
          <a:xfrm>
            <a:off x="5537200" y="2814638"/>
            <a:ext cx="1268413" cy="336550"/>
          </a:xfrm>
          <a:prstGeom prst="rect">
            <a:avLst/>
          </a:prstGeom>
          <a:noFill/>
          <a:ln w="9525">
            <a:noFill/>
            <a:miter lim="800000"/>
            <a:headEnd/>
            <a:tailEnd/>
          </a:ln>
        </p:spPr>
        <p:txBody>
          <a:bodyPr wrap="none">
            <a:spAutoFit/>
          </a:bodyPr>
          <a:lstStyle/>
          <a:p>
            <a:r>
              <a:rPr lang="en-AU" sz="1600" i="0">
                <a:solidFill>
                  <a:srgbClr val="000000"/>
                </a:solidFill>
              </a:rPr>
              <a:t>Rural (18%)</a:t>
            </a:r>
            <a:endParaRPr lang="en-US" sz="1600" i="0">
              <a:solidFill>
                <a:srgbClr val="000000"/>
              </a:solidFill>
            </a:endParaRPr>
          </a:p>
        </p:txBody>
      </p:sp>
      <p:sp>
        <p:nvSpPr>
          <p:cNvPr id="27666" name="Text Box 64"/>
          <p:cNvSpPr txBox="1">
            <a:spLocks noChangeArrowheads="1"/>
          </p:cNvSpPr>
          <p:nvPr/>
        </p:nvSpPr>
        <p:spPr bwMode="auto">
          <a:xfrm>
            <a:off x="6832600" y="2814638"/>
            <a:ext cx="1181100" cy="336550"/>
          </a:xfrm>
          <a:prstGeom prst="rect">
            <a:avLst/>
          </a:prstGeom>
          <a:noFill/>
          <a:ln w="9525">
            <a:noFill/>
            <a:miter lim="800000"/>
            <a:headEnd/>
            <a:tailEnd/>
          </a:ln>
        </p:spPr>
        <p:txBody>
          <a:bodyPr wrap="none">
            <a:spAutoFit/>
          </a:bodyPr>
          <a:lstStyle/>
          <a:p>
            <a:r>
              <a:rPr lang="en-AU" sz="1600" i="0">
                <a:solidFill>
                  <a:srgbClr val="000000"/>
                </a:solidFill>
              </a:rPr>
              <a:t>Other (1%)</a:t>
            </a:r>
            <a:endParaRPr lang="en-US" sz="1600" i="0">
              <a:solidFill>
                <a:srgbClr val="000000"/>
              </a:solidFill>
            </a:endParaRPr>
          </a:p>
        </p:txBody>
      </p:sp>
      <p:sp>
        <p:nvSpPr>
          <p:cNvPr id="27667" name="Text Box 67"/>
          <p:cNvSpPr txBox="1">
            <a:spLocks noChangeArrowheads="1"/>
          </p:cNvSpPr>
          <p:nvPr/>
        </p:nvSpPr>
        <p:spPr bwMode="auto">
          <a:xfrm>
            <a:off x="5559425" y="2351088"/>
            <a:ext cx="2851150" cy="366712"/>
          </a:xfrm>
          <a:prstGeom prst="rect">
            <a:avLst/>
          </a:prstGeom>
          <a:noFill/>
          <a:ln w="9525">
            <a:noFill/>
            <a:miter lim="800000"/>
            <a:headEnd/>
            <a:tailEnd/>
          </a:ln>
        </p:spPr>
        <p:txBody>
          <a:bodyPr wrap="none">
            <a:spAutoFit/>
          </a:bodyPr>
          <a:lstStyle/>
          <a:p>
            <a:pPr algn="ctr"/>
            <a:r>
              <a:rPr lang="en-AU" i="0">
                <a:solidFill>
                  <a:srgbClr val="6666CC"/>
                </a:solidFill>
              </a:rPr>
              <a:t>Groundwater Use by Type</a:t>
            </a:r>
            <a:endParaRPr lang="en-US" i="0">
              <a:solidFill>
                <a:srgbClr val="6666CC"/>
              </a:solidFill>
            </a:endParaRPr>
          </a:p>
        </p:txBody>
      </p:sp>
      <p:sp>
        <p:nvSpPr>
          <p:cNvPr id="27668" name="Text Box 68"/>
          <p:cNvSpPr txBox="1">
            <a:spLocks noChangeArrowheads="1"/>
          </p:cNvSpPr>
          <p:nvPr/>
        </p:nvSpPr>
        <p:spPr bwMode="auto">
          <a:xfrm>
            <a:off x="5492750" y="5099050"/>
            <a:ext cx="2959100" cy="825500"/>
          </a:xfrm>
          <a:prstGeom prst="rect">
            <a:avLst/>
          </a:prstGeom>
          <a:noFill/>
          <a:ln w="9525">
            <a:noFill/>
            <a:miter lim="800000"/>
            <a:headEnd/>
            <a:tailEnd/>
          </a:ln>
        </p:spPr>
        <p:txBody>
          <a:bodyPr wrap="none">
            <a:spAutoFit/>
          </a:bodyPr>
          <a:lstStyle/>
          <a:p>
            <a:pPr>
              <a:tabLst>
                <a:tab pos="1882775" algn="l"/>
              </a:tabLst>
            </a:pPr>
            <a:r>
              <a:rPr lang="en-AU" sz="1600" i="0">
                <a:solidFill>
                  <a:srgbClr val="FF9900"/>
                </a:solidFill>
              </a:rPr>
              <a:t>Groundwater Use	4986 GL</a:t>
            </a:r>
          </a:p>
          <a:p>
            <a:pPr>
              <a:tabLst>
                <a:tab pos="1882775" algn="l"/>
              </a:tabLst>
            </a:pPr>
            <a:r>
              <a:rPr lang="en-AU" sz="1600" i="0">
                <a:solidFill>
                  <a:srgbClr val="FF9900"/>
                </a:solidFill>
              </a:rPr>
              <a:t>Surface Water Use	19109 GL</a:t>
            </a:r>
          </a:p>
          <a:p>
            <a:pPr>
              <a:tabLst>
                <a:tab pos="1882775" algn="l"/>
              </a:tabLst>
            </a:pPr>
            <a:r>
              <a:rPr lang="en-AU" sz="1600" i="0">
                <a:solidFill>
                  <a:srgbClr val="FF9900"/>
                </a:solidFill>
              </a:rPr>
              <a:t>Total Volume	24095 GL</a:t>
            </a:r>
            <a:endParaRPr lang="en-US" sz="1600" i="0">
              <a:solidFill>
                <a:srgbClr val="FF9900"/>
              </a:solidFill>
            </a:endParaRPr>
          </a:p>
        </p:txBody>
      </p:sp>
      <p:sp>
        <p:nvSpPr>
          <p:cNvPr id="27669" name="Freeform 77"/>
          <p:cNvSpPr>
            <a:spLocks/>
          </p:cNvSpPr>
          <p:nvPr/>
        </p:nvSpPr>
        <p:spPr bwMode="auto">
          <a:xfrm>
            <a:off x="6878638" y="3514725"/>
            <a:ext cx="131762" cy="669925"/>
          </a:xfrm>
          <a:custGeom>
            <a:avLst/>
            <a:gdLst>
              <a:gd name="T0" fmla="*/ 131762 w 83"/>
              <a:gd name="T1" fmla="*/ 0 h 422"/>
              <a:gd name="T2" fmla="*/ 0 w 83"/>
              <a:gd name="T3" fmla="*/ 322263 h 422"/>
              <a:gd name="T4" fmla="*/ 0 w 83"/>
              <a:gd name="T5" fmla="*/ 669925 h 422"/>
              <a:gd name="T6" fmla="*/ 131762 w 83"/>
              <a:gd name="T7" fmla="*/ 347662 h 422"/>
              <a:gd name="T8" fmla="*/ 131762 w 83"/>
              <a:gd name="T9" fmla="*/ 0 h 422"/>
              <a:gd name="T10" fmla="*/ 0 60000 65536"/>
              <a:gd name="T11" fmla="*/ 0 60000 65536"/>
              <a:gd name="T12" fmla="*/ 0 60000 65536"/>
              <a:gd name="T13" fmla="*/ 0 60000 65536"/>
              <a:gd name="T14" fmla="*/ 0 60000 65536"/>
              <a:gd name="T15" fmla="*/ 0 w 83"/>
              <a:gd name="T16" fmla="*/ 0 h 422"/>
              <a:gd name="T17" fmla="*/ 83 w 83"/>
              <a:gd name="T18" fmla="*/ 422 h 422"/>
            </a:gdLst>
            <a:ahLst/>
            <a:cxnLst>
              <a:cxn ang="T10">
                <a:pos x="T0" y="T1"/>
              </a:cxn>
              <a:cxn ang="T11">
                <a:pos x="T2" y="T3"/>
              </a:cxn>
              <a:cxn ang="T12">
                <a:pos x="T4" y="T5"/>
              </a:cxn>
              <a:cxn ang="T13">
                <a:pos x="T6" y="T7"/>
              </a:cxn>
              <a:cxn ang="T14">
                <a:pos x="T8" y="T9"/>
              </a:cxn>
            </a:cxnLst>
            <a:rect l="T15" t="T16" r="T17" b="T18"/>
            <a:pathLst>
              <a:path w="83" h="422">
                <a:moveTo>
                  <a:pt x="83" y="0"/>
                </a:moveTo>
                <a:lnTo>
                  <a:pt x="0" y="203"/>
                </a:lnTo>
                <a:lnTo>
                  <a:pt x="0" y="422"/>
                </a:lnTo>
                <a:lnTo>
                  <a:pt x="83" y="219"/>
                </a:lnTo>
                <a:lnTo>
                  <a:pt x="83" y="0"/>
                </a:lnTo>
                <a:close/>
              </a:path>
            </a:pathLst>
          </a:custGeom>
          <a:solidFill>
            <a:srgbClr val="4D1A33"/>
          </a:solidFill>
          <a:ln w="4763">
            <a:solidFill>
              <a:srgbClr val="000000"/>
            </a:solidFill>
            <a:prstDash val="solid"/>
            <a:round/>
            <a:headEnd/>
            <a:tailEnd/>
          </a:ln>
        </p:spPr>
        <p:txBody>
          <a:bodyPr/>
          <a:lstStyle/>
          <a:p>
            <a:endParaRPr lang="en-US"/>
          </a:p>
        </p:txBody>
      </p:sp>
      <p:grpSp>
        <p:nvGrpSpPr>
          <p:cNvPr id="27670" name="Group 82"/>
          <p:cNvGrpSpPr>
            <a:grpSpLocks/>
          </p:cNvGrpSpPr>
          <p:nvPr/>
        </p:nvGrpSpPr>
        <p:grpSpPr bwMode="auto">
          <a:xfrm>
            <a:off x="5732463" y="3192463"/>
            <a:ext cx="2508250" cy="996950"/>
            <a:chOff x="3742" y="1844"/>
            <a:chExt cx="1580" cy="628"/>
          </a:xfrm>
        </p:grpSpPr>
        <p:sp>
          <p:nvSpPr>
            <p:cNvPr id="27671" name="Freeform 72"/>
            <p:cNvSpPr>
              <a:spLocks/>
            </p:cNvSpPr>
            <p:nvPr/>
          </p:nvSpPr>
          <p:spPr bwMode="auto">
            <a:xfrm>
              <a:off x="4503" y="1844"/>
              <a:ext cx="27" cy="422"/>
            </a:xfrm>
            <a:custGeom>
              <a:avLst/>
              <a:gdLst>
                <a:gd name="T0" fmla="*/ 27 w 27"/>
                <a:gd name="T1" fmla="*/ 203 h 422"/>
                <a:gd name="T2" fmla="*/ 0 w 27"/>
                <a:gd name="T3" fmla="*/ 0 h 422"/>
                <a:gd name="T4" fmla="*/ 0 w 27"/>
                <a:gd name="T5" fmla="*/ 219 h 422"/>
                <a:gd name="T6" fmla="*/ 27 w 27"/>
                <a:gd name="T7" fmla="*/ 422 h 422"/>
                <a:gd name="T8" fmla="*/ 27 w 27"/>
                <a:gd name="T9" fmla="*/ 203 h 422"/>
                <a:gd name="T10" fmla="*/ 0 60000 65536"/>
                <a:gd name="T11" fmla="*/ 0 60000 65536"/>
                <a:gd name="T12" fmla="*/ 0 60000 65536"/>
                <a:gd name="T13" fmla="*/ 0 60000 65536"/>
                <a:gd name="T14" fmla="*/ 0 60000 65536"/>
                <a:gd name="T15" fmla="*/ 0 w 27"/>
                <a:gd name="T16" fmla="*/ 0 h 422"/>
                <a:gd name="T17" fmla="*/ 27 w 27"/>
                <a:gd name="T18" fmla="*/ 422 h 422"/>
              </a:gdLst>
              <a:ahLst/>
              <a:cxnLst>
                <a:cxn ang="T10">
                  <a:pos x="T0" y="T1"/>
                </a:cxn>
                <a:cxn ang="T11">
                  <a:pos x="T2" y="T3"/>
                </a:cxn>
                <a:cxn ang="T12">
                  <a:pos x="T4" y="T5"/>
                </a:cxn>
                <a:cxn ang="T13">
                  <a:pos x="T6" y="T7"/>
                </a:cxn>
                <a:cxn ang="T14">
                  <a:pos x="T8" y="T9"/>
                </a:cxn>
              </a:cxnLst>
              <a:rect l="T15" t="T16" r="T17" b="T18"/>
              <a:pathLst>
                <a:path w="27" h="422">
                  <a:moveTo>
                    <a:pt x="27" y="203"/>
                  </a:moveTo>
                  <a:lnTo>
                    <a:pt x="0" y="0"/>
                  </a:lnTo>
                  <a:lnTo>
                    <a:pt x="0" y="219"/>
                  </a:lnTo>
                  <a:lnTo>
                    <a:pt x="27" y="422"/>
                  </a:lnTo>
                  <a:lnTo>
                    <a:pt x="27" y="203"/>
                  </a:lnTo>
                  <a:close/>
                </a:path>
              </a:pathLst>
            </a:custGeom>
            <a:solidFill>
              <a:srgbClr val="668080"/>
            </a:solidFill>
            <a:ln w="4763">
              <a:solidFill>
                <a:srgbClr val="000000"/>
              </a:solidFill>
              <a:prstDash val="solid"/>
              <a:round/>
              <a:headEnd/>
              <a:tailEnd/>
            </a:ln>
          </p:spPr>
          <p:txBody>
            <a:bodyPr/>
            <a:lstStyle/>
            <a:p>
              <a:endParaRPr lang="en-US"/>
            </a:p>
          </p:txBody>
        </p:sp>
        <p:sp>
          <p:nvSpPr>
            <p:cNvPr id="27672" name="Freeform 73"/>
            <p:cNvSpPr>
              <a:spLocks/>
            </p:cNvSpPr>
            <p:nvPr/>
          </p:nvSpPr>
          <p:spPr bwMode="auto">
            <a:xfrm>
              <a:off x="4503" y="1844"/>
              <a:ext cx="27" cy="203"/>
            </a:xfrm>
            <a:custGeom>
              <a:avLst/>
              <a:gdLst>
                <a:gd name="T0" fmla="*/ 0 w 27"/>
                <a:gd name="T1" fmla="*/ 0 h 203"/>
                <a:gd name="T2" fmla="*/ 15 w 27"/>
                <a:gd name="T3" fmla="*/ 0 h 203"/>
                <a:gd name="T4" fmla="*/ 15 w 27"/>
                <a:gd name="T5" fmla="*/ 0 h 203"/>
                <a:gd name="T6" fmla="*/ 27 w 27"/>
                <a:gd name="T7" fmla="*/ 0 h 203"/>
                <a:gd name="T8" fmla="*/ 27 w 27"/>
                <a:gd name="T9" fmla="*/ 203 h 203"/>
                <a:gd name="T10" fmla="*/ 0 w 27"/>
                <a:gd name="T11" fmla="*/ 0 h 203"/>
                <a:gd name="T12" fmla="*/ 0 60000 65536"/>
                <a:gd name="T13" fmla="*/ 0 60000 65536"/>
                <a:gd name="T14" fmla="*/ 0 60000 65536"/>
                <a:gd name="T15" fmla="*/ 0 60000 65536"/>
                <a:gd name="T16" fmla="*/ 0 60000 65536"/>
                <a:gd name="T17" fmla="*/ 0 60000 65536"/>
                <a:gd name="T18" fmla="*/ 0 w 27"/>
                <a:gd name="T19" fmla="*/ 0 h 203"/>
                <a:gd name="T20" fmla="*/ 27 w 27"/>
                <a:gd name="T21" fmla="*/ 203 h 203"/>
              </a:gdLst>
              <a:ahLst/>
              <a:cxnLst>
                <a:cxn ang="T12">
                  <a:pos x="T0" y="T1"/>
                </a:cxn>
                <a:cxn ang="T13">
                  <a:pos x="T2" y="T3"/>
                </a:cxn>
                <a:cxn ang="T14">
                  <a:pos x="T4" y="T5"/>
                </a:cxn>
                <a:cxn ang="T15">
                  <a:pos x="T6" y="T7"/>
                </a:cxn>
                <a:cxn ang="T16">
                  <a:pos x="T8" y="T9"/>
                </a:cxn>
                <a:cxn ang="T17">
                  <a:pos x="T10" y="T11"/>
                </a:cxn>
              </a:cxnLst>
              <a:rect l="T18" t="T19" r="T20" b="T21"/>
              <a:pathLst>
                <a:path w="27" h="203">
                  <a:moveTo>
                    <a:pt x="0" y="0"/>
                  </a:moveTo>
                  <a:lnTo>
                    <a:pt x="15" y="0"/>
                  </a:lnTo>
                  <a:lnTo>
                    <a:pt x="27" y="0"/>
                  </a:lnTo>
                  <a:lnTo>
                    <a:pt x="27" y="203"/>
                  </a:lnTo>
                  <a:lnTo>
                    <a:pt x="0" y="0"/>
                  </a:lnTo>
                  <a:close/>
                </a:path>
              </a:pathLst>
            </a:custGeom>
            <a:solidFill>
              <a:srgbClr val="CCFFFF"/>
            </a:solidFill>
            <a:ln w="4763">
              <a:solidFill>
                <a:srgbClr val="000000"/>
              </a:solidFill>
              <a:prstDash val="solid"/>
              <a:round/>
              <a:headEnd/>
              <a:tailEnd/>
            </a:ln>
          </p:spPr>
          <p:txBody>
            <a:bodyPr/>
            <a:lstStyle/>
            <a:p>
              <a:endParaRPr lang="en-US"/>
            </a:p>
          </p:txBody>
        </p:sp>
        <p:sp>
          <p:nvSpPr>
            <p:cNvPr id="27673" name="Freeform 74"/>
            <p:cNvSpPr>
              <a:spLocks/>
            </p:cNvSpPr>
            <p:nvPr/>
          </p:nvSpPr>
          <p:spPr bwMode="auto">
            <a:xfrm>
              <a:off x="3794" y="1973"/>
              <a:ext cx="736" cy="293"/>
            </a:xfrm>
            <a:custGeom>
              <a:avLst/>
              <a:gdLst>
                <a:gd name="T0" fmla="*/ 736 w 736"/>
                <a:gd name="T1" fmla="*/ 74 h 293"/>
                <a:gd name="T2" fmla="*/ 0 w 736"/>
                <a:gd name="T3" fmla="*/ 0 h 293"/>
                <a:gd name="T4" fmla="*/ 0 w 736"/>
                <a:gd name="T5" fmla="*/ 219 h 293"/>
                <a:gd name="T6" fmla="*/ 736 w 736"/>
                <a:gd name="T7" fmla="*/ 293 h 293"/>
                <a:gd name="T8" fmla="*/ 736 w 736"/>
                <a:gd name="T9" fmla="*/ 74 h 293"/>
                <a:gd name="T10" fmla="*/ 0 60000 65536"/>
                <a:gd name="T11" fmla="*/ 0 60000 65536"/>
                <a:gd name="T12" fmla="*/ 0 60000 65536"/>
                <a:gd name="T13" fmla="*/ 0 60000 65536"/>
                <a:gd name="T14" fmla="*/ 0 60000 65536"/>
                <a:gd name="T15" fmla="*/ 0 w 736"/>
                <a:gd name="T16" fmla="*/ 0 h 293"/>
                <a:gd name="T17" fmla="*/ 736 w 736"/>
                <a:gd name="T18" fmla="*/ 293 h 293"/>
              </a:gdLst>
              <a:ahLst/>
              <a:cxnLst>
                <a:cxn ang="T10">
                  <a:pos x="T0" y="T1"/>
                </a:cxn>
                <a:cxn ang="T11">
                  <a:pos x="T2" y="T3"/>
                </a:cxn>
                <a:cxn ang="T12">
                  <a:pos x="T4" y="T5"/>
                </a:cxn>
                <a:cxn ang="T13">
                  <a:pos x="T6" y="T7"/>
                </a:cxn>
                <a:cxn ang="T14">
                  <a:pos x="T8" y="T9"/>
                </a:cxn>
              </a:cxnLst>
              <a:rect l="T15" t="T16" r="T17" b="T18"/>
              <a:pathLst>
                <a:path w="736" h="293">
                  <a:moveTo>
                    <a:pt x="736" y="74"/>
                  </a:moveTo>
                  <a:lnTo>
                    <a:pt x="0" y="0"/>
                  </a:lnTo>
                  <a:lnTo>
                    <a:pt x="0" y="219"/>
                  </a:lnTo>
                  <a:lnTo>
                    <a:pt x="736" y="293"/>
                  </a:lnTo>
                  <a:lnTo>
                    <a:pt x="736" y="74"/>
                  </a:lnTo>
                  <a:close/>
                </a:path>
              </a:pathLst>
            </a:custGeom>
            <a:solidFill>
              <a:srgbClr val="808066"/>
            </a:solidFill>
            <a:ln w="4763">
              <a:solidFill>
                <a:srgbClr val="000000"/>
              </a:solidFill>
              <a:prstDash val="solid"/>
              <a:round/>
              <a:headEnd/>
              <a:tailEnd/>
            </a:ln>
          </p:spPr>
          <p:txBody>
            <a:bodyPr/>
            <a:lstStyle/>
            <a:p>
              <a:endParaRPr lang="en-US"/>
            </a:p>
          </p:txBody>
        </p:sp>
        <p:sp>
          <p:nvSpPr>
            <p:cNvPr id="27674" name="Freeform 75"/>
            <p:cNvSpPr>
              <a:spLocks/>
            </p:cNvSpPr>
            <p:nvPr/>
          </p:nvSpPr>
          <p:spPr bwMode="auto">
            <a:xfrm>
              <a:off x="3794" y="1844"/>
              <a:ext cx="736" cy="203"/>
            </a:xfrm>
            <a:custGeom>
              <a:avLst/>
              <a:gdLst>
                <a:gd name="T0" fmla="*/ 3 w 736"/>
                <a:gd name="T1" fmla="*/ 126 h 203"/>
                <a:gd name="T2" fmla="*/ 16 w 736"/>
                <a:gd name="T3" fmla="*/ 120 h 203"/>
                <a:gd name="T4" fmla="*/ 28 w 736"/>
                <a:gd name="T5" fmla="*/ 114 h 203"/>
                <a:gd name="T6" fmla="*/ 40 w 736"/>
                <a:gd name="T7" fmla="*/ 108 h 203"/>
                <a:gd name="T8" fmla="*/ 53 w 736"/>
                <a:gd name="T9" fmla="*/ 101 h 203"/>
                <a:gd name="T10" fmla="*/ 68 w 736"/>
                <a:gd name="T11" fmla="*/ 95 h 203"/>
                <a:gd name="T12" fmla="*/ 84 w 736"/>
                <a:gd name="T13" fmla="*/ 89 h 203"/>
                <a:gd name="T14" fmla="*/ 99 w 736"/>
                <a:gd name="T15" fmla="*/ 83 h 203"/>
                <a:gd name="T16" fmla="*/ 114 w 736"/>
                <a:gd name="T17" fmla="*/ 77 h 203"/>
                <a:gd name="T18" fmla="*/ 124 w 736"/>
                <a:gd name="T19" fmla="*/ 74 h 203"/>
                <a:gd name="T20" fmla="*/ 142 w 736"/>
                <a:gd name="T21" fmla="*/ 71 h 203"/>
                <a:gd name="T22" fmla="*/ 161 w 736"/>
                <a:gd name="T23" fmla="*/ 65 h 203"/>
                <a:gd name="T24" fmla="*/ 179 w 736"/>
                <a:gd name="T25" fmla="*/ 58 h 203"/>
                <a:gd name="T26" fmla="*/ 198 w 736"/>
                <a:gd name="T27" fmla="*/ 55 h 203"/>
                <a:gd name="T28" fmla="*/ 219 w 736"/>
                <a:gd name="T29" fmla="*/ 49 h 203"/>
                <a:gd name="T30" fmla="*/ 241 w 736"/>
                <a:gd name="T31" fmla="*/ 46 h 203"/>
                <a:gd name="T32" fmla="*/ 262 w 736"/>
                <a:gd name="T33" fmla="*/ 40 h 203"/>
                <a:gd name="T34" fmla="*/ 284 w 736"/>
                <a:gd name="T35" fmla="*/ 37 h 203"/>
                <a:gd name="T36" fmla="*/ 308 w 736"/>
                <a:gd name="T37" fmla="*/ 31 h 203"/>
                <a:gd name="T38" fmla="*/ 330 w 736"/>
                <a:gd name="T39" fmla="*/ 28 h 203"/>
                <a:gd name="T40" fmla="*/ 355 w 736"/>
                <a:gd name="T41" fmla="*/ 24 h 203"/>
                <a:gd name="T42" fmla="*/ 379 w 736"/>
                <a:gd name="T43" fmla="*/ 21 h 203"/>
                <a:gd name="T44" fmla="*/ 404 w 736"/>
                <a:gd name="T45" fmla="*/ 18 h 203"/>
                <a:gd name="T46" fmla="*/ 428 w 736"/>
                <a:gd name="T47" fmla="*/ 15 h 203"/>
                <a:gd name="T48" fmla="*/ 453 w 736"/>
                <a:gd name="T49" fmla="*/ 12 h 203"/>
                <a:gd name="T50" fmla="*/ 481 w 736"/>
                <a:gd name="T51" fmla="*/ 9 h 203"/>
                <a:gd name="T52" fmla="*/ 493 w 736"/>
                <a:gd name="T53" fmla="*/ 9 h 203"/>
                <a:gd name="T54" fmla="*/ 521 w 736"/>
                <a:gd name="T55" fmla="*/ 6 h 203"/>
                <a:gd name="T56" fmla="*/ 545 w 736"/>
                <a:gd name="T57" fmla="*/ 6 h 203"/>
                <a:gd name="T58" fmla="*/ 573 w 736"/>
                <a:gd name="T59" fmla="*/ 3 h 203"/>
                <a:gd name="T60" fmla="*/ 601 w 736"/>
                <a:gd name="T61" fmla="*/ 3 h 203"/>
                <a:gd name="T62" fmla="*/ 629 w 736"/>
                <a:gd name="T63" fmla="*/ 0 h 203"/>
                <a:gd name="T64" fmla="*/ 653 w 736"/>
                <a:gd name="T65" fmla="*/ 0 h 203"/>
                <a:gd name="T66" fmla="*/ 681 w 736"/>
                <a:gd name="T67" fmla="*/ 0 h 203"/>
                <a:gd name="T68" fmla="*/ 709 w 736"/>
                <a:gd name="T69" fmla="*/ 0 h 203"/>
                <a:gd name="T70" fmla="*/ 0 w 736"/>
                <a:gd name="T71" fmla="*/ 129 h 20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36"/>
                <a:gd name="T109" fmla="*/ 0 h 203"/>
                <a:gd name="T110" fmla="*/ 736 w 736"/>
                <a:gd name="T111" fmla="*/ 203 h 20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36" h="203">
                  <a:moveTo>
                    <a:pt x="0" y="129"/>
                  </a:moveTo>
                  <a:lnTo>
                    <a:pt x="3" y="126"/>
                  </a:lnTo>
                  <a:lnTo>
                    <a:pt x="10" y="123"/>
                  </a:lnTo>
                  <a:lnTo>
                    <a:pt x="16" y="120"/>
                  </a:lnTo>
                  <a:lnTo>
                    <a:pt x="22" y="117"/>
                  </a:lnTo>
                  <a:lnTo>
                    <a:pt x="28" y="114"/>
                  </a:lnTo>
                  <a:lnTo>
                    <a:pt x="34" y="111"/>
                  </a:lnTo>
                  <a:lnTo>
                    <a:pt x="40" y="108"/>
                  </a:lnTo>
                  <a:lnTo>
                    <a:pt x="47" y="105"/>
                  </a:lnTo>
                  <a:lnTo>
                    <a:pt x="53" y="101"/>
                  </a:lnTo>
                  <a:lnTo>
                    <a:pt x="59" y="98"/>
                  </a:lnTo>
                  <a:lnTo>
                    <a:pt x="68" y="95"/>
                  </a:lnTo>
                  <a:lnTo>
                    <a:pt x="74" y="92"/>
                  </a:lnTo>
                  <a:lnTo>
                    <a:pt x="84" y="89"/>
                  </a:lnTo>
                  <a:lnTo>
                    <a:pt x="90" y="86"/>
                  </a:lnTo>
                  <a:lnTo>
                    <a:pt x="99" y="83"/>
                  </a:lnTo>
                  <a:lnTo>
                    <a:pt x="105" y="80"/>
                  </a:lnTo>
                  <a:lnTo>
                    <a:pt x="114" y="77"/>
                  </a:lnTo>
                  <a:lnTo>
                    <a:pt x="124" y="74"/>
                  </a:lnTo>
                  <a:lnTo>
                    <a:pt x="133" y="74"/>
                  </a:lnTo>
                  <a:lnTo>
                    <a:pt x="142" y="71"/>
                  </a:lnTo>
                  <a:lnTo>
                    <a:pt x="151" y="68"/>
                  </a:lnTo>
                  <a:lnTo>
                    <a:pt x="161" y="65"/>
                  </a:lnTo>
                  <a:lnTo>
                    <a:pt x="170" y="61"/>
                  </a:lnTo>
                  <a:lnTo>
                    <a:pt x="179" y="58"/>
                  </a:lnTo>
                  <a:lnTo>
                    <a:pt x="188" y="55"/>
                  </a:lnTo>
                  <a:lnTo>
                    <a:pt x="198" y="55"/>
                  </a:lnTo>
                  <a:lnTo>
                    <a:pt x="210" y="52"/>
                  </a:lnTo>
                  <a:lnTo>
                    <a:pt x="219" y="49"/>
                  </a:lnTo>
                  <a:lnTo>
                    <a:pt x="228" y="46"/>
                  </a:lnTo>
                  <a:lnTo>
                    <a:pt x="241" y="46"/>
                  </a:lnTo>
                  <a:lnTo>
                    <a:pt x="250" y="43"/>
                  </a:lnTo>
                  <a:lnTo>
                    <a:pt x="262" y="40"/>
                  </a:lnTo>
                  <a:lnTo>
                    <a:pt x="271" y="37"/>
                  </a:lnTo>
                  <a:lnTo>
                    <a:pt x="284" y="37"/>
                  </a:lnTo>
                  <a:lnTo>
                    <a:pt x="296" y="34"/>
                  </a:lnTo>
                  <a:lnTo>
                    <a:pt x="308" y="31"/>
                  </a:lnTo>
                  <a:lnTo>
                    <a:pt x="318" y="31"/>
                  </a:lnTo>
                  <a:lnTo>
                    <a:pt x="330" y="28"/>
                  </a:lnTo>
                  <a:lnTo>
                    <a:pt x="342" y="28"/>
                  </a:lnTo>
                  <a:lnTo>
                    <a:pt x="355" y="24"/>
                  </a:lnTo>
                  <a:lnTo>
                    <a:pt x="367" y="24"/>
                  </a:lnTo>
                  <a:lnTo>
                    <a:pt x="379" y="21"/>
                  </a:lnTo>
                  <a:lnTo>
                    <a:pt x="392" y="18"/>
                  </a:lnTo>
                  <a:lnTo>
                    <a:pt x="404" y="18"/>
                  </a:lnTo>
                  <a:lnTo>
                    <a:pt x="416" y="15"/>
                  </a:lnTo>
                  <a:lnTo>
                    <a:pt x="428" y="15"/>
                  </a:lnTo>
                  <a:lnTo>
                    <a:pt x="441" y="15"/>
                  </a:lnTo>
                  <a:lnTo>
                    <a:pt x="453" y="12"/>
                  </a:lnTo>
                  <a:lnTo>
                    <a:pt x="469" y="12"/>
                  </a:lnTo>
                  <a:lnTo>
                    <a:pt x="481" y="9"/>
                  </a:lnTo>
                  <a:lnTo>
                    <a:pt x="493" y="9"/>
                  </a:lnTo>
                  <a:lnTo>
                    <a:pt x="505" y="9"/>
                  </a:lnTo>
                  <a:lnTo>
                    <a:pt x="521" y="6"/>
                  </a:lnTo>
                  <a:lnTo>
                    <a:pt x="533" y="6"/>
                  </a:lnTo>
                  <a:lnTo>
                    <a:pt x="545" y="6"/>
                  </a:lnTo>
                  <a:lnTo>
                    <a:pt x="561" y="3"/>
                  </a:lnTo>
                  <a:lnTo>
                    <a:pt x="573" y="3"/>
                  </a:lnTo>
                  <a:lnTo>
                    <a:pt x="586" y="3"/>
                  </a:lnTo>
                  <a:lnTo>
                    <a:pt x="601" y="3"/>
                  </a:lnTo>
                  <a:lnTo>
                    <a:pt x="613" y="3"/>
                  </a:lnTo>
                  <a:lnTo>
                    <a:pt x="629" y="0"/>
                  </a:lnTo>
                  <a:lnTo>
                    <a:pt x="641" y="0"/>
                  </a:lnTo>
                  <a:lnTo>
                    <a:pt x="653" y="0"/>
                  </a:lnTo>
                  <a:lnTo>
                    <a:pt x="669" y="0"/>
                  </a:lnTo>
                  <a:lnTo>
                    <a:pt x="681" y="0"/>
                  </a:lnTo>
                  <a:lnTo>
                    <a:pt x="696" y="0"/>
                  </a:lnTo>
                  <a:lnTo>
                    <a:pt x="709" y="0"/>
                  </a:lnTo>
                  <a:lnTo>
                    <a:pt x="736" y="203"/>
                  </a:lnTo>
                  <a:lnTo>
                    <a:pt x="0" y="129"/>
                  </a:lnTo>
                  <a:close/>
                </a:path>
              </a:pathLst>
            </a:custGeom>
            <a:solidFill>
              <a:srgbClr val="FFFFCC"/>
            </a:solidFill>
            <a:ln w="4763">
              <a:solidFill>
                <a:srgbClr val="000000"/>
              </a:solidFill>
              <a:prstDash val="solid"/>
              <a:round/>
              <a:headEnd/>
              <a:tailEnd/>
            </a:ln>
          </p:spPr>
          <p:txBody>
            <a:bodyPr/>
            <a:lstStyle/>
            <a:p>
              <a:endParaRPr lang="en-US"/>
            </a:p>
          </p:txBody>
        </p:sp>
        <p:sp>
          <p:nvSpPr>
            <p:cNvPr id="27675" name="Freeform 76"/>
            <p:cNvSpPr>
              <a:spLocks/>
            </p:cNvSpPr>
            <p:nvPr/>
          </p:nvSpPr>
          <p:spPr bwMode="auto">
            <a:xfrm>
              <a:off x="3742" y="2047"/>
              <a:ext cx="705" cy="422"/>
            </a:xfrm>
            <a:custGeom>
              <a:avLst/>
              <a:gdLst>
                <a:gd name="T0" fmla="*/ 681 w 705"/>
                <a:gd name="T1" fmla="*/ 203 h 422"/>
                <a:gd name="T2" fmla="*/ 638 w 705"/>
                <a:gd name="T3" fmla="*/ 203 h 422"/>
                <a:gd name="T4" fmla="*/ 597 w 705"/>
                <a:gd name="T5" fmla="*/ 200 h 422"/>
                <a:gd name="T6" fmla="*/ 557 w 705"/>
                <a:gd name="T7" fmla="*/ 197 h 422"/>
                <a:gd name="T8" fmla="*/ 521 w 705"/>
                <a:gd name="T9" fmla="*/ 194 h 422"/>
                <a:gd name="T10" fmla="*/ 480 w 705"/>
                <a:gd name="T11" fmla="*/ 188 h 422"/>
                <a:gd name="T12" fmla="*/ 444 w 705"/>
                <a:gd name="T13" fmla="*/ 185 h 422"/>
                <a:gd name="T14" fmla="*/ 407 w 705"/>
                <a:gd name="T15" fmla="*/ 179 h 422"/>
                <a:gd name="T16" fmla="*/ 370 w 705"/>
                <a:gd name="T17" fmla="*/ 176 h 422"/>
                <a:gd name="T18" fmla="*/ 336 w 705"/>
                <a:gd name="T19" fmla="*/ 170 h 422"/>
                <a:gd name="T20" fmla="*/ 302 w 705"/>
                <a:gd name="T21" fmla="*/ 163 h 422"/>
                <a:gd name="T22" fmla="*/ 271 w 705"/>
                <a:gd name="T23" fmla="*/ 154 h 422"/>
                <a:gd name="T24" fmla="*/ 240 w 705"/>
                <a:gd name="T25" fmla="*/ 148 h 422"/>
                <a:gd name="T26" fmla="*/ 213 w 705"/>
                <a:gd name="T27" fmla="*/ 142 h 422"/>
                <a:gd name="T28" fmla="*/ 185 w 705"/>
                <a:gd name="T29" fmla="*/ 133 h 422"/>
                <a:gd name="T30" fmla="*/ 157 w 705"/>
                <a:gd name="T31" fmla="*/ 123 h 422"/>
                <a:gd name="T32" fmla="*/ 136 w 705"/>
                <a:gd name="T33" fmla="*/ 114 h 422"/>
                <a:gd name="T34" fmla="*/ 111 w 705"/>
                <a:gd name="T35" fmla="*/ 105 h 422"/>
                <a:gd name="T36" fmla="*/ 92 w 705"/>
                <a:gd name="T37" fmla="*/ 96 h 422"/>
                <a:gd name="T38" fmla="*/ 74 w 705"/>
                <a:gd name="T39" fmla="*/ 86 h 422"/>
                <a:gd name="T40" fmla="*/ 55 w 705"/>
                <a:gd name="T41" fmla="*/ 77 h 422"/>
                <a:gd name="T42" fmla="*/ 43 w 705"/>
                <a:gd name="T43" fmla="*/ 68 h 422"/>
                <a:gd name="T44" fmla="*/ 31 w 705"/>
                <a:gd name="T45" fmla="*/ 59 h 422"/>
                <a:gd name="T46" fmla="*/ 19 w 705"/>
                <a:gd name="T47" fmla="*/ 46 h 422"/>
                <a:gd name="T48" fmla="*/ 12 w 705"/>
                <a:gd name="T49" fmla="*/ 37 h 422"/>
                <a:gd name="T50" fmla="*/ 6 w 705"/>
                <a:gd name="T51" fmla="*/ 25 h 422"/>
                <a:gd name="T52" fmla="*/ 0 w 705"/>
                <a:gd name="T53" fmla="*/ 16 h 422"/>
                <a:gd name="T54" fmla="*/ 0 w 705"/>
                <a:gd name="T55" fmla="*/ 3 h 422"/>
                <a:gd name="T56" fmla="*/ 0 w 705"/>
                <a:gd name="T57" fmla="*/ 222 h 422"/>
                <a:gd name="T58" fmla="*/ 0 w 705"/>
                <a:gd name="T59" fmla="*/ 234 h 422"/>
                <a:gd name="T60" fmla="*/ 6 w 705"/>
                <a:gd name="T61" fmla="*/ 243 h 422"/>
                <a:gd name="T62" fmla="*/ 12 w 705"/>
                <a:gd name="T63" fmla="*/ 256 h 422"/>
                <a:gd name="T64" fmla="*/ 19 w 705"/>
                <a:gd name="T65" fmla="*/ 265 h 422"/>
                <a:gd name="T66" fmla="*/ 31 w 705"/>
                <a:gd name="T67" fmla="*/ 277 h 422"/>
                <a:gd name="T68" fmla="*/ 43 w 705"/>
                <a:gd name="T69" fmla="*/ 287 h 422"/>
                <a:gd name="T70" fmla="*/ 55 w 705"/>
                <a:gd name="T71" fmla="*/ 296 h 422"/>
                <a:gd name="T72" fmla="*/ 74 w 705"/>
                <a:gd name="T73" fmla="*/ 305 h 422"/>
                <a:gd name="T74" fmla="*/ 92 w 705"/>
                <a:gd name="T75" fmla="*/ 314 h 422"/>
                <a:gd name="T76" fmla="*/ 111 w 705"/>
                <a:gd name="T77" fmla="*/ 324 h 422"/>
                <a:gd name="T78" fmla="*/ 136 w 705"/>
                <a:gd name="T79" fmla="*/ 333 h 422"/>
                <a:gd name="T80" fmla="*/ 157 w 705"/>
                <a:gd name="T81" fmla="*/ 342 h 422"/>
                <a:gd name="T82" fmla="*/ 185 w 705"/>
                <a:gd name="T83" fmla="*/ 351 h 422"/>
                <a:gd name="T84" fmla="*/ 213 w 705"/>
                <a:gd name="T85" fmla="*/ 361 h 422"/>
                <a:gd name="T86" fmla="*/ 240 w 705"/>
                <a:gd name="T87" fmla="*/ 367 h 422"/>
                <a:gd name="T88" fmla="*/ 271 w 705"/>
                <a:gd name="T89" fmla="*/ 373 h 422"/>
                <a:gd name="T90" fmla="*/ 302 w 705"/>
                <a:gd name="T91" fmla="*/ 382 h 422"/>
                <a:gd name="T92" fmla="*/ 336 w 705"/>
                <a:gd name="T93" fmla="*/ 388 h 422"/>
                <a:gd name="T94" fmla="*/ 370 w 705"/>
                <a:gd name="T95" fmla="*/ 394 h 422"/>
                <a:gd name="T96" fmla="*/ 407 w 705"/>
                <a:gd name="T97" fmla="*/ 397 h 422"/>
                <a:gd name="T98" fmla="*/ 444 w 705"/>
                <a:gd name="T99" fmla="*/ 404 h 422"/>
                <a:gd name="T100" fmla="*/ 480 w 705"/>
                <a:gd name="T101" fmla="*/ 407 h 422"/>
                <a:gd name="T102" fmla="*/ 521 w 705"/>
                <a:gd name="T103" fmla="*/ 413 h 422"/>
                <a:gd name="T104" fmla="*/ 557 w 705"/>
                <a:gd name="T105" fmla="*/ 416 h 422"/>
                <a:gd name="T106" fmla="*/ 597 w 705"/>
                <a:gd name="T107" fmla="*/ 419 h 422"/>
                <a:gd name="T108" fmla="*/ 638 w 705"/>
                <a:gd name="T109" fmla="*/ 422 h 422"/>
                <a:gd name="T110" fmla="*/ 681 w 705"/>
                <a:gd name="T111" fmla="*/ 422 h 422"/>
                <a:gd name="T112" fmla="*/ 705 w 705"/>
                <a:gd name="T113" fmla="*/ 203 h 42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05"/>
                <a:gd name="T172" fmla="*/ 0 h 422"/>
                <a:gd name="T173" fmla="*/ 705 w 705"/>
                <a:gd name="T174" fmla="*/ 422 h 42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05" h="422">
                  <a:moveTo>
                    <a:pt x="705" y="203"/>
                  </a:moveTo>
                  <a:lnTo>
                    <a:pt x="693" y="203"/>
                  </a:lnTo>
                  <a:lnTo>
                    <a:pt x="681" y="203"/>
                  </a:lnTo>
                  <a:lnTo>
                    <a:pt x="665" y="203"/>
                  </a:lnTo>
                  <a:lnTo>
                    <a:pt x="653" y="203"/>
                  </a:lnTo>
                  <a:lnTo>
                    <a:pt x="638" y="203"/>
                  </a:lnTo>
                  <a:lnTo>
                    <a:pt x="625" y="200"/>
                  </a:lnTo>
                  <a:lnTo>
                    <a:pt x="613" y="200"/>
                  </a:lnTo>
                  <a:lnTo>
                    <a:pt x="597" y="200"/>
                  </a:lnTo>
                  <a:lnTo>
                    <a:pt x="585" y="197"/>
                  </a:lnTo>
                  <a:lnTo>
                    <a:pt x="573" y="197"/>
                  </a:lnTo>
                  <a:lnTo>
                    <a:pt x="557" y="197"/>
                  </a:lnTo>
                  <a:lnTo>
                    <a:pt x="545" y="194"/>
                  </a:lnTo>
                  <a:lnTo>
                    <a:pt x="533" y="194"/>
                  </a:lnTo>
                  <a:lnTo>
                    <a:pt x="521" y="194"/>
                  </a:lnTo>
                  <a:lnTo>
                    <a:pt x="505" y="191"/>
                  </a:lnTo>
                  <a:lnTo>
                    <a:pt x="493" y="191"/>
                  </a:lnTo>
                  <a:lnTo>
                    <a:pt x="480" y="188"/>
                  </a:lnTo>
                  <a:lnTo>
                    <a:pt x="468" y="188"/>
                  </a:lnTo>
                  <a:lnTo>
                    <a:pt x="456" y="188"/>
                  </a:lnTo>
                  <a:lnTo>
                    <a:pt x="444" y="185"/>
                  </a:lnTo>
                  <a:lnTo>
                    <a:pt x="431" y="185"/>
                  </a:lnTo>
                  <a:lnTo>
                    <a:pt x="419" y="182"/>
                  </a:lnTo>
                  <a:lnTo>
                    <a:pt x="407" y="179"/>
                  </a:lnTo>
                  <a:lnTo>
                    <a:pt x="394" y="179"/>
                  </a:lnTo>
                  <a:lnTo>
                    <a:pt x="382" y="176"/>
                  </a:lnTo>
                  <a:lnTo>
                    <a:pt x="370" y="176"/>
                  </a:lnTo>
                  <a:lnTo>
                    <a:pt x="360" y="173"/>
                  </a:lnTo>
                  <a:lnTo>
                    <a:pt x="348" y="170"/>
                  </a:lnTo>
                  <a:lnTo>
                    <a:pt x="336" y="170"/>
                  </a:lnTo>
                  <a:lnTo>
                    <a:pt x="323" y="166"/>
                  </a:lnTo>
                  <a:lnTo>
                    <a:pt x="314" y="163"/>
                  </a:lnTo>
                  <a:lnTo>
                    <a:pt x="302" y="163"/>
                  </a:lnTo>
                  <a:lnTo>
                    <a:pt x="293" y="160"/>
                  </a:lnTo>
                  <a:lnTo>
                    <a:pt x="280" y="157"/>
                  </a:lnTo>
                  <a:lnTo>
                    <a:pt x="271" y="154"/>
                  </a:lnTo>
                  <a:lnTo>
                    <a:pt x="262" y="154"/>
                  </a:lnTo>
                  <a:lnTo>
                    <a:pt x="250" y="151"/>
                  </a:lnTo>
                  <a:lnTo>
                    <a:pt x="240" y="148"/>
                  </a:lnTo>
                  <a:lnTo>
                    <a:pt x="231" y="145"/>
                  </a:lnTo>
                  <a:lnTo>
                    <a:pt x="222" y="142"/>
                  </a:lnTo>
                  <a:lnTo>
                    <a:pt x="213" y="142"/>
                  </a:lnTo>
                  <a:lnTo>
                    <a:pt x="203" y="139"/>
                  </a:lnTo>
                  <a:lnTo>
                    <a:pt x="194" y="136"/>
                  </a:lnTo>
                  <a:lnTo>
                    <a:pt x="185" y="133"/>
                  </a:lnTo>
                  <a:lnTo>
                    <a:pt x="176" y="130"/>
                  </a:lnTo>
                  <a:lnTo>
                    <a:pt x="166" y="126"/>
                  </a:lnTo>
                  <a:lnTo>
                    <a:pt x="157" y="123"/>
                  </a:lnTo>
                  <a:lnTo>
                    <a:pt x="151" y="120"/>
                  </a:lnTo>
                  <a:lnTo>
                    <a:pt x="142" y="117"/>
                  </a:lnTo>
                  <a:lnTo>
                    <a:pt x="136" y="114"/>
                  </a:lnTo>
                  <a:lnTo>
                    <a:pt x="126" y="111"/>
                  </a:lnTo>
                  <a:lnTo>
                    <a:pt x="120" y="108"/>
                  </a:lnTo>
                  <a:lnTo>
                    <a:pt x="111" y="105"/>
                  </a:lnTo>
                  <a:lnTo>
                    <a:pt x="105" y="105"/>
                  </a:lnTo>
                  <a:lnTo>
                    <a:pt x="99" y="99"/>
                  </a:lnTo>
                  <a:lnTo>
                    <a:pt x="92" y="96"/>
                  </a:lnTo>
                  <a:lnTo>
                    <a:pt x="86" y="93"/>
                  </a:lnTo>
                  <a:lnTo>
                    <a:pt x="80" y="89"/>
                  </a:lnTo>
                  <a:lnTo>
                    <a:pt x="74" y="86"/>
                  </a:lnTo>
                  <a:lnTo>
                    <a:pt x="68" y="83"/>
                  </a:lnTo>
                  <a:lnTo>
                    <a:pt x="62" y="80"/>
                  </a:lnTo>
                  <a:lnTo>
                    <a:pt x="55" y="77"/>
                  </a:lnTo>
                  <a:lnTo>
                    <a:pt x="52" y="74"/>
                  </a:lnTo>
                  <a:lnTo>
                    <a:pt x="46" y="71"/>
                  </a:lnTo>
                  <a:lnTo>
                    <a:pt x="43" y="68"/>
                  </a:lnTo>
                  <a:lnTo>
                    <a:pt x="37" y="65"/>
                  </a:lnTo>
                  <a:lnTo>
                    <a:pt x="34" y="62"/>
                  </a:lnTo>
                  <a:lnTo>
                    <a:pt x="31" y="59"/>
                  </a:lnTo>
                  <a:lnTo>
                    <a:pt x="25" y="52"/>
                  </a:lnTo>
                  <a:lnTo>
                    <a:pt x="22" y="49"/>
                  </a:lnTo>
                  <a:lnTo>
                    <a:pt x="19" y="46"/>
                  </a:lnTo>
                  <a:lnTo>
                    <a:pt x="15" y="43"/>
                  </a:lnTo>
                  <a:lnTo>
                    <a:pt x="12" y="40"/>
                  </a:lnTo>
                  <a:lnTo>
                    <a:pt x="12" y="37"/>
                  </a:lnTo>
                  <a:lnTo>
                    <a:pt x="9" y="34"/>
                  </a:lnTo>
                  <a:lnTo>
                    <a:pt x="6" y="31"/>
                  </a:lnTo>
                  <a:lnTo>
                    <a:pt x="6" y="25"/>
                  </a:lnTo>
                  <a:lnTo>
                    <a:pt x="3" y="22"/>
                  </a:lnTo>
                  <a:lnTo>
                    <a:pt x="3" y="19"/>
                  </a:lnTo>
                  <a:lnTo>
                    <a:pt x="0" y="16"/>
                  </a:lnTo>
                  <a:lnTo>
                    <a:pt x="0" y="12"/>
                  </a:lnTo>
                  <a:lnTo>
                    <a:pt x="0" y="9"/>
                  </a:lnTo>
                  <a:lnTo>
                    <a:pt x="0" y="3"/>
                  </a:lnTo>
                  <a:lnTo>
                    <a:pt x="0" y="0"/>
                  </a:lnTo>
                  <a:lnTo>
                    <a:pt x="0" y="219"/>
                  </a:lnTo>
                  <a:lnTo>
                    <a:pt x="0" y="222"/>
                  </a:lnTo>
                  <a:lnTo>
                    <a:pt x="0" y="228"/>
                  </a:lnTo>
                  <a:lnTo>
                    <a:pt x="0" y="231"/>
                  </a:lnTo>
                  <a:lnTo>
                    <a:pt x="0" y="234"/>
                  </a:lnTo>
                  <a:lnTo>
                    <a:pt x="3" y="237"/>
                  </a:lnTo>
                  <a:lnTo>
                    <a:pt x="3" y="240"/>
                  </a:lnTo>
                  <a:lnTo>
                    <a:pt x="6" y="243"/>
                  </a:lnTo>
                  <a:lnTo>
                    <a:pt x="6" y="250"/>
                  </a:lnTo>
                  <a:lnTo>
                    <a:pt x="9" y="253"/>
                  </a:lnTo>
                  <a:lnTo>
                    <a:pt x="12" y="256"/>
                  </a:lnTo>
                  <a:lnTo>
                    <a:pt x="12" y="259"/>
                  </a:lnTo>
                  <a:lnTo>
                    <a:pt x="15" y="262"/>
                  </a:lnTo>
                  <a:lnTo>
                    <a:pt x="19" y="265"/>
                  </a:lnTo>
                  <a:lnTo>
                    <a:pt x="22" y="268"/>
                  </a:lnTo>
                  <a:lnTo>
                    <a:pt x="25" y="271"/>
                  </a:lnTo>
                  <a:lnTo>
                    <a:pt x="31" y="277"/>
                  </a:lnTo>
                  <a:lnTo>
                    <a:pt x="34" y="280"/>
                  </a:lnTo>
                  <a:lnTo>
                    <a:pt x="37" y="284"/>
                  </a:lnTo>
                  <a:lnTo>
                    <a:pt x="43" y="287"/>
                  </a:lnTo>
                  <a:lnTo>
                    <a:pt x="46" y="290"/>
                  </a:lnTo>
                  <a:lnTo>
                    <a:pt x="52" y="293"/>
                  </a:lnTo>
                  <a:lnTo>
                    <a:pt x="55" y="296"/>
                  </a:lnTo>
                  <a:lnTo>
                    <a:pt x="62" y="299"/>
                  </a:lnTo>
                  <a:lnTo>
                    <a:pt x="68" y="302"/>
                  </a:lnTo>
                  <a:lnTo>
                    <a:pt x="74" y="305"/>
                  </a:lnTo>
                  <a:lnTo>
                    <a:pt x="80" y="308"/>
                  </a:lnTo>
                  <a:lnTo>
                    <a:pt x="86" y="311"/>
                  </a:lnTo>
                  <a:lnTo>
                    <a:pt x="92" y="314"/>
                  </a:lnTo>
                  <a:lnTo>
                    <a:pt x="99" y="317"/>
                  </a:lnTo>
                  <a:lnTo>
                    <a:pt x="105" y="324"/>
                  </a:lnTo>
                  <a:lnTo>
                    <a:pt x="111" y="324"/>
                  </a:lnTo>
                  <a:lnTo>
                    <a:pt x="120" y="327"/>
                  </a:lnTo>
                  <a:lnTo>
                    <a:pt x="126" y="330"/>
                  </a:lnTo>
                  <a:lnTo>
                    <a:pt x="136" y="333"/>
                  </a:lnTo>
                  <a:lnTo>
                    <a:pt x="142" y="336"/>
                  </a:lnTo>
                  <a:lnTo>
                    <a:pt x="151" y="339"/>
                  </a:lnTo>
                  <a:lnTo>
                    <a:pt x="157" y="342"/>
                  </a:lnTo>
                  <a:lnTo>
                    <a:pt x="166" y="345"/>
                  </a:lnTo>
                  <a:lnTo>
                    <a:pt x="176" y="348"/>
                  </a:lnTo>
                  <a:lnTo>
                    <a:pt x="185" y="351"/>
                  </a:lnTo>
                  <a:lnTo>
                    <a:pt x="194" y="354"/>
                  </a:lnTo>
                  <a:lnTo>
                    <a:pt x="203" y="357"/>
                  </a:lnTo>
                  <a:lnTo>
                    <a:pt x="213" y="361"/>
                  </a:lnTo>
                  <a:lnTo>
                    <a:pt x="222" y="361"/>
                  </a:lnTo>
                  <a:lnTo>
                    <a:pt x="231" y="364"/>
                  </a:lnTo>
                  <a:lnTo>
                    <a:pt x="240" y="367"/>
                  </a:lnTo>
                  <a:lnTo>
                    <a:pt x="250" y="370"/>
                  </a:lnTo>
                  <a:lnTo>
                    <a:pt x="262" y="373"/>
                  </a:lnTo>
                  <a:lnTo>
                    <a:pt x="271" y="373"/>
                  </a:lnTo>
                  <a:lnTo>
                    <a:pt x="280" y="376"/>
                  </a:lnTo>
                  <a:lnTo>
                    <a:pt x="293" y="379"/>
                  </a:lnTo>
                  <a:lnTo>
                    <a:pt x="302" y="382"/>
                  </a:lnTo>
                  <a:lnTo>
                    <a:pt x="314" y="382"/>
                  </a:lnTo>
                  <a:lnTo>
                    <a:pt x="323" y="385"/>
                  </a:lnTo>
                  <a:lnTo>
                    <a:pt x="336" y="388"/>
                  </a:lnTo>
                  <a:lnTo>
                    <a:pt x="348" y="388"/>
                  </a:lnTo>
                  <a:lnTo>
                    <a:pt x="360" y="391"/>
                  </a:lnTo>
                  <a:lnTo>
                    <a:pt x="370" y="394"/>
                  </a:lnTo>
                  <a:lnTo>
                    <a:pt x="382" y="394"/>
                  </a:lnTo>
                  <a:lnTo>
                    <a:pt x="394" y="397"/>
                  </a:lnTo>
                  <a:lnTo>
                    <a:pt x="407" y="397"/>
                  </a:lnTo>
                  <a:lnTo>
                    <a:pt x="419" y="401"/>
                  </a:lnTo>
                  <a:lnTo>
                    <a:pt x="431" y="404"/>
                  </a:lnTo>
                  <a:lnTo>
                    <a:pt x="444" y="404"/>
                  </a:lnTo>
                  <a:lnTo>
                    <a:pt x="456" y="407"/>
                  </a:lnTo>
                  <a:lnTo>
                    <a:pt x="468" y="407"/>
                  </a:lnTo>
                  <a:lnTo>
                    <a:pt x="480" y="407"/>
                  </a:lnTo>
                  <a:lnTo>
                    <a:pt x="493" y="410"/>
                  </a:lnTo>
                  <a:lnTo>
                    <a:pt x="505" y="410"/>
                  </a:lnTo>
                  <a:lnTo>
                    <a:pt x="521" y="413"/>
                  </a:lnTo>
                  <a:lnTo>
                    <a:pt x="533" y="413"/>
                  </a:lnTo>
                  <a:lnTo>
                    <a:pt x="545" y="413"/>
                  </a:lnTo>
                  <a:lnTo>
                    <a:pt x="557" y="416"/>
                  </a:lnTo>
                  <a:lnTo>
                    <a:pt x="573" y="416"/>
                  </a:lnTo>
                  <a:lnTo>
                    <a:pt x="585" y="416"/>
                  </a:lnTo>
                  <a:lnTo>
                    <a:pt x="597" y="419"/>
                  </a:lnTo>
                  <a:lnTo>
                    <a:pt x="613" y="419"/>
                  </a:lnTo>
                  <a:lnTo>
                    <a:pt x="625" y="419"/>
                  </a:lnTo>
                  <a:lnTo>
                    <a:pt x="638" y="422"/>
                  </a:lnTo>
                  <a:lnTo>
                    <a:pt x="653" y="422"/>
                  </a:lnTo>
                  <a:lnTo>
                    <a:pt x="665" y="422"/>
                  </a:lnTo>
                  <a:lnTo>
                    <a:pt x="681" y="422"/>
                  </a:lnTo>
                  <a:lnTo>
                    <a:pt x="693" y="422"/>
                  </a:lnTo>
                  <a:lnTo>
                    <a:pt x="705" y="422"/>
                  </a:lnTo>
                  <a:lnTo>
                    <a:pt x="705" y="203"/>
                  </a:lnTo>
                  <a:close/>
                </a:path>
              </a:pathLst>
            </a:custGeom>
            <a:solidFill>
              <a:srgbClr val="4D1A33"/>
            </a:solidFill>
            <a:ln w="4763">
              <a:solidFill>
                <a:srgbClr val="000000"/>
              </a:solidFill>
              <a:prstDash val="solid"/>
              <a:round/>
              <a:headEnd/>
              <a:tailEnd/>
            </a:ln>
          </p:spPr>
          <p:txBody>
            <a:bodyPr/>
            <a:lstStyle/>
            <a:p>
              <a:endParaRPr lang="en-US"/>
            </a:p>
          </p:txBody>
        </p:sp>
        <p:sp>
          <p:nvSpPr>
            <p:cNvPr id="27676" name="Freeform 78"/>
            <p:cNvSpPr>
              <a:spLocks/>
            </p:cNvSpPr>
            <p:nvPr/>
          </p:nvSpPr>
          <p:spPr bwMode="auto">
            <a:xfrm>
              <a:off x="3742" y="1973"/>
              <a:ext cx="788" cy="277"/>
            </a:xfrm>
            <a:custGeom>
              <a:avLst/>
              <a:gdLst>
                <a:gd name="T0" fmla="*/ 693 w 788"/>
                <a:gd name="T1" fmla="*/ 277 h 277"/>
                <a:gd name="T2" fmla="*/ 665 w 788"/>
                <a:gd name="T3" fmla="*/ 277 h 277"/>
                <a:gd name="T4" fmla="*/ 638 w 788"/>
                <a:gd name="T5" fmla="*/ 277 h 277"/>
                <a:gd name="T6" fmla="*/ 613 w 788"/>
                <a:gd name="T7" fmla="*/ 274 h 277"/>
                <a:gd name="T8" fmla="*/ 585 w 788"/>
                <a:gd name="T9" fmla="*/ 271 h 277"/>
                <a:gd name="T10" fmla="*/ 557 w 788"/>
                <a:gd name="T11" fmla="*/ 271 h 277"/>
                <a:gd name="T12" fmla="*/ 533 w 788"/>
                <a:gd name="T13" fmla="*/ 268 h 277"/>
                <a:gd name="T14" fmla="*/ 505 w 788"/>
                <a:gd name="T15" fmla="*/ 265 h 277"/>
                <a:gd name="T16" fmla="*/ 480 w 788"/>
                <a:gd name="T17" fmla="*/ 262 h 277"/>
                <a:gd name="T18" fmla="*/ 456 w 788"/>
                <a:gd name="T19" fmla="*/ 262 h 277"/>
                <a:gd name="T20" fmla="*/ 431 w 788"/>
                <a:gd name="T21" fmla="*/ 259 h 277"/>
                <a:gd name="T22" fmla="*/ 407 w 788"/>
                <a:gd name="T23" fmla="*/ 253 h 277"/>
                <a:gd name="T24" fmla="*/ 382 w 788"/>
                <a:gd name="T25" fmla="*/ 250 h 277"/>
                <a:gd name="T26" fmla="*/ 360 w 788"/>
                <a:gd name="T27" fmla="*/ 247 h 277"/>
                <a:gd name="T28" fmla="*/ 336 w 788"/>
                <a:gd name="T29" fmla="*/ 244 h 277"/>
                <a:gd name="T30" fmla="*/ 314 w 788"/>
                <a:gd name="T31" fmla="*/ 237 h 277"/>
                <a:gd name="T32" fmla="*/ 293 w 788"/>
                <a:gd name="T33" fmla="*/ 234 h 277"/>
                <a:gd name="T34" fmla="*/ 271 w 788"/>
                <a:gd name="T35" fmla="*/ 228 h 277"/>
                <a:gd name="T36" fmla="*/ 250 w 788"/>
                <a:gd name="T37" fmla="*/ 225 h 277"/>
                <a:gd name="T38" fmla="*/ 231 w 788"/>
                <a:gd name="T39" fmla="*/ 219 h 277"/>
                <a:gd name="T40" fmla="*/ 213 w 788"/>
                <a:gd name="T41" fmla="*/ 216 h 277"/>
                <a:gd name="T42" fmla="*/ 194 w 788"/>
                <a:gd name="T43" fmla="*/ 210 h 277"/>
                <a:gd name="T44" fmla="*/ 176 w 788"/>
                <a:gd name="T45" fmla="*/ 204 h 277"/>
                <a:gd name="T46" fmla="*/ 157 w 788"/>
                <a:gd name="T47" fmla="*/ 197 h 277"/>
                <a:gd name="T48" fmla="*/ 142 w 788"/>
                <a:gd name="T49" fmla="*/ 191 h 277"/>
                <a:gd name="T50" fmla="*/ 126 w 788"/>
                <a:gd name="T51" fmla="*/ 185 h 277"/>
                <a:gd name="T52" fmla="*/ 111 w 788"/>
                <a:gd name="T53" fmla="*/ 179 h 277"/>
                <a:gd name="T54" fmla="*/ 99 w 788"/>
                <a:gd name="T55" fmla="*/ 173 h 277"/>
                <a:gd name="T56" fmla="*/ 86 w 788"/>
                <a:gd name="T57" fmla="*/ 167 h 277"/>
                <a:gd name="T58" fmla="*/ 74 w 788"/>
                <a:gd name="T59" fmla="*/ 160 h 277"/>
                <a:gd name="T60" fmla="*/ 62 w 788"/>
                <a:gd name="T61" fmla="*/ 154 h 277"/>
                <a:gd name="T62" fmla="*/ 52 w 788"/>
                <a:gd name="T63" fmla="*/ 148 h 277"/>
                <a:gd name="T64" fmla="*/ 43 w 788"/>
                <a:gd name="T65" fmla="*/ 142 h 277"/>
                <a:gd name="T66" fmla="*/ 34 w 788"/>
                <a:gd name="T67" fmla="*/ 136 h 277"/>
                <a:gd name="T68" fmla="*/ 25 w 788"/>
                <a:gd name="T69" fmla="*/ 126 h 277"/>
                <a:gd name="T70" fmla="*/ 19 w 788"/>
                <a:gd name="T71" fmla="*/ 120 h 277"/>
                <a:gd name="T72" fmla="*/ 12 w 788"/>
                <a:gd name="T73" fmla="*/ 114 h 277"/>
                <a:gd name="T74" fmla="*/ 9 w 788"/>
                <a:gd name="T75" fmla="*/ 108 h 277"/>
                <a:gd name="T76" fmla="*/ 6 w 788"/>
                <a:gd name="T77" fmla="*/ 99 h 277"/>
                <a:gd name="T78" fmla="*/ 3 w 788"/>
                <a:gd name="T79" fmla="*/ 93 h 277"/>
                <a:gd name="T80" fmla="*/ 0 w 788"/>
                <a:gd name="T81" fmla="*/ 86 h 277"/>
                <a:gd name="T82" fmla="*/ 0 w 788"/>
                <a:gd name="T83" fmla="*/ 77 h 277"/>
                <a:gd name="T84" fmla="*/ 0 w 788"/>
                <a:gd name="T85" fmla="*/ 71 h 277"/>
                <a:gd name="T86" fmla="*/ 0 w 788"/>
                <a:gd name="T87" fmla="*/ 65 h 277"/>
                <a:gd name="T88" fmla="*/ 3 w 788"/>
                <a:gd name="T89" fmla="*/ 56 h 277"/>
                <a:gd name="T90" fmla="*/ 6 w 788"/>
                <a:gd name="T91" fmla="*/ 49 h 277"/>
                <a:gd name="T92" fmla="*/ 9 w 788"/>
                <a:gd name="T93" fmla="*/ 43 h 277"/>
                <a:gd name="T94" fmla="*/ 12 w 788"/>
                <a:gd name="T95" fmla="*/ 37 h 277"/>
                <a:gd name="T96" fmla="*/ 19 w 788"/>
                <a:gd name="T97" fmla="*/ 28 h 277"/>
                <a:gd name="T98" fmla="*/ 25 w 788"/>
                <a:gd name="T99" fmla="*/ 22 h 277"/>
                <a:gd name="T100" fmla="*/ 34 w 788"/>
                <a:gd name="T101" fmla="*/ 16 h 277"/>
                <a:gd name="T102" fmla="*/ 43 w 788"/>
                <a:gd name="T103" fmla="*/ 9 h 277"/>
                <a:gd name="T104" fmla="*/ 52 w 788"/>
                <a:gd name="T105" fmla="*/ 0 h 277"/>
                <a:gd name="T106" fmla="*/ 705 w 788"/>
                <a:gd name="T107" fmla="*/ 277 h 27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788"/>
                <a:gd name="T163" fmla="*/ 0 h 277"/>
                <a:gd name="T164" fmla="*/ 788 w 788"/>
                <a:gd name="T165" fmla="*/ 277 h 277"/>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788" h="277">
                  <a:moveTo>
                    <a:pt x="705" y="277"/>
                  </a:moveTo>
                  <a:lnTo>
                    <a:pt x="693" y="277"/>
                  </a:lnTo>
                  <a:lnTo>
                    <a:pt x="681" y="277"/>
                  </a:lnTo>
                  <a:lnTo>
                    <a:pt x="665" y="277"/>
                  </a:lnTo>
                  <a:lnTo>
                    <a:pt x="653" y="277"/>
                  </a:lnTo>
                  <a:lnTo>
                    <a:pt x="638" y="277"/>
                  </a:lnTo>
                  <a:lnTo>
                    <a:pt x="625" y="274"/>
                  </a:lnTo>
                  <a:lnTo>
                    <a:pt x="613" y="274"/>
                  </a:lnTo>
                  <a:lnTo>
                    <a:pt x="597" y="274"/>
                  </a:lnTo>
                  <a:lnTo>
                    <a:pt x="585" y="271"/>
                  </a:lnTo>
                  <a:lnTo>
                    <a:pt x="573" y="271"/>
                  </a:lnTo>
                  <a:lnTo>
                    <a:pt x="557" y="271"/>
                  </a:lnTo>
                  <a:lnTo>
                    <a:pt x="545" y="268"/>
                  </a:lnTo>
                  <a:lnTo>
                    <a:pt x="533" y="268"/>
                  </a:lnTo>
                  <a:lnTo>
                    <a:pt x="521" y="268"/>
                  </a:lnTo>
                  <a:lnTo>
                    <a:pt x="505" y="265"/>
                  </a:lnTo>
                  <a:lnTo>
                    <a:pt x="493" y="265"/>
                  </a:lnTo>
                  <a:lnTo>
                    <a:pt x="480" y="262"/>
                  </a:lnTo>
                  <a:lnTo>
                    <a:pt x="468" y="262"/>
                  </a:lnTo>
                  <a:lnTo>
                    <a:pt x="456" y="262"/>
                  </a:lnTo>
                  <a:lnTo>
                    <a:pt x="444" y="259"/>
                  </a:lnTo>
                  <a:lnTo>
                    <a:pt x="431" y="259"/>
                  </a:lnTo>
                  <a:lnTo>
                    <a:pt x="419" y="256"/>
                  </a:lnTo>
                  <a:lnTo>
                    <a:pt x="407" y="253"/>
                  </a:lnTo>
                  <a:lnTo>
                    <a:pt x="394" y="253"/>
                  </a:lnTo>
                  <a:lnTo>
                    <a:pt x="382" y="250"/>
                  </a:lnTo>
                  <a:lnTo>
                    <a:pt x="370" y="250"/>
                  </a:lnTo>
                  <a:lnTo>
                    <a:pt x="360" y="247"/>
                  </a:lnTo>
                  <a:lnTo>
                    <a:pt x="348" y="244"/>
                  </a:lnTo>
                  <a:lnTo>
                    <a:pt x="336" y="244"/>
                  </a:lnTo>
                  <a:lnTo>
                    <a:pt x="323" y="240"/>
                  </a:lnTo>
                  <a:lnTo>
                    <a:pt x="314" y="237"/>
                  </a:lnTo>
                  <a:lnTo>
                    <a:pt x="302" y="237"/>
                  </a:lnTo>
                  <a:lnTo>
                    <a:pt x="293" y="234"/>
                  </a:lnTo>
                  <a:lnTo>
                    <a:pt x="280" y="231"/>
                  </a:lnTo>
                  <a:lnTo>
                    <a:pt x="271" y="228"/>
                  </a:lnTo>
                  <a:lnTo>
                    <a:pt x="262" y="228"/>
                  </a:lnTo>
                  <a:lnTo>
                    <a:pt x="250" y="225"/>
                  </a:lnTo>
                  <a:lnTo>
                    <a:pt x="240" y="222"/>
                  </a:lnTo>
                  <a:lnTo>
                    <a:pt x="231" y="219"/>
                  </a:lnTo>
                  <a:lnTo>
                    <a:pt x="222" y="216"/>
                  </a:lnTo>
                  <a:lnTo>
                    <a:pt x="213" y="216"/>
                  </a:lnTo>
                  <a:lnTo>
                    <a:pt x="203" y="213"/>
                  </a:lnTo>
                  <a:lnTo>
                    <a:pt x="194" y="210"/>
                  </a:lnTo>
                  <a:lnTo>
                    <a:pt x="185" y="207"/>
                  </a:lnTo>
                  <a:lnTo>
                    <a:pt x="176" y="204"/>
                  </a:lnTo>
                  <a:lnTo>
                    <a:pt x="166" y="200"/>
                  </a:lnTo>
                  <a:lnTo>
                    <a:pt x="157" y="197"/>
                  </a:lnTo>
                  <a:lnTo>
                    <a:pt x="151" y="194"/>
                  </a:lnTo>
                  <a:lnTo>
                    <a:pt x="142" y="191"/>
                  </a:lnTo>
                  <a:lnTo>
                    <a:pt x="136" y="188"/>
                  </a:lnTo>
                  <a:lnTo>
                    <a:pt x="126" y="185"/>
                  </a:lnTo>
                  <a:lnTo>
                    <a:pt x="120" y="182"/>
                  </a:lnTo>
                  <a:lnTo>
                    <a:pt x="111" y="179"/>
                  </a:lnTo>
                  <a:lnTo>
                    <a:pt x="105" y="179"/>
                  </a:lnTo>
                  <a:lnTo>
                    <a:pt x="99" y="173"/>
                  </a:lnTo>
                  <a:lnTo>
                    <a:pt x="92" y="170"/>
                  </a:lnTo>
                  <a:lnTo>
                    <a:pt x="86" y="167"/>
                  </a:lnTo>
                  <a:lnTo>
                    <a:pt x="80" y="163"/>
                  </a:lnTo>
                  <a:lnTo>
                    <a:pt x="74" y="160"/>
                  </a:lnTo>
                  <a:lnTo>
                    <a:pt x="68" y="157"/>
                  </a:lnTo>
                  <a:lnTo>
                    <a:pt x="62" y="154"/>
                  </a:lnTo>
                  <a:lnTo>
                    <a:pt x="55" y="151"/>
                  </a:lnTo>
                  <a:lnTo>
                    <a:pt x="52" y="148"/>
                  </a:lnTo>
                  <a:lnTo>
                    <a:pt x="46" y="145"/>
                  </a:lnTo>
                  <a:lnTo>
                    <a:pt x="43" y="142"/>
                  </a:lnTo>
                  <a:lnTo>
                    <a:pt x="37" y="139"/>
                  </a:lnTo>
                  <a:lnTo>
                    <a:pt x="34" y="136"/>
                  </a:lnTo>
                  <a:lnTo>
                    <a:pt x="31" y="133"/>
                  </a:lnTo>
                  <a:lnTo>
                    <a:pt x="25" y="126"/>
                  </a:lnTo>
                  <a:lnTo>
                    <a:pt x="22" y="123"/>
                  </a:lnTo>
                  <a:lnTo>
                    <a:pt x="19" y="120"/>
                  </a:lnTo>
                  <a:lnTo>
                    <a:pt x="15" y="117"/>
                  </a:lnTo>
                  <a:lnTo>
                    <a:pt x="12" y="114"/>
                  </a:lnTo>
                  <a:lnTo>
                    <a:pt x="12" y="111"/>
                  </a:lnTo>
                  <a:lnTo>
                    <a:pt x="9" y="108"/>
                  </a:lnTo>
                  <a:lnTo>
                    <a:pt x="6" y="105"/>
                  </a:lnTo>
                  <a:lnTo>
                    <a:pt x="6" y="99"/>
                  </a:lnTo>
                  <a:lnTo>
                    <a:pt x="3" y="96"/>
                  </a:lnTo>
                  <a:lnTo>
                    <a:pt x="3" y="93"/>
                  </a:lnTo>
                  <a:lnTo>
                    <a:pt x="0" y="90"/>
                  </a:lnTo>
                  <a:lnTo>
                    <a:pt x="0" y="86"/>
                  </a:lnTo>
                  <a:lnTo>
                    <a:pt x="0" y="83"/>
                  </a:lnTo>
                  <a:lnTo>
                    <a:pt x="0" y="77"/>
                  </a:lnTo>
                  <a:lnTo>
                    <a:pt x="0" y="74"/>
                  </a:lnTo>
                  <a:lnTo>
                    <a:pt x="0" y="71"/>
                  </a:lnTo>
                  <a:lnTo>
                    <a:pt x="0" y="68"/>
                  </a:lnTo>
                  <a:lnTo>
                    <a:pt x="0" y="65"/>
                  </a:lnTo>
                  <a:lnTo>
                    <a:pt x="0" y="62"/>
                  </a:lnTo>
                  <a:lnTo>
                    <a:pt x="3" y="56"/>
                  </a:lnTo>
                  <a:lnTo>
                    <a:pt x="3" y="53"/>
                  </a:lnTo>
                  <a:lnTo>
                    <a:pt x="6" y="49"/>
                  </a:lnTo>
                  <a:lnTo>
                    <a:pt x="6" y="46"/>
                  </a:lnTo>
                  <a:lnTo>
                    <a:pt x="9" y="43"/>
                  </a:lnTo>
                  <a:lnTo>
                    <a:pt x="12" y="40"/>
                  </a:lnTo>
                  <a:lnTo>
                    <a:pt x="12" y="37"/>
                  </a:lnTo>
                  <a:lnTo>
                    <a:pt x="15" y="31"/>
                  </a:lnTo>
                  <a:lnTo>
                    <a:pt x="19" y="28"/>
                  </a:lnTo>
                  <a:lnTo>
                    <a:pt x="22" y="25"/>
                  </a:lnTo>
                  <a:lnTo>
                    <a:pt x="25" y="22"/>
                  </a:lnTo>
                  <a:lnTo>
                    <a:pt x="31" y="19"/>
                  </a:lnTo>
                  <a:lnTo>
                    <a:pt x="34" y="16"/>
                  </a:lnTo>
                  <a:lnTo>
                    <a:pt x="37" y="13"/>
                  </a:lnTo>
                  <a:lnTo>
                    <a:pt x="43" y="9"/>
                  </a:lnTo>
                  <a:lnTo>
                    <a:pt x="46" y="6"/>
                  </a:lnTo>
                  <a:lnTo>
                    <a:pt x="52" y="0"/>
                  </a:lnTo>
                  <a:lnTo>
                    <a:pt x="788" y="74"/>
                  </a:lnTo>
                  <a:lnTo>
                    <a:pt x="705" y="277"/>
                  </a:lnTo>
                  <a:close/>
                </a:path>
              </a:pathLst>
            </a:custGeom>
            <a:solidFill>
              <a:srgbClr val="993366"/>
            </a:solidFill>
            <a:ln w="4763">
              <a:solidFill>
                <a:srgbClr val="000000"/>
              </a:solidFill>
              <a:prstDash val="solid"/>
              <a:round/>
              <a:headEnd/>
              <a:tailEnd/>
            </a:ln>
          </p:spPr>
          <p:txBody>
            <a:bodyPr/>
            <a:lstStyle/>
            <a:p>
              <a:endParaRPr lang="en-US"/>
            </a:p>
          </p:txBody>
        </p:sp>
        <p:sp>
          <p:nvSpPr>
            <p:cNvPr id="27677" name="Freeform 79"/>
            <p:cNvSpPr>
              <a:spLocks/>
            </p:cNvSpPr>
            <p:nvPr/>
          </p:nvSpPr>
          <p:spPr bwMode="auto">
            <a:xfrm>
              <a:off x="4447" y="2047"/>
              <a:ext cx="875" cy="425"/>
            </a:xfrm>
            <a:custGeom>
              <a:avLst/>
              <a:gdLst>
                <a:gd name="T0" fmla="*/ 872 w 875"/>
                <a:gd name="T1" fmla="*/ 12 h 425"/>
                <a:gd name="T2" fmla="*/ 869 w 875"/>
                <a:gd name="T3" fmla="*/ 25 h 425"/>
                <a:gd name="T4" fmla="*/ 859 w 875"/>
                <a:gd name="T5" fmla="*/ 40 h 425"/>
                <a:gd name="T6" fmla="*/ 847 w 875"/>
                <a:gd name="T7" fmla="*/ 52 h 425"/>
                <a:gd name="T8" fmla="*/ 832 w 875"/>
                <a:gd name="T9" fmla="*/ 68 h 425"/>
                <a:gd name="T10" fmla="*/ 810 w 875"/>
                <a:gd name="T11" fmla="*/ 80 h 425"/>
                <a:gd name="T12" fmla="*/ 789 w 875"/>
                <a:gd name="T13" fmla="*/ 93 h 425"/>
                <a:gd name="T14" fmla="*/ 761 w 875"/>
                <a:gd name="T15" fmla="*/ 105 h 425"/>
                <a:gd name="T16" fmla="*/ 730 w 875"/>
                <a:gd name="T17" fmla="*/ 117 h 425"/>
                <a:gd name="T18" fmla="*/ 699 w 875"/>
                <a:gd name="T19" fmla="*/ 130 h 425"/>
                <a:gd name="T20" fmla="*/ 662 w 875"/>
                <a:gd name="T21" fmla="*/ 142 h 425"/>
                <a:gd name="T22" fmla="*/ 622 w 875"/>
                <a:gd name="T23" fmla="*/ 151 h 425"/>
                <a:gd name="T24" fmla="*/ 582 w 875"/>
                <a:gd name="T25" fmla="*/ 160 h 425"/>
                <a:gd name="T26" fmla="*/ 536 w 875"/>
                <a:gd name="T27" fmla="*/ 170 h 425"/>
                <a:gd name="T28" fmla="*/ 490 w 875"/>
                <a:gd name="T29" fmla="*/ 176 h 425"/>
                <a:gd name="T30" fmla="*/ 444 w 875"/>
                <a:gd name="T31" fmla="*/ 185 h 425"/>
                <a:gd name="T32" fmla="*/ 391 w 875"/>
                <a:gd name="T33" fmla="*/ 188 h 425"/>
                <a:gd name="T34" fmla="*/ 342 w 875"/>
                <a:gd name="T35" fmla="*/ 194 h 425"/>
                <a:gd name="T36" fmla="*/ 290 w 875"/>
                <a:gd name="T37" fmla="*/ 197 h 425"/>
                <a:gd name="T38" fmla="*/ 234 w 875"/>
                <a:gd name="T39" fmla="*/ 203 h 425"/>
                <a:gd name="T40" fmla="*/ 182 w 875"/>
                <a:gd name="T41" fmla="*/ 203 h 425"/>
                <a:gd name="T42" fmla="*/ 127 w 875"/>
                <a:gd name="T43" fmla="*/ 207 h 425"/>
                <a:gd name="T44" fmla="*/ 71 w 875"/>
                <a:gd name="T45" fmla="*/ 207 h 425"/>
                <a:gd name="T46" fmla="*/ 16 w 875"/>
                <a:gd name="T47" fmla="*/ 203 h 425"/>
                <a:gd name="T48" fmla="*/ 28 w 875"/>
                <a:gd name="T49" fmla="*/ 425 h 425"/>
                <a:gd name="T50" fmla="*/ 83 w 875"/>
                <a:gd name="T51" fmla="*/ 425 h 425"/>
                <a:gd name="T52" fmla="*/ 139 w 875"/>
                <a:gd name="T53" fmla="*/ 425 h 425"/>
                <a:gd name="T54" fmla="*/ 194 w 875"/>
                <a:gd name="T55" fmla="*/ 422 h 425"/>
                <a:gd name="T56" fmla="*/ 250 w 875"/>
                <a:gd name="T57" fmla="*/ 419 h 425"/>
                <a:gd name="T58" fmla="*/ 302 w 875"/>
                <a:gd name="T59" fmla="*/ 416 h 425"/>
                <a:gd name="T60" fmla="*/ 354 w 875"/>
                <a:gd name="T61" fmla="*/ 413 h 425"/>
                <a:gd name="T62" fmla="*/ 407 w 875"/>
                <a:gd name="T63" fmla="*/ 407 h 425"/>
                <a:gd name="T64" fmla="*/ 456 w 875"/>
                <a:gd name="T65" fmla="*/ 401 h 425"/>
                <a:gd name="T66" fmla="*/ 502 w 875"/>
                <a:gd name="T67" fmla="*/ 394 h 425"/>
                <a:gd name="T68" fmla="*/ 548 w 875"/>
                <a:gd name="T69" fmla="*/ 385 h 425"/>
                <a:gd name="T70" fmla="*/ 592 w 875"/>
                <a:gd name="T71" fmla="*/ 376 h 425"/>
                <a:gd name="T72" fmla="*/ 632 w 875"/>
                <a:gd name="T73" fmla="*/ 367 h 425"/>
                <a:gd name="T74" fmla="*/ 672 w 875"/>
                <a:gd name="T75" fmla="*/ 357 h 425"/>
                <a:gd name="T76" fmla="*/ 706 w 875"/>
                <a:gd name="T77" fmla="*/ 345 h 425"/>
                <a:gd name="T78" fmla="*/ 739 w 875"/>
                <a:gd name="T79" fmla="*/ 333 h 425"/>
                <a:gd name="T80" fmla="*/ 767 w 875"/>
                <a:gd name="T81" fmla="*/ 324 h 425"/>
                <a:gd name="T82" fmla="*/ 795 w 875"/>
                <a:gd name="T83" fmla="*/ 308 h 425"/>
                <a:gd name="T84" fmla="*/ 816 w 875"/>
                <a:gd name="T85" fmla="*/ 296 h 425"/>
                <a:gd name="T86" fmla="*/ 835 w 875"/>
                <a:gd name="T87" fmla="*/ 284 h 425"/>
                <a:gd name="T88" fmla="*/ 850 w 875"/>
                <a:gd name="T89" fmla="*/ 268 h 425"/>
                <a:gd name="T90" fmla="*/ 863 w 875"/>
                <a:gd name="T91" fmla="*/ 256 h 425"/>
                <a:gd name="T92" fmla="*/ 869 w 875"/>
                <a:gd name="T93" fmla="*/ 240 h 425"/>
                <a:gd name="T94" fmla="*/ 875 w 875"/>
                <a:gd name="T95" fmla="*/ 228 h 42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75"/>
                <a:gd name="T145" fmla="*/ 0 h 425"/>
                <a:gd name="T146" fmla="*/ 875 w 875"/>
                <a:gd name="T147" fmla="*/ 425 h 42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75" h="425">
                  <a:moveTo>
                    <a:pt x="875" y="0"/>
                  </a:moveTo>
                  <a:lnTo>
                    <a:pt x="875" y="3"/>
                  </a:lnTo>
                  <a:lnTo>
                    <a:pt x="875" y="9"/>
                  </a:lnTo>
                  <a:lnTo>
                    <a:pt x="872" y="12"/>
                  </a:lnTo>
                  <a:lnTo>
                    <a:pt x="872" y="16"/>
                  </a:lnTo>
                  <a:lnTo>
                    <a:pt x="872" y="19"/>
                  </a:lnTo>
                  <a:lnTo>
                    <a:pt x="869" y="22"/>
                  </a:lnTo>
                  <a:lnTo>
                    <a:pt x="869" y="25"/>
                  </a:lnTo>
                  <a:lnTo>
                    <a:pt x="866" y="31"/>
                  </a:lnTo>
                  <a:lnTo>
                    <a:pt x="866" y="34"/>
                  </a:lnTo>
                  <a:lnTo>
                    <a:pt x="863" y="37"/>
                  </a:lnTo>
                  <a:lnTo>
                    <a:pt x="859" y="40"/>
                  </a:lnTo>
                  <a:lnTo>
                    <a:pt x="856" y="43"/>
                  </a:lnTo>
                  <a:lnTo>
                    <a:pt x="853" y="46"/>
                  </a:lnTo>
                  <a:lnTo>
                    <a:pt x="850" y="49"/>
                  </a:lnTo>
                  <a:lnTo>
                    <a:pt x="847" y="52"/>
                  </a:lnTo>
                  <a:lnTo>
                    <a:pt x="844" y="59"/>
                  </a:lnTo>
                  <a:lnTo>
                    <a:pt x="841" y="62"/>
                  </a:lnTo>
                  <a:lnTo>
                    <a:pt x="835" y="65"/>
                  </a:lnTo>
                  <a:lnTo>
                    <a:pt x="832" y="68"/>
                  </a:lnTo>
                  <a:lnTo>
                    <a:pt x="826" y="71"/>
                  </a:lnTo>
                  <a:lnTo>
                    <a:pt x="823" y="74"/>
                  </a:lnTo>
                  <a:lnTo>
                    <a:pt x="816" y="77"/>
                  </a:lnTo>
                  <a:lnTo>
                    <a:pt x="810" y="80"/>
                  </a:lnTo>
                  <a:lnTo>
                    <a:pt x="807" y="83"/>
                  </a:lnTo>
                  <a:lnTo>
                    <a:pt x="801" y="86"/>
                  </a:lnTo>
                  <a:lnTo>
                    <a:pt x="795" y="89"/>
                  </a:lnTo>
                  <a:lnTo>
                    <a:pt x="789" y="93"/>
                  </a:lnTo>
                  <a:lnTo>
                    <a:pt x="782" y="96"/>
                  </a:lnTo>
                  <a:lnTo>
                    <a:pt x="776" y="99"/>
                  </a:lnTo>
                  <a:lnTo>
                    <a:pt x="767" y="105"/>
                  </a:lnTo>
                  <a:lnTo>
                    <a:pt x="761" y="105"/>
                  </a:lnTo>
                  <a:lnTo>
                    <a:pt x="755" y="108"/>
                  </a:lnTo>
                  <a:lnTo>
                    <a:pt x="746" y="111"/>
                  </a:lnTo>
                  <a:lnTo>
                    <a:pt x="739" y="114"/>
                  </a:lnTo>
                  <a:lnTo>
                    <a:pt x="730" y="117"/>
                  </a:lnTo>
                  <a:lnTo>
                    <a:pt x="724" y="120"/>
                  </a:lnTo>
                  <a:lnTo>
                    <a:pt x="715" y="123"/>
                  </a:lnTo>
                  <a:lnTo>
                    <a:pt x="706" y="126"/>
                  </a:lnTo>
                  <a:lnTo>
                    <a:pt x="699" y="130"/>
                  </a:lnTo>
                  <a:lnTo>
                    <a:pt x="690" y="133"/>
                  </a:lnTo>
                  <a:lnTo>
                    <a:pt x="681" y="136"/>
                  </a:lnTo>
                  <a:lnTo>
                    <a:pt x="672" y="139"/>
                  </a:lnTo>
                  <a:lnTo>
                    <a:pt x="662" y="142"/>
                  </a:lnTo>
                  <a:lnTo>
                    <a:pt x="653" y="142"/>
                  </a:lnTo>
                  <a:lnTo>
                    <a:pt x="644" y="145"/>
                  </a:lnTo>
                  <a:lnTo>
                    <a:pt x="632" y="148"/>
                  </a:lnTo>
                  <a:lnTo>
                    <a:pt x="622" y="151"/>
                  </a:lnTo>
                  <a:lnTo>
                    <a:pt x="613" y="154"/>
                  </a:lnTo>
                  <a:lnTo>
                    <a:pt x="604" y="154"/>
                  </a:lnTo>
                  <a:lnTo>
                    <a:pt x="592" y="157"/>
                  </a:lnTo>
                  <a:lnTo>
                    <a:pt x="582" y="160"/>
                  </a:lnTo>
                  <a:lnTo>
                    <a:pt x="570" y="163"/>
                  </a:lnTo>
                  <a:lnTo>
                    <a:pt x="561" y="163"/>
                  </a:lnTo>
                  <a:lnTo>
                    <a:pt x="548" y="166"/>
                  </a:lnTo>
                  <a:lnTo>
                    <a:pt x="536" y="170"/>
                  </a:lnTo>
                  <a:lnTo>
                    <a:pt x="527" y="170"/>
                  </a:lnTo>
                  <a:lnTo>
                    <a:pt x="515" y="173"/>
                  </a:lnTo>
                  <a:lnTo>
                    <a:pt x="502" y="176"/>
                  </a:lnTo>
                  <a:lnTo>
                    <a:pt x="490" y="176"/>
                  </a:lnTo>
                  <a:lnTo>
                    <a:pt x="481" y="179"/>
                  </a:lnTo>
                  <a:lnTo>
                    <a:pt x="468" y="179"/>
                  </a:lnTo>
                  <a:lnTo>
                    <a:pt x="456" y="182"/>
                  </a:lnTo>
                  <a:lnTo>
                    <a:pt x="444" y="185"/>
                  </a:lnTo>
                  <a:lnTo>
                    <a:pt x="431" y="185"/>
                  </a:lnTo>
                  <a:lnTo>
                    <a:pt x="419" y="188"/>
                  </a:lnTo>
                  <a:lnTo>
                    <a:pt x="407" y="188"/>
                  </a:lnTo>
                  <a:lnTo>
                    <a:pt x="391" y="188"/>
                  </a:lnTo>
                  <a:lnTo>
                    <a:pt x="379" y="191"/>
                  </a:lnTo>
                  <a:lnTo>
                    <a:pt x="367" y="191"/>
                  </a:lnTo>
                  <a:lnTo>
                    <a:pt x="354" y="194"/>
                  </a:lnTo>
                  <a:lnTo>
                    <a:pt x="342" y="194"/>
                  </a:lnTo>
                  <a:lnTo>
                    <a:pt x="330" y="194"/>
                  </a:lnTo>
                  <a:lnTo>
                    <a:pt x="314" y="197"/>
                  </a:lnTo>
                  <a:lnTo>
                    <a:pt x="302" y="197"/>
                  </a:lnTo>
                  <a:lnTo>
                    <a:pt x="290" y="197"/>
                  </a:lnTo>
                  <a:lnTo>
                    <a:pt x="274" y="200"/>
                  </a:lnTo>
                  <a:lnTo>
                    <a:pt x="262" y="200"/>
                  </a:lnTo>
                  <a:lnTo>
                    <a:pt x="250" y="200"/>
                  </a:lnTo>
                  <a:lnTo>
                    <a:pt x="234" y="203"/>
                  </a:lnTo>
                  <a:lnTo>
                    <a:pt x="222" y="203"/>
                  </a:lnTo>
                  <a:lnTo>
                    <a:pt x="207" y="203"/>
                  </a:lnTo>
                  <a:lnTo>
                    <a:pt x="194" y="203"/>
                  </a:lnTo>
                  <a:lnTo>
                    <a:pt x="182" y="203"/>
                  </a:lnTo>
                  <a:lnTo>
                    <a:pt x="167" y="203"/>
                  </a:lnTo>
                  <a:lnTo>
                    <a:pt x="154" y="203"/>
                  </a:lnTo>
                  <a:lnTo>
                    <a:pt x="139" y="207"/>
                  </a:lnTo>
                  <a:lnTo>
                    <a:pt x="127" y="207"/>
                  </a:lnTo>
                  <a:lnTo>
                    <a:pt x="111" y="207"/>
                  </a:lnTo>
                  <a:lnTo>
                    <a:pt x="99" y="207"/>
                  </a:lnTo>
                  <a:lnTo>
                    <a:pt x="83" y="207"/>
                  </a:lnTo>
                  <a:lnTo>
                    <a:pt x="71" y="207"/>
                  </a:lnTo>
                  <a:lnTo>
                    <a:pt x="56" y="207"/>
                  </a:lnTo>
                  <a:lnTo>
                    <a:pt x="43" y="207"/>
                  </a:lnTo>
                  <a:lnTo>
                    <a:pt x="28" y="207"/>
                  </a:lnTo>
                  <a:lnTo>
                    <a:pt x="16" y="203"/>
                  </a:lnTo>
                  <a:lnTo>
                    <a:pt x="0" y="203"/>
                  </a:lnTo>
                  <a:lnTo>
                    <a:pt x="0" y="422"/>
                  </a:lnTo>
                  <a:lnTo>
                    <a:pt x="16" y="422"/>
                  </a:lnTo>
                  <a:lnTo>
                    <a:pt x="28" y="425"/>
                  </a:lnTo>
                  <a:lnTo>
                    <a:pt x="43" y="425"/>
                  </a:lnTo>
                  <a:lnTo>
                    <a:pt x="56" y="425"/>
                  </a:lnTo>
                  <a:lnTo>
                    <a:pt x="71" y="425"/>
                  </a:lnTo>
                  <a:lnTo>
                    <a:pt x="83" y="425"/>
                  </a:lnTo>
                  <a:lnTo>
                    <a:pt x="99" y="425"/>
                  </a:lnTo>
                  <a:lnTo>
                    <a:pt x="111" y="425"/>
                  </a:lnTo>
                  <a:lnTo>
                    <a:pt x="127" y="425"/>
                  </a:lnTo>
                  <a:lnTo>
                    <a:pt x="139" y="425"/>
                  </a:lnTo>
                  <a:lnTo>
                    <a:pt x="154" y="422"/>
                  </a:lnTo>
                  <a:lnTo>
                    <a:pt x="167" y="422"/>
                  </a:lnTo>
                  <a:lnTo>
                    <a:pt x="182" y="422"/>
                  </a:lnTo>
                  <a:lnTo>
                    <a:pt x="194" y="422"/>
                  </a:lnTo>
                  <a:lnTo>
                    <a:pt x="207" y="422"/>
                  </a:lnTo>
                  <a:lnTo>
                    <a:pt x="222" y="422"/>
                  </a:lnTo>
                  <a:lnTo>
                    <a:pt x="234" y="422"/>
                  </a:lnTo>
                  <a:lnTo>
                    <a:pt x="250" y="419"/>
                  </a:lnTo>
                  <a:lnTo>
                    <a:pt x="262" y="419"/>
                  </a:lnTo>
                  <a:lnTo>
                    <a:pt x="274" y="419"/>
                  </a:lnTo>
                  <a:lnTo>
                    <a:pt x="290" y="416"/>
                  </a:lnTo>
                  <a:lnTo>
                    <a:pt x="302" y="416"/>
                  </a:lnTo>
                  <a:lnTo>
                    <a:pt x="314" y="416"/>
                  </a:lnTo>
                  <a:lnTo>
                    <a:pt x="330" y="413"/>
                  </a:lnTo>
                  <a:lnTo>
                    <a:pt x="342" y="413"/>
                  </a:lnTo>
                  <a:lnTo>
                    <a:pt x="354" y="413"/>
                  </a:lnTo>
                  <a:lnTo>
                    <a:pt x="367" y="410"/>
                  </a:lnTo>
                  <a:lnTo>
                    <a:pt x="379" y="410"/>
                  </a:lnTo>
                  <a:lnTo>
                    <a:pt x="391" y="407"/>
                  </a:lnTo>
                  <a:lnTo>
                    <a:pt x="407" y="407"/>
                  </a:lnTo>
                  <a:lnTo>
                    <a:pt x="419" y="407"/>
                  </a:lnTo>
                  <a:lnTo>
                    <a:pt x="431" y="404"/>
                  </a:lnTo>
                  <a:lnTo>
                    <a:pt x="444" y="404"/>
                  </a:lnTo>
                  <a:lnTo>
                    <a:pt x="456" y="401"/>
                  </a:lnTo>
                  <a:lnTo>
                    <a:pt x="468" y="397"/>
                  </a:lnTo>
                  <a:lnTo>
                    <a:pt x="481" y="397"/>
                  </a:lnTo>
                  <a:lnTo>
                    <a:pt x="490" y="394"/>
                  </a:lnTo>
                  <a:lnTo>
                    <a:pt x="502" y="394"/>
                  </a:lnTo>
                  <a:lnTo>
                    <a:pt x="515" y="391"/>
                  </a:lnTo>
                  <a:lnTo>
                    <a:pt x="527" y="388"/>
                  </a:lnTo>
                  <a:lnTo>
                    <a:pt x="536" y="388"/>
                  </a:lnTo>
                  <a:lnTo>
                    <a:pt x="548" y="385"/>
                  </a:lnTo>
                  <a:lnTo>
                    <a:pt x="561" y="382"/>
                  </a:lnTo>
                  <a:lnTo>
                    <a:pt x="570" y="382"/>
                  </a:lnTo>
                  <a:lnTo>
                    <a:pt x="582" y="379"/>
                  </a:lnTo>
                  <a:lnTo>
                    <a:pt x="592" y="376"/>
                  </a:lnTo>
                  <a:lnTo>
                    <a:pt x="604" y="373"/>
                  </a:lnTo>
                  <a:lnTo>
                    <a:pt x="613" y="373"/>
                  </a:lnTo>
                  <a:lnTo>
                    <a:pt x="622" y="370"/>
                  </a:lnTo>
                  <a:lnTo>
                    <a:pt x="632" y="367"/>
                  </a:lnTo>
                  <a:lnTo>
                    <a:pt x="644" y="364"/>
                  </a:lnTo>
                  <a:lnTo>
                    <a:pt x="653" y="361"/>
                  </a:lnTo>
                  <a:lnTo>
                    <a:pt x="662" y="361"/>
                  </a:lnTo>
                  <a:lnTo>
                    <a:pt x="672" y="357"/>
                  </a:lnTo>
                  <a:lnTo>
                    <a:pt x="681" y="354"/>
                  </a:lnTo>
                  <a:lnTo>
                    <a:pt x="690" y="351"/>
                  </a:lnTo>
                  <a:lnTo>
                    <a:pt x="699" y="348"/>
                  </a:lnTo>
                  <a:lnTo>
                    <a:pt x="706" y="345"/>
                  </a:lnTo>
                  <a:lnTo>
                    <a:pt x="715" y="342"/>
                  </a:lnTo>
                  <a:lnTo>
                    <a:pt x="724" y="339"/>
                  </a:lnTo>
                  <a:lnTo>
                    <a:pt x="730" y="336"/>
                  </a:lnTo>
                  <a:lnTo>
                    <a:pt x="739" y="333"/>
                  </a:lnTo>
                  <a:lnTo>
                    <a:pt x="746" y="330"/>
                  </a:lnTo>
                  <a:lnTo>
                    <a:pt x="755" y="327"/>
                  </a:lnTo>
                  <a:lnTo>
                    <a:pt x="761" y="324"/>
                  </a:lnTo>
                  <a:lnTo>
                    <a:pt x="767" y="324"/>
                  </a:lnTo>
                  <a:lnTo>
                    <a:pt x="776" y="317"/>
                  </a:lnTo>
                  <a:lnTo>
                    <a:pt x="782" y="314"/>
                  </a:lnTo>
                  <a:lnTo>
                    <a:pt x="789" y="311"/>
                  </a:lnTo>
                  <a:lnTo>
                    <a:pt x="795" y="308"/>
                  </a:lnTo>
                  <a:lnTo>
                    <a:pt x="801" y="305"/>
                  </a:lnTo>
                  <a:lnTo>
                    <a:pt x="807" y="302"/>
                  </a:lnTo>
                  <a:lnTo>
                    <a:pt x="810" y="299"/>
                  </a:lnTo>
                  <a:lnTo>
                    <a:pt x="816" y="296"/>
                  </a:lnTo>
                  <a:lnTo>
                    <a:pt x="823" y="293"/>
                  </a:lnTo>
                  <a:lnTo>
                    <a:pt x="826" y="290"/>
                  </a:lnTo>
                  <a:lnTo>
                    <a:pt x="832" y="287"/>
                  </a:lnTo>
                  <a:lnTo>
                    <a:pt x="835" y="284"/>
                  </a:lnTo>
                  <a:lnTo>
                    <a:pt x="841" y="280"/>
                  </a:lnTo>
                  <a:lnTo>
                    <a:pt x="844" y="277"/>
                  </a:lnTo>
                  <a:lnTo>
                    <a:pt x="847" y="271"/>
                  </a:lnTo>
                  <a:lnTo>
                    <a:pt x="850" y="268"/>
                  </a:lnTo>
                  <a:lnTo>
                    <a:pt x="853" y="265"/>
                  </a:lnTo>
                  <a:lnTo>
                    <a:pt x="856" y="262"/>
                  </a:lnTo>
                  <a:lnTo>
                    <a:pt x="859" y="259"/>
                  </a:lnTo>
                  <a:lnTo>
                    <a:pt x="863" y="256"/>
                  </a:lnTo>
                  <a:lnTo>
                    <a:pt x="866" y="253"/>
                  </a:lnTo>
                  <a:lnTo>
                    <a:pt x="866" y="250"/>
                  </a:lnTo>
                  <a:lnTo>
                    <a:pt x="869" y="243"/>
                  </a:lnTo>
                  <a:lnTo>
                    <a:pt x="869" y="240"/>
                  </a:lnTo>
                  <a:lnTo>
                    <a:pt x="872" y="237"/>
                  </a:lnTo>
                  <a:lnTo>
                    <a:pt x="872" y="234"/>
                  </a:lnTo>
                  <a:lnTo>
                    <a:pt x="872" y="231"/>
                  </a:lnTo>
                  <a:lnTo>
                    <a:pt x="875" y="228"/>
                  </a:lnTo>
                  <a:lnTo>
                    <a:pt x="875" y="222"/>
                  </a:lnTo>
                  <a:lnTo>
                    <a:pt x="875" y="219"/>
                  </a:lnTo>
                  <a:lnTo>
                    <a:pt x="875" y="0"/>
                  </a:lnTo>
                  <a:close/>
                </a:path>
              </a:pathLst>
            </a:custGeom>
            <a:solidFill>
              <a:srgbClr val="4D4D80"/>
            </a:solidFill>
            <a:ln w="4763">
              <a:solidFill>
                <a:srgbClr val="000000"/>
              </a:solidFill>
              <a:prstDash val="solid"/>
              <a:round/>
              <a:headEnd/>
              <a:tailEnd/>
            </a:ln>
          </p:spPr>
          <p:txBody>
            <a:bodyPr/>
            <a:lstStyle/>
            <a:p>
              <a:endParaRPr lang="en-US"/>
            </a:p>
          </p:txBody>
        </p:sp>
        <p:sp>
          <p:nvSpPr>
            <p:cNvPr id="27678" name="Freeform 80"/>
            <p:cNvSpPr>
              <a:spLocks/>
            </p:cNvSpPr>
            <p:nvPr/>
          </p:nvSpPr>
          <p:spPr bwMode="auto">
            <a:xfrm>
              <a:off x="4447" y="1844"/>
              <a:ext cx="875" cy="410"/>
            </a:xfrm>
            <a:custGeom>
              <a:avLst/>
              <a:gdLst>
                <a:gd name="T0" fmla="*/ 111 w 875"/>
                <a:gd name="T1" fmla="*/ 0 h 410"/>
                <a:gd name="T2" fmla="*/ 154 w 875"/>
                <a:gd name="T3" fmla="*/ 0 h 410"/>
                <a:gd name="T4" fmla="*/ 194 w 875"/>
                <a:gd name="T5" fmla="*/ 0 h 410"/>
                <a:gd name="T6" fmla="*/ 234 w 875"/>
                <a:gd name="T7" fmla="*/ 3 h 410"/>
                <a:gd name="T8" fmla="*/ 274 w 875"/>
                <a:gd name="T9" fmla="*/ 6 h 410"/>
                <a:gd name="T10" fmla="*/ 314 w 875"/>
                <a:gd name="T11" fmla="*/ 9 h 410"/>
                <a:gd name="T12" fmla="*/ 354 w 875"/>
                <a:gd name="T13" fmla="*/ 12 h 410"/>
                <a:gd name="T14" fmla="*/ 391 w 875"/>
                <a:gd name="T15" fmla="*/ 15 h 410"/>
                <a:gd name="T16" fmla="*/ 431 w 875"/>
                <a:gd name="T17" fmla="*/ 18 h 410"/>
                <a:gd name="T18" fmla="*/ 468 w 875"/>
                <a:gd name="T19" fmla="*/ 24 h 410"/>
                <a:gd name="T20" fmla="*/ 502 w 875"/>
                <a:gd name="T21" fmla="*/ 31 h 410"/>
                <a:gd name="T22" fmla="*/ 536 w 875"/>
                <a:gd name="T23" fmla="*/ 37 h 410"/>
                <a:gd name="T24" fmla="*/ 570 w 875"/>
                <a:gd name="T25" fmla="*/ 43 h 410"/>
                <a:gd name="T26" fmla="*/ 604 w 875"/>
                <a:gd name="T27" fmla="*/ 49 h 410"/>
                <a:gd name="T28" fmla="*/ 632 w 875"/>
                <a:gd name="T29" fmla="*/ 55 h 410"/>
                <a:gd name="T30" fmla="*/ 662 w 875"/>
                <a:gd name="T31" fmla="*/ 65 h 410"/>
                <a:gd name="T32" fmla="*/ 690 w 875"/>
                <a:gd name="T33" fmla="*/ 74 h 410"/>
                <a:gd name="T34" fmla="*/ 715 w 875"/>
                <a:gd name="T35" fmla="*/ 80 h 410"/>
                <a:gd name="T36" fmla="*/ 739 w 875"/>
                <a:gd name="T37" fmla="*/ 89 h 410"/>
                <a:gd name="T38" fmla="*/ 761 w 875"/>
                <a:gd name="T39" fmla="*/ 98 h 410"/>
                <a:gd name="T40" fmla="*/ 782 w 875"/>
                <a:gd name="T41" fmla="*/ 108 h 410"/>
                <a:gd name="T42" fmla="*/ 801 w 875"/>
                <a:gd name="T43" fmla="*/ 117 h 410"/>
                <a:gd name="T44" fmla="*/ 816 w 875"/>
                <a:gd name="T45" fmla="*/ 126 h 410"/>
                <a:gd name="T46" fmla="*/ 832 w 875"/>
                <a:gd name="T47" fmla="*/ 138 h 410"/>
                <a:gd name="T48" fmla="*/ 844 w 875"/>
                <a:gd name="T49" fmla="*/ 148 h 410"/>
                <a:gd name="T50" fmla="*/ 853 w 875"/>
                <a:gd name="T51" fmla="*/ 157 h 410"/>
                <a:gd name="T52" fmla="*/ 863 w 875"/>
                <a:gd name="T53" fmla="*/ 169 h 410"/>
                <a:gd name="T54" fmla="*/ 869 w 875"/>
                <a:gd name="T55" fmla="*/ 178 h 410"/>
                <a:gd name="T56" fmla="*/ 872 w 875"/>
                <a:gd name="T57" fmla="*/ 191 h 410"/>
                <a:gd name="T58" fmla="*/ 875 w 875"/>
                <a:gd name="T59" fmla="*/ 200 h 410"/>
                <a:gd name="T60" fmla="*/ 875 w 875"/>
                <a:gd name="T61" fmla="*/ 212 h 410"/>
                <a:gd name="T62" fmla="*/ 872 w 875"/>
                <a:gd name="T63" fmla="*/ 222 h 410"/>
                <a:gd name="T64" fmla="*/ 866 w 875"/>
                <a:gd name="T65" fmla="*/ 234 h 410"/>
                <a:gd name="T66" fmla="*/ 859 w 875"/>
                <a:gd name="T67" fmla="*/ 243 h 410"/>
                <a:gd name="T68" fmla="*/ 850 w 875"/>
                <a:gd name="T69" fmla="*/ 252 h 410"/>
                <a:gd name="T70" fmla="*/ 841 w 875"/>
                <a:gd name="T71" fmla="*/ 265 h 410"/>
                <a:gd name="T72" fmla="*/ 826 w 875"/>
                <a:gd name="T73" fmla="*/ 274 h 410"/>
                <a:gd name="T74" fmla="*/ 810 w 875"/>
                <a:gd name="T75" fmla="*/ 283 h 410"/>
                <a:gd name="T76" fmla="*/ 795 w 875"/>
                <a:gd name="T77" fmla="*/ 292 h 410"/>
                <a:gd name="T78" fmla="*/ 776 w 875"/>
                <a:gd name="T79" fmla="*/ 302 h 410"/>
                <a:gd name="T80" fmla="*/ 755 w 875"/>
                <a:gd name="T81" fmla="*/ 311 h 410"/>
                <a:gd name="T82" fmla="*/ 730 w 875"/>
                <a:gd name="T83" fmla="*/ 320 h 410"/>
                <a:gd name="T84" fmla="*/ 706 w 875"/>
                <a:gd name="T85" fmla="*/ 329 h 410"/>
                <a:gd name="T86" fmla="*/ 681 w 875"/>
                <a:gd name="T87" fmla="*/ 339 h 410"/>
                <a:gd name="T88" fmla="*/ 653 w 875"/>
                <a:gd name="T89" fmla="*/ 345 h 410"/>
                <a:gd name="T90" fmla="*/ 622 w 875"/>
                <a:gd name="T91" fmla="*/ 354 h 410"/>
                <a:gd name="T92" fmla="*/ 592 w 875"/>
                <a:gd name="T93" fmla="*/ 360 h 410"/>
                <a:gd name="T94" fmla="*/ 561 w 875"/>
                <a:gd name="T95" fmla="*/ 366 h 410"/>
                <a:gd name="T96" fmla="*/ 527 w 875"/>
                <a:gd name="T97" fmla="*/ 373 h 410"/>
                <a:gd name="T98" fmla="*/ 490 w 875"/>
                <a:gd name="T99" fmla="*/ 379 h 410"/>
                <a:gd name="T100" fmla="*/ 456 w 875"/>
                <a:gd name="T101" fmla="*/ 385 h 410"/>
                <a:gd name="T102" fmla="*/ 419 w 875"/>
                <a:gd name="T103" fmla="*/ 391 h 410"/>
                <a:gd name="T104" fmla="*/ 379 w 875"/>
                <a:gd name="T105" fmla="*/ 394 h 410"/>
                <a:gd name="T106" fmla="*/ 342 w 875"/>
                <a:gd name="T107" fmla="*/ 397 h 410"/>
                <a:gd name="T108" fmla="*/ 302 w 875"/>
                <a:gd name="T109" fmla="*/ 400 h 410"/>
                <a:gd name="T110" fmla="*/ 262 w 875"/>
                <a:gd name="T111" fmla="*/ 403 h 410"/>
                <a:gd name="T112" fmla="*/ 222 w 875"/>
                <a:gd name="T113" fmla="*/ 406 h 410"/>
                <a:gd name="T114" fmla="*/ 182 w 875"/>
                <a:gd name="T115" fmla="*/ 406 h 410"/>
                <a:gd name="T116" fmla="*/ 139 w 875"/>
                <a:gd name="T117" fmla="*/ 410 h 410"/>
                <a:gd name="T118" fmla="*/ 99 w 875"/>
                <a:gd name="T119" fmla="*/ 410 h 410"/>
                <a:gd name="T120" fmla="*/ 56 w 875"/>
                <a:gd name="T121" fmla="*/ 410 h 410"/>
                <a:gd name="T122" fmla="*/ 16 w 875"/>
                <a:gd name="T123" fmla="*/ 406 h 410"/>
                <a:gd name="T124" fmla="*/ 83 w 875"/>
                <a:gd name="T125" fmla="*/ 0 h 41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875"/>
                <a:gd name="T190" fmla="*/ 0 h 410"/>
                <a:gd name="T191" fmla="*/ 875 w 875"/>
                <a:gd name="T192" fmla="*/ 410 h 41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875" h="410">
                  <a:moveTo>
                    <a:pt x="83" y="0"/>
                  </a:moveTo>
                  <a:lnTo>
                    <a:pt x="99" y="0"/>
                  </a:lnTo>
                  <a:lnTo>
                    <a:pt x="111" y="0"/>
                  </a:lnTo>
                  <a:lnTo>
                    <a:pt x="127" y="0"/>
                  </a:lnTo>
                  <a:lnTo>
                    <a:pt x="139" y="0"/>
                  </a:lnTo>
                  <a:lnTo>
                    <a:pt x="154" y="0"/>
                  </a:lnTo>
                  <a:lnTo>
                    <a:pt x="167" y="0"/>
                  </a:lnTo>
                  <a:lnTo>
                    <a:pt x="182" y="0"/>
                  </a:lnTo>
                  <a:lnTo>
                    <a:pt x="194" y="0"/>
                  </a:lnTo>
                  <a:lnTo>
                    <a:pt x="207" y="3"/>
                  </a:lnTo>
                  <a:lnTo>
                    <a:pt x="222" y="3"/>
                  </a:lnTo>
                  <a:lnTo>
                    <a:pt x="234" y="3"/>
                  </a:lnTo>
                  <a:lnTo>
                    <a:pt x="250" y="3"/>
                  </a:lnTo>
                  <a:lnTo>
                    <a:pt x="262" y="3"/>
                  </a:lnTo>
                  <a:lnTo>
                    <a:pt x="274" y="6"/>
                  </a:lnTo>
                  <a:lnTo>
                    <a:pt x="290" y="6"/>
                  </a:lnTo>
                  <a:lnTo>
                    <a:pt x="302" y="6"/>
                  </a:lnTo>
                  <a:lnTo>
                    <a:pt x="314" y="9"/>
                  </a:lnTo>
                  <a:lnTo>
                    <a:pt x="330" y="9"/>
                  </a:lnTo>
                  <a:lnTo>
                    <a:pt x="342" y="9"/>
                  </a:lnTo>
                  <a:lnTo>
                    <a:pt x="354" y="12"/>
                  </a:lnTo>
                  <a:lnTo>
                    <a:pt x="367" y="12"/>
                  </a:lnTo>
                  <a:lnTo>
                    <a:pt x="379" y="15"/>
                  </a:lnTo>
                  <a:lnTo>
                    <a:pt x="391" y="15"/>
                  </a:lnTo>
                  <a:lnTo>
                    <a:pt x="407" y="15"/>
                  </a:lnTo>
                  <a:lnTo>
                    <a:pt x="419" y="18"/>
                  </a:lnTo>
                  <a:lnTo>
                    <a:pt x="431" y="18"/>
                  </a:lnTo>
                  <a:lnTo>
                    <a:pt x="444" y="21"/>
                  </a:lnTo>
                  <a:lnTo>
                    <a:pt x="456" y="24"/>
                  </a:lnTo>
                  <a:lnTo>
                    <a:pt x="468" y="24"/>
                  </a:lnTo>
                  <a:lnTo>
                    <a:pt x="481" y="28"/>
                  </a:lnTo>
                  <a:lnTo>
                    <a:pt x="490" y="28"/>
                  </a:lnTo>
                  <a:lnTo>
                    <a:pt x="502" y="31"/>
                  </a:lnTo>
                  <a:lnTo>
                    <a:pt x="515" y="31"/>
                  </a:lnTo>
                  <a:lnTo>
                    <a:pt x="527" y="34"/>
                  </a:lnTo>
                  <a:lnTo>
                    <a:pt x="536" y="37"/>
                  </a:lnTo>
                  <a:lnTo>
                    <a:pt x="548" y="37"/>
                  </a:lnTo>
                  <a:lnTo>
                    <a:pt x="561" y="40"/>
                  </a:lnTo>
                  <a:lnTo>
                    <a:pt x="570" y="43"/>
                  </a:lnTo>
                  <a:lnTo>
                    <a:pt x="582" y="46"/>
                  </a:lnTo>
                  <a:lnTo>
                    <a:pt x="592" y="46"/>
                  </a:lnTo>
                  <a:lnTo>
                    <a:pt x="604" y="49"/>
                  </a:lnTo>
                  <a:lnTo>
                    <a:pt x="613" y="52"/>
                  </a:lnTo>
                  <a:lnTo>
                    <a:pt x="622" y="55"/>
                  </a:lnTo>
                  <a:lnTo>
                    <a:pt x="632" y="55"/>
                  </a:lnTo>
                  <a:lnTo>
                    <a:pt x="644" y="58"/>
                  </a:lnTo>
                  <a:lnTo>
                    <a:pt x="653" y="61"/>
                  </a:lnTo>
                  <a:lnTo>
                    <a:pt x="662" y="65"/>
                  </a:lnTo>
                  <a:lnTo>
                    <a:pt x="672" y="68"/>
                  </a:lnTo>
                  <a:lnTo>
                    <a:pt x="681" y="71"/>
                  </a:lnTo>
                  <a:lnTo>
                    <a:pt x="690" y="74"/>
                  </a:lnTo>
                  <a:lnTo>
                    <a:pt x="699" y="74"/>
                  </a:lnTo>
                  <a:lnTo>
                    <a:pt x="706" y="77"/>
                  </a:lnTo>
                  <a:lnTo>
                    <a:pt x="715" y="80"/>
                  </a:lnTo>
                  <a:lnTo>
                    <a:pt x="724" y="83"/>
                  </a:lnTo>
                  <a:lnTo>
                    <a:pt x="730" y="86"/>
                  </a:lnTo>
                  <a:lnTo>
                    <a:pt x="739" y="89"/>
                  </a:lnTo>
                  <a:lnTo>
                    <a:pt x="746" y="92"/>
                  </a:lnTo>
                  <a:lnTo>
                    <a:pt x="755" y="95"/>
                  </a:lnTo>
                  <a:lnTo>
                    <a:pt x="761" y="98"/>
                  </a:lnTo>
                  <a:lnTo>
                    <a:pt x="767" y="101"/>
                  </a:lnTo>
                  <a:lnTo>
                    <a:pt x="776" y="105"/>
                  </a:lnTo>
                  <a:lnTo>
                    <a:pt x="782" y="108"/>
                  </a:lnTo>
                  <a:lnTo>
                    <a:pt x="789" y="111"/>
                  </a:lnTo>
                  <a:lnTo>
                    <a:pt x="795" y="114"/>
                  </a:lnTo>
                  <a:lnTo>
                    <a:pt x="801" y="117"/>
                  </a:lnTo>
                  <a:lnTo>
                    <a:pt x="807" y="120"/>
                  </a:lnTo>
                  <a:lnTo>
                    <a:pt x="810" y="123"/>
                  </a:lnTo>
                  <a:lnTo>
                    <a:pt x="816" y="126"/>
                  </a:lnTo>
                  <a:lnTo>
                    <a:pt x="823" y="129"/>
                  </a:lnTo>
                  <a:lnTo>
                    <a:pt x="826" y="135"/>
                  </a:lnTo>
                  <a:lnTo>
                    <a:pt x="832" y="138"/>
                  </a:lnTo>
                  <a:lnTo>
                    <a:pt x="835" y="142"/>
                  </a:lnTo>
                  <a:lnTo>
                    <a:pt x="841" y="145"/>
                  </a:lnTo>
                  <a:lnTo>
                    <a:pt x="844" y="148"/>
                  </a:lnTo>
                  <a:lnTo>
                    <a:pt x="847" y="151"/>
                  </a:lnTo>
                  <a:lnTo>
                    <a:pt x="850" y="154"/>
                  </a:lnTo>
                  <a:lnTo>
                    <a:pt x="853" y="157"/>
                  </a:lnTo>
                  <a:lnTo>
                    <a:pt x="856" y="160"/>
                  </a:lnTo>
                  <a:lnTo>
                    <a:pt x="859" y="166"/>
                  </a:lnTo>
                  <a:lnTo>
                    <a:pt x="863" y="169"/>
                  </a:lnTo>
                  <a:lnTo>
                    <a:pt x="866" y="172"/>
                  </a:lnTo>
                  <a:lnTo>
                    <a:pt x="866" y="175"/>
                  </a:lnTo>
                  <a:lnTo>
                    <a:pt x="869" y="178"/>
                  </a:lnTo>
                  <a:lnTo>
                    <a:pt x="869" y="182"/>
                  </a:lnTo>
                  <a:lnTo>
                    <a:pt x="872" y="185"/>
                  </a:lnTo>
                  <a:lnTo>
                    <a:pt x="872" y="191"/>
                  </a:lnTo>
                  <a:lnTo>
                    <a:pt x="872" y="194"/>
                  </a:lnTo>
                  <a:lnTo>
                    <a:pt x="875" y="197"/>
                  </a:lnTo>
                  <a:lnTo>
                    <a:pt x="875" y="200"/>
                  </a:lnTo>
                  <a:lnTo>
                    <a:pt x="875" y="203"/>
                  </a:lnTo>
                  <a:lnTo>
                    <a:pt x="875" y="206"/>
                  </a:lnTo>
                  <a:lnTo>
                    <a:pt x="875" y="212"/>
                  </a:lnTo>
                  <a:lnTo>
                    <a:pt x="872" y="215"/>
                  </a:lnTo>
                  <a:lnTo>
                    <a:pt x="872" y="219"/>
                  </a:lnTo>
                  <a:lnTo>
                    <a:pt x="872" y="222"/>
                  </a:lnTo>
                  <a:lnTo>
                    <a:pt x="869" y="225"/>
                  </a:lnTo>
                  <a:lnTo>
                    <a:pt x="869" y="228"/>
                  </a:lnTo>
                  <a:lnTo>
                    <a:pt x="866" y="234"/>
                  </a:lnTo>
                  <a:lnTo>
                    <a:pt x="866" y="237"/>
                  </a:lnTo>
                  <a:lnTo>
                    <a:pt x="863" y="240"/>
                  </a:lnTo>
                  <a:lnTo>
                    <a:pt x="859" y="243"/>
                  </a:lnTo>
                  <a:lnTo>
                    <a:pt x="856" y="246"/>
                  </a:lnTo>
                  <a:lnTo>
                    <a:pt x="853" y="249"/>
                  </a:lnTo>
                  <a:lnTo>
                    <a:pt x="850" y="252"/>
                  </a:lnTo>
                  <a:lnTo>
                    <a:pt x="847" y="255"/>
                  </a:lnTo>
                  <a:lnTo>
                    <a:pt x="844" y="262"/>
                  </a:lnTo>
                  <a:lnTo>
                    <a:pt x="841" y="265"/>
                  </a:lnTo>
                  <a:lnTo>
                    <a:pt x="835" y="268"/>
                  </a:lnTo>
                  <a:lnTo>
                    <a:pt x="832" y="271"/>
                  </a:lnTo>
                  <a:lnTo>
                    <a:pt x="826" y="274"/>
                  </a:lnTo>
                  <a:lnTo>
                    <a:pt x="823" y="277"/>
                  </a:lnTo>
                  <a:lnTo>
                    <a:pt x="816" y="280"/>
                  </a:lnTo>
                  <a:lnTo>
                    <a:pt x="810" y="283"/>
                  </a:lnTo>
                  <a:lnTo>
                    <a:pt x="807" y="286"/>
                  </a:lnTo>
                  <a:lnTo>
                    <a:pt x="801" y="289"/>
                  </a:lnTo>
                  <a:lnTo>
                    <a:pt x="795" y="292"/>
                  </a:lnTo>
                  <a:lnTo>
                    <a:pt x="789" y="296"/>
                  </a:lnTo>
                  <a:lnTo>
                    <a:pt x="782" y="299"/>
                  </a:lnTo>
                  <a:lnTo>
                    <a:pt x="776" y="302"/>
                  </a:lnTo>
                  <a:lnTo>
                    <a:pt x="767" y="308"/>
                  </a:lnTo>
                  <a:lnTo>
                    <a:pt x="761" y="308"/>
                  </a:lnTo>
                  <a:lnTo>
                    <a:pt x="755" y="311"/>
                  </a:lnTo>
                  <a:lnTo>
                    <a:pt x="746" y="314"/>
                  </a:lnTo>
                  <a:lnTo>
                    <a:pt x="739" y="317"/>
                  </a:lnTo>
                  <a:lnTo>
                    <a:pt x="730" y="320"/>
                  </a:lnTo>
                  <a:lnTo>
                    <a:pt x="724" y="323"/>
                  </a:lnTo>
                  <a:lnTo>
                    <a:pt x="715" y="326"/>
                  </a:lnTo>
                  <a:lnTo>
                    <a:pt x="706" y="329"/>
                  </a:lnTo>
                  <a:lnTo>
                    <a:pt x="699" y="333"/>
                  </a:lnTo>
                  <a:lnTo>
                    <a:pt x="690" y="336"/>
                  </a:lnTo>
                  <a:lnTo>
                    <a:pt x="681" y="339"/>
                  </a:lnTo>
                  <a:lnTo>
                    <a:pt x="672" y="342"/>
                  </a:lnTo>
                  <a:lnTo>
                    <a:pt x="662" y="345"/>
                  </a:lnTo>
                  <a:lnTo>
                    <a:pt x="653" y="345"/>
                  </a:lnTo>
                  <a:lnTo>
                    <a:pt x="644" y="348"/>
                  </a:lnTo>
                  <a:lnTo>
                    <a:pt x="632" y="351"/>
                  </a:lnTo>
                  <a:lnTo>
                    <a:pt x="622" y="354"/>
                  </a:lnTo>
                  <a:lnTo>
                    <a:pt x="613" y="357"/>
                  </a:lnTo>
                  <a:lnTo>
                    <a:pt x="604" y="357"/>
                  </a:lnTo>
                  <a:lnTo>
                    <a:pt x="592" y="360"/>
                  </a:lnTo>
                  <a:lnTo>
                    <a:pt x="582" y="363"/>
                  </a:lnTo>
                  <a:lnTo>
                    <a:pt x="570" y="366"/>
                  </a:lnTo>
                  <a:lnTo>
                    <a:pt x="561" y="366"/>
                  </a:lnTo>
                  <a:lnTo>
                    <a:pt x="548" y="369"/>
                  </a:lnTo>
                  <a:lnTo>
                    <a:pt x="536" y="373"/>
                  </a:lnTo>
                  <a:lnTo>
                    <a:pt x="527" y="373"/>
                  </a:lnTo>
                  <a:lnTo>
                    <a:pt x="515" y="376"/>
                  </a:lnTo>
                  <a:lnTo>
                    <a:pt x="502" y="379"/>
                  </a:lnTo>
                  <a:lnTo>
                    <a:pt x="490" y="379"/>
                  </a:lnTo>
                  <a:lnTo>
                    <a:pt x="481" y="382"/>
                  </a:lnTo>
                  <a:lnTo>
                    <a:pt x="468" y="382"/>
                  </a:lnTo>
                  <a:lnTo>
                    <a:pt x="456" y="385"/>
                  </a:lnTo>
                  <a:lnTo>
                    <a:pt x="444" y="388"/>
                  </a:lnTo>
                  <a:lnTo>
                    <a:pt x="431" y="388"/>
                  </a:lnTo>
                  <a:lnTo>
                    <a:pt x="419" y="391"/>
                  </a:lnTo>
                  <a:lnTo>
                    <a:pt x="407" y="391"/>
                  </a:lnTo>
                  <a:lnTo>
                    <a:pt x="391" y="391"/>
                  </a:lnTo>
                  <a:lnTo>
                    <a:pt x="379" y="394"/>
                  </a:lnTo>
                  <a:lnTo>
                    <a:pt x="367" y="394"/>
                  </a:lnTo>
                  <a:lnTo>
                    <a:pt x="354" y="397"/>
                  </a:lnTo>
                  <a:lnTo>
                    <a:pt x="342" y="397"/>
                  </a:lnTo>
                  <a:lnTo>
                    <a:pt x="330" y="397"/>
                  </a:lnTo>
                  <a:lnTo>
                    <a:pt x="314" y="400"/>
                  </a:lnTo>
                  <a:lnTo>
                    <a:pt x="302" y="400"/>
                  </a:lnTo>
                  <a:lnTo>
                    <a:pt x="290" y="400"/>
                  </a:lnTo>
                  <a:lnTo>
                    <a:pt x="274" y="403"/>
                  </a:lnTo>
                  <a:lnTo>
                    <a:pt x="262" y="403"/>
                  </a:lnTo>
                  <a:lnTo>
                    <a:pt x="250" y="403"/>
                  </a:lnTo>
                  <a:lnTo>
                    <a:pt x="234" y="406"/>
                  </a:lnTo>
                  <a:lnTo>
                    <a:pt x="222" y="406"/>
                  </a:lnTo>
                  <a:lnTo>
                    <a:pt x="207" y="406"/>
                  </a:lnTo>
                  <a:lnTo>
                    <a:pt x="194" y="406"/>
                  </a:lnTo>
                  <a:lnTo>
                    <a:pt x="182" y="406"/>
                  </a:lnTo>
                  <a:lnTo>
                    <a:pt x="167" y="406"/>
                  </a:lnTo>
                  <a:lnTo>
                    <a:pt x="154" y="406"/>
                  </a:lnTo>
                  <a:lnTo>
                    <a:pt x="139" y="410"/>
                  </a:lnTo>
                  <a:lnTo>
                    <a:pt x="127" y="410"/>
                  </a:lnTo>
                  <a:lnTo>
                    <a:pt x="111" y="410"/>
                  </a:lnTo>
                  <a:lnTo>
                    <a:pt x="99" y="410"/>
                  </a:lnTo>
                  <a:lnTo>
                    <a:pt x="83" y="410"/>
                  </a:lnTo>
                  <a:lnTo>
                    <a:pt x="71" y="410"/>
                  </a:lnTo>
                  <a:lnTo>
                    <a:pt x="56" y="410"/>
                  </a:lnTo>
                  <a:lnTo>
                    <a:pt x="43" y="410"/>
                  </a:lnTo>
                  <a:lnTo>
                    <a:pt x="28" y="410"/>
                  </a:lnTo>
                  <a:lnTo>
                    <a:pt x="16" y="406"/>
                  </a:lnTo>
                  <a:lnTo>
                    <a:pt x="0" y="406"/>
                  </a:lnTo>
                  <a:lnTo>
                    <a:pt x="83" y="203"/>
                  </a:lnTo>
                  <a:lnTo>
                    <a:pt x="83" y="0"/>
                  </a:lnTo>
                  <a:close/>
                </a:path>
              </a:pathLst>
            </a:custGeom>
            <a:solidFill>
              <a:srgbClr val="9999FF"/>
            </a:solidFill>
            <a:ln w="4763">
              <a:solidFill>
                <a:srgbClr val="000000"/>
              </a:solidFill>
              <a:prstDash val="solid"/>
              <a:round/>
              <a:headEnd/>
              <a:tailEnd/>
            </a:ln>
          </p:spPr>
          <p:txBody>
            <a:bodyPr/>
            <a:lstStyle/>
            <a:p>
              <a:endParaRPr lang="en-US"/>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a:xfrm>
            <a:off x="438150" y="806450"/>
            <a:ext cx="4775200" cy="493713"/>
          </a:xfrm>
        </p:spPr>
        <p:txBody>
          <a:bodyPr wrap="none"/>
          <a:lstStyle/>
          <a:p>
            <a:r>
              <a:rPr lang="en-AU" smtClean="0"/>
              <a:t>Groundwater Dynamics</a:t>
            </a:r>
            <a:endParaRPr lang="en-US" smtClean="0"/>
          </a:p>
        </p:txBody>
      </p:sp>
      <p:grpSp>
        <p:nvGrpSpPr>
          <p:cNvPr id="29698" name="Group 10"/>
          <p:cNvGrpSpPr>
            <a:grpSpLocks/>
          </p:cNvGrpSpPr>
          <p:nvPr/>
        </p:nvGrpSpPr>
        <p:grpSpPr bwMode="auto">
          <a:xfrm>
            <a:off x="644525" y="1884363"/>
            <a:ext cx="6578600" cy="4606925"/>
            <a:chOff x="406" y="1095"/>
            <a:chExt cx="4144" cy="2902"/>
          </a:xfrm>
        </p:grpSpPr>
        <p:pic>
          <p:nvPicPr>
            <p:cNvPr id="29699" name="Picture 4"/>
            <p:cNvPicPr>
              <a:picLocks noChangeAspect="1" noChangeArrowheads="1"/>
            </p:cNvPicPr>
            <p:nvPr/>
          </p:nvPicPr>
          <p:blipFill>
            <a:blip r:embed="rId3"/>
            <a:srcRect/>
            <a:stretch>
              <a:fillRect/>
            </a:stretch>
          </p:blipFill>
          <p:spPr bwMode="auto">
            <a:xfrm>
              <a:off x="406" y="1095"/>
              <a:ext cx="4144" cy="2902"/>
            </a:xfrm>
            <a:prstGeom prst="rect">
              <a:avLst/>
            </a:prstGeom>
            <a:noFill/>
            <a:ln w="9525">
              <a:noFill/>
              <a:miter lim="800000"/>
              <a:headEnd/>
              <a:tailEnd/>
            </a:ln>
          </p:spPr>
        </p:pic>
        <p:sp>
          <p:nvSpPr>
            <p:cNvPr id="29700" name="Text Box 5"/>
            <p:cNvSpPr txBox="1">
              <a:spLocks noChangeArrowheads="1"/>
            </p:cNvSpPr>
            <p:nvPr/>
          </p:nvSpPr>
          <p:spPr bwMode="auto">
            <a:xfrm>
              <a:off x="1296" y="2808"/>
              <a:ext cx="2562" cy="231"/>
            </a:xfrm>
            <a:prstGeom prst="rect">
              <a:avLst/>
            </a:prstGeom>
            <a:noFill/>
            <a:ln w="9525">
              <a:noFill/>
              <a:miter lim="800000"/>
              <a:headEnd/>
              <a:tailEnd/>
            </a:ln>
          </p:spPr>
          <p:txBody>
            <a:bodyPr>
              <a:spAutoFit/>
            </a:bodyPr>
            <a:lstStyle/>
            <a:p>
              <a:pPr>
                <a:spcBef>
                  <a:spcPct val="50000"/>
                </a:spcBef>
              </a:pPr>
              <a:r>
                <a:rPr lang="en-AU" i="0">
                  <a:solidFill>
                    <a:srgbClr val="FFFF00"/>
                  </a:solidFill>
                </a:rPr>
                <a:t>Flow time:  Hours to years</a:t>
              </a:r>
              <a:endParaRPr lang="en-US" i="0">
                <a:solidFill>
                  <a:srgbClr val="FFFF00"/>
                </a:solidFill>
              </a:endParaRPr>
            </a:p>
          </p:txBody>
        </p:sp>
        <p:sp>
          <p:nvSpPr>
            <p:cNvPr id="29701" name="Text Box 6"/>
            <p:cNvSpPr txBox="1">
              <a:spLocks noChangeArrowheads="1"/>
            </p:cNvSpPr>
            <p:nvPr/>
          </p:nvSpPr>
          <p:spPr bwMode="auto">
            <a:xfrm>
              <a:off x="544" y="3556"/>
              <a:ext cx="2562" cy="231"/>
            </a:xfrm>
            <a:prstGeom prst="rect">
              <a:avLst/>
            </a:prstGeom>
            <a:noFill/>
            <a:ln w="9525">
              <a:noFill/>
              <a:miter lim="800000"/>
              <a:headEnd/>
              <a:tailEnd/>
            </a:ln>
          </p:spPr>
          <p:txBody>
            <a:bodyPr>
              <a:spAutoFit/>
            </a:bodyPr>
            <a:lstStyle/>
            <a:p>
              <a:pPr>
                <a:spcBef>
                  <a:spcPct val="50000"/>
                </a:spcBef>
              </a:pPr>
              <a:r>
                <a:rPr lang="en-AU" i="0">
                  <a:solidFill>
                    <a:srgbClr val="FFFF00"/>
                  </a:solidFill>
                </a:rPr>
                <a:t>Flow time:  Years to millennia</a:t>
              </a:r>
              <a:endParaRPr lang="en-US" i="0">
                <a:solidFill>
                  <a:srgbClr val="FFFF00"/>
                </a:solidFill>
              </a:endParaRP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a:xfrm>
            <a:off x="438150" y="806450"/>
            <a:ext cx="5892800" cy="493713"/>
          </a:xfrm>
        </p:spPr>
        <p:txBody>
          <a:bodyPr wrap="none"/>
          <a:lstStyle/>
          <a:p>
            <a:r>
              <a:rPr lang="en-AU" smtClean="0"/>
              <a:t>How does groundwater flow?</a:t>
            </a:r>
            <a:endParaRPr lang="en-US" smtClean="0"/>
          </a:p>
        </p:txBody>
      </p:sp>
      <p:sp>
        <p:nvSpPr>
          <p:cNvPr id="31746" name="Rectangle 3"/>
          <p:cNvSpPr>
            <a:spLocks noGrp="1" noChangeArrowheads="1"/>
          </p:cNvSpPr>
          <p:nvPr>
            <p:ph type="body" idx="1"/>
          </p:nvPr>
        </p:nvSpPr>
        <p:spPr>
          <a:xfrm>
            <a:off x="438150" y="1876425"/>
            <a:ext cx="7389813" cy="4600575"/>
          </a:xfrm>
        </p:spPr>
        <p:txBody>
          <a:bodyPr/>
          <a:lstStyle/>
          <a:p>
            <a:pPr marL="268288" indent="-268288">
              <a:spcBef>
                <a:spcPct val="80000"/>
              </a:spcBef>
              <a:buFont typeface="Times New Roman" pitchFamily="18" charset="0"/>
              <a:buChar char="•"/>
            </a:pPr>
            <a:r>
              <a:rPr lang="en-AU" smtClean="0"/>
              <a:t>Are there “underground rivers”?</a:t>
            </a:r>
          </a:p>
          <a:p>
            <a:pPr marL="268288" indent="-268288">
              <a:spcBef>
                <a:spcPct val="80000"/>
              </a:spcBef>
              <a:buFont typeface="Times New Roman" pitchFamily="18" charset="0"/>
              <a:buChar char="•"/>
            </a:pPr>
            <a:r>
              <a:rPr lang="en-AU" smtClean="0"/>
              <a:t>How does water flow through rock and soil?</a:t>
            </a:r>
          </a:p>
          <a:p>
            <a:pPr marL="268288" indent="-268288">
              <a:spcBef>
                <a:spcPct val="80000"/>
              </a:spcBef>
              <a:buFont typeface="Times New Roman" pitchFamily="18" charset="0"/>
              <a:buChar char="•"/>
            </a:pPr>
            <a:r>
              <a:rPr lang="en-AU" smtClean="0"/>
              <a:t>Does groundwater flow “downhill”?</a:t>
            </a:r>
          </a:p>
          <a:p>
            <a:pPr marL="268288" indent="-268288">
              <a:spcBef>
                <a:spcPct val="80000"/>
              </a:spcBef>
              <a:buFont typeface="Times New Roman" pitchFamily="18" charset="0"/>
              <a:buChar char="•"/>
            </a:pPr>
            <a:r>
              <a:rPr lang="en-AU" smtClean="0"/>
              <a:t>How long does it take for groundwater to flow?</a:t>
            </a:r>
          </a:p>
          <a:p>
            <a:pPr marL="268288" indent="-268288">
              <a:spcBef>
                <a:spcPct val="80000"/>
              </a:spcBef>
              <a:buFont typeface="Times New Roman" pitchFamily="18" charset="0"/>
              <a:buChar char="•"/>
            </a:pPr>
            <a:r>
              <a:rPr lang="en-AU" smtClean="0"/>
              <a:t>How do you get it out?</a:t>
            </a:r>
          </a:p>
          <a:p>
            <a:pPr marL="268288" indent="-268288">
              <a:spcBef>
                <a:spcPct val="80000"/>
              </a:spcBef>
              <a:buFont typeface="Times New Roman" pitchFamily="18" charset="0"/>
              <a:buChar char="•"/>
            </a:pPr>
            <a:endParaRPr lang="en-US"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438150" y="806450"/>
            <a:ext cx="5181600" cy="493713"/>
          </a:xfrm>
        </p:spPr>
        <p:txBody>
          <a:bodyPr wrap="none"/>
          <a:lstStyle/>
          <a:p>
            <a:r>
              <a:rPr lang="en-AU" smtClean="0"/>
              <a:t>Porosity and Permeability</a:t>
            </a:r>
            <a:endParaRPr lang="en-US" smtClean="0"/>
          </a:p>
        </p:txBody>
      </p:sp>
      <p:sp>
        <p:nvSpPr>
          <p:cNvPr id="33794" name="Text Box 5"/>
          <p:cNvSpPr txBox="1">
            <a:spLocks noChangeArrowheads="1"/>
          </p:cNvSpPr>
          <p:nvPr/>
        </p:nvSpPr>
        <p:spPr bwMode="auto">
          <a:xfrm>
            <a:off x="438150" y="1884363"/>
            <a:ext cx="3211513" cy="641350"/>
          </a:xfrm>
          <a:prstGeom prst="rect">
            <a:avLst/>
          </a:prstGeom>
          <a:noFill/>
          <a:ln w="9525">
            <a:noFill/>
            <a:miter lim="800000"/>
            <a:headEnd/>
            <a:tailEnd/>
          </a:ln>
        </p:spPr>
        <p:txBody>
          <a:bodyPr>
            <a:spAutoFit/>
          </a:bodyPr>
          <a:lstStyle/>
          <a:p>
            <a:pPr>
              <a:spcBef>
                <a:spcPct val="50000"/>
              </a:spcBef>
            </a:pPr>
            <a:r>
              <a:rPr lang="en-AU" i="0">
                <a:solidFill>
                  <a:schemeClr val="tx1"/>
                </a:solidFill>
              </a:rPr>
              <a:t>Porosity = the gaps between the soil and rock particles</a:t>
            </a:r>
            <a:endParaRPr lang="en-US" i="0">
              <a:solidFill>
                <a:schemeClr val="tx1"/>
              </a:solidFill>
            </a:endParaRPr>
          </a:p>
        </p:txBody>
      </p:sp>
      <p:sp>
        <p:nvSpPr>
          <p:cNvPr id="33795" name="Text Box 6"/>
          <p:cNvSpPr txBox="1">
            <a:spLocks noChangeArrowheads="1"/>
          </p:cNvSpPr>
          <p:nvPr/>
        </p:nvSpPr>
        <p:spPr bwMode="auto">
          <a:xfrm>
            <a:off x="5143500" y="5246688"/>
            <a:ext cx="3371850" cy="915987"/>
          </a:xfrm>
          <a:prstGeom prst="rect">
            <a:avLst/>
          </a:prstGeom>
          <a:noFill/>
          <a:ln w="9525">
            <a:noFill/>
            <a:miter lim="800000"/>
            <a:headEnd/>
            <a:tailEnd/>
          </a:ln>
        </p:spPr>
        <p:txBody>
          <a:bodyPr>
            <a:spAutoFit/>
          </a:bodyPr>
          <a:lstStyle/>
          <a:p>
            <a:pPr>
              <a:spcBef>
                <a:spcPct val="50000"/>
              </a:spcBef>
            </a:pPr>
            <a:r>
              <a:rPr lang="en-AU" i="0">
                <a:solidFill>
                  <a:schemeClr val="tx1"/>
                </a:solidFill>
              </a:rPr>
              <a:t>Permeability = how well the gaps are connected to allow water to move between them</a:t>
            </a:r>
            <a:endParaRPr lang="en-US" i="0">
              <a:solidFill>
                <a:schemeClr val="tx1"/>
              </a:solidFill>
            </a:endParaRPr>
          </a:p>
        </p:txBody>
      </p:sp>
      <p:grpSp>
        <p:nvGrpSpPr>
          <p:cNvPr id="33796" name="Group 8"/>
          <p:cNvGrpSpPr>
            <a:grpSpLocks/>
          </p:cNvGrpSpPr>
          <p:nvPr/>
        </p:nvGrpSpPr>
        <p:grpSpPr bwMode="auto">
          <a:xfrm>
            <a:off x="441325" y="2595563"/>
            <a:ext cx="7910513" cy="2593975"/>
            <a:chOff x="278" y="1312"/>
            <a:chExt cx="4983" cy="1634"/>
          </a:xfrm>
        </p:grpSpPr>
        <p:pic>
          <p:nvPicPr>
            <p:cNvPr id="33797" name="Picture 4" descr="porosity"/>
            <p:cNvPicPr>
              <a:picLocks noChangeAspect="1" noChangeArrowheads="1"/>
            </p:cNvPicPr>
            <p:nvPr/>
          </p:nvPicPr>
          <p:blipFill>
            <a:blip r:embed="rId3"/>
            <a:srcRect/>
            <a:stretch>
              <a:fillRect/>
            </a:stretch>
          </p:blipFill>
          <p:spPr bwMode="auto">
            <a:xfrm>
              <a:off x="278" y="1314"/>
              <a:ext cx="2860" cy="1632"/>
            </a:xfrm>
            <a:prstGeom prst="rect">
              <a:avLst/>
            </a:prstGeom>
            <a:noFill/>
            <a:ln w="9525">
              <a:noFill/>
              <a:miter lim="800000"/>
              <a:headEnd/>
              <a:tailEnd/>
            </a:ln>
          </p:spPr>
        </p:pic>
        <p:pic>
          <p:nvPicPr>
            <p:cNvPr id="33798" name="Picture 7" descr="permeability"/>
            <p:cNvPicPr>
              <a:picLocks noChangeAspect="1" noChangeArrowheads="1"/>
            </p:cNvPicPr>
            <p:nvPr/>
          </p:nvPicPr>
          <p:blipFill>
            <a:blip r:embed="rId4"/>
            <a:srcRect/>
            <a:stretch>
              <a:fillRect/>
            </a:stretch>
          </p:blipFill>
          <p:spPr bwMode="auto">
            <a:xfrm>
              <a:off x="3134" y="1312"/>
              <a:ext cx="2127" cy="1629"/>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a:xfrm>
            <a:off x="438150" y="806450"/>
            <a:ext cx="5537200" cy="493713"/>
          </a:xfrm>
        </p:spPr>
        <p:txBody>
          <a:bodyPr wrap="none"/>
          <a:lstStyle/>
          <a:p>
            <a:r>
              <a:rPr lang="en-AU" smtClean="0"/>
              <a:t>Flowing water underground</a:t>
            </a:r>
            <a:endParaRPr lang="en-US" smtClean="0"/>
          </a:p>
        </p:txBody>
      </p:sp>
      <p:grpSp>
        <p:nvGrpSpPr>
          <p:cNvPr id="35842" name="Group 61"/>
          <p:cNvGrpSpPr>
            <a:grpSpLocks/>
          </p:cNvGrpSpPr>
          <p:nvPr/>
        </p:nvGrpSpPr>
        <p:grpSpPr bwMode="auto">
          <a:xfrm>
            <a:off x="430213" y="1876425"/>
            <a:ext cx="7731125" cy="3490913"/>
            <a:chOff x="396" y="1276"/>
            <a:chExt cx="4870" cy="2199"/>
          </a:xfrm>
        </p:grpSpPr>
        <p:grpSp>
          <p:nvGrpSpPr>
            <p:cNvPr id="35855" name="Group 49"/>
            <p:cNvGrpSpPr>
              <a:grpSpLocks/>
            </p:cNvGrpSpPr>
            <p:nvPr/>
          </p:nvGrpSpPr>
          <p:grpSpPr bwMode="auto">
            <a:xfrm>
              <a:off x="677" y="1772"/>
              <a:ext cx="4293" cy="1376"/>
              <a:chOff x="287" y="1772"/>
              <a:chExt cx="4293" cy="1376"/>
            </a:xfrm>
          </p:grpSpPr>
          <p:grpSp>
            <p:nvGrpSpPr>
              <p:cNvPr id="35866" name="Group 48"/>
              <p:cNvGrpSpPr>
                <a:grpSpLocks/>
              </p:cNvGrpSpPr>
              <p:nvPr/>
            </p:nvGrpSpPr>
            <p:grpSpPr bwMode="auto">
              <a:xfrm>
                <a:off x="287" y="1930"/>
                <a:ext cx="2337" cy="1142"/>
                <a:chOff x="287" y="1930"/>
                <a:chExt cx="2337" cy="1142"/>
              </a:xfrm>
            </p:grpSpPr>
            <p:grpSp>
              <p:nvGrpSpPr>
                <p:cNvPr id="35884" name="Group 12"/>
                <p:cNvGrpSpPr>
                  <a:grpSpLocks noChangeAspect="1"/>
                </p:cNvGrpSpPr>
                <p:nvPr/>
              </p:nvGrpSpPr>
              <p:grpSpPr bwMode="auto">
                <a:xfrm>
                  <a:off x="287" y="1930"/>
                  <a:ext cx="2337" cy="1142"/>
                  <a:chOff x="366" y="1854"/>
                  <a:chExt cx="3654" cy="1786"/>
                </a:xfrm>
              </p:grpSpPr>
              <p:sp>
                <p:nvSpPr>
                  <p:cNvPr id="35888" name="Rectangle 4" descr="20%"/>
                  <p:cNvSpPr>
                    <a:spLocks noChangeAspect="1" noChangeArrowheads="1"/>
                  </p:cNvSpPr>
                  <p:nvPr/>
                </p:nvSpPr>
                <p:spPr bwMode="auto">
                  <a:xfrm>
                    <a:off x="368" y="2880"/>
                    <a:ext cx="1744" cy="752"/>
                  </a:xfrm>
                  <a:prstGeom prst="rect">
                    <a:avLst/>
                  </a:prstGeom>
                  <a:pattFill prst="pct20">
                    <a:fgClr>
                      <a:schemeClr val="tx1"/>
                    </a:fgClr>
                    <a:bgClr>
                      <a:schemeClr val="bg1"/>
                    </a:bgClr>
                  </a:patt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35889" name="Freeform 10" descr="20%"/>
                  <p:cNvSpPr>
                    <a:spLocks noChangeAspect="1"/>
                  </p:cNvSpPr>
                  <p:nvPr/>
                </p:nvSpPr>
                <p:spPr bwMode="auto">
                  <a:xfrm>
                    <a:off x="2112" y="1856"/>
                    <a:ext cx="1908" cy="1784"/>
                  </a:xfrm>
                  <a:custGeom>
                    <a:avLst/>
                    <a:gdLst>
                      <a:gd name="T0" fmla="*/ 0 w 1908"/>
                      <a:gd name="T1" fmla="*/ 1784 h 1784"/>
                      <a:gd name="T2" fmla="*/ 1908 w 1908"/>
                      <a:gd name="T3" fmla="*/ 752 h 1784"/>
                      <a:gd name="T4" fmla="*/ 1908 w 1908"/>
                      <a:gd name="T5" fmla="*/ 0 h 1784"/>
                      <a:gd name="T6" fmla="*/ 4 w 1908"/>
                      <a:gd name="T7" fmla="*/ 1024 h 1784"/>
                      <a:gd name="T8" fmla="*/ 0 w 1908"/>
                      <a:gd name="T9" fmla="*/ 1784 h 1784"/>
                      <a:gd name="T10" fmla="*/ 0 60000 65536"/>
                      <a:gd name="T11" fmla="*/ 0 60000 65536"/>
                      <a:gd name="T12" fmla="*/ 0 60000 65536"/>
                      <a:gd name="T13" fmla="*/ 0 60000 65536"/>
                      <a:gd name="T14" fmla="*/ 0 60000 65536"/>
                      <a:gd name="T15" fmla="*/ 0 w 1908"/>
                      <a:gd name="T16" fmla="*/ 0 h 1784"/>
                      <a:gd name="T17" fmla="*/ 1908 w 1908"/>
                      <a:gd name="T18" fmla="*/ 1784 h 1784"/>
                    </a:gdLst>
                    <a:ahLst/>
                    <a:cxnLst>
                      <a:cxn ang="T10">
                        <a:pos x="T0" y="T1"/>
                      </a:cxn>
                      <a:cxn ang="T11">
                        <a:pos x="T2" y="T3"/>
                      </a:cxn>
                      <a:cxn ang="T12">
                        <a:pos x="T4" y="T5"/>
                      </a:cxn>
                      <a:cxn ang="T13">
                        <a:pos x="T6" y="T7"/>
                      </a:cxn>
                      <a:cxn ang="T14">
                        <a:pos x="T8" y="T9"/>
                      </a:cxn>
                    </a:cxnLst>
                    <a:rect l="T15" t="T16" r="T17" b="T18"/>
                    <a:pathLst>
                      <a:path w="1908" h="1784">
                        <a:moveTo>
                          <a:pt x="0" y="1784"/>
                        </a:moveTo>
                        <a:lnTo>
                          <a:pt x="1908" y="752"/>
                        </a:lnTo>
                        <a:lnTo>
                          <a:pt x="1908" y="0"/>
                        </a:lnTo>
                        <a:lnTo>
                          <a:pt x="4" y="1024"/>
                        </a:lnTo>
                        <a:lnTo>
                          <a:pt x="0" y="1784"/>
                        </a:lnTo>
                        <a:close/>
                      </a:path>
                    </a:pathLst>
                  </a:custGeom>
                  <a:pattFill prst="pct20">
                    <a:fgClr>
                      <a:schemeClr val="tx1"/>
                    </a:fgClr>
                    <a:bgClr>
                      <a:schemeClr val="bg1"/>
                    </a:bgClr>
                  </a:pattFill>
                  <a:ln w="9525" cap="flat" cmpd="sng">
                    <a:solidFill>
                      <a:schemeClr val="tx1"/>
                    </a:solidFill>
                    <a:prstDash val="solid"/>
                    <a:round/>
                    <a:headEnd/>
                    <a:tailEnd/>
                  </a:ln>
                </p:spPr>
                <p:txBody>
                  <a:bodyPr wrap="none" anchor="ctr"/>
                  <a:lstStyle/>
                  <a:p>
                    <a:endParaRPr lang="en-US"/>
                  </a:p>
                </p:txBody>
              </p:sp>
              <p:sp>
                <p:nvSpPr>
                  <p:cNvPr id="35890" name="Freeform 11" descr="20%"/>
                  <p:cNvSpPr>
                    <a:spLocks noChangeAspect="1"/>
                  </p:cNvSpPr>
                  <p:nvPr/>
                </p:nvSpPr>
                <p:spPr bwMode="auto">
                  <a:xfrm>
                    <a:off x="366" y="1854"/>
                    <a:ext cx="3654" cy="1026"/>
                  </a:xfrm>
                  <a:custGeom>
                    <a:avLst/>
                    <a:gdLst>
                      <a:gd name="T0" fmla="*/ 0 w 3654"/>
                      <a:gd name="T1" fmla="*/ 1026 h 1026"/>
                      <a:gd name="T2" fmla="*/ 1752 w 3654"/>
                      <a:gd name="T3" fmla="*/ 1026 h 1026"/>
                      <a:gd name="T4" fmla="*/ 3654 w 3654"/>
                      <a:gd name="T5" fmla="*/ 0 h 1026"/>
                      <a:gd name="T6" fmla="*/ 1920 w 3654"/>
                      <a:gd name="T7" fmla="*/ 0 h 1026"/>
                      <a:gd name="T8" fmla="*/ 0 w 3654"/>
                      <a:gd name="T9" fmla="*/ 1026 h 1026"/>
                      <a:gd name="T10" fmla="*/ 0 60000 65536"/>
                      <a:gd name="T11" fmla="*/ 0 60000 65536"/>
                      <a:gd name="T12" fmla="*/ 0 60000 65536"/>
                      <a:gd name="T13" fmla="*/ 0 60000 65536"/>
                      <a:gd name="T14" fmla="*/ 0 60000 65536"/>
                      <a:gd name="T15" fmla="*/ 0 w 3654"/>
                      <a:gd name="T16" fmla="*/ 0 h 1026"/>
                      <a:gd name="T17" fmla="*/ 3654 w 3654"/>
                      <a:gd name="T18" fmla="*/ 1026 h 1026"/>
                    </a:gdLst>
                    <a:ahLst/>
                    <a:cxnLst>
                      <a:cxn ang="T10">
                        <a:pos x="T0" y="T1"/>
                      </a:cxn>
                      <a:cxn ang="T11">
                        <a:pos x="T2" y="T3"/>
                      </a:cxn>
                      <a:cxn ang="T12">
                        <a:pos x="T4" y="T5"/>
                      </a:cxn>
                      <a:cxn ang="T13">
                        <a:pos x="T6" y="T7"/>
                      </a:cxn>
                      <a:cxn ang="T14">
                        <a:pos x="T8" y="T9"/>
                      </a:cxn>
                    </a:cxnLst>
                    <a:rect l="T15" t="T16" r="T17" b="T18"/>
                    <a:pathLst>
                      <a:path w="3654" h="1026">
                        <a:moveTo>
                          <a:pt x="0" y="1026"/>
                        </a:moveTo>
                        <a:lnTo>
                          <a:pt x="1752" y="1026"/>
                        </a:lnTo>
                        <a:lnTo>
                          <a:pt x="3654" y="0"/>
                        </a:lnTo>
                        <a:lnTo>
                          <a:pt x="1920" y="0"/>
                        </a:lnTo>
                        <a:lnTo>
                          <a:pt x="0" y="1026"/>
                        </a:lnTo>
                        <a:close/>
                      </a:path>
                    </a:pathLst>
                  </a:custGeom>
                  <a:pattFill prst="pct20">
                    <a:fgClr>
                      <a:schemeClr val="tx1"/>
                    </a:fgClr>
                    <a:bgClr>
                      <a:schemeClr val="bg1"/>
                    </a:bgClr>
                  </a:pattFill>
                  <a:ln w="9525" cap="flat" cmpd="sng">
                    <a:solidFill>
                      <a:schemeClr val="tx1"/>
                    </a:solidFill>
                    <a:prstDash val="solid"/>
                    <a:round/>
                    <a:headEnd type="none" w="med" len="med"/>
                    <a:tailEnd type="none" w="med" len="med"/>
                  </a:ln>
                </p:spPr>
                <p:txBody>
                  <a:bodyPr wrap="none" anchor="ctr"/>
                  <a:lstStyle/>
                  <a:p>
                    <a:endParaRPr lang="en-US"/>
                  </a:p>
                </p:txBody>
              </p:sp>
            </p:grpSp>
            <p:grpSp>
              <p:nvGrpSpPr>
                <p:cNvPr id="35885" name="Group 47"/>
                <p:cNvGrpSpPr>
                  <a:grpSpLocks/>
                </p:cNvGrpSpPr>
                <p:nvPr/>
              </p:nvGrpSpPr>
              <p:grpSpPr bwMode="auto">
                <a:xfrm>
                  <a:off x="287" y="2045"/>
                  <a:ext cx="2337" cy="1022"/>
                  <a:chOff x="287" y="2045"/>
                  <a:chExt cx="2337" cy="1022"/>
                </a:xfrm>
              </p:grpSpPr>
              <p:sp>
                <p:nvSpPr>
                  <p:cNvPr id="35886" name="Freeform 16"/>
                  <p:cNvSpPr>
                    <a:spLocks noChangeAspect="1"/>
                  </p:cNvSpPr>
                  <p:nvPr/>
                </p:nvSpPr>
                <p:spPr bwMode="auto">
                  <a:xfrm>
                    <a:off x="287" y="2045"/>
                    <a:ext cx="2332" cy="878"/>
                  </a:xfrm>
                  <a:custGeom>
                    <a:avLst/>
                    <a:gdLst>
                      <a:gd name="T0" fmla="*/ 0 w 2916"/>
                      <a:gd name="T1" fmla="*/ 873 h 1098"/>
                      <a:gd name="T2" fmla="*/ 1224 w 2916"/>
                      <a:gd name="T3" fmla="*/ 0 h 1098"/>
                      <a:gd name="T4" fmla="*/ 2332 w 2916"/>
                      <a:gd name="T5" fmla="*/ 0 h 1098"/>
                      <a:gd name="T6" fmla="*/ 1113 w 2916"/>
                      <a:gd name="T7" fmla="*/ 878 h 1098"/>
                      <a:gd name="T8" fmla="*/ 0 w 2916"/>
                      <a:gd name="T9" fmla="*/ 873 h 1098"/>
                      <a:gd name="T10" fmla="*/ 0 60000 65536"/>
                      <a:gd name="T11" fmla="*/ 0 60000 65536"/>
                      <a:gd name="T12" fmla="*/ 0 60000 65536"/>
                      <a:gd name="T13" fmla="*/ 0 60000 65536"/>
                      <a:gd name="T14" fmla="*/ 0 60000 65536"/>
                      <a:gd name="T15" fmla="*/ 0 w 2916"/>
                      <a:gd name="T16" fmla="*/ 0 h 1098"/>
                      <a:gd name="T17" fmla="*/ 2916 w 2916"/>
                      <a:gd name="T18" fmla="*/ 1098 h 1098"/>
                    </a:gdLst>
                    <a:ahLst/>
                    <a:cxnLst>
                      <a:cxn ang="T10">
                        <a:pos x="T0" y="T1"/>
                      </a:cxn>
                      <a:cxn ang="T11">
                        <a:pos x="T2" y="T3"/>
                      </a:cxn>
                      <a:cxn ang="T12">
                        <a:pos x="T4" y="T5"/>
                      </a:cxn>
                      <a:cxn ang="T13">
                        <a:pos x="T6" y="T7"/>
                      </a:cxn>
                      <a:cxn ang="T14">
                        <a:pos x="T8" y="T9"/>
                      </a:cxn>
                    </a:cxnLst>
                    <a:rect l="T15" t="T16" r="T17" b="T18"/>
                    <a:pathLst>
                      <a:path w="2916" h="1098">
                        <a:moveTo>
                          <a:pt x="0" y="1092"/>
                        </a:moveTo>
                        <a:lnTo>
                          <a:pt x="1530" y="0"/>
                        </a:lnTo>
                        <a:lnTo>
                          <a:pt x="2916" y="0"/>
                        </a:lnTo>
                        <a:lnTo>
                          <a:pt x="1392" y="1098"/>
                        </a:lnTo>
                        <a:lnTo>
                          <a:pt x="0" y="1092"/>
                        </a:lnTo>
                        <a:close/>
                      </a:path>
                    </a:pathLst>
                  </a:custGeom>
                  <a:solidFill>
                    <a:schemeClr val="accent1">
                      <a:alpha val="21176"/>
                    </a:schemeClr>
                  </a:solidFill>
                  <a:ln w="9525">
                    <a:solidFill>
                      <a:schemeClr val="tx1"/>
                    </a:solidFill>
                    <a:round/>
                    <a:headEnd/>
                    <a:tailEnd/>
                  </a:ln>
                </p:spPr>
                <p:txBody>
                  <a:bodyPr/>
                  <a:lstStyle/>
                  <a:p>
                    <a:endParaRPr lang="en-US"/>
                  </a:p>
                </p:txBody>
              </p:sp>
              <p:sp>
                <p:nvSpPr>
                  <p:cNvPr id="35887" name="Freeform 17"/>
                  <p:cNvSpPr>
                    <a:spLocks noChangeAspect="1"/>
                  </p:cNvSpPr>
                  <p:nvPr/>
                </p:nvSpPr>
                <p:spPr bwMode="auto">
                  <a:xfrm>
                    <a:off x="288" y="2045"/>
                    <a:ext cx="2336" cy="1022"/>
                  </a:xfrm>
                  <a:custGeom>
                    <a:avLst/>
                    <a:gdLst>
                      <a:gd name="T0" fmla="*/ 0 w 2336"/>
                      <a:gd name="T1" fmla="*/ 867 h 1022"/>
                      <a:gd name="T2" fmla="*/ 4 w 2336"/>
                      <a:gd name="T3" fmla="*/ 1022 h 1022"/>
                      <a:gd name="T4" fmla="*/ 1112 w 2336"/>
                      <a:gd name="T5" fmla="*/ 1022 h 1022"/>
                      <a:gd name="T6" fmla="*/ 2336 w 2336"/>
                      <a:gd name="T7" fmla="*/ 365 h 1022"/>
                      <a:gd name="T8" fmla="*/ 2336 w 2336"/>
                      <a:gd name="T9" fmla="*/ 0 h 1022"/>
                      <a:gd name="T10" fmla="*/ 1117 w 2336"/>
                      <a:gd name="T11" fmla="*/ 878 h 1022"/>
                      <a:gd name="T12" fmla="*/ 0 w 2336"/>
                      <a:gd name="T13" fmla="*/ 867 h 1022"/>
                      <a:gd name="T14" fmla="*/ 0 60000 65536"/>
                      <a:gd name="T15" fmla="*/ 0 60000 65536"/>
                      <a:gd name="T16" fmla="*/ 0 60000 65536"/>
                      <a:gd name="T17" fmla="*/ 0 60000 65536"/>
                      <a:gd name="T18" fmla="*/ 0 60000 65536"/>
                      <a:gd name="T19" fmla="*/ 0 60000 65536"/>
                      <a:gd name="T20" fmla="*/ 0 60000 65536"/>
                      <a:gd name="T21" fmla="*/ 0 w 2336"/>
                      <a:gd name="T22" fmla="*/ 0 h 1022"/>
                      <a:gd name="T23" fmla="*/ 2336 w 2336"/>
                      <a:gd name="T24" fmla="*/ 1022 h 10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36" h="1022">
                        <a:moveTo>
                          <a:pt x="0" y="867"/>
                        </a:moveTo>
                        <a:lnTo>
                          <a:pt x="4" y="1022"/>
                        </a:lnTo>
                        <a:lnTo>
                          <a:pt x="1112" y="1022"/>
                        </a:lnTo>
                        <a:lnTo>
                          <a:pt x="2336" y="365"/>
                        </a:lnTo>
                        <a:lnTo>
                          <a:pt x="2336" y="0"/>
                        </a:lnTo>
                        <a:lnTo>
                          <a:pt x="1117" y="878"/>
                        </a:lnTo>
                        <a:lnTo>
                          <a:pt x="0" y="867"/>
                        </a:lnTo>
                        <a:close/>
                      </a:path>
                    </a:pathLst>
                  </a:custGeom>
                  <a:solidFill>
                    <a:schemeClr val="accent1">
                      <a:alpha val="21176"/>
                    </a:schemeClr>
                  </a:solidFill>
                  <a:ln w="9525" cap="flat" cmpd="sng">
                    <a:solidFill>
                      <a:schemeClr val="tx1"/>
                    </a:solidFill>
                    <a:prstDash val="solid"/>
                    <a:round/>
                    <a:headEnd type="none" w="med" len="med"/>
                    <a:tailEnd type="none" w="med" len="med"/>
                  </a:ln>
                </p:spPr>
                <p:txBody>
                  <a:bodyPr/>
                  <a:lstStyle/>
                  <a:p>
                    <a:endParaRPr lang="en-US"/>
                  </a:p>
                </p:txBody>
              </p:sp>
            </p:grpSp>
          </p:grpSp>
          <p:sp>
            <p:nvSpPr>
              <p:cNvPr id="35867" name="Line 26"/>
              <p:cNvSpPr>
                <a:spLocks noChangeShapeType="1"/>
              </p:cNvSpPr>
              <p:nvPr/>
            </p:nvSpPr>
            <p:spPr bwMode="auto">
              <a:xfrm>
                <a:off x="1268" y="2220"/>
                <a:ext cx="1112" cy="0"/>
              </a:xfrm>
              <a:prstGeom prst="line">
                <a:avLst/>
              </a:prstGeom>
              <a:noFill/>
              <a:ln w="9525">
                <a:solidFill>
                  <a:schemeClr val="tx1"/>
                </a:solidFill>
                <a:prstDash val="dash"/>
                <a:round/>
                <a:headEnd/>
                <a:tailEnd/>
              </a:ln>
            </p:spPr>
            <p:txBody>
              <a:bodyPr/>
              <a:lstStyle/>
              <a:p>
                <a:endParaRPr lang="en-US"/>
              </a:p>
            </p:txBody>
          </p:sp>
          <p:sp>
            <p:nvSpPr>
              <p:cNvPr id="35868" name="Line 27"/>
              <p:cNvSpPr>
                <a:spLocks noChangeShapeType="1"/>
              </p:cNvSpPr>
              <p:nvPr/>
            </p:nvSpPr>
            <p:spPr bwMode="auto">
              <a:xfrm>
                <a:off x="912" y="2468"/>
                <a:ext cx="1112" cy="0"/>
              </a:xfrm>
              <a:prstGeom prst="line">
                <a:avLst/>
              </a:prstGeom>
              <a:noFill/>
              <a:ln w="9525">
                <a:solidFill>
                  <a:schemeClr val="tx1"/>
                </a:solidFill>
                <a:prstDash val="dash"/>
                <a:round/>
                <a:headEnd/>
                <a:tailEnd/>
              </a:ln>
            </p:spPr>
            <p:txBody>
              <a:bodyPr/>
              <a:lstStyle/>
              <a:p>
                <a:endParaRPr lang="en-US"/>
              </a:p>
            </p:txBody>
          </p:sp>
          <p:sp>
            <p:nvSpPr>
              <p:cNvPr id="35869" name="Line 28"/>
              <p:cNvSpPr>
                <a:spLocks noChangeShapeType="1"/>
              </p:cNvSpPr>
              <p:nvPr/>
            </p:nvSpPr>
            <p:spPr bwMode="auto">
              <a:xfrm>
                <a:off x="560" y="2724"/>
                <a:ext cx="1112" cy="0"/>
              </a:xfrm>
              <a:prstGeom prst="line">
                <a:avLst/>
              </a:prstGeom>
              <a:noFill/>
              <a:ln w="9525">
                <a:solidFill>
                  <a:schemeClr val="tx1"/>
                </a:solidFill>
                <a:prstDash val="dash"/>
                <a:round/>
                <a:headEnd/>
                <a:tailEnd/>
              </a:ln>
            </p:spPr>
            <p:txBody>
              <a:bodyPr/>
              <a:lstStyle/>
              <a:p>
                <a:endParaRPr lang="en-US"/>
              </a:p>
            </p:txBody>
          </p:sp>
          <p:sp>
            <p:nvSpPr>
              <p:cNvPr id="35870" name="Text Box 29"/>
              <p:cNvSpPr txBox="1">
                <a:spLocks noChangeArrowheads="1"/>
              </p:cNvSpPr>
              <p:nvPr/>
            </p:nvSpPr>
            <p:spPr bwMode="auto">
              <a:xfrm>
                <a:off x="1630" y="2692"/>
                <a:ext cx="252" cy="173"/>
              </a:xfrm>
              <a:prstGeom prst="rect">
                <a:avLst/>
              </a:prstGeom>
              <a:noFill/>
              <a:ln w="9525">
                <a:noFill/>
                <a:miter lim="800000"/>
                <a:headEnd/>
                <a:tailEnd/>
              </a:ln>
            </p:spPr>
            <p:txBody>
              <a:bodyPr>
                <a:spAutoFit/>
              </a:bodyPr>
              <a:lstStyle/>
              <a:p>
                <a:pPr>
                  <a:spcBef>
                    <a:spcPct val="50000"/>
                  </a:spcBef>
                </a:pPr>
                <a:r>
                  <a:rPr lang="en-AU" sz="1200" i="0">
                    <a:solidFill>
                      <a:schemeClr val="tx1"/>
                    </a:solidFill>
                  </a:rPr>
                  <a:t>1m</a:t>
                </a:r>
                <a:endParaRPr lang="en-US" sz="1200" i="0">
                  <a:solidFill>
                    <a:schemeClr val="tx1"/>
                  </a:solidFill>
                </a:endParaRPr>
              </a:p>
            </p:txBody>
          </p:sp>
          <p:sp>
            <p:nvSpPr>
              <p:cNvPr id="35871" name="Text Box 30"/>
              <p:cNvSpPr txBox="1">
                <a:spLocks noChangeArrowheads="1"/>
              </p:cNvSpPr>
              <p:nvPr/>
            </p:nvSpPr>
            <p:spPr bwMode="auto">
              <a:xfrm>
                <a:off x="2002" y="2438"/>
                <a:ext cx="252" cy="173"/>
              </a:xfrm>
              <a:prstGeom prst="rect">
                <a:avLst/>
              </a:prstGeom>
              <a:noFill/>
              <a:ln w="9525">
                <a:noFill/>
                <a:miter lim="800000"/>
                <a:headEnd/>
                <a:tailEnd/>
              </a:ln>
            </p:spPr>
            <p:txBody>
              <a:bodyPr>
                <a:spAutoFit/>
              </a:bodyPr>
              <a:lstStyle/>
              <a:p>
                <a:pPr>
                  <a:spcBef>
                    <a:spcPct val="50000"/>
                  </a:spcBef>
                </a:pPr>
                <a:r>
                  <a:rPr lang="en-AU" sz="1200" i="0">
                    <a:solidFill>
                      <a:schemeClr val="tx1"/>
                    </a:solidFill>
                  </a:rPr>
                  <a:t>2m</a:t>
                </a:r>
                <a:endParaRPr lang="en-US" sz="1200" i="0">
                  <a:solidFill>
                    <a:schemeClr val="tx1"/>
                  </a:solidFill>
                </a:endParaRPr>
              </a:p>
            </p:txBody>
          </p:sp>
          <p:sp>
            <p:nvSpPr>
              <p:cNvPr id="35872" name="Text Box 31"/>
              <p:cNvSpPr txBox="1">
                <a:spLocks noChangeArrowheads="1"/>
              </p:cNvSpPr>
              <p:nvPr/>
            </p:nvSpPr>
            <p:spPr bwMode="auto">
              <a:xfrm>
                <a:off x="2372" y="2166"/>
                <a:ext cx="252" cy="173"/>
              </a:xfrm>
              <a:prstGeom prst="rect">
                <a:avLst/>
              </a:prstGeom>
              <a:noFill/>
              <a:ln w="9525">
                <a:noFill/>
                <a:miter lim="800000"/>
                <a:headEnd/>
                <a:tailEnd/>
              </a:ln>
            </p:spPr>
            <p:txBody>
              <a:bodyPr>
                <a:spAutoFit/>
              </a:bodyPr>
              <a:lstStyle/>
              <a:p>
                <a:pPr>
                  <a:spcBef>
                    <a:spcPct val="50000"/>
                  </a:spcBef>
                </a:pPr>
                <a:r>
                  <a:rPr lang="en-AU" sz="1200" i="0">
                    <a:solidFill>
                      <a:schemeClr val="tx1"/>
                    </a:solidFill>
                  </a:rPr>
                  <a:t>3m</a:t>
                </a:r>
                <a:endParaRPr lang="en-US" sz="1200" i="0">
                  <a:solidFill>
                    <a:schemeClr val="tx1"/>
                  </a:solidFill>
                </a:endParaRPr>
              </a:p>
            </p:txBody>
          </p:sp>
          <p:sp>
            <p:nvSpPr>
              <p:cNvPr id="35873" name="Line 32"/>
              <p:cNvSpPr>
                <a:spLocks noChangeShapeType="1"/>
              </p:cNvSpPr>
              <p:nvPr/>
            </p:nvSpPr>
            <p:spPr bwMode="auto">
              <a:xfrm>
                <a:off x="1672" y="2728"/>
                <a:ext cx="0" cy="200"/>
              </a:xfrm>
              <a:prstGeom prst="line">
                <a:avLst/>
              </a:prstGeom>
              <a:noFill/>
              <a:ln w="9525">
                <a:solidFill>
                  <a:schemeClr val="tx1"/>
                </a:solidFill>
                <a:round/>
                <a:headEnd type="triangle" w="med" len="med"/>
                <a:tailEnd type="triangle" w="med" len="med"/>
              </a:ln>
            </p:spPr>
            <p:txBody>
              <a:bodyPr/>
              <a:lstStyle/>
              <a:p>
                <a:endParaRPr lang="en-US"/>
              </a:p>
            </p:txBody>
          </p:sp>
          <p:sp>
            <p:nvSpPr>
              <p:cNvPr id="35874" name="Line 33"/>
              <p:cNvSpPr>
                <a:spLocks noChangeShapeType="1"/>
              </p:cNvSpPr>
              <p:nvPr/>
            </p:nvSpPr>
            <p:spPr bwMode="auto">
              <a:xfrm>
                <a:off x="2032" y="2468"/>
                <a:ext cx="0" cy="256"/>
              </a:xfrm>
              <a:prstGeom prst="line">
                <a:avLst/>
              </a:prstGeom>
              <a:noFill/>
              <a:ln w="9525">
                <a:solidFill>
                  <a:schemeClr val="tx1"/>
                </a:solidFill>
                <a:round/>
                <a:headEnd type="triangle" w="med" len="med"/>
                <a:tailEnd type="triangle" w="med" len="med"/>
              </a:ln>
            </p:spPr>
            <p:txBody>
              <a:bodyPr/>
              <a:lstStyle/>
              <a:p>
                <a:endParaRPr lang="en-US"/>
              </a:p>
            </p:txBody>
          </p:sp>
          <p:sp>
            <p:nvSpPr>
              <p:cNvPr id="35875" name="Line 34"/>
              <p:cNvSpPr>
                <a:spLocks noChangeShapeType="1"/>
              </p:cNvSpPr>
              <p:nvPr/>
            </p:nvSpPr>
            <p:spPr bwMode="auto">
              <a:xfrm>
                <a:off x="2384" y="2220"/>
                <a:ext cx="0" cy="308"/>
              </a:xfrm>
              <a:prstGeom prst="line">
                <a:avLst/>
              </a:prstGeom>
              <a:noFill/>
              <a:ln w="9525">
                <a:solidFill>
                  <a:schemeClr val="tx1"/>
                </a:solidFill>
                <a:round/>
                <a:headEnd type="triangle" w="med" len="med"/>
                <a:tailEnd type="triangle" w="med" len="med"/>
              </a:ln>
            </p:spPr>
            <p:txBody>
              <a:bodyPr/>
              <a:lstStyle/>
              <a:p>
                <a:endParaRPr lang="en-US"/>
              </a:p>
            </p:txBody>
          </p:sp>
          <p:grpSp>
            <p:nvGrpSpPr>
              <p:cNvPr id="35876" name="Group 43"/>
              <p:cNvGrpSpPr>
                <a:grpSpLocks/>
              </p:cNvGrpSpPr>
              <p:nvPr/>
            </p:nvGrpSpPr>
            <p:grpSpPr bwMode="auto">
              <a:xfrm>
                <a:off x="3464" y="1772"/>
                <a:ext cx="1116" cy="1376"/>
                <a:chOff x="3248" y="1932"/>
                <a:chExt cx="1116" cy="1376"/>
              </a:xfrm>
            </p:grpSpPr>
            <p:sp>
              <p:nvSpPr>
                <p:cNvPr id="35880" name="Rectangle 20" descr="20%"/>
                <p:cNvSpPr>
                  <a:spLocks noChangeArrowheads="1"/>
                </p:cNvSpPr>
                <p:nvPr/>
              </p:nvSpPr>
              <p:spPr bwMode="auto">
                <a:xfrm>
                  <a:off x="3248" y="1932"/>
                  <a:ext cx="1116" cy="1376"/>
                </a:xfrm>
                <a:prstGeom prst="rect">
                  <a:avLst/>
                </a:prstGeom>
                <a:pattFill prst="pct20">
                  <a:fgClr>
                    <a:schemeClr val="tx1">
                      <a:alpha val="21176"/>
                    </a:schemeClr>
                  </a:fgClr>
                  <a:bgClr>
                    <a:srgbClr val="CCECFF">
                      <a:alpha val="21176"/>
                    </a:srgbClr>
                  </a:bgClr>
                </a:patt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35881" name="Line 35" descr="20%"/>
                <p:cNvSpPr>
                  <a:spLocks noChangeShapeType="1"/>
                </p:cNvSpPr>
                <p:nvPr/>
              </p:nvSpPr>
              <p:spPr bwMode="auto">
                <a:xfrm>
                  <a:off x="3248" y="2224"/>
                  <a:ext cx="1112" cy="0"/>
                </a:xfrm>
                <a:prstGeom prst="line">
                  <a:avLst/>
                </a:prstGeom>
                <a:noFill/>
                <a:ln w="9525">
                  <a:solidFill>
                    <a:schemeClr val="tx1"/>
                  </a:solidFill>
                  <a:prstDash val="dash"/>
                  <a:round/>
                  <a:headEnd/>
                  <a:tailEnd/>
                </a:ln>
              </p:spPr>
              <p:txBody>
                <a:bodyPr/>
                <a:lstStyle/>
                <a:p>
                  <a:endParaRPr lang="en-US"/>
                </a:p>
              </p:txBody>
            </p:sp>
            <p:sp>
              <p:nvSpPr>
                <p:cNvPr id="35882" name="Line 38" descr="20%"/>
                <p:cNvSpPr>
                  <a:spLocks noChangeShapeType="1"/>
                </p:cNvSpPr>
                <p:nvPr/>
              </p:nvSpPr>
              <p:spPr bwMode="auto">
                <a:xfrm>
                  <a:off x="3252" y="2628"/>
                  <a:ext cx="1112" cy="0"/>
                </a:xfrm>
                <a:prstGeom prst="line">
                  <a:avLst/>
                </a:prstGeom>
                <a:noFill/>
                <a:ln w="9525">
                  <a:solidFill>
                    <a:schemeClr val="tx1"/>
                  </a:solidFill>
                  <a:prstDash val="dash"/>
                  <a:round/>
                  <a:headEnd/>
                  <a:tailEnd/>
                </a:ln>
              </p:spPr>
              <p:txBody>
                <a:bodyPr/>
                <a:lstStyle/>
                <a:p>
                  <a:endParaRPr lang="en-US"/>
                </a:p>
              </p:txBody>
            </p:sp>
            <p:sp>
              <p:nvSpPr>
                <p:cNvPr id="35883" name="Line 39" descr="20%"/>
                <p:cNvSpPr>
                  <a:spLocks noChangeShapeType="1"/>
                </p:cNvSpPr>
                <p:nvPr/>
              </p:nvSpPr>
              <p:spPr bwMode="auto">
                <a:xfrm>
                  <a:off x="3248" y="3004"/>
                  <a:ext cx="1112" cy="0"/>
                </a:xfrm>
                <a:prstGeom prst="line">
                  <a:avLst/>
                </a:prstGeom>
                <a:noFill/>
                <a:ln w="9525">
                  <a:solidFill>
                    <a:schemeClr val="tx1"/>
                  </a:solidFill>
                  <a:prstDash val="dash"/>
                  <a:round/>
                  <a:headEnd/>
                  <a:tailEnd/>
                </a:ln>
              </p:spPr>
              <p:txBody>
                <a:bodyPr/>
                <a:lstStyle/>
                <a:p>
                  <a:endParaRPr lang="en-US"/>
                </a:p>
              </p:txBody>
            </p:sp>
          </p:grpSp>
          <p:sp>
            <p:nvSpPr>
              <p:cNvPr id="35877" name="Line 44"/>
              <p:cNvSpPr>
                <a:spLocks noChangeShapeType="1"/>
              </p:cNvSpPr>
              <p:nvPr/>
            </p:nvSpPr>
            <p:spPr bwMode="auto">
              <a:xfrm flipV="1">
                <a:off x="2384" y="2072"/>
                <a:ext cx="1080" cy="144"/>
              </a:xfrm>
              <a:prstGeom prst="line">
                <a:avLst/>
              </a:prstGeom>
              <a:noFill/>
              <a:ln w="9525">
                <a:solidFill>
                  <a:schemeClr val="tx1"/>
                </a:solidFill>
                <a:prstDash val="sysDot"/>
                <a:round/>
                <a:headEnd/>
                <a:tailEnd/>
              </a:ln>
            </p:spPr>
            <p:txBody>
              <a:bodyPr/>
              <a:lstStyle/>
              <a:p>
                <a:endParaRPr lang="en-US"/>
              </a:p>
            </p:txBody>
          </p:sp>
          <p:sp>
            <p:nvSpPr>
              <p:cNvPr id="35878" name="Line 45"/>
              <p:cNvSpPr>
                <a:spLocks noChangeShapeType="1"/>
              </p:cNvSpPr>
              <p:nvPr/>
            </p:nvSpPr>
            <p:spPr bwMode="auto">
              <a:xfrm>
                <a:off x="2024" y="2472"/>
                <a:ext cx="1440" cy="0"/>
              </a:xfrm>
              <a:prstGeom prst="line">
                <a:avLst/>
              </a:prstGeom>
              <a:noFill/>
              <a:ln w="9525">
                <a:solidFill>
                  <a:schemeClr val="tx1"/>
                </a:solidFill>
                <a:prstDash val="sysDot"/>
                <a:round/>
                <a:headEnd/>
                <a:tailEnd/>
              </a:ln>
            </p:spPr>
            <p:txBody>
              <a:bodyPr/>
              <a:lstStyle/>
              <a:p>
                <a:endParaRPr lang="en-US"/>
              </a:p>
            </p:txBody>
          </p:sp>
          <p:sp>
            <p:nvSpPr>
              <p:cNvPr id="35879" name="Line 46"/>
              <p:cNvSpPr>
                <a:spLocks noChangeShapeType="1"/>
              </p:cNvSpPr>
              <p:nvPr/>
            </p:nvSpPr>
            <p:spPr bwMode="auto">
              <a:xfrm>
                <a:off x="1672" y="2728"/>
                <a:ext cx="1792" cy="112"/>
              </a:xfrm>
              <a:prstGeom prst="line">
                <a:avLst/>
              </a:prstGeom>
              <a:noFill/>
              <a:ln w="9525">
                <a:solidFill>
                  <a:schemeClr val="tx1"/>
                </a:solidFill>
                <a:prstDash val="sysDot"/>
                <a:round/>
                <a:headEnd/>
                <a:tailEnd/>
              </a:ln>
            </p:spPr>
            <p:txBody>
              <a:bodyPr/>
              <a:lstStyle/>
              <a:p>
                <a:endParaRPr lang="en-US"/>
              </a:p>
            </p:txBody>
          </p:sp>
        </p:grpSp>
        <p:sp>
          <p:nvSpPr>
            <p:cNvPr id="35856" name="Text Box 50"/>
            <p:cNvSpPr txBox="1">
              <a:spLocks noChangeArrowheads="1"/>
            </p:cNvSpPr>
            <p:nvPr/>
          </p:nvSpPr>
          <p:spPr bwMode="auto">
            <a:xfrm>
              <a:off x="4938" y="1974"/>
              <a:ext cx="324" cy="192"/>
            </a:xfrm>
            <a:prstGeom prst="rect">
              <a:avLst/>
            </a:prstGeom>
            <a:noFill/>
            <a:ln w="9525">
              <a:noFill/>
              <a:miter lim="800000"/>
              <a:headEnd/>
              <a:tailEnd/>
            </a:ln>
          </p:spPr>
          <p:txBody>
            <a:bodyPr>
              <a:spAutoFit/>
            </a:bodyPr>
            <a:lstStyle/>
            <a:p>
              <a:pPr>
                <a:spcBef>
                  <a:spcPct val="50000"/>
                </a:spcBef>
              </a:pPr>
              <a:r>
                <a:rPr lang="en-AU" sz="1400" i="0">
                  <a:solidFill>
                    <a:schemeClr val="tx1"/>
                  </a:solidFill>
                </a:rPr>
                <a:t>3m</a:t>
              </a:r>
              <a:endParaRPr lang="en-US" sz="1400" i="0">
                <a:solidFill>
                  <a:schemeClr val="tx1"/>
                </a:solidFill>
              </a:endParaRPr>
            </a:p>
          </p:txBody>
        </p:sp>
        <p:sp>
          <p:nvSpPr>
            <p:cNvPr id="35857" name="Text Box 51"/>
            <p:cNvSpPr txBox="1">
              <a:spLocks noChangeArrowheads="1"/>
            </p:cNvSpPr>
            <p:nvPr/>
          </p:nvSpPr>
          <p:spPr bwMode="auto">
            <a:xfrm>
              <a:off x="4942" y="2362"/>
              <a:ext cx="324" cy="192"/>
            </a:xfrm>
            <a:prstGeom prst="rect">
              <a:avLst/>
            </a:prstGeom>
            <a:noFill/>
            <a:ln w="9525">
              <a:noFill/>
              <a:miter lim="800000"/>
              <a:headEnd/>
              <a:tailEnd/>
            </a:ln>
          </p:spPr>
          <p:txBody>
            <a:bodyPr>
              <a:spAutoFit/>
            </a:bodyPr>
            <a:lstStyle/>
            <a:p>
              <a:pPr>
                <a:spcBef>
                  <a:spcPct val="50000"/>
                </a:spcBef>
              </a:pPr>
              <a:r>
                <a:rPr lang="en-AU" sz="1400" i="0">
                  <a:solidFill>
                    <a:schemeClr val="tx1"/>
                  </a:solidFill>
                </a:rPr>
                <a:t>2m</a:t>
              </a:r>
              <a:endParaRPr lang="en-US" sz="1400" i="0">
                <a:solidFill>
                  <a:schemeClr val="tx1"/>
                </a:solidFill>
              </a:endParaRPr>
            </a:p>
          </p:txBody>
        </p:sp>
        <p:sp>
          <p:nvSpPr>
            <p:cNvPr id="35858" name="Text Box 52"/>
            <p:cNvSpPr txBox="1">
              <a:spLocks noChangeArrowheads="1"/>
            </p:cNvSpPr>
            <p:nvPr/>
          </p:nvSpPr>
          <p:spPr bwMode="auto">
            <a:xfrm>
              <a:off x="4942" y="2746"/>
              <a:ext cx="324" cy="192"/>
            </a:xfrm>
            <a:prstGeom prst="rect">
              <a:avLst/>
            </a:prstGeom>
            <a:noFill/>
            <a:ln w="9525">
              <a:noFill/>
              <a:miter lim="800000"/>
              <a:headEnd/>
              <a:tailEnd/>
            </a:ln>
          </p:spPr>
          <p:txBody>
            <a:bodyPr>
              <a:spAutoFit/>
            </a:bodyPr>
            <a:lstStyle/>
            <a:p>
              <a:pPr>
                <a:spcBef>
                  <a:spcPct val="50000"/>
                </a:spcBef>
              </a:pPr>
              <a:r>
                <a:rPr lang="en-AU" sz="1400" i="0">
                  <a:solidFill>
                    <a:schemeClr val="tx1"/>
                  </a:solidFill>
                </a:rPr>
                <a:t>1m</a:t>
              </a:r>
              <a:endParaRPr lang="en-US" sz="1400" i="0">
                <a:solidFill>
                  <a:schemeClr val="tx1"/>
                </a:solidFill>
              </a:endParaRPr>
            </a:p>
          </p:txBody>
        </p:sp>
        <p:sp>
          <p:nvSpPr>
            <p:cNvPr id="35859" name="Text Box 53"/>
            <p:cNvSpPr txBox="1">
              <a:spLocks noChangeArrowheads="1"/>
            </p:cNvSpPr>
            <p:nvPr/>
          </p:nvSpPr>
          <p:spPr bwMode="auto">
            <a:xfrm>
              <a:off x="4002" y="3228"/>
              <a:ext cx="858" cy="231"/>
            </a:xfrm>
            <a:prstGeom prst="rect">
              <a:avLst/>
            </a:prstGeom>
            <a:noFill/>
            <a:ln w="9525">
              <a:noFill/>
              <a:miter lim="800000"/>
              <a:headEnd/>
              <a:tailEnd/>
            </a:ln>
          </p:spPr>
          <p:txBody>
            <a:bodyPr>
              <a:spAutoFit/>
            </a:bodyPr>
            <a:lstStyle/>
            <a:p>
              <a:pPr>
                <a:spcBef>
                  <a:spcPct val="50000"/>
                </a:spcBef>
              </a:pPr>
              <a:r>
                <a:rPr lang="en-AU" i="0">
                  <a:solidFill>
                    <a:schemeClr val="tx1"/>
                  </a:solidFill>
                </a:rPr>
                <a:t>“Map” View</a:t>
              </a:r>
              <a:endParaRPr lang="en-US" i="0">
                <a:solidFill>
                  <a:schemeClr val="tx1"/>
                </a:solidFill>
              </a:endParaRPr>
            </a:p>
          </p:txBody>
        </p:sp>
        <p:sp>
          <p:nvSpPr>
            <p:cNvPr id="35860" name="Text Box 54"/>
            <p:cNvSpPr txBox="1">
              <a:spLocks noChangeArrowheads="1"/>
            </p:cNvSpPr>
            <p:nvPr/>
          </p:nvSpPr>
          <p:spPr bwMode="auto">
            <a:xfrm>
              <a:off x="688" y="3244"/>
              <a:ext cx="1110" cy="231"/>
            </a:xfrm>
            <a:prstGeom prst="rect">
              <a:avLst/>
            </a:prstGeom>
            <a:noFill/>
            <a:ln w="9525">
              <a:noFill/>
              <a:miter lim="800000"/>
              <a:headEnd/>
              <a:tailEnd/>
            </a:ln>
          </p:spPr>
          <p:txBody>
            <a:bodyPr>
              <a:spAutoFit/>
            </a:bodyPr>
            <a:lstStyle/>
            <a:p>
              <a:pPr algn="ctr">
                <a:spcBef>
                  <a:spcPct val="50000"/>
                </a:spcBef>
              </a:pPr>
              <a:r>
                <a:rPr lang="en-AU" i="0">
                  <a:solidFill>
                    <a:schemeClr val="tx1"/>
                  </a:solidFill>
                </a:rPr>
                <a:t>“Block” View</a:t>
              </a:r>
              <a:endParaRPr lang="en-US" i="0">
                <a:solidFill>
                  <a:schemeClr val="tx1"/>
                </a:solidFill>
              </a:endParaRPr>
            </a:p>
          </p:txBody>
        </p:sp>
        <p:sp>
          <p:nvSpPr>
            <p:cNvPr id="35861" name="Line 55"/>
            <p:cNvSpPr>
              <a:spLocks noChangeShapeType="1"/>
            </p:cNvSpPr>
            <p:nvPr/>
          </p:nvSpPr>
          <p:spPr bwMode="auto">
            <a:xfrm flipH="1">
              <a:off x="414" y="1836"/>
              <a:ext cx="1224" cy="882"/>
            </a:xfrm>
            <a:prstGeom prst="line">
              <a:avLst/>
            </a:prstGeom>
            <a:noFill/>
            <a:ln w="9525">
              <a:solidFill>
                <a:schemeClr val="tx1"/>
              </a:solidFill>
              <a:round/>
              <a:headEnd/>
              <a:tailEnd type="triangle" w="med" len="med"/>
            </a:ln>
          </p:spPr>
          <p:txBody>
            <a:bodyPr/>
            <a:lstStyle/>
            <a:p>
              <a:endParaRPr lang="en-US"/>
            </a:p>
          </p:txBody>
        </p:sp>
        <p:sp>
          <p:nvSpPr>
            <p:cNvPr id="35862" name="Text Box 56"/>
            <p:cNvSpPr txBox="1">
              <a:spLocks noChangeArrowheads="1"/>
            </p:cNvSpPr>
            <p:nvPr/>
          </p:nvSpPr>
          <p:spPr bwMode="auto">
            <a:xfrm>
              <a:off x="396" y="1374"/>
              <a:ext cx="1722" cy="404"/>
            </a:xfrm>
            <a:prstGeom prst="rect">
              <a:avLst/>
            </a:prstGeom>
            <a:noFill/>
            <a:ln w="9525">
              <a:noFill/>
              <a:miter lim="800000"/>
              <a:headEnd/>
              <a:tailEnd/>
            </a:ln>
          </p:spPr>
          <p:txBody>
            <a:bodyPr>
              <a:spAutoFit/>
            </a:bodyPr>
            <a:lstStyle/>
            <a:p>
              <a:pPr>
                <a:spcBef>
                  <a:spcPct val="50000"/>
                </a:spcBef>
              </a:pPr>
              <a:r>
                <a:rPr lang="en-AU" i="0">
                  <a:solidFill>
                    <a:schemeClr val="tx1"/>
                  </a:solidFill>
                </a:rPr>
                <a:t>“Gradient” of the groundwater surface</a:t>
              </a:r>
              <a:endParaRPr lang="en-US" i="0">
                <a:solidFill>
                  <a:schemeClr val="tx1"/>
                </a:solidFill>
              </a:endParaRPr>
            </a:p>
          </p:txBody>
        </p:sp>
        <p:sp>
          <p:nvSpPr>
            <p:cNvPr id="35863" name="Text Box 57"/>
            <p:cNvSpPr txBox="1">
              <a:spLocks noChangeArrowheads="1"/>
            </p:cNvSpPr>
            <p:nvPr/>
          </p:nvSpPr>
          <p:spPr bwMode="auto">
            <a:xfrm>
              <a:off x="3520" y="1276"/>
              <a:ext cx="1722" cy="404"/>
            </a:xfrm>
            <a:prstGeom prst="rect">
              <a:avLst/>
            </a:prstGeom>
            <a:noFill/>
            <a:ln w="9525">
              <a:noFill/>
              <a:miter lim="800000"/>
              <a:headEnd/>
              <a:tailEnd/>
            </a:ln>
          </p:spPr>
          <p:txBody>
            <a:bodyPr>
              <a:spAutoFit/>
            </a:bodyPr>
            <a:lstStyle/>
            <a:p>
              <a:pPr algn="ctr">
                <a:spcBef>
                  <a:spcPct val="50000"/>
                </a:spcBef>
              </a:pPr>
              <a:r>
                <a:rPr lang="en-AU" i="0">
                  <a:solidFill>
                    <a:schemeClr val="tx1"/>
                  </a:solidFill>
                </a:rPr>
                <a:t>“Contours” of the groundwater surface</a:t>
              </a:r>
              <a:endParaRPr lang="en-US" i="0">
                <a:solidFill>
                  <a:schemeClr val="tx1"/>
                </a:solidFill>
              </a:endParaRPr>
            </a:p>
          </p:txBody>
        </p:sp>
        <p:sp>
          <p:nvSpPr>
            <p:cNvPr id="35864" name="Text Box 58"/>
            <p:cNvSpPr txBox="1">
              <a:spLocks noChangeArrowheads="1"/>
            </p:cNvSpPr>
            <p:nvPr/>
          </p:nvSpPr>
          <p:spPr bwMode="auto">
            <a:xfrm>
              <a:off x="2370" y="2838"/>
              <a:ext cx="1260" cy="231"/>
            </a:xfrm>
            <a:prstGeom prst="rect">
              <a:avLst/>
            </a:prstGeom>
            <a:noFill/>
            <a:ln w="9525">
              <a:noFill/>
              <a:miter lim="800000"/>
              <a:headEnd/>
              <a:tailEnd/>
            </a:ln>
          </p:spPr>
          <p:txBody>
            <a:bodyPr>
              <a:spAutoFit/>
            </a:bodyPr>
            <a:lstStyle/>
            <a:p>
              <a:pPr algn="ctr">
                <a:spcBef>
                  <a:spcPct val="50000"/>
                </a:spcBef>
              </a:pPr>
              <a:r>
                <a:rPr lang="en-AU" i="0">
                  <a:solidFill>
                    <a:schemeClr val="tx1"/>
                  </a:solidFill>
                </a:rPr>
                <a:t>“Head” elevation</a:t>
              </a:r>
              <a:endParaRPr lang="en-US" i="0">
                <a:solidFill>
                  <a:schemeClr val="tx1"/>
                </a:solidFill>
              </a:endParaRPr>
            </a:p>
          </p:txBody>
        </p:sp>
        <p:sp>
          <p:nvSpPr>
            <p:cNvPr id="35865" name="Line 59"/>
            <p:cNvSpPr>
              <a:spLocks noChangeShapeType="1"/>
            </p:cNvSpPr>
            <p:nvPr/>
          </p:nvSpPr>
          <p:spPr bwMode="auto">
            <a:xfrm flipH="1" flipV="1">
              <a:off x="2220" y="2886"/>
              <a:ext cx="246" cy="60"/>
            </a:xfrm>
            <a:prstGeom prst="line">
              <a:avLst/>
            </a:prstGeom>
            <a:noFill/>
            <a:ln w="9525">
              <a:solidFill>
                <a:schemeClr val="tx1"/>
              </a:solidFill>
              <a:round/>
              <a:headEnd/>
              <a:tailEnd type="triangle" w="med" len="med"/>
            </a:ln>
          </p:spPr>
          <p:txBody>
            <a:bodyPr/>
            <a:lstStyle/>
            <a:p>
              <a:endParaRPr lang="en-US"/>
            </a:p>
          </p:txBody>
        </p:sp>
      </p:grpSp>
      <p:sp>
        <p:nvSpPr>
          <p:cNvPr id="35843" name="Text Box 60"/>
          <p:cNvSpPr txBox="1">
            <a:spLocks noChangeArrowheads="1"/>
          </p:cNvSpPr>
          <p:nvPr/>
        </p:nvSpPr>
        <p:spPr bwMode="auto">
          <a:xfrm>
            <a:off x="638175" y="5600700"/>
            <a:ext cx="7334250" cy="822325"/>
          </a:xfrm>
          <a:prstGeom prst="rect">
            <a:avLst/>
          </a:prstGeom>
          <a:noFill/>
          <a:ln w="9525">
            <a:noFill/>
            <a:miter lim="800000"/>
            <a:headEnd/>
            <a:tailEnd/>
          </a:ln>
        </p:spPr>
        <p:txBody>
          <a:bodyPr>
            <a:spAutoFit/>
          </a:bodyPr>
          <a:lstStyle/>
          <a:p>
            <a:pPr algn="ctr">
              <a:spcBef>
                <a:spcPct val="50000"/>
              </a:spcBef>
            </a:pPr>
            <a:r>
              <a:rPr lang="en-AU" sz="2400" i="0">
                <a:solidFill>
                  <a:schemeClr val="tx1"/>
                </a:solidFill>
              </a:rPr>
              <a:t>Groundwater flows from the higher “head” to the lower “head” – the hydraulic head of the system.</a:t>
            </a:r>
            <a:endParaRPr lang="en-US" sz="2400" i="0">
              <a:solidFill>
                <a:schemeClr val="tx1"/>
              </a:solidFill>
            </a:endParaRPr>
          </a:p>
        </p:txBody>
      </p:sp>
      <p:grpSp>
        <p:nvGrpSpPr>
          <p:cNvPr id="200777" name="Group 73"/>
          <p:cNvGrpSpPr>
            <a:grpSpLocks/>
          </p:cNvGrpSpPr>
          <p:nvPr/>
        </p:nvGrpSpPr>
        <p:grpSpPr bwMode="auto">
          <a:xfrm>
            <a:off x="3598863" y="2927350"/>
            <a:ext cx="4216400" cy="2622550"/>
            <a:chOff x="2286" y="1662"/>
            <a:chExt cx="2656" cy="1652"/>
          </a:xfrm>
        </p:grpSpPr>
        <p:sp>
          <p:nvSpPr>
            <p:cNvPr id="35845" name="Text Box 69"/>
            <p:cNvSpPr txBox="1">
              <a:spLocks noChangeArrowheads="1"/>
            </p:cNvSpPr>
            <p:nvPr/>
          </p:nvSpPr>
          <p:spPr bwMode="auto">
            <a:xfrm>
              <a:off x="2286" y="2988"/>
              <a:ext cx="1554" cy="326"/>
            </a:xfrm>
            <a:prstGeom prst="rect">
              <a:avLst/>
            </a:prstGeom>
            <a:noFill/>
            <a:ln w="9525">
              <a:noFill/>
              <a:miter lim="800000"/>
              <a:headEnd/>
              <a:tailEnd/>
            </a:ln>
          </p:spPr>
          <p:txBody>
            <a:bodyPr>
              <a:spAutoFit/>
            </a:bodyPr>
            <a:lstStyle/>
            <a:p>
              <a:pPr algn="ctr">
                <a:spcBef>
                  <a:spcPct val="50000"/>
                </a:spcBef>
              </a:pPr>
              <a:r>
                <a:rPr lang="en-AU" sz="1400" i="0">
                  <a:solidFill>
                    <a:schemeClr val="folHlink"/>
                  </a:solidFill>
                </a:rPr>
                <a:t>Bores measure the head elevation at specific points</a:t>
              </a:r>
              <a:endParaRPr lang="en-US" sz="1400" i="0">
                <a:solidFill>
                  <a:schemeClr val="folHlink"/>
                </a:solidFill>
              </a:endParaRPr>
            </a:p>
          </p:txBody>
        </p:sp>
        <p:grpSp>
          <p:nvGrpSpPr>
            <p:cNvPr id="35846" name="Group 72"/>
            <p:cNvGrpSpPr>
              <a:grpSpLocks/>
            </p:cNvGrpSpPr>
            <p:nvPr/>
          </p:nvGrpSpPr>
          <p:grpSpPr bwMode="auto">
            <a:xfrm>
              <a:off x="3948" y="1662"/>
              <a:ext cx="994" cy="834"/>
              <a:chOff x="3948" y="1662"/>
              <a:chExt cx="994" cy="834"/>
            </a:xfrm>
          </p:grpSpPr>
          <p:sp>
            <p:nvSpPr>
              <p:cNvPr id="35848" name="Oval 62"/>
              <p:cNvSpPr>
                <a:spLocks noChangeArrowheads="1"/>
              </p:cNvSpPr>
              <p:nvPr/>
            </p:nvSpPr>
            <p:spPr bwMode="auto">
              <a:xfrm>
                <a:off x="3954" y="1764"/>
                <a:ext cx="56" cy="60"/>
              </a:xfrm>
              <a:prstGeom prst="ellipse">
                <a:avLst/>
              </a:prstGeom>
              <a:solidFill>
                <a:srgbClr val="0000FF"/>
              </a:solidFill>
              <a:ln w="9525">
                <a:solidFill>
                  <a:schemeClr val="tx1"/>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35849" name="Oval 64"/>
              <p:cNvSpPr>
                <a:spLocks noChangeArrowheads="1"/>
              </p:cNvSpPr>
              <p:nvPr/>
            </p:nvSpPr>
            <p:spPr bwMode="auto">
              <a:xfrm>
                <a:off x="4606" y="1954"/>
                <a:ext cx="56" cy="60"/>
              </a:xfrm>
              <a:prstGeom prst="ellipse">
                <a:avLst/>
              </a:prstGeom>
              <a:solidFill>
                <a:srgbClr val="0000FF"/>
              </a:solidFill>
              <a:ln w="9525">
                <a:solidFill>
                  <a:schemeClr val="tx1"/>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35850" name="Oval 65"/>
              <p:cNvSpPr>
                <a:spLocks noChangeArrowheads="1"/>
              </p:cNvSpPr>
              <p:nvPr/>
            </p:nvSpPr>
            <p:spPr bwMode="auto">
              <a:xfrm>
                <a:off x="4324" y="2368"/>
                <a:ext cx="56" cy="60"/>
              </a:xfrm>
              <a:prstGeom prst="ellipse">
                <a:avLst/>
              </a:prstGeom>
              <a:solidFill>
                <a:srgbClr val="0000FF"/>
              </a:solidFill>
              <a:ln w="9525">
                <a:solidFill>
                  <a:schemeClr val="tx1"/>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35851" name="Text Box 66"/>
              <p:cNvSpPr txBox="1">
                <a:spLocks noChangeArrowheads="1"/>
              </p:cNvSpPr>
              <p:nvPr/>
            </p:nvSpPr>
            <p:spPr bwMode="auto">
              <a:xfrm>
                <a:off x="3948" y="1662"/>
                <a:ext cx="264" cy="173"/>
              </a:xfrm>
              <a:prstGeom prst="rect">
                <a:avLst/>
              </a:prstGeom>
              <a:noFill/>
              <a:ln w="9525">
                <a:noFill/>
                <a:miter lim="800000"/>
                <a:headEnd/>
                <a:tailEnd/>
              </a:ln>
            </p:spPr>
            <p:txBody>
              <a:bodyPr>
                <a:spAutoFit/>
              </a:bodyPr>
              <a:lstStyle/>
              <a:p>
                <a:pPr>
                  <a:spcBef>
                    <a:spcPct val="50000"/>
                  </a:spcBef>
                </a:pPr>
                <a:r>
                  <a:rPr lang="en-AU" sz="1200" i="0">
                    <a:solidFill>
                      <a:schemeClr val="tx1"/>
                    </a:solidFill>
                  </a:rPr>
                  <a:t>3m</a:t>
                </a:r>
                <a:endParaRPr lang="en-US" sz="1200" i="0">
                  <a:solidFill>
                    <a:schemeClr val="tx1"/>
                  </a:solidFill>
                </a:endParaRPr>
              </a:p>
            </p:txBody>
          </p:sp>
          <p:sp>
            <p:nvSpPr>
              <p:cNvPr id="35852" name="Text Box 67"/>
              <p:cNvSpPr txBox="1">
                <a:spLocks noChangeArrowheads="1"/>
              </p:cNvSpPr>
              <p:nvPr/>
            </p:nvSpPr>
            <p:spPr bwMode="auto">
              <a:xfrm>
                <a:off x="4606" y="1852"/>
                <a:ext cx="336" cy="173"/>
              </a:xfrm>
              <a:prstGeom prst="rect">
                <a:avLst/>
              </a:prstGeom>
              <a:noFill/>
              <a:ln w="9525">
                <a:noFill/>
                <a:miter lim="800000"/>
                <a:headEnd/>
                <a:tailEnd/>
              </a:ln>
            </p:spPr>
            <p:txBody>
              <a:bodyPr>
                <a:spAutoFit/>
              </a:bodyPr>
              <a:lstStyle/>
              <a:p>
                <a:pPr>
                  <a:spcBef>
                    <a:spcPct val="50000"/>
                  </a:spcBef>
                </a:pPr>
                <a:r>
                  <a:rPr lang="en-AU" sz="1200" i="0">
                    <a:solidFill>
                      <a:schemeClr val="tx1"/>
                    </a:solidFill>
                  </a:rPr>
                  <a:t>2.5m</a:t>
                </a:r>
                <a:endParaRPr lang="en-US" sz="1200" i="0">
                  <a:solidFill>
                    <a:schemeClr val="tx1"/>
                  </a:solidFill>
                </a:endParaRPr>
              </a:p>
            </p:txBody>
          </p:sp>
          <p:sp>
            <p:nvSpPr>
              <p:cNvPr id="35853" name="Text Box 68"/>
              <p:cNvSpPr txBox="1">
                <a:spLocks noChangeArrowheads="1"/>
              </p:cNvSpPr>
              <p:nvPr/>
            </p:nvSpPr>
            <p:spPr bwMode="auto">
              <a:xfrm>
                <a:off x="4306" y="2260"/>
                <a:ext cx="366" cy="173"/>
              </a:xfrm>
              <a:prstGeom prst="rect">
                <a:avLst/>
              </a:prstGeom>
              <a:noFill/>
              <a:ln w="9525">
                <a:noFill/>
                <a:miter lim="800000"/>
                <a:headEnd/>
                <a:tailEnd/>
              </a:ln>
            </p:spPr>
            <p:txBody>
              <a:bodyPr>
                <a:spAutoFit/>
              </a:bodyPr>
              <a:lstStyle/>
              <a:p>
                <a:pPr>
                  <a:spcBef>
                    <a:spcPct val="50000"/>
                  </a:spcBef>
                </a:pPr>
                <a:r>
                  <a:rPr lang="en-AU" sz="1200" i="0">
                    <a:solidFill>
                      <a:schemeClr val="tx1"/>
                    </a:solidFill>
                  </a:rPr>
                  <a:t>1.5m</a:t>
                </a:r>
                <a:endParaRPr lang="en-US" sz="1200" i="0">
                  <a:solidFill>
                    <a:schemeClr val="tx1"/>
                  </a:solidFill>
                </a:endParaRPr>
              </a:p>
            </p:txBody>
          </p:sp>
          <p:sp>
            <p:nvSpPr>
              <p:cNvPr id="35854" name="Oval 70"/>
              <p:cNvSpPr>
                <a:spLocks noChangeArrowheads="1"/>
              </p:cNvSpPr>
              <p:nvPr/>
            </p:nvSpPr>
            <p:spPr bwMode="auto">
              <a:xfrm>
                <a:off x="4236" y="2250"/>
                <a:ext cx="384" cy="246"/>
              </a:xfrm>
              <a:prstGeom prst="ellipse">
                <a:avLst/>
              </a:prstGeom>
              <a:noFill/>
              <a:ln w="9525">
                <a:solidFill>
                  <a:srgbClr val="99CCFF"/>
                </a:solidFill>
                <a:prstDash val="dashDot"/>
                <a:round/>
                <a:headEnd/>
                <a:tailEnd/>
              </a:ln>
            </p:spPr>
            <p:txBody>
              <a:bodyPr wrap="none" anchor="ctr"/>
              <a:lstStyle/>
              <a:p>
                <a:pPr>
                  <a:lnSpc>
                    <a:spcPct val="31000"/>
                  </a:lnSpc>
                  <a:buClr>
                    <a:srgbClr val="000000"/>
                  </a:buClr>
                  <a:buSzPct val="100000"/>
                  <a:buFont typeface="Times New Roman" pitchFamily="18" charset="0"/>
                  <a:buNone/>
                </a:pPr>
                <a:endParaRPr lang="en-US"/>
              </a:p>
            </p:txBody>
          </p:sp>
        </p:grpSp>
        <p:sp>
          <p:nvSpPr>
            <p:cNvPr id="35847" name="Line 71"/>
            <p:cNvSpPr>
              <a:spLocks noChangeShapeType="1"/>
            </p:cNvSpPr>
            <p:nvPr/>
          </p:nvSpPr>
          <p:spPr bwMode="auto">
            <a:xfrm flipV="1">
              <a:off x="3702" y="2436"/>
              <a:ext cx="558" cy="576"/>
            </a:xfrm>
            <a:prstGeom prst="line">
              <a:avLst/>
            </a:prstGeom>
            <a:noFill/>
            <a:ln w="9525">
              <a:solidFill>
                <a:schemeClr val="accent1"/>
              </a:solidFill>
              <a:round/>
              <a:headEnd/>
              <a:tailEnd/>
            </a:ln>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00777"/>
                                        </p:tgtEl>
                                        <p:attrNameLst>
                                          <p:attrName>style.visibility</p:attrName>
                                        </p:attrNameLst>
                                      </p:cBhvr>
                                      <p:to>
                                        <p:strVal val="visible"/>
                                      </p:to>
                                    </p:set>
                                    <p:animEffect transition="in" filter="dissolve">
                                      <p:cBhvr>
                                        <p:cTn id="7" dur="500"/>
                                        <p:tgtEl>
                                          <p:spTgt spid="2007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a:xfrm>
            <a:off x="438150" y="806450"/>
            <a:ext cx="4622800" cy="493713"/>
          </a:xfrm>
        </p:spPr>
        <p:txBody>
          <a:bodyPr wrap="none"/>
          <a:lstStyle/>
          <a:p>
            <a:r>
              <a:rPr lang="en-AU" smtClean="0"/>
              <a:t>Aquifers and Aquitards</a:t>
            </a:r>
            <a:endParaRPr lang="en-US" smtClean="0"/>
          </a:p>
        </p:txBody>
      </p:sp>
      <p:sp>
        <p:nvSpPr>
          <p:cNvPr id="37890" name="Rectangle 3"/>
          <p:cNvSpPr>
            <a:spLocks noGrp="1" noChangeArrowheads="1"/>
          </p:cNvSpPr>
          <p:nvPr>
            <p:ph type="body" idx="1"/>
          </p:nvPr>
        </p:nvSpPr>
        <p:spPr>
          <a:xfrm>
            <a:off x="438150" y="1884363"/>
            <a:ext cx="7561263" cy="4392612"/>
          </a:xfrm>
        </p:spPr>
        <p:txBody>
          <a:bodyPr/>
          <a:lstStyle/>
          <a:p>
            <a:pPr marL="1438275" indent="-1438275">
              <a:spcBef>
                <a:spcPct val="80000"/>
              </a:spcBef>
            </a:pPr>
            <a:r>
              <a:rPr lang="en-AU" b="1" smtClean="0"/>
              <a:t>Aquifer:</a:t>
            </a:r>
            <a:r>
              <a:rPr lang="en-AU" smtClean="0"/>
              <a:t> 	A layer of soil or rock that has relatively higher porosity and permeability than the surrounding layers, enabling usable quantities of water to be extracted.</a:t>
            </a:r>
          </a:p>
          <a:p>
            <a:pPr marL="1438275" indent="-1438275">
              <a:spcBef>
                <a:spcPct val="80000"/>
              </a:spcBef>
            </a:pPr>
            <a:r>
              <a:rPr lang="en-AU" b="1" smtClean="0"/>
              <a:t>Aquitard:</a:t>
            </a:r>
            <a:r>
              <a:rPr lang="en-AU" smtClean="0"/>
              <a:t>	A layer of soil or rock that has relatively lower porosity and/or permeability than the surrounding layers, limiting the movement of groundwater through it and the capacity to extract useable quantities of water.</a:t>
            </a:r>
            <a:endParaRPr lang="en-US"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p:nvPr>
        </p:nvSpPr>
        <p:spPr>
          <a:xfrm>
            <a:off x="438150" y="798513"/>
            <a:ext cx="5848350" cy="987425"/>
          </a:xfrm>
        </p:spPr>
        <p:txBody>
          <a:bodyPr/>
          <a:lstStyle/>
          <a:p>
            <a:r>
              <a:rPr lang="en-AU" smtClean="0"/>
              <a:t>Confined and Unconfined Aquifers</a:t>
            </a:r>
            <a:endParaRPr lang="en-US" smtClean="0"/>
          </a:p>
        </p:txBody>
      </p:sp>
      <p:pic>
        <p:nvPicPr>
          <p:cNvPr id="39938" name="Picture 4" descr="unconfined_aq"/>
          <p:cNvPicPr>
            <a:picLocks noChangeAspect="1" noChangeArrowheads="1"/>
          </p:cNvPicPr>
          <p:nvPr/>
        </p:nvPicPr>
        <p:blipFill>
          <a:blip r:embed="rId3"/>
          <a:srcRect/>
          <a:stretch>
            <a:fillRect/>
          </a:stretch>
        </p:blipFill>
        <p:spPr bwMode="auto">
          <a:xfrm>
            <a:off x="425450" y="1885950"/>
            <a:ext cx="4559300" cy="1993900"/>
          </a:xfrm>
          <a:prstGeom prst="rect">
            <a:avLst/>
          </a:prstGeom>
          <a:noFill/>
          <a:ln w="9525">
            <a:noFill/>
            <a:miter lim="800000"/>
            <a:headEnd/>
            <a:tailEnd/>
          </a:ln>
        </p:spPr>
      </p:pic>
      <p:pic>
        <p:nvPicPr>
          <p:cNvPr id="39939" name="Picture 5" descr="confined_aq"/>
          <p:cNvPicPr>
            <a:picLocks noChangeAspect="1" noChangeArrowheads="1"/>
          </p:cNvPicPr>
          <p:nvPr/>
        </p:nvPicPr>
        <p:blipFill>
          <a:blip r:embed="rId4"/>
          <a:srcRect/>
          <a:stretch>
            <a:fillRect/>
          </a:stretch>
        </p:blipFill>
        <p:spPr bwMode="auto">
          <a:xfrm>
            <a:off x="3883025" y="3581400"/>
            <a:ext cx="4343400" cy="2806700"/>
          </a:xfrm>
          <a:prstGeom prst="rect">
            <a:avLst/>
          </a:prstGeom>
          <a:noFill/>
          <a:ln w="9525">
            <a:noFill/>
            <a:miter lim="800000"/>
            <a:headEnd/>
            <a:tailEnd/>
          </a:ln>
        </p:spPr>
      </p:pic>
      <p:sp>
        <p:nvSpPr>
          <p:cNvPr id="39940" name="Text Box 6"/>
          <p:cNvSpPr txBox="1">
            <a:spLocks noChangeArrowheads="1"/>
          </p:cNvSpPr>
          <p:nvPr/>
        </p:nvSpPr>
        <p:spPr bwMode="auto">
          <a:xfrm>
            <a:off x="5248275" y="1908175"/>
            <a:ext cx="2495550" cy="1465263"/>
          </a:xfrm>
          <a:prstGeom prst="rect">
            <a:avLst/>
          </a:prstGeom>
          <a:noFill/>
          <a:ln w="9525">
            <a:noFill/>
            <a:miter lim="800000"/>
            <a:headEnd/>
            <a:tailEnd/>
          </a:ln>
        </p:spPr>
        <p:txBody>
          <a:bodyPr>
            <a:spAutoFit/>
          </a:bodyPr>
          <a:lstStyle/>
          <a:p>
            <a:pPr>
              <a:spcBef>
                <a:spcPct val="50000"/>
              </a:spcBef>
            </a:pPr>
            <a:r>
              <a:rPr lang="en-AU" b="1" i="0">
                <a:solidFill>
                  <a:schemeClr val="tx1"/>
                </a:solidFill>
              </a:rPr>
              <a:t>Unconfined:</a:t>
            </a:r>
            <a:r>
              <a:rPr lang="en-AU" i="0">
                <a:solidFill>
                  <a:schemeClr val="tx1"/>
                </a:solidFill>
              </a:rPr>
              <a:t>  Surface of the groundwater (the watertable) is at the same pressure as the atmosphere.</a:t>
            </a:r>
            <a:endParaRPr lang="en-US" i="0">
              <a:solidFill>
                <a:schemeClr val="tx1"/>
              </a:solidFill>
            </a:endParaRPr>
          </a:p>
        </p:txBody>
      </p:sp>
      <p:sp>
        <p:nvSpPr>
          <p:cNvPr id="39941" name="Text Box 7"/>
          <p:cNvSpPr txBox="1">
            <a:spLocks noChangeArrowheads="1"/>
          </p:cNvSpPr>
          <p:nvPr/>
        </p:nvSpPr>
        <p:spPr bwMode="auto">
          <a:xfrm>
            <a:off x="482600" y="3990975"/>
            <a:ext cx="3333750" cy="2563813"/>
          </a:xfrm>
          <a:prstGeom prst="rect">
            <a:avLst/>
          </a:prstGeom>
          <a:noFill/>
          <a:ln w="9525">
            <a:noFill/>
            <a:miter lim="800000"/>
            <a:headEnd/>
            <a:tailEnd/>
          </a:ln>
        </p:spPr>
        <p:txBody>
          <a:bodyPr>
            <a:spAutoFit/>
          </a:bodyPr>
          <a:lstStyle/>
          <a:p>
            <a:pPr>
              <a:spcBef>
                <a:spcPct val="50000"/>
              </a:spcBef>
            </a:pPr>
            <a:r>
              <a:rPr lang="en-AU" b="1" i="0">
                <a:solidFill>
                  <a:schemeClr val="tx1"/>
                </a:solidFill>
              </a:rPr>
              <a:t>Confined:</a:t>
            </a:r>
            <a:r>
              <a:rPr lang="en-AU" i="0">
                <a:solidFill>
                  <a:schemeClr val="tx1"/>
                </a:solidFill>
              </a:rPr>
              <a:t>  The “surface” of the groundwater is constrained by an aquitard.  It is under pressure.  If the aquifer is tapped, the water level will rise up in response to the pressure.  The distribution of pressure is called the </a:t>
            </a:r>
            <a:r>
              <a:rPr lang="en-AU" b="1" i="0">
                <a:solidFill>
                  <a:schemeClr val="tx1"/>
                </a:solidFill>
              </a:rPr>
              <a:t>potentiometric</a:t>
            </a:r>
            <a:r>
              <a:rPr lang="en-AU" i="0">
                <a:solidFill>
                  <a:schemeClr val="tx1"/>
                </a:solidFill>
              </a:rPr>
              <a:t> surface. </a:t>
            </a:r>
            <a:endParaRPr lang="en-US" i="0">
              <a:solidFill>
                <a:schemeClr val="tx1"/>
              </a:solidFill>
            </a:endParaRPr>
          </a:p>
        </p:txBody>
      </p:sp>
      <p:sp>
        <p:nvSpPr>
          <p:cNvPr id="39942" name="Freeform 8"/>
          <p:cNvSpPr>
            <a:spLocks/>
          </p:cNvSpPr>
          <p:nvPr/>
        </p:nvSpPr>
        <p:spPr bwMode="auto">
          <a:xfrm>
            <a:off x="438150" y="2708275"/>
            <a:ext cx="4533900" cy="714375"/>
          </a:xfrm>
          <a:custGeom>
            <a:avLst/>
            <a:gdLst>
              <a:gd name="T0" fmla="*/ 0 w 2856"/>
              <a:gd name="T1" fmla="*/ 38100 h 450"/>
              <a:gd name="T2" fmla="*/ 447675 w 2856"/>
              <a:gd name="T3" fmla="*/ 19050 h 450"/>
              <a:gd name="T4" fmla="*/ 1590675 w 2856"/>
              <a:gd name="T5" fmla="*/ 47625 h 450"/>
              <a:gd name="T6" fmla="*/ 2219325 w 2856"/>
              <a:gd name="T7" fmla="*/ 76200 h 450"/>
              <a:gd name="T8" fmla="*/ 3124200 w 2856"/>
              <a:gd name="T9" fmla="*/ 66675 h 450"/>
              <a:gd name="T10" fmla="*/ 3714750 w 2856"/>
              <a:gd name="T11" fmla="*/ 57150 h 450"/>
              <a:gd name="T12" fmla="*/ 4533900 w 2856"/>
              <a:gd name="T13" fmla="*/ 0 h 450"/>
              <a:gd name="T14" fmla="*/ 4533900 w 2856"/>
              <a:gd name="T15" fmla="*/ 647700 h 450"/>
              <a:gd name="T16" fmla="*/ 3771900 w 2856"/>
              <a:gd name="T17" fmla="*/ 704850 h 450"/>
              <a:gd name="T18" fmla="*/ 3209925 w 2856"/>
              <a:gd name="T19" fmla="*/ 695325 h 450"/>
              <a:gd name="T20" fmla="*/ 2562225 w 2856"/>
              <a:gd name="T21" fmla="*/ 704850 h 450"/>
              <a:gd name="T22" fmla="*/ 1971675 w 2856"/>
              <a:gd name="T23" fmla="*/ 714375 h 450"/>
              <a:gd name="T24" fmla="*/ 1295400 w 2856"/>
              <a:gd name="T25" fmla="*/ 685800 h 450"/>
              <a:gd name="T26" fmla="*/ 619125 w 2856"/>
              <a:gd name="T27" fmla="*/ 666750 h 450"/>
              <a:gd name="T28" fmla="*/ 0 w 2856"/>
              <a:gd name="T29" fmla="*/ 685800 h 450"/>
              <a:gd name="T30" fmla="*/ 0 w 2856"/>
              <a:gd name="T31" fmla="*/ 38100 h 45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856"/>
              <a:gd name="T49" fmla="*/ 0 h 450"/>
              <a:gd name="T50" fmla="*/ 2856 w 2856"/>
              <a:gd name="T51" fmla="*/ 450 h 45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856" h="450">
                <a:moveTo>
                  <a:pt x="0" y="24"/>
                </a:moveTo>
                <a:lnTo>
                  <a:pt x="282" y="12"/>
                </a:lnTo>
                <a:lnTo>
                  <a:pt x="1002" y="30"/>
                </a:lnTo>
                <a:lnTo>
                  <a:pt x="1398" y="48"/>
                </a:lnTo>
                <a:lnTo>
                  <a:pt x="1968" y="42"/>
                </a:lnTo>
                <a:lnTo>
                  <a:pt x="2340" y="36"/>
                </a:lnTo>
                <a:lnTo>
                  <a:pt x="2856" y="0"/>
                </a:lnTo>
                <a:lnTo>
                  <a:pt x="2856" y="408"/>
                </a:lnTo>
                <a:lnTo>
                  <a:pt x="2376" y="444"/>
                </a:lnTo>
                <a:lnTo>
                  <a:pt x="2022" y="438"/>
                </a:lnTo>
                <a:lnTo>
                  <a:pt x="1614" y="444"/>
                </a:lnTo>
                <a:lnTo>
                  <a:pt x="1242" y="450"/>
                </a:lnTo>
                <a:lnTo>
                  <a:pt x="816" y="432"/>
                </a:lnTo>
                <a:lnTo>
                  <a:pt x="390" y="420"/>
                </a:lnTo>
                <a:lnTo>
                  <a:pt x="0" y="432"/>
                </a:lnTo>
                <a:lnTo>
                  <a:pt x="0" y="24"/>
                </a:lnTo>
                <a:close/>
              </a:path>
            </a:pathLst>
          </a:custGeom>
          <a:solidFill>
            <a:schemeClr val="accent1">
              <a:alpha val="25882"/>
            </a:schemeClr>
          </a:solidFill>
          <a:ln w="9525">
            <a:noFill/>
            <a:round/>
            <a:headEnd/>
            <a:tailEnd/>
          </a:ln>
        </p:spPr>
        <p:txBody>
          <a:bodyPr/>
          <a:lstStyle/>
          <a:p>
            <a:endParaRPr lang="en-US"/>
          </a:p>
        </p:txBody>
      </p:sp>
      <p:sp>
        <p:nvSpPr>
          <p:cNvPr id="39943" name="Line 9"/>
          <p:cNvSpPr>
            <a:spLocks noChangeShapeType="1"/>
          </p:cNvSpPr>
          <p:nvPr/>
        </p:nvSpPr>
        <p:spPr bwMode="auto">
          <a:xfrm flipH="1">
            <a:off x="4610100" y="2146300"/>
            <a:ext cx="666750" cy="590550"/>
          </a:xfrm>
          <a:prstGeom prst="line">
            <a:avLst/>
          </a:prstGeom>
          <a:noFill/>
          <a:ln w="9525">
            <a:solidFill>
              <a:schemeClr val="tx1"/>
            </a:solidFill>
            <a:round/>
            <a:headEnd/>
            <a:tailEnd type="triangle" w="med" len="med"/>
          </a:ln>
        </p:spPr>
        <p:txBody>
          <a:bodyPr/>
          <a:lstStyle/>
          <a:p>
            <a:endParaRPr lang="en-US"/>
          </a:p>
        </p:txBody>
      </p:sp>
      <p:sp>
        <p:nvSpPr>
          <p:cNvPr id="39944" name="Line 10"/>
          <p:cNvSpPr>
            <a:spLocks noChangeShapeType="1"/>
          </p:cNvSpPr>
          <p:nvPr/>
        </p:nvSpPr>
        <p:spPr bwMode="auto">
          <a:xfrm>
            <a:off x="3629025" y="4918075"/>
            <a:ext cx="1600200" cy="9525"/>
          </a:xfrm>
          <a:prstGeom prst="line">
            <a:avLst/>
          </a:prstGeom>
          <a:noFill/>
          <a:ln w="9525">
            <a:solidFill>
              <a:schemeClr val="tx1"/>
            </a:solidFill>
            <a:round/>
            <a:headEnd/>
            <a:tailEnd type="triangle" w="med" len="med"/>
          </a:ln>
        </p:spPr>
        <p:txBody>
          <a:bodyPr/>
          <a:lstStyle/>
          <a:p>
            <a:endParaRPr lang="en-US"/>
          </a:p>
        </p:txBody>
      </p:sp>
      <p:sp>
        <p:nvSpPr>
          <p:cNvPr id="39945" name="Line 11"/>
          <p:cNvSpPr>
            <a:spLocks noChangeShapeType="1"/>
          </p:cNvSpPr>
          <p:nvPr/>
        </p:nvSpPr>
        <p:spPr bwMode="auto">
          <a:xfrm>
            <a:off x="4619625" y="4175125"/>
            <a:ext cx="9525" cy="1200150"/>
          </a:xfrm>
          <a:prstGeom prst="line">
            <a:avLst/>
          </a:prstGeom>
          <a:noFill/>
          <a:ln w="9525">
            <a:solidFill>
              <a:schemeClr val="tx1"/>
            </a:solidFill>
            <a:prstDash val="dash"/>
            <a:round/>
            <a:headEnd/>
            <a:tailEnd/>
          </a:ln>
        </p:spPr>
        <p:txBody>
          <a:bodyPr/>
          <a:lstStyle/>
          <a:p>
            <a:endParaRPr lang="en-US"/>
          </a:p>
        </p:txBody>
      </p:sp>
      <p:sp>
        <p:nvSpPr>
          <p:cNvPr id="39946" name="Text Box 12"/>
          <p:cNvSpPr txBox="1">
            <a:spLocks noChangeArrowheads="1"/>
          </p:cNvSpPr>
          <p:nvPr/>
        </p:nvSpPr>
        <p:spPr bwMode="auto">
          <a:xfrm>
            <a:off x="5505450" y="4137025"/>
            <a:ext cx="2124075" cy="304800"/>
          </a:xfrm>
          <a:prstGeom prst="rect">
            <a:avLst/>
          </a:prstGeom>
          <a:noFill/>
          <a:ln w="9525">
            <a:noFill/>
            <a:miter lim="800000"/>
            <a:headEnd/>
            <a:tailEnd/>
          </a:ln>
        </p:spPr>
        <p:txBody>
          <a:bodyPr>
            <a:spAutoFit/>
          </a:bodyPr>
          <a:lstStyle/>
          <a:p>
            <a:pPr>
              <a:spcBef>
                <a:spcPct val="50000"/>
              </a:spcBef>
            </a:pPr>
            <a:r>
              <a:rPr lang="en-AU" sz="1400" i="0">
                <a:solidFill>
                  <a:schemeClr val="tx1"/>
                </a:solidFill>
              </a:rPr>
              <a:t>Confined zone</a:t>
            </a:r>
            <a:endParaRPr lang="en-US" sz="1400" i="0">
              <a:solidFill>
                <a:schemeClr val="tx1"/>
              </a:solidFill>
            </a:endParaRPr>
          </a:p>
        </p:txBody>
      </p:sp>
      <p:sp>
        <p:nvSpPr>
          <p:cNvPr id="39947" name="Line 13"/>
          <p:cNvSpPr>
            <a:spLocks noChangeShapeType="1"/>
          </p:cNvSpPr>
          <p:nvPr/>
        </p:nvSpPr>
        <p:spPr bwMode="auto">
          <a:xfrm>
            <a:off x="4619625" y="4470400"/>
            <a:ext cx="3457575" cy="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a:xfrm>
            <a:off x="438150" y="806450"/>
            <a:ext cx="4445000" cy="493713"/>
          </a:xfrm>
        </p:spPr>
        <p:txBody>
          <a:bodyPr wrap="none"/>
          <a:lstStyle/>
          <a:p>
            <a:r>
              <a:rPr lang="en-AU" smtClean="0"/>
              <a:t>Multi-Aquifer Systems</a:t>
            </a:r>
            <a:endParaRPr lang="en-US" smtClean="0"/>
          </a:p>
        </p:txBody>
      </p:sp>
      <p:pic>
        <p:nvPicPr>
          <p:cNvPr id="41986" name="Picture 4"/>
          <p:cNvPicPr>
            <a:picLocks noChangeAspect="1" noChangeArrowheads="1"/>
          </p:cNvPicPr>
          <p:nvPr/>
        </p:nvPicPr>
        <p:blipFill>
          <a:blip r:embed="rId3"/>
          <a:srcRect/>
          <a:stretch>
            <a:fillRect/>
          </a:stretch>
        </p:blipFill>
        <p:spPr bwMode="auto">
          <a:xfrm>
            <a:off x="423863" y="1884363"/>
            <a:ext cx="7924800" cy="3225800"/>
          </a:xfrm>
          <a:prstGeom prst="rect">
            <a:avLst/>
          </a:prstGeom>
          <a:noFill/>
          <a:ln w="9525">
            <a:noFill/>
            <a:miter lim="800000"/>
            <a:headEnd/>
            <a:tailEnd/>
          </a:ln>
        </p:spPr>
      </p:pic>
      <p:sp>
        <p:nvSpPr>
          <p:cNvPr id="41987" name="Text Box 5"/>
          <p:cNvSpPr txBox="1">
            <a:spLocks noChangeArrowheads="1"/>
          </p:cNvSpPr>
          <p:nvPr/>
        </p:nvSpPr>
        <p:spPr bwMode="auto">
          <a:xfrm>
            <a:off x="423863" y="5167313"/>
            <a:ext cx="6051550" cy="228600"/>
          </a:xfrm>
          <a:prstGeom prst="rect">
            <a:avLst/>
          </a:prstGeom>
          <a:noFill/>
          <a:ln w="9525">
            <a:noFill/>
            <a:miter lim="800000"/>
            <a:headEnd/>
            <a:tailEnd/>
          </a:ln>
        </p:spPr>
        <p:txBody>
          <a:bodyPr wrap="none">
            <a:spAutoFit/>
          </a:bodyPr>
          <a:lstStyle/>
          <a:p>
            <a:pPr>
              <a:spcBef>
                <a:spcPct val="50000"/>
              </a:spcBef>
            </a:pPr>
            <a:r>
              <a:rPr lang="en-AU" sz="900" i="0">
                <a:solidFill>
                  <a:schemeClr val="tx1"/>
                </a:solidFill>
              </a:rPr>
              <a:t>Source:  Groundwater Notes, Department of Sustainability and Environment, Victoria </a:t>
            </a:r>
            <a:r>
              <a:rPr lang="en-US" sz="900" i="0">
                <a:solidFill>
                  <a:schemeClr val="tx1"/>
                </a:solidFill>
              </a:rPr>
              <a:t>http://www.ourwater.vic.gov.au</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title"/>
          </p:nvPr>
        </p:nvSpPr>
        <p:spPr>
          <a:xfrm>
            <a:off x="438150" y="754063"/>
            <a:ext cx="6602413" cy="493712"/>
          </a:xfrm>
        </p:spPr>
        <p:txBody>
          <a:bodyPr/>
          <a:lstStyle/>
          <a:p>
            <a:r>
              <a:rPr lang="en-AU" smtClean="0"/>
              <a:t>Scale of groundwater systems</a:t>
            </a:r>
            <a:endParaRPr lang="en-US" smtClean="0"/>
          </a:p>
        </p:txBody>
      </p:sp>
      <p:pic>
        <p:nvPicPr>
          <p:cNvPr id="44034" name="Picture 4"/>
          <p:cNvPicPr>
            <a:picLocks noChangeAspect="1" noChangeArrowheads="1"/>
          </p:cNvPicPr>
          <p:nvPr/>
        </p:nvPicPr>
        <p:blipFill>
          <a:blip r:embed="rId3"/>
          <a:srcRect/>
          <a:stretch>
            <a:fillRect/>
          </a:stretch>
        </p:blipFill>
        <p:spPr bwMode="auto">
          <a:xfrm>
            <a:off x="5299075" y="2190750"/>
            <a:ext cx="2919413" cy="2254250"/>
          </a:xfrm>
          <a:prstGeom prst="rect">
            <a:avLst/>
          </a:prstGeom>
          <a:noFill/>
          <a:ln w="9525">
            <a:noFill/>
            <a:miter lim="800000"/>
            <a:headEnd/>
            <a:tailEnd/>
          </a:ln>
        </p:spPr>
      </p:pic>
      <p:pic>
        <p:nvPicPr>
          <p:cNvPr id="44035" name="Picture 5" descr="flow_systems_2"/>
          <p:cNvPicPr>
            <a:picLocks noChangeAspect="1" noChangeArrowheads="1"/>
          </p:cNvPicPr>
          <p:nvPr/>
        </p:nvPicPr>
        <p:blipFill>
          <a:blip r:embed="rId4"/>
          <a:srcRect/>
          <a:stretch>
            <a:fillRect/>
          </a:stretch>
        </p:blipFill>
        <p:spPr bwMode="auto">
          <a:xfrm>
            <a:off x="438150" y="1884363"/>
            <a:ext cx="4824413" cy="2867025"/>
          </a:xfrm>
          <a:prstGeom prst="rect">
            <a:avLst/>
          </a:prstGeom>
          <a:noFill/>
          <a:ln w="9525">
            <a:noFill/>
            <a:miter lim="800000"/>
            <a:headEnd/>
            <a:tailEnd/>
          </a:ln>
        </p:spPr>
      </p:pic>
      <p:sp>
        <p:nvSpPr>
          <p:cNvPr id="44036" name="Text Box 6"/>
          <p:cNvSpPr txBox="1">
            <a:spLocks noChangeArrowheads="1"/>
          </p:cNvSpPr>
          <p:nvPr/>
        </p:nvSpPr>
        <p:spPr bwMode="auto">
          <a:xfrm>
            <a:off x="438150" y="4810125"/>
            <a:ext cx="7829550" cy="1741488"/>
          </a:xfrm>
          <a:prstGeom prst="rect">
            <a:avLst/>
          </a:prstGeom>
          <a:noFill/>
          <a:ln w="9525">
            <a:noFill/>
            <a:miter lim="800000"/>
            <a:headEnd/>
            <a:tailEnd/>
          </a:ln>
        </p:spPr>
        <p:txBody>
          <a:bodyPr>
            <a:spAutoFit/>
          </a:bodyPr>
          <a:lstStyle/>
          <a:p>
            <a:pPr marL="180975" indent="-180975">
              <a:spcBef>
                <a:spcPct val="50000"/>
              </a:spcBef>
              <a:buFontTx/>
              <a:buChar char="•"/>
            </a:pPr>
            <a:r>
              <a:rPr lang="en-AU" i="0">
                <a:solidFill>
                  <a:schemeClr val="tx1"/>
                </a:solidFill>
              </a:rPr>
              <a:t>Local systems – recharge and discharge areas within 5km of each other</a:t>
            </a:r>
          </a:p>
          <a:p>
            <a:pPr marL="180975" indent="-180975">
              <a:spcBef>
                <a:spcPct val="50000"/>
              </a:spcBef>
              <a:buFontTx/>
              <a:buChar char="•"/>
            </a:pPr>
            <a:r>
              <a:rPr lang="en-AU" i="0">
                <a:solidFill>
                  <a:schemeClr val="tx1"/>
                </a:solidFill>
              </a:rPr>
              <a:t>Intermediate system – recharge and discharge areas within 50km of each other</a:t>
            </a:r>
          </a:p>
          <a:p>
            <a:pPr marL="180975" indent="-180975">
              <a:spcBef>
                <a:spcPct val="50000"/>
              </a:spcBef>
              <a:buFontTx/>
              <a:buChar char="•"/>
            </a:pPr>
            <a:r>
              <a:rPr lang="en-AU" i="0">
                <a:solidFill>
                  <a:schemeClr val="tx1"/>
                </a:solidFill>
              </a:rPr>
              <a:t>Regional system - recharge and discharge areas grater than 50km of each other</a:t>
            </a:r>
            <a:endParaRPr lang="en-US" i="0">
              <a:solidFill>
                <a:schemeClr val="tx1"/>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Line 88"/>
          <p:cNvSpPr>
            <a:spLocks noChangeShapeType="1"/>
          </p:cNvSpPr>
          <p:nvPr/>
        </p:nvSpPr>
        <p:spPr bwMode="auto">
          <a:xfrm>
            <a:off x="3390900" y="4659313"/>
            <a:ext cx="3000375" cy="0"/>
          </a:xfrm>
          <a:prstGeom prst="line">
            <a:avLst/>
          </a:prstGeom>
          <a:noFill/>
          <a:ln w="9525">
            <a:solidFill>
              <a:schemeClr val="tx1"/>
            </a:solidFill>
            <a:prstDash val="dash"/>
            <a:round/>
            <a:headEnd/>
            <a:tailEnd/>
          </a:ln>
        </p:spPr>
        <p:txBody>
          <a:bodyPr/>
          <a:lstStyle/>
          <a:p>
            <a:endParaRPr lang="en-US"/>
          </a:p>
        </p:txBody>
      </p:sp>
      <p:sp>
        <p:nvSpPr>
          <p:cNvPr id="46082" name="Rectangle 2"/>
          <p:cNvSpPr>
            <a:spLocks noGrp="1" noChangeArrowheads="1"/>
          </p:cNvSpPr>
          <p:nvPr>
            <p:ph type="title"/>
          </p:nvPr>
        </p:nvSpPr>
        <p:spPr>
          <a:xfrm>
            <a:off x="438150" y="798513"/>
            <a:ext cx="6221413" cy="987425"/>
          </a:xfrm>
        </p:spPr>
        <p:txBody>
          <a:bodyPr/>
          <a:lstStyle/>
          <a:p>
            <a:r>
              <a:rPr lang="en-AU" smtClean="0"/>
              <a:t>Groundwater Dynamics – Unconfined Aquifers</a:t>
            </a:r>
            <a:endParaRPr lang="en-US" smtClean="0"/>
          </a:p>
        </p:txBody>
      </p:sp>
      <p:sp>
        <p:nvSpPr>
          <p:cNvPr id="46083" name="Line 6"/>
          <p:cNvSpPr>
            <a:spLocks noChangeShapeType="1"/>
          </p:cNvSpPr>
          <p:nvPr/>
        </p:nvSpPr>
        <p:spPr bwMode="auto">
          <a:xfrm flipV="1">
            <a:off x="866775" y="4422775"/>
            <a:ext cx="631825" cy="860425"/>
          </a:xfrm>
          <a:prstGeom prst="line">
            <a:avLst/>
          </a:prstGeom>
          <a:noFill/>
          <a:ln w="9525">
            <a:solidFill>
              <a:schemeClr val="tx1"/>
            </a:solidFill>
            <a:round/>
            <a:headEnd/>
            <a:tailEnd/>
          </a:ln>
        </p:spPr>
        <p:txBody>
          <a:bodyPr/>
          <a:lstStyle/>
          <a:p>
            <a:endParaRPr lang="en-US"/>
          </a:p>
        </p:txBody>
      </p:sp>
      <p:grpSp>
        <p:nvGrpSpPr>
          <p:cNvPr id="46084" name="Group 84"/>
          <p:cNvGrpSpPr>
            <a:grpSpLocks/>
          </p:cNvGrpSpPr>
          <p:nvPr/>
        </p:nvGrpSpPr>
        <p:grpSpPr bwMode="auto">
          <a:xfrm>
            <a:off x="866775" y="4422775"/>
            <a:ext cx="2533650" cy="2233613"/>
            <a:chOff x="756" y="2245"/>
            <a:chExt cx="1596" cy="1407"/>
          </a:xfrm>
        </p:grpSpPr>
        <p:sp>
          <p:nvSpPr>
            <p:cNvPr id="46140" name="Rectangle 9"/>
            <p:cNvSpPr>
              <a:spLocks noChangeArrowheads="1"/>
            </p:cNvSpPr>
            <p:nvPr/>
          </p:nvSpPr>
          <p:spPr bwMode="auto">
            <a:xfrm>
              <a:off x="762" y="2882"/>
              <a:ext cx="1192" cy="770"/>
            </a:xfrm>
            <a:prstGeom prst="rect">
              <a:avLst/>
            </a:prstGeom>
            <a:solidFill>
              <a:srgbClr val="99CCFF"/>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6141" name="AutoShape 10"/>
            <p:cNvSpPr>
              <a:spLocks noChangeArrowheads="1"/>
            </p:cNvSpPr>
            <p:nvPr/>
          </p:nvSpPr>
          <p:spPr bwMode="auto">
            <a:xfrm>
              <a:off x="756" y="2245"/>
              <a:ext cx="1596" cy="541"/>
            </a:xfrm>
            <a:prstGeom prst="parallelogram">
              <a:avLst>
                <a:gd name="adj" fmla="val 73752"/>
              </a:avLst>
            </a:prstGeom>
            <a:solidFill>
              <a:schemeClr val="accent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6142" name="Freeform 11"/>
            <p:cNvSpPr>
              <a:spLocks/>
            </p:cNvSpPr>
            <p:nvPr/>
          </p:nvSpPr>
          <p:spPr bwMode="auto">
            <a:xfrm>
              <a:off x="1952" y="2395"/>
              <a:ext cx="400" cy="1243"/>
            </a:xfrm>
            <a:custGeom>
              <a:avLst/>
              <a:gdLst>
                <a:gd name="T0" fmla="*/ 0 w 182"/>
                <a:gd name="T1" fmla="*/ 1243 h 816"/>
                <a:gd name="T2" fmla="*/ 0 w 182"/>
                <a:gd name="T3" fmla="*/ 483 h 816"/>
                <a:gd name="T4" fmla="*/ 400 w 182"/>
                <a:gd name="T5" fmla="*/ 0 h 816"/>
                <a:gd name="T6" fmla="*/ 400 w 182"/>
                <a:gd name="T7" fmla="*/ 760 h 816"/>
                <a:gd name="T8" fmla="*/ 0 w 182"/>
                <a:gd name="T9" fmla="*/ 1243 h 816"/>
                <a:gd name="T10" fmla="*/ 0 60000 65536"/>
                <a:gd name="T11" fmla="*/ 0 60000 65536"/>
                <a:gd name="T12" fmla="*/ 0 60000 65536"/>
                <a:gd name="T13" fmla="*/ 0 60000 65536"/>
                <a:gd name="T14" fmla="*/ 0 60000 65536"/>
                <a:gd name="T15" fmla="*/ 0 w 182"/>
                <a:gd name="T16" fmla="*/ 0 h 816"/>
                <a:gd name="T17" fmla="*/ 182 w 182"/>
                <a:gd name="T18" fmla="*/ 816 h 816"/>
              </a:gdLst>
              <a:ahLst/>
              <a:cxnLst>
                <a:cxn ang="T10">
                  <a:pos x="T0" y="T1"/>
                </a:cxn>
                <a:cxn ang="T11">
                  <a:pos x="T2" y="T3"/>
                </a:cxn>
                <a:cxn ang="T12">
                  <a:pos x="T4" y="T5"/>
                </a:cxn>
                <a:cxn ang="T13">
                  <a:pos x="T6" y="T7"/>
                </a:cxn>
                <a:cxn ang="T14">
                  <a:pos x="T8" y="T9"/>
                </a:cxn>
              </a:cxnLst>
              <a:rect l="T15" t="T16" r="T17" b="T18"/>
              <a:pathLst>
                <a:path w="182" h="816">
                  <a:moveTo>
                    <a:pt x="0" y="816"/>
                  </a:moveTo>
                  <a:lnTo>
                    <a:pt x="0" y="317"/>
                  </a:lnTo>
                  <a:lnTo>
                    <a:pt x="182" y="0"/>
                  </a:lnTo>
                  <a:lnTo>
                    <a:pt x="182" y="499"/>
                  </a:lnTo>
                  <a:lnTo>
                    <a:pt x="0" y="816"/>
                  </a:lnTo>
                  <a:close/>
                </a:path>
              </a:pathLst>
            </a:custGeom>
            <a:solidFill>
              <a:srgbClr val="99CCFF"/>
            </a:solidFill>
            <a:ln w="9525">
              <a:solidFill>
                <a:schemeClr val="tx1"/>
              </a:solidFill>
              <a:round/>
              <a:headEnd/>
              <a:tailEnd/>
            </a:ln>
          </p:spPr>
          <p:txBody>
            <a:bodyPr/>
            <a:lstStyle/>
            <a:p>
              <a:endParaRPr lang="en-US"/>
            </a:p>
          </p:txBody>
        </p:sp>
      </p:grpSp>
      <p:grpSp>
        <p:nvGrpSpPr>
          <p:cNvPr id="46085" name="Group 83"/>
          <p:cNvGrpSpPr>
            <a:grpSpLocks/>
          </p:cNvGrpSpPr>
          <p:nvPr/>
        </p:nvGrpSpPr>
        <p:grpSpPr bwMode="auto">
          <a:xfrm>
            <a:off x="866775" y="3076575"/>
            <a:ext cx="2533650" cy="2357438"/>
            <a:chOff x="756" y="1397"/>
            <a:chExt cx="1596" cy="1485"/>
          </a:xfrm>
        </p:grpSpPr>
        <p:sp>
          <p:nvSpPr>
            <p:cNvPr id="46137" name="Rectangle 13"/>
            <p:cNvSpPr>
              <a:spLocks noChangeArrowheads="1"/>
            </p:cNvSpPr>
            <p:nvPr/>
          </p:nvSpPr>
          <p:spPr bwMode="auto">
            <a:xfrm>
              <a:off x="756" y="1955"/>
              <a:ext cx="1198" cy="927"/>
            </a:xfrm>
            <a:prstGeom prst="rect">
              <a:avLst/>
            </a:prstGeom>
            <a:solidFill>
              <a:schemeClr val="bg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6138" name="AutoShape 14"/>
            <p:cNvSpPr>
              <a:spLocks noChangeArrowheads="1"/>
            </p:cNvSpPr>
            <p:nvPr/>
          </p:nvSpPr>
          <p:spPr bwMode="auto">
            <a:xfrm>
              <a:off x="756" y="1397"/>
              <a:ext cx="1596" cy="558"/>
            </a:xfrm>
            <a:prstGeom prst="parallelogram">
              <a:avLst>
                <a:gd name="adj" fmla="val 71505"/>
              </a:avLst>
            </a:prstGeom>
            <a:solidFill>
              <a:schemeClr val="bg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6139" name="Freeform 15"/>
            <p:cNvSpPr>
              <a:spLocks/>
            </p:cNvSpPr>
            <p:nvPr/>
          </p:nvSpPr>
          <p:spPr bwMode="auto">
            <a:xfrm>
              <a:off x="1950" y="1397"/>
              <a:ext cx="402" cy="1483"/>
            </a:xfrm>
            <a:custGeom>
              <a:avLst/>
              <a:gdLst>
                <a:gd name="T0" fmla="*/ 2 w 402"/>
                <a:gd name="T1" fmla="*/ 1483 h 1483"/>
                <a:gd name="T2" fmla="*/ 0 w 402"/>
                <a:gd name="T3" fmla="*/ 559 h 1483"/>
                <a:gd name="T4" fmla="*/ 402 w 402"/>
                <a:gd name="T5" fmla="*/ 0 h 1483"/>
                <a:gd name="T6" fmla="*/ 396 w 402"/>
                <a:gd name="T7" fmla="*/ 1009 h 1483"/>
                <a:gd name="T8" fmla="*/ 2 w 402"/>
                <a:gd name="T9" fmla="*/ 1483 h 1483"/>
                <a:gd name="T10" fmla="*/ 0 60000 65536"/>
                <a:gd name="T11" fmla="*/ 0 60000 65536"/>
                <a:gd name="T12" fmla="*/ 0 60000 65536"/>
                <a:gd name="T13" fmla="*/ 0 60000 65536"/>
                <a:gd name="T14" fmla="*/ 0 60000 65536"/>
                <a:gd name="T15" fmla="*/ 0 w 402"/>
                <a:gd name="T16" fmla="*/ 0 h 1483"/>
                <a:gd name="T17" fmla="*/ 402 w 402"/>
                <a:gd name="T18" fmla="*/ 1483 h 1483"/>
              </a:gdLst>
              <a:ahLst/>
              <a:cxnLst>
                <a:cxn ang="T10">
                  <a:pos x="T0" y="T1"/>
                </a:cxn>
                <a:cxn ang="T11">
                  <a:pos x="T2" y="T3"/>
                </a:cxn>
                <a:cxn ang="T12">
                  <a:pos x="T4" y="T5"/>
                </a:cxn>
                <a:cxn ang="T13">
                  <a:pos x="T6" y="T7"/>
                </a:cxn>
                <a:cxn ang="T14">
                  <a:pos x="T8" y="T9"/>
                </a:cxn>
              </a:cxnLst>
              <a:rect l="T15" t="T16" r="T17" b="T18"/>
              <a:pathLst>
                <a:path w="402" h="1483">
                  <a:moveTo>
                    <a:pt x="2" y="1483"/>
                  </a:moveTo>
                  <a:lnTo>
                    <a:pt x="0" y="559"/>
                  </a:lnTo>
                  <a:lnTo>
                    <a:pt x="402" y="0"/>
                  </a:lnTo>
                  <a:lnTo>
                    <a:pt x="396" y="1009"/>
                  </a:lnTo>
                  <a:lnTo>
                    <a:pt x="2" y="1483"/>
                  </a:lnTo>
                  <a:close/>
                </a:path>
              </a:pathLst>
            </a:custGeom>
            <a:solidFill>
              <a:schemeClr val="bg1"/>
            </a:solidFill>
            <a:ln w="9525">
              <a:solidFill>
                <a:schemeClr val="tx1"/>
              </a:solidFill>
              <a:round/>
              <a:headEnd/>
              <a:tailEnd/>
            </a:ln>
          </p:spPr>
          <p:txBody>
            <a:bodyPr/>
            <a:lstStyle/>
            <a:p>
              <a:endParaRPr lang="en-US"/>
            </a:p>
          </p:txBody>
        </p:sp>
      </p:grpSp>
      <p:grpSp>
        <p:nvGrpSpPr>
          <p:cNvPr id="90201" name="Group 89"/>
          <p:cNvGrpSpPr>
            <a:grpSpLocks/>
          </p:cNvGrpSpPr>
          <p:nvPr/>
        </p:nvGrpSpPr>
        <p:grpSpPr bwMode="auto">
          <a:xfrm>
            <a:off x="2682875" y="2532063"/>
            <a:ext cx="3670300" cy="855662"/>
            <a:chOff x="1690" y="1234"/>
            <a:chExt cx="2312" cy="539"/>
          </a:xfrm>
        </p:grpSpPr>
        <p:sp>
          <p:nvSpPr>
            <p:cNvPr id="46135" name="Text Box 60"/>
            <p:cNvSpPr txBox="1">
              <a:spLocks noChangeArrowheads="1"/>
            </p:cNvSpPr>
            <p:nvPr/>
          </p:nvSpPr>
          <p:spPr bwMode="auto">
            <a:xfrm>
              <a:off x="2304" y="1542"/>
              <a:ext cx="1698" cy="231"/>
            </a:xfrm>
            <a:prstGeom prst="rect">
              <a:avLst/>
            </a:prstGeom>
            <a:noFill/>
            <a:ln w="9525">
              <a:noFill/>
              <a:miter lim="800000"/>
              <a:headEnd/>
              <a:tailEnd/>
            </a:ln>
          </p:spPr>
          <p:txBody>
            <a:bodyPr>
              <a:spAutoFit/>
            </a:bodyPr>
            <a:lstStyle/>
            <a:p>
              <a:pPr>
                <a:spcBef>
                  <a:spcPct val="50000"/>
                </a:spcBef>
              </a:pPr>
              <a:r>
                <a:rPr lang="en-AU" i="0">
                  <a:solidFill>
                    <a:schemeClr val="tx1"/>
                  </a:solidFill>
                </a:rPr>
                <a:t>Water entering the soil</a:t>
              </a:r>
              <a:endParaRPr lang="en-US" i="0">
                <a:solidFill>
                  <a:schemeClr val="tx1"/>
                </a:solidFill>
              </a:endParaRPr>
            </a:p>
          </p:txBody>
        </p:sp>
        <p:sp>
          <p:nvSpPr>
            <p:cNvPr id="46136" name="AutoShape 56"/>
            <p:cNvSpPr>
              <a:spLocks noChangeArrowheads="1"/>
            </p:cNvSpPr>
            <p:nvPr/>
          </p:nvSpPr>
          <p:spPr bwMode="auto">
            <a:xfrm rot="-5400000">
              <a:off x="1582" y="1342"/>
              <a:ext cx="462" cy="246"/>
            </a:xfrm>
            <a:prstGeom prst="leftArrow">
              <a:avLst>
                <a:gd name="adj1" fmla="val 50000"/>
                <a:gd name="adj2" fmla="val 46951"/>
              </a:avLst>
            </a:prstGeom>
            <a:solidFill>
              <a:srgbClr val="333399"/>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grpSp>
        <p:nvGrpSpPr>
          <p:cNvPr id="46087" name="Group 18"/>
          <p:cNvGrpSpPr>
            <a:grpSpLocks/>
          </p:cNvGrpSpPr>
          <p:nvPr/>
        </p:nvGrpSpPr>
        <p:grpSpPr bwMode="auto">
          <a:xfrm>
            <a:off x="1085850" y="2840038"/>
            <a:ext cx="852488" cy="1666875"/>
            <a:chOff x="1133" y="1419"/>
            <a:chExt cx="244" cy="615"/>
          </a:xfrm>
        </p:grpSpPr>
        <p:sp>
          <p:nvSpPr>
            <p:cNvPr id="46130" name="Freeform 19"/>
            <p:cNvSpPr>
              <a:spLocks/>
            </p:cNvSpPr>
            <p:nvPr/>
          </p:nvSpPr>
          <p:spPr bwMode="auto">
            <a:xfrm>
              <a:off x="1185" y="1452"/>
              <a:ext cx="162" cy="582"/>
            </a:xfrm>
            <a:custGeom>
              <a:avLst/>
              <a:gdLst>
                <a:gd name="T0" fmla="*/ 54 w 162"/>
                <a:gd name="T1" fmla="*/ 582 h 582"/>
                <a:gd name="T2" fmla="*/ 42 w 162"/>
                <a:gd name="T3" fmla="*/ 507 h 582"/>
                <a:gd name="T4" fmla="*/ 51 w 162"/>
                <a:gd name="T5" fmla="*/ 423 h 582"/>
                <a:gd name="T6" fmla="*/ 42 w 162"/>
                <a:gd name="T7" fmla="*/ 390 h 582"/>
                <a:gd name="T8" fmla="*/ 33 w 162"/>
                <a:gd name="T9" fmla="*/ 378 h 582"/>
                <a:gd name="T10" fmla="*/ 48 w 162"/>
                <a:gd name="T11" fmla="*/ 330 h 582"/>
                <a:gd name="T12" fmla="*/ 57 w 162"/>
                <a:gd name="T13" fmla="*/ 297 h 582"/>
                <a:gd name="T14" fmla="*/ 63 w 162"/>
                <a:gd name="T15" fmla="*/ 231 h 582"/>
                <a:gd name="T16" fmla="*/ 57 w 162"/>
                <a:gd name="T17" fmla="*/ 147 h 582"/>
                <a:gd name="T18" fmla="*/ 21 w 162"/>
                <a:gd name="T19" fmla="*/ 99 h 582"/>
                <a:gd name="T20" fmla="*/ 0 w 162"/>
                <a:gd name="T21" fmla="*/ 72 h 582"/>
                <a:gd name="T22" fmla="*/ 54 w 162"/>
                <a:gd name="T23" fmla="*/ 105 h 582"/>
                <a:gd name="T24" fmla="*/ 57 w 162"/>
                <a:gd name="T25" fmla="*/ 87 h 582"/>
                <a:gd name="T26" fmla="*/ 63 w 162"/>
                <a:gd name="T27" fmla="*/ 0 h 582"/>
                <a:gd name="T28" fmla="*/ 78 w 162"/>
                <a:gd name="T29" fmla="*/ 39 h 582"/>
                <a:gd name="T30" fmla="*/ 78 w 162"/>
                <a:gd name="T31" fmla="*/ 126 h 582"/>
                <a:gd name="T32" fmla="*/ 90 w 162"/>
                <a:gd name="T33" fmla="*/ 72 h 582"/>
                <a:gd name="T34" fmla="*/ 108 w 162"/>
                <a:gd name="T35" fmla="*/ 72 h 582"/>
                <a:gd name="T36" fmla="*/ 93 w 162"/>
                <a:gd name="T37" fmla="*/ 135 h 582"/>
                <a:gd name="T38" fmla="*/ 162 w 162"/>
                <a:gd name="T39" fmla="*/ 84 h 582"/>
                <a:gd name="T40" fmla="*/ 153 w 162"/>
                <a:gd name="T41" fmla="*/ 120 h 582"/>
                <a:gd name="T42" fmla="*/ 75 w 162"/>
                <a:gd name="T43" fmla="*/ 165 h 582"/>
                <a:gd name="T44" fmla="*/ 75 w 162"/>
                <a:gd name="T45" fmla="*/ 300 h 582"/>
                <a:gd name="T46" fmla="*/ 99 w 162"/>
                <a:gd name="T47" fmla="*/ 381 h 582"/>
                <a:gd name="T48" fmla="*/ 84 w 162"/>
                <a:gd name="T49" fmla="*/ 414 h 582"/>
                <a:gd name="T50" fmla="*/ 99 w 162"/>
                <a:gd name="T51" fmla="*/ 453 h 582"/>
                <a:gd name="T52" fmla="*/ 135 w 162"/>
                <a:gd name="T53" fmla="*/ 486 h 582"/>
                <a:gd name="T54" fmla="*/ 132 w 162"/>
                <a:gd name="T55" fmla="*/ 510 h 582"/>
                <a:gd name="T56" fmla="*/ 102 w 162"/>
                <a:gd name="T57" fmla="*/ 468 h 582"/>
                <a:gd name="T58" fmla="*/ 69 w 162"/>
                <a:gd name="T59" fmla="*/ 414 h 582"/>
                <a:gd name="T60" fmla="*/ 63 w 162"/>
                <a:gd name="T61" fmla="*/ 456 h 582"/>
                <a:gd name="T62" fmla="*/ 75 w 162"/>
                <a:gd name="T63" fmla="*/ 492 h 582"/>
                <a:gd name="T64" fmla="*/ 96 w 162"/>
                <a:gd name="T65" fmla="*/ 513 h 582"/>
                <a:gd name="T66" fmla="*/ 78 w 162"/>
                <a:gd name="T67" fmla="*/ 519 h 582"/>
                <a:gd name="T68" fmla="*/ 60 w 162"/>
                <a:gd name="T69" fmla="*/ 486 h 582"/>
                <a:gd name="T70" fmla="*/ 54 w 162"/>
                <a:gd name="T71" fmla="*/ 522 h 582"/>
                <a:gd name="T72" fmla="*/ 54 w 162"/>
                <a:gd name="T73" fmla="*/ 582 h 58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2"/>
                <a:gd name="T112" fmla="*/ 0 h 582"/>
                <a:gd name="T113" fmla="*/ 162 w 162"/>
                <a:gd name="T114" fmla="*/ 582 h 58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2" h="582">
                  <a:moveTo>
                    <a:pt x="54" y="582"/>
                  </a:moveTo>
                  <a:lnTo>
                    <a:pt x="42" y="507"/>
                  </a:lnTo>
                  <a:lnTo>
                    <a:pt x="51" y="423"/>
                  </a:lnTo>
                  <a:lnTo>
                    <a:pt x="42" y="390"/>
                  </a:lnTo>
                  <a:lnTo>
                    <a:pt x="33" y="378"/>
                  </a:ln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84" y="414"/>
                  </a:lnTo>
                  <a:lnTo>
                    <a:pt x="99" y="453"/>
                  </a:lnTo>
                  <a:lnTo>
                    <a:pt x="135" y="486"/>
                  </a:lnTo>
                  <a:lnTo>
                    <a:pt x="132" y="510"/>
                  </a:lnTo>
                  <a:lnTo>
                    <a:pt x="102" y="468"/>
                  </a:lnTo>
                  <a:lnTo>
                    <a:pt x="69" y="414"/>
                  </a:lnTo>
                  <a:lnTo>
                    <a:pt x="63" y="456"/>
                  </a:lnTo>
                  <a:lnTo>
                    <a:pt x="75" y="492"/>
                  </a:lnTo>
                  <a:lnTo>
                    <a:pt x="96" y="513"/>
                  </a:lnTo>
                  <a:lnTo>
                    <a:pt x="78" y="519"/>
                  </a:lnTo>
                  <a:lnTo>
                    <a:pt x="60" y="486"/>
                  </a:lnTo>
                  <a:lnTo>
                    <a:pt x="54" y="522"/>
                  </a:lnTo>
                  <a:lnTo>
                    <a:pt x="54" y="582"/>
                  </a:lnTo>
                  <a:close/>
                </a:path>
              </a:pathLst>
            </a:custGeom>
            <a:solidFill>
              <a:schemeClr val="bg2"/>
            </a:solidFill>
            <a:ln w="9525">
              <a:noFill/>
              <a:round/>
              <a:headEnd/>
              <a:tailEnd/>
            </a:ln>
          </p:spPr>
          <p:txBody>
            <a:bodyPr/>
            <a:lstStyle/>
            <a:p>
              <a:endParaRPr lang="en-US"/>
            </a:p>
          </p:txBody>
        </p:sp>
        <p:sp>
          <p:nvSpPr>
            <p:cNvPr id="46131" name="Freeform 20"/>
            <p:cNvSpPr>
              <a:spLocks/>
            </p:cNvSpPr>
            <p:nvPr/>
          </p:nvSpPr>
          <p:spPr bwMode="auto">
            <a:xfrm>
              <a:off x="1133" y="1484"/>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6132" name="Freeform 21"/>
            <p:cNvSpPr>
              <a:spLocks/>
            </p:cNvSpPr>
            <p:nvPr/>
          </p:nvSpPr>
          <p:spPr bwMode="auto">
            <a:xfrm>
              <a:off x="1176" y="1419"/>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6133" name="Freeform 22"/>
            <p:cNvSpPr>
              <a:spLocks/>
            </p:cNvSpPr>
            <p:nvPr/>
          </p:nvSpPr>
          <p:spPr bwMode="auto">
            <a:xfrm>
              <a:off x="1249" y="1477"/>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6134" name="Freeform 23"/>
            <p:cNvSpPr>
              <a:spLocks/>
            </p:cNvSpPr>
            <p:nvPr/>
          </p:nvSpPr>
          <p:spPr bwMode="auto">
            <a:xfrm>
              <a:off x="1283" y="1547"/>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6088" name="Group 24"/>
          <p:cNvGrpSpPr>
            <a:grpSpLocks/>
          </p:cNvGrpSpPr>
          <p:nvPr/>
        </p:nvGrpSpPr>
        <p:grpSpPr bwMode="auto">
          <a:xfrm>
            <a:off x="1647825" y="2325688"/>
            <a:ext cx="852488" cy="1122362"/>
            <a:chOff x="1164" y="1150"/>
            <a:chExt cx="244" cy="414"/>
          </a:xfrm>
        </p:grpSpPr>
        <p:sp>
          <p:nvSpPr>
            <p:cNvPr id="46125" name="Freeform 2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46126" name="Freeform 2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6127" name="Freeform 2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6128" name="Freeform 2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6129" name="Freeform 2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6089" name="Group 30"/>
          <p:cNvGrpSpPr>
            <a:grpSpLocks/>
          </p:cNvGrpSpPr>
          <p:nvPr/>
        </p:nvGrpSpPr>
        <p:grpSpPr bwMode="auto">
          <a:xfrm>
            <a:off x="1620838" y="3368675"/>
            <a:ext cx="411162" cy="496888"/>
            <a:chOff x="1164" y="1150"/>
            <a:chExt cx="244" cy="414"/>
          </a:xfrm>
        </p:grpSpPr>
        <p:sp>
          <p:nvSpPr>
            <p:cNvPr id="46120" name="Freeform 31"/>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46121" name="Freeform 32"/>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6122" name="Freeform 33"/>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6123" name="Freeform 34"/>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6124" name="Freeform 35"/>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6090" name="Group 36"/>
          <p:cNvGrpSpPr>
            <a:grpSpLocks/>
          </p:cNvGrpSpPr>
          <p:nvPr/>
        </p:nvGrpSpPr>
        <p:grpSpPr bwMode="auto">
          <a:xfrm>
            <a:off x="1927225" y="2884488"/>
            <a:ext cx="715963" cy="927100"/>
            <a:chOff x="1164" y="1150"/>
            <a:chExt cx="244" cy="414"/>
          </a:xfrm>
        </p:grpSpPr>
        <p:sp>
          <p:nvSpPr>
            <p:cNvPr id="46115" name="Freeform 37"/>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46116" name="Freeform 38"/>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6117" name="Freeform 39"/>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6118" name="Freeform 40"/>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6119" name="Freeform 41"/>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90202" name="Group 90"/>
          <p:cNvGrpSpPr>
            <a:grpSpLocks/>
          </p:cNvGrpSpPr>
          <p:nvPr/>
        </p:nvGrpSpPr>
        <p:grpSpPr bwMode="auto">
          <a:xfrm>
            <a:off x="1666875" y="3322638"/>
            <a:ext cx="4692650" cy="889000"/>
            <a:chOff x="1050" y="1732"/>
            <a:chExt cx="2956" cy="560"/>
          </a:xfrm>
        </p:grpSpPr>
        <p:sp>
          <p:nvSpPr>
            <p:cNvPr id="46113" name="Text Box 61"/>
            <p:cNvSpPr txBox="1">
              <a:spLocks noChangeArrowheads="1"/>
            </p:cNvSpPr>
            <p:nvPr/>
          </p:nvSpPr>
          <p:spPr bwMode="auto">
            <a:xfrm>
              <a:off x="2308" y="1732"/>
              <a:ext cx="1698" cy="231"/>
            </a:xfrm>
            <a:prstGeom prst="rect">
              <a:avLst/>
            </a:prstGeom>
            <a:noFill/>
            <a:ln w="9525">
              <a:noFill/>
              <a:miter lim="800000"/>
              <a:headEnd/>
              <a:tailEnd/>
            </a:ln>
          </p:spPr>
          <p:txBody>
            <a:bodyPr>
              <a:spAutoFit/>
            </a:bodyPr>
            <a:lstStyle/>
            <a:p>
              <a:pPr>
                <a:spcBef>
                  <a:spcPct val="50000"/>
                </a:spcBef>
              </a:pPr>
              <a:r>
                <a:rPr lang="en-AU" i="0">
                  <a:solidFill>
                    <a:schemeClr val="tx1"/>
                  </a:solidFill>
                </a:rPr>
                <a:t>Water used from the soil</a:t>
              </a:r>
              <a:endParaRPr lang="en-US" i="0">
                <a:solidFill>
                  <a:schemeClr val="tx1"/>
                </a:solidFill>
              </a:endParaRPr>
            </a:p>
          </p:txBody>
        </p:sp>
        <p:sp>
          <p:nvSpPr>
            <p:cNvPr id="46114" name="AutoShape 58"/>
            <p:cNvSpPr>
              <a:spLocks noChangeArrowheads="1"/>
            </p:cNvSpPr>
            <p:nvPr/>
          </p:nvSpPr>
          <p:spPr bwMode="auto">
            <a:xfrm rot="10800000">
              <a:off x="1050" y="1944"/>
              <a:ext cx="342" cy="348"/>
            </a:xfrm>
            <a:custGeom>
              <a:avLst/>
              <a:gdLst>
                <a:gd name="T0" fmla="*/ 146 w 21600"/>
                <a:gd name="T1" fmla="*/ 0 h 21600"/>
                <a:gd name="T2" fmla="*/ 48 w 21600"/>
                <a:gd name="T3" fmla="*/ 348 h 21600"/>
                <a:gd name="T4" fmla="*/ 154 w 21600"/>
                <a:gd name="T5" fmla="*/ 134 h 21600"/>
                <a:gd name="T6" fmla="*/ 248 w 21600"/>
                <a:gd name="T7" fmla="*/ 230 h 21600"/>
                <a:gd name="T8" fmla="*/ 342 w 21600"/>
                <a:gd name="T9" fmla="*/ 134 h 21600"/>
                <a:gd name="T10" fmla="*/ 17694720 60000 65536"/>
                <a:gd name="T11" fmla="*/ 5898240 60000 65536"/>
                <a:gd name="T12" fmla="*/ 5898240 60000 65536"/>
                <a:gd name="T13" fmla="*/ 5898240 60000 65536"/>
                <a:gd name="T14" fmla="*/ 0 60000 65536"/>
                <a:gd name="T15" fmla="*/ 0 w 21600"/>
                <a:gd name="T16" fmla="*/ 8317 h 21600"/>
                <a:gd name="T17" fmla="*/ 6126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15662" y="14285"/>
                  </a:moveTo>
                  <a:lnTo>
                    <a:pt x="21600" y="8310"/>
                  </a:lnTo>
                  <a:lnTo>
                    <a:pt x="18630" y="8310"/>
                  </a:lnTo>
                  <a:cubicBezTo>
                    <a:pt x="18630" y="3721"/>
                    <a:pt x="14430" y="0"/>
                    <a:pt x="9250" y="0"/>
                  </a:cubicBezTo>
                  <a:cubicBezTo>
                    <a:pt x="4141" y="0"/>
                    <a:pt x="0" y="3799"/>
                    <a:pt x="0" y="8485"/>
                  </a:cubicBezTo>
                  <a:lnTo>
                    <a:pt x="0" y="21600"/>
                  </a:lnTo>
                  <a:lnTo>
                    <a:pt x="6110" y="21600"/>
                  </a:lnTo>
                  <a:lnTo>
                    <a:pt x="6110" y="8310"/>
                  </a:lnTo>
                  <a:cubicBezTo>
                    <a:pt x="6110" y="6947"/>
                    <a:pt x="7362" y="5842"/>
                    <a:pt x="8907" y="5842"/>
                  </a:cubicBezTo>
                  <a:lnTo>
                    <a:pt x="9725" y="5842"/>
                  </a:lnTo>
                  <a:cubicBezTo>
                    <a:pt x="11269" y="5842"/>
                    <a:pt x="12520" y="6947"/>
                    <a:pt x="12520" y="8310"/>
                  </a:cubicBezTo>
                  <a:lnTo>
                    <a:pt x="9725" y="8310"/>
                  </a:lnTo>
                  <a:close/>
                </a:path>
              </a:pathLst>
            </a:custGeom>
            <a:solidFill>
              <a:srgbClr val="333399"/>
            </a:solidFill>
            <a:ln w="9525" algn="ctr">
              <a:solidFill>
                <a:schemeClr val="tx1"/>
              </a:solidFill>
              <a:miter lim="800000"/>
              <a:headEnd/>
              <a:tailEnd/>
            </a:ln>
          </p:spPr>
          <p:txBody>
            <a:bodyPr wrap="none" anchor="ctr"/>
            <a:lstStyle/>
            <a:p>
              <a:endParaRPr lang="en-US"/>
            </a:p>
          </p:txBody>
        </p:sp>
      </p:grpSp>
      <p:grpSp>
        <p:nvGrpSpPr>
          <p:cNvPr id="90211" name="Group 99"/>
          <p:cNvGrpSpPr>
            <a:grpSpLocks/>
          </p:cNvGrpSpPr>
          <p:nvPr/>
        </p:nvGrpSpPr>
        <p:grpSpPr bwMode="auto">
          <a:xfrm>
            <a:off x="1647825" y="4598988"/>
            <a:ext cx="4721225" cy="898525"/>
            <a:chOff x="1038" y="2536"/>
            <a:chExt cx="2974" cy="566"/>
          </a:xfrm>
        </p:grpSpPr>
        <p:sp>
          <p:nvSpPr>
            <p:cNvPr id="46111" name="Text Box 62"/>
            <p:cNvSpPr txBox="1">
              <a:spLocks noChangeArrowheads="1"/>
            </p:cNvSpPr>
            <p:nvPr/>
          </p:nvSpPr>
          <p:spPr bwMode="auto">
            <a:xfrm>
              <a:off x="2302" y="2536"/>
              <a:ext cx="1710" cy="404"/>
            </a:xfrm>
            <a:prstGeom prst="rect">
              <a:avLst/>
            </a:prstGeom>
            <a:solidFill>
              <a:schemeClr val="bg1">
                <a:alpha val="21176"/>
              </a:schemeClr>
            </a:solidFill>
            <a:ln w="9525">
              <a:noFill/>
              <a:miter lim="800000"/>
              <a:headEnd/>
              <a:tailEnd/>
            </a:ln>
          </p:spPr>
          <p:txBody>
            <a:bodyPr>
              <a:spAutoFit/>
            </a:bodyPr>
            <a:lstStyle/>
            <a:p>
              <a:pPr>
                <a:spcBef>
                  <a:spcPct val="50000"/>
                </a:spcBef>
              </a:pPr>
              <a:r>
                <a:rPr lang="en-AU" i="0">
                  <a:solidFill>
                    <a:schemeClr val="tx1"/>
                  </a:solidFill>
                </a:rPr>
                <a:t>Change in saturated zone storage</a:t>
              </a:r>
              <a:endParaRPr lang="en-US" i="0">
                <a:solidFill>
                  <a:schemeClr val="tx1"/>
                </a:solidFill>
              </a:endParaRPr>
            </a:p>
          </p:txBody>
        </p:sp>
        <p:sp>
          <p:nvSpPr>
            <p:cNvPr id="46112" name="AutoShape 57"/>
            <p:cNvSpPr>
              <a:spLocks noChangeArrowheads="1"/>
            </p:cNvSpPr>
            <p:nvPr/>
          </p:nvSpPr>
          <p:spPr bwMode="auto">
            <a:xfrm>
              <a:off x="1038" y="3018"/>
              <a:ext cx="264" cy="84"/>
            </a:xfrm>
            <a:prstGeom prst="upDownArrow">
              <a:avLst>
                <a:gd name="adj1" fmla="val 50000"/>
                <a:gd name="adj2" fmla="val 20000"/>
              </a:avLst>
            </a:prstGeom>
            <a:solidFill>
              <a:srgbClr val="000080"/>
            </a:solidFill>
            <a:ln w="9525" algn="ctr">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grpSp>
        <p:nvGrpSpPr>
          <p:cNvPr id="90205" name="Group 93"/>
          <p:cNvGrpSpPr>
            <a:grpSpLocks/>
          </p:cNvGrpSpPr>
          <p:nvPr/>
        </p:nvGrpSpPr>
        <p:grpSpPr bwMode="auto">
          <a:xfrm>
            <a:off x="406400" y="5430838"/>
            <a:ext cx="5937250" cy="434975"/>
            <a:chOff x="256" y="3060"/>
            <a:chExt cx="3740" cy="274"/>
          </a:xfrm>
        </p:grpSpPr>
        <p:sp>
          <p:nvSpPr>
            <p:cNvPr id="46108" name="Text Box 64"/>
            <p:cNvSpPr txBox="1">
              <a:spLocks noChangeArrowheads="1"/>
            </p:cNvSpPr>
            <p:nvPr/>
          </p:nvSpPr>
          <p:spPr bwMode="auto">
            <a:xfrm>
              <a:off x="2298" y="3078"/>
              <a:ext cx="1698" cy="231"/>
            </a:xfrm>
            <a:prstGeom prst="rect">
              <a:avLst/>
            </a:prstGeom>
            <a:noFill/>
            <a:ln w="9525">
              <a:noFill/>
              <a:miter lim="800000"/>
              <a:headEnd/>
              <a:tailEnd/>
            </a:ln>
          </p:spPr>
          <p:txBody>
            <a:bodyPr>
              <a:spAutoFit/>
            </a:bodyPr>
            <a:lstStyle/>
            <a:p>
              <a:pPr>
                <a:spcBef>
                  <a:spcPct val="50000"/>
                </a:spcBef>
              </a:pPr>
              <a:r>
                <a:rPr lang="en-AU" i="0">
                  <a:solidFill>
                    <a:schemeClr val="tx1"/>
                  </a:solidFill>
                </a:rPr>
                <a:t>Aquifer through-flow</a:t>
              </a:r>
              <a:endParaRPr lang="en-US" i="0">
                <a:solidFill>
                  <a:schemeClr val="tx1"/>
                </a:solidFill>
              </a:endParaRPr>
            </a:p>
          </p:txBody>
        </p:sp>
        <p:sp>
          <p:nvSpPr>
            <p:cNvPr id="46109" name="AutoShape 55"/>
            <p:cNvSpPr>
              <a:spLocks noChangeArrowheads="1"/>
            </p:cNvSpPr>
            <p:nvPr/>
          </p:nvSpPr>
          <p:spPr bwMode="auto">
            <a:xfrm>
              <a:off x="256" y="3088"/>
              <a:ext cx="276" cy="246"/>
            </a:xfrm>
            <a:prstGeom prst="leftArrow">
              <a:avLst>
                <a:gd name="adj1" fmla="val 50000"/>
                <a:gd name="adj2" fmla="val 28049"/>
              </a:avLst>
            </a:prstGeom>
            <a:solidFill>
              <a:srgbClr val="333399"/>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6110" name="AutoShape 54"/>
            <p:cNvSpPr>
              <a:spLocks noChangeArrowheads="1"/>
            </p:cNvSpPr>
            <p:nvPr/>
          </p:nvSpPr>
          <p:spPr bwMode="auto">
            <a:xfrm>
              <a:off x="1950" y="3060"/>
              <a:ext cx="306" cy="246"/>
            </a:xfrm>
            <a:prstGeom prst="leftArrow">
              <a:avLst>
                <a:gd name="adj1" fmla="val 50000"/>
                <a:gd name="adj2" fmla="val 31098"/>
              </a:avLst>
            </a:prstGeom>
            <a:solidFill>
              <a:srgbClr val="333399"/>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grpSp>
        <p:nvGrpSpPr>
          <p:cNvPr id="90206" name="Group 94"/>
          <p:cNvGrpSpPr>
            <a:grpSpLocks/>
          </p:cNvGrpSpPr>
          <p:nvPr/>
        </p:nvGrpSpPr>
        <p:grpSpPr bwMode="auto">
          <a:xfrm>
            <a:off x="828675" y="3535363"/>
            <a:ext cx="5467350" cy="3028950"/>
            <a:chOff x="522" y="1866"/>
            <a:chExt cx="3444" cy="1908"/>
          </a:xfrm>
        </p:grpSpPr>
        <p:grpSp>
          <p:nvGrpSpPr>
            <p:cNvPr id="46103" name="Group 76"/>
            <p:cNvGrpSpPr>
              <a:grpSpLocks/>
            </p:cNvGrpSpPr>
            <p:nvPr/>
          </p:nvGrpSpPr>
          <p:grpSpPr bwMode="auto">
            <a:xfrm>
              <a:off x="522" y="1866"/>
              <a:ext cx="210" cy="1908"/>
              <a:chOff x="732" y="1686"/>
              <a:chExt cx="210" cy="1908"/>
            </a:xfrm>
          </p:grpSpPr>
          <p:sp>
            <p:nvSpPr>
              <p:cNvPr id="46105" name="Rectangle 73"/>
              <p:cNvSpPr>
                <a:spLocks noChangeArrowheads="1"/>
              </p:cNvSpPr>
              <p:nvPr/>
            </p:nvSpPr>
            <p:spPr bwMode="auto">
              <a:xfrm>
                <a:off x="876" y="1848"/>
                <a:ext cx="60" cy="1734"/>
              </a:xfrm>
              <a:prstGeom prst="rect">
                <a:avLst/>
              </a:prstGeom>
              <a:solidFill>
                <a:schemeClr val="bg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6106" name="Rectangle 74" descr="Dark horizontal"/>
              <p:cNvSpPr>
                <a:spLocks noChangeArrowheads="1"/>
              </p:cNvSpPr>
              <p:nvPr/>
            </p:nvSpPr>
            <p:spPr bwMode="auto">
              <a:xfrm>
                <a:off x="876" y="3006"/>
                <a:ext cx="60" cy="588"/>
              </a:xfrm>
              <a:prstGeom prst="rect">
                <a:avLst/>
              </a:prstGeom>
              <a:pattFill prst="dkHorz">
                <a:fgClr>
                  <a:srgbClr val="777777"/>
                </a:fgClr>
                <a:bgClr>
                  <a:schemeClr val="bg1"/>
                </a:bgClr>
              </a:patt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6107" name="AutoShape 75"/>
              <p:cNvSpPr>
                <a:spLocks noChangeArrowheads="1"/>
              </p:cNvSpPr>
              <p:nvPr/>
            </p:nvSpPr>
            <p:spPr bwMode="auto">
              <a:xfrm flipH="1">
                <a:off x="732" y="1686"/>
                <a:ext cx="210" cy="174"/>
              </a:xfrm>
              <a:custGeom>
                <a:avLst/>
                <a:gdLst>
                  <a:gd name="T0" fmla="*/ 147 w 21600"/>
                  <a:gd name="T1" fmla="*/ 0 h 21600"/>
                  <a:gd name="T2" fmla="*/ 147 w 21600"/>
                  <a:gd name="T3" fmla="*/ 98 h 21600"/>
                  <a:gd name="T4" fmla="*/ 31 w 21600"/>
                  <a:gd name="T5" fmla="*/ 174 h 21600"/>
                  <a:gd name="T6" fmla="*/ 210 w 21600"/>
                  <a:gd name="T7" fmla="*/ 49 h 21600"/>
                  <a:gd name="T8" fmla="*/ 17694720 60000 65536"/>
                  <a:gd name="T9" fmla="*/ 5898240 60000 65536"/>
                  <a:gd name="T10" fmla="*/ 5898240 60000 65536"/>
                  <a:gd name="T11" fmla="*/ 0 60000 65536"/>
                  <a:gd name="T12" fmla="*/ 12446 w 21600"/>
                  <a:gd name="T13" fmla="*/ 2855 h 21600"/>
                  <a:gd name="T14" fmla="*/ 18206 w 21600"/>
                  <a:gd name="T15" fmla="*/ 918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333399"/>
              </a:solidFill>
              <a:ln w="9525">
                <a:solidFill>
                  <a:schemeClr val="tx1"/>
                </a:solidFill>
                <a:miter lim="800000"/>
                <a:headEnd/>
                <a:tailEnd/>
              </a:ln>
            </p:spPr>
            <p:txBody>
              <a:bodyPr wrap="none" anchor="ctr"/>
              <a:lstStyle/>
              <a:p>
                <a:endParaRPr lang="en-US"/>
              </a:p>
            </p:txBody>
          </p:sp>
        </p:grpSp>
        <p:sp>
          <p:nvSpPr>
            <p:cNvPr id="46104" name="Text Box 77"/>
            <p:cNvSpPr txBox="1">
              <a:spLocks noChangeArrowheads="1"/>
            </p:cNvSpPr>
            <p:nvPr/>
          </p:nvSpPr>
          <p:spPr bwMode="auto">
            <a:xfrm>
              <a:off x="2292" y="3342"/>
              <a:ext cx="1674" cy="231"/>
            </a:xfrm>
            <a:prstGeom prst="rect">
              <a:avLst/>
            </a:prstGeom>
            <a:noFill/>
            <a:ln w="9525">
              <a:noFill/>
              <a:miter lim="800000"/>
              <a:headEnd/>
              <a:tailEnd/>
            </a:ln>
          </p:spPr>
          <p:txBody>
            <a:bodyPr>
              <a:spAutoFit/>
            </a:bodyPr>
            <a:lstStyle/>
            <a:p>
              <a:pPr>
                <a:spcBef>
                  <a:spcPct val="50000"/>
                </a:spcBef>
              </a:pPr>
              <a:r>
                <a:rPr lang="en-AU" i="0">
                  <a:solidFill>
                    <a:schemeClr val="tx1"/>
                  </a:solidFill>
                </a:rPr>
                <a:t>Groundwater Pumping</a:t>
              </a:r>
              <a:endParaRPr lang="en-US" i="0">
                <a:solidFill>
                  <a:schemeClr val="tx1"/>
                </a:solidFill>
              </a:endParaRPr>
            </a:p>
          </p:txBody>
        </p:sp>
      </p:grpSp>
      <p:pic>
        <p:nvPicPr>
          <p:cNvPr id="46095" name="Picture 80"/>
          <p:cNvPicPr>
            <a:picLocks noChangeAspect="1" noChangeArrowheads="1"/>
          </p:cNvPicPr>
          <p:nvPr/>
        </p:nvPicPr>
        <p:blipFill>
          <a:blip r:embed="rId3"/>
          <a:srcRect/>
          <a:stretch>
            <a:fillRect/>
          </a:stretch>
        </p:blipFill>
        <p:spPr bwMode="auto">
          <a:xfrm>
            <a:off x="6372225" y="1884363"/>
            <a:ext cx="1781175" cy="4313237"/>
          </a:xfrm>
          <a:prstGeom prst="rect">
            <a:avLst/>
          </a:prstGeom>
          <a:noFill/>
          <a:ln w="9525">
            <a:noFill/>
            <a:miter lim="800000"/>
            <a:headEnd/>
            <a:tailEnd/>
          </a:ln>
        </p:spPr>
      </p:pic>
      <p:grpSp>
        <p:nvGrpSpPr>
          <p:cNvPr id="90203" name="Group 91"/>
          <p:cNvGrpSpPr>
            <a:grpSpLocks/>
          </p:cNvGrpSpPr>
          <p:nvPr/>
        </p:nvGrpSpPr>
        <p:grpSpPr bwMode="auto">
          <a:xfrm>
            <a:off x="1695450" y="3690938"/>
            <a:ext cx="4660900" cy="1120775"/>
            <a:chOff x="1068" y="2000"/>
            <a:chExt cx="2936" cy="706"/>
          </a:xfrm>
        </p:grpSpPr>
        <p:sp>
          <p:nvSpPr>
            <p:cNvPr id="46101" name="Rectangle 59"/>
            <p:cNvSpPr>
              <a:spLocks noChangeArrowheads="1"/>
            </p:cNvSpPr>
            <p:nvPr/>
          </p:nvSpPr>
          <p:spPr bwMode="auto">
            <a:xfrm>
              <a:off x="1068" y="2448"/>
              <a:ext cx="258" cy="258"/>
            </a:xfrm>
            <a:prstGeom prst="rect">
              <a:avLst/>
            </a:prstGeom>
            <a:solidFill>
              <a:srgbClr val="333399"/>
            </a:solidFill>
            <a:ln w="9525" algn="ctr">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6102" name="Text Box 63"/>
            <p:cNvSpPr txBox="1">
              <a:spLocks noChangeArrowheads="1"/>
            </p:cNvSpPr>
            <p:nvPr/>
          </p:nvSpPr>
          <p:spPr bwMode="auto">
            <a:xfrm>
              <a:off x="2306" y="2000"/>
              <a:ext cx="1698" cy="404"/>
            </a:xfrm>
            <a:prstGeom prst="rect">
              <a:avLst/>
            </a:prstGeom>
            <a:noFill/>
            <a:ln w="9525">
              <a:noFill/>
              <a:miter lim="800000"/>
              <a:headEnd/>
              <a:tailEnd/>
            </a:ln>
          </p:spPr>
          <p:txBody>
            <a:bodyPr>
              <a:spAutoFit/>
            </a:bodyPr>
            <a:lstStyle/>
            <a:p>
              <a:pPr>
                <a:spcBef>
                  <a:spcPct val="50000"/>
                </a:spcBef>
              </a:pPr>
              <a:r>
                <a:rPr lang="en-AU" i="0">
                  <a:solidFill>
                    <a:schemeClr val="tx1"/>
                  </a:solidFill>
                </a:rPr>
                <a:t>Soil storage (unsaturated zone)</a:t>
              </a:r>
              <a:endParaRPr lang="en-US" i="0">
                <a:solidFill>
                  <a:schemeClr val="tx1"/>
                </a:solidFill>
              </a:endParaRPr>
            </a:p>
          </p:txBody>
        </p:sp>
      </p:grpSp>
      <p:sp>
        <p:nvSpPr>
          <p:cNvPr id="46097" name="Line 87"/>
          <p:cNvSpPr>
            <a:spLocks noChangeShapeType="1"/>
          </p:cNvSpPr>
          <p:nvPr/>
        </p:nvSpPr>
        <p:spPr bwMode="auto">
          <a:xfrm>
            <a:off x="3409950" y="3078163"/>
            <a:ext cx="2971800" cy="0"/>
          </a:xfrm>
          <a:prstGeom prst="line">
            <a:avLst/>
          </a:prstGeom>
          <a:noFill/>
          <a:ln w="9525">
            <a:solidFill>
              <a:schemeClr val="tx1"/>
            </a:solidFill>
            <a:prstDash val="dash"/>
            <a:round/>
            <a:headEnd/>
            <a:tailEnd/>
          </a:ln>
        </p:spPr>
        <p:txBody>
          <a:bodyPr/>
          <a:lstStyle/>
          <a:p>
            <a:endParaRPr lang="en-US"/>
          </a:p>
        </p:txBody>
      </p:sp>
      <p:grpSp>
        <p:nvGrpSpPr>
          <p:cNvPr id="90209" name="Group 97"/>
          <p:cNvGrpSpPr>
            <a:grpSpLocks/>
          </p:cNvGrpSpPr>
          <p:nvPr/>
        </p:nvGrpSpPr>
        <p:grpSpPr bwMode="auto">
          <a:xfrm>
            <a:off x="1733550" y="4281488"/>
            <a:ext cx="4660900" cy="939800"/>
            <a:chOff x="1086" y="2372"/>
            <a:chExt cx="2936" cy="592"/>
          </a:xfrm>
        </p:grpSpPr>
        <p:sp>
          <p:nvSpPr>
            <p:cNvPr id="46099" name="Text Box 95"/>
            <p:cNvSpPr txBox="1">
              <a:spLocks noChangeArrowheads="1"/>
            </p:cNvSpPr>
            <p:nvPr/>
          </p:nvSpPr>
          <p:spPr bwMode="auto">
            <a:xfrm>
              <a:off x="2312" y="2372"/>
              <a:ext cx="1710" cy="231"/>
            </a:xfrm>
            <a:prstGeom prst="rect">
              <a:avLst/>
            </a:prstGeom>
            <a:solidFill>
              <a:schemeClr val="bg1">
                <a:alpha val="21176"/>
              </a:schemeClr>
            </a:solidFill>
            <a:ln w="9525">
              <a:noFill/>
              <a:miter lim="800000"/>
              <a:headEnd/>
              <a:tailEnd/>
            </a:ln>
          </p:spPr>
          <p:txBody>
            <a:bodyPr>
              <a:spAutoFit/>
            </a:bodyPr>
            <a:lstStyle/>
            <a:p>
              <a:pPr>
                <a:spcBef>
                  <a:spcPct val="50000"/>
                </a:spcBef>
              </a:pPr>
              <a:r>
                <a:rPr lang="en-AU" i="0">
                  <a:solidFill>
                    <a:schemeClr val="tx1"/>
                  </a:solidFill>
                </a:rPr>
                <a:t>Recharge</a:t>
              </a:r>
              <a:endParaRPr lang="en-US" i="0">
                <a:solidFill>
                  <a:schemeClr val="tx1"/>
                </a:solidFill>
              </a:endParaRPr>
            </a:p>
          </p:txBody>
        </p:sp>
        <p:sp>
          <p:nvSpPr>
            <p:cNvPr id="46100" name="AutoShape 96"/>
            <p:cNvSpPr>
              <a:spLocks noChangeArrowheads="1"/>
            </p:cNvSpPr>
            <p:nvPr/>
          </p:nvSpPr>
          <p:spPr bwMode="auto">
            <a:xfrm>
              <a:off x="1086" y="2850"/>
              <a:ext cx="168" cy="114"/>
            </a:xfrm>
            <a:prstGeom prst="downArrow">
              <a:avLst>
                <a:gd name="adj1" fmla="val 50000"/>
                <a:gd name="adj2" fmla="val 25000"/>
              </a:avLst>
            </a:prstGeom>
            <a:solidFill>
              <a:srgbClr val="333399"/>
            </a:solidFill>
            <a:ln w="9525" algn="ctr">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0201"/>
                                        </p:tgtEl>
                                        <p:attrNameLst>
                                          <p:attrName>style.visibility</p:attrName>
                                        </p:attrNameLst>
                                      </p:cBhvr>
                                      <p:to>
                                        <p:strVal val="visible"/>
                                      </p:to>
                                    </p:set>
                                    <p:animEffect transition="in" filter="dissolve">
                                      <p:cBhvr>
                                        <p:cTn id="7" dur="500"/>
                                        <p:tgtEl>
                                          <p:spTgt spid="902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90202"/>
                                        </p:tgtEl>
                                        <p:attrNameLst>
                                          <p:attrName>style.visibility</p:attrName>
                                        </p:attrNameLst>
                                      </p:cBhvr>
                                      <p:to>
                                        <p:strVal val="visible"/>
                                      </p:to>
                                    </p:set>
                                    <p:animEffect transition="in" filter="dissolve">
                                      <p:cBhvr>
                                        <p:cTn id="12" dur="500"/>
                                        <p:tgtEl>
                                          <p:spTgt spid="902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90203"/>
                                        </p:tgtEl>
                                        <p:attrNameLst>
                                          <p:attrName>style.visibility</p:attrName>
                                        </p:attrNameLst>
                                      </p:cBhvr>
                                      <p:to>
                                        <p:strVal val="visible"/>
                                      </p:to>
                                    </p:set>
                                    <p:animEffect transition="in" filter="dissolve">
                                      <p:cBhvr>
                                        <p:cTn id="17" dur="500"/>
                                        <p:tgtEl>
                                          <p:spTgt spid="9020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90209"/>
                                        </p:tgtEl>
                                        <p:attrNameLst>
                                          <p:attrName>style.visibility</p:attrName>
                                        </p:attrNameLst>
                                      </p:cBhvr>
                                      <p:to>
                                        <p:strVal val="visible"/>
                                      </p:to>
                                    </p:set>
                                    <p:animEffect transition="in" filter="dissolve">
                                      <p:cBhvr>
                                        <p:cTn id="22" dur="500"/>
                                        <p:tgtEl>
                                          <p:spTgt spid="9020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90211"/>
                                        </p:tgtEl>
                                        <p:attrNameLst>
                                          <p:attrName>style.visibility</p:attrName>
                                        </p:attrNameLst>
                                      </p:cBhvr>
                                      <p:to>
                                        <p:strVal val="visible"/>
                                      </p:to>
                                    </p:set>
                                    <p:animEffect transition="in" filter="dissolve">
                                      <p:cBhvr>
                                        <p:cTn id="27" dur="500"/>
                                        <p:tgtEl>
                                          <p:spTgt spid="902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90205"/>
                                        </p:tgtEl>
                                        <p:attrNameLst>
                                          <p:attrName>style.visibility</p:attrName>
                                        </p:attrNameLst>
                                      </p:cBhvr>
                                      <p:to>
                                        <p:strVal val="visible"/>
                                      </p:to>
                                    </p:set>
                                    <p:animEffect transition="in" filter="dissolve">
                                      <p:cBhvr>
                                        <p:cTn id="32" dur="500"/>
                                        <p:tgtEl>
                                          <p:spTgt spid="9020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90206"/>
                                        </p:tgtEl>
                                        <p:attrNameLst>
                                          <p:attrName>style.visibility</p:attrName>
                                        </p:attrNameLst>
                                      </p:cBhvr>
                                      <p:to>
                                        <p:strVal val="visible"/>
                                      </p:to>
                                    </p:set>
                                    <p:animEffect transition="in" filter="dissolve">
                                      <p:cBhvr>
                                        <p:cTn id="37" dur="500"/>
                                        <p:tgtEl>
                                          <p:spTgt spid="90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302"/>
          <p:cNvSpPr>
            <a:spLocks noChangeArrowheads="1"/>
          </p:cNvSpPr>
          <p:nvPr/>
        </p:nvSpPr>
        <p:spPr bwMode="auto">
          <a:xfrm>
            <a:off x="438150" y="2066925"/>
            <a:ext cx="6972300" cy="4552950"/>
          </a:xfrm>
          <a:prstGeom prst="rect">
            <a:avLst/>
          </a:prstGeom>
          <a:solidFill>
            <a:schemeClr val="bg1"/>
          </a:solid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8130" name="Rectangle 2"/>
          <p:cNvSpPr>
            <a:spLocks noGrp="1" noChangeArrowheads="1"/>
          </p:cNvSpPr>
          <p:nvPr>
            <p:ph type="title"/>
          </p:nvPr>
        </p:nvSpPr>
        <p:spPr>
          <a:xfrm>
            <a:off x="438150" y="817563"/>
            <a:ext cx="6992938" cy="987425"/>
          </a:xfrm>
        </p:spPr>
        <p:txBody>
          <a:bodyPr/>
          <a:lstStyle/>
          <a:p>
            <a:r>
              <a:rPr lang="en-AU" smtClean="0"/>
              <a:t>Groundwater System Dynamics – Unconfined Aquifer</a:t>
            </a:r>
            <a:endParaRPr lang="en-US" smtClean="0"/>
          </a:p>
        </p:txBody>
      </p:sp>
      <p:sp>
        <p:nvSpPr>
          <p:cNvPr id="48131" name="Line 1843"/>
          <p:cNvSpPr>
            <a:spLocks noChangeShapeType="1"/>
          </p:cNvSpPr>
          <p:nvPr/>
        </p:nvSpPr>
        <p:spPr bwMode="auto">
          <a:xfrm flipV="1">
            <a:off x="2505075" y="5230813"/>
            <a:ext cx="287338" cy="503237"/>
          </a:xfrm>
          <a:prstGeom prst="line">
            <a:avLst/>
          </a:prstGeom>
          <a:noFill/>
          <a:ln w="9525">
            <a:solidFill>
              <a:srgbClr val="000000"/>
            </a:solidFill>
            <a:round/>
            <a:headEnd/>
            <a:tailEnd/>
          </a:ln>
        </p:spPr>
        <p:txBody>
          <a:bodyPr/>
          <a:lstStyle/>
          <a:p>
            <a:endParaRPr lang="en-US"/>
          </a:p>
        </p:txBody>
      </p:sp>
      <p:grpSp>
        <p:nvGrpSpPr>
          <p:cNvPr id="48132" name="Group 1844"/>
          <p:cNvGrpSpPr>
            <a:grpSpLocks/>
          </p:cNvGrpSpPr>
          <p:nvPr/>
        </p:nvGrpSpPr>
        <p:grpSpPr bwMode="auto">
          <a:xfrm>
            <a:off x="2778125" y="2130425"/>
            <a:ext cx="3405188" cy="1152525"/>
            <a:chOff x="1646" y="933"/>
            <a:chExt cx="2145" cy="726"/>
          </a:xfrm>
        </p:grpSpPr>
        <p:sp>
          <p:nvSpPr>
            <p:cNvPr id="48588" name="Rectangle 1845" descr="Dashed upward diagonal"/>
            <p:cNvSpPr>
              <a:spLocks noChangeArrowheads="1"/>
            </p:cNvSpPr>
            <p:nvPr/>
          </p:nvSpPr>
          <p:spPr bwMode="auto">
            <a:xfrm>
              <a:off x="1674" y="1170"/>
              <a:ext cx="2052" cy="489"/>
            </a:xfrm>
            <a:prstGeom prst="rect">
              <a:avLst/>
            </a:prstGeom>
            <a:pattFill prst="dashUpDiag">
              <a:fgClr>
                <a:srgbClr val="DDDDDD"/>
              </a:fgClr>
              <a:bgClr>
                <a:srgbClr val="FFFFFF"/>
              </a:bgClr>
            </a:patt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8589" name="Freeform 1846"/>
            <p:cNvSpPr>
              <a:spLocks/>
            </p:cNvSpPr>
            <p:nvPr/>
          </p:nvSpPr>
          <p:spPr bwMode="auto">
            <a:xfrm>
              <a:off x="1646" y="933"/>
              <a:ext cx="2145" cy="380"/>
            </a:xfrm>
            <a:custGeom>
              <a:avLst/>
              <a:gdLst>
                <a:gd name="T0" fmla="*/ 267 w 1575"/>
                <a:gd name="T1" fmla="*/ 351 h 380"/>
                <a:gd name="T2" fmla="*/ 38 w 1575"/>
                <a:gd name="T3" fmla="*/ 303 h 380"/>
                <a:gd name="T4" fmla="*/ 38 w 1575"/>
                <a:gd name="T5" fmla="*/ 159 h 380"/>
                <a:gd name="T6" fmla="*/ 144 w 1575"/>
                <a:gd name="T7" fmla="*/ 81 h 380"/>
                <a:gd name="T8" fmla="*/ 332 w 1575"/>
                <a:gd name="T9" fmla="*/ 75 h 380"/>
                <a:gd name="T10" fmla="*/ 406 w 1575"/>
                <a:gd name="T11" fmla="*/ 45 h 380"/>
                <a:gd name="T12" fmla="*/ 561 w 1575"/>
                <a:gd name="T13" fmla="*/ 3 h 380"/>
                <a:gd name="T14" fmla="*/ 790 w 1575"/>
                <a:gd name="T15" fmla="*/ 63 h 380"/>
                <a:gd name="T16" fmla="*/ 814 w 1575"/>
                <a:gd name="T17" fmla="*/ 99 h 380"/>
                <a:gd name="T18" fmla="*/ 880 w 1575"/>
                <a:gd name="T19" fmla="*/ 39 h 380"/>
                <a:gd name="T20" fmla="*/ 1035 w 1575"/>
                <a:gd name="T21" fmla="*/ 3 h 380"/>
                <a:gd name="T22" fmla="*/ 1198 w 1575"/>
                <a:gd name="T23" fmla="*/ 33 h 380"/>
                <a:gd name="T24" fmla="*/ 1223 w 1575"/>
                <a:gd name="T25" fmla="*/ 99 h 380"/>
                <a:gd name="T26" fmla="*/ 1337 w 1575"/>
                <a:gd name="T27" fmla="*/ 69 h 380"/>
                <a:gd name="T28" fmla="*/ 1476 w 1575"/>
                <a:gd name="T29" fmla="*/ 15 h 380"/>
                <a:gd name="T30" fmla="*/ 1721 w 1575"/>
                <a:gd name="T31" fmla="*/ 21 h 380"/>
                <a:gd name="T32" fmla="*/ 1918 w 1575"/>
                <a:gd name="T33" fmla="*/ 99 h 380"/>
                <a:gd name="T34" fmla="*/ 1820 w 1575"/>
                <a:gd name="T35" fmla="*/ 177 h 380"/>
                <a:gd name="T36" fmla="*/ 1869 w 1575"/>
                <a:gd name="T37" fmla="*/ 201 h 380"/>
                <a:gd name="T38" fmla="*/ 2106 w 1575"/>
                <a:gd name="T39" fmla="*/ 237 h 380"/>
                <a:gd name="T40" fmla="*/ 2106 w 1575"/>
                <a:gd name="T41" fmla="*/ 309 h 380"/>
                <a:gd name="T42" fmla="*/ 2048 w 1575"/>
                <a:gd name="T43" fmla="*/ 369 h 380"/>
                <a:gd name="T44" fmla="*/ 1689 w 1575"/>
                <a:gd name="T45" fmla="*/ 345 h 380"/>
                <a:gd name="T46" fmla="*/ 1542 w 1575"/>
                <a:gd name="T47" fmla="*/ 297 h 380"/>
                <a:gd name="T48" fmla="*/ 1427 w 1575"/>
                <a:gd name="T49" fmla="*/ 327 h 380"/>
                <a:gd name="T50" fmla="*/ 1198 w 1575"/>
                <a:gd name="T51" fmla="*/ 369 h 380"/>
                <a:gd name="T52" fmla="*/ 1076 w 1575"/>
                <a:gd name="T53" fmla="*/ 321 h 380"/>
                <a:gd name="T54" fmla="*/ 855 w 1575"/>
                <a:gd name="T55" fmla="*/ 291 h 380"/>
                <a:gd name="T56" fmla="*/ 757 w 1575"/>
                <a:gd name="T57" fmla="*/ 345 h 380"/>
                <a:gd name="T58" fmla="*/ 545 w 1575"/>
                <a:gd name="T59" fmla="*/ 375 h 380"/>
                <a:gd name="T60" fmla="*/ 439 w 1575"/>
                <a:gd name="T61" fmla="*/ 315 h 380"/>
                <a:gd name="T62" fmla="*/ 267 w 1575"/>
                <a:gd name="T63" fmla="*/ 351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575"/>
                <a:gd name="T97" fmla="*/ 0 h 380"/>
                <a:gd name="T98" fmla="*/ 1575 w 1575"/>
                <a:gd name="T99" fmla="*/ 380 h 3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575" h="380">
                  <a:moveTo>
                    <a:pt x="196" y="351"/>
                  </a:moveTo>
                  <a:cubicBezTo>
                    <a:pt x="147" y="349"/>
                    <a:pt x="56" y="335"/>
                    <a:pt x="28" y="303"/>
                  </a:cubicBezTo>
                  <a:cubicBezTo>
                    <a:pt x="0" y="271"/>
                    <a:pt x="15" y="196"/>
                    <a:pt x="28" y="159"/>
                  </a:cubicBezTo>
                  <a:cubicBezTo>
                    <a:pt x="41" y="122"/>
                    <a:pt x="70" y="95"/>
                    <a:pt x="106" y="81"/>
                  </a:cubicBezTo>
                  <a:cubicBezTo>
                    <a:pt x="142" y="67"/>
                    <a:pt x="212" y="81"/>
                    <a:pt x="244" y="75"/>
                  </a:cubicBezTo>
                  <a:cubicBezTo>
                    <a:pt x="276" y="69"/>
                    <a:pt x="270" y="57"/>
                    <a:pt x="298" y="45"/>
                  </a:cubicBezTo>
                  <a:cubicBezTo>
                    <a:pt x="326" y="33"/>
                    <a:pt x="365" y="0"/>
                    <a:pt x="412" y="3"/>
                  </a:cubicBezTo>
                  <a:cubicBezTo>
                    <a:pt x="459" y="6"/>
                    <a:pt x="549" y="47"/>
                    <a:pt x="580" y="63"/>
                  </a:cubicBezTo>
                  <a:cubicBezTo>
                    <a:pt x="611" y="79"/>
                    <a:pt x="587" y="103"/>
                    <a:pt x="598" y="99"/>
                  </a:cubicBezTo>
                  <a:cubicBezTo>
                    <a:pt x="609" y="95"/>
                    <a:pt x="619" y="55"/>
                    <a:pt x="646" y="39"/>
                  </a:cubicBezTo>
                  <a:cubicBezTo>
                    <a:pt x="673" y="23"/>
                    <a:pt x="721" y="4"/>
                    <a:pt x="760" y="3"/>
                  </a:cubicBezTo>
                  <a:cubicBezTo>
                    <a:pt x="799" y="2"/>
                    <a:pt x="857" y="17"/>
                    <a:pt x="880" y="33"/>
                  </a:cubicBezTo>
                  <a:cubicBezTo>
                    <a:pt x="903" y="49"/>
                    <a:pt x="881" y="93"/>
                    <a:pt x="898" y="99"/>
                  </a:cubicBezTo>
                  <a:cubicBezTo>
                    <a:pt x="915" y="105"/>
                    <a:pt x="951" y="83"/>
                    <a:pt x="982" y="69"/>
                  </a:cubicBezTo>
                  <a:cubicBezTo>
                    <a:pt x="1013" y="55"/>
                    <a:pt x="1037" y="23"/>
                    <a:pt x="1084" y="15"/>
                  </a:cubicBezTo>
                  <a:cubicBezTo>
                    <a:pt x="1131" y="7"/>
                    <a:pt x="1210" y="7"/>
                    <a:pt x="1264" y="21"/>
                  </a:cubicBezTo>
                  <a:cubicBezTo>
                    <a:pt x="1318" y="35"/>
                    <a:pt x="1396" y="73"/>
                    <a:pt x="1408" y="99"/>
                  </a:cubicBezTo>
                  <a:cubicBezTo>
                    <a:pt x="1420" y="125"/>
                    <a:pt x="1342" y="160"/>
                    <a:pt x="1336" y="177"/>
                  </a:cubicBezTo>
                  <a:cubicBezTo>
                    <a:pt x="1330" y="194"/>
                    <a:pt x="1337" y="191"/>
                    <a:pt x="1372" y="201"/>
                  </a:cubicBezTo>
                  <a:cubicBezTo>
                    <a:pt x="1407" y="211"/>
                    <a:pt x="1517" y="219"/>
                    <a:pt x="1546" y="237"/>
                  </a:cubicBezTo>
                  <a:cubicBezTo>
                    <a:pt x="1575" y="255"/>
                    <a:pt x="1553" y="287"/>
                    <a:pt x="1546" y="309"/>
                  </a:cubicBezTo>
                  <a:cubicBezTo>
                    <a:pt x="1539" y="331"/>
                    <a:pt x="1555" y="363"/>
                    <a:pt x="1504" y="369"/>
                  </a:cubicBezTo>
                  <a:cubicBezTo>
                    <a:pt x="1453" y="375"/>
                    <a:pt x="1302" y="357"/>
                    <a:pt x="1240" y="345"/>
                  </a:cubicBezTo>
                  <a:cubicBezTo>
                    <a:pt x="1178" y="333"/>
                    <a:pt x="1164" y="300"/>
                    <a:pt x="1132" y="297"/>
                  </a:cubicBezTo>
                  <a:cubicBezTo>
                    <a:pt x="1100" y="294"/>
                    <a:pt x="1090" y="315"/>
                    <a:pt x="1048" y="327"/>
                  </a:cubicBezTo>
                  <a:cubicBezTo>
                    <a:pt x="1006" y="339"/>
                    <a:pt x="923" y="370"/>
                    <a:pt x="880" y="369"/>
                  </a:cubicBezTo>
                  <a:cubicBezTo>
                    <a:pt x="837" y="368"/>
                    <a:pt x="832" y="334"/>
                    <a:pt x="790" y="321"/>
                  </a:cubicBezTo>
                  <a:cubicBezTo>
                    <a:pt x="748" y="308"/>
                    <a:pt x="667" y="287"/>
                    <a:pt x="628" y="291"/>
                  </a:cubicBezTo>
                  <a:cubicBezTo>
                    <a:pt x="589" y="295"/>
                    <a:pt x="594" y="331"/>
                    <a:pt x="556" y="345"/>
                  </a:cubicBezTo>
                  <a:cubicBezTo>
                    <a:pt x="518" y="359"/>
                    <a:pt x="439" y="380"/>
                    <a:pt x="400" y="375"/>
                  </a:cubicBezTo>
                  <a:cubicBezTo>
                    <a:pt x="361" y="370"/>
                    <a:pt x="359" y="322"/>
                    <a:pt x="322" y="315"/>
                  </a:cubicBezTo>
                  <a:cubicBezTo>
                    <a:pt x="285" y="308"/>
                    <a:pt x="245" y="353"/>
                    <a:pt x="196" y="351"/>
                  </a:cubicBezTo>
                  <a:close/>
                </a:path>
              </a:pathLst>
            </a:custGeom>
            <a:solidFill>
              <a:srgbClr val="C0C0C0"/>
            </a:solidFill>
            <a:ln w="9525">
              <a:noFill/>
              <a:round/>
              <a:headEnd/>
              <a:tailEnd/>
            </a:ln>
          </p:spPr>
          <p:txBody>
            <a:bodyPr/>
            <a:lstStyle/>
            <a:p>
              <a:endParaRPr lang="en-US"/>
            </a:p>
          </p:txBody>
        </p:sp>
      </p:grpSp>
      <p:grpSp>
        <p:nvGrpSpPr>
          <p:cNvPr id="48133" name="Group 1847"/>
          <p:cNvGrpSpPr>
            <a:grpSpLocks/>
          </p:cNvGrpSpPr>
          <p:nvPr/>
        </p:nvGrpSpPr>
        <p:grpSpPr bwMode="auto">
          <a:xfrm>
            <a:off x="1114425" y="6037263"/>
            <a:ext cx="914400" cy="395287"/>
            <a:chOff x="3612" y="3348"/>
            <a:chExt cx="495" cy="249"/>
          </a:xfrm>
        </p:grpSpPr>
        <p:sp>
          <p:nvSpPr>
            <p:cNvPr id="48586" name="AutoShape 1848"/>
            <p:cNvSpPr>
              <a:spLocks noChangeArrowheads="1"/>
            </p:cNvSpPr>
            <p:nvPr/>
          </p:nvSpPr>
          <p:spPr bwMode="auto">
            <a:xfrm>
              <a:off x="3612" y="3348"/>
              <a:ext cx="495" cy="249"/>
            </a:xfrm>
            <a:prstGeom prst="leftArrow">
              <a:avLst>
                <a:gd name="adj1" fmla="val 50000"/>
                <a:gd name="adj2" fmla="val 49699"/>
              </a:avLst>
            </a:prstGeom>
            <a:solidFill>
              <a:srgbClr val="99CCFF"/>
            </a:solid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8587" name="Text Box 1849"/>
            <p:cNvSpPr txBox="1">
              <a:spLocks noChangeArrowheads="1"/>
            </p:cNvSpPr>
            <p:nvPr/>
          </p:nvSpPr>
          <p:spPr bwMode="auto">
            <a:xfrm>
              <a:off x="3624" y="3372"/>
              <a:ext cx="462" cy="192"/>
            </a:xfrm>
            <a:prstGeom prst="rect">
              <a:avLst/>
            </a:prstGeom>
            <a:noFill/>
            <a:ln w="9525">
              <a:noFill/>
              <a:miter lim="800000"/>
              <a:headEnd/>
              <a:tailEnd/>
            </a:ln>
          </p:spPr>
          <p:txBody>
            <a:bodyPr>
              <a:spAutoFit/>
            </a:bodyPr>
            <a:lstStyle/>
            <a:p>
              <a:pPr>
                <a:spcBef>
                  <a:spcPct val="50000"/>
                </a:spcBef>
              </a:pPr>
              <a:r>
                <a:rPr lang="en-AU" sz="1400" i="0">
                  <a:solidFill>
                    <a:srgbClr val="000000"/>
                  </a:solidFill>
                </a:rPr>
                <a:t>Out-flow</a:t>
              </a:r>
              <a:endParaRPr lang="en-US" sz="1400" i="0">
                <a:solidFill>
                  <a:srgbClr val="000000"/>
                </a:solidFill>
              </a:endParaRPr>
            </a:p>
          </p:txBody>
        </p:sp>
      </p:grpSp>
      <p:grpSp>
        <p:nvGrpSpPr>
          <p:cNvPr id="297786" name="Group 1850"/>
          <p:cNvGrpSpPr>
            <a:grpSpLocks/>
          </p:cNvGrpSpPr>
          <p:nvPr/>
        </p:nvGrpSpPr>
        <p:grpSpPr bwMode="auto">
          <a:xfrm>
            <a:off x="3729038" y="2278063"/>
            <a:ext cx="2217737" cy="2886075"/>
            <a:chOff x="2245" y="1026"/>
            <a:chExt cx="1397" cy="1818"/>
          </a:xfrm>
        </p:grpSpPr>
        <p:sp>
          <p:nvSpPr>
            <p:cNvPr id="48529" name="Text Box 1851"/>
            <p:cNvSpPr txBox="1">
              <a:spLocks noChangeArrowheads="1"/>
            </p:cNvSpPr>
            <p:nvPr/>
          </p:nvSpPr>
          <p:spPr bwMode="auto">
            <a:xfrm>
              <a:off x="2826" y="1026"/>
              <a:ext cx="816" cy="594"/>
            </a:xfrm>
            <a:prstGeom prst="rect">
              <a:avLst/>
            </a:prstGeom>
            <a:noFill/>
            <a:ln w="9525">
              <a:noFill/>
              <a:miter lim="800000"/>
              <a:headEnd/>
              <a:tailEnd/>
            </a:ln>
          </p:spPr>
          <p:txBody>
            <a:bodyPr>
              <a:spAutoFit/>
            </a:bodyPr>
            <a:lstStyle/>
            <a:p>
              <a:pPr>
                <a:buFontTx/>
                <a:buChar char="•"/>
              </a:pPr>
              <a:r>
                <a:rPr lang="en-AU" sz="1400" i="0">
                  <a:solidFill>
                    <a:srgbClr val="000000"/>
                  </a:solidFill>
                </a:rPr>
                <a:t> waterways</a:t>
              </a:r>
            </a:p>
            <a:p>
              <a:pPr>
                <a:buFontTx/>
                <a:buChar char="•"/>
              </a:pPr>
              <a:r>
                <a:rPr lang="en-AU" sz="1400" i="0">
                  <a:solidFill>
                    <a:srgbClr val="000000"/>
                  </a:solidFill>
                </a:rPr>
                <a:t> flooding</a:t>
              </a:r>
            </a:p>
            <a:p>
              <a:pPr>
                <a:buFontTx/>
                <a:buChar char="•"/>
              </a:pPr>
              <a:r>
                <a:rPr lang="en-AU" sz="1400" i="0">
                  <a:solidFill>
                    <a:srgbClr val="0000FF"/>
                  </a:solidFill>
                </a:rPr>
                <a:t> water supply</a:t>
              </a:r>
            </a:p>
            <a:p>
              <a:pPr>
                <a:buFontTx/>
                <a:buChar char="•"/>
              </a:pPr>
              <a:r>
                <a:rPr lang="en-AU" sz="1400" i="0">
                  <a:solidFill>
                    <a:srgbClr val="0000FF"/>
                  </a:solidFill>
                </a:rPr>
                <a:t> irrigation</a:t>
              </a:r>
              <a:endParaRPr lang="en-US" sz="1400" i="0">
                <a:solidFill>
                  <a:srgbClr val="0000FF"/>
                </a:solidFill>
              </a:endParaRPr>
            </a:p>
          </p:txBody>
        </p:sp>
        <p:grpSp>
          <p:nvGrpSpPr>
            <p:cNvPr id="48530" name="Group 1852"/>
            <p:cNvGrpSpPr>
              <a:grpSpLocks/>
            </p:cNvGrpSpPr>
            <p:nvPr/>
          </p:nvGrpSpPr>
          <p:grpSpPr bwMode="auto">
            <a:xfrm>
              <a:off x="2245" y="1661"/>
              <a:ext cx="726" cy="817"/>
              <a:chOff x="2245" y="1661"/>
              <a:chExt cx="726" cy="817"/>
            </a:xfrm>
          </p:grpSpPr>
          <p:sp>
            <p:nvSpPr>
              <p:cNvPr id="48579" name="Rectangle 1853"/>
              <p:cNvSpPr>
                <a:spLocks noChangeArrowheads="1"/>
              </p:cNvSpPr>
              <p:nvPr/>
            </p:nvSpPr>
            <p:spPr bwMode="auto">
              <a:xfrm>
                <a:off x="2245" y="1988"/>
                <a:ext cx="545" cy="490"/>
              </a:xfrm>
              <a:prstGeom prst="rect">
                <a:avLst/>
              </a:prstGeom>
              <a:no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8580" name="Line 1854"/>
              <p:cNvSpPr>
                <a:spLocks noChangeShapeType="1"/>
              </p:cNvSpPr>
              <p:nvPr/>
            </p:nvSpPr>
            <p:spPr bwMode="auto">
              <a:xfrm flipV="1">
                <a:off x="2790" y="2151"/>
                <a:ext cx="181" cy="327"/>
              </a:xfrm>
              <a:prstGeom prst="line">
                <a:avLst/>
              </a:prstGeom>
              <a:noFill/>
              <a:ln w="9525">
                <a:solidFill>
                  <a:srgbClr val="000000"/>
                </a:solidFill>
                <a:round/>
                <a:headEnd/>
                <a:tailEnd/>
              </a:ln>
            </p:spPr>
            <p:txBody>
              <a:bodyPr/>
              <a:lstStyle/>
              <a:p>
                <a:endParaRPr lang="en-US"/>
              </a:p>
            </p:txBody>
          </p:sp>
          <p:sp>
            <p:nvSpPr>
              <p:cNvPr id="48581" name="Freeform 1855"/>
              <p:cNvSpPr>
                <a:spLocks/>
              </p:cNvSpPr>
              <p:nvPr/>
            </p:nvSpPr>
            <p:spPr bwMode="auto">
              <a:xfrm>
                <a:off x="2517" y="1661"/>
                <a:ext cx="454" cy="454"/>
              </a:xfrm>
              <a:custGeom>
                <a:avLst/>
                <a:gdLst>
                  <a:gd name="T0" fmla="*/ 0 w 454"/>
                  <a:gd name="T1" fmla="*/ 318 h 454"/>
                  <a:gd name="T2" fmla="*/ 182 w 454"/>
                  <a:gd name="T3" fmla="*/ 0 h 454"/>
                  <a:gd name="T4" fmla="*/ 284 w 454"/>
                  <a:gd name="T5" fmla="*/ 139 h 454"/>
                  <a:gd name="T6" fmla="*/ 454 w 454"/>
                  <a:gd name="T7" fmla="*/ 136 h 454"/>
                  <a:gd name="T8" fmla="*/ 272 w 454"/>
                  <a:gd name="T9" fmla="*/ 454 h 454"/>
                  <a:gd name="T10" fmla="*/ 136 w 454"/>
                  <a:gd name="T11" fmla="*/ 454 h 454"/>
                  <a:gd name="T12" fmla="*/ 0 w 454"/>
                  <a:gd name="T13" fmla="*/ 318 h 454"/>
                  <a:gd name="T14" fmla="*/ 0 60000 65536"/>
                  <a:gd name="T15" fmla="*/ 0 60000 65536"/>
                  <a:gd name="T16" fmla="*/ 0 60000 65536"/>
                  <a:gd name="T17" fmla="*/ 0 60000 65536"/>
                  <a:gd name="T18" fmla="*/ 0 60000 65536"/>
                  <a:gd name="T19" fmla="*/ 0 60000 65536"/>
                  <a:gd name="T20" fmla="*/ 0 60000 65536"/>
                  <a:gd name="T21" fmla="*/ 0 w 454"/>
                  <a:gd name="T22" fmla="*/ 0 h 454"/>
                  <a:gd name="T23" fmla="*/ 454 w 454"/>
                  <a:gd name="T24" fmla="*/ 454 h 4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4" h="454">
                    <a:moveTo>
                      <a:pt x="0" y="318"/>
                    </a:moveTo>
                    <a:lnTo>
                      <a:pt x="182" y="0"/>
                    </a:lnTo>
                    <a:lnTo>
                      <a:pt x="284" y="139"/>
                    </a:lnTo>
                    <a:lnTo>
                      <a:pt x="454" y="136"/>
                    </a:lnTo>
                    <a:lnTo>
                      <a:pt x="272" y="454"/>
                    </a:lnTo>
                    <a:lnTo>
                      <a:pt x="136" y="454"/>
                    </a:lnTo>
                    <a:lnTo>
                      <a:pt x="0" y="318"/>
                    </a:lnTo>
                    <a:close/>
                  </a:path>
                </a:pathLst>
              </a:custGeom>
              <a:solidFill>
                <a:srgbClr val="FFFFFF"/>
              </a:solidFill>
              <a:ln w="9525">
                <a:solidFill>
                  <a:srgbClr val="000000"/>
                </a:solidFill>
                <a:round/>
                <a:headEnd/>
                <a:tailEnd/>
              </a:ln>
            </p:spPr>
            <p:txBody>
              <a:bodyPr/>
              <a:lstStyle/>
              <a:p>
                <a:endParaRPr lang="en-US"/>
              </a:p>
            </p:txBody>
          </p:sp>
          <p:sp>
            <p:nvSpPr>
              <p:cNvPr id="48582" name="Freeform 1856"/>
              <p:cNvSpPr>
                <a:spLocks/>
              </p:cNvSpPr>
              <p:nvPr/>
            </p:nvSpPr>
            <p:spPr bwMode="auto">
              <a:xfrm>
                <a:off x="2246" y="1661"/>
                <a:ext cx="453" cy="326"/>
              </a:xfrm>
              <a:custGeom>
                <a:avLst/>
                <a:gdLst>
                  <a:gd name="T0" fmla="*/ 0 w 453"/>
                  <a:gd name="T1" fmla="*/ 326 h 326"/>
                  <a:gd name="T2" fmla="*/ 260 w 453"/>
                  <a:gd name="T3" fmla="*/ 326 h 326"/>
                  <a:gd name="T4" fmla="*/ 453 w 453"/>
                  <a:gd name="T5" fmla="*/ 0 h 326"/>
                  <a:gd name="T6" fmla="*/ 180 w 453"/>
                  <a:gd name="T7" fmla="*/ 0 h 326"/>
                  <a:gd name="T8" fmla="*/ 0 w 453"/>
                  <a:gd name="T9" fmla="*/ 326 h 326"/>
                  <a:gd name="T10" fmla="*/ 0 60000 65536"/>
                  <a:gd name="T11" fmla="*/ 0 60000 65536"/>
                  <a:gd name="T12" fmla="*/ 0 60000 65536"/>
                  <a:gd name="T13" fmla="*/ 0 60000 65536"/>
                  <a:gd name="T14" fmla="*/ 0 60000 65536"/>
                  <a:gd name="T15" fmla="*/ 0 w 453"/>
                  <a:gd name="T16" fmla="*/ 0 h 326"/>
                  <a:gd name="T17" fmla="*/ 453 w 453"/>
                  <a:gd name="T18" fmla="*/ 326 h 326"/>
                </a:gdLst>
                <a:ahLst/>
                <a:cxnLst>
                  <a:cxn ang="T10">
                    <a:pos x="T0" y="T1"/>
                  </a:cxn>
                  <a:cxn ang="T11">
                    <a:pos x="T2" y="T3"/>
                  </a:cxn>
                  <a:cxn ang="T12">
                    <a:pos x="T4" y="T5"/>
                  </a:cxn>
                  <a:cxn ang="T13">
                    <a:pos x="T6" y="T7"/>
                  </a:cxn>
                  <a:cxn ang="T14">
                    <a:pos x="T8" y="T9"/>
                  </a:cxn>
                </a:cxnLst>
                <a:rect l="T15" t="T16" r="T17" b="T18"/>
                <a:pathLst>
                  <a:path w="453" h="326">
                    <a:moveTo>
                      <a:pt x="0" y="326"/>
                    </a:moveTo>
                    <a:lnTo>
                      <a:pt x="260" y="326"/>
                    </a:lnTo>
                    <a:lnTo>
                      <a:pt x="453" y="0"/>
                    </a:lnTo>
                    <a:lnTo>
                      <a:pt x="180" y="0"/>
                    </a:lnTo>
                    <a:lnTo>
                      <a:pt x="0" y="326"/>
                    </a:lnTo>
                    <a:close/>
                  </a:path>
                </a:pathLst>
              </a:custGeom>
              <a:solidFill>
                <a:srgbClr val="FFFFFF"/>
              </a:solidFill>
              <a:ln w="9525">
                <a:solidFill>
                  <a:srgbClr val="000000"/>
                </a:solidFill>
                <a:round/>
                <a:headEnd/>
                <a:tailEnd/>
              </a:ln>
            </p:spPr>
            <p:txBody>
              <a:bodyPr/>
              <a:lstStyle/>
              <a:p>
                <a:endParaRPr lang="en-US"/>
              </a:p>
            </p:txBody>
          </p:sp>
          <p:sp>
            <p:nvSpPr>
              <p:cNvPr id="48583" name="Freeform 1857"/>
              <p:cNvSpPr>
                <a:spLocks/>
              </p:cNvSpPr>
              <p:nvPr/>
            </p:nvSpPr>
            <p:spPr bwMode="auto">
              <a:xfrm>
                <a:off x="2789" y="1797"/>
                <a:ext cx="182" cy="681"/>
              </a:xfrm>
              <a:custGeom>
                <a:avLst/>
                <a:gdLst>
                  <a:gd name="T0" fmla="*/ 0 w 182"/>
                  <a:gd name="T1" fmla="*/ 681 h 681"/>
                  <a:gd name="T2" fmla="*/ 0 w 182"/>
                  <a:gd name="T3" fmla="*/ 318 h 681"/>
                  <a:gd name="T4" fmla="*/ 182 w 182"/>
                  <a:gd name="T5" fmla="*/ 0 h 681"/>
                  <a:gd name="T6" fmla="*/ 182 w 182"/>
                  <a:gd name="T7" fmla="*/ 363 h 681"/>
                  <a:gd name="T8" fmla="*/ 0 w 182"/>
                  <a:gd name="T9" fmla="*/ 681 h 681"/>
                  <a:gd name="T10" fmla="*/ 0 60000 65536"/>
                  <a:gd name="T11" fmla="*/ 0 60000 65536"/>
                  <a:gd name="T12" fmla="*/ 0 60000 65536"/>
                  <a:gd name="T13" fmla="*/ 0 60000 65536"/>
                  <a:gd name="T14" fmla="*/ 0 60000 65536"/>
                  <a:gd name="T15" fmla="*/ 0 w 182"/>
                  <a:gd name="T16" fmla="*/ 0 h 681"/>
                  <a:gd name="T17" fmla="*/ 182 w 182"/>
                  <a:gd name="T18" fmla="*/ 681 h 681"/>
                </a:gdLst>
                <a:ahLst/>
                <a:cxnLst>
                  <a:cxn ang="T10">
                    <a:pos x="T0" y="T1"/>
                  </a:cxn>
                  <a:cxn ang="T11">
                    <a:pos x="T2" y="T3"/>
                  </a:cxn>
                  <a:cxn ang="T12">
                    <a:pos x="T4" y="T5"/>
                  </a:cxn>
                  <a:cxn ang="T13">
                    <a:pos x="T6" y="T7"/>
                  </a:cxn>
                  <a:cxn ang="T14">
                    <a:pos x="T8" y="T9"/>
                  </a:cxn>
                </a:cxnLst>
                <a:rect l="T15" t="T16" r="T17" b="T18"/>
                <a:pathLst>
                  <a:path w="182" h="681">
                    <a:moveTo>
                      <a:pt x="0" y="681"/>
                    </a:moveTo>
                    <a:lnTo>
                      <a:pt x="0" y="318"/>
                    </a:lnTo>
                    <a:lnTo>
                      <a:pt x="182" y="0"/>
                    </a:lnTo>
                    <a:lnTo>
                      <a:pt x="182" y="363"/>
                    </a:lnTo>
                    <a:lnTo>
                      <a:pt x="0" y="681"/>
                    </a:lnTo>
                    <a:close/>
                  </a:path>
                </a:pathLst>
              </a:custGeom>
              <a:solidFill>
                <a:srgbClr val="FFFFFF"/>
              </a:solidFill>
              <a:ln w="9525">
                <a:solidFill>
                  <a:srgbClr val="000000"/>
                </a:solidFill>
                <a:round/>
                <a:headEnd/>
                <a:tailEnd/>
              </a:ln>
            </p:spPr>
            <p:txBody>
              <a:bodyPr/>
              <a:lstStyle/>
              <a:p>
                <a:endParaRPr lang="en-US"/>
              </a:p>
            </p:txBody>
          </p:sp>
          <p:sp>
            <p:nvSpPr>
              <p:cNvPr id="48584" name="Freeform 1858"/>
              <p:cNvSpPr>
                <a:spLocks/>
              </p:cNvSpPr>
              <p:nvPr/>
            </p:nvSpPr>
            <p:spPr bwMode="auto">
              <a:xfrm>
                <a:off x="2517" y="1661"/>
                <a:ext cx="454" cy="454"/>
              </a:xfrm>
              <a:custGeom>
                <a:avLst/>
                <a:gdLst>
                  <a:gd name="T0" fmla="*/ 0 w 454"/>
                  <a:gd name="T1" fmla="*/ 318 h 454"/>
                  <a:gd name="T2" fmla="*/ 182 w 454"/>
                  <a:gd name="T3" fmla="*/ 0 h 454"/>
                  <a:gd name="T4" fmla="*/ 454 w 454"/>
                  <a:gd name="T5" fmla="*/ 0 h 454"/>
                  <a:gd name="T6" fmla="*/ 454 w 454"/>
                  <a:gd name="T7" fmla="*/ 136 h 454"/>
                  <a:gd name="T8" fmla="*/ 272 w 454"/>
                  <a:gd name="T9" fmla="*/ 454 h 454"/>
                  <a:gd name="T10" fmla="*/ 272 w 454"/>
                  <a:gd name="T11" fmla="*/ 318 h 454"/>
                  <a:gd name="T12" fmla="*/ 0 w 454"/>
                  <a:gd name="T13" fmla="*/ 318 h 454"/>
                  <a:gd name="T14" fmla="*/ 0 60000 65536"/>
                  <a:gd name="T15" fmla="*/ 0 60000 65536"/>
                  <a:gd name="T16" fmla="*/ 0 60000 65536"/>
                  <a:gd name="T17" fmla="*/ 0 60000 65536"/>
                  <a:gd name="T18" fmla="*/ 0 60000 65536"/>
                  <a:gd name="T19" fmla="*/ 0 60000 65536"/>
                  <a:gd name="T20" fmla="*/ 0 60000 65536"/>
                  <a:gd name="T21" fmla="*/ 0 w 454"/>
                  <a:gd name="T22" fmla="*/ 0 h 454"/>
                  <a:gd name="T23" fmla="*/ 454 w 454"/>
                  <a:gd name="T24" fmla="*/ 454 h 4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4" h="454">
                    <a:moveTo>
                      <a:pt x="0" y="318"/>
                    </a:moveTo>
                    <a:lnTo>
                      <a:pt x="182" y="0"/>
                    </a:lnTo>
                    <a:lnTo>
                      <a:pt x="454" y="0"/>
                    </a:lnTo>
                    <a:lnTo>
                      <a:pt x="454" y="136"/>
                    </a:lnTo>
                    <a:lnTo>
                      <a:pt x="272" y="454"/>
                    </a:lnTo>
                    <a:lnTo>
                      <a:pt x="272" y="318"/>
                    </a:lnTo>
                    <a:lnTo>
                      <a:pt x="0" y="318"/>
                    </a:lnTo>
                    <a:close/>
                  </a:path>
                </a:pathLst>
              </a:custGeom>
              <a:solidFill>
                <a:srgbClr val="99CCFF">
                  <a:alpha val="32941"/>
                </a:srgbClr>
              </a:solidFill>
              <a:ln w="9525">
                <a:noFill/>
                <a:round/>
                <a:headEnd/>
                <a:tailEnd/>
              </a:ln>
            </p:spPr>
            <p:txBody>
              <a:bodyPr/>
              <a:lstStyle/>
              <a:p>
                <a:endParaRPr lang="en-US"/>
              </a:p>
            </p:txBody>
          </p:sp>
          <p:sp>
            <p:nvSpPr>
              <p:cNvPr id="48585" name="Freeform 1859"/>
              <p:cNvSpPr>
                <a:spLocks/>
              </p:cNvSpPr>
              <p:nvPr/>
            </p:nvSpPr>
            <p:spPr bwMode="auto">
              <a:xfrm>
                <a:off x="2517" y="1979"/>
                <a:ext cx="272" cy="136"/>
              </a:xfrm>
              <a:custGeom>
                <a:avLst/>
                <a:gdLst>
                  <a:gd name="T0" fmla="*/ 0 w 272"/>
                  <a:gd name="T1" fmla="*/ 0 h 136"/>
                  <a:gd name="T2" fmla="*/ 136 w 272"/>
                  <a:gd name="T3" fmla="*/ 136 h 136"/>
                  <a:gd name="T4" fmla="*/ 272 w 272"/>
                  <a:gd name="T5" fmla="*/ 136 h 136"/>
                  <a:gd name="T6" fmla="*/ 272 w 272"/>
                  <a:gd name="T7" fmla="*/ 0 h 136"/>
                  <a:gd name="T8" fmla="*/ 0 w 272"/>
                  <a:gd name="T9" fmla="*/ 0 h 136"/>
                  <a:gd name="T10" fmla="*/ 0 60000 65536"/>
                  <a:gd name="T11" fmla="*/ 0 60000 65536"/>
                  <a:gd name="T12" fmla="*/ 0 60000 65536"/>
                  <a:gd name="T13" fmla="*/ 0 60000 65536"/>
                  <a:gd name="T14" fmla="*/ 0 60000 65536"/>
                  <a:gd name="T15" fmla="*/ 0 w 272"/>
                  <a:gd name="T16" fmla="*/ 0 h 136"/>
                  <a:gd name="T17" fmla="*/ 272 w 272"/>
                  <a:gd name="T18" fmla="*/ 136 h 136"/>
                </a:gdLst>
                <a:ahLst/>
                <a:cxnLst>
                  <a:cxn ang="T10">
                    <a:pos x="T0" y="T1"/>
                  </a:cxn>
                  <a:cxn ang="T11">
                    <a:pos x="T2" y="T3"/>
                  </a:cxn>
                  <a:cxn ang="T12">
                    <a:pos x="T4" y="T5"/>
                  </a:cxn>
                  <a:cxn ang="T13">
                    <a:pos x="T6" y="T7"/>
                  </a:cxn>
                  <a:cxn ang="T14">
                    <a:pos x="T8" y="T9"/>
                  </a:cxn>
                </a:cxnLst>
                <a:rect l="T15" t="T16" r="T17" b="T18"/>
                <a:pathLst>
                  <a:path w="272" h="136">
                    <a:moveTo>
                      <a:pt x="0" y="0"/>
                    </a:moveTo>
                    <a:lnTo>
                      <a:pt x="136" y="136"/>
                    </a:lnTo>
                    <a:lnTo>
                      <a:pt x="272" y="136"/>
                    </a:lnTo>
                    <a:lnTo>
                      <a:pt x="272" y="0"/>
                    </a:lnTo>
                    <a:lnTo>
                      <a:pt x="0" y="0"/>
                    </a:lnTo>
                    <a:close/>
                  </a:path>
                </a:pathLst>
              </a:custGeom>
              <a:solidFill>
                <a:srgbClr val="99CCFF">
                  <a:alpha val="32941"/>
                </a:srgbClr>
              </a:solidFill>
              <a:ln w="9525">
                <a:noFill/>
                <a:round/>
                <a:headEnd/>
                <a:tailEnd/>
              </a:ln>
            </p:spPr>
            <p:txBody>
              <a:bodyPr/>
              <a:lstStyle/>
              <a:p>
                <a:endParaRPr lang="en-US"/>
              </a:p>
            </p:txBody>
          </p:sp>
        </p:grpSp>
        <p:grpSp>
          <p:nvGrpSpPr>
            <p:cNvPr id="48531" name="Group 1860"/>
            <p:cNvGrpSpPr>
              <a:grpSpLocks/>
            </p:cNvGrpSpPr>
            <p:nvPr/>
          </p:nvGrpSpPr>
          <p:grpSpPr bwMode="auto">
            <a:xfrm>
              <a:off x="2426" y="1623"/>
              <a:ext cx="70" cy="87"/>
              <a:chOff x="1164" y="1150"/>
              <a:chExt cx="244" cy="414"/>
            </a:xfrm>
          </p:grpSpPr>
          <p:sp>
            <p:nvSpPr>
              <p:cNvPr id="48574" name="Freeform 1861"/>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575" name="Freeform 1862"/>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76" name="Freeform 1863"/>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77" name="Freeform 1864"/>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78" name="Freeform 1865"/>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532" name="Group 1866"/>
            <p:cNvGrpSpPr>
              <a:grpSpLocks/>
            </p:cNvGrpSpPr>
            <p:nvPr/>
          </p:nvGrpSpPr>
          <p:grpSpPr bwMode="auto">
            <a:xfrm>
              <a:off x="2466" y="1831"/>
              <a:ext cx="70" cy="87"/>
              <a:chOff x="1164" y="1150"/>
              <a:chExt cx="244" cy="414"/>
            </a:xfrm>
          </p:grpSpPr>
          <p:sp>
            <p:nvSpPr>
              <p:cNvPr id="48569" name="Freeform 1867"/>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570" name="Freeform 1868"/>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71" name="Freeform 1869"/>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72" name="Freeform 1870"/>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73" name="Freeform 1871"/>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533" name="Group 1872"/>
            <p:cNvGrpSpPr>
              <a:grpSpLocks/>
            </p:cNvGrpSpPr>
            <p:nvPr/>
          </p:nvGrpSpPr>
          <p:grpSpPr bwMode="auto">
            <a:xfrm>
              <a:off x="2449" y="1679"/>
              <a:ext cx="97" cy="129"/>
              <a:chOff x="1164" y="1150"/>
              <a:chExt cx="244" cy="414"/>
            </a:xfrm>
          </p:grpSpPr>
          <p:sp>
            <p:nvSpPr>
              <p:cNvPr id="48564" name="Freeform 1873"/>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565" name="Freeform 1874"/>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66" name="Freeform 1875"/>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67" name="Freeform 1876"/>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68" name="Freeform 1877"/>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534" name="Group 1878"/>
            <p:cNvGrpSpPr>
              <a:grpSpLocks/>
            </p:cNvGrpSpPr>
            <p:nvPr/>
          </p:nvGrpSpPr>
          <p:grpSpPr bwMode="auto">
            <a:xfrm>
              <a:off x="2561" y="1611"/>
              <a:ext cx="82" cy="147"/>
              <a:chOff x="1164" y="1150"/>
              <a:chExt cx="244" cy="414"/>
            </a:xfrm>
          </p:grpSpPr>
          <p:sp>
            <p:nvSpPr>
              <p:cNvPr id="48559" name="Freeform 1879"/>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560" name="Freeform 1880"/>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61" name="Freeform 1881"/>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62" name="Freeform 1882"/>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63" name="Freeform 1883"/>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535" name="Group 1884"/>
            <p:cNvGrpSpPr>
              <a:grpSpLocks/>
            </p:cNvGrpSpPr>
            <p:nvPr/>
          </p:nvGrpSpPr>
          <p:grpSpPr bwMode="auto">
            <a:xfrm>
              <a:off x="2349" y="1654"/>
              <a:ext cx="121" cy="192"/>
              <a:chOff x="1164" y="1150"/>
              <a:chExt cx="244" cy="414"/>
            </a:xfrm>
          </p:grpSpPr>
          <p:sp>
            <p:nvSpPr>
              <p:cNvPr id="48554" name="Freeform 188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555" name="Freeform 188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56" name="Freeform 188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57" name="Freeform 188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58" name="Freeform 188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536" name="Group 1890"/>
            <p:cNvGrpSpPr>
              <a:grpSpLocks/>
            </p:cNvGrpSpPr>
            <p:nvPr/>
          </p:nvGrpSpPr>
          <p:grpSpPr bwMode="auto">
            <a:xfrm>
              <a:off x="2506" y="1745"/>
              <a:ext cx="109" cy="108"/>
              <a:chOff x="1164" y="1150"/>
              <a:chExt cx="244" cy="414"/>
            </a:xfrm>
          </p:grpSpPr>
          <p:sp>
            <p:nvSpPr>
              <p:cNvPr id="48549" name="Freeform 1891"/>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550" name="Freeform 1892"/>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51" name="Freeform 1893"/>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52" name="Freeform 1894"/>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53" name="Freeform 1895"/>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537" name="Group 1896"/>
            <p:cNvGrpSpPr>
              <a:grpSpLocks/>
            </p:cNvGrpSpPr>
            <p:nvPr/>
          </p:nvGrpSpPr>
          <p:grpSpPr bwMode="auto">
            <a:xfrm>
              <a:off x="2316" y="1774"/>
              <a:ext cx="70" cy="87"/>
              <a:chOff x="1164" y="1150"/>
              <a:chExt cx="244" cy="414"/>
            </a:xfrm>
          </p:grpSpPr>
          <p:sp>
            <p:nvSpPr>
              <p:cNvPr id="48544" name="Freeform 1897"/>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545" name="Freeform 1898"/>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46" name="Freeform 1899"/>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47" name="Freeform 1900"/>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48" name="Freeform 1901"/>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sp>
          <p:nvSpPr>
            <p:cNvPr id="48538" name="AutoShape 1902"/>
            <p:cNvSpPr>
              <a:spLocks noChangeArrowheads="1"/>
            </p:cNvSpPr>
            <p:nvPr/>
          </p:nvSpPr>
          <p:spPr bwMode="auto">
            <a:xfrm rot="5400000">
              <a:off x="2322" y="2610"/>
              <a:ext cx="336" cy="132"/>
            </a:xfrm>
            <a:custGeom>
              <a:avLst/>
              <a:gdLst>
                <a:gd name="T0" fmla="*/ 252 w 21600"/>
                <a:gd name="T1" fmla="*/ 0 h 21600"/>
                <a:gd name="T2" fmla="*/ 0 w 21600"/>
                <a:gd name="T3" fmla="*/ 66 h 21600"/>
                <a:gd name="T4" fmla="*/ 252 w 21600"/>
                <a:gd name="T5" fmla="*/ 132 h 21600"/>
                <a:gd name="T6" fmla="*/ 336 w 21600"/>
                <a:gd name="T7" fmla="*/ 66 h 21600"/>
                <a:gd name="T8" fmla="*/ 17694720 60000 65536"/>
                <a:gd name="T9" fmla="*/ 11796480 60000 65536"/>
                <a:gd name="T10" fmla="*/ 5898240 60000 65536"/>
                <a:gd name="T11" fmla="*/ 0 60000 65536"/>
                <a:gd name="T12" fmla="*/ 3343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99CCFF"/>
            </a:solidFill>
            <a:ln w="9525">
              <a:noFill/>
              <a:round/>
              <a:headEnd/>
              <a:tailEnd/>
            </a:ln>
          </p:spPr>
          <p:txBody>
            <a:bodyPr wrap="none" anchor="ctr"/>
            <a:lstStyle/>
            <a:p>
              <a:endParaRPr lang="en-US"/>
            </a:p>
          </p:txBody>
        </p:sp>
        <p:sp>
          <p:nvSpPr>
            <p:cNvPr id="48539" name="Line 1903"/>
            <p:cNvSpPr>
              <a:spLocks noChangeShapeType="1"/>
            </p:cNvSpPr>
            <p:nvPr/>
          </p:nvSpPr>
          <p:spPr bwMode="auto">
            <a:xfrm>
              <a:off x="2742" y="1128"/>
              <a:ext cx="0" cy="738"/>
            </a:xfrm>
            <a:prstGeom prst="line">
              <a:avLst/>
            </a:prstGeom>
            <a:noFill/>
            <a:ln w="9525">
              <a:solidFill>
                <a:srgbClr val="000000"/>
              </a:solidFill>
              <a:round/>
              <a:headEnd/>
              <a:tailEnd type="triangle" w="med" len="med"/>
            </a:ln>
          </p:spPr>
          <p:txBody>
            <a:bodyPr/>
            <a:lstStyle/>
            <a:p>
              <a:endParaRPr lang="en-US"/>
            </a:p>
          </p:txBody>
        </p:sp>
        <p:sp>
          <p:nvSpPr>
            <p:cNvPr id="48540" name="Line 1904"/>
            <p:cNvSpPr>
              <a:spLocks noChangeShapeType="1"/>
            </p:cNvSpPr>
            <p:nvPr/>
          </p:nvSpPr>
          <p:spPr bwMode="auto">
            <a:xfrm>
              <a:off x="2742" y="1122"/>
              <a:ext cx="114" cy="0"/>
            </a:xfrm>
            <a:prstGeom prst="line">
              <a:avLst/>
            </a:prstGeom>
            <a:noFill/>
            <a:ln w="9525">
              <a:solidFill>
                <a:srgbClr val="000000"/>
              </a:solidFill>
              <a:round/>
              <a:headEnd/>
              <a:tailEnd/>
            </a:ln>
          </p:spPr>
          <p:txBody>
            <a:bodyPr/>
            <a:lstStyle/>
            <a:p>
              <a:endParaRPr lang="en-US"/>
            </a:p>
          </p:txBody>
        </p:sp>
        <p:sp>
          <p:nvSpPr>
            <p:cNvPr id="48541" name="Line 1905"/>
            <p:cNvSpPr>
              <a:spLocks noChangeShapeType="1"/>
            </p:cNvSpPr>
            <p:nvPr/>
          </p:nvSpPr>
          <p:spPr bwMode="auto">
            <a:xfrm>
              <a:off x="2746" y="1264"/>
              <a:ext cx="114" cy="0"/>
            </a:xfrm>
            <a:prstGeom prst="line">
              <a:avLst/>
            </a:prstGeom>
            <a:noFill/>
            <a:ln w="9525">
              <a:solidFill>
                <a:srgbClr val="000000"/>
              </a:solidFill>
              <a:round/>
              <a:headEnd/>
              <a:tailEnd/>
            </a:ln>
          </p:spPr>
          <p:txBody>
            <a:bodyPr/>
            <a:lstStyle/>
            <a:p>
              <a:endParaRPr lang="en-US"/>
            </a:p>
          </p:txBody>
        </p:sp>
        <p:sp>
          <p:nvSpPr>
            <p:cNvPr id="48542" name="Line 1906"/>
            <p:cNvSpPr>
              <a:spLocks noChangeShapeType="1"/>
            </p:cNvSpPr>
            <p:nvPr/>
          </p:nvSpPr>
          <p:spPr bwMode="auto">
            <a:xfrm>
              <a:off x="2744" y="1394"/>
              <a:ext cx="114" cy="0"/>
            </a:xfrm>
            <a:prstGeom prst="line">
              <a:avLst/>
            </a:prstGeom>
            <a:noFill/>
            <a:ln w="9525">
              <a:solidFill>
                <a:srgbClr val="000000"/>
              </a:solidFill>
              <a:round/>
              <a:headEnd/>
              <a:tailEnd/>
            </a:ln>
          </p:spPr>
          <p:txBody>
            <a:bodyPr/>
            <a:lstStyle/>
            <a:p>
              <a:endParaRPr lang="en-US"/>
            </a:p>
          </p:txBody>
        </p:sp>
        <p:sp>
          <p:nvSpPr>
            <p:cNvPr id="48543" name="Line 1907"/>
            <p:cNvSpPr>
              <a:spLocks noChangeShapeType="1"/>
            </p:cNvSpPr>
            <p:nvPr/>
          </p:nvSpPr>
          <p:spPr bwMode="auto">
            <a:xfrm>
              <a:off x="2748" y="1530"/>
              <a:ext cx="114" cy="0"/>
            </a:xfrm>
            <a:prstGeom prst="line">
              <a:avLst/>
            </a:prstGeom>
            <a:noFill/>
            <a:ln w="9525">
              <a:solidFill>
                <a:srgbClr val="000000"/>
              </a:solidFill>
              <a:round/>
              <a:headEnd/>
              <a:tailEnd/>
            </a:ln>
          </p:spPr>
          <p:txBody>
            <a:bodyPr/>
            <a:lstStyle/>
            <a:p>
              <a:endParaRPr lang="en-US"/>
            </a:p>
          </p:txBody>
        </p:sp>
      </p:grpSp>
      <p:grpSp>
        <p:nvGrpSpPr>
          <p:cNvPr id="297844" name="Group 1908"/>
          <p:cNvGrpSpPr>
            <a:grpSpLocks/>
          </p:cNvGrpSpPr>
          <p:nvPr/>
        </p:nvGrpSpPr>
        <p:grpSpPr bwMode="auto">
          <a:xfrm>
            <a:off x="4972050" y="2951163"/>
            <a:ext cx="2847975" cy="2190750"/>
            <a:chOff x="3028" y="1450"/>
            <a:chExt cx="1794" cy="1380"/>
          </a:xfrm>
        </p:grpSpPr>
        <p:sp>
          <p:nvSpPr>
            <p:cNvPr id="48244" name="AutoShape 1909"/>
            <p:cNvSpPr>
              <a:spLocks noChangeArrowheads="1"/>
            </p:cNvSpPr>
            <p:nvPr/>
          </p:nvSpPr>
          <p:spPr bwMode="auto">
            <a:xfrm rot="5400000">
              <a:off x="3118" y="2620"/>
              <a:ext cx="336" cy="84"/>
            </a:xfrm>
            <a:custGeom>
              <a:avLst/>
              <a:gdLst>
                <a:gd name="T0" fmla="*/ 252 w 21600"/>
                <a:gd name="T1" fmla="*/ 0 h 21600"/>
                <a:gd name="T2" fmla="*/ 0 w 21600"/>
                <a:gd name="T3" fmla="*/ 42 h 21600"/>
                <a:gd name="T4" fmla="*/ 252 w 21600"/>
                <a:gd name="T5" fmla="*/ 84 h 21600"/>
                <a:gd name="T6" fmla="*/ 336 w 21600"/>
                <a:gd name="T7" fmla="*/ 42 h 21600"/>
                <a:gd name="T8" fmla="*/ 17694720 60000 65536"/>
                <a:gd name="T9" fmla="*/ 11796480 60000 65536"/>
                <a:gd name="T10" fmla="*/ 5898240 60000 65536"/>
                <a:gd name="T11" fmla="*/ 0 60000 65536"/>
                <a:gd name="T12" fmla="*/ 3343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99CCFF"/>
            </a:solidFill>
            <a:ln w="9525">
              <a:noFill/>
              <a:round/>
              <a:headEnd/>
              <a:tailEnd/>
            </a:ln>
          </p:spPr>
          <p:txBody>
            <a:bodyPr wrap="none" anchor="ctr"/>
            <a:lstStyle/>
            <a:p>
              <a:endParaRPr lang="en-US"/>
            </a:p>
          </p:txBody>
        </p:sp>
        <p:grpSp>
          <p:nvGrpSpPr>
            <p:cNvPr id="48245" name="Group 1910"/>
            <p:cNvGrpSpPr>
              <a:grpSpLocks/>
            </p:cNvGrpSpPr>
            <p:nvPr/>
          </p:nvGrpSpPr>
          <p:grpSpPr bwMode="auto">
            <a:xfrm>
              <a:off x="3028" y="1450"/>
              <a:ext cx="1794" cy="1022"/>
              <a:chOff x="3028" y="1450"/>
              <a:chExt cx="1794" cy="1022"/>
            </a:xfrm>
          </p:grpSpPr>
          <p:grpSp>
            <p:nvGrpSpPr>
              <p:cNvPr id="48246" name="Group 1911"/>
              <p:cNvGrpSpPr>
                <a:grpSpLocks/>
              </p:cNvGrpSpPr>
              <p:nvPr/>
            </p:nvGrpSpPr>
            <p:grpSpPr bwMode="auto">
              <a:xfrm>
                <a:off x="3028" y="1655"/>
                <a:ext cx="726" cy="817"/>
                <a:chOff x="3016" y="1661"/>
                <a:chExt cx="726" cy="817"/>
              </a:xfrm>
            </p:grpSpPr>
            <p:grpSp>
              <p:nvGrpSpPr>
                <p:cNvPr id="48250" name="Group 1912"/>
                <p:cNvGrpSpPr>
                  <a:grpSpLocks/>
                </p:cNvGrpSpPr>
                <p:nvPr/>
              </p:nvGrpSpPr>
              <p:grpSpPr bwMode="auto">
                <a:xfrm>
                  <a:off x="3016" y="1661"/>
                  <a:ext cx="726" cy="817"/>
                  <a:chOff x="1474" y="1661"/>
                  <a:chExt cx="544" cy="680"/>
                </a:xfrm>
              </p:grpSpPr>
              <p:sp>
                <p:nvSpPr>
                  <p:cNvPr id="48525" name="Rectangle 1913"/>
                  <p:cNvSpPr>
                    <a:spLocks noChangeArrowheads="1"/>
                  </p:cNvSpPr>
                  <p:nvPr/>
                </p:nvSpPr>
                <p:spPr bwMode="auto">
                  <a:xfrm>
                    <a:off x="1474" y="1933"/>
                    <a:ext cx="408" cy="408"/>
                  </a:xfrm>
                  <a:prstGeom prst="rect">
                    <a:avLst/>
                  </a:prstGeom>
                  <a:no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8526" name="AutoShape 1914"/>
                  <p:cNvSpPr>
                    <a:spLocks noChangeArrowheads="1"/>
                  </p:cNvSpPr>
                  <p:nvPr/>
                </p:nvSpPr>
                <p:spPr bwMode="auto">
                  <a:xfrm>
                    <a:off x="1474" y="1661"/>
                    <a:ext cx="544" cy="272"/>
                  </a:xfrm>
                  <a:prstGeom prst="parallelogram">
                    <a:avLst>
                      <a:gd name="adj" fmla="val 50000"/>
                    </a:avLst>
                  </a:prstGeom>
                  <a:no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8527" name="Line 1915"/>
                  <p:cNvSpPr>
                    <a:spLocks noChangeShapeType="1"/>
                  </p:cNvSpPr>
                  <p:nvPr/>
                </p:nvSpPr>
                <p:spPr bwMode="auto">
                  <a:xfrm flipV="1">
                    <a:off x="1882" y="2069"/>
                    <a:ext cx="136" cy="272"/>
                  </a:xfrm>
                  <a:prstGeom prst="line">
                    <a:avLst/>
                  </a:prstGeom>
                  <a:noFill/>
                  <a:ln w="9525">
                    <a:solidFill>
                      <a:srgbClr val="000000"/>
                    </a:solidFill>
                    <a:round/>
                    <a:headEnd/>
                    <a:tailEnd/>
                  </a:ln>
                </p:spPr>
                <p:txBody>
                  <a:bodyPr/>
                  <a:lstStyle/>
                  <a:p>
                    <a:endParaRPr lang="en-US"/>
                  </a:p>
                </p:txBody>
              </p:sp>
              <p:sp>
                <p:nvSpPr>
                  <p:cNvPr id="48528" name="Line 1916"/>
                  <p:cNvSpPr>
                    <a:spLocks noChangeShapeType="1"/>
                  </p:cNvSpPr>
                  <p:nvPr/>
                </p:nvSpPr>
                <p:spPr bwMode="auto">
                  <a:xfrm>
                    <a:off x="2018" y="1661"/>
                    <a:ext cx="0" cy="408"/>
                  </a:xfrm>
                  <a:prstGeom prst="line">
                    <a:avLst/>
                  </a:prstGeom>
                  <a:noFill/>
                  <a:ln w="9525">
                    <a:solidFill>
                      <a:srgbClr val="000000"/>
                    </a:solidFill>
                    <a:round/>
                    <a:headEnd/>
                    <a:tailEnd/>
                  </a:ln>
                </p:spPr>
                <p:txBody>
                  <a:bodyPr/>
                  <a:lstStyle/>
                  <a:p>
                    <a:endParaRPr lang="en-US"/>
                  </a:p>
                </p:txBody>
              </p:sp>
            </p:grpSp>
            <p:grpSp>
              <p:nvGrpSpPr>
                <p:cNvPr id="48251" name="Group 1917"/>
                <p:cNvGrpSpPr>
                  <a:grpSpLocks/>
                </p:cNvGrpSpPr>
                <p:nvPr/>
              </p:nvGrpSpPr>
              <p:grpSpPr bwMode="auto">
                <a:xfrm>
                  <a:off x="3385" y="1669"/>
                  <a:ext cx="318" cy="171"/>
                  <a:chOff x="1845" y="1659"/>
                  <a:chExt cx="318" cy="171"/>
                </a:xfrm>
              </p:grpSpPr>
              <p:sp>
                <p:nvSpPr>
                  <p:cNvPr id="48516" name="Line 1918"/>
                  <p:cNvSpPr>
                    <a:spLocks noChangeShapeType="1"/>
                  </p:cNvSpPr>
                  <p:nvPr/>
                </p:nvSpPr>
                <p:spPr bwMode="auto">
                  <a:xfrm>
                    <a:off x="2022" y="1659"/>
                    <a:ext cx="126" cy="87"/>
                  </a:xfrm>
                  <a:prstGeom prst="line">
                    <a:avLst/>
                  </a:prstGeom>
                  <a:noFill/>
                  <a:ln w="9525">
                    <a:solidFill>
                      <a:srgbClr val="000000"/>
                    </a:solidFill>
                    <a:round/>
                    <a:headEnd/>
                    <a:tailEnd/>
                  </a:ln>
                </p:spPr>
                <p:txBody>
                  <a:bodyPr/>
                  <a:lstStyle/>
                  <a:p>
                    <a:endParaRPr lang="en-US"/>
                  </a:p>
                </p:txBody>
              </p:sp>
              <p:sp>
                <p:nvSpPr>
                  <p:cNvPr id="48517" name="Line 1919"/>
                  <p:cNvSpPr>
                    <a:spLocks noChangeShapeType="1"/>
                  </p:cNvSpPr>
                  <p:nvPr/>
                </p:nvSpPr>
                <p:spPr bwMode="auto">
                  <a:xfrm>
                    <a:off x="1974" y="1662"/>
                    <a:ext cx="162" cy="114"/>
                  </a:xfrm>
                  <a:prstGeom prst="line">
                    <a:avLst/>
                  </a:prstGeom>
                  <a:noFill/>
                  <a:ln w="9525">
                    <a:solidFill>
                      <a:srgbClr val="000000"/>
                    </a:solidFill>
                    <a:round/>
                    <a:headEnd/>
                    <a:tailEnd/>
                  </a:ln>
                </p:spPr>
                <p:txBody>
                  <a:bodyPr/>
                  <a:lstStyle/>
                  <a:p>
                    <a:endParaRPr lang="en-US"/>
                  </a:p>
                </p:txBody>
              </p:sp>
              <p:sp>
                <p:nvSpPr>
                  <p:cNvPr id="48518" name="Line 1920"/>
                  <p:cNvSpPr>
                    <a:spLocks noChangeShapeType="1"/>
                  </p:cNvSpPr>
                  <p:nvPr/>
                </p:nvSpPr>
                <p:spPr bwMode="auto">
                  <a:xfrm>
                    <a:off x="1908" y="1662"/>
                    <a:ext cx="213" cy="141"/>
                  </a:xfrm>
                  <a:prstGeom prst="line">
                    <a:avLst/>
                  </a:prstGeom>
                  <a:noFill/>
                  <a:ln w="9525">
                    <a:solidFill>
                      <a:srgbClr val="000000"/>
                    </a:solidFill>
                    <a:round/>
                    <a:headEnd/>
                    <a:tailEnd/>
                  </a:ln>
                </p:spPr>
                <p:txBody>
                  <a:bodyPr/>
                  <a:lstStyle/>
                  <a:p>
                    <a:endParaRPr lang="en-US"/>
                  </a:p>
                </p:txBody>
              </p:sp>
              <p:sp>
                <p:nvSpPr>
                  <p:cNvPr id="48519" name="Line 1921"/>
                  <p:cNvSpPr>
                    <a:spLocks noChangeShapeType="1"/>
                  </p:cNvSpPr>
                  <p:nvPr/>
                </p:nvSpPr>
                <p:spPr bwMode="auto">
                  <a:xfrm>
                    <a:off x="1845" y="1659"/>
                    <a:ext cx="255" cy="171"/>
                  </a:xfrm>
                  <a:prstGeom prst="line">
                    <a:avLst/>
                  </a:prstGeom>
                  <a:noFill/>
                  <a:ln w="9525">
                    <a:solidFill>
                      <a:srgbClr val="000000"/>
                    </a:solidFill>
                    <a:round/>
                    <a:headEnd/>
                    <a:tailEnd/>
                  </a:ln>
                </p:spPr>
                <p:txBody>
                  <a:bodyPr/>
                  <a:lstStyle/>
                  <a:p>
                    <a:endParaRPr lang="en-US"/>
                  </a:p>
                </p:txBody>
              </p:sp>
              <p:sp>
                <p:nvSpPr>
                  <p:cNvPr id="48520" name="Line 1922"/>
                  <p:cNvSpPr>
                    <a:spLocks noChangeShapeType="1"/>
                  </p:cNvSpPr>
                  <p:nvPr/>
                </p:nvSpPr>
                <p:spPr bwMode="auto">
                  <a:xfrm flipV="1">
                    <a:off x="1893" y="1662"/>
                    <a:ext cx="114" cy="51"/>
                  </a:xfrm>
                  <a:prstGeom prst="line">
                    <a:avLst/>
                  </a:prstGeom>
                  <a:noFill/>
                  <a:ln w="9525">
                    <a:solidFill>
                      <a:srgbClr val="000000"/>
                    </a:solidFill>
                    <a:round/>
                    <a:headEnd/>
                    <a:tailEnd/>
                  </a:ln>
                </p:spPr>
                <p:txBody>
                  <a:bodyPr/>
                  <a:lstStyle/>
                  <a:p>
                    <a:endParaRPr lang="en-US"/>
                  </a:p>
                </p:txBody>
              </p:sp>
              <p:sp>
                <p:nvSpPr>
                  <p:cNvPr id="48521" name="Line 1923"/>
                  <p:cNvSpPr>
                    <a:spLocks noChangeShapeType="1"/>
                  </p:cNvSpPr>
                  <p:nvPr/>
                </p:nvSpPr>
                <p:spPr bwMode="auto">
                  <a:xfrm flipV="1">
                    <a:off x="1920" y="1665"/>
                    <a:ext cx="150" cy="75"/>
                  </a:xfrm>
                  <a:prstGeom prst="line">
                    <a:avLst/>
                  </a:prstGeom>
                  <a:noFill/>
                  <a:ln w="9525">
                    <a:solidFill>
                      <a:srgbClr val="000000"/>
                    </a:solidFill>
                    <a:round/>
                    <a:headEnd/>
                    <a:tailEnd/>
                  </a:ln>
                </p:spPr>
                <p:txBody>
                  <a:bodyPr/>
                  <a:lstStyle/>
                  <a:p>
                    <a:endParaRPr lang="en-US"/>
                  </a:p>
                </p:txBody>
              </p:sp>
              <p:sp>
                <p:nvSpPr>
                  <p:cNvPr id="48522" name="Line 1924"/>
                  <p:cNvSpPr>
                    <a:spLocks noChangeShapeType="1"/>
                  </p:cNvSpPr>
                  <p:nvPr/>
                </p:nvSpPr>
                <p:spPr bwMode="auto">
                  <a:xfrm flipV="1">
                    <a:off x="1959" y="1674"/>
                    <a:ext cx="159" cy="87"/>
                  </a:xfrm>
                  <a:prstGeom prst="line">
                    <a:avLst/>
                  </a:prstGeom>
                  <a:noFill/>
                  <a:ln w="9525">
                    <a:solidFill>
                      <a:srgbClr val="000000"/>
                    </a:solidFill>
                    <a:round/>
                    <a:headEnd/>
                    <a:tailEnd/>
                  </a:ln>
                </p:spPr>
                <p:txBody>
                  <a:bodyPr/>
                  <a:lstStyle/>
                  <a:p>
                    <a:endParaRPr lang="en-US"/>
                  </a:p>
                </p:txBody>
              </p:sp>
              <p:sp>
                <p:nvSpPr>
                  <p:cNvPr id="48523" name="Line 1925"/>
                  <p:cNvSpPr>
                    <a:spLocks noChangeShapeType="1"/>
                  </p:cNvSpPr>
                  <p:nvPr/>
                </p:nvSpPr>
                <p:spPr bwMode="auto">
                  <a:xfrm flipV="1">
                    <a:off x="1995" y="1698"/>
                    <a:ext cx="153" cy="87"/>
                  </a:xfrm>
                  <a:prstGeom prst="line">
                    <a:avLst/>
                  </a:prstGeom>
                  <a:noFill/>
                  <a:ln w="9525">
                    <a:solidFill>
                      <a:srgbClr val="000000"/>
                    </a:solidFill>
                    <a:round/>
                    <a:headEnd/>
                    <a:tailEnd/>
                  </a:ln>
                </p:spPr>
                <p:txBody>
                  <a:bodyPr/>
                  <a:lstStyle/>
                  <a:p>
                    <a:endParaRPr lang="en-US"/>
                  </a:p>
                </p:txBody>
              </p:sp>
              <p:sp>
                <p:nvSpPr>
                  <p:cNvPr id="48524" name="Line 1926"/>
                  <p:cNvSpPr>
                    <a:spLocks noChangeShapeType="1"/>
                  </p:cNvSpPr>
                  <p:nvPr/>
                </p:nvSpPr>
                <p:spPr bwMode="auto">
                  <a:xfrm flipV="1">
                    <a:off x="2037" y="1728"/>
                    <a:ext cx="126" cy="78"/>
                  </a:xfrm>
                  <a:prstGeom prst="line">
                    <a:avLst/>
                  </a:prstGeom>
                  <a:noFill/>
                  <a:ln w="9525">
                    <a:solidFill>
                      <a:srgbClr val="000000"/>
                    </a:solidFill>
                    <a:round/>
                    <a:headEnd/>
                    <a:tailEnd/>
                  </a:ln>
                </p:spPr>
                <p:txBody>
                  <a:bodyPr/>
                  <a:lstStyle/>
                  <a:p>
                    <a:endParaRPr lang="en-US"/>
                  </a:p>
                </p:txBody>
              </p:sp>
            </p:grpSp>
            <p:grpSp>
              <p:nvGrpSpPr>
                <p:cNvPr id="48252" name="Group 1927"/>
                <p:cNvGrpSpPr>
                  <a:grpSpLocks/>
                </p:cNvGrpSpPr>
                <p:nvPr/>
              </p:nvGrpSpPr>
              <p:grpSpPr bwMode="auto">
                <a:xfrm>
                  <a:off x="3192" y="1669"/>
                  <a:ext cx="391" cy="297"/>
                  <a:chOff x="3192" y="1669"/>
                  <a:chExt cx="391" cy="297"/>
                </a:xfrm>
              </p:grpSpPr>
              <p:grpSp>
                <p:nvGrpSpPr>
                  <p:cNvPr id="48442" name="Group 1928"/>
                  <p:cNvGrpSpPr>
                    <a:grpSpLocks/>
                  </p:cNvGrpSpPr>
                  <p:nvPr/>
                </p:nvGrpSpPr>
                <p:grpSpPr bwMode="auto">
                  <a:xfrm>
                    <a:off x="3192" y="1669"/>
                    <a:ext cx="216" cy="185"/>
                    <a:chOff x="3192" y="1669"/>
                    <a:chExt cx="216" cy="185"/>
                  </a:xfrm>
                </p:grpSpPr>
                <p:grpSp>
                  <p:nvGrpSpPr>
                    <p:cNvPr id="48480" name="Group 1929"/>
                    <p:cNvGrpSpPr>
                      <a:grpSpLocks/>
                    </p:cNvGrpSpPr>
                    <p:nvPr/>
                  </p:nvGrpSpPr>
                  <p:grpSpPr bwMode="auto">
                    <a:xfrm>
                      <a:off x="3192" y="1669"/>
                      <a:ext cx="70" cy="87"/>
                      <a:chOff x="1164" y="1150"/>
                      <a:chExt cx="244" cy="414"/>
                    </a:xfrm>
                  </p:grpSpPr>
                  <p:sp>
                    <p:nvSpPr>
                      <p:cNvPr id="48511" name="Freeform 1930"/>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512" name="Freeform 1931"/>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13" name="Freeform 1932"/>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14" name="Freeform 1933"/>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15" name="Freeform 1934"/>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481" name="Group 1935"/>
                    <p:cNvGrpSpPr>
                      <a:grpSpLocks/>
                    </p:cNvGrpSpPr>
                    <p:nvPr/>
                  </p:nvGrpSpPr>
                  <p:grpSpPr bwMode="auto">
                    <a:xfrm>
                      <a:off x="3220" y="1688"/>
                      <a:ext cx="70" cy="87"/>
                      <a:chOff x="1164" y="1150"/>
                      <a:chExt cx="244" cy="414"/>
                    </a:xfrm>
                  </p:grpSpPr>
                  <p:sp>
                    <p:nvSpPr>
                      <p:cNvPr id="48506" name="Freeform 1936"/>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507" name="Freeform 1937"/>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08" name="Freeform 1938"/>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09" name="Freeform 1939"/>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10" name="Freeform 1940"/>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482" name="Group 1941"/>
                    <p:cNvGrpSpPr>
                      <a:grpSpLocks/>
                    </p:cNvGrpSpPr>
                    <p:nvPr/>
                  </p:nvGrpSpPr>
                  <p:grpSpPr bwMode="auto">
                    <a:xfrm>
                      <a:off x="3251" y="1710"/>
                      <a:ext cx="70" cy="87"/>
                      <a:chOff x="1164" y="1150"/>
                      <a:chExt cx="244" cy="414"/>
                    </a:xfrm>
                  </p:grpSpPr>
                  <p:sp>
                    <p:nvSpPr>
                      <p:cNvPr id="48501" name="Freeform 1942"/>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502" name="Freeform 1943"/>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03" name="Freeform 1944"/>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04" name="Freeform 1945"/>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05" name="Freeform 1946"/>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483" name="Group 1947"/>
                    <p:cNvGrpSpPr>
                      <a:grpSpLocks/>
                    </p:cNvGrpSpPr>
                    <p:nvPr/>
                  </p:nvGrpSpPr>
                  <p:grpSpPr bwMode="auto">
                    <a:xfrm>
                      <a:off x="3282" y="1735"/>
                      <a:ext cx="70" cy="87"/>
                      <a:chOff x="1164" y="1150"/>
                      <a:chExt cx="244" cy="414"/>
                    </a:xfrm>
                  </p:grpSpPr>
                  <p:sp>
                    <p:nvSpPr>
                      <p:cNvPr id="48496" name="Freeform 1948"/>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497" name="Freeform 1949"/>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98" name="Freeform 1950"/>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99" name="Freeform 1951"/>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500" name="Freeform 1952"/>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484" name="Group 1953"/>
                    <p:cNvGrpSpPr>
                      <a:grpSpLocks/>
                    </p:cNvGrpSpPr>
                    <p:nvPr/>
                  </p:nvGrpSpPr>
                  <p:grpSpPr bwMode="auto">
                    <a:xfrm>
                      <a:off x="3310" y="1751"/>
                      <a:ext cx="70" cy="87"/>
                      <a:chOff x="1164" y="1150"/>
                      <a:chExt cx="244" cy="414"/>
                    </a:xfrm>
                  </p:grpSpPr>
                  <p:sp>
                    <p:nvSpPr>
                      <p:cNvPr id="48491" name="Freeform 1954"/>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492" name="Freeform 1955"/>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93" name="Freeform 1956"/>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94" name="Freeform 1957"/>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95" name="Freeform 1958"/>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485" name="Group 1959"/>
                    <p:cNvGrpSpPr>
                      <a:grpSpLocks/>
                    </p:cNvGrpSpPr>
                    <p:nvPr/>
                  </p:nvGrpSpPr>
                  <p:grpSpPr bwMode="auto">
                    <a:xfrm>
                      <a:off x="3338" y="1767"/>
                      <a:ext cx="70" cy="87"/>
                      <a:chOff x="1164" y="1150"/>
                      <a:chExt cx="244" cy="414"/>
                    </a:xfrm>
                  </p:grpSpPr>
                  <p:sp>
                    <p:nvSpPr>
                      <p:cNvPr id="48486" name="Freeform 1960"/>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487" name="Freeform 1961"/>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88" name="Freeform 1962"/>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89" name="Freeform 1963"/>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90" name="Freeform 1964"/>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48443" name="Group 1965"/>
                  <p:cNvGrpSpPr>
                    <a:grpSpLocks/>
                  </p:cNvGrpSpPr>
                  <p:nvPr/>
                </p:nvGrpSpPr>
                <p:grpSpPr bwMode="auto">
                  <a:xfrm>
                    <a:off x="3367" y="1781"/>
                    <a:ext cx="216" cy="185"/>
                    <a:chOff x="3192" y="1669"/>
                    <a:chExt cx="216" cy="185"/>
                  </a:xfrm>
                </p:grpSpPr>
                <p:grpSp>
                  <p:nvGrpSpPr>
                    <p:cNvPr id="48444" name="Group 1966"/>
                    <p:cNvGrpSpPr>
                      <a:grpSpLocks/>
                    </p:cNvGrpSpPr>
                    <p:nvPr/>
                  </p:nvGrpSpPr>
                  <p:grpSpPr bwMode="auto">
                    <a:xfrm>
                      <a:off x="3192" y="1669"/>
                      <a:ext cx="70" cy="87"/>
                      <a:chOff x="1164" y="1150"/>
                      <a:chExt cx="244" cy="414"/>
                    </a:xfrm>
                  </p:grpSpPr>
                  <p:sp>
                    <p:nvSpPr>
                      <p:cNvPr id="48475" name="Freeform 1967"/>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476" name="Freeform 1968"/>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77" name="Freeform 1969"/>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78" name="Freeform 1970"/>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79" name="Freeform 1971"/>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445" name="Group 1972"/>
                    <p:cNvGrpSpPr>
                      <a:grpSpLocks/>
                    </p:cNvGrpSpPr>
                    <p:nvPr/>
                  </p:nvGrpSpPr>
                  <p:grpSpPr bwMode="auto">
                    <a:xfrm>
                      <a:off x="3220" y="1688"/>
                      <a:ext cx="70" cy="87"/>
                      <a:chOff x="1164" y="1150"/>
                      <a:chExt cx="244" cy="414"/>
                    </a:xfrm>
                  </p:grpSpPr>
                  <p:sp>
                    <p:nvSpPr>
                      <p:cNvPr id="48470" name="Freeform 1973"/>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471" name="Freeform 1974"/>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72" name="Freeform 1975"/>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73" name="Freeform 1976"/>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74" name="Freeform 1977"/>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446" name="Group 1978"/>
                    <p:cNvGrpSpPr>
                      <a:grpSpLocks/>
                    </p:cNvGrpSpPr>
                    <p:nvPr/>
                  </p:nvGrpSpPr>
                  <p:grpSpPr bwMode="auto">
                    <a:xfrm>
                      <a:off x="3251" y="1710"/>
                      <a:ext cx="70" cy="87"/>
                      <a:chOff x="1164" y="1150"/>
                      <a:chExt cx="244" cy="414"/>
                    </a:xfrm>
                  </p:grpSpPr>
                  <p:sp>
                    <p:nvSpPr>
                      <p:cNvPr id="48465" name="Freeform 1979"/>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466" name="Freeform 1980"/>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67" name="Freeform 1981"/>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68" name="Freeform 1982"/>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69" name="Freeform 1983"/>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447" name="Group 1984"/>
                    <p:cNvGrpSpPr>
                      <a:grpSpLocks/>
                    </p:cNvGrpSpPr>
                    <p:nvPr/>
                  </p:nvGrpSpPr>
                  <p:grpSpPr bwMode="auto">
                    <a:xfrm>
                      <a:off x="3282" y="1735"/>
                      <a:ext cx="70" cy="87"/>
                      <a:chOff x="1164" y="1150"/>
                      <a:chExt cx="244" cy="414"/>
                    </a:xfrm>
                  </p:grpSpPr>
                  <p:sp>
                    <p:nvSpPr>
                      <p:cNvPr id="48460" name="Freeform 198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461" name="Freeform 198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62" name="Freeform 198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63" name="Freeform 198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64" name="Freeform 198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448" name="Group 1990"/>
                    <p:cNvGrpSpPr>
                      <a:grpSpLocks/>
                    </p:cNvGrpSpPr>
                    <p:nvPr/>
                  </p:nvGrpSpPr>
                  <p:grpSpPr bwMode="auto">
                    <a:xfrm>
                      <a:off x="3310" y="1751"/>
                      <a:ext cx="70" cy="87"/>
                      <a:chOff x="1164" y="1150"/>
                      <a:chExt cx="244" cy="414"/>
                    </a:xfrm>
                  </p:grpSpPr>
                  <p:sp>
                    <p:nvSpPr>
                      <p:cNvPr id="48455" name="Freeform 1991"/>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456" name="Freeform 1992"/>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57" name="Freeform 1993"/>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58" name="Freeform 1994"/>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59" name="Freeform 1995"/>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449" name="Group 1996"/>
                    <p:cNvGrpSpPr>
                      <a:grpSpLocks/>
                    </p:cNvGrpSpPr>
                    <p:nvPr/>
                  </p:nvGrpSpPr>
                  <p:grpSpPr bwMode="auto">
                    <a:xfrm>
                      <a:off x="3338" y="1767"/>
                      <a:ext cx="70" cy="87"/>
                      <a:chOff x="1164" y="1150"/>
                      <a:chExt cx="244" cy="414"/>
                    </a:xfrm>
                  </p:grpSpPr>
                  <p:sp>
                    <p:nvSpPr>
                      <p:cNvPr id="48450" name="Freeform 1997"/>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451" name="Freeform 1998"/>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52" name="Freeform 1999"/>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53" name="Freeform 2000"/>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54" name="Freeform 2001"/>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grpSp>
              <p:nvGrpSpPr>
                <p:cNvPr id="48253" name="Group 2002"/>
                <p:cNvGrpSpPr>
                  <a:grpSpLocks/>
                </p:cNvGrpSpPr>
                <p:nvPr/>
              </p:nvGrpSpPr>
              <p:grpSpPr bwMode="auto">
                <a:xfrm>
                  <a:off x="3130" y="1691"/>
                  <a:ext cx="391" cy="297"/>
                  <a:chOff x="3192" y="1669"/>
                  <a:chExt cx="391" cy="297"/>
                </a:xfrm>
              </p:grpSpPr>
              <p:grpSp>
                <p:nvGrpSpPr>
                  <p:cNvPr id="48368" name="Group 2003"/>
                  <p:cNvGrpSpPr>
                    <a:grpSpLocks/>
                  </p:cNvGrpSpPr>
                  <p:nvPr/>
                </p:nvGrpSpPr>
                <p:grpSpPr bwMode="auto">
                  <a:xfrm>
                    <a:off x="3192" y="1669"/>
                    <a:ext cx="216" cy="185"/>
                    <a:chOff x="3192" y="1669"/>
                    <a:chExt cx="216" cy="185"/>
                  </a:xfrm>
                </p:grpSpPr>
                <p:grpSp>
                  <p:nvGrpSpPr>
                    <p:cNvPr id="48406" name="Group 2004"/>
                    <p:cNvGrpSpPr>
                      <a:grpSpLocks/>
                    </p:cNvGrpSpPr>
                    <p:nvPr/>
                  </p:nvGrpSpPr>
                  <p:grpSpPr bwMode="auto">
                    <a:xfrm>
                      <a:off x="3192" y="1669"/>
                      <a:ext cx="70" cy="87"/>
                      <a:chOff x="1164" y="1150"/>
                      <a:chExt cx="244" cy="414"/>
                    </a:xfrm>
                  </p:grpSpPr>
                  <p:sp>
                    <p:nvSpPr>
                      <p:cNvPr id="48437" name="Freeform 200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438" name="Freeform 200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39" name="Freeform 200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40" name="Freeform 200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41" name="Freeform 200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407" name="Group 2010"/>
                    <p:cNvGrpSpPr>
                      <a:grpSpLocks/>
                    </p:cNvGrpSpPr>
                    <p:nvPr/>
                  </p:nvGrpSpPr>
                  <p:grpSpPr bwMode="auto">
                    <a:xfrm>
                      <a:off x="3220" y="1688"/>
                      <a:ext cx="70" cy="87"/>
                      <a:chOff x="1164" y="1150"/>
                      <a:chExt cx="244" cy="414"/>
                    </a:xfrm>
                  </p:grpSpPr>
                  <p:sp>
                    <p:nvSpPr>
                      <p:cNvPr id="48432" name="Freeform 2011"/>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433" name="Freeform 2012"/>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34" name="Freeform 2013"/>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35" name="Freeform 2014"/>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36" name="Freeform 2015"/>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408" name="Group 2016"/>
                    <p:cNvGrpSpPr>
                      <a:grpSpLocks/>
                    </p:cNvGrpSpPr>
                    <p:nvPr/>
                  </p:nvGrpSpPr>
                  <p:grpSpPr bwMode="auto">
                    <a:xfrm>
                      <a:off x="3251" y="1710"/>
                      <a:ext cx="70" cy="87"/>
                      <a:chOff x="1164" y="1150"/>
                      <a:chExt cx="244" cy="414"/>
                    </a:xfrm>
                  </p:grpSpPr>
                  <p:sp>
                    <p:nvSpPr>
                      <p:cNvPr id="48427" name="Freeform 2017"/>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428" name="Freeform 2018"/>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29" name="Freeform 2019"/>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30" name="Freeform 2020"/>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31" name="Freeform 2021"/>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409" name="Group 2022"/>
                    <p:cNvGrpSpPr>
                      <a:grpSpLocks/>
                    </p:cNvGrpSpPr>
                    <p:nvPr/>
                  </p:nvGrpSpPr>
                  <p:grpSpPr bwMode="auto">
                    <a:xfrm>
                      <a:off x="3282" y="1735"/>
                      <a:ext cx="70" cy="87"/>
                      <a:chOff x="1164" y="1150"/>
                      <a:chExt cx="244" cy="414"/>
                    </a:xfrm>
                  </p:grpSpPr>
                  <p:sp>
                    <p:nvSpPr>
                      <p:cNvPr id="48422" name="Freeform 2023"/>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423" name="Freeform 2024"/>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24" name="Freeform 2025"/>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25" name="Freeform 2026"/>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26" name="Freeform 2027"/>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410" name="Group 2028"/>
                    <p:cNvGrpSpPr>
                      <a:grpSpLocks/>
                    </p:cNvGrpSpPr>
                    <p:nvPr/>
                  </p:nvGrpSpPr>
                  <p:grpSpPr bwMode="auto">
                    <a:xfrm>
                      <a:off x="3310" y="1751"/>
                      <a:ext cx="70" cy="87"/>
                      <a:chOff x="1164" y="1150"/>
                      <a:chExt cx="244" cy="414"/>
                    </a:xfrm>
                  </p:grpSpPr>
                  <p:sp>
                    <p:nvSpPr>
                      <p:cNvPr id="48417" name="Freeform 2029"/>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418" name="Freeform 2030"/>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19" name="Freeform 2031"/>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20" name="Freeform 2032"/>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21" name="Freeform 2033"/>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411" name="Group 2034"/>
                    <p:cNvGrpSpPr>
                      <a:grpSpLocks/>
                    </p:cNvGrpSpPr>
                    <p:nvPr/>
                  </p:nvGrpSpPr>
                  <p:grpSpPr bwMode="auto">
                    <a:xfrm>
                      <a:off x="3338" y="1767"/>
                      <a:ext cx="70" cy="87"/>
                      <a:chOff x="1164" y="1150"/>
                      <a:chExt cx="244" cy="414"/>
                    </a:xfrm>
                  </p:grpSpPr>
                  <p:sp>
                    <p:nvSpPr>
                      <p:cNvPr id="48412" name="Freeform 203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413" name="Freeform 203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14" name="Freeform 203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15" name="Freeform 203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16" name="Freeform 203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48369" name="Group 2040"/>
                  <p:cNvGrpSpPr>
                    <a:grpSpLocks/>
                  </p:cNvGrpSpPr>
                  <p:nvPr/>
                </p:nvGrpSpPr>
                <p:grpSpPr bwMode="auto">
                  <a:xfrm>
                    <a:off x="3367" y="1781"/>
                    <a:ext cx="216" cy="185"/>
                    <a:chOff x="3192" y="1669"/>
                    <a:chExt cx="216" cy="185"/>
                  </a:xfrm>
                </p:grpSpPr>
                <p:grpSp>
                  <p:nvGrpSpPr>
                    <p:cNvPr id="48370" name="Group 2041"/>
                    <p:cNvGrpSpPr>
                      <a:grpSpLocks/>
                    </p:cNvGrpSpPr>
                    <p:nvPr/>
                  </p:nvGrpSpPr>
                  <p:grpSpPr bwMode="auto">
                    <a:xfrm>
                      <a:off x="3192" y="1669"/>
                      <a:ext cx="70" cy="87"/>
                      <a:chOff x="1164" y="1150"/>
                      <a:chExt cx="244" cy="414"/>
                    </a:xfrm>
                  </p:grpSpPr>
                  <p:sp>
                    <p:nvSpPr>
                      <p:cNvPr id="48401" name="Freeform 2042"/>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402" name="Freeform 2043"/>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03" name="Freeform 2044"/>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04" name="Freeform 2045"/>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05" name="Freeform 2046"/>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371" name="Group 2047"/>
                    <p:cNvGrpSpPr>
                      <a:grpSpLocks/>
                    </p:cNvGrpSpPr>
                    <p:nvPr/>
                  </p:nvGrpSpPr>
                  <p:grpSpPr bwMode="auto">
                    <a:xfrm>
                      <a:off x="3220" y="1688"/>
                      <a:ext cx="70" cy="87"/>
                      <a:chOff x="1164" y="1150"/>
                      <a:chExt cx="244" cy="414"/>
                    </a:xfrm>
                  </p:grpSpPr>
                  <p:sp>
                    <p:nvSpPr>
                      <p:cNvPr id="48396" name="Freeform 2048"/>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397" name="Freeform 2049"/>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98" name="Freeform 2050"/>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99" name="Freeform 2051"/>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400" name="Freeform 2052"/>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372" name="Group 2053"/>
                    <p:cNvGrpSpPr>
                      <a:grpSpLocks/>
                    </p:cNvGrpSpPr>
                    <p:nvPr/>
                  </p:nvGrpSpPr>
                  <p:grpSpPr bwMode="auto">
                    <a:xfrm>
                      <a:off x="3251" y="1710"/>
                      <a:ext cx="70" cy="87"/>
                      <a:chOff x="1164" y="1150"/>
                      <a:chExt cx="244" cy="414"/>
                    </a:xfrm>
                  </p:grpSpPr>
                  <p:sp>
                    <p:nvSpPr>
                      <p:cNvPr id="48391" name="Freeform 2054"/>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392" name="Freeform 2055"/>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93" name="Freeform 2056"/>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94" name="Freeform 2057"/>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95" name="Freeform 2058"/>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373" name="Group 2059"/>
                    <p:cNvGrpSpPr>
                      <a:grpSpLocks/>
                    </p:cNvGrpSpPr>
                    <p:nvPr/>
                  </p:nvGrpSpPr>
                  <p:grpSpPr bwMode="auto">
                    <a:xfrm>
                      <a:off x="3282" y="1735"/>
                      <a:ext cx="70" cy="87"/>
                      <a:chOff x="1164" y="1150"/>
                      <a:chExt cx="244" cy="414"/>
                    </a:xfrm>
                  </p:grpSpPr>
                  <p:sp>
                    <p:nvSpPr>
                      <p:cNvPr id="48386" name="Freeform 2060"/>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387" name="Freeform 2061"/>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88" name="Freeform 2062"/>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89" name="Freeform 2063"/>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90" name="Freeform 2064"/>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374" name="Group 2065"/>
                    <p:cNvGrpSpPr>
                      <a:grpSpLocks/>
                    </p:cNvGrpSpPr>
                    <p:nvPr/>
                  </p:nvGrpSpPr>
                  <p:grpSpPr bwMode="auto">
                    <a:xfrm>
                      <a:off x="3310" y="1751"/>
                      <a:ext cx="70" cy="87"/>
                      <a:chOff x="1164" y="1150"/>
                      <a:chExt cx="244" cy="414"/>
                    </a:xfrm>
                  </p:grpSpPr>
                  <p:sp>
                    <p:nvSpPr>
                      <p:cNvPr id="48381" name="Freeform 2066"/>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382" name="Freeform 2067"/>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83" name="Freeform 2068"/>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84" name="Freeform 2069"/>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85" name="Freeform 2070"/>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375" name="Group 2071"/>
                    <p:cNvGrpSpPr>
                      <a:grpSpLocks/>
                    </p:cNvGrpSpPr>
                    <p:nvPr/>
                  </p:nvGrpSpPr>
                  <p:grpSpPr bwMode="auto">
                    <a:xfrm>
                      <a:off x="3338" y="1767"/>
                      <a:ext cx="70" cy="87"/>
                      <a:chOff x="1164" y="1150"/>
                      <a:chExt cx="244" cy="414"/>
                    </a:xfrm>
                  </p:grpSpPr>
                  <p:sp>
                    <p:nvSpPr>
                      <p:cNvPr id="48376" name="Freeform 2072"/>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377" name="Freeform 2073"/>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78" name="Freeform 2074"/>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79" name="Freeform 2075"/>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80" name="Freeform 2076"/>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grpSp>
              <p:nvGrpSpPr>
                <p:cNvPr id="48254" name="Group 2077"/>
                <p:cNvGrpSpPr>
                  <a:grpSpLocks/>
                </p:cNvGrpSpPr>
                <p:nvPr/>
              </p:nvGrpSpPr>
              <p:grpSpPr bwMode="auto">
                <a:xfrm>
                  <a:off x="3094" y="1727"/>
                  <a:ext cx="335" cy="265"/>
                  <a:chOff x="3094" y="1727"/>
                  <a:chExt cx="335" cy="265"/>
                </a:xfrm>
              </p:grpSpPr>
              <p:grpSp>
                <p:nvGrpSpPr>
                  <p:cNvPr id="48306" name="Group 2078"/>
                  <p:cNvGrpSpPr>
                    <a:grpSpLocks/>
                  </p:cNvGrpSpPr>
                  <p:nvPr/>
                </p:nvGrpSpPr>
                <p:grpSpPr bwMode="auto">
                  <a:xfrm>
                    <a:off x="3094" y="1727"/>
                    <a:ext cx="216" cy="185"/>
                    <a:chOff x="3094" y="1727"/>
                    <a:chExt cx="216" cy="185"/>
                  </a:xfrm>
                </p:grpSpPr>
                <p:grpSp>
                  <p:nvGrpSpPr>
                    <p:cNvPr id="48332" name="Group 2079"/>
                    <p:cNvGrpSpPr>
                      <a:grpSpLocks/>
                    </p:cNvGrpSpPr>
                    <p:nvPr/>
                  </p:nvGrpSpPr>
                  <p:grpSpPr bwMode="auto">
                    <a:xfrm>
                      <a:off x="3094" y="1727"/>
                      <a:ext cx="70" cy="87"/>
                      <a:chOff x="1164" y="1150"/>
                      <a:chExt cx="244" cy="414"/>
                    </a:xfrm>
                  </p:grpSpPr>
                  <p:sp>
                    <p:nvSpPr>
                      <p:cNvPr id="48363" name="Freeform 2080"/>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364" name="Freeform 2081"/>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65" name="Freeform 2082"/>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66" name="Freeform 2083"/>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67" name="Freeform 2084"/>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333" name="Group 2085"/>
                    <p:cNvGrpSpPr>
                      <a:grpSpLocks/>
                    </p:cNvGrpSpPr>
                    <p:nvPr/>
                  </p:nvGrpSpPr>
                  <p:grpSpPr bwMode="auto">
                    <a:xfrm>
                      <a:off x="3122" y="1746"/>
                      <a:ext cx="70" cy="87"/>
                      <a:chOff x="1164" y="1150"/>
                      <a:chExt cx="244" cy="414"/>
                    </a:xfrm>
                  </p:grpSpPr>
                  <p:sp>
                    <p:nvSpPr>
                      <p:cNvPr id="48358" name="Freeform 2086"/>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359" name="Freeform 2087"/>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60" name="Freeform 2088"/>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61" name="Freeform 2089"/>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62" name="Freeform 2090"/>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334" name="Group 2091"/>
                    <p:cNvGrpSpPr>
                      <a:grpSpLocks/>
                    </p:cNvGrpSpPr>
                    <p:nvPr/>
                  </p:nvGrpSpPr>
                  <p:grpSpPr bwMode="auto">
                    <a:xfrm>
                      <a:off x="3153" y="1768"/>
                      <a:ext cx="70" cy="87"/>
                      <a:chOff x="1164" y="1150"/>
                      <a:chExt cx="244" cy="414"/>
                    </a:xfrm>
                  </p:grpSpPr>
                  <p:sp>
                    <p:nvSpPr>
                      <p:cNvPr id="48353" name="Freeform 2092"/>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354" name="Freeform 2093"/>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55" name="Freeform 2094"/>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56" name="Freeform 2095"/>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57" name="Freeform 2096"/>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335" name="Group 2097"/>
                    <p:cNvGrpSpPr>
                      <a:grpSpLocks/>
                    </p:cNvGrpSpPr>
                    <p:nvPr/>
                  </p:nvGrpSpPr>
                  <p:grpSpPr bwMode="auto">
                    <a:xfrm>
                      <a:off x="3184" y="1793"/>
                      <a:ext cx="70" cy="87"/>
                      <a:chOff x="1164" y="1150"/>
                      <a:chExt cx="244" cy="414"/>
                    </a:xfrm>
                  </p:grpSpPr>
                  <p:sp>
                    <p:nvSpPr>
                      <p:cNvPr id="48348" name="Freeform 2098"/>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349" name="Freeform 2099"/>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50" name="Freeform 2100"/>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51" name="Freeform 2101"/>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52" name="Freeform 2102"/>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336" name="Group 2103"/>
                    <p:cNvGrpSpPr>
                      <a:grpSpLocks/>
                    </p:cNvGrpSpPr>
                    <p:nvPr/>
                  </p:nvGrpSpPr>
                  <p:grpSpPr bwMode="auto">
                    <a:xfrm>
                      <a:off x="3212" y="1809"/>
                      <a:ext cx="70" cy="87"/>
                      <a:chOff x="1164" y="1150"/>
                      <a:chExt cx="244" cy="414"/>
                    </a:xfrm>
                  </p:grpSpPr>
                  <p:sp>
                    <p:nvSpPr>
                      <p:cNvPr id="48343" name="Freeform 2104"/>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344" name="Freeform 2105"/>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45" name="Freeform 2106"/>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46" name="Freeform 2107"/>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47" name="Freeform 2108"/>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337" name="Group 2109"/>
                    <p:cNvGrpSpPr>
                      <a:grpSpLocks/>
                    </p:cNvGrpSpPr>
                    <p:nvPr/>
                  </p:nvGrpSpPr>
                  <p:grpSpPr bwMode="auto">
                    <a:xfrm>
                      <a:off x="3240" y="1825"/>
                      <a:ext cx="70" cy="87"/>
                      <a:chOff x="1164" y="1150"/>
                      <a:chExt cx="244" cy="414"/>
                    </a:xfrm>
                  </p:grpSpPr>
                  <p:sp>
                    <p:nvSpPr>
                      <p:cNvPr id="48338" name="Freeform 2110"/>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339" name="Freeform 2111"/>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40" name="Freeform 2112"/>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41" name="Freeform 2113"/>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42" name="Freeform 2114"/>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48307" name="Group 2115"/>
                  <p:cNvGrpSpPr>
                    <a:grpSpLocks/>
                  </p:cNvGrpSpPr>
                  <p:nvPr/>
                </p:nvGrpSpPr>
                <p:grpSpPr bwMode="auto">
                  <a:xfrm>
                    <a:off x="3269" y="1839"/>
                    <a:ext cx="160" cy="153"/>
                    <a:chOff x="3269" y="1839"/>
                    <a:chExt cx="160" cy="153"/>
                  </a:xfrm>
                </p:grpSpPr>
                <p:grpSp>
                  <p:nvGrpSpPr>
                    <p:cNvPr id="48308" name="Group 2116"/>
                    <p:cNvGrpSpPr>
                      <a:grpSpLocks/>
                    </p:cNvGrpSpPr>
                    <p:nvPr/>
                  </p:nvGrpSpPr>
                  <p:grpSpPr bwMode="auto">
                    <a:xfrm>
                      <a:off x="3269" y="1839"/>
                      <a:ext cx="70" cy="87"/>
                      <a:chOff x="1164" y="1150"/>
                      <a:chExt cx="244" cy="414"/>
                    </a:xfrm>
                  </p:grpSpPr>
                  <p:sp>
                    <p:nvSpPr>
                      <p:cNvPr id="48327" name="Freeform 2117"/>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328" name="Freeform 2118"/>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29" name="Freeform 2119"/>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30" name="Freeform 2120"/>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31" name="Freeform 2121"/>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309" name="Group 2122"/>
                    <p:cNvGrpSpPr>
                      <a:grpSpLocks/>
                    </p:cNvGrpSpPr>
                    <p:nvPr/>
                  </p:nvGrpSpPr>
                  <p:grpSpPr bwMode="auto">
                    <a:xfrm>
                      <a:off x="3297" y="1858"/>
                      <a:ext cx="70" cy="87"/>
                      <a:chOff x="1164" y="1150"/>
                      <a:chExt cx="244" cy="414"/>
                    </a:xfrm>
                  </p:grpSpPr>
                  <p:sp>
                    <p:nvSpPr>
                      <p:cNvPr id="48322" name="Freeform 2123"/>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323" name="Freeform 2124"/>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24" name="Freeform 2125"/>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25" name="Freeform 2126"/>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26" name="Freeform 2127"/>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310" name="Group 2128"/>
                    <p:cNvGrpSpPr>
                      <a:grpSpLocks/>
                    </p:cNvGrpSpPr>
                    <p:nvPr/>
                  </p:nvGrpSpPr>
                  <p:grpSpPr bwMode="auto">
                    <a:xfrm>
                      <a:off x="3328" y="1880"/>
                      <a:ext cx="70" cy="87"/>
                      <a:chOff x="1164" y="1150"/>
                      <a:chExt cx="244" cy="414"/>
                    </a:xfrm>
                  </p:grpSpPr>
                  <p:sp>
                    <p:nvSpPr>
                      <p:cNvPr id="48317" name="Freeform 2129"/>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318" name="Freeform 2130"/>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19" name="Freeform 2131"/>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20" name="Freeform 2132"/>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21" name="Freeform 2133"/>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311" name="Group 2134"/>
                    <p:cNvGrpSpPr>
                      <a:grpSpLocks/>
                    </p:cNvGrpSpPr>
                    <p:nvPr/>
                  </p:nvGrpSpPr>
                  <p:grpSpPr bwMode="auto">
                    <a:xfrm>
                      <a:off x="3359" y="1905"/>
                      <a:ext cx="70" cy="87"/>
                      <a:chOff x="1164" y="1150"/>
                      <a:chExt cx="244" cy="414"/>
                    </a:xfrm>
                  </p:grpSpPr>
                  <p:sp>
                    <p:nvSpPr>
                      <p:cNvPr id="48312" name="Freeform 213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313" name="Freeform 213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14" name="Freeform 213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15" name="Freeform 213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16" name="Freeform 213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grpSp>
              <p:nvGrpSpPr>
                <p:cNvPr id="48255" name="Group 2140"/>
                <p:cNvGrpSpPr>
                  <a:grpSpLocks/>
                </p:cNvGrpSpPr>
                <p:nvPr/>
              </p:nvGrpSpPr>
              <p:grpSpPr bwMode="auto">
                <a:xfrm>
                  <a:off x="3067" y="1772"/>
                  <a:ext cx="273" cy="218"/>
                  <a:chOff x="3067" y="1772"/>
                  <a:chExt cx="273" cy="218"/>
                </a:xfrm>
              </p:grpSpPr>
              <p:grpSp>
                <p:nvGrpSpPr>
                  <p:cNvPr id="48256" name="Group 2141"/>
                  <p:cNvGrpSpPr>
                    <a:grpSpLocks/>
                  </p:cNvGrpSpPr>
                  <p:nvPr/>
                </p:nvGrpSpPr>
                <p:grpSpPr bwMode="auto">
                  <a:xfrm>
                    <a:off x="3067" y="1772"/>
                    <a:ext cx="216" cy="185"/>
                    <a:chOff x="3067" y="1772"/>
                    <a:chExt cx="216" cy="185"/>
                  </a:xfrm>
                </p:grpSpPr>
                <p:grpSp>
                  <p:nvGrpSpPr>
                    <p:cNvPr id="48270" name="Group 2142"/>
                    <p:cNvGrpSpPr>
                      <a:grpSpLocks/>
                    </p:cNvGrpSpPr>
                    <p:nvPr/>
                  </p:nvGrpSpPr>
                  <p:grpSpPr bwMode="auto">
                    <a:xfrm>
                      <a:off x="3067" y="1772"/>
                      <a:ext cx="70" cy="87"/>
                      <a:chOff x="1164" y="1150"/>
                      <a:chExt cx="244" cy="414"/>
                    </a:xfrm>
                  </p:grpSpPr>
                  <p:sp>
                    <p:nvSpPr>
                      <p:cNvPr id="48301" name="Freeform 2143"/>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302" name="Freeform 2144"/>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03" name="Freeform 2145"/>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04" name="Freeform 2146"/>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05" name="Freeform 2147"/>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271" name="Group 2148"/>
                    <p:cNvGrpSpPr>
                      <a:grpSpLocks/>
                    </p:cNvGrpSpPr>
                    <p:nvPr/>
                  </p:nvGrpSpPr>
                  <p:grpSpPr bwMode="auto">
                    <a:xfrm>
                      <a:off x="3095" y="1791"/>
                      <a:ext cx="70" cy="87"/>
                      <a:chOff x="1164" y="1150"/>
                      <a:chExt cx="244" cy="414"/>
                    </a:xfrm>
                  </p:grpSpPr>
                  <p:sp>
                    <p:nvSpPr>
                      <p:cNvPr id="48296" name="Freeform 2149"/>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297" name="Freeform 2150"/>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98" name="Freeform 2151"/>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99" name="Freeform 2152"/>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300" name="Freeform 2153"/>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272" name="Group 2154"/>
                    <p:cNvGrpSpPr>
                      <a:grpSpLocks/>
                    </p:cNvGrpSpPr>
                    <p:nvPr/>
                  </p:nvGrpSpPr>
                  <p:grpSpPr bwMode="auto">
                    <a:xfrm>
                      <a:off x="3126" y="1813"/>
                      <a:ext cx="70" cy="87"/>
                      <a:chOff x="1164" y="1150"/>
                      <a:chExt cx="244" cy="414"/>
                    </a:xfrm>
                  </p:grpSpPr>
                  <p:sp>
                    <p:nvSpPr>
                      <p:cNvPr id="48291" name="Freeform 215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292" name="Freeform 215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93" name="Freeform 215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94" name="Freeform 215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95" name="Freeform 215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273" name="Group 2160"/>
                    <p:cNvGrpSpPr>
                      <a:grpSpLocks/>
                    </p:cNvGrpSpPr>
                    <p:nvPr/>
                  </p:nvGrpSpPr>
                  <p:grpSpPr bwMode="auto">
                    <a:xfrm>
                      <a:off x="3157" y="1838"/>
                      <a:ext cx="70" cy="87"/>
                      <a:chOff x="1164" y="1150"/>
                      <a:chExt cx="244" cy="414"/>
                    </a:xfrm>
                  </p:grpSpPr>
                  <p:sp>
                    <p:nvSpPr>
                      <p:cNvPr id="48286" name="Freeform 2161"/>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287" name="Freeform 2162"/>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88" name="Freeform 2163"/>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89" name="Freeform 2164"/>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90" name="Freeform 2165"/>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274" name="Group 2166"/>
                    <p:cNvGrpSpPr>
                      <a:grpSpLocks/>
                    </p:cNvGrpSpPr>
                    <p:nvPr/>
                  </p:nvGrpSpPr>
                  <p:grpSpPr bwMode="auto">
                    <a:xfrm>
                      <a:off x="3185" y="1854"/>
                      <a:ext cx="70" cy="87"/>
                      <a:chOff x="1164" y="1150"/>
                      <a:chExt cx="244" cy="414"/>
                    </a:xfrm>
                  </p:grpSpPr>
                  <p:sp>
                    <p:nvSpPr>
                      <p:cNvPr id="48281" name="Freeform 2167"/>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282" name="Freeform 2168"/>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83" name="Freeform 2169"/>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84" name="Freeform 2170"/>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85" name="Freeform 2171"/>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275" name="Group 2172"/>
                    <p:cNvGrpSpPr>
                      <a:grpSpLocks/>
                    </p:cNvGrpSpPr>
                    <p:nvPr/>
                  </p:nvGrpSpPr>
                  <p:grpSpPr bwMode="auto">
                    <a:xfrm>
                      <a:off x="3213" y="1870"/>
                      <a:ext cx="70" cy="87"/>
                      <a:chOff x="1164" y="1150"/>
                      <a:chExt cx="244" cy="414"/>
                    </a:xfrm>
                  </p:grpSpPr>
                  <p:sp>
                    <p:nvSpPr>
                      <p:cNvPr id="48276" name="Freeform 2173"/>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277" name="Freeform 2174"/>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78" name="Freeform 2175"/>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79" name="Freeform 2176"/>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80" name="Freeform 2177"/>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48257" name="Group 2178"/>
                  <p:cNvGrpSpPr>
                    <a:grpSpLocks/>
                  </p:cNvGrpSpPr>
                  <p:nvPr/>
                </p:nvGrpSpPr>
                <p:grpSpPr bwMode="auto">
                  <a:xfrm>
                    <a:off x="3242" y="1884"/>
                    <a:ext cx="98" cy="106"/>
                    <a:chOff x="3242" y="1884"/>
                    <a:chExt cx="98" cy="106"/>
                  </a:xfrm>
                </p:grpSpPr>
                <p:grpSp>
                  <p:nvGrpSpPr>
                    <p:cNvPr id="48258" name="Group 2179"/>
                    <p:cNvGrpSpPr>
                      <a:grpSpLocks/>
                    </p:cNvGrpSpPr>
                    <p:nvPr/>
                  </p:nvGrpSpPr>
                  <p:grpSpPr bwMode="auto">
                    <a:xfrm>
                      <a:off x="3242" y="1884"/>
                      <a:ext cx="70" cy="87"/>
                      <a:chOff x="1164" y="1150"/>
                      <a:chExt cx="244" cy="414"/>
                    </a:xfrm>
                  </p:grpSpPr>
                  <p:sp>
                    <p:nvSpPr>
                      <p:cNvPr id="48265" name="Freeform 2180"/>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266" name="Freeform 2181"/>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67" name="Freeform 2182"/>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68" name="Freeform 2183"/>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69" name="Freeform 2184"/>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259" name="Group 2185"/>
                    <p:cNvGrpSpPr>
                      <a:grpSpLocks/>
                    </p:cNvGrpSpPr>
                    <p:nvPr/>
                  </p:nvGrpSpPr>
                  <p:grpSpPr bwMode="auto">
                    <a:xfrm>
                      <a:off x="3270" y="1903"/>
                      <a:ext cx="70" cy="87"/>
                      <a:chOff x="1164" y="1150"/>
                      <a:chExt cx="244" cy="414"/>
                    </a:xfrm>
                  </p:grpSpPr>
                  <p:sp>
                    <p:nvSpPr>
                      <p:cNvPr id="48260" name="Freeform 2186"/>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261" name="Freeform 2187"/>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62" name="Freeform 2188"/>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63" name="Freeform 2189"/>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64" name="Freeform 2190"/>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grpSp>
          <p:sp>
            <p:nvSpPr>
              <p:cNvPr id="48247" name="Text Box 2191"/>
              <p:cNvSpPr txBox="1">
                <a:spLocks noChangeArrowheads="1"/>
              </p:cNvSpPr>
              <p:nvPr/>
            </p:nvSpPr>
            <p:spPr bwMode="auto">
              <a:xfrm>
                <a:off x="3736" y="1450"/>
                <a:ext cx="1086" cy="192"/>
              </a:xfrm>
              <a:prstGeom prst="rect">
                <a:avLst/>
              </a:prstGeom>
              <a:noFill/>
              <a:ln w="9525">
                <a:noFill/>
                <a:miter lim="800000"/>
                <a:headEnd/>
                <a:tailEnd/>
              </a:ln>
            </p:spPr>
            <p:txBody>
              <a:bodyPr>
                <a:spAutoFit/>
              </a:bodyPr>
              <a:lstStyle/>
              <a:p>
                <a:pPr>
                  <a:buFontTx/>
                  <a:buChar char="•"/>
                </a:pPr>
                <a:r>
                  <a:rPr lang="en-AU" sz="1400" i="0">
                    <a:solidFill>
                      <a:srgbClr val="0000FF"/>
                    </a:solidFill>
                  </a:rPr>
                  <a:t> land-use</a:t>
                </a:r>
                <a:endParaRPr lang="en-US" sz="1400" i="0">
                  <a:solidFill>
                    <a:srgbClr val="0000FF"/>
                  </a:solidFill>
                </a:endParaRPr>
              </a:p>
            </p:txBody>
          </p:sp>
          <p:sp>
            <p:nvSpPr>
              <p:cNvPr id="48248" name="Line 2192"/>
              <p:cNvSpPr>
                <a:spLocks noChangeShapeType="1"/>
              </p:cNvSpPr>
              <p:nvPr/>
            </p:nvSpPr>
            <p:spPr bwMode="auto">
              <a:xfrm>
                <a:off x="3462" y="1554"/>
                <a:ext cx="0" cy="216"/>
              </a:xfrm>
              <a:prstGeom prst="line">
                <a:avLst/>
              </a:prstGeom>
              <a:noFill/>
              <a:ln w="9525">
                <a:solidFill>
                  <a:srgbClr val="000000"/>
                </a:solidFill>
                <a:round/>
                <a:headEnd/>
                <a:tailEnd type="triangle" w="med" len="med"/>
              </a:ln>
            </p:spPr>
            <p:txBody>
              <a:bodyPr/>
              <a:lstStyle/>
              <a:p>
                <a:endParaRPr lang="en-US"/>
              </a:p>
            </p:txBody>
          </p:sp>
          <p:sp>
            <p:nvSpPr>
              <p:cNvPr id="48249" name="Line 2193"/>
              <p:cNvSpPr>
                <a:spLocks noChangeShapeType="1"/>
              </p:cNvSpPr>
              <p:nvPr/>
            </p:nvSpPr>
            <p:spPr bwMode="auto">
              <a:xfrm>
                <a:off x="3462" y="1554"/>
                <a:ext cx="306" cy="0"/>
              </a:xfrm>
              <a:prstGeom prst="line">
                <a:avLst/>
              </a:prstGeom>
              <a:noFill/>
              <a:ln w="9525">
                <a:solidFill>
                  <a:srgbClr val="000000"/>
                </a:solidFill>
                <a:round/>
                <a:headEnd/>
                <a:tailEnd/>
              </a:ln>
            </p:spPr>
            <p:txBody>
              <a:bodyPr/>
              <a:lstStyle/>
              <a:p>
                <a:endParaRPr lang="en-US"/>
              </a:p>
            </p:txBody>
          </p:sp>
        </p:grpSp>
      </p:grpSp>
      <p:sp>
        <p:nvSpPr>
          <p:cNvPr id="48136" name="AutoShape 2194"/>
          <p:cNvSpPr>
            <a:spLocks noChangeArrowheads="1"/>
          </p:cNvSpPr>
          <p:nvPr/>
        </p:nvSpPr>
        <p:spPr bwMode="auto">
          <a:xfrm rot="-5400000">
            <a:off x="2127250" y="3544888"/>
            <a:ext cx="381000" cy="247650"/>
          </a:xfrm>
          <a:custGeom>
            <a:avLst/>
            <a:gdLst>
              <a:gd name="T0" fmla="*/ 272150 w 21600"/>
              <a:gd name="T1" fmla="*/ 0 h 21600"/>
              <a:gd name="T2" fmla="*/ 163283 w 21600"/>
              <a:gd name="T3" fmla="*/ 82550 h 21600"/>
              <a:gd name="T4" fmla="*/ 0 w 21600"/>
              <a:gd name="T5" fmla="*/ 206386 h 21600"/>
              <a:gd name="T6" fmla="*/ 163283 w 21600"/>
              <a:gd name="T7" fmla="*/ 247650 h 21600"/>
              <a:gd name="T8" fmla="*/ 326566 w 21600"/>
              <a:gd name="T9" fmla="*/ 171979 h 21600"/>
              <a:gd name="T10" fmla="*/ 381000 w 21600"/>
              <a:gd name="T11" fmla="*/ 82550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rgbClr val="99CCFF"/>
          </a:solidFill>
          <a:ln w="9525">
            <a:solidFill>
              <a:srgbClr val="000000"/>
            </a:solidFill>
            <a:miter lim="800000"/>
            <a:headEnd/>
            <a:tailEnd/>
          </a:ln>
        </p:spPr>
        <p:txBody>
          <a:bodyPr wrap="none" anchor="ctr"/>
          <a:lstStyle/>
          <a:p>
            <a:endParaRPr lang="en-US"/>
          </a:p>
        </p:txBody>
      </p:sp>
      <p:grpSp>
        <p:nvGrpSpPr>
          <p:cNvPr id="48137" name="Group 2195"/>
          <p:cNvGrpSpPr>
            <a:grpSpLocks/>
          </p:cNvGrpSpPr>
          <p:nvPr/>
        </p:nvGrpSpPr>
        <p:grpSpPr bwMode="auto">
          <a:xfrm>
            <a:off x="2000250" y="5218113"/>
            <a:ext cx="4187825" cy="1308100"/>
            <a:chOff x="1600" y="2878"/>
            <a:chExt cx="2638" cy="824"/>
          </a:xfrm>
        </p:grpSpPr>
        <p:grpSp>
          <p:nvGrpSpPr>
            <p:cNvPr id="48240" name="Group 2196"/>
            <p:cNvGrpSpPr>
              <a:grpSpLocks/>
            </p:cNvGrpSpPr>
            <p:nvPr/>
          </p:nvGrpSpPr>
          <p:grpSpPr bwMode="auto">
            <a:xfrm>
              <a:off x="1600" y="2887"/>
              <a:ext cx="2638" cy="815"/>
              <a:chOff x="1156" y="2887"/>
              <a:chExt cx="2638" cy="815"/>
            </a:xfrm>
          </p:grpSpPr>
          <p:sp>
            <p:nvSpPr>
              <p:cNvPr id="48242" name="Rectangle 2197"/>
              <p:cNvSpPr>
                <a:spLocks noChangeArrowheads="1"/>
              </p:cNvSpPr>
              <p:nvPr/>
            </p:nvSpPr>
            <p:spPr bwMode="auto">
              <a:xfrm>
                <a:off x="1156" y="3203"/>
                <a:ext cx="2450" cy="499"/>
              </a:xfrm>
              <a:prstGeom prst="rect">
                <a:avLst/>
              </a:prstGeom>
              <a:solidFill>
                <a:srgbClr val="99CCFF"/>
              </a:solid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8243" name="Freeform 2198"/>
              <p:cNvSpPr>
                <a:spLocks/>
              </p:cNvSpPr>
              <p:nvPr/>
            </p:nvSpPr>
            <p:spPr bwMode="auto">
              <a:xfrm>
                <a:off x="1157" y="2887"/>
                <a:ext cx="2637" cy="317"/>
              </a:xfrm>
              <a:custGeom>
                <a:avLst/>
                <a:gdLst>
                  <a:gd name="T0" fmla="*/ 0 w 2637"/>
                  <a:gd name="T1" fmla="*/ 316 h 317"/>
                  <a:gd name="T2" fmla="*/ 175 w 2637"/>
                  <a:gd name="T3" fmla="*/ 0 h 317"/>
                  <a:gd name="T4" fmla="*/ 2637 w 2637"/>
                  <a:gd name="T5" fmla="*/ 0 h 317"/>
                  <a:gd name="T6" fmla="*/ 2450 w 2637"/>
                  <a:gd name="T7" fmla="*/ 317 h 317"/>
                  <a:gd name="T8" fmla="*/ 0 w 2637"/>
                  <a:gd name="T9" fmla="*/ 316 h 317"/>
                  <a:gd name="T10" fmla="*/ 0 60000 65536"/>
                  <a:gd name="T11" fmla="*/ 0 60000 65536"/>
                  <a:gd name="T12" fmla="*/ 0 60000 65536"/>
                  <a:gd name="T13" fmla="*/ 0 60000 65536"/>
                  <a:gd name="T14" fmla="*/ 0 60000 65536"/>
                  <a:gd name="T15" fmla="*/ 0 w 2637"/>
                  <a:gd name="T16" fmla="*/ 0 h 317"/>
                  <a:gd name="T17" fmla="*/ 2637 w 2637"/>
                  <a:gd name="T18" fmla="*/ 317 h 317"/>
                </a:gdLst>
                <a:ahLst/>
                <a:cxnLst>
                  <a:cxn ang="T10">
                    <a:pos x="T0" y="T1"/>
                  </a:cxn>
                  <a:cxn ang="T11">
                    <a:pos x="T2" y="T3"/>
                  </a:cxn>
                  <a:cxn ang="T12">
                    <a:pos x="T4" y="T5"/>
                  </a:cxn>
                  <a:cxn ang="T13">
                    <a:pos x="T6" y="T7"/>
                  </a:cxn>
                  <a:cxn ang="T14">
                    <a:pos x="T8" y="T9"/>
                  </a:cxn>
                </a:cxnLst>
                <a:rect l="T15" t="T16" r="T17" b="T18"/>
                <a:pathLst>
                  <a:path w="2637" h="317">
                    <a:moveTo>
                      <a:pt x="0" y="316"/>
                    </a:moveTo>
                    <a:lnTo>
                      <a:pt x="175" y="0"/>
                    </a:lnTo>
                    <a:lnTo>
                      <a:pt x="2637" y="0"/>
                    </a:lnTo>
                    <a:lnTo>
                      <a:pt x="2450" y="317"/>
                    </a:lnTo>
                    <a:lnTo>
                      <a:pt x="0" y="316"/>
                    </a:lnTo>
                    <a:close/>
                  </a:path>
                </a:pathLst>
              </a:custGeom>
              <a:solidFill>
                <a:srgbClr val="99CCFF"/>
              </a:solidFill>
              <a:ln w="9525">
                <a:solidFill>
                  <a:srgbClr val="000000"/>
                </a:solidFill>
                <a:round/>
                <a:headEnd/>
                <a:tailEnd/>
              </a:ln>
            </p:spPr>
            <p:txBody>
              <a:bodyPr/>
              <a:lstStyle/>
              <a:p>
                <a:endParaRPr lang="en-US"/>
              </a:p>
            </p:txBody>
          </p:sp>
        </p:grpSp>
        <p:sp>
          <p:nvSpPr>
            <p:cNvPr id="48241" name="Freeform 2199"/>
            <p:cNvSpPr>
              <a:spLocks/>
            </p:cNvSpPr>
            <p:nvPr/>
          </p:nvSpPr>
          <p:spPr bwMode="auto">
            <a:xfrm>
              <a:off x="4052" y="2878"/>
              <a:ext cx="182" cy="816"/>
            </a:xfrm>
            <a:custGeom>
              <a:avLst/>
              <a:gdLst>
                <a:gd name="T0" fmla="*/ 0 w 182"/>
                <a:gd name="T1" fmla="*/ 816 h 816"/>
                <a:gd name="T2" fmla="*/ 0 w 182"/>
                <a:gd name="T3" fmla="*/ 317 h 816"/>
                <a:gd name="T4" fmla="*/ 182 w 182"/>
                <a:gd name="T5" fmla="*/ 0 h 816"/>
                <a:gd name="T6" fmla="*/ 182 w 182"/>
                <a:gd name="T7" fmla="*/ 499 h 816"/>
                <a:gd name="T8" fmla="*/ 0 w 182"/>
                <a:gd name="T9" fmla="*/ 816 h 816"/>
                <a:gd name="T10" fmla="*/ 0 60000 65536"/>
                <a:gd name="T11" fmla="*/ 0 60000 65536"/>
                <a:gd name="T12" fmla="*/ 0 60000 65536"/>
                <a:gd name="T13" fmla="*/ 0 60000 65536"/>
                <a:gd name="T14" fmla="*/ 0 60000 65536"/>
                <a:gd name="T15" fmla="*/ 0 w 182"/>
                <a:gd name="T16" fmla="*/ 0 h 816"/>
                <a:gd name="T17" fmla="*/ 182 w 182"/>
                <a:gd name="T18" fmla="*/ 816 h 816"/>
              </a:gdLst>
              <a:ahLst/>
              <a:cxnLst>
                <a:cxn ang="T10">
                  <a:pos x="T0" y="T1"/>
                </a:cxn>
                <a:cxn ang="T11">
                  <a:pos x="T2" y="T3"/>
                </a:cxn>
                <a:cxn ang="T12">
                  <a:pos x="T4" y="T5"/>
                </a:cxn>
                <a:cxn ang="T13">
                  <a:pos x="T6" y="T7"/>
                </a:cxn>
                <a:cxn ang="T14">
                  <a:pos x="T8" y="T9"/>
                </a:cxn>
              </a:cxnLst>
              <a:rect l="T15" t="T16" r="T17" b="T18"/>
              <a:pathLst>
                <a:path w="182" h="816">
                  <a:moveTo>
                    <a:pt x="0" y="816"/>
                  </a:moveTo>
                  <a:lnTo>
                    <a:pt x="0" y="317"/>
                  </a:lnTo>
                  <a:lnTo>
                    <a:pt x="182" y="0"/>
                  </a:lnTo>
                  <a:lnTo>
                    <a:pt x="182" y="499"/>
                  </a:lnTo>
                  <a:lnTo>
                    <a:pt x="0" y="816"/>
                  </a:lnTo>
                  <a:close/>
                </a:path>
              </a:pathLst>
            </a:custGeom>
            <a:solidFill>
              <a:srgbClr val="99CCFF"/>
            </a:solidFill>
            <a:ln w="9525">
              <a:solidFill>
                <a:srgbClr val="000000"/>
              </a:solidFill>
              <a:round/>
              <a:headEnd/>
              <a:tailEnd/>
            </a:ln>
          </p:spPr>
          <p:txBody>
            <a:bodyPr/>
            <a:lstStyle/>
            <a:p>
              <a:endParaRPr lang="en-US"/>
            </a:p>
          </p:txBody>
        </p:sp>
      </p:grpSp>
      <p:grpSp>
        <p:nvGrpSpPr>
          <p:cNvPr id="48138" name="Group 2200"/>
          <p:cNvGrpSpPr>
            <a:grpSpLocks/>
          </p:cNvGrpSpPr>
          <p:nvPr/>
        </p:nvGrpSpPr>
        <p:grpSpPr bwMode="auto">
          <a:xfrm>
            <a:off x="1374775" y="2435225"/>
            <a:ext cx="2813050" cy="3938588"/>
            <a:chOff x="1206" y="1125"/>
            <a:chExt cx="1772" cy="2481"/>
          </a:xfrm>
        </p:grpSpPr>
        <p:grpSp>
          <p:nvGrpSpPr>
            <p:cNvPr id="48191" name="Group 2201"/>
            <p:cNvGrpSpPr>
              <a:grpSpLocks/>
            </p:cNvGrpSpPr>
            <p:nvPr/>
          </p:nvGrpSpPr>
          <p:grpSpPr bwMode="auto">
            <a:xfrm>
              <a:off x="1323" y="1125"/>
              <a:ext cx="1655" cy="1716"/>
              <a:chOff x="879" y="1125"/>
              <a:chExt cx="1655" cy="1716"/>
            </a:xfrm>
          </p:grpSpPr>
          <p:grpSp>
            <p:nvGrpSpPr>
              <p:cNvPr id="48195" name="Group 2202"/>
              <p:cNvGrpSpPr>
                <a:grpSpLocks/>
              </p:cNvGrpSpPr>
              <p:nvPr/>
            </p:nvGrpSpPr>
            <p:grpSpPr bwMode="auto">
              <a:xfrm>
                <a:off x="1474" y="1661"/>
                <a:ext cx="726" cy="817"/>
                <a:chOff x="1474" y="1661"/>
                <a:chExt cx="544" cy="680"/>
              </a:xfrm>
            </p:grpSpPr>
            <p:sp>
              <p:nvSpPr>
                <p:cNvPr id="48236" name="Rectangle 2203"/>
                <p:cNvSpPr>
                  <a:spLocks noChangeArrowheads="1"/>
                </p:cNvSpPr>
                <p:nvPr/>
              </p:nvSpPr>
              <p:spPr bwMode="auto">
                <a:xfrm>
                  <a:off x="1474" y="1933"/>
                  <a:ext cx="408" cy="408"/>
                </a:xfrm>
                <a:prstGeom prst="rect">
                  <a:avLst/>
                </a:prstGeom>
                <a:no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8237" name="AutoShape 2204"/>
                <p:cNvSpPr>
                  <a:spLocks noChangeArrowheads="1"/>
                </p:cNvSpPr>
                <p:nvPr/>
              </p:nvSpPr>
              <p:spPr bwMode="auto">
                <a:xfrm>
                  <a:off x="1474" y="1661"/>
                  <a:ext cx="544" cy="272"/>
                </a:xfrm>
                <a:prstGeom prst="parallelogram">
                  <a:avLst>
                    <a:gd name="adj" fmla="val 50000"/>
                  </a:avLst>
                </a:prstGeom>
                <a:no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8238" name="Line 2205"/>
                <p:cNvSpPr>
                  <a:spLocks noChangeShapeType="1"/>
                </p:cNvSpPr>
                <p:nvPr/>
              </p:nvSpPr>
              <p:spPr bwMode="auto">
                <a:xfrm flipV="1">
                  <a:off x="1882" y="2069"/>
                  <a:ext cx="136" cy="272"/>
                </a:xfrm>
                <a:prstGeom prst="line">
                  <a:avLst/>
                </a:prstGeom>
                <a:noFill/>
                <a:ln w="9525">
                  <a:solidFill>
                    <a:srgbClr val="000000"/>
                  </a:solidFill>
                  <a:round/>
                  <a:headEnd/>
                  <a:tailEnd/>
                </a:ln>
              </p:spPr>
              <p:txBody>
                <a:bodyPr/>
                <a:lstStyle/>
                <a:p>
                  <a:endParaRPr lang="en-US"/>
                </a:p>
              </p:txBody>
            </p:sp>
            <p:sp>
              <p:nvSpPr>
                <p:cNvPr id="48239" name="Line 2206"/>
                <p:cNvSpPr>
                  <a:spLocks noChangeShapeType="1"/>
                </p:cNvSpPr>
                <p:nvPr/>
              </p:nvSpPr>
              <p:spPr bwMode="auto">
                <a:xfrm>
                  <a:off x="2018" y="1661"/>
                  <a:ext cx="0" cy="408"/>
                </a:xfrm>
                <a:prstGeom prst="line">
                  <a:avLst/>
                </a:prstGeom>
                <a:noFill/>
                <a:ln w="9525">
                  <a:solidFill>
                    <a:srgbClr val="000000"/>
                  </a:solidFill>
                  <a:round/>
                  <a:headEnd/>
                  <a:tailEnd/>
                </a:ln>
              </p:spPr>
              <p:txBody>
                <a:bodyPr/>
                <a:lstStyle/>
                <a:p>
                  <a:endParaRPr lang="en-US"/>
                </a:p>
              </p:txBody>
            </p:sp>
          </p:grpSp>
          <p:grpSp>
            <p:nvGrpSpPr>
              <p:cNvPr id="48196" name="Group 2207"/>
              <p:cNvGrpSpPr>
                <a:grpSpLocks/>
              </p:cNvGrpSpPr>
              <p:nvPr/>
            </p:nvGrpSpPr>
            <p:grpSpPr bwMode="auto">
              <a:xfrm>
                <a:off x="1845" y="1659"/>
                <a:ext cx="318" cy="171"/>
                <a:chOff x="1845" y="1659"/>
                <a:chExt cx="318" cy="171"/>
              </a:xfrm>
            </p:grpSpPr>
            <p:sp>
              <p:nvSpPr>
                <p:cNvPr id="48227" name="Line 2208"/>
                <p:cNvSpPr>
                  <a:spLocks noChangeShapeType="1"/>
                </p:cNvSpPr>
                <p:nvPr/>
              </p:nvSpPr>
              <p:spPr bwMode="auto">
                <a:xfrm>
                  <a:off x="2022" y="1659"/>
                  <a:ext cx="126" cy="87"/>
                </a:xfrm>
                <a:prstGeom prst="line">
                  <a:avLst/>
                </a:prstGeom>
                <a:noFill/>
                <a:ln w="9525">
                  <a:solidFill>
                    <a:srgbClr val="000000"/>
                  </a:solidFill>
                  <a:round/>
                  <a:headEnd/>
                  <a:tailEnd/>
                </a:ln>
              </p:spPr>
              <p:txBody>
                <a:bodyPr/>
                <a:lstStyle/>
                <a:p>
                  <a:endParaRPr lang="en-US"/>
                </a:p>
              </p:txBody>
            </p:sp>
            <p:sp>
              <p:nvSpPr>
                <p:cNvPr id="48228" name="Line 2209"/>
                <p:cNvSpPr>
                  <a:spLocks noChangeShapeType="1"/>
                </p:cNvSpPr>
                <p:nvPr/>
              </p:nvSpPr>
              <p:spPr bwMode="auto">
                <a:xfrm>
                  <a:off x="1974" y="1662"/>
                  <a:ext cx="162" cy="114"/>
                </a:xfrm>
                <a:prstGeom prst="line">
                  <a:avLst/>
                </a:prstGeom>
                <a:noFill/>
                <a:ln w="9525">
                  <a:solidFill>
                    <a:srgbClr val="000000"/>
                  </a:solidFill>
                  <a:round/>
                  <a:headEnd/>
                  <a:tailEnd/>
                </a:ln>
              </p:spPr>
              <p:txBody>
                <a:bodyPr/>
                <a:lstStyle/>
                <a:p>
                  <a:endParaRPr lang="en-US"/>
                </a:p>
              </p:txBody>
            </p:sp>
            <p:sp>
              <p:nvSpPr>
                <p:cNvPr id="48229" name="Line 2210"/>
                <p:cNvSpPr>
                  <a:spLocks noChangeShapeType="1"/>
                </p:cNvSpPr>
                <p:nvPr/>
              </p:nvSpPr>
              <p:spPr bwMode="auto">
                <a:xfrm>
                  <a:off x="1908" y="1662"/>
                  <a:ext cx="213" cy="141"/>
                </a:xfrm>
                <a:prstGeom prst="line">
                  <a:avLst/>
                </a:prstGeom>
                <a:noFill/>
                <a:ln w="9525">
                  <a:solidFill>
                    <a:srgbClr val="000000"/>
                  </a:solidFill>
                  <a:round/>
                  <a:headEnd/>
                  <a:tailEnd/>
                </a:ln>
              </p:spPr>
              <p:txBody>
                <a:bodyPr/>
                <a:lstStyle/>
                <a:p>
                  <a:endParaRPr lang="en-US"/>
                </a:p>
              </p:txBody>
            </p:sp>
            <p:sp>
              <p:nvSpPr>
                <p:cNvPr id="48230" name="Line 2211"/>
                <p:cNvSpPr>
                  <a:spLocks noChangeShapeType="1"/>
                </p:cNvSpPr>
                <p:nvPr/>
              </p:nvSpPr>
              <p:spPr bwMode="auto">
                <a:xfrm>
                  <a:off x="1845" y="1659"/>
                  <a:ext cx="255" cy="171"/>
                </a:xfrm>
                <a:prstGeom prst="line">
                  <a:avLst/>
                </a:prstGeom>
                <a:noFill/>
                <a:ln w="9525">
                  <a:solidFill>
                    <a:srgbClr val="000000"/>
                  </a:solidFill>
                  <a:round/>
                  <a:headEnd/>
                  <a:tailEnd/>
                </a:ln>
              </p:spPr>
              <p:txBody>
                <a:bodyPr/>
                <a:lstStyle/>
                <a:p>
                  <a:endParaRPr lang="en-US"/>
                </a:p>
              </p:txBody>
            </p:sp>
            <p:sp>
              <p:nvSpPr>
                <p:cNvPr id="48231" name="Line 2212"/>
                <p:cNvSpPr>
                  <a:spLocks noChangeShapeType="1"/>
                </p:cNvSpPr>
                <p:nvPr/>
              </p:nvSpPr>
              <p:spPr bwMode="auto">
                <a:xfrm flipV="1">
                  <a:off x="1893" y="1662"/>
                  <a:ext cx="114" cy="51"/>
                </a:xfrm>
                <a:prstGeom prst="line">
                  <a:avLst/>
                </a:prstGeom>
                <a:noFill/>
                <a:ln w="9525">
                  <a:solidFill>
                    <a:srgbClr val="000000"/>
                  </a:solidFill>
                  <a:round/>
                  <a:headEnd/>
                  <a:tailEnd/>
                </a:ln>
              </p:spPr>
              <p:txBody>
                <a:bodyPr/>
                <a:lstStyle/>
                <a:p>
                  <a:endParaRPr lang="en-US"/>
                </a:p>
              </p:txBody>
            </p:sp>
            <p:sp>
              <p:nvSpPr>
                <p:cNvPr id="48232" name="Line 2213"/>
                <p:cNvSpPr>
                  <a:spLocks noChangeShapeType="1"/>
                </p:cNvSpPr>
                <p:nvPr/>
              </p:nvSpPr>
              <p:spPr bwMode="auto">
                <a:xfrm flipV="1">
                  <a:off x="1920" y="1665"/>
                  <a:ext cx="150" cy="75"/>
                </a:xfrm>
                <a:prstGeom prst="line">
                  <a:avLst/>
                </a:prstGeom>
                <a:noFill/>
                <a:ln w="9525">
                  <a:solidFill>
                    <a:srgbClr val="000000"/>
                  </a:solidFill>
                  <a:round/>
                  <a:headEnd/>
                  <a:tailEnd/>
                </a:ln>
              </p:spPr>
              <p:txBody>
                <a:bodyPr/>
                <a:lstStyle/>
                <a:p>
                  <a:endParaRPr lang="en-US"/>
                </a:p>
              </p:txBody>
            </p:sp>
            <p:sp>
              <p:nvSpPr>
                <p:cNvPr id="48233" name="Line 2214"/>
                <p:cNvSpPr>
                  <a:spLocks noChangeShapeType="1"/>
                </p:cNvSpPr>
                <p:nvPr/>
              </p:nvSpPr>
              <p:spPr bwMode="auto">
                <a:xfrm flipV="1">
                  <a:off x="1959" y="1674"/>
                  <a:ext cx="159" cy="87"/>
                </a:xfrm>
                <a:prstGeom prst="line">
                  <a:avLst/>
                </a:prstGeom>
                <a:noFill/>
                <a:ln w="9525">
                  <a:solidFill>
                    <a:srgbClr val="000000"/>
                  </a:solidFill>
                  <a:round/>
                  <a:headEnd/>
                  <a:tailEnd/>
                </a:ln>
              </p:spPr>
              <p:txBody>
                <a:bodyPr/>
                <a:lstStyle/>
                <a:p>
                  <a:endParaRPr lang="en-US"/>
                </a:p>
              </p:txBody>
            </p:sp>
            <p:sp>
              <p:nvSpPr>
                <p:cNvPr id="48234" name="Line 2215"/>
                <p:cNvSpPr>
                  <a:spLocks noChangeShapeType="1"/>
                </p:cNvSpPr>
                <p:nvPr/>
              </p:nvSpPr>
              <p:spPr bwMode="auto">
                <a:xfrm flipV="1">
                  <a:off x="1995" y="1698"/>
                  <a:ext cx="153" cy="87"/>
                </a:xfrm>
                <a:prstGeom prst="line">
                  <a:avLst/>
                </a:prstGeom>
                <a:noFill/>
                <a:ln w="9525">
                  <a:solidFill>
                    <a:srgbClr val="000000"/>
                  </a:solidFill>
                  <a:round/>
                  <a:headEnd/>
                  <a:tailEnd/>
                </a:ln>
              </p:spPr>
              <p:txBody>
                <a:bodyPr/>
                <a:lstStyle/>
                <a:p>
                  <a:endParaRPr lang="en-US"/>
                </a:p>
              </p:txBody>
            </p:sp>
            <p:sp>
              <p:nvSpPr>
                <p:cNvPr id="48235" name="Line 2216"/>
                <p:cNvSpPr>
                  <a:spLocks noChangeShapeType="1"/>
                </p:cNvSpPr>
                <p:nvPr/>
              </p:nvSpPr>
              <p:spPr bwMode="auto">
                <a:xfrm flipV="1">
                  <a:off x="2037" y="1728"/>
                  <a:ext cx="126" cy="78"/>
                </a:xfrm>
                <a:prstGeom prst="line">
                  <a:avLst/>
                </a:prstGeom>
                <a:noFill/>
                <a:ln w="9525">
                  <a:solidFill>
                    <a:srgbClr val="000000"/>
                  </a:solidFill>
                  <a:round/>
                  <a:headEnd/>
                  <a:tailEnd/>
                </a:ln>
              </p:spPr>
              <p:txBody>
                <a:bodyPr/>
                <a:lstStyle/>
                <a:p>
                  <a:endParaRPr lang="en-US"/>
                </a:p>
              </p:txBody>
            </p:sp>
          </p:grpSp>
          <p:grpSp>
            <p:nvGrpSpPr>
              <p:cNvPr id="48197" name="Group 2217"/>
              <p:cNvGrpSpPr>
                <a:grpSpLocks/>
              </p:cNvGrpSpPr>
              <p:nvPr/>
            </p:nvGrpSpPr>
            <p:grpSpPr bwMode="auto">
              <a:xfrm>
                <a:off x="1442" y="1578"/>
                <a:ext cx="244" cy="615"/>
                <a:chOff x="1133" y="1419"/>
                <a:chExt cx="244" cy="615"/>
              </a:xfrm>
            </p:grpSpPr>
            <p:sp>
              <p:nvSpPr>
                <p:cNvPr id="48222" name="Freeform 2218"/>
                <p:cNvSpPr>
                  <a:spLocks/>
                </p:cNvSpPr>
                <p:nvPr/>
              </p:nvSpPr>
              <p:spPr bwMode="auto">
                <a:xfrm>
                  <a:off x="1185" y="1452"/>
                  <a:ext cx="162" cy="582"/>
                </a:xfrm>
                <a:custGeom>
                  <a:avLst/>
                  <a:gdLst>
                    <a:gd name="T0" fmla="*/ 54 w 162"/>
                    <a:gd name="T1" fmla="*/ 582 h 582"/>
                    <a:gd name="T2" fmla="*/ 42 w 162"/>
                    <a:gd name="T3" fmla="*/ 507 h 582"/>
                    <a:gd name="T4" fmla="*/ 51 w 162"/>
                    <a:gd name="T5" fmla="*/ 423 h 582"/>
                    <a:gd name="T6" fmla="*/ 42 w 162"/>
                    <a:gd name="T7" fmla="*/ 390 h 582"/>
                    <a:gd name="T8" fmla="*/ 33 w 162"/>
                    <a:gd name="T9" fmla="*/ 378 h 582"/>
                    <a:gd name="T10" fmla="*/ 48 w 162"/>
                    <a:gd name="T11" fmla="*/ 330 h 582"/>
                    <a:gd name="T12" fmla="*/ 57 w 162"/>
                    <a:gd name="T13" fmla="*/ 297 h 582"/>
                    <a:gd name="T14" fmla="*/ 63 w 162"/>
                    <a:gd name="T15" fmla="*/ 231 h 582"/>
                    <a:gd name="T16" fmla="*/ 57 w 162"/>
                    <a:gd name="T17" fmla="*/ 147 h 582"/>
                    <a:gd name="T18" fmla="*/ 21 w 162"/>
                    <a:gd name="T19" fmla="*/ 99 h 582"/>
                    <a:gd name="T20" fmla="*/ 0 w 162"/>
                    <a:gd name="T21" fmla="*/ 72 h 582"/>
                    <a:gd name="T22" fmla="*/ 54 w 162"/>
                    <a:gd name="T23" fmla="*/ 105 h 582"/>
                    <a:gd name="T24" fmla="*/ 57 w 162"/>
                    <a:gd name="T25" fmla="*/ 87 h 582"/>
                    <a:gd name="T26" fmla="*/ 63 w 162"/>
                    <a:gd name="T27" fmla="*/ 0 h 582"/>
                    <a:gd name="T28" fmla="*/ 78 w 162"/>
                    <a:gd name="T29" fmla="*/ 39 h 582"/>
                    <a:gd name="T30" fmla="*/ 78 w 162"/>
                    <a:gd name="T31" fmla="*/ 126 h 582"/>
                    <a:gd name="T32" fmla="*/ 90 w 162"/>
                    <a:gd name="T33" fmla="*/ 72 h 582"/>
                    <a:gd name="T34" fmla="*/ 108 w 162"/>
                    <a:gd name="T35" fmla="*/ 72 h 582"/>
                    <a:gd name="T36" fmla="*/ 93 w 162"/>
                    <a:gd name="T37" fmla="*/ 135 h 582"/>
                    <a:gd name="T38" fmla="*/ 162 w 162"/>
                    <a:gd name="T39" fmla="*/ 84 h 582"/>
                    <a:gd name="T40" fmla="*/ 153 w 162"/>
                    <a:gd name="T41" fmla="*/ 120 h 582"/>
                    <a:gd name="T42" fmla="*/ 75 w 162"/>
                    <a:gd name="T43" fmla="*/ 165 h 582"/>
                    <a:gd name="T44" fmla="*/ 75 w 162"/>
                    <a:gd name="T45" fmla="*/ 300 h 582"/>
                    <a:gd name="T46" fmla="*/ 99 w 162"/>
                    <a:gd name="T47" fmla="*/ 381 h 582"/>
                    <a:gd name="T48" fmla="*/ 84 w 162"/>
                    <a:gd name="T49" fmla="*/ 414 h 582"/>
                    <a:gd name="T50" fmla="*/ 99 w 162"/>
                    <a:gd name="T51" fmla="*/ 453 h 582"/>
                    <a:gd name="T52" fmla="*/ 135 w 162"/>
                    <a:gd name="T53" fmla="*/ 486 h 582"/>
                    <a:gd name="T54" fmla="*/ 132 w 162"/>
                    <a:gd name="T55" fmla="*/ 510 h 582"/>
                    <a:gd name="T56" fmla="*/ 102 w 162"/>
                    <a:gd name="T57" fmla="*/ 468 h 582"/>
                    <a:gd name="T58" fmla="*/ 69 w 162"/>
                    <a:gd name="T59" fmla="*/ 414 h 582"/>
                    <a:gd name="T60" fmla="*/ 63 w 162"/>
                    <a:gd name="T61" fmla="*/ 456 h 582"/>
                    <a:gd name="T62" fmla="*/ 75 w 162"/>
                    <a:gd name="T63" fmla="*/ 492 h 582"/>
                    <a:gd name="T64" fmla="*/ 96 w 162"/>
                    <a:gd name="T65" fmla="*/ 513 h 582"/>
                    <a:gd name="T66" fmla="*/ 78 w 162"/>
                    <a:gd name="T67" fmla="*/ 519 h 582"/>
                    <a:gd name="T68" fmla="*/ 60 w 162"/>
                    <a:gd name="T69" fmla="*/ 486 h 582"/>
                    <a:gd name="T70" fmla="*/ 54 w 162"/>
                    <a:gd name="T71" fmla="*/ 522 h 582"/>
                    <a:gd name="T72" fmla="*/ 54 w 162"/>
                    <a:gd name="T73" fmla="*/ 582 h 58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2"/>
                    <a:gd name="T112" fmla="*/ 0 h 582"/>
                    <a:gd name="T113" fmla="*/ 162 w 162"/>
                    <a:gd name="T114" fmla="*/ 582 h 58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2" h="582">
                      <a:moveTo>
                        <a:pt x="54" y="582"/>
                      </a:moveTo>
                      <a:lnTo>
                        <a:pt x="42" y="507"/>
                      </a:lnTo>
                      <a:lnTo>
                        <a:pt x="51" y="423"/>
                      </a:lnTo>
                      <a:lnTo>
                        <a:pt x="42" y="390"/>
                      </a:lnTo>
                      <a:lnTo>
                        <a:pt x="33" y="378"/>
                      </a:ln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84" y="414"/>
                      </a:lnTo>
                      <a:lnTo>
                        <a:pt x="99" y="453"/>
                      </a:lnTo>
                      <a:lnTo>
                        <a:pt x="135" y="486"/>
                      </a:lnTo>
                      <a:lnTo>
                        <a:pt x="132" y="510"/>
                      </a:lnTo>
                      <a:lnTo>
                        <a:pt x="102" y="468"/>
                      </a:lnTo>
                      <a:lnTo>
                        <a:pt x="69" y="414"/>
                      </a:lnTo>
                      <a:lnTo>
                        <a:pt x="63" y="456"/>
                      </a:lnTo>
                      <a:lnTo>
                        <a:pt x="75" y="492"/>
                      </a:lnTo>
                      <a:lnTo>
                        <a:pt x="96" y="513"/>
                      </a:lnTo>
                      <a:lnTo>
                        <a:pt x="78" y="519"/>
                      </a:lnTo>
                      <a:lnTo>
                        <a:pt x="60" y="486"/>
                      </a:lnTo>
                      <a:lnTo>
                        <a:pt x="54" y="522"/>
                      </a:lnTo>
                      <a:lnTo>
                        <a:pt x="54" y="582"/>
                      </a:lnTo>
                      <a:close/>
                    </a:path>
                  </a:pathLst>
                </a:custGeom>
                <a:solidFill>
                  <a:srgbClr val="669999"/>
                </a:solidFill>
                <a:ln w="9525">
                  <a:noFill/>
                  <a:round/>
                  <a:headEnd/>
                  <a:tailEnd/>
                </a:ln>
              </p:spPr>
              <p:txBody>
                <a:bodyPr/>
                <a:lstStyle/>
                <a:p>
                  <a:endParaRPr lang="en-US"/>
                </a:p>
              </p:txBody>
            </p:sp>
            <p:sp>
              <p:nvSpPr>
                <p:cNvPr id="48223" name="Freeform 2219"/>
                <p:cNvSpPr>
                  <a:spLocks/>
                </p:cNvSpPr>
                <p:nvPr/>
              </p:nvSpPr>
              <p:spPr bwMode="auto">
                <a:xfrm>
                  <a:off x="1133" y="1484"/>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24" name="Freeform 2220"/>
                <p:cNvSpPr>
                  <a:spLocks/>
                </p:cNvSpPr>
                <p:nvPr/>
              </p:nvSpPr>
              <p:spPr bwMode="auto">
                <a:xfrm>
                  <a:off x="1176" y="1419"/>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25" name="Freeform 2221"/>
                <p:cNvSpPr>
                  <a:spLocks/>
                </p:cNvSpPr>
                <p:nvPr/>
              </p:nvSpPr>
              <p:spPr bwMode="auto">
                <a:xfrm>
                  <a:off x="1249" y="1477"/>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26" name="Freeform 2222"/>
                <p:cNvSpPr>
                  <a:spLocks/>
                </p:cNvSpPr>
                <p:nvPr/>
              </p:nvSpPr>
              <p:spPr bwMode="auto">
                <a:xfrm>
                  <a:off x="1283" y="1547"/>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198" name="Group 2223"/>
              <p:cNvGrpSpPr>
                <a:grpSpLocks/>
              </p:cNvGrpSpPr>
              <p:nvPr/>
            </p:nvGrpSpPr>
            <p:grpSpPr bwMode="auto">
              <a:xfrm>
                <a:off x="1603" y="1388"/>
                <a:ext cx="244" cy="414"/>
                <a:chOff x="1164" y="1150"/>
                <a:chExt cx="244" cy="414"/>
              </a:xfrm>
            </p:grpSpPr>
            <p:sp>
              <p:nvSpPr>
                <p:cNvPr id="48217" name="Freeform 2224"/>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218" name="Freeform 2225"/>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19" name="Freeform 2226"/>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20" name="Freeform 2227"/>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21" name="Freeform 2228"/>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199" name="Group 2229"/>
              <p:cNvGrpSpPr>
                <a:grpSpLocks/>
              </p:cNvGrpSpPr>
              <p:nvPr/>
            </p:nvGrpSpPr>
            <p:grpSpPr bwMode="auto">
              <a:xfrm>
                <a:off x="1595" y="1773"/>
                <a:ext cx="118" cy="183"/>
                <a:chOff x="1164" y="1150"/>
                <a:chExt cx="244" cy="414"/>
              </a:xfrm>
            </p:grpSpPr>
            <p:sp>
              <p:nvSpPr>
                <p:cNvPr id="48212" name="Freeform 2230"/>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213" name="Freeform 2231"/>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14" name="Freeform 2232"/>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15" name="Freeform 2233"/>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16" name="Freeform 2234"/>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200" name="Group 2235"/>
              <p:cNvGrpSpPr>
                <a:grpSpLocks/>
              </p:cNvGrpSpPr>
              <p:nvPr/>
            </p:nvGrpSpPr>
            <p:grpSpPr bwMode="auto">
              <a:xfrm>
                <a:off x="1683" y="1594"/>
                <a:ext cx="205" cy="342"/>
                <a:chOff x="1164" y="1150"/>
                <a:chExt cx="244" cy="414"/>
              </a:xfrm>
            </p:grpSpPr>
            <p:sp>
              <p:nvSpPr>
                <p:cNvPr id="48207" name="Freeform 2236"/>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208" name="Freeform 2237"/>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09" name="Freeform 2238"/>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10" name="Freeform 2239"/>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211" name="Freeform 2240"/>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sp>
            <p:nvSpPr>
              <p:cNvPr id="48201" name="Text Box 2241"/>
              <p:cNvSpPr txBox="1">
                <a:spLocks noChangeArrowheads="1"/>
              </p:cNvSpPr>
              <p:nvPr/>
            </p:nvSpPr>
            <p:spPr bwMode="auto">
              <a:xfrm>
                <a:off x="1798" y="2488"/>
                <a:ext cx="603" cy="192"/>
              </a:xfrm>
              <a:prstGeom prst="rect">
                <a:avLst/>
              </a:prstGeom>
              <a:noFill/>
              <a:ln w="9525">
                <a:noFill/>
                <a:miter lim="800000"/>
                <a:headEnd/>
                <a:tailEnd/>
              </a:ln>
            </p:spPr>
            <p:txBody>
              <a:bodyPr>
                <a:spAutoFit/>
              </a:bodyPr>
              <a:lstStyle/>
              <a:p>
                <a:pPr>
                  <a:spcBef>
                    <a:spcPct val="50000"/>
                  </a:spcBef>
                </a:pPr>
                <a:r>
                  <a:rPr lang="en-AU" sz="1400" i="0">
                    <a:solidFill>
                      <a:srgbClr val="000000"/>
                    </a:solidFill>
                  </a:rPr>
                  <a:t>Recharge</a:t>
                </a:r>
                <a:endParaRPr lang="en-US" sz="1400" i="0">
                  <a:solidFill>
                    <a:srgbClr val="000000"/>
                  </a:solidFill>
                </a:endParaRPr>
              </a:p>
            </p:txBody>
          </p:sp>
          <p:sp>
            <p:nvSpPr>
              <p:cNvPr id="48202" name="Text Box 2242"/>
              <p:cNvSpPr txBox="1">
                <a:spLocks noChangeArrowheads="1"/>
              </p:cNvSpPr>
              <p:nvPr/>
            </p:nvSpPr>
            <p:spPr bwMode="auto">
              <a:xfrm>
                <a:off x="1931" y="1847"/>
                <a:ext cx="603" cy="326"/>
              </a:xfrm>
              <a:prstGeom prst="rect">
                <a:avLst/>
              </a:prstGeom>
              <a:solidFill>
                <a:srgbClr val="FFFFFF">
                  <a:alpha val="50980"/>
                </a:srgbClr>
              </a:solidFill>
              <a:ln w="9525">
                <a:noFill/>
                <a:miter lim="800000"/>
                <a:headEnd/>
                <a:tailEnd/>
              </a:ln>
            </p:spPr>
            <p:txBody>
              <a:bodyPr>
                <a:spAutoFit/>
              </a:bodyPr>
              <a:lstStyle/>
              <a:p>
                <a:pPr>
                  <a:spcBef>
                    <a:spcPct val="50000"/>
                  </a:spcBef>
                </a:pPr>
                <a:r>
                  <a:rPr lang="en-AU" sz="1400" i="0">
                    <a:solidFill>
                      <a:srgbClr val="000000"/>
                    </a:solidFill>
                  </a:rPr>
                  <a:t>Rainfall Infiltration</a:t>
                </a:r>
                <a:endParaRPr lang="en-US" sz="1400" i="0">
                  <a:solidFill>
                    <a:srgbClr val="000000"/>
                  </a:solidFill>
                </a:endParaRPr>
              </a:p>
            </p:txBody>
          </p:sp>
          <p:sp>
            <p:nvSpPr>
              <p:cNvPr id="48203" name="AutoShape 2243"/>
              <p:cNvSpPr>
                <a:spLocks noChangeArrowheads="1"/>
              </p:cNvSpPr>
              <p:nvPr/>
            </p:nvSpPr>
            <p:spPr bwMode="auto">
              <a:xfrm rot="5400000" flipV="1">
                <a:off x="1794" y="1803"/>
                <a:ext cx="240" cy="279"/>
              </a:xfrm>
              <a:custGeom>
                <a:avLst/>
                <a:gdLst>
                  <a:gd name="T0" fmla="*/ 180 w 21600"/>
                  <a:gd name="T1" fmla="*/ 0 h 21600"/>
                  <a:gd name="T2" fmla="*/ 0 w 21600"/>
                  <a:gd name="T3" fmla="*/ 140 h 21600"/>
                  <a:gd name="T4" fmla="*/ 180 w 21600"/>
                  <a:gd name="T5" fmla="*/ 279 h 21600"/>
                  <a:gd name="T6" fmla="*/ 240 w 21600"/>
                  <a:gd name="T7" fmla="*/ 140 h 21600"/>
                  <a:gd name="T8" fmla="*/ 17694720 60000 65536"/>
                  <a:gd name="T9" fmla="*/ 11796480 60000 65536"/>
                  <a:gd name="T10" fmla="*/ 5898240 60000 65536"/>
                  <a:gd name="T11" fmla="*/ 0 60000 65536"/>
                  <a:gd name="T12" fmla="*/ 3330 w 21600"/>
                  <a:gd name="T13" fmla="*/ 5419 h 21600"/>
                  <a:gd name="T14" fmla="*/ 18900 w 21600"/>
                  <a:gd name="T15" fmla="*/ 16181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00CCFF"/>
              </a:solidFill>
              <a:ln w="9525">
                <a:noFill/>
                <a:round/>
                <a:headEnd/>
                <a:tailEnd/>
              </a:ln>
            </p:spPr>
            <p:txBody>
              <a:bodyPr wrap="none" anchor="ctr"/>
              <a:lstStyle/>
              <a:p>
                <a:endParaRPr lang="en-US"/>
              </a:p>
            </p:txBody>
          </p:sp>
          <p:sp>
            <p:nvSpPr>
              <p:cNvPr id="48204" name="AutoShape 2244"/>
              <p:cNvSpPr>
                <a:spLocks noChangeArrowheads="1"/>
              </p:cNvSpPr>
              <p:nvPr/>
            </p:nvSpPr>
            <p:spPr bwMode="auto">
              <a:xfrm rot="-5400000">
                <a:off x="1460" y="1437"/>
                <a:ext cx="240" cy="174"/>
              </a:xfrm>
              <a:custGeom>
                <a:avLst/>
                <a:gdLst>
                  <a:gd name="T0" fmla="*/ 180 w 21600"/>
                  <a:gd name="T1" fmla="*/ 0 h 21600"/>
                  <a:gd name="T2" fmla="*/ 0 w 21600"/>
                  <a:gd name="T3" fmla="*/ 87 h 21600"/>
                  <a:gd name="T4" fmla="*/ 180 w 21600"/>
                  <a:gd name="T5" fmla="*/ 174 h 21600"/>
                  <a:gd name="T6" fmla="*/ 240 w 21600"/>
                  <a:gd name="T7" fmla="*/ 87 h 21600"/>
                  <a:gd name="T8" fmla="*/ 17694720 60000 65536"/>
                  <a:gd name="T9" fmla="*/ 11796480 60000 65536"/>
                  <a:gd name="T10" fmla="*/ 5898240 60000 65536"/>
                  <a:gd name="T11" fmla="*/ 0 60000 65536"/>
                  <a:gd name="T12" fmla="*/ 3330 w 21600"/>
                  <a:gd name="T13" fmla="*/ 5462 h 21600"/>
                  <a:gd name="T14" fmla="*/ 18900 w 21600"/>
                  <a:gd name="T15" fmla="*/ 1626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CC99"/>
              </a:solidFill>
              <a:ln w="9525">
                <a:noFill/>
                <a:round/>
                <a:headEnd/>
                <a:tailEnd/>
              </a:ln>
            </p:spPr>
            <p:txBody>
              <a:bodyPr wrap="none" anchor="ctr"/>
              <a:lstStyle/>
              <a:p>
                <a:endParaRPr lang="en-US"/>
              </a:p>
            </p:txBody>
          </p:sp>
          <p:sp>
            <p:nvSpPr>
              <p:cNvPr id="48205" name="AutoShape 2245"/>
              <p:cNvSpPr>
                <a:spLocks noChangeArrowheads="1"/>
              </p:cNvSpPr>
              <p:nvPr/>
            </p:nvSpPr>
            <p:spPr bwMode="auto">
              <a:xfrm rot="5400000" flipV="1">
                <a:off x="1565" y="2622"/>
                <a:ext cx="348" cy="90"/>
              </a:xfrm>
              <a:custGeom>
                <a:avLst/>
                <a:gdLst>
                  <a:gd name="T0" fmla="*/ 261 w 21600"/>
                  <a:gd name="T1" fmla="*/ 0 h 21600"/>
                  <a:gd name="T2" fmla="*/ 0 w 21600"/>
                  <a:gd name="T3" fmla="*/ 45 h 21600"/>
                  <a:gd name="T4" fmla="*/ 261 w 21600"/>
                  <a:gd name="T5" fmla="*/ 90 h 21600"/>
                  <a:gd name="T6" fmla="*/ 348 w 21600"/>
                  <a:gd name="T7" fmla="*/ 45 h 21600"/>
                  <a:gd name="T8" fmla="*/ 17694720 60000 65536"/>
                  <a:gd name="T9" fmla="*/ 11796480 60000 65536"/>
                  <a:gd name="T10" fmla="*/ 5898240 60000 65536"/>
                  <a:gd name="T11" fmla="*/ 0 60000 65536"/>
                  <a:gd name="T12" fmla="*/ 3352 w 21600"/>
                  <a:gd name="T13" fmla="*/ 5520 h 21600"/>
                  <a:gd name="T14" fmla="*/ 18869 w 21600"/>
                  <a:gd name="T15" fmla="*/ 1632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99CCFF"/>
              </a:solidFill>
              <a:ln w="9525">
                <a:noFill/>
                <a:round/>
                <a:headEnd/>
                <a:tailEnd/>
              </a:ln>
            </p:spPr>
            <p:txBody>
              <a:bodyPr wrap="none" anchor="ctr"/>
              <a:lstStyle/>
              <a:p>
                <a:endParaRPr lang="en-US"/>
              </a:p>
            </p:txBody>
          </p:sp>
          <p:sp>
            <p:nvSpPr>
              <p:cNvPr id="48206" name="Text Box 2246"/>
              <p:cNvSpPr txBox="1">
                <a:spLocks noChangeArrowheads="1"/>
              </p:cNvSpPr>
              <p:nvPr/>
            </p:nvSpPr>
            <p:spPr bwMode="auto">
              <a:xfrm>
                <a:off x="879" y="1125"/>
                <a:ext cx="723" cy="460"/>
              </a:xfrm>
              <a:prstGeom prst="rect">
                <a:avLst/>
              </a:prstGeom>
              <a:noFill/>
              <a:ln w="9525">
                <a:noFill/>
                <a:miter lim="800000"/>
                <a:headEnd/>
                <a:tailEnd/>
              </a:ln>
            </p:spPr>
            <p:txBody>
              <a:bodyPr>
                <a:spAutoFit/>
              </a:bodyPr>
              <a:lstStyle/>
              <a:p>
                <a:pPr algn="r">
                  <a:spcBef>
                    <a:spcPct val="50000"/>
                  </a:spcBef>
                </a:pPr>
                <a:r>
                  <a:rPr lang="en-AU" sz="1400" i="0">
                    <a:solidFill>
                      <a:srgbClr val="000000"/>
                    </a:solidFill>
                  </a:rPr>
                  <a:t>Plant use Soil Evaporation</a:t>
                </a:r>
                <a:endParaRPr lang="en-US" sz="1400" i="0">
                  <a:solidFill>
                    <a:srgbClr val="000000"/>
                  </a:solidFill>
                </a:endParaRPr>
              </a:p>
            </p:txBody>
          </p:sp>
        </p:grpSp>
        <p:sp>
          <p:nvSpPr>
            <p:cNvPr id="48192" name="Rectangle 2247"/>
            <p:cNvSpPr>
              <a:spLocks noChangeArrowheads="1"/>
            </p:cNvSpPr>
            <p:nvPr/>
          </p:nvSpPr>
          <p:spPr bwMode="auto">
            <a:xfrm>
              <a:off x="1824" y="2022"/>
              <a:ext cx="56" cy="1308"/>
            </a:xfrm>
            <a:prstGeom prst="rect">
              <a:avLst/>
            </a:prstGeom>
            <a:solidFill>
              <a:srgbClr val="99CCFF"/>
            </a:solid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8193" name="Rectangle 2248" descr="Dark horizontal"/>
            <p:cNvSpPr>
              <a:spLocks noChangeArrowheads="1"/>
            </p:cNvSpPr>
            <p:nvPr/>
          </p:nvSpPr>
          <p:spPr bwMode="auto">
            <a:xfrm>
              <a:off x="1824" y="3330"/>
              <a:ext cx="56" cy="276"/>
            </a:xfrm>
            <a:prstGeom prst="rect">
              <a:avLst/>
            </a:prstGeom>
            <a:pattFill prst="dkHorz">
              <a:fgClr>
                <a:srgbClr val="669999"/>
              </a:fgClr>
              <a:bgClr>
                <a:srgbClr val="99CCFF"/>
              </a:bgClr>
            </a:patt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8194" name="Text Box 2249"/>
            <p:cNvSpPr txBox="1">
              <a:spLocks noChangeArrowheads="1"/>
            </p:cNvSpPr>
            <p:nvPr/>
          </p:nvSpPr>
          <p:spPr bwMode="auto">
            <a:xfrm>
              <a:off x="1206" y="1743"/>
              <a:ext cx="564" cy="192"/>
            </a:xfrm>
            <a:prstGeom prst="rect">
              <a:avLst/>
            </a:prstGeom>
            <a:noFill/>
            <a:ln w="9525">
              <a:noFill/>
              <a:miter lim="800000"/>
              <a:headEnd/>
              <a:tailEnd/>
            </a:ln>
          </p:spPr>
          <p:txBody>
            <a:bodyPr>
              <a:spAutoFit/>
            </a:bodyPr>
            <a:lstStyle/>
            <a:p>
              <a:pPr>
                <a:spcBef>
                  <a:spcPct val="50000"/>
                </a:spcBef>
              </a:pPr>
              <a:r>
                <a:rPr lang="en-AU" sz="1400" i="0">
                  <a:solidFill>
                    <a:srgbClr val="0000FF"/>
                  </a:solidFill>
                </a:rPr>
                <a:t>Pumping</a:t>
              </a:r>
              <a:endParaRPr lang="en-US" sz="1400" i="0">
                <a:solidFill>
                  <a:srgbClr val="0000FF"/>
                </a:solidFill>
              </a:endParaRPr>
            </a:p>
          </p:txBody>
        </p:sp>
      </p:grpSp>
      <p:grpSp>
        <p:nvGrpSpPr>
          <p:cNvPr id="48139" name="Group 2250"/>
          <p:cNvGrpSpPr>
            <a:grpSpLocks/>
          </p:cNvGrpSpPr>
          <p:nvPr/>
        </p:nvGrpSpPr>
        <p:grpSpPr bwMode="auto">
          <a:xfrm>
            <a:off x="5899150" y="5964238"/>
            <a:ext cx="785813" cy="395287"/>
            <a:chOff x="3612" y="3348"/>
            <a:chExt cx="495" cy="249"/>
          </a:xfrm>
        </p:grpSpPr>
        <p:sp>
          <p:nvSpPr>
            <p:cNvPr id="48189" name="AutoShape 2251"/>
            <p:cNvSpPr>
              <a:spLocks noChangeArrowheads="1"/>
            </p:cNvSpPr>
            <p:nvPr/>
          </p:nvSpPr>
          <p:spPr bwMode="auto">
            <a:xfrm>
              <a:off x="3612" y="3348"/>
              <a:ext cx="495" cy="249"/>
            </a:xfrm>
            <a:prstGeom prst="leftArrow">
              <a:avLst>
                <a:gd name="adj1" fmla="val 50000"/>
                <a:gd name="adj2" fmla="val 49699"/>
              </a:avLst>
            </a:prstGeom>
            <a:solidFill>
              <a:srgbClr val="99CCFF"/>
            </a:solid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8190" name="Text Box 2252"/>
            <p:cNvSpPr txBox="1">
              <a:spLocks noChangeArrowheads="1"/>
            </p:cNvSpPr>
            <p:nvPr/>
          </p:nvSpPr>
          <p:spPr bwMode="auto">
            <a:xfrm>
              <a:off x="3624" y="3372"/>
              <a:ext cx="462" cy="192"/>
            </a:xfrm>
            <a:prstGeom prst="rect">
              <a:avLst/>
            </a:prstGeom>
            <a:noFill/>
            <a:ln w="9525">
              <a:noFill/>
              <a:miter lim="800000"/>
              <a:headEnd/>
              <a:tailEnd/>
            </a:ln>
          </p:spPr>
          <p:txBody>
            <a:bodyPr>
              <a:spAutoFit/>
            </a:bodyPr>
            <a:lstStyle/>
            <a:p>
              <a:pPr>
                <a:spcBef>
                  <a:spcPct val="50000"/>
                </a:spcBef>
              </a:pPr>
              <a:r>
                <a:rPr lang="en-AU" sz="1400" i="0">
                  <a:solidFill>
                    <a:srgbClr val="000000"/>
                  </a:solidFill>
                </a:rPr>
                <a:t>In-flow</a:t>
              </a:r>
              <a:endParaRPr lang="en-US" sz="1400" i="0">
                <a:solidFill>
                  <a:srgbClr val="000000"/>
                </a:solidFill>
              </a:endParaRPr>
            </a:p>
          </p:txBody>
        </p:sp>
      </p:grpSp>
      <p:grpSp>
        <p:nvGrpSpPr>
          <p:cNvPr id="298189" name="Group 2253"/>
          <p:cNvGrpSpPr>
            <a:grpSpLocks/>
          </p:cNvGrpSpPr>
          <p:nvPr/>
        </p:nvGrpSpPr>
        <p:grpSpPr bwMode="auto">
          <a:xfrm>
            <a:off x="438150" y="4002088"/>
            <a:ext cx="6604000" cy="2532062"/>
            <a:chOff x="616" y="2112"/>
            <a:chExt cx="4160" cy="1595"/>
          </a:xfrm>
        </p:grpSpPr>
        <p:grpSp>
          <p:nvGrpSpPr>
            <p:cNvPr id="48141" name="Group 2254"/>
            <p:cNvGrpSpPr>
              <a:grpSpLocks/>
            </p:cNvGrpSpPr>
            <p:nvPr/>
          </p:nvGrpSpPr>
          <p:grpSpPr bwMode="auto">
            <a:xfrm>
              <a:off x="4050" y="2112"/>
              <a:ext cx="726" cy="1595"/>
              <a:chOff x="4050" y="2112"/>
              <a:chExt cx="726" cy="1595"/>
            </a:xfrm>
          </p:grpSpPr>
          <p:sp>
            <p:nvSpPr>
              <p:cNvPr id="48153" name="Line 2255"/>
              <p:cNvSpPr>
                <a:spLocks noChangeShapeType="1"/>
              </p:cNvSpPr>
              <p:nvPr/>
            </p:nvSpPr>
            <p:spPr bwMode="auto">
              <a:xfrm flipV="1">
                <a:off x="4050" y="2886"/>
                <a:ext cx="181" cy="317"/>
              </a:xfrm>
              <a:prstGeom prst="line">
                <a:avLst/>
              </a:prstGeom>
              <a:noFill/>
              <a:ln w="9525">
                <a:solidFill>
                  <a:srgbClr val="000000"/>
                </a:solidFill>
                <a:round/>
                <a:headEnd/>
                <a:tailEnd/>
              </a:ln>
            </p:spPr>
            <p:txBody>
              <a:bodyPr/>
              <a:lstStyle/>
              <a:p>
                <a:endParaRPr lang="en-US"/>
              </a:p>
            </p:txBody>
          </p:sp>
          <p:sp>
            <p:nvSpPr>
              <p:cNvPr id="48154" name="Freeform 2256"/>
              <p:cNvSpPr>
                <a:spLocks/>
              </p:cNvSpPr>
              <p:nvPr/>
            </p:nvSpPr>
            <p:spPr bwMode="auto">
              <a:xfrm>
                <a:off x="4050" y="2880"/>
                <a:ext cx="174" cy="827"/>
              </a:xfrm>
              <a:custGeom>
                <a:avLst/>
                <a:gdLst>
                  <a:gd name="T0" fmla="*/ 0 w 174"/>
                  <a:gd name="T1" fmla="*/ 827 h 827"/>
                  <a:gd name="T2" fmla="*/ 0 w 174"/>
                  <a:gd name="T3" fmla="*/ 328 h 827"/>
                  <a:gd name="T4" fmla="*/ 174 w 174"/>
                  <a:gd name="T5" fmla="*/ 0 h 827"/>
                  <a:gd name="T6" fmla="*/ 164 w 174"/>
                  <a:gd name="T7" fmla="*/ 510 h 827"/>
                  <a:gd name="T8" fmla="*/ 0 w 174"/>
                  <a:gd name="T9" fmla="*/ 827 h 827"/>
                  <a:gd name="T10" fmla="*/ 0 60000 65536"/>
                  <a:gd name="T11" fmla="*/ 0 60000 65536"/>
                  <a:gd name="T12" fmla="*/ 0 60000 65536"/>
                  <a:gd name="T13" fmla="*/ 0 60000 65536"/>
                  <a:gd name="T14" fmla="*/ 0 60000 65536"/>
                  <a:gd name="T15" fmla="*/ 0 w 174"/>
                  <a:gd name="T16" fmla="*/ 0 h 827"/>
                  <a:gd name="T17" fmla="*/ 174 w 174"/>
                  <a:gd name="T18" fmla="*/ 827 h 827"/>
                </a:gdLst>
                <a:ahLst/>
                <a:cxnLst>
                  <a:cxn ang="T10">
                    <a:pos x="T0" y="T1"/>
                  </a:cxn>
                  <a:cxn ang="T11">
                    <a:pos x="T2" y="T3"/>
                  </a:cxn>
                  <a:cxn ang="T12">
                    <a:pos x="T4" y="T5"/>
                  </a:cxn>
                  <a:cxn ang="T13">
                    <a:pos x="T6" y="T7"/>
                  </a:cxn>
                  <a:cxn ang="T14">
                    <a:pos x="T8" y="T9"/>
                  </a:cxn>
                </a:cxnLst>
                <a:rect l="T15" t="T16" r="T17" b="T18"/>
                <a:pathLst>
                  <a:path w="174" h="827">
                    <a:moveTo>
                      <a:pt x="0" y="827"/>
                    </a:moveTo>
                    <a:lnTo>
                      <a:pt x="0" y="328"/>
                    </a:lnTo>
                    <a:lnTo>
                      <a:pt x="174" y="0"/>
                    </a:lnTo>
                    <a:lnTo>
                      <a:pt x="164" y="510"/>
                    </a:lnTo>
                    <a:lnTo>
                      <a:pt x="0" y="827"/>
                    </a:lnTo>
                    <a:close/>
                  </a:path>
                </a:pathLst>
              </a:custGeom>
              <a:solidFill>
                <a:srgbClr val="99CCFF"/>
              </a:solidFill>
              <a:ln w="9525" cap="flat" cmpd="sng">
                <a:solidFill>
                  <a:srgbClr val="000000"/>
                </a:solidFill>
                <a:prstDash val="solid"/>
                <a:round/>
                <a:headEnd/>
                <a:tailEnd/>
              </a:ln>
            </p:spPr>
            <p:txBody>
              <a:bodyPr wrap="none" anchor="ctr"/>
              <a:lstStyle/>
              <a:p>
                <a:endParaRPr lang="en-US"/>
              </a:p>
            </p:txBody>
          </p:sp>
          <p:grpSp>
            <p:nvGrpSpPr>
              <p:cNvPr id="48155" name="Group 2257"/>
              <p:cNvGrpSpPr>
                <a:grpSpLocks/>
              </p:cNvGrpSpPr>
              <p:nvPr/>
            </p:nvGrpSpPr>
            <p:grpSpPr bwMode="auto">
              <a:xfrm>
                <a:off x="4050" y="2886"/>
                <a:ext cx="726" cy="817"/>
                <a:chOff x="4050" y="2886"/>
                <a:chExt cx="726" cy="817"/>
              </a:xfrm>
            </p:grpSpPr>
            <p:sp>
              <p:nvSpPr>
                <p:cNvPr id="48186" name="Rectangle 2258"/>
                <p:cNvSpPr>
                  <a:spLocks noChangeArrowheads="1"/>
                </p:cNvSpPr>
                <p:nvPr/>
              </p:nvSpPr>
              <p:spPr bwMode="auto">
                <a:xfrm>
                  <a:off x="4050" y="3203"/>
                  <a:ext cx="545" cy="500"/>
                </a:xfrm>
                <a:prstGeom prst="rect">
                  <a:avLst/>
                </a:prstGeom>
                <a:solidFill>
                  <a:srgbClr val="99CCFF"/>
                </a:solid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8187" name="AutoShape 2259"/>
                <p:cNvSpPr>
                  <a:spLocks noChangeArrowheads="1"/>
                </p:cNvSpPr>
                <p:nvPr/>
              </p:nvSpPr>
              <p:spPr bwMode="auto">
                <a:xfrm>
                  <a:off x="4050" y="2886"/>
                  <a:ext cx="726" cy="317"/>
                </a:xfrm>
                <a:prstGeom prst="parallelogram">
                  <a:avLst>
                    <a:gd name="adj" fmla="val 57256"/>
                  </a:avLst>
                </a:prstGeom>
                <a:solidFill>
                  <a:srgbClr val="99CCFF"/>
                </a:solid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8188" name="Freeform 2260"/>
                <p:cNvSpPr>
                  <a:spLocks/>
                </p:cNvSpPr>
                <p:nvPr/>
              </p:nvSpPr>
              <p:spPr bwMode="auto">
                <a:xfrm>
                  <a:off x="4594" y="2886"/>
                  <a:ext cx="182" cy="816"/>
                </a:xfrm>
                <a:custGeom>
                  <a:avLst/>
                  <a:gdLst>
                    <a:gd name="T0" fmla="*/ 0 w 182"/>
                    <a:gd name="T1" fmla="*/ 816 h 816"/>
                    <a:gd name="T2" fmla="*/ 0 w 182"/>
                    <a:gd name="T3" fmla="*/ 317 h 816"/>
                    <a:gd name="T4" fmla="*/ 182 w 182"/>
                    <a:gd name="T5" fmla="*/ 0 h 816"/>
                    <a:gd name="T6" fmla="*/ 182 w 182"/>
                    <a:gd name="T7" fmla="*/ 499 h 816"/>
                    <a:gd name="T8" fmla="*/ 0 w 182"/>
                    <a:gd name="T9" fmla="*/ 816 h 816"/>
                    <a:gd name="T10" fmla="*/ 0 60000 65536"/>
                    <a:gd name="T11" fmla="*/ 0 60000 65536"/>
                    <a:gd name="T12" fmla="*/ 0 60000 65536"/>
                    <a:gd name="T13" fmla="*/ 0 60000 65536"/>
                    <a:gd name="T14" fmla="*/ 0 60000 65536"/>
                    <a:gd name="T15" fmla="*/ 0 w 182"/>
                    <a:gd name="T16" fmla="*/ 0 h 816"/>
                    <a:gd name="T17" fmla="*/ 182 w 182"/>
                    <a:gd name="T18" fmla="*/ 816 h 816"/>
                  </a:gdLst>
                  <a:ahLst/>
                  <a:cxnLst>
                    <a:cxn ang="T10">
                      <a:pos x="T0" y="T1"/>
                    </a:cxn>
                    <a:cxn ang="T11">
                      <a:pos x="T2" y="T3"/>
                    </a:cxn>
                    <a:cxn ang="T12">
                      <a:pos x="T4" y="T5"/>
                    </a:cxn>
                    <a:cxn ang="T13">
                      <a:pos x="T6" y="T7"/>
                    </a:cxn>
                    <a:cxn ang="T14">
                      <a:pos x="T8" y="T9"/>
                    </a:cxn>
                  </a:cxnLst>
                  <a:rect l="T15" t="T16" r="T17" b="T18"/>
                  <a:pathLst>
                    <a:path w="182" h="816">
                      <a:moveTo>
                        <a:pt x="0" y="816"/>
                      </a:moveTo>
                      <a:lnTo>
                        <a:pt x="0" y="317"/>
                      </a:lnTo>
                      <a:lnTo>
                        <a:pt x="182" y="0"/>
                      </a:lnTo>
                      <a:lnTo>
                        <a:pt x="182" y="499"/>
                      </a:lnTo>
                      <a:lnTo>
                        <a:pt x="0" y="816"/>
                      </a:lnTo>
                      <a:close/>
                    </a:path>
                  </a:pathLst>
                </a:custGeom>
                <a:solidFill>
                  <a:srgbClr val="99CCFF"/>
                </a:solidFill>
                <a:ln w="9525">
                  <a:solidFill>
                    <a:srgbClr val="000000"/>
                  </a:solidFill>
                  <a:round/>
                  <a:headEnd/>
                  <a:tailEnd/>
                </a:ln>
              </p:spPr>
              <p:txBody>
                <a:bodyPr/>
                <a:lstStyle/>
                <a:p>
                  <a:endParaRPr lang="en-US"/>
                </a:p>
              </p:txBody>
            </p:sp>
          </p:grpSp>
          <p:grpSp>
            <p:nvGrpSpPr>
              <p:cNvPr id="48156" name="Group 2261"/>
              <p:cNvGrpSpPr>
                <a:grpSpLocks/>
              </p:cNvGrpSpPr>
              <p:nvPr/>
            </p:nvGrpSpPr>
            <p:grpSpPr bwMode="auto">
              <a:xfrm>
                <a:off x="4050" y="2389"/>
                <a:ext cx="726" cy="817"/>
                <a:chOff x="4422" y="1933"/>
                <a:chExt cx="726" cy="817"/>
              </a:xfrm>
            </p:grpSpPr>
            <p:sp>
              <p:nvSpPr>
                <p:cNvPr id="48183" name="Rectangle 2262"/>
                <p:cNvSpPr>
                  <a:spLocks noChangeArrowheads="1"/>
                </p:cNvSpPr>
                <p:nvPr/>
              </p:nvSpPr>
              <p:spPr bwMode="auto">
                <a:xfrm>
                  <a:off x="4422" y="2260"/>
                  <a:ext cx="545" cy="490"/>
                </a:xfrm>
                <a:prstGeom prst="rect">
                  <a:avLst/>
                </a:prstGeom>
                <a:solidFill>
                  <a:srgbClr val="FFFFFF"/>
                </a:solid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8184" name="AutoShape 2263"/>
                <p:cNvSpPr>
                  <a:spLocks noChangeArrowheads="1"/>
                </p:cNvSpPr>
                <p:nvPr/>
              </p:nvSpPr>
              <p:spPr bwMode="auto">
                <a:xfrm>
                  <a:off x="4422" y="1933"/>
                  <a:ext cx="726" cy="327"/>
                </a:xfrm>
                <a:prstGeom prst="parallelogram">
                  <a:avLst>
                    <a:gd name="adj" fmla="val 55505"/>
                  </a:avLst>
                </a:prstGeom>
                <a:solidFill>
                  <a:srgbClr val="FFFFFF"/>
                </a:solid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8185" name="Freeform 2264"/>
                <p:cNvSpPr>
                  <a:spLocks/>
                </p:cNvSpPr>
                <p:nvPr/>
              </p:nvSpPr>
              <p:spPr bwMode="auto">
                <a:xfrm>
                  <a:off x="4966" y="1933"/>
                  <a:ext cx="182" cy="816"/>
                </a:xfrm>
                <a:custGeom>
                  <a:avLst/>
                  <a:gdLst>
                    <a:gd name="T0" fmla="*/ 0 w 182"/>
                    <a:gd name="T1" fmla="*/ 816 h 816"/>
                    <a:gd name="T2" fmla="*/ 0 w 182"/>
                    <a:gd name="T3" fmla="*/ 317 h 816"/>
                    <a:gd name="T4" fmla="*/ 182 w 182"/>
                    <a:gd name="T5" fmla="*/ 0 h 816"/>
                    <a:gd name="T6" fmla="*/ 182 w 182"/>
                    <a:gd name="T7" fmla="*/ 499 h 816"/>
                    <a:gd name="T8" fmla="*/ 0 w 182"/>
                    <a:gd name="T9" fmla="*/ 816 h 816"/>
                    <a:gd name="T10" fmla="*/ 0 60000 65536"/>
                    <a:gd name="T11" fmla="*/ 0 60000 65536"/>
                    <a:gd name="T12" fmla="*/ 0 60000 65536"/>
                    <a:gd name="T13" fmla="*/ 0 60000 65536"/>
                    <a:gd name="T14" fmla="*/ 0 60000 65536"/>
                    <a:gd name="T15" fmla="*/ 0 w 182"/>
                    <a:gd name="T16" fmla="*/ 0 h 816"/>
                    <a:gd name="T17" fmla="*/ 182 w 182"/>
                    <a:gd name="T18" fmla="*/ 816 h 816"/>
                  </a:gdLst>
                  <a:ahLst/>
                  <a:cxnLst>
                    <a:cxn ang="T10">
                      <a:pos x="T0" y="T1"/>
                    </a:cxn>
                    <a:cxn ang="T11">
                      <a:pos x="T2" y="T3"/>
                    </a:cxn>
                    <a:cxn ang="T12">
                      <a:pos x="T4" y="T5"/>
                    </a:cxn>
                    <a:cxn ang="T13">
                      <a:pos x="T6" y="T7"/>
                    </a:cxn>
                    <a:cxn ang="T14">
                      <a:pos x="T8" y="T9"/>
                    </a:cxn>
                  </a:cxnLst>
                  <a:rect l="T15" t="T16" r="T17" b="T18"/>
                  <a:pathLst>
                    <a:path w="182" h="816">
                      <a:moveTo>
                        <a:pt x="0" y="816"/>
                      </a:moveTo>
                      <a:lnTo>
                        <a:pt x="0" y="317"/>
                      </a:lnTo>
                      <a:lnTo>
                        <a:pt x="182" y="0"/>
                      </a:lnTo>
                      <a:lnTo>
                        <a:pt x="182" y="499"/>
                      </a:lnTo>
                      <a:lnTo>
                        <a:pt x="0" y="816"/>
                      </a:lnTo>
                      <a:close/>
                    </a:path>
                  </a:pathLst>
                </a:custGeom>
                <a:solidFill>
                  <a:srgbClr val="FFFFFF"/>
                </a:solidFill>
                <a:ln w="9525">
                  <a:solidFill>
                    <a:srgbClr val="000000"/>
                  </a:solidFill>
                  <a:round/>
                  <a:headEnd/>
                  <a:tailEnd/>
                </a:ln>
              </p:spPr>
              <p:txBody>
                <a:bodyPr/>
                <a:lstStyle/>
                <a:p>
                  <a:endParaRPr lang="en-US"/>
                </a:p>
              </p:txBody>
            </p:sp>
          </p:grpSp>
          <p:sp>
            <p:nvSpPr>
              <p:cNvPr id="48157" name="AutoShape 2265"/>
              <p:cNvSpPr>
                <a:spLocks noChangeArrowheads="1"/>
              </p:cNvSpPr>
              <p:nvPr/>
            </p:nvSpPr>
            <p:spPr bwMode="auto">
              <a:xfrm rot="10800000">
                <a:off x="4125" y="3291"/>
                <a:ext cx="297" cy="255"/>
              </a:xfrm>
              <a:custGeom>
                <a:avLst/>
                <a:gdLst>
                  <a:gd name="T0" fmla="*/ 208 w 21600"/>
                  <a:gd name="T1" fmla="*/ 0 h 21600"/>
                  <a:gd name="T2" fmla="*/ 208 w 21600"/>
                  <a:gd name="T3" fmla="*/ 144 h 21600"/>
                  <a:gd name="T4" fmla="*/ 45 w 21600"/>
                  <a:gd name="T5" fmla="*/ 255 h 21600"/>
                  <a:gd name="T6" fmla="*/ 297 w 21600"/>
                  <a:gd name="T7" fmla="*/ 72 h 21600"/>
                  <a:gd name="T8" fmla="*/ 17694720 60000 65536"/>
                  <a:gd name="T9" fmla="*/ 5898240 60000 65536"/>
                  <a:gd name="T10" fmla="*/ 5898240 60000 65536"/>
                  <a:gd name="T11" fmla="*/ 0 60000 65536"/>
                  <a:gd name="T12" fmla="*/ 12436 w 21600"/>
                  <a:gd name="T13" fmla="*/ 2880 h 21600"/>
                  <a:gd name="T14" fmla="*/ 18255 w 21600"/>
                  <a:gd name="T15" fmla="*/ 9233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33CCCC"/>
              </a:solidFill>
              <a:ln w="9525">
                <a:noFill/>
                <a:round/>
                <a:headEnd/>
                <a:tailEnd/>
              </a:ln>
            </p:spPr>
            <p:txBody>
              <a:bodyPr wrap="none" anchor="ctr"/>
              <a:lstStyle/>
              <a:p>
                <a:endParaRPr lang="en-US"/>
              </a:p>
            </p:txBody>
          </p:sp>
          <p:sp>
            <p:nvSpPr>
              <p:cNvPr id="48158" name="Rectangle 2266"/>
              <p:cNvSpPr>
                <a:spLocks noChangeArrowheads="1"/>
              </p:cNvSpPr>
              <p:nvPr/>
            </p:nvSpPr>
            <p:spPr bwMode="auto">
              <a:xfrm>
                <a:off x="4332" y="2913"/>
                <a:ext cx="90" cy="396"/>
              </a:xfrm>
              <a:prstGeom prst="rect">
                <a:avLst/>
              </a:prstGeom>
              <a:solidFill>
                <a:srgbClr val="33CCCC"/>
              </a:solid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nvGrpSpPr>
              <p:cNvPr id="48159" name="Group 2267"/>
              <p:cNvGrpSpPr>
                <a:grpSpLocks/>
              </p:cNvGrpSpPr>
              <p:nvPr/>
            </p:nvGrpSpPr>
            <p:grpSpPr bwMode="auto">
              <a:xfrm>
                <a:off x="4113" y="2302"/>
                <a:ext cx="244" cy="615"/>
                <a:chOff x="1133" y="1419"/>
                <a:chExt cx="244" cy="615"/>
              </a:xfrm>
            </p:grpSpPr>
            <p:sp>
              <p:nvSpPr>
                <p:cNvPr id="48178" name="Freeform 2268"/>
                <p:cNvSpPr>
                  <a:spLocks/>
                </p:cNvSpPr>
                <p:nvPr/>
              </p:nvSpPr>
              <p:spPr bwMode="auto">
                <a:xfrm>
                  <a:off x="1185" y="1452"/>
                  <a:ext cx="162" cy="582"/>
                </a:xfrm>
                <a:custGeom>
                  <a:avLst/>
                  <a:gdLst>
                    <a:gd name="T0" fmla="*/ 54 w 162"/>
                    <a:gd name="T1" fmla="*/ 582 h 582"/>
                    <a:gd name="T2" fmla="*/ 42 w 162"/>
                    <a:gd name="T3" fmla="*/ 507 h 582"/>
                    <a:gd name="T4" fmla="*/ 51 w 162"/>
                    <a:gd name="T5" fmla="*/ 423 h 582"/>
                    <a:gd name="T6" fmla="*/ 42 w 162"/>
                    <a:gd name="T7" fmla="*/ 390 h 582"/>
                    <a:gd name="T8" fmla="*/ 33 w 162"/>
                    <a:gd name="T9" fmla="*/ 378 h 582"/>
                    <a:gd name="T10" fmla="*/ 48 w 162"/>
                    <a:gd name="T11" fmla="*/ 330 h 582"/>
                    <a:gd name="T12" fmla="*/ 57 w 162"/>
                    <a:gd name="T13" fmla="*/ 297 h 582"/>
                    <a:gd name="T14" fmla="*/ 63 w 162"/>
                    <a:gd name="T15" fmla="*/ 231 h 582"/>
                    <a:gd name="T16" fmla="*/ 57 w 162"/>
                    <a:gd name="T17" fmla="*/ 147 h 582"/>
                    <a:gd name="T18" fmla="*/ 21 w 162"/>
                    <a:gd name="T19" fmla="*/ 99 h 582"/>
                    <a:gd name="T20" fmla="*/ 0 w 162"/>
                    <a:gd name="T21" fmla="*/ 72 h 582"/>
                    <a:gd name="T22" fmla="*/ 54 w 162"/>
                    <a:gd name="T23" fmla="*/ 105 h 582"/>
                    <a:gd name="T24" fmla="*/ 57 w 162"/>
                    <a:gd name="T25" fmla="*/ 87 h 582"/>
                    <a:gd name="T26" fmla="*/ 63 w 162"/>
                    <a:gd name="T27" fmla="*/ 0 h 582"/>
                    <a:gd name="T28" fmla="*/ 78 w 162"/>
                    <a:gd name="T29" fmla="*/ 39 h 582"/>
                    <a:gd name="T30" fmla="*/ 78 w 162"/>
                    <a:gd name="T31" fmla="*/ 126 h 582"/>
                    <a:gd name="T32" fmla="*/ 90 w 162"/>
                    <a:gd name="T33" fmla="*/ 72 h 582"/>
                    <a:gd name="T34" fmla="*/ 108 w 162"/>
                    <a:gd name="T35" fmla="*/ 72 h 582"/>
                    <a:gd name="T36" fmla="*/ 93 w 162"/>
                    <a:gd name="T37" fmla="*/ 135 h 582"/>
                    <a:gd name="T38" fmla="*/ 162 w 162"/>
                    <a:gd name="T39" fmla="*/ 84 h 582"/>
                    <a:gd name="T40" fmla="*/ 153 w 162"/>
                    <a:gd name="T41" fmla="*/ 120 h 582"/>
                    <a:gd name="T42" fmla="*/ 75 w 162"/>
                    <a:gd name="T43" fmla="*/ 165 h 582"/>
                    <a:gd name="T44" fmla="*/ 75 w 162"/>
                    <a:gd name="T45" fmla="*/ 300 h 582"/>
                    <a:gd name="T46" fmla="*/ 99 w 162"/>
                    <a:gd name="T47" fmla="*/ 381 h 582"/>
                    <a:gd name="T48" fmla="*/ 84 w 162"/>
                    <a:gd name="T49" fmla="*/ 414 h 582"/>
                    <a:gd name="T50" fmla="*/ 99 w 162"/>
                    <a:gd name="T51" fmla="*/ 453 h 582"/>
                    <a:gd name="T52" fmla="*/ 135 w 162"/>
                    <a:gd name="T53" fmla="*/ 486 h 582"/>
                    <a:gd name="T54" fmla="*/ 132 w 162"/>
                    <a:gd name="T55" fmla="*/ 510 h 582"/>
                    <a:gd name="T56" fmla="*/ 102 w 162"/>
                    <a:gd name="T57" fmla="*/ 468 h 582"/>
                    <a:gd name="T58" fmla="*/ 69 w 162"/>
                    <a:gd name="T59" fmla="*/ 414 h 582"/>
                    <a:gd name="T60" fmla="*/ 63 w 162"/>
                    <a:gd name="T61" fmla="*/ 456 h 582"/>
                    <a:gd name="T62" fmla="*/ 75 w 162"/>
                    <a:gd name="T63" fmla="*/ 492 h 582"/>
                    <a:gd name="T64" fmla="*/ 96 w 162"/>
                    <a:gd name="T65" fmla="*/ 513 h 582"/>
                    <a:gd name="T66" fmla="*/ 78 w 162"/>
                    <a:gd name="T67" fmla="*/ 519 h 582"/>
                    <a:gd name="T68" fmla="*/ 60 w 162"/>
                    <a:gd name="T69" fmla="*/ 486 h 582"/>
                    <a:gd name="T70" fmla="*/ 54 w 162"/>
                    <a:gd name="T71" fmla="*/ 522 h 582"/>
                    <a:gd name="T72" fmla="*/ 54 w 162"/>
                    <a:gd name="T73" fmla="*/ 582 h 58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2"/>
                    <a:gd name="T112" fmla="*/ 0 h 582"/>
                    <a:gd name="T113" fmla="*/ 162 w 162"/>
                    <a:gd name="T114" fmla="*/ 582 h 58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2" h="582">
                      <a:moveTo>
                        <a:pt x="54" y="582"/>
                      </a:moveTo>
                      <a:lnTo>
                        <a:pt x="42" y="507"/>
                      </a:lnTo>
                      <a:lnTo>
                        <a:pt x="51" y="423"/>
                      </a:lnTo>
                      <a:lnTo>
                        <a:pt x="42" y="390"/>
                      </a:lnTo>
                      <a:lnTo>
                        <a:pt x="33" y="378"/>
                      </a:ln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84" y="414"/>
                      </a:lnTo>
                      <a:lnTo>
                        <a:pt x="99" y="453"/>
                      </a:lnTo>
                      <a:lnTo>
                        <a:pt x="135" y="486"/>
                      </a:lnTo>
                      <a:lnTo>
                        <a:pt x="132" y="510"/>
                      </a:lnTo>
                      <a:lnTo>
                        <a:pt x="102" y="468"/>
                      </a:lnTo>
                      <a:lnTo>
                        <a:pt x="69" y="414"/>
                      </a:lnTo>
                      <a:lnTo>
                        <a:pt x="63" y="456"/>
                      </a:lnTo>
                      <a:lnTo>
                        <a:pt x="75" y="492"/>
                      </a:lnTo>
                      <a:lnTo>
                        <a:pt x="96" y="513"/>
                      </a:lnTo>
                      <a:lnTo>
                        <a:pt x="78" y="519"/>
                      </a:lnTo>
                      <a:lnTo>
                        <a:pt x="60" y="486"/>
                      </a:lnTo>
                      <a:lnTo>
                        <a:pt x="54" y="522"/>
                      </a:lnTo>
                      <a:lnTo>
                        <a:pt x="54" y="582"/>
                      </a:lnTo>
                      <a:close/>
                    </a:path>
                  </a:pathLst>
                </a:custGeom>
                <a:solidFill>
                  <a:srgbClr val="669999"/>
                </a:solidFill>
                <a:ln w="9525">
                  <a:noFill/>
                  <a:round/>
                  <a:headEnd/>
                  <a:tailEnd/>
                </a:ln>
              </p:spPr>
              <p:txBody>
                <a:bodyPr/>
                <a:lstStyle/>
                <a:p>
                  <a:endParaRPr lang="en-US"/>
                </a:p>
              </p:txBody>
            </p:sp>
            <p:sp>
              <p:nvSpPr>
                <p:cNvPr id="48179" name="Freeform 2269"/>
                <p:cNvSpPr>
                  <a:spLocks/>
                </p:cNvSpPr>
                <p:nvPr/>
              </p:nvSpPr>
              <p:spPr bwMode="auto">
                <a:xfrm>
                  <a:off x="1133" y="1484"/>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180" name="Freeform 2270"/>
                <p:cNvSpPr>
                  <a:spLocks/>
                </p:cNvSpPr>
                <p:nvPr/>
              </p:nvSpPr>
              <p:spPr bwMode="auto">
                <a:xfrm>
                  <a:off x="1176" y="1419"/>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181" name="Freeform 2271"/>
                <p:cNvSpPr>
                  <a:spLocks/>
                </p:cNvSpPr>
                <p:nvPr/>
              </p:nvSpPr>
              <p:spPr bwMode="auto">
                <a:xfrm>
                  <a:off x="1249" y="1477"/>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182" name="Freeform 2272"/>
                <p:cNvSpPr>
                  <a:spLocks/>
                </p:cNvSpPr>
                <p:nvPr/>
              </p:nvSpPr>
              <p:spPr bwMode="auto">
                <a:xfrm>
                  <a:off x="1283" y="1547"/>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160" name="Group 2273"/>
              <p:cNvGrpSpPr>
                <a:grpSpLocks/>
              </p:cNvGrpSpPr>
              <p:nvPr/>
            </p:nvGrpSpPr>
            <p:grpSpPr bwMode="auto">
              <a:xfrm>
                <a:off x="4274" y="2112"/>
                <a:ext cx="244" cy="414"/>
                <a:chOff x="1164" y="1150"/>
                <a:chExt cx="244" cy="414"/>
              </a:xfrm>
            </p:grpSpPr>
            <p:sp>
              <p:nvSpPr>
                <p:cNvPr id="48173" name="Freeform 2274"/>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174" name="Freeform 2275"/>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175" name="Freeform 2276"/>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176" name="Freeform 2277"/>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177" name="Freeform 2278"/>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161" name="Group 2279"/>
              <p:cNvGrpSpPr>
                <a:grpSpLocks/>
              </p:cNvGrpSpPr>
              <p:nvPr/>
            </p:nvGrpSpPr>
            <p:grpSpPr bwMode="auto">
              <a:xfrm>
                <a:off x="4266" y="2497"/>
                <a:ext cx="118" cy="183"/>
                <a:chOff x="1164" y="1150"/>
                <a:chExt cx="244" cy="414"/>
              </a:xfrm>
            </p:grpSpPr>
            <p:sp>
              <p:nvSpPr>
                <p:cNvPr id="48168" name="Freeform 2280"/>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169" name="Freeform 2281"/>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170" name="Freeform 2282"/>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171" name="Freeform 2283"/>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172" name="Freeform 2284"/>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48162" name="Group 2285"/>
              <p:cNvGrpSpPr>
                <a:grpSpLocks/>
              </p:cNvGrpSpPr>
              <p:nvPr/>
            </p:nvGrpSpPr>
            <p:grpSpPr bwMode="auto">
              <a:xfrm>
                <a:off x="4354" y="2318"/>
                <a:ext cx="205" cy="342"/>
                <a:chOff x="1164" y="1150"/>
                <a:chExt cx="244" cy="414"/>
              </a:xfrm>
            </p:grpSpPr>
            <p:sp>
              <p:nvSpPr>
                <p:cNvPr id="48163" name="Freeform 2286"/>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48164" name="Freeform 2287"/>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165" name="Freeform 2288"/>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166" name="Freeform 2289"/>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48167" name="Freeform 2290"/>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48142" name="Group 2291"/>
            <p:cNvGrpSpPr>
              <a:grpSpLocks/>
            </p:cNvGrpSpPr>
            <p:nvPr/>
          </p:nvGrpSpPr>
          <p:grpSpPr bwMode="auto">
            <a:xfrm>
              <a:off x="616" y="2392"/>
              <a:ext cx="1166" cy="1311"/>
              <a:chOff x="172" y="2392"/>
              <a:chExt cx="1166" cy="1311"/>
            </a:xfrm>
          </p:grpSpPr>
          <p:grpSp>
            <p:nvGrpSpPr>
              <p:cNvPr id="48143" name="Group 2292"/>
              <p:cNvGrpSpPr>
                <a:grpSpLocks/>
              </p:cNvGrpSpPr>
              <p:nvPr/>
            </p:nvGrpSpPr>
            <p:grpSpPr bwMode="auto">
              <a:xfrm>
                <a:off x="609" y="2392"/>
                <a:ext cx="729" cy="1311"/>
                <a:chOff x="609" y="2392"/>
                <a:chExt cx="729" cy="1311"/>
              </a:xfrm>
            </p:grpSpPr>
            <p:grpSp>
              <p:nvGrpSpPr>
                <p:cNvPr id="48145" name="Group 2293"/>
                <p:cNvGrpSpPr>
                  <a:grpSpLocks/>
                </p:cNvGrpSpPr>
                <p:nvPr/>
              </p:nvGrpSpPr>
              <p:grpSpPr bwMode="auto">
                <a:xfrm>
                  <a:off x="609" y="2886"/>
                  <a:ext cx="729" cy="817"/>
                  <a:chOff x="609" y="2886"/>
                  <a:chExt cx="729" cy="817"/>
                </a:xfrm>
              </p:grpSpPr>
              <p:sp>
                <p:nvSpPr>
                  <p:cNvPr id="48150" name="Rectangle 2294"/>
                  <p:cNvSpPr>
                    <a:spLocks noChangeArrowheads="1"/>
                  </p:cNvSpPr>
                  <p:nvPr/>
                </p:nvSpPr>
                <p:spPr bwMode="auto">
                  <a:xfrm>
                    <a:off x="612" y="3203"/>
                    <a:ext cx="545" cy="500"/>
                  </a:xfrm>
                  <a:prstGeom prst="rect">
                    <a:avLst/>
                  </a:prstGeom>
                  <a:solidFill>
                    <a:srgbClr val="99CCFF"/>
                  </a:solid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8151" name="AutoShape 2295"/>
                  <p:cNvSpPr>
                    <a:spLocks noChangeArrowheads="1"/>
                  </p:cNvSpPr>
                  <p:nvPr/>
                </p:nvSpPr>
                <p:spPr bwMode="auto">
                  <a:xfrm>
                    <a:off x="612" y="2886"/>
                    <a:ext cx="726" cy="317"/>
                  </a:xfrm>
                  <a:prstGeom prst="parallelogram">
                    <a:avLst>
                      <a:gd name="adj" fmla="val 57256"/>
                    </a:avLst>
                  </a:prstGeom>
                  <a:solidFill>
                    <a:srgbClr val="99CCFF"/>
                  </a:solid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48152" name="Freeform 2296"/>
                  <p:cNvSpPr>
                    <a:spLocks/>
                  </p:cNvSpPr>
                  <p:nvPr/>
                </p:nvSpPr>
                <p:spPr bwMode="auto">
                  <a:xfrm>
                    <a:off x="609" y="3204"/>
                    <a:ext cx="549" cy="498"/>
                  </a:xfrm>
                  <a:custGeom>
                    <a:avLst/>
                    <a:gdLst>
                      <a:gd name="T0" fmla="*/ 183 w 549"/>
                      <a:gd name="T1" fmla="*/ 0 h 498"/>
                      <a:gd name="T2" fmla="*/ 141 w 549"/>
                      <a:gd name="T3" fmla="*/ 180 h 498"/>
                      <a:gd name="T4" fmla="*/ 0 w 549"/>
                      <a:gd name="T5" fmla="*/ 180 h 498"/>
                      <a:gd name="T6" fmla="*/ 0 w 549"/>
                      <a:gd name="T7" fmla="*/ 498 h 498"/>
                      <a:gd name="T8" fmla="*/ 546 w 549"/>
                      <a:gd name="T9" fmla="*/ 498 h 498"/>
                      <a:gd name="T10" fmla="*/ 549 w 549"/>
                      <a:gd name="T11" fmla="*/ 0 h 498"/>
                      <a:gd name="T12" fmla="*/ 183 w 549"/>
                      <a:gd name="T13" fmla="*/ 0 h 498"/>
                      <a:gd name="T14" fmla="*/ 0 60000 65536"/>
                      <a:gd name="T15" fmla="*/ 0 60000 65536"/>
                      <a:gd name="T16" fmla="*/ 0 60000 65536"/>
                      <a:gd name="T17" fmla="*/ 0 60000 65536"/>
                      <a:gd name="T18" fmla="*/ 0 60000 65536"/>
                      <a:gd name="T19" fmla="*/ 0 60000 65536"/>
                      <a:gd name="T20" fmla="*/ 0 60000 65536"/>
                      <a:gd name="T21" fmla="*/ 0 w 549"/>
                      <a:gd name="T22" fmla="*/ 0 h 498"/>
                      <a:gd name="T23" fmla="*/ 549 w 549"/>
                      <a:gd name="T24" fmla="*/ 498 h 4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9" h="498">
                        <a:moveTo>
                          <a:pt x="183" y="0"/>
                        </a:moveTo>
                        <a:lnTo>
                          <a:pt x="141" y="180"/>
                        </a:lnTo>
                        <a:lnTo>
                          <a:pt x="0" y="180"/>
                        </a:lnTo>
                        <a:lnTo>
                          <a:pt x="0" y="498"/>
                        </a:lnTo>
                        <a:lnTo>
                          <a:pt x="546" y="498"/>
                        </a:lnTo>
                        <a:lnTo>
                          <a:pt x="549" y="0"/>
                        </a:lnTo>
                        <a:lnTo>
                          <a:pt x="183" y="0"/>
                        </a:lnTo>
                        <a:close/>
                      </a:path>
                    </a:pathLst>
                  </a:custGeom>
                  <a:solidFill>
                    <a:srgbClr val="99CCFF"/>
                  </a:solidFill>
                  <a:ln w="9525">
                    <a:solidFill>
                      <a:srgbClr val="000000"/>
                    </a:solidFill>
                    <a:round/>
                    <a:headEnd/>
                    <a:tailEnd/>
                  </a:ln>
                </p:spPr>
                <p:txBody>
                  <a:bodyPr/>
                  <a:lstStyle/>
                  <a:p>
                    <a:endParaRPr lang="en-US"/>
                  </a:p>
                </p:txBody>
              </p:sp>
            </p:grpSp>
            <p:grpSp>
              <p:nvGrpSpPr>
                <p:cNvPr id="48146" name="Group 2297"/>
                <p:cNvGrpSpPr>
                  <a:grpSpLocks/>
                </p:cNvGrpSpPr>
                <p:nvPr/>
              </p:nvGrpSpPr>
              <p:grpSpPr bwMode="auto">
                <a:xfrm>
                  <a:off x="793" y="2392"/>
                  <a:ext cx="545" cy="816"/>
                  <a:chOff x="793" y="2392"/>
                  <a:chExt cx="545" cy="816"/>
                </a:xfrm>
              </p:grpSpPr>
              <p:sp>
                <p:nvSpPr>
                  <p:cNvPr id="48147" name="Freeform 2298"/>
                  <p:cNvSpPr>
                    <a:spLocks/>
                  </p:cNvSpPr>
                  <p:nvPr/>
                </p:nvSpPr>
                <p:spPr bwMode="auto">
                  <a:xfrm>
                    <a:off x="1155" y="2392"/>
                    <a:ext cx="183" cy="816"/>
                  </a:xfrm>
                  <a:custGeom>
                    <a:avLst/>
                    <a:gdLst>
                      <a:gd name="T0" fmla="*/ 1 w 183"/>
                      <a:gd name="T1" fmla="*/ 816 h 816"/>
                      <a:gd name="T2" fmla="*/ 0 w 183"/>
                      <a:gd name="T3" fmla="*/ 326 h 816"/>
                      <a:gd name="T4" fmla="*/ 183 w 183"/>
                      <a:gd name="T5" fmla="*/ 0 h 816"/>
                      <a:gd name="T6" fmla="*/ 177 w 183"/>
                      <a:gd name="T7" fmla="*/ 491 h 816"/>
                      <a:gd name="T8" fmla="*/ 1 w 183"/>
                      <a:gd name="T9" fmla="*/ 816 h 816"/>
                      <a:gd name="T10" fmla="*/ 0 60000 65536"/>
                      <a:gd name="T11" fmla="*/ 0 60000 65536"/>
                      <a:gd name="T12" fmla="*/ 0 60000 65536"/>
                      <a:gd name="T13" fmla="*/ 0 60000 65536"/>
                      <a:gd name="T14" fmla="*/ 0 60000 65536"/>
                      <a:gd name="T15" fmla="*/ 0 w 183"/>
                      <a:gd name="T16" fmla="*/ 0 h 816"/>
                      <a:gd name="T17" fmla="*/ 183 w 183"/>
                      <a:gd name="T18" fmla="*/ 816 h 816"/>
                    </a:gdLst>
                    <a:ahLst/>
                    <a:cxnLst>
                      <a:cxn ang="T10">
                        <a:pos x="T0" y="T1"/>
                      </a:cxn>
                      <a:cxn ang="T11">
                        <a:pos x="T2" y="T3"/>
                      </a:cxn>
                      <a:cxn ang="T12">
                        <a:pos x="T4" y="T5"/>
                      </a:cxn>
                      <a:cxn ang="T13">
                        <a:pos x="T6" y="T7"/>
                      </a:cxn>
                      <a:cxn ang="T14">
                        <a:pos x="T8" y="T9"/>
                      </a:cxn>
                    </a:cxnLst>
                    <a:rect l="T15" t="T16" r="T17" b="T18"/>
                    <a:pathLst>
                      <a:path w="183" h="816">
                        <a:moveTo>
                          <a:pt x="1" y="816"/>
                        </a:moveTo>
                        <a:lnTo>
                          <a:pt x="0" y="326"/>
                        </a:lnTo>
                        <a:lnTo>
                          <a:pt x="183" y="0"/>
                        </a:lnTo>
                        <a:lnTo>
                          <a:pt x="177" y="491"/>
                        </a:lnTo>
                        <a:lnTo>
                          <a:pt x="1" y="816"/>
                        </a:lnTo>
                        <a:close/>
                      </a:path>
                    </a:pathLst>
                  </a:custGeom>
                  <a:solidFill>
                    <a:srgbClr val="FFFFFF"/>
                  </a:solidFill>
                  <a:ln w="9525">
                    <a:solidFill>
                      <a:srgbClr val="000000"/>
                    </a:solidFill>
                    <a:round/>
                    <a:headEnd/>
                    <a:tailEnd/>
                  </a:ln>
                </p:spPr>
                <p:txBody>
                  <a:bodyPr/>
                  <a:lstStyle/>
                  <a:p>
                    <a:endParaRPr lang="en-US"/>
                  </a:p>
                </p:txBody>
              </p:sp>
              <p:sp>
                <p:nvSpPr>
                  <p:cNvPr id="48148" name="Freeform 2299"/>
                  <p:cNvSpPr>
                    <a:spLocks/>
                  </p:cNvSpPr>
                  <p:nvPr/>
                </p:nvSpPr>
                <p:spPr bwMode="auto">
                  <a:xfrm>
                    <a:off x="793" y="2716"/>
                    <a:ext cx="366" cy="489"/>
                  </a:xfrm>
                  <a:custGeom>
                    <a:avLst/>
                    <a:gdLst>
                      <a:gd name="T0" fmla="*/ 2 w 366"/>
                      <a:gd name="T1" fmla="*/ 488 h 489"/>
                      <a:gd name="T2" fmla="*/ 363 w 366"/>
                      <a:gd name="T3" fmla="*/ 489 h 489"/>
                      <a:gd name="T4" fmla="*/ 366 w 366"/>
                      <a:gd name="T5" fmla="*/ 0 h 489"/>
                      <a:gd name="T6" fmla="*/ 121 w 366"/>
                      <a:gd name="T7" fmla="*/ 0 h 489"/>
                      <a:gd name="T8" fmla="*/ 0 w 366"/>
                      <a:gd name="T9" fmla="*/ 489 h 489"/>
                      <a:gd name="T10" fmla="*/ 0 60000 65536"/>
                      <a:gd name="T11" fmla="*/ 0 60000 65536"/>
                      <a:gd name="T12" fmla="*/ 0 60000 65536"/>
                      <a:gd name="T13" fmla="*/ 0 60000 65536"/>
                      <a:gd name="T14" fmla="*/ 0 60000 65536"/>
                      <a:gd name="T15" fmla="*/ 0 w 366"/>
                      <a:gd name="T16" fmla="*/ 0 h 489"/>
                      <a:gd name="T17" fmla="*/ 366 w 366"/>
                      <a:gd name="T18" fmla="*/ 489 h 489"/>
                    </a:gdLst>
                    <a:ahLst/>
                    <a:cxnLst>
                      <a:cxn ang="T10">
                        <a:pos x="T0" y="T1"/>
                      </a:cxn>
                      <a:cxn ang="T11">
                        <a:pos x="T2" y="T3"/>
                      </a:cxn>
                      <a:cxn ang="T12">
                        <a:pos x="T4" y="T5"/>
                      </a:cxn>
                      <a:cxn ang="T13">
                        <a:pos x="T6" y="T7"/>
                      </a:cxn>
                      <a:cxn ang="T14">
                        <a:pos x="T8" y="T9"/>
                      </a:cxn>
                    </a:cxnLst>
                    <a:rect l="T15" t="T16" r="T17" b="T18"/>
                    <a:pathLst>
                      <a:path w="366" h="489">
                        <a:moveTo>
                          <a:pt x="2" y="488"/>
                        </a:moveTo>
                        <a:lnTo>
                          <a:pt x="363" y="489"/>
                        </a:lnTo>
                        <a:lnTo>
                          <a:pt x="366" y="0"/>
                        </a:lnTo>
                        <a:lnTo>
                          <a:pt x="121" y="0"/>
                        </a:lnTo>
                        <a:lnTo>
                          <a:pt x="0" y="489"/>
                        </a:lnTo>
                      </a:path>
                    </a:pathLst>
                  </a:custGeom>
                  <a:solidFill>
                    <a:srgbClr val="FFFFFF"/>
                  </a:solidFill>
                  <a:ln w="9525" cap="flat" cmpd="sng">
                    <a:solidFill>
                      <a:srgbClr val="000000"/>
                    </a:solidFill>
                    <a:prstDash val="solid"/>
                    <a:round/>
                    <a:headEnd type="none" w="med" len="med"/>
                    <a:tailEnd type="none" w="med" len="med"/>
                  </a:ln>
                </p:spPr>
                <p:txBody>
                  <a:bodyPr/>
                  <a:lstStyle/>
                  <a:p>
                    <a:endParaRPr lang="en-US"/>
                  </a:p>
                </p:txBody>
              </p:sp>
              <p:sp>
                <p:nvSpPr>
                  <p:cNvPr id="48149" name="Freeform 2300"/>
                  <p:cNvSpPr>
                    <a:spLocks/>
                  </p:cNvSpPr>
                  <p:nvPr/>
                </p:nvSpPr>
                <p:spPr bwMode="auto">
                  <a:xfrm>
                    <a:off x="915" y="2394"/>
                    <a:ext cx="423" cy="327"/>
                  </a:xfrm>
                  <a:custGeom>
                    <a:avLst/>
                    <a:gdLst>
                      <a:gd name="T0" fmla="*/ 0 w 423"/>
                      <a:gd name="T1" fmla="*/ 321 h 327"/>
                      <a:gd name="T2" fmla="*/ 237 w 423"/>
                      <a:gd name="T3" fmla="*/ 327 h 327"/>
                      <a:gd name="T4" fmla="*/ 423 w 423"/>
                      <a:gd name="T5" fmla="*/ 0 h 327"/>
                      <a:gd name="T6" fmla="*/ 198 w 423"/>
                      <a:gd name="T7" fmla="*/ 0 h 327"/>
                      <a:gd name="T8" fmla="*/ 0 w 423"/>
                      <a:gd name="T9" fmla="*/ 321 h 327"/>
                      <a:gd name="T10" fmla="*/ 0 60000 65536"/>
                      <a:gd name="T11" fmla="*/ 0 60000 65536"/>
                      <a:gd name="T12" fmla="*/ 0 60000 65536"/>
                      <a:gd name="T13" fmla="*/ 0 60000 65536"/>
                      <a:gd name="T14" fmla="*/ 0 60000 65536"/>
                      <a:gd name="T15" fmla="*/ 0 w 423"/>
                      <a:gd name="T16" fmla="*/ 0 h 327"/>
                      <a:gd name="T17" fmla="*/ 423 w 423"/>
                      <a:gd name="T18" fmla="*/ 327 h 327"/>
                    </a:gdLst>
                    <a:ahLst/>
                    <a:cxnLst>
                      <a:cxn ang="T10">
                        <a:pos x="T0" y="T1"/>
                      </a:cxn>
                      <a:cxn ang="T11">
                        <a:pos x="T2" y="T3"/>
                      </a:cxn>
                      <a:cxn ang="T12">
                        <a:pos x="T4" y="T5"/>
                      </a:cxn>
                      <a:cxn ang="T13">
                        <a:pos x="T6" y="T7"/>
                      </a:cxn>
                      <a:cxn ang="T14">
                        <a:pos x="T8" y="T9"/>
                      </a:cxn>
                    </a:cxnLst>
                    <a:rect l="T15" t="T16" r="T17" b="T18"/>
                    <a:pathLst>
                      <a:path w="423" h="327">
                        <a:moveTo>
                          <a:pt x="0" y="321"/>
                        </a:moveTo>
                        <a:lnTo>
                          <a:pt x="237" y="327"/>
                        </a:lnTo>
                        <a:lnTo>
                          <a:pt x="423" y="0"/>
                        </a:lnTo>
                        <a:lnTo>
                          <a:pt x="198" y="0"/>
                        </a:lnTo>
                        <a:lnTo>
                          <a:pt x="0" y="321"/>
                        </a:lnTo>
                        <a:close/>
                      </a:path>
                    </a:pathLst>
                  </a:custGeom>
                  <a:solidFill>
                    <a:srgbClr val="FFFFFF"/>
                  </a:solidFill>
                  <a:ln w="9525" cap="flat" cmpd="sng">
                    <a:solidFill>
                      <a:srgbClr val="000000"/>
                    </a:solidFill>
                    <a:prstDash val="solid"/>
                    <a:round/>
                    <a:headEnd type="none" w="med" len="med"/>
                    <a:tailEnd type="none" w="med" len="med"/>
                  </a:ln>
                </p:spPr>
                <p:txBody>
                  <a:bodyPr/>
                  <a:lstStyle/>
                  <a:p>
                    <a:endParaRPr lang="en-US"/>
                  </a:p>
                </p:txBody>
              </p:sp>
            </p:grpSp>
          </p:grpSp>
          <p:sp>
            <p:nvSpPr>
              <p:cNvPr id="48144" name="Text Box 2301"/>
              <p:cNvSpPr txBox="1">
                <a:spLocks noChangeArrowheads="1"/>
              </p:cNvSpPr>
              <p:nvPr/>
            </p:nvSpPr>
            <p:spPr bwMode="auto">
              <a:xfrm>
                <a:off x="172" y="2452"/>
                <a:ext cx="786" cy="460"/>
              </a:xfrm>
              <a:prstGeom prst="rect">
                <a:avLst/>
              </a:prstGeom>
              <a:noFill/>
              <a:ln w="9525">
                <a:noFill/>
                <a:miter lim="800000"/>
                <a:headEnd/>
                <a:tailEnd/>
              </a:ln>
            </p:spPr>
            <p:txBody>
              <a:bodyPr>
                <a:spAutoFit/>
              </a:bodyPr>
              <a:lstStyle/>
              <a:p>
                <a:pPr algn="ctr">
                  <a:spcBef>
                    <a:spcPct val="50000"/>
                  </a:spcBef>
                </a:pPr>
                <a:r>
                  <a:rPr lang="en-AU" sz="1400" i="0">
                    <a:solidFill>
                      <a:srgbClr val="339966"/>
                    </a:solidFill>
                  </a:rPr>
                  <a:t>Discharge to the Environment</a:t>
                </a:r>
                <a:endParaRPr lang="en-US" sz="1400" i="0">
                  <a:solidFill>
                    <a:srgbClr val="339966"/>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97786"/>
                                        </p:tgtEl>
                                        <p:attrNameLst>
                                          <p:attrName>style.visibility</p:attrName>
                                        </p:attrNameLst>
                                      </p:cBhvr>
                                      <p:to>
                                        <p:strVal val="visible"/>
                                      </p:to>
                                    </p:set>
                                    <p:animEffect transition="in" filter="dissolve">
                                      <p:cBhvr>
                                        <p:cTn id="7" dur="500"/>
                                        <p:tgtEl>
                                          <p:spTgt spid="2977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97844"/>
                                        </p:tgtEl>
                                        <p:attrNameLst>
                                          <p:attrName>style.visibility</p:attrName>
                                        </p:attrNameLst>
                                      </p:cBhvr>
                                      <p:to>
                                        <p:strVal val="visible"/>
                                      </p:to>
                                    </p:set>
                                    <p:animEffect transition="in" filter="dissolve">
                                      <p:cBhvr>
                                        <p:cTn id="12" dur="500"/>
                                        <p:tgtEl>
                                          <p:spTgt spid="2978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98189"/>
                                        </p:tgtEl>
                                        <p:attrNameLst>
                                          <p:attrName>style.visibility</p:attrName>
                                        </p:attrNameLst>
                                      </p:cBhvr>
                                      <p:to>
                                        <p:strVal val="visible"/>
                                      </p:to>
                                    </p:set>
                                    <p:animEffect transition="in" filter="dissolve">
                                      <p:cBhvr>
                                        <p:cTn id="17" dur="500"/>
                                        <p:tgtEl>
                                          <p:spTgt spid="298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p:nvPr>
        </p:nvSpPr>
        <p:spPr>
          <a:xfrm>
            <a:off x="438150" y="806450"/>
            <a:ext cx="4152900" cy="493713"/>
          </a:xfrm>
        </p:spPr>
        <p:txBody>
          <a:bodyPr/>
          <a:lstStyle/>
          <a:p>
            <a:r>
              <a:rPr lang="en-AU" smtClean="0"/>
              <a:t>Rainfall variability</a:t>
            </a:r>
            <a:endParaRPr lang="en-US" smtClean="0"/>
          </a:p>
        </p:txBody>
      </p:sp>
      <p:grpSp>
        <p:nvGrpSpPr>
          <p:cNvPr id="50178" name="Group 4"/>
          <p:cNvGrpSpPr>
            <a:grpSpLocks/>
          </p:cNvGrpSpPr>
          <p:nvPr/>
        </p:nvGrpSpPr>
        <p:grpSpPr bwMode="auto">
          <a:xfrm>
            <a:off x="6342063" y="1884363"/>
            <a:ext cx="1812925" cy="1665287"/>
            <a:chOff x="304" y="924"/>
            <a:chExt cx="2306" cy="2723"/>
          </a:xfrm>
        </p:grpSpPr>
        <p:sp>
          <p:nvSpPr>
            <p:cNvPr id="50187" name="Line 5"/>
            <p:cNvSpPr>
              <a:spLocks noChangeShapeType="1"/>
            </p:cNvSpPr>
            <p:nvPr/>
          </p:nvSpPr>
          <p:spPr bwMode="auto">
            <a:xfrm flipV="1">
              <a:off x="756" y="2245"/>
              <a:ext cx="398" cy="542"/>
            </a:xfrm>
            <a:prstGeom prst="line">
              <a:avLst/>
            </a:prstGeom>
            <a:noFill/>
            <a:ln w="9525">
              <a:solidFill>
                <a:schemeClr val="tx1"/>
              </a:solidFill>
              <a:round/>
              <a:headEnd/>
              <a:tailEnd/>
            </a:ln>
          </p:spPr>
          <p:txBody>
            <a:bodyPr/>
            <a:lstStyle/>
            <a:p>
              <a:endParaRPr lang="en-US"/>
            </a:p>
          </p:txBody>
        </p:sp>
        <p:sp>
          <p:nvSpPr>
            <p:cNvPr id="50188" name="Freeform 6"/>
            <p:cNvSpPr>
              <a:spLocks/>
            </p:cNvSpPr>
            <p:nvPr/>
          </p:nvSpPr>
          <p:spPr bwMode="auto">
            <a:xfrm>
              <a:off x="756" y="2235"/>
              <a:ext cx="383" cy="1412"/>
            </a:xfrm>
            <a:custGeom>
              <a:avLst/>
              <a:gdLst>
                <a:gd name="T0" fmla="*/ 0 w 174"/>
                <a:gd name="T1" fmla="*/ 1412 h 827"/>
                <a:gd name="T2" fmla="*/ 0 w 174"/>
                <a:gd name="T3" fmla="*/ 560 h 827"/>
                <a:gd name="T4" fmla="*/ 383 w 174"/>
                <a:gd name="T5" fmla="*/ 0 h 827"/>
                <a:gd name="T6" fmla="*/ 361 w 174"/>
                <a:gd name="T7" fmla="*/ 871 h 827"/>
                <a:gd name="T8" fmla="*/ 0 w 174"/>
                <a:gd name="T9" fmla="*/ 1412 h 827"/>
                <a:gd name="T10" fmla="*/ 0 60000 65536"/>
                <a:gd name="T11" fmla="*/ 0 60000 65536"/>
                <a:gd name="T12" fmla="*/ 0 60000 65536"/>
                <a:gd name="T13" fmla="*/ 0 60000 65536"/>
                <a:gd name="T14" fmla="*/ 0 60000 65536"/>
                <a:gd name="T15" fmla="*/ 0 w 174"/>
                <a:gd name="T16" fmla="*/ 0 h 827"/>
                <a:gd name="T17" fmla="*/ 174 w 174"/>
                <a:gd name="T18" fmla="*/ 827 h 827"/>
              </a:gdLst>
              <a:ahLst/>
              <a:cxnLst>
                <a:cxn ang="T10">
                  <a:pos x="T0" y="T1"/>
                </a:cxn>
                <a:cxn ang="T11">
                  <a:pos x="T2" y="T3"/>
                </a:cxn>
                <a:cxn ang="T12">
                  <a:pos x="T4" y="T5"/>
                </a:cxn>
                <a:cxn ang="T13">
                  <a:pos x="T6" y="T7"/>
                </a:cxn>
                <a:cxn ang="T14">
                  <a:pos x="T8" y="T9"/>
                </a:cxn>
              </a:cxnLst>
              <a:rect l="T15" t="T16" r="T17" b="T18"/>
              <a:pathLst>
                <a:path w="174" h="827">
                  <a:moveTo>
                    <a:pt x="0" y="827"/>
                  </a:moveTo>
                  <a:lnTo>
                    <a:pt x="0" y="328"/>
                  </a:lnTo>
                  <a:lnTo>
                    <a:pt x="174" y="0"/>
                  </a:lnTo>
                  <a:lnTo>
                    <a:pt x="164" y="510"/>
                  </a:lnTo>
                  <a:lnTo>
                    <a:pt x="0" y="827"/>
                  </a:lnTo>
                  <a:close/>
                </a:path>
              </a:pathLst>
            </a:custGeom>
            <a:solidFill>
              <a:schemeClr val="accent1"/>
            </a:solidFill>
            <a:ln w="9525" cap="flat" cmpd="sng">
              <a:solidFill>
                <a:schemeClr val="tx1"/>
              </a:solidFill>
              <a:prstDash val="solid"/>
              <a:round/>
              <a:headEnd/>
              <a:tailEnd/>
            </a:ln>
          </p:spPr>
          <p:txBody>
            <a:bodyPr wrap="none" anchor="ctr"/>
            <a:lstStyle/>
            <a:p>
              <a:endParaRPr lang="en-US"/>
            </a:p>
          </p:txBody>
        </p:sp>
        <p:grpSp>
          <p:nvGrpSpPr>
            <p:cNvPr id="50189" name="Group 7"/>
            <p:cNvGrpSpPr>
              <a:grpSpLocks/>
            </p:cNvGrpSpPr>
            <p:nvPr/>
          </p:nvGrpSpPr>
          <p:grpSpPr bwMode="auto">
            <a:xfrm>
              <a:off x="756" y="2245"/>
              <a:ext cx="1596" cy="1395"/>
              <a:chOff x="4050" y="2886"/>
              <a:chExt cx="726" cy="817"/>
            </a:xfrm>
          </p:grpSpPr>
          <p:sp>
            <p:nvSpPr>
              <p:cNvPr id="50228" name="Rectangle 8"/>
              <p:cNvSpPr>
                <a:spLocks noChangeArrowheads="1"/>
              </p:cNvSpPr>
              <p:nvPr/>
            </p:nvSpPr>
            <p:spPr bwMode="auto">
              <a:xfrm>
                <a:off x="4050" y="3203"/>
                <a:ext cx="545" cy="500"/>
              </a:xfrm>
              <a:prstGeom prst="rect">
                <a:avLst/>
              </a:prstGeom>
              <a:solidFill>
                <a:srgbClr val="99CCFF"/>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0229" name="AutoShape 9"/>
              <p:cNvSpPr>
                <a:spLocks noChangeArrowheads="1"/>
              </p:cNvSpPr>
              <p:nvPr/>
            </p:nvSpPr>
            <p:spPr bwMode="auto">
              <a:xfrm>
                <a:off x="4050" y="2886"/>
                <a:ext cx="726" cy="317"/>
              </a:xfrm>
              <a:prstGeom prst="parallelogram">
                <a:avLst>
                  <a:gd name="adj" fmla="val 57256"/>
                </a:avLst>
              </a:prstGeom>
              <a:solidFill>
                <a:schemeClr val="accent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0230" name="Freeform 10"/>
              <p:cNvSpPr>
                <a:spLocks/>
              </p:cNvSpPr>
              <p:nvPr/>
            </p:nvSpPr>
            <p:spPr bwMode="auto">
              <a:xfrm>
                <a:off x="4594" y="2886"/>
                <a:ext cx="182" cy="816"/>
              </a:xfrm>
              <a:custGeom>
                <a:avLst/>
                <a:gdLst>
                  <a:gd name="T0" fmla="*/ 0 w 182"/>
                  <a:gd name="T1" fmla="*/ 816 h 816"/>
                  <a:gd name="T2" fmla="*/ 0 w 182"/>
                  <a:gd name="T3" fmla="*/ 317 h 816"/>
                  <a:gd name="T4" fmla="*/ 182 w 182"/>
                  <a:gd name="T5" fmla="*/ 0 h 816"/>
                  <a:gd name="T6" fmla="*/ 182 w 182"/>
                  <a:gd name="T7" fmla="*/ 499 h 816"/>
                  <a:gd name="T8" fmla="*/ 0 w 182"/>
                  <a:gd name="T9" fmla="*/ 816 h 816"/>
                  <a:gd name="T10" fmla="*/ 0 60000 65536"/>
                  <a:gd name="T11" fmla="*/ 0 60000 65536"/>
                  <a:gd name="T12" fmla="*/ 0 60000 65536"/>
                  <a:gd name="T13" fmla="*/ 0 60000 65536"/>
                  <a:gd name="T14" fmla="*/ 0 60000 65536"/>
                  <a:gd name="T15" fmla="*/ 0 w 182"/>
                  <a:gd name="T16" fmla="*/ 0 h 816"/>
                  <a:gd name="T17" fmla="*/ 182 w 182"/>
                  <a:gd name="T18" fmla="*/ 816 h 816"/>
                </a:gdLst>
                <a:ahLst/>
                <a:cxnLst>
                  <a:cxn ang="T10">
                    <a:pos x="T0" y="T1"/>
                  </a:cxn>
                  <a:cxn ang="T11">
                    <a:pos x="T2" y="T3"/>
                  </a:cxn>
                  <a:cxn ang="T12">
                    <a:pos x="T4" y="T5"/>
                  </a:cxn>
                  <a:cxn ang="T13">
                    <a:pos x="T6" y="T7"/>
                  </a:cxn>
                  <a:cxn ang="T14">
                    <a:pos x="T8" y="T9"/>
                  </a:cxn>
                </a:cxnLst>
                <a:rect l="T15" t="T16" r="T17" b="T18"/>
                <a:pathLst>
                  <a:path w="182" h="816">
                    <a:moveTo>
                      <a:pt x="0" y="816"/>
                    </a:moveTo>
                    <a:lnTo>
                      <a:pt x="0" y="317"/>
                    </a:lnTo>
                    <a:lnTo>
                      <a:pt x="182" y="0"/>
                    </a:lnTo>
                    <a:lnTo>
                      <a:pt x="182" y="499"/>
                    </a:lnTo>
                    <a:lnTo>
                      <a:pt x="0" y="816"/>
                    </a:lnTo>
                    <a:close/>
                  </a:path>
                </a:pathLst>
              </a:custGeom>
              <a:solidFill>
                <a:srgbClr val="99CCFF"/>
              </a:solidFill>
              <a:ln w="9525">
                <a:solidFill>
                  <a:schemeClr val="tx1"/>
                </a:solidFill>
                <a:round/>
                <a:headEnd/>
                <a:tailEnd/>
              </a:ln>
            </p:spPr>
            <p:txBody>
              <a:bodyPr/>
              <a:lstStyle/>
              <a:p>
                <a:endParaRPr lang="en-US"/>
              </a:p>
            </p:txBody>
          </p:sp>
        </p:grpSp>
        <p:grpSp>
          <p:nvGrpSpPr>
            <p:cNvPr id="50190" name="Group 11"/>
            <p:cNvGrpSpPr>
              <a:grpSpLocks/>
            </p:cNvGrpSpPr>
            <p:nvPr/>
          </p:nvGrpSpPr>
          <p:grpSpPr bwMode="auto">
            <a:xfrm>
              <a:off x="756" y="1397"/>
              <a:ext cx="1596" cy="1395"/>
              <a:chOff x="4422" y="1933"/>
              <a:chExt cx="726" cy="817"/>
            </a:xfrm>
          </p:grpSpPr>
          <p:sp>
            <p:nvSpPr>
              <p:cNvPr id="50225" name="Rectangle 12"/>
              <p:cNvSpPr>
                <a:spLocks noChangeArrowheads="1"/>
              </p:cNvSpPr>
              <p:nvPr/>
            </p:nvSpPr>
            <p:spPr bwMode="auto">
              <a:xfrm>
                <a:off x="4422" y="2260"/>
                <a:ext cx="545" cy="490"/>
              </a:xfrm>
              <a:prstGeom prst="rect">
                <a:avLst/>
              </a:prstGeom>
              <a:solidFill>
                <a:schemeClr val="bg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0226" name="AutoShape 13"/>
              <p:cNvSpPr>
                <a:spLocks noChangeArrowheads="1"/>
              </p:cNvSpPr>
              <p:nvPr/>
            </p:nvSpPr>
            <p:spPr bwMode="auto">
              <a:xfrm>
                <a:off x="4422" y="1933"/>
                <a:ext cx="726" cy="327"/>
              </a:xfrm>
              <a:prstGeom prst="parallelogram">
                <a:avLst>
                  <a:gd name="adj" fmla="val 55505"/>
                </a:avLst>
              </a:prstGeom>
              <a:solidFill>
                <a:schemeClr val="bg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0227" name="Freeform 14"/>
              <p:cNvSpPr>
                <a:spLocks/>
              </p:cNvSpPr>
              <p:nvPr/>
            </p:nvSpPr>
            <p:spPr bwMode="auto">
              <a:xfrm>
                <a:off x="4966" y="1933"/>
                <a:ext cx="182" cy="816"/>
              </a:xfrm>
              <a:custGeom>
                <a:avLst/>
                <a:gdLst>
                  <a:gd name="T0" fmla="*/ 0 w 182"/>
                  <a:gd name="T1" fmla="*/ 816 h 816"/>
                  <a:gd name="T2" fmla="*/ 0 w 182"/>
                  <a:gd name="T3" fmla="*/ 317 h 816"/>
                  <a:gd name="T4" fmla="*/ 182 w 182"/>
                  <a:gd name="T5" fmla="*/ 0 h 816"/>
                  <a:gd name="T6" fmla="*/ 182 w 182"/>
                  <a:gd name="T7" fmla="*/ 499 h 816"/>
                  <a:gd name="T8" fmla="*/ 0 w 182"/>
                  <a:gd name="T9" fmla="*/ 816 h 816"/>
                  <a:gd name="T10" fmla="*/ 0 60000 65536"/>
                  <a:gd name="T11" fmla="*/ 0 60000 65536"/>
                  <a:gd name="T12" fmla="*/ 0 60000 65536"/>
                  <a:gd name="T13" fmla="*/ 0 60000 65536"/>
                  <a:gd name="T14" fmla="*/ 0 60000 65536"/>
                  <a:gd name="T15" fmla="*/ 0 w 182"/>
                  <a:gd name="T16" fmla="*/ 0 h 816"/>
                  <a:gd name="T17" fmla="*/ 182 w 182"/>
                  <a:gd name="T18" fmla="*/ 816 h 816"/>
                </a:gdLst>
                <a:ahLst/>
                <a:cxnLst>
                  <a:cxn ang="T10">
                    <a:pos x="T0" y="T1"/>
                  </a:cxn>
                  <a:cxn ang="T11">
                    <a:pos x="T2" y="T3"/>
                  </a:cxn>
                  <a:cxn ang="T12">
                    <a:pos x="T4" y="T5"/>
                  </a:cxn>
                  <a:cxn ang="T13">
                    <a:pos x="T6" y="T7"/>
                  </a:cxn>
                  <a:cxn ang="T14">
                    <a:pos x="T8" y="T9"/>
                  </a:cxn>
                </a:cxnLst>
                <a:rect l="T15" t="T16" r="T17" b="T18"/>
                <a:pathLst>
                  <a:path w="182" h="816">
                    <a:moveTo>
                      <a:pt x="0" y="816"/>
                    </a:moveTo>
                    <a:lnTo>
                      <a:pt x="0" y="317"/>
                    </a:lnTo>
                    <a:lnTo>
                      <a:pt x="182" y="0"/>
                    </a:lnTo>
                    <a:lnTo>
                      <a:pt x="182" y="499"/>
                    </a:lnTo>
                    <a:lnTo>
                      <a:pt x="0" y="816"/>
                    </a:lnTo>
                    <a:close/>
                  </a:path>
                </a:pathLst>
              </a:custGeom>
              <a:solidFill>
                <a:schemeClr val="bg1"/>
              </a:solidFill>
              <a:ln w="9525">
                <a:solidFill>
                  <a:schemeClr val="tx1"/>
                </a:solidFill>
                <a:round/>
                <a:headEnd/>
                <a:tailEnd/>
              </a:ln>
            </p:spPr>
            <p:txBody>
              <a:bodyPr/>
              <a:lstStyle/>
              <a:p>
                <a:endParaRPr lang="en-US"/>
              </a:p>
            </p:txBody>
          </p:sp>
        </p:grpSp>
        <p:sp>
          <p:nvSpPr>
            <p:cNvPr id="50191" name="AutoShape 15"/>
            <p:cNvSpPr>
              <a:spLocks noChangeArrowheads="1"/>
            </p:cNvSpPr>
            <p:nvPr/>
          </p:nvSpPr>
          <p:spPr bwMode="auto">
            <a:xfrm rot="-5400000">
              <a:off x="1792" y="1162"/>
              <a:ext cx="462" cy="246"/>
            </a:xfrm>
            <a:prstGeom prst="leftArrow">
              <a:avLst>
                <a:gd name="adj1" fmla="val 50000"/>
                <a:gd name="adj2" fmla="val 46951"/>
              </a:avLst>
            </a:prstGeom>
            <a:solidFill>
              <a:srgbClr val="FF3300"/>
            </a:solidFill>
            <a:ln w="9525">
              <a:solidFill>
                <a:srgbClr val="FF33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nvGrpSpPr>
            <p:cNvPr id="50192" name="Group 16"/>
            <p:cNvGrpSpPr>
              <a:grpSpLocks/>
            </p:cNvGrpSpPr>
            <p:nvPr/>
          </p:nvGrpSpPr>
          <p:grpSpPr bwMode="auto">
            <a:xfrm>
              <a:off x="894" y="1248"/>
              <a:ext cx="537" cy="1050"/>
              <a:chOff x="1133" y="1419"/>
              <a:chExt cx="244" cy="615"/>
            </a:xfrm>
          </p:grpSpPr>
          <p:sp>
            <p:nvSpPr>
              <p:cNvPr id="50220" name="Freeform 17"/>
              <p:cNvSpPr>
                <a:spLocks/>
              </p:cNvSpPr>
              <p:nvPr/>
            </p:nvSpPr>
            <p:spPr bwMode="auto">
              <a:xfrm>
                <a:off x="1185" y="1452"/>
                <a:ext cx="162" cy="582"/>
              </a:xfrm>
              <a:custGeom>
                <a:avLst/>
                <a:gdLst>
                  <a:gd name="T0" fmla="*/ 54 w 162"/>
                  <a:gd name="T1" fmla="*/ 582 h 582"/>
                  <a:gd name="T2" fmla="*/ 42 w 162"/>
                  <a:gd name="T3" fmla="*/ 507 h 582"/>
                  <a:gd name="T4" fmla="*/ 51 w 162"/>
                  <a:gd name="T5" fmla="*/ 423 h 582"/>
                  <a:gd name="T6" fmla="*/ 42 w 162"/>
                  <a:gd name="T7" fmla="*/ 390 h 582"/>
                  <a:gd name="T8" fmla="*/ 33 w 162"/>
                  <a:gd name="T9" fmla="*/ 378 h 582"/>
                  <a:gd name="T10" fmla="*/ 48 w 162"/>
                  <a:gd name="T11" fmla="*/ 330 h 582"/>
                  <a:gd name="T12" fmla="*/ 57 w 162"/>
                  <a:gd name="T13" fmla="*/ 297 h 582"/>
                  <a:gd name="T14" fmla="*/ 63 w 162"/>
                  <a:gd name="T15" fmla="*/ 231 h 582"/>
                  <a:gd name="T16" fmla="*/ 57 w 162"/>
                  <a:gd name="T17" fmla="*/ 147 h 582"/>
                  <a:gd name="T18" fmla="*/ 21 w 162"/>
                  <a:gd name="T19" fmla="*/ 99 h 582"/>
                  <a:gd name="T20" fmla="*/ 0 w 162"/>
                  <a:gd name="T21" fmla="*/ 72 h 582"/>
                  <a:gd name="T22" fmla="*/ 54 w 162"/>
                  <a:gd name="T23" fmla="*/ 105 h 582"/>
                  <a:gd name="T24" fmla="*/ 57 w 162"/>
                  <a:gd name="T25" fmla="*/ 87 h 582"/>
                  <a:gd name="T26" fmla="*/ 63 w 162"/>
                  <a:gd name="T27" fmla="*/ 0 h 582"/>
                  <a:gd name="T28" fmla="*/ 78 w 162"/>
                  <a:gd name="T29" fmla="*/ 39 h 582"/>
                  <a:gd name="T30" fmla="*/ 78 w 162"/>
                  <a:gd name="T31" fmla="*/ 126 h 582"/>
                  <a:gd name="T32" fmla="*/ 90 w 162"/>
                  <a:gd name="T33" fmla="*/ 72 h 582"/>
                  <a:gd name="T34" fmla="*/ 108 w 162"/>
                  <a:gd name="T35" fmla="*/ 72 h 582"/>
                  <a:gd name="T36" fmla="*/ 93 w 162"/>
                  <a:gd name="T37" fmla="*/ 135 h 582"/>
                  <a:gd name="T38" fmla="*/ 162 w 162"/>
                  <a:gd name="T39" fmla="*/ 84 h 582"/>
                  <a:gd name="T40" fmla="*/ 153 w 162"/>
                  <a:gd name="T41" fmla="*/ 120 h 582"/>
                  <a:gd name="T42" fmla="*/ 75 w 162"/>
                  <a:gd name="T43" fmla="*/ 165 h 582"/>
                  <a:gd name="T44" fmla="*/ 75 w 162"/>
                  <a:gd name="T45" fmla="*/ 300 h 582"/>
                  <a:gd name="T46" fmla="*/ 99 w 162"/>
                  <a:gd name="T47" fmla="*/ 381 h 582"/>
                  <a:gd name="T48" fmla="*/ 84 w 162"/>
                  <a:gd name="T49" fmla="*/ 414 h 582"/>
                  <a:gd name="T50" fmla="*/ 99 w 162"/>
                  <a:gd name="T51" fmla="*/ 453 h 582"/>
                  <a:gd name="T52" fmla="*/ 135 w 162"/>
                  <a:gd name="T53" fmla="*/ 486 h 582"/>
                  <a:gd name="T54" fmla="*/ 132 w 162"/>
                  <a:gd name="T55" fmla="*/ 510 h 582"/>
                  <a:gd name="T56" fmla="*/ 102 w 162"/>
                  <a:gd name="T57" fmla="*/ 468 h 582"/>
                  <a:gd name="T58" fmla="*/ 69 w 162"/>
                  <a:gd name="T59" fmla="*/ 414 h 582"/>
                  <a:gd name="T60" fmla="*/ 63 w 162"/>
                  <a:gd name="T61" fmla="*/ 456 h 582"/>
                  <a:gd name="T62" fmla="*/ 75 w 162"/>
                  <a:gd name="T63" fmla="*/ 492 h 582"/>
                  <a:gd name="T64" fmla="*/ 96 w 162"/>
                  <a:gd name="T65" fmla="*/ 513 h 582"/>
                  <a:gd name="T66" fmla="*/ 78 w 162"/>
                  <a:gd name="T67" fmla="*/ 519 h 582"/>
                  <a:gd name="T68" fmla="*/ 60 w 162"/>
                  <a:gd name="T69" fmla="*/ 486 h 582"/>
                  <a:gd name="T70" fmla="*/ 54 w 162"/>
                  <a:gd name="T71" fmla="*/ 522 h 582"/>
                  <a:gd name="T72" fmla="*/ 54 w 162"/>
                  <a:gd name="T73" fmla="*/ 582 h 58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2"/>
                  <a:gd name="T112" fmla="*/ 0 h 582"/>
                  <a:gd name="T113" fmla="*/ 162 w 162"/>
                  <a:gd name="T114" fmla="*/ 582 h 58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2" h="582">
                    <a:moveTo>
                      <a:pt x="54" y="582"/>
                    </a:moveTo>
                    <a:lnTo>
                      <a:pt x="42" y="507"/>
                    </a:lnTo>
                    <a:lnTo>
                      <a:pt x="51" y="423"/>
                    </a:lnTo>
                    <a:lnTo>
                      <a:pt x="42" y="390"/>
                    </a:lnTo>
                    <a:lnTo>
                      <a:pt x="33" y="378"/>
                    </a:ln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84" y="414"/>
                    </a:lnTo>
                    <a:lnTo>
                      <a:pt x="99" y="453"/>
                    </a:lnTo>
                    <a:lnTo>
                      <a:pt x="135" y="486"/>
                    </a:lnTo>
                    <a:lnTo>
                      <a:pt x="132" y="510"/>
                    </a:lnTo>
                    <a:lnTo>
                      <a:pt x="102" y="468"/>
                    </a:lnTo>
                    <a:lnTo>
                      <a:pt x="69" y="414"/>
                    </a:lnTo>
                    <a:lnTo>
                      <a:pt x="63" y="456"/>
                    </a:lnTo>
                    <a:lnTo>
                      <a:pt x="75" y="492"/>
                    </a:lnTo>
                    <a:lnTo>
                      <a:pt x="96" y="513"/>
                    </a:lnTo>
                    <a:lnTo>
                      <a:pt x="78" y="519"/>
                    </a:lnTo>
                    <a:lnTo>
                      <a:pt x="60" y="486"/>
                    </a:lnTo>
                    <a:lnTo>
                      <a:pt x="54" y="522"/>
                    </a:lnTo>
                    <a:lnTo>
                      <a:pt x="54" y="582"/>
                    </a:lnTo>
                    <a:close/>
                  </a:path>
                </a:pathLst>
              </a:custGeom>
              <a:solidFill>
                <a:schemeClr val="bg2"/>
              </a:solidFill>
              <a:ln w="9525">
                <a:noFill/>
                <a:round/>
                <a:headEnd/>
                <a:tailEnd/>
              </a:ln>
            </p:spPr>
            <p:txBody>
              <a:bodyPr/>
              <a:lstStyle/>
              <a:p>
                <a:endParaRPr lang="en-US"/>
              </a:p>
            </p:txBody>
          </p:sp>
          <p:sp>
            <p:nvSpPr>
              <p:cNvPr id="50221" name="Freeform 18"/>
              <p:cNvSpPr>
                <a:spLocks/>
              </p:cNvSpPr>
              <p:nvPr/>
            </p:nvSpPr>
            <p:spPr bwMode="auto">
              <a:xfrm>
                <a:off x="1133" y="1484"/>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0222" name="Freeform 19"/>
              <p:cNvSpPr>
                <a:spLocks/>
              </p:cNvSpPr>
              <p:nvPr/>
            </p:nvSpPr>
            <p:spPr bwMode="auto">
              <a:xfrm>
                <a:off x="1176" y="1419"/>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0223" name="Freeform 20"/>
              <p:cNvSpPr>
                <a:spLocks/>
              </p:cNvSpPr>
              <p:nvPr/>
            </p:nvSpPr>
            <p:spPr bwMode="auto">
              <a:xfrm>
                <a:off x="1249" y="1477"/>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0224" name="Freeform 21"/>
              <p:cNvSpPr>
                <a:spLocks/>
              </p:cNvSpPr>
              <p:nvPr/>
            </p:nvSpPr>
            <p:spPr bwMode="auto">
              <a:xfrm>
                <a:off x="1283" y="1547"/>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50193" name="Group 22"/>
            <p:cNvGrpSpPr>
              <a:grpSpLocks/>
            </p:cNvGrpSpPr>
            <p:nvPr/>
          </p:nvGrpSpPr>
          <p:grpSpPr bwMode="auto">
            <a:xfrm>
              <a:off x="1248" y="924"/>
              <a:ext cx="537" cy="707"/>
              <a:chOff x="1164" y="1150"/>
              <a:chExt cx="244" cy="414"/>
            </a:xfrm>
          </p:grpSpPr>
          <p:sp>
            <p:nvSpPr>
              <p:cNvPr id="50215" name="Freeform 23"/>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50216" name="Freeform 24"/>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0217" name="Freeform 25"/>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0218" name="Freeform 26"/>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0219" name="Freeform 27"/>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50194" name="Group 28"/>
            <p:cNvGrpSpPr>
              <a:grpSpLocks/>
            </p:cNvGrpSpPr>
            <p:nvPr/>
          </p:nvGrpSpPr>
          <p:grpSpPr bwMode="auto">
            <a:xfrm>
              <a:off x="1231" y="1581"/>
              <a:ext cx="259" cy="313"/>
              <a:chOff x="1164" y="1150"/>
              <a:chExt cx="244" cy="414"/>
            </a:xfrm>
          </p:grpSpPr>
          <p:sp>
            <p:nvSpPr>
              <p:cNvPr id="50210" name="Freeform 29"/>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50211" name="Freeform 30"/>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0212" name="Freeform 31"/>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0213" name="Freeform 32"/>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0214" name="Freeform 33"/>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50195" name="Group 34"/>
            <p:cNvGrpSpPr>
              <a:grpSpLocks/>
            </p:cNvGrpSpPr>
            <p:nvPr/>
          </p:nvGrpSpPr>
          <p:grpSpPr bwMode="auto">
            <a:xfrm>
              <a:off x="1424" y="1276"/>
              <a:ext cx="451" cy="584"/>
              <a:chOff x="1164" y="1150"/>
              <a:chExt cx="244" cy="414"/>
            </a:xfrm>
          </p:grpSpPr>
          <p:sp>
            <p:nvSpPr>
              <p:cNvPr id="50205" name="Freeform 3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50206" name="Freeform 3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0207" name="Freeform 3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0208" name="Freeform 3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0209" name="Freeform 3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sp>
          <p:nvSpPr>
            <p:cNvPr id="50196" name="AutoShape 40"/>
            <p:cNvSpPr>
              <a:spLocks noChangeArrowheads="1"/>
            </p:cNvSpPr>
            <p:nvPr/>
          </p:nvSpPr>
          <p:spPr bwMode="auto">
            <a:xfrm rot="10800000">
              <a:off x="1260" y="1764"/>
              <a:ext cx="342" cy="348"/>
            </a:xfrm>
            <a:custGeom>
              <a:avLst/>
              <a:gdLst>
                <a:gd name="T0" fmla="*/ 146 w 21600"/>
                <a:gd name="T1" fmla="*/ 0 h 21600"/>
                <a:gd name="T2" fmla="*/ 48 w 21600"/>
                <a:gd name="T3" fmla="*/ 348 h 21600"/>
                <a:gd name="T4" fmla="*/ 154 w 21600"/>
                <a:gd name="T5" fmla="*/ 134 h 21600"/>
                <a:gd name="T6" fmla="*/ 248 w 21600"/>
                <a:gd name="T7" fmla="*/ 230 h 21600"/>
                <a:gd name="T8" fmla="*/ 342 w 21600"/>
                <a:gd name="T9" fmla="*/ 134 h 21600"/>
                <a:gd name="T10" fmla="*/ 17694720 60000 65536"/>
                <a:gd name="T11" fmla="*/ 5898240 60000 65536"/>
                <a:gd name="T12" fmla="*/ 5898240 60000 65536"/>
                <a:gd name="T13" fmla="*/ 5898240 60000 65536"/>
                <a:gd name="T14" fmla="*/ 0 60000 65536"/>
                <a:gd name="T15" fmla="*/ 0 w 21600"/>
                <a:gd name="T16" fmla="*/ 8317 h 21600"/>
                <a:gd name="T17" fmla="*/ 6126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15662" y="14285"/>
                  </a:moveTo>
                  <a:lnTo>
                    <a:pt x="21600" y="8310"/>
                  </a:lnTo>
                  <a:lnTo>
                    <a:pt x="18630" y="8310"/>
                  </a:lnTo>
                  <a:cubicBezTo>
                    <a:pt x="18630" y="3721"/>
                    <a:pt x="14430" y="0"/>
                    <a:pt x="9250" y="0"/>
                  </a:cubicBezTo>
                  <a:cubicBezTo>
                    <a:pt x="4141" y="0"/>
                    <a:pt x="0" y="3799"/>
                    <a:pt x="0" y="8485"/>
                  </a:cubicBezTo>
                  <a:lnTo>
                    <a:pt x="0" y="21600"/>
                  </a:lnTo>
                  <a:lnTo>
                    <a:pt x="6110" y="21600"/>
                  </a:lnTo>
                  <a:lnTo>
                    <a:pt x="6110" y="8310"/>
                  </a:lnTo>
                  <a:cubicBezTo>
                    <a:pt x="6110" y="6947"/>
                    <a:pt x="7362" y="5842"/>
                    <a:pt x="8907" y="5842"/>
                  </a:cubicBezTo>
                  <a:lnTo>
                    <a:pt x="9725" y="5842"/>
                  </a:lnTo>
                  <a:cubicBezTo>
                    <a:pt x="11269" y="5842"/>
                    <a:pt x="12520" y="6947"/>
                    <a:pt x="12520" y="8310"/>
                  </a:cubicBezTo>
                  <a:lnTo>
                    <a:pt x="9725" y="8310"/>
                  </a:lnTo>
                  <a:close/>
                </a:path>
              </a:pathLst>
            </a:custGeom>
            <a:solidFill>
              <a:srgbClr val="333399"/>
            </a:solidFill>
            <a:ln w="9525" algn="ctr">
              <a:solidFill>
                <a:schemeClr val="tx1"/>
              </a:solidFill>
              <a:miter lim="800000"/>
              <a:headEnd/>
              <a:tailEnd/>
            </a:ln>
          </p:spPr>
          <p:txBody>
            <a:bodyPr wrap="none" anchor="ctr"/>
            <a:lstStyle/>
            <a:p>
              <a:endParaRPr lang="en-US"/>
            </a:p>
          </p:txBody>
        </p:sp>
        <p:sp>
          <p:nvSpPr>
            <p:cNvPr id="50197" name="AutoShape 41"/>
            <p:cNvSpPr>
              <a:spLocks noChangeArrowheads="1"/>
            </p:cNvSpPr>
            <p:nvPr/>
          </p:nvSpPr>
          <p:spPr bwMode="auto">
            <a:xfrm>
              <a:off x="1248" y="2706"/>
              <a:ext cx="264" cy="168"/>
            </a:xfrm>
            <a:prstGeom prst="upDownArrow">
              <a:avLst>
                <a:gd name="adj1" fmla="val 50000"/>
                <a:gd name="adj2" fmla="val 20000"/>
              </a:avLst>
            </a:prstGeom>
            <a:solidFill>
              <a:srgbClr val="333399"/>
            </a:solidFill>
            <a:ln w="9525" algn="ctr">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0198" name="Rectangle 42"/>
            <p:cNvSpPr>
              <a:spLocks noChangeArrowheads="1"/>
            </p:cNvSpPr>
            <p:nvPr/>
          </p:nvSpPr>
          <p:spPr bwMode="auto">
            <a:xfrm>
              <a:off x="1278" y="2268"/>
              <a:ext cx="258" cy="258"/>
            </a:xfrm>
            <a:prstGeom prst="rect">
              <a:avLst/>
            </a:prstGeom>
            <a:solidFill>
              <a:srgbClr val="333399"/>
            </a:solidFill>
            <a:ln w="9525" algn="ctr">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0199" name="AutoShape 43"/>
            <p:cNvSpPr>
              <a:spLocks noChangeArrowheads="1"/>
            </p:cNvSpPr>
            <p:nvPr/>
          </p:nvSpPr>
          <p:spPr bwMode="auto">
            <a:xfrm>
              <a:off x="304" y="2908"/>
              <a:ext cx="450" cy="246"/>
            </a:xfrm>
            <a:prstGeom prst="leftArrow">
              <a:avLst>
                <a:gd name="adj1" fmla="val 50000"/>
                <a:gd name="adj2" fmla="val 45732"/>
              </a:avLst>
            </a:prstGeom>
            <a:solidFill>
              <a:srgbClr val="333399"/>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0200" name="AutoShape 44"/>
            <p:cNvSpPr>
              <a:spLocks noChangeArrowheads="1"/>
            </p:cNvSpPr>
            <p:nvPr/>
          </p:nvSpPr>
          <p:spPr bwMode="auto">
            <a:xfrm>
              <a:off x="2160" y="2880"/>
              <a:ext cx="450" cy="246"/>
            </a:xfrm>
            <a:prstGeom prst="leftArrow">
              <a:avLst>
                <a:gd name="adj1" fmla="val 50000"/>
                <a:gd name="adj2" fmla="val 45732"/>
              </a:avLst>
            </a:prstGeom>
            <a:solidFill>
              <a:srgbClr val="333399"/>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nvGrpSpPr>
            <p:cNvPr id="50201" name="Group 45"/>
            <p:cNvGrpSpPr>
              <a:grpSpLocks/>
            </p:cNvGrpSpPr>
            <p:nvPr/>
          </p:nvGrpSpPr>
          <p:grpSpPr bwMode="auto">
            <a:xfrm>
              <a:off x="732" y="1686"/>
              <a:ext cx="210" cy="1908"/>
              <a:chOff x="732" y="1686"/>
              <a:chExt cx="210" cy="1908"/>
            </a:xfrm>
          </p:grpSpPr>
          <p:sp>
            <p:nvSpPr>
              <p:cNvPr id="50202" name="Rectangle 46"/>
              <p:cNvSpPr>
                <a:spLocks noChangeArrowheads="1"/>
              </p:cNvSpPr>
              <p:nvPr/>
            </p:nvSpPr>
            <p:spPr bwMode="auto">
              <a:xfrm>
                <a:off x="876" y="1848"/>
                <a:ext cx="60" cy="1734"/>
              </a:xfrm>
              <a:prstGeom prst="rect">
                <a:avLst/>
              </a:prstGeom>
              <a:solidFill>
                <a:schemeClr val="bg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0203" name="Rectangle 47" descr="Dark horizontal"/>
              <p:cNvSpPr>
                <a:spLocks noChangeArrowheads="1"/>
              </p:cNvSpPr>
              <p:nvPr/>
            </p:nvSpPr>
            <p:spPr bwMode="auto">
              <a:xfrm>
                <a:off x="876" y="3006"/>
                <a:ext cx="60" cy="588"/>
              </a:xfrm>
              <a:prstGeom prst="rect">
                <a:avLst/>
              </a:prstGeom>
              <a:pattFill prst="dkHorz">
                <a:fgClr>
                  <a:srgbClr val="777777"/>
                </a:fgClr>
                <a:bgClr>
                  <a:schemeClr val="bg1"/>
                </a:bgClr>
              </a:patt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0204" name="AutoShape 48"/>
              <p:cNvSpPr>
                <a:spLocks noChangeArrowheads="1"/>
              </p:cNvSpPr>
              <p:nvPr/>
            </p:nvSpPr>
            <p:spPr bwMode="auto">
              <a:xfrm flipH="1">
                <a:off x="732" y="1686"/>
                <a:ext cx="210" cy="174"/>
              </a:xfrm>
              <a:custGeom>
                <a:avLst/>
                <a:gdLst>
                  <a:gd name="T0" fmla="*/ 147 w 21600"/>
                  <a:gd name="T1" fmla="*/ 0 h 21600"/>
                  <a:gd name="T2" fmla="*/ 147 w 21600"/>
                  <a:gd name="T3" fmla="*/ 98 h 21600"/>
                  <a:gd name="T4" fmla="*/ 31 w 21600"/>
                  <a:gd name="T5" fmla="*/ 174 h 21600"/>
                  <a:gd name="T6" fmla="*/ 210 w 21600"/>
                  <a:gd name="T7" fmla="*/ 49 h 21600"/>
                  <a:gd name="T8" fmla="*/ 17694720 60000 65536"/>
                  <a:gd name="T9" fmla="*/ 5898240 60000 65536"/>
                  <a:gd name="T10" fmla="*/ 5898240 60000 65536"/>
                  <a:gd name="T11" fmla="*/ 0 60000 65536"/>
                  <a:gd name="T12" fmla="*/ 12446 w 21600"/>
                  <a:gd name="T13" fmla="*/ 2855 h 21600"/>
                  <a:gd name="T14" fmla="*/ 18206 w 21600"/>
                  <a:gd name="T15" fmla="*/ 918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333399"/>
              </a:solidFill>
              <a:ln w="9525">
                <a:solidFill>
                  <a:schemeClr val="tx1"/>
                </a:solidFill>
                <a:miter lim="800000"/>
                <a:headEnd/>
                <a:tailEnd/>
              </a:ln>
            </p:spPr>
            <p:txBody>
              <a:bodyPr wrap="none" anchor="ctr"/>
              <a:lstStyle/>
              <a:p>
                <a:endParaRPr lang="en-US"/>
              </a:p>
            </p:txBody>
          </p:sp>
        </p:grpSp>
      </p:grpSp>
      <p:graphicFrame>
        <p:nvGraphicFramePr>
          <p:cNvPr id="50179" name="Object 49"/>
          <p:cNvGraphicFramePr>
            <a:graphicFrameLocks noGrp="1" noChangeAspect="1"/>
          </p:cNvGraphicFramePr>
          <p:nvPr>
            <p:ph idx="1"/>
          </p:nvPr>
        </p:nvGraphicFramePr>
        <p:xfrm>
          <a:off x="615950" y="2359025"/>
          <a:ext cx="5803900" cy="3851275"/>
        </p:xfrm>
        <a:graphic>
          <a:graphicData uri="http://schemas.openxmlformats.org/presentationml/2006/ole">
            <mc:AlternateContent xmlns:mc="http://schemas.openxmlformats.org/markup-compatibility/2006">
              <mc:Choice xmlns:v="urn:schemas-microsoft-com:vml" Requires="v">
                <p:oleObj spid="_x0000_s50182" r:id="rId4" imgW="5803895" imgH="3853006" progId="Excel.Chart.8">
                  <p:embed/>
                </p:oleObj>
              </mc:Choice>
              <mc:Fallback>
                <p:oleObj r:id="rId4" imgW="5803895" imgH="3853006" progId="Excel.Chart.8">
                  <p:embed/>
                  <p:pic>
                    <p:nvPicPr>
                      <p:cNvPr id="0" name="Object 49"/>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950" y="2359025"/>
                        <a:ext cx="5803900" cy="3851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180" name="Text Box 51"/>
          <p:cNvSpPr txBox="1">
            <a:spLocks noChangeArrowheads="1"/>
          </p:cNvSpPr>
          <p:nvPr/>
        </p:nvSpPr>
        <p:spPr bwMode="auto">
          <a:xfrm>
            <a:off x="438150" y="1319213"/>
            <a:ext cx="5781675" cy="365125"/>
          </a:xfrm>
          <a:prstGeom prst="rect">
            <a:avLst/>
          </a:prstGeom>
          <a:noFill/>
          <a:ln w="9525">
            <a:noFill/>
            <a:miter lim="800000"/>
            <a:headEnd/>
            <a:tailEnd/>
          </a:ln>
        </p:spPr>
        <p:txBody>
          <a:bodyPr lIns="0" tIns="0" rIns="0" bIns="0">
            <a:spAutoFit/>
          </a:bodyPr>
          <a:lstStyle/>
          <a:p>
            <a:pPr>
              <a:spcBef>
                <a:spcPct val="50000"/>
              </a:spcBef>
            </a:pPr>
            <a:r>
              <a:rPr lang="en-AU" sz="2400" i="0">
                <a:solidFill>
                  <a:schemeClr val="tx1"/>
                </a:solidFill>
              </a:rPr>
              <a:t>Cumulative rainfall residual</a:t>
            </a:r>
          </a:p>
        </p:txBody>
      </p:sp>
      <p:sp>
        <p:nvSpPr>
          <p:cNvPr id="50181" name="Text Box 56"/>
          <p:cNvSpPr txBox="1">
            <a:spLocks noChangeArrowheads="1"/>
          </p:cNvSpPr>
          <p:nvPr/>
        </p:nvSpPr>
        <p:spPr bwMode="auto">
          <a:xfrm>
            <a:off x="3995738" y="5357813"/>
            <a:ext cx="635000" cy="549275"/>
          </a:xfrm>
          <a:prstGeom prst="rect">
            <a:avLst/>
          </a:prstGeom>
          <a:noFill/>
          <a:ln w="9525">
            <a:noFill/>
            <a:miter lim="800000"/>
            <a:headEnd/>
            <a:tailEnd/>
          </a:ln>
        </p:spPr>
        <p:txBody>
          <a:bodyPr wrap="none" lIns="0" tIns="0" rIns="0" bIns="0">
            <a:spAutoFit/>
          </a:bodyPr>
          <a:lstStyle/>
          <a:p>
            <a:pPr algn="ctr"/>
            <a:r>
              <a:rPr lang="en-AU" i="0">
                <a:solidFill>
                  <a:schemeClr val="tx1"/>
                </a:solidFill>
              </a:rPr>
              <a:t>Rising</a:t>
            </a:r>
          </a:p>
          <a:p>
            <a:pPr algn="ctr"/>
            <a:r>
              <a:rPr lang="en-AU" i="0">
                <a:solidFill>
                  <a:schemeClr val="tx1"/>
                </a:solidFill>
              </a:rPr>
              <a:t>trend</a:t>
            </a:r>
          </a:p>
        </p:txBody>
      </p:sp>
      <p:sp>
        <p:nvSpPr>
          <p:cNvPr id="50182" name="Text Box 57"/>
          <p:cNvSpPr txBox="1">
            <a:spLocks noChangeArrowheads="1"/>
          </p:cNvSpPr>
          <p:nvPr/>
        </p:nvSpPr>
        <p:spPr bwMode="auto">
          <a:xfrm>
            <a:off x="5221288" y="5376863"/>
            <a:ext cx="673100" cy="549275"/>
          </a:xfrm>
          <a:prstGeom prst="rect">
            <a:avLst/>
          </a:prstGeom>
          <a:noFill/>
          <a:ln w="9525">
            <a:noFill/>
            <a:miter lim="800000"/>
            <a:headEnd/>
            <a:tailEnd/>
          </a:ln>
        </p:spPr>
        <p:txBody>
          <a:bodyPr wrap="none" lIns="0" tIns="0" rIns="0" bIns="0">
            <a:spAutoFit/>
          </a:bodyPr>
          <a:lstStyle/>
          <a:p>
            <a:pPr algn="ctr"/>
            <a:r>
              <a:rPr lang="en-AU" i="0">
                <a:solidFill>
                  <a:schemeClr val="tx1"/>
                </a:solidFill>
              </a:rPr>
              <a:t>Falling</a:t>
            </a:r>
          </a:p>
          <a:p>
            <a:pPr algn="ctr"/>
            <a:r>
              <a:rPr lang="en-AU" i="0">
                <a:solidFill>
                  <a:schemeClr val="tx1"/>
                </a:solidFill>
              </a:rPr>
              <a:t>trend</a:t>
            </a:r>
          </a:p>
        </p:txBody>
      </p:sp>
      <p:sp>
        <p:nvSpPr>
          <p:cNvPr id="50183" name="Line 58"/>
          <p:cNvSpPr>
            <a:spLocks noChangeShapeType="1"/>
          </p:cNvSpPr>
          <p:nvPr/>
        </p:nvSpPr>
        <p:spPr bwMode="auto">
          <a:xfrm>
            <a:off x="1778000" y="2897188"/>
            <a:ext cx="9525" cy="3009900"/>
          </a:xfrm>
          <a:prstGeom prst="line">
            <a:avLst/>
          </a:prstGeom>
          <a:noFill/>
          <a:ln w="19050">
            <a:solidFill>
              <a:srgbClr val="5F5F5F"/>
            </a:solidFill>
            <a:prstDash val="sysDot"/>
            <a:round/>
            <a:headEnd/>
            <a:tailEnd/>
          </a:ln>
        </p:spPr>
        <p:txBody>
          <a:bodyPr/>
          <a:lstStyle/>
          <a:p>
            <a:endParaRPr lang="en-US"/>
          </a:p>
        </p:txBody>
      </p:sp>
      <p:sp>
        <p:nvSpPr>
          <p:cNvPr id="50184" name="Line 59"/>
          <p:cNvSpPr>
            <a:spLocks noChangeShapeType="1"/>
          </p:cNvSpPr>
          <p:nvPr/>
        </p:nvSpPr>
        <p:spPr bwMode="auto">
          <a:xfrm>
            <a:off x="3717925" y="2865438"/>
            <a:ext cx="9525" cy="3008312"/>
          </a:xfrm>
          <a:prstGeom prst="line">
            <a:avLst/>
          </a:prstGeom>
          <a:noFill/>
          <a:ln w="19050">
            <a:solidFill>
              <a:srgbClr val="5F5F5F"/>
            </a:solidFill>
            <a:prstDash val="sysDot"/>
            <a:round/>
            <a:headEnd/>
            <a:tailEnd/>
          </a:ln>
        </p:spPr>
        <p:txBody>
          <a:bodyPr/>
          <a:lstStyle/>
          <a:p>
            <a:endParaRPr lang="en-US"/>
          </a:p>
        </p:txBody>
      </p:sp>
      <p:sp>
        <p:nvSpPr>
          <p:cNvPr id="50185" name="Line 60"/>
          <p:cNvSpPr>
            <a:spLocks noChangeShapeType="1"/>
          </p:cNvSpPr>
          <p:nvPr/>
        </p:nvSpPr>
        <p:spPr bwMode="auto">
          <a:xfrm>
            <a:off x="4924425" y="2857500"/>
            <a:ext cx="9525" cy="3008313"/>
          </a:xfrm>
          <a:prstGeom prst="line">
            <a:avLst/>
          </a:prstGeom>
          <a:noFill/>
          <a:ln w="19050">
            <a:solidFill>
              <a:srgbClr val="5F5F5F"/>
            </a:solidFill>
            <a:prstDash val="sysDot"/>
            <a:round/>
            <a:headEnd/>
            <a:tailEnd/>
          </a:ln>
        </p:spPr>
        <p:txBody>
          <a:bodyPr/>
          <a:lstStyle/>
          <a:p>
            <a:endParaRPr lang="en-US"/>
          </a:p>
        </p:txBody>
      </p:sp>
      <p:sp>
        <p:nvSpPr>
          <p:cNvPr id="50186" name="Text Box 65"/>
          <p:cNvSpPr txBox="1">
            <a:spLocks noChangeArrowheads="1"/>
          </p:cNvSpPr>
          <p:nvPr/>
        </p:nvSpPr>
        <p:spPr bwMode="auto">
          <a:xfrm>
            <a:off x="2424113" y="5376863"/>
            <a:ext cx="673100" cy="549275"/>
          </a:xfrm>
          <a:prstGeom prst="rect">
            <a:avLst/>
          </a:prstGeom>
          <a:noFill/>
          <a:ln w="9525">
            <a:noFill/>
            <a:miter lim="800000"/>
            <a:headEnd/>
            <a:tailEnd/>
          </a:ln>
        </p:spPr>
        <p:txBody>
          <a:bodyPr wrap="none" lIns="0" tIns="0" rIns="0" bIns="0">
            <a:spAutoFit/>
          </a:bodyPr>
          <a:lstStyle/>
          <a:p>
            <a:pPr algn="ctr"/>
            <a:r>
              <a:rPr lang="en-AU" i="0">
                <a:solidFill>
                  <a:schemeClr val="tx1"/>
                </a:solidFill>
              </a:rPr>
              <a:t>Falling</a:t>
            </a:r>
          </a:p>
          <a:p>
            <a:pPr algn="ctr"/>
            <a:r>
              <a:rPr lang="en-AU" i="0">
                <a:solidFill>
                  <a:schemeClr val="tx1"/>
                </a:solidFill>
              </a:rPr>
              <a:t>trend</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5" name="Picture 3"/>
          <p:cNvPicPr>
            <a:picLocks noChangeArrowheads="1"/>
          </p:cNvPicPr>
          <p:nvPr/>
        </p:nvPicPr>
        <p:blipFill>
          <a:blip r:embed="rId3"/>
          <a:srcRect/>
          <a:stretch>
            <a:fillRect/>
          </a:stretch>
        </p:blipFill>
        <p:spPr bwMode="auto">
          <a:xfrm>
            <a:off x="165100" y="1776413"/>
            <a:ext cx="8737600" cy="4913312"/>
          </a:xfrm>
          <a:prstGeom prst="rect">
            <a:avLst/>
          </a:prstGeom>
          <a:noFill/>
          <a:ln w="9525">
            <a:noFill/>
            <a:miter lim="800000"/>
            <a:headEnd/>
            <a:tailEnd/>
          </a:ln>
        </p:spPr>
      </p:pic>
      <p:sp>
        <p:nvSpPr>
          <p:cNvPr id="52226" name="Rectangle 2"/>
          <p:cNvSpPr>
            <a:spLocks noGrp="1" noChangeArrowheads="1"/>
          </p:cNvSpPr>
          <p:nvPr>
            <p:ph type="title"/>
          </p:nvPr>
        </p:nvSpPr>
        <p:spPr>
          <a:xfrm>
            <a:off x="438150" y="798513"/>
            <a:ext cx="6022975" cy="987425"/>
          </a:xfrm>
        </p:spPr>
        <p:txBody>
          <a:bodyPr/>
          <a:lstStyle/>
          <a:p>
            <a:r>
              <a:rPr lang="en-AU" smtClean="0"/>
              <a:t>Ability to predict what is climate change</a:t>
            </a:r>
            <a:endParaRPr lang="en-US"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a:xfrm>
            <a:off x="438150" y="806450"/>
            <a:ext cx="6459538" cy="493713"/>
          </a:xfrm>
        </p:spPr>
        <p:txBody>
          <a:bodyPr/>
          <a:lstStyle/>
          <a:p>
            <a:r>
              <a:rPr lang="en-AU" smtClean="0"/>
              <a:t>Landuse impacts on recharge</a:t>
            </a:r>
            <a:endParaRPr lang="en-US" smtClean="0"/>
          </a:p>
        </p:txBody>
      </p:sp>
      <p:pic>
        <p:nvPicPr>
          <p:cNvPr id="54274" name="Picture 3"/>
          <p:cNvPicPr>
            <a:picLocks noChangeAspect="1" noChangeArrowheads="1"/>
          </p:cNvPicPr>
          <p:nvPr/>
        </p:nvPicPr>
        <p:blipFill>
          <a:blip r:embed="rId3"/>
          <a:srcRect/>
          <a:stretch>
            <a:fillRect/>
          </a:stretch>
        </p:blipFill>
        <p:spPr bwMode="auto">
          <a:xfrm>
            <a:off x="196850" y="1562100"/>
            <a:ext cx="8775700" cy="5257800"/>
          </a:xfrm>
          <a:prstGeom prst="rect">
            <a:avLst/>
          </a:prstGeom>
          <a:noFill/>
          <a:ln w="9525">
            <a:noFill/>
            <a:miter lim="800000"/>
            <a:headEnd/>
            <a:tailEnd/>
          </a:ln>
        </p:spPr>
      </p:pic>
      <p:graphicFrame>
        <p:nvGraphicFramePr>
          <p:cNvPr id="87114" name="Group 74"/>
          <p:cNvGraphicFramePr>
            <a:graphicFrameLocks noGrp="1"/>
          </p:cNvGraphicFramePr>
          <p:nvPr>
            <p:ph idx="1"/>
          </p:nvPr>
        </p:nvGraphicFramePr>
        <p:xfrm>
          <a:off x="2813050" y="2076450"/>
          <a:ext cx="6324600" cy="1371600"/>
        </p:xfrm>
        <a:graphic>
          <a:graphicData uri="http://schemas.openxmlformats.org/drawingml/2006/table">
            <a:tbl>
              <a:tblPr/>
              <a:tblGrid>
                <a:gridCol w="655638"/>
                <a:gridCol w="5668962"/>
              </a:tblGrid>
              <a:tr h="206375">
                <a:tc>
                  <a:txBody>
                    <a:body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itchFamily="18" charset="0"/>
                        <a:buNone/>
                        <a:tabLst/>
                      </a:pPr>
                      <a:r>
                        <a:rPr kumimoji="0" lang="en-AU" sz="900" b="1" i="0" u="none" strike="noStrike" cap="none" normalizeH="0" baseline="0" smtClean="0">
                          <a:ln>
                            <a:noFill/>
                          </a:ln>
                          <a:solidFill>
                            <a:srgbClr val="000000"/>
                          </a:solidFill>
                          <a:effectLst/>
                          <a:latin typeface="Arial" charset="0"/>
                          <a:cs typeface="Times New Roman" pitchFamily="18" charset="0"/>
                        </a:rPr>
                        <a:t>1</a:t>
                      </a:r>
                      <a:endParaRPr kumimoji="0" lang="en-AU" sz="900" b="0" i="0" u="none" strike="noStrike" cap="none" normalizeH="0" baseline="0" smtClean="0">
                        <a:ln>
                          <a:noFill/>
                        </a:ln>
                        <a:solidFill>
                          <a:srgbClr val="000000"/>
                        </a:solidFill>
                        <a:effectLst/>
                        <a:latin typeface="Arial" charset="0"/>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449263" rtl="0" eaLnBrk="0" fontAlgn="base" latinLnBrk="0" hangingPunct="0">
                        <a:lnSpc>
                          <a:spcPct val="100000"/>
                        </a:lnSpc>
                        <a:spcBef>
                          <a:spcPct val="0"/>
                        </a:spcBef>
                        <a:spcAft>
                          <a:spcPct val="0"/>
                        </a:spcAft>
                        <a:buClr>
                          <a:srgbClr val="000000"/>
                        </a:buClr>
                        <a:buSzPct val="100000"/>
                        <a:buFont typeface="Times New Roman" pitchFamily="18" charset="0"/>
                        <a:buNone/>
                        <a:tabLst/>
                      </a:pPr>
                      <a:r>
                        <a:rPr kumimoji="0" lang="en-AU" sz="900" b="1" i="0" u="none" strike="noStrike" cap="none" normalizeH="0" baseline="0" smtClean="0">
                          <a:ln>
                            <a:noFill/>
                          </a:ln>
                          <a:solidFill>
                            <a:srgbClr val="000000"/>
                          </a:solidFill>
                          <a:effectLst/>
                          <a:latin typeface="Arial" charset="0"/>
                          <a:cs typeface="Times New Roman" pitchFamily="18" charset="0"/>
                        </a:rPr>
                        <a:t>Sandy Loam, Light Clay over Fractured Rock; Basalt, Rhyolite, Rhyodacite, Ignimbrite</a:t>
                      </a:r>
                      <a:endParaRPr kumimoji="0" lang="en-AU" sz="900" b="0" i="0" u="none" strike="noStrike" cap="none" normalizeH="0" baseline="0" smtClean="0">
                        <a:ln>
                          <a:noFill/>
                        </a:ln>
                        <a:solidFill>
                          <a:srgbClr val="000000"/>
                        </a:solidFill>
                        <a:effectLst/>
                        <a:latin typeface="Arial" charset="0"/>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cap="flat">
                      <a:noFill/>
                    </a:lnR>
                    <a:lnT cap="flat">
                      <a:noFill/>
                    </a:lnT>
                    <a:lnB>
                      <a:noFill/>
                    </a:lnB>
                    <a:lnTlToBr>
                      <a:noFill/>
                    </a:lnTlToBr>
                    <a:lnBlToTr>
                      <a:noFill/>
                    </a:lnBlToTr>
                    <a:noFill/>
                  </a:tcPr>
                </a:tc>
              </a:tr>
              <a:tr h="193675">
                <a:tc>
                  <a:txBody>
                    <a:body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itchFamily="18" charset="0"/>
                        <a:buNone/>
                        <a:tabLst/>
                      </a:pPr>
                      <a:r>
                        <a:rPr kumimoji="0" lang="en-AU" sz="900" b="1" i="0" u="none" strike="noStrike" cap="none" normalizeH="0" baseline="0" smtClean="0">
                          <a:ln>
                            <a:noFill/>
                          </a:ln>
                          <a:solidFill>
                            <a:srgbClr val="000000"/>
                          </a:solidFill>
                          <a:effectLst/>
                          <a:latin typeface="Arial" charset="0"/>
                          <a:cs typeface="Times New Roman" pitchFamily="18" charset="0"/>
                        </a:rPr>
                        <a:t>2</a:t>
                      </a:r>
                      <a:endParaRPr kumimoji="0" lang="en-AU" sz="900" b="0" i="0" u="none" strike="noStrike" cap="none" normalizeH="0" baseline="0" smtClean="0">
                        <a:ln>
                          <a:noFill/>
                        </a:ln>
                        <a:solidFill>
                          <a:srgbClr val="000000"/>
                        </a:solidFill>
                        <a:effectLst/>
                        <a:latin typeface="Arial" charset="0"/>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449263" rtl="0" eaLnBrk="0" fontAlgn="base" latinLnBrk="0" hangingPunct="0">
                        <a:lnSpc>
                          <a:spcPct val="100000"/>
                        </a:lnSpc>
                        <a:spcBef>
                          <a:spcPct val="0"/>
                        </a:spcBef>
                        <a:spcAft>
                          <a:spcPct val="0"/>
                        </a:spcAft>
                        <a:buClr>
                          <a:srgbClr val="000000"/>
                        </a:buClr>
                        <a:buSzPct val="100000"/>
                        <a:buFont typeface="Times New Roman" pitchFamily="18" charset="0"/>
                        <a:buNone/>
                        <a:tabLst/>
                      </a:pPr>
                      <a:r>
                        <a:rPr kumimoji="0" lang="en-AU" sz="900" b="1" i="0" u="none" strike="noStrike" cap="none" normalizeH="0" baseline="0" smtClean="0">
                          <a:ln>
                            <a:noFill/>
                          </a:ln>
                          <a:solidFill>
                            <a:srgbClr val="000000"/>
                          </a:solidFill>
                          <a:effectLst/>
                          <a:latin typeface="Arial" charset="0"/>
                          <a:cs typeface="Times New Roman" pitchFamily="18" charset="0"/>
                        </a:rPr>
                        <a:t>Loam over Fractured Rock</a:t>
                      </a:r>
                      <a:endParaRPr kumimoji="0" lang="en-AU" sz="900" b="0" i="0" u="none" strike="noStrike" cap="none" normalizeH="0" baseline="0" smtClean="0">
                        <a:ln>
                          <a:noFill/>
                        </a:ln>
                        <a:solidFill>
                          <a:srgbClr val="000000"/>
                        </a:solidFill>
                        <a:effectLst/>
                        <a:latin typeface="Arial" charset="0"/>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193675">
                <a:tc>
                  <a:txBody>
                    <a:body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itchFamily="18" charset="0"/>
                        <a:buNone/>
                        <a:tabLst/>
                      </a:pPr>
                      <a:r>
                        <a:rPr kumimoji="0" lang="en-AU" sz="900" b="1" i="0" u="none" strike="noStrike" cap="none" normalizeH="0" baseline="0" smtClean="0">
                          <a:ln>
                            <a:noFill/>
                          </a:ln>
                          <a:solidFill>
                            <a:srgbClr val="000000"/>
                          </a:solidFill>
                          <a:effectLst/>
                          <a:latin typeface="Arial" charset="0"/>
                          <a:cs typeface="Times New Roman" pitchFamily="18" charset="0"/>
                        </a:rPr>
                        <a:t>3</a:t>
                      </a:r>
                      <a:endParaRPr kumimoji="0" lang="en-AU" sz="900" b="0" i="0" u="none" strike="noStrike" cap="none" normalizeH="0" baseline="0" smtClean="0">
                        <a:ln>
                          <a:noFill/>
                        </a:ln>
                        <a:solidFill>
                          <a:srgbClr val="000000"/>
                        </a:solidFill>
                        <a:effectLst/>
                        <a:latin typeface="Arial" charset="0"/>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449263" rtl="0" eaLnBrk="0" fontAlgn="base" latinLnBrk="0" hangingPunct="0">
                        <a:lnSpc>
                          <a:spcPct val="100000"/>
                        </a:lnSpc>
                        <a:spcBef>
                          <a:spcPct val="0"/>
                        </a:spcBef>
                        <a:spcAft>
                          <a:spcPct val="0"/>
                        </a:spcAft>
                        <a:buClr>
                          <a:srgbClr val="000000"/>
                        </a:buClr>
                        <a:buSzPct val="100000"/>
                        <a:buFont typeface="Times New Roman" pitchFamily="18" charset="0"/>
                        <a:buNone/>
                        <a:tabLst/>
                      </a:pPr>
                      <a:r>
                        <a:rPr kumimoji="0" lang="en-AU" sz="900" b="1" i="0" u="none" strike="noStrike" cap="none" normalizeH="0" baseline="0" smtClean="0">
                          <a:ln>
                            <a:noFill/>
                          </a:ln>
                          <a:solidFill>
                            <a:srgbClr val="000000"/>
                          </a:solidFill>
                          <a:effectLst/>
                          <a:latin typeface="Arial" charset="0"/>
                          <a:cs typeface="Times New Roman" pitchFamily="18" charset="0"/>
                        </a:rPr>
                        <a:t>Sandy Loam, Light Clay over Sedimentary; Silt, Alluvium</a:t>
                      </a:r>
                      <a:endParaRPr kumimoji="0" lang="en-AU" sz="900" b="0" i="0" u="none" strike="noStrike" cap="none" normalizeH="0" baseline="0" smtClean="0">
                        <a:ln>
                          <a:noFill/>
                        </a:ln>
                        <a:solidFill>
                          <a:srgbClr val="000000"/>
                        </a:solidFill>
                        <a:effectLst/>
                        <a:latin typeface="Arial" charset="0"/>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192088">
                <a:tc>
                  <a:txBody>
                    <a:body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itchFamily="18" charset="0"/>
                        <a:buNone/>
                        <a:tabLst/>
                      </a:pPr>
                      <a:r>
                        <a:rPr kumimoji="0" lang="en-AU" sz="900" b="1" i="0" u="none" strike="noStrike" cap="none" normalizeH="0" baseline="0" smtClean="0">
                          <a:ln>
                            <a:noFill/>
                          </a:ln>
                          <a:solidFill>
                            <a:srgbClr val="000000"/>
                          </a:solidFill>
                          <a:effectLst/>
                          <a:latin typeface="Arial" charset="0"/>
                          <a:cs typeface="Times New Roman" pitchFamily="18" charset="0"/>
                        </a:rPr>
                        <a:t>4</a:t>
                      </a:r>
                      <a:endParaRPr kumimoji="0" lang="en-AU" sz="900" b="0" i="0" u="none" strike="noStrike" cap="none" normalizeH="0" baseline="0" smtClean="0">
                        <a:ln>
                          <a:noFill/>
                        </a:ln>
                        <a:solidFill>
                          <a:srgbClr val="000000"/>
                        </a:solidFill>
                        <a:effectLst/>
                        <a:latin typeface="Arial" charset="0"/>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449263" rtl="0" eaLnBrk="0" fontAlgn="base" latinLnBrk="0" hangingPunct="0">
                        <a:lnSpc>
                          <a:spcPct val="100000"/>
                        </a:lnSpc>
                        <a:spcBef>
                          <a:spcPct val="0"/>
                        </a:spcBef>
                        <a:spcAft>
                          <a:spcPct val="0"/>
                        </a:spcAft>
                        <a:buClr>
                          <a:srgbClr val="000000"/>
                        </a:buClr>
                        <a:buSzPct val="100000"/>
                        <a:buFont typeface="Times New Roman" pitchFamily="18" charset="0"/>
                        <a:buNone/>
                        <a:tabLst/>
                      </a:pPr>
                      <a:r>
                        <a:rPr kumimoji="0" lang="en-AU" sz="900" b="1" i="0" u="none" strike="noStrike" cap="none" normalizeH="0" baseline="0" smtClean="0">
                          <a:ln>
                            <a:noFill/>
                          </a:ln>
                          <a:solidFill>
                            <a:srgbClr val="000000"/>
                          </a:solidFill>
                          <a:effectLst/>
                          <a:latin typeface="Arial" charset="0"/>
                          <a:cs typeface="Times New Roman" pitchFamily="18" charset="0"/>
                        </a:rPr>
                        <a:t>Loamy Sand, Medium Clay over Sedimentary; Silt, Alluvium</a:t>
                      </a:r>
                      <a:endParaRPr kumimoji="0" lang="en-AU" sz="900" b="0" i="0" u="none" strike="noStrike" cap="none" normalizeH="0" baseline="0" smtClean="0">
                        <a:ln>
                          <a:noFill/>
                        </a:ln>
                        <a:solidFill>
                          <a:srgbClr val="000000"/>
                        </a:solidFill>
                        <a:effectLst/>
                        <a:latin typeface="Arial" charset="0"/>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193675">
                <a:tc>
                  <a:txBody>
                    <a:body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itchFamily="18" charset="0"/>
                        <a:buNone/>
                        <a:tabLst/>
                      </a:pPr>
                      <a:r>
                        <a:rPr kumimoji="0" lang="en-AU" sz="900" b="1" i="0" u="none" strike="noStrike" cap="none" normalizeH="0" baseline="0" smtClean="0">
                          <a:ln>
                            <a:noFill/>
                          </a:ln>
                          <a:solidFill>
                            <a:srgbClr val="000000"/>
                          </a:solidFill>
                          <a:effectLst/>
                          <a:latin typeface="Arial" charset="0"/>
                          <a:cs typeface="Times New Roman" pitchFamily="18" charset="0"/>
                        </a:rPr>
                        <a:t>5</a:t>
                      </a:r>
                      <a:endParaRPr kumimoji="0" lang="en-AU" sz="900" b="0" i="0" u="none" strike="noStrike" cap="none" normalizeH="0" baseline="0" smtClean="0">
                        <a:ln>
                          <a:noFill/>
                        </a:ln>
                        <a:solidFill>
                          <a:srgbClr val="000000"/>
                        </a:solidFill>
                        <a:effectLst/>
                        <a:latin typeface="Arial" charset="0"/>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449263" rtl="0" eaLnBrk="0" fontAlgn="base" latinLnBrk="0" hangingPunct="0">
                        <a:lnSpc>
                          <a:spcPct val="100000"/>
                        </a:lnSpc>
                        <a:spcBef>
                          <a:spcPct val="0"/>
                        </a:spcBef>
                        <a:spcAft>
                          <a:spcPct val="0"/>
                        </a:spcAft>
                        <a:buClr>
                          <a:srgbClr val="000000"/>
                        </a:buClr>
                        <a:buSzPct val="100000"/>
                        <a:buFont typeface="Times New Roman" pitchFamily="18" charset="0"/>
                        <a:buNone/>
                        <a:tabLst/>
                      </a:pPr>
                      <a:r>
                        <a:rPr kumimoji="0" lang="en-AU" sz="900" b="1" i="0" u="none" strike="noStrike" cap="none" normalizeH="0" baseline="0" smtClean="0">
                          <a:ln>
                            <a:noFill/>
                          </a:ln>
                          <a:solidFill>
                            <a:srgbClr val="000000"/>
                          </a:solidFill>
                          <a:effectLst/>
                          <a:latin typeface="Arial" charset="0"/>
                          <a:cs typeface="Times New Roman" pitchFamily="18" charset="0"/>
                        </a:rPr>
                        <a:t>Loamy Sand, Medium Clay over Sedimentary; Sand</a:t>
                      </a:r>
                      <a:endParaRPr kumimoji="0" lang="en-AU" sz="900" b="0" i="0" u="none" strike="noStrike" cap="none" normalizeH="0" baseline="0" smtClean="0">
                        <a:ln>
                          <a:noFill/>
                        </a:ln>
                        <a:solidFill>
                          <a:srgbClr val="000000"/>
                        </a:solidFill>
                        <a:effectLst/>
                        <a:latin typeface="Arial" charset="0"/>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tr>
              <a:tr h="206375">
                <a:tc>
                  <a:txBody>
                    <a:bodyPr/>
                    <a:lstStyle/>
                    <a:p>
                      <a:pPr marL="0" marR="0" lvl="0" indent="0" algn="r" defTabSz="449263" rtl="0" eaLnBrk="0" fontAlgn="base" latinLnBrk="0" hangingPunct="0">
                        <a:lnSpc>
                          <a:spcPct val="100000"/>
                        </a:lnSpc>
                        <a:spcBef>
                          <a:spcPct val="0"/>
                        </a:spcBef>
                        <a:spcAft>
                          <a:spcPct val="0"/>
                        </a:spcAft>
                        <a:buClr>
                          <a:srgbClr val="000000"/>
                        </a:buClr>
                        <a:buSzPct val="100000"/>
                        <a:buFont typeface="Times New Roman" pitchFamily="18" charset="0"/>
                        <a:buNone/>
                        <a:tabLst/>
                      </a:pPr>
                      <a:r>
                        <a:rPr kumimoji="0" lang="en-AU" sz="900" b="1" i="0" u="none" strike="noStrike" cap="none" normalizeH="0" baseline="0" smtClean="0">
                          <a:ln>
                            <a:noFill/>
                          </a:ln>
                          <a:solidFill>
                            <a:srgbClr val="000000"/>
                          </a:solidFill>
                          <a:effectLst/>
                          <a:latin typeface="Arial" charset="0"/>
                          <a:cs typeface="Times New Roman" pitchFamily="18" charset="0"/>
                        </a:rPr>
                        <a:t>6</a:t>
                      </a:r>
                      <a:endParaRPr kumimoji="0" lang="en-AU" sz="900" b="0" i="0" u="none" strike="noStrike" cap="none" normalizeH="0" baseline="0" smtClean="0">
                        <a:ln>
                          <a:noFill/>
                        </a:ln>
                        <a:solidFill>
                          <a:srgbClr val="000000"/>
                        </a:solidFill>
                        <a:effectLst/>
                        <a:latin typeface="Arial" charset="0"/>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449263" rtl="0" eaLnBrk="0" fontAlgn="base" latinLnBrk="0" hangingPunct="0">
                        <a:lnSpc>
                          <a:spcPct val="100000"/>
                        </a:lnSpc>
                        <a:spcBef>
                          <a:spcPct val="0"/>
                        </a:spcBef>
                        <a:spcAft>
                          <a:spcPct val="0"/>
                        </a:spcAft>
                        <a:buClr>
                          <a:srgbClr val="000000"/>
                        </a:buClr>
                        <a:buSzPct val="100000"/>
                        <a:buFont typeface="Times New Roman" pitchFamily="18" charset="0"/>
                        <a:buNone/>
                        <a:tabLst/>
                      </a:pPr>
                      <a:r>
                        <a:rPr kumimoji="0" lang="en-AU" sz="900" b="1" i="0" u="none" strike="noStrike" cap="none" normalizeH="0" baseline="0" smtClean="0">
                          <a:ln>
                            <a:noFill/>
                          </a:ln>
                          <a:solidFill>
                            <a:srgbClr val="000000"/>
                          </a:solidFill>
                          <a:effectLst/>
                          <a:latin typeface="Arial" charset="0"/>
                          <a:cs typeface="Times New Roman" pitchFamily="18" charset="0"/>
                        </a:rPr>
                        <a:t>Sandy Loam, Light Clay over Sedimentary; Clay, Aeolian / Evaporates, Mudstone/Marl/ Laterite</a:t>
                      </a:r>
                      <a:endParaRPr kumimoji="0" lang="en-AU" sz="900" b="0" i="0" u="none" strike="noStrike" cap="none" normalizeH="0" baseline="0" smtClean="0">
                        <a:ln>
                          <a:noFill/>
                        </a:ln>
                        <a:solidFill>
                          <a:srgbClr val="000000"/>
                        </a:solidFill>
                        <a:effectLst/>
                        <a:latin typeface="Arial" charset="0"/>
                        <a:cs typeface="Times New Roman" pitchFamily="18" charset="0"/>
                      </a:endParaRPr>
                    </a:p>
                  </a:txBody>
                  <a:tcPr anchor="b" horzOverflow="overflow">
                    <a:lnL w="12700" cap="flat" cmpd="sng" algn="ctr">
                      <a:solidFill>
                        <a:srgbClr val="000000"/>
                      </a:solidFill>
                      <a:prstDash val="solid"/>
                      <a:round/>
                      <a:headEnd type="none" w="med" len="med"/>
                      <a:tailEnd type="none" w="med" len="med"/>
                    </a:lnL>
                    <a:lnR cap="flat">
                      <a:noFill/>
                    </a:lnR>
                    <a:lnT>
                      <a:noFill/>
                    </a:lnT>
                    <a:lnB cap="flat">
                      <a:noFill/>
                    </a:lnB>
                    <a:lnTlToBr>
                      <a:noFill/>
                    </a:lnTlToBr>
                    <a:lnBlToTr>
                      <a:noFill/>
                    </a:lnBlToTr>
                    <a:noFill/>
                  </a:tcPr>
                </a:tc>
              </a:tr>
            </a:tbl>
          </a:graphicData>
        </a:graphic>
      </p:graphicFrame>
      <p:grpSp>
        <p:nvGrpSpPr>
          <p:cNvPr id="54290" name="Group 22"/>
          <p:cNvGrpSpPr>
            <a:grpSpLocks/>
          </p:cNvGrpSpPr>
          <p:nvPr/>
        </p:nvGrpSpPr>
        <p:grpSpPr bwMode="auto">
          <a:xfrm>
            <a:off x="1092200" y="1209675"/>
            <a:ext cx="1812925" cy="1665288"/>
            <a:chOff x="304" y="924"/>
            <a:chExt cx="2306" cy="2723"/>
          </a:xfrm>
        </p:grpSpPr>
        <p:sp>
          <p:nvSpPr>
            <p:cNvPr id="54291" name="Line 23"/>
            <p:cNvSpPr>
              <a:spLocks noChangeShapeType="1"/>
            </p:cNvSpPr>
            <p:nvPr/>
          </p:nvSpPr>
          <p:spPr bwMode="auto">
            <a:xfrm flipV="1">
              <a:off x="756" y="2245"/>
              <a:ext cx="398" cy="542"/>
            </a:xfrm>
            <a:prstGeom prst="line">
              <a:avLst/>
            </a:prstGeom>
            <a:noFill/>
            <a:ln w="9525">
              <a:solidFill>
                <a:schemeClr val="tx1"/>
              </a:solidFill>
              <a:round/>
              <a:headEnd/>
              <a:tailEnd/>
            </a:ln>
          </p:spPr>
          <p:txBody>
            <a:bodyPr/>
            <a:lstStyle/>
            <a:p>
              <a:endParaRPr lang="en-US"/>
            </a:p>
          </p:txBody>
        </p:sp>
        <p:sp>
          <p:nvSpPr>
            <p:cNvPr id="54292" name="Freeform 24"/>
            <p:cNvSpPr>
              <a:spLocks/>
            </p:cNvSpPr>
            <p:nvPr/>
          </p:nvSpPr>
          <p:spPr bwMode="auto">
            <a:xfrm>
              <a:off x="756" y="2235"/>
              <a:ext cx="383" cy="1412"/>
            </a:xfrm>
            <a:custGeom>
              <a:avLst/>
              <a:gdLst>
                <a:gd name="T0" fmla="*/ 0 w 174"/>
                <a:gd name="T1" fmla="*/ 1412 h 827"/>
                <a:gd name="T2" fmla="*/ 0 w 174"/>
                <a:gd name="T3" fmla="*/ 560 h 827"/>
                <a:gd name="T4" fmla="*/ 383 w 174"/>
                <a:gd name="T5" fmla="*/ 0 h 827"/>
                <a:gd name="T6" fmla="*/ 361 w 174"/>
                <a:gd name="T7" fmla="*/ 871 h 827"/>
                <a:gd name="T8" fmla="*/ 0 w 174"/>
                <a:gd name="T9" fmla="*/ 1412 h 827"/>
                <a:gd name="T10" fmla="*/ 0 60000 65536"/>
                <a:gd name="T11" fmla="*/ 0 60000 65536"/>
                <a:gd name="T12" fmla="*/ 0 60000 65536"/>
                <a:gd name="T13" fmla="*/ 0 60000 65536"/>
                <a:gd name="T14" fmla="*/ 0 60000 65536"/>
                <a:gd name="T15" fmla="*/ 0 w 174"/>
                <a:gd name="T16" fmla="*/ 0 h 827"/>
                <a:gd name="T17" fmla="*/ 174 w 174"/>
                <a:gd name="T18" fmla="*/ 827 h 827"/>
              </a:gdLst>
              <a:ahLst/>
              <a:cxnLst>
                <a:cxn ang="T10">
                  <a:pos x="T0" y="T1"/>
                </a:cxn>
                <a:cxn ang="T11">
                  <a:pos x="T2" y="T3"/>
                </a:cxn>
                <a:cxn ang="T12">
                  <a:pos x="T4" y="T5"/>
                </a:cxn>
                <a:cxn ang="T13">
                  <a:pos x="T6" y="T7"/>
                </a:cxn>
                <a:cxn ang="T14">
                  <a:pos x="T8" y="T9"/>
                </a:cxn>
              </a:cxnLst>
              <a:rect l="T15" t="T16" r="T17" b="T18"/>
              <a:pathLst>
                <a:path w="174" h="827">
                  <a:moveTo>
                    <a:pt x="0" y="827"/>
                  </a:moveTo>
                  <a:lnTo>
                    <a:pt x="0" y="328"/>
                  </a:lnTo>
                  <a:lnTo>
                    <a:pt x="174" y="0"/>
                  </a:lnTo>
                  <a:lnTo>
                    <a:pt x="164" y="510"/>
                  </a:lnTo>
                  <a:lnTo>
                    <a:pt x="0" y="827"/>
                  </a:lnTo>
                  <a:close/>
                </a:path>
              </a:pathLst>
            </a:custGeom>
            <a:solidFill>
              <a:schemeClr val="accent1"/>
            </a:solidFill>
            <a:ln w="9525" cap="flat" cmpd="sng">
              <a:solidFill>
                <a:schemeClr val="tx1"/>
              </a:solidFill>
              <a:prstDash val="solid"/>
              <a:round/>
              <a:headEnd/>
              <a:tailEnd/>
            </a:ln>
          </p:spPr>
          <p:txBody>
            <a:bodyPr wrap="none" anchor="ctr"/>
            <a:lstStyle/>
            <a:p>
              <a:endParaRPr lang="en-US"/>
            </a:p>
          </p:txBody>
        </p:sp>
        <p:grpSp>
          <p:nvGrpSpPr>
            <p:cNvPr id="54293" name="Group 25"/>
            <p:cNvGrpSpPr>
              <a:grpSpLocks/>
            </p:cNvGrpSpPr>
            <p:nvPr/>
          </p:nvGrpSpPr>
          <p:grpSpPr bwMode="auto">
            <a:xfrm>
              <a:off x="756" y="2245"/>
              <a:ext cx="1596" cy="1395"/>
              <a:chOff x="4050" y="2886"/>
              <a:chExt cx="726" cy="817"/>
            </a:xfrm>
          </p:grpSpPr>
          <p:sp>
            <p:nvSpPr>
              <p:cNvPr id="54332" name="Rectangle 26"/>
              <p:cNvSpPr>
                <a:spLocks noChangeArrowheads="1"/>
              </p:cNvSpPr>
              <p:nvPr/>
            </p:nvSpPr>
            <p:spPr bwMode="auto">
              <a:xfrm>
                <a:off x="4050" y="3203"/>
                <a:ext cx="545" cy="500"/>
              </a:xfrm>
              <a:prstGeom prst="rect">
                <a:avLst/>
              </a:prstGeom>
              <a:solidFill>
                <a:srgbClr val="99CCFF"/>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4333" name="AutoShape 27"/>
              <p:cNvSpPr>
                <a:spLocks noChangeArrowheads="1"/>
              </p:cNvSpPr>
              <p:nvPr/>
            </p:nvSpPr>
            <p:spPr bwMode="auto">
              <a:xfrm>
                <a:off x="4050" y="2886"/>
                <a:ext cx="726" cy="317"/>
              </a:xfrm>
              <a:prstGeom prst="parallelogram">
                <a:avLst>
                  <a:gd name="adj" fmla="val 57256"/>
                </a:avLst>
              </a:prstGeom>
              <a:solidFill>
                <a:schemeClr val="accent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4334" name="Freeform 28"/>
              <p:cNvSpPr>
                <a:spLocks/>
              </p:cNvSpPr>
              <p:nvPr/>
            </p:nvSpPr>
            <p:spPr bwMode="auto">
              <a:xfrm>
                <a:off x="4594" y="2886"/>
                <a:ext cx="182" cy="816"/>
              </a:xfrm>
              <a:custGeom>
                <a:avLst/>
                <a:gdLst>
                  <a:gd name="T0" fmla="*/ 0 w 182"/>
                  <a:gd name="T1" fmla="*/ 816 h 816"/>
                  <a:gd name="T2" fmla="*/ 0 w 182"/>
                  <a:gd name="T3" fmla="*/ 317 h 816"/>
                  <a:gd name="T4" fmla="*/ 182 w 182"/>
                  <a:gd name="T5" fmla="*/ 0 h 816"/>
                  <a:gd name="T6" fmla="*/ 182 w 182"/>
                  <a:gd name="T7" fmla="*/ 499 h 816"/>
                  <a:gd name="T8" fmla="*/ 0 w 182"/>
                  <a:gd name="T9" fmla="*/ 816 h 816"/>
                  <a:gd name="T10" fmla="*/ 0 60000 65536"/>
                  <a:gd name="T11" fmla="*/ 0 60000 65536"/>
                  <a:gd name="T12" fmla="*/ 0 60000 65536"/>
                  <a:gd name="T13" fmla="*/ 0 60000 65536"/>
                  <a:gd name="T14" fmla="*/ 0 60000 65536"/>
                  <a:gd name="T15" fmla="*/ 0 w 182"/>
                  <a:gd name="T16" fmla="*/ 0 h 816"/>
                  <a:gd name="T17" fmla="*/ 182 w 182"/>
                  <a:gd name="T18" fmla="*/ 816 h 816"/>
                </a:gdLst>
                <a:ahLst/>
                <a:cxnLst>
                  <a:cxn ang="T10">
                    <a:pos x="T0" y="T1"/>
                  </a:cxn>
                  <a:cxn ang="T11">
                    <a:pos x="T2" y="T3"/>
                  </a:cxn>
                  <a:cxn ang="T12">
                    <a:pos x="T4" y="T5"/>
                  </a:cxn>
                  <a:cxn ang="T13">
                    <a:pos x="T6" y="T7"/>
                  </a:cxn>
                  <a:cxn ang="T14">
                    <a:pos x="T8" y="T9"/>
                  </a:cxn>
                </a:cxnLst>
                <a:rect l="T15" t="T16" r="T17" b="T18"/>
                <a:pathLst>
                  <a:path w="182" h="816">
                    <a:moveTo>
                      <a:pt x="0" y="816"/>
                    </a:moveTo>
                    <a:lnTo>
                      <a:pt x="0" y="317"/>
                    </a:lnTo>
                    <a:lnTo>
                      <a:pt x="182" y="0"/>
                    </a:lnTo>
                    <a:lnTo>
                      <a:pt x="182" y="499"/>
                    </a:lnTo>
                    <a:lnTo>
                      <a:pt x="0" y="816"/>
                    </a:lnTo>
                    <a:close/>
                  </a:path>
                </a:pathLst>
              </a:custGeom>
              <a:solidFill>
                <a:srgbClr val="99CCFF"/>
              </a:solidFill>
              <a:ln w="9525">
                <a:solidFill>
                  <a:schemeClr val="tx1"/>
                </a:solidFill>
                <a:round/>
                <a:headEnd/>
                <a:tailEnd/>
              </a:ln>
            </p:spPr>
            <p:txBody>
              <a:bodyPr/>
              <a:lstStyle/>
              <a:p>
                <a:endParaRPr lang="en-US"/>
              </a:p>
            </p:txBody>
          </p:sp>
        </p:grpSp>
        <p:grpSp>
          <p:nvGrpSpPr>
            <p:cNvPr id="54294" name="Group 29"/>
            <p:cNvGrpSpPr>
              <a:grpSpLocks/>
            </p:cNvGrpSpPr>
            <p:nvPr/>
          </p:nvGrpSpPr>
          <p:grpSpPr bwMode="auto">
            <a:xfrm>
              <a:off x="756" y="1397"/>
              <a:ext cx="1596" cy="1395"/>
              <a:chOff x="4422" y="1933"/>
              <a:chExt cx="726" cy="817"/>
            </a:xfrm>
          </p:grpSpPr>
          <p:sp>
            <p:nvSpPr>
              <p:cNvPr id="54329" name="Rectangle 30"/>
              <p:cNvSpPr>
                <a:spLocks noChangeArrowheads="1"/>
              </p:cNvSpPr>
              <p:nvPr/>
            </p:nvSpPr>
            <p:spPr bwMode="auto">
              <a:xfrm>
                <a:off x="4422" y="2260"/>
                <a:ext cx="545" cy="490"/>
              </a:xfrm>
              <a:prstGeom prst="rect">
                <a:avLst/>
              </a:prstGeom>
              <a:solidFill>
                <a:schemeClr val="bg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4330" name="AutoShape 31"/>
              <p:cNvSpPr>
                <a:spLocks noChangeArrowheads="1"/>
              </p:cNvSpPr>
              <p:nvPr/>
            </p:nvSpPr>
            <p:spPr bwMode="auto">
              <a:xfrm>
                <a:off x="4422" y="1933"/>
                <a:ext cx="726" cy="327"/>
              </a:xfrm>
              <a:prstGeom prst="parallelogram">
                <a:avLst>
                  <a:gd name="adj" fmla="val 55505"/>
                </a:avLst>
              </a:prstGeom>
              <a:solidFill>
                <a:schemeClr val="bg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4331" name="Freeform 32"/>
              <p:cNvSpPr>
                <a:spLocks/>
              </p:cNvSpPr>
              <p:nvPr/>
            </p:nvSpPr>
            <p:spPr bwMode="auto">
              <a:xfrm>
                <a:off x="4966" y="1933"/>
                <a:ext cx="182" cy="816"/>
              </a:xfrm>
              <a:custGeom>
                <a:avLst/>
                <a:gdLst>
                  <a:gd name="T0" fmla="*/ 0 w 182"/>
                  <a:gd name="T1" fmla="*/ 816 h 816"/>
                  <a:gd name="T2" fmla="*/ 0 w 182"/>
                  <a:gd name="T3" fmla="*/ 317 h 816"/>
                  <a:gd name="T4" fmla="*/ 182 w 182"/>
                  <a:gd name="T5" fmla="*/ 0 h 816"/>
                  <a:gd name="T6" fmla="*/ 182 w 182"/>
                  <a:gd name="T7" fmla="*/ 499 h 816"/>
                  <a:gd name="T8" fmla="*/ 0 w 182"/>
                  <a:gd name="T9" fmla="*/ 816 h 816"/>
                  <a:gd name="T10" fmla="*/ 0 60000 65536"/>
                  <a:gd name="T11" fmla="*/ 0 60000 65536"/>
                  <a:gd name="T12" fmla="*/ 0 60000 65536"/>
                  <a:gd name="T13" fmla="*/ 0 60000 65536"/>
                  <a:gd name="T14" fmla="*/ 0 60000 65536"/>
                  <a:gd name="T15" fmla="*/ 0 w 182"/>
                  <a:gd name="T16" fmla="*/ 0 h 816"/>
                  <a:gd name="T17" fmla="*/ 182 w 182"/>
                  <a:gd name="T18" fmla="*/ 816 h 816"/>
                </a:gdLst>
                <a:ahLst/>
                <a:cxnLst>
                  <a:cxn ang="T10">
                    <a:pos x="T0" y="T1"/>
                  </a:cxn>
                  <a:cxn ang="T11">
                    <a:pos x="T2" y="T3"/>
                  </a:cxn>
                  <a:cxn ang="T12">
                    <a:pos x="T4" y="T5"/>
                  </a:cxn>
                  <a:cxn ang="T13">
                    <a:pos x="T6" y="T7"/>
                  </a:cxn>
                  <a:cxn ang="T14">
                    <a:pos x="T8" y="T9"/>
                  </a:cxn>
                </a:cxnLst>
                <a:rect l="T15" t="T16" r="T17" b="T18"/>
                <a:pathLst>
                  <a:path w="182" h="816">
                    <a:moveTo>
                      <a:pt x="0" y="816"/>
                    </a:moveTo>
                    <a:lnTo>
                      <a:pt x="0" y="317"/>
                    </a:lnTo>
                    <a:lnTo>
                      <a:pt x="182" y="0"/>
                    </a:lnTo>
                    <a:lnTo>
                      <a:pt x="182" y="499"/>
                    </a:lnTo>
                    <a:lnTo>
                      <a:pt x="0" y="816"/>
                    </a:lnTo>
                    <a:close/>
                  </a:path>
                </a:pathLst>
              </a:custGeom>
              <a:solidFill>
                <a:schemeClr val="bg1"/>
              </a:solidFill>
              <a:ln w="9525">
                <a:solidFill>
                  <a:schemeClr val="tx1"/>
                </a:solidFill>
                <a:round/>
                <a:headEnd/>
                <a:tailEnd/>
              </a:ln>
            </p:spPr>
            <p:txBody>
              <a:bodyPr/>
              <a:lstStyle/>
              <a:p>
                <a:endParaRPr lang="en-US"/>
              </a:p>
            </p:txBody>
          </p:sp>
        </p:grpSp>
        <p:sp>
          <p:nvSpPr>
            <p:cNvPr id="54295" name="AutoShape 33"/>
            <p:cNvSpPr>
              <a:spLocks noChangeArrowheads="1"/>
            </p:cNvSpPr>
            <p:nvPr/>
          </p:nvSpPr>
          <p:spPr bwMode="auto">
            <a:xfrm rot="-5400000">
              <a:off x="1792" y="1162"/>
              <a:ext cx="462" cy="246"/>
            </a:xfrm>
            <a:prstGeom prst="leftArrow">
              <a:avLst>
                <a:gd name="adj1" fmla="val 50000"/>
                <a:gd name="adj2" fmla="val 46951"/>
              </a:avLst>
            </a:prstGeom>
            <a:solidFill>
              <a:srgbClr val="333399"/>
            </a:solidFill>
            <a:ln w="9525">
              <a:solidFill>
                <a:srgbClr val="333399"/>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nvGrpSpPr>
            <p:cNvPr id="54296" name="Group 34"/>
            <p:cNvGrpSpPr>
              <a:grpSpLocks/>
            </p:cNvGrpSpPr>
            <p:nvPr/>
          </p:nvGrpSpPr>
          <p:grpSpPr bwMode="auto">
            <a:xfrm>
              <a:off x="894" y="1248"/>
              <a:ext cx="537" cy="1050"/>
              <a:chOff x="1133" y="1419"/>
              <a:chExt cx="244" cy="615"/>
            </a:xfrm>
          </p:grpSpPr>
          <p:sp>
            <p:nvSpPr>
              <p:cNvPr id="54324" name="Freeform 35"/>
              <p:cNvSpPr>
                <a:spLocks/>
              </p:cNvSpPr>
              <p:nvPr/>
            </p:nvSpPr>
            <p:spPr bwMode="auto">
              <a:xfrm>
                <a:off x="1185" y="1452"/>
                <a:ext cx="162" cy="582"/>
              </a:xfrm>
              <a:custGeom>
                <a:avLst/>
                <a:gdLst>
                  <a:gd name="T0" fmla="*/ 54 w 162"/>
                  <a:gd name="T1" fmla="*/ 582 h 582"/>
                  <a:gd name="T2" fmla="*/ 42 w 162"/>
                  <a:gd name="T3" fmla="*/ 507 h 582"/>
                  <a:gd name="T4" fmla="*/ 51 w 162"/>
                  <a:gd name="T5" fmla="*/ 423 h 582"/>
                  <a:gd name="T6" fmla="*/ 42 w 162"/>
                  <a:gd name="T7" fmla="*/ 390 h 582"/>
                  <a:gd name="T8" fmla="*/ 33 w 162"/>
                  <a:gd name="T9" fmla="*/ 378 h 582"/>
                  <a:gd name="T10" fmla="*/ 48 w 162"/>
                  <a:gd name="T11" fmla="*/ 330 h 582"/>
                  <a:gd name="T12" fmla="*/ 57 w 162"/>
                  <a:gd name="T13" fmla="*/ 297 h 582"/>
                  <a:gd name="T14" fmla="*/ 63 w 162"/>
                  <a:gd name="T15" fmla="*/ 231 h 582"/>
                  <a:gd name="T16" fmla="*/ 57 w 162"/>
                  <a:gd name="T17" fmla="*/ 147 h 582"/>
                  <a:gd name="T18" fmla="*/ 21 w 162"/>
                  <a:gd name="T19" fmla="*/ 99 h 582"/>
                  <a:gd name="T20" fmla="*/ 0 w 162"/>
                  <a:gd name="T21" fmla="*/ 72 h 582"/>
                  <a:gd name="T22" fmla="*/ 54 w 162"/>
                  <a:gd name="T23" fmla="*/ 105 h 582"/>
                  <a:gd name="T24" fmla="*/ 57 w 162"/>
                  <a:gd name="T25" fmla="*/ 87 h 582"/>
                  <a:gd name="T26" fmla="*/ 63 w 162"/>
                  <a:gd name="T27" fmla="*/ 0 h 582"/>
                  <a:gd name="T28" fmla="*/ 78 w 162"/>
                  <a:gd name="T29" fmla="*/ 39 h 582"/>
                  <a:gd name="T30" fmla="*/ 78 w 162"/>
                  <a:gd name="T31" fmla="*/ 126 h 582"/>
                  <a:gd name="T32" fmla="*/ 90 w 162"/>
                  <a:gd name="T33" fmla="*/ 72 h 582"/>
                  <a:gd name="T34" fmla="*/ 108 w 162"/>
                  <a:gd name="T35" fmla="*/ 72 h 582"/>
                  <a:gd name="T36" fmla="*/ 93 w 162"/>
                  <a:gd name="T37" fmla="*/ 135 h 582"/>
                  <a:gd name="T38" fmla="*/ 162 w 162"/>
                  <a:gd name="T39" fmla="*/ 84 h 582"/>
                  <a:gd name="T40" fmla="*/ 153 w 162"/>
                  <a:gd name="T41" fmla="*/ 120 h 582"/>
                  <a:gd name="T42" fmla="*/ 75 w 162"/>
                  <a:gd name="T43" fmla="*/ 165 h 582"/>
                  <a:gd name="T44" fmla="*/ 75 w 162"/>
                  <a:gd name="T45" fmla="*/ 300 h 582"/>
                  <a:gd name="T46" fmla="*/ 99 w 162"/>
                  <a:gd name="T47" fmla="*/ 381 h 582"/>
                  <a:gd name="T48" fmla="*/ 84 w 162"/>
                  <a:gd name="T49" fmla="*/ 414 h 582"/>
                  <a:gd name="T50" fmla="*/ 99 w 162"/>
                  <a:gd name="T51" fmla="*/ 453 h 582"/>
                  <a:gd name="T52" fmla="*/ 135 w 162"/>
                  <a:gd name="T53" fmla="*/ 486 h 582"/>
                  <a:gd name="T54" fmla="*/ 132 w 162"/>
                  <a:gd name="T55" fmla="*/ 510 h 582"/>
                  <a:gd name="T56" fmla="*/ 102 w 162"/>
                  <a:gd name="T57" fmla="*/ 468 h 582"/>
                  <a:gd name="T58" fmla="*/ 69 w 162"/>
                  <a:gd name="T59" fmla="*/ 414 h 582"/>
                  <a:gd name="T60" fmla="*/ 63 w 162"/>
                  <a:gd name="T61" fmla="*/ 456 h 582"/>
                  <a:gd name="T62" fmla="*/ 75 w 162"/>
                  <a:gd name="T63" fmla="*/ 492 h 582"/>
                  <a:gd name="T64" fmla="*/ 96 w 162"/>
                  <a:gd name="T65" fmla="*/ 513 h 582"/>
                  <a:gd name="T66" fmla="*/ 78 w 162"/>
                  <a:gd name="T67" fmla="*/ 519 h 582"/>
                  <a:gd name="T68" fmla="*/ 60 w 162"/>
                  <a:gd name="T69" fmla="*/ 486 h 582"/>
                  <a:gd name="T70" fmla="*/ 54 w 162"/>
                  <a:gd name="T71" fmla="*/ 522 h 582"/>
                  <a:gd name="T72" fmla="*/ 54 w 162"/>
                  <a:gd name="T73" fmla="*/ 582 h 58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2"/>
                  <a:gd name="T112" fmla="*/ 0 h 582"/>
                  <a:gd name="T113" fmla="*/ 162 w 162"/>
                  <a:gd name="T114" fmla="*/ 582 h 58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2" h="582">
                    <a:moveTo>
                      <a:pt x="54" y="582"/>
                    </a:moveTo>
                    <a:lnTo>
                      <a:pt x="42" y="507"/>
                    </a:lnTo>
                    <a:lnTo>
                      <a:pt x="51" y="423"/>
                    </a:lnTo>
                    <a:lnTo>
                      <a:pt x="42" y="390"/>
                    </a:lnTo>
                    <a:lnTo>
                      <a:pt x="33" y="378"/>
                    </a:ln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84" y="414"/>
                    </a:lnTo>
                    <a:lnTo>
                      <a:pt x="99" y="453"/>
                    </a:lnTo>
                    <a:lnTo>
                      <a:pt x="135" y="486"/>
                    </a:lnTo>
                    <a:lnTo>
                      <a:pt x="132" y="510"/>
                    </a:lnTo>
                    <a:lnTo>
                      <a:pt x="102" y="468"/>
                    </a:lnTo>
                    <a:lnTo>
                      <a:pt x="69" y="414"/>
                    </a:lnTo>
                    <a:lnTo>
                      <a:pt x="63" y="456"/>
                    </a:lnTo>
                    <a:lnTo>
                      <a:pt x="75" y="492"/>
                    </a:lnTo>
                    <a:lnTo>
                      <a:pt x="96" y="513"/>
                    </a:lnTo>
                    <a:lnTo>
                      <a:pt x="78" y="519"/>
                    </a:lnTo>
                    <a:lnTo>
                      <a:pt x="60" y="486"/>
                    </a:lnTo>
                    <a:lnTo>
                      <a:pt x="54" y="522"/>
                    </a:lnTo>
                    <a:lnTo>
                      <a:pt x="54" y="582"/>
                    </a:lnTo>
                    <a:close/>
                  </a:path>
                </a:pathLst>
              </a:custGeom>
              <a:solidFill>
                <a:schemeClr val="bg2"/>
              </a:solidFill>
              <a:ln w="9525">
                <a:noFill/>
                <a:round/>
                <a:headEnd/>
                <a:tailEnd/>
              </a:ln>
            </p:spPr>
            <p:txBody>
              <a:bodyPr/>
              <a:lstStyle/>
              <a:p>
                <a:endParaRPr lang="en-US"/>
              </a:p>
            </p:txBody>
          </p:sp>
          <p:sp>
            <p:nvSpPr>
              <p:cNvPr id="54325" name="Freeform 36"/>
              <p:cNvSpPr>
                <a:spLocks/>
              </p:cNvSpPr>
              <p:nvPr/>
            </p:nvSpPr>
            <p:spPr bwMode="auto">
              <a:xfrm>
                <a:off x="1133" y="1484"/>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4326" name="Freeform 37"/>
              <p:cNvSpPr>
                <a:spLocks/>
              </p:cNvSpPr>
              <p:nvPr/>
            </p:nvSpPr>
            <p:spPr bwMode="auto">
              <a:xfrm>
                <a:off x="1176" y="1419"/>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4327" name="Freeform 38"/>
              <p:cNvSpPr>
                <a:spLocks/>
              </p:cNvSpPr>
              <p:nvPr/>
            </p:nvSpPr>
            <p:spPr bwMode="auto">
              <a:xfrm>
                <a:off x="1249" y="1477"/>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4328" name="Freeform 39"/>
              <p:cNvSpPr>
                <a:spLocks/>
              </p:cNvSpPr>
              <p:nvPr/>
            </p:nvSpPr>
            <p:spPr bwMode="auto">
              <a:xfrm>
                <a:off x="1283" y="1547"/>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54297" name="Group 40"/>
            <p:cNvGrpSpPr>
              <a:grpSpLocks/>
            </p:cNvGrpSpPr>
            <p:nvPr/>
          </p:nvGrpSpPr>
          <p:grpSpPr bwMode="auto">
            <a:xfrm>
              <a:off x="1248" y="924"/>
              <a:ext cx="537" cy="707"/>
              <a:chOff x="1164" y="1150"/>
              <a:chExt cx="244" cy="414"/>
            </a:xfrm>
          </p:grpSpPr>
          <p:sp>
            <p:nvSpPr>
              <p:cNvPr id="54319" name="Freeform 41"/>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54320" name="Freeform 42"/>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4321" name="Freeform 43"/>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4322" name="Freeform 44"/>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4323" name="Freeform 45"/>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54298" name="Group 46"/>
            <p:cNvGrpSpPr>
              <a:grpSpLocks/>
            </p:cNvGrpSpPr>
            <p:nvPr/>
          </p:nvGrpSpPr>
          <p:grpSpPr bwMode="auto">
            <a:xfrm>
              <a:off x="1231" y="1581"/>
              <a:ext cx="259" cy="313"/>
              <a:chOff x="1164" y="1150"/>
              <a:chExt cx="244" cy="414"/>
            </a:xfrm>
          </p:grpSpPr>
          <p:sp>
            <p:nvSpPr>
              <p:cNvPr id="54314" name="Freeform 47"/>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54315" name="Freeform 48"/>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4316" name="Freeform 49"/>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4317" name="Freeform 50"/>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4318" name="Freeform 51"/>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54299" name="Group 52"/>
            <p:cNvGrpSpPr>
              <a:grpSpLocks/>
            </p:cNvGrpSpPr>
            <p:nvPr/>
          </p:nvGrpSpPr>
          <p:grpSpPr bwMode="auto">
            <a:xfrm>
              <a:off x="1424" y="1276"/>
              <a:ext cx="451" cy="584"/>
              <a:chOff x="1164" y="1150"/>
              <a:chExt cx="244" cy="414"/>
            </a:xfrm>
          </p:grpSpPr>
          <p:sp>
            <p:nvSpPr>
              <p:cNvPr id="54309" name="Freeform 53"/>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54310" name="Freeform 54"/>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4311" name="Freeform 55"/>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4312" name="Freeform 56"/>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4313" name="Freeform 57"/>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sp>
          <p:nvSpPr>
            <p:cNvPr id="54300" name="AutoShape 58"/>
            <p:cNvSpPr>
              <a:spLocks noChangeArrowheads="1"/>
            </p:cNvSpPr>
            <p:nvPr/>
          </p:nvSpPr>
          <p:spPr bwMode="auto">
            <a:xfrm rot="10800000">
              <a:off x="1260" y="1764"/>
              <a:ext cx="342" cy="348"/>
            </a:xfrm>
            <a:custGeom>
              <a:avLst/>
              <a:gdLst>
                <a:gd name="T0" fmla="*/ 146 w 21600"/>
                <a:gd name="T1" fmla="*/ 0 h 21600"/>
                <a:gd name="T2" fmla="*/ 48 w 21600"/>
                <a:gd name="T3" fmla="*/ 348 h 21600"/>
                <a:gd name="T4" fmla="*/ 154 w 21600"/>
                <a:gd name="T5" fmla="*/ 134 h 21600"/>
                <a:gd name="T6" fmla="*/ 248 w 21600"/>
                <a:gd name="T7" fmla="*/ 230 h 21600"/>
                <a:gd name="T8" fmla="*/ 342 w 21600"/>
                <a:gd name="T9" fmla="*/ 134 h 21600"/>
                <a:gd name="T10" fmla="*/ 17694720 60000 65536"/>
                <a:gd name="T11" fmla="*/ 5898240 60000 65536"/>
                <a:gd name="T12" fmla="*/ 5898240 60000 65536"/>
                <a:gd name="T13" fmla="*/ 5898240 60000 65536"/>
                <a:gd name="T14" fmla="*/ 0 60000 65536"/>
                <a:gd name="T15" fmla="*/ 0 w 21600"/>
                <a:gd name="T16" fmla="*/ 8317 h 21600"/>
                <a:gd name="T17" fmla="*/ 6126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15662" y="14285"/>
                  </a:moveTo>
                  <a:lnTo>
                    <a:pt x="21600" y="8310"/>
                  </a:lnTo>
                  <a:lnTo>
                    <a:pt x="18630" y="8310"/>
                  </a:lnTo>
                  <a:cubicBezTo>
                    <a:pt x="18630" y="3721"/>
                    <a:pt x="14430" y="0"/>
                    <a:pt x="9250" y="0"/>
                  </a:cubicBezTo>
                  <a:cubicBezTo>
                    <a:pt x="4141" y="0"/>
                    <a:pt x="0" y="3799"/>
                    <a:pt x="0" y="8485"/>
                  </a:cubicBezTo>
                  <a:lnTo>
                    <a:pt x="0" y="21600"/>
                  </a:lnTo>
                  <a:lnTo>
                    <a:pt x="6110" y="21600"/>
                  </a:lnTo>
                  <a:lnTo>
                    <a:pt x="6110" y="8310"/>
                  </a:lnTo>
                  <a:cubicBezTo>
                    <a:pt x="6110" y="6947"/>
                    <a:pt x="7362" y="5842"/>
                    <a:pt x="8907" y="5842"/>
                  </a:cubicBezTo>
                  <a:lnTo>
                    <a:pt x="9725" y="5842"/>
                  </a:lnTo>
                  <a:cubicBezTo>
                    <a:pt x="11269" y="5842"/>
                    <a:pt x="12520" y="6947"/>
                    <a:pt x="12520" y="8310"/>
                  </a:cubicBezTo>
                  <a:lnTo>
                    <a:pt x="9725" y="8310"/>
                  </a:lnTo>
                  <a:close/>
                </a:path>
              </a:pathLst>
            </a:custGeom>
            <a:solidFill>
              <a:srgbClr val="FF3300"/>
            </a:solidFill>
            <a:ln w="9525" algn="ctr">
              <a:solidFill>
                <a:schemeClr val="tx1"/>
              </a:solidFill>
              <a:miter lim="800000"/>
              <a:headEnd/>
              <a:tailEnd/>
            </a:ln>
          </p:spPr>
          <p:txBody>
            <a:bodyPr wrap="none" anchor="ctr"/>
            <a:lstStyle/>
            <a:p>
              <a:endParaRPr lang="en-US"/>
            </a:p>
          </p:txBody>
        </p:sp>
        <p:sp>
          <p:nvSpPr>
            <p:cNvPr id="54301" name="AutoShape 59"/>
            <p:cNvSpPr>
              <a:spLocks noChangeArrowheads="1"/>
            </p:cNvSpPr>
            <p:nvPr/>
          </p:nvSpPr>
          <p:spPr bwMode="auto">
            <a:xfrm>
              <a:off x="1248" y="2706"/>
              <a:ext cx="264" cy="168"/>
            </a:xfrm>
            <a:prstGeom prst="upDownArrow">
              <a:avLst>
                <a:gd name="adj1" fmla="val 50000"/>
                <a:gd name="adj2" fmla="val 20000"/>
              </a:avLst>
            </a:prstGeom>
            <a:solidFill>
              <a:srgbClr val="333399"/>
            </a:solidFill>
            <a:ln w="9525" algn="ctr">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4302" name="Rectangle 60"/>
            <p:cNvSpPr>
              <a:spLocks noChangeArrowheads="1"/>
            </p:cNvSpPr>
            <p:nvPr/>
          </p:nvSpPr>
          <p:spPr bwMode="auto">
            <a:xfrm>
              <a:off x="1278" y="2268"/>
              <a:ext cx="258" cy="258"/>
            </a:xfrm>
            <a:prstGeom prst="rect">
              <a:avLst/>
            </a:prstGeom>
            <a:solidFill>
              <a:srgbClr val="333399"/>
            </a:solidFill>
            <a:ln w="9525" algn="ctr">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4303" name="AutoShape 61"/>
            <p:cNvSpPr>
              <a:spLocks noChangeArrowheads="1"/>
            </p:cNvSpPr>
            <p:nvPr/>
          </p:nvSpPr>
          <p:spPr bwMode="auto">
            <a:xfrm>
              <a:off x="304" y="2908"/>
              <a:ext cx="450" cy="246"/>
            </a:xfrm>
            <a:prstGeom prst="leftArrow">
              <a:avLst>
                <a:gd name="adj1" fmla="val 50000"/>
                <a:gd name="adj2" fmla="val 45732"/>
              </a:avLst>
            </a:prstGeom>
            <a:solidFill>
              <a:srgbClr val="333399"/>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4304" name="AutoShape 62"/>
            <p:cNvSpPr>
              <a:spLocks noChangeArrowheads="1"/>
            </p:cNvSpPr>
            <p:nvPr/>
          </p:nvSpPr>
          <p:spPr bwMode="auto">
            <a:xfrm>
              <a:off x="2160" y="2880"/>
              <a:ext cx="450" cy="246"/>
            </a:xfrm>
            <a:prstGeom prst="leftArrow">
              <a:avLst>
                <a:gd name="adj1" fmla="val 50000"/>
                <a:gd name="adj2" fmla="val 45732"/>
              </a:avLst>
            </a:prstGeom>
            <a:solidFill>
              <a:srgbClr val="333399"/>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nvGrpSpPr>
            <p:cNvPr id="54305" name="Group 63"/>
            <p:cNvGrpSpPr>
              <a:grpSpLocks/>
            </p:cNvGrpSpPr>
            <p:nvPr/>
          </p:nvGrpSpPr>
          <p:grpSpPr bwMode="auto">
            <a:xfrm>
              <a:off x="732" y="1686"/>
              <a:ext cx="210" cy="1908"/>
              <a:chOff x="732" y="1686"/>
              <a:chExt cx="210" cy="1908"/>
            </a:xfrm>
          </p:grpSpPr>
          <p:sp>
            <p:nvSpPr>
              <p:cNvPr id="54306" name="Rectangle 64"/>
              <p:cNvSpPr>
                <a:spLocks noChangeArrowheads="1"/>
              </p:cNvSpPr>
              <p:nvPr/>
            </p:nvSpPr>
            <p:spPr bwMode="auto">
              <a:xfrm>
                <a:off x="876" y="1848"/>
                <a:ext cx="60" cy="1734"/>
              </a:xfrm>
              <a:prstGeom prst="rect">
                <a:avLst/>
              </a:prstGeom>
              <a:solidFill>
                <a:schemeClr val="bg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4307" name="Rectangle 65" descr="Dark horizontal"/>
              <p:cNvSpPr>
                <a:spLocks noChangeArrowheads="1"/>
              </p:cNvSpPr>
              <p:nvPr/>
            </p:nvSpPr>
            <p:spPr bwMode="auto">
              <a:xfrm>
                <a:off x="876" y="3006"/>
                <a:ext cx="60" cy="588"/>
              </a:xfrm>
              <a:prstGeom prst="rect">
                <a:avLst/>
              </a:prstGeom>
              <a:pattFill prst="dkHorz">
                <a:fgClr>
                  <a:srgbClr val="777777"/>
                </a:fgClr>
                <a:bgClr>
                  <a:schemeClr val="bg1"/>
                </a:bgClr>
              </a:patt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4308" name="AutoShape 66"/>
              <p:cNvSpPr>
                <a:spLocks noChangeArrowheads="1"/>
              </p:cNvSpPr>
              <p:nvPr/>
            </p:nvSpPr>
            <p:spPr bwMode="auto">
              <a:xfrm flipH="1">
                <a:off x="732" y="1686"/>
                <a:ext cx="210" cy="174"/>
              </a:xfrm>
              <a:custGeom>
                <a:avLst/>
                <a:gdLst>
                  <a:gd name="T0" fmla="*/ 147 w 21600"/>
                  <a:gd name="T1" fmla="*/ 0 h 21600"/>
                  <a:gd name="T2" fmla="*/ 147 w 21600"/>
                  <a:gd name="T3" fmla="*/ 98 h 21600"/>
                  <a:gd name="T4" fmla="*/ 31 w 21600"/>
                  <a:gd name="T5" fmla="*/ 174 h 21600"/>
                  <a:gd name="T6" fmla="*/ 210 w 21600"/>
                  <a:gd name="T7" fmla="*/ 49 h 21600"/>
                  <a:gd name="T8" fmla="*/ 17694720 60000 65536"/>
                  <a:gd name="T9" fmla="*/ 5898240 60000 65536"/>
                  <a:gd name="T10" fmla="*/ 5898240 60000 65536"/>
                  <a:gd name="T11" fmla="*/ 0 60000 65536"/>
                  <a:gd name="T12" fmla="*/ 12446 w 21600"/>
                  <a:gd name="T13" fmla="*/ 2855 h 21600"/>
                  <a:gd name="T14" fmla="*/ 18206 w 21600"/>
                  <a:gd name="T15" fmla="*/ 918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333399"/>
              </a:solidFill>
              <a:ln w="9525">
                <a:solidFill>
                  <a:schemeClr val="tx1"/>
                </a:solidFill>
                <a:miter lim="800000"/>
                <a:headEnd/>
                <a:tailEnd/>
              </a:ln>
            </p:spPr>
            <p:txBody>
              <a:bodyPr wrap="none" anchor="ctr"/>
              <a:lstStyle/>
              <a:p>
                <a:endParaRPr lang="en-US"/>
              </a:p>
            </p:txBody>
          </p:sp>
        </p:gr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438150" y="754063"/>
            <a:ext cx="6545263" cy="493712"/>
          </a:xfrm>
        </p:spPr>
        <p:txBody>
          <a:bodyPr/>
          <a:lstStyle/>
          <a:p>
            <a:r>
              <a:rPr lang="en-AU" smtClean="0"/>
              <a:t>Unsaturated Zone Storage</a:t>
            </a:r>
            <a:endParaRPr lang="en-US" smtClean="0"/>
          </a:p>
        </p:txBody>
      </p:sp>
      <p:grpSp>
        <p:nvGrpSpPr>
          <p:cNvPr id="56322" name="Group 4"/>
          <p:cNvGrpSpPr>
            <a:grpSpLocks/>
          </p:cNvGrpSpPr>
          <p:nvPr/>
        </p:nvGrpSpPr>
        <p:grpSpPr bwMode="auto">
          <a:xfrm>
            <a:off x="415925" y="1847850"/>
            <a:ext cx="3975100" cy="4275138"/>
            <a:chOff x="304" y="924"/>
            <a:chExt cx="2306" cy="2723"/>
          </a:xfrm>
        </p:grpSpPr>
        <p:sp>
          <p:nvSpPr>
            <p:cNvPr id="56332" name="Line 5"/>
            <p:cNvSpPr>
              <a:spLocks noChangeShapeType="1"/>
            </p:cNvSpPr>
            <p:nvPr/>
          </p:nvSpPr>
          <p:spPr bwMode="auto">
            <a:xfrm flipV="1">
              <a:off x="756" y="2245"/>
              <a:ext cx="398" cy="542"/>
            </a:xfrm>
            <a:prstGeom prst="line">
              <a:avLst/>
            </a:prstGeom>
            <a:noFill/>
            <a:ln w="9525">
              <a:solidFill>
                <a:schemeClr val="tx1"/>
              </a:solidFill>
              <a:round/>
              <a:headEnd/>
              <a:tailEnd/>
            </a:ln>
          </p:spPr>
          <p:txBody>
            <a:bodyPr/>
            <a:lstStyle/>
            <a:p>
              <a:endParaRPr lang="en-US"/>
            </a:p>
          </p:txBody>
        </p:sp>
        <p:sp>
          <p:nvSpPr>
            <p:cNvPr id="56333" name="Freeform 6"/>
            <p:cNvSpPr>
              <a:spLocks/>
            </p:cNvSpPr>
            <p:nvPr/>
          </p:nvSpPr>
          <p:spPr bwMode="auto">
            <a:xfrm>
              <a:off x="756" y="2235"/>
              <a:ext cx="383" cy="1412"/>
            </a:xfrm>
            <a:custGeom>
              <a:avLst/>
              <a:gdLst>
                <a:gd name="T0" fmla="*/ 0 w 174"/>
                <a:gd name="T1" fmla="*/ 1412 h 827"/>
                <a:gd name="T2" fmla="*/ 0 w 174"/>
                <a:gd name="T3" fmla="*/ 560 h 827"/>
                <a:gd name="T4" fmla="*/ 383 w 174"/>
                <a:gd name="T5" fmla="*/ 0 h 827"/>
                <a:gd name="T6" fmla="*/ 361 w 174"/>
                <a:gd name="T7" fmla="*/ 871 h 827"/>
                <a:gd name="T8" fmla="*/ 0 w 174"/>
                <a:gd name="T9" fmla="*/ 1412 h 827"/>
                <a:gd name="T10" fmla="*/ 0 60000 65536"/>
                <a:gd name="T11" fmla="*/ 0 60000 65536"/>
                <a:gd name="T12" fmla="*/ 0 60000 65536"/>
                <a:gd name="T13" fmla="*/ 0 60000 65536"/>
                <a:gd name="T14" fmla="*/ 0 60000 65536"/>
                <a:gd name="T15" fmla="*/ 0 w 174"/>
                <a:gd name="T16" fmla="*/ 0 h 827"/>
                <a:gd name="T17" fmla="*/ 174 w 174"/>
                <a:gd name="T18" fmla="*/ 827 h 827"/>
              </a:gdLst>
              <a:ahLst/>
              <a:cxnLst>
                <a:cxn ang="T10">
                  <a:pos x="T0" y="T1"/>
                </a:cxn>
                <a:cxn ang="T11">
                  <a:pos x="T2" y="T3"/>
                </a:cxn>
                <a:cxn ang="T12">
                  <a:pos x="T4" y="T5"/>
                </a:cxn>
                <a:cxn ang="T13">
                  <a:pos x="T6" y="T7"/>
                </a:cxn>
                <a:cxn ang="T14">
                  <a:pos x="T8" y="T9"/>
                </a:cxn>
              </a:cxnLst>
              <a:rect l="T15" t="T16" r="T17" b="T18"/>
              <a:pathLst>
                <a:path w="174" h="827">
                  <a:moveTo>
                    <a:pt x="0" y="827"/>
                  </a:moveTo>
                  <a:lnTo>
                    <a:pt x="0" y="328"/>
                  </a:lnTo>
                  <a:lnTo>
                    <a:pt x="174" y="0"/>
                  </a:lnTo>
                  <a:lnTo>
                    <a:pt x="164" y="510"/>
                  </a:lnTo>
                  <a:lnTo>
                    <a:pt x="0" y="827"/>
                  </a:lnTo>
                  <a:close/>
                </a:path>
              </a:pathLst>
            </a:custGeom>
            <a:solidFill>
              <a:schemeClr val="accent1"/>
            </a:solidFill>
            <a:ln w="9525" cap="flat" cmpd="sng">
              <a:solidFill>
                <a:schemeClr val="tx1"/>
              </a:solidFill>
              <a:prstDash val="solid"/>
              <a:round/>
              <a:headEnd/>
              <a:tailEnd/>
            </a:ln>
          </p:spPr>
          <p:txBody>
            <a:bodyPr wrap="none" anchor="ctr"/>
            <a:lstStyle/>
            <a:p>
              <a:endParaRPr lang="en-US"/>
            </a:p>
          </p:txBody>
        </p:sp>
        <p:grpSp>
          <p:nvGrpSpPr>
            <p:cNvPr id="56334" name="Group 7"/>
            <p:cNvGrpSpPr>
              <a:grpSpLocks/>
            </p:cNvGrpSpPr>
            <p:nvPr/>
          </p:nvGrpSpPr>
          <p:grpSpPr bwMode="auto">
            <a:xfrm>
              <a:off x="756" y="2245"/>
              <a:ext cx="1596" cy="1395"/>
              <a:chOff x="4050" y="2886"/>
              <a:chExt cx="726" cy="817"/>
            </a:xfrm>
          </p:grpSpPr>
          <p:sp>
            <p:nvSpPr>
              <p:cNvPr id="56373" name="Rectangle 8"/>
              <p:cNvSpPr>
                <a:spLocks noChangeArrowheads="1"/>
              </p:cNvSpPr>
              <p:nvPr/>
            </p:nvSpPr>
            <p:spPr bwMode="auto">
              <a:xfrm>
                <a:off x="4050" y="3203"/>
                <a:ext cx="545" cy="500"/>
              </a:xfrm>
              <a:prstGeom prst="rect">
                <a:avLst/>
              </a:prstGeom>
              <a:solidFill>
                <a:srgbClr val="99CCFF"/>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6374" name="AutoShape 9"/>
              <p:cNvSpPr>
                <a:spLocks noChangeArrowheads="1"/>
              </p:cNvSpPr>
              <p:nvPr/>
            </p:nvSpPr>
            <p:spPr bwMode="auto">
              <a:xfrm>
                <a:off x="4050" y="2886"/>
                <a:ext cx="726" cy="317"/>
              </a:xfrm>
              <a:prstGeom prst="parallelogram">
                <a:avLst>
                  <a:gd name="adj" fmla="val 57256"/>
                </a:avLst>
              </a:prstGeom>
              <a:solidFill>
                <a:schemeClr val="accent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6375" name="Freeform 10"/>
              <p:cNvSpPr>
                <a:spLocks/>
              </p:cNvSpPr>
              <p:nvPr/>
            </p:nvSpPr>
            <p:spPr bwMode="auto">
              <a:xfrm>
                <a:off x="4594" y="2886"/>
                <a:ext cx="182" cy="816"/>
              </a:xfrm>
              <a:custGeom>
                <a:avLst/>
                <a:gdLst>
                  <a:gd name="T0" fmla="*/ 0 w 182"/>
                  <a:gd name="T1" fmla="*/ 816 h 816"/>
                  <a:gd name="T2" fmla="*/ 0 w 182"/>
                  <a:gd name="T3" fmla="*/ 317 h 816"/>
                  <a:gd name="T4" fmla="*/ 182 w 182"/>
                  <a:gd name="T5" fmla="*/ 0 h 816"/>
                  <a:gd name="T6" fmla="*/ 182 w 182"/>
                  <a:gd name="T7" fmla="*/ 499 h 816"/>
                  <a:gd name="T8" fmla="*/ 0 w 182"/>
                  <a:gd name="T9" fmla="*/ 816 h 816"/>
                  <a:gd name="T10" fmla="*/ 0 60000 65536"/>
                  <a:gd name="T11" fmla="*/ 0 60000 65536"/>
                  <a:gd name="T12" fmla="*/ 0 60000 65536"/>
                  <a:gd name="T13" fmla="*/ 0 60000 65536"/>
                  <a:gd name="T14" fmla="*/ 0 60000 65536"/>
                  <a:gd name="T15" fmla="*/ 0 w 182"/>
                  <a:gd name="T16" fmla="*/ 0 h 816"/>
                  <a:gd name="T17" fmla="*/ 182 w 182"/>
                  <a:gd name="T18" fmla="*/ 816 h 816"/>
                </a:gdLst>
                <a:ahLst/>
                <a:cxnLst>
                  <a:cxn ang="T10">
                    <a:pos x="T0" y="T1"/>
                  </a:cxn>
                  <a:cxn ang="T11">
                    <a:pos x="T2" y="T3"/>
                  </a:cxn>
                  <a:cxn ang="T12">
                    <a:pos x="T4" y="T5"/>
                  </a:cxn>
                  <a:cxn ang="T13">
                    <a:pos x="T6" y="T7"/>
                  </a:cxn>
                  <a:cxn ang="T14">
                    <a:pos x="T8" y="T9"/>
                  </a:cxn>
                </a:cxnLst>
                <a:rect l="T15" t="T16" r="T17" b="T18"/>
                <a:pathLst>
                  <a:path w="182" h="816">
                    <a:moveTo>
                      <a:pt x="0" y="816"/>
                    </a:moveTo>
                    <a:lnTo>
                      <a:pt x="0" y="317"/>
                    </a:lnTo>
                    <a:lnTo>
                      <a:pt x="182" y="0"/>
                    </a:lnTo>
                    <a:lnTo>
                      <a:pt x="182" y="499"/>
                    </a:lnTo>
                    <a:lnTo>
                      <a:pt x="0" y="816"/>
                    </a:lnTo>
                    <a:close/>
                  </a:path>
                </a:pathLst>
              </a:custGeom>
              <a:solidFill>
                <a:srgbClr val="99CCFF"/>
              </a:solidFill>
              <a:ln w="9525">
                <a:solidFill>
                  <a:schemeClr val="tx1"/>
                </a:solidFill>
                <a:round/>
                <a:headEnd/>
                <a:tailEnd/>
              </a:ln>
            </p:spPr>
            <p:txBody>
              <a:bodyPr/>
              <a:lstStyle/>
              <a:p>
                <a:endParaRPr lang="en-US"/>
              </a:p>
            </p:txBody>
          </p:sp>
        </p:grpSp>
        <p:grpSp>
          <p:nvGrpSpPr>
            <p:cNvPr id="56335" name="Group 11"/>
            <p:cNvGrpSpPr>
              <a:grpSpLocks/>
            </p:cNvGrpSpPr>
            <p:nvPr/>
          </p:nvGrpSpPr>
          <p:grpSpPr bwMode="auto">
            <a:xfrm>
              <a:off x="756" y="1397"/>
              <a:ext cx="1596" cy="1395"/>
              <a:chOff x="4422" y="1933"/>
              <a:chExt cx="726" cy="817"/>
            </a:xfrm>
          </p:grpSpPr>
          <p:sp>
            <p:nvSpPr>
              <p:cNvPr id="56370" name="Rectangle 12"/>
              <p:cNvSpPr>
                <a:spLocks noChangeArrowheads="1"/>
              </p:cNvSpPr>
              <p:nvPr/>
            </p:nvSpPr>
            <p:spPr bwMode="auto">
              <a:xfrm>
                <a:off x="4422" y="2260"/>
                <a:ext cx="545" cy="490"/>
              </a:xfrm>
              <a:prstGeom prst="rect">
                <a:avLst/>
              </a:prstGeom>
              <a:solidFill>
                <a:schemeClr val="bg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6371" name="AutoShape 13"/>
              <p:cNvSpPr>
                <a:spLocks noChangeArrowheads="1"/>
              </p:cNvSpPr>
              <p:nvPr/>
            </p:nvSpPr>
            <p:spPr bwMode="auto">
              <a:xfrm>
                <a:off x="4422" y="1933"/>
                <a:ext cx="726" cy="327"/>
              </a:xfrm>
              <a:prstGeom prst="parallelogram">
                <a:avLst>
                  <a:gd name="adj" fmla="val 55505"/>
                </a:avLst>
              </a:prstGeom>
              <a:solidFill>
                <a:schemeClr val="bg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6372" name="Freeform 14"/>
              <p:cNvSpPr>
                <a:spLocks/>
              </p:cNvSpPr>
              <p:nvPr/>
            </p:nvSpPr>
            <p:spPr bwMode="auto">
              <a:xfrm>
                <a:off x="4966" y="1933"/>
                <a:ext cx="182" cy="816"/>
              </a:xfrm>
              <a:custGeom>
                <a:avLst/>
                <a:gdLst>
                  <a:gd name="T0" fmla="*/ 0 w 182"/>
                  <a:gd name="T1" fmla="*/ 816 h 816"/>
                  <a:gd name="T2" fmla="*/ 0 w 182"/>
                  <a:gd name="T3" fmla="*/ 317 h 816"/>
                  <a:gd name="T4" fmla="*/ 182 w 182"/>
                  <a:gd name="T5" fmla="*/ 0 h 816"/>
                  <a:gd name="T6" fmla="*/ 182 w 182"/>
                  <a:gd name="T7" fmla="*/ 499 h 816"/>
                  <a:gd name="T8" fmla="*/ 0 w 182"/>
                  <a:gd name="T9" fmla="*/ 816 h 816"/>
                  <a:gd name="T10" fmla="*/ 0 60000 65536"/>
                  <a:gd name="T11" fmla="*/ 0 60000 65536"/>
                  <a:gd name="T12" fmla="*/ 0 60000 65536"/>
                  <a:gd name="T13" fmla="*/ 0 60000 65536"/>
                  <a:gd name="T14" fmla="*/ 0 60000 65536"/>
                  <a:gd name="T15" fmla="*/ 0 w 182"/>
                  <a:gd name="T16" fmla="*/ 0 h 816"/>
                  <a:gd name="T17" fmla="*/ 182 w 182"/>
                  <a:gd name="T18" fmla="*/ 816 h 816"/>
                </a:gdLst>
                <a:ahLst/>
                <a:cxnLst>
                  <a:cxn ang="T10">
                    <a:pos x="T0" y="T1"/>
                  </a:cxn>
                  <a:cxn ang="T11">
                    <a:pos x="T2" y="T3"/>
                  </a:cxn>
                  <a:cxn ang="T12">
                    <a:pos x="T4" y="T5"/>
                  </a:cxn>
                  <a:cxn ang="T13">
                    <a:pos x="T6" y="T7"/>
                  </a:cxn>
                  <a:cxn ang="T14">
                    <a:pos x="T8" y="T9"/>
                  </a:cxn>
                </a:cxnLst>
                <a:rect l="T15" t="T16" r="T17" b="T18"/>
                <a:pathLst>
                  <a:path w="182" h="816">
                    <a:moveTo>
                      <a:pt x="0" y="816"/>
                    </a:moveTo>
                    <a:lnTo>
                      <a:pt x="0" y="317"/>
                    </a:lnTo>
                    <a:lnTo>
                      <a:pt x="182" y="0"/>
                    </a:lnTo>
                    <a:lnTo>
                      <a:pt x="182" y="499"/>
                    </a:lnTo>
                    <a:lnTo>
                      <a:pt x="0" y="816"/>
                    </a:lnTo>
                    <a:close/>
                  </a:path>
                </a:pathLst>
              </a:custGeom>
              <a:solidFill>
                <a:schemeClr val="bg1"/>
              </a:solidFill>
              <a:ln w="9525">
                <a:solidFill>
                  <a:schemeClr val="tx1"/>
                </a:solidFill>
                <a:round/>
                <a:headEnd/>
                <a:tailEnd/>
              </a:ln>
            </p:spPr>
            <p:txBody>
              <a:bodyPr/>
              <a:lstStyle/>
              <a:p>
                <a:endParaRPr lang="en-US"/>
              </a:p>
            </p:txBody>
          </p:sp>
        </p:grpSp>
        <p:sp>
          <p:nvSpPr>
            <p:cNvPr id="56336" name="AutoShape 15"/>
            <p:cNvSpPr>
              <a:spLocks noChangeArrowheads="1"/>
            </p:cNvSpPr>
            <p:nvPr/>
          </p:nvSpPr>
          <p:spPr bwMode="auto">
            <a:xfrm rot="-5400000">
              <a:off x="1792" y="1162"/>
              <a:ext cx="462" cy="246"/>
            </a:xfrm>
            <a:prstGeom prst="leftArrow">
              <a:avLst>
                <a:gd name="adj1" fmla="val 50000"/>
                <a:gd name="adj2" fmla="val 46951"/>
              </a:avLst>
            </a:prstGeom>
            <a:solidFill>
              <a:srgbClr val="333399"/>
            </a:solidFill>
            <a:ln w="9525">
              <a:solidFill>
                <a:srgbClr val="333399"/>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nvGrpSpPr>
            <p:cNvPr id="56337" name="Group 16"/>
            <p:cNvGrpSpPr>
              <a:grpSpLocks/>
            </p:cNvGrpSpPr>
            <p:nvPr/>
          </p:nvGrpSpPr>
          <p:grpSpPr bwMode="auto">
            <a:xfrm>
              <a:off x="894" y="1248"/>
              <a:ext cx="537" cy="1050"/>
              <a:chOff x="1133" y="1419"/>
              <a:chExt cx="244" cy="615"/>
            </a:xfrm>
          </p:grpSpPr>
          <p:sp>
            <p:nvSpPr>
              <p:cNvPr id="56365" name="Freeform 17"/>
              <p:cNvSpPr>
                <a:spLocks/>
              </p:cNvSpPr>
              <p:nvPr/>
            </p:nvSpPr>
            <p:spPr bwMode="auto">
              <a:xfrm>
                <a:off x="1185" y="1452"/>
                <a:ext cx="162" cy="582"/>
              </a:xfrm>
              <a:custGeom>
                <a:avLst/>
                <a:gdLst>
                  <a:gd name="T0" fmla="*/ 54 w 162"/>
                  <a:gd name="T1" fmla="*/ 582 h 582"/>
                  <a:gd name="T2" fmla="*/ 42 w 162"/>
                  <a:gd name="T3" fmla="*/ 507 h 582"/>
                  <a:gd name="T4" fmla="*/ 51 w 162"/>
                  <a:gd name="T5" fmla="*/ 423 h 582"/>
                  <a:gd name="T6" fmla="*/ 42 w 162"/>
                  <a:gd name="T7" fmla="*/ 390 h 582"/>
                  <a:gd name="T8" fmla="*/ 33 w 162"/>
                  <a:gd name="T9" fmla="*/ 378 h 582"/>
                  <a:gd name="T10" fmla="*/ 48 w 162"/>
                  <a:gd name="T11" fmla="*/ 330 h 582"/>
                  <a:gd name="T12" fmla="*/ 57 w 162"/>
                  <a:gd name="T13" fmla="*/ 297 h 582"/>
                  <a:gd name="T14" fmla="*/ 63 w 162"/>
                  <a:gd name="T15" fmla="*/ 231 h 582"/>
                  <a:gd name="T16" fmla="*/ 57 w 162"/>
                  <a:gd name="T17" fmla="*/ 147 h 582"/>
                  <a:gd name="T18" fmla="*/ 21 w 162"/>
                  <a:gd name="T19" fmla="*/ 99 h 582"/>
                  <a:gd name="T20" fmla="*/ 0 w 162"/>
                  <a:gd name="T21" fmla="*/ 72 h 582"/>
                  <a:gd name="T22" fmla="*/ 54 w 162"/>
                  <a:gd name="T23" fmla="*/ 105 h 582"/>
                  <a:gd name="T24" fmla="*/ 57 w 162"/>
                  <a:gd name="T25" fmla="*/ 87 h 582"/>
                  <a:gd name="T26" fmla="*/ 63 w 162"/>
                  <a:gd name="T27" fmla="*/ 0 h 582"/>
                  <a:gd name="T28" fmla="*/ 78 w 162"/>
                  <a:gd name="T29" fmla="*/ 39 h 582"/>
                  <a:gd name="T30" fmla="*/ 78 w 162"/>
                  <a:gd name="T31" fmla="*/ 126 h 582"/>
                  <a:gd name="T32" fmla="*/ 90 w 162"/>
                  <a:gd name="T33" fmla="*/ 72 h 582"/>
                  <a:gd name="T34" fmla="*/ 108 w 162"/>
                  <a:gd name="T35" fmla="*/ 72 h 582"/>
                  <a:gd name="T36" fmla="*/ 93 w 162"/>
                  <a:gd name="T37" fmla="*/ 135 h 582"/>
                  <a:gd name="T38" fmla="*/ 162 w 162"/>
                  <a:gd name="T39" fmla="*/ 84 h 582"/>
                  <a:gd name="T40" fmla="*/ 153 w 162"/>
                  <a:gd name="T41" fmla="*/ 120 h 582"/>
                  <a:gd name="T42" fmla="*/ 75 w 162"/>
                  <a:gd name="T43" fmla="*/ 165 h 582"/>
                  <a:gd name="T44" fmla="*/ 75 w 162"/>
                  <a:gd name="T45" fmla="*/ 300 h 582"/>
                  <a:gd name="T46" fmla="*/ 99 w 162"/>
                  <a:gd name="T47" fmla="*/ 381 h 582"/>
                  <a:gd name="T48" fmla="*/ 84 w 162"/>
                  <a:gd name="T49" fmla="*/ 414 h 582"/>
                  <a:gd name="T50" fmla="*/ 99 w 162"/>
                  <a:gd name="T51" fmla="*/ 453 h 582"/>
                  <a:gd name="T52" fmla="*/ 135 w 162"/>
                  <a:gd name="T53" fmla="*/ 486 h 582"/>
                  <a:gd name="T54" fmla="*/ 132 w 162"/>
                  <a:gd name="T55" fmla="*/ 510 h 582"/>
                  <a:gd name="T56" fmla="*/ 102 w 162"/>
                  <a:gd name="T57" fmla="*/ 468 h 582"/>
                  <a:gd name="T58" fmla="*/ 69 w 162"/>
                  <a:gd name="T59" fmla="*/ 414 h 582"/>
                  <a:gd name="T60" fmla="*/ 63 w 162"/>
                  <a:gd name="T61" fmla="*/ 456 h 582"/>
                  <a:gd name="T62" fmla="*/ 75 w 162"/>
                  <a:gd name="T63" fmla="*/ 492 h 582"/>
                  <a:gd name="T64" fmla="*/ 96 w 162"/>
                  <a:gd name="T65" fmla="*/ 513 h 582"/>
                  <a:gd name="T66" fmla="*/ 78 w 162"/>
                  <a:gd name="T67" fmla="*/ 519 h 582"/>
                  <a:gd name="T68" fmla="*/ 60 w 162"/>
                  <a:gd name="T69" fmla="*/ 486 h 582"/>
                  <a:gd name="T70" fmla="*/ 54 w 162"/>
                  <a:gd name="T71" fmla="*/ 522 h 582"/>
                  <a:gd name="T72" fmla="*/ 54 w 162"/>
                  <a:gd name="T73" fmla="*/ 582 h 58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2"/>
                  <a:gd name="T112" fmla="*/ 0 h 582"/>
                  <a:gd name="T113" fmla="*/ 162 w 162"/>
                  <a:gd name="T114" fmla="*/ 582 h 58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2" h="582">
                    <a:moveTo>
                      <a:pt x="54" y="582"/>
                    </a:moveTo>
                    <a:lnTo>
                      <a:pt x="42" y="507"/>
                    </a:lnTo>
                    <a:lnTo>
                      <a:pt x="51" y="423"/>
                    </a:lnTo>
                    <a:lnTo>
                      <a:pt x="42" y="390"/>
                    </a:lnTo>
                    <a:lnTo>
                      <a:pt x="33" y="378"/>
                    </a:ln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84" y="414"/>
                    </a:lnTo>
                    <a:lnTo>
                      <a:pt x="99" y="453"/>
                    </a:lnTo>
                    <a:lnTo>
                      <a:pt x="135" y="486"/>
                    </a:lnTo>
                    <a:lnTo>
                      <a:pt x="132" y="510"/>
                    </a:lnTo>
                    <a:lnTo>
                      <a:pt x="102" y="468"/>
                    </a:lnTo>
                    <a:lnTo>
                      <a:pt x="69" y="414"/>
                    </a:lnTo>
                    <a:lnTo>
                      <a:pt x="63" y="456"/>
                    </a:lnTo>
                    <a:lnTo>
                      <a:pt x="75" y="492"/>
                    </a:lnTo>
                    <a:lnTo>
                      <a:pt x="96" y="513"/>
                    </a:lnTo>
                    <a:lnTo>
                      <a:pt x="78" y="519"/>
                    </a:lnTo>
                    <a:lnTo>
                      <a:pt x="60" y="486"/>
                    </a:lnTo>
                    <a:lnTo>
                      <a:pt x="54" y="522"/>
                    </a:lnTo>
                    <a:lnTo>
                      <a:pt x="54" y="582"/>
                    </a:lnTo>
                    <a:close/>
                  </a:path>
                </a:pathLst>
              </a:custGeom>
              <a:solidFill>
                <a:schemeClr val="bg2"/>
              </a:solidFill>
              <a:ln w="9525">
                <a:noFill/>
                <a:round/>
                <a:headEnd/>
                <a:tailEnd/>
              </a:ln>
            </p:spPr>
            <p:txBody>
              <a:bodyPr/>
              <a:lstStyle/>
              <a:p>
                <a:endParaRPr lang="en-US"/>
              </a:p>
            </p:txBody>
          </p:sp>
          <p:sp>
            <p:nvSpPr>
              <p:cNvPr id="56366" name="Freeform 18"/>
              <p:cNvSpPr>
                <a:spLocks/>
              </p:cNvSpPr>
              <p:nvPr/>
            </p:nvSpPr>
            <p:spPr bwMode="auto">
              <a:xfrm>
                <a:off x="1133" y="1484"/>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6367" name="Freeform 19"/>
              <p:cNvSpPr>
                <a:spLocks/>
              </p:cNvSpPr>
              <p:nvPr/>
            </p:nvSpPr>
            <p:spPr bwMode="auto">
              <a:xfrm>
                <a:off x="1176" y="1419"/>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6368" name="Freeform 20"/>
              <p:cNvSpPr>
                <a:spLocks/>
              </p:cNvSpPr>
              <p:nvPr/>
            </p:nvSpPr>
            <p:spPr bwMode="auto">
              <a:xfrm>
                <a:off x="1249" y="1477"/>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6369" name="Freeform 21"/>
              <p:cNvSpPr>
                <a:spLocks/>
              </p:cNvSpPr>
              <p:nvPr/>
            </p:nvSpPr>
            <p:spPr bwMode="auto">
              <a:xfrm>
                <a:off x="1283" y="1547"/>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56338" name="Group 22"/>
            <p:cNvGrpSpPr>
              <a:grpSpLocks/>
            </p:cNvGrpSpPr>
            <p:nvPr/>
          </p:nvGrpSpPr>
          <p:grpSpPr bwMode="auto">
            <a:xfrm>
              <a:off x="1248" y="924"/>
              <a:ext cx="537" cy="707"/>
              <a:chOff x="1164" y="1150"/>
              <a:chExt cx="244" cy="414"/>
            </a:xfrm>
          </p:grpSpPr>
          <p:sp>
            <p:nvSpPr>
              <p:cNvPr id="56360" name="Freeform 23"/>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56361" name="Freeform 24"/>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6362" name="Freeform 25"/>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6363" name="Freeform 26"/>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6364" name="Freeform 27"/>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56339" name="Group 28"/>
            <p:cNvGrpSpPr>
              <a:grpSpLocks/>
            </p:cNvGrpSpPr>
            <p:nvPr/>
          </p:nvGrpSpPr>
          <p:grpSpPr bwMode="auto">
            <a:xfrm>
              <a:off x="1231" y="1581"/>
              <a:ext cx="259" cy="313"/>
              <a:chOff x="1164" y="1150"/>
              <a:chExt cx="244" cy="414"/>
            </a:xfrm>
          </p:grpSpPr>
          <p:sp>
            <p:nvSpPr>
              <p:cNvPr id="56355" name="Freeform 29"/>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56356" name="Freeform 30"/>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6357" name="Freeform 31"/>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6358" name="Freeform 32"/>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6359" name="Freeform 33"/>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56340" name="Group 34"/>
            <p:cNvGrpSpPr>
              <a:grpSpLocks/>
            </p:cNvGrpSpPr>
            <p:nvPr/>
          </p:nvGrpSpPr>
          <p:grpSpPr bwMode="auto">
            <a:xfrm>
              <a:off x="1424" y="1276"/>
              <a:ext cx="451" cy="584"/>
              <a:chOff x="1164" y="1150"/>
              <a:chExt cx="244" cy="414"/>
            </a:xfrm>
          </p:grpSpPr>
          <p:sp>
            <p:nvSpPr>
              <p:cNvPr id="56350" name="Freeform 3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56351" name="Freeform 3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6352" name="Freeform 3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6353" name="Freeform 3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56354" name="Freeform 3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sp>
          <p:nvSpPr>
            <p:cNvPr id="56341" name="AutoShape 40"/>
            <p:cNvSpPr>
              <a:spLocks noChangeArrowheads="1"/>
            </p:cNvSpPr>
            <p:nvPr/>
          </p:nvSpPr>
          <p:spPr bwMode="auto">
            <a:xfrm rot="10800000">
              <a:off x="1260" y="1764"/>
              <a:ext cx="342" cy="348"/>
            </a:xfrm>
            <a:custGeom>
              <a:avLst/>
              <a:gdLst>
                <a:gd name="T0" fmla="*/ 146 w 21600"/>
                <a:gd name="T1" fmla="*/ 0 h 21600"/>
                <a:gd name="T2" fmla="*/ 48 w 21600"/>
                <a:gd name="T3" fmla="*/ 348 h 21600"/>
                <a:gd name="T4" fmla="*/ 154 w 21600"/>
                <a:gd name="T5" fmla="*/ 134 h 21600"/>
                <a:gd name="T6" fmla="*/ 248 w 21600"/>
                <a:gd name="T7" fmla="*/ 230 h 21600"/>
                <a:gd name="T8" fmla="*/ 342 w 21600"/>
                <a:gd name="T9" fmla="*/ 134 h 21600"/>
                <a:gd name="T10" fmla="*/ 17694720 60000 65536"/>
                <a:gd name="T11" fmla="*/ 5898240 60000 65536"/>
                <a:gd name="T12" fmla="*/ 5898240 60000 65536"/>
                <a:gd name="T13" fmla="*/ 5898240 60000 65536"/>
                <a:gd name="T14" fmla="*/ 0 60000 65536"/>
                <a:gd name="T15" fmla="*/ 0 w 21600"/>
                <a:gd name="T16" fmla="*/ 8317 h 21600"/>
                <a:gd name="T17" fmla="*/ 6126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15662" y="14285"/>
                  </a:moveTo>
                  <a:lnTo>
                    <a:pt x="21600" y="8310"/>
                  </a:lnTo>
                  <a:lnTo>
                    <a:pt x="18630" y="8310"/>
                  </a:lnTo>
                  <a:cubicBezTo>
                    <a:pt x="18630" y="3721"/>
                    <a:pt x="14430" y="0"/>
                    <a:pt x="9250" y="0"/>
                  </a:cubicBezTo>
                  <a:cubicBezTo>
                    <a:pt x="4141" y="0"/>
                    <a:pt x="0" y="3799"/>
                    <a:pt x="0" y="8485"/>
                  </a:cubicBezTo>
                  <a:lnTo>
                    <a:pt x="0" y="21600"/>
                  </a:lnTo>
                  <a:lnTo>
                    <a:pt x="6110" y="21600"/>
                  </a:lnTo>
                  <a:lnTo>
                    <a:pt x="6110" y="8310"/>
                  </a:lnTo>
                  <a:cubicBezTo>
                    <a:pt x="6110" y="6947"/>
                    <a:pt x="7362" y="5842"/>
                    <a:pt x="8907" y="5842"/>
                  </a:cubicBezTo>
                  <a:lnTo>
                    <a:pt x="9725" y="5842"/>
                  </a:lnTo>
                  <a:cubicBezTo>
                    <a:pt x="11269" y="5842"/>
                    <a:pt x="12520" y="6947"/>
                    <a:pt x="12520" y="8310"/>
                  </a:cubicBezTo>
                  <a:lnTo>
                    <a:pt x="9725" y="8310"/>
                  </a:lnTo>
                  <a:close/>
                </a:path>
              </a:pathLst>
            </a:custGeom>
            <a:solidFill>
              <a:srgbClr val="333399"/>
            </a:solidFill>
            <a:ln w="9525" algn="ctr">
              <a:solidFill>
                <a:schemeClr val="tx1"/>
              </a:solidFill>
              <a:miter lim="800000"/>
              <a:headEnd/>
              <a:tailEnd/>
            </a:ln>
          </p:spPr>
          <p:txBody>
            <a:bodyPr wrap="none" anchor="ctr"/>
            <a:lstStyle/>
            <a:p>
              <a:endParaRPr lang="en-US"/>
            </a:p>
          </p:txBody>
        </p:sp>
        <p:sp>
          <p:nvSpPr>
            <p:cNvPr id="56342" name="AutoShape 41"/>
            <p:cNvSpPr>
              <a:spLocks noChangeArrowheads="1"/>
            </p:cNvSpPr>
            <p:nvPr/>
          </p:nvSpPr>
          <p:spPr bwMode="auto">
            <a:xfrm>
              <a:off x="1248" y="2706"/>
              <a:ext cx="264" cy="168"/>
            </a:xfrm>
            <a:prstGeom prst="upDownArrow">
              <a:avLst>
                <a:gd name="adj1" fmla="val 50000"/>
                <a:gd name="adj2" fmla="val 20000"/>
              </a:avLst>
            </a:prstGeom>
            <a:solidFill>
              <a:srgbClr val="333399"/>
            </a:solidFill>
            <a:ln w="9525" algn="ctr">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6343" name="Rectangle 42"/>
            <p:cNvSpPr>
              <a:spLocks noChangeArrowheads="1"/>
            </p:cNvSpPr>
            <p:nvPr/>
          </p:nvSpPr>
          <p:spPr bwMode="auto">
            <a:xfrm>
              <a:off x="1278" y="2268"/>
              <a:ext cx="258" cy="258"/>
            </a:xfrm>
            <a:prstGeom prst="rect">
              <a:avLst/>
            </a:prstGeom>
            <a:solidFill>
              <a:srgbClr val="FF3300"/>
            </a:solidFill>
            <a:ln w="9525" algn="ctr">
              <a:solidFill>
                <a:srgbClr val="FF33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6344" name="AutoShape 43"/>
            <p:cNvSpPr>
              <a:spLocks noChangeArrowheads="1"/>
            </p:cNvSpPr>
            <p:nvPr/>
          </p:nvSpPr>
          <p:spPr bwMode="auto">
            <a:xfrm>
              <a:off x="304" y="2908"/>
              <a:ext cx="450" cy="246"/>
            </a:xfrm>
            <a:prstGeom prst="leftArrow">
              <a:avLst>
                <a:gd name="adj1" fmla="val 50000"/>
                <a:gd name="adj2" fmla="val 45732"/>
              </a:avLst>
            </a:prstGeom>
            <a:solidFill>
              <a:srgbClr val="333399"/>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6345" name="AutoShape 44"/>
            <p:cNvSpPr>
              <a:spLocks noChangeArrowheads="1"/>
            </p:cNvSpPr>
            <p:nvPr/>
          </p:nvSpPr>
          <p:spPr bwMode="auto">
            <a:xfrm>
              <a:off x="2160" y="2880"/>
              <a:ext cx="450" cy="246"/>
            </a:xfrm>
            <a:prstGeom prst="leftArrow">
              <a:avLst>
                <a:gd name="adj1" fmla="val 50000"/>
                <a:gd name="adj2" fmla="val 45732"/>
              </a:avLst>
            </a:prstGeom>
            <a:solidFill>
              <a:srgbClr val="333399"/>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nvGrpSpPr>
            <p:cNvPr id="56346" name="Group 45"/>
            <p:cNvGrpSpPr>
              <a:grpSpLocks/>
            </p:cNvGrpSpPr>
            <p:nvPr/>
          </p:nvGrpSpPr>
          <p:grpSpPr bwMode="auto">
            <a:xfrm>
              <a:off x="732" y="1686"/>
              <a:ext cx="210" cy="1908"/>
              <a:chOff x="732" y="1686"/>
              <a:chExt cx="210" cy="1908"/>
            </a:xfrm>
          </p:grpSpPr>
          <p:sp>
            <p:nvSpPr>
              <p:cNvPr id="56347" name="Rectangle 46"/>
              <p:cNvSpPr>
                <a:spLocks noChangeArrowheads="1"/>
              </p:cNvSpPr>
              <p:nvPr/>
            </p:nvSpPr>
            <p:spPr bwMode="auto">
              <a:xfrm>
                <a:off x="876" y="1848"/>
                <a:ext cx="60" cy="1734"/>
              </a:xfrm>
              <a:prstGeom prst="rect">
                <a:avLst/>
              </a:prstGeom>
              <a:solidFill>
                <a:schemeClr val="bg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6348" name="Rectangle 47" descr="Dark horizontal"/>
              <p:cNvSpPr>
                <a:spLocks noChangeArrowheads="1"/>
              </p:cNvSpPr>
              <p:nvPr/>
            </p:nvSpPr>
            <p:spPr bwMode="auto">
              <a:xfrm>
                <a:off x="876" y="3006"/>
                <a:ext cx="60" cy="588"/>
              </a:xfrm>
              <a:prstGeom prst="rect">
                <a:avLst/>
              </a:prstGeom>
              <a:pattFill prst="dkHorz">
                <a:fgClr>
                  <a:srgbClr val="777777"/>
                </a:fgClr>
                <a:bgClr>
                  <a:schemeClr val="bg1"/>
                </a:bgClr>
              </a:patt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6349" name="AutoShape 48"/>
              <p:cNvSpPr>
                <a:spLocks noChangeArrowheads="1"/>
              </p:cNvSpPr>
              <p:nvPr/>
            </p:nvSpPr>
            <p:spPr bwMode="auto">
              <a:xfrm flipH="1">
                <a:off x="732" y="1686"/>
                <a:ext cx="210" cy="174"/>
              </a:xfrm>
              <a:custGeom>
                <a:avLst/>
                <a:gdLst>
                  <a:gd name="T0" fmla="*/ 147 w 21600"/>
                  <a:gd name="T1" fmla="*/ 0 h 21600"/>
                  <a:gd name="T2" fmla="*/ 147 w 21600"/>
                  <a:gd name="T3" fmla="*/ 98 h 21600"/>
                  <a:gd name="T4" fmla="*/ 31 w 21600"/>
                  <a:gd name="T5" fmla="*/ 174 h 21600"/>
                  <a:gd name="T6" fmla="*/ 210 w 21600"/>
                  <a:gd name="T7" fmla="*/ 49 h 21600"/>
                  <a:gd name="T8" fmla="*/ 17694720 60000 65536"/>
                  <a:gd name="T9" fmla="*/ 5898240 60000 65536"/>
                  <a:gd name="T10" fmla="*/ 5898240 60000 65536"/>
                  <a:gd name="T11" fmla="*/ 0 60000 65536"/>
                  <a:gd name="T12" fmla="*/ 12446 w 21600"/>
                  <a:gd name="T13" fmla="*/ 2855 h 21600"/>
                  <a:gd name="T14" fmla="*/ 18206 w 21600"/>
                  <a:gd name="T15" fmla="*/ 918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333399"/>
              </a:solidFill>
              <a:ln w="9525">
                <a:solidFill>
                  <a:schemeClr val="tx1"/>
                </a:solidFill>
                <a:miter lim="800000"/>
                <a:headEnd/>
                <a:tailEnd/>
              </a:ln>
            </p:spPr>
            <p:txBody>
              <a:bodyPr wrap="none" anchor="ctr"/>
              <a:lstStyle/>
              <a:p>
                <a:endParaRPr lang="en-US"/>
              </a:p>
            </p:txBody>
          </p:sp>
        </p:grpSp>
      </p:grpSp>
      <p:sp>
        <p:nvSpPr>
          <p:cNvPr id="56323" name="Line 50"/>
          <p:cNvSpPr>
            <a:spLocks noChangeShapeType="1"/>
          </p:cNvSpPr>
          <p:nvPr/>
        </p:nvSpPr>
        <p:spPr bwMode="auto">
          <a:xfrm>
            <a:off x="5419725" y="2552700"/>
            <a:ext cx="0" cy="3324225"/>
          </a:xfrm>
          <a:prstGeom prst="line">
            <a:avLst/>
          </a:prstGeom>
          <a:noFill/>
          <a:ln w="9525">
            <a:solidFill>
              <a:schemeClr val="tx1"/>
            </a:solidFill>
            <a:round/>
            <a:headEnd/>
            <a:tailEnd type="triangle" w="med" len="med"/>
          </a:ln>
        </p:spPr>
        <p:txBody>
          <a:bodyPr/>
          <a:lstStyle/>
          <a:p>
            <a:endParaRPr lang="en-US"/>
          </a:p>
        </p:txBody>
      </p:sp>
      <p:sp>
        <p:nvSpPr>
          <p:cNvPr id="56324" name="Line 51"/>
          <p:cNvSpPr>
            <a:spLocks noChangeShapeType="1"/>
          </p:cNvSpPr>
          <p:nvPr/>
        </p:nvSpPr>
        <p:spPr bwMode="auto">
          <a:xfrm>
            <a:off x="5429250" y="2552700"/>
            <a:ext cx="2590800" cy="0"/>
          </a:xfrm>
          <a:prstGeom prst="line">
            <a:avLst/>
          </a:prstGeom>
          <a:noFill/>
          <a:ln w="9525">
            <a:solidFill>
              <a:schemeClr val="tx1"/>
            </a:solidFill>
            <a:round/>
            <a:headEnd/>
            <a:tailEnd type="triangle" w="med" len="med"/>
          </a:ln>
        </p:spPr>
        <p:txBody>
          <a:bodyPr/>
          <a:lstStyle/>
          <a:p>
            <a:endParaRPr lang="en-US"/>
          </a:p>
        </p:txBody>
      </p:sp>
      <p:sp>
        <p:nvSpPr>
          <p:cNvPr id="56325" name="Text Box 52"/>
          <p:cNvSpPr txBox="1">
            <a:spLocks noChangeArrowheads="1"/>
          </p:cNvSpPr>
          <p:nvPr/>
        </p:nvSpPr>
        <p:spPr bwMode="auto">
          <a:xfrm>
            <a:off x="4543425" y="3933825"/>
            <a:ext cx="885825" cy="366713"/>
          </a:xfrm>
          <a:prstGeom prst="rect">
            <a:avLst/>
          </a:prstGeom>
          <a:noFill/>
          <a:ln w="9525">
            <a:noFill/>
            <a:miter lim="800000"/>
            <a:headEnd/>
            <a:tailEnd/>
          </a:ln>
        </p:spPr>
        <p:txBody>
          <a:bodyPr>
            <a:spAutoFit/>
          </a:bodyPr>
          <a:lstStyle/>
          <a:p>
            <a:pPr>
              <a:spcBef>
                <a:spcPct val="50000"/>
              </a:spcBef>
            </a:pPr>
            <a:r>
              <a:rPr lang="en-AU" i="0">
                <a:solidFill>
                  <a:schemeClr val="tx1"/>
                </a:solidFill>
              </a:rPr>
              <a:t>Depth</a:t>
            </a:r>
            <a:endParaRPr lang="en-US" i="0">
              <a:solidFill>
                <a:schemeClr val="tx1"/>
              </a:solidFill>
            </a:endParaRPr>
          </a:p>
        </p:txBody>
      </p:sp>
      <p:sp>
        <p:nvSpPr>
          <p:cNvPr id="56326" name="Rectangle 53"/>
          <p:cNvSpPr>
            <a:spLocks noChangeArrowheads="1"/>
          </p:cNvSpPr>
          <p:nvPr/>
        </p:nvSpPr>
        <p:spPr bwMode="auto">
          <a:xfrm>
            <a:off x="5419725" y="4352925"/>
            <a:ext cx="2628900" cy="1438275"/>
          </a:xfrm>
          <a:prstGeom prst="rect">
            <a:avLst/>
          </a:prstGeom>
          <a:solidFill>
            <a:srgbClr val="99CCFF"/>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56327" name="Text Box 54"/>
          <p:cNvSpPr txBox="1">
            <a:spLocks noChangeArrowheads="1"/>
          </p:cNvSpPr>
          <p:nvPr/>
        </p:nvSpPr>
        <p:spPr bwMode="auto">
          <a:xfrm>
            <a:off x="5654675" y="2073275"/>
            <a:ext cx="2362200" cy="366713"/>
          </a:xfrm>
          <a:prstGeom prst="rect">
            <a:avLst/>
          </a:prstGeom>
          <a:noFill/>
          <a:ln w="9525">
            <a:noFill/>
            <a:miter lim="800000"/>
            <a:headEnd/>
            <a:tailEnd/>
          </a:ln>
        </p:spPr>
        <p:txBody>
          <a:bodyPr>
            <a:spAutoFit/>
          </a:bodyPr>
          <a:lstStyle/>
          <a:p>
            <a:pPr>
              <a:spcBef>
                <a:spcPct val="50000"/>
              </a:spcBef>
            </a:pPr>
            <a:r>
              <a:rPr lang="en-AU" i="0">
                <a:solidFill>
                  <a:schemeClr val="tx1"/>
                </a:solidFill>
              </a:rPr>
              <a:t>Soil Moisture</a:t>
            </a:r>
            <a:endParaRPr lang="en-US" i="0">
              <a:solidFill>
                <a:schemeClr val="tx1"/>
              </a:solidFill>
            </a:endParaRPr>
          </a:p>
        </p:txBody>
      </p:sp>
      <p:sp>
        <p:nvSpPr>
          <p:cNvPr id="56328" name="Freeform 55"/>
          <p:cNvSpPr>
            <a:spLocks/>
          </p:cNvSpPr>
          <p:nvPr/>
        </p:nvSpPr>
        <p:spPr bwMode="auto">
          <a:xfrm>
            <a:off x="5659438" y="2562225"/>
            <a:ext cx="1655762" cy="1800225"/>
          </a:xfrm>
          <a:custGeom>
            <a:avLst/>
            <a:gdLst>
              <a:gd name="T0" fmla="*/ 179387 w 1043"/>
              <a:gd name="T1" fmla="*/ 0 h 1134"/>
              <a:gd name="T2" fmla="*/ 198437 w 1043"/>
              <a:gd name="T3" fmla="*/ 114300 h 1134"/>
              <a:gd name="T4" fmla="*/ 446087 w 1043"/>
              <a:gd name="T5" fmla="*/ 200025 h 1134"/>
              <a:gd name="T6" fmla="*/ 969962 w 1043"/>
              <a:gd name="T7" fmla="*/ 295275 h 1134"/>
              <a:gd name="T8" fmla="*/ 989012 w 1043"/>
              <a:gd name="T9" fmla="*/ 533400 h 1134"/>
              <a:gd name="T10" fmla="*/ 788987 w 1043"/>
              <a:gd name="T11" fmla="*/ 676275 h 1134"/>
              <a:gd name="T12" fmla="*/ 465137 w 1043"/>
              <a:gd name="T13" fmla="*/ 809625 h 1134"/>
              <a:gd name="T14" fmla="*/ 169862 w 1043"/>
              <a:gd name="T15" fmla="*/ 933450 h 1134"/>
              <a:gd name="T16" fmla="*/ 103187 w 1043"/>
              <a:gd name="T17" fmla="*/ 1190625 h 1134"/>
              <a:gd name="T18" fmla="*/ 93662 w 1043"/>
              <a:gd name="T19" fmla="*/ 1466850 h 1134"/>
              <a:gd name="T20" fmla="*/ 665162 w 1043"/>
              <a:gd name="T21" fmla="*/ 1647825 h 1134"/>
              <a:gd name="T22" fmla="*/ 1655762 w 1043"/>
              <a:gd name="T23" fmla="*/ 1800225 h 11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43"/>
              <a:gd name="T37" fmla="*/ 0 h 1134"/>
              <a:gd name="T38" fmla="*/ 1043 w 1043"/>
              <a:gd name="T39" fmla="*/ 1134 h 11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43" h="1134">
                <a:moveTo>
                  <a:pt x="113" y="0"/>
                </a:moveTo>
                <a:cubicBezTo>
                  <a:pt x="105" y="25"/>
                  <a:pt x="97" y="51"/>
                  <a:pt x="125" y="72"/>
                </a:cubicBezTo>
                <a:cubicBezTo>
                  <a:pt x="153" y="93"/>
                  <a:pt x="200" y="107"/>
                  <a:pt x="281" y="126"/>
                </a:cubicBezTo>
                <a:cubicBezTo>
                  <a:pt x="362" y="145"/>
                  <a:pt x="554" y="151"/>
                  <a:pt x="611" y="186"/>
                </a:cubicBezTo>
                <a:cubicBezTo>
                  <a:pt x="668" y="221"/>
                  <a:pt x="642" y="296"/>
                  <a:pt x="623" y="336"/>
                </a:cubicBezTo>
                <a:cubicBezTo>
                  <a:pt x="604" y="376"/>
                  <a:pt x="552" y="397"/>
                  <a:pt x="497" y="426"/>
                </a:cubicBezTo>
                <a:cubicBezTo>
                  <a:pt x="442" y="455"/>
                  <a:pt x="358" y="483"/>
                  <a:pt x="293" y="510"/>
                </a:cubicBezTo>
                <a:cubicBezTo>
                  <a:pt x="228" y="537"/>
                  <a:pt x="145" y="548"/>
                  <a:pt x="107" y="588"/>
                </a:cubicBezTo>
                <a:cubicBezTo>
                  <a:pt x="69" y="628"/>
                  <a:pt x="73" y="694"/>
                  <a:pt x="65" y="750"/>
                </a:cubicBezTo>
                <a:cubicBezTo>
                  <a:pt x="57" y="806"/>
                  <a:pt x="0" y="876"/>
                  <a:pt x="59" y="924"/>
                </a:cubicBezTo>
                <a:cubicBezTo>
                  <a:pt x="118" y="972"/>
                  <a:pt x="255" y="1003"/>
                  <a:pt x="419" y="1038"/>
                </a:cubicBezTo>
                <a:cubicBezTo>
                  <a:pt x="583" y="1073"/>
                  <a:pt x="813" y="1103"/>
                  <a:pt x="1043" y="1134"/>
                </a:cubicBezTo>
              </a:path>
            </a:pathLst>
          </a:custGeom>
          <a:noFill/>
          <a:ln w="9525">
            <a:solidFill>
              <a:schemeClr val="tx1"/>
            </a:solidFill>
            <a:round/>
            <a:headEnd/>
            <a:tailEnd/>
          </a:ln>
        </p:spPr>
        <p:txBody>
          <a:bodyPr/>
          <a:lstStyle/>
          <a:p>
            <a:endParaRPr lang="en-US"/>
          </a:p>
        </p:txBody>
      </p:sp>
      <p:sp>
        <p:nvSpPr>
          <p:cNvPr id="94264" name="Freeform 56"/>
          <p:cNvSpPr>
            <a:spLocks/>
          </p:cNvSpPr>
          <p:nvPr/>
        </p:nvSpPr>
        <p:spPr bwMode="auto">
          <a:xfrm>
            <a:off x="5656263" y="2562225"/>
            <a:ext cx="1655762" cy="1797050"/>
          </a:xfrm>
          <a:custGeom>
            <a:avLst/>
            <a:gdLst>
              <a:gd name="T0" fmla="*/ 1039812 w 1043"/>
              <a:gd name="T1" fmla="*/ 0 h 1132"/>
              <a:gd name="T2" fmla="*/ 1011237 w 1043"/>
              <a:gd name="T3" fmla="*/ 180975 h 1132"/>
              <a:gd name="T4" fmla="*/ 1011237 w 1043"/>
              <a:gd name="T5" fmla="*/ 228600 h 1132"/>
              <a:gd name="T6" fmla="*/ 1020762 w 1043"/>
              <a:gd name="T7" fmla="*/ 304800 h 1132"/>
              <a:gd name="T8" fmla="*/ 989012 w 1043"/>
              <a:gd name="T9" fmla="*/ 530225 h 1132"/>
              <a:gd name="T10" fmla="*/ 788987 w 1043"/>
              <a:gd name="T11" fmla="*/ 673100 h 1132"/>
              <a:gd name="T12" fmla="*/ 465137 w 1043"/>
              <a:gd name="T13" fmla="*/ 806450 h 1132"/>
              <a:gd name="T14" fmla="*/ 169862 w 1043"/>
              <a:gd name="T15" fmla="*/ 930275 h 1132"/>
              <a:gd name="T16" fmla="*/ 103187 w 1043"/>
              <a:gd name="T17" fmla="*/ 1187450 h 1132"/>
              <a:gd name="T18" fmla="*/ 93662 w 1043"/>
              <a:gd name="T19" fmla="*/ 1463675 h 1132"/>
              <a:gd name="T20" fmla="*/ 665162 w 1043"/>
              <a:gd name="T21" fmla="*/ 1644650 h 1132"/>
              <a:gd name="T22" fmla="*/ 1655762 w 1043"/>
              <a:gd name="T23" fmla="*/ 1797050 h 11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43"/>
              <a:gd name="T37" fmla="*/ 0 h 1132"/>
              <a:gd name="T38" fmla="*/ 1043 w 1043"/>
              <a:gd name="T39" fmla="*/ 1132 h 11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43" h="1132">
                <a:moveTo>
                  <a:pt x="655" y="0"/>
                </a:moveTo>
                <a:cubicBezTo>
                  <a:pt x="652" y="19"/>
                  <a:pt x="640" y="90"/>
                  <a:pt x="637" y="114"/>
                </a:cubicBezTo>
                <a:cubicBezTo>
                  <a:pt x="634" y="138"/>
                  <a:pt x="636" y="131"/>
                  <a:pt x="637" y="144"/>
                </a:cubicBezTo>
                <a:cubicBezTo>
                  <a:pt x="638" y="157"/>
                  <a:pt x="645" y="160"/>
                  <a:pt x="643" y="192"/>
                </a:cubicBezTo>
                <a:cubicBezTo>
                  <a:pt x="641" y="224"/>
                  <a:pt x="647" y="295"/>
                  <a:pt x="623" y="334"/>
                </a:cubicBezTo>
                <a:cubicBezTo>
                  <a:pt x="599" y="373"/>
                  <a:pt x="552" y="395"/>
                  <a:pt x="497" y="424"/>
                </a:cubicBezTo>
                <a:cubicBezTo>
                  <a:pt x="442" y="453"/>
                  <a:pt x="358" y="481"/>
                  <a:pt x="293" y="508"/>
                </a:cubicBezTo>
                <a:cubicBezTo>
                  <a:pt x="228" y="535"/>
                  <a:pt x="145" y="546"/>
                  <a:pt x="107" y="586"/>
                </a:cubicBezTo>
                <a:cubicBezTo>
                  <a:pt x="69" y="626"/>
                  <a:pt x="73" y="692"/>
                  <a:pt x="65" y="748"/>
                </a:cubicBezTo>
                <a:cubicBezTo>
                  <a:pt x="57" y="804"/>
                  <a:pt x="0" y="874"/>
                  <a:pt x="59" y="922"/>
                </a:cubicBezTo>
                <a:cubicBezTo>
                  <a:pt x="118" y="970"/>
                  <a:pt x="255" y="1001"/>
                  <a:pt x="419" y="1036"/>
                </a:cubicBezTo>
                <a:cubicBezTo>
                  <a:pt x="583" y="1071"/>
                  <a:pt x="813" y="1101"/>
                  <a:pt x="1043" y="1132"/>
                </a:cubicBezTo>
              </a:path>
            </a:pathLst>
          </a:custGeom>
          <a:noFill/>
          <a:ln w="19050" cmpd="sng">
            <a:solidFill>
              <a:schemeClr val="folHlink"/>
            </a:solidFill>
            <a:round/>
            <a:headEnd/>
            <a:tailEnd/>
          </a:ln>
        </p:spPr>
        <p:txBody>
          <a:bodyPr/>
          <a:lstStyle/>
          <a:p>
            <a:endParaRPr lang="en-US"/>
          </a:p>
        </p:txBody>
      </p:sp>
      <p:sp>
        <p:nvSpPr>
          <p:cNvPr id="94265" name="Freeform 57"/>
          <p:cNvSpPr>
            <a:spLocks/>
          </p:cNvSpPr>
          <p:nvPr/>
        </p:nvSpPr>
        <p:spPr bwMode="auto">
          <a:xfrm>
            <a:off x="6022975" y="2568575"/>
            <a:ext cx="1285875" cy="1797050"/>
          </a:xfrm>
          <a:custGeom>
            <a:avLst/>
            <a:gdLst>
              <a:gd name="T0" fmla="*/ 669925 w 810"/>
              <a:gd name="T1" fmla="*/ 0 h 1132"/>
              <a:gd name="T2" fmla="*/ 641350 w 810"/>
              <a:gd name="T3" fmla="*/ 180975 h 1132"/>
              <a:gd name="T4" fmla="*/ 641350 w 810"/>
              <a:gd name="T5" fmla="*/ 228600 h 1132"/>
              <a:gd name="T6" fmla="*/ 650875 w 810"/>
              <a:gd name="T7" fmla="*/ 304800 h 1132"/>
              <a:gd name="T8" fmla="*/ 619125 w 810"/>
              <a:gd name="T9" fmla="*/ 530225 h 1132"/>
              <a:gd name="T10" fmla="*/ 520700 w 810"/>
              <a:gd name="T11" fmla="*/ 746125 h 1132"/>
              <a:gd name="T12" fmla="*/ 234950 w 810"/>
              <a:gd name="T13" fmla="*/ 889000 h 1132"/>
              <a:gd name="T14" fmla="*/ 44450 w 810"/>
              <a:gd name="T15" fmla="*/ 1117600 h 1132"/>
              <a:gd name="T16" fmla="*/ 6350 w 810"/>
              <a:gd name="T17" fmla="*/ 1308100 h 1132"/>
              <a:gd name="T18" fmla="*/ 82550 w 810"/>
              <a:gd name="T19" fmla="*/ 1527175 h 1132"/>
              <a:gd name="T20" fmla="*/ 295275 w 810"/>
              <a:gd name="T21" fmla="*/ 1644650 h 1132"/>
              <a:gd name="T22" fmla="*/ 1285875 w 810"/>
              <a:gd name="T23" fmla="*/ 1797050 h 11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10"/>
              <a:gd name="T37" fmla="*/ 0 h 1132"/>
              <a:gd name="T38" fmla="*/ 810 w 810"/>
              <a:gd name="T39" fmla="*/ 1132 h 11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10" h="1132">
                <a:moveTo>
                  <a:pt x="422" y="0"/>
                </a:moveTo>
                <a:cubicBezTo>
                  <a:pt x="419" y="19"/>
                  <a:pt x="407" y="90"/>
                  <a:pt x="404" y="114"/>
                </a:cubicBezTo>
                <a:cubicBezTo>
                  <a:pt x="401" y="138"/>
                  <a:pt x="403" y="131"/>
                  <a:pt x="404" y="144"/>
                </a:cubicBezTo>
                <a:cubicBezTo>
                  <a:pt x="405" y="157"/>
                  <a:pt x="412" y="160"/>
                  <a:pt x="410" y="192"/>
                </a:cubicBezTo>
                <a:cubicBezTo>
                  <a:pt x="408" y="224"/>
                  <a:pt x="404" y="288"/>
                  <a:pt x="390" y="334"/>
                </a:cubicBezTo>
                <a:cubicBezTo>
                  <a:pt x="376" y="380"/>
                  <a:pt x="368" y="432"/>
                  <a:pt x="328" y="470"/>
                </a:cubicBezTo>
                <a:cubicBezTo>
                  <a:pt x="288" y="508"/>
                  <a:pt x="198" y="521"/>
                  <a:pt x="148" y="560"/>
                </a:cubicBezTo>
                <a:cubicBezTo>
                  <a:pt x="98" y="599"/>
                  <a:pt x="52" y="660"/>
                  <a:pt x="28" y="704"/>
                </a:cubicBezTo>
                <a:cubicBezTo>
                  <a:pt x="4" y="748"/>
                  <a:pt x="0" y="781"/>
                  <a:pt x="4" y="824"/>
                </a:cubicBezTo>
                <a:cubicBezTo>
                  <a:pt x="8" y="867"/>
                  <a:pt x="22" y="927"/>
                  <a:pt x="52" y="962"/>
                </a:cubicBezTo>
                <a:cubicBezTo>
                  <a:pt x="82" y="997"/>
                  <a:pt x="60" y="1008"/>
                  <a:pt x="186" y="1036"/>
                </a:cubicBezTo>
                <a:cubicBezTo>
                  <a:pt x="312" y="1064"/>
                  <a:pt x="580" y="1101"/>
                  <a:pt x="810" y="1132"/>
                </a:cubicBezTo>
              </a:path>
            </a:pathLst>
          </a:custGeom>
          <a:noFill/>
          <a:ln w="19050" cmpd="sng">
            <a:solidFill>
              <a:schemeClr val="folHlink"/>
            </a:solidFill>
            <a:round/>
            <a:headEnd/>
            <a:tailEnd/>
          </a:ln>
        </p:spPr>
        <p:txBody>
          <a:bodyPr/>
          <a:lstStyle/>
          <a:p>
            <a:endParaRPr lang="en-US"/>
          </a:p>
        </p:txBody>
      </p:sp>
      <p:sp>
        <p:nvSpPr>
          <p:cNvPr id="94266" name="Freeform 58"/>
          <p:cNvSpPr>
            <a:spLocks/>
          </p:cNvSpPr>
          <p:nvPr/>
        </p:nvSpPr>
        <p:spPr bwMode="auto">
          <a:xfrm>
            <a:off x="5549900" y="2559050"/>
            <a:ext cx="1752600" cy="1800225"/>
          </a:xfrm>
          <a:custGeom>
            <a:avLst/>
            <a:gdLst>
              <a:gd name="T0" fmla="*/ 276225 w 1104"/>
              <a:gd name="T1" fmla="*/ 0 h 1134"/>
              <a:gd name="T2" fmla="*/ 295275 w 1104"/>
              <a:gd name="T3" fmla="*/ 114300 h 1134"/>
              <a:gd name="T4" fmla="*/ 431800 w 1104"/>
              <a:gd name="T5" fmla="*/ 269875 h 1134"/>
              <a:gd name="T6" fmla="*/ 136525 w 1104"/>
              <a:gd name="T7" fmla="*/ 536575 h 1134"/>
              <a:gd name="T8" fmla="*/ 50800 w 1104"/>
              <a:gd name="T9" fmla="*/ 1041400 h 1134"/>
              <a:gd name="T10" fmla="*/ 50800 w 1104"/>
              <a:gd name="T11" fmla="*/ 1289050 h 1134"/>
              <a:gd name="T12" fmla="*/ 117475 w 1104"/>
              <a:gd name="T13" fmla="*/ 1555750 h 1134"/>
              <a:gd name="T14" fmla="*/ 762000 w 1104"/>
              <a:gd name="T15" fmla="*/ 1647825 h 1134"/>
              <a:gd name="T16" fmla="*/ 1752600 w 1104"/>
              <a:gd name="T17" fmla="*/ 1800225 h 11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04"/>
              <a:gd name="T28" fmla="*/ 0 h 1134"/>
              <a:gd name="T29" fmla="*/ 1104 w 1104"/>
              <a:gd name="T30" fmla="*/ 1134 h 113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04" h="1134">
                <a:moveTo>
                  <a:pt x="174" y="0"/>
                </a:moveTo>
                <a:cubicBezTo>
                  <a:pt x="166" y="25"/>
                  <a:pt x="170" y="44"/>
                  <a:pt x="186" y="72"/>
                </a:cubicBezTo>
                <a:cubicBezTo>
                  <a:pt x="202" y="100"/>
                  <a:pt x="289" y="126"/>
                  <a:pt x="272" y="170"/>
                </a:cubicBezTo>
                <a:cubicBezTo>
                  <a:pt x="255" y="214"/>
                  <a:pt x="126" y="257"/>
                  <a:pt x="86" y="338"/>
                </a:cubicBezTo>
                <a:cubicBezTo>
                  <a:pt x="46" y="419"/>
                  <a:pt x="41" y="577"/>
                  <a:pt x="32" y="656"/>
                </a:cubicBezTo>
                <a:cubicBezTo>
                  <a:pt x="23" y="735"/>
                  <a:pt x="25" y="758"/>
                  <a:pt x="32" y="812"/>
                </a:cubicBezTo>
                <a:cubicBezTo>
                  <a:pt x="39" y="866"/>
                  <a:pt x="0" y="942"/>
                  <a:pt x="74" y="980"/>
                </a:cubicBezTo>
                <a:cubicBezTo>
                  <a:pt x="148" y="1018"/>
                  <a:pt x="308" y="1012"/>
                  <a:pt x="480" y="1038"/>
                </a:cubicBezTo>
                <a:cubicBezTo>
                  <a:pt x="652" y="1064"/>
                  <a:pt x="874" y="1103"/>
                  <a:pt x="1104" y="1134"/>
                </a:cubicBezTo>
              </a:path>
            </a:pathLst>
          </a:custGeom>
          <a:noFill/>
          <a:ln w="19050" cmpd="sng">
            <a:solidFill>
              <a:srgbClr val="FF3300"/>
            </a:solidFill>
            <a:round/>
            <a:headEnd/>
            <a:tailEn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4266"/>
                                        </p:tgtEl>
                                        <p:attrNameLst>
                                          <p:attrName>style.visibility</p:attrName>
                                        </p:attrNameLst>
                                      </p:cBhvr>
                                      <p:to>
                                        <p:strVal val="visible"/>
                                      </p:to>
                                    </p:set>
                                    <p:animEffect transition="in" filter="dissolve">
                                      <p:cBhvr>
                                        <p:cTn id="7" dur="500"/>
                                        <p:tgtEl>
                                          <p:spTgt spid="9426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4264"/>
                                        </p:tgtEl>
                                        <p:attrNameLst>
                                          <p:attrName>style.visibility</p:attrName>
                                        </p:attrNameLst>
                                      </p:cBhvr>
                                      <p:to>
                                        <p:strVal val="visible"/>
                                      </p:to>
                                    </p:set>
                                    <p:animEffect transition="in" filter="dissolve">
                                      <p:cBhvr>
                                        <p:cTn id="12" dur="500"/>
                                        <p:tgtEl>
                                          <p:spTgt spid="942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4265"/>
                                        </p:tgtEl>
                                        <p:attrNameLst>
                                          <p:attrName>style.visibility</p:attrName>
                                        </p:attrNameLst>
                                      </p:cBhvr>
                                      <p:to>
                                        <p:strVal val="visible"/>
                                      </p:to>
                                    </p:set>
                                    <p:animEffect transition="in" filter="dissolve">
                                      <p:cBhvr>
                                        <p:cTn id="17" dur="500"/>
                                        <p:tgtEl>
                                          <p:spTgt spid="942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64" grpId="0" animBg="1"/>
      <p:bldP spid="94265" grpId="0" animBg="1"/>
      <p:bldP spid="9426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ext Box 16"/>
          <p:cNvSpPr txBox="1">
            <a:spLocks noChangeArrowheads="1"/>
          </p:cNvSpPr>
          <p:nvPr/>
        </p:nvSpPr>
        <p:spPr bwMode="auto">
          <a:xfrm>
            <a:off x="438150" y="796925"/>
            <a:ext cx="7032625" cy="1098550"/>
          </a:xfrm>
          <a:prstGeom prst="rect">
            <a:avLst/>
          </a:prstGeom>
          <a:noFill/>
          <a:ln w="9525">
            <a:noFill/>
            <a:miter lim="800000"/>
            <a:headEnd/>
            <a:tailEnd/>
          </a:ln>
        </p:spPr>
        <p:txBody>
          <a:bodyPr lIns="0" tIns="0" rIns="0" bIns="0">
            <a:spAutoFit/>
          </a:bodyPr>
          <a:lstStyle/>
          <a:p>
            <a:pPr>
              <a:spcBef>
                <a:spcPct val="50000"/>
              </a:spcBef>
            </a:pPr>
            <a:r>
              <a:rPr lang="en-AU" sz="3600" i="0">
                <a:solidFill>
                  <a:schemeClr val="tx1"/>
                </a:solidFill>
              </a:rPr>
              <a:t>Significance of climate variability on recharge</a:t>
            </a:r>
            <a:endParaRPr lang="en-US" sz="3600" i="0">
              <a:solidFill>
                <a:schemeClr val="tx1"/>
              </a:solidFill>
            </a:endParaRPr>
          </a:p>
        </p:txBody>
      </p:sp>
      <p:pic>
        <p:nvPicPr>
          <p:cNvPr id="58370" name="Picture 77"/>
          <p:cNvPicPr>
            <a:picLocks noChangeAspect="1" noChangeArrowheads="1"/>
          </p:cNvPicPr>
          <p:nvPr/>
        </p:nvPicPr>
        <p:blipFill>
          <a:blip r:embed="rId3"/>
          <a:srcRect/>
          <a:stretch>
            <a:fillRect/>
          </a:stretch>
        </p:blipFill>
        <p:spPr bwMode="auto">
          <a:xfrm>
            <a:off x="438150" y="1504950"/>
            <a:ext cx="6996113" cy="51419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Line 2"/>
          <p:cNvSpPr>
            <a:spLocks noChangeShapeType="1"/>
          </p:cNvSpPr>
          <p:nvPr/>
        </p:nvSpPr>
        <p:spPr bwMode="auto">
          <a:xfrm>
            <a:off x="3390900" y="4584700"/>
            <a:ext cx="3000375" cy="0"/>
          </a:xfrm>
          <a:prstGeom prst="line">
            <a:avLst/>
          </a:prstGeom>
          <a:noFill/>
          <a:ln w="12700">
            <a:solidFill>
              <a:schemeClr val="tx1"/>
            </a:solidFill>
            <a:prstDash val="dash"/>
            <a:round/>
            <a:headEnd/>
            <a:tailEnd/>
          </a:ln>
        </p:spPr>
        <p:txBody>
          <a:bodyPr/>
          <a:lstStyle/>
          <a:p>
            <a:endParaRPr lang="en-US"/>
          </a:p>
        </p:txBody>
      </p:sp>
      <p:sp>
        <p:nvSpPr>
          <p:cNvPr id="60418" name="Rectangle 3"/>
          <p:cNvSpPr>
            <a:spLocks noGrp="1" noChangeArrowheads="1"/>
          </p:cNvSpPr>
          <p:nvPr>
            <p:ph type="title"/>
          </p:nvPr>
        </p:nvSpPr>
        <p:spPr>
          <a:xfrm>
            <a:off x="438150" y="798513"/>
            <a:ext cx="5716588" cy="987425"/>
          </a:xfrm>
        </p:spPr>
        <p:txBody>
          <a:bodyPr/>
          <a:lstStyle/>
          <a:p>
            <a:r>
              <a:rPr lang="en-AU" smtClean="0"/>
              <a:t>Groundwater Dynamics – Unconfined Aquifers</a:t>
            </a:r>
            <a:endParaRPr lang="en-US" smtClean="0"/>
          </a:p>
        </p:txBody>
      </p:sp>
      <p:sp>
        <p:nvSpPr>
          <p:cNvPr id="60419" name="Line 4"/>
          <p:cNvSpPr>
            <a:spLocks noChangeShapeType="1"/>
          </p:cNvSpPr>
          <p:nvPr/>
        </p:nvSpPr>
        <p:spPr bwMode="auto">
          <a:xfrm flipV="1">
            <a:off x="866775" y="4348163"/>
            <a:ext cx="631825" cy="860425"/>
          </a:xfrm>
          <a:prstGeom prst="line">
            <a:avLst/>
          </a:prstGeom>
          <a:noFill/>
          <a:ln w="9525">
            <a:solidFill>
              <a:schemeClr val="tx1"/>
            </a:solidFill>
            <a:round/>
            <a:headEnd/>
            <a:tailEnd/>
          </a:ln>
        </p:spPr>
        <p:txBody>
          <a:bodyPr/>
          <a:lstStyle/>
          <a:p>
            <a:endParaRPr lang="en-US"/>
          </a:p>
        </p:txBody>
      </p:sp>
      <p:grpSp>
        <p:nvGrpSpPr>
          <p:cNvPr id="60420" name="Group 5"/>
          <p:cNvGrpSpPr>
            <a:grpSpLocks/>
          </p:cNvGrpSpPr>
          <p:nvPr/>
        </p:nvGrpSpPr>
        <p:grpSpPr bwMode="auto">
          <a:xfrm>
            <a:off x="866775" y="4348163"/>
            <a:ext cx="2533650" cy="2233612"/>
            <a:chOff x="756" y="2245"/>
            <a:chExt cx="1596" cy="1407"/>
          </a:xfrm>
        </p:grpSpPr>
        <p:sp>
          <p:nvSpPr>
            <p:cNvPr id="60475" name="Rectangle 6"/>
            <p:cNvSpPr>
              <a:spLocks noChangeArrowheads="1"/>
            </p:cNvSpPr>
            <p:nvPr/>
          </p:nvSpPr>
          <p:spPr bwMode="auto">
            <a:xfrm>
              <a:off x="762" y="2882"/>
              <a:ext cx="1192" cy="770"/>
            </a:xfrm>
            <a:prstGeom prst="rect">
              <a:avLst/>
            </a:prstGeom>
            <a:solidFill>
              <a:srgbClr val="99CCFF"/>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0476" name="AutoShape 7"/>
            <p:cNvSpPr>
              <a:spLocks noChangeArrowheads="1"/>
            </p:cNvSpPr>
            <p:nvPr/>
          </p:nvSpPr>
          <p:spPr bwMode="auto">
            <a:xfrm>
              <a:off x="756" y="2245"/>
              <a:ext cx="1596" cy="541"/>
            </a:xfrm>
            <a:prstGeom prst="parallelogram">
              <a:avLst>
                <a:gd name="adj" fmla="val 73752"/>
              </a:avLst>
            </a:prstGeom>
            <a:solidFill>
              <a:schemeClr val="accent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0477" name="Freeform 8"/>
            <p:cNvSpPr>
              <a:spLocks/>
            </p:cNvSpPr>
            <p:nvPr/>
          </p:nvSpPr>
          <p:spPr bwMode="auto">
            <a:xfrm>
              <a:off x="1952" y="2395"/>
              <a:ext cx="400" cy="1243"/>
            </a:xfrm>
            <a:custGeom>
              <a:avLst/>
              <a:gdLst>
                <a:gd name="T0" fmla="*/ 0 w 182"/>
                <a:gd name="T1" fmla="*/ 1243 h 816"/>
                <a:gd name="T2" fmla="*/ 0 w 182"/>
                <a:gd name="T3" fmla="*/ 483 h 816"/>
                <a:gd name="T4" fmla="*/ 400 w 182"/>
                <a:gd name="T5" fmla="*/ 0 h 816"/>
                <a:gd name="T6" fmla="*/ 400 w 182"/>
                <a:gd name="T7" fmla="*/ 760 h 816"/>
                <a:gd name="T8" fmla="*/ 0 w 182"/>
                <a:gd name="T9" fmla="*/ 1243 h 816"/>
                <a:gd name="T10" fmla="*/ 0 60000 65536"/>
                <a:gd name="T11" fmla="*/ 0 60000 65536"/>
                <a:gd name="T12" fmla="*/ 0 60000 65536"/>
                <a:gd name="T13" fmla="*/ 0 60000 65536"/>
                <a:gd name="T14" fmla="*/ 0 60000 65536"/>
                <a:gd name="T15" fmla="*/ 0 w 182"/>
                <a:gd name="T16" fmla="*/ 0 h 816"/>
                <a:gd name="T17" fmla="*/ 182 w 182"/>
                <a:gd name="T18" fmla="*/ 816 h 816"/>
              </a:gdLst>
              <a:ahLst/>
              <a:cxnLst>
                <a:cxn ang="T10">
                  <a:pos x="T0" y="T1"/>
                </a:cxn>
                <a:cxn ang="T11">
                  <a:pos x="T2" y="T3"/>
                </a:cxn>
                <a:cxn ang="T12">
                  <a:pos x="T4" y="T5"/>
                </a:cxn>
                <a:cxn ang="T13">
                  <a:pos x="T6" y="T7"/>
                </a:cxn>
                <a:cxn ang="T14">
                  <a:pos x="T8" y="T9"/>
                </a:cxn>
              </a:cxnLst>
              <a:rect l="T15" t="T16" r="T17" b="T18"/>
              <a:pathLst>
                <a:path w="182" h="816">
                  <a:moveTo>
                    <a:pt x="0" y="816"/>
                  </a:moveTo>
                  <a:lnTo>
                    <a:pt x="0" y="317"/>
                  </a:lnTo>
                  <a:lnTo>
                    <a:pt x="182" y="0"/>
                  </a:lnTo>
                  <a:lnTo>
                    <a:pt x="182" y="499"/>
                  </a:lnTo>
                  <a:lnTo>
                    <a:pt x="0" y="816"/>
                  </a:lnTo>
                  <a:close/>
                </a:path>
              </a:pathLst>
            </a:custGeom>
            <a:solidFill>
              <a:srgbClr val="99CCFF"/>
            </a:solidFill>
            <a:ln w="9525">
              <a:solidFill>
                <a:schemeClr val="tx1"/>
              </a:solidFill>
              <a:round/>
              <a:headEnd/>
              <a:tailEnd/>
            </a:ln>
          </p:spPr>
          <p:txBody>
            <a:bodyPr/>
            <a:lstStyle/>
            <a:p>
              <a:endParaRPr lang="en-US"/>
            </a:p>
          </p:txBody>
        </p:sp>
      </p:grpSp>
      <p:grpSp>
        <p:nvGrpSpPr>
          <p:cNvPr id="60421" name="Group 9"/>
          <p:cNvGrpSpPr>
            <a:grpSpLocks/>
          </p:cNvGrpSpPr>
          <p:nvPr/>
        </p:nvGrpSpPr>
        <p:grpSpPr bwMode="auto">
          <a:xfrm>
            <a:off x="866775" y="3001963"/>
            <a:ext cx="2533650" cy="2357437"/>
            <a:chOff x="756" y="1397"/>
            <a:chExt cx="1596" cy="1485"/>
          </a:xfrm>
        </p:grpSpPr>
        <p:sp>
          <p:nvSpPr>
            <p:cNvPr id="60472" name="Rectangle 10"/>
            <p:cNvSpPr>
              <a:spLocks noChangeArrowheads="1"/>
            </p:cNvSpPr>
            <p:nvPr/>
          </p:nvSpPr>
          <p:spPr bwMode="auto">
            <a:xfrm>
              <a:off x="756" y="1955"/>
              <a:ext cx="1198" cy="927"/>
            </a:xfrm>
            <a:prstGeom prst="rect">
              <a:avLst/>
            </a:prstGeom>
            <a:solidFill>
              <a:schemeClr val="bg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0473" name="AutoShape 11"/>
            <p:cNvSpPr>
              <a:spLocks noChangeArrowheads="1"/>
            </p:cNvSpPr>
            <p:nvPr/>
          </p:nvSpPr>
          <p:spPr bwMode="auto">
            <a:xfrm>
              <a:off x="756" y="1397"/>
              <a:ext cx="1596" cy="558"/>
            </a:xfrm>
            <a:prstGeom prst="parallelogram">
              <a:avLst>
                <a:gd name="adj" fmla="val 71505"/>
              </a:avLst>
            </a:prstGeom>
            <a:solidFill>
              <a:schemeClr val="bg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0474" name="Freeform 12"/>
            <p:cNvSpPr>
              <a:spLocks/>
            </p:cNvSpPr>
            <p:nvPr/>
          </p:nvSpPr>
          <p:spPr bwMode="auto">
            <a:xfrm>
              <a:off x="1950" y="1397"/>
              <a:ext cx="402" cy="1483"/>
            </a:xfrm>
            <a:custGeom>
              <a:avLst/>
              <a:gdLst>
                <a:gd name="T0" fmla="*/ 2 w 402"/>
                <a:gd name="T1" fmla="*/ 1483 h 1483"/>
                <a:gd name="T2" fmla="*/ 0 w 402"/>
                <a:gd name="T3" fmla="*/ 559 h 1483"/>
                <a:gd name="T4" fmla="*/ 402 w 402"/>
                <a:gd name="T5" fmla="*/ 0 h 1483"/>
                <a:gd name="T6" fmla="*/ 396 w 402"/>
                <a:gd name="T7" fmla="*/ 1009 h 1483"/>
                <a:gd name="T8" fmla="*/ 2 w 402"/>
                <a:gd name="T9" fmla="*/ 1483 h 1483"/>
                <a:gd name="T10" fmla="*/ 0 60000 65536"/>
                <a:gd name="T11" fmla="*/ 0 60000 65536"/>
                <a:gd name="T12" fmla="*/ 0 60000 65536"/>
                <a:gd name="T13" fmla="*/ 0 60000 65536"/>
                <a:gd name="T14" fmla="*/ 0 60000 65536"/>
                <a:gd name="T15" fmla="*/ 0 w 402"/>
                <a:gd name="T16" fmla="*/ 0 h 1483"/>
                <a:gd name="T17" fmla="*/ 402 w 402"/>
                <a:gd name="T18" fmla="*/ 1483 h 1483"/>
              </a:gdLst>
              <a:ahLst/>
              <a:cxnLst>
                <a:cxn ang="T10">
                  <a:pos x="T0" y="T1"/>
                </a:cxn>
                <a:cxn ang="T11">
                  <a:pos x="T2" y="T3"/>
                </a:cxn>
                <a:cxn ang="T12">
                  <a:pos x="T4" y="T5"/>
                </a:cxn>
                <a:cxn ang="T13">
                  <a:pos x="T6" y="T7"/>
                </a:cxn>
                <a:cxn ang="T14">
                  <a:pos x="T8" y="T9"/>
                </a:cxn>
              </a:cxnLst>
              <a:rect l="T15" t="T16" r="T17" b="T18"/>
              <a:pathLst>
                <a:path w="402" h="1483">
                  <a:moveTo>
                    <a:pt x="2" y="1483"/>
                  </a:moveTo>
                  <a:lnTo>
                    <a:pt x="0" y="559"/>
                  </a:lnTo>
                  <a:lnTo>
                    <a:pt x="402" y="0"/>
                  </a:lnTo>
                  <a:lnTo>
                    <a:pt x="396" y="1009"/>
                  </a:lnTo>
                  <a:lnTo>
                    <a:pt x="2" y="1483"/>
                  </a:lnTo>
                  <a:close/>
                </a:path>
              </a:pathLst>
            </a:custGeom>
            <a:solidFill>
              <a:schemeClr val="bg1"/>
            </a:solidFill>
            <a:ln w="9525">
              <a:solidFill>
                <a:schemeClr val="tx1"/>
              </a:solidFill>
              <a:round/>
              <a:headEnd/>
              <a:tailEnd/>
            </a:ln>
          </p:spPr>
          <p:txBody>
            <a:bodyPr/>
            <a:lstStyle/>
            <a:p>
              <a:endParaRPr lang="en-US"/>
            </a:p>
          </p:txBody>
        </p:sp>
      </p:grpSp>
      <p:grpSp>
        <p:nvGrpSpPr>
          <p:cNvPr id="209933" name="Group 13"/>
          <p:cNvGrpSpPr>
            <a:grpSpLocks/>
          </p:cNvGrpSpPr>
          <p:nvPr/>
        </p:nvGrpSpPr>
        <p:grpSpPr bwMode="auto">
          <a:xfrm>
            <a:off x="2682875" y="2457450"/>
            <a:ext cx="3670300" cy="855663"/>
            <a:chOff x="1690" y="1234"/>
            <a:chExt cx="2312" cy="539"/>
          </a:xfrm>
        </p:grpSpPr>
        <p:sp>
          <p:nvSpPr>
            <p:cNvPr id="60470" name="Text Box 14"/>
            <p:cNvSpPr txBox="1">
              <a:spLocks noChangeArrowheads="1"/>
            </p:cNvSpPr>
            <p:nvPr/>
          </p:nvSpPr>
          <p:spPr bwMode="auto">
            <a:xfrm>
              <a:off x="2304" y="1542"/>
              <a:ext cx="1698" cy="231"/>
            </a:xfrm>
            <a:prstGeom prst="rect">
              <a:avLst/>
            </a:prstGeom>
            <a:noFill/>
            <a:ln w="9525">
              <a:noFill/>
              <a:miter lim="800000"/>
              <a:headEnd/>
              <a:tailEnd/>
            </a:ln>
          </p:spPr>
          <p:txBody>
            <a:bodyPr>
              <a:spAutoFit/>
            </a:bodyPr>
            <a:lstStyle/>
            <a:p>
              <a:pPr>
                <a:spcBef>
                  <a:spcPct val="50000"/>
                </a:spcBef>
              </a:pPr>
              <a:r>
                <a:rPr lang="en-AU" i="0">
                  <a:solidFill>
                    <a:schemeClr val="bg2"/>
                  </a:solidFill>
                </a:rPr>
                <a:t>Water entering the soil</a:t>
              </a:r>
              <a:endParaRPr lang="en-US" i="0">
                <a:solidFill>
                  <a:schemeClr val="bg2"/>
                </a:solidFill>
              </a:endParaRPr>
            </a:p>
          </p:txBody>
        </p:sp>
        <p:sp>
          <p:nvSpPr>
            <p:cNvPr id="60471" name="AutoShape 15"/>
            <p:cNvSpPr>
              <a:spLocks noChangeArrowheads="1"/>
            </p:cNvSpPr>
            <p:nvPr/>
          </p:nvSpPr>
          <p:spPr bwMode="auto">
            <a:xfrm rot="-5400000">
              <a:off x="1582" y="1342"/>
              <a:ext cx="462" cy="246"/>
            </a:xfrm>
            <a:prstGeom prst="leftArrow">
              <a:avLst>
                <a:gd name="adj1" fmla="val 50000"/>
                <a:gd name="adj2" fmla="val 46951"/>
              </a:avLst>
            </a:prstGeom>
            <a:solidFill>
              <a:srgbClr val="333399"/>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grpSp>
        <p:nvGrpSpPr>
          <p:cNvPr id="60423" name="Group 16"/>
          <p:cNvGrpSpPr>
            <a:grpSpLocks/>
          </p:cNvGrpSpPr>
          <p:nvPr/>
        </p:nvGrpSpPr>
        <p:grpSpPr bwMode="auto">
          <a:xfrm>
            <a:off x="1085850" y="2765425"/>
            <a:ext cx="852488" cy="1666875"/>
            <a:chOff x="1133" y="1419"/>
            <a:chExt cx="244" cy="615"/>
          </a:xfrm>
        </p:grpSpPr>
        <p:sp>
          <p:nvSpPr>
            <p:cNvPr id="60465" name="Freeform 17"/>
            <p:cNvSpPr>
              <a:spLocks/>
            </p:cNvSpPr>
            <p:nvPr/>
          </p:nvSpPr>
          <p:spPr bwMode="auto">
            <a:xfrm>
              <a:off x="1185" y="1452"/>
              <a:ext cx="162" cy="582"/>
            </a:xfrm>
            <a:custGeom>
              <a:avLst/>
              <a:gdLst>
                <a:gd name="T0" fmla="*/ 54 w 162"/>
                <a:gd name="T1" fmla="*/ 582 h 582"/>
                <a:gd name="T2" fmla="*/ 42 w 162"/>
                <a:gd name="T3" fmla="*/ 507 h 582"/>
                <a:gd name="T4" fmla="*/ 51 w 162"/>
                <a:gd name="T5" fmla="*/ 423 h 582"/>
                <a:gd name="T6" fmla="*/ 42 w 162"/>
                <a:gd name="T7" fmla="*/ 390 h 582"/>
                <a:gd name="T8" fmla="*/ 33 w 162"/>
                <a:gd name="T9" fmla="*/ 378 h 582"/>
                <a:gd name="T10" fmla="*/ 48 w 162"/>
                <a:gd name="T11" fmla="*/ 330 h 582"/>
                <a:gd name="T12" fmla="*/ 57 w 162"/>
                <a:gd name="T13" fmla="*/ 297 h 582"/>
                <a:gd name="T14" fmla="*/ 63 w 162"/>
                <a:gd name="T15" fmla="*/ 231 h 582"/>
                <a:gd name="T16" fmla="*/ 57 w 162"/>
                <a:gd name="T17" fmla="*/ 147 h 582"/>
                <a:gd name="T18" fmla="*/ 21 w 162"/>
                <a:gd name="T19" fmla="*/ 99 h 582"/>
                <a:gd name="T20" fmla="*/ 0 w 162"/>
                <a:gd name="T21" fmla="*/ 72 h 582"/>
                <a:gd name="T22" fmla="*/ 54 w 162"/>
                <a:gd name="T23" fmla="*/ 105 h 582"/>
                <a:gd name="T24" fmla="*/ 57 w 162"/>
                <a:gd name="T25" fmla="*/ 87 h 582"/>
                <a:gd name="T26" fmla="*/ 63 w 162"/>
                <a:gd name="T27" fmla="*/ 0 h 582"/>
                <a:gd name="T28" fmla="*/ 78 w 162"/>
                <a:gd name="T29" fmla="*/ 39 h 582"/>
                <a:gd name="T30" fmla="*/ 78 w 162"/>
                <a:gd name="T31" fmla="*/ 126 h 582"/>
                <a:gd name="T32" fmla="*/ 90 w 162"/>
                <a:gd name="T33" fmla="*/ 72 h 582"/>
                <a:gd name="T34" fmla="*/ 108 w 162"/>
                <a:gd name="T35" fmla="*/ 72 h 582"/>
                <a:gd name="T36" fmla="*/ 93 w 162"/>
                <a:gd name="T37" fmla="*/ 135 h 582"/>
                <a:gd name="T38" fmla="*/ 162 w 162"/>
                <a:gd name="T39" fmla="*/ 84 h 582"/>
                <a:gd name="T40" fmla="*/ 153 w 162"/>
                <a:gd name="T41" fmla="*/ 120 h 582"/>
                <a:gd name="T42" fmla="*/ 75 w 162"/>
                <a:gd name="T43" fmla="*/ 165 h 582"/>
                <a:gd name="T44" fmla="*/ 75 w 162"/>
                <a:gd name="T45" fmla="*/ 300 h 582"/>
                <a:gd name="T46" fmla="*/ 99 w 162"/>
                <a:gd name="T47" fmla="*/ 381 h 582"/>
                <a:gd name="T48" fmla="*/ 84 w 162"/>
                <a:gd name="T49" fmla="*/ 414 h 582"/>
                <a:gd name="T50" fmla="*/ 99 w 162"/>
                <a:gd name="T51" fmla="*/ 453 h 582"/>
                <a:gd name="T52" fmla="*/ 135 w 162"/>
                <a:gd name="T53" fmla="*/ 486 h 582"/>
                <a:gd name="T54" fmla="*/ 132 w 162"/>
                <a:gd name="T55" fmla="*/ 510 h 582"/>
                <a:gd name="T56" fmla="*/ 102 w 162"/>
                <a:gd name="T57" fmla="*/ 468 h 582"/>
                <a:gd name="T58" fmla="*/ 69 w 162"/>
                <a:gd name="T59" fmla="*/ 414 h 582"/>
                <a:gd name="T60" fmla="*/ 63 w 162"/>
                <a:gd name="T61" fmla="*/ 456 h 582"/>
                <a:gd name="T62" fmla="*/ 75 w 162"/>
                <a:gd name="T63" fmla="*/ 492 h 582"/>
                <a:gd name="T64" fmla="*/ 96 w 162"/>
                <a:gd name="T65" fmla="*/ 513 h 582"/>
                <a:gd name="T66" fmla="*/ 78 w 162"/>
                <a:gd name="T67" fmla="*/ 519 h 582"/>
                <a:gd name="T68" fmla="*/ 60 w 162"/>
                <a:gd name="T69" fmla="*/ 486 h 582"/>
                <a:gd name="T70" fmla="*/ 54 w 162"/>
                <a:gd name="T71" fmla="*/ 522 h 582"/>
                <a:gd name="T72" fmla="*/ 54 w 162"/>
                <a:gd name="T73" fmla="*/ 582 h 58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2"/>
                <a:gd name="T112" fmla="*/ 0 h 582"/>
                <a:gd name="T113" fmla="*/ 162 w 162"/>
                <a:gd name="T114" fmla="*/ 582 h 58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2" h="582">
                  <a:moveTo>
                    <a:pt x="54" y="582"/>
                  </a:moveTo>
                  <a:lnTo>
                    <a:pt x="42" y="507"/>
                  </a:lnTo>
                  <a:lnTo>
                    <a:pt x="51" y="423"/>
                  </a:lnTo>
                  <a:lnTo>
                    <a:pt x="42" y="390"/>
                  </a:lnTo>
                  <a:lnTo>
                    <a:pt x="33" y="378"/>
                  </a:ln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84" y="414"/>
                  </a:lnTo>
                  <a:lnTo>
                    <a:pt x="99" y="453"/>
                  </a:lnTo>
                  <a:lnTo>
                    <a:pt x="135" y="486"/>
                  </a:lnTo>
                  <a:lnTo>
                    <a:pt x="132" y="510"/>
                  </a:lnTo>
                  <a:lnTo>
                    <a:pt x="102" y="468"/>
                  </a:lnTo>
                  <a:lnTo>
                    <a:pt x="69" y="414"/>
                  </a:lnTo>
                  <a:lnTo>
                    <a:pt x="63" y="456"/>
                  </a:lnTo>
                  <a:lnTo>
                    <a:pt x="75" y="492"/>
                  </a:lnTo>
                  <a:lnTo>
                    <a:pt x="96" y="513"/>
                  </a:lnTo>
                  <a:lnTo>
                    <a:pt x="78" y="519"/>
                  </a:lnTo>
                  <a:lnTo>
                    <a:pt x="60" y="486"/>
                  </a:lnTo>
                  <a:lnTo>
                    <a:pt x="54" y="522"/>
                  </a:lnTo>
                  <a:lnTo>
                    <a:pt x="54" y="582"/>
                  </a:lnTo>
                  <a:close/>
                </a:path>
              </a:pathLst>
            </a:custGeom>
            <a:solidFill>
              <a:schemeClr val="bg2"/>
            </a:solidFill>
            <a:ln w="9525">
              <a:noFill/>
              <a:round/>
              <a:headEnd/>
              <a:tailEnd/>
            </a:ln>
          </p:spPr>
          <p:txBody>
            <a:bodyPr/>
            <a:lstStyle/>
            <a:p>
              <a:endParaRPr lang="en-US"/>
            </a:p>
          </p:txBody>
        </p:sp>
        <p:sp>
          <p:nvSpPr>
            <p:cNvPr id="60466" name="Freeform 18"/>
            <p:cNvSpPr>
              <a:spLocks/>
            </p:cNvSpPr>
            <p:nvPr/>
          </p:nvSpPr>
          <p:spPr bwMode="auto">
            <a:xfrm>
              <a:off x="1133" y="1484"/>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0467" name="Freeform 19"/>
            <p:cNvSpPr>
              <a:spLocks/>
            </p:cNvSpPr>
            <p:nvPr/>
          </p:nvSpPr>
          <p:spPr bwMode="auto">
            <a:xfrm>
              <a:off x="1176" y="1419"/>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0468" name="Freeform 20"/>
            <p:cNvSpPr>
              <a:spLocks/>
            </p:cNvSpPr>
            <p:nvPr/>
          </p:nvSpPr>
          <p:spPr bwMode="auto">
            <a:xfrm>
              <a:off x="1249" y="1477"/>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0469" name="Freeform 21"/>
            <p:cNvSpPr>
              <a:spLocks/>
            </p:cNvSpPr>
            <p:nvPr/>
          </p:nvSpPr>
          <p:spPr bwMode="auto">
            <a:xfrm>
              <a:off x="1283" y="1547"/>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0424" name="Group 22"/>
          <p:cNvGrpSpPr>
            <a:grpSpLocks/>
          </p:cNvGrpSpPr>
          <p:nvPr/>
        </p:nvGrpSpPr>
        <p:grpSpPr bwMode="auto">
          <a:xfrm>
            <a:off x="1647825" y="2251075"/>
            <a:ext cx="852488" cy="1122363"/>
            <a:chOff x="1164" y="1150"/>
            <a:chExt cx="244" cy="414"/>
          </a:xfrm>
        </p:grpSpPr>
        <p:sp>
          <p:nvSpPr>
            <p:cNvPr id="60460" name="Freeform 23"/>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60461" name="Freeform 24"/>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0462" name="Freeform 25"/>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0463" name="Freeform 26"/>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0464" name="Freeform 27"/>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0425" name="Group 28"/>
          <p:cNvGrpSpPr>
            <a:grpSpLocks/>
          </p:cNvGrpSpPr>
          <p:nvPr/>
        </p:nvGrpSpPr>
        <p:grpSpPr bwMode="auto">
          <a:xfrm>
            <a:off x="1620838" y="3294063"/>
            <a:ext cx="411162" cy="496887"/>
            <a:chOff x="1164" y="1150"/>
            <a:chExt cx="244" cy="414"/>
          </a:xfrm>
        </p:grpSpPr>
        <p:sp>
          <p:nvSpPr>
            <p:cNvPr id="60455" name="Freeform 29"/>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60456" name="Freeform 30"/>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0457" name="Freeform 31"/>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0458" name="Freeform 32"/>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0459" name="Freeform 33"/>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0426" name="Group 34"/>
          <p:cNvGrpSpPr>
            <a:grpSpLocks/>
          </p:cNvGrpSpPr>
          <p:nvPr/>
        </p:nvGrpSpPr>
        <p:grpSpPr bwMode="auto">
          <a:xfrm>
            <a:off x="1927225" y="2809875"/>
            <a:ext cx="715963" cy="927100"/>
            <a:chOff x="1164" y="1150"/>
            <a:chExt cx="244" cy="414"/>
          </a:xfrm>
        </p:grpSpPr>
        <p:sp>
          <p:nvSpPr>
            <p:cNvPr id="60450" name="Freeform 3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60451" name="Freeform 3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0452" name="Freeform 3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0453" name="Freeform 3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0454" name="Freeform 3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209960" name="Group 40"/>
          <p:cNvGrpSpPr>
            <a:grpSpLocks/>
          </p:cNvGrpSpPr>
          <p:nvPr/>
        </p:nvGrpSpPr>
        <p:grpSpPr bwMode="auto">
          <a:xfrm>
            <a:off x="1666875" y="3248025"/>
            <a:ext cx="4692650" cy="889000"/>
            <a:chOff x="1050" y="1732"/>
            <a:chExt cx="2956" cy="560"/>
          </a:xfrm>
        </p:grpSpPr>
        <p:sp>
          <p:nvSpPr>
            <p:cNvPr id="60448" name="Text Box 41"/>
            <p:cNvSpPr txBox="1">
              <a:spLocks noChangeArrowheads="1"/>
            </p:cNvSpPr>
            <p:nvPr/>
          </p:nvSpPr>
          <p:spPr bwMode="auto">
            <a:xfrm>
              <a:off x="2308" y="1732"/>
              <a:ext cx="1698" cy="231"/>
            </a:xfrm>
            <a:prstGeom prst="rect">
              <a:avLst/>
            </a:prstGeom>
            <a:noFill/>
            <a:ln w="9525">
              <a:noFill/>
              <a:miter lim="800000"/>
              <a:headEnd/>
              <a:tailEnd/>
            </a:ln>
          </p:spPr>
          <p:txBody>
            <a:bodyPr>
              <a:spAutoFit/>
            </a:bodyPr>
            <a:lstStyle/>
            <a:p>
              <a:pPr>
                <a:spcBef>
                  <a:spcPct val="50000"/>
                </a:spcBef>
              </a:pPr>
              <a:r>
                <a:rPr lang="en-AU" i="0">
                  <a:solidFill>
                    <a:schemeClr val="bg2"/>
                  </a:solidFill>
                </a:rPr>
                <a:t>Water used from the soil</a:t>
              </a:r>
              <a:endParaRPr lang="en-US" i="0">
                <a:solidFill>
                  <a:schemeClr val="bg2"/>
                </a:solidFill>
              </a:endParaRPr>
            </a:p>
          </p:txBody>
        </p:sp>
        <p:sp>
          <p:nvSpPr>
            <p:cNvPr id="60449" name="AutoShape 42"/>
            <p:cNvSpPr>
              <a:spLocks noChangeArrowheads="1"/>
            </p:cNvSpPr>
            <p:nvPr/>
          </p:nvSpPr>
          <p:spPr bwMode="auto">
            <a:xfrm rot="10800000">
              <a:off x="1050" y="1944"/>
              <a:ext cx="342" cy="348"/>
            </a:xfrm>
            <a:custGeom>
              <a:avLst/>
              <a:gdLst>
                <a:gd name="T0" fmla="*/ 146 w 21600"/>
                <a:gd name="T1" fmla="*/ 0 h 21600"/>
                <a:gd name="T2" fmla="*/ 48 w 21600"/>
                <a:gd name="T3" fmla="*/ 348 h 21600"/>
                <a:gd name="T4" fmla="*/ 154 w 21600"/>
                <a:gd name="T5" fmla="*/ 134 h 21600"/>
                <a:gd name="T6" fmla="*/ 248 w 21600"/>
                <a:gd name="T7" fmla="*/ 230 h 21600"/>
                <a:gd name="T8" fmla="*/ 342 w 21600"/>
                <a:gd name="T9" fmla="*/ 134 h 21600"/>
                <a:gd name="T10" fmla="*/ 17694720 60000 65536"/>
                <a:gd name="T11" fmla="*/ 5898240 60000 65536"/>
                <a:gd name="T12" fmla="*/ 5898240 60000 65536"/>
                <a:gd name="T13" fmla="*/ 5898240 60000 65536"/>
                <a:gd name="T14" fmla="*/ 0 60000 65536"/>
                <a:gd name="T15" fmla="*/ 0 w 21600"/>
                <a:gd name="T16" fmla="*/ 8317 h 21600"/>
                <a:gd name="T17" fmla="*/ 6126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15662" y="14285"/>
                  </a:moveTo>
                  <a:lnTo>
                    <a:pt x="21600" y="8310"/>
                  </a:lnTo>
                  <a:lnTo>
                    <a:pt x="18630" y="8310"/>
                  </a:lnTo>
                  <a:cubicBezTo>
                    <a:pt x="18630" y="3721"/>
                    <a:pt x="14430" y="0"/>
                    <a:pt x="9250" y="0"/>
                  </a:cubicBezTo>
                  <a:cubicBezTo>
                    <a:pt x="4141" y="0"/>
                    <a:pt x="0" y="3799"/>
                    <a:pt x="0" y="8485"/>
                  </a:cubicBezTo>
                  <a:lnTo>
                    <a:pt x="0" y="21600"/>
                  </a:lnTo>
                  <a:lnTo>
                    <a:pt x="6110" y="21600"/>
                  </a:lnTo>
                  <a:lnTo>
                    <a:pt x="6110" y="8310"/>
                  </a:lnTo>
                  <a:cubicBezTo>
                    <a:pt x="6110" y="6947"/>
                    <a:pt x="7362" y="5842"/>
                    <a:pt x="8907" y="5842"/>
                  </a:cubicBezTo>
                  <a:lnTo>
                    <a:pt x="9725" y="5842"/>
                  </a:lnTo>
                  <a:cubicBezTo>
                    <a:pt x="11269" y="5842"/>
                    <a:pt x="12520" y="6947"/>
                    <a:pt x="12520" y="8310"/>
                  </a:cubicBezTo>
                  <a:lnTo>
                    <a:pt x="9725" y="8310"/>
                  </a:lnTo>
                  <a:close/>
                </a:path>
              </a:pathLst>
            </a:custGeom>
            <a:solidFill>
              <a:srgbClr val="333399"/>
            </a:solidFill>
            <a:ln w="9525" algn="ctr">
              <a:solidFill>
                <a:schemeClr val="tx1"/>
              </a:solidFill>
              <a:miter lim="800000"/>
              <a:headEnd/>
              <a:tailEnd/>
            </a:ln>
          </p:spPr>
          <p:txBody>
            <a:bodyPr wrap="none" anchor="ctr"/>
            <a:lstStyle/>
            <a:p>
              <a:endParaRPr lang="en-US"/>
            </a:p>
          </p:txBody>
        </p:sp>
      </p:grpSp>
      <p:sp>
        <p:nvSpPr>
          <p:cNvPr id="60428" name="Text Box 43"/>
          <p:cNvSpPr txBox="1">
            <a:spLocks noChangeArrowheads="1"/>
          </p:cNvSpPr>
          <p:nvPr/>
        </p:nvSpPr>
        <p:spPr bwMode="auto">
          <a:xfrm>
            <a:off x="3654425" y="4524375"/>
            <a:ext cx="2714625" cy="641350"/>
          </a:xfrm>
          <a:prstGeom prst="rect">
            <a:avLst/>
          </a:prstGeom>
          <a:solidFill>
            <a:schemeClr val="bg1">
              <a:alpha val="21176"/>
            </a:schemeClr>
          </a:solidFill>
          <a:ln w="9525">
            <a:noFill/>
            <a:miter lim="800000"/>
            <a:headEnd/>
            <a:tailEnd/>
          </a:ln>
        </p:spPr>
        <p:txBody>
          <a:bodyPr>
            <a:spAutoFit/>
          </a:bodyPr>
          <a:lstStyle/>
          <a:p>
            <a:pPr>
              <a:spcBef>
                <a:spcPct val="50000"/>
              </a:spcBef>
            </a:pPr>
            <a:r>
              <a:rPr lang="en-AU" i="0">
                <a:solidFill>
                  <a:schemeClr val="tx1"/>
                </a:solidFill>
              </a:rPr>
              <a:t>Change in saturated zone storage</a:t>
            </a:r>
            <a:endParaRPr lang="en-US" i="0">
              <a:solidFill>
                <a:schemeClr val="tx1"/>
              </a:solidFill>
            </a:endParaRPr>
          </a:p>
        </p:txBody>
      </p:sp>
      <p:sp>
        <p:nvSpPr>
          <p:cNvPr id="60429" name="AutoShape 44"/>
          <p:cNvSpPr>
            <a:spLocks noChangeArrowheads="1"/>
          </p:cNvSpPr>
          <p:nvPr/>
        </p:nvSpPr>
        <p:spPr bwMode="auto">
          <a:xfrm>
            <a:off x="1647825" y="5289550"/>
            <a:ext cx="419100" cy="133350"/>
          </a:xfrm>
          <a:prstGeom prst="upDownArrow">
            <a:avLst>
              <a:gd name="adj1" fmla="val 50000"/>
              <a:gd name="adj2" fmla="val 20000"/>
            </a:avLst>
          </a:prstGeom>
          <a:solidFill>
            <a:srgbClr val="FF3300"/>
          </a:solidFill>
          <a:ln w="9525" algn="ctr">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nvGrpSpPr>
          <p:cNvPr id="209965" name="Group 45"/>
          <p:cNvGrpSpPr>
            <a:grpSpLocks/>
          </p:cNvGrpSpPr>
          <p:nvPr/>
        </p:nvGrpSpPr>
        <p:grpSpPr bwMode="auto">
          <a:xfrm>
            <a:off x="406400" y="5356225"/>
            <a:ext cx="5937250" cy="434975"/>
            <a:chOff x="256" y="3060"/>
            <a:chExt cx="3740" cy="274"/>
          </a:xfrm>
        </p:grpSpPr>
        <p:sp>
          <p:nvSpPr>
            <p:cNvPr id="60445" name="Text Box 46"/>
            <p:cNvSpPr txBox="1">
              <a:spLocks noChangeArrowheads="1"/>
            </p:cNvSpPr>
            <p:nvPr/>
          </p:nvSpPr>
          <p:spPr bwMode="auto">
            <a:xfrm>
              <a:off x="2298" y="3078"/>
              <a:ext cx="1698" cy="231"/>
            </a:xfrm>
            <a:prstGeom prst="rect">
              <a:avLst/>
            </a:prstGeom>
            <a:noFill/>
            <a:ln w="9525">
              <a:noFill/>
              <a:miter lim="800000"/>
              <a:headEnd/>
              <a:tailEnd/>
            </a:ln>
          </p:spPr>
          <p:txBody>
            <a:bodyPr>
              <a:spAutoFit/>
            </a:bodyPr>
            <a:lstStyle/>
            <a:p>
              <a:pPr>
                <a:spcBef>
                  <a:spcPct val="50000"/>
                </a:spcBef>
              </a:pPr>
              <a:r>
                <a:rPr lang="en-AU" i="0">
                  <a:solidFill>
                    <a:schemeClr val="bg2"/>
                  </a:solidFill>
                </a:rPr>
                <a:t>Aquifer through-flow</a:t>
              </a:r>
              <a:endParaRPr lang="en-US" i="0">
                <a:solidFill>
                  <a:schemeClr val="bg2"/>
                </a:solidFill>
              </a:endParaRPr>
            </a:p>
          </p:txBody>
        </p:sp>
        <p:sp>
          <p:nvSpPr>
            <p:cNvPr id="60446" name="AutoShape 47"/>
            <p:cNvSpPr>
              <a:spLocks noChangeArrowheads="1"/>
            </p:cNvSpPr>
            <p:nvPr/>
          </p:nvSpPr>
          <p:spPr bwMode="auto">
            <a:xfrm>
              <a:off x="256" y="3088"/>
              <a:ext cx="276" cy="246"/>
            </a:xfrm>
            <a:prstGeom prst="leftArrow">
              <a:avLst>
                <a:gd name="adj1" fmla="val 50000"/>
                <a:gd name="adj2" fmla="val 28049"/>
              </a:avLst>
            </a:prstGeom>
            <a:solidFill>
              <a:srgbClr val="333399"/>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0447" name="AutoShape 48"/>
            <p:cNvSpPr>
              <a:spLocks noChangeArrowheads="1"/>
            </p:cNvSpPr>
            <p:nvPr/>
          </p:nvSpPr>
          <p:spPr bwMode="auto">
            <a:xfrm>
              <a:off x="1950" y="3060"/>
              <a:ext cx="306" cy="246"/>
            </a:xfrm>
            <a:prstGeom prst="leftArrow">
              <a:avLst>
                <a:gd name="adj1" fmla="val 50000"/>
                <a:gd name="adj2" fmla="val 31098"/>
              </a:avLst>
            </a:prstGeom>
            <a:solidFill>
              <a:srgbClr val="333399"/>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grpSp>
        <p:nvGrpSpPr>
          <p:cNvPr id="209969" name="Group 49"/>
          <p:cNvGrpSpPr>
            <a:grpSpLocks/>
          </p:cNvGrpSpPr>
          <p:nvPr/>
        </p:nvGrpSpPr>
        <p:grpSpPr bwMode="auto">
          <a:xfrm>
            <a:off x="828675" y="3460750"/>
            <a:ext cx="5467350" cy="3028950"/>
            <a:chOff x="522" y="1866"/>
            <a:chExt cx="3444" cy="1908"/>
          </a:xfrm>
        </p:grpSpPr>
        <p:grpSp>
          <p:nvGrpSpPr>
            <p:cNvPr id="60440" name="Group 50"/>
            <p:cNvGrpSpPr>
              <a:grpSpLocks/>
            </p:cNvGrpSpPr>
            <p:nvPr/>
          </p:nvGrpSpPr>
          <p:grpSpPr bwMode="auto">
            <a:xfrm>
              <a:off x="522" y="1866"/>
              <a:ext cx="210" cy="1908"/>
              <a:chOff x="732" y="1686"/>
              <a:chExt cx="210" cy="1908"/>
            </a:xfrm>
          </p:grpSpPr>
          <p:sp>
            <p:nvSpPr>
              <p:cNvPr id="60442" name="Rectangle 51"/>
              <p:cNvSpPr>
                <a:spLocks noChangeArrowheads="1"/>
              </p:cNvSpPr>
              <p:nvPr/>
            </p:nvSpPr>
            <p:spPr bwMode="auto">
              <a:xfrm>
                <a:off x="876" y="1848"/>
                <a:ext cx="60" cy="1734"/>
              </a:xfrm>
              <a:prstGeom prst="rect">
                <a:avLst/>
              </a:prstGeom>
              <a:solidFill>
                <a:schemeClr val="bg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0443" name="Rectangle 52" descr="Dark horizontal"/>
              <p:cNvSpPr>
                <a:spLocks noChangeArrowheads="1"/>
              </p:cNvSpPr>
              <p:nvPr/>
            </p:nvSpPr>
            <p:spPr bwMode="auto">
              <a:xfrm>
                <a:off x="876" y="3006"/>
                <a:ext cx="60" cy="588"/>
              </a:xfrm>
              <a:prstGeom prst="rect">
                <a:avLst/>
              </a:prstGeom>
              <a:pattFill prst="dkHorz">
                <a:fgClr>
                  <a:srgbClr val="777777"/>
                </a:fgClr>
                <a:bgClr>
                  <a:schemeClr val="bg1"/>
                </a:bgClr>
              </a:patt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0444" name="AutoShape 53"/>
              <p:cNvSpPr>
                <a:spLocks noChangeArrowheads="1"/>
              </p:cNvSpPr>
              <p:nvPr/>
            </p:nvSpPr>
            <p:spPr bwMode="auto">
              <a:xfrm flipH="1">
                <a:off x="732" y="1686"/>
                <a:ext cx="210" cy="174"/>
              </a:xfrm>
              <a:custGeom>
                <a:avLst/>
                <a:gdLst>
                  <a:gd name="T0" fmla="*/ 147 w 21600"/>
                  <a:gd name="T1" fmla="*/ 0 h 21600"/>
                  <a:gd name="T2" fmla="*/ 147 w 21600"/>
                  <a:gd name="T3" fmla="*/ 98 h 21600"/>
                  <a:gd name="T4" fmla="*/ 31 w 21600"/>
                  <a:gd name="T5" fmla="*/ 174 h 21600"/>
                  <a:gd name="T6" fmla="*/ 210 w 21600"/>
                  <a:gd name="T7" fmla="*/ 49 h 21600"/>
                  <a:gd name="T8" fmla="*/ 17694720 60000 65536"/>
                  <a:gd name="T9" fmla="*/ 5898240 60000 65536"/>
                  <a:gd name="T10" fmla="*/ 5898240 60000 65536"/>
                  <a:gd name="T11" fmla="*/ 0 60000 65536"/>
                  <a:gd name="T12" fmla="*/ 12446 w 21600"/>
                  <a:gd name="T13" fmla="*/ 2855 h 21600"/>
                  <a:gd name="T14" fmla="*/ 18206 w 21600"/>
                  <a:gd name="T15" fmla="*/ 918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333399"/>
              </a:solidFill>
              <a:ln w="9525">
                <a:solidFill>
                  <a:schemeClr val="tx1"/>
                </a:solidFill>
                <a:miter lim="800000"/>
                <a:headEnd/>
                <a:tailEnd/>
              </a:ln>
            </p:spPr>
            <p:txBody>
              <a:bodyPr wrap="none" anchor="ctr"/>
              <a:lstStyle/>
              <a:p>
                <a:endParaRPr lang="en-US"/>
              </a:p>
            </p:txBody>
          </p:sp>
        </p:grpSp>
        <p:sp>
          <p:nvSpPr>
            <p:cNvPr id="60441" name="Text Box 54"/>
            <p:cNvSpPr txBox="1">
              <a:spLocks noChangeArrowheads="1"/>
            </p:cNvSpPr>
            <p:nvPr/>
          </p:nvSpPr>
          <p:spPr bwMode="auto">
            <a:xfrm>
              <a:off x="2292" y="3342"/>
              <a:ext cx="1674" cy="231"/>
            </a:xfrm>
            <a:prstGeom prst="rect">
              <a:avLst/>
            </a:prstGeom>
            <a:noFill/>
            <a:ln w="9525">
              <a:noFill/>
              <a:miter lim="800000"/>
              <a:headEnd/>
              <a:tailEnd/>
            </a:ln>
          </p:spPr>
          <p:txBody>
            <a:bodyPr>
              <a:spAutoFit/>
            </a:bodyPr>
            <a:lstStyle/>
            <a:p>
              <a:pPr>
                <a:spcBef>
                  <a:spcPct val="50000"/>
                </a:spcBef>
              </a:pPr>
              <a:r>
                <a:rPr lang="en-AU" i="0">
                  <a:solidFill>
                    <a:schemeClr val="bg2"/>
                  </a:solidFill>
                </a:rPr>
                <a:t>Groundwater Pumping</a:t>
              </a:r>
              <a:endParaRPr lang="en-US" i="0">
                <a:solidFill>
                  <a:schemeClr val="bg2"/>
                </a:solidFill>
              </a:endParaRPr>
            </a:p>
          </p:txBody>
        </p:sp>
      </p:grpSp>
      <p:pic>
        <p:nvPicPr>
          <p:cNvPr id="60432" name="Picture 55"/>
          <p:cNvPicPr>
            <a:picLocks noChangeAspect="1" noChangeArrowheads="1"/>
          </p:cNvPicPr>
          <p:nvPr/>
        </p:nvPicPr>
        <p:blipFill>
          <a:blip r:embed="rId3"/>
          <a:srcRect/>
          <a:stretch>
            <a:fillRect/>
          </a:stretch>
        </p:blipFill>
        <p:spPr bwMode="auto">
          <a:xfrm>
            <a:off x="6372225" y="1809750"/>
            <a:ext cx="1781175" cy="4313238"/>
          </a:xfrm>
          <a:prstGeom prst="rect">
            <a:avLst/>
          </a:prstGeom>
          <a:noFill/>
          <a:ln w="9525">
            <a:noFill/>
            <a:miter lim="800000"/>
            <a:headEnd/>
            <a:tailEnd/>
          </a:ln>
        </p:spPr>
      </p:pic>
      <p:grpSp>
        <p:nvGrpSpPr>
          <p:cNvPr id="209976" name="Group 56"/>
          <p:cNvGrpSpPr>
            <a:grpSpLocks/>
          </p:cNvGrpSpPr>
          <p:nvPr/>
        </p:nvGrpSpPr>
        <p:grpSpPr bwMode="auto">
          <a:xfrm>
            <a:off x="1695450" y="3616325"/>
            <a:ext cx="4660900" cy="1120775"/>
            <a:chOff x="1068" y="2000"/>
            <a:chExt cx="2936" cy="706"/>
          </a:xfrm>
        </p:grpSpPr>
        <p:sp>
          <p:nvSpPr>
            <p:cNvPr id="60438" name="Rectangle 57"/>
            <p:cNvSpPr>
              <a:spLocks noChangeArrowheads="1"/>
            </p:cNvSpPr>
            <p:nvPr/>
          </p:nvSpPr>
          <p:spPr bwMode="auto">
            <a:xfrm>
              <a:off x="1068" y="2448"/>
              <a:ext cx="258" cy="258"/>
            </a:xfrm>
            <a:prstGeom prst="rect">
              <a:avLst/>
            </a:prstGeom>
            <a:solidFill>
              <a:srgbClr val="333399"/>
            </a:solidFill>
            <a:ln w="9525" algn="ctr">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0439" name="Text Box 58"/>
            <p:cNvSpPr txBox="1">
              <a:spLocks noChangeArrowheads="1"/>
            </p:cNvSpPr>
            <p:nvPr/>
          </p:nvSpPr>
          <p:spPr bwMode="auto">
            <a:xfrm>
              <a:off x="2306" y="2000"/>
              <a:ext cx="1698" cy="404"/>
            </a:xfrm>
            <a:prstGeom prst="rect">
              <a:avLst/>
            </a:prstGeom>
            <a:noFill/>
            <a:ln w="9525">
              <a:noFill/>
              <a:miter lim="800000"/>
              <a:headEnd/>
              <a:tailEnd/>
            </a:ln>
          </p:spPr>
          <p:txBody>
            <a:bodyPr>
              <a:spAutoFit/>
            </a:bodyPr>
            <a:lstStyle/>
            <a:p>
              <a:pPr>
                <a:spcBef>
                  <a:spcPct val="50000"/>
                </a:spcBef>
              </a:pPr>
              <a:r>
                <a:rPr lang="en-AU" i="0" dirty="0">
                  <a:solidFill>
                    <a:schemeClr val="bg2"/>
                  </a:solidFill>
                </a:rPr>
                <a:t>Soil storage (unsaturated zone)</a:t>
              </a:r>
              <a:endParaRPr lang="en-US" i="0" dirty="0">
                <a:solidFill>
                  <a:schemeClr val="bg2"/>
                </a:solidFill>
              </a:endParaRPr>
            </a:p>
          </p:txBody>
        </p:sp>
      </p:grpSp>
      <p:sp>
        <p:nvSpPr>
          <p:cNvPr id="60434" name="Line 59"/>
          <p:cNvSpPr>
            <a:spLocks noChangeShapeType="1"/>
          </p:cNvSpPr>
          <p:nvPr/>
        </p:nvSpPr>
        <p:spPr bwMode="auto">
          <a:xfrm>
            <a:off x="3409950" y="3003550"/>
            <a:ext cx="2971800" cy="0"/>
          </a:xfrm>
          <a:prstGeom prst="line">
            <a:avLst/>
          </a:prstGeom>
          <a:noFill/>
          <a:ln w="12700">
            <a:solidFill>
              <a:schemeClr val="tx1"/>
            </a:solidFill>
            <a:prstDash val="dash"/>
            <a:round/>
            <a:headEnd/>
            <a:tailEnd/>
          </a:ln>
        </p:spPr>
        <p:txBody>
          <a:bodyPr/>
          <a:lstStyle/>
          <a:p>
            <a:endParaRPr lang="en-US"/>
          </a:p>
        </p:txBody>
      </p:sp>
      <p:grpSp>
        <p:nvGrpSpPr>
          <p:cNvPr id="209980" name="Group 60"/>
          <p:cNvGrpSpPr>
            <a:grpSpLocks/>
          </p:cNvGrpSpPr>
          <p:nvPr/>
        </p:nvGrpSpPr>
        <p:grpSpPr bwMode="auto">
          <a:xfrm>
            <a:off x="1733550" y="4206875"/>
            <a:ext cx="4660900" cy="939800"/>
            <a:chOff x="1086" y="2372"/>
            <a:chExt cx="2936" cy="592"/>
          </a:xfrm>
        </p:grpSpPr>
        <p:sp>
          <p:nvSpPr>
            <p:cNvPr id="60436" name="Text Box 61"/>
            <p:cNvSpPr txBox="1">
              <a:spLocks noChangeArrowheads="1"/>
            </p:cNvSpPr>
            <p:nvPr/>
          </p:nvSpPr>
          <p:spPr bwMode="auto">
            <a:xfrm>
              <a:off x="2312" y="2372"/>
              <a:ext cx="1710" cy="231"/>
            </a:xfrm>
            <a:prstGeom prst="rect">
              <a:avLst/>
            </a:prstGeom>
            <a:solidFill>
              <a:schemeClr val="bg1">
                <a:alpha val="21176"/>
              </a:schemeClr>
            </a:solidFill>
            <a:ln w="9525">
              <a:noFill/>
              <a:miter lim="800000"/>
              <a:headEnd/>
              <a:tailEnd/>
            </a:ln>
          </p:spPr>
          <p:txBody>
            <a:bodyPr>
              <a:spAutoFit/>
            </a:bodyPr>
            <a:lstStyle/>
            <a:p>
              <a:pPr>
                <a:spcBef>
                  <a:spcPct val="50000"/>
                </a:spcBef>
              </a:pPr>
              <a:r>
                <a:rPr lang="en-AU" i="0">
                  <a:solidFill>
                    <a:schemeClr val="tx1"/>
                  </a:solidFill>
                </a:rPr>
                <a:t>Recharge</a:t>
              </a:r>
              <a:endParaRPr lang="en-US" i="0">
                <a:solidFill>
                  <a:schemeClr val="tx1"/>
                </a:solidFill>
              </a:endParaRPr>
            </a:p>
          </p:txBody>
        </p:sp>
        <p:sp>
          <p:nvSpPr>
            <p:cNvPr id="60437" name="AutoShape 62"/>
            <p:cNvSpPr>
              <a:spLocks noChangeArrowheads="1"/>
            </p:cNvSpPr>
            <p:nvPr/>
          </p:nvSpPr>
          <p:spPr bwMode="auto">
            <a:xfrm>
              <a:off x="1086" y="2850"/>
              <a:ext cx="168" cy="114"/>
            </a:xfrm>
            <a:prstGeom prst="downArrow">
              <a:avLst>
                <a:gd name="adj1" fmla="val 50000"/>
                <a:gd name="adj2" fmla="val 25000"/>
              </a:avLst>
            </a:prstGeom>
            <a:solidFill>
              <a:srgbClr val="333399"/>
            </a:solidFill>
            <a:ln w="9525" algn="ctr">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09933"/>
                                        </p:tgtEl>
                                        <p:attrNameLst>
                                          <p:attrName>style.visibility</p:attrName>
                                        </p:attrNameLst>
                                      </p:cBhvr>
                                      <p:to>
                                        <p:strVal val="visible"/>
                                      </p:to>
                                    </p:set>
                                    <p:animEffect transition="in" filter="dissolve">
                                      <p:cBhvr>
                                        <p:cTn id="7" dur="500"/>
                                        <p:tgtEl>
                                          <p:spTgt spid="2099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09960"/>
                                        </p:tgtEl>
                                        <p:attrNameLst>
                                          <p:attrName>style.visibility</p:attrName>
                                        </p:attrNameLst>
                                      </p:cBhvr>
                                      <p:to>
                                        <p:strVal val="visible"/>
                                      </p:to>
                                    </p:set>
                                    <p:animEffect transition="in" filter="dissolve">
                                      <p:cBhvr>
                                        <p:cTn id="12" dur="500"/>
                                        <p:tgtEl>
                                          <p:spTgt spid="2099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09976"/>
                                        </p:tgtEl>
                                        <p:attrNameLst>
                                          <p:attrName>style.visibility</p:attrName>
                                        </p:attrNameLst>
                                      </p:cBhvr>
                                      <p:to>
                                        <p:strVal val="visible"/>
                                      </p:to>
                                    </p:set>
                                    <p:animEffect transition="in" filter="dissolve">
                                      <p:cBhvr>
                                        <p:cTn id="17" dur="500"/>
                                        <p:tgtEl>
                                          <p:spTgt spid="20997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209980"/>
                                        </p:tgtEl>
                                        <p:attrNameLst>
                                          <p:attrName>style.visibility</p:attrName>
                                        </p:attrNameLst>
                                      </p:cBhvr>
                                      <p:to>
                                        <p:strVal val="visible"/>
                                      </p:to>
                                    </p:set>
                                    <p:animEffect transition="in" filter="dissolve">
                                      <p:cBhvr>
                                        <p:cTn id="22" dur="500"/>
                                        <p:tgtEl>
                                          <p:spTgt spid="20998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209965"/>
                                        </p:tgtEl>
                                        <p:attrNameLst>
                                          <p:attrName>style.visibility</p:attrName>
                                        </p:attrNameLst>
                                      </p:cBhvr>
                                      <p:to>
                                        <p:strVal val="visible"/>
                                      </p:to>
                                    </p:set>
                                    <p:animEffect transition="in" filter="dissolve">
                                      <p:cBhvr>
                                        <p:cTn id="27" dur="500"/>
                                        <p:tgtEl>
                                          <p:spTgt spid="20996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209969"/>
                                        </p:tgtEl>
                                        <p:attrNameLst>
                                          <p:attrName>style.visibility</p:attrName>
                                        </p:attrNameLst>
                                      </p:cBhvr>
                                      <p:to>
                                        <p:strVal val="visible"/>
                                      </p:to>
                                    </p:set>
                                    <p:animEffect transition="in" filter="dissolve">
                                      <p:cBhvr>
                                        <p:cTn id="32" dur="500"/>
                                        <p:tgtEl>
                                          <p:spTgt spid="2099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ChangeArrowheads="1"/>
          </p:cNvSpPr>
          <p:nvPr>
            <p:ph type="title"/>
          </p:nvPr>
        </p:nvSpPr>
        <p:spPr>
          <a:xfrm>
            <a:off x="438150" y="806450"/>
            <a:ext cx="5554663" cy="493713"/>
          </a:xfrm>
        </p:spPr>
        <p:txBody>
          <a:bodyPr/>
          <a:lstStyle/>
          <a:p>
            <a:r>
              <a:rPr lang="en-AU" smtClean="0"/>
              <a:t>Groundwater Pumping</a:t>
            </a:r>
            <a:endParaRPr lang="en-US" smtClean="0"/>
          </a:p>
        </p:txBody>
      </p:sp>
      <p:pic>
        <p:nvPicPr>
          <p:cNvPr id="62466" name="Picture 4" descr="interferenceb"/>
          <p:cNvPicPr>
            <a:picLocks noChangeAspect="1" noChangeArrowheads="1"/>
          </p:cNvPicPr>
          <p:nvPr/>
        </p:nvPicPr>
        <p:blipFill>
          <a:blip r:embed="rId3"/>
          <a:srcRect/>
          <a:stretch>
            <a:fillRect/>
          </a:stretch>
        </p:blipFill>
        <p:spPr bwMode="auto">
          <a:xfrm>
            <a:off x="3752850" y="3724275"/>
            <a:ext cx="4381500" cy="2781300"/>
          </a:xfrm>
          <a:prstGeom prst="rect">
            <a:avLst/>
          </a:prstGeom>
          <a:noFill/>
          <a:ln w="9525">
            <a:noFill/>
            <a:miter lim="800000"/>
            <a:headEnd/>
            <a:tailEnd/>
          </a:ln>
        </p:spPr>
      </p:pic>
      <p:pic>
        <p:nvPicPr>
          <p:cNvPr id="62467" name="Picture 5" descr="wsci_01_img0027"/>
          <p:cNvPicPr>
            <a:picLocks noChangeAspect="1" noChangeArrowheads="1"/>
          </p:cNvPicPr>
          <p:nvPr/>
        </p:nvPicPr>
        <p:blipFill>
          <a:blip r:embed="rId4"/>
          <a:srcRect/>
          <a:stretch>
            <a:fillRect/>
          </a:stretch>
        </p:blipFill>
        <p:spPr bwMode="auto">
          <a:xfrm>
            <a:off x="444500" y="1873250"/>
            <a:ext cx="4602163" cy="2052638"/>
          </a:xfrm>
          <a:prstGeom prst="rect">
            <a:avLst/>
          </a:prstGeom>
          <a:noFill/>
          <a:ln w="9525">
            <a:noFill/>
            <a:miter lim="800000"/>
            <a:headEnd/>
            <a:tailEnd/>
          </a:ln>
        </p:spPr>
      </p:pic>
      <p:grpSp>
        <p:nvGrpSpPr>
          <p:cNvPr id="62468" name="Group 6"/>
          <p:cNvGrpSpPr>
            <a:grpSpLocks/>
          </p:cNvGrpSpPr>
          <p:nvPr/>
        </p:nvGrpSpPr>
        <p:grpSpPr bwMode="auto">
          <a:xfrm>
            <a:off x="6045200" y="1695450"/>
            <a:ext cx="1812925" cy="1665288"/>
            <a:chOff x="304" y="924"/>
            <a:chExt cx="2306" cy="2723"/>
          </a:xfrm>
        </p:grpSpPr>
        <p:sp>
          <p:nvSpPr>
            <p:cNvPr id="62470" name="Line 7"/>
            <p:cNvSpPr>
              <a:spLocks noChangeShapeType="1"/>
            </p:cNvSpPr>
            <p:nvPr/>
          </p:nvSpPr>
          <p:spPr bwMode="auto">
            <a:xfrm flipV="1">
              <a:off x="756" y="2245"/>
              <a:ext cx="398" cy="542"/>
            </a:xfrm>
            <a:prstGeom prst="line">
              <a:avLst/>
            </a:prstGeom>
            <a:noFill/>
            <a:ln w="9525">
              <a:solidFill>
                <a:schemeClr val="tx1"/>
              </a:solidFill>
              <a:round/>
              <a:headEnd/>
              <a:tailEnd/>
            </a:ln>
          </p:spPr>
          <p:txBody>
            <a:bodyPr/>
            <a:lstStyle/>
            <a:p>
              <a:endParaRPr lang="en-US"/>
            </a:p>
          </p:txBody>
        </p:sp>
        <p:sp>
          <p:nvSpPr>
            <p:cNvPr id="62471" name="Freeform 8"/>
            <p:cNvSpPr>
              <a:spLocks/>
            </p:cNvSpPr>
            <p:nvPr/>
          </p:nvSpPr>
          <p:spPr bwMode="auto">
            <a:xfrm>
              <a:off x="756" y="2235"/>
              <a:ext cx="383" cy="1412"/>
            </a:xfrm>
            <a:custGeom>
              <a:avLst/>
              <a:gdLst>
                <a:gd name="T0" fmla="*/ 0 w 174"/>
                <a:gd name="T1" fmla="*/ 1412 h 827"/>
                <a:gd name="T2" fmla="*/ 0 w 174"/>
                <a:gd name="T3" fmla="*/ 560 h 827"/>
                <a:gd name="T4" fmla="*/ 383 w 174"/>
                <a:gd name="T5" fmla="*/ 0 h 827"/>
                <a:gd name="T6" fmla="*/ 361 w 174"/>
                <a:gd name="T7" fmla="*/ 871 h 827"/>
                <a:gd name="T8" fmla="*/ 0 w 174"/>
                <a:gd name="T9" fmla="*/ 1412 h 827"/>
                <a:gd name="T10" fmla="*/ 0 60000 65536"/>
                <a:gd name="T11" fmla="*/ 0 60000 65536"/>
                <a:gd name="T12" fmla="*/ 0 60000 65536"/>
                <a:gd name="T13" fmla="*/ 0 60000 65536"/>
                <a:gd name="T14" fmla="*/ 0 60000 65536"/>
                <a:gd name="T15" fmla="*/ 0 w 174"/>
                <a:gd name="T16" fmla="*/ 0 h 827"/>
                <a:gd name="T17" fmla="*/ 174 w 174"/>
                <a:gd name="T18" fmla="*/ 827 h 827"/>
              </a:gdLst>
              <a:ahLst/>
              <a:cxnLst>
                <a:cxn ang="T10">
                  <a:pos x="T0" y="T1"/>
                </a:cxn>
                <a:cxn ang="T11">
                  <a:pos x="T2" y="T3"/>
                </a:cxn>
                <a:cxn ang="T12">
                  <a:pos x="T4" y="T5"/>
                </a:cxn>
                <a:cxn ang="T13">
                  <a:pos x="T6" y="T7"/>
                </a:cxn>
                <a:cxn ang="T14">
                  <a:pos x="T8" y="T9"/>
                </a:cxn>
              </a:cxnLst>
              <a:rect l="T15" t="T16" r="T17" b="T18"/>
              <a:pathLst>
                <a:path w="174" h="827">
                  <a:moveTo>
                    <a:pt x="0" y="827"/>
                  </a:moveTo>
                  <a:lnTo>
                    <a:pt x="0" y="328"/>
                  </a:lnTo>
                  <a:lnTo>
                    <a:pt x="174" y="0"/>
                  </a:lnTo>
                  <a:lnTo>
                    <a:pt x="164" y="510"/>
                  </a:lnTo>
                  <a:lnTo>
                    <a:pt x="0" y="827"/>
                  </a:lnTo>
                  <a:close/>
                </a:path>
              </a:pathLst>
            </a:custGeom>
            <a:solidFill>
              <a:schemeClr val="accent1"/>
            </a:solidFill>
            <a:ln w="9525" cap="flat" cmpd="sng">
              <a:solidFill>
                <a:schemeClr val="tx1"/>
              </a:solidFill>
              <a:prstDash val="solid"/>
              <a:round/>
              <a:headEnd/>
              <a:tailEnd/>
            </a:ln>
          </p:spPr>
          <p:txBody>
            <a:bodyPr wrap="none" anchor="ctr"/>
            <a:lstStyle/>
            <a:p>
              <a:endParaRPr lang="en-US"/>
            </a:p>
          </p:txBody>
        </p:sp>
        <p:grpSp>
          <p:nvGrpSpPr>
            <p:cNvPr id="62472" name="Group 9"/>
            <p:cNvGrpSpPr>
              <a:grpSpLocks/>
            </p:cNvGrpSpPr>
            <p:nvPr/>
          </p:nvGrpSpPr>
          <p:grpSpPr bwMode="auto">
            <a:xfrm>
              <a:off x="756" y="2245"/>
              <a:ext cx="1596" cy="1395"/>
              <a:chOff x="4050" y="2886"/>
              <a:chExt cx="726" cy="817"/>
            </a:xfrm>
          </p:grpSpPr>
          <p:sp>
            <p:nvSpPr>
              <p:cNvPr id="62511" name="Rectangle 10"/>
              <p:cNvSpPr>
                <a:spLocks noChangeArrowheads="1"/>
              </p:cNvSpPr>
              <p:nvPr/>
            </p:nvSpPr>
            <p:spPr bwMode="auto">
              <a:xfrm>
                <a:off x="4050" y="3203"/>
                <a:ext cx="545" cy="500"/>
              </a:xfrm>
              <a:prstGeom prst="rect">
                <a:avLst/>
              </a:prstGeom>
              <a:solidFill>
                <a:srgbClr val="99CCFF"/>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2512" name="AutoShape 11"/>
              <p:cNvSpPr>
                <a:spLocks noChangeArrowheads="1"/>
              </p:cNvSpPr>
              <p:nvPr/>
            </p:nvSpPr>
            <p:spPr bwMode="auto">
              <a:xfrm>
                <a:off x="4050" y="2886"/>
                <a:ext cx="726" cy="317"/>
              </a:xfrm>
              <a:prstGeom prst="parallelogram">
                <a:avLst>
                  <a:gd name="adj" fmla="val 57256"/>
                </a:avLst>
              </a:prstGeom>
              <a:solidFill>
                <a:schemeClr val="accent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2513" name="Freeform 12"/>
              <p:cNvSpPr>
                <a:spLocks/>
              </p:cNvSpPr>
              <p:nvPr/>
            </p:nvSpPr>
            <p:spPr bwMode="auto">
              <a:xfrm>
                <a:off x="4594" y="2886"/>
                <a:ext cx="182" cy="816"/>
              </a:xfrm>
              <a:custGeom>
                <a:avLst/>
                <a:gdLst>
                  <a:gd name="T0" fmla="*/ 0 w 182"/>
                  <a:gd name="T1" fmla="*/ 816 h 816"/>
                  <a:gd name="T2" fmla="*/ 0 w 182"/>
                  <a:gd name="T3" fmla="*/ 317 h 816"/>
                  <a:gd name="T4" fmla="*/ 182 w 182"/>
                  <a:gd name="T5" fmla="*/ 0 h 816"/>
                  <a:gd name="T6" fmla="*/ 182 w 182"/>
                  <a:gd name="T7" fmla="*/ 499 h 816"/>
                  <a:gd name="T8" fmla="*/ 0 w 182"/>
                  <a:gd name="T9" fmla="*/ 816 h 816"/>
                  <a:gd name="T10" fmla="*/ 0 60000 65536"/>
                  <a:gd name="T11" fmla="*/ 0 60000 65536"/>
                  <a:gd name="T12" fmla="*/ 0 60000 65536"/>
                  <a:gd name="T13" fmla="*/ 0 60000 65536"/>
                  <a:gd name="T14" fmla="*/ 0 60000 65536"/>
                  <a:gd name="T15" fmla="*/ 0 w 182"/>
                  <a:gd name="T16" fmla="*/ 0 h 816"/>
                  <a:gd name="T17" fmla="*/ 182 w 182"/>
                  <a:gd name="T18" fmla="*/ 816 h 816"/>
                </a:gdLst>
                <a:ahLst/>
                <a:cxnLst>
                  <a:cxn ang="T10">
                    <a:pos x="T0" y="T1"/>
                  </a:cxn>
                  <a:cxn ang="T11">
                    <a:pos x="T2" y="T3"/>
                  </a:cxn>
                  <a:cxn ang="T12">
                    <a:pos x="T4" y="T5"/>
                  </a:cxn>
                  <a:cxn ang="T13">
                    <a:pos x="T6" y="T7"/>
                  </a:cxn>
                  <a:cxn ang="T14">
                    <a:pos x="T8" y="T9"/>
                  </a:cxn>
                </a:cxnLst>
                <a:rect l="T15" t="T16" r="T17" b="T18"/>
                <a:pathLst>
                  <a:path w="182" h="816">
                    <a:moveTo>
                      <a:pt x="0" y="816"/>
                    </a:moveTo>
                    <a:lnTo>
                      <a:pt x="0" y="317"/>
                    </a:lnTo>
                    <a:lnTo>
                      <a:pt x="182" y="0"/>
                    </a:lnTo>
                    <a:lnTo>
                      <a:pt x="182" y="499"/>
                    </a:lnTo>
                    <a:lnTo>
                      <a:pt x="0" y="816"/>
                    </a:lnTo>
                    <a:close/>
                  </a:path>
                </a:pathLst>
              </a:custGeom>
              <a:solidFill>
                <a:srgbClr val="99CCFF"/>
              </a:solidFill>
              <a:ln w="9525">
                <a:solidFill>
                  <a:schemeClr val="tx1"/>
                </a:solidFill>
                <a:round/>
                <a:headEnd/>
                <a:tailEnd/>
              </a:ln>
            </p:spPr>
            <p:txBody>
              <a:bodyPr/>
              <a:lstStyle/>
              <a:p>
                <a:endParaRPr lang="en-US"/>
              </a:p>
            </p:txBody>
          </p:sp>
        </p:grpSp>
        <p:grpSp>
          <p:nvGrpSpPr>
            <p:cNvPr id="62473" name="Group 13"/>
            <p:cNvGrpSpPr>
              <a:grpSpLocks/>
            </p:cNvGrpSpPr>
            <p:nvPr/>
          </p:nvGrpSpPr>
          <p:grpSpPr bwMode="auto">
            <a:xfrm>
              <a:off x="756" y="1397"/>
              <a:ext cx="1596" cy="1395"/>
              <a:chOff x="4422" y="1933"/>
              <a:chExt cx="726" cy="817"/>
            </a:xfrm>
          </p:grpSpPr>
          <p:sp>
            <p:nvSpPr>
              <p:cNvPr id="62508" name="Rectangle 14"/>
              <p:cNvSpPr>
                <a:spLocks noChangeArrowheads="1"/>
              </p:cNvSpPr>
              <p:nvPr/>
            </p:nvSpPr>
            <p:spPr bwMode="auto">
              <a:xfrm>
                <a:off x="4422" y="2260"/>
                <a:ext cx="545" cy="490"/>
              </a:xfrm>
              <a:prstGeom prst="rect">
                <a:avLst/>
              </a:prstGeom>
              <a:solidFill>
                <a:schemeClr val="bg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2509" name="AutoShape 15"/>
              <p:cNvSpPr>
                <a:spLocks noChangeArrowheads="1"/>
              </p:cNvSpPr>
              <p:nvPr/>
            </p:nvSpPr>
            <p:spPr bwMode="auto">
              <a:xfrm>
                <a:off x="4422" y="1933"/>
                <a:ext cx="726" cy="327"/>
              </a:xfrm>
              <a:prstGeom prst="parallelogram">
                <a:avLst>
                  <a:gd name="adj" fmla="val 55505"/>
                </a:avLst>
              </a:prstGeom>
              <a:solidFill>
                <a:schemeClr val="bg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2510" name="Freeform 16"/>
              <p:cNvSpPr>
                <a:spLocks/>
              </p:cNvSpPr>
              <p:nvPr/>
            </p:nvSpPr>
            <p:spPr bwMode="auto">
              <a:xfrm>
                <a:off x="4966" y="1933"/>
                <a:ext cx="182" cy="816"/>
              </a:xfrm>
              <a:custGeom>
                <a:avLst/>
                <a:gdLst>
                  <a:gd name="T0" fmla="*/ 0 w 182"/>
                  <a:gd name="T1" fmla="*/ 816 h 816"/>
                  <a:gd name="T2" fmla="*/ 0 w 182"/>
                  <a:gd name="T3" fmla="*/ 317 h 816"/>
                  <a:gd name="T4" fmla="*/ 182 w 182"/>
                  <a:gd name="T5" fmla="*/ 0 h 816"/>
                  <a:gd name="T6" fmla="*/ 182 w 182"/>
                  <a:gd name="T7" fmla="*/ 499 h 816"/>
                  <a:gd name="T8" fmla="*/ 0 w 182"/>
                  <a:gd name="T9" fmla="*/ 816 h 816"/>
                  <a:gd name="T10" fmla="*/ 0 60000 65536"/>
                  <a:gd name="T11" fmla="*/ 0 60000 65536"/>
                  <a:gd name="T12" fmla="*/ 0 60000 65536"/>
                  <a:gd name="T13" fmla="*/ 0 60000 65536"/>
                  <a:gd name="T14" fmla="*/ 0 60000 65536"/>
                  <a:gd name="T15" fmla="*/ 0 w 182"/>
                  <a:gd name="T16" fmla="*/ 0 h 816"/>
                  <a:gd name="T17" fmla="*/ 182 w 182"/>
                  <a:gd name="T18" fmla="*/ 816 h 816"/>
                </a:gdLst>
                <a:ahLst/>
                <a:cxnLst>
                  <a:cxn ang="T10">
                    <a:pos x="T0" y="T1"/>
                  </a:cxn>
                  <a:cxn ang="T11">
                    <a:pos x="T2" y="T3"/>
                  </a:cxn>
                  <a:cxn ang="T12">
                    <a:pos x="T4" y="T5"/>
                  </a:cxn>
                  <a:cxn ang="T13">
                    <a:pos x="T6" y="T7"/>
                  </a:cxn>
                  <a:cxn ang="T14">
                    <a:pos x="T8" y="T9"/>
                  </a:cxn>
                </a:cxnLst>
                <a:rect l="T15" t="T16" r="T17" b="T18"/>
                <a:pathLst>
                  <a:path w="182" h="816">
                    <a:moveTo>
                      <a:pt x="0" y="816"/>
                    </a:moveTo>
                    <a:lnTo>
                      <a:pt x="0" y="317"/>
                    </a:lnTo>
                    <a:lnTo>
                      <a:pt x="182" y="0"/>
                    </a:lnTo>
                    <a:lnTo>
                      <a:pt x="182" y="499"/>
                    </a:lnTo>
                    <a:lnTo>
                      <a:pt x="0" y="816"/>
                    </a:lnTo>
                    <a:close/>
                  </a:path>
                </a:pathLst>
              </a:custGeom>
              <a:solidFill>
                <a:schemeClr val="bg1"/>
              </a:solidFill>
              <a:ln w="9525">
                <a:solidFill>
                  <a:schemeClr val="tx1"/>
                </a:solidFill>
                <a:round/>
                <a:headEnd/>
                <a:tailEnd/>
              </a:ln>
            </p:spPr>
            <p:txBody>
              <a:bodyPr/>
              <a:lstStyle/>
              <a:p>
                <a:endParaRPr lang="en-US"/>
              </a:p>
            </p:txBody>
          </p:sp>
        </p:grpSp>
        <p:sp>
          <p:nvSpPr>
            <p:cNvPr id="62474" name="AutoShape 17"/>
            <p:cNvSpPr>
              <a:spLocks noChangeArrowheads="1"/>
            </p:cNvSpPr>
            <p:nvPr/>
          </p:nvSpPr>
          <p:spPr bwMode="auto">
            <a:xfrm rot="-5400000">
              <a:off x="1792" y="1162"/>
              <a:ext cx="462" cy="246"/>
            </a:xfrm>
            <a:prstGeom prst="leftArrow">
              <a:avLst>
                <a:gd name="adj1" fmla="val 50000"/>
                <a:gd name="adj2" fmla="val 46951"/>
              </a:avLst>
            </a:prstGeom>
            <a:solidFill>
              <a:srgbClr val="333399"/>
            </a:solidFill>
            <a:ln w="9525">
              <a:solidFill>
                <a:srgbClr val="00008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nvGrpSpPr>
            <p:cNvPr id="62475" name="Group 18"/>
            <p:cNvGrpSpPr>
              <a:grpSpLocks/>
            </p:cNvGrpSpPr>
            <p:nvPr/>
          </p:nvGrpSpPr>
          <p:grpSpPr bwMode="auto">
            <a:xfrm>
              <a:off x="894" y="1248"/>
              <a:ext cx="537" cy="1050"/>
              <a:chOff x="1133" y="1419"/>
              <a:chExt cx="244" cy="615"/>
            </a:xfrm>
          </p:grpSpPr>
          <p:sp>
            <p:nvSpPr>
              <p:cNvPr id="62503" name="Freeform 19"/>
              <p:cNvSpPr>
                <a:spLocks/>
              </p:cNvSpPr>
              <p:nvPr/>
            </p:nvSpPr>
            <p:spPr bwMode="auto">
              <a:xfrm>
                <a:off x="1185" y="1452"/>
                <a:ext cx="162" cy="582"/>
              </a:xfrm>
              <a:custGeom>
                <a:avLst/>
                <a:gdLst>
                  <a:gd name="T0" fmla="*/ 54 w 162"/>
                  <a:gd name="T1" fmla="*/ 582 h 582"/>
                  <a:gd name="T2" fmla="*/ 42 w 162"/>
                  <a:gd name="T3" fmla="*/ 507 h 582"/>
                  <a:gd name="T4" fmla="*/ 51 w 162"/>
                  <a:gd name="T5" fmla="*/ 423 h 582"/>
                  <a:gd name="T6" fmla="*/ 42 w 162"/>
                  <a:gd name="T7" fmla="*/ 390 h 582"/>
                  <a:gd name="T8" fmla="*/ 33 w 162"/>
                  <a:gd name="T9" fmla="*/ 378 h 582"/>
                  <a:gd name="T10" fmla="*/ 48 w 162"/>
                  <a:gd name="T11" fmla="*/ 330 h 582"/>
                  <a:gd name="T12" fmla="*/ 57 w 162"/>
                  <a:gd name="T13" fmla="*/ 297 h 582"/>
                  <a:gd name="T14" fmla="*/ 63 w 162"/>
                  <a:gd name="T15" fmla="*/ 231 h 582"/>
                  <a:gd name="T16" fmla="*/ 57 w 162"/>
                  <a:gd name="T17" fmla="*/ 147 h 582"/>
                  <a:gd name="T18" fmla="*/ 21 w 162"/>
                  <a:gd name="T19" fmla="*/ 99 h 582"/>
                  <a:gd name="T20" fmla="*/ 0 w 162"/>
                  <a:gd name="T21" fmla="*/ 72 h 582"/>
                  <a:gd name="T22" fmla="*/ 54 w 162"/>
                  <a:gd name="T23" fmla="*/ 105 h 582"/>
                  <a:gd name="T24" fmla="*/ 57 w 162"/>
                  <a:gd name="T25" fmla="*/ 87 h 582"/>
                  <a:gd name="T26" fmla="*/ 63 w 162"/>
                  <a:gd name="T27" fmla="*/ 0 h 582"/>
                  <a:gd name="T28" fmla="*/ 78 w 162"/>
                  <a:gd name="T29" fmla="*/ 39 h 582"/>
                  <a:gd name="T30" fmla="*/ 78 w 162"/>
                  <a:gd name="T31" fmla="*/ 126 h 582"/>
                  <a:gd name="T32" fmla="*/ 90 w 162"/>
                  <a:gd name="T33" fmla="*/ 72 h 582"/>
                  <a:gd name="T34" fmla="*/ 108 w 162"/>
                  <a:gd name="T35" fmla="*/ 72 h 582"/>
                  <a:gd name="T36" fmla="*/ 93 w 162"/>
                  <a:gd name="T37" fmla="*/ 135 h 582"/>
                  <a:gd name="T38" fmla="*/ 162 w 162"/>
                  <a:gd name="T39" fmla="*/ 84 h 582"/>
                  <a:gd name="T40" fmla="*/ 153 w 162"/>
                  <a:gd name="T41" fmla="*/ 120 h 582"/>
                  <a:gd name="T42" fmla="*/ 75 w 162"/>
                  <a:gd name="T43" fmla="*/ 165 h 582"/>
                  <a:gd name="T44" fmla="*/ 75 w 162"/>
                  <a:gd name="T45" fmla="*/ 300 h 582"/>
                  <a:gd name="T46" fmla="*/ 99 w 162"/>
                  <a:gd name="T47" fmla="*/ 381 h 582"/>
                  <a:gd name="T48" fmla="*/ 84 w 162"/>
                  <a:gd name="T49" fmla="*/ 414 h 582"/>
                  <a:gd name="T50" fmla="*/ 99 w 162"/>
                  <a:gd name="T51" fmla="*/ 453 h 582"/>
                  <a:gd name="T52" fmla="*/ 135 w 162"/>
                  <a:gd name="T53" fmla="*/ 486 h 582"/>
                  <a:gd name="T54" fmla="*/ 132 w 162"/>
                  <a:gd name="T55" fmla="*/ 510 h 582"/>
                  <a:gd name="T56" fmla="*/ 102 w 162"/>
                  <a:gd name="T57" fmla="*/ 468 h 582"/>
                  <a:gd name="T58" fmla="*/ 69 w 162"/>
                  <a:gd name="T59" fmla="*/ 414 h 582"/>
                  <a:gd name="T60" fmla="*/ 63 w 162"/>
                  <a:gd name="T61" fmla="*/ 456 h 582"/>
                  <a:gd name="T62" fmla="*/ 75 w 162"/>
                  <a:gd name="T63" fmla="*/ 492 h 582"/>
                  <a:gd name="T64" fmla="*/ 96 w 162"/>
                  <a:gd name="T65" fmla="*/ 513 h 582"/>
                  <a:gd name="T66" fmla="*/ 78 w 162"/>
                  <a:gd name="T67" fmla="*/ 519 h 582"/>
                  <a:gd name="T68" fmla="*/ 60 w 162"/>
                  <a:gd name="T69" fmla="*/ 486 h 582"/>
                  <a:gd name="T70" fmla="*/ 54 w 162"/>
                  <a:gd name="T71" fmla="*/ 522 h 582"/>
                  <a:gd name="T72" fmla="*/ 54 w 162"/>
                  <a:gd name="T73" fmla="*/ 582 h 58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2"/>
                  <a:gd name="T112" fmla="*/ 0 h 582"/>
                  <a:gd name="T113" fmla="*/ 162 w 162"/>
                  <a:gd name="T114" fmla="*/ 582 h 58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2" h="582">
                    <a:moveTo>
                      <a:pt x="54" y="582"/>
                    </a:moveTo>
                    <a:lnTo>
                      <a:pt x="42" y="507"/>
                    </a:lnTo>
                    <a:lnTo>
                      <a:pt x="51" y="423"/>
                    </a:lnTo>
                    <a:lnTo>
                      <a:pt x="42" y="390"/>
                    </a:lnTo>
                    <a:lnTo>
                      <a:pt x="33" y="378"/>
                    </a:ln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84" y="414"/>
                    </a:lnTo>
                    <a:lnTo>
                      <a:pt x="99" y="453"/>
                    </a:lnTo>
                    <a:lnTo>
                      <a:pt x="135" y="486"/>
                    </a:lnTo>
                    <a:lnTo>
                      <a:pt x="132" y="510"/>
                    </a:lnTo>
                    <a:lnTo>
                      <a:pt x="102" y="468"/>
                    </a:lnTo>
                    <a:lnTo>
                      <a:pt x="69" y="414"/>
                    </a:lnTo>
                    <a:lnTo>
                      <a:pt x="63" y="456"/>
                    </a:lnTo>
                    <a:lnTo>
                      <a:pt x="75" y="492"/>
                    </a:lnTo>
                    <a:lnTo>
                      <a:pt x="96" y="513"/>
                    </a:lnTo>
                    <a:lnTo>
                      <a:pt x="78" y="519"/>
                    </a:lnTo>
                    <a:lnTo>
                      <a:pt x="60" y="486"/>
                    </a:lnTo>
                    <a:lnTo>
                      <a:pt x="54" y="522"/>
                    </a:lnTo>
                    <a:lnTo>
                      <a:pt x="54" y="582"/>
                    </a:lnTo>
                    <a:close/>
                  </a:path>
                </a:pathLst>
              </a:custGeom>
              <a:solidFill>
                <a:schemeClr val="bg2"/>
              </a:solidFill>
              <a:ln w="9525">
                <a:noFill/>
                <a:round/>
                <a:headEnd/>
                <a:tailEnd/>
              </a:ln>
            </p:spPr>
            <p:txBody>
              <a:bodyPr/>
              <a:lstStyle/>
              <a:p>
                <a:endParaRPr lang="en-US"/>
              </a:p>
            </p:txBody>
          </p:sp>
          <p:sp>
            <p:nvSpPr>
              <p:cNvPr id="62504" name="Freeform 20"/>
              <p:cNvSpPr>
                <a:spLocks/>
              </p:cNvSpPr>
              <p:nvPr/>
            </p:nvSpPr>
            <p:spPr bwMode="auto">
              <a:xfrm>
                <a:off x="1133" y="1484"/>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2505" name="Freeform 21"/>
              <p:cNvSpPr>
                <a:spLocks/>
              </p:cNvSpPr>
              <p:nvPr/>
            </p:nvSpPr>
            <p:spPr bwMode="auto">
              <a:xfrm>
                <a:off x="1176" y="1419"/>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2506" name="Freeform 22"/>
              <p:cNvSpPr>
                <a:spLocks/>
              </p:cNvSpPr>
              <p:nvPr/>
            </p:nvSpPr>
            <p:spPr bwMode="auto">
              <a:xfrm>
                <a:off x="1249" y="1477"/>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2507" name="Freeform 23"/>
              <p:cNvSpPr>
                <a:spLocks/>
              </p:cNvSpPr>
              <p:nvPr/>
            </p:nvSpPr>
            <p:spPr bwMode="auto">
              <a:xfrm>
                <a:off x="1283" y="1547"/>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2476" name="Group 24"/>
            <p:cNvGrpSpPr>
              <a:grpSpLocks/>
            </p:cNvGrpSpPr>
            <p:nvPr/>
          </p:nvGrpSpPr>
          <p:grpSpPr bwMode="auto">
            <a:xfrm>
              <a:off x="1248" y="924"/>
              <a:ext cx="537" cy="707"/>
              <a:chOff x="1164" y="1150"/>
              <a:chExt cx="244" cy="414"/>
            </a:xfrm>
          </p:grpSpPr>
          <p:sp>
            <p:nvSpPr>
              <p:cNvPr id="62498" name="Freeform 2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62499" name="Freeform 2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2500" name="Freeform 2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2501" name="Freeform 2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2502" name="Freeform 2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2477" name="Group 30"/>
            <p:cNvGrpSpPr>
              <a:grpSpLocks/>
            </p:cNvGrpSpPr>
            <p:nvPr/>
          </p:nvGrpSpPr>
          <p:grpSpPr bwMode="auto">
            <a:xfrm>
              <a:off x="1231" y="1581"/>
              <a:ext cx="259" cy="313"/>
              <a:chOff x="1164" y="1150"/>
              <a:chExt cx="244" cy="414"/>
            </a:xfrm>
          </p:grpSpPr>
          <p:sp>
            <p:nvSpPr>
              <p:cNvPr id="62493" name="Freeform 31"/>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62494" name="Freeform 32"/>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2495" name="Freeform 33"/>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2496" name="Freeform 34"/>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2497" name="Freeform 35"/>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2478" name="Group 36"/>
            <p:cNvGrpSpPr>
              <a:grpSpLocks/>
            </p:cNvGrpSpPr>
            <p:nvPr/>
          </p:nvGrpSpPr>
          <p:grpSpPr bwMode="auto">
            <a:xfrm>
              <a:off x="1424" y="1276"/>
              <a:ext cx="451" cy="584"/>
              <a:chOff x="1164" y="1150"/>
              <a:chExt cx="244" cy="414"/>
            </a:xfrm>
          </p:grpSpPr>
          <p:sp>
            <p:nvSpPr>
              <p:cNvPr id="62488" name="Freeform 37"/>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62489" name="Freeform 38"/>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2490" name="Freeform 39"/>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2491" name="Freeform 40"/>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2492" name="Freeform 41"/>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sp>
          <p:nvSpPr>
            <p:cNvPr id="62479" name="AutoShape 42"/>
            <p:cNvSpPr>
              <a:spLocks noChangeArrowheads="1"/>
            </p:cNvSpPr>
            <p:nvPr/>
          </p:nvSpPr>
          <p:spPr bwMode="auto">
            <a:xfrm rot="10800000">
              <a:off x="1260" y="1764"/>
              <a:ext cx="342" cy="348"/>
            </a:xfrm>
            <a:custGeom>
              <a:avLst/>
              <a:gdLst>
                <a:gd name="T0" fmla="*/ 146 w 21600"/>
                <a:gd name="T1" fmla="*/ 0 h 21600"/>
                <a:gd name="T2" fmla="*/ 48 w 21600"/>
                <a:gd name="T3" fmla="*/ 348 h 21600"/>
                <a:gd name="T4" fmla="*/ 154 w 21600"/>
                <a:gd name="T5" fmla="*/ 134 h 21600"/>
                <a:gd name="T6" fmla="*/ 248 w 21600"/>
                <a:gd name="T7" fmla="*/ 230 h 21600"/>
                <a:gd name="T8" fmla="*/ 342 w 21600"/>
                <a:gd name="T9" fmla="*/ 134 h 21600"/>
                <a:gd name="T10" fmla="*/ 17694720 60000 65536"/>
                <a:gd name="T11" fmla="*/ 5898240 60000 65536"/>
                <a:gd name="T12" fmla="*/ 5898240 60000 65536"/>
                <a:gd name="T13" fmla="*/ 5898240 60000 65536"/>
                <a:gd name="T14" fmla="*/ 0 60000 65536"/>
                <a:gd name="T15" fmla="*/ 0 w 21600"/>
                <a:gd name="T16" fmla="*/ 8317 h 21600"/>
                <a:gd name="T17" fmla="*/ 6126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15662" y="14285"/>
                  </a:moveTo>
                  <a:lnTo>
                    <a:pt x="21600" y="8310"/>
                  </a:lnTo>
                  <a:lnTo>
                    <a:pt x="18630" y="8310"/>
                  </a:lnTo>
                  <a:cubicBezTo>
                    <a:pt x="18630" y="3721"/>
                    <a:pt x="14430" y="0"/>
                    <a:pt x="9250" y="0"/>
                  </a:cubicBezTo>
                  <a:cubicBezTo>
                    <a:pt x="4141" y="0"/>
                    <a:pt x="0" y="3799"/>
                    <a:pt x="0" y="8485"/>
                  </a:cubicBezTo>
                  <a:lnTo>
                    <a:pt x="0" y="21600"/>
                  </a:lnTo>
                  <a:lnTo>
                    <a:pt x="6110" y="21600"/>
                  </a:lnTo>
                  <a:lnTo>
                    <a:pt x="6110" y="8310"/>
                  </a:lnTo>
                  <a:cubicBezTo>
                    <a:pt x="6110" y="6947"/>
                    <a:pt x="7362" y="5842"/>
                    <a:pt x="8907" y="5842"/>
                  </a:cubicBezTo>
                  <a:lnTo>
                    <a:pt x="9725" y="5842"/>
                  </a:lnTo>
                  <a:cubicBezTo>
                    <a:pt x="11269" y="5842"/>
                    <a:pt x="12520" y="6947"/>
                    <a:pt x="12520" y="8310"/>
                  </a:cubicBezTo>
                  <a:lnTo>
                    <a:pt x="9725" y="8310"/>
                  </a:lnTo>
                  <a:close/>
                </a:path>
              </a:pathLst>
            </a:custGeom>
            <a:solidFill>
              <a:srgbClr val="333399"/>
            </a:solidFill>
            <a:ln w="9525" algn="ctr">
              <a:solidFill>
                <a:schemeClr val="tx1"/>
              </a:solidFill>
              <a:miter lim="800000"/>
              <a:headEnd/>
              <a:tailEnd/>
            </a:ln>
          </p:spPr>
          <p:txBody>
            <a:bodyPr wrap="none" anchor="ctr"/>
            <a:lstStyle/>
            <a:p>
              <a:endParaRPr lang="en-US"/>
            </a:p>
          </p:txBody>
        </p:sp>
        <p:sp>
          <p:nvSpPr>
            <p:cNvPr id="62480" name="AutoShape 43"/>
            <p:cNvSpPr>
              <a:spLocks noChangeArrowheads="1"/>
            </p:cNvSpPr>
            <p:nvPr/>
          </p:nvSpPr>
          <p:spPr bwMode="auto">
            <a:xfrm>
              <a:off x="1248" y="2706"/>
              <a:ext cx="264" cy="168"/>
            </a:xfrm>
            <a:prstGeom prst="upDownArrow">
              <a:avLst>
                <a:gd name="adj1" fmla="val 50000"/>
                <a:gd name="adj2" fmla="val 20000"/>
              </a:avLst>
            </a:prstGeom>
            <a:solidFill>
              <a:srgbClr val="333399"/>
            </a:solidFill>
            <a:ln w="9525" algn="ctr">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2481" name="Rectangle 44"/>
            <p:cNvSpPr>
              <a:spLocks noChangeArrowheads="1"/>
            </p:cNvSpPr>
            <p:nvPr/>
          </p:nvSpPr>
          <p:spPr bwMode="auto">
            <a:xfrm>
              <a:off x="1278" y="2268"/>
              <a:ext cx="258" cy="258"/>
            </a:xfrm>
            <a:prstGeom prst="rect">
              <a:avLst/>
            </a:prstGeom>
            <a:solidFill>
              <a:srgbClr val="333399"/>
            </a:solidFill>
            <a:ln w="9525" algn="ctr">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2482" name="AutoShape 45"/>
            <p:cNvSpPr>
              <a:spLocks noChangeArrowheads="1"/>
            </p:cNvSpPr>
            <p:nvPr/>
          </p:nvSpPr>
          <p:spPr bwMode="auto">
            <a:xfrm>
              <a:off x="304" y="2908"/>
              <a:ext cx="450" cy="246"/>
            </a:xfrm>
            <a:prstGeom prst="leftArrow">
              <a:avLst>
                <a:gd name="adj1" fmla="val 50000"/>
                <a:gd name="adj2" fmla="val 45732"/>
              </a:avLst>
            </a:prstGeom>
            <a:solidFill>
              <a:srgbClr val="333399"/>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2483" name="AutoShape 46"/>
            <p:cNvSpPr>
              <a:spLocks noChangeArrowheads="1"/>
            </p:cNvSpPr>
            <p:nvPr/>
          </p:nvSpPr>
          <p:spPr bwMode="auto">
            <a:xfrm>
              <a:off x="2160" y="2880"/>
              <a:ext cx="450" cy="246"/>
            </a:xfrm>
            <a:prstGeom prst="leftArrow">
              <a:avLst>
                <a:gd name="adj1" fmla="val 50000"/>
                <a:gd name="adj2" fmla="val 45732"/>
              </a:avLst>
            </a:prstGeom>
            <a:solidFill>
              <a:srgbClr val="333399"/>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nvGrpSpPr>
            <p:cNvPr id="62484" name="Group 47"/>
            <p:cNvGrpSpPr>
              <a:grpSpLocks/>
            </p:cNvGrpSpPr>
            <p:nvPr/>
          </p:nvGrpSpPr>
          <p:grpSpPr bwMode="auto">
            <a:xfrm>
              <a:off x="732" y="1686"/>
              <a:ext cx="210" cy="1908"/>
              <a:chOff x="732" y="1686"/>
              <a:chExt cx="210" cy="1908"/>
            </a:xfrm>
          </p:grpSpPr>
          <p:sp>
            <p:nvSpPr>
              <p:cNvPr id="62485" name="Rectangle 48"/>
              <p:cNvSpPr>
                <a:spLocks noChangeArrowheads="1"/>
              </p:cNvSpPr>
              <p:nvPr/>
            </p:nvSpPr>
            <p:spPr bwMode="auto">
              <a:xfrm>
                <a:off x="876" y="1848"/>
                <a:ext cx="60" cy="1734"/>
              </a:xfrm>
              <a:prstGeom prst="rect">
                <a:avLst/>
              </a:prstGeom>
              <a:solidFill>
                <a:schemeClr val="bg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2486" name="Rectangle 49" descr="Dark horizontal"/>
              <p:cNvSpPr>
                <a:spLocks noChangeArrowheads="1"/>
              </p:cNvSpPr>
              <p:nvPr/>
            </p:nvSpPr>
            <p:spPr bwMode="auto">
              <a:xfrm>
                <a:off x="876" y="3006"/>
                <a:ext cx="60" cy="588"/>
              </a:xfrm>
              <a:prstGeom prst="rect">
                <a:avLst/>
              </a:prstGeom>
              <a:pattFill prst="dkHorz">
                <a:fgClr>
                  <a:srgbClr val="777777"/>
                </a:fgClr>
                <a:bgClr>
                  <a:schemeClr val="bg1"/>
                </a:bgClr>
              </a:patt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2487" name="AutoShape 50"/>
              <p:cNvSpPr>
                <a:spLocks noChangeArrowheads="1"/>
              </p:cNvSpPr>
              <p:nvPr/>
            </p:nvSpPr>
            <p:spPr bwMode="auto">
              <a:xfrm flipH="1">
                <a:off x="732" y="1686"/>
                <a:ext cx="210" cy="174"/>
              </a:xfrm>
              <a:custGeom>
                <a:avLst/>
                <a:gdLst>
                  <a:gd name="T0" fmla="*/ 147 w 21600"/>
                  <a:gd name="T1" fmla="*/ 0 h 21600"/>
                  <a:gd name="T2" fmla="*/ 147 w 21600"/>
                  <a:gd name="T3" fmla="*/ 98 h 21600"/>
                  <a:gd name="T4" fmla="*/ 31 w 21600"/>
                  <a:gd name="T5" fmla="*/ 174 h 21600"/>
                  <a:gd name="T6" fmla="*/ 210 w 21600"/>
                  <a:gd name="T7" fmla="*/ 49 h 21600"/>
                  <a:gd name="T8" fmla="*/ 17694720 60000 65536"/>
                  <a:gd name="T9" fmla="*/ 5898240 60000 65536"/>
                  <a:gd name="T10" fmla="*/ 5898240 60000 65536"/>
                  <a:gd name="T11" fmla="*/ 0 60000 65536"/>
                  <a:gd name="T12" fmla="*/ 12446 w 21600"/>
                  <a:gd name="T13" fmla="*/ 2855 h 21600"/>
                  <a:gd name="T14" fmla="*/ 18206 w 21600"/>
                  <a:gd name="T15" fmla="*/ 918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FF3300"/>
              </a:solidFill>
              <a:ln w="9525">
                <a:solidFill>
                  <a:schemeClr val="tx1"/>
                </a:solidFill>
                <a:miter lim="800000"/>
                <a:headEnd/>
                <a:tailEnd/>
              </a:ln>
            </p:spPr>
            <p:txBody>
              <a:bodyPr wrap="none" anchor="ctr"/>
              <a:lstStyle/>
              <a:p>
                <a:endParaRPr lang="en-US"/>
              </a:p>
            </p:txBody>
          </p:sp>
        </p:grpSp>
      </p:grpSp>
      <p:sp>
        <p:nvSpPr>
          <p:cNvPr id="62469" name="Text Box 51"/>
          <p:cNvSpPr txBox="1">
            <a:spLocks noChangeArrowheads="1"/>
          </p:cNvSpPr>
          <p:nvPr/>
        </p:nvSpPr>
        <p:spPr bwMode="auto">
          <a:xfrm>
            <a:off x="438150" y="4324350"/>
            <a:ext cx="3333750" cy="1741488"/>
          </a:xfrm>
          <a:prstGeom prst="rect">
            <a:avLst/>
          </a:prstGeom>
          <a:noFill/>
          <a:ln w="9525">
            <a:noFill/>
            <a:miter lim="800000"/>
            <a:headEnd/>
            <a:tailEnd/>
          </a:ln>
        </p:spPr>
        <p:txBody>
          <a:bodyPr>
            <a:spAutoFit/>
          </a:bodyPr>
          <a:lstStyle/>
          <a:p>
            <a:pPr>
              <a:spcBef>
                <a:spcPct val="50000"/>
              </a:spcBef>
            </a:pPr>
            <a:r>
              <a:rPr lang="en-AU" i="0">
                <a:solidFill>
                  <a:schemeClr val="tx1"/>
                </a:solidFill>
              </a:rPr>
              <a:t>Takes water from storage by reducing level or pressure.</a:t>
            </a:r>
          </a:p>
          <a:p>
            <a:pPr>
              <a:spcBef>
                <a:spcPct val="50000"/>
              </a:spcBef>
            </a:pPr>
            <a:r>
              <a:rPr lang="en-AU" i="0">
                <a:solidFill>
                  <a:schemeClr val="tx1"/>
                </a:solidFill>
              </a:rPr>
              <a:t>Changes flow patterns</a:t>
            </a:r>
          </a:p>
          <a:p>
            <a:pPr>
              <a:spcBef>
                <a:spcPct val="50000"/>
              </a:spcBef>
            </a:pPr>
            <a:r>
              <a:rPr lang="en-AU" i="0">
                <a:solidFill>
                  <a:schemeClr val="tx1"/>
                </a:solidFill>
              </a:rPr>
              <a:t>Changes recharge / discharge relationships</a:t>
            </a:r>
            <a:endParaRPr lang="en-US" i="0">
              <a:solidFill>
                <a:schemeClr val="tx1"/>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title"/>
          </p:nvPr>
        </p:nvSpPr>
        <p:spPr>
          <a:xfrm>
            <a:off x="438150" y="806450"/>
            <a:ext cx="6335713" cy="493713"/>
          </a:xfrm>
        </p:spPr>
        <p:txBody>
          <a:bodyPr/>
          <a:lstStyle/>
          <a:p>
            <a:r>
              <a:rPr lang="en-AU" smtClean="0"/>
              <a:t>Environment as a water user</a:t>
            </a:r>
            <a:endParaRPr lang="en-US" smtClean="0"/>
          </a:p>
        </p:txBody>
      </p:sp>
      <p:sp>
        <p:nvSpPr>
          <p:cNvPr id="64514" name="Rectangle 467"/>
          <p:cNvSpPr>
            <a:spLocks noChangeArrowheads="1"/>
          </p:cNvSpPr>
          <p:nvPr/>
        </p:nvSpPr>
        <p:spPr bwMode="auto">
          <a:xfrm>
            <a:off x="438150" y="1884363"/>
            <a:ext cx="6972300" cy="4552950"/>
          </a:xfrm>
          <a:prstGeom prst="rect">
            <a:avLst/>
          </a:prstGeom>
          <a:solidFill>
            <a:schemeClr val="bg1"/>
          </a:solid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4515" name="Line 928"/>
          <p:cNvSpPr>
            <a:spLocks noChangeShapeType="1"/>
          </p:cNvSpPr>
          <p:nvPr/>
        </p:nvSpPr>
        <p:spPr bwMode="auto">
          <a:xfrm flipV="1">
            <a:off x="2568575" y="5046663"/>
            <a:ext cx="287338" cy="503237"/>
          </a:xfrm>
          <a:prstGeom prst="line">
            <a:avLst/>
          </a:prstGeom>
          <a:noFill/>
          <a:ln w="9525">
            <a:solidFill>
              <a:srgbClr val="000000"/>
            </a:solidFill>
            <a:round/>
            <a:headEnd/>
            <a:tailEnd/>
          </a:ln>
        </p:spPr>
        <p:txBody>
          <a:bodyPr/>
          <a:lstStyle/>
          <a:p>
            <a:endParaRPr lang="en-US"/>
          </a:p>
        </p:txBody>
      </p:sp>
      <p:grpSp>
        <p:nvGrpSpPr>
          <p:cNvPr id="64516" name="Group 929"/>
          <p:cNvGrpSpPr>
            <a:grpSpLocks/>
          </p:cNvGrpSpPr>
          <p:nvPr/>
        </p:nvGrpSpPr>
        <p:grpSpPr bwMode="auto">
          <a:xfrm>
            <a:off x="2841625" y="1946275"/>
            <a:ext cx="3405188" cy="1152525"/>
            <a:chOff x="1646" y="933"/>
            <a:chExt cx="2145" cy="726"/>
          </a:xfrm>
        </p:grpSpPr>
        <p:sp>
          <p:nvSpPr>
            <p:cNvPr id="64973" name="Rectangle 930" descr="Dashed upward diagonal"/>
            <p:cNvSpPr>
              <a:spLocks noChangeArrowheads="1"/>
            </p:cNvSpPr>
            <p:nvPr/>
          </p:nvSpPr>
          <p:spPr bwMode="auto">
            <a:xfrm>
              <a:off x="1674" y="1170"/>
              <a:ext cx="2052" cy="489"/>
            </a:xfrm>
            <a:prstGeom prst="rect">
              <a:avLst/>
            </a:prstGeom>
            <a:pattFill prst="dashUpDiag">
              <a:fgClr>
                <a:srgbClr val="DDDDDD"/>
              </a:fgClr>
              <a:bgClr>
                <a:srgbClr val="FFFFFF"/>
              </a:bgClr>
            </a:patt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4974" name="Freeform 931"/>
            <p:cNvSpPr>
              <a:spLocks/>
            </p:cNvSpPr>
            <p:nvPr/>
          </p:nvSpPr>
          <p:spPr bwMode="auto">
            <a:xfrm>
              <a:off x="1646" y="933"/>
              <a:ext cx="2145" cy="380"/>
            </a:xfrm>
            <a:custGeom>
              <a:avLst/>
              <a:gdLst>
                <a:gd name="T0" fmla="*/ 267 w 1575"/>
                <a:gd name="T1" fmla="*/ 351 h 380"/>
                <a:gd name="T2" fmla="*/ 38 w 1575"/>
                <a:gd name="T3" fmla="*/ 303 h 380"/>
                <a:gd name="T4" fmla="*/ 38 w 1575"/>
                <a:gd name="T5" fmla="*/ 159 h 380"/>
                <a:gd name="T6" fmla="*/ 144 w 1575"/>
                <a:gd name="T7" fmla="*/ 81 h 380"/>
                <a:gd name="T8" fmla="*/ 332 w 1575"/>
                <a:gd name="T9" fmla="*/ 75 h 380"/>
                <a:gd name="T10" fmla="*/ 406 w 1575"/>
                <a:gd name="T11" fmla="*/ 45 h 380"/>
                <a:gd name="T12" fmla="*/ 561 w 1575"/>
                <a:gd name="T13" fmla="*/ 3 h 380"/>
                <a:gd name="T14" fmla="*/ 790 w 1575"/>
                <a:gd name="T15" fmla="*/ 63 h 380"/>
                <a:gd name="T16" fmla="*/ 814 w 1575"/>
                <a:gd name="T17" fmla="*/ 99 h 380"/>
                <a:gd name="T18" fmla="*/ 880 w 1575"/>
                <a:gd name="T19" fmla="*/ 39 h 380"/>
                <a:gd name="T20" fmla="*/ 1035 w 1575"/>
                <a:gd name="T21" fmla="*/ 3 h 380"/>
                <a:gd name="T22" fmla="*/ 1198 w 1575"/>
                <a:gd name="T23" fmla="*/ 33 h 380"/>
                <a:gd name="T24" fmla="*/ 1223 w 1575"/>
                <a:gd name="T25" fmla="*/ 99 h 380"/>
                <a:gd name="T26" fmla="*/ 1337 w 1575"/>
                <a:gd name="T27" fmla="*/ 69 h 380"/>
                <a:gd name="T28" fmla="*/ 1476 w 1575"/>
                <a:gd name="T29" fmla="*/ 15 h 380"/>
                <a:gd name="T30" fmla="*/ 1721 w 1575"/>
                <a:gd name="T31" fmla="*/ 21 h 380"/>
                <a:gd name="T32" fmla="*/ 1918 w 1575"/>
                <a:gd name="T33" fmla="*/ 99 h 380"/>
                <a:gd name="T34" fmla="*/ 1820 w 1575"/>
                <a:gd name="T35" fmla="*/ 177 h 380"/>
                <a:gd name="T36" fmla="*/ 1869 w 1575"/>
                <a:gd name="T37" fmla="*/ 201 h 380"/>
                <a:gd name="T38" fmla="*/ 2106 w 1575"/>
                <a:gd name="T39" fmla="*/ 237 h 380"/>
                <a:gd name="T40" fmla="*/ 2106 w 1575"/>
                <a:gd name="T41" fmla="*/ 309 h 380"/>
                <a:gd name="T42" fmla="*/ 2048 w 1575"/>
                <a:gd name="T43" fmla="*/ 369 h 380"/>
                <a:gd name="T44" fmla="*/ 1689 w 1575"/>
                <a:gd name="T45" fmla="*/ 345 h 380"/>
                <a:gd name="T46" fmla="*/ 1542 w 1575"/>
                <a:gd name="T47" fmla="*/ 297 h 380"/>
                <a:gd name="T48" fmla="*/ 1427 w 1575"/>
                <a:gd name="T49" fmla="*/ 327 h 380"/>
                <a:gd name="T50" fmla="*/ 1198 w 1575"/>
                <a:gd name="T51" fmla="*/ 369 h 380"/>
                <a:gd name="T52" fmla="*/ 1076 w 1575"/>
                <a:gd name="T53" fmla="*/ 321 h 380"/>
                <a:gd name="T54" fmla="*/ 855 w 1575"/>
                <a:gd name="T55" fmla="*/ 291 h 380"/>
                <a:gd name="T56" fmla="*/ 757 w 1575"/>
                <a:gd name="T57" fmla="*/ 345 h 380"/>
                <a:gd name="T58" fmla="*/ 545 w 1575"/>
                <a:gd name="T59" fmla="*/ 375 h 380"/>
                <a:gd name="T60" fmla="*/ 439 w 1575"/>
                <a:gd name="T61" fmla="*/ 315 h 380"/>
                <a:gd name="T62" fmla="*/ 267 w 1575"/>
                <a:gd name="T63" fmla="*/ 351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575"/>
                <a:gd name="T97" fmla="*/ 0 h 380"/>
                <a:gd name="T98" fmla="*/ 1575 w 1575"/>
                <a:gd name="T99" fmla="*/ 380 h 3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575" h="380">
                  <a:moveTo>
                    <a:pt x="196" y="351"/>
                  </a:moveTo>
                  <a:cubicBezTo>
                    <a:pt x="147" y="349"/>
                    <a:pt x="56" y="335"/>
                    <a:pt x="28" y="303"/>
                  </a:cubicBezTo>
                  <a:cubicBezTo>
                    <a:pt x="0" y="271"/>
                    <a:pt x="15" y="196"/>
                    <a:pt x="28" y="159"/>
                  </a:cubicBezTo>
                  <a:cubicBezTo>
                    <a:pt x="41" y="122"/>
                    <a:pt x="70" y="95"/>
                    <a:pt x="106" y="81"/>
                  </a:cubicBezTo>
                  <a:cubicBezTo>
                    <a:pt x="142" y="67"/>
                    <a:pt x="212" y="81"/>
                    <a:pt x="244" y="75"/>
                  </a:cubicBezTo>
                  <a:cubicBezTo>
                    <a:pt x="276" y="69"/>
                    <a:pt x="270" y="57"/>
                    <a:pt x="298" y="45"/>
                  </a:cubicBezTo>
                  <a:cubicBezTo>
                    <a:pt x="326" y="33"/>
                    <a:pt x="365" y="0"/>
                    <a:pt x="412" y="3"/>
                  </a:cubicBezTo>
                  <a:cubicBezTo>
                    <a:pt x="459" y="6"/>
                    <a:pt x="549" y="47"/>
                    <a:pt x="580" y="63"/>
                  </a:cubicBezTo>
                  <a:cubicBezTo>
                    <a:pt x="611" y="79"/>
                    <a:pt x="587" y="103"/>
                    <a:pt x="598" y="99"/>
                  </a:cubicBezTo>
                  <a:cubicBezTo>
                    <a:pt x="609" y="95"/>
                    <a:pt x="619" y="55"/>
                    <a:pt x="646" y="39"/>
                  </a:cubicBezTo>
                  <a:cubicBezTo>
                    <a:pt x="673" y="23"/>
                    <a:pt x="721" y="4"/>
                    <a:pt x="760" y="3"/>
                  </a:cubicBezTo>
                  <a:cubicBezTo>
                    <a:pt x="799" y="2"/>
                    <a:pt x="857" y="17"/>
                    <a:pt x="880" y="33"/>
                  </a:cubicBezTo>
                  <a:cubicBezTo>
                    <a:pt x="903" y="49"/>
                    <a:pt x="881" y="93"/>
                    <a:pt x="898" y="99"/>
                  </a:cubicBezTo>
                  <a:cubicBezTo>
                    <a:pt x="915" y="105"/>
                    <a:pt x="951" y="83"/>
                    <a:pt x="982" y="69"/>
                  </a:cubicBezTo>
                  <a:cubicBezTo>
                    <a:pt x="1013" y="55"/>
                    <a:pt x="1037" y="23"/>
                    <a:pt x="1084" y="15"/>
                  </a:cubicBezTo>
                  <a:cubicBezTo>
                    <a:pt x="1131" y="7"/>
                    <a:pt x="1210" y="7"/>
                    <a:pt x="1264" y="21"/>
                  </a:cubicBezTo>
                  <a:cubicBezTo>
                    <a:pt x="1318" y="35"/>
                    <a:pt x="1396" y="73"/>
                    <a:pt x="1408" y="99"/>
                  </a:cubicBezTo>
                  <a:cubicBezTo>
                    <a:pt x="1420" y="125"/>
                    <a:pt x="1342" y="160"/>
                    <a:pt x="1336" y="177"/>
                  </a:cubicBezTo>
                  <a:cubicBezTo>
                    <a:pt x="1330" y="194"/>
                    <a:pt x="1337" y="191"/>
                    <a:pt x="1372" y="201"/>
                  </a:cubicBezTo>
                  <a:cubicBezTo>
                    <a:pt x="1407" y="211"/>
                    <a:pt x="1517" y="219"/>
                    <a:pt x="1546" y="237"/>
                  </a:cubicBezTo>
                  <a:cubicBezTo>
                    <a:pt x="1575" y="255"/>
                    <a:pt x="1553" y="287"/>
                    <a:pt x="1546" y="309"/>
                  </a:cubicBezTo>
                  <a:cubicBezTo>
                    <a:pt x="1539" y="331"/>
                    <a:pt x="1555" y="363"/>
                    <a:pt x="1504" y="369"/>
                  </a:cubicBezTo>
                  <a:cubicBezTo>
                    <a:pt x="1453" y="375"/>
                    <a:pt x="1302" y="357"/>
                    <a:pt x="1240" y="345"/>
                  </a:cubicBezTo>
                  <a:cubicBezTo>
                    <a:pt x="1178" y="333"/>
                    <a:pt x="1164" y="300"/>
                    <a:pt x="1132" y="297"/>
                  </a:cubicBezTo>
                  <a:cubicBezTo>
                    <a:pt x="1100" y="294"/>
                    <a:pt x="1090" y="315"/>
                    <a:pt x="1048" y="327"/>
                  </a:cubicBezTo>
                  <a:cubicBezTo>
                    <a:pt x="1006" y="339"/>
                    <a:pt x="923" y="370"/>
                    <a:pt x="880" y="369"/>
                  </a:cubicBezTo>
                  <a:cubicBezTo>
                    <a:pt x="837" y="368"/>
                    <a:pt x="832" y="334"/>
                    <a:pt x="790" y="321"/>
                  </a:cubicBezTo>
                  <a:cubicBezTo>
                    <a:pt x="748" y="308"/>
                    <a:pt x="667" y="287"/>
                    <a:pt x="628" y="291"/>
                  </a:cubicBezTo>
                  <a:cubicBezTo>
                    <a:pt x="589" y="295"/>
                    <a:pt x="594" y="331"/>
                    <a:pt x="556" y="345"/>
                  </a:cubicBezTo>
                  <a:cubicBezTo>
                    <a:pt x="518" y="359"/>
                    <a:pt x="439" y="380"/>
                    <a:pt x="400" y="375"/>
                  </a:cubicBezTo>
                  <a:cubicBezTo>
                    <a:pt x="361" y="370"/>
                    <a:pt x="359" y="322"/>
                    <a:pt x="322" y="315"/>
                  </a:cubicBezTo>
                  <a:cubicBezTo>
                    <a:pt x="285" y="308"/>
                    <a:pt x="245" y="353"/>
                    <a:pt x="196" y="351"/>
                  </a:cubicBezTo>
                  <a:close/>
                </a:path>
              </a:pathLst>
            </a:custGeom>
            <a:solidFill>
              <a:srgbClr val="C0C0C0"/>
            </a:solidFill>
            <a:ln w="9525">
              <a:noFill/>
              <a:round/>
              <a:headEnd/>
              <a:tailEnd/>
            </a:ln>
          </p:spPr>
          <p:txBody>
            <a:bodyPr/>
            <a:lstStyle/>
            <a:p>
              <a:endParaRPr lang="en-US"/>
            </a:p>
          </p:txBody>
        </p:sp>
      </p:grpSp>
      <p:grpSp>
        <p:nvGrpSpPr>
          <p:cNvPr id="64517" name="Group 932"/>
          <p:cNvGrpSpPr>
            <a:grpSpLocks/>
          </p:cNvGrpSpPr>
          <p:nvPr/>
        </p:nvGrpSpPr>
        <p:grpSpPr bwMode="auto">
          <a:xfrm>
            <a:off x="1177925" y="5853113"/>
            <a:ext cx="914400" cy="395287"/>
            <a:chOff x="3612" y="3348"/>
            <a:chExt cx="495" cy="249"/>
          </a:xfrm>
        </p:grpSpPr>
        <p:sp>
          <p:nvSpPr>
            <p:cNvPr id="64971" name="AutoShape 933"/>
            <p:cNvSpPr>
              <a:spLocks noChangeArrowheads="1"/>
            </p:cNvSpPr>
            <p:nvPr/>
          </p:nvSpPr>
          <p:spPr bwMode="auto">
            <a:xfrm>
              <a:off x="3612" y="3348"/>
              <a:ext cx="495" cy="249"/>
            </a:xfrm>
            <a:prstGeom prst="leftArrow">
              <a:avLst>
                <a:gd name="adj1" fmla="val 50000"/>
                <a:gd name="adj2" fmla="val 49699"/>
              </a:avLst>
            </a:prstGeom>
            <a:solidFill>
              <a:srgbClr val="99CCFF"/>
            </a:solid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4972" name="Text Box 934"/>
            <p:cNvSpPr txBox="1">
              <a:spLocks noChangeArrowheads="1"/>
            </p:cNvSpPr>
            <p:nvPr/>
          </p:nvSpPr>
          <p:spPr bwMode="auto">
            <a:xfrm>
              <a:off x="3624" y="3372"/>
              <a:ext cx="462" cy="192"/>
            </a:xfrm>
            <a:prstGeom prst="rect">
              <a:avLst/>
            </a:prstGeom>
            <a:noFill/>
            <a:ln w="9525">
              <a:noFill/>
              <a:miter lim="800000"/>
              <a:headEnd/>
              <a:tailEnd/>
            </a:ln>
          </p:spPr>
          <p:txBody>
            <a:bodyPr>
              <a:spAutoFit/>
            </a:bodyPr>
            <a:lstStyle/>
            <a:p>
              <a:pPr>
                <a:spcBef>
                  <a:spcPct val="50000"/>
                </a:spcBef>
              </a:pPr>
              <a:r>
                <a:rPr lang="en-AU" sz="1400" i="0">
                  <a:solidFill>
                    <a:srgbClr val="000000"/>
                  </a:solidFill>
                </a:rPr>
                <a:t>Out-flow</a:t>
              </a:r>
              <a:endParaRPr lang="en-US" sz="1400" i="0">
                <a:solidFill>
                  <a:srgbClr val="000000"/>
                </a:solidFill>
              </a:endParaRPr>
            </a:p>
          </p:txBody>
        </p:sp>
      </p:grpSp>
      <p:grpSp>
        <p:nvGrpSpPr>
          <p:cNvPr id="106407" name="Group 935"/>
          <p:cNvGrpSpPr>
            <a:grpSpLocks/>
          </p:cNvGrpSpPr>
          <p:nvPr/>
        </p:nvGrpSpPr>
        <p:grpSpPr bwMode="auto">
          <a:xfrm>
            <a:off x="3792538" y="2093913"/>
            <a:ext cx="2217737" cy="2886075"/>
            <a:chOff x="2245" y="1026"/>
            <a:chExt cx="1397" cy="1818"/>
          </a:xfrm>
        </p:grpSpPr>
        <p:sp>
          <p:nvSpPr>
            <p:cNvPr id="64914" name="Text Box 936"/>
            <p:cNvSpPr txBox="1">
              <a:spLocks noChangeArrowheads="1"/>
            </p:cNvSpPr>
            <p:nvPr/>
          </p:nvSpPr>
          <p:spPr bwMode="auto">
            <a:xfrm>
              <a:off x="2826" y="1026"/>
              <a:ext cx="816" cy="594"/>
            </a:xfrm>
            <a:prstGeom prst="rect">
              <a:avLst/>
            </a:prstGeom>
            <a:noFill/>
            <a:ln w="9525">
              <a:noFill/>
              <a:miter lim="800000"/>
              <a:headEnd/>
              <a:tailEnd/>
            </a:ln>
          </p:spPr>
          <p:txBody>
            <a:bodyPr>
              <a:spAutoFit/>
            </a:bodyPr>
            <a:lstStyle/>
            <a:p>
              <a:pPr>
                <a:buFontTx/>
                <a:buChar char="•"/>
              </a:pPr>
              <a:r>
                <a:rPr lang="en-AU" sz="1400" i="0">
                  <a:solidFill>
                    <a:srgbClr val="000000"/>
                  </a:solidFill>
                </a:rPr>
                <a:t> waterways</a:t>
              </a:r>
            </a:p>
            <a:p>
              <a:pPr>
                <a:buFontTx/>
                <a:buChar char="•"/>
              </a:pPr>
              <a:r>
                <a:rPr lang="en-AU" sz="1400" i="0">
                  <a:solidFill>
                    <a:srgbClr val="000000"/>
                  </a:solidFill>
                </a:rPr>
                <a:t> flooding</a:t>
              </a:r>
            </a:p>
            <a:p>
              <a:pPr>
                <a:buFontTx/>
                <a:buChar char="•"/>
              </a:pPr>
              <a:r>
                <a:rPr lang="en-AU" sz="1400" i="0">
                  <a:solidFill>
                    <a:srgbClr val="0000FF"/>
                  </a:solidFill>
                </a:rPr>
                <a:t> water supply</a:t>
              </a:r>
            </a:p>
            <a:p>
              <a:pPr>
                <a:buFontTx/>
                <a:buChar char="•"/>
              </a:pPr>
              <a:r>
                <a:rPr lang="en-AU" sz="1400" i="0">
                  <a:solidFill>
                    <a:srgbClr val="0000FF"/>
                  </a:solidFill>
                </a:rPr>
                <a:t> irrigation</a:t>
              </a:r>
              <a:endParaRPr lang="en-US" sz="1400" i="0">
                <a:solidFill>
                  <a:srgbClr val="0000FF"/>
                </a:solidFill>
              </a:endParaRPr>
            </a:p>
          </p:txBody>
        </p:sp>
        <p:grpSp>
          <p:nvGrpSpPr>
            <p:cNvPr id="64915" name="Group 937"/>
            <p:cNvGrpSpPr>
              <a:grpSpLocks/>
            </p:cNvGrpSpPr>
            <p:nvPr/>
          </p:nvGrpSpPr>
          <p:grpSpPr bwMode="auto">
            <a:xfrm>
              <a:off x="2245" y="1661"/>
              <a:ext cx="726" cy="817"/>
              <a:chOff x="2245" y="1661"/>
              <a:chExt cx="726" cy="817"/>
            </a:xfrm>
          </p:grpSpPr>
          <p:sp>
            <p:nvSpPr>
              <p:cNvPr id="64964" name="Rectangle 938"/>
              <p:cNvSpPr>
                <a:spLocks noChangeArrowheads="1"/>
              </p:cNvSpPr>
              <p:nvPr/>
            </p:nvSpPr>
            <p:spPr bwMode="auto">
              <a:xfrm>
                <a:off x="2245" y="1988"/>
                <a:ext cx="545" cy="490"/>
              </a:xfrm>
              <a:prstGeom prst="rect">
                <a:avLst/>
              </a:prstGeom>
              <a:no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4965" name="Line 939"/>
              <p:cNvSpPr>
                <a:spLocks noChangeShapeType="1"/>
              </p:cNvSpPr>
              <p:nvPr/>
            </p:nvSpPr>
            <p:spPr bwMode="auto">
              <a:xfrm flipV="1">
                <a:off x="2790" y="2151"/>
                <a:ext cx="181" cy="327"/>
              </a:xfrm>
              <a:prstGeom prst="line">
                <a:avLst/>
              </a:prstGeom>
              <a:noFill/>
              <a:ln w="9525">
                <a:solidFill>
                  <a:srgbClr val="000000"/>
                </a:solidFill>
                <a:round/>
                <a:headEnd/>
                <a:tailEnd/>
              </a:ln>
            </p:spPr>
            <p:txBody>
              <a:bodyPr/>
              <a:lstStyle/>
              <a:p>
                <a:endParaRPr lang="en-US"/>
              </a:p>
            </p:txBody>
          </p:sp>
          <p:sp>
            <p:nvSpPr>
              <p:cNvPr id="64966" name="Freeform 940"/>
              <p:cNvSpPr>
                <a:spLocks/>
              </p:cNvSpPr>
              <p:nvPr/>
            </p:nvSpPr>
            <p:spPr bwMode="auto">
              <a:xfrm>
                <a:off x="2517" y="1661"/>
                <a:ext cx="454" cy="454"/>
              </a:xfrm>
              <a:custGeom>
                <a:avLst/>
                <a:gdLst>
                  <a:gd name="T0" fmla="*/ 0 w 454"/>
                  <a:gd name="T1" fmla="*/ 318 h 454"/>
                  <a:gd name="T2" fmla="*/ 182 w 454"/>
                  <a:gd name="T3" fmla="*/ 0 h 454"/>
                  <a:gd name="T4" fmla="*/ 284 w 454"/>
                  <a:gd name="T5" fmla="*/ 139 h 454"/>
                  <a:gd name="T6" fmla="*/ 454 w 454"/>
                  <a:gd name="T7" fmla="*/ 136 h 454"/>
                  <a:gd name="T8" fmla="*/ 272 w 454"/>
                  <a:gd name="T9" fmla="*/ 454 h 454"/>
                  <a:gd name="T10" fmla="*/ 136 w 454"/>
                  <a:gd name="T11" fmla="*/ 454 h 454"/>
                  <a:gd name="T12" fmla="*/ 0 w 454"/>
                  <a:gd name="T13" fmla="*/ 318 h 454"/>
                  <a:gd name="T14" fmla="*/ 0 60000 65536"/>
                  <a:gd name="T15" fmla="*/ 0 60000 65536"/>
                  <a:gd name="T16" fmla="*/ 0 60000 65536"/>
                  <a:gd name="T17" fmla="*/ 0 60000 65536"/>
                  <a:gd name="T18" fmla="*/ 0 60000 65536"/>
                  <a:gd name="T19" fmla="*/ 0 60000 65536"/>
                  <a:gd name="T20" fmla="*/ 0 60000 65536"/>
                  <a:gd name="T21" fmla="*/ 0 w 454"/>
                  <a:gd name="T22" fmla="*/ 0 h 454"/>
                  <a:gd name="T23" fmla="*/ 454 w 454"/>
                  <a:gd name="T24" fmla="*/ 454 h 4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4" h="454">
                    <a:moveTo>
                      <a:pt x="0" y="318"/>
                    </a:moveTo>
                    <a:lnTo>
                      <a:pt x="182" y="0"/>
                    </a:lnTo>
                    <a:lnTo>
                      <a:pt x="284" y="139"/>
                    </a:lnTo>
                    <a:lnTo>
                      <a:pt x="454" y="136"/>
                    </a:lnTo>
                    <a:lnTo>
                      <a:pt x="272" y="454"/>
                    </a:lnTo>
                    <a:lnTo>
                      <a:pt x="136" y="454"/>
                    </a:lnTo>
                    <a:lnTo>
                      <a:pt x="0" y="318"/>
                    </a:lnTo>
                    <a:close/>
                  </a:path>
                </a:pathLst>
              </a:custGeom>
              <a:solidFill>
                <a:srgbClr val="FFFFFF"/>
              </a:solidFill>
              <a:ln w="9525">
                <a:solidFill>
                  <a:srgbClr val="000000"/>
                </a:solidFill>
                <a:round/>
                <a:headEnd/>
                <a:tailEnd/>
              </a:ln>
            </p:spPr>
            <p:txBody>
              <a:bodyPr/>
              <a:lstStyle/>
              <a:p>
                <a:endParaRPr lang="en-US"/>
              </a:p>
            </p:txBody>
          </p:sp>
          <p:sp>
            <p:nvSpPr>
              <p:cNvPr id="64967" name="Freeform 941"/>
              <p:cNvSpPr>
                <a:spLocks/>
              </p:cNvSpPr>
              <p:nvPr/>
            </p:nvSpPr>
            <p:spPr bwMode="auto">
              <a:xfrm>
                <a:off x="2246" y="1661"/>
                <a:ext cx="453" cy="326"/>
              </a:xfrm>
              <a:custGeom>
                <a:avLst/>
                <a:gdLst>
                  <a:gd name="T0" fmla="*/ 0 w 453"/>
                  <a:gd name="T1" fmla="*/ 326 h 326"/>
                  <a:gd name="T2" fmla="*/ 260 w 453"/>
                  <a:gd name="T3" fmla="*/ 326 h 326"/>
                  <a:gd name="T4" fmla="*/ 453 w 453"/>
                  <a:gd name="T5" fmla="*/ 0 h 326"/>
                  <a:gd name="T6" fmla="*/ 180 w 453"/>
                  <a:gd name="T7" fmla="*/ 0 h 326"/>
                  <a:gd name="T8" fmla="*/ 0 w 453"/>
                  <a:gd name="T9" fmla="*/ 326 h 326"/>
                  <a:gd name="T10" fmla="*/ 0 60000 65536"/>
                  <a:gd name="T11" fmla="*/ 0 60000 65536"/>
                  <a:gd name="T12" fmla="*/ 0 60000 65536"/>
                  <a:gd name="T13" fmla="*/ 0 60000 65536"/>
                  <a:gd name="T14" fmla="*/ 0 60000 65536"/>
                  <a:gd name="T15" fmla="*/ 0 w 453"/>
                  <a:gd name="T16" fmla="*/ 0 h 326"/>
                  <a:gd name="T17" fmla="*/ 453 w 453"/>
                  <a:gd name="T18" fmla="*/ 326 h 326"/>
                </a:gdLst>
                <a:ahLst/>
                <a:cxnLst>
                  <a:cxn ang="T10">
                    <a:pos x="T0" y="T1"/>
                  </a:cxn>
                  <a:cxn ang="T11">
                    <a:pos x="T2" y="T3"/>
                  </a:cxn>
                  <a:cxn ang="T12">
                    <a:pos x="T4" y="T5"/>
                  </a:cxn>
                  <a:cxn ang="T13">
                    <a:pos x="T6" y="T7"/>
                  </a:cxn>
                  <a:cxn ang="T14">
                    <a:pos x="T8" y="T9"/>
                  </a:cxn>
                </a:cxnLst>
                <a:rect l="T15" t="T16" r="T17" b="T18"/>
                <a:pathLst>
                  <a:path w="453" h="326">
                    <a:moveTo>
                      <a:pt x="0" y="326"/>
                    </a:moveTo>
                    <a:lnTo>
                      <a:pt x="260" y="326"/>
                    </a:lnTo>
                    <a:lnTo>
                      <a:pt x="453" y="0"/>
                    </a:lnTo>
                    <a:lnTo>
                      <a:pt x="180" y="0"/>
                    </a:lnTo>
                    <a:lnTo>
                      <a:pt x="0" y="326"/>
                    </a:lnTo>
                    <a:close/>
                  </a:path>
                </a:pathLst>
              </a:custGeom>
              <a:solidFill>
                <a:srgbClr val="FFFFFF"/>
              </a:solidFill>
              <a:ln w="9525">
                <a:solidFill>
                  <a:srgbClr val="000000"/>
                </a:solidFill>
                <a:round/>
                <a:headEnd/>
                <a:tailEnd/>
              </a:ln>
            </p:spPr>
            <p:txBody>
              <a:bodyPr/>
              <a:lstStyle/>
              <a:p>
                <a:endParaRPr lang="en-US"/>
              </a:p>
            </p:txBody>
          </p:sp>
          <p:sp>
            <p:nvSpPr>
              <p:cNvPr id="64968" name="Freeform 942"/>
              <p:cNvSpPr>
                <a:spLocks/>
              </p:cNvSpPr>
              <p:nvPr/>
            </p:nvSpPr>
            <p:spPr bwMode="auto">
              <a:xfrm>
                <a:off x="2789" y="1797"/>
                <a:ext cx="182" cy="681"/>
              </a:xfrm>
              <a:custGeom>
                <a:avLst/>
                <a:gdLst>
                  <a:gd name="T0" fmla="*/ 0 w 182"/>
                  <a:gd name="T1" fmla="*/ 681 h 681"/>
                  <a:gd name="T2" fmla="*/ 0 w 182"/>
                  <a:gd name="T3" fmla="*/ 318 h 681"/>
                  <a:gd name="T4" fmla="*/ 182 w 182"/>
                  <a:gd name="T5" fmla="*/ 0 h 681"/>
                  <a:gd name="T6" fmla="*/ 182 w 182"/>
                  <a:gd name="T7" fmla="*/ 363 h 681"/>
                  <a:gd name="T8" fmla="*/ 0 w 182"/>
                  <a:gd name="T9" fmla="*/ 681 h 681"/>
                  <a:gd name="T10" fmla="*/ 0 60000 65536"/>
                  <a:gd name="T11" fmla="*/ 0 60000 65536"/>
                  <a:gd name="T12" fmla="*/ 0 60000 65536"/>
                  <a:gd name="T13" fmla="*/ 0 60000 65536"/>
                  <a:gd name="T14" fmla="*/ 0 60000 65536"/>
                  <a:gd name="T15" fmla="*/ 0 w 182"/>
                  <a:gd name="T16" fmla="*/ 0 h 681"/>
                  <a:gd name="T17" fmla="*/ 182 w 182"/>
                  <a:gd name="T18" fmla="*/ 681 h 681"/>
                </a:gdLst>
                <a:ahLst/>
                <a:cxnLst>
                  <a:cxn ang="T10">
                    <a:pos x="T0" y="T1"/>
                  </a:cxn>
                  <a:cxn ang="T11">
                    <a:pos x="T2" y="T3"/>
                  </a:cxn>
                  <a:cxn ang="T12">
                    <a:pos x="T4" y="T5"/>
                  </a:cxn>
                  <a:cxn ang="T13">
                    <a:pos x="T6" y="T7"/>
                  </a:cxn>
                  <a:cxn ang="T14">
                    <a:pos x="T8" y="T9"/>
                  </a:cxn>
                </a:cxnLst>
                <a:rect l="T15" t="T16" r="T17" b="T18"/>
                <a:pathLst>
                  <a:path w="182" h="681">
                    <a:moveTo>
                      <a:pt x="0" y="681"/>
                    </a:moveTo>
                    <a:lnTo>
                      <a:pt x="0" y="318"/>
                    </a:lnTo>
                    <a:lnTo>
                      <a:pt x="182" y="0"/>
                    </a:lnTo>
                    <a:lnTo>
                      <a:pt x="182" y="363"/>
                    </a:lnTo>
                    <a:lnTo>
                      <a:pt x="0" y="681"/>
                    </a:lnTo>
                    <a:close/>
                  </a:path>
                </a:pathLst>
              </a:custGeom>
              <a:solidFill>
                <a:srgbClr val="FFFFFF"/>
              </a:solidFill>
              <a:ln w="9525">
                <a:solidFill>
                  <a:srgbClr val="000000"/>
                </a:solidFill>
                <a:round/>
                <a:headEnd/>
                <a:tailEnd/>
              </a:ln>
            </p:spPr>
            <p:txBody>
              <a:bodyPr/>
              <a:lstStyle/>
              <a:p>
                <a:endParaRPr lang="en-US"/>
              </a:p>
            </p:txBody>
          </p:sp>
          <p:sp>
            <p:nvSpPr>
              <p:cNvPr id="64969" name="Freeform 943"/>
              <p:cNvSpPr>
                <a:spLocks/>
              </p:cNvSpPr>
              <p:nvPr/>
            </p:nvSpPr>
            <p:spPr bwMode="auto">
              <a:xfrm>
                <a:off x="2517" y="1661"/>
                <a:ext cx="454" cy="454"/>
              </a:xfrm>
              <a:custGeom>
                <a:avLst/>
                <a:gdLst>
                  <a:gd name="T0" fmla="*/ 0 w 454"/>
                  <a:gd name="T1" fmla="*/ 318 h 454"/>
                  <a:gd name="T2" fmla="*/ 182 w 454"/>
                  <a:gd name="T3" fmla="*/ 0 h 454"/>
                  <a:gd name="T4" fmla="*/ 454 w 454"/>
                  <a:gd name="T5" fmla="*/ 0 h 454"/>
                  <a:gd name="T6" fmla="*/ 454 w 454"/>
                  <a:gd name="T7" fmla="*/ 136 h 454"/>
                  <a:gd name="T8" fmla="*/ 272 w 454"/>
                  <a:gd name="T9" fmla="*/ 454 h 454"/>
                  <a:gd name="T10" fmla="*/ 272 w 454"/>
                  <a:gd name="T11" fmla="*/ 318 h 454"/>
                  <a:gd name="T12" fmla="*/ 0 w 454"/>
                  <a:gd name="T13" fmla="*/ 318 h 454"/>
                  <a:gd name="T14" fmla="*/ 0 60000 65536"/>
                  <a:gd name="T15" fmla="*/ 0 60000 65536"/>
                  <a:gd name="T16" fmla="*/ 0 60000 65536"/>
                  <a:gd name="T17" fmla="*/ 0 60000 65536"/>
                  <a:gd name="T18" fmla="*/ 0 60000 65536"/>
                  <a:gd name="T19" fmla="*/ 0 60000 65536"/>
                  <a:gd name="T20" fmla="*/ 0 60000 65536"/>
                  <a:gd name="T21" fmla="*/ 0 w 454"/>
                  <a:gd name="T22" fmla="*/ 0 h 454"/>
                  <a:gd name="T23" fmla="*/ 454 w 454"/>
                  <a:gd name="T24" fmla="*/ 454 h 4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4" h="454">
                    <a:moveTo>
                      <a:pt x="0" y="318"/>
                    </a:moveTo>
                    <a:lnTo>
                      <a:pt x="182" y="0"/>
                    </a:lnTo>
                    <a:lnTo>
                      <a:pt x="454" y="0"/>
                    </a:lnTo>
                    <a:lnTo>
                      <a:pt x="454" y="136"/>
                    </a:lnTo>
                    <a:lnTo>
                      <a:pt x="272" y="454"/>
                    </a:lnTo>
                    <a:lnTo>
                      <a:pt x="272" y="318"/>
                    </a:lnTo>
                    <a:lnTo>
                      <a:pt x="0" y="318"/>
                    </a:lnTo>
                    <a:close/>
                  </a:path>
                </a:pathLst>
              </a:custGeom>
              <a:solidFill>
                <a:srgbClr val="99CCFF">
                  <a:alpha val="32941"/>
                </a:srgbClr>
              </a:solidFill>
              <a:ln w="9525">
                <a:noFill/>
                <a:round/>
                <a:headEnd/>
                <a:tailEnd/>
              </a:ln>
            </p:spPr>
            <p:txBody>
              <a:bodyPr/>
              <a:lstStyle/>
              <a:p>
                <a:endParaRPr lang="en-US"/>
              </a:p>
            </p:txBody>
          </p:sp>
          <p:sp>
            <p:nvSpPr>
              <p:cNvPr id="64970" name="Freeform 944"/>
              <p:cNvSpPr>
                <a:spLocks/>
              </p:cNvSpPr>
              <p:nvPr/>
            </p:nvSpPr>
            <p:spPr bwMode="auto">
              <a:xfrm>
                <a:off x="2517" y="1979"/>
                <a:ext cx="272" cy="136"/>
              </a:xfrm>
              <a:custGeom>
                <a:avLst/>
                <a:gdLst>
                  <a:gd name="T0" fmla="*/ 0 w 272"/>
                  <a:gd name="T1" fmla="*/ 0 h 136"/>
                  <a:gd name="T2" fmla="*/ 136 w 272"/>
                  <a:gd name="T3" fmla="*/ 136 h 136"/>
                  <a:gd name="T4" fmla="*/ 272 w 272"/>
                  <a:gd name="T5" fmla="*/ 136 h 136"/>
                  <a:gd name="T6" fmla="*/ 272 w 272"/>
                  <a:gd name="T7" fmla="*/ 0 h 136"/>
                  <a:gd name="T8" fmla="*/ 0 w 272"/>
                  <a:gd name="T9" fmla="*/ 0 h 136"/>
                  <a:gd name="T10" fmla="*/ 0 60000 65536"/>
                  <a:gd name="T11" fmla="*/ 0 60000 65536"/>
                  <a:gd name="T12" fmla="*/ 0 60000 65536"/>
                  <a:gd name="T13" fmla="*/ 0 60000 65536"/>
                  <a:gd name="T14" fmla="*/ 0 60000 65536"/>
                  <a:gd name="T15" fmla="*/ 0 w 272"/>
                  <a:gd name="T16" fmla="*/ 0 h 136"/>
                  <a:gd name="T17" fmla="*/ 272 w 272"/>
                  <a:gd name="T18" fmla="*/ 136 h 136"/>
                </a:gdLst>
                <a:ahLst/>
                <a:cxnLst>
                  <a:cxn ang="T10">
                    <a:pos x="T0" y="T1"/>
                  </a:cxn>
                  <a:cxn ang="T11">
                    <a:pos x="T2" y="T3"/>
                  </a:cxn>
                  <a:cxn ang="T12">
                    <a:pos x="T4" y="T5"/>
                  </a:cxn>
                  <a:cxn ang="T13">
                    <a:pos x="T6" y="T7"/>
                  </a:cxn>
                  <a:cxn ang="T14">
                    <a:pos x="T8" y="T9"/>
                  </a:cxn>
                </a:cxnLst>
                <a:rect l="T15" t="T16" r="T17" b="T18"/>
                <a:pathLst>
                  <a:path w="272" h="136">
                    <a:moveTo>
                      <a:pt x="0" y="0"/>
                    </a:moveTo>
                    <a:lnTo>
                      <a:pt x="136" y="136"/>
                    </a:lnTo>
                    <a:lnTo>
                      <a:pt x="272" y="136"/>
                    </a:lnTo>
                    <a:lnTo>
                      <a:pt x="272" y="0"/>
                    </a:lnTo>
                    <a:lnTo>
                      <a:pt x="0" y="0"/>
                    </a:lnTo>
                    <a:close/>
                  </a:path>
                </a:pathLst>
              </a:custGeom>
              <a:solidFill>
                <a:srgbClr val="99CCFF">
                  <a:alpha val="32941"/>
                </a:srgbClr>
              </a:solidFill>
              <a:ln w="9525">
                <a:noFill/>
                <a:round/>
                <a:headEnd/>
                <a:tailEnd/>
              </a:ln>
            </p:spPr>
            <p:txBody>
              <a:bodyPr/>
              <a:lstStyle/>
              <a:p>
                <a:endParaRPr lang="en-US"/>
              </a:p>
            </p:txBody>
          </p:sp>
        </p:grpSp>
        <p:grpSp>
          <p:nvGrpSpPr>
            <p:cNvPr id="64916" name="Group 945"/>
            <p:cNvGrpSpPr>
              <a:grpSpLocks/>
            </p:cNvGrpSpPr>
            <p:nvPr/>
          </p:nvGrpSpPr>
          <p:grpSpPr bwMode="auto">
            <a:xfrm>
              <a:off x="2426" y="1623"/>
              <a:ext cx="70" cy="87"/>
              <a:chOff x="1164" y="1150"/>
              <a:chExt cx="244" cy="414"/>
            </a:xfrm>
          </p:grpSpPr>
          <p:sp>
            <p:nvSpPr>
              <p:cNvPr id="64959" name="Freeform 946"/>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960" name="Freeform 947"/>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961" name="Freeform 948"/>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962" name="Freeform 949"/>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963" name="Freeform 950"/>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917" name="Group 951"/>
            <p:cNvGrpSpPr>
              <a:grpSpLocks/>
            </p:cNvGrpSpPr>
            <p:nvPr/>
          </p:nvGrpSpPr>
          <p:grpSpPr bwMode="auto">
            <a:xfrm>
              <a:off x="2466" y="1831"/>
              <a:ext cx="70" cy="87"/>
              <a:chOff x="1164" y="1150"/>
              <a:chExt cx="244" cy="414"/>
            </a:xfrm>
          </p:grpSpPr>
          <p:sp>
            <p:nvSpPr>
              <p:cNvPr id="64954" name="Freeform 952"/>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955" name="Freeform 953"/>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956" name="Freeform 954"/>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957" name="Freeform 955"/>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958" name="Freeform 956"/>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918" name="Group 957"/>
            <p:cNvGrpSpPr>
              <a:grpSpLocks/>
            </p:cNvGrpSpPr>
            <p:nvPr/>
          </p:nvGrpSpPr>
          <p:grpSpPr bwMode="auto">
            <a:xfrm>
              <a:off x="2449" y="1679"/>
              <a:ext cx="97" cy="129"/>
              <a:chOff x="1164" y="1150"/>
              <a:chExt cx="244" cy="414"/>
            </a:xfrm>
          </p:grpSpPr>
          <p:sp>
            <p:nvSpPr>
              <p:cNvPr id="64949" name="Freeform 958"/>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950" name="Freeform 959"/>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951" name="Freeform 960"/>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952" name="Freeform 961"/>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953" name="Freeform 962"/>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919" name="Group 963"/>
            <p:cNvGrpSpPr>
              <a:grpSpLocks/>
            </p:cNvGrpSpPr>
            <p:nvPr/>
          </p:nvGrpSpPr>
          <p:grpSpPr bwMode="auto">
            <a:xfrm>
              <a:off x="2561" y="1611"/>
              <a:ext cx="82" cy="147"/>
              <a:chOff x="1164" y="1150"/>
              <a:chExt cx="244" cy="414"/>
            </a:xfrm>
          </p:grpSpPr>
          <p:sp>
            <p:nvSpPr>
              <p:cNvPr id="64944" name="Freeform 964"/>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945" name="Freeform 965"/>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946" name="Freeform 966"/>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947" name="Freeform 967"/>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948" name="Freeform 968"/>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920" name="Group 969"/>
            <p:cNvGrpSpPr>
              <a:grpSpLocks/>
            </p:cNvGrpSpPr>
            <p:nvPr/>
          </p:nvGrpSpPr>
          <p:grpSpPr bwMode="auto">
            <a:xfrm>
              <a:off x="2349" y="1654"/>
              <a:ext cx="121" cy="192"/>
              <a:chOff x="1164" y="1150"/>
              <a:chExt cx="244" cy="414"/>
            </a:xfrm>
          </p:grpSpPr>
          <p:sp>
            <p:nvSpPr>
              <p:cNvPr id="64939" name="Freeform 970"/>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940" name="Freeform 971"/>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941" name="Freeform 972"/>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942" name="Freeform 973"/>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943" name="Freeform 974"/>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921" name="Group 975"/>
            <p:cNvGrpSpPr>
              <a:grpSpLocks/>
            </p:cNvGrpSpPr>
            <p:nvPr/>
          </p:nvGrpSpPr>
          <p:grpSpPr bwMode="auto">
            <a:xfrm>
              <a:off x="2506" y="1745"/>
              <a:ext cx="109" cy="108"/>
              <a:chOff x="1164" y="1150"/>
              <a:chExt cx="244" cy="414"/>
            </a:xfrm>
          </p:grpSpPr>
          <p:sp>
            <p:nvSpPr>
              <p:cNvPr id="64934" name="Freeform 976"/>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935" name="Freeform 977"/>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936" name="Freeform 978"/>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937" name="Freeform 979"/>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938" name="Freeform 980"/>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922" name="Group 981"/>
            <p:cNvGrpSpPr>
              <a:grpSpLocks/>
            </p:cNvGrpSpPr>
            <p:nvPr/>
          </p:nvGrpSpPr>
          <p:grpSpPr bwMode="auto">
            <a:xfrm>
              <a:off x="2316" y="1774"/>
              <a:ext cx="70" cy="87"/>
              <a:chOff x="1164" y="1150"/>
              <a:chExt cx="244" cy="414"/>
            </a:xfrm>
          </p:grpSpPr>
          <p:sp>
            <p:nvSpPr>
              <p:cNvPr id="64929" name="Freeform 982"/>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930" name="Freeform 983"/>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931" name="Freeform 984"/>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932" name="Freeform 985"/>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933" name="Freeform 986"/>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sp>
          <p:nvSpPr>
            <p:cNvPr id="64923" name="AutoShape 987"/>
            <p:cNvSpPr>
              <a:spLocks noChangeArrowheads="1"/>
            </p:cNvSpPr>
            <p:nvPr/>
          </p:nvSpPr>
          <p:spPr bwMode="auto">
            <a:xfrm rot="5400000">
              <a:off x="2322" y="2610"/>
              <a:ext cx="336" cy="132"/>
            </a:xfrm>
            <a:custGeom>
              <a:avLst/>
              <a:gdLst>
                <a:gd name="T0" fmla="*/ 252 w 21600"/>
                <a:gd name="T1" fmla="*/ 0 h 21600"/>
                <a:gd name="T2" fmla="*/ 0 w 21600"/>
                <a:gd name="T3" fmla="*/ 66 h 21600"/>
                <a:gd name="T4" fmla="*/ 252 w 21600"/>
                <a:gd name="T5" fmla="*/ 132 h 21600"/>
                <a:gd name="T6" fmla="*/ 336 w 21600"/>
                <a:gd name="T7" fmla="*/ 66 h 21600"/>
                <a:gd name="T8" fmla="*/ 17694720 60000 65536"/>
                <a:gd name="T9" fmla="*/ 11796480 60000 65536"/>
                <a:gd name="T10" fmla="*/ 5898240 60000 65536"/>
                <a:gd name="T11" fmla="*/ 0 60000 65536"/>
                <a:gd name="T12" fmla="*/ 3343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99CCFF"/>
            </a:solidFill>
            <a:ln w="9525">
              <a:noFill/>
              <a:round/>
              <a:headEnd/>
              <a:tailEnd/>
            </a:ln>
          </p:spPr>
          <p:txBody>
            <a:bodyPr wrap="none" anchor="ctr"/>
            <a:lstStyle/>
            <a:p>
              <a:endParaRPr lang="en-US"/>
            </a:p>
          </p:txBody>
        </p:sp>
        <p:sp>
          <p:nvSpPr>
            <p:cNvPr id="64924" name="Line 988"/>
            <p:cNvSpPr>
              <a:spLocks noChangeShapeType="1"/>
            </p:cNvSpPr>
            <p:nvPr/>
          </p:nvSpPr>
          <p:spPr bwMode="auto">
            <a:xfrm>
              <a:off x="2742" y="1128"/>
              <a:ext cx="0" cy="738"/>
            </a:xfrm>
            <a:prstGeom prst="line">
              <a:avLst/>
            </a:prstGeom>
            <a:noFill/>
            <a:ln w="9525">
              <a:solidFill>
                <a:srgbClr val="000000"/>
              </a:solidFill>
              <a:round/>
              <a:headEnd/>
              <a:tailEnd type="triangle" w="med" len="med"/>
            </a:ln>
          </p:spPr>
          <p:txBody>
            <a:bodyPr/>
            <a:lstStyle/>
            <a:p>
              <a:endParaRPr lang="en-US"/>
            </a:p>
          </p:txBody>
        </p:sp>
        <p:sp>
          <p:nvSpPr>
            <p:cNvPr id="64925" name="Line 989"/>
            <p:cNvSpPr>
              <a:spLocks noChangeShapeType="1"/>
            </p:cNvSpPr>
            <p:nvPr/>
          </p:nvSpPr>
          <p:spPr bwMode="auto">
            <a:xfrm>
              <a:off x="2742" y="1122"/>
              <a:ext cx="114" cy="0"/>
            </a:xfrm>
            <a:prstGeom prst="line">
              <a:avLst/>
            </a:prstGeom>
            <a:noFill/>
            <a:ln w="9525">
              <a:solidFill>
                <a:srgbClr val="000000"/>
              </a:solidFill>
              <a:round/>
              <a:headEnd/>
              <a:tailEnd/>
            </a:ln>
          </p:spPr>
          <p:txBody>
            <a:bodyPr/>
            <a:lstStyle/>
            <a:p>
              <a:endParaRPr lang="en-US"/>
            </a:p>
          </p:txBody>
        </p:sp>
        <p:sp>
          <p:nvSpPr>
            <p:cNvPr id="64926" name="Line 990"/>
            <p:cNvSpPr>
              <a:spLocks noChangeShapeType="1"/>
            </p:cNvSpPr>
            <p:nvPr/>
          </p:nvSpPr>
          <p:spPr bwMode="auto">
            <a:xfrm>
              <a:off x="2746" y="1264"/>
              <a:ext cx="114" cy="0"/>
            </a:xfrm>
            <a:prstGeom prst="line">
              <a:avLst/>
            </a:prstGeom>
            <a:noFill/>
            <a:ln w="9525">
              <a:solidFill>
                <a:srgbClr val="000000"/>
              </a:solidFill>
              <a:round/>
              <a:headEnd/>
              <a:tailEnd/>
            </a:ln>
          </p:spPr>
          <p:txBody>
            <a:bodyPr/>
            <a:lstStyle/>
            <a:p>
              <a:endParaRPr lang="en-US"/>
            </a:p>
          </p:txBody>
        </p:sp>
        <p:sp>
          <p:nvSpPr>
            <p:cNvPr id="64927" name="Line 991"/>
            <p:cNvSpPr>
              <a:spLocks noChangeShapeType="1"/>
            </p:cNvSpPr>
            <p:nvPr/>
          </p:nvSpPr>
          <p:spPr bwMode="auto">
            <a:xfrm>
              <a:off x="2744" y="1394"/>
              <a:ext cx="114" cy="0"/>
            </a:xfrm>
            <a:prstGeom prst="line">
              <a:avLst/>
            </a:prstGeom>
            <a:noFill/>
            <a:ln w="9525">
              <a:solidFill>
                <a:srgbClr val="000000"/>
              </a:solidFill>
              <a:round/>
              <a:headEnd/>
              <a:tailEnd/>
            </a:ln>
          </p:spPr>
          <p:txBody>
            <a:bodyPr/>
            <a:lstStyle/>
            <a:p>
              <a:endParaRPr lang="en-US"/>
            </a:p>
          </p:txBody>
        </p:sp>
        <p:sp>
          <p:nvSpPr>
            <p:cNvPr id="64928" name="Line 992"/>
            <p:cNvSpPr>
              <a:spLocks noChangeShapeType="1"/>
            </p:cNvSpPr>
            <p:nvPr/>
          </p:nvSpPr>
          <p:spPr bwMode="auto">
            <a:xfrm>
              <a:off x="2748" y="1530"/>
              <a:ext cx="114" cy="0"/>
            </a:xfrm>
            <a:prstGeom prst="line">
              <a:avLst/>
            </a:prstGeom>
            <a:noFill/>
            <a:ln w="9525">
              <a:solidFill>
                <a:srgbClr val="000000"/>
              </a:solidFill>
              <a:round/>
              <a:headEnd/>
              <a:tailEnd/>
            </a:ln>
          </p:spPr>
          <p:txBody>
            <a:bodyPr/>
            <a:lstStyle/>
            <a:p>
              <a:endParaRPr lang="en-US"/>
            </a:p>
          </p:txBody>
        </p:sp>
      </p:grpSp>
      <p:grpSp>
        <p:nvGrpSpPr>
          <p:cNvPr id="106465" name="Group 993"/>
          <p:cNvGrpSpPr>
            <a:grpSpLocks/>
          </p:cNvGrpSpPr>
          <p:nvPr/>
        </p:nvGrpSpPr>
        <p:grpSpPr bwMode="auto">
          <a:xfrm>
            <a:off x="5035550" y="2767013"/>
            <a:ext cx="2847975" cy="2190750"/>
            <a:chOff x="3028" y="1450"/>
            <a:chExt cx="1794" cy="1380"/>
          </a:xfrm>
        </p:grpSpPr>
        <p:sp>
          <p:nvSpPr>
            <p:cNvPr id="64629" name="AutoShape 994"/>
            <p:cNvSpPr>
              <a:spLocks noChangeArrowheads="1"/>
            </p:cNvSpPr>
            <p:nvPr/>
          </p:nvSpPr>
          <p:spPr bwMode="auto">
            <a:xfrm rot="5400000">
              <a:off x="3118" y="2620"/>
              <a:ext cx="336" cy="84"/>
            </a:xfrm>
            <a:custGeom>
              <a:avLst/>
              <a:gdLst>
                <a:gd name="T0" fmla="*/ 252 w 21600"/>
                <a:gd name="T1" fmla="*/ 0 h 21600"/>
                <a:gd name="T2" fmla="*/ 0 w 21600"/>
                <a:gd name="T3" fmla="*/ 42 h 21600"/>
                <a:gd name="T4" fmla="*/ 252 w 21600"/>
                <a:gd name="T5" fmla="*/ 84 h 21600"/>
                <a:gd name="T6" fmla="*/ 336 w 21600"/>
                <a:gd name="T7" fmla="*/ 42 h 21600"/>
                <a:gd name="T8" fmla="*/ 17694720 60000 65536"/>
                <a:gd name="T9" fmla="*/ 11796480 60000 65536"/>
                <a:gd name="T10" fmla="*/ 5898240 60000 65536"/>
                <a:gd name="T11" fmla="*/ 0 60000 65536"/>
                <a:gd name="T12" fmla="*/ 3343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99CCFF"/>
            </a:solidFill>
            <a:ln w="9525">
              <a:noFill/>
              <a:round/>
              <a:headEnd/>
              <a:tailEnd/>
            </a:ln>
          </p:spPr>
          <p:txBody>
            <a:bodyPr wrap="none" anchor="ctr"/>
            <a:lstStyle/>
            <a:p>
              <a:endParaRPr lang="en-US"/>
            </a:p>
          </p:txBody>
        </p:sp>
        <p:grpSp>
          <p:nvGrpSpPr>
            <p:cNvPr id="64630" name="Group 995"/>
            <p:cNvGrpSpPr>
              <a:grpSpLocks/>
            </p:cNvGrpSpPr>
            <p:nvPr/>
          </p:nvGrpSpPr>
          <p:grpSpPr bwMode="auto">
            <a:xfrm>
              <a:off x="3028" y="1450"/>
              <a:ext cx="1794" cy="1022"/>
              <a:chOff x="3028" y="1450"/>
              <a:chExt cx="1794" cy="1022"/>
            </a:xfrm>
          </p:grpSpPr>
          <p:grpSp>
            <p:nvGrpSpPr>
              <p:cNvPr id="64631" name="Group 996"/>
              <p:cNvGrpSpPr>
                <a:grpSpLocks/>
              </p:cNvGrpSpPr>
              <p:nvPr/>
            </p:nvGrpSpPr>
            <p:grpSpPr bwMode="auto">
              <a:xfrm>
                <a:off x="3028" y="1655"/>
                <a:ext cx="726" cy="817"/>
                <a:chOff x="3016" y="1661"/>
                <a:chExt cx="726" cy="817"/>
              </a:xfrm>
            </p:grpSpPr>
            <p:grpSp>
              <p:nvGrpSpPr>
                <p:cNvPr id="64635" name="Group 997"/>
                <p:cNvGrpSpPr>
                  <a:grpSpLocks/>
                </p:cNvGrpSpPr>
                <p:nvPr/>
              </p:nvGrpSpPr>
              <p:grpSpPr bwMode="auto">
                <a:xfrm>
                  <a:off x="3016" y="1661"/>
                  <a:ext cx="726" cy="817"/>
                  <a:chOff x="1474" y="1661"/>
                  <a:chExt cx="544" cy="680"/>
                </a:xfrm>
              </p:grpSpPr>
              <p:sp>
                <p:nvSpPr>
                  <p:cNvPr id="64910" name="Rectangle 998"/>
                  <p:cNvSpPr>
                    <a:spLocks noChangeArrowheads="1"/>
                  </p:cNvSpPr>
                  <p:nvPr/>
                </p:nvSpPr>
                <p:spPr bwMode="auto">
                  <a:xfrm>
                    <a:off x="1474" y="1933"/>
                    <a:ext cx="408" cy="408"/>
                  </a:xfrm>
                  <a:prstGeom prst="rect">
                    <a:avLst/>
                  </a:prstGeom>
                  <a:no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4911" name="AutoShape 999"/>
                  <p:cNvSpPr>
                    <a:spLocks noChangeArrowheads="1"/>
                  </p:cNvSpPr>
                  <p:nvPr/>
                </p:nvSpPr>
                <p:spPr bwMode="auto">
                  <a:xfrm>
                    <a:off x="1474" y="1661"/>
                    <a:ext cx="544" cy="272"/>
                  </a:xfrm>
                  <a:prstGeom prst="parallelogram">
                    <a:avLst>
                      <a:gd name="adj" fmla="val 50000"/>
                    </a:avLst>
                  </a:prstGeom>
                  <a:no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4912" name="Line 1000"/>
                  <p:cNvSpPr>
                    <a:spLocks noChangeShapeType="1"/>
                  </p:cNvSpPr>
                  <p:nvPr/>
                </p:nvSpPr>
                <p:spPr bwMode="auto">
                  <a:xfrm flipV="1">
                    <a:off x="1882" y="2069"/>
                    <a:ext cx="136" cy="272"/>
                  </a:xfrm>
                  <a:prstGeom prst="line">
                    <a:avLst/>
                  </a:prstGeom>
                  <a:noFill/>
                  <a:ln w="9525">
                    <a:solidFill>
                      <a:srgbClr val="000000"/>
                    </a:solidFill>
                    <a:round/>
                    <a:headEnd/>
                    <a:tailEnd/>
                  </a:ln>
                </p:spPr>
                <p:txBody>
                  <a:bodyPr/>
                  <a:lstStyle/>
                  <a:p>
                    <a:endParaRPr lang="en-US"/>
                  </a:p>
                </p:txBody>
              </p:sp>
              <p:sp>
                <p:nvSpPr>
                  <p:cNvPr id="64913" name="Line 1001"/>
                  <p:cNvSpPr>
                    <a:spLocks noChangeShapeType="1"/>
                  </p:cNvSpPr>
                  <p:nvPr/>
                </p:nvSpPr>
                <p:spPr bwMode="auto">
                  <a:xfrm>
                    <a:off x="2018" y="1661"/>
                    <a:ext cx="0" cy="408"/>
                  </a:xfrm>
                  <a:prstGeom prst="line">
                    <a:avLst/>
                  </a:prstGeom>
                  <a:noFill/>
                  <a:ln w="9525">
                    <a:solidFill>
                      <a:srgbClr val="000000"/>
                    </a:solidFill>
                    <a:round/>
                    <a:headEnd/>
                    <a:tailEnd/>
                  </a:ln>
                </p:spPr>
                <p:txBody>
                  <a:bodyPr/>
                  <a:lstStyle/>
                  <a:p>
                    <a:endParaRPr lang="en-US"/>
                  </a:p>
                </p:txBody>
              </p:sp>
            </p:grpSp>
            <p:grpSp>
              <p:nvGrpSpPr>
                <p:cNvPr id="64636" name="Group 1002"/>
                <p:cNvGrpSpPr>
                  <a:grpSpLocks/>
                </p:cNvGrpSpPr>
                <p:nvPr/>
              </p:nvGrpSpPr>
              <p:grpSpPr bwMode="auto">
                <a:xfrm>
                  <a:off x="3385" y="1669"/>
                  <a:ext cx="318" cy="171"/>
                  <a:chOff x="1845" y="1659"/>
                  <a:chExt cx="318" cy="171"/>
                </a:xfrm>
              </p:grpSpPr>
              <p:sp>
                <p:nvSpPr>
                  <p:cNvPr id="64901" name="Line 1003"/>
                  <p:cNvSpPr>
                    <a:spLocks noChangeShapeType="1"/>
                  </p:cNvSpPr>
                  <p:nvPr/>
                </p:nvSpPr>
                <p:spPr bwMode="auto">
                  <a:xfrm>
                    <a:off x="2022" y="1659"/>
                    <a:ext cx="126" cy="87"/>
                  </a:xfrm>
                  <a:prstGeom prst="line">
                    <a:avLst/>
                  </a:prstGeom>
                  <a:noFill/>
                  <a:ln w="9525">
                    <a:solidFill>
                      <a:srgbClr val="000000"/>
                    </a:solidFill>
                    <a:round/>
                    <a:headEnd/>
                    <a:tailEnd/>
                  </a:ln>
                </p:spPr>
                <p:txBody>
                  <a:bodyPr/>
                  <a:lstStyle/>
                  <a:p>
                    <a:endParaRPr lang="en-US"/>
                  </a:p>
                </p:txBody>
              </p:sp>
              <p:sp>
                <p:nvSpPr>
                  <p:cNvPr id="64902" name="Line 1004"/>
                  <p:cNvSpPr>
                    <a:spLocks noChangeShapeType="1"/>
                  </p:cNvSpPr>
                  <p:nvPr/>
                </p:nvSpPr>
                <p:spPr bwMode="auto">
                  <a:xfrm>
                    <a:off x="1974" y="1662"/>
                    <a:ext cx="162" cy="114"/>
                  </a:xfrm>
                  <a:prstGeom prst="line">
                    <a:avLst/>
                  </a:prstGeom>
                  <a:noFill/>
                  <a:ln w="9525">
                    <a:solidFill>
                      <a:srgbClr val="000000"/>
                    </a:solidFill>
                    <a:round/>
                    <a:headEnd/>
                    <a:tailEnd/>
                  </a:ln>
                </p:spPr>
                <p:txBody>
                  <a:bodyPr/>
                  <a:lstStyle/>
                  <a:p>
                    <a:endParaRPr lang="en-US"/>
                  </a:p>
                </p:txBody>
              </p:sp>
              <p:sp>
                <p:nvSpPr>
                  <p:cNvPr id="64903" name="Line 1005"/>
                  <p:cNvSpPr>
                    <a:spLocks noChangeShapeType="1"/>
                  </p:cNvSpPr>
                  <p:nvPr/>
                </p:nvSpPr>
                <p:spPr bwMode="auto">
                  <a:xfrm>
                    <a:off x="1908" y="1662"/>
                    <a:ext cx="213" cy="141"/>
                  </a:xfrm>
                  <a:prstGeom prst="line">
                    <a:avLst/>
                  </a:prstGeom>
                  <a:noFill/>
                  <a:ln w="9525">
                    <a:solidFill>
                      <a:srgbClr val="000000"/>
                    </a:solidFill>
                    <a:round/>
                    <a:headEnd/>
                    <a:tailEnd/>
                  </a:ln>
                </p:spPr>
                <p:txBody>
                  <a:bodyPr/>
                  <a:lstStyle/>
                  <a:p>
                    <a:endParaRPr lang="en-US"/>
                  </a:p>
                </p:txBody>
              </p:sp>
              <p:sp>
                <p:nvSpPr>
                  <p:cNvPr id="64904" name="Line 1006"/>
                  <p:cNvSpPr>
                    <a:spLocks noChangeShapeType="1"/>
                  </p:cNvSpPr>
                  <p:nvPr/>
                </p:nvSpPr>
                <p:spPr bwMode="auto">
                  <a:xfrm>
                    <a:off x="1845" y="1659"/>
                    <a:ext cx="255" cy="171"/>
                  </a:xfrm>
                  <a:prstGeom prst="line">
                    <a:avLst/>
                  </a:prstGeom>
                  <a:noFill/>
                  <a:ln w="9525">
                    <a:solidFill>
                      <a:srgbClr val="000000"/>
                    </a:solidFill>
                    <a:round/>
                    <a:headEnd/>
                    <a:tailEnd/>
                  </a:ln>
                </p:spPr>
                <p:txBody>
                  <a:bodyPr/>
                  <a:lstStyle/>
                  <a:p>
                    <a:endParaRPr lang="en-US"/>
                  </a:p>
                </p:txBody>
              </p:sp>
              <p:sp>
                <p:nvSpPr>
                  <p:cNvPr id="64905" name="Line 1007"/>
                  <p:cNvSpPr>
                    <a:spLocks noChangeShapeType="1"/>
                  </p:cNvSpPr>
                  <p:nvPr/>
                </p:nvSpPr>
                <p:spPr bwMode="auto">
                  <a:xfrm flipV="1">
                    <a:off x="1893" y="1662"/>
                    <a:ext cx="114" cy="51"/>
                  </a:xfrm>
                  <a:prstGeom prst="line">
                    <a:avLst/>
                  </a:prstGeom>
                  <a:noFill/>
                  <a:ln w="9525">
                    <a:solidFill>
                      <a:srgbClr val="000000"/>
                    </a:solidFill>
                    <a:round/>
                    <a:headEnd/>
                    <a:tailEnd/>
                  </a:ln>
                </p:spPr>
                <p:txBody>
                  <a:bodyPr/>
                  <a:lstStyle/>
                  <a:p>
                    <a:endParaRPr lang="en-US"/>
                  </a:p>
                </p:txBody>
              </p:sp>
              <p:sp>
                <p:nvSpPr>
                  <p:cNvPr id="64906" name="Line 1008"/>
                  <p:cNvSpPr>
                    <a:spLocks noChangeShapeType="1"/>
                  </p:cNvSpPr>
                  <p:nvPr/>
                </p:nvSpPr>
                <p:spPr bwMode="auto">
                  <a:xfrm flipV="1">
                    <a:off x="1920" y="1665"/>
                    <a:ext cx="150" cy="75"/>
                  </a:xfrm>
                  <a:prstGeom prst="line">
                    <a:avLst/>
                  </a:prstGeom>
                  <a:noFill/>
                  <a:ln w="9525">
                    <a:solidFill>
                      <a:srgbClr val="000000"/>
                    </a:solidFill>
                    <a:round/>
                    <a:headEnd/>
                    <a:tailEnd/>
                  </a:ln>
                </p:spPr>
                <p:txBody>
                  <a:bodyPr/>
                  <a:lstStyle/>
                  <a:p>
                    <a:endParaRPr lang="en-US"/>
                  </a:p>
                </p:txBody>
              </p:sp>
              <p:sp>
                <p:nvSpPr>
                  <p:cNvPr id="64907" name="Line 1009"/>
                  <p:cNvSpPr>
                    <a:spLocks noChangeShapeType="1"/>
                  </p:cNvSpPr>
                  <p:nvPr/>
                </p:nvSpPr>
                <p:spPr bwMode="auto">
                  <a:xfrm flipV="1">
                    <a:off x="1959" y="1674"/>
                    <a:ext cx="159" cy="87"/>
                  </a:xfrm>
                  <a:prstGeom prst="line">
                    <a:avLst/>
                  </a:prstGeom>
                  <a:noFill/>
                  <a:ln w="9525">
                    <a:solidFill>
                      <a:srgbClr val="000000"/>
                    </a:solidFill>
                    <a:round/>
                    <a:headEnd/>
                    <a:tailEnd/>
                  </a:ln>
                </p:spPr>
                <p:txBody>
                  <a:bodyPr/>
                  <a:lstStyle/>
                  <a:p>
                    <a:endParaRPr lang="en-US"/>
                  </a:p>
                </p:txBody>
              </p:sp>
              <p:sp>
                <p:nvSpPr>
                  <p:cNvPr id="64908" name="Line 1010"/>
                  <p:cNvSpPr>
                    <a:spLocks noChangeShapeType="1"/>
                  </p:cNvSpPr>
                  <p:nvPr/>
                </p:nvSpPr>
                <p:spPr bwMode="auto">
                  <a:xfrm flipV="1">
                    <a:off x="1995" y="1698"/>
                    <a:ext cx="153" cy="87"/>
                  </a:xfrm>
                  <a:prstGeom prst="line">
                    <a:avLst/>
                  </a:prstGeom>
                  <a:noFill/>
                  <a:ln w="9525">
                    <a:solidFill>
                      <a:srgbClr val="000000"/>
                    </a:solidFill>
                    <a:round/>
                    <a:headEnd/>
                    <a:tailEnd/>
                  </a:ln>
                </p:spPr>
                <p:txBody>
                  <a:bodyPr/>
                  <a:lstStyle/>
                  <a:p>
                    <a:endParaRPr lang="en-US"/>
                  </a:p>
                </p:txBody>
              </p:sp>
              <p:sp>
                <p:nvSpPr>
                  <p:cNvPr id="64909" name="Line 1011"/>
                  <p:cNvSpPr>
                    <a:spLocks noChangeShapeType="1"/>
                  </p:cNvSpPr>
                  <p:nvPr/>
                </p:nvSpPr>
                <p:spPr bwMode="auto">
                  <a:xfrm flipV="1">
                    <a:off x="2037" y="1728"/>
                    <a:ext cx="126" cy="78"/>
                  </a:xfrm>
                  <a:prstGeom prst="line">
                    <a:avLst/>
                  </a:prstGeom>
                  <a:noFill/>
                  <a:ln w="9525">
                    <a:solidFill>
                      <a:srgbClr val="000000"/>
                    </a:solidFill>
                    <a:round/>
                    <a:headEnd/>
                    <a:tailEnd/>
                  </a:ln>
                </p:spPr>
                <p:txBody>
                  <a:bodyPr/>
                  <a:lstStyle/>
                  <a:p>
                    <a:endParaRPr lang="en-US"/>
                  </a:p>
                </p:txBody>
              </p:sp>
            </p:grpSp>
            <p:grpSp>
              <p:nvGrpSpPr>
                <p:cNvPr id="64637" name="Group 1012"/>
                <p:cNvGrpSpPr>
                  <a:grpSpLocks/>
                </p:cNvGrpSpPr>
                <p:nvPr/>
              </p:nvGrpSpPr>
              <p:grpSpPr bwMode="auto">
                <a:xfrm>
                  <a:off x="3192" y="1669"/>
                  <a:ext cx="391" cy="297"/>
                  <a:chOff x="3192" y="1669"/>
                  <a:chExt cx="391" cy="297"/>
                </a:xfrm>
              </p:grpSpPr>
              <p:grpSp>
                <p:nvGrpSpPr>
                  <p:cNvPr id="64827" name="Group 1013"/>
                  <p:cNvGrpSpPr>
                    <a:grpSpLocks/>
                  </p:cNvGrpSpPr>
                  <p:nvPr/>
                </p:nvGrpSpPr>
                <p:grpSpPr bwMode="auto">
                  <a:xfrm>
                    <a:off x="3192" y="1669"/>
                    <a:ext cx="216" cy="185"/>
                    <a:chOff x="3192" y="1669"/>
                    <a:chExt cx="216" cy="185"/>
                  </a:xfrm>
                </p:grpSpPr>
                <p:grpSp>
                  <p:nvGrpSpPr>
                    <p:cNvPr id="64865" name="Group 1014"/>
                    <p:cNvGrpSpPr>
                      <a:grpSpLocks/>
                    </p:cNvGrpSpPr>
                    <p:nvPr/>
                  </p:nvGrpSpPr>
                  <p:grpSpPr bwMode="auto">
                    <a:xfrm>
                      <a:off x="3192" y="1669"/>
                      <a:ext cx="70" cy="87"/>
                      <a:chOff x="1164" y="1150"/>
                      <a:chExt cx="244" cy="414"/>
                    </a:xfrm>
                  </p:grpSpPr>
                  <p:sp>
                    <p:nvSpPr>
                      <p:cNvPr id="64896" name="Freeform 101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897" name="Freeform 101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98" name="Freeform 101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99" name="Freeform 101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900" name="Freeform 101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866" name="Group 1020"/>
                    <p:cNvGrpSpPr>
                      <a:grpSpLocks/>
                    </p:cNvGrpSpPr>
                    <p:nvPr/>
                  </p:nvGrpSpPr>
                  <p:grpSpPr bwMode="auto">
                    <a:xfrm>
                      <a:off x="3220" y="1688"/>
                      <a:ext cx="70" cy="87"/>
                      <a:chOff x="1164" y="1150"/>
                      <a:chExt cx="244" cy="414"/>
                    </a:xfrm>
                  </p:grpSpPr>
                  <p:sp>
                    <p:nvSpPr>
                      <p:cNvPr id="64891" name="Freeform 1021"/>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892" name="Freeform 1022"/>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93" name="Freeform 1023"/>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94" name="Freeform 1024"/>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95" name="Freeform 1025"/>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867" name="Group 1026"/>
                    <p:cNvGrpSpPr>
                      <a:grpSpLocks/>
                    </p:cNvGrpSpPr>
                    <p:nvPr/>
                  </p:nvGrpSpPr>
                  <p:grpSpPr bwMode="auto">
                    <a:xfrm>
                      <a:off x="3251" y="1710"/>
                      <a:ext cx="70" cy="87"/>
                      <a:chOff x="1164" y="1150"/>
                      <a:chExt cx="244" cy="414"/>
                    </a:xfrm>
                  </p:grpSpPr>
                  <p:sp>
                    <p:nvSpPr>
                      <p:cNvPr id="64886" name="Freeform 1027"/>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887" name="Freeform 1028"/>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88" name="Freeform 1029"/>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89" name="Freeform 1030"/>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90" name="Freeform 1031"/>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868" name="Group 1032"/>
                    <p:cNvGrpSpPr>
                      <a:grpSpLocks/>
                    </p:cNvGrpSpPr>
                    <p:nvPr/>
                  </p:nvGrpSpPr>
                  <p:grpSpPr bwMode="auto">
                    <a:xfrm>
                      <a:off x="3282" y="1735"/>
                      <a:ext cx="70" cy="87"/>
                      <a:chOff x="1164" y="1150"/>
                      <a:chExt cx="244" cy="414"/>
                    </a:xfrm>
                  </p:grpSpPr>
                  <p:sp>
                    <p:nvSpPr>
                      <p:cNvPr id="64881" name="Freeform 1033"/>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882" name="Freeform 1034"/>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83" name="Freeform 1035"/>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84" name="Freeform 1036"/>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85" name="Freeform 1037"/>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869" name="Group 1038"/>
                    <p:cNvGrpSpPr>
                      <a:grpSpLocks/>
                    </p:cNvGrpSpPr>
                    <p:nvPr/>
                  </p:nvGrpSpPr>
                  <p:grpSpPr bwMode="auto">
                    <a:xfrm>
                      <a:off x="3310" y="1751"/>
                      <a:ext cx="70" cy="87"/>
                      <a:chOff x="1164" y="1150"/>
                      <a:chExt cx="244" cy="414"/>
                    </a:xfrm>
                  </p:grpSpPr>
                  <p:sp>
                    <p:nvSpPr>
                      <p:cNvPr id="64876" name="Freeform 1039"/>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877" name="Freeform 1040"/>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78" name="Freeform 1041"/>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79" name="Freeform 1042"/>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80" name="Freeform 1043"/>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870" name="Group 1044"/>
                    <p:cNvGrpSpPr>
                      <a:grpSpLocks/>
                    </p:cNvGrpSpPr>
                    <p:nvPr/>
                  </p:nvGrpSpPr>
                  <p:grpSpPr bwMode="auto">
                    <a:xfrm>
                      <a:off x="3338" y="1767"/>
                      <a:ext cx="70" cy="87"/>
                      <a:chOff x="1164" y="1150"/>
                      <a:chExt cx="244" cy="414"/>
                    </a:xfrm>
                  </p:grpSpPr>
                  <p:sp>
                    <p:nvSpPr>
                      <p:cNvPr id="64871" name="Freeform 104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872" name="Freeform 104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73" name="Freeform 104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74" name="Freeform 104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75" name="Freeform 104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64828" name="Group 1050"/>
                  <p:cNvGrpSpPr>
                    <a:grpSpLocks/>
                  </p:cNvGrpSpPr>
                  <p:nvPr/>
                </p:nvGrpSpPr>
                <p:grpSpPr bwMode="auto">
                  <a:xfrm>
                    <a:off x="3367" y="1781"/>
                    <a:ext cx="216" cy="185"/>
                    <a:chOff x="3192" y="1669"/>
                    <a:chExt cx="216" cy="185"/>
                  </a:xfrm>
                </p:grpSpPr>
                <p:grpSp>
                  <p:nvGrpSpPr>
                    <p:cNvPr id="64829" name="Group 1051"/>
                    <p:cNvGrpSpPr>
                      <a:grpSpLocks/>
                    </p:cNvGrpSpPr>
                    <p:nvPr/>
                  </p:nvGrpSpPr>
                  <p:grpSpPr bwMode="auto">
                    <a:xfrm>
                      <a:off x="3192" y="1669"/>
                      <a:ext cx="70" cy="87"/>
                      <a:chOff x="1164" y="1150"/>
                      <a:chExt cx="244" cy="414"/>
                    </a:xfrm>
                  </p:grpSpPr>
                  <p:sp>
                    <p:nvSpPr>
                      <p:cNvPr id="64860" name="Freeform 1052"/>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861" name="Freeform 1053"/>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62" name="Freeform 1054"/>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63" name="Freeform 1055"/>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64" name="Freeform 1056"/>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830" name="Group 1057"/>
                    <p:cNvGrpSpPr>
                      <a:grpSpLocks/>
                    </p:cNvGrpSpPr>
                    <p:nvPr/>
                  </p:nvGrpSpPr>
                  <p:grpSpPr bwMode="auto">
                    <a:xfrm>
                      <a:off x="3220" y="1688"/>
                      <a:ext cx="70" cy="87"/>
                      <a:chOff x="1164" y="1150"/>
                      <a:chExt cx="244" cy="414"/>
                    </a:xfrm>
                  </p:grpSpPr>
                  <p:sp>
                    <p:nvSpPr>
                      <p:cNvPr id="64855" name="Freeform 1058"/>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856" name="Freeform 1059"/>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57" name="Freeform 1060"/>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58" name="Freeform 1061"/>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59" name="Freeform 1062"/>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831" name="Group 1063"/>
                    <p:cNvGrpSpPr>
                      <a:grpSpLocks/>
                    </p:cNvGrpSpPr>
                    <p:nvPr/>
                  </p:nvGrpSpPr>
                  <p:grpSpPr bwMode="auto">
                    <a:xfrm>
                      <a:off x="3251" y="1710"/>
                      <a:ext cx="70" cy="87"/>
                      <a:chOff x="1164" y="1150"/>
                      <a:chExt cx="244" cy="414"/>
                    </a:xfrm>
                  </p:grpSpPr>
                  <p:sp>
                    <p:nvSpPr>
                      <p:cNvPr id="64850" name="Freeform 1064"/>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851" name="Freeform 1065"/>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52" name="Freeform 1066"/>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53" name="Freeform 1067"/>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54" name="Freeform 1068"/>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832" name="Group 1069"/>
                    <p:cNvGrpSpPr>
                      <a:grpSpLocks/>
                    </p:cNvGrpSpPr>
                    <p:nvPr/>
                  </p:nvGrpSpPr>
                  <p:grpSpPr bwMode="auto">
                    <a:xfrm>
                      <a:off x="3282" y="1735"/>
                      <a:ext cx="70" cy="87"/>
                      <a:chOff x="1164" y="1150"/>
                      <a:chExt cx="244" cy="414"/>
                    </a:xfrm>
                  </p:grpSpPr>
                  <p:sp>
                    <p:nvSpPr>
                      <p:cNvPr id="64845" name="Freeform 1070"/>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846" name="Freeform 1071"/>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47" name="Freeform 1072"/>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48" name="Freeform 1073"/>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49" name="Freeform 1074"/>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833" name="Group 1075"/>
                    <p:cNvGrpSpPr>
                      <a:grpSpLocks/>
                    </p:cNvGrpSpPr>
                    <p:nvPr/>
                  </p:nvGrpSpPr>
                  <p:grpSpPr bwMode="auto">
                    <a:xfrm>
                      <a:off x="3310" y="1751"/>
                      <a:ext cx="70" cy="87"/>
                      <a:chOff x="1164" y="1150"/>
                      <a:chExt cx="244" cy="414"/>
                    </a:xfrm>
                  </p:grpSpPr>
                  <p:sp>
                    <p:nvSpPr>
                      <p:cNvPr id="64840" name="Freeform 1076"/>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841" name="Freeform 1077"/>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42" name="Freeform 1078"/>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43" name="Freeform 1079"/>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44" name="Freeform 1080"/>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834" name="Group 1081"/>
                    <p:cNvGrpSpPr>
                      <a:grpSpLocks/>
                    </p:cNvGrpSpPr>
                    <p:nvPr/>
                  </p:nvGrpSpPr>
                  <p:grpSpPr bwMode="auto">
                    <a:xfrm>
                      <a:off x="3338" y="1767"/>
                      <a:ext cx="70" cy="87"/>
                      <a:chOff x="1164" y="1150"/>
                      <a:chExt cx="244" cy="414"/>
                    </a:xfrm>
                  </p:grpSpPr>
                  <p:sp>
                    <p:nvSpPr>
                      <p:cNvPr id="64835" name="Freeform 1082"/>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836" name="Freeform 1083"/>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37" name="Freeform 1084"/>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38" name="Freeform 1085"/>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39" name="Freeform 1086"/>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grpSp>
              <p:nvGrpSpPr>
                <p:cNvPr id="64638" name="Group 1087"/>
                <p:cNvGrpSpPr>
                  <a:grpSpLocks/>
                </p:cNvGrpSpPr>
                <p:nvPr/>
              </p:nvGrpSpPr>
              <p:grpSpPr bwMode="auto">
                <a:xfrm>
                  <a:off x="3130" y="1691"/>
                  <a:ext cx="391" cy="297"/>
                  <a:chOff x="3192" y="1669"/>
                  <a:chExt cx="391" cy="297"/>
                </a:xfrm>
              </p:grpSpPr>
              <p:grpSp>
                <p:nvGrpSpPr>
                  <p:cNvPr id="64753" name="Group 1088"/>
                  <p:cNvGrpSpPr>
                    <a:grpSpLocks/>
                  </p:cNvGrpSpPr>
                  <p:nvPr/>
                </p:nvGrpSpPr>
                <p:grpSpPr bwMode="auto">
                  <a:xfrm>
                    <a:off x="3192" y="1669"/>
                    <a:ext cx="216" cy="185"/>
                    <a:chOff x="3192" y="1669"/>
                    <a:chExt cx="216" cy="185"/>
                  </a:xfrm>
                </p:grpSpPr>
                <p:grpSp>
                  <p:nvGrpSpPr>
                    <p:cNvPr id="64791" name="Group 1089"/>
                    <p:cNvGrpSpPr>
                      <a:grpSpLocks/>
                    </p:cNvGrpSpPr>
                    <p:nvPr/>
                  </p:nvGrpSpPr>
                  <p:grpSpPr bwMode="auto">
                    <a:xfrm>
                      <a:off x="3192" y="1669"/>
                      <a:ext cx="70" cy="87"/>
                      <a:chOff x="1164" y="1150"/>
                      <a:chExt cx="244" cy="414"/>
                    </a:xfrm>
                  </p:grpSpPr>
                  <p:sp>
                    <p:nvSpPr>
                      <p:cNvPr id="64822" name="Freeform 1090"/>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823" name="Freeform 1091"/>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24" name="Freeform 1092"/>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25" name="Freeform 1093"/>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26" name="Freeform 1094"/>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792" name="Group 1095"/>
                    <p:cNvGrpSpPr>
                      <a:grpSpLocks/>
                    </p:cNvGrpSpPr>
                    <p:nvPr/>
                  </p:nvGrpSpPr>
                  <p:grpSpPr bwMode="auto">
                    <a:xfrm>
                      <a:off x="3220" y="1688"/>
                      <a:ext cx="70" cy="87"/>
                      <a:chOff x="1164" y="1150"/>
                      <a:chExt cx="244" cy="414"/>
                    </a:xfrm>
                  </p:grpSpPr>
                  <p:sp>
                    <p:nvSpPr>
                      <p:cNvPr id="64817" name="Freeform 1096"/>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818" name="Freeform 1097"/>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19" name="Freeform 1098"/>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20" name="Freeform 1099"/>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21" name="Freeform 1100"/>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793" name="Group 1101"/>
                    <p:cNvGrpSpPr>
                      <a:grpSpLocks/>
                    </p:cNvGrpSpPr>
                    <p:nvPr/>
                  </p:nvGrpSpPr>
                  <p:grpSpPr bwMode="auto">
                    <a:xfrm>
                      <a:off x="3251" y="1710"/>
                      <a:ext cx="70" cy="87"/>
                      <a:chOff x="1164" y="1150"/>
                      <a:chExt cx="244" cy="414"/>
                    </a:xfrm>
                  </p:grpSpPr>
                  <p:sp>
                    <p:nvSpPr>
                      <p:cNvPr id="64812" name="Freeform 1102"/>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813" name="Freeform 1103"/>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14" name="Freeform 1104"/>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15" name="Freeform 1105"/>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16" name="Freeform 1106"/>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794" name="Group 1107"/>
                    <p:cNvGrpSpPr>
                      <a:grpSpLocks/>
                    </p:cNvGrpSpPr>
                    <p:nvPr/>
                  </p:nvGrpSpPr>
                  <p:grpSpPr bwMode="auto">
                    <a:xfrm>
                      <a:off x="3282" y="1735"/>
                      <a:ext cx="70" cy="87"/>
                      <a:chOff x="1164" y="1150"/>
                      <a:chExt cx="244" cy="414"/>
                    </a:xfrm>
                  </p:grpSpPr>
                  <p:sp>
                    <p:nvSpPr>
                      <p:cNvPr id="64807" name="Freeform 1108"/>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808" name="Freeform 1109"/>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09" name="Freeform 1110"/>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10" name="Freeform 1111"/>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11" name="Freeform 1112"/>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795" name="Group 1113"/>
                    <p:cNvGrpSpPr>
                      <a:grpSpLocks/>
                    </p:cNvGrpSpPr>
                    <p:nvPr/>
                  </p:nvGrpSpPr>
                  <p:grpSpPr bwMode="auto">
                    <a:xfrm>
                      <a:off x="3310" y="1751"/>
                      <a:ext cx="70" cy="87"/>
                      <a:chOff x="1164" y="1150"/>
                      <a:chExt cx="244" cy="414"/>
                    </a:xfrm>
                  </p:grpSpPr>
                  <p:sp>
                    <p:nvSpPr>
                      <p:cNvPr id="64802" name="Freeform 1114"/>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803" name="Freeform 1115"/>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04" name="Freeform 1116"/>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05" name="Freeform 1117"/>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06" name="Freeform 1118"/>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796" name="Group 1119"/>
                    <p:cNvGrpSpPr>
                      <a:grpSpLocks/>
                    </p:cNvGrpSpPr>
                    <p:nvPr/>
                  </p:nvGrpSpPr>
                  <p:grpSpPr bwMode="auto">
                    <a:xfrm>
                      <a:off x="3338" y="1767"/>
                      <a:ext cx="70" cy="87"/>
                      <a:chOff x="1164" y="1150"/>
                      <a:chExt cx="244" cy="414"/>
                    </a:xfrm>
                  </p:grpSpPr>
                  <p:sp>
                    <p:nvSpPr>
                      <p:cNvPr id="64797" name="Freeform 1120"/>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798" name="Freeform 1121"/>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99" name="Freeform 1122"/>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00" name="Freeform 1123"/>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801" name="Freeform 1124"/>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64754" name="Group 1125"/>
                  <p:cNvGrpSpPr>
                    <a:grpSpLocks/>
                  </p:cNvGrpSpPr>
                  <p:nvPr/>
                </p:nvGrpSpPr>
                <p:grpSpPr bwMode="auto">
                  <a:xfrm>
                    <a:off x="3367" y="1781"/>
                    <a:ext cx="216" cy="185"/>
                    <a:chOff x="3192" y="1669"/>
                    <a:chExt cx="216" cy="185"/>
                  </a:xfrm>
                </p:grpSpPr>
                <p:grpSp>
                  <p:nvGrpSpPr>
                    <p:cNvPr id="64755" name="Group 1126"/>
                    <p:cNvGrpSpPr>
                      <a:grpSpLocks/>
                    </p:cNvGrpSpPr>
                    <p:nvPr/>
                  </p:nvGrpSpPr>
                  <p:grpSpPr bwMode="auto">
                    <a:xfrm>
                      <a:off x="3192" y="1669"/>
                      <a:ext cx="70" cy="87"/>
                      <a:chOff x="1164" y="1150"/>
                      <a:chExt cx="244" cy="414"/>
                    </a:xfrm>
                  </p:grpSpPr>
                  <p:sp>
                    <p:nvSpPr>
                      <p:cNvPr id="64786" name="Freeform 1127"/>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787" name="Freeform 1128"/>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88" name="Freeform 1129"/>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89" name="Freeform 1130"/>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90" name="Freeform 1131"/>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756" name="Group 1132"/>
                    <p:cNvGrpSpPr>
                      <a:grpSpLocks/>
                    </p:cNvGrpSpPr>
                    <p:nvPr/>
                  </p:nvGrpSpPr>
                  <p:grpSpPr bwMode="auto">
                    <a:xfrm>
                      <a:off x="3220" y="1688"/>
                      <a:ext cx="70" cy="87"/>
                      <a:chOff x="1164" y="1150"/>
                      <a:chExt cx="244" cy="414"/>
                    </a:xfrm>
                  </p:grpSpPr>
                  <p:sp>
                    <p:nvSpPr>
                      <p:cNvPr id="64781" name="Freeform 1133"/>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782" name="Freeform 1134"/>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83" name="Freeform 1135"/>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84" name="Freeform 1136"/>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85" name="Freeform 1137"/>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757" name="Group 1138"/>
                    <p:cNvGrpSpPr>
                      <a:grpSpLocks/>
                    </p:cNvGrpSpPr>
                    <p:nvPr/>
                  </p:nvGrpSpPr>
                  <p:grpSpPr bwMode="auto">
                    <a:xfrm>
                      <a:off x="3251" y="1710"/>
                      <a:ext cx="70" cy="87"/>
                      <a:chOff x="1164" y="1150"/>
                      <a:chExt cx="244" cy="414"/>
                    </a:xfrm>
                  </p:grpSpPr>
                  <p:sp>
                    <p:nvSpPr>
                      <p:cNvPr id="64776" name="Freeform 1139"/>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777" name="Freeform 1140"/>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78" name="Freeform 1141"/>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79" name="Freeform 1142"/>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80" name="Freeform 1143"/>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758" name="Group 1144"/>
                    <p:cNvGrpSpPr>
                      <a:grpSpLocks/>
                    </p:cNvGrpSpPr>
                    <p:nvPr/>
                  </p:nvGrpSpPr>
                  <p:grpSpPr bwMode="auto">
                    <a:xfrm>
                      <a:off x="3282" y="1735"/>
                      <a:ext cx="70" cy="87"/>
                      <a:chOff x="1164" y="1150"/>
                      <a:chExt cx="244" cy="414"/>
                    </a:xfrm>
                  </p:grpSpPr>
                  <p:sp>
                    <p:nvSpPr>
                      <p:cNvPr id="64771" name="Freeform 114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772" name="Freeform 114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73" name="Freeform 114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74" name="Freeform 114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75" name="Freeform 114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759" name="Group 1150"/>
                    <p:cNvGrpSpPr>
                      <a:grpSpLocks/>
                    </p:cNvGrpSpPr>
                    <p:nvPr/>
                  </p:nvGrpSpPr>
                  <p:grpSpPr bwMode="auto">
                    <a:xfrm>
                      <a:off x="3310" y="1751"/>
                      <a:ext cx="70" cy="87"/>
                      <a:chOff x="1164" y="1150"/>
                      <a:chExt cx="244" cy="414"/>
                    </a:xfrm>
                  </p:grpSpPr>
                  <p:sp>
                    <p:nvSpPr>
                      <p:cNvPr id="64766" name="Freeform 1151"/>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767" name="Freeform 1152"/>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68" name="Freeform 1153"/>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69" name="Freeform 1154"/>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70" name="Freeform 1155"/>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760" name="Group 1156"/>
                    <p:cNvGrpSpPr>
                      <a:grpSpLocks/>
                    </p:cNvGrpSpPr>
                    <p:nvPr/>
                  </p:nvGrpSpPr>
                  <p:grpSpPr bwMode="auto">
                    <a:xfrm>
                      <a:off x="3338" y="1767"/>
                      <a:ext cx="70" cy="87"/>
                      <a:chOff x="1164" y="1150"/>
                      <a:chExt cx="244" cy="414"/>
                    </a:xfrm>
                  </p:grpSpPr>
                  <p:sp>
                    <p:nvSpPr>
                      <p:cNvPr id="64761" name="Freeform 1157"/>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762" name="Freeform 1158"/>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63" name="Freeform 1159"/>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64" name="Freeform 1160"/>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65" name="Freeform 1161"/>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grpSp>
              <p:nvGrpSpPr>
                <p:cNvPr id="64639" name="Group 1162"/>
                <p:cNvGrpSpPr>
                  <a:grpSpLocks/>
                </p:cNvGrpSpPr>
                <p:nvPr/>
              </p:nvGrpSpPr>
              <p:grpSpPr bwMode="auto">
                <a:xfrm>
                  <a:off x="3094" y="1727"/>
                  <a:ext cx="335" cy="265"/>
                  <a:chOff x="3094" y="1727"/>
                  <a:chExt cx="335" cy="265"/>
                </a:xfrm>
              </p:grpSpPr>
              <p:grpSp>
                <p:nvGrpSpPr>
                  <p:cNvPr id="64691" name="Group 1163"/>
                  <p:cNvGrpSpPr>
                    <a:grpSpLocks/>
                  </p:cNvGrpSpPr>
                  <p:nvPr/>
                </p:nvGrpSpPr>
                <p:grpSpPr bwMode="auto">
                  <a:xfrm>
                    <a:off x="3094" y="1727"/>
                    <a:ext cx="216" cy="185"/>
                    <a:chOff x="3094" y="1727"/>
                    <a:chExt cx="216" cy="185"/>
                  </a:xfrm>
                </p:grpSpPr>
                <p:grpSp>
                  <p:nvGrpSpPr>
                    <p:cNvPr id="64717" name="Group 1164"/>
                    <p:cNvGrpSpPr>
                      <a:grpSpLocks/>
                    </p:cNvGrpSpPr>
                    <p:nvPr/>
                  </p:nvGrpSpPr>
                  <p:grpSpPr bwMode="auto">
                    <a:xfrm>
                      <a:off x="3094" y="1727"/>
                      <a:ext cx="70" cy="87"/>
                      <a:chOff x="1164" y="1150"/>
                      <a:chExt cx="244" cy="414"/>
                    </a:xfrm>
                  </p:grpSpPr>
                  <p:sp>
                    <p:nvSpPr>
                      <p:cNvPr id="64748" name="Freeform 116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749" name="Freeform 116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50" name="Freeform 116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51" name="Freeform 116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52" name="Freeform 116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718" name="Group 1170"/>
                    <p:cNvGrpSpPr>
                      <a:grpSpLocks/>
                    </p:cNvGrpSpPr>
                    <p:nvPr/>
                  </p:nvGrpSpPr>
                  <p:grpSpPr bwMode="auto">
                    <a:xfrm>
                      <a:off x="3122" y="1746"/>
                      <a:ext cx="70" cy="87"/>
                      <a:chOff x="1164" y="1150"/>
                      <a:chExt cx="244" cy="414"/>
                    </a:xfrm>
                  </p:grpSpPr>
                  <p:sp>
                    <p:nvSpPr>
                      <p:cNvPr id="64743" name="Freeform 1171"/>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744" name="Freeform 1172"/>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45" name="Freeform 1173"/>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46" name="Freeform 1174"/>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47" name="Freeform 1175"/>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719" name="Group 1176"/>
                    <p:cNvGrpSpPr>
                      <a:grpSpLocks/>
                    </p:cNvGrpSpPr>
                    <p:nvPr/>
                  </p:nvGrpSpPr>
                  <p:grpSpPr bwMode="auto">
                    <a:xfrm>
                      <a:off x="3153" y="1768"/>
                      <a:ext cx="70" cy="87"/>
                      <a:chOff x="1164" y="1150"/>
                      <a:chExt cx="244" cy="414"/>
                    </a:xfrm>
                  </p:grpSpPr>
                  <p:sp>
                    <p:nvSpPr>
                      <p:cNvPr id="64738" name="Freeform 1177"/>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739" name="Freeform 1178"/>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40" name="Freeform 1179"/>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41" name="Freeform 1180"/>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42" name="Freeform 1181"/>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720" name="Group 1182"/>
                    <p:cNvGrpSpPr>
                      <a:grpSpLocks/>
                    </p:cNvGrpSpPr>
                    <p:nvPr/>
                  </p:nvGrpSpPr>
                  <p:grpSpPr bwMode="auto">
                    <a:xfrm>
                      <a:off x="3184" y="1793"/>
                      <a:ext cx="70" cy="87"/>
                      <a:chOff x="1164" y="1150"/>
                      <a:chExt cx="244" cy="414"/>
                    </a:xfrm>
                  </p:grpSpPr>
                  <p:sp>
                    <p:nvSpPr>
                      <p:cNvPr id="64733" name="Freeform 1183"/>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734" name="Freeform 1184"/>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35" name="Freeform 1185"/>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36" name="Freeform 1186"/>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37" name="Freeform 1187"/>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721" name="Group 1188"/>
                    <p:cNvGrpSpPr>
                      <a:grpSpLocks/>
                    </p:cNvGrpSpPr>
                    <p:nvPr/>
                  </p:nvGrpSpPr>
                  <p:grpSpPr bwMode="auto">
                    <a:xfrm>
                      <a:off x="3212" y="1809"/>
                      <a:ext cx="70" cy="87"/>
                      <a:chOff x="1164" y="1150"/>
                      <a:chExt cx="244" cy="414"/>
                    </a:xfrm>
                  </p:grpSpPr>
                  <p:sp>
                    <p:nvSpPr>
                      <p:cNvPr id="64728" name="Freeform 1189"/>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729" name="Freeform 1190"/>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30" name="Freeform 1191"/>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31" name="Freeform 1192"/>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32" name="Freeform 1193"/>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722" name="Group 1194"/>
                    <p:cNvGrpSpPr>
                      <a:grpSpLocks/>
                    </p:cNvGrpSpPr>
                    <p:nvPr/>
                  </p:nvGrpSpPr>
                  <p:grpSpPr bwMode="auto">
                    <a:xfrm>
                      <a:off x="3240" y="1825"/>
                      <a:ext cx="70" cy="87"/>
                      <a:chOff x="1164" y="1150"/>
                      <a:chExt cx="244" cy="414"/>
                    </a:xfrm>
                  </p:grpSpPr>
                  <p:sp>
                    <p:nvSpPr>
                      <p:cNvPr id="64723" name="Freeform 119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724" name="Freeform 119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25" name="Freeform 119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26" name="Freeform 119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27" name="Freeform 119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64692" name="Group 1200"/>
                  <p:cNvGrpSpPr>
                    <a:grpSpLocks/>
                  </p:cNvGrpSpPr>
                  <p:nvPr/>
                </p:nvGrpSpPr>
                <p:grpSpPr bwMode="auto">
                  <a:xfrm>
                    <a:off x="3269" y="1839"/>
                    <a:ext cx="160" cy="153"/>
                    <a:chOff x="3269" y="1839"/>
                    <a:chExt cx="160" cy="153"/>
                  </a:xfrm>
                </p:grpSpPr>
                <p:grpSp>
                  <p:nvGrpSpPr>
                    <p:cNvPr id="64693" name="Group 1201"/>
                    <p:cNvGrpSpPr>
                      <a:grpSpLocks/>
                    </p:cNvGrpSpPr>
                    <p:nvPr/>
                  </p:nvGrpSpPr>
                  <p:grpSpPr bwMode="auto">
                    <a:xfrm>
                      <a:off x="3269" y="1839"/>
                      <a:ext cx="70" cy="87"/>
                      <a:chOff x="1164" y="1150"/>
                      <a:chExt cx="244" cy="414"/>
                    </a:xfrm>
                  </p:grpSpPr>
                  <p:sp>
                    <p:nvSpPr>
                      <p:cNvPr id="64712" name="Freeform 1202"/>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713" name="Freeform 1203"/>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14" name="Freeform 1204"/>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15" name="Freeform 1205"/>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16" name="Freeform 1206"/>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694" name="Group 1207"/>
                    <p:cNvGrpSpPr>
                      <a:grpSpLocks/>
                    </p:cNvGrpSpPr>
                    <p:nvPr/>
                  </p:nvGrpSpPr>
                  <p:grpSpPr bwMode="auto">
                    <a:xfrm>
                      <a:off x="3297" y="1858"/>
                      <a:ext cx="70" cy="87"/>
                      <a:chOff x="1164" y="1150"/>
                      <a:chExt cx="244" cy="414"/>
                    </a:xfrm>
                  </p:grpSpPr>
                  <p:sp>
                    <p:nvSpPr>
                      <p:cNvPr id="64707" name="Freeform 1208"/>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708" name="Freeform 1209"/>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09" name="Freeform 1210"/>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10" name="Freeform 1211"/>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11" name="Freeform 1212"/>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695" name="Group 1213"/>
                    <p:cNvGrpSpPr>
                      <a:grpSpLocks/>
                    </p:cNvGrpSpPr>
                    <p:nvPr/>
                  </p:nvGrpSpPr>
                  <p:grpSpPr bwMode="auto">
                    <a:xfrm>
                      <a:off x="3328" y="1880"/>
                      <a:ext cx="70" cy="87"/>
                      <a:chOff x="1164" y="1150"/>
                      <a:chExt cx="244" cy="414"/>
                    </a:xfrm>
                  </p:grpSpPr>
                  <p:sp>
                    <p:nvSpPr>
                      <p:cNvPr id="64702" name="Freeform 1214"/>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703" name="Freeform 1215"/>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04" name="Freeform 1216"/>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05" name="Freeform 1217"/>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06" name="Freeform 1218"/>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696" name="Group 1219"/>
                    <p:cNvGrpSpPr>
                      <a:grpSpLocks/>
                    </p:cNvGrpSpPr>
                    <p:nvPr/>
                  </p:nvGrpSpPr>
                  <p:grpSpPr bwMode="auto">
                    <a:xfrm>
                      <a:off x="3359" y="1905"/>
                      <a:ext cx="70" cy="87"/>
                      <a:chOff x="1164" y="1150"/>
                      <a:chExt cx="244" cy="414"/>
                    </a:xfrm>
                  </p:grpSpPr>
                  <p:sp>
                    <p:nvSpPr>
                      <p:cNvPr id="64697" name="Freeform 1220"/>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698" name="Freeform 1221"/>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99" name="Freeform 1222"/>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00" name="Freeform 1223"/>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701" name="Freeform 1224"/>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grpSp>
              <p:nvGrpSpPr>
                <p:cNvPr id="64640" name="Group 1225"/>
                <p:cNvGrpSpPr>
                  <a:grpSpLocks/>
                </p:cNvGrpSpPr>
                <p:nvPr/>
              </p:nvGrpSpPr>
              <p:grpSpPr bwMode="auto">
                <a:xfrm>
                  <a:off x="3067" y="1772"/>
                  <a:ext cx="273" cy="218"/>
                  <a:chOff x="3067" y="1772"/>
                  <a:chExt cx="273" cy="218"/>
                </a:xfrm>
              </p:grpSpPr>
              <p:grpSp>
                <p:nvGrpSpPr>
                  <p:cNvPr id="64641" name="Group 1226"/>
                  <p:cNvGrpSpPr>
                    <a:grpSpLocks/>
                  </p:cNvGrpSpPr>
                  <p:nvPr/>
                </p:nvGrpSpPr>
                <p:grpSpPr bwMode="auto">
                  <a:xfrm>
                    <a:off x="3067" y="1772"/>
                    <a:ext cx="216" cy="185"/>
                    <a:chOff x="3067" y="1772"/>
                    <a:chExt cx="216" cy="185"/>
                  </a:xfrm>
                </p:grpSpPr>
                <p:grpSp>
                  <p:nvGrpSpPr>
                    <p:cNvPr id="64655" name="Group 1227"/>
                    <p:cNvGrpSpPr>
                      <a:grpSpLocks/>
                    </p:cNvGrpSpPr>
                    <p:nvPr/>
                  </p:nvGrpSpPr>
                  <p:grpSpPr bwMode="auto">
                    <a:xfrm>
                      <a:off x="3067" y="1772"/>
                      <a:ext cx="70" cy="87"/>
                      <a:chOff x="1164" y="1150"/>
                      <a:chExt cx="244" cy="414"/>
                    </a:xfrm>
                  </p:grpSpPr>
                  <p:sp>
                    <p:nvSpPr>
                      <p:cNvPr id="64686" name="Freeform 1228"/>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687" name="Freeform 1229"/>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88" name="Freeform 1230"/>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89" name="Freeform 1231"/>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90" name="Freeform 1232"/>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656" name="Group 1233"/>
                    <p:cNvGrpSpPr>
                      <a:grpSpLocks/>
                    </p:cNvGrpSpPr>
                    <p:nvPr/>
                  </p:nvGrpSpPr>
                  <p:grpSpPr bwMode="auto">
                    <a:xfrm>
                      <a:off x="3095" y="1791"/>
                      <a:ext cx="70" cy="87"/>
                      <a:chOff x="1164" y="1150"/>
                      <a:chExt cx="244" cy="414"/>
                    </a:xfrm>
                  </p:grpSpPr>
                  <p:sp>
                    <p:nvSpPr>
                      <p:cNvPr id="64681" name="Freeform 1234"/>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682" name="Freeform 1235"/>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83" name="Freeform 1236"/>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84" name="Freeform 1237"/>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85" name="Freeform 1238"/>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657" name="Group 1239"/>
                    <p:cNvGrpSpPr>
                      <a:grpSpLocks/>
                    </p:cNvGrpSpPr>
                    <p:nvPr/>
                  </p:nvGrpSpPr>
                  <p:grpSpPr bwMode="auto">
                    <a:xfrm>
                      <a:off x="3126" y="1813"/>
                      <a:ext cx="70" cy="87"/>
                      <a:chOff x="1164" y="1150"/>
                      <a:chExt cx="244" cy="414"/>
                    </a:xfrm>
                  </p:grpSpPr>
                  <p:sp>
                    <p:nvSpPr>
                      <p:cNvPr id="64676" name="Freeform 1240"/>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677" name="Freeform 1241"/>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78" name="Freeform 1242"/>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79" name="Freeform 1243"/>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80" name="Freeform 1244"/>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658" name="Group 1245"/>
                    <p:cNvGrpSpPr>
                      <a:grpSpLocks/>
                    </p:cNvGrpSpPr>
                    <p:nvPr/>
                  </p:nvGrpSpPr>
                  <p:grpSpPr bwMode="auto">
                    <a:xfrm>
                      <a:off x="3157" y="1838"/>
                      <a:ext cx="70" cy="87"/>
                      <a:chOff x="1164" y="1150"/>
                      <a:chExt cx="244" cy="414"/>
                    </a:xfrm>
                  </p:grpSpPr>
                  <p:sp>
                    <p:nvSpPr>
                      <p:cNvPr id="64671" name="Freeform 1246"/>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672" name="Freeform 1247"/>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73" name="Freeform 1248"/>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74" name="Freeform 1249"/>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75" name="Freeform 1250"/>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659" name="Group 1251"/>
                    <p:cNvGrpSpPr>
                      <a:grpSpLocks/>
                    </p:cNvGrpSpPr>
                    <p:nvPr/>
                  </p:nvGrpSpPr>
                  <p:grpSpPr bwMode="auto">
                    <a:xfrm>
                      <a:off x="3185" y="1854"/>
                      <a:ext cx="70" cy="87"/>
                      <a:chOff x="1164" y="1150"/>
                      <a:chExt cx="244" cy="414"/>
                    </a:xfrm>
                  </p:grpSpPr>
                  <p:sp>
                    <p:nvSpPr>
                      <p:cNvPr id="64666" name="Freeform 1252"/>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667" name="Freeform 1253"/>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68" name="Freeform 1254"/>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69" name="Freeform 1255"/>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70" name="Freeform 1256"/>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660" name="Group 1257"/>
                    <p:cNvGrpSpPr>
                      <a:grpSpLocks/>
                    </p:cNvGrpSpPr>
                    <p:nvPr/>
                  </p:nvGrpSpPr>
                  <p:grpSpPr bwMode="auto">
                    <a:xfrm>
                      <a:off x="3213" y="1870"/>
                      <a:ext cx="70" cy="87"/>
                      <a:chOff x="1164" y="1150"/>
                      <a:chExt cx="244" cy="414"/>
                    </a:xfrm>
                  </p:grpSpPr>
                  <p:sp>
                    <p:nvSpPr>
                      <p:cNvPr id="64661" name="Freeform 1258"/>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662" name="Freeform 1259"/>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63" name="Freeform 1260"/>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64" name="Freeform 1261"/>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65" name="Freeform 1262"/>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64642" name="Group 1263"/>
                  <p:cNvGrpSpPr>
                    <a:grpSpLocks/>
                  </p:cNvGrpSpPr>
                  <p:nvPr/>
                </p:nvGrpSpPr>
                <p:grpSpPr bwMode="auto">
                  <a:xfrm>
                    <a:off x="3242" y="1884"/>
                    <a:ext cx="98" cy="106"/>
                    <a:chOff x="3242" y="1884"/>
                    <a:chExt cx="98" cy="106"/>
                  </a:xfrm>
                </p:grpSpPr>
                <p:grpSp>
                  <p:nvGrpSpPr>
                    <p:cNvPr id="64643" name="Group 1264"/>
                    <p:cNvGrpSpPr>
                      <a:grpSpLocks/>
                    </p:cNvGrpSpPr>
                    <p:nvPr/>
                  </p:nvGrpSpPr>
                  <p:grpSpPr bwMode="auto">
                    <a:xfrm>
                      <a:off x="3242" y="1884"/>
                      <a:ext cx="70" cy="87"/>
                      <a:chOff x="1164" y="1150"/>
                      <a:chExt cx="244" cy="414"/>
                    </a:xfrm>
                  </p:grpSpPr>
                  <p:sp>
                    <p:nvSpPr>
                      <p:cNvPr id="64650" name="Freeform 126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651" name="Freeform 126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52" name="Freeform 126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53" name="Freeform 126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54" name="Freeform 126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644" name="Group 1270"/>
                    <p:cNvGrpSpPr>
                      <a:grpSpLocks/>
                    </p:cNvGrpSpPr>
                    <p:nvPr/>
                  </p:nvGrpSpPr>
                  <p:grpSpPr bwMode="auto">
                    <a:xfrm>
                      <a:off x="3270" y="1903"/>
                      <a:ext cx="70" cy="87"/>
                      <a:chOff x="1164" y="1150"/>
                      <a:chExt cx="244" cy="414"/>
                    </a:xfrm>
                  </p:grpSpPr>
                  <p:sp>
                    <p:nvSpPr>
                      <p:cNvPr id="64645" name="Freeform 1271"/>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646" name="Freeform 1272"/>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47" name="Freeform 1273"/>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48" name="Freeform 1274"/>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49" name="Freeform 1275"/>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grpSp>
          <p:sp>
            <p:nvSpPr>
              <p:cNvPr id="64632" name="Text Box 1276"/>
              <p:cNvSpPr txBox="1">
                <a:spLocks noChangeArrowheads="1"/>
              </p:cNvSpPr>
              <p:nvPr/>
            </p:nvSpPr>
            <p:spPr bwMode="auto">
              <a:xfrm>
                <a:off x="3736" y="1450"/>
                <a:ext cx="1086" cy="192"/>
              </a:xfrm>
              <a:prstGeom prst="rect">
                <a:avLst/>
              </a:prstGeom>
              <a:noFill/>
              <a:ln w="9525">
                <a:noFill/>
                <a:miter lim="800000"/>
                <a:headEnd/>
                <a:tailEnd/>
              </a:ln>
            </p:spPr>
            <p:txBody>
              <a:bodyPr>
                <a:spAutoFit/>
              </a:bodyPr>
              <a:lstStyle/>
              <a:p>
                <a:pPr>
                  <a:buFontTx/>
                  <a:buChar char="•"/>
                </a:pPr>
                <a:r>
                  <a:rPr lang="en-AU" sz="1400" i="0">
                    <a:solidFill>
                      <a:srgbClr val="0000FF"/>
                    </a:solidFill>
                  </a:rPr>
                  <a:t> land-use</a:t>
                </a:r>
                <a:endParaRPr lang="en-US" sz="1400" i="0">
                  <a:solidFill>
                    <a:srgbClr val="0000FF"/>
                  </a:solidFill>
                </a:endParaRPr>
              </a:p>
            </p:txBody>
          </p:sp>
          <p:sp>
            <p:nvSpPr>
              <p:cNvPr id="64633" name="Line 1277"/>
              <p:cNvSpPr>
                <a:spLocks noChangeShapeType="1"/>
              </p:cNvSpPr>
              <p:nvPr/>
            </p:nvSpPr>
            <p:spPr bwMode="auto">
              <a:xfrm>
                <a:off x="3462" y="1554"/>
                <a:ext cx="0" cy="216"/>
              </a:xfrm>
              <a:prstGeom prst="line">
                <a:avLst/>
              </a:prstGeom>
              <a:noFill/>
              <a:ln w="9525">
                <a:solidFill>
                  <a:srgbClr val="000000"/>
                </a:solidFill>
                <a:round/>
                <a:headEnd/>
                <a:tailEnd type="triangle" w="med" len="med"/>
              </a:ln>
            </p:spPr>
            <p:txBody>
              <a:bodyPr/>
              <a:lstStyle/>
              <a:p>
                <a:endParaRPr lang="en-US"/>
              </a:p>
            </p:txBody>
          </p:sp>
          <p:sp>
            <p:nvSpPr>
              <p:cNvPr id="64634" name="Line 1278"/>
              <p:cNvSpPr>
                <a:spLocks noChangeShapeType="1"/>
              </p:cNvSpPr>
              <p:nvPr/>
            </p:nvSpPr>
            <p:spPr bwMode="auto">
              <a:xfrm>
                <a:off x="3462" y="1554"/>
                <a:ext cx="306" cy="0"/>
              </a:xfrm>
              <a:prstGeom prst="line">
                <a:avLst/>
              </a:prstGeom>
              <a:noFill/>
              <a:ln w="9525">
                <a:solidFill>
                  <a:srgbClr val="000000"/>
                </a:solidFill>
                <a:round/>
                <a:headEnd/>
                <a:tailEnd/>
              </a:ln>
            </p:spPr>
            <p:txBody>
              <a:bodyPr/>
              <a:lstStyle/>
              <a:p>
                <a:endParaRPr lang="en-US"/>
              </a:p>
            </p:txBody>
          </p:sp>
        </p:grpSp>
      </p:grpSp>
      <p:sp>
        <p:nvSpPr>
          <p:cNvPr id="64520" name="AutoShape 1279"/>
          <p:cNvSpPr>
            <a:spLocks noChangeArrowheads="1"/>
          </p:cNvSpPr>
          <p:nvPr/>
        </p:nvSpPr>
        <p:spPr bwMode="auto">
          <a:xfrm rot="-5400000">
            <a:off x="2190750" y="3360738"/>
            <a:ext cx="381000" cy="247650"/>
          </a:xfrm>
          <a:custGeom>
            <a:avLst/>
            <a:gdLst>
              <a:gd name="T0" fmla="*/ 272150 w 21600"/>
              <a:gd name="T1" fmla="*/ 0 h 21600"/>
              <a:gd name="T2" fmla="*/ 163283 w 21600"/>
              <a:gd name="T3" fmla="*/ 82550 h 21600"/>
              <a:gd name="T4" fmla="*/ 0 w 21600"/>
              <a:gd name="T5" fmla="*/ 206386 h 21600"/>
              <a:gd name="T6" fmla="*/ 163283 w 21600"/>
              <a:gd name="T7" fmla="*/ 247650 h 21600"/>
              <a:gd name="T8" fmla="*/ 326566 w 21600"/>
              <a:gd name="T9" fmla="*/ 171979 h 21600"/>
              <a:gd name="T10" fmla="*/ 381000 w 21600"/>
              <a:gd name="T11" fmla="*/ 82550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rgbClr val="99CCFF"/>
          </a:solidFill>
          <a:ln w="9525">
            <a:solidFill>
              <a:srgbClr val="000000"/>
            </a:solidFill>
            <a:miter lim="800000"/>
            <a:headEnd/>
            <a:tailEnd/>
          </a:ln>
        </p:spPr>
        <p:txBody>
          <a:bodyPr wrap="none" anchor="ctr"/>
          <a:lstStyle/>
          <a:p>
            <a:endParaRPr lang="en-US"/>
          </a:p>
        </p:txBody>
      </p:sp>
      <p:grpSp>
        <p:nvGrpSpPr>
          <p:cNvPr id="64521" name="Group 1280"/>
          <p:cNvGrpSpPr>
            <a:grpSpLocks/>
          </p:cNvGrpSpPr>
          <p:nvPr/>
        </p:nvGrpSpPr>
        <p:grpSpPr bwMode="auto">
          <a:xfrm>
            <a:off x="2063750" y="5033963"/>
            <a:ext cx="4187825" cy="1308100"/>
            <a:chOff x="1600" y="2878"/>
            <a:chExt cx="2638" cy="824"/>
          </a:xfrm>
        </p:grpSpPr>
        <p:grpSp>
          <p:nvGrpSpPr>
            <p:cNvPr id="64625" name="Group 1281"/>
            <p:cNvGrpSpPr>
              <a:grpSpLocks/>
            </p:cNvGrpSpPr>
            <p:nvPr/>
          </p:nvGrpSpPr>
          <p:grpSpPr bwMode="auto">
            <a:xfrm>
              <a:off x="1600" y="2887"/>
              <a:ext cx="2638" cy="815"/>
              <a:chOff x="1156" y="2887"/>
              <a:chExt cx="2638" cy="815"/>
            </a:xfrm>
          </p:grpSpPr>
          <p:sp>
            <p:nvSpPr>
              <p:cNvPr id="64627" name="Rectangle 1282"/>
              <p:cNvSpPr>
                <a:spLocks noChangeArrowheads="1"/>
              </p:cNvSpPr>
              <p:nvPr/>
            </p:nvSpPr>
            <p:spPr bwMode="auto">
              <a:xfrm>
                <a:off x="1156" y="3203"/>
                <a:ext cx="2450" cy="499"/>
              </a:xfrm>
              <a:prstGeom prst="rect">
                <a:avLst/>
              </a:prstGeom>
              <a:solidFill>
                <a:srgbClr val="99CCFF"/>
              </a:solid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4628" name="Freeform 1283"/>
              <p:cNvSpPr>
                <a:spLocks/>
              </p:cNvSpPr>
              <p:nvPr/>
            </p:nvSpPr>
            <p:spPr bwMode="auto">
              <a:xfrm>
                <a:off x="1157" y="2887"/>
                <a:ext cx="2637" cy="317"/>
              </a:xfrm>
              <a:custGeom>
                <a:avLst/>
                <a:gdLst>
                  <a:gd name="T0" fmla="*/ 0 w 2637"/>
                  <a:gd name="T1" fmla="*/ 316 h 317"/>
                  <a:gd name="T2" fmla="*/ 175 w 2637"/>
                  <a:gd name="T3" fmla="*/ 0 h 317"/>
                  <a:gd name="T4" fmla="*/ 2637 w 2637"/>
                  <a:gd name="T5" fmla="*/ 0 h 317"/>
                  <a:gd name="T6" fmla="*/ 2450 w 2637"/>
                  <a:gd name="T7" fmla="*/ 317 h 317"/>
                  <a:gd name="T8" fmla="*/ 0 w 2637"/>
                  <a:gd name="T9" fmla="*/ 316 h 317"/>
                  <a:gd name="T10" fmla="*/ 0 60000 65536"/>
                  <a:gd name="T11" fmla="*/ 0 60000 65536"/>
                  <a:gd name="T12" fmla="*/ 0 60000 65536"/>
                  <a:gd name="T13" fmla="*/ 0 60000 65536"/>
                  <a:gd name="T14" fmla="*/ 0 60000 65536"/>
                  <a:gd name="T15" fmla="*/ 0 w 2637"/>
                  <a:gd name="T16" fmla="*/ 0 h 317"/>
                  <a:gd name="T17" fmla="*/ 2637 w 2637"/>
                  <a:gd name="T18" fmla="*/ 317 h 317"/>
                </a:gdLst>
                <a:ahLst/>
                <a:cxnLst>
                  <a:cxn ang="T10">
                    <a:pos x="T0" y="T1"/>
                  </a:cxn>
                  <a:cxn ang="T11">
                    <a:pos x="T2" y="T3"/>
                  </a:cxn>
                  <a:cxn ang="T12">
                    <a:pos x="T4" y="T5"/>
                  </a:cxn>
                  <a:cxn ang="T13">
                    <a:pos x="T6" y="T7"/>
                  </a:cxn>
                  <a:cxn ang="T14">
                    <a:pos x="T8" y="T9"/>
                  </a:cxn>
                </a:cxnLst>
                <a:rect l="T15" t="T16" r="T17" b="T18"/>
                <a:pathLst>
                  <a:path w="2637" h="317">
                    <a:moveTo>
                      <a:pt x="0" y="316"/>
                    </a:moveTo>
                    <a:lnTo>
                      <a:pt x="175" y="0"/>
                    </a:lnTo>
                    <a:lnTo>
                      <a:pt x="2637" y="0"/>
                    </a:lnTo>
                    <a:lnTo>
                      <a:pt x="2450" y="317"/>
                    </a:lnTo>
                    <a:lnTo>
                      <a:pt x="0" y="316"/>
                    </a:lnTo>
                    <a:close/>
                  </a:path>
                </a:pathLst>
              </a:custGeom>
              <a:solidFill>
                <a:srgbClr val="99CCFF"/>
              </a:solidFill>
              <a:ln w="9525">
                <a:solidFill>
                  <a:srgbClr val="000000"/>
                </a:solidFill>
                <a:round/>
                <a:headEnd/>
                <a:tailEnd/>
              </a:ln>
            </p:spPr>
            <p:txBody>
              <a:bodyPr/>
              <a:lstStyle/>
              <a:p>
                <a:endParaRPr lang="en-US"/>
              </a:p>
            </p:txBody>
          </p:sp>
        </p:grpSp>
        <p:sp>
          <p:nvSpPr>
            <p:cNvPr id="64626" name="Freeform 1284"/>
            <p:cNvSpPr>
              <a:spLocks/>
            </p:cNvSpPr>
            <p:nvPr/>
          </p:nvSpPr>
          <p:spPr bwMode="auto">
            <a:xfrm>
              <a:off x="4052" y="2878"/>
              <a:ext cx="182" cy="816"/>
            </a:xfrm>
            <a:custGeom>
              <a:avLst/>
              <a:gdLst>
                <a:gd name="T0" fmla="*/ 0 w 182"/>
                <a:gd name="T1" fmla="*/ 816 h 816"/>
                <a:gd name="T2" fmla="*/ 0 w 182"/>
                <a:gd name="T3" fmla="*/ 317 h 816"/>
                <a:gd name="T4" fmla="*/ 182 w 182"/>
                <a:gd name="T5" fmla="*/ 0 h 816"/>
                <a:gd name="T6" fmla="*/ 182 w 182"/>
                <a:gd name="T7" fmla="*/ 499 h 816"/>
                <a:gd name="T8" fmla="*/ 0 w 182"/>
                <a:gd name="T9" fmla="*/ 816 h 816"/>
                <a:gd name="T10" fmla="*/ 0 60000 65536"/>
                <a:gd name="T11" fmla="*/ 0 60000 65536"/>
                <a:gd name="T12" fmla="*/ 0 60000 65536"/>
                <a:gd name="T13" fmla="*/ 0 60000 65536"/>
                <a:gd name="T14" fmla="*/ 0 60000 65536"/>
                <a:gd name="T15" fmla="*/ 0 w 182"/>
                <a:gd name="T16" fmla="*/ 0 h 816"/>
                <a:gd name="T17" fmla="*/ 182 w 182"/>
                <a:gd name="T18" fmla="*/ 816 h 816"/>
              </a:gdLst>
              <a:ahLst/>
              <a:cxnLst>
                <a:cxn ang="T10">
                  <a:pos x="T0" y="T1"/>
                </a:cxn>
                <a:cxn ang="T11">
                  <a:pos x="T2" y="T3"/>
                </a:cxn>
                <a:cxn ang="T12">
                  <a:pos x="T4" y="T5"/>
                </a:cxn>
                <a:cxn ang="T13">
                  <a:pos x="T6" y="T7"/>
                </a:cxn>
                <a:cxn ang="T14">
                  <a:pos x="T8" y="T9"/>
                </a:cxn>
              </a:cxnLst>
              <a:rect l="T15" t="T16" r="T17" b="T18"/>
              <a:pathLst>
                <a:path w="182" h="816">
                  <a:moveTo>
                    <a:pt x="0" y="816"/>
                  </a:moveTo>
                  <a:lnTo>
                    <a:pt x="0" y="317"/>
                  </a:lnTo>
                  <a:lnTo>
                    <a:pt x="182" y="0"/>
                  </a:lnTo>
                  <a:lnTo>
                    <a:pt x="182" y="499"/>
                  </a:lnTo>
                  <a:lnTo>
                    <a:pt x="0" y="816"/>
                  </a:lnTo>
                  <a:close/>
                </a:path>
              </a:pathLst>
            </a:custGeom>
            <a:solidFill>
              <a:srgbClr val="99CCFF"/>
            </a:solidFill>
            <a:ln w="9525">
              <a:solidFill>
                <a:srgbClr val="000000"/>
              </a:solidFill>
              <a:round/>
              <a:headEnd/>
              <a:tailEnd/>
            </a:ln>
          </p:spPr>
          <p:txBody>
            <a:bodyPr/>
            <a:lstStyle/>
            <a:p>
              <a:endParaRPr lang="en-US"/>
            </a:p>
          </p:txBody>
        </p:sp>
      </p:grpSp>
      <p:grpSp>
        <p:nvGrpSpPr>
          <p:cNvPr id="64522" name="Group 1285"/>
          <p:cNvGrpSpPr>
            <a:grpSpLocks/>
          </p:cNvGrpSpPr>
          <p:nvPr/>
        </p:nvGrpSpPr>
        <p:grpSpPr bwMode="auto">
          <a:xfrm>
            <a:off x="1438275" y="2251075"/>
            <a:ext cx="2813050" cy="3938588"/>
            <a:chOff x="1206" y="1125"/>
            <a:chExt cx="1772" cy="2481"/>
          </a:xfrm>
        </p:grpSpPr>
        <p:grpSp>
          <p:nvGrpSpPr>
            <p:cNvPr id="64576" name="Group 1286"/>
            <p:cNvGrpSpPr>
              <a:grpSpLocks/>
            </p:cNvGrpSpPr>
            <p:nvPr/>
          </p:nvGrpSpPr>
          <p:grpSpPr bwMode="auto">
            <a:xfrm>
              <a:off x="1323" y="1125"/>
              <a:ext cx="1655" cy="1716"/>
              <a:chOff x="879" y="1125"/>
              <a:chExt cx="1655" cy="1716"/>
            </a:xfrm>
          </p:grpSpPr>
          <p:grpSp>
            <p:nvGrpSpPr>
              <p:cNvPr id="64580" name="Group 1287"/>
              <p:cNvGrpSpPr>
                <a:grpSpLocks/>
              </p:cNvGrpSpPr>
              <p:nvPr/>
            </p:nvGrpSpPr>
            <p:grpSpPr bwMode="auto">
              <a:xfrm>
                <a:off x="1474" y="1661"/>
                <a:ext cx="726" cy="817"/>
                <a:chOff x="1474" y="1661"/>
                <a:chExt cx="544" cy="680"/>
              </a:xfrm>
            </p:grpSpPr>
            <p:sp>
              <p:nvSpPr>
                <p:cNvPr id="64621" name="Rectangle 1288"/>
                <p:cNvSpPr>
                  <a:spLocks noChangeArrowheads="1"/>
                </p:cNvSpPr>
                <p:nvPr/>
              </p:nvSpPr>
              <p:spPr bwMode="auto">
                <a:xfrm>
                  <a:off x="1474" y="1933"/>
                  <a:ext cx="408" cy="408"/>
                </a:xfrm>
                <a:prstGeom prst="rect">
                  <a:avLst/>
                </a:prstGeom>
                <a:no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4622" name="AutoShape 1289"/>
                <p:cNvSpPr>
                  <a:spLocks noChangeArrowheads="1"/>
                </p:cNvSpPr>
                <p:nvPr/>
              </p:nvSpPr>
              <p:spPr bwMode="auto">
                <a:xfrm>
                  <a:off x="1474" y="1661"/>
                  <a:ext cx="544" cy="272"/>
                </a:xfrm>
                <a:prstGeom prst="parallelogram">
                  <a:avLst>
                    <a:gd name="adj" fmla="val 50000"/>
                  </a:avLst>
                </a:prstGeom>
                <a:no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4623" name="Line 1290"/>
                <p:cNvSpPr>
                  <a:spLocks noChangeShapeType="1"/>
                </p:cNvSpPr>
                <p:nvPr/>
              </p:nvSpPr>
              <p:spPr bwMode="auto">
                <a:xfrm flipV="1">
                  <a:off x="1882" y="2069"/>
                  <a:ext cx="136" cy="272"/>
                </a:xfrm>
                <a:prstGeom prst="line">
                  <a:avLst/>
                </a:prstGeom>
                <a:noFill/>
                <a:ln w="9525">
                  <a:solidFill>
                    <a:srgbClr val="000000"/>
                  </a:solidFill>
                  <a:round/>
                  <a:headEnd/>
                  <a:tailEnd/>
                </a:ln>
              </p:spPr>
              <p:txBody>
                <a:bodyPr/>
                <a:lstStyle/>
                <a:p>
                  <a:endParaRPr lang="en-US"/>
                </a:p>
              </p:txBody>
            </p:sp>
            <p:sp>
              <p:nvSpPr>
                <p:cNvPr id="64624" name="Line 1291"/>
                <p:cNvSpPr>
                  <a:spLocks noChangeShapeType="1"/>
                </p:cNvSpPr>
                <p:nvPr/>
              </p:nvSpPr>
              <p:spPr bwMode="auto">
                <a:xfrm>
                  <a:off x="2018" y="1661"/>
                  <a:ext cx="0" cy="408"/>
                </a:xfrm>
                <a:prstGeom prst="line">
                  <a:avLst/>
                </a:prstGeom>
                <a:noFill/>
                <a:ln w="9525">
                  <a:solidFill>
                    <a:srgbClr val="000000"/>
                  </a:solidFill>
                  <a:round/>
                  <a:headEnd/>
                  <a:tailEnd/>
                </a:ln>
              </p:spPr>
              <p:txBody>
                <a:bodyPr/>
                <a:lstStyle/>
                <a:p>
                  <a:endParaRPr lang="en-US"/>
                </a:p>
              </p:txBody>
            </p:sp>
          </p:grpSp>
          <p:grpSp>
            <p:nvGrpSpPr>
              <p:cNvPr id="64581" name="Group 1292"/>
              <p:cNvGrpSpPr>
                <a:grpSpLocks/>
              </p:cNvGrpSpPr>
              <p:nvPr/>
            </p:nvGrpSpPr>
            <p:grpSpPr bwMode="auto">
              <a:xfrm>
                <a:off x="1845" y="1659"/>
                <a:ext cx="318" cy="171"/>
                <a:chOff x="1845" y="1659"/>
                <a:chExt cx="318" cy="171"/>
              </a:xfrm>
            </p:grpSpPr>
            <p:sp>
              <p:nvSpPr>
                <p:cNvPr id="64612" name="Line 1293"/>
                <p:cNvSpPr>
                  <a:spLocks noChangeShapeType="1"/>
                </p:cNvSpPr>
                <p:nvPr/>
              </p:nvSpPr>
              <p:spPr bwMode="auto">
                <a:xfrm>
                  <a:off x="2022" y="1659"/>
                  <a:ext cx="126" cy="87"/>
                </a:xfrm>
                <a:prstGeom prst="line">
                  <a:avLst/>
                </a:prstGeom>
                <a:noFill/>
                <a:ln w="9525">
                  <a:solidFill>
                    <a:srgbClr val="000000"/>
                  </a:solidFill>
                  <a:round/>
                  <a:headEnd/>
                  <a:tailEnd/>
                </a:ln>
              </p:spPr>
              <p:txBody>
                <a:bodyPr/>
                <a:lstStyle/>
                <a:p>
                  <a:endParaRPr lang="en-US"/>
                </a:p>
              </p:txBody>
            </p:sp>
            <p:sp>
              <p:nvSpPr>
                <p:cNvPr id="64613" name="Line 1294"/>
                <p:cNvSpPr>
                  <a:spLocks noChangeShapeType="1"/>
                </p:cNvSpPr>
                <p:nvPr/>
              </p:nvSpPr>
              <p:spPr bwMode="auto">
                <a:xfrm>
                  <a:off x="1974" y="1662"/>
                  <a:ext cx="162" cy="114"/>
                </a:xfrm>
                <a:prstGeom prst="line">
                  <a:avLst/>
                </a:prstGeom>
                <a:noFill/>
                <a:ln w="9525">
                  <a:solidFill>
                    <a:srgbClr val="000000"/>
                  </a:solidFill>
                  <a:round/>
                  <a:headEnd/>
                  <a:tailEnd/>
                </a:ln>
              </p:spPr>
              <p:txBody>
                <a:bodyPr/>
                <a:lstStyle/>
                <a:p>
                  <a:endParaRPr lang="en-US"/>
                </a:p>
              </p:txBody>
            </p:sp>
            <p:sp>
              <p:nvSpPr>
                <p:cNvPr id="64614" name="Line 1295"/>
                <p:cNvSpPr>
                  <a:spLocks noChangeShapeType="1"/>
                </p:cNvSpPr>
                <p:nvPr/>
              </p:nvSpPr>
              <p:spPr bwMode="auto">
                <a:xfrm>
                  <a:off x="1908" y="1662"/>
                  <a:ext cx="213" cy="141"/>
                </a:xfrm>
                <a:prstGeom prst="line">
                  <a:avLst/>
                </a:prstGeom>
                <a:noFill/>
                <a:ln w="9525">
                  <a:solidFill>
                    <a:srgbClr val="000000"/>
                  </a:solidFill>
                  <a:round/>
                  <a:headEnd/>
                  <a:tailEnd/>
                </a:ln>
              </p:spPr>
              <p:txBody>
                <a:bodyPr/>
                <a:lstStyle/>
                <a:p>
                  <a:endParaRPr lang="en-US"/>
                </a:p>
              </p:txBody>
            </p:sp>
            <p:sp>
              <p:nvSpPr>
                <p:cNvPr id="64615" name="Line 1296"/>
                <p:cNvSpPr>
                  <a:spLocks noChangeShapeType="1"/>
                </p:cNvSpPr>
                <p:nvPr/>
              </p:nvSpPr>
              <p:spPr bwMode="auto">
                <a:xfrm>
                  <a:off x="1845" y="1659"/>
                  <a:ext cx="255" cy="171"/>
                </a:xfrm>
                <a:prstGeom prst="line">
                  <a:avLst/>
                </a:prstGeom>
                <a:noFill/>
                <a:ln w="9525">
                  <a:solidFill>
                    <a:srgbClr val="000000"/>
                  </a:solidFill>
                  <a:round/>
                  <a:headEnd/>
                  <a:tailEnd/>
                </a:ln>
              </p:spPr>
              <p:txBody>
                <a:bodyPr/>
                <a:lstStyle/>
                <a:p>
                  <a:endParaRPr lang="en-US"/>
                </a:p>
              </p:txBody>
            </p:sp>
            <p:sp>
              <p:nvSpPr>
                <p:cNvPr id="64616" name="Line 1297"/>
                <p:cNvSpPr>
                  <a:spLocks noChangeShapeType="1"/>
                </p:cNvSpPr>
                <p:nvPr/>
              </p:nvSpPr>
              <p:spPr bwMode="auto">
                <a:xfrm flipV="1">
                  <a:off x="1893" y="1662"/>
                  <a:ext cx="114" cy="51"/>
                </a:xfrm>
                <a:prstGeom prst="line">
                  <a:avLst/>
                </a:prstGeom>
                <a:noFill/>
                <a:ln w="9525">
                  <a:solidFill>
                    <a:srgbClr val="000000"/>
                  </a:solidFill>
                  <a:round/>
                  <a:headEnd/>
                  <a:tailEnd/>
                </a:ln>
              </p:spPr>
              <p:txBody>
                <a:bodyPr/>
                <a:lstStyle/>
                <a:p>
                  <a:endParaRPr lang="en-US"/>
                </a:p>
              </p:txBody>
            </p:sp>
            <p:sp>
              <p:nvSpPr>
                <p:cNvPr id="64617" name="Line 1298"/>
                <p:cNvSpPr>
                  <a:spLocks noChangeShapeType="1"/>
                </p:cNvSpPr>
                <p:nvPr/>
              </p:nvSpPr>
              <p:spPr bwMode="auto">
                <a:xfrm flipV="1">
                  <a:off x="1920" y="1665"/>
                  <a:ext cx="150" cy="75"/>
                </a:xfrm>
                <a:prstGeom prst="line">
                  <a:avLst/>
                </a:prstGeom>
                <a:noFill/>
                <a:ln w="9525">
                  <a:solidFill>
                    <a:srgbClr val="000000"/>
                  </a:solidFill>
                  <a:round/>
                  <a:headEnd/>
                  <a:tailEnd/>
                </a:ln>
              </p:spPr>
              <p:txBody>
                <a:bodyPr/>
                <a:lstStyle/>
                <a:p>
                  <a:endParaRPr lang="en-US"/>
                </a:p>
              </p:txBody>
            </p:sp>
            <p:sp>
              <p:nvSpPr>
                <p:cNvPr id="64618" name="Line 1299"/>
                <p:cNvSpPr>
                  <a:spLocks noChangeShapeType="1"/>
                </p:cNvSpPr>
                <p:nvPr/>
              </p:nvSpPr>
              <p:spPr bwMode="auto">
                <a:xfrm flipV="1">
                  <a:off x="1959" y="1674"/>
                  <a:ext cx="159" cy="87"/>
                </a:xfrm>
                <a:prstGeom prst="line">
                  <a:avLst/>
                </a:prstGeom>
                <a:noFill/>
                <a:ln w="9525">
                  <a:solidFill>
                    <a:srgbClr val="000000"/>
                  </a:solidFill>
                  <a:round/>
                  <a:headEnd/>
                  <a:tailEnd/>
                </a:ln>
              </p:spPr>
              <p:txBody>
                <a:bodyPr/>
                <a:lstStyle/>
                <a:p>
                  <a:endParaRPr lang="en-US"/>
                </a:p>
              </p:txBody>
            </p:sp>
            <p:sp>
              <p:nvSpPr>
                <p:cNvPr id="64619" name="Line 1300"/>
                <p:cNvSpPr>
                  <a:spLocks noChangeShapeType="1"/>
                </p:cNvSpPr>
                <p:nvPr/>
              </p:nvSpPr>
              <p:spPr bwMode="auto">
                <a:xfrm flipV="1">
                  <a:off x="1995" y="1698"/>
                  <a:ext cx="153" cy="87"/>
                </a:xfrm>
                <a:prstGeom prst="line">
                  <a:avLst/>
                </a:prstGeom>
                <a:noFill/>
                <a:ln w="9525">
                  <a:solidFill>
                    <a:srgbClr val="000000"/>
                  </a:solidFill>
                  <a:round/>
                  <a:headEnd/>
                  <a:tailEnd/>
                </a:ln>
              </p:spPr>
              <p:txBody>
                <a:bodyPr/>
                <a:lstStyle/>
                <a:p>
                  <a:endParaRPr lang="en-US"/>
                </a:p>
              </p:txBody>
            </p:sp>
            <p:sp>
              <p:nvSpPr>
                <p:cNvPr id="64620" name="Line 1301"/>
                <p:cNvSpPr>
                  <a:spLocks noChangeShapeType="1"/>
                </p:cNvSpPr>
                <p:nvPr/>
              </p:nvSpPr>
              <p:spPr bwMode="auto">
                <a:xfrm flipV="1">
                  <a:off x="2037" y="1728"/>
                  <a:ext cx="126" cy="78"/>
                </a:xfrm>
                <a:prstGeom prst="line">
                  <a:avLst/>
                </a:prstGeom>
                <a:noFill/>
                <a:ln w="9525">
                  <a:solidFill>
                    <a:srgbClr val="000000"/>
                  </a:solidFill>
                  <a:round/>
                  <a:headEnd/>
                  <a:tailEnd/>
                </a:ln>
              </p:spPr>
              <p:txBody>
                <a:bodyPr/>
                <a:lstStyle/>
                <a:p>
                  <a:endParaRPr lang="en-US"/>
                </a:p>
              </p:txBody>
            </p:sp>
          </p:grpSp>
          <p:grpSp>
            <p:nvGrpSpPr>
              <p:cNvPr id="64582" name="Group 1302"/>
              <p:cNvGrpSpPr>
                <a:grpSpLocks/>
              </p:cNvGrpSpPr>
              <p:nvPr/>
            </p:nvGrpSpPr>
            <p:grpSpPr bwMode="auto">
              <a:xfrm>
                <a:off x="1442" y="1578"/>
                <a:ext cx="244" cy="615"/>
                <a:chOff x="1133" y="1419"/>
                <a:chExt cx="244" cy="615"/>
              </a:xfrm>
            </p:grpSpPr>
            <p:sp>
              <p:nvSpPr>
                <p:cNvPr id="64607" name="Freeform 1303"/>
                <p:cNvSpPr>
                  <a:spLocks/>
                </p:cNvSpPr>
                <p:nvPr/>
              </p:nvSpPr>
              <p:spPr bwMode="auto">
                <a:xfrm>
                  <a:off x="1185" y="1452"/>
                  <a:ext cx="162" cy="582"/>
                </a:xfrm>
                <a:custGeom>
                  <a:avLst/>
                  <a:gdLst>
                    <a:gd name="T0" fmla="*/ 54 w 162"/>
                    <a:gd name="T1" fmla="*/ 582 h 582"/>
                    <a:gd name="T2" fmla="*/ 42 w 162"/>
                    <a:gd name="T3" fmla="*/ 507 h 582"/>
                    <a:gd name="T4" fmla="*/ 51 w 162"/>
                    <a:gd name="T5" fmla="*/ 423 h 582"/>
                    <a:gd name="T6" fmla="*/ 42 w 162"/>
                    <a:gd name="T7" fmla="*/ 390 h 582"/>
                    <a:gd name="T8" fmla="*/ 33 w 162"/>
                    <a:gd name="T9" fmla="*/ 378 h 582"/>
                    <a:gd name="T10" fmla="*/ 48 w 162"/>
                    <a:gd name="T11" fmla="*/ 330 h 582"/>
                    <a:gd name="T12" fmla="*/ 57 w 162"/>
                    <a:gd name="T13" fmla="*/ 297 h 582"/>
                    <a:gd name="T14" fmla="*/ 63 w 162"/>
                    <a:gd name="T15" fmla="*/ 231 h 582"/>
                    <a:gd name="T16" fmla="*/ 57 w 162"/>
                    <a:gd name="T17" fmla="*/ 147 h 582"/>
                    <a:gd name="T18" fmla="*/ 21 w 162"/>
                    <a:gd name="T19" fmla="*/ 99 h 582"/>
                    <a:gd name="T20" fmla="*/ 0 w 162"/>
                    <a:gd name="T21" fmla="*/ 72 h 582"/>
                    <a:gd name="T22" fmla="*/ 54 w 162"/>
                    <a:gd name="T23" fmla="*/ 105 h 582"/>
                    <a:gd name="T24" fmla="*/ 57 w 162"/>
                    <a:gd name="T25" fmla="*/ 87 h 582"/>
                    <a:gd name="T26" fmla="*/ 63 w 162"/>
                    <a:gd name="T27" fmla="*/ 0 h 582"/>
                    <a:gd name="T28" fmla="*/ 78 w 162"/>
                    <a:gd name="T29" fmla="*/ 39 h 582"/>
                    <a:gd name="T30" fmla="*/ 78 w 162"/>
                    <a:gd name="T31" fmla="*/ 126 h 582"/>
                    <a:gd name="T32" fmla="*/ 90 w 162"/>
                    <a:gd name="T33" fmla="*/ 72 h 582"/>
                    <a:gd name="T34" fmla="*/ 108 w 162"/>
                    <a:gd name="T35" fmla="*/ 72 h 582"/>
                    <a:gd name="T36" fmla="*/ 93 w 162"/>
                    <a:gd name="T37" fmla="*/ 135 h 582"/>
                    <a:gd name="T38" fmla="*/ 162 w 162"/>
                    <a:gd name="T39" fmla="*/ 84 h 582"/>
                    <a:gd name="T40" fmla="*/ 153 w 162"/>
                    <a:gd name="T41" fmla="*/ 120 h 582"/>
                    <a:gd name="T42" fmla="*/ 75 w 162"/>
                    <a:gd name="T43" fmla="*/ 165 h 582"/>
                    <a:gd name="T44" fmla="*/ 75 w 162"/>
                    <a:gd name="T45" fmla="*/ 300 h 582"/>
                    <a:gd name="T46" fmla="*/ 99 w 162"/>
                    <a:gd name="T47" fmla="*/ 381 h 582"/>
                    <a:gd name="T48" fmla="*/ 84 w 162"/>
                    <a:gd name="T49" fmla="*/ 414 h 582"/>
                    <a:gd name="T50" fmla="*/ 99 w 162"/>
                    <a:gd name="T51" fmla="*/ 453 h 582"/>
                    <a:gd name="T52" fmla="*/ 135 w 162"/>
                    <a:gd name="T53" fmla="*/ 486 h 582"/>
                    <a:gd name="T54" fmla="*/ 132 w 162"/>
                    <a:gd name="T55" fmla="*/ 510 h 582"/>
                    <a:gd name="T56" fmla="*/ 102 w 162"/>
                    <a:gd name="T57" fmla="*/ 468 h 582"/>
                    <a:gd name="T58" fmla="*/ 69 w 162"/>
                    <a:gd name="T59" fmla="*/ 414 h 582"/>
                    <a:gd name="T60" fmla="*/ 63 w 162"/>
                    <a:gd name="T61" fmla="*/ 456 h 582"/>
                    <a:gd name="T62" fmla="*/ 75 w 162"/>
                    <a:gd name="T63" fmla="*/ 492 h 582"/>
                    <a:gd name="T64" fmla="*/ 96 w 162"/>
                    <a:gd name="T65" fmla="*/ 513 h 582"/>
                    <a:gd name="T66" fmla="*/ 78 w 162"/>
                    <a:gd name="T67" fmla="*/ 519 h 582"/>
                    <a:gd name="T68" fmla="*/ 60 w 162"/>
                    <a:gd name="T69" fmla="*/ 486 h 582"/>
                    <a:gd name="T70" fmla="*/ 54 w 162"/>
                    <a:gd name="T71" fmla="*/ 522 h 582"/>
                    <a:gd name="T72" fmla="*/ 54 w 162"/>
                    <a:gd name="T73" fmla="*/ 582 h 58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2"/>
                    <a:gd name="T112" fmla="*/ 0 h 582"/>
                    <a:gd name="T113" fmla="*/ 162 w 162"/>
                    <a:gd name="T114" fmla="*/ 582 h 58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2" h="582">
                      <a:moveTo>
                        <a:pt x="54" y="582"/>
                      </a:moveTo>
                      <a:lnTo>
                        <a:pt x="42" y="507"/>
                      </a:lnTo>
                      <a:lnTo>
                        <a:pt x="51" y="423"/>
                      </a:lnTo>
                      <a:lnTo>
                        <a:pt x="42" y="390"/>
                      </a:lnTo>
                      <a:lnTo>
                        <a:pt x="33" y="378"/>
                      </a:ln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84" y="414"/>
                      </a:lnTo>
                      <a:lnTo>
                        <a:pt x="99" y="453"/>
                      </a:lnTo>
                      <a:lnTo>
                        <a:pt x="135" y="486"/>
                      </a:lnTo>
                      <a:lnTo>
                        <a:pt x="132" y="510"/>
                      </a:lnTo>
                      <a:lnTo>
                        <a:pt x="102" y="468"/>
                      </a:lnTo>
                      <a:lnTo>
                        <a:pt x="69" y="414"/>
                      </a:lnTo>
                      <a:lnTo>
                        <a:pt x="63" y="456"/>
                      </a:lnTo>
                      <a:lnTo>
                        <a:pt x="75" y="492"/>
                      </a:lnTo>
                      <a:lnTo>
                        <a:pt x="96" y="513"/>
                      </a:lnTo>
                      <a:lnTo>
                        <a:pt x="78" y="519"/>
                      </a:lnTo>
                      <a:lnTo>
                        <a:pt x="60" y="486"/>
                      </a:lnTo>
                      <a:lnTo>
                        <a:pt x="54" y="522"/>
                      </a:lnTo>
                      <a:lnTo>
                        <a:pt x="54" y="582"/>
                      </a:lnTo>
                      <a:close/>
                    </a:path>
                  </a:pathLst>
                </a:custGeom>
                <a:solidFill>
                  <a:srgbClr val="669999"/>
                </a:solidFill>
                <a:ln w="9525">
                  <a:noFill/>
                  <a:round/>
                  <a:headEnd/>
                  <a:tailEnd/>
                </a:ln>
              </p:spPr>
              <p:txBody>
                <a:bodyPr/>
                <a:lstStyle/>
                <a:p>
                  <a:endParaRPr lang="en-US"/>
                </a:p>
              </p:txBody>
            </p:sp>
            <p:sp>
              <p:nvSpPr>
                <p:cNvPr id="64608" name="Freeform 1304"/>
                <p:cNvSpPr>
                  <a:spLocks/>
                </p:cNvSpPr>
                <p:nvPr/>
              </p:nvSpPr>
              <p:spPr bwMode="auto">
                <a:xfrm>
                  <a:off x="1133" y="1484"/>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09" name="Freeform 1305"/>
                <p:cNvSpPr>
                  <a:spLocks/>
                </p:cNvSpPr>
                <p:nvPr/>
              </p:nvSpPr>
              <p:spPr bwMode="auto">
                <a:xfrm>
                  <a:off x="1176" y="1419"/>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10" name="Freeform 1306"/>
                <p:cNvSpPr>
                  <a:spLocks/>
                </p:cNvSpPr>
                <p:nvPr/>
              </p:nvSpPr>
              <p:spPr bwMode="auto">
                <a:xfrm>
                  <a:off x="1249" y="1477"/>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11" name="Freeform 1307"/>
                <p:cNvSpPr>
                  <a:spLocks/>
                </p:cNvSpPr>
                <p:nvPr/>
              </p:nvSpPr>
              <p:spPr bwMode="auto">
                <a:xfrm>
                  <a:off x="1283" y="1547"/>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583" name="Group 1308"/>
              <p:cNvGrpSpPr>
                <a:grpSpLocks/>
              </p:cNvGrpSpPr>
              <p:nvPr/>
            </p:nvGrpSpPr>
            <p:grpSpPr bwMode="auto">
              <a:xfrm>
                <a:off x="1603" y="1388"/>
                <a:ext cx="244" cy="414"/>
                <a:chOff x="1164" y="1150"/>
                <a:chExt cx="244" cy="414"/>
              </a:xfrm>
            </p:grpSpPr>
            <p:sp>
              <p:nvSpPr>
                <p:cNvPr id="64602" name="Freeform 1309"/>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603" name="Freeform 1310"/>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04" name="Freeform 1311"/>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05" name="Freeform 1312"/>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06" name="Freeform 1313"/>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584" name="Group 1314"/>
              <p:cNvGrpSpPr>
                <a:grpSpLocks/>
              </p:cNvGrpSpPr>
              <p:nvPr/>
            </p:nvGrpSpPr>
            <p:grpSpPr bwMode="auto">
              <a:xfrm>
                <a:off x="1595" y="1773"/>
                <a:ext cx="118" cy="183"/>
                <a:chOff x="1164" y="1150"/>
                <a:chExt cx="244" cy="414"/>
              </a:xfrm>
            </p:grpSpPr>
            <p:sp>
              <p:nvSpPr>
                <p:cNvPr id="64597" name="Freeform 131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598" name="Freeform 131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599" name="Freeform 131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00" name="Freeform 131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601" name="Freeform 131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585" name="Group 1320"/>
              <p:cNvGrpSpPr>
                <a:grpSpLocks/>
              </p:cNvGrpSpPr>
              <p:nvPr/>
            </p:nvGrpSpPr>
            <p:grpSpPr bwMode="auto">
              <a:xfrm>
                <a:off x="1683" y="1594"/>
                <a:ext cx="205" cy="342"/>
                <a:chOff x="1164" y="1150"/>
                <a:chExt cx="244" cy="414"/>
              </a:xfrm>
            </p:grpSpPr>
            <p:sp>
              <p:nvSpPr>
                <p:cNvPr id="64592" name="Freeform 1321"/>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593" name="Freeform 1322"/>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594" name="Freeform 1323"/>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595" name="Freeform 1324"/>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596" name="Freeform 1325"/>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sp>
            <p:nvSpPr>
              <p:cNvPr id="64586" name="Text Box 1326"/>
              <p:cNvSpPr txBox="1">
                <a:spLocks noChangeArrowheads="1"/>
              </p:cNvSpPr>
              <p:nvPr/>
            </p:nvSpPr>
            <p:spPr bwMode="auto">
              <a:xfrm>
                <a:off x="1798" y="2488"/>
                <a:ext cx="603" cy="192"/>
              </a:xfrm>
              <a:prstGeom prst="rect">
                <a:avLst/>
              </a:prstGeom>
              <a:noFill/>
              <a:ln w="9525">
                <a:noFill/>
                <a:miter lim="800000"/>
                <a:headEnd/>
                <a:tailEnd/>
              </a:ln>
            </p:spPr>
            <p:txBody>
              <a:bodyPr>
                <a:spAutoFit/>
              </a:bodyPr>
              <a:lstStyle/>
              <a:p>
                <a:pPr>
                  <a:spcBef>
                    <a:spcPct val="50000"/>
                  </a:spcBef>
                </a:pPr>
                <a:r>
                  <a:rPr lang="en-AU" sz="1400" i="0">
                    <a:solidFill>
                      <a:srgbClr val="000000"/>
                    </a:solidFill>
                  </a:rPr>
                  <a:t>Recharge</a:t>
                </a:r>
                <a:endParaRPr lang="en-US" sz="1400" i="0">
                  <a:solidFill>
                    <a:srgbClr val="000000"/>
                  </a:solidFill>
                </a:endParaRPr>
              </a:p>
            </p:txBody>
          </p:sp>
          <p:sp>
            <p:nvSpPr>
              <p:cNvPr id="64587" name="Text Box 1327"/>
              <p:cNvSpPr txBox="1">
                <a:spLocks noChangeArrowheads="1"/>
              </p:cNvSpPr>
              <p:nvPr/>
            </p:nvSpPr>
            <p:spPr bwMode="auto">
              <a:xfrm>
                <a:off x="1931" y="1847"/>
                <a:ext cx="603" cy="326"/>
              </a:xfrm>
              <a:prstGeom prst="rect">
                <a:avLst/>
              </a:prstGeom>
              <a:solidFill>
                <a:srgbClr val="FFFFFF">
                  <a:alpha val="50980"/>
                </a:srgbClr>
              </a:solidFill>
              <a:ln w="9525">
                <a:noFill/>
                <a:miter lim="800000"/>
                <a:headEnd/>
                <a:tailEnd/>
              </a:ln>
            </p:spPr>
            <p:txBody>
              <a:bodyPr>
                <a:spAutoFit/>
              </a:bodyPr>
              <a:lstStyle/>
              <a:p>
                <a:pPr>
                  <a:spcBef>
                    <a:spcPct val="50000"/>
                  </a:spcBef>
                </a:pPr>
                <a:r>
                  <a:rPr lang="en-AU" sz="1400" i="0">
                    <a:solidFill>
                      <a:srgbClr val="000000"/>
                    </a:solidFill>
                  </a:rPr>
                  <a:t>Rainfall Infiltration</a:t>
                </a:r>
                <a:endParaRPr lang="en-US" sz="1400" i="0">
                  <a:solidFill>
                    <a:srgbClr val="000000"/>
                  </a:solidFill>
                </a:endParaRPr>
              </a:p>
            </p:txBody>
          </p:sp>
          <p:sp>
            <p:nvSpPr>
              <p:cNvPr id="64588" name="AutoShape 1328"/>
              <p:cNvSpPr>
                <a:spLocks noChangeArrowheads="1"/>
              </p:cNvSpPr>
              <p:nvPr/>
            </p:nvSpPr>
            <p:spPr bwMode="auto">
              <a:xfrm rot="5400000" flipV="1">
                <a:off x="1794" y="1803"/>
                <a:ext cx="240" cy="279"/>
              </a:xfrm>
              <a:custGeom>
                <a:avLst/>
                <a:gdLst>
                  <a:gd name="T0" fmla="*/ 180 w 21600"/>
                  <a:gd name="T1" fmla="*/ 0 h 21600"/>
                  <a:gd name="T2" fmla="*/ 0 w 21600"/>
                  <a:gd name="T3" fmla="*/ 140 h 21600"/>
                  <a:gd name="T4" fmla="*/ 180 w 21600"/>
                  <a:gd name="T5" fmla="*/ 279 h 21600"/>
                  <a:gd name="T6" fmla="*/ 240 w 21600"/>
                  <a:gd name="T7" fmla="*/ 140 h 21600"/>
                  <a:gd name="T8" fmla="*/ 17694720 60000 65536"/>
                  <a:gd name="T9" fmla="*/ 11796480 60000 65536"/>
                  <a:gd name="T10" fmla="*/ 5898240 60000 65536"/>
                  <a:gd name="T11" fmla="*/ 0 60000 65536"/>
                  <a:gd name="T12" fmla="*/ 3330 w 21600"/>
                  <a:gd name="T13" fmla="*/ 5419 h 21600"/>
                  <a:gd name="T14" fmla="*/ 18900 w 21600"/>
                  <a:gd name="T15" fmla="*/ 16181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00CCFF"/>
              </a:solidFill>
              <a:ln w="9525">
                <a:noFill/>
                <a:round/>
                <a:headEnd/>
                <a:tailEnd/>
              </a:ln>
            </p:spPr>
            <p:txBody>
              <a:bodyPr wrap="none" anchor="ctr"/>
              <a:lstStyle/>
              <a:p>
                <a:endParaRPr lang="en-US"/>
              </a:p>
            </p:txBody>
          </p:sp>
          <p:sp>
            <p:nvSpPr>
              <p:cNvPr id="64589" name="AutoShape 1329"/>
              <p:cNvSpPr>
                <a:spLocks noChangeArrowheads="1"/>
              </p:cNvSpPr>
              <p:nvPr/>
            </p:nvSpPr>
            <p:spPr bwMode="auto">
              <a:xfrm rot="-5400000">
                <a:off x="1460" y="1437"/>
                <a:ext cx="240" cy="174"/>
              </a:xfrm>
              <a:custGeom>
                <a:avLst/>
                <a:gdLst>
                  <a:gd name="T0" fmla="*/ 180 w 21600"/>
                  <a:gd name="T1" fmla="*/ 0 h 21600"/>
                  <a:gd name="T2" fmla="*/ 0 w 21600"/>
                  <a:gd name="T3" fmla="*/ 87 h 21600"/>
                  <a:gd name="T4" fmla="*/ 180 w 21600"/>
                  <a:gd name="T5" fmla="*/ 174 h 21600"/>
                  <a:gd name="T6" fmla="*/ 240 w 21600"/>
                  <a:gd name="T7" fmla="*/ 87 h 21600"/>
                  <a:gd name="T8" fmla="*/ 17694720 60000 65536"/>
                  <a:gd name="T9" fmla="*/ 11796480 60000 65536"/>
                  <a:gd name="T10" fmla="*/ 5898240 60000 65536"/>
                  <a:gd name="T11" fmla="*/ 0 60000 65536"/>
                  <a:gd name="T12" fmla="*/ 3330 w 21600"/>
                  <a:gd name="T13" fmla="*/ 5462 h 21600"/>
                  <a:gd name="T14" fmla="*/ 18900 w 21600"/>
                  <a:gd name="T15" fmla="*/ 1626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CC99"/>
              </a:solidFill>
              <a:ln w="9525">
                <a:noFill/>
                <a:round/>
                <a:headEnd/>
                <a:tailEnd/>
              </a:ln>
            </p:spPr>
            <p:txBody>
              <a:bodyPr wrap="none" anchor="ctr"/>
              <a:lstStyle/>
              <a:p>
                <a:endParaRPr lang="en-US"/>
              </a:p>
            </p:txBody>
          </p:sp>
          <p:sp>
            <p:nvSpPr>
              <p:cNvPr id="64590" name="AutoShape 1330"/>
              <p:cNvSpPr>
                <a:spLocks noChangeArrowheads="1"/>
              </p:cNvSpPr>
              <p:nvPr/>
            </p:nvSpPr>
            <p:spPr bwMode="auto">
              <a:xfrm rot="5400000" flipV="1">
                <a:off x="1565" y="2622"/>
                <a:ext cx="348" cy="90"/>
              </a:xfrm>
              <a:custGeom>
                <a:avLst/>
                <a:gdLst>
                  <a:gd name="T0" fmla="*/ 261 w 21600"/>
                  <a:gd name="T1" fmla="*/ 0 h 21600"/>
                  <a:gd name="T2" fmla="*/ 0 w 21600"/>
                  <a:gd name="T3" fmla="*/ 45 h 21600"/>
                  <a:gd name="T4" fmla="*/ 261 w 21600"/>
                  <a:gd name="T5" fmla="*/ 90 h 21600"/>
                  <a:gd name="T6" fmla="*/ 348 w 21600"/>
                  <a:gd name="T7" fmla="*/ 45 h 21600"/>
                  <a:gd name="T8" fmla="*/ 17694720 60000 65536"/>
                  <a:gd name="T9" fmla="*/ 11796480 60000 65536"/>
                  <a:gd name="T10" fmla="*/ 5898240 60000 65536"/>
                  <a:gd name="T11" fmla="*/ 0 60000 65536"/>
                  <a:gd name="T12" fmla="*/ 3352 w 21600"/>
                  <a:gd name="T13" fmla="*/ 5520 h 21600"/>
                  <a:gd name="T14" fmla="*/ 18869 w 21600"/>
                  <a:gd name="T15" fmla="*/ 1632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99CCFF"/>
              </a:solidFill>
              <a:ln w="9525">
                <a:noFill/>
                <a:round/>
                <a:headEnd/>
                <a:tailEnd/>
              </a:ln>
            </p:spPr>
            <p:txBody>
              <a:bodyPr wrap="none" anchor="ctr"/>
              <a:lstStyle/>
              <a:p>
                <a:endParaRPr lang="en-US"/>
              </a:p>
            </p:txBody>
          </p:sp>
          <p:sp>
            <p:nvSpPr>
              <p:cNvPr id="64591" name="Text Box 1331"/>
              <p:cNvSpPr txBox="1">
                <a:spLocks noChangeArrowheads="1"/>
              </p:cNvSpPr>
              <p:nvPr/>
            </p:nvSpPr>
            <p:spPr bwMode="auto">
              <a:xfrm>
                <a:off x="879" y="1125"/>
                <a:ext cx="723" cy="460"/>
              </a:xfrm>
              <a:prstGeom prst="rect">
                <a:avLst/>
              </a:prstGeom>
              <a:noFill/>
              <a:ln w="9525">
                <a:noFill/>
                <a:miter lim="800000"/>
                <a:headEnd/>
                <a:tailEnd/>
              </a:ln>
            </p:spPr>
            <p:txBody>
              <a:bodyPr>
                <a:spAutoFit/>
              </a:bodyPr>
              <a:lstStyle/>
              <a:p>
                <a:pPr algn="r">
                  <a:spcBef>
                    <a:spcPct val="50000"/>
                  </a:spcBef>
                </a:pPr>
                <a:r>
                  <a:rPr lang="en-AU" sz="1400" i="0">
                    <a:solidFill>
                      <a:srgbClr val="000000"/>
                    </a:solidFill>
                  </a:rPr>
                  <a:t>Plant use Soil Evaporation</a:t>
                </a:r>
                <a:endParaRPr lang="en-US" sz="1400" i="0">
                  <a:solidFill>
                    <a:srgbClr val="000000"/>
                  </a:solidFill>
                </a:endParaRPr>
              </a:p>
            </p:txBody>
          </p:sp>
        </p:grpSp>
        <p:sp>
          <p:nvSpPr>
            <p:cNvPr id="64577" name="Rectangle 1332"/>
            <p:cNvSpPr>
              <a:spLocks noChangeArrowheads="1"/>
            </p:cNvSpPr>
            <p:nvPr/>
          </p:nvSpPr>
          <p:spPr bwMode="auto">
            <a:xfrm>
              <a:off x="1824" y="2022"/>
              <a:ext cx="56" cy="1308"/>
            </a:xfrm>
            <a:prstGeom prst="rect">
              <a:avLst/>
            </a:prstGeom>
            <a:solidFill>
              <a:srgbClr val="99CCFF"/>
            </a:solid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4578" name="Rectangle 1333" descr="Dark horizontal"/>
            <p:cNvSpPr>
              <a:spLocks noChangeArrowheads="1"/>
            </p:cNvSpPr>
            <p:nvPr/>
          </p:nvSpPr>
          <p:spPr bwMode="auto">
            <a:xfrm>
              <a:off x="1824" y="3330"/>
              <a:ext cx="56" cy="276"/>
            </a:xfrm>
            <a:prstGeom prst="rect">
              <a:avLst/>
            </a:prstGeom>
            <a:pattFill prst="dkHorz">
              <a:fgClr>
                <a:srgbClr val="669999"/>
              </a:fgClr>
              <a:bgClr>
                <a:srgbClr val="99CCFF"/>
              </a:bgClr>
            </a:patt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4579" name="Text Box 1334"/>
            <p:cNvSpPr txBox="1">
              <a:spLocks noChangeArrowheads="1"/>
            </p:cNvSpPr>
            <p:nvPr/>
          </p:nvSpPr>
          <p:spPr bwMode="auto">
            <a:xfrm>
              <a:off x="1206" y="1743"/>
              <a:ext cx="564" cy="192"/>
            </a:xfrm>
            <a:prstGeom prst="rect">
              <a:avLst/>
            </a:prstGeom>
            <a:noFill/>
            <a:ln w="9525">
              <a:noFill/>
              <a:miter lim="800000"/>
              <a:headEnd/>
              <a:tailEnd/>
            </a:ln>
          </p:spPr>
          <p:txBody>
            <a:bodyPr>
              <a:spAutoFit/>
            </a:bodyPr>
            <a:lstStyle/>
            <a:p>
              <a:pPr>
                <a:spcBef>
                  <a:spcPct val="50000"/>
                </a:spcBef>
              </a:pPr>
              <a:r>
                <a:rPr lang="en-AU" sz="1400" i="0">
                  <a:solidFill>
                    <a:srgbClr val="0000FF"/>
                  </a:solidFill>
                </a:rPr>
                <a:t>Pumping</a:t>
              </a:r>
              <a:endParaRPr lang="en-US" sz="1400" i="0">
                <a:solidFill>
                  <a:srgbClr val="0000FF"/>
                </a:solidFill>
              </a:endParaRPr>
            </a:p>
          </p:txBody>
        </p:sp>
      </p:grpSp>
      <p:grpSp>
        <p:nvGrpSpPr>
          <p:cNvPr id="64523" name="Group 1335"/>
          <p:cNvGrpSpPr>
            <a:grpSpLocks/>
          </p:cNvGrpSpPr>
          <p:nvPr/>
        </p:nvGrpSpPr>
        <p:grpSpPr bwMode="auto">
          <a:xfrm>
            <a:off x="5962650" y="5780088"/>
            <a:ext cx="785813" cy="395287"/>
            <a:chOff x="3612" y="3348"/>
            <a:chExt cx="495" cy="249"/>
          </a:xfrm>
        </p:grpSpPr>
        <p:sp>
          <p:nvSpPr>
            <p:cNvPr id="64574" name="AutoShape 1336"/>
            <p:cNvSpPr>
              <a:spLocks noChangeArrowheads="1"/>
            </p:cNvSpPr>
            <p:nvPr/>
          </p:nvSpPr>
          <p:spPr bwMode="auto">
            <a:xfrm>
              <a:off x="3612" y="3348"/>
              <a:ext cx="495" cy="249"/>
            </a:xfrm>
            <a:prstGeom prst="leftArrow">
              <a:avLst>
                <a:gd name="adj1" fmla="val 50000"/>
                <a:gd name="adj2" fmla="val 49699"/>
              </a:avLst>
            </a:prstGeom>
            <a:solidFill>
              <a:srgbClr val="99CCFF"/>
            </a:solid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4575" name="Text Box 1337"/>
            <p:cNvSpPr txBox="1">
              <a:spLocks noChangeArrowheads="1"/>
            </p:cNvSpPr>
            <p:nvPr/>
          </p:nvSpPr>
          <p:spPr bwMode="auto">
            <a:xfrm>
              <a:off x="3624" y="3372"/>
              <a:ext cx="462" cy="192"/>
            </a:xfrm>
            <a:prstGeom prst="rect">
              <a:avLst/>
            </a:prstGeom>
            <a:noFill/>
            <a:ln w="9525">
              <a:noFill/>
              <a:miter lim="800000"/>
              <a:headEnd/>
              <a:tailEnd/>
            </a:ln>
          </p:spPr>
          <p:txBody>
            <a:bodyPr>
              <a:spAutoFit/>
            </a:bodyPr>
            <a:lstStyle/>
            <a:p>
              <a:pPr>
                <a:spcBef>
                  <a:spcPct val="50000"/>
                </a:spcBef>
              </a:pPr>
              <a:r>
                <a:rPr lang="en-AU" sz="1400" i="0">
                  <a:solidFill>
                    <a:srgbClr val="000000"/>
                  </a:solidFill>
                </a:rPr>
                <a:t>In-flow</a:t>
              </a:r>
              <a:endParaRPr lang="en-US" sz="1400" i="0">
                <a:solidFill>
                  <a:srgbClr val="000000"/>
                </a:solidFill>
              </a:endParaRPr>
            </a:p>
          </p:txBody>
        </p:sp>
      </p:grpSp>
      <p:grpSp>
        <p:nvGrpSpPr>
          <p:cNvPr id="299322" name="Group 1338"/>
          <p:cNvGrpSpPr>
            <a:grpSpLocks/>
          </p:cNvGrpSpPr>
          <p:nvPr/>
        </p:nvGrpSpPr>
        <p:grpSpPr bwMode="auto">
          <a:xfrm>
            <a:off x="501650" y="3817938"/>
            <a:ext cx="6604000" cy="2532062"/>
            <a:chOff x="616" y="2112"/>
            <a:chExt cx="4160" cy="1595"/>
          </a:xfrm>
        </p:grpSpPr>
        <p:grpSp>
          <p:nvGrpSpPr>
            <p:cNvPr id="64526" name="Group 1339"/>
            <p:cNvGrpSpPr>
              <a:grpSpLocks/>
            </p:cNvGrpSpPr>
            <p:nvPr/>
          </p:nvGrpSpPr>
          <p:grpSpPr bwMode="auto">
            <a:xfrm>
              <a:off x="4050" y="2112"/>
              <a:ext cx="726" cy="1595"/>
              <a:chOff x="4050" y="2112"/>
              <a:chExt cx="726" cy="1595"/>
            </a:xfrm>
          </p:grpSpPr>
          <p:sp>
            <p:nvSpPr>
              <p:cNvPr id="64538" name="Line 1340"/>
              <p:cNvSpPr>
                <a:spLocks noChangeShapeType="1"/>
              </p:cNvSpPr>
              <p:nvPr/>
            </p:nvSpPr>
            <p:spPr bwMode="auto">
              <a:xfrm flipV="1">
                <a:off x="4050" y="2886"/>
                <a:ext cx="181" cy="317"/>
              </a:xfrm>
              <a:prstGeom prst="line">
                <a:avLst/>
              </a:prstGeom>
              <a:noFill/>
              <a:ln w="9525">
                <a:solidFill>
                  <a:srgbClr val="000000"/>
                </a:solidFill>
                <a:round/>
                <a:headEnd/>
                <a:tailEnd/>
              </a:ln>
            </p:spPr>
            <p:txBody>
              <a:bodyPr/>
              <a:lstStyle/>
              <a:p>
                <a:endParaRPr lang="en-US"/>
              </a:p>
            </p:txBody>
          </p:sp>
          <p:sp>
            <p:nvSpPr>
              <p:cNvPr id="64539" name="Freeform 1341"/>
              <p:cNvSpPr>
                <a:spLocks/>
              </p:cNvSpPr>
              <p:nvPr/>
            </p:nvSpPr>
            <p:spPr bwMode="auto">
              <a:xfrm>
                <a:off x="4050" y="2880"/>
                <a:ext cx="174" cy="827"/>
              </a:xfrm>
              <a:custGeom>
                <a:avLst/>
                <a:gdLst>
                  <a:gd name="T0" fmla="*/ 0 w 174"/>
                  <a:gd name="T1" fmla="*/ 827 h 827"/>
                  <a:gd name="T2" fmla="*/ 0 w 174"/>
                  <a:gd name="T3" fmla="*/ 328 h 827"/>
                  <a:gd name="T4" fmla="*/ 174 w 174"/>
                  <a:gd name="T5" fmla="*/ 0 h 827"/>
                  <a:gd name="T6" fmla="*/ 164 w 174"/>
                  <a:gd name="T7" fmla="*/ 510 h 827"/>
                  <a:gd name="T8" fmla="*/ 0 w 174"/>
                  <a:gd name="T9" fmla="*/ 827 h 827"/>
                  <a:gd name="T10" fmla="*/ 0 60000 65536"/>
                  <a:gd name="T11" fmla="*/ 0 60000 65536"/>
                  <a:gd name="T12" fmla="*/ 0 60000 65536"/>
                  <a:gd name="T13" fmla="*/ 0 60000 65536"/>
                  <a:gd name="T14" fmla="*/ 0 60000 65536"/>
                  <a:gd name="T15" fmla="*/ 0 w 174"/>
                  <a:gd name="T16" fmla="*/ 0 h 827"/>
                  <a:gd name="T17" fmla="*/ 174 w 174"/>
                  <a:gd name="T18" fmla="*/ 827 h 827"/>
                </a:gdLst>
                <a:ahLst/>
                <a:cxnLst>
                  <a:cxn ang="T10">
                    <a:pos x="T0" y="T1"/>
                  </a:cxn>
                  <a:cxn ang="T11">
                    <a:pos x="T2" y="T3"/>
                  </a:cxn>
                  <a:cxn ang="T12">
                    <a:pos x="T4" y="T5"/>
                  </a:cxn>
                  <a:cxn ang="T13">
                    <a:pos x="T6" y="T7"/>
                  </a:cxn>
                  <a:cxn ang="T14">
                    <a:pos x="T8" y="T9"/>
                  </a:cxn>
                </a:cxnLst>
                <a:rect l="T15" t="T16" r="T17" b="T18"/>
                <a:pathLst>
                  <a:path w="174" h="827">
                    <a:moveTo>
                      <a:pt x="0" y="827"/>
                    </a:moveTo>
                    <a:lnTo>
                      <a:pt x="0" y="328"/>
                    </a:lnTo>
                    <a:lnTo>
                      <a:pt x="174" y="0"/>
                    </a:lnTo>
                    <a:lnTo>
                      <a:pt x="164" y="510"/>
                    </a:lnTo>
                    <a:lnTo>
                      <a:pt x="0" y="827"/>
                    </a:lnTo>
                    <a:close/>
                  </a:path>
                </a:pathLst>
              </a:custGeom>
              <a:solidFill>
                <a:srgbClr val="99CCFF"/>
              </a:solidFill>
              <a:ln w="9525" cap="flat" cmpd="sng">
                <a:solidFill>
                  <a:srgbClr val="000000"/>
                </a:solidFill>
                <a:prstDash val="solid"/>
                <a:round/>
                <a:headEnd/>
                <a:tailEnd/>
              </a:ln>
            </p:spPr>
            <p:txBody>
              <a:bodyPr wrap="none" anchor="ctr"/>
              <a:lstStyle/>
              <a:p>
                <a:endParaRPr lang="en-US"/>
              </a:p>
            </p:txBody>
          </p:sp>
          <p:grpSp>
            <p:nvGrpSpPr>
              <p:cNvPr id="64540" name="Group 1342"/>
              <p:cNvGrpSpPr>
                <a:grpSpLocks/>
              </p:cNvGrpSpPr>
              <p:nvPr/>
            </p:nvGrpSpPr>
            <p:grpSpPr bwMode="auto">
              <a:xfrm>
                <a:off x="4050" y="2886"/>
                <a:ext cx="726" cy="817"/>
                <a:chOff x="4050" y="2886"/>
                <a:chExt cx="726" cy="817"/>
              </a:xfrm>
            </p:grpSpPr>
            <p:sp>
              <p:nvSpPr>
                <p:cNvPr id="64571" name="Rectangle 1343"/>
                <p:cNvSpPr>
                  <a:spLocks noChangeArrowheads="1"/>
                </p:cNvSpPr>
                <p:nvPr/>
              </p:nvSpPr>
              <p:spPr bwMode="auto">
                <a:xfrm>
                  <a:off x="4050" y="3203"/>
                  <a:ext cx="545" cy="500"/>
                </a:xfrm>
                <a:prstGeom prst="rect">
                  <a:avLst/>
                </a:prstGeom>
                <a:solidFill>
                  <a:srgbClr val="99CCFF"/>
                </a:solid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4572" name="AutoShape 1344"/>
                <p:cNvSpPr>
                  <a:spLocks noChangeArrowheads="1"/>
                </p:cNvSpPr>
                <p:nvPr/>
              </p:nvSpPr>
              <p:spPr bwMode="auto">
                <a:xfrm>
                  <a:off x="4050" y="2886"/>
                  <a:ext cx="726" cy="317"/>
                </a:xfrm>
                <a:prstGeom prst="parallelogram">
                  <a:avLst>
                    <a:gd name="adj" fmla="val 57256"/>
                  </a:avLst>
                </a:prstGeom>
                <a:solidFill>
                  <a:srgbClr val="99CCFF"/>
                </a:solid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4573" name="Freeform 1345"/>
                <p:cNvSpPr>
                  <a:spLocks/>
                </p:cNvSpPr>
                <p:nvPr/>
              </p:nvSpPr>
              <p:spPr bwMode="auto">
                <a:xfrm>
                  <a:off x="4594" y="2886"/>
                  <a:ext cx="182" cy="816"/>
                </a:xfrm>
                <a:custGeom>
                  <a:avLst/>
                  <a:gdLst>
                    <a:gd name="T0" fmla="*/ 0 w 182"/>
                    <a:gd name="T1" fmla="*/ 816 h 816"/>
                    <a:gd name="T2" fmla="*/ 0 w 182"/>
                    <a:gd name="T3" fmla="*/ 317 h 816"/>
                    <a:gd name="T4" fmla="*/ 182 w 182"/>
                    <a:gd name="T5" fmla="*/ 0 h 816"/>
                    <a:gd name="T6" fmla="*/ 182 w 182"/>
                    <a:gd name="T7" fmla="*/ 499 h 816"/>
                    <a:gd name="T8" fmla="*/ 0 w 182"/>
                    <a:gd name="T9" fmla="*/ 816 h 816"/>
                    <a:gd name="T10" fmla="*/ 0 60000 65536"/>
                    <a:gd name="T11" fmla="*/ 0 60000 65536"/>
                    <a:gd name="T12" fmla="*/ 0 60000 65536"/>
                    <a:gd name="T13" fmla="*/ 0 60000 65536"/>
                    <a:gd name="T14" fmla="*/ 0 60000 65536"/>
                    <a:gd name="T15" fmla="*/ 0 w 182"/>
                    <a:gd name="T16" fmla="*/ 0 h 816"/>
                    <a:gd name="T17" fmla="*/ 182 w 182"/>
                    <a:gd name="T18" fmla="*/ 816 h 816"/>
                  </a:gdLst>
                  <a:ahLst/>
                  <a:cxnLst>
                    <a:cxn ang="T10">
                      <a:pos x="T0" y="T1"/>
                    </a:cxn>
                    <a:cxn ang="T11">
                      <a:pos x="T2" y="T3"/>
                    </a:cxn>
                    <a:cxn ang="T12">
                      <a:pos x="T4" y="T5"/>
                    </a:cxn>
                    <a:cxn ang="T13">
                      <a:pos x="T6" y="T7"/>
                    </a:cxn>
                    <a:cxn ang="T14">
                      <a:pos x="T8" y="T9"/>
                    </a:cxn>
                  </a:cxnLst>
                  <a:rect l="T15" t="T16" r="T17" b="T18"/>
                  <a:pathLst>
                    <a:path w="182" h="816">
                      <a:moveTo>
                        <a:pt x="0" y="816"/>
                      </a:moveTo>
                      <a:lnTo>
                        <a:pt x="0" y="317"/>
                      </a:lnTo>
                      <a:lnTo>
                        <a:pt x="182" y="0"/>
                      </a:lnTo>
                      <a:lnTo>
                        <a:pt x="182" y="499"/>
                      </a:lnTo>
                      <a:lnTo>
                        <a:pt x="0" y="816"/>
                      </a:lnTo>
                      <a:close/>
                    </a:path>
                  </a:pathLst>
                </a:custGeom>
                <a:solidFill>
                  <a:srgbClr val="99CCFF"/>
                </a:solidFill>
                <a:ln w="9525">
                  <a:solidFill>
                    <a:srgbClr val="000000"/>
                  </a:solidFill>
                  <a:round/>
                  <a:headEnd/>
                  <a:tailEnd/>
                </a:ln>
              </p:spPr>
              <p:txBody>
                <a:bodyPr/>
                <a:lstStyle/>
                <a:p>
                  <a:endParaRPr lang="en-US"/>
                </a:p>
              </p:txBody>
            </p:sp>
          </p:grpSp>
          <p:grpSp>
            <p:nvGrpSpPr>
              <p:cNvPr id="64541" name="Group 1346"/>
              <p:cNvGrpSpPr>
                <a:grpSpLocks/>
              </p:cNvGrpSpPr>
              <p:nvPr/>
            </p:nvGrpSpPr>
            <p:grpSpPr bwMode="auto">
              <a:xfrm>
                <a:off x="4050" y="2389"/>
                <a:ext cx="726" cy="817"/>
                <a:chOff x="4422" y="1933"/>
                <a:chExt cx="726" cy="817"/>
              </a:xfrm>
            </p:grpSpPr>
            <p:sp>
              <p:nvSpPr>
                <p:cNvPr id="64568" name="Rectangle 1347"/>
                <p:cNvSpPr>
                  <a:spLocks noChangeArrowheads="1"/>
                </p:cNvSpPr>
                <p:nvPr/>
              </p:nvSpPr>
              <p:spPr bwMode="auto">
                <a:xfrm>
                  <a:off x="4422" y="2260"/>
                  <a:ext cx="545" cy="490"/>
                </a:xfrm>
                <a:prstGeom prst="rect">
                  <a:avLst/>
                </a:prstGeom>
                <a:solidFill>
                  <a:srgbClr val="FFFFFF"/>
                </a:solid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4569" name="AutoShape 1348"/>
                <p:cNvSpPr>
                  <a:spLocks noChangeArrowheads="1"/>
                </p:cNvSpPr>
                <p:nvPr/>
              </p:nvSpPr>
              <p:spPr bwMode="auto">
                <a:xfrm>
                  <a:off x="4422" y="1933"/>
                  <a:ext cx="726" cy="327"/>
                </a:xfrm>
                <a:prstGeom prst="parallelogram">
                  <a:avLst>
                    <a:gd name="adj" fmla="val 55505"/>
                  </a:avLst>
                </a:prstGeom>
                <a:solidFill>
                  <a:srgbClr val="FFFFFF"/>
                </a:solid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4570" name="Freeform 1349"/>
                <p:cNvSpPr>
                  <a:spLocks/>
                </p:cNvSpPr>
                <p:nvPr/>
              </p:nvSpPr>
              <p:spPr bwMode="auto">
                <a:xfrm>
                  <a:off x="4966" y="1933"/>
                  <a:ext cx="182" cy="816"/>
                </a:xfrm>
                <a:custGeom>
                  <a:avLst/>
                  <a:gdLst>
                    <a:gd name="T0" fmla="*/ 0 w 182"/>
                    <a:gd name="T1" fmla="*/ 816 h 816"/>
                    <a:gd name="T2" fmla="*/ 0 w 182"/>
                    <a:gd name="T3" fmla="*/ 317 h 816"/>
                    <a:gd name="T4" fmla="*/ 182 w 182"/>
                    <a:gd name="T5" fmla="*/ 0 h 816"/>
                    <a:gd name="T6" fmla="*/ 182 w 182"/>
                    <a:gd name="T7" fmla="*/ 499 h 816"/>
                    <a:gd name="T8" fmla="*/ 0 w 182"/>
                    <a:gd name="T9" fmla="*/ 816 h 816"/>
                    <a:gd name="T10" fmla="*/ 0 60000 65536"/>
                    <a:gd name="T11" fmla="*/ 0 60000 65536"/>
                    <a:gd name="T12" fmla="*/ 0 60000 65536"/>
                    <a:gd name="T13" fmla="*/ 0 60000 65536"/>
                    <a:gd name="T14" fmla="*/ 0 60000 65536"/>
                    <a:gd name="T15" fmla="*/ 0 w 182"/>
                    <a:gd name="T16" fmla="*/ 0 h 816"/>
                    <a:gd name="T17" fmla="*/ 182 w 182"/>
                    <a:gd name="T18" fmla="*/ 816 h 816"/>
                  </a:gdLst>
                  <a:ahLst/>
                  <a:cxnLst>
                    <a:cxn ang="T10">
                      <a:pos x="T0" y="T1"/>
                    </a:cxn>
                    <a:cxn ang="T11">
                      <a:pos x="T2" y="T3"/>
                    </a:cxn>
                    <a:cxn ang="T12">
                      <a:pos x="T4" y="T5"/>
                    </a:cxn>
                    <a:cxn ang="T13">
                      <a:pos x="T6" y="T7"/>
                    </a:cxn>
                    <a:cxn ang="T14">
                      <a:pos x="T8" y="T9"/>
                    </a:cxn>
                  </a:cxnLst>
                  <a:rect l="T15" t="T16" r="T17" b="T18"/>
                  <a:pathLst>
                    <a:path w="182" h="816">
                      <a:moveTo>
                        <a:pt x="0" y="816"/>
                      </a:moveTo>
                      <a:lnTo>
                        <a:pt x="0" y="317"/>
                      </a:lnTo>
                      <a:lnTo>
                        <a:pt x="182" y="0"/>
                      </a:lnTo>
                      <a:lnTo>
                        <a:pt x="182" y="499"/>
                      </a:lnTo>
                      <a:lnTo>
                        <a:pt x="0" y="816"/>
                      </a:lnTo>
                      <a:close/>
                    </a:path>
                  </a:pathLst>
                </a:custGeom>
                <a:solidFill>
                  <a:srgbClr val="FFFFFF"/>
                </a:solidFill>
                <a:ln w="9525">
                  <a:solidFill>
                    <a:srgbClr val="000000"/>
                  </a:solidFill>
                  <a:round/>
                  <a:headEnd/>
                  <a:tailEnd/>
                </a:ln>
              </p:spPr>
              <p:txBody>
                <a:bodyPr/>
                <a:lstStyle/>
                <a:p>
                  <a:endParaRPr lang="en-US"/>
                </a:p>
              </p:txBody>
            </p:sp>
          </p:grpSp>
          <p:sp>
            <p:nvSpPr>
              <p:cNvPr id="64542" name="AutoShape 1350"/>
              <p:cNvSpPr>
                <a:spLocks noChangeArrowheads="1"/>
              </p:cNvSpPr>
              <p:nvPr/>
            </p:nvSpPr>
            <p:spPr bwMode="auto">
              <a:xfrm rot="10800000">
                <a:off x="4125" y="3291"/>
                <a:ext cx="297" cy="255"/>
              </a:xfrm>
              <a:custGeom>
                <a:avLst/>
                <a:gdLst>
                  <a:gd name="T0" fmla="*/ 208 w 21600"/>
                  <a:gd name="T1" fmla="*/ 0 h 21600"/>
                  <a:gd name="T2" fmla="*/ 208 w 21600"/>
                  <a:gd name="T3" fmla="*/ 144 h 21600"/>
                  <a:gd name="T4" fmla="*/ 45 w 21600"/>
                  <a:gd name="T5" fmla="*/ 255 h 21600"/>
                  <a:gd name="T6" fmla="*/ 297 w 21600"/>
                  <a:gd name="T7" fmla="*/ 72 h 21600"/>
                  <a:gd name="T8" fmla="*/ 17694720 60000 65536"/>
                  <a:gd name="T9" fmla="*/ 5898240 60000 65536"/>
                  <a:gd name="T10" fmla="*/ 5898240 60000 65536"/>
                  <a:gd name="T11" fmla="*/ 0 60000 65536"/>
                  <a:gd name="T12" fmla="*/ 12436 w 21600"/>
                  <a:gd name="T13" fmla="*/ 2880 h 21600"/>
                  <a:gd name="T14" fmla="*/ 18255 w 21600"/>
                  <a:gd name="T15" fmla="*/ 9233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33CCCC"/>
              </a:solidFill>
              <a:ln w="9525">
                <a:noFill/>
                <a:round/>
                <a:headEnd/>
                <a:tailEnd/>
              </a:ln>
            </p:spPr>
            <p:txBody>
              <a:bodyPr wrap="none" anchor="ctr"/>
              <a:lstStyle/>
              <a:p>
                <a:endParaRPr lang="en-US"/>
              </a:p>
            </p:txBody>
          </p:sp>
          <p:sp>
            <p:nvSpPr>
              <p:cNvPr id="64543" name="Rectangle 1351"/>
              <p:cNvSpPr>
                <a:spLocks noChangeArrowheads="1"/>
              </p:cNvSpPr>
              <p:nvPr/>
            </p:nvSpPr>
            <p:spPr bwMode="auto">
              <a:xfrm>
                <a:off x="4332" y="2913"/>
                <a:ext cx="90" cy="396"/>
              </a:xfrm>
              <a:prstGeom prst="rect">
                <a:avLst/>
              </a:prstGeom>
              <a:solidFill>
                <a:srgbClr val="33CCCC"/>
              </a:solid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nvGrpSpPr>
              <p:cNvPr id="64544" name="Group 1352"/>
              <p:cNvGrpSpPr>
                <a:grpSpLocks/>
              </p:cNvGrpSpPr>
              <p:nvPr/>
            </p:nvGrpSpPr>
            <p:grpSpPr bwMode="auto">
              <a:xfrm>
                <a:off x="4113" y="2302"/>
                <a:ext cx="244" cy="615"/>
                <a:chOff x="1133" y="1419"/>
                <a:chExt cx="244" cy="615"/>
              </a:xfrm>
            </p:grpSpPr>
            <p:sp>
              <p:nvSpPr>
                <p:cNvPr id="64563" name="Freeform 1353"/>
                <p:cNvSpPr>
                  <a:spLocks/>
                </p:cNvSpPr>
                <p:nvPr/>
              </p:nvSpPr>
              <p:spPr bwMode="auto">
                <a:xfrm>
                  <a:off x="1185" y="1452"/>
                  <a:ext cx="162" cy="582"/>
                </a:xfrm>
                <a:custGeom>
                  <a:avLst/>
                  <a:gdLst>
                    <a:gd name="T0" fmla="*/ 54 w 162"/>
                    <a:gd name="T1" fmla="*/ 582 h 582"/>
                    <a:gd name="T2" fmla="*/ 42 w 162"/>
                    <a:gd name="T3" fmla="*/ 507 h 582"/>
                    <a:gd name="T4" fmla="*/ 51 w 162"/>
                    <a:gd name="T5" fmla="*/ 423 h 582"/>
                    <a:gd name="T6" fmla="*/ 42 w 162"/>
                    <a:gd name="T7" fmla="*/ 390 h 582"/>
                    <a:gd name="T8" fmla="*/ 33 w 162"/>
                    <a:gd name="T9" fmla="*/ 378 h 582"/>
                    <a:gd name="T10" fmla="*/ 48 w 162"/>
                    <a:gd name="T11" fmla="*/ 330 h 582"/>
                    <a:gd name="T12" fmla="*/ 57 w 162"/>
                    <a:gd name="T13" fmla="*/ 297 h 582"/>
                    <a:gd name="T14" fmla="*/ 63 w 162"/>
                    <a:gd name="T15" fmla="*/ 231 h 582"/>
                    <a:gd name="T16" fmla="*/ 57 w 162"/>
                    <a:gd name="T17" fmla="*/ 147 h 582"/>
                    <a:gd name="T18" fmla="*/ 21 w 162"/>
                    <a:gd name="T19" fmla="*/ 99 h 582"/>
                    <a:gd name="T20" fmla="*/ 0 w 162"/>
                    <a:gd name="T21" fmla="*/ 72 h 582"/>
                    <a:gd name="T22" fmla="*/ 54 w 162"/>
                    <a:gd name="T23" fmla="*/ 105 h 582"/>
                    <a:gd name="T24" fmla="*/ 57 w 162"/>
                    <a:gd name="T25" fmla="*/ 87 h 582"/>
                    <a:gd name="T26" fmla="*/ 63 w 162"/>
                    <a:gd name="T27" fmla="*/ 0 h 582"/>
                    <a:gd name="T28" fmla="*/ 78 w 162"/>
                    <a:gd name="T29" fmla="*/ 39 h 582"/>
                    <a:gd name="T30" fmla="*/ 78 w 162"/>
                    <a:gd name="T31" fmla="*/ 126 h 582"/>
                    <a:gd name="T32" fmla="*/ 90 w 162"/>
                    <a:gd name="T33" fmla="*/ 72 h 582"/>
                    <a:gd name="T34" fmla="*/ 108 w 162"/>
                    <a:gd name="T35" fmla="*/ 72 h 582"/>
                    <a:gd name="T36" fmla="*/ 93 w 162"/>
                    <a:gd name="T37" fmla="*/ 135 h 582"/>
                    <a:gd name="T38" fmla="*/ 162 w 162"/>
                    <a:gd name="T39" fmla="*/ 84 h 582"/>
                    <a:gd name="T40" fmla="*/ 153 w 162"/>
                    <a:gd name="T41" fmla="*/ 120 h 582"/>
                    <a:gd name="T42" fmla="*/ 75 w 162"/>
                    <a:gd name="T43" fmla="*/ 165 h 582"/>
                    <a:gd name="T44" fmla="*/ 75 w 162"/>
                    <a:gd name="T45" fmla="*/ 300 h 582"/>
                    <a:gd name="T46" fmla="*/ 99 w 162"/>
                    <a:gd name="T47" fmla="*/ 381 h 582"/>
                    <a:gd name="T48" fmla="*/ 84 w 162"/>
                    <a:gd name="T49" fmla="*/ 414 h 582"/>
                    <a:gd name="T50" fmla="*/ 99 w 162"/>
                    <a:gd name="T51" fmla="*/ 453 h 582"/>
                    <a:gd name="T52" fmla="*/ 135 w 162"/>
                    <a:gd name="T53" fmla="*/ 486 h 582"/>
                    <a:gd name="T54" fmla="*/ 132 w 162"/>
                    <a:gd name="T55" fmla="*/ 510 h 582"/>
                    <a:gd name="T56" fmla="*/ 102 w 162"/>
                    <a:gd name="T57" fmla="*/ 468 h 582"/>
                    <a:gd name="T58" fmla="*/ 69 w 162"/>
                    <a:gd name="T59" fmla="*/ 414 h 582"/>
                    <a:gd name="T60" fmla="*/ 63 w 162"/>
                    <a:gd name="T61" fmla="*/ 456 h 582"/>
                    <a:gd name="T62" fmla="*/ 75 w 162"/>
                    <a:gd name="T63" fmla="*/ 492 h 582"/>
                    <a:gd name="T64" fmla="*/ 96 w 162"/>
                    <a:gd name="T65" fmla="*/ 513 h 582"/>
                    <a:gd name="T66" fmla="*/ 78 w 162"/>
                    <a:gd name="T67" fmla="*/ 519 h 582"/>
                    <a:gd name="T68" fmla="*/ 60 w 162"/>
                    <a:gd name="T69" fmla="*/ 486 h 582"/>
                    <a:gd name="T70" fmla="*/ 54 w 162"/>
                    <a:gd name="T71" fmla="*/ 522 h 582"/>
                    <a:gd name="T72" fmla="*/ 54 w 162"/>
                    <a:gd name="T73" fmla="*/ 582 h 58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2"/>
                    <a:gd name="T112" fmla="*/ 0 h 582"/>
                    <a:gd name="T113" fmla="*/ 162 w 162"/>
                    <a:gd name="T114" fmla="*/ 582 h 58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2" h="582">
                      <a:moveTo>
                        <a:pt x="54" y="582"/>
                      </a:moveTo>
                      <a:lnTo>
                        <a:pt x="42" y="507"/>
                      </a:lnTo>
                      <a:lnTo>
                        <a:pt x="51" y="423"/>
                      </a:lnTo>
                      <a:lnTo>
                        <a:pt x="42" y="390"/>
                      </a:lnTo>
                      <a:lnTo>
                        <a:pt x="33" y="378"/>
                      </a:ln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84" y="414"/>
                      </a:lnTo>
                      <a:lnTo>
                        <a:pt x="99" y="453"/>
                      </a:lnTo>
                      <a:lnTo>
                        <a:pt x="135" y="486"/>
                      </a:lnTo>
                      <a:lnTo>
                        <a:pt x="132" y="510"/>
                      </a:lnTo>
                      <a:lnTo>
                        <a:pt x="102" y="468"/>
                      </a:lnTo>
                      <a:lnTo>
                        <a:pt x="69" y="414"/>
                      </a:lnTo>
                      <a:lnTo>
                        <a:pt x="63" y="456"/>
                      </a:lnTo>
                      <a:lnTo>
                        <a:pt x="75" y="492"/>
                      </a:lnTo>
                      <a:lnTo>
                        <a:pt x="96" y="513"/>
                      </a:lnTo>
                      <a:lnTo>
                        <a:pt x="78" y="519"/>
                      </a:lnTo>
                      <a:lnTo>
                        <a:pt x="60" y="486"/>
                      </a:lnTo>
                      <a:lnTo>
                        <a:pt x="54" y="522"/>
                      </a:lnTo>
                      <a:lnTo>
                        <a:pt x="54" y="582"/>
                      </a:lnTo>
                      <a:close/>
                    </a:path>
                  </a:pathLst>
                </a:custGeom>
                <a:solidFill>
                  <a:srgbClr val="669999"/>
                </a:solidFill>
                <a:ln w="9525">
                  <a:noFill/>
                  <a:round/>
                  <a:headEnd/>
                  <a:tailEnd/>
                </a:ln>
              </p:spPr>
              <p:txBody>
                <a:bodyPr/>
                <a:lstStyle/>
                <a:p>
                  <a:endParaRPr lang="en-US"/>
                </a:p>
              </p:txBody>
            </p:sp>
            <p:sp>
              <p:nvSpPr>
                <p:cNvPr id="64564" name="Freeform 1354"/>
                <p:cNvSpPr>
                  <a:spLocks/>
                </p:cNvSpPr>
                <p:nvPr/>
              </p:nvSpPr>
              <p:spPr bwMode="auto">
                <a:xfrm>
                  <a:off x="1133" y="1484"/>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565" name="Freeform 1355"/>
                <p:cNvSpPr>
                  <a:spLocks/>
                </p:cNvSpPr>
                <p:nvPr/>
              </p:nvSpPr>
              <p:spPr bwMode="auto">
                <a:xfrm>
                  <a:off x="1176" y="1419"/>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566" name="Freeform 1356"/>
                <p:cNvSpPr>
                  <a:spLocks/>
                </p:cNvSpPr>
                <p:nvPr/>
              </p:nvSpPr>
              <p:spPr bwMode="auto">
                <a:xfrm>
                  <a:off x="1249" y="1477"/>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567" name="Freeform 1357"/>
                <p:cNvSpPr>
                  <a:spLocks/>
                </p:cNvSpPr>
                <p:nvPr/>
              </p:nvSpPr>
              <p:spPr bwMode="auto">
                <a:xfrm>
                  <a:off x="1283" y="1547"/>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545" name="Group 1358"/>
              <p:cNvGrpSpPr>
                <a:grpSpLocks/>
              </p:cNvGrpSpPr>
              <p:nvPr/>
            </p:nvGrpSpPr>
            <p:grpSpPr bwMode="auto">
              <a:xfrm>
                <a:off x="4274" y="2112"/>
                <a:ext cx="244" cy="414"/>
                <a:chOff x="1164" y="1150"/>
                <a:chExt cx="244" cy="414"/>
              </a:xfrm>
            </p:grpSpPr>
            <p:sp>
              <p:nvSpPr>
                <p:cNvPr id="64558" name="Freeform 1359"/>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559" name="Freeform 1360"/>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560" name="Freeform 1361"/>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561" name="Freeform 1362"/>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562" name="Freeform 1363"/>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546" name="Group 1364"/>
              <p:cNvGrpSpPr>
                <a:grpSpLocks/>
              </p:cNvGrpSpPr>
              <p:nvPr/>
            </p:nvGrpSpPr>
            <p:grpSpPr bwMode="auto">
              <a:xfrm>
                <a:off x="4266" y="2497"/>
                <a:ext cx="118" cy="183"/>
                <a:chOff x="1164" y="1150"/>
                <a:chExt cx="244" cy="414"/>
              </a:xfrm>
            </p:grpSpPr>
            <p:sp>
              <p:nvSpPr>
                <p:cNvPr id="64553" name="Freeform 136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554" name="Freeform 136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555" name="Freeform 136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556" name="Freeform 136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557" name="Freeform 136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64547" name="Group 1370"/>
              <p:cNvGrpSpPr>
                <a:grpSpLocks/>
              </p:cNvGrpSpPr>
              <p:nvPr/>
            </p:nvGrpSpPr>
            <p:grpSpPr bwMode="auto">
              <a:xfrm>
                <a:off x="4354" y="2318"/>
                <a:ext cx="205" cy="342"/>
                <a:chOff x="1164" y="1150"/>
                <a:chExt cx="244" cy="414"/>
              </a:xfrm>
            </p:grpSpPr>
            <p:sp>
              <p:nvSpPr>
                <p:cNvPr id="64548" name="Freeform 1371"/>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rgbClr val="669999"/>
                </a:solidFill>
                <a:ln w="9525">
                  <a:noFill/>
                  <a:round/>
                  <a:headEnd/>
                  <a:tailEnd/>
                </a:ln>
              </p:spPr>
              <p:txBody>
                <a:bodyPr/>
                <a:lstStyle/>
                <a:p>
                  <a:endParaRPr lang="en-US"/>
                </a:p>
              </p:txBody>
            </p:sp>
            <p:sp>
              <p:nvSpPr>
                <p:cNvPr id="64549" name="Freeform 1372"/>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550" name="Freeform 1373"/>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551" name="Freeform 1374"/>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64552" name="Freeform 1375"/>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64527" name="Group 1376"/>
            <p:cNvGrpSpPr>
              <a:grpSpLocks/>
            </p:cNvGrpSpPr>
            <p:nvPr/>
          </p:nvGrpSpPr>
          <p:grpSpPr bwMode="auto">
            <a:xfrm>
              <a:off x="616" y="2392"/>
              <a:ext cx="1166" cy="1311"/>
              <a:chOff x="172" y="2392"/>
              <a:chExt cx="1166" cy="1311"/>
            </a:xfrm>
          </p:grpSpPr>
          <p:grpSp>
            <p:nvGrpSpPr>
              <p:cNvPr id="64528" name="Group 1377"/>
              <p:cNvGrpSpPr>
                <a:grpSpLocks/>
              </p:cNvGrpSpPr>
              <p:nvPr/>
            </p:nvGrpSpPr>
            <p:grpSpPr bwMode="auto">
              <a:xfrm>
                <a:off x="609" y="2392"/>
                <a:ext cx="729" cy="1311"/>
                <a:chOff x="609" y="2392"/>
                <a:chExt cx="729" cy="1311"/>
              </a:xfrm>
            </p:grpSpPr>
            <p:grpSp>
              <p:nvGrpSpPr>
                <p:cNvPr id="64530" name="Group 1378"/>
                <p:cNvGrpSpPr>
                  <a:grpSpLocks/>
                </p:cNvGrpSpPr>
                <p:nvPr/>
              </p:nvGrpSpPr>
              <p:grpSpPr bwMode="auto">
                <a:xfrm>
                  <a:off x="609" y="2886"/>
                  <a:ext cx="729" cy="817"/>
                  <a:chOff x="609" y="2886"/>
                  <a:chExt cx="729" cy="817"/>
                </a:xfrm>
              </p:grpSpPr>
              <p:sp>
                <p:nvSpPr>
                  <p:cNvPr id="64535" name="Rectangle 1379"/>
                  <p:cNvSpPr>
                    <a:spLocks noChangeArrowheads="1"/>
                  </p:cNvSpPr>
                  <p:nvPr/>
                </p:nvSpPr>
                <p:spPr bwMode="auto">
                  <a:xfrm>
                    <a:off x="612" y="3203"/>
                    <a:ext cx="545" cy="500"/>
                  </a:xfrm>
                  <a:prstGeom prst="rect">
                    <a:avLst/>
                  </a:prstGeom>
                  <a:solidFill>
                    <a:srgbClr val="99CCFF"/>
                  </a:solid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4536" name="AutoShape 1380"/>
                  <p:cNvSpPr>
                    <a:spLocks noChangeArrowheads="1"/>
                  </p:cNvSpPr>
                  <p:nvPr/>
                </p:nvSpPr>
                <p:spPr bwMode="auto">
                  <a:xfrm>
                    <a:off x="612" y="2886"/>
                    <a:ext cx="726" cy="317"/>
                  </a:xfrm>
                  <a:prstGeom prst="parallelogram">
                    <a:avLst>
                      <a:gd name="adj" fmla="val 57256"/>
                    </a:avLst>
                  </a:prstGeom>
                  <a:solidFill>
                    <a:srgbClr val="99CCFF"/>
                  </a:solid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64537" name="Freeform 1381"/>
                  <p:cNvSpPr>
                    <a:spLocks/>
                  </p:cNvSpPr>
                  <p:nvPr/>
                </p:nvSpPr>
                <p:spPr bwMode="auto">
                  <a:xfrm>
                    <a:off x="609" y="3204"/>
                    <a:ext cx="549" cy="498"/>
                  </a:xfrm>
                  <a:custGeom>
                    <a:avLst/>
                    <a:gdLst>
                      <a:gd name="T0" fmla="*/ 183 w 549"/>
                      <a:gd name="T1" fmla="*/ 0 h 498"/>
                      <a:gd name="T2" fmla="*/ 141 w 549"/>
                      <a:gd name="T3" fmla="*/ 180 h 498"/>
                      <a:gd name="T4" fmla="*/ 0 w 549"/>
                      <a:gd name="T5" fmla="*/ 180 h 498"/>
                      <a:gd name="T6" fmla="*/ 0 w 549"/>
                      <a:gd name="T7" fmla="*/ 498 h 498"/>
                      <a:gd name="T8" fmla="*/ 546 w 549"/>
                      <a:gd name="T9" fmla="*/ 498 h 498"/>
                      <a:gd name="T10" fmla="*/ 549 w 549"/>
                      <a:gd name="T11" fmla="*/ 0 h 498"/>
                      <a:gd name="T12" fmla="*/ 183 w 549"/>
                      <a:gd name="T13" fmla="*/ 0 h 498"/>
                      <a:gd name="T14" fmla="*/ 0 60000 65536"/>
                      <a:gd name="T15" fmla="*/ 0 60000 65536"/>
                      <a:gd name="T16" fmla="*/ 0 60000 65536"/>
                      <a:gd name="T17" fmla="*/ 0 60000 65536"/>
                      <a:gd name="T18" fmla="*/ 0 60000 65536"/>
                      <a:gd name="T19" fmla="*/ 0 60000 65536"/>
                      <a:gd name="T20" fmla="*/ 0 60000 65536"/>
                      <a:gd name="T21" fmla="*/ 0 w 549"/>
                      <a:gd name="T22" fmla="*/ 0 h 498"/>
                      <a:gd name="T23" fmla="*/ 549 w 549"/>
                      <a:gd name="T24" fmla="*/ 498 h 4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9" h="498">
                        <a:moveTo>
                          <a:pt x="183" y="0"/>
                        </a:moveTo>
                        <a:lnTo>
                          <a:pt x="141" y="180"/>
                        </a:lnTo>
                        <a:lnTo>
                          <a:pt x="0" y="180"/>
                        </a:lnTo>
                        <a:lnTo>
                          <a:pt x="0" y="498"/>
                        </a:lnTo>
                        <a:lnTo>
                          <a:pt x="546" y="498"/>
                        </a:lnTo>
                        <a:lnTo>
                          <a:pt x="549" y="0"/>
                        </a:lnTo>
                        <a:lnTo>
                          <a:pt x="183" y="0"/>
                        </a:lnTo>
                        <a:close/>
                      </a:path>
                    </a:pathLst>
                  </a:custGeom>
                  <a:solidFill>
                    <a:srgbClr val="99CCFF"/>
                  </a:solidFill>
                  <a:ln w="9525">
                    <a:solidFill>
                      <a:srgbClr val="000000"/>
                    </a:solidFill>
                    <a:round/>
                    <a:headEnd/>
                    <a:tailEnd/>
                  </a:ln>
                </p:spPr>
                <p:txBody>
                  <a:bodyPr/>
                  <a:lstStyle/>
                  <a:p>
                    <a:endParaRPr lang="en-US"/>
                  </a:p>
                </p:txBody>
              </p:sp>
            </p:grpSp>
            <p:grpSp>
              <p:nvGrpSpPr>
                <p:cNvPr id="64531" name="Group 1382"/>
                <p:cNvGrpSpPr>
                  <a:grpSpLocks/>
                </p:cNvGrpSpPr>
                <p:nvPr/>
              </p:nvGrpSpPr>
              <p:grpSpPr bwMode="auto">
                <a:xfrm>
                  <a:off x="793" y="2392"/>
                  <a:ext cx="545" cy="816"/>
                  <a:chOff x="793" y="2392"/>
                  <a:chExt cx="545" cy="816"/>
                </a:xfrm>
              </p:grpSpPr>
              <p:sp>
                <p:nvSpPr>
                  <p:cNvPr id="64532" name="Freeform 1383"/>
                  <p:cNvSpPr>
                    <a:spLocks/>
                  </p:cNvSpPr>
                  <p:nvPr/>
                </p:nvSpPr>
                <p:spPr bwMode="auto">
                  <a:xfrm>
                    <a:off x="1155" y="2392"/>
                    <a:ext cx="183" cy="816"/>
                  </a:xfrm>
                  <a:custGeom>
                    <a:avLst/>
                    <a:gdLst>
                      <a:gd name="T0" fmla="*/ 1 w 183"/>
                      <a:gd name="T1" fmla="*/ 816 h 816"/>
                      <a:gd name="T2" fmla="*/ 0 w 183"/>
                      <a:gd name="T3" fmla="*/ 326 h 816"/>
                      <a:gd name="T4" fmla="*/ 183 w 183"/>
                      <a:gd name="T5" fmla="*/ 0 h 816"/>
                      <a:gd name="T6" fmla="*/ 177 w 183"/>
                      <a:gd name="T7" fmla="*/ 491 h 816"/>
                      <a:gd name="T8" fmla="*/ 1 w 183"/>
                      <a:gd name="T9" fmla="*/ 816 h 816"/>
                      <a:gd name="T10" fmla="*/ 0 60000 65536"/>
                      <a:gd name="T11" fmla="*/ 0 60000 65536"/>
                      <a:gd name="T12" fmla="*/ 0 60000 65536"/>
                      <a:gd name="T13" fmla="*/ 0 60000 65536"/>
                      <a:gd name="T14" fmla="*/ 0 60000 65536"/>
                      <a:gd name="T15" fmla="*/ 0 w 183"/>
                      <a:gd name="T16" fmla="*/ 0 h 816"/>
                      <a:gd name="T17" fmla="*/ 183 w 183"/>
                      <a:gd name="T18" fmla="*/ 816 h 816"/>
                    </a:gdLst>
                    <a:ahLst/>
                    <a:cxnLst>
                      <a:cxn ang="T10">
                        <a:pos x="T0" y="T1"/>
                      </a:cxn>
                      <a:cxn ang="T11">
                        <a:pos x="T2" y="T3"/>
                      </a:cxn>
                      <a:cxn ang="T12">
                        <a:pos x="T4" y="T5"/>
                      </a:cxn>
                      <a:cxn ang="T13">
                        <a:pos x="T6" y="T7"/>
                      </a:cxn>
                      <a:cxn ang="T14">
                        <a:pos x="T8" y="T9"/>
                      </a:cxn>
                    </a:cxnLst>
                    <a:rect l="T15" t="T16" r="T17" b="T18"/>
                    <a:pathLst>
                      <a:path w="183" h="816">
                        <a:moveTo>
                          <a:pt x="1" y="816"/>
                        </a:moveTo>
                        <a:lnTo>
                          <a:pt x="0" y="326"/>
                        </a:lnTo>
                        <a:lnTo>
                          <a:pt x="183" y="0"/>
                        </a:lnTo>
                        <a:lnTo>
                          <a:pt x="177" y="491"/>
                        </a:lnTo>
                        <a:lnTo>
                          <a:pt x="1" y="816"/>
                        </a:lnTo>
                        <a:close/>
                      </a:path>
                    </a:pathLst>
                  </a:custGeom>
                  <a:solidFill>
                    <a:srgbClr val="FFFFFF"/>
                  </a:solidFill>
                  <a:ln w="9525">
                    <a:solidFill>
                      <a:srgbClr val="000000"/>
                    </a:solidFill>
                    <a:round/>
                    <a:headEnd/>
                    <a:tailEnd/>
                  </a:ln>
                </p:spPr>
                <p:txBody>
                  <a:bodyPr/>
                  <a:lstStyle/>
                  <a:p>
                    <a:endParaRPr lang="en-US"/>
                  </a:p>
                </p:txBody>
              </p:sp>
              <p:sp>
                <p:nvSpPr>
                  <p:cNvPr id="64533" name="Freeform 1384"/>
                  <p:cNvSpPr>
                    <a:spLocks/>
                  </p:cNvSpPr>
                  <p:nvPr/>
                </p:nvSpPr>
                <p:spPr bwMode="auto">
                  <a:xfrm>
                    <a:off x="793" y="2716"/>
                    <a:ext cx="366" cy="489"/>
                  </a:xfrm>
                  <a:custGeom>
                    <a:avLst/>
                    <a:gdLst>
                      <a:gd name="T0" fmla="*/ 2 w 366"/>
                      <a:gd name="T1" fmla="*/ 488 h 489"/>
                      <a:gd name="T2" fmla="*/ 363 w 366"/>
                      <a:gd name="T3" fmla="*/ 489 h 489"/>
                      <a:gd name="T4" fmla="*/ 366 w 366"/>
                      <a:gd name="T5" fmla="*/ 0 h 489"/>
                      <a:gd name="T6" fmla="*/ 121 w 366"/>
                      <a:gd name="T7" fmla="*/ 0 h 489"/>
                      <a:gd name="T8" fmla="*/ 0 w 366"/>
                      <a:gd name="T9" fmla="*/ 489 h 489"/>
                      <a:gd name="T10" fmla="*/ 0 60000 65536"/>
                      <a:gd name="T11" fmla="*/ 0 60000 65536"/>
                      <a:gd name="T12" fmla="*/ 0 60000 65536"/>
                      <a:gd name="T13" fmla="*/ 0 60000 65536"/>
                      <a:gd name="T14" fmla="*/ 0 60000 65536"/>
                      <a:gd name="T15" fmla="*/ 0 w 366"/>
                      <a:gd name="T16" fmla="*/ 0 h 489"/>
                      <a:gd name="T17" fmla="*/ 366 w 366"/>
                      <a:gd name="T18" fmla="*/ 489 h 489"/>
                    </a:gdLst>
                    <a:ahLst/>
                    <a:cxnLst>
                      <a:cxn ang="T10">
                        <a:pos x="T0" y="T1"/>
                      </a:cxn>
                      <a:cxn ang="T11">
                        <a:pos x="T2" y="T3"/>
                      </a:cxn>
                      <a:cxn ang="T12">
                        <a:pos x="T4" y="T5"/>
                      </a:cxn>
                      <a:cxn ang="T13">
                        <a:pos x="T6" y="T7"/>
                      </a:cxn>
                      <a:cxn ang="T14">
                        <a:pos x="T8" y="T9"/>
                      </a:cxn>
                    </a:cxnLst>
                    <a:rect l="T15" t="T16" r="T17" b="T18"/>
                    <a:pathLst>
                      <a:path w="366" h="489">
                        <a:moveTo>
                          <a:pt x="2" y="488"/>
                        </a:moveTo>
                        <a:lnTo>
                          <a:pt x="363" y="489"/>
                        </a:lnTo>
                        <a:lnTo>
                          <a:pt x="366" y="0"/>
                        </a:lnTo>
                        <a:lnTo>
                          <a:pt x="121" y="0"/>
                        </a:lnTo>
                        <a:lnTo>
                          <a:pt x="0" y="489"/>
                        </a:lnTo>
                      </a:path>
                    </a:pathLst>
                  </a:custGeom>
                  <a:solidFill>
                    <a:srgbClr val="FFFFFF"/>
                  </a:solidFill>
                  <a:ln w="9525" cap="flat" cmpd="sng">
                    <a:solidFill>
                      <a:srgbClr val="000000"/>
                    </a:solidFill>
                    <a:prstDash val="solid"/>
                    <a:round/>
                    <a:headEnd type="none" w="med" len="med"/>
                    <a:tailEnd type="none" w="med" len="med"/>
                  </a:ln>
                </p:spPr>
                <p:txBody>
                  <a:bodyPr/>
                  <a:lstStyle/>
                  <a:p>
                    <a:endParaRPr lang="en-US"/>
                  </a:p>
                </p:txBody>
              </p:sp>
              <p:sp>
                <p:nvSpPr>
                  <p:cNvPr id="64534" name="Freeform 1385"/>
                  <p:cNvSpPr>
                    <a:spLocks/>
                  </p:cNvSpPr>
                  <p:nvPr/>
                </p:nvSpPr>
                <p:spPr bwMode="auto">
                  <a:xfrm>
                    <a:off x="915" y="2394"/>
                    <a:ext cx="423" cy="327"/>
                  </a:xfrm>
                  <a:custGeom>
                    <a:avLst/>
                    <a:gdLst>
                      <a:gd name="T0" fmla="*/ 0 w 423"/>
                      <a:gd name="T1" fmla="*/ 321 h 327"/>
                      <a:gd name="T2" fmla="*/ 237 w 423"/>
                      <a:gd name="T3" fmla="*/ 327 h 327"/>
                      <a:gd name="T4" fmla="*/ 423 w 423"/>
                      <a:gd name="T5" fmla="*/ 0 h 327"/>
                      <a:gd name="T6" fmla="*/ 198 w 423"/>
                      <a:gd name="T7" fmla="*/ 0 h 327"/>
                      <a:gd name="T8" fmla="*/ 0 w 423"/>
                      <a:gd name="T9" fmla="*/ 321 h 327"/>
                      <a:gd name="T10" fmla="*/ 0 60000 65536"/>
                      <a:gd name="T11" fmla="*/ 0 60000 65536"/>
                      <a:gd name="T12" fmla="*/ 0 60000 65536"/>
                      <a:gd name="T13" fmla="*/ 0 60000 65536"/>
                      <a:gd name="T14" fmla="*/ 0 60000 65536"/>
                      <a:gd name="T15" fmla="*/ 0 w 423"/>
                      <a:gd name="T16" fmla="*/ 0 h 327"/>
                      <a:gd name="T17" fmla="*/ 423 w 423"/>
                      <a:gd name="T18" fmla="*/ 327 h 327"/>
                    </a:gdLst>
                    <a:ahLst/>
                    <a:cxnLst>
                      <a:cxn ang="T10">
                        <a:pos x="T0" y="T1"/>
                      </a:cxn>
                      <a:cxn ang="T11">
                        <a:pos x="T2" y="T3"/>
                      </a:cxn>
                      <a:cxn ang="T12">
                        <a:pos x="T4" y="T5"/>
                      </a:cxn>
                      <a:cxn ang="T13">
                        <a:pos x="T6" y="T7"/>
                      </a:cxn>
                      <a:cxn ang="T14">
                        <a:pos x="T8" y="T9"/>
                      </a:cxn>
                    </a:cxnLst>
                    <a:rect l="T15" t="T16" r="T17" b="T18"/>
                    <a:pathLst>
                      <a:path w="423" h="327">
                        <a:moveTo>
                          <a:pt x="0" y="321"/>
                        </a:moveTo>
                        <a:lnTo>
                          <a:pt x="237" y="327"/>
                        </a:lnTo>
                        <a:lnTo>
                          <a:pt x="423" y="0"/>
                        </a:lnTo>
                        <a:lnTo>
                          <a:pt x="198" y="0"/>
                        </a:lnTo>
                        <a:lnTo>
                          <a:pt x="0" y="321"/>
                        </a:lnTo>
                        <a:close/>
                      </a:path>
                    </a:pathLst>
                  </a:custGeom>
                  <a:solidFill>
                    <a:srgbClr val="FFFFFF"/>
                  </a:solidFill>
                  <a:ln w="9525" cap="flat" cmpd="sng">
                    <a:solidFill>
                      <a:srgbClr val="000000"/>
                    </a:solidFill>
                    <a:prstDash val="solid"/>
                    <a:round/>
                    <a:headEnd type="none" w="med" len="med"/>
                    <a:tailEnd type="none" w="med" len="med"/>
                  </a:ln>
                </p:spPr>
                <p:txBody>
                  <a:bodyPr/>
                  <a:lstStyle/>
                  <a:p>
                    <a:endParaRPr lang="en-US"/>
                  </a:p>
                </p:txBody>
              </p:sp>
            </p:grpSp>
          </p:grpSp>
          <p:sp>
            <p:nvSpPr>
              <p:cNvPr id="64529" name="Text Box 1386"/>
              <p:cNvSpPr txBox="1">
                <a:spLocks noChangeArrowheads="1"/>
              </p:cNvSpPr>
              <p:nvPr/>
            </p:nvSpPr>
            <p:spPr bwMode="auto">
              <a:xfrm>
                <a:off x="172" y="2452"/>
                <a:ext cx="786" cy="460"/>
              </a:xfrm>
              <a:prstGeom prst="rect">
                <a:avLst/>
              </a:prstGeom>
              <a:noFill/>
              <a:ln w="9525">
                <a:noFill/>
                <a:miter lim="800000"/>
                <a:headEnd/>
                <a:tailEnd/>
              </a:ln>
            </p:spPr>
            <p:txBody>
              <a:bodyPr>
                <a:spAutoFit/>
              </a:bodyPr>
              <a:lstStyle/>
              <a:p>
                <a:pPr algn="ctr">
                  <a:spcBef>
                    <a:spcPct val="50000"/>
                  </a:spcBef>
                </a:pPr>
                <a:r>
                  <a:rPr lang="en-AU" sz="1400" i="0">
                    <a:solidFill>
                      <a:srgbClr val="339966"/>
                    </a:solidFill>
                  </a:rPr>
                  <a:t>Discharge to the Environment</a:t>
                </a:r>
                <a:endParaRPr lang="en-US" sz="1400" i="0">
                  <a:solidFill>
                    <a:srgbClr val="339966"/>
                  </a:solidFill>
                </a:endParaRPr>
              </a:p>
            </p:txBody>
          </p:sp>
        </p:grpSp>
      </p:grpSp>
      <p:sp>
        <p:nvSpPr>
          <p:cNvPr id="64525" name="Oval 1387"/>
          <p:cNvSpPr>
            <a:spLocks noChangeArrowheads="1"/>
          </p:cNvSpPr>
          <p:nvPr/>
        </p:nvSpPr>
        <p:spPr bwMode="auto">
          <a:xfrm>
            <a:off x="333375" y="3941763"/>
            <a:ext cx="2200275" cy="2628900"/>
          </a:xfrm>
          <a:prstGeom prst="ellipse">
            <a:avLst/>
          </a:prstGeom>
          <a:noFill/>
          <a:ln w="38100">
            <a:solidFill>
              <a:srgbClr val="FF0000"/>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06407"/>
                                        </p:tgtEl>
                                        <p:attrNameLst>
                                          <p:attrName>style.visibility</p:attrName>
                                        </p:attrNameLst>
                                      </p:cBhvr>
                                      <p:to>
                                        <p:strVal val="visible"/>
                                      </p:to>
                                    </p:set>
                                    <p:animEffect transition="in" filter="dissolve">
                                      <p:cBhvr>
                                        <p:cTn id="7" dur="500"/>
                                        <p:tgtEl>
                                          <p:spTgt spid="1064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06465"/>
                                        </p:tgtEl>
                                        <p:attrNameLst>
                                          <p:attrName>style.visibility</p:attrName>
                                        </p:attrNameLst>
                                      </p:cBhvr>
                                      <p:to>
                                        <p:strVal val="visible"/>
                                      </p:to>
                                    </p:set>
                                    <p:animEffect transition="in" filter="dissolve">
                                      <p:cBhvr>
                                        <p:cTn id="12" dur="500"/>
                                        <p:tgtEl>
                                          <p:spTgt spid="10646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99322"/>
                                        </p:tgtEl>
                                        <p:attrNameLst>
                                          <p:attrName>style.visibility</p:attrName>
                                        </p:attrNameLst>
                                      </p:cBhvr>
                                      <p:to>
                                        <p:strVal val="visible"/>
                                      </p:to>
                                    </p:set>
                                    <p:animEffect transition="in" filter="dissolve">
                                      <p:cBhvr>
                                        <p:cTn id="17" dur="500"/>
                                        <p:tgtEl>
                                          <p:spTgt spid="299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ChangeArrowheads="1"/>
          </p:cNvSpPr>
          <p:nvPr>
            <p:ph type="title"/>
          </p:nvPr>
        </p:nvSpPr>
        <p:spPr>
          <a:xfrm>
            <a:off x="438150" y="798513"/>
            <a:ext cx="6145213" cy="987425"/>
          </a:xfrm>
        </p:spPr>
        <p:txBody>
          <a:bodyPr/>
          <a:lstStyle/>
          <a:p>
            <a:r>
              <a:rPr lang="en-AU" smtClean="0"/>
              <a:t>Groundwater Dependent Ecosystems</a:t>
            </a:r>
            <a:endParaRPr lang="en-US" smtClean="0"/>
          </a:p>
        </p:txBody>
      </p:sp>
      <p:pic>
        <p:nvPicPr>
          <p:cNvPr id="66562" name="Picture 4" descr="Box 5"/>
          <p:cNvPicPr>
            <a:picLocks noChangeAspect="1" noChangeArrowheads="1"/>
          </p:cNvPicPr>
          <p:nvPr/>
        </p:nvPicPr>
        <p:blipFill>
          <a:blip r:embed="rId3"/>
          <a:srcRect/>
          <a:stretch>
            <a:fillRect/>
          </a:stretch>
        </p:blipFill>
        <p:spPr bwMode="auto">
          <a:xfrm>
            <a:off x="419100" y="1889125"/>
            <a:ext cx="7132638" cy="45275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ChangeArrowheads="1"/>
          </p:cNvSpPr>
          <p:nvPr>
            <p:ph type="title"/>
          </p:nvPr>
        </p:nvSpPr>
        <p:spPr>
          <a:xfrm>
            <a:off x="438150" y="806450"/>
            <a:ext cx="6135688" cy="493713"/>
          </a:xfrm>
        </p:spPr>
        <p:txBody>
          <a:bodyPr/>
          <a:lstStyle/>
          <a:p>
            <a:r>
              <a:rPr lang="en-AU" smtClean="0"/>
              <a:t>Groundwater and Waterways</a:t>
            </a:r>
            <a:endParaRPr lang="en-US" smtClean="0"/>
          </a:p>
        </p:txBody>
      </p:sp>
      <p:sp>
        <p:nvSpPr>
          <p:cNvPr id="68610" name="Text Box 4"/>
          <p:cNvSpPr txBox="1">
            <a:spLocks noChangeArrowheads="1"/>
          </p:cNvSpPr>
          <p:nvPr/>
        </p:nvSpPr>
        <p:spPr bwMode="auto">
          <a:xfrm>
            <a:off x="4364038" y="6461125"/>
            <a:ext cx="3190875" cy="228600"/>
          </a:xfrm>
          <a:prstGeom prst="rect">
            <a:avLst/>
          </a:prstGeom>
          <a:noFill/>
          <a:ln w="9525">
            <a:noFill/>
            <a:miter lim="800000"/>
            <a:headEnd/>
            <a:tailEnd/>
          </a:ln>
        </p:spPr>
        <p:txBody>
          <a:bodyPr>
            <a:spAutoFit/>
          </a:bodyPr>
          <a:lstStyle/>
          <a:p>
            <a:pPr>
              <a:spcBef>
                <a:spcPct val="50000"/>
              </a:spcBef>
            </a:pPr>
            <a:r>
              <a:rPr lang="en-AU" sz="900" i="0">
                <a:solidFill>
                  <a:schemeClr val="tx1"/>
                </a:solidFill>
              </a:rPr>
              <a:t>Source:  http://www.connectedwater.gov.au/processes</a:t>
            </a:r>
          </a:p>
        </p:txBody>
      </p:sp>
      <p:pic>
        <p:nvPicPr>
          <p:cNvPr id="68611" name="Picture 6" descr="Processes_connectivitycategories_fig2_resize"/>
          <p:cNvPicPr>
            <a:picLocks noChangeArrowheads="1"/>
          </p:cNvPicPr>
          <p:nvPr/>
        </p:nvPicPr>
        <p:blipFill>
          <a:blip r:embed="rId3"/>
          <a:srcRect/>
          <a:stretch>
            <a:fillRect/>
          </a:stretch>
        </p:blipFill>
        <p:spPr bwMode="auto">
          <a:xfrm>
            <a:off x="4011613" y="4146550"/>
            <a:ext cx="3937000" cy="2306638"/>
          </a:xfrm>
          <a:prstGeom prst="rect">
            <a:avLst/>
          </a:prstGeom>
          <a:noFill/>
          <a:ln w="9525">
            <a:noFill/>
            <a:miter lim="800000"/>
            <a:headEnd/>
            <a:tailEnd/>
          </a:ln>
        </p:spPr>
      </p:pic>
      <p:pic>
        <p:nvPicPr>
          <p:cNvPr id="68612" name="Picture 7" descr="Processes_connectivitycategories_fig5_resize"/>
          <p:cNvPicPr>
            <a:picLocks noChangeArrowheads="1"/>
          </p:cNvPicPr>
          <p:nvPr/>
        </p:nvPicPr>
        <p:blipFill>
          <a:blip r:embed="rId4"/>
          <a:srcRect/>
          <a:stretch>
            <a:fillRect/>
          </a:stretch>
        </p:blipFill>
        <p:spPr bwMode="auto">
          <a:xfrm>
            <a:off x="3990975" y="1452563"/>
            <a:ext cx="3937000" cy="2357437"/>
          </a:xfrm>
          <a:prstGeom prst="rect">
            <a:avLst/>
          </a:prstGeom>
          <a:noFill/>
          <a:ln w="9525">
            <a:noFill/>
            <a:miter lim="800000"/>
            <a:headEnd/>
            <a:tailEnd/>
          </a:ln>
        </p:spPr>
      </p:pic>
      <p:pic>
        <p:nvPicPr>
          <p:cNvPr id="68613" name="Picture 5" descr="Processes_connectivitycategories_fig1_resize"/>
          <p:cNvPicPr>
            <a:picLocks noChangeAspect="1" noChangeArrowheads="1"/>
          </p:cNvPicPr>
          <p:nvPr/>
        </p:nvPicPr>
        <p:blipFill>
          <a:blip r:embed="rId5"/>
          <a:srcRect/>
          <a:stretch>
            <a:fillRect/>
          </a:stretch>
        </p:blipFill>
        <p:spPr bwMode="auto">
          <a:xfrm>
            <a:off x="420688" y="3959225"/>
            <a:ext cx="3440112" cy="2608263"/>
          </a:xfrm>
          <a:prstGeom prst="rect">
            <a:avLst/>
          </a:prstGeom>
          <a:noFill/>
          <a:ln w="9525">
            <a:noFill/>
            <a:miter lim="800000"/>
            <a:headEnd/>
            <a:tailEnd/>
          </a:ln>
        </p:spPr>
      </p:pic>
      <p:sp>
        <p:nvSpPr>
          <p:cNvPr id="68614" name="Text Box 11"/>
          <p:cNvSpPr txBox="1">
            <a:spLocks noChangeArrowheads="1"/>
          </p:cNvSpPr>
          <p:nvPr/>
        </p:nvSpPr>
        <p:spPr bwMode="auto">
          <a:xfrm>
            <a:off x="420688" y="5794375"/>
            <a:ext cx="3440112" cy="800100"/>
          </a:xfrm>
          <a:prstGeom prst="rect">
            <a:avLst/>
          </a:prstGeom>
          <a:noFill/>
          <a:ln w="9525">
            <a:noFill/>
            <a:miter lim="800000"/>
            <a:headEnd/>
            <a:tailEnd/>
          </a:ln>
        </p:spPr>
        <p:txBody>
          <a:bodyPr>
            <a:spAutoFit/>
          </a:bodyPr>
          <a:lstStyle/>
          <a:p>
            <a:pPr defTabSz="449263">
              <a:spcBef>
                <a:spcPct val="50000"/>
              </a:spcBef>
              <a:buClr>
                <a:srgbClr val="000000"/>
              </a:buClr>
              <a:buSzPct val="100000"/>
              <a:buFont typeface="Times New Roman" pitchFamily="18" charset="0"/>
              <a:buNone/>
            </a:pPr>
            <a:r>
              <a:rPr lang="en-AU"/>
              <a:t>Connected losing stream </a:t>
            </a:r>
            <a:r>
              <a:rPr lang="en-AU" sz="1400"/>
              <a:t>(loss varies with difference in level between river and groundwater)</a:t>
            </a:r>
            <a:endParaRPr lang="en-US" sz="1400"/>
          </a:p>
        </p:txBody>
      </p:sp>
      <p:sp>
        <p:nvSpPr>
          <p:cNvPr id="68615" name="Text Box 12"/>
          <p:cNvSpPr txBox="1">
            <a:spLocks noChangeArrowheads="1"/>
          </p:cNvSpPr>
          <p:nvPr/>
        </p:nvSpPr>
        <p:spPr bwMode="auto">
          <a:xfrm>
            <a:off x="4011613" y="5886450"/>
            <a:ext cx="3937000" cy="585788"/>
          </a:xfrm>
          <a:prstGeom prst="rect">
            <a:avLst/>
          </a:prstGeom>
          <a:noFill/>
          <a:ln w="9525">
            <a:noFill/>
            <a:miter lim="800000"/>
            <a:headEnd/>
            <a:tailEnd/>
          </a:ln>
        </p:spPr>
        <p:txBody>
          <a:bodyPr>
            <a:spAutoFit/>
          </a:bodyPr>
          <a:lstStyle/>
          <a:p>
            <a:pPr defTabSz="449263">
              <a:spcBef>
                <a:spcPct val="50000"/>
              </a:spcBef>
              <a:buClr>
                <a:srgbClr val="000000"/>
              </a:buClr>
              <a:buSzPct val="100000"/>
              <a:buFont typeface="Times New Roman" pitchFamily="18" charset="0"/>
              <a:buNone/>
            </a:pPr>
            <a:r>
              <a:rPr lang="en-AU"/>
              <a:t>Disconnected stream </a:t>
            </a:r>
            <a:r>
              <a:rPr lang="en-AU" sz="1400"/>
              <a:t>(rate of loss more or less constant)</a:t>
            </a:r>
            <a:endParaRPr lang="en-US" sz="1400"/>
          </a:p>
        </p:txBody>
      </p:sp>
      <p:sp>
        <p:nvSpPr>
          <p:cNvPr id="68616" name="Text Box 14"/>
          <p:cNvSpPr txBox="1">
            <a:spLocks noChangeArrowheads="1"/>
          </p:cNvSpPr>
          <p:nvPr/>
        </p:nvSpPr>
        <p:spPr bwMode="auto">
          <a:xfrm>
            <a:off x="4087813" y="3168650"/>
            <a:ext cx="3744912" cy="641350"/>
          </a:xfrm>
          <a:prstGeom prst="rect">
            <a:avLst/>
          </a:prstGeom>
          <a:noFill/>
          <a:ln w="9525">
            <a:noFill/>
            <a:miter lim="800000"/>
            <a:headEnd/>
            <a:tailEnd/>
          </a:ln>
        </p:spPr>
        <p:txBody>
          <a:bodyPr>
            <a:spAutoFit/>
          </a:bodyPr>
          <a:lstStyle/>
          <a:p>
            <a:pPr defTabSz="449263">
              <a:spcBef>
                <a:spcPct val="50000"/>
              </a:spcBef>
              <a:buClr>
                <a:srgbClr val="000000"/>
              </a:buClr>
              <a:buSzPct val="100000"/>
              <a:buFont typeface="Times New Roman" pitchFamily="18" charset="0"/>
              <a:buNone/>
            </a:pPr>
            <a:r>
              <a:rPr lang="en-AU"/>
              <a:t>Gaining during low flow, losing during high flow.</a:t>
            </a:r>
            <a:endParaRPr lang="en-US"/>
          </a:p>
        </p:txBody>
      </p:sp>
      <p:pic>
        <p:nvPicPr>
          <p:cNvPr id="68617" name="Picture 15"/>
          <p:cNvPicPr>
            <a:picLocks noChangeAspect="1" noChangeArrowheads="1"/>
          </p:cNvPicPr>
          <p:nvPr/>
        </p:nvPicPr>
        <p:blipFill>
          <a:blip r:embed="rId6"/>
          <a:srcRect/>
          <a:stretch>
            <a:fillRect/>
          </a:stretch>
        </p:blipFill>
        <p:spPr bwMode="auto">
          <a:xfrm>
            <a:off x="420688" y="1276350"/>
            <a:ext cx="3440112" cy="2582863"/>
          </a:xfrm>
          <a:prstGeom prst="rect">
            <a:avLst/>
          </a:prstGeom>
          <a:noFill/>
          <a:ln w="9525">
            <a:noFill/>
            <a:miter lim="800000"/>
            <a:headEnd/>
            <a:tailEnd/>
          </a:ln>
        </p:spPr>
      </p:pic>
      <p:sp>
        <p:nvSpPr>
          <p:cNvPr id="68618" name="Text Box 11"/>
          <p:cNvSpPr txBox="1">
            <a:spLocks noChangeArrowheads="1"/>
          </p:cNvSpPr>
          <p:nvPr/>
        </p:nvSpPr>
        <p:spPr bwMode="auto">
          <a:xfrm>
            <a:off x="511175" y="3398838"/>
            <a:ext cx="3100388" cy="369887"/>
          </a:xfrm>
          <a:prstGeom prst="rect">
            <a:avLst/>
          </a:prstGeom>
          <a:noFill/>
          <a:ln w="9525">
            <a:noFill/>
            <a:miter lim="800000"/>
            <a:headEnd/>
            <a:tailEnd/>
          </a:ln>
        </p:spPr>
        <p:txBody>
          <a:bodyPr>
            <a:spAutoFit/>
          </a:bodyPr>
          <a:lstStyle/>
          <a:p>
            <a:pPr defTabSz="449263">
              <a:spcBef>
                <a:spcPct val="50000"/>
              </a:spcBef>
              <a:buClr>
                <a:srgbClr val="000000"/>
              </a:buClr>
              <a:buSzPct val="100000"/>
              <a:buFont typeface="Times New Roman" pitchFamily="18" charset="0"/>
              <a:buNone/>
            </a:pPr>
            <a:r>
              <a:rPr lang="en-AU"/>
              <a:t>Gaining stream</a:t>
            </a:r>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7" name="Picture 2" descr="figc-1"/>
          <p:cNvPicPr>
            <a:picLocks noChangeAspect="1" noChangeArrowheads="1"/>
          </p:cNvPicPr>
          <p:nvPr/>
        </p:nvPicPr>
        <p:blipFill>
          <a:blip r:embed="rId3"/>
          <a:srcRect/>
          <a:stretch>
            <a:fillRect/>
          </a:stretch>
        </p:blipFill>
        <p:spPr bwMode="auto">
          <a:xfrm>
            <a:off x="2122488" y="1744663"/>
            <a:ext cx="3598862" cy="4789487"/>
          </a:xfrm>
          <a:prstGeom prst="rect">
            <a:avLst/>
          </a:prstGeom>
          <a:noFill/>
          <a:ln w="9525">
            <a:noFill/>
            <a:miter lim="800000"/>
            <a:headEnd/>
            <a:tailEnd/>
          </a:ln>
        </p:spPr>
      </p:pic>
      <p:sp>
        <p:nvSpPr>
          <p:cNvPr id="70658" name="Rectangle 3"/>
          <p:cNvSpPr>
            <a:spLocks noGrp="1" noChangeArrowheads="1"/>
          </p:cNvSpPr>
          <p:nvPr>
            <p:ph type="title"/>
          </p:nvPr>
        </p:nvSpPr>
        <p:spPr>
          <a:xfrm>
            <a:off x="438150" y="811213"/>
            <a:ext cx="6497638" cy="987425"/>
          </a:xfrm>
        </p:spPr>
        <p:txBody>
          <a:bodyPr/>
          <a:lstStyle/>
          <a:p>
            <a:r>
              <a:rPr lang="en-US" smtClean="0"/>
              <a:t>Groundwater use affects surface water and environment</a:t>
            </a:r>
          </a:p>
        </p:txBody>
      </p:sp>
      <p:sp>
        <p:nvSpPr>
          <p:cNvPr id="70659" name="Text Box 4"/>
          <p:cNvSpPr txBox="1">
            <a:spLocks noChangeArrowheads="1"/>
          </p:cNvSpPr>
          <p:nvPr/>
        </p:nvSpPr>
        <p:spPr bwMode="auto">
          <a:xfrm>
            <a:off x="4910138" y="6499225"/>
            <a:ext cx="3190875" cy="228600"/>
          </a:xfrm>
          <a:prstGeom prst="rect">
            <a:avLst/>
          </a:prstGeom>
          <a:noFill/>
          <a:ln w="9525">
            <a:noFill/>
            <a:miter lim="800000"/>
            <a:headEnd/>
            <a:tailEnd/>
          </a:ln>
        </p:spPr>
        <p:txBody>
          <a:bodyPr>
            <a:spAutoFit/>
          </a:bodyPr>
          <a:lstStyle/>
          <a:p>
            <a:pPr>
              <a:spcBef>
                <a:spcPct val="50000"/>
              </a:spcBef>
            </a:pPr>
            <a:r>
              <a:rPr lang="en-AU" sz="900" i="0">
                <a:solidFill>
                  <a:schemeClr val="tx1"/>
                </a:solidFill>
              </a:rPr>
              <a:t>Source:  http://www.connectedwater.gov.au/processes</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noChangeArrowheads="1"/>
          </p:cNvSpPr>
          <p:nvPr>
            <p:ph type="title"/>
          </p:nvPr>
        </p:nvSpPr>
        <p:spPr>
          <a:xfrm>
            <a:off x="438150" y="817563"/>
            <a:ext cx="5715000" cy="987425"/>
          </a:xfrm>
        </p:spPr>
        <p:txBody>
          <a:bodyPr/>
          <a:lstStyle/>
          <a:p>
            <a:r>
              <a:rPr lang="en-AU" smtClean="0"/>
              <a:t>Groundwater/surface water</a:t>
            </a:r>
            <a:br>
              <a:rPr lang="en-AU" smtClean="0"/>
            </a:br>
            <a:r>
              <a:rPr lang="en-AU" smtClean="0"/>
              <a:t>“connectivity”</a:t>
            </a:r>
            <a:endParaRPr lang="en-US" smtClean="0"/>
          </a:p>
        </p:txBody>
      </p:sp>
      <p:sp>
        <p:nvSpPr>
          <p:cNvPr id="72706" name="Text Box 5"/>
          <p:cNvSpPr txBox="1">
            <a:spLocks noChangeArrowheads="1"/>
          </p:cNvSpPr>
          <p:nvPr/>
        </p:nvSpPr>
        <p:spPr bwMode="auto">
          <a:xfrm>
            <a:off x="5622925" y="6132513"/>
            <a:ext cx="3028950" cy="449262"/>
          </a:xfrm>
          <a:prstGeom prst="rect">
            <a:avLst/>
          </a:prstGeom>
          <a:noFill/>
          <a:ln w="9525">
            <a:noFill/>
            <a:miter lim="800000"/>
            <a:headEnd/>
            <a:tailEnd/>
          </a:ln>
        </p:spPr>
        <p:txBody>
          <a:bodyPr>
            <a:spAutoFit/>
          </a:bodyPr>
          <a:lstStyle/>
          <a:p>
            <a:pPr>
              <a:spcBef>
                <a:spcPct val="50000"/>
              </a:spcBef>
            </a:pPr>
            <a:r>
              <a:rPr lang="en-AU" sz="1000" i="0">
                <a:solidFill>
                  <a:schemeClr val="tx1"/>
                </a:solidFill>
              </a:rPr>
              <a:t>Source: CSIRO Sustainable Yields Project</a:t>
            </a:r>
          </a:p>
          <a:p>
            <a:pPr>
              <a:spcBef>
                <a:spcPct val="50000"/>
              </a:spcBef>
            </a:pPr>
            <a:r>
              <a:rPr lang="en-US" sz="900" i="0">
                <a:solidFill>
                  <a:schemeClr val="tx1"/>
                </a:solidFill>
              </a:rPr>
              <a:t>http://www.csiro.au/files/files/pkgb.pdf</a:t>
            </a:r>
          </a:p>
        </p:txBody>
      </p:sp>
      <p:sp>
        <p:nvSpPr>
          <p:cNvPr id="72707" name="Text Box 7"/>
          <p:cNvSpPr txBox="1">
            <a:spLocks noChangeArrowheads="1"/>
          </p:cNvSpPr>
          <p:nvPr/>
        </p:nvSpPr>
        <p:spPr bwMode="auto">
          <a:xfrm>
            <a:off x="5429250" y="2238375"/>
            <a:ext cx="2765425" cy="915988"/>
          </a:xfrm>
          <a:prstGeom prst="rect">
            <a:avLst/>
          </a:prstGeom>
          <a:noFill/>
          <a:ln w="9525">
            <a:noFill/>
            <a:miter lim="800000"/>
            <a:headEnd/>
            <a:tailEnd/>
          </a:ln>
        </p:spPr>
        <p:txBody>
          <a:bodyPr>
            <a:spAutoFit/>
          </a:bodyPr>
          <a:lstStyle/>
          <a:p>
            <a:pPr>
              <a:spcBef>
                <a:spcPct val="50000"/>
              </a:spcBef>
            </a:pPr>
            <a:r>
              <a:rPr lang="en-AU" i="0">
                <a:solidFill>
                  <a:schemeClr val="tx1"/>
                </a:solidFill>
              </a:rPr>
              <a:t>“Losing streams” – surface water recharging groundwater</a:t>
            </a:r>
            <a:endParaRPr lang="en-US" i="0">
              <a:solidFill>
                <a:schemeClr val="tx1"/>
              </a:solidFill>
            </a:endParaRPr>
          </a:p>
        </p:txBody>
      </p:sp>
      <p:pic>
        <p:nvPicPr>
          <p:cNvPr id="72708" name="Picture 4"/>
          <p:cNvPicPr>
            <a:picLocks noChangeAspect="1" noChangeArrowheads="1"/>
          </p:cNvPicPr>
          <p:nvPr/>
        </p:nvPicPr>
        <p:blipFill>
          <a:blip r:embed="rId3"/>
          <a:srcRect/>
          <a:stretch>
            <a:fillRect/>
          </a:stretch>
        </p:blipFill>
        <p:spPr bwMode="auto">
          <a:xfrm>
            <a:off x="763588" y="1743075"/>
            <a:ext cx="4414837" cy="4791075"/>
          </a:xfrm>
          <a:prstGeom prst="rect">
            <a:avLst/>
          </a:prstGeom>
          <a:noFill/>
          <a:ln w="9525">
            <a:noFill/>
            <a:miter lim="800000"/>
            <a:headEnd/>
            <a:tailEnd/>
          </a:ln>
        </p:spPr>
      </p:pic>
      <p:sp>
        <p:nvSpPr>
          <p:cNvPr id="72709" name="Line 6"/>
          <p:cNvSpPr>
            <a:spLocks noChangeAspect="1" noChangeShapeType="1"/>
          </p:cNvSpPr>
          <p:nvPr/>
        </p:nvSpPr>
        <p:spPr bwMode="auto">
          <a:xfrm flipH="1">
            <a:off x="3338513" y="2698750"/>
            <a:ext cx="2019300" cy="98425"/>
          </a:xfrm>
          <a:prstGeom prst="line">
            <a:avLst/>
          </a:prstGeom>
          <a:noFill/>
          <a:ln w="12700">
            <a:solidFill>
              <a:schemeClr val="tx1"/>
            </a:solidFill>
            <a:round/>
            <a:headEnd/>
            <a:tailEnd type="triangle" w="med" len="lg"/>
          </a:ln>
        </p:spPr>
        <p:txBody>
          <a:bodyPr/>
          <a:lstStyle/>
          <a:p>
            <a:endParaRPr lang="en-US"/>
          </a:p>
        </p:txBody>
      </p:sp>
      <p:sp>
        <p:nvSpPr>
          <p:cNvPr id="72710" name="Line 8"/>
          <p:cNvSpPr>
            <a:spLocks noChangeAspect="1" noChangeShapeType="1"/>
          </p:cNvSpPr>
          <p:nvPr/>
        </p:nvSpPr>
        <p:spPr bwMode="auto">
          <a:xfrm flipH="1">
            <a:off x="2755900" y="3975100"/>
            <a:ext cx="2668588" cy="622300"/>
          </a:xfrm>
          <a:prstGeom prst="line">
            <a:avLst/>
          </a:prstGeom>
          <a:noFill/>
          <a:ln w="12700">
            <a:solidFill>
              <a:schemeClr val="tx1"/>
            </a:solidFill>
            <a:round/>
            <a:headEnd/>
            <a:tailEnd type="triangle" w="med" len="lg"/>
          </a:ln>
        </p:spPr>
        <p:txBody>
          <a:bodyPr/>
          <a:lstStyle/>
          <a:p>
            <a:endParaRPr lang="en-US"/>
          </a:p>
        </p:txBody>
      </p:sp>
      <p:sp>
        <p:nvSpPr>
          <p:cNvPr id="72711" name="Text Box 9"/>
          <p:cNvSpPr txBox="1">
            <a:spLocks noChangeArrowheads="1"/>
          </p:cNvSpPr>
          <p:nvPr/>
        </p:nvSpPr>
        <p:spPr bwMode="auto">
          <a:xfrm>
            <a:off x="5429250" y="3521075"/>
            <a:ext cx="2952750" cy="915988"/>
          </a:xfrm>
          <a:prstGeom prst="rect">
            <a:avLst/>
          </a:prstGeom>
          <a:noFill/>
          <a:ln w="9525">
            <a:noFill/>
            <a:miter lim="800000"/>
            <a:headEnd/>
            <a:tailEnd/>
          </a:ln>
        </p:spPr>
        <p:txBody>
          <a:bodyPr>
            <a:spAutoFit/>
          </a:bodyPr>
          <a:lstStyle/>
          <a:p>
            <a:pPr>
              <a:spcBef>
                <a:spcPct val="50000"/>
              </a:spcBef>
            </a:pPr>
            <a:r>
              <a:rPr lang="en-AU" i="0">
                <a:solidFill>
                  <a:schemeClr val="tx1"/>
                </a:solidFill>
              </a:rPr>
              <a:t>“Gaining streams” – groundwater base flow to surface water</a:t>
            </a:r>
            <a:endParaRPr lang="en-US" i="0">
              <a:solidFill>
                <a:schemeClr val="tx1"/>
              </a:solidFill>
            </a:endParaRPr>
          </a:p>
        </p:txBody>
      </p:sp>
      <p:sp>
        <p:nvSpPr>
          <p:cNvPr id="72712" name="Text Box 10"/>
          <p:cNvSpPr txBox="1">
            <a:spLocks noChangeArrowheads="1"/>
          </p:cNvSpPr>
          <p:nvPr/>
        </p:nvSpPr>
        <p:spPr bwMode="auto">
          <a:xfrm>
            <a:off x="5429250" y="4984750"/>
            <a:ext cx="2952750" cy="779463"/>
          </a:xfrm>
          <a:prstGeom prst="rect">
            <a:avLst/>
          </a:prstGeom>
          <a:noFill/>
          <a:ln w="9525">
            <a:noFill/>
            <a:miter lim="800000"/>
            <a:headEnd/>
            <a:tailEnd/>
          </a:ln>
        </p:spPr>
        <p:txBody>
          <a:bodyPr>
            <a:spAutoFit/>
          </a:bodyPr>
          <a:lstStyle/>
          <a:p>
            <a:pPr>
              <a:spcBef>
                <a:spcPct val="50000"/>
              </a:spcBef>
            </a:pPr>
            <a:r>
              <a:rPr lang="en-AU" i="0">
                <a:solidFill>
                  <a:schemeClr val="tx1"/>
                </a:solidFill>
              </a:rPr>
              <a:t>Seasonally variable</a:t>
            </a:r>
          </a:p>
          <a:p>
            <a:pPr>
              <a:spcBef>
                <a:spcPct val="50000"/>
              </a:spcBef>
            </a:pPr>
            <a:r>
              <a:rPr lang="en-AU" i="0">
                <a:solidFill>
                  <a:schemeClr val="tx1"/>
                </a:solidFill>
              </a:rPr>
              <a:t>Not connected</a:t>
            </a:r>
            <a:endParaRPr lang="en-US" i="0">
              <a:solidFill>
                <a:schemeClr val="tx1"/>
              </a:solidFill>
            </a:endParaRPr>
          </a:p>
        </p:txBody>
      </p:sp>
      <p:sp>
        <p:nvSpPr>
          <p:cNvPr id="72713" name="Text Box 11"/>
          <p:cNvSpPr txBox="1">
            <a:spLocks noChangeArrowheads="1"/>
          </p:cNvSpPr>
          <p:nvPr/>
        </p:nvSpPr>
        <p:spPr bwMode="auto">
          <a:xfrm>
            <a:off x="3019425" y="1758950"/>
            <a:ext cx="4371975" cy="366713"/>
          </a:xfrm>
          <a:prstGeom prst="rect">
            <a:avLst/>
          </a:prstGeom>
          <a:noFill/>
          <a:ln w="9525">
            <a:noFill/>
            <a:miter lim="800000"/>
            <a:headEnd/>
            <a:tailEnd/>
          </a:ln>
        </p:spPr>
        <p:txBody>
          <a:bodyPr>
            <a:spAutoFit/>
          </a:bodyPr>
          <a:lstStyle/>
          <a:p>
            <a:pPr>
              <a:spcBef>
                <a:spcPct val="50000"/>
              </a:spcBef>
            </a:pPr>
            <a:r>
              <a:rPr lang="en-AU" i="0">
                <a:solidFill>
                  <a:schemeClr val="tx1"/>
                </a:solidFill>
              </a:rPr>
              <a:t>Example: Goulburn Broken catchment</a:t>
            </a:r>
            <a:endParaRPr lang="en-US" i="0">
              <a:solidFill>
                <a:schemeClr val="tx1"/>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p:nvPr>
        </p:nvSpPr>
        <p:spPr>
          <a:xfrm>
            <a:off x="438150" y="889000"/>
            <a:ext cx="5813425" cy="822325"/>
          </a:xfrm>
        </p:spPr>
        <p:txBody>
          <a:bodyPr/>
          <a:lstStyle/>
          <a:p>
            <a:r>
              <a:rPr lang="en-AU" smtClean="0"/>
              <a:t>Groundwater / surface water</a:t>
            </a:r>
            <a:r>
              <a:rPr lang="en-AU" sz="3200" smtClean="0"/>
              <a:t> </a:t>
            </a:r>
            <a:r>
              <a:rPr lang="en-AU" sz="2400" smtClean="0"/>
              <a:t>interaction</a:t>
            </a:r>
            <a:endParaRPr lang="en-US" sz="2400" smtClean="0"/>
          </a:p>
        </p:txBody>
      </p:sp>
      <p:pic>
        <p:nvPicPr>
          <p:cNvPr id="74754" name="Picture 4"/>
          <p:cNvPicPr>
            <a:picLocks noChangeAspect="1" noChangeArrowheads="1"/>
          </p:cNvPicPr>
          <p:nvPr/>
        </p:nvPicPr>
        <p:blipFill>
          <a:blip r:embed="rId3"/>
          <a:srcRect/>
          <a:stretch>
            <a:fillRect/>
          </a:stretch>
        </p:blipFill>
        <p:spPr bwMode="auto">
          <a:xfrm>
            <a:off x="438150" y="1884363"/>
            <a:ext cx="7194550" cy="45688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title"/>
          </p:nvPr>
        </p:nvSpPr>
        <p:spPr>
          <a:xfrm>
            <a:off x="438150" y="798513"/>
            <a:ext cx="5875338" cy="987425"/>
          </a:xfrm>
        </p:spPr>
        <p:txBody>
          <a:bodyPr/>
          <a:lstStyle/>
          <a:p>
            <a:r>
              <a:rPr lang="en-AU" smtClean="0"/>
              <a:t>Groundwater Management Basics</a:t>
            </a:r>
            <a:endParaRPr lang="en-US" smtClean="0"/>
          </a:p>
        </p:txBody>
      </p:sp>
      <p:sp>
        <p:nvSpPr>
          <p:cNvPr id="76802" name="Line 4"/>
          <p:cNvSpPr>
            <a:spLocks noChangeShapeType="1"/>
          </p:cNvSpPr>
          <p:nvPr/>
        </p:nvSpPr>
        <p:spPr bwMode="auto">
          <a:xfrm>
            <a:off x="3324225" y="4364038"/>
            <a:ext cx="3000375" cy="0"/>
          </a:xfrm>
          <a:prstGeom prst="line">
            <a:avLst/>
          </a:prstGeom>
          <a:noFill/>
          <a:ln w="12700">
            <a:solidFill>
              <a:schemeClr val="tx1"/>
            </a:solidFill>
            <a:prstDash val="dash"/>
            <a:round/>
            <a:headEnd/>
            <a:tailEnd/>
          </a:ln>
        </p:spPr>
        <p:txBody>
          <a:bodyPr/>
          <a:lstStyle/>
          <a:p>
            <a:endParaRPr lang="en-US"/>
          </a:p>
        </p:txBody>
      </p:sp>
      <p:sp>
        <p:nvSpPr>
          <p:cNvPr id="76803" name="Line 5"/>
          <p:cNvSpPr>
            <a:spLocks noChangeShapeType="1"/>
          </p:cNvSpPr>
          <p:nvPr/>
        </p:nvSpPr>
        <p:spPr bwMode="auto">
          <a:xfrm flipV="1">
            <a:off x="800100" y="4127500"/>
            <a:ext cx="631825" cy="860425"/>
          </a:xfrm>
          <a:prstGeom prst="line">
            <a:avLst/>
          </a:prstGeom>
          <a:noFill/>
          <a:ln w="9525">
            <a:solidFill>
              <a:schemeClr val="tx1"/>
            </a:solidFill>
            <a:round/>
            <a:headEnd/>
            <a:tailEnd/>
          </a:ln>
        </p:spPr>
        <p:txBody>
          <a:bodyPr/>
          <a:lstStyle/>
          <a:p>
            <a:endParaRPr lang="en-US"/>
          </a:p>
        </p:txBody>
      </p:sp>
      <p:sp>
        <p:nvSpPr>
          <p:cNvPr id="76804" name="Rectangle 7"/>
          <p:cNvSpPr>
            <a:spLocks noChangeArrowheads="1"/>
          </p:cNvSpPr>
          <p:nvPr/>
        </p:nvSpPr>
        <p:spPr bwMode="auto">
          <a:xfrm>
            <a:off x="809625" y="5138738"/>
            <a:ext cx="1892300" cy="1222375"/>
          </a:xfrm>
          <a:prstGeom prst="rect">
            <a:avLst/>
          </a:prstGeom>
          <a:solidFill>
            <a:srgbClr val="99CCFF"/>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76805" name="AutoShape 8"/>
          <p:cNvSpPr>
            <a:spLocks noChangeArrowheads="1"/>
          </p:cNvSpPr>
          <p:nvPr/>
        </p:nvSpPr>
        <p:spPr bwMode="auto">
          <a:xfrm>
            <a:off x="800100" y="4127500"/>
            <a:ext cx="2533650" cy="858838"/>
          </a:xfrm>
          <a:prstGeom prst="parallelogram">
            <a:avLst>
              <a:gd name="adj" fmla="val 73752"/>
            </a:avLst>
          </a:prstGeom>
          <a:solidFill>
            <a:schemeClr val="accent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76806" name="Freeform 9"/>
          <p:cNvSpPr>
            <a:spLocks/>
          </p:cNvSpPr>
          <p:nvPr/>
        </p:nvSpPr>
        <p:spPr bwMode="auto">
          <a:xfrm>
            <a:off x="2698750" y="4365625"/>
            <a:ext cx="635000" cy="1973263"/>
          </a:xfrm>
          <a:custGeom>
            <a:avLst/>
            <a:gdLst>
              <a:gd name="T0" fmla="*/ 0 w 182"/>
              <a:gd name="T1" fmla="*/ 1973263 h 816"/>
              <a:gd name="T2" fmla="*/ 0 w 182"/>
              <a:gd name="T3" fmla="*/ 766574 h 816"/>
              <a:gd name="T4" fmla="*/ 635000 w 182"/>
              <a:gd name="T5" fmla="*/ 0 h 816"/>
              <a:gd name="T6" fmla="*/ 635000 w 182"/>
              <a:gd name="T7" fmla="*/ 1206689 h 816"/>
              <a:gd name="T8" fmla="*/ 0 w 182"/>
              <a:gd name="T9" fmla="*/ 1973263 h 816"/>
              <a:gd name="T10" fmla="*/ 0 60000 65536"/>
              <a:gd name="T11" fmla="*/ 0 60000 65536"/>
              <a:gd name="T12" fmla="*/ 0 60000 65536"/>
              <a:gd name="T13" fmla="*/ 0 60000 65536"/>
              <a:gd name="T14" fmla="*/ 0 60000 65536"/>
              <a:gd name="T15" fmla="*/ 0 w 182"/>
              <a:gd name="T16" fmla="*/ 0 h 816"/>
              <a:gd name="T17" fmla="*/ 182 w 182"/>
              <a:gd name="T18" fmla="*/ 816 h 816"/>
            </a:gdLst>
            <a:ahLst/>
            <a:cxnLst>
              <a:cxn ang="T10">
                <a:pos x="T0" y="T1"/>
              </a:cxn>
              <a:cxn ang="T11">
                <a:pos x="T2" y="T3"/>
              </a:cxn>
              <a:cxn ang="T12">
                <a:pos x="T4" y="T5"/>
              </a:cxn>
              <a:cxn ang="T13">
                <a:pos x="T6" y="T7"/>
              </a:cxn>
              <a:cxn ang="T14">
                <a:pos x="T8" y="T9"/>
              </a:cxn>
            </a:cxnLst>
            <a:rect l="T15" t="T16" r="T17" b="T18"/>
            <a:pathLst>
              <a:path w="182" h="816">
                <a:moveTo>
                  <a:pt x="0" y="816"/>
                </a:moveTo>
                <a:lnTo>
                  <a:pt x="0" y="317"/>
                </a:lnTo>
                <a:lnTo>
                  <a:pt x="182" y="0"/>
                </a:lnTo>
                <a:lnTo>
                  <a:pt x="182" y="499"/>
                </a:lnTo>
                <a:lnTo>
                  <a:pt x="0" y="816"/>
                </a:lnTo>
                <a:close/>
              </a:path>
            </a:pathLst>
          </a:custGeom>
          <a:solidFill>
            <a:srgbClr val="99CCFF"/>
          </a:solidFill>
          <a:ln w="9525">
            <a:solidFill>
              <a:schemeClr val="tx1"/>
            </a:solidFill>
            <a:round/>
            <a:headEnd/>
            <a:tailEnd/>
          </a:ln>
        </p:spPr>
        <p:txBody>
          <a:bodyPr/>
          <a:lstStyle/>
          <a:p>
            <a:endParaRPr lang="en-US"/>
          </a:p>
        </p:txBody>
      </p:sp>
      <p:grpSp>
        <p:nvGrpSpPr>
          <p:cNvPr id="76807" name="Group 10"/>
          <p:cNvGrpSpPr>
            <a:grpSpLocks/>
          </p:cNvGrpSpPr>
          <p:nvPr/>
        </p:nvGrpSpPr>
        <p:grpSpPr bwMode="auto">
          <a:xfrm>
            <a:off x="800100" y="2781300"/>
            <a:ext cx="2533650" cy="2357438"/>
            <a:chOff x="756" y="1397"/>
            <a:chExt cx="1596" cy="1485"/>
          </a:xfrm>
        </p:grpSpPr>
        <p:sp>
          <p:nvSpPr>
            <p:cNvPr id="76853" name="Rectangle 11"/>
            <p:cNvSpPr>
              <a:spLocks noChangeArrowheads="1"/>
            </p:cNvSpPr>
            <p:nvPr/>
          </p:nvSpPr>
          <p:spPr bwMode="auto">
            <a:xfrm>
              <a:off x="756" y="1955"/>
              <a:ext cx="1198" cy="927"/>
            </a:xfrm>
            <a:prstGeom prst="rect">
              <a:avLst/>
            </a:prstGeom>
            <a:solidFill>
              <a:schemeClr val="bg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76854" name="AutoShape 12"/>
            <p:cNvSpPr>
              <a:spLocks noChangeArrowheads="1"/>
            </p:cNvSpPr>
            <p:nvPr/>
          </p:nvSpPr>
          <p:spPr bwMode="auto">
            <a:xfrm>
              <a:off x="756" y="1397"/>
              <a:ext cx="1596" cy="558"/>
            </a:xfrm>
            <a:prstGeom prst="parallelogram">
              <a:avLst>
                <a:gd name="adj" fmla="val 71505"/>
              </a:avLst>
            </a:prstGeom>
            <a:solidFill>
              <a:schemeClr val="bg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76855" name="Freeform 13"/>
            <p:cNvSpPr>
              <a:spLocks/>
            </p:cNvSpPr>
            <p:nvPr/>
          </p:nvSpPr>
          <p:spPr bwMode="auto">
            <a:xfrm>
              <a:off x="1950" y="1397"/>
              <a:ext cx="402" cy="1483"/>
            </a:xfrm>
            <a:custGeom>
              <a:avLst/>
              <a:gdLst>
                <a:gd name="T0" fmla="*/ 2 w 402"/>
                <a:gd name="T1" fmla="*/ 1483 h 1483"/>
                <a:gd name="T2" fmla="*/ 0 w 402"/>
                <a:gd name="T3" fmla="*/ 559 h 1483"/>
                <a:gd name="T4" fmla="*/ 402 w 402"/>
                <a:gd name="T5" fmla="*/ 0 h 1483"/>
                <a:gd name="T6" fmla="*/ 396 w 402"/>
                <a:gd name="T7" fmla="*/ 1009 h 1483"/>
                <a:gd name="T8" fmla="*/ 2 w 402"/>
                <a:gd name="T9" fmla="*/ 1483 h 1483"/>
                <a:gd name="T10" fmla="*/ 0 60000 65536"/>
                <a:gd name="T11" fmla="*/ 0 60000 65536"/>
                <a:gd name="T12" fmla="*/ 0 60000 65536"/>
                <a:gd name="T13" fmla="*/ 0 60000 65536"/>
                <a:gd name="T14" fmla="*/ 0 60000 65536"/>
                <a:gd name="T15" fmla="*/ 0 w 402"/>
                <a:gd name="T16" fmla="*/ 0 h 1483"/>
                <a:gd name="T17" fmla="*/ 402 w 402"/>
                <a:gd name="T18" fmla="*/ 1483 h 1483"/>
              </a:gdLst>
              <a:ahLst/>
              <a:cxnLst>
                <a:cxn ang="T10">
                  <a:pos x="T0" y="T1"/>
                </a:cxn>
                <a:cxn ang="T11">
                  <a:pos x="T2" y="T3"/>
                </a:cxn>
                <a:cxn ang="T12">
                  <a:pos x="T4" y="T5"/>
                </a:cxn>
                <a:cxn ang="T13">
                  <a:pos x="T6" y="T7"/>
                </a:cxn>
                <a:cxn ang="T14">
                  <a:pos x="T8" y="T9"/>
                </a:cxn>
              </a:cxnLst>
              <a:rect l="T15" t="T16" r="T17" b="T18"/>
              <a:pathLst>
                <a:path w="402" h="1483">
                  <a:moveTo>
                    <a:pt x="2" y="1483"/>
                  </a:moveTo>
                  <a:lnTo>
                    <a:pt x="0" y="559"/>
                  </a:lnTo>
                  <a:lnTo>
                    <a:pt x="402" y="0"/>
                  </a:lnTo>
                  <a:lnTo>
                    <a:pt x="396" y="1009"/>
                  </a:lnTo>
                  <a:lnTo>
                    <a:pt x="2" y="1483"/>
                  </a:lnTo>
                  <a:close/>
                </a:path>
              </a:pathLst>
            </a:custGeom>
            <a:solidFill>
              <a:schemeClr val="bg1"/>
            </a:solidFill>
            <a:ln w="9525">
              <a:solidFill>
                <a:schemeClr val="tx1"/>
              </a:solidFill>
              <a:round/>
              <a:headEnd/>
              <a:tailEnd/>
            </a:ln>
          </p:spPr>
          <p:txBody>
            <a:bodyPr/>
            <a:lstStyle/>
            <a:p>
              <a:endParaRPr lang="en-US"/>
            </a:p>
          </p:txBody>
        </p:sp>
      </p:grpSp>
      <p:sp>
        <p:nvSpPr>
          <p:cNvPr id="76808" name="Text Box 15"/>
          <p:cNvSpPr txBox="1">
            <a:spLocks noChangeArrowheads="1"/>
          </p:cNvSpPr>
          <p:nvPr/>
        </p:nvSpPr>
        <p:spPr bwMode="auto">
          <a:xfrm>
            <a:off x="3590925" y="2725738"/>
            <a:ext cx="2695575" cy="366712"/>
          </a:xfrm>
          <a:prstGeom prst="rect">
            <a:avLst/>
          </a:prstGeom>
          <a:noFill/>
          <a:ln w="9525">
            <a:noFill/>
            <a:miter lim="800000"/>
            <a:headEnd/>
            <a:tailEnd/>
          </a:ln>
        </p:spPr>
        <p:txBody>
          <a:bodyPr>
            <a:spAutoFit/>
          </a:bodyPr>
          <a:lstStyle/>
          <a:p>
            <a:pPr>
              <a:spcBef>
                <a:spcPct val="50000"/>
              </a:spcBef>
            </a:pPr>
            <a:r>
              <a:rPr lang="en-AU" i="0">
                <a:solidFill>
                  <a:srgbClr val="3333CC"/>
                </a:solidFill>
              </a:rPr>
              <a:t>Water entering the soil</a:t>
            </a:r>
            <a:endParaRPr lang="en-US" i="0">
              <a:solidFill>
                <a:srgbClr val="3333CC"/>
              </a:solidFill>
            </a:endParaRPr>
          </a:p>
        </p:txBody>
      </p:sp>
      <p:sp>
        <p:nvSpPr>
          <p:cNvPr id="76809" name="AutoShape 16"/>
          <p:cNvSpPr>
            <a:spLocks noChangeArrowheads="1"/>
          </p:cNvSpPr>
          <p:nvPr/>
        </p:nvSpPr>
        <p:spPr bwMode="auto">
          <a:xfrm rot="-5400000">
            <a:off x="2444750" y="2408238"/>
            <a:ext cx="733425" cy="390525"/>
          </a:xfrm>
          <a:prstGeom prst="leftArrow">
            <a:avLst>
              <a:gd name="adj1" fmla="val 50000"/>
              <a:gd name="adj2" fmla="val 46951"/>
            </a:avLst>
          </a:prstGeom>
          <a:solidFill>
            <a:srgbClr val="333399"/>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nvGrpSpPr>
          <p:cNvPr id="76810" name="Group 17"/>
          <p:cNvGrpSpPr>
            <a:grpSpLocks/>
          </p:cNvGrpSpPr>
          <p:nvPr/>
        </p:nvGrpSpPr>
        <p:grpSpPr bwMode="auto">
          <a:xfrm>
            <a:off x="1019175" y="2544763"/>
            <a:ext cx="852488" cy="1666875"/>
            <a:chOff x="1133" y="1419"/>
            <a:chExt cx="244" cy="615"/>
          </a:xfrm>
        </p:grpSpPr>
        <p:sp>
          <p:nvSpPr>
            <p:cNvPr id="76848" name="Freeform 18"/>
            <p:cNvSpPr>
              <a:spLocks/>
            </p:cNvSpPr>
            <p:nvPr/>
          </p:nvSpPr>
          <p:spPr bwMode="auto">
            <a:xfrm>
              <a:off x="1185" y="1452"/>
              <a:ext cx="162" cy="582"/>
            </a:xfrm>
            <a:custGeom>
              <a:avLst/>
              <a:gdLst>
                <a:gd name="T0" fmla="*/ 54 w 162"/>
                <a:gd name="T1" fmla="*/ 582 h 582"/>
                <a:gd name="T2" fmla="*/ 42 w 162"/>
                <a:gd name="T3" fmla="*/ 507 h 582"/>
                <a:gd name="T4" fmla="*/ 51 w 162"/>
                <a:gd name="T5" fmla="*/ 423 h 582"/>
                <a:gd name="T6" fmla="*/ 42 w 162"/>
                <a:gd name="T7" fmla="*/ 390 h 582"/>
                <a:gd name="T8" fmla="*/ 33 w 162"/>
                <a:gd name="T9" fmla="*/ 378 h 582"/>
                <a:gd name="T10" fmla="*/ 48 w 162"/>
                <a:gd name="T11" fmla="*/ 330 h 582"/>
                <a:gd name="T12" fmla="*/ 57 w 162"/>
                <a:gd name="T13" fmla="*/ 297 h 582"/>
                <a:gd name="T14" fmla="*/ 63 w 162"/>
                <a:gd name="T15" fmla="*/ 231 h 582"/>
                <a:gd name="T16" fmla="*/ 57 w 162"/>
                <a:gd name="T17" fmla="*/ 147 h 582"/>
                <a:gd name="T18" fmla="*/ 21 w 162"/>
                <a:gd name="T19" fmla="*/ 99 h 582"/>
                <a:gd name="T20" fmla="*/ 0 w 162"/>
                <a:gd name="T21" fmla="*/ 72 h 582"/>
                <a:gd name="T22" fmla="*/ 54 w 162"/>
                <a:gd name="T23" fmla="*/ 105 h 582"/>
                <a:gd name="T24" fmla="*/ 57 w 162"/>
                <a:gd name="T25" fmla="*/ 87 h 582"/>
                <a:gd name="T26" fmla="*/ 63 w 162"/>
                <a:gd name="T27" fmla="*/ 0 h 582"/>
                <a:gd name="T28" fmla="*/ 78 w 162"/>
                <a:gd name="T29" fmla="*/ 39 h 582"/>
                <a:gd name="T30" fmla="*/ 78 w 162"/>
                <a:gd name="T31" fmla="*/ 126 h 582"/>
                <a:gd name="T32" fmla="*/ 90 w 162"/>
                <a:gd name="T33" fmla="*/ 72 h 582"/>
                <a:gd name="T34" fmla="*/ 108 w 162"/>
                <a:gd name="T35" fmla="*/ 72 h 582"/>
                <a:gd name="T36" fmla="*/ 93 w 162"/>
                <a:gd name="T37" fmla="*/ 135 h 582"/>
                <a:gd name="T38" fmla="*/ 162 w 162"/>
                <a:gd name="T39" fmla="*/ 84 h 582"/>
                <a:gd name="T40" fmla="*/ 153 w 162"/>
                <a:gd name="T41" fmla="*/ 120 h 582"/>
                <a:gd name="T42" fmla="*/ 75 w 162"/>
                <a:gd name="T43" fmla="*/ 165 h 582"/>
                <a:gd name="T44" fmla="*/ 75 w 162"/>
                <a:gd name="T45" fmla="*/ 300 h 582"/>
                <a:gd name="T46" fmla="*/ 99 w 162"/>
                <a:gd name="T47" fmla="*/ 381 h 582"/>
                <a:gd name="T48" fmla="*/ 84 w 162"/>
                <a:gd name="T49" fmla="*/ 414 h 582"/>
                <a:gd name="T50" fmla="*/ 99 w 162"/>
                <a:gd name="T51" fmla="*/ 453 h 582"/>
                <a:gd name="T52" fmla="*/ 135 w 162"/>
                <a:gd name="T53" fmla="*/ 486 h 582"/>
                <a:gd name="T54" fmla="*/ 132 w 162"/>
                <a:gd name="T55" fmla="*/ 510 h 582"/>
                <a:gd name="T56" fmla="*/ 102 w 162"/>
                <a:gd name="T57" fmla="*/ 468 h 582"/>
                <a:gd name="T58" fmla="*/ 69 w 162"/>
                <a:gd name="T59" fmla="*/ 414 h 582"/>
                <a:gd name="T60" fmla="*/ 63 w 162"/>
                <a:gd name="T61" fmla="*/ 456 h 582"/>
                <a:gd name="T62" fmla="*/ 75 w 162"/>
                <a:gd name="T63" fmla="*/ 492 h 582"/>
                <a:gd name="T64" fmla="*/ 96 w 162"/>
                <a:gd name="T65" fmla="*/ 513 h 582"/>
                <a:gd name="T66" fmla="*/ 78 w 162"/>
                <a:gd name="T67" fmla="*/ 519 h 582"/>
                <a:gd name="T68" fmla="*/ 60 w 162"/>
                <a:gd name="T69" fmla="*/ 486 h 582"/>
                <a:gd name="T70" fmla="*/ 54 w 162"/>
                <a:gd name="T71" fmla="*/ 522 h 582"/>
                <a:gd name="T72" fmla="*/ 54 w 162"/>
                <a:gd name="T73" fmla="*/ 582 h 58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2"/>
                <a:gd name="T112" fmla="*/ 0 h 582"/>
                <a:gd name="T113" fmla="*/ 162 w 162"/>
                <a:gd name="T114" fmla="*/ 582 h 58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2" h="582">
                  <a:moveTo>
                    <a:pt x="54" y="582"/>
                  </a:moveTo>
                  <a:lnTo>
                    <a:pt x="42" y="507"/>
                  </a:lnTo>
                  <a:lnTo>
                    <a:pt x="51" y="423"/>
                  </a:lnTo>
                  <a:lnTo>
                    <a:pt x="42" y="390"/>
                  </a:lnTo>
                  <a:lnTo>
                    <a:pt x="33" y="378"/>
                  </a:ln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84" y="414"/>
                  </a:lnTo>
                  <a:lnTo>
                    <a:pt x="99" y="453"/>
                  </a:lnTo>
                  <a:lnTo>
                    <a:pt x="135" y="486"/>
                  </a:lnTo>
                  <a:lnTo>
                    <a:pt x="132" y="510"/>
                  </a:lnTo>
                  <a:lnTo>
                    <a:pt x="102" y="468"/>
                  </a:lnTo>
                  <a:lnTo>
                    <a:pt x="69" y="414"/>
                  </a:lnTo>
                  <a:lnTo>
                    <a:pt x="63" y="456"/>
                  </a:lnTo>
                  <a:lnTo>
                    <a:pt x="75" y="492"/>
                  </a:lnTo>
                  <a:lnTo>
                    <a:pt x="96" y="513"/>
                  </a:lnTo>
                  <a:lnTo>
                    <a:pt x="78" y="519"/>
                  </a:lnTo>
                  <a:lnTo>
                    <a:pt x="60" y="486"/>
                  </a:lnTo>
                  <a:lnTo>
                    <a:pt x="54" y="522"/>
                  </a:lnTo>
                  <a:lnTo>
                    <a:pt x="54" y="582"/>
                  </a:lnTo>
                  <a:close/>
                </a:path>
              </a:pathLst>
            </a:custGeom>
            <a:solidFill>
              <a:schemeClr val="bg2"/>
            </a:solidFill>
            <a:ln w="9525">
              <a:noFill/>
              <a:round/>
              <a:headEnd/>
              <a:tailEnd/>
            </a:ln>
          </p:spPr>
          <p:txBody>
            <a:bodyPr/>
            <a:lstStyle/>
            <a:p>
              <a:endParaRPr lang="en-US"/>
            </a:p>
          </p:txBody>
        </p:sp>
        <p:sp>
          <p:nvSpPr>
            <p:cNvPr id="76849" name="Freeform 19"/>
            <p:cNvSpPr>
              <a:spLocks/>
            </p:cNvSpPr>
            <p:nvPr/>
          </p:nvSpPr>
          <p:spPr bwMode="auto">
            <a:xfrm>
              <a:off x="1133" y="1484"/>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76850" name="Freeform 20"/>
            <p:cNvSpPr>
              <a:spLocks/>
            </p:cNvSpPr>
            <p:nvPr/>
          </p:nvSpPr>
          <p:spPr bwMode="auto">
            <a:xfrm>
              <a:off x="1176" y="1419"/>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76851" name="Freeform 21"/>
            <p:cNvSpPr>
              <a:spLocks/>
            </p:cNvSpPr>
            <p:nvPr/>
          </p:nvSpPr>
          <p:spPr bwMode="auto">
            <a:xfrm>
              <a:off x="1249" y="1477"/>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76852" name="Freeform 22"/>
            <p:cNvSpPr>
              <a:spLocks/>
            </p:cNvSpPr>
            <p:nvPr/>
          </p:nvSpPr>
          <p:spPr bwMode="auto">
            <a:xfrm>
              <a:off x="1283" y="1547"/>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76811" name="Group 23"/>
          <p:cNvGrpSpPr>
            <a:grpSpLocks/>
          </p:cNvGrpSpPr>
          <p:nvPr/>
        </p:nvGrpSpPr>
        <p:grpSpPr bwMode="auto">
          <a:xfrm>
            <a:off x="1581150" y="2030413"/>
            <a:ext cx="852488" cy="1122362"/>
            <a:chOff x="1164" y="1150"/>
            <a:chExt cx="244" cy="414"/>
          </a:xfrm>
        </p:grpSpPr>
        <p:sp>
          <p:nvSpPr>
            <p:cNvPr id="76843" name="Freeform 24"/>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76844" name="Freeform 25"/>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76845" name="Freeform 26"/>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76846" name="Freeform 27"/>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76847" name="Freeform 28"/>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76812" name="Group 29"/>
          <p:cNvGrpSpPr>
            <a:grpSpLocks/>
          </p:cNvGrpSpPr>
          <p:nvPr/>
        </p:nvGrpSpPr>
        <p:grpSpPr bwMode="auto">
          <a:xfrm>
            <a:off x="1554163" y="3073400"/>
            <a:ext cx="411162" cy="496888"/>
            <a:chOff x="1164" y="1150"/>
            <a:chExt cx="244" cy="414"/>
          </a:xfrm>
        </p:grpSpPr>
        <p:sp>
          <p:nvSpPr>
            <p:cNvPr id="76838" name="Freeform 30"/>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76839" name="Freeform 31"/>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76840" name="Freeform 32"/>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76841" name="Freeform 33"/>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76842" name="Freeform 34"/>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76813" name="Group 35"/>
          <p:cNvGrpSpPr>
            <a:grpSpLocks/>
          </p:cNvGrpSpPr>
          <p:nvPr/>
        </p:nvGrpSpPr>
        <p:grpSpPr bwMode="auto">
          <a:xfrm>
            <a:off x="1860550" y="2589213"/>
            <a:ext cx="715963" cy="927100"/>
            <a:chOff x="1164" y="1150"/>
            <a:chExt cx="244" cy="414"/>
          </a:xfrm>
        </p:grpSpPr>
        <p:sp>
          <p:nvSpPr>
            <p:cNvPr id="76833" name="Freeform 36"/>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76834" name="Freeform 37"/>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76835" name="Freeform 38"/>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76836" name="Freeform 39"/>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76837" name="Freeform 40"/>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sp>
        <p:nvSpPr>
          <p:cNvPr id="76814" name="Text Box 42"/>
          <p:cNvSpPr txBox="1">
            <a:spLocks noChangeArrowheads="1"/>
          </p:cNvSpPr>
          <p:nvPr/>
        </p:nvSpPr>
        <p:spPr bwMode="auto">
          <a:xfrm>
            <a:off x="3597275" y="3027363"/>
            <a:ext cx="2695575" cy="366712"/>
          </a:xfrm>
          <a:prstGeom prst="rect">
            <a:avLst/>
          </a:prstGeom>
          <a:noFill/>
          <a:ln w="9525">
            <a:noFill/>
            <a:miter lim="800000"/>
            <a:headEnd/>
            <a:tailEnd/>
          </a:ln>
        </p:spPr>
        <p:txBody>
          <a:bodyPr>
            <a:spAutoFit/>
          </a:bodyPr>
          <a:lstStyle/>
          <a:p>
            <a:pPr>
              <a:spcBef>
                <a:spcPct val="50000"/>
              </a:spcBef>
            </a:pPr>
            <a:r>
              <a:rPr lang="en-AU" i="0">
                <a:solidFill>
                  <a:srgbClr val="3333CC"/>
                </a:solidFill>
              </a:rPr>
              <a:t>Water used from the soil</a:t>
            </a:r>
            <a:endParaRPr lang="en-US" i="0">
              <a:solidFill>
                <a:srgbClr val="3333CC"/>
              </a:solidFill>
            </a:endParaRPr>
          </a:p>
        </p:txBody>
      </p:sp>
      <p:sp>
        <p:nvSpPr>
          <p:cNvPr id="76815" name="AutoShape 43"/>
          <p:cNvSpPr>
            <a:spLocks noChangeArrowheads="1"/>
          </p:cNvSpPr>
          <p:nvPr/>
        </p:nvSpPr>
        <p:spPr bwMode="auto">
          <a:xfrm rot="10800000">
            <a:off x="1600200" y="3363913"/>
            <a:ext cx="542925" cy="552450"/>
          </a:xfrm>
          <a:custGeom>
            <a:avLst/>
            <a:gdLst>
              <a:gd name="T0" fmla="*/ 232503 w 21600"/>
              <a:gd name="T1" fmla="*/ 0 h 21600"/>
              <a:gd name="T2" fmla="*/ 76789 w 21600"/>
              <a:gd name="T3" fmla="*/ 552450 h 21600"/>
              <a:gd name="T4" fmla="*/ 244442 w 21600"/>
              <a:gd name="T5" fmla="*/ 212540 h 21600"/>
              <a:gd name="T6" fmla="*/ 393671 w 21600"/>
              <a:gd name="T7" fmla="*/ 365359 h 21600"/>
              <a:gd name="T8" fmla="*/ 542925 w 21600"/>
              <a:gd name="T9" fmla="*/ 212540 h 21600"/>
              <a:gd name="T10" fmla="*/ 17694720 60000 65536"/>
              <a:gd name="T11" fmla="*/ 5898240 60000 65536"/>
              <a:gd name="T12" fmla="*/ 5898240 60000 65536"/>
              <a:gd name="T13" fmla="*/ 5898240 60000 65536"/>
              <a:gd name="T14" fmla="*/ 0 60000 65536"/>
              <a:gd name="T15" fmla="*/ 0 w 21600"/>
              <a:gd name="T16" fmla="*/ 8310 h 21600"/>
              <a:gd name="T17" fmla="*/ 611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15662" y="14285"/>
                </a:moveTo>
                <a:lnTo>
                  <a:pt x="21600" y="8310"/>
                </a:lnTo>
                <a:lnTo>
                  <a:pt x="18630" y="8310"/>
                </a:lnTo>
                <a:cubicBezTo>
                  <a:pt x="18630" y="3721"/>
                  <a:pt x="14430" y="0"/>
                  <a:pt x="9250" y="0"/>
                </a:cubicBezTo>
                <a:cubicBezTo>
                  <a:pt x="4141" y="0"/>
                  <a:pt x="0" y="3799"/>
                  <a:pt x="0" y="8485"/>
                </a:cubicBezTo>
                <a:lnTo>
                  <a:pt x="0" y="21600"/>
                </a:lnTo>
                <a:lnTo>
                  <a:pt x="6110" y="21600"/>
                </a:lnTo>
                <a:lnTo>
                  <a:pt x="6110" y="8310"/>
                </a:lnTo>
                <a:cubicBezTo>
                  <a:pt x="6110" y="6947"/>
                  <a:pt x="7362" y="5842"/>
                  <a:pt x="8907" y="5842"/>
                </a:cubicBezTo>
                <a:lnTo>
                  <a:pt x="9725" y="5842"/>
                </a:lnTo>
                <a:cubicBezTo>
                  <a:pt x="11269" y="5842"/>
                  <a:pt x="12520" y="6947"/>
                  <a:pt x="12520" y="8310"/>
                </a:cubicBezTo>
                <a:lnTo>
                  <a:pt x="9725" y="8310"/>
                </a:lnTo>
                <a:close/>
              </a:path>
            </a:pathLst>
          </a:custGeom>
          <a:solidFill>
            <a:srgbClr val="333399"/>
          </a:solidFill>
          <a:ln w="9525" algn="ctr">
            <a:solidFill>
              <a:schemeClr val="tx1"/>
            </a:solidFill>
            <a:miter lim="800000"/>
            <a:headEnd/>
            <a:tailEnd/>
          </a:ln>
        </p:spPr>
        <p:txBody>
          <a:bodyPr wrap="none" anchor="ctr"/>
          <a:lstStyle/>
          <a:p>
            <a:endParaRPr lang="en-US"/>
          </a:p>
        </p:txBody>
      </p:sp>
      <p:sp>
        <p:nvSpPr>
          <p:cNvPr id="76816" name="Text Box 45"/>
          <p:cNvSpPr txBox="1">
            <a:spLocks noChangeArrowheads="1"/>
          </p:cNvSpPr>
          <p:nvPr/>
        </p:nvSpPr>
        <p:spPr bwMode="auto">
          <a:xfrm>
            <a:off x="3587750" y="4303713"/>
            <a:ext cx="2714625" cy="915987"/>
          </a:xfrm>
          <a:prstGeom prst="rect">
            <a:avLst/>
          </a:prstGeom>
          <a:solidFill>
            <a:schemeClr val="bg1">
              <a:alpha val="21176"/>
            </a:schemeClr>
          </a:solidFill>
          <a:ln w="9525">
            <a:noFill/>
            <a:miter lim="800000"/>
            <a:headEnd/>
            <a:tailEnd/>
          </a:ln>
        </p:spPr>
        <p:txBody>
          <a:bodyPr>
            <a:spAutoFit/>
          </a:bodyPr>
          <a:lstStyle/>
          <a:p>
            <a:pPr>
              <a:spcBef>
                <a:spcPct val="50000"/>
              </a:spcBef>
            </a:pPr>
            <a:r>
              <a:rPr lang="en-AU" i="0">
                <a:solidFill>
                  <a:srgbClr val="FF9900"/>
                </a:solidFill>
              </a:rPr>
              <a:t>Change in saturated zone storage (groundwater levels)</a:t>
            </a:r>
            <a:endParaRPr lang="en-US" i="0">
              <a:solidFill>
                <a:srgbClr val="FF9900"/>
              </a:solidFill>
            </a:endParaRPr>
          </a:p>
        </p:txBody>
      </p:sp>
      <p:sp>
        <p:nvSpPr>
          <p:cNvPr id="76817" name="AutoShape 46"/>
          <p:cNvSpPr>
            <a:spLocks noChangeArrowheads="1"/>
          </p:cNvSpPr>
          <p:nvPr/>
        </p:nvSpPr>
        <p:spPr bwMode="auto">
          <a:xfrm>
            <a:off x="1581150" y="5068888"/>
            <a:ext cx="419100" cy="133350"/>
          </a:xfrm>
          <a:prstGeom prst="upDownArrow">
            <a:avLst>
              <a:gd name="adj1" fmla="val 50000"/>
              <a:gd name="adj2" fmla="val 20000"/>
            </a:avLst>
          </a:prstGeom>
          <a:solidFill>
            <a:srgbClr val="000080"/>
          </a:solidFill>
          <a:ln w="9525" algn="ctr">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76818" name="Text Box 48"/>
          <p:cNvSpPr txBox="1">
            <a:spLocks noChangeArrowheads="1"/>
          </p:cNvSpPr>
          <p:nvPr/>
        </p:nvSpPr>
        <p:spPr bwMode="auto">
          <a:xfrm>
            <a:off x="3581400" y="5164138"/>
            <a:ext cx="2695575" cy="366712"/>
          </a:xfrm>
          <a:prstGeom prst="rect">
            <a:avLst/>
          </a:prstGeom>
          <a:noFill/>
          <a:ln w="9525">
            <a:noFill/>
            <a:miter lim="800000"/>
            <a:headEnd/>
            <a:tailEnd/>
          </a:ln>
        </p:spPr>
        <p:txBody>
          <a:bodyPr>
            <a:spAutoFit/>
          </a:bodyPr>
          <a:lstStyle/>
          <a:p>
            <a:pPr>
              <a:spcBef>
                <a:spcPct val="50000"/>
              </a:spcBef>
            </a:pPr>
            <a:r>
              <a:rPr lang="en-AU" i="0">
                <a:solidFill>
                  <a:srgbClr val="FF9900"/>
                </a:solidFill>
              </a:rPr>
              <a:t>Aquifer through-flow</a:t>
            </a:r>
            <a:endParaRPr lang="en-US" i="0">
              <a:solidFill>
                <a:srgbClr val="FF9900"/>
              </a:solidFill>
            </a:endParaRPr>
          </a:p>
        </p:txBody>
      </p:sp>
      <p:sp>
        <p:nvSpPr>
          <p:cNvPr id="76819" name="AutoShape 49"/>
          <p:cNvSpPr>
            <a:spLocks noChangeArrowheads="1"/>
          </p:cNvSpPr>
          <p:nvPr/>
        </p:nvSpPr>
        <p:spPr bwMode="auto">
          <a:xfrm>
            <a:off x="339725" y="5180013"/>
            <a:ext cx="438150" cy="390525"/>
          </a:xfrm>
          <a:prstGeom prst="leftArrow">
            <a:avLst>
              <a:gd name="adj1" fmla="val 50000"/>
              <a:gd name="adj2" fmla="val 28049"/>
            </a:avLst>
          </a:prstGeom>
          <a:solidFill>
            <a:srgbClr val="333399"/>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76820" name="AutoShape 50"/>
          <p:cNvSpPr>
            <a:spLocks noChangeArrowheads="1"/>
          </p:cNvSpPr>
          <p:nvPr/>
        </p:nvSpPr>
        <p:spPr bwMode="auto">
          <a:xfrm>
            <a:off x="3028950" y="5135563"/>
            <a:ext cx="485775" cy="390525"/>
          </a:xfrm>
          <a:prstGeom prst="leftArrow">
            <a:avLst>
              <a:gd name="adj1" fmla="val 50000"/>
              <a:gd name="adj2" fmla="val 31098"/>
            </a:avLst>
          </a:prstGeom>
          <a:solidFill>
            <a:srgbClr val="333399"/>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nvGrpSpPr>
          <p:cNvPr id="76821" name="Group 52"/>
          <p:cNvGrpSpPr>
            <a:grpSpLocks/>
          </p:cNvGrpSpPr>
          <p:nvPr/>
        </p:nvGrpSpPr>
        <p:grpSpPr bwMode="auto">
          <a:xfrm>
            <a:off x="762000" y="3240088"/>
            <a:ext cx="333375" cy="3028950"/>
            <a:chOff x="732" y="1686"/>
            <a:chExt cx="210" cy="1908"/>
          </a:xfrm>
        </p:grpSpPr>
        <p:sp>
          <p:nvSpPr>
            <p:cNvPr id="76830" name="Rectangle 53"/>
            <p:cNvSpPr>
              <a:spLocks noChangeArrowheads="1"/>
            </p:cNvSpPr>
            <p:nvPr/>
          </p:nvSpPr>
          <p:spPr bwMode="auto">
            <a:xfrm>
              <a:off x="876" y="1848"/>
              <a:ext cx="60" cy="1734"/>
            </a:xfrm>
            <a:prstGeom prst="rect">
              <a:avLst/>
            </a:prstGeom>
            <a:solidFill>
              <a:schemeClr val="bg1"/>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76831" name="Rectangle 54" descr="Dark horizontal"/>
            <p:cNvSpPr>
              <a:spLocks noChangeArrowheads="1"/>
            </p:cNvSpPr>
            <p:nvPr/>
          </p:nvSpPr>
          <p:spPr bwMode="auto">
            <a:xfrm>
              <a:off x="876" y="3006"/>
              <a:ext cx="60" cy="588"/>
            </a:xfrm>
            <a:prstGeom prst="rect">
              <a:avLst/>
            </a:prstGeom>
            <a:pattFill prst="dkHorz">
              <a:fgClr>
                <a:srgbClr val="777777"/>
              </a:fgClr>
              <a:bgClr>
                <a:schemeClr val="bg1"/>
              </a:bgClr>
            </a:patt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76832" name="AutoShape 55"/>
            <p:cNvSpPr>
              <a:spLocks noChangeArrowheads="1"/>
            </p:cNvSpPr>
            <p:nvPr/>
          </p:nvSpPr>
          <p:spPr bwMode="auto">
            <a:xfrm flipH="1">
              <a:off x="732" y="1686"/>
              <a:ext cx="210" cy="174"/>
            </a:xfrm>
            <a:custGeom>
              <a:avLst/>
              <a:gdLst>
                <a:gd name="T0" fmla="*/ 147 w 21600"/>
                <a:gd name="T1" fmla="*/ 0 h 21600"/>
                <a:gd name="T2" fmla="*/ 147 w 21600"/>
                <a:gd name="T3" fmla="*/ 98 h 21600"/>
                <a:gd name="T4" fmla="*/ 31 w 21600"/>
                <a:gd name="T5" fmla="*/ 174 h 21600"/>
                <a:gd name="T6" fmla="*/ 210 w 21600"/>
                <a:gd name="T7" fmla="*/ 49 h 21600"/>
                <a:gd name="T8" fmla="*/ 17694720 60000 65536"/>
                <a:gd name="T9" fmla="*/ 5898240 60000 65536"/>
                <a:gd name="T10" fmla="*/ 5898240 60000 65536"/>
                <a:gd name="T11" fmla="*/ 0 60000 65536"/>
                <a:gd name="T12" fmla="*/ 12446 w 21600"/>
                <a:gd name="T13" fmla="*/ 2855 h 21600"/>
                <a:gd name="T14" fmla="*/ 18206 w 21600"/>
                <a:gd name="T15" fmla="*/ 918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333399"/>
            </a:solidFill>
            <a:ln w="9525">
              <a:solidFill>
                <a:schemeClr val="tx1"/>
              </a:solidFill>
              <a:miter lim="800000"/>
              <a:headEnd/>
              <a:tailEnd/>
            </a:ln>
          </p:spPr>
          <p:txBody>
            <a:bodyPr wrap="none" anchor="ctr"/>
            <a:lstStyle/>
            <a:p>
              <a:endParaRPr lang="en-US"/>
            </a:p>
          </p:txBody>
        </p:sp>
      </p:grpSp>
      <p:sp>
        <p:nvSpPr>
          <p:cNvPr id="76822" name="Text Box 56"/>
          <p:cNvSpPr txBox="1">
            <a:spLocks noChangeArrowheads="1"/>
          </p:cNvSpPr>
          <p:nvPr/>
        </p:nvSpPr>
        <p:spPr bwMode="auto">
          <a:xfrm>
            <a:off x="6410325" y="4725988"/>
            <a:ext cx="2000250" cy="641350"/>
          </a:xfrm>
          <a:prstGeom prst="rect">
            <a:avLst/>
          </a:prstGeom>
          <a:noFill/>
          <a:ln w="9525">
            <a:noFill/>
            <a:miter lim="800000"/>
            <a:headEnd/>
            <a:tailEnd/>
          </a:ln>
        </p:spPr>
        <p:txBody>
          <a:bodyPr>
            <a:spAutoFit/>
          </a:bodyPr>
          <a:lstStyle/>
          <a:p>
            <a:pPr>
              <a:spcBef>
                <a:spcPct val="50000"/>
              </a:spcBef>
            </a:pPr>
            <a:r>
              <a:rPr lang="en-AU" i="0">
                <a:solidFill>
                  <a:srgbClr val="3333CC"/>
                </a:solidFill>
              </a:rPr>
              <a:t>Groundwater Pumping</a:t>
            </a:r>
            <a:endParaRPr lang="en-US" i="0">
              <a:solidFill>
                <a:srgbClr val="3333CC"/>
              </a:solidFill>
            </a:endParaRPr>
          </a:p>
        </p:txBody>
      </p:sp>
      <p:sp>
        <p:nvSpPr>
          <p:cNvPr id="76823" name="Rectangle 59"/>
          <p:cNvSpPr>
            <a:spLocks noChangeArrowheads="1"/>
          </p:cNvSpPr>
          <p:nvPr/>
        </p:nvSpPr>
        <p:spPr bwMode="auto">
          <a:xfrm>
            <a:off x="1628775" y="4106863"/>
            <a:ext cx="409575" cy="409575"/>
          </a:xfrm>
          <a:prstGeom prst="rect">
            <a:avLst/>
          </a:prstGeom>
          <a:solidFill>
            <a:srgbClr val="333399"/>
          </a:solidFill>
          <a:ln w="9525" algn="ctr">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76824" name="Text Box 60"/>
          <p:cNvSpPr txBox="1">
            <a:spLocks noChangeArrowheads="1"/>
          </p:cNvSpPr>
          <p:nvPr/>
        </p:nvSpPr>
        <p:spPr bwMode="auto">
          <a:xfrm>
            <a:off x="3594100" y="3395663"/>
            <a:ext cx="2695575" cy="641350"/>
          </a:xfrm>
          <a:prstGeom prst="rect">
            <a:avLst/>
          </a:prstGeom>
          <a:noFill/>
          <a:ln w="9525">
            <a:noFill/>
            <a:miter lim="800000"/>
            <a:headEnd/>
            <a:tailEnd/>
          </a:ln>
        </p:spPr>
        <p:txBody>
          <a:bodyPr>
            <a:spAutoFit/>
          </a:bodyPr>
          <a:lstStyle/>
          <a:p>
            <a:pPr>
              <a:spcBef>
                <a:spcPct val="50000"/>
              </a:spcBef>
            </a:pPr>
            <a:r>
              <a:rPr lang="en-AU" i="0">
                <a:solidFill>
                  <a:srgbClr val="FF9900"/>
                </a:solidFill>
              </a:rPr>
              <a:t>Soil storage (unsaturated zone)</a:t>
            </a:r>
            <a:endParaRPr lang="en-US" i="0">
              <a:solidFill>
                <a:srgbClr val="FF9900"/>
              </a:solidFill>
            </a:endParaRPr>
          </a:p>
        </p:txBody>
      </p:sp>
      <p:sp>
        <p:nvSpPr>
          <p:cNvPr id="76825" name="Text Box 63"/>
          <p:cNvSpPr txBox="1">
            <a:spLocks noChangeArrowheads="1"/>
          </p:cNvSpPr>
          <p:nvPr/>
        </p:nvSpPr>
        <p:spPr bwMode="auto">
          <a:xfrm>
            <a:off x="3613150" y="3986213"/>
            <a:ext cx="2714625" cy="366712"/>
          </a:xfrm>
          <a:prstGeom prst="rect">
            <a:avLst/>
          </a:prstGeom>
          <a:solidFill>
            <a:schemeClr val="bg1">
              <a:alpha val="21176"/>
            </a:schemeClr>
          </a:solidFill>
          <a:ln w="9525">
            <a:noFill/>
            <a:miter lim="800000"/>
            <a:headEnd/>
            <a:tailEnd/>
          </a:ln>
        </p:spPr>
        <p:txBody>
          <a:bodyPr>
            <a:spAutoFit/>
          </a:bodyPr>
          <a:lstStyle/>
          <a:p>
            <a:pPr>
              <a:spcBef>
                <a:spcPct val="50000"/>
              </a:spcBef>
            </a:pPr>
            <a:r>
              <a:rPr lang="en-AU" i="0">
                <a:solidFill>
                  <a:srgbClr val="FF9900"/>
                </a:solidFill>
              </a:rPr>
              <a:t>Recharge</a:t>
            </a:r>
            <a:endParaRPr lang="en-US" i="0">
              <a:solidFill>
                <a:srgbClr val="FF9900"/>
              </a:solidFill>
            </a:endParaRPr>
          </a:p>
        </p:txBody>
      </p:sp>
      <p:sp>
        <p:nvSpPr>
          <p:cNvPr id="76826" name="AutoShape 64"/>
          <p:cNvSpPr>
            <a:spLocks noChangeArrowheads="1"/>
          </p:cNvSpPr>
          <p:nvPr/>
        </p:nvSpPr>
        <p:spPr bwMode="auto">
          <a:xfrm>
            <a:off x="1666875" y="4745038"/>
            <a:ext cx="266700" cy="180975"/>
          </a:xfrm>
          <a:prstGeom prst="downArrow">
            <a:avLst>
              <a:gd name="adj1" fmla="val 50000"/>
              <a:gd name="adj2" fmla="val 25000"/>
            </a:avLst>
          </a:prstGeom>
          <a:solidFill>
            <a:srgbClr val="333399"/>
          </a:solidFill>
          <a:ln w="9525" algn="ctr">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76827" name="Text Box 65"/>
          <p:cNvSpPr txBox="1">
            <a:spLocks noChangeArrowheads="1"/>
          </p:cNvSpPr>
          <p:nvPr/>
        </p:nvSpPr>
        <p:spPr bwMode="auto">
          <a:xfrm>
            <a:off x="3587750" y="1884363"/>
            <a:ext cx="2695575" cy="366712"/>
          </a:xfrm>
          <a:prstGeom prst="rect">
            <a:avLst/>
          </a:prstGeom>
          <a:noFill/>
          <a:ln w="9525">
            <a:noFill/>
            <a:miter lim="800000"/>
            <a:headEnd/>
            <a:tailEnd/>
          </a:ln>
        </p:spPr>
        <p:txBody>
          <a:bodyPr>
            <a:spAutoFit/>
          </a:bodyPr>
          <a:lstStyle/>
          <a:p>
            <a:pPr>
              <a:spcBef>
                <a:spcPct val="50000"/>
              </a:spcBef>
            </a:pPr>
            <a:r>
              <a:rPr lang="en-AU" i="0">
                <a:solidFill>
                  <a:srgbClr val="777777"/>
                </a:solidFill>
              </a:rPr>
              <a:t>Rainfall</a:t>
            </a:r>
            <a:endParaRPr lang="en-US" i="0">
              <a:solidFill>
                <a:srgbClr val="777777"/>
              </a:solidFill>
            </a:endParaRPr>
          </a:p>
        </p:txBody>
      </p:sp>
      <p:sp>
        <p:nvSpPr>
          <p:cNvPr id="76828" name="Text Box 66"/>
          <p:cNvSpPr txBox="1">
            <a:spLocks noChangeArrowheads="1"/>
          </p:cNvSpPr>
          <p:nvPr/>
        </p:nvSpPr>
        <p:spPr bwMode="auto">
          <a:xfrm>
            <a:off x="6381750" y="2722563"/>
            <a:ext cx="2085975" cy="641350"/>
          </a:xfrm>
          <a:prstGeom prst="rect">
            <a:avLst/>
          </a:prstGeom>
          <a:noFill/>
          <a:ln w="9525">
            <a:noFill/>
            <a:miter lim="800000"/>
            <a:headEnd/>
            <a:tailEnd/>
          </a:ln>
        </p:spPr>
        <p:txBody>
          <a:bodyPr>
            <a:spAutoFit/>
          </a:bodyPr>
          <a:lstStyle/>
          <a:p>
            <a:pPr>
              <a:spcBef>
                <a:spcPct val="50000"/>
              </a:spcBef>
            </a:pPr>
            <a:r>
              <a:rPr lang="en-AU" i="0">
                <a:solidFill>
                  <a:srgbClr val="3333CC"/>
                </a:solidFill>
              </a:rPr>
              <a:t>Land use (forest, agriculture, urban)</a:t>
            </a:r>
            <a:endParaRPr lang="en-US" i="0">
              <a:solidFill>
                <a:srgbClr val="3333CC"/>
              </a:solidFill>
            </a:endParaRPr>
          </a:p>
        </p:txBody>
      </p:sp>
      <p:sp>
        <p:nvSpPr>
          <p:cNvPr id="76829" name="Text Box 67"/>
          <p:cNvSpPr txBox="1">
            <a:spLocks noChangeArrowheads="1"/>
          </p:cNvSpPr>
          <p:nvPr/>
        </p:nvSpPr>
        <p:spPr bwMode="auto">
          <a:xfrm>
            <a:off x="3578225" y="5561013"/>
            <a:ext cx="2695575" cy="641350"/>
          </a:xfrm>
          <a:prstGeom prst="rect">
            <a:avLst/>
          </a:prstGeom>
          <a:noFill/>
          <a:ln w="9525">
            <a:noFill/>
            <a:miter lim="800000"/>
            <a:headEnd/>
            <a:tailEnd/>
          </a:ln>
        </p:spPr>
        <p:txBody>
          <a:bodyPr>
            <a:spAutoFit/>
          </a:bodyPr>
          <a:lstStyle/>
          <a:p>
            <a:pPr>
              <a:spcBef>
                <a:spcPct val="50000"/>
              </a:spcBef>
            </a:pPr>
            <a:r>
              <a:rPr lang="en-AU" i="0">
                <a:solidFill>
                  <a:srgbClr val="FF9900"/>
                </a:solidFill>
              </a:rPr>
              <a:t>Discharge (waterways, ocean, land)</a:t>
            </a:r>
            <a:endParaRPr lang="en-US" i="0">
              <a:solidFill>
                <a:srgbClr val="FF9900"/>
              </a:solidFil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p:nvPr>
        </p:nvSpPr>
        <p:spPr>
          <a:xfrm>
            <a:off x="438150" y="798513"/>
            <a:ext cx="5373688" cy="987425"/>
          </a:xfrm>
        </p:spPr>
        <p:txBody>
          <a:bodyPr/>
          <a:lstStyle/>
          <a:p>
            <a:r>
              <a:rPr lang="en-AU" smtClean="0"/>
              <a:t>Managing groundwater – as a resource</a:t>
            </a:r>
          </a:p>
        </p:txBody>
      </p:sp>
      <p:sp>
        <p:nvSpPr>
          <p:cNvPr id="78850" name="Rectangle 3"/>
          <p:cNvSpPr>
            <a:spLocks noGrp="1" noChangeArrowheads="1"/>
          </p:cNvSpPr>
          <p:nvPr>
            <p:ph type="body" idx="1"/>
          </p:nvPr>
        </p:nvSpPr>
        <p:spPr>
          <a:xfrm>
            <a:off x="622300" y="2190750"/>
            <a:ext cx="7121525" cy="4013200"/>
          </a:xfrm>
        </p:spPr>
        <p:txBody>
          <a:bodyPr/>
          <a:lstStyle/>
          <a:p>
            <a:pPr marL="268288" indent="-268288">
              <a:spcBef>
                <a:spcPts val="600"/>
              </a:spcBef>
              <a:spcAft>
                <a:spcPts val="600"/>
              </a:spcAft>
              <a:buClr>
                <a:schemeClr val="tx1"/>
              </a:buClr>
              <a:buSzTx/>
              <a:buFontTx/>
              <a:buChar char="•"/>
            </a:pPr>
            <a:r>
              <a:rPr lang="en-AU" smtClean="0"/>
              <a:t>Sustainable yield is inherently intergenerational because it implies resource use in ways that are compatible with maintaining them for future generations.</a:t>
            </a:r>
          </a:p>
          <a:p>
            <a:pPr marL="268288" indent="-268288">
              <a:spcBef>
                <a:spcPts val="600"/>
              </a:spcBef>
              <a:spcAft>
                <a:spcPts val="600"/>
              </a:spcAft>
              <a:buClr>
                <a:schemeClr val="tx1"/>
              </a:buClr>
              <a:buSzTx/>
              <a:buFontTx/>
              <a:buChar char="•"/>
            </a:pPr>
            <a:r>
              <a:rPr lang="en-AU" smtClean="0"/>
              <a:t>Proposed National definition (2002):</a:t>
            </a:r>
          </a:p>
          <a:p>
            <a:pPr marL="268288" indent="-268288">
              <a:spcBef>
                <a:spcPts val="600"/>
              </a:spcBef>
              <a:spcAft>
                <a:spcPts val="600"/>
              </a:spcAft>
              <a:buFont typeface="Wingdings" pitchFamily="2" charset="2"/>
              <a:buNone/>
            </a:pPr>
            <a:r>
              <a:rPr lang="en-AU" smtClean="0"/>
              <a:t>	</a:t>
            </a:r>
            <a:r>
              <a:rPr lang="en-AU" i="1" smtClean="0"/>
              <a:t>”The groundwater extraction regime, measured over a specified planning </a:t>
            </a:r>
            <a:r>
              <a:rPr lang="en-AU" i="1" smtClean="0">
                <a:solidFill>
                  <a:srgbClr val="FF0066"/>
                </a:solidFill>
              </a:rPr>
              <a:t>timeframe,</a:t>
            </a:r>
            <a:r>
              <a:rPr lang="en-AU" i="1" smtClean="0"/>
              <a:t> that allows acceptable levels of stress and protects the </a:t>
            </a:r>
            <a:r>
              <a:rPr lang="en-AU" i="1" smtClean="0">
                <a:solidFill>
                  <a:srgbClr val="FF0066"/>
                </a:solidFill>
              </a:rPr>
              <a:t>higher value uses</a:t>
            </a:r>
            <a:r>
              <a:rPr lang="en-AU" i="1" smtClean="0"/>
              <a:t> that have a </a:t>
            </a:r>
            <a:r>
              <a:rPr lang="en-AU" i="1" smtClean="0">
                <a:solidFill>
                  <a:srgbClr val="FF0066"/>
                </a:solidFill>
              </a:rPr>
              <a:t>dependency on the water.”</a:t>
            </a:r>
            <a:endParaRPr lang="en-AU" smtClean="0"/>
          </a:p>
        </p:txBody>
      </p:sp>
    </p:spTree>
  </p:cSld>
  <p:clrMapOvr>
    <a:masterClrMapping/>
  </p:clrMapOvr>
  <p:transition>
    <p:checker dir="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noChangeArrowheads="1"/>
          </p:cNvSpPr>
          <p:nvPr>
            <p:ph type="body" idx="1"/>
          </p:nvPr>
        </p:nvSpPr>
        <p:spPr>
          <a:xfrm>
            <a:off x="622300" y="2190750"/>
            <a:ext cx="6811963" cy="3992563"/>
          </a:xfrm>
        </p:spPr>
        <p:txBody>
          <a:bodyPr/>
          <a:lstStyle/>
          <a:p>
            <a:pPr marL="268288" indent="-268288">
              <a:spcBef>
                <a:spcPts val="600"/>
              </a:spcBef>
              <a:buClr>
                <a:schemeClr val="tx1"/>
              </a:buClr>
              <a:buFontTx/>
              <a:buChar char="•"/>
            </a:pPr>
            <a:r>
              <a:rPr lang="en-AU" smtClean="0"/>
              <a:t>Sustainability and SY are dynamic concepts that will continue to be refined</a:t>
            </a:r>
          </a:p>
          <a:p>
            <a:pPr marL="268288" indent="-268288">
              <a:spcBef>
                <a:spcPts val="600"/>
              </a:spcBef>
              <a:buClr>
                <a:schemeClr val="tx1"/>
              </a:buClr>
              <a:buFontTx/>
              <a:buChar char="•"/>
            </a:pPr>
            <a:r>
              <a:rPr lang="en-AU" smtClean="0"/>
              <a:t>The challenge is to turn the principles of sustainability and groundwater sustainable yield into achievable policies and then practice.</a:t>
            </a:r>
          </a:p>
          <a:p>
            <a:pPr marL="268288" indent="-268288">
              <a:spcBef>
                <a:spcPts val="600"/>
              </a:spcBef>
              <a:buClr>
                <a:schemeClr val="tx1"/>
              </a:buClr>
              <a:buFontTx/>
              <a:buChar char="•"/>
            </a:pPr>
            <a:r>
              <a:rPr lang="en-AU" smtClean="0"/>
              <a:t>Science alone cannot choose the correct interpretations for society but any interpretation must be based on sound hydrologic analysis and understanding, and community involvement.</a:t>
            </a:r>
          </a:p>
        </p:txBody>
      </p:sp>
      <p:sp>
        <p:nvSpPr>
          <p:cNvPr id="80898" name="Rectangle 3"/>
          <p:cNvSpPr>
            <a:spLocks noGrp="1" noChangeArrowheads="1"/>
          </p:cNvSpPr>
          <p:nvPr>
            <p:ph type="title"/>
          </p:nvPr>
        </p:nvSpPr>
        <p:spPr>
          <a:xfrm>
            <a:off x="438150" y="798513"/>
            <a:ext cx="6545263" cy="987425"/>
          </a:xfrm>
        </p:spPr>
        <p:txBody>
          <a:bodyPr/>
          <a:lstStyle/>
          <a:p>
            <a:r>
              <a:rPr lang="en-AU" smtClean="0"/>
              <a:t>Sustainable Yield – a dynamic concept </a:t>
            </a:r>
          </a:p>
        </p:txBody>
      </p:sp>
    </p:spTree>
  </p:cSld>
  <p:clrMapOvr>
    <a:masterClrMapping/>
  </p:clrMapOvr>
  <p:transition>
    <p:rand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ChangeArrowheads="1"/>
          </p:cNvSpPr>
          <p:nvPr>
            <p:ph type="title"/>
          </p:nvPr>
        </p:nvSpPr>
        <p:spPr>
          <a:xfrm>
            <a:off x="438150" y="806450"/>
            <a:ext cx="6567488" cy="493713"/>
          </a:xfrm>
        </p:spPr>
        <p:txBody>
          <a:bodyPr/>
          <a:lstStyle/>
          <a:p>
            <a:r>
              <a:rPr lang="en-AU" smtClean="0"/>
              <a:t>Sustainable yield for an aquifer</a:t>
            </a:r>
            <a:endParaRPr lang="en-US" smtClean="0"/>
          </a:p>
        </p:txBody>
      </p:sp>
      <p:grpSp>
        <p:nvGrpSpPr>
          <p:cNvPr id="2" name="Group 1"/>
          <p:cNvGrpSpPr/>
          <p:nvPr/>
        </p:nvGrpSpPr>
        <p:grpSpPr>
          <a:xfrm>
            <a:off x="400050" y="1395413"/>
            <a:ext cx="3609975" cy="4732337"/>
            <a:chOff x="400050" y="1395413"/>
            <a:chExt cx="3609975" cy="4732337"/>
          </a:xfrm>
        </p:grpSpPr>
        <p:sp>
          <p:nvSpPr>
            <p:cNvPr id="82986" name="Freeform 8" descr="Dashed upward diagonal"/>
            <p:cNvSpPr>
              <a:spLocks/>
            </p:cNvSpPr>
            <p:nvPr/>
          </p:nvSpPr>
          <p:spPr bwMode="auto">
            <a:xfrm>
              <a:off x="523875" y="1395413"/>
              <a:ext cx="3149600" cy="4732337"/>
            </a:xfrm>
            <a:custGeom>
              <a:avLst/>
              <a:gdLst>
                <a:gd name="T0" fmla="*/ 0 w 1984"/>
                <a:gd name="T1" fmla="*/ 2874 h 2981"/>
                <a:gd name="T2" fmla="*/ 1984 w 1984"/>
                <a:gd name="T3" fmla="*/ 0 h 2981"/>
                <a:gd name="T4" fmla="*/ 1829 w 1984"/>
                <a:gd name="T5" fmla="*/ 2981 h 2981"/>
                <a:gd name="T6" fmla="*/ 1788 w 1984"/>
                <a:gd name="T7" fmla="*/ 2814 h 2981"/>
                <a:gd name="T8" fmla="*/ 1788 w 1984"/>
                <a:gd name="T9" fmla="*/ 2636 h 2981"/>
                <a:gd name="T10" fmla="*/ 1806 w 1984"/>
                <a:gd name="T11" fmla="*/ 2488 h 2981"/>
                <a:gd name="T12" fmla="*/ 1699 w 1984"/>
                <a:gd name="T13" fmla="*/ 2369 h 2981"/>
                <a:gd name="T14" fmla="*/ 1544 w 1984"/>
                <a:gd name="T15" fmla="*/ 2238 h 2981"/>
                <a:gd name="T16" fmla="*/ 1497 w 1984"/>
                <a:gd name="T17" fmla="*/ 2043 h 2981"/>
                <a:gd name="T18" fmla="*/ 1562 w 1984"/>
                <a:gd name="T19" fmla="*/ 1763 h 2981"/>
                <a:gd name="T20" fmla="*/ 1657 w 1984"/>
                <a:gd name="T21" fmla="*/ 1544 h 2981"/>
                <a:gd name="T22" fmla="*/ 1770 w 1984"/>
                <a:gd name="T23" fmla="*/ 1366 h 2981"/>
                <a:gd name="T24" fmla="*/ 1865 w 1984"/>
                <a:gd name="T25" fmla="*/ 1229 h 2981"/>
                <a:gd name="T26" fmla="*/ 1924 w 1984"/>
                <a:gd name="T27" fmla="*/ 1098 h 2981"/>
                <a:gd name="T28" fmla="*/ 1895 w 1984"/>
                <a:gd name="T29" fmla="*/ 896 h 2981"/>
                <a:gd name="T30" fmla="*/ 1806 w 1984"/>
                <a:gd name="T31" fmla="*/ 659 h 2981"/>
                <a:gd name="T32" fmla="*/ 1728 w 1984"/>
                <a:gd name="T33" fmla="*/ 528 h 2981"/>
                <a:gd name="T34" fmla="*/ 1728 w 1984"/>
                <a:gd name="T35" fmla="*/ 398 h 2981"/>
                <a:gd name="T36" fmla="*/ 1734 w 1984"/>
                <a:gd name="T37" fmla="*/ 249 h 2981"/>
                <a:gd name="T38" fmla="*/ 1627 w 1984"/>
                <a:gd name="T39" fmla="*/ 196 h 2981"/>
                <a:gd name="T40" fmla="*/ 1473 w 1984"/>
                <a:gd name="T41" fmla="*/ 178 h 2981"/>
                <a:gd name="T42" fmla="*/ 1289 w 1984"/>
                <a:gd name="T43" fmla="*/ 219 h 2981"/>
                <a:gd name="T44" fmla="*/ 1135 w 1984"/>
                <a:gd name="T45" fmla="*/ 303 h 2981"/>
                <a:gd name="T46" fmla="*/ 986 w 1984"/>
                <a:gd name="T47" fmla="*/ 303 h 2981"/>
                <a:gd name="T48" fmla="*/ 826 w 1984"/>
                <a:gd name="T49" fmla="*/ 237 h 2981"/>
                <a:gd name="T50" fmla="*/ 677 w 1984"/>
                <a:gd name="T51" fmla="*/ 184 h 2981"/>
                <a:gd name="T52" fmla="*/ 481 w 1984"/>
                <a:gd name="T53" fmla="*/ 231 h 2981"/>
                <a:gd name="T54" fmla="*/ 274 w 1984"/>
                <a:gd name="T55" fmla="*/ 374 h 2981"/>
                <a:gd name="T56" fmla="*/ 155 w 1984"/>
                <a:gd name="T57" fmla="*/ 570 h 2981"/>
                <a:gd name="T58" fmla="*/ 149 w 1984"/>
                <a:gd name="T59" fmla="*/ 801 h 2981"/>
                <a:gd name="T60" fmla="*/ 185 w 1984"/>
                <a:gd name="T61" fmla="*/ 1063 h 2981"/>
                <a:gd name="T62" fmla="*/ 179 w 1984"/>
                <a:gd name="T63" fmla="*/ 1312 h 2981"/>
                <a:gd name="T64" fmla="*/ 244 w 1984"/>
                <a:gd name="T65" fmla="*/ 1591 h 2981"/>
                <a:gd name="T66" fmla="*/ 315 w 1984"/>
                <a:gd name="T67" fmla="*/ 1835 h 2981"/>
                <a:gd name="T68" fmla="*/ 309 w 1984"/>
                <a:gd name="T69" fmla="*/ 2060 h 2981"/>
                <a:gd name="T70" fmla="*/ 357 w 1984"/>
                <a:gd name="T71" fmla="*/ 2221 h 2981"/>
                <a:gd name="T72" fmla="*/ 458 w 1984"/>
                <a:gd name="T73" fmla="*/ 2405 h 2981"/>
                <a:gd name="T74" fmla="*/ 458 w 1984"/>
                <a:gd name="T75" fmla="*/ 2541 h 2981"/>
                <a:gd name="T76" fmla="*/ 321 w 1984"/>
                <a:gd name="T77" fmla="*/ 2743 h 2981"/>
                <a:gd name="T78" fmla="*/ 190 w 1984"/>
                <a:gd name="T79" fmla="*/ 2874 h 298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984"/>
                <a:gd name="T121" fmla="*/ 0 h 2981"/>
                <a:gd name="T122" fmla="*/ 1984 w 1984"/>
                <a:gd name="T123" fmla="*/ 2981 h 298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984" h="2981">
                  <a:moveTo>
                    <a:pt x="190" y="2874"/>
                  </a:moveTo>
                  <a:lnTo>
                    <a:pt x="0" y="2874"/>
                  </a:lnTo>
                  <a:lnTo>
                    <a:pt x="0" y="0"/>
                  </a:lnTo>
                  <a:lnTo>
                    <a:pt x="1984" y="0"/>
                  </a:lnTo>
                  <a:lnTo>
                    <a:pt x="1984" y="2981"/>
                  </a:lnTo>
                  <a:lnTo>
                    <a:pt x="1829" y="2981"/>
                  </a:lnTo>
                  <a:lnTo>
                    <a:pt x="1788" y="2898"/>
                  </a:lnTo>
                  <a:lnTo>
                    <a:pt x="1788" y="2814"/>
                  </a:lnTo>
                  <a:lnTo>
                    <a:pt x="1788" y="2719"/>
                  </a:lnTo>
                  <a:lnTo>
                    <a:pt x="1788" y="2636"/>
                  </a:lnTo>
                  <a:lnTo>
                    <a:pt x="1794" y="2559"/>
                  </a:lnTo>
                  <a:lnTo>
                    <a:pt x="1806" y="2488"/>
                  </a:lnTo>
                  <a:lnTo>
                    <a:pt x="1776" y="2417"/>
                  </a:lnTo>
                  <a:lnTo>
                    <a:pt x="1699" y="2369"/>
                  </a:lnTo>
                  <a:lnTo>
                    <a:pt x="1610" y="2298"/>
                  </a:lnTo>
                  <a:lnTo>
                    <a:pt x="1544" y="2238"/>
                  </a:lnTo>
                  <a:lnTo>
                    <a:pt x="1515" y="2149"/>
                  </a:lnTo>
                  <a:lnTo>
                    <a:pt x="1497" y="2043"/>
                  </a:lnTo>
                  <a:lnTo>
                    <a:pt x="1497" y="1936"/>
                  </a:lnTo>
                  <a:lnTo>
                    <a:pt x="1562" y="1763"/>
                  </a:lnTo>
                  <a:lnTo>
                    <a:pt x="1610" y="1627"/>
                  </a:lnTo>
                  <a:lnTo>
                    <a:pt x="1657" y="1544"/>
                  </a:lnTo>
                  <a:lnTo>
                    <a:pt x="1699" y="1461"/>
                  </a:lnTo>
                  <a:lnTo>
                    <a:pt x="1770" y="1366"/>
                  </a:lnTo>
                  <a:lnTo>
                    <a:pt x="1829" y="1276"/>
                  </a:lnTo>
                  <a:lnTo>
                    <a:pt x="1865" y="1229"/>
                  </a:lnTo>
                  <a:lnTo>
                    <a:pt x="1918" y="1146"/>
                  </a:lnTo>
                  <a:lnTo>
                    <a:pt x="1924" y="1098"/>
                  </a:lnTo>
                  <a:lnTo>
                    <a:pt x="1924" y="1021"/>
                  </a:lnTo>
                  <a:lnTo>
                    <a:pt x="1895" y="896"/>
                  </a:lnTo>
                  <a:lnTo>
                    <a:pt x="1847" y="772"/>
                  </a:lnTo>
                  <a:lnTo>
                    <a:pt x="1806" y="659"/>
                  </a:lnTo>
                  <a:lnTo>
                    <a:pt x="1758" y="600"/>
                  </a:lnTo>
                  <a:lnTo>
                    <a:pt x="1728" y="528"/>
                  </a:lnTo>
                  <a:lnTo>
                    <a:pt x="1722" y="475"/>
                  </a:lnTo>
                  <a:lnTo>
                    <a:pt x="1728" y="398"/>
                  </a:lnTo>
                  <a:lnTo>
                    <a:pt x="1734" y="320"/>
                  </a:lnTo>
                  <a:lnTo>
                    <a:pt x="1734" y="249"/>
                  </a:lnTo>
                  <a:lnTo>
                    <a:pt x="1693" y="214"/>
                  </a:lnTo>
                  <a:lnTo>
                    <a:pt x="1627" y="196"/>
                  </a:lnTo>
                  <a:lnTo>
                    <a:pt x="1556" y="178"/>
                  </a:lnTo>
                  <a:lnTo>
                    <a:pt x="1473" y="178"/>
                  </a:lnTo>
                  <a:lnTo>
                    <a:pt x="1360" y="178"/>
                  </a:lnTo>
                  <a:lnTo>
                    <a:pt x="1289" y="219"/>
                  </a:lnTo>
                  <a:lnTo>
                    <a:pt x="1224" y="267"/>
                  </a:lnTo>
                  <a:lnTo>
                    <a:pt x="1135" y="303"/>
                  </a:lnTo>
                  <a:lnTo>
                    <a:pt x="1063" y="303"/>
                  </a:lnTo>
                  <a:lnTo>
                    <a:pt x="986" y="303"/>
                  </a:lnTo>
                  <a:lnTo>
                    <a:pt x="915" y="291"/>
                  </a:lnTo>
                  <a:lnTo>
                    <a:pt x="826" y="237"/>
                  </a:lnTo>
                  <a:lnTo>
                    <a:pt x="749" y="184"/>
                  </a:lnTo>
                  <a:lnTo>
                    <a:pt x="677" y="184"/>
                  </a:lnTo>
                  <a:lnTo>
                    <a:pt x="576" y="196"/>
                  </a:lnTo>
                  <a:lnTo>
                    <a:pt x="481" y="231"/>
                  </a:lnTo>
                  <a:lnTo>
                    <a:pt x="369" y="303"/>
                  </a:lnTo>
                  <a:lnTo>
                    <a:pt x="274" y="374"/>
                  </a:lnTo>
                  <a:lnTo>
                    <a:pt x="208" y="463"/>
                  </a:lnTo>
                  <a:lnTo>
                    <a:pt x="155" y="570"/>
                  </a:lnTo>
                  <a:lnTo>
                    <a:pt x="137" y="665"/>
                  </a:lnTo>
                  <a:lnTo>
                    <a:pt x="149" y="801"/>
                  </a:lnTo>
                  <a:lnTo>
                    <a:pt x="179" y="956"/>
                  </a:lnTo>
                  <a:lnTo>
                    <a:pt x="185" y="1063"/>
                  </a:lnTo>
                  <a:lnTo>
                    <a:pt x="185" y="1176"/>
                  </a:lnTo>
                  <a:lnTo>
                    <a:pt x="179" y="1312"/>
                  </a:lnTo>
                  <a:lnTo>
                    <a:pt x="185" y="1389"/>
                  </a:lnTo>
                  <a:lnTo>
                    <a:pt x="244" y="1591"/>
                  </a:lnTo>
                  <a:lnTo>
                    <a:pt x="297" y="1746"/>
                  </a:lnTo>
                  <a:lnTo>
                    <a:pt x="315" y="1835"/>
                  </a:lnTo>
                  <a:lnTo>
                    <a:pt x="321" y="1965"/>
                  </a:lnTo>
                  <a:lnTo>
                    <a:pt x="309" y="2060"/>
                  </a:lnTo>
                  <a:lnTo>
                    <a:pt x="327" y="2149"/>
                  </a:lnTo>
                  <a:lnTo>
                    <a:pt x="357" y="2221"/>
                  </a:lnTo>
                  <a:lnTo>
                    <a:pt x="404" y="2310"/>
                  </a:lnTo>
                  <a:lnTo>
                    <a:pt x="458" y="2405"/>
                  </a:lnTo>
                  <a:lnTo>
                    <a:pt x="470" y="2464"/>
                  </a:lnTo>
                  <a:lnTo>
                    <a:pt x="458" y="2541"/>
                  </a:lnTo>
                  <a:lnTo>
                    <a:pt x="404" y="2630"/>
                  </a:lnTo>
                  <a:lnTo>
                    <a:pt x="321" y="2743"/>
                  </a:lnTo>
                  <a:lnTo>
                    <a:pt x="256" y="2820"/>
                  </a:lnTo>
                  <a:lnTo>
                    <a:pt x="190" y="2874"/>
                  </a:lnTo>
                  <a:close/>
                </a:path>
              </a:pathLst>
            </a:custGeom>
            <a:pattFill prst="dashUpDiag">
              <a:fgClr>
                <a:schemeClr val="accent1"/>
              </a:fgClr>
              <a:bgClr>
                <a:schemeClr val="bg1"/>
              </a:bgClr>
            </a:pattFill>
            <a:ln w="9525" cap="flat" cmpd="sng">
              <a:solidFill>
                <a:schemeClr val="tx1"/>
              </a:solidFill>
              <a:prstDash val="solid"/>
              <a:round/>
              <a:headEnd type="none" w="med" len="med"/>
              <a:tailEnd type="none" w="med" len="med"/>
            </a:ln>
          </p:spPr>
          <p:txBody>
            <a:bodyPr/>
            <a:lstStyle/>
            <a:p>
              <a:endParaRPr lang="en-US"/>
            </a:p>
          </p:txBody>
        </p:sp>
        <p:sp>
          <p:nvSpPr>
            <p:cNvPr id="82987" name="Freeform 9"/>
            <p:cNvSpPr>
              <a:spLocks/>
            </p:cNvSpPr>
            <p:nvPr/>
          </p:nvSpPr>
          <p:spPr bwMode="auto">
            <a:xfrm>
              <a:off x="806450" y="2338388"/>
              <a:ext cx="2611438" cy="3779837"/>
            </a:xfrm>
            <a:custGeom>
              <a:avLst/>
              <a:gdLst>
                <a:gd name="T0" fmla="*/ 0 w 1645"/>
                <a:gd name="T1" fmla="*/ 2280 h 2381"/>
                <a:gd name="T2" fmla="*/ 148 w 1645"/>
                <a:gd name="T3" fmla="*/ 2155 h 2381"/>
                <a:gd name="T4" fmla="*/ 231 w 1645"/>
                <a:gd name="T5" fmla="*/ 2025 h 2381"/>
                <a:gd name="T6" fmla="*/ 273 w 1645"/>
                <a:gd name="T7" fmla="*/ 1953 h 2381"/>
                <a:gd name="T8" fmla="*/ 297 w 1645"/>
                <a:gd name="T9" fmla="*/ 1852 h 2381"/>
                <a:gd name="T10" fmla="*/ 249 w 1645"/>
                <a:gd name="T11" fmla="*/ 1757 h 2381"/>
                <a:gd name="T12" fmla="*/ 184 w 1645"/>
                <a:gd name="T13" fmla="*/ 1645 h 2381"/>
                <a:gd name="T14" fmla="*/ 148 w 1645"/>
                <a:gd name="T15" fmla="*/ 1544 h 2381"/>
                <a:gd name="T16" fmla="*/ 131 w 1645"/>
                <a:gd name="T17" fmla="*/ 1455 h 2381"/>
                <a:gd name="T18" fmla="*/ 142 w 1645"/>
                <a:gd name="T19" fmla="*/ 1312 h 2381"/>
                <a:gd name="T20" fmla="*/ 131 w 1645"/>
                <a:gd name="T21" fmla="*/ 1205 h 2381"/>
                <a:gd name="T22" fmla="*/ 71 w 1645"/>
                <a:gd name="T23" fmla="*/ 1015 h 2381"/>
                <a:gd name="T24" fmla="*/ 18 w 1645"/>
                <a:gd name="T25" fmla="*/ 843 h 2381"/>
                <a:gd name="T26" fmla="*/ 18 w 1645"/>
                <a:gd name="T27" fmla="*/ 754 h 2381"/>
                <a:gd name="T28" fmla="*/ 83 w 1645"/>
                <a:gd name="T29" fmla="*/ 534 h 2381"/>
                <a:gd name="T30" fmla="*/ 190 w 1645"/>
                <a:gd name="T31" fmla="*/ 297 h 2381"/>
                <a:gd name="T32" fmla="*/ 344 w 1645"/>
                <a:gd name="T33" fmla="*/ 118 h 2381"/>
                <a:gd name="T34" fmla="*/ 641 w 1645"/>
                <a:gd name="T35" fmla="*/ 0 h 2381"/>
                <a:gd name="T36" fmla="*/ 891 w 1645"/>
                <a:gd name="T37" fmla="*/ 41 h 2381"/>
                <a:gd name="T38" fmla="*/ 1075 w 1645"/>
                <a:gd name="T39" fmla="*/ 71 h 2381"/>
                <a:gd name="T40" fmla="*/ 1211 w 1645"/>
                <a:gd name="T41" fmla="*/ 255 h 2381"/>
                <a:gd name="T42" fmla="*/ 1306 w 1645"/>
                <a:gd name="T43" fmla="*/ 510 h 2381"/>
                <a:gd name="T44" fmla="*/ 1383 w 1645"/>
                <a:gd name="T45" fmla="*/ 867 h 2381"/>
                <a:gd name="T46" fmla="*/ 1354 w 1645"/>
                <a:gd name="T47" fmla="*/ 1235 h 2381"/>
                <a:gd name="T48" fmla="*/ 1306 w 1645"/>
                <a:gd name="T49" fmla="*/ 1383 h 2381"/>
                <a:gd name="T50" fmla="*/ 1336 w 1645"/>
                <a:gd name="T51" fmla="*/ 1579 h 2381"/>
                <a:gd name="T52" fmla="*/ 1401 w 1645"/>
                <a:gd name="T53" fmla="*/ 1698 h 2381"/>
                <a:gd name="T54" fmla="*/ 1579 w 1645"/>
                <a:gd name="T55" fmla="*/ 1805 h 2381"/>
                <a:gd name="T56" fmla="*/ 1615 w 1645"/>
                <a:gd name="T57" fmla="*/ 1870 h 2381"/>
                <a:gd name="T58" fmla="*/ 1615 w 1645"/>
                <a:gd name="T59" fmla="*/ 1995 h 2381"/>
                <a:gd name="T60" fmla="*/ 1603 w 1645"/>
                <a:gd name="T61" fmla="*/ 2203 h 2381"/>
                <a:gd name="T62" fmla="*/ 1603 w 1645"/>
                <a:gd name="T63" fmla="*/ 2316 h 2381"/>
                <a:gd name="T64" fmla="*/ 1645 w 1645"/>
                <a:gd name="T65" fmla="*/ 2381 h 2381"/>
                <a:gd name="T66" fmla="*/ 0 w 1645"/>
                <a:gd name="T67" fmla="*/ 2280 h 238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645"/>
                <a:gd name="T103" fmla="*/ 0 h 2381"/>
                <a:gd name="T104" fmla="*/ 1645 w 1645"/>
                <a:gd name="T105" fmla="*/ 2381 h 238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645" h="2381">
                  <a:moveTo>
                    <a:pt x="0" y="2280"/>
                  </a:moveTo>
                  <a:lnTo>
                    <a:pt x="148" y="2155"/>
                  </a:lnTo>
                  <a:lnTo>
                    <a:pt x="231" y="2025"/>
                  </a:lnTo>
                  <a:lnTo>
                    <a:pt x="273" y="1953"/>
                  </a:lnTo>
                  <a:lnTo>
                    <a:pt x="297" y="1852"/>
                  </a:lnTo>
                  <a:lnTo>
                    <a:pt x="249" y="1757"/>
                  </a:lnTo>
                  <a:lnTo>
                    <a:pt x="184" y="1645"/>
                  </a:lnTo>
                  <a:lnTo>
                    <a:pt x="148" y="1544"/>
                  </a:lnTo>
                  <a:lnTo>
                    <a:pt x="131" y="1455"/>
                  </a:lnTo>
                  <a:lnTo>
                    <a:pt x="142" y="1312"/>
                  </a:lnTo>
                  <a:lnTo>
                    <a:pt x="131" y="1205"/>
                  </a:lnTo>
                  <a:lnTo>
                    <a:pt x="71" y="1015"/>
                  </a:lnTo>
                  <a:lnTo>
                    <a:pt x="18" y="843"/>
                  </a:lnTo>
                  <a:lnTo>
                    <a:pt x="18" y="754"/>
                  </a:lnTo>
                  <a:lnTo>
                    <a:pt x="83" y="534"/>
                  </a:lnTo>
                  <a:lnTo>
                    <a:pt x="190" y="297"/>
                  </a:lnTo>
                  <a:lnTo>
                    <a:pt x="344" y="118"/>
                  </a:lnTo>
                  <a:lnTo>
                    <a:pt x="641" y="0"/>
                  </a:lnTo>
                  <a:lnTo>
                    <a:pt x="891" y="41"/>
                  </a:lnTo>
                  <a:lnTo>
                    <a:pt x="1075" y="71"/>
                  </a:lnTo>
                  <a:lnTo>
                    <a:pt x="1211" y="255"/>
                  </a:lnTo>
                  <a:lnTo>
                    <a:pt x="1306" y="510"/>
                  </a:lnTo>
                  <a:lnTo>
                    <a:pt x="1383" y="867"/>
                  </a:lnTo>
                  <a:lnTo>
                    <a:pt x="1354" y="1235"/>
                  </a:lnTo>
                  <a:lnTo>
                    <a:pt x="1306" y="1383"/>
                  </a:lnTo>
                  <a:lnTo>
                    <a:pt x="1336" y="1579"/>
                  </a:lnTo>
                  <a:lnTo>
                    <a:pt x="1401" y="1698"/>
                  </a:lnTo>
                  <a:lnTo>
                    <a:pt x="1579" y="1805"/>
                  </a:lnTo>
                  <a:lnTo>
                    <a:pt x="1615" y="1870"/>
                  </a:lnTo>
                  <a:lnTo>
                    <a:pt x="1615" y="1995"/>
                  </a:lnTo>
                  <a:lnTo>
                    <a:pt x="1603" y="2203"/>
                  </a:lnTo>
                  <a:lnTo>
                    <a:pt x="1603" y="2316"/>
                  </a:lnTo>
                  <a:lnTo>
                    <a:pt x="1645" y="2381"/>
                  </a:lnTo>
                  <a:lnTo>
                    <a:pt x="0" y="2280"/>
                  </a:lnTo>
                  <a:close/>
                </a:path>
              </a:pathLst>
            </a:custGeom>
            <a:pattFill prst="dotDmnd">
              <a:fgClr>
                <a:schemeClr val="bg1"/>
              </a:fgClr>
              <a:bgClr>
                <a:srgbClr val="9999FF"/>
              </a:bgClr>
            </a:pattFill>
            <a:ln w="9525">
              <a:solidFill>
                <a:schemeClr val="tx1"/>
              </a:solidFill>
              <a:round/>
              <a:headEnd/>
              <a:tailEnd/>
            </a:ln>
          </p:spPr>
          <p:txBody>
            <a:bodyPr/>
            <a:lstStyle/>
            <a:p>
              <a:endParaRPr lang="en-US"/>
            </a:p>
          </p:txBody>
        </p:sp>
        <p:sp>
          <p:nvSpPr>
            <p:cNvPr id="82988" name="Freeform 10" descr="Small confetti"/>
            <p:cNvSpPr>
              <a:spLocks/>
            </p:cNvSpPr>
            <p:nvPr/>
          </p:nvSpPr>
          <p:spPr bwMode="auto">
            <a:xfrm>
              <a:off x="739775" y="1668463"/>
              <a:ext cx="2838450" cy="2611437"/>
            </a:xfrm>
            <a:custGeom>
              <a:avLst/>
              <a:gdLst>
                <a:gd name="T0" fmla="*/ 1402 w 1788"/>
                <a:gd name="T1" fmla="*/ 1645 h 1645"/>
                <a:gd name="T2" fmla="*/ 1425 w 1788"/>
                <a:gd name="T3" fmla="*/ 1283 h 1645"/>
                <a:gd name="T4" fmla="*/ 1354 w 1788"/>
                <a:gd name="T5" fmla="*/ 938 h 1645"/>
                <a:gd name="T6" fmla="*/ 1253 w 1788"/>
                <a:gd name="T7" fmla="*/ 689 h 1645"/>
                <a:gd name="T8" fmla="*/ 1123 w 1788"/>
                <a:gd name="T9" fmla="*/ 493 h 1645"/>
                <a:gd name="T10" fmla="*/ 689 w 1788"/>
                <a:gd name="T11" fmla="*/ 422 h 1645"/>
                <a:gd name="T12" fmla="*/ 374 w 1788"/>
                <a:gd name="T13" fmla="*/ 540 h 1645"/>
                <a:gd name="T14" fmla="*/ 226 w 1788"/>
                <a:gd name="T15" fmla="*/ 719 h 1645"/>
                <a:gd name="T16" fmla="*/ 125 w 1788"/>
                <a:gd name="T17" fmla="*/ 956 h 1645"/>
                <a:gd name="T18" fmla="*/ 60 w 1788"/>
                <a:gd name="T19" fmla="*/ 1152 h 1645"/>
                <a:gd name="T20" fmla="*/ 60 w 1788"/>
                <a:gd name="T21" fmla="*/ 1247 h 1645"/>
                <a:gd name="T22" fmla="*/ 36 w 1788"/>
                <a:gd name="T23" fmla="*/ 1182 h 1645"/>
                <a:gd name="T24" fmla="*/ 42 w 1788"/>
                <a:gd name="T25" fmla="*/ 944 h 1645"/>
                <a:gd name="T26" fmla="*/ 42 w 1788"/>
                <a:gd name="T27" fmla="*/ 831 h 1645"/>
                <a:gd name="T28" fmla="*/ 24 w 1788"/>
                <a:gd name="T29" fmla="*/ 665 h 1645"/>
                <a:gd name="T30" fmla="*/ 0 w 1788"/>
                <a:gd name="T31" fmla="*/ 534 h 1645"/>
                <a:gd name="T32" fmla="*/ 12 w 1788"/>
                <a:gd name="T33" fmla="*/ 404 h 1645"/>
                <a:gd name="T34" fmla="*/ 77 w 1788"/>
                <a:gd name="T35" fmla="*/ 279 h 1645"/>
                <a:gd name="T36" fmla="*/ 137 w 1788"/>
                <a:gd name="T37" fmla="*/ 202 h 1645"/>
                <a:gd name="T38" fmla="*/ 232 w 1788"/>
                <a:gd name="T39" fmla="*/ 125 h 1645"/>
                <a:gd name="T40" fmla="*/ 357 w 1788"/>
                <a:gd name="T41" fmla="*/ 48 h 1645"/>
                <a:gd name="T42" fmla="*/ 487 w 1788"/>
                <a:gd name="T43" fmla="*/ 18 h 1645"/>
                <a:gd name="T44" fmla="*/ 606 w 1788"/>
                <a:gd name="T45" fmla="*/ 12 h 1645"/>
                <a:gd name="T46" fmla="*/ 665 w 1788"/>
                <a:gd name="T47" fmla="*/ 42 h 1645"/>
                <a:gd name="T48" fmla="*/ 790 w 1788"/>
                <a:gd name="T49" fmla="*/ 125 h 1645"/>
                <a:gd name="T50" fmla="*/ 1010 w 1788"/>
                <a:gd name="T51" fmla="*/ 137 h 1645"/>
                <a:gd name="T52" fmla="*/ 1093 w 1788"/>
                <a:gd name="T53" fmla="*/ 95 h 1645"/>
                <a:gd name="T54" fmla="*/ 1218 w 1788"/>
                <a:gd name="T55" fmla="*/ 0 h 1645"/>
                <a:gd name="T56" fmla="*/ 1420 w 1788"/>
                <a:gd name="T57" fmla="*/ 6 h 1645"/>
                <a:gd name="T58" fmla="*/ 1562 w 1788"/>
                <a:gd name="T59" fmla="*/ 42 h 1645"/>
                <a:gd name="T60" fmla="*/ 1592 w 1788"/>
                <a:gd name="T61" fmla="*/ 77 h 1645"/>
                <a:gd name="T62" fmla="*/ 1586 w 1788"/>
                <a:gd name="T63" fmla="*/ 321 h 1645"/>
                <a:gd name="T64" fmla="*/ 1615 w 1788"/>
                <a:gd name="T65" fmla="*/ 428 h 1645"/>
                <a:gd name="T66" fmla="*/ 1675 w 1788"/>
                <a:gd name="T67" fmla="*/ 487 h 1645"/>
                <a:gd name="T68" fmla="*/ 1752 w 1788"/>
                <a:gd name="T69" fmla="*/ 719 h 1645"/>
                <a:gd name="T70" fmla="*/ 1782 w 1788"/>
                <a:gd name="T71" fmla="*/ 855 h 1645"/>
                <a:gd name="T72" fmla="*/ 1788 w 1788"/>
                <a:gd name="T73" fmla="*/ 980 h 1645"/>
                <a:gd name="T74" fmla="*/ 1710 w 1788"/>
                <a:gd name="T75" fmla="*/ 1087 h 1645"/>
                <a:gd name="T76" fmla="*/ 1639 w 1788"/>
                <a:gd name="T77" fmla="*/ 1188 h 1645"/>
                <a:gd name="T78" fmla="*/ 1556 w 1788"/>
                <a:gd name="T79" fmla="*/ 1295 h 1645"/>
                <a:gd name="T80" fmla="*/ 1479 w 1788"/>
                <a:gd name="T81" fmla="*/ 1449 h 1645"/>
                <a:gd name="T82" fmla="*/ 1402 w 1788"/>
                <a:gd name="T83" fmla="*/ 1645 h 16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788"/>
                <a:gd name="T127" fmla="*/ 0 h 1645"/>
                <a:gd name="T128" fmla="*/ 1788 w 1788"/>
                <a:gd name="T129" fmla="*/ 1645 h 16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788" h="1645">
                  <a:moveTo>
                    <a:pt x="1402" y="1645"/>
                  </a:moveTo>
                  <a:lnTo>
                    <a:pt x="1425" y="1283"/>
                  </a:lnTo>
                  <a:lnTo>
                    <a:pt x="1354" y="938"/>
                  </a:lnTo>
                  <a:lnTo>
                    <a:pt x="1253" y="689"/>
                  </a:lnTo>
                  <a:lnTo>
                    <a:pt x="1123" y="493"/>
                  </a:lnTo>
                  <a:lnTo>
                    <a:pt x="689" y="422"/>
                  </a:lnTo>
                  <a:lnTo>
                    <a:pt x="374" y="540"/>
                  </a:lnTo>
                  <a:lnTo>
                    <a:pt x="226" y="719"/>
                  </a:lnTo>
                  <a:lnTo>
                    <a:pt x="125" y="956"/>
                  </a:lnTo>
                  <a:lnTo>
                    <a:pt x="60" y="1152"/>
                  </a:lnTo>
                  <a:lnTo>
                    <a:pt x="60" y="1247"/>
                  </a:lnTo>
                  <a:lnTo>
                    <a:pt x="36" y="1182"/>
                  </a:lnTo>
                  <a:lnTo>
                    <a:pt x="42" y="944"/>
                  </a:lnTo>
                  <a:lnTo>
                    <a:pt x="42" y="831"/>
                  </a:lnTo>
                  <a:lnTo>
                    <a:pt x="24" y="665"/>
                  </a:lnTo>
                  <a:lnTo>
                    <a:pt x="0" y="534"/>
                  </a:lnTo>
                  <a:lnTo>
                    <a:pt x="12" y="404"/>
                  </a:lnTo>
                  <a:lnTo>
                    <a:pt x="77" y="279"/>
                  </a:lnTo>
                  <a:lnTo>
                    <a:pt x="137" y="202"/>
                  </a:lnTo>
                  <a:lnTo>
                    <a:pt x="232" y="125"/>
                  </a:lnTo>
                  <a:lnTo>
                    <a:pt x="357" y="48"/>
                  </a:lnTo>
                  <a:lnTo>
                    <a:pt x="487" y="18"/>
                  </a:lnTo>
                  <a:lnTo>
                    <a:pt x="606" y="12"/>
                  </a:lnTo>
                  <a:lnTo>
                    <a:pt x="665" y="42"/>
                  </a:lnTo>
                  <a:lnTo>
                    <a:pt x="790" y="125"/>
                  </a:lnTo>
                  <a:lnTo>
                    <a:pt x="1010" y="137"/>
                  </a:lnTo>
                  <a:lnTo>
                    <a:pt x="1093" y="95"/>
                  </a:lnTo>
                  <a:lnTo>
                    <a:pt x="1218" y="0"/>
                  </a:lnTo>
                  <a:lnTo>
                    <a:pt x="1420" y="6"/>
                  </a:lnTo>
                  <a:lnTo>
                    <a:pt x="1562" y="42"/>
                  </a:lnTo>
                  <a:lnTo>
                    <a:pt x="1592" y="77"/>
                  </a:lnTo>
                  <a:lnTo>
                    <a:pt x="1586" y="321"/>
                  </a:lnTo>
                  <a:lnTo>
                    <a:pt x="1615" y="428"/>
                  </a:lnTo>
                  <a:lnTo>
                    <a:pt x="1675" y="487"/>
                  </a:lnTo>
                  <a:lnTo>
                    <a:pt x="1752" y="719"/>
                  </a:lnTo>
                  <a:lnTo>
                    <a:pt x="1782" y="855"/>
                  </a:lnTo>
                  <a:lnTo>
                    <a:pt x="1788" y="980"/>
                  </a:lnTo>
                  <a:lnTo>
                    <a:pt x="1710" y="1087"/>
                  </a:lnTo>
                  <a:lnTo>
                    <a:pt x="1639" y="1188"/>
                  </a:lnTo>
                  <a:lnTo>
                    <a:pt x="1556" y="1295"/>
                  </a:lnTo>
                  <a:lnTo>
                    <a:pt x="1479" y="1449"/>
                  </a:lnTo>
                  <a:lnTo>
                    <a:pt x="1402" y="1645"/>
                  </a:lnTo>
                  <a:close/>
                </a:path>
              </a:pathLst>
            </a:custGeom>
            <a:pattFill prst="smConfetti">
              <a:fgClr>
                <a:srgbClr val="CC9900"/>
              </a:fgClr>
              <a:bgClr>
                <a:schemeClr val="bg1"/>
              </a:bgClr>
            </a:pattFill>
            <a:ln w="9525">
              <a:solidFill>
                <a:schemeClr val="tx1"/>
              </a:solidFill>
              <a:round/>
              <a:headEnd/>
              <a:tailEnd/>
            </a:ln>
          </p:spPr>
          <p:txBody>
            <a:bodyPr/>
            <a:lstStyle/>
            <a:p>
              <a:endParaRPr lang="en-US"/>
            </a:p>
          </p:txBody>
        </p:sp>
        <p:sp>
          <p:nvSpPr>
            <p:cNvPr id="82989" name="Freeform 11"/>
            <p:cNvSpPr>
              <a:spLocks/>
            </p:cNvSpPr>
            <p:nvPr/>
          </p:nvSpPr>
          <p:spPr bwMode="auto">
            <a:xfrm>
              <a:off x="890588" y="1479550"/>
              <a:ext cx="1433513" cy="4552950"/>
            </a:xfrm>
            <a:custGeom>
              <a:avLst/>
              <a:gdLst>
                <a:gd name="T0" fmla="*/ 701 w 903"/>
                <a:gd name="T1" fmla="*/ 2868 h 2868"/>
                <a:gd name="T2" fmla="*/ 826 w 903"/>
                <a:gd name="T3" fmla="*/ 2607 h 2868"/>
                <a:gd name="T4" fmla="*/ 897 w 903"/>
                <a:gd name="T5" fmla="*/ 2340 h 2868"/>
                <a:gd name="T6" fmla="*/ 790 w 903"/>
                <a:gd name="T7" fmla="*/ 2001 h 2868"/>
                <a:gd name="T8" fmla="*/ 743 w 903"/>
                <a:gd name="T9" fmla="*/ 1746 h 2868"/>
                <a:gd name="T10" fmla="*/ 630 w 903"/>
                <a:gd name="T11" fmla="*/ 1503 h 2868"/>
                <a:gd name="T12" fmla="*/ 636 w 903"/>
                <a:gd name="T13" fmla="*/ 1212 h 2868"/>
                <a:gd name="T14" fmla="*/ 576 w 903"/>
                <a:gd name="T15" fmla="*/ 915 h 2868"/>
                <a:gd name="T16" fmla="*/ 392 w 903"/>
                <a:gd name="T17" fmla="*/ 636 h 2868"/>
                <a:gd name="T18" fmla="*/ 315 w 903"/>
                <a:gd name="T19" fmla="*/ 392 h 2868"/>
                <a:gd name="T20" fmla="*/ 256 w 903"/>
                <a:gd name="T21" fmla="*/ 172 h 2868"/>
                <a:gd name="T22" fmla="*/ 0 w 903"/>
                <a:gd name="T23" fmla="*/ 0 h 286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03"/>
                <a:gd name="T37" fmla="*/ 0 h 2868"/>
                <a:gd name="T38" fmla="*/ 903 w 903"/>
                <a:gd name="T39" fmla="*/ 2868 h 286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03" h="2868">
                  <a:moveTo>
                    <a:pt x="701" y="2868"/>
                  </a:moveTo>
                  <a:cubicBezTo>
                    <a:pt x="747" y="2781"/>
                    <a:pt x="793" y="2695"/>
                    <a:pt x="826" y="2607"/>
                  </a:cubicBezTo>
                  <a:cubicBezTo>
                    <a:pt x="859" y="2519"/>
                    <a:pt x="903" y="2441"/>
                    <a:pt x="897" y="2340"/>
                  </a:cubicBezTo>
                  <a:cubicBezTo>
                    <a:pt x="891" y="2239"/>
                    <a:pt x="816" y="2100"/>
                    <a:pt x="790" y="2001"/>
                  </a:cubicBezTo>
                  <a:cubicBezTo>
                    <a:pt x="764" y="1902"/>
                    <a:pt x="770" y="1829"/>
                    <a:pt x="743" y="1746"/>
                  </a:cubicBezTo>
                  <a:cubicBezTo>
                    <a:pt x="716" y="1663"/>
                    <a:pt x="648" y="1592"/>
                    <a:pt x="630" y="1503"/>
                  </a:cubicBezTo>
                  <a:cubicBezTo>
                    <a:pt x="612" y="1414"/>
                    <a:pt x="645" y="1310"/>
                    <a:pt x="636" y="1212"/>
                  </a:cubicBezTo>
                  <a:cubicBezTo>
                    <a:pt x="627" y="1114"/>
                    <a:pt x="617" y="1011"/>
                    <a:pt x="576" y="915"/>
                  </a:cubicBezTo>
                  <a:cubicBezTo>
                    <a:pt x="535" y="819"/>
                    <a:pt x="435" y="723"/>
                    <a:pt x="392" y="636"/>
                  </a:cubicBezTo>
                  <a:cubicBezTo>
                    <a:pt x="349" y="549"/>
                    <a:pt x="338" y="469"/>
                    <a:pt x="315" y="392"/>
                  </a:cubicBezTo>
                  <a:cubicBezTo>
                    <a:pt x="292" y="315"/>
                    <a:pt x="309" y="237"/>
                    <a:pt x="256" y="172"/>
                  </a:cubicBezTo>
                  <a:cubicBezTo>
                    <a:pt x="203" y="107"/>
                    <a:pt x="43" y="29"/>
                    <a:pt x="0" y="0"/>
                  </a:cubicBezTo>
                </a:path>
              </a:pathLst>
            </a:custGeom>
            <a:noFill/>
            <a:ln w="28575" cmpd="sng">
              <a:solidFill>
                <a:srgbClr val="9999FF"/>
              </a:solidFill>
              <a:round/>
              <a:headEnd/>
              <a:tailEnd/>
            </a:ln>
          </p:spPr>
          <p:txBody>
            <a:bodyPr/>
            <a:lstStyle/>
            <a:p>
              <a:endParaRPr lang="en-US"/>
            </a:p>
          </p:txBody>
        </p:sp>
        <p:sp>
          <p:nvSpPr>
            <p:cNvPr id="82990" name="Freeform 12"/>
            <p:cNvSpPr>
              <a:spLocks/>
            </p:cNvSpPr>
            <p:nvPr/>
          </p:nvSpPr>
          <p:spPr bwMode="auto">
            <a:xfrm>
              <a:off x="1881188" y="1450975"/>
              <a:ext cx="1781175" cy="2386012"/>
            </a:xfrm>
            <a:custGeom>
              <a:avLst/>
              <a:gdLst>
                <a:gd name="T0" fmla="*/ 0 w 1122"/>
                <a:gd name="T1" fmla="*/ 1503 h 1503"/>
                <a:gd name="T2" fmla="*/ 136 w 1122"/>
                <a:gd name="T3" fmla="*/ 1366 h 1503"/>
                <a:gd name="T4" fmla="*/ 410 w 1122"/>
                <a:gd name="T5" fmla="*/ 1295 h 1503"/>
                <a:gd name="T6" fmla="*/ 576 w 1122"/>
                <a:gd name="T7" fmla="*/ 1194 h 1503"/>
                <a:gd name="T8" fmla="*/ 606 w 1122"/>
                <a:gd name="T9" fmla="*/ 957 h 1503"/>
                <a:gd name="T10" fmla="*/ 552 w 1122"/>
                <a:gd name="T11" fmla="*/ 743 h 1503"/>
                <a:gd name="T12" fmla="*/ 558 w 1122"/>
                <a:gd name="T13" fmla="*/ 559 h 1503"/>
                <a:gd name="T14" fmla="*/ 653 w 1122"/>
                <a:gd name="T15" fmla="*/ 410 h 1503"/>
                <a:gd name="T16" fmla="*/ 754 w 1122"/>
                <a:gd name="T17" fmla="*/ 250 h 1503"/>
                <a:gd name="T18" fmla="*/ 932 w 1122"/>
                <a:gd name="T19" fmla="*/ 107 h 1503"/>
                <a:gd name="T20" fmla="*/ 1122 w 1122"/>
                <a:gd name="T21" fmla="*/ 0 h 15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22"/>
                <a:gd name="T34" fmla="*/ 0 h 1503"/>
                <a:gd name="T35" fmla="*/ 1122 w 1122"/>
                <a:gd name="T36" fmla="*/ 1503 h 15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22" h="1503">
                  <a:moveTo>
                    <a:pt x="0" y="1503"/>
                  </a:moveTo>
                  <a:cubicBezTo>
                    <a:pt x="34" y="1452"/>
                    <a:pt x="68" y="1401"/>
                    <a:pt x="136" y="1366"/>
                  </a:cubicBezTo>
                  <a:cubicBezTo>
                    <a:pt x="204" y="1331"/>
                    <a:pt x="337" y="1324"/>
                    <a:pt x="410" y="1295"/>
                  </a:cubicBezTo>
                  <a:cubicBezTo>
                    <a:pt x="483" y="1266"/>
                    <a:pt x="543" y="1250"/>
                    <a:pt x="576" y="1194"/>
                  </a:cubicBezTo>
                  <a:cubicBezTo>
                    <a:pt x="609" y="1138"/>
                    <a:pt x="610" y="1032"/>
                    <a:pt x="606" y="957"/>
                  </a:cubicBezTo>
                  <a:cubicBezTo>
                    <a:pt x="602" y="882"/>
                    <a:pt x="560" y="809"/>
                    <a:pt x="552" y="743"/>
                  </a:cubicBezTo>
                  <a:cubicBezTo>
                    <a:pt x="544" y="677"/>
                    <a:pt x="541" y="614"/>
                    <a:pt x="558" y="559"/>
                  </a:cubicBezTo>
                  <a:cubicBezTo>
                    <a:pt x="575" y="504"/>
                    <a:pt x="620" y="462"/>
                    <a:pt x="653" y="410"/>
                  </a:cubicBezTo>
                  <a:cubicBezTo>
                    <a:pt x="686" y="358"/>
                    <a:pt x="708" y="300"/>
                    <a:pt x="754" y="250"/>
                  </a:cubicBezTo>
                  <a:cubicBezTo>
                    <a:pt x="800" y="200"/>
                    <a:pt x="871" y="149"/>
                    <a:pt x="932" y="107"/>
                  </a:cubicBezTo>
                  <a:cubicBezTo>
                    <a:pt x="993" y="65"/>
                    <a:pt x="1090" y="18"/>
                    <a:pt x="1122" y="0"/>
                  </a:cubicBezTo>
                </a:path>
              </a:pathLst>
            </a:custGeom>
            <a:noFill/>
            <a:ln w="28575" cap="flat" cmpd="sng">
              <a:solidFill>
                <a:srgbClr val="9999FF"/>
              </a:solidFill>
              <a:prstDash val="solid"/>
              <a:round/>
              <a:headEnd type="none" w="med" len="med"/>
              <a:tailEnd type="none" w="med" len="med"/>
            </a:ln>
          </p:spPr>
          <p:txBody>
            <a:bodyPr/>
            <a:lstStyle/>
            <a:p>
              <a:endParaRPr lang="en-US"/>
            </a:p>
          </p:txBody>
        </p:sp>
        <p:sp>
          <p:nvSpPr>
            <p:cNvPr id="82991" name="Line 13"/>
            <p:cNvSpPr>
              <a:spLocks noChangeShapeType="1"/>
            </p:cNvSpPr>
            <p:nvPr/>
          </p:nvSpPr>
          <p:spPr bwMode="auto">
            <a:xfrm flipV="1">
              <a:off x="627063" y="2892425"/>
              <a:ext cx="3138488" cy="1225550"/>
            </a:xfrm>
            <a:prstGeom prst="line">
              <a:avLst/>
            </a:prstGeom>
            <a:noFill/>
            <a:ln w="28575">
              <a:solidFill>
                <a:schemeClr val="tx1"/>
              </a:solidFill>
              <a:round/>
              <a:headEnd/>
              <a:tailEnd/>
            </a:ln>
          </p:spPr>
          <p:txBody>
            <a:bodyPr/>
            <a:lstStyle/>
            <a:p>
              <a:endParaRPr lang="en-US"/>
            </a:p>
          </p:txBody>
        </p:sp>
        <p:sp>
          <p:nvSpPr>
            <p:cNvPr id="82992" name="Text Box 14"/>
            <p:cNvSpPr txBox="1">
              <a:spLocks noChangeArrowheads="1"/>
            </p:cNvSpPr>
            <p:nvPr/>
          </p:nvSpPr>
          <p:spPr bwMode="auto">
            <a:xfrm>
              <a:off x="400050" y="3949700"/>
              <a:ext cx="330200" cy="366712"/>
            </a:xfrm>
            <a:prstGeom prst="rect">
              <a:avLst/>
            </a:prstGeom>
            <a:noFill/>
            <a:ln w="9525">
              <a:noFill/>
              <a:miter lim="800000"/>
              <a:headEnd/>
              <a:tailEnd/>
            </a:ln>
          </p:spPr>
          <p:txBody>
            <a:bodyPr>
              <a:spAutoFit/>
            </a:bodyPr>
            <a:lstStyle/>
            <a:p>
              <a:pPr>
                <a:spcBef>
                  <a:spcPct val="50000"/>
                </a:spcBef>
              </a:pPr>
              <a:r>
                <a:rPr lang="en-AU" i="0">
                  <a:solidFill>
                    <a:schemeClr val="tx1"/>
                  </a:solidFill>
                </a:rPr>
                <a:t>A</a:t>
              </a:r>
              <a:endParaRPr lang="en-US" i="0">
                <a:solidFill>
                  <a:schemeClr val="tx1"/>
                </a:solidFill>
              </a:endParaRPr>
            </a:p>
          </p:txBody>
        </p:sp>
        <p:sp>
          <p:nvSpPr>
            <p:cNvPr id="82993" name="Text Box 15"/>
            <p:cNvSpPr txBox="1">
              <a:spLocks noChangeArrowheads="1"/>
            </p:cNvSpPr>
            <p:nvPr/>
          </p:nvSpPr>
          <p:spPr bwMode="auto">
            <a:xfrm>
              <a:off x="3679825" y="2693988"/>
              <a:ext cx="330200" cy="366712"/>
            </a:xfrm>
            <a:prstGeom prst="rect">
              <a:avLst/>
            </a:prstGeom>
            <a:noFill/>
            <a:ln w="9525">
              <a:noFill/>
              <a:miter lim="800000"/>
              <a:headEnd/>
              <a:tailEnd/>
            </a:ln>
          </p:spPr>
          <p:txBody>
            <a:bodyPr>
              <a:spAutoFit/>
            </a:bodyPr>
            <a:lstStyle/>
            <a:p>
              <a:pPr>
                <a:spcBef>
                  <a:spcPct val="50000"/>
                </a:spcBef>
              </a:pPr>
              <a:r>
                <a:rPr lang="en-AU" i="0">
                  <a:solidFill>
                    <a:schemeClr val="tx1"/>
                  </a:solidFill>
                </a:rPr>
                <a:t>B</a:t>
              </a:r>
              <a:endParaRPr lang="en-US" i="0">
                <a:solidFill>
                  <a:schemeClr val="tx1"/>
                </a:solidFill>
              </a:endParaRPr>
            </a:p>
          </p:txBody>
        </p:sp>
      </p:grpSp>
      <p:grpSp>
        <p:nvGrpSpPr>
          <p:cNvPr id="82947" name="Group 1"/>
          <p:cNvGrpSpPr>
            <a:grpSpLocks/>
          </p:cNvGrpSpPr>
          <p:nvPr/>
        </p:nvGrpSpPr>
        <p:grpSpPr bwMode="auto">
          <a:xfrm>
            <a:off x="3914775" y="1911350"/>
            <a:ext cx="4081463" cy="2330450"/>
            <a:chOff x="3914775" y="1911350"/>
            <a:chExt cx="4081463" cy="2330451"/>
          </a:xfrm>
        </p:grpSpPr>
        <p:sp>
          <p:nvSpPr>
            <p:cNvPr id="82981" name="Freeform 17" descr="Dashed upward diagonal"/>
            <p:cNvSpPr>
              <a:spLocks/>
            </p:cNvSpPr>
            <p:nvPr/>
          </p:nvSpPr>
          <p:spPr bwMode="auto">
            <a:xfrm>
              <a:off x="4076700" y="2300288"/>
              <a:ext cx="3743325" cy="1941513"/>
            </a:xfrm>
            <a:custGeom>
              <a:avLst/>
              <a:gdLst>
                <a:gd name="T0" fmla="*/ 0 w 2358"/>
                <a:gd name="T1" fmla="*/ 169863 h 1223"/>
                <a:gd name="T2" fmla="*/ 217488 w 2358"/>
                <a:gd name="T3" fmla="*/ 169863 h 1223"/>
                <a:gd name="T4" fmla="*/ 387350 w 2358"/>
                <a:gd name="T5" fmla="*/ 263525 h 1223"/>
                <a:gd name="T6" fmla="*/ 566737 w 2358"/>
                <a:gd name="T7" fmla="*/ 566738 h 1223"/>
                <a:gd name="T8" fmla="*/ 708025 w 2358"/>
                <a:gd name="T9" fmla="*/ 1009650 h 1223"/>
                <a:gd name="T10" fmla="*/ 858838 w 2358"/>
                <a:gd name="T11" fmla="*/ 1254125 h 1223"/>
                <a:gd name="T12" fmla="*/ 1141412 w 2358"/>
                <a:gd name="T13" fmla="*/ 1366838 h 1223"/>
                <a:gd name="T14" fmla="*/ 1706563 w 2358"/>
                <a:gd name="T15" fmla="*/ 1481138 h 1223"/>
                <a:gd name="T16" fmla="*/ 2065337 w 2358"/>
                <a:gd name="T17" fmla="*/ 1471613 h 1223"/>
                <a:gd name="T18" fmla="*/ 2536825 w 2358"/>
                <a:gd name="T19" fmla="*/ 1404938 h 1223"/>
                <a:gd name="T20" fmla="*/ 2913062 w 2358"/>
                <a:gd name="T21" fmla="*/ 1112838 h 1223"/>
                <a:gd name="T22" fmla="*/ 3149599 w 2358"/>
                <a:gd name="T23" fmla="*/ 698500 h 1223"/>
                <a:gd name="T24" fmla="*/ 3233737 w 2358"/>
                <a:gd name="T25" fmla="*/ 368300 h 1223"/>
                <a:gd name="T26" fmla="*/ 3346450 w 2358"/>
                <a:gd name="T27" fmla="*/ 57150 h 1223"/>
                <a:gd name="T28" fmla="*/ 3487738 w 2358"/>
                <a:gd name="T29" fmla="*/ 0 h 1223"/>
                <a:gd name="T30" fmla="*/ 3743325 w 2358"/>
                <a:gd name="T31" fmla="*/ 9525 h 1223"/>
                <a:gd name="T32" fmla="*/ 3743325 w 2358"/>
                <a:gd name="T33" fmla="*/ 1941513 h 1223"/>
                <a:gd name="T34" fmla="*/ 9525 w 2358"/>
                <a:gd name="T35" fmla="*/ 1941513 h 1223"/>
                <a:gd name="T36" fmla="*/ 9525 w 2358"/>
                <a:gd name="T37" fmla="*/ 169863 h 122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58"/>
                <a:gd name="T58" fmla="*/ 0 h 1223"/>
                <a:gd name="T59" fmla="*/ 2358 w 2358"/>
                <a:gd name="T60" fmla="*/ 1223 h 122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58" h="1223">
                  <a:moveTo>
                    <a:pt x="0" y="107"/>
                  </a:moveTo>
                  <a:lnTo>
                    <a:pt x="137" y="107"/>
                  </a:lnTo>
                  <a:lnTo>
                    <a:pt x="244" y="166"/>
                  </a:lnTo>
                  <a:lnTo>
                    <a:pt x="357" y="357"/>
                  </a:lnTo>
                  <a:lnTo>
                    <a:pt x="446" y="636"/>
                  </a:lnTo>
                  <a:lnTo>
                    <a:pt x="541" y="790"/>
                  </a:lnTo>
                  <a:lnTo>
                    <a:pt x="719" y="861"/>
                  </a:lnTo>
                  <a:lnTo>
                    <a:pt x="1075" y="933"/>
                  </a:lnTo>
                  <a:lnTo>
                    <a:pt x="1301" y="927"/>
                  </a:lnTo>
                  <a:lnTo>
                    <a:pt x="1598" y="885"/>
                  </a:lnTo>
                  <a:lnTo>
                    <a:pt x="1835" y="701"/>
                  </a:lnTo>
                  <a:lnTo>
                    <a:pt x="1984" y="440"/>
                  </a:lnTo>
                  <a:lnTo>
                    <a:pt x="2037" y="232"/>
                  </a:lnTo>
                  <a:lnTo>
                    <a:pt x="2108" y="36"/>
                  </a:lnTo>
                  <a:lnTo>
                    <a:pt x="2197" y="0"/>
                  </a:lnTo>
                  <a:lnTo>
                    <a:pt x="2358" y="6"/>
                  </a:lnTo>
                  <a:lnTo>
                    <a:pt x="2358" y="1223"/>
                  </a:lnTo>
                  <a:lnTo>
                    <a:pt x="6" y="1223"/>
                  </a:lnTo>
                  <a:lnTo>
                    <a:pt x="6" y="107"/>
                  </a:lnTo>
                </a:path>
              </a:pathLst>
            </a:custGeom>
            <a:pattFill prst="dashUpDiag">
              <a:fgClr>
                <a:schemeClr val="accent1"/>
              </a:fgClr>
              <a:bgClr>
                <a:schemeClr val="bg1"/>
              </a:bgClr>
            </a:pattFill>
            <a:ln w="9525">
              <a:solidFill>
                <a:schemeClr val="tx1"/>
              </a:solidFill>
              <a:round/>
              <a:headEnd/>
              <a:tailEnd/>
            </a:ln>
          </p:spPr>
          <p:txBody>
            <a:bodyPr/>
            <a:lstStyle/>
            <a:p>
              <a:endParaRPr lang="en-US"/>
            </a:p>
          </p:txBody>
        </p:sp>
        <p:sp>
          <p:nvSpPr>
            <p:cNvPr id="82982" name="Freeform 18" descr="Small confetti"/>
            <p:cNvSpPr>
              <a:spLocks/>
            </p:cNvSpPr>
            <p:nvPr/>
          </p:nvSpPr>
          <p:spPr bwMode="auto">
            <a:xfrm>
              <a:off x="4737100" y="2790825"/>
              <a:ext cx="2535238" cy="990600"/>
            </a:xfrm>
            <a:custGeom>
              <a:avLst/>
              <a:gdLst>
                <a:gd name="T0" fmla="*/ 28575 w 1597"/>
                <a:gd name="T1" fmla="*/ 452438 h 624"/>
                <a:gd name="T2" fmla="*/ 84138 w 1597"/>
                <a:gd name="T3" fmla="*/ 584200 h 624"/>
                <a:gd name="T4" fmla="*/ 207963 w 1597"/>
                <a:gd name="T5" fmla="*/ 773112 h 624"/>
                <a:gd name="T6" fmla="*/ 509588 w 1597"/>
                <a:gd name="T7" fmla="*/ 885825 h 624"/>
                <a:gd name="T8" fmla="*/ 1055688 w 1597"/>
                <a:gd name="T9" fmla="*/ 981075 h 624"/>
                <a:gd name="T10" fmla="*/ 1450975 w 1597"/>
                <a:gd name="T11" fmla="*/ 990600 h 624"/>
                <a:gd name="T12" fmla="*/ 1876426 w 1597"/>
                <a:gd name="T13" fmla="*/ 914400 h 624"/>
                <a:gd name="T14" fmla="*/ 2262188 w 1597"/>
                <a:gd name="T15" fmla="*/ 603250 h 624"/>
                <a:gd name="T16" fmla="*/ 2489201 w 1597"/>
                <a:gd name="T17" fmla="*/ 188912 h 624"/>
                <a:gd name="T18" fmla="*/ 2535238 w 1597"/>
                <a:gd name="T19" fmla="*/ 0 h 624"/>
                <a:gd name="T20" fmla="*/ 2319338 w 1597"/>
                <a:gd name="T21" fmla="*/ 19050 h 624"/>
                <a:gd name="T22" fmla="*/ 2092326 w 1597"/>
                <a:gd name="T23" fmla="*/ 84137 h 624"/>
                <a:gd name="T24" fmla="*/ 1912938 w 1597"/>
                <a:gd name="T25" fmla="*/ 244475 h 624"/>
                <a:gd name="T26" fmla="*/ 1735138 w 1597"/>
                <a:gd name="T27" fmla="*/ 395287 h 624"/>
                <a:gd name="T28" fmla="*/ 1460500 w 1597"/>
                <a:gd name="T29" fmla="*/ 490538 h 624"/>
                <a:gd name="T30" fmla="*/ 1046163 w 1597"/>
                <a:gd name="T31" fmla="*/ 574675 h 624"/>
                <a:gd name="T32" fmla="*/ 650875 w 1597"/>
                <a:gd name="T33" fmla="*/ 519112 h 624"/>
                <a:gd name="T34" fmla="*/ 311150 w 1597"/>
                <a:gd name="T35" fmla="*/ 414338 h 624"/>
                <a:gd name="T36" fmla="*/ 0 w 1597"/>
                <a:gd name="T37" fmla="*/ 395287 h 624"/>
                <a:gd name="T38" fmla="*/ 38100 w 1597"/>
                <a:gd name="T39" fmla="*/ 500062 h 624"/>
                <a:gd name="T40" fmla="*/ 198438 w 1597"/>
                <a:gd name="T41" fmla="*/ 754062 h 62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97"/>
                <a:gd name="T64" fmla="*/ 0 h 624"/>
                <a:gd name="T65" fmla="*/ 1597 w 1597"/>
                <a:gd name="T66" fmla="*/ 624 h 62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97" h="624">
                  <a:moveTo>
                    <a:pt x="18" y="285"/>
                  </a:moveTo>
                  <a:lnTo>
                    <a:pt x="53" y="368"/>
                  </a:lnTo>
                  <a:lnTo>
                    <a:pt x="131" y="487"/>
                  </a:lnTo>
                  <a:lnTo>
                    <a:pt x="321" y="558"/>
                  </a:lnTo>
                  <a:lnTo>
                    <a:pt x="665" y="618"/>
                  </a:lnTo>
                  <a:lnTo>
                    <a:pt x="914" y="624"/>
                  </a:lnTo>
                  <a:lnTo>
                    <a:pt x="1182" y="576"/>
                  </a:lnTo>
                  <a:lnTo>
                    <a:pt x="1425" y="380"/>
                  </a:lnTo>
                  <a:lnTo>
                    <a:pt x="1568" y="119"/>
                  </a:lnTo>
                  <a:lnTo>
                    <a:pt x="1597" y="0"/>
                  </a:lnTo>
                  <a:lnTo>
                    <a:pt x="1461" y="12"/>
                  </a:lnTo>
                  <a:lnTo>
                    <a:pt x="1318" y="53"/>
                  </a:lnTo>
                  <a:lnTo>
                    <a:pt x="1205" y="154"/>
                  </a:lnTo>
                  <a:lnTo>
                    <a:pt x="1093" y="249"/>
                  </a:lnTo>
                  <a:lnTo>
                    <a:pt x="920" y="309"/>
                  </a:lnTo>
                  <a:lnTo>
                    <a:pt x="659" y="362"/>
                  </a:lnTo>
                  <a:lnTo>
                    <a:pt x="410" y="327"/>
                  </a:lnTo>
                  <a:lnTo>
                    <a:pt x="196" y="261"/>
                  </a:lnTo>
                  <a:lnTo>
                    <a:pt x="0" y="249"/>
                  </a:lnTo>
                  <a:lnTo>
                    <a:pt x="24" y="315"/>
                  </a:lnTo>
                  <a:lnTo>
                    <a:pt x="125" y="475"/>
                  </a:lnTo>
                </a:path>
              </a:pathLst>
            </a:custGeom>
            <a:pattFill prst="smConfetti">
              <a:fgClr>
                <a:srgbClr val="CC9900"/>
              </a:fgClr>
              <a:bgClr>
                <a:schemeClr val="bg1"/>
              </a:bgClr>
            </a:pattFill>
            <a:ln w="9525" cap="flat" cmpd="sng">
              <a:solidFill>
                <a:schemeClr val="tx1"/>
              </a:solidFill>
              <a:prstDash val="solid"/>
              <a:round/>
              <a:headEnd type="none" w="med" len="med"/>
              <a:tailEnd type="none" w="med" len="med"/>
            </a:ln>
          </p:spPr>
          <p:txBody>
            <a:bodyPr/>
            <a:lstStyle/>
            <a:p>
              <a:endParaRPr lang="en-US"/>
            </a:p>
          </p:txBody>
        </p:sp>
        <p:sp>
          <p:nvSpPr>
            <p:cNvPr id="82983" name="Freeform 19"/>
            <p:cNvSpPr>
              <a:spLocks/>
            </p:cNvSpPr>
            <p:nvPr/>
          </p:nvSpPr>
          <p:spPr bwMode="auto">
            <a:xfrm>
              <a:off x="4660900" y="2884488"/>
              <a:ext cx="2149475" cy="481013"/>
            </a:xfrm>
            <a:custGeom>
              <a:avLst/>
              <a:gdLst>
                <a:gd name="T0" fmla="*/ 0 w 1354"/>
                <a:gd name="T1" fmla="*/ 47625 h 303"/>
                <a:gd name="T2" fmla="*/ 85725 w 1354"/>
                <a:gd name="T3" fmla="*/ 301625 h 303"/>
                <a:gd name="T4" fmla="*/ 396875 w 1354"/>
                <a:gd name="T5" fmla="*/ 311150 h 303"/>
                <a:gd name="T6" fmla="*/ 736600 w 1354"/>
                <a:gd name="T7" fmla="*/ 434975 h 303"/>
                <a:gd name="T8" fmla="*/ 1141412 w 1354"/>
                <a:gd name="T9" fmla="*/ 481013 h 303"/>
                <a:gd name="T10" fmla="*/ 1555750 w 1354"/>
                <a:gd name="T11" fmla="*/ 396875 h 303"/>
                <a:gd name="T12" fmla="*/ 1811338 w 1354"/>
                <a:gd name="T13" fmla="*/ 301625 h 303"/>
                <a:gd name="T14" fmla="*/ 2149475 w 1354"/>
                <a:gd name="T15" fmla="*/ 0 h 303"/>
                <a:gd name="T16" fmla="*/ 1895475 w 1354"/>
                <a:gd name="T17" fmla="*/ 9525 h 303"/>
                <a:gd name="T18" fmla="*/ 1838325 w 1354"/>
                <a:gd name="T19" fmla="*/ 47625 h 303"/>
                <a:gd name="T20" fmla="*/ 1782763 w 1354"/>
                <a:gd name="T21" fmla="*/ 123825 h 303"/>
                <a:gd name="T22" fmla="*/ 1706563 w 1354"/>
                <a:gd name="T23" fmla="*/ 47625 h 303"/>
                <a:gd name="T24" fmla="*/ 1517650 w 1354"/>
                <a:gd name="T25" fmla="*/ 76200 h 303"/>
                <a:gd name="T26" fmla="*/ 1169987 w 1354"/>
                <a:gd name="T27" fmla="*/ 123825 h 303"/>
                <a:gd name="T28" fmla="*/ 1084262 w 1354"/>
                <a:gd name="T29" fmla="*/ 207963 h 303"/>
                <a:gd name="T30" fmla="*/ 1019175 w 1354"/>
                <a:gd name="T31" fmla="*/ 133350 h 303"/>
                <a:gd name="T32" fmla="*/ 858838 w 1354"/>
                <a:gd name="T33" fmla="*/ 133350 h 303"/>
                <a:gd name="T34" fmla="*/ 717550 w 1354"/>
                <a:gd name="T35" fmla="*/ 66675 h 303"/>
                <a:gd name="T36" fmla="*/ 339725 w 1354"/>
                <a:gd name="T37" fmla="*/ 85725 h 303"/>
                <a:gd name="T38" fmla="*/ 0 w 1354"/>
                <a:gd name="T39" fmla="*/ 47625 h 30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54"/>
                <a:gd name="T61" fmla="*/ 0 h 303"/>
                <a:gd name="T62" fmla="*/ 1354 w 1354"/>
                <a:gd name="T63" fmla="*/ 303 h 30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54" h="303">
                  <a:moveTo>
                    <a:pt x="0" y="30"/>
                  </a:moveTo>
                  <a:lnTo>
                    <a:pt x="54" y="190"/>
                  </a:lnTo>
                  <a:lnTo>
                    <a:pt x="250" y="196"/>
                  </a:lnTo>
                  <a:lnTo>
                    <a:pt x="464" y="274"/>
                  </a:lnTo>
                  <a:lnTo>
                    <a:pt x="719" y="303"/>
                  </a:lnTo>
                  <a:lnTo>
                    <a:pt x="980" y="250"/>
                  </a:lnTo>
                  <a:lnTo>
                    <a:pt x="1141" y="190"/>
                  </a:lnTo>
                  <a:lnTo>
                    <a:pt x="1354" y="0"/>
                  </a:lnTo>
                  <a:lnTo>
                    <a:pt x="1194" y="6"/>
                  </a:lnTo>
                  <a:lnTo>
                    <a:pt x="1158" y="30"/>
                  </a:lnTo>
                  <a:lnTo>
                    <a:pt x="1123" y="78"/>
                  </a:lnTo>
                  <a:lnTo>
                    <a:pt x="1075" y="30"/>
                  </a:lnTo>
                  <a:lnTo>
                    <a:pt x="956" y="48"/>
                  </a:lnTo>
                  <a:lnTo>
                    <a:pt x="737" y="78"/>
                  </a:lnTo>
                  <a:lnTo>
                    <a:pt x="683" y="131"/>
                  </a:lnTo>
                  <a:lnTo>
                    <a:pt x="642" y="84"/>
                  </a:lnTo>
                  <a:lnTo>
                    <a:pt x="541" y="84"/>
                  </a:lnTo>
                  <a:lnTo>
                    <a:pt x="452" y="42"/>
                  </a:lnTo>
                  <a:lnTo>
                    <a:pt x="214" y="54"/>
                  </a:lnTo>
                  <a:lnTo>
                    <a:pt x="0" y="30"/>
                  </a:lnTo>
                  <a:close/>
                </a:path>
              </a:pathLst>
            </a:custGeom>
            <a:pattFill prst="dotDmnd">
              <a:fgClr>
                <a:schemeClr val="bg1"/>
              </a:fgClr>
              <a:bgClr>
                <a:srgbClr val="9999FF"/>
              </a:bgClr>
            </a:pattFill>
            <a:ln w="9525">
              <a:solidFill>
                <a:schemeClr val="tx1"/>
              </a:solidFill>
              <a:round/>
              <a:headEnd/>
              <a:tailEnd/>
            </a:ln>
          </p:spPr>
          <p:txBody>
            <a:bodyPr/>
            <a:lstStyle/>
            <a:p>
              <a:endParaRPr lang="en-US"/>
            </a:p>
          </p:txBody>
        </p:sp>
        <p:sp>
          <p:nvSpPr>
            <p:cNvPr id="82984" name="Text Box 20"/>
            <p:cNvSpPr txBox="1">
              <a:spLocks noChangeArrowheads="1"/>
            </p:cNvSpPr>
            <p:nvPr/>
          </p:nvSpPr>
          <p:spPr bwMode="auto">
            <a:xfrm>
              <a:off x="7666038" y="1911350"/>
              <a:ext cx="330200" cy="366713"/>
            </a:xfrm>
            <a:prstGeom prst="rect">
              <a:avLst/>
            </a:prstGeom>
            <a:noFill/>
            <a:ln w="9525">
              <a:noFill/>
              <a:miter lim="800000"/>
              <a:headEnd/>
              <a:tailEnd/>
            </a:ln>
          </p:spPr>
          <p:txBody>
            <a:bodyPr>
              <a:spAutoFit/>
            </a:bodyPr>
            <a:lstStyle/>
            <a:p>
              <a:pPr>
                <a:spcBef>
                  <a:spcPct val="50000"/>
                </a:spcBef>
              </a:pPr>
              <a:r>
                <a:rPr lang="en-AU" i="0">
                  <a:solidFill>
                    <a:schemeClr val="tx1"/>
                  </a:solidFill>
                </a:rPr>
                <a:t>B</a:t>
              </a:r>
              <a:endParaRPr lang="en-US" i="0">
                <a:solidFill>
                  <a:schemeClr val="tx1"/>
                </a:solidFill>
              </a:endParaRPr>
            </a:p>
          </p:txBody>
        </p:sp>
        <p:sp>
          <p:nvSpPr>
            <p:cNvPr id="82985" name="Text Box 21"/>
            <p:cNvSpPr txBox="1">
              <a:spLocks noChangeArrowheads="1"/>
            </p:cNvSpPr>
            <p:nvPr/>
          </p:nvSpPr>
          <p:spPr bwMode="auto">
            <a:xfrm>
              <a:off x="3914775" y="2073275"/>
              <a:ext cx="330200" cy="366713"/>
            </a:xfrm>
            <a:prstGeom prst="rect">
              <a:avLst/>
            </a:prstGeom>
            <a:noFill/>
            <a:ln w="9525">
              <a:noFill/>
              <a:miter lim="800000"/>
              <a:headEnd/>
              <a:tailEnd/>
            </a:ln>
          </p:spPr>
          <p:txBody>
            <a:bodyPr>
              <a:spAutoFit/>
            </a:bodyPr>
            <a:lstStyle/>
            <a:p>
              <a:pPr>
                <a:spcBef>
                  <a:spcPct val="50000"/>
                </a:spcBef>
              </a:pPr>
              <a:r>
                <a:rPr lang="en-AU" i="0">
                  <a:solidFill>
                    <a:schemeClr val="tx1"/>
                  </a:solidFill>
                </a:rPr>
                <a:t>A</a:t>
              </a:r>
              <a:endParaRPr lang="en-US" i="0">
                <a:solidFill>
                  <a:schemeClr val="tx1"/>
                </a:solidFill>
              </a:endParaRPr>
            </a:p>
          </p:txBody>
        </p:sp>
      </p:grpSp>
      <p:grpSp>
        <p:nvGrpSpPr>
          <p:cNvPr id="107542" name="Group 22"/>
          <p:cNvGrpSpPr>
            <a:grpSpLocks/>
          </p:cNvGrpSpPr>
          <p:nvPr/>
        </p:nvGrpSpPr>
        <p:grpSpPr bwMode="auto">
          <a:xfrm>
            <a:off x="873125" y="1697038"/>
            <a:ext cx="6372225" cy="1254125"/>
            <a:chOff x="1081" y="1069"/>
            <a:chExt cx="4014" cy="790"/>
          </a:xfrm>
        </p:grpSpPr>
        <p:sp>
          <p:nvSpPr>
            <p:cNvPr id="82977" name="AutoShape 23"/>
            <p:cNvSpPr>
              <a:spLocks noChangeArrowheads="1"/>
            </p:cNvSpPr>
            <p:nvPr/>
          </p:nvSpPr>
          <p:spPr bwMode="auto">
            <a:xfrm>
              <a:off x="4941" y="1532"/>
              <a:ext cx="154" cy="327"/>
            </a:xfrm>
            <a:prstGeom prst="downArrow">
              <a:avLst>
                <a:gd name="adj1" fmla="val 50000"/>
                <a:gd name="adj2" fmla="val 53084"/>
              </a:avLst>
            </a:prstGeom>
            <a:solidFill>
              <a:srgbClr val="9999FF"/>
            </a:solidFill>
            <a:ln w="9525">
              <a:solidFill>
                <a:schemeClr val="accent2"/>
              </a:solid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sp>
          <p:nvSpPr>
            <p:cNvPr id="82978" name="AutoShape 24"/>
            <p:cNvSpPr>
              <a:spLocks noChangeArrowheads="1"/>
            </p:cNvSpPr>
            <p:nvPr/>
          </p:nvSpPr>
          <p:spPr bwMode="auto">
            <a:xfrm>
              <a:off x="1841" y="1069"/>
              <a:ext cx="154" cy="327"/>
            </a:xfrm>
            <a:prstGeom prst="downArrow">
              <a:avLst>
                <a:gd name="adj1" fmla="val 50000"/>
                <a:gd name="adj2" fmla="val 53084"/>
              </a:avLst>
            </a:prstGeom>
            <a:solidFill>
              <a:srgbClr val="9999FF"/>
            </a:solidFill>
            <a:ln w="9525">
              <a:solidFill>
                <a:schemeClr val="accent2"/>
              </a:solid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sp>
          <p:nvSpPr>
            <p:cNvPr id="82979" name="AutoShape 25"/>
            <p:cNvSpPr>
              <a:spLocks noChangeArrowheads="1"/>
            </p:cNvSpPr>
            <p:nvPr/>
          </p:nvSpPr>
          <p:spPr bwMode="auto">
            <a:xfrm>
              <a:off x="2524" y="1407"/>
              <a:ext cx="154" cy="327"/>
            </a:xfrm>
            <a:prstGeom prst="downArrow">
              <a:avLst>
                <a:gd name="adj1" fmla="val 50000"/>
                <a:gd name="adj2" fmla="val 53084"/>
              </a:avLst>
            </a:prstGeom>
            <a:solidFill>
              <a:srgbClr val="9999FF"/>
            </a:solidFill>
            <a:ln w="9525">
              <a:solidFill>
                <a:schemeClr val="accent2"/>
              </a:solid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sp>
          <p:nvSpPr>
            <p:cNvPr id="82980" name="AutoShape 26"/>
            <p:cNvSpPr>
              <a:spLocks noChangeArrowheads="1"/>
            </p:cNvSpPr>
            <p:nvPr/>
          </p:nvSpPr>
          <p:spPr bwMode="auto">
            <a:xfrm>
              <a:off x="1081" y="1228"/>
              <a:ext cx="154" cy="327"/>
            </a:xfrm>
            <a:prstGeom prst="downArrow">
              <a:avLst>
                <a:gd name="adj1" fmla="val 50000"/>
                <a:gd name="adj2" fmla="val 53084"/>
              </a:avLst>
            </a:prstGeom>
            <a:solidFill>
              <a:srgbClr val="9999FF"/>
            </a:solidFill>
            <a:ln w="9525">
              <a:solidFill>
                <a:schemeClr val="accent2"/>
              </a:solid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grpSp>
      <p:grpSp>
        <p:nvGrpSpPr>
          <p:cNvPr id="82949" name="Group 58"/>
          <p:cNvGrpSpPr>
            <a:grpSpLocks/>
          </p:cNvGrpSpPr>
          <p:nvPr/>
        </p:nvGrpSpPr>
        <p:grpSpPr bwMode="auto">
          <a:xfrm>
            <a:off x="5300663" y="3043238"/>
            <a:ext cx="2279650" cy="1889125"/>
            <a:chOff x="3339" y="1917"/>
            <a:chExt cx="1436" cy="1190"/>
          </a:xfrm>
        </p:grpSpPr>
        <p:sp>
          <p:nvSpPr>
            <p:cNvPr id="82972" name="Oval 28"/>
            <p:cNvSpPr>
              <a:spLocks noChangeArrowheads="1"/>
            </p:cNvSpPr>
            <p:nvPr/>
          </p:nvSpPr>
          <p:spPr bwMode="auto">
            <a:xfrm>
              <a:off x="3714" y="2168"/>
              <a:ext cx="297" cy="190"/>
            </a:xfrm>
            <a:prstGeom prst="ellipse">
              <a:avLst/>
            </a:prstGeom>
            <a:noFill/>
            <a:ln w="19050">
              <a:solidFill>
                <a:srgbClr val="9999FF"/>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82973" name="Oval 29"/>
            <p:cNvSpPr>
              <a:spLocks noChangeArrowheads="1"/>
            </p:cNvSpPr>
            <p:nvPr/>
          </p:nvSpPr>
          <p:spPr bwMode="auto">
            <a:xfrm>
              <a:off x="3339" y="1917"/>
              <a:ext cx="297" cy="190"/>
            </a:xfrm>
            <a:prstGeom prst="ellipse">
              <a:avLst/>
            </a:prstGeom>
            <a:noFill/>
            <a:ln w="19050">
              <a:solidFill>
                <a:srgbClr val="9999FF"/>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82974" name="Text Box 30"/>
            <p:cNvSpPr txBox="1">
              <a:spLocks noChangeArrowheads="1"/>
            </p:cNvSpPr>
            <p:nvPr/>
          </p:nvSpPr>
          <p:spPr bwMode="auto">
            <a:xfrm>
              <a:off x="3363" y="2876"/>
              <a:ext cx="1412" cy="231"/>
            </a:xfrm>
            <a:prstGeom prst="rect">
              <a:avLst/>
            </a:prstGeom>
            <a:noFill/>
            <a:ln w="9525">
              <a:noFill/>
              <a:miter lim="800000"/>
              <a:headEnd/>
              <a:tailEnd/>
            </a:ln>
          </p:spPr>
          <p:txBody>
            <a:bodyPr wrap="none">
              <a:spAutoFit/>
            </a:bodyPr>
            <a:lstStyle/>
            <a:p>
              <a:pPr>
                <a:spcBef>
                  <a:spcPct val="50000"/>
                </a:spcBef>
              </a:pPr>
              <a:r>
                <a:rPr lang="en-AU" i="0">
                  <a:solidFill>
                    <a:schemeClr val="tx1"/>
                  </a:solidFill>
                </a:rPr>
                <a:t>Hydraulic Properties</a:t>
              </a:r>
              <a:endParaRPr lang="en-US" i="0">
                <a:solidFill>
                  <a:schemeClr val="tx1"/>
                </a:solidFill>
              </a:endParaRPr>
            </a:p>
          </p:txBody>
        </p:sp>
        <p:sp>
          <p:nvSpPr>
            <p:cNvPr id="82975" name="Line 31"/>
            <p:cNvSpPr>
              <a:spLocks noChangeShapeType="1"/>
            </p:cNvSpPr>
            <p:nvPr/>
          </p:nvSpPr>
          <p:spPr bwMode="auto">
            <a:xfrm>
              <a:off x="3875" y="2358"/>
              <a:ext cx="169" cy="515"/>
            </a:xfrm>
            <a:prstGeom prst="line">
              <a:avLst/>
            </a:prstGeom>
            <a:noFill/>
            <a:ln w="9525">
              <a:solidFill>
                <a:schemeClr val="tx1"/>
              </a:solidFill>
              <a:round/>
              <a:headEnd/>
              <a:tailEnd/>
            </a:ln>
          </p:spPr>
          <p:txBody>
            <a:bodyPr/>
            <a:lstStyle/>
            <a:p>
              <a:endParaRPr lang="en-US"/>
            </a:p>
          </p:txBody>
        </p:sp>
        <p:sp>
          <p:nvSpPr>
            <p:cNvPr id="82976" name="Line 32"/>
            <p:cNvSpPr>
              <a:spLocks noChangeShapeType="1"/>
            </p:cNvSpPr>
            <p:nvPr/>
          </p:nvSpPr>
          <p:spPr bwMode="auto">
            <a:xfrm>
              <a:off x="3501" y="2102"/>
              <a:ext cx="543" cy="776"/>
            </a:xfrm>
            <a:prstGeom prst="line">
              <a:avLst/>
            </a:prstGeom>
            <a:noFill/>
            <a:ln w="9525">
              <a:solidFill>
                <a:schemeClr val="tx1"/>
              </a:solidFill>
              <a:round/>
              <a:headEnd/>
              <a:tailEnd/>
            </a:ln>
          </p:spPr>
          <p:txBody>
            <a:bodyPr/>
            <a:lstStyle/>
            <a:p>
              <a:endParaRPr lang="en-US"/>
            </a:p>
          </p:txBody>
        </p:sp>
      </p:grpSp>
      <p:sp>
        <p:nvSpPr>
          <p:cNvPr id="82950" name="Text Box 33"/>
          <p:cNvSpPr txBox="1">
            <a:spLocks noChangeArrowheads="1"/>
          </p:cNvSpPr>
          <p:nvPr/>
        </p:nvSpPr>
        <p:spPr bwMode="auto">
          <a:xfrm>
            <a:off x="6330950" y="1725613"/>
            <a:ext cx="1223963" cy="366712"/>
          </a:xfrm>
          <a:prstGeom prst="rect">
            <a:avLst/>
          </a:prstGeom>
          <a:noFill/>
          <a:ln w="9525">
            <a:noFill/>
            <a:miter lim="800000"/>
            <a:headEnd/>
            <a:tailEnd/>
          </a:ln>
        </p:spPr>
        <p:txBody>
          <a:bodyPr>
            <a:spAutoFit/>
          </a:bodyPr>
          <a:lstStyle/>
          <a:p>
            <a:pPr>
              <a:spcBef>
                <a:spcPct val="50000"/>
              </a:spcBef>
            </a:pPr>
            <a:r>
              <a:rPr lang="en-AU" i="0">
                <a:solidFill>
                  <a:schemeClr val="tx1"/>
                </a:solidFill>
              </a:rPr>
              <a:t>Recharge</a:t>
            </a:r>
            <a:endParaRPr lang="en-US" i="0">
              <a:solidFill>
                <a:schemeClr val="tx1"/>
              </a:solidFill>
            </a:endParaRPr>
          </a:p>
        </p:txBody>
      </p:sp>
      <p:grpSp>
        <p:nvGrpSpPr>
          <p:cNvPr id="107554" name="Group 34"/>
          <p:cNvGrpSpPr>
            <a:grpSpLocks/>
          </p:cNvGrpSpPr>
          <p:nvPr/>
        </p:nvGrpSpPr>
        <p:grpSpPr bwMode="auto">
          <a:xfrm>
            <a:off x="787400" y="2009775"/>
            <a:ext cx="2733675" cy="4108450"/>
            <a:chOff x="1051" y="1266"/>
            <a:chExt cx="1722" cy="2588"/>
          </a:xfrm>
        </p:grpSpPr>
        <p:sp>
          <p:nvSpPr>
            <p:cNvPr id="82967" name="Freeform 35"/>
            <p:cNvSpPr>
              <a:spLocks/>
            </p:cNvSpPr>
            <p:nvPr/>
          </p:nvSpPr>
          <p:spPr bwMode="auto">
            <a:xfrm>
              <a:off x="1051" y="1266"/>
              <a:ext cx="1722" cy="486"/>
            </a:xfrm>
            <a:custGeom>
              <a:avLst/>
              <a:gdLst>
                <a:gd name="T0" fmla="*/ 0 w 1722"/>
                <a:gd name="T1" fmla="*/ 462 h 486"/>
                <a:gd name="T2" fmla="*/ 196 w 1722"/>
                <a:gd name="T3" fmla="*/ 284 h 486"/>
                <a:gd name="T4" fmla="*/ 439 w 1722"/>
                <a:gd name="T5" fmla="*/ 46 h 486"/>
                <a:gd name="T6" fmla="*/ 683 w 1722"/>
                <a:gd name="T7" fmla="*/ 17 h 486"/>
                <a:gd name="T8" fmla="*/ 1057 w 1722"/>
                <a:gd name="T9" fmla="*/ 23 h 486"/>
                <a:gd name="T10" fmla="*/ 1354 w 1722"/>
                <a:gd name="T11" fmla="*/ 153 h 486"/>
                <a:gd name="T12" fmla="*/ 1574 w 1722"/>
                <a:gd name="T13" fmla="*/ 373 h 486"/>
                <a:gd name="T14" fmla="*/ 1722 w 1722"/>
                <a:gd name="T15" fmla="*/ 486 h 486"/>
                <a:gd name="T16" fmla="*/ 0 60000 65536"/>
                <a:gd name="T17" fmla="*/ 0 60000 65536"/>
                <a:gd name="T18" fmla="*/ 0 60000 65536"/>
                <a:gd name="T19" fmla="*/ 0 60000 65536"/>
                <a:gd name="T20" fmla="*/ 0 60000 65536"/>
                <a:gd name="T21" fmla="*/ 0 60000 65536"/>
                <a:gd name="T22" fmla="*/ 0 60000 65536"/>
                <a:gd name="T23" fmla="*/ 0 60000 65536"/>
                <a:gd name="T24" fmla="*/ 0 w 1722"/>
                <a:gd name="T25" fmla="*/ 0 h 486"/>
                <a:gd name="T26" fmla="*/ 1722 w 1722"/>
                <a:gd name="T27" fmla="*/ 486 h 4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22" h="486">
                  <a:moveTo>
                    <a:pt x="0" y="462"/>
                  </a:moveTo>
                  <a:cubicBezTo>
                    <a:pt x="61" y="407"/>
                    <a:pt x="123" y="353"/>
                    <a:pt x="196" y="284"/>
                  </a:cubicBezTo>
                  <a:cubicBezTo>
                    <a:pt x="269" y="215"/>
                    <a:pt x="358" y="90"/>
                    <a:pt x="439" y="46"/>
                  </a:cubicBezTo>
                  <a:cubicBezTo>
                    <a:pt x="520" y="2"/>
                    <a:pt x="580" y="21"/>
                    <a:pt x="683" y="17"/>
                  </a:cubicBezTo>
                  <a:cubicBezTo>
                    <a:pt x="786" y="13"/>
                    <a:pt x="945" y="0"/>
                    <a:pt x="1057" y="23"/>
                  </a:cubicBezTo>
                  <a:cubicBezTo>
                    <a:pt x="1169" y="46"/>
                    <a:pt x="1268" y="95"/>
                    <a:pt x="1354" y="153"/>
                  </a:cubicBezTo>
                  <a:cubicBezTo>
                    <a:pt x="1440" y="211"/>
                    <a:pt x="1513" y="318"/>
                    <a:pt x="1574" y="373"/>
                  </a:cubicBezTo>
                  <a:cubicBezTo>
                    <a:pt x="1635" y="428"/>
                    <a:pt x="1678" y="457"/>
                    <a:pt x="1722" y="486"/>
                  </a:cubicBezTo>
                </a:path>
              </a:pathLst>
            </a:custGeom>
            <a:noFill/>
            <a:ln w="9525" cap="flat">
              <a:solidFill>
                <a:schemeClr val="tx1"/>
              </a:solidFill>
              <a:prstDash val="dash"/>
              <a:round/>
              <a:headEnd/>
              <a:tailEnd/>
            </a:ln>
          </p:spPr>
          <p:txBody>
            <a:bodyPr/>
            <a:lstStyle/>
            <a:p>
              <a:endParaRPr lang="en-US"/>
            </a:p>
          </p:txBody>
        </p:sp>
        <p:sp>
          <p:nvSpPr>
            <p:cNvPr id="82968" name="Freeform 36"/>
            <p:cNvSpPr>
              <a:spLocks/>
            </p:cNvSpPr>
            <p:nvPr/>
          </p:nvSpPr>
          <p:spPr bwMode="auto">
            <a:xfrm>
              <a:off x="1116" y="1729"/>
              <a:ext cx="1456" cy="688"/>
            </a:xfrm>
            <a:custGeom>
              <a:avLst/>
              <a:gdLst>
                <a:gd name="T0" fmla="*/ 0 w 1456"/>
                <a:gd name="T1" fmla="*/ 688 h 688"/>
                <a:gd name="T2" fmla="*/ 89 w 1456"/>
                <a:gd name="T3" fmla="*/ 533 h 688"/>
                <a:gd name="T4" fmla="*/ 179 w 1456"/>
                <a:gd name="T5" fmla="*/ 355 h 688"/>
                <a:gd name="T6" fmla="*/ 297 w 1456"/>
                <a:gd name="T7" fmla="*/ 171 h 688"/>
                <a:gd name="T8" fmla="*/ 428 w 1456"/>
                <a:gd name="T9" fmla="*/ 58 h 688"/>
                <a:gd name="T10" fmla="*/ 594 w 1456"/>
                <a:gd name="T11" fmla="*/ 11 h 688"/>
                <a:gd name="T12" fmla="*/ 844 w 1456"/>
                <a:gd name="T13" fmla="*/ 17 h 688"/>
                <a:gd name="T14" fmla="*/ 1045 w 1456"/>
                <a:gd name="T15" fmla="*/ 112 h 688"/>
                <a:gd name="T16" fmla="*/ 1188 w 1456"/>
                <a:gd name="T17" fmla="*/ 248 h 688"/>
                <a:gd name="T18" fmla="*/ 1307 w 1456"/>
                <a:gd name="T19" fmla="*/ 391 h 688"/>
                <a:gd name="T20" fmla="*/ 1431 w 1456"/>
                <a:gd name="T21" fmla="*/ 539 h 688"/>
                <a:gd name="T22" fmla="*/ 1455 w 1456"/>
                <a:gd name="T23" fmla="*/ 634 h 68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56"/>
                <a:gd name="T37" fmla="*/ 0 h 688"/>
                <a:gd name="T38" fmla="*/ 1456 w 1456"/>
                <a:gd name="T39" fmla="*/ 688 h 68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56" h="688">
                  <a:moveTo>
                    <a:pt x="0" y="688"/>
                  </a:moveTo>
                  <a:cubicBezTo>
                    <a:pt x="29" y="638"/>
                    <a:pt x="59" y="589"/>
                    <a:pt x="89" y="533"/>
                  </a:cubicBezTo>
                  <a:cubicBezTo>
                    <a:pt x="119" y="477"/>
                    <a:pt x="144" y="415"/>
                    <a:pt x="179" y="355"/>
                  </a:cubicBezTo>
                  <a:cubicBezTo>
                    <a:pt x="214" y="295"/>
                    <a:pt x="256" y="221"/>
                    <a:pt x="297" y="171"/>
                  </a:cubicBezTo>
                  <a:cubicBezTo>
                    <a:pt x="338" y="121"/>
                    <a:pt x="378" y="85"/>
                    <a:pt x="428" y="58"/>
                  </a:cubicBezTo>
                  <a:cubicBezTo>
                    <a:pt x="478" y="31"/>
                    <a:pt x="525" y="18"/>
                    <a:pt x="594" y="11"/>
                  </a:cubicBezTo>
                  <a:cubicBezTo>
                    <a:pt x="663" y="4"/>
                    <a:pt x="769" y="0"/>
                    <a:pt x="844" y="17"/>
                  </a:cubicBezTo>
                  <a:cubicBezTo>
                    <a:pt x="919" y="34"/>
                    <a:pt x="988" y="74"/>
                    <a:pt x="1045" y="112"/>
                  </a:cubicBezTo>
                  <a:cubicBezTo>
                    <a:pt x="1102" y="150"/>
                    <a:pt x="1144" y="202"/>
                    <a:pt x="1188" y="248"/>
                  </a:cubicBezTo>
                  <a:cubicBezTo>
                    <a:pt x="1232" y="294"/>
                    <a:pt x="1267" y="343"/>
                    <a:pt x="1307" y="391"/>
                  </a:cubicBezTo>
                  <a:cubicBezTo>
                    <a:pt x="1347" y="439"/>
                    <a:pt x="1406" y="499"/>
                    <a:pt x="1431" y="539"/>
                  </a:cubicBezTo>
                  <a:cubicBezTo>
                    <a:pt x="1456" y="579"/>
                    <a:pt x="1451" y="618"/>
                    <a:pt x="1455" y="634"/>
                  </a:cubicBezTo>
                </a:path>
              </a:pathLst>
            </a:custGeom>
            <a:noFill/>
            <a:ln w="9525" cap="flat">
              <a:solidFill>
                <a:schemeClr val="tx1"/>
              </a:solidFill>
              <a:prstDash val="dash"/>
              <a:round/>
              <a:headEnd/>
              <a:tailEnd/>
            </a:ln>
          </p:spPr>
          <p:txBody>
            <a:bodyPr/>
            <a:lstStyle/>
            <a:p>
              <a:endParaRPr lang="en-US"/>
            </a:p>
          </p:txBody>
        </p:sp>
        <p:sp>
          <p:nvSpPr>
            <p:cNvPr id="82969" name="Freeform 37"/>
            <p:cNvSpPr>
              <a:spLocks/>
            </p:cNvSpPr>
            <p:nvPr/>
          </p:nvSpPr>
          <p:spPr bwMode="auto">
            <a:xfrm>
              <a:off x="1205" y="2249"/>
              <a:ext cx="1170" cy="595"/>
            </a:xfrm>
            <a:custGeom>
              <a:avLst/>
              <a:gdLst>
                <a:gd name="T0" fmla="*/ 0 w 1170"/>
                <a:gd name="T1" fmla="*/ 595 h 595"/>
                <a:gd name="T2" fmla="*/ 155 w 1170"/>
                <a:gd name="T3" fmla="*/ 399 h 595"/>
                <a:gd name="T4" fmla="*/ 339 w 1170"/>
                <a:gd name="T5" fmla="*/ 162 h 595"/>
                <a:gd name="T6" fmla="*/ 582 w 1170"/>
                <a:gd name="T7" fmla="*/ 19 h 595"/>
                <a:gd name="T8" fmla="*/ 850 w 1170"/>
                <a:gd name="T9" fmla="*/ 49 h 595"/>
                <a:gd name="T10" fmla="*/ 986 w 1170"/>
                <a:gd name="T11" fmla="*/ 203 h 595"/>
                <a:gd name="T12" fmla="*/ 1069 w 1170"/>
                <a:gd name="T13" fmla="*/ 417 h 595"/>
                <a:gd name="T14" fmla="*/ 1170 w 1170"/>
                <a:gd name="T15" fmla="*/ 566 h 595"/>
                <a:gd name="T16" fmla="*/ 0 60000 65536"/>
                <a:gd name="T17" fmla="*/ 0 60000 65536"/>
                <a:gd name="T18" fmla="*/ 0 60000 65536"/>
                <a:gd name="T19" fmla="*/ 0 60000 65536"/>
                <a:gd name="T20" fmla="*/ 0 60000 65536"/>
                <a:gd name="T21" fmla="*/ 0 60000 65536"/>
                <a:gd name="T22" fmla="*/ 0 60000 65536"/>
                <a:gd name="T23" fmla="*/ 0 60000 65536"/>
                <a:gd name="T24" fmla="*/ 0 w 1170"/>
                <a:gd name="T25" fmla="*/ 0 h 595"/>
                <a:gd name="T26" fmla="*/ 1170 w 1170"/>
                <a:gd name="T27" fmla="*/ 595 h 59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70" h="595">
                  <a:moveTo>
                    <a:pt x="0" y="595"/>
                  </a:moveTo>
                  <a:cubicBezTo>
                    <a:pt x="49" y="533"/>
                    <a:pt x="98" y="471"/>
                    <a:pt x="155" y="399"/>
                  </a:cubicBezTo>
                  <a:cubicBezTo>
                    <a:pt x="212" y="327"/>
                    <a:pt x="268" y="225"/>
                    <a:pt x="339" y="162"/>
                  </a:cubicBezTo>
                  <a:cubicBezTo>
                    <a:pt x="410" y="99"/>
                    <a:pt x="497" y="38"/>
                    <a:pt x="582" y="19"/>
                  </a:cubicBezTo>
                  <a:cubicBezTo>
                    <a:pt x="667" y="0"/>
                    <a:pt x="783" y="18"/>
                    <a:pt x="850" y="49"/>
                  </a:cubicBezTo>
                  <a:cubicBezTo>
                    <a:pt x="917" y="80"/>
                    <a:pt x="950" y="142"/>
                    <a:pt x="986" y="203"/>
                  </a:cubicBezTo>
                  <a:cubicBezTo>
                    <a:pt x="1022" y="264"/>
                    <a:pt x="1038" y="357"/>
                    <a:pt x="1069" y="417"/>
                  </a:cubicBezTo>
                  <a:cubicBezTo>
                    <a:pt x="1100" y="477"/>
                    <a:pt x="1153" y="541"/>
                    <a:pt x="1170" y="566"/>
                  </a:cubicBezTo>
                </a:path>
              </a:pathLst>
            </a:custGeom>
            <a:noFill/>
            <a:ln w="9525" cap="flat">
              <a:solidFill>
                <a:schemeClr val="tx1"/>
              </a:solidFill>
              <a:prstDash val="dash"/>
              <a:round/>
              <a:headEnd/>
              <a:tailEnd/>
            </a:ln>
          </p:spPr>
          <p:txBody>
            <a:bodyPr/>
            <a:lstStyle/>
            <a:p>
              <a:endParaRPr lang="en-US"/>
            </a:p>
          </p:txBody>
        </p:sp>
        <p:sp>
          <p:nvSpPr>
            <p:cNvPr id="82970" name="Freeform 38"/>
            <p:cNvSpPr>
              <a:spLocks/>
            </p:cNvSpPr>
            <p:nvPr/>
          </p:nvSpPr>
          <p:spPr bwMode="auto">
            <a:xfrm>
              <a:off x="1354" y="2856"/>
              <a:ext cx="1324" cy="582"/>
            </a:xfrm>
            <a:custGeom>
              <a:avLst/>
              <a:gdLst>
                <a:gd name="T0" fmla="*/ 0 w 1324"/>
                <a:gd name="T1" fmla="*/ 457 h 582"/>
                <a:gd name="T2" fmla="*/ 95 w 1324"/>
                <a:gd name="T3" fmla="*/ 267 h 582"/>
                <a:gd name="T4" fmla="*/ 291 w 1324"/>
                <a:gd name="T5" fmla="*/ 66 h 582"/>
                <a:gd name="T6" fmla="*/ 540 w 1324"/>
                <a:gd name="T7" fmla="*/ 6 h 582"/>
                <a:gd name="T8" fmla="*/ 766 w 1324"/>
                <a:gd name="T9" fmla="*/ 101 h 582"/>
                <a:gd name="T10" fmla="*/ 849 w 1324"/>
                <a:gd name="T11" fmla="*/ 309 h 582"/>
                <a:gd name="T12" fmla="*/ 1003 w 1324"/>
                <a:gd name="T13" fmla="*/ 422 h 582"/>
                <a:gd name="T14" fmla="*/ 1324 w 1324"/>
                <a:gd name="T15" fmla="*/ 582 h 582"/>
                <a:gd name="T16" fmla="*/ 0 60000 65536"/>
                <a:gd name="T17" fmla="*/ 0 60000 65536"/>
                <a:gd name="T18" fmla="*/ 0 60000 65536"/>
                <a:gd name="T19" fmla="*/ 0 60000 65536"/>
                <a:gd name="T20" fmla="*/ 0 60000 65536"/>
                <a:gd name="T21" fmla="*/ 0 60000 65536"/>
                <a:gd name="T22" fmla="*/ 0 60000 65536"/>
                <a:gd name="T23" fmla="*/ 0 60000 65536"/>
                <a:gd name="T24" fmla="*/ 0 w 1324"/>
                <a:gd name="T25" fmla="*/ 0 h 582"/>
                <a:gd name="T26" fmla="*/ 1324 w 1324"/>
                <a:gd name="T27" fmla="*/ 582 h 58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24" h="582">
                  <a:moveTo>
                    <a:pt x="0" y="457"/>
                  </a:moveTo>
                  <a:cubicBezTo>
                    <a:pt x="23" y="394"/>
                    <a:pt x="46" y="332"/>
                    <a:pt x="95" y="267"/>
                  </a:cubicBezTo>
                  <a:cubicBezTo>
                    <a:pt x="144" y="202"/>
                    <a:pt x="217" y="110"/>
                    <a:pt x="291" y="66"/>
                  </a:cubicBezTo>
                  <a:cubicBezTo>
                    <a:pt x="365" y="22"/>
                    <a:pt x="461" y="0"/>
                    <a:pt x="540" y="6"/>
                  </a:cubicBezTo>
                  <a:cubicBezTo>
                    <a:pt x="619" y="12"/>
                    <a:pt x="715" y="51"/>
                    <a:pt x="766" y="101"/>
                  </a:cubicBezTo>
                  <a:cubicBezTo>
                    <a:pt x="817" y="151"/>
                    <a:pt x="810" y="256"/>
                    <a:pt x="849" y="309"/>
                  </a:cubicBezTo>
                  <a:cubicBezTo>
                    <a:pt x="888" y="362"/>
                    <a:pt x="924" y="376"/>
                    <a:pt x="1003" y="422"/>
                  </a:cubicBezTo>
                  <a:cubicBezTo>
                    <a:pt x="1082" y="468"/>
                    <a:pt x="1203" y="525"/>
                    <a:pt x="1324" y="582"/>
                  </a:cubicBezTo>
                </a:path>
              </a:pathLst>
            </a:custGeom>
            <a:noFill/>
            <a:ln w="9525" cap="flat">
              <a:solidFill>
                <a:schemeClr val="tx1"/>
              </a:solidFill>
              <a:prstDash val="dash"/>
              <a:round/>
              <a:headEnd/>
              <a:tailEnd/>
            </a:ln>
          </p:spPr>
          <p:txBody>
            <a:bodyPr/>
            <a:lstStyle/>
            <a:p>
              <a:endParaRPr lang="en-US"/>
            </a:p>
          </p:txBody>
        </p:sp>
        <p:sp>
          <p:nvSpPr>
            <p:cNvPr id="82971" name="Freeform 39"/>
            <p:cNvSpPr>
              <a:spLocks/>
            </p:cNvSpPr>
            <p:nvPr/>
          </p:nvSpPr>
          <p:spPr bwMode="auto">
            <a:xfrm>
              <a:off x="1075" y="3453"/>
              <a:ext cx="1585" cy="401"/>
            </a:xfrm>
            <a:custGeom>
              <a:avLst/>
              <a:gdLst>
                <a:gd name="T0" fmla="*/ 0 w 1585"/>
                <a:gd name="T1" fmla="*/ 300 h 401"/>
                <a:gd name="T2" fmla="*/ 243 w 1585"/>
                <a:gd name="T3" fmla="*/ 241 h 401"/>
                <a:gd name="T4" fmla="*/ 499 w 1585"/>
                <a:gd name="T5" fmla="*/ 110 h 401"/>
                <a:gd name="T6" fmla="*/ 718 w 1585"/>
                <a:gd name="T7" fmla="*/ 21 h 401"/>
                <a:gd name="T8" fmla="*/ 997 w 1585"/>
                <a:gd name="T9" fmla="*/ 21 h 401"/>
                <a:gd name="T10" fmla="*/ 1217 w 1585"/>
                <a:gd name="T11" fmla="*/ 146 h 401"/>
                <a:gd name="T12" fmla="*/ 1431 w 1585"/>
                <a:gd name="T13" fmla="*/ 306 h 401"/>
                <a:gd name="T14" fmla="*/ 1585 w 1585"/>
                <a:gd name="T15" fmla="*/ 401 h 401"/>
                <a:gd name="T16" fmla="*/ 0 60000 65536"/>
                <a:gd name="T17" fmla="*/ 0 60000 65536"/>
                <a:gd name="T18" fmla="*/ 0 60000 65536"/>
                <a:gd name="T19" fmla="*/ 0 60000 65536"/>
                <a:gd name="T20" fmla="*/ 0 60000 65536"/>
                <a:gd name="T21" fmla="*/ 0 60000 65536"/>
                <a:gd name="T22" fmla="*/ 0 60000 65536"/>
                <a:gd name="T23" fmla="*/ 0 60000 65536"/>
                <a:gd name="T24" fmla="*/ 0 w 1585"/>
                <a:gd name="T25" fmla="*/ 0 h 401"/>
                <a:gd name="T26" fmla="*/ 1585 w 1585"/>
                <a:gd name="T27" fmla="*/ 401 h 40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85" h="401">
                  <a:moveTo>
                    <a:pt x="0" y="300"/>
                  </a:moveTo>
                  <a:cubicBezTo>
                    <a:pt x="80" y="286"/>
                    <a:pt x="160" y="273"/>
                    <a:pt x="243" y="241"/>
                  </a:cubicBezTo>
                  <a:cubicBezTo>
                    <a:pt x="326" y="209"/>
                    <a:pt x="420" y="147"/>
                    <a:pt x="499" y="110"/>
                  </a:cubicBezTo>
                  <a:cubicBezTo>
                    <a:pt x="578" y="73"/>
                    <a:pt x="635" y="36"/>
                    <a:pt x="718" y="21"/>
                  </a:cubicBezTo>
                  <a:cubicBezTo>
                    <a:pt x="801" y="6"/>
                    <a:pt x="914" y="0"/>
                    <a:pt x="997" y="21"/>
                  </a:cubicBezTo>
                  <a:cubicBezTo>
                    <a:pt x="1080" y="42"/>
                    <a:pt x="1145" y="99"/>
                    <a:pt x="1217" y="146"/>
                  </a:cubicBezTo>
                  <a:cubicBezTo>
                    <a:pt x="1289" y="193"/>
                    <a:pt x="1370" y="264"/>
                    <a:pt x="1431" y="306"/>
                  </a:cubicBezTo>
                  <a:cubicBezTo>
                    <a:pt x="1492" y="348"/>
                    <a:pt x="1560" y="384"/>
                    <a:pt x="1585" y="401"/>
                  </a:cubicBezTo>
                </a:path>
              </a:pathLst>
            </a:custGeom>
            <a:noFill/>
            <a:ln w="9525" cap="flat">
              <a:solidFill>
                <a:schemeClr val="tx1"/>
              </a:solidFill>
              <a:prstDash val="dash"/>
              <a:round/>
              <a:headEnd/>
              <a:tailEnd/>
            </a:ln>
          </p:spPr>
          <p:txBody>
            <a:bodyPr/>
            <a:lstStyle/>
            <a:p>
              <a:endParaRPr lang="en-US"/>
            </a:p>
          </p:txBody>
        </p:sp>
      </p:grpSp>
      <p:grpSp>
        <p:nvGrpSpPr>
          <p:cNvPr id="107560" name="Group 40"/>
          <p:cNvGrpSpPr>
            <a:grpSpLocks/>
          </p:cNvGrpSpPr>
          <p:nvPr/>
        </p:nvGrpSpPr>
        <p:grpSpPr bwMode="auto">
          <a:xfrm>
            <a:off x="5027613" y="3111500"/>
            <a:ext cx="1230312" cy="255588"/>
            <a:chOff x="3746" y="1930"/>
            <a:chExt cx="775" cy="161"/>
          </a:xfrm>
        </p:grpSpPr>
        <p:sp>
          <p:nvSpPr>
            <p:cNvPr id="82965" name="AutoShape 41"/>
            <p:cNvSpPr>
              <a:spLocks noChangeArrowheads="1"/>
            </p:cNvSpPr>
            <p:nvPr/>
          </p:nvSpPr>
          <p:spPr bwMode="auto">
            <a:xfrm>
              <a:off x="4465" y="1978"/>
              <a:ext cx="56" cy="113"/>
            </a:xfrm>
            <a:prstGeom prst="upDownArrow">
              <a:avLst>
                <a:gd name="adj1" fmla="val 50000"/>
                <a:gd name="adj2" fmla="val 40357"/>
              </a:avLst>
            </a:prstGeom>
            <a:solidFill>
              <a:srgbClr val="9999FF"/>
            </a:solidFill>
            <a:ln w="9525">
              <a:solidFill>
                <a:schemeClr val="tx1"/>
              </a:solid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sp>
          <p:nvSpPr>
            <p:cNvPr id="82966" name="AutoShape 42"/>
            <p:cNvSpPr>
              <a:spLocks noChangeArrowheads="1"/>
            </p:cNvSpPr>
            <p:nvPr/>
          </p:nvSpPr>
          <p:spPr bwMode="auto">
            <a:xfrm>
              <a:off x="3746" y="1930"/>
              <a:ext cx="56" cy="113"/>
            </a:xfrm>
            <a:prstGeom prst="upDownArrow">
              <a:avLst>
                <a:gd name="adj1" fmla="val 50000"/>
                <a:gd name="adj2" fmla="val 40357"/>
              </a:avLst>
            </a:prstGeom>
            <a:solidFill>
              <a:srgbClr val="9999FF"/>
            </a:solidFill>
            <a:ln w="9525">
              <a:solidFill>
                <a:schemeClr val="tx1"/>
              </a:solid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grpSp>
      <p:grpSp>
        <p:nvGrpSpPr>
          <p:cNvPr id="107563" name="Group 43"/>
          <p:cNvGrpSpPr>
            <a:grpSpLocks/>
          </p:cNvGrpSpPr>
          <p:nvPr/>
        </p:nvGrpSpPr>
        <p:grpSpPr bwMode="auto">
          <a:xfrm>
            <a:off x="1744663" y="3892550"/>
            <a:ext cx="798512" cy="1831975"/>
            <a:chOff x="1654" y="2452"/>
            <a:chExt cx="503" cy="1154"/>
          </a:xfrm>
        </p:grpSpPr>
        <p:sp>
          <p:nvSpPr>
            <p:cNvPr id="82959" name="Oval 44"/>
            <p:cNvSpPr>
              <a:spLocks noChangeArrowheads="1"/>
            </p:cNvSpPr>
            <p:nvPr/>
          </p:nvSpPr>
          <p:spPr bwMode="auto">
            <a:xfrm>
              <a:off x="1989" y="2452"/>
              <a:ext cx="56" cy="56"/>
            </a:xfrm>
            <a:prstGeom prst="ellipse">
              <a:avLst/>
            </a:prstGeom>
            <a:solidFill>
              <a:srgbClr val="FF3300"/>
            </a:solidFill>
            <a:ln w="9525">
              <a:solidFill>
                <a:schemeClr val="tx1"/>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82960" name="Oval 45"/>
            <p:cNvSpPr>
              <a:spLocks noChangeArrowheads="1"/>
            </p:cNvSpPr>
            <p:nvPr/>
          </p:nvSpPr>
          <p:spPr bwMode="auto">
            <a:xfrm>
              <a:off x="2101" y="3324"/>
              <a:ext cx="56" cy="56"/>
            </a:xfrm>
            <a:prstGeom prst="ellipse">
              <a:avLst/>
            </a:prstGeom>
            <a:solidFill>
              <a:srgbClr val="FF3300"/>
            </a:solidFill>
            <a:ln w="9525">
              <a:solidFill>
                <a:schemeClr val="tx1"/>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82961" name="Oval 46"/>
            <p:cNvSpPr>
              <a:spLocks noChangeArrowheads="1"/>
            </p:cNvSpPr>
            <p:nvPr/>
          </p:nvSpPr>
          <p:spPr bwMode="auto">
            <a:xfrm>
              <a:off x="2071" y="3550"/>
              <a:ext cx="56" cy="56"/>
            </a:xfrm>
            <a:prstGeom prst="ellipse">
              <a:avLst/>
            </a:prstGeom>
            <a:solidFill>
              <a:srgbClr val="FF3300"/>
            </a:solidFill>
            <a:ln w="9525">
              <a:solidFill>
                <a:schemeClr val="tx1"/>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82962" name="Oval 47"/>
            <p:cNvSpPr>
              <a:spLocks noChangeArrowheads="1"/>
            </p:cNvSpPr>
            <p:nvPr/>
          </p:nvSpPr>
          <p:spPr bwMode="auto">
            <a:xfrm>
              <a:off x="1779" y="3175"/>
              <a:ext cx="56" cy="56"/>
            </a:xfrm>
            <a:prstGeom prst="ellipse">
              <a:avLst/>
            </a:prstGeom>
            <a:solidFill>
              <a:srgbClr val="FF3300"/>
            </a:solidFill>
            <a:ln w="9525">
              <a:solidFill>
                <a:schemeClr val="tx1"/>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82963" name="Oval 48"/>
            <p:cNvSpPr>
              <a:spLocks noChangeArrowheads="1"/>
            </p:cNvSpPr>
            <p:nvPr/>
          </p:nvSpPr>
          <p:spPr bwMode="auto">
            <a:xfrm>
              <a:off x="1844" y="3323"/>
              <a:ext cx="56" cy="56"/>
            </a:xfrm>
            <a:prstGeom prst="ellipse">
              <a:avLst/>
            </a:prstGeom>
            <a:solidFill>
              <a:srgbClr val="FF3300"/>
            </a:solidFill>
            <a:ln w="9525">
              <a:solidFill>
                <a:schemeClr val="tx1"/>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82964" name="Oval 49"/>
            <p:cNvSpPr>
              <a:spLocks noChangeArrowheads="1"/>
            </p:cNvSpPr>
            <p:nvPr/>
          </p:nvSpPr>
          <p:spPr bwMode="auto">
            <a:xfrm>
              <a:off x="1654" y="3376"/>
              <a:ext cx="56" cy="56"/>
            </a:xfrm>
            <a:prstGeom prst="ellipse">
              <a:avLst/>
            </a:prstGeom>
            <a:solidFill>
              <a:srgbClr val="FF3300"/>
            </a:solidFill>
            <a:ln w="9525">
              <a:solidFill>
                <a:schemeClr val="tx1"/>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grpSp>
      <p:grpSp>
        <p:nvGrpSpPr>
          <p:cNvPr id="107570" name="Group 50"/>
          <p:cNvGrpSpPr>
            <a:grpSpLocks/>
          </p:cNvGrpSpPr>
          <p:nvPr/>
        </p:nvGrpSpPr>
        <p:grpSpPr bwMode="auto">
          <a:xfrm>
            <a:off x="1333500" y="1716088"/>
            <a:ext cx="1895475" cy="4706937"/>
            <a:chOff x="1395" y="1081"/>
            <a:chExt cx="1194" cy="2965"/>
          </a:xfrm>
        </p:grpSpPr>
        <p:sp>
          <p:nvSpPr>
            <p:cNvPr id="82956" name="Freeform 51"/>
            <p:cNvSpPr>
              <a:spLocks/>
            </p:cNvSpPr>
            <p:nvPr/>
          </p:nvSpPr>
          <p:spPr bwMode="auto">
            <a:xfrm>
              <a:off x="2282" y="1081"/>
              <a:ext cx="307" cy="843"/>
            </a:xfrm>
            <a:custGeom>
              <a:avLst/>
              <a:gdLst>
                <a:gd name="T0" fmla="*/ 70 w 307"/>
                <a:gd name="T1" fmla="*/ 843 h 843"/>
                <a:gd name="T2" fmla="*/ 58 w 307"/>
                <a:gd name="T3" fmla="*/ 718 h 843"/>
                <a:gd name="T4" fmla="*/ 22 w 307"/>
                <a:gd name="T5" fmla="*/ 611 h 843"/>
                <a:gd name="T6" fmla="*/ 10 w 307"/>
                <a:gd name="T7" fmla="*/ 499 h 843"/>
                <a:gd name="T8" fmla="*/ 10 w 307"/>
                <a:gd name="T9" fmla="*/ 398 h 843"/>
                <a:gd name="T10" fmla="*/ 70 w 307"/>
                <a:gd name="T11" fmla="*/ 303 h 843"/>
                <a:gd name="T12" fmla="*/ 117 w 307"/>
                <a:gd name="T13" fmla="*/ 237 h 843"/>
                <a:gd name="T14" fmla="*/ 170 w 307"/>
                <a:gd name="T15" fmla="*/ 172 h 843"/>
                <a:gd name="T16" fmla="*/ 206 w 307"/>
                <a:gd name="T17" fmla="*/ 89 h 843"/>
                <a:gd name="T18" fmla="*/ 277 w 307"/>
                <a:gd name="T19" fmla="*/ 35 h 843"/>
                <a:gd name="T20" fmla="*/ 307 w 307"/>
                <a:gd name="T21" fmla="*/ 0 h 84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07"/>
                <a:gd name="T34" fmla="*/ 0 h 843"/>
                <a:gd name="T35" fmla="*/ 307 w 307"/>
                <a:gd name="T36" fmla="*/ 843 h 84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07" h="843">
                  <a:moveTo>
                    <a:pt x="70" y="843"/>
                  </a:moveTo>
                  <a:cubicBezTo>
                    <a:pt x="68" y="800"/>
                    <a:pt x="66" y="757"/>
                    <a:pt x="58" y="718"/>
                  </a:cubicBezTo>
                  <a:cubicBezTo>
                    <a:pt x="50" y="679"/>
                    <a:pt x="30" y="647"/>
                    <a:pt x="22" y="611"/>
                  </a:cubicBezTo>
                  <a:cubicBezTo>
                    <a:pt x="14" y="575"/>
                    <a:pt x="12" y="534"/>
                    <a:pt x="10" y="499"/>
                  </a:cubicBezTo>
                  <a:cubicBezTo>
                    <a:pt x="8" y="464"/>
                    <a:pt x="0" y="431"/>
                    <a:pt x="10" y="398"/>
                  </a:cubicBezTo>
                  <a:cubicBezTo>
                    <a:pt x="20" y="365"/>
                    <a:pt x="52" y="330"/>
                    <a:pt x="70" y="303"/>
                  </a:cubicBezTo>
                  <a:cubicBezTo>
                    <a:pt x="88" y="276"/>
                    <a:pt x="100" y="259"/>
                    <a:pt x="117" y="237"/>
                  </a:cubicBezTo>
                  <a:cubicBezTo>
                    <a:pt x="134" y="215"/>
                    <a:pt x="155" y="197"/>
                    <a:pt x="170" y="172"/>
                  </a:cubicBezTo>
                  <a:cubicBezTo>
                    <a:pt x="185" y="147"/>
                    <a:pt x="188" y="112"/>
                    <a:pt x="206" y="89"/>
                  </a:cubicBezTo>
                  <a:cubicBezTo>
                    <a:pt x="224" y="66"/>
                    <a:pt x="260" y="50"/>
                    <a:pt x="277" y="35"/>
                  </a:cubicBezTo>
                  <a:cubicBezTo>
                    <a:pt x="294" y="20"/>
                    <a:pt x="302" y="6"/>
                    <a:pt x="307" y="0"/>
                  </a:cubicBezTo>
                </a:path>
              </a:pathLst>
            </a:custGeom>
            <a:noFill/>
            <a:ln w="28575" cmpd="sng">
              <a:solidFill>
                <a:srgbClr val="FF9933"/>
              </a:solidFill>
              <a:round/>
              <a:headEnd/>
              <a:tailEnd/>
            </a:ln>
          </p:spPr>
          <p:txBody>
            <a:bodyPr/>
            <a:lstStyle/>
            <a:p>
              <a:endParaRPr lang="en-US"/>
            </a:p>
          </p:txBody>
        </p:sp>
        <p:sp>
          <p:nvSpPr>
            <p:cNvPr id="82957" name="Freeform 52"/>
            <p:cNvSpPr>
              <a:spLocks/>
            </p:cNvSpPr>
            <p:nvPr/>
          </p:nvSpPr>
          <p:spPr bwMode="auto">
            <a:xfrm>
              <a:off x="1395" y="1122"/>
              <a:ext cx="107" cy="434"/>
            </a:xfrm>
            <a:custGeom>
              <a:avLst/>
              <a:gdLst>
                <a:gd name="T0" fmla="*/ 107 w 107"/>
                <a:gd name="T1" fmla="*/ 434 h 434"/>
                <a:gd name="T2" fmla="*/ 84 w 107"/>
                <a:gd name="T3" fmla="*/ 368 h 434"/>
                <a:gd name="T4" fmla="*/ 60 w 107"/>
                <a:gd name="T5" fmla="*/ 273 h 434"/>
                <a:gd name="T6" fmla="*/ 36 w 107"/>
                <a:gd name="T7" fmla="*/ 184 h 434"/>
                <a:gd name="T8" fmla="*/ 24 w 107"/>
                <a:gd name="T9" fmla="*/ 137 h 434"/>
                <a:gd name="T10" fmla="*/ 18 w 107"/>
                <a:gd name="T11" fmla="*/ 54 h 434"/>
                <a:gd name="T12" fmla="*/ 0 w 107"/>
                <a:gd name="T13" fmla="*/ 0 h 434"/>
                <a:gd name="T14" fmla="*/ 0 60000 65536"/>
                <a:gd name="T15" fmla="*/ 0 60000 65536"/>
                <a:gd name="T16" fmla="*/ 0 60000 65536"/>
                <a:gd name="T17" fmla="*/ 0 60000 65536"/>
                <a:gd name="T18" fmla="*/ 0 60000 65536"/>
                <a:gd name="T19" fmla="*/ 0 60000 65536"/>
                <a:gd name="T20" fmla="*/ 0 60000 65536"/>
                <a:gd name="T21" fmla="*/ 0 w 107"/>
                <a:gd name="T22" fmla="*/ 0 h 434"/>
                <a:gd name="T23" fmla="*/ 107 w 107"/>
                <a:gd name="T24" fmla="*/ 434 h 4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7" h="434">
                  <a:moveTo>
                    <a:pt x="107" y="434"/>
                  </a:moveTo>
                  <a:cubicBezTo>
                    <a:pt x="99" y="414"/>
                    <a:pt x="92" y="395"/>
                    <a:pt x="84" y="368"/>
                  </a:cubicBezTo>
                  <a:cubicBezTo>
                    <a:pt x="76" y="341"/>
                    <a:pt x="68" y="304"/>
                    <a:pt x="60" y="273"/>
                  </a:cubicBezTo>
                  <a:cubicBezTo>
                    <a:pt x="52" y="242"/>
                    <a:pt x="42" y="207"/>
                    <a:pt x="36" y="184"/>
                  </a:cubicBezTo>
                  <a:cubicBezTo>
                    <a:pt x="30" y="161"/>
                    <a:pt x="27" y="159"/>
                    <a:pt x="24" y="137"/>
                  </a:cubicBezTo>
                  <a:cubicBezTo>
                    <a:pt x="21" y="115"/>
                    <a:pt x="22" y="77"/>
                    <a:pt x="18" y="54"/>
                  </a:cubicBezTo>
                  <a:cubicBezTo>
                    <a:pt x="14" y="31"/>
                    <a:pt x="7" y="12"/>
                    <a:pt x="0" y="0"/>
                  </a:cubicBezTo>
                </a:path>
              </a:pathLst>
            </a:custGeom>
            <a:noFill/>
            <a:ln w="28575" cmpd="sng">
              <a:solidFill>
                <a:srgbClr val="FF9933"/>
              </a:solidFill>
              <a:round/>
              <a:headEnd/>
              <a:tailEnd/>
            </a:ln>
          </p:spPr>
          <p:txBody>
            <a:bodyPr/>
            <a:lstStyle/>
            <a:p>
              <a:endParaRPr lang="en-US"/>
            </a:p>
          </p:txBody>
        </p:sp>
        <p:sp>
          <p:nvSpPr>
            <p:cNvPr id="82958" name="AutoShape 53"/>
            <p:cNvSpPr>
              <a:spLocks noChangeArrowheads="1"/>
            </p:cNvSpPr>
            <p:nvPr/>
          </p:nvSpPr>
          <p:spPr bwMode="auto">
            <a:xfrm>
              <a:off x="1742" y="3730"/>
              <a:ext cx="288" cy="316"/>
            </a:xfrm>
            <a:prstGeom prst="downArrow">
              <a:avLst>
                <a:gd name="adj1" fmla="val 50000"/>
                <a:gd name="adj2" fmla="val 27431"/>
              </a:avLst>
            </a:prstGeom>
            <a:solidFill>
              <a:srgbClr val="FF9933"/>
            </a:solidFill>
            <a:ln w="28575" algn="ctr">
              <a:solidFill>
                <a:srgbClr val="FF9933"/>
              </a:solidFill>
              <a:miter lim="800000"/>
              <a:headEnd/>
              <a:tailEnd/>
            </a:ln>
          </p:spPr>
          <p:txBody>
            <a:bodyPr/>
            <a:lstStyle/>
            <a:p>
              <a:pPr>
                <a:lnSpc>
                  <a:spcPct val="31000"/>
                </a:lnSpc>
                <a:buClr>
                  <a:srgbClr val="000000"/>
                </a:buClr>
                <a:buSzPct val="100000"/>
                <a:buFont typeface="Times New Roman" pitchFamily="18" charset="0"/>
                <a:buNone/>
              </a:pPr>
              <a:endParaRPr lang="en-US"/>
            </a:p>
          </p:txBody>
        </p:sp>
      </p:grpSp>
      <p:sp>
        <p:nvSpPr>
          <p:cNvPr id="82955" name="Rectangle 54"/>
          <p:cNvSpPr>
            <a:spLocks noChangeArrowheads="1"/>
          </p:cNvSpPr>
          <p:nvPr/>
        </p:nvSpPr>
        <p:spPr bwMode="auto">
          <a:xfrm>
            <a:off x="3830638" y="5051425"/>
            <a:ext cx="3840162" cy="1558925"/>
          </a:xfrm>
          <a:prstGeom prst="rect">
            <a:avLst/>
          </a:prstGeom>
          <a:noFill/>
          <a:ln w="9525">
            <a:noFill/>
            <a:miter lim="800000"/>
            <a:headEnd/>
            <a:tailEnd/>
          </a:ln>
        </p:spPr>
        <p:txBody>
          <a:bodyPr>
            <a:spAutoFit/>
          </a:bodyPr>
          <a:lstStyle/>
          <a:p>
            <a:pPr marL="180975" indent="-180975"/>
            <a:r>
              <a:rPr lang="en-AU" sz="1600" i="0">
                <a:solidFill>
                  <a:schemeClr val="tx1"/>
                </a:solidFill>
              </a:rPr>
              <a:t>What are the elements of defining SY?</a:t>
            </a:r>
          </a:p>
          <a:p>
            <a:pPr marL="180975" indent="-180975">
              <a:buFontTx/>
              <a:buChar char="•"/>
            </a:pPr>
            <a:r>
              <a:rPr lang="en-AU" sz="1600" i="0">
                <a:solidFill>
                  <a:schemeClr val="tx1"/>
                </a:solidFill>
              </a:rPr>
              <a:t>Annual aggregate abstraction volume</a:t>
            </a:r>
          </a:p>
          <a:p>
            <a:pPr marL="180975" indent="-180975">
              <a:buFontTx/>
              <a:buChar char="•"/>
            </a:pPr>
            <a:r>
              <a:rPr lang="en-AU" sz="1600" i="0">
                <a:solidFill>
                  <a:schemeClr val="tx1"/>
                </a:solidFill>
              </a:rPr>
              <a:t>provision for groundwater dependent ecosystems</a:t>
            </a:r>
          </a:p>
          <a:p>
            <a:pPr marL="180975" indent="-180975">
              <a:buFontTx/>
              <a:buChar char="•"/>
            </a:pPr>
            <a:r>
              <a:rPr lang="en-AU" sz="1600" i="0">
                <a:solidFill>
                  <a:schemeClr val="tx1"/>
                </a:solidFill>
              </a:rPr>
              <a:t>time element</a:t>
            </a:r>
          </a:p>
          <a:p>
            <a:pPr marL="180975" indent="-180975">
              <a:buFontTx/>
              <a:buChar char="•"/>
            </a:pPr>
            <a:r>
              <a:rPr lang="en-AU" sz="1600" i="0">
                <a:solidFill>
                  <a:schemeClr val="tx1"/>
                </a:solidFill>
              </a:rPr>
              <a:t>social/economic aspects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07554"/>
                                        </p:tgtEl>
                                        <p:attrNameLst>
                                          <p:attrName>style.visibility</p:attrName>
                                        </p:attrNameLst>
                                      </p:cBhvr>
                                      <p:to>
                                        <p:strVal val="visible"/>
                                      </p:to>
                                    </p:set>
                                    <p:animEffect transition="in" filter="dissolve">
                                      <p:cBhvr>
                                        <p:cTn id="7" dur="500"/>
                                        <p:tgtEl>
                                          <p:spTgt spid="10755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7542"/>
                                        </p:tgtEl>
                                        <p:attrNameLst>
                                          <p:attrName>style.visibility</p:attrName>
                                        </p:attrNameLst>
                                      </p:cBhvr>
                                      <p:to>
                                        <p:strVal val="visible"/>
                                      </p:to>
                                    </p:set>
                                    <p:animEffect transition="in" filter="dissolve">
                                      <p:cBhvr>
                                        <p:cTn id="12" dur="500"/>
                                        <p:tgtEl>
                                          <p:spTgt spid="10754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07560"/>
                                        </p:tgtEl>
                                        <p:attrNameLst>
                                          <p:attrName>style.visibility</p:attrName>
                                        </p:attrNameLst>
                                      </p:cBhvr>
                                      <p:to>
                                        <p:strVal val="visible"/>
                                      </p:to>
                                    </p:set>
                                    <p:animEffect transition="in" filter="dissolve">
                                      <p:cBhvr>
                                        <p:cTn id="17" dur="500"/>
                                        <p:tgtEl>
                                          <p:spTgt spid="10756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07570"/>
                                        </p:tgtEl>
                                        <p:attrNameLst>
                                          <p:attrName>style.visibility</p:attrName>
                                        </p:attrNameLst>
                                      </p:cBhvr>
                                      <p:to>
                                        <p:strVal val="visible"/>
                                      </p:to>
                                    </p:set>
                                    <p:animEffect transition="in" filter="dissolve">
                                      <p:cBhvr>
                                        <p:cTn id="22" dur="500"/>
                                        <p:tgtEl>
                                          <p:spTgt spid="10757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07563"/>
                                        </p:tgtEl>
                                        <p:attrNameLst>
                                          <p:attrName>style.visibility</p:attrName>
                                        </p:attrNameLst>
                                      </p:cBhvr>
                                      <p:to>
                                        <p:strVal val="visible"/>
                                      </p:to>
                                    </p:set>
                                    <p:animEffect transition="in" filter="dissolve">
                                      <p:cBhvr>
                                        <p:cTn id="27" dur="500"/>
                                        <p:tgtEl>
                                          <p:spTgt spid="1075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noChangeArrowheads="1"/>
          </p:cNvSpPr>
          <p:nvPr>
            <p:ph type="title"/>
          </p:nvPr>
        </p:nvSpPr>
        <p:spPr>
          <a:xfrm>
            <a:off x="438150" y="806450"/>
            <a:ext cx="5429250" cy="493713"/>
          </a:xfrm>
        </p:spPr>
        <p:txBody>
          <a:bodyPr/>
          <a:lstStyle/>
          <a:p>
            <a:r>
              <a:rPr lang="en-AU" smtClean="0"/>
              <a:t>Sustainable yield (cont)</a:t>
            </a:r>
            <a:endParaRPr lang="en-US" smtClean="0"/>
          </a:p>
        </p:txBody>
      </p:sp>
      <p:grpSp>
        <p:nvGrpSpPr>
          <p:cNvPr id="84994" name="Group 1"/>
          <p:cNvGrpSpPr>
            <a:grpSpLocks/>
          </p:cNvGrpSpPr>
          <p:nvPr/>
        </p:nvGrpSpPr>
        <p:grpSpPr bwMode="auto">
          <a:xfrm>
            <a:off x="609600" y="1776413"/>
            <a:ext cx="7265988" cy="4738687"/>
            <a:chOff x="609600" y="1776413"/>
            <a:chExt cx="7265988" cy="4738687"/>
          </a:xfrm>
        </p:grpSpPr>
        <p:sp>
          <p:nvSpPr>
            <p:cNvPr id="85052" name="Freeform 7" descr="Dashed upward diagonal"/>
            <p:cNvSpPr>
              <a:spLocks/>
            </p:cNvSpPr>
            <p:nvPr/>
          </p:nvSpPr>
          <p:spPr bwMode="auto">
            <a:xfrm>
              <a:off x="658813" y="2439988"/>
              <a:ext cx="6846888" cy="4075112"/>
            </a:xfrm>
            <a:custGeom>
              <a:avLst/>
              <a:gdLst>
                <a:gd name="T0" fmla="*/ 0 w 2358"/>
                <a:gd name="T1" fmla="*/ 356531 h 1223"/>
                <a:gd name="T2" fmla="*/ 397805 w 2358"/>
                <a:gd name="T3" fmla="*/ 356531 h 1223"/>
                <a:gd name="T4" fmla="*/ 708499 w 2358"/>
                <a:gd name="T5" fmla="*/ 553122 h 1223"/>
                <a:gd name="T6" fmla="*/ 1036615 w 2358"/>
                <a:gd name="T7" fmla="*/ 1189546 h 1223"/>
                <a:gd name="T8" fmla="*/ 1295043 w 2358"/>
                <a:gd name="T9" fmla="*/ 2119191 h 1223"/>
                <a:gd name="T10" fmla="*/ 1570893 w 2358"/>
                <a:gd name="T11" fmla="*/ 2632329 h 1223"/>
                <a:gd name="T12" fmla="*/ 2087749 w 2358"/>
                <a:gd name="T13" fmla="*/ 2868905 h 1223"/>
                <a:gd name="T14" fmla="*/ 3121461 w 2358"/>
                <a:gd name="T15" fmla="*/ 3108814 h 1223"/>
                <a:gd name="T16" fmla="*/ 3777693 w 2358"/>
                <a:gd name="T17" fmla="*/ 3088821 h 1223"/>
                <a:gd name="T18" fmla="*/ 4640087 w 2358"/>
                <a:gd name="T19" fmla="*/ 2948875 h 1223"/>
                <a:gd name="T20" fmla="*/ 5328260 w 2358"/>
                <a:gd name="T21" fmla="*/ 2335775 h 1223"/>
                <a:gd name="T22" fmla="*/ 5760909 w 2358"/>
                <a:gd name="T23" fmla="*/ 1466107 h 1223"/>
                <a:gd name="T24" fmla="*/ 5914804 w 2358"/>
                <a:gd name="T25" fmla="*/ 773038 h 1223"/>
                <a:gd name="T26" fmla="*/ 6120967 w 2358"/>
                <a:gd name="T27" fmla="*/ 119954 h 1223"/>
                <a:gd name="T28" fmla="*/ 6379395 w 2358"/>
                <a:gd name="T29" fmla="*/ 0 h 1223"/>
                <a:gd name="T30" fmla="*/ 6846888 w 2358"/>
                <a:gd name="T31" fmla="*/ 19992 h 1223"/>
                <a:gd name="T32" fmla="*/ 6846888 w 2358"/>
                <a:gd name="T33" fmla="*/ 4075112 h 1223"/>
                <a:gd name="T34" fmla="*/ 17422 w 2358"/>
                <a:gd name="T35" fmla="*/ 4075112 h 1223"/>
                <a:gd name="T36" fmla="*/ 17422 w 2358"/>
                <a:gd name="T37" fmla="*/ 356531 h 122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58"/>
                <a:gd name="T58" fmla="*/ 0 h 1223"/>
                <a:gd name="T59" fmla="*/ 2358 w 2358"/>
                <a:gd name="T60" fmla="*/ 1223 h 122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58" h="1223">
                  <a:moveTo>
                    <a:pt x="0" y="107"/>
                  </a:moveTo>
                  <a:lnTo>
                    <a:pt x="137" y="107"/>
                  </a:lnTo>
                  <a:lnTo>
                    <a:pt x="244" y="166"/>
                  </a:lnTo>
                  <a:lnTo>
                    <a:pt x="357" y="357"/>
                  </a:lnTo>
                  <a:lnTo>
                    <a:pt x="446" y="636"/>
                  </a:lnTo>
                  <a:lnTo>
                    <a:pt x="541" y="790"/>
                  </a:lnTo>
                  <a:lnTo>
                    <a:pt x="719" y="861"/>
                  </a:lnTo>
                  <a:lnTo>
                    <a:pt x="1075" y="933"/>
                  </a:lnTo>
                  <a:lnTo>
                    <a:pt x="1301" y="927"/>
                  </a:lnTo>
                  <a:lnTo>
                    <a:pt x="1598" y="885"/>
                  </a:lnTo>
                  <a:lnTo>
                    <a:pt x="1835" y="701"/>
                  </a:lnTo>
                  <a:lnTo>
                    <a:pt x="1984" y="440"/>
                  </a:lnTo>
                  <a:lnTo>
                    <a:pt x="2037" y="232"/>
                  </a:lnTo>
                  <a:lnTo>
                    <a:pt x="2108" y="36"/>
                  </a:lnTo>
                  <a:lnTo>
                    <a:pt x="2197" y="0"/>
                  </a:lnTo>
                  <a:lnTo>
                    <a:pt x="2358" y="6"/>
                  </a:lnTo>
                  <a:lnTo>
                    <a:pt x="2358" y="1223"/>
                  </a:lnTo>
                  <a:lnTo>
                    <a:pt x="6" y="1223"/>
                  </a:lnTo>
                  <a:lnTo>
                    <a:pt x="6" y="107"/>
                  </a:lnTo>
                </a:path>
              </a:pathLst>
            </a:custGeom>
            <a:pattFill prst="dashUpDiag">
              <a:fgClr>
                <a:schemeClr val="accent1"/>
              </a:fgClr>
              <a:bgClr>
                <a:schemeClr val="bg1"/>
              </a:bgClr>
            </a:pattFill>
            <a:ln w="9525">
              <a:solidFill>
                <a:schemeClr val="tx1"/>
              </a:solidFill>
              <a:round/>
              <a:headEnd/>
              <a:tailEnd/>
            </a:ln>
          </p:spPr>
          <p:txBody>
            <a:bodyPr/>
            <a:lstStyle/>
            <a:p>
              <a:endParaRPr lang="en-US"/>
            </a:p>
          </p:txBody>
        </p:sp>
        <p:sp>
          <p:nvSpPr>
            <p:cNvPr id="85053" name="Freeform 8" descr="Small confetti"/>
            <p:cNvSpPr>
              <a:spLocks/>
            </p:cNvSpPr>
            <p:nvPr/>
          </p:nvSpPr>
          <p:spPr bwMode="auto">
            <a:xfrm>
              <a:off x="1866900" y="3479800"/>
              <a:ext cx="4633913" cy="2068512"/>
            </a:xfrm>
            <a:custGeom>
              <a:avLst/>
              <a:gdLst>
                <a:gd name="T0" fmla="*/ 33338 w 2919"/>
                <a:gd name="T1" fmla="*/ 942975 h 1303"/>
                <a:gd name="T2" fmla="*/ 153988 w 2919"/>
                <a:gd name="T3" fmla="*/ 1216025 h 1303"/>
                <a:gd name="T4" fmla="*/ 381000 w 2919"/>
                <a:gd name="T5" fmla="*/ 1612899 h 1303"/>
                <a:gd name="T6" fmla="*/ 931863 w 2919"/>
                <a:gd name="T7" fmla="*/ 1849437 h 1303"/>
                <a:gd name="T8" fmla="*/ 1890713 w 2919"/>
                <a:gd name="T9" fmla="*/ 2063750 h 1303"/>
                <a:gd name="T10" fmla="*/ 2654300 w 2919"/>
                <a:gd name="T11" fmla="*/ 2068512 h 1303"/>
                <a:gd name="T12" fmla="*/ 3432176 w 2919"/>
                <a:gd name="T13" fmla="*/ 1908175 h 1303"/>
                <a:gd name="T14" fmla="*/ 4143376 w 2919"/>
                <a:gd name="T15" fmla="*/ 1282700 h 1303"/>
                <a:gd name="T16" fmla="*/ 4559301 w 2919"/>
                <a:gd name="T17" fmla="*/ 414337 h 1303"/>
                <a:gd name="T18" fmla="*/ 4633913 w 2919"/>
                <a:gd name="T19" fmla="*/ 0 h 1303"/>
                <a:gd name="T20" fmla="*/ 4241801 w 2919"/>
                <a:gd name="T21" fmla="*/ 30162 h 1303"/>
                <a:gd name="T22" fmla="*/ 3827463 w 2919"/>
                <a:gd name="T23" fmla="*/ 166687 h 1303"/>
                <a:gd name="T24" fmla="*/ 3498851 w 2919"/>
                <a:gd name="T25" fmla="*/ 503237 h 1303"/>
                <a:gd name="T26" fmla="*/ 3173413 w 2919"/>
                <a:gd name="T27" fmla="*/ 819150 h 1303"/>
                <a:gd name="T28" fmla="*/ 2671763 w 2919"/>
                <a:gd name="T29" fmla="*/ 1019175 h 1303"/>
                <a:gd name="T30" fmla="*/ 1912938 w 2919"/>
                <a:gd name="T31" fmla="*/ 1195387 h 1303"/>
                <a:gd name="T32" fmla="*/ 1190625 w 2919"/>
                <a:gd name="T33" fmla="*/ 1079500 h 1303"/>
                <a:gd name="T34" fmla="*/ 609600 w 2919"/>
                <a:gd name="T35" fmla="*/ 839787 h 1303"/>
                <a:gd name="T36" fmla="*/ 0 w 2919"/>
                <a:gd name="T37" fmla="*/ 819150 h 1303"/>
                <a:gd name="T38" fmla="*/ 69850 w 2919"/>
                <a:gd name="T39" fmla="*/ 1039812 h 130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919"/>
                <a:gd name="T61" fmla="*/ 0 h 1303"/>
                <a:gd name="T62" fmla="*/ 2919 w 2919"/>
                <a:gd name="T63" fmla="*/ 1303 h 130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919" h="1303">
                  <a:moveTo>
                    <a:pt x="21" y="594"/>
                  </a:moveTo>
                  <a:lnTo>
                    <a:pt x="97" y="766"/>
                  </a:lnTo>
                  <a:lnTo>
                    <a:pt x="240" y="1016"/>
                  </a:lnTo>
                  <a:lnTo>
                    <a:pt x="587" y="1165"/>
                  </a:lnTo>
                  <a:lnTo>
                    <a:pt x="1191" y="1300"/>
                  </a:lnTo>
                  <a:lnTo>
                    <a:pt x="1672" y="1303"/>
                  </a:lnTo>
                  <a:lnTo>
                    <a:pt x="2162" y="1202"/>
                  </a:lnTo>
                  <a:lnTo>
                    <a:pt x="2610" y="808"/>
                  </a:lnTo>
                  <a:lnTo>
                    <a:pt x="2872" y="261"/>
                  </a:lnTo>
                  <a:lnTo>
                    <a:pt x="2919" y="0"/>
                  </a:lnTo>
                  <a:lnTo>
                    <a:pt x="2672" y="19"/>
                  </a:lnTo>
                  <a:lnTo>
                    <a:pt x="2411" y="105"/>
                  </a:lnTo>
                  <a:lnTo>
                    <a:pt x="2204" y="317"/>
                  </a:lnTo>
                  <a:lnTo>
                    <a:pt x="1999" y="516"/>
                  </a:lnTo>
                  <a:lnTo>
                    <a:pt x="1683" y="642"/>
                  </a:lnTo>
                  <a:lnTo>
                    <a:pt x="1205" y="753"/>
                  </a:lnTo>
                  <a:lnTo>
                    <a:pt x="750" y="680"/>
                  </a:lnTo>
                  <a:lnTo>
                    <a:pt x="384" y="529"/>
                  </a:lnTo>
                  <a:lnTo>
                    <a:pt x="0" y="516"/>
                  </a:lnTo>
                  <a:lnTo>
                    <a:pt x="44" y="655"/>
                  </a:lnTo>
                </a:path>
              </a:pathLst>
            </a:custGeom>
            <a:pattFill prst="smConfetti">
              <a:fgClr>
                <a:srgbClr val="CC9900"/>
              </a:fgClr>
              <a:bgClr>
                <a:schemeClr val="bg1"/>
              </a:bgClr>
            </a:pattFill>
            <a:ln w="9525" cap="flat" cmpd="sng">
              <a:solidFill>
                <a:schemeClr val="tx1"/>
              </a:solidFill>
              <a:prstDash val="solid"/>
              <a:round/>
              <a:headEnd type="none" w="med" len="med"/>
              <a:tailEnd type="none" w="med" len="med"/>
            </a:ln>
          </p:spPr>
          <p:txBody>
            <a:bodyPr/>
            <a:lstStyle/>
            <a:p>
              <a:endParaRPr lang="en-US"/>
            </a:p>
          </p:txBody>
        </p:sp>
        <p:sp>
          <p:nvSpPr>
            <p:cNvPr id="85054" name="Freeform 9"/>
            <p:cNvSpPr>
              <a:spLocks/>
            </p:cNvSpPr>
            <p:nvPr/>
          </p:nvSpPr>
          <p:spPr bwMode="auto">
            <a:xfrm>
              <a:off x="1727200" y="3678238"/>
              <a:ext cx="3935413" cy="996950"/>
            </a:xfrm>
            <a:custGeom>
              <a:avLst/>
              <a:gdLst>
                <a:gd name="T0" fmla="*/ 0 w 2479"/>
                <a:gd name="T1" fmla="*/ 88900 h 628"/>
                <a:gd name="T2" fmla="*/ 157163 w 2479"/>
                <a:gd name="T3" fmla="*/ 620712 h 628"/>
                <a:gd name="T4" fmla="*/ 725488 w 2479"/>
                <a:gd name="T5" fmla="*/ 641350 h 628"/>
                <a:gd name="T6" fmla="*/ 1347788 w 2479"/>
                <a:gd name="T7" fmla="*/ 900113 h 628"/>
                <a:gd name="T8" fmla="*/ 2087563 w 2479"/>
                <a:gd name="T9" fmla="*/ 996950 h 628"/>
                <a:gd name="T10" fmla="*/ 2846388 w 2479"/>
                <a:gd name="T11" fmla="*/ 820738 h 628"/>
                <a:gd name="T12" fmla="*/ 3313113 w 2479"/>
                <a:gd name="T13" fmla="*/ 620712 h 628"/>
                <a:gd name="T14" fmla="*/ 3935413 w 2479"/>
                <a:gd name="T15" fmla="*/ 0 h 628"/>
                <a:gd name="T16" fmla="*/ 3467101 w 2479"/>
                <a:gd name="T17" fmla="*/ 9525 h 628"/>
                <a:gd name="T18" fmla="*/ 3362326 w 2479"/>
                <a:gd name="T19" fmla="*/ 88900 h 628"/>
                <a:gd name="T20" fmla="*/ 3260726 w 2479"/>
                <a:gd name="T21" fmla="*/ 247650 h 628"/>
                <a:gd name="T22" fmla="*/ 3122612 w 2479"/>
                <a:gd name="T23" fmla="*/ 88900 h 628"/>
                <a:gd name="T24" fmla="*/ 2776538 w 2479"/>
                <a:gd name="T25" fmla="*/ 149225 h 628"/>
                <a:gd name="T26" fmla="*/ 2139950 w 2479"/>
                <a:gd name="T27" fmla="*/ 247650 h 628"/>
                <a:gd name="T28" fmla="*/ 1982788 w 2479"/>
                <a:gd name="T29" fmla="*/ 425450 h 628"/>
                <a:gd name="T30" fmla="*/ 1863725 w 2479"/>
                <a:gd name="T31" fmla="*/ 268287 h 628"/>
                <a:gd name="T32" fmla="*/ 1571625 w 2479"/>
                <a:gd name="T33" fmla="*/ 268287 h 628"/>
                <a:gd name="T34" fmla="*/ 1312863 w 2479"/>
                <a:gd name="T35" fmla="*/ 128587 h 628"/>
                <a:gd name="T36" fmla="*/ 620713 w 2479"/>
                <a:gd name="T37" fmla="*/ 168275 h 628"/>
                <a:gd name="T38" fmla="*/ 0 w 2479"/>
                <a:gd name="T39" fmla="*/ 88900 h 62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479"/>
                <a:gd name="T61" fmla="*/ 0 h 628"/>
                <a:gd name="T62" fmla="*/ 2479 w 2479"/>
                <a:gd name="T63" fmla="*/ 628 h 62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479" h="628">
                  <a:moveTo>
                    <a:pt x="0" y="56"/>
                  </a:moveTo>
                  <a:lnTo>
                    <a:pt x="99" y="391"/>
                  </a:lnTo>
                  <a:lnTo>
                    <a:pt x="457" y="404"/>
                  </a:lnTo>
                  <a:lnTo>
                    <a:pt x="849" y="567"/>
                  </a:lnTo>
                  <a:lnTo>
                    <a:pt x="1315" y="628"/>
                  </a:lnTo>
                  <a:lnTo>
                    <a:pt x="1793" y="517"/>
                  </a:lnTo>
                  <a:lnTo>
                    <a:pt x="2087" y="391"/>
                  </a:lnTo>
                  <a:lnTo>
                    <a:pt x="2479" y="0"/>
                  </a:lnTo>
                  <a:lnTo>
                    <a:pt x="2184" y="6"/>
                  </a:lnTo>
                  <a:lnTo>
                    <a:pt x="2118" y="56"/>
                  </a:lnTo>
                  <a:lnTo>
                    <a:pt x="2054" y="156"/>
                  </a:lnTo>
                  <a:lnTo>
                    <a:pt x="1967" y="56"/>
                  </a:lnTo>
                  <a:lnTo>
                    <a:pt x="1749" y="94"/>
                  </a:lnTo>
                  <a:lnTo>
                    <a:pt x="1348" y="156"/>
                  </a:lnTo>
                  <a:lnTo>
                    <a:pt x="1249" y="268"/>
                  </a:lnTo>
                  <a:lnTo>
                    <a:pt x="1174" y="169"/>
                  </a:lnTo>
                  <a:lnTo>
                    <a:pt x="990" y="169"/>
                  </a:lnTo>
                  <a:lnTo>
                    <a:pt x="827" y="81"/>
                  </a:lnTo>
                  <a:lnTo>
                    <a:pt x="391" y="106"/>
                  </a:lnTo>
                  <a:lnTo>
                    <a:pt x="0" y="56"/>
                  </a:lnTo>
                  <a:close/>
                </a:path>
              </a:pathLst>
            </a:custGeom>
            <a:pattFill prst="dotDmnd">
              <a:fgClr>
                <a:schemeClr val="bg1"/>
              </a:fgClr>
              <a:bgClr>
                <a:srgbClr val="9999FF"/>
              </a:bgClr>
            </a:pattFill>
            <a:ln w="9525">
              <a:solidFill>
                <a:schemeClr val="tx1"/>
              </a:solidFill>
              <a:round/>
              <a:headEnd/>
              <a:tailEnd/>
            </a:ln>
          </p:spPr>
          <p:txBody>
            <a:bodyPr/>
            <a:lstStyle/>
            <a:p>
              <a:endParaRPr lang="en-US"/>
            </a:p>
          </p:txBody>
        </p:sp>
        <p:sp>
          <p:nvSpPr>
            <p:cNvPr id="85055" name="Text Box 10"/>
            <p:cNvSpPr txBox="1">
              <a:spLocks noChangeArrowheads="1"/>
            </p:cNvSpPr>
            <p:nvPr/>
          </p:nvSpPr>
          <p:spPr bwMode="auto">
            <a:xfrm>
              <a:off x="7272338" y="1776413"/>
              <a:ext cx="603250" cy="366712"/>
            </a:xfrm>
            <a:prstGeom prst="rect">
              <a:avLst/>
            </a:prstGeom>
            <a:noFill/>
            <a:ln w="9525">
              <a:noFill/>
              <a:miter lim="800000"/>
              <a:headEnd/>
              <a:tailEnd/>
            </a:ln>
          </p:spPr>
          <p:txBody>
            <a:bodyPr>
              <a:spAutoFit/>
            </a:bodyPr>
            <a:lstStyle/>
            <a:p>
              <a:pPr>
                <a:spcBef>
                  <a:spcPct val="50000"/>
                </a:spcBef>
              </a:pPr>
              <a:r>
                <a:rPr lang="en-AU" i="0">
                  <a:solidFill>
                    <a:schemeClr val="tx1"/>
                  </a:solidFill>
                </a:rPr>
                <a:t>B</a:t>
              </a:r>
              <a:endParaRPr lang="en-US" i="0">
                <a:solidFill>
                  <a:schemeClr val="tx1"/>
                </a:solidFill>
              </a:endParaRPr>
            </a:p>
          </p:txBody>
        </p:sp>
        <p:sp>
          <p:nvSpPr>
            <p:cNvPr id="85056" name="Text Box 11"/>
            <p:cNvSpPr txBox="1">
              <a:spLocks noChangeArrowheads="1"/>
            </p:cNvSpPr>
            <p:nvPr/>
          </p:nvSpPr>
          <p:spPr bwMode="auto">
            <a:xfrm>
              <a:off x="609600" y="1776413"/>
              <a:ext cx="603250" cy="366712"/>
            </a:xfrm>
            <a:prstGeom prst="rect">
              <a:avLst/>
            </a:prstGeom>
            <a:noFill/>
            <a:ln w="9525">
              <a:noFill/>
              <a:miter lim="800000"/>
              <a:headEnd/>
              <a:tailEnd/>
            </a:ln>
          </p:spPr>
          <p:txBody>
            <a:bodyPr>
              <a:spAutoFit/>
            </a:bodyPr>
            <a:lstStyle/>
            <a:p>
              <a:pPr>
                <a:spcBef>
                  <a:spcPct val="50000"/>
                </a:spcBef>
              </a:pPr>
              <a:r>
                <a:rPr lang="en-AU" i="0">
                  <a:solidFill>
                    <a:schemeClr val="tx1"/>
                  </a:solidFill>
                </a:rPr>
                <a:t>A</a:t>
              </a:r>
              <a:endParaRPr lang="en-US" i="0">
                <a:solidFill>
                  <a:schemeClr val="tx1"/>
                </a:solidFill>
              </a:endParaRPr>
            </a:p>
          </p:txBody>
        </p:sp>
      </p:grpSp>
      <p:grpSp>
        <p:nvGrpSpPr>
          <p:cNvPr id="84995" name="Group 12"/>
          <p:cNvGrpSpPr>
            <a:grpSpLocks/>
          </p:cNvGrpSpPr>
          <p:nvPr/>
        </p:nvGrpSpPr>
        <p:grpSpPr bwMode="auto">
          <a:xfrm>
            <a:off x="4013200" y="3760788"/>
            <a:ext cx="76200" cy="1773237"/>
            <a:chOff x="3191" y="2383"/>
            <a:chExt cx="56" cy="908"/>
          </a:xfrm>
        </p:grpSpPr>
        <p:sp>
          <p:nvSpPr>
            <p:cNvPr id="85050" name="Rectangle 13"/>
            <p:cNvSpPr>
              <a:spLocks noChangeArrowheads="1"/>
            </p:cNvSpPr>
            <p:nvPr/>
          </p:nvSpPr>
          <p:spPr bwMode="auto">
            <a:xfrm>
              <a:off x="3191" y="2383"/>
              <a:ext cx="56" cy="640"/>
            </a:xfrm>
            <a:prstGeom prst="rect">
              <a:avLst/>
            </a:prstGeom>
            <a:solidFill>
              <a:schemeClr val="bg1"/>
            </a:solidFill>
            <a:ln w="9525">
              <a:solidFill>
                <a:schemeClr val="tx1"/>
              </a:solidFill>
              <a:miter lim="800000"/>
              <a:headEnd/>
              <a:tailEnd/>
            </a:ln>
          </p:spPr>
          <p:txBody>
            <a:bodyPr wrap="none" anchor="ctr"/>
            <a:lstStyle/>
            <a:p>
              <a:pPr algn="ctr"/>
              <a:endParaRPr lang="en-US" i="0">
                <a:solidFill>
                  <a:schemeClr val="tx1"/>
                </a:solidFill>
              </a:endParaRPr>
            </a:p>
          </p:txBody>
        </p:sp>
        <p:sp>
          <p:nvSpPr>
            <p:cNvPr id="85051" name="Rectangle 14" descr="Dark horizontal"/>
            <p:cNvSpPr>
              <a:spLocks noChangeArrowheads="1"/>
            </p:cNvSpPr>
            <p:nvPr/>
          </p:nvSpPr>
          <p:spPr bwMode="auto">
            <a:xfrm>
              <a:off x="3196" y="3017"/>
              <a:ext cx="49" cy="274"/>
            </a:xfrm>
            <a:prstGeom prst="rect">
              <a:avLst/>
            </a:prstGeom>
            <a:pattFill prst="dkHorz">
              <a:fgClr>
                <a:schemeClr val="tx1"/>
              </a:fgClr>
              <a:bgClr>
                <a:schemeClr val="bg1"/>
              </a:bgClr>
            </a:patt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grpSp>
        <p:nvGrpSpPr>
          <p:cNvPr id="110607" name="Group 15"/>
          <p:cNvGrpSpPr>
            <a:grpSpLocks/>
          </p:cNvGrpSpPr>
          <p:nvPr/>
        </p:nvGrpSpPr>
        <p:grpSpPr bwMode="auto">
          <a:xfrm>
            <a:off x="4240213" y="3713163"/>
            <a:ext cx="79375" cy="1773237"/>
            <a:chOff x="3191" y="2383"/>
            <a:chExt cx="56" cy="908"/>
          </a:xfrm>
        </p:grpSpPr>
        <p:sp>
          <p:nvSpPr>
            <p:cNvPr id="85048" name="Rectangle 16"/>
            <p:cNvSpPr>
              <a:spLocks noChangeArrowheads="1"/>
            </p:cNvSpPr>
            <p:nvPr/>
          </p:nvSpPr>
          <p:spPr bwMode="auto">
            <a:xfrm>
              <a:off x="3191" y="2383"/>
              <a:ext cx="56" cy="640"/>
            </a:xfrm>
            <a:prstGeom prst="rect">
              <a:avLst/>
            </a:prstGeom>
            <a:solidFill>
              <a:schemeClr val="bg1"/>
            </a:solidFill>
            <a:ln w="9525">
              <a:solidFill>
                <a:schemeClr val="tx1"/>
              </a:solidFill>
              <a:miter lim="800000"/>
              <a:headEnd/>
              <a:tailEnd/>
            </a:ln>
          </p:spPr>
          <p:txBody>
            <a:bodyPr wrap="none" anchor="ctr"/>
            <a:lstStyle/>
            <a:p>
              <a:pPr algn="ctr"/>
              <a:endParaRPr lang="en-US" i="0">
                <a:solidFill>
                  <a:schemeClr val="tx1"/>
                </a:solidFill>
              </a:endParaRPr>
            </a:p>
          </p:txBody>
        </p:sp>
        <p:sp>
          <p:nvSpPr>
            <p:cNvPr id="85049" name="Rectangle 17" descr="Dark horizontal"/>
            <p:cNvSpPr>
              <a:spLocks noChangeArrowheads="1"/>
            </p:cNvSpPr>
            <p:nvPr/>
          </p:nvSpPr>
          <p:spPr bwMode="auto">
            <a:xfrm>
              <a:off x="3196" y="3017"/>
              <a:ext cx="49" cy="274"/>
            </a:xfrm>
            <a:prstGeom prst="rect">
              <a:avLst/>
            </a:prstGeom>
            <a:pattFill prst="dkHorz">
              <a:fgClr>
                <a:schemeClr val="tx1"/>
              </a:fgClr>
              <a:bgClr>
                <a:schemeClr val="bg1"/>
              </a:bgClr>
            </a:patt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grpSp>
        <p:nvGrpSpPr>
          <p:cNvPr id="110610" name="Group 18"/>
          <p:cNvGrpSpPr>
            <a:grpSpLocks/>
          </p:cNvGrpSpPr>
          <p:nvPr/>
        </p:nvGrpSpPr>
        <p:grpSpPr bwMode="auto">
          <a:xfrm>
            <a:off x="2297113" y="3575050"/>
            <a:ext cx="3114675" cy="1281113"/>
            <a:chOff x="2132" y="1978"/>
            <a:chExt cx="1962" cy="807"/>
          </a:xfrm>
        </p:grpSpPr>
        <p:grpSp>
          <p:nvGrpSpPr>
            <p:cNvPr id="85039" name="Group 19"/>
            <p:cNvGrpSpPr>
              <a:grpSpLocks/>
            </p:cNvGrpSpPr>
            <p:nvPr/>
          </p:nvGrpSpPr>
          <p:grpSpPr bwMode="auto">
            <a:xfrm>
              <a:off x="2132" y="2102"/>
              <a:ext cx="27" cy="612"/>
              <a:chOff x="3191" y="2383"/>
              <a:chExt cx="56" cy="908"/>
            </a:xfrm>
          </p:grpSpPr>
          <p:sp>
            <p:nvSpPr>
              <p:cNvPr id="85046" name="Rectangle 20"/>
              <p:cNvSpPr>
                <a:spLocks noChangeArrowheads="1"/>
              </p:cNvSpPr>
              <p:nvPr/>
            </p:nvSpPr>
            <p:spPr bwMode="auto">
              <a:xfrm>
                <a:off x="3191" y="2383"/>
                <a:ext cx="56" cy="640"/>
              </a:xfrm>
              <a:prstGeom prst="rect">
                <a:avLst/>
              </a:prstGeom>
              <a:solidFill>
                <a:schemeClr val="bg1">
                  <a:alpha val="89803"/>
                </a:schemeClr>
              </a:solidFill>
              <a:ln w="9525">
                <a:solidFill>
                  <a:srgbClr val="FF0000"/>
                </a:solidFill>
                <a:miter lim="800000"/>
                <a:headEnd/>
                <a:tailEnd/>
              </a:ln>
            </p:spPr>
            <p:txBody>
              <a:bodyPr wrap="none" anchor="ctr"/>
              <a:lstStyle/>
              <a:p>
                <a:pPr algn="ctr"/>
                <a:endParaRPr lang="en-US" i="0">
                  <a:solidFill>
                    <a:schemeClr val="tx1"/>
                  </a:solidFill>
                </a:endParaRPr>
              </a:p>
            </p:txBody>
          </p:sp>
          <p:sp>
            <p:nvSpPr>
              <p:cNvPr id="85047" name="Rectangle 21" descr="Dark horizontal"/>
              <p:cNvSpPr>
                <a:spLocks noChangeArrowheads="1"/>
              </p:cNvSpPr>
              <p:nvPr/>
            </p:nvSpPr>
            <p:spPr bwMode="auto">
              <a:xfrm>
                <a:off x="3196" y="3017"/>
                <a:ext cx="49" cy="274"/>
              </a:xfrm>
              <a:prstGeom prst="rect">
                <a:avLst/>
              </a:prstGeom>
              <a:pattFill prst="dkHorz">
                <a:fgClr>
                  <a:srgbClr val="FF0000"/>
                </a:fgClr>
                <a:bgClr>
                  <a:schemeClr val="bg1"/>
                </a:bgClr>
              </a:patt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grpSp>
          <p:nvGrpSpPr>
            <p:cNvPr id="85040" name="Group 22"/>
            <p:cNvGrpSpPr>
              <a:grpSpLocks/>
            </p:cNvGrpSpPr>
            <p:nvPr/>
          </p:nvGrpSpPr>
          <p:grpSpPr bwMode="auto">
            <a:xfrm>
              <a:off x="2931" y="2173"/>
              <a:ext cx="27" cy="612"/>
              <a:chOff x="3191" y="2383"/>
              <a:chExt cx="56" cy="908"/>
            </a:xfrm>
          </p:grpSpPr>
          <p:sp>
            <p:nvSpPr>
              <p:cNvPr id="85044" name="Rectangle 23"/>
              <p:cNvSpPr>
                <a:spLocks noChangeArrowheads="1"/>
              </p:cNvSpPr>
              <p:nvPr/>
            </p:nvSpPr>
            <p:spPr bwMode="auto">
              <a:xfrm>
                <a:off x="3191" y="2383"/>
                <a:ext cx="56" cy="640"/>
              </a:xfrm>
              <a:prstGeom prst="rect">
                <a:avLst/>
              </a:prstGeom>
              <a:solidFill>
                <a:schemeClr val="bg1">
                  <a:alpha val="89803"/>
                </a:schemeClr>
              </a:solidFill>
              <a:ln w="9525">
                <a:solidFill>
                  <a:srgbClr val="FF0000"/>
                </a:solidFill>
                <a:miter lim="800000"/>
                <a:headEnd/>
                <a:tailEnd/>
              </a:ln>
            </p:spPr>
            <p:txBody>
              <a:bodyPr wrap="none" anchor="ctr"/>
              <a:lstStyle/>
              <a:p>
                <a:pPr algn="ctr"/>
                <a:endParaRPr lang="en-US" i="0">
                  <a:solidFill>
                    <a:schemeClr val="tx1"/>
                  </a:solidFill>
                </a:endParaRPr>
              </a:p>
            </p:txBody>
          </p:sp>
          <p:sp>
            <p:nvSpPr>
              <p:cNvPr id="85045" name="Rectangle 24" descr="Dark horizontal"/>
              <p:cNvSpPr>
                <a:spLocks noChangeArrowheads="1"/>
              </p:cNvSpPr>
              <p:nvPr/>
            </p:nvSpPr>
            <p:spPr bwMode="auto">
              <a:xfrm>
                <a:off x="3196" y="3017"/>
                <a:ext cx="49" cy="274"/>
              </a:xfrm>
              <a:prstGeom prst="rect">
                <a:avLst/>
              </a:prstGeom>
              <a:pattFill prst="dkHorz">
                <a:fgClr>
                  <a:srgbClr val="FF0000"/>
                </a:fgClr>
                <a:bgClr>
                  <a:schemeClr val="bg1"/>
                </a:bgClr>
              </a:patt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grpSp>
          <p:nvGrpSpPr>
            <p:cNvPr id="85041" name="Group 25"/>
            <p:cNvGrpSpPr>
              <a:grpSpLocks/>
            </p:cNvGrpSpPr>
            <p:nvPr/>
          </p:nvGrpSpPr>
          <p:grpSpPr bwMode="auto">
            <a:xfrm>
              <a:off x="4067" y="1978"/>
              <a:ext cx="27" cy="398"/>
              <a:chOff x="3191" y="2383"/>
              <a:chExt cx="56" cy="908"/>
            </a:xfrm>
          </p:grpSpPr>
          <p:sp>
            <p:nvSpPr>
              <p:cNvPr id="85042" name="Rectangle 26"/>
              <p:cNvSpPr>
                <a:spLocks noChangeArrowheads="1"/>
              </p:cNvSpPr>
              <p:nvPr/>
            </p:nvSpPr>
            <p:spPr bwMode="auto">
              <a:xfrm>
                <a:off x="3191" y="2383"/>
                <a:ext cx="56" cy="640"/>
              </a:xfrm>
              <a:prstGeom prst="rect">
                <a:avLst/>
              </a:prstGeom>
              <a:solidFill>
                <a:schemeClr val="bg1">
                  <a:alpha val="89803"/>
                </a:schemeClr>
              </a:solidFill>
              <a:ln w="9525">
                <a:solidFill>
                  <a:srgbClr val="FF0000"/>
                </a:solidFill>
                <a:miter lim="800000"/>
                <a:headEnd/>
                <a:tailEnd/>
              </a:ln>
            </p:spPr>
            <p:txBody>
              <a:bodyPr wrap="none" anchor="ctr"/>
              <a:lstStyle/>
              <a:p>
                <a:pPr algn="ctr"/>
                <a:endParaRPr lang="en-US" i="0">
                  <a:solidFill>
                    <a:schemeClr val="tx1"/>
                  </a:solidFill>
                </a:endParaRPr>
              </a:p>
            </p:txBody>
          </p:sp>
          <p:sp>
            <p:nvSpPr>
              <p:cNvPr id="85043" name="Rectangle 27" descr="Dark horizontal"/>
              <p:cNvSpPr>
                <a:spLocks noChangeArrowheads="1"/>
              </p:cNvSpPr>
              <p:nvPr/>
            </p:nvSpPr>
            <p:spPr bwMode="auto">
              <a:xfrm>
                <a:off x="3196" y="3017"/>
                <a:ext cx="49" cy="274"/>
              </a:xfrm>
              <a:prstGeom prst="rect">
                <a:avLst/>
              </a:prstGeom>
              <a:pattFill prst="dkHorz">
                <a:fgClr>
                  <a:srgbClr val="FF0000"/>
                </a:fgClr>
                <a:bgClr>
                  <a:schemeClr val="bg1"/>
                </a:bgClr>
              </a:patt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grpSp>
      <p:sp>
        <p:nvSpPr>
          <p:cNvPr id="110620" name="Freeform 28"/>
          <p:cNvSpPr>
            <a:spLocks/>
          </p:cNvSpPr>
          <p:nvPr/>
        </p:nvSpPr>
        <p:spPr bwMode="auto">
          <a:xfrm>
            <a:off x="1778000" y="3743325"/>
            <a:ext cx="4657725" cy="822325"/>
          </a:xfrm>
          <a:custGeom>
            <a:avLst/>
            <a:gdLst>
              <a:gd name="T0" fmla="*/ 0 w 2934"/>
              <a:gd name="T1" fmla="*/ 217487 h 518"/>
              <a:gd name="T2" fmla="*/ 923925 w 2934"/>
              <a:gd name="T3" fmla="*/ 311150 h 518"/>
              <a:gd name="T4" fmla="*/ 1498600 w 2934"/>
              <a:gd name="T5" fmla="*/ 481012 h 518"/>
              <a:gd name="T6" fmla="*/ 2022475 w 2934"/>
              <a:gd name="T7" fmla="*/ 708025 h 518"/>
              <a:gd name="T8" fmla="*/ 2319338 w 2934"/>
              <a:gd name="T9" fmla="*/ 811212 h 518"/>
              <a:gd name="T10" fmla="*/ 2605087 w 2934"/>
              <a:gd name="T11" fmla="*/ 776287 h 518"/>
              <a:gd name="T12" fmla="*/ 2971800 w 2934"/>
              <a:gd name="T13" fmla="*/ 547687 h 518"/>
              <a:gd name="T14" fmla="*/ 3302000 w 2934"/>
              <a:gd name="T15" fmla="*/ 354012 h 518"/>
              <a:gd name="T16" fmla="*/ 3648075 w 2934"/>
              <a:gd name="T17" fmla="*/ 217487 h 518"/>
              <a:gd name="T18" fmla="*/ 4110038 w 2934"/>
              <a:gd name="T19" fmla="*/ 66675 h 518"/>
              <a:gd name="T20" fmla="*/ 4657725 w 2934"/>
              <a:gd name="T21" fmla="*/ 0 h 5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934"/>
              <a:gd name="T34" fmla="*/ 0 h 518"/>
              <a:gd name="T35" fmla="*/ 2934 w 2934"/>
              <a:gd name="T36" fmla="*/ 518 h 5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934" h="518">
                <a:moveTo>
                  <a:pt x="0" y="137"/>
                </a:moveTo>
                <a:cubicBezTo>
                  <a:pt x="97" y="147"/>
                  <a:pt x="425" y="168"/>
                  <a:pt x="582" y="196"/>
                </a:cubicBezTo>
                <a:cubicBezTo>
                  <a:pt x="739" y="224"/>
                  <a:pt x="829" y="261"/>
                  <a:pt x="944" y="303"/>
                </a:cubicBezTo>
                <a:cubicBezTo>
                  <a:pt x="1059" y="345"/>
                  <a:pt x="1188" y="411"/>
                  <a:pt x="1274" y="446"/>
                </a:cubicBezTo>
                <a:cubicBezTo>
                  <a:pt x="1360" y="481"/>
                  <a:pt x="1400" y="504"/>
                  <a:pt x="1461" y="511"/>
                </a:cubicBezTo>
                <a:cubicBezTo>
                  <a:pt x="1522" y="518"/>
                  <a:pt x="1573" y="517"/>
                  <a:pt x="1641" y="489"/>
                </a:cubicBezTo>
                <a:cubicBezTo>
                  <a:pt x="1709" y="461"/>
                  <a:pt x="1799" y="389"/>
                  <a:pt x="1872" y="345"/>
                </a:cubicBezTo>
                <a:cubicBezTo>
                  <a:pt x="1945" y="301"/>
                  <a:pt x="2009" y="258"/>
                  <a:pt x="2080" y="223"/>
                </a:cubicBezTo>
                <a:cubicBezTo>
                  <a:pt x="2151" y="188"/>
                  <a:pt x="2213" y="167"/>
                  <a:pt x="2298" y="137"/>
                </a:cubicBezTo>
                <a:cubicBezTo>
                  <a:pt x="2383" y="107"/>
                  <a:pt x="2483" y="65"/>
                  <a:pt x="2589" y="42"/>
                </a:cubicBezTo>
                <a:cubicBezTo>
                  <a:pt x="2695" y="19"/>
                  <a:pt x="2862" y="9"/>
                  <a:pt x="2934" y="0"/>
                </a:cubicBezTo>
              </a:path>
            </a:pathLst>
          </a:custGeom>
          <a:noFill/>
          <a:ln w="28575" cmpd="sng">
            <a:solidFill>
              <a:srgbClr val="9999FF"/>
            </a:solidFill>
            <a:round/>
            <a:headEnd/>
            <a:tailEnd/>
          </a:ln>
        </p:spPr>
        <p:txBody>
          <a:bodyPr/>
          <a:lstStyle/>
          <a:p>
            <a:endParaRPr lang="en-US"/>
          </a:p>
        </p:txBody>
      </p:sp>
      <p:grpSp>
        <p:nvGrpSpPr>
          <p:cNvPr id="84999" name="Group 30"/>
          <p:cNvGrpSpPr>
            <a:grpSpLocks/>
          </p:cNvGrpSpPr>
          <p:nvPr/>
        </p:nvGrpSpPr>
        <p:grpSpPr bwMode="auto">
          <a:xfrm>
            <a:off x="4003675" y="2471738"/>
            <a:ext cx="1243013" cy="1179512"/>
            <a:chOff x="3207" y="1283"/>
            <a:chExt cx="783" cy="743"/>
          </a:xfrm>
        </p:grpSpPr>
        <p:sp>
          <p:nvSpPr>
            <p:cNvPr id="85037" name="AutoShape 31"/>
            <p:cNvSpPr>
              <a:spLocks noChangeArrowheads="1"/>
            </p:cNvSpPr>
            <p:nvPr/>
          </p:nvSpPr>
          <p:spPr bwMode="auto">
            <a:xfrm>
              <a:off x="3207" y="1628"/>
              <a:ext cx="243" cy="398"/>
            </a:xfrm>
            <a:custGeom>
              <a:avLst/>
              <a:gdLst>
                <a:gd name="T0" fmla="*/ 170 w 21600"/>
                <a:gd name="T1" fmla="*/ 0 h 21600"/>
                <a:gd name="T2" fmla="*/ 170 w 21600"/>
                <a:gd name="T3" fmla="*/ 224 h 21600"/>
                <a:gd name="T4" fmla="*/ 36 w 21600"/>
                <a:gd name="T5" fmla="*/ 398 h 21600"/>
                <a:gd name="T6" fmla="*/ 243 w 21600"/>
                <a:gd name="T7" fmla="*/ 112 h 21600"/>
                <a:gd name="T8" fmla="*/ 17694720 60000 65536"/>
                <a:gd name="T9" fmla="*/ 5898240 60000 65536"/>
                <a:gd name="T10" fmla="*/ 5898240 60000 65536"/>
                <a:gd name="T11" fmla="*/ 0 60000 65536"/>
                <a:gd name="T12" fmla="*/ 12444 w 21600"/>
                <a:gd name="T13" fmla="*/ 2931 h 21600"/>
                <a:gd name="T14" fmla="*/ 18222 w 21600"/>
                <a:gd name="T15" fmla="*/ 922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9999FF"/>
            </a:solidFill>
            <a:ln w="9525">
              <a:solidFill>
                <a:schemeClr val="tx1"/>
              </a:solidFill>
              <a:miter lim="800000"/>
              <a:headEnd/>
              <a:tailEnd/>
            </a:ln>
          </p:spPr>
          <p:txBody>
            <a:bodyPr wrap="none" anchor="ctr"/>
            <a:lstStyle/>
            <a:p>
              <a:endParaRPr lang="en-US"/>
            </a:p>
          </p:txBody>
        </p:sp>
        <p:sp>
          <p:nvSpPr>
            <p:cNvPr id="85038" name="Text Box 32"/>
            <p:cNvSpPr txBox="1">
              <a:spLocks noChangeArrowheads="1"/>
            </p:cNvSpPr>
            <p:nvPr/>
          </p:nvSpPr>
          <p:spPr bwMode="auto">
            <a:xfrm>
              <a:off x="3207" y="1283"/>
              <a:ext cx="783" cy="404"/>
            </a:xfrm>
            <a:prstGeom prst="rect">
              <a:avLst/>
            </a:prstGeom>
            <a:noFill/>
            <a:ln w="9525">
              <a:noFill/>
              <a:miter lim="800000"/>
              <a:headEnd/>
              <a:tailEnd/>
            </a:ln>
          </p:spPr>
          <p:txBody>
            <a:bodyPr>
              <a:spAutoFit/>
            </a:bodyPr>
            <a:lstStyle/>
            <a:p>
              <a:pPr>
                <a:spcBef>
                  <a:spcPct val="50000"/>
                </a:spcBef>
              </a:pPr>
              <a:r>
                <a:rPr lang="en-AU" i="0">
                  <a:solidFill>
                    <a:schemeClr val="tx1"/>
                  </a:solidFill>
                </a:rPr>
                <a:t>Discharge Volume</a:t>
              </a:r>
              <a:endParaRPr lang="en-US" i="0">
                <a:solidFill>
                  <a:schemeClr val="tx1"/>
                </a:solidFill>
              </a:endParaRPr>
            </a:p>
          </p:txBody>
        </p:sp>
      </p:grpSp>
      <p:grpSp>
        <p:nvGrpSpPr>
          <p:cNvPr id="110625" name="Group 33"/>
          <p:cNvGrpSpPr>
            <a:grpSpLocks/>
          </p:cNvGrpSpPr>
          <p:nvPr/>
        </p:nvGrpSpPr>
        <p:grpSpPr bwMode="auto">
          <a:xfrm>
            <a:off x="5710238" y="2965450"/>
            <a:ext cx="755650" cy="979488"/>
            <a:chOff x="4757" y="1415"/>
            <a:chExt cx="476" cy="617"/>
          </a:xfrm>
        </p:grpSpPr>
        <p:grpSp>
          <p:nvGrpSpPr>
            <p:cNvPr id="85013" name="Group 34"/>
            <p:cNvGrpSpPr>
              <a:grpSpLocks/>
            </p:cNvGrpSpPr>
            <p:nvPr/>
          </p:nvGrpSpPr>
          <p:grpSpPr bwMode="auto">
            <a:xfrm>
              <a:off x="4757" y="1417"/>
              <a:ext cx="244" cy="615"/>
              <a:chOff x="1133" y="1419"/>
              <a:chExt cx="244" cy="615"/>
            </a:xfrm>
          </p:grpSpPr>
          <p:sp>
            <p:nvSpPr>
              <p:cNvPr id="85032" name="Freeform 35"/>
              <p:cNvSpPr>
                <a:spLocks/>
              </p:cNvSpPr>
              <p:nvPr/>
            </p:nvSpPr>
            <p:spPr bwMode="auto">
              <a:xfrm>
                <a:off x="1185" y="1452"/>
                <a:ext cx="162" cy="582"/>
              </a:xfrm>
              <a:custGeom>
                <a:avLst/>
                <a:gdLst>
                  <a:gd name="T0" fmla="*/ 54 w 162"/>
                  <a:gd name="T1" fmla="*/ 582 h 582"/>
                  <a:gd name="T2" fmla="*/ 42 w 162"/>
                  <a:gd name="T3" fmla="*/ 507 h 582"/>
                  <a:gd name="T4" fmla="*/ 51 w 162"/>
                  <a:gd name="T5" fmla="*/ 423 h 582"/>
                  <a:gd name="T6" fmla="*/ 42 w 162"/>
                  <a:gd name="T7" fmla="*/ 390 h 582"/>
                  <a:gd name="T8" fmla="*/ 33 w 162"/>
                  <a:gd name="T9" fmla="*/ 378 h 582"/>
                  <a:gd name="T10" fmla="*/ 48 w 162"/>
                  <a:gd name="T11" fmla="*/ 330 h 582"/>
                  <a:gd name="T12" fmla="*/ 57 w 162"/>
                  <a:gd name="T13" fmla="*/ 297 h 582"/>
                  <a:gd name="T14" fmla="*/ 63 w 162"/>
                  <a:gd name="T15" fmla="*/ 231 h 582"/>
                  <a:gd name="T16" fmla="*/ 57 w 162"/>
                  <a:gd name="T17" fmla="*/ 147 h 582"/>
                  <a:gd name="T18" fmla="*/ 21 w 162"/>
                  <a:gd name="T19" fmla="*/ 99 h 582"/>
                  <a:gd name="T20" fmla="*/ 0 w 162"/>
                  <a:gd name="T21" fmla="*/ 72 h 582"/>
                  <a:gd name="T22" fmla="*/ 54 w 162"/>
                  <a:gd name="T23" fmla="*/ 105 h 582"/>
                  <a:gd name="T24" fmla="*/ 57 w 162"/>
                  <a:gd name="T25" fmla="*/ 87 h 582"/>
                  <a:gd name="T26" fmla="*/ 63 w 162"/>
                  <a:gd name="T27" fmla="*/ 0 h 582"/>
                  <a:gd name="T28" fmla="*/ 78 w 162"/>
                  <a:gd name="T29" fmla="*/ 39 h 582"/>
                  <a:gd name="T30" fmla="*/ 78 w 162"/>
                  <a:gd name="T31" fmla="*/ 126 h 582"/>
                  <a:gd name="T32" fmla="*/ 90 w 162"/>
                  <a:gd name="T33" fmla="*/ 72 h 582"/>
                  <a:gd name="T34" fmla="*/ 108 w 162"/>
                  <a:gd name="T35" fmla="*/ 72 h 582"/>
                  <a:gd name="T36" fmla="*/ 93 w 162"/>
                  <a:gd name="T37" fmla="*/ 135 h 582"/>
                  <a:gd name="T38" fmla="*/ 162 w 162"/>
                  <a:gd name="T39" fmla="*/ 84 h 582"/>
                  <a:gd name="T40" fmla="*/ 153 w 162"/>
                  <a:gd name="T41" fmla="*/ 120 h 582"/>
                  <a:gd name="T42" fmla="*/ 75 w 162"/>
                  <a:gd name="T43" fmla="*/ 165 h 582"/>
                  <a:gd name="T44" fmla="*/ 75 w 162"/>
                  <a:gd name="T45" fmla="*/ 300 h 582"/>
                  <a:gd name="T46" fmla="*/ 99 w 162"/>
                  <a:gd name="T47" fmla="*/ 381 h 582"/>
                  <a:gd name="T48" fmla="*/ 84 w 162"/>
                  <a:gd name="T49" fmla="*/ 414 h 582"/>
                  <a:gd name="T50" fmla="*/ 99 w 162"/>
                  <a:gd name="T51" fmla="*/ 453 h 582"/>
                  <a:gd name="T52" fmla="*/ 135 w 162"/>
                  <a:gd name="T53" fmla="*/ 486 h 582"/>
                  <a:gd name="T54" fmla="*/ 132 w 162"/>
                  <a:gd name="T55" fmla="*/ 510 h 582"/>
                  <a:gd name="T56" fmla="*/ 102 w 162"/>
                  <a:gd name="T57" fmla="*/ 468 h 582"/>
                  <a:gd name="T58" fmla="*/ 69 w 162"/>
                  <a:gd name="T59" fmla="*/ 414 h 582"/>
                  <a:gd name="T60" fmla="*/ 63 w 162"/>
                  <a:gd name="T61" fmla="*/ 456 h 582"/>
                  <a:gd name="T62" fmla="*/ 75 w 162"/>
                  <a:gd name="T63" fmla="*/ 492 h 582"/>
                  <a:gd name="T64" fmla="*/ 96 w 162"/>
                  <a:gd name="T65" fmla="*/ 513 h 582"/>
                  <a:gd name="T66" fmla="*/ 78 w 162"/>
                  <a:gd name="T67" fmla="*/ 519 h 582"/>
                  <a:gd name="T68" fmla="*/ 60 w 162"/>
                  <a:gd name="T69" fmla="*/ 486 h 582"/>
                  <a:gd name="T70" fmla="*/ 54 w 162"/>
                  <a:gd name="T71" fmla="*/ 522 h 582"/>
                  <a:gd name="T72" fmla="*/ 54 w 162"/>
                  <a:gd name="T73" fmla="*/ 582 h 58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2"/>
                  <a:gd name="T112" fmla="*/ 0 h 582"/>
                  <a:gd name="T113" fmla="*/ 162 w 162"/>
                  <a:gd name="T114" fmla="*/ 582 h 58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2" h="582">
                    <a:moveTo>
                      <a:pt x="54" y="582"/>
                    </a:moveTo>
                    <a:lnTo>
                      <a:pt x="42" y="507"/>
                    </a:lnTo>
                    <a:lnTo>
                      <a:pt x="51" y="423"/>
                    </a:lnTo>
                    <a:lnTo>
                      <a:pt x="42" y="390"/>
                    </a:lnTo>
                    <a:lnTo>
                      <a:pt x="33" y="378"/>
                    </a:ln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84" y="414"/>
                    </a:lnTo>
                    <a:lnTo>
                      <a:pt x="99" y="453"/>
                    </a:lnTo>
                    <a:lnTo>
                      <a:pt x="135" y="486"/>
                    </a:lnTo>
                    <a:lnTo>
                      <a:pt x="132" y="510"/>
                    </a:lnTo>
                    <a:lnTo>
                      <a:pt x="102" y="468"/>
                    </a:lnTo>
                    <a:lnTo>
                      <a:pt x="69" y="414"/>
                    </a:lnTo>
                    <a:lnTo>
                      <a:pt x="63" y="456"/>
                    </a:lnTo>
                    <a:lnTo>
                      <a:pt x="75" y="492"/>
                    </a:lnTo>
                    <a:lnTo>
                      <a:pt x="96" y="513"/>
                    </a:lnTo>
                    <a:lnTo>
                      <a:pt x="78" y="519"/>
                    </a:lnTo>
                    <a:lnTo>
                      <a:pt x="60" y="486"/>
                    </a:lnTo>
                    <a:lnTo>
                      <a:pt x="54" y="522"/>
                    </a:lnTo>
                    <a:lnTo>
                      <a:pt x="54" y="582"/>
                    </a:lnTo>
                    <a:close/>
                  </a:path>
                </a:pathLst>
              </a:custGeom>
              <a:solidFill>
                <a:schemeClr val="bg2"/>
              </a:solidFill>
              <a:ln w="9525">
                <a:noFill/>
                <a:round/>
                <a:headEnd/>
                <a:tailEnd/>
              </a:ln>
            </p:spPr>
            <p:txBody>
              <a:bodyPr/>
              <a:lstStyle/>
              <a:p>
                <a:endParaRPr lang="en-US"/>
              </a:p>
            </p:txBody>
          </p:sp>
          <p:sp>
            <p:nvSpPr>
              <p:cNvPr id="85033" name="Freeform 36"/>
              <p:cNvSpPr>
                <a:spLocks/>
              </p:cNvSpPr>
              <p:nvPr/>
            </p:nvSpPr>
            <p:spPr bwMode="auto">
              <a:xfrm>
                <a:off x="1133" y="1484"/>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5034" name="Freeform 37"/>
              <p:cNvSpPr>
                <a:spLocks/>
              </p:cNvSpPr>
              <p:nvPr/>
            </p:nvSpPr>
            <p:spPr bwMode="auto">
              <a:xfrm>
                <a:off x="1176" y="1419"/>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5035" name="Freeform 38"/>
              <p:cNvSpPr>
                <a:spLocks/>
              </p:cNvSpPr>
              <p:nvPr/>
            </p:nvSpPr>
            <p:spPr bwMode="auto">
              <a:xfrm>
                <a:off x="1249" y="1477"/>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5036" name="Freeform 39"/>
              <p:cNvSpPr>
                <a:spLocks/>
              </p:cNvSpPr>
              <p:nvPr/>
            </p:nvSpPr>
            <p:spPr bwMode="auto">
              <a:xfrm>
                <a:off x="1283" y="1547"/>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85014" name="Group 40"/>
            <p:cNvGrpSpPr>
              <a:grpSpLocks/>
            </p:cNvGrpSpPr>
            <p:nvPr/>
          </p:nvGrpSpPr>
          <p:grpSpPr bwMode="auto">
            <a:xfrm>
              <a:off x="4896" y="1415"/>
              <a:ext cx="244" cy="414"/>
              <a:chOff x="1164" y="1150"/>
              <a:chExt cx="244" cy="414"/>
            </a:xfrm>
          </p:grpSpPr>
          <p:sp>
            <p:nvSpPr>
              <p:cNvPr id="85027" name="Freeform 41"/>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85028" name="Freeform 42"/>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5029" name="Freeform 43"/>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5030" name="Freeform 44"/>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5031" name="Freeform 45"/>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85015" name="Group 46"/>
            <p:cNvGrpSpPr>
              <a:grpSpLocks/>
            </p:cNvGrpSpPr>
            <p:nvPr/>
          </p:nvGrpSpPr>
          <p:grpSpPr bwMode="auto">
            <a:xfrm>
              <a:off x="4881" y="1612"/>
              <a:ext cx="118" cy="183"/>
              <a:chOff x="1164" y="1150"/>
              <a:chExt cx="244" cy="414"/>
            </a:xfrm>
          </p:grpSpPr>
          <p:sp>
            <p:nvSpPr>
              <p:cNvPr id="85022" name="Freeform 47"/>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85023" name="Freeform 48"/>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5024" name="Freeform 49"/>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5025" name="Freeform 50"/>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5026" name="Freeform 51"/>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85016" name="Group 52"/>
            <p:cNvGrpSpPr>
              <a:grpSpLocks/>
            </p:cNvGrpSpPr>
            <p:nvPr/>
          </p:nvGrpSpPr>
          <p:grpSpPr bwMode="auto">
            <a:xfrm>
              <a:off x="5028" y="1469"/>
              <a:ext cx="205" cy="342"/>
              <a:chOff x="1164" y="1150"/>
              <a:chExt cx="244" cy="414"/>
            </a:xfrm>
          </p:grpSpPr>
          <p:sp>
            <p:nvSpPr>
              <p:cNvPr id="85017" name="Freeform 53"/>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85018" name="Freeform 54"/>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5019" name="Freeform 55"/>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5020" name="Freeform 56"/>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5021" name="Freeform 57"/>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110650" name="Group 58"/>
          <p:cNvGrpSpPr>
            <a:grpSpLocks/>
          </p:cNvGrpSpPr>
          <p:nvPr/>
        </p:nvGrpSpPr>
        <p:grpSpPr bwMode="auto">
          <a:xfrm>
            <a:off x="2890838" y="4451350"/>
            <a:ext cx="1649412" cy="1951038"/>
            <a:chOff x="2506" y="2530"/>
            <a:chExt cx="1039" cy="1229"/>
          </a:xfrm>
        </p:grpSpPr>
        <p:sp>
          <p:nvSpPr>
            <p:cNvPr id="85010" name="Oval 59"/>
            <p:cNvSpPr>
              <a:spLocks noChangeArrowheads="1"/>
            </p:cNvSpPr>
            <p:nvPr/>
          </p:nvSpPr>
          <p:spPr bwMode="auto">
            <a:xfrm>
              <a:off x="3064" y="2530"/>
              <a:ext cx="481" cy="730"/>
            </a:xfrm>
            <a:prstGeom prst="ellipse">
              <a:avLst/>
            </a:prstGeom>
            <a:noFill/>
            <a:ln w="28575">
              <a:solidFill>
                <a:srgbClr val="FF3300"/>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85011" name="Text Box 60"/>
            <p:cNvSpPr txBox="1">
              <a:spLocks noChangeArrowheads="1"/>
            </p:cNvSpPr>
            <p:nvPr/>
          </p:nvSpPr>
          <p:spPr bwMode="auto">
            <a:xfrm>
              <a:off x="2506" y="3355"/>
              <a:ext cx="909" cy="404"/>
            </a:xfrm>
            <a:prstGeom prst="rect">
              <a:avLst/>
            </a:prstGeom>
            <a:noFill/>
            <a:ln w="9525">
              <a:noFill/>
              <a:miter lim="800000"/>
              <a:headEnd/>
              <a:tailEnd/>
            </a:ln>
          </p:spPr>
          <p:txBody>
            <a:bodyPr>
              <a:spAutoFit/>
            </a:bodyPr>
            <a:lstStyle/>
            <a:p>
              <a:pPr>
                <a:spcBef>
                  <a:spcPct val="50000"/>
                </a:spcBef>
              </a:pPr>
              <a:r>
                <a:rPr lang="en-AU" i="0">
                  <a:solidFill>
                    <a:schemeClr val="tx1"/>
                  </a:solidFill>
                </a:rPr>
                <a:t>Well hydraulics</a:t>
              </a:r>
              <a:endParaRPr lang="en-US" i="0">
                <a:solidFill>
                  <a:schemeClr val="tx1"/>
                </a:solidFill>
              </a:endParaRPr>
            </a:p>
          </p:txBody>
        </p:sp>
        <p:sp>
          <p:nvSpPr>
            <p:cNvPr id="85012" name="Line 61"/>
            <p:cNvSpPr>
              <a:spLocks noChangeShapeType="1"/>
            </p:cNvSpPr>
            <p:nvPr/>
          </p:nvSpPr>
          <p:spPr bwMode="auto">
            <a:xfrm flipV="1">
              <a:off x="2904" y="3201"/>
              <a:ext cx="243" cy="219"/>
            </a:xfrm>
            <a:prstGeom prst="line">
              <a:avLst/>
            </a:prstGeom>
            <a:noFill/>
            <a:ln w="9525">
              <a:solidFill>
                <a:schemeClr val="tx1"/>
              </a:solidFill>
              <a:round/>
              <a:headEnd/>
              <a:tailEnd type="triangle" w="med" len="med"/>
            </a:ln>
          </p:spPr>
          <p:txBody>
            <a:bodyPr/>
            <a:lstStyle/>
            <a:p>
              <a:endParaRPr lang="en-US"/>
            </a:p>
          </p:txBody>
        </p:sp>
      </p:grpSp>
      <p:grpSp>
        <p:nvGrpSpPr>
          <p:cNvPr id="110654" name="Group 62"/>
          <p:cNvGrpSpPr>
            <a:grpSpLocks/>
          </p:cNvGrpSpPr>
          <p:nvPr/>
        </p:nvGrpSpPr>
        <p:grpSpPr bwMode="auto">
          <a:xfrm>
            <a:off x="3295650" y="4232275"/>
            <a:ext cx="3903663" cy="973138"/>
            <a:chOff x="2761" y="2392"/>
            <a:chExt cx="2459" cy="613"/>
          </a:xfrm>
        </p:grpSpPr>
        <p:grpSp>
          <p:nvGrpSpPr>
            <p:cNvPr id="85003" name="Group 63"/>
            <p:cNvGrpSpPr>
              <a:grpSpLocks/>
            </p:cNvGrpSpPr>
            <p:nvPr/>
          </p:nvGrpSpPr>
          <p:grpSpPr bwMode="auto">
            <a:xfrm>
              <a:off x="2761" y="2392"/>
              <a:ext cx="1097" cy="374"/>
              <a:chOff x="2761" y="2392"/>
              <a:chExt cx="1097" cy="374"/>
            </a:xfrm>
          </p:grpSpPr>
          <p:sp>
            <p:nvSpPr>
              <p:cNvPr id="85006" name="AutoShape 64"/>
              <p:cNvSpPr>
                <a:spLocks noChangeArrowheads="1"/>
              </p:cNvSpPr>
              <p:nvPr/>
            </p:nvSpPr>
            <p:spPr bwMode="auto">
              <a:xfrm>
                <a:off x="2761" y="2542"/>
                <a:ext cx="95" cy="172"/>
              </a:xfrm>
              <a:prstGeom prst="upDownArrow">
                <a:avLst>
                  <a:gd name="adj1" fmla="val 50000"/>
                  <a:gd name="adj2" fmla="val 36211"/>
                </a:avLst>
              </a:prstGeom>
              <a:solidFill>
                <a:srgbClr val="FF9933"/>
              </a:solidFill>
              <a:ln w="9525">
                <a:solidFill>
                  <a:schemeClr val="tx1"/>
                </a:solid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sp>
            <p:nvSpPr>
              <p:cNvPr id="85007" name="AutoShape 65"/>
              <p:cNvSpPr>
                <a:spLocks noChangeArrowheads="1"/>
              </p:cNvSpPr>
              <p:nvPr/>
            </p:nvSpPr>
            <p:spPr bwMode="auto">
              <a:xfrm>
                <a:off x="3526" y="2493"/>
                <a:ext cx="95" cy="172"/>
              </a:xfrm>
              <a:prstGeom prst="upDownArrow">
                <a:avLst>
                  <a:gd name="adj1" fmla="val 50000"/>
                  <a:gd name="adj2" fmla="val 36211"/>
                </a:avLst>
              </a:prstGeom>
              <a:solidFill>
                <a:srgbClr val="FF9933"/>
              </a:solidFill>
              <a:ln w="9525">
                <a:solidFill>
                  <a:schemeClr val="tx1"/>
                </a:solid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sp>
            <p:nvSpPr>
              <p:cNvPr id="85008" name="AutoShape 66"/>
              <p:cNvSpPr>
                <a:spLocks noChangeArrowheads="1"/>
              </p:cNvSpPr>
              <p:nvPr/>
            </p:nvSpPr>
            <p:spPr bwMode="auto">
              <a:xfrm>
                <a:off x="3056" y="2594"/>
                <a:ext cx="95" cy="172"/>
              </a:xfrm>
              <a:prstGeom prst="upDownArrow">
                <a:avLst>
                  <a:gd name="adj1" fmla="val 50000"/>
                  <a:gd name="adj2" fmla="val 36211"/>
                </a:avLst>
              </a:prstGeom>
              <a:solidFill>
                <a:srgbClr val="FF9933"/>
              </a:solidFill>
              <a:ln w="9525">
                <a:solidFill>
                  <a:schemeClr val="tx1"/>
                </a:solid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sp>
            <p:nvSpPr>
              <p:cNvPr id="85009" name="AutoShape 67"/>
              <p:cNvSpPr>
                <a:spLocks noChangeArrowheads="1"/>
              </p:cNvSpPr>
              <p:nvPr/>
            </p:nvSpPr>
            <p:spPr bwMode="auto">
              <a:xfrm>
                <a:off x="3763" y="2392"/>
                <a:ext cx="95" cy="172"/>
              </a:xfrm>
              <a:prstGeom prst="upDownArrow">
                <a:avLst>
                  <a:gd name="adj1" fmla="val 50000"/>
                  <a:gd name="adj2" fmla="val 36211"/>
                </a:avLst>
              </a:prstGeom>
              <a:solidFill>
                <a:srgbClr val="FF9933"/>
              </a:solidFill>
              <a:ln w="9525">
                <a:solidFill>
                  <a:schemeClr val="tx1"/>
                </a:solid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grpSp>
        <p:sp>
          <p:nvSpPr>
            <p:cNvPr id="85004" name="Text Box 68"/>
            <p:cNvSpPr txBox="1">
              <a:spLocks noChangeArrowheads="1"/>
            </p:cNvSpPr>
            <p:nvPr/>
          </p:nvSpPr>
          <p:spPr bwMode="auto">
            <a:xfrm>
              <a:off x="3883" y="2601"/>
              <a:ext cx="1337" cy="404"/>
            </a:xfrm>
            <a:prstGeom prst="rect">
              <a:avLst/>
            </a:prstGeom>
            <a:noFill/>
            <a:ln w="9525">
              <a:noFill/>
              <a:miter lim="800000"/>
              <a:headEnd/>
              <a:tailEnd/>
            </a:ln>
          </p:spPr>
          <p:txBody>
            <a:bodyPr>
              <a:spAutoFit/>
            </a:bodyPr>
            <a:lstStyle/>
            <a:p>
              <a:pPr>
                <a:spcBef>
                  <a:spcPct val="50000"/>
                </a:spcBef>
              </a:pPr>
              <a:r>
                <a:rPr lang="en-AU" i="0">
                  <a:solidFill>
                    <a:schemeClr val="tx1"/>
                  </a:solidFill>
                </a:rPr>
                <a:t>Leakage impacts on water quality</a:t>
              </a:r>
              <a:endParaRPr lang="en-US" i="0">
                <a:solidFill>
                  <a:schemeClr val="tx1"/>
                </a:solidFill>
              </a:endParaRPr>
            </a:p>
          </p:txBody>
        </p:sp>
        <p:sp>
          <p:nvSpPr>
            <p:cNvPr id="85005" name="Line 69"/>
            <p:cNvSpPr>
              <a:spLocks noChangeShapeType="1"/>
            </p:cNvSpPr>
            <p:nvPr/>
          </p:nvSpPr>
          <p:spPr bwMode="auto">
            <a:xfrm flipH="1" flipV="1">
              <a:off x="3610" y="2607"/>
              <a:ext cx="238" cy="77"/>
            </a:xfrm>
            <a:prstGeom prst="line">
              <a:avLst/>
            </a:prstGeom>
            <a:noFill/>
            <a:ln w="9525">
              <a:solidFill>
                <a:schemeClr val="tx1"/>
              </a:solidFill>
              <a:round/>
              <a:headEnd/>
              <a:tailEnd type="triangle" w="med" len="med"/>
            </a:ln>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10607"/>
                                        </p:tgtEl>
                                        <p:attrNameLst>
                                          <p:attrName>style.visibility</p:attrName>
                                        </p:attrNameLst>
                                      </p:cBhvr>
                                      <p:to>
                                        <p:strVal val="visible"/>
                                      </p:to>
                                    </p:set>
                                    <p:animEffect transition="in" filter="dissolve">
                                      <p:cBhvr>
                                        <p:cTn id="7" dur="500"/>
                                        <p:tgtEl>
                                          <p:spTgt spid="1106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10650"/>
                                        </p:tgtEl>
                                        <p:attrNameLst>
                                          <p:attrName>style.visibility</p:attrName>
                                        </p:attrNameLst>
                                      </p:cBhvr>
                                      <p:to>
                                        <p:strVal val="visible"/>
                                      </p:to>
                                    </p:set>
                                    <p:animEffect transition="in" filter="dissolve">
                                      <p:cBhvr>
                                        <p:cTn id="12" dur="500"/>
                                        <p:tgtEl>
                                          <p:spTgt spid="1106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0620"/>
                                        </p:tgtEl>
                                        <p:attrNameLst>
                                          <p:attrName>style.visibility</p:attrName>
                                        </p:attrNameLst>
                                      </p:cBhvr>
                                      <p:to>
                                        <p:strVal val="visible"/>
                                      </p:to>
                                    </p:set>
                                    <p:animEffect transition="in" filter="dissolve">
                                      <p:cBhvr>
                                        <p:cTn id="17" dur="500"/>
                                        <p:tgtEl>
                                          <p:spTgt spid="1106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10654"/>
                                        </p:tgtEl>
                                        <p:attrNameLst>
                                          <p:attrName>style.visibility</p:attrName>
                                        </p:attrNameLst>
                                      </p:cBhvr>
                                      <p:to>
                                        <p:strVal val="visible"/>
                                      </p:to>
                                    </p:set>
                                    <p:animEffect transition="in" filter="dissolve">
                                      <p:cBhvr>
                                        <p:cTn id="22" dur="500"/>
                                        <p:tgtEl>
                                          <p:spTgt spid="11065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10610"/>
                                        </p:tgtEl>
                                        <p:attrNameLst>
                                          <p:attrName>style.visibility</p:attrName>
                                        </p:attrNameLst>
                                      </p:cBhvr>
                                      <p:to>
                                        <p:strVal val="visible"/>
                                      </p:to>
                                    </p:set>
                                    <p:animEffect transition="in" filter="dissolve">
                                      <p:cBhvr>
                                        <p:cTn id="27" dur="500"/>
                                        <p:tgtEl>
                                          <p:spTgt spid="11061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110625"/>
                                        </p:tgtEl>
                                        <p:attrNameLst>
                                          <p:attrName>style.visibility</p:attrName>
                                        </p:attrNameLst>
                                      </p:cBhvr>
                                      <p:to>
                                        <p:strVal val="visible"/>
                                      </p:to>
                                    </p:set>
                                    <p:animEffect transition="in" filter="dissolve">
                                      <p:cBhvr>
                                        <p:cTn id="32" dur="500"/>
                                        <p:tgtEl>
                                          <p:spTgt spid="1106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2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noChangeArrowheads="1"/>
          </p:cNvSpPr>
          <p:nvPr>
            <p:ph type="title"/>
          </p:nvPr>
        </p:nvSpPr>
        <p:spPr>
          <a:xfrm>
            <a:off x="438150" y="806450"/>
            <a:ext cx="6407150" cy="493713"/>
          </a:xfrm>
        </p:spPr>
        <p:txBody>
          <a:bodyPr/>
          <a:lstStyle/>
          <a:p>
            <a:r>
              <a:rPr lang="en-AU" smtClean="0"/>
              <a:t>Wetland / Waterway Protection</a:t>
            </a:r>
            <a:endParaRPr lang="en-US" smtClean="0"/>
          </a:p>
        </p:txBody>
      </p:sp>
      <p:sp>
        <p:nvSpPr>
          <p:cNvPr id="87042" name="Freeform 8" descr="Dashed upward diagonal"/>
          <p:cNvSpPr>
            <a:spLocks/>
          </p:cNvSpPr>
          <p:nvPr/>
        </p:nvSpPr>
        <p:spPr bwMode="auto">
          <a:xfrm>
            <a:off x="430213" y="1547813"/>
            <a:ext cx="3149600" cy="4732337"/>
          </a:xfrm>
          <a:custGeom>
            <a:avLst/>
            <a:gdLst>
              <a:gd name="T0" fmla="*/ 0 w 1984"/>
              <a:gd name="T1" fmla="*/ 4562475 h 2981"/>
              <a:gd name="T2" fmla="*/ 3149600 w 1984"/>
              <a:gd name="T3" fmla="*/ 0 h 2981"/>
              <a:gd name="T4" fmla="*/ 2903538 w 1984"/>
              <a:gd name="T5" fmla="*/ 4732337 h 2981"/>
              <a:gd name="T6" fmla="*/ 2838450 w 1984"/>
              <a:gd name="T7" fmla="*/ 4467225 h 2981"/>
              <a:gd name="T8" fmla="*/ 2838450 w 1984"/>
              <a:gd name="T9" fmla="*/ 4184650 h 2981"/>
              <a:gd name="T10" fmla="*/ 2867025 w 1984"/>
              <a:gd name="T11" fmla="*/ 3949700 h 2981"/>
              <a:gd name="T12" fmla="*/ 2697163 w 1984"/>
              <a:gd name="T13" fmla="*/ 3760787 h 2981"/>
              <a:gd name="T14" fmla="*/ 2451100 w 1984"/>
              <a:gd name="T15" fmla="*/ 3552825 h 2981"/>
              <a:gd name="T16" fmla="*/ 2376488 w 1984"/>
              <a:gd name="T17" fmla="*/ 3243262 h 2981"/>
              <a:gd name="T18" fmla="*/ 2479675 w 1984"/>
              <a:gd name="T19" fmla="*/ 2798762 h 2981"/>
              <a:gd name="T20" fmla="*/ 2630488 w 1984"/>
              <a:gd name="T21" fmla="*/ 2451100 h 2981"/>
              <a:gd name="T22" fmla="*/ 2809875 w 1984"/>
              <a:gd name="T23" fmla="*/ 2168525 h 2981"/>
              <a:gd name="T24" fmla="*/ 2960688 w 1984"/>
              <a:gd name="T25" fmla="*/ 1951037 h 2981"/>
              <a:gd name="T26" fmla="*/ 3054350 w 1984"/>
              <a:gd name="T27" fmla="*/ 1743075 h 2981"/>
              <a:gd name="T28" fmla="*/ 3008313 w 1984"/>
              <a:gd name="T29" fmla="*/ 1422400 h 2981"/>
              <a:gd name="T30" fmla="*/ 2867025 w 1984"/>
              <a:gd name="T31" fmla="*/ 1046162 h 2981"/>
              <a:gd name="T32" fmla="*/ 2743200 w 1984"/>
              <a:gd name="T33" fmla="*/ 838200 h 2981"/>
              <a:gd name="T34" fmla="*/ 2743200 w 1984"/>
              <a:gd name="T35" fmla="*/ 631825 h 2981"/>
              <a:gd name="T36" fmla="*/ 2752725 w 1984"/>
              <a:gd name="T37" fmla="*/ 395287 h 2981"/>
              <a:gd name="T38" fmla="*/ 2582863 w 1984"/>
              <a:gd name="T39" fmla="*/ 311150 h 2981"/>
              <a:gd name="T40" fmla="*/ 2338388 w 1984"/>
              <a:gd name="T41" fmla="*/ 282575 h 2981"/>
              <a:gd name="T42" fmla="*/ 2046288 w 1984"/>
              <a:gd name="T43" fmla="*/ 347662 h 2981"/>
              <a:gd name="T44" fmla="*/ 1801813 w 1984"/>
              <a:gd name="T45" fmla="*/ 481012 h 2981"/>
              <a:gd name="T46" fmla="*/ 1565275 w 1984"/>
              <a:gd name="T47" fmla="*/ 481012 h 2981"/>
              <a:gd name="T48" fmla="*/ 1311275 w 1984"/>
              <a:gd name="T49" fmla="*/ 376237 h 2981"/>
              <a:gd name="T50" fmla="*/ 1074738 w 1984"/>
              <a:gd name="T51" fmla="*/ 292100 h 2981"/>
              <a:gd name="T52" fmla="*/ 763588 w 1984"/>
              <a:gd name="T53" fmla="*/ 366712 h 2981"/>
              <a:gd name="T54" fmla="*/ 434975 w 1984"/>
              <a:gd name="T55" fmla="*/ 593725 h 2981"/>
              <a:gd name="T56" fmla="*/ 246063 w 1984"/>
              <a:gd name="T57" fmla="*/ 904875 h 2981"/>
              <a:gd name="T58" fmla="*/ 236538 w 1984"/>
              <a:gd name="T59" fmla="*/ 1271587 h 2981"/>
              <a:gd name="T60" fmla="*/ 293688 w 1984"/>
              <a:gd name="T61" fmla="*/ 1687513 h 2981"/>
              <a:gd name="T62" fmla="*/ 284163 w 1984"/>
              <a:gd name="T63" fmla="*/ 2082800 h 2981"/>
              <a:gd name="T64" fmla="*/ 387350 w 1984"/>
              <a:gd name="T65" fmla="*/ 2525712 h 2981"/>
              <a:gd name="T66" fmla="*/ 500063 w 1984"/>
              <a:gd name="T67" fmla="*/ 2913062 h 2981"/>
              <a:gd name="T68" fmla="*/ 490538 w 1984"/>
              <a:gd name="T69" fmla="*/ 3270250 h 2981"/>
              <a:gd name="T70" fmla="*/ 566738 w 1984"/>
              <a:gd name="T71" fmla="*/ 3525838 h 2981"/>
              <a:gd name="T72" fmla="*/ 727075 w 1984"/>
              <a:gd name="T73" fmla="*/ 3817937 h 2981"/>
              <a:gd name="T74" fmla="*/ 727075 w 1984"/>
              <a:gd name="T75" fmla="*/ 4033837 h 2981"/>
              <a:gd name="T76" fmla="*/ 509588 w 1984"/>
              <a:gd name="T77" fmla="*/ 4354512 h 2981"/>
              <a:gd name="T78" fmla="*/ 301625 w 1984"/>
              <a:gd name="T79" fmla="*/ 4562475 h 298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984"/>
              <a:gd name="T121" fmla="*/ 0 h 2981"/>
              <a:gd name="T122" fmla="*/ 1984 w 1984"/>
              <a:gd name="T123" fmla="*/ 2981 h 298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984" h="2981">
                <a:moveTo>
                  <a:pt x="190" y="2874"/>
                </a:moveTo>
                <a:lnTo>
                  <a:pt x="0" y="2874"/>
                </a:lnTo>
                <a:lnTo>
                  <a:pt x="0" y="0"/>
                </a:lnTo>
                <a:lnTo>
                  <a:pt x="1984" y="0"/>
                </a:lnTo>
                <a:lnTo>
                  <a:pt x="1984" y="2981"/>
                </a:lnTo>
                <a:lnTo>
                  <a:pt x="1829" y="2981"/>
                </a:lnTo>
                <a:lnTo>
                  <a:pt x="1788" y="2898"/>
                </a:lnTo>
                <a:lnTo>
                  <a:pt x="1788" y="2814"/>
                </a:lnTo>
                <a:lnTo>
                  <a:pt x="1788" y="2719"/>
                </a:lnTo>
                <a:lnTo>
                  <a:pt x="1788" y="2636"/>
                </a:lnTo>
                <a:lnTo>
                  <a:pt x="1794" y="2559"/>
                </a:lnTo>
                <a:lnTo>
                  <a:pt x="1806" y="2488"/>
                </a:lnTo>
                <a:lnTo>
                  <a:pt x="1776" y="2417"/>
                </a:lnTo>
                <a:lnTo>
                  <a:pt x="1699" y="2369"/>
                </a:lnTo>
                <a:lnTo>
                  <a:pt x="1610" y="2298"/>
                </a:lnTo>
                <a:lnTo>
                  <a:pt x="1544" y="2238"/>
                </a:lnTo>
                <a:lnTo>
                  <a:pt x="1515" y="2149"/>
                </a:lnTo>
                <a:lnTo>
                  <a:pt x="1497" y="2043"/>
                </a:lnTo>
                <a:lnTo>
                  <a:pt x="1497" y="1936"/>
                </a:lnTo>
                <a:lnTo>
                  <a:pt x="1562" y="1763"/>
                </a:lnTo>
                <a:lnTo>
                  <a:pt x="1610" y="1627"/>
                </a:lnTo>
                <a:lnTo>
                  <a:pt x="1657" y="1544"/>
                </a:lnTo>
                <a:lnTo>
                  <a:pt x="1699" y="1461"/>
                </a:lnTo>
                <a:lnTo>
                  <a:pt x="1770" y="1366"/>
                </a:lnTo>
                <a:lnTo>
                  <a:pt x="1829" y="1276"/>
                </a:lnTo>
                <a:lnTo>
                  <a:pt x="1865" y="1229"/>
                </a:lnTo>
                <a:lnTo>
                  <a:pt x="1918" y="1146"/>
                </a:lnTo>
                <a:lnTo>
                  <a:pt x="1924" y="1098"/>
                </a:lnTo>
                <a:lnTo>
                  <a:pt x="1924" y="1021"/>
                </a:lnTo>
                <a:lnTo>
                  <a:pt x="1895" y="896"/>
                </a:lnTo>
                <a:lnTo>
                  <a:pt x="1847" y="772"/>
                </a:lnTo>
                <a:lnTo>
                  <a:pt x="1806" y="659"/>
                </a:lnTo>
                <a:lnTo>
                  <a:pt x="1758" y="600"/>
                </a:lnTo>
                <a:lnTo>
                  <a:pt x="1728" y="528"/>
                </a:lnTo>
                <a:lnTo>
                  <a:pt x="1722" y="475"/>
                </a:lnTo>
                <a:lnTo>
                  <a:pt x="1728" y="398"/>
                </a:lnTo>
                <a:lnTo>
                  <a:pt x="1734" y="320"/>
                </a:lnTo>
                <a:lnTo>
                  <a:pt x="1734" y="249"/>
                </a:lnTo>
                <a:lnTo>
                  <a:pt x="1693" y="214"/>
                </a:lnTo>
                <a:lnTo>
                  <a:pt x="1627" y="196"/>
                </a:lnTo>
                <a:lnTo>
                  <a:pt x="1556" y="178"/>
                </a:lnTo>
                <a:lnTo>
                  <a:pt x="1473" y="178"/>
                </a:lnTo>
                <a:lnTo>
                  <a:pt x="1360" y="178"/>
                </a:lnTo>
                <a:lnTo>
                  <a:pt x="1289" y="219"/>
                </a:lnTo>
                <a:lnTo>
                  <a:pt x="1224" y="267"/>
                </a:lnTo>
                <a:lnTo>
                  <a:pt x="1135" y="303"/>
                </a:lnTo>
                <a:lnTo>
                  <a:pt x="1063" y="303"/>
                </a:lnTo>
                <a:lnTo>
                  <a:pt x="986" y="303"/>
                </a:lnTo>
                <a:lnTo>
                  <a:pt x="915" y="291"/>
                </a:lnTo>
                <a:lnTo>
                  <a:pt x="826" y="237"/>
                </a:lnTo>
                <a:lnTo>
                  <a:pt x="749" y="184"/>
                </a:lnTo>
                <a:lnTo>
                  <a:pt x="677" y="184"/>
                </a:lnTo>
                <a:lnTo>
                  <a:pt x="576" y="196"/>
                </a:lnTo>
                <a:lnTo>
                  <a:pt x="481" y="231"/>
                </a:lnTo>
                <a:lnTo>
                  <a:pt x="369" y="303"/>
                </a:lnTo>
                <a:lnTo>
                  <a:pt x="274" y="374"/>
                </a:lnTo>
                <a:lnTo>
                  <a:pt x="208" y="463"/>
                </a:lnTo>
                <a:lnTo>
                  <a:pt x="155" y="570"/>
                </a:lnTo>
                <a:lnTo>
                  <a:pt x="137" y="665"/>
                </a:lnTo>
                <a:lnTo>
                  <a:pt x="149" y="801"/>
                </a:lnTo>
                <a:lnTo>
                  <a:pt x="179" y="956"/>
                </a:lnTo>
                <a:lnTo>
                  <a:pt x="185" y="1063"/>
                </a:lnTo>
                <a:lnTo>
                  <a:pt x="185" y="1176"/>
                </a:lnTo>
                <a:lnTo>
                  <a:pt x="179" y="1312"/>
                </a:lnTo>
                <a:lnTo>
                  <a:pt x="185" y="1389"/>
                </a:lnTo>
                <a:lnTo>
                  <a:pt x="244" y="1591"/>
                </a:lnTo>
                <a:lnTo>
                  <a:pt x="297" y="1746"/>
                </a:lnTo>
                <a:lnTo>
                  <a:pt x="315" y="1835"/>
                </a:lnTo>
                <a:lnTo>
                  <a:pt x="321" y="1965"/>
                </a:lnTo>
                <a:lnTo>
                  <a:pt x="309" y="2060"/>
                </a:lnTo>
                <a:lnTo>
                  <a:pt x="327" y="2149"/>
                </a:lnTo>
                <a:lnTo>
                  <a:pt x="357" y="2221"/>
                </a:lnTo>
                <a:lnTo>
                  <a:pt x="404" y="2310"/>
                </a:lnTo>
                <a:lnTo>
                  <a:pt x="458" y="2405"/>
                </a:lnTo>
                <a:lnTo>
                  <a:pt x="470" y="2464"/>
                </a:lnTo>
                <a:lnTo>
                  <a:pt x="458" y="2541"/>
                </a:lnTo>
                <a:lnTo>
                  <a:pt x="404" y="2630"/>
                </a:lnTo>
                <a:lnTo>
                  <a:pt x="321" y="2743"/>
                </a:lnTo>
                <a:lnTo>
                  <a:pt x="256" y="2820"/>
                </a:lnTo>
                <a:lnTo>
                  <a:pt x="190" y="2874"/>
                </a:lnTo>
                <a:close/>
              </a:path>
            </a:pathLst>
          </a:custGeom>
          <a:pattFill prst="dashUpDiag">
            <a:fgClr>
              <a:schemeClr val="accent1"/>
            </a:fgClr>
            <a:bgClr>
              <a:schemeClr val="bg1"/>
            </a:bgClr>
          </a:pattFill>
          <a:ln w="9525" cap="flat" cmpd="sng">
            <a:solidFill>
              <a:schemeClr val="tx1"/>
            </a:solidFill>
            <a:prstDash val="solid"/>
            <a:round/>
            <a:headEnd type="none" w="med" len="med"/>
            <a:tailEnd type="none" w="med" len="med"/>
          </a:ln>
        </p:spPr>
        <p:txBody>
          <a:bodyPr/>
          <a:lstStyle/>
          <a:p>
            <a:endParaRPr lang="en-US"/>
          </a:p>
        </p:txBody>
      </p:sp>
      <p:sp>
        <p:nvSpPr>
          <p:cNvPr id="87043" name="Freeform 9"/>
          <p:cNvSpPr>
            <a:spLocks/>
          </p:cNvSpPr>
          <p:nvPr/>
        </p:nvSpPr>
        <p:spPr bwMode="auto">
          <a:xfrm>
            <a:off x="712788" y="2490788"/>
            <a:ext cx="2611437" cy="3779837"/>
          </a:xfrm>
          <a:custGeom>
            <a:avLst/>
            <a:gdLst>
              <a:gd name="T0" fmla="*/ 0 w 1645"/>
              <a:gd name="T1" fmla="*/ 3619500 h 2381"/>
              <a:gd name="T2" fmla="*/ 234950 w 1645"/>
              <a:gd name="T3" fmla="*/ 3421062 h 2381"/>
              <a:gd name="T4" fmla="*/ 366712 w 1645"/>
              <a:gd name="T5" fmla="*/ 3214687 h 2381"/>
              <a:gd name="T6" fmla="*/ 433387 w 1645"/>
              <a:gd name="T7" fmla="*/ 3100387 h 2381"/>
              <a:gd name="T8" fmla="*/ 471487 w 1645"/>
              <a:gd name="T9" fmla="*/ 2940049 h 2381"/>
              <a:gd name="T10" fmla="*/ 395287 w 1645"/>
              <a:gd name="T11" fmla="*/ 2789237 h 2381"/>
              <a:gd name="T12" fmla="*/ 292100 w 1645"/>
              <a:gd name="T13" fmla="*/ 2611437 h 2381"/>
              <a:gd name="T14" fmla="*/ 234950 w 1645"/>
              <a:gd name="T15" fmla="*/ 2451099 h 2381"/>
              <a:gd name="T16" fmla="*/ 207962 w 1645"/>
              <a:gd name="T17" fmla="*/ 2309812 h 2381"/>
              <a:gd name="T18" fmla="*/ 225425 w 1645"/>
              <a:gd name="T19" fmla="*/ 2082800 h 2381"/>
              <a:gd name="T20" fmla="*/ 207962 w 1645"/>
              <a:gd name="T21" fmla="*/ 1912937 h 2381"/>
              <a:gd name="T22" fmla="*/ 112712 w 1645"/>
              <a:gd name="T23" fmla="*/ 1611312 h 2381"/>
              <a:gd name="T24" fmla="*/ 28575 w 1645"/>
              <a:gd name="T25" fmla="*/ 1338262 h 2381"/>
              <a:gd name="T26" fmla="*/ 28575 w 1645"/>
              <a:gd name="T27" fmla="*/ 1196975 h 2381"/>
              <a:gd name="T28" fmla="*/ 131762 w 1645"/>
              <a:gd name="T29" fmla="*/ 847725 h 2381"/>
              <a:gd name="T30" fmla="*/ 301625 w 1645"/>
              <a:gd name="T31" fmla="*/ 471487 h 2381"/>
              <a:gd name="T32" fmla="*/ 546100 w 1645"/>
              <a:gd name="T33" fmla="*/ 187325 h 2381"/>
              <a:gd name="T34" fmla="*/ 1017587 w 1645"/>
              <a:gd name="T35" fmla="*/ 0 h 2381"/>
              <a:gd name="T36" fmla="*/ 1414462 w 1645"/>
              <a:gd name="T37" fmla="*/ 65087 h 2381"/>
              <a:gd name="T38" fmla="*/ 1706562 w 1645"/>
              <a:gd name="T39" fmla="*/ 112712 h 2381"/>
              <a:gd name="T40" fmla="*/ 1922462 w 1645"/>
              <a:gd name="T41" fmla="*/ 404812 h 2381"/>
              <a:gd name="T42" fmla="*/ 2073275 w 1645"/>
              <a:gd name="T43" fmla="*/ 809625 h 2381"/>
              <a:gd name="T44" fmla="*/ 2195512 w 1645"/>
              <a:gd name="T45" fmla="*/ 1376362 h 2381"/>
              <a:gd name="T46" fmla="*/ 2149475 w 1645"/>
              <a:gd name="T47" fmla="*/ 1960562 h 2381"/>
              <a:gd name="T48" fmla="*/ 2073275 w 1645"/>
              <a:gd name="T49" fmla="*/ 2195512 h 2381"/>
              <a:gd name="T50" fmla="*/ 2120900 w 1645"/>
              <a:gd name="T51" fmla="*/ 2506662 h 2381"/>
              <a:gd name="T52" fmla="*/ 2224087 w 1645"/>
              <a:gd name="T53" fmla="*/ 2695574 h 2381"/>
              <a:gd name="T54" fmla="*/ 2506662 w 1645"/>
              <a:gd name="T55" fmla="*/ 2865437 h 2381"/>
              <a:gd name="T56" fmla="*/ 2563812 w 1645"/>
              <a:gd name="T57" fmla="*/ 2968624 h 2381"/>
              <a:gd name="T58" fmla="*/ 2563812 w 1645"/>
              <a:gd name="T59" fmla="*/ 3167062 h 2381"/>
              <a:gd name="T60" fmla="*/ 2544762 w 1645"/>
              <a:gd name="T61" fmla="*/ 3497262 h 2381"/>
              <a:gd name="T62" fmla="*/ 2544762 w 1645"/>
              <a:gd name="T63" fmla="*/ 3676650 h 2381"/>
              <a:gd name="T64" fmla="*/ 2611437 w 1645"/>
              <a:gd name="T65" fmla="*/ 3779837 h 2381"/>
              <a:gd name="T66" fmla="*/ 0 w 1645"/>
              <a:gd name="T67" fmla="*/ 3619500 h 238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645"/>
              <a:gd name="T103" fmla="*/ 0 h 2381"/>
              <a:gd name="T104" fmla="*/ 1645 w 1645"/>
              <a:gd name="T105" fmla="*/ 2381 h 238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645" h="2381">
                <a:moveTo>
                  <a:pt x="0" y="2280"/>
                </a:moveTo>
                <a:lnTo>
                  <a:pt x="148" y="2155"/>
                </a:lnTo>
                <a:lnTo>
                  <a:pt x="231" y="2025"/>
                </a:lnTo>
                <a:lnTo>
                  <a:pt x="273" y="1953"/>
                </a:lnTo>
                <a:lnTo>
                  <a:pt x="297" y="1852"/>
                </a:lnTo>
                <a:lnTo>
                  <a:pt x="249" y="1757"/>
                </a:lnTo>
                <a:lnTo>
                  <a:pt x="184" y="1645"/>
                </a:lnTo>
                <a:lnTo>
                  <a:pt x="148" y="1544"/>
                </a:lnTo>
                <a:lnTo>
                  <a:pt x="131" y="1455"/>
                </a:lnTo>
                <a:lnTo>
                  <a:pt x="142" y="1312"/>
                </a:lnTo>
                <a:lnTo>
                  <a:pt x="131" y="1205"/>
                </a:lnTo>
                <a:lnTo>
                  <a:pt x="71" y="1015"/>
                </a:lnTo>
                <a:lnTo>
                  <a:pt x="18" y="843"/>
                </a:lnTo>
                <a:lnTo>
                  <a:pt x="18" y="754"/>
                </a:lnTo>
                <a:lnTo>
                  <a:pt x="83" y="534"/>
                </a:lnTo>
                <a:lnTo>
                  <a:pt x="190" y="297"/>
                </a:lnTo>
                <a:lnTo>
                  <a:pt x="344" y="118"/>
                </a:lnTo>
                <a:lnTo>
                  <a:pt x="641" y="0"/>
                </a:lnTo>
                <a:lnTo>
                  <a:pt x="891" y="41"/>
                </a:lnTo>
                <a:lnTo>
                  <a:pt x="1075" y="71"/>
                </a:lnTo>
                <a:lnTo>
                  <a:pt x="1211" y="255"/>
                </a:lnTo>
                <a:lnTo>
                  <a:pt x="1306" y="510"/>
                </a:lnTo>
                <a:lnTo>
                  <a:pt x="1383" y="867"/>
                </a:lnTo>
                <a:lnTo>
                  <a:pt x="1354" y="1235"/>
                </a:lnTo>
                <a:lnTo>
                  <a:pt x="1306" y="1383"/>
                </a:lnTo>
                <a:lnTo>
                  <a:pt x="1336" y="1579"/>
                </a:lnTo>
                <a:lnTo>
                  <a:pt x="1401" y="1698"/>
                </a:lnTo>
                <a:lnTo>
                  <a:pt x="1579" y="1805"/>
                </a:lnTo>
                <a:lnTo>
                  <a:pt x="1615" y="1870"/>
                </a:lnTo>
                <a:lnTo>
                  <a:pt x="1615" y="1995"/>
                </a:lnTo>
                <a:lnTo>
                  <a:pt x="1603" y="2203"/>
                </a:lnTo>
                <a:lnTo>
                  <a:pt x="1603" y="2316"/>
                </a:lnTo>
                <a:lnTo>
                  <a:pt x="1645" y="2381"/>
                </a:lnTo>
                <a:lnTo>
                  <a:pt x="0" y="2280"/>
                </a:lnTo>
                <a:close/>
              </a:path>
            </a:pathLst>
          </a:custGeom>
          <a:pattFill prst="dotDmnd">
            <a:fgClr>
              <a:schemeClr val="bg1"/>
            </a:fgClr>
            <a:bgClr>
              <a:srgbClr val="9999FF"/>
            </a:bgClr>
          </a:pattFill>
          <a:ln w="9525">
            <a:solidFill>
              <a:schemeClr val="tx1"/>
            </a:solidFill>
            <a:round/>
            <a:headEnd/>
            <a:tailEnd/>
          </a:ln>
        </p:spPr>
        <p:txBody>
          <a:bodyPr/>
          <a:lstStyle/>
          <a:p>
            <a:endParaRPr lang="en-US"/>
          </a:p>
        </p:txBody>
      </p:sp>
      <p:sp>
        <p:nvSpPr>
          <p:cNvPr id="87044" name="Freeform 10" descr="Small confetti"/>
          <p:cNvSpPr>
            <a:spLocks/>
          </p:cNvSpPr>
          <p:nvPr/>
        </p:nvSpPr>
        <p:spPr bwMode="auto">
          <a:xfrm>
            <a:off x="646113" y="1820863"/>
            <a:ext cx="2838450" cy="2611437"/>
          </a:xfrm>
          <a:custGeom>
            <a:avLst/>
            <a:gdLst>
              <a:gd name="T0" fmla="*/ 2225675 w 1788"/>
              <a:gd name="T1" fmla="*/ 2611437 h 1645"/>
              <a:gd name="T2" fmla="*/ 2262188 w 1788"/>
              <a:gd name="T3" fmla="*/ 2036762 h 1645"/>
              <a:gd name="T4" fmla="*/ 2149475 w 1788"/>
              <a:gd name="T5" fmla="*/ 1489075 h 1645"/>
              <a:gd name="T6" fmla="*/ 1989138 w 1788"/>
              <a:gd name="T7" fmla="*/ 1093787 h 1645"/>
              <a:gd name="T8" fmla="*/ 1782763 w 1788"/>
              <a:gd name="T9" fmla="*/ 782637 h 1645"/>
              <a:gd name="T10" fmla="*/ 1093788 w 1788"/>
              <a:gd name="T11" fmla="*/ 669925 h 1645"/>
              <a:gd name="T12" fmla="*/ 593725 w 1788"/>
              <a:gd name="T13" fmla="*/ 857250 h 1645"/>
              <a:gd name="T14" fmla="*/ 358775 w 1788"/>
              <a:gd name="T15" fmla="*/ 1141412 h 1645"/>
              <a:gd name="T16" fmla="*/ 198437 w 1788"/>
              <a:gd name="T17" fmla="*/ 1517650 h 1645"/>
              <a:gd name="T18" fmla="*/ 95250 w 1788"/>
              <a:gd name="T19" fmla="*/ 1828800 h 1645"/>
              <a:gd name="T20" fmla="*/ 95250 w 1788"/>
              <a:gd name="T21" fmla="*/ 1979612 h 1645"/>
              <a:gd name="T22" fmla="*/ 57150 w 1788"/>
              <a:gd name="T23" fmla="*/ 1876425 h 1645"/>
              <a:gd name="T24" fmla="*/ 66675 w 1788"/>
              <a:gd name="T25" fmla="*/ 1498600 h 1645"/>
              <a:gd name="T26" fmla="*/ 66675 w 1788"/>
              <a:gd name="T27" fmla="*/ 1319212 h 1645"/>
              <a:gd name="T28" fmla="*/ 38100 w 1788"/>
              <a:gd name="T29" fmla="*/ 1055687 h 1645"/>
              <a:gd name="T30" fmla="*/ 0 w 1788"/>
              <a:gd name="T31" fmla="*/ 847725 h 1645"/>
              <a:gd name="T32" fmla="*/ 19050 w 1788"/>
              <a:gd name="T33" fmla="*/ 641350 h 1645"/>
              <a:gd name="T34" fmla="*/ 122238 w 1788"/>
              <a:gd name="T35" fmla="*/ 442912 h 1645"/>
              <a:gd name="T36" fmla="*/ 217488 w 1788"/>
              <a:gd name="T37" fmla="*/ 320675 h 1645"/>
              <a:gd name="T38" fmla="*/ 368300 w 1788"/>
              <a:gd name="T39" fmla="*/ 198437 h 1645"/>
              <a:gd name="T40" fmla="*/ 566738 w 1788"/>
              <a:gd name="T41" fmla="*/ 76200 h 1645"/>
              <a:gd name="T42" fmla="*/ 773112 w 1788"/>
              <a:gd name="T43" fmla="*/ 28575 h 1645"/>
              <a:gd name="T44" fmla="*/ 962025 w 1788"/>
              <a:gd name="T45" fmla="*/ 19050 h 1645"/>
              <a:gd name="T46" fmla="*/ 1055688 w 1788"/>
              <a:gd name="T47" fmla="*/ 66675 h 1645"/>
              <a:gd name="T48" fmla="*/ 1254125 w 1788"/>
              <a:gd name="T49" fmla="*/ 198437 h 1645"/>
              <a:gd name="T50" fmla="*/ 1603375 w 1788"/>
              <a:gd name="T51" fmla="*/ 217487 h 1645"/>
              <a:gd name="T52" fmla="*/ 1735138 w 1788"/>
              <a:gd name="T53" fmla="*/ 150812 h 1645"/>
              <a:gd name="T54" fmla="*/ 1933575 w 1788"/>
              <a:gd name="T55" fmla="*/ 0 h 1645"/>
              <a:gd name="T56" fmla="*/ 2254250 w 1788"/>
              <a:gd name="T57" fmla="*/ 9525 h 1645"/>
              <a:gd name="T58" fmla="*/ 2479675 w 1788"/>
              <a:gd name="T59" fmla="*/ 66675 h 1645"/>
              <a:gd name="T60" fmla="*/ 2527300 w 1788"/>
              <a:gd name="T61" fmla="*/ 122237 h 1645"/>
              <a:gd name="T62" fmla="*/ 2517775 w 1788"/>
              <a:gd name="T63" fmla="*/ 509587 h 1645"/>
              <a:gd name="T64" fmla="*/ 2563813 w 1788"/>
              <a:gd name="T65" fmla="*/ 679450 h 1645"/>
              <a:gd name="T66" fmla="*/ 2659063 w 1788"/>
              <a:gd name="T67" fmla="*/ 773112 h 1645"/>
              <a:gd name="T68" fmla="*/ 2781300 w 1788"/>
              <a:gd name="T69" fmla="*/ 1141412 h 1645"/>
              <a:gd name="T70" fmla="*/ 2828925 w 1788"/>
              <a:gd name="T71" fmla="*/ 1357312 h 1645"/>
              <a:gd name="T72" fmla="*/ 2838450 w 1788"/>
              <a:gd name="T73" fmla="*/ 1555750 h 1645"/>
              <a:gd name="T74" fmla="*/ 2714625 w 1788"/>
              <a:gd name="T75" fmla="*/ 1725612 h 1645"/>
              <a:gd name="T76" fmla="*/ 2601913 w 1788"/>
              <a:gd name="T77" fmla="*/ 1885950 h 1645"/>
              <a:gd name="T78" fmla="*/ 2470150 w 1788"/>
              <a:gd name="T79" fmla="*/ 2055812 h 1645"/>
              <a:gd name="T80" fmla="*/ 2347913 w 1788"/>
              <a:gd name="T81" fmla="*/ 2300287 h 1645"/>
              <a:gd name="T82" fmla="*/ 2225675 w 1788"/>
              <a:gd name="T83" fmla="*/ 2611437 h 16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788"/>
              <a:gd name="T127" fmla="*/ 0 h 1645"/>
              <a:gd name="T128" fmla="*/ 1788 w 1788"/>
              <a:gd name="T129" fmla="*/ 1645 h 16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788" h="1645">
                <a:moveTo>
                  <a:pt x="1402" y="1645"/>
                </a:moveTo>
                <a:lnTo>
                  <a:pt x="1425" y="1283"/>
                </a:lnTo>
                <a:lnTo>
                  <a:pt x="1354" y="938"/>
                </a:lnTo>
                <a:lnTo>
                  <a:pt x="1253" y="689"/>
                </a:lnTo>
                <a:lnTo>
                  <a:pt x="1123" y="493"/>
                </a:lnTo>
                <a:lnTo>
                  <a:pt x="689" y="422"/>
                </a:lnTo>
                <a:lnTo>
                  <a:pt x="374" y="540"/>
                </a:lnTo>
                <a:lnTo>
                  <a:pt x="226" y="719"/>
                </a:lnTo>
                <a:lnTo>
                  <a:pt x="125" y="956"/>
                </a:lnTo>
                <a:lnTo>
                  <a:pt x="60" y="1152"/>
                </a:lnTo>
                <a:lnTo>
                  <a:pt x="60" y="1247"/>
                </a:lnTo>
                <a:lnTo>
                  <a:pt x="36" y="1182"/>
                </a:lnTo>
                <a:lnTo>
                  <a:pt x="42" y="944"/>
                </a:lnTo>
                <a:lnTo>
                  <a:pt x="42" y="831"/>
                </a:lnTo>
                <a:lnTo>
                  <a:pt x="24" y="665"/>
                </a:lnTo>
                <a:lnTo>
                  <a:pt x="0" y="534"/>
                </a:lnTo>
                <a:lnTo>
                  <a:pt x="12" y="404"/>
                </a:lnTo>
                <a:lnTo>
                  <a:pt x="77" y="279"/>
                </a:lnTo>
                <a:lnTo>
                  <a:pt x="137" y="202"/>
                </a:lnTo>
                <a:lnTo>
                  <a:pt x="232" y="125"/>
                </a:lnTo>
                <a:lnTo>
                  <a:pt x="357" y="48"/>
                </a:lnTo>
                <a:lnTo>
                  <a:pt x="487" y="18"/>
                </a:lnTo>
                <a:lnTo>
                  <a:pt x="606" y="12"/>
                </a:lnTo>
                <a:lnTo>
                  <a:pt x="665" y="42"/>
                </a:lnTo>
                <a:lnTo>
                  <a:pt x="790" y="125"/>
                </a:lnTo>
                <a:lnTo>
                  <a:pt x="1010" y="137"/>
                </a:lnTo>
                <a:lnTo>
                  <a:pt x="1093" y="95"/>
                </a:lnTo>
                <a:lnTo>
                  <a:pt x="1218" y="0"/>
                </a:lnTo>
                <a:lnTo>
                  <a:pt x="1420" y="6"/>
                </a:lnTo>
                <a:lnTo>
                  <a:pt x="1562" y="42"/>
                </a:lnTo>
                <a:lnTo>
                  <a:pt x="1592" y="77"/>
                </a:lnTo>
                <a:lnTo>
                  <a:pt x="1586" y="321"/>
                </a:lnTo>
                <a:lnTo>
                  <a:pt x="1615" y="428"/>
                </a:lnTo>
                <a:lnTo>
                  <a:pt x="1675" y="487"/>
                </a:lnTo>
                <a:lnTo>
                  <a:pt x="1752" y="719"/>
                </a:lnTo>
                <a:lnTo>
                  <a:pt x="1782" y="855"/>
                </a:lnTo>
                <a:lnTo>
                  <a:pt x="1788" y="980"/>
                </a:lnTo>
                <a:lnTo>
                  <a:pt x="1710" y="1087"/>
                </a:lnTo>
                <a:lnTo>
                  <a:pt x="1639" y="1188"/>
                </a:lnTo>
                <a:lnTo>
                  <a:pt x="1556" y="1295"/>
                </a:lnTo>
                <a:lnTo>
                  <a:pt x="1479" y="1449"/>
                </a:lnTo>
                <a:lnTo>
                  <a:pt x="1402" y="1645"/>
                </a:lnTo>
                <a:close/>
              </a:path>
            </a:pathLst>
          </a:custGeom>
          <a:pattFill prst="smConfetti">
            <a:fgClr>
              <a:srgbClr val="CC9900"/>
            </a:fgClr>
            <a:bgClr>
              <a:schemeClr val="bg1"/>
            </a:bgClr>
          </a:pattFill>
          <a:ln w="9525">
            <a:solidFill>
              <a:schemeClr val="tx1"/>
            </a:solidFill>
            <a:round/>
            <a:headEnd/>
            <a:tailEnd/>
          </a:ln>
        </p:spPr>
        <p:txBody>
          <a:bodyPr/>
          <a:lstStyle/>
          <a:p>
            <a:endParaRPr lang="en-US"/>
          </a:p>
        </p:txBody>
      </p:sp>
      <p:sp>
        <p:nvSpPr>
          <p:cNvPr id="87045" name="Text Box 11"/>
          <p:cNvSpPr txBox="1">
            <a:spLocks noChangeArrowheads="1"/>
          </p:cNvSpPr>
          <p:nvPr/>
        </p:nvSpPr>
        <p:spPr bwMode="auto">
          <a:xfrm>
            <a:off x="306388" y="4102100"/>
            <a:ext cx="330200" cy="366713"/>
          </a:xfrm>
          <a:prstGeom prst="rect">
            <a:avLst/>
          </a:prstGeom>
          <a:noFill/>
          <a:ln w="9525">
            <a:noFill/>
            <a:miter lim="800000"/>
            <a:headEnd/>
            <a:tailEnd/>
          </a:ln>
        </p:spPr>
        <p:txBody>
          <a:bodyPr>
            <a:spAutoFit/>
          </a:bodyPr>
          <a:lstStyle/>
          <a:p>
            <a:pPr>
              <a:spcBef>
                <a:spcPct val="50000"/>
              </a:spcBef>
            </a:pPr>
            <a:r>
              <a:rPr lang="en-AU" i="0">
                <a:solidFill>
                  <a:schemeClr val="tx1"/>
                </a:solidFill>
              </a:rPr>
              <a:t>A</a:t>
            </a:r>
            <a:endParaRPr lang="en-US" i="0">
              <a:solidFill>
                <a:schemeClr val="tx1"/>
              </a:solidFill>
            </a:endParaRPr>
          </a:p>
        </p:txBody>
      </p:sp>
      <p:sp>
        <p:nvSpPr>
          <p:cNvPr id="87046" name="Text Box 12"/>
          <p:cNvSpPr txBox="1">
            <a:spLocks noChangeArrowheads="1"/>
          </p:cNvSpPr>
          <p:nvPr/>
        </p:nvSpPr>
        <p:spPr bwMode="auto">
          <a:xfrm>
            <a:off x="3586163" y="2846388"/>
            <a:ext cx="330200" cy="366712"/>
          </a:xfrm>
          <a:prstGeom prst="rect">
            <a:avLst/>
          </a:prstGeom>
          <a:noFill/>
          <a:ln w="9525">
            <a:noFill/>
            <a:miter lim="800000"/>
            <a:headEnd/>
            <a:tailEnd/>
          </a:ln>
        </p:spPr>
        <p:txBody>
          <a:bodyPr>
            <a:spAutoFit/>
          </a:bodyPr>
          <a:lstStyle/>
          <a:p>
            <a:pPr>
              <a:spcBef>
                <a:spcPct val="50000"/>
              </a:spcBef>
            </a:pPr>
            <a:r>
              <a:rPr lang="en-AU" i="0">
                <a:solidFill>
                  <a:schemeClr val="tx1"/>
                </a:solidFill>
              </a:rPr>
              <a:t>B</a:t>
            </a:r>
            <a:endParaRPr lang="en-US" i="0">
              <a:solidFill>
                <a:schemeClr val="tx1"/>
              </a:solidFill>
            </a:endParaRPr>
          </a:p>
        </p:txBody>
      </p:sp>
      <p:grpSp>
        <p:nvGrpSpPr>
          <p:cNvPr id="87047" name="Group 1"/>
          <p:cNvGrpSpPr>
            <a:grpSpLocks/>
          </p:cNvGrpSpPr>
          <p:nvPr/>
        </p:nvGrpSpPr>
        <p:grpSpPr bwMode="auto">
          <a:xfrm>
            <a:off x="3933825" y="2016125"/>
            <a:ext cx="4081463" cy="2330450"/>
            <a:chOff x="3933825" y="2016125"/>
            <a:chExt cx="4081463" cy="2330451"/>
          </a:xfrm>
        </p:grpSpPr>
        <p:sp>
          <p:nvSpPr>
            <p:cNvPr id="87207" name="Freeform 14" descr="Dashed upward diagonal"/>
            <p:cNvSpPr>
              <a:spLocks/>
            </p:cNvSpPr>
            <p:nvPr/>
          </p:nvSpPr>
          <p:spPr bwMode="auto">
            <a:xfrm>
              <a:off x="4095750" y="2405063"/>
              <a:ext cx="3743325" cy="1941513"/>
            </a:xfrm>
            <a:custGeom>
              <a:avLst/>
              <a:gdLst>
                <a:gd name="T0" fmla="*/ 0 w 2358"/>
                <a:gd name="T1" fmla="*/ 169863 h 1223"/>
                <a:gd name="T2" fmla="*/ 217488 w 2358"/>
                <a:gd name="T3" fmla="*/ 169863 h 1223"/>
                <a:gd name="T4" fmla="*/ 387350 w 2358"/>
                <a:gd name="T5" fmla="*/ 263525 h 1223"/>
                <a:gd name="T6" fmla="*/ 566737 w 2358"/>
                <a:gd name="T7" fmla="*/ 566738 h 1223"/>
                <a:gd name="T8" fmla="*/ 708025 w 2358"/>
                <a:gd name="T9" fmla="*/ 1009650 h 1223"/>
                <a:gd name="T10" fmla="*/ 858838 w 2358"/>
                <a:gd name="T11" fmla="*/ 1254125 h 1223"/>
                <a:gd name="T12" fmla="*/ 1141412 w 2358"/>
                <a:gd name="T13" fmla="*/ 1366838 h 1223"/>
                <a:gd name="T14" fmla="*/ 1706563 w 2358"/>
                <a:gd name="T15" fmla="*/ 1481138 h 1223"/>
                <a:gd name="T16" fmla="*/ 2065337 w 2358"/>
                <a:gd name="T17" fmla="*/ 1471613 h 1223"/>
                <a:gd name="T18" fmla="*/ 2536825 w 2358"/>
                <a:gd name="T19" fmla="*/ 1404938 h 1223"/>
                <a:gd name="T20" fmla="*/ 2913062 w 2358"/>
                <a:gd name="T21" fmla="*/ 1112838 h 1223"/>
                <a:gd name="T22" fmla="*/ 3149599 w 2358"/>
                <a:gd name="T23" fmla="*/ 698500 h 1223"/>
                <a:gd name="T24" fmla="*/ 3233737 w 2358"/>
                <a:gd name="T25" fmla="*/ 368300 h 1223"/>
                <a:gd name="T26" fmla="*/ 3346450 w 2358"/>
                <a:gd name="T27" fmla="*/ 57150 h 1223"/>
                <a:gd name="T28" fmla="*/ 3487738 w 2358"/>
                <a:gd name="T29" fmla="*/ 0 h 1223"/>
                <a:gd name="T30" fmla="*/ 3743325 w 2358"/>
                <a:gd name="T31" fmla="*/ 9525 h 1223"/>
                <a:gd name="T32" fmla="*/ 3743325 w 2358"/>
                <a:gd name="T33" fmla="*/ 1941513 h 1223"/>
                <a:gd name="T34" fmla="*/ 9525 w 2358"/>
                <a:gd name="T35" fmla="*/ 1941513 h 1223"/>
                <a:gd name="T36" fmla="*/ 9525 w 2358"/>
                <a:gd name="T37" fmla="*/ 169863 h 122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58"/>
                <a:gd name="T58" fmla="*/ 0 h 1223"/>
                <a:gd name="T59" fmla="*/ 2358 w 2358"/>
                <a:gd name="T60" fmla="*/ 1223 h 122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58" h="1223">
                  <a:moveTo>
                    <a:pt x="0" y="107"/>
                  </a:moveTo>
                  <a:lnTo>
                    <a:pt x="137" y="107"/>
                  </a:lnTo>
                  <a:lnTo>
                    <a:pt x="244" y="166"/>
                  </a:lnTo>
                  <a:lnTo>
                    <a:pt x="357" y="357"/>
                  </a:lnTo>
                  <a:lnTo>
                    <a:pt x="446" y="636"/>
                  </a:lnTo>
                  <a:lnTo>
                    <a:pt x="541" y="790"/>
                  </a:lnTo>
                  <a:lnTo>
                    <a:pt x="719" y="861"/>
                  </a:lnTo>
                  <a:lnTo>
                    <a:pt x="1075" y="933"/>
                  </a:lnTo>
                  <a:lnTo>
                    <a:pt x="1301" y="927"/>
                  </a:lnTo>
                  <a:lnTo>
                    <a:pt x="1598" y="885"/>
                  </a:lnTo>
                  <a:lnTo>
                    <a:pt x="1835" y="701"/>
                  </a:lnTo>
                  <a:lnTo>
                    <a:pt x="1984" y="440"/>
                  </a:lnTo>
                  <a:lnTo>
                    <a:pt x="2037" y="232"/>
                  </a:lnTo>
                  <a:lnTo>
                    <a:pt x="2108" y="36"/>
                  </a:lnTo>
                  <a:lnTo>
                    <a:pt x="2197" y="0"/>
                  </a:lnTo>
                  <a:lnTo>
                    <a:pt x="2358" y="6"/>
                  </a:lnTo>
                  <a:lnTo>
                    <a:pt x="2358" y="1223"/>
                  </a:lnTo>
                  <a:lnTo>
                    <a:pt x="6" y="1223"/>
                  </a:lnTo>
                  <a:lnTo>
                    <a:pt x="6" y="107"/>
                  </a:lnTo>
                </a:path>
              </a:pathLst>
            </a:custGeom>
            <a:pattFill prst="dashUpDiag">
              <a:fgClr>
                <a:schemeClr val="accent1"/>
              </a:fgClr>
              <a:bgClr>
                <a:schemeClr val="bg1"/>
              </a:bgClr>
            </a:pattFill>
            <a:ln w="9525">
              <a:solidFill>
                <a:schemeClr val="tx1"/>
              </a:solidFill>
              <a:round/>
              <a:headEnd/>
              <a:tailEnd/>
            </a:ln>
          </p:spPr>
          <p:txBody>
            <a:bodyPr/>
            <a:lstStyle/>
            <a:p>
              <a:endParaRPr lang="en-US"/>
            </a:p>
          </p:txBody>
        </p:sp>
        <p:sp>
          <p:nvSpPr>
            <p:cNvPr id="87208" name="Freeform 15" descr="Small confetti"/>
            <p:cNvSpPr>
              <a:spLocks/>
            </p:cNvSpPr>
            <p:nvPr/>
          </p:nvSpPr>
          <p:spPr bwMode="auto">
            <a:xfrm>
              <a:off x="4756150" y="2895600"/>
              <a:ext cx="2535238" cy="990600"/>
            </a:xfrm>
            <a:custGeom>
              <a:avLst/>
              <a:gdLst>
                <a:gd name="T0" fmla="*/ 28575 w 1597"/>
                <a:gd name="T1" fmla="*/ 452438 h 624"/>
                <a:gd name="T2" fmla="*/ 84138 w 1597"/>
                <a:gd name="T3" fmla="*/ 584200 h 624"/>
                <a:gd name="T4" fmla="*/ 207963 w 1597"/>
                <a:gd name="T5" fmla="*/ 773112 h 624"/>
                <a:gd name="T6" fmla="*/ 509588 w 1597"/>
                <a:gd name="T7" fmla="*/ 885825 h 624"/>
                <a:gd name="T8" fmla="*/ 1055688 w 1597"/>
                <a:gd name="T9" fmla="*/ 981075 h 624"/>
                <a:gd name="T10" fmla="*/ 1450975 w 1597"/>
                <a:gd name="T11" fmla="*/ 990600 h 624"/>
                <a:gd name="T12" fmla="*/ 1876426 w 1597"/>
                <a:gd name="T13" fmla="*/ 914400 h 624"/>
                <a:gd name="T14" fmla="*/ 2262188 w 1597"/>
                <a:gd name="T15" fmla="*/ 603250 h 624"/>
                <a:gd name="T16" fmla="*/ 2489201 w 1597"/>
                <a:gd name="T17" fmla="*/ 188912 h 624"/>
                <a:gd name="T18" fmla="*/ 2535238 w 1597"/>
                <a:gd name="T19" fmla="*/ 0 h 624"/>
                <a:gd name="T20" fmla="*/ 2319338 w 1597"/>
                <a:gd name="T21" fmla="*/ 19050 h 624"/>
                <a:gd name="T22" fmla="*/ 2092326 w 1597"/>
                <a:gd name="T23" fmla="*/ 84137 h 624"/>
                <a:gd name="T24" fmla="*/ 1912938 w 1597"/>
                <a:gd name="T25" fmla="*/ 244475 h 624"/>
                <a:gd name="T26" fmla="*/ 1735138 w 1597"/>
                <a:gd name="T27" fmla="*/ 395287 h 624"/>
                <a:gd name="T28" fmla="*/ 1460500 w 1597"/>
                <a:gd name="T29" fmla="*/ 490538 h 624"/>
                <a:gd name="T30" fmla="*/ 1046163 w 1597"/>
                <a:gd name="T31" fmla="*/ 574675 h 624"/>
                <a:gd name="T32" fmla="*/ 650875 w 1597"/>
                <a:gd name="T33" fmla="*/ 519112 h 624"/>
                <a:gd name="T34" fmla="*/ 311150 w 1597"/>
                <a:gd name="T35" fmla="*/ 414338 h 624"/>
                <a:gd name="T36" fmla="*/ 0 w 1597"/>
                <a:gd name="T37" fmla="*/ 395287 h 624"/>
                <a:gd name="T38" fmla="*/ 38100 w 1597"/>
                <a:gd name="T39" fmla="*/ 500062 h 624"/>
                <a:gd name="T40" fmla="*/ 198438 w 1597"/>
                <a:gd name="T41" fmla="*/ 754062 h 62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97"/>
                <a:gd name="T64" fmla="*/ 0 h 624"/>
                <a:gd name="T65" fmla="*/ 1597 w 1597"/>
                <a:gd name="T66" fmla="*/ 624 h 62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97" h="624">
                  <a:moveTo>
                    <a:pt x="18" y="285"/>
                  </a:moveTo>
                  <a:lnTo>
                    <a:pt x="53" y="368"/>
                  </a:lnTo>
                  <a:lnTo>
                    <a:pt x="131" y="487"/>
                  </a:lnTo>
                  <a:lnTo>
                    <a:pt x="321" y="558"/>
                  </a:lnTo>
                  <a:lnTo>
                    <a:pt x="665" y="618"/>
                  </a:lnTo>
                  <a:lnTo>
                    <a:pt x="914" y="624"/>
                  </a:lnTo>
                  <a:lnTo>
                    <a:pt x="1182" y="576"/>
                  </a:lnTo>
                  <a:lnTo>
                    <a:pt x="1425" y="380"/>
                  </a:lnTo>
                  <a:lnTo>
                    <a:pt x="1568" y="119"/>
                  </a:lnTo>
                  <a:lnTo>
                    <a:pt x="1597" y="0"/>
                  </a:lnTo>
                  <a:lnTo>
                    <a:pt x="1461" y="12"/>
                  </a:lnTo>
                  <a:lnTo>
                    <a:pt x="1318" y="53"/>
                  </a:lnTo>
                  <a:lnTo>
                    <a:pt x="1205" y="154"/>
                  </a:lnTo>
                  <a:lnTo>
                    <a:pt x="1093" y="249"/>
                  </a:lnTo>
                  <a:lnTo>
                    <a:pt x="920" y="309"/>
                  </a:lnTo>
                  <a:lnTo>
                    <a:pt x="659" y="362"/>
                  </a:lnTo>
                  <a:lnTo>
                    <a:pt x="410" y="327"/>
                  </a:lnTo>
                  <a:lnTo>
                    <a:pt x="196" y="261"/>
                  </a:lnTo>
                  <a:lnTo>
                    <a:pt x="0" y="249"/>
                  </a:lnTo>
                  <a:lnTo>
                    <a:pt x="24" y="315"/>
                  </a:lnTo>
                  <a:lnTo>
                    <a:pt x="125" y="475"/>
                  </a:lnTo>
                </a:path>
              </a:pathLst>
            </a:custGeom>
            <a:pattFill prst="smConfetti">
              <a:fgClr>
                <a:srgbClr val="CC9900"/>
              </a:fgClr>
              <a:bgClr>
                <a:schemeClr val="bg1"/>
              </a:bgClr>
            </a:pattFill>
            <a:ln w="9525" cap="flat" cmpd="sng">
              <a:solidFill>
                <a:schemeClr val="tx1"/>
              </a:solidFill>
              <a:prstDash val="solid"/>
              <a:round/>
              <a:headEnd type="none" w="med" len="med"/>
              <a:tailEnd type="none" w="med" len="med"/>
            </a:ln>
          </p:spPr>
          <p:txBody>
            <a:bodyPr/>
            <a:lstStyle/>
            <a:p>
              <a:endParaRPr lang="en-US"/>
            </a:p>
          </p:txBody>
        </p:sp>
        <p:sp>
          <p:nvSpPr>
            <p:cNvPr id="87209" name="Freeform 16"/>
            <p:cNvSpPr>
              <a:spLocks/>
            </p:cNvSpPr>
            <p:nvPr/>
          </p:nvSpPr>
          <p:spPr bwMode="auto">
            <a:xfrm>
              <a:off x="4679950" y="2989263"/>
              <a:ext cx="2149475" cy="481013"/>
            </a:xfrm>
            <a:custGeom>
              <a:avLst/>
              <a:gdLst>
                <a:gd name="T0" fmla="*/ 0 w 1354"/>
                <a:gd name="T1" fmla="*/ 47625 h 303"/>
                <a:gd name="T2" fmla="*/ 85725 w 1354"/>
                <a:gd name="T3" fmla="*/ 301625 h 303"/>
                <a:gd name="T4" fmla="*/ 396875 w 1354"/>
                <a:gd name="T5" fmla="*/ 311150 h 303"/>
                <a:gd name="T6" fmla="*/ 736600 w 1354"/>
                <a:gd name="T7" fmla="*/ 434975 h 303"/>
                <a:gd name="T8" fmla="*/ 1141412 w 1354"/>
                <a:gd name="T9" fmla="*/ 481013 h 303"/>
                <a:gd name="T10" fmla="*/ 1555750 w 1354"/>
                <a:gd name="T11" fmla="*/ 396875 h 303"/>
                <a:gd name="T12" fmla="*/ 1811338 w 1354"/>
                <a:gd name="T13" fmla="*/ 301625 h 303"/>
                <a:gd name="T14" fmla="*/ 2149475 w 1354"/>
                <a:gd name="T15" fmla="*/ 0 h 303"/>
                <a:gd name="T16" fmla="*/ 1895475 w 1354"/>
                <a:gd name="T17" fmla="*/ 9525 h 303"/>
                <a:gd name="T18" fmla="*/ 1838325 w 1354"/>
                <a:gd name="T19" fmla="*/ 47625 h 303"/>
                <a:gd name="T20" fmla="*/ 1782763 w 1354"/>
                <a:gd name="T21" fmla="*/ 123825 h 303"/>
                <a:gd name="T22" fmla="*/ 1706563 w 1354"/>
                <a:gd name="T23" fmla="*/ 47625 h 303"/>
                <a:gd name="T24" fmla="*/ 1517650 w 1354"/>
                <a:gd name="T25" fmla="*/ 76200 h 303"/>
                <a:gd name="T26" fmla="*/ 1169987 w 1354"/>
                <a:gd name="T27" fmla="*/ 123825 h 303"/>
                <a:gd name="T28" fmla="*/ 1084262 w 1354"/>
                <a:gd name="T29" fmla="*/ 207963 h 303"/>
                <a:gd name="T30" fmla="*/ 1019175 w 1354"/>
                <a:gd name="T31" fmla="*/ 133350 h 303"/>
                <a:gd name="T32" fmla="*/ 858838 w 1354"/>
                <a:gd name="T33" fmla="*/ 133350 h 303"/>
                <a:gd name="T34" fmla="*/ 717550 w 1354"/>
                <a:gd name="T35" fmla="*/ 66675 h 303"/>
                <a:gd name="T36" fmla="*/ 339725 w 1354"/>
                <a:gd name="T37" fmla="*/ 85725 h 303"/>
                <a:gd name="T38" fmla="*/ 0 w 1354"/>
                <a:gd name="T39" fmla="*/ 47625 h 30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54"/>
                <a:gd name="T61" fmla="*/ 0 h 303"/>
                <a:gd name="T62" fmla="*/ 1354 w 1354"/>
                <a:gd name="T63" fmla="*/ 303 h 30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54" h="303">
                  <a:moveTo>
                    <a:pt x="0" y="30"/>
                  </a:moveTo>
                  <a:lnTo>
                    <a:pt x="54" y="190"/>
                  </a:lnTo>
                  <a:lnTo>
                    <a:pt x="250" y="196"/>
                  </a:lnTo>
                  <a:lnTo>
                    <a:pt x="464" y="274"/>
                  </a:lnTo>
                  <a:lnTo>
                    <a:pt x="719" y="303"/>
                  </a:lnTo>
                  <a:lnTo>
                    <a:pt x="980" y="250"/>
                  </a:lnTo>
                  <a:lnTo>
                    <a:pt x="1141" y="190"/>
                  </a:lnTo>
                  <a:lnTo>
                    <a:pt x="1354" y="0"/>
                  </a:lnTo>
                  <a:lnTo>
                    <a:pt x="1194" y="6"/>
                  </a:lnTo>
                  <a:lnTo>
                    <a:pt x="1158" y="30"/>
                  </a:lnTo>
                  <a:lnTo>
                    <a:pt x="1123" y="78"/>
                  </a:lnTo>
                  <a:lnTo>
                    <a:pt x="1075" y="30"/>
                  </a:lnTo>
                  <a:lnTo>
                    <a:pt x="956" y="48"/>
                  </a:lnTo>
                  <a:lnTo>
                    <a:pt x="737" y="78"/>
                  </a:lnTo>
                  <a:lnTo>
                    <a:pt x="683" y="131"/>
                  </a:lnTo>
                  <a:lnTo>
                    <a:pt x="642" y="84"/>
                  </a:lnTo>
                  <a:lnTo>
                    <a:pt x="541" y="84"/>
                  </a:lnTo>
                  <a:lnTo>
                    <a:pt x="452" y="42"/>
                  </a:lnTo>
                  <a:lnTo>
                    <a:pt x="214" y="54"/>
                  </a:lnTo>
                  <a:lnTo>
                    <a:pt x="0" y="30"/>
                  </a:lnTo>
                  <a:close/>
                </a:path>
              </a:pathLst>
            </a:custGeom>
            <a:pattFill prst="dotDmnd">
              <a:fgClr>
                <a:schemeClr val="bg1"/>
              </a:fgClr>
              <a:bgClr>
                <a:srgbClr val="9999FF"/>
              </a:bgClr>
            </a:pattFill>
            <a:ln w="9525">
              <a:solidFill>
                <a:schemeClr val="tx1"/>
              </a:solidFill>
              <a:round/>
              <a:headEnd/>
              <a:tailEnd/>
            </a:ln>
          </p:spPr>
          <p:txBody>
            <a:bodyPr/>
            <a:lstStyle/>
            <a:p>
              <a:endParaRPr lang="en-US"/>
            </a:p>
          </p:txBody>
        </p:sp>
        <p:sp>
          <p:nvSpPr>
            <p:cNvPr id="87210" name="Text Box 17"/>
            <p:cNvSpPr txBox="1">
              <a:spLocks noChangeArrowheads="1"/>
            </p:cNvSpPr>
            <p:nvPr/>
          </p:nvSpPr>
          <p:spPr bwMode="auto">
            <a:xfrm>
              <a:off x="7685088" y="2016125"/>
              <a:ext cx="330200" cy="366713"/>
            </a:xfrm>
            <a:prstGeom prst="rect">
              <a:avLst/>
            </a:prstGeom>
            <a:noFill/>
            <a:ln w="9525">
              <a:noFill/>
              <a:miter lim="800000"/>
              <a:headEnd/>
              <a:tailEnd/>
            </a:ln>
          </p:spPr>
          <p:txBody>
            <a:bodyPr>
              <a:spAutoFit/>
            </a:bodyPr>
            <a:lstStyle/>
            <a:p>
              <a:pPr>
                <a:spcBef>
                  <a:spcPct val="50000"/>
                </a:spcBef>
              </a:pPr>
              <a:r>
                <a:rPr lang="en-AU" i="0">
                  <a:solidFill>
                    <a:schemeClr val="tx1"/>
                  </a:solidFill>
                </a:rPr>
                <a:t>B</a:t>
              </a:r>
              <a:endParaRPr lang="en-US" i="0">
                <a:solidFill>
                  <a:schemeClr val="tx1"/>
                </a:solidFill>
              </a:endParaRPr>
            </a:p>
          </p:txBody>
        </p:sp>
        <p:sp>
          <p:nvSpPr>
            <p:cNvPr id="87211" name="Text Box 18"/>
            <p:cNvSpPr txBox="1">
              <a:spLocks noChangeArrowheads="1"/>
            </p:cNvSpPr>
            <p:nvPr/>
          </p:nvSpPr>
          <p:spPr bwMode="auto">
            <a:xfrm>
              <a:off x="3933825" y="2178050"/>
              <a:ext cx="330200" cy="366713"/>
            </a:xfrm>
            <a:prstGeom prst="rect">
              <a:avLst/>
            </a:prstGeom>
            <a:noFill/>
            <a:ln w="9525">
              <a:noFill/>
              <a:miter lim="800000"/>
              <a:headEnd/>
              <a:tailEnd/>
            </a:ln>
          </p:spPr>
          <p:txBody>
            <a:bodyPr>
              <a:spAutoFit/>
            </a:bodyPr>
            <a:lstStyle/>
            <a:p>
              <a:pPr>
                <a:spcBef>
                  <a:spcPct val="50000"/>
                </a:spcBef>
              </a:pPr>
              <a:r>
                <a:rPr lang="en-AU" i="0">
                  <a:solidFill>
                    <a:schemeClr val="tx1"/>
                  </a:solidFill>
                </a:rPr>
                <a:t>A</a:t>
              </a:r>
              <a:endParaRPr lang="en-US" i="0">
                <a:solidFill>
                  <a:schemeClr val="tx1"/>
                </a:solidFill>
              </a:endParaRPr>
            </a:p>
          </p:txBody>
        </p:sp>
      </p:grpSp>
      <p:grpSp>
        <p:nvGrpSpPr>
          <p:cNvPr id="87048" name="Group 19"/>
          <p:cNvGrpSpPr>
            <a:grpSpLocks/>
          </p:cNvGrpSpPr>
          <p:nvPr/>
        </p:nvGrpSpPr>
        <p:grpSpPr bwMode="auto">
          <a:xfrm>
            <a:off x="731838" y="1849438"/>
            <a:ext cx="6372225" cy="1254125"/>
            <a:chOff x="1081" y="1069"/>
            <a:chExt cx="4014" cy="790"/>
          </a:xfrm>
        </p:grpSpPr>
        <p:sp>
          <p:nvSpPr>
            <p:cNvPr id="87203" name="AutoShape 20"/>
            <p:cNvSpPr>
              <a:spLocks noChangeArrowheads="1"/>
            </p:cNvSpPr>
            <p:nvPr/>
          </p:nvSpPr>
          <p:spPr bwMode="auto">
            <a:xfrm>
              <a:off x="4941" y="1532"/>
              <a:ext cx="154" cy="327"/>
            </a:xfrm>
            <a:prstGeom prst="downArrow">
              <a:avLst>
                <a:gd name="adj1" fmla="val 50000"/>
                <a:gd name="adj2" fmla="val 53084"/>
              </a:avLst>
            </a:prstGeom>
            <a:solidFill>
              <a:srgbClr val="9999FF"/>
            </a:solidFill>
            <a:ln w="9525">
              <a:solidFill>
                <a:schemeClr val="accent2"/>
              </a:solid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sp>
          <p:nvSpPr>
            <p:cNvPr id="87204" name="AutoShape 21"/>
            <p:cNvSpPr>
              <a:spLocks noChangeArrowheads="1"/>
            </p:cNvSpPr>
            <p:nvPr/>
          </p:nvSpPr>
          <p:spPr bwMode="auto">
            <a:xfrm>
              <a:off x="1841" y="1069"/>
              <a:ext cx="154" cy="327"/>
            </a:xfrm>
            <a:prstGeom prst="downArrow">
              <a:avLst>
                <a:gd name="adj1" fmla="val 50000"/>
                <a:gd name="adj2" fmla="val 53084"/>
              </a:avLst>
            </a:prstGeom>
            <a:solidFill>
              <a:srgbClr val="9999FF"/>
            </a:solidFill>
            <a:ln w="9525">
              <a:solidFill>
                <a:schemeClr val="accent2"/>
              </a:solid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sp>
          <p:nvSpPr>
            <p:cNvPr id="87205" name="AutoShape 22"/>
            <p:cNvSpPr>
              <a:spLocks noChangeArrowheads="1"/>
            </p:cNvSpPr>
            <p:nvPr/>
          </p:nvSpPr>
          <p:spPr bwMode="auto">
            <a:xfrm>
              <a:off x="2524" y="1407"/>
              <a:ext cx="154" cy="327"/>
            </a:xfrm>
            <a:prstGeom prst="downArrow">
              <a:avLst>
                <a:gd name="adj1" fmla="val 50000"/>
                <a:gd name="adj2" fmla="val 53084"/>
              </a:avLst>
            </a:prstGeom>
            <a:solidFill>
              <a:srgbClr val="9999FF"/>
            </a:solidFill>
            <a:ln w="9525">
              <a:solidFill>
                <a:schemeClr val="accent2"/>
              </a:solid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sp>
          <p:nvSpPr>
            <p:cNvPr id="87206" name="AutoShape 23"/>
            <p:cNvSpPr>
              <a:spLocks noChangeArrowheads="1"/>
            </p:cNvSpPr>
            <p:nvPr/>
          </p:nvSpPr>
          <p:spPr bwMode="auto">
            <a:xfrm>
              <a:off x="1081" y="1228"/>
              <a:ext cx="154" cy="327"/>
            </a:xfrm>
            <a:prstGeom prst="downArrow">
              <a:avLst>
                <a:gd name="adj1" fmla="val 50000"/>
                <a:gd name="adj2" fmla="val 53084"/>
              </a:avLst>
            </a:prstGeom>
            <a:solidFill>
              <a:srgbClr val="9999FF"/>
            </a:solidFill>
            <a:ln w="9525">
              <a:solidFill>
                <a:schemeClr val="accent2"/>
              </a:solid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grpSp>
      <p:grpSp>
        <p:nvGrpSpPr>
          <p:cNvPr id="87049" name="Group 182"/>
          <p:cNvGrpSpPr>
            <a:grpSpLocks/>
          </p:cNvGrpSpPr>
          <p:nvPr/>
        </p:nvGrpSpPr>
        <p:grpSpPr bwMode="auto">
          <a:xfrm>
            <a:off x="5235575" y="3148013"/>
            <a:ext cx="2111375" cy="2497137"/>
            <a:chOff x="3298" y="1929"/>
            <a:chExt cx="1330" cy="1573"/>
          </a:xfrm>
        </p:grpSpPr>
        <p:sp>
          <p:nvSpPr>
            <p:cNvPr id="87198" name="Oval 25"/>
            <p:cNvSpPr>
              <a:spLocks noChangeArrowheads="1"/>
            </p:cNvSpPr>
            <p:nvPr/>
          </p:nvSpPr>
          <p:spPr bwMode="auto">
            <a:xfrm>
              <a:off x="3673" y="2180"/>
              <a:ext cx="297" cy="190"/>
            </a:xfrm>
            <a:prstGeom prst="ellipse">
              <a:avLst/>
            </a:prstGeom>
            <a:noFill/>
            <a:ln w="19050">
              <a:solidFill>
                <a:srgbClr val="9999FF"/>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87199" name="Oval 26"/>
            <p:cNvSpPr>
              <a:spLocks noChangeArrowheads="1"/>
            </p:cNvSpPr>
            <p:nvPr/>
          </p:nvSpPr>
          <p:spPr bwMode="auto">
            <a:xfrm>
              <a:off x="3298" y="1929"/>
              <a:ext cx="297" cy="190"/>
            </a:xfrm>
            <a:prstGeom prst="ellipse">
              <a:avLst/>
            </a:prstGeom>
            <a:noFill/>
            <a:ln w="19050">
              <a:solidFill>
                <a:srgbClr val="9999FF"/>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87200" name="Text Box 27"/>
            <p:cNvSpPr txBox="1">
              <a:spLocks noChangeArrowheads="1"/>
            </p:cNvSpPr>
            <p:nvPr/>
          </p:nvSpPr>
          <p:spPr bwMode="auto">
            <a:xfrm>
              <a:off x="3802" y="3098"/>
              <a:ext cx="826" cy="404"/>
            </a:xfrm>
            <a:prstGeom prst="rect">
              <a:avLst/>
            </a:prstGeom>
            <a:noFill/>
            <a:ln w="9525">
              <a:noFill/>
              <a:miter lim="800000"/>
              <a:headEnd/>
              <a:tailEnd/>
            </a:ln>
          </p:spPr>
          <p:txBody>
            <a:bodyPr>
              <a:spAutoFit/>
            </a:bodyPr>
            <a:lstStyle/>
            <a:p>
              <a:pPr>
                <a:spcBef>
                  <a:spcPct val="50000"/>
                </a:spcBef>
              </a:pPr>
              <a:r>
                <a:rPr lang="en-AU" i="0">
                  <a:solidFill>
                    <a:schemeClr val="tx1"/>
                  </a:solidFill>
                </a:rPr>
                <a:t>Hydraulic Properties</a:t>
              </a:r>
              <a:endParaRPr lang="en-US" i="0">
                <a:solidFill>
                  <a:schemeClr val="tx1"/>
                </a:solidFill>
              </a:endParaRPr>
            </a:p>
          </p:txBody>
        </p:sp>
        <p:sp>
          <p:nvSpPr>
            <p:cNvPr id="87201" name="Line 28"/>
            <p:cNvSpPr>
              <a:spLocks noChangeShapeType="1"/>
            </p:cNvSpPr>
            <p:nvPr/>
          </p:nvSpPr>
          <p:spPr bwMode="auto">
            <a:xfrm>
              <a:off x="3834" y="2370"/>
              <a:ext cx="231" cy="724"/>
            </a:xfrm>
            <a:prstGeom prst="line">
              <a:avLst/>
            </a:prstGeom>
            <a:noFill/>
            <a:ln w="9525">
              <a:solidFill>
                <a:schemeClr val="tx1"/>
              </a:solidFill>
              <a:round/>
              <a:headEnd/>
              <a:tailEnd/>
            </a:ln>
          </p:spPr>
          <p:txBody>
            <a:bodyPr/>
            <a:lstStyle/>
            <a:p>
              <a:endParaRPr lang="en-US"/>
            </a:p>
          </p:txBody>
        </p:sp>
        <p:sp>
          <p:nvSpPr>
            <p:cNvPr id="87202" name="Line 29"/>
            <p:cNvSpPr>
              <a:spLocks noChangeShapeType="1"/>
            </p:cNvSpPr>
            <p:nvPr/>
          </p:nvSpPr>
          <p:spPr bwMode="auto">
            <a:xfrm>
              <a:off x="3460" y="2114"/>
              <a:ext cx="605" cy="968"/>
            </a:xfrm>
            <a:prstGeom prst="line">
              <a:avLst/>
            </a:prstGeom>
            <a:noFill/>
            <a:ln w="9525">
              <a:solidFill>
                <a:schemeClr val="tx1"/>
              </a:solidFill>
              <a:round/>
              <a:headEnd/>
              <a:tailEnd/>
            </a:ln>
          </p:spPr>
          <p:txBody>
            <a:bodyPr/>
            <a:lstStyle/>
            <a:p>
              <a:endParaRPr lang="en-US"/>
            </a:p>
          </p:txBody>
        </p:sp>
      </p:grpSp>
      <p:sp>
        <p:nvSpPr>
          <p:cNvPr id="87050" name="Text Box 30"/>
          <p:cNvSpPr txBox="1">
            <a:spLocks noChangeArrowheads="1"/>
          </p:cNvSpPr>
          <p:nvPr/>
        </p:nvSpPr>
        <p:spPr bwMode="auto">
          <a:xfrm>
            <a:off x="6265863" y="1830388"/>
            <a:ext cx="1223962" cy="366712"/>
          </a:xfrm>
          <a:prstGeom prst="rect">
            <a:avLst/>
          </a:prstGeom>
          <a:noFill/>
          <a:ln w="9525">
            <a:noFill/>
            <a:miter lim="800000"/>
            <a:headEnd/>
            <a:tailEnd/>
          </a:ln>
        </p:spPr>
        <p:txBody>
          <a:bodyPr>
            <a:spAutoFit/>
          </a:bodyPr>
          <a:lstStyle/>
          <a:p>
            <a:pPr>
              <a:spcBef>
                <a:spcPct val="50000"/>
              </a:spcBef>
            </a:pPr>
            <a:r>
              <a:rPr lang="en-AU" i="0">
                <a:solidFill>
                  <a:schemeClr val="tx1"/>
                </a:solidFill>
              </a:rPr>
              <a:t>Recharge</a:t>
            </a:r>
            <a:endParaRPr lang="en-US" i="0">
              <a:solidFill>
                <a:schemeClr val="tx1"/>
              </a:solidFill>
            </a:endParaRPr>
          </a:p>
        </p:txBody>
      </p:sp>
      <p:sp>
        <p:nvSpPr>
          <p:cNvPr id="87051" name="AutoShape 31"/>
          <p:cNvSpPr>
            <a:spLocks noChangeArrowheads="1"/>
          </p:cNvSpPr>
          <p:nvPr/>
        </p:nvSpPr>
        <p:spPr bwMode="auto">
          <a:xfrm>
            <a:off x="1781175" y="6073775"/>
            <a:ext cx="457200" cy="501650"/>
          </a:xfrm>
          <a:prstGeom prst="downArrow">
            <a:avLst>
              <a:gd name="adj1" fmla="val 50000"/>
              <a:gd name="adj2" fmla="val 27431"/>
            </a:avLst>
          </a:prstGeom>
          <a:solidFill>
            <a:srgbClr val="FF9933"/>
          </a:solidFill>
          <a:ln w="28575" algn="ctr">
            <a:solidFill>
              <a:srgbClr val="FF9933"/>
            </a:solidFill>
            <a:miter lim="800000"/>
            <a:headEnd/>
            <a:tailEnd/>
          </a:ln>
        </p:spPr>
        <p:txBody>
          <a:bodyPr/>
          <a:lstStyle/>
          <a:p>
            <a:pPr>
              <a:lnSpc>
                <a:spcPct val="31000"/>
              </a:lnSpc>
              <a:buClr>
                <a:srgbClr val="000000"/>
              </a:buClr>
              <a:buSzPct val="100000"/>
              <a:buFont typeface="Times New Roman" pitchFamily="18" charset="0"/>
              <a:buNone/>
            </a:pPr>
            <a:endParaRPr lang="en-US"/>
          </a:p>
        </p:txBody>
      </p:sp>
      <p:grpSp>
        <p:nvGrpSpPr>
          <p:cNvPr id="87052" name="Group 32"/>
          <p:cNvGrpSpPr>
            <a:grpSpLocks/>
          </p:cNvGrpSpPr>
          <p:nvPr/>
        </p:nvGrpSpPr>
        <p:grpSpPr bwMode="auto">
          <a:xfrm>
            <a:off x="684213" y="2162175"/>
            <a:ext cx="2733675" cy="4108450"/>
            <a:chOff x="1051" y="1266"/>
            <a:chExt cx="1722" cy="2588"/>
          </a:xfrm>
        </p:grpSpPr>
        <p:sp>
          <p:nvSpPr>
            <p:cNvPr id="87193" name="Freeform 33"/>
            <p:cNvSpPr>
              <a:spLocks/>
            </p:cNvSpPr>
            <p:nvPr/>
          </p:nvSpPr>
          <p:spPr bwMode="auto">
            <a:xfrm>
              <a:off x="1051" y="1266"/>
              <a:ext cx="1722" cy="486"/>
            </a:xfrm>
            <a:custGeom>
              <a:avLst/>
              <a:gdLst>
                <a:gd name="T0" fmla="*/ 0 w 1722"/>
                <a:gd name="T1" fmla="*/ 462 h 486"/>
                <a:gd name="T2" fmla="*/ 196 w 1722"/>
                <a:gd name="T3" fmla="*/ 284 h 486"/>
                <a:gd name="T4" fmla="*/ 439 w 1722"/>
                <a:gd name="T5" fmla="*/ 46 h 486"/>
                <a:gd name="T6" fmla="*/ 683 w 1722"/>
                <a:gd name="T7" fmla="*/ 17 h 486"/>
                <a:gd name="T8" fmla="*/ 1057 w 1722"/>
                <a:gd name="T9" fmla="*/ 23 h 486"/>
                <a:gd name="T10" fmla="*/ 1354 w 1722"/>
                <a:gd name="T11" fmla="*/ 153 h 486"/>
                <a:gd name="T12" fmla="*/ 1574 w 1722"/>
                <a:gd name="T13" fmla="*/ 373 h 486"/>
                <a:gd name="T14" fmla="*/ 1722 w 1722"/>
                <a:gd name="T15" fmla="*/ 486 h 486"/>
                <a:gd name="T16" fmla="*/ 0 60000 65536"/>
                <a:gd name="T17" fmla="*/ 0 60000 65536"/>
                <a:gd name="T18" fmla="*/ 0 60000 65536"/>
                <a:gd name="T19" fmla="*/ 0 60000 65536"/>
                <a:gd name="T20" fmla="*/ 0 60000 65536"/>
                <a:gd name="T21" fmla="*/ 0 60000 65536"/>
                <a:gd name="T22" fmla="*/ 0 60000 65536"/>
                <a:gd name="T23" fmla="*/ 0 60000 65536"/>
                <a:gd name="T24" fmla="*/ 0 w 1722"/>
                <a:gd name="T25" fmla="*/ 0 h 486"/>
                <a:gd name="T26" fmla="*/ 1722 w 1722"/>
                <a:gd name="T27" fmla="*/ 486 h 4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22" h="486">
                  <a:moveTo>
                    <a:pt x="0" y="462"/>
                  </a:moveTo>
                  <a:cubicBezTo>
                    <a:pt x="61" y="407"/>
                    <a:pt x="123" y="353"/>
                    <a:pt x="196" y="284"/>
                  </a:cubicBezTo>
                  <a:cubicBezTo>
                    <a:pt x="269" y="215"/>
                    <a:pt x="358" y="90"/>
                    <a:pt x="439" y="46"/>
                  </a:cubicBezTo>
                  <a:cubicBezTo>
                    <a:pt x="520" y="2"/>
                    <a:pt x="580" y="21"/>
                    <a:pt x="683" y="17"/>
                  </a:cubicBezTo>
                  <a:cubicBezTo>
                    <a:pt x="786" y="13"/>
                    <a:pt x="945" y="0"/>
                    <a:pt x="1057" y="23"/>
                  </a:cubicBezTo>
                  <a:cubicBezTo>
                    <a:pt x="1169" y="46"/>
                    <a:pt x="1268" y="95"/>
                    <a:pt x="1354" y="153"/>
                  </a:cubicBezTo>
                  <a:cubicBezTo>
                    <a:pt x="1440" y="211"/>
                    <a:pt x="1513" y="318"/>
                    <a:pt x="1574" y="373"/>
                  </a:cubicBezTo>
                  <a:cubicBezTo>
                    <a:pt x="1635" y="428"/>
                    <a:pt x="1678" y="457"/>
                    <a:pt x="1722" y="486"/>
                  </a:cubicBezTo>
                </a:path>
              </a:pathLst>
            </a:custGeom>
            <a:noFill/>
            <a:ln w="9525" cap="flat">
              <a:solidFill>
                <a:schemeClr val="tx1"/>
              </a:solidFill>
              <a:prstDash val="dash"/>
              <a:round/>
              <a:headEnd/>
              <a:tailEnd/>
            </a:ln>
          </p:spPr>
          <p:txBody>
            <a:bodyPr/>
            <a:lstStyle/>
            <a:p>
              <a:endParaRPr lang="en-US"/>
            </a:p>
          </p:txBody>
        </p:sp>
        <p:sp>
          <p:nvSpPr>
            <p:cNvPr id="87194" name="Freeform 34"/>
            <p:cNvSpPr>
              <a:spLocks/>
            </p:cNvSpPr>
            <p:nvPr/>
          </p:nvSpPr>
          <p:spPr bwMode="auto">
            <a:xfrm>
              <a:off x="1116" y="1729"/>
              <a:ext cx="1456" cy="688"/>
            </a:xfrm>
            <a:custGeom>
              <a:avLst/>
              <a:gdLst>
                <a:gd name="T0" fmla="*/ 0 w 1456"/>
                <a:gd name="T1" fmla="*/ 688 h 688"/>
                <a:gd name="T2" fmla="*/ 89 w 1456"/>
                <a:gd name="T3" fmla="*/ 533 h 688"/>
                <a:gd name="T4" fmla="*/ 179 w 1456"/>
                <a:gd name="T5" fmla="*/ 355 h 688"/>
                <a:gd name="T6" fmla="*/ 297 w 1456"/>
                <a:gd name="T7" fmla="*/ 171 h 688"/>
                <a:gd name="T8" fmla="*/ 428 w 1456"/>
                <a:gd name="T9" fmla="*/ 58 h 688"/>
                <a:gd name="T10" fmla="*/ 594 w 1456"/>
                <a:gd name="T11" fmla="*/ 11 h 688"/>
                <a:gd name="T12" fmla="*/ 844 w 1456"/>
                <a:gd name="T13" fmla="*/ 17 h 688"/>
                <a:gd name="T14" fmla="*/ 1045 w 1456"/>
                <a:gd name="T15" fmla="*/ 112 h 688"/>
                <a:gd name="T16" fmla="*/ 1188 w 1456"/>
                <a:gd name="T17" fmla="*/ 248 h 688"/>
                <a:gd name="T18" fmla="*/ 1307 w 1456"/>
                <a:gd name="T19" fmla="*/ 391 h 688"/>
                <a:gd name="T20" fmla="*/ 1431 w 1456"/>
                <a:gd name="T21" fmla="*/ 539 h 688"/>
                <a:gd name="T22" fmla="*/ 1455 w 1456"/>
                <a:gd name="T23" fmla="*/ 634 h 68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56"/>
                <a:gd name="T37" fmla="*/ 0 h 688"/>
                <a:gd name="T38" fmla="*/ 1456 w 1456"/>
                <a:gd name="T39" fmla="*/ 688 h 68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56" h="688">
                  <a:moveTo>
                    <a:pt x="0" y="688"/>
                  </a:moveTo>
                  <a:cubicBezTo>
                    <a:pt x="29" y="638"/>
                    <a:pt x="59" y="589"/>
                    <a:pt x="89" y="533"/>
                  </a:cubicBezTo>
                  <a:cubicBezTo>
                    <a:pt x="119" y="477"/>
                    <a:pt x="144" y="415"/>
                    <a:pt x="179" y="355"/>
                  </a:cubicBezTo>
                  <a:cubicBezTo>
                    <a:pt x="214" y="295"/>
                    <a:pt x="256" y="221"/>
                    <a:pt x="297" y="171"/>
                  </a:cubicBezTo>
                  <a:cubicBezTo>
                    <a:pt x="338" y="121"/>
                    <a:pt x="378" y="85"/>
                    <a:pt x="428" y="58"/>
                  </a:cubicBezTo>
                  <a:cubicBezTo>
                    <a:pt x="478" y="31"/>
                    <a:pt x="525" y="18"/>
                    <a:pt x="594" y="11"/>
                  </a:cubicBezTo>
                  <a:cubicBezTo>
                    <a:pt x="663" y="4"/>
                    <a:pt x="769" y="0"/>
                    <a:pt x="844" y="17"/>
                  </a:cubicBezTo>
                  <a:cubicBezTo>
                    <a:pt x="919" y="34"/>
                    <a:pt x="988" y="74"/>
                    <a:pt x="1045" y="112"/>
                  </a:cubicBezTo>
                  <a:cubicBezTo>
                    <a:pt x="1102" y="150"/>
                    <a:pt x="1144" y="202"/>
                    <a:pt x="1188" y="248"/>
                  </a:cubicBezTo>
                  <a:cubicBezTo>
                    <a:pt x="1232" y="294"/>
                    <a:pt x="1267" y="343"/>
                    <a:pt x="1307" y="391"/>
                  </a:cubicBezTo>
                  <a:cubicBezTo>
                    <a:pt x="1347" y="439"/>
                    <a:pt x="1406" y="499"/>
                    <a:pt x="1431" y="539"/>
                  </a:cubicBezTo>
                  <a:cubicBezTo>
                    <a:pt x="1456" y="579"/>
                    <a:pt x="1451" y="618"/>
                    <a:pt x="1455" y="634"/>
                  </a:cubicBezTo>
                </a:path>
              </a:pathLst>
            </a:custGeom>
            <a:noFill/>
            <a:ln w="9525" cap="flat">
              <a:solidFill>
                <a:schemeClr val="tx1"/>
              </a:solidFill>
              <a:prstDash val="dash"/>
              <a:round/>
              <a:headEnd/>
              <a:tailEnd/>
            </a:ln>
          </p:spPr>
          <p:txBody>
            <a:bodyPr/>
            <a:lstStyle/>
            <a:p>
              <a:endParaRPr lang="en-US"/>
            </a:p>
          </p:txBody>
        </p:sp>
        <p:sp>
          <p:nvSpPr>
            <p:cNvPr id="87195" name="Freeform 35"/>
            <p:cNvSpPr>
              <a:spLocks/>
            </p:cNvSpPr>
            <p:nvPr/>
          </p:nvSpPr>
          <p:spPr bwMode="auto">
            <a:xfrm>
              <a:off x="1205" y="2249"/>
              <a:ext cx="1170" cy="595"/>
            </a:xfrm>
            <a:custGeom>
              <a:avLst/>
              <a:gdLst>
                <a:gd name="T0" fmla="*/ 0 w 1170"/>
                <a:gd name="T1" fmla="*/ 595 h 595"/>
                <a:gd name="T2" fmla="*/ 155 w 1170"/>
                <a:gd name="T3" fmla="*/ 399 h 595"/>
                <a:gd name="T4" fmla="*/ 339 w 1170"/>
                <a:gd name="T5" fmla="*/ 162 h 595"/>
                <a:gd name="T6" fmla="*/ 582 w 1170"/>
                <a:gd name="T7" fmla="*/ 19 h 595"/>
                <a:gd name="T8" fmla="*/ 850 w 1170"/>
                <a:gd name="T9" fmla="*/ 49 h 595"/>
                <a:gd name="T10" fmla="*/ 986 w 1170"/>
                <a:gd name="T11" fmla="*/ 203 h 595"/>
                <a:gd name="T12" fmla="*/ 1069 w 1170"/>
                <a:gd name="T13" fmla="*/ 417 h 595"/>
                <a:gd name="T14" fmla="*/ 1170 w 1170"/>
                <a:gd name="T15" fmla="*/ 566 h 595"/>
                <a:gd name="T16" fmla="*/ 0 60000 65536"/>
                <a:gd name="T17" fmla="*/ 0 60000 65536"/>
                <a:gd name="T18" fmla="*/ 0 60000 65536"/>
                <a:gd name="T19" fmla="*/ 0 60000 65536"/>
                <a:gd name="T20" fmla="*/ 0 60000 65536"/>
                <a:gd name="T21" fmla="*/ 0 60000 65536"/>
                <a:gd name="T22" fmla="*/ 0 60000 65536"/>
                <a:gd name="T23" fmla="*/ 0 60000 65536"/>
                <a:gd name="T24" fmla="*/ 0 w 1170"/>
                <a:gd name="T25" fmla="*/ 0 h 595"/>
                <a:gd name="T26" fmla="*/ 1170 w 1170"/>
                <a:gd name="T27" fmla="*/ 595 h 59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70" h="595">
                  <a:moveTo>
                    <a:pt x="0" y="595"/>
                  </a:moveTo>
                  <a:cubicBezTo>
                    <a:pt x="49" y="533"/>
                    <a:pt x="98" y="471"/>
                    <a:pt x="155" y="399"/>
                  </a:cubicBezTo>
                  <a:cubicBezTo>
                    <a:pt x="212" y="327"/>
                    <a:pt x="268" y="225"/>
                    <a:pt x="339" y="162"/>
                  </a:cubicBezTo>
                  <a:cubicBezTo>
                    <a:pt x="410" y="99"/>
                    <a:pt x="497" y="38"/>
                    <a:pt x="582" y="19"/>
                  </a:cubicBezTo>
                  <a:cubicBezTo>
                    <a:pt x="667" y="0"/>
                    <a:pt x="783" y="18"/>
                    <a:pt x="850" y="49"/>
                  </a:cubicBezTo>
                  <a:cubicBezTo>
                    <a:pt x="917" y="80"/>
                    <a:pt x="950" y="142"/>
                    <a:pt x="986" y="203"/>
                  </a:cubicBezTo>
                  <a:cubicBezTo>
                    <a:pt x="1022" y="264"/>
                    <a:pt x="1038" y="357"/>
                    <a:pt x="1069" y="417"/>
                  </a:cubicBezTo>
                  <a:cubicBezTo>
                    <a:pt x="1100" y="477"/>
                    <a:pt x="1153" y="541"/>
                    <a:pt x="1170" y="566"/>
                  </a:cubicBezTo>
                </a:path>
              </a:pathLst>
            </a:custGeom>
            <a:noFill/>
            <a:ln w="9525" cap="flat">
              <a:solidFill>
                <a:schemeClr val="tx1"/>
              </a:solidFill>
              <a:prstDash val="dash"/>
              <a:round/>
              <a:headEnd/>
              <a:tailEnd/>
            </a:ln>
          </p:spPr>
          <p:txBody>
            <a:bodyPr/>
            <a:lstStyle/>
            <a:p>
              <a:endParaRPr lang="en-US"/>
            </a:p>
          </p:txBody>
        </p:sp>
        <p:sp>
          <p:nvSpPr>
            <p:cNvPr id="87196" name="Freeform 36"/>
            <p:cNvSpPr>
              <a:spLocks/>
            </p:cNvSpPr>
            <p:nvPr/>
          </p:nvSpPr>
          <p:spPr bwMode="auto">
            <a:xfrm>
              <a:off x="1354" y="2856"/>
              <a:ext cx="1324" cy="582"/>
            </a:xfrm>
            <a:custGeom>
              <a:avLst/>
              <a:gdLst>
                <a:gd name="T0" fmla="*/ 0 w 1324"/>
                <a:gd name="T1" fmla="*/ 457 h 582"/>
                <a:gd name="T2" fmla="*/ 95 w 1324"/>
                <a:gd name="T3" fmla="*/ 267 h 582"/>
                <a:gd name="T4" fmla="*/ 291 w 1324"/>
                <a:gd name="T5" fmla="*/ 66 h 582"/>
                <a:gd name="T6" fmla="*/ 540 w 1324"/>
                <a:gd name="T7" fmla="*/ 6 h 582"/>
                <a:gd name="T8" fmla="*/ 766 w 1324"/>
                <a:gd name="T9" fmla="*/ 101 h 582"/>
                <a:gd name="T10" fmla="*/ 849 w 1324"/>
                <a:gd name="T11" fmla="*/ 309 h 582"/>
                <a:gd name="T12" fmla="*/ 1003 w 1324"/>
                <a:gd name="T13" fmla="*/ 422 h 582"/>
                <a:gd name="T14" fmla="*/ 1324 w 1324"/>
                <a:gd name="T15" fmla="*/ 582 h 582"/>
                <a:gd name="T16" fmla="*/ 0 60000 65536"/>
                <a:gd name="T17" fmla="*/ 0 60000 65536"/>
                <a:gd name="T18" fmla="*/ 0 60000 65536"/>
                <a:gd name="T19" fmla="*/ 0 60000 65536"/>
                <a:gd name="T20" fmla="*/ 0 60000 65536"/>
                <a:gd name="T21" fmla="*/ 0 60000 65536"/>
                <a:gd name="T22" fmla="*/ 0 60000 65536"/>
                <a:gd name="T23" fmla="*/ 0 60000 65536"/>
                <a:gd name="T24" fmla="*/ 0 w 1324"/>
                <a:gd name="T25" fmla="*/ 0 h 582"/>
                <a:gd name="T26" fmla="*/ 1324 w 1324"/>
                <a:gd name="T27" fmla="*/ 582 h 58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24" h="582">
                  <a:moveTo>
                    <a:pt x="0" y="457"/>
                  </a:moveTo>
                  <a:cubicBezTo>
                    <a:pt x="23" y="394"/>
                    <a:pt x="46" y="332"/>
                    <a:pt x="95" y="267"/>
                  </a:cubicBezTo>
                  <a:cubicBezTo>
                    <a:pt x="144" y="202"/>
                    <a:pt x="217" y="110"/>
                    <a:pt x="291" y="66"/>
                  </a:cubicBezTo>
                  <a:cubicBezTo>
                    <a:pt x="365" y="22"/>
                    <a:pt x="461" y="0"/>
                    <a:pt x="540" y="6"/>
                  </a:cubicBezTo>
                  <a:cubicBezTo>
                    <a:pt x="619" y="12"/>
                    <a:pt x="715" y="51"/>
                    <a:pt x="766" y="101"/>
                  </a:cubicBezTo>
                  <a:cubicBezTo>
                    <a:pt x="817" y="151"/>
                    <a:pt x="810" y="256"/>
                    <a:pt x="849" y="309"/>
                  </a:cubicBezTo>
                  <a:cubicBezTo>
                    <a:pt x="888" y="362"/>
                    <a:pt x="924" y="376"/>
                    <a:pt x="1003" y="422"/>
                  </a:cubicBezTo>
                  <a:cubicBezTo>
                    <a:pt x="1082" y="468"/>
                    <a:pt x="1203" y="525"/>
                    <a:pt x="1324" y="582"/>
                  </a:cubicBezTo>
                </a:path>
              </a:pathLst>
            </a:custGeom>
            <a:noFill/>
            <a:ln w="9525" cap="flat">
              <a:solidFill>
                <a:schemeClr val="tx1"/>
              </a:solidFill>
              <a:prstDash val="dash"/>
              <a:round/>
              <a:headEnd/>
              <a:tailEnd/>
            </a:ln>
          </p:spPr>
          <p:txBody>
            <a:bodyPr/>
            <a:lstStyle/>
            <a:p>
              <a:endParaRPr lang="en-US"/>
            </a:p>
          </p:txBody>
        </p:sp>
        <p:sp>
          <p:nvSpPr>
            <p:cNvPr id="87197" name="Freeform 37"/>
            <p:cNvSpPr>
              <a:spLocks/>
            </p:cNvSpPr>
            <p:nvPr/>
          </p:nvSpPr>
          <p:spPr bwMode="auto">
            <a:xfrm>
              <a:off x="1075" y="3453"/>
              <a:ext cx="1585" cy="401"/>
            </a:xfrm>
            <a:custGeom>
              <a:avLst/>
              <a:gdLst>
                <a:gd name="T0" fmla="*/ 0 w 1585"/>
                <a:gd name="T1" fmla="*/ 300 h 401"/>
                <a:gd name="T2" fmla="*/ 243 w 1585"/>
                <a:gd name="T3" fmla="*/ 241 h 401"/>
                <a:gd name="T4" fmla="*/ 499 w 1585"/>
                <a:gd name="T5" fmla="*/ 110 h 401"/>
                <a:gd name="T6" fmla="*/ 718 w 1585"/>
                <a:gd name="T7" fmla="*/ 21 h 401"/>
                <a:gd name="T8" fmla="*/ 997 w 1585"/>
                <a:gd name="T9" fmla="*/ 21 h 401"/>
                <a:gd name="T10" fmla="*/ 1217 w 1585"/>
                <a:gd name="T11" fmla="*/ 146 h 401"/>
                <a:gd name="T12" fmla="*/ 1431 w 1585"/>
                <a:gd name="T13" fmla="*/ 306 h 401"/>
                <a:gd name="T14" fmla="*/ 1585 w 1585"/>
                <a:gd name="T15" fmla="*/ 401 h 401"/>
                <a:gd name="T16" fmla="*/ 0 60000 65536"/>
                <a:gd name="T17" fmla="*/ 0 60000 65536"/>
                <a:gd name="T18" fmla="*/ 0 60000 65536"/>
                <a:gd name="T19" fmla="*/ 0 60000 65536"/>
                <a:gd name="T20" fmla="*/ 0 60000 65536"/>
                <a:gd name="T21" fmla="*/ 0 60000 65536"/>
                <a:gd name="T22" fmla="*/ 0 60000 65536"/>
                <a:gd name="T23" fmla="*/ 0 60000 65536"/>
                <a:gd name="T24" fmla="*/ 0 w 1585"/>
                <a:gd name="T25" fmla="*/ 0 h 401"/>
                <a:gd name="T26" fmla="*/ 1585 w 1585"/>
                <a:gd name="T27" fmla="*/ 401 h 40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85" h="401">
                  <a:moveTo>
                    <a:pt x="0" y="300"/>
                  </a:moveTo>
                  <a:cubicBezTo>
                    <a:pt x="80" y="286"/>
                    <a:pt x="160" y="273"/>
                    <a:pt x="243" y="241"/>
                  </a:cubicBezTo>
                  <a:cubicBezTo>
                    <a:pt x="326" y="209"/>
                    <a:pt x="420" y="147"/>
                    <a:pt x="499" y="110"/>
                  </a:cubicBezTo>
                  <a:cubicBezTo>
                    <a:pt x="578" y="73"/>
                    <a:pt x="635" y="36"/>
                    <a:pt x="718" y="21"/>
                  </a:cubicBezTo>
                  <a:cubicBezTo>
                    <a:pt x="801" y="6"/>
                    <a:pt x="914" y="0"/>
                    <a:pt x="997" y="21"/>
                  </a:cubicBezTo>
                  <a:cubicBezTo>
                    <a:pt x="1080" y="42"/>
                    <a:pt x="1145" y="99"/>
                    <a:pt x="1217" y="146"/>
                  </a:cubicBezTo>
                  <a:cubicBezTo>
                    <a:pt x="1289" y="193"/>
                    <a:pt x="1370" y="264"/>
                    <a:pt x="1431" y="306"/>
                  </a:cubicBezTo>
                  <a:cubicBezTo>
                    <a:pt x="1492" y="348"/>
                    <a:pt x="1560" y="384"/>
                    <a:pt x="1585" y="401"/>
                  </a:cubicBezTo>
                </a:path>
              </a:pathLst>
            </a:custGeom>
            <a:noFill/>
            <a:ln w="9525" cap="flat">
              <a:solidFill>
                <a:schemeClr val="tx1"/>
              </a:solidFill>
              <a:prstDash val="dash"/>
              <a:round/>
              <a:headEnd/>
              <a:tailEnd/>
            </a:ln>
          </p:spPr>
          <p:txBody>
            <a:bodyPr/>
            <a:lstStyle/>
            <a:p>
              <a:endParaRPr lang="en-US"/>
            </a:p>
          </p:txBody>
        </p:sp>
      </p:grpSp>
      <p:grpSp>
        <p:nvGrpSpPr>
          <p:cNvPr id="109606" name="Group 38"/>
          <p:cNvGrpSpPr>
            <a:grpSpLocks/>
          </p:cNvGrpSpPr>
          <p:nvPr/>
        </p:nvGrpSpPr>
        <p:grpSpPr bwMode="auto">
          <a:xfrm>
            <a:off x="5119688" y="3249613"/>
            <a:ext cx="1096962" cy="228600"/>
            <a:chOff x="3442" y="2930"/>
            <a:chExt cx="691" cy="259"/>
          </a:xfrm>
        </p:grpSpPr>
        <p:sp>
          <p:nvSpPr>
            <p:cNvPr id="87191" name="AutoShape 39"/>
            <p:cNvSpPr>
              <a:spLocks noChangeArrowheads="1"/>
            </p:cNvSpPr>
            <p:nvPr/>
          </p:nvSpPr>
          <p:spPr bwMode="auto">
            <a:xfrm rot="-5400000">
              <a:off x="3846" y="2901"/>
              <a:ext cx="252" cy="323"/>
            </a:xfrm>
            <a:custGeom>
              <a:avLst/>
              <a:gdLst>
                <a:gd name="T0" fmla="*/ 176 w 21600"/>
                <a:gd name="T1" fmla="*/ 0 h 21600"/>
                <a:gd name="T2" fmla="*/ 176 w 21600"/>
                <a:gd name="T3" fmla="*/ 182 h 21600"/>
                <a:gd name="T4" fmla="*/ 38 w 21600"/>
                <a:gd name="T5" fmla="*/ 323 h 21600"/>
                <a:gd name="T6" fmla="*/ 252 w 21600"/>
                <a:gd name="T7" fmla="*/ 91 h 21600"/>
                <a:gd name="T8" fmla="*/ 17694720 60000 65536"/>
                <a:gd name="T9" fmla="*/ 5898240 60000 65536"/>
                <a:gd name="T10" fmla="*/ 5898240 60000 65536"/>
                <a:gd name="T11" fmla="*/ 0 60000 65536"/>
                <a:gd name="T12" fmla="*/ 12429 w 21600"/>
                <a:gd name="T13" fmla="*/ 2942 h 21600"/>
                <a:gd name="T14" fmla="*/ 18257 w 21600"/>
                <a:gd name="T15" fmla="*/ 9228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9999FF"/>
            </a:solidFill>
            <a:ln w="9525">
              <a:solidFill>
                <a:schemeClr val="tx1"/>
              </a:solidFill>
              <a:miter lim="800000"/>
              <a:headEnd/>
              <a:tailEnd/>
            </a:ln>
          </p:spPr>
          <p:txBody>
            <a:bodyPr wrap="none" anchor="ctr"/>
            <a:lstStyle/>
            <a:p>
              <a:endParaRPr lang="en-US"/>
            </a:p>
          </p:txBody>
        </p:sp>
        <p:sp>
          <p:nvSpPr>
            <p:cNvPr id="87192" name="AutoShape 40"/>
            <p:cNvSpPr>
              <a:spLocks noChangeArrowheads="1"/>
            </p:cNvSpPr>
            <p:nvPr/>
          </p:nvSpPr>
          <p:spPr bwMode="auto">
            <a:xfrm rot="5400000" flipH="1">
              <a:off x="3478" y="2894"/>
              <a:ext cx="252" cy="323"/>
            </a:xfrm>
            <a:custGeom>
              <a:avLst/>
              <a:gdLst>
                <a:gd name="T0" fmla="*/ 176 w 21600"/>
                <a:gd name="T1" fmla="*/ 0 h 21600"/>
                <a:gd name="T2" fmla="*/ 176 w 21600"/>
                <a:gd name="T3" fmla="*/ 182 h 21600"/>
                <a:gd name="T4" fmla="*/ 38 w 21600"/>
                <a:gd name="T5" fmla="*/ 323 h 21600"/>
                <a:gd name="T6" fmla="*/ 252 w 21600"/>
                <a:gd name="T7" fmla="*/ 91 h 21600"/>
                <a:gd name="T8" fmla="*/ 17694720 60000 65536"/>
                <a:gd name="T9" fmla="*/ 5898240 60000 65536"/>
                <a:gd name="T10" fmla="*/ 5898240 60000 65536"/>
                <a:gd name="T11" fmla="*/ 0 60000 65536"/>
                <a:gd name="T12" fmla="*/ 12429 w 21600"/>
                <a:gd name="T13" fmla="*/ 2942 h 21600"/>
                <a:gd name="T14" fmla="*/ 18257 w 21600"/>
                <a:gd name="T15" fmla="*/ 9228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9999FF"/>
            </a:solidFill>
            <a:ln w="9525">
              <a:solidFill>
                <a:schemeClr val="tx1"/>
              </a:solidFill>
              <a:miter lim="800000"/>
              <a:headEnd/>
              <a:tailEnd/>
            </a:ln>
          </p:spPr>
          <p:txBody>
            <a:bodyPr wrap="none" anchor="ctr"/>
            <a:lstStyle/>
            <a:p>
              <a:endParaRPr lang="en-US"/>
            </a:p>
          </p:txBody>
        </p:sp>
      </p:grpSp>
      <p:grpSp>
        <p:nvGrpSpPr>
          <p:cNvPr id="109609" name="Group 41"/>
          <p:cNvGrpSpPr>
            <a:grpSpLocks/>
          </p:cNvGrpSpPr>
          <p:nvPr/>
        </p:nvGrpSpPr>
        <p:grpSpPr bwMode="auto">
          <a:xfrm>
            <a:off x="1576388" y="3251200"/>
            <a:ext cx="731837" cy="1347788"/>
            <a:chOff x="1613" y="1952"/>
            <a:chExt cx="461" cy="849"/>
          </a:xfrm>
        </p:grpSpPr>
        <p:sp>
          <p:nvSpPr>
            <p:cNvPr id="87166" name="Freeform 42" descr="Dashed horizontal"/>
            <p:cNvSpPr>
              <a:spLocks/>
            </p:cNvSpPr>
            <p:nvPr/>
          </p:nvSpPr>
          <p:spPr bwMode="auto">
            <a:xfrm>
              <a:off x="1613" y="1952"/>
              <a:ext cx="461" cy="849"/>
            </a:xfrm>
            <a:custGeom>
              <a:avLst/>
              <a:gdLst>
                <a:gd name="T0" fmla="*/ 201 w 461"/>
                <a:gd name="T1" fmla="*/ 849 h 849"/>
                <a:gd name="T2" fmla="*/ 324 w 461"/>
                <a:gd name="T3" fmla="*/ 806 h 849"/>
                <a:gd name="T4" fmla="*/ 461 w 461"/>
                <a:gd name="T5" fmla="*/ 633 h 849"/>
                <a:gd name="T6" fmla="*/ 461 w 461"/>
                <a:gd name="T7" fmla="*/ 489 h 849"/>
                <a:gd name="T8" fmla="*/ 425 w 461"/>
                <a:gd name="T9" fmla="*/ 317 h 849"/>
                <a:gd name="T10" fmla="*/ 353 w 461"/>
                <a:gd name="T11" fmla="*/ 209 h 849"/>
                <a:gd name="T12" fmla="*/ 273 w 461"/>
                <a:gd name="T13" fmla="*/ 151 h 849"/>
                <a:gd name="T14" fmla="*/ 173 w 461"/>
                <a:gd name="T15" fmla="*/ 36 h 849"/>
                <a:gd name="T16" fmla="*/ 144 w 461"/>
                <a:gd name="T17" fmla="*/ 0 h 849"/>
                <a:gd name="T18" fmla="*/ 86 w 461"/>
                <a:gd name="T19" fmla="*/ 0 h 849"/>
                <a:gd name="T20" fmla="*/ 36 w 461"/>
                <a:gd name="T21" fmla="*/ 57 h 849"/>
                <a:gd name="T22" fmla="*/ 36 w 461"/>
                <a:gd name="T23" fmla="*/ 137 h 849"/>
                <a:gd name="T24" fmla="*/ 36 w 461"/>
                <a:gd name="T25" fmla="*/ 259 h 849"/>
                <a:gd name="T26" fmla="*/ 0 w 461"/>
                <a:gd name="T27" fmla="*/ 345 h 849"/>
                <a:gd name="T28" fmla="*/ 0 w 461"/>
                <a:gd name="T29" fmla="*/ 453 h 849"/>
                <a:gd name="T30" fmla="*/ 86 w 461"/>
                <a:gd name="T31" fmla="*/ 561 h 849"/>
                <a:gd name="T32" fmla="*/ 72 w 461"/>
                <a:gd name="T33" fmla="*/ 691 h 849"/>
                <a:gd name="T34" fmla="*/ 93 w 461"/>
                <a:gd name="T35" fmla="*/ 785 h 849"/>
                <a:gd name="T36" fmla="*/ 201 w 461"/>
                <a:gd name="T37" fmla="*/ 849 h 84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61"/>
                <a:gd name="T58" fmla="*/ 0 h 849"/>
                <a:gd name="T59" fmla="*/ 461 w 461"/>
                <a:gd name="T60" fmla="*/ 849 h 84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61" h="849">
                  <a:moveTo>
                    <a:pt x="201" y="849"/>
                  </a:moveTo>
                  <a:lnTo>
                    <a:pt x="324" y="806"/>
                  </a:lnTo>
                  <a:lnTo>
                    <a:pt x="461" y="633"/>
                  </a:lnTo>
                  <a:lnTo>
                    <a:pt x="461" y="489"/>
                  </a:lnTo>
                  <a:lnTo>
                    <a:pt x="425" y="317"/>
                  </a:lnTo>
                  <a:lnTo>
                    <a:pt x="353" y="209"/>
                  </a:lnTo>
                  <a:lnTo>
                    <a:pt x="273" y="151"/>
                  </a:lnTo>
                  <a:lnTo>
                    <a:pt x="173" y="36"/>
                  </a:lnTo>
                  <a:lnTo>
                    <a:pt x="144" y="0"/>
                  </a:lnTo>
                  <a:lnTo>
                    <a:pt x="86" y="0"/>
                  </a:lnTo>
                  <a:lnTo>
                    <a:pt x="36" y="57"/>
                  </a:lnTo>
                  <a:lnTo>
                    <a:pt x="36" y="137"/>
                  </a:lnTo>
                  <a:lnTo>
                    <a:pt x="36" y="259"/>
                  </a:lnTo>
                  <a:lnTo>
                    <a:pt x="0" y="345"/>
                  </a:lnTo>
                  <a:lnTo>
                    <a:pt x="0" y="453"/>
                  </a:lnTo>
                  <a:lnTo>
                    <a:pt x="86" y="561"/>
                  </a:lnTo>
                  <a:lnTo>
                    <a:pt x="72" y="691"/>
                  </a:lnTo>
                  <a:lnTo>
                    <a:pt x="93" y="785"/>
                  </a:lnTo>
                  <a:lnTo>
                    <a:pt x="201" y="849"/>
                  </a:lnTo>
                  <a:close/>
                </a:path>
              </a:pathLst>
            </a:custGeom>
            <a:pattFill prst="dashHorz">
              <a:fgClr>
                <a:srgbClr val="99CC00">
                  <a:alpha val="76862"/>
                </a:srgbClr>
              </a:fgClr>
              <a:bgClr>
                <a:schemeClr val="bg1">
                  <a:alpha val="76862"/>
                </a:schemeClr>
              </a:bgClr>
            </a:pattFill>
            <a:ln w="9525">
              <a:solidFill>
                <a:schemeClr val="tx1"/>
              </a:solidFill>
              <a:round/>
              <a:headEnd/>
              <a:tailEnd/>
            </a:ln>
          </p:spPr>
          <p:txBody>
            <a:bodyPr/>
            <a:lstStyle/>
            <a:p>
              <a:endParaRPr lang="en-US"/>
            </a:p>
          </p:txBody>
        </p:sp>
        <p:grpSp>
          <p:nvGrpSpPr>
            <p:cNvPr id="87167" name="Group 43"/>
            <p:cNvGrpSpPr>
              <a:grpSpLocks/>
            </p:cNvGrpSpPr>
            <p:nvPr/>
          </p:nvGrpSpPr>
          <p:grpSpPr bwMode="auto">
            <a:xfrm>
              <a:off x="1685" y="2318"/>
              <a:ext cx="93" cy="101"/>
              <a:chOff x="3132" y="2880"/>
              <a:chExt cx="180" cy="324"/>
            </a:xfrm>
          </p:grpSpPr>
          <p:sp>
            <p:nvSpPr>
              <p:cNvPr id="87188" name="Line 44"/>
              <p:cNvSpPr>
                <a:spLocks noChangeShapeType="1"/>
              </p:cNvSpPr>
              <p:nvPr/>
            </p:nvSpPr>
            <p:spPr bwMode="auto">
              <a:xfrm>
                <a:off x="3132" y="3017"/>
                <a:ext cx="22" cy="180"/>
              </a:xfrm>
              <a:prstGeom prst="line">
                <a:avLst/>
              </a:prstGeom>
              <a:noFill/>
              <a:ln w="19050">
                <a:solidFill>
                  <a:srgbClr val="808000"/>
                </a:solidFill>
                <a:round/>
                <a:headEnd/>
                <a:tailEnd/>
              </a:ln>
            </p:spPr>
            <p:txBody>
              <a:bodyPr/>
              <a:lstStyle/>
              <a:p>
                <a:endParaRPr lang="en-US"/>
              </a:p>
            </p:txBody>
          </p:sp>
          <p:sp>
            <p:nvSpPr>
              <p:cNvPr id="87189" name="Line 45"/>
              <p:cNvSpPr>
                <a:spLocks noChangeShapeType="1"/>
              </p:cNvSpPr>
              <p:nvPr/>
            </p:nvSpPr>
            <p:spPr bwMode="auto">
              <a:xfrm flipV="1">
                <a:off x="3161" y="2880"/>
                <a:ext cx="151" cy="324"/>
              </a:xfrm>
              <a:prstGeom prst="line">
                <a:avLst/>
              </a:prstGeom>
              <a:noFill/>
              <a:ln w="38100">
                <a:solidFill>
                  <a:srgbClr val="808000"/>
                </a:solidFill>
                <a:round/>
                <a:headEnd/>
                <a:tailEnd/>
              </a:ln>
            </p:spPr>
            <p:txBody>
              <a:bodyPr/>
              <a:lstStyle/>
              <a:p>
                <a:endParaRPr lang="en-US"/>
              </a:p>
            </p:txBody>
          </p:sp>
          <p:sp>
            <p:nvSpPr>
              <p:cNvPr id="87190" name="Line 46"/>
              <p:cNvSpPr>
                <a:spLocks noChangeShapeType="1"/>
              </p:cNvSpPr>
              <p:nvPr/>
            </p:nvSpPr>
            <p:spPr bwMode="auto">
              <a:xfrm flipV="1">
                <a:off x="3168" y="2938"/>
                <a:ext cx="14" cy="259"/>
              </a:xfrm>
              <a:prstGeom prst="line">
                <a:avLst/>
              </a:prstGeom>
              <a:noFill/>
              <a:ln w="28575">
                <a:solidFill>
                  <a:srgbClr val="808000"/>
                </a:solidFill>
                <a:round/>
                <a:headEnd/>
                <a:tailEnd/>
              </a:ln>
            </p:spPr>
            <p:txBody>
              <a:bodyPr/>
              <a:lstStyle/>
              <a:p>
                <a:endParaRPr lang="en-US"/>
              </a:p>
            </p:txBody>
          </p:sp>
        </p:grpSp>
        <p:grpSp>
          <p:nvGrpSpPr>
            <p:cNvPr id="87168" name="Group 47"/>
            <p:cNvGrpSpPr>
              <a:grpSpLocks/>
            </p:cNvGrpSpPr>
            <p:nvPr/>
          </p:nvGrpSpPr>
          <p:grpSpPr bwMode="auto">
            <a:xfrm>
              <a:off x="1741" y="2591"/>
              <a:ext cx="93" cy="101"/>
              <a:chOff x="3132" y="2880"/>
              <a:chExt cx="180" cy="324"/>
            </a:xfrm>
          </p:grpSpPr>
          <p:sp>
            <p:nvSpPr>
              <p:cNvPr id="87185" name="Line 48"/>
              <p:cNvSpPr>
                <a:spLocks noChangeShapeType="1"/>
              </p:cNvSpPr>
              <p:nvPr/>
            </p:nvSpPr>
            <p:spPr bwMode="auto">
              <a:xfrm>
                <a:off x="3132" y="3017"/>
                <a:ext cx="22" cy="180"/>
              </a:xfrm>
              <a:prstGeom prst="line">
                <a:avLst/>
              </a:prstGeom>
              <a:noFill/>
              <a:ln w="19050">
                <a:solidFill>
                  <a:srgbClr val="808000"/>
                </a:solidFill>
                <a:round/>
                <a:headEnd/>
                <a:tailEnd/>
              </a:ln>
            </p:spPr>
            <p:txBody>
              <a:bodyPr/>
              <a:lstStyle/>
              <a:p>
                <a:endParaRPr lang="en-US"/>
              </a:p>
            </p:txBody>
          </p:sp>
          <p:sp>
            <p:nvSpPr>
              <p:cNvPr id="87186" name="Line 49"/>
              <p:cNvSpPr>
                <a:spLocks noChangeShapeType="1"/>
              </p:cNvSpPr>
              <p:nvPr/>
            </p:nvSpPr>
            <p:spPr bwMode="auto">
              <a:xfrm flipV="1">
                <a:off x="3161" y="2880"/>
                <a:ext cx="151" cy="324"/>
              </a:xfrm>
              <a:prstGeom prst="line">
                <a:avLst/>
              </a:prstGeom>
              <a:noFill/>
              <a:ln w="38100">
                <a:solidFill>
                  <a:srgbClr val="808000"/>
                </a:solidFill>
                <a:round/>
                <a:headEnd/>
                <a:tailEnd/>
              </a:ln>
            </p:spPr>
            <p:txBody>
              <a:bodyPr/>
              <a:lstStyle/>
              <a:p>
                <a:endParaRPr lang="en-US"/>
              </a:p>
            </p:txBody>
          </p:sp>
          <p:sp>
            <p:nvSpPr>
              <p:cNvPr id="87187" name="Line 50"/>
              <p:cNvSpPr>
                <a:spLocks noChangeShapeType="1"/>
              </p:cNvSpPr>
              <p:nvPr/>
            </p:nvSpPr>
            <p:spPr bwMode="auto">
              <a:xfrm flipV="1">
                <a:off x="3168" y="2938"/>
                <a:ext cx="14" cy="259"/>
              </a:xfrm>
              <a:prstGeom prst="line">
                <a:avLst/>
              </a:prstGeom>
              <a:noFill/>
              <a:ln w="28575">
                <a:solidFill>
                  <a:srgbClr val="808000"/>
                </a:solidFill>
                <a:round/>
                <a:headEnd/>
                <a:tailEnd/>
              </a:ln>
            </p:spPr>
            <p:txBody>
              <a:bodyPr/>
              <a:lstStyle/>
              <a:p>
                <a:endParaRPr lang="en-US"/>
              </a:p>
            </p:txBody>
          </p:sp>
        </p:grpSp>
        <p:grpSp>
          <p:nvGrpSpPr>
            <p:cNvPr id="87169" name="Group 51"/>
            <p:cNvGrpSpPr>
              <a:grpSpLocks/>
            </p:cNvGrpSpPr>
            <p:nvPr/>
          </p:nvGrpSpPr>
          <p:grpSpPr bwMode="auto">
            <a:xfrm>
              <a:off x="1791" y="2086"/>
              <a:ext cx="93" cy="101"/>
              <a:chOff x="3132" y="2880"/>
              <a:chExt cx="180" cy="324"/>
            </a:xfrm>
          </p:grpSpPr>
          <p:sp>
            <p:nvSpPr>
              <p:cNvPr id="87182" name="Line 52"/>
              <p:cNvSpPr>
                <a:spLocks noChangeShapeType="1"/>
              </p:cNvSpPr>
              <p:nvPr/>
            </p:nvSpPr>
            <p:spPr bwMode="auto">
              <a:xfrm>
                <a:off x="3132" y="3017"/>
                <a:ext cx="22" cy="180"/>
              </a:xfrm>
              <a:prstGeom prst="line">
                <a:avLst/>
              </a:prstGeom>
              <a:noFill/>
              <a:ln w="19050">
                <a:solidFill>
                  <a:srgbClr val="808000"/>
                </a:solidFill>
                <a:round/>
                <a:headEnd/>
                <a:tailEnd/>
              </a:ln>
            </p:spPr>
            <p:txBody>
              <a:bodyPr/>
              <a:lstStyle/>
              <a:p>
                <a:endParaRPr lang="en-US"/>
              </a:p>
            </p:txBody>
          </p:sp>
          <p:sp>
            <p:nvSpPr>
              <p:cNvPr id="87183" name="Line 53"/>
              <p:cNvSpPr>
                <a:spLocks noChangeShapeType="1"/>
              </p:cNvSpPr>
              <p:nvPr/>
            </p:nvSpPr>
            <p:spPr bwMode="auto">
              <a:xfrm flipV="1">
                <a:off x="3161" y="2880"/>
                <a:ext cx="151" cy="324"/>
              </a:xfrm>
              <a:prstGeom prst="line">
                <a:avLst/>
              </a:prstGeom>
              <a:noFill/>
              <a:ln w="38100">
                <a:solidFill>
                  <a:srgbClr val="808000"/>
                </a:solidFill>
                <a:round/>
                <a:headEnd/>
                <a:tailEnd/>
              </a:ln>
            </p:spPr>
            <p:txBody>
              <a:bodyPr/>
              <a:lstStyle/>
              <a:p>
                <a:endParaRPr lang="en-US"/>
              </a:p>
            </p:txBody>
          </p:sp>
          <p:sp>
            <p:nvSpPr>
              <p:cNvPr id="87184" name="Line 54"/>
              <p:cNvSpPr>
                <a:spLocks noChangeShapeType="1"/>
              </p:cNvSpPr>
              <p:nvPr/>
            </p:nvSpPr>
            <p:spPr bwMode="auto">
              <a:xfrm flipV="1">
                <a:off x="3168" y="2938"/>
                <a:ext cx="14" cy="259"/>
              </a:xfrm>
              <a:prstGeom prst="line">
                <a:avLst/>
              </a:prstGeom>
              <a:noFill/>
              <a:ln w="28575">
                <a:solidFill>
                  <a:srgbClr val="808000"/>
                </a:solidFill>
                <a:round/>
                <a:headEnd/>
                <a:tailEnd/>
              </a:ln>
            </p:spPr>
            <p:txBody>
              <a:bodyPr/>
              <a:lstStyle/>
              <a:p>
                <a:endParaRPr lang="en-US"/>
              </a:p>
            </p:txBody>
          </p:sp>
        </p:grpSp>
        <p:grpSp>
          <p:nvGrpSpPr>
            <p:cNvPr id="87170" name="Group 55"/>
            <p:cNvGrpSpPr>
              <a:grpSpLocks/>
            </p:cNvGrpSpPr>
            <p:nvPr/>
          </p:nvGrpSpPr>
          <p:grpSpPr bwMode="auto">
            <a:xfrm>
              <a:off x="1826" y="2438"/>
              <a:ext cx="93" cy="101"/>
              <a:chOff x="3132" y="2880"/>
              <a:chExt cx="180" cy="324"/>
            </a:xfrm>
          </p:grpSpPr>
          <p:sp>
            <p:nvSpPr>
              <p:cNvPr id="87179" name="Line 56"/>
              <p:cNvSpPr>
                <a:spLocks noChangeShapeType="1"/>
              </p:cNvSpPr>
              <p:nvPr/>
            </p:nvSpPr>
            <p:spPr bwMode="auto">
              <a:xfrm>
                <a:off x="3132" y="3017"/>
                <a:ext cx="22" cy="180"/>
              </a:xfrm>
              <a:prstGeom prst="line">
                <a:avLst/>
              </a:prstGeom>
              <a:noFill/>
              <a:ln w="19050">
                <a:solidFill>
                  <a:srgbClr val="808000"/>
                </a:solidFill>
                <a:round/>
                <a:headEnd/>
                <a:tailEnd/>
              </a:ln>
            </p:spPr>
            <p:txBody>
              <a:bodyPr/>
              <a:lstStyle/>
              <a:p>
                <a:endParaRPr lang="en-US"/>
              </a:p>
            </p:txBody>
          </p:sp>
          <p:sp>
            <p:nvSpPr>
              <p:cNvPr id="87180" name="Line 57"/>
              <p:cNvSpPr>
                <a:spLocks noChangeShapeType="1"/>
              </p:cNvSpPr>
              <p:nvPr/>
            </p:nvSpPr>
            <p:spPr bwMode="auto">
              <a:xfrm flipV="1">
                <a:off x="3161" y="2880"/>
                <a:ext cx="151" cy="324"/>
              </a:xfrm>
              <a:prstGeom prst="line">
                <a:avLst/>
              </a:prstGeom>
              <a:noFill/>
              <a:ln w="38100">
                <a:solidFill>
                  <a:srgbClr val="808000"/>
                </a:solidFill>
                <a:round/>
                <a:headEnd/>
                <a:tailEnd/>
              </a:ln>
            </p:spPr>
            <p:txBody>
              <a:bodyPr/>
              <a:lstStyle/>
              <a:p>
                <a:endParaRPr lang="en-US"/>
              </a:p>
            </p:txBody>
          </p:sp>
          <p:sp>
            <p:nvSpPr>
              <p:cNvPr id="87181" name="Line 58"/>
              <p:cNvSpPr>
                <a:spLocks noChangeShapeType="1"/>
              </p:cNvSpPr>
              <p:nvPr/>
            </p:nvSpPr>
            <p:spPr bwMode="auto">
              <a:xfrm flipV="1">
                <a:off x="3168" y="2938"/>
                <a:ext cx="14" cy="259"/>
              </a:xfrm>
              <a:prstGeom prst="line">
                <a:avLst/>
              </a:prstGeom>
              <a:noFill/>
              <a:ln w="28575">
                <a:solidFill>
                  <a:srgbClr val="808000"/>
                </a:solidFill>
                <a:round/>
                <a:headEnd/>
                <a:tailEnd/>
              </a:ln>
            </p:spPr>
            <p:txBody>
              <a:bodyPr/>
              <a:lstStyle/>
              <a:p>
                <a:endParaRPr lang="en-US"/>
              </a:p>
            </p:txBody>
          </p:sp>
        </p:grpSp>
        <p:grpSp>
          <p:nvGrpSpPr>
            <p:cNvPr id="87171" name="Group 59"/>
            <p:cNvGrpSpPr>
              <a:grpSpLocks/>
            </p:cNvGrpSpPr>
            <p:nvPr/>
          </p:nvGrpSpPr>
          <p:grpSpPr bwMode="auto">
            <a:xfrm>
              <a:off x="1948" y="2560"/>
              <a:ext cx="93" cy="101"/>
              <a:chOff x="3132" y="2880"/>
              <a:chExt cx="180" cy="324"/>
            </a:xfrm>
          </p:grpSpPr>
          <p:sp>
            <p:nvSpPr>
              <p:cNvPr id="87176" name="Line 60"/>
              <p:cNvSpPr>
                <a:spLocks noChangeShapeType="1"/>
              </p:cNvSpPr>
              <p:nvPr/>
            </p:nvSpPr>
            <p:spPr bwMode="auto">
              <a:xfrm>
                <a:off x="3132" y="3017"/>
                <a:ext cx="22" cy="180"/>
              </a:xfrm>
              <a:prstGeom prst="line">
                <a:avLst/>
              </a:prstGeom>
              <a:noFill/>
              <a:ln w="19050">
                <a:solidFill>
                  <a:srgbClr val="808000"/>
                </a:solidFill>
                <a:round/>
                <a:headEnd/>
                <a:tailEnd/>
              </a:ln>
            </p:spPr>
            <p:txBody>
              <a:bodyPr/>
              <a:lstStyle/>
              <a:p>
                <a:endParaRPr lang="en-US"/>
              </a:p>
            </p:txBody>
          </p:sp>
          <p:sp>
            <p:nvSpPr>
              <p:cNvPr id="87177" name="Line 61"/>
              <p:cNvSpPr>
                <a:spLocks noChangeShapeType="1"/>
              </p:cNvSpPr>
              <p:nvPr/>
            </p:nvSpPr>
            <p:spPr bwMode="auto">
              <a:xfrm flipV="1">
                <a:off x="3161" y="2880"/>
                <a:ext cx="151" cy="324"/>
              </a:xfrm>
              <a:prstGeom prst="line">
                <a:avLst/>
              </a:prstGeom>
              <a:noFill/>
              <a:ln w="38100">
                <a:solidFill>
                  <a:srgbClr val="808000"/>
                </a:solidFill>
                <a:round/>
                <a:headEnd/>
                <a:tailEnd/>
              </a:ln>
            </p:spPr>
            <p:txBody>
              <a:bodyPr/>
              <a:lstStyle/>
              <a:p>
                <a:endParaRPr lang="en-US"/>
              </a:p>
            </p:txBody>
          </p:sp>
          <p:sp>
            <p:nvSpPr>
              <p:cNvPr id="87178" name="Line 62"/>
              <p:cNvSpPr>
                <a:spLocks noChangeShapeType="1"/>
              </p:cNvSpPr>
              <p:nvPr/>
            </p:nvSpPr>
            <p:spPr bwMode="auto">
              <a:xfrm flipV="1">
                <a:off x="3168" y="2938"/>
                <a:ext cx="14" cy="259"/>
              </a:xfrm>
              <a:prstGeom prst="line">
                <a:avLst/>
              </a:prstGeom>
              <a:noFill/>
              <a:ln w="28575">
                <a:solidFill>
                  <a:srgbClr val="808000"/>
                </a:solidFill>
                <a:round/>
                <a:headEnd/>
                <a:tailEnd/>
              </a:ln>
            </p:spPr>
            <p:txBody>
              <a:bodyPr/>
              <a:lstStyle/>
              <a:p>
                <a:endParaRPr lang="en-US"/>
              </a:p>
            </p:txBody>
          </p:sp>
        </p:grpSp>
        <p:grpSp>
          <p:nvGrpSpPr>
            <p:cNvPr id="87172" name="Group 63"/>
            <p:cNvGrpSpPr>
              <a:grpSpLocks/>
            </p:cNvGrpSpPr>
            <p:nvPr/>
          </p:nvGrpSpPr>
          <p:grpSpPr bwMode="auto">
            <a:xfrm>
              <a:off x="1944" y="2296"/>
              <a:ext cx="93" cy="101"/>
              <a:chOff x="3132" y="2880"/>
              <a:chExt cx="180" cy="324"/>
            </a:xfrm>
          </p:grpSpPr>
          <p:sp>
            <p:nvSpPr>
              <p:cNvPr id="87173" name="Line 64"/>
              <p:cNvSpPr>
                <a:spLocks noChangeShapeType="1"/>
              </p:cNvSpPr>
              <p:nvPr/>
            </p:nvSpPr>
            <p:spPr bwMode="auto">
              <a:xfrm>
                <a:off x="3132" y="3017"/>
                <a:ext cx="22" cy="180"/>
              </a:xfrm>
              <a:prstGeom prst="line">
                <a:avLst/>
              </a:prstGeom>
              <a:noFill/>
              <a:ln w="19050">
                <a:solidFill>
                  <a:srgbClr val="808000"/>
                </a:solidFill>
                <a:round/>
                <a:headEnd/>
                <a:tailEnd/>
              </a:ln>
            </p:spPr>
            <p:txBody>
              <a:bodyPr/>
              <a:lstStyle/>
              <a:p>
                <a:endParaRPr lang="en-US"/>
              </a:p>
            </p:txBody>
          </p:sp>
          <p:sp>
            <p:nvSpPr>
              <p:cNvPr id="87174" name="Line 65"/>
              <p:cNvSpPr>
                <a:spLocks noChangeShapeType="1"/>
              </p:cNvSpPr>
              <p:nvPr/>
            </p:nvSpPr>
            <p:spPr bwMode="auto">
              <a:xfrm flipV="1">
                <a:off x="3161" y="2880"/>
                <a:ext cx="151" cy="324"/>
              </a:xfrm>
              <a:prstGeom prst="line">
                <a:avLst/>
              </a:prstGeom>
              <a:noFill/>
              <a:ln w="38100">
                <a:solidFill>
                  <a:srgbClr val="808000"/>
                </a:solidFill>
                <a:round/>
                <a:headEnd/>
                <a:tailEnd/>
              </a:ln>
            </p:spPr>
            <p:txBody>
              <a:bodyPr/>
              <a:lstStyle/>
              <a:p>
                <a:endParaRPr lang="en-US"/>
              </a:p>
            </p:txBody>
          </p:sp>
          <p:sp>
            <p:nvSpPr>
              <p:cNvPr id="87175" name="Line 66"/>
              <p:cNvSpPr>
                <a:spLocks noChangeShapeType="1"/>
              </p:cNvSpPr>
              <p:nvPr/>
            </p:nvSpPr>
            <p:spPr bwMode="auto">
              <a:xfrm flipV="1">
                <a:off x="3168" y="2938"/>
                <a:ext cx="14" cy="259"/>
              </a:xfrm>
              <a:prstGeom prst="line">
                <a:avLst/>
              </a:prstGeom>
              <a:noFill/>
              <a:ln w="28575">
                <a:solidFill>
                  <a:srgbClr val="808000"/>
                </a:solidFill>
                <a:round/>
                <a:headEnd/>
                <a:tailEnd/>
              </a:ln>
            </p:spPr>
            <p:txBody>
              <a:bodyPr/>
              <a:lstStyle/>
              <a:p>
                <a:endParaRPr lang="en-US"/>
              </a:p>
            </p:txBody>
          </p:sp>
        </p:grpSp>
      </p:grpSp>
      <p:sp>
        <p:nvSpPr>
          <p:cNvPr id="87055" name="Freeform 67"/>
          <p:cNvSpPr>
            <a:spLocks/>
          </p:cNvSpPr>
          <p:nvPr/>
        </p:nvSpPr>
        <p:spPr bwMode="auto">
          <a:xfrm>
            <a:off x="787400" y="1631950"/>
            <a:ext cx="1433513" cy="4552950"/>
          </a:xfrm>
          <a:custGeom>
            <a:avLst/>
            <a:gdLst>
              <a:gd name="T0" fmla="*/ 1112838 w 903"/>
              <a:gd name="T1" fmla="*/ 4552950 h 2868"/>
              <a:gd name="T2" fmla="*/ 1311275 w 903"/>
              <a:gd name="T3" fmla="*/ 4138613 h 2868"/>
              <a:gd name="T4" fmla="*/ 1423988 w 903"/>
              <a:gd name="T5" fmla="*/ 3714750 h 2868"/>
              <a:gd name="T6" fmla="*/ 1254125 w 903"/>
              <a:gd name="T7" fmla="*/ 3176587 h 2868"/>
              <a:gd name="T8" fmla="*/ 1179513 w 903"/>
              <a:gd name="T9" fmla="*/ 2771775 h 2868"/>
              <a:gd name="T10" fmla="*/ 1000125 w 903"/>
              <a:gd name="T11" fmla="*/ 2386012 h 2868"/>
              <a:gd name="T12" fmla="*/ 1009650 w 903"/>
              <a:gd name="T13" fmla="*/ 1924050 h 2868"/>
              <a:gd name="T14" fmla="*/ 914400 w 903"/>
              <a:gd name="T15" fmla="*/ 1452562 h 2868"/>
              <a:gd name="T16" fmla="*/ 622300 w 903"/>
              <a:gd name="T17" fmla="*/ 1009650 h 2868"/>
              <a:gd name="T18" fmla="*/ 500063 w 903"/>
              <a:gd name="T19" fmla="*/ 622300 h 2868"/>
              <a:gd name="T20" fmla="*/ 406400 w 903"/>
              <a:gd name="T21" fmla="*/ 273050 h 2868"/>
              <a:gd name="T22" fmla="*/ 0 w 903"/>
              <a:gd name="T23" fmla="*/ 0 h 286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03"/>
              <a:gd name="T37" fmla="*/ 0 h 2868"/>
              <a:gd name="T38" fmla="*/ 903 w 903"/>
              <a:gd name="T39" fmla="*/ 2868 h 286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03" h="2868">
                <a:moveTo>
                  <a:pt x="701" y="2868"/>
                </a:moveTo>
                <a:cubicBezTo>
                  <a:pt x="747" y="2781"/>
                  <a:pt x="793" y="2695"/>
                  <a:pt x="826" y="2607"/>
                </a:cubicBezTo>
                <a:cubicBezTo>
                  <a:pt x="859" y="2519"/>
                  <a:pt x="903" y="2441"/>
                  <a:pt x="897" y="2340"/>
                </a:cubicBezTo>
                <a:cubicBezTo>
                  <a:pt x="891" y="2239"/>
                  <a:pt x="816" y="2100"/>
                  <a:pt x="790" y="2001"/>
                </a:cubicBezTo>
                <a:cubicBezTo>
                  <a:pt x="764" y="1902"/>
                  <a:pt x="770" y="1829"/>
                  <a:pt x="743" y="1746"/>
                </a:cubicBezTo>
                <a:cubicBezTo>
                  <a:pt x="716" y="1663"/>
                  <a:pt x="648" y="1592"/>
                  <a:pt x="630" y="1503"/>
                </a:cubicBezTo>
                <a:cubicBezTo>
                  <a:pt x="612" y="1414"/>
                  <a:pt x="645" y="1310"/>
                  <a:pt x="636" y="1212"/>
                </a:cubicBezTo>
                <a:cubicBezTo>
                  <a:pt x="627" y="1114"/>
                  <a:pt x="617" y="1011"/>
                  <a:pt x="576" y="915"/>
                </a:cubicBezTo>
                <a:cubicBezTo>
                  <a:pt x="535" y="819"/>
                  <a:pt x="435" y="723"/>
                  <a:pt x="392" y="636"/>
                </a:cubicBezTo>
                <a:cubicBezTo>
                  <a:pt x="349" y="549"/>
                  <a:pt x="338" y="469"/>
                  <a:pt x="315" y="392"/>
                </a:cubicBezTo>
                <a:cubicBezTo>
                  <a:pt x="292" y="315"/>
                  <a:pt x="309" y="237"/>
                  <a:pt x="256" y="172"/>
                </a:cubicBezTo>
                <a:cubicBezTo>
                  <a:pt x="203" y="107"/>
                  <a:pt x="43" y="29"/>
                  <a:pt x="0" y="0"/>
                </a:cubicBezTo>
              </a:path>
            </a:pathLst>
          </a:custGeom>
          <a:noFill/>
          <a:ln w="28575" cmpd="sng">
            <a:solidFill>
              <a:srgbClr val="9999FF"/>
            </a:solidFill>
            <a:round/>
            <a:headEnd/>
            <a:tailEnd/>
          </a:ln>
        </p:spPr>
        <p:txBody>
          <a:bodyPr/>
          <a:lstStyle/>
          <a:p>
            <a:endParaRPr lang="en-US"/>
          </a:p>
        </p:txBody>
      </p:sp>
      <p:sp>
        <p:nvSpPr>
          <p:cNvPr id="87056" name="Freeform 68"/>
          <p:cNvSpPr>
            <a:spLocks/>
          </p:cNvSpPr>
          <p:nvPr/>
        </p:nvSpPr>
        <p:spPr bwMode="auto">
          <a:xfrm>
            <a:off x="1787525" y="1616075"/>
            <a:ext cx="1781175" cy="2386013"/>
          </a:xfrm>
          <a:custGeom>
            <a:avLst/>
            <a:gdLst>
              <a:gd name="T0" fmla="*/ 0 w 1122"/>
              <a:gd name="T1" fmla="*/ 2386013 h 1503"/>
              <a:gd name="T2" fmla="*/ 215900 w 1122"/>
              <a:gd name="T3" fmla="*/ 2168526 h 1503"/>
              <a:gd name="T4" fmla="*/ 650875 w 1122"/>
              <a:gd name="T5" fmla="*/ 2055813 h 1503"/>
              <a:gd name="T6" fmla="*/ 914400 w 1122"/>
              <a:gd name="T7" fmla="*/ 1895476 h 1503"/>
              <a:gd name="T8" fmla="*/ 962025 w 1122"/>
              <a:gd name="T9" fmla="*/ 1519238 h 1503"/>
              <a:gd name="T10" fmla="*/ 876300 w 1122"/>
              <a:gd name="T11" fmla="*/ 1179513 h 1503"/>
              <a:gd name="T12" fmla="*/ 885825 w 1122"/>
              <a:gd name="T13" fmla="*/ 887413 h 1503"/>
              <a:gd name="T14" fmla="*/ 1036637 w 1122"/>
              <a:gd name="T15" fmla="*/ 650875 h 1503"/>
              <a:gd name="T16" fmla="*/ 1196975 w 1122"/>
              <a:gd name="T17" fmla="*/ 396875 h 1503"/>
              <a:gd name="T18" fmla="*/ 1479550 w 1122"/>
              <a:gd name="T19" fmla="*/ 169863 h 1503"/>
              <a:gd name="T20" fmla="*/ 1781175 w 1122"/>
              <a:gd name="T21" fmla="*/ 0 h 15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22"/>
              <a:gd name="T34" fmla="*/ 0 h 1503"/>
              <a:gd name="T35" fmla="*/ 1122 w 1122"/>
              <a:gd name="T36" fmla="*/ 1503 h 15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22" h="1503">
                <a:moveTo>
                  <a:pt x="0" y="1503"/>
                </a:moveTo>
                <a:cubicBezTo>
                  <a:pt x="34" y="1452"/>
                  <a:pt x="68" y="1401"/>
                  <a:pt x="136" y="1366"/>
                </a:cubicBezTo>
                <a:cubicBezTo>
                  <a:pt x="204" y="1331"/>
                  <a:pt x="337" y="1324"/>
                  <a:pt x="410" y="1295"/>
                </a:cubicBezTo>
                <a:cubicBezTo>
                  <a:pt x="483" y="1266"/>
                  <a:pt x="543" y="1250"/>
                  <a:pt x="576" y="1194"/>
                </a:cubicBezTo>
                <a:cubicBezTo>
                  <a:pt x="609" y="1138"/>
                  <a:pt x="610" y="1032"/>
                  <a:pt x="606" y="957"/>
                </a:cubicBezTo>
                <a:cubicBezTo>
                  <a:pt x="602" y="882"/>
                  <a:pt x="560" y="809"/>
                  <a:pt x="552" y="743"/>
                </a:cubicBezTo>
                <a:cubicBezTo>
                  <a:pt x="544" y="677"/>
                  <a:pt x="541" y="614"/>
                  <a:pt x="558" y="559"/>
                </a:cubicBezTo>
                <a:cubicBezTo>
                  <a:pt x="575" y="504"/>
                  <a:pt x="620" y="462"/>
                  <a:pt x="653" y="410"/>
                </a:cubicBezTo>
                <a:cubicBezTo>
                  <a:pt x="686" y="358"/>
                  <a:pt x="708" y="300"/>
                  <a:pt x="754" y="250"/>
                </a:cubicBezTo>
                <a:cubicBezTo>
                  <a:pt x="800" y="200"/>
                  <a:pt x="871" y="149"/>
                  <a:pt x="932" y="107"/>
                </a:cubicBezTo>
                <a:cubicBezTo>
                  <a:pt x="993" y="65"/>
                  <a:pt x="1090" y="18"/>
                  <a:pt x="1122" y="0"/>
                </a:cubicBezTo>
              </a:path>
            </a:pathLst>
          </a:custGeom>
          <a:noFill/>
          <a:ln w="28575" cap="flat" cmpd="sng">
            <a:solidFill>
              <a:srgbClr val="9999FF"/>
            </a:solidFill>
            <a:prstDash val="solid"/>
            <a:round/>
            <a:headEnd type="none" w="med" len="med"/>
            <a:tailEnd type="none" w="med" len="med"/>
          </a:ln>
        </p:spPr>
        <p:txBody>
          <a:bodyPr/>
          <a:lstStyle/>
          <a:p>
            <a:endParaRPr lang="en-US"/>
          </a:p>
        </p:txBody>
      </p:sp>
      <p:sp>
        <p:nvSpPr>
          <p:cNvPr id="87057" name="Line 69"/>
          <p:cNvSpPr>
            <a:spLocks noChangeShapeType="1"/>
          </p:cNvSpPr>
          <p:nvPr/>
        </p:nvSpPr>
        <p:spPr bwMode="auto">
          <a:xfrm flipV="1">
            <a:off x="533400" y="3044825"/>
            <a:ext cx="3138488" cy="1225550"/>
          </a:xfrm>
          <a:prstGeom prst="line">
            <a:avLst/>
          </a:prstGeom>
          <a:noFill/>
          <a:ln w="28575">
            <a:solidFill>
              <a:schemeClr val="tx1"/>
            </a:solidFill>
            <a:round/>
            <a:headEnd/>
            <a:tailEnd/>
          </a:ln>
        </p:spPr>
        <p:txBody>
          <a:bodyPr/>
          <a:lstStyle/>
          <a:p>
            <a:endParaRPr lang="en-US"/>
          </a:p>
        </p:txBody>
      </p:sp>
      <p:sp>
        <p:nvSpPr>
          <p:cNvPr id="87058" name="Freeform 70" descr="Dashed horizontal"/>
          <p:cNvSpPr>
            <a:spLocks/>
          </p:cNvSpPr>
          <p:nvPr/>
        </p:nvSpPr>
        <p:spPr bwMode="auto">
          <a:xfrm>
            <a:off x="5321300" y="3052763"/>
            <a:ext cx="842963" cy="128587"/>
          </a:xfrm>
          <a:custGeom>
            <a:avLst/>
            <a:gdLst>
              <a:gd name="T0" fmla="*/ 0 w 531"/>
              <a:gd name="T1" fmla="*/ 0 h 81"/>
              <a:gd name="T2" fmla="*/ 138113 w 531"/>
              <a:gd name="T3" fmla="*/ 71437 h 81"/>
              <a:gd name="T4" fmla="*/ 295275 w 531"/>
              <a:gd name="T5" fmla="*/ 66675 h 81"/>
              <a:gd name="T6" fmla="*/ 361950 w 531"/>
              <a:gd name="T7" fmla="*/ 128587 h 81"/>
              <a:gd name="T8" fmla="*/ 471488 w 531"/>
              <a:gd name="T9" fmla="*/ 57150 h 81"/>
              <a:gd name="T10" fmla="*/ 842963 w 531"/>
              <a:gd name="T11" fmla="*/ 0 h 81"/>
              <a:gd name="T12" fmla="*/ 0 w 531"/>
              <a:gd name="T13" fmla="*/ 0 h 81"/>
              <a:gd name="T14" fmla="*/ 0 60000 65536"/>
              <a:gd name="T15" fmla="*/ 0 60000 65536"/>
              <a:gd name="T16" fmla="*/ 0 60000 65536"/>
              <a:gd name="T17" fmla="*/ 0 60000 65536"/>
              <a:gd name="T18" fmla="*/ 0 60000 65536"/>
              <a:gd name="T19" fmla="*/ 0 60000 65536"/>
              <a:gd name="T20" fmla="*/ 0 60000 65536"/>
              <a:gd name="T21" fmla="*/ 0 w 531"/>
              <a:gd name="T22" fmla="*/ 0 h 81"/>
              <a:gd name="T23" fmla="*/ 531 w 531"/>
              <a:gd name="T24" fmla="*/ 81 h 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31" h="81">
                <a:moveTo>
                  <a:pt x="0" y="0"/>
                </a:moveTo>
                <a:lnTo>
                  <a:pt x="87" y="45"/>
                </a:lnTo>
                <a:lnTo>
                  <a:pt x="186" y="42"/>
                </a:lnTo>
                <a:lnTo>
                  <a:pt x="228" y="81"/>
                </a:lnTo>
                <a:lnTo>
                  <a:pt x="297" y="36"/>
                </a:lnTo>
                <a:lnTo>
                  <a:pt x="531" y="0"/>
                </a:lnTo>
                <a:lnTo>
                  <a:pt x="0" y="0"/>
                </a:lnTo>
                <a:close/>
              </a:path>
            </a:pathLst>
          </a:custGeom>
          <a:pattFill prst="dashHorz">
            <a:fgClr>
              <a:schemeClr val="folHlink">
                <a:alpha val="74901"/>
              </a:schemeClr>
            </a:fgClr>
            <a:bgClr>
              <a:schemeClr val="bg1">
                <a:alpha val="74901"/>
              </a:schemeClr>
            </a:bgClr>
          </a:pattFill>
          <a:ln w="9525">
            <a:solidFill>
              <a:schemeClr val="tx1"/>
            </a:solidFill>
            <a:round/>
            <a:headEnd/>
            <a:tailEnd/>
          </a:ln>
        </p:spPr>
        <p:txBody>
          <a:bodyPr/>
          <a:lstStyle/>
          <a:p>
            <a:endParaRPr lang="en-US"/>
          </a:p>
        </p:txBody>
      </p:sp>
      <p:grpSp>
        <p:nvGrpSpPr>
          <p:cNvPr id="109639" name="Group 71"/>
          <p:cNvGrpSpPr>
            <a:grpSpLocks/>
          </p:cNvGrpSpPr>
          <p:nvPr/>
        </p:nvGrpSpPr>
        <p:grpSpPr bwMode="auto">
          <a:xfrm>
            <a:off x="2135188" y="1339850"/>
            <a:ext cx="5121275" cy="1746250"/>
            <a:chOff x="1965" y="748"/>
            <a:chExt cx="3226" cy="1100"/>
          </a:xfrm>
        </p:grpSpPr>
        <p:grpSp>
          <p:nvGrpSpPr>
            <p:cNvPr id="87067" name="Group 72"/>
            <p:cNvGrpSpPr>
              <a:grpSpLocks/>
            </p:cNvGrpSpPr>
            <p:nvPr/>
          </p:nvGrpSpPr>
          <p:grpSpPr bwMode="auto">
            <a:xfrm>
              <a:off x="1965" y="748"/>
              <a:ext cx="841" cy="893"/>
              <a:chOff x="4781" y="290"/>
              <a:chExt cx="841" cy="893"/>
            </a:xfrm>
          </p:grpSpPr>
          <p:grpSp>
            <p:nvGrpSpPr>
              <p:cNvPr id="87080" name="Group 73"/>
              <p:cNvGrpSpPr>
                <a:grpSpLocks/>
              </p:cNvGrpSpPr>
              <p:nvPr/>
            </p:nvGrpSpPr>
            <p:grpSpPr bwMode="auto">
              <a:xfrm>
                <a:off x="4781" y="433"/>
                <a:ext cx="613" cy="750"/>
                <a:chOff x="4781" y="433"/>
                <a:chExt cx="613" cy="750"/>
              </a:xfrm>
            </p:grpSpPr>
            <p:grpSp>
              <p:nvGrpSpPr>
                <p:cNvPr id="87142" name="Group 74"/>
                <p:cNvGrpSpPr>
                  <a:grpSpLocks/>
                </p:cNvGrpSpPr>
                <p:nvPr/>
              </p:nvGrpSpPr>
              <p:grpSpPr bwMode="auto">
                <a:xfrm>
                  <a:off x="4781" y="433"/>
                  <a:ext cx="205" cy="342"/>
                  <a:chOff x="1164" y="1150"/>
                  <a:chExt cx="244" cy="414"/>
                </a:xfrm>
              </p:grpSpPr>
              <p:sp>
                <p:nvSpPr>
                  <p:cNvPr id="87161" name="Freeform 7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87162" name="Freeform 7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63" name="Freeform 7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64" name="Freeform 7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65" name="Freeform 7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87143" name="Group 80"/>
                <p:cNvGrpSpPr>
                  <a:grpSpLocks/>
                </p:cNvGrpSpPr>
                <p:nvPr/>
              </p:nvGrpSpPr>
              <p:grpSpPr bwMode="auto">
                <a:xfrm>
                  <a:off x="4917" y="569"/>
                  <a:ext cx="205" cy="342"/>
                  <a:chOff x="1164" y="1150"/>
                  <a:chExt cx="244" cy="414"/>
                </a:xfrm>
              </p:grpSpPr>
              <p:sp>
                <p:nvSpPr>
                  <p:cNvPr id="87156" name="Freeform 81"/>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87157" name="Freeform 82"/>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58" name="Freeform 83"/>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59" name="Freeform 84"/>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60" name="Freeform 85"/>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87144" name="Group 86"/>
                <p:cNvGrpSpPr>
                  <a:grpSpLocks/>
                </p:cNvGrpSpPr>
                <p:nvPr/>
              </p:nvGrpSpPr>
              <p:grpSpPr bwMode="auto">
                <a:xfrm>
                  <a:off x="5053" y="705"/>
                  <a:ext cx="205" cy="342"/>
                  <a:chOff x="1164" y="1150"/>
                  <a:chExt cx="244" cy="414"/>
                </a:xfrm>
              </p:grpSpPr>
              <p:sp>
                <p:nvSpPr>
                  <p:cNvPr id="87151" name="Freeform 87"/>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87152" name="Freeform 88"/>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53" name="Freeform 89"/>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54" name="Freeform 90"/>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55" name="Freeform 91"/>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87145" name="Group 92"/>
                <p:cNvGrpSpPr>
                  <a:grpSpLocks/>
                </p:cNvGrpSpPr>
                <p:nvPr/>
              </p:nvGrpSpPr>
              <p:grpSpPr bwMode="auto">
                <a:xfrm>
                  <a:off x="5189" y="841"/>
                  <a:ext cx="205" cy="342"/>
                  <a:chOff x="1164" y="1150"/>
                  <a:chExt cx="244" cy="414"/>
                </a:xfrm>
              </p:grpSpPr>
              <p:sp>
                <p:nvSpPr>
                  <p:cNvPr id="87146" name="Freeform 93"/>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87147" name="Freeform 94"/>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48" name="Freeform 95"/>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49" name="Freeform 96"/>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50" name="Freeform 97"/>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87081" name="Group 98"/>
              <p:cNvGrpSpPr>
                <a:grpSpLocks/>
              </p:cNvGrpSpPr>
              <p:nvPr/>
            </p:nvGrpSpPr>
            <p:grpSpPr bwMode="auto">
              <a:xfrm>
                <a:off x="4859" y="337"/>
                <a:ext cx="205" cy="342"/>
                <a:chOff x="1164" y="1150"/>
                <a:chExt cx="244" cy="414"/>
              </a:xfrm>
            </p:grpSpPr>
            <p:sp>
              <p:nvSpPr>
                <p:cNvPr id="87137" name="Freeform 99"/>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87138" name="Freeform 100"/>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39" name="Freeform 101"/>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40" name="Freeform 102"/>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41" name="Freeform 103"/>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87082" name="Group 104"/>
              <p:cNvGrpSpPr>
                <a:grpSpLocks/>
              </p:cNvGrpSpPr>
              <p:nvPr/>
            </p:nvGrpSpPr>
            <p:grpSpPr bwMode="auto">
              <a:xfrm>
                <a:off x="4968" y="447"/>
                <a:ext cx="205" cy="342"/>
                <a:chOff x="1164" y="1150"/>
                <a:chExt cx="244" cy="414"/>
              </a:xfrm>
            </p:grpSpPr>
            <p:sp>
              <p:nvSpPr>
                <p:cNvPr id="87132" name="Freeform 10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87133" name="Freeform 10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34" name="Freeform 10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35" name="Freeform 10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36" name="Freeform 10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87083" name="Group 110"/>
              <p:cNvGrpSpPr>
                <a:grpSpLocks/>
              </p:cNvGrpSpPr>
              <p:nvPr/>
            </p:nvGrpSpPr>
            <p:grpSpPr bwMode="auto">
              <a:xfrm>
                <a:off x="5106" y="566"/>
                <a:ext cx="205" cy="342"/>
                <a:chOff x="1164" y="1150"/>
                <a:chExt cx="244" cy="414"/>
              </a:xfrm>
            </p:grpSpPr>
            <p:sp>
              <p:nvSpPr>
                <p:cNvPr id="87127" name="Freeform 111"/>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87128" name="Freeform 112"/>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29" name="Freeform 113"/>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30" name="Freeform 114"/>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31" name="Freeform 115"/>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87084" name="Group 116"/>
              <p:cNvGrpSpPr>
                <a:grpSpLocks/>
              </p:cNvGrpSpPr>
              <p:nvPr/>
            </p:nvGrpSpPr>
            <p:grpSpPr bwMode="auto">
              <a:xfrm>
                <a:off x="5243" y="694"/>
                <a:ext cx="205" cy="342"/>
                <a:chOff x="1164" y="1150"/>
                <a:chExt cx="244" cy="414"/>
              </a:xfrm>
            </p:grpSpPr>
            <p:sp>
              <p:nvSpPr>
                <p:cNvPr id="87122" name="Freeform 117"/>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87123" name="Freeform 118"/>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24" name="Freeform 119"/>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25" name="Freeform 120"/>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26" name="Freeform 121"/>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87085" name="Group 122"/>
              <p:cNvGrpSpPr>
                <a:grpSpLocks/>
              </p:cNvGrpSpPr>
              <p:nvPr/>
            </p:nvGrpSpPr>
            <p:grpSpPr bwMode="auto">
              <a:xfrm>
                <a:off x="5009" y="295"/>
                <a:ext cx="613" cy="750"/>
                <a:chOff x="4781" y="433"/>
                <a:chExt cx="613" cy="750"/>
              </a:xfrm>
            </p:grpSpPr>
            <p:grpSp>
              <p:nvGrpSpPr>
                <p:cNvPr id="87098" name="Group 123"/>
                <p:cNvGrpSpPr>
                  <a:grpSpLocks/>
                </p:cNvGrpSpPr>
                <p:nvPr/>
              </p:nvGrpSpPr>
              <p:grpSpPr bwMode="auto">
                <a:xfrm>
                  <a:off x="4781" y="433"/>
                  <a:ext cx="205" cy="342"/>
                  <a:chOff x="1164" y="1150"/>
                  <a:chExt cx="244" cy="414"/>
                </a:xfrm>
              </p:grpSpPr>
              <p:sp>
                <p:nvSpPr>
                  <p:cNvPr id="87117" name="Freeform 124"/>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87118" name="Freeform 125"/>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19" name="Freeform 126"/>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20" name="Freeform 127"/>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21" name="Freeform 128"/>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87099" name="Group 129"/>
                <p:cNvGrpSpPr>
                  <a:grpSpLocks/>
                </p:cNvGrpSpPr>
                <p:nvPr/>
              </p:nvGrpSpPr>
              <p:grpSpPr bwMode="auto">
                <a:xfrm>
                  <a:off x="4917" y="569"/>
                  <a:ext cx="205" cy="342"/>
                  <a:chOff x="1164" y="1150"/>
                  <a:chExt cx="244" cy="414"/>
                </a:xfrm>
              </p:grpSpPr>
              <p:sp>
                <p:nvSpPr>
                  <p:cNvPr id="87112" name="Freeform 130"/>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87113" name="Freeform 131"/>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14" name="Freeform 132"/>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15" name="Freeform 133"/>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16" name="Freeform 134"/>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87100" name="Group 135"/>
                <p:cNvGrpSpPr>
                  <a:grpSpLocks/>
                </p:cNvGrpSpPr>
                <p:nvPr/>
              </p:nvGrpSpPr>
              <p:grpSpPr bwMode="auto">
                <a:xfrm>
                  <a:off x="5053" y="705"/>
                  <a:ext cx="205" cy="342"/>
                  <a:chOff x="1164" y="1150"/>
                  <a:chExt cx="244" cy="414"/>
                </a:xfrm>
              </p:grpSpPr>
              <p:sp>
                <p:nvSpPr>
                  <p:cNvPr id="87107" name="Freeform 136"/>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87108" name="Freeform 137"/>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09" name="Freeform 138"/>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10" name="Freeform 139"/>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11" name="Freeform 140"/>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87101" name="Group 141"/>
                <p:cNvGrpSpPr>
                  <a:grpSpLocks/>
                </p:cNvGrpSpPr>
                <p:nvPr/>
              </p:nvGrpSpPr>
              <p:grpSpPr bwMode="auto">
                <a:xfrm>
                  <a:off x="5189" y="841"/>
                  <a:ext cx="205" cy="342"/>
                  <a:chOff x="1164" y="1150"/>
                  <a:chExt cx="244" cy="414"/>
                </a:xfrm>
              </p:grpSpPr>
              <p:sp>
                <p:nvSpPr>
                  <p:cNvPr id="87102" name="Freeform 142"/>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87103" name="Freeform 143"/>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04" name="Freeform 144"/>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05" name="Freeform 145"/>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106" name="Freeform 146"/>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87086" name="Group 147"/>
              <p:cNvGrpSpPr>
                <a:grpSpLocks/>
              </p:cNvGrpSpPr>
              <p:nvPr/>
            </p:nvGrpSpPr>
            <p:grpSpPr bwMode="auto">
              <a:xfrm>
                <a:off x="5168" y="290"/>
                <a:ext cx="205" cy="342"/>
                <a:chOff x="1164" y="1150"/>
                <a:chExt cx="244" cy="414"/>
              </a:xfrm>
            </p:grpSpPr>
            <p:sp>
              <p:nvSpPr>
                <p:cNvPr id="87093" name="Freeform 148"/>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87094" name="Freeform 149"/>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095" name="Freeform 150"/>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096" name="Freeform 151"/>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097" name="Freeform 152"/>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87087" name="Group 153"/>
              <p:cNvGrpSpPr>
                <a:grpSpLocks/>
              </p:cNvGrpSpPr>
              <p:nvPr/>
            </p:nvGrpSpPr>
            <p:grpSpPr bwMode="auto">
              <a:xfrm>
                <a:off x="5333" y="408"/>
                <a:ext cx="205" cy="342"/>
                <a:chOff x="1164" y="1150"/>
                <a:chExt cx="244" cy="414"/>
              </a:xfrm>
            </p:grpSpPr>
            <p:sp>
              <p:nvSpPr>
                <p:cNvPr id="87088" name="Freeform 154"/>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87089" name="Freeform 155"/>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090" name="Freeform 156"/>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091" name="Freeform 157"/>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092" name="Freeform 158"/>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87068" name="Group 159"/>
            <p:cNvGrpSpPr>
              <a:grpSpLocks/>
            </p:cNvGrpSpPr>
            <p:nvPr/>
          </p:nvGrpSpPr>
          <p:grpSpPr bwMode="auto">
            <a:xfrm>
              <a:off x="4813" y="1506"/>
              <a:ext cx="205" cy="342"/>
              <a:chOff x="1164" y="1150"/>
              <a:chExt cx="244" cy="414"/>
            </a:xfrm>
          </p:grpSpPr>
          <p:sp>
            <p:nvSpPr>
              <p:cNvPr id="87075" name="Freeform 160"/>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87076" name="Freeform 161"/>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077" name="Freeform 162"/>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078" name="Freeform 163"/>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079" name="Freeform 164"/>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87069" name="Group 165"/>
            <p:cNvGrpSpPr>
              <a:grpSpLocks/>
            </p:cNvGrpSpPr>
            <p:nvPr/>
          </p:nvGrpSpPr>
          <p:grpSpPr bwMode="auto">
            <a:xfrm>
              <a:off x="4986" y="1497"/>
              <a:ext cx="205" cy="342"/>
              <a:chOff x="1164" y="1150"/>
              <a:chExt cx="244" cy="414"/>
            </a:xfrm>
          </p:grpSpPr>
          <p:sp>
            <p:nvSpPr>
              <p:cNvPr id="87070" name="Freeform 166"/>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87071" name="Freeform 167"/>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072" name="Freeform 168"/>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073" name="Freeform 169"/>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87074" name="Freeform 170"/>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109739" name="Group 171"/>
          <p:cNvGrpSpPr>
            <a:grpSpLocks/>
          </p:cNvGrpSpPr>
          <p:nvPr/>
        </p:nvGrpSpPr>
        <p:grpSpPr bwMode="auto">
          <a:xfrm>
            <a:off x="2120900" y="3025775"/>
            <a:ext cx="4151313" cy="508000"/>
            <a:chOff x="1956" y="1810"/>
            <a:chExt cx="2615" cy="320"/>
          </a:xfrm>
        </p:grpSpPr>
        <p:sp>
          <p:nvSpPr>
            <p:cNvPr id="87065" name="Oval 172"/>
            <p:cNvSpPr>
              <a:spLocks noChangeArrowheads="1"/>
            </p:cNvSpPr>
            <p:nvPr/>
          </p:nvSpPr>
          <p:spPr bwMode="auto">
            <a:xfrm>
              <a:off x="1956" y="2029"/>
              <a:ext cx="92" cy="92"/>
            </a:xfrm>
            <a:prstGeom prst="ellipse">
              <a:avLst/>
            </a:prstGeom>
            <a:solidFill>
              <a:srgbClr val="FF3300"/>
            </a:solidFill>
            <a:ln w="9525">
              <a:solidFill>
                <a:schemeClr val="tx1"/>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87066" name="Line 173"/>
            <p:cNvSpPr>
              <a:spLocks noChangeShapeType="1"/>
            </p:cNvSpPr>
            <p:nvPr/>
          </p:nvSpPr>
          <p:spPr bwMode="auto">
            <a:xfrm>
              <a:off x="4571" y="1810"/>
              <a:ext cx="0" cy="320"/>
            </a:xfrm>
            <a:prstGeom prst="line">
              <a:avLst/>
            </a:prstGeom>
            <a:noFill/>
            <a:ln w="38100">
              <a:solidFill>
                <a:srgbClr val="FF3300"/>
              </a:solidFill>
              <a:round/>
              <a:headEnd/>
              <a:tailEnd/>
            </a:ln>
          </p:spPr>
          <p:txBody>
            <a:bodyPr/>
            <a:lstStyle/>
            <a:p>
              <a:endParaRPr lang="en-US"/>
            </a:p>
          </p:txBody>
        </p:sp>
      </p:grpSp>
      <p:grpSp>
        <p:nvGrpSpPr>
          <p:cNvPr id="87061" name="Group 181"/>
          <p:cNvGrpSpPr>
            <a:grpSpLocks/>
          </p:cNvGrpSpPr>
          <p:nvPr/>
        </p:nvGrpSpPr>
        <p:grpSpPr bwMode="auto">
          <a:xfrm>
            <a:off x="1265238" y="2924175"/>
            <a:ext cx="4295775" cy="2862263"/>
            <a:chOff x="797" y="1788"/>
            <a:chExt cx="2706" cy="1803"/>
          </a:xfrm>
        </p:grpSpPr>
        <p:sp>
          <p:nvSpPr>
            <p:cNvPr id="87062" name="Freeform 175" descr="Small confetti"/>
            <p:cNvSpPr>
              <a:spLocks/>
            </p:cNvSpPr>
            <p:nvPr/>
          </p:nvSpPr>
          <p:spPr bwMode="auto">
            <a:xfrm>
              <a:off x="797" y="1788"/>
              <a:ext cx="896" cy="1271"/>
            </a:xfrm>
            <a:custGeom>
              <a:avLst/>
              <a:gdLst>
                <a:gd name="T0" fmla="*/ 338 w 896"/>
                <a:gd name="T1" fmla="*/ 1271 h 1271"/>
                <a:gd name="T2" fmla="*/ 210 w 896"/>
                <a:gd name="T3" fmla="*/ 1207 h 1271"/>
                <a:gd name="T4" fmla="*/ 119 w 896"/>
                <a:gd name="T5" fmla="*/ 1052 h 1271"/>
                <a:gd name="T6" fmla="*/ 64 w 896"/>
                <a:gd name="T7" fmla="*/ 851 h 1271"/>
                <a:gd name="T8" fmla="*/ 9 w 896"/>
                <a:gd name="T9" fmla="*/ 695 h 1271"/>
                <a:gd name="T10" fmla="*/ 0 w 896"/>
                <a:gd name="T11" fmla="*/ 485 h 1271"/>
                <a:gd name="T12" fmla="*/ 73 w 896"/>
                <a:gd name="T13" fmla="*/ 156 h 1271"/>
                <a:gd name="T14" fmla="*/ 210 w 896"/>
                <a:gd name="T15" fmla="*/ 0 h 1271"/>
                <a:gd name="T16" fmla="*/ 448 w 896"/>
                <a:gd name="T17" fmla="*/ 28 h 1271"/>
                <a:gd name="T18" fmla="*/ 604 w 896"/>
                <a:gd name="T19" fmla="*/ 128 h 1271"/>
                <a:gd name="T20" fmla="*/ 796 w 896"/>
                <a:gd name="T21" fmla="*/ 357 h 1271"/>
                <a:gd name="T22" fmla="*/ 869 w 896"/>
                <a:gd name="T23" fmla="*/ 558 h 1271"/>
                <a:gd name="T24" fmla="*/ 896 w 896"/>
                <a:gd name="T25" fmla="*/ 860 h 1271"/>
                <a:gd name="T26" fmla="*/ 823 w 896"/>
                <a:gd name="T27" fmla="*/ 1125 h 1271"/>
                <a:gd name="T28" fmla="*/ 631 w 896"/>
                <a:gd name="T29" fmla="*/ 1244 h 1271"/>
                <a:gd name="T30" fmla="*/ 466 w 896"/>
                <a:gd name="T31" fmla="*/ 1271 h 1271"/>
                <a:gd name="T32" fmla="*/ 338 w 896"/>
                <a:gd name="T33" fmla="*/ 1271 h 127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96"/>
                <a:gd name="T52" fmla="*/ 0 h 1271"/>
                <a:gd name="T53" fmla="*/ 896 w 896"/>
                <a:gd name="T54" fmla="*/ 1271 h 127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96" h="1271">
                  <a:moveTo>
                    <a:pt x="338" y="1271"/>
                  </a:moveTo>
                  <a:lnTo>
                    <a:pt x="210" y="1207"/>
                  </a:lnTo>
                  <a:lnTo>
                    <a:pt x="119" y="1052"/>
                  </a:lnTo>
                  <a:lnTo>
                    <a:pt x="64" y="851"/>
                  </a:lnTo>
                  <a:lnTo>
                    <a:pt x="9" y="695"/>
                  </a:lnTo>
                  <a:lnTo>
                    <a:pt x="0" y="485"/>
                  </a:lnTo>
                  <a:lnTo>
                    <a:pt x="73" y="156"/>
                  </a:lnTo>
                  <a:lnTo>
                    <a:pt x="210" y="0"/>
                  </a:lnTo>
                  <a:lnTo>
                    <a:pt x="448" y="28"/>
                  </a:lnTo>
                  <a:lnTo>
                    <a:pt x="604" y="128"/>
                  </a:lnTo>
                  <a:lnTo>
                    <a:pt x="796" y="357"/>
                  </a:lnTo>
                  <a:lnTo>
                    <a:pt x="869" y="558"/>
                  </a:lnTo>
                  <a:lnTo>
                    <a:pt x="896" y="860"/>
                  </a:lnTo>
                  <a:lnTo>
                    <a:pt x="823" y="1125"/>
                  </a:lnTo>
                  <a:lnTo>
                    <a:pt x="631" y="1244"/>
                  </a:lnTo>
                  <a:lnTo>
                    <a:pt x="466" y="1271"/>
                  </a:lnTo>
                  <a:lnTo>
                    <a:pt x="338" y="1271"/>
                  </a:lnTo>
                  <a:close/>
                </a:path>
              </a:pathLst>
            </a:custGeom>
            <a:pattFill prst="smConfetti">
              <a:fgClr>
                <a:srgbClr val="FF0000">
                  <a:alpha val="25882"/>
                </a:srgbClr>
              </a:fgClr>
              <a:bgClr>
                <a:schemeClr val="bg1">
                  <a:alpha val="25882"/>
                </a:schemeClr>
              </a:bgClr>
            </a:pattFill>
            <a:ln w="9525">
              <a:solidFill>
                <a:schemeClr val="tx1"/>
              </a:solidFill>
              <a:round/>
              <a:headEnd/>
              <a:tailEnd/>
            </a:ln>
          </p:spPr>
          <p:txBody>
            <a:bodyPr/>
            <a:lstStyle/>
            <a:p>
              <a:endParaRPr lang="en-US"/>
            </a:p>
          </p:txBody>
        </p:sp>
        <p:sp>
          <p:nvSpPr>
            <p:cNvPr id="87063" name="Text Box 176"/>
            <p:cNvSpPr txBox="1">
              <a:spLocks noChangeArrowheads="1"/>
            </p:cNvSpPr>
            <p:nvPr/>
          </p:nvSpPr>
          <p:spPr bwMode="auto">
            <a:xfrm>
              <a:off x="2470" y="3187"/>
              <a:ext cx="1033" cy="404"/>
            </a:xfrm>
            <a:prstGeom prst="rect">
              <a:avLst/>
            </a:prstGeom>
            <a:noFill/>
            <a:ln w="9525">
              <a:noFill/>
              <a:miter lim="800000"/>
              <a:headEnd/>
              <a:tailEnd/>
            </a:ln>
          </p:spPr>
          <p:txBody>
            <a:bodyPr>
              <a:spAutoFit/>
            </a:bodyPr>
            <a:lstStyle/>
            <a:p>
              <a:pPr>
                <a:spcBef>
                  <a:spcPct val="50000"/>
                </a:spcBef>
              </a:pPr>
              <a:r>
                <a:rPr lang="en-AU" i="0">
                  <a:solidFill>
                    <a:schemeClr val="tx1"/>
                  </a:solidFill>
                </a:rPr>
                <a:t>Management zone</a:t>
              </a:r>
              <a:endParaRPr lang="en-US" i="0">
                <a:solidFill>
                  <a:schemeClr val="tx1"/>
                </a:solidFill>
              </a:endParaRPr>
            </a:p>
          </p:txBody>
        </p:sp>
        <p:sp>
          <p:nvSpPr>
            <p:cNvPr id="87064" name="Line 177"/>
            <p:cNvSpPr>
              <a:spLocks noChangeShapeType="1"/>
            </p:cNvSpPr>
            <p:nvPr/>
          </p:nvSpPr>
          <p:spPr bwMode="auto">
            <a:xfrm flipH="1" flipV="1">
              <a:off x="1629" y="2785"/>
              <a:ext cx="849" cy="505"/>
            </a:xfrm>
            <a:prstGeom prst="line">
              <a:avLst/>
            </a:prstGeom>
            <a:noFill/>
            <a:ln w="9525">
              <a:solidFill>
                <a:schemeClr val="tx1"/>
              </a:solidFill>
              <a:round/>
              <a:headEnd/>
              <a:tailEnd type="triangle" w="med" len="med"/>
            </a:ln>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09609"/>
                                        </p:tgtEl>
                                        <p:attrNameLst>
                                          <p:attrName>style.visibility</p:attrName>
                                        </p:attrNameLst>
                                      </p:cBhvr>
                                      <p:to>
                                        <p:strVal val="visible"/>
                                      </p:to>
                                    </p:set>
                                    <p:animEffect transition="in" filter="dissolve">
                                      <p:cBhvr>
                                        <p:cTn id="7" dur="500"/>
                                        <p:tgtEl>
                                          <p:spTgt spid="10960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09606"/>
                                        </p:tgtEl>
                                        <p:attrNameLst>
                                          <p:attrName>style.visibility</p:attrName>
                                        </p:attrNameLst>
                                      </p:cBhvr>
                                      <p:to>
                                        <p:strVal val="visible"/>
                                      </p:to>
                                    </p:set>
                                    <p:animEffect transition="in" filter="dissolve">
                                      <p:cBhvr>
                                        <p:cTn id="12" dur="500"/>
                                        <p:tgtEl>
                                          <p:spTgt spid="1096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09739"/>
                                        </p:tgtEl>
                                        <p:attrNameLst>
                                          <p:attrName>style.visibility</p:attrName>
                                        </p:attrNameLst>
                                      </p:cBhvr>
                                      <p:to>
                                        <p:strVal val="visible"/>
                                      </p:to>
                                    </p:set>
                                    <p:animEffect transition="in" filter="dissolve">
                                      <p:cBhvr>
                                        <p:cTn id="17" dur="500"/>
                                        <p:tgtEl>
                                          <p:spTgt spid="1097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09639"/>
                                        </p:tgtEl>
                                        <p:attrNameLst>
                                          <p:attrName>style.visibility</p:attrName>
                                        </p:attrNameLst>
                                      </p:cBhvr>
                                      <p:to>
                                        <p:strVal val="visible"/>
                                      </p:to>
                                    </p:set>
                                    <p:animEffect transition="in" filter="dissolve">
                                      <p:cBhvr>
                                        <p:cTn id="22" dur="500"/>
                                        <p:tgtEl>
                                          <p:spTgt spid="1096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89" name="Picture 2" descr="salinity-1"/>
          <p:cNvPicPr>
            <a:picLocks noChangeAspect="1" noChangeArrowheads="1"/>
          </p:cNvPicPr>
          <p:nvPr/>
        </p:nvPicPr>
        <p:blipFill>
          <a:blip r:embed="rId3"/>
          <a:srcRect/>
          <a:stretch>
            <a:fillRect/>
          </a:stretch>
        </p:blipFill>
        <p:spPr bwMode="auto">
          <a:xfrm>
            <a:off x="4184650" y="1728788"/>
            <a:ext cx="3824288" cy="2160587"/>
          </a:xfrm>
          <a:prstGeom prst="rect">
            <a:avLst/>
          </a:prstGeom>
          <a:noFill/>
          <a:ln w="9525">
            <a:noFill/>
            <a:miter lim="800000"/>
            <a:headEnd/>
            <a:tailEnd/>
          </a:ln>
        </p:spPr>
      </p:pic>
      <p:pic>
        <p:nvPicPr>
          <p:cNvPr id="89090" name="Picture 3" descr="salinity-2"/>
          <p:cNvPicPr>
            <a:picLocks noChangeAspect="1" noChangeArrowheads="1"/>
          </p:cNvPicPr>
          <p:nvPr/>
        </p:nvPicPr>
        <p:blipFill>
          <a:blip r:embed="rId4"/>
          <a:srcRect/>
          <a:stretch>
            <a:fillRect/>
          </a:stretch>
        </p:blipFill>
        <p:spPr bwMode="auto">
          <a:xfrm>
            <a:off x="4191000" y="4064000"/>
            <a:ext cx="3819525" cy="2160588"/>
          </a:xfrm>
          <a:prstGeom prst="rect">
            <a:avLst/>
          </a:prstGeom>
          <a:noFill/>
          <a:ln w="9525">
            <a:noFill/>
            <a:miter lim="800000"/>
            <a:headEnd/>
            <a:tailEnd/>
          </a:ln>
        </p:spPr>
      </p:pic>
      <p:sp>
        <p:nvSpPr>
          <p:cNvPr id="89091" name="Rectangle 4"/>
          <p:cNvSpPr>
            <a:spLocks noGrp="1" noChangeArrowheads="1"/>
          </p:cNvSpPr>
          <p:nvPr>
            <p:ph type="title"/>
          </p:nvPr>
        </p:nvSpPr>
        <p:spPr>
          <a:xfrm>
            <a:off x="438150" y="806450"/>
            <a:ext cx="6264275" cy="493713"/>
          </a:xfrm>
        </p:spPr>
        <p:txBody>
          <a:bodyPr/>
          <a:lstStyle/>
          <a:p>
            <a:r>
              <a:rPr lang="en-US" smtClean="0"/>
              <a:t>Dryland salinity management</a:t>
            </a:r>
          </a:p>
        </p:txBody>
      </p:sp>
      <p:sp>
        <p:nvSpPr>
          <p:cNvPr id="89092" name="Rectangle 5"/>
          <p:cNvSpPr>
            <a:spLocks noGrp="1" noChangeArrowheads="1"/>
          </p:cNvSpPr>
          <p:nvPr>
            <p:ph type="body" sz="half" idx="4294967295"/>
          </p:nvPr>
        </p:nvSpPr>
        <p:spPr>
          <a:xfrm>
            <a:off x="438150" y="1728788"/>
            <a:ext cx="3241675" cy="2105025"/>
          </a:xfrm>
        </p:spPr>
        <p:txBody>
          <a:bodyPr/>
          <a:lstStyle/>
          <a:p>
            <a:pPr marL="538163" indent="-538163">
              <a:lnSpc>
                <a:spcPct val="80000"/>
              </a:lnSpc>
              <a:buFontTx/>
              <a:buNone/>
            </a:pPr>
            <a:r>
              <a:rPr lang="en-US" sz="1600" smtClean="0"/>
              <a:t>(a) Prior to development</a:t>
            </a:r>
          </a:p>
          <a:p>
            <a:pPr marL="538163" indent="-538163">
              <a:lnSpc>
                <a:spcPct val="80000"/>
              </a:lnSpc>
              <a:buFontTx/>
              <a:buNone/>
            </a:pPr>
            <a:r>
              <a:rPr lang="en-US" sz="1600" smtClean="0"/>
              <a:t>(b) With clearing and development</a:t>
            </a:r>
          </a:p>
          <a:p>
            <a:pPr marL="538163" indent="-538163">
              <a:lnSpc>
                <a:spcPct val="80000"/>
              </a:lnSpc>
              <a:buFontTx/>
              <a:buNone/>
            </a:pPr>
            <a:endParaRPr lang="en-US" sz="1600" smtClean="0"/>
          </a:p>
          <a:p>
            <a:pPr marL="538163" indent="-538163">
              <a:lnSpc>
                <a:spcPct val="80000"/>
              </a:lnSpc>
              <a:buFontTx/>
              <a:buNone/>
            </a:pPr>
            <a:r>
              <a:rPr lang="en-US" sz="1600" smtClean="0"/>
              <a:t>Note:	Historical “salt” refers to concentrated solute</a:t>
            </a:r>
          </a:p>
        </p:txBody>
      </p:sp>
      <p:sp>
        <p:nvSpPr>
          <p:cNvPr id="89093" name="Rectangle 6"/>
          <p:cNvSpPr>
            <a:spLocks noChangeArrowheads="1"/>
          </p:cNvSpPr>
          <p:nvPr/>
        </p:nvSpPr>
        <p:spPr bwMode="auto">
          <a:xfrm>
            <a:off x="438150" y="4827588"/>
            <a:ext cx="3603625" cy="1647825"/>
          </a:xfrm>
          <a:prstGeom prst="rect">
            <a:avLst/>
          </a:prstGeom>
          <a:noFill/>
          <a:ln w="9525">
            <a:noFill/>
            <a:miter lim="800000"/>
            <a:headEnd/>
            <a:tailEnd/>
          </a:ln>
        </p:spPr>
        <p:txBody>
          <a:bodyPr lIns="0" tIns="0" rIns="0" bIns="0">
            <a:spAutoFit/>
          </a:bodyPr>
          <a:lstStyle/>
          <a:p>
            <a:pPr marL="180975" indent="-180975"/>
            <a:r>
              <a:rPr lang="en-US" i="0">
                <a:solidFill>
                  <a:schemeClr val="tx1"/>
                </a:solidFill>
              </a:rPr>
              <a:t>Impact:  </a:t>
            </a:r>
          </a:p>
          <a:p>
            <a:pPr marL="180975" indent="-180975">
              <a:buFontTx/>
              <a:buChar char="•"/>
            </a:pPr>
            <a:r>
              <a:rPr lang="en-US" i="0">
                <a:solidFill>
                  <a:schemeClr val="tx1"/>
                </a:solidFill>
              </a:rPr>
              <a:t>2.5MHa of cultivated land (5%) affected by salinity</a:t>
            </a:r>
          </a:p>
          <a:p>
            <a:pPr marL="180975" indent="-180975">
              <a:buFontTx/>
              <a:buChar char="•"/>
            </a:pPr>
            <a:endParaRPr lang="en-US" i="0">
              <a:solidFill>
                <a:schemeClr val="tx1"/>
              </a:solidFill>
            </a:endParaRPr>
          </a:p>
          <a:p>
            <a:pPr marL="180975" indent="-180975">
              <a:buFontTx/>
              <a:buChar char="•"/>
            </a:pPr>
            <a:r>
              <a:rPr lang="en-US" i="0">
                <a:solidFill>
                  <a:schemeClr val="tx1"/>
                </a:solidFill>
              </a:rPr>
              <a:t>5.7MHa has immediate potential to be affected by salinity</a:t>
            </a:r>
          </a:p>
        </p:txBody>
      </p:sp>
      <p:sp>
        <p:nvSpPr>
          <p:cNvPr id="89094" name="Text Box 10"/>
          <p:cNvSpPr txBox="1">
            <a:spLocks noChangeArrowheads="1"/>
          </p:cNvSpPr>
          <p:nvPr/>
        </p:nvSpPr>
        <p:spPr bwMode="auto">
          <a:xfrm>
            <a:off x="4292600" y="1771650"/>
            <a:ext cx="127000" cy="274638"/>
          </a:xfrm>
          <a:prstGeom prst="rect">
            <a:avLst/>
          </a:prstGeom>
          <a:noFill/>
          <a:ln w="9525">
            <a:noFill/>
            <a:miter lim="800000"/>
            <a:headEnd/>
            <a:tailEnd/>
          </a:ln>
        </p:spPr>
        <p:txBody>
          <a:bodyPr wrap="none" lIns="0" tIns="0" rIns="0" bIns="0">
            <a:spAutoFit/>
          </a:bodyPr>
          <a:lstStyle/>
          <a:p>
            <a:pPr>
              <a:spcBef>
                <a:spcPct val="50000"/>
              </a:spcBef>
            </a:pPr>
            <a:r>
              <a:rPr lang="en-AU" i="0">
                <a:solidFill>
                  <a:schemeClr val="tx1"/>
                </a:solidFill>
              </a:rPr>
              <a:t>a</a:t>
            </a:r>
            <a:endParaRPr lang="en-US" i="0">
              <a:solidFill>
                <a:schemeClr val="tx1"/>
              </a:solidFill>
            </a:endParaRPr>
          </a:p>
        </p:txBody>
      </p:sp>
      <p:sp>
        <p:nvSpPr>
          <p:cNvPr id="89095" name="Text Box 11"/>
          <p:cNvSpPr txBox="1">
            <a:spLocks noChangeArrowheads="1"/>
          </p:cNvSpPr>
          <p:nvPr/>
        </p:nvSpPr>
        <p:spPr bwMode="auto">
          <a:xfrm>
            <a:off x="4289425" y="4121150"/>
            <a:ext cx="127000" cy="274638"/>
          </a:xfrm>
          <a:prstGeom prst="rect">
            <a:avLst/>
          </a:prstGeom>
          <a:noFill/>
          <a:ln w="9525">
            <a:noFill/>
            <a:miter lim="800000"/>
            <a:headEnd/>
            <a:tailEnd/>
          </a:ln>
        </p:spPr>
        <p:txBody>
          <a:bodyPr wrap="none" lIns="0" tIns="0" rIns="0" bIns="0">
            <a:spAutoFit/>
          </a:bodyPr>
          <a:lstStyle/>
          <a:p>
            <a:pPr>
              <a:spcBef>
                <a:spcPct val="50000"/>
              </a:spcBef>
            </a:pPr>
            <a:r>
              <a:rPr lang="en-AU" i="0">
                <a:solidFill>
                  <a:schemeClr val="tx1"/>
                </a:solidFill>
              </a:rPr>
              <a:t>b</a:t>
            </a:r>
            <a:endParaRPr lang="en-US" i="0">
              <a:solidFill>
                <a:schemeClr val="tx1"/>
              </a:solidFill>
            </a:endParaRP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a:spLocks noGrp="1" noChangeArrowheads="1"/>
          </p:cNvSpPr>
          <p:nvPr>
            <p:ph type="title"/>
          </p:nvPr>
        </p:nvSpPr>
        <p:spPr>
          <a:xfrm>
            <a:off x="438150" y="806450"/>
            <a:ext cx="5959475" cy="493713"/>
          </a:xfrm>
        </p:spPr>
        <p:txBody>
          <a:bodyPr/>
          <a:lstStyle/>
          <a:p>
            <a:r>
              <a:rPr lang="en-AU" smtClean="0"/>
              <a:t>Salinity in a catchment</a:t>
            </a:r>
            <a:endParaRPr lang="en-US" smtClean="0"/>
          </a:p>
        </p:txBody>
      </p:sp>
      <p:sp>
        <p:nvSpPr>
          <p:cNvPr id="91138" name="Freeform 7" descr="Dashed upward diagonal"/>
          <p:cNvSpPr>
            <a:spLocks/>
          </p:cNvSpPr>
          <p:nvPr/>
        </p:nvSpPr>
        <p:spPr bwMode="auto">
          <a:xfrm>
            <a:off x="436563" y="1611313"/>
            <a:ext cx="3149600" cy="4732337"/>
          </a:xfrm>
          <a:custGeom>
            <a:avLst/>
            <a:gdLst>
              <a:gd name="T0" fmla="*/ 0 w 1984"/>
              <a:gd name="T1" fmla="*/ 4562475 h 2981"/>
              <a:gd name="T2" fmla="*/ 3149600 w 1984"/>
              <a:gd name="T3" fmla="*/ 0 h 2981"/>
              <a:gd name="T4" fmla="*/ 2903538 w 1984"/>
              <a:gd name="T5" fmla="*/ 4732337 h 2981"/>
              <a:gd name="T6" fmla="*/ 2838450 w 1984"/>
              <a:gd name="T7" fmla="*/ 4467225 h 2981"/>
              <a:gd name="T8" fmla="*/ 2838450 w 1984"/>
              <a:gd name="T9" fmla="*/ 4184650 h 2981"/>
              <a:gd name="T10" fmla="*/ 2867025 w 1984"/>
              <a:gd name="T11" fmla="*/ 3949700 h 2981"/>
              <a:gd name="T12" fmla="*/ 2697163 w 1984"/>
              <a:gd name="T13" fmla="*/ 3760787 h 2981"/>
              <a:gd name="T14" fmla="*/ 2451100 w 1984"/>
              <a:gd name="T15" fmla="*/ 3552825 h 2981"/>
              <a:gd name="T16" fmla="*/ 2376488 w 1984"/>
              <a:gd name="T17" fmla="*/ 3243262 h 2981"/>
              <a:gd name="T18" fmla="*/ 2479675 w 1984"/>
              <a:gd name="T19" fmla="*/ 2798762 h 2981"/>
              <a:gd name="T20" fmla="*/ 2630488 w 1984"/>
              <a:gd name="T21" fmla="*/ 2451100 h 2981"/>
              <a:gd name="T22" fmla="*/ 2809875 w 1984"/>
              <a:gd name="T23" fmla="*/ 2168525 h 2981"/>
              <a:gd name="T24" fmla="*/ 2960688 w 1984"/>
              <a:gd name="T25" fmla="*/ 1951037 h 2981"/>
              <a:gd name="T26" fmla="*/ 3054350 w 1984"/>
              <a:gd name="T27" fmla="*/ 1743075 h 2981"/>
              <a:gd name="T28" fmla="*/ 3008313 w 1984"/>
              <a:gd name="T29" fmla="*/ 1422400 h 2981"/>
              <a:gd name="T30" fmla="*/ 2867025 w 1984"/>
              <a:gd name="T31" fmla="*/ 1046162 h 2981"/>
              <a:gd name="T32" fmla="*/ 2743200 w 1984"/>
              <a:gd name="T33" fmla="*/ 838200 h 2981"/>
              <a:gd name="T34" fmla="*/ 2743200 w 1984"/>
              <a:gd name="T35" fmla="*/ 631825 h 2981"/>
              <a:gd name="T36" fmla="*/ 2752725 w 1984"/>
              <a:gd name="T37" fmla="*/ 395287 h 2981"/>
              <a:gd name="T38" fmla="*/ 2582863 w 1984"/>
              <a:gd name="T39" fmla="*/ 311150 h 2981"/>
              <a:gd name="T40" fmla="*/ 2338388 w 1984"/>
              <a:gd name="T41" fmla="*/ 282575 h 2981"/>
              <a:gd name="T42" fmla="*/ 2046288 w 1984"/>
              <a:gd name="T43" fmla="*/ 347662 h 2981"/>
              <a:gd name="T44" fmla="*/ 1801813 w 1984"/>
              <a:gd name="T45" fmla="*/ 481012 h 2981"/>
              <a:gd name="T46" fmla="*/ 1565275 w 1984"/>
              <a:gd name="T47" fmla="*/ 481012 h 2981"/>
              <a:gd name="T48" fmla="*/ 1311275 w 1984"/>
              <a:gd name="T49" fmla="*/ 376237 h 2981"/>
              <a:gd name="T50" fmla="*/ 1074738 w 1984"/>
              <a:gd name="T51" fmla="*/ 292100 h 2981"/>
              <a:gd name="T52" fmla="*/ 763588 w 1984"/>
              <a:gd name="T53" fmla="*/ 366712 h 2981"/>
              <a:gd name="T54" fmla="*/ 434975 w 1984"/>
              <a:gd name="T55" fmla="*/ 593725 h 2981"/>
              <a:gd name="T56" fmla="*/ 246063 w 1984"/>
              <a:gd name="T57" fmla="*/ 904875 h 2981"/>
              <a:gd name="T58" fmla="*/ 236538 w 1984"/>
              <a:gd name="T59" fmla="*/ 1271587 h 2981"/>
              <a:gd name="T60" fmla="*/ 293688 w 1984"/>
              <a:gd name="T61" fmla="*/ 1687513 h 2981"/>
              <a:gd name="T62" fmla="*/ 284163 w 1984"/>
              <a:gd name="T63" fmla="*/ 2082800 h 2981"/>
              <a:gd name="T64" fmla="*/ 387350 w 1984"/>
              <a:gd name="T65" fmla="*/ 2525712 h 2981"/>
              <a:gd name="T66" fmla="*/ 500063 w 1984"/>
              <a:gd name="T67" fmla="*/ 2913062 h 2981"/>
              <a:gd name="T68" fmla="*/ 490538 w 1984"/>
              <a:gd name="T69" fmla="*/ 3270250 h 2981"/>
              <a:gd name="T70" fmla="*/ 566738 w 1984"/>
              <a:gd name="T71" fmla="*/ 3525838 h 2981"/>
              <a:gd name="T72" fmla="*/ 727075 w 1984"/>
              <a:gd name="T73" fmla="*/ 3817937 h 2981"/>
              <a:gd name="T74" fmla="*/ 727075 w 1984"/>
              <a:gd name="T75" fmla="*/ 4033837 h 2981"/>
              <a:gd name="T76" fmla="*/ 509588 w 1984"/>
              <a:gd name="T77" fmla="*/ 4354512 h 2981"/>
              <a:gd name="T78" fmla="*/ 301625 w 1984"/>
              <a:gd name="T79" fmla="*/ 4562475 h 298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984"/>
              <a:gd name="T121" fmla="*/ 0 h 2981"/>
              <a:gd name="T122" fmla="*/ 1984 w 1984"/>
              <a:gd name="T123" fmla="*/ 2981 h 298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984" h="2981">
                <a:moveTo>
                  <a:pt x="190" y="2874"/>
                </a:moveTo>
                <a:lnTo>
                  <a:pt x="0" y="2874"/>
                </a:lnTo>
                <a:lnTo>
                  <a:pt x="0" y="0"/>
                </a:lnTo>
                <a:lnTo>
                  <a:pt x="1984" y="0"/>
                </a:lnTo>
                <a:lnTo>
                  <a:pt x="1984" y="2981"/>
                </a:lnTo>
                <a:lnTo>
                  <a:pt x="1829" y="2981"/>
                </a:lnTo>
                <a:lnTo>
                  <a:pt x="1788" y="2898"/>
                </a:lnTo>
                <a:lnTo>
                  <a:pt x="1788" y="2814"/>
                </a:lnTo>
                <a:lnTo>
                  <a:pt x="1788" y="2719"/>
                </a:lnTo>
                <a:lnTo>
                  <a:pt x="1788" y="2636"/>
                </a:lnTo>
                <a:lnTo>
                  <a:pt x="1794" y="2559"/>
                </a:lnTo>
                <a:lnTo>
                  <a:pt x="1806" y="2488"/>
                </a:lnTo>
                <a:lnTo>
                  <a:pt x="1776" y="2417"/>
                </a:lnTo>
                <a:lnTo>
                  <a:pt x="1699" y="2369"/>
                </a:lnTo>
                <a:lnTo>
                  <a:pt x="1610" y="2298"/>
                </a:lnTo>
                <a:lnTo>
                  <a:pt x="1544" y="2238"/>
                </a:lnTo>
                <a:lnTo>
                  <a:pt x="1515" y="2149"/>
                </a:lnTo>
                <a:lnTo>
                  <a:pt x="1497" y="2043"/>
                </a:lnTo>
                <a:lnTo>
                  <a:pt x="1497" y="1936"/>
                </a:lnTo>
                <a:lnTo>
                  <a:pt x="1562" y="1763"/>
                </a:lnTo>
                <a:lnTo>
                  <a:pt x="1610" y="1627"/>
                </a:lnTo>
                <a:lnTo>
                  <a:pt x="1657" y="1544"/>
                </a:lnTo>
                <a:lnTo>
                  <a:pt x="1699" y="1461"/>
                </a:lnTo>
                <a:lnTo>
                  <a:pt x="1770" y="1366"/>
                </a:lnTo>
                <a:lnTo>
                  <a:pt x="1829" y="1276"/>
                </a:lnTo>
                <a:lnTo>
                  <a:pt x="1865" y="1229"/>
                </a:lnTo>
                <a:lnTo>
                  <a:pt x="1918" y="1146"/>
                </a:lnTo>
                <a:lnTo>
                  <a:pt x="1924" y="1098"/>
                </a:lnTo>
                <a:lnTo>
                  <a:pt x="1924" y="1021"/>
                </a:lnTo>
                <a:lnTo>
                  <a:pt x="1895" y="896"/>
                </a:lnTo>
                <a:lnTo>
                  <a:pt x="1847" y="772"/>
                </a:lnTo>
                <a:lnTo>
                  <a:pt x="1806" y="659"/>
                </a:lnTo>
                <a:lnTo>
                  <a:pt x="1758" y="600"/>
                </a:lnTo>
                <a:lnTo>
                  <a:pt x="1728" y="528"/>
                </a:lnTo>
                <a:lnTo>
                  <a:pt x="1722" y="475"/>
                </a:lnTo>
                <a:lnTo>
                  <a:pt x="1728" y="398"/>
                </a:lnTo>
                <a:lnTo>
                  <a:pt x="1734" y="320"/>
                </a:lnTo>
                <a:lnTo>
                  <a:pt x="1734" y="249"/>
                </a:lnTo>
                <a:lnTo>
                  <a:pt x="1693" y="214"/>
                </a:lnTo>
                <a:lnTo>
                  <a:pt x="1627" y="196"/>
                </a:lnTo>
                <a:lnTo>
                  <a:pt x="1556" y="178"/>
                </a:lnTo>
                <a:lnTo>
                  <a:pt x="1473" y="178"/>
                </a:lnTo>
                <a:lnTo>
                  <a:pt x="1360" y="178"/>
                </a:lnTo>
                <a:lnTo>
                  <a:pt x="1289" y="219"/>
                </a:lnTo>
                <a:lnTo>
                  <a:pt x="1224" y="267"/>
                </a:lnTo>
                <a:lnTo>
                  <a:pt x="1135" y="303"/>
                </a:lnTo>
                <a:lnTo>
                  <a:pt x="1063" y="303"/>
                </a:lnTo>
                <a:lnTo>
                  <a:pt x="986" y="303"/>
                </a:lnTo>
                <a:lnTo>
                  <a:pt x="915" y="291"/>
                </a:lnTo>
                <a:lnTo>
                  <a:pt x="826" y="237"/>
                </a:lnTo>
                <a:lnTo>
                  <a:pt x="749" y="184"/>
                </a:lnTo>
                <a:lnTo>
                  <a:pt x="677" y="184"/>
                </a:lnTo>
                <a:lnTo>
                  <a:pt x="576" y="196"/>
                </a:lnTo>
                <a:lnTo>
                  <a:pt x="481" y="231"/>
                </a:lnTo>
                <a:lnTo>
                  <a:pt x="369" y="303"/>
                </a:lnTo>
                <a:lnTo>
                  <a:pt x="274" y="374"/>
                </a:lnTo>
                <a:lnTo>
                  <a:pt x="208" y="463"/>
                </a:lnTo>
                <a:lnTo>
                  <a:pt x="155" y="570"/>
                </a:lnTo>
                <a:lnTo>
                  <a:pt x="137" y="665"/>
                </a:lnTo>
                <a:lnTo>
                  <a:pt x="149" y="801"/>
                </a:lnTo>
                <a:lnTo>
                  <a:pt x="179" y="956"/>
                </a:lnTo>
                <a:lnTo>
                  <a:pt x="185" y="1063"/>
                </a:lnTo>
                <a:lnTo>
                  <a:pt x="185" y="1176"/>
                </a:lnTo>
                <a:lnTo>
                  <a:pt x="179" y="1312"/>
                </a:lnTo>
                <a:lnTo>
                  <a:pt x="185" y="1389"/>
                </a:lnTo>
                <a:lnTo>
                  <a:pt x="244" y="1591"/>
                </a:lnTo>
                <a:lnTo>
                  <a:pt x="297" y="1746"/>
                </a:lnTo>
                <a:lnTo>
                  <a:pt x="315" y="1835"/>
                </a:lnTo>
                <a:lnTo>
                  <a:pt x="321" y="1965"/>
                </a:lnTo>
                <a:lnTo>
                  <a:pt x="309" y="2060"/>
                </a:lnTo>
                <a:lnTo>
                  <a:pt x="327" y="2149"/>
                </a:lnTo>
                <a:lnTo>
                  <a:pt x="357" y="2221"/>
                </a:lnTo>
                <a:lnTo>
                  <a:pt x="404" y="2310"/>
                </a:lnTo>
                <a:lnTo>
                  <a:pt x="458" y="2405"/>
                </a:lnTo>
                <a:lnTo>
                  <a:pt x="470" y="2464"/>
                </a:lnTo>
                <a:lnTo>
                  <a:pt x="458" y="2541"/>
                </a:lnTo>
                <a:lnTo>
                  <a:pt x="404" y="2630"/>
                </a:lnTo>
                <a:lnTo>
                  <a:pt x="321" y="2743"/>
                </a:lnTo>
                <a:lnTo>
                  <a:pt x="256" y="2820"/>
                </a:lnTo>
                <a:lnTo>
                  <a:pt x="190" y="2874"/>
                </a:lnTo>
                <a:close/>
              </a:path>
            </a:pathLst>
          </a:custGeom>
          <a:pattFill prst="dashUpDiag">
            <a:fgClr>
              <a:schemeClr val="accent1"/>
            </a:fgClr>
            <a:bgClr>
              <a:schemeClr val="bg1"/>
            </a:bgClr>
          </a:pattFill>
          <a:ln w="9525" cap="flat" cmpd="sng">
            <a:solidFill>
              <a:schemeClr val="tx1"/>
            </a:solidFill>
            <a:prstDash val="solid"/>
            <a:round/>
            <a:headEnd type="none" w="med" len="med"/>
            <a:tailEnd type="none" w="med" len="med"/>
          </a:ln>
        </p:spPr>
        <p:txBody>
          <a:bodyPr/>
          <a:lstStyle/>
          <a:p>
            <a:endParaRPr lang="en-US"/>
          </a:p>
        </p:txBody>
      </p:sp>
      <p:sp>
        <p:nvSpPr>
          <p:cNvPr id="91139" name="Freeform 8"/>
          <p:cNvSpPr>
            <a:spLocks/>
          </p:cNvSpPr>
          <p:nvPr/>
        </p:nvSpPr>
        <p:spPr bwMode="auto">
          <a:xfrm>
            <a:off x="719138" y="2554288"/>
            <a:ext cx="2611437" cy="3779837"/>
          </a:xfrm>
          <a:custGeom>
            <a:avLst/>
            <a:gdLst>
              <a:gd name="T0" fmla="*/ 0 w 1645"/>
              <a:gd name="T1" fmla="*/ 3619500 h 2381"/>
              <a:gd name="T2" fmla="*/ 234950 w 1645"/>
              <a:gd name="T3" fmla="*/ 3421062 h 2381"/>
              <a:gd name="T4" fmla="*/ 366712 w 1645"/>
              <a:gd name="T5" fmla="*/ 3214687 h 2381"/>
              <a:gd name="T6" fmla="*/ 433387 w 1645"/>
              <a:gd name="T7" fmla="*/ 3100387 h 2381"/>
              <a:gd name="T8" fmla="*/ 471487 w 1645"/>
              <a:gd name="T9" fmla="*/ 2940049 h 2381"/>
              <a:gd name="T10" fmla="*/ 395287 w 1645"/>
              <a:gd name="T11" fmla="*/ 2789237 h 2381"/>
              <a:gd name="T12" fmla="*/ 292100 w 1645"/>
              <a:gd name="T13" fmla="*/ 2611437 h 2381"/>
              <a:gd name="T14" fmla="*/ 234950 w 1645"/>
              <a:gd name="T15" fmla="*/ 2451099 h 2381"/>
              <a:gd name="T16" fmla="*/ 207962 w 1645"/>
              <a:gd name="T17" fmla="*/ 2309812 h 2381"/>
              <a:gd name="T18" fmla="*/ 225425 w 1645"/>
              <a:gd name="T19" fmla="*/ 2082800 h 2381"/>
              <a:gd name="T20" fmla="*/ 207962 w 1645"/>
              <a:gd name="T21" fmla="*/ 1912937 h 2381"/>
              <a:gd name="T22" fmla="*/ 112712 w 1645"/>
              <a:gd name="T23" fmla="*/ 1611312 h 2381"/>
              <a:gd name="T24" fmla="*/ 28575 w 1645"/>
              <a:gd name="T25" fmla="*/ 1338262 h 2381"/>
              <a:gd name="T26" fmla="*/ 28575 w 1645"/>
              <a:gd name="T27" fmla="*/ 1196975 h 2381"/>
              <a:gd name="T28" fmla="*/ 131762 w 1645"/>
              <a:gd name="T29" fmla="*/ 847725 h 2381"/>
              <a:gd name="T30" fmla="*/ 301625 w 1645"/>
              <a:gd name="T31" fmla="*/ 471487 h 2381"/>
              <a:gd name="T32" fmla="*/ 546100 w 1645"/>
              <a:gd name="T33" fmla="*/ 187325 h 2381"/>
              <a:gd name="T34" fmla="*/ 1017587 w 1645"/>
              <a:gd name="T35" fmla="*/ 0 h 2381"/>
              <a:gd name="T36" fmla="*/ 1414462 w 1645"/>
              <a:gd name="T37" fmla="*/ 65087 h 2381"/>
              <a:gd name="T38" fmla="*/ 1706562 w 1645"/>
              <a:gd name="T39" fmla="*/ 112712 h 2381"/>
              <a:gd name="T40" fmla="*/ 1922462 w 1645"/>
              <a:gd name="T41" fmla="*/ 404812 h 2381"/>
              <a:gd name="T42" fmla="*/ 2073275 w 1645"/>
              <a:gd name="T43" fmla="*/ 809625 h 2381"/>
              <a:gd name="T44" fmla="*/ 2195512 w 1645"/>
              <a:gd name="T45" fmla="*/ 1376362 h 2381"/>
              <a:gd name="T46" fmla="*/ 2149475 w 1645"/>
              <a:gd name="T47" fmla="*/ 1960562 h 2381"/>
              <a:gd name="T48" fmla="*/ 2073275 w 1645"/>
              <a:gd name="T49" fmla="*/ 2195512 h 2381"/>
              <a:gd name="T50" fmla="*/ 2120900 w 1645"/>
              <a:gd name="T51" fmla="*/ 2506662 h 2381"/>
              <a:gd name="T52" fmla="*/ 2224087 w 1645"/>
              <a:gd name="T53" fmla="*/ 2695574 h 2381"/>
              <a:gd name="T54" fmla="*/ 2506662 w 1645"/>
              <a:gd name="T55" fmla="*/ 2865437 h 2381"/>
              <a:gd name="T56" fmla="*/ 2563812 w 1645"/>
              <a:gd name="T57" fmla="*/ 2968624 h 2381"/>
              <a:gd name="T58" fmla="*/ 2563812 w 1645"/>
              <a:gd name="T59" fmla="*/ 3167062 h 2381"/>
              <a:gd name="T60" fmla="*/ 2544762 w 1645"/>
              <a:gd name="T61" fmla="*/ 3497262 h 2381"/>
              <a:gd name="T62" fmla="*/ 2544762 w 1645"/>
              <a:gd name="T63" fmla="*/ 3676650 h 2381"/>
              <a:gd name="T64" fmla="*/ 2611437 w 1645"/>
              <a:gd name="T65" fmla="*/ 3779837 h 2381"/>
              <a:gd name="T66" fmla="*/ 0 w 1645"/>
              <a:gd name="T67" fmla="*/ 3619500 h 238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645"/>
              <a:gd name="T103" fmla="*/ 0 h 2381"/>
              <a:gd name="T104" fmla="*/ 1645 w 1645"/>
              <a:gd name="T105" fmla="*/ 2381 h 238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645" h="2381">
                <a:moveTo>
                  <a:pt x="0" y="2280"/>
                </a:moveTo>
                <a:lnTo>
                  <a:pt x="148" y="2155"/>
                </a:lnTo>
                <a:lnTo>
                  <a:pt x="231" y="2025"/>
                </a:lnTo>
                <a:lnTo>
                  <a:pt x="273" y="1953"/>
                </a:lnTo>
                <a:lnTo>
                  <a:pt x="297" y="1852"/>
                </a:lnTo>
                <a:lnTo>
                  <a:pt x="249" y="1757"/>
                </a:lnTo>
                <a:lnTo>
                  <a:pt x="184" y="1645"/>
                </a:lnTo>
                <a:lnTo>
                  <a:pt x="148" y="1544"/>
                </a:lnTo>
                <a:lnTo>
                  <a:pt x="131" y="1455"/>
                </a:lnTo>
                <a:lnTo>
                  <a:pt x="142" y="1312"/>
                </a:lnTo>
                <a:lnTo>
                  <a:pt x="131" y="1205"/>
                </a:lnTo>
                <a:lnTo>
                  <a:pt x="71" y="1015"/>
                </a:lnTo>
                <a:lnTo>
                  <a:pt x="18" y="843"/>
                </a:lnTo>
                <a:lnTo>
                  <a:pt x="18" y="754"/>
                </a:lnTo>
                <a:lnTo>
                  <a:pt x="83" y="534"/>
                </a:lnTo>
                <a:lnTo>
                  <a:pt x="190" y="297"/>
                </a:lnTo>
                <a:lnTo>
                  <a:pt x="344" y="118"/>
                </a:lnTo>
                <a:lnTo>
                  <a:pt x="641" y="0"/>
                </a:lnTo>
                <a:lnTo>
                  <a:pt x="891" y="41"/>
                </a:lnTo>
                <a:lnTo>
                  <a:pt x="1075" y="71"/>
                </a:lnTo>
                <a:lnTo>
                  <a:pt x="1211" y="255"/>
                </a:lnTo>
                <a:lnTo>
                  <a:pt x="1306" y="510"/>
                </a:lnTo>
                <a:lnTo>
                  <a:pt x="1383" y="867"/>
                </a:lnTo>
                <a:lnTo>
                  <a:pt x="1354" y="1235"/>
                </a:lnTo>
                <a:lnTo>
                  <a:pt x="1306" y="1383"/>
                </a:lnTo>
                <a:lnTo>
                  <a:pt x="1336" y="1579"/>
                </a:lnTo>
                <a:lnTo>
                  <a:pt x="1401" y="1698"/>
                </a:lnTo>
                <a:lnTo>
                  <a:pt x="1579" y="1805"/>
                </a:lnTo>
                <a:lnTo>
                  <a:pt x="1615" y="1870"/>
                </a:lnTo>
                <a:lnTo>
                  <a:pt x="1615" y="1995"/>
                </a:lnTo>
                <a:lnTo>
                  <a:pt x="1603" y="2203"/>
                </a:lnTo>
                <a:lnTo>
                  <a:pt x="1603" y="2316"/>
                </a:lnTo>
                <a:lnTo>
                  <a:pt x="1645" y="2381"/>
                </a:lnTo>
                <a:lnTo>
                  <a:pt x="0" y="2280"/>
                </a:lnTo>
                <a:close/>
              </a:path>
            </a:pathLst>
          </a:custGeom>
          <a:pattFill prst="dotDmnd">
            <a:fgClr>
              <a:schemeClr val="bg1"/>
            </a:fgClr>
            <a:bgClr>
              <a:srgbClr val="9999FF"/>
            </a:bgClr>
          </a:pattFill>
          <a:ln w="9525">
            <a:solidFill>
              <a:schemeClr val="tx1"/>
            </a:solidFill>
            <a:round/>
            <a:headEnd/>
            <a:tailEnd/>
          </a:ln>
        </p:spPr>
        <p:txBody>
          <a:bodyPr/>
          <a:lstStyle/>
          <a:p>
            <a:endParaRPr lang="en-US"/>
          </a:p>
        </p:txBody>
      </p:sp>
      <p:sp>
        <p:nvSpPr>
          <p:cNvPr id="91140" name="Freeform 9" descr="Small confetti"/>
          <p:cNvSpPr>
            <a:spLocks/>
          </p:cNvSpPr>
          <p:nvPr/>
        </p:nvSpPr>
        <p:spPr bwMode="auto">
          <a:xfrm>
            <a:off x="652463" y="1884363"/>
            <a:ext cx="2838450" cy="2611437"/>
          </a:xfrm>
          <a:custGeom>
            <a:avLst/>
            <a:gdLst>
              <a:gd name="T0" fmla="*/ 2225675 w 1788"/>
              <a:gd name="T1" fmla="*/ 2611437 h 1645"/>
              <a:gd name="T2" fmla="*/ 2262188 w 1788"/>
              <a:gd name="T3" fmla="*/ 2036762 h 1645"/>
              <a:gd name="T4" fmla="*/ 2149475 w 1788"/>
              <a:gd name="T5" fmla="*/ 1489075 h 1645"/>
              <a:gd name="T6" fmla="*/ 1989138 w 1788"/>
              <a:gd name="T7" fmla="*/ 1093787 h 1645"/>
              <a:gd name="T8" fmla="*/ 1782763 w 1788"/>
              <a:gd name="T9" fmla="*/ 782637 h 1645"/>
              <a:gd name="T10" fmla="*/ 1093788 w 1788"/>
              <a:gd name="T11" fmla="*/ 669925 h 1645"/>
              <a:gd name="T12" fmla="*/ 593725 w 1788"/>
              <a:gd name="T13" fmla="*/ 857250 h 1645"/>
              <a:gd name="T14" fmla="*/ 358775 w 1788"/>
              <a:gd name="T15" fmla="*/ 1141412 h 1645"/>
              <a:gd name="T16" fmla="*/ 198437 w 1788"/>
              <a:gd name="T17" fmla="*/ 1517650 h 1645"/>
              <a:gd name="T18" fmla="*/ 95250 w 1788"/>
              <a:gd name="T19" fmla="*/ 1828800 h 1645"/>
              <a:gd name="T20" fmla="*/ 95250 w 1788"/>
              <a:gd name="T21" fmla="*/ 1979612 h 1645"/>
              <a:gd name="T22" fmla="*/ 57150 w 1788"/>
              <a:gd name="T23" fmla="*/ 1876425 h 1645"/>
              <a:gd name="T24" fmla="*/ 66675 w 1788"/>
              <a:gd name="T25" fmla="*/ 1498600 h 1645"/>
              <a:gd name="T26" fmla="*/ 66675 w 1788"/>
              <a:gd name="T27" fmla="*/ 1319212 h 1645"/>
              <a:gd name="T28" fmla="*/ 38100 w 1788"/>
              <a:gd name="T29" fmla="*/ 1055687 h 1645"/>
              <a:gd name="T30" fmla="*/ 0 w 1788"/>
              <a:gd name="T31" fmla="*/ 847725 h 1645"/>
              <a:gd name="T32" fmla="*/ 19050 w 1788"/>
              <a:gd name="T33" fmla="*/ 641350 h 1645"/>
              <a:gd name="T34" fmla="*/ 122238 w 1788"/>
              <a:gd name="T35" fmla="*/ 442912 h 1645"/>
              <a:gd name="T36" fmla="*/ 217488 w 1788"/>
              <a:gd name="T37" fmla="*/ 320675 h 1645"/>
              <a:gd name="T38" fmla="*/ 368300 w 1788"/>
              <a:gd name="T39" fmla="*/ 198437 h 1645"/>
              <a:gd name="T40" fmla="*/ 566738 w 1788"/>
              <a:gd name="T41" fmla="*/ 76200 h 1645"/>
              <a:gd name="T42" fmla="*/ 773112 w 1788"/>
              <a:gd name="T43" fmla="*/ 28575 h 1645"/>
              <a:gd name="T44" fmla="*/ 962025 w 1788"/>
              <a:gd name="T45" fmla="*/ 19050 h 1645"/>
              <a:gd name="T46" fmla="*/ 1055688 w 1788"/>
              <a:gd name="T47" fmla="*/ 66675 h 1645"/>
              <a:gd name="T48" fmla="*/ 1254125 w 1788"/>
              <a:gd name="T49" fmla="*/ 198437 h 1645"/>
              <a:gd name="T50" fmla="*/ 1603375 w 1788"/>
              <a:gd name="T51" fmla="*/ 217487 h 1645"/>
              <a:gd name="T52" fmla="*/ 1735138 w 1788"/>
              <a:gd name="T53" fmla="*/ 150812 h 1645"/>
              <a:gd name="T54" fmla="*/ 1933575 w 1788"/>
              <a:gd name="T55" fmla="*/ 0 h 1645"/>
              <a:gd name="T56" fmla="*/ 2254250 w 1788"/>
              <a:gd name="T57" fmla="*/ 9525 h 1645"/>
              <a:gd name="T58" fmla="*/ 2479675 w 1788"/>
              <a:gd name="T59" fmla="*/ 66675 h 1645"/>
              <a:gd name="T60" fmla="*/ 2527300 w 1788"/>
              <a:gd name="T61" fmla="*/ 122237 h 1645"/>
              <a:gd name="T62" fmla="*/ 2517775 w 1788"/>
              <a:gd name="T63" fmla="*/ 509587 h 1645"/>
              <a:gd name="T64" fmla="*/ 2563813 w 1788"/>
              <a:gd name="T65" fmla="*/ 679450 h 1645"/>
              <a:gd name="T66" fmla="*/ 2659063 w 1788"/>
              <a:gd name="T67" fmla="*/ 773112 h 1645"/>
              <a:gd name="T68" fmla="*/ 2781300 w 1788"/>
              <a:gd name="T69" fmla="*/ 1141412 h 1645"/>
              <a:gd name="T70" fmla="*/ 2828925 w 1788"/>
              <a:gd name="T71" fmla="*/ 1357312 h 1645"/>
              <a:gd name="T72" fmla="*/ 2838450 w 1788"/>
              <a:gd name="T73" fmla="*/ 1555750 h 1645"/>
              <a:gd name="T74" fmla="*/ 2714625 w 1788"/>
              <a:gd name="T75" fmla="*/ 1725612 h 1645"/>
              <a:gd name="T76" fmla="*/ 2601913 w 1788"/>
              <a:gd name="T77" fmla="*/ 1885950 h 1645"/>
              <a:gd name="T78" fmla="*/ 2470150 w 1788"/>
              <a:gd name="T79" fmla="*/ 2055812 h 1645"/>
              <a:gd name="T80" fmla="*/ 2347913 w 1788"/>
              <a:gd name="T81" fmla="*/ 2300287 h 1645"/>
              <a:gd name="T82" fmla="*/ 2225675 w 1788"/>
              <a:gd name="T83" fmla="*/ 2611437 h 164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788"/>
              <a:gd name="T127" fmla="*/ 0 h 1645"/>
              <a:gd name="T128" fmla="*/ 1788 w 1788"/>
              <a:gd name="T129" fmla="*/ 1645 h 164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788" h="1645">
                <a:moveTo>
                  <a:pt x="1402" y="1645"/>
                </a:moveTo>
                <a:lnTo>
                  <a:pt x="1425" y="1283"/>
                </a:lnTo>
                <a:lnTo>
                  <a:pt x="1354" y="938"/>
                </a:lnTo>
                <a:lnTo>
                  <a:pt x="1253" y="689"/>
                </a:lnTo>
                <a:lnTo>
                  <a:pt x="1123" y="493"/>
                </a:lnTo>
                <a:lnTo>
                  <a:pt x="689" y="422"/>
                </a:lnTo>
                <a:lnTo>
                  <a:pt x="374" y="540"/>
                </a:lnTo>
                <a:lnTo>
                  <a:pt x="226" y="719"/>
                </a:lnTo>
                <a:lnTo>
                  <a:pt x="125" y="956"/>
                </a:lnTo>
                <a:lnTo>
                  <a:pt x="60" y="1152"/>
                </a:lnTo>
                <a:lnTo>
                  <a:pt x="60" y="1247"/>
                </a:lnTo>
                <a:lnTo>
                  <a:pt x="36" y="1182"/>
                </a:lnTo>
                <a:lnTo>
                  <a:pt x="42" y="944"/>
                </a:lnTo>
                <a:lnTo>
                  <a:pt x="42" y="831"/>
                </a:lnTo>
                <a:lnTo>
                  <a:pt x="24" y="665"/>
                </a:lnTo>
                <a:lnTo>
                  <a:pt x="0" y="534"/>
                </a:lnTo>
                <a:lnTo>
                  <a:pt x="12" y="404"/>
                </a:lnTo>
                <a:lnTo>
                  <a:pt x="77" y="279"/>
                </a:lnTo>
                <a:lnTo>
                  <a:pt x="137" y="202"/>
                </a:lnTo>
                <a:lnTo>
                  <a:pt x="232" y="125"/>
                </a:lnTo>
                <a:lnTo>
                  <a:pt x="357" y="48"/>
                </a:lnTo>
                <a:lnTo>
                  <a:pt x="487" y="18"/>
                </a:lnTo>
                <a:lnTo>
                  <a:pt x="606" y="12"/>
                </a:lnTo>
                <a:lnTo>
                  <a:pt x="665" y="42"/>
                </a:lnTo>
                <a:lnTo>
                  <a:pt x="790" y="125"/>
                </a:lnTo>
                <a:lnTo>
                  <a:pt x="1010" y="137"/>
                </a:lnTo>
                <a:lnTo>
                  <a:pt x="1093" y="95"/>
                </a:lnTo>
                <a:lnTo>
                  <a:pt x="1218" y="0"/>
                </a:lnTo>
                <a:lnTo>
                  <a:pt x="1420" y="6"/>
                </a:lnTo>
                <a:lnTo>
                  <a:pt x="1562" y="42"/>
                </a:lnTo>
                <a:lnTo>
                  <a:pt x="1592" y="77"/>
                </a:lnTo>
                <a:lnTo>
                  <a:pt x="1586" y="321"/>
                </a:lnTo>
                <a:lnTo>
                  <a:pt x="1615" y="428"/>
                </a:lnTo>
                <a:lnTo>
                  <a:pt x="1675" y="487"/>
                </a:lnTo>
                <a:lnTo>
                  <a:pt x="1752" y="719"/>
                </a:lnTo>
                <a:lnTo>
                  <a:pt x="1782" y="855"/>
                </a:lnTo>
                <a:lnTo>
                  <a:pt x="1788" y="980"/>
                </a:lnTo>
                <a:lnTo>
                  <a:pt x="1710" y="1087"/>
                </a:lnTo>
                <a:lnTo>
                  <a:pt x="1639" y="1188"/>
                </a:lnTo>
                <a:lnTo>
                  <a:pt x="1556" y="1295"/>
                </a:lnTo>
                <a:lnTo>
                  <a:pt x="1479" y="1449"/>
                </a:lnTo>
                <a:lnTo>
                  <a:pt x="1402" y="1645"/>
                </a:lnTo>
                <a:close/>
              </a:path>
            </a:pathLst>
          </a:custGeom>
          <a:pattFill prst="smConfetti">
            <a:fgClr>
              <a:srgbClr val="CC9900"/>
            </a:fgClr>
            <a:bgClr>
              <a:schemeClr val="bg1"/>
            </a:bgClr>
          </a:pattFill>
          <a:ln w="9525">
            <a:solidFill>
              <a:schemeClr val="tx1"/>
            </a:solidFill>
            <a:round/>
            <a:headEnd/>
            <a:tailEnd/>
          </a:ln>
        </p:spPr>
        <p:txBody>
          <a:bodyPr/>
          <a:lstStyle/>
          <a:p>
            <a:endParaRPr lang="en-US"/>
          </a:p>
        </p:txBody>
      </p:sp>
      <p:sp>
        <p:nvSpPr>
          <p:cNvPr id="91141" name="Text Box 10"/>
          <p:cNvSpPr txBox="1">
            <a:spLocks noChangeArrowheads="1"/>
          </p:cNvSpPr>
          <p:nvPr/>
        </p:nvSpPr>
        <p:spPr bwMode="auto">
          <a:xfrm>
            <a:off x="312738" y="4165600"/>
            <a:ext cx="330200" cy="366713"/>
          </a:xfrm>
          <a:prstGeom prst="rect">
            <a:avLst/>
          </a:prstGeom>
          <a:noFill/>
          <a:ln w="9525">
            <a:noFill/>
            <a:miter lim="800000"/>
            <a:headEnd/>
            <a:tailEnd/>
          </a:ln>
        </p:spPr>
        <p:txBody>
          <a:bodyPr>
            <a:spAutoFit/>
          </a:bodyPr>
          <a:lstStyle/>
          <a:p>
            <a:pPr>
              <a:spcBef>
                <a:spcPct val="50000"/>
              </a:spcBef>
            </a:pPr>
            <a:r>
              <a:rPr lang="en-AU" i="0">
                <a:solidFill>
                  <a:schemeClr val="tx1"/>
                </a:solidFill>
              </a:rPr>
              <a:t>A</a:t>
            </a:r>
            <a:endParaRPr lang="en-US" i="0">
              <a:solidFill>
                <a:schemeClr val="tx1"/>
              </a:solidFill>
            </a:endParaRPr>
          </a:p>
        </p:txBody>
      </p:sp>
      <p:sp>
        <p:nvSpPr>
          <p:cNvPr id="91142" name="Text Box 11"/>
          <p:cNvSpPr txBox="1">
            <a:spLocks noChangeArrowheads="1"/>
          </p:cNvSpPr>
          <p:nvPr/>
        </p:nvSpPr>
        <p:spPr bwMode="auto">
          <a:xfrm>
            <a:off x="3592513" y="2909888"/>
            <a:ext cx="330200" cy="366712"/>
          </a:xfrm>
          <a:prstGeom prst="rect">
            <a:avLst/>
          </a:prstGeom>
          <a:noFill/>
          <a:ln w="9525">
            <a:noFill/>
            <a:miter lim="800000"/>
            <a:headEnd/>
            <a:tailEnd/>
          </a:ln>
        </p:spPr>
        <p:txBody>
          <a:bodyPr>
            <a:spAutoFit/>
          </a:bodyPr>
          <a:lstStyle/>
          <a:p>
            <a:pPr>
              <a:spcBef>
                <a:spcPct val="50000"/>
              </a:spcBef>
            </a:pPr>
            <a:r>
              <a:rPr lang="en-AU" i="0">
                <a:solidFill>
                  <a:schemeClr val="tx1"/>
                </a:solidFill>
              </a:rPr>
              <a:t>B</a:t>
            </a:r>
            <a:endParaRPr lang="en-US" i="0">
              <a:solidFill>
                <a:schemeClr val="tx1"/>
              </a:solidFill>
            </a:endParaRPr>
          </a:p>
        </p:txBody>
      </p:sp>
      <p:grpSp>
        <p:nvGrpSpPr>
          <p:cNvPr id="91143" name="Group 1"/>
          <p:cNvGrpSpPr>
            <a:grpSpLocks/>
          </p:cNvGrpSpPr>
          <p:nvPr/>
        </p:nvGrpSpPr>
        <p:grpSpPr bwMode="auto">
          <a:xfrm>
            <a:off x="3703638" y="1479550"/>
            <a:ext cx="3995737" cy="2330450"/>
            <a:chOff x="3703638" y="1479550"/>
            <a:chExt cx="3995737" cy="2330451"/>
          </a:xfrm>
        </p:grpSpPr>
        <p:sp>
          <p:nvSpPr>
            <p:cNvPr id="91329" name="Freeform 13" descr="Dashed upward diagonal"/>
            <p:cNvSpPr>
              <a:spLocks/>
            </p:cNvSpPr>
            <p:nvPr/>
          </p:nvSpPr>
          <p:spPr bwMode="auto">
            <a:xfrm>
              <a:off x="3865563" y="1868488"/>
              <a:ext cx="3743325" cy="1941513"/>
            </a:xfrm>
            <a:custGeom>
              <a:avLst/>
              <a:gdLst>
                <a:gd name="T0" fmla="*/ 0 w 2358"/>
                <a:gd name="T1" fmla="*/ 169863 h 1223"/>
                <a:gd name="T2" fmla="*/ 217488 w 2358"/>
                <a:gd name="T3" fmla="*/ 169863 h 1223"/>
                <a:gd name="T4" fmla="*/ 387350 w 2358"/>
                <a:gd name="T5" fmla="*/ 263525 h 1223"/>
                <a:gd name="T6" fmla="*/ 566737 w 2358"/>
                <a:gd name="T7" fmla="*/ 566738 h 1223"/>
                <a:gd name="T8" fmla="*/ 708025 w 2358"/>
                <a:gd name="T9" fmla="*/ 1009650 h 1223"/>
                <a:gd name="T10" fmla="*/ 858838 w 2358"/>
                <a:gd name="T11" fmla="*/ 1254125 h 1223"/>
                <a:gd name="T12" fmla="*/ 1141412 w 2358"/>
                <a:gd name="T13" fmla="*/ 1366838 h 1223"/>
                <a:gd name="T14" fmla="*/ 1706563 w 2358"/>
                <a:gd name="T15" fmla="*/ 1481138 h 1223"/>
                <a:gd name="T16" fmla="*/ 2065337 w 2358"/>
                <a:gd name="T17" fmla="*/ 1471613 h 1223"/>
                <a:gd name="T18" fmla="*/ 2536825 w 2358"/>
                <a:gd name="T19" fmla="*/ 1404938 h 1223"/>
                <a:gd name="T20" fmla="*/ 2913062 w 2358"/>
                <a:gd name="T21" fmla="*/ 1112838 h 1223"/>
                <a:gd name="T22" fmla="*/ 3149599 w 2358"/>
                <a:gd name="T23" fmla="*/ 698500 h 1223"/>
                <a:gd name="T24" fmla="*/ 3233737 w 2358"/>
                <a:gd name="T25" fmla="*/ 368300 h 1223"/>
                <a:gd name="T26" fmla="*/ 3346450 w 2358"/>
                <a:gd name="T27" fmla="*/ 57150 h 1223"/>
                <a:gd name="T28" fmla="*/ 3487738 w 2358"/>
                <a:gd name="T29" fmla="*/ 0 h 1223"/>
                <a:gd name="T30" fmla="*/ 3743325 w 2358"/>
                <a:gd name="T31" fmla="*/ 9525 h 1223"/>
                <a:gd name="T32" fmla="*/ 3743325 w 2358"/>
                <a:gd name="T33" fmla="*/ 1941513 h 1223"/>
                <a:gd name="T34" fmla="*/ 9525 w 2358"/>
                <a:gd name="T35" fmla="*/ 1941513 h 1223"/>
                <a:gd name="T36" fmla="*/ 9525 w 2358"/>
                <a:gd name="T37" fmla="*/ 169863 h 122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58"/>
                <a:gd name="T58" fmla="*/ 0 h 1223"/>
                <a:gd name="T59" fmla="*/ 2358 w 2358"/>
                <a:gd name="T60" fmla="*/ 1223 h 122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58" h="1223">
                  <a:moveTo>
                    <a:pt x="0" y="107"/>
                  </a:moveTo>
                  <a:lnTo>
                    <a:pt x="137" y="107"/>
                  </a:lnTo>
                  <a:lnTo>
                    <a:pt x="244" y="166"/>
                  </a:lnTo>
                  <a:lnTo>
                    <a:pt x="357" y="357"/>
                  </a:lnTo>
                  <a:lnTo>
                    <a:pt x="446" y="636"/>
                  </a:lnTo>
                  <a:lnTo>
                    <a:pt x="541" y="790"/>
                  </a:lnTo>
                  <a:lnTo>
                    <a:pt x="719" y="861"/>
                  </a:lnTo>
                  <a:lnTo>
                    <a:pt x="1075" y="933"/>
                  </a:lnTo>
                  <a:lnTo>
                    <a:pt x="1301" y="927"/>
                  </a:lnTo>
                  <a:lnTo>
                    <a:pt x="1598" y="885"/>
                  </a:lnTo>
                  <a:lnTo>
                    <a:pt x="1835" y="701"/>
                  </a:lnTo>
                  <a:lnTo>
                    <a:pt x="1984" y="440"/>
                  </a:lnTo>
                  <a:lnTo>
                    <a:pt x="2037" y="232"/>
                  </a:lnTo>
                  <a:lnTo>
                    <a:pt x="2108" y="36"/>
                  </a:lnTo>
                  <a:lnTo>
                    <a:pt x="2197" y="0"/>
                  </a:lnTo>
                  <a:lnTo>
                    <a:pt x="2358" y="6"/>
                  </a:lnTo>
                  <a:lnTo>
                    <a:pt x="2358" y="1223"/>
                  </a:lnTo>
                  <a:lnTo>
                    <a:pt x="6" y="1223"/>
                  </a:lnTo>
                  <a:lnTo>
                    <a:pt x="6" y="107"/>
                  </a:lnTo>
                </a:path>
              </a:pathLst>
            </a:custGeom>
            <a:pattFill prst="dashUpDiag">
              <a:fgClr>
                <a:schemeClr val="accent1"/>
              </a:fgClr>
              <a:bgClr>
                <a:schemeClr val="bg1"/>
              </a:bgClr>
            </a:pattFill>
            <a:ln w="9525">
              <a:solidFill>
                <a:schemeClr val="tx1"/>
              </a:solidFill>
              <a:round/>
              <a:headEnd/>
              <a:tailEnd/>
            </a:ln>
          </p:spPr>
          <p:txBody>
            <a:bodyPr/>
            <a:lstStyle/>
            <a:p>
              <a:endParaRPr lang="en-US"/>
            </a:p>
          </p:txBody>
        </p:sp>
        <p:sp>
          <p:nvSpPr>
            <p:cNvPr id="91330" name="Freeform 14" descr="Small confetti"/>
            <p:cNvSpPr>
              <a:spLocks/>
            </p:cNvSpPr>
            <p:nvPr/>
          </p:nvSpPr>
          <p:spPr bwMode="auto">
            <a:xfrm>
              <a:off x="4525963" y="2359025"/>
              <a:ext cx="2535237" cy="990600"/>
            </a:xfrm>
            <a:custGeom>
              <a:avLst/>
              <a:gdLst>
                <a:gd name="T0" fmla="*/ 28575 w 1597"/>
                <a:gd name="T1" fmla="*/ 452438 h 624"/>
                <a:gd name="T2" fmla="*/ 84137 w 1597"/>
                <a:gd name="T3" fmla="*/ 584200 h 624"/>
                <a:gd name="T4" fmla="*/ 207962 w 1597"/>
                <a:gd name="T5" fmla="*/ 773112 h 624"/>
                <a:gd name="T6" fmla="*/ 509587 w 1597"/>
                <a:gd name="T7" fmla="*/ 885825 h 624"/>
                <a:gd name="T8" fmla="*/ 1055687 w 1597"/>
                <a:gd name="T9" fmla="*/ 981075 h 624"/>
                <a:gd name="T10" fmla="*/ 1450975 w 1597"/>
                <a:gd name="T11" fmla="*/ 990600 h 624"/>
                <a:gd name="T12" fmla="*/ 1876425 w 1597"/>
                <a:gd name="T13" fmla="*/ 914400 h 624"/>
                <a:gd name="T14" fmla="*/ 2262187 w 1597"/>
                <a:gd name="T15" fmla="*/ 603250 h 624"/>
                <a:gd name="T16" fmla="*/ 2489200 w 1597"/>
                <a:gd name="T17" fmla="*/ 188912 h 624"/>
                <a:gd name="T18" fmla="*/ 2535237 w 1597"/>
                <a:gd name="T19" fmla="*/ 0 h 624"/>
                <a:gd name="T20" fmla="*/ 2319337 w 1597"/>
                <a:gd name="T21" fmla="*/ 19050 h 624"/>
                <a:gd name="T22" fmla="*/ 2092325 w 1597"/>
                <a:gd name="T23" fmla="*/ 84137 h 624"/>
                <a:gd name="T24" fmla="*/ 1912937 w 1597"/>
                <a:gd name="T25" fmla="*/ 244475 h 624"/>
                <a:gd name="T26" fmla="*/ 1735137 w 1597"/>
                <a:gd name="T27" fmla="*/ 395287 h 624"/>
                <a:gd name="T28" fmla="*/ 1460500 w 1597"/>
                <a:gd name="T29" fmla="*/ 490538 h 624"/>
                <a:gd name="T30" fmla="*/ 1046162 w 1597"/>
                <a:gd name="T31" fmla="*/ 574675 h 624"/>
                <a:gd name="T32" fmla="*/ 650875 w 1597"/>
                <a:gd name="T33" fmla="*/ 519112 h 624"/>
                <a:gd name="T34" fmla="*/ 311150 w 1597"/>
                <a:gd name="T35" fmla="*/ 414338 h 624"/>
                <a:gd name="T36" fmla="*/ 0 w 1597"/>
                <a:gd name="T37" fmla="*/ 395287 h 624"/>
                <a:gd name="T38" fmla="*/ 38100 w 1597"/>
                <a:gd name="T39" fmla="*/ 500062 h 624"/>
                <a:gd name="T40" fmla="*/ 198437 w 1597"/>
                <a:gd name="T41" fmla="*/ 754062 h 62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97"/>
                <a:gd name="T64" fmla="*/ 0 h 624"/>
                <a:gd name="T65" fmla="*/ 1597 w 1597"/>
                <a:gd name="T66" fmla="*/ 624 h 62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97" h="624">
                  <a:moveTo>
                    <a:pt x="18" y="285"/>
                  </a:moveTo>
                  <a:lnTo>
                    <a:pt x="53" y="368"/>
                  </a:lnTo>
                  <a:lnTo>
                    <a:pt x="131" y="487"/>
                  </a:lnTo>
                  <a:lnTo>
                    <a:pt x="321" y="558"/>
                  </a:lnTo>
                  <a:lnTo>
                    <a:pt x="665" y="618"/>
                  </a:lnTo>
                  <a:lnTo>
                    <a:pt x="914" y="624"/>
                  </a:lnTo>
                  <a:lnTo>
                    <a:pt x="1182" y="576"/>
                  </a:lnTo>
                  <a:lnTo>
                    <a:pt x="1425" y="380"/>
                  </a:lnTo>
                  <a:lnTo>
                    <a:pt x="1568" y="119"/>
                  </a:lnTo>
                  <a:lnTo>
                    <a:pt x="1597" y="0"/>
                  </a:lnTo>
                  <a:lnTo>
                    <a:pt x="1461" y="12"/>
                  </a:lnTo>
                  <a:lnTo>
                    <a:pt x="1318" y="53"/>
                  </a:lnTo>
                  <a:lnTo>
                    <a:pt x="1205" y="154"/>
                  </a:lnTo>
                  <a:lnTo>
                    <a:pt x="1093" y="249"/>
                  </a:lnTo>
                  <a:lnTo>
                    <a:pt x="920" y="309"/>
                  </a:lnTo>
                  <a:lnTo>
                    <a:pt x="659" y="362"/>
                  </a:lnTo>
                  <a:lnTo>
                    <a:pt x="410" y="327"/>
                  </a:lnTo>
                  <a:lnTo>
                    <a:pt x="196" y="261"/>
                  </a:lnTo>
                  <a:lnTo>
                    <a:pt x="0" y="249"/>
                  </a:lnTo>
                  <a:lnTo>
                    <a:pt x="24" y="315"/>
                  </a:lnTo>
                  <a:lnTo>
                    <a:pt x="125" y="475"/>
                  </a:lnTo>
                </a:path>
              </a:pathLst>
            </a:custGeom>
            <a:pattFill prst="smConfetti">
              <a:fgClr>
                <a:srgbClr val="CC9900"/>
              </a:fgClr>
              <a:bgClr>
                <a:schemeClr val="bg1"/>
              </a:bgClr>
            </a:pattFill>
            <a:ln w="9525" cap="flat" cmpd="sng">
              <a:solidFill>
                <a:schemeClr val="tx1"/>
              </a:solidFill>
              <a:prstDash val="solid"/>
              <a:round/>
              <a:headEnd type="none" w="med" len="med"/>
              <a:tailEnd type="none" w="med" len="med"/>
            </a:ln>
          </p:spPr>
          <p:txBody>
            <a:bodyPr/>
            <a:lstStyle/>
            <a:p>
              <a:endParaRPr lang="en-US"/>
            </a:p>
          </p:txBody>
        </p:sp>
        <p:sp>
          <p:nvSpPr>
            <p:cNvPr id="91331" name="Freeform 15"/>
            <p:cNvSpPr>
              <a:spLocks/>
            </p:cNvSpPr>
            <p:nvPr/>
          </p:nvSpPr>
          <p:spPr bwMode="auto">
            <a:xfrm>
              <a:off x="4449763" y="2452688"/>
              <a:ext cx="2149475" cy="481013"/>
            </a:xfrm>
            <a:custGeom>
              <a:avLst/>
              <a:gdLst>
                <a:gd name="T0" fmla="*/ 0 w 1354"/>
                <a:gd name="T1" fmla="*/ 47625 h 303"/>
                <a:gd name="T2" fmla="*/ 85725 w 1354"/>
                <a:gd name="T3" fmla="*/ 301625 h 303"/>
                <a:gd name="T4" fmla="*/ 396875 w 1354"/>
                <a:gd name="T5" fmla="*/ 311150 h 303"/>
                <a:gd name="T6" fmla="*/ 736600 w 1354"/>
                <a:gd name="T7" fmla="*/ 434975 h 303"/>
                <a:gd name="T8" fmla="*/ 1141412 w 1354"/>
                <a:gd name="T9" fmla="*/ 481013 h 303"/>
                <a:gd name="T10" fmla="*/ 1555750 w 1354"/>
                <a:gd name="T11" fmla="*/ 396875 h 303"/>
                <a:gd name="T12" fmla="*/ 1811338 w 1354"/>
                <a:gd name="T13" fmla="*/ 301625 h 303"/>
                <a:gd name="T14" fmla="*/ 2149475 w 1354"/>
                <a:gd name="T15" fmla="*/ 0 h 303"/>
                <a:gd name="T16" fmla="*/ 1895475 w 1354"/>
                <a:gd name="T17" fmla="*/ 9525 h 303"/>
                <a:gd name="T18" fmla="*/ 1838325 w 1354"/>
                <a:gd name="T19" fmla="*/ 47625 h 303"/>
                <a:gd name="T20" fmla="*/ 1782763 w 1354"/>
                <a:gd name="T21" fmla="*/ 123825 h 303"/>
                <a:gd name="T22" fmla="*/ 1706563 w 1354"/>
                <a:gd name="T23" fmla="*/ 47625 h 303"/>
                <a:gd name="T24" fmla="*/ 1517650 w 1354"/>
                <a:gd name="T25" fmla="*/ 76200 h 303"/>
                <a:gd name="T26" fmla="*/ 1169987 w 1354"/>
                <a:gd name="T27" fmla="*/ 123825 h 303"/>
                <a:gd name="T28" fmla="*/ 1084262 w 1354"/>
                <a:gd name="T29" fmla="*/ 207963 h 303"/>
                <a:gd name="T30" fmla="*/ 1019175 w 1354"/>
                <a:gd name="T31" fmla="*/ 133350 h 303"/>
                <a:gd name="T32" fmla="*/ 858838 w 1354"/>
                <a:gd name="T33" fmla="*/ 133350 h 303"/>
                <a:gd name="T34" fmla="*/ 717550 w 1354"/>
                <a:gd name="T35" fmla="*/ 66675 h 303"/>
                <a:gd name="T36" fmla="*/ 339725 w 1354"/>
                <a:gd name="T37" fmla="*/ 85725 h 303"/>
                <a:gd name="T38" fmla="*/ 0 w 1354"/>
                <a:gd name="T39" fmla="*/ 47625 h 30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54"/>
                <a:gd name="T61" fmla="*/ 0 h 303"/>
                <a:gd name="T62" fmla="*/ 1354 w 1354"/>
                <a:gd name="T63" fmla="*/ 303 h 30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54" h="303">
                  <a:moveTo>
                    <a:pt x="0" y="30"/>
                  </a:moveTo>
                  <a:lnTo>
                    <a:pt x="54" y="190"/>
                  </a:lnTo>
                  <a:lnTo>
                    <a:pt x="250" y="196"/>
                  </a:lnTo>
                  <a:lnTo>
                    <a:pt x="464" y="274"/>
                  </a:lnTo>
                  <a:lnTo>
                    <a:pt x="719" y="303"/>
                  </a:lnTo>
                  <a:lnTo>
                    <a:pt x="980" y="250"/>
                  </a:lnTo>
                  <a:lnTo>
                    <a:pt x="1141" y="190"/>
                  </a:lnTo>
                  <a:lnTo>
                    <a:pt x="1354" y="0"/>
                  </a:lnTo>
                  <a:lnTo>
                    <a:pt x="1194" y="6"/>
                  </a:lnTo>
                  <a:lnTo>
                    <a:pt x="1158" y="30"/>
                  </a:lnTo>
                  <a:lnTo>
                    <a:pt x="1123" y="78"/>
                  </a:lnTo>
                  <a:lnTo>
                    <a:pt x="1075" y="30"/>
                  </a:lnTo>
                  <a:lnTo>
                    <a:pt x="956" y="48"/>
                  </a:lnTo>
                  <a:lnTo>
                    <a:pt x="737" y="78"/>
                  </a:lnTo>
                  <a:lnTo>
                    <a:pt x="683" y="131"/>
                  </a:lnTo>
                  <a:lnTo>
                    <a:pt x="642" y="84"/>
                  </a:lnTo>
                  <a:lnTo>
                    <a:pt x="541" y="84"/>
                  </a:lnTo>
                  <a:lnTo>
                    <a:pt x="452" y="42"/>
                  </a:lnTo>
                  <a:lnTo>
                    <a:pt x="214" y="54"/>
                  </a:lnTo>
                  <a:lnTo>
                    <a:pt x="0" y="30"/>
                  </a:lnTo>
                  <a:close/>
                </a:path>
              </a:pathLst>
            </a:custGeom>
            <a:pattFill prst="dotDmnd">
              <a:fgClr>
                <a:schemeClr val="bg1"/>
              </a:fgClr>
              <a:bgClr>
                <a:srgbClr val="9999FF"/>
              </a:bgClr>
            </a:pattFill>
            <a:ln w="9525">
              <a:solidFill>
                <a:schemeClr val="tx1"/>
              </a:solidFill>
              <a:round/>
              <a:headEnd/>
              <a:tailEnd/>
            </a:ln>
          </p:spPr>
          <p:txBody>
            <a:bodyPr/>
            <a:lstStyle/>
            <a:p>
              <a:endParaRPr lang="en-US"/>
            </a:p>
          </p:txBody>
        </p:sp>
        <p:sp>
          <p:nvSpPr>
            <p:cNvPr id="91332" name="Text Box 16"/>
            <p:cNvSpPr txBox="1">
              <a:spLocks noChangeArrowheads="1"/>
            </p:cNvSpPr>
            <p:nvPr/>
          </p:nvSpPr>
          <p:spPr bwMode="auto">
            <a:xfrm>
              <a:off x="7369175" y="1479550"/>
              <a:ext cx="330200" cy="366713"/>
            </a:xfrm>
            <a:prstGeom prst="rect">
              <a:avLst/>
            </a:prstGeom>
            <a:noFill/>
            <a:ln w="9525">
              <a:noFill/>
              <a:miter lim="800000"/>
              <a:headEnd/>
              <a:tailEnd/>
            </a:ln>
          </p:spPr>
          <p:txBody>
            <a:bodyPr>
              <a:spAutoFit/>
            </a:bodyPr>
            <a:lstStyle/>
            <a:p>
              <a:pPr>
                <a:spcBef>
                  <a:spcPct val="50000"/>
                </a:spcBef>
              </a:pPr>
              <a:r>
                <a:rPr lang="en-AU" i="0">
                  <a:solidFill>
                    <a:schemeClr val="tx1"/>
                  </a:solidFill>
                </a:rPr>
                <a:t>B</a:t>
              </a:r>
              <a:endParaRPr lang="en-US" i="0">
                <a:solidFill>
                  <a:schemeClr val="tx1"/>
                </a:solidFill>
              </a:endParaRPr>
            </a:p>
          </p:txBody>
        </p:sp>
        <p:sp>
          <p:nvSpPr>
            <p:cNvPr id="91333" name="Text Box 17"/>
            <p:cNvSpPr txBox="1">
              <a:spLocks noChangeArrowheads="1"/>
            </p:cNvSpPr>
            <p:nvPr/>
          </p:nvSpPr>
          <p:spPr bwMode="auto">
            <a:xfrm>
              <a:off x="3703638" y="1641475"/>
              <a:ext cx="330200" cy="366713"/>
            </a:xfrm>
            <a:prstGeom prst="rect">
              <a:avLst/>
            </a:prstGeom>
            <a:noFill/>
            <a:ln w="9525">
              <a:noFill/>
              <a:miter lim="800000"/>
              <a:headEnd/>
              <a:tailEnd/>
            </a:ln>
          </p:spPr>
          <p:txBody>
            <a:bodyPr>
              <a:spAutoFit/>
            </a:bodyPr>
            <a:lstStyle/>
            <a:p>
              <a:pPr>
                <a:spcBef>
                  <a:spcPct val="50000"/>
                </a:spcBef>
              </a:pPr>
              <a:r>
                <a:rPr lang="en-AU" i="0">
                  <a:solidFill>
                    <a:schemeClr val="tx1"/>
                  </a:solidFill>
                </a:rPr>
                <a:t>A</a:t>
              </a:r>
              <a:endParaRPr lang="en-US" i="0">
                <a:solidFill>
                  <a:schemeClr val="tx1"/>
                </a:solidFill>
              </a:endParaRPr>
            </a:p>
          </p:txBody>
        </p:sp>
      </p:grpSp>
      <p:grpSp>
        <p:nvGrpSpPr>
          <p:cNvPr id="91144" name="Group 18"/>
          <p:cNvGrpSpPr>
            <a:grpSpLocks/>
          </p:cNvGrpSpPr>
          <p:nvPr/>
        </p:nvGrpSpPr>
        <p:grpSpPr bwMode="auto">
          <a:xfrm>
            <a:off x="738188" y="1912938"/>
            <a:ext cx="6372225" cy="1254125"/>
            <a:chOff x="1081" y="1069"/>
            <a:chExt cx="4014" cy="790"/>
          </a:xfrm>
        </p:grpSpPr>
        <p:sp>
          <p:nvSpPr>
            <p:cNvPr id="91325" name="AutoShape 19"/>
            <p:cNvSpPr>
              <a:spLocks noChangeArrowheads="1"/>
            </p:cNvSpPr>
            <p:nvPr/>
          </p:nvSpPr>
          <p:spPr bwMode="auto">
            <a:xfrm>
              <a:off x="4941" y="1532"/>
              <a:ext cx="154" cy="327"/>
            </a:xfrm>
            <a:prstGeom prst="downArrow">
              <a:avLst>
                <a:gd name="adj1" fmla="val 50000"/>
                <a:gd name="adj2" fmla="val 53084"/>
              </a:avLst>
            </a:prstGeom>
            <a:solidFill>
              <a:srgbClr val="9999FF"/>
            </a:solidFill>
            <a:ln w="9525">
              <a:solidFill>
                <a:schemeClr val="accent2"/>
              </a:solid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sp>
          <p:nvSpPr>
            <p:cNvPr id="91326" name="AutoShape 20"/>
            <p:cNvSpPr>
              <a:spLocks noChangeArrowheads="1"/>
            </p:cNvSpPr>
            <p:nvPr/>
          </p:nvSpPr>
          <p:spPr bwMode="auto">
            <a:xfrm>
              <a:off x="1841" y="1069"/>
              <a:ext cx="154" cy="327"/>
            </a:xfrm>
            <a:prstGeom prst="downArrow">
              <a:avLst>
                <a:gd name="adj1" fmla="val 50000"/>
                <a:gd name="adj2" fmla="val 53084"/>
              </a:avLst>
            </a:prstGeom>
            <a:solidFill>
              <a:srgbClr val="9999FF"/>
            </a:solidFill>
            <a:ln w="9525">
              <a:solidFill>
                <a:schemeClr val="accent2"/>
              </a:solid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sp>
          <p:nvSpPr>
            <p:cNvPr id="91327" name="AutoShape 21"/>
            <p:cNvSpPr>
              <a:spLocks noChangeArrowheads="1"/>
            </p:cNvSpPr>
            <p:nvPr/>
          </p:nvSpPr>
          <p:spPr bwMode="auto">
            <a:xfrm>
              <a:off x="2524" y="1407"/>
              <a:ext cx="154" cy="327"/>
            </a:xfrm>
            <a:prstGeom prst="downArrow">
              <a:avLst>
                <a:gd name="adj1" fmla="val 50000"/>
                <a:gd name="adj2" fmla="val 53084"/>
              </a:avLst>
            </a:prstGeom>
            <a:solidFill>
              <a:srgbClr val="9999FF"/>
            </a:solidFill>
            <a:ln w="9525">
              <a:solidFill>
                <a:schemeClr val="accent2"/>
              </a:solid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sp>
          <p:nvSpPr>
            <p:cNvPr id="91328" name="AutoShape 22"/>
            <p:cNvSpPr>
              <a:spLocks noChangeArrowheads="1"/>
            </p:cNvSpPr>
            <p:nvPr/>
          </p:nvSpPr>
          <p:spPr bwMode="auto">
            <a:xfrm>
              <a:off x="1081" y="1228"/>
              <a:ext cx="154" cy="327"/>
            </a:xfrm>
            <a:prstGeom prst="downArrow">
              <a:avLst>
                <a:gd name="adj1" fmla="val 50000"/>
                <a:gd name="adj2" fmla="val 53084"/>
              </a:avLst>
            </a:prstGeom>
            <a:solidFill>
              <a:srgbClr val="9999FF"/>
            </a:solidFill>
            <a:ln w="9525">
              <a:solidFill>
                <a:schemeClr val="accent2"/>
              </a:solid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grpSp>
      <p:sp>
        <p:nvSpPr>
          <p:cNvPr id="91145" name="Oval 24"/>
          <p:cNvSpPr>
            <a:spLocks noChangeArrowheads="1"/>
          </p:cNvSpPr>
          <p:nvPr/>
        </p:nvSpPr>
        <p:spPr bwMode="auto">
          <a:xfrm>
            <a:off x="5456238" y="2905125"/>
            <a:ext cx="471487" cy="301625"/>
          </a:xfrm>
          <a:prstGeom prst="ellipse">
            <a:avLst/>
          </a:prstGeom>
          <a:noFill/>
          <a:ln w="19050">
            <a:solidFill>
              <a:srgbClr val="9999FF"/>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91146" name="Oval 25"/>
          <p:cNvSpPr>
            <a:spLocks noChangeArrowheads="1"/>
          </p:cNvSpPr>
          <p:nvPr/>
        </p:nvSpPr>
        <p:spPr bwMode="auto">
          <a:xfrm>
            <a:off x="4860925" y="2506663"/>
            <a:ext cx="471488" cy="301625"/>
          </a:xfrm>
          <a:prstGeom prst="ellipse">
            <a:avLst/>
          </a:prstGeom>
          <a:noFill/>
          <a:ln w="19050">
            <a:solidFill>
              <a:srgbClr val="9999FF"/>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91147" name="Text Box 26"/>
          <p:cNvSpPr txBox="1">
            <a:spLocks noChangeArrowheads="1"/>
          </p:cNvSpPr>
          <p:nvPr/>
        </p:nvSpPr>
        <p:spPr bwMode="auto">
          <a:xfrm>
            <a:off x="4449763" y="1644650"/>
            <a:ext cx="1311275" cy="641350"/>
          </a:xfrm>
          <a:prstGeom prst="rect">
            <a:avLst/>
          </a:prstGeom>
          <a:noFill/>
          <a:ln w="9525">
            <a:noFill/>
            <a:miter lim="800000"/>
            <a:headEnd/>
            <a:tailEnd/>
          </a:ln>
        </p:spPr>
        <p:txBody>
          <a:bodyPr>
            <a:spAutoFit/>
          </a:bodyPr>
          <a:lstStyle/>
          <a:p>
            <a:pPr>
              <a:spcBef>
                <a:spcPct val="50000"/>
              </a:spcBef>
            </a:pPr>
            <a:r>
              <a:rPr lang="en-AU" i="0">
                <a:solidFill>
                  <a:schemeClr val="tx1"/>
                </a:solidFill>
              </a:rPr>
              <a:t>Hydraulic Properties</a:t>
            </a:r>
            <a:endParaRPr lang="en-US" i="0">
              <a:solidFill>
                <a:schemeClr val="tx1"/>
              </a:solidFill>
            </a:endParaRPr>
          </a:p>
        </p:txBody>
      </p:sp>
      <p:sp>
        <p:nvSpPr>
          <p:cNvPr id="91148" name="Line 27"/>
          <p:cNvSpPr>
            <a:spLocks noChangeShapeType="1"/>
          </p:cNvSpPr>
          <p:nvPr/>
        </p:nvSpPr>
        <p:spPr bwMode="auto">
          <a:xfrm flipH="1" flipV="1">
            <a:off x="5011738" y="2251075"/>
            <a:ext cx="671512" cy="688975"/>
          </a:xfrm>
          <a:prstGeom prst="line">
            <a:avLst/>
          </a:prstGeom>
          <a:noFill/>
          <a:ln w="9525">
            <a:solidFill>
              <a:schemeClr val="tx1"/>
            </a:solidFill>
            <a:round/>
            <a:headEnd/>
            <a:tailEnd/>
          </a:ln>
        </p:spPr>
        <p:txBody>
          <a:bodyPr/>
          <a:lstStyle/>
          <a:p>
            <a:endParaRPr lang="en-US"/>
          </a:p>
        </p:txBody>
      </p:sp>
      <p:sp>
        <p:nvSpPr>
          <p:cNvPr id="91149" name="Line 28"/>
          <p:cNvSpPr>
            <a:spLocks noChangeShapeType="1"/>
          </p:cNvSpPr>
          <p:nvPr/>
        </p:nvSpPr>
        <p:spPr bwMode="auto">
          <a:xfrm flipH="1" flipV="1">
            <a:off x="5011738" y="2251075"/>
            <a:ext cx="58737" cy="282575"/>
          </a:xfrm>
          <a:prstGeom prst="line">
            <a:avLst/>
          </a:prstGeom>
          <a:noFill/>
          <a:ln w="9525">
            <a:solidFill>
              <a:schemeClr val="tx1"/>
            </a:solidFill>
            <a:round/>
            <a:headEnd/>
            <a:tailEnd/>
          </a:ln>
        </p:spPr>
        <p:txBody>
          <a:bodyPr/>
          <a:lstStyle/>
          <a:p>
            <a:endParaRPr lang="en-US"/>
          </a:p>
        </p:txBody>
      </p:sp>
      <p:sp>
        <p:nvSpPr>
          <p:cNvPr id="91150" name="Text Box 29"/>
          <p:cNvSpPr txBox="1">
            <a:spLocks noChangeArrowheads="1"/>
          </p:cNvSpPr>
          <p:nvPr/>
        </p:nvSpPr>
        <p:spPr bwMode="auto">
          <a:xfrm>
            <a:off x="6176963" y="1522413"/>
            <a:ext cx="1223962" cy="366712"/>
          </a:xfrm>
          <a:prstGeom prst="rect">
            <a:avLst/>
          </a:prstGeom>
          <a:noFill/>
          <a:ln w="9525">
            <a:noFill/>
            <a:miter lim="800000"/>
            <a:headEnd/>
            <a:tailEnd/>
          </a:ln>
        </p:spPr>
        <p:txBody>
          <a:bodyPr>
            <a:spAutoFit/>
          </a:bodyPr>
          <a:lstStyle/>
          <a:p>
            <a:pPr>
              <a:spcBef>
                <a:spcPct val="50000"/>
              </a:spcBef>
            </a:pPr>
            <a:r>
              <a:rPr lang="en-AU" i="0">
                <a:solidFill>
                  <a:schemeClr val="tx1"/>
                </a:solidFill>
              </a:rPr>
              <a:t>Recharge</a:t>
            </a:r>
            <a:endParaRPr lang="en-US" i="0">
              <a:solidFill>
                <a:schemeClr val="tx1"/>
              </a:solidFill>
            </a:endParaRPr>
          </a:p>
        </p:txBody>
      </p:sp>
      <p:sp>
        <p:nvSpPr>
          <p:cNvPr id="91151" name="AutoShape 30"/>
          <p:cNvSpPr>
            <a:spLocks noChangeArrowheads="1"/>
          </p:cNvSpPr>
          <p:nvPr/>
        </p:nvSpPr>
        <p:spPr bwMode="auto">
          <a:xfrm>
            <a:off x="1787525" y="6137275"/>
            <a:ext cx="457200" cy="501650"/>
          </a:xfrm>
          <a:prstGeom prst="downArrow">
            <a:avLst>
              <a:gd name="adj1" fmla="val 50000"/>
              <a:gd name="adj2" fmla="val 27431"/>
            </a:avLst>
          </a:prstGeom>
          <a:solidFill>
            <a:srgbClr val="FF9933"/>
          </a:solidFill>
          <a:ln w="28575" algn="ctr">
            <a:solidFill>
              <a:srgbClr val="FF9933"/>
            </a:solidFill>
            <a:miter lim="800000"/>
            <a:headEnd/>
            <a:tailEnd/>
          </a:ln>
        </p:spPr>
        <p:txBody>
          <a:bodyPr/>
          <a:lstStyle/>
          <a:p>
            <a:pPr>
              <a:lnSpc>
                <a:spcPct val="31000"/>
              </a:lnSpc>
              <a:buClr>
                <a:srgbClr val="000000"/>
              </a:buClr>
              <a:buSzPct val="100000"/>
              <a:buFont typeface="Times New Roman" pitchFamily="18" charset="0"/>
              <a:buNone/>
            </a:pPr>
            <a:endParaRPr lang="en-US"/>
          </a:p>
        </p:txBody>
      </p:sp>
      <p:sp>
        <p:nvSpPr>
          <p:cNvPr id="108575" name="Freeform 31" descr="50%"/>
          <p:cNvSpPr>
            <a:spLocks/>
          </p:cNvSpPr>
          <p:nvPr/>
        </p:nvSpPr>
        <p:spPr bwMode="auto">
          <a:xfrm>
            <a:off x="1582738" y="3314700"/>
            <a:ext cx="731837" cy="1347788"/>
          </a:xfrm>
          <a:custGeom>
            <a:avLst/>
            <a:gdLst>
              <a:gd name="T0" fmla="*/ 319087 w 461"/>
              <a:gd name="T1" fmla="*/ 1347788 h 849"/>
              <a:gd name="T2" fmla="*/ 514350 w 461"/>
              <a:gd name="T3" fmla="*/ 1279525 h 849"/>
              <a:gd name="T4" fmla="*/ 731837 w 461"/>
              <a:gd name="T5" fmla="*/ 1004888 h 849"/>
              <a:gd name="T6" fmla="*/ 731837 w 461"/>
              <a:gd name="T7" fmla="*/ 776288 h 849"/>
              <a:gd name="T8" fmla="*/ 674687 w 461"/>
              <a:gd name="T9" fmla="*/ 503238 h 849"/>
              <a:gd name="T10" fmla="*/ 560387 w 461"/>
              <a:gd name="T11" fmla="*/ 331788 h 849"/>
              <a:gd name="T12" fmla="*/ 433387 w 461"/>
              <a:gd name="T13" fmla="*/ 239713 h 849"/>
              <a:gd name="T14" fmla="*/ 274637 w 461"/>
              <a:gd name="T15" fmla="*/ 57150 h 849"/>
              <a:gd name="T16" fmla="*/ 228600 w 461"/>
              <a:gd name="T17" fmla="*/ 0 h 849"/>
              <a:gd name="T18" fmla="*/ 136525 w 461"/>
              <a:gd name="T19" fmla="*/ 0 h 849"/>
              <a:gd name="T20" fmla="*/ 57150 w 461"/>
              <a:gd name="T21" fmla="*/ 90488 h 849"/>
              <a:gd name="T22" fmla="*/ 57150 w 461"/>
              <a:gd name="T23" fmla="*/ 217488 h 849"/>
              <a:gd name="T24" fmla="*/ 57150 w 461"/>
              <a:gd name="T25" fmla="*/ 411163 h 849"/>
              <a:gd name="T26" fmla="*/ 0 w 461"/>
              <a:gd name="T27" fmla="*/ 547688 h 849"/>
              <a:gd name="T28" fmla="*/ 0 w 461"/>
              <a:gd name="T29" fmla="*/ 719138 h 849"/>
              <a:gd name="T30" fmla="*/ 136525 w 461"/>
              <a:gd name="T31" fmla="*/ 890588 h 849"/>
              <a:gd name="T32" fmla="*/ 114300 w 461"/>
              <a:gd name="T33" fmla="*/ 1096963 h 849"/>
              <a:gd name="T34" fmla="*/ 147637 w 461"/>
              <a:gd name="T35" fmla="*/ 1246188 h 849"/>
              <a:gd name="T36" fmla="*/ 319087 w 461"/>
              <a:gd name="T37" fmla="*/ 1347788 h 84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61"/>
              <a:gd name="T58" fmla="*/ 0 h 849"/>
              <a:gd name="T59" fmla="*/ 461 w 461"/>
              <a:gd name="T60" fmla="*/ 849 h 84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61" h="849">
                <a:moveTo>
                  <a:pt x="201" y="849"/>
                </a:moveTo>
                <a:lnTo>
                  <a:pt x="324" y="806"/>
                </a:lnTo>
                <a:lnTo>
                  <a:pt x="461" y="633"/>
                </a:lnTo>
                <a:lnTo>
                  <a:pt x="461" y="489"/>
                </a:lnTo>
                <a:lnTo>
                  <a:pt x="425" y="317"/>
                </a:lnTo>
                <a:lnTo>
                  <a:pt x="353" y="209"/>
                </a:lnTo>
                <a:lnTo>
                  <a:pt x="273" y="151"/>
                </a:lnTo>
                <a:lnTo>
                  <a:pt x="173" y="36"/>
                </a:lnTo>
                <a:lnTo>
                  <a:pt x="144" y="0"/>
                </a:lnTo>
                <a:lnTo>
                  <a:pt x="86" y="0"/>
                </a:lnTo>
                <a:lnTo>
                  <a:pt x="36" y="57"/>
                </a:lnTo>
                <a:lnTo>
                  <a:pt x="36" y="137"/>
                </a:lnTo>
                <a:lnTo>
                  <a:pt x="36" y="259"/>
                </a:lnTo>
                <a:lnTo>
                  <a:pt x="0" y="345"/>
                </a:lnTo>
                <a:lnTo>
                  <a:pt x="0" y="453"/>
                </a:lnTo>
                <a:lnTo>
                  <a:pt x="86" y="561"/>
                </a:lnTo>
                <a:lnTo>
                  <a:pt x="72" y="691"/>
                </a:lnTo>
                <a:lnTo>
                  <a:pt x="93" y="785"/>
                </a:lnTo>
                <a:lnTo>
                  <a:pt x="201" y="849"/>
                </a:lnTo>
                <a:close/>
              </a:path>
            </a:pathLst>
          </a:custGeom>
          <a:pattFill prst="pct50">
            <a:fgClr>
              <a:srgbClr val="FF0000"/>
            </a:fgClr>
            <a:bgClr>
              <a:schemeClr val="bg1"/>
            </a:bgClr>
          </a:pattFill>
          <a:ln w="9525">
            <a:solidFill>
              <a:schemeClr val="tx1"/>
            </a:solidFill>
            <a:round/>
            <a:headEnd/>
            <a:tailEnd/>
          </a:ln>
        </p:spPr>
        <p:txBody>
          <a:bodyPr/>
          <a:lstStyle/>
          <a:p>
            <a:endParaRPr lang="en-US"/>
          </a:p>
        </p:txBody>
      </p:sp>
      <p:grpSp>
        <p:nvGrpSpPr>
          <p:cNvPr id="91153" name="Group 32"/>
          <p:cNvGrpSpPr>
            <a:grpSpLocks/>
          </p:cNvGrpSpPr>
          <p:nvPr/>
        </p:nvGrpSpPr>
        <p:grpSpPr bwMode="auto">
          <a:xfrm>
            <a:off x="690563" y="2225675"/>
            <a:ext cx="2733675" cy="4108450"/>
            <a:chOff x="1051" y="1266"/>
            <a:chExt cx="1722" cy="2588"/>
          </a:xfrm>
        </p:grpSpPr>
        <p:sp>
          <p:nvSpPr>
            <p:cNvPr id="91320" name="Freeform 33"/>
            <p:cNvSpPr>
              <a:spLocks/>
            </p:cNvSpPr>
            <p:nvPr/>
          </p:nvSpPr>
          <p:spPr bwMode="auto">
            <a:xfrm>
              <a:off x="1051" y="1266"/>
              <a:ext cx="1722" cy="486"/>
            </a:xfrm>
            <a:custGeom>
              <a:avLst/>
              <a:gdLst>
                <a:gd name="T0" fmla="*/ 0 w 1722"/>
                <a:gd name="T1" fmla="*/ 462 h 486"/>
                <a:gd name="T2" fmla="*/ 196 w 1722"/>
                <a:gd name="T3" fmla="*/ 284 h 486"/>
                <a:gd name="T4" fmla="*/ 439 w 1722"/>
                <a:gd name="T5" fmla="*/ 46 h 486"/>
                <a:gd name="T6" fmla="*/ 683 w 1722"/>
                <a:gd name="T7" fmla="*/ 17 h 486"/>
                <a:gd name="T8" fmla="*/ 1057 w 1722"/>
                <a:gd name="T9" fmla="*/ 23 h 486"/>
                <a:gd name="T10" fmla="*/ 1354 w 1722"/>
                <a:gd name="T11" fmla="*/ 153 h 486"/>
                <a:gd name="T12" fmla="*/ 1574 w 1722"/>
                <a:gd name="T13" fmla="*/ 373 h 486"/>
                <a:gd name="T14" fmla="*/ 1722 w 1722"/>
                <a:gd name="T15" fmla="*/ 486 h 486"/>
                <a:gd name="T16" fmla="*/ 0 60000 65536"/>
                <a:gd name="T17" fmla="*/ 0 60000 65536"/>
                <a:gd name="T18" fmla="*/ 0 60000 65536"/>
                <a:gd name="T19" fmla="*/ 0 60000 65536"/>
                <a:gd name="T20" fmla="*/ 0 60000 65536"/>
                <a:gd name="T21" fmla="*/ 0 60000 65536"/>
                <a:gd name="T22" fmla="*/ 0 60000 65536"/>
                <a:gd name="T23" fmla="*/ 0 60000 65536"/>
                <a:gd name="T24" fmla="*/ 0 w 1722"/>
                <a:gd name="T25" fmla="*/ 0 h 486"/>
                <a:gd name="T26" fmla="*/ 1722 w 1722"/>
                <a:gd name="T27" fmla="*/ 486 h 4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22" h="486">
                  <a:moveTo>
                    <a:pt x="0" y="462"/>
                  </a:moveTo>
                  <a:cubicBezTo>
                    <a:pt x="61" y="407"/>
                    <a:pt x="123" y="353"/>
                    <a:pt x="196" y="284"/>
                  </a:cubicBezTo>
                  <a:cubicBezTo>
                    <a:pt x="269" y="215"/>
                    <a:pt x="358" y="90"/>
                    <a:pt x="439" y="46"/>
                  </a:cubicBezTo>
                  <a:cubicBezTo>
                    <a:pt x="520" y="2"/>
                    <a:pt x="580" y="21"/>
                    <a:pt x="683" y="17"/>
                  </a:cubicBezTo>
                  <a:cubicBezTo>
                    <a:pt x="786" y="13"/>
                    <a:pt x="945" y="0"/>
                    <a:pt x="1057" y="23"/>
                  </a:cubicBezTo>
                  <a:cubicBezTo>
                    <a:pt x="1169" y="46"/>
                    <a:pt x="1268" y="95"/>
                    <a:pt x="1354" y="153"/>
                  </a:cubicBezTo>
                  <a:cubicBezTo>
                    <a:pt x="1440" y="211"/>
                    <a:pt x="1513" y="318"/>
                    <a:pt x="1574" y="373"/>
                  </a:cubicBezTo>
                  <a:cubicBezTo>
                    <a:pt x="1635" y="428"/>
                    <a:pt x="1678" y="457"/>
                    <a:pt x="1722" y="486"/>
                  </a:cubicBezTo>
                </a:path>
              </a:pathLst>
            </a:custGeom>
            <a:noFill/>
            <a:ln w="9525" cap="flat">
              <a:solidFill>
                <a:schemeClr val="tx1"/>
              </a:solidFill>
              <a:prstDash val="dash"/>
              <a:round/>
              <a:headEnd/>
              <a:tailEnd/>
            </a:ln>
          </p:spPr>
          <p:txBody>
            <a:bodyPr/>
            <a:lstStyle/>
            <a:p>
              <a:endParaRPr lang="en-US"/>
            </a:p>
          </p:txBody>
        </p:sp>
        <p:sp>
          <p:nvSpPr>
            <p:cNvPr id="91321" name="Freeform 34"/>
            <p:cNvSpPr>
              <a:spLocks/>
            </p:cNvSpPr>
            <p:nvPr/>
          </p:nvSpPr>
          <p:spPr bwMode="auto">
            <a:xfrm>
              <a:off x="1116" y="1729"/>
              <a:ext cx="1456" cy="688"/>
            </a:xfrm>
            <a:custGeom>
              <a:avLst/>
              <a:gdLst>
                <a:gd name="T0" fmla="*/ 0 w 1456"/>
                <a:gd name="T1" fmla="*/ 688 h 688"/>
                <a:gd name="T2" fmla="*/ 89 w 1456"/>
                <a:gd name="T3" fmla="*/ 533 h 688"/>
                <a:gd name="T4" fmla="*/ 179 w 1456"/>
                <a:gd name="T5" fmla="*/ 355 h 688"/>
                <a:gd name="T6" fmla="*/ 297 w 1456"/>
                <a:gd name="T7" fmla="*/ 171 h 688"/>
                <a:gd name="T8" fmla="*/ 428 w 1456"/>
                <a:gd name="T9" fmla="*/ 58 h 688"/>
                <a:gd name="T10" fmla="*/ 594 w 1456"/>
                <a:gd name="T11" fmla="*/ 11 h 688"/>
                <a:gd name="T12" fmla="*/ 844 w 1456"/>
                <a:gd name="T13" fmla="*/ 17 h 688"/>
                <a:gd name="T14" fmla="*/ 1045 w 1456"/>
                <a:gd name="T15" fmla="*/ 112 h 688"/>
                <a:gd name="T16" fmla="*/ 1188 w 1456"/>
                <a:gd name="T17" fmla="*/ 248 h 688"/>
                <a:gd name="T18" fmla="*/ 1307 w 1456"/>
                <a:gd name="T19" fmla="*/ 391 h 688"/>
                <a:gd name="T20" fmla="*/ 1431 w 1456"/>
                <a:gd name="T21" fmla="*/ 539 h 688"/>
                <a:gd name="T22" fmla="*/ 1455 w 1456"/>
                <a:gd name="T23" fmla="*/ 634 h 68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56"/>
                <a:gd name="T37" fmla="*/ 0 h 688"/>
                <a:gd name="T38" fmla="*/ 1456 w 1456"/>
                <a:gd name="T39" fmla="*/ 688 h 68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56" h="688">
                  <a:moveTo>
                    <a:pt x="0" y="688"/>
                  </a:moveTo>
                  <a:cubicBezTo>
                    <a:pt x="29" y="638"/>
                    <a:pt x="59" y="589"/>
                    <a:pt x="89" y="533"/>
                  </a:cubicBezTo>
                  <a:cubicBezTo>
                    <a:pt x="119" y="477"/>
                    <a:pt x="144" y="415"/>
                    <a:pt x="179" y="355"/>
                  </a:cubicBezTo>
                  <a:cubicBezTo>
                    <a:pt x="214" y="295"/>
                    <a:pt x="256" y="221"/>
                    <a:pt x="297" y="171"/>
                  </a:cubicBezTo>
                  <a:cubicBezTo>
                    <a:pt x="338" y="121"/>
                    <a:pt x="378" y="85"/>
                    <a:pt x="428" y="58"/>
                  </a:cubicBezTo>
                  <a:cubicBezTo>
                    <a:pt x="478" y="31"/>
                    <a:pt x="525" y="18"/>
                    <a:pt x="594" y="11"/>
                  </a:cubicBezTo>
                  <a:cubicBezTo>
                    <a:pt x="663" y="4"/>
                    <a:pt x="769" y="0"/>
                    <a:pt x="844" y="17"/>
                  </a:cubicBezTo>
                  <a:cubicBezTo>
                    <a:pt x="919" y="34"/>
                    <a:pt x="988" y="74"/>
                    <a:pt x="1045" y="112"/>
                  </a:cubicBezTo>
                  <a:cubicBezTo>
                    <a:pt x="1102" y="150"/>
                    <a:pt x="1144" y="202"/>
                    <a:pt x="1188" y="248"/>
                  </a:cubicBezTo>
                  <a:cubicBezTo>
                    <a:pt x="1232" y="294"/>
                    <a:pt x="1267" y="343"/>
                    <a:pt x="1307" y="391"/>
                  </a:cubicBezTo>
                  <a:cubicBezTo>
                    <a:pt x="1347" y="439"/>
                    <a:pt x="1406" y="499"/>
                    <a:pt x="1431" y="539"/>
                  </a:cubicBezTo>
                  <a:cubicBezTo>
                    <a:pt x="1456" y="579"/>
                    <a:pt x="1451" y="618"/>
                    <a:pt x="1455" y="634"/>
                  </a:cubicBezTo>
                </a:path>
              </a:pathLst>
            </a:custGeom>
            <a:noFill/>
            <a:ln w="9525" cap="flat">
              <a:solidFill>
                <a:schemeClr val="tx1"/>
              </a:solidFill>
              <a:prstDash val="dash"/>
              <a:round/>
              <a:headEnd/>
              <a:tailEnd/>
            </a:ln>
          </p:spPr>
          <p:txBody>
            <a:bodyPr/>
            <a:lstStyle/>
            <a:p>
              <a:endParaRPr lang="en-US"/>
            </a:p>
          </p:txBody>
        </p:sp>
        <p:sp>
          <p:nvSpPr>
            <p:cNvPr id="91322" name="Freeform 35"/>
            <p:cNvSpPr>
              <a:spLocks/>
            </p:cNvSpPr>
            <p:nvPr/>
          </p:nvSpPr>
          <p:spPr bwMode="auto">
            <a:xfrm>
              <a:off x="1205" y="2249"/>
              <a:ext cx="1170" cy="595"/>
            </a:xfrm>
            <a:custGeom>
              <a:avLst/>
              <a:gdLst>
                <a:gd name="T0" fmla="*/ 0 w 1170"/>
                <a:gd name="T1" fmla="*/ 595 h 595"/>
                <a:gd name="T2" fmla="*/ 155 w 1170"/>
                <a:gd name="T3" fmla="*/ 399 h 595"/>
                <a:gd name="T4" fmla="*/ 339 w 1170"/>
                <a:gd name="T5" fmla="*/ 162 h 595"/>
                <a:gd name="T6" fmla="*/ 582 w 1170"/>
                <a:gd name="T7" fmla="*/ 19 h 595"/>
                <a:gd name="T8" fmla="*/ 850 w 1170"/>
                <a:gd name="T9" fmla="*/ 49 h 595"/>
                <a:gd name="T10" fmla="*/ 986 w 1170"/>
                <a:gd name="T11" fmla="*/ 203 h 595"/>
                <a:gd name="T12" fmla="*/ 1069 w 1170"/>
                <a:gd name="T13" fmla="*/ 417 h 595"/>
                <a:gd name="T14" fmla="*/ 1170 w 1170"/>
                <a:gd name="T15" fmla="*/ 566 h 595"/>
                <a:gd name="T16" fmla="*/ 0 60000 65536"/>
                <a:gd name="T17" fmla="*/ 0 60000 65536"/>
                <a:gd name="T18" fmla="*/ 0 60000 65536"/>
                <a:gd name="T19" fmla="*/ 0 60000 65536"/>
                <a:gd name="T20" fmla="*/ 0 60000 65536"/>
                <a:gd name="T21" fmla="*/ 0 60000 65536"/>
                <a:gd name="T22" fmla="*/ 0 60000 65536"/>
                <a:gd name="T23" fmla="*/ 0 60000 65536"/>
                <a:gd name="T24" fmla="*/ 0 w 1170"/>
                <a:gd name="T25" fmla="*/ 0 h 595"/>
                <a:gd name="T26" fmla="*/ 1170 w 1170"/>
                <a:gd name="T27" fmla="*/ 595 h 59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70" h="595">
                  <a:moveTo>
                    <a:pt x="0" y="595"/>
                  </a:moveTo>
                  <a:cubicBezTo>
                    <a:pt x="49" y="533"/>
                    <a:pt x="98" y="471"/>
                    <a:pt x="155" y="399"/>
                  </a:cubicBezTo>
                  <a:cubicBezTo>
                    <a:pt x="212" y="327"/>
                    <a:pt x="268" y="225"/>
                    <a:pt x="339" y="162"/>
                  </a:cubicBezTo>
                  <a:cubicBezTo>
                    <a:pt x="410" y="99"/>
                    <a:pt x="497" y="38"/>
                    <a:pt x="582" y="19"/>
                  </a:cubicBezTo>
                  <a:cubicBezTo>
                    <a:pt x="667" y="0"/>
                    <a:pt x="783" y="18"/>
                    <a:pt x="850" y="49"/>
                  </a:cubicBezTo>
                  <a:cubicBezTo>
                    <a:pt x="917" y="80"/>
                    <a:pt x="950" y="142"/>
                    <a:pt x="986" y="203"/>
                  </a:cubicBezTo>
                  <a:cubicBezTo>
                    <a:pt x="1022" y="264"/>
                    <a:pt x="1038" y="357"/>
                    <a:pt x="1069" y="417"/>
                  </a:cubicBezTo>
                  <a:cubicBezTo>
                    <a:pt x="1100" y="477"/>
                    <a:pt x="1153" y="541"/>
                    <a:pt x="1170" y="566"/>
                  </a:cubicBezTo>
                </a:path>
              </a:pathLst>
            </a:custGeom>
            <a:noFill/>
            <a:ln w="9525" cap="flat">
              <a:solidFill>
                <a:schemeClr val="tx1"/>
              </a:solidFill>
              <a:prstDash val="dash"/>
              <a:round/>
              <a:headEnd/>
              <a:tailEnd/>
            </a:ln>
          </p:spPr>
          <p:txBody>
            <a:bodyPr/>
            <a:lstStyle/>
            <a:p>
              <a:endParaRPr lang="en-US"/>
            </a:p>
          </p:txBody>
        </p:sp>
        <p:sp>
          <p:nvSpPr>
            <p:cNvPr id="91323" name="Freeform 36"/>
            <p:cNvSpPr>
              <a:spLocks/>
            </p:cNvSpPr>
            <p:nvPr/>
          </p:nvSpPr>
          <p:spPr bwMode="auto">
            <a:xfrm>
              <a:off x="1354" y="2856"/>
              <a:ext cx="1324" cy="582"/>
            </a:xfrm>
            <a:custGeom>
              <a:avLst/>
              <a:gdLst>
                <a:gd name="T0" fmla="*/ 0 w 1324"/>
                <a:gd name="T1" fmla="*/ 457 h 582"/>
                <a:gd name="T2" fmla="*/ 95 w 1324"/>
                <a:gd name="T3" fmla="*/ 267 h 582"/>
                <a:gd name="T4" fmla="*/ 291 w 1324"/>
                <a:gd name="T5" fmla="*/ 66 h 582"/>
                <a:gd name="T6" fmla="*/ 540 w 1324"/>
                <a:gd name="T7" fmla="*/ 6 h 582"/>
                <a:gd name="T8" fmla="*/ 766 w 1324"/>
                <a:gd name="T9" fmla="*/ 101 h 582"/>
                <a:gd name="T10" fmla="*/ 849 w 1324"/>
                <a:gd name="T11" fmla="*/ 309 h 582"/>
                <a:gd name="T12" fmla="*/ 1003 w 1324"/>
                <a:gd name="T13" fmla="*/ 422 h 582"/>
                <a:gd name="T14" fmla="*/ 1324 w 1324"/>
                <a:gd name="T15" fmla="*/ 582 h 582"/>
                <a:gd name="T16" fmla="*/ 0 60000 65536"/>
                <a:gd name="T17" fmla="*/ 0 60000 65536"/>
                <a:gd name="T18" fmla="*/ 0 60000 65536"/>
                <a:gd name="T19" fmla="*/ 0 60000 65536"/>
                <a:gd name="T20" fmla="*/ 0 60000 65536"/>
                <a:gd name="T21" fmla="*/ 0 60000 65536"/>
                <a:gd name="T22" fmla="*/ 0 60000 65536"/>
                <a:gd name="T23" fmla="*/ 0 60000 65536"/>
                <a:gd name="T24" fmla="*/ 0 w 1324"/>
                <a:gd name="T25" fmla="*/ 0 h 582"/>
                <a:gd name="T26" fmla="*/ 1324 w 1324"/>
                <a:gd name="T27" fmla="*/ 582 h 58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24" h="582">
                  <a:moveTo>
                    <a:pt x="0" y="457"/>
                  </a:moveTo>
                  <a:cubicBezTo>
                    <a:pt x="23" y="394"/>
                    <a:pt x="46" y="332"/>
                    <a:pt x="95" y="267"/>
                  </a:cubicBezTo>
                  <a:cubicBezTo>
                    <a:pt x="144" y="202"/>
                    <a:pt x="217" y="110"/>
                    <a:pt x="291" y="66"/>
                  </a:cubicBezTo>
                  <a:cubicBezTo>
                    <a:pt x="365" y="22"/>
                    <a:pt x="461" y="0"/>
                    <a:pt x="540" y="6"/>
                  </a:cubicBezTo>
                  <a:cubicBezTo>
                    <a:pt x="619" y="12"/>
                    <a:pt x="715" y="51"/>
                    <a:pt x="766" y="101"/>
                  </a:cubicBezTo>
                  <a:cubicBezTo>
                    <a:pt x="817" y="151"/>
                    <a:pt x="810" y="256"/>
                    <a:pt x="849" y="309"/>
                  </a:cubicBezTo>
                  <a:cubicBezTo>
                    <a:pt x="888" y="362"/>
                    <a:pt x="924" y="376"/>
                    <a:pt x="1003" y="422"/>
                  </a:cubicBezTo>
                  <a:cubicBezTo>
                    <a:pt x="1082" y="468"/>
                    <a:pt x="1203" y="525"/>
                    <a:pt x="1324" y="582"/>
                  </a:cubicBezTo>
                </a:path>
              </a:pathLst>
            </a:custGeom>
            <a:noFill/>
            <a:ln w="9525" cap="flat">
              <a:solidFill>
                <a:schemeClr val="tx1"/>
              </a:solidFill>
              <a:prstDash val="dash"/>
              <a:round/>
              <a:headEnd/>
              <a:tailEnd/>
            </a:ln>
          </p:spPr>
          <p:txBody>
            <a:bodyPr/>
            <a:lstStyle/>
            <a:p>
              <a:endParaRPr lang="en-US"/>
            </a:p>
          </p:txBody>
        </p:sp>
        <p:sp>
          <p:nvSpPr>
            <p:cNvPr id="91324" name="Freeform 37"/>
            <p:cNvSpPr>
              <a:spLocks/>
            </p:cNvSpPr>
            <p:nvPr/>
          </p:nvSpPr>
          <p:spPr bwMode="auto">
            <a:xfrm>
              <a:off x="1075" y="3453"/>
              <a:ext cx="1585" cy="401"/>
            </a:xfrm>
            <a:custGeom>
              <a:avLst/>
              <a:gdLst>
                <a:gd name="T0" fmla="*/ 0 w 1585"/>
                <a:gd name="T1" fmla="*/ 300 h 401"/>
                <a:gd name="T2" fmla="*/ 243 w 1585"/>
                <a:gd name="T3" fmla="*/ 241 h 401"/>
                <a:gd name="T4" fmla="*/ 499 w 1585"/>
                <a:gd name="T5" fmla="*/ 110 h 401"/>
                <a:gd name="T6" fmla="*/ 718 w 1585"/>
                <a:gd name="T7" fmla="*/ 21 h 401"/>
                <a:gd name="T8" fmla="*/ 997 w 1585"/>
                <a:gd name="T9" fmla="*/ 21 h 401"/>
                <a:gd name="T10" fmla="*/ 1217 w 1585"/>
                <a:gd name="T11" fmla="*/ 146 h 401"/>
                <a:gd name="T12" fmla="*/ 1431 w 1585"/>
                <a:gd name="T13" fmla="*/ 306 h 401"/>
                <a:gd name="T14" fmla="*/ 1585 w 1585"/>
                <a:gd name="T15" fmla="*/ 401 h 401"/>
                <a:gd name="T16" fmla="*/ 0 60000 65536"/>
                <a:gd name="T17" fmla="*/ 0 60000 65536"/>
                <a:gd name="T18" fmla="*/ 0 60000 65536"/>
                <a:gd name="T19" fmla="*/ 0 60000 65536"/>
                <a:gd name="T20" fmla="*/ 0 60000 65536"/>
                <a:gd name="T21" fmla="*/ 0 60000 65536"/>
                <a:gd name="T22" fmla="*/ 0 60000 65536"/>
                <a:gd name="T23" fmla="*/ 0 60000 65536"/>
                <a:gd name="T24" fmla="*/ 0 w 1585"/>
                <a:gd name="T25" fmla="*/ 0 h 401"/>
                <a:gd name="T26" fmla="*/ 1585 w 1585"/>
                <a:gd name="T27" fmla="*/ 401 h 40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85" h="401">
                  <a:moveTo>
                    <a:pt x="0" y="300"/>
                  </a:moveTo>
                  <a:cubicBezTo>
                    <a:pt x="80" y="286"/>
                    <a:pt x="160" y="273"/>
                    <a:pt x="243" y="241"/>
                  </a:cubicBezTo>
                  <a:cubicBezTo>
                    <a:pt x="326" y="209"/>
                    <a:pt x="420" y="147"/>
                    <a:pt x="499" y="110"/>
                  </a:cubicBezTo>
                  <a:cubicBezTo>
                    <a:pt x="578" y="73"/>
                    <a:pt x="635" y="36"/>
                    <a:pt x="718" y="21"/>
                  </a:cubicBezTo>
                  <a:cubicBezTo>
                    <a:pt x="801" y="6"/>
                    <a:pt x="914" y="0"/>
                    <a:pt x="997" y="21"/>
                  </a:cubicBezTo>
                  <a:cubicBezTo>
                    <a:pt x="1080" y="42"/>
                    <a:pt x="1145" y="99"/>
                    <a:pt x="1217" y="146"/>
                  </a:cubicBezTo>
                  <a:cubicBezTo>
                    <a:pt x="1289" y="193"/>
                    <a:pt x="1370" y="264"/>
                    <a:pt x="1431" y="306"/>
                  </a:cubicBezTo>
                  <a:cubicBezTo>
                    <a:pt x="1492" y="348"/>
                    <a:pt x="1560" y="384"/>
                    <a:pt x="1585" y="401"/>
                  </a:cubicBezTo>
                </a:path>
              </a:pathLst>
            </a:custGeom>
            <a:noFill/>
            <a:ln w="9525" cap="flat">
              <a:solidFill>
                <a:schemeClr val="tx1"/>
              </a:solidFill>
              <a:prstDash val="dash"/>
              <a:round/>
              <a:headEnd/>
              <a:tailEnd/>
            </a:ln>
          </p:spPr>
          <p:txBody>
            <a:bodyPr/>
            <a:lstStyle/>
            <a:p>
              <a:endParaRPr lang="en-US"/>
            </a:p>
          </p:txBody>
        </p:sp>
      </p:grpSp>
      <p:sp>
        <p:nvSpPr>
          <p:cNvPr id="91154" name="Freeform 38"/>
          <p:cNvSpPr>
            <a:spLocks/>
          </p:cNvSpPr>
          <p:nvPr/>
        </p:nvSpPr>
        <p:spPr bwMode="auto">
          <a:xfrm>
            <a:off x="803275" y="1695450"/>
            <a:ext cx="1433513" cy="4552950"/>
          </a:xfrm>
          <a:custGeom>
            <a:avLst/>
            <a:gdLst>
              <a:gd name="T0" fmla="*/ 1112838 w 903"/>
              <a:gd name="T1" fmla="*/ 4552950 h 2868"/>
              <a:gd name="T2" fmla="*/ 1311275 w 903"/>
              <a:gd name="T3" fmla="*/ 4138613 h 2868"/>
              <a:gd name="T4" fmla="*/ 1423988 w 903"/>
              <a:gd name="T5" fmla="*/ 3714750 h 2868"/>
              <a:gd name="T6" fmla="*/ 1254125 w 903"/>
              <a:gd name="T7" fmla="*/ 3176587 h 2868"/>
              <a:gd name="T8" fmla="*/ 1179513 w 903"/>
              <a:gd name="T9" fmla="*/ 2771775 h 2868"/>
              <a:gd name="T10" fmla="*/ 1000125 w 903"/>
              <a:gd name="T11" fmla="*/ 2386012 h 2868"/>
              <a:gd name="T12" fmla="*/ 1009650 w 903"/>
              <a:gd name="T13" fmla="*/ 1924050 h 2868"/>
              <a:gd name="T14" fmla="*/ 914400 w 903"/>
              <a:gd name="T15" fmla="*/ 1452562 h 2868"/>
              <a:gd name="T16" fmla="*/ 622300 w 903"/>
              <a:gd name="T17" fmla="*/ 1009650 h 2868"/>
              <a:gd name="T18" fmla="*/ 500063 w 903"/>
              <a:gd name="T19" fmla="*/ 622300 h 2868"/>
              <a:gd name="T20" fmla="*/ 406400 w 903"/>
              <a:gd name="T21" fmla="*/ 273050 h 2868"/>
              <a:gd name="T22" fmla="*/ 0 w 903"/>
              <a:gd name="T23" fmla="*/ 0 h 286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03"/>
              <a:gd name="T37" fmla="*/ 0 h 2868"/>
              <a:gd name="T38" fmla="*/ 903 w 903"/>
              <a:gd name="T39" fmla="*/ 2868 h 286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03" h="2868">
                <a:moveTo>
                  <a:pt x="701" y="2868"/>
                </a:moveTo>
                <a:cubicBezTo>
                  <a:pt x="747" y="2781"/>
                  <a:pt x="793" y="2695"/>
                  <a:pt x="826" y="2607"/>
                </a:cubicBezTo>
                <a:cubicBezTo>
                  <a:pt x="859" y="2519"/>
                  <a:pt x="903" y="2441"/>
                  <a:pt x="897" y="2340"/>
                </a:cubicBezTo>
                <a:cubicBezTo>
                  <a:pt x="891" y="2239"/>
                  <a:pt x="816" y="2100"/>
                  <a:pt x="790" y="2001"/>
                </a:cubicBezTo>
                <a:cubicBezTo>
                  <a:pt x="764" y="1902"/>
                  <a:pt x="770" y="1829"/>
                  <a:pt x="743" y="1746"/>
                </a:cubicBezTo>
                <a:cubicBezTo>
                  <a:pt x="716" y="1663"/>
                  <a:pt x="648" y="1592"/>
                  <a:pt x="630" y="1503"/>
                </a:cubicBezTo>
                <a:cubicBezTo>
                  <a:pt x="612" y="1414"/>
                  <a:pt x="645" y="1310"/>
                  <a:pt x="636" y="1212"/>
                </a:cubicBezTo>
                <a:cubicBezTo>
                  <a:pt x="627" y="1114"/>
                  <a:pt x="617" y="1011"/>
                  <a:pt x="576" y="915"/>
                </a:cubicBezTo>
                <a:cubicBezTo>
                  <a:pt x="535" y="819"/>
                  <a:pt x="435" y="723"/>
                  <a:pt x="392" y="636"/>
                </a:cubicBezTo>
                <a:cubicBezTo>
                  <a:pt x="349" y="549"/>
                  <a:pt x="338" y="469"/>
                  <a:pt x="315" y="392"/>
                </a:cubicBezTo>
                <a:cubicBezTo>
                  <a:pt x="292" y="315"/>
                  <a:pt x="309" y="237"/>
                  <a:pt x="256" y="172"/>
                </a:cubicBezTo>
                <a:cubicBezTo>
                  <a:pt x="203" y="107"/>
                  <a:pt x="43" y="29"/>
                  <a:pt x="0" y="0"/>
                </a:cubicBezTo>
              </a:path>
            </a:pathLst>
          </a:custGeom>
          <a:noFill/>
          <a:ln w="28575" cmpd="sng">
            <a:solidFill>
              <a:srgbClr val="9999FF"/>
            </a:solidFill>
            <a:round/>
            <a:headEnd/>
            <a:tailEnd/>
          </a:ln>
        </p:spPr>
        <p:txBody>
          <a:bodyPr/>
          <a:lstStyle/>
          <a:p>
            <a:endParaRPr lang="en-US"/>
          </a:p>
        </p:txBody>
      </p:sp>
      <p:sp>
        <p:nvSpPr>
          <p:cNvPr id="91155" name="Freeform 39"/>
          <p:cNvSpPr>
            <a:spLocks/>
          </p:cNvSpPr>
          <p:nvPr/>
        </p:nvSpPr>
        <p:spPr bwMode="auto">
          <a:xfrm>
            <a:off x="1793875" y="1679575"/>
            <a:ext cx="1781175" cy="2386013"/>
          </a:xfrm>
          <a:custGeom>
            <a:avLst/>
            <a:gdLst>
              <a:gd name="T0" fmla="*/ 0 w 1122"/>
              <a:gd name="T1" fmla="*/ 2386013 h 1503"/>
              <a:gd name="T2" fmla="*/ 215900 w 1122"/>
              <a:gd name="T3" fmla="*/ 2168526 h 1503"/>
              <a:gd name="T4" fmla="*/ 650875 w 1122"/>
              <a:gd name="T5" fmla="*/ 2055813 h 1503"/>
              <a:gd name="T6" fmla="*/ 914400 w 1122"/>
              <a:gd name="T7" fmla="*/ 1895476 h 1503"/>
              <a:gd name="T8" fmla="*/ 962025 w 1122"/>
              <a:gd name="T9" fmla="*/ 1519238 h 1503"/>
              <a:gd name="T10" fmla="*/ 876300 w 1122"/>
              <a:gd name="T11" fmla="*/ 1179513 h 1503"/>
              <a:gd name="T12" fmla="*/ 885825 w 1122"/>
              <a:gd name="T13" fmla="*/ 887413 h 1503"/>
              <a:gd name="T14" fmla="*/ 1036637 w 1122"/>
              <a:gd name="T15" fmla="*/ 650875 h 1503"/>
              <a:gd name="T16" fmla="*/ 1196975 w 1122"/>
              <a:gd name="T17" fmla="*/ 396875 h 1503"/>
              <a:gd name="T18" fmla="*/ 1479550 w 1122"/>
              <a:gd name="T19" fmla="*/ 169863 h 1503"/>
              <a:gd name="T20" fmla="*/ 1781175 w 1122"/>
              <a:gd name="T21" fmla="*/ 0 h 15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22"/>
              <a:gd name="T34" fmla="*/ 0 h 1503"/>
              <a:gd name="T35" fmla="*/ 1122 w 1122"/>
              <a:gd name="T36" fmla="*/ 1503 h 15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22" h="1503">
                <a:moveTo>
                  <a:pt x="0" y="1503"/>
                </a:moveTo>
                <a:cubicBezTo>
                  <a:pt x="34" y="1452"/>
                  <a:pt x="68" y="1401"/>
                  <a:pt x="136" y="1366"/>
                </a:cubicBezTo>
                <a:cubicBezTo>
                  <a:pt x="204" y="1331"/>
                  <a:pt x="337" y="1324"/>
                  <a:pt x="410" y="1295"/>
                </a:cubicBezTo>
                <a:cubicBezTo>
                  <a:pt x="483" y="1266"/>
                  <a:pt x="543" y="1250"/>
                  <a:pt x="576" y="1194"/>
                </a:cubicBezTo>
                <a:cubicBezTo>
                  <a:pt x="609" y="1138"/>
                  <a:pt x="610" y="1032"/>
                  <a:pt x="606" y="957"/>
                </a:cubicBezTo>
                <a:cubicBezTo>
                  <a:pt x="602" y="882"/>
                  <a:pt x="560" y="809"/>
                  <a:pt x="552" y="743"/>
                </a:cubicBezTo>
                <a:cubicBezTo>
                  <a:pt x="544" y="677"/>
                  <a:pt x="541" y="614"/>
                  <a:pt x="558" y="559"/>
                </a:cubicBezTo>
                <a:cubicBezTo>
                  <a:pt x="575" y="504"/>
                  <a:pt x="620" y="462"/>
                  <a:pt x="653" y="410"/>
                </a:cubicBezTo>
                <a:cubicBezTo>
                  <a:pt x="686" y="358"/>
                  <a:pt x="708" y="300"/>
                  <a:pt x="754" y="250"/>
                </a:cubicBezTo>
                <a:cubicBezTo>
                  <a:pt x="800" y="200"/>
                  <a:pt x="871" y="149"/>
                  <a:pt x="932" y="107"/>
                </a:cubicBezTo>
                <a:cubicBezTo>
                  <a:pt x="993" y="65"/>
                  <a:pt x="1090" y="18"/>
                  <a:pt x="1122" y="0"/>
                </a:cubicBezTo>
              </a:path>
            </a:pathLst>
          </a:custGeom>
          <a:noFill/>
          <a:ln w="28575" cap="flat" cmpd="sng">
            <a:solidFill>
              <a:srgbClr val="9999FF"/>
            </a:solidFill>
            <a:prstDash val="solid"/>
            <a:round/>
            <a:headEnd type="none" w="med" len="med"/>
            <a:tailEnd type="none" w="med" len="med"/>
          </a:ln>
        </p:spPr>
        <p:txBody>
          <a:bodyPr/>
          <a:lstStyle/>
          <a:p>
            <a:endParaRPr lang="en-US"/>
          </a:p>
        </p:txBody>
      </p:sp>
      <p:sp>
        <p:nvSpPr>
          <p:cNvPr id="91156" name="Line 40"/>
          <p:cNvSpPr>
            <a:spLocks noChangeShapeType="1"/>
          </p:cNvSpPr>
          <p:nvPr/>
        </p:nvSpPr>
        <p:spPr bwMode="auto">
          <a:xfrm flipV="1">
            <a:off x="539750" y="3108325"/>
            <a:ext cx="3138488" cy="1225550"/>
          </a:xfrm>
          <a:prstGeom prst="line">
            <a:avLst/>
          </a:prstGeom>
          <a:noFill/>
          <a:ln w="28575">
            <a:solidFill>
              <a:schemeClr val="tx1"/>
            </a:solidFill>
            <a:round/>
            <a:headEnd/>
            <a:tailEnd/>
          </a:ln>
        </p:spPr>
        <p:txBody>
          <a:bodyPr/>
          <a:lstStyle/>
          <a:p>
            <a:endParaRPr lang="en-US"/>
          </a:p>
        </p:txBody>
      </p:sp>
      <p:grpSp>
        <p:nvGrpSpPr>
          <p:cNvPr id="108585" name="Group 41"/>
          <p:cNvGrpSpPr>
            <a:grpSpLocks/>
          </p:cNvGrpSpPr>
          <p:nvPr/>
        </p:nvGrpSpPr>
        <p:grpSpPr bwMode="auto">
          <a:xfrm>
            <a:off x="1239838" y="1919288"/>
            <a:ext cx="1901825" cy="1338262"/>
            <a:chOff x="1397" y="1073"/>
            <a:chExt cx="1198" cy="843"/>
          </a:xfrm>
        </p:grpSpPr>
        <p:sp>
          <p:nvSpPr>
            <p:cNvPr id="91318" name="Freeform 42"/>
            <p:cNvSpPr>
              <a:spLocks/>
            </p:cNvSpPr>
            <p:nvPr/>
          </p:nvSpPr>
          <p:spPr bwMode="auto">
            <a:xfrm>
              <a:off x="2288" y="1073"/>
              <a:ext cx="307" cy="843"/>
            </a:xfrm>
            <a:custGeom>
              <a:avLst/>
              <a:gdLst>
                <a:gd name="T0" fmla="*/ 70 w 307"/>
                <a:gd name="T1" fmla="*/ 843 h 843"/>
                <a:gd name="T2" fmla="*/ 58 w 307"/>
                <a:gd name="T3" fmla="*/ 718 h 843"/>
                <a:gd name="T4" fmla="*/ 22 w 307"/>
                <a:gd name="T5" fmla="*/ 611 h 843"/>
                <a:gd name="T6" fmla="*/ 10 w 307"/>
                <a:gd name="T7" fmla="*/ 499 h 843"/>
                <a:gd name="T8" fmla="*/ 10 w 307"/>
                <a:gd name="T9" fmla="*/ 398 h 843"/>
                <a:gd name="T10" fmla="*/ 70 w 307"/>
                <a:gd name="T11" fmla="*/ 303 h 843"/>
                <a:gd name="T12" fmla="*/ 117 w 307"/>
                <a:gd name="T13" fmla="*/ 237 h 843"/>
                <a:gd name="T14" fmla="*/ 170 w 307"/>
                <a:gd name="T15" fmla="*/ 172 h 843"/>
                <a:gd name="T16" fmla="*/ 206 w 307"/>
                <a:gd name="T17" fmla="*/ 89 h 843"/>
                <a:gd name="T18" fmla="*/ 277 w 307"/>
                <a:gd name="T19" fmla="*/ 35 h 843"/>
                <a:gd name="T20" fmla="*/ 307 w 307"/>
                <a:gd name="T21" fmla="*/ 0 h 84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07"/>
                <a:gd name="T34" fmla="*/ 0 h 843"/>
                <a:gd name="T35" fmla="*/ 307 w 307"/>
                <a:gd name="T36" fmla="*/ 843 h 84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07" h="843">
                  <a:moveTo>
                    <a:pt x="70" y="843"/>
                  </a:moveTo>
                  <a:cubicBezTo>
                    <a:pt x="68" y="800"/>
                    <a:pt x="66" y="757"/>
                    <a:pt x="58" y="718"/>
                  </a:cubicBezTo>
                  <a:cubicBezTo>
                    <a:pt x="50" y="679"/>
                    <a:pt x="30" y="647"/>
                    <a:pt x="22" y="611"/>
                  </a:cubicBezTo>
                  <a:cubicBezTo>
                    <a:pt x="14" y="575"/>
                    <a:pt x="12" y="534"/>
                    <a:pt x="10" y="499"/>
                  </a:cubicBezTo>
                  <a:cubicBezTo>
                    <a:pt x="8" y="464"/>
                    <a:pt x="0" y="431"/>
                    <a:pt x="10" y="398"/>
                  </a:cubicBezTo>
                  <a:cubicBezTo>
                    <a:pt x="20" y="365"/>
                    <a:pt x="52" y="330"/>
                    <a:pt x="70" y="303"/>
                  </a:cubicBezTo>
                  <a:cubicBezTo>
                    <a:pt x="88" y="276"/>
                    <a:pt x="100" y="259"/>
                    <a:pt x="117" y="237"/>
                  </a:cubicBezTo>
                  <a:cubicBezTo>
                    <a:pt x="134" y="215"/>
                    <a:pt x="155" y="197"/>
                    <a:pt x="170" y="172"/>
                  </a:cubicBezTo>
                  <a:cubicBezTo>
                    <a:pt x="185" y="147"/>
                    <a:pt x="188" y="112"/>
                    <a:pt x="206" y="89"/>
                  </a:cubicBezTo>
                  <a:cubicBezTo>
                    <a:pt x="224" y="66"/>
                    <a:pt x="260" y="50"/>
                    <a:pt x="277" y="35"/>
                  </a:cubicBezTo>
                  <a:cubicBezTo>
                    <a:pt x="294" y="20"/>
                    <a:pt x="302" y="6"/>
                    <a:pt x="307" y="0"/>
                  </a:cubicBezTo>
                </a:path>
              </a:pathLst>
            </a:custGeom>
            <a:noFill/>
            <a:ln w="28575" cmpd="sng">
              <a:solidFill>
                <a:srgbClr val="FF3300"/>
              </a:solidFill>
              <a:round/>
              <a:headEnd/>
              <a:tailEnd/>
            </a:ln>
          </p:spPr>
          <p:txBody>
            <a:bodyPr/>
            <a:lstStyle/>
            <a:p>
              <a:endParaRPr lang="en-US"/>
            </a:p>
          </p:txBody>
        </p:sp>
        <p:sp>
          <p:nvSpPr>
            <p:cNvPr id="91319" name="Freeform 43"/>
            <p:cNvSpPr>
              <a:spLocks/>
            </p:cNvSpPr>
            <p:nvPr/>
          </p:nvSpPr>
          <p:spPr bwMode="auto">
            <a:xfrm>
              <a:off x="1397" y="1107"/>
              <a:ext cx="107" cy="434"/>
            </a:xfrm>
            <a:custGeom>
              <a:avLst/>
              <a:gdLst>
                <a:gd name="T0" fmla="*/ 107 w 107"/>
                <a:gd name="T1" fmla="*/ 434 h 434"/>
                <a:gd name="T2" fmla="*/ 84 w 107"/>
                <a:gd name="T3" fmla="*/ 368 h 434"/>
                <a:gd name="T4" fmla="*/ 60 w 107"/>
                <a:gd name="T5" fmla="*/ 273 h 434"/>
                <a:gd name="T6" fmla="*/ 36 w 107"/>
                <a:gd name="T7" fmla="*/ 184 h 434"/>
                <a:gd name="T8" fmla="*/ 24 w 107"/>
                <a:gd name="T9" fmla="*/ 137 h 434"/>
                <a:gd name="T10" fmla="*/ 18 w 107"/>
                <a:gd name="T11" fmla="*/ 54 h 434"/>
                <a:gd name="T12" fmla="*/ 0 w 107"/>
                <a:gd name="T13" fmla="*/ 0 h 434"/>
                <a:gd name="T14" fmla="*/ 0 60000 65536"/>
                <a:gd name="T15" fmla="*/ 0 60000 65536"/>
                <a:gd name="T16" fmla="*/ 0 60000 65536"/>
                <a:gd name="T17" fmla="*/ 0 60000 65536"/>
                <a:gd name="T18" fmla="*/ 0 60000 65536"/>
                <a:gd name="T19" fmla="*/ 0 60000 65536"/>
                <a:gd name="T20" fmla="*/ 0 60000 65536"/>
                <a:gd name="T21" fmla="*/ 0 w 107"/>
                <a:gd name="T22" fmla="*/ 0 h 434"/>
                <a:gd name="T23" fmla="*/ 107 w 107"/>
                <a:gd name="T24" fmla="*/ 434 h 4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7" h="434">
                  <a:moveTo>
                    <a:pt x="107" y="434"/>
                  </a:moveTo>
                  <a:cubicBezTo>
                    <a:pt x="99" y="414"/>
                    <a:pt x="92" y="395"/>
                    <a:pt x="84" y="368"/>
                  </a:cubicBezTo>
                  <a:cubicBezTo>
                    <a:pt x="76" y="341"/>
                    <a:pt x="68" y="304"/>
                    <a:pt x="60" y="273"/>
                  </a:cubicBezTo>
                  <a:cubicBezTo>
                    <a:pt x="52" y="242"/>
                    <a:pt x="42" y="207"/>
                    <a:pt x="36" y="184"/>
                  </a:cubicBezTo>
                  <a:cubicBezTo>
                    <a:pt x="30" y="161"/>
                    <a:pt x="27" y="159"/>
                    <a:pt x="24" y="137"/>
                  </a:cubicBezTo>
                  <a:cubicBezTo>
                    <a:pt x="21" y="115"/>
                    <a:pt x="22" y="77"/>
                    <a:pt x="18" y="54"/>
                  </a:cubicBezTo>
                  <a:cubicBezTo>
                    <a:pt x="14" y="31"/>
                    <a:pt x="7" y="12"/>
                    <a:pt x="0" y="0"/>
                  </a:cubicBezTo>
                </a:path>
              </a:pathLst>
            </a:custGeom>
            <a:noFill/>
            <a:ln w="28575" cmpd="sng">
              <a:solidFill>
                <a:srgbClr val="FF3300"/>
              </a:solidFill>
              <a:round/>
              <a:headEnd/>
              <a:tailEnd/>
            </a:ln>
          </p:spPr>
          <p:txBody>
            <a:bodyPr/>
            <a:lstStyle/>
            <a:p>
              <a:endParaRPr lang="en-US"/>
            </a:p>
          </p:txBody>
        </p:sp>
      </p:grpSp>
      <p:grpSp>
        <p:nvGrpSpPr>
          <p:cNvPr id="108588" name="Group 44"/>
          <p:cNvGrpSpPr>
            <a:grpSpLocks/>
          </p:cNvGrpSpPr>
          <p:nvPr/>
        </p:nvGrpSpPr>
        <p:grpSpPr bwMode="auto">
          <a:xfrm>
            <a:off x="5135563" y="2779713"/>
            <a:ext cx="1096962" cy="228600"/>
            <a:chOff x="3442" y="2930"/>
            <a:chExt cx="691" cy="259"/>
          </a:xfrm>
        </p:grpSpPr>
        <p:sp>
          <p:nvSpPr>
            <p:cNvPr id="91316" name="AutoShape 45"/>
            <p:cNvSpPr>
              <a:spLocks noChangeArrowheads="1"/>
            </p:cNvSpPr>
            <p:nvPr/>
          </p:nvSpPr>
          <p:spPr bwMode="auto">
            <a:xfrm rot="-5400000">
              <a:off x="3846" y="2901"/>
              <a:ext cx="252" cy="323"/>
            </a:xfrm>
            <a:custGeom>
              <a:avLst/>
              <a:gdLst>
                <a:gd name="T0" fmla="*/ 176 w 21600"/>
                <a:gd name="T1" fmla="*/ 0 h 21600"/>
                <a:gd name="T2" fmla="*/ 176 w 21600"/>
                <a:gd name="T3" fmla="*/ 182 h 21600"/>
                <a:gd name="T4" fmla="*/ 38 w 21600"/>
                <a:gd name="T5" fmla="*/ 323 h 21600"/>
                <a:gd name="T6" fmla="*/ 252 w 21600"/>
                <a:gd name="T7" fmla="*/ 91 h 21600"/>
                <a:gd name="T8" fmla="*/ 17694720 60000 65536"/>
                <a:gd name="T9" fmla="*/ 5898240 60000 65536"/>
                <a:gd name="T10" fmla="*/ 5898240 60000 65536"/>
                <a:gd name="T11" fmla="*/ 0 60000 65536"/>
                <a:gd name="T12" fmla="*/ 12429 w 21600"/>
                <a:gd name="T13" fmla="*/ 2942 h 21600"/>
                <a:gd name="T14" fmla="*/ 18257 w 21600"/>
                <a:gd name="T15" fmla="*/ 9228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FF3300"/>
            </a:solidFill>
            <a:ln w="9525">
              <a:solidFill>
                <a:schemeClr val="tx1"/>
              </a:solidFill>
              <a:miter lim="800000"/>
              <a:headEnd/>
              <a:tailEnd/>
            </a:ln>
          </p:spPr>
          <p:txBody>
            <a:bodyPr wrap="none" anchor="ctr"/>
            <a:lstStyle/>
            <a:p>
              <a:endParaRPr lang="en-US"/>
            </a:p>
          </p:txBody>
        </p:sp>
        <p:sp>
          <p:nvSpPr>
            <p:cNvPr id="91317" name="AutoShape 46"/>
            <p:cNvSpPr>
              <a:spLocks noChangeArrowheads="1"/>
            </p:cNvSpPr>
            <p:nvPr/>
          </p:nvSpPr>
          <p:spPr bwMode="auto">
            <a:xfrm rot="5400000" flipH="1">
              <a:off x="3478" y="2894"/>
              <a:ext cx="252" cy="323"/>
            </a:xfrm>
            <a:custGeom>
              <a:avLst/>
              <a:gdLst>
                <a:gd name="T0" fmla="*/ 176 w 21600"/>
                <a:gd name="T1" fmla="*/ 0 h 21600"/>
                <a:gd name="T2" fmla="*/ 176 w 21600"/>
                <a:gd name="T3" fmla="*/ 182 h 21600"/>
                <a:gd name="T4" fmla="*/ 38 w 21600"/>
                <a:gd name="T5" fmla="*/ 323 h 21600"/>
                <a:gd name="T6" fmla="*/ 252 w 21600"/>
                <a:gd name="T7" fmla="*/ 91 h 21600"/>
                <a:gd name="T8" fmla="*/ 17694720 60000 65536"/>
                <a:gd name="T9" fmla="*/ 5898240 60000 65536"/>
                <a:gd name="T10" fmla="*/ 5898240 60000 65536"/>
                <a:gd name="T11" fmla="*/ 0 60000 65536"/>
                <a:gd name="T12" fmla="*/ 12429 w 21600"/>
                <a:gd name="T13" fmla="*/ 2942 h 21600"/>
                <a:gd name="T14" fmla="*/ 18257 w 21600"/>
                <a:gd name="T15" fmla="*/ 9228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FF3300"/>
            </a:solidFill>
            <a:ln w="9525">
              <a:solidFill>
                <a:schemeClr val="tx1"/>
              </a:solidFill>
              <a:miter lim="800000"/>
              <a:headEnd/>
              <a:tailEnd/>
            </a:ln>
          </p:spPr>
          <p:txBody>
            <a:bodyPr wrap="none" anchor="ctr"/>
            <a:lstStyle/>
            <a:p>
              <a:endParaRPr lang="en-US"/>
            </a:p>
          </p:txBody>
        </p:sp>
      </p:grpSp>
      <p:grpSp>
        <p:nvGrpSpPr>
          <p:cNvPr id="91159" name="Group 205"/>
          <p:cNvGrpSpPr>
            <a:grpSpLocks/>
          </p:cNvGrpSpPr>
          <p:nvPr/>
        </p:nvGrpSpPr>
        <p:grpSpPr bwMode="auto">
          <a:xfrm>
            <a:off x="2030413" y="1509713"/>
            <a:ext cx="5184775" cy="1274762"/>
            <a:chOff x="1895" y="815"/>
            <a:chExt cx="3266" cy="803"/>
          </a:xfrm>
        </p:grpSpPr>
        <p:grpSp>
          <p:nvGrpSpPr>
            <p:cNvPr id="91161" name="Group 48"/>
            <p:cNvGrpSpPr>
              <a:grpSpLocks/>
            </p:cNvGrpSpPr>
            <p:nvPr/>
          </p:nvGrpSpPr>
          <p:grpSpPr bwMode="auto">
            <a:xfrm>
              <a:off x="4685" y="1001"/>
              <a:ext cx="476" cy="617"/>
              <a:chOff x="4757" y="1415"/>
              <a:chExt cx="476" cy="617"/>
            </a:xfrm>
          </p:grpSpPr>
          <p:grpSp>
            <p:nvGrpSpPr>
              <p:cNvPr id="91292" name="Group 49"/>
              <p:cNvGrpSpPr>
                <a:grpSpLocks/>
              </p:cNvGrpSpPr>
              <p:nvPr/>
            </p:nvGrpSpPr>
            <p:grpSpPr bwMode="auto">
              <a:xfrm>
                <a:off x="4757" y="1417"/>
                <a:ext cx="244" cy="615"/>
                <a:chOff x="1133" y="1419"/>
                <a:chExt cx="244" cy="615"/>
              </a:xfrm>
            </p:grpSpPr>
            <p:sp>
              <p:nvSpPr>
                <p:cNvPr id="91311" name="Freeform 50"/>
                <p:cNvSpPr>
                  <a:spLocks/>
                </p:cNvSpPr>
                <p:nvPr/>
              </p:nvSpPr>
              <p:spPr bwMode="auto">
                <a:xfrm>
                  <a:off x="1185" y="1452"/>
                  <a:ext cx="162" cy="582"/>
                </a:xfrm>
                <a:custGeom>
                  <a:avLst/>
                  <a:gdLst>
                    <a:gd name="T0" fmla="*/ 54 w 162"/>
                    <a:gd name="T1" fmla="*/ 582 h 582"/>
                    <a:gd name="T2" fmla="*/ 42 w 162"/>
                    <a:gd name="T3" fmla="*/ 507 h 582"/>
                    <a:gd name="T4" fmla="*/ 51 w 162"/>
                    <a:gd name="T5" fmla="*/ 423 h 582"/>
                    <a:gd name="T6" fmla="*/ 42 w 162"/>
                    <a:gd name="T7" fmla="*/ 390 h 582"/>
                    <a:gd name="T8" fmla="*/ 33 w 162"/>
                    <a:gd name="T9" fmla="*/ 378 h 582"/>
                    <a:gd name="T10" fmla="*/ 48 w 162"/>
                    <a:gd name="T11" fmla="*/ 330 h 582"/>
                    <a:gd name="T12" fmla="*/ 57 w 162"/>
                    <a:gd name="T13" fmla="*/ 297 h 582"/>
                    <a:gd name="T14" fmla="*/ 63 w 162"/>
                    <a:gd name="T15" fmla="*/ 231 h 582"/>
                    <a:gd name="T16" fmla="*/ 57 w 162"/>
                    <a:gd name="T17" fmla="*/ 147 h 582"/>
                    <a:gd name="T18" fmla="*/ 21 w 162"/>
                    <a:gd name="T19" fmla="*/ 99 h 582"/>
                    <a:gd name="T20" fmla="*/ 0 w 162"/>
                    <a:gd name="T21" fmla="*/ 72 h 582"/>
                    <a:gd name="T22" fmla="*/ 54 w 162"/>
                    <a:gd name="T23" fmla="*/ 105 h 582"/>
                    <a:gd name="T24" fmla="*/ 57 w 162"/>
                    <a:gd name="T25" fmla="*/ 87 h 582"/>
                    <a:gd name="T26" fmla="*/ 63 w 162"/>
                    <a:gd name="T27" fmla="*/ 0 h 582"/>
                    <a:gd name="T28" fmla="*/ 78 w 162"/>
                    <a:gd name="T29" fmla="*/ 39 h 582"/>
                    <a:gd name="T30" fmla="*/ 78 w 162"/>
                    <a:gd name="T31" fmla="*/ 126 h 582"/>
                    <a:gd name="T32" fmla="*/ 90 w 162"/>
                    <a:gd name="T33" fmla="*/ 72 h 582"/>
                    <a:gd name="T34" fmla="*/ 108 w 162"/>
                    <a:gd name="T35" fmla="*/ 72 h 582"/>
                    <a:gd name="T36" fmla="*/ 93 w 162"/>
                    <a:gd name="T37" fmla="*/ 135 h 582"/>
                    <a:gd name="T38" fmla="*/ 162 w 162"/>
                    <a:gd name="T39" fmla="*/ 84 h 582"/>
                    <a:gd name="T40" fmla="*/ 153 w 162"/>
                    <a:gd name="T41" fmla="*/ 120 h 582"/>
                    <a:gd name="T42" fmla="*/ 75 w 162"/>
                    <a:gd name="T43" fmla="*/ 165 h 582"/>
                    <a:gd name="T44" fmla="*/ 75 w 162"/>
                    <a:gd name="T45" fmla="*/ 300 h 582"/>
                    <a:gd name="T46" fmla="*/ 99 w 162"/>
                    <a:gd name="T47" fmla="*/ 381 h 582"/>
                    <a:gd name="T48" fmla="*/ 84 w 162"/>
                    <a:gd name="T49" fmla="*/ 414 h 582"/>
                    <a:gd name="T50" fmla="*/ 99 w 162"/>
                    <a:gd name="T51" fmla="*/ 453 h 582"/>
                    <a:gd name="T52" fmla="*/ 135 w 162"/>
                    <a:gd name="T53" fmla="*/ 486 h 582"/>
                    <a:gd name="T54" fmla="*/ 132 w 162"/>
                    <a:gd name="T55" fmla="*/ 510 h 582"/>
                    <a:gd name="T56" fmla="*/ 102 w 162"/>
                    <a:gd name="T57" fmla="*/ 468 h 582"/>
                    <a:gd name="T58" fmla="*/ 69 w 162"/>
                    <a:gd name="T59" fmla="*/ 414 h 582"/>
                    <a:gd name="T60" fmla="*/ 63 w 162"/>
                    <a:gd name="T61" fmla="*/ 456 h 582"/>
                    <a:gd name="T62" fmla="*/ 75 w 162"/>
                    <a:gd name="T63" fmla="*/ 492 h 582"/>
                    <a:gd name="T64" fmla="*/ 96 w 162"/>
                    <a:gd name="T65" fmla="*/ 513 h 582"/>
                    <a:gd name="T66" fmla="*/ 78 w 162"/>
                    <a:gd name="T67" fmla="*/ 519 h 582"/>
                    <a:gd name="T68" fmla="*/ 60 w 162"/>
                    <a:gd name="T69" fmla="*/ 486 h 582"/>
                    <a:gd name="T70" fmla="*/ 54 w 162"/>
                    <a:gd name="T71" fmla="*/ 522 h 582"/>
                    <a:gd name="T72" fmla="*/ 54 w 162"/>
                    <a:gd name="T73" fmla="*/ 582 h 58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2"/>
                    <a:gd name="T112" fmla="*/ 0 h 582"/>
                    <a:gd name="T113" fmla="*/ 162 w 162"/>
                    <a:gd name="T114" fmla="*/ 582 h 58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2" h="582">
                      <a:moveTo>
                        <a:pt x="54" y="582"/>
                      </a:moveTo>
                      <a:lnTo>
                        <a:pt x="42" y="507"/>
                      </a:lnTo>
                      <a:lnTo>
                        <a:pt x="51" y="423"/>
                      </a:lnTo>
                      <a:lnTo>
                        <a:pt x="42" y="390"/>
                      </a:lnTo>
                      <a:lnTo>
                        <a:pt x="33" y="378"/>
                      </a:ln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84" y="414"/>
                      </a:lnTo>
                      <a:lnTo>
                        <a:pt x="99" y="453"/>
                      </a:lnTo>
                      <a:lnTo>
                        <a:pt x="135" y="486"/>
                      </a:lnTo>
                      <a:lnTo>
                        <a:pt x="132" y="510"/>
                      </a:lnTo>
                      <a:lnTo>
                        <a:pt x="102" y="468"/>
                      </a:lnTo>
                      <a:lnTo>
                        <a:pt x="69" y="414"/>
                      </a:lnTo>
                      <a:lnTo>
                        <a:pt x="63" y="456"/>
                      </a:lnTo>
                      <a:lnTo>
                        <a:pt x="75" y="492"/>
                      </a:lnTo>
                      <a:lnTo>
                        <a:pt x="96" y="513"/>
                      </a:lnTo>
                      <a:lnTo>
                        <a:pt x="78" y="519"/>
                      </a:lnTo>
                      <a:lnTo>
                        <a:pt x="60" y="486"/>
                      </a:lnTo>
                      <a:lnTo>
                        <a:pt x="54" y="522"/>
                      </a:lnTo>
                      <a:lnTo>
                        <a:pt x="54" y="582"/>
                      </a:lnTo>
                      <a:close/>
                    </a:path>
                  </a:pathLst>
                </a:custGeom>
                <a:solidFill>
                  <a:schemeClr val="bg2"/>
                </a:solidFill>
                <a:ln w="9525">
                  <a:noFill/>
                  <a:round/>
                  <a:headEnd/>
                  <a:tailEnd/>
                </a:ln>
              </p:spPr>
              <p:txBody>
                <a:bodyPr/>
                <a:lstStyle/>
                <a:p>
                  <a:endParaRPr lang="en-US"/>
                </a:p>
              </p:txBody>
            </p:sp>
            <p:sp>
              <p:nvSpPr>
                <p:cNvPr id="91312" name="Freeform 51"/>
                <p:cNvSpPr>
                  <a:spLocks/>
                </p:cNvSpPr>
                <p:nvPr/>
              </p:nvSpPr>
              <p:spPr bwMode="auto">
                <a:xfrm>
                  <a:off x="1133" y="1484"/>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313" name="Freeform 52"/>
                <p:cNvSpPr>
                  <a:spLocks/>
                </p:cNvSpPr>
                <p:nvPr/>
              </p:nvSpPr>
              <p:spPr bwMode="auto">
                <a:xfrm>
                  <a:off x="1176" y="1419"/>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314" name="Freeform 53"/>
                <p:cNvSpPr>
                  <a:spLocks/>
                </p:cNvSpPr>
                <p:nvPr/>
              </p:nvSpPr>
              <p:spPr bwMode="auto">
                <a:xfrm>
                  <a:off x="1249" y="1477"/>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315" name="Freeform 54"/>
                <p:cNvSpPr>
                  <a:spLocks/>
                </p:cNvSpPr>
                <p:nvPr/>
              </p:nvSpPr>
              <p:spPr bwMode="auto">
                <a:xfrm>
                  <a:off x="1283" y="1547"/>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91293" name="Group 55"/>
              <p:cNvGrpSpPr>
                <a:grpSpLocks/>
              </p:cNvGrpSpPr>
              <p:nvPr/>
            </p:nvGrpSpPr>
            <p:grpSpPr bwMode="auto">
              <a:xfrm>
                <a:off x="4896" y="1415"/>
                <a:ext cx="244" cy="414"/>
                <a:chOff x="1164" y="1150"/>
                <a:chExt cx="244" cy="414"/>
              </a:xfrm>
            </p:grpSpPr>
            <p:sp>
              <p:nvSpPr>
                <p:cNvPr id="91306" name="Freeform 56"/>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307" name="Freeform 57"/>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308" name="Freeform 58"/>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309" name="Freeform 59"/>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310" name="Freeform 60"/>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91294" name="Group 61"/>
              <p:cNvGrpSpPr>
                <a:grpSpLocks/>
              </p:cNvGrpSpPr>
              <p:nvPr/>
            </p:nvGrpSpPr>
            <p:grpSpPr bwMode="auto">
              <a:xfrm>
                <a:off x="4881" y="1612"/>
                <a:ext cx="118" cy="183"/>
                <a:chOff x="1164" y="1150"/>
                <a:chExt cx="244" cy="414"/>
              </a:xfrm>
            </p:grpSpPr>
            <p:sp>
              <p:nvSpPr>
                <p:cNvPr id="91301" name="Freeform 62"/>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302" name="Freeform 63"/>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303" name="Freeform 64"/>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304" name="Freeform 65"/>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305" name="Freeform 66"/>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91295" name="Group 67"/>
              <p:cNvGrpSpPr>
                <a:grpSpLocks/>
              </p:cNvGrpSpPr>
              <p:nvPr/>
            </p:nvGrpSpPr>
            <p:grpSpPr bwMode="auto">
              <a:xfrm>
                <a:off x="5028" y="1469"/>
                <a:ext cx="205" cy="342"/>
                <a:chOff x="1164" y="1150"/>
                <a:chExt cx="244" cy="414"/>
              </a:xfrm>
            </p:grpSpPr>
            <p:sp>
              <p:nvSpPr>
                <p:cNvPr id="91296" name="Freeform 68"/>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297" name="Freeform 69"/>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98" name="Freeform 70"/>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99" name="Freeform 71"/>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300" name="Freeform 72"/>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91162" name="Group 73"/>
            <p:cNvGrpSpPr>
              <a:grpSpLocks/>
            </p:cNvGrpSpPr>
            <p:nvPr/>
          </p:nvGrpSpPr>
          <p:grpSpPr bwMode="auto">
            <a:xfrm>
              <a:off x="1895" y="815"/>
              <a:ext cx="216" cy="356"/>
              <a:chOff x="2075" y="863"/>
              <a:chExt cx="216" cy="356"/>
            </a:xfrm>
          </p:grpSpPr>
          <p:grpSp>
            <p:nvGrpSpPr>
              <p:cNvPr id="91280" name="Group 74"/>
              <p:cNvGrpSpPr>
                <a:grpSpLocks/>
              </p:cNvGrpSpPr>
              <p:nvPr/>
            </p:nvGrpSpPr>
            <p:grpSpPr bwMode="auto">
              <a:xfrm>
                <a:off x="2173" y="1036"/>
                <a:ext cx="118" cy="183"/>
                <a:chOff x="1164" y="1150"/>
                <a:chExt cx="244" cy="414"/>
              </a:xfrm>
            </p:grpSpPr>
            <p:sp>
              <p:nvSpPr>
                <p:cNvPr id="91287" name="Freeform 7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288" name="Freeform 7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89" name="Freeform 7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90" name="Freeform 7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91" name="Freeform 7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91281" name="Group 80"/>
              <p:cNvGrpSpPr>
                <a:grpSpLocks/>
              </p:cNvGrpSpPr>
              <p:nvPr/>
            </p:nvGrpSpPr>
            <p:grpSpPr bwMode="auto">
              <a:xfrm>
                <a:off x="2075" y="863"/>
                <a:ext cx="205" cy="342"/>
                <a:chOff x="1164" y="1150"/>
                <a:chExt cx="244" cy="414"/>
              </a:xfrm>
            </p:grpSpPr>
            <p:sp>
              <p:nvSpPr>
                <p:cNvPr id="91282" name="Freeform 81"/>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283" name="Freeform 82"/>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84" name="Freeform 83"/>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85" name="Freeform 84"/>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86" name="Freeform 85"/>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91163" name="Group 86"/>
            <p:cNvGrpSpPr>
              <a:grpSpLocks/>
            </p:cNvGrpSpPr>
            <p:nvPr/>
          </p:nvGrpSpPr>
          <p:grpSpPr bwMode="auto">
            <a:xfrm>
              <a:off x="1974" y="937"/>
              <a:ext cx="216" cy="356"/>
              <a:chOff x="2075" y="863"/>
              <a:chExt cx="216" cy="356"/>
            </a:xfrm>
          </p:grpSpPr>
          <p:grpSp>
            <p:nvGrpSpPr>
              <p:cNvPr id="91268" name="Group 87"/>
              <p:cNvGrpSpPr>
                <a:grpSpLocks/>
              </p:cNvGrpSpPr>
              <p:nvPr/>
            </p:nvGrpSpPr>
            <p:grpSpPr bwMode="auto">
              <a:xfrm>
                <a:off x="2173" y="1036"/>
                <a:ext cx="118" cy="183"/>
                <a:chOff x="1164" y="1150"/>
                <a:chExt cx="244" cy="414"/>
              </a:xfrm>
            </p:grpSpPr>
            <p:sp>
              <p:nvSpPr>
                <p:cNvPr id="91275" name="Freeform 88"/>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276" name="Freeform 89"/>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77" name="Freeform 90"/>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78" name="Freeform 91"/>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79" name="Freeform 92"/>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91269" name="Group 93"/>
              <p:cNvGrpSpPr>
                <a:grpSpLocks/>
              </p:cNvGrpSpPr>
              <p:nvPr/>
            </p:nvGrpSpPr>
            <p:grpSpPr bwMode="auto">
              <a:xfrm>
                <a:off x="2075" y="863"/>
                <a:ext cx="205" cy="342"/>
                <a:chOff x="1164" y="1150"/>
                <a:chExt cx="244" cy="414"/>
              </a:xfrm>
            </p:grpSpPr>
            <p:sp>
              <p:nvSpPr>
                <p:cNvPr id="91270" name="Freeform 94"/>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271" name="Freeform 95"/>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72" name="Freeform 96"/>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73" name="Freeform 97"/>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74" name="Freeform 98"/>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91164" name="Group 99"/>
            <p:cNvGrpSpPr>
              <a:grpSpLocks/>
            </p:cNvGrpSpPr>
            <p:nvPr/>
          </p:nvGrpSpPr>
          <p:grpSpPr bwMode="auto">
            <a:xfrm>
              <a:off x="2117" y="1087"/>
              <a:ext cx="216" cy="356"/>
              <a:chOff x="2075" y="863"/>
              <a:chExt cx="216" cy="356"/>
            </a:xfrm>
          </p:grpSpPr>
          <p:grpSp>
            <p:nvGrpSpPr>
              <p:cNvPr id="91256" name="Group 100"/>
              <p:cNvGrpSpPr>
                <a:grpSpLocks/>
              </p:cNvGrpSpPr>
              <p:nvPr/>
            </p:nvGrpSpPr>
            <p:grpSpPr bwMode="auto">
              <a:xfrm>
                <a:off x="2173" y="1036"/>
                <a:ext cx="118" cy="183"/>
                <a:chOff x="1164" y="1150"/>
                <a:chExt cx="244" cy="414"/>
              </a:xfrm>
            </p:grpSpPr>
            <p:sp>
              <p:nvSpPr>
                <p:cNvPr id="91263" name="Freeform 101"/>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264" name="Freeform 102"/>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65" name="Freeform 103"/>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66" name="Freeform 104"/>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67" name="Freeform 105"/>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91257" name="Group 106"/>
              <p:cNvGrpSpPr>
                <a:grpSpLocks/>
              </p:cNvGrpSpPr>
              <p:nvPr/>
            </p:nvGrpSpPr>
            <p:grpSpPr bwMode="auto">
              <a:xfrm>
                <a:off x="2075" y="863"/>
                <a:ext cx="205" cy="342"/>
                <a:chOff x="1164" y="1150"/>
                <a:chExt cx="244" cy="414"/>
              </a:xfrm>
            </p:grpSpPr>
            <p:sp>
              <p:nvSpPr>
                <p:cNvPr id="91258" name="Freeform 107"/>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259" name="Freeform 108"/>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60" name="Freeform 109"/>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61" name="Freeform 110"/>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62" name="Freeform 111"/>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91165" name="Group 112"/>
            <p:cNvGrpSpPr>
              <a:grpSpLocks/>
            </p:cNvGrpSpPr>
            <p:nvPr/>
          </p:nvGrpSpPr>
          <p:grpSpPr bwMode="auto">
            <a:xfrm>
              <a:off x="2217" y="971"/>
              <a:ext cx="216" cy="356"/>
              <a:chOff x="2075" y="863"/>
              <a:chExt cx="216" cy="356"/>
            </a:xfrm>
          </p:grpSpPr>
          <p:grpSp>
            <p:nvGrpSpPr>
              <p:cNvPr id="91244" name="Group 113"/>
              <p:cNvGrpSpPr>
                <a:grpSpLocks/>
              </p:cNvGrpSpPr>
              <p:nvPr/>
            </p:nvGrpSpPr>
            <p:grpSpPr bwMode="auto">
              <a:xfrm>
                <a:off x="2173" y="1036"/>
                <a:ext cx="118" cy="183"/>
                <a:chOff x="1164" y="1150"/>
                <a:chExt cx="244" cy="414"/>
              </a:xfrm>
            </p:grpSpPr>
            <p:sp>
              <p:nvSpPr>
                <p:cNvPr id="91251" name="Freeform 114"/>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252" name="Freeform 115"/>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53" name="Freeform 116"/>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54" name="Freeform 117"/>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55" name="Freeform 118"/>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91245" name="Group 119"/>
              <p:cNvGrpSpPr>
                <a:grpSpLocks/>
              </p:cNvGrpSpPr>
              <p:nvPr/>
            </p:nvGrpSpPr>
            <p:grpSpPr bwMode="auto">
              <a:xfrm>
                <a:off x="2075" y="863"/>
                <a:ext cx="205" cy="342"/>
                <a:chOff x="1164" y="1150"/>
                <a:chExt cx="244" cy="414"/>
              </a:xfrm>
            </p:grpSpPr>
            <p:sp>
              <p:nvSpPr>
                <p:cNvPr id="91246" name="Freeform 120"/>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247" name="Freeform 121"/>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48" name="Freeform 122"/>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49" name="Freeform 123"/>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50" name="Freeform 124"/>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91166" name="Group 125"/>
            <p:cNvGrpSpPr>
              <a:grpSpLocks/>
            </p:cNvGrpSpPr>
            <p:nvPr/>
          </p:nvGrpSpPr>
          <p:grpSpPr bwMode="auto">
            <a:xfrm>
              <a:off x="2237" y="1201"/>
              <a:ext cx="216" cy="356"/>
              <a:chOff x="2075" y="863"/>
              <a:chExt cx="216" cy="356"/>
            </a:xfrm>
          </p:grpSpPr>
          <p:grpSp>
            <p:nvGrpSpPr>
              <p:cNvPr id="91232" name="Group 126"/>
              <p:cNvGrpSpPr>
                <a:grpSpLocks/>
              </p:cNvGrpSpPr>
              <p:nvPr/>
            </p:nvGrpSpPr>
            <p:grpSpPr bwMode="auto">
              <a:xfrm>
                <a:off x="2173" y="1036"/>
                <a:ext cx="118" cy="183"/>
                <a:chOff x="1164" y="1150"/>
                <a:chExt cx="244" cy="414"/>
              </a:xfrm>
            </p:grpSpPr>
            <p:sp>
              <p:nvSpPr>
                <p:cNvPr id="91239" name="Freeform 127"/>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240" name="Freeform 128"/>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41" name="Freeform 129"/>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42" name="Freeform 130"/>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43" name="Freeform 131"/>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91233" name="Group 132"/>
              <p:cNvGrpSpPr>
                <a:grpSpLocks/>
              </p:cNvGrpSpPr>
              <p:nvPr/>
            </p:nvGrpSpPr>
            <p:grpSpPr bwMode="auto">
              <a:xfrm>
                <a:off x="2075" y="863"/>
                <a:ext cx="205" cy="342"/>
                <a:chOff x="1164" y="1150"/>
                <a:chExt cx="244" cy="414"/>
              </a:xfrm>
            </p:grpSpPr>
            <p:sp>
              <p:nvSpPr>
                <p:cNvPr id="91234" name="Freeform 133"/>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235" name="Freeform 134"/>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36" name="Freeform 135"/>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37" name="Freeform 136"/>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38" name="Freeform 137"/>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91167" name="Group 138"/>
            <p:cNvGrpSpPr>
              <a:grpSpLocks/>
            </p:cNvGrpSpPr>
            <p:nvPr/>
          </p:nvGrpSpPr>
          <p:grpSpPr bwMode="auto">
            <a:xfrm>
              <a:off x="2302" y="847"/>
              <a:ext cx="216" cy="356"/>
              <a:chOff x="2075" y="863"/>
              <a:chExt cx="216" cy="356"/>
            </a:xfrm>
          </p:grpSpPr>
          <p:grpSp>
            <p:nvGrpSpPr>
              <p:cNvPr id="91220" name="Group 139"/>
              <p:cNvGrpSpPr>
                <a:grpSpLocks/>
              </p:cNvGrpSpPr>
              <p:nvPr/>
            </p:nvGrpSpPr>
            <p:grpSpPr bwMode="auto">
              <a:xfrm>
                <a:off x="2173" y="1036"/>
                <a:ext cx="118" cy="183"/>
                <a:chOff x="1164" y="1150"/>
                <a:chExt cx="244" cy="414"/>
              </a:xfrm>
            </p:grpSpPr>
            <p:sp>
              <p:nvSpPr>
                <p:cNvPr id="91227" name="Freeform 140"/>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228" name="Freeform 141"/>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29" name="Freeform 142"/>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30" name="Freeform 143"/>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31" name="Freeform 144"/>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91221" name="Group 145"/>
              <p:cNvGrpSpPr>
                <a:grpSpLocks/>
              </p:cNvGrpSpPr>
              <p:nvPr/>
            </p:nvGrpSpPr>
            <p:grpSpPr bwMode="auto">
              <a:xfrm>
                <a:off x="2075" y="863"/>
                <a:ext cx="205" cy="342"/>
                <a:chOff x="1164" y="1150"/>
                <a:chExt cx="244" cy="414"/>
              </a:xfrm>
            </p:grpSpPr>
            <p:sp>
              <p:nvSpPr>
                <p:cNvPr id="91222" name="Freeform 146"/>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223" name="Freeform 147"/>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24" name="Freeform 148"/>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25" name="Freeform 149"/>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26" name="Freeform 150"/>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91168" name="Group 151"/>
            <p:cNvGrpSpPr>
              <a:grpSpLocks/>
            </p:cNvGrpSpPr>
            <p:nvPr/>
          </p:nvGrpSpPr>
          <p:grpSpPr bwMode="auto">
            <a:xfrm>
              <a:off x="2106" y="832"/>
              <a:ext cx="216" cy="356"/>
              <a:chOff x="2075" y="863"/>
              <a:chExt cx="216" cy="356"/>
            </a:xfrm>
          </p:grpSpPr>
          <p:grpSp>
            <p:nvGrpSpPr>
              <p:cNvPr id="91208" name="Group 152"/>
              <p:cNvGrpSpPr>
                <a:grpSpLocks/>
              </p:cNvGrpSpPr>
              <p:nvPr/>
            </p:nvGrpSpPr>
            <p:grpSpPr bwMode="auto">
              <a:xfrm>
                <a:off x="2173" y="1036"/>
                <a:ext cx="118" cy="183"/>
                <a:chOff x="1164" y="1150"/>
                <a:chExt cx="244" cy="414"/>
              </a:xfrm>
            </p:grpSpPr>
            <p:sp>
              <p:nvSpPr>
                <p:cNvPr id="91215" name="Freeform 153"/>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216" name="Freeform 154"/>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17" name="Freeform 155"/>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18" name="Freeform 156"/>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19" name="Freeform 157"/>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91209" name="Group 158"/>
              <p:cNvGrpSpPr>
                <a:grpSpLocks/>
              </p:cNvGrpSpPr>
              <p:nvPr/>
            </p:nvGrpSpPr>
            <p:grpSpPr bwMode="auto">
              <a:xfrm>
                <a:off x="2075" y="863"/>
                <a:ext cx="205" cy="342"/>
                <a:chOff x="1164" y="1150"/>
                <a:chExt cx="244" cy="414"/>
              </a:xfrm>
            </p:grpSpPr>
            <p:sp>
              <p:nvSpPr>
                <p:cNvPr id="91210" name="Freeform 159"/>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211" name="Freeform 160"/>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12" name="Freeform 161"/>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13" name="Freeform 162"/>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14" name="Freeform 163"/>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91169" name="Group 164"/>
            <p:cNvGrpSpPr>
              <a:grpSpLocks/>
            </p:cNvGrpSpPr>
            <p:nvPr/>
          </p:nvGrpSpPr>
          <p:grpSpPr bwMode="auto">
            <a:xfrm>
              <a:off x="2355" y="1196"/>
              <a:ext cx="216" cy="356"/>
              <a:chOff x="2075" y="863"/>
              <a:chExt cx="216" cy="356"/>
            </a:xfrm>
          </p:grpSpPr>
          <p:grpSp>
            <p:nvGrpSpPr>
              <p:cNvPr id="91196" name="Group 165"/>
              <p:cNvGrpSpPr>
                <a:grpSpLocks/>
              </p:cNvGrpSpPr>
              <p:nvPr/>
            </p:nvGrpSpPr>
            <p:grpSpPr bwMode="auto">
              <a:xfrm>
                <a:off x="2173" y="1036"/>
                <a:ext cx="118" cy="183"/>
                <a:chOff x="1164" y="1150"/>
                <a:chExt cx="244" cy="414"/>
              </a:xfrm>
            </p:grpSpPr>
            <p:sp>
              <p:nvSpPr>
                <p:cNvPr id="91203" name="Freeform 166"/>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204" name="Freeform 167"/>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05" name="Freeform 168"/>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06" name="Freeform 169"/>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07" name="Freeform 170"/>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91197" name="Group 171"/>
              <p:cNvGrpSpPr>
                <a:grpSpLocks/>
              </p:cNvGrpSpPr>
              <p:nvPr/>
            </p:nvGrpSpPr>
            <p:grpSpPr bwMode="auto">
              <a:xfrm>
                <a:off x="2075" y="863"/>
                <a:ext cx="205" cy="342"/>
                <a:chOff x="1164" y="1150"/>
                <a:chExt cx="244" cy="414"/>
              </a:xfrm>
            </p:grpSpPr>
            <p:sp>
              <p:nvSpPr>
                <p:cNvPr id="91198" name="Freeform 172"/>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199" name="Freeform 173"/>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00" name="Freeform 174"/>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01" name="Freeform 175"/>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202" name="Freeform 176"/>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91170" name="Group 177"/>
            <p:cNvGrpSpPr>
              <a:grpSpLocks/>
            </p:cNvGrpSpPr>
            <p:nvPr/>
          </p:nvGrpSpPr>
          <p:grpSpPr bwMode="auto">
            <a:xfrm>
              <a:off x="2427" y="843"/>
              <a:ext cx="216" cy="356"/>
              <a:chOff x="2075" y="863"/>
              <a:chExt cx="216" cy="356"/>
            </a:xfrm>
          </p:grpSpPr>
          <p:grpSp>
            <p:nvGrpSpPr>
              <p:cNvPr id="91184" name="Group 178"/>
              <p:cNvGrpSpPr>
                <a:grpSpLocks/>
              </p:cNvGrpSpPr>
              <p:nvPr/>
            </p:nvGrpSpPr>
            <p:grpSpPr bwMode="auto">
              <a:xfrm>
                <a:off x="2173" y="1036"/>
                <a:ext cx="118" cy="183"/>
                <a:chOff x="1164" y="1150"/>
                <a:chExt cx="244" cy="414"/>
              </a:xfrm>
            </p:grpSpPr>
            <p:sp>
              <p:nvSpPr>
                <p:cNvPr id="91191" name="Freeform 179"/>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192" name="Freeform 180"/>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193" name="Freeform 181"/>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194" name="Freeform 182"/>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195" name="Freeform 183"/>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91185" name="Group 184"/>
              <p:cNvGrpSpPr>
                <a:grpSpLocks/>
              </p:cNvGrpSpPr>
              <p:nvPr/>
            </p:nvGrpSpPr>
            <p:grpSpPr bwMode="auto">
              <a:xfrm>
                <a:off x="2075" y="863"/>
                <a:ext cx="205" cy="342"/>
                <a:chOff x="1164" y="1150"/>
                <a:chExt cx="244" cy="414"/>
              </a:xfrm>
            </p:grpSpPr>
            <p:sp>
              <p:nvSpPr>
                <p:cNvPr id="91186" name="Freeform 185"/>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187" name="Freeform 186"/>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188" name="Freeform 187"/>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189" name="Freeform 188"/>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190" name="Freeform 189"/>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nvGrpSpPr>
            <p:cNvPr id="91171" name="Group 190"/>
            <p:cNvGrpSpPr>
              <a:grpSpLocks/>
            </p:cNvGrpSpPr>
            <p:nvPr/>
          </p:nvGrpSpPr>
          <p:grpSpPr bwMode="auto">
            <a:xfrm>
              <a:off x="2456" y="1123"/>
              <a:ext cx="216" cy="356"/>
              <a:chOff x="2075" y="863"/>
              <a:chExt cx="216" cy="356"/>
            </a:xfrm>
          </p:grpSpPr>
          <p:grpSp>
            <p:nvGrpSpPr>
              <p:cNvPr id="91172" name="Group 191"/>
              <p:cNvGrpSpPr>
                <a:grpSpLocks/>
              </p:cNvGrpSpPr>
              <p:nvPr/>
            </p:nvGrpSpPr>
            <p:grpSpPr bwMode="auto">
              <a:xfrm>
                <a:off x="2173" y="1036"/>
                <a:ext cx="118" cy="183"/>
                <a:chOff x="1164" y="1150"/>
                <a:chExt cx="244" cy="414"/>
              </a:xfrm>
            </p:grpSpPr>
            <p:sp>
              <p:nvSpPr>
                <p:cNvPr id="91179" name="Freeform 192"/>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180" name="Freeform 193"/>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181" name="Freeform 194"/>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182" name="Freeform 195"/>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183" name="Freeform 196"/>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nvGrpSpPr>
              <p:cNvPr id="91173" name="Group 197"/>
              <p:cNvGrpSpPr>
                <a:grpSpLocks/>
              </p:cNvGrpSpPr>
              <p:nvPr/>
            </p:nvGrpSpPr>
            <p:grpSpPr bwMode="auto">
              <a:xfrm>
                <a:off x="2075" y="863"/>
                <a:ext cx="205" cy="342"/>
                <a:chOff x="1164" y="1150"/>
                <a:chExt cx="244" cy="414"/>
              </a:xfrm>
            </p:grpSpPr>
            <p:sp>
              <p:nvSpPr>
                <p:cNvPr id="91174" name="Freeform 198"/>
                <p:cNvSpPr>
                  <a:spLocks/>
                </p:cNvSpPr>
                <p:nvPr/>
              </p:nvSpPr>
              <p:spPr bwMode="auto">
                <a:xfrm>
                  <a:off x="1216" y="1183"/>
                  <a:ext cx="162" cy="381"/>
                </a:xfrm>
                <a:custGeom>
                  <a:avLst/>
                  <a:gdLst>
                    <a:gd name="T0" fmla="*/ 33 w 162"/>
                    <a:gd name="T1" fmla="*/ 378 h 381"/>
                    <a:gd name="T2" fmla="*/ 48 w 162"/>
                    <a:gd name="T3" fmla="*/ 330 h 381"/>
                    <a:gd name="T4" fmla="*/ 57 w 162"/>
                    <a:gd name="T5" fmla="*/ 297 h 381"/>
                    <a:gd name="T6" fmla="*/ 63 w 162"/>
                    <a:gd name="T7" fmla="*/ 231 h 381"/>
                    <a:gd name="T8" fmla="*/ 57 w 162"/>
                    <a:gd name="T9" fmla="*/ 147 h 381"/>
                    <a:gd name="T10" fmla="*/ 21 w 162"/>
                    <a:gd name="T11" fmla="*/ 99 h 381"/>
                    <a:gd name="T12" fmla="*/ 0 w 162"/>
                    <a:gd name="T13" fmla="*/ 72 h 381"/>
                    <a:gd name="T14" fmla="*/ 54 w 162"/>
                    <a:gd name="T15" fmla="*/ 105 h 381"/>
                    <a:gd name="T16" fmla="*/ 57 w 162"/>
                    <a:gd name="T17" fmla="*/ 87 h 381"/>
                    <a:gd name="T18" fmla="*/ 63 w 162"/>
                    <a:gd name="T19" fmla="*/ 0 h 381"/>
                    <a:gd name="T20" fmla="*/ 78 w 162"/>
                    <a:gd name="T21" fmla="*/ 39 h 381"/>
                    <a:gd name="T22" fmla="*/ 78 w 162"/>
                    <a:gd name="T23" fmla="*/ 126 h 381"/>
                    <a:gd name="T24" fmla="*/ 90 w 162"/>
                    <a:gd name="T25" fmla="*/ 72 h 381"/>
                    <a:gd name="T26" fmla="*/ 108 w 162"/>
                    <a:gd name="T27" fmla="*/ 72 h 381"/>
                    <a:gd name="T28" fmla="*/ 93 w 162"/>
                    <a:gd name="T29" fmla="*/ 135 h 381"/>
                    <a:gd name="T30" fmla="*/ 162 w 162"/>
                    <a:gd name="T31" fmla="*/ 84 h 381"/>
                    <a:gd name="T32" fmla="*/ 153 w 162"/>
                    <a:gd name="T33" fmla="*/ 120 h 381"/>
                    <a:gd name="T34" fmla="*/ 75 w 162"/>
                    <a:gd name="T35" fmla="*/ 165 h 381"/>
                    <a:gd name="T36" fmla="*/ 75 w 162"/>
                    <a:gd name="T37" fmla="*/ 300 h 381"/>
                    <a:gd name="T38" fmla="*/ 99 w 162"/>
                    <a:gd name="T39" fmla="*/ 381 h 381"/>
                    <a:gd name="T40" fmla="*/ 33 w 162"/>
                    <a:gd name="T41" fmla="*/ 378 h 3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2"/>
                    <a:gd name="T64" fmla="*/ 0 h 381"/>
                    <a:gd name="T65" fmla="*/ 162 w 162"/>
                    <a:gd name="T66" fmla="*/ 381 h 3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2" h="381">
                      <a:moveTo>
                        <a:pt x="33" y="378"/>
                      </a:moveTo>
                      <a:lnTo>
                        <a:pt x="48" y="330"/>
                      </a:lnTo>
                      <a:lnTo>
                        <a:pt x="57" y="297"/>
                      </a:lnTo>
                      <a:lnTo>
                        <a:pt x="63" y="231"/>
                      </a:lnTo>
                      <a:lnTo>
                        <a:pt x="57" y="147"/>
                      </a:lnTo>
                      <a:lnTo>
                        <a:pt x="21" y="99"/>
                      </a:lnTo>
                      <a:lnTo>
                        <a:pt x="0" y="72"/>
                      </a:lnTo>
                      <a:lnTo>
                        <a:pt x="54" y="105"/>
                      </a:lnTo>
                      <a:lnTo>
                        <a:pt x="57" y="87"/>
                      </a:lnTo>
                      <a:lnTo>
                        <a:pt x="63" y="0"/>
                      </a:lnTo>
                      <a:lnTo>
                        <a:pt x="78" y="39"/>
                      </a:lnTo>
                      <a:lnTo>
                        <a:pt x="78" y="126"/>
                      </a:lnTo>
                      <a:lnTo>
                        <a:pt x="90" y="72"/>
                      </a:lnTo>
                      <a:lnTo>
                        <a:pt x="108" y="72"/>
                      </a:lnTo>
                      <a:lnTo>
                        <a:pt x="93" y="135"/>
                      </a:lnTo>
                      <a:lnTo>
                        <a:pt x="162" y="84"/>
                      </a:lnTo>
                      <a:lnTo>
                        <a:pt x="153" y="120"/>
                      </a:lnTo>
                      <a:lnTo>
                        <a:pt x="75" y="165"/>
                      </a:lnTo>
                      <a:lnTo>
                        <a:pt x="75" y="300"/>
                      </a:lnTo>
                      <a:lnTo>
                        <a:pt x="99" y="381"/>
                      </a:lnTo>
                      <a:lnTo>
                        <a:pt x="33" y="378"/>
                      </a:lnTo>
                      <a:close/>
                    </a:path>
                  </a:pathLst>
                </a:custGeom>
                <a:solidFill>
                  <a:schemeClr val="bg2"/>
                </a:solidFill>
                <a:ln w="9525">
                  <a:noFill/>
                  <a:round/>
                  <a:headEnd/>
                  <a:tailEnd/>
                </a:ln>
              </p:spPr>
              <p:txBody>
                <a:bodyPr/>
                <a:lstStyle/>
                <a:p>
                  <a:endParaRPr lang="en-US"/>
                </a:p>
              </p:txBody>
            </p:sp>
            <p:sp>
              <p:nvSpPr>
                <p:cNvPr id="91175" name="Freeform 199"/>
                <p:cNvSpPr>
                  <a:spLocks/>
                </p:cNvSpPr>
                <p:nvPr/>
              </p:nvSpPr>
              <p:spPr bwMode="auto">
                <a:xfrm>
                  <a:off x="1164" y="1215"/>
                  <a:ext cx="124" cy="100"/>
                </a:xfrm>
                <a:custGeom>
                  <a:avLst/>
                  <a:gdLst>
                    <a:gd name="T0" fmla="*/ 43 w 124"/>
                    <a:gd name="T1" fmla="*/ 82 h 100"/>
                    <a:gd name="T2" fmla="*/ 16 w 124"/>
                    <a:gd name="T3" fmla="*/ 94 h 100"/>
                    <a:gd name="T4" fmla="*/ 1 w 124"/>
                    <a:gd name="T5" fmla="*/ 73 h 100"/>
                    <a:gd name="T6" fmla="*/ 13 w 124"/>
                    <a:gd name="T7" fmla="*/ 46 h 100"/>
                    <a:gd name="T8" fmla="*/ 28 w 124"/>
                    <a:gd name="T9" fmla="*/ 7 h 100"/>
                    <a:gd name="T10" fmla="*/ 61 w 124"/>
                    <a:gd name="T11" fmla="*/ 7 h 100"/>
                    <a:gd name="T12" fmla="*/ 67 w 124"/>
                    <a:gd name="T13" fmla="*/ 37 h 100"/>
                    <a:gd name="T14" fmla="*/ 76 w 124"/>
                    <a:gd name="T15" fmla="*/ 16 h 100"/>
                    <a:gd name="T16" fmla="*/ 103 w 124"/>
                    <a:gd name="T17" fmla="*/ 22 h 100"/>
                    <a:gd name="T18" fmla="*/ 106 w 124"/>
                    <a:gd name="T19" fmla="*/ 49 h 100"/>
                    <a:gd name="T20" fmla="*/ 121 w 124"/>
                    <a:gd name="T21" fmla="*/ 61 h 100"/>
                    <a:gd name="T22" fmla="*/ 121 w 124"/>
                    <a:gd name="T23" fmla="*/ 88 h 100"/>
                    <a:gd name="T24" fmla="*/ 103 w 124"/>
                    <a:gd name="T25" fmla="*/ 100 h 100"/>
                    <a:gd name="T26" fmla="*/ 76 w 124"/>
                    <a:gd name="T27" fmla="*/ 88 h 100"/>
                    <a:gd name="T28" fmla="*/ 43 w 124"/>
                    <a:gd name="T29" fmla="*/ 8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176" name="Freeform 200"/>
                <p:cNvSpPr>
                  <a:spLocks/>
                </p:cNvSpPr>
                <p:nvPr/>
              </p:nvSpPr>
              <p:spPr bwMode="auto">
                <a:xfrm>
                  <a:off x="1207" y="1150"/>
                  <a:ext cx="151" cy="118"/>
                </a:xfrm>
                <a:custGeom>
                  <a:avLst/>
                  <a:gdLst>
                    <a:gd name="T0" fmla="*/ 52 w 124"/>
                    <a:gd name="T1" fmla="*/ 97 h 100"/>
                    <a:gd name="T2" fmla="*/ 19 w 124"/>
                    <a:gd name="T3" fmla="*/ 111 h 100"/>
                    <a:gd name="T4" fmla="*/ 1 w 124"/>
                    <a:gd name="T5" fmla="*/ 86 h 100"/>
                    <a:gd name="T6" fmla="*/ 16 w 124"/>
                    <a:gd name="T7" fmla="*/ 54 h 100"/>
                    <a:gd name="T8" fmla="*/ 34 w 124"/>
                    <a:gd name="T9" fmla="*/ 8 h 100"/>
                    <a:gd name="T10" fmla="*/ 74 w 124"/>
                    <a:gd name="T11" fmla="*/ 8 h 100"/>
                    <a:gd name="T12" fmla="*/ 82 w 124"/>
                    <a:gd name="T13" fmla="*/ 44 h 100"/>
                    <a:gd name="T14" fmla="*/ 93 w 124"/>
                    <a:gd name="T15" fmla="*/ 19 h 100"/>
                    <a:gd name="T16" fmla="*/ 125 w 124"/>
                    <a:gd name="T17" fmla="*/ 26 h 100"/>
                    <a:gd name="T18" fmla="*/ 129 w 124"/>
                    <a:gd name="T19" fmla="*/ 58 h 100"/>
                    <a:gd name="T20" fmla="*/ 147 w 124"/>
                    <a:gd name="T21" fmla="*/ 72 h 100"/>
                    <a:gd name="T22" fmla="*/ 147 w 124"/>
                    <a:gd name="T23" fmla="*/ 104 h 100"/>
                    <a:gd name="T24" fmla="*/ 125 w 124"/>
                    <a:gd name="T25" fmla="*/ 118 h 100"/>
                    <a:gd name="T26" fmla="*/ 93 w 124"/>
                    <a:gd name="T27" fmla="*/ 104 h 100"/>
                    <a:gd name="T28" fmla="*/ 52 w 124"/>
                    <a:gd name="T29" fmla="*/ 9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177" name="Freeform 201"/>
                <p:cNvSpPr>
                  <a:spLocks/>
                </p:cNvSpPr>
                <p:nvPr/>
              </p:nvSpPr>
              <p:spPr bwMode="auto">
                <a:xfrm>
                  <a:off x="1280" y="1208"/>
                  <a:ext cx="103" cy="88"/>
                </a:xfrm>
                <a:custGeom>
                  <a:avLst/>
                  <a:gdLst>
                    <a:gd name="T0" fmla="*/ 36 w 124"/>
                    <a:gd name="T1" fmla="*/ 72 h 100"/>
                    <a:gd name="T2" fmla="*/ 13 w 124"/>
                    <a:gd name="T3" fmla="*/ 83 h 100"/>
                    <a:gd name="T4" fmla="*/ 1 w 124"/>
                    <a:gd name="T5" fmla="*/ 64 h 100"/>
                    <a:gd name="T6" fmla="*/ 11 w 124"/>
                    <a:gd name="T7" fmla="*/ 40 h 100"/>
                    <a:gd name="T8" fmla="*/ 23 w 124"/>
                    <a:gd name="T9" fmla="*/ 6 h 100"/>
                    <a:gd name="T10" fmla="*/ 51 w 124"/>
                    <a:gd name="T11" fmla="*/ 6 h 100"/>
                    <a:gd name="T12" fmla="*/ 56 w 124"/>
                    <a:gd name="T13" fmla="*/ 33 h 100"/>
                    <a:gd name="T14" fmla="*/ 63 w 124"/>
                    <a:gd name="T15" fmla="*/ 14 h 100"/>
                    <a:gd name="T16" fmla="*/ 86 w 124"/>
                    <a:gd name="T17" fmla="*/ 19 h 100"/>
                    <a:gd name="T18" fmla="*/ 88 w 124"/>
                    <a:gd name="T19" fmla="*/ 43 h 100"/>
                    <a:gd name="T20" fmla="*/ 101 w 124"/>
                    <a:gd name="T21" fmla="*/ 54 h 100"/>
                    <a:gd name="T22" fmla="*/ 101 w 124"/>
                    <a:gd name="T23" fmla="*/ 77 h 100"/>
                    <a:gd name="T24" fmla="*/ 86 w 124"/>
                    <a:gd name="T25" fmla="*/ 88 h 100"/>
                    <a:gd name="T26" fmla="*/ 63 w 124"/>
                    <a:gd name="T27" fmla="*/ 77 h 100"/>
                    <a:gd name="T28" fmla="*/ 36 w 124"/>
                    <a:gd name="T29" fmla="*/ 72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sp>
              <p:nvSpPr>
                <p:cNvPr id="91178" name="Freeform 202"/>
                <p:cNvSpPr>
                  <a:spLocks/>
                </p:cNvSpPr>
                <p:nvPr/>
              </p:nvSpPr>
              <p:spPr bwMode="auto">
                <a:xfrm>
                  <a:off x="1314" y="1278"/>
                  <a:ext cx="94" cy="58"/>
                </a:xfrm>
                <a:custGeom>
                  <a:avLst/>
                  <a:gdLst>
                    <a:gd name="T0" fmla="*/ 33 w 124"/>
                    <a:gd name="T1" fmla="*/ 48 h 100"/>
                    <a:gd name="T2" fmla="*/ 12 w 124"/>
                    <a:gd name="T3" fmla="*/ 55 h 100"/>
                    <a:gd name="T4" fmla="*/ 1 w 124"/>
                    <a:gd name="T5" fmla="*/ 42 h 100"/>
                    <a:gd name="T6" fmla="*/ 10 w 124"/>
                    <a:gd name="T7" fmla="*/ 27 h 100"/>
                    <a:gd name="T8" fmla="*/ 21 w 124"/>
                    <a:gd name="T9" fmla="*/ 4 h 100"/>
                    <a:gd name="T10" fmla="*/ 46 w 124"/>
                    <a:gd name="T11" fmla="*/ 4 h 100"/>
                    <a:gd name="T12" fmla="*/ 51 w 124"/>
                    <a:gd name="T13" fmla="*/ 21 h 100"/>
                    <a:gd name="T14" fmla="*/ 58 w 124"/>
                    <a:gd name="T15" fmla="*/ 9 h 100"/>
                    <a:gd name="T16" fmla="*/ 78 w 124"/>
                    <a:gd name="T17" fmla="*/ 13 h 100"/>
                    <a:gd name="T18" fmla="*/ 80 w 124"/>
                    <a:gd name="T19" fmla="*/ 28 h 100"/>
                    <a:gd name="T20" fmla="*/ 92 w 124"/>
                    <a:gd name="T21" fmla="*/ 35 h 100"/>
                    <a:gd name="T22" fmla="*/ 92 w 124"/>
                    <a:gd name="T23" fmla="*/ 51 h 100"/>
                    <a:gd name="T24" fmla="*/ 78 w 124"/>
                    <a:gd name="T25" fmla="*/ 58 h 100"/>
                    <a:gd name="T26" fmla="*/ 58 w 124"/>
                    <a:gd name="T27" fmla="*/ 51 h 100"/>
                    <a:gd name="T28" fmla="*/ 33 w 124"/>
                    <a:gd name="T29" fmla="*/ 48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100"/>
                    <a:gd name="T47" fmla="*/ 124 w 124"/>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100">
                      <a:moveTo>
                        <a:pt x="43" y="82"/>
                      </a:moveTo>
                      <a:cubicBezTo>
                        <a:pt x="33" y="83"/>
                        <a:pt x="23" y="95"/>
                        <a:pt x="16" y="94"/>
                      </a:cubicBezTo>
                      <a:cubicBezTo>
                        <a:pt x="9" y="93"/>
                        <a:pt x="2" y="81"/>
                        <a:pt x="1" y="73"/>
                      </a:cubicBezTo>
                      <a:cubicBezTo>
                        <a:pt x="0" y="65"/>
                        <a:pt x="9" y="57"/>
                        <a:pt x="13" y="46"/>
                      </a:cubicBezTo>
                      <a:cubicBezTo>
                        <a:pt x="17" y="35"/>
                        <a:pt x="20" y="14"/>
                        <a:pt x="28" y="7"/>
                      </a:cubicBezTo>
                      <a:cubicBezTo>
                        <a:pt x="36" y="0"/>
                        <a:pt x="55" y="2"/>
                        <a:pt x="61" y="7"/>
                      </a:cubicBezTo>
                      <a:cubicBezTo>
                        <a:pt x="67" y="12"/>
                        <a:pt x="65" y="36"/>
                        <a:pt x="67" y="37"/>
                      </a:cubicBezTo>
                      <a:cubicBezTo>
                        <a:pt x="69" y="38"/>
                        <a:pt x="70" y="18"/>
                        <a:pt x="76" y="16"/>
                      </a:cubicBezTo>
                      <a:cubicBezTo>
                        <a:pt x="82" y="14"/>
                        <a:pt x="98" y="16"/>
                        <a:pt x="103" y="22"/>
                      </a:cubicBezTo>
                      <a:cubicBezTo>
                        <a:pt x="108" y="28"/>
                        <a:pt x="103" y="43"/>
                        <a:pt x="106" y="49"/>
                      </a:cubicBezTo>
                      <a:cubicBezTo>
                        <a:pt x="109" y="55"/>
                        <a:pt x="119" y="55"/>
                        <a:pt x="121" y="61"/>
                      </a:cubicBezTo>
                      <a:cubicBezTo>
                        <a:pt x="123" y="67"/>
                        <a:pt x="124" y="82"/>
                        <a:pt x="121" y="88"/>
                      </a:cubicBezTo>
                      <a:cubicBezTo>
                        <a:pt x="118" y="94"/>
                        <a:pt x="110" y="100"/>
                        <a:pt x="103" y="100"/>
                      </a:cubicBezTo>
                      <a:cubicBezTo>
                        <a:pt x="96" y="100"/>
                        <a:pt x="87" y="89"/>
                        <a:pt x="76" y="88"/>
                      </a:cubicBezTo>
                      <a:cubicBezTo>
                        <a:pt x="65" y="87"/>
                        <a:pt x="53" y="81"/>
                        <a:pt x="43" y="82"/>
                      </a:cubicBezTo>
                      <a:close/>
                    </a:path>
                  </a:pathLst>
                </a:custGeom>
                <a:solidFill>
                  <a:srgbClr val="339966"/>
                </a:solidFill>
                <a:ln w="9525">
                  <a:noFill/>
                  <a:round/>
                  <a:headEnd/>
                  <a:tailEnd/>
                </a:ln>
              </p:spPr>
              <p:txBody>
                <a:bodyPr/>
                <a:lstStyle/>
                <a:p>
                  <a:endParaRPr lang="en-US"/>
                </a:p>
              </p:txBody>
            </p:sp>
          </p:grpSp>
        </p:grpSp>
      </p:grpSp>
      <p:sp>
        <p:nvSpPr>
          <p:cNvPr id="91160" name="Rectangle 204"/>
          <p:cNvSpPr>
            <a:spLocks noChangeArrowheads="1"/>
          </p:cNvSpPr>
          <p:nvPr/>
        </p:nvSpPr>
        <p:spPr bwMode="auto">
          <a:xfrm>
            <a:off x="3575050" y="4176713"/>
            <a:ext cx="4086225" cy="2014537"/>
          </a:xfrm>
          <a:prstGeom prst="rect">
            <a:avLst/>
          </a:prstGeom>
          <a:noFill/>
          <a:ln w="9525">
            <a:noFill/>
            <a:miter lim="800000"/>
            <a:headEnd/>
            <a:tailEnd/>
          </a:ln>
        </p:spPr>
        <p:txBody>
          <a:bodyPr>
            <a:spAutoFit/>
          </a:bodyPr>
          <a:lstStyle/>
          <a:p>
            <a:r>
              <a:rPr lang="en-US" i="0">
                <a:solidFill>
                  <a:schemeClr val="tx1"/>
                </a:solidFill>
              </a:rPr>
              <a:t>Trade off in land-use can affect viability of the land and adjacent areas</a:t>
            </a:r>
          </a:p>
          <a:p>
            <a:endParaRPr lang="en-US" i="0">
              <a:solidFill>
                <a:schemeClr val="tx1"/>
              </a:solidFill>
            </a:endParaRPr>
          </a:p>
          <a:p>
            <a:r>
              <a:rPr lang="en-US" i="0">
                <a:solidFill>
                  <a:schemeClr val="tx1"/>
                </a:solidFill>
              </a:rPr>
              <a:t>Requires LARGE SCALE CONTROLS eg dewatering and interceptor networks, evaporation basins, stream regulation</a:t>
            </a:r>
            <a:endParaRPr lang="en-AU" i="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08585"/>
                                        </p:tgtEl>
                                        <p:attrNameLst>
                                          <p:attrName>style.visibility</p:attrName>
                                        </p:attrNameLst>
                                      </p:cBhvr>
                                      <p:to>
                                        <p:strVal val="visible"/>
                                      </p:to>
                                    </p:set>
                                    <p:animEffect transition="in" filter="dissolve">
                                      <p:cBhvr>
                                        <p:cTn id="7" dur="500"/>
                                        <p:tgtEl>
                                          <p:spTgt spid="1085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8575"/>
                                        </p:tgtEl>
                                        <p:attrNameLst>
                                          <p:attrName>style.visibility</p:attrName>
                                        </p:attrNameLst>
                                      </p:cBhvr>
                                      <p:to>
                                        <p:strVal val="visible"/>
                                      </p:to>
                                    </p:set>
                                    <p:animEffect transition="in" filter="dissolve">
                                      <p:cBhvr>
                                        <p:cTn id="12" dur="500"/>
                                        <p:tgtEl>
                                          <p:spTgt spid="10857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08588"/>
                                        </p:tgtEl>
                                        <p:attrNameLst>
                                          <p:attrName>style.visibility</p:attrName>
                                        </p:attrNameLst>
                                      </p:cBhvr>
                                      <p:to>
                                        <p:strVal val="visible"/>
                                      </p:to>
                                    </p:set>
                                    <p:animEffect transition="in" filter="dissolve">
                                      <p:cBhvr>
                                        <p:cTn id="17" dur="500"/>
                                        <p:tgtEl>
                                          <p:spTgt spid="108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7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a:spLocks noGrp="1" noChangeArrowheads="1"/>
          </p:cNvSpPr>
          <p:nvPr>
            <p:ph type="title"/>
          </p:nvPr>
        </p:nvSpPr>
        <p:spPr>
          <a:xfrm>
            <a:off x="438150" y="798513"/>
            <a:ext cx="6172200" cy="987425"/>
          </a:xfrm>
        </p:spPr>
        <p:txBody>
          <a:bodyPr/>
          <a:lstStyle/>
          <a:p>
            <a:r>
              <a:rPr lang="en-AU" smtClean="0"/>
              <a:t>Managing groundwater for construction</a:t>
            </a:r>
          </a:p>
        </p:txBody>
      </p:sp>
      <p:sp>
        <p:nvSpPr>
          <p:cNvPr id="93186" name="Freeform 5" descr="Small confetti"/>
          <p:cNvSpPr>
            <a:spLocks/>
          </p:cNvSpPr>
          <p:nvPr/>
        </p:nvSpPr>
        <p:spPr bwMode="auto">
          <a:xfrm>
            <a:off x="428625" y="2921000"/>
            <a:ext cx="7858125" cy="3105150"/>
          </a:xfrm>
          <a:custGeom>
            <a:avLst/>
            <a:gdLst>
              <a:gd name="T0" fmla="*/ 0 w 4950"/>
              <a:gd name="T1" fmla="*/ 19050 h 1956"/>
              <a:gd name="T2" fmla="*/ 2247900 w 4950"/>
              <a:gd name="T3" fmla="*/ 19050 h 1956"/>
              <a:gd name="T4" fmla="*/ 2447925 w 4950"/>
              <a:gd name="T5" fmla="*/ 371475 h 1956"/>
              <a:gd name="T6" fmla="*/ 2619375 w 4950"/>
              <a:gd name="T7" fmla="*/ 371475 h 1956"/>
              <a:gd name="T8" fmla="*/ 2819400 w 4950"/>
              <a:gd name="T9" fmla="*/ 752475 h 1956"/>
              <a:gd name="T10" fmla="*/ 2990850 w 4950"/>
              <a:gd name="T11" fmla="*/ 752475 h 1956"/>
              <a:gd name="T12" fmla="*/ 3181350 w 4950"/>
              <a:gd name="T13" fmla="*/ 1171575 h 1956"/>
              <a:gd name="T14" fmla="*/ 4429125 w 4950"/>
              <a:gd name="T15" fmla="*/ 1171575 h 1956"/>
              <a:gd name="T16" fmla="*/ 4533900 w 4950"/>
              <a:gd name="T17" fmla="*/ 762000 h 1956"/>
              <a:gd name="T18" fmla="*/ 4695825 w 4950"/>
              <a:gd name="T19" fmla="*/ 771525 h 1956"/>
              <a:gd name="T20" fmla="*/ 4838700 w 4950"/>
              <a:gd name="T21" fmla="*/ 342900 h 1956"/>
              <a:gd name="T22" fmla="*/ 5000625 w 4950"/>
              <a:gd name="T23" fmla="*/ 342900 h 1956"/>
              <a:gd name="T24" fmla="*/ 5162550 w 4950"/>
              <a:gd name="T25" fmla="*/ 0 h 1956"/>
              <a:gd name="T26" fmla="*/ 7858125 w 4950"/>
              <a:gd name="T27" fmla="*/ 0 h 1956"/>
              <a:gd name="T28" fmla="*/ 7858125 w 4950"/>
              <a:gd name="T29" fmla="*/ 3095625 h 1956"/>
              <a:gd name="T30" fmla="*/ 9525 w 4950"/>
              <a:gd name="T31" fmla="*/ 3105150 h 1956"/>
              <a:gd name="T32" fmla="*/ 0 w 4950"/>
              <a:gd name="T33" fmla="*/ 19050 h 195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950"/>
              <a:gd name="T52" fmla="*/ 0 h 1956"/>
              <a:gd name="T53" fmla="*/ 4950 w 4950"/>
              <a:gd name="T54" fmla="*/ 1956 h 195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950" h="1956">
                <a:moveTo>
                  <a:pt x="0" y="12"/>
                </a:moveTo>
                <a:lnTo>
                  <a:pt x="1416" y="12"/>
                </a:lnTo>
                <a:lnTo>
                  <a:pt x="1542" y="234"/>
                </a:lnTo>
                <a:lnTo>
                  <a:pt x="1650" y="234"/>
                </a:lnTo>
                <a:lnTo>
                  <a:pt x="1776" y="474"/>
                </a:lnTo>
                <a:lnTo>
                  <a:pt x="1884" y="474"/>
                </a:lnTo>
                <a:lnTo>
                  <a:pt x="2004" y="738"/>
                </a:lnTo>
                <a:lnTo>
                  <a:pt x="2790" y="738"/>
                </a:lnTo>
                <a:lnTo>
                  <a:pt x="2856" y="480"/>
                </a:lnTo>
                <a:lnTo>
                  <a:pt x="2958" y="486"/>
                </a:lnTo>
                <a:lnTo>
                  <a:pt x="3048" y="216"/>
                </a:lnTo>
                <a:lnTo>
                  <a:pt x="3150" y="216"/>
                </a:lnTo>
                <a:lnTo>
                  <a:pt x="3252" y="0"/>
                </a:lnTo>
                <a:lnTo>
                  <a:pt x="4950" y="0"/>
                </a:lnTo>
                <a:lnTo>
                  <a:pt x="4950" y="1950"/>
                </a:lnTo>
                <a:lnTo>
                  <a:pt x="6" y="1956"/>
                </a:lnTo>
                <a:lnTo>
                  <a:pt x="0" y="12"/>
                </a:lnTo>
                <a:close/>
              </a:path>
            </a:pathLst>
          </a:custGeom>
          <a:pattFill prst="smConfetti">
            <a:fgClr>
              <a:schemeClr val="accent1"/>
            </a:fgClr>
            <a:bgClr>
              <a:schemeClr val="bg1"/>
            </a:bgClr>
          </a:pattFill>
          <a:ln w="9525">
            <a:solidFill>
              <a:schemeClr val="tx1"/>
            </a:solidFill>
            <a:round/>
            <a:headEnd/>
            <a:tailEnd/>
          </a:ln>
        </p:spPr>
        <p:txBody>
          <a:bodyPr/>
          <a:lstStyle/>
          <a:p>
            <a:endParaRPr lang="en-US"/>
          </a:p>
        </p:txBody>
      </p:sp>
      <p:sp>
        <p:nvSpPr>
          <p:cNvPr id="93187" name="Rectangle 6"/>
          <p:cNvSpPr>
            <a:spLocks noChangeArrowheads="1"/>
          </p:cNvSpPr>
          <p:nvPr/>
        </p:nvSpPr>
        <p:spPr bwMode="auto">
          <a:xfrm>
            <a:off x="419100" y="3644900"/>
            <a:ext cx="7858125" cy="2371725"/>
          </a:xfrm>
          <a:prstGeom prst="rect">
            <a:avLst/>
          </a:prstGeom>
          <a:solidFill>
            <a:srgbClr val="99CCFF">
              <a:alpha val="25098"/>
            </a:srgbClr>
          </a:solid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93188" name="Text Box 21"/>
          <p:cNvSpPr txBox="1">
            <a:spLocks noChangeArrowheads="1"/>
          </p:cNvSpPr>
          <p:nvPr/>
        </p:nvSpPr>
        <p:spPr bwMode="auto">
          <a:xfrm>
            <a:off x="3238500" y="2054225"/>
            <a:ext cx="1962150" cy="915988"/>
          </a:xfrm>
          <a:prstGeom prst="rect">
            <a:avLst/>
          </a:prstGeom>
          <a:noFill/>
          <a:ln w="9525">
            <a:noFill/>
            <a:miter lim="800000"/>
            <a:headEnd/>
            <a:tailEnd/>
          </a:ln>
        </p:spPr>
        <p:txBody>
          <a:bodyPr>
            <a:spAutoFit/>
          </a:bodyPr>
          <a:lstStyle/>
          <a:p>
            <a:pPr>
              <a:spcBef>
                <a:spcPct val="50000"/>
              </a:spcBef>
            </a:pPr>
            <a:r>
              <a:rPr lang="en-AU" i="0">
                <a:solidFill>
                  <a:schemeClr val="tx1"/>
                </a:solidFill>
              </a:rPr>
              <a:t>Mine or Building Basement / Foundation</a:t>
            </a:r>
          </a:p>
        </p:txBody>
      </p:sp>
      <p:sp>
        <p:nvSpPr>
          <p:cNvPr id="93189" name="AutoShape 22"/>
          <p:cNvSpPr>
            <a:spLocks noChangeArrowheads="1"/>
          </p:cNvSpPr>
          <p:nvPr/>
        </p:nvSpPr>
        <p:spPr bwMode="auto">
          <a:xfrm flipV="1">
            <a:off x="4095750" y="3568700"/>
            <a:ext cx="88900" cy="88900"/>
          </a:xfrm>
          <a:prstGeom prst="triangle">
            <a:avLst>
              <a:gd name="adj" fmla="val 50000"/>
            </a:avLst>
          </a:prstGeom>
          <a:solidFill>
            <a:srgbClr val="99CCFF"/>
          </a:solid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93190" name="AutoShape 24"/>
          <p:cNvSpPr>
            <a:spLocks noChangeArrowheads="1"/>
          </p:cNvSpPr>
          <p:nvPr/>
        </p:nvSpPr>
        <p:spPr bwMode="auto">
          <a:xfrm flipV="1">
            <a:off x="4102100" y="4003675"/>
            <a:ext cx="88900" cy="88900"/>
          </a:xfrm>
          <a:prstGeom prst="triangle">
            <a:avLst>
              <a:gd name="adj" fmla="val 50000"/>
            </a:avLst>
          </a:prstGeom>
          <a:solidFill>
            <a:srgbClr val="0000FF"/>
          </a:solid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nvGrpSpPr>
          <p:cNvPr id="217116" name="Group 28"/>
          <p:cNvGrpSpPr>
            <a:grpSpLocks/>
          </p:cNvGrpSpPr>
          <p:nvPr/>
        </p:nvGrpSpPr>
        <p:grpSpPr bwMode="auto">
          <a:xfrm>
            <a:off x="381000" y="2092325"/>
            <a:ext cx="5375275" cy="3625850"/>
            <a:chOff x="336" y="1248"/>
            <a:chExt cx="3386" cy="2284"/>
          </a:xfrm>
        </p:grpSpPr>
        <p:grpSp>
          <p:nvGrpSpPr>
            <p:cNvPr id="93201" name="Group 20"/>
            <p:cNvGrpSpPr>
              <a:grpSpLocks/>
            </p:cNvGrpSpPr>
            <p:nvPr/>
          </p:nvGrpSpPr>
          <p:grpSpPr bwMode="auto">
            <a:xfrm>
              <a:off x="1704" y="1740"/>
              <a:ext cx="2018" cy="1792"/>
              <a:chOff x="1704" y="1740"/>
              <a:chExt cx="2018" cy="1792"/>
            </a:xfrm>
          </p:grpSpPr>
          <p:grpSp>
            <p:nvGrpSpPr>
              <p:cNvPr id="93205" name="Group 9"/>
              <p:cNvGrpSpPr>
                <a:grpSpLocks/>
              </p:cNvGrpSpPr>
              <p:nvPr/>
            </p:nvGrpSpPr>
            <p:grpSpPr bwMode="auto">
              <a:xfrm>
                <a:off x="1704" y="1752"/>
                <a:ext cx="56" cy="1572"/>
                <a:chOff x="1704" y="1752"/>
                <a:chExt cx="56" cy="1572"/>
              </a:xfrm>
            </p:grpSpPr>
            <p:sp>
              <p:nvSpPr>
                <p:cNvPr id="93215" name="Rectangle 7"/>
                <p:cNvSpPr>
                  <a:spLocks noChangeArrowheads="1"/>
                </p:cNvSpPr>
                <p:nvPr/>
              </p:nvSpPr>
              <p:spPr bwMode="auto">
                <a:xfrm>
                  <a:off x="1704" y="1752"/>
                  <a:ext cx="56" cy="1170"/>
                </a:xfrm>
                <a:prstGeom prst="rect">
                  <a:avLst/>
                </a:prstGeom>
                <a:solidFill>
                  <a:schemeClr val="tx2"/>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93216" name="Rectangle 8" descr="Dark horizontal"/>
                <p:cNvSpPr>
                  <a:spLocks noChangeArrowheads="1"/>
                </p:cNvSpPr>
                <p:nvPr/>
              </p:nvSpPr>
              <p:spPr bwMode="auto">
                <a:xfrm>
                  <a:off x="1704" y="2922"/>
                  <a:ext cx="56" cy="402"/>
                </a:xfrm>
                <a:prstGeom prst="rect">
                  <a:avLst/>
                </a:prstGeom>
                <a:pattFill prst="dkHorz">
                  <a:fgClr>
                    <a:srgbClr val="777777"/>
                  </a:fgClr>
                  <a:bgClr>
                    <a:schemeClr val="bg1"/>
                  </a:bgClr>
                </a:patt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grpSp>
            <p:nvGrpSpPr>
              <p:cNvPr id="93206" name="Group 10"/>
              <p:cNvGrpSpPr>
                <a:grpSpLocks/>
              </p:cNvGrpSpPr>
              <p:nvPr/>
            </p:nvGrpSpPr>
            <p:grpSpPr bwMode="auto">
              <a:xfrm>
                <a:off x="1924" y="1960"/>
                <a:ext cx="56" cy="1572"/>
                <a:chOff x="1704" y="1752"/>
                <a:chExt cx="56" cy="1572"/>
              </a:xfrm>
            </p:grpSpPr>
            <p:sp>
              <p:nvSpPr>
                <p:cNvPr id="93213" name="Rectangle 11"/>
                <p:cNvSpPr>
                  <a:spLocks noChangeArrowheads="1"/>
                </p:cNvSpPr>
                <p:nvPr/>
              </p:nvSpPr>
              <p:spPr bwMode="auto">
                <a:xfrm>
                  <a:off x="1704" y="1752"/>
                  <a:ext cx="56" cy="1170"/>
                </a:xfrm>
                <a:prstGeom prst="rect">
                  <a:avLst/>
                </a:prstGeom>
                <a:solidFill>
                  <a:schemeClr val="tx2"/>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93214" name="Rectangle 12" descr="Dark horizontal"/>
                <p:cNvSpPr>
                  <a:spLocks noChangeArrowheads="1"/>
                </p:cNvSpPr>
                <p:nvPr/>
              </p:nvSpPr>
              <p:spPr bwMode="auto">
                <a:xfrm>
                  <a:off x="1704" y="2922"/>
                  <a:ext cx="56" cy="402"/>
                </a:xfrm>
                <a:prstGeom prst="rect">
                  <a:avLst/>
                </a:prstGeom>
                <a:pattFill prst="dkHorz">
                  <a:fgClr>
                    <a:srgbClr val="777777"/>
                  </a:fgClr>
                  <a:bgClr>
                    <a:schemeClr val="bg1"/>
                  </a:bgClr>
                </a:patt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grpSp>
            <p:nvGrpSpPr>
              <p:cNvPr id="93207" name="Group 13"/>
              <p:cNvGrpSpPr>
                <a:grpSpLocks/>
              </p:cNvGrpSpPr>
              <p:nvPr/>
            </p:nvGrpSpPr>
            <p:grpSpPr bwMode="auto">
              <a:xfrm>
                <a:off x="3422" y="1946"/>
                <a:ext cx="56" cy="1572"/>
                <a:chOff x="1704" y="1752"/>
                <a:chExt cx="56" cy="1572"/>
              </a:xfrm>
            </p:grpSpPr>
            <p:sp>
              <p:nvSpPr>
                <p:cNvPr id="93211" name="Rectangle 14"/>
                <p:cNvSpPr>
                  <a:spLocks noChangeArrowheads="1"/>
                </p:cNvSpPr>
                <p:nvPr/>
              </p:nvSpPr>
              <p:spPr bwMode="auto">
                <a:xfrm>
                  <a:off x="1704" y="1752"/>
                  <a:ext cx="56" cy="1170"/>
                </a:xfrm>
                <a:prstGeom prst="rect">
                  <a:avLst/>
                </a:prstGeom>
                <a:solidFill>
                  <a:schemeClr val="tx2"/>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93212" name="Rectangle 15" descr="Dark horizontal"/>
                <p:cNvSpPr>
                  <a:spLocks noChangeArrowheads="1"/>
                </p:cNvSpPr>
                <p:nvPr/>
              </p:nvSpPr>
              <p:spPr bwMode="auto">
                <a:xfrm>
                  <a:off x="1704" y="2922"/>
                  <a:ext cx="56" cy="402"/>
                </a:xfrm>
                <a:prstGeom prst="rect">
                  <a:avLst/>
                </a:prstGeom>
                <a:pattFill prst="dkHorz">
                  <a:fgClr>
                    <a:srgbClr val="777777"/>
                  </a:fgClr>
                  <a:bgClr>
                    <a:schemeClr val="bg1"/>
                  </a:bgClr>
                </a:patt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grpSp>
            <p:nvGrpSpPr>
              <p:cNvPr id="93208" name="Group 16"/>
              <p:cNvGrpSpPr>
                <a:grpSpLocks/>
              </p:cNvGrpSpPr>
              <p:nvPr/>
            </p:nvGrpSpPr>
            <p:grpSpPr bwMode="auto">
              <a:xfrm>
                <a:off x="3666" y="1740"/>
                <a:ext cx="56" cy="1572"/>
                <a:chOff x="1704" y="1752"/>
                <a:chExt cx="56" cy="1572"/>
              </a:xfrm>
            </p:grpSpPr>
            <p:sp>
              <p:nvSpPr>
                <p:cNvPr id="93209" name="Rectangle 17"/>
                <p:cNvSpPr>
                  <a:spLocks noChangeArrowheads="1"/>
                </p:cNvSpPr>
                <p:nvPr/>
              </p:nvSpPr>
              <p:spPr bwMode="auto">
                <a:xfrm>
                  <a:off x="1704" y="1752"/>
                  <a:ext cx="56" cy="1170"/>
                </a:xfrm>
                <a:prstGeom prst="rect">
                  <a:avLst/>
                </a:prstGeom>
                <a:solidFill>
                  <a:schemeClr val="tx2"/>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93210" name="Rectangle 18" descr="Dark horizontal"/>
                <p:cNvSpPr>
                  <a:spLocks noChangeArrowheads="1"/>
                </p:cNvSpPr>
                <p:nvPr/>
              </p:nvSpPr>
              <p:spPr bwMode="auto">
                <a:xfrm>
                  <a:off x="1704" y="2922"/>
                  <a:ext cx="56" cy="402"/>
                </a:xfrm>
                <a:prstGeom prst="rect">
                  <a:avLst/>
                </a:prstGeom>
                <a:pattFill prst="dkHorz">
                  <a:fgClr>
                    <a:srgbClr val="777777"/>
                  </a:fgClr>
                  <a:bgClr>
                    <a:schemeClr val="bg1"/>
                  </a:bgClr>
                </a:patt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grpSp>
        <p:sp>
          <p:nvSpPr>
            <p:cNvPr id="93202" name="Text Box 25"/>
            <p:cNvSpPr txBox="1">
              <a:spLocks noChangeArrowheads="1"/>
            </p:cNvSpPr>
            <p:nvPr/>
          </p:nvSpPr>
          <p:spPr bwMode="auto">
            <a:xfrm>
              <a:off x="336" y="1248"/>
              <a:ext cx="1308" cy="231"/>
            </a:xfrm>
            <a:prstGeom prst="rect">
              <a:avLst/>
            </a:prstGeom>
            <a:noFill/>
            <a:ln w="9525">
              <a:noFill/>
              <a:miter lim="800000"/>
              <a:headEnd/>
              <a:tailEnd/>
            </a:ln>
          </p:spPr>
          <p:txBody>
            <a:bodyPr>
              <a:spAutoFit/>
            </a:bodyPr>
            <a:lstStyle/>
            <a:p>
              <a:pPr>
                <a:spcBef>
                  <a:spcPct val="50000"/>
                </a:spcBef>
              </a:pPr>
              <a:r>
                <a:rPr lang="en-AU" i="0">
                  <a:solidFill>
                    <a:schemeClr val="tx1"/>
                  </a:solidFill>
                </a:rPr>
                <a:t>Dewatering bores</a:t>
              </a:r>
              <a:endParaRPr lang="en-US" i="0">
                <a:solidFill>
                  <a:schemeClr val="tx1"/>
                </a:solidFill>
              </a:endParaRPr>
            </a:p>
          </p:txBody>
        </p:sp>
        <p:sp>
          <p:nvSpPr>
            <p:cNvPr id="93203" name="Line 26"/>
            <p:cNvSpPr>
              <a:spLocks noChangeShapeType="1"/>
            </p:cNvSpPr>
            <p:nvPr/>
          </p:nvSpPr>
          <p:spPr bwMode="auto">
            <a:xfrm>
              <a:off x="1332" y="1464"/>
              <a:ext cx="390" cy="306"/>
            </a:xfrm>
            <a:prstGeom prst="line">
              <a:avLst/>
            </a:prstGeom>
            <a:noFill/>
            <a:ln w="9525">
              <a:solidFill>
                <a:schemeClr val="tx1"/>
              </a:solidFill>
              <a:round/>
              <a:headEnd/>
              <a:tailEnd type="triangle" w="med" len="med"/>
            </a:ln>
          </p:spPr>
          <p:txBody>
            <a:bodyPr/>
            <a:lstStyle/>
            <a:p>
              <a:endParaRPr lang="en-US"/>
            </a:p>
          </p:txBody>
        </p:sp>
        <p:sp>
          <p:nvSpPr>
            <p:cNvPr id="93204" name="Freeform 27"/>
            <p:cNvSpPr>
              <a:spLocks/>
            </p:cNvSpPr>
            <p:nvPr/>
          </p:nvSpPr>
          <p:spPr bwMode="auto">
            <a:xfrm>
              <a:off x="1332" y="1458"/>
              <a:ext cx="624" cy="504"/>
            </a:xfrm>
            <a:custGeom>
              <a:avLst/>
              <a:gdLst>
                <a:gd name="T0" fmla="*/ 0 w 624"/>
                <a:gd name="T1" fmla="*/ 0 h 504"/>
                <a:gd name="T2" fmla="*/ 624 w 624"/>
                <a:gd name="T3" fmla="*/ 318 h 504"/>
                <a:gd name="T4" fmla="*/ 624 w 624"/>
                <a:gd name="T5" fmla="*/ 504 h 504"/>
                <a:gd name="T6" fmla="*/ 0 60000 65536"/>
                <a:gd name="T7" fmla="*/ 0 60000 65536"/>
                <a:gd name="T8" fmla="*/ 0 60000 65536"/>
                <a:gd name="T9" fmla="*/ 0 w 624"/>
                <a:gd name="T10" fmla="*/ 0 h 504"/>
                <a:gd name="T11" fmla="*/ 624 w 624"/>
                <a:gd name="T12" fmla="*/ 504 h 504"/>
              </a:gdLst>
              <a:ahLst/>
              <a:cxnLst>
                <a:cxn ang="T6">
                  <a:pos x="T0" y="T1"/>
                </a:cxn>
                <a:cxn ang="T7">
                  <a:pos x="T2" y="T3"/>
                </a:cxn>
                <a:cxn ang="T8">
                  <a:pos x="T4" y="T5"/>
                </a:cxn>
              </a:cxnLst>
              <a:rect l="T9" t="T10" r="T11" b="T12"/>
              <a:pathLst>
                <a:path w="624" h="504">
                  <a:moveTo>
                    <a:pt x="0" y="0"/>
                  </a:moveTo>
                  <a:lnTo>
                    <a:pt x="624" y="318"/>
                  </a:lnTo>
                  <a:lnTo>
                    <a:pt x="624" y="504"/>
                  </a:lnTo>
                </a:path>
              </a:pathLst>
            </a:custGeom>
            <a:noFill/>
            <a:ln w="9525">
              <a:solidFill>
                <a:schemeClr val="tx1"/>
              </a:solidFill>
              <a:round/>
              <a:headEnd type="none" w="med" len="med"/>
              <a:tailEnd type="triangle" w="med" len="med"/>
            </a:ln>
          </p:spPr>
          <p:txBody>
            <a:bodyPr/>
            <a:lstStyle/>
            <a:p>
              <a:endParaRPr lang="en-US"/>
            </a:p>
          </p:txBody>
        </p:sp>
      </p:grpSp>
      <p:grpSp>
        <p:nvGrpSpPr>
          <p:cNvPr id="217118" name="Group 30"/>
          <p:cNvGrpSpPr>
            <a:grpSpLocks/>
          </p:cNvGrpSpPr>
          <p:nvPr/>
        </p:nvGrpSpPr>
        <p:grpSpPr bwMode="auto">
          <a:xfrm>
            <a:off x="419100" y="3654425"/>
            <a:ext cx="7867650" cy="2362200"/>
            <a:chOff x="360" y="2232"/>
            <a:chExt cx="4956" cy="1488"/>
          </a:xfrm>
        </p:grpSpPr>
        <p:sp>
          <p:nvSpPr>
            <p:cNvPr id="93199" name="Freeform 19"/>
            <p:cNvSpPr>
              <a:spLocks/>
            </p:cNvSpPr>
            <p:nvPr/>
          </p:nvSpPr>
          <p:spPr bwMode="auto">
            <a:xfrm>
              <a:off x="360" y="2232"/>
              <a:ext cx="4956" cy="1488"/>
            </a:xfrm>
            <a:custGeom>
              <a:avLst/>
              <a:gdLst>
                <a:gd name="T0" fmla="*/ 0 w 4956"/>
                <a:gd name="T1" fmla="*/ 6 h 1488"/>
                <a:gd name="T2" fmla="*/ 738 w 4956"/>
                <a:gd name="T3" fmla="*/ 12 h 1488"/>
                <a:gd name="T4" fmla="*/ 1002 w 4956"/>
                <a:gd name="T5" fmla="*/ 48 h 1488"/>
                <a:gd name="T6" fmla="*/ 1236 w 4956"/>
                <a:gd name="T7" fmla="*/ 114 h 1488"/>
                <a:gd name="T8" fmla="*/ 1344 w 4956"/>
                <a:gd name="T9" fmla="*/ 174 h 1488"/>
                <a:gd name="T10" fmla="*/ 1398 w 4956"/>
                <a:gd name="T11" fmla="*/ 174 h 1488"/>
                <a:gd name="T12" fmla="*/ 1476 w 4956"/>
                <a:gd name="T13" fmla="*/ 312 h 1488"/>
                <a:gd name="T14" fmla="*/ 1560 w 4956"/>
                <a:gd name="T15" fmla="*/ 552 h 1488"/>
                <a:gd name="T16" fmla="*/ 1626 w 4956"/>
                <a:gd name="T17" fmla="*/ 552 h 1488"/>
                <a:gd name="T18" fmla="*/ 1872 w 4956"/>
                <a:gd name="T19" fmla="*/ 378 h 1488"/>
                <a:gd name="T20" fmla="*/ 2154 w 4956"/>
                <a:gd name="T21" fmla="*/ 270 h 1488"/>
                <a:gd name="T22" fmla="*/ 2478 w 4956"/>
                <a:gd name="T23" fmla="*/ 282 h 1488"/>
                <a:gd name="T24" fmla="*/ 2808 w 4956"/>
                <a:gd name="T25" fmla="*/ 330 h 1488"/>
                <a:gd name="T26" fmla="*/ 3060 w 4956"/>
                <a:gd name="T27" fmla="*/ 546 h 1488"/>
                <a:gd name="T28" fmla="*/ 3114 w 4956"/>
                <a:gd name="T29" fmla="*/ 546 h 1488"/>
                <a:gd name="T30" fmla="*/ 3174 w 4956"/>
                <a:gd name="T31" fmla="*/ 336 h 1488"/>
                <a:gd name="T32" fmla="*/ 3240 w 4956"/>
                <a:gd name="T33" fmla="*/ 246 h 1488"/>
                <a:gd name="T34" fmla="*/ 3300 w 4956"/>
                <a:gd name="T35" fmla="*/ 204 h 1488"/>
                <a:gd name="T36" fmla="*/ 3360 w 4956"/>
                <a:gd name="T37" fmla="*/ 204 h 1488"/>
                <a:gd name="T38" fmla="*/ 3480 w 4956"/>
                <a:gd name="T39" fmla="*/ 90 h 1488"/>
                <a:gd name="T40" fmla="*/ 3714 w 4956"/>
                <a:gd name="T41" fmla="*/ 54 h 1488"/>
                <a:gd name="T42" fmla="*/ 3966 w 4956"/>
                <a:gd name="T43" fmla="*/ 24 h 1488"/>
                <a:gd name="T44" fmla="*/ 4254 w 4956"/>
                <a:gd name="T45" fmla="*/ 0 h 1488"/>
                <a:gd name="T46" fmla="*/ 4956 w 4956"/>
                <a:gd name="T47" fmla="*/ 0 h 1488"/>
                <a:gd name="T48" fmla="*/ 4956 w 4956"/>
                <a:gd name="T49" fmla="*/ 1488 h 1488"/>
                <a:gd name="T50" fmla="*/ 12 w 4956"/>
                <a:gd name="T51" fmla="*/ 1488 h 1488"/>
                <a:gd name="T52" fmla="*/ 0 w 4956"/>
                <a:gd name="T53" fmla="*/ 6 h 148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956"/>
                <a:gd name="T82" fmla="*/ 0 h 1488"/>
                <a:gd name="T83" fmla="*/ 4956 w 4956"/>
                <a:gd name="T84" fmla="*/ 1488 h 148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956" h="1488">
                  <a:moveTo>
                    <a:pt x="0" y="6"/>
                  </a:moveTo>
                  <a:lnTo>
                    <a:pt x="738" y="12"/>
                  </a:lnTo>
                  <a:lnTo>
                    <a:pt x="1002" y="48"/>
                  </a:lnTo>
                  <a:lnTo>
                    <a:pt x="1236" y="114"/>
                  </a:lnTo>
                  <a:lnTo>
                    <a:pt x="1344" y="174"/>
                  </a:lnTo>
                  <a:lnTo>
                    <a:pt x="1398" y="174"/>
                  </a:lnTo>
                  <a:lnTo>
                    <a:pt x="1476" y="312"/>
                  </a:lnTo>
                  <a:lnTo>
                    <a:pt x="1560" y="552"/>
                  </a:lnTo>
                  <a:lnTo>
                    <a:pt x="1626" y="552"/>
                  </a:lnTo>
                  <a:lnTo>
                    <a:pt x="1872" y="378"/>
                  </a:lnTo>
                  <a:lnTo>
                    <a:pt x="2154" y="270"/>
                  </a:lnTo>
                  <a:lnTo>
                    <a:pt x="2478" y="282"/>
                  </a:lnTo>
                  <a:lnTo>
                    <a:pt x="2808" y="330"/>
                  </a:lnTo>
                  <a:lnTo>
                    <a:pt x="3060" y="546"/>
                  </a:lnTo>
                  <a:lnTo>
                    <a:pt x="3114" y="546"/>
                  </a:lnTo>
                  <a:lnTo>
                    <a:pt x="3174" y="336"/>
                  </a:lnTo>
                  <a:lnTo>
                    <a:pt x="3240" y="246"/>
                  </a:lnTo>
                  <a:lnTo>
                    <a:pt x="3300" y="204"/>
                  </a:lnTo>
                  <a:lnTo>
                    <a:pt x="3360" y="204"/>
                  </a:lnTo>
                  <a:lnTo>
                    <a:pt x="3480" y="90"/>
                  </a:lnTo>
                  <a:lnTo>
                    <a:pt x="3714" y="54"/>
                  </a:lnTo>
                  <a:lnTo>
                    <a:pt x="3966" y="24"/>
                  </a:lnTo>
                  <a:lnTo>
                    <a:pt x="4254" y="0"/>
                  </a:lnTo>
                  <a:lnTo>
                    <a:pt x="4956" y="0"/>
                  </a:lnTo>
                  <a:lnTo>
                    <a:pt x="4956" y="1488"/>
                  </a:lnTo>
                  <a:lnTo>
                    <a:pt x="12" y="1488"/>
                  </a:lnTo>
                  <a:lnTo>
                    <a:pt x="0" y="6"/>
                  </a:lnTo>
                  <a:close/>
                </a:path>
              </a:pathLst>
            </a:custGeom>
            <a:solidFill>
              <a:srgbClr val="99CCFF">
                <a:alpha val="50195"/>
              </a:srgbClr>
            </a:solidFill>
            <a:ln w="9525">
              <a:noFill/>
              <a:round/>
              <a:headEnd/>
              <a:tailEnd/>
            </a:ln>
          </p:spPr>
          <p:txBody>
            <a:bodyPr/>
            <a:lstStyle/>
            <a:p>
              <a:endParaRPr lang="en-US"/>
            </a:p>
          </p:txBody>
        </p:sp>
        <p:sp>
          <p:nvSpPr>
            <p:cNvPr id="93200" name="Text Box 29"/>
            <p:cNvSpPr txBox="1">
              <a:spLocks noChangeArrowheads="1"/>
            </p:cNvSpPr>
            <p:nvPr/>
          </p:nvSpPr>
          <p:spPr bwMode="auto">
            <a:xfrm>
              <a:off x="2016" y="2784"/>
              <a:ext cx="1392" cy="674"/>
            </a:xfrm>
            <a:prstGeom prst="rect">
              <a:avLst/>
            </a:prstGeom>
            <a:solidFill>
              <a:srgbClr val="99CCFF"/>
            </a:solidFill>
            <a:ln w="9525">
              <a:noFill/>
              <a:miter lim="800000"/>
              <a:headEnd/>
              <a:tailEnd/>
            </a:ln>
          </p:spPr>
          <p:txBody>
            <a:bodyPr>
              <a:spAutoFit/>
            </a:bodyPr>
            <a:lstStyle/>
            <a:p>
              <a:pPr algn="ctr">
                <a:spcBef>
                  <a:spcPct val="50000"/>
                </a:spcBef>
              </a:pPr>
              <a:r>
                <a:rPr lang="en-AU" sz="1600" i="0">
                  <a:solidFill>
                    <a:schemeClr val="tx1"/>
                  </a:solidFill>
                </a:rPr>
                <a:t>Watertable reduced for stability and to provide safe operating conditions</a:t>
              </a:r>
              <a:endParaRPr lang="en-US" sz="1600" i="0">
                <a:solidFill>
                  <a:schemeClr val="tx1"/>
                </a:solidFill>
              </a:endParaRPr>
            </a:p>
          </p:txBody>
        </p:sp>
      </p:grpSp>
      <p:grpSp>
        <p:nvGrpSpPr>
          <p:cNvPr id="217124" name="Group 36"/>
          <p:cNvGrpSpPr>
            <a:grpSpLocks/>
          </p:cNvGrpSpPr>
          <p:nvPr/>
        </p:nvGrpSpPr>
        <p:grpSpPr bwMode="auto">
          <a:xfrm>
            <a:off x="4629150" y="2635250"/>
            <a:ext cx="2895600" cy="1638300"/>
            <a:chOff x="3012" y="1590"/>
            <a:chExt cx="1824" cy="1032"/>
          </a:xfrm>
        </p:grpSpPr>
        <p:grpSp>
          <p:nvGrpSpPr>
            <p:cNvPr id="93194" name="Group 34"/>
            <p:cNvGrpSpPr>
              <a:grpSpLocks/>
            </p:cNvGrpSpPr>
            <p:nvPr/>
          </p:nvGrpSpPr>
          <p:grpSpPr bwMode="auto">
            <a:xfrm>
              <a:off x="3012" y="1662"/>
              <a:ext cx="930" cy="960"/>
              <a:chOff x="3012" y="1662"/>
              <a:chExt cx="930" cy="960"/>
            </a:xfrm>
          </p:grpSpPr>
          <p:sp>
            <p:nvSpPr>
              <p:cNvPr id="93196" name="Rectangle 31"/>
              <p:cNvSpPr>
                <a:spLocks noChangeArrowheads="1"/>
              </p:cNvSpPr>
              <p:nvPr/>
            </p:nvSpPr>
            <p:spPr bwMode="auto">
              <a:xfrm>
                <a:off x="3012" y="2502"/>
                <a:ext cx="138" cy="120"/>
              </a:xfrm>
              <a:prstGeom prst="rect">
                <a:avLst/>
              </a:prstGeom>
              <a:no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93197" name="Rectangle 32"/>
              <p:cNvSpPr>
                <a:spLocks noChangeArrowheads="1"/>
              </p:cNvSpPr>
              <p:nvPr/>
            </p:nvSpPr>
            <p:spPr bwMode="auto">
              <a:xfrm>
                <a:off x="3066" y="2532"/>
                <a:ext cx="56" cy="78"/>
              </a:xfrm>
              <a:prstGeom prst="rect">
                <a:avLst/>
              </a:prstGeom>
              <a:solidFill>
                <a:srgbClr val="99CCFF"/>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93198" name="Freeform 33"/>
              <p:cNvSpPr>
                <a:spLocks/>
              </p:cNvSpPr>
              <p:nvPr/>
            </p:nvSpPr>
            <p:spPr bwMode="auto">
              <a:xfrm>
                <a:off x="3102" y="1662"/>
                <a:ext cx="840" cy="864"/>
              </a:xfrm>
              <a:custGeom>
                <a:avLst/>
                <a:gdLst>
                  <a:gd name="T0" fmla="*/ 0 w 840"/>
                  <a:gd name="T1" fmla="*/ 864 h 864"/>
                  <a:gd name="T2" fmla="*/ 12 w 840"/>
                  <a:gd name="T3" fmla="*/ 798 h 864"/>
                  <a:gd name="T4" fmla="*/ 60 w 840"/>
                  <a:gd name="T5" fmla="*/ 648 h 864"/>
                  <a:gd name="T6" fmla="*/ 96 w 840"/>
                  <a:gd name="T7" fmla="*/ 546 h 864"/>
                  <a:gd name="T8" fmla="*/ 174 w 840"/>
                  <a:gd name="T9" fmla="*/ 546 h 864"/>
                  <a:gd name="T10" fmla="*/ 282 w 840"/>
                  <a:gd name="T11" fmla="*/ 252 h 864"/>
                  <a:gd name="T12" fmla="*/ 378 w 840"/>
                  <a:gd name="T13" fmla="*/ 252 h 864"/>
                  <a:gd name="T14" fmla="*/ 516 w 840"/>
                  <a:gd name="T15" fmla="*/ 0 h 864"/>
                  <a:gd name="T16" fmla="*/ 840 w 840"/>
                  <a:gd name="T17" fmla="*/ 0 h 864"/>
                  <a:gd name="T18" fmla="*/ 840 w 840"/>
                  <a:gd name="T19" fmla="*/ 66 h 864"/>
                  <a:gd name="T20" fmla="*/ 540 w 840"/>
                  <a:gd name="T21" fmla="*/ 66 h 864"/>
                  <a:gd name="T22" fmla="*/ 414 w 840"/>
                  <a:gd name="T23" fmla="*/ 318 h 864"/>
                  <a:gd name="T24" fmla="*/ 312 w 840"/>
                  <a:gd name="T25" fmla="*/ 318 h 864"/>
                  <a:gd name="T26" fmla="*/ 216 w 840"/>
                  <a:gd name="T27" fmla="*/ 588 h 864"/>
                  <a:gd name="T28" fmla="*/ 120 w 840"/>
                  <a:gd name="T29" fmla="*/ 588 h 864"/>
                  <a:gd name="T30" fmla="*/ 54 w 840"/>
                  <a:gd name="T31" fmla="*/ 846 h 8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40"/>
                  <a:gd name="T49" fmla="*/ 0 h 864"/>
                  <a:gd name="T50" fmla="*/ 840 w 840"/>
                  <a:gd name="T51" fmla="*/ 864 h 8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40" h="864">
                    <a:moveTo>
                      <a:pt x="0" y="864"/>
                    </a:moveTo>
                    <a:lnTo>
                      <a:pt x="12" y="798"/>
                    </a:lnTo>
                    <a:lnTo>
                      <a:pt x="60" y="648"/>
                    </a:lnTo>
                    <a:lnTo>
                      <a:pt x="96" y="546"/>
                    </a:lnTo>
                    <a:lnTo>
                      <a:pt x="174" y="546"/>
                    </a:lnTo>
                    <a:lnTo>
                      <a:pt x="282" y="252"/>
                    </a:lnTo>
                    <a:lnTo>
                      <a:pt x="378" y="252"/>
                    </a:lnTo>
                    <a:lnTo>
                      <a:pt x="516" y="0"/>
                    </a:lnTo>
                    <a:lnTo>
                      <a:pt x="840" y="0"/>
                    </a:lnTo>
                    <a:lnTo>
                      <a:pt x="840" y="66"/>
                    </a:lnTo>
                    <a:lnTo>
                      <a:pt x="540" y="66"/>
                    </a:lnTo>
                    <a:lnTo>
                      <a:pt x="414" y="318"/>
                    </a:lnTo>
                    <a:lnTo>
                      <a:pt x="312" y="318"/>
                    </a:lnTo>
                    <a:lnTo>
                      <a:pt x="216" y="588"/>
                    </a:lnTo>
                    <a:lnTo>
                      <a:pt x="120" y="588"/>
                    </a:lnTo>
                    <a:lnTo>
                      <a:pt x="54" y="846"/>
                    </a:lnTo>
                  </a:path>
                </a:pathLst>
              </a:custGeom>
              <a:solidFill>
                <a:srgbClr val="99CCFF"/>
              </a:solidFill>
              <a:ln w="9525">
                <a:solidFill>
                  <a:schemeClr val="tx1"/>
                </a:solidFill>
                <a:round/>
                <a:headEnd/>
                <a:tailEnd/>
              </a:ln>
            </p:spPr>
            <p:txBody>
              <a:bodyPr/>
              <a:lstStyle/>
              <a:p>
                <a:endParaRPr lang="en-US"/>
              </a:p>
            </p:txBody>
          </p:sp>
        </p:grpSp>
        <p:sp>
          <p:nvSpPr>
            <p:cNvPr id="93195" name="Text Box 35"/>
            <p:cNvSpPr txBox="1">
              <a:spLocks noChangeArrowheads="1"/>
            </p:cNvSpPr>
            <p:nvPr/>
          </p:nvSpPr>
          <p:spPr bwMode="auto">
            <a:xfrm>
              <a:off x="3906" y="1590"/>
              <a:ext cx="930" cy="192"/>
            </a:xfrm>
            <a:prstGeom prst="rect">
              <a:avLst/>
            </a:prstGeom>
            <a:noFill/>
            <a:ln w="9525">
              <a:noFill/>
              <a:miter lim="800000"/>
              <a:headEnd/>
              <a:tailEnd/>
            </a:ln>
          </p:spPr>
          <p:txBody>
            <a:bodyPr>
              <a:spAutoFit/>
            </a:bodyPr>
            <a:lstStyle/>
            <a:p>
              <a:pPr>
                <a:spcBef>
                  <a:spcPct val="50000"/>
                </a:spcBef>
              </a:pPr>
              <a:r>
                <a:rPr lang="en-AU" sz="1400" i="0">
                  <a:solidFill>
                    <a:schemeClr val="tx1"/>
                  </a:solidFill>
                </a:rPr>
                <a:t>In-pit pump</a:t>
              </a:r>
              <a:endParaRPr lang="en-US" sz="1400" i="0">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17116"/>
                                        </p:tgtEl>
                                        <p:attrNameLst>
                                          <p:attrName>style.visibility</p:attrName>
                                        </p:attrNameLst>
                                      </p:cBhvr>
                                      <p:to>
                                        <p:strVal val="visible"/>
                                      </p:to>
                                    </p:set>
                                    <p:animEffect transition="in" filter="dissolve">
                                      <p:cBhvr>
                                        <p:cTn id="7" dur="500"/>
                                        <p:tgtEl>
                                          <p:spTgt spid="2171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17118"/>
                                        </p:tgtEl>
                                        <p:attrNameLst>
                                          <p:attrName>style.visibility</p:attrName>
                                        </p:attrNameLst>
                                      </p:cBhvr>
                                      <p:to>
                                        <p:strVal val="visible"/>
                                      </p:to>
                                    </p:set>
                                    <p:animEffect transition="in" filter="dissolve">
                                      <p:cBhvr>
                                        <p:cTn id="12" dur="500"/>
                                        <p:tgtEl>
                                          <p:spTgt spid="2171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17124"/>
                                        </p:tgtEl>
                                        <p:attrNameLst>
                                          <p:attrName>style.visibility</p:attrName>
                                        </p:attrNameLst>
                                      </p:cBhvr>
                                      <p:to>
                                        <p:strVal val="visible"/>
                                      </p:to>
                                    </p:set>
                                    <p:animEffect transition="in" filter="dissolve">
                                      <p:cBhvr>
                                        <p:cTn id="17" dur="500"/>
                                        <p:tgtEl>
                                          <p:spTgt spid="217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p:cNvSpPr>
            <a:spLocks noGrp="1" noChangeArrowheads="1"/>
          </p:cNvSpPr>
          <p:nvPr>
            <p:ph type="title"/>
          </p:nvPr>
        </p:nvSpPr>
        <p:spPr>
          <a:xfrm>
            <a:off x="438150" y="798513"/>
            <a:ext cx="4819650" cy="987425"/>
          </a:xfrm>
        </p:spPr>
        <p:txBody>
          <a:bodyPr/>
          <a:lstStyle/>
          <a:p>
            <a:r>
              <a:rPr lang="en-AU" smtClean="0"/>
              <a:t>Saline intrusion into fresh aquifers</a:t>
            </a:r>
            <a:endParaRPr lang="en-US" smtClean="0"/>
          </a:p>
        </p:txBody>
      </p:sp>
      <p:sp>
        <p:nvSpPr>
          <p:cNvPr id="95234" name="Text Box 5"/>
          <p:cNvSpPr txBox="1">
            <a:spLocks noChangeArrowheads="1"/>
          </p:cNvSpPr>
          <p:nvPr/>
        </p:nvSpPr>
        <p:spPr bwMode="auto">
          <a:xfrm>
            <a:off x="619125" y="3051175"/>
            <a:ext cx="1238250" cy="457200"/>
          </a:xfrm>
          <a:prstGeom prst="rect">
            <a:avLst/>
          </a:prstGeom>
          <a:solidFill>
            <a:schemeClr val="bg1"/>
          </a:solidFill>
          <a:ln w="9525">
            <a:noFill/>
            <a:miter lim="800000"/>
            <a:headEnd/>
            <a:tailEnd/>
          </a:ln>
        </p:spPr>
        <p:txBody>
          <a:bodyPr>
            <a:spAutoFit/>
          </a:bodyPr>
          <a:lstStyle/>
          <a:p>
            <a:pPr>
              <a:spcBef>
                <a:spcPct val="50000"/>
              </a:spcBef>
            </a:pPr>
            <a:r>
              <a:rPr lang="en-AU" sz="1200" i="0">
                <a:solidFill>
                  <a:schemeClr val="tx1"/>
                </a:solidFill>
              </a:rPr>
              <a:t>Saline lake or the sea</a:t>
            </a:r>
            <a:endParaRPr lang="en-US" sz="1200" i="0">
              <a:solidFill>
                <a:schemeClr val="tx1"/>
              </a:solidFill>
            </a:endParaRPr>
          </a:p>
        </p:txBody>
      </p:sp>
      <p:grpSp>
        <p:nvGrpSpPr>
          <p:cNvPr id="221194" name="Group 10"/>
          <p:cNvGrpSpPr>
            <a:grpSpLocks/>
          </p:cNvGrpSpPr>
          <p:nvPr/>
        </p:nvGrpSpPr>
        <p:grpSpPr bwMode="auto">
          <a:xfrm>
            <a:off x="2038350" y="3346450"/>
            <a:ext cx="4962525" cy="419100"/>
            <a:chOff x="1614" y="1944"/>
            <a:chExt cx="3126" cy="264"/>
          </a:xfrm>
        </p:grpSpPr>
        <p:sp>
          <p:nvSpPr>
            <p:cNvPr id="95242" name="Freeform 6"/>
            <p:cNvSpPr>
              <a:spLocks/>
            </p:cNvSpPr>
            <p:nvPr/>
          </p:nvSpPr>
          <p:spPr bwMode="auto">
            <a:xfrm>
              <a:off x="1614" y="1944"/>
              <a:ext cx="3126" cy="264"/>
            </a:xfrm>
            <a:custGeom>
              <a:avLst/>
              <a:gdLst>
                <a:gd name="T0" fmla="*/ 0 w 3126"/>
                <a:gd name="T1" fmla="*/ 102 h 264"/>
                <a:gd name="T2" fmla="*/ 420 w 3126"/>
                <a:gd name="T3" fmla="*/ 60 h 264"/>
                <a:gd name="T4" fmla="*/ 756 w 3126"/>
                <a:gd name="T5" fmla="*/ 72 h 264"/>
                <a:gd name="T6" fmla="*/ 1056 w 3126"/>
                <a:gd name="T7" fmla="*/ 126 h 264"/>
                <a:gd name="T8" fmla="*/ 1152 w 3126"/>
                <a:gd name="T9" fmla="*/ 162 h 264"/>
                <a:gd name="T10" fmla="*/ 1368 w 3126"/>
                <a:gd name="T11" fmla="*/ 114 h 264"/>
                <a:gd name="T12" fmla="*/ 1680 w 3126"/>
                <a:gd name="T13" fmla="*/ 66 h 264"/>
                <a:gd name="T14" fmla="*/ 1974 w 3126"/>
                <a:gd name="T15" fmla="*/ 114 h 264"/>
                <a:gd name="T16" fmla="*/ 2214 w 3126"/>
                <a:gd name="T17" fmla="*/ 258 h 264"/>
                <a:gd name="T18" fmla="*/ 2316 w 3126"/>
                <a:gd name="T19" fmla="*/ 264 h 264"/>
                <a:gd name="T20" fmla="*/ 2634 w 3126"/>
                <a:gd name="T21" fmla="*/ 114 h 264"/>
                <a:gd name="T22" fmla="*/ 2844 w 3126"/>
                <a:gd name="T23" fmla="*/ 42 h 264"/>
                <a:gd name="T24" fmla="*/ 3126 w 3126"/>
                <a:gd name="T25" fmla="*/ 0 h 2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26"/>
                <a:gd name="T40" fmla="*/ 0 h 264"/>
                <a:gd name="T41" fmla="*/ 3126 w 3126"/>
                <a:gd name="T42" fmla="*/ 264 h 26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26" h="264">
                  <a:moveTo>
                    <a:pt x="0" y="102"/>
                  </a:moveTo>
                  <a:lnTo>
                    <a:pt x="420" y="60"/>
                  </a:lnTo>
                  <a:lnTo>
                    <a:pt x="756" y="72"/>
                  </a:lnTo>
                  <a:lnTo>
                    <a:pt x="1056" y="126"/>
                  </a:lnTo>
                  <a:lnTo>
                    <a:pt x="1152" y="162"/>
                  </a:lnTo>
                  <a:lnTo>
                    <a:pt x="1368" y="114"/>
                  </a:lnTo>
                  <a:lnTo>
                    <a:pt x="1680" y="66"/>
                  </a:lnTo>
                  <a:lnTo>
                    <a:pt x="1974" y="114"/>
                  </a:lnTo>
                  <a:lnTo>
                    <a:pt x="2214" y="258"/>
                  </a:lnTo>
                  <a:lnTo>
                    <a:pt x="2316" y="264"/>
                  </a:lnTo>
                  <a:lnTo>
                    <a:pt x="2634" y="114"/>
                  </a:lnTo>
                  <a:lnTo>
                    <a:pt x="2844" y="42"/>
                  </a:lnTo>
                  <a:lnTo>
                    <a:pt x="3126" y="0"/>
                  </a:lnTo>
                </a:path>
              </a:pathLst>
            </a:custGeom>
            <a:noFill/>
            <a:ln w="28575" cap="flat" cmpd="sng">
              <a:solidFill>
                <a:srgbClr val="3366FF"/>
              </a:solidFill>
              <a:prstDash val="dash"/>
              <a:round/>
              <a:headEnd/>
              <a:tailEnd/>
            </a:ln>
          </p:spPr>
          <p:txBody>
            <a:bodyPr/>
            <a:lstStyle/>
            <a:p>
              <a:endParaRPr lang="en-US"/>
            </a:p>
          </p:txBody>
        </p:sp>
        <p:sp>
          <p:nvSpPr>
            <p:cNvPr id="95243" name="AutoShape 7"/>
            <p:cNvSpPr>
              <a:spLocks noChangeArrowheads="1"/>
            </p:cNvSpPr>
            <p:nvPr/>
          </p:nvSpPr>
          <p:spPr bwMode="auto">
            <a:xfrm>
              <a:off x="2556" y="1956"/>
              <a:ext cx="60" cy="102"/>
            </a:xfrm>
            <a:prstGeom prst="downArrow">
              <a:avLst>
                <a:gd name="adj1" fmla="val 50000"/>
                <a:gd name="adj2" fmla="val 42500"/>
              </a:avLst>
            </a:prstGeom>
            <a:solidFill>
              <a:schemeClr val="accent1"/>
            </a:solidFill>
            <a:ln w="9525">
              <a:solidFill>
                <a:schemeClr val="tx1"/>
              </a:solid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sp>
          <p:nvSpPr>
            <p:cNvPr id="95244" name="AutoShape 8"/>
            <p:cNvSpPr>
              <a:spLocks noChangeArrowheads="1"/>
            </p:cNvSpPr>
            <p:nvPr/>
          </p:nvSpPr>
          <p:spPr bwMode="auto">
            <a:xfrm>
              <a:off x="2944" y="1948"/>
              <a:ext cx="60" cy="102"/>
            </a:xfrm>
            <a:prstGeom prst="downArrow">
              <a:avLst>
                <a:gd name="adj1" fmla="val 50000"/>
                <a:gd name="adj2" fmla="val 42500"/>
              </a:avLst>
            </a:prstGeom>
            <a:solidFill>
              <a:schemeClr val="accent1"/>
            </a:solidFill>
            <a:ln w="9525">
              <a:solidFill>
                <a:schemeClr val="tx1"/>
              </a:solid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sp>
          <p:nvSpPr>
            <p:cNvPr id="95245" name="AutoShape 9"/>
            <p:cNvSpPr>
              <a:spLocks noChangeArrowheads="1"/>
            </p:cNvSpPr>
            <p:nvPr/>
          </p:nvSpPr>
          <p:spPr bwMode="auto">
            <a:xfrm>
              <a:off x="3742" y="1948"/>
              <a:ext cx="66" cy="210"/>
            </a:xfrm>
            <a:prstGeom prst="downArrow">
              <a:avLst>
                <a:gd name="adj1" fmla="val 50000"/>
                <a:gd name="adj2" fmla="val 79545"/>
              </a:avLst>
            </a:prstGeom>
            <a:solidFill>
              <a:schemeClr val="accent1"/>
            </a:solidFill>
            <a:ln w="9525">
              <a:solidFill>
                <a:schemeClr val="tx1"/>
              </a:solid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grpSp>
      <p:sp>
        <p:nvSpPr>
          <p:cNvPr id="221195" name="AutoShape 11"/>
          <p:cNvSpPr>
            <a:spLocks noChangeArrowheads="1"/>
          </p:cNvSpPr>
          <p:nvPr/>
        </p:nvSpPr>
        <p:spPr bwMode="auto">
          <a:xfrm rot="-1553221">
            <a:off x="2809875" y="4737100"/>
            <a:ext cx="1219200" cy="238125"/>
          </a:xfrm>
          <a:prstGeom prst="rightArrow">
            <a:avLst>
              <a:gd name="adj1" fmla="val 50000"/>
              <a:gd name="adj2" fmla="val 128000"/>
            </a:avLst>
          </a:prstGeom>
          <a:solidFill>
            <a:srgbClr val="FF3300">
              <a:alpha val="38823"/>
            </a:srgbClr>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95237" name="Line 12"/>
          <p:cNvSpPr>
            <a:spLocks noChangeShapeType="1"/>
          </p:cNvSpPr>
          <p:nvPr/>
        </p:nvSpPr>
        <p:spPr bwMode="auto">
          <a:xfrm>
            <a:off x="2009775" y="3517900"/>
            <a:ext cx="5057775" cy="0"/>
          </a:xfrm>
          <a:prstGeom prst="line">
            <a:avLst/>
          </a:prstGeom>
          <a:noFill/>
          <a:ln w="28575">
            <a:solidFill>
              <a:srgbClr val="FF3300"/>
            </a:solidFill>
            <a:prstDash val="sysDot"/>
            <a:round/>
            <a:headEnd/>
            <a:tailEnd/>
          </a:ln>
        </p:spPr>
        <p:txBody>
          <a:bodyPr/>
          <a:lstStyle/>
          <a:p>
            <a:endParaRPr lang="en-US"/>
          </a:p>
        </p:txBody>
      </p:sp>
      <p:sp>
        <p:nvSpPr>
          <p:cNvPr id="95238" name="Text Box 13"/>
          <p:cNvSpPr txBox="1">
            <a:spLocks noChangeArrowheads="1"/>
          </p:cNvSpPr>
          <p:nvPr/>
        </p:nvSpPr>
        <p:spPr bwMode="auto">
          <a:xfrm>
            <a:off x="6991350" y="3308350"/>
            <a:ext cx="1000125" cy="396875"/>
          </a:xfrm>
          <a:prstGeom prst="rect">
            <a:avLst/>
          </a:prstGeom>
          <a:noFill/>
          <a:ln w="9525">
            <a:noFill/>
            <a:miter lim="800000"/>
            <a:headEnd/>
            <a:tailEnd/>
          </a:ln>
        </p:spPr>
        <p:txBody>
          <a:bodyPr>
            <a:spAutoFit/>
          </a:bodyPr>
          <a:lstStyle/>
          <a:p>
            <a:pPr>
              <a:spcBef>
                <a:spcPct val="50000"/>
              </a:spcBef>
            </a:pPr>
            <a:r>
              <a:rPr lang="en-AU" sz="1000" i="0">
                <a:solidFill>
                  <a:srgbClr val="FF3300"/>
                </a:solidFill>
              </a:rPr>
              <a:t>Sea / lake level</a:t>
            </a:r>
            <a:endParaRPr lang="en-US" sz="1000" i="0">
              <a:solidFill>
                <a:srgbClr val="FF3300"/>
              </a:solidFill>
            </a:endParaRPr>
          </a:p>
        </p:txBody>
      </p:sp>
      <p:grpSp>
        <p:nvGrpSpPr>
          <p:cNvPr id="95239" name="Group 18"/>
          <p:cNvGrpSpPr>
            <a:grpSpLocks/>
          </p:cNvGrpSpPr>
          <p:nvPr/>
        </p:nvGrpSpPr>
        <p:grpSpPr bwMode="auto">
          <a:xfrm>
            <a:off x="438150" y="2098675"/>
            <a:ext cx="7132638" cy="4283075"/>
            <a:chOff x="276" y="1322"/>
            <a:chExt cx="4493" cy="2698"/>
          </a:xfrm>
        </p:grpSpPr>
        <p:pic>
          <p:nvPicPr>
            <p:cNvPr id="95240" name="Picture 4"/>
            <p:cNvPicPr>
              <a:picLocks noChangeAspect="1" noChangeArrowheads="1"/>
            </p:cNvPicPr>
            <p:nvPr/>
          </p:nvPicPr>
          <p:blipFill>
            <a:blip r:embed="rId3"/>
            <a:srcRect/>
            <a:stretch>
              <a:fillRect/>
            </a:stretch>
          </p:blipFill>
          <p:spPr bwMode="auto">
            <a:xfrm>
              <a:off x="276" y="1322"/>
              <a:ext cx="4493" cy="2698"/>
            </a:xfrm>
            <a:prstGeom prst="rect">
              <a:avLst/>
            </a:prstGeom>
            <a:noFill/>
            <a:ln w="9525">
              <a:noFill/>
              <a:miter lim="800000"/>
              <a:headEnd/>
              <a:tailEnd/>
            </a:ln>
          </p:spPr>
        </p:pic>
        <p:sp>
          <p:nvSpPr>
            <p:cNvPr id="95241" name="Rectangle 17"/>
            <p:cNvSpPr>
              <a:spLocks noChangeArrowheads="1"/>
            </p:cNvSpPr>
            <p:nvPr/>
          </p:nvSpPr>
          <p:spPr bwMode="auto">
            <a:xfrm>
              <a:off x="3201" y="3761"/>
              <a:ext cx="1208" cy="94"/>
            </a:xfrm>
            <a:prstGeom prst="rect">
              <a:avLst/>
            </a:prstGeom>
            <a:solidFill>
              <a:srgbClr val="FFF5C8"/>
            </a:solid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21194"/>
                                        </p:tgtEl>
                                        <p:attrNameLst>
                                          <p:attrName>style.visibility</p:attrName>
                                        </p:attrNameLst>
                                      </p:cBhvr>
                                      <p:to>
                                        <p:strVal val="visible"/>
                                      </p:to>
                                    </p:set>
                                    <p:animEffect transition="in" filter="dissolve">
                                      <p:cBhvr>
                                        <p:cTn id="7" dur="500"/>
                                        <p:tgtEl>
                                          <p:spTgt spid="2211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21195"/>
                                        </p:tgtEl>
                                        <p:attrNameLst>
                                          <p:attrName>style.visibility</p:attrName>
                                        </p:attrNameLst>
                                      </p:cBhvr>
                                      <p:to>
                                        <p:strVal val="visible"/>
                                      </p:to>
                                    </p:set>
                                    <p:animEffect transition="in" filter="dissolve">
                                      <p:cBhvr>
                                        <p:cTn id="12" dur="500"/>
                                        <p:tgtEl>
                                          <p:spTgt spid="221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9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a:spLocks noGrp="1" noChangeArrowheads="1"/>
          </p:cNvSpPr>
          <p:nvPr>
            <p:ph type="title"/>
          </p:nvPr>
        </p:nvSpPr>
        <p:spPr>
          <a:xfrm>
            <a:off x="438150" y="806450"/>
            <a:ext cx="6737350" cy="493713"/>
          </a:xfrm>
        </p:spPr>
        <p:txBody>
          <a:bodyPr/>
          <a:lstStyle/>
          <a:p>
            <a:r>
              <a:rPr lang="en-AU" smtClean="0"/>
              <a:t>Key management principles…</a:t>
            </a:r>
            <a:endParaRPr lang="en-US" smtClean="0"/>
          </a:p>
        </p:txBody>
      </p:sp>
      <p:sp>
        <p:nvSpPr>
          <p:cNvPr id="97282" name="Rectangle 3"/>
          <p:cNvSpPr>
            <a:spLocks noGrp="1" noChangeArrowheads="1"/>
          </p:cNvSpPr>
          <p:nvPr>
            <p:ph type="body" idx="1"/>
          </p:nvPr>
        </p:nvSpPr>
        <p:spPr>
          <a:xfrm>
            <a:off x="438150" y="1884363"/>
            <a:ext cx="7586663" cy="4332287"/>
          </a:xfrm>
        </p:spPr>
        <p:txBody>
          <a:bodyPr/>
          <a:lstStyle/>
          <a:p>
            <a:pPr marL="268288" indent="-268288">
              <a:spcBef>
                <a:spcPts val="600"/>
              </a:spcBef>
              <a:spcAft>
                <a:spcPts val="600"/>
              </a:spcAft>
              <a:buFontTx/>
              <a:buChar char="•"/>
            </a:pPr>
            <a:r>
              <a:rPr lang="en-AU" smtClean="0"/>
              <a:t>Regardless of the key issue for management, the same key elements of the water cycle apply – it is how you use them to achieve your objective that differs.</a:t>
            </a:r>
          </a:p>
          <a:p>
            <a:pPr marL="268288" indent="-268288">
              <a:spcBef>
                <a:spcPts val="600"/>
              </a:spcBef>
              <a:spcAft>
                <a:spcPts val="600"/>
              </a:spcAft>
              <a:buFontTx/>
              <a:buChar char="•"/>
            </a:pPr>
            <a:r>
              <a:rPr lang="en-AU" smtClean="0"/>
              <a:t>Groundwater systems are complex natural systems – the response to your management action is not always what you may expect.  Always think of the range of potential outcomes.</a:t>
            </a:r>
          </a:p>
          <a:p>
            <a:pPr marL="268288" indent="-268288">
              <a:spcBef>
                <a:spcPts val="600"/>
              </a:spcBef>
              <a:spcAft>
                <a:spcPts val="600"/>
              </a:spcAft>
              <a:buFontTx/>
              <a:buChar char="•"/>
            </a:pPr>
            <a:r>
              <a:rPr lang="en-AU" smtClean="0"/>
              <a:t>Scale matters – there is a much greater likelihood of interacting with local systems in observable timeframes than with a regional system.</a:t>
            </a:r>
            <a:endParaRPr lang="en-US" smtClean="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p:cNvSpPr>
            <a:spLocks noGrp="1" noChangeArrowheads="1"/>
          </p:cNvSpPr>
          <p:nvPr>
            <p:ph type="title"/>
          </p:nvPr>
        </p:nvSpPr>
        <p:spPr>
          <a:xfrm>
            <a:off x="438150" y="798513"/>
            <a:ext cx="5373688" cy="987425"/>
          </a:xfrm>
        </p:spPr>
        <p:txBody>
          <a:bodyPr/>
          <a:lstStyle/>
          <a:p>
            <a:r>
              <a:rPr lang="en-AU" smtClean="0"/>
              <a:t>Threats of pollution on groundwater</a:t>
            </a:r>
            <a:endParaRPr lang="en-US" smtClean="0"/>
          </a:p>
        </p:txBody>
      </p:sp>
      <p:pic>
        <p:nvPicPr>
          <p:cNvPr id="99330" name="Picture 4" descr="faqs_pollution_sources"/>
          <p:cNvPicPr>
            <a:picLocks noChangeAspect="1" noChangeArrowheads="1"/>
          </p:cNvPicPr>
          <p:nvPr/>
        </p:nvPicPr>
        <p:blipFill>
          <a:blip r:embed="rId3"/>
          <a:srcRect/>
          <a:stretch>
            <a:fillRect/>
          </a:stretch>
        </p:blipFill>
        <p:spPr bwMode="auto">
          <a:xfrm>
            <a:off x="933450" y="1836738"/>
            <a:ext cx="5981700" cy="4764087"/>
          </a:xfrm>
          <a:prstGeom prst="rect">
            <a:avLst/>
          </a:prstGeom>
          <a:noFill/>
          <a:ln w="9525">
            <a:noFill/>
            <a:miter lim="800000"/>
            <a:headEnd/>
            <a:tailEnd/>
          </a:ln>
        </p:spPr>
      </p:pic>
      <p:sp>
        <p:nvSpPr>
          <p:cNvPr id="99331" name="Text Box 5"/>
          <p:cNvSpPr txBox="1">
            <a:spLocks noChangeArrowheads="1"/>
          </p:cNvSpPr>
          <p:nvPr/>
        </p:nvSpPr>
        <p:spPr bwMode="auto">
          <a:xfrm>
            <a:off x="1004888" y="5599113"/>
            <a:ext cx="2173287" cy="915987"/>
          </a:xfrm>
          <a:prstGeom prst="rect">
            <a:avLst/>
          </a:prstGeom>
          <a:noFill/>
          <a:ln w="9525">
            <a:noFill/>
            <a:miter lim="800000"/>
            <a:headEnd/>
            <a:tailEnd/>
          </a:ln>
        </p:spPr>
        <p:txBody>
          <a:bodyPr>
            <a:spAutoFit/>
          </a:bodyPr>
          <a:lstStyle/>
          <a:p>
            <a:r>
              <a:rPr lang="en-AU" i="0">
                <a:solidFill>
                  <a:schemeClr val="tx1"/>
                </a:solidFill>
              </a:rPr>
              <a:t>The many sources of contamination to groundwater</a:t>
            </a:r>
            <a:endParaRPr lang="en-US" i="0">
              <a:solidFill>
                <a:schemeClr val="tx1"/>
              </a:solidFill>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a:spLocks noGrp="1" noChangeArrowheads="1"/>
          </p:cNvSpPr>
          <p:nvPr>
            <p:ph type="title"/>
          </p:nvPr>
        </p:nvSpPr>
        <p:spPr>
          <a:xfrm>
            <a:off x="455613" y="798513"/>
            <a:ext cx="6019800" cy="987425"/>
          </a:xfrm>
        </p:spPr>
        <p:txBody>
          <a:bodyPr/>
          <a:lstStyle/>
          <a:p>
            <a:r>
              <a:rPr lang="en-AU" smtClean="0"/>
              <a:t>Point Source and Diffuse Sources</a:t>
            </a:r>
            <a:endParaRPr lang="en-US" smtClean="0"/>
          </a:p>
        </p:txBody>
      </p:sp>
      <p:sp>
        <p:nvSpPr>
          <p:cNvPr id="101378" name="Rectangle 3"/>
          <p:cNvSpPr>
            <a:spLocks noGrp="1" noChangeArrowheads="1"/>
          </p:cNvSpPr>
          <p:nvPr>
            <p:ph type="body" idx="1"/>
          </p:nvPr>
        </p:nvSpPr>
        <p:spPr>
          <a:xfrm>
            <a:off x="438150" y="1933575"/>
            <a:ext cx="7416800" cy="3705225"/>
          </a:xfrm>
        </p:spPr>
        <p:txBody>
          <a:bodyPr/>
          <a:lstStyle/>
          <a:p>
            <a:pPr marL="268288" indent="-268288">
              <a:spcBef>
                <a:spcPts val="600"/>
              </a:spcBef>
              <a:spcAft>
                <a:spcPts val="600"/>
              </a:spcAft>
              <a:buFont typeface="Times New Roman" pitchFamily="18" charset="0"/>
              <a:buChar char="•"/>
            </a:pPr>
            <a:r>
              <a:rPr lang="en-AU" smtClean="0"/>
              <a:t>Point source (localised) eg.</a:t>
            </a:r>
          </a:p>
          <a:p>
            <a:pPr marL="806450" lvl="1" indent="-268288">
              <a:lnSpc>
                <a:spcPct val="90000"/>
              </a:lnSpc>
              <a:buFontTx/>
              <a:buChar char="•"/>
            </a:pPr>
            <a:r>
              <a:rPr lang="en-AU" smtClean="0"/>
              <a:t>Leaking tanks</a:t>
            </a:r>
          </a:p>
          <a:p>
            <a:pPr marL="806450" lvl="1" indent="-268288">
              <a:lnSpc>
                <a:spcPct val="90000"/>
              </a:lnSpc>
              <a:buFontTx/>
              <a:buChar char="•"/>
            </a:pPr>
            <a:r>
              <a:rPr lang="en-AU" smtClean="0"/>
              <a:t>Spills</a:t>
            </a:r>
          </a:p>
          <a:p>
            <a:pPr marL="806450" lvl="1" indent="-268288">
              <a:lnSpc>
                <a:spcPct val="90000"/>
              </a:lnSpc>
              <a:buFontTx/>
              <a:buChar char="•"/>
            </a:pPr>
            <a:r>
              <a:rPr lang="en-AU" smtClean="0"/>
              <a:t>Landfills</a:t>
            </a:r>
          </a:p>
          <a:p>
            <a:pPr marL="806450" lvl="1" indent="-268288">
              <a:lnSpc>
                <a:spcPct val="90000"/>
              </a:lnSpc>
              <a:buFontTx/>
              <a:buChar char="•"/>
            </a:pPr>
            <a:r>
              <a:rPr lang="en-AU" smtClean="0"/>
              <a:t>Tar pits</a:t>
            </a:r>
          </a:p>
          <a:p>
            <a:pPr marL="268288" indent="-268288">
              <a:lnSpc>
                <a:spcPct val="90000"/>
              </a:lnSpc>
              <a:buFont typeface="Times New Roman" pitchFamily="18" charset="0"/>
              <a:buChar char="•"/>
            </a:pPr>
            <a:r>
              <a:rPr lang="en-AU" smtClean="0"/>
              <a:t>Diffuse source</a:t>
            </a:r>
          </a:p>
          <a:p>
            <a:pPr marL="806450" lvl="1" indent="-268288">
              <a:lnSpc>
                <a:spcPct val="90000"/>
              </a:lnSpc>
              <a:buFontTx/>
              <a:buChar char="•"/>
            </a:pPr>
            <a:r>
              <a:rPr lang="en-AU" smtClean="0"/>
              <a:t>Agricultural chemical application (fertilizers / pesticides)</a:t>
            </a:r>
          </a:p>
          <a:p>
            <a:pPr marL="806450" lvl="1" indent="-268288">
              <a:lnSpc>
                <a:spcPct val="90000"/>
              </a:lnSpc>
              <a:buFontTx/>
              <a:buChar char="•"/>
            </a:pPr>
            <a:r>
              <a:rPr lang="en-AU" smtClean="0"/>
              <a:t>Large scale mining</a:t>
            </a:r>
            <a:endParaRPr lang="en-US" smtClean="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a:xfrm>
            <a:off x="438150" y="806450"/>
            <a:ext cx="3313113" cy="493713"/>
          </a:xfrm>
        </p:spPr>
        <p:txBody>
          <a:bodyPr/>
          <a:lstStyle/>
          <a:p>
            <a:r>
              <a:rPr lang="en-AU" smtClean="0"/>
              <a:t>Point source</a:t>
            </a:r>
            <a:endParaRPr lang="en-US" smtClean="0"/>
          </a:p>
        </p:txBody>
      </p:sp>
      <p:graphicFrame>
        <p:nvGraphicFramePr>
          <p:cNvPr id="224294" name="Group 38"/>
          <p:cNvGraphicFramePr>
            <a:graphicFrameLocks noGrp="1"/>
          </p:cNvGraphicFramePr>
          <p:nvPr>
            <p:ph idx="1"/>
          </p:nvPr>
        </p:nvGraphicFramePr>
        <p:xfrm>
          <a:off x="457200" y="1744663"/>
          <a:ext cx="6813550" cy="4079876"/>
        </p:xfrm>
        <a:graphic>
          <a:graphicData uri="http://schemas.openxmlformats.org/drawingml/2006/table">
            <a:tbl>
              <a:tblPr/>
              <a:tblGrid>
                <a:gridCol w="1612900"/>
                <a:gridCol w="2359025"/>
                <a:gridCol w="2841625"/>
              </a:tblGrid>
              <a:tr h="685800">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600" b="1" i="0" u="none" strike="noStrike" cap="none" normalizeH="0" baseline="0" smtClean="0">
                          <a:ln>
                            <a:noFill/>
                          </a:ln>
                          <a:solidFill>
                            <a:srgbClr val="000000"/>
                          </a:solidFill>
                          <a:effectLst/>
                          <a:latin typeface="Arial" charset="0"/>
                          <a:cs typeface="Arial" charset="0"/>
                        </a:rPr>
                        <a:t>Type</a:t>
                      </a:r>
                      <a:endParaRPr kumimoji="0" lang="en-US" sz="1600" b="1" i="0" u="none" strike="noStrike" cap="none" normalizeH="0" baseline="0" smtClean="0">
                        <a:ln>
                          <a:noFill/>
                        </a:ln>
                        <a:solidFill>
                          <a:srgbClr val="00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600" b="1" i="0" u="none" strike="noStrike" cap="none" normalizeH="0" baseline="0" smtClean="0">
                          <a:ln>
                            <a:noFill/>
                          </a:ln>
                          <a:solidFill>
                            <a:srgbClr val="000000"/>
                          </a:solidFill>
                          <a:effectLst/>
                          <a:latin typeface="Arial" charset="0"/>
                          <a:cs typeface="Arial" charset="0"/>
                        </a:rPr>
                        <a:t>Source</a:t>
                      </a:r>
                      <a:endParaRPr kumimoji="0" lang="en-US" sz="1600" b="1"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600" b="1" i="0" u="none" strike="noStrike" cap="none" normalizeH="0" baseline="0" smtClean="0">
                          <a:ln>
                            <a:noFill/>
                          </a:ln>
                          <a:solidFill>
                            <a:srgbClr val="000000"/>
                          </a:solidFill>
                          <a:effectLst/>
                          <a:latin typeface="Arial" charset="0"/>
                          <a:cs typeface="Arial" charset="0"/>
                        </a:rPr>
                        <a:t>Contaminants</a:t>
                      </a:r>
                      <a:endParaRPr kumimoji="0" lang="en-US" sz="1600" b="1"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131888">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600" b="0" i="0" u="none" strike="noStrike" cap="none" normalizeH="0" baseline="0" smtClean="0">
                          <a:ln>
                            <a:noFill/>
                          </a:ln>
                          <a:solidFill>
                            <a:srgbClr val="000000"/>
                          </a:solidFill>
                          <a:effectLst/>
                          <a:latin typeface="Arial" charset="0"/>
                          <a:cs typeface="Arial" charset="0"/>
                        </a:rPr>
                        <a:t>Industry</a:t>
                      </a:r>
                      <a:endParaRPr kumimoji="0" lang="en-US" sz="1600" b="0" i="0" u="none" strike="noStrike" cap="none" normalizeH="0" baseline="0" smtClean="0">
                        <a:ln>
                          <a:noFill/>
                        </a:ln>
                        <a:solidFill>
                          <a:srgbClr val="00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600" b="0" i="0" u="none" strike="noStrike" cap="none" normalizeH="0" baseline="0" smtClean="0">
                          <a:ln>
                            <a:noFill/>
                          </a:ln>
                          <a:solidFill>
                            <a:srgbClr val="000000"/>
                          </a:solidFill>
                          <a:effectLst/>
                          <a:latin typeface="Arial" charset="0"/>
                          <a:cs typeface="Arial" charset="0"/>
                        </a:rPr>
                        <a:t>Manufacturing sites, refining sites, gasworks</a:t>
                      </a:r>
                      <a:endParaRPr kumimoji="0" lang="en-US" sz="16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600" b="0" i="0" u="none" strike="noStrike" cap="none" normalizeH="0" baseline="0" smtClean="0">
                          <a:ln>
                            <a:noFill/>
                          </a:ln>
                          <a:solidFill>
                            <a:srgbClr val="000000"/>
                          </a:solidFill>
                          <a:effectLst/>
                          <a:latin typeface="Arial" charset="0"/>
                          <a:cs typeface="Arial" charset="0"/>
                        </a:rPr>
                        <a:t>Organic compounds, heavy metals</a:t>
                      </a:r>
                      <a:endParaRPr kumimoji="0" lang="en-US" sz="16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130300">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600" b="0" i="0" u="none" strike="noStrike" cap="none" normalizeH="0" baseline="0" smtClean="0">
                          <a:ln>
                            <a:noFill/>
                          </a:ln>
                          <a:solidFill>
                            <a:srgbClr val="000000"/>
                          </a:solidFill>
                          <a:effectLst/>
                          <a:latin typeface="Arial" charset="0"/>
                          <a:cs typeface="Arial" charset="0"/>
                        </a:rPr>
                        <a:t>Waste disposal</a:t>
                      </a:r>
                      <a:endParaRPr kumimoji="0" lang="en-US" sz="1600" b="0" i="0" u="none" strike="noStrike" cap="none" normalizeH="0" baseline="0" smtClean="0">
                        <a:ln>
                          <a:noFill/>
                        </a:ln>
                        <a:solidFill>
                          <a:srgbClr val="00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600" b="0" i="0" u="none" strike="noStrike" cap="none" normalizeH="0" baseline="0" smtClean="0">
                          <a:ln>
                            <a:noFill/>
                          </a:ln>
                          <a:solidFill>
                            <a:srgbClr val="000000"/>
                          </a:solidFill>
                          <a:effectLst/>
                          <a:latin typeface="Arial" charset="0"/>
                          <a:cs typeface="Arial" charset="0"/>
                        </a:rPr>
                        <a:t>Landfills</a:t>
                      </a:r>
                    </a:p>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600" b="0" i="0" u="none" strike="noStrike" cap="none" normalizeH="0" baseline="0" smtClean="0">
                          <a:ln>
                            <a:noFill/>
                          </a:ln>
                          <a:solidFill>
                            <a:srgbClr val="000000"/>
                          </a:solidFill>
                          <a:effectLst/>
                          <a:latin typeface="Arial" charset="0"/>
                          <a:cs typeface="Arial" charset="0"/>
                        </a:rPr>
                        <a:t>Septic tanks</a:t>
                      </a:r>
                      <a:endParaRPr kumimoji="0" lang="en-US" sz="16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600" b="0" i="0" u="none" strike="noStrike" cap="none" normalizeH="0" baseline="0" smtClean="0">
                          <a:ln>
                            <a:noFill/>
                          </a:ln>
                          <a:solidFill>
                            <a:srgbClr val="000000"/>
                          </a:solidFill>
                          <a:effectLst/>
                          <a:latin typeface="Arial" charset="0"/>
                          <a:cs typeface="Arial" charset="0"/>
                        </a:rPr>
                        <a:t>Heavy metals, organic compounds, BOD</a:t>
                      </a:r>
                      <a:r>
                        <a:rPr kumimoji="0" lang="en-AU" sz="1600" b="0" i="0" u="none" strike="noStrike" cap="none" normalizeH="0" baseline="30000" smtClean="0">
                          <a:ln>
                            <a:noFill/>
                          </a:ln>
                          <a:solidFill>
                            <a:srgbClr val="000000"/>
                          </a:solidFill>
                          <a:effectLst/>
                          <a:latin typeface="Arial" charset="0"/>
                          <a:cs typeface="Arial" charset="0"/>
                        </a:rPr>
                        <a:t>1</a:t>
                      </a:r>
                      <a:r>
                        <a:rPr kumimoji="0" lang="en-AU" sz="1600" b="0" i="0" u="none" strike="noStrike" cap="none" normalizeH="0" baseline="0" smtClean="0">
                          <a:ln>
                            <a:noFill/>
                          </a:ln>
                          <a:solidFill>
                            <a:srgbClr val="000000"/>
                          </a:solidFill>
                          <a:effectLst/>
                          <a:latin typeface="Arial" charset="0"/>
                          <a:cs typeface="Arial" charset="0"/>
                        </a:rPr>
                        <a:t>, COD</a:t>
                      </a:r>
                      <a:r>
                        <a:rPr kumimoji="0" lang="en-AU" sz="1600" b="0" i="0" u="none" strike="noStrike" cap="none" normalizeH="0" baseline="30000" smtClean="0">
                          <a:ln>
                            <a:noFill/>
                          </a:ln>
                          <a:solidFill>
                            <a:srgbClr val="000000"/>
                          </a:solidFill>
                          <a:effectLst/>
                          <a:latin typeface="Arial" charset="0"/>
                          <a:cs typeface="Arial" charset="0"/>
                        </a:rPr>
                        <a:t>2</a:t>
                      </a:r>
                      <a:r>
                        <a:rPr kumimoji="0" lang="en-AU" sz="1600" b="0" i="0" u="none" strike="noStrike" cap="none" normalizeH="0" baseline="0" smtClean="0">
                          <a:ln>
                            <a:noFill/>
                          </a:ln>
                          <a:solidFill>
                            <a:srgbClr val="000000"/>
                          </a:solidFill>
                          <a:effectLst/>
                          <a:latin typeface="Arial" charset="0"/>
                          <a:cs typeface="Arial" charset="0"/>
                        </a:rPr>
                        <a:t>, nutrients</a:t>
                      </a:r>
                      <a:endParaRPr kumimoji="0" lang="en-US" sz="16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131888">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600" b="0" i="0" u="none" strike="noStrike" cap="none" normalizeH="0" baseline="0" smtClean="0">
                          <a:ln>
                            <a:noFill/>
                          </a:ln>
                          <a:solidFill>
                            <a:srgbClr val="000000"/>
                          </a:solidFill>
                          <a:effectLst/>
                          <a:latin typeface="Arial" charset="0"/>
                          <a:cs typeface="Arial" charset="0"/>
                        </a:rPr>
                        <a:t>Commercial</a:t>
                      </a:r>
                      <a:endParaRPr kumimoji="0" lang="en-US" sz="1600" b="0" i="0" u="none" strike="noStrike" cap="none" normalizeH="0" baseline="0" smtClean="0">
                        <a:ln>
                          <a:noFill/>
                        </a:ln>
                        <a:solidFill>
                          <a:srgbClr val="00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600" b="0" i="0" u="none" strike="noStrike" cap="none" normalizeH="0" baseline="0" smtClean="0">
                          <a:ln>
                            <a:noFill/>
                          </a:ln>
                          <a:solidFill>
                            <a:srgbClr val="000000"/>
                          </a:solidFill>
                          <a:effectLst/>
                          <a:latin typeface="Arial" charset="0"/>
                          <a:cs typeface="Arial" charset="0"/>
                        </a:rPr>
                        <a:t>Petrol stations</a:t>
                      </a:r>
                    </a:p>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600" b="0" i="0" u="none" strike="noStrike" cap="none" normalizeH="0" baseline="0" smtClean="0">
                          <a:ln>
                            <a:noFill/>
                          </a:ln>
                          <a:solidFill>
                            <a:srgbClr val="000000"/>
                          </a:solidFill>
                          <a:effectLst/>
                          <a:latin typeface="Arial" charset="0"/>
                          <a:cs typeface="Arial" charset="0"/>
                        </a:rPr>
                        <a:t>Dry cleaners</a:t>
                      </a:r>
                      <a:endParaRPr kumimoji="0" lang="en-US" sz="16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600" b="0" i="0" u="none" strike="noStrike" cap="none" normalizeH="0" baseline="0" smtClean="0">
                          <a:ln>
                            <a:noFill/>
                          </a:ln>
                          <a:solidFill>
                            <a:srgbClr val="000000"/>
                          </a:solidFill>
                          <a:effectLst/>
                          <a:latin typeface="Arial" charset="0"/>
                          <a:cs typeface="Arial" charset="0"/>
                        </a:rPr>
                        <a:t>Petroleum hydrocarbons, chlorinated hydrocarbons</a:t>
                      </a:r>
                      <a:endParaRPr kumimoji="0" lang="en-US" sz="16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3448" name="Text Box 31"/>
          <p:cNvSpPr txBox="1">
            <a:spLocks noChangeArrowheads="1"/>
          </p:cNvSpPr>
          <p:nvPr/>
        </p:nvSpPr>
        <p:spPr bwMode="auto">
          <a:xfrm>
            <a:off x="1162050" y="5907088"/>
            <a:ext cx="3705225" cy="581025"/>
          </a:xfrm>
          <a:prstGeom prst="rect">
            <a:avLst/>
          </a:prstGeom>
          <a:noFill/>
          <a:ln w="9525">
            <a:noFill/>
            <a:miter lim="800000"/>
            <a:headEnd/>
            <a:tailEnd/>
          </a:ln>
        </p:spPr>
        <p:txBody>
          <a:bodyPr>
            <a:spAutoFit/>
          </a:bodyPr>
          <a:lstStyle/>
          <a:p>
            <a:r>
              <a:rPr lang="en-AU" sz="1600" i="0">
                <a:solidFill>
                  <a:schemeClr val="tx1"/>
                </a:solidFill>
              </a:rPr>
              <a:t>1:  BOD - biological oxygen demand</a:t>
            </a:r>
          </a:p>
          <a:p>
            <a:r>
              <a:rPr lang="en-AU" sz="1600" i="0">
                <a:solidFill>
                  <a:schemeClr val="tx1"/>
                </a:solidFill>
              </a:rPr>
              <a:t>2:  COD – chemical oxygen demand</a:t>
            </a:r>
            <a:endParaRPr lang="en-US" sz="1600" i="0">
              <a:solidFill>
                <a:schemeClr val="tx1"/>
              </a:solidFill>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p:cNvSpPr>
            <a:spLocks noGrp="1" noChangeArrowheads="1"/>
          </p:cNvSpPr>
          <p:nvPr>
            <p:ph type="title"/>
          </p:nvPr>
        </p:nvSpPr>
        <p:spPr>
          <a:xfrm>
            <a:off x="438150" y="806450"/>
            <a:ext cx="5068888" cy="493713"/>
          </a:xfrm>
        </p:spPr>
        <p:txBody>
          <a:bodyPr/>
          <a:lstStyle/>
          <a:p>
            <a:r>
              <a:rPr lang="en-AU" smtClean="0"/>
              <a:t>Diffuse sources</a:t>
            </a:r>
            <a:endParaRPr lang="en-US" smtClean="0"/>
          </a:p>
        </p:txBody>
      </p:sp>
      <p:graphicFrame>
        <p:nvGraphicFramePr>
          <p:cNvPr id="226343" name="Group 39"/>
          <p:cNvGraphicFramePr>
            <a:graphicFrameLocks noGrp="1"/>
          </p:cNvGraphicFramePr>
          <p:nvPr>
            <p:ph sz="half" idx="2"/>
          </p:nvPr>
        </p:nvGraphicFramePr>
        <p:xfrm>
          <a:off x="438150" y="1733550"/>
          <a:ext cx="7073900" cy="4800601"/>
        </p:xfrm>
        <a:graphic>
          <a:graphicData uri="http://schemas.openxmlformats.org/drawingml/2006/table">
            <a:tbl>
              <a:tblPr/>
              <a:tblGrid>
                <a:gridCol w="2322513"/>
                <a:gridCol w="2349500"/>
                <a:gridCol w="2401887"/>
              </a:tblGrid>
              <a:tr h="869950">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800" b="1" i="0" u="none" strike="noStrike" cap="none" normalizeH="0" baseline="0" smtClean="0">
                          <a:ln>
                            <a:noFill/>
                          </a:ln>
                          <a:solidFill>
                            <a:srgbClr val="000000"/>
                          </a:solidFill>
                          <a:effectLst/>
                          <a:latin typeface="Arial" charset="0"/>
                          <a:cs typeface="Arial" charset="0"/>
                        </a:rPr>
                        <a:t>Type</a:t>
                      </a:r>
                      <a:endParaRPr kumimoji="0" lang="en-US" sz="1800" b="1" i="0" u="none" strike="noStrike" cap="none" normalizeH="0" baseline="0" smtClean="0">
                        <a:ln>
                          <a:noFill/>
                        </a:ln>
                        <a:solidFill>
                          <a:srgbClr val="00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800" b="1" i="0" u="none" strike="noStrike" cap="none" normalizeH="0" baseline="0" smtClean="0">
                          <a:ln>
                            <a:noFill/>
                          </a:ln>
                          <a:solidFill>
                            <a:srgbClr val="000000"/>
                          </a:solidFill>
                          <a:effectLst/>
                          <a:latin typeface="Arial" charset="0"/>
                          <a:cs typeface="Arial" charset="0"/>
                        </a:rPr>
                        <a:t>Source</a:t>
                      </a:r>
                      <a:endParaRPr kumimoji="0" lang="en-US" sz="1800" b="1"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800" b="1" i="0" u="none" strike="noStrike" cap="none" normalizeH="0" baseline="0" smtClean="0">
                          <a:ln>
                            <a:noFill/>
                          </a:ln>
                          <a:solidFill>
                            <a:srgbClr val="000000"/>
                          </a:solidFill>
                          <a:effectLst/>
                          <a:latin typeface="Arial" charset="0"/>
                          <a:cs typeface="Arial" charset="0"/>
                        </a:rPr>
                        <a:t>Contaminants</a:t>
                      </a:r>
                      <a:endParaRPr kumimoji="0" lang="en-US" sz="1800" b="1"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204913">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800" b="0" i="0" u="none" strike="noStrike" cap="none" normalizeH="0" baseline="0" smtClean="0">
                          <a:ln>
                            <a:noFill/>
                          </a:ln>
                          <a:solidFill>
                            <a:srgbClr val="000000"/>
                          </a:solidFill>
                          <a:effectLst/>
                          <a:latin typeface="Arial" charset="0"/>
                          <a:cs typeface="Arial" charset="0"/>
                        </a:rPr>
                        <a:t>Agriculture</a:t>
                      </a:r>
                      <a:endParaRPr kumimoji="0" lang="en-US" sz="1800" b="0" i="0" u="none" strike="noStrike" cap="none" normalizeH="0" baseline="0" smtClean="0">
                        <a:ln>
                          <a:noFill/>
                        </a:ln>
                        <a:solidFill>
                          <a:srgbClr val="00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800" b="0" i="0" u="none" strike="noStrike" cap="none" normalizeH="0" baseline="0" smtClean="0">
                          <a:ln>
                            <a:noFill/>
                          </a:ln>
                          <a:solidFill>
                            <a:srgbClr val="000000"/>
                          </a:solidFill>
                          <a:effectLst/>
                          <a:latin typeface="Arial" charset="0"/>
                          <a:cs typeface="Arial" charset="0"/>
                        </a:rPr>
                        <a:t>Intensive agriculture, irrigation</a:t>
                      </a:r>
                      <a:endParaRPr kumimoji="0" lang="en-US" sz="18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800" b="0" i="0" u="none" strike="noStrike" cap="none" normalizeH="0" baseline="0" smtClean="0">
                          <a:ln>
                            <a:noFill/>
                          </a:ln>
                          <a:solidFill>
                            <a:srgbClr val="000000"/>
                          </a:solidFill>
                          <a:effectLst/>
                          <a:latin typeface="Arial" charset="0"/>
                          <a:cs typeface="Arial" charset="0"/>
                        </a:rPr>
                        <a:t>Pesticides, nutrients (fertilizers)</a:t>
                      </a:r>
                      <a:endParaRPr kumimoji="0" lang="en-US" sz="18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576388">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800" b="0" i="0" u="none" strike="noStrike" cap="none" normalizeH="0" baseline="0" smtClean="0">
                          <a:ln>
                            <a:noFill/>
                          </a:ln>
                          <a:solidFill>
                            <a:srgbClr val="000000"/>
                          </a:solidFill>
                          <a:effectLst/>
                          <a:latin typeface="Arial" charset="0"/>
                          <a:cs typeface="Arial" charset="0"/>
                        </a:rPr>
                        <a:t>Large scale facilities</a:t>
                      </a:r>
                      <a:endParaRPr kumimoji="0" lang="en-US" sz="1800" b="0" i="0" u="none" strike="noStrike" cap="none" normalizeH="0" baseline="0" smtClean="0">
                        <a:ln>
                          <a:noFill/>
                        </a:ln>
                        <a:solidFill>
                          <a:srgbClr val="00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800" b="0" i="0" u="none" strike="noStrike" cap="none" normalizeH="0" baseline="0" smtClean="0">
                          <a:ln>
                            <a:noFill/>
                          </a:ln>
                          <a:solidFill>
                            <a:srgbClr val="000000"/>
                          </a:solidFill>
                          <a:effectLst/>
                          <a:latin typeface="Arial" charset="0"/>
                          <a:cs typeface="Arial" charset="0"/>
                        </a:rPr>
                        <a:t>Defence sites, firing ranges, water treatment plants</a:t>
                      </a:r>
                      <a:endParaRPr kumimoji="0" lang="en-US" sz="18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800" b="0" i="0" u="none" strike="noStrike" cap="none" normalizeH="0" baseline="0" smtClean="0">
                          <a:ln>
                            <a:noFill/>
                          </a:ln>
                          <a:solidFill>
                            <a:srgbClr val="000000"/>
                          </a:solidFill>
                          <a:effectLst/>
                          <a:latin typeface="Arial" charset="0"/>
                          <a:cs typeface="Arial" charset="0"/>
                        </a:rPr>
                        <a:t>Organic compounds, heavy metals, dioxins</a:t>
                      </a:r>
                      <a:endParaRPr kumimoji="0" lang="en-US" sz="18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149350">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800" b="0" i="0" u="none" strike="noStrike" cap="none" normalizeH="0" baseline="0" smtClean="0">
                          <a:ln>
                            <a:noFill/>
                          </a:ln>
                          <a:solidFill>
                            <a:srgbClr val="000000"/>
                          </a:solidFill>
                          <a:effectLst/>
                          <a:latin typeface="Arial" charset="0"/>
                          <a:cs typeface="Arial" charset="0"/>
                        </a:rPr>
                        <a:t>Large scale mining</a:t>
                      </a:r>
                      <a:endParaRPr kumimoji="0" lang="en-US" sz="1800" b="0" i="0" u="none" strike="noStrike" cap="none" normalizeH="0" baseline="0" smtClean="0">
                        <a:ln>
                          <a:noFill/>
                        </a:ln>
                        <a:solidFill>
                          <a:srgbClr val="00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800" b="0" i="0" u="none" strike="noStrike" cap="none" normalizeH="0" baseline="0" smtClean="0">
                          <a:ln>
                            <a:noFill/>
                          </a:ln>
                          <a:solidFill>
                            <a:srgbClr val="000000"/>
                          </a:solidFill>
                          <a:effectLst/>
                          <a:latin typeface="Arial" charset="0"/>
                          <a:cs typeface="Arial" charset="0"/>
                        </a:rPr>
                        <a:t>Tailings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449263" rtl="0" eaLnBrk="0" fontAlgn="base" latinLnBrk="0" hangingPunct="0">
                        <a:lnSpc>
                          <a:spcPct val="100000"/>
                        </a:lnSpc>
                        <a:spcBef>
                          <a:spcPct val="40000"/>
                        </a:spcBef>
                        <a:spcAft>
                          <a:spcPct val="0"/>
                        </a:spcAft>
                        <a:buClr>
                          <a:srgbClr val="000000"/>
                        </a:buClr>
                        <a:buSzPct val="100000"/>
                        <a:buFont typeface="Times New Roman" pitchFamily="18" charset="0"/>
                        <a:buNone/>
                        <a:tabLst/>
                      </a:pPr>
                      <a:r>
                        <a:rPr kumimoji="0" lang="en-AU" sz="1800" b="0" i="0" u="none" strike="noStrike" cap="none" normalizeH="0" baseline="0" smtClean="0">
                          <a:ln>
                            <a:noFill/>
                          </a:ln>
                          <a:solidFill>
                            <a:srgbClr val="000000"/>
                          </a:solidFill>
                          <a:effectLst/>
                          <a:latin typeface="Arial" charset="0"/>
                          <a:cs typeface="Arial" charset="0"/>
                        </a:rPr>
                        <a:t>Heavy metals</a:t>
                      </a:r>
                      <a:endParaRPr kumimoji="0" lang="en-US" sz="1800" b="0" i="0" u="none" strike="noStrike" cap="none" normalizeH="0" baseline="0" smtClean="0">
                        <a:ln>
                          <a:noFill/>
                        </a:ln>
                        <a:solidFill>
                          <a:srgbClr val="000000"/>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p:cNvSpPr>
            <a:spLocks noGrp="1" noChangeArrowheads="1"/>
          </p:cNvSpPr>
          <p:nvPr>
            <p:ph type="title"/>
          </p:nvPr>
        </p:nvSpPr>
        <p:spPr>
          <a:xfrm>
            <a:off x="438150" y="806450"/>
            <a:ext cx="5957888" cy="493713"/>
          </a:xfrm>
        </p:spPr>
        <p:txBody>
          <a:bodyPr/>
          <a:lstStyle/>
          <a:p>
            <a:r>
              <a:rPr lang="en-AU" smtClean="0"/>
              <a:t>A complex picture...</a:t>
            </a:r>
            <a:endParaRPr lang="en-US" smtClean="0"/>
          </a:p>
        </p:txBody>
      </p:sp>
      <p:pic>
        <p:nvPicPr>
          <p:cNvPr id="107522" name="Picture 3"/>
          <p:cNvPicPr>
            <a:picLocks noGrp="1" noChangeAspect="1" noChangeArrowheads="1"/>
          </p:cNvPicPr>
          <p:nvPr>
            <p:ph type="body" idx="1"/>
          </p:nvPr>
        </p:nvPicPr>
        <p:blipFill>
          <a:blip r:embed="rId3"/>
          <a:srcRect/>
          <a:stretch>
            <a:fillRect/>
          </a:stretch>
        </p:blipFill>
        <p:spPr>
          <a:xfrm>
            <a:off x="438150" y="1665288"/>
            <a:ext cx="7194550" cy="4868862"/>
          </a:xfr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Line 328"/>
          <p:cNvSpPr>
            <a:spLocks noChangeShapeType="1"/>
          </p:cNvSpPr>
          <p:nvPr/>
        </p:nvSpPr>
        <p:spPr bwMode="auto">
          <a:xfrm>
            <a:off x="909638" y="6500813"/>
            <a:ext cx="6659562" cy="0"/>
          </a:xfrm>
          <a:prstGeom prst="line">
            <a:avLst/>
          </a:prstGeom>
          <a:noFill/>
          <a:ln w="12700">
            <a:solidFill>
              <a:schemeClr val="tx1"/>
            </a:solidFill>
            <a:round/>
            <a:headEnd/>
            <a:tailEnd type="triangle" w="med" len="med"/>
          </a:ln>
        </p:spPr>
        <p:txBody>
          <a:bodyPr/>
          <a:lstStyle/>
          <a:p>
            <a:endParaRPr lang="en-US"/>
          </a:p>
        </p:txBody>
      </p:sp>
      <p:sp>
        <p:nvSpPr>
          <p:cNvPr id="109570" name="Rectangle 2"/>
          <p:cNvSpPr>
            <a:spLocks noGrp="1" noChangeArrowheads="1"/>
          </p:cNvSpPr>
          <p:nvPr>
            <p:ph type="title"/>
          </p:nvPr>
        </p:nvSpPr>
        <p:spPr>
          <a:xfrm>
            <a:off x="438150" y="817563"/>
            <a:ext cx="7402513" cy="987425"/>
          </a:xfrm>
        </p:spPr>
        <p:txBody>
          <a:bodyPr/>
          <a:lstStyle/>
          <a:p>
            <a:r>
              <a:rPr lang="en-AU" smtClean="0"/>
              <a:t>Advective processes, concentrations – single point source</a:t>
            </a:r>
            <a:endParaRPr lang="en-US" smtClean="0"/>
          </a:p>
        </p:txBody>
      </p:sp>
      <p:sp>
        <p:nvSpPr>
          <p:cNvPr id="109571" name="Text Box 6"/>
          <p:cNvSpPr txBox="1">
            <a:spLocks noChangeArrowheads="1"/>
          </p:cNvSpPr>
          <p:nvPr/>
        </p:nvSpPr>
        <p:spPr bwMode="auto">
          <a:xfrm>
            <a:off x="438150" y="1876425"/>
            <a:ext cx="1943100" cy="274638"/>
          </a:xfrm>
          <a:prstGeom prst="rect">
            <a:avLst/>
          </a:prstGeom>
          <a:noFill/>
          <a:ln w="9525">
            <a:noFill/>
            <a:miter lim="800000"/>
            <a:headEnd/>
            <a:tailEnd/>
          </a:ln>
        </p:spPr>
        <p:txBody>
          <a:bodyPr wrap="none" lIns="0" tIns="0" rIns="0" bIns="0">
            <a:spAutoFit/>
          </a:bodyPr>
          <a:lstStyle/>
          <a:p>
            <a:r>
              <a:rPr lang="en-AU" i="0">
                <a:solidFill>
                  <a:schemeClr val="tx1"/>
                </a:solidFill>
              </a:rPr>
              <a:t>Single point source</a:t>
            </a:r>
            <a:endParaRPr lang="en-US" i="0">
              <a:solidFill>
                <a:schemeClr val="tx1"/>
              </a:solidFill>
            </a:endParaRPr>
          </a:p>
        </p:txBody>
      </p:sp>
      <p:sp>
        <p:nvSpPr>
          <p:cNvPr id="109572" name="Rectangle 197"/>
          <p:cNvSpPr>
            <a:spLocks noChangeArrowheads="1"/>
          </p:cNvSpPr>
          <p:nvPr/>
        </p:nvSpPr>
        <p:spPr bwMode="auto">
          <a:xfrm>
            <a:off x="2835275" y="2230438"/>
            <a:ext cx="139700" cy="274637"/>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t</a:t>
            </a:r>
            <a:r>
              <a:rPr lang="en-US" i="0" baseline="-25000">
                <a:solidFill>
                  <a:srgbClr val="000000"/>
                </a:solidFill>
                <a:latin typeface="Times New Roman" pitchFamily="18" charset="0"/>
              </a:rPr>
              <a:t>1</a:t>
            </a:r>
          </a:p>
        </p:txBody>
      </p:sp>
      <p:grpSp>
        <p:nvGrpSpPr>
          <p:cNvPr id="109573" name="Group 319"/>
          <p:cNvGrpSpPr>
            <a:grpSpLocks/>
          </p:cNvGrpSpPr>
          <p:nvPr/>
        </p:nvGrpSpPr>
        <p:grpSpPr bwMode="auto">
          <a:xfrm>
            <a:off x="438150" y="3884613"/>
            <a:ext cx="228600" cy="506412"/>
            <a:chOff x="304" y="2467"/>
            <a:chExt cx="144" cy="319"/>
          </a:xfrm>
        </p:grpSpPr>
        <p:sp>
          <p:nvSpPr>
            <p:cNvPr id="109609" name="Line 206"/>
            <p:cNvSpPr>
              <a:spLocks noChangeShapeType="1"/>
            </p:cNvSpPr>
            <p:nvPr/>
          </p:nvSpPr>
          <p:spPr bwMode="auto">
            <a:xfrm>
              <a:off x="304" y="2628"/>
              <a:ext cx="144" cy="0"/>
            </a:xfrm>
            <a:prstGeom prst="line">
              <a:avLst/>
            </a:prstGeom>
            <a:noFill/>
            <a:ln w="11176">
              <a:solidFill>
                <a:srgbClr val="000000"/>
              </a:solidFill>
              <a:round/>
              <a:headEnd/>
              <a:tailEnd/>
            </a:ln>
          </p:spPr>
          <p:txBody>
            <a:bodyPr/>
            <a:lstStyle/>
            <a:p>
              <a:endParaRPr lang="en-US"/>
            </a:p>
          </p:txBody>
        </p:sp>
        <p:sp>
          <p:nvSpPr>
            <p:cNvPr id="109610" name="Rectangle 208"/>
            <p:cNvSpPr>
              <a:spLocks noChangeArrowheads="1"/>
            </p:cNvSpPr>
            <p:nvPr/>
          </p:nvSpPr>
          <p:spPr bwMode="auto">
            <a:xfrm>
              <a:off x="311" y="2632"/>
              <a:ext cx="129" cy="154"/>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sz="1600">
                  <a:solidFill>
                    <a:srgbClr val="000000"/>
                  </a:solidFill>
                  <a:latin typeface="Times New Roman" pitchFamily="18" charset="0"/>
                </a:rPr>
                <a:t>C</a:t>
              </a:r>
              <a:r>
                <a:rPr lang="en-US" sz="1600" baseline="-25000">
                  <a:solidFill>
                    <a:srgbClr val="000000"/>
                  </a:solidFill>
                  <a:latin typeface="Times New Roman" pitchFamily="18" charset="0"/>
                </a:rPr>
                <a:t>0</a:t>
              </a:r>
            </a:p>
          </p:txBody>
        </p:sp>
        <p:sp>
          <p:nvSpPr>
            <p:cNvPr id="109611" name="Rectangle 209"/>
            <p:cNvSpPr>
              <a:spLocks noChangeArrowheads="1"/>
            </p:cNvSpPr>
            <p:nvPr/>
          </p:nvSpPr>
          <p:spPr bwMode="auto">
            <a:xfrm>
              <a:off x="334" y="2467"/>
              <a:ext cx="85" cy="154"/>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sz="1600">
                  <a:solidFill>
                    <a:srgbClr val="000000"/>
                  </a:solidFill>
                  <a:latin typeface="Times New Roman" pitchFamily="18" charset="0"/>
                </a:rPr>
                <a:t>C</a:t>
              </a:r>
              <a:endParaRPr lang="en-US" sz="1600"/>
            </a:p>
          </p:txBody>
        </p:sp>
      </p:grpSp>
      <p:sp>
        <p:nvSpPr>
          <p:cNvPr id="109574" name="Rectangle 252"/>
          <p:cNvSpPr>
            <a:spLocks noChangeArrowheads="1"/>
          </p:cNvSpPr>
          <p:nvPr/>
        </p:nvSpPr>
        <p:spPr bwMode="auto">
          <a:xfrm>
            <a:off x="773113" y="4324350"/>
            <a:ext cx="114300" cy="274638"/>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0</a:t>
            </a:r>
            <a:endParaRPr lang="en-US">
              <a:latin typeface="Times New Roman" pitchFamily="18" charset="0"/>
            </a:endParaRPr>
          </a:p>
        </p:txBody>
      </p:sp>
      <p:sp>
        <p:nvSpPr>
          <p:cNvPr id="109575" name="Rectangle 253"/>
          <p:cNvSpPr>
            <a:spLocks noChangeArrowheads="1"/>
          </p:cNvSpPr>
          <p:nvPr/>
        </p:nvSpPr>
        <p:spPr bwMode="auto">
          <a:xfrm>
            <a:off x="773113" y="3665538"/>
            <a:ext cx="114300" cy="274637"/>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1</a:t>
            </a:r>
            <a:endParaRPr lang="en-US">
              <a:latin typeface="Times New Roman" pitchFamily="18" charset="0"/>
            </a:endParaRPr>
          </a:p>
        </p:txBody>
      </p:sp>
      <p:sp>
        <p:nvSpPr>
          <p:cNvPr id="109576" name="Rectangle 268"/>
          <p:cNvSpPr>
            <a:spLocks noChangeArrowheads="1"/>
          </p:cNvSpPr>
          <p:nvPr/>
        </p:nvSpPr>
        <p:spPr bwMode="auto">
          <a:xfrm>
            <a:off x="773113" y="5214938"/>
            <a:ext cx="114300" cy="274637"/>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0</a:t>
            </a:r>
            <a:endParaRPr lang="en-US">
              <a:latin typeface="Times New Roman" pitchFamily="18" charset="0"/>
            </a:endParaRPr>
          </a:p>
        </p:txBody>
      </p:sp>
      <p:sp>
        <p:nvSpPr>
          <p:cNvPr id="109577" name="Rectangle 269"/>
          <p:cNvSpPr>
            <a:spLocks noChangeArrowheads="1"/>
          </p:cNvSpPr>
          <p:nvPr/>
        </p:nvSpPr>
        <p:spPr bwMode="auto">
          <a:xfrm>
            <a:off x="773113" y="4556125"/>
            <a:ext cx="114300" cy="274638"/>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1</a:t>
            </a:r>
            <a:endParaRPr lang="en-US">
              <a:latin typeface="Times New Roman" pitchFamily="18" charset="0"/>
            </a:endParaRPr>
          </a:p>
        </p:txBody>
      </p:sp>
      <p:sp>
        <p:nvSpPr>
          <p:cNvPr id="109578" name="Rectangle 284"/>
          <p:cNvSpPr>
            <a:spLocks noChangeArrowheads="1"/>
          </p:cNvSpPr>
          <p:nvPr/>
        </p:nvSpPr>
        <p:spPr bwMode="auto">
          <a:xfrm>
            <a:off x="773113" y="6175375"/>
            <a:ext cx="114300" cy="274638"/>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0</a:t>
            </a:r>
            <a:endParaRPr lang="en-US">
              <a:latin typeface="Times New Roman" pitchFamily="18" charset="0"/>
            </a:endParaRPr>
          </a:p>
        </p:txBody>
      </p:sp>
      <p:sp>
        <p:nvSpPr>
          <p:cNvPr id="109579" name="Rectangle 285"/>
          <p:cNvSpPr>
            <a:spLocks noChangeArrowheads="1"/>
          </p:cNvSpPr>
          <p:nvPr/>
        </p:nvSpPr>
        <p:spPr bwMode="auto">
          <a:xfrm>
            <a:off x="773113" y="5518150"/>
            <a:ext cx="114300" cy="274638"/>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1</a:t>
            </a:r>
            <a:endParaRPr lang="en-US">
              <a:latin typeface="Times New Roman" pitchFamily="18" charset="0"/>
            </a:endParaRPr>
          </a:p>
        </p:txBody>
      </p:sp>
      <p:sp>
        <p:nvSpPr>
          <p:cNvPr id="109580" name="Line 306"/>
          <p:cNvSpPr>
            <a:spLocks noChangeShapeType="1"/>
          </p:cNvSpPr>
          <p:nvPr/>
        </p:nvSpPr>
        <p:spPr bwMode="auto">
          <a:xfrm>
            <a:off x="2898775" y="2530475"/>
            <a:ext cx="0" cy="168275"/>
          </a:xfrm>
          <a:prstGeom prst="line">
            <a:avLst/>
          </a:prstGeom>
          <a:noFill/>
          <a:ln w="12700">
            <a:solidFill>
              <a:schemeClr val="tx1"/>
            </a:solidFill>
            <a:round/>
            <a:headEnd/>
            <a:tailEnd type="triangle" w="med" len="med"/>
          </a:ln>
        </p:spPr>
        <p:txBody>
          <a:bodyPr/>
          <a:lstStyle/>
          <a:p>
            <a:endParaRPr lang="en-US"/>
          </a:p>
        </p:txBody>
      </p:sp>
      <p:sp>
        <p:nvSpPr>
          <p:cNvPr id="109581" name="Line 307"/>
          <p:cNvSpPr>
            <a:spLocks noChangeShapeType="1"/>
          </p:cNvSpPr>
          <p:nvPr/>
        </p:nvSpPr>
        <p:spPr bwMode="auto">
          <a:xfrm>
            <a:off x="1258888" y="2273300"/>
            <a:ext cx="0" cy="425450"/>
          </a:xfrm>
          <a:prstGeom prst="line">
            <a:avLst/>
          </a:prstGeom>
          <a:noFill/>
          <a:ln w="12700">
            <a:solidFill>
              <a:schemeClr val="tx1"/>
            </a:solidFill>
            <a:round/>
            <a:headEnd/>
            <a:tailEnd type="triangle" w="med" len="med"/>
          </a:ln>
        </p:spPr>
        <p:txBody>
          <a:bodyPr/>
          <a:lstStyle/>
          <a:p>
            <a:endParaRPr lang="en-US"/>
          </a:p>
        </p:txBody>
      </p:sp>
      <p:sp>
        <p:nvSpPr>
          <p:cNvPr id="109582" name="Rectangle 311"/>
          <p:cNvSpPr>
            <a:spLocks noChangeArrowheads="1"/>
          </p:cNvSpPr>
          <p:nvPr/>
        </p:nvSpPr>
        <p:spPr bwMode="auto">
          <a:xfrm>
            <a:off x="4625975" y="2230438"/>
            <a:ext cx="139700" cy="274637"/>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t</a:t>
            </a:r>
            <a:r>
              <a:rPr lang="en-US" i="0" baseline="-25000">
                <a:solidFill>
                  <a:srgbClr val="000000"/>
                </a:solidFill>
                <a:latin typeface="Times New Roman" pitchFamily="18" charset="0"/>
              </a:rPr>
              <a:t>2</a:t>
            </a:r>
          </a:p>
        </p:txBody>
      </p:sp>
      <p:sp>
        <p:nvSpPr>
          <p:cNvPr id="109583" name="Line 312"/>
          <p:cNvSpPr>
            <a:spLocks noChangeShapeType="1"/>
          </p:cNvSpPr>
          <p:nvPr/>
        </p:nvSpPr>
        <p:spPr bwMode="auto">
          <a:xfrm>
            <a:off x="4689475" y="2530475"/>
            <a:ext cx="0" cy="168275"/>
          </a:xfrm>
          <a:prstGeom prst="line">
            <a:avLst/>
          </a:prstGeom>
          <a:noFill/>
          <a:ln w="12700">
            <a:solidFill>
              <a:schemeClr val="tx1"/>
            </a:solidFill>
            <a:round/>
            <a:headEnd/>
            <a:tailEnd type="triangle" w="med" len="med"/>
          </a:ln>
        </p:spPr>
        <p:txBody>
          <a:bodyPr/>
          <a:lstStyle/>
          <a:p>
            <a:endParaRPr lang="en-US"/>
          </a:p>
        </p:txBody>
      </p:sp>
      <p:sp>
        <p:nvSpPr>
          <p:cNvPr id="109584" name="Rectangle 313"/>
          <p:cNvSpPr>
            <a:spLocks noChangeArrowheads="1"/>
          </p:cNvSpPr>
          <p:nvPr/>
        </p:nvSpPr>
        <p:spPr bwMode="auto">
          <a:xfrm>
            <a:off x="6411913" y="2230438"/>
            <a:ext cx="139700" cy="274637"/>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t</a:t>
            </a:r>
            <a:r>
              <a:rPr lang="en-US" i="0" baseline="-25000">
                <a:solidFill>
                  <a:srgbClr val="000000"/>
                </a:solidFill>
                <a:latin typeface="Times New Roman" pitchFamily="18" charset="0"/>
              </a:rPr>
              <a:t>3</a:t>
            </a:r>
          </a:p>
        </p:txBody>
      </p:sp>
      <p:sp>
        <p:nvSpPr>
          <p:cNvPr id="109585" name="Line 314"/>
          <p:cNvSpPr>
            <a:spLocks noChangeShapeType="1"/>
          </p:cNvSpPr>
          <p:nvPr/>
        </p:nvSpPr>
        <p:spPr bwMode="auto">
          <a:xfrm>
            <a:off x="6475413" y="2530475"/>
            <a:ext cx="0" cy="168275"/>
          </a:xfrm>
          <a:prstGeom prst="line">
            <a:avLst/>
          </a:prstGeom>
          <a:noFill/>
          <a:ln w="12700">
            <a:solidFill>
              <a:schemeClr val="tx1"/>
            </a:solidFill>
            <a:round/>
            <a:headEnd/>
            <a:tailEnd type="triangle" w="med" len="med"/>
          </a:ln>
        </p:spPr>
        <p:txBody>
          <a:bodyPr/>
          <a:lstStyle/>
          <a:p>
            <a:endParaRPr lang="en-US"/>
          </a:p>
        </p:txBody>
      </p:sp>
      <p:sp>
        <p:nvSpPr>
          <p:cNvPr id="109586" name="Rectangle 315"/>
          <p:cNvSpPr>
            <a:spLocks noChangeArrowheads="1"/>
          </p:cNvSpPr>
          <p:nvPr/>
        </p:nvSpPr>
        <p:spPr bwMode="auto">
          <a:xfrm>
            <a:off x="7710488" y="4000500"/>
            <a:ext cx="139700" cy="274638"/>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t</a:t>
            </a:r>
            <a:r>
              <a:rPr lang="en-US" i="0" baseline="-25000">
                <a:solidFill>
                  <a:srgbClr val="000000"/>
                </a:solidFill>
                <a:latin typeface="Times New Roman" pitchFamily="18" charset="0"/>
              </a:rPr>
              <a:t>1</a:t>
            </a:r>
          </a:p>
        </p:txBody>
      </p:sp>
      <p:sp>
        <p:nvSpPr>
          <p:cNvPr id="109587" name="Rectangle 316"/>
          <p:cNvSpPr>
            <a:spLocks noChangeArrowheads="1"/>
          </p:cNvSpPr>
          <p:nvPr/>
        </p:nvSpPr>
        <p:spPr bwMode="auto">
          <a:xfrm>
            <a:off x="7710488" y="4892675"/>
            <a:ext cx="139700" cy="274638"/>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t</a:t>
            </a:r>
            <a:r>
              <a:rPr lang="en-US" i="0" baseline="-25000">
                <a:solidFill>
                  <a:srgbClr val="000000"/>
                </a:solidFill>
                <a:latin typeface="Times New Roman" pitchFamily="18" charset="0"/>
              </a:rPr>
              <a:t>2</a:t>
            </a:r>
          </a:p>
        </p:txBody>
      </p:sp>
      <p:sp>
        <p:nvSpPr>
          <p:cNvPr id="109588" name="Rectangle 317"/>
          <p:cNvSpPr>
            <a:spLocks noChangeArrowheads="1"/>
          </p:cNvSpPr>
          <p:nvPr/>
        </p:nvSpPr>
        <p:spPr bwMode="auto">
          <a:xfrm>
            <a:off x="7710488" y="5851525"/>
            <a:ext cx="139700" cy="274638"/>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t</a:t>
            </a:r>
            <a:r>
              <a:rPr lang="en-US" i="0" baseline="-25000">
                <a:solidFill>
                  <a:srgbClr val="000000"/>
                </a:solidFill>
                <a:latin typeface="Times New Roman" pitchFamily="18" charset="0"/>
              </a:rPr>
              <a:t>3</a:t>
            </a:r>
          </a:p>
        </p:txBody>
      </p:sp>
      <p:grpSp>
        <p:nvGrpSpPr>
          <p:cNvPr id="109589" name="Group 320"/>
          <p:cNvGrpSpPr>
            <a:grpSpLocks/>
          </p:cNvGrpSpPr>
          <p:nvPr/>
        </p:nvGrpSpPr>
        <p:grpSpPr bwMode="auto">
          <a:xfrm>
            <a:off x="438150" y="4775200"/>
            <a:ext cx="228600" cy="506413"/>
            <a:chOff x="304" y="2467"/>
            <a:chExt cx="144" cy="319"/>
          </a:xfrm>
        </p:grpSpPr>
        <p:sp>
          <p:nvSpPr>
            <p:cNvPr id="109606" name="Line 321"/>
            <p:cNvSpPr>
              <a:spLocks noChangeShapeType="1"/>
            </p:cNvSpPr>
            <p:nvPr/>
          </p:nvSpPr>
          <p:spPr bwMode="auto">
            <a:xfrm>
              <a:off x="304" y="2628"/>
              <a:ext cx="144" cy="0"/>
            </a:xfrm>
            <a:prstGeom prst="line">
              <a:avLst/>
            </a:prstGeom>
            <a:noFill/>
            <a:ln w="11176">
              <a:solidFill>
                <a:srgbClr val="000000"/>
              </a:solidFill>
              <a:round/>
              <a:headEnd/>
              <a:tailEnd/>
            </a:ln>
          </p:spPr>
          <p:txBody>
            <a:bodyPr/>
            <a:lstStyle/>
            <a:p>
              <a:endParaRPr lang="en-US"/>
            </a:p>
          </p:txBody>
        </p:sp>
        <p:sp>
          <p:nvSpPr>
            <p:cNvPr id="109607" name="Rectangle 322"/>
            <p:cNvSpPr>
              <a:spLocks noChangeArrowheads="1"/>
            </p:cNvSpPr>
            <p:nvPr/>
          </p:nvSpPr>
          <p:spPr bwMode="auto">
            <a:xfrm>
              <a:off x="311" y="2632"/>
              <a:ext cx="129" cy="154"/>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sz="1600">
                  <a:solidFill>
                    <a:srgbClr val="000000"/>
                  </a:solidFill>
                  <a:latin typeface="Times New Roman" pitchFamily="18" charset="0"/>
                </a:rPr>
                <a:t>C</a:t>
              </a:r>
              <a:r>
                <a:rPr lang="en-US" sz="1600" baseline="-25000">
                  <a:solidFill>
                    <a:srgbClr val="000000"/>
                  </a:solidFill>
                  <a:latin typeface="Times New Roman" pitchFamily="18" charset="0"/>
                </a:rPr>
                <a:t>0</a:t>
              </a:r>
            </a:p>
          </p:txBody>
        </p:sp>
        <p:sp>
          <p:nvSpPr>
            <p:cNvPr id="109608" name="Rectangle 323"/>
            <p:cNvSpPr>
              <a:spLocks noChangeArrowheads="1"/>
            </p:cNvSpPr>
            <p:nvPr/>
          </p:nvSpPr>
          <p:spPr bwMode="auto">
            <a:xfrm>
              <a:off x="334" y="2467"/>
              <a:ext cx="85" cy="154"/>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sz="1600">
                  <a:solidFill>
                    <a:srgbClr val="000000"/>
                  </a:solidFill>
                  <a:latin typeface="Times New Roman" pitchFamily="18" charset="0"/>
                </a:rPr>
                <a:t>C</a:t>
              </a:r>
              <a:endParaRPr lang="en-US" sz="1600"/>
            </a:p>
          </p:txBody>
        </p:sp>
      </p:grpSp>
      <p:grpSp>
        <p:nvGrpSpPr>
          <p:cNvPr id="109590" name="Group 324"/>
          <p:cNvGrpSpPr>
            <a:grpSpLocks/>
          </p:cNvGrpSpPr>
          <p:nvPr/>
        </p:nvGrpSpPr>
        <p:grpSpPr bwMode="auto">
          <a:xfrm>
            <a:off x="438150" y="5735638"/>
            <a:ext cx="228600" cy="506412"/>
            <a:chOff x="304" y="2467"/>
            <a:chExt cx="144" cy="319"/>
          </a:xfrm>
        </p:grpSpPr>
        <p:sp>
          <p:nvSpPr>
            <p:cNvPr id="109603" name="Line 325"/>
            <p:cNvSpPr>
              <a:spLocks noChangeShapeType="1"/>
            </p:cNvSpPr>
            <p:nvPr/>
          </p:nvSpPr>
          <p:spPr bwMode="auto">
            <a:xfrm>
              <a:off x="304" y="2628"/>
              <a:ext cx="144" cy="0"/>
            </a:xfrm>
            <a:prstGeom prst="line">
              <a:avLst/>
            </a:prstGeom>
            <a:noFill/>
            <a:ln w="11176">
              <a:solidFill>
                <a:srgbClr val="000000"/>
              </a:solidFill>
              <a:round/>
              <a:headEnd/>
              <a:tailEnd/>
            </a:ln>
          </p:spPr>
          <p:txBody>
            <a:bodyPr/>
            <a:lstStyle/>
            <a:p>
              <a:endParaRPr lang="en-US"/>
            </a:p>
          </p:txBody>
        </p:sp>
        <p:sp>
          <p:nvSpPr>
            <p:cNvPr id="109604" name="Rectangle 326"/>
            <p:cNvSpPr>
              <a:spLocks noChangeArrowheads="1"/>
            </p:cNvSpPr>
            <p:nvPr/>
          </p:nvSpPr>
          <p:spPr bwMode="auto">
            <a:xfrm>
              <a:off x="311" y="2632"/>
              <a:ext cx="129" cy="154"/>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sz="1600">
                  <a:solidFill>
                    <a:srgbClr val="000000"/>
                  </a:solidFill>
                  <a:latin typeface="Times New Roman" pitchFamily="18" charset="0"/>
                </a:rPr>
                <a:t>C</a:t>
              </a:r>
              <a:r>
                <a:rPr lang="en-US" sz="1600" baseline="-25000">
                  <a:solidFill>
                    <a:srgbClr val="000000"/>
                  </a:solidFill>
                  <a:latin typeface="Times New Roman" pitchFamily="18" charset="0"/>
                </a:rPr>
                <a:t>0</a:t>
              </a:r>
            </a:p>
          </p:txBody>
        </p:sp>
        <p:sp>
          <p:nvSpPr>
            <p:cNvPr id="109605" name="Rectangle 327"/>
            <p:cNvSpPr>
              <a:spLocks noChangeArrowheads="1"/>
            </p:cNvSpPr>
            <p:nvPr/>
          </p:nvSpPr>
          <p:spPr bwMode="auto">
            <a:xfrm>
              <a:off x="334" y="2467"/>
              <a:ext cx="85" cy="154"/>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sz="1600">
                  <a:solidFill>
                    <a:srgbClr val="000000"/>
                  </a:solidFill>
                  <a:latin typeface="Times New Roman" pitchFamily="18" charset="0"/>
                </a:rPr>
                <a:t>C</a:t>
              </a:r>
              <a:endParaRPr lang="en-US" sz="1600"/>
            </a:p>
          </p:txBody>
        </p:sp>
      </p:grpSp>
      <p:sp>
        <p:nvSpPr>
          <p:cNvPr id="109591" name="Rectangle 329"/>
          <p:cNvSpPr>
            <a:spLocks noChangeArrowheads="1"/>
          </p:cNvSpPr>
          <p:nvPr/>
        </p:nvSpPr>
        <p:spPr bwMode="auto">
          <a:xfrm>
            <a:off x="3540125" y="6359525"/>
            <a:ext cx="1400175" cy="274638"/>
          </a:xfrm>
          <a:prstGeom prst="rect">
            <a:avLst/>
          </a:prstGeom>
          <a:solidFill>
            <a:srgbClr val="FFF5C8"/>
          </a:solidFill>
          <a:ln w="9525">
            <a:noFill/>
            <a:miter lim="800000"/>
            <a:headEnd/>
            <a:tailEnd/>
          </a:ln>
        </p:spPr>
        <p:txBody>
          <a:bodyPr wrap="none" lIns="90000" tIns="0" rIns="90000" bIns="0">
            <a:spAutoFit/>
          </a:bodyPr>
          <a:lstStyle/>
          <a:p>
            <a:pPr algn="ctr" defTabSz="449263">
              <a:buClr>
                <a:srgbClr val="000000"/>
              </a:buClr>
              <a:buSzPct val="100000"/>
              <a:buFont typeface="Times New Roman" pitchFamily="18" charset="0"/>
              <a:buNone/>
            </a:pPr>
            <a:r>
              <a:rPr lang="en-US" i="0">
                <a:solidFill>
                  <a:srgbClr val="000000"/>
                </a:solidFill>
              </a:rPr>
              <a:t>Distance (x)</a:t>
            </a:r>
            <a:endParaRPr lang="en-US"/>
          </a:p>
        </p:txBody>
      </p:sp>
      <p:sp>
        <p:nvSpPr>
          <p:cNvPr id="109592" name="Rectangle 342"/>
          <p:cNvSpPr>
            <a:spLocks noChangeAspect="1" noChangeArrowheads="1"/>
          </p:cNvSpPr>
          <p:nvPr/>
        </p:nvSpPr>
        <p:spPr bwMode="auto">
          <a:xfrm>
            <a:off x="917575" y="2701925"/>
            <a:ext cx="6651625" cy="960438"/>
          </a:xfrm>
          <a:prstGeom prst="rect">
            <a:avLst/>
          </a:prstGeom>
          <a:solidFill>
            <a:srgbClr val="99CCFF"/>
          </a:solid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09593" name="Oval 343"/>
          <p:cNvSpPr>
            <a:spLocks noChangeAspect="1" noChangeArrowheads="1"/>
          </p:cNvSpPr>
          <p:nvPr/>
        </p:nvSpPr>
        <p:spPr bwMode="auto">
          <a:xfrm>
            <a:off x="1192213" y="3113088"/>
            <a:ext cx="136525" cy="138112"/>
          </a:xfrm>
          <a:prstGeom prst="ellipse">
            <a:avLst/>
          </a:prstGeom>
          <a:solidFill>
            <a:srgbClr val="FF0000"/>
          </a:solidFill>
          <a:ln w="9525">
            <a:solidFill>
              <a:srgbClr val="FF3300"/>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09594" name="Oval 344"/>
          <p:cNvSpPr>
            <a:spLocks noChangeAspect="1" noChangeArrowheads="1"/>
          </p:cNvSpPr>
          <p:nvPr/>
        </p:nvSpPr>
        <p:spPr bwMode="auto">
          <a:xfrm>
            <a:off x="2836863" y="3113088"/>
            <a:ext cx="138112" cy="138112"/>
          </a:xfrm>
          <a:prstGeom prst="ellipse">
            <a:avLst/>
          </a:prstGeom>
          <a:solidFill>
            <a:srgbClr val="FF0000"/>
          </a:solidFill>
          <a:ln w="9525">
            <a:solidFill>
              <a:srgbClr val="FF3300"/>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09595" name="Oval 345"/>
          <p:cNvSpPr>
            <a:spLocks noChangeAspect="1" noChangeArrowheads="1"/>
          </p:cNvSpPr>
          <p:nvPr/>
        </p:nvSpPr>
        <p:spPr bwMode="auto">
          <a:xfrm>
            <a:off x="4619625" y="3113088"/>
            <a:ext cx="138113" cy="138112"/>
          </a:xfrm>
          <a:prstGeom prst="ellipse">
            <a:avLst/>
          </a:prstGeom>
          <a:solidFill>
            <a:srgbClr val="FF0000"/>
          </a:solidFill>
          <a:ln w="9525">
            <a:solidFill>
              <a:srgbClr val="FF3300"/>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09596" name="Oval 346"/>
          <p:cNvSpPr>
            <a:spLocks noChangeAspect="1" noChangeArrowheads="1"/>
          </p:cNvSpPr>
          <p:nvPr/>
        </p:nvSpPr>
        <p:spPr bwMode="auto">
          <a:xfrm>
            <a:off x="6402388" y="3113088"/>
            <a:ext cx="138112" cy="138112"/>
          </a:xfrm>
          <a:prstGeom prst="ellipse">
            <a:avLst/>
          </a:prstGeom>
          <a:solidFill>
            <a:srgbClr val="FF0000"/>
          </a:solidFill>
          <a:ln w="9525">
            <a:solidFill>
              <a:srgbClr val="FF3300"/>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09597" name="Rectangle 347"/>
          <p:cNvSpPr>
            <a:spLocks noChangeAspect="1" noChangeArrowheads="1"/>
          </p:cNvSpPr>
          <p:nvPr/>
        </p:nvSpPr>
        <p:spPr bwMode="auto">
          <a:xfrm>
            <a:off x="917575" y="3808413"/>
            <a:ext cx="6651625" cy="660400"/>
          </a:xfrm>
          <a:prstGeom prst="rect">
            <a:avLst/>
          </a:prstGeom>
          <a:no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09598" name="Rectangle 348"/>
          <p:cNvSpPr>
            <a:spLocks noChangeAspect="1" noChangeArrowheads="1"/>
          </p:cNvSpPr>
          <p:nvPr/>
        </p:nvSpPr>
        <p:spPr bwMode="auto">
          <a:xfrm>
            <a:off x="917575" y="4699000"/>
            <a:ext cx="6651625" cy="661988"/>
          </a:xfrm>
          <a:prstGeom prst="rect">
            <a:avLst/>
          </a:prstGeom>
          <a:no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09599" name="Rectangle 349"/>
          <p:cNvSpPr>
            <a:spLocks noChangeAspect="1" noChangeArrowheads="1"/>
          </p:cNvSpPr>
          <p:nvPr/>
        </p:nvSpPr>
        <p:spPr bwMode="auto">
          <a:xfrm>
            <a:off x="917575" y="5659438"/>
            <a:ext cx="6651625" cy="661987"/>
          </a:xfrm>
          <a:prstGeom prst="rect">
            <a:avLst/>
          </a:prstGeom>
          <a:no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09600" name="Freeform 350"/>
          <p:cNvSpPr>
            <a:spLocks noChangeAspect="1"/>
          </p:cNvSpPr>
          <p:nvPr/>
        </p:nvSpPr>
        <p:spPr bwMode="auto">
          <a:xfrm>
            <a:off x="923925" y="3798888"/>
            <a:ext cx="6634163" cy="679450"/>
          </a:xfrm>
          <a:custGeom>
            <a:avLst/>
            <a:gdLst>
              <a:gd name="T0" fmla="*/ 0 w 4644"/>
              <a:gd name="T1" fmla="*/ 679450 h 475"/>
              <a:gd name="T2" fmla="*/ 1912822 w 4644"/>
              <a:gd name="T3" fmla="*/ 669437 h 475"/>
              <a:gd name="T4" fmla="*/ 1912822 w 4644"/>
              <a:gd name="T5" fmla="*/ 0 h 475"/>
              <a:gd name="T6" fmla="*/ 2049962 w 4644"/>
              <a:gd name="T7" fmla="*/ 0 h 475"/>
              <a:gd name="T8" fmla="*/ 2057105 w 4644"/>
              <a:gd name="T9" fmla="*/ 669437 h 475"/>
              <a:gd name="T10" fmla="*/ 6634163 w 4644"/>
              <a:gd name="T11" fmla="*/ 669437 h 475"/>
              <a:gd name="T12" fmla="*/ 0 60000 65536"/>
              <a:gd name="T13" fmla="*/ 0 60000 65536"/>
              <a:gd name="T14" fmla="*/ 0 60000 65536"/>
              <a:gd name="T15" fmla="*/ 0 60000 65536"/>
              <a:gd name="T16" fmla="*/ 0 60000 65536"/>
              <a:gd name="T17" fmla="*/ 0 60000 65536"/>
              <a:gd name="T18" fmla="*/ 0 w 4644"/>
              <a:gd name="T19" fmla="*/ 0 h 475"/>
              <a:gd name="T20" fmla="*/ 4644 w 4644"/>
              <a:gd name="T21" fmla="*/ 475 h 475"/>
            </a:gdLst>
            <a:ahLst/>
            <a:cxnLst>
              <a:cxn ang="T12">
                <a:pos x="T0" y="T1"/>
              </a:cxn>
              <a:cxn ang="T13">
                <a:pos x="T2" y="T3"/>
              </a:cxn>
              <a:cxn ang="T14">
                <a:pos x="T4" y="T5"/>
              </a:cxn>
              <a:cxn ang="T15">
                <a:pos x="T6" y="T7"/>
              </a:cxn>
              <a:cxn ang="T16">
                <a:pos x="T8" y="T9"/>
              </a:cxn>
              <a:cxn ang="T17">
                <a:pos x="T10" y="T11"/>
              </a:cxn>
            </a:cxnLst>
            <a:rect l="T18" t="T19" r="T20" b="T21"/>
            <a:pathLst>
              <a:path w="4644" h="475">
                <a:moveTo>
                  <a:pt x="0" y="475"/>
                </a:moveTo>
                <a:lnTo>
                  <a:pt x="1339" y="468"/>
                </a:lnTo>
                <a:lnTo>
                  <a:pt x="1339" y="0"/>
                </a:lnTo>
                <a:lnTo>
                  <a:pt x="1435" y="0"/>
                </a:lnTo>
                <a:lnTo>
                  <a:pt x="1440" y="468"/>
                </a:lnTo>
                <a:lnTo>
                  <a:pt x="4644" y="468"/>
                </a:lnTo>
              </a:path>
            </a:pathLst>
          </a:custGeom>
          <a:noFill/>
          <a:ln w="28575" cap="flat" cmpd="sng">
            <a:solidFill>
              <a:srgbClr val="FF3300"/>
            </a:solidFill>
            <a:prstDash val="dash"/>
            <a:round/>
            <a:headEnd/>
            <a:tailEnd/>
          </a:ln>
        </p:spPr>
        <p:txBody>
          <a:bodyPr/>
          <a:lstStyle/>
          <a:p>
            <a:endParaRPr lang="en-US"/>
          </a:p>
        </p:txBody>
      </p:sp>
      <p:sp>
        <p:nvSpPr>
          <p:cNvPr id="109601" name="Freeform 351"/>
          <p:cNvSpPr>
            <a:spLocks noChangeAspect="1"/>
          </p:cNvSpPr>
          <p:nvPr/>
        </p:nvSpPr>
        <p:spPr bwMode="auto">
          <a:xfrm>
            <a:off x="914400" y="4694238"/>
            <a:ext cx="6664325" cy="657225"/>
          </a:xfrm>
          <a:custGeom>
            <a:avLst/>
            <a:gdLst>
              <a:gd name="T0" fmla="*/ 0 w 4665"/>
              <a:gd name="T1" fmla="*/ 657225 h 461"/>
              <a:gd name="T2" fmla="*/ 3722879 w 4665"/>
              <a:gd name="T3" fmla="*/ 657225 h 461"/>
              <a:gd name="T4" fmla="*/ 3722879 w 4665"/>
              <a:gd name="T5" fmla="*/ 0 h 461"/>
              <a:gd name="T6" fmla="*/ 3877165 w 4665"/>
              <a:gd name="T7" fmla="*/ 0 h 461"/>
              <a:gd name="T8" fmla="*/ 3867165 w 4665"/>
              <a:gd name="T9" fmla="*/ 657225 h 461"/>
              <a:gd name="T10" fmla="*/ 6664325 w 4665"/>
              <a:gd name="T11" fmla="*/ 657225 h 461"/>
              <a:gd name="T12" fmla="*/ 0 60000 65536"/>
              <a:gd name="T13" fmla="*/ 0 60000 65536"/>
              <a:gd name="T14" fmla="*/ 0 60000 65536"/>
              <a:gd name="T15" fmla="*/ 0 60000 65536"/>
              <a:gd name="T16" fmla="*/ 0 60000 65536"/>
              <a:gd name="T17" fmla="*/ 0 60000 65536"/>
              <a:gd name="T18" fmla="*/ 0 w 4665"/>
              <a:gd name="T19" fmla="*/ 0 h 461"/>
              <a:gd name="T20" fmla="*/ 4665 w 4665"/>
              <a:gd name="T21" fmla="*/ 461 h 461"/>
            </a:gdLst>
            <a:ahLst/>
            <a:cxnLst>
              <a:cxn ang="T12">
                <a:pos x="T0" y="T1"/>
              </a:cxn>
              <a:cxn ang="T13">
                <a:pos x="T2" y="T3"/>
              </a:cxn>
              <a:cxn ang="T14">
                <a:pos x="T4" y="T5"/>
              </a:cxn>
              <a:cxn ang="T15">
                <a:pos x="T6" y="T7"/>
              </a:cxn>
              <a:cxn ang="T16">
                <a:pos x="T8" y="T9"/>
              </a:cxn>
              <a:cxn ang="T17">
                <a:pos x="T10" y="T11"/>
              </a:cxn>
            </a:cxnLst>
            <a:rect l="T18" t="T19" r="T20" b="T21"/>
            <a:pathLst>
              <a:path w="4665" h="461">
                <a:moveTo>
                  <a:pt x="0" y="461"/>
                </a:moveTo>
                <a:lnTo>
                  <a:pt x="2606" y="461"/>
                </a:lnTo>
                <a:lnTo>
                  <a:pt x="2606" y="0"/>
                </a:lnTo>
                <a:lnTo>
                  <a:pt x="2714" y="0"/>
                </a:lnTo>
                <a:lnTo>
                  <a:pt x="2707" y="461"/>
                </a:lnTo>
                <a:lnTo>
                  <a:pt x="4665" y="461"/>
                </a:lnTo>
              </a:path>
            </a:pathLst>
          </a:custGeom>
          <a:noFill/>
          <a:ln w="28575" cap="flat" cmpd="sng">
            <a:solidFill>
              <a:srgbClr val="FF3300"/>
            </a:solidFill>
            <a:prstDash val="dash"/>
            <a:round/>
            <a:headEnd/>
            <a:tailEnd/>
          </a:ln>
        </p:spPr>
        <p:txBody>
          <a:bodyPr/>
          <a:lstStyle/>
          <a:p>
            <a:endParaRPr lang="en-US"/>
          </a:p>
        </p:txBody>
      </p:sp>
      <p:sp>
        <p:nvSpPr>
          <p:cNvPr id="109602" name="Freeform 352"/>
          <p:cNvSpPr>
            <a:spLocks noChangeAspect="1"/>
          </p:cNvSpPr>
          <p:nvPr/>
        </p:nvSpPr>
        <p:spPr bwMode="auto">
          <a:xfrm>
            <a:off x="923925" y="5651500"/>
            <a:ext cx="6645275" cy="677863"/>
          </a:xfrm>
          <a:custGeom>
            <a:avLst/>
            <a:gdLst>
              <a:gd name="T0" fmla="*/ 0 w 4651"/>
              <a:gd name="T1" fmla="*/ 667873 h 475"/>
              <a:gd name="T2" fmla="*/ 5513677 w 4651"/>
              <a:gd name="T3" fmla="*/ 667873 h 475"/>
              <a:gd name="T4" fmla="*/ 5513677 w 4651"/>
              <a:gd name="T5" fmla="*/ 0 h 475"/>
              <a:gd name="T6" fmla="*/ 5647983 w 4651"/>
              <a:gd name="T7" fmla="*/ 0 h 475"/>
              <a:gd name="T8" fmla="*/ 5647983 w 4651"/>
              <a:gd name="T9" fmla="*/ 667873 h 475"/>
              <a:gd name="T10" fmla="*/ 6645275 w 4651"/>
              <a:gd name="T11" fmla="*/ 677863 h 475"/>
              <a:gd name="T12" fmla="*/ 0 60000 65536"/>
              <a:gd name="T13" fmla="*/ 0 60000 65536"/>
              <a:gd name="T14" fmla="*/ 0 60000 65536"/>
              <a:gd name="T15" fmla="*/ 0 60000 65536"/>
              <a:gd name="T16" fmla="*/ 0 60000 65536"/>
              <a:gd name="T17" fmla="*/ 0 60000 65536"/>
              <a:gd name="T18" fmla="*/ 0 w 4651"/>
              <a:gd name="T19" fmla="*/ 0 h 475"/>
              <a:gd name="T20" fmla="*/ 4651 w 4651"/>
              <a:gd name="T21" fmla="*/ 475 h 475"/>
            </a:gdLst>
            <a:ahLst/>
            <a:cxnLst>
              <a:cxn ang="T12">
                <a:pos x="T0" y="T1"/>
              </a:cxn>
              <a:cxn ang="T13">
                <a:pos x="T2" y="T3"/>
              </a:cxn>
              <a:cxn ang="T14">
                <a:pos x="T4" y="T5"/>
              </a:cxn>
              <a:cxn ang="T15">
                <a:pos x="T6" y="T7"/>
              </a:cxn>
              <a:cxn ang="T16">
                <a:pos x="T8" y="T9"/>
              </a:cxn>
              <a:cxn ang="T17">
                <a:pos x="T10" y="T11"/>
              </a:cxn>
            </a:cxnLst>
            <a:rect l="T18" t="T19" r="T20" b="T21"/>
            <a:pathLst>
              <a:path w="4651" h="475">
                <a:moveTo>
                  <a:pt x="0" y="468"/>
                </a:moveTo>
                <a:lnTo>
                  <a:pt x="3859" y="468"/>
                </a:lnTo>
                <a:lnTo>
                  <a:pt x="3859" y="0"/>
                </a:lnTo>
                <a:lnTo>
                  <a:pt x="3953" y="0"/>
                </a:lnTo>
                <a:lnTo>
                  <a:pt x="3953" y="468"/>
                </a:lnTo>
                <a:lnTo>
                  <a:pt x="4651" y="475"/>
                </a:lnTo>
              </a:path>
            </a:pathLst>
          </a:custGeom>
          <a:noFill/>
          <a:ln w="28575" cap="flat" cmpd="sng">
            <a:solidFill>
              <a:srgbClr val="FF3300"/>
            </a:solidFill>
            <a:prstDash val="dash"/>
            <a:round/>
            <a:headEnd/>
            <a:tailEnd/>
          </a:ln>
        </p:spPr>
        <p:txBody>
          <a:bodyPr/>
          <a:lstStyle/>
          <a:p>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181"/>
          <p:cNvSpPr>
            <a:spLocks noChangeArrowheads="1"/>
          </p:cNvSpPr>
          <p:nvPr/>
        </p:nvSpPr>
        <p:spPr bwMode="auto">
          <a:xfrm>
            <a:off x="1100138" y="4224338"/>
            <a:ext cx="6650037" cy="1781175"/>
          </a:xfrm>
          <a:prstGeom prst="rect">
            <a:avLst/>
          </a:prstGeom>
          <a:no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grpSp>
        <p:nvGrpSpPr>
          <p:cNvPr id="111618" name="Group 182"/>
          <p:cNvGrpSpPr>
            <a:grpSpLocks/>
          </p:cNvGrpSpPr>
          <p:nvPr/>
        </p:nvGrpSpPr>
        <p:grpSpPr bwMode="auto">
          <a:xfrm>
            <a:off x="1100138" y="4224338"/>
            <a:ext cx="6650037" cy="1781175"/>
            <a:chOff x="528" y="2544"/>
            <a:chExt cx="4656" cy="1248"/>
          </a:xfrm>
        </p:grpSpPr>
        <p:grpSp>
          <p:nvGrpSpPr>
            <p:cNvPr id="111643" name="Group 183"/>
            <p:cNvGrpSpPr>
              <a:grpSpLocks/>
            </p:cNvGrpSpPr>
            <p:nvPr/>
          </p:nvGrpSpPr>
          <p:grpSpPr bwMode="auto">
            <a:xfrm>
              <a:off x="528" y="2544"/>
              <a:ext cx="2688" cy="1248"/>
              <a:chOff x="528" y="2544"/>
              <a:chExt cx="2688" cy="1248"/>
            </a:xfrm>
          </p:grpSpPr>
          <p:grpSp>
            <p:nvGrpSpPr>
              <p:cNvPr id="111645" name="Group 184"/>
              <p:cNvGrpSpPr>
                <a:grpSpLocks/>
              </p:cNvGrpSpPr>
              <p:nvPr/>
            </p:nvGrpSpPr>
            <p:grpSpPr bwMode="auto">
              <a:xfrm>
                <a:off x="528" y="2544"/>
                <a:ext cx="2688" cy="1248"/>
                <a:chOff x="528" y="2544"/>
                <a:chExt cx="2688" cy="1248"/>
              </a:xfrm>
            </p:grpSpPr>
            <p:grpSp>
              <p:nvGrpSpPr>
                <p:cNvPr id="111647" name="Group 185"/>
                <p:cNvGrpSpPr>
                  <a:grpSpLocks/>
                </p:cNvGrpSpPr>
                <p:nvPr/>
              </p:nvGrpSpPr>
              <p:grpSpPr bwMode="auto">
                <a:xfrm>
                  <a:off x="528" y="2544"/>
                  <a:ext cx="240" cy="1248"/>
                  <a:chOff x="528" y="2544"/>
                  <a:chExt cx="240" cy="1248"/>
                </a:xfrm>
              </p:grpSpPr>
              <p:sp>
                <p:nvSpPr>
                  <p:cNvPr id="111649" name="Line 186"/>
                  <p:cNvSpPr>
                    <a:spLocks noChangeShapeType="1"/>
                  </p:cNvSpPr>
                  <p:nvPr/>
                </p:nvSpPr>
                <p:spPr bwMode="auto">
                  <a:xfrm>
                    <a:off x="768" y="2544"/>
                    <a:ext cx="0" cy="1248"/>
                  </a:xfrm>
                  <a:prstGeom prst="line">
                    <a:avLst/>
                  </a:prstGeom>
                  <a:noFill/>
                  <a:ln w="28575">
                    <a:solidFill>
                      <a:srgbClr val="FF3300"/>
                    </a:solidFill>
                    <a:prstDash val="dash"/>
                    <a:round/>
                    <a:headEnd/>
                    <a:tailEnd/>
                  </a:ln>
                </p:spPr>
                <p:txBody>
                  <a:bodyPr/>
                  <a:lstStyle/>
                  <a:p>
                    <a:endParaRPr lang="en-US"/>
                  </a:p>
                </p:txBody>
              </p:sp>
              <p:sp>
                <p:nvSpPr>
                  <p:cNvPr id="111650" name="Line 187"/>
                  <p:cNvSpPr>
                    <a:spLocks noChangeShapeType="1"/>
                  </p:cNvSpPr>
                  <p:nvPr/>
                </p:nvSpPr>
                <p:spPr bwMode="auto">
                  <a:xfrm>
                    <a:off x="528" y="3792"/>
                    <a:ext cx="240" cy="0"/>
                  </a:xfrm>
                  <a:prstGeom prst="line">
                    <a:avLst/>
                  </a:prstGeom>
                  <a:noFill/>
                  <a:ln w="28575">
                    <a:solidFill>
                      <a:srgbClr val="FF3300"/>
                    </a:solidFill>
                    <a:prstDash val="dash"/>
                    <a:round/>
                    <a:headEnd/>
                    <a:tailEnd/>
                  </a:ln>
                </p:spPr>
                <p:txBody>
                  <a:bodyPr/>
                  <a:lstStyle/>
                  <a:p>
                    <a:endParaRPr lang="en-US"/>
                  </a:p>
                </p:txBody>
              </p:sp>
            </p:grpSp>
            <p:sp>
              <p:nvSpPr>
                <p:cNvPr id="111648" name="Line 188"/>
                <p:cNvSpPr>
                  <a:spLocks noChangeShapeType="1"/>
                </p:cNvSpPr>
                <p:nvPr/>
              </p:nvSpPr>
              <p:spPr bwMode="auto">
                <a:xfrm>
                  <a:off x="768" y="2544"/>
                  <a:ext cx="2448" cy="0"/>
                </a:xfrm>
                <a:prstGeom prst="line">
                  <a:avLst/>
                </a:prstGeom>
                <a:noFill/>
                <a:ln w="28575">
                  <a:solidFill>
                    <a:srgbClr val="FF3300"/>
                  </a:solidFill>
                  <a:prstDash val="dash"/>
                  <a:round/>
                  <a:headEnd/>
                  <a:tailEnd/>
                </a:ln>
              </p:spPr>
              <p:txBody>
                <a:bodyPr/>
                <a:lstStyle/>
                <a:p>
                  <a:endParaRPr lang="en-US"/>
                </a:p>
              </p:txBody>
            </p:sp>
          </p:grpSp>
          <p:sp>
            <p:nvSpPr>
              <p:cNvPr id="111646" name="Line 189"/>
              <p:cNvSpPr>
                <a:spLocks noChangeShapeType="1"/>
              </p:cNvSpPr>
              <p:nvPr/>
            </p:nvSpPr>
            <p:spPr bwMode="auto">
              <a:xfrm>
                <a:off x="3216" y="2544"/>
                <a:ext cx="0" cy="1248"/>
              </a:xfrm>
              <a:prstGeom prst="line">
                <a:avLst/>
              </a:prstGeom>
              <a:noFill/>
              <a:ln w="28575">
                <a:solidFill>
                  <a:srgbClr val="FF3300"/>
                </a:solidFill>
                <a:prstDash val="dash"/>
                <a:round/>
                <a:headEnd/>
                <a:tailEnd/>
              </a:ln>
            </p:spPr>
            <p:txBody>
              <a:bodyPr/>
              <a:lstStyle/>
              <a:p>
                <a:endParaRPr lang="en-US"/>
              </a:p>
            </p:txBody>
          </p:sp>
        </p:grpSp>
        <p:sp>
          <p:nvSpPr>
            <p:cNvPr id="111644" name="Line 190"/>
            <p:cNvSpPr>
              <a:spLocks noChangeShapeType="1"/>
            </p:cNvSpPr>
            <p:nvPr/>
          </p:nvSpPr>
          <p:spPr bwMode="auto">
            <a:xfrm>
              <a:off x="3216" y="3792"/>
              <a:ext cx="1968" cy="0"/>
            </a:xfrm>
            <a:prstGeom prst="line">
              <a:avLst/>
            </a:prstGeom>
            <a:noFill/>
            <a:ln w="28575">
              <a:solidFill>
                <a:srgbClr val="FF3300"/>
              </a:solidFill>
              <a:prstDash val="dash"/>
              <a:round/>
              <a:headEnd/>
              <a:tailEnd/>
            </a:ln>
          </p:spPr>
          <p:txBody>
            <a:bodyPr/>
            <a:lstStyle/>
            <a:p>
              <a:endParaRPr lang="en-US"/>
            </a:p>
          </p:txBody>
        </p:sp>
      </p:grpSp>
      <p:sp>
        <p:nvSpPr>
          <p:cNvPr id="111619" name="Line 150"/>
          <p:cNvSpPr>
            <a:spLocks noChangeShapeType="1"/>
          </p:cNvSpPr>
          <p:nvPr/>
        </p:nvSpPr>
        <p:spPr bwMode="auto">
          <a:xfrm>
            <a:off x="1090613" y="6215063"/>
            <a:ext cx="6659562" cy="0"/>
          </a:xfrm>
          <a:prstGeom prst="line">
            <a:avLst/>
          </a:prstGeom>
          <a:noFill/>
          <a:ln w="12700">
            <a:solidFill>
              <a:schemeClr val="tx1"/>
            </a:solidFill>
            <a:round/>
            <a:headEnd/>
            <a:tailEnd type="triangle" w="med" len="med"/>
          </a:ln>
        </p:spPr>
        <p:txBody>
          <a:bodyPr/>
          <a:lstStyle/>
          <a:p>
            <a:endParaRPr lang="en-US"/>
          </a:p>
        </p:txBody>
      </p:sp>
      <p:sp>
        <p:nvSpPr>
          <p:cNvPr id="111620" name="Rectangle 2"/>
          <p:cNvSpPr>
            <a:spLocks noGrp="1" noChangeArrowheads="1"/>
          </p:cNvSpPr>
          <p:nvPr>
            <p:ph type="title"/>
          </p:nvPr>
        </p:nvSpPr>
        <p:spPr>
          <a:xfrm>
            <a:off x="438150" y="814388"/>
            <a:ext cx="6154738" cy="987425"/>
          </a:xfrm>
        </p:spPr>
        <p:txBody>
          <a:bodyPr/>
          <a:lstStyle/>
          <a:p>
            <a:r>
              <a:rPr lang="en-AU" smtClean="0"/>
              <a:t>Concentrations – continuous point source</a:t>
            </a:r>
            <a:endParaRPr lang="en-US" smtClean="0"/>
          </a:p>
        </p:txBody>
      </p:sp>
      <p:sp>
        <p:nvSpPr>
          <p:cNvPr id="111621" name="Text Box 6"/>
          <p:cNvSpPr txBox="1">
            <a:spLocks noChangeArrowheads="1"/>
          </p:cNvSpPr>
          <p:nvPr/>
        </p:nvSpPr>
        <p:spPr bwMode="auto">
          <a:xfrm>
            <a:off x="438150" y="1876425"/>
            <a:ext cx="2463800" cy="274638"/>
          </a:xfrm>
          <a:prstGeom prst="rect">
            <a:avLst/>
          </a:prstGeom>
          <a:noFill/>
          <a:ln w="9525">
            <a:noFill/>
            <a:miter lim="800000"/>
            <a:headEnd/>
            <a:tailEnd/>
          </a:ln>
        </p:spPr>
        <p:txBody>
          <a:bodyPr wrap="none" lIns="0" tIns="0" rIns="0" bIns="0">
            <a:spAutoFit/>
          </a:bodyPr>
          <a:lstStyle/>
          <a:p>
            <a:r>
              <a:rPr lang="en-AU" i="0">
                <a:solidFill>
                  <a:schemeClr val="tx1"/>
                </a:solidFill>
              </a:rPr>
              <a:t>Continuous point source</a:t>
            </a:r>
            <a:endParaRPr lang="en-US" i="0">
              <a:solidFill>
                <a:schemeClr val="tx1"/>
              </a:solidFill>
            </a:endParaRPr>
          </a:p>
        </p:txBody>
      </p:sp>
      <p:sp>
        <p:nvSpPr>
          <p:cNvPr id="111622" name="Rectangle 62"/>
          <p:cNvSpPr>
            <a:spLocks noChangeArrowheads="1"/>
          </p:cNvSpPr>
          <p:nvPr/>
        </p:nvSpPr>
        <p:spPr bwMode="auto">
          <a:xfrm>
            <a:off x="906463" y="5868988"/>
            <a:ext cx="114300" cy="274637"/>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0</a:t>
            </a:r>
            <a:endParaRPr lang="en-US">
              <a:latin typeface="Times New Roman" pitchFamily="18" charset="0"/>
            </a:endParaRPr>
          </a:p>
        </p:txBody>
      </p:sp>
      <p:sp>
        <p:nvSpPr>
          <p:cNvPr id="111623" name="Rectangle 63"/>
          <p:cNvSpPr>
            <a:spLocks noChangeArrowheads="1"/>
          </p:cNvSpPr>
          <p:nvPr/>
        </p:nvSpPr>
        <p:spPr bwMode="auto">
          <a:xfrm>
            <a:off x="906463" y="4089400"/>
            <a:ext cx="114300" cy="274638"/>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1</a:t>
            </a:r>
            <a:endParaRPr lang="en-US">
              <a:latin typeface="Times New Roman" pitchFamily="18" charset="0"/>
            </a:endParaRPr>
          </a:p>
        </p:txBody>
      </p:sp>
      <p:sp>
        <p:nvSpPr>
          <p:cNvPr id="111624" name="Rectangle 71"/>
          <p:cNvSpPr>
            <a:spLocks noChangeArrowheads="1"/>
          </p:cNvSpPr>
          <p:nvPr/>
        </p:nvSpPr>
        <p:spPr bwMode="auto">
          <a:xfrm>
            <a:off x="3841750" y="6134100"/>
            <a:ext cx="1084263" cy="244475"/>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sz="1600" i="0">
                <a:solidFill>
                  <a:srgbClr val="000000"/>
                </a:solidFill>
              </a:rPr>
              <a:t>Distance (x)</a:t>
            </a:r>
            <a:endParaRPr lang="en-US"/>
          </a:p>
        </p:txBody>
      </p:sp>
      <p:sp>
        <p:nvSpPr>
          <p:cNvPr id="111625" name="Rectangle 94"/>
          <p:cNvSpPr>
            <a:spLocks noChangeArrowheads="1"/>
          </p:cNvSpPr>
          <p:nvPr/>
        </p:nvSpPr>
        <p:spPr bwMode="auto">
          <a:xfrm>
            <a:off x="3721100" y="6048375"/>
            <a:ext cx="1400175" cy="366713"/>
          </a:xfrm>
          <a:prstGeom prst="rect">
            <a:avLst/>
          </a:prstGeom>
          <a:solidFill>
            <a:srgbClr val="FFF5C8"/>
          </a:solidFill>
          <a:ln w="9525">
            <a:noFill/>
            <a:miter lim="800000"/>
            <a:headEnd/>
            <a:tailEnd/>
          </a:ln>
        </p:spPr>
        <p:txBody>
          <a:bodyPr wrap="none" lIns="90000" tIns="46800" rIns="90000" bIns="46800">
            <a:spAutoFit/>
          </a:bodyPr>
          <a:lstStyle/>
          <a:p>
            <a:pPr algn="ctr" defTabSz="449263">
              <a:buClr>
                <a:srgbClr val="000000"/>
              </a:buClr>
              <a:buSzPct val="100000"/>
              <a:buFont typeface="Times New Roman" pitchFamily="18" charset="0"/>
              <a:buNone/>
            </a:pPr>
            <a:r>
              <a:rPr lang="en-US" i="0">
                <a:solidFill>
                  <a:srgbClr val="000000"/>
                </a:solidFill>
              </a:rPr>
              <a:t>Distance (x)</a:t>
            </a:r>
            <a:endParaRPr lang="en-US"/>
          </a:p>
        </p:txBody>
      </p:sp>
      <p:sp>
        <p:nvSpPr>
          <p:cNvPr id="111626" name="Rectangle 140"/>
          <p:cNvSpPr>
            <a:spLocks noChangeArrowheads="1"/>
          </p:cNvSpPr>
          <p:nvPr/>
        </p:nvSpPr>
        <p:spPr bwMode="auto">
          <a:xfrm>
            <a:off x="1098550" y="3849688"/>
            <a:ext cx="427038" cy="274637"/>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rPr>
              <a:t>At t</a:t>
            </a:r>
            <a:r>
              <a:rPr lang="en-US" i="0" baseline="-25000">
                <a:solidFill>
                  <a:srgbClr val="000000"/>
                </a:solidFill>
              </a:rPr>
              <a:t>2</a:t>
            </a:r>
          </a:p>
        </p:txBody>
      </p:sp>
      <p:sp>
        <p:nvSpPr>
          <p:cNvPr id="111627" name="Rectangle 142"/>
          <p:cNvSpPr>
            <a:spLocks noChangeArrowheads="1"/>
          </p:cNvSpPr>
          <p:nvPr/>
        </p:nvSpPr>
        <p:spPr bwMode="auto">
          <a:xfrm>
            <a:off x="3022600" y="2236788"/>
            <a:ext cx="139700" cy="274637"/>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t</a:t>
            </a:r>
            <a:r>
              <a:rPr lang="en-US" i="0" baseline="-25000">
                <a:solidFill>
                  <a:srgbClr val="000000"/>
                </a:solidFill>
                <a:latin typeface="Times New Roman" pitchFamily="18" charset="0"/>
              </a:rPr>
              <a:t>1</a:t>
            </a:r>
          </a:p>
        </p:txBody>
      </p:sp>
      <p:sp>
        <p:nvSpPr>
          <p:cNvPr id="111628" name="Line 143"/>
          <p:cNvSpPr>
            <a:spLocks noChangeShapeType="1"/>
          </p:cNvSpPr>
          <p:nvPr/>
        </p:nvSpPr>
        <p:spPr bwMode="auto">
          <a:xfrm>
            <a:off x="3086100" y="2536825"/>
            <a:ext cx="0" cy="168275"/>
          </a:xfrm>
          <a:prstGeom prst="line">
            <a:avLst/>
          </a:prstGeom>
          <a:noFill/>
          <a:ln w="12700">
            <a:solidFill>
              <a:schemeClr val="tx1"/>
            </a:solidFill>
            <a:round/>
            <a:headEnd/>
            <a:tailEnd type="triangle" w="med" len="med"/>
          </a:ln>
        </p:spPr>
        <p:txBody>
          <a:bodyPr/>
          <a:lstStyle/>
          <a:p>
            <a:endParaRPr lang="en-US"/>
          </a:p>
        </p:txBody>
      </p:sp>
      <p:sp>
        <p:nvSpPr>
          <p:cNvPr id="111629" name="Line 144"/>
          <p:cNvSpPr>
            <a:spLocks noChangeShapeType="1"/>
          </p:cNvSpPr>
          <p:nvPr/>
        </p:nvSpPr>
        <p:spPr bwMode="auto">
          <a:xfrm>
            <a:off x="1446213" y="2279650"/>
            <a:ext cx="0" cy="425450"/>
          </a:xfrm>
          <a:prstGeom prst="line">
            <a:avLst/>
          </a:prstGeom>
          <a:noFill/>
          <a:ln w="12700">
            <a:solidFill>
              <a:schemeClr val="tx1"/>
            </a:solidFill>
            <a:round/>
            <a:headEnd/>
            <a:tailEnd type="triangle" w="med" len="med"/>
          </a:ln>
        </p:spPr>
        <p:txBody>
          <a:bodyPr/>
          <a:lstStyle/>
          <a:p>
            <a:endParaRPr lang="en-US"/>
          </a:p>
        </p:txBody>
      </p:sp>
      <p:sp>
        <p:nvSpPr>
          <p:cNvPr id="111630" name="Rectangle 145"/>
          <p:cNvSpPr>
            <a:spLocks noChangeArrowheads="1"/>
          </p:cNvSpPr>
          <p:nvPr/>
        </p:nvSpPr>
        <p:spPr bwMode="auto">
          <a:xfrm>
            <a:off x="4813300" y="2236788"/>
            <a:ext cx="139700" cy="274637"/>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t</a:t>
            </a:r>
            <a:r>
              <a:rPr lang="en-US" i="0" baseline="-25000">
                <a:solidFill>
                  <a:srgbClr val="000000"/>
                </a:solidFill>
                <a:latin typeface="Times New Roman" pitchFamily="18" charset="0"/>
              </a:rPr>
              <a:t>2</a:t>
            </a:r>
          </a:p>
        </p:txBody>
      </p:sp>
      <p:sp>
        <p:nvSpPr>
          <p:cNvPr id="111631" name="Line 146"/>
          <p:cNvSpPr>
            <a:spLocks noChangeShapeType="1"/>
          </p:cNvSpPr>
          <p:nvPr/>
        </p:nvSpPr>
        <p:spPr bwMode="auto">
          <a:xfrm>
            <a:off x="4876800" y="2536825"/>
            <a:ext cx="0" cy="168275"/>
          </a:xfrm>
          <a:prstGeom prst="line">
            <a:avLst/>
          </a:prstGeom>
          <a:noFill/>
          <a:ln w="12700">
            <a:solidFill>
              <a:schemeClr val="tx1"/>
            </a:solidFill>
            <a:round/>
            <a:headEnd/>
            <a:tailEnd type="triangle" w="med" len="med"/>
          </a:ln>
        </p:spPr>
        <p:txBody>
          <a:bodyPr/>
          <a:lstStyle/>
          <a:p>
            <a:endParaRPr lang="en-US"/>
          </a:p>
        </p:txBody>
      </p:sp>
      <p:sp>
        <p:nvSpPr>
          <p:cNvPr id="111632" name="Rectangle 147"/>
          <p:cNvSpPr>
            <a:spLocks noChangeArrowheads="1"/>
          </p:cNvSpPr>
          <p:nvPr/>
        </p:nvSpPr>
        <p:spPr bwMode="auto">
          <a:xfrm>
            <a:off x="6599238" y="2236788"/>
            <a:ext cx="139700" cy="274637"/>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t</a:t>
            </a:r>
            <a:r>
              <a:rPr lang="en-US" i="0" baseline="-25000">
                <a:solidFill>
                  <a:srgbClr val="000000"/>
                </a:solidFill>
                <a:latin typeface="Times New Roman" pitchFamily="18" charset="0"/>
              </a:rPr>
              <a:t>3</a:t>
            </a:r>
          </a:p>
        </p:txBody>
      </p:sp>
      <p:sp>
        <p:nvSpPr>
          <p:cNvPr id="111633" name="Line 148"/>
          <p:cNvSpPr>
            <a:spLocks noChangeShapeType="1"/>
          </p:cNvSpPr>
          <p:nvPr/>
        </p:nvSpPr>
        <p:spPr bwMode="auto">
          <a:xfrm>
            <a:off x="6662738" y="2536825"/>
            <a:ext cx="0" cy="168275"/>
          </a:xfrm>
          <a:prstGeom prst="line">
            <a:avLst/>
          </a:prstGeom>
          <a:noFill/>
          <a:ln w="12700">
            <a:solidFill>
              <a:schemeClr val="tx1"/>
            </a:solidFill>
            <a:round/>
            <a:headEnd/>
            <a:tailEnd type="triangle" w="med" len="med"/>
          </a:ln>
        </p:spPr>
        <p:txBody>
          <a:bodyPr/>
          <a:lstStyle/>
          <a:p>
            <a:endParaRPr lang="en-US"/>
          </a:p>
        </p:txBody>
      </p:sp>
      <p:grpSp>
        <p:nvGrpSpPr>
          <p:cNvPr id="111634" name="Group 155"/>
          <p:cNvGrpSpPr>
            <a:grpSpLocks/>
          </p:cNvGrpSpPr>
          <p:nvPr/>
        </p:nvGrpSpPr>
        <p:grpSpPr bwMode="auto">
          <a:xfrm>
            <a:off x="727075" y="4803775"/>
            <a:ext cx="293688" cy="627063"/>
            <a:chOff x="276" y="2970"/>
            <a:chExt cx="185" cy="395"/>
          </a:xfrm>
        </p:grpSpPr>
        <p:sp>
          <p:nvSpPr>
            <p:cNvPr id="111640" name="Line 152"/>
            <p:cNvSpPr>
              <a:spLocks noChangeShapeType="1"/>
            </p:cNvSpPr>
            <p:nvPr/>
          </p:nvSpPr>
          <p:spPr bwMode="auto">
            <a:xfrm>
              <a:off x="276" y="3169"/>
              <a:ext cx="185" cy="0"/>
            </a:xfrm>
            <a:prstGeom prst="line">
              <a:avLst/>
            </a:prstGeom>
            <a:noFill/>
            <a:ln w="11176">
              <a:solidFill>
                <a:srgbClr val="000000"/>
              </a:solidFill>
              <a:round/>
              <a:headEnd/>
              <a:tailEnd/>
            </a:ln>
          </p:spPr>
          <p:txBody>
            <a:bodyPr/>
            <a:lstStyle/>
            <a:p>
              <a:endParaRPr lang="en-US"/>
            </a:p>
          </p:txBody>
        </p:sp>
        <p:sp>
          <p:nvSpPr>
            <p:cNvPr id="111641" name="Rectangle 153"/>
            <p:cNvSpPr>
              <a:spLocks noChangeArrowheads="1"/>
            </p:cNvSpPr>
            <p:nvPr/>
          </p:nvSpPr>
          <p:spPr bwMode="auto">
            <a:xfrm>
              <a:off x="289" y="3173"/>
              <a:ext cx="159" cy="192"/>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sz="2000">
                  <a:solidFill>
                    <a:srgbClr val="000000"/>
                  </a:solidFill>
                  <a:latin typeface="Times New Roman" pitchFamily="18" charset="0"/>
                </a:rPr>
                <a:t>C</a:t>
              </a:r>
              <a:r>
                <a:rPr lang="en-US" sz="2000" baseline="-25000">
                  <a:solidFill>
                    <a:srgbClr val="000000"/>
                  </a:solidFill>
                  <a:latin typeface="Times New Roman" pitchFamily="18" charset="0"/>
                </a:rPr>
                <a:t>0</a:t>
              </a:r>
            </a:p>
          </p:txBody>
        </p:sp>
        <p:sp>
          <p:nvSpPr>
            <p:cNvPr id="111642" name="Rectangle 154"/>
            <p:cNvSpPr>
              <a:spLocks noChangeArrowheads="1"/>
            </p:cNvSpPr>
            <p:nvPr/>
          </p:nvSpPr>
          <p:spPr bwMode="auto">
            <a:xfrm>
              <a:off x="315" y="2970"/>
              <a:ext cx="107" cy="192"/>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sz="2000">
                  <a:solidFill>
                    <a:srgbClr val="000000"/>
                  </a:solidFill>
                  <a:latin typeface="Times New Roman" pitchFamily="18" charset="0"/>
                </a:rPr>
                <a:t>C</a:t>
              </a:r>
              <a:endParaRPr lang="en-US" sz="2000"/>
            </a:p>
          </p:txBody>
        </p:sp>
      </p:grpSp>
      <p:sp>
        <p:nvSpPr>
          <p:cNvPr id="111635" name="Rectangle 162"/>
          <p:cNvSpPr>
            <a:spLocks noChangeAspect="1" noChangeArrowheads="1"/>
          </p:cNvSpPr>
          <p:nvPr/>
        </p:nvSpPr>
        <p:spPr bwMode="auto">
          <a:xfrm>
            <a:off x="1098550" y="2717800"/>
            <a:ext cx="6650038" cy="960438"/>
          </a:xfrm>
          <a:prstGeom prst="rect">
            <a:avLst/>
          </a:prstGeom>
          <a:solidFill>
            <a:srgbClr val="99CCFF"/>
          </a:solid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11636" name="Oval 163"/>
          <p:cNvSpPr>
            <a:spLocks noChangeAspect="1" noChangeArrowheads="1"/>
          </p:cNvSpPr>
          <p:nvPr/>
        </p:nvSpPr>
        <p:spPr bwMode="auto">
          <a:xfrm>
            <a:off x="1373188" y="3128963"/>
            <a:ext cx="136525" cy="138112"/>
          </a:xfrm>
          <a:prstGeom prst="ellipse">
            <a:avLst/>
          </a:prstGeom>
          <a:solidFill>
            <a:srgbClr val="FF0000"/>
          </a:solidFill>
          <a:ln w="9525">
            <a:solidFill>
              <a:srgbClr val="FF3300"/>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11637" name="Oval 164"/>
          <p:cNvSpPr>
            <a:spLocks noChangeAspect="1" noChangeArrowheads="1"/>
          </p:cNvSpPr>
          <p:nvPr/>
        </p:nvSpPr>
        <p:spPr bwMode="auto">
          <a:xfrm>
            <a:off x="4800600" y="3128963"/>
            <a:ext cx="136525" cy="138112"/>
          </a:xfrm>
          <a:prstGeom prst="ellipse">
            <a:avLst/>
          </a:prstGeom>
          <a:solidFill>
            <a:srgbClr val="FF0000"/>
          </a:solidFill>
          <a:ln w="9525">
            <a:solidFill>
              <a:srgbClr val="FF3300"/>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11638" name="Line 165"/>
          <p:cNvSpPr>
            <a:spLocks noChangeAspect="1" noChangeShapeType="1"/>
          </p:cNvSpPr>
          <p:nvPr/>
        </p:nvSpPr>
        <p:spPr bwMode="auto">
          <a:xfrm>
            <a:off x="1441450" y="3198813"/>
            <a:ext cx="3427413" cy="0"/>
          </a:xfrm>
          <a:prstGeom prst="line">
            <a:avLst/>
          </a:prstGeom>
          <a:noFill/>
          <a:ln w="152400">
            <a:solidFill>
              <a:srgbClr val="FF3300"/>
            </a:solidFill>
            <a:round/>
            <a:headEnd/>
            <a:tailEnd/>
          </a:ln>
        </p:spPr>
        <p:txBody>
          <a:bodyPr/>
          <a:lstStyle/>
          <a:p>
            <a:endParaRPr lang="en-US"/>
          </a:p>
        </p:txBody>
      </p:sp>
      <p:sp>
        <p:nvSpPr>
          <p:cNvPr id="111639" name="Line 166"/>
          <p:cNvSpPr>
            <a:spLocks noChangeAspect="1" noChangeShapeType="1"/>
          </p:cNvSpPr>
          <p:nvPr/>
        </p:nvSpPr>
        <p:spPr bwMode="auto">
          <a:xfrm>
            <a:off x="1098550" y="3198813"/>
            <a:ext cx="6650038" cy="0"/>
          </a:xfrm>
          <a:prstGeom prst="line">
            <a:avLst/>
          </a:prstGeom>
          <a:noFill/>
          <a:ln w="50800">
            <a:solidFill>
              <a:srgbClr val="000000"/>
            </a:solidFill>
            <a:prstDash val="sysDot"/>
            <a:round/>
            <a:headEnd/>
            <a:tailEnd/>
          </a:ln>
        </p:spPr>
        <p:txBody>
          <a:bodyPr/>
          <a:lstStyle/>
          <a:p>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noChangeArrowheads="1"/>
          </p:cNvSpPr>
          <p:nvPr>
            <p:ph type="title"/>
          </p:nvPr>
        </p:nvSpPr>
        <p:spPr>
          <a:xfrm>
            <a:off x="438150" y="814388"/>
            <a:ext cx="5060950" cy="493712"/>
          </a:xfrm>
        </p:spPr>
        <p:txBody>
          <a:bodyPr/>
          <a:lstStyle/>
          <a:p>
            <a:r>
              <a:rPr lang="en-AU" smtClean="0"/>
              <a:t>Mechanical Dispersion</a:t>
            </a:r>
            <a:endParaRPr lang="en-US" smtClean="0"/>
          </a:p>
        </p:txBody>
      </p:sp>
      <p:sp>
        <p:nvSpPr>
          <p:cNvPr id="113666" name="Text Box 4"/>
          <p:cNvSpPr txBox="1">
            <a:spLocks noChangeArrowheads="1"/>
          </p:cNvSpPr>
          <p:nvPr/>
        </p:nvSpPr>
        <p:spPr bwMode="auto">
          <a:xfrm>
            <a:off x="533400" y="3162300"/>
            <a:ext cx="2181225" cy="915988"/>
          </a:xfrm>
          <a:prstGeom prst="rect">
            <a:avLst/>
          </a:prstGeom>
          <a:noFill/>
          <a:ln w="9525">
            <a:noFill/>
            <a:miter lim="800000"/>
            <a:headEnd/>
            <a:tailEnd/>
          </a:ln>
        </p:spPr>
        <p:txBody>
          <a:bodyPr>
            <a:spAutoFit/>
          </a:bodyPr>
          <a:lstStyle/>
          <a:p>
            <a:pPr>
              <a:spcBef>
                <a:spcPct val="50000"/>
              </a:spcBef>
            </a:pPr>
            <a:r>
              <a:rPr lang="en-AU" i="0">
                <a:solidFill>
                  <a:schemeClr val="tx1"/>
                </a:solidFill>
              </a:rPr>
              <a:t>Dispersivity is a function of the porous media</a:t>
            </a:r>
            <a:endParaRPr lang="en-US" i="0">
              <a:solidFill>
                <a:schemeClr val="tx1"/>
              </a:solidFill>
            </a:endParaRPr>
          </a:p>
        </p:txBody>
      </p:sp>
      <p:grpSp>
        <p:nvGrpSpPr>
          <p:cNvPr id="113667" name="Group 18"/>
          <p:cNvGrpSpPr>
            <a:grpSpLocks/>
          </p:cNvGrpSpPr>
          <p:nvPr/>
        </p:nvGrpSpPr>
        <p:grpSpPr bwMode="auto">
          <a:xfrm>
            <a:off x="2389188" y="1581150"/>
            <a:ext cx="4130675" cy="4953000"/>
            <a:chOff x="1860" y="870"/>
            <a:chExt cx="2602" cy="3120"/>
          </a:xfrm>
        </p:grpSpPr>
        <p:pic>
          <p:nvPicPr>
            <p:cNvPr id="113668" name="Picture 5"/>
            <p:cNvPicPr>
              <a:picLocks noChangeAspect="1" noChangeArrowheads="1"/>
            </p:cNvPicPr>
            <p:nvPr/>
          </p:nvPicPr>
          <p:blipFill>
            <a:blip r:embed="rId3"/>
            <a:srcRect/>
            <a:stretch>
              <a:fillRect/>
            </a:stretch>
          </p:blipFill>
          <p:spPr bwMode="auto">
            <a:xfrm>
              <a:off x="1860" y="870"/>
              <a:ext cx="2602" cy="3112"/>
            </a:xfrm>
            <a:prstGeom prst="rect">
              <a:avLst/>
            </a:prstGeom>
            <a:noFill/>
            <a:ln w="9525">
              <a:noFill/>
              <a:miter lim="800000"/>
              <a:headEnd/>
              <a:tailEnd/>
            </a:ln>
          </p:spPr>
        </p:pic>
        <p:grpSp>
          <p:nvGrpSpPr>
            <p:cNvPr id="113669" name="Group 9"/>
            <p:cNvGrpSpPr>
              <a:grpSpLocks/>
            </p:cNvGrpSpPr>
            <p:nvPr/>
          </p:nvGrpSpPr>
          <p:grpSpPr bwMode="auto">
            <a:xfrm>
              <a:off x="2676" y="1446"/>
              <a:ext cx="1344" cy="2544"/>
              <a:chOff x="3696" y="1440"/>
              <a:chExt cx="1344" cy="2544"/>
            </a:xfrm>
          </p:grpSpPr>
          <p:sp>
            <p:nvSpPr>
              <p:cNvPr id="113670" name="AutoShape 10"/>
              <p:cNvSpPr>
                <a:spLocks noChangeArrowheads="1"/>
              </p:cNvSpPr>
              <p:nvPr/>
            </p:nvSpPr>
            <p:spPr bwMode="auto">
              <a:xfrm>
                <a:off x="4032" y="1440"/>
                <a:ext cx="672" cy="2544"/>
              </a:xfrm>
              <a:prstGeom prst="downArrow">
                <a:avLst>
                  <a:gd name="adj1" fmla="val 50000"/>
                  <a:gd name="adj2" fmla="val 94643"/>
                </a:avLst>
              </a:prstGeom>
              <a:solidFill>
                <a:srgbClr val="FF9900">
                  <a:alpha val="39999"/>
                </a:srgbClr>
              </a:solidFill>
              <a:ln w="9525">
                <a:no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sp>
            <p:nvSpPr>
              <p:cNvPr id="113671" name="AutoShape 11"/>
              <p:cNvSpPr>
                <a:spLocks noChangeArrowheads="1"/>
              </p:cNvSpPr>
              <p:nvPr/>
            </p:nvSpPr>
            <p:spPr bwMode="auto">
              <a:xfrm>
                <a:off x="3696" y="2544"/>
                <a:ext cx="1344" cy="384"/>
              </a:xfrm>
              <a:prstGeom prst="leftRightArrow">
                <a:avLst>
                  <a:gd name="adj1" fmla="val 50000"/>
                  <a:gd name="adj2" fmla="val 70000"/>
                </a:avLst>
              </a:prstGeom>
              <a:solidFill>
                <a:srgbClr val="FF9900">
                  <a:alpha val="39999"/>
                </a:srgbClr>
              </a:solidFill>
              <a:ln w="9525">
                <a:noFill/>
                <a:miter lim="800000"/>
                <a:headEnd/>
                <a:tailEnd/>
              </a:ln>
            </p:spPr>
            <p:txBody>
              <a:bodyPr vert="eaVert" wrap="none" anchor="ctr"/>
              <a:lstStyle/>
              <a:p>
                <a:pPr>
                  <a:lnSpc>
                    <a:spcPct val="31000"/>
                  </a:lnSpc>
                  <a:buClr>
                    <a:srgbClr val="000000"/>
                  </a:buClr>
                  <a:buSzPct val="100000"/>
                  <a:buFont typeface="Times New Roman" pitchFamily="18" charset="0"/>
                  <a:buNone/>
                </a:pPr>
                <a:endParaRPr lang="en-US"/>
              </a:p>
            </p:txBody>
          </p:sp>
          <p:sp>
            <p:nvSpPr>
              <p:cNvPr id="113672" name="Text Box 12"/>
              <p:cNvSpPr txBox="1">
                <a:spLocks noChangeArrowheads="1"/>
              </p:cNvSpPr>
              <p:nvPr/>
            </p:nvSpPr>
            <p:spPr bwMode="auto">
              <a:xfrm rot="-5400000">
                <a:off x="3910" y="2042"/>
                <a:ext cx="956" cy="231"/>
              </a:xfrm>
              <a:prstGeom prst="rect">
                <a:avLst/>
              </a:prstGeom>
              <a:noFill/>
              <a:ln w="9525">
                <a:noFill/>
                <a:miter lim="800000"/>
                <a:headEnd/>
                <a:tailEnd/>
              </a:ln>
            </p:spPr>
            <p:txBody>
              <a:bodyPr>
                <a:spAutoFit/>
              </a:bodyPr>
              <a:lstStyle/>
              <a:p>
                <a:pPr>
                  <a:spcBef>
                    <a:spcPct val="50000"/>
                  </a:spcBef>
                </a:pPr>
                <a:r>
                  <a:rPr lang="en-AU" i="0">
                    <a:solidFill>
                      <a:schemeClr val="tx1"/>
                    </a:solidFill>
                  </a:rPr>
                  <a:t>Longitudinal</a:t>
                </a:r>
                <a:endParaRPr lang="en-US" i="0">
                  <a:solidFill>
                    <a:schemeClr val="tx1"/>
                  </a:solidFill>
                </a:endParaRPr>
              </a:p>
            </p:txBody>
          </p:sp>
          <p:sp>
            <p:nvSpPr>
              <p:cNvPr id="113673" name="Text Box 13"/>
              <p:cNvSpPr txBox="1">
                <a:spLocks noChangeArrowheads="1"/>
              </p:cNvSpPr>
              <p:nvPr/>
            </p:nvSpPr>
            <p:spPr bwMode="auto">
              <a:xfrm>
                <a:off x="3888" y="2640"/>
                <a:ext cx="912" cy="231"/>
              </a:xfrm>
              <a:prstGeom prst="rect">
                <a:avLst/>
              </a:prstGeom>
              <a:noFill/>
              <a:ln w="9525">
                <a:noFill/>
                <a:miter lim="800000"/>
                <a:headEnd/>
                <a:tailEnd/>
              </a:ln>
            </p:spPr>
            <p:txBody>
              <a:bodyPr>
                <a:spAutoFit/>
              </a:bodyPr>
              <a:lstStyle/>
              <a:p>
                <a:pPr algn="ctr">
                  <a:spcBef>
                    <a:spcPct val="50000"/>
                  </a:spcBef>
                </a:pPr>
                <a:r>
                  <a:rPr lang="en-AU" i="0">
                    <a:solidFill>
                      <a:schemeClr val="tx1"/>
                    </a:solidFill>
                  </a:rPr>
                  <a:t>Transverse</a:t>
                </a:r>
                <a:endParaRPr lang="en-US" i="0">
                  <a:solidFill>
                    <a:schemeClr val="tx1"/>
                  </a:solidFill>
                </a:endParaRPr>
              </a:p>
            </p:txBody>
          </p:sp>
        </p:grpSp>
      </p:gr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Line 40"/>
          <p:cNvSpPr>
            <a:spLocks noChangeShapeType="1"/>
          </p:cNvSpPr>
          <p:nvPr/>
        </p:nvSpPr>
        <p:spPr bwMode="auto">
          <a:xfrm>
            <a:off x="1144588" y="2279650"/>
            <a:ext cx="0" cy="425450"/>
          </a:xfrm>
          <a:prstGeom prst="line">
            <a:avLst/>
          </a:prstGeom>
          <a:noFill/>
          <a:ln w="12700">
            <a:solidFill>
              <a:schemeClr val="tx1"/>
            </a:solidFill>
            <a:round/>
            <a:headEnd/>
            <a:tailEnd type="triangle" w="med" len="med"/>
          </a:ln>
        </p:spPr>
        <p:txBody>
          <a:bodyPr/>
          <a:lstStyle/>
          <a:p>
            <a:endParaRPr lang="en-US"/>
          </a:p>
        </p:txBody>
      </p:sp>
      <p:sp>
        <p:nvSpPr>
          <p:cNvPr id="115714" name="Rectangle 2"/>
          <p:cNvSpPr>
            <a:spLocks noGrp="1" noChangeArrowheads="1"/>
          </p:cNvSpPr>
          <p:nvPr>
            <p:ph type="title"/>
          </p:nvPr>
        </p:nvSpPr>
        <p:spPr>
          <a:xfrm>
            <a:off x="438150" y="814388"/>
            <a:ext cx="5330825" cy="493712"/>
          </a:xfrm>
        </p:spPr>
        <p:txBody>
          <a:bodyPr/>
          <a:lstStyle/>
          <a:p>
            <a:r>
              <a:rPr lang="en-AU" smtClean="0"/>
              <a:t>Dispersion of the solute</a:t>
            </a:r>
            <a:endParaRPr lang="en-US" smtClean="0"/>
          </a:p>
        </p:txBody>
      </p:sp>
      <p:sp>
        <p:nvSpPr>
          <p:cNvPr id="115715" name="Text Box 7"/>
          <p:cNvSpPr txBox="1">
            <a:spLocks noChangeArrowheads="1"/>
          </p:cNvSpPr>
          <p:nvPr/>
        </p:nvSpPr>
        <p:spPr bwMode="auto">
          <a:xfrm>
            <a:off x="438150" y="1601788"/>
            <a:ext cx="2463800" cy="274637"/>
          </a:xfrm>
          <a:prstGeom prst="rect">
            <a:avLst/>
          </a:prstGeom>
          <a:noFill/>
          <a:ln w="9525">
            <a:noFill/>
            <a:miter lim="800000"/>
            <a:headEnd/>
            <a:tailEnd/>
          </a:ln>
        </p:spPr>
        <p:txBody>
          <a:bodyPr wrap="none" lIns="0" tIns="0" rIns="0" bIns="0">
            <a:spAutoFit/>
          </a:bodyPr>
          <a:lstStyle/>
          <a:p>
            <a:pPr>
              <a:spcBef>
                <a:spcPct val="50000"/>
              </a:spcBef>
            </a:pPr>
            <a:r>
              <a:rPr lang="en-AU" i="0">
                <a:solidFill>
                  <a:schemeClr val="tx1"/>
                </a:solidFill>
              </a:rPr>
              <a:t>Continuous point source</a:t>
            </a:r>
            <a:endParaRPr lang="en-US" i="0">
              <a:solidFill>
                <a:schemeClr val="tx1"/>
              </a:solidFill>
            </a:endParaRPr>
          </a:p>
        </p:txBody>
      </p:sp>
      <p:sp>
        <p:nvSpPr>
          <p:cNvPr id="115716" name="Rectangle 5"/>
          <p:cNvSpPr>
            <a:spLocks noChangeAspect="1" noChangeArrowheads="1"/>
          </p:cNvSpPr>
          <p:nvPr/>
        </p:nvSpPr>
        <p:spPr bwMode="auto">
          <a:xfrm>
            <a:off x="801688" y="2709863"/>
            <a:ext cx="6653212" cy="960437"/>
          </a:xfrm>
          <a:prstGeom prst="rect">
            <a:avLst/>
          </a:prstGeom>
          <a:solidFill>
            <a:srgbClr val="99CCFF"/>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15717" name="Rectangle 8"/>
          <p:cNvSpPr>
            <a:spLocks noChangeAspect="1" noChangeArrowheads="1"/>
          </p:cNvSpPr>
          <p:nvPr/>
        </p:nvSpPr>
        <p:spPr bwMode="auto">
          <a:xfrm>
            <a:off x="801688" y="4352925"/>
            <a:ext cx="6653212" cy="1782763"/>
          </a:xfrm>
          <a:prstGeom prst="rect">
            <a:avLst/>
          </a:prstGeom>
          <a:no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15718" name="Line 11"/>
          <p:cNvSpPr>
            <a:spLocks noChangeAspect="1" noChangeShapeType="1"/>
          </p:cNvSpPr>
          <p:nvPr/>
        </p:nvSpPr>
        <p:spPr bwMode="auto">
          <a:xfrm>
            <a:off x="801688" y="6342063"/>
            <a:ext cx="6653212" cy="0"/>
          </a:xfrm>
          <a:prstGeom prst="line">
            <a:avLst/>
          </a:prstGeom>
          <a:noFill/>
          <a:ln w="9525">
            <a:solidFill>
              <a:schemeClr val="tx1"/>
            </a:solidFill>
            <a:round/>
            <a:headEnd/>
            <a:tailEnd type="triangle" w="med" len="med"/>
          </a:ln>
        </p:spPr>
        <p:txBody>
          <a:bodyPr/>
          <a:lstStyle/>
          <a:p>
            <a:endParaRPr lang="en-US"/>
          </a:p>
        </p:txBody>
      </p:sp>
      <p:sp>
        <p:nvSpPr>
          <p:cNvPr id="115719" name="Text Box 12"/>
          <p:cNvSpPr txBox="1">
            <a:spLocks noChangeAspect="1" noChangeArrowheads="1"/>
          </p:cNvSpPr>
          <p:nvPr/>
        </p:nvSpPr>
        <p:spPr bwMode="auto">
          <a:xfrm>
            <a:off x="3270250" y="6157913"/>
            <a:ext cx="1647825" cy="366712"/>
          </a:xfrm>
          <a:prstGeom prst="rect">
            <a:avLst/>
          </a:prstGeom>
          <a:solidFill>
            <a:srgbClr val="FFF5C8"/>
          </a:solidFill>
          <a:ln w="9525">
            <a:noFill/>
            <a:miter lim="800000"/>
            <a:headEnd/>
            <a:tailEnd/>
          </a:ln>
        </p:spPr>
        <p:txBody>
          <a:bodyPr>
            <a:spAutoFit/>
          </a:bodyPr>
          <a:lstStyle/>
          <a:p>
            <a:pPr algn="ctr">
              <a:spcBef>
                <a:spcPct val="50000"/>
              </a:spcBef>
            </a:pPr>
            <a:r>
              <a:rPr lang="en-AU" i="0">
                <a:solidFill>
                  <a:schemeClr val="tx1"/>
                </a:solidFill>
              </a:rPr>
              <a:t>Distance (x)</a:t>
            </a:r>
            <a:endParaRPr lang="en-US" i="0">
              <a:solidFill>
                <a:schemeClr val="tx1"/>
              </a:solidFill>
            </a:endParaRPr>
          </a:p>
        </p:txBody>
      </p:sp>
      <p:sp>
        <p:nvSpPr>
          <p:cNvPr id="115720" name="Text Box 13"/>
          <p:cNvSpPr txBox="1">
            <a:spLocks noChangeAspect="1" noChangeArrowheads="1"/>
          </p:cNvSpPr>
          <p:nvPr/>
        </p:nvSpPr>
        <p:spPr bwMode="auto">
          <a:xfrm>
            <a:off x="801688" y="3941763"/>
            <a:ext cx="427037" cy="274637"/>
          </a:xfrm>
          <a:prstGeom prst="rect">
            <a:avLst/>
          </a:prstGeom>
          <a:noFill/>
          <a:ln w="9525">
            <a:noFill/>
            <a:miter lim="800000"/>
            <a:headEnd/>
            <a:tailEnd/>
          </a:ln>
        </p:spPr>
        <p:txBody>
          <a:bodyPr wrap="none" lIns="0" tIns="0" rIns="0" bIns="0">
            <a:spAutoFit/>
          </a:bodyPr>
          <a:lstStyle/>
          <a:p>
            <a:pPr>
              <a:spcBef>
                <a:spcPct val="50000"/>
              </a:spcBef>
            </a:pPr>
            <a:r>
              <a:rPr lang="en-AU" i="0">
                <a:solidFill>
                  <a:schemeClr val="tx1"/>
                </a:solidFill>
              </a:rPr>
              <a:t>At t</a:t>
            </a:r>
            <a:r>
              <a:rPr lang="en-AU" i="0" baseline="-25000">
                <a:solidFill>
                  <a:schemeClr val="tx1"/>
                </a:solidFill>
              </a:rPr>
              <a:t>2</a:t>
            </a:r>
            <a:endParaRPr lang="en-US" i="0">
              <a:solidFill>
                <a:schemeClr val="tx1"/>
              </a:solidFill>
            </a:endParaRPr>
          </a:p>
        </p:txBody>
      </p:sp>
      <p:sp>
        <p:nvSpPr>
          <p:cNvPr id="115721" name="Oval 14"/>
          <p:cNvSpPr>
            <a:spLocks noChangeAspect="1" noChangeArrowheads="1"/>
          </p:cNvSpPr>
          <p:nvPr/>
        </p:nvSpPr>
        <p:spPr bwMode="auto">
          <a:xfrm>
            <a:off x="1076325" y="2984500"/>
            <a:ext cx="3497263" cy="411163"/>
          </a:xfrm>
          <a:prstGeom prst="ellipse">
            <a:avLst/>
          </a:prstGeom>
          <a:solidFill>
            <a:srgbClr val="FF0000">
              <a:alpha val="50195"/>
            </a:srgbClr>
          </a:solidFill>
          <a:ln w="9525">
            <a:no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grpSp>
        <p:nvGrpSpPr>
          <p:cNvPr id="115722" name="Group 15"/>
          <p:cNvGrpSpPr>
            <a:grpSpLocks noChangeAspect="1"/>
          </p:cNvGrpSpPr>
          <p:nvPr/>
        </p:nvGrpSpPr>
        <p:grpSpPr bwMode="auto">
          <a:xfrm>
            <a:off x="801688" y="4352925"/>
            <a:ext cx="6653212" cy="1782763"/>
            <a:chOff x="528" y="2544"/>
            <a:chExt cx="4656" cy="1248"/>
          </a:xfrm>
        </p:grpSpPr>
        <p:grpSp>
          <p:nvGrpSpPr>
            <p:cNvPr id="115739" name="Group 16"/>
            <p:cNvGrpSpPr>
              <a:grpSpLocks noChangeAspect="1"/>
            </p:cNvGrpSpPr>
            <p:nvPr/>
          </p:nvGrpSpPr>
          <p:grpSpPr bwMode="auto">
            <a:xfrm>
              <a:off x="528" y="2544"/>
              <a:ext cx="240" cy="1248"/>
              <a:chOff x="528" y="2544"/>
              <a:chExt cx="240" cy="1248"/>
            </a:xfrm>
          </p:grpSpPr>
          <p:sp>
            <p:nvSpPr>
              <p:cNvPr id="115743" name="Line 17"/>
              <p:cNvSpPr>
                <a:spLocks noChangeAspect="1" noChangeShapeType="1"/>
              </p:cNvSpPr>
              <p:nvPr/>
            </p:nvSpPr>
            <p:spPr bwMode="auto">
              <a:xfrm>
                <a:off x="768" y="2544"/>
                <a:ext cx="0" cy="1248"/>
              </a:xfrm>
              <a:prstGeom prst="line">
                <a:avLst/>
              </a:prstGeom>
              <a:noFill/>
              <a:ln w="28575">
                <a:solidFill>
                  <a:srgbClr val="FF3300"/>
                </a:solidFill>
                <a:prstDash val="dash"/>
                <a:round/>
                <a:headEnd/>
                <a:tailEnd/>
              </a:ln>
            </p:spPr>
            <p:txBody>
              <a:bodyPr/>
              <a:lstStyle/>
              <a:p>
                <a:endParaRPr lang="en-US"/>
              </a:p>
            </p:txBody>
          </p:sp>
          <p:sp>
            <p:nvSpPr>
              <p:cNvPr id="115744" name="Line 18"/>
              <p:cNvSpPr>
                <a:spLocks noChangeAspect="1" noChangeShapeType="1"/>
              </p:cNvSpPr>
              <p:nvPr/>
            </p:nvSpPr>
            <p:spPr bwMode="auto">
              <a:xfrm>
                <a:off x="528" y="3792"/>
                <a:ext cx="240" cy="0"/>
              </a:xfrm>
              <a:prstGeom prst="line">
                <a:avLst/>
              </a:prstGeom>
              <a:noFill/>
              <a:ln w="28575">
                <a:solidFill>
                  <a:srgbClr val="FF3300"/>
                </a:solidFill>
                <a:prstDash val="dash"/>
                <a:round/>
                <a:headEnd/>
                <a:tailEnd/>
              </a:ln>
            </p:spPr>
            <p:txBody>
              <a:bodyPr/>
              <a:lstStyle/>
              <a:p>
                <a:endParaRPr lang="en-US"/>
              </a:p>
            </p:txBody>
          </p:sp>
        </p:grpSp>
        <p:sp>
          <p:nvSpPr>
            <p:cNvPr id="115740" name="Line 19"/>
            <p:cNvSpPr>
              <a:spLocks noChangeAspect="1" noChangeShapeType="1"/>
            </p:cNvSpPr>
            <p:nvPr/>
          </p:nvSpPr>
          <p:spPr bwMode="auto">
            <a:xfrm>
              <a:off x="768" y="2544"/>
              <a:ext cx="1824" cy="0"/>
            </a:xfrm>
            <a:prstGeom prst="line">
              <a:avLst/>
            </a:prstGeom>
            <a:noFill/>
            <a:ln w="28575">
              <a:solidFill>
                <a:srgbClr val="FF3300"/>
              </a:solidFill>
              <a:prstDash val="dash"/>
              <a:round/>
              <a:headEnd/>
              <a:tailEnd/>
            </a:ln>
          </p:spPr>
          <p:txBody>
            <a:bodyPr/>
            <a:lstStyle/>
            <a:p>
              <a:endParaRPr lang="en-US"/>
            </a:p>
          </p:txBody>
        </p:sp>
        <p:sp>
          <p:nvSpPr>
            <p:cNvPr id="115741" name="Line 20"/>
            <p:cNvSpPr>
              <a:spLocks noChangeAspect="1" noChangeShapeType="1"/>
            </p:cNvSpPr>
            <p:nvPr/>
          </p:nvSpPr>
          <p:spPr bwMode="auto">
            <a:xfrm>
              <a:off x="3936" y="3792"/>
              <a:ext cx="1248" cy="0"/>
            </a:xfrm>
            <a:prstGeom prst="line">
              <a:avLst/>
            </a:prstGeom>
            <a:noFill/>
            <a:ln w="28575">
              <a:solidFill>
                <a:srgbClr val="FF3300"/>
              </a:solidFill>
              <a:prstDash val="dash"/>
              <a:round/>
              <a:headEnd/>
              <a:tailEnd/>
            </a:ln>
          </p:spPr>
          <p:txBody>
            <a:bodyPr/>
            <a:lstStyle/>
            <a:p>
              <a:endParaRPr lang="en-US"/>
            </a:p>
          </p:txBody>
        </p:sp>
        <p:sp>
          <p:nvSpPr>
            <p:cNvPr id="115742" name="Freeform 21"/>
            <p:cNvSpPr>
              <a:spLocks noChangeAspect="1"/>
            </p:cNvSpPr>
            <p:nvPr/>
          </p:nvSpPr>
          <p:spPr bwMode="auto">
            <a:xfrm>
              <a:off x="2544" y="2544"/>
              <a:ext cx="1392" cy="1248"/>
            </a:xfrm>
            <a:custGeom>
              <a:avLst/>
              <a:gdLst>
                <a:gd name="T0" fmla="*/ 0 w 1392"/>
                <a:gd name="T1" fmla="*/ 0 h 1248"/>
                <a:gd name="T2" fmla="*/ 192 w 1392"/>
                <a:gd name="T3" fmla="*/ 48 h 1248"/>
                <a:gd name="T4" fmla="*/ 432 w 1392"/>
                <a:gd name="T5" fmla="*/ 192 h 1248"/>
                <a:gd name="T6" fmla="*/ 576 w 1392"/>
                <a:gd name="T7" fmla="*/ 480 h 1248"/>
                <a:gd name="T8" fmla="*/ 672 w 1392"/>
                <a:gd name="T9" fmla="*/ 672 h 1248"/>
                <a:gd name="T10" fmla="*/ 864 w 1392"/>
                <a:gd name="T11" fmla="*/ 960 h 1248"/>
                <a:gd name="T12" fmla="*/ 1152 w 1392"/>
                <a:gd name="T13" fmla="*/ 1152 h 1248"/>
                <a:gd name="T14" fmla="*/ 1392 w 1392"/>
                <a:gd name="T15" fmla="*/ 1248 h 1248"/>
                <a:gd name="T16" fmla="*/ 0 60000 65536"/>
                <a:gd name="T17" fmla="*/ 0 60000 65536"/>
                <a:gd name="T18" fmla="*/ 0 60000 65536"/>
                <a:gd name="T19" fmla="*/ 0 60000 65536"/>
                <a:gd name="T20" fmla="*/ 0 60000 65536"/>
                <a:gd name="T21" fmla="*/ 0 60000 65536"/>
                <a:gd name="T22" fmla="*/ 0 60000 65536"/>
                <a:gd name="T23" fmla="*/ 0 60000 65536"/>
                <a:gd name="T24" fmla="*/ 0 w 1392"/>
                <a:gd name="T25" fmla="*/ 0 h 1248"/>
                <a:gd name="T26" fmla="*/ 1392 w 1392"/>
                <a:gd name="T27" fmla="*/ 1248 h 12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92" h="1248">
                  <a:moveTo>
                    <a:pt x="0" y="0"/>
                  </a:moveTo>
                  <a:cubicBezTo>
                    <a:pt x="60" y="8"/>
                    <a:pt x="120" y="16"/>
                    <a:pt x="192" y="48"/>
                  </a:cubicBezTo>
                  <a:cubicBezTo>
                    <a:pt x="264" y="80"/>
                    <a:pt x="368" y="120"/>
                    <a:pt x="432" y="192"/>
                  </a:cubicBezTo>
                  <a:cubicBezTo>
                    <a:pt x="496" y="264"/>
                    <a:pt x="536" y="400"/>
                    <a:pt x="576" y="480"/>
                  </a:cubicBezTo>
                  <a:cubicBezTo>
                    <a:pt x="616" y="560"/>
                    <a:pt x="624" y="592"/>
                    <a:pt x="672" y="672"/>
                  </a:cubicBezTo>
                  <a:cubicBezTo>
                    <a:pt x="720" y="752"/>
                    <a:pt x="784" y="880"/>
                    <a:pt x="864" y="960"/>
                  </a:cubicBezTo>
                  <a:cubicBezTo>
                    <a:pt x="944" y="1040"/>
                    <a:pt x="1064" y="1104"/>
                    <a:pt x="1152" y="1152"/>
                  </a:cubicBezTo>
                  <a:cubicBezTo>
                    <a:pt x="1240" y="1200"/>
                    <a:pt x="1352" y="1232"/>
                    <a:pt x="1392" y="1248"/>
                  </a:cubicBezTo>
                </a:path>
              </a:pathLst>
            </a:custGeom>
            <a:noFill/>
            <a:ln w="28575" cap="flat" cmpd="sng">
              <a:solidFill>
                <a:srgbClr val="FF3300"/>
              </a:solidFill>
              <a:prstDash val="dash"/>
              <a:round/>
              <a:headEnd/>
              <a:tailEnd/>
            </a:ln>
          </p:spPr>
          <p:txBody>
            <a:bodyPr/>
            <a:lstStyle/>
            <a:p>
              <a:endParaRPr lang="en-US"/>
            </a:p>
          </p:txBody>
        </p:sp>
      </p:grpSp>
      <p:sp>
        <p:nvSpPr>
          <p:cNvPr id="115723" name="Oval 22"/>
          <p:cNvSpPr>
            <a:spLocks noChangeAspect="1" noChangeArrowheads="1"/>
          </p:cNvSpPr>
          <p:nvPr/>
        </p:nvSpPr>
        <p:spPr bwMode="auto">
          <a:xfrm>
            <a:off x="1076325" y="2916238"/>
            <a:ext cx="4527550" cy="549275"/>
          </a:xfrm>
          <a:prstGeom prst="ellipse">
            <a:avLst/>
          </a:prstGeom>
          <a:solidFill>
            <a:srgbClr val="FF0000">
              <a:alpha val="20000"/>
            </a:srgbClr>
          </a:solidFill>
          <a:ln w="9525">
            <a:no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15724" name="Line 23"/>
          <p:cNvSpPr>
            <a:spLocks noChangeAspect="1" noChangeShapeType="1"/>
          </p:cNvSpPr>
          <p:nvPr/>
        </p:nvSpPr>
        <p:spPr bwMode="auto">
          <a:xfrm flipV="1">
            <a:off x="4643438" y="4352925"/>
            <a:ext cx="0" cy="1782763"/>
          </a:xfrm>
          <a:prstGeom prst="line">
            <a:avLst/>
          </a:prstGeom>
          <a:noFill/>
          <a:ln w="28575" cap="rnd">
            <a:solidFill>
              <a:schemeClr val="tx1"/>
            </a:solidFill>
            <a:prstDash val="sysDot"/>
            <a:round/>
            <a:headEnd/>
            <a:tailEnd/>
          </a:ln>
        </p:spPr>
        <p:txBody>
          <a:bodyPr/>
          <a:lstStyle/>
          <a:p>
            <a:endParaRPr lang="en-US"/>
          </a:p>
        </p:txBody>
      </p:sp>
      <p:sp>
        <p:nvSpPr>
          <p:cNvPr id="115725" name="Oval 24"/>
          <p:cNvSpPr>
            <a:spLocks noChangeAspect="1" noChangeArrowheads="1"/>
          </p:cNvSpPr>
          <p:nvPr/>
        </p:nvSpPr>
        <p:spPr bwMode="auto">
          <a:xfrm>
            <a:off x="1076325" y="3052763"/>
            <a:ext cx="2674938" cy="274637"/>
          </a:xfrm>
          <a:prstGeom prst="ellipse">
            <a:avLst/>
          </a:prstGeom>
          <a:solidFill>
            <a:srgbClr val="FF0000"/>
          </a:solidFill>
          <a:ln w="9525">
            <a:solidFill>
              <a:srgbClr val="FF3300"/>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15726" name="Line 25"/>
          <p:cNvSpPr>
            <a:spLocks noChangeAspect="1" noChangeShapeType="1"/>
          </p:cNvSpPr>
          <p:nvPr/>
        </p:nvSpPr>
        <p:spPr bwMode="auto">
          <a:xfrm>
            <a:off x="801688" y="3190875"/>
            <a:ext cx="6653212" cy="0"/>
          </a:xfrm>
          <a:prstGeom prst="line">
            <a:avLst/>
          </a:prstGeom>
          <a:noFill/>
          <a:ln w="50800">
            <a:solidFill>
              <a:srgbClr val="969696"/>
            </a:solidFill>
            <a:prstDash val="sysDot"/>
            <a:round/>
            <a:headEnd/>
            <a:tailEnd/>
          </a:ln>
        </p:spPr>
        <p:txBody>
          <a:bodyPr/>
          <a:lstStyle/>
          <a:p>
            <a:endParaRPr lang="en-US"/>
          </a:p>
        </p:txBody>
      </p:sp>
      <p:sp>
        <p:nvSpPr>
          <p:cNvPr id="115727" name="Text Box 26"/>
          <p:cNvSpPr txBox="1">
            <a:spLocks noChangeAspect="1" noChangeArrowheads="1"/>
          </p:cNvSpPr>
          <p:nvPr/>
        </p:nvSpPr>
        <p:spPr bwMode="auto">
          <a:xfrm>
            <a:off x="5191125" y="4078288"/>
            <a:ext cx="2333625" cy="639762"/>
          </a:xfrm>
          <a:prstGeom prst="rect">
            <a:avLst/>
          </a:prstGeom>
          <a:solidFill>
            <a:srgbClr val="FFF5C8"/>
          </a:solidFill>
          <a:ln w="9525">
            <a:noFill/>
            <a:miter lim="800000"/>
            <a:headEnd/>
            <a:tailEnd/>
          </a:ln>
        </p:spPr>
        <p:txBody>
          <a:bodyPr>
            <a:spAutoFit/>
          </a:bodyPr>
          <a:lstStyle/>
          <a:p>
            <a:pPr>
              <a:spcBef>
                <a:spcPct val="50000"/>
              </a:spcBef>
            </a:pPr>
            <a:r>
              <a:rPr lang="en-AU" i="0">
                <a:solidFill>
                  <a:schemeClr val="tx1"/>
                </a:solidFill>
              </a:rPr>
              <a:t>Results in spreading of the front</a:t>
            </a:r>
            <a:endParaRPr lang="en-US" i="0">
              <a:solidFill>
                <a:schemeClr val="tx1"/>
              </a:solidFill>
            </a:endParaRPr>
          </a:p>
        </p:txBody>
      </p:sp>
      <p:sp>
        <p:nvSpPr>
          <p:cNvPr id="115728" name="Line 27"/>
          <p:cNvSpPr>
            <a:spLocks noChangeAspect="1" noChangeShapeType="1"/>
          </p:cNvSpPr>
          <p:nvPr/>
        </p:nvSpPr>
        <p:spPr bwMode="auto">
          <a:xfrm flipH="1">
            <a:off x="4779963" y="4627563"/>
            <a:ext cx="481012" cy="547687"/>
          </a:xfrm>
          <a:prstGeom prst="line">
            <a:avLst/>
          </a:prstGeom>
          <a:noFill/>
          <a:ln w="9525">
            <a:solidFill>
              <a:schemeClr val="tx1"/>
            </a:solidFill>
            <a:round/>
            <a:headEnd/>
            <a:tailEnd type="triangle" w="med" len="med"/>
          </a:ln>
        </p:spPr>
        <p:txBody>
          <a:bodyPr/>
          <a:lstStyle/>
          <a:p>
            <a:endParaRPr lang="en-US"/>
          </a:p>
        </p:txBody>
      </p:sp>
      <p:sp>
        <p:nvSpPr>
          <p:cNvPr id="115729" name="Line 28"/>
          <p:cNvSpPr>
            <a:spLocks noChangeAspect="1" noChangeShapeType="1"/>
          </p:cNvSpPr>
          <p:nvPr/>
        </p:nvSpPr>
        <p:spPr bwMode="auto">
          <a:xfrm>
            <a:off x="5878513" y="3602038"/>
            <a:ext cx="1165225" cy="0"/>
          </a:xfrm>
          <a:prstGeom prst="line">
            <a:avLst/>
          </a:prstGeom>
          <a:noFill/>
          <a:ln w="9525">
            <a:solidFill>
              <a:schemeClr val="tx1"/>
            </a:solidFill>
            <a:round/>
            <a:headEnd type="triangle" w="med" len="med"/>
            <a:tailEnd type="triangle" w="med" len="med"/>
          </a:ln>
        </p:spPr>
        <p:txBody>
          <a:bodyPr/>
          <a:lstStyle/>
          <a:p>
            <a:endParaRPr lang="en-US"/>
          </a:p>
        </p:txBody>
      </p:sp>
      <p:sp>
        <p:nvSpPr>
          <p:cNvPr id="115730" name="Line 29"/>
          <p:cNvSpPr>
            <a:spLocks noChangeAspect="1" noChangeShapeType="1"/>
          </p:cNvSpPr>
          <p:nvPr/>
        </p:nvSpPr>
        <p:spPr bwMode="auto">
          <a:xfrm>
            <a:off x="7593013" y="3052763"/>
            <a:ext cx="0" cy="274637"/>
          </a:xfrm>
          <a:prstGeom prst="line">
            <a:avLst/>
          </a:prstGeom>
          <a:noFill/>
          <a:ln w="9525">
            <a:solidFill>
              <a:schemeClr val="tx1"/>
            </a:solidFill>
            <a:round/>
            <a:headEnd type="triangle" w="med" len="med"/>
            <a:tailEnd type="triangle" w="med" len="med"/>
          </a:ln>
        </p:spPr>
        <p:txBody>
          <a:bodyPr/>
          <a:lstStyle/>
          <a:p>
            <a:endParaRPr lang="en-US"/>
          </a:p>
        </p:txBody>
      </p:sp>
      <p:sp>
        <p:nvSpPr>
          <p:cNvPr id="115731" name="Text Box 30"/>
          <p:cNvSpPr txBox="1">
            <a:spLocks noChangeAspect="1" noChangeArrowheads="1"/>
          </p:cNvSpPr>
          <p:nvPr/>
        </p:nvSpPr>
        <p:spPr bwMode="auto">
          <a:xfrm>
            <a:off x="5637213" y="3670300"/>
            <a:ext cx="1638300" cy="366713"/>
          </a:xfrm>
          <a:prstGeom prst="rect">
            <a:avLst/>
          </a:prstGeom>
          <a:noFill/>
          <a:ln w="9525">
            <a:noFill/>
            <a:miter lim="800000"/>
            <a:headEnd/>
            <a:tailEnd/>
          </a:ln>
        </p:spPr>
        <p:txBody>
          <a:bodyPr wrap="none">
            <a:spAutoFit/>
          </a:bodyPr>
          <a:lstStyle/>
          <a:p>
            <a:pPr>
              <a:spcBef>
                <a:spcPct val="50000"/>
              </a:spcBef>
            </a:pPr>
            <a:r>
              <a:rPr lang="en-AU">
                <a:solidFill>
                  <a:schemeClr val="tx1"/>
                </a:solidFill>
                <a:latin typeface="Times New Roman" pitchFamily="18" charset="0"/>
              </a:rPr>
              <a:t>Longitudinal (l)</a:t>
            </a:r>
            <a:endParaRPr lang="en-US">
              <a:solidFill>
                <a:schemeClr val="tx1"/>
              </a:solidFill>
              <a:latin typeface="Times New Roman" pitchFamily="18" charset="0"/>
            </a:endParaRPr>
          </a:p>
        </p:txBody>
      </p:sp>
      <p:sp>
        <p:nvSpPr>
          <p:cNvPr id="115732" name="Text Box 31"/>
          <p:cNvSpPr txBox="1">
            <a:spLocks noChangeAspect="1" noChangeArrowheads="1"/>
          </p:cNvSpPr>
          <p:nvPr/>
        </p:nvSpPr>
        <p:spPr bwMode="auto">
          <a:xfrm rot="-5400000">
            <a:off x="7041357" y="3009106"/>
            <a:ext cx="1473200" cy="366713"/>
          </a:xfrm>
          <a:prstGeom prst="rect">
            <a:avLst/>
          </a:prstGeom>
          <a:noFill/>
          <a:ln w="9525">
            <a:noFill/>
            <a:miter lim="800000"/>
            <a:headEnd/>
            <a:tailEnd/>
          </a:ln>
        </p:spPr>
        <p:txBody>
          <a:bodyPr wrap="none">
            <a:spAutoFit/>
          </a:bodyPr>
          <a:lstStyle/>
          <a:p>
            <a:pPr>
              <a:spcBef>
                <a:spcPct val="50000"/>
              </a:spcBef>
            </a:pPr>
            <a:r>
              <a:rPr lang="en-AU">
                <a:solidFill>
                  <a:schemeClr val="tx1"/>
                </a:solidFill>
                <a:latin typeface="Times New Roman" pitchFamily="18" charset="0"/>
              </a:rPr>
              <a:t>Transverse (t)</a:t>
            </a:r>
            <a:endParaRPr lang="en-US">
              <a:solidFill>
                <a:schemeClr val="tx1"/>
              </a:solidFill>
              <a:latin typeface="Times New Roman" pitchFamily="18" charset="0"/>
            </a:endParaRPr>
          </a:p>
        </p:txBody>
      </p:sp>
      <p:sp>
        <p:nvSpPr>
          <p:cNvPr id="115733" name="Rectangle 42"/>
          <p:cNvSpPr>
            <a:spLocks noChangeArrowheads="1"/>
          </p:cNvSpPr>
          <p:nvPr/>
        </p:nvSpPr>
        <p:spPr bwMode="auto">
          <a:xfrm>
            <a:off x="617538" y="6002338"/>
            <a:ext cx="114300" cy="274637"/>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0</a:t>
            </a:r>
            <a:endParaRPr lang="en-US">
              <a:latin typeface="Times New Roman" pitchFamily="18" charset="0"/>
            </a:endParaRPr>
          </a:p>
        </p:txBody>
      </p:sp>
      <p:sp>
        <p:nvSpPr>
          <p:cNvPr id="115734" name="Rectangle 43"/>
          <p:cNvSpPr>
            <a:spLocks noChangeArrowheads="1"/>
          </p:cNvSpPr>
          <p:nvPr/>
        </p:nvSpPr>
        <p:spPr bwMode="auto">
          <a:xfrm>
            <a:off x="617538" y="4222750"/>
            <a:ext cx="114300" cy="274638"/>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1</a:t>
            </a:r>
            <a:endParaRPr lang="en-US">
              <a:latin typeface="Times New Roman" pitchFamily="18" charset="0"/>
            </a:endParaRPr>
          </a:p>
        </p:txBody>
      </p:sp>
      <p:grpSp>
        <p:nvGrpSpPr>
          <p:cNvPr id="115735" name="Group 44"/>
          <p:cNvGrpSpPr>
            <a:grpSpLocks/>
          </p:cNvGrpSpPr>
          <p:nvPr/>
        </p:nvGrpSpPr>
        <p:grpSpPr bwMode="auto">
          <a:xfrm>
            <a:off x="438150" y="4937125"/>
            <a:ext cx="293688" cy="627063"/>
            <a:chOff x="276" y="2970"/>
            <a:chExt cx="185" cy="395"/>
          </a:xfrm>
        </p:grpSpPr>
        <p:sp>
          <p:nvSpPr>
            <p:cNvPr id="115736" name="Line 45"/>
            <p:cNvSpPr>
              <a:spLocks noChangeShapeType="1"/>
            </p:cNvSpPr>
            <p:nvPr/>
          </p:nvSpPr>
          <p:spPr bwMode="auto">
            <a:xfrm>
              <a:off x="276" y="3169"/>
              <a:ext cx="185" cy="0"/>
            </a:xfrm>
            <a:prstGeom prst="line">
              <a:avLst/>
            </a:prstGeom>
            <a:noFill/>
            <a:ln w="11176">
              <a:solidFill>
                <a:srgbClr val="000000"/>
              </a:solidFill>
              <a:round/>
              <a:headEnd/>
              <a:tailEnd/>
            </a:ln>
          </p:spPr>
          <p:txBody>
            <a:bodyPr/>
            <a:lstStyle/>
            <a:p>
              <a:endParaRPr lang="en-US"/>
            </a:p>
          </p:txBody>
        </p:sp>
        <p:sp>
          <p:nvSpPr>
            <p:cNvPr id="115737" name="Rectangle 46"/>
            <p:cNvSpPr>
              <a:spLocks noChangeArrowheads="1"/>
            </p:cNvSpPr>
            <p:nvPr/>
          </p:nvSpPr>
          <p:spPr bwMode="auto">
            <a:xfrm>
              <a:off x="289" y="3173"/>
              <a:ext cx="159" cy="192"/>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sz="2000">
                  <a:solidFill>
                    <a:srgbClr val="000000"/>
                  </a:solidFill>
                  <a:latin typeface="Times New Roman" pitchFamily="18" charset="0"/>
                </a:rPr>
                <a:t>C</a:t>
              </a:r>
              <a:r>
                <a:rPr lang="en-US" sz="2000" baseline="-25000">
                  <a:solidFill>
                    <a:srgbClr val="000000"/>
                  </a:solidFill>
                  <a:latin typeface="Times New Roman" pitchFamily="18" charset="0"/>
                </a:rPr>
                <a:t>0</a:t>
              </a:r>
            </a:p>
          </p:txBody>
        </p:sp>
        <p:sp>
          <p:nvSpPr>
            <p:cNvPr id="115738" name="Rectangle 47"/>
            <p:cNvSpPr>
              <a:spLocks noChangeArrowheads="1"/>
            </p:cNvSpPr>
            <p:nvPr/>
          </p:nvSpPr>
          <p:spPr bwMode="auto">
            <a:xfrm>
              <a:off x="315" y="2970"/>
              <a:ext cx="107" cy="192"/>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sz="2000">
                  <a:solidFill>
                    <a:srgbClr val="000000"/>
                  </a:solidFill>
                  <a:latin typeface="Times New Roman" pitchFamily="18" charset="0"/>
                </a:rPr>
                <a:t>C</a:t>
              </a:r>
              <a:endParaRPr lang="en-US" sz="2000"/>
            </a:p>
          </p:txBody>
        </p:sp>
      </p:gr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7761" name="Group 199"/>
          <p:cNvGrpSpPr>
            <a:grpSpLocks/>
          </p:cNvGrpSpPr>
          <p:nvPr/>
        </p:nvGrpSpPr>
        <p:grpSpPr bwMode="auto">
          <a:xfrm>
            <a:off x="1258888" y="2006600"/>
            <a:ext cx="5292725" cy="468313"/>
            <a:chOff x="793" y="1264"/>
            <a:chExt cx="3334" cy="295"/>
          </a:xfrm>
        </p:grpSpPr>
        <p:sp>
          <p:nvSpPr>
            <p:cNvPr id="117802" name="Rectangle 192"/>
            <p:cNvSpPr>
              <a:spLocks noChangeArrowheads="1"/>
            </p:cNvSpPr>
            <p:nvPr/>
          </p:nvSpPr>
          <p:spPr bwMode="auto">
            <a:xfrm>
              <a:off x="1786" y="1264"/>
              <a:ext cx="88" cy="173"/>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t</a:t>
              </a:r>
              <a:r>
                <a:rPr lang="en-US" i="0" baseline="-25000">
                  <a:solidFill>
                    <a:srgbClr val="000000"/>
                  </a:solidFill>
                  <a:latin typeface="Times New Roman" pitchFamily="18" charset="0"/>
                </a:rPr>
                <a:t>1</a:t>
              </a:r>
            </a:p>
          </p:txBody>
        </p:sp>
        <p:sp>
          <p:nvSpPr>
            <p:cNvPr id="117803" name="Line 193"/>
            <p:cNvSpPr>
              <a:spLocks noChangeShapeType="1"/>
            </p:cNvSpPr>
            <p:nvPr/>
          </p:nvSpPr>
          <p:spPr bwMode="auto">
            <a:xfrm>
              <a:off x="1826" y="1453"/>
              <a:ext cx="0" cy="106"/>
            </a:xfrm>
            <a:prstGeom prst="line">
              <a:avLst/>
            </a:prstGeom>
            <a:noFill/>
            <a:ln w="12700">
              <a:solidFill>
                <a:schemeClr val="tx1"/>
              </a:solidFill>
              <a:round/>
              <a:headEnd/>
              <a:tailEnd type="triangle" w="med" len="med"/>
            </a:ln>
          </p:spPr>
          <p:txBody>
            <a:bodyPr/>
            <a:lstStyle/>
            <a:p>
              <a:endParaRPr lang="en-US"/>
            </a:p>
          </p:txBody>
        </p:sp>
        <p:sp>
          <p:nvSpPr>
            <p:cNvPr id="117804" name="Line 194"/>
            <p:cNvSpPr>
              <a:spLocks noChangeShapeType="1"/>
            </p:cNvSpPr>
            <p:nvPr/>
          </p:nvSpPr>
          <p:spPr bwMode="auto">
            <a:xfrm>
              <a:off x="793" y="1291"/>
              <a:ext cx="0" cy="268"/>
            </a:xfrm>
            <a:prstGeom prst="line">
              <a:avLst/>
            </a:prstGeom>
            <a:noFill/>
            <a:ln w="12700">
              <a:solidFill>
                <a:schemeClr val="tx1"/>
              </a:solidFill>
              <a:round/>
              <a:headEnd/>
              <a:tailEnd type="triangle" w="med" len="med"/>
            </a:ln>
          </p:spPr>
          <p:txBody>
            <a:bodyPr/>
            <a:lstStyle/>
            <a:p>
              <a:endParaRPr lang="en-US"/>
            </a:p>
          </p:txBody>
        </p:sp>
        <p:sp>
          <p:nvSpPr>
            <p:cNvPr id="117805" name="Rectangle 195"/>
            <p:cNvSpPr>
              <a:spLocks noChangeArrowheads="1"/>
            </p:cNvSpPr>
            <p:nvPr/>
          </p:nvSpPr>
          <p:spPr bwMode="auto">
            <a:xfrm>
              <a:off x="2914" y="1264"/>
              <a:ext cx="88" cy="173"/>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t</a:t>
              </a:r>
              <a:r>
                <a:rPr lang="en-US" i="0" baseline="-25000">
                  <a:solidFill>
                    <a:srgbClr val="000000"/>
                  </a:solidFill>
                  <a:latin typeface="Times New Roman" pitchFamily="18" charset="0"/>
                </a:rPr>
                <a:t>2</a:t>
              </a:r>
            </a:p>
          </p:txBody>
        </p:sp>
        <p:sp>
          <p:nvSpPr>
            <p:cNvPr id="117806" name="Line 196"/>
            <p:cNvSpPr>
              <a:spLocks noChangeShapeType="1"/>
            </p:cNvSpPr>
            <p:nvPr/>
          </p:nvSpPr>
          <p:spPr bwMode="auto">
            <a:xfrm>
              <a:off x="2954" y="1453"/>
              <a:ext cx="0" cy="106"/>
            </a:xfrm>
            <a:prstGeom prst="line">
              <a:avLst/>
            </a:prstGeom>
            <a:noFill/>
            <a:ln w="12700">
              <a:solidFill>
                <a:schemeClr val="tx1"/>
              </a:solidFill>
              <a:round/>
              <a:headEnd/>
              <a:tailEnd type="triangle" w="med" len="med"/>
            </a:ln>
          </p:spPr>
          <p:txBody>
            <a:bodyPr/>
            <a:lstStyle/>
            <a:p>
              <a:endParaRPr lang="en-US"/>
            </a:p>
          </p:txBody>
        </p:sp>
        <p:sp>
          <p:nvSpPr>
            <p:cNvPr id="117807" name="Rectangle 197"/>
            <p:cNvSpPr>
              <a:spLocks noChangeArrowheads="1"/>
            </p:cNvSpPr>
            <p:nvPr/>
          </p:nvSpPr>
          <p:spPr bwMode="auto">
            <a:xfrm>
              <a:off x="4039" y="1264"/>
              <a:ext cx="88" cy="173"/>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t</a:t>
              </a:r>
              <a:r>
                <a:rPr lang="en-US" i="0" baseline="-25000">
                  <a:solidFill>
                    <a:srgbClr val="000000"/>
                  </a:solidFill>
                  <a:latin typeface="Times New Roman" pitchFamily="18" charset="0"/>
                </a:rPr>
                <a:t>3</a:t>
              </a:r>
            </a:p>
          </p:txBody>
        </p:sp>
        <p:sp>
          <p:nvSpPr>
            <p:cNvPr id="117808" name="Line 198"/>
            <p:cNvSpPr>
              <a:spLocks noChangeShapeType="1"/>
            </p:cNvSpPr>
            <p:nvPr/>
          </p:nvSpPr>
          <p:spPr bwMode="auto">
            <a:xfrm>
              <a:off x="4079" y="1453"/>
              <a:ext cx="0" cy="106"/>
            </a:xfrm>
            <a:prstGeom prst="line">
              <a:avLst/>
            </a:prstGeom>
            <a:noFill/>
            <a:ln w="12700">
              <a:solidFill>
                <a:schemeClr val="tx1"/>
              </a:solidFill>
              <a:round/>
              <a:headEnd/>
              <a:tailEnd type="triangle" w="med" len="med"/>
            </a:ln>
          </p:spPr>
          <p:txBody>
            <a:bodyPr/>
            <a:lstStyle/>
            <a:p>
              <a:endParaRPr lang="en-US"/>
            </a:p>
          </p:txBody>
        </p:sp>
      </p:grpSp>
      <p:sp>
        <p:nvSpPr>
          <p:cNvPr id="117762" name="Rectangle 2"/>
          <p:cNvSpPr>
            <a:spLocks noGrp="1" noChangeArrowheads="1"/>
          </p:cNvSpPr>
          <p:nvPr>
            <p:ph type="title"/>
          </p:nvPr>
        </p:nvSpPr>
        <p:spPr>
          <a:xfrm>
            <a:off x="438150" y="814388"/>
            <a:ext cx="5172075" cy="493712"/>
          </a:xfrm>
        </p:spPr>
        <p:txBody>
          <a:bodyPr/>
          <a:lstStyle/>
          <a:p>
            <a:r>
              <a:rPr lang="en-AU" smtClean="0"/>
              <a:t>Dispersion effect</a:t>
            </a:r>
            <a:endParaRPr lang="en-US" smtClean="0"/>
          </a:p>
        </p:txBody>
      </p:sp>
      <p:sp>
        <p:nvSpPr>
          <p:cNvPr id="117763" name="Text Box 3"/>
          <p:cNvSpPr txBox="1">
            <a:spLocks noChangeArrowheads="1"/>
          </p:cNvSpPr>
          <p:nvPr/>
        </p:nvSpPr>
        <p:spPr bwMode="auto">
          <a:xfrm>
            <a:off x="438150" y="1601788"/>
            <a:ext cx="2743200" cy="274637"/>
          </a:xfrm>
          <a:prstGeom prst="rect">
            <a:avLst/>
          </a:prstGeom>
          <a:noFill/>
          <a:ln w="9525">
            <a:noFill/>
            <a:miter lim="800000"/>
            <a:headEnd/>
            <a:tailEnd/>
          </a:ln>
        </p:spPr>
        <p:txBody>
          <a:bodyPr wrap="none" lIns="0" tIns="0" rIns="0" bIns="0">
            <a:spAutoFit/>
          </a:bodyPr>
          <a:lstStyle/>
          <a:p>
            <a:pPr>
              <a:spcBef>
                <a:spcPct val="50000"/>
              </a:spcBef>
            </a:pPr>
            <a:r>
              <a:rPr lang="en-AU" i="0">
                <a:solidFill>
                  <a:schemeClr val="tx1"/>
                </a:solidFill>
              </a:rPr>
              <a:t>Instantaneous point source</a:t>
            </a:r>
            <a:endParaRPr lang="en-US" i="0">
              <a:solidFill>
                <a:schemeClr val="tx1"/>
              </a:solidFill>
            </a:endParaRPr>
          </a:p>
        </p:txBody>
      </p:sp>
      <p:sp>
        <p:nvSpPr>
          <p:cNvPr id="117764" name="AutoShape 47"/>
          <p:cNvSpPr>
            <a:spLocks noChangeAspect="1" noChangeArrowheads="1" noTextEdit="1"/>
          </p:cNvSpPr>
          <p:nvPr/>
        </p:nvSpPr>
        <p:spPr bwMode="auto">
          <a:xfrm>
            <a:off x="434975" y="1941513"/>
            <a:ext cx="7553325" cy="4592637"/>
          </a:xfrm>
          <a:prstGeom prst="rect">
            <a:avLst/>
          </a:prstGeom>
          <a:noFill/>
          <a:ln w="9525">
            <a:noFill/>
            <a:miter lim="800000"/>
            <a:headEnd/>
            <a:tailEnd/>
          </a:ln>
        </p:spPr>
        <p:txBody>
          <a:bodyPr/>
          <a:lstStyle/>
          <a:p>
            <a:endParaRPr lang="en-US"/>
          </a:p>
        </p:txBody>
      </p:sp>
      <p:sp>
        <p:nvSpPr>
          <p:cNvPr id="117765" name="Rectangle 175"/>
          <p:cNvSpPr>
            <a:spLocks noChangeAspect="1" noChangeArrowheads="1"/>
          </p:cNvSpPr>
          <p:nvPr/>
        </p:nvSpPr>
        <p:spPr bwMode="auto">
          <a:xfrm>
            <a:off x="911225" y="2489200"/>
            <a:ext cx="6656388" cy="960438"/>
          </a:xfrm>
          <a:prstGeom prst="rect">
            <a:avLst/>
          </a:prstGeom>
          <a:solidFill>
            <a:srgbClr val="99CCFF"/>
          </a:solid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17766" name="Oval 176"/>
          <p:cNvSpPr>
            <a:spLocks noChangeAspect="1" noChangeArrowheads="1"/>
          </p:cNvSpPr>
          <p:nvPr/>
        </p:nvSpPr>
        <p:spPr bwMode="auto">
          <a:xfrm>
            <a:off x="1185863" y="2900363"/>
            <a:ext cx="136525" cy="138112"/>
          </a:xfrm>
          <a:prstGeom prst="ellipse">
            <a:avLst/>
          </a:prstGeom>
          <a:solidFill>
            <a:srgbClr val="FF0000"/>
          </a:solidFill>
          <a:ln w="9525">
            <a:solidFill>
              <a:srgbClr val="FF3300"/>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17767" name="Oval 177"/>
          <p:cNvSpPr>
            <a:spLocks noChangeAspect="1" noChangeArrowheads="1"/>
          </p:cNvSpPr>
          <p:nvPr/>
        </p:nvSpPr>
        <p:spPr bwMode="auto">
          <a:xfrm>
            <a:off x="2763838" y="2900363"/>
            <a:ext cx="274637" cy="138112"/>
          </a:xfrm>
          <a:prstGeom prst="ellipse">
            <a:avLst/>
          </a:prstGeom>
          <a:solidFill>
            <a:srgbClr val="FF0000">
              <a:alpha val="79999"/>
            </a:srgbClr>
          </a:solidFill>
          <a:ln w="9525">
            <a:solidFill>
              <a:srgbClr val="FF3300"/>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17768" name="Oval 178"/>
          <p:cNvSpPr>
            <a:spLocks noChangeAspect="1" noChangeArrowheads="1"/>
          </p:cNvSpPr>
          <p:nvPr/>
        </p:nvSpPr>
        <p:spPr bwMode="auto">
          <a:xfrm>
            <a:off x="4410075" y="2832100"/>
            <a:ext cx="617538" cy="274638"/>
          </a:xfrm>
          <a:prstGeom prst="ellipse">
            <a:avLst/>
          </a:prstGeom>
          <a:solidFill>
            <a:srgbClr val="FF0000">
              <a:alpha val="39999"/>
            </a:srgbClr>
          </a:solidFill>
          <a:ln w="9525">
            <a:no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17769" name="Oval 179"/>
          <p:cNvSpPr>
            <a:spLocks noChangeAspect="1" noChangeArrowheads="1"/>
          </p:cNvSpPr>
          <p:nvPr/>
        </p:nvSpPr>
        <p:spPr bwMode="auto">
          <a:xfrm>
            <a:off x="6057900" y="2832100"/>
            <a:ext cx="892175" cy="342900"/>
          </a:xfrm>
          <a:prstGeom prst="ellipse">
            <a:avLst/>
          </a:prstGeom>
          <a:solidFill>
            <a:srgbClr val="FF0000">
              <a:alpha val="20000"/>
            </a:srgbClr>
          </a:solidFill>
          <a:ln w="9525">
            <a:no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17770" name="Oval 180"/>
          <p:cNvSpPr>
            <a:spLocks noChangeAspect="1" noChangeArrowheads="1"/>
          </p:cNvSpPr>
          <p:nvPr/>
        </p:nvSpPr>
        <p:spPr bwMode="auto">
          <a:xfrm>
            <a:off x="6194425" y="2900363"/>
            <a:ext cx="617538" cy="206375"/>
          </a:xfrm>
          <a:prstGeom prst="ellipse">
            <a:avLst/>
          </a:prstGeom>
          <a:solidFill>
            <a:srgbClr val="FF0000">
              <a:alpha val="39999"/>
            </a:srgbClr>
          </a:solidFill>
          <a:ln w="9525">
            <a:no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17771" name="Oval 181"/>
          <p:cNvSpPr>
            <a:spLocks noChangeAspect="1" noChangeArrowheads="1"/>
          </p:cNvSpPr>
          <p:nvPr/>
        </p:nvSpPr>
        <p:spPr bwMode="auto">
          <a:xfrm>
            <a:off x="4548188" y="2900363"/>
            <a:ext cx="274637" cy="138112"/>
          </a:xfrm>
          <a:prstGeom prst="ellipse">
            <a:avLst/>
          </a:prstGeom>
          <a:solidFill>
            <a:srgbClr val="FF0000">
              <a:alpha val="79999"/>
            </a:srgbClr>
          </a:solidFill>
          <a:ln w="9525">
            <a:solidFill>
              <a:srgbClr val="FF3300"/>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17772" name="Oval 182"/>
          <p:cNvSpPr>
            <a:spLocks noChangeAspect="1" noChangeArrowheads="1"/>
          </p:cNvSpPr>
          <p:nvPr/>
        </p:nvSpPr>
        <p:spPr bwMode="auto">
          <a:xfrm>
            <a:off x="6400800" y="2970213"/>
            <a:ext cx="274638" cy="68262"/>
          </a:xfrm>
          <a:prstGeom prst="ellipse">
            <a:avLst/>
          </a:prstGeom>
          <a:solidFill>
            <a:srgbClr val="FF0000">
              <a:alpha val="59999"/>
            </a:srgbClr>
          </a:solidFill>
          <a:ln w="9525">
            <a:solidFill>
              <a:srgbClr val="FF3300"/>
            </a:solidFill>
            <a:round/>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17773" name="Rectangle 183"/>
          <p:cNvSpPr>
            <a:spLocks noChangeAspect="1" noChangeArrowheads="1"/>
          </p:cNvSpPr>
          <p:nvPr/>
        </p:nvSpPr>
        <p:spPr bwMode="auto">
          <a:xfrm>
            <a:off x="911225" y="3663950"/>
            <a:ext cx="6656388" cy="661988"/>
          </a:xfrm>
          <a:prstGeom prst="rect">
            <a:avLst/>
          </a:prstGeom>
          <a:no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17774" name="Rectangle 184"/>
          <p:cNvSpPr>
            <a:spLocks noChangeAspect="1" noChangeArrowheads="1"/>
          </p:cNvSpPr>
          <p:nvPr/>
        </p:nvSpPr>
        <p:spPr bwMode="auto">
          <a:xfrm>
            <a:off x="911225" y="4556125"/>
            <a:ext cx="6656388" cy="661988"/>
          </a:xfrm>
          <a:prstGeom prst="rect">
            <a:avLst/>
          </a:prstGeom>
          <a:no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17775" name="Rectangle 185"/>
          <p:cNvSpPr>
            <a:spLocks noChangeAspect="1" noChangeArrowheads="1"/>
          </p:cNvSpPr>
          <p:nvPr/>
        </p:nvSpPr>
        <p:spPr bwMode="auto">
          <a:xfrm>
            <a:off x="911225" y="5516563"/>
            <a:ext cx="6656388" cy="661987"/>
          </a:xfrm>
          <a:prstGeom prst="rect">
            <a:avLst/>
          </a:prstGeom>
          <a:noFill/>
          <a:ln w="9525">
            <a:solidFill>
              <a:srgbClr val="000000"/>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17776" name="Freeform 186"/>
          <p:cNvSpPr>
            <a:spLocks noChangeAspect="1"/>
          </p:cNvSpPr>
          <p:nvPr/>
        </p:nvSpPr>
        <p:spPr bwMode="auto">
          <a:xfrm>
            <a:off x="917575" y="3851275"/>
            <a:ext cx="6638925" cy="482600"/>
          </a:xfrm>
          <a:custGeom>
            <a:avLst/>
            <a:gdLst>
              <a:gd name="T0" fmla="*/ 0 w 4644"/>
              <a:gd name="T1" fmla="*/ 482600 h 338"/>
              <a:gd name="T2" fmla="*/ 1821273 w 4644"/>
              <a:gd name="T3" fmla="*/ 472605 h 338"/>
              <a:gd name="T4" fmla="*/ 1914195 w 4644"/>
              <a:gd name="T5" fmla="*/ 0 h 338"/>
              <a:gd name="T6" fmla="*/ 2048574 w 4644"/>
              <a:gd name="T7" fmla="*/ 0 h 338"/>
              <a:gd name="T8" fmla="*/ 2151503 w 4644"/>
              <a:gd name="T9" fmla="*/ 462611 h 338"/>
              <a:gd name="T10" fmla="*/ 6638925 w 4644"/>
              <a:gd name="T11" fmla="*/ 472605 h 338"/>
              <a:gd name="T12" fmla="*/ 0 60000 65536"/>
              <a:gd name="T13" fmla="*/ 0 60000 65536"/>
              <a:gd name="T14" fmla="*/ 0 60000 65536"/>
              <a:gd name="T15" fmla="*/ 0 60000 65536"/>
              <a:gd name="T16" fmla="*/ 0 60000 65536"/>
              <a:gd name="T17" fmla="*/ 0 60000 65536"/>
              <a:gd name="T18" fmla="*/ 0 w 4644"/>
              <a:gd name="T19" fmla="*/ 0 h 338"/>
              <a:gd name="T20" fmla="*/ 4644 w 4644"/>
              <a:gd name="T21" fmla="*/ 338 h 338"/>
            </a:gdLst>
            <a:ahLst/>
            <a:cxnLst>
              <a:cxn ang="T12">
                <a:pos x="T0" y="T1"/>
              </a:cxn>
              <a:cxn ang="T13">
                <a:pos x="T2" y="T3"/>
              </a:cxn>
              <a:cxn ang="T14">
                <a:pos x="T4" y="T5"/>
              </a:cxn>
              <a:cxn ang="T15">
                <a:pos x="T6" y="T7"/>
              </a:cxn>
              <a:cxn ang="T16">
                <a:pos x="T8" y="T9"/>
              </a:cxn>
              <a:cxn ang="T17">
                <a:pos x="T10" y="T11"/>
              </a:cxn>
            </a:cxnLst>
            <a:rect l="T18" t="T19" r="T20" b="T21"/>
            <a:pathLst>
              <a:path w="4644" h="338">
                <a:moveTo>
                  <a:pt x="0" y="338"/>
                </a:moveTo>
                <a:lnTo>
                  <a:pt x="1274" y="331"/>
                </a:lnTo>
                <a:lnTo>
                  <a:pt x="1339" y="0"/>
                </a:lnTo>
                <a:lnTo>
                  <a:pt x="1433" y="0"/>
                </a:lnTo>
                <a:lnTo>
                  <a:pt x="1505" y="324"/>
                </a:lnTo>
                <a:lnTo>
                  <a:pt x="4644" y="331"/>
                </a:lnTo>
              </a:path>
            </a:pathLst>
          </a:custGeom>
          <a:noFill/>
          <a:ln w="28575" cap="flat" cmpd="sng">
            <a:solidFill>
              <a:srgbClr val="FF3300"/>
            </a:solidFill>
            <a:prstDash val="dash"/>
            <a:round/>
            <a:headEnd/>
            <a:tailEnd/>
          </a:ln>
        </p:spPr>
        <p:txBody>
          <a:bodyPr/>
          <a:lstStyle/>
          <a:p>
            <a:endParaRPr lang="en-US"/>
          </a:p>
        </p:txBody>
      </p:sp>
      <p:sp>
        <p:nvSpPr>
          <p:cNvPr id="117777" name="Freeform 187"/>
          <p:cNvSpPr>
            <a:spLocks noChangeAspect="1"/>
          </p:cNvSpPr>
          <p:nvPr/>
        </p:nvSpPr>
        <p:spPr bwMode="auto">
          <a:xfrm>
            <a:off x="908050" y="4848225"/>
            <a:ext cx="6669088" cy="360363"/>
          </a:xfrm>
          <a:custGeom>
            <a:avLst/>
            <a:gdLst>
              <a:gd name="T0" fmla="*/ 0 w 4665"/>
              <a:gd name="T1" fmla="*/ 360363 h 252"/>
              <a:gd name="T2" fmla="*/ 3488226 w 4665"/>
              <a:gd name="T3" fmla="*/ 350353 h 252"/>
              <a:gd name="T4" fmla="*/ 3725540 w 4665"/>
              <a:gd name="T5" fmla="*/ 0 h 252"/>
              <a:gd name="T6" fmla="*/ 3869929 w 4665"/>
              <a:gd name="T7" fmla="*/ 0 h 252"/>
              <a:gd name="T8" fmla="*/ 4147272 w 4665"/>
              <a:gd name="T9" fmla="*/ 360363 h 252"/>
              <a:gd name="T10" fmla="*/ 6669088 w 4665"/>
              <a:gd name="T11" fmla="*/ 360363 h 252"/>
              <a:gd name="T12" fmla="*/ 0 60000 65536"/>
              <a:gd name="T13" fmla="*/ 0 60000 65536"/>
              <a:gd name="T14" fmla="*/ 0 60000 65536"/>
              <a:gd name="T15" fmla="*/ 0 60000 65536"/>
              <a:gd name="T16" fmla="*/ 0 60000 65536"/>
              <a:gd name="T17" fmla="*/ 0 60000 65536"/>
              <a:gd name="T18" fmla="*/ 0 w 4665"/>
              <a:gd name="T19" fmla="*/ 0 h 252"/>
              <a:gd name="T20" fmla="*/ 4665 w 4665"/>
              <a:gd name="T21" fmla="*/ 252 h 252"/>
            </a:gdLst>
            <a:ahLst/>
            <a:cxnLst>
              <a:cxn ang="T12">
                <a:pos x="T0" y="T1"/>
              </a:cxn>
              <a:cxn ang="T13">
                <a:pos x="T2" y="T3"/>
              </a:cxn>
              <a:cxn ang="T14">
                <a:pos x="T4" y="T5"/>
              </a:cxn>
              <a:cxn ang="T15">
                <a:pos x="T6" y="T7"/>
              </a:cxn>
              <a:cxn ang="T16">
                <a:pos x="T8" y="T9"/>
              </a:cxn>
              <a:cxn ang="T17">
                <a:pos x="T10" y="T11"/>
              </a:cxn>
            </a:cxnLst>
            <a:rect l="T18" t="T19" r="T20" b="T21"/>
            <a:pathLst>
              <a:path w="4665" h="252">
                <a:moveTo>
                  <a:pt x="0" y="252"/>
                </a:moveTo>
                <a:lnTo>
                  <a:pt x="2440" y="245"/>
                </a:lnTo>
                <a:lnTo>
                  <a:pt x="2606" y="0"/>
                </a:lnTo>
                <a:lnTo>
                  <a:pt x="2707" y="0"/>
                </a:lnTo>
                <a:lnTo>
                  <a:pt x="2901" y="252"/>
                </a:lnTo>
                <a:lnTo>
                  <a:pt x="4665" y="252"/>
                </a:lnTo>
              </a:path>
            </a:pathLst>
          </a:custGeom>
          <a:noFill/>
          <a:ln w="28575" cap="flat" cmpd="sng">
            <a:solidFill>
              <a:srgbClr val="FF3300"/>
            </a:solidFill>
            <a:prstDash val="dash"/>
            <a:round/>
            <a:headEnd/>
            <a:tailEnd/>
          </a:ln>
        </p:spPr>
        <p:txBody>
          <a:bodyPr/>
          <a:lstStyle/>
          <a:p>
            <a:endParaRPr lang="en-US"/>
          </a:p>
        </p:txBody>
      </p:sp>
      <p:sp>
        <p:nvSpPr>
          <p:cNvPr id="117778" name="Freeform 188"/>
          <p:cNvSpPr>
            <a:spLocks noChangeAspect="1"/>
          </p:cNvSpPr>
          <p:nvPr/>
        </p:nvSpPr>
        <p:spPr bwMode="auto">
          <a:xfrm>
            <a:off x="917575" y="5919788"/>
            <a:ext cx="6638925" cy="257175"/>
          </a:xfrm>
          <a:custGeom>
            <a:avLst/>
            <a:gdLst>
              <a:gd name="T0" fmla="*/ 0 w 4644"/>
              <a:gd name="T1" fmla="*/ 257175 h 180"/>
              <a:gd name="T2" fmla="*/ 4992059 w 4644"/>
              <a:gd name="T3" fmla="*/ 257175 h 180"/>
              <a:gd name="T4" fmla="*/ 5558169 w 4644"/>
              <a:gd name="T5" fmla="*/ 0 h 180"/>
              <a:gd name="T6" fmla="*/ 5639654 w 4644"/>
              <a:gd name="T7" fmla="*/ 0 h 180"/>
              <a:gd name="T8" fmla="*/ 6227209 w 4644"/>
              <a:gd name="T9" fmla="*/ 257175 h 180"/>
              <a:gd name="T10" fmla="*/ 6638925 w 4644"/>
              <a:gd name="T11" fmla="*/ 257175 h 180"/>
              <a:gd name="T12" fmla="*/ 0 60000 65536"/>
              <a:gd name="T13" fmla="*/ 0 60000 65536"/>
              <a:gd name="T14" fmla="*/ 0 60000 65536"/>
              <a:gd name="T15" fmla="*/ 0 60000 65536"/>
              <a:gd name="T16" fmla="*/ 0 60000 65536"/>
              <a:gd name="T17" fmla="*/ 0 60000 65536"/>
              <a:gd name="T18" fmla="*/ 0 w 4644"/>
              <a:gd name="T19" fmla="*/ 0 h 180"/>
              <a:gd name="T20" fmla="*/ 4644 w 4644"/>
              <a:gd name="T21" fmla="*/ 180 h 180"/>
            </a:gdLst>
            <a:ahLst/>
            <a:cxnLst>
              <a:cxn ang="T12">
                <a:pos x="T0" y="T1"/>
              </a:cxn>
              <a:cxn ang="T13">
                <a:pos x="T2" y="T3"/>
              </a:cxn>
              <a:cxn ang="T14">
                <a:pos x="T4" y="T5"/>
              </a:cxn>
              <a:cxn ang="T15">
                <a:pos x="T6" y="T7"/>
              </a:cxn>
              <a:cxn ang="T16">
                <a:pos x="T8" y="T9"/>
              </a:cxn>
              <a:cxn ang="T17">
                <a:pos x="T10" y="T11"/>
              </a:cxn>
            </a:cxnLst>
            <a:rect l="T18" t="T19" r="T20" b="T21"/>
            <a:pathLst>
              <a:path w="4644" h="180">
                <a:moveTo>
                  <a:pt x="0" y="180"/>
                </a:moveTo>
                <a:lnTo>
                  <a:pt x="3492" y="180"/>
                </a:lnTo>
                <a:lnTo>
                  <a:pt x="3888" y="0"/>
                </a:lnTo>
                <a:lnTo>
                  <a:pt x="3945" y="0"/>
                </a:lnTo>
                <a:lnTo>
                  <a:pt x="4356" y="180"/>
                </a:lnTo>
                <a:lnTo>
                  <a:pt x="4644" y="180"/>
                </a:lnTo>
              </a:path>
            </a:pathLst>
          </a:custGeom>
          <a:noFill/>
          <a:ln w="28575" cap="flat" cmpd="sng">
            <a:solidFill>
              <a:srgbClr val="FF3300"/>
            </a:solidFill>
            <a:prstDash val="dash"/>
            <a:round/>
            <a:headEnd/>
            <a:tailEnd/>
          </a:ln>
        </p:spPr>
        <p:txBody>
          <a:bodyPr/>
          <a:lstStyle/>
          <a:p>
            <a:endParaRPr lang="en-US"/>
          </a:p>
        </p:txBody>
      </p:sp>
      <p:sp>
        <p:nvSpPr>
          <p:cNvPr id="117779" name="Line 190"/>
          <p:cNvSpPr>
            <a:spLocks noChangeAspect="1" noChangeShapeType="1"/>
          </p:cNvSpPr>
          <p:nvPr/>
        </p:nvSpPr>
        <p:spPr bwMode="auto">
          <a:xfrm>
            <a:off x="911225" y="6388100"/>
            <a:ext cx="6656388" cy="0"/>
          </a:xfrm>
          <a:prstGeom prst="line">
            <a:avLst/>
          </a:prstGeom>
          <a:noFill/>
          <a:ln w="9525">
            <a:solidFill>
              <a:srgbClr val="000000"/>
            </a:solidFill>
            <a:round/>
            <a:headEnd/>
            <a:tailEnd type="triangle" w="med" len="med"/>
          </a:ln>
        </p:spPr>
        <p:txBody>
          <a:bodyPr/>
          <a:lstStyle/>
          <a:p>
            <a:endParaRPr lang="en-US"/>
          </a:p>
        </p:txBody>
      </p:sp>
      <p:sp>
        <p:nvSpPr>
          <p:cNvPr id="117780" name="Rectangle 200"/>
          <p:cNvSpPr>
            <a:spLocks noChangeArrowheads="1"/>
          </p:cNvSpPr>
          <p:nvPr/>
        </p:nvSpPr>
        <p:spPr bwMode="auto">
          <a:xfrm>
            <a:off x="3540125" y="6249988"/>
            <a:ext cx="1400175" cy="274637"/>
          </a:xfrm>
          <a:prstGeom prst="rect">
            <a:avLst/>
          </a:prstGeom>
          <a:solidFill>
            <a:srgbClr val="FFF5C8"/>
          </a:solidFill>
          <a:ln w="9525">
            <a:noFill/>
            <a:miter lim="800000"/>
            <a:headEnd/>
            <a:tailEnd/>
          </a:ln>
        </p:spPr>
        <p:txBody>
          <a:bodyPr wrap="none" lIns="90000" tIns="0" rIns="90000" bIns="0">
            <a:spAutoFit/>
          </a:bodyPr>
          <a:lstStyle/>
          <a:p>
            <a:pPr algn="ctr" defTabSz="449263">
              <a:buClr>
                <a:srgbClr val="000000"/>
              </a:buClr>
              <a:buSzPct val="100000"/>
              <a:buFont typeface="Times New Roman" pitchFamily="18" charset="0"/>
              <a:buNone/>
            </a:pPr>
            <a:r>
              <a:rPr lang="en-US" i="0">
                <a:solidFill>
                  <a:srgbClr val="000000"/>
                </a:solidFill>
              </a:rPr>
              <a:t>Distance (x)</a:t>
            </a:r>
            <a:endParaRPr lang="en-US"/>
          </a:p>
        </p:txBody>
      </p:sp>
      <p:grpSp>
        <p:nvGrpSpPr>
          <p:cNvPr id="117781" name="Group 201"/>
          <p:cNvGrpSpPr>
            <a:grpSpLocks/>
          </p:cNvGrpSpPr>
          <p:nvPr/>
        </p:nvGrpSpPr>
        <p:grpSpPr bwMode="auto">
          <a:xfrm>
            <a:off x="438150" y="3741738"/>
            <a:ext cx="228600" cy="506412"/>
            <a:chOff x="304" y="2467"/>
            <a:chExt cx="144" cy="319"/>
          </a:xfrm>
        </p:grpSpPr>
        <p:sp>
          <p:nvSpPr>
            <p:cNvPr id="117799" name="Line 202"/>
            <p:cNvSpPr>
              <a:spLocks noChangeShapeType="1"/>
            </p:cNvSpPr>
            <p:nvPr/>
          </p:nvSpPr>
          <p:spPr bwMode="auto">
            <a:xfrm>
              <a:off x="304" y="2628"/>
              <a:ext cx="144" cy="0"/>
            </a:xfrm>
            <a:prstGeom prst="line">
              <a:avLst/>
            </a:prstGeom>
            <a:noFill/>
            <a:ln w="11176">
              <a:solidFill>
                <a:srgbClr val="000000"/>
              </a:solidFill>
              <a:round/>
              <a:headEnd/>
              <a:tailEnd/>
            </a:ln>
          </p:spPr>
          <p:txBody>
            <a:bodyPr/>
            <a:lstStyle/>
            <a:p>
              <a:endParaRPr lang="en-US"/>
            </a:p>
          </p:txBody>
        </p:sp>
        <p:sp>
          <p:nvSpPr>
            <p:cNvPr id="117800" name="Rectangle 203"/>
            <p:cNvSpPr>
              <a:spLocks noChangeArrowheads="1"/>
            </p:cNvSpPr>
            <p:nvPr/>
          </p:nvSpPr>
          <p:spPr bwMode="auto">
            <a:xfrm>
              <a:off x="311" y="2632"/>
              <a:ext cx="129" cy="154"/>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sz="1600">
                  <a:solidFill>
                    <a:srgbClr val="000000"/>
                  </a:solidFill>
                  <a:latin typeface="Times New Roman" pitchFamily="18" charset="0"/>
                </a:rPr>
                <a:t>C</a:t>
              </a:r>
              <a:r>
                <a:rPr lang="en-US" sz="1600" baseline="-25000">
                  <a:solidFill>
                    <a:srgbClr val="000000"/>
                  </a:solidFill>
                  <a:latin typeface="Times New Roman" pitchFamily="18" charset="0"/>
                </a:rPr>
                <a:t>0</a:t>
              </a:r>
            </a:p>
          </p:txBody>
        </p:sp>
        <p:sp>
          <p:nvSpPr>
            <p:cNvPr id="117801" name="Rectangle 204"/>
            <p:cNvSpPr>
              <a:spLocks noChangeArrowheads="1"/>
            </p:cNvSpPr>
            <p:nvPr/>
          </p:nvSpPr>
          <p:spPr bwMode="auto">
            <a:xfrm>
              <a:off x="334" y="2467"/>
              <a:ext cx="85" cy="154"/>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sz="1600">
                  <a:solidFill>
                    <a:srgbClr val="000000"/>
                  </a:solidFill>
                  <a:latin typeface="Times New Roman" pitchFamily="18" charset="0"/>
                </a:rPr>
                <a:t>C</a:t>
              </a:r>
              <a:endParaRPr lang="en-US" sz="1600"/>
            </a:p>
          </p:txBody>
        </p:sp>
      </p:grpSp>
      <p:sp>
        <p:nvSpPr>
          <p:cNvPr id="117782" name="Rectangle 205"/>
          <p:cNvSpPr>
            <a:spLocks noChangeArrowheads="1"/>
          </p:cNvSpPr>
          <p:nvPr/>
        </p:nvSpPr>
        <p:spPr bwMode="auto">
          <a:xfrm>
            <a:off x="725488" y="4186238"/>
            <a:ext cx="114300" cy="274637"/>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0</a:t>
            </a:r>
            <a:endParaRPr lang="en-US">
              <a:latin typeface="Times New Roman" pitchFamily="18" charset="0"/>
            </a:endParaRPr>
          </a:p>
        </p:txBody>
      </p:sp>
      <p:sp>
        <p:nvSpPr>
          <p:cNvPr id="117783" name="Rectangle 206"/>
          <p:cNvSpPr>
            <a:spLocks noChangeArrowheads="1"/>
          </p:cNvSpPr>
          <p:nvPr/>
        </p:nvSpPr>
        <p:spPr bwMode="auto">
          <a:xfrm>
            <a:off x="725488" y="3524250"/>
            <a:ext cx="114300" cy="274638"/>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1</a:t>
            </a:r>
            <a:endParaRPr lang="en-US">
              <a:latin typeface="Times New Roman" pitchFamily="18" charset="0"/>
            </a:endParaRPr>
          </a:p>
        </p:txBody>
      </p:sp>
      <p:sp>
        <p:nvSpPr>
          <p:cNvPr id="117784" name="Rectangle 207"/>
          <p:cNvSpPr>
            <a:spLocks noChangeArrowheads="1"/>
          </p:cNvSpPr>
          <p:nvPr/>
        </p:nvSpPr>
        <p:spPr bwMode="auto">
          <a:xfrm>
            <a:off x="725488" y="5076825"/>
            <a:ext cx="114300" cy="274638"/>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0</a:t>
            </a:r>
            <a:endParaRPr lang="en-US">
              <a:latin typeface="Times New Roman" pitchFamily="18" charset="0"/>
            </a:endParaRPr>
          </a:p>
        </p:txBody>
      </p:sp>
      <p:sp>
        <p:nvSpPr>
          <p:cNvPr id="117785" name="Rectangle 208"/>
          <p:cNvSpPr>
            <a:spLocks noChangeArrowheads="1"/>
          </p:cNvSpPr>
          <p:nvPr/>
        </p:nvSpPr>
        <p:spPr bwMode="auto">
          <a:xfrm>
            <a:off x="725488" y="4419600"/>
            <a:ext cx="114300" cy="274638"/>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1</a:t>
            </a:r>
            <a:endParaRPr lang="en-US">
              <a:latin typeface="Times New Roman" pitchFamily="18" charset="0"/>
            </a:endParaRPr>
          </a:p>
        </p:txBody>
      </p:sp>
      <p:sp>
        <p:nvSpPr>
          <p:cNvPr id="117786" name="Rectangle 209"/>
          <p:cNvSpPr>
            <a:spLocks noChangeArrowheads="1"/>
          </p:cNvSpPr>
          <p:nvPr/>
        </p:nvSpPr>
        <p:spPr bwMode="auto">
          <a:xfrm>
            <a:off x="725488" y="6042025"/>
            <a:ext cx="114300" cy="274638"/>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0</a:t>
            </a:r>
            <a:endParaRPr lang="en-US">
              <a:latin typeface="Times New Roman" pitchFamily="18" charset="0"/>
            </a:endParaRPr>
          </a:p>
        </p:txBody>
      </p:sp>
      <p:sp>
        <p:nvSpPr>
          <p:cNvPr id="117787" name="Rectangle 210"/>
          <p:cNvSpPr>
            <a:spLocks noChangeArrowheads="1"/>
          </p:cNvSpPr>
          <p:nvPr/>
        </p:nvSpPr>
        <p:spPr bwMode="auto">
          <a:xfrm>
            <a:off x="725488" y="5376863"/>
            <a:ext cx="114300" cy="274637"/>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1</a:t>
            </a:r>
            <a:endParaRPr lang="en-US">
              <a:latin typeface="Times New Roman" pitchFamily="18" charset="0"/>
            </a:endParaRPr>
          </a:p>
        </p:txBody>
      </p:sp>
      <p:sp>
        <p:nvSpPr>
          <p:cNvPr id="117788" name="Rectangle 211"/>
          <p:cNvSpPr>
            <a:spLocks noChangeArrowheads="1"/>
          </p:cNvSpPr>
          <p:nvPr/>
        </p:nvSpPr>
        <p:spPr bwMode="auto">
          <a:xfrm>
            <a:off x="7710488" y="3857625"/>
            <a:ext cx="139700" cy="274638"/>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t</a:t>
            </a:r>
            <a:r>
              <a:rPr lang="en-US" i="0" baseline="-25000">
                <a:solidFill>
                  <a:srgbClr val="000000"/>
                </a:solidFill>
                <a:latin typeface="Times New Roman" pitchFamily="18" charset="0"/>
              </a:rPr>
              <a:t>1</a:t>
            </a:r>
          </a:p>
        </p:txBody>
      </p:sp>
      <p:sp>
        <p:nvSpPr>
          <p:cNvPr id="117789" name="Rectangle 212"/>
          <p:cNvSpPr>
            <a:spLocks noChangeArrowheads="1"/>
          </p:cNvSpPr>
          <p:nvPr/>
        </p:nvSpPr>
        <p:spPr bwMode="auto">
          <a:xfrm>
            <a:off x="7710488" y="4749800"/>
            <a:ext cx="139700" cy="274638"/>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t</a:t>
            </a:r>
            <a:r>
              <a:rPr lang="en-US" i="0" baseline="-25000">
                <a:solidFill>
                  <a:srgbClr val="000000"/>
                </a:solidFill>
                <a:latin typeface="Times New Roman" pitchFamily="18" charset="0"/>
              </a:rPr>
              <a:t>2</a:t>
            </a:r>
          </a:p>
        </p:txBody>
      </p:sp>
      <p:sp>
        <p:nvSpPr>
          <p:cNvPr id="117790" name="Rectangle 213"/>
          <p:cNvSpPr>
            <a:spLocks noChangeArrowheads="1"/>
          </p:cNvSpPr>
          <p:nvPr/>
        </p:nvSpPr>
        <p:spPr bwMode="auto">
          <a:xfrm>
            <a:off x="7710488" y="5710238"/>
            <a:ext cx="139700" cy="274637"/>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i="0">
                <a:solidFill>
                  <a:srgbClr val="000000"/>
                </a:solidFill>
                <a:latin typeface="Times New Roman" pitchFamily="18" charset="0"/>
              </a:rPr>
              <a:t>t</a:t>
            </a:r>
            <a:r>
              <a:rPr lang="en-US" i="0" baseline="-25000">
                <a:solidFill>
                  <a:srgbClr val="000000"/>
                </a:solidFill>
                <a:latin typeface="Times New Roman" pitchFamily="18" charset="0"/>
              </a:rPr>
              <a:t>3</a:t>
            </a:r>
          </a:p>
        </p:txBody>
      </p:sp>
      <p:grpSp>
        <p:nvGrpSpPr>
          <p:cNvPr id="117791" name="Group 214"/>
          <p:cNvGrpSpPr>
            <a:grpSpLocks/>
          </p:cNvGrpSpPr>
          <p:nvPr/>
        </p:nvGrpSpPr>
        <p:grpSpPr bwMode="auto">
          <a:xfrm>
            <a:off x="438150" y="4633913"/>
            <a:ext cx="228600" cy="506412"/>
            <a:chOff x="304" y="2467"/>
            <a:chExt cx="144" cy="319"/>
          </a:xfrm>
        </p:grpSpPr>
        <p:sp>
          <p:nvSpPr>
            <p:cNvPr id="117796" name="Line 215"/>
            <p:cNvSpPr>
              <a:spLocks noChangeShapeType="1"/>
            </p:cNvSpPr>
            <p:nvPr/>
          </p:nvSpPr>
          <p:spPr bwMode="auto">
            <a:xfrm>
              <a:off x="304" y="2628"/>
              <a:ext cx="144" cy="0"/>
            </a:xfrm>
            <a:prstGeom prst="line">
              <a:avLst/>
            </a:prstGeom>
            <a:noFill/>
            <a:ln w="11176">
              <a:solidFill>
                <a:srgbClr val="000000"/>
              </a:solidFill>
              <a:round/>
              <a:headEnd/>
              <a:tailEnd/>
            </a:ln>
          </p:spPr>
          <p:txBody>
            <a:bodyPr/>
            <a:lstStyle/>
            <a:p>
              <a:endParaRPr lang="en-US"/>
            </a:p>
          </p:txBody>
        </p:sp>
        <p:sp>
          <p:nvSpPr>
            <p:cNvPr id="117797" name="Rectangle 216"/>
            <p:cNvSpPr>
              <a:spLocks noChangeArrowheads="1"/>
            </p:cNvSpPr>
            <p:nvPr/>
          </p:nvSpPr>
          <p:spPr bwMode="auto">
            <a:xfrm>
              <a:off x="311" y="2632"/>
              <a:ext cx="129" cy="154"/>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sz="1600">
                  <a:solidFill>
                    <a:srgbClr val="000000"/>
                  </a:solidFill>
                  <a:latin typeface="Times New Roman" pitchFamily="18" charset="0"/>
                </a:rPr>
                <a:t>C</a:t>
              </a:r>
              <a:r>
                <a:rPr lang="en-US" sz="1600" baseline="-25000">
                  <a:solidFill>
                    <a:srgbClr val="000000"/>
                  </a:solidFill>
                  <a:latin typeface="Times New Roman" pitchFamily="18" charset="0"/>
                </a:rPr>
                <a:t>0</a:t>
              </a:r>
            </a:p>
          </p:txBody>
        </p:sp>
        <p:sp>
          <p:nvSpPr>
            <p:cNvPr id="117798" name="Rectangle 217"/>
            <p:cNvSpPr>
              <a:spLocks noChangeArrowheads="1"/>
            </p:cNvSpPr>
            <p:nvPr/>
          </p:nvSpPr>
          <p:spPr bwMode="auto">
            <a:xfrm>
              <a:off x="334" y="2467"/>
              <a:ext cx="85" cy="154"/>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sz="1600">
                  <a:solidFill>
                    <a:srgbClr val="000000"/>
                  </a:solidFill>
                  <a:latin typeface="Times New Roman" pitchFamily="18" charset="0"/>
                </a:rPr>
                <a:t>C</a:t>
              </a:r>
              <a:endParaRPr lang="en-US" sz="1600"/>
            </a:p>
          </p:txBody>
        </p:sp>
      </p:grpSp>
      <p:grpSp>
        <p:nvGrpSpPr>
          <p:cNvPr id="117792" name="Group 218"/>
          <p:cNvGrpSpPr>
            <a:grpSpLocks/>
          </p:cNvGrpSpPr>
          <p:nvPr/>
        </p:nvGrpSpPr>
        <p:grpSpPr bwMode="auto">
          <a:xfrm>
            <a:off x="438150" y="5594350"/>
            <a:ext cx="228600" cy="506413"/>
            <a:chOff x="304" y="2467"/>
            <a:chExt cx="144" cy="319"/>
          </a:xfrm>
        </p:grpSpPr>
        <p:sp>
          <p:nvSpPr>
            <p:cNvPr id="117793" name="Line 219"/>
            <p:cNvSpPr>
              <a:spLocks noChangeShapeType="1"/>
            </p:cNvSpPr>
            <p:nvPr/>
          </p:nvSpPr>
          <p:spPr bwMode="auto">
            <a:xfrm>
              <a:off x="304" y="2628"/>
              <a:ext cx="144" cy="0"/>
            </a:xfrm>
            <a:prstGeom prst="line">
              <a:avLst/>
            </a:prstGeom>
            <a:noFill/>
            <a:ln w="11176">
              <a:solidFill>
                <a:srgbClr val="000000"/>
              </a:solidFill>
              <a:round/>
              <a:headEnd/>
              <a:tailEnd/>
            </a:ln>
          </p:spPr>
          <p:txBody>
            <a:bodyPr/>
            <a:lstStyle/>
            <a:p>
              <a:endParaRPr lang="en-US"/>
            </a:p>
          </p:txBody>
        </p:sp>
        <p:sp>
          <p:nvSpPr>
            <p:cNvPr id="117794" name="Rectangle 220"/>
            <p:cNvSpPr>
              <a:spLocks noChangeArrowheads="1"/>
            </p:cNvSpPr>
            <p:nvPr/>
          </p:nvSpPr>
          <p:spPr bwMode="auto">
            <a:xfrm>
              <a:off x="311" y="2632"/>
              <a:ext cx="129" cy="154"/>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sz="1600">
                  <a:solidFill>
                    <a:srgbClr val="000000"/>
                  </a:solidFill>
                  <a:latin typeface="Times New Roman" pitchFamily="18" charset="0"/>
                </a:rPr>
                <a:t>C</a:t>
              </a:r>
              <a:r>
                <a:rPr lang="en-US" sz="1600" baseline="-25000">
                  <a:solidFill>
                    <a:srgbClr val="000000"/>
                  </a:solidFill>
                  <a:latin typeface="Times New Roman" pitchFamily="18" charset="0"/>
                </a:rPr>
                <a:t>0</a:t>
              </a:r>
            </a:p>
          </p:txBody>
        </p:sp>
        <p:sp>
          <p:nvSpPr>
            <p:cNvPr id="117795" name="Rectangle 221"/>
            <p:cNvSpPr>
              <a:spLocks noChangeArrowheads="1"/>
            </p:cNvSpPr>
            <p:nvPr/>
          </p:nvSpPr>
          <p:spPr bwMode="auto">
            <a:xfrm>
              <a:off x="334" y="2467"/>
              <a:ext cx="85" cy="154"/>
            </a:xfrm>
            <a:prstGeom prst="rect">
              <a:avLst/>
            </a:prstGeom>
            <a:noFill/>
            <a:ln w="9525">
              <a:noFill/>
              <a:miter lim="800000"/>
              <a:headEnd/>
              <a:tailEnd/>
            </a:ln>
          </p:spPr>
          <p:txBody>
            <a:bodyPr wrap="none" lIns="0" tIns="0" rIns="0" bIns="0">
              <a:spAutoFit/>
            </a:bodyPr>
            <a:lstStyle/>
            <a:p>
              <a:pPr defTabSz="449263">
                <a:buClr>
                  <a:srgbClr val="000000"/>
                </a:buClr>
                <a:buSzPct val="100000"/>
                <a:buFont typeface="Times New Roman" pitchFamily="18" charset="0"/>
                <a:buNone/>
              </a:pPr>
              <a:r>
                <a:rPr lang="en-US" sz="1600">
                  <a:solidFill>
                    <a:srgbClr val="000000"/>
                  </a:solidFill>
                  <a:latin typeface="Times New Roman" pitchFamily="18" charset="0"/>
                </a:rPr>
                <a:t>C</a:t>
              </a:r>
              <a:endParaRPr lang="en-US" sz="1600"/>
            </a:p>
          </p:txBody>
        </p:sp>
      </p:gr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p:cNvSpPr>
            <a:spLocks noGrp="1" noChangeArrowheads="1"/>
          </p:cNvSpPr>
          <p:nvPr>
            <p:ph type="title"/>
          </p:nvPr>
        </p:nvSpPr>
        <p:spPr>
          <a:xfrm>
            <a:off x="438150" y="814388"/>
            <a:ext cx="6200775" cy="493712"/>
          </a:xfrm>
        </p:spPr>
        <p:txBody>
          <a:bodyPr/>
          <a:lstStyle/>
          <a:p>
            <a:r>
              <a:rPr lang="en-AU" smtClean="0"/>
              <a:t>Reactions in solute transport</a:t>
            </a:r>
            <a:endParaRPr lang="en-US" smtClean="0"/>
          </a:p>
        </p:txBody>
      </p:sp>
      <p:sp>
        <p:nvSpPr>
          <p:cNvPr id="119810" name="Rectangle 3"/>
          <p:cNvSpPr>
            <a:spLocks noGrp="1" noChangeArrowheads="1"/>
          </p:cNvSpPr>
          <p:nvPr>
            <p:ph type="body" idx="1"/>
          </p:nvPr>
        </p:nvSpPr>
        <p:spPr>
          <a:xfrm>
            <a:off x="438150" y="1876425"/>
            <a:ext cx="7158038" cy="4600575"/>
          </a:xfrm>
        </p:spPr>
        <p:txBody>
          <a:bodyPr/>
          <a:lstStyle/>
          <a:p>
            <a:pPr marL="268288" indent="-268288">
              <a:buFont typeface="Times New Roman" pitchFamily="18" charset="0"/>
              <a:buChar char="•"/>
            </a:pPr>
            <a:r>
              <a:rPr lang="en-AU" smtClean="0"/>
              <a:t>Initial assumption for advection – dispersion equation is that the porous media and the solute are non-reactive</a:t>
            </a:r>
          </a:p>
          <a:p>
            <a:pPr marL="268288" indent="-268288">
              <a:buFont typeface="Times New Roman" pitchFamily="18" charset="0"/>
              <a:buChar char="•"/>
            </a:pPr>
            <a:r>
              <a:rPr lang="en-AU" i="1" smtClean="0"/>
              <a:t>However, in reality, the solute often interacts with the porous media, other components of the pore water and / or undergoes decay</a:t>
            </a:r>
          </a:p>
          <a:p>
            <a:pPr marL="268288" indent="-268288">
              <a:buFont typeface="Times New Roman" pitchFamily="18" charset="0"/>
              <a:buChar char="•"/>
            </a:pPr>
            <a:r>
              <a:rPr lang="en-AU" smtClean="0"/>
              <a:t>Main processes are decay / degradation and retardation</a:t>
            </a:r>
            <a:endParaRPr lang="en-US" smtClean="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p:cNvSpPr>
            <a:spLocks noGrp="1" noChangeArrowheads="1"/>
          </p:cNvSpPr>
          <p:nvPr>
            <p:ph type="title"/>
          </p:nvPr>
        </p:nvSpPr>
        <p:spPr>
          <a:xfrm>
            <a:off x="438150" y="814388"/>
            <a:ext cx="6434138" cy="987425"/>
          </a:xfrm>
        </p:spPr>
        <p:txBody>
          <a:bodyPr/>
          <a:lstStyle/>
          <a:p>
            <a:r>
              <a:rPr lang="en-AU" smtClean="0"/>
              <a:t>Degradation and daughter products</a:t>
            </a:r>
            <a:endParaRPr lang="en-US" smtClean="0"/>
          </a:p>
        </p:txBody>
      </p:sp>
      <p:sp>
        <p:nvSpPr>
          <p:cNvPr id="121858" name="Rectangle 4"/>
          <p:cNvSpPr>
            <a:spLocks noChangeArrowheads="1"/>
          </p:cNvSpPr>
          <p:nvPr/>
        </p:nvSpPr>
        <p:spPr bwMode="auto">
          <a:xfrm>
            <a:off x="723900" y="2132013"/>
            <a:ext cx="6781800" cy="2652712"/>
          </a:xfrm>
          <a:prstGeom prst="rect">
            <a:avLst/>
          </a:prstGeom>
          <a:no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21859" name="Text Box 5"/>
          <p:cNvSpPr txBox="1">
            <a:spLocks noChangeArrowheads="1"/>
          </p:cNvSpPr>
          <p:nvPr/>
        </p:nvSpPr>
        <p:spPr bwMode="auto">
          <a:xfrm>
            <a:off x="228600" y="3217863"/>
            <a:ext cx="533400" cy="457200"/>
          </a:xfrm>
          <a:prstGeom prst="rect">
            <a:avLst/>
          </a:prstGeom>
          <a:noFill/>
          <a:ln w="9525">
            <a:noFill/>
            <a:miter lim="800000"/>
            <a:headEnd/>
            <a:tailEnd/>
          </a:ln>
        </p:spPr>
        <p:txBody>
          <a:bodyPr>
            <a:spAutoFit/>
          </a:bodyPr>
          <a:lstStyle/>
          <a:p>
            <a:pPr>
              <a:spcBef>
                <a:spcPct val="50000"/>
              </a:spcBef>
            </a:pPr>
            <a:r>
              <a:rPr lang="en-AU" sz="2400">
                <a:solidFill>
                  <a:schemeClr val="accent2"/>
                </a:solidFill>
                <a:latin typeface="Times New Roman" pitchFamily="18" charset="0"/>
              </a:rPr>
              <a:t>C</a:t>
            </a:r>
            <a:r>
              <a:rPr lang="en-AU" sz="2400" baseline="-25000">
                <a:solidFill>
                  <a:schemeClr val="accent2"/>
                </a:solidFill>
                <a:latin typeface="Times New Roman" pitchFamily="18" charset="0"/>
              </a:rPr>
              <a:t>p</a:t>
            </a:r>
            <a:endParaRPr lang="en-US" sz="2400">
              <a:solidFill>
                <a:schemeClr val="accent2"/>
              </a:solidFill>
              <a:latin typeface="Times New Roman" pitchFamily="18" charset="0"/>
            </a:endParaRPr>
          </a:p>
        </p:txBody>
      </p:sp>
      <p:sp>
        <p:nvSpPr>
          <p:cNvPr id="121860" name="Text Box 6"/>
          <p:cNvSpPr txBox="1">
            <a:spLocks noChangeArrowheads="1"/>
          </p:cNvSpPr>
          <p:nvPr/>
        </p:nvSpPr>
        <p:spPr bwMode="auto">
          <a:xfrm>
            <a:off x="7477125" y="3217863"/>
            <a:ext cx="533400" cy="457200"/>
          </a:xfrm>
          <a:prstGeom prst="rect">
            <a:avLst/>
          </a:prstGeom>
          <a:noFill/>
          <a:ln w="9525">
            <a:noFill/>
            <a:miter lim="800000"/>
            <a:headEnd/>
            <a:tailEnd/>
          </a:ln>
        </p:spPr>
        <p:txBody>
          <a:bodyPr>
            <a:spAutoFit/>
          </a:bodyPr>
          <a:lstStyle/>
          <a:p>
            <a:pPr>
              <a:spcBef>
                <a:spcPct val="50000"/>
              </a:spcBef>
            </a:pPr>
            <a:r>
              <a:rPr lang="en-AU" sz="2400">
                <a:solidFill>
                  <a:srgbClr val="FF3300"/>
                </a:solidFill>
                <a:latin typeface="Times New Roman" pitchFamily="18" charset="0"/>
              </a:rPr>
              <a:t>C</a:t>
            </a:r>
            <a:r>
              <a:rPr lang="en-AU" sz="2400" baseline="-25000">
                <a:solidFill>
                  <a:srgbClr val="FF3300"/>
                </a:solidFill>
                <a:latin typeface="Times New Roman" pitchFamily="18" charset="0"/>
              </a:rPr>
              <a:t>d</a:t>
            </a:r>
            <a:endParaRPr lang="en-US" sz="2400">
              <a:solidFill>
                <a:srgbClr val="FF3300"/>
              </a:solidFill>
              <a:latin typeface="Times New Roman" pitchFamily="18" charset="0"/>
            </a:endParaRPr>
          </a:p>
        </p:txBody>
      </p:sp>
      <p:sp>
        <p:nvSpPr>
          <p:cNvPr id="121861" name="Freeform 7"/>
          <p:cNvSpPr>
            <a:spLocks/>
          </p:cNvSpPr>
          <p:nvPr/>
        </p:nvSpPr>
        <p:spPr bwMode="auto">
          <a:xfrm>
            <a:off x="723900" y="2132013"/>
            <a:ext cx="6781800" cy="2652712"/>
          </a:xfrm>
          <a:custGeom>
            <a:avLst/>
            <a:gdLst>
              <a:gd name="T0" fmla="*/ 0 w 4272"/>
              <a:gd name="T1" fmla="*/ 0 h 2112"/>
              <a:gd name="T2" fmla="*/ 1143000 w 4272"/>
              <a:gd name="T3" fmla="*/ 0 h 2112"/>
              <a:gd name="T4" fmla="*/ 5181599 w 4272"/>
              <a:gd name="T5" fmla="*/ 2652712 h 2112"/>
              <a:gd name="T6" fmla="*/ 6781800 w 4272"/>
              <a:gd name="T7" fmla="*/ 2652712 h 2112"/>
              <a:gd name="T8" fmla="*/ 0 60000 65536"/>
              <a:gd name="T9" fmla="*/ 0 60000 65536"/>
              <a:gd name="T10" fmla="*/ 0 60000 65536"/>
              <a:gd name="T11" fmla="*/ 0 60000 65536"/>
              <a:gd name="T12" fmla="*/ 0 w 4272"/>
              <a:gd name="T13" fmla="*/ 0 h 2112"/>
              <a:gd name="T14" fmla="*/ 4272 w 4272"/>
              <a:gd name="T15" fmla="*/ 2112 h 2112"/>
            </a:gdLst>
            <a:ahLst/>
            <a:cxnLst>
              <a:cxn ang="T8">
                <a:pos x="T0" y="T1"/>
              </a:cxn>
              <a:cxn ang="T9">
                <a:pos x="T2" y="T3"/>
              </a:cxn>
              <a:cxn ang="T10">
                <a:pos x="T4" y="T5"/>
              </a:cxn>
              <a:cxn ang="T11">
                <a:pos x="T6" y="T7"/>
              </a:cxn>
            </a:cxnLst>
            <a:rect l="T12" t="T13" r="T14" b="T15"/>
            <a:pathLst>
              <a:path w="4272" h="2112">
                <a:moveTo>
                  <a:pt x="0" y="0"/>
                </a:moveTo>
                <a:lnTo>
                  <a:pt x="720" y="0"/>
                </a:lnTo>
                <a:lnTo>
                  <a:pt x="3264" y="2112"/>
                </a:lnTo>
                <a:lnTo>
                  <a:pt x="4272" y="2112"/>
                </a:lnTo>
              </a:path>
            </a:pathLst>
          </a:custGeom>
          <a:noFill/>
          <a:ln w="57150" cmpd="sng">
            <a:solidFill>
              <a:srgbClr val="9999FF"/>
            </a:solidFill>
            <a:round/>
            <a:headEnd/>
            <a:tailEnd/>
          </a:ln>
        </p:spPr>
        <p:txBody>
          <a:bodyPr/>
          <a:lstStyle/>
          <a:p>
            <a:endParaRPr lang="en-US"/>
          </a:p>
        </p:txBody>
      </p:sp>
      <p:sp>
        <p:nvSpPr>
          <p:cNvPr id="121862" name="Freeform 8"/>
          <p:cNvSpPr>
            <a:spLocks/>
          </p:cNvSpPr>
          <p:nvPr/>
        </p:nvSpPr>
        <p:spPr bwMode="auto">
          <a:xfrm flipV="1">
            <a:off x="723900" y="2132013"/>
            <a:ext cx="6781800" cy="2652712"/>
          </a:xfrm>
          <a:custGeom>
            <a:avLst/>
            <a:gdLst>
              <a:gd name="T0" fmla="*/ 0 w 4272"/>
              <a:gd name="T1" fmla="*/ 0 h 2112"/>
              <a:gd name="T2" fmla="*/ 1143000 w 4272"/>
              <a:gd name="T3" fmla="*/ 0 h 2112"/>
              <a:gd name="T4" fmla="*/ 5181599 w 4272"/>
              <a:gd name="T5" fmla="*/ 2652712 h 2112"/>
              <a:gd name="T6" fmla="*/ 6781800 w 4272"/>
              <a:gd name="T7" fmla="*/ 2652712 h 2112"/>
              <a:gd name="T8" fmla="*/ 0 60000 65536"/>
              <a:gd name="T9" fmla="*/ 0 60000 65536"/>
              <a:gd name="T10" fmla="*/ 0 60000 65536"/>
              <a:gd name="T11" fmla="*/ 0 60000 65536"/>
              <a:gd name="T12" fmla="*/ 0 w 4272"/>
              <a:gd name="T13" fmla="*/ 0 h 2112"/>
              <a:gd name="T14" fmla="*/ 4272 w 4272"/>
              <a:gd name="T15" fmla="*/ 2112 h 2112"/>
            </a:gdLst>
            <a:ahLst/>
            <a:cxnLst>
              <a:cxn ang="T8">
                <a:pos x="T0" y="T1"/>
              </a:cxn>
              <a:cxn ang="T9">
                <a:pos x="T2" y="T3"/>
              </a:cxn>
              <a:cxn ang="T10">
                <a:pos x="T4" y="T5"/>
              </a:cxn>
              <a:cxn ang="T11">
                <a:pos x="T6" y="T7"/>
              </a:cxn>
            </a:cxnLst>
            <a:rect l="T12" t="T13" r="T14" b="T15"/>
            <a:pathLst>
              <a:path w="4272" h="2112">
                <a:moveTo>
                  <a:pt x="0" y="0"/>
                </a:moveTo>
                <a:lnTo>
                  <a:pt x="720" y="0"/>
                </a:lnTo>
                <a:lnTo>
                  <a:pt x="3264" y="2112"/>
                </a:lnTo>
                <a:lnTo>
                  <a:pt x="4272" y="2112"/>
                </a:lnTo>
              </a:path>
            </a:pathLst>
          </a:custGeom>
          <a:noFill/>
          <a:ln w="57150" cmpd="sng">
            <a:solidFill>
              <a:srgbClr val="FF3300"/>
            </a:solidFill>
            <a:round/>
            <a:headEnd/>
            <a:tailEnd/>
          </a:ln>
        </p:spPr>
        <p:txBody>
          <a:bodyPr/>
          <a:lstStyle/>
          <a:p>
            <a:endParaRPr lang="en-US"/>
          </a:p>
        </p:txBody>
      </p:sp>
      <p:sp>
        <p:nvSpPr>
          <p:cNvPr id="121863" name="Line 9"/>
          <p:cNvSpPr>
            <a:spLocks noChangeShapeType="1"/>
          </p:cNvSpPr>
          <p:nvPr/>
        </p:nvSpPr>
        <p:spPr bwMode="auto">
          <a:xfrm>
            <a:off x="1333500" y="5146675"/>
            <a:ext cx="5334000" cy="0"/>
          </a:xfrm>
          <a:prstGeom prst="line">
            <a:avLst/>
          </a:prstGeom>
          <a:noFill/>
          <a:ln w="9525">
            <a:solidFill>
              <a:schemeClr val="tx1"/>
            </a:solidFill>
            <a:round/>
            <a:headEnd/>
            <a:tailEnd type="triangle" w="med" len="med"/>
          </a:ln>
        </p:spPr>
        <p:txBody>
          <a:bodyPr/>
          <a:lstStyle/>
          <a:p>
            <a:endParaRPr lang="en-US"/>
          </a:p>
        </p:txBody>
      </p:sp>
      <p:sp>
        <p:nvSpPr>
          <p:cNvPr id="121864" name="Text Box 10"/>
          <p:cNvSpPr txBox="1">
            <a:spLocks noChangeArrowheads="1"/>
          </p:cNvSpPr>
          <p:nvPr/>
        </p:nvSpPr>
        <p:spPr bwMode="auto">
          <a:xfrm>
            <a:off x="3162300" y="4965700"/>
            <a:ext cx="2057400" cy="366713"/>
          </a:xfrm>
          <a:prstGeom prst="rect">
            <a:avLst/>
          </a:prstGeom>
          <a:solidFill>
            <a:schemeClr val="bg1"/>
          </a:solidFill>
          <a:ln w="9525">
            <a:noFill/>
            <a:miter lim="800000"/>
            <a:headEnd/>
            <a:tailEnd/>
          </a:ln>
        </p:spPr>
        <p:txBody>
          <a:bodyPr>
            <a:spAutoFit/>
          </a:bodyPr>
          <a:lstStyle/>
          <a:p>
            <a:pPr>
              <a:spcBef>
                <a:spcPct val="50000"/>
              </a:spcBef>
            </a:pPr>
            <a:r>
              <a:rPr lang="en-AU" i="0">
                <a:solidFill>
                  <a:schemeClr val="tx1"/>
                </a:solidFill>
              </a:rPr>
              <a:t>Time or Distance</a:t>
            </a:r>
            <a:endParaRPr lang="en-US" i="0">
              <a:solidFill>
                <a:schemeClr val="tx1"/>
              </a:solidFill>
            </a:endParaRPr>
          </a:p>
        </p:txBody>
      </p:sp>
      <p:sp>
        <p:nvSpPr>
          <p:cNvPr id="121865" name="Text Box 12"/>
          <p:cNvSpPr txBox="1">
            <a:spLocks noChangeArrowheads="1"/>
          </p:cNvSpPr>
          <p:nvPr/>
        </p:nvSpPr>
        <p:spPr bwMode="auto">
          <a:xfrm>
            <a:off x="760413" y="5484813"/>
            <a:ext cx="6731000" cy="915987"/>
          </a:xfrm>
          <a:prstGeom prst="rect">
            <a:avLst/>
          </a:prstGeom>
          <a:solidFill>
            <a:srgbClr val="FFCC99"/>
          </a:solidFill>
          <a:ln w="9525">
            <a:noFill/>
            <a:miter lim="800000"/>
            <a:headEnd/>
            <a:tailEnd/>
          </a:ln>
        </p:spPr>
        <p:txBody>
          <a:bodyPr rIns="252000">
            <a:spAutoFit/>
          </a:bodyPr>
          <a:lstStyle/>
          <a:p>
            <a:pPr>
              <a:spcBef>
                <a:spcPct val="50000"/>
              </a:spcBef>
            </a:pPr>
            <a:r>
              <a:rPr lang="en-AU" i="0">
                <a:solidFill>
                  <a:schemeClr val="tx1"/>
                </a:solidFill>
              </a:rPr>
              <a:t>Assumes a first order kinetic reaction, in that the solute is lost to the pore water through the decay or degradation (ie only deals with the loss term)</a:t>
            </a:r>
            <a:endParaRPr lang="en-US" i="0">
              <a:solidFill>
                <a:schemeClr val="tx1"/>
              </a:solidFill>
            </a:endParaRPr>
          </a:p>
        </p:txBody>
      </p:sp>
      <p:sp>
        <p:nvSpPr>
          <p:cNvPr id="121866" name="AutoShape 13"/>
          <p:cNvSpPr>
            <a:spLocks noChangeArrowheads="1"/>
          </p:cNvSpPr>
          <p:nvPr/>
        </p:nvSpPr>
        <p:spPr bwMode="auto">
          <a:xfrm rot="-5170680">
            <a:off x="6884194" y="4725194"/>
            <a:ext cx="1752600" cy="1271588"/>
          </a:xfrm>
          <a:prstGeom prst="curvedUpArrow">
            <a:avLst>
              <a:gd name="adj1" fmla="val 27566"/>
              <a:gd name="adj2" fmla="val 55131"/>
              <a:gd name="adj3" fmla="val 33333"/>
            </a:avLst>
          </a:prstGeom>
          <a:solidFill>
            <a:srgbClr val="9999FF">
              <a:alpha val="50195"/>
            </a:srgbClr>
          </a:solidFill>
          <a:ln w="9525">
            <a:solidFill>
              <a:schemeClr val="tx1"/>
            </a:solid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2"/>
          <p:cNvSpPr>
            <a:spLocks noGrp="1" noChangeArrowheads="1"/>
          </p:cNvSpPr>
          <p:nvPr>
            <p:ph type="title"/>
          </p:nvPr>
        </p:nvSpPr>
        <p:spPr>
          <a:xfrm>
            <a:off x="438150" y="806450"/>
            <a:ext cx="4918075" cy="493713"/>
          </a:xfrm>
        </p:spPr>
        <p:txBody>
          <a:bodyPr/>
          <a:lstStyle/>
          <a:p>
            <a:r>
              <a:rPr lang="en-AU" smtClean="0"/>
              <a:t>Biodegradation</a:t>
            </a:r>
            <a:endParaRPr lang="en-US" smtClean="0"/>
          </a:p>
        </p:txBody>
      </p:sp>
      <p:sp>
        <p:nvSpPr>
          <p:cNvPr id="123906" name="Rectangle 3"/>
          <p:cNvSpPr>
            <a:spLocks noGrp="1" noChangeArrowheads="1"/>
          </p:cNvSpPr>
          <p:nvPr>
            <p:ph type="body" idx="1"/>
          </p:nvPr>
        </p:nvSpPr>
        <p:spPr>
          <a:xfrm>
            <a:off x="438150" y="1876425"/>
            <a:ext cx="6862763" cy="4183063"/>
          </a:xfrm>
        </p:spPr>
        <p:txBody>
          <a:bodyPr/>
          <a:lstStyle/>
          <a:p>
            <a:pPr>
              <a:buFont typeface="Times New Roman" pitchFamily="18" charset="0"/>
              <a:buChar char="•"/>
            </a:pPr>
            <a:r>
              <a:rPr lang="en-AU" smtClean="0"/>
              <a:t>Where biological processes aid the breakdown of contaminants</a:t>
            </a:r>
          </a:p>
          <a:p>
            <a:pPr>
              <a:buFont typeface="Times New Roman" pitchFamily="18" charset="0"/>
              <a:buChar char="•"/>
            </a:pPr>
            <a:r>
              <a:rPr lang="en-AU" smtClean="0"/>
              <a:t>Rate specific to:</a:t>
            </a:r>
          </a:p>
          <a:p>
            <a:pPr lvl="1">
              <a:buFontTx/>
              <a:buChar char="•"/>
            </a:pPr>
            <a:r>
              <a:rPr lang="en-AU" sz="2400" smtClean="0"/>
              <a:t>Bacterial population</a:t>
            </a:r>
          </a:p>
          <a:p>
            <a:pPr lvl="1">
              <a:buFontTx/>
              <a:buChar char="•"/>
            </a:pPr>
            <a:r>
              <a:rPr lang="en-AU" sz="2400" smtClean="0"/>
              <a:t>Nutrient / substrate availability</a:t>
            </a:r>
          </a:p>
          <a:p>
            <a:pPr lvl="1">
              <a:buFontTx/>
              <a:buChar char="•"/>
            </a:pPr>
            <a:r>
              <a:rPr lang="en-AU" sz="2400" smtClean="0"/>
              <a:t>Solution chemistry (redox, pH)</a:t>
            </a:r>
          </a:p>
          <a:p>
            <a:pPr lvl="1">
              <a:buFontTx/>
              <a:buChar char="•"/>
            </a:pPr>
            <a:r>
              <a:rPr lang="en-AU" sz="2400" smtClean="0"/>
              <a:t>Co-metabolites / toxins</a:t>
            </a:r>
          </a:p>
          <a:p>
            <a:pPr lvl="1">
              <a:buFontTx/>
              <a:buChar char="•"/>
            </a:pPr>
            <a:r>
              <a:rPr lang="en-AU" sz="2400" smtClean="0"/>
              <a:t>Temperature</a:t>
            </a:r>
          </a:p>
          <a:p>
            <a:pPr>
              <a:buFont typeface="Times New Roman" pitchFamily="18" charset="0"/>
              <a:buChar char="•"/>
            </a:pPr>
            <a:r>
              <a:rPr lang="en-AU" smtClean="0"/>
              <a:t>Laboratory determined</a:t>
            </a:r>
            <a:endParaRPr lang="en-US" smtClean="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9"/>
          <p:cNvSpPr>
            <a:spLocks noChangeArrowheads="1"/>
          </p:cNvSpPr>
          <p:nvPr/>
        </p:nvSpPr>
        <p:spPr bwMode="auto">
          <a:xfrm>
            <a:off x="0" y="1550988"/>
            <a:ext cx="9144000" cy="5307012"/>
          </a:xfrm>
          <a:prstGeom prst="rect">
            <a:avLst/>
          </a:prstGeom>
          <a:solidFill>
            <a:schemeClr val="bg1"/>
          </a:solidFill>
          <a:ln w="9525">
            <a:noFill/>
            <a:miter lim="800000"/>
            <a:headEnd/>
            <a:tailEnd/>
          </a:ln>
        </p:spPr>
        <p:txBody>
          <a:bodyPr wrap="none" anchor="ctr"/>
          <a:lstStyle/>
          <a:p>
            <a:pPr>
              <a:lnSpc>
                <a:spcPct val="31000"/>
              </a:lnSpc>
              <a:buClr>
                <a:srgbClr val="000000"/>
              </a:buClr>
              <a:buSzPct val="100000"/>
              <a:buFont typeface="Times New Roman" pitchFamily="18" charset="0"/>
              <a:buNone/>
            </a:pPr>
            <a:endParaRPr lang="en-US"/>
          </a:p>
        </p:txBody>
      </p:sp>
      <p:sp>
        <p:nvSpPr>
          <p:cNvPr id="125954" name="Rectangle 2"/>
          <p:cNvSpPr>
            <a:spLocks noGrp="1" noChangeArrowheads="1"/>
          </p:cNvSpPr>
          <p:nvPr>
            <p:ph type="title"/>
          </p:nvPr>
        </p:nvSpPr>
        <p:spPr>
          <a:xfrm>
            <a:off x="438150" y="806450"/>
            <a:ext cx="3206750" cy="493713"/>
          </a:xfrm>
        </p:spPr>
        <p:txBody>
          <a:bodyPr/>
          <a:lstStyle/>
          <a:p>
            <a:r>
              <a:rPr lang="en-AU" smtClean="0"/>
              <a:t>Retardation</a:t>
            </a:r>
            <a:endParaRPr lang="en-US" smtClean="0"/>
          </a:p>
        </p:txBody>
      </p:sp>
      <p:pic>
        <p:nvPicPr>
          <p:cNvPr id="125955" name="Picture 4"/>
          <p:cNvPicPr>
            <a:picLocks noChangeAspect="1" noChangeArrowheads="1"/>
          </p:cNvPicPr>
          <p:nvPr/>
        </p:nvPicPr>
        <p:blipFill>
          <a:blip r:embed="rId3"/>
          <a:srcRect/>
          <a:stretch>
            <a:fillRect/>
          </a:stretch>
        </p:blipFill>
        <p:spPr bwMode="auto">
          <a:xfrm>
            <a:off x="352425" y="1628775"/>
            <a:ext cx="8293100" cy="4878388"/>
          </a:xfrm>
          <a:prstGeom prst="rect">
            <a:avLst/>
          </a:prstGeom>
          <a:noFill/>
          <a:ln w="9525">
            <a:noFill/>
            <a:miter lim="800000"/>
            <a:headEnd/>
            <a:tailEnd/>
          </a:ln>
        </p:spPr>
      </p:pic>
      <p:sp>
        <p:nvSpPr>
          <p:cNvPr id="125956" name="Text Box 5"/>
          <p:cNvSpPr txBox="1">
            <a:spLocks noChangeArrowheads="1"/>
          </p:cNvSpPr>
          <p:nvPr/>
        </p:nvSpPr>
        <p:spPr bwMode="auto">
          <a:xfrm>
            <a:off x="381000" y="6416675"/>
            <a:ext cx="4581525" cy="228600"/>
          </a:xfrm>
          <a:prstGeom prst="rect">
            <a:avLst/>
          </a:prstGeom>
          <a:noFill/>
          <a:ln w="9525">
            <a:noFill/>
            <a:miter lim="800000"/>
            <a:headEnd/>
            <a:tailEnd/>
          </a:ln>
        </p:spPr>
        <p:txBody>
          <a:bodyPr>
            <a:spAutoFit/>
          </a:bodyPr>
          <a:lstStyle/>
          <a:p>
            <a:pPr>
              <a:spcBef>
                <a:spcPct val="50000"/>
              </a:spcBef>
            </a:pPr>
            <a:r>
              <a:rPr lang="en-AU" sz="900" i="0">
                <a:solidFill>
                  <a:schemeClr val="tx1"/>
                </a:solidFill>
              </a:rPr>
              <a:t>Taken from “In-situ” presentation on “Groundwater Contamination and remediation</a:t>
            </a:r>
            <a:endParaRPr lang="en-US" sz="900" i="0">
              <a:solidFill>
                <a:schemeClr val="tx1"/>
              </a:solidFill>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p:cNvSpPr>
            <a:spLocks noGrp="1" noChangeArrowheads="1"/>
          </p:cNvSpPr>
          <p:nvPr>
            <p:ph type="title"/>
          </p:nvPr>
        </p:nvSpPr>
        <p:spPr>
          <a:xfrm>
            <a:off x="438150" y="806450"/>
            <a:ext cx="5367338" cy="493713"/>
          </a:xfrm>
        </p:spPr>
        <p:txBody>
          <a:bodyPr/>
          <a:lstStyle/>
          <a:p>
            <a:r>
              <a:rPr lang="en-AU" smtClean="0"/>
              <a:t>Effects in the field....</a:t>
            </a:r>
            <a:endParaRPr lang="en-US" smtClean="0"/>
          </a:p>
        </p:txBody>
      </p:sp>
      <p:grpSp>
        <p:nvGrpSpPr>
          <p:cNvPr id="128002" name="Group 15"/>
          <p:cNvGrpSpPr>
            <a:grpSpLocks/>
          </p:cNvGrpSpPr>
          <p:nvPr/>
        </p:nvGrpSpPr>
        <p:grpSpPr bwMode="auto">
          <a:xfrm>
            <a:off x="314325" y="1617663"/>
            <a:ext cx="7264400" cy="4935537"/>
            <a:chOff x="276" y="1007"/>
            <a:chExt cx="4576" cy="3109"/>
          </a:xfrm>
        </p:grpSpPr>
        <p:pic>
          <p:nvPicPr>
            <p:cNvPr id="128004" name="Picture 5" descr="deg_graph"/>
            <p:cNvPicPr>
              <a:picLocks noChangeAspect="1" noChangeArrowheads="1"/>
            </p:cNvPicPr>
            <p:nvPr/>
          </p:nvPicPr>
          <p:blipFill>
            <a:blip r:embed="rId3"/>
            <a:srcRect t="2519" r="1724"/>
            <a:stretch>
              <a:fillRect/>
            </a:stretch>
          </p:blipFill>
          <p:spPr bwMode="auto">
            <a:xfrm>
              <a:off x="276" y="1007"/>
              <a:ext cx="4576" cy="3109"/>
            </a:xfrm>
            <a:prstGeom prst="rect">
              <a:avLst/>
            </a:prstGeom>
            <a:noFill/>
            <a:ln w="9525">
              <a:noFill/>
              <a:miter lim="800000"/>
              <a:headEnd/>
              <a:tailEnd/>
            </a:ln>
          </p:spPr>
        </p:pic>
        <p:sp>
          <p:nvSpPr>
            <p:cNvPr id="128005" name="Freeform 6"/>
            <p:cNvSpPr>
              <a:spLocks/>
            </p:cNvSpPr>
            <p:nvPr/>
          </p:nvSpPr>
          <p:spPr bwMode="auto">
            <a:xfrm>
              <a:off x="920" y="1204"/>
              <a:ext cx="3116" cy="1825"/>
            </a:xfrm>
            <a:custGeom>
              <a:avLst/>
              <a:gdLst>
                <a:gd name="T0" fmla="*/ 0 w 3116"/>
                <a:gd name="T1" fmla="*/ 1799 h 1825"/>
                <a:gd name="T2" fmla="*/ 264 w 3116"/>
                <a:gd name="T3" fmla="*/ 1787 h 1825"/>
                <a:gd name="T4" fmla="*/ 276 w 3116"/>
                <a:gd name="T5" fmla="*/ 1683 h 1825"/>
                <a:gd name="T6" fmla="*/ 292 w 3116"/>
                <a:gd name="T7" fmla="*/ 1555 h 1825"/>
                <a:gd name="T8" fmla="*/ 312 w 3116"/>
                <a:gd name="T9" fmla="*/ 1379 h 1825"/>
                <a:gd name="T10" fmla="*/ 324 w 3116"/>
                <a:gd name="T11" fmla="*/ 1207 h 1825"/>
                <a:gd name="T12" fmla="*/ 352 w 3116"/>
                <a:gd name="T13" fmla="*/ 1131 h 1825"/>
                <a:gd name="T14" fmla="*/ 336 w 3116"/>
                <a:gd name="T15" fmla="*/ 967 h 1825"/>
                <a:gd name="T16" fmla="*/ 340 w 3116"/>
                <a:gd name="T17" fmla="*/ 643 h 1825"/>
                <a:gd name="T18" fmla="*/ 344 w 3116"/>
                <a:gd name="T19" fmla="*/ 407 h 1825"/>
                <a:gd name="T20" fmla="*/ 360 w 3116"/>
                <a:gd name="T21" fmla="*/ 335 h 1825"/>
                <a:gd name="T22" fmla="*/ 364 w 3116"/>
                <a:gd name="T23" fmla="*/ 323 h 1825"/>
                <a:gd name="T24" fmla="*/ 368 w 3116"/>
                <a:gd name="T25" fmla="*/ 243 h 1825"/>
                <a:gd name="T26" fmla="*/ 376 w 3116"/>
                <a:gd name="T27" fmla="*/ 219 h 1825"/>
                <a:gd name="T28" fmla="*/ 384 w 3116"/>
                <a:gd name="T29" fmla="*/ 55 h 1825"/>
                <a:gd name="T30" fmla="*/ 392 w 3116"/>
                <a:gd name="T31" fmla="*/ 287 h 1825"/>
                <a:gd name="T32" fmla="*/ 396 w 3116"/>
                <a:gd name="T33" fmla="*/ 395 h 1825"/>
                <a:gd name="T34" fmla="*/ 400 w 3116"/>
                <a:gd name="T35" fmla="*/ 487 h 1825"/>
                <a:gd name="T36" fmla="*/ 408 w 3116"/>
                <a:gd name="T37" fmla="*/ 511 h 1825"/>
                <a:gd name="T38" fmla="*/ 392 w 3116"/>
                <a:gd name="T39" fmla="*/ 903 h 1825"/>
                <a:gd name="T40" fmla="*/ 412 w 3116"/>
                <a:gd name="T41" fmla="*/ 1019 h 1825"/>
                <a:gd name="T42" fmla="*/ 428 w 3116"/>
                <a:gd name="T43" fmla="*/ 863 h 1825"/>
                <a:gd name="T44" fmla="*/ 432 w 3116"/>
                <a:gd name="T45" fmla="*/ 571 h 1825"/>
                <a:gd name="T46" fmla="*/ 444 w 3116"/>
                <a:gd name="T47" fmla="*/ 731 h 1825"/>
                <a:gd name="T48" fmla="*/ 448 w 3116"/>
                <a:gd name="T49" fmla="*/ 831 h 1825"/>
                <a:gd name="T50" fmla="*/ 456 w 3116"/>
                <a:gd name="T51" fmla="*/ 855 h 1825"/>
                <a:gd name="T52" fmla="*/ 488 w 3116"/>
                <a:gd name="T53" fmla="*/ 1043 h 1825"/>
                <a:gd name="T54" fmla="*/ 492 w 3116"/>
                <a:gd name="T55" fmla="*/ 1155 h 1825"/>
                <a:gd name="T56" fmla="*/ 504 w 3116"/>
                <a:gd name="T57" fmla="*/ 1191 h 1825"/>
                <a:gd name="T58" fmla="*/ 508 w 3116"/>
                <a:gd name="T59" fmla="*/ 1283 h 1825"/>
                <a:gd name="T60" fmla="*/ 532 w 3116"/>
                <a:gd name="T61" fmla="*/ 1343 h 1825"/>
                <a:gd name="T62" fmla="*/ 572 w 3116"/>
                <a:gd name="T63" fmla="*/ 1483 h 1825"/>
                <a:gd name="T64" fmla="*/ 592 w 3116"/>
                <a:gd name="T65" fmla="*/ 1551 h 1825"/>
                <a:gd name="T66" fmla="*/ 612 w 3116"/>
                <a:gd name="T67" fmla="*/ 1627 h 1825"/>
                <a:gd name="T68" fmla="*/ 652 w 3116"/>
                <a:gd name="T69" fmla="*/ 1707 h 1825"/>
                <a:gd name="T70" fmla="*/ 688 w 3116"/>
                <a:gd name="T71" fmla="*/ 1731 h 1825"/>
                <a:gd name="T72" fmla="*/ 700 w 3116"/>
                <a:gd name="T73" fmla="*/ 1739 h 1825"/>
                <a:gd name="T74" fmla="*/ 720 w 3116"/>
                <a:gd name="T75" fmla="*/ 1811 h 1825"/>
                <a:gd name="T76" fmla="*/ 3116 w 3116"/>
                <a:gd name="T77" fmla="*/ 1823 h 182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3116"/>
                <a:gd name="T118" fmla="*/ 0 h 1825"/>
                <a:gd name="T119" fmla="*/ 3116 w 3116"/>
                <a:gd name="T120" fmla="*/ 1825 h 182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3116" h="1825">
                  <a:moveTo>
                    <a:pt x="0" y="1799"/>
                  </a:moveTo>
                  <a:cubicBezTo>
                    <a:pt x="87" y="1782"/>
                    <a:pt x="180" y="1815"/>
                    <a:pt x="264" y="1787"/>
                  </a:cubicBezTo>
                  <a:cubicBezTo>
                    <a:pt x="275" y="1753"/>
                    <a:pt x="265" y="1717"/>
                    <a:pt x="276" y="1683"/>
                  </a:cubicBezTo>
                  <a:cubicBezTo>
                    <a:pt x="277" y="1653"/>
                    <a:pt x="270" y="1587"/>
                    <a:pt x="292" y="1555"/>
                  </a:cubicBezTo>
                  <a:cubicBezTo>
                    <a:pt x="300" y="1497"/>
                    <a:pt x="293" y="1435"/>
                    <a:pt x="312" y="1379"/>
                  </a:cubicBezTo>
                  <a:cubicBezTo>
                    <a:pt x="314" y="1337"/>
                    <a:pt x="309" y="1252"/>
                    <a:pt x="324" y="1207"/>
                  </a:cubicBezTo>
                  <a:cubicBezTo>
                    <a:pt x="327" y="1165"/>
                    <a:pt x="315" y="1143"/>
                    <a:pt x="352" y="1131"/>
                  </a:cubicBezTo>
                  <a:cubicBezTo>
                    <a:pt x="280" y="1117"/>
                    <a:pt x="333" y="1134"/>
                    <a:pt x="336" y="967"/>
                  </a:cubicBezTo>
                  <a:cubicBezTo>
                    <a:pt x="338" y="859"/>
                    <a:pt x="338" y="751"/>
                    <a:pt x="340" y="643"/>
                  </a:cubicBezTo>
                  <a:cubicBezTo>
                    <a:pt x="341" y="564"/>
                    <a:pt x="342" y="486"/>
                    <a:pt x="344" y="407"/>
                  </a:cubicBezTo>
                  <a:cubicBezTo>
                    <a:pt x="345" y="380"/>
                    <a:pt x="352" y="360"/>
                    <a:pt x="360" y="335"/>
                  </a:cubicBezTo>
                  <a:cubicBezTo>
                    <a:pt x="361" y="331"/>
                    <a:pt x="364" y="323"/>
                    <a:pt x="364" y="323"/>
                  </a:cubicBezTo>
                  <a:cubicBezTo>
                    <a:pt x="365" y="296"/>
                    <a:pt x="365" y="270"/>
                    <a:pt x="368" y="243"/>
                  </a:cubicBezTo>
                  <a:cubicBezTo>
                    <a:pt x="369" y="235"/>
                    <a:pt x="376" y="219"/>
                    <a:pt x="376" y="219"/>
                  </a:cubicBezTo>
                  <a:cubicBezTo>
                    <a:pt x="377" y="164"/>
                    <a:pt x="382" y="0"/>
                    <a:pt x="384" y="55"/>
                  </a:cubicBezTo>
                  <a:cubicBezTo>
                    <a:pt x="394" y="315"/>
                    <a:pt x="380" y="176"/>
                    <a:pt x="392" y="287"/>
                  </a:cubicBezTo>
                  <a:cubicBezTo>
                    <a:pt x="393" y="323"/>
                    <a:pt x="395" y="359"/>
                    <a:pt x="396" y="395"/>
                  </a:cubicBezTo>
                  <a:cubicBezTo>
                    <a:pt x="397" y="426"/>
                    <a:pt x="397" y="456"/>
                    <a:pt x="400" y="487"/>
                  </a:cubicBezTo>
                  <a:cubicBezTo>
                    <a:pt x="401" y="495"/>
                    <a:pt x="408" y="511"/>
                    <a:pt x="408" y="511"/>
                  </a:cubicBezTo>
                  <a:cubicBezTo>
                    <a:pt x="417" y="643"/>
                    <a:pt x="433" y="779"/>
                    <a:pt x="392" y="903"/>
                  </a:cubicBezTo>
                  <a:cubicBezTo>
                    <a:pt x="393" y="921"/>
                    <a:pt x="386" y="1010"/>
                    <a:pt x="412" y="1019"/>
                  </a:cubicBezTo>
                  <a:cubicBezTo>
                    <a:pt x="442" y="973"/>
                    <a:pt x="411" y="914"/>
                    <a:pt x="428" y="863"/>
                  </a:cubicBezTo>
                  <a:cubicBezTo>
                    <a:pt x="432" y="758"/>
                    <a:pt x="435" y="679"/>
                    <a:pt x="432" y="571"/>
                  </a:cubicBezTo>
                  <a:cubicBezTo>
                    <a:pt x="416" y="620"/>
                    <a:pt x="432" y="681"/>
                    <a:pt x="444" y="731"/>
                  </a:cubicBezTo>
                  <a:cubicBezTo>
                    <a:pt x="445" y="764"/>
                    <a:pt x="445" y="798"/>
                    <a:pt x="448" y="831"/>
                  </a:cubicBezTo>
                  <a:cubicBezTo>
                    <a:pt x="449" y="839"/>
                    <a:pt x="456" y="855"/>
                    <a:pt x="456" y="855"/>
                  </a:cubicBezTo>
                  <a:cubicBezTo>
                    <a:pt x="459" y="936"/>
                    <a:pt x="448" y="983"/>
                    <a:pt x="488" y="1043"/>
                  </a:cubicBezTo>
                  <a:cubicBezTo>
                    <a:pt x="489" y="1080"/>
                    <a:pt x="489" y="1118"/>
                    <a:pt x="492" y="1155"/>
                  </a:cubicBezTo>
                  <a:cubicBezTo>
                    <a:pt x="493" y="1168"/>
                    <a:pt x="504" y="1191"/>
                    <a:pt x="504" y="1191"/>
                  </a:cubicBezTo>
                  <a:cubicBezTo>
                    <a:pt x="505" y="1222"/>
                    <a:pt x="505" y="1252"/>
                    <a:pt x="508" y="1283"/>
                  </a:cubicBezTo>
                  <a:cubicBezTo>
                    <a:pt x="510" y="1307"/>
                    <a:pt x="527" y="1321"/>
                    <a:pt x="532" y="1343"/>
                  </a:cubicBezTo>
                  <a:cubicBezTo>
                    <a:pt x="544" y="1393"/>
                    <a:pt x="549" y="1436"/>
                    <a:pt x="572" y="1483"/>
                  </a:cubicBezTo>
                  <a:cubicBezTo>
                    <a:pt x="575" y="1515"/>
                    <a:pt x="567" y="1534"/>
                    <a:pt x="592" y="1551"/>
                  </a:cubicBezTo>
                  <a:cubicBezTo>
                    <a:pt x="596" y="1577"/>
                    <a:pt x="604" y="1602"/>
                    <a:pt x="612" y="1627"/>
                  </a:cubicBezTo>
                  <a:cubicBezTo>
                    <a:pt x="616" y="1665"/>
                    <a:pt x="619" y="1687"/>
                    <a:pt x="652" y="1707"/>
                  </a:cubicBezTo>
                  <a:cubicBezTo>
                    <a:pt x="664" y="1714"/>
                    <a:pt x="676" y="1723"/>
                    <a:pt x="688" y="1731"/>
                  </a:cubicBezTo>
                  <a:cubicBezTo>
                    <a:pt x="692" y="1734"/>
                    <a:pt x="700" y="1739"/>
                    <a:pt x="700" y="1739"/>
                  </a:cubicBezTo>
                  <a:cubicBezTo>
                    <a:pt x="711" y="1762"/>
                    <a:pt x="712" y="1787"/>
                    <a:pt x="720" y="1811"/>
                  </a:cubicBezTo>
                  <a:cubicBezTo>
                    <a:pt x="1123" y="1825"/>
                    <a:pt x="2717" y="1821"/>
                    <a:pt x="3116" y="1823"/>
                  </a:cubicBezTo>
                </a:path>
              </a:pathLst>
            </a:custGeom>
            <a:noFill/>
            <a:ln w="38100" cmpd="sng">
              <a:solidFill>
                <a:srgbClr val="9999FF"/>
              </a:solidFill>
              <a:round/>
              <a:headEnd/>
              <a:tailEnd/>
            </a:ln>
          </p:spPr>
          <p:txBody>
            <a:bodyPr/>
            <a:lstStyle/>
            <a:p>
              <a:endParaRPr lang="en-US"/>
            </a:p>
          </p:txBody>
        </p:sp>
        <p:sp>
          <p:nvSpPr>
            <p:cNvPr id="128006" name="Line 7"/>
            <p:cNvSpPr>
              <a:spLocks noChangeShapeType="1"/>
            </p:cNvSpPr>
            <p:nvPr/>
          </p:nvSpPr>
          <p:spPr bwMode="auto">
            <a:xfrm>
              <a:off x="2292" y="1371"/>
              <a:ext cx="144" cy="0"/>
            </a:xfrm>
            <a:prstGeom prst="line">
              <a:avLst/>
            </a:prstGeom>
            <a:noFill/>
            <a:ln w="38100">
              <a:solidFill>
                <a:srgbClr val="9999FF"/>
              </a:solidFill>
              <a:round/>
              <a:headEnd/>
              <a:tailEnd/>
            </a:ln>
          </p:spPr>
          <p:txBody>
            <a:bodyPr/>
            <a:lstStyle/>
            <a:p>
              <a:endParaRPr lang="en-US"/>
            </a:p>
          </p:txBody>
        </p:sp>
        <p:sp>
          <p:nvSpPr>
            <p:cNvPr id="128007" name="Freeform 8"/>
            <p:cNvSpPr>
              <a:spLocks/>
            </p:cNvSpPr>
            <p:nvPr/>
          </p:nvSpPr>
          <p:spPr bwMode="auto">
            <a:xfrm>
              <a:off x="900" y="2243"/>
              <a:ext cx="3120" cy="851"/>
            </a:xfrm>
            <a:custGeom>
              <a:avLst/>
              <a:gdLst>
                <a:gd name="T0" fmla="*/ 0 w 3120"/>
                <a:gd name="T1" fmla="*/ 748 h 851"/>
                <a:gd name="T2" fmla="*/ 328 w 3120"/>
                <a:gd name="T3" fmla="*/ 716 h 851"/>
                <a:gd name="T4" fmla="*/ 344 w 3120"/>
                <a:gd name="T5" fmla="*/ 692 h 851"/>
                <a:gd name="T6" fmla="*/ 384 w 3120"/>
                <a:gd name="T7" fmla="*/ 720 h 851"/>
                <a:gd name="T8" fmla="*/ 464 w 3120"/>
                <a:gd name="T9" fmla="*/ 756 h 851"/>
                <a:gd name="T10" fmla="*/ 504 w 3120"/>
                <a:gd name="T11" fmla="*/ 756 h 851"/>
                <a:gd name="T12" fmla="*/ 520 w 3120"/>
                <a:gd name="T13" fmla="*/ 720 h 851"/>
                <a:gd name="T14" fmla="*/ 524 w 3120"/>
                <a:gd name="T15" fmla="*/ 708 h 851"/>
                <a:gd name="T16" fmla="*/ 536 w 3120"/>
                <a:gd name="T17" fmla="*/ 628 h 851"/>
                <a:gd name="T18" fmla="*/ 552 w 3120"/>
                <a:gd name="T19" fmla="*/ 592 h 851"/>
                <a:gd name="T20" fmla="*/ 556 w 3120"/>
                <a:gd name="T21" fmla="*/ 476 h 851"/>
                <a:gd name="T22" fmla="*/ 564 w 3120"/>
                <a:gd name="T23" fmla="*/ 452 h 851"/>
                <a:gd name="T24" fmla="*/ 592 w 3120"/>
                <a:gd name="T25" fmla="*/ 320 h 851"/>
                <a:gd name="T26" fmla="*/ 600 w 3120"/>
                <a:gd name="T27" fmla="*/ 296 h 851"/>
                <a:gd name="T28" fmla="*/ 604 w 3120"/>
                <a:gd name="T29" fmla="*/ 284 h 851"/>
                <a:gd name="T30" fmla="*/ 612 w 3120"/>
                <a:gd name="T31" fmla="*/ 196 h 851"/>
                <a:gd name="T32" fmla="*/ 644 w 3120"/>
                <a:gd name="T33" fmla="*/ 164 h 851"/>
                <a:gd name="T34" fmla="*/ 672 w 3120"/>
                <a:gd name="T35" fmla="*/ 84 h 851"/>
                <a:gd name="T36" fmla="*/ 708 w 3120"/>
                <a:gd name="T37" fmla="*/ 8 h 851"/>
                <a:gd name="T38" fmla="*/ 740 w 3120"/>
                <a:gd name="T39" fmla="*/ 48 h 851"/>
                <a:gd name="T40" fmla="*/ 780 w 3120"/>
                <a:gd name="T41" fmla="*/ 0 h 851"/>
                <a:gd name="T42" fmla="*/ 812 w 3120"/>
                <a:gd name="T43" fmla="*/ 56 h 851"/>
                <a:gd name="T44" fmla="*/ 844 w 3120"/>
                <a:gd name="T45" fmla="*/ 192 h 851"/>
                <a:gd name="T46" fmla="*/ 860 w 3120"/>
                <a:gd name="T47" fmla="*/ 228 h 851"/>
                <a:gd name="T48" fmla="*/ 864 w 3120"/>
                <a:gd name="T49" fmla="*/ 284 h 851"/>
                <a:gd name="T50" fmla="*/ 892 w 3120"/>
                <a:gd name="T51" fmla="*/ 332 h 851"/>
                <a:gd name="T52" fmla="*/ 928 w 3120"/>
                <a:gd name="T53" fmla="*/ 472 h 851"/>
                <a:gd name="T54" fmla="*/ 960 w 3120"/>
                <a:gd name="T55" fmla="*/ 544 h 851"/>
                <a:gd name="T56" fmla="*/ 976 w 3120"/>
                <a:gd name="T57" fmla="*/ 568 h 851"/>
                <a:gd name="T58" fmla="*/ 980 w 3120"/>
                <a:gd name="T59" fmla="*/ 580 h 851"/>
                <a:gd name="T60" fmla="*/ 1080 w 3120"/>
                <a:gd name="T61" fmla="*/ 680 h 851"/>
                <a:gd name="T62" fmla="*/ 1132 w 3120"/>
                <a:gd name="T63" fmla="*/ 712 h 851"/>
                <a:gd name="T64" fmla="*/ 1172 w 3120"/>
                <a:gd name="T65" fmla="*/ 708 h 851"/>
                <a:gd name="T66" fmla="*/ 1176 w 3120"/>
                <a:gd name="T67" fmla="*/ 696 h 851"/>
                <a:gd name="T68" fmla="*/ 1216 w 3120"/>
                <a:gd name="T69" fmla="*/ 716 h 851"/>
                <a:gd name="T70" fmla="*/ 1516 w 3120"/>
                <a:gd name="T71" fmla="*/ 756 h 851"/>
                <a:gd name="T72" fmla="*/ 1664 w 3120"/>
                <a:gd name="T73" fmla="*/ 776 h 851"/>
                <a:gd name="T74" fmla="*/ 1736 w 3120"/>
                <a:gd name="T75" fmla="*/ 792 h 851"/>
                <a:gd name="T76" fmla="*/ 3120 w 3120"/>
                <a:gd name="T77" fmla="*/ 796 h 85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3120"/>
                <a:gd name="T118" fmla="*/ 0 h 851"/>
                <a:gd name="T119" fmla="*/ 3120 w 3120"/>
                <a:gd name="T120" fmla="*/ 851 h 85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3120" h="851">
                  <a:moveTo>
                    <a:pt x="0" y="748"/>
                  </a:moveTo>
                  <a:cubicBezTo>
                    <a:pt x="394" y="743"/>
                    <a:pt x="303" y="851"/>
                    <a:pt x="328" y="716"/>
                  </a:cubicBezTo>
                  <a:cubicBezTo>
                    <a:pt x="332" y="696"/>
                    <a:pt x="329" y="702"/>
                    <a:pt x="344" y="692"/>
                  </a:cubicBezTo>
                  <a:cubicBezTo>
                    <a:pt x="364" y="699"/>
                    <a:pt x="357" y="711"/>
                    <a:pt x="384" y="720"/>
                  </a:cubicBezTo>
                  <a:cubicBezTo>
                    <a:pt x="399" y="765"/>
                    <a:pt x="405" y="752"/>
                    <a:pt x="464" y="756"/>
                  </a:cubicBezTo>
                  <a:cubicBezTo>
                    <a:pt x="479" y="760"/>
                    <a:pt x="488" y="764"/>
                    <a:pt x="504" y="756"/>
                  </a:cubicBezTo>
                  <a:cubicBezTo>
                    <a:pt x="512" y="752"/>
                    <a:pt x="519" y="722"/>
                    <a:pt x="520" y="720"/>
                  </a:cubicBezTo>
                  <a:cubicBezTo>
                    <a:pt x="521" y="716"/>
                    <a:pt x="524" y="708"/>
                    <a:pt x="524" y="708"/>
                  </a:cubicBezTo>
                  <a:cubicBezTo>
                    <a:pt x="529" y="644"/>
                    <a:pt x="522" y="670"/>
                    <a:pt x="536" y="628"/>
                  </a:cubicBezTo>
                  <a:cubicBezTo>
                    <a:pt x="540" y="616"/>
                    <a:pt x="552" y="592"/>
                    <a:pt x="552" y="592"/>
                  </a:cubicBezTo>
                  <a:cubicBezTo>
                    <a:pt x="553" y="553"/>
                    <a:pt x="553" y="515"/>
                    <a:pt x="556" y="476"/>
                  </a:cubicBezTo>
                  <a:cubicBezTo>
                    <a:pt x="557" y="468"/>
                    <a:pt x="564" y="452"/>
                    <a:pt x="564" y="452"/>
                  </a:cubicBezTo>
                  <a:cubicBezTo>
                    <a:pt x="566" y="405"/>
                    <a:pt x="549" y="349"/>
                    <a:pt x="592" y="320"/>
                  </a:cubicBezTo>
                  <a:cubicBezTo>
                    <a:pt x="595" y="312"/>
                    <a:pt x="597" y="304"/>
                    <a:pt x="600" y="296"/>
                  </a:cubicBezTo>
                  <a:cubicBezTo>
                    <a:pt x="601" y="292"/>
                    <a:pt x="604" y="284"/>
                    <a:pt x="604" y="284"/>
                  </a:cubicBezTo>
                  <a:cubicBezTo>
                    <a:pt x="607" y="255"/>
                    <a:pt x="606" y="225"/>
                    <a:pt x="612" y="196"/>
                  </a:cubicBezTo>
                  <a:cubicBezTo>
                    <a:pt x="614" y="184"/>
                    <a:pt x="636" y="172"/>
                    <a:pt x="644" y="164"/>
                  </a:cubicBezTo>
                  <a:cubicBezTo>
                    <a:pt x="653" y="137"/>
                    <a:pt x="656" y="108"/>
                    <a:pt x="672" y="84"/>
                  </a:cubicBezTo>
                  <a:cubicBezTo>
                    <a:pt x="676" y="52"/>
                    <a:pt x="680" y="27"/>
                    <a:pt x="708" y="8"/>
                  </a:cubicBezTo>
                  <a:cubicBezTo>
                    <a:pt x="726" y="20"/>
                    <a:pt x="722" y="36"/>
                    <a:pt x="740" y="48"/>
                  </a:cubicBezTo>
                  <a:cubicBezTo>
                    <a:pt x="762" y="34"/>
                    <a:pt x="754" y="9"/>
                    <a:pt x="780" y="0"/>
                  </a:cubicBezTo>
                  <a:cubicBezTo>
                    <a:pt x="818" y="6"/>
                    <a:pt x="808" y="15"/>
                    <a:pt x="812" y="56"/>
                  </a:cubicBezTo>
                  <a:cubicBezTo>
                    <a:pt x="814" y="114"/>
                    <a:pt x="797" y="161"/>
                    <a:pt x="844" y="192"/>
                  </a:cubicBezTo>
                  <a:cubicBezTo>
                    <a:pt x="851" y="203"/>
                    <a:pt x="860" y="228"/>
                    <a:pt x="860" y="228"/>
                  </a:cubicBezTo>
                  <a:cubicBezTo>
                    <a:pt x="861" y="247"/>
                    <a:pt x="862" y="265"/>
                    <a:pt x="864" y="284"/>
                  </a:cubicBezTo>
                  <a:cubicBezTo>
                    <a:pt x="866" y="302"/>
                    <a:pt x="886" y="314"/>
                    <a:pt x="892" y="332"/>
                  </a:cubicBezTo>
                  <a:cubicBezTo>
                    <a:pt x="896" y="395"/>
                    <a:pt x="904" y="419"/>
                    <a:pt x="928" y="472"/>
                  </a:cubicBezTo>
                  <a:cubicBezTo>
                    <a:pt x="939" y="497"/>
                    <a:pt x="944" y="521"/>
                    <a:pt x="960" y="544"/>
                  </a:cubicBezTo>
                  <a:cubicBezTo>
                    <a:pt x="969" y="581"/>
                    <a:pt x="956" y="543"/>
                    <a:pt x="976" y="568"/>
                  </a:cubicBezTo>
                  <a:cubicBezTo>
                    <a:pt x="979" y="571"/>
                    <a:pt x="978" y="576"/>
                    <a:pt x="980" y="580"/>
                  </a:cubicBezTo>
                  <a:cubicBezTo>
                    <a:pt x="1003" y="622"/>
                    <a:pt x="1033" y="664"/>
                    <a:pt x="1080" y="680"/>
                  </a:cubicBezTo>
                  <a:cubicBezTo>
                    <a:pt x="1096" y="696"/>
                    <a:pt x="1110" y="707"/>
                    <a:pt x="1132" y="712"/>
                  </a:cubicBezTo>
                  <a:cubicBezTo>
                    <a:pt x="1145" y="711"/>
                    <a:pt x="1159" y="713"/>
                    <a:pt x="1172" y="708"/>
                  </a:cubicBezTo>
                  <a:cubicBezTo>
                    <a:pt x="1176" y="707"/>
                    <a:pt x="1172" y="695"/>
                    <a:pt x="1176" y="696"/>
                  </a:cubicBezTo>
                  <a:cubicBezTo>
                    <a:pt x="1191" y="698"/>
                    <a:pt x="1202" y="712"/>
                    <a:pt x="1216" y="716"/>
                  </a:cubicBezTo>
                  <a:cubicBezTo>
                    <a:pt x="1292" y="767"/>
                    <a:pt x="1445" y="754"/>
                    <a:pt x="1516" y="756"/>
                  </a:cubicBezTo>
                  <a:cubicBezTo>
                    <a:pt x="1577" y="776"/>
                    <a:pt x="1581" y="773"/>
                    <a:pt x="1664" y="776"/>
                  </a:cubicBezTo>
                  <a:cubicBezTo>
                    <a:pt x="1692" y="783"/>
                    <a:pt x="1706" y="792"/>
                    <a:pt x="1736" y="792"/>
                  </a:cubicBezTo>
                  <a:lnTo>
                    <a:pt x="3120" y="796"/>
                  </a:lnTo>
                </a:path>
              </a:pathLst>
            </a:custGeom>
            <a:noFill/>
            <a:ln w="38100" cmpd="sng">
              <a:solidFill>
                <a:srgbClr val="FF9933"/>
              </a:solidFill>
              <a:round/>
              <a:headEnd/>
              <a:tailEnd/>
            </a:ln>
          </p:spPr>
          <p:txBody>
            <a:bodyPr/>
            <a:lstStyle/>
            <a:p>
              <a:endParaRPr lang="en-US"/>
            </a:p>
          </p:txBody>
        </p:sp>
        <p:sp>
          <p:nvSpPr>
            <p:cNvPr id="128008" name="Line 9"/>
            <p:cNvSpPr>
              <a:spLocks noChangeShapeType="1"/>
            </p:cNvSpPr>
            <p:nvPr/>
          </p:nvSpPr>
          <p:spPr bwMode="auto">
            <a:xfrm>
              <a:off x="2292" y="1479"/>
              <a:ext cx="144" cy="0"/>
            </a:xfrm>
            <a:prstGeom prst="line">
              <a:avLst/>
            </a:prstGeom>
            <a:noFill/>
            <a:ln w="38100">
              <a:solidFill>
                <a:srgbClr val="FF9933"/>
              </a:solidFill>
              <a:round/>
              <a:headEnd/>
              <a:tailEnd/>
            </a:ln>
          </p:spPr>
          <p:txBody>
            <a:bodyPr/>
            <a:lstStyle/>
            <a:p>
              <a:endParaRPr lang="en-US"/>
            </a:p>
          </p:txBody>
        </p:sp>
        <p:sp>
          <p:nvSpPr>
            <p:cNvPr id="128009" name="Freeform 10"/>
            <p:cNvSpPr>
              <a:spLocks/>
            </p:cNvSpPr>
            <p:nvPr/>
          </p:nvSpPr>
          <p:spPr bwMode="auto">
            <a:xfrm>
              <a:off x="920" y="2539"/>
              <a:ext cx="3124" cy="472"/>
            </a:xfrm>
            <a:custGeom>
              <a:avLst/>
              <a:gdLst>
                <a:gd name="T0" fmla="*/ 0 w 3124"/>
                <a:gd name="T1" fmla="*/ 472 h 472"/>
                <a:gd name="T2" fmla="*/ 632 w 3124"/>
                <a:gd name="T3" fmla="*/ 460 h 472"/>
                <a:gd name="T4" fmla="*/ 832 w 3124"/>
                <a:gd name="T5" fmla="*/ 444 h 472"/>
                <a:gd name="T6" fmla="*/ 872 w 3124"/>
                <a:gd name="T7" fmla="*/ 424 h 472"/>
                <a:gd name="T8" fmla="*/ 900 w 3124"/>
                <a:gd name="T9" fmla="*/ 364 h 472"/>
                <a:gd name="T10" fmla="*/ 916 w 3124"/>
                <a:gd name="T11" fmla="*/ 292 h 472"/>
                <a:gd name="T12" fmla="*/ 940 w 3124"/>
                <a:gd name="T13" fmla="*/ 240 h 472"/>
                <a:gd name="T14" fmla="*/ 968 w 3124"/>
                <a:gd name="T15" fmla="*/ 168 h 472"/>
                <a:gd name="T16" fmla="*/ 1008 w 3124"/>
                <a:gd name="T17" fmla="*/ 116 h 472"/>
                <a:gd name="T18" fmla="*/ 1032 w 3124"/>
                <a:gd name="T19" fmla="*/ 60 h 472"/>
                <a:gd name="T20" fmla="*/ 1068 w 3124"/>
                <a:gd name="T21" fmla="*/ 24 h 472"/>
                <a:gd name="T22" fmla="*/ 1104 w 3124"/>
                <a:gd name="T23" fmla="*/ 0 h 472"/>
                <a:gd name="T24" fmla="*/ 1120 w 3124"/>
                <a:gd name="T25" fmla="*/ 28 h 472"/>
                <a:gd name="T26" fmla="*/ 1128 w 3124"/>
                <a:gd name="T27" fmla="*/ 80 h 472"/>
                <a:gd name="T28" fmla="*/ 1200 w 3124"/>
                <a:gd name="T29" fmla="*/ 104 h 472"/>
                <a:gd name="T30" fmla="*/ 1252 w 3124"/>
                <a:gd name="T31" fmla="*/ 124 h 472"/>
                <a:gd name="T32" fmla="*/ 1296 w 3124"/>
                <a:gd name="T33" fmla="*/ 104 h 472"/>
                <a:gd name="T34" fmla="*/ 1336 w 3124"/>
                <a:gd name="T35" fmla="*/ 104 h 472"/>
                <a:gd name="T36" fmla="*/ 1352 w 3124"/>
                <a:gd name="T37" fmla="*/ 264 h 472"/>
                <a:gd name="T38" fmla="*/ 1420 w 3124"/>
                <a:gd name="T39" fmla="*/ 248 h 472"/>
                <a:gd name="T40" fmla="*/ 1488 w 3124"/>
                <a:gd name="T41" fmla="*/ 196 h 472"/>
                <a:gd name="T42" fmla="*/ 1512 w 3124"/>
                <a:gd name="T43" fmla="*/ 288 h 472"/>
                <a:gd name="T44" fmla="*/ 1576 w 3124"/>
                <a:gd name="T45" fmla="*/ 340 h 472"/>
                <a:gd name="T46" fmla="*/ 1604 w 3124"/>
                <a:gd name="T47" fmla="*/ 380 h 472"/>
                <a:gd name="T48" fmla="*/ 1716 w 3124"/>
                <a:gd name="T49" fmla="*/ 388 h 472"/>
                <a:gd name="T50" fmla="*/ 1832 w 3124"/>
                <a:gd name="T51" fmla="*/ 420 h 472"/>
                <a:gd name="T52" fmla="*/ 2008 w 3124"/>
                <a:gd name="T53" fmla="*/ 440 h 472"/>
                <a:gd name="T54" fmla="*/ 2236 w 3124"/>
                <a:gd name="T55" fmla="*/ 432 h 472"/>
                <a:gd name="T56" fmla="*/ 2328 w 3124"/>
                <a:gd name="T57" fmla="*/ 444 h 472"/>
                <a:gd name="T58" fmla="*/ 2396 w 3124"/>
                <a:gd name="T59" fmla="*/ 396 h 472"/>
                <a:gd name="T60" fmla="*/ 2480 w 3124"/>
                <a:gd name="T61" fmla="*/ 400 h 472"/>
                <a:gd name="T62" fmla="*/ 2596 w 3124"/>
                <a:gd name="T63" fmla="*/ 416 h 472"/>
                <a:gd name="T64" fmla="*/ 2712 w 3124"/>
                <a:gd name="T65" fmla="*/ 456 h 472"/>
                <a:gd name="T66" fmla="*/ 2760 w 3124"/>
                <a:gd name="T67" fmla="*/ 432 h 472"/>
                <a:gd name="T68" fmla="*/ 2852 w 3124"/>
                <a:gd name="T69" fmla="*/ 436 h 472"/>
                <a:gd name="T70" fmla="*/ 3124 w 3124"/>
                <a:gd name="T71" fmla="*/ 444 h 47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124"/>
                <a:gd name="T109" fmla="*/ 0 h 472"/>
                <a:gd name="T110" fmla="*/ 3124 w 3124"/>
                <a:gd name="T111" fmla="*/ 472 h 47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124" h="472">
                  <a:moveTo>
                    <a:pt x="0" y="472"/>
                  </a:moveTo>
                  <a:lnTo>
                    <a:pt x="632" y="460"/>
                  </a:lnTo>
                  <a:lnTo>
                    <a:pt x="832" y="444"/>
                  </a:lnTo>
                  <a:lnTo>
                    <a:pt x="872" y="424"/>
                  </a:lnTo>
                  <a:lnTo>
                    <a:pt x="900" y="364"/>
                  </a:lnTo>
                  <a:lnTo>
                    <a:pt x="916" y="292"/>
                  </a:lnTo>
                  <a:lnTo>
                    <a:pt x="940" y="240"/>
                  </a:lnTo>
                  <a:lnTo>
                    <a:pt x="968" y="168"/>
                  </a:lnTo>
                  <a:lnTo>
                    <a:pt x="1008" y="116"/>
                  </a:lnTo>
                  <a:lnTo>
                    <a:pt x="1032" y="60"/>
                  </a:lnTo>
                  <a:lnTo>
                    <a:pt x="1068" y="24"/>
                  </a:lnTo>
                  <a:lnTo>
                    <a:pt x="1104" y="0"/>
                  </a:lnTo>
                  <a:lnTo>
                    <a:pt x="1120" y="28"/>
                  </a:lnTo>
                  <a:lnTo>
                    <a:pt x="1128" y="80"/>
                  </a:lnTo>
                  <a:lnTo>
                    <a:pt x="1200" y="104"/>
                  </a:lnTo>
                  <a:lnTo>
                    <a:pt x="1252" y="124"/>
                  </a:lnTo>
                  <a:lnTo>
                    <a:pt x="1296" y="104"/>
                  </a:lnTo>
                  <a:lnTo>
                    <a:pt x="1336" y="104"/>
                  </a:lnTo>
                  <a:lnTo>
                    <a:pt x="1352" y="264"/>
                  </a:lnTo>
                  <a:lnTo>
                    <a:pt x="1420" y="248"/>
                  </a:lnTo>
                  <a:lnTo>
                    <a:pt x="1488" y="196"/>
                  </a:lnTo>
                  <a:lnTo>
                    <a:pt x="1512" y="288"/>
                  </a:lnTo>
                  <a:lnTo>
                    <a:pt x="1576" y="340"/>
                  </a:lnTo>
                  <a:lnTo>
                    <a:pt x="1604" y="380"/>
                  </a:lnTo>
                  <a:lnTo>
                    <a:pt x="1716" y="388"/>
                  </a:lnTo>
                  <a:lnTo>
                    <a:pt x="1832" y="420"/>
                  </a:lnTo>
                  <a:lnTo>
                    <a:pt x="2008" y="440"/>
                  </a:lnTo>
                  <a:lnTo>
                    <a:pt x="2236" y="432"/>
                  </a:lnTo>
                  <a:lnTo>
                    <a:pt x="2328" y="444"/>
                  </a:lnTo>
                  <a:lnTo>
                    <a:pt x="2396" y="396"/>
                  </a:lnTo>
                  <a:lnTo>
                    <a:pt x="2480" y="400"/>
                  </a:lnTo>
                  <a:lnTo>
                    <a:pt x="2596" y="416"/>
                  </a:lnTo>
                  <a:lnTo>
                    <a:pt x="2712" y="456"/>
                  </a:lnTo>
                  <a:lnTo>
                    <a:pt x="2760" y="432"/>
                  </a:lnTo>
                  <a:lnTo>
                    <a:pt x="2852" y="436"/>
                  </a:lnTo>
                  <a:lnTo>
                    <a:pt x="3124" y="444"/>
                  </a:lnTo>
                </a:path>
              </a:pathLst>
            </a:custGeom>
            <a:noFill/>
            <a:ln w="38100" cmpd="sng">
              <a:solidFill>
                <a:srgbClr val="FF3300"/>
              </a:solidFill>
              <a:round/>
              <a:headEnd/>
              <a:tailEnd/>
            </a:ln>
          </p:spPr>
          <p:txBody>
            <a:bodyPr/>
            <a:lstStyle/>
            <a:p>
              <a:endParaRPr lang="en-US"/>
            </a:p>
          </p:txBody>
        </p:sp>
        <p:sp>
          <p:nvSpPr>
            <p:cNvPr id="128010" name="Line 11"/>
            <p:cNvSpPr>
              <a:spLocks noChangeShapeType="1"/>
            </p:cNvSpPr>
            <p:nvPr/>
          </p:nvSpPr>
          <p:spPr bwMode="auto">
            <a:xfrm>
              <a:off x="2300" y="1599"/>
              <a:ext cx="148" cy="0"/>
            </a:xfrm>
            <a:prstGeom prst="line">
              <a:avLst/>
            </a:prstGeom>
            <a:noFill/>
            <a:ln w="38100">
              <a:solidFill>
                <a:srgbClr val="FF3300"/>
              </a:solidFill>
              <a:round/>
              <a:headEnd/>
              <a:tailEnd/>
            </a:ln>
          </p:spPr>
          <p:txBody>
            <a:bodyPr/>
            <a:lstStyle/>
            <a:p>
              <a:endParaRPr lang="en-US"/>
            </a:p>
          </p:txBody>
        </p:sp>
      </p:grpSp>
      <p:sp>
        <p:nvSpPr>
          <p:cNvPr id="128003" name="Text Box 3"/>
          <p:cNvSpPr txBox="1">
            <a:spLocks noChangeArrowheads="1"/>
          </p:cNvSpPr>
          <p:nvPr/>
        </p:nvSpPr>
        <p:spPr bwMode="auto">
          <a:xfrm>
            <a:off x="5064125" y="6353175"/>
            <a:ext cx="2895600" cy="228600"/>
          </a:xfrm>
          <a:prstGeom prst="rect">
            <a:avLst/>
          </a:prstGeom>
          <a:noFill/>
          <a:ln w="9525">
            <a:noFill/>
            <a:miter lim="800000"/>
            <a:headEnd/>
            <a:tailEnd/>
          </a:ln>
        </p:spPr>
        <p:txBody>
          <a:bodyPr>
            <a:spAutoFit/>
          </a:bodyPr>
          <a:lstStyle/>
          <a:p>
            <a:pPr>
              <a:spcBef>
                <a:spcPct val="50000"/>
              </a:spcBef>
            </a:pPr>
            <a:r>
              <a:rPr lang="en-AU" sz="900" i="0">
                <a:solidFill>
                  <a:schemeClr val="tx1"/>
                </a:solidFill>
              </a:rPr>
              <a:t>From Fetter, 1999, Contaminant Hydrogeology</a:t>
            </a:r>
            <a:endParaRPr lang="en-US" sz="900" i="0">
              <a:solidFill>
                <a:schemeClr val="tx1"/>
              </a:solidFill>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0049" name="Group 21"/>
          <p:cNvGrpSpPr>
            <a:grpSpLocks/>
          </p:cNvGrpSpPr>
          <p:nvPr/>
        </p:nvGrpSpPr>
        <p:grpSpPr bwMode="auto">
          <a:xfrm>
            <a:off x="1289050" y="1339850"/>
            <a:ext cx="6851650" cy="5270500"/>
            <a:chOff x="276" y="820"/>
            <a:chExt cx="4316" cy="3320"/>
          </a:xfrm>
        </p:grpSpPr>
        <p:grpSp>
          <p:nvGrpSpPr>
            <p:cNvPr id="130052" name="Group 18"/>
            <p:cNvGrpSpPr>
              <a:grpSpLocks noChangeAspect="1"/>
            </p:cNvGrpSpPr>
            <p:nvPr/>
          </p:nvGrpSpPr>
          <p:grpSpPr bwMode="auto">
            <a:xfrm>
              <a:off x="276" y="820"/>
              <a:ext cx="2095" cy="3320"/>
              <a:chOff x="276" y="632"/>
              <a:chExt cx="2327" cy="3688"/>
            </a:xfrm>
          </p:grpSpPr>
          <p:pic>
            <p:nvPicPr>
              <p:cNvPr id="130059" name="Picture 4" descr="deg_plot"/>
              <p:cNvPicPr>
                <a:picLocks noChangeAspect="1" noChangeArrowheads="1"/>
              </p:cNvPicPr>
              <p:nvPr/>
            </p:nvPicPr>
            <p:blipFill>
              <a:blip r:embed="rId3"/>
              <a:srcRect l="3908" t="3030" r="4224" b="3056"/>
              <a:stretch>
                <a:fillRect/>
              </a:stretch>
            </p:blipFill>
            <p:spPr bwMode="auto">
              <a:xfrm>
                <a:off x="276" y="632"/>
                <a:ext cx="2327" cy="3688"/>
              </a:xfrm>
              <a:prstGeom prst="rect">
                <a:avLst/>
              </a:prstGeom>
              <a:noFill/>
              <a:ln w="9525">
                <a:noFill/>
                <a:miter lim="800000"/>
                <a:headEnd/>
                <a:tailEnd/>
              </a:ln>
            </p:spPr>
          </p:pic>
          <p:sp>
            <p:nvSpPr>
              <p:cNvPr id="130060" name="Freeform 5"/>
              <p:cNvSpPr>
                <a:spLocks noChangeAspect="1"/>
              </p:cNvSpPr>
              <p:nvPr/>
            </p:nvSpPr>
            <p:spPr bwMode="auto">
              <a:xfrm>
                <a:off x="1517" y="885"/>
                <a:ext cx="862" cy="1094"/>
              </a:xfrm>
              <a:custGeom>
                <a:avLst/>
                <a:gdLst>
                  <a:gd name="T0" fmla="*/ 48 w 747"/>
                  <a:gd name="T1" fmla="*/ 1022 h 918"/>
                  <a:gd name="T2" fmla="*/ 28 w 747"/>
                  <a:gd name="T3" fmla="*/ 955 h 918"/>
                  <a:gd name="T4" fmla="*/ 10 w 747"/>
                  <a:gd name="T5" fmla="*/ 901 h 918"/>
                  <a:gd name="T6" fmla="*/ 38 w 747"/>
                  <a:gd name="T7" fmla="*/ 840 h 918"/>
                  <a:gd name="T8" fmla="*/ 48 w 747"/>
                  <a:gd name="T9" fmla="*/ 797 h 918"/>
                  <a:gd name="T10" fmla="*/ 59 w 747"/>
                  <a:gd name="T11" fmla="*/ 744 h 918"/>
                  <a:gd name="T12" fmla="*/ 45 w 747"/>
                  <a:gd name="T13" fmla="*/ 686 h 918"/>
                  <a:gd name="T14" fmla="*/ 66 w 747"/>
                  <a:gd name="T15" fmla="*/ 615 h 918"/>
                  <a:gd name="T16" fmla="*/ 52 w 747"/>
                  <a:gd name="T17" fmla="*/ 551 h 918"/>
                  <a:gd name="T18" fmla="*/ 87 w 747"/>
                  <a:gd name="T19" fmla="*/ 526 h 918"/>
                  <a:gd name="T20" fmla="*/ 114 w 747"/>
                  <a:gd name="T21" fmla="*/ 440 h 918"/>
                  <a:gd name="T22" fmla="*/ 183 w 747"/>
                  <a:gd name="T23" fmla="*/ 329 h 918"/>
                  <a:gd name="T24" fmla="*/ 211 w 747"/>
                  <a:gd name="T25" fmla="*/ 240 h 918"/>
                  <a:gd name="T26" fmla="*/ 298 w 747"/>
                  <a:gd name="T27" fmla="*/ 193 h 918"/>
                  <a:gd name="T28" fmla="*/ 384 w 747"/>
                  <a:gd name="T29" fmla="*/ 136 h 918"/>
                  <a:gd name="T30" fmla="*/ 474 w 747"/>
                  <a:gd name="T31" fmla="*/ 72 h 918"/>
                  <a:gd name="T32" fmla="*/ 564 w 747"/>
                  <a:gd name="T33" fmla="*/ 21 h 918"/>
                  <a:gd name="T34" fmla="*/ 679 w 747"/>
                  <a:gd name="T35" fmla="*/ 21 h 918"/>
                  <a:gd name="T36" fmla="*/ 744 w 747"/>
                  <a:gd name="T37" fmla="*/ 0 h 918"/>
                  <a:gd name="T38" fmla="*/ 824 w 747"/>
                  <a:gd name="T39" fmla="*/ 14 h 918"/>
                  <a:gd name="T40" fmla="*/ 855 w 747"/>
                  <a:gd name="T41" fmla="*/ 100 h 918"/>
                  <a:gd name="T42" fmla="*/ 841 w 747"/>
                  <a:gd name="T43" fmla="*/ 157 h 918"/>
                  <a:gd name="T44" fmla="*/ 762 w 747"/>
                  <a:gd name="T45" fmla="*/ 204 h 918"/>
                  <a:gd name="T46" fmla="*/ 640 w 747"/>
                  <a:gd name="T47" fmla="*/ 336 h 918"/>
                  <a:gd name="T48" fmla="*/ 547 w 747"/>
                  <a:gd name="T49" fmla="*/ 529 h 918"/>
                  <a:gd name="T50" fmla="*/ 502 w 747"/>
                  <a:gd name="T51" fmla="*/ 608 h 918"/>
                  <a:gd name="T52" fmla="*/ 454 w 747"/>
                  <a:gd name="T53" fmla="*/ 719 h 918"/>
                  <a:gd name="T54" fmla="*/ 412 w 747"/>
                  <a:gd name="T55" fmla="*/ 787 h 918"/>
                  <a:gd name="T56" fmla="*/ 391 w 747"/>
                  <a:gd name="T57" fmla="*/ 872 h 918"/>
                  <a:gd name="T58" fmla="*/ 325 w 747"/>
                  <a:gd name="T59" fmla="*/ 930 h 918"/>
                  <a:gd name="T60" fmla="*/ 308 w 747"/>
                  <a:gd name="T61" fmla="*/ 1012 h 918"/>
                  <a:gd name="T62" fmla="*/ 242 w 747"/>
                  <a:gd name="T63" fmla="*/ 1058 h 918"/>
                  <a:gd name="T64" fmla="*/ 149 w 747"/>
                  <a:gd name="T65" fmla="*/ 1094 h 918"/>
                  <a:gd name="T66" fmla="*/ 59 w 747"/>
                  <a:gd name="T67" fmla="*/ 1069 h 91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747"/>
                  <a:gd name="T103" fmla="*/ 0 h 918"/>
                  <a:gd name="T104" fmla="*/ 747 w 747"/>
                  <a:gd name="T105" fmla="*/ 918 h 91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747" h="918">
                    <a:moveTo>
                      <a:pt x="30" y="888"/>
                    </a:moveTo>
                    <a:lnTo>
                      <a:pt x="42" y="858"/>
                    </a:lnTo>
                    <a:lnTo>
                      <a:pt x="36" y="816"/>
                    </a:lnTo>
                    <a:lnTo>
                      <a:pt x="24" y="801"/>
                    </a:lnTo>
                    <a:lnTo>
                      <a:pt x="0" y="801"/>
                    </a:lnTo>
                    <a:lnTo>
                      <a:pt x="9" y="756"/>
                    </a:lnTo>
                    <a:lnTo>
                      <a:pt x="12" y="726"/>
                    </a:lnTo>
                    <a:lnTo>
                      <a:pt x="33" y="705"/>
                    </a:lnTo>
                    <a:lnTo>
                      <a:pt x="45" y="690"/>
                    </a:lnTo>
                    <a:lnTo>
                      <a:pt x="42" y="669"/>
                    </a:lnTo>
                    <a:lnTo>
                      <a:pt x="48" y="642"/>
                    </a:lnTo>
                    <a:lnTo>
                      <a:pt x="51" y="624"/>
                    </a:lnTo>
                    <a:lnTo>
                      <a:pt x="36" y="603"/>
                    </a:lnTo>
                    <a:lnTo>
                      <a:pt x="39" y="576"/>
                    </a:lnTo>
                    <a:lnTo>
                      <a:pt x="39" y="534"/>
                    </a:lnTo>
                    <a:lnTo>
                      <a:pt x="57" y="516"/>
                    </a:lnTo>
                    <a:lnTo>
                      <a:pt x="75" y="492"/>
                    </a:lnTo>
                    <a:lnTo>
                      <a:pt x="45" y="462"/>
                    </a:lnTo>
                    <a:lnTo>
                      <a:pt x="48" y="444"/>
                    </a:lnTo>
                    <a:lnTo>
                      <a:pt x="75" y="441"/>
                    </a:lnTo>
                    <a:lnTo>
                      <a:pt x="87" y="414"/>
                    </a:lnTo>
                    <a:lnTo>
                      <a:pt x="99" y="369"/>
                    </a:lnTo>
                    <a:lnTo>
                      <a:pt x="126" y="312"/>
                    </a:lnTo>
                    <a:lnTo>
                      <a:pt x="159" y="276"/>
                    </a:lnTo>
                    <a:lnTo>
                      <a:pt x="159" y="231"/>
                    </a:lnTo>
                    <a:lnTo>
                      <a:pt x="183" y="201"/>
                    </a:lnTo>
                    <a:lnTo>
                      <a:pt x="216" y="195"/>
                    </a:lnTo>
                    <a:lnTo>
                      <a:pt x="258" y="162"/>
                    </a:lnTo>
                    <a:lnTo>
                      <a:pt x="291" y="156"/>
                    </a:lnTo>
                    <a:lnTo>
                      <a:pt x="333" y="114"/>
                    </a:lnTo>
                    <a:lnTo>
                      <a:pt x="354" y="114"/>
                    </a:lnTo>
                    <a:lnTo>
                      <a:pt x="411" y="60"/>
                    </a:lnTo>
                    <a:lnTo>
                      <a:pt x="435" y="57"/>
                    </a:lnTo>
                    <a:lnTo>
                      <a:pt x="489" y="18"/>
                    </a:lnTo>
                    <a:lnTo>
                      <a:pt x="537" y="9"/>
                    </a:lnTo>
                    <a:lnTo>
                      <a:pt x="588" y="18"/>
                    </a:lnTo>
                    <a:lnTo>
                      <a:pt x="615" y="0"/>
                    </a:lnTo>
                    <a:lnTo>
                      <a:pt x="645" y="0"/>
                    </a:lnTo>
                    <a:lnTo>
                      <a:pt x="672" y="6"/>
                    </a:lnTo>
                    <a:lnTo>
                      <a:pt x="714" y="12"/>
                    </a:lnTo>
                    <a:lnTo>
                      <a:pt x="726" y="51"/>
                    </a:lnTo>
                    <a:lnTo>
                      <a:pt x="741" y="84"/>
                    </a:lnTo>
                    <a:lnTo>
                      <a:pt x="747" y="108"/>
                    </a:lnTo>
                    <a:lnTo>
                      <a:pt x="729" y="132"/>
                    </a:lnTo>
                    <a:lnTo>
                      <a:pt x="693" y="138"/>
                    </a:lnTo>
                    <a:lnTo>
                      <a:pt x="660" y="171"/>
                    </a:lnTo>
                    <a:lnTo>
                      <a:pt x="612" y="219"/>
                    </a:lnTo>
                    <a:lnTo>
                      <a:pt x="555" y="282"/>
                    </a:lnTo>
                    <a:lnTo>
                      <a:pt x="495" y="348"/>
                    </a:lnTo>
                    <a:lnTo>
                      <a:pt x="474" y="444"/>
                    </a:lnTo>
                    <a:lnTo>
                      <a:pt x="429" y="486"/>
                    </a:lnTo>
                    <a:lnTo>
                      <a:pt x="435" y="510"/>
                    </a:lnTo>
                    <a:lnTo>
                      <a:pt x="393" y="579"/>
                    </a:lnTo>
                    <a:lnTo>
                      <a:pt x="393" y="603"/>
                    </a:lnTo>
                    <a:lnTo>
                      <a:pt x="357" y="612"/>
                    </a:lnTo>
                    <a:lnTo>
                      <a:pt x="357" y="660"/>
                    </a:lnTo>
                    <a:lnTo>
                      <a:pt x="360" y="681"/>
                    </a:lnTo>
                    <a:lnTo>
                      <a:pt x="339" y="732"/>
                    </a:lnTo>
                    <a:lnTo>
                      <a:pt x="318" y="768"/>
                    </a:lnTo>
                    <a:lnTo>
                      <a:pt x="282" y="780"/>
                    </a:lnTo>
                    <a:lnTo>
                      <a:pt x="282" y="804"/>
                    </a:lnTo>
                    <a:lnTo>
                      <a:pt x="267" y="849"/>
                    </a:lnTo>
                    <a:lnTo>
                      <a:pt x="234" y="858"/>
                    </a:lnTo>
                    <a:lnTo>
                      <a:pt x="210" y="888"/>
                    </a:lnTo>
                    <a:lnTo>
                      <a:pt x="183" y="918"/>
                    </a:lnTo>
                    <a:lnTo>
                      <a:pt x="129" y="918"/>
                    </a:lnTo>
                    <a:lnTo>
                      <a:pt x="90" y="915"/>
                    </a:lnTo>
                    <a:lnTo>
                      <a:pt x="51" y="897"/>
                    </a:lnTo>
                    <a:lnTo>
                      <a:pt x="30" y="888"/>
                    </a:lnTo>
                    <a:close/>
                  </a:path>
                </a:pathLst>
              </a:custGeom>
              <a:solidFill>
                <a:srgbClr val="0000FF">
                  <a:alpha val="20000"/>
                </a:srgbClr>
              </a:solidFill>
              <a:ln w="9525">
                <a:solidFill>
                  <a:schemeClr val="accent2"/>
                </a:solidFill>
                <a:round/>
                <a:headEnd/>
                <a:tailEnd/>
              </a:ln>
            </p:spPr>
            <p:txBody>
              <a:bodyPr/>
              <a:lstStyle/>
              <a:p>
                <a:endParaRPr lang="en-US"/>
              </a:p>
            </p:txBody>
          </p:sp>
          <p:sp>
            <p:nvSpPr>
              <p:cNvPr id="130061" name="Freeform 6"/>
              <p:cNvSpPr>
                <a:spLocks noChangeAspect="1"/>
              </p:cNvSpPr>
              <p:nvPr/>
            </p:nvSpPr>
            <p:spPr bwMode="auto">
              <a:xfrm>
                <a:off x="919" y="2351"/>
                <a:ext cx="609" cy="865"/>
              </a:xfrm>
              <a:custGeom>
                <a:avLst/>
                <a:gdLst>
                  <a:gd name="T0" fmla="*/ 35 w 528"/>
                  <a:gd name="T1" fmla="*/ 801 h 726"/>
                  <a:gd name="T2" fmla="*/ 14 w 528"/>
                  <a:gd name="T3" fmla="*/ 772 h 726"/>
                  <a:gd name="T4" fmla="*/ 31 w 528"/>
                  <a:gd name="T5" fmla="*/ 733 h 726"/>
                  <a:gd name="T6" fmla="*/ 42 w 528"/>
                  <a:gd name="T7" fmla="*/ 708 h 726"/>
                  <a:gd name="T8" fmla="*/ 42 w 528"/>
                  <a:gd name="T9" fmla="*/ 679 h 726"/>
                  <a:gd name="T10" fmla="*/ 38 w 528"/>
                  <a:gd name="T11" fmla="*/ 654 h 726"/>
                  <a:gd name="T12" fmla="*/ 55 w 528"/>
                  <a:gd name="T13" fmla="*/ 600 h 726"/>
                  <a:gd name="T14" fmla="*/ 45 w 528"/>
                  <a:gd name="T15" fmla="*/ 565 h 726"/>
                  <a:gd name="T16" fmla="*/ 21 w 528"/>
                  <a:gd name="T17" fmla="*/ 536 h 726"/>
                  <a:gd name="T18" fmla="*/ 0 w 528"/>
                  <a:gd name="T19" fmla="*/ 515 h 726"/>
                  <a:gd name="T20" fmla="*/ 0 w 528"/>
                  <a:gd name="T21" fmla="*/ 490 h 726"/>
                  <a:gd name="T22" fmla="*/ 17 w 528"/>
                  <a:gd name="T23" fmla="*/ 461 h 726"/>
                  <a:gd name="T24" fmla="*/ 17 w 528"/>
                  <a:gd name="T25" fmla="*/ 418 h 726"/>
                  <a:gd name="T26" fmla="*/ 17 w 528"/>
                  <a:gd name="T27" fmla="*/ 390 h 726"/>
                  <a:gd name="T28" fmla="*/ 28 w 528"/>
                  <a:gd name="T29" fmla="*/ 357 h 726"/>
                  <a:gd name="T30" fmla="*/ 55 w 528"/>
                  <a:gd name="T31" fmla="*/ 304 h 726"/>
                  <a:gd name="T32" fmla="*/ 55 w 528"/>
                  <a:gd name="T33" fmla="*/ 239 h 726"/>
                  <a:gd name="T34" fmla="*/ 80 w 528"/>
                  <a:gd name="T35" fmla="*/ 200 h 726"/>
                  <a:gd name="T36" fmla="*/ 87 w 528"/>
                  <a:gd name="T37" fmla="*/ 157 h 726"/>
                  <a:gd name="T38" fmla="*/ 90 w 528"/>
                  <a:gd name="T39" fmla="*/ 136 h 726"/>
                  <a:gd name="T40" fmla="*/ 76 w 528"/>
                  <a:gd name="T41" fmla="*/ 100 h 726"/>
                  <a:gd name="T42" fmla="*/ 97 w 528"/>
                  <a:gd name="T43" fmla="*/ 75 h 726"/>
                  <a:gd name="T44" fmla="*/ 163 w 528"/>
                  <a:gd name="T45" fmla="*/ 54 h 726"/>
                  <a:gd name="T46" fmla="*/ 225 w 528"/>
                  <a:gd name="T47" fmla="*/ 25 h 726"/>
                  <a:gd name="T48" fmla="*/ 298 w 528"/>
                  <a:gd name="T49" fmla="*/ 25 h 726"/>
                  <a:gd name="T50" fmla="*/ 374 w 528"/>
                  <a:gd name="T51" fmla="*/ 7 h 726"/>
                  <a:gd name="T52" fmla="*/ 450 w 528"/>
                  <a:gd name="T53" fmla="*/ 0 h 726"/>
                  <a:gd name="T54" fmla="*/ 498 w 528"/>
                  <a:gd name="T55" fmla="*/ 11 h 726"/>
                  <a:gd name="T56" fmla="*/ 519 w 528"/>
                  <a:gd name="T57" fmla="*/ 43 h 726"/>
                  <a:gd name="T58" fmla="*/ 574 w 528"/>
                  <a:gd name="T59" fmla="*/ 89 h 726"/>
                  <a:gd name="T60" fmla="*/ 581 w 528"/>
                  <a:gd name="T61" fmla="*/ 161 h 726"/>
                  <a:gd name="T62" fmla="*/ 588 w 528"/>
                  <a:gd name="T63" fmla="*/ 186 h 726"/>
                  <a:gd name="T64" fmla="*/ 609 w 528"/>
                  <a:gd name="T65" fmla="*/ 218 h 726"/>
                  <a:gd name="T66" fmla="*/ 567 w 528"/>
                  <a:gd name="T67" fmla="*/ 250 h 726"/>
                  <a:gd name="T68" fmla="*/ 536 w 528"/>
                  <a:gd name="T69" fmla="*/ 297 h 726"/>
                  <a:gd name="T70" fmla="*/ 522 w 528"/>
                  <a:gd name="T71" fmla="*/ 347 h 726"/>
                  <a:gd name="T72" fmla="*/ 526 w 528"/>
                  <a:gd name="T73" fmla="*/ 415 h 726"/>
                  <a:gd name="T74" fmla="*/ 519 w 528"/>
                  <a:gd name="T75" fmla="*/ 436 h 726"/>
                  <a:gd name="T76" fmla="*/ 474 w 528"/>
                  <a:gd name="T77" fmla="*/ 479 h 726"/>
                  <a:gd name="T78" fmla="*/ 467 w 528"/>
                  <a:gd name="T79" fmla="*/ 522 h 726"/>
                  <a:gd name="T80" fmla="*/ 439 w 528"/>
                  <a:gd name="T81" fmla="*/ 550 h 726"/>
                  <a:gd name="T82" fmla="*/ 439 w 528"/>
                  <a:gd name="T83" fmla="*/ 600 h 726"/>
                  <a:gd name="T84" fmla="*/ 422 w 528"/>
                  <a:gd name="T85" fmla="*/ 661 h 726"/>
                  <a:gd name="T86" fmla="*/ 381 w 528"/>
                  <a:gd name="T87" fmla="*/ 690 h 726"/>
                  <a:gd name="T88" fmla="*/ 367 w 528"/>
                  <a:gd name="T89" fmla="*/ 729 h 726"/>
                  <a:gd name="T90" fmla="*/ 336 w 528"/>
                  <a:gd name="T91" fmla="*/ 751 h 726"/>
                  <a:gd name="T92" fmla="*/ 294 w 528"/>
                  <a:gd name="T93" fmla="*/ 772 h 726"/>
                  <a:gd name="T94" fmla="*/ 253 w 528"/>
                  <a:gd name="T95" fmla="*/ 801 h 726"/>
                  <a:gd name="T96" fmla="*/ 218 w 528"/>
                  <a:gd name="T97" fmla="*/ 836 h 726"/>
                  <a:gd name="T98" fmla="*/ 170 w 528"/>
                  <a:gd name="T99" fmla="*/ 858 h 726"/>
                  <a:gd name="T100" fmla="*/ 111 w 528"/>
                  <a:gd name="T101" fmla="*/ 865 h 726"/>
                  <a:gd name="T102" fmla="*/ 69 w 528"/>
                  <a:gd name="T103" fmla="*/ 847 h 726"/>
                  <a:gd name="T104" fmla="*/ 35 w 528"/>
                  <a:gd name="T105" fmla="*/ 801 h 7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528"/>
                  <a:gd name="T160" fmla="*/ 0 h 726"/>
                  <a:gd name="T161" fmla="*/ 528 w 528"/>
                  <a:gd name="T162" fmla="*/ 726 h 72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528" h="726">
                    <a:moveTo>
                      <a:pt x="30" y="672"/>
                    </a:moveTo>
                    <a:lnTo>
                      <a:pt x="12" y="648"/>
                    </a:lnTo>
                    <a:lnTo>
                      <a:pt x="27" y="615"/>
                    </a:lnTo>
                    <a:lnTo>
                      <a:pt x="36" y="594"/>
                    </a:lnTo>
                    <a:lnTo>
                      <a:pt x="36" y="570"/>
                    </a:lnTo>
                    <a:lnTo>
                      <a:pt x="33" y="549"/>
                    </a:lnTo>
                    <a:lnTo>
                      <a:pt x="48" y="504"/>
                    </a:lnTo>
                    <a:lnTo>
                      <a:pt x="39" y="474"/>
                    </a:lnTo>
                    <a:lnTo>
                      <a:pt x="18" y="450"/>
                    </a:lnTo>
                    <a:lnTo>
                      <a:pt x="0" y="432"/>
                    </a:lnTo>
                    <a:lnTo>
                      <a:pt x="0" y="411"/>
                    </a:lnTo>
                    <a:lnTo>
                      <a:pt x="15" y="387"/>
                    </a:lnTo>
                    <a:lnTo>
                      <a:pt x="15" y="351"/>
                    </a:lnTo>
                    <a:lnTo>
                      <a:pt x="15" y="327"/>
                    </a:lnTo>
                    <a:lnTo>
                      <a:pt x="24" y="300"/>
                    </a:lnTo>
                    <a:lnTo>
                      <a:pt x="48" y="255"/>
                    </a:lnTo>
                    <a:lnTo>
                      <a:pt x="48" y="201"/>
                    </a:lnTo>
                    <a:lnTo>
                      <a:pt x="69" y="168"/>
                    </a:lnTo>
                    <a:lnTo>
                      <a:pt x="75" y="132"/>
                    </a:lnTo>
                    <a:lnTo>
                      <a:pt x="78" y="114"/>
                    </a:lnTo>
                    <a:lnTo>
                      <a:pt x="66" y="84"/>
                    </a:lnTo>
                    <a:lnTo>
                      <a:pt x="84" y="63"/>
                    </a:lnTo>
                    <a:lnTo>
                      <a:pt x="141" y="45"/>
                    </a:lnTo>
                    <a:lnTo>
                      <a:pt x="195" y="21"/>
                    </a:lnTo>
                    <a:lnTo>
                      <a:pt x="258" y="21"/>
                    </a:lnTo>
                    <a:lnTo>
                      <a:pt x="324" y="6"/>
                    </a:lnTo>
                    <a:lnTo>
                      <a:pt x="390" y="0"/>
                    </a:lnTo>
                    <a:lnTo>
                      <a:pt x="432" y="9"/>
                    </a:lnTo>
                    <a:lnTo>
                      <a:pt x="450" y="36"/>
                    </a:lnTo>
                    <a:lnTo>
                      <a:pt x="498" y="75"/>
                    </a:lnTo>
                    <a:lnTo>
                      <a:pt x="504" y="135"/>
                    </a:lnTo>
                    <a:lnTo>
                      <a:pt x="510" y="156"/>
                    </a:lnTo>
                    <a:lnTo>
                      <a:pt x="528" y="183"/>
                    </a:lnTo>
                    <a:lnTo>
                      <a:pt x="492" y="210"/>
                    </a:lnTo>
                    <a:lnTo>
                      <a:pt x="465" y="249"/>
                    </a:lnTo>
                    <a:lnTo>
                      <a:pt x="453" y="291"/>
                    </a:lnTo>
                    <a:lnTo>
                      <a:pt x="456" y="348"/>
                    </a:lnTo>
                    <a:lnTo>
                      <a:pt x="450" y="366"/>
                    </a:lnTo>
                    <a:lnTo>
                      <a:pt x="411" y="402"/>
                    </a:lnTo>
                    <a:lnTo>
                      <a:pt x="405" y="438"/>
                    </a:lnTo>
                    <a:lnTo>
                      <a:pt x="381" y="462"/>
                    </a:lnTo>
                    <a:lnTo>
                      <a:pt x="381" y="504"/>
                    </a:lnTo>
                    <a:lnTo>
                      <a:pt x="366" y="555"/>
                    </a:lnTo>
                    <a:lnTo>
                      <a:pt x="330" y="579"/>
                    </a:lnTo>
                    <a:lnTo>
                      <a:pt x="318" y="612"/>
                    </a:lnTo>
                    <a:lnTo>
                      <a:pt x="291" y="630"/>
                    </a:lnTo>
                    <a:lnTo>
                      <a:pt x="255" y="648"/>
                    </a:lnTo>
                    <a:lnTo>
                      <a:pt x="219" y="672"/>
                    </a:lnTo>
                    <a:lnTo>
                      <a:pt x="189" y="702"/>
                    </a:lnTo>
                    <a:lnTo>
                      <a:pt x="147" y="720"/>
                    </a:lnTo>
                    <a:lnTo>
                      <a:pt x="96" y="726"/>
                    </a:lnTo>
                    <a:lnTo>
                      <a:pt x="60" y="711"/>
                    </a:lnTo>
                    <a:lnTo>
                      <a:pt x="30" y="672"/>
                    </a:lnTo>
                    <a:close/>
                  </a:path>
                </a:pathLst>
              </a:custGeom>
              <a:solidFill>
                <a:srgbClr val="FF9933">
                  <a:alpha val="20000"/>
                </a:srgbClr>
              </a:solidFill>
              <a:ln w="9525">
                <a:solidFill>
                  <a:srgbClr val="FF9933"/>
                </a:solidFill>
                <a:round/>
                <a:headEnd/>
                <a:tailEnd/>
              </a:ln>
            </p:spPr>
            <p:txBody>
              <a:bodyPr/>
              <a:lstStyle/>
              <a:p>
                <a:endParaRPr lang="en-US"/>
              </a:p>
            </p:txBody>
          </p:sp>
          <p:sp>
            <p:nvSpPr>
              <p:cNvPr id="130062" name="Freeform 7"/>
              <p:cNvSpPr>
                <a:spLocks noChangeAspect="1"/>
              </p:cNvSpPr>
              <p:nvPr/>
            </p:nvSpPr>
            <p:spPr bwMode="auto">
              <a:xfrm>
                <a:off x="763" y="2819"/>
                <a:ext cx="471" cy="851"/>
              </a:xfrm>
              <a:custGeom>
                <a:avLst/>
                <a:gdLst>
                  <a:gd name="T0" fmla="*/ 48 w 408"/>
                  <a:gd name="T1" fmla="*/ 833 h 714"/>
                  <a:gd name="T2" fmla="*/ 24 w 408"/>
                  <a:gd name="T3" fmla="*/ 801 h 714"/>
                  <a:gd name="T4" fmla="*/ 17 w 408"/>
                  <a:gd name="T5" fmla="*/ 762 h 714"/>
                  <a:gd name="T6" fmla="*/ 0 w 408"/>
                  <a:gd name="T7" fmla="*/ 744 h 714"/>
                  <a:gd name="T8" fmla="*/ 0 w 408"/>
                  <a:gd name="T9" fmla="*/ 715 h 714"/>
                  <a:gd name="T10" fmla="*/ 17 w 408"/>
                  <a:gd name="T11" fmla="*/ 694 h 714"/>
                  <a:gd name="T12" fmla="*/ 17 w 408"/>
                  <a:gd name="T13" fmla="*/ 640 h 714"/>
                  <a:gd name="T14" fmla="*/ 17 w 408"/>
                  <a:gd name="T15" fmla="*/ 608 h 714"/>
                  <a:gd name="T16" fmla="*/ 38 w 408"/>
                  <a:gd name="T17" fmla="*/ 601 h 714"/>
                  <a:gd name="T18" fmla="*/ 28 w 408"/>
                  <a:gd name="T19" fmla="*/ 565 h 714"/>
                  <a:gd name="T20" fmla="*/ 59 w 408"/>
                  <a:gd name="T21" fmla="*/ 536 h 714"/>
                  <a:gd name="T22" fmla="*/ 73 w 408"/>
                  <a:gd name="T23" fmla="*/ 429 h 714"/>
                  <a:gd name="T24" fmla="*/ 128 w 408"/>
                  <a:gd name="T25" fmla="*/ 383 h 714"/>
                  <a:gd name="T26" fmla="*/ 152 w 408"/>
                  <a:gd name="T27" fmla="*/ 354 h 714"/>
                  <a:gd name="T28" fmla="*/ 159 w 408"/>
                  <a:gd name="T29" fmla="*/ 308 h 714"/>
                  <a:gd name="T30" fmla="*/ 159 w 408"/>
                  <a:gd name="T31" fmla="*/ 272 h 714"/>
                  <a:gd name="T32" fmla="*/ 197 w 408"/>
                  <a:gd name="T33" fmla="*/ 247 h 714"/>
                  <a:gd name="T34" fmla="*/ 156 w 408"/>
                  <a:gd name="T35" fmla="*/ 218 h 714"/>
                  <a:gd name="T36" fmla="*/ 152 w 408"/>
                  <a:gd name="T37" fmla="*/ 175 h 714"/>
                  <a:gd name="T38" fmla="*/ 184 w 408"/>
                  <a:gd name="T39" fmla="*/ 143 h 714"/>
                  <a:gd name="T40" fmla="*/ 184 w 408"/>
                  <a:gd name="T41" fmla="*/ 104 h 714"/>
                  <a:gd name="T42" fmla="*/ 159 w 408"/>
                  <a:gd name="T43" fmla="*/ 68 h 714"/>
                  <a:gd name="T44" fmla="*/ 180 w 408"/>
                  <a:gd name="T45" fmla="*/ 36 h 714"/>
                  <a:gd name="T46" fmla="*/ 222 w 408"/>
                  <a:gd name="T47" fmla="*/ 39 h 714"/>
                  <a:gd name="T48" fmla="*/ 242 w 408"/>
                  <a:gd name="T49" fmla="*/ 61 h 714"/>
                  <a:gd name="T50" fmla="*/ 246 w 408"/>
                  <a:gd name="T51" fmla="*/ 14 h 714"/>
                  <a:gd name="T52" fmla="*/ 277 w 408"/>
                  <a:gd name="T53" fmla="*/ 7 h 714"/>
                  <a:gd name="T54" fmla="*/ 312 w 408"/>
                  <a:gd name="T55" fmla="*/ 14 h 714"/>
                  <a:gd name="T56" fmla="*/ 343 w 408"/>
                  <a:gd name="T57" fmla="*/ 0 h 714"/>
                  <a:gd name="T58" fmla="*/ 357 w 408"/>
                  <a:gd name="T59" fmla="*/ 32 h 714"/>
                  <a:gd name="T60" fmla="*/ 388 w 408"/>
                  <a:gd name="T61" fmla="*/ 61 h 714"/>
                  <a:gd name="T62" fmla="*/ 433 w 408"/>
                  <a:gd name="T63" fmla="*/ 72 h 714"/>
                  <a:gd name="T64" fmla="*/ 447 w 408"/>
                  <a:gd name="T65" fmla="*/ 114 h 714"/>
                  <a:gd name="T66" fmla="*/ 461 w 408"/>
                  <a:gd name="T67" fmla="*/ 164 h 714"/>
                  <a:gd name="T68" fmla="*/ 471 w 408"/>
                  <a:gd name="T69" fmla="*/ 215 h 714"/>
                  <a:gd name="T70" fmla="*/ 457 w 408"/>
                  <a:gd name="T71" fmla="*/ 275 h 714"/>
                  <a:gd name="T72" fmla="*/ 443 w 408"/>
                  <a:gd name="T73" fmla="*/ 354 h 714"/>
                  <a:gd name="T74" fmla="*/ 436 w 408"/>
                  <a:gd name="T75" fmla="*/ 422 h 714"/>
                  <a:gd name="T76" fmla="*/ 419 w 408"/>
                  <a:gd name="T77" fmla="*/ 436 h 714"/>
                  <a:gd name="T78" fmla="*/ 426 w 408"/>
                  <a:gd name="T79" fmla="*/ 465 h 714"/>
                  <a:gd name="T80" fmla="*/ 436 w 408"/>
                  <a:gd name="T81" fmla="*/ 511 h 714"/>
                  <a:gd name="T82" fmla="*/ 450 w 408"/>
                  <a:gd name="T83" fmla="*/ 536 h 714"/>
                  <a:gd name="T84" fmla="*/ 423 w 408"/>
                  <a:gd name="T85" fmla="*/ 558 h 714"/>
                  <a:gd name="T86" fmla="*/ 402 w 408"/>
                  <a:gd name="T87" fmla="*/ 558 h 714"/>
                  <a:gd name="T88" fmla="*/ 360 w 408"/>
                  <a:gd name="T89" fmla="*/ 576 h 714"/>
                  <a:gd name="T90" fmla="*/ 343 w 408"/>
                  <a:gd name="T91" fmla="*/ 597 h 714"/>
                  <a:gd name="T92" fmla="*/ 339 w 408"/>
                  <a:gd name="T93" fmla="*/ 633 h 714"/>
                  <a:gd name="T94" fmla="*/ 312 w 408"/>
                  <a:gd name="T95" fmla="*/ 633 h 714"/>
                  <a:gd name="T96" fmla="*/ 308 w 408"/>
                  <a:gd name="T97" fmla="*/ 654 h 714"/>
                  <a:gd name="T98" fmla="*/ 308 w 408"/>
                  <a:gd name="T99" fmla="*/ 687 h 714"/>
                  <a:gd name="T100" fmla="*/ 270 w 408"/>
                  <a:gd name="T101" fmla="*/ 704 h 714"/>
                  <a:gd name="T102" fmla="*/ 242 w 408"/>
                  <a:gd name="T103" fmla="*/ 733 h 714"/>
                  <a:gd name="T104" fmla="*/ 211 w 408"/>
                  <a:gd name="T105" fmla="*/ 776 h 714"/>
                  <a:gd name="T106" fmla="*/ 180 w 408"/>
                  <a:gd name="T107" fmla="*/ 815 h 714"/>
                  <a:gd name="T108" fmla="*/ 149 w 408"/>
                  <a:gd name="T109" fmla="*/ 837 h 714"/>
                  <a:gd name="T110" fmla="*/ 90 w 408"/>
                  <a:gd name="T111" fmla="*/ 851 h 714"/>
                  <a:gd name="T112" fmla="*/ 48 w 408"/>
                  <a:gd name="T113" fmla="*/ 833 h 71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408"/>
                  <a:gd name="T172" fmla="*/ 0 h 714"/>
                  <a:gd name="T173" fmla="*/ 408 w 408"/>
                  <a:gd name="T174" fmla="*/ 714 h 71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408" h="714">
                    <a:moveTo>
                      <a:pt x="42" y="699"/>
                    </a:moveTo>
                    <a:lnTo>
                      <a:pt x="21" y="672"/>
                    </a:lnTo>
                    <a:lnTo>
                      <a:pt x="15" y="639"/>
                    </a:lnTo>
                    <a:lnTo>
                      <a:pt x="0" y="624"/>
                    </a:lnTo>
                    <a:lnTo>
                      <a:pt x="0" y="600"/>
                    </a:lnTo>
                    <a:lnTo>
                      <a:pt x="15" y="582"/>
                    </a:lnTo>
                    <a:lnTo>
                      <a:pt x="15" y="537"/>
                    </a:lnTo>
                    <a:lnTo>
                      <a:pt x="15" y="510"/>
                    </a:lnTo>
                    <a:lnTo>
                      <a:pt x="33" y="504"/>
                    </a:lnTo>
                    <a:lnTo>
                      <a:pt x="24" y="474"/>
                    </a:lnTo>
                    <a:lnTo>
                      <a:pt x="51" y="450"/>
                    </a:lnTo>
                    <a:lnTo>
                      <a:pt x="63" y="360"/>
                    </a:lnTo>
                    <a:lnTo>
                      <a:pt x="111" y="321"/>
                    </a:lnTo>
                    <a:lnTo>
                      <a:pt x="132" y="297"/>
                    </a:lnTo>
                    <a:lnTo>
                      <a:pt x="138" y="258"/>
                    </a:lnTo>
                    <a:lnTo>
                      <a:pt x="138" y="228"/>
                    </a:lnTo>
                    <a:lnTo>
                      <a:pt x="171" y="207"/>
                    </a:lnTo>
                    <a:lnTo>
                      <a:pt x="135" y="183"/>
                    </a:lnTo>
                    <a:lnTo>
                      <a:pt x="132" y="147"/>
                    </a:lnTo>
                    <a:lnTo>
                      <a:pt x="159" y="120"/>
                    </a:lnTo>
                    <a:lnTo>
                      <a:pt x="159" y="87"/>
                    </a:lnTo>
                    <a:lnTo>
                      <a:pt x="138" y="57"/>
                    </a:lnTo>
                    <a:lnTo>
                      <a:pt x="156" y="30"/>
                    </a:lnTo>
                    <a:lnTo>
                      <a:pt x="192" y="33"/>
                    </a:lnTo>
                    <a:lnTo>
                      <a:pt x="210" y="51"/>
                    </a:lnTo>
                    <a:lnTo>
                      <a:pt x="213" y="12"/>
                    </a:lnTo>
                    <a:lnTo>
                      <a:pt x="240" y="6"/>
                    </a:lnTo>
                    <a:lnTo>
                      <a:pt x="270" y="12"/>
                    </a:lnTo>
                    <a:lnTo>
                      <a:pt x="297" y="0"/>
                    </a:lnTo>
                    <a:lnTo>
                      <a:pt x="309" y="27"/>
                    </a:lnTo>
                    <a:lnTo>
                      <a:pt x="336" y="51"/>
                    </a:lnTo>
                    <a:lnTo>
                      <a:pt x="375" y="60"/>
                    </a:lnTo>
                    <a:lnTo>
                      <a:pt x="387" y="96"/>
                    </a:lnTo>
                    <a:lnTo>
                      <a:pt x="399" y="138"/>
                    </a:lnTo>
                    <a:lnTo>
                      <a:pt x="408" y="180"/>
                    </a:lnTo>
                    <a:lnTo>
                      <a:pt x="396" y="231"/>
                    </a:lnTo>
                    <a:lnTo>
                      <a:pt x="384" y="297"/>
                    </a:lnTo>
                    <a:lnTo>
                      <a:pt x="378" y="354"/>
                    </a:lnTo>
                    <a:lnTo>
                      <a:pt x="363" y="366"/>
                    </a:lnTo>
                    <a:lnTo>
                      <a:pt x="369" y="390"/>
                    </a:lnTo>
                    <a:lnTo>
                      <a:pt x="378" y="429"/>
                    </a:lnTo>
                    <a:lnTo>
                      <a:pt x="390" y="450"/>
                    </a:lnTo>
                    <a:cubicBezTo>
                      <a:pt x="379" y="472"/>
                      <a:pt x="388" y="468"/>
                      <a:pt x="366" y="468"/>
                    </a:cubicBezTo>
                    <a:lnTo>
                      <a:pt x="348" y="468"/>
                    </a:lnTo>
                    <a:lnTo>
                      <a:pt x="312" y="483"/>
                    </a:lnTo>
                    <a:lnTo>
                      <a:pt x="297" y="501"/>
                    </a:lnTo>
                    <a:lnTo>
                      <a:pt x="294" y="531"/>
                    </a:lnTo>
                    <a:lnTo>
                      <a:pt x="270" y="531"/>
                    </a:lnTo>
                    <a:lnTo>
                      <a:pt x="267" y="549"/>
                    </a:lnTo>
                    <a:lnTo>
                      <a:pt x="267" y="576"/>
                    </a:lnTo>
                    <a:lnTo>
                      <a:pt x="234" y="591"/>
                    </a:lnTo>
                    <a:lnTo>
                      <a:pt x="210" y="615"/>
                    </a:lnTo>
                    <a:lnTo>
                      <a:pt x="183" y="651"/>
                    </a:lnTo>
                    <a:cubicBezTo>
                      <a:pt x="174" y="662"/>
                      <a:pt x="166" y="674"/>
                      <a:pt x="156" y="684"/>
                    </a:cubicBezTo>
                    <a:cubicBezTo>
                      <a:pt x="148" y="692"/>
                      <a:pt x="129" y="702"/>
                      <a:pt x="129" y="702"/>
                    </a:cubicBezTo>
                    <a:lnTo>
                      <a:pt x="78" y="714"/>
                    </a:lnTo>
                    <a:lnTo>
                      <a:pt x="42" y="699"/>
                    </a:lnTo>
                    <a:close/>
                  </a:path>
                </a:pathLst>
              </a:custGeom>
              <a:solidFill>
                <a:srgbClr val="FF3300">
                  <a:alpha val="20000"/>
                </a:srgbClr>
              </a:solidFill>
              <a:ln w="9525">
                <a:solidFill>
                  <a:srgbClr val="FF3300"/>
                </a:solidFill>
                <a:round/>
                <a:headEnd/>
                <a:tailEnd/>
              </a:ln>
            </p:spPr>
            <p:txBody>
              <a:bodyPr/>
              <a:lstStyle/>
              <a:p>
                <a:endParaRPr lang="en-US"/>
              </a:p>
            </p:txBody>
          </p:sp>
        </p:grpSp>
        <p:sp>
          <p:nvSpPr>
            <p:cNvPr id="130053" name="Text Box 8"/>
            <p:cNvSpPr txBox="1">
              <a:spLocks noChangeAspect="1" noChangeArrowheads="1"/>
            </p:cNvSpPr>
            <p:nvPr/>
          </p:nvSpPr>
          <p:spPr bwMode="auto">
            <a:xfrm>
              <a:off x="2878" y="3000"/>
              <a:ext cx="1288" cy="269"/>
            </a:xfrm>
            <a:prstGeom prst="rect">
              <a:avLst/>
            </a:prstGeom>
            <a:noFill/>
            <a:ln w="9525">
              <a:noFill/>
              <a:miter lim="800000"/>
              <a:headEnd/>
              <a:tailEnd/>
            </a:ln>
          </p:spPr>
          <p:txBody>
            <a:bodyPr wrap="none">
              <a:spAutoFit/>
            </a:bodyPr>
            <a:lstStyle/>
            <a:p>
              <a:pPr>
                <a:spcBef>
                  <a:spcPct val="50000"/>
                </a:spcBef>
              </a:pPr>
              <a:r>
                <a:rPr lang="en-AU" sz="2200">
                  <a:solidFill>
                    <a:srgbClr val="FF3300"/>
                  </a:solidFill>
                  <a:latin typeface="Times New Roman" pitchFamily="18" charset="0"/>
                </a:rPr>
                <a:t>Perchloroethene</a:t>
              </a:r>
              <a:endParaRPr lang="en-US" sz="2200">
                <a:solidFill>
                  <a:srgbClr val="FF3300"/>
                </a:solidFill>
                <a:latin typeface="Times New Roman" pitchFamily="18" charset="0"/>
              </a:endParaRPr>
            </a:p>
          </p:txBody>
        </p:sp>
        <p:sp>
          <p:nvSpPr>
            <p:cNvPr id="130054" name="Text Box 9"/>
            <p:cNvSpPr txBox="1">
              <a:spLocks noChangeAspect="1" noChangeArrowheads="1"/>
            </p:cNvSpPr>
            <p:nvPr/>
          </p:nvSpPr>
          <p:spPr bwMode="auto">
            <a:xfrm>
              <a:off x="2928" y="2562"/>
              <a:ext cx="1664" cy="269"/>
            </a:xfrm>
            <a:prstGeom prst="rect">
              <a:avLst/>
            </a:prstGeom>
            <a:noFill/>
            <a:ln w="9525">
              <a:noFill/>
              <a:miter lim="800000"/>
              <a:headEnd/>
              <a:tailEnd/>
            </a:ln>
          </p:spPr>
          <p:txBody>
            <a:bodyPr wrap="none">
              <a:spAutoFit/>
            </a:bodyPr>
            <a:lstStyle/>
            <a:p>
              <a:pPr>
                <a:spcBef>
                  <a:spcPct val="50000"/>
                </a:spcBef>
              </a:pPr>
              <a:r>
                <a:rPr lang="en-AU" sz="2200">
                  <a:solidFill>
                    <a:srgbClr val="FF9933"/>
                  </a:solidFill>
                  <a:latin typeface="Times New Roman" pitchFamily="18" charset="0"/>
                </a:rPr>
                <a:t>Carbon Tetrachloride</a:t>
              </a:r>
              <a:endParaRPr lang="en-US" sz="2200">
                <a:solidFill>
                  <a:srgbClr val="FF9933"/>
                </a:solidFill>
                <a:latin typeface="Times New Roman" pitchFamily="18" charset="0"/>
              </a:endParaRPr>
            </a:p>
          </p:txBody>
        </p:sp>
        <p:sp>
          <p:nvSpPr>
            <p:cNvPr id="130055" name="Text Box 10"/>
            <p:cNvSpPr txBox="1">
              <a:spLocks noChangeAspect="1" noChangeArrowheads="1"/>
            </p:cNvSpPr>
            <p:nvPr/>
          </p:nvSpPr>
          <p:spPr bwMode="auto">
            <a:xfrm>
              <a:off x="2953" y="1320"/>
              <a:ext cx="741" cy="269"/>
            </a:xfrm>
            <a:prstGeom prst="rect">
              <a:avLst/>
            </a:prstGeom>
            <a:noFill/>
            <a:ln w="9525">
              <a:noFill/>
              <a:miter lim="800000"/>
              <a:headEnd/>
              <a:tailEnd/>
            </a:ln>
          </p:spPr>
          <p:txBody>
            <a:bodyPr wrap="none">
              <a:spAutoFit/>
            </a:bodyPr>
            <a:lstStyle/>
            <a:p>
              <a:pPr>
                <a:spcBef>
                  <a:spcPct val="50000"/>
                </a:spcBef>
              </a:pPr>
              <a:r>
                <a:rPr lang="en-AU" sz="2200">
                  <a:solidFill>
                    <a:schemeClr val="accent2"/>
                  </a:solidFill>
                  <a:latin typeface="Times New Roman" pitchFamily="18" charset="0"/>
                </a:rPr>
                <a:t>Chloride</a:t>
              </a:r>
              <a:endParaRPr lang="en-US" sz="2200">
                <a:solidFill>
                  <a:schemeClr val="accent2"/>
                </a:solidFill>
                <a:latin typeface="Times New Roman" pitchFamily="18" charset="0"/>
              </a:endParaRPr>
            </a:p>
          </p:txBody>
        </p:sp>
        <p:sp>
          <p:nvSpPr>
            <p:cNvPr id="130056" name="Line 11"/>
            <p:cNvSpPr>
              <a:spLocks noChangeAspect="1" noChangeShapeType="1"/>
            </p:cNvSpPr>
            <p:nvPr/>
          </p:nvSpPr>
          <p:spPr bwMode="auto">
            <a:xfrm flipH="1">
              <a:off x="1124" y="3134"/>
              <a:ext cx="1736" cy="0"/>
            </a:xfrm>
            <a:prstGeom prst="line">
              <a:avLst/>
            </a:prstGeom>
            <a:noFill/>
            <a:ln w="38100">
              <a:solidFill>
                <a:srgbClr val="FF3300"/>
              </a:solidFill>
              <a:round/>
              <a:headEnd/>
              <a:tailEnd type="triangle" w="med" len="med"/>
            </a:ln>
          </p:spPr>
          <p:txBody>
            <a:bodyPr/>
            <a:lstStyle/>
            <a:p>
              <a:endParaRPr lang="en-US"/>
            </a:p>
          </p:txBody>
        </p:sp>
        <p:sp>
          <p:nvSpPr>
            <p:cNvPr id="130057" name="Line 12"/>
            <p:cNvSpPr>
              <a:spLocks noChangeAspect="1" noChangeShapeType="1"/>
            </p:cNvSpPr>
            <p:nvPr/>
          </p:nvSpPr>
          <p:spPr bwMode="auto">
            <a:xfrm flipH="1">
              <a:off x="1364" y="2704"/>
              <a:ext cx="1579" cy="0"/>
            </a:xfrm>
            <a:prstGeom prst="line">
              <a:avLst/>
            </a:prstGeom>
            <a:noFill/>
            <a:ln w="38100">
              <a:solidFill>
                <a:srgbClr val="FF9933"/>
              </a:solidFill>
              <a:round/>
              <a:headEnd/>
              <a:tailEnd type="triangle" w="med" len="med"/>
            </a:ln>
          </p:spPr>
          <p:txBody>
            <a:bodyPr/>
            <a:lstStyle/>
            <a:p>
              <a:endParaRPr lang="en-US"/>
            </a:p>
          </p:txBody>
        </p:sp>
        <p:sp>
          <p:nvSpPr>
            <p:cNvPr id="130058" name="Line 13"/>
            <p:cNvSpPr>
              <a:spLocks noChangeAspect="1" noChangeShapeType="1"/>
            </p:cNvSpPr>
            <p:nvPr/>
          </p:nvSpPr>
          <p:spPr bwMode="auto">
            <a:xfrm flipH="1">
              <a:off x="1879" y="1459"/>
              <a:ext cx="1064" cy="0"/>
            </a:xfrm>
            <a:prstGeom prst="line">
              <a:avLst/>
            </a:prstGeom>
            <a:noFill/>
            <a:ln w="38100">
              <a:solidFill>
                <a:schemeClr val="accent2"/>
              </a:solidFill>
              <a:round/>
              <a:headEnd/>
              <a:tailEnd type="triangle" w="med" len="med"/>
            </a:ln>
          </p:spPr>
          <p:txBody>
            <a:bodyPr/>
            <a:lstStyle/>
            <a:p>
              <a:endParaRPr lang="en-US"/>
            </a:p>
          </p:txBody>
        </p:sp>
      </p:grpSp>
      <p:sp>
        <p:nvSpPr>
          <p:cNvPr id="130050" name="Rectangle 14"/>
          <p:cNvSpPr>
            <a:spLocks noGrp="1" noChangeArrowheads="1"/>
          </p:cNvSpPr>
          <p:nvPr>
            <p:ph type="title"/>
          </p:nvPr>
        </p:nvSpPr>
        <p:spPr>
          <a:xfrm>
            <a:off x="438150" y="814388"/>
            <a:ext cx="6203950" cy="493712"/>
          </a:xfrm>
        </p:spPr>
        <p:txBody>
          <a:bodyPr/>
          <a:lstStyle/>
          <a:p>
            <a:r>
              <a:rPr lang="en-AU" smtClean="0"/>
              <a:t>Effects in the field (cont.)</a:t>
            </a:r>
            <a:endParaRPr lang="en-US" smtClean="0"/>
          </a:p>
        </p:txBody>
      </p:sp>
      <p:sp>
        <p:nvSpPr>
          <p:cNvPr id="130051" name="Text Box 3"/>
          <p:cNvSpPr txBox="1">
            <a:spLocks noChangeArrowheads="1"/>
          </p:cNvSpPr>
          <p:nvPr/>
        </p:nvSpPr>
        <p:spPr bwMode="auto">
          <a:xfrm>
            <a:off x="5064125" y="6353175"/>
            <a:ext cx="2895600" cy="228600"/>
          </a:xfrm>
          <a:prstGeom prst="rect">
            <a:avLst/>
          </a:prstGeom>
          <a:noFill/>
          <a:ln w="9525">
            <a:noFill/>
            <a:miter lim="800000"/>
            <a:headEnd/>
            <a:tailEnd/>
          </a:ln>
        </p:spPr>
        <p:txBody>
          <a:bodyPr>
            <a:spAutoFit/>
          </a:bodyPr>
          <a:lstStyle/>
          <a:p>
            <a:pPr>
              <a:spcBef>
                <a:spcPct val="50000"/>
              </a:spcBef>
            </a:pPr>
            <a:r>
              <a:rPr lang="en-AU" sz="900" i="0">
                <a:solidFill>
                  <a:schemeClr val="tx1"/>
                </a:solidFill>
              </a:rPr>
              <a:t>From Fetter, 1999, Contaminant Hydrogeology</a:t>
            </a:r>
            <a:endParaRPr lang="en-US" sz="900" i="0">
              <a:solidFill>
                <a:schemeClr val="tx1"/>
              </a:solidFill>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p:cNvSpPr>
            <a:spLocks noGrp="1" noChangeArrowheads="1"/>
          </p:cNvSpPr>
          <p:nvPr>
            <p:ph type="title"/>
          </p:nvPr>
        </p:nvSpPr>
        <p:spPr>
          <a:xfrm>
            <a:off x="438150" y="806450"/>
            <a:ext cx="5643563" cy="493713"/>
          </a:xfrm>
        </p:spPr>
        <p:txBody>
          <a:bodyPr/>
          <a:lstStyle/>
          <a:p>
            <a:r>
              <a:rPr lang="en-AU" smtClean="0"/>
              <a:t>Contamination Summary</a:t>
            </a:r>
            <a:endParaRPr lang="en-US" smtClean="0"/>
          </a:p>
        </p:txBody>
      </p:sp>
      <p:sp>
        <p:nvSpPr>
          <p:cNvPr id="132098" name="Rectangle 3"/>
          <p:cNvSpPr>
            <a:spLocks noGrp="1" noChangeArrowheads="1"/>
          </p:cNvSpPr>
          <p:nvPr>
            <p:ph type="body" idx="1"/>
          </p:nvPr>
        </p:nvSpPr>
        <p:spPr>
          <a:xfrm>
            <a:off x="438150" y="1876425"/>
            <a:ext cx="7077075" cy="4600575"/>
          </a:xfrm>
        </p:spPr>
        <p:txBody>
          <a:bodyPr/>
          <a:lstStyle/>
          <a:p>
            <a:pPr>
              <a:buFont typeface="Times New Roman" pitchFamily="18" charset="0"/>
              <a:buChar char="•"/>
            </a:pPr>
            <a:r>
              <a:rPr lang="en-AU" smtClean="0"/>
              <a:t>Generally a legacy issue.</a:t>
            </a:r>
          </a:p>
          <a:p>
            <a:pPr>
              <a:buFont typeface="Times New Roman" pitchFamily="18" charset="0"/>
              <a:buChar char="•"/>
            </a:pPr>
            <a:r>
              <a:rPr lang="en-AU" smtClean="0"/>
              <a:t>Can be from localised “point sources” or distributed over large areas (“diffuse source”).</a:t>
            </a:r>
          </a:p>
          <a:p>
            <a:pPr>
              <a:buFont typeface="Times New Roman" pitchFamily="18" charset="0"/>
              <a:buChar char="•"/>
            </a:pPr>
            <a:r>
              <a:rPr lang="en-AU" smtClean="0"/>
              <a:t>Once in the ground, interact with the material they are passing through.</a:t>
            </a:r>
          </a:p>
          <a:p>
            <a:pPr>
              <a:buFont typeface="Times New Roman" pitchFamily="18" charset="0"/>
              <a:buChar char="•"/>
            </a:pPr>
            <a:r>
              <a:rPr lang="en-AU" smtClean="0"/>
              <a:t>Main processes affecting the concentration in the groundwater are advection, dispersion, degradation / decay and retardation.</a:t>
            </a:r>
            <a:endParaRPr lang="en-US" smtClean="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2"/>
          <p:cNvSpPr>
            <a:spLocks noGrp="1" noChangeArrowheads="1"/>
          </p:cNvSpPr>
          <p:nvPr>
            <p:ph type="title"/>
          </p:nvPr>
        </p:nvSpPr>
        <p:spPr>
          <a:xfrm>
            <a:off x="438150" y="806450"/>
            <a:ext cx="4541838" cy="493713"/>
          </a:xfrm>
        </p:spPr>
        <p:txBody>
          <a:bodyPr/>
          <a:lstStyle/>
          <a:p>
            <a:r>
              <a:rPr lang="en-AU" smtClean="0"/>
              <a:t>Contributions</a:t>
            </a:r>
            <a:endParaRPr lang="en-US" smtClean="0"/>
          </a:p>
        </p:txBody>
      </p:sp>
      <p:sp>
        <p:nvSpPr>
          <p:cNvPr id="134146" name="Rectangle 3"/>
          <p:cNvSpPr>
            <a:spLocks noGrp="1" noChangeArrowheads="1"/>
          </p:cNvSpPr>
          <p:nvPr>
            <p:ph type="body" idx="1"/>
          </p:nvPr>
        </p:nvSpPr>
        <p:spPr>
          <a:xfrm>
            <a:off x="622300" y="1876425"/>
            <a:ext cx="6884988" cy="4600575"/>
          </a:xfrm>
        </p:spPr>
        <p:txBody>
          <a:bodyPr/>
          <a:lstStyle/>
          <a:p>
            <a:pPr>
              <a:buFont typeface="Times New Roman" pitchFamily="18" charset="0"/>
              <a:buChar char="•"/>
            </a:pPr>
            <a:r>
              <a:rPr lang="en-AU" sz="2000" smtClean="0"/>
              <a:t>Prepared by Chris McAuley, Principal Hydrogeologist, Department of Sustainability and Environment, Victoria.</a:t>
            </a:r>
          </a:p>
          <a:p>
            <a:pPr>
              <a:buFont typeface="Times New Roman" pitchFamily="18" charset="0"/>
              <a:buChar char="•"/>
            </a:pPr>
            <a:r>
              <a:rPr lang="en-AU" sz="2000" smtClean="0"/>
              <a:t>Support figures sourced from:</a:t>
            </a:r>
          </a:p>
          <a:p>
            <a:pPr marL="806450" lvl="1" indent="-263525">
              <a:buFontTx/>
              <a:buChar char="•"/>
            </a:pPr>
            <a:r>
              <a:rPr lang="en-AU" smtClean="0"/>
              <a:t>Lectures given by Chris McAuley</a:t>
            </a:r>
          </a:p>
          <a:p>
            <a:pPr marL="806450" lvl="1" indent="-263525">
              <a:buFontTx/>
              <a:buChar char="•"/>
            </a:pPr>
            <a:r>
              <a:rPr lang="en-AU" smtClean="0"/>
              <a:t>TESEP teaching package developed by Louse Goldie Divko (Department of Primary Industries, Victoria), Megan Bourke (independent education consultant) and Philomena Manifold (independent consultant)</a:t>
            </a:r>
          </a:p>
          <a:p>
            <a:pPr marL="806450" lvl="1" indent="-263525">
              <a:buFontTx/>
              <a:buChar char="•"/>
            </a:pPr>
            <a:r>
              <a:rPr lang="en-AU" smtClean="0"/>
              <a:t>Referenced sources </a:t>
            </a:r>
            <a:endParaRPr lang="en-US" smtClean="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1"/>
          <p:cNvSpPr>
            <a:spLocks noGrp="1" noChangeArrowheads="1"/>
          </p:cNvSpPr>
          <p:nvPr>
            <p:ph type="title" idx="4294967295"/>
          </p:nvPr>
        </p:nvSpPr>
        <p:spPr>
          <a:xfrm>
            <a:off x="431800" y="1069975"/>
            <a:ext cx="8424863" cy="511175"/>
          </a:xfrm>
        </p:spPr>
        <p:txBody>
          <a:bodyPr/>
          <a:lstStyle/>
          <a:p>
            <a:pPr eaLnBrk="1" hangingPunct="1">
              <a:lnSpc>
                <a:spcPct val="93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mtClean="0"/>
              <a:t>Geoscience Pathways</a:t>
            </a:r>
          </a:p>
        </p:txBody>
      </p:sp>
      <p:sp>
        <p:nvSpPr>
          <p:cNvPr id="136194" name="Rectangle 2"/>
          <p:cNvSpPr>
            <a:spLocks noGrp="1" noChangeArrowheads="1"/>
          </p:cNvSpPr>
          <p:nvPr>
            <p:ph type="body" idx="4294967295"/>
          </p:nvPr>
        </p:nvSpPr>
        <p:spPr>
          <a:xfrm>
            <a:off x="438150" y="2262188"/>
            <a:ext cx="7826375" cy="803275"/>
          </a:xfrm>
        </p:spPr>
        <p:txBody>
          <a:bodyPr>
            <a:spAutoFit/>
          </a:bodyPr>
          <a:lstStyle/>
          <a:p>
            <a:pPr marL="0" indent="0" eaLnBrk="1" hangingPunct="1">
              <a:spcBef>
                <a:spcPct val="20000"/>
              </a:spcBef>
              <a:tabLst>
                <a:tab pos="1162050" algn="l"/>
                <a:tab pos="1611313" algn="l"/>
                <a:tab pos="2060575" algn="l"/>
                <a:tab pos="2509838" algn="l"/>
                <a:tab pos="2959100" algn="l"/>
                <a:tab pos="3408363" algn="l"/>
                <a:tab pos="3857625" algn="l"/>
                <a:tab pos="4306888" algn="l"/>
                <a:tab pos="4756150" algn="l"/>
                <a:tab pos="5205413" algn="l"/>
                <a:tab pos="5654675" algn="l"/>
                <a:tab pos="6103938" algn="l"/>
                <a:tab pos="6553200" algn="l"/>
                <a:tab pos="7002463" algn="l"/>
                <a:tab pos="7451725" algn="l"/>
                <a:tab pos="7900988" algn="l"/>
                <a:tab pos="8350250" algn="l"/>
                <a:tab pos="8799513" algn="l"/>
                <a:tab pos="9248775" algn="l"/>
                <a:tab pos="9698038" algn="l"/>
              </a:tabLst>
            </a:pPr>
            <a:r>
              <a:rPr lang="en-GB" smtClean="0"/>
              <a:t>TESEP uses this fabulous website to distribute materials</a:t>
            </a:r>
          </a:p>
          <a:p>
            <a:pPr marL="0" indent="0" algn="ctr" eaLnBrk="1" hangingPunct="1">
              <a:spcBef>
                <a:spcPct val="20000"/>
              </a:spcBef>
              <a:buFont typeface="Arial" charset="0"/>
              <a:buNone/>
              <a:tabLst>
                <a:tab pos="1162050" algn="l"/>
                <a:tab pos="1611313" algn="l"/>
                <a:tab pos="2060575" algn="l"/>
                <a:tab pos="2509838" algn="l"/>
                <a:tab pos="2959100" algn="l"/>
                <a:tab pos="3408363" algn="l"/>
                <a:tab pos="3857625" algn="l"/>
                <a:tab pos="4306888" algn="l"/>
                <a:tab pos="4756150" algn="l"/>
                <a:tab pos="5205413" algn="l"/>
                <a:tab pos="5654675" algn="l"/>
                <a:tab pos="6103938" algn="l"/>
                <a:tab pos="6553200" algn="l"/>
                <a:tab pos="7002463" algn="l"/>
                <a:tab pos="7451725" algn="l"/>
                <a:tab pos="7900988" algn="l"/>
                <a:tab pos="8350250" algn="l"/>
                <a:tab pos="8799513" algn="l"/>
                <a:tab pos="9248775" algn="l"/>
                <a:tab pos="9698038" algn="l"/>
              </a:tabLst>
            </a:pPr>
            <a:r>
              <a:rPr lang="en-GB" smtClean="0">
                <a:solidFill>
                  <a:srgbClr val="0000FF"/>
                </a:solidFill>
                <a:hlinkClick r:id="rId3"/>
              </a:rPr>
              <a:t>www.geosciencepathways.org.au</a:t>
            </a:r>
          </a:p>
        </p:txBody>
      </p:sp>
      <p:pic>
        <p:nvPicPr>
          <p:cNvPr id="136195" name="Picture 3"/>
          <p:cNvPicPr>
            <a:picLocks noChangeAspect="1" noChangeArrowheads="1"/>
          </p:cNvPicPr>
          <p:nvPr/>
        </p:nvPicPr>
        <p:blipFill>
          <a:blip r:embed="rId4"/>
          <a:srcRect t="2011"/>
          <a:stretch>
            <a:fillRect/>
          </a:stretch>
        </p:blipFill>
        <p:spPr bwMode="auto">
          <a:xfrm>
            <a:off x="1952625" y="3308350"/>
            <a:ext cx="4819650" cy="3332163"/>
          </a:xfrm>
          <a:prstGeom prst="rect">
            <a:avLst/>
          </a:prstGeom>
          <a:noFill/>
          <a:ln w="9525">
            <a:noFill/>
            <a:miter lim="800000"/>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1"/>
          <p:cNvSpPr>
            <a:spLocks noGrp="1" noChangeArrowheads="1"/>
          </p:cNvSpPr>
          <p:nvPr>
            <p:ph type="title"/>
          </p:nvPr>
        </p:nvSpPr>
        <p:spPr>
          <a:xfrm>
            <a:off x="395288" y="968375"/>
            <a:ext cx="3098800" cy="511175"/>
          </a:xfrm>
        </p:spPr>
        <p:txBody>
          <a:bodyPr wrap="none"/>
          <a:lstStyle/>
          <a:p>
            <a:pPr eaLnBrk="1" hangingPunct="1">
              <a:lnSpc>
                <a:spcPct val="93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mtClean="0"/>
              <a:t>Please partner!</a:t>
            </a:r>
          </a:p>
        </p:txBody>
      </p:sp>
      <p:sp>
        <p:nvSpPr>
          <p:cNvPr id="138242" name="Rectangle 2"/>
          <p:cNvSpPr>
            <a:spLocks noGrp="1" noChangeArrowheads="1"/>
          </p:cNvSpPr>
          <p:nvPr>
            <p:ph type="body" idx="1"/>
          </p:nvPr>
        </p:nvSpPr>
        <p:spPr>
          <a:xfrm>
            <a:off x="501650" y="1985963"/>
            <a:ext cx="6518275" cy="4608512"/>
          </a:xfrm>
        </p:spPr>
        <p:txBody>
          <a:bodyPr/>
          <a:lstStyle/>
          <a:p>
            <a:pPr eaLnBrk="1" hangingPunct="1">
              <a:lnSpc>
                <a:spcPct val="93000"/>
              </a:lnSpc>
              <a:buFont typeface="Arial" charset="0"/>
              <a:buChar char="•"/>
              <a:tabLst>
                <a:tab pos="628650" algn="l"/>
                <a:tab pos="1077913" algn="l"/>
                <a:tab pos="1527175" algn="l"/>
                <a:tab pos="1976438" algn="l"/>
                <a:tab pos="2425700" algn="l"/>
                <a:tab pos="2874963" algn="l"/>
                <a:tab pos="3324225" algn="l"/>
                <a:tab pos="3773488" algn="l"/>
                <a:tab pos="4222750" algn="l"/>
                <a:tab pos="4672013" algn="l"/>
                <a:tab pos="5121275" algn="l"/>
                <a:tab pos="5570538" algn="l"/>
                <a:tab pos="6019800" algn="l"/>
                <a:tab pos="6469063" algn="l"/>
                <a:tab pos="6918325" algn="l"/>
                <a:tab pos="7367588" algn="l"/>
                <a:tab pos="7816850" algn="l"/>
                <a:tab pos="8266113" algn="l"/>
                <a:tab pos="8715375" algn="l"/>
                <a:tab pos="9164638" algn="l"/>
              </a:tabLst>
            </a:pPr>
            <a:r>
              <a:rPr lang="en-AU" smtClean="0"/>
              <a:t>TESEP will only succeed in the long term if we continue to grow our partnerships</a:t>
            </a:r>
          </a:p>
          <a:p>
            <a:pPr eaLnBrk="1" hangingPunct="1">
              <a:lnSpc>
                <a:spcPct val="93000"/>
              </a:lnSpc>
              <a:buFont typeface="Arial" charset="0"/>
              <a:buChar char="•"/>
              <a:tabLst>
                <a:tab pos="628650" algn="l"/>
                <a:tab pos="1077913" algn="l"/>
                <a:tab pos="1527175" algn="l"/>
                <a:tab pos="1976438" algn="l"/>
                <a:tab pos="2425700" algn="l"/>
                <a:tab pos="2874963" algn="l"/>
                <a:tab pos="3324225" algn="l"/>
                <a:tab pos="3773488" algn="l"/>
                <a:tab pos="4222750" algn="l"/>
                <a:tab pos="4672013" algn="l"/>
                <a:tab pos="5121275" algn="l"/>
                <a:tab pos="5570538" algn="l"/>
                <a:tab pos="6019800" algn="l"/>
                <a:tab pos="6469063" algn="l"/>
                <a:tab pos="6918325" algn="l"/>
                <a:tab pos="7367588" algn="l"/>
                <a:tab pos="7816850" algn="l"/>
                <a:tab pos="8266113" algn="l"/>
                <a:tab pos="8715375" algn="l"/>
                <a:tab pos="9164638" algn="l"/>
              </a:tabLst>
            </a:pPr>
            <a:r>
              <a:rPr lang="en-AU" smtClean="0"/>
              <a:t>Contact either</a:t>
            </a:r>
          </a:p>
          <a:p>
            <a:pPr marL="977900" lvl="1" indent="-255588" eaLnBrk="1" hangingPunct="1">
              <a:lnSpc>
                <a:spcPct val="93000"/>
              </a:lnSpc>
              <a:buFont typeface="Arial" charset="0"/>
              <a:buChar char="–"/>
              <a:tabLst>
                <a:tab pos="628650" algn="l"/>
                <a:tab pos="1077913" algn="l"/>
                <a:tab pos="1527175" algn="l"/>
                <a:tab pos="1976438" algn="l"/>
                <a:tab pos="2425700" algn="l"/>
                <a:tab pos="2874963" algn="l"/>
                <a:tab pos="3324225" algn="l"/>
                <a:tab pos="3773488" algn="l"/>
                <a:tab pos="4222750" algn="l"/>
                <a:tab pos="4672013" algn="l"/>
                <a:tab pos="5121275" algn="l"/>
                <a:tab pos="5570538" algn="l"/>
                <a:tab pos="6019800" algn="l"/>
                <a:tab pos="6469063" algn="l"/>
                <a:tab pos="6918325" algn="l"/>
                <a:tab pos="7367588" algn="l"/>
                <a:tab pos="7816850" algn="l"/>
                <a:tab pos="8266113" algn="l"/>
                <a:tab pos="8715375" algn="l"/>
                <a:tab pos="9164638" algn="l"/>
              </a:tabLst>
            </a:pPr>
            <a:r>
              <a:rPr lang="en-AU" smtClean="0"/>
              <a:t>Executive Officer, Greg McNamara</a:t>
            </a:r>
          </a:p>
          <a:p>
            <a:pPr marL="1385888" lvl="2" indent="-228600" eaLnBrk="1" hangingPunct="1">
              <a:lnSpc>
                <a:spcPct val="93000"/>
              </a:lnSpc>
              <a:buFont typeface="Arial" charset="0"/>
              <a:buChar char="•"/>
              <a:tabLst>
                <a:tab pos="628650" algn="l"/>
                <a:tab pos="1077913" algn="l"/>
                <a:tab pos="1527175" algn="l"/>
                <a:tab pos="1976438" algn="l"/>
                <a:tab pos="2425700" algn="l"/>
                <a:tab pos="2874963" algn="l"/>
                <a:tab pos="3324225" algn="l"/>
                <a:tab pos="3773488" algn="l"/>
                <a:tab pos="4222750" algn="l"/>
                <a:tab pos="4672013" algn="l"/>
                <a:tab pos="5121275" algn="l"/>
                <a:tab pos="5570538" algn="l"/>
                <a:tab pos="6019800" algn="l"/>
                <a:tab pos="6469063" algn="l"/>
                <a:tab pos="6918325" algn="l"/>
                <a:tab pos="7367588" algn="l"/>
                <a:tab pos="7816850" algn="l"/>
                <a:tab pos="8266113" algn="l"/>
                <a:tab pos="8715375" algn="l"/>
                <a:tab pos="9164638" algn="l"/>
              </a:tabLst>
            </a:pPr>
            <a:r>
              <a:rPr lang="en-AU" smtClean="0">
                <a:solidFill>
                  <a:srgbClr val="2D2DB9"/>
                </a:solidFill>
              </a:rPr>
              <a:t>eo@tesep.org.au</a:t>
            </a:r>
          </a:p>
          <a:p>
            <a:pPr marL="977900" lvl="1" indent="-255588" eaLnBrk="1" hangingPunct="1">
              <a:lnSpc>
                <a:spcPct val="93000"/>
              </a:lnSpc>
              <a:buFont typeface="Arial" charset="0"/>
              <a:buChar char="–"/>
              <a:tabLst>
                <a:tab pos="628650" algn="l"/>
                <a:tab pos="1077913" algn="l"/>
                <a:tab pos="1527175" algn="l"/>
                <a:tab pos="1976438" algn="l"/>
                <a:tab pos="2425700" algn="l"/>
                <a:tab pos="2874963" algn="l"/>
                <a:tab pos="3324225" algn="l"/>
                <a:tab pos="3773488" algn="l"/>
                <a:tab pos="4222750" algn="l"/>
                <a:tab pos="4672013" algn="l"/>
                <a:tab pos="5121275" algn="l"/>
                <a:tab pos="5570538" algn="l"/>
                <a:tab pos="6019800" algn="l"/>
                <a:tab pos="6469063" algn="l"/>
                <a:tab pos="6918325" algn="l"/>
                <a:tab pos="7367588" algn="l"/>
                <a:tab pos="7816850" algn="l"/>
                <a:tab pos="8266113" algn="l"/>
                <a:tab pos="8715375" algn="l"/>
                <a:tab pos="9164638" algn="l"/>
              </a:tabLst>
            </a:pPr>
            <a:r>
              <a:rPr lang="en-AU" smtClean="0"/>
              <a:t>Chairperson, Jill Stevens</a:t>
            </a:r>
          </a:p>
          <a:p>
            <a:pPr marL="1385888" lvl="2" indent="-228600" eaLnBrk="1" hangingPunct="1">
              <a:lnSpc>
                <a:spcPct val="93000"/>
              </a:lnSpc>
              <a:buFont typeface="Arial" charset="0"/>
              <a:buChar char="•"/>
              <a:tabLst>
                <a:tab pos="628650" algn="l"/>
                <a:tab pos="1077913" algn="l"/>
                <a:tab pos="1527175" algn="l"/>
                <a:tab pos="1976438" algn="l"/>
                <a:tab pos="2425700" algn="l"/>
                <a:tab pos="2874963" algn="l"/>
                <a:tab pos="3324225" algn="l"/>
                <a:tab pos="3773488" algn="l"/>
                <a:tab pos="4222750" algn="l"/>
                <a:tab pos="4672013" algn="l"/>
                <a:tab pos="5121275" algn="l"/>
                <a:tab pos="5570538" algn="l"/>
                <a:tab pos="6019800" algn="l"/>
                <a:tab pos="6469063" algn="l"/>
                <a:tab pos="6918325" algn="l"/>
                <a:tab pos="7367588" algn="l"/>
                <a:tab pos="7816850" algn="l"/>
                <a:tab pos="8266113" algn="l"/>
                <a:tab pos="8715375" algn="l"/>
                <a:tab pos="9164638" algn="l"/>
              </a:tabLst>
            </a:pPr>
            <a:r>
              <a:rPr lang="en-AU" smtClean="0">
                <a:solidFill>
                  <a:srgbClr val="2D2DB9"/>
                </a:solidFill>
              </a:rPr>
              <a:t>cp@tesep.org.au</a:t>
            </a:r>
          </a:p>
          <a:p>
            <a:pPr eaLnBrk="1" hangingPunct="1">
              <a:lnSpc>
                <a:spcPct val="93000"/>
              </a:lnSpc>
              <a:buClrTx/>
              <a:buSzTx/>
              <a:buFontTx/>
              <a:buNone/>
              <a:tabLst>
                <a:tab pos="628650" algn="l"/>
                <a:tab pos="1077913" algn="l"/>
                <a:tab pos="1527175" algn="l"/>
                <a:tab pos="1976438" algn="l"/>
                <a:tab pos="2425700" algn="l"/>
                <a:tab pos="2874963" algn="l"/>
                <a:tab pos="3324225" algn="l"/>
                <a:tab pos="3773488" algn="l"/>
                <a:tab pos="4222750" algn="l"/>
                <a:tab pos="4672013" algn="l"/>
                <a:tab pos="5121275" algn="l"/>
                <a:tab pos="5570538" algn="l"/>
                <a:tab pos="6019800" algn="l"/>
                <a:tab pos="6469063" algn="l"/>
                <a:tab pos="6918325" algn="l"/>
                <a:tab pos="7367588" algn="l"/>
                <a:tab pos="7816850" algn="l"/>
                <a:tab pos="8266113" algn="l"/>
                <a:tab pos="8715375" algn="l"/>
                <a:tab pos="9164638" algn="l"/>
              </a:tabLst>
            </a:pPr>
            <a:r>
              <a:rPr lang="en-AU" smtClean="0"/>
              <a:t>	to discuss the options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1"/>
          <p:cNvSpPr>
            <a:spLocks noGrp="1" noChangeArrowheads="1"/>
          </p:cNvSpPr>
          <p:nvPr>
            <p:ph type="body"/>
          </p:nvPr>
        </p:nvSpPr>
        <p:spPr>
          <a:xfrm>
            <a:off x="395288" y="1844675"/>
            <a:ext cx="6380162" cy="339725"/>
          </a:xfrm>
          <a:extLst/>
        </p:spPr>
        <p:txBody>
          <a:bodyPr anchor="t"/>
          <a:lstStyle/>
          <a:p>
            <a:pPr marL="180975" indent="-180975" eaLnBrk="1" hangingPunct="1">
              <a:lnSpc>
                <a:spcPct val="93000"/>
              </a:lnSpc>
              <a:spcBef>
                <a:spcPct val="40000"/>
              </a:spcBef>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AU" sz="2400" smtClean="0"/>
              <a:t>TESEP wishes to thank the following partners</a:t>
            </a:r>
          </a:p>
        </p:txBody>
      </p:sp>
      <p:sp>
        <p:nvSpPr>
          <p:cNvPr id="9218" name="Rectangle 2"/>
          <p:cNvSpPr>
            <a:spLocks noGrp="1" noChangeArrowheads="1"/>
          </p:cNvSpPr>
          <p:nvPr>
            <p:ph type="title" idx="1"/>
          </p:nvPr>
        </p:nvSpPr>
        <p:spPr>
          <a:xfrm>
            <a:off x="395288" y="968375"/>
            <a:ext cx="1727200" cy="511175"/>
          </a:xfrm>
          <a:extLst/>
        </p:spPr>
        <p:txBody>
          <a:bodyPr wrap="none" anchor="ctr">
            <a:spAutoFit/>
          </a:bodyPr>
          <a:lstStyle/>
          <a:p>
            <a:pPr marL="0" indent="0" eaLnBrk="1" hangingPunct="1">
              <a:lnSpc>
                <a:spcPct val="93000"/>
              </a:lnSpc>
              <a:spcBef>
                <a:spcPct val="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AU" sz="3600" smtClean="0"/>
              <a:t>Partners</a:t>
            </a:r>
          </a:p>
        </p:txBody>
      </p:sp>
      <p:sp>
        <p:nvSpPr>
          <p:cNvPr id="140291" name="Text Box 3"/>
          <p:cNvSpPr txBox="1">
            <a:spLocks noChangeArrowheads="1"/>
          </p:cNvSpPr>
          <p:nvPr/>
        </p:nvSpPr>
        <p:spPr bwMode="auto">
          <a:xfrm>
            <a:off x="396875" y="2586038"/>
            <a:ext cx="1371600" cy="304800"/>
          </a:xfrm>
          <a:prstGeom prst="rect">
            <a:avLst/>
          </a:prstGeom>
          <a:noFill/>
          <a:ln w="9525">
            <a:noFill/>
            <a:miter lim="800000"/>
            <a:headEnd/>
            <a:tailEnd/>
          </a:ln>
        </p:spPr>
        <p:txBody>
          <a:bodyPr wrap="none" lIns="0" tIns="0" rIns="0" bIns="0">
            <a:spAutoFit/>
          </a:bodyPr>
          <a:lstStyle/>
          <a:p>
            <a:pPr hangingPunct="0">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z="2000" b="1" i="0">
                <a:solidFill>
                  <a:srgbClr val="000000"/>
                </a:solidFill>
              </a:rPr>
              <a:t>PRINCIPAL</a:t>
            </a:r>
          </a:p>
        </p:txBody>
      </p:sp>
      <p:sp>
        <p:nvSpPr>
          <p:cNvPr id="140292" name="Text Box 4"/>
          <p:cNvSpPr txBox="1">
            <a:spLocks noChangeArrowheads="1"/>
          </p:cNvSpPr>
          <p:nvPr/>
        </p:nvSpPr>
        <p:spPr bwMode="auto">
          <a:xfrm>
            <a:off x="395288" y="3954463"/>
            <a:ext cx="1314450" cy="304800"/>
          </a:xfrm>
          <a:prstGeom prst="rect">
            <a:avLst/>
          </a:prstGeom>
          <a:noFill/>
          <a:ln w="9525">
            <a:noFill/>
            <a:miter lim="800000"/>
            <a:headEnd/>
            <a:tailEnd/>
          </a:ln>
        </p:spPr>
        <p:txBody>
          <a:bodyPr wrap="none" lIns="0" tIns="0" rIns="0" bIns="0">
            <a:spAutoFit/>
          </a:bodyPr>
          <a:lstStyle/>
          <a:p>
            <a:pPr hangingPunct="0">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z="2000" b="1" i="0">
                <a:solidFill>
                  <a:srgbClr val="000000"/>
                </a:solidFill>
              </a:rPr>
              <a:t>PLATINUM</a:t>
            </a:r>
          </a:p>
        </p:txBody>
      </p:sp>
      <p:sp>
        <p:nvSpPr>
          <p:cNvPr id="140293" name="Text Box 5"/>
          <p:cNvSpPr txBox="1">
            <a:spLocks noChangeArrowheads="1"/>
          </p:cNvSpPr>
          <p:nvPr/>
        </p:nvSpPr>
        <p:spPr bwMode="auto">
          <a:xfrm>
            <a:off x="395288" y="5106988"/>
            <a:ext cx="733425" cy="304800"/>
          </a:xfrm>
          <a:prstGeom prst="rect">
            <a:avLst/>
          </a:prstGeom>
          <a:noFill/>
          <a:ln w="9525">
            <a:noFill/>
            <a:miter lim="800000"/>
            <a:headEnd/>
            <a:tailEnd/>
          </a:ln>
        </p:spPr>
        <p:txBody>
          <a:bodyPr wrap="none" lIns="0" tIns="0" rIns="0" bIns="0">
            <a:spAutoFit/>
          </a:bodyPr>
          <a:lstStyle/>
          <a:p>
            <a:pPr hangingPunct="0">
              <a:buClr>
                <a:srgbClr val="000000"/>
              </a:buClr>
              <a:buSzPct val="100000"/>
              <a:buFont typeface="Times New Roman"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z="2000" b="1" i="0">
                <a:solidFill>
                  <a:srgbClr val="000000"/>
                </a:solidFill>
              </a:rPr>
              <a:t>GOLD</a:t>
            </a:r>
          </a:p>
        </p:txBody>
      </p:sp>
      <p:pic>
        <p:nvPicPr>
          <p:cNvPr id="140294" name="Picture 8"/>
          <p:cNvPicPr>
            <a:picLocks noChangeAspect="1" noChangeArrowheads="1"/>
          </p:cNvPicPr>
          <p:nvPr/>
        </p:nvPicPr>
        <p:blipFill>
          <a:blip r:embed="rId3"/>
          <a:srcRect/>
          <a:stretch>
            <a:fillRect/>
          </a:stretch>
        </p:blipFill>
        <p:spPr bwMode="auto">
          <a:xfrm>
            <a:off x="4675188" y="2420938"/>
            <a:ext cx="1439862" cy="1427162"/>
          </a:xfrm>
          <a:prstGeom prst="rect">
            <a:avLst/>
          </a:prstGeom>
          <a:noFill/>
          <a:ln w="9525">
            <a:noFill/>
            <a:miter lim="800000"/>
            <a:headEnd/>
            <a:tailEnd/>
          </a:ln>
        </p:spPr>
      </p:pic>
      <p:pic>
        <p:nvPicPr>
          <p:cNvPr id="140295" name="Picture 8"/>
          <p:cNvPicPr>
            <a:picLocks noChangeAspect="1" noChangeArrowheads="1"/>
          </p:cNvPicPr>
          <p:nvPr/>
        </p:nvPicPr>
        <p:blipFill>
          <a:blip r:embed="rId4"/>
          <a:srcRect/>
          <a:stretch>
            <a:fillRect/>
          </a:stretch>
        </p:blipFill>
        <p:spPr bwMode="auto">
          <a:xfrm>
            <a:off x="2414588" y="3922713"/>
            <a:ext cx="1039812" cy="912812"/>
          </a:xfrm>
          <a:prstGeom prst="rect">
            <a:avLst/>
          </a:prstGeom>
          <a:noFill/>
          <a:ln w="9525">
            <a:noFill/>
            <a:miter lim="800000"/>
            <a:headEnd/>
            <a:tailEnd/>
          </a:ln>
        </p:spPr>
      </p:pic>
      <p:pic>
        <p:nvPicPr>
          <p:cNvPr id="140296" name="Picture 9"/>
          <p:cNvPicPr>
            <a:picLocks noChangeAspect="1" noChangeArrowheads="1"/>
          </p:cNvPicPr>
          <p:nvPr/>
        </p:nvPicPr>
        <p:blipFill>
          <a:blip r:embed="rId5"/>
          <a:srcRect/>
          <a:stretch>
            <a:fillRect/>
          </a:stretch>
        </p:blipFill>
        <p:spPr bwMode="auto">
          <a:xfrm>
            <a:off x="4924425" y="4159250"/>
            <a:ext cx="2062163" cy="420688"/>
          </a:xfrm>
          <a:prstGeom prst="rect">
            <a:avLst/>
          </a:prstGeom>
          <a:noFill/>
          <a:ln w="9525">
            <a:noFill/>
            <a:miter lim="800000"/>
            <a:headEnd/>
            <a:tailEnd/>
          </a:ln>
        </p:spPr>
      </p:pic>
      <p:pic>
        <p:nvPicPr>
          <p:cNvPr id="140297" name="Picture 10"/>
          <p:cNvPicPr>
            <a:picLocks noChangeAspect="1" noChangeArrowheads="1"/>
          </p:cNvPicPr>
          <p:nvPr/>
        </p:nvPicPr>
        <p:blipFill>
          <a:blip r:embed="rId6"/>
          <a:srcRect/>
          <a:stretch>
            <a:fillRect/>
          </a:stretch>
        </p:blipFill>
        <p:spPr bwMode="auto">
          <a:xfrm>
            <a:off x="3625850" y="3862388"/>
            <a:ext cx="1017588" cy="1014412"/>
          </a:xfrm>
          <a:prstGeom prst="rect">
            <a:avLst/>
          </a:prstGeom>
          <a:noFill/>
          <a:ln w="9525">
            <a:noFill/>
            <a:miter lim="800000"/>
            <a:headEnd/>
            <a:tailEnd/>
          </a:ln>
        </p:spPr>
      </p:pic>
      <p:pic>
        <p:nvPicPr>
          <p:cNvPr id="140298" name="Picture 16"/>
          <p:cNvPicPr>
            <a:picLocks noChangeAspect="1" noChangeArrowheads="1"/>
          </p:cNvPicPr>
          <p:nvPr/>
        </p:nvPicPr>
        <p:blipFill>
          <a:blip r:embed="rId7"/>
          <a:srcRect/>
          <a:stretch>
            <a:fillRect/>
          </a:stretch>
        </p:blipFill>
        <p:spPr bwMode="auto">
          <a:xfrm>
            <a:off x="2268538" y="2516188"/>
            <a:ext cx="2070100" cy="1233487"/>
          </a:xfrm>
          <a:prstGeom prst="rect">
            <a:avLst/>
          </a:prstGeom>
          <a:noFill/>
          <a:ln w="9525">
            <a:noFill/>
            <a:miter lim="800000"/>
            <a:headEnd/>
            <a:tailEnd/>
          </a:ln>
        </p:spPr>
      </p:pic>
      <p:pic>
        <p:nvPicPr>
          <p:cNvPr id="140299" name="Picture 19" descr="gold_current_partners_oct10_yellowback"/>
          <p:cNvPicPr>
            <a:picLocks noChangeAspect="1" noChangeArrowheads="1"/>
          </p:cNvPicPr>
          <p:nvPr/>
        </p:nvPicPr>
        <p:blipFill>
          <a:blip r:embed="rId8"/>
          <a:srcRect/>
          <a:stretch>
            <a:fillRect/>
          </a:stretch>
        </p:blipFill>
        <p:spPr bwMode="auto">
          <a:xfrm>
            <a:off x="2393950" y="5008563"/>
            <a:ext cx="5200650" cy="1554162"/>
          </a:xfrm>
          <a:prstGeom prst="rect">
            <a:avLst/>
          </a:prstGeom>
          <a:noFill/>
          <a:ln w="9525">
            <a:noFill/>
            <a:miter lim="800000"/>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1"/>
          <p:cNvSpPr>
            <a:spLocks noGrp="1" noChangeArrowheads="1"/>
          </p:cNvSpPr>
          <p:nvPr>
            <p:ph type="title"/>
          </p:nvPr>
        </p:nvSpPr>
        <p:spPr>
          <a:xfrm>
            <a:off x="395288" y="968375"/>
            <a:ext cx="1727200" cy="511175"/>
          </a:xfrm>
        </p:spPr>
        <p:txBody>
          <a:bodyPr wrap="none"/>
          <a:lstStyle/>
          <a:p>
            <a:pPr eaLnBrk="1" hangingPunct="1">
              <a:lnSpc>
                <a:spcPct val="93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mtClean="0"/>
              <a:t>Partners</a:t>
            </a:r>
          </a:p>
        </p:txBody>
      </p:sp>
      <p:sp>
        <p:nvSpPr>
          <p:cNvPr id="142338" name="Text Box 7"/>
          <p:cNvSpPr txBox="1">
            <a:spLocks noChangeArrowheads="1"/>
          </p:cNvSpPr>
          <p:nvPr/>
        </p:nvSpPr>
        <p:spPr bwMode="auto">
          <a:xfrm>
            <a:off x="4356100" y="1924050"/>
            <a:ext cx="4176713" cy="4610100"/>
          </a:xfrm>
          <a:prstGeom prst="rect">
            <a:avLst/>
          </a:prstGeom>
          <a:noFill/>
          <a:ln w="9525">
            <a:noFill/>
            <a:miter lim="800000"/>
            <a:headEnd/>
            <a:tailEnd/>
          </a:ln>
        </p:spPr>
        <p:txBody>
          <a:bodyPr lIns="0" tIns="0" rIns="0" bIns="0"/>
          <a:lstStyle/>
          <a:p>
            <a:pPr marL="361950" indent="-180975">
              <a:spcBef>
                <a:spcPts val="200"/>
              </a:spcBef>
              <a:buClr>
                <a:srgbClr val="000000"/>
              </a:buClr>
              <a:buSzPct val="100000"/>
              <a:buFont typeface="Times New Roman" pitchFamily="18" charset="0"/>
              <a:buNone/>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2000" b="1" i="0">
                <a:solidFill>
                  <a:schemeClr val="tx1"/>
                </a:solidFill>
              </a:rPr>
              <a:t>BRONZE</a:t>
            </a:r>
          </a:p>
          <a:p>
            <a:pPr marL="361950" indent="-180975" hangingPunct="0">
              <a:spcBef>
                <a:spcPts val="200"/>
              </a:spcBef>
              <a:buClr>
                <a:schemeClr val="tx1"/>
              </a:buClr>
              <a:buSzPct val="50000"/>
              <a:buFont typeface="Wingdings" pitchFamily="2" charset="2"/>
              <a:buChar char="l"/>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chemeClr val="tx1"/>
                </a:solidFill>
              </a:rPr>
              <a:t>Anglo Coal</a:t>
            </a:r>
          </a:p>
          <a:p>
            <a:pPr marL="361950" indent="-180975" hangingPunct="0">
              <a:spcBef>
                <a:spcPts val="200"/>
              </a:spcBef>
              <a:buClr>
                <a:schemeClr val="tx1"/>
              </a:buClr>
              <a:buSzPct val="50000"/>
              <a:buFont typeface="Wingdings" pitchFamily="2" charset="2"/>
              <a:buChar char="l"/>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chemeClr val="tx1"/>
                </a:solidFill>
              </a:rPr>
              <a:t>Australian Nuclear Science and Technology Organisation</a:t>
            </a:r>
          </a:p>
          <a:p>
            <a:pPr marL="361950" indent="-180975" hangingPunct="0">
              <a:spcBef>
                <a:spcPts val="200"/>
              </a:spcBef>
              <a:buClr>
                <a:schemeClr val="tx1"/>
              </a:buClr>
              <a:buSzPct val="50000"/>
              <a:buFont typeface="Wingdings" pitchFamily="2" charset="2"/>
              <a:buChar char="l"/>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chemeClr val="tx1"/>
                </a:solidFill>
              </a:rPr>
              <a:t>CS Energy</a:t>
            </a:r>
          </a:p>
          <a:p>
            <a:pPr marL="361950" indent="-180975" hangingPunct="0">
              <a:spcBef>
                <a:spcPts val="200"/>
              </a:spcBef>
              <a:buClr>
                <a:schemeClr val="tx1"/>
              </a:buClr>
              <a:buSzPct val="50000"/>
              <a:buFont typeface="Wingdings" pitchFamily="2" charset="2"/>
              <a:buChar char="l"/>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US" sz="1200" b="1" i="0">
                <a:solidFill>
                  <a:schemeClr val="tx1"/>
                </a:solidFill>
              </a:rPr>
              <a:t>Department of Sustainability and Environment</a:t>
            </a:r>
            <a:r>
              <a:rPr lang="en-GB" sz="1200" b="1" i="0">
                <a:solidFill>
                  <a:schemeClr val="tx1"/>
                </a:solidFill>
              </a:rPr>
              <a:t>, Vic</a:t>
            </a:r>
          </a:p>
          <a:p>
            <a:pPr marL="361950" indent="-180975" hangingPunct="0">
              <a:spcBef>
                <a:spcPts val="200"/>
              </a:spcBef>
              <a:buClr>
                <a:schemeClr val="tx1"/>
              </a:buClr>
              <a:buSzPct val="50000"/>
              <a:buFont typeface="Wingdings" pitchFamily="2" charset="2"/>
              <a:buChar char="l"/>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chemeClr val="tx1"/>
                </a:solidFill>
              </a:rPr>
              <a:t>Essential Petroleum</a:t>
            </a:r>
          </a:p>
          <a:p>
            <a:pPr marL="361950" indent="-180975" hangingPunct="0">
              <a:spcBef>
                <a:spcPts val="200"/>
              </a:spcBef>
              <a:buClr>
                <a:schemeClr val="tx1"/>
              </a:buClr>
              <a:buSzPct val="50000"/>
              <a:buFont typeface="Wingdings" pitchFamily="2" charset="2"/>
              <a:buChar char="l"/>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chemeClr val="tx1"/>
                </a:solidFill>
              </a:rPr>
              <a:t>Flinders University</a:t>
            </a:r>
          </a:p>
          <a:p>
            <a:pPr marL="361950" indent="-180975" hangingPunct="0">
              <a:spcBef>
                <a:spcPts val="200"/>
              </a:spcBef>
              <a:buClr>
                <a:schemeClr val="tx1"/>
              </a:buClr>
              <a:buSzPct val="50000"/>
              <a:buFont typeface="Wingdings" pitchFamily="2" charset="2"/>
              <a:buChar char="l"/>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chemeClr val="tx1"/>
                </a:solidFill>
              </a:rPr>
              <a:t>Gordon Wakelin King</a:t>
            </a:r>
          </a:p>
          <a:p>
            <a:pPr marL="361950" indent="-180975" hangingPunct="0">
              <a:spcBef>
                <a:spcPts val="200"/>
              </a:spcBef>
              <a:buClr>
                <a:schemeClr val="tx1"/>
              </a:buClr>
              <a:buSzPct val="50000"/>
              <a:buFont typeface="Wingdings" pitchFamily="2" charset="2"/>
              <a:buChar char="l"/>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chemeClr val="tx1"/>
                </a:solidFill>
              </a:rPr>
              <a:t>Great Artesian Basin Coordinating Committee</a:t>
            </a:r>
          </a:p>
          <a:p>
            <a:pPr marL="361950" indent="-180975" hangingPunct="0">
              <a:spcBef>
                <a:spcPts val="200"/>
              </a:spcBef>
              <a:buClr>
                <a:schemeClr val="tx1"/>
              </a:buClr>
              <a:buSzPct val="50000"/>
              <a:buFont typeface="Wingdings" pitchFamily="2" charset="2"/>
              <a:buChar char="l"/>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chemeClr val="tx1"/>
                </a:solidFill>
              </a:rPr>
              <a:t>Hot Dry Rocks</a:t>
            </a:r>
          </a:p>
          <a:p>
            <a:pPr marL="361950" indent="-180975" hangingPunct="0">
              <a:spcBef>
                <a:spcPts val="200"/>
              </a:spcBef>
              <a:buClr>
                <a:schemeClr val="tx1"/>
              </a:buClr>
              <a:buSzPct val="50000"/>
              <a:buFont typeface="Wingdings" pitchFamily="2" charset="2"/>
              <a:buChar char="l"/>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chemeClr val="tx1"/>
                </a:solidFill>
              </a:rPr>
              <a:t>Macquarie University</a:t>
            </a:r>
          </a:p>
          <a:p>
            <a:pPr marL="361950" indent="-180975" hangingPunct="0">
              <a:spcBef>
                <a:spcPts val="200"/>
              </a:spcBef>
              <a:buClr>
                <a:schemeClr val="tx1"/>
              </a:buClr>
              <a:buSzPct val="50000"/>
              <a:buFont typeface="Wingdings" pitchFamily="2" charset="2"/>
              <a:buChar char="l"/>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chemeClr val="tx1"/>
                </a:solidFill>
              </a:rPr>
              <a:t>Sandy Menpes</a:t>
            </a:r>
          </a:p>
          <a:p>
            <a:pPr marL="361950" indent="-180975" hangingPunct="0">
              <a:spcBef>
                <a:spcPts val="200"/>
              </a:spcBef>
              <a:buClr>
                <a:schemeClr val="tx1"/>
              </a:buClr>
              <a:buSzPct val="50000"/>
              <a:buFont typeface="Wingdings" pitchFamily="2" charset="2"/>
              <a:buChar char="l"/>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chemeClr val="tx1"/>
                </a:solidFill>
              </a:rPr>
              <a:t>Monash Energy</a:t>
            </a:r>
          </a:p>
          <a:p>
            <a:pPr marL="361950" indent="-180975" hangingPunct="0">
              <a:spcBef>
                <a:spcPts val="200"/>
              </a:spcBef>
              <a:buClr>
                <a:schemeClr val="tx1"/>
              </a:buClr>
              <a:buSzPct val="50000"/>
              <a:buFont typeface="Wingdings" pitchFamily="2" charset="2"/>
              <a:buChar char="l"/>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chemeClr val="tx1"/>
                </a:solidFill>
              </a:rPr>
              <a:t>Museum Victoria</a:t>
            </a:r>
          </a:p>
          <a:p>
            <a:pPr marL="361950" indent="-180975" hangingPunct="0">
              <a:spcBef>
                <a:spcPts val="200"/>
              </a:spcBef>
              <a:buClr>
                <a:schemeClr val="tx1"/>
              </a:buClr>
              <a:buSzPct val="50000"/>
              <a:buFont typeface="Wingdings" pitchFamily="2" charset="2"/>
              <a:buChar char="l"/>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chemeClr val="tx1"/>
                </a:solidFill>
              </a:rPr>
              <a:t>Our Water Our Future, Vic</a:t>
            </a:r>
          </a:p>
          <a:p>
            <a:pPr marL="361950" indent="-180975" hangingPunct="0">
              <a:spcBef>
                <a:spcPts val="200"/>
              </a:spcBef>
              <a:buClr>
                <a:schemeClr val="tx1"/>
              </a:buClr>
              <a:buSzPct val="50000"/>
              <a:buFont typeface="Wingdings" pitchFamily="2" charset="2"/>
              <a:buChar char="l"/>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chemeClr val="tx1"/>
                </a:solidFill>
              </a:rPr>
              <a:t>Petroleum Geo-Services</a:t>
            </a:r>
          </a:p>
          <a:p>
            <a:pPr marL="361950" indent="-180975" hangingPunct="0">
              <a:spcBef>
                <a:spcPts val="200"/>
              </a:spcBef>
              <a:buClr>
                <a:schemeClr val="tx1"/>
              </a:buClr>
              <a:buSzPct val="50000"/>
              <a:buFont typeface="Wingdings" pitchFamily="2" charset="2"/>
              <a:buChar char="l"/>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chemeClr val="tx1"/>
                </a:solidFill>
              </a:rPr>
              <a:t>Primary Industries and Resources SA</a:t>
            </a:r>
          </a:p>
          <a:p>
            <a:pPr marL="361950" indent="-180975" hangingPunct="0">
              <a:spcBef>
                <a:spcPts val="200"/>
              </a:spcBef>
              <a:buClr>
                <a:schemeClr val="tx1"/>
              </a:buClr>
              <a:buSzPct val="50000"/>
              <a:buFont typeface="Wingdings" pitchFamily="2" charset="2"/>
              <a:buChar char="l"/>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chemeClr val="tx1"/>
                </a:solidFill>
              </a:rPr>
              <a:t>Stanwell Corporation</a:t>
            </a:r>
          </a:p>
          <a:p>
            <a:pPr marL="361950" indent="-180975" hangingPunct="0">
              <a:spcBef>
                <a:spcPts val="200"/>
              </a:spcBef>
              <a:buClr>
                <a:schemeClr val="tx1"/>
              </a:buClr>
              <a:buSzPct val="50000"/>
              <a:buFont typeface="Wingdings" pitchFamily="2" charset="2"/>
              <a:buChar char="l"/>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chemeClr val="tx1"/>
                </a:solidFill>
              </a:rPr>
              <a:t>Velseis</a:t>
            </a:r>
          </a:p>
          <a:p>
            <a:pPr marL="361950" indent="-180975" hangingPunct="0">
              <a:spcBef>
                <a:spcPts val="200"/>
              </a:spcBef>
              <a:buClr>
                <a:schemeClr val="tx1"/>
              </a:buClr>
              <a:buSzPct val="50000"/>
              <a:buFont typeface="Wingdings" pitchFamily="2" charset="2"/>
              <a:buChar char="l"/>
              <a:tabLst>
                <a:tab pos="677863" algn="l"/>
                <a:tab pos="1127125" algn="l"/>
                <a:tab pos="1576388" algn="l"/>
                <a:tab pos="2025650" algn="l"/>
                <a:tab pos="2474913" algn="l"/>
                <a:tab pos="2924175" algn="l"/>
                <a:tab pos="3373438" algn="l"/>
                <a:tab pos="3822700" algn="l"/>
                <a:tab pos="4271963" algn="l"/>
                <a:tab pos="4721225" algn="l"/>
                <a:tab pos="5170488" algn="l"/>
                <a:tab pos="5619750" algn="l"/>
                <a:tab pos="6069013" algn="l"/>
                <a:tab pos="6518275" algn="l"/>
                <a:tab pos="6967538" algn="l"/>
                <a:tab pos="7416800" algn="l"/>
                <a:tab pos="7866063" algn="l"/>
                <a:tab pos="8315325" algn="l"/>
                <a:tab pos="8764588" algn="l"/>
                <a:tab pos="9213850" algn="l"/>
              </a:tabLst>
            </a:pPr>
            <a:r>
              <a:rPr lang="en-GB" sz="1200" b="1" i="0">
                <a:solidFill>
                  <a:schemeClr val="tx1"/>
                </a:solidFill>
              </a:rPr>
              <a:t>ZeroGen</a:t>
            </a:r>
          </a:p>
        </p:txBody>
      </p:sp>
      <p:sp>
        <p:nvSpPr>
          <p:cNvPr id="142339" name="Text Box 3"/>
          <p:cNvSpPr txBox="1">
            <a:spLocks noChangeArrowheads="1"/>
          </p:cNvSpPr>
          <p:nvPr/>
        </p:nvSpPr>
        <p:spPr bwMode="auto">
          <a:xfrm>
            <a:off x="379413" y="1924050"/>
            <a:ext cx="4192587" cy="4745038"/>
          </a:xfrm>
          <a:prstGeom prst="rect">
            <a:avLst/>
          </a:prstGeom>
          <a:noFill/>
          <a:ln w="9525">
            <a:noFill/>
            <a:miter lim="800000"/>
            <a:headEnd/>
            <a:tailEnd/>
          </a:ln>
        </p:spPr>
        <p:txBody>
          <a:bodyPr lIns="0" tIns="0" rIns="0" bIns="0"/>
          <a:lstStyle/>
          <a:p>
            <a:pPr marL="180975" indent="-180975" hangingPunct="0">
              <a:spcBef>
                <a:spcPts val="1200"/>
              </a:spcBef>
              <a:buClr>
                <a:srgbClr val="000000"/>
              </a:buCl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2000" b="1" i="0">
                <a:solidFill>
                  <a:schemeClr val="tx1"/>
                </a:solidFill>
              </a:rPr>
              <a:t>SILVER</a:t>
            </a:r>
          </a:p>
          <a:p>
            <a:pPr marL="180975" indent="-180975">
              <a:spcBef>
                <a:spcPts val="600"/>
              </a:spcBef>
              <a:buClr>
                <a:schemeClr val="tx1"/>
              </a:buClr>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b="1" i="0">
                <a:solidFill>
                  <a:schemeClr val="tx1"/>
                </a:solidFill>
              </a:rPr>
              <a:t>The Australian National University</a:t>
            </a:r>
          </a:p>
          <a:p>
            <a:pPr marL="180975" indent="-180975">
              <a:spcBef>
                <a:spcPts val="1200"/>
              </a:spcBef>
              <a:buClr>
                <a:schemeClr val="tx1"/>
              </a:buClr>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sz="1600" b="1" i="0">
                <a:solidFill>
                  <a:schemeClr val="tx1"/>
                </a:solidFill>
              </a:rPr>
              <a:t>Department of Primary Industries, Vic</a:t>
            </a:r>
            <a:endParaRPr lang="en-GB" sz="1600" b="1" i="0">
              <a:solidFill>
                <a:schemeClr val="tx1"/>
              </a:solidFill>
            </a:endParaRPr>
          </a:p>
          <a:p>
            <a:pPr marL="180975" indent="-180975">
              <a:spcBef>
                <a:spcPts val="1200"/>
              </a:spcBef>
              <a:buClr>
                <a:schemeClr val="tx1"/>
              </a:buClr>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b="1" i="0">
                <a:solidFill>
                  <a:schemeClr val="tx1"/>
                </a:solidFill>
              </a:rPr>
              <a:t>Earth Science Western Australia</a:t>
            </a:r>
          </a:p>
          <a:p>
            <a:pPr marL="180975" indent="-180975">
              <a:spcBef>
                <a:spcPts val="1200"/>
              </a:spcBef>
              <a:buClr>
                <a:schemeClr val="tx1"/>
              </a:buClr>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b="1" i="0">
                <a:solidFill>
                  <a:schemeClr val="tx1"/>
                </a:solidFill>
              </a:rPr>
              <a:t>Pitney Bowes Business Insight</a:t>
            </a:r>
          </a:p>
          <a:p>
            <a:pPr marL="180975" indent="-180975" hangingPunct="0">
              <a:spcBef>
                <a:spcPts val="1200"/>
              </a:spcBef>
              <a:buClr>
                <a:schemeClr val="tx1"/>
              </a:buClr>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b="1" i="0">
                <a:solidFill>
                  <a:schemeClr val="tx1"/>
                </a:solidFill>
              </a:rPr>
              <a:t>PowerWorks</a:t>
            </a:r>
          </a:p>
          <a:p>
            <a:pPr marL="180975" indent="-180975" hangingPunct="0">
              <a:spcBef>
                <a:spcPts val="1200"/>
              </a:spcBef>
              <a:buClr>
                <a:schemeClr val="tx1"/>
              </a:buClr>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b="1" i="0">
                <a:solidFill>
                  <a:schemeClr val="tx1"/>
                </a:solidFill>
              </a:rPr>
              <a:t>Queensland Resources Council</a:t>
            </a:r>
          </a:p>
          <a:p>
            <a:pPr marL="180975" indent="-180975" hangingPunct="0">
              <a:spcBef>
                <a:spcPts val="1200"/>
              </a:spcBef>
              <a:buClr>
                <a:schemeClr val="tx1"/>
              </a:buClr>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b="1" i="0">
                <a:solidFill>
                  <a:schemeClr val="tx1"/>
                </a:solidFill>
              </a:rPr>
              <a:t>Rob Kirk Consultants</a:t>
            </a:r>
          </a:p>
          <a:p>
            <a:pPr marL="180975" indent="-180975" hangingPunct="0">
              <a:spcBef>
                <a:spcPts val="1200"/>
              </a:spcBef>
              <a:buClr>
                <a:schemeClr val="tx1"/>
              </a:buClr>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b="1" i="0">
                <a:solidFill>
                  <a:schemeClr val="tx1"/>
                </a:solidFill>
              </a:rPr>
              <a:t>The University of Sydney</a:t>
            </a:r>
          </a:p>
          <a:p>
            <a:pPr marL="180975" indent="-180975" hangingPunct="0">
              <a:spcBef>
                <a:spcPts val="1200"/>
              </a:spcBef>
              <a:buClr>
                <a:schemeClr val="tx1"/>
              </a:buClr>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sz="1600" b="1" i="0">
                <a:solidFill>
                  <a:schemeClr val="tx1"/>
                </a:solidFill>
              </a:rPr>
              <a:t>University of Tasmania </a:t>
            </a:r>
          </a:p>
          <a:p>
            <a:pPr marL="628650" lvl="1" indent="-182563" hangingPunct="0">
              <a:spcBef>
                <a:spcPts val="1200"/>
              </a:spcBef>
              <a:buClr>
                <a:srgbClr val="FFFFFF"/>
              </a:buClr>
              <a:buFontTx/>
              <a:buChar cha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sz="1600" b="1" i="0">
              <a:solidFill>
                <a:schemeClr val="tx1"/>
              </a:solidFill>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1"/>
          <p:cNvSpPr>
            <a:spLocks noGrp="1" noChangeArrowheads="1"/>
          </p:cNvSpPr>
          <p:nvPr>
            <p:ph type="title" idx="4294967295"/>
          </p:nvPr>
        </p:nvSpPr>
        <p:spPr>
          <a:xfrm>
            <a:off x="431800" y="1069975"/>
            <a:ext cx="8424863" cy="511175"/>
          </a:xfrm>
        </p:spPr>
        <p:txBody>
          <a:bodyPr/>
          <a:lstStyle/>
          <a:p>
            <a:pPr eaLnBrk="1" hangingPunct="1">
              <a:lnSpc>
                <a:spcPct val="93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mtClean="0"/>
              <a:t>TESEP</a:t>
            </a:r>
          </a:p>
        </p:txBody>
      </p:sp>
      <p:sp>
        <p:nvSpPr>
          <p:cNvPr id="144386" name="Rectangle 2"/>
          <p:cNvSpPr>
            <a:spLocks noGrp="1" noChangeArrowheads="1"/>
          </p:cNvSpPr>
          <p:nvPr>
            <p:ph type="body" idx="4294967295"/>
          </p:nvPr>
        </p:nvSpPr>
        <p:spPr>
          <a:xfrm>
            <a:off x="471488" y="1873250"/>
            <a:ext cx="7345362" cy="4608513"/>
          </a:xfrm>
        </p:spPr>
        <p:txBody>
          <a:bodyPr/>
          <a:lstStyle/>
          <a:p>
            <a:pPr marL="523875" indent="-317500" eaLnBrk="1" hangingPunct="1">
              <a:lnSpc>
                <a:spcPct val="93000"/>
              </a:lnSpc>
              <a:tabLst>
                <a:tab pos="525463" algn="l"/>
                <a:tab pos="630238" algn="l"/>
                <a:tab pos="1079500" algn="l"/>
                <a:tab pos="1528763" algn="l"/>
                <a:tab pos="1978025" algn="l"/>
                <a:tab pos="2427288" algn="l"/>
                <a:tab pos="2876550" algn="l"/>
                <a:tab pos="3325813" algn="l"/>
                <a:tab pos="3775075" algn="l"/>
                <a:tab pos="4224338" algn="l"/>
                <a:tab pos="4673600" algn="l"/>
                <a:tab pos="5122863" algn="l"/>
                <a:tab pos="5572125" algn="l"/>
                <a:tab pos="6021388" algn="l"/>
                <a:tab pos="6470650" algn="l"/>
                <a:tab pos="6919913" algn="l"/>
                <a:tab pos="7369175" algn="l"/>
                <a:tab pos="7818438" algn="l"/>
                <a:tab pos="8267700" algn="l"/>
                <a:tab pos="8716963" algn="l"/>
                <a:tab pos="9166225" algn="l"/>
              </a:tabLst>
            </a:pPr>
            <a:r>
              <a:rPr lang="en-AU" smtClean="0"/>
              <a:t>Also wishes to thank:</a:t>
            </a:r>
          </a:p>
          <a:p>
            <a:pPr marL="523875" indent="-317500" eaLnBrk="1" hangingPunct="1">
              <a:lnSpc>
                <a:spcPct val="93000"/>
              </a:lnSpc>
              <a:buSzPct val="45000"/>
              <a:buFont typeface="Wingdings" pitchFamily="2" charset="2"/>
              <a:buChar char=""/>
              <a:tabLst>
                <a:tab pos="525463" algn="l"/>
                <a:tab pos="630238" algn="l"/>
                <a:tab pos="1079500" algn="l"/>
                <a:tab pos="1528763" algn="l"/>
                <a:tab pos="1978025" algn="l"/>
                <a:tab pos="2427288" algn="l"/>
                <a:tab pos="2876550" algn="l"/>
                <a:tab pos="3325813" algn="l"/>
                <a:tab pos="3775075" algn="l"/>
                <a:tab pos="4224338" algn="l"/>
                <a:tab pos="4673600" algn="l"/>
                <a:tab pos="5122863" algn="l"/>
                <a:tab pos="5572125" algn="l"/>
                <a:tab pos="6021388" algn="l"/>
                <a:tab pos="6470650" algn="l"/>
                <a:tab pos="6919913" algn="l"/>
                <a:tab pos="7369175" algn="l"/>
                <a:tab pos="7818438" algn="l"/>
                <a:tab pos="8267700" algn="l"/>
                <a:tab pos="8716963" algn="l"/>
                <a:tab pos="9166225" algn="l"/>
              </a:tabLst>
            </a:pPr>
            <a:r>
              <a:rPr lang="en-AU" sz="2000" smtClean="0"/>
              <a:t>Australian Geoscience Council</a:t>
            </a:r>
          </a:p>
          <a:p>
            <a:pPr marL="523875" indent="-317500" eaLnBrk="1" hangingPunct="1">
              <a:lnSpc>
                <a:spcPct val="93000"/>
              </a:lnSpc>
              <a:buSzPct val="45000"/>
              <a:buFont typeface="Wingdings" pitchFamily="2" charset="2"/>
              <a:buChar char=""/>
              <a:tabLst>
                <a:tab pos="525463" algn="l"/>
                <a:tab pos="630238" algn="l"/>
                <a:tab pos="1079500" algn="l"/>
                <a:tab pos="1528763" algn="l"/>
                <a:tab pos="1978025" algn="l"/>
                <a:tab pos="2427288" algn="l"/>
                <a:tab pos="2876550" algn="l"/>
                <a:tab pos="3325813" algn="l"/>
                <a:tab pos="3775075" algn="l"/>
                <a:tab pos="4224338" algn="l"/>
                <a:tab pos="4673600" algn="l"/>
                <a:tab pos="5122863" algn="l"/>
                <a:tab pos="5572125" algn="l"/>
                <a:tab pos="6021388" algn="l"/>
                <a:tab pos="6470650" algn="l"/>
                <a:tab pos="6919913" algn="l"/>
                <a:tab pos="7369175" algn="l"/>
                <a:tab pos="7818438" algn="l"/>
                <a:tab pos="8267700" algn="l"/>
                <a:tab pos="8716963" algn="l"/>
                <a:tab pos="9166225" algn="l"/>
              </a:tabLst>
            </a:pPr>
            <a:r>
              <a:rPr lang="en-AU" sz="2000" smtClean="0"/>
              <a:t>Australasian Institute of Mining and Metallurgy</a:t>
            </a:r>
          </a:p>
          <a:p>
            <a:pPr marL="523875" indent="-317500" eaLnBrk="1" hangingPunct="1">
              <a:lnSpc>
                <a:spcPct val="93000"/>
              </a:lnSpc>
              <a:buSzPct val="45000"/>
              <a:buFont typeface="Wingdings" pitchFamily="2" charset="2"/>
              <a:buChar char=""/>
              <a:tabLst>
                <a:tab pos="525463" algn="l"/>
                <a:tab pos="630238" algn="l"/>
                <a:tab pos="1079500" algn="l"/>
                <a:tab pos="1528763" algn="l"/>
                <a:tab pos="1978025" algn="l"/>
                <a:tab pos="2427288" algn="l"/>
                <a:tab pos="2876550" algn="l"/>
                <a:tab pos="3325813" algn="l"/>
                <a:tab pos="3775075" algn="l"/>
                <a:tab pos="4224338" algn="l"/>
                <a:tab pos="4673600" algn="l"/>
                <a:tab pos="5122863" algn="l"/>
                <a:tab pos="5572125" algn="l"/>
                <a:tab pos="6021388" algn="l"/>
                <a:tab pos="6470650" algn="l"/>
                <a:tab pos="6919913" algn="l"/>
                <a:tab pos="7369175" algn="l"/>
                <a:tab pos="7818438" algn="l"/>
                <a:tab pos="8267700" algn="l"/>
                <a:tab pos="8716963" algn="l"/>
                <a:tab pos="9166225" algn="l"/>
              </a:tabLst>
            </a:pPr>
            <a:r>
              <a:rPr lang="en-AU" sz="2000" smtClean="0"/>
              <a:t>Geoscience Australia</a:t>
            </a:r>
          </a:p>
          <a:p>
            <a:pPr marL="523875" indent="-317500" eaLnBrk="1" hangingPunct="1">
              <a:lnSpc>
                <a:spcPct val="93000"/>
              </a:lnSpc>
              <a:buSzPct val="45000"/>
              <a:buFont typeface="Wingdings" pitchFamily="2" charset="2"/>
              <a:buChar char=""/>
              <a:tabLst>
                <a:tab pos="525463" algn="l"/>
                <a:tab pos="630238" algn="l"/>
                <a:tab pos="1079500" algn="l"/>
                <a:tab pos="1528763" algn="l"/>
                <a:tab pos="1978025" algn="l"/>
                <a:tab pos="2427288" algn="l"/>
                <a:tab pos="2876550" algn="l"/>
                <a:tab pos="3325813" algn="l"/>
                <a:tab pos="3775075" algn="l"/>
                <a:tab pos="4224338" algn="l"/>
                <a:tab pos="4673600" algn="l"/>
                <a:tab pos="5122863" algn="l"/>
                <a:tab pos="5572125" algn="l"/>
                <a:tab pos="6021388" algn="l"/>
                <a:tab pos="6470650" algn="l"/>
                <a:tab pos="6919913" algn="l"/>
                <a:tab pos="7369175" algn="l"/>
                <a:tab pos="7818438" algn="l"/>
                <a:tab pos="8267700" algn="l"/>
                <a:tab pos="8716963" algn="l"/>
                <a:tab pos="9166225" algn="l"/>
              </a:tabLst>
            </a:pPr>
            <a:r>
              <a:rPr lang="en-AU" sz="2000" smtClean="0"/>
              <a:t>Minerals Council Australia</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1"/>
          <p:cNvSpPr>
            <a:spLocks noGrp="1" noChangeArrowheads="1"/>
          </p:cNvSpPr>
          <p:nvPr>
            <p:ph type="title" idx="4294967295"/>
          </p:nvPr>
        </p:nvSpPr>
        <p:spPr>
          <a:xfrm>
            <a:off x="431800" y="1069975"/>
            <a:ext cx="8424863" cy="511175"/>
          </a:xfrm>
        </p:spPr>
        <p:txBody>
          <a:bodyPr/>
          <a:lstStyle/>
          <a:p>
            <a:pPr eaLnBrk="1" hangingPunct="1">
              <a:lnSpc>
                <a:spcPct val="93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AU" smtClean="0"/>
              <a:t>Thank you</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2D2DB9"/>
      </a:hlink>
      <a:folHlink>
        <a:srgbClr val="2D2DB9"/>
      </a:folHlink>
    </a:clrScheme>
    <a:fontScheme name="Office Theme">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31000"/>
          </a:lnSpc>
          <a:spcBef>
            <a:spcPct val="0"/>
          </a:spcBef>
          <a:spcAft>
            <a:spcPct val="0"/>
          </a:spcAft>
          <a:buClr>
            <a:srgbClr val="000000"/>
          </a:buClr>
          <a:buSzPct val="100000"/>
          <a:buFont typeface="Times New Roman" pitchFamily="18" charset="0"/>
          <a:buNone/>
          <a:tabLst/>
          <a:defRPr kumimoji="0" lang="en-AU" sz="1800" b="0" i="1" u="none" strike="noStrike" cap="none" normalizeH="0" baseline="0" smtClean="0">
            <a:ln>
              <a:noFill/>
            </a:ln>
            <a:solidFill>
              <a:schemeClr val="bg1"/>
            </a:solidFill>
            <a:effectLst/>
            <a:latin typeface="Arial" charset="0"/>
            <a:cs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31000"/>
          </a:lnSpc>
          <a:spcBef>
            <a:spcPct val="0"/>
          </a:spcBef>
          <a:spcAft>
            <a:spcPct val="0"/>
          </a:spcAft>
          <a:buClr>
            <a:srgbClr val="000000"/>
          </a:buClr>
          <a:buSzPct val="100000"/>
          <a:buFont typeface="Times New Roman" pitchFamily="18" charset="0"/>
          <a:buNone/>
          <a:tabLst/>
          <a:defRPr kumimoji="0" lang="en-AU" sz="1800" b="0" i="1" u="none" strike="noStrike" cap="none" normalizeH="0" baseline="0" smtClean="0">
            <a:ln>
              <a:noFill/>
            </a:ln>
            <a:solidFill>
              <a:schemeClr val="bg1"/>
            </a:solidFill>
            <a:effectLst/>
            <a:latin typeface="Arial" charset="0"/>
            <a:cs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TESEP_template_corporate_style_rev_15apr2010</Template>
  <TotalTime>3730</TotalTime>
  <Words>9511</Words>
  <Application>Microsoft Office PowerPoint</Application>
  <PresentationFormat>On-screen Show (4:3)</PresentationFormat>
  <Paragraphs>708</Paragraphs>
  <Slides>65</Slides>
  <Notes>65</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65</vt:i4>
      </vt:variant>
    </vt:vector>
  </HeadingPairs>
  <TitlesOfParts>
    <vt:vector size="67" baseType="lpstr">
      <vt:lpstr>Office Theme</vt:lpstr>
      <vt:lpstr>Microsoft Excel Chart</vt:lpstr>
      <vt:lpstr>PowerPoint Presentation</vt:lpstr>
      <vt:lpstr>PowerPoint Presentation</vt:lpstr>
      <vt:lpstr>PowerPoint Presentation</vt:lpstr>
      <vt:lpstr>Wet Rocks</vt:lpstr>
      <vt:lpstr>Overview of the Groundwater Resource</vt:lpstr>
      <vt:lpstr>World Groundwater Resources</vt:lpstr>
      <vt:lpstr>Importance of Groundwater to Australia</vt:lpstr>
      <vt:lpstr>Groundwater Dynamics</vt:lpstr>
      <vt:lpstr>How does groundwater flow?</vt:lpstr>
      <vt:lpstr>Porosity and Permeability</vt:lpstr>
      <vt:lpstr>Flowing water underground</vt:lpstr>
      <vt:lpstr>Aquifers and Aquitards</vt:lpstr>
      <vt:lpstr>Confined and Unconfined Aquifers</vt:lpstr>
      <vt:lpstr>Multi-Aquifer Systems</vt:lpstr>
      <vt:lpstr>Scale of groundwater systems</vt:lpstr>
      <vt:lpstr>Groundwater Dynamics – Unconfined Aquifers</vt:lpstr>
      <vt:lpstr>Groundwater System Dynamics – Unconfined Aquifer</vt:lpstr>
      <vt:lpstr>Rainfall variability</vt:lpstr>
      <vt:lpstr>Ability to predict what is climate change</vt:lpstr>
      <vt:lpstr>Landuse impacts on recharge</vt:lpstr>
      <vt:lpstr>Unsaturated Zone Storage</vt:lpstr>
      <vt:lpstr>PowerPoint Presentation</vt:lpstr>
      <vt:lpstr>Groundwater Dynamics – Unconfined Aquifers</vt:lpstr>
      <vt:lpstr>Groundwater Pumping</vt:lpstr>
      <vt:lpstr>Environment as a water user</vt:lpstr>
      <vt:lpstr>Groundwater Dependent Ecosystems</vt:lpstr>
      <vt:lpstr>Groundwater and Waterways</vt:lpstr>
      <vt:lpstr>Groundwater use affects surface water and environment</vt:lpstr>
      <vt:lpstr>Groundwater/surface water “connectivity”</vt:lpstr>
      <vt:lpstr>Groundwater / surface water interaction</vt:lpstr>
      <vt:lpstr>Groundwater Management Basics</vt:lpstr>
      <vt:lpstr>Managing groundwater – as a resource</vt:lpstr>
      <vt:lpstr>Sustainable Yield – a dynamic concept </vt:lpstr>
      <vt:lpstr>Sustainable yield for an aquifer</vt:lpstr>
      <vt:lpstr>Sustainable yield (cont)</vt:lpstr>
      <vt:lpstr>Wetland / Waterway Protection</vt:lpstr>
      <vt:lpstr>Dryland salinity management</vt:lpstr>
      <vt:lpstr>Salinity in a catchment</vt:lpstr>
      <vt:lpstr>Managing groundwater for construction</vt:lpstr>
      <vt:lpstr>Saline intrusion into fresh aquifers</vt:lpstr>
      <vt:lpstr>Key management principles…</vt:lpstr>
      <vt:lpstr>Threats of pollution on groundwater</vt:lpstr>
      <vt:lpstr>Point Source and Diffuse Sources</vt:lpstr>
      <vt:lpstr>Point source</vt:lpstr>
      <vt:lpstr>Diffuse sources</vt:lpstr>
      <vt:lpstr>A complex picture...</vt:lpstr>
      <vt:lpstr>Advective processes, concentrations – single point source</vt:lpstr>
      <vt:lpstr>Concentrations – continuous point source</vt:lpstr>
      <vt:lpstr>Mechanical Dispersion</vt:lpstr>
      <vt:lpstr>Dispersion of the solute</vt:lpstr>
      <vt:lpstr>Dispersion effect</vt:lpstr>
      <vt:lpstr>Reactions in solute transport</vt:lpstr>
      <vt:lpstr>Degradation and daughter products</vt:lpstr>
      <vt:lpstr>Biodegradation</vt:lpstr>
      <vt:lpstr>Retardation</vt:lpstr>
      <vt:lpstr>Effects in the field....</vt:lpstr>
      <vt:lpstr>Effects in the field (cont.)</vt:lpstr>
      <vt:lpstr>Contamination Summary</vt:lpstr>
      <vt:lpstr>Contributions</vt:lpstr>
      <vt:lpstr>Geoscience Pathways</vt:lpstr>
      <vt:lpstr>Please partner!</vt:lpstr>
      <vt:lpstr>Partners</vt:lpstr>
      <vt:lpstr>Partners</vt:lpstr>
      <vt:lpstr>TESEP</vt:lpstr>
      <vt:lpstr>Thank you</vt:lpstr>
    </vt:vector>
  </TitlesOfParts>
  <Company>DSEDPI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GROUNDWATER RESOURCE (AND SURFACE WATER) MANAGEMENT</dc:title>
  <dc:creator>cm55</dc:creator>
  <cp:lastModifiedBy> </cp:lastModifiedBy>
  <cp:revision>280</cp:revision>
  <dcterms:created xsi:type="dcterms:W3CDTF">2009-09-28T12:07:41Z</dcterms:created>
  <dcterms:modified xsi:type="dcterms:W3CDTF">2011-10-16T03:44:12Z</dcterms:modified>
</cp:coreProperties>
</file>