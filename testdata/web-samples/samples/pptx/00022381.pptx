
<file path=[Content_Types].xml><?xml version="1.0" encoding="utf-8"?>
<Types xmlns="http://schemas.openxmlformats.org/package/2006/content-types">
  <Override PartName="/ppt/slides/slide47.xml" ContentType="application/vnd.openxmlformats-officedocument.presentationml.slide+xml"/>
  <Override PartName="/ppt/tags/tag8.xml" ContentType="application/vnd.openxmlformats-officedocument.presentationml.tags+xml"/>
  <Override PartName="/ppt/tags/tag140.xml" ContentType="application/vnd.openxmlformats-officedocument.presentationml.tags+xml"/>
  <Override PartName="/ppt/tags/tag238.xml" ContentType="application/vnd.openxmlformats-officedocument.presentationml.tags+xml"/>
  <Override PartName="/ppt/tags/tag285.xml" ContentType="application/vnd.openxmlformats-officedocument.presentationml.tags+xml"/>
  <Override PartName="/ppt/notesSlides/notesSlide38.xml" ContentType="application/vnd.openxmlformats-officedocument.presentationml.notesSlide+xml"/>
  <Override PartName="/ppt/tags/tag424.xml" ContentType="application/vnd.openxmlformats-officedocument.presentationml.tags+xml"/>
  <Override PartName="/ppt/tags/tag471.xml" ContentType="application/vnd.openxmlformats-officedocument.presentationml.tags+xml"/>
  <Override PartName="/ppt/slides/slide25.xml" ContentType="application/vnd.openxmlformats-officedocument.presentationml.slide+xml"/>
  <Override PartName="/ppt/slideLayouts/slideLayout2.xml" ContentType="application/vnd.openxmlformats-officedocument.presentationml.slideLayout+xml"/>
  <Override PartName="/ppt/tags/tag216.xml" ContentType="application/vnd.openxmlformats-officedocument.presentationml.tags+xml"/>
  <Override PartName="/ppt/tags/tag263.xml" ContentType="application/vnd.openxmlformats-officedocument.presentationml.tags+xml"/>
  <Override PartName="/ppt/tags/tag402.xml" ContentType="application/vnd.openxmlformats-officedocument.presentationml.tags+xml"/>
  <Default Extension="xml" ContentType="application/xml"/>
  <Override PartName="/ppt/slides/slide50.xml" ContentType="application/vnd.openxmlformats-officedocument.presentationml.slide+xml"/>
  <Override PartName="/ppt/tags/tag38.xml" ContentType="application/vnd.openxmlformats-officedocument.presentationml.tags+xml"/>
  <Override PartName="/ppt/tags/tag85.xml" ContentType="application/vnd.openxmlformats-officedocument.presentationml.tags+xml"/>
  <Override PartName="/ppt/notesSlides/notesSlide16.xml" ContentType="application/vnd.openxmlformats-officedocument.presentationml.notesSlide+xml"/>
  <Override PartName="/ppt/tags/tag241.xml" ContentType="application/vnd.openxmlformats-officedocument.presentationml.tags+xml"/>
  <Override PartName="/ppt/tags/tag339.xml" ContentType="application/vnd.openxmlformats-officedocument.presentationml.tags+xml"/>
  <Override PartName="/ppt/tags/tag386.xml" ContentType="application/vnd.openxmlformats-officedocument.presentationml.tags+xml"/>
  <Override PartName="/ppt/tags/tag16.xml" ContentType="application/vnd.openxmlformats-officedocument.presentationml.tags+xml"/>
  <Override PartName="/ppt/tags/tag63.xml" ContentType="application/vnd.openxmlformats-officedocument.presentationml.tags+xml"/>
  <Override PartName="/ppt/tags/tag178.xml" ContentType="application/vnd.openxmlformats-officedocument.presentationml.tags+xml"/>
  <Override PartName="/ppt/tags/tag317.xml" ContentType="application/vnd.openxmlformats-officedocument.presentationml.tags+xml"/>
  <Override PartName="/ppt/tags/tag364.xml" ContentType="application/vnd.openxmlformats-officedocument.presentationml.tags+xml"/>
  <Override PartName="/ppt/notesSlides/notesSlide41.xml" ContentType="application/vnd.openxmlformats-officedocument.presentationml.notesSlide+xml"/>
  <Override PartName="/ppt/tags/tag109.xml" ContentType="application/vnd.openxmlformats-officedocument.presentationml.tags+xml"/>
  <Override PartName="/ppt/tags/tag156.xml" ContentType="application/vnd.openxmlformats-officedocument.presentationml.tags+xml"/>
  <Override PartName="/ppt/tags/tag487.xml" ContentType="application/vnd.openxmlformats-officedocument.presentationml.tags+xml"/>
  <Override PartName="/ppt/tags/tag503.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charts/chart3.xml" ContentType="application/vnd.openxmlformats-officedocument.drawingml.chart+xml"/>
  <Override PartName="/ppt/tags/tag279.xml" ContentType="application/vnd.openxmlformats-officedocument.presentationml.tags+xml"/>
  <Override PartName="/ppt/tags/tag342.xml" ContentType="application/vnd.openxmlformats-officedocument.presentationml.tags+xml"/>
  <Override PartName="/ppt/tags/tag134.xml" ContentType="application/vnd.openxmlformats-officedocument.presentationml.tags+xml"/>
  <Override PartName="/ppt/tags/tag181.xml" ContentType="application/vnd.openxmlformats-officedocument.presentationml.tags+xml"/>
  <Override PartName="/ppt/tags/tag320.xml" ContentType="application/vnd.openxmlformats-officedocument.presentationml.tags+xml"/>
  <Override PartName="/ppt/tags/tag418.xml" ContentType="application/vnd.openxmlformats-officedocument.presentationml.tags+xml"/>
  <Override PartName="/ppt/tags/tag465.xml" ContentType="application/vnd.openxmlformats-officedocument.presentationml.tags+xml"/>
  <Override PartName="/ppt/slides/slide19.xml" ContentType="application/vnd.openxmlformats-officedocument.presentationml.slide+xml"/>
  <Default Extension="png" ContentType="image/png"/>
  <Override PartName="/ppt/tags/tag112.xml" ContentType="application/vnd.openxmlformats-officedocument.presentationml.tags+xml"/>
  <Override PartName="/ppt/drawings/drawing3.xml" ContentType="application/vnd.openxmlformats-officedocument.drawingml.chartshapes+xml"/>
  <Override PartName="/ppt/tags/tag257.xml" ContentType="application/vnd.openxmlformats-officedocument.presentationml.tags+xml"/>
  <Override PartName="/ppt/tags/tag5.xml" ContentType="application/vnd.openxmlformats-officedocument.presentationml.tags+xml"/>
  <Override PartName="/ppt/tags/tag79.xml" ContentType="application/vnd.openxmlformats-officedocument.presentationml.tags+xml"/>
  <Override PartName="/ppt/theme/theme2.xml" ContentType="application/vnd.openxmlformats-officedocument.theme+xml"/>
  <Override PartName="/ppt/tags/tag443.xml" ContentType="application/vnd.openxmlformats-officedocument.presentationml.tags+xml"/>
  <Override PartName="/ppt/tags/tag490.xml" ContentType="application/vnd.openxmlformats-officedocument.presentationml.tags+xml"/>
  <Override PartName="/ppt/notesSlides/notesSlide57.xml" ContentType="application/vnd.openxmlformats-officedocument.presentationml.notesSlide+xml"/>
  <Override PartName="/ppt/slides/slide44.xml" ContentType="application/vnd.openxmlformats-officedocument.presentationml.slide+xml"/>
  <Override PartName="/ppt/tags/tag235.xml" ContentType="application/vnd.openxmlformats-officedocument.presentationml.tags+xml"/>
  <Override PartName="/ppt/tags/tag282.xml" ContentType="application/vnd.openxmlformats-officedocument.presentationml.tags+xml"/>
  <Default Extension="emf" ContentType="image/x-emf"/>
  <Override PartName="/ppt/tags/tag421.xml" ContentType="application/vnd.openxmlformats-officedocument.presentationml.tags+xml"/>
  <Override PartName="/ppt/tags/tag519.xml" ContentType="application/vnd.openxmlformats-officedocument.presentationml.tags+xml"/>
  <Override PartName="/ppt/slides/slide22.xml" ContentType="application/vnd.openxmlformats-officedocument.presentationml.slide+xml"/>
  <Override PartName="/ppt/tags/tag57.xml" ContentType="application/vnd.openxmlformats-officedocument.presentationml.tags+xml"/>
  <Override PartName="/ppt/tags/tag213.xml" ContentType="application/vnd.openxmlformats-officedocument.presentationml.tags+xml"/>
  <Override PartName="/ppt/tags/tag260.xml" ContentType="application/vnd.openxmlformats-officedocument.presentationml.tags+xml"/>
  <Override PartName="/ppt/tags/tag358.xml" ContentType="application/vnd.openxmlformats-officedocument.presentationml.tags+xml"/>
  <Override PartName="/ppt/notesSlides/notesSlide35.xml" ContentType="application/vnd.openxmlformats-officedocument.presentationml.notesSlide+xml"/>
  <Override PartName="/ppt/tags/tag35.xml" ContentType="application/vnd.openxmlformats-officedocument.presentationml.tags+xml"/>
  <Override PartName="/ppt/tags/tag82.xml" ContentType="application/vnd.openxmlformats-officedocument.presentationml.tags+xml"/>
  <Override PartName="/ppt/notesSlides/notesSlide13.xml" ContentType="application/vnd.openxmlformats-officedocument.presentationml.notesSlide+xml"/>
  <Override PartName="/ppt/tags/tag197.xml" ContentType="application/vnd.openxmlformats-officedocument.presentationml.tags+xml"/>
  <Override PartName="/ppt/tags/tag336.xml" ContentType="application/vnd.openxmlformats-officedocument.presentationml.tags+xml"/>
  <Override PartName="/ppt/tags/tag383.xml" ContentType="application/vnd.openxmlformats-officedocument.presentationml.tags+xml"/>
  <Override PartName="/ppt/tags/tag128.xml" ContentType="application/vnd.openxmlformats-officedocument.presentationml.tags+xml"/>
  <Override PartName="/ppt/tags/tag175.xml" ContentType="application/vnd.openxmlformats-officedocument.presentationml.tags+xml"/>
  <Override PartName="/ppt/tags/tag459.xml" ContentType="application/vnd.openxmlformats-officedocument.presentationml.tags+xml"/>
  <Override PartName="/ppt/tags/tag522.xml" ContentType="application/vnd.openxmlformats-officedocument.presentationml.tags+xml"/>
  <Override PartName="/ppt/tags/tag13.xml" ContentType="application/vnd.openxmlformats-officedocument.presentationml.tags+xml"/>
  <Override PartName="/ppt/tags/tag60.xml" ContentType="application/vnd.openxmlformats-officedocument.presentationml.tags+xml"/>
  <Override PartName="/ppt/tags/tag298.xml" ContentType="application/vnd.openxmlformats-officedocument.presentationml.tags+xml"/>
  <Override PartName="/ppt/tags/tag314.xml" ContentType="application/vnd.openxmlformats-officedocument.presentationml.tags+xml"/>
  <Override PartName="/ppt/tags/tag361.xml" ContentType="application/vnd.openxmlformats-officedocument.presentationml.tags+xml"/>
  <Override PartName="/ppt/tags/tag500.xml" ContentType="application/vnd.openxmlformats-officedocument.presentationml.tags+xml"/>
  <Override PartName="/ppt/notesSlides/notesSlide4.xml" ContentType="application/vnd.openxmlformats-officedocument.presentationml.notesSlide+xml"/>
  <Override PartName="/ppt/tags/tag106.xml" ContentType="application/vnd.openxmlformats-officedocument.presentationml.tags+xml"/>
  <Override PartName="/ppt/tags/tag153.xml" ContentType="application/vnd.openxmlformats-officedocument.presentationml.tags+xml"/>
  <Override PartName="/ppt/tags/tag437.xml" ContentType="application/vnd.openxmlformats-officedocument.presentationml.tags+xml"/>
  <Override PartName="/ppt/tags/tag484.xml" ContentType="application/vnd.openxmlformats-officedocument.presentationml.tags+xml"/>
  <Override PartName="/ppt/slides/slide38.xml" ContentType="application/vnd.openxmlformats-officedocument.presentationml.slide+xml"/>
  <Override PartName="/ppt/tags/tag131.xml" ContentType="application/vnd.openxmlformats-officedocument.presentationml.tags+xml"/>
  <Override PartName="/ppt/tags/tag229.xml" ContentType="application/vnd.openxmlformats-officedocument.presentationml.tags+xml"/>
  <Override PartName="/ppt/tags/tag276.xml" ContentType="application/vnd.openxmlformats-officedocument.presentationml.tags+xml"/>
  <Override PartName="/ppt/tags/tag415.xml" ContentType="application/vnd.openxmlformats-officedocument.presentationml.tags+xml"/>
  <Override PartName="/ppt/tags/tag462.xml" ContentType="application/vnd.openxmlformats-officedocument.presentationml.tags+xml"/>
  <Override PartName="/ppt/tags/tag98.xml" ContentType="application/vnd.openxmlformats-officedocument.presentationml.tags+xml"/>
  <Override PartName="/ppt/tags/tag207.xml" ContentType="application/vnd.openxmlformats-officedocument.presentationml.tags+xml"/>
  <Override PartName="/ppt/tags/tag254.xml" ContentType="application/vnd.openxmlformats-officedocument.presentationml.tags+xml"/>
  <Override PartName="/ppt/notesSlides/notesSlide29.xml" ContentType="application/vnd.openxmlformats-officedocument.presentationml.notesSlide+xml"/>
  <Override PartName="/ppt/tags/tag399.xml" ContentType="application/vnd.openxmlformats-officedocument.presentationml.tags+xml"/>
  <Override PartName="/ppt/slides/slide16.xml" ContentType="application/vnd.openxmlformats-officedocument.presentationml.slide+xml"/>
  <Override PartName="/ppt/tags/tag2.xml" ContentType="application/vnd.openxmlformats-officedocument.presentationml.tags+xml"/>
  <Override PartName="/ppt/tags/tag440.xml" ContentType="application/vnd.openxmlformats-officedocument.presentationml.tags+xml"/>
  <Override PartName="/ppt/slides/slide41.xml" ContentType="application/vnd.openxmlformats-officedocument.presentationml.slide+xml"/>
  <Override PartName="/ppt/tags/tag29.xml" ContentType="application/vnd.openxmlformats-officedocument.presentationml.tags+xml"/>
  <Override PartName="/ppt/tags/tag76.xml" ContentType="application/vnd.openxmlformats-officedocument.presentationml.tags+xml"/>
  <Override PartName="/ppt/tags/tag232.xml" ContentType="application/vnd.openxmlformats-officedocument.presentationml.tags+xml"/>
  <Override PartName="/ppt/tags/tag377.xml" ContentType="application/vnd.openxmlformats-officedocument.presentationml.tags+xml"/>
  <Override PartName="/ppt/notesSlides/notesSlide54.xml" ContentType="application/vnd.openxmlformats-officedocument.presentationml.notesSlide+xml"/>
  <Override PartName="/ppt/tags/tag516.xml" ContentType="application/vnd.openxmlformats-officedocument.presentationml.tags+xml"/>
  <Override PartName="/ppt/tags/tag54.xml" ContentType="application/vnd.openxmlformats-officedocument.presentationml.tags+xml"/>
  <Override PartName="/ppt/tags/tag169.xml" ContentType="application/vnd.openxmlformats-officedocument.presentationml.tags+xml"/>
  <Override PartName="/ppt/tags/tag210.xml" ContentType="application/vnd.openxmlformats-officedocument.presentationml.tags+xml"/>
  <Override PartName="/ppt/tags/tag308.xml" ContentType="application/vnd.openxmlformats-officedocument.presentationml.tags+xml"/>
  <Override PartName="/ppt/tags/tag355.xml" ContentType="application/vnd.openxmlformats-officedocument.presentationml.tags+xml"/>
  <Override PartName="/ppt/notesSlides/notesSlide32.xml" ContentType="application/vnd.openxmlformats-officedocument.presentationml.notesSlide+xml"/>
  <Override PartName="/ppt/tags/tag147.xml" ContentType="application/vnd.openxmlformats-officedocument.presentationml.tags+xml"/>
  <Override PartName="/ppt/tags/tag194.xml" ContentType="application/vnd.openxmlformats-officedocument.presentationml.tags+xml"/>
  <Override PartName="/ppt/tags/tag478.xml" ContentType="application/vnd.openxmlformats-officedocument.presentationml.tags+xml"/>
  <Override PartName="/ppt/tags/tag32.xml" ContentType="application/vnd.openxmlformats-officedocument.presentationml.tags+xml"/>
  <Override PartName="/ppt/notesSlides/notesSlide10.xml" ContentType="application/vnd.openxmlformats-officedocument.presentationml.notesSlide+xml"/>
  <Override PartName="/ppt/tags/tag333.xml" ContentType="application/vnd.openxmlformats-officedocument.presentationml.tags+xml"/>
  <Override PartName="/ppt/tags/tag38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125.xml" ContentType="application/vnd.openxmlformats-officedocument.presentationml.tags+xml"/>
  <Override PartName="/ppt/tags/tag172.xml" ContentType="application/vnd.openxmlformats-officedocument.presentationml.tags+xml"/>
  <Override PartName="/ppt/tags/tag311.xml" ContentType="application/vnd.openxmlformats-officedocument.presentationml.tags+xml"/>
  <Override PartName="/ppt/tags/tag409.xml" ContentType="application/vnd.openxmlformats-officedocument.presentationml.tags+xml"/>
  <Override PartName="/ppt/tags/tag456.xml" ContentType="application/vnd.openxmlformats-officedocument.presentationml.tags+xml"/>
  <Override PartName="/ppt/slides/slide57.xml" ContentType="application/vnd.openxmlformats-officedocument.presentationml.slide+xml"/>
  <Override PartName="/ppt/notesSlides/notesSlide1.xml" ContentType="application/vnd.openxmlformats-officedocument.presentationml.notesSlide+xml"/>
  <Override PartName="/ppt/tags/tag103.xml" ContentType="application/vnd.openxmlformats-officedocument.presentationml.tags+xml"/>
  <Override PartName="/ppt/tags/tag150.xml" ContentType="application/vnd.openxmlformats-officedocument.presentationml.tags+xml"/>
  <Override PartName="/ppt/tags/tag248.xml" ContentType="application/vnd.openxmlformats-officedocument.presentationml.tags+xml"/>
  <Override PartName="/ppt/tags/tag295.xml" ContentType="application/vnd.openxmlformats-officedocument.presentationml.tags+xml"/>
  <Override PartName="/ppt/tags/tag434.xml" ContentType="application/vnd.openxmlformats-officedocument.presentationml.tags+xml"/>
  <Override PartName="/ppt/tags/tag481.xml" ContentType="application/vnd.openxmlformats-officedocument.presentationml.tags+xml"/>
  <Override PartName="/ppt/tags/tag226.xml" ContentType="application/vnd.openxmlformats-officedocument.presentationml.tags+xml"/>
  <Override PartName="/ppt/tags/tag273.xml" ContentType="application/vnd.openxmlformats-officedocument.presentationml.tags+xml"/>
  <Override PartName="/ppt/notesSlides/notesSlide48.xml" ContentType="application/vnd.openxmlformats-officedocument.presentationml.notesSlide+xml"/>
  <Override PartName="/ppt/slides/slide35.xml" ContentType="application/vnd.openxmlformats-officedocument.presentationml.slide+xml"/>
  <Override PartName="/ppt/tags/tag412.xml" ContentType="application/vnd.openxmlformats-officedocument.presentationml.tags+xml"/>
  <Override PartName="/ppt/slides/slide13.xml" ContentType="application/vnd.openxmlformats-officedocument.presentationml.slide+xml"/>
  <Override PartName="/ppt/slides/slide60.xml" ContentType="application/vnd.openxmlformats-officedocument.presentationml.slide+xml"/>
  <Override PartName="/ppt/tags/tag48.xml" ContentType="application/vnd.openxmlformats-officedocument.presentationml.tags+xml"/>
  <Override PartName="/ppt/tags/tag95.xml" ContentType="application/vnd.openxmlformats-officedocument.presentationml.tags+xml"/>
  <Override PartName="/ppt/tags/tag188.xml" ContentType="application/vnd.openxmlformats-officedocument.presentationml.tags+xml"/>
  <Override PartName="/ppt/tags/tag204.xml" ContentType="application/vnd.openxmlformats-officedocument.presentationml.tags+xml"/>
  <Override PartName="/ppt/tags/tag251.xml" ContentType="application/vnd.openxmlformats-officedocument.presentationml.tags+xml"/>
  <Override PartName="/ppt/notesSlides/notesSlide26.xml" ContentType="application/vnd.openxmlformats-officedocument.presentationml.notesSlide+xml"/>
  <Override PartName="/ppt/tags/tag349.xml" ContentType="application/vnd.openxmlformats-officedocument.presentationml.tags+xml"/>
  <Override PartName="/ppt/tags/tag396.xml" ContentType="application/vnd.openxmlformats-officedocument.presentationml.tags+xml"/>
  <Override PartName="/ppt/slideLayouts/slideLayout12.xml" ContentType="application/vnd.openxmlformats-officedocument.presentationml.slideLayout+xml"/>
  <Override PartName="/ppt/tags/tag26.xml" ContentType="application/vnd.openxmlformats-officedocument.presentationml.tags+xml"/>
  <Override PartName="/ppt/tags/tag73.xml" ContentType="application/vnd.openxmlformats-officedocument.presentationml.tags+xml"/>
  <Override PartName="/ppt/tags/tag327.xml" ContentType="application/vnd.openxmlformats-officedocument.presentationml.tags+xml"/>
  <Override PartName="/ppt/tags/tag374.xml" ContentType="application/vnd.openxmlformats-officedocument.presentationml.tags+xml"/>
  <Override PartName="/ppt/notesSlides/notesSlide51.xml" ContentType="application/vnd.openxmlformats-officedocument.presentationml.notesSlide+xml"/>
  <Override PartName="/ppt/tags/tag119.xml" ContentType="application/vnd.openxmlformats-officedocument.presentationml.tags+xml"/>
  <Override PartName="/ppt/tags/tag166.xml" ContentType="application/vnd.openxmlformats-officedocument.presentationml.tags+xml"/>
  <Override PartName="/ppt/tags/tag497.xml" ContentType="application/vnd.openxmlformats-officedocument.presentationml.tags+xml"/>
  <Override PartName="/ppt/tags/tag513.xml" ContentType="application/vnd.openxmlformats-officedocument.presentationml.tags+xml"/>
  <Override PartName="/ppt/tags/tag51.xml" ContentType="application/vnd.openxmlformats-officedocument.presentationml.tags+xml"/>
  <Override PartName="/ppt/tags/tag289.xml" ContentType="application/vnd.openxmlformats-officedocument.presentationml.tags+xml"/>
  <Override PartName="/ppt/tags/tag305.xml" ContentType="application/vnd.openxmlformats-officedocument.presentationml.tags+xml"/>
  <Override PartName="/ppt/tags/tag352.xml" ContentType="application/vnd.openxmlformats-officedocument.presentationml.tags+xml"/>
  <Override PartName="/ppt/tags/tag144.xml" ContentType="application/vnd.openxmlformats-officedocument.presentationml.tags+xml"/>
  <Override PartName="/ppt/tags/tag191.xml" ContentType="application/vnd.openxmlformats-officedocument.presentationml.tags+xml"/>
  <Override PartName="/ppt/tags/tag330.xml" ContentType="application/vnd.openxmlformats-officedocument.presentationml.tags+xml"/>
  <Override PartName="/ppt/tags/tag428.xml" ContentType="application/vnd.openxmlformats-officedocument.presentationml.tags+xml"/>
  <Override PartName="/ppt/tags/tag475.xml" ContentType="application/vnd.openxmlformats-officedocument.presentationml.tags+xml"/>
  <Override PartName="/ppt/slides/slide29.xml" ContentType="application/vnd.openxmlformats-officedocument.presentationml.slide+xml"/>
  <Override PartName="/ppt/tags/tag122.xml" ContentType="application/vnd.openxmlformats-officedocument.presentationml.tags+xml"/>
  <Override PartName="/ppt/tags/tag267.xml" ContentType="application/vnd.openxmlformats-officedocument.presentationml.tags+xml"/>
  <Override PartName="/ppt/tags/tag406.xml" ContentType="application/vnd.openxmlformats-officedocument.presentationml.tags+xml"/>
  <Override PartName="/ppt/tags/tag453.xml" ContentType="application/vnd.openxmlformats-officedocument.presentationml.tags+xml"/>
  <Override PartName="/ppt/slides/slide4.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tags/tag89.xml" ContentType="application/vnd.openxmlformats-officedocument.presentationml.tags+xml"/>
  <Override PartName="/ppt/tags/tag245.xml" ContentType="application/vnd.openxmlformats-officedocument.presentationml.tags+xml"/>
  <Override PartName="/ppt/tags/tag292.xml" ContentType="application/vnd.openxmlformats-officedocument.presentationml.tags+xml"/>
  <Override PartName="/ppt/tags/tag100.xml" ContentType="application/vnd.openxmlformats-officedocument.presentationml.tags+xml"/>
  <Override PartName="/ppt/tags/tag368.xml" ContentType="application/vnd.openxmlformats-officedocument.presentationml.tags+xml"/>
  <Override PartName="/ppt/tags/tag431.xml" ContentType="application/vnd.openxmlformats-officedocument.presentationml.tags+xml"/>
  <Override PartName="/ppt/notesSlides/notesSlide45.xml" ContentType="application/vnd.openxmlformats-officedocument.presentationml.notesSlide+xml"/>
  <Override PartName="/ppt/slides/slide32.xml" ContentType="application/vnd.openxmlformats-officedocument.presentationml.slide+xml"/>
  <Override PartName="/ppt/tags/tag67.xml" ContentType="application/vnd.openxmlformats-officedocument.presentationml.tags+xml"/>
  <Override PartName="/ppt/tags/tag223.xml" ContentType="application/vnd.openxmlformats-officedocument.presentationml.tags+xml"/>
  <Override PartName="/ppt/tags/tag270.xml" ContentType="application/vnd.openxmlformats-officedocument.presentationml.tags+xml"/>
  <Override PartName="/ppt/tags/tag507.xml" ContentType="application/vnd.openxmlformats-officedocument.presentationml.tags+xml"/>
  <Override PartName="/ppt/slides/slide10.xml" ContentType="application/vnd.openxmlformats-officedocument.presentationml.slide+xml"/>
  <Override PartName="/ppt/tags/tag45.xml" ContentType="application/vnd.openxmlformats-officedocument.presentationml.tags+xml"/>
  <Override PartName="/ppt/tags/tag92.xml" ContentType="application/vnd.openxmlformats-officedocument.presentationml.tags+xml"/>
  <Override PartName="/ppt/tags/tag201.xml" ContentType="application/vnd.openxmlformats-officedocument.presentationml.tags+xml"/>
  <Override PartName="/ppt/notesSlides/notesSlide23.xml" ContentType="application/vnd.openxmlformats-officedocument.presentationml.notesSlide+xml"/>
  <Override PartName="/ppt/tags/tag346.xml" ContentType="application/vnd.openxmlformats-officedocument.presentationml.tags+xml"/>
  <Override PartName="/ppt/tags/tag393.xml" ContentType="application/vnd.openxmlformats-officedocument.presentationml.tags+xml"/>
  <Override PartName="/ppt/tags/tag138.xml" ContentType="application/vnd.openxmlformats-officedocument.presentationml.tags+xml"/>
  <Override PartName="/ppt/tags/tag185.xml" ContentType="application/vnd.openxmlformats-officedocument.presentationml.tags+xml"/>
  <Override PartName="/ppt/tags/tag324.xml" ContentType="application/vnd.openxmlformats-officedocument.presentationml.tags+xml"/>
  <Override PartName="/ppt/tags/tag371.xml" ContentType="application/vnd.openxmlformats-officedocument.presentationml.tags+xml"/>
  <Override PartName="/ppt/tags/tag469.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63.xml" ContentType="application/vnd.openxmlformats-officedocument.presentationml.tags+xml"/>
  <Override PartName="/ppt/tags/tag510.xml" ContentType="application/vnd.openxmlformats-officedocument.presentationml.tags+xml"/>
  <Override PartName="/ppt/tags/tag9.xml" ContentType="application/vnd.openxmlformats-officedocument.presentationml.tags+xml"/>
  <Override PartName="/ppt/tags/tag302.xml" ContentType="application/vnd.openxmlformats-officedocument.presentationml.tags+xml"/>
  <Override PartName="/ppt/tags/tag447.xml" ContentType="application/vnd.openxmlformats-officedocument.presentationml.tags+xml"/>
  <Override PartName="/ppt/tags/tag494.xml" ContentType="application/vnd.openxmlformats-officedocument.presentationml.tags+xml"/>
  <Override PartName="/ppt/slides/slide48.xml" ContentType="application/vnd.openxmlformats-officedocument.presentationml.slide+xml"/>
  <Override PartName="/ppt/tags/tag141.xml" ContentType="application/vnd.openxmlformats-officedocument.presentationml.tags+xml"/>
  <Override PartName="/ppt/tags/tag239.xml" ContentType="application/vnd.openxmlformats-officedocument.presentationml.tags+xml"/>
  <Override PartName="/ppt/tags/tag286.xml" ContentType="application/vnd.openxmlformats-officedocument.presentationml.tags+xml"/>
  <Override PartName="/ppt/tags/tag425.xml" ContentType="application/vnd.openxmlformats-officedocument.presentationml.tags+xml"/>
  <Default Extension="bin" ContentType="application/vnd.openxmlformats-officedocument.oleObject"/>
  <Override PartName="/ppt/tags/tag472.xml" ContentType="application/vnd.openxmlformats-officedocument.presentationml.tags+xml"/>
  <Override PartName="/ppt/slides/slide26.xml" ContentType="application/vnd.openxmlformats-officedocument.presentationml.slide+xml"/>
  <Override PartName="/ppt/tags/tag217.xml" ContentType="application/vnd.openxmlformats-officedocument.presentationml.tags+xml"/>
  <Override PartName="/ppt/tags/tag264.xml" ContentType="application/vnd.openxmlformats-officedocument.presentationml.tags+xml"/>
  <Override PartName="/ppt/notesSlides/notesSlide39.xml" ContentType="application/vnd.openxmlformats-officedocument.presentationml.notesSlide+xml"/>
  <Override PartName="/ppt/slides/slide1.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notesSlides/notesSlide17.xml" ContentType="application/vnd.openxmlformats-officedocument.presentationml.notesSlide+xml"/>
  <Override PartName="/ppt/tags/tag387.xml" ContentType="application/vnd.openxmlformats-officedocument.presentationml.tags+xml"/>
  <Override PartName="/ppt/tags/tag403.xml" ContentType="application/vnd.openxmlformats-officedocument.presentationml.tags+xml"/>
  <Override PartName="/ppt/tags/tag450.xml" ContentType="application/vnd.openxmlformats-officedocument.presentationml.tags+xml"/>
  <Override PartName="/ppt/slides/slide51.xml" ContentType="application/vnd.openxmlformats-officedocument.presentationml.slide+xml"/>
  <Override PartName="/ppt/tags/tag179.xml" ContentType="application/vnd.openxmlformats-officedocument.presentationml.tags+xml"/>
  <Override PartName="/ppt/tags/tag242.xml" ContentType="application/vnd.openxmlformats-officedocument.presentationml.tags+xml"/>
  <Override PartName="/ppt/tags/tag17.xml" ContentType="application/vnd.openxmlformats-officedocument.presentationml.tags+xml"/>
  <Override PartName="/ppt/tags/tag64.xml" ContentType="application/vnd.openxmlformats-officedocument.presentationml.tags+xml"/>
  <Override PartName="/ppt/tags/tag220.xml" ContentType="application/vnd.openxmlformats-officedocument.presentationml.tags+xml"/>
  <Override PartName="/ppt/tags/tag318.xml" ContentType="application/vnd.openxmlformats-officedocument.presentationml.tags+xml"/>
  <Override PartName="/ppt/tags/tag365.xml" ContentType="application/vnd.openxmlformats-officedocument.presentationml.tags+xml"/>
  <Override PartName="/ppt/notesSlides/notesSlide42.xml" ContentType="application/vnd.openxmlformats-officedocument.presentationml.notesSlide+xml"/>
  <Override PartName="/ppt/tags/tag504.xml" ContentType="application/vnd.openxmlformats-officedocument.presentationml.tags+xml"/>
  <Default Extension="gif" ContentType="image/gif"/>
  <Override PartName="/ppt/notesSlides/notesSlide8.xml" ContentType="application/vnd.openxmlformats-officedocument.presentationml.notesSlide+xml"/>
  <Override PartName="/ppt/tags/tag157.xml" ContentType="application/vnd.openxmlformats-officedocument.presentationml.tags+xml"/>
  <Override PartName="/ppt/notesSlides/notesSlide20.xml" ContentType="application/vnd.openxmlformats-officedocument.presentationml.notesSlide+xml"/>
  <Override PartName="/ppt/tags/tag343.xml" ContentType="application/vnd.openxmlformats-officedocument.presentationml.tags+xml"/>
  <Override PartName="/ppt/tags/tag390.xml" ContentType="application/vnd.openxmlformats-officedocument.presentationml.tags+xml"/>
  <Override PartName="/ppt/tags/tag488.xml" ContentType="application/vnd.openxmlformats-officedocument.presentationml.tags+xml"/>
  <Override PartName="/ppt/tags/tag42.xml" ContentType="application/vnd.openxmlformats-officedocument.presentationml.tags+xml"/>
  <Override PartName="/ppt/tags/tag135.xml" ContentType="application/vnd.openxmlformats-officedocument.presentationml.tags+xml"/>
  <Override PartName="/ppt/tags/tag182.xml" ContentType="application/vnd.openxmlformats-officedocument.presentationml.tags+xml"/>
  <Override PartName="/ppt/charts/chart4.xml" ContentType="application/vnd.openxmlformats-officedocument.drawingml.chart+xml"/>
  <Override PartName="/ppt/handoutMasters/handoutMaster1.xml" ContentType="application/vnd.openxmlformats-officedocument.presentationml.handoutMaster+xml"/>
  <Override PartName="/ppt/tags/tag20.xml" ContentType="application/vnd.openxmlformats-officedocument.presentationml.tags+xml"/>
  <Override PartName="/ppt/tags/tag321.xml" ContentType="application/vnd.openxmlformats-officedocument.presentationml.tags+xml"/>
  <Override PartName="/ppt/tags/tag419.xml" ContentType="application/vnd.openxmlformats-officedocument.presentationml.tags+xml"/>
  <Override PartName="/ppt/tags/tag466.xml" ContentType="application/vnd.openxmlformats-officedocument.presentationml.tags+xml"/>
  <Override PartName="/ppt/tags/tag6.xml" ContentType="application/vnd.openxmlformats-officedocument.presentationml.tags+xml"/>
  <Override PartName="/ppt/tags/tag113.xml" ContentType="application/vnd.openxmlformats-officedocument.presentationml.tags+xml"/>
  <Override PartName="/ppt/tags/tag160.xml" ContentType="application/vnd.openxmlformats-officedocument.presentationml.tags+xml"/>
  <Override PartName="/ppt/drawings/drawing4.xml" ContentType="application/vnd.openxmlformats-officedocument.drawingml.chartshapes+xml"/>
  <Override PartName="/ppt/tags/tag258.xml" ContentType="application/vnd.openxmlformats-officedocument.presentationml.tags+xml"/>
  <Override PartName="/ppt/tags/tag444.xml" ContentType="application/vnd.openxmlformats-officedocument.presentationml.tags+xml"/>
  <Override PartName="/ppt/tags/tag491.xml" ContentType="application/vnd.openxmlformats-officedocument.presentationml.tags+xml"/>
  <Override PartName="/ppt/slides/slide45.xml" ContentType="application/vnd.openxmlformats-officedocument.presentationml.slide+xml"/>
  <Override PartName="/ppt/theme/theme3.xml" ContentType="application/vnd.openxmlformats-officedocument.theme+xml"/>
  <Override PartName="/ppt/tags/tag236.xml" ContentType="application/vnd.openxmlformats-officedocument.presentationml.tags+xml"/>
  <Override PartName="/ppt/tags/tag283.xml" ContentType="application/vnd.openxmlformats-officedocument.presentationml.tags+xml"/>
  <Override PartName="/ppt/notesSlides/notesSlide58.xml" ContentType="application/vnd.openxmlformats-officedocument.presentationml.notesSlide+xml"/>
  <Override PartName="/ppt/tags/tag58.xml" ContentType="application/vnd.openxmlformats-officedocument.presentationml.tags+xml"/>
  <Override PartName="/ppt/tags/tag359.xml" ContentType="application/vnd.openxmlformats-officedocument.presentationml.tags+xml"/>
  <Override PartName="/ppt/notesSlides/notesSlide36.xml" ContentType="application/vnd.openxmlformats-officedocument.presentationml.notesSlide+xml"/>
  <Override PartName="/ppt/tags/tag422.xml" ContentType="application/vnd.openxmlformats-officedocument.presentationml.tags+xml"/>
  <Override PartName="/ppt/slides/slide23.xml" ContentType="application/vnd.openxmlformats-officedocument.presentationml.slide+xml"/>
  <Override PartName="/ppt/tags/tag47.xml" ContentType="application/vnd.openxmlformats-officedocument.presentationml.tags+xml"/>
  <Override PartName="/ppt/tags/tag94.xml" ContentType="application/vnd.openxmlformats-officedocument.presentationml.tags+xml"/>
  <Override PartName="/ppt/tags/tag198.xml" ContentType="application/vnd.openxmlformats-officedocument.presentationml.tags+xml"/>
  <Override PartName="/ppt/tags/tag203.xml" ContentType="application/vnd.openxmlformats-officedocument.presentationml.tags+xml"/>
  <Override PartName="/ppt/tags/tag214.xml" ContentType="application/vnd.openxmlformats-officedocument.presentationml.tags+xml"/>
  <Override PartName="/ppt/tags/tag250.xml" ContentType="application/vnd.openxmlformats-officedocument.presentationml.tags+xml"/>
  <Override PartName="/ppt/tags/tag261.xml" ContentType="application/vnd.openxmlformats-officedocument.presentationml.tags+xml"/>
  <Override PartName="/ppt/notesSlides/notesSlide25.xml" ContentType="application/vnd.openxmlformats-officedocument.presentationml.notesSlide+xml"/>
  <Override PartName="/ppt/tags/tag348.xml" ContentType="application/vnd.openxmlformats-officedocument.presentationml.tags+xml"/>
  <Override PartName="/ppt/tags/tag395.xml" ContentType="application/vnd.openxmlformats-officedocument.presentationml.tags+xml"/>
  <Override PartName="/ppt/tags/tag400.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36.xml" ContentType="application/vnd.openxmlformats-officedocument.presentationml.tags+xml"/>
  <Override PartName="/ppt/tags/tag83.xml" ContentType="application/vnd.openxmlformats-officedocument.presentationml.tags+xml"/>
  <Override PartName="/ppt/tags/tag187.xml" ContentType="application/vnd.openxmlformats-officedocument.presentationml.tags+xml"/>
  <Override PartName="/ppt/notesSlides/notesSlide14.xml" ContentType="application/vnd.openxmlformats-officedocument.presentationml.notesSlide+xml"/>
  <Override PartName="/ppt/tags/tag337.xml" ContentType="application/vnd.openxmlformats-officedocument.presentationml.tags+xml"/>
  <Override PartName="/ppt/tags/tag384.xml" ContentType="application/vnd.openxmlformats-officedocument.presentationml.tags+xml"/>
  <Override PartName="/ppt/tags/tag523.xml" ContentType="application/vnd.openxmlformats-officedocument.presentationml.tags+xml"/>
  <Override PartName="/ppt/tags/tag14.xml" ContentType="application/vnd.openxmlformats-officedocument.presentationml.tags+xml"/>
  <Override PartName="/ppt/tags/tag25.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29.xml" ContentType="application/vnd.openxmlformats-officedocument.presentationml.tags+xml"/>
  <Override PartName="/ppt/tags/tag165.xml" ContentType="application/vnd.openxmlformats-officedocument.presentationml.tags+xml"/>
  <Override PartName="/ppt/tags/tag176.xml" ContentType="application/vnd.openxmlformats-officedocument.presentationml.tags+xml"/>
  <Override PartName="/ppt/tags/tag315.xml" ContentType="application/vnd.openxmlformats-officedocument.presentationml.tags+xml"/>
  <Override PartName="/ppt/tags/tag326.xml" ContentType="application/vnd.openxmlformats-officedocument.presentationml.tags+xml"/>
  <Override PartName="/ppt/tags/tag362.xml" ContentType="application/vnd.openxmlformats-officedocument.presentationml.tags+xml"/>
  <Override PartName="/ppt/tags/tag373.xml" ContentType="application/vnd.openxmlformats-officedocument.presentationml.tags+xml"/>
  <Override PartName="/ppt/notesSlides/notesSlide50.xml" ContentType="application/vnd.openxmlformats-officedocument.presentationml.notesSlide+xml"/>
  <Override PartName="/ppt/tags/tag512.xml" ContentType="application/vnd.openxmlformats-officedocument.presentationml.tags+xml"/>
  <Override PartName="/ppt/tags/tag50.xml" ContentType="application/vnd.openxmlformats-officedocument.presentationml.tags+xml"/>
  <Override PartName="/ppt/tags/tag107.xml" ContentType="application/vnd.openxmlformats-officedocument.presentationml.tags+xml"/>
  <Override PartName="/ppt/tags/tag154.xml" ContentType="application/vnd.openxmlformats-officedocument.presentationml.tags+xml"/>
  <Override PartName="/ppt/tags/tag299.xml" ContentType="application/vnd.openxmlformats-officedocument.presentationml.tags+xml"/>
  <Override PartName="/ppt/tags/tag304.xml" ContentType="application/vnd.openxmlformats-officedocument.presentationml.tags+xml"/>
  <Override PartName="/ppt/tags/tag351.xml" ContentType="application/vnd.openxmlformats-officedocument.presentationml.tags+xml"/>
  <Override PartName="/ppt/tags/tag438.xml" ContentType="application/vnd.openxmlformats-officedocument.presentationml.tags+xml"/>
  <Override PartName="/ppt/tags/tag449.xml" ContentType="application/vnd.openxmlformats-officedocument.presentationml.tags+xml"/>
  <Override PartName="/ppt/tags/tag485.xml" ContentType="application/vnd.openxmlformats-officedocument.presentationml.tags+xml"/>
  <Override PartName="/ppt/tags/tag496.xml" ContentType="application/vnd.openxmlformats-officedocument.presentationml.tags+xml"/>
  <Override PartName="/ppt/tags/tag501.xml" ContentType="application/vnd.openxmlformats-officedocument.presentationml.tags+xml"/>
  <Override PartName="/ppt/notesSlides/notesSlide5.xml" ContentType="application/vnd.openxmlformats-officedocument.presentationml.notesSlide+xml"/>
  <Override PartName="/ppt/tags/tag143.xml" ContentType="application/vnd.openxmlformats-officedocument.presentationml.tags+xml"/>
  <Override PartName="/ppt/charts/chart1.xml" ContentType="application/vnd.openxmlformats-officedocument.drawingml.chart+xml"/>
  <Override PartName="/ppt/tags/tag190.xml" ContentType="application/vnd.openxmlformats-officedocument.presentationml.tags+xml"/>
  <Override PartName="/ppt/tags/tag277.xml" ContentType="application/vnd.openxmlformats-officedocument.presentationml.tags+xml"/>
  <Override PartName="/ppt/tags/tag288.xml" ContentType="application/vnd.openxmlformats-officedocument.presentationml.tags+xml"/>
  <Override PartName="/ppt/tags/tag340.xml" ContentType="application/vnd.openxmlformats-officedocument.presentationml.tags+xml"/>
  <Override PartName="/ppt/tags/tag427.xml" ContentType="application/vnd.openxmlformats-officedocument.presentationml.tags+xml"/>
  <Override PartName="/ppt/tags/tag474.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tags/tag132.xml" ContentType="application/vnd.openxmlformats-officedocument.presentationml.tags+xml"/>
  <Override PartName="/ppt/tags/tag219.xml" ContentType="application/vnd.openxmlformats-officedocument.presentationml.tags+xml"/>
  <Override PartName="/ppt/tags/tag266.xml" ContentType="application/vnd.openxmlformats-officedocument.presentationml.tags+xml"/>
  <Override PartName="/ppt/tags/tag416.xml" ContentType="application/vnd.openxmlformats-officedocument.presentationml.tags+xml"/>
  <Override PartName="/ppt/tags/tag463.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drawings/drawing1.xml" ContentType="application/vnd.openxmlformats-officedocument.drawingml.chartshapes+xml"/>
  <Override PartName="/ppt/tags/tag208.xml" ContentType="application/vnd.openxmlformats-officedocument.presentationml.tags+xml"/>
  <Override PartName="/ppt/notesSlides/notesSlide19.xml" ContentType="application/vnd.openxmlformats-officedocument.presentationml.notesSlide+xml"/>
  <Override PartName="/ppt/tags/tag255.xml" ContentType="application/vnd.openxmlformats-officedocument.presentationml.tags+xml"/>
  <Override PartName="/ppt/tags/tag389.xml" ContentType="application/vnd.openxmlformats-officedocument.presentationml.tags+xml"/>
  <Override PartName="/ppt/tags/tag405.xml" ContentType="application/vnd.openxmlformats-officedocument.presentationml.tags+xml"/>
  <Override PartName="/ppt/tags/tag452.xml" ContentType="application/vnd.openxmlformats-officedocument.presentationml.tags+xml"/>
  <Override PartName="/ppt/slides/slide53.xml" ContentType="application/vnd.openxmlformats-officedocument.presentationml.slide+xml"/>
  <Override PartName="/ppt/tags/tag3.xml" ContentType="application/vnd.openxmlformats-officedocument.presentationml.tags+xml"/>
  <Override PartName="/ppt/tags/tag77.xml" ContentType="application/vnd.openxmlformats-officedocument.presentationml.tags+xml"/>
  <Override PartName="/ppt/tags/tag88.xml" ContentType="application/vnd.openxmlformats-officedocument.presentationml.tags+xml"/>
  <Default Extension="jpeg" ContentType="image/jpeg"/>
  <Override PartName="/ppt/tags/tag233.xml" ContentType="application/vnd.openxmlformats-officedocument.presentationml.tags+xml"/>
  <Override PartName="/ppt/tags/tag244.xml" ContentType="application/vnd.openxmlformats-officedocument.presentationml.tags+xml"/>
  <Override PartName="/ppt/tags/tag280.xml" ContentType="application/vnd.openxmlformats-officedocument.presentationml.tags+xml"/>
  <Override PartName="/ppt/tags/tag291.xml" ContentType="application/vnd.openxmlformats-officedocument.presentationml.tags+xml"/>
  <Override PartName="/ppt/tags/tag378.xml" ContentType="application/vnd.openxmlformats-officedocument.presentationml.tags+xml"/>
  <Override PartName="/ppt/tags/tag430.xml" ContentType="application/vnd.openxmlformats-officedocument.presentationml.tags+xml"/>
  <Override PartName="/ppt/tags/tag441.xml" ContentType="application/vnd.openxmlformats-officedocument.presentationml.tags+xml"/>
  <Override PartName="/ppt/notesSlides/notesSlide55.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tags/tag19.xml" ContentType="application/vnd.openxmlformats-officedocument.presentationml.tags+xml"/>
  <Override PartName="/ppt/tags/tag66.xml" ContentType="application/vnd.openxmlformats-officedocument.presentationml.tags+xml"/>
  <Override PartName="/ppt/tags/tag222.xml" ContentType="application/vnd.openxmlformats-officedocument.presentationml.tags+xml"/>
  <Override PartName="/ppt/tags/tag367.xml" ContentType="application/vnd.openxmlformats-officedocument.presentationml.tags+xml"/>
  <Override PartName="/ppt/notesSlides/notesSlide44.xml" ContentType="application/vnd.openxmlformats-officedocument.presentationml.notesSlide+xml"/>
  <Override PartName="/ppt/tags/tag506.xml" ContentType="application/vnd.openxmlformats-officedocument.presentationml.tags+xml"/>
  <Override PartName="/ppt/tags/tag517.xml" ContentType="application/vnd.openxmlformats-officedocument.presentationml.tags+xml"/>
  <Override PartName="/ppt/slides/slide20.xml" ContentType="application/vnd.openxmlformats-officedocument.presentationml.slide+xml"/>
  <Override PartName="/ppt/tags/tag55.xml" ContentType="application/vnd.openxmlformats-officedocument.presentationml.tags+xml"/>
  <Override PartName="/ppt/tags/tag159.xml" ContentType="application/vnd.openxmlformats-officedocument.presentationml.tags+xml"/>
  <Override PartName="/ppt/tags/tag211.xml" ContentType="application/vnd.openxmlformats-officedocument.presentationml.tags+xml"/>
  <Override PartName="/ppt/notesSlides/notesSlide22.xml" ContentType="application/vnd.openxmlformats-officedocument.presentationml.notesSlide+xml"/>
  <Override PartName="/ppt/tags/tag309.xml" ContentType="application/vnd.openxmlformats-officedocument.presentationml.tags+xml"/>
  <Override PartName="/ppt/tags/tag345.xml" ContentType="application/vnd.openxmlformats-officedocument.presentationml.tags+xml"/>
  <Override PartName="/ppt/tags/tag356.xml" ContentType="application/vnd.openxmlformats-officedocument.presentationml.tags+xml"/>
  <Override PartName="/ppt/notesSlides/notesSlide33.xml" ContentType="application/vnd.openxmlformats-officedocument.presentationml.notesSlide+xml"/>
  <Override PartName="/ppt/tags/tag392.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Override PartName="/ppt/tags/tag137.xml" ContentType="application/vnd.openxmlformats-officedocument.presentationml.tags+xml"/>
  <Override PartName="/ppt/tags/tag148.xml" ContentType="application/vnd.openxmlformats-officedocument.presentationml.tags+xml"/>
  <Override PartName="/ppt/notesSlides/notesSlide11.xml" ContentType="application/vnd.openxmlformats-officedocument.presentationml.notesSlide+xml"/>
  <Override PartName="/ppt/tags/tag184.xml" ContentType="application/vnd.openxmlformats-officedocument.presentationml.tags+xml"/>
  <Override PartName="/ppt/tags/tag195.xml" ContentType="application/vnd.openxmlformats-officedocument.presentationml.tags+xml"/>
  <Override PartName="/ppt/tags/tag200.xml" ContentType="application/vnd.openxmlformats-officedocument.presentationml.tags+xml"/>
  <Override PartName="/ppt/tags/tag334.xml" ContentType="application/vnd.openxmlformats-officedocument.presentationml.tags+xml"/>
  <Override PartName="/ppt/tags/tag381.xml" ContentType="application/vnd.openxmlformats-officedocument.presentationml.tags+xml"/>
  <Override PartName="/ppt/tags/tag479.xml" ContentType="application/vnd.openxmlformats-officedocument.presentationml.tags+xml"/>
  <Override PartName="/ppt/tags/tag22.xml" ContentType="application/vnd.openxmlformats-officedocument.presentationml.tags+xml"/>
  <Override PartName="/ppt/tags/tag126.xml" ContentType="application/vnd.openxmlformats-officedocument.presentationml.tags+xml"/>
  <Override PartName="/ppt/tags/tag173.xml" ContentType="application/vnd.openxmlformats-officedocument.presentationml.tags+xml"/>
  <Override PartName="/ppt/tags/tag323.xml" ContentType="application/vnd.openxmlformats-officedocument.presentationml.tags+xml"/>
  <Override PartName="/ppt/tags/tag370.xml" ContentType="application/vnd.openxmlformats-officedocument.presentationml.tags+xml"/>
  <Override PartName="/ppt/tags/tag457.xml" ContentType="application/vnd.openxmlformats-officedocument.presentationml.tags+xml"/>
  <Override PartName="/ppt/tags/tag468.xml" ContentType="application/vnd.openxmlformats-officedocument.presentationml.tags+xml"/>
  <Override PartName="/ppt/tags/tag520.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62.xml" ContentType="application/vnd.openxmlformats-officedocument.presentationml.tags+xml"/>
  <Override PartName="/ppt/tags/tag249.xml" ContentType="application/vnd.openxmlformats-officedocument.presentationml.tags+xml"/>
  <Override PartName="/ppt/tags/tag296.xml" ContentType="application/vnd.openxmlformats-officedocument.presentationml.tags+xml"/>
  <Override PartName="/ppt/tags/tag301.xml" ContentType="application/vnd.openxmlformats-officedocument.presentationml.tags+xml"/>
  <Override PartName="/ppt/tags/tag312.xml" ContentType="application/vnd.openxmlformats-officedocument.presentationml.tags+xml"/>
  <Override PartName="/ppt/tags/tag446.xml" ContentType="application/vnd.openxmlformats-officedocument.presentationml.tags+xml"/>
  <Override PartName="/ppt/tags/tag493.xml" ContentType="application/vnd.openxmlformats-officedocument.presentationml.tags+xml"/>
  <Override PartName="/ppt/slides/slide58.xml" ContentType="application/vnd.openxmlformats-officedocument.presentationml.slide+xml"/>
  <Override PartName="/ppt/notesSlides/notesSlide2.xml" ContentType="application/vnd.openxmlformats-officedocument.presentationml.notesSlide+xml"/>
  <Override PartName="/ppt/tags/tag104.xml" ContentType="application/vnd.openxmlformats-officedocument.presentationml.tags+xml"/>
  <Override PartName="/ppt/tags/tag151.xml" ContentType="application/vnd.openxmlformats-officedocument.presentationml.tags+xml"/>
  <Override PartName="/ppt/tags/tag435.xml" ContentType="application/vnd.openxmlformats-officedocument.presentationml.tags+xml"/>
  <Override PartName="/ppt/tags/tag482.xml" ContentType="application/vnd.openxmlformats-officedocument.presentationml.tags+xml"/>
  <Override PartName="/ppt/slides/slide36.xml" ContentType="application/vnd.openxmlformats-officedocument.presentationml.slide+xml"/>
  <Override PartName="/ppt/tags/tag227.xml" ContentType="application/vnd.openxmlformats-officedocument.presentationml.tags+xml"/>
  <Override PartName="/ppt/tags/tag274.xml" ContentType="application/vnd.openxmlformats-officedocument.presentationml.tags+xml"/>
  <Override PartName="/ppt/tags/tag413.xml" ContentType="application/vnd.openxmlformats-officedocument.presentationml.tags+xml"/>
  <Override PartName="/ppt/tags/tag460.xml" ContentType="application/vnd.openxmlformats-officedocument.presentationml.tags+xml"/>
  <Override PartName="/ppt/notesSlides/notesSlide49.xml" ContentType="application/vnd.openxmlformats-officedocument.presentationml.notesSlide+xml"/>
  <Override PartName="/ppt/tags/tag49.xml" ContentType="application/vnd.openxmlformats-officedocument.presentationml.tags+xml"/>
  <Override PartName="/ppt/tags/tag96.xml" ContentType="application/vnd.openxmlformats-officedocument.presentationml.tags+xml"/>
  <Override PartName="/ppt/tags/tag205.xml" ContentType="application/vnd.openxmlformats-officedocument.presentationml.tags+xml"/>
  <Override PartName="/ppt/tags/tag252.xml" ContentType="application/vnd.openxmlformats-officedocument.presentationml.tags+xml"/>
  <Override PartName="/ppt/notesSlides/notesSlide27.xml" ContentType="application/vnd.openxmlformats-officedocument.presentationml.notesSlide+xml"/>
  <Override PartName="/ppt/tags/tag397.xml" ContentType="application/vnd.openxmlformats-officedocument.presentationml.tags+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189.xml" ContentType="application/vnd.openxmlformats-officedocument.presentationml.tags+xml"/>
  <Override PartName="/ppt/tableStyles.xml" ContentType="application/vnd.openxmlformats-officedocument.presentationml.tableStyles+xml"/>
  <Override PartName="/ppt/tags/tag27.xml" ContentType="application/vnd.openxmlformats-officedocument.presentationml.tags+xml"/>
  <Override PartName="/ppt/tags/tag74.xml" ContentType="application/vnd.openxmlformats-officedocument.presentationml.tags+xml"/>
  <Override PartName="/ppt/tags/tag230.xml" ContentType="application/vnd.openxmlformats-officedocument.presentationml.tags+xml"/>
  <Override PartName="/ppt/tags/tag328.xml" ContentType="application/vnd.openxmlformats-officedocument.presentationml.tags+xml"/>
  <Override PartName="/ppt/tags/tag375.xml" ContentType="application/vnd.openxmlformats-officedocument.presentationml.tags+xml"/>
  <Override PartName="/ppt/notesSlides/notesSlide52.xml" ContentType="application/vnd.openxmlformats-officedocument.presentationml.notesSlide+xml"/>
  <Override PartName="/ppt/tags/tag514.xml" ContentType="application/vnd.openxmlformats-officedocument.presentationml.tags+xml"/>
  <Override PartName="/ppt/tags/tag52.xml" ContentType="application/vnd.openxmlformats-officedocument.presentationml.tags+xml"/>
  <Override PartName="/ppt/tags/tag167.xml" ContentType="application/vnd.openxmlformats-officedocument.presentationml.tags+xml"/>
  <Override PartName="/ppt/tags/tag306.xml" ContentType="application/vnd.openxmlformats-officedocument.presentationml.tags+xml"/>
  <Override PartName="/ppt/notesSlides/notesSlide30.xml" ContentType="application/vnd.openxmlformats-officedocument.presentationml.notesSlide+xml"/>
  <Override PartName="/ppt/tags/tag353.xml" ContentType="application/vnd.openxmlformats-officedocument.presentationml.tags+xml"/>
  <Override PartName="/ppt/tags/tag498.xml" ContentType="application/vnd.openxmlformats-officedocument.presentationml.tags+xml"/>
  <Override PartName="/ppt/tags/tag145.xml" ContentType="application/vnd.openxmlformats-officedocument.presentationml.tags+xml"/>
  <Override PartName="/ppt/tags/tag192.xml" ContentType="application/vnd.openxmlformats-officedocument.presentationml.tags+xml"/>
  <Override PartName="/ppt/tags/tag429.xml" ContentType="application/vnd.openxmlformats-officedocument.presentationml.tags+xml"/>
  <Override PartName="/ppt/tags/tag476.xml" ContentType="application/vnd.openxmlformats-officedocument.presentationml.tags+xml"/>
  <Override PartName="/ppt/tags/tag30.xml" ContentType="application/vnd.openxmlformats-officedocument.presentationml.tags+xml"/>
  <Override PartName="/ppt/tags/tag268.xml" ContentType="application/vnd.openxmlformats-officedocument.presentationml.tags+xml"/>
  <Override PartName="/ppt/tags/tag331.xml" ContentType="application/vnd.openxmlformats-officedocument.presentationml.tags+xml"/>
  <Override PartName="/ppt/slides/slide5.xml" ContentType="application/vnd.openxmlformats-officedocument.presentationml.slide+xml"/>
  <Override PartName="/ppt/slideLayouts/slideLayout7.xml" ContentType="application/vnd.openxmlformats-officedocument.presentationml.slideLayout+xml"/>
  <Override PartName="/ppt/tags/tag123.xml" ContentType="application/vnd.openxmlformats-officedocument.presentationml.tags+xml"/>
  <Override PartName="/ppt/tags/tag170.xml" ContentType="application/vnd.openxmlformats-officedocument.presentationml.tags+xml"/>
  <Override PartName="/ppt/tags/tag407.xml" ContentType="application/vnd.openxmlformats-officedocument.presentationml.tags+xml"/>
  <Override PartName="/ppt/tags/tag454.xml" ContentType="application/vnd.openxmlformats-officedocument.presentationml.tags+xml"/>
  <Override PartName="/ppt/slides/slide55.xml" ContentType="application/vnd.openxmlformats-officedocument.presentationml.slide+xml"/>
  <Override PartName="/ppt/tags/tag101.xml" ContentType="application/vnd.openxmlformats-officedocument.presentationml.tags+xml"/>
  <Override PartName="/ppt/tags/tag246.xml" ContentType="application/vnd.openxmlformats-officedocument.presentationml.tags+xml"/>
  <Override PartName="/ppt/tags/tag293.xml" ContentType="application/vnd.openxmlformats-officedocument.presentationml.tags+xml"/>
  <Override PartName="/ppt/tags/tag432.xml" ContentType="application/vnd.openxmlformats-officedocument.presentationml.tags+xml"/>
  <Override PartName="/ppt/slides/slide33.xml" ContentType="application/vnd.openxmlformats-officedocument.presentationml.slide+xml"/>
  <Override PartName="/ppt/tags/tag68.xml" ContentType="application/vnd.openxmlformats-officedocument.presentationml.tags+xml"/>
  <Override PartName="/ppt/tags/tag224.xml" ContentType="application/vnd.openxmlformats-officedocument.presentationml.tags+xml"/>
  <Override PartName="/ppt/tags/tag271.xml" ContentType="application/vnd.openxmlformats-officedocument.presentationml.tags+xml"/>
  <Override PartName="/ppt/tags/tag369.xml" ContentType="application/vnd.openxmlformats-officedocument.presentationml.tags+xml"/>
  <Override PartName="/ppt/notesSlides/notesSlide46.xml" ContentType="application/vnd.openxmlformats-officedocument.presentationml.notesSlide+xml"/>
  <Override PartName="/ppt/tags/tag508.xml" ContentType="application/vnd.openxmlformats-officedocument.presentationml.tags+xml"/>
  <Override PartName="/ppt/presentation.xml" ContentType="application/vnd.openxmlformats-officedocument.presentationml.presentation.main+xml"/>
  <Override PartName="/ppt/notesSlides/notesSlide24.xml" ContentType="application/vnd.openxmlformats-officedocument.presentationml.notesSlide+xml"/>
  <Override PartName="/ppt/tags/tag347.xml" ContentType="application/vnd.openxmlformats-officedocument.presentationml.tags+xml"/>
  <Override PartName="/ppt/tags/tag394.xml" ContentType="application/vnd.openxmlformats-officedocument.presentationml.tags+xml"/>
  <Override PartName="/ppt/tags/tag410.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tags/tag46.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tags/tag186.xml" ContentType="application/vnd.openxmlformats-officedocument.presentationml.tags+xml"/>
  <Override PartName="/ppt/tags/tag202.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325.xml" ContentType="application/vnd.openxmlformats-officedocument.presentationml.tags+xml"/>
  <Override PartName="/ppt/tags/tag372.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tags/tag448.xml" ContentType="application/vnd.openxmlformats-officedocument.presentationml.tags+xml"/>
  <Override PartName="/ppt/tags/tag495.xml" ContentType="application/vnd.openxmlformats-officedocument.presentationml.tags+xml"/>
  <Override PartName="/ppt/tags/tag511.xml" ContentType="application/vnd.openxmlformats-officedocument.presentationml.tags+xml"/>
  <Override PartName="/ppt/slides/slide49.xml" ContentType="application/vnd.openxmlformats-officedocument.presentationml.slide+xml"/>
  <Override PartName="/ppt/tags/tag142.xml" ContentType="application/vnd.openxmlformats-officedocument.presentationml.tags+xml"/>
  <Override PartName="/ppt/tags/tag287.xml" ContentType="application/vnd.openxmlformats-officedocument.presentationml.tags+xml"/>
  <Override PartName="/ppt/tags/tag303.xml" ContentType="application/vnd.openxmlformats-officedocument.presentationml.tags+xml"/>
  <Override PartName="/ppt/tags/tag350.xml" ContentType="application/vnd.openxmlformats-officedocument.presentationml.tags+xml"/>
  <Override PartName="/ppt/tags/tag426.xml" ContentType="application/vnd.openxmlformats-officedocument.presentationml.tags+xml"/>
  <Override PartName="/ppt/tags/tag473.xml" ContentType="application/vnd.openxmlformats-officedocument.presentationml.tags+xml"/>
  <Override PartName="/ppt/slides/slide27.xml" ContentType="application/vnd.openxmlformats-officedocument.presentationml.slide+xml"/>
  <Override PartName="/ppt/slideLayouts/slideLayout4.xml" ContentType="application/vnd.openxmlformats-officedocument.presentationml.slideLayout+xml"/>
  <Override PartName="/ppt/tags/tag120.xml" ContentType="application/vnd.openxmlformats-officedocument.presentationml.tags+xml"/>
  <Override PartName="/ppt/tags/tag218.xml" ContentType="application/vnd.openxmlformats-officedocument.presentationml.tags+xml"/>
  <Override PartName="/ppt/tags/tag265.xml" ContentType="application/vnd.openxmlformats-officedocument.presentationml.tags+xml"/>
  <Override PartName="/ppt/tags/tag404.xml" ContentType="application/vnd.openxmlformats-officedocument.presentationml.tags+xml"/>
  <Override PartName="/ppt/tags/tag451.xml" ContentType="application/vnd.openxmlformats-officedocument.presentationml.tags+xml"/>
  <Override PartName="/ppt/slides/slide2.xml" ContentType="application/vnd.openxmlformats-officedocument.presentationml.slide+xml"/>
  <Override PartName="/ppt/slides/slide52.xml" ContentType="application/vnd.openxmlformats-officedocument.presentationml.slide+xml"/>
  <Override PartName="/ppt/tags/tag87.xml" ContentType="application/vnd.openxmlformats-officedocument.presentationml.tags+xml"/>
  <Override PartName="/ppt/notesSlides/notesSlide18.xml" ContentType="application/vnd.openxmlformats-officedocument.presentationml.notesSlide+xml"/>
  <Override PartName="/ppt/tags/tag243.xml" ContentType="application/vnd.openxmlformats-officedocument.presentationml.tags+xml"/>
  <Override PartName="/ppt/tags/tag290.xml" ContentType="application/vnd.openxmlformats-officedocument.presentationml.tags+xml"/>
  <Override PartName="/ppt/tags/tag388.xml" ContentType="application/vnd.openxmlformats-officedocument.presentationml.tags+xml"/>
  <Default Extension="wmf" ContentType="image/x-wmf"/>
  <Override PartName="/ppt/tags/tag319.xml" ContentType="application/vnd.openxmlformats-officedocument.presentationml.tags+xml"/>
  <Override PartName="/ppt/tags/tag366.xml" ContentType="application/vnd.openxmlformats-officedocument.presentationml.tags+xml"/>
  <Override PartName="/ppt/notesSlides/notesSlide43.xml" ContentType="application/vnd.openxmlformats-officedocument.presentationml.notesSlide+xml"/>
  <Override PartName="/ppt/slides/slide30.xml" ContentType="application/vnd.openxmlformats-officedocument.presentationml.slide+xml"/>
  <Override PartName="/ppt/tags/tag18.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tags/tag221.xml" ContentType="application/vnd.openxmlformats-officedocument.presentationml.tags+xml"/>
  <Override PartName="/ppt/tags/tag505.xml" ContentType="application/vnd.openxmlformats-officedocument.presentationml.tags+xml"/>
  <Override PartName="/ppt/tags/tag43.xml" ContentType="application/vnd.openxmlformats-officedocument.presentationml.tags+xml"/>
  <Override PartName="/ppt/tags/tag90.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44.xml" ContentType="application/vnd.openxmlformats-officedocument.presentationml.tags+xml"/>
  <Override PartName="/ppt/tags/tag391.xml" ContentType="application/vnd.openxmlformats-officedocument.presentationml.tags+xml"/>
  <Override PartName="/ppt/tags/tag489.xml" ContentType="application/vnd.openxmlformats-officedocument.presentationml.tags+xml"/>
  <Override PartName="/ppt/tags/tag136.xml" ContentType="application/vnd.openxmlformats-officedocument.presentationml.tags+xml"/>
  <Override PartName="/ppt/tags/tag183.xml" ContentType="application/vnd.openxmlformats-officedocument.presentationml.tags+xml"/>
  <Override PartName="/ppt/charts/chart5.xml" ContentType="application/vnd.openxmlformats-officedocument.drawingml.chart+xml"/>
  <Override PartName="/ppt/tags/tag322.xml" ContentType="application/vnd.openxmlformats-officedocument.presentationml.tags+xml"/>
  <Override PartName="/ppt/tags/tag467.xml" ContentType="application/vnd.openxmlformats-officedocument.presentationml.tags+xml"/>
  <Override PartName="/ppt/tags/tag21.xml" ContentType="application/vnd.openxmlformats-officedocument.presentationml.tags+xml"/>
  <Override PartName="/ppt/tags/tag114.xml" ContentType="application/vnd.openxmlformats-officedocument.presentationml.tags+xml"/>
  <Override PartName="/ppt/tags/tag161.xml" ContentType="application/vnd.openxmlformats-officedocument.presentationml.tags+xml"/>
  <Override PartName="/ppt/drawings/drawing5.xml" ContentType="application/vnd.openxmlformats-officedocument.drawingml.chartshapes+xml"/>
  <Override PartName="/ppt/tags/tag259.xml" ContentType="application/vnd.openxmlformats-officedocument.presentationml.tags+xml"/>
  <Override PartName="/ppt/tags/tag7.xml" ContentType="application/vnd.openxmlformats-officedocument.presentationml.tags+xml"/>
  <Override PartName="/ppt/tags/tag300.xml" ContentType="application/vnd.openxmlformats-officedocument.presentationml.tags+xml"/>
  <Override PartName="/ppt/tags/tag445.xml" ContentType="application/vnd.openxmlformats-officedocument.presentationml.tags+xml"/>
  <Override PartName="/ppt/tags/tag492.xml" ContentType="application/vnd.openxmlformats-officedocument.presentationml.tags+xml"/>
  <Override PartName="/ppt/notesSlides/notesSlide59.xml" ContentType="application/vnd.openxmlformats-officedocument.presentationml.notesSlide+xml"/>
  <Override PartName="/ppt/slides/slide46.xml" ContentType="application/vnd.openxmlformats-officedocument.presentationml.slide+xml"/>
  <Override PartName="/ppt/tags/tag237.xml" ContentType="application/vnd.openxmlformats-officedocument.presentationml.tags+xml"/>
  <Override PartName="/ppt/tags/tag284.xml" ContentType="application/vnd.openxmlformats-officedocument.presentationml.tags+xml"/>
  <Override PartName="/ppt/tags/tag423.xml" ContentType="application/vnd.openxmlformats-officedocument.presentationml.tags+xml"/>
  <Override PartName="/ppt/tags/tag470.xml" ContentType="application/vnd.openxmlformats-officedocument.presentationml.tags+xml"/>
  <Override PartName="/ppt/slides/slide24.xml" ContentType="application/vnd.openxmlformats-officedocument.presentationml.slide+xml"/>
  <Override PartName="/ppt/tags/tag59.xml" ContentType="application/vnd.openxmlformats-officedocument.presentationml.tags+xml"/>
  <Override PartName="/ppt/tags/tag215.xml" ContentType="application/vnd.openxmlformats-officedocument.presentationml.tags+xml"/>
  <Override PartName="/ppt/tags/tag262.xml" ContentType="application/vnd.openxmlformats-officedocument.presentationml.tags+xml"/>
  <Override PartName="/ppt/notesSlides/notesSlide37.xml" ContentType="application/vnd.openxmlformats-officedocument.presentationml.notesSlide+xml"/>
  <Override PartName="/ppt/slideLayouts/slideLayout1.xml" ContentType="application/vnd.openxmlformats-officedocument.presentationml.slideLayout+xml"/>
  <Override PartName="/ppt/tags/tag37.xml" ContentType="application/vnd.openxmlformats-officedocument.presentationml.tags+xml"/>
  <Override PartName="/ppt/tags/tag84.xml" ContentType="application/vnd.openxmlformats-officedocument.presentationml.tags+xml"/>
  <Override PartName="/ppt/tags/tag199.xml" ContentType="application/vnd.openxmlformats-officedocument.presentationml.tags+xml"/>
  <Override PartName="/ppt/notesSlides/notesSlide15.xml" ContentType="application/vnd.openxmlformats-officedocument.presentationml.notesSlide+xml"/>
  <Override PartName="/ppt/tags/tag338.xml" ContentType="application/vnd.openxmlformats-officedocument.presentationml.tags+xml"/>
  <Override PartName="/ppt/tags/tag385.xml" ContentType="application/vnd.openxmlformats-officedocument.presentationml.tags+xml"/>
  <Override PartName="/ppt/tags/tag401.xml" ContentType="application/vnd.openxmlformats-officedocument.presentationml.tags+xml"/>
  <Override PartName="/ppt/tags/tag177.xml" ContentType="application/vnd.openxmlformats-officedocument.presentationml.tags+xml"/>
  <Override PartName="/ppt/tags/tag240.xml" ContentType="application/vnd.openxmlformats-officedocument.presentationml.tags+xml"/>
  <Override PartName="/ppt/tags/tag15.xml" ContentType="application/vnd.openxmlformats-officedocument.presentationml.tags+xml"/>
  <Override PartName="/ppt/tags/tag62.xml" ContentType="application/vnd.openxmlformats-officedocument.presentationml.tags+xml"/>
  <Override PartName="/ppt/tags/tag316.xml" ContentType="application/vnd.openxmlformats-officedocument.presentationml.tags+xml"/>
  <Override PartName="/ppt/tags/tag363.xml" ContentType="application/vnd.openxmlformats-officedocument.presentationml.tags+xml"/>
  <Override PartName="/ppt/notesSlides/notesSlide40.xml" ContentType="application/vnd.openxmlformats-officedocument.presentationml.notesSlide+xml"/>
  <Override PartName="/ppt/tags/tag502.xml" ContentType="application/vnd.openxmlformats-officedocument.presentationml.tags+xml"/>
  <Override PartName="/ppt/tags/tag40.xml" ContentType="application/vnd.openxmlformats-officedocument.presentationml.tags+xml"/>
  <Override PartName="/ppt/tags/tag108.xml" ContentType="application/vnd.openxmlformats-officedocument.presentationml.tags+xml"/>
  <Override PartName="/ppt/notesSlides/notesSlide6.xml" ContentType="application/vnd.openxmlformats-officedocument.presentationml.notesSlide+xml"/>
  <Override PartName="/ppt/tags/tag155.xml" ContentType="application/vnd.openxmlformats-officedocument.presentationml.tags+xml"/>
  <Override PartName="/ppt/tags/tag341.xml" ContentType="application/vnd.openxmlformats-officedocument.presentationml.tags+xml"/>
  <Override PartName="/ppt/tags/tag439.xml" ContentType="application/vnd.openxmlformats-officedocument.presentationml.tags+xml"/>
  <Override PartName="/ppt/tags/tag486.xml" ContentType="application/vnd.openxmlformats-officedocument.presentationml.tags+xml"/>
  <Override PartName="/ppt/tags/tag133.xml" ContentType="application/vnd.openxmlformats-officedocument.presentationml.tags+xml"/>
  <Override PartName="/ppt/charts/chart2.xml" ContentType="application/vnd.openxmlformats-officedocument.drawingml.chart+xml"/>
  <Override PartName="/ppt/tags/tag180.xml" ContentType="application/vnd.openxmlformats-officedocument.presentationml.tags+xml"/>
  <Override PartName="/ppt/tags/tag278.xml" ContentType="application/vnd.openxmlformats-officedocument.presentationml.tags+xml"/>
  <Override PartName="/ppt/tags/tag417.xml" ContentType="application/vnd.openxmlformats-officedocument.presentationml.tags+xml"/>
  <Override PartName="/ppt/tags/tag209.xml" ContentType="application/vnd.openxmlformats-officedocument.presentationml.tags+xml"/>
  <Override PartName="/ppt/tags/tag256.xml" ContentType="application/vnd.openxmlformats-officedocument.presentationml.tags+xml"/>
  <Override PartName="/ppt/tags/tag464.xml" ContentType="application/vnd.openxmlformats-officedocument.presentationml.tags+xml"/>
  <Override PartName="/ppt/slides/slide18.xml" ContentType="application/vnd.openxmlformats-officedocument.presentationml.slide+xml"/>
  <Override PartName="/ppt/tags/tag4.xml" ContentType="application/vnd.openxmlformats-officedocument.presentationml.tags+xml"/>
  <Override PartName="/ppt/tags/tag111.xml" ContentType="application/vnd.openxmlformats-officedocument.presentationml.tags+xml"/>
  <Override PartName="/ppt/drawings/drawing2.xml" ContentType="application/vnd.openxmlformats-officedocument.drawingml.chartshapes+xml"/>
  <Override PartName="/ppt/tags/tag442.xml" ContentType="application/vnd.openxmlformats-officedocument.presentationml.tags+xml"/>
  <Override PartName="/ppt/slides/slide43.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234.xml" ContentType="application/vnd.openxmlformats-officedocument.presentationml.tags+xml"/>
  <Override PartName="/ppt/tags/tag281.xml" ContentType="application/vnd.openxmlformats-officedocument.presentationml.tags+xml"/>
  <Override PartName="/ppt/tags/tag379.xml" ContentType="application/vnd.openxmlformats-officedocument.presentationml.tags+xml"/>
  <Override PartName="/ppt/notesSlides/notesSlide56.xml" ContentType="application/vnd.openxmlformats-officedocument.presentationml.notesSlide+xml"/>
  <Override PartName="/ppt/tags/tag518.xml" ContentType="application/vnd.openxmlformats-officedocument.presentationml.tags+xml"/>
  <Override PartName="/ppt/tags/tag56.xml" ContentType="application/vnd.openxmlformats-officedocument.presentationml.tags+xml"/>
  <Override PartName="/ppt/tags/tag357.xml" ContentType="application/vnd.openxmlformats-officedocument.presentationml.tags+xml"/>
  <Override PartName="/ppt/notesSlides/notesSlide34.xml" ContentType="application/vnd.openxmlformats-officedocument.presentationml.notesSlide+xml"/>
  <Override PartName="/ppt/tags/tag420.xml" ContentType="application/vnd.openxmlformats-officedocument.presentationml.tags+xml"/>
  <Override PartName="/ppt/slides/slide21.xml" ContentType="application/vnd.openxmlformats-officedocument.presentationml.slide+xml"/>
  <Override PartName="/ppt/tags/tag149.xml" ContentType="application/vnd.openxmlformats-officedocument.presentationml.tags+xml"/>
  <Override PartName="/ppt/tags/tag196.xml" ContentType="application/vnd.openxmlformats-officedocument.presentationml.tags+xml"/>
  <Override PartName="/ppt/tags/tag212.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81.xml" ContentType="application/vnd.openxmlformats-officedocument.presentationml.tags+xml"/>
  <Override PartName="/ppt/notesSlides/notesSlide12.xml" ContentType="application/vnd.openxmlformats-officedocument.presentationml.notesSlide+xml"/>
  <Override PartName="/ppt/tags/tag335.xml" ContentType="application/vnd.openxmlformats-officedocument.presentationml.tags+xml"/>
  <Override PartName="/ppt/tags/tag382.xml" ContentType="application/vnd.openxmlformats-officedocument.presentationml.tags+xml"/>
  <Override PartName="/ppt/tags/tag521.xml" ContentType="application/vnd.openxmlformats-officedocument.presentationml.tags+xml"/>
  <Override PartName="/ppt/tags/tag12.xml" ContentType="application/vnd.openxmlformats-officedocument.presentationml.tags+xml"/>
  <Override PartName="/ppt/tags/tag127.xml" ContentType="application/vnd.openxmlformats-officedocument.presentationml.tags+xml"/>
  <Override PartName="/ppt/tags/tag174.xml" ContentType="application/vnd.openxmlformats-officedocument.presentationml.tags+xml"/>
  <Override PartName="/ppt/tags/tag313.xml" ContentType="application/vnd.openxmlformats-officedocument.presentationml.tags+xml"/>
  <Override PartName="/ppt/tags/tag360.xml" ContentType="application/vnd.openxmlformats-officedocument.presentationml.tags+xml"/>
  <Override PartName="/ppt/tags/tag458.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ags/tag105.xml" ContentType="application/vnd.openxmlformats-officedocument.presentationml.tags+xml"/>
  <Override PartName="/ppt/tags/tag152.xml" ContentType="application/vnd.openxmlformats-officedocument.presentationml.tags+xml"/>
  <Override PartName="/ppt/tags/tag297.xml" ContentType="application/vnd.openxmlformats-officedocument.presentationml.tags+xml"/>
  <Override PartName="/ppt/tags/tag436.xml" ContentType="application/vnd.openxmlformats-officedocument.presentationml.tags+xml"/>
  <Override PartName="/ppt/tags/tag483.xml" ContentType="application/vnd.openxmlformats-officedocument.presentationml.tags+xml"/>
  <Override PartName="/ppt/notesSlides/notesSlide3.xml" ContentType="application/vnd.openxmlformats-officedocument.presentationml.notesSlide+xml"/>
  <Override PartName="/ppt/tags/tag228.xml" ContentType="application/vnd.openxmlformats-officedocument.presentationml.tags+xml"/>
  <Override PartName="/ppt/tags/tag275.xml" ContentType="application/vnd.openxmlformats-officedocument.presentationml.tags+xml"/>
  <Override PartName="/ppt/slides/slide37.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tags/tag414.xml" ContentType="application/vnd.openxmlformats-officedocument.presentationml.tags+xml"/>
  <Override PartName="/ppt/tags/tag461.xml" ContentType="application/vnd.openxmlformats-officedocument.presentationml.tags+xml"/>
  <Override PartName="/ppt/slides/slide15.xml" ContentType="application/vnd.openxmlformats-officedocument.presentationml.slide+xml"/>
  <Override PartName="/ppt/tags/tag97.xml" ContentType="application/vnd.openxmlformats-officedocument.presentationml.tags+xml"/>
  <Override PartName="/ppt/tags/tag206.xml" ContentType="application/vnd.openxmlformats-officedocument.presentationml.tags+xml"/>
  <Override PartName="/ppt/tags/tag253.xml" ContentType="application/vnd.openxmlformats-officedocument.presentationml.tags+xml"/>
  <Override PartName="/ppt/notesSlides/notesSlide28.xml" ContentType="application/vnd.openxmlformats-officedocument.presentationml.notesSlide+xml"/>
  <Override PartName="/ppt/tags/tag398.xml" ContentType="application/vnd.openxmlformats-officedocument.presentationml.tags+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231.xml" ContentType="application/vnd.openxmlformats-officedocument.presentationml.tags+xml"/>
  <Override PartName="/ppt/tags/tag329.xml" ContentType="application/vnd.openxmlformats-officedocument.presentationml.tags+xml"/>
  <Override PartName="/ppt/tags/tag376.xml" ContentType="application/vnd.openxmlformats-officedocument.presentationml.tags+xml"/>
  <Override PartName="/ppt/notesSlides/notesSlide53.xml" ContentType="application/vnd.openxmlformats-officedocument.presentationml.notesSlide+xml"/>
  <Override PartName="/ppt/slides/slide40.xml" ContentType="application/vnd.openxmlformats-officedocument.presentationml.slide+xml"/>
  <Override PartName="/ppt/tags/tag168.xml" ContentType="application/vnd.openxmlformats-officedocument.presentationml.tags+xml"/>
  <Override PartName="/ppt/tags/tag499.xml" ContentType="application/vnd.openxmlformats-officedocument.presentationml.tags+xml"/>
  <Override PartName="/ppt/tags/tag515.xml" ContentType="application/vnd.openxmlformats-officedocument.presentationml.tags+xml"/>
  <Override PartName="/ppt/tags/tag53.xml" ContentType="application/vnd.openxmlformats-officedocument.presentationml.tags+xml"/>
  <Override PartName="/ppt/tags/tag307.xml" ContentType="application/vnd.openxmlformats-officedocument.presentationml.tags+xml"/>
  <Override PartName="/ppt/notesSlides/notesSlide31.xml" ContentType="application/vnd.openxmlformats-officedocument.presentationml.notesSlide+xml"/>
  <Override PartName="/ppt/tags/tag354.xml" ContentType="application/vnd.openxmlformats-officedocument.presentationml.tags+xml"/>
  <Default Extension="vml" ContentType="application/vnd.openxmlformats-officedocument.vmlDrawing"/>
  <Override PartName="/ppt/tags/tag31.xml" ContentType="application/vnd.openxmlformats-officedocument.presentationml.tags+xml"/>
  <Override PartName="/ppt/tags/tag146.xml" ContentType="application/vnd.openxmlformats-officedocument.presentationml.tags+xml"/>
  <Override PartName="/ppt/tags/tag193.xml" ContentType="application/vnd.openxmlformats-officedocument.presentationml.tags+xml"/>
  <Override PartName="/ppt/tags/tag332.xml" ContentType="application/vnd.openxmlformats-officedocument.presentationml.tags+xml"/>
  <Override PartName="/ppt/tags/tag477.xml" ContentType="application/vnd.openxmlformats-officedocument.presentationml.tags+xml"/>
  <Override PartName="/ppt/tags/tag124.xml" ContentType="application/vnd.openxmlformats-officedocument.presentationml.tags+xml"/>
  <Override PartName="/ppt/tags/tag171.xml" ContentType="application/vnd.openxmlformats-officedocument.presentationml.tags+xml"/>
  <Override PartName="/ppt/tags/tag269.xml" ContentType="application/vnd.openxmlformats-officedocument.presentationml.tags+xml"/>
  <Override PartName="/ppt/tags/tag408.xml" ContentType="application/vnd.openxmlformats-officedocument.presentationml.tags+xml"/>
  <Override PartName="/ppt/tags/tag455.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tags/tag247.xml" ContentType="application/vnd.openxmlformats-officedocument.presentationml.tags+xml"/>
  <Override PartName="/ppt/tags/tag294.xml" ContentType="application/vnd.openxmlformats-officedocument.presentationml.tags+xml"/>
  <Override PartName="/ppt/tags/tag310.xml" ContentType="application/vnd.openxmlformats-officedocument.presentationml.tags+xml"/>
  <Override PartName="/ppt/slideMasters/slideMaster1.xml" ContentType="application/vnd.openxmlformats-officedocument.presentationml.slideMaster+xml"/>
  <Override PartName="/ppt/tags/tag102.xml" ContentType="application/vnd.openxmlformats-officedocument.presentationml.tags+xml"/>
  <Override PartName="/ppt/tags/tag433.xml" ContentType="application/vnd.openxmlformats-officedocument.presentationml.tags+xml"/>
  <Override PartName="/ppt/notesSlides/notesSlide47.xml" ContentType="application/vnd.openxmlformats-officedocument.presentationml.notesSlide+xml"/>
  <Override PartName="/ppt/tags/tag480.xml" ContentType="application/vnd.openxmlformats-officedocument.presentationml.tags+xml"/>
  <Override PartName="/ppt/slides/slide34.xml" ContentType="application/vnd.openxmlformats-officedocument.presentationml.slide+xml"/>
  <Override PartName="/ppt/tags/tag69.xml" ContentType="application/vnd.openxmlformats-officedocument.presentationml.tags+xml"/>
  <Override PartName="/ppt/tags/tag225.xml" ContentType="application/vnd.openxmlformats-officedocument.presentationml.tags+xml"/>
  <Override PartName="/ppt/tags/tag272.xml" ContentType="application/vnd.openxmlformats-officedocument.presentationml.tags+xml"/>
  <Override PartName="/ppt/tags/tag411.xml" ContentType="application/vnd.openxmlformats-officedocument.presentationml.tags+xml"/>
  <Override PartName="/ppt/tags/tag509.xml" ContentType="application/vnd.openxmlformats-officedocument.presentationml.tags+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4" r:id="rId1"/>
  </p:sldMasterIdLst>
  <p:notesMasterIdLst>
    <p:notesMasterId r:id="rId63"/>
  </p:notesMasterIdLst>
  <p:handoutMasterIdLst>
    <p:handoutMasterId r:id="rId64"/>
  </p:handoutMasterIdLst>
  <p:sldIdLst>
    <p:sldId id="341" r:id="rId2"/>
    <p:sldId id="435" r:id="rId3"/>
    <p:sldId id="438" r:id="rId4"/>
    <p:sldId id="439" r:id="rId5"/>
    <p:sldId id="385" r:id="rId6"/>
    <p:sldId id="440" r:id="rId7"/>
    <p:sldId id="441" r:id="rId8"/>
    <p:sldId id="442" r:id="rId9"/>
    <p:sldId id="410" r:id="rId10"/>
    <p:sldId id="345" r:id="rId11"/>
    <p:sldId id="411" r:id="rId12"/>
    <p:sldId id="412" r:id="rId13"/>
    <p:sldId id="413" r:id="rId14"/>
    <p:sldId id="414" r:id="rId15"/>
    <p:sldId id="342" r:id="rId16"/>
    <p:sldId id="373" r:id="rId17"/>
    <p:sldId id="335" r:id="rId18"/>
    <p:sldId id="361" r:id="rId19"/>
    <p:sldId id="360" r:id="rId20"/>
    <p:sldId id="387" r:id="rId21"/>
    <p:sldId id="388" r:id="rId22"/>
    <p:sldId id="400" r:id="rId23"/>
    <p:sldId id="347" r:id="rId24"/>
    <p:sldId id="395" r:id="rId25"/>
    <p:sldId id="376" r:id="rId26"/>
    <p:sldId id="397" r:id="rId27"/>
    <p:sldId id="377" r:id="rId28"/>
    <p:sldId id="452" r:id="rId29"/>
    <p:sldId id="379" r:id="rId30"/>
    <p:sldId id="351" r:id="rId31"/>
    <p:sldId id="350" r:id="rId32"/>
    <p:sldId id="352" r:id="rId33"/>
    <p:sldId id="386" r:id="rId34"/>
    <p:sldId id="448" r:id="rId35"/>
    <p:sldId id="432" r:id="rId36"/>
    <p:sldId id="433" r:id="rId37"/>
    <p:sldId id="429" r:id="rId38"/>
    <p:sldId id="430" r:id="rId39"/>
    <p:sldId id="431" r:id="rId40"/>
    <p:sldId id="420" r:id="rId41"/>
    <p:sldId id="421" r:id="rId42"/>
    <p:sldId id="422" r:id="rId43"/>
    <p:sldId id="423" r:id="rId44"/>
    <p:sldId id="424" r:id="rId45"/>
    <p:sldId id="425" r:id="rId46"/>
    <p:sldId id="426" r:id="rId47"/>
    <p:sldId id="427" r:id="rId48"/>
    <p:sldId id="356" r:id="rId49"/>
    <p:sldId id="445" r:id="rId50"/>
    <p:sldId id="446" r:id="rId51"/>
    <p:sldId id="443" r:id="rId52"/>
    <p:sldId id="274" r:id="rId53"/>
    <p:sldId id="447" r:id="rId54"/>
    <p:sldId id="358" r:id="rId55"/>
    <p:sldId id="359" r:id="rId56"/>
    <p:sldId id="381" r:id="rId57"/>
    <p:sldId id="401" r:id="rId58"/>
    <p:sldId id="403" r:id="rId59"/>
    <p:sldId id="450" r:id="rId60"/>
    <p:sldId id="451" r:id="rId61"/>
    <p:sldId id="449" r:id="rId62"/>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CC0000"/>
    <a:srgbClr val="2E2110"/>
    <a:srgbClr val="CCFFFF"/>
    <a:srgbClr val="B2B2B2"/>
    <a:srgbClr val="0000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80634" autoAdjust="0"/>
  </p:normalViewPr>
  <p:slideViewPr>
    <p:cSldViewPr>
      <p:cViewPr>
        <p:scale>
          <a:sx n="66" d="100"/>
          <a:sy n="66" d="100"/>
        </p:scale>
        <p:origin x="-1200" y="54"/>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Documents%20and%20Settings\vk\Desktop\micro_presentation\motiv_data_with_2ialus_with_rob_modified.xls"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Documents%20and%20Settings\vk\Desktop\micro_presentation\motiv_data_with_2ialus_with_rob_modified.xls"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C:\Documents%20and%20Settings\vk\Desktop\micro_presentation\motiv_data_with_2ialus_with_rob_modified2.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C:\Documents%20and%20Settings\vk\Desktop\micro_presentation\motiv_data_with_2ialus_with_rob_modified2.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oleObject" Target="file:///C:\Documents%20and%20Settings\vk\Desktop\micro_presentation\motiv_data_with_2ialus_with_rob_modified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chart>
    <c:title>
      <c:tx>
        <c:rich>
          <a:bodyPr/>
          <a:lstStyle/>
          <a:p>
            <a:pPr>
              <a:defRPr sz="1600"/>
            </a:pPr>
            <a:r>
              <a:rPr lang="en-US" sz="1600" dirty="0" smtClean="0"/>
              <a:t>Max</a:t>
            </a:r>
            <a:r>
              <a:rPr lang="en-US" sz="1600" baseline="0" dirty="0" smtClean="0"/>
              <a:t> configuration</a:t>
            </a:r>
            <a:endParaRPr lang="en-US" sz="1600" dirty="0"/>
          </a:p>
        </c:rich>
      </c:tx>
      <c:layout>
        <c:manualLayout>
          <c:xMode val="edge"/>
          <c:yMode val="edge"/>
          <c:x val="0.38758555966358832"/>
          <c:y val="0"/>
        </c:manualLayout>
      </c:layout>
      <c:overlay val="1"/>
      <c:spPr>
        <a:solidFill>
          <a:srgbClr val="FFFFFF"/>
        </a:solidFill>
      </c:spPr>
    </c:title>
    <c:plotArea>
      <c:layout>
        <c:manualLayout>
          <c:layoutTarget val="inner"/>
          <c:xMode val="edge"/>
          <c:yMode val="edge"/>
          <c:x val="0.1552360952923808"/>
          <c:y val="4.4368637652515662E-2"/>
          <c:w val="0.79784862060776662"/>
          <c:h val="0.87030789241472284"/>
        </c:manualLayout>
      </c:layout>
      <c:barChart>
        <c:barDir val="col"/>
        <c:grouping val="stacked"/>
        <c:ser>
          <c:idx val="0"/>
          <c:order val="0"/>
          <c:tx>
            <c:strRef>
              <c:f>results!$A$90</c:f>
              <c:strCache>
                <c:ptCount val="1"/>
                <c:pt idx="0">
                  <c:v>All_param_max</c:v>
                </c:pt>
              </c:strCache>
            </c:strRef>
          </c:tx>
          <c:spPr>
            <a:solidFill>
              <a:schemeClr val="lt1"/>
            </a:solidFill>
            <a:ln w="25400" cap="flat" cmpd="sng" algn="ctr">
              <a:solidFill>
                <a:schemeClr val="dk1"/>
              </a:solidFill>
              <a:prstDash val="solid"/>
            </a:ln>
            <a:effectLst/>
          </c:spPr>
          <c:cat>
            <c:strRef>
              <c:f>results!$B$89:$G$89</c:f>
              <c:strCache>
                <c:ptCount val="6"/>
                <c:pt idx="0">
                  <c:v>Media</c:v>
                </c:pt>
                <c:pt idx="1">
                  <c:v>Olden</c:v>
                </c:pt>
                <c:pt idx="2">
                  <c:v>Spec-int</c:v>
                </c:pt>
                <c:pt idx="3">
                  <c:v>Spec-fp</c:v>
                </c:pt>
                <c:pt idx="4">
                  <c:v>nas  </c:v>
                </c:pt>
                <c:pt idx="5">
                  <c:v>Average</c:v>
                </c:pt>
              </c:strCache>
            </c:strRef>
          </c:cat>
          <c:val>
            <c:numRef>
              <c:f>results!$B$90:$G$90</c:f>
              <c:numCache>
                <c:formatCode>0.00</c:formatCode>
                <c:ptCount val="6"/>
                <c:pt idx="0">
                  <c:v>1.7379032930118066</c:v>
                </c:pt>
                <c:pt idx="1">
                  <c:v>1.2244309101994537</c:v>
                </c:pt>
                <c:pt idx="2">
                  <c:v>1.5704464176358954</c:v>
                </c:pt>
                <c:pt idx="3">
                  <c:v>1.5008072650774218</c:v>
                </c:pt>
                <c:pt idx="4">
                  <c:v>1.3049151617815762</c:v>
                </c:pt>
                <c:pt idx="5">
                  <c:v>1.4758178173011438</c:v>
                </c:pt>
              </c:numCache>
            </c:numRef>
          </c:val>
        </c:ser>
        <c:gapWidth val="100"/>
        <c:overlap val="100"/>
        <c:axId val="35274112"/>
        <c:axId val="36518144"/>
      </c:barChart>
      <c:catAx>
        <c:axId val="35274112"/>
        <c:scaling>
          <c:orientation val="minMax"/>
        </c:scaling>
        <c:axPos val="b"/>
        <c:numFmt formatCode="0%" sourceLinked="1"/>
        <c:tickLblPos val="low"/>
        <c:spPr>
          <a:ln w="3175">
            <a:solidFill>
              <a:srgbClr val="B3B3B3"/>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36518144"/>
        <c:crosses val="autoZero"/>
        <c:auto val="1"/>
        <c:lblAlgn val="ctr"/>
        <c:lblOffset val="100"/>
        <c:tickLblSkip val="1"/>
        <c:tickMarkSkip val="1"/>
      </c:catAx>
      <c:valAx>
        <c:axId val="36518144"/>
        <c:scaling>
          <c:orientation val="minMax"/>
          <c:min val="1"/>
        </c:scaling>
        <c:axPos val="l"/>
        <c:majorGridlines>
          <c:spPr>
            <a:ln w="3175">
              <a:solidFill>
                <a:srgbClr val="B3B3B3"/>
              </a:solidFill>
              <a:prstDash val="solid"/>
            </a:ln>
          </c:spPr>
        </c:majorGridlines>
        <c:title>
          <c:tx>
            <c:rich>
              <a:bodyPr rot="-5400000" vert="horz"/>
              <a:lstStyle/>
              <a:p>
                <a:pPr>
                  <a:defRPr sz="1600"/>
                </a:pPr>
                <a:r>
                  <a:rPr lang="en-US" sz="1600"/>
                  <a:t>Speedup over min config</a:t>
                </a:r>
              </a:p>
            </c:rich>
          </c:tx>
          <c:layout/>
        </c:title>
        <c:numFmt formatCode="0.00" sourceLinked="1"/>
        <c:tickLblPos val="low"/>
        <c:spPr>
          <a:ln w="3175">
            <a:solidFill>
              <a:srgbClr val="B3B3B3"/>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35274112"/>
        <c:crosses val="autoZero"/>
        <c:crossBetween val="between"/>
      </c:valAx>
      <c:spPr>
        <a:noFill/>
        <a:ln w="3175">
          <a:solidFill>
            <a:srgbClr val="B3B3B3"/>
          </a:solidFill>
          <a:prstDash val="solid"/>
        </a:ln>
      </c:spPr>
    </c:plotArea>
    <c:dispBlanksAs val="gap"/>
  </c:chart>
  <c:spPr>
    <a:solidFill>
      <a:srgbClr val="FFFFFF"/>
    </a:solidFill>
    <a:ln w="9525">
      <a:noFill/>
    </a:ln>
  </c:spPr>
  <c:txPr>
    <a:bodyPr/>
    <a:lstStyle/>
    <a:p>
      <a:pPr>
        <a:defRPr sz="1100" b="0" i="0" u="none" strike="noStrike" baseline="0">
          <a:solidFill>
            <a:srgbClr val="000000"/>
          </a:solidFill>
          <a:latin typeface="Calibri"/>
          <a:ea typeface="Calibri"/>
          <a:cs typeface="Calibri"/>
        </a:defRPr>
      </a:pPr>
      <a:endParaRPr lang="en-US"/>
    </a:p>
  </c:txPr>
  <c:externalData r:id="rId1"/>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0.15523609529238069"/>
          <c:y val="4.4368637652515558E-2"/>
          <c:w val="0.79784862060776662"/>
          <c:h val="0.87030789241472251"/>
        </c:manualLayout>
      </c:layout>
      <c:barChart>
        <c:barDir val="col"/>
        <c:grouping val="stacked"/>
        <c:ser>
          <c:idx val="0"/>
          <c:order val="0"/>
          <c:tx>
            <c:strRef>
              <c:f>results!$A$92</c:f>
              <c:strCache>
                <c:ptCount val="1"/>
                <c:pt idx="0">
                  <c:v>1_param_max</c:v>
                </c:pt>
              </c:strCache>
            </c:strRef>
          </c:tx>
          <c:spPr>
            <a:solidFill>
              <a:srgbClr val="0066CC"/>
            </a:solidFill>
            <a:ln w="28575">
              <a:solidFill>
                <a:sysClr val="windowText" lastClr="000000"/>
              </a:solidFill>
              <a:prstDash val="solid"/>
            </a:ln>
          </c:spPr>
          <c:cat>
            <c:strRef>
              <c:f>results!$B$91:$G$91</c:f>
              <c:strCache>
                <c:ptCount val="6"/>
                <c:pt idx="0">
                  <c:v>Media</c:v>
                </c:pt>
                <c:pt idx="1">
                  <c:v>Olden</c:v>
                </c:pt>
                <c:pt idx="2">
                  <c:v>Spec-int</c:v>
                </c:pt>
                <c:pt idx="3">
                  <c:v>Spec-fp</c:v>
                </c:pt>
                <c:pt idx="4">
                  <c:v>nas  </c:v>
                </c:pt>
                <c:pt idx="5">
                  <c:v>Average</c:v>
                </c:pt>
              </c:strCache>
            </c:strRef>
          </c:cat>
          <c:val>
            <c:numRef>
              <c:f>results!$B$92:$G$92</c:f>
              <c:numCache>
                <c:formatCode>0.00</c:formatCode>
                <c:ptCount val="6"/>
                <c:pt idx="0">
                  <c:v>1.2406526668279481</c:v>
                </c:pt>
                <c:pt idx="1">
                  <c:v>1.0616856404927959</c:v>
                </c:pt>
                <c:pt idx="2">
                  <c:v>1.2478589423703828</c:v>
                </c:pt>
                <c:pt idx="3">
                  <c:v>1.1721370065771821</c:v>
                </c:pt>
                <c:pt idx="4">
                  <c:v>1.0887323223083187</c:v>
                </c:pt>
                <c:pt idx="5">
                  <c:v>1.172603424872469</c:v>
                </c:pt>
              </c:numCache>
            </c:numRef>
          </c:val>
        </c:ser>
        <c:ser>
          <c:idx val="1"/>
          <c:order val="1"/>
          <c:tx>
            <c:strRef>
              <c:f>results!$A$93</c:f>
              <c:strCache>
                <c:ptCount val="1"/>
                <c:pt idx="0">
                  <c:v>All_param_max</c:v>
                </c:pt>
              </c:strCache>
            </c:strRef>
          </c:tx>
          <c:spPr>
            <a:solidFill>
              <a:schemeClr val="lt1"/>
            </a:solidFill>
            <a:ln w="28575" cap="flat" cmpd="sng" algn="ctr">
              <a:solidFill>
                <a:schemeClr val="dk1"/>
              </a:solidFill>
              <a:prstDash val="solid"/>
            </a:ln>
            <a:effectLst/>
          </c:spPr>
          <c:cat>
            <c:strRef>
              <c:f>results!$B$91:$G$91</c:f>
              <c:strCache>
                <c:ptCount val="6"/>
                <c:pt idx="0">
                  <c:v>Media</c:v>
                </c:pt>
                <c:pt idx="1">
                  <c:v>Olden</c:v>
                </c:pt>
                <c:pt idx="2">
                  <c:v>Spec-int</c:v>
                </c:pt>
                <c:pt idx="3">
                  <c:v>Spec-fp</c:v>
                </c:pt>
                <c:pt idx="4">
                  <c:v>nas  </c:v>
                </c:pt>
                <c:pt idx="5">
                  <c:v>Average</c:v>
                </c:pt>
              </c:strCache>
            </c:strRef>
          </c:cat>
          <c:val>
            <c:numRef>
              <c:f>results!$B$93:$G$93</c:f>
              <c:numCache>
                <c:formatCode>0.00</c:formatCode>
                <c:ptCount val="6"/>
                <c:pt idx="0">
                  <c:v>0.4972506261838599</c:v>
                </c:pt>
                <c:pt idx="1">
                  <c:v>0.16274526970665959</c:v>
                </c:pt>
                <c:pt idx="2">
                  <c:v>0.32258747526551407</c:v>
                </c:pt>
                <c:pt idx="3">
                  <c:v>0.32867025850024345</c:v>
                </c:pt>
                <c:pt idx="4">
                  <c:v>0.21618283947325345</c:v>
                </c:pt>
                <c:pt idx="5">
                  <c:v>0.30321439242867748</c:v>
                </c:pt>
              </c:numCache>
            </c:numRef>
          </c:val>
        </c:ser>
        <c:gapWidth val="100"/>
        <c:overlap val="100"/>
        <c:axId val="35993856"/>
        <c:axId val="36003840"/>
      </c:barChart>
      <c:catAx>
        <c:axId val="35993856"/>
        <c:scaling>
          <c:orientation val="minMax"/>
        </c:scaling>
        <c:axPos val="b"/>
        <c:numFmt formatCode="0%" sourceLinked="1"/>
        <c:tickLblPos val="low"/>
        <c:spPr>
          <a:ln w="3175">
            <a:solidFill>
              <a:srgbClr val="B3B3B3"/>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36003840"/>
        <c:crosses val="autoZero"/>
        <c:auto val="1"/>
        <c:lblAlgn val="ctr"/>
        <c:lblOffset val="100"/>
        <c:tickLblSkip val="1"/>
        <c:tickMarkSkip val="1"/>
      </c:catAx>
      <c:valAx>
        <c:axId val="36003840"/>
        <c:scaling>
          <c:orientation val="minMax"/>
          <c:min val="1"/>
        </c:scaling>
        <c:axPos val="l"/>
        <c:majorGridlines>
          <c:spPr>
            <a:ln w="3175">
              <a:solidFill>
                <a:srgbClr val="B3B3B3"/>
              </a:solidFill>
              <a:prstDash val="solid"/>
            </a:ln>
          </c:spPr>
        </c:majorGridlines>
        <c:title>
          <c:tx>
            <c:rich>
              <a:bodyPr rot="-5400000" vert="horz"/>
              <a:lstStyle/>
              <a:p>
                <a:pPr>
                  <a:defRPr sz="1600"/>
                </a:pPr>
                <a:r>
                  <a:rPr lang="en-US" sz="1600"/>
                  <a:t>Speedup over min config</a:t>
                </a:r>
              </a:p>
            </c:rich>
          </c:tx>
          <c:layout/>
        </c:title>
        <c:numFmt formatCode="0.00" sourceLinked="1"/>
        <c:tickLblPos val="low"/>
        <c:spPr>
          <a:ln w="3175">
            <a:solidFill>
              <a:srgbClr val="B3B3B3"/>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35993856"/>
        <c:crosses val="autoZero"/>
        <c:crossBetween val="between"/>
      </c:valAx>
      <c:spPr>
        <a:noFill/>
        <a:ln w="3175">
          <a:solidFill>
            <a:srgbClr val="B3B3B3"/>
          </a:solidFill>
          <a:prstDash val="solid"/>
        </a:ln>
      </c:spPr>
    </c:plotArea>
    <c:legend>
      <c:legendPos val="r"/>
      <c:legendEntry>
        <c:idx val="1"/>
        <c:txPr>
          <a:bodyPr/>
          <a:lstStyle/>
          <a:p>
            <a:pPr>
              <a:defRPr sz="1400"/>
            </a:pPr>
            <a:endParaRPr lang="en-US"/>
          </a:p>
        </c:txPr>
      </c:legendEntry>
      <c:layout>
        <c:manualLayout>
          <c:xMode val="edge"/>
          <c:yMode val="edge"/>
          <c:x val="0.60168067916591861"/>
          <c:y val="5.1763725780011323E-2"/>
          <c:w val="0.32891738695529638"/>
          <c:h val="7.8706117366728584E-2"/>
        </c:manualLayout>
      </c:layout>
      <c:spPr>
        <a:solidFill>
          <a:schemeClr val="bg1"/>
        </a:solidFill>
        <a:ln>
          <a:solidFill>
            <a:schemeClr val="tx1"/>
          </a:solidFill>
        </a:ln>
      </c:spPr>
      <c:txPr>
        <a:bodyPr/>
        <a:lstStyle/>
        <a:p>
          <a:pPr>
            <a:defRPr sz="1400"/>
          </a:pPr>
          <a:endParaRPr lang="en-US"/>
        </a:p>
      </c:txPr>
    </c:legend>
    <c:dispBlanksAs val="gap"/>
  </c:chart>
  <c:spPr>
    <a:solidFill>
      <a:srgbClr val="FFFFFF"/>
    </a:solidFill>
    <a:ln w="9525">
      <a:noFill/>
    </a:ln>
  </c:spPr>
  <c:txPr>
    <a:bodyPr/>
    <a:lstStyle/>
    <a:p>
      <a:pPr>
        <a:defRPr sz="1100" b="0" i="0" u="none" strike="noStrike" baseline="0">
          <a:solidFill>
            <a:srgbClr val="000000"/>
          </a:solidFill>
          <a:latin typeface="Calibri"/>
          <a:ea typeface="Calibri"/>
          <a:cs typeface="Calibri"/>
        </a:defRPr>
      </a:pPr>
      <a:endParaRPr lang="en-US"/>
    </a:p>
  </c:txPr>
  <c:externalData r:id="rId1"/>
  <c:userShapes r:id="rId2"/>
</c:chartSpace>
</file>

<file path=ppt/charts/chart3.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0.15523609529238069"/>
          <c:y val="4.4368637652515558E-2"/>
          <c:w val="0.79784862060776662"/>
          <c:h val="0.87030789241472251"/>
        </c:manualLayout>
      </c:layout>
      <c:barChart>
        <c:barDir val="col"/>
        <c:grouping val="stacked"/>
        <c:ser>
          <c:idx val="0"/>
          <c:order val="0"/>
          <c:tx>
            <c:strRef>
              <c:f>results!$A$95</c:f>
              <c:strCache>
                <c:ptCount val="1"/>
                <c:pt idx="0">
                  <c:v>1_param_max</c:v>
                </c:pt>
              </c:strCache>
            </c:strRef>
          </c:tx>
          <c:spPr>
            <a:solidFill>
              <a:srgbClr val="0066CC"/>
            </a:solidFill>
            <a:ln w="28575">
              <a:solidFill>
                <a:sysClr val="windowText" lastClr="000000"/>
              </a:solidFill>
              <a:prstDash val="solid"/>
            </a:ln>
          </c:spPr>
          <c:cat>
            <c:strRef>
              <c:f>results!$B$94:$G$94</c:f>
              <c:strCache>
                <c:ptCount val="6"/>
                <c:pt idx="0">
                  <c:v>Media</c:v>
                </c:pt>
                <c:pt idx="1">
                  <c:v>Olden</c:v>
                </c:pt>
                <c:pt idx="2">
                  <c:v>Spec-int</c:v>
                </c:pt>
                <c:pt idx="3">
                  <c:v>Spec-fp</c:v>
                </c:pt>
                <c:pt idx="4">
                  <c:v>nas  </c:v>
                </c:pt>
                <c:pt idx="5">
                  <c:v>Average</c:v>
                </c:pt>
              </c:strCache>
            </c:strRef>
          </c:cat>
          <c:val>
            <c:numRef>
              <c:f>results!$B$95:$G$95</c:f>
              <c:numCache>
                <c:formatCode>0.00</c:formatCode>
                <c:ptCount val="6"/>
                <c:pt idx="0">
                  <c:v>1.2406526668279481</c:v>
                </c:pt>
                <c:pt idx="1">
                  <c:v>1.0616856404927959</c:v>
                </c:pt>
                <c:pt idx="2">
                  <c:v>1.2478589423703828</c:v>
                </c:pt>
                <c:pt idx="3">
                  <c:v>1.1721370065771821</c:v>
                </c:pt>
                <c:pt idx="4">
                  <c:v>1.0887323223083187</c:v>
                </c:pt>
                <c:pt idx="5">
                  <c:v>1.1726034248724686</c:v>
                </c:pt>
              </c:numCache>
            </c:numRef>
          </c:val>
        </c:ser>
        <c:ser>
          <c:idx val="1"/>
          <c:order val="1"/>
          <c:tx>
            <c:strRef>
              <c:f>results!$A$96</c:f>
              <c:strCache>
                <c:ptCount val="1"/>
                <c:pt idx="0">
                  <c:v>2_param_max</c:v>
                </c:pt>
              </c:strCache>
            </c:strRef>
          </c:tx>
          <c:spPr>
            <a:solidFill>
              <a:srgbClr val="0070C0"/>
            </a:solidFill>
            <a:ln w="28575" cap="flat" cmpd="sng" algn="ctr">
              <a:solidFill>
                <a:schemeClr val="dk1"/>
              </a:solidFill>
              <a:prstDash val="solid"/>
            </a:ln>
            <a:effectLst/>
          </c:spPr>
          <c:cat>
            <c:strRef>
              <c:f>results!$B$94:$G$94</c:f>
              <c:strCache>
                <c:ptCount val="6"/>
                <c:pt idx="0">
                  <c:v>Media</c:v>
                </c:pt>
                <c:pt idx="1">
                  <c:v>Olden</c:v>
                </c:pt>
                <c:pt idx="2">
                  <c:v>Spec-int</c:v>
                </c:pt>
                <c:pt idx="3">
                  <c:v>Spec-fp</c:v>
                </c:pt>
                <c:pt idx="4">
                  <c:v>nas  </c:v>
                </c:pt>
                <c:pt idx="5">
                  <c:v>Average</c:v>
                </c:pt>
              </c:strCache>
            </c:strRef>
          </c:cat>
          <c:val>
            <c:numRef>
              <c:f>results!$B$96:$G$96</c:f>
              <c:numCache>
                <c:formatCode>0.00</c:formatCode>
                <c:ptCount val="6"/>
                <c:pt idx="0">
                  <c:v>0.30244593322148638</c:v>
                </c:pt>
                <c:pt idx="1">
                  <c:v>7.9601797874845739E-2</c:v>
                </c:pt>
                <c:pt idx="2">
                  <c:v>0.19145196671894427</c:v>
                </c:pt>
                <c:pt idx="3">
                  <c:v>0.11642920210036034</c:v>
                </c:pt>
                <c:pt idx="4">
                  <c:v>7.4190022857156548E-2</c:v>
                </c:pt>
                <c:pt idx="5">
                  <c:v>0.14428493065024653</c:v>
                </c:pt>
              </c:numCache>
            </c:numRef>
          </c:val>
        </c:ser>
        <c:ser>
          <c:idx val="2"/>
          <c:order val="2"/>
          <c:tx>
            <c:strRef>
              <c:f>results!$A$97</c:f>
              <c:strCache>
                <c:ptCount val="1"/>
                <c:pt idx="0">
                  <c:v>All_param_max</c:v>
                </c:pt>
              </c:strCache>
            </c:strRef>
          </c:tx>
          <c:spPr>
            <a:solidFill>
              <a:schemeClr val="lt1"/>
            </a:solidFill>
            <a:ln w="28575" cap="flat" cmpd="sng" algn="ctr">
              <a:solidFill>
                <a:schemeClr val="dk1"/>
              </a:solidFill>
              <a:prstDash val="solid"/>
            </a:ln>
            <a:effectLst/>
          </c:spPr>
          <c:cat>
            <c:strRef>
              <c:f>results!$B$94:$G$94</c:f>
              <c:strCache>
                <c:ptCount val="6"/>
                <c:pt idx="0">
                  <c:v>Media</c:v>
                </c:pt>
                <c:pt idx="1">
                  <c:v>Olden</c:v>
                </c:pt>
                <c:pt idx="2">
                  <c:v>Spec-int</c:v>
                </c:pt>
                <c:pt idx="3">
                  <c:v>Spec-fp</c:v>
                </c:pt>
                <c:pt idx="4">
                  <c:v>nas  </c:v>
                </c:pt>
                <c:pt idx="5">
                  <c:v>Average</c:v>
                </c:pt>
              </c:strCache>
            </c:strRef>
          </c:cat>
          <c:val>
            <c:numRef>
              <c:f>results!$B$97:$G$97</c:f>
              <c:numCache>
                <c:formatCode>0.00</c:formatCode>
                <c:ptCount val="6"/>
                <c:pt idx="0">
                  <c:v>0.19480469296237279</c:v>
                </c:pt>
                <c:pt idx="1">
                  <c:v>8.3143471831814031E-2</c:v>
                </c:pt>
                <c:pt idx="2">
                  <c:v>0.13113550854656839</c:v>
                </c:pt>
                <c:pt idx="3">
                  <c:v>0.21224105639988244</c:v>
                </c:pt>
                <c:pt idx="4">
                  <c:v>0.14199281661609736</c:v>
                </c:pt>
                <c:pt idx="5">
                  <c:v>0.1589294617784317</c:v>
                </c:pt>
              </c:numCache>
            </c:numRef>
          </c:val>
        </c:ser>
        <c:gapWidth val="100"/>
        <c:overlap val="100"/>
        <c:axId val="35485568"/>
        <c:axId val="35487104"/>
      </c:barChart>
      <c:catAx>
        <c:axId val="35485568"/>
        <c:scaling>
          <c:orientation val="minMax"/>
        </c:scaling>
        <c:axPos val="b"/>
        <c:numFmt formatCode="0.00" sourceLinked="1"/>
        <c:tickLblPos val="low"/>
        <c:spPr>
          <a:ln w="3175">
            <a:solidFill>
              <a:srgbClr val="B3B3B3"/>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35487104"/>
        <c:crosses val="autoZero"/>
        <c:auto val="1"/>
        <c:lblAlgn val="ctr"/>
        <c:lblOffset val="100"/>
        <c:tickLblSkip val="1"/>
        <c:tickMarkSkip val="1"/>
      </c:catAx>
      <c:valAx>
        <c:axId val="35487104"/>
        <c:scaling>
          <c:orientation val="minMax"/>
          <c:min val="1"/>
        </c:scaling>
        <c:axPos val="l"/>
        <c:majorGridlines>
          <c:spPr>
            <a:ln w="3175">
              <a:solidFill>
                <a:srgbClr val="B3B3B3"/>
              </a:solidFill>
              <a:prstDash val="solid"/>
            </a:ln>
          </c:spPr>
        </c:majorGridlines>
        <c:title>
          <c:tx>
            <c:rich>
              <a:bodyPr rot="-5400000" vert="horz"/>
              <a:lstStyle/>
              <a:p>
                <a:pPr>
                  <a:defRPr sz="1600"/>
                </a:pPr>
                <a:r>
                  <a:rPr lang="en-US" sz="1600"/>
                  <a:t>Speedup over min config</a:t>
                </a:r>
              </a:p>
            </c:rich>
          </c:tx>
          <c:layout/>
        </c:title>
        <c:numFmt formatCode="0.00" sourceLinked="1"/>
        <c:tickLblPos val="low"/>
        <c:spPr>
          <a:ln w="3175">
            <a:solidFill>
              <a:srgbClr val="B3B3B3"/>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35485568"/>
        <c:crosses val="autoZero"/>
        <c:crossBetween val="between"/>
      </c:valAx>
      <c:spPr>
        <a:noFill/>
        <a:ln w="3175">
          <a:solidFill>
            <a:srgbClr val="B3B3B3"/>
          </a:solidFill>
          <a:prstDash val="solid"/>
        </a:ln>
      </c:spPr>
    </c:plotArea>
    <c:legend>
      <c:legendPos val="r"/>
      <c:legendEntry>
        <c:idx val="2"/>
        <c:delete val="1"/>
      </c:legendEntry>
      <c:legendEntry>
        <c:idx val="0"/>
        <c:txPr>
          <a:bodyPr/>
          <a:lstStyle/>
          <a:p>
            <a:pPr>
              <a:defRPr sz="1400"/>
            </a:pPr>
            <a:endParaRPr lang="en-US"/>
          </a:p>
        </c:txPr>
      </c:legendEntry>
      <c:layout>
        <c:manualLayout>
          <c:xMode val="edge"/>
          <c:yMode val="edge"/>
          <c:x val="0.64430570194473724"/>
          <c:y val="6.2278716866876284E-2"/>
          <c:w val="0.28780932895199118"/>
          <c:h val="9.0459451954171252E-2"/>
        </c:manualLayout>
      </c:layout>
      <c:spPr>
        <a:solidFill>
          <a:sysClr val="window" lastClr="FFFFFF"/>
        </a:solidFill>
        <a:ln>
          <a:solidFill>
            <a:sysClr val="windowText" lastClr="000000"/>
          </a:solidFill>
        </a:ln>
      </c:spPr>
      <c:txPr>
        <a:bodyPr/>
        <a:lstStyle/>
        <a:p>
          <a:pPr>
            <a:defRPr sz="1400"/>
          </a:pPr>
          <a:endParaRPr lang="en-US"/>
        </a:p>
      </c:txPr>
    </c:legend>
    <c:dispBlanksAs val="gap"/>
  </c:chart>
  <c:spPr>
    <a:solidFill>
      <a:srgbClr val="FFFFFF"/>
    </a:solidFill>
    <a:ln w="9525">
      <a:noFill/>
    </a:ln>
  </c:spPr>
  <c:txPr>
    <a:bodyPr/>
    <a:lstStyle/>
    <a:p>
      <a:pPr>
        <a:defRPr sz="1100" b="0" i="0" u="none" strike="noStrike" baseline="0">
          <a:solidFill>
            <a:srgbClr val="000000"/>
          </a:solidFill>
          <a:latin typeface="Calibri"/>
          <a:ea typeface="Calibri"/>
          <a:cs typeface="Calibri"/>
        </a:defRPr>
      </a:pPr>
      <a:endParaRPr lang="en-US"/>
    </a:p>
  </c:txPr>
  <c:externalData r:id="rId1"/>
  <c:userShapes r:id="rId2"/>
</c:chartSpace>
</file>

<file path=ppt/charts/chart4.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0.1552360952923808"/>
          <c:y val="4.4368637652515613E-2"/>
          <c:w val="0.79784862060776662"/>
          <c:h val="0.87030789241472284"/>
        </c:manualLayout>
      </c:layout>
      <c:barChart>
        <c:barDir val="col"/>
        <c:grouping val="stacked"/>
        <c:ser>
          <c:idx val="0"/>
          <c:order val="0"/>
          <c:tx>
            <c:strRef>
              <c:f>results!$A$99</c:f>
              <c:strCache>
                <c:ptCount val="1"/>
                <c:pt idx="0">
                  <c:v>1_param_max</c:v>
                </c:pt>
              </c:strCache>
            </c:strRef>
          </c:tx>
          <c:spPr>
            <a:solidFill>
              <a:srgbClr val="0066CC"/>
            </a:solidFill>
            <a:ln w="28575">
              <a:solidFill>
                <a:sysClr val="windowText" lastClr="000000"/>
              </a:solidFill>
              <a:prstDash val="solid"/>
            </a:ln>
          </c:spPr>
          <c:cat>
            <c:strRef>
              <c:f>results!$B$98:$G$98</c:f>
              <c:strCache>
                <c:ptCount val="6"/>
                <c:pt idx="0">
                  <c:v>Media</c:v>
                </c:pt>
                <c:pt idx="1">
                  <c:v>Olden</c:v>
                </c:pt>
                <c:pt idx="2">
                  <c:v>Spec-int</c:v>
                </c:pt>
                <c:pt idx="3">
                  <c:v>Spec-fp</c:v>
                </c:pt>
                <c:pt idx="4">
                  <c:v>nas  </c:v>
                </c:pt>
                <c:pt idx="5">
                  <c:v>Average</c:v>
                </c:pt>
              </c:strCache>
            </c:strRef>
          </c:cat>
          <c:val>
            <c:numRef>
              <c:f>results!$B$99:$G$99</c:f>
              <c:numCache>
                <c:formatCode>0.00</c:formatCode>
                <c:ptCount val="6"/>
                <c:pt idx="0">
                  <c:v>1.2406526668279481</c:v>
                </c:pt>
                <c:pt idx="1">
                  <c:v>1.0616856404927959</c:v>
                </c:pt>
                <c:pt idx="2">
                  <c:v>1.2478589423703828</c:v>
                </c:pt>
                <c:pt idx="3">
                  <c:v>1.1721370065771821</c:v>
                </c:pt>
                <c:pt idx="4">
                  <c:v>1.0887323223083187</c:v>
                </c:pt>
                <c:pt idx="5">
                  <c:v>1.1726034248724686</c:v>
                </c:pt>
              </c:numCache>
            </c:numRef>
          </c:val>
        </c:ser>
        <c:ser>
          <c:idx val="1"/>
          <c:order val="1"/>
          <c:tx>
            <c:strRef>
              <c:f>results!$A$100</c:f>
              <c:strCache>
                <c:ptCount val="1"/>
                <c:pt idx="0">
                  <c:v>2_param_max</c:v>
                </c:pt>
              </c:strCache>
            </c:strRef>
          </c:tx>
          <c:spPr>
            <a:solidFill>
              <a:srgbClr val="0070C0"/>
            </a:solidFill>
            <a:ln w="28575" cap="flat" cmpd="sng" algn="ctr">
              <a:solidFill>
                <a:schemeClr val="dk1"/>
              </a:solidFill>
              <a:prstDash val="solid"/>
            </a:ln>
            <a:effectLst/>
          </c:spPr>
          <c:cat>
            <c:strRef>
              <c:f>results!$B$98:$G$98</c:f>
              <c:strCache>
                <c:ptCount val="6"/>
                <c:pt idx="0">
                  <c:v>Media</c:v>
                </c:pt>
                <c:pt idx="1">
                  <c:v>Olden</c:v>
                </c:pt>
                <c:pt idx="2">
                  <c:v>Spec-int</c:v>
                </c:pt>
                <c:pt idx="3">
                  <c:v>Spec-fp</c:v>
                </c:pt>
                <c:pt idx="4">
                  <c:v>nas  </c:v>
                </c:pt>
                <c:pt idx="5">
                  <c:v>Average</c:v>
                </c:pt>
              </c:strCache>
            </c:strRef>
          </c:cat>
          <c:val>
            <c:numRef>
              <c:f>results!$B$100:$G$100</c:f>
              <c:numCache>
                <c:formatCode>0.00</c:formatCode>
                <c:ptCount val="6"/>
                <c:pt idx="0">
                  <c:v>0.30244593322148638</c:v>
                </c:pt>
                <c:pt idx="1">
                  <c:v>7.9601797874845739E-2</c:v>
                </c:pt>
                <c:pt idx="2">
                  <c:v>0.19145196671894427</c:v>
                </c:pt>
                <c:pt idx="3">
                  <c:v>0.11642920210036034</c:v>
                </c:pt>
                <c:pt idx="4">
                  <c:v>7.4190022857156548E-2</c:v>
                </c:pt>
                <c:pt idx="5">
                  <c:v>0.14428493065024653</c:v>
                </c:pt>
              </c:numCache>
            </c:numRef>
          </c:val>
        </c:ser>
        <c:ser>
          <c:idx val="2"/>
          <c:order val="2"/>
          <c:tx>
            <c:strRef>
              <c:f>results!$A$101</c:f>
              <c:strCache>
                <c:ptCount val="1"/>
                <c:pt idx="0">
                  <c:v>3_param_max</c:v>
                </c:pt>
              </c:strCache>
            </c:strRef>
          </c:tx>
          <c:spPr>
            <a:solidFill>
              <a:srgbClr val="0070C0"/>
            </a:solidFill>
            <a:ln w="28575" cap="flat" cmpd="sng" algn="ctr">
              <a:solidFill>
                <a:schemeClr val="dk1"/>
              </a:solidFill>
              <a:prstDash val="solid"/>
            </a:ln>
            <a:effectLst/>
          </c:spPr>
          <c:cat>
            <c:strRef>
              <c:f>results!$B$98:$G$98</c:f>
              <c:strCache>
                <c:ptCount val="6"/>
                <c:pt idx="0">
                  <c:v>Media</c:v>
                </c:pt>
                <c:pt idx="1">
                  <c:v>Olden</c:v>
                </c:pt>
                <c:pt idx="2">
                  <c:v>Spec-int</c:v>
                </c:pt>
                <c:pt idx="3">
                  <c:v>Spec-fp</c:v>
                </c:pt>
                <c:pt idx="4">
                  <c:v>nas  </c:v>
                </c:pt>
                <c:pt idx="5">
                  <c:v>Average</c:v>
                </c:pt>
              </c:strCache>
            </c:strRef>
          </c:cat>
          <c:val>
            <c:numRef>
              <c:f>results!$B$101:$G$101</c:f>
              <c:numCache>
                <c:formatCode>0.00</c:formatCode>
                <c:ptCount val="6"/>
                <c:pt idx="0">
                  <c:v>9.243930642471869E-2</c:v>
                </c:pt>
                <c:pt idx="1">
                  <c:v>4.1630965323655275E-2</c:v>
                </c:pt>
                <c:pt idx="2">
                  <c:v>0.11517734785260303</c:v>
                </c:pt>
                <c:pt idx="3">
                  <c:v>9.7326903250962368E-2</c:v>
                </c:pt>
                <c:pt idx="4">
                  <c:v>8.4932111868267712E-2</c:v>
                </c:pt>
                <c:pt idx="5">
                  <c:v>9.2234297823693204E-2</c:v>
                </c:pt>
              </c:numCache>
            </c:numRef>
          </c:val>
        </c:ser>
        <c:ser>
          <c:idx val="3"/>
          <c:order val="3"/>
          <c:tx>
            <c:strRef>
              <c:f>results!$A$102</c:f>
              <c:strCache>
                <c:ptCount val="1"/>
                <c:pt idx="0">
                  <c:v>All_param_max</c:v>
                </c:pt>
              </c:strCache>
            </c:strRef>
          </c:tx>
          <c:spPr>
            <a:solidFill>
              <a:schemeClr val="lt1"/>
            </a:solidFill>
            <a:ln w="28575" cap="flat" cmpd="sng" algn="ctr">
              <a:solidFill>
                <a:schemeClr val="dk1"/>
              </a:solidFill>
              <a:prstDash val="solid"/>
            </a:ln>
            <a:effectLst/>
          </c:spPr>
          <c:cat>
            <c:strRef>
              <c:f>results!$B$98:$G$98</c:f>
              <c:strCache>
                <c:ptCount val="6"/>
                <c:pt idx="0">
                  <c:v>Media</c:v>
                </c:pt>
                <c:pt idx="1">
                  <c:v>Olden</c:v>
                </c:pt>
                <c:pt idx="2">
                  <c:v>Spec-int</c:v>
                </c:pt>
                <c:pt idx="3">
                  <c:v>Spec-fp</c:v>
                </c:pt>
                <c:pt idx="4">
                  <c:v>nas  </c:v>
                </c:pt>
                <c:pt idx="5">
                  <c:v>Average</c:v>
                </c:pt>
              </c:strCache>
            </c:strRef>
          </c:cat>
          <c:val>
            <c:numRef>
              <c:f>results!$B$102:$G$102</c:f>
              <c:numCache>
                <c:formatCode>0.00</c:formatCode>
                <c:ptCount val="6"/>
                <c:pt idx="0">
                  <c:v>0.10236538653765392</c:v>
                </c:pt>
                <c:pt idx="1">
                  <c:v>4.1512506508158763E-2</c:v>
                </c:pt>
                <c:pt idx="2">
                  <c:v>1.5958160693965419E-2</c:v>
                </c:pt>
                <c:pt idx="3">
                  <c:v>0.11491415314892017</c:v>
                </c:pt>
                <c:pt idx="4">
                  <c:v>5.7060704747829427E-2</c:v>
                </c:pt>
                <c:pt idx="5">
                  <c:v>6.6695163954737971E-2</c:v>
                </c:pt>
              </c:numCache>
            </c:numRef>
          </c:val>
        </c:ser>
        <c:gapWidth val="100"/>
        <c:overlap val="100"/>
        <c:axId val="35909632"/>
        <c:axId val="35911168"/>
      </c:barChart>
      <c:catAx>
        <c:axId val="35909632"/>
        <c:scaling>
          <c:orientation val="minMax"/>
        </c:scaling>
        <c:axPos val="b"/>
        <c:numFmt formatCode="0.00" sourceLinked="1"/>
        <c:tickLblPos val="low"/>
        <c:spPr>
          <a:ln w="3175">
            <a:solidFill>
              <a:srgbClr val="B3B3B3"/>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35911168"/>
        <c:crosses val="autoZero"/>
        <c:auto val="1"/>
        <c:lblAlgn val="ctr"/>
        <c:lblOffset val="100"/>
        <c:tickLblSkip val="1"/>
        <c:tickMarkSkip val="1"/>
      </c:catAx>
      <c:valAx>
        <c:axId val="35911168"/>
        <c:scaling>
          <c:orientation val="minMax"/>
          <c:min val="1"/>
        </c:scaling>
        <c:axPos val="l"/>
        <c:majorGridlines>
          <c:spPr>
            <a:ln w="3175">
              <a:solidFill>
                <a:srgbClr val="B3B3B3"/>
              </a:solidFill>
              <a:prstDash val="solid"/>
            </a:ln>
          </c:spPr>
        </c:majorGridlines>
        <c:title>
          <c:tx>
            <c:rich>
              <a:bodyPr rot="-5400000" vert="horz"/>
              <a:lstStyle/>
              <a:p>
                <a:pPr>
                  <a:defRPr sz="1600"/>
                </a:pPr>
                <a:r>
                  <a:rPr lang="en-US" sz="1600"/>
                  <a:t>Speedup over min config</a:t>
                </a:r>
              </a:p>
            </c:rich>
          </c:tx>
          <c:layout/>
        </c:title>
        <c:numFmt formatCode="0.00" sourceLinked="1"/>
        <c:tickLblPos val="low"/>
        <c:spPr>
          <a:ln w="3175">
            <a:solidFill>
              <a:srgbClr val="B3B3B3"/>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35909632"/>
        <c:crosses val="autoZero"/>
        <c:crossBetween val="between"/>
      </c:valAx>
      <c:spPr>
        <a:noFill/>
        <a:ln w="3175">
          <a:solidFill>
            <a:srgbClr val="B3B3B3"/>
          </a:solidFill>
          <a:prstDash val="solid"/>
        </a:ln>
      </c:spPr>
    </c:plotArea>
    <c:legend>
      <c:legendPos val="r"/>
      <c:legendEntry>
        <c:idx val="2"/>
        <c:delete val="1"/>
      </c:legendEntry>
      <c:legendEntry>
        <c:idx val="0"/>
        <c:txPr>
          <a:bodyPr/>
          <a:lstStyle/>
          <a:p>
            <a:pPr>
              <a:defRPr sz="1400"/>
            </a:pPr>
            <a:endParaRPr lang="en-US"/>
          </a:p>
        </c:txPr>
      </c:legendEntry>
      <c:legendEntry>
        <c:idx val="3"/>
        <c:delete val="1"/>
      </c:legendEntry>
      <c:layout>
        <c:manualLayout>
          <c:xMode val="edge"/>
          <c:yMode val="edge"/>
          <c:x val="0.59498476246461329"/>
          <c:y val="6.0993075524262537E-2"/>
          <c:w val="0.33310603365149138"/>
          <c:h val="9.2734764809688897E-2"/>
        </c:manualLayout>
      </c:layout>
      <c:spPr>
        <a:solidFill>
          <a:sysClr val="window" lastClr="FFFFFF"/>
        </a:solidFill>
        <a:ln>
          <a:solidFill>
            <a:sysClr val="windowText" lastClr="000000"/>
          </a:solidFill>
        </a:ln>
      </c:spPr>
      <c:txPr>
        <a:bodyPr/>
        <a:lstStyle/>
        <a:p>
          <a:pPr>
            <a:defRPr sz="1400"/>
          </a:pPr>
          <a:endParaRPr lang="en-US"/>
        </a:p>
      </c:txPr>
    </c:legend>
    <c:dispBlanksAs val="gap"/>
  </c:chart>
  <c:spPr>
    <a:solidFill>
      <a:srgbClr val="FFFFFF"/>
    </a:solidFill>
    <a:ln w="9525">
      <a:noFill/>
    </a:ln>
  </c:spPr>
  <c:txPr>
    <a:bodyPr/>
    <a:lstStyle/>
    <a:p>
      <a:pPr>
        <a:defRPr sz="1100" b="0" i="0" u="none" strike="noStrike" baseline="0">
          <a:solidFill>
            <a:srgbClr val="000000"/>
          </a:solidFill>
          <a:latin typeface="Calibri"/>
          <a:ea typeface="Calibri"/>
          <a:cs typeface="Calibri"/>
        </a:defRPr>
      </a:pPr>
      <a:endParaRPr lang="en-US"/>
    </a:p>
  </c:txPr>
  <c:externalData r:id="rId1"/>
  <c:userShapes r:id="rId2"/>
</c:chartSpace>
</file>

<file path=ppt/charts/chart5.xml><?xml version="1.0" encoding="utf-8"?>
<c:chartSpace xmlns:c="http://schemas.openxmlformats.org/drawingml/2006/chart" xmlns:a="http://schemas.openxmlformats.org/drawingml/2006/main" xmlns:r="http://schemas.openxmlformats.org/officeDocument/2006/relationships">
  <c:date1904 val="1"/>
  <c:lang val="en-US"/>
  <c:chart>
    <c:plotArea>
      <c:layout>
        <c:manualLayout>
          <c:layoutTarget val="inner"/>
          <c:xMode val="edge"/>
          <c:yMode val="edge"/>
          <c:x val="0.15523609529238092"/>
          <c:y val="4.4368637652515655E-2"/>
          <c:w val="0.79784862060776662"/>
          <c:h val="0.87030789241472306"/>
        </c:manualLayout>
      </c:layout>
      <c:barChart>
        <c:barDir val="col"/>
        <c:grouping val="stacked"/>
        <c:ser>
          <c:idx val="0"/>
          <c:order val="0"/>
          <c:tx>
            <c:strRef>
              <c:f>results!$A$99</c:f>
              <c:strCache>
                <c:ptCount val="1"/>
                <c:pt idx="0">
                  <c:v>1_param_max</c:v>
                </c:pt>
              </c:strCache>
            </c:strRef>
          </c:tx>
          <c:spPr>
            <a:solidFill>
              <a:srgbClr val="0066CC"/>
            </a:solidFill>
            <a:ln w="28575">
              <a:solidFill>
                <a:sysClr val="windowText" lastClr="000000"/>
              </a:solidFill>
              <a:prstDash val="solid"/>
            </a:ln>
          </c:spPr>
          <c:cat>
            <c:strRef>
              <c:f>results!$B$98:$G$98</c:f>
              <c:strCache>
                <c:ptCount val="6"/>
                <c:pt idx="0">
                  <c:v>Media</c:v>
                </c:pt>
                <c:pt idx="1">
                  <c:v>Olden</c:v>
                </c:pt>
                <c:pt idx="2">
                  <c:v>Spec-int</c:v>
                </c:pt>
                <c:pt idx="3">
                  <c:v>Spec-fp</c:v>
                </c:pt>
                <c:pt idx="4">
                  <c:v>nas  </c:v>
                </c:pt>
                <c:pt idx="5">
                  <c:v>Average</c:v>
                </c:pt>
              </c:strCache>
            </c:strRef>
          </c:cat>
          <c:val>
            <c:numRef>
              <c:f>results!$B$99:$G$99</c:f>
              <c:numCache>
                <c:formatCode>0.00</c:formatCode>
                <c:ptCount val="6"/>
                <c:pt idx="0">
                  <c:v>1.2406526668279481</c:v>
                </c:pt>
                <c:pt idx="1">
                  <c:v>1.0616856404927959</c:v>
                </c:pt>
                <c:pt idx="2">
                  <c:v>1.2478589423703828</c:v>
                </c:pt>
                <c:pt idx="3">
                  <c:v>1.1721370065771821</c:v>
                </c:pt>
                <c:pt idx="4">
                  <c:v>1.0887323223083187</c:v>
                </c:pt>
                <c:pt idx="5">
                  <c:v>1.1726034248724686</c:v>
                </c:pt>
              </c:numCache>
            </c:numRef>
          </c:val>
        </c:ser>
        <c:ser>
          <c:idx val="1"/>
          <c:order val="1"/>
          <c:tx>
            <c:strRef>
              <c:f>results!$A$100</c:f>
              <c:strCache>
                <c:ptCount val="1"/>
                <c:pt idx="0">
                  <c:v>2_param_max</c:v>
                </c:pt>
              </c:strCache>
            </c:strRef>
          </c:tx>
          <c:spPr>
            <a:solidFill>
              <a:srgbClr val="0070C0"/>
            </a:solidFill>
            <a:ln w="28575" cap="flat" cmpd="sng" algn="ctr">
              <a:solidFill>
                <a:schemeClr val="dk1"/>
              </a:solidFill>
              <a:prstDash val="solid"/>
            </a:ln>
            <a:effectLst/>
          </c:spPr>
          <c:cat>
            <c:strRef>
              <c:f>results!$B$98:$G$98</c:f>
              <c:strCache>
                <c:ptCount val="6"/>
                <c:pt idx="0">
                  <c:v>Media</c:v>
                </c:pt>
                <c:pt idx="1">
                  <c:v>Olden</c:v>
                </c:pt>
                <c:pt idx="2">
                  <c:v>Spec-int</c:v>
                </c:pt>
                <c:pt idx="3">
                  <c:v>Spec-fp</c:v>
                </c:pt>
                <c:pt idx="4">
                  <c:v>nas  </c:v>
                </c:pt>
                <c:pt idx="5">
                  <c:v>Average</c:v>
                </c:pt>
              </c:strCache>
            </c:strRef>
          </c:cat>
          <c:val>
            <c:numRef>
              <c:f>results!$B$100:$G$100</c:f>
              <c:numCache>
                <c:formatCode>0.00</c:formatCode>
                <c:ptCount val="6"/>
                <c:pt idx="0">
                  <c:v>0.30244593322148638</c:v>
                </c:pt>
                <c:pt idx="1">
                  <c:v>7.9601797874845739E-2</c:v>
                </c:pt>
                <c:pt idx="2">
                  <c:v>0.19145196671894427</c:v>
                </c:pt>
                <c:pt idx="3">
                  <c:v>0.11642920210036034</c:v>
                </c:pt>
                <c:pt idx="4">
                  <c:v>7.4190022857156548E-2</c:v>
                </c:pt>
                <c:pt idx="5">
                  <c:v>0.14428493065024653</c:v>
                </c:pt>
              </c:numCache>
            </c:numRef>
          </c:val>
        </c:ser>
        <c:ser>
          <c:idx val="2"/>
          <c:order val="2"/>
          <c:tx>
            <c:strRef>
              <c:f>results!$A$101</c:f>
              <c:strCache>
                <c:ptCount val="1"/>
                <c:pt idx="0">
                  <c:v>3_param_max</c:v>
                </c:pt>
              </c:strCache>
            </c:strRef>
          </c:tx>
          <c:spPr>
            <a:solidFill>
              <a:srgbClr val="0070C0"/>
            </a:solidFill>
            <a:ln w="28575" cap="flat" cmpd="sng" algn="ctr">
              <a:solidFill>
                <a:schemeClr val="dk1"/>
              </a:solidFill>
              <a:prstDash val="solid"/>
            </a:ln>
            <a:effectLst/>
          </c:spPr>
          <c:cat>
            <c:strRef>
              <c:f>results!$B$98:$G$98</c:f>
              <c:strCache>
                <c:ptCount val="6"/>
                <c:pt idx="0">
                  <c:v>Media</c:v>
                </c:pt>
                <c:pt idx="1">
                  <c:v>Olden</c:v>
                </c:pt>
                <c:pt idx="2">
                  <c:v>Spec-int</c:v>
                </c:pt>
                <c:pt idx="3">
                  <c:v>Spec-fp</c:v>
                </c:pt>
                <c:pt idx="4">
                  <c:v>nas  </c:v>
                </c:pt>
                <c:pt idx="5">
                  <c:v>Average</c:v>
                </c:pt>
              </c:strCache>
            </c:strRef>
          </c:cat>
          <c:val>
            <c:numRef>
              <c:f>results!$B$101:$G$101</c:f>
              <c:numCache>
                <c:formatCode>0.00</c:formatCode>
                <c:ptCount val="6"/>
                <c:pt idx="0">
                  <c:v>9.243930642471869E-2</c:v>
                </c:pt>
                <c:pt idx="1">
                  <c:v>4.1630965323655275E-2</c:v>
                </c:pt>
                <c:pt idx="2">
                  <c:v>0.11517734785260303</c:v>
                </c:pt>
                <c:pt idx="3">
                  <c:v>9.7326903250962368E-2</c:v>
                </c:pt>
                <c:pt idx="4">
                  <c:v>8.4932111868267712E-2</c:v>
                </c:pt>
                <c:pt idx="5">
                  <c:v>9.2234297823693204E-2</c:v>
                </c:pt>
              </c:numCache>
            </c:numRef>
          </c:val>
        </c:ser>
        <c:ser>
          <c:idx val="3"/>
          <c:order val="3"/>
          <c:tx>
            <c:strRef>
              <c:f>results!$A$102</c:f>
              <c:strCache>
                <c:ptCount val="1"/>
                <c:pt idx="0">
                  <c:v>All_param_max</c:v>
                </c:pt>
              </c:strCache>
            </c:strRef>
          </c:tx>
          <c:spPr>
            <a:solidFill>
              <a:schemeClr val="lt1"/>
            </a:solidFill>
            <a:ln w="28575" cap="flat" cmpd="sng" algn="ctr">
              <a:solidFill>
                <a:schemeClr val="dk1"/>
              </a:solidFill>
              <a:prstDash val="solid"/>
            </a:ln>
            <a:effectLst/>
          </c:spPr>
          <c:cat>
            <c:strRef>
              <c:f>results!$B$98:$G$98</c:f>
              <c:strCache>
                <c:ptCount val="6"/>
                <c:pt idx="0">
                  <c:v>Media</c:v>
                </c:pt>
                <c:pt idx="1">
                  <c:v>Olden</c:v>
                </c:pt>
                <c:pt idx="2">
                  <c:v>Spec-int</c:v>
                </c:pt>
                <c:pt idx="3">
                  <c:v>Spec-fp</c:v>
                </c:pt>
                <c:pt idx="4">
                  <c:v>nas  </c:v>
                </c:pt>
                <c:pt idx="5">
                  <c:v>Average</c:v>
                </c:pt>
              </c:strCache>
            </c:strRef>
          </c:cat>
          <c:val>
            <c:numRef>
              <c:f>results!$B$102:$G$102</c:f>
              <c:numCache>
                <c:formatCode>0.00</c:formatCode>
                <c:ptCount val="6"/>
                <c:pt idx="0">
                  <c:v>0.10236538653765392</c:v>
                </c:pt>
                <c:pt idx="1">
                  <c:v>4.1512506508158763E-2</c:v>
                </c:pt>
                <c:pt idx="2">
                  <c:v>1.5958160693965419E-2</c:v>
                </c:pt>
                <c:pt idx="3">
                  <c:v>0.11491415314892017</c:v>
                </c:pt>
                <c:pt idx="4">
                  <c:v>5.7060704747829427E-2</c:v>
                </c:pt>
                <c:pt idx="5">
                  <c:v>6.6695163954737971E-2</c:v>
                </c:pt>
              </c:numCache>
            </c:numRef>
          </c:val>
        </c:ser>
        <c:gapWidth val="100"/>
        <c:overlap val="100"/>
        <c:axId val="46703744"/>
        <c:axId val="46705280"/>
      </c:barChart>
      <c:catAx>
        <c:axId val="46703744"/>
        <c:scaling>
          <c:orientation val="minMax"/>
        </c:scaling>
        <c:axPos val="b"/>
        <c:numFmt formatCode="0.00" sourceLinked="1"/>
        <c:tickLblPos val="low"/>
        <c:spPr>
          <a:ln w="3175">
            <a:solidFill>
              <a:srgbClr val="B3B3B3"/>
            </a:solidFill>
            <a:prstDash val="solid"/>
          </a:ln>
        </c:spPr>
        <c:txPr>
          <a:bodyPr rot="0" vert="horz"/>
          <a:lstStyle/>
          <a:p>
            <a:pPr>
              <a:defRPr sz="1200" b="0" i="0" u="none" strike="noStrike" baseline="0">
                <a:solidFill>
                  <a:srgbClr val="000000"/>
                </a:solidFill>
                <a:latin typeface="Arial"/>
                <a:ea typeface="Arial"/>
                <a:cs typeface="Arial"/>
              </a:defRPr>
            </a:pPr>
            <a:endParaRPr lang="en-US"/>
          </a:p>
        </c:txPr>
        <c:crossAx val="46705280"/>
        <c:crosses val="autoZero"/>
        <c:auto val="1"/>
        <c:lblAlgn val="ctr"/>
        <c:lblOffset val="100"/>
        <c:tickLblSkip val="1"/>
        <c:tickMarkSkip val="1"/>
      </c:catAx>
      <c:valAx>
        <c:axId val="46705280"/>
        <c:scaling>
          <c:orientation val="minMax"/>
          <c:min val="1"/>
        </c:scaling>
        <c:axPos val="l"/>
        <c:majorGridlines>
          <c:spPr>
            <a:ln w="3175">
              <a:solidFill>
                <a:srgbClr val="B3B3B3"/>
              </a:solidFill>
              <a:prstDash val="solid"/>
            </a:ln>
          </c:spPr>
        </c:majorGridlines>
        <c:title>
          <c:tx>
            <c:rich>
              <a:bodyPr rot="-5400000" vert="horz"/>
              <a:lstStyle/>
              <a:p>
                <a:pPr>
                  <a:defRPr sz="1600"/>
                </a:pPr>
                <a:r>
                  <a:rPr lang="en-US" sz="1600"/>
                  <a:t>Speedup over min config</a:t>
                </a:r>
              </a:p>
            </c:rich>
          </c:tx>
          <c:layout/>
        </c:title>
        <c:numFmt formatCode="0.00" sourceLinked="1"/>
        <c:tickLblPos val="low"/>
        <c:spPr>
          <a:ln w="3175">
            <a:solidFill>
              <a:srgbClr val="B3B3B3"/>
            </a:solidFill>
            <a:prstDash val="solid"/>
          </a:ln>
        </c:spPr>
        <c:txPr>
          <a:bodyPr rot="0" vert="horz"/>
          <a:lstStyle/>
          <a:p>
            <a:pPr>
              <a:defRPr sz="1400" b="0" i="0" u="none" strike="noStrike" baseline="0">
                <a:solidFill>
                  <a:srgbClr val="000000"/>
                </a:solidFill>
                <a:latin typeface="Arial"/>
                <a:ea typeface="Arial"/>
                <a:cs typeface="Arial"/>
              </a:defRPr>
            </a:pPr>
            <a:endParaRPr lang="en-US"/>
          </a:p>
        </c:txPr>
        <c:crossAx val="46703744"/>
        <c:crosses val="autoZero"/>
        <c:crossBetween val="between"/>
      </c:valAx>
      <c:spPr>
        <a:noFill/>
        <a:ln w="3175">
          <a:solidFill>
            <a:srgbClr val="B3B3B3"/>
          </a:solidFill>
          <a:prstDash val="solid"/>
        </a:ln>
      </c:spPr>
    </c:plotArea>
    <c:legend>
      <c:legendPos val="r"/>
      <c:legendEntry>
        <c:idx val="3"/>
        <c:delete val="1"/>
      </c:legendEntry>
      <c:legendEntry>
        <c:idx val="2"/>
        <c:delete val="1"/>
      </c:legendEntry>
      <c:legendEntry>
        <c:idx val="0"/>
        <c:txPr>
          <a:bodyPr/>
          <a:lstStyle/>
          <a:p>
            <a:pPr>
              <a:defRPr sz="1400"/>
            </a:pPr>
            <a:endParaRPr lang="en-US"/>
          </a:p>
        </c:txPr>
      </c:legendEntry>
      <c:layout>
        <c:manualLayout>
          <c:xMode val="edge"/>
          <c:yMode val="edge"/>
          <c:x val="0.59498476246461329"/>
          <c:y val="6.0993075524262537E-2"/>
          <c:w val="0.33310603365149138"/>
          <c:h val="9.2734764809688897E-2"/>
        </c:manualLayout>
      </c:layout>
      <c:spPr>
        <a:solidFill>
          <a:sysClr val="window" lastClr="FFFFFF"/>
        </a:solidFill>
        <a:ln>
          <a:solidFill>
            <a:sysClr val="windowText" lastClr="000000"/>
          </a:solidFill>
        </a:ln>
      </c:spPr>
      <c:txPr>
        <a:bodyPr/>
        <a:lstStyle/>
        <a:p>
          <a:pPr>
            <a:defRPr sz="1400"/>
          </a:pPr>
          <a:endParaRPr lang="en-US"/>
        </a:p>
      </c:txPr>
    </c:legend>
    <c:dispBlanksAs val="gap"/>
  </c:chart>
  <c:spPr>
    <a:solidFill>
      <a:srgbClr val="FFFFFF"/>
    </a:solidFill>
    <a:ln w="9525">
      <a:noFill/>
    </a:ln>
  </c:spPr>
  <c:txPr>
    <a:bodyPr/>
    <a:lstStyle/>
    <a:p>
      <a:pPr>
        <a:defRPr sz="1100" b="0" i="0" u="none" strike="noStrike" baseline="0">
          <a:solidFill>
            <a:srgbClr val="000000"/>
          </a:solidFill>
          <a:latin typeface="Calibri"/>
          <a:ea typeface="Calibri"/>
          <a:cs typeface="Calibri"/>
        </a:defRPr>
      </a:pPr>
      <a:endParaRPr lang="en-US"/>
    </a:p>
  </c:txPr>
  <c:externalData r:id="rId1"/>
  <c:userShapes r:id="rId2"/>
</c:chartSpace>
</file>

<file path=ppt/drawings/_rels/vmlDrawing1.vml.rels><?xml version="1.0" encoding="UTF-8" standalone="yes"?>
<Relationships xmlns="http://schemas.openxmlformats.org/package/2006/relationships"><Relationship Id="rId1" Type="http://schemas.openxmlformats.org/officeDocument/2006/relationships/image" Target="../media/image23.wmf"/></Relationships>
</file>

<file path=ppt/drawings/drawing1.xml><?xml version="1.0" encoding="utf-8"?>
<c:userShapes xmlns:c="http://schemas.openxmlformats.org/drawingml/2006/chart">
  <cdr:relSizeAnchor xmlns:cdr="http://schemas.openxmlformats.org/drawingml/2006/chartDrawing">
    <cdr:from>
      <cdr:x>0.01043</cdr:x>
      <cdr:y>0.0091</cdr:y>
    </cdr:from>
    <cdr:to>
      <cdr:x>0.01043</cdr:x>
      <cdr:y>0.0091</cdr:y>
    </cdr:to>
    <cdr:sp macro="" textlink="">
      <cdr:nvSpPr>
        <cdr:cNvPr id="2" name="DVCHARTID" hidden="1"/>
        <cdr:cNvSpPr txBox="1"/>
      </cdr:nvSpPr>
      <cdr:spPr>
        <a:xfrm xmlns:a="http://schemas.openxmlformats.org/drawingml/2006/main">
          <a:off x="50800" y="50800"/>
          <a:ext cx="0" cy="0"/>
        </a:xfrm>
        <a:prstGeom xmlns:a="http://schemas.openxmlformats.org/drawingml/2006/main" prst="rect">
          <a:avLst/>
        </a:prstGeom>
      </cdr:spPr>
      <cdr:txBody>
        <a:bodyPr xmlns:a="http://schemas.openxmlformats.org/drawingml/2006/main" vert="vert" rtlCol="0" anchor="ctr"/>
        <a:lstStyle xmlns:a="http://schemas.openxmlformats.org/drawingml/2006/main"/>
        <a:p xmlns:a="http://schemas.openxmlformats.org/drawingml/2006/main">
          <a:pPr algn="r"/>
          <a:r>
            <a:rPr lang="en-US" sz="1100"/>
            <a:t>lrbBZI1WhgkbAuCtDfZuWf</a:t>
          </a:r>
        </a:p>
      </cdr:txBody>
    </cdr:sp>
  </cdr:relSizeAnchor>
</c:userShapes>
</file>

<file path=ppt/drawings/drawing2.xml><?xml version="1.0" encoding="utf-8"?>
<c:userShapes xmlns:c="http://schemas.openxmlformats.org/drawingml/2006/chart">
  <cdr:relSizeAnchor xmlns:cdr="http://schemas.openxmlformats.org/drawingml/2006/chartDrawing">
    <cdr:from>
      <cdr:x>0.01043</cdr:x>
      <cdr:y>0.0091</cdr:y>
    </cdr:from>
    <cdr:to>
      <cdr:x>0.01043</cdr:x>
      <cdr:y>0.0091</cdr:y>
    </cdr:to>
    <cdr:sp macro="" textlink="">
      <cdr:nvSpPr>
        <cdr:cNvPr id="2" name="DVCHARTID" hidden="1"/>
        <cdr:cNvSpPr txBox="1"/>
      </cdr:nvSpPr>
      <cdr:spPr>
        <a:xfrm xmlns:a="http://schemas.openxmlformats.org/drawingml/2006/main">
          <a:off x="50800" y="50800"/>
          <a:ext cx="0" cy="0"/>
        </a:xfrm>
        <a:prstGeom xmlns:a="http://schemas.openxmlformats.org/drawingml/2006/main" prst="rect">
          <a:avLst/>
        </a:prstGeom>
      </cdr:spPr>
      <cdr:txBody>
        <a:bodyPr xmlns:a="http://schemas.openxmlformats.org/drawingml/2006/main" vert="vert" rtlCol="0" anchor="ctr"/>
        <a:lstStyle xmlns:a="http://schemas.openxmlformats.org/drawingml/2006/main"/>
        <a:p xmlns:a="http://schemas.openxmlformats.org/drawingml/2006/main">
          <a:pPr algn="r"/>
          <a:r>
            <a:rPr lang="en-US" sz="1100"/>
            <a:t>NQhAksbd1jSmhfp1uhb92N</a:t>
          </a:r>
        </a:p>
      </cdr:txBody>
    </cdr:sp>
  </cdr:relSizeAnchor>
  <cdr:relSizeAnchor xmlns:cdr="http://schemas.openxmlformats.org/drawingml/2006/chartDrawing">
    <cdr:from>
      <cdr:x>0.01043</cdr:x>
      <cdr:y>0.0091</cdr:y>
    </cdr:from>
    <cdr:to>
      <cdr:x>0.01043</cdr:x>
      <cdr:y>0.0091</cdr:y>
    </cdr:to>
    <cdr:sp macro="" textlink="">
      <cdr:nvSpPr>
        <cdr:cNvPr id="3" name="DVCHARTID" hidden="1"/>
        <cdr:cNvSpPr txBox="1"/>
      </cdr:nvSpPr>
      <cdr:spPr>
        <a:xfrm xmlns:a="http://schemas.openxmlformats.org/drawingml/2006/main">
          <a:off x="50800" y="50800"/>
          <a:ext cx="0" cy="0"/>
        </a:xfrm>
        <a:prstGeom xmlns:a="http://schemas.openxmlformats.org/drawingml/2006/main" prst="rect">
          <a:avLst/>
        </a:prstGeom>
      </cdr:spPr>
      <cdr:txBody>
        <a:bodyPr xmlns:a="http://schemas.openxmlformats.org/drawingml/2006/main" vert="vert" rtlCol="0" anchor="ctr"/>
        <a:lstStyle xmlns:a="http://schemas.openxmlformats.org/drawingml/2006/main"/>
        <a:p xmlns:a="http://schemas.openxmlformats.org/drawingml/2006/main">
          <a:pPr algn="r"/>
          <a:r>
            <a:rPr lang="en-US" sz="1100"/>
            <a:t>KbB4I5TCpYydrZAwpoUZUP</a:t>
          </a:r>
        </a:p>
      </cdr:txBody>
    </cdr:sp>
  </cdr:relSizeAnchor>
</c:userShapes>
</file>

<file path=ppt/drawings/drawing3.xml><?xml version="1.0" encoding="utf-8"?>
<c:userShapes xmlns:c="http://schemas.openxmlformats.org/drawingml/2006/chart">
  <cdr:relSizeAnchor xmlns:cdr="http://schemas.openxmlformats.org/drawingml/2006/chartDrawing">
    <cdr:from>
      <cdr:x>0.01043</cdr:x>
      <cdr:y>0.0091</cdr:y>
    </cdr:from>
    <cdr:to>
      <cdr:x>0.01043</cdr:x>
      <cdr:y>0.0091</cdr:y>
    </cdr:to>
    <cdr:sp macro="" textlink="">
      <cdr:nvSpPr>
        <cdr:cNvPr id="2" name="DVCHARTID" hidden="1"/>
        <cdr:cNvSpPr txBox="1"/>
      </cdr:nvSpPr>
      <cdr:spPr>
        <a:xfrm xmlns:a="http://schemas.openxmlformats.org/drawingml/2006/main">
          <a:off x="50800" y="50800"/>
          <a:ext cx="0" cy="0"/>
        </a:xfrm>
        <a:prstGeom xmlns:a="http://schemas.openxmlformats.org/drawingml/2006/main" prst="rect">
          <a:avLst/>
        </a:prstGeom>
      </cdr:spPr>
      <cdr:txBody>
        <a:bodyPr xmlns:a="http://schemas.openxmlformats.org/drawingml/2006/main" vert="vert" rtlCol="0" anchor="ctr"/>
        <a:lstStyle xmlns:a="http://schemas.openxmlformats.org/drawingml/2006/main"/>
        <a:p xmlns:a="http://schemas.openxmlformats.org/drawingml/2006/main">
          <a:pPr algn="r"/>
          <a:r>
            <a:rPr lang="en-US" sz="1100"/>
            <a:t>eKdNSu0FHcC6DkjpnzK4f0</a:t>
          </a:r>
        </a:p>
      </cdr:txBody>
    </cdr:sp>
  </cdr:relSizeAnchor>
</c:userShapes>
</file>

<file path=ppt/drawings/drawing4.xml><?xml version="1.0" encoding="utf-8"?>
<c:userShapes xmlns:c="http://schemas.openxmlformats.org/drawingml/2006/chart">
  <cdr:relSizeAnchor xmlns:cdr="http://schemas.openxmlformats.org/drawingml/2006/chartDrawing">
    <cdr:from>
      <cdr:x>0.01043</cdr:x>
      <cdr:y>0.0091</cdr:y>
    </cdr:from>
    <cdr:to>
      <cdr:x>0.01043</cdr:x>
      <cdr:y>0.0091</cdr:y>
    </cdr:to>
    <cdr:sp macro="" textlink="">
      <cdr:nvSpPr>
        <cdr:cNvPr id="2" name="DVCHARTID" hidden="1"/>
        <cdr:cNvSpPr txBox="1"/>
      </cdr:nvSpPr>
      <cdr:spPr>
        <a:xfrm xmlns:a="http://schemas.openxmlformats.org/drawingml/2006/main">
          <a:off x="50800" y="50800"/>
          <a:ext cx="0" cy="0"/>
        </a:xfrm>
        <a:prstGeom xmlns:a="http://schemas.openxmlformats.org/drawingml/2006/main" prst="rect">
          <a:avLst/>
        </a:prstGeom>
      </cdr:spPr>
      <cdr:txBody>
        <a:bodyPr xmlns:a="http://schemas.openxmlformats.org/drawingml/2006/main" vert="vert" rtlCol="0" anchor="ctr"/>
        <a:lstStyle xmlns:a="http://schemas.openxmlformats.org/drawingml/2006/main"/>
        <a:p xmlns:a="http://schemas.openxmlformats.org/drawingml/2006/main">
          <a:pPr algn="r"/>
          <a:r>
            <a:rPr lang="en-US" sz="1100"/>
            <a:t>idcm4BKIiMd0CxmxzHdlCF</a:t>
          </a:r>
        </a:p>
      </cdr:txBody>
    </cdr:sp>
  </cdr:relSizeAnchor>
</c:userShapes>
</file>

<file path=ppt/drawings/drawing5.xml><?xml version="1.0" encoding="utf-8"?>
<c:userShapes xmlns:c="http://schemas.openxmlformats.org/drawingml/2006/chart">
  <cdr:relSizeAnchor xmlns:cdr="http://schemas.openxmlformats.org/drawingml/2006/chartDrawing">
    <cdr:from>
      <cdr:x>0.01043</cdr:x>
      <cdr:y>0.0091</cdr:y>
    </cdr:from>
    <cdr:to>
      <cdr:x>0.01043</cdr:x>
      <cdr:y>0.0091</cdr:y>
    </cdr:to>
    <cdr:sp macro="" textlink="">
      <cdr:nvSpPr>
        <cdr:cNvPr id="2" name="DVCHARTID" hidden="1"/>
        <cdr:cNvSpPr txBox="1"/>
      </cdr:nvSpPr>
      <cdr:spPr>
        <a:xfrm xmlns:a="http://schemas.openxmlformats.org/drawingml/2006/main">
          <a:off x="50800" y="50800"/>
          <a:ext cx="0" cy="0"/>
        </a:xfrm>
        <a:prstGeom xmlns:a="http://schemas.openxmlformats.org/drawingml/2006/main" prst="rect">
          <a:avLst/>
        </a:prstGeom>
      </cdr:spPr>
      <cdr:txBody>
        <a:bodyPr xmlns:a="http://schemas.openxmlformats.org/drawingml/2006/main" vert="vert" rtlCol="0" anchor="ctr"/>
        <a:lstStyle xmlns:a="http://schemas.openxmlformats.org/drawingml/2006/main"/>
        <a:p xmlns:a="http://schemas.openxmlformats.org/drawingml/2006/main">
          <a:pPr algn="r"/>
          <a:r>
            <a:rPr lang="en-US" sz="1100"/>
            <a:t>idcm4BKIiMd0CxmxzHdlCF</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4978" name="Rectangle 2"/>
          <p:cNvSpPr>
            <a:spLocks noGrp="1" noChangeArrowheads="1"/>
          </p:cNvSpPr>
          <p:nvPr>
            <p:ph type="hdr" sz="quarter"/>
          </p:nvPr>
        </p:nvSpPr>
        <p:spPr bwMode="auto">
          <a:xfrm>
            <a:off x="0" y="1"/>
            <a:ext cx="3038319" cy="465357"/>
          </a:xfrm>
          <a:prstGeom prst="rect">
            <a:avLst/>
          </a:prstGeom>
          <a:noFill/>
          <a:ln w="9525">
            <a:noFill/>
            <a:miter lim="800000"/>
            <a:headEnd/>
            <a:tailEnd/>
          </a:ln>
          <a:effectLst/>
        </p:spPr>
        <p:txBody>
          <a:bodyPr vert="horz" wrap="square" lIns="92158" tIns="46079" rIns="92158" bIns="46079" numCol="1" anchor="t" anchorCtr="0" compatLnSpc="1">
            <a:prstTxWarp prst="textNoShape">
              <a:avLst/>
            </a:prstTxWarp>
          </a:bodyPr>
          <a:lstStyle>
            <a:lvl1pPr>
              <a:defRPr sz="1300"/>
            </a:lvl1pPr>
          </a:lstStyle>
          <a:p>
            <a:pPr>
              <a:defRPr/>
            </a:pPr>
            <a:endParaRPr lang="en-US"/>
          </a:p>
        </p:txBody>
      </p:sp>
      <p:sp>
        <p:nvSpPr>
          <p:cNvPr id="254979" name="Rectangle 3"/>
          <p:cNvSpPr>
            <a:spLocks noGrp="1" noChangeArrowheads="1"/>
          </p:cNvSpPr>
          <p:nvPr>
            <p:ph type="dt" sz="quarter" idx="1"/>
          </p:nvPr>
        </p:nvSpPr>
        <p:spPr bwMode="auto">
          <a:xfrm>
            <a:off x="3969688" y="1"/>
            <a:ext cx="3039517" cy="465357"/>
          </a:xfrm>
          <a:prstGeom prst="rect">
            <a:avLst/>
          </a:prstGeom>
          <a:noFill/>
          <a:ln w="9525">
            <a:noFill/>
            <a:miter lim="800000"/>
            <a:headEnd/>
            <a:tailEnd/>
          </a:ln>
          <a:effectLst/>
        </p:spPr>
        <p:txBody>
          <a:bodyPr vert="horz" wrap="square" lIns="92158" tIns="46079" rIns="92158" bIns="46079" numCol="1" anchor="t" anchorCtr="0" compatLnSpc="1">
            <a:prstTxWarp prst="textNoShape">
              <a:avLst/>
            </a:prstTxWarp>
          </a:bodyPr>
          <a:lstStyle>
            <a:lvl1pPr algn="r">
              <a:defRPr sz="1300"/>
            </a:lvl1pPr>
          </a:lstStyle>
          <a:p>
            <a:pPr>
              <a:defRPr/>
            </a:pPr>
            <a:endParaRPr lang="en-US"/>
          </a:p>
        </p:txBody>
      </p:sp>
      <p:sp>
        <p:nvSpPr>
          <p:cNvPr id="254980" name="Rectangle 4"/>
          <p:cNvSpPr>
            <a:spLocks noGrp="1" noChangeArrowheads="1"/>
          </p:cNvSpPr>
          <p:nvPr>
            <p:ph type="ftr" sz="quarter" idx="2"/>
          </p:nvPr>
        </p:nvSpPr>
        <p:spPr bwMode="auto">
          <a:xfrm>
            <a:off x="0" y="8828901"/>
            <a:ext cx="3038319" cy="465355"/>
          </a:xfrm>
          <a:prstGeom prst="rect">
            <a:avLst/>
          </a:prstGeom>
          <a:noFill/>
          <a:ln w="9525">
            <a:noFill/>
            <a:miter lim="800000"/>
            <a:headEnd/>
            <a:tailEnd/>
          </a:ln>
          <a:effectLst/>
        </p:spPr>
        <p:txBody>
          <a:bodyPr vert="horz" wrap="square" lIns="92158" tIns="46079" rIns="92158" bIns="46079" numCol="1" anchor="b" anchorCtr="0" compatLnSpc="1">
            <a:prstTxWarp prst="textNoShape">
              <a:avLst/>
            </a:prstTxWarp>
          </a:bodyPr>
          <a:lstStyle>
            <a:lvl1pPr>
              <a:defRPr sz="1300"/>
            </a:lvl1pPr>
          </a:lstStyle>
          <a:p>
            <a:pPr>
              <a:defRPr/>
            </a:pPr>
            <a:endParaRPr lang="en-US"/>
          </a:p>
        </p:txBody>
      </p:sp>
      <p:sp>
        <p:nvSpPr>
          <p:cNvPr id="254981" name="Rectangle 5"/>
          <p:cNvSpPr>
            <a:spLocks noGrp="1" noChangeArrowheads="1"/>
          </p:cNvSpPr>
          <p:nvPr>
            <p:ph type="sldNum" sz="quarter" idx="3"/>
          </p:nvPr>
        </p:nvSpPr>
        <p:spPr bwMode="auto">
          <a:xfrm>
            <a:off x="3969688" y="8828901"/>
            <a:ext cx="3039517" cy="465355"/>
          </a:xfrm>
          <a:prstGeom prst="rect">
            <a:avLst/>
          </a:prstGeom>
          <a:noFill/>
          <a:ln w="9525">
            <a:noFill/>
            <a:miter lim="800000"/>
            <a:headEnd/>
            <a:tailEnd/>
          </a:ln>
          <a:effectLst/>
        </p:spPr>
        <p:txBody>
          <a:bodyPr vert="horz" wrap="square" lIns="92158" tIns="46079" rIns="92158" bIns="46079" numCol="1" anchor="b" anchorCtr="0" compatLnSpc="1">
            <a:prstTxWarp prst="textNoShape">
              <a:avLst/>
            </a:prstTxWarp>
          </a:bodyPr>
          <a:lstStyle>
            <a:lvl1pPr algn="r">
              <a:defRPr sz="1300"/>
            </a:lvl1pPr>
          </a:lstStyle>
          <a:p>
            <a:pPr>
              <a:defRPr/>
            </a:pPr>
            <a:fld id="{449BB77E-71D1-4478-9424-2D618B552643}"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1"/>
            <a:ext cx="3038319" cy="465357"/>
          </a:xfrm>
          <a:prstGeom prst="rect">
            <a:avLst/>
          </a:prstGeom>
          <a:noFill/>
          <a:ln w="9525">
            <a:noFill/>
            <a:miter lim="800000"/>
            <a:headEnd/>
            <a:tailEnd/>
          </a:ln>
          <a:effectLst/>
        </p:spPr>
        <p:txBody>
          <a:bodyPr vert="horz" wrap="square" lIns="93173" tIns="46586" rIns="93173" bIns="46586" numCol="1" anchor="t" anchorCtr="0" compatLnSpc="1">
            <a:prstTxWarp prst="textNoShape">
              <a:avLst/>
            </a:prstTxWarp>
          </a:bodyPr>
          <a:lstStyle>
            <a:lvl1pPr defTabSz="931181">
              <a:defRPr sz="1300"/>
            </a:lvl1pPr>
          </a:lstStyle>
          <a:p>
            <a:pPr>
              <a:defRPr/>
            </a:pPr>
            <a:endParaRPr lang="en-US"/>
          </a:p>
        </p:txBody>
      </p:sp>
      <p:sp>
        <p:nvSpPr>
          <p:cNvPr id="63491" name="Rectangle 3"/>
          <p:cNvSpPr>
            <a:spLocks noGrp="1" noChangeArrowheads="1"/>
          </p:cNvSpPr>
          <p:nvPr>
            <p:ph type="dt" idx="1"/>
          </p:nvPr>
        </p:nvSpPr>
        <p:spPr bwMode="auto">
          <a:xfrm>
            <a:off x="3969688" y="1"/>
            <a:ext cx="3039517" cy="465357"/>
          </a:xfrm>
          <a:prstGeom prst="rect">
            <a:avLst/>
          </a:prstGeom>
          <a:noFill/>
          <a:ln w="9525">
            <a:noFill/>
            <a:miter lim="800000"/>
            <a:headEnd/>
            <a:tailEnd/>
          </a:ln>
          <a:effectLst/>
        </p:spPr>
        <p:txBody>
          <a:bodyPr vert="horz" wrap="square" lIns="93173" tIns="46586" rIns="93173" bIns="46586" numCol="1" anchor="t" anchorCtr="0" compatLnSpc="1">
            <a:prstTxWarp prst="textNoShape">
              <a:avLst/>
            </a:prstTxWarp>
          </a:bodyPr>
          <a:lstStyle>
            <a:lvl1pPr algn="r" defTabSz="931181">
              <a:defRPr sz="1300"/>
            </a:lvl1pPr>
          </a:lstStyle>
          <a:p>
            <a:pPr>
              <a:defRPr/>
            </a:pPr>
            <a:endParaRPr lang="en-US"/>
          </a:p>
        </p:txBody>
      </p:sp>
      <p:sp>
        <p:nvSpPr>
          <p:cNvPr id="32772" name="Rectangle 4"/>
          <p:cNvSpPr>
            <a:spLocks noGrp="1" noRot="1" noChangeAspect="1" noChangeArrowheads="1" noTextEdit="1"/>
          </p:cNvSpPr>
          <p:nvPr>
            <p:ph type="sldImg" idx="2"/>
          </p:nvPr>
        </p:nvSpPr>
        <p:spPr bwMode="auto">
          <a:xfrm>
            <a:off x="1181100" y="696913"/>
            <a:ext cx="4648200" cy="3487737"/>
          </a:xfrm>
          <a:prstGeom prst="rect">
            <a:avLst/>
          </a:prstGeom>
          <a:noFill/>
          <a:ln w="9525">
            <a:solidFill>
              <a:srgbClr val="000000"/>
            </a:solidFill>
            <a:miter lim="800000"/>
            <a:headEnd/>
            <a:tailEnd/>
          </a:ln>
        </p:spPr>
      </p:sp>
      <p:sp>
        <p:nvSpPr>
          <p:cNvPr id="63493" name="Rectangle 5"/>
          <p:cNvSpPr>
            <a:spLocks noGrp="1" noChangeArrowheads="1"/>
          </p:cNvSpPr>
          <p:nvPr>
            <p:ph type="body" sz="quarter" idx="3"/>
          </p:nvPr>
        </p:nvSpPr>
        <p:spPr bwMode="auto">
          <a:xfrm>
            <a:off x="701518" y="4415523"/>
            <a:ext cx="5608560" cy="4183915"/>
          </a:xfrm>
          <a:prstGeom prst="rect">
            <a:avLst/>
          </a:prstGeom>
          <a:noFill/>
          <a:ln w="9525">
            <a:noFill/>
            <a:miter lim="800000"/>
            <a:headEnd/>
            <a:tailEnd/>
          </a:ln>
          <a:effectLst/>
        </p:spPr>
        <p:txBody>
          <a:bodyPr vert="horz" wrap="square" lIns="93173" tIns="46586" rIns="93173" bIns="4658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3494" name="Rectangle 6"/>
          <p:cNvSpPr>
            <a:spLocks noGrp="1" noChangeArrowheads="1"/>
          </p:cNvSpPr>
          <p:nvPr>
            <p:ph type="ftr" sz="quarter" idx="4"/>
          </p:nvPr>
        </p:nvSpPr>
        <p:spPr bwMode="auto">
          <a:xfrm>
            <a:off x="0" y="8828901"/>
            <a:ext cx="3038319" cy="465355"/>
          </a:xfrm>
          <a:prstGeom prst="rect">
            <a:avLst/>
          </a:prstGeom>
          <a:noFill/>
          <a:ln w="9525">
            <a:noFill/>
            <a:miter lim="800000"/>
            <a:headEnd/>
            <a:tailEnd/>
          </a:ln>
          <a:effectLst/>
        </p:spPr>
        <p:txBody>
          <a:bodyPr vert="horz" wrap="square" lIns="93173" tIns="46586" rIns="93173" bIns="46586" numCol="1" anchor="b" anchorCtr="0" compatLnSpc="1">
            <a:prstTxWarp prst="textNoShape">
              <a:avLst/>
            </a:prstTxWarp>
          </a:bodyPr>
          <a:lstStyle>
            <a:lvl1pPr defTabSz="931181">
              <a:defRPr sz="1300"/>
            </a:lvl1pPr>
          </a:lstStyle>
          <a:p>
            <a:pPr>
              <a:defRPr/>
            </a:pPr>
            <a:endParaRPr lang="en-US"/>
          </a:p>
        </p:txBody>
      </p:sp>
      <p:sp>
        <p:nvSpPr>
          <p:cNvPr id="63495" name="Rectangle 7"/>
          <p:cNvSpPr>
            <a:spLocks noGrp="1" noChangeArrowheads="1"/>
          </p:cNvSpPr>
          <p:nvPr>
            <p:ph type="sldNum" sz="quarter" idx="5"/>
          </p:nvPr>
        </p:nvSpPr>
        <p:spPr bwMode="auto">
          <a:xfrm>
            <a:off x="3969688" y="8828901"/>
            <a:ext cx="3039517" cy="465355"/>
          </a:xfrm>
          <a:prstGeom prst="rect">
            <a:avLst/>
          </a:prstGeom>
          <a:noFill/>
          <a:ln w="9525">
            <a:noFill/>
            <a:miter lim="800000"/>
            <a:headEnd/>
            <a:tailEnd/>
          </a:ln>
          <a:effectLst/>
        </p:spPr>
        <p:txBody>
          <a:bodyPr vert="horz" wrap="square" lIns="93173" tIns="46586" rIns="93173" bIns="46586" numCol="1" anchor="b" anchorCtr="0" compatLnSpc="1">
            <a:prstTxWarp prst="textNoShape">
              <a:avLst/>
            </a:prstTxWarp>
          </a:bodyPr>
          <a:lstStyle>
            <a:lvl1pPr algn="r" defTabSz="931181">
              <a:defRPr sz="1300"/>
            </a:lvl1pPr>
          </a:lstStyle>
          <a:p>
            <a:pPr>
              <a:defRPr/>
            </a:pPr>
            <a:fld id="{7543D90A-F83E-475B-9520-A09130C04B5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7179E55C-F348-46AF-ADAB-A3FAA8D6963A}" type="slidenum">
              <a:rPr lang="en-US" smtClean="0"/>
              <a:pPr/>
              <a:t>1</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r>
              <a:rPr lang="en-US" dirty="0" smtClean="0"/>
              <a:t>(My name is </a:t>
            </a:r>
            <a:r>
              <a:rPr lang="en-US" dirty="0" err="1" smtClean="0"/>
              <a:t>Vasileios</a:t>
            </a:r>
            <a:r>
              <a:rPr lang="en-US" dirty="0" smtClean="0"/>
              <a:t> </a:t>
            </a:r>
            <a:r>
              <a:rPr lang="en-US" dirty="0" err="1" smtClean="0"/>
              <a:t>Kontorinis</a:t>
            </a:r>
            <a:r>
              <a:rPr lang="en-US" dirty="0" smtClean="0"/>
              <a:t>)</a:t>
            </a:r>
          </a:p>
          <a:p>
            <a:pPr defTabSz="881390" eaLnBrk="1" hangingPunct="1">
              <a:defRPr/>
            </a:pPr>
            <a:r>
              <a:rPr lang="en-US" baseline="0" dirty="0" smtClean="0"/>
              <a:t>The peak power impacts key design parameters such as the efficiency and cost of power delivery, </a:t>
            </a:r>
          </a:p>
          <a:p>
            <a:pPr defTabSz="881390" eaLnBrk="1" hangingPunct="1">
              <a:defRPr/>
            </a:pPr>
            <a:r>
              <a:rPr lang="en-US" baseline="0" dirty="0" smtClean="0"/>
              <a:t>voltage variation, on-chip decoupling capacitance.  We will show how our architecture can reduce peak power by 25-30% while giving up little performance.</a:t>
            </a:r>
          </a:p>
          <a:p>
            <a:pPr defTabSz="881390" eaLnBrk="1" hangingPunct="1">
              <a:defRPr/>
            </a:pPr>
            <a:r>
              <a:rPr lang="en-US" baseline="0" dirty="0" smtClean="0"/>
              <a:t>And doing so can decrease voltage variation by up to 35% or reduce the required decoupling capacitance by 5% in terms of core area. </a:t>
            </a:r>
          </a:p>
          <a:p>
            <a:pPr defTabSz="881390" eaLnBrk="1" hangingPunct="1">
              <a:defRPr/>
            </a:pPr>
            <a:endParaRPr lang="en-US" dirty="0" smtClean="0"/>
          </a:p>
          <a:p>
            <a:pPr defTabSz="881390" eaLnBrk="1" hangingPunct="1">
              <a:defRPr/>
            </a:pPr>
            <a:r>
              <a:rPr lang="en-US" dirty="0" smtClean="0"/>
              <a:t>This work was</a:t>
            </a:r>
            <a:r>
              <a:rPr lang="en-US" baseline="0" dirty="0" smtClean="0"/>
              <a:t> done in collaboration with </a:t>
            </a:r>
            <a:r>
              <a:rPr lang="en-US" baseline="0" dirty="0" err="1" smtClean="0"/>
              <a:t>Amirali</a:t>
            </a:r>
            <a:r>
              <a:rPr lang="en-US" baseline="0" dirty="0" smtClean="0"/>
              <a:t> </a:t>
            </a:r>
            <a:r>
              <a:rPr lang="en-US" baseline="0" dirty="0" err="1" smtClean="0"/>
              <a:t>Shayan</a:t>
            </a:r>
            <a:r>
              <a:rPr lang="en-US" baseline="0" dirty="0" smtClean="0"/>
              <a:t> from UCSD, </a:t>
            </a:r>
            <a:r>
              <a:rPr lang="en-US" baseline="0" dirty="0" err="1" smtClean="0"/>
              <a:t>Rakesh</a:t>
            </a:r>
            <a:r>
              <a:rPr lang="en-US" baseline="0" dirty="0" smtClean="0"/>
              <a:t> Kumar from UIUC and Dean </a:t>
            </a:r>
            <a:r>
              <a:rPr lang="en-US" baseline="0" dirty="0" err="1" smtClean="0"/>
              <a:t>Tullsen</a:t>
            </a:r>
            <a:r>
              <a:rPr lang="en-US" baseline="0" dirty="0" smtClean="0"/>
              <a:t> again from UCSD. </a:t>
            </a:r>
          </a:p>
          <a:p>
            <a:pPr defTabSz="881390" eaLnBrk="1" hangingPunct="1">
              <a:defRPr/>
            </a:pPr>
            <a:endParaRPr lang="en-US" baseline="0"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aseline="0" dirty="0" smtClean="0"/>
              <a:t>At first let’s backup a little and discuss why we care about power at the first place.  Architects need to think of all these power-related issues.</a:t>
            </a:r>
          </a:p>
          <a:p>
            <a:endParaRPr lang="en-US" baseline="0" dirty="0" smtClean="0"/>
          </a:p>
          <a:p>
            <a:r>
              <a:rPr lang="en-US" baseline="0" dirty="0" smtClean="0"/>
              <a:t>Tons of work has been published regarding average power (slide)</a:t>
            </a:r>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aseline="0" dirty="0" smtClean="0"/>
              <a:t>And this work has been well justified because average related directly to Wall power costs, thermals and reliability.</a:t>
            </a:r>
          </a:p>
          <a:p>
            <a:endParaRPr lang="en-US" baseline="0" dirty="0" smtClean="0"/>
          </a:p>
          <a:p>
            <a:r>
              <a:rPr lang="en-US" baseline="0" dirty="0" smtClean="0"/>
              <a:t>However, very few things have been done for peak power (slide)</a:t>
            </a:r>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eaLnBrk="1" hangingPunct="1"/>
            <a:r>
              <a:rPr lang="en-US" dirty="0" smtClean="0"/>
              <a:t>Much less has been done for peak power which more directly impacts</a:t>
            </a:r>
          </a:p>
          <a:p>
            <a:pPr defTabSz="881390" eaLnBrk="1" hangingPunct="1">
              <a:defRPr/>
            </a:pPr>
            <a:r>
              <a:rPr lang="en-US" dirty="0" smtClean="0"/>
              <a:t>processor design – architects</a:t>
            </a:r>
            <a:r>
              <a:rPr lang="en-US" baseline="0" dirty="0" smtClean="0"/>
              <a:t> design chips for the worst case current and therefore power not the average</a:t>
            </a:r>
            <a:r>
              <a:rPr lang="en-US" dirty="0" smtClean="0"/>
              <a:t>, </a:t>
            </a:r>
          </a:p>
          <a:p>
            <a:pPr defTabSz="881390" eaLnBrk="1" hangingPunct="1">
              <a:defRPr/>
            </a:pPr>
            <a:r>
              <a:rPr lang="en-US" dirty="0" smtClean="0"/>
              <a:t>power delivery</a:t>
            </a:r>
            <a:r>
              <a:rPr lang="en-US" baseline="0" dirty="0" smtClean="0"/>
              <a:t> </a:t>
            </a:r>
            <a:r>
              <a:rPr lang="en-US" dirty="0" smtClean="0"/>
              <a:t>– the on-chip power grid is usually over-provisioned to address power spikes, </a:t>
            </a:r>
          </a:p>
          <a:p>
            <a:pPr defTabSz="881390" eaLnBrk="1" hangingPunct="1">
              <a:defRPr/>
            </a:pPr>
            <a:r>
              <a:rPr lang="en-US" dirty="0" smtClean="0"/>
              <a:t>packaging –</a:t>
            </a:r>
            <a:r>
              <a:rPr lang="en-US" baseline="0" dirty="0" smtClean="0"/>
              <a:t> expensive packaging solutions are required when voltage variation targets are not met.</a:t>
            </a:r>
          </a:p>
          <a:p>
            <a:pPr eaLnBrk="1" hangingPunct="1"/>
            <a:endParaRPr lang="en-US" baseline="0" dirty="0" smtClean="0"/>
          </a:p>
          <a:p>
            <a:pPr eaLnBrk="1" hangingPunct="1"/>
            <a:r>
              <a:rPr lang="en-US" baseline="0" dirty="0" smtClean="0"/>
              <a:t>Hence peak power is very important and following we will discuss our approach on how we can reduce it.</a:t>
            </a:r>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aseline="0" dirty="0" smtClean="0"/>
              <a:t>But first we need to define the term Peak Power. </a:t>
            </a:r>
          </a:p>
          <a:p>
            <a:pPr eaLnBrk="1" hangingPunct="1"/>
            <a:r>
              <a:rPr lang="en-US" baseline="0" dirty="0" smtClean="0"/>
              <a:t>This figure show the core power consumption when a benchmark is executing.</a:t>
            </a:r>
          </a:p>
          <a:p>
            <a:pPr eaLnBrk="1" hangingPunct="1"/>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aseline="0" dirty="0" smtClean="0"/>
              <a:t>We can see the average power (slide)</a:t>
            </a:r>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aseline="0" dirty="0" smtClean="0"/>
              <a:t>the peak execution power (slide)</a:t>
            </a:r>
            <a:endParaRPr lang="en-US" dirty="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aseline="0" dirty="0" smtClean="0"/>
              <a:t>and the theoretical peak power. Theoretical peak power is the accumulation of </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smtClean="0"/>
              <a:t>the power of all core components, when these components operate with maximum activity factors. </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smtClean="0"/>
              <a:t>Architects design their hardware especially the power delivery network with the theoretical peak in mind, not the average.</a:t>
            </a:r>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0BE7D210-6585-451B-8D15-3494EF3C7167}" type="slidenum">
              <a:rPr lang="en-US" smtClean="0"/>
              <a:pPr/>
              <a:t>9</a:t>
            </a:fld>
            <a:endParaRPr lang="en-US"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baseline="0" dirty="0" smtClean="0"/>
              <a:t>In our studies we observed that most application have few resources bottlenecks and will perform well as long as those key resources</a:t>
            </a:r>
          </a:p>
          <a:p>
            <a:pPr eaLnBrk="1" hangingPunct="1"/>
            <a:r>
              <a:rPr lang="en-US" baseline="0" dirty="0" smtClean="0"/>
              <a:t>are sufficiently provided.  With resources we mean the number of </a:t>
            </a:r>
            <a:r>
              <a:rPr lang="en-US" baseline="0" dirty="0" err="1" smtClean="0"/>
              <a:t>alus</a:t>
            </a:r>
            <a:r>
              <a:rPr lang="en-US" baseline="0" dirty="0" smtClean="0"/>
              <a:t>, registers, cache size etc. </a:t>
            </a:r>
          </a:p>
          <a:p>
            <a:pPr eaLnBrk="1" hangingPunct="1"/>
            <a:r>
              <a:rPr lang="en-US" baseline="0" dirty="0" smtClean="0"/>
              <a:t>Our goal is to provide the performance critical resources and disable the rest to limit peak power. </a:t>
            </a:r>
          </a:p>
          <a:p>
            <a:pPr eaLnBrk="1" hangingPunct="1"/>
            <a:r>
              <a:rPr lang="en-US" baseline="0" dirty="0" smtClean="0"/>
              <a:t>This sounds much like what we would do to limit average power instead of peak power.</a:t>
            </a:r>
          </a:p>
          <a:p>
            <a:pPr eaLnBrk="1" hangingPunct="1"/>
            <a:endParaRPr lang="en-US" baseline="0" dirty="0" smtClean="0"/>
          </a:p>
          <a:p>
            <a:pPr eaLnBrk="1" hangingPunct="1"/>
            <a:r>
              <a:rPr lang="en-US" baseline="0" dirty="0" smtClean="0"/>
              <a:t>However, the key difference is that we reduce peak power by not allowing all the resources to get their maximum value at the same time. </a:t>
            </a:r>
          </a:p>
          <a:p>
            <a:pPr eaLnBrk="1" hangingPunct="1"/>
            <a:r>
              <a:rPr lang="en-US" baseline="0" dirty="0" smtClean="0"/>
              <a:t>For example an application can use maximum number of </a:t>
            </a:r>
            <a:r>
              <a:rPr lang="en-US" baseline="0" dirty="0" err="1" smtClean="0"/>
              <a:t>alus</a:t>
            </a:r>
            <a:r>
              <a:rPr lang="en-US" baseline="0" dirty="0" smtClean="0"/>
              <a:t>, reg. files entries, cache ways for performance reasons but not all of them at once.</a:t>
            </a:r>
          </a:p>
          <a:p>
            <a:pPr eaLnBrk="1" hangingPunct="1"/>
            <a:endParaRPr lang="en-US" baseline="0" dirty="0" smtClean="0"/>
          </a:p>
          <a:p>
            <a:pPr eaLnBrk="1" hangingPunct="1"/>
            <a:r>
              <a:rPr lang="en-US" baseline="0" dirty="0" smtClean="0"/>
              <a:t>In order to optimize the power delivery network or reduce the decoupling capacitance it is imperative to provide guarantees that peak power budget </a:t>
            </a:r>
          </a:p>
          <a:p>
            <a:pPr eaLnBrk="1" hangingPunct="1"/>
            <a:r>
              <a:rPr lang="en-US" baseline="0" dirty="0" smtClean="0"/>
              <a:t>is never exceeded.</a:t>
            </a:r>
          </a:p>
          <a:p>
            <a:pPr eaLnBrk="1" hangingPunct="1"/>
            <a:endParaRPr lang="en-US" baseline="0" dirty="0" smtClean="0"/>
          </a:p>
          <a:p>
            <a:pPr eaLnBrk="1" hangingPunct="1"/>
            <a:endParaRPr lang="en-US" baseline="0"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88F0485F-310F-42ED-9B1F-83ACCFD68317}" type="slidenum">
              <a:rPr lang="en-US" smtClean="0"/>
              <a:pPr/>
              <a:t>10</a:t>
            </a:fld>
            <a:endParaRPr lang="en-US"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US" dirty="0" smtClean="0"/>
              <a:t>In order to demonstrate that most</a:t>
            </a:r>
            <a:r>
              <a:rPr lang="en-US" baseline="0" dirty="0" smtClean="0"/>
              <a:t> application have few resource bottlenecks </a:t>
            </a:r>
            <a:r>
              <a:rPr lang="en-US" dirty="0" smtClean="0"/>
              <a:t>we run the following experiment</a:t>
            </a:r>
            <a:r>
              <a:rPr lang="en-US" baseline="0" dirty="0" smtClean="0"/>
              <a:t>. </a:t>
            </a:r>
          </a:p>
          <a:p>
            <a:pPr eaLnBrk="1" hangingPunct="1"/>
            <a:r>
              <a:rPr lang="en-US" baseline="0" dirty="0" smtClean="0"/>
              <a:t>We compare these two configurations, the MIN and the MAX shown in this table.</a:t>
            </a:r>
          </a:p>
          <a:p>
            <a:pPr eaLnBrk="1" hangingPunct="1"/>
            <a:endParaRPr lang="en-US" dirty="0" smtClean="0"/>
          </a:p>
          <a:p>
            <a:pPr eaLnBrk="1" hangingPunct="1"/>
            <a:r>
              <a:rPr lang="en-US" dirty="0" smtClean="0"/>
              <a:t>The performance difference</a:t>
            </a:r>
            <a:r>
              <a:rPr lang="en-US" baseline="0" dirty="0" smtClean="0"/>
              <a:t> is significant. Specifically Media benchmarks require those resources to achieve more than 70% additional performance.</a:t>
            </a:r>
          </a:p>
          <a:p>
            <a:pPr defTabSz="881390" eaLnBrk="1" hangingPunct="1">
              <a:defRPr/>
            </a:pPr>
            <a:r>
              <a:rPr lang="en-US" baseline="0" dirty="0" smtClean="0"/>
              <a:t>“The question that comes up is do we need all those resources to get that performance?” </a:t>
            </a:r>
          </a:p>
          <a:p>
            <a:pPr defTabSz="881390" eaLnBrk="1" hangingPunct="1">
              <a:defRPr/>
            </a:pPr>
            <a:endParaRPr lang="en-US" baseline="0"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F58530EE-45F3-4F79-83C1-A707BB9CE10D}" type="slidenum">
              <a:rPr lang="en-US" smtClean="0"/>
              <a:pPr/>
              <a:t>11</a:t>
            </a:fld>
            <a:endParaRPr lang="en-US"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r>
              <a:rPr lang="en-US" baseline="0" dirty="0" smtClean="0"/>
              <a:t>To answer that, we selectively maximize resources</a:t>
            </a:r>
          </a:p>
          <a:p>
            <a:pPr eaLnBrk="1" hangingPunct="1"/>
            <a:r>
              <a:rPr lang="en-US" baseline="0" dirty="0" smtClean="0"/>
              <a:t>and observer that maximizing </a:t>
            </a:r>
            <a:r>
              <a:rPr lang="en-US" b="1" baseline="0" dirty="0" smtClean="0"/>
              <a:t>one out of ten resources </a:t>
            </a:r>
            <a:r>
              <a:rPr lang="en-US" b="0" baseline="0" dirty="0" smtClean="0"/>
              <a:t>we cover a big part of the performance difference between minimum and maximum configuration.</a:t>
            </a:r>
          </a:p>
          <a:p>
            <a:pPr defTabSz="881390" eaLnBrk="1" hangingPunct="1">
              <a:defRPr/>
            </a:pPr>
            <a:r>
              <a:rPr lang="en-US" b="0" baseline="0" dirty="0" smtClean="0"/>
              <a:t>It is important to have adaptive architecture, because which resource performs best varies per application.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2C0C0942-BEF9-407B-BC40-BC03151FD9F1}" type="slidenum">
              <a:rPr lang="en-US" smtClean="0"/>
              <a:pPr/>
              <a:t>12</a:t>
            </a:fld>
            <a:endParaRPr lang="en-US"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r>
              <a:rPr lang="en-US" dirty="0" smtClean="0"/>
              <a:t>Next</a:t>
            </a:r>
            <a:r>
              <a:rPr lang="en-US" baseline="0" dirty="0" smtClean="0"/>
              <a:t> we maximize </a:t>
            </a:r>
            <a:r>
              <a:rPr lang="en-US" b="1" baseline="0" dirty="0" smtClean="0"/>
              <a:t>two out of ten resources </a:t>
            </a:r>
            <a:r>
              <a:rPr lang="en-US" baseline="0" dirty="0" smtClean="0"/>
              <a:t>and see that we cover an even bigger portion of the performance difference.</a:t>
            </a:r>
            <a:endParaRPr lang="en-US" b="0" baseline="0" dirty="0" smtClean="0"/>
          </a:p>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80FA31FC-7040-4A5E-BEB0-C88C84705A6A}" type="slidenum">
              <a:rPr lang="en-US" smtClean="0"/>
              <a:pPr/>
              <a:t>13</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r>
              <a:rPr lang="en-US" dirty="0" smtClean="0"/>
              <a:t>Finally we maximize </a:t>
            </a:r>
            <a:r>
              <a:rPr lang="en-US" b="1" dirty="0" smtClean="0"/>
              <a:t>3</a:t>
            </a:r>
            <a:r>
              <a:rPr lang="en-US" b="1" baseline="0" dirty="0" smtClean="0"/>
              <a:t> out of the ten resources </a:t>
            </a:r>
            <a:r>
              <a:rPr lang="en-US" b="0" baseline="0" dirty="0" smtClean="0"/>
              <a:t> and see that we get most of the potential performance. </a:t>
            </a:r>
          </a:p>
          <a:p>
            <a:pPr eaLnBrk="1" hangingPunct="1"/>
            <a:r>
              <a:rPr lang="en-US" b="0" baseline="0" dirty="0" smtClean="0"/>
              <a:t>This is very interesting result. (slide)  By intelligently providing the right resources we can have 7/10 resources </a:t>
            </a:r>
            <a:r>
              <a:rPr lang="en-US" b="0" baseline="0" dirty="0" err="1" smtClean="0"/>
              <a:t>underconfigured</a:t>
            </a:r>
            <a:r>
              <a:rPr lang="en-US" b="0" baseline="0" dirty="0" smtClean="0"/>
              <a:t> and </a:t>
            </a:r>
          </a:p>
          <a:p>
            <a:pPr eaLnBrk="1" hangingPunct="1"/>
            <a:r>
              <a:rPr lang="en-US" b="0" baseline="0" dirty="0" smtClean="0"/>
              <a:t>still get most of the potential performance.</a:t>
            </a:r>
          </a:p>
          <a:p>
            <a:pPr eaLnBrk="1" hangingPunct="1"/>
            <a:endParaRPr lang="en-US" b="0" baseline="0" dirty="0" smtClean="0"/>
          </a:p>
          <a:p>
            <a:pPr eaLnBrk="1" hangingPunct="1"/>
            <a:r>
              <a:rPr lang="en-US" b="0" baseline="0" dirty="0" smtClean="0"/>
              <a:t>[The closer an application gets to the behavior of a power virus the worse our technique will perform. Since there will be no margin to exploit.]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80FA31FC-7040-4A5E-BEB0-C88C84705A6A}" type="slidenum">
              <a:rPr lang="en-US" smtClean="0"/>
              <a:pPr/>
              <a:t>14</a:t>
            </a:fld>
            <a:endParaRPr lang="en-US"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b="0" baseline="0"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4E164645-67C0-43E5-A283-291DD9B2C702}" type="slidenum">
              <a:rPr lang="en-US" smtClean="0"/>
              <a:pPr/>
              <a:t>15</a:t>
            </a:fld>
            <a:endParaRPr lang="en-US"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r>
              <a:rPr lang="en-US" baseline="0" dirty="0" smtClean="0"/>
              <a:t>This is the outline of my talk. I will now go over the proposed architecture of this work, describing in detail how it reduces peak power. Then will discuss our results and  the benefits we get from the peak power reduction and eventually conclude.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4E164645-67C0-43E5-A283-291DD9B2C702}" type="slidenum">
              <a:rPr lang="en-US" smtClean="0"/>
              <a:pPr/>
              <a:t>16</a:t>
            </a:fld>
            <a:endParaRPr lang="en-US"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F9875781-B796-496C-AE30-11B49A879DF3}" type="slidenum">
              <a:rPr lang="en-US" smtClean="0"/>
              <a:pPr/>
              <a:t>17</a:t>
            </a:fld>
            <a:endParaRPr lang="en-US"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r>
              <a:rPr lang="en-US" dirty="0" smtClean="0"/>
              <a:t>Here</a:t>
            </a:r>
            <a:r>
              <a:rPr lang="en-US" baseline="0" dirty="0" smtClean="0"/>
              <a:t> we see the architecture of an out-of-order core.</a:t>
            </a:r>
            <a:endParaRPr lang="en-US" dirty="0" smtClean="0"/>
          </a:p>
          <a:p>
            <a:pPr eaLnBrk="1" hangingPunct="1"/>
            <a:endParaRPr lang="en-US" dirty="0" smtClean="0"/>
          </a:p>
          <a:p>
            <a:pPr eaLnBrk="1" hangingPunct="1"/>
            <a:r>
              <a:rPr lang="en-US" dirty="0" smtClean="0"/>
              <a:t>A bunch of techniques have</a:t>
            </a:r>
            <a:r>
              <a:rPr lang="en-US" baseline="0" dirty="0" smtClean="0"/>
              <a:t> been proposed to reduce the average power of various processor structures. We assume a subset of these techniques applied to this structures (</a:t>
            </a:r>
            <a:r>
              <a:rPr lang="en-US" baseline="0" dirty="0" err="1" smtClean="0"/>
              <a:t>structs</a:t>
            </a:r>
            <a:r>
              <a:rPr lang="en-US" baseline="0" dirty="0" smtClean="0"/>
              <a:t> become gray). </a:t>
            </a:r>
          </a:p>
          <a:p>
            <a:pPr eaLnBrk="1" hangingPunct="1"/>
            <a:endParaRPr lang="en-US" baseline="0"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86A768FB-8046-4F2A-B09C-7684D9E69454}" type="slidenum">
              <a:rPr lang="en-US" smtClean="0"/>
              <a:pPr/>
              <a:t>18</a:t>
            </a:fld>
            <a:endParaRPr lang="en-US"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US" dirty="0" smtClean="0"/>
              <a:t>These techniques affect both leakage and dynamic power. However,</a:t>
            </a:r>
            <a:r>
              <a:rPr lang="en-US" baseline="0" dirty="0" smtClean="0"/>
              <a:t> </a:t>
            </a:r>
            <a:endParaRPr lang="en-US" dirty="0" smtClean="0"/>
          </a:p>
          <a:p>
            <a:pPr eaLnBrk="1" hangingPunct="1"/>
            <a:r>
              <a:rPr lang="en-US" baseline="0" dirty="0" smtClean="0"/>
              <a:t>This architecture does nothing to limit peak power since there is nothing preventing it from maximizing all the resources at once. </a:t>
            </a:r>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5D466F03-EF87-4D41-8E46-F0EA774F0839}" type="slidenum">
              <a:rPr lang="en-US" smtClean="0"/>
              <a:pPr/>
              <a:t>19</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dirty="0" smtClean="0"/>
              <a:t>To limit peak power</a:t>
            </a:r>
            <a:r>
              <a:rPr lang="en-US" baseline="0" dirty="0" smtClean="0"/>
              <a:t> in this work WE PROPOSE the addition of  the Configuration ROM (or </a:t>
            </a:r>
            <a:r>
              <a:rPr lang="en-US" baseline="0" dirty="0" err="1" smtClean="0"/>
              <a:t>Config</a:t>
            </a:r>
            <a:r>
              <a:rPr lang="en-US" baseline="0" dirty="0" smtClean="0"/>
              <a:t> ROM) and the Adaptation Manager.</a:t>
            </a:r>
          </a:p>
          <a:p>
            <a:pPr eaLnBrk="1" hangingPunct="1"/>
            <a:endParaRPr lang="en-US" dirty="0" smtClean="0"/>
          </a:p>
          <a:p>
            <a:pPr eaLnBrk="1" hangingPunct="1"/>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5D466F03-EF87-4D41-8E46-F0EA774F0839}" type="slidenum">
              <a:rPr lang="en-US" smtClean="0"/>
              <a:pPr/>
              <a:t>20</a:t>
            </a:fld>
            <a:endParaRPr lang="en-US"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baseline="0" dirty="0" err="1" smtClean="0"/>
              <a:t>Config</a:t>
            </a:r>
            <a:r>
              <a:rPr lang="en-US" baseline="0" dirty="0" smtClean="0"/>
              <a:t> ROM holds all the allowed configurations that the core can be in without violating an arbitrarily chosen peak power budget. </a:t>
            </a:r>
          </a:p>
          <a:p>
            <a:pPr eaLnBrk="1" hangingPunct="1"/>
            <a:r>
              <a:rPr lang="en-US" baseline="0" dirty="0" smtClean="0"/>
              <a:t>The adaptation manager is responsible to communicate with the configurable components, find the most appropriate configuration and enforce that </a:t>
            </a:r>
          </a:p>
          <a:p>
            <a:pPr eaLnBrk="1" hangingPunct="1"/>
            <a:r>
              <a:rPr lang="en-US" baseline="0" dirty="0" smtClean="0"/>
              <a:t>Configuration.</a:t>
            </a:r>
          </a:p>
          <a:p>
            <a:pPr eaLnBrk="1" hangingPunct="1"/>
            <a:endParaRPr lang="en-US" baseline="0" dirty="0" smtClean="0"/>
          </a:p>
          <a:p>
            <a:pPr eaLnBrk="1" hangingPunct="1"/>
            <a:r>
              <a:rPr lang="en-US" baseline="0" dirty="0" smtClean="0"/>
              <a:t>The transitions between configurations take place in a way that we never allow the peak power to be exceeded. First we disable resources and then we enable . </a:t>
            </a:r>
            <a:endParaRPr lang="en-US" dirty="0" smtClean="0"/>
          </a:p>
          <a:p>
            <a:pPr eaLnBrk="1" hangingPunct="1"/>
            <a:endParaRPr lang="en-US" dirty="0" smtClean="0"/>
          </a:p>
          <a:p>
            <a:pPr eaLnBrk="1" hangingPunct="1"/>
            <a:r>
              <a:rPr lang="en-US" baseline="0" dirty="0" smtClean="0"/>
              <a:t>This architecture will only allow us to be in the one of the states in the </a:t>
            </a:r>
            <a:r>
              <a:rPr lang="en-US" baseline="0" dirty="0" err="1" smtClean="0"/>
              <a:t>Config</a:t>
            </a:r>
            <a:r>
              <a:rPr lang="en-US" baseline="0" dirty="0" smtClean="0"/>
              <a:t> ROM. Therefore there are two critical issues we need to solve to make </a:t>
            </a:r>
          </a:p>
          <a:p>
            <a:pPr eaLnBrk="1" hangingPunct="1"/>
            <a:r>
              <a:rPr lang="en-US" baseline="0" dirty="0" smtClean="0"/>
              <a:t>This architecture work (slide)</a:t>
            </a:r>
          </a:p>
          <a:p>
            <a:pPr eaLnBrk="1" hangingPunct="1"/>
            <a:endParaRPr lang="en-US" baseline="0" dirty="0" smtClean="0"/>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arenR"/>
            </a:pPr>
            <a:r>
              <a:rPr lang="en-US" baseline="0" dirty="0" smtClean="0"/>
              <a:t>What configuration to place in the </a:t>
            </a:r>
            <a:r>
              <a:rPr lang="en-US" baseline="0" dirty="0" err="1" smtClean="0"/>
              <a:t>Config</a:t>
            </a:r>
            <a:r>
              <a:rPr lang="en-US" baseline="0" dirty="0" smtClean="0"/>
              <a:t> ROM in order to always respect the targeted peak power and perform well</a:t>
            </a:r>
          </a:p>
          <a:p>
            <a:pPr marL="228600" indent="-228600">
              <a:buAutoNum type="arabicParenR"/>
            </a:pPr>
            <a:r>
              <a:rPr lang="en-US" baseline="0" dirty="0" smtClean="0"/>
              <a:t>How to intelligently choose at run-time the next configuration to be in. </a:t>
            </a:r>
          </a:p>
          <a:p>
            <a:pPr marL="228600" indent="-228600">
              <a:buNone/>
            </a:pPr>
            <a:endParaRPr lang="en-US" dirty="0" smtClean="0"/>
          </a:p>
          <a:p>
            <a:pPr marL="228600" indent="-228600">
              <a:buNone/>
            </a:pPr>
            <a:r>
              <a:rPr lang="en-US" dirty="0" smtClean="0"/>
              <a:t>Next we will go over the first issue (Slide)</a:t>
            </a:r>
          </a:p>
          <a:p>
            <a:pPr marL="228600" indent="-228600">
              <a:buNone/>
            </a:pPr>
            <a:endParaRPr lang="en-US"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 the contents of </a:t>
            </a:r>
            <a:r>
              <a:rPr lang="en-US" baseline="0" dirty="0" err="1" smtClean="0"/>
              <a:t>Config</a:t>
            </a:r>
            <a:r>
              <a:rPr lang="en-US" baseline="0" dirty="0" smtClean="0"/>
              <a:t> ROM.</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While we will present the second issue in the results section.</a:t>
            </a:r>
            <a:endParaRPr lang="en-US"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r>
              <a:rPr lang="en-US" dirty="0" smtClean="0"/>
              <a:t>This table shows the contents of a </a:t>
            </a:r>
            <a:r>
              <a:rPr lang="en-US" dirty="0" err="1" smtClean="0"/>
              <a:t>config</a:t>
            </a:r>
            <a:r>
              <a:rPr lang="en-US" dirty="0" smtClean="0"/>
              <a:t> ROM targeting the</a:t>
            </a:r>
            <a:r>
              <a:rPr lang="en-US" baseline="0" dirty="0" smtClean="0"/>
              <a:t> 70% threshold of the original core peak power</a:t>
            </a:r>
            <a:r>
              <a:rPr lang="en-US" dirty="0" smtClean="0"/>
              <a:t>. </a:t>
            </a:r>
          </a:p>
          <a:p>
            <a:r>
              <a:rPr lang="en-US" dirty="0" smtClean="0"/>
              <a:t>These numbers</a:t>
            </a:r>
            <a:r>
              <a:rPr lang="en-US" baseline="0" dirty="0" smtClean="0"/>
              <a:t> maps to the value of each parameter. For instance </a:t>
            </a:r>
            <a:r>
              <a:rPr lang="en-US" baseline="0" dirty="0" err="1" smtClean="0"/>
              <a:t>Iregs</a:t>
            </a:r>
            <a:r>
              <a:rPr lang="en-US" baseline="0" dirty="0" smtClean="0"/>
              <a:t> “0” indicates only half integer register file is active. </a:t>
            </a:r>
            <a:r>
              <a:rPr lang="en-US" baseline="0" dirty="0" err="1" smtClean="0"/>
              <a:t>Iregs</a:t>
            </a:r>
            <a:r>
              <a:rPr lang="en-US" baseline="0" dirty="0" smtClean="0"/>
              <a:t> “1” means the whole integer register file is on. Similarly 0 corresponds to 1 </a:t>
            </a:r>
            <a:r>
              <a:rPr lang="en-US" baseline="0" dirty="0" err="1" smtClean="0"/>
              <a:t>fp</a:t>
            </a:r>
            <a:r>
              <a:rPr lang="en-US" baseline="0" dirty="0" smtClean="0"/>
              <a:t> </a:t>
            </a:r>
            <a:r>
              <a:rPr lang="en-US" baseline="0" dirty="0" err="1" smtClean="0"/>
              <a:t>alu</a:t>
            </a:r>
            <a:r>
              <a:rPr lang="en-US" baseline="0" dirty="0" smtClean="0"/>
              <a:t>, 1 corresponds to 2 </a:t>
            </a:r>
            <a:r>
              <a:rPr lang="en-US" baseline="0" dirty="0" err="1" smtClean="0"/>
              <a:t>fp</a:t>
            </a:r>
            <a:r>
              <a:rPr lang="en-US" baseline="0" dirty="0" smtClean="0"/>
              <a:t> units and 2 corresponds to 3 </a:t>
            </a:r>
            <a:r>
              <a:rPr lang="en-US" baseline="0" dirty="0" err="1" smtClean="0"/>
              <a:t>fp</a:t>
            </a:r>
            <a:r>
              <a:rPr lang="en-US" baseline="0" dirty="0" smtClean="0"/>
              <a:t> units.</a:t>
            </a:r>
          </a:p>
          <a:p>
            <a:endParaRPr lang="en-US" baseline="0" dirty="0" smtClean="0"/>
          </a:p>
          <a:p>
            <a:r>
              <a:rPr lang="en-US" baseline="0" dirty="0" smtClean="0"/>
              <a:t>The highlighted entry is equivalent to the diagram below where we can see the active portions of the configurable parts. </a:t>
            </a:r>
          </a:p>
        </p:txBody>
      </p:sp>
      <p:sp>
        <p:nvSpPr>
          <p:cNvPr id="47108" name="Slide Number Placeholder 3"/>
          <p:cNvSpPr>
            <a:spLocks noGrp="1"/>
          </p:cNvSpPr>
          <p:nvPr>
            <p:ph type="sldNum" sz="quarter" idx="5"/>
          </p:nvPr>
        </p:nvSpPr>
        <p:spPr>
          <a:noFill/>
        </p:spPr>
        <p:txBody>
          <a:bodyPr/>
          <a:lstStyle/>
          <a:p>
            <a:fld id="{3EC26D14-30EB-4962-A46C-EECC96D06E4F}" type="slidenum">
              <a:rPr lang="en-US" smtClean="0"/>
              <a:pPr/>
              <a:t>23</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r>
              <a:rPr lang="en-US" dirty="0" smtClean="0"/>
              <a:t>The</a:t>
            </a:r>
            <a:r>
              <a:rPr lang="en-US" baseline="0" dirty="0" smtClean="0"/>
              <a:t> second highlighted entry is depicted on the right. </a:t>
            </a:r>
            <a:endParaRPr lang="en-US" dirty="0" smtClean="0"/>
          </a:p>
        </p:txBody>
      </p:sp>
      <p:sp>
        <p:nvSpPr>
          <p:cNvPr id="47108" name="Slide Number Placeholder 3"/>
          <p:cNvSpPr>
            <a:spLocks noGrp="1"/>
          </p:cNvSpPr>
          <p:nvPr>
            <p:ph type="sldNum" sz="quarter" idx="5"/>
          </p:nvPr>
        </p:nvSpPr>
        <p:spPr>
          <a:noFill/>
        </p:spPr>
        <p:txBody>
          <a:bodyPr/>
          <a:lstStyle/>
          <a:p>
            <a:fld id="{3EC26D14-30EB-4962-A46C-EECC96D06E4F}" type="slidenum">
              <a:rPr lang="en-US" smtClean="0"/>
              <a:pPr/>
              <a:t>24</a:t>
            </a:fld>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To ensure that all the configurations in the </a:t>
            </a:r>
            <a:r>
              <a:rPr lang="en-US" baseline="0" dirty="0" err="1" smtClean="0"/>
              <a:t>Config</a:t>
            </a:r>
            <a:r>
              <a:rPr lang="en-US" baseline="0" dirty="0" smtClean="0"/>
              <a:t> ROM respect the peak power we target, we consider the peak power for all the possible configurations and then optimize out the configuration we do not want.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Those two configurations differ only on the number of</a:t>
            </a:r>
            <a:r>
              <a:rPr lang="en-US" baseline="0" dirty="0" smtClean="0"/>
              <a:t> active </a:t>
            </a:r>
            <a:r>
              <a:rPr lang="en-US" baseline="0" dirty="0" err="1" smtClean="0"/>
              <a:t>fp</a:t>
            </a:r>
            <a:r>
              <a:rPr lang="en-US" baseline="0" dirty="0" smtClean="0"/>
              <a:t> </a:t>
            </a:r>
            <a:r>
              <a:rPr lang="en-US" baseline="0" dirty="0" err="1" smtClean="0"/>
              <a:t>alus</a:t>
            </a:r>
            <a:r>
              <a:rPr lang="en-US" baseline="0" dirty="0" smtClean="0"/>
              <a:t>. The configuration one the left has fewer FP </a:t>
            </a:r>
            <a:r>
              <a:rPr lang="en-US" baseline="0" dirty="0" err="1" smtClean="0"/>
              <a:t>alus</a:t>
            </a:r>
            <a:r>
              <a:rPr lang="en-US" baseline="0" dirty="0" smtClean="0"/>
              <a:t> active, as a result, the configuration on the left has peak power of 69% while the right one 71%.</a:t>
            </a:r>
          </a:p>
          <a:p>
            <a:r>
              <a:rPr lang="en-US" baseline="0" dirty="0" smtClean="0"/>
              <a:t>The 2</a:t>
            </a:r>
            <a:r>
              <a:rPr lang="en-US" baseline="30000" dirty="0" smtClean="0"/>
              <a:t>nd</a:t>
            </a:r>
            <a:r>
              <a:rPr lang="en-US" baseline="0" dirty="0" smtClean="0"/>
              <a:t> configuration is exceeding the targeted peak power threshold and therefore is left out of the </a:t>
            </a:r>
            <a:r>
              <a:rPr lang="en-US" baseline="0" dirty="0" err="1" smtClean="0"/>
              <a:t>config</a:t>
            </a:r>
            <a:r>
              <a:rPr lang="en-US" baseline="0" dirty="0" smtClean="0"/>
              <a:t> ROM. (slide)</a:t>
            </a:r>
            <a:endParaRPr lang="en-US" dirty="0" smtClean="0"/>
          </a:p>
        </p:txBody>
      </p:sp>
      <p:sp>
        <p:nvSpPr>
          <p:cNvPr id="47108" name="Slide Number Placeholder 3"/>
          <p:cNvSpPr>
            <a:spLocks noGrp="1"/>
          </p:cNvSpPr>
          <p:nvPr>
            <p:ph type="sldNum" sz="quarter" idx="5"/>
          </p:nvPr>
        </p:nvSpPr>
        <p:spPr>
          <a:noFill/>
        </p:spPr>
        <p:txBody>
          <a:bodyPr/>
          <a:lstStyle/>
          <a:p>
            <a:fld id="{3EC26D14-30EB-4962-A46C-EECC96D06E4F}" type="slidenum">
              <a:rPr lang="en-US" smtClean="0"/>
              <a:pPr/>
              <a:t>25</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r>
              <a:rPr lang="en-US" dirty="0" smtClean="0"/>
              <a:t>This ensures that all the configurations by</a:t>
            </a:r>
            <a:r>
              <a:rPr lang="en-US" baseline="0" dirty="0" smtClean="0"/>
              <a:t> construction will respect the peak power budget. </a:t>
            </a:r>
          </a:p>
          <a:p>
            <a:endParaRPr lang="en-US" dirty="0" smtClean="0"/>
          </a:p>
          <a:p>
            <a:r>
              <a:rPr lang="en-US" dirty="0" smtClean="0"/>
              <a:t>Now consider</a:t>
            </a:r>
            <a:r>
              <a:rPr lang="en-US" baseline="0" dirty="0" smtClean="0"/>
              <a:t> another case. (next slide)</a:t>
            </a:r>
            <a:endParaRPr lang="en-US" dirty="0" smtClean="0"/>
          </a:p>
        </p:txBody>
      </p:sp>
      <p:sp>
        <p:nvSpPr>
          <p:cNvPr id="47108" name="Slide Number Placeholder 3"/>
          <p:cNvSpPr>
            <a:spLocks noGrp="1"/>
          </p:cNvSpPr>
          <p:nvPr>
            <p:ph type="sldNum" sz="quarter" idx="5"/>
          </p:nvPr>
        </p:nvSpPr>
        <p:spPr>
          <a:noFill/>
        </p:spPr>
        <p:txBody>
          <a:bodyPr/>
          <a:lstStyle/>
          <a:p>
            <a:fld id="{3EC26D14-30EB-4962-A46C-EECC96D06E4F}"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r>
              <a:rPr lang="en-US" dirty="0" smtClean="0"/>
              <a:t>Configurations that are strict</a:t>
            </a:r>
            <a:r>
              <a:rPr lang="en-US" baseline="0" dirty="0" smtClean="0"/>
              <a:t> subsets of another configuration already in the </a:t>
            </a:r>
            <a:r>
              <a:rPr lang="en-US" baseline="0" dirty="0" err="1" smtClean="0"/>
              <a:t>config</a:t>
            </a:r>
            <a:r>
              <a:rPr lang="en-US" baseline="0" dirty="0" smtClean="0"/>
              <a:t> ROM.</a:t>
            </a:r>
          </a:p>
          <a:p>
            <a:r>
              <a:rPr lang="en-US" baseline="0" dirty="0" smtClean="0"/>
              <a:t>We will call these configurations redundant.</a:t>
            </a:r>
            <a:endParaRPr lang="en-US" dirty="0" smtClean="0"/>
          </a:p>
          <a:p>
            <a:r>
              <a:rPr lang="en-US" baseline="0" dirty="0" smtClean="0"/>
              <a:t>For instance, here both configurations are under the threshold , but the second one has 2 integer </a:t>
            </a:r>
            <a:r>
              <a:rPr lang="en-US" baseline="0" dirty="0" err="1" smtClean="0"/>
              <a:t>alus</a:t>
            </a:r>
            <a:r>
              <a:rPr lang="en-US" baseline="0" dirty="0" smtClean="0"/>
              <a:t> while the first one has 4.</a:t>
            </a:r>
          </a:p>
          <a:p>
            <a:r>
              <a:rPr lang="en-US" baseline="0" dirty="0" smtClean="0"/>
              <a:t>All the rest resources are exactly the same.</a:t>
            </a:r>
          </a:p>
          <a:p>
            <a:r>
              <a:rPr lang="en-US" baseline="0" dirty="0" smtClean="0"/>
              <a:t>We expect the configuration with more resources to perform better than the one with fewer, therefore is redundant will be eliminated.(slide)</a:t>
            </a:r>
            <a:endParaRPr lang="en-US" dirty="0" smtClean="0"/>
          </a:p>
        </p:txBody>
      </p:sp>
      <p:sp>
        <p:nvSpPr>
          <p:cNvPr id="47108" name="Slide Number Placeholder 3"/>
          <p:cNvSpPr>
            <a:spLocks noGrp="1"/>
          </p:cNvSpPr>
          <p:nvPr>
            <p:ph type="sldNum" sz="quarter" idx="5"/>
          </p:nvPr>
        </p:nvSpPr>
        <p:spPr>
          <a:noFill/>
        </p:spPr>
        <p:txBody>
          <a:bodyPr/>
          <a:lstStyle/>
          <a:p>
            <a:fld id="{3EC26D14-30EB-4962-A46C-EECC96D06E4F}" type="slidenum">
              <a:rPr lang="en-US" smtClean="0"/>
              <a:pPr/>
              <a:t>27</a:t>
            </a:fld>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r>
              <a:rPr lang="en-US" dirty="0" smtClean="0"/>
              <a:t>With</a:t>
            </a:r>
            <a:r>
              <a:rPr lang="en-US" baseline="0" dirty="0" smtClean="0"/>
              <a:t> this methodology we manage to considerably reduce the total number of configurations. (slide)</a:t>
            </a:r>
            <a:endParaRPr lang="en-US" dirty="0" smtClean="0"/>
          </a:p>
          <a:p>
            <a:endParaRPr lang="en-US" dirty="0" smtClean="0"/>
          </a:p>
          <a:p>
            <a:endParaRPr lang="en-US" dirty="0" smtClean="0"/>
          </a:p>
          <a:p>
            <a:endParaRPr lang="en-US" dirty="0" smtClean="0"/>
          </a:p>
        </p:txBody>
      </p:sp>
      <p:sp>
        <p:nvSpPr>
          <p:cNvPr id="47108" name="Slide Number Placeholder 3"/>
          <p:cNvSpPr>
            <a:spLocks noGrp="1"/>
          </p:cNvSpPr>
          <p:nvPr>
            <p:ph type="sldNum" sz="quarter" idx="5"/>
          </p:nvPr>
        </p:nvSpPr>
        <p:spPr>
          <a:noFill/>
        </p:spPr>
        <p:txBody>
          <a:bodyPr/>
          <a:lstStyle/>
          <a:p>
            <a:fld id="{3EC26D14-30EB-4962-A46C-EECC96D06E4F}" type="slidenum">
              <a:rPr lang="en-US" smtClean="0"/>
              <a:pPr/>
              <a:t>28</a:t>
            </a:fld>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Out</a:t>
            </a:r>
            <a:r>
              <a:rPr lang="en-US" baseline="0" dirty="0" smtClean="0"/>
              <a:t> of originally 6144 different possible configurations, this is the product of the possible values of each parameter, we see the number of possible </a:t>
            </a:r>
          </a:p>
          <a:p>
            <a:r>
              <a:rPr lang="en-US" baseline="0" dirty="0" smtClean="0"/>
              <a:t>configurations in each threshold and the number the configurations after the removal of redundant configurations.</a:t>
            </a:r>
          </a:p>
          <a:p>
            <a:endParaRPr lang="en-US" baseline="0" dirty="0" smtClean="0"/>
          </a:p>
          <a:p>
            <a:r>
              <a:rPr lang="en-US" baseline="0" dirty="0" smtClean="0"/>
              <a:t>Our technique achieves two things. </a:t>
            </a:r>
          </a:p>
          <a:p>
            <a:pPr marL="228600" indent="-228600">
              <a:buAutoNum type="arabicParenR"/>
            </a:pPr>
            <a:r>
              <a:rPr lang="en-US" baseline="0" dirty="0" smtClean="0"/>
              <a:t>we end up with a more manageable number of configurations. E.g. for the 70% threshold we have only 132.</a:t>
            </a:r>
          </a:p>
          <a:p>
            <a:pPr marL="228600" indent="-228600">
              <a:buAutoNum type="arabicParenR"/>
            </a:pPr>
            <a:r>
              <a:rPr lang="en-US" baseline="0" dirty="0" smtClean="0"/>
              <a:t>We facilitate the process of finding the best configuration, since we consider a smaller number of them.</a:t>
            </a:r>
            <a:endParaRPr lang="en-US" dirty="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r>
              <a:rPr lang="en-US" dirty="0" smtClean="0"/>
              <a:t>Here we present</a:t>
            </a:r>
            <a:r>
              <a:rPr lang="en-US" baseline="0" dirty="0" smtClean="0"/>
              <a:t> the implementation overhead of our additions. Less than 1.25% of additional area  is required for the one </a:t>
            </a:r>
            <a:r>
              <a:rPr lang="en-US" baseline="0" dirty="0" err="1" smtClean="0"/>
              <a:t>Config</a:t>
            </a:r>
            <a:r>
              <a:rPr lang="en-US" baseline="0" dirty="0" smtClean="0"/>
              <a:t> Rom and the Adaptation Manager.</a:t>
            </a:r>
          </a:p>
          <a:p>
            <a:r>
              <a:rPr lang="en-US" baseline="0" dirty="0" smtClean="0"/>
              <a:t>There  1.1 peak power overhead.  The average power impact because the adaptation between configuration takes place infrequently. </a:t>
            </a:r>
          </a:p>
          <a:p>
            <a:endParaRPr lang="en-US" baseline="0" dirty="0" smtClean="0"/>
          </a:p>
          <a:p>
            <a:r>
              <a:rPr lang="en-US" baseline="0" dirty="0" smtClean="0"/>
              <a:t>We carefully mode Power-gating latencies so that rush current and </a:t>
            </a:r>
            <a:r>
              <a:rPr lang="en-US" baseline="0" dirty="0" err="1" smtClean="0"/>
              <a:t>di</a:t>
            </a:r>
            <a:r>
              <a:rPr lang="en-US" baseline="0" dirty="0" smtClean="0"/>
              <a:t>/</a:t>
            </a:r>
            <a:r>
              <a:rPr lang="en-US" baseline="0" dirty="0" err="1" smtClean="0"/>
              <a:t>dt</a:t>
            </a:r>
            <a:r>
              <a:rPr lang="en-US" baseline="0" dirty="0" smtClean="0"/>
              <a:t> will not be an issue.</a:t>
            </a:r>
          </a:p>
          <a:p>
            <a:r>
              <a:rPr lang="en-US" baseline="0" dirty="0" smtClean="0"/>
              <a:t>Finally verification cost is an important issues, since we expect this to be more complicated than a non-adaptive core but less costly than a fully-adaptive core.</a:t>
            </a:r>
            <a:endParaRPr lang="en-US" dirty="0" smtClean="0"/>
          </a:p>
          <a:p>
            <a:endParaRPr lang="en-US" dirty="0" smtClean="0"/>
          </a:p>
          <a:p>
            <a:r>
              <a:rPr lang="en-US" dirty="0" smtClean="0"/>
              <a:t>[How does</a:t>
            </a:r>
            <a:r>
              <a:rPr lang="en-US" baseline="0" dirty="0" smtClean="0"/>
              <a:t> this implementation compares power-wise to the non-adaptable core. : </a:t>
            </a:r>
          </a:p>
          <a:p>
            <a:r>
              <a:rPr lang="en-US" baseline="0" dirty="0" smtClean="0"/>
              <a:t>If they press me hand-wave the overheads should be in the percent range extra. Plus modern microprocessors already employ clock-gating and power-gating in their designs.</a:t>
            </a:r>
          </a:p>
          <a:p>
            <a:r>
              <a:rPr lang="en-US" baseline="0" dirty="0" smtClean="0"/>
              <a:t>What if you want to include more parameters? Your design space would explode.</a:t>
            </a:r>
          </a:p>
          <a:p>
            <a:pPr marL="220348" indent="-220348">
              <a:buAutoNum type="arabicParenR"/>
            </a:pPr>
            <a:r>
              <a:rPr lang="en-US" baseline="0" dirty="0" smtClean="0"/>
              <a:t>I would be surprised if you would find more than 10 resources that consistently matter</a:t>
            </a:r>
          </a:p>
          <a:p>
            <a:pPr marL="220348" indent="-220348">
              <a:buAutoNum type="arabicParenR"/>
            </a:pPr>
            <a:r>
              <a:rPr lang="en-US" baseline="0" dirty="0" smtClean="0"/>
              <a:t>We do explore further reduction of design space, performance actually improved. Someone could be more aggressive than we are. ]</a:t>
            </a:r>
          </a:p>
          <a:p>
            <a:pPr marL="220348" indent="-220348">
              <a:buNone/>
            </a:pPr>
            <a:endParaRPr lang="en-US" baseline="0" dirty="0" smtClean="0"/>
          </a:p>
        </p:txBody>
      </p:sp>
      <p:sp>
        <p:nvSpPr>
          <p:cNvPr id="48132" name="Slide Number Placeholder 3"/>
          <p:cNvSpPr>
            <a:spLocks noGrp="1"/>
          </p:cNvSpPr>
          <p:nvPr>
            <p:ph type="sldNum" sz="quarter" idx="5"/>
          </p:nvPr>
        </p:nvSpPr>
        <p:spPr>
          <a:noFill/>
        </p:spPr>
        <p:txBody>
          <a:bodyPr/>
          <a:lstStyle/>
          <a:p>
            <a:fld id="{71B65286-BE9C-46EE-9A61-EA66EC9BF015}" type="slidenum">
              <a:rPr lang="en-US" smtClean="0"/>
              <a:pPr/>
              <a:t>30</a:t>
            </a:fld>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C97CF61F-08DC-4B30-AC0B-4332B1EE1C56}" type="slidenum">
              <a:rPr lang="en-US" smtClean="0"/>
              <a:pPr/>
              <a:t>31</a:t>
            </a:fld>
            <a:endParaRPr lang="en-US"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r>
              <a:rPr lang="en-US" dirty="0" smtClean="0"/>
              <a:t>And now we will go over the evaluation</a:t>
            </a:r>
            <a:r>
              <a:rPr lang="en-US" baseline="0" dirty="0" smtClean="0"/>
              <a:t> </a:t>
            </a:r>
            <a:r>
              <a:rPr lang="en-US" dirty="0" smtClean="0"/>
              <a:t>of this</a:t>
            </a:r>
            <a:r>
              <a:rPr lang="en-US" baseline="0" dirty="0" smtClean="0"/>
              <a:t> </a:t>
            </a:r>
            <a:r>
              <a:rPr lang="en-US" dirty="0" smtClean="0"/>
              <a:t>adaptive architecture.</a:t>
            </a:r>
          </a:p>
          <a:p>
            <a:pPr eaLnBrk="1" hangingPunct="1"/>
            <a:r>
              <a:rPr lang="en-US" dirty="0" smtClean="0"/>
              <a:t>Specifically, I will discuss</a:t>
            </a:r>
            <a:r>
              <a:rPr lang="en-US" baseline="0" dirty="0" smtClean="0"/>
              <a:t> how </a:t>
            </a:r>
            <a:r>
              <a:rPr lang="en-US" baseline="0" dirty="0" err="1" smtClean="0"/>
              <a:t>adynamically</a:t>
            </a:r>
            <a:r>
              <a:rPr lang="en-US" baseline="0" dirty="0" smtClean="0"/>
              <a:t> adapting architecture compares to a statically tuned one</a:t>
            </a:r>
          </a:p>
          <a:p>
            <a:pPr eaLnBrk="1" hangingPunct="1"/>
            <a:r>
              <a:rPr lang="en-US" baseline="0" dirty="0" smtClean="0"/>
              <a:t>Will discuss realistic online adaptive techniques</a:t>
            </a:r>
          </a:p>
          <a:p>
            <a:pPr eaLnBrk="1" hangingPunct="1"/>
            <a:r>
              <a:rPr lang="en-US" baseline="0" dirty="0" smtClean="0"/>
              <a:t>And will go over some of the benefits of peak power reduction in terms of voltage variation and decoupling capacitance .</a:t>
            </a:r>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pPr defTabSz="881390">
              <a:defRPr/>
            </a:pPr>
            <a:r>
              <a:rPr lang="en-US" baseline="0" dirty="0" smtClean="0"/>
              <a:t>We </a:t>
            </a:r>
            <a:r>
              <a:rPr lang="en-US" baseline="0" dirty="0" err="1" smtClean="0"/>
              <a:t>constaint</a:t>
            </a:r>
            <a:r>
              <a:rPr lang="en-US" baseline="0" dirty="0" smtClean="0"/>
              <a:t> the peak power of our core to 70% of its original value and consider all configurations within this budget.</a:t>
            </a:r>
            <a:endParaRPr lang="en-US" dirty="0" smtClean="0"/>
          </a:p>
          <a:p>
            <a:pPr defTabSz="881390">
              <a:defRPr/>
            </a:pPr>
            <a:r>
              <a:rPr lang="en-US" dirty="0" smtClean="0"/>
              <a:t>We</a:t>
            </a:r>
            <a:r>
              <a:rPr lang="en-US" baseline="0" dirty="0" smtClean="0"/>
              <a:t> find the </a:t>
            </a:r>
            <a:r>
              <a:rPr lang="en-US" dirty="0" smtClean="0"/>
              <a:t> configuration</a:t>
            </a:r>
            <a:r>
              <a:rPr lang="en-US" baseline="0" dirty="0" smtClean="0"/>
              <a:t> that performs best across our benchmark set and use it as our baseline. We call this architecture BEST_STATIC, it is shown with the blue bars. </a:t>
            </a:r>
          </a:p>
          <a:p>
            <a:pPr defTabSz="881390">
              <a:defRPr/>
            </a:pPr>
            <a:r>
              <a:rPr lang="en-US" baseline="0" dirty="0" smtClean="0"/>
              <a:t>This is more or less how we build </a:t>
            </a:r>
            <a:r>
              <a:rPr lang="en-US" baseline="0" dirty="0" err="1" smtClean="0"/>
              <a:t>processsors</a:t>
            </a:r>
            <a:r>
              <a:rPr lang="en-US" baseline="0" dirty="0" smtClean="0"/>
              <a:t> today, we simulate a wide range of applications  within some constraints and find which configuration works best. The bigger the benchmark pool</a:t>
            </a:r>
          </a:p>
          <a:p>
            <a:pPr defTabSz="881390">
              <a:defRPr/>
            </a:pPr>
            <a:r>
              <a:rPr lang="en-US" baseline="0" dirty="0" smtClean="0"/>
              <a:t>the harder it is to optimize for all of them. This is the difficulty of building a general purpose processor.</a:t>
            </a:r>
          </a:p>
          <a:p>
            <a:pPr defTabSz="881390">
              <a:defRPr/>
            </a:pPr>
            <a:r>
              <a:rPr lang="en-US" baseline="0" dirty="0" smtClean="0"/>
              <a:t>We compare this architecture to another one that can dynamically adapt. It  switches to the best configuration within the peak power budget every 1M instructions. This architecture has oracle knowledge of what is best for each benchmark and each phase of the benchmark and since we do not know a priori what is best. We call this policy </a:t>
            </a:r>
          </a:p>
          <a:p>
            <a:pPr defTabSz="881390">
              <a:defRPr/>
            </a:pPr>
            <a:r>
              <a:rPr lang="en-US" dirty="0" smtClean="0"/>
              <a:t>IDEAL_ADAPT policy</a:t>
            </a:r>
            <a:r>
              <a:rPr lang="en-US" baseline="0" dirty="0" smtClean="0"/>
              <a:t>. This is the red one. Finally we have the maximally configured core where there is no peak power constraint.  This is MAX_CONF with the orange bars and corresponds to the </a:t>
            </a:r>
          </a:p>
          <a:p>
            <a:pPr defTabSz="881390">
              <a:defRPr/>
            </a:pPr>
            <a:r>
              <a:rPr lang="en-US" baseline="0" dirty="0" smtClean="0"/>
              <a:t>original core.</a:t>
            </a:r>
          </a:p>
          <a:p>
            <a:pPr defTabSz="881390">
              <a:defRPr/>
            </a:pPr>
            <a:endParaRPr lang="en-US" baseline="0" dirty="0" smtClean="0"/>
          </a:p>
          <a:p>
            <a:pPr defTabSz="881390">
              <a:defRPr/>
            </a:pPr>
            <a:r>
              <a:rPr lang="en-US" baseline="0" dirty="0" smtClean="0"/>
              <a:t>In other words Blue: find the best performing configuration within the peak power budget. Red: adapt to the best configuration every 1M instructions within budget. Orange :</a:t>
            </a:r>
          </a:p>
          <a:p>
            <a:pPr defTabSz="881390">
              <a:defRPr/>
            </a:pPr>
            <a:r>
              <a:rPr lang="en-US" baseline="0" dirty="0" smtClean="0"/>
              <a:t>all resources are max, no peak power </a:t>
            </a:r>
            <a:r>
              <a:rPr lang="en-US" baseline="0" dirty="0" err="1" smtClean="0"/>
              <a:t>constaints</a:t>
            </a:r>
            <a:r>
              <a:rPr lang="en-US" baseline="0" dirty="0" smtClean="0"/>
              <a:t>.</a:t>
            </a:r>
          </a:p>
          <a:p>
            <a:pPr defTabSz="881390">
              <a:defRPr/>
            </a:pPr>
            <a:endParaRPr lang="en-US" baseline="0" dirty="0" smtClean="0"/>
          </a:p>
          <a:p>
            <a:pPr defTabSz="881390">
              <a:defRPr/>
            </a:pPr>
            <a:r>
              <a:rPr lang="en-US" baseline="0" dirty="0" smtClean="0"/>
              <a:t>In the y axis there is speedup normalized to BEST_STATIC </a:t>
            </a:r>
            <a:r>
              <a:rPr lang="en-US" baseline="0" dirty="0" err="1" smtClean="0"/>
              <a:t>config</a:t>
            </a:r>
            <a:r>
              <a:rPr lang="en-US" baseline="0" dirty="0" smtClean="0"/>
              <a:t> and on the x axis the benchmarks of our set.  Higher is better. As expected, the ideally adaptive core reaches closer to the performance of the maximally configured core than the static processor. MAX_CONFIG on average is 20% better than BEST_STATIC and IDEAL_ADAPT is 16% better than the BEST_STATIC.  (slide)</a:t>
            </a:r>
          </a:p>
          <a:p>
            <a:pPr defTabSz="881390">
              <a:defRPr/>
            </a:pPr>
            <a:endParaRPr lang="en-US" dirty="0" smtClean="0"/>
          </a:p>
        </p:txBody>
      </p:sp>
      <p:sp>
        <p:nvSpPr>
          <p:cNvPr id="52228" name="Slide Number Placeholder 3"/>
          <p:cNvSpPr>
            <a:spLocks noGrp="1"/>
          </p:cNvSpPr>
          <p:nvPr>
            <p:ph type="sldNum" sz="quarter" idx="5"/>
          </p:nvPr>
        </p:nvSpPr>
        <p:spPr>
          <a:noFill/>
        </p:spPr>
        <p:txBody>
          <a:bodyPr/>
          <a:lstStyle/>
          <a:p>
            <a:fld id="{8614C8E4-7AF9-4652-915F-5EAADD5B2517}" type="slidenum">
              <a:rPr lang="en-US" smtClean="0"/>
              <a:pPr/>
              <a:t>32</a:t>
            </a:fld>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pPr defTabSz="881390">
              <a:defRPr/>
            </a:pPr>
            <a:r>
              <a:rPr lang="en-US" baseline="0" dirty="0" smtClean="0"/>
              <a:t>I have isolated three characteristic cases to explain the performance difference. For parser the static configuration is sufficient and as a result, all three perform similarly.</a:t>
            </a:r>
          </a:p>
          <a:p>
            <a:pPr defTabSz="881390">
              <a:defRPr/>
            </a:pPr>
            <a:r>
              <a:rPr lang="en-US" baseline="0" dirty="0" smtClean="0"/>
              <a:t>However there are other benchmarks like Media g721d which required 4 </a:t>
            </a:r>
            <a:r>
              <a:rPr lang="en-US" baseline="0" dirty="0" err="1" smtClean="0"/>
              <a:t>alus</a:t>
            </a:r>
            <a:r>
              <a:rPr lang="en-US" baseline="0" dirty="0" smtClean="0"/>
              <a:t> to perform well and those are not provided in the configuration. Or mg that requires more </a:t>
            </a:r>
            <a:r>
              <a:rPr lang="en-US" baseline="0" dirty="0" err="1" smtClean="0"/>
              <a:t>fp</a:t>
            </a:r>
            <a:r>
              <a:rPr lang="en-US" baseline="0" dirty="0" smtClean="0"/>
              <a:t> registers.</a:t>
            </a:r>
          </a:p>
          <a:p>
            <a:pPr defTabSz="881390">
              <a:defRPr/>
            </a:pPr>
            <a:endParaRPr lang="en-US" baseline="0" dirty="0" smtClean="0"/>
          </a:p>
          <a:p>
            <a:pPr defTabSz="881390">
              <a:defRPr/>
            </a:pPr>
            <a:r>
              <a:rPr lang="en-US" baseline="0" dirty="0" smtClean="0"/>
              <a:t>The ideal adapt can provide these and performs better.</a:t>
            </a:r>
          </a:p>
          <a:p>
            <a:r>
              <a:rPr lang="en-US" dirty="0" smtClean="0"/>
              <a:t>Note that the more diverse is the set</a:t>
            </a:r>
            <a:r>
              <a:rPr lang="en-US" baseline="0" dirty="0" smtClean="0"/>
              <a:t> of </a:t>
            </a:r>
            <a:r>
              <a:rPr lang="en-US" dirty="0" smtClean="0"/>
              <a:t>applications in our benchmark</a:t>
            </a:r>
            <a:r>
              <a:rPr lang="en-US" baseline="0" dirty="0" smtClean="0"/>
              <a:t> pool the more the adaptive core will outperform the static one. </a:t>
            </a:r>
            <a:endParaRPr lang="en-US" dirty="0" smtClean="0"/>
          </a:p>
          <a:p>
            <a:endParaRPr lang="en-US" dirty="0" smtClean="0"/>
          </a:p>
          <a:p>
            <a:r>
              <a:rPr lang="en-US" dirty="0" smtClean="0"/>
              <a:t>Now</a:t>
            </a:r>
            <a:r>
              <a:rPr lang="en-US" baseline="0" dirty="0" smtClean="0"/>
              <a:t> that we have quantified the importance of adaptation we should ask how close realistic techniques can reach to the ideal one  (slide)</a:t>
            </a:r>
          </a:p>
          <a:p>
            <a:endParaRPr lang="en-US" baseline="0" dirty="0" smtClean="0"/>
          </a:p>
          <a:p>
            <a:endParaRPr lang="en-US" dirty="0" smtClean="0"/>
          </a:p>
          <a:p>
            <a:pPr defTabSz="881390">
              <a:defRPr/>
            </a:pPr>
            <a:endParaRPr lang="en-US" dirty="0" smtClean="0"/>
          </a:p>
        </p:txBody>
      </p:sp>
      <p:sp>
        <p:nvSpPr>
          <p:cNvPr id="52228" name="Slide Number Placeholder 3"/>
          <p:cNvSpPr>
            <a:spLocks noGrp="1"/>
          </p:cNvSpPr>
          <p:nvPr>
            <p:ph type="sldNum" sz="quarter" idx="5"/>
          </p:nvPr>
        </p:nvSpPr>
        <p:spPr>
          <a:noFill/>
        </p:spPr>
        <p:txBody>
          <a:bodyPr/>
          <a:lstStyle/>
          <a:p>
            <a:fld id="{8614C8E4-7AF9-4652-915F-5EAADD5B2517}" type="slidenum">
              <a:rPr lang="en-US" smtClean="0"/>
              <a:pPr/>
              <a:t>33</a:t>
            </a:fld>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r>
              <a:rPr lang="en-US" dirty="0" smtClean="0"/>
              <a:t>This</a:t>
            </a:r>
            <a:r>
              <a:rPr lang="en-US" baseline="0" dirty="0" smtClean="0"/>
              <a:t> relates to how the adaptation manager will choose the next configuration </a:t>
            </a:r>
            <a:r>
              <a:rPr lang="en-US" dirty="0" smtClean="0"/>
              <a:t>(Slide)</a:t>
            </a:r>
          </a:p>
          <a:p>
            <a:pPr marL="228600" indent="-228600">
              <a:buNone/>
            </a:pPr>
            <a:endParaRPr lang="en-US"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n-US" dirty="0" smtClean="0"/>
              <a:t>When</a:t>
            </a:r>
            <a:r>
              <a:rPr lang="en-US" baseline="0" dirty="0" smtClean="0"/>
              <a:t> it come to designing  heuristics for online adaptation there are three questions that need to answered.</a:t>
            </a:r>
          </a:p>
          <a:p>
            <a:r>
              <a:rPr lang="en-US" baseline="0" dirty="0" smtClean="0"/>
              <a:t>When we will trigger an adaptation, which will be the next configuration and how we will evaluate the configuration we have used.</a:t>
            </a:r>
            <a:endParaRPr lang="en-US" dirty="0" smtClean="0"/>
          </a:p>
          <a:p>
            <a:endParaRPr lang="en-US" dirty="0" smtClean="0"/>
          </a:p>
        </p:txBody>
      </p:sp>
      <p:sp>
        <p:nvSpPr>
          <p:cNvPr id="53252" name="Slide Number Placeholder 3"/>
          <p:cNvSpPr>
            <a:spLocks noGrp="1"/>
          </p:cNvSpPr>
          <p:nvPr>
            <p:ph type="sldNum" sz="quarter" idx="5"/>
          </p:nvPr>
        </p:nvSpPr>
        <p:spPr>
          <a:noFill/>
        </p:spPr>
        <p:txBody>
          <a:bodyPr/>
          <a:lstStyle/>
          <a:p>
            <a:fld id="{22DB3F13-A750-4919-8C9D-FDB837A777D4}" type="slidenum">
              <a:rPr lang="en-US" smtClean="0"/>
              <a:pPr/>
              <a:t>35</a:t>
            </a:fld>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n-US" dirty="0" smtClean="0"/>
              <a:t>Regarding</a:t>
            </a:r>
            <a:r>
              <a:rPr lang="en-US" baseline="0" dirty="0" smtClean="0"/>
              <a:t> the first question, we consider 3 alternatives, adapt every 2M cycles (INTV policy) , adapt when we detect a phase change (EVDRIV policy)</a:t>
            </a:r>
          </a:p>
          <a:p>
            <a:r>
              <a:rPr lang="en-US" baseline="0" dirty="0" smtClean="0"/>
              <a:t>extend the adaptation interval when we have a good configuration and cannot find a better one, shrink the adaptation interval when we do find better </a:t>
            </a:r>
          </a:p>
          <a:p>
            <a:r>
              <a:rPr lang="en-US" baseline="0" dirty="0" smtClean="0"/>
              <a:t>configuration to speedup the learning process.</a:t>
            </a:r>
          </a:p>
          <a:p>
            <a:endParaRPr lang="en-US" baseline="0" dirty="0" smtClean="0"/>
          </a:p>
        </p:txBody>
      </p:sp>
      <p:sp>
        <p:nvSpPr>
          <p:cNvPr id="53252" name="Slide Number Placeholder 3"/>
          <p:cNvSpPr>
            <a:spLocks noGrp="1"/>
          </p:cNvSpPr>
          <p:nvPr>
            <p:ph type="sldNum" sz="quarter" idx="5"/>
          </p:nvPr>
        </p:nvSpPr>
        <p:spPr>
          <a:noFill/>
        </p:spPr>
        <p:txBody>
          <a:bodyPr/>
          <a:lstStyle/>
          <a:p>
            <a:fld id="{22DB3F13-A750-4919-8C9D-FDB837A777D4}" type="slidenum">
              <a:rPr lang="en-US" smtClean="0"/>
              <a:pPr/>
              <a:t>36</a:t>
            </a:fld>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n-US" baseline="0" dirty="0" smtClean="0"/>
              <a:t>Regarding the second question, which configuration to choose we consider 2 alternatives, randomly pick one, and employ a scoring technique.</a:t>
            </a:r>
          </a:p>
          <a:p>
            <a:r>
              <a:rPr lang="en-US" baseline="0" dirty="0" smtClean="0"/>
              <a:t>We maintain a vector based on performance counters that indicates which resources are under pressure and would be more beneficial to increase. Then</a:t>
            </a:r>
          </a:p>
          <a:p>
            <a:r>
              <a:rPr lang="en-US" baseline="0" dirty="0" smtClean="0"/>
              <a:t>We evaluate each configuration according to whether it increases  or decreases those resources. If it increases them we give a bonus to the configuration </a:t>
            </a:r>
          </a:p>
          <a:p>
            <a:r>
              <a:rPr lang="en-US" baseline="0" dirty="0" smtClean="0"/>
              <a:t>Score, while if it </a:t>
            </a:r>
            <a:r>
              <a:rPr lang="en-US" baseline="0" dirty="0" err="1" smtClean="0"/>
              <a:t>dereases</a:t>
            </a:r>
            <a:r>
              <a:rPr lang="en-US" baseline="0" dirty="0" smtClean="0"/>
              <a:t> them we penalize the configurations score. We choose the highest scores.</a:t>
            </a:r>
          </a:p>
          <a:p>
            <a:endParaRPr lang="en-US" baseline="0" dirty="0" smtClean="0"/>
          </a:p>
        </p:txBody>
      </p:sp>
      <p:sp>
        <p:nvSpPr>
          <p:cNvPr id="53252" name="Slide Number Placeholder 3"/>
          <p:cNvSpPr>
            <a:spLocks noGrp="1"/>
          </p:cNvSpPr>
          <p:nvPr>
            <p:ph type="sldNum" sz="quarter" idx="5"/>
          </p:nvPr>
        </p:nvSpPr>
        <p:spPr>
          <a:noFill/>
        </p:spPr>
        <p:txBody>
          <a:bodyPr/>
          <a:lstStyle/>
          <a:p>
            <a:fld id="{22DB3F13-A750-4919-8C9D-FDB837A777D4}" type="slidenum">
              <a:rPr lang="en-US" smtClean="0"/>
              <a:pPr/>
              <a:t>37</a:t>
            </a:fld>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n-US" baseline="0" dirty="0" smtClean="0"/>
              <a:t>Finally, for the last question, how to evaluate a configuration, we consider NO evaluation and sampling. None corresponds to sticking to the configuration</a:t>
            </a:r>
          </a:p>
          <a:p>
            <a:r>
              <a:rPr lang="en-US" baseline="0" dirty="0" smtClean="0"/>
              <a:t>we have chosen. The sampling policy enables us to consider several configurations, try them for a short period of time and finally choose the one with the highest </a:t>
            </a:r>
            <a:r>
              <a:rPr lang="en-US" baseline="0" dirty="0" err="1" smtClean="0"/>
              <a:t>ipc</a:t>
            </a:r>
            <a:r>
              <a:rPr lang="en-US" baseline="0" dirty="0" smtClean="0"/>
              <a:t>.</a:t>
            </a:r>
          </a:p>
          <a:p>
            <a:endParaRPr lang="en-US" dirty="0" smtClean="0"/>
          </a:p>
        </p:txBody>
      </p:sp>
      <p:sp>
        <p:nvSpPr>
          <p:cNvPr id="53252" name="Slide Number Placeholder 3"/>
          <p:cNvSpPr>
            <a:spLocks noGrp="1"/>
          </p:cNvSpPr>
          <p:nvPr>
            <p:ph type="sldNum" sz="quarter" idx="5"/>
          </p:nvPr>
        </p:nvSpPr>
        <p:spPr>
          <a:noFill/>
        </p:spPr>
        <p:txBody>
          <a:bodyPr/>
          <a:lstStyle/>
          <a:p>
            <a:fld id="{22DB3F13-A750-4919-8C9D-FDB837A777D4}" type="slidenum">
              <a:rPr lang="en-US" smtClean="0"/>
              <a:pPr/>
              <a:t>38</a:t>
            </a:fld>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r>
              <a:rPr lang="en-US" dirty="0" smtClean="0"/>
              <a:t>This three</a:t>
            </a:r>
            <a:r>
              <a:rPr lang="en-US" baseline="0" dirty="0" smtClean="0"/>
              <a:t> questions are not conflicting. Actually, we need to answer all three of them to have an adaptive policy. </a:t>
            </a:r>
          </a:p>
          <a:p>
            <a:r>
              <a:rPr lang="en-US" baseline="0" dirty="0" smtClean="0"/>
              <a:t>For instance, INTVAD_SCORE_SAMPLE will use the adaptive interval to trigger adaptations, employ the scoring evaluation to find contestants for the next </a:t>
            </a:r>
            <a:r>
              <a:rPr lang="en-US" baseline="0" dirty="0" err="1" smtClean="0"/>
              <a:t>epoque</a:t>
            </a:r>
            <a:r>
              <a:rPr lang="en-US" baseline="0" dirty="0" smtClean="0"/>
              <a:t> and finally sample the highest scoring configurations for short period of time to find the best one. </a:t>
            </a:r>
            <a:endParaRPr lang="en-US" dirty="0" smtClean="0"/>
          </a:p>
          <a:p>
            <a:endParaRPr lang="en-US" dirty="0" smtClean="0"/>
          </a:p>
        </p:txBody>
      </p:sp>
      <p:sp>
        <p:nvSpPr>
          <p:cNvPr id="53252" name="Slide Number Placeholder 3"/>
          <p:cNvSpPr>
            <a:spLocks noGrp="1"/>
          </p:cNvSpPr>
          <p:nvPr>
            <p:ph type="sldNum" sz="quarter" idx="5"/>
          </p:nvPr>
        </p:nvSpPr>
        <p:spPr>
          <a:noFill/>
        </p:spPr>
        <p:txBody>
          <a:bodyPr/>
          <a:lstStyle/>
          <a:p>
            <a:fld id="{22DB3F13-A750-4919-8C9D-FDB837A777D4}" type="slidenum">
              <a:rPr lang="en-US" smtClean="0"/>
              <a:pPr/>
              <a:t>39</a:t>
            </a:fld>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Here we have the performance of our realistic adaptive techniques. </a:t>
            </a:r>
          </a:p>
          <a:p>
            <a:r>
              <a:rPr lang="en-US" baseline="0" dirty="0" smtClean="0"/>
              <a:t>On the y axis there the speedup normalized to the BEST_STATIC policy and the on the x axis we have the benchmark groups. </a:t>
            </a:r>
          </a:p>
          <a:p>
            <a:endParaRPr lang="en-US" baseline="0" dirty="0" smtClean="0"/>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a:t>
            </a:r>
            <a:r>
              <a:rPr lang="en-US" baseline="0" dirty="0" smtClean="0"/>
              <a:t> policy INTV_RANDOM select periodically a random configuration from the </a:t>
            </a:r>
            <a:r>
              <a:rPr lang="en-US" baseline="0" dirty="0" err="1" smtClean="0"/>
              <a:t>Config</a:t>
            </a:r>
            <a:r>
              <a:rPr lang="en-US" baseline="0" dirty="0" smtClean="0"/>
              <a:t> ROM, has no notion of good or bad configuration and what</a:t>
            </a:r>
          </a:p>
          <a:p>
            <a:r>
              <a:rPr lang="en-US" baseline="0" dirty="0" smtClean="0"/>
              <a:t>is required at each point and therefore performs poorly. It’s more of an indication of how good configurations exist in the </a:t>
            </a:r>
            <a:r>
              <a:rPr lang="en-US" baseline="0" dirty="0" err="1" smtClean="0"/>
              <a:t>Config</a:t>
            </a:r>
            <a:r>
              <a:rPr lang="en-US" baseline="0" dirty="0" smtClean="0"/>
              <a:t> ROM</a:t>
            </a:r>
          </a:p>
          <a:p>
            <a:endParaRPr lang="en-US"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 addition of the Scoring Scheme improves performance and make it comparable to the BEST_STATIC. With Scoring the more educated selections</a:t>
            </a:r>
          </a:p>
          <a:p>
            <a:r>
              <a:rPr lang="en-US" baseline="0" dirty="0" smtClean="0"/>
              <a:t>of configurations take place and hence the better performance.</a:t>
            </a:r>
          </a:p>
          <a:p>
            <a:endParaRPr lang="en-US"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Finally the addition of sampling gives a big boost in performance since evaluation helps as select the best over a number of configurations.</a:t>
            </a:r>
          </a:p>
          <a:p>
            <a:r>
              <a:rPr lang="en-US" baseline="0" dirty="0" smtClean="0"/>
              <a:t>The adaptation triggering makes small difference with the adaptive interval INTVAD being slightly better.</a:t>
            </a:r>
            <a:endParaRPr lang="en-US" dirty="0" smtClean="0"/>
          </a:p>
          <a:p>
            <a:endParaRPr lang="en-US" dirty="0" smtClean="0"/>
          </a:p>
          <a:p>
            <a:r>
              <a:rPr lang="en-US" dirty="0" smtClean="0"/>
              <a:t>All the</a:t>
            </a:r>
            <a:r>
              <a:rPr lang="en-US" baseline="0" dirty="0" smtClean="0"/>
              <a:t> results so far are for the 70% budget.  Now we consider what happens for the best policy to other peak power budgets.</a:t>
            </a:r>
            <a:endParaRPr lang="en-US"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defTabSz="881390"/>
            <a:r>
              <a:rPr lang="en-US" baseline="0" dirty="0" smtClean="0"/>
              <a:t>On the y axis again we have speedup over BEST_STATIC while on the x the peak power budget. </a:t>
            </a:r>
          </a:p>
          <a:p>
            <a:pPr defTabSz="881390"/>
            <a:endParaRPr lang="en-US" baseline="0" dirty="0" smtClean="0"/>
          </a:p>
          <a:p>
            <a:pPr defTabSz="881390"/>
            <a:r>
              <a:rPr lang="en-US" baseline="0" dirty="0" smtClean="0"/>
              <a:t>In this graphs we have the best realistic policy INTVAD_SCORE_SAMPLE and we also show the same policy on a reduced set of configurations. We </a:t>
            </a:r>
          </a:p>
          <a:p>
            <a:pPr defTabSz="881390"/>
            <a:r>
              <a:rPr lang="en-US" baseline="0" dirty="0" smtClean="0"/>
              <a:t>run this experiments to explore how additional benchmarking can improve performance. Ideal adapt and the processor without peak power constraints.</a:t>
            </a:r>
          </a:p>
          <a:p>
            <a:pPr defTabSz="881390"/>
            <a:endParaRPr lang="en-US" baseline="0" dirty="0" smtClean="0"/>
          </a:p>
          <a:p>
            <a:pPr defTabSz="881390"/>
            <a:r>
              <a:rPr lang="en-US" baseline="0" dirty="0" smtClean="0"/>
              <a:t>When we relax the peak power </a:t>
            </a:r>
            <a:r>
              <a:rPr lang="en-US" baseline="0" dirty="0" err="1" smtClean="0"/>
              <a:t>constaint</a:t>
            </a:r>
            <a:r>
              <a:rPr lang="en-US" baseline="0" dirty="0" smtClean="0"/>
              <a:t> to 75% we are within 5% of the maximally configured core and when we go to 80% we are </a:t>
            </a:r>
          </a:p>
          <a:p>
            <a:pPr defTabSz="881390"/>
            <a:r>
              <a:rPr lang="en-US" baseline="0" dirty="0" smtClean="0"/>
              <a:t>Within 2.5% of the maximally configured core. So to give the big picture. We can reduce peak power by 25% give up 5% of performance or 20% and </a:t>
            </a:r>
          </a:p>
          <a:p>
            <a:pPr defTabSz="881390"/>
            <a:r>
              <a:rPr lang="en-US" baseline="0" dirty="0" smtClean="0"/>
              <a:t>give up 2.5%.</a:t>
            </a:r>
            <a:endParaRPr lang="en-US" dirty="0" smtClean="0"/>
          </a:p>
          <a:p>
            <a:endParaRPr lang="en-US" baseline="0" dirty="0" smtClean="0"/>
          </a:p>
          <a:p>
            <a:r>
              <a:rPr lang="en-US" baseline="0" dirty="0" smtClean="0"/>
              <a:t>[ Here they will probably ask why IDEAL_ADAPT is better and I will go to backup slide…]</a:t>
            </a:r>
          </a:p>
          <a:p>
            <a:r>
              <a:rPr lang="en-US" baseline="0" dirty="0" smtClean="0"/>
              <a:t>[ If someone pushes. </a:t>
            </a:r>
            <a:r>
              <a:rPr lang="en-US" baseline="0" dirty="0" err="1" smtClean="0"/>
              <a:t>Wattch</a:t>
            </a:r>
            <a:r>
              <a:rPr lang="en-US" baseline="0" dirty="0" smtClean="0"/>
              <a:t> better for relative numbers instead of absolute that’s why 70% instead of Watts.]</a:t>
            </a:r>
          </a:p>
          <a:p>
            <a:r>
              <a:rPr lang="en-US" baseline="0" dirty="0" smtClean="0"/>
              <a:t>[Why normalized against BEST STATIC and not have an average or geometric average, because each metric has it’s pros and cons. </a:t>
            </a:r>
          </a:p>
          <a:p>
            <a:r>
              <a:rPr lang="en-US" baseline="0" dirty="0" smtClean="0"/>
              <a:t>  Average stresses big values, geometric means stresses small values, BEST STATIC is a compromise]</a:t>
            </a:r>
            <a:endParaRPr lang="en-US" dirty="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So what have we gained? </a:t>
            </a:r>
          </a:p>
          <a:p>
            <a:endParaRPr lang="en-US" baseline="0" dirty="0" smtClean="0"/>
          </a:p>
          <a:p>
            <a:r>
              <a:rPr lang="en-US" baseline="0" dirty="0" smtClean="0"/>
              <a:t>To quantify the benefits of peak power reduction we use these metrics.</a:t>
            </a:r>
          </a:p>
          <a:p>
            <a:pPr marL="228600" indent="-228600">
              <a:buAutoNum type="arabicParenR"/>
            </a:pPr>
            <a:r>
              <a:rPr lang="en-US" baseline="0" dirty="0" smtClean="0"/>
              <a:t>We measure the ratio of average over peak power, the </a:t>
            </a:r>
            <a:r>
              <a:rPr lang="en-US" baseline="0" dirty="0" err="1" smtClean="0"/>
              <a:t>AP_ratio</a:t>
            </a:r>
            <a:r>
              <a:rPr lang="en-US" baseline="0" dirty="0" smtClean="0"/>
              <a:t>. </a:t>
            </a:r>
          </a:p>
          <a:p>
            <a:pPr marL="228600" marR="0" indent="-228600" algn="l" defTabSz="914400" rtl="0" eaLnBrk="0" fontAlgn="base" latinLnBrk="0" hangingPunct="0">
              <a:lnSpc>
                <a:spcPct val="100000"/>
              </a:lnSpc>
              <a:spcBef>
                <a:spcPct val="30000"/>
              </a:spcBef>
              <a:spcAft>
                <a:spcPct val="0"/>
              </a:spcAft>
              <a:buClrTx/>
              <a:buSzTx/>
              <a:buFontTx/>
              <a:buNone/>
              <a:tabLst/>
              <a:defRPr/>
            </a:pPr>
            <a:r>
              <a:rPr lang="en-US" baseline="0" dirty="0" smtClean="0"/>
              <a:t>High value of this ratio means that the average power is close to peak, we do not overprovision the on-chip power grid the power spikes will be smaller.  Therefore we can design cheaper, more efficient power supplies, on-chip PDNs.</a:t>
            </a:r>
          </a:p>
          <a:p>
            <a:pPr marL="228600" marR="0" indent="-228600" algn="l" defTabSz="914400" rtl="0" eaLnBrk="0" fontAlgn="base" latinLnBrk="0" hangingPunct="0">
              <a:lnSpc>
                <a:spcPct val="100000"/>
              </a:lnSpc>
              <a:spcBef>
                <a:spcPct val="30000"/>
              </a:spcBef>
              <a:spcAft>
                <a:spcPct val="0"/>
              </a:spcAft>
              <a:buClrTx/>
              <a:buSzTx/>
              <a:buFontTx/>
              <a:buNone/>
              <a:tabLst/>
              <a:defRPr/>
            </a:pPr>
            <a:r>
              <a:rPr lang="en-US" baseline="0" dirty="0" smtClean="0"/>
              <a:t>2) We measure the required decoupling capacitance in terms of % of the total core area</a:t>
            </a:r>
          </a:p>
          <a:p>
            <a:pPr marL="228600" marR="0" indent="-228600" algn="l" defTabSz="914400" rtl="0" eaLnBrk="0" fontAlgn="base" latinLnBrk="0" hangingPunct="0">
              <a:lnSpc>
                <a:spcPct val="100000"/>
              </a:lnSpc>
              <a:spcBef>
                <a:spcPct val="30000"/>
              </a:spcBef>
              <a:spcAft>
                <a:spcPct val="0"/>
              </a:spcAft>
              <a:buClrTx/>
              <a:buSzTx/>
              <a:buFontTx/>
              <a:buNone/>
              <a:tabLst/>
              <a:defRPr/>
            </a:pPr>
            <a:r>
              <a:rPr lang="en-US" baseline="0" dirty="0" smtClean="0"/>
              <a:t>3) We measure the voltage variation for a fixed </a:t>
            </a:r>
            <a:r>
              <a:rPr lang="en-US" baseline="0" dirty="0" err="1" smtClean="0"/>
              <a:t>decap</a:t>
            </a:r>
            <a:r>
              <a:rPr lang="en-US" baseline="0" dirty="0" smtClean="0"/>
              <a:t> budget as a percentage of </a:t>
            </a:r>
            <a:r>
              <a:rPr lang="en-US" baseline="0" dirty="0" err="1" smtClean="0"/>
              <a:t>Vdd</a:t>
            </a:r>
            <a:r>
              <a:rPr lang="en-US" baseline="0" dirty="0" smtClean="0"/>
              <a:t>.</a:t>
            </a:r>
          </a:p>
          <a:p>
            <a:pPr marL="228600" indent="-228600">
              <a:buNone/>
            </a:pPr>
            <a:endParaRPr lang="en-US" baseline="0" dirty="0" smtClean="0"/>
          </a:p>
          <a:p>
            <a:pPr marL="228600" indent="-228600">
              <a:buNone/>
            </a:pPr>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In this graph on the x axis we have the peak power constraint and on the y Watts. </a:t>
            </a:r>
          </a:p>
          <a:p>
            <a:r>
              <a:rPr lang="en-US" baseline="0" dirty="0" smtClean="0"/>
              <a:t>As we reduce peak power in this architecture. Average power goes down as well. </a:t>
            </a:r>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Even more importantly, the ratio of Ave/ peak is lowered as well. </a:t>
            </a:r>
          </a:p>
          <a:p>
            <a:pPr defTabSz="881390"/>
            <a:endParaRPr lang="en-US" baseline="0" dirty="0" smtClean="0"/>
          </a:p>
          <a:p>
            <a:r>
              <a:rPr lang="en-US" baseline="0" dirty="0" smtClean="0"/>
              <a:t>From 56% for the core without peak power constraint our architecture increases the ratio to 67% when peak power is reduced by 30%.</a:t>
            </a:r>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As it was explained thoroughly in the previous presentation, the voltage fluctuation depends among other things the magnitude of current and the frequencies </a:t>
            </a:r>
          </a:p>
          <a:p>
            <a:r>
              <a:rPr lang="en-US" baseline="0" dirty="0" smtClean="0"/>
              <a:t>the current waveform contains. By limiting the peak power we limit the maximum current that can be drawn. As a result we limit the voltage droop and </a:t>
            </a:r>
          </a:p>
          <a:p>
            <a:r>
              <a:rPr lang="en-US" baseline="0" dirty="0" smtClean="0"/>
              <a:t>we require less decoupling capacitance for a given voltage variation target.</a:t>
            </a:r>
          </a:p>
          <a:p>
            <a:endParaRPr lang="en-US"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To measure this effect we have run two related experiments. </a:t>
            </a:r>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In the first experiment we hold keep Voltage variation the same and measure the amount of required decoupling capacitance to achieve that. </a:t>
            </a:r>
          </a:p>
          <a:p>
            <a:r>
              <a:rPr lang="en-US" baseline="0" dirty="0" smtClean="0"/>
              <a:t>We present the </a:t>
            </a:r>
            <a:r>
              <a:rPr lang="en-US" baseline="0" dirty="0" err="1" smtClean="0"/>
              <a:t>decap</a:t>
            </a:r>
            <a:r>
              <a:rPr lang="en-US" baseline="0" dirty="0" smtClean="0"/>
              <a:t> in terms of % of total Core area. Considerable reduction is achieved, since the required area is reduced from 15% to 9%. </a:t>
            </a:r>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Then in the second experiment we keep the decoupling capacitance the same and see the reduction in voltage variation as we reduce peak power.</a:t>
            </a:r>
          </a:p>
          <a:p>
            <a:r>
              <a:rPr lang="en-US" baseline="0" dirty="0" smtClean="0"/>
              <a:t>Again considerable reduction in voltage variation is achieved since from 6.4 is reduced to 4.4 which is roughly 35%.</a:t>
            </a:r>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Therefore less peak power means less </a:t>
            </a:r>
            <a:r>
              <a:rPr lang="en-US" baseline="0" dirty="0" err="1" smtClean="0"/>
              <a:t>decap</a:t>
            </a:r>
            <a:r>
              <a:rPr lang="en-US" baseline="0" dirty="0" smtClean="0"/>
              <a:t> for the same voltage variation goal or smaller voltage variation levels for the same </a:t>
            </a:r>
            <a:r>
              <a:rPr lang="en-US" baseline="0" dirty="0" err="1" smtClean="0"/>
              <a:t>decap</a:t>
            </a:r>
            <a:r>
              <a:rPr lang="en-US" baseline="0" dirty="0" smtClean="0"/>
              <a:t> budget..</a:t>
            </a:r>
          </a:p>
          <a:p>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F47169D7-75AA-423E-91C9-03FE49AB3CAC}" type="slidenum">
              <a:rPr lang="en-US" smtClean="0"/>
              <a:pPr/>
              <a:t>52</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r>
              <a:rPr lang="en-US" dirty="0" smtClean="0"/>
              <a:t>To</a:t>
            </a:r>
            <a:r>
              <a:rPr lang="en-US" baseline="0" dirty="0" smtClean="0"/>
              <a:t> wrap up. Peak power is a first-class design constraint. Since it impacts power delivery and cost of power supply. </a:t>
            </a:r>
          </a:p>
          <a:p>
            <a:pPr eaLnBrk="1" hangingPunct="1"/>
            <a:r>
              <a:rPr lang="en-US" baseline="0" dirty="0" smtClean="0"/>
              <a:t>It affects on chip </a:t>
            </a:r>
            <a:r>
              <a:rPr lang="en-US" baseline="0" dirty="0" err="1" smtClean="0"/>
              <a:t>decap</a:t>
            </a:r>
            <a:r>
              <a:rPr lang="en-US" baseline="0" dirty="0" smtClean="0"/>
              <a:t> and voltage variation. </a:t>
            </a:r>
          </a:p>
          <a:p>
            <a:pPr eaLnBrk="1" hangingPunct="1"/>
            <a:r>
              <a:rPr lang="en-US" baseline="0" dirty="0" smtClean="0"/>
              <a:t>We have shown that a table driven approach can reduce peak power by 25% while giving up 2.5% performance.</a:t>
            </a:r>
          </a:p>
          <a:p>
            <a:pPr eaLnBrk="1" hangingPunct="1"/>
            <a:endParaRPr lang="en-US" baseline="0" dirty="0" smtClean="0"/>
          </a:p>
          <a:p>
            <a:pPr eaLnBrk="1" hangingPunct="1"/>
            <a:r>
              <a:rPr lang="en-US" baseline="0" dirty="0" smtClean="0"/>
              <a:t>[do simulation </a:t>
            </a:r>
            <a:r>
              <a:rPr lang="en-US" baseline="0" smtClean="0"/>
              <a:t>backup slide]</a:t>
            </a:r>
            <a:endParaRPr lang="en-US" baseline="0" dirty="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7179E55C-F348-46AF-ADAB-A3FAA8D6963A}" type="slidenum">
              <a:rPr lang="en-US" smtClean="0"/>
              <a:pPr/>
              <a:t>53</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smtClean="0"/>
              <a:t>With that I will thank you and will happily answer your questions.</a:t>
            </a:r>
          </a:p>
          <a:p>
            <a:pPr defTabSz="881390" eaLnBrk="1" hangingPunct="1">
              <a:defRPr/>
            </a:pPr>
            <a:endParaRPr lang="en-US" baseline="0"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We are designing</a:t>
            </a:r>
            <a:r>
              <a:rPr lang="en-US" baseline="0" dirty="0" smtClean="0"/>
              <a:t> core and the PDN with </a:t>
            </a:r>
            <a:r>
              <a:rPr lang="en-US" baseline="0" dirty="0" err="1" smtClean="0"/>
              <a:t>decaps</a:t>
            </a:r>
            <a:r>
              <a:rPr lang="en-US" baseline="0" dirty="0" smtClean="0"/>
              <a:t> as separate modules. </a:t>
            </a:r>
            <a:r>
              <a:rPr lang="en-US" baseline="0" dirty="0" err="1" smtClean="0"/>
              <a:t>Microarchitectural</a:t>
            </a:r>
            <a:r>
              <a:rPr lang="en-US" baseline="0" dirty="0" smtClean="0"/>
              <a:t> techniques could considerably ease the power delivery design.</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58</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543D90A-F83E-475B-9520-A09130C04B59}" type="slidenum">
              <a:rPr lang="en-US" smtClean="0"/>
              <a:pPr>
                <a:defRPr/>
              </a:pPr>
              <a:t>60</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7179E55C-F348-46AF-ADAB-A3FAA8D6963A}" type="slidenum">
              <a:rPr lang="en-US" smtClean="0"/>
              <a:pPr/>
              <a:t>61</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defTabSz="881390" eaLnBrk="1" hangingPunct="1">
              <a:defRPr/>
            </a:pPr>
            <a:endParaRPr lang="en-US" baseline="0" dirty="0" smtClean="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Master" Target="../slideMasters/slideMaster1.xml"/><Relationship Id="rId5" Type="http://schemas.openxmlformats.org/officeDocument/2006/relationships/tags" Target="../tags/tag19.xml"/><Relationship Id="rId4" Type="http://schemas.openxmlformats.org/officeDocument/2006/relationships/tags" Target="../tags/tag18.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1.xml"/><Relationship Id="rId4" Type="http://schemas.openxmlformats.org/officeDocument/2006/relationships/tags" Target="../tags/tag42.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0.xml"/><Relationship Id="rId7" Type="http://schemas.openxmlformats.org/officeDocument/2006/relationships/slideMaster" Target="../slideMasters/slideMaster1.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6.xml"/><Relationship Id="rId7" Type="http://schemas.openxmlformats.org/officeDocument/2006/relationships/slideMaster" Target="../slideMasters/slideMaster1.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custDataLst>
              <p:tags r:id="rId1"/>
            </p:custDataLst>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custDataLst>
              <p:tags r:id="rId2"/>
            </p:custDataLst>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111618" name="Rectangle 2"/>
          <p:cNvSpPr>
            <a:spLocks noGrp="1" noChangeArrowheads="1"/>
          </p:cNvSpPr>
          <p:nvPr>
            <p:ph type="ctrTitle"/>
            <p:custDataLst>
              <p:tags r:id="rId3"/>
            </p:custDataLst>
          </p:nvPr>
        </p:nvSpPr>
        <p:spPr>
          <a:xfrm>
            <a:off x="914400" y="1524000"/>
            <a:ext cx="7623175" cy="1752600"/>
          </a:xfrm>
        </p:spPr>
        <p:txBody>
          <a:bodyPr/>
          <a:lstStyle>
            <a:lvl1pPr>
              <a:defRPr sz="4000"/>
            </a:lvl1pPr>
          </a:lstStyle>
          <a:p>
            <a:r>
              <a:rPr lang="en-US" altLang="en-US" dirty="0"/>
              <a:t>Click to edit Master title style</a:t>
            </a:r>
          </a:p>
        </p:txBody>
      </p:sp>
      <p:sp>
        <p:nvSpPr>
          <p:cNvPr id="111619" name="Rectangle 3"/>
          <p:cNvSpPr>
            <a:spLocks noGrp="1" noChangeArrowheads="1"/>
          </p:cNvSpPr>
          <p:nvPr>
            <p:ph type="subTitle" idx="1"/>
            <p:custDataLst>
              <p:tags r:id="rId4"/>
            </p:custDataLst>
          </p:nvPr>
        </p:nvSpPr>
        <p:spPr>
          <a:xfrm>
            <a:off x="1981200" y="3962400"/>
            <a:ext cx="6553200" cy="1752600"/>
          </a:xfrm>
        </p:spPr>
        <p:txBody>
          <a:bodyPr/>
          <a:lstStyle>
            <a:lvl1pPr marL="0" indent="0">
              <a:buFont typeface="Wingdings" pitchFamily="2" charset="2"/>
              <a:buNone/>
              <a:defRPr sz="2800">
                <a:latin typeface="+mj-lt"/>
              </a:defRPr>
            </a:lvl1pPr>
          </a:lstStyle>
          <a:p>
            <a:r>
              <a:rPr lang="en-US" altLang="en-US" dirty="0"/>
              <a:t>Click to edit Master subtitle style</a:t>
            </a:r>
          </a:p>
        </p:txBody>
      </p:sp>
      <p:sp>
        <p:nvSpPr>
          <p:cNvPr id="6" name="Rectangle 4"/>
          <p:cNvSpPr>
            <a:spLocks noGrp="1" noChangeArrowheads="1"/>
          </p:cNvSpPr>
          <p:nvPr>
            <p:ph type="dt" sz="half" idx="10"/>
            <p:custDataLst>
              <p:tags r:id="rId5"/>
            </p:custDataLst>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custDataLst>
              <p:tags r:id="rId6"/>
            </p:custDataLst>
          </p:nvPr>
        </p:nvSpPr>
        <p:spPr>
          <a:xfrm>
            <a:off x="3124200" y="6243638"/>
            <a:ext cx="2895600" cy="457200"/>
          </a:xfrm>
        </p:spPr>
        <p:txBody>
          <a:bodyPr/>
          <a:lstStyle>
            <a:lvl1pPr>
              <a:defRPr/>
            </a:lvl1pPr>
          </a:lstStyle>
          <a:p>
            <a:pPr>
              <a:defRPr/>
            </a:pPr>
            <a:r>
              <a:rPr lang="en-US" altLang="en-US"/>
              <a:t>Micro'09: Kontorinis, Shayan, Kumar, Tullsen</a:t>
            </a:r>
          </a:p>
        </p:txBody>
      </p:sp>
      <p:sp>
        <p:nvSpPr>
          <p:cNvPr id="8" name="Rectangle 6"/>
          <p:cNvSpPr>
            <a:spLocks noGrp="1" noChangeArrowheads="1"/>
          </p:cNvSpPr>
          <p:nvPr>
            <p:ph type="sldNum" sz="quarter" idx="12"/>
            <p:custDataLst>
              <p:tags r:id="rId7"/>
            </p:custDataLst>
          </p:nvPr>
        </p:nvSpPr>
        <p:spPr/>
        <p:txBody>
          <a:bodyPr/>
          <a:lstStyle>
            <a:lvl1pPr>
              <a:defRPr/>
            </a:lvl1pPr>
          </a:lstStyle>
          <a:p>
            <a:pPr>
              <a:defRPr/>
            </a:pPr>
            <a:fld id="{002E2D83-8201-454C-9AEB-B85DDE3ABB7C}"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lvl1pPr>
              <a:defRPr sz="4000">
                <a:latin typeface="+mj-lt"/>
              </a:defRPr>
            </a:lvl1pPr>
          </a:lstStyle>
          <a:p>
            <a:r>
              <a:rPr lang="en-US" dirty="0" smtClean="0"/>
              <a:t>Click to edit Master title style</a:t>
            </a:r>
            <a:endParaRPr lang="en-US" dirty="0"/>
          </a:p>
        </p:txBody>
      </p:sp>
      <p:sp>
        <p:nvSpPr>
          <p:cNvPr id="3" name="Content Placeholder 2"/>
          <p:cNvSpPr>
            <a:spLocks noGrp="1"/>
          </p:cNvSpPr>
          <p:nvPr>
            <p:ph idx="1"/>
            <p:custDataLst>
              <p:tags r:id="rId2"/>
            </p:custDataLst>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dt" sz="half" idx="10"/>
            <p:custDataLst>
              <p:tags r:id="rId3"/>
            </p:custDataLst>
          </p:nvPr>
        </p:nvSpPr>
        <p:spPr>
          <a:xfrm>
            <a:off x="457200" y="6248400"/>
            <a:ext cx="2133600" cy="457200"/>
          </a:xfrm>
          <a:ln/>
        </p:spPr>
        <p:txBody>
          <a:bodyPr/>
          <a:lstStyle>
            <a:lvl1pPr>
              <a:defRPr/>
            </a:lvl1pPr>
          </a:lstStyle>
          <a:p>
            <a:pPr>
              <a:defRPr/>
            </a:pPr>
            <a:endParaRPr lang="en-US" altLang="en-US"/>
          </a:p>
        </p:txBody>
      </p:sp>
      <p:sp>
        <p:nvSpPr>
          <p:cNvPr id="5" name="Rectangle 5"/>
          <p:cNvSpPr>
            <a:spLocks noGrp="1" noChangeArrowheads="1"/>
          </p:cNvSpPr>
          <p:nvPr>
            <p:ph type="ftr" sz="quarter" idx="11"/>
            <p:custDataLst>
              <p:tags r:id="rId4"/>
            </p:custDataLst>
          </p:nvPr>
        </p:nvSpPr>
        <p:spPr>
          <a:ln/>
        </p:spPr>
        <p:txBody>
          <a:bodyPr/>
          <a:lstStyle>
            <a:lvl1pPr>
              <a:defRPr/>
            </a:lvl1pPr>
          </a:lstStyle>
          <a:p>
            <a:pPr>
              <a:defRPr/>
            </a:pPr>
            <a:r>
              <a:rPr lang="en-US" altLang="en-US"/>
              <a:t>Micro'09: Kontorinis, Shayan, Kumar, Tullsen</a:t>
            </a:r>
          </a:p>
        </p:txBody>
      </p:sp>
      <p:sp>
        <p:nvSpPr>
          <p:cNvPr id="6" name="Rectangle 6"/>
          <p:cNvSpPr>
            <a:spLocks noGrp="1" noChangeArrowheads="1"/>
          </p:cNvSpPr>
          <p:nvPr>
            <p:ph type="sldNum" sz="quarter" idx="12"/>
            <p:custDataLst>
              <p:tags r:id="rId5"/>
            </p:custDataLst>
          </p:nvPr>
        </p:nvSpPr>
        <p:spPr>
          <a:ln/>
        </p:spPr>
        <p:txBody>
          <a:bodyPr/>
          <a:lstStyle>
            <a:lvl1pPr>
              <a:defRPr/>
            </a:lvl1pPr>
          </a:lstStyle>
          <a:p>
            <a:pPr>
              <a:defRPr/>
            </a:pPr>
            <a:fld id="{5F62B57E-7A5D-465E-94E5-87622714F13F}"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custDataLst>
              <p:tags r:id="rId2"/>
            </p:custDataLst>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custDataLst>
              <p:tags r:id="rId3"/>
            </p:custDataLst>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custDataLst>
              <p:tags r:id="rId4"/>
            </p:custDataLst>
          </p:nvPr>
        </p:nvSpPr>
        <p:spPr>
          <a:ln/>
        </p:spPr>
        <p:txBody>
          <a:bodyPr/>
          <a:lstStyle>
            <a:lvl1pPr>
              <a:defRPr/>
            </a:lvl1pPr>
          </a:lstStyle>
          <a:p>
            <a:pPr>
              <a:defRPr/>
            </a:pPr>
            <a:r>
              <a:rPr lang="en-US" altLang="en-US"/>
              <a:t>Micro'09: Kontorinis, Shayan, Kumar, Tullsen</a:t>
            </a:r>
          </a:p>
        </p:txBody>
      </p:sp>
      <p:sp>
        <p:nvSpPr>
          <p:cNvPr id="6" name="Rectangle 6"/>
          <p:cNvSpPr>
            <a:spLocks noGrp="1" noChangeArrowheads="1"/>
          </p:cNvSpPr>
          <p:nvPr>
            <p:ph type="sldNum" sz="quarter" idx="12"/>
            <p:custDataLst>
              <p:tags r:id="rId5"/>
            </p:custDataLst>
          </p:nvPr>
        </p:nvSpPr>
        <p:spPr>
          <a:ln/>
        </p:spPr>
        <p:txBody>
          <a:bodyPr/>
          <a:lstStyle>
            <a:lvl1pPr>
              <a:defRPr/>
            </a:lvl1pPr>
          </a:lstStyle>
          <a:p>
            <a:pPr>
              <a:defRPr/>
            </a:pPr>
            <a:fld id="{D7B3EB37-CFE1-4EC1-9753-452716E34BB0}"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smtClean="0"/>
              <a:t>Click to edit Master title style</a:t>
            </a:r>
            <a:endParaRPr lang="en-US"/>
          </a:p>
        </p:txBody>
      </p:sp>
      <p:sp>
        <p:nvSpPr>
          <p:cNvPr id="3" name="Content Placeholder 2"/>
          <p:cNvSpPr>
            <a:spLocks noGrp="1"/>
          </p:cNvSpPr>
          <p:nvPr>
            <p:ph sz="half" idx="1"/>
            <p:custDataLst>
              <p:tags r:id="rId2"/>
            </p:custDataLst>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custDataLst>
              <p:tags r:id="rId3"/>
            </p:custDataLst>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custDataLst>
              <p:tags r:id="rId4"/>
            </p:custDataLst>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custDataLst>
              <p:tags r:id="rId5"/>
            </p:custDataLst>
          </p:nvPr>
        </p:nvSpPr>
        <p:spPr>
          <a:ln/>
        </p:spPr>
        <p:txBody>
          <a:bodyPr/>
          <a:lstStyle>
            <a:lvl1pPr>
              <a:defRPr/>
            </a:lvl1pPr>
          </a:lstStyle>
          <a:p>
            <a:pPr>
              <a:defRPr/>
            </a:pPr>
            <a:r>
              <a:rPr lang="en-US" altLang="en-US"/>
              <a:t>Micro'09: Kontorinis, Shayan, Kumar, Tullsen</a:t>
            </a:r>
          </a:p>
        </p:txBody>
      </p:sp>
      <p:sp>
        <p:nvSpPr>
          <p:cNvPr id="7" name="Rectangle 6"/>
          <p:cNvSpPr>
            <a:spLocks noGrp="1" noChangeArrowheads="1"/>
          </p:cNvSpPr>
          <p:nvPr>
            <p:ph type="sldNum" sz="quarter" idx="12"/>
            <p:custDataLst>
              <p:tags r:id="rId6"/>
            </p:custDataLst>
          </p:nvPr>
        </p:nvSpPr>
        <p:spPr>
          <a:ln/>
        </p:spPr>
        <p:txBody>
          <a:bodyPr/>
          <a:lstStyle>
            <a:lvl1pPr>
              <a:defRPr/>
            </a:lvl1pPr>
          </a:lstStyle>
          <a:p>
            <a:pPr>
              <a:defRPr/>
            </a:pPr>
            <a:fld id="{FA0E90AA-7608-4754-A07D-7E1EA36CE1D2}"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custDataLst>
              <p:tags r:id="rId2"/>
            </p:custDataLst>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custDataLst>
              <p:tags r:id="rId3"/>
            </p:custDataLst>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custDataLst>
              <p:tags r:id="rId4"/>
            </p:custDataLst>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custDataLst>
              <p:tags r:id="rId5"/>
            </p:custDataLst>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custDataLst>
              <p:tags r:id="rId6"/>
            </p:custDataLst>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custDataLst>
              <p:tags r:id="rId7"/>
            </p:custDataLst>
          </p:nvPr>
        </p:nvSpPr>
        <p:spPr>
          <a:ln/>
        </p:spPr>
        <p:txBody>
          <a:bodyPr/>
          <a:lstStyle>
            <a:lvl1pPr>
              <a:defRPr/>
            </a:lvl1pPr>
          </a:lstStyle>
          <a:p>
            <a:pPr>
              <a:defRPr/>
            </a:pPr>
            <a:r>
              <a:rPr lang="en-US" altLang="en-US"/>
              <a:t>Micro'09: Kontorinis, Shayan, Kumar, Tullsen</a:t>
            </a:r>
          </a:p>
        </p:txBody>
      </p:sp>
      <p:sp>
        <p:nvSpPr>
          <p:cNvPr id="9" name="Rectangle 6"/>
          <p:cNvSpPr>
            <a:spLocks noGrp="1" noChangeArrowheads="1"/>
          </p:cNvSpPr>
          <p:nvPr>
            <p:ph type="sldNum" sz="quarter" idx="12"/>
            <p:custDataLst>
              <p:tags r:id="rId8"/>
            </p:custDataLst>
          </p:nvPr>
        </p:nvSpPr>
        <p:spPr>
          <a:ln/>
        </p:spPr>
        <p:txBody>
          <a:bodyPr/>
          <a:lstStyle>
            <a:lvl1pPr>
              <a:defRPr/>
            </a:lvl1pPr>
          </a:lstStyle>
          <a:p>
            <a:pPr>
              <a:defRPr/>
            </a:pPr>
            <a:fld id="{6F7C55EA-1888-456A-BA88-E81D73E9E553}"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smtClean="0"/>
              <a:t>Click to edit Master title style</a:t>
            </a:r>
            <a:endParaRPr lang="en-US"/>
          </a:p>
        </p:txBody>
      </p:sp>
      <p:sp>
        <p:nvSpPr>
          <p:cNvPr id="3" name="Rectangle 4"/>
          <p:cNvSpPr>
            <a:spLocks noGrp="1" noChangeArrowheads="1"/>
          </p:cNvSpPr>
          <p:nvPr>
            <p:ph type="dt" sz="half" idx="10"/>
            <p:custDataLst>
              <p:tags r:id="rId2"/>
            </p:custDataLst>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custDataLst>
              <p:tags r:id="rId3"/>
            </p:custDataLst>
          </p:nvPr>
        </p:nvSpPr>
        <p:spPr>
          <a:ln/>
        </p:spPr>
        <p:txBody>
          <a:bodyPr/>
          <a:lstStyle>
            <a:lvl1pPr>
              <a:defRPr/>
            </a:lvl1pPr>
          </a:lstStyle>
          <a:p>
            <a:pPr>
              <a:defRPr/>
            </a:pPr>
            <a:r>
              <a:rPr lang="en-US" altLang="en-US"/>
              <a:t>Micro'09: Kontorinis, Shayan, Kumar, Tullsen</a:t>
            </a:r>
          </a:p>
        </p:txBody>
      </p:sp>
      <p:sp>
        <p:nvSpPr>
          <p:cNvPr id="5" name="Rectangle 6"/>
          <p:cNvSpPr>
            <a:spLocks noGrp="1" noChangeArrowheads="1"/>
          </p:cNvSpPr>
          <p:nvPr>
            <p:ph type="sldNum" sz="quarter" idx="12"/>
            <p:custDataLst>
              <p:tags r:id="rId4"/>
            </p:custDataLst>
          </p:nvPr>
        </p:nvSpPr>
        <p:spPr>
          <a:ln/>
        </p:spPr>
        <p:txBody>
          <a:bodyPr/>
          <a:lstStyle>
            <a:lvl1pPr>
              <a:defRPr/>
            </a:lvl1pPr>
          </a:lstStyle>
          <a:p>
            <a:pPr>
              <a:defRPr/>
            </a:pPr>
            <a:fld id="{3E9843D8-C151-4FA7-BCDE-5D3C7E1CD85B}"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custDataLst>
              <p:tags r:id="rId1"/>
            </p:custDataLst>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custDataLst>
              <p:tags r:id="rId2"/>
            </p:custDataLst>
          </p:nvPr>
        </p:nvSpPr>
        <p:spPr>
          <a:ln/>
        </p:spPr>
        <p:txBody>
          <a:bodyPr/>
          <a:lstStyle>
            <a:lvl1pPr>
              <a:defRPr/>
            </a:lvl1pPr>
          </a:lstStyle>
          <a:p>
            <a:pPr>
              <a:defRPr/>
            </a:pPr>
            <a:r>
              <a:rPr lang="en-US" altLang="en-US"/>
              <a:t>Micro'09: Kontorinis, Shayan, Kumar, Tullsen</a:t>
            </a:r>
          </a:p>
        </p:txBody>
      </p:sp>
      <p:sp>
        <p:nvSpPr>
          <p:cNvPr id="4" name="Rectangle 6"/>
          <p:cNvSpPr>
            <a:spLocks noGrp="1" noChangeArrowheads="1"/>
          </p:cNvSpPr>
          <p:nvPr>
            <p:ph type="sldNum" sz="quarter" idx="12"/>
            <p:custDataLst>
              <p:tags r:id="rId3"/>
            </p:custDataLst>
          </p:nvPr>
        </p:nvSpPr>
        <p:spPr>
          <a:ln/>
        </p:spPr>
        <p:txBody>
          <a:bodyPr/>
          <a:lstStyle>
            <a:lvl1pPr>
              <a:defRPr/>
            </a:lvl1pPr>
          </a:lstStyle>
          <a:p>
            <a:pPr>
              <a:defRPr/>
            </a:pPr>
            <a:fld id="{C90A28D4-261F-476E-83B8-5F53397A9D4F}"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custDataLst>
              <p:tags r:id="rId2"/>
            </p:custDataLst>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custDataLst>
              <p:tags r:id="rId3"/>
            </p:custDataLst>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custDataLst>
              <p:tags r:id="rId4"/>
            </p:custDataLst>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custDataLst>
              <p:tags r:id="rId5"/>
            </p:custDataLst>
          </p:nvPr>
        </p:nvSpPr>
        <p:spPr>
          <a:ln/>
        </p:spPr>
        <p:txBody>
          <a:bodyPr/>
          <a:lstStyle>
            <a:lvl1pPr>
              <a:defRPr/>
            </a:lvl1pPr>
          </a:lstStyle>
          <a:p>
            <a:pPr>
              <a:defRPr/>
            </a:pPr>
            <a:r>
              <a:rPr lang="en-US" altLang="en-US"/>
              <a:t>Micro'09: Kontorinis, Shayan, Kumar, Tullsen</a:t>
            </a:r>
          </a:p>
        </p:txBody>
      </p:sp>
      <p:sp>
        <p:nvSpPr>
          <p:cNvPr id="7" name="Rectangle 6"/>
          <p:cNvSpPr>
            <a:spLocks noGrp="1" noChangeArrowheads="1"/>
          </p:cNvSpPr>
          <p:nvPr>
            <p:ph type="sldNum" sz="quarter" idx="12"/>
            <p:custDataLst>
              <p:tags r:id="rId6"/>
            </p:custDataLst>
          </p:nvPr>
        </p:nvSpPr>
        <p:spPr>
          <a:ln/>
        </p:spPr>
        <p:txBody>
          <a:bodyPr/>
          <a:lstStyle>
            <a:lvl1pPr>
              <a:defRPr/>
            </a:lvl1pPr>
          </a:lstStyle>
          <a:p>
            <a:pPr>
              <a:defRPr/>
            </a:pPr>
            <a:fld id="{B0B53722-A33A-4AB3-9180-3BBD872B8771}"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custDataLst>
              <p:tags r:id="rId2"/>
            </p:custDataLst>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custDataLst>
              <p:tags r:id="rId3"/>
            </p:custDataLst>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custDataLst>
              <p:tags r:id="rId4"/>
            </p:custDataLst>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custDataLst>
              <p:tags r:id="rId5"/>
            </p:custDataLst>
          </p:nvPr>
        </p:nvSpPr>
        <p:spPr>
          <a:ln/>
        </p:spPr>
        <p:txBody>
          <a:bodyPr/>
          <a:lstStyle>
            <a:lvl1pPr>
              <a:defRPr/>
            </a:lvl1pPr>
          </a:lstStyle>
          <a:p>
            <a:pPr>
              <a:defRPr/>
            </a:pPr>
            <a:r>
              <a:rPr lang="en-US" altLang="en-US"/>
              <a:t>Micro'09: Kontorinis, Shayan, Kumar, Tullsen</a:t>
            </a:r>
          </a:p>
        </p:txBody>
      </p:sp>
      <p:sp>
        <p:nvSpPr>
          <p:cNvPr id="7" name="Rectangle 6"/>
          <p:cNvSpPr>
            <a:spLocks noGrp="1" noChangeArrowheads="1"/>
          </p:cNvSpPr>
          <p:nvPr>
            <p:ph type="sldNum" sz="quarter" idx="12"/>
            <p:custDataLst>
              <p:tags r:id="rId6"/>
            </p:custDataLst>
          </p:nvPr>
        </p:nvSpPr>
        <p:spPr>
          <a:ln/>
        </p:spPr>
        <p:txBody>
          <a:bodyPr/>
          <a:lstStyle>
            <a:lvl1pPr>
              <a:defRPr/>
            </a:lvl1pPr>
          </a:lstStyle>
          <a:p>
            <a:pPr>
              <a:defRPr/>
            </a:pPr>
            <a:fld id="{F2D7032E-A2A5-48C4-9AF0-FB2A1812680F}"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smtClean="0"/>
              <a:t>Click to edit Master title style</a:t>
            </a:r>
            <a:endParaRPr lang="en-US"/>
          </a:p>
        </p:txBody>
      </p:sp>
      <p:sp>
        <p:nvSpPr>
          <p:cNvPr id="3" name="Vertical Text Placeholder 2"/>
          <p:cNvSpPr>
            <a:spLocks noGrp="1"/>
          </p:cNvSpPr>
          <p:nvPr>
            <p:ph type="body" orient="vert" idx="1"/>
            <p:custDataLst>
              <p:tags r:id="rId2"/>
            </p:custDataLst>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custDataLst>
              <p:tags r:id="rId3"/>
            </p:custDataLst>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custDataLst>
              <p:tags r:id="rId4"/>
            </p:custDataLst>
          </p:nvPr>
        </p:nvSpPr>
        <p:spPr>
          <a:ln/>
        </p:spPr>
        <p:txBody>
          <a:bodyPr/>
          <a:lstStyle>
            <a:lvl1pPr>
              <a:defRPr/>
            </a:lvl1pPr>
          </a:lstStyle>
          <a:p>
            <a:pPr>
              <a:defRPr/>
            </a:pPr>
            <a:r>
              <a:rPr lang="en-US" altLang="en-US"/>
              <a:t>Micro'09: Kontorinis, Shayan, Kumar, Tullsen</a:t>
            </a:r>
          </a:p>
        </p:txBody>
      </p:sp>
      <p:sp>
        <p:nvSpPr>
          <p:cNvPr id="6" name="Rectangle 6"/>
          <p:cNvSpPr>
            <a:spLocks noGrp="1" noChangeArrowheads="1"/>
          </p:cNvSpPr>
          <p:nvPr>
            <p:ph type="sldNum" sz="quarter" idx="12"/>
            <p:custDataLst>
              <p:tags r:id="rId5"/>
            </p:custDataLst>
          </p:nvPr>
        </p:nvSpPr>
        <p:spPr>
          <a:ln/>
        </p:spPr>
        <p:txBody>
          <a:bodyPr/>
          <a:lstStyle>
            <a:lvl1pPr>
              <a:defRPr/>
            </a:lvl1pPr>
          </a:lstStyle>
          <a:p>
            <a:pPr>
              <a:defRPr/>
            </a:pPr>
            <a:fld id="{07FC2A49-1513-4FCD-AFCB-5395C9D07AAE}"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custDataLst>
              <p:tags r:id="rId2"/>
            </p:custDataLst>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custDataLst>
              <p:tags r:id="rId3"/>
            </p:custDataLst>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custDataLst>
              <p:tags r:id="rId4"/>
            </p:custDataLst>
          </p:nvPr>
        </p:nvSpPr>
        <p:spPr>
          <a:ln/>
        </p:spPr>
        <p:txBody>
          <a:bodyPr/>
          <a:lstStyle>
            <a:lvl1pPr>
              <a:defRPr/>
            </a:lvl1pPr>
          </a:lstStyle>
          <a:p>
            <a:pPr>
              <a:defRPr/>
            </a:pPr>
            <a:r>
              <a:rPr lang="en-US" altLang="en-US"/>
              <a:t>Micro'09: Kontorinis, Shayan, Kumar, Tullsen</a:t>
            </a:r>
          </a:p>
        </p:txBody>
      </p:sp>
      <p:sp>
        <p:nvSpPr>
          <p:cNvPr id="6" name="Rectangle 6"/>
          <p:cNvSpPr>
            <a:spLocks noGrp="1" noChangeArrowheads="1"/>
          </p:cNvSpPr>
          <p:nvPr>
            <p:ph type="sldNum" sz="quarter" idx="12"/>
            <p:custDataLst>
              <p:tags r:id="rId5"/>
            </p:custDataLst>
          </p:nvPr>
        </p:nvSpPr>
        <p:spPr>
          <a:ln/>
        </p:spPr>
        <p:txBody>
          <a:bodyPr/>
          <a:lstStyle>
            <a:lvl1pPr>
              <a:defRPr/>
            </a:lvl1pPr>
          </a:lstStyle>
          <a:p>
            <a:pPr>
              <a:defRPr/>
            </a:pPr>
            <a:fld id="{F7ECEE83-C0BE-4A62-81EE-A8768263FEBB}"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457200" y="277813"/>
            <a:ext cx="8229600" cy="1139825"/>
          </a:xfrm>
        </p:spPr>
        <p:txBody>
          <a:bodyPr/>
          <a:lstStyle/>
          <a:p>
            <a:r>
              <a:rPr lang="en-US" dirty="0" smtClean="0"/>
              <a:t>Click to edit Master title style</a:t>
            </a:r>
            <a:endParaRPr lang="en-US" dirty="0"/>
          </a:p>
        </p:txBody>
      </p:sp>
      <p:sp>
        <p:nvSpPr>
          <p:cNvPr id="3" name="Text Placeholder 2"/>
          <p:cNvSpPr>
            <a:spLocks noGrp="1"/>
          </p:cNvSpPr>
          <p:nvPr>
            <p:ph type="body" sz="half" idx="1"/>
            <p:custDataLst>
              <p:tags r:id="rId2"/>
            </p:custDataLst>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custDataLst>
              <p:tags r:id="rId3"/>
            </p:custDataLst>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custDataLst>
              <p:tags r:id="rId4"/>
            </p:custDataLst>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custDataLst>
              <p:tags r:id="rId5"/>
            </p:custDataLst>
          </p:nvPr>
        </p:nvSpPr>
        <p:spPr>
          <a:ln/>
        </p:spPr>
        <p:txBody>
          <a:bodyPr/>
          <a:lstStyle>
            <a:lvl1pPr>
              <a:defRPr/>
            </a:lvl1pPr>
          </a:lstStyle>
          <a:p>
            <a:pPr>
              <a:defRPr/>
            </a:pPr>
            <a:r>
              <a:rPr lang="en-US" altLang="en-US"/>
              <a:t>Micro'09: Kontorinis, Shayan, Kumar, Tullsen</a:t>
            </a:r>
          </a:p>
        </p:txBody>
      </p:sp>
      <p:sp>
        <p:nvSpPr>
          <p:cNvPr id="7" name="Rectangle 6"/>
          <p:cNvSpPr>
            <a:spLocks noGrp="1" noChangeArrowheads="1"/>
          </p:cNvSpPr>
          <p:nvPr>
            <p:ph type="sldNum" sz="quarter" idx="12"/>
            <p:custDataLst>
              <p:tags r:id="rId6"/>
            </p:custDataLst>
          </p:nvPr>
        </p:nvSpPr>
        <p:spPr>
          <a:ln/>
        </p:spPr>
        <p:txBody>
          <a:bodyPr/>
          <a:lstStyle>
            <a:lvl1pPr>
              <a:defRPr/>
            </a:lvl1pPr>
          </a:lstStyle>
          <a:p>
            <a:pPr>
              <a:defRPr/>
            </a:pPr>
            <a:fld id="{C439A655-FA36-44EF-95FA-7EB76AC68428}"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half" idx="1"/>
            <p:custDataLst>
              <p:tags r:id="rId2"/>
            </p:custDataLst>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custDataLst>
              <p:tags r:id="rId3"/>
            </p:custDataLst>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custDataLst>
              <p:tags r:id="rId4"/>
            </p:custDataLst>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custDataLst>
              <p:tags r:id="rId5"/>
            </p:custDataLst>
          </p:nvPr>
        </p:nvSpPr>
        <p:spPr>
          <a:ln/>
        </p:spPr>
        <p:txBody>
          <a:bodyPr/>
          <a:lstStyle>
            <a:lvl1pPr>
              <a:defRPr/>
            </a:lvl1pPr>
          </a:lstStyle>
          <a:p>
            <a:pPr>
              <a:defRPr/>
            </a:pPr>
            <a:r>
              <a:rPr lang="en-US" altLang="en-US"/>
              <a:t>Micro'09: Kontorinis, Shayan, Kumar, Tullsen</a:t>
            </a:r>
          </a:p>
        </p:txBody>
      </p:sp>
      <p:sp>
        <p:nvSpPr>
          <p:cNvPr id="7" name="Rectangle 6"/>
          <p:cNvSpPr>
            <a:spLocks noGrp="1" noChangeArrowheads="1"/>
          </p:cNvSpPr>
          <p:nvPr>
            <p:ph type="sldNum" sz="quarter" idx="12"/>
            <p:custDataLst>
              <p:tags r:id="rId6"/>
            </p:custDataLst>
          </p:nvPr>
        </p:nvSpPr>
        <p:spPr>
          <a:ln/>
        </p:spPr>
        <p:txBody>
          <a:bodyPr/>
          <a:lstStyle>
            <a:lvl1pPr>
              <a:defRPr/>
            </a:lvl1pPr>
          </a:lstStyle>
          <a:p>
            <a:pPr>
              <a:defRPr/>
            </a:pPr>
            <a:fld id="{C3EA09BA-3FEA-4733-A89D-E511FC946732}"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4.xml"/><Relationship Id="rId3" Type="http://schemas.openxmlformats.org/officeDocument/2006/relationships/slideLayout" Target="../slideLayouts/slideLayout3.xml"/><Relationship Id="rId21"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19"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custDataLst>
              <p:tags r:id="rId15"/>
            </p:custDataLst>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custDataLst>
              <p:tags r:id="rId16"/>
            </p:custDataLst>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110596" name="Rectangle 4"/>
          <p:cNvSpPr>
            <a:spLocks noGrp="1" noChangeArrowheads="1"/>
          </p:cNvSpPr>
          <p:nvPr>
            <p:ph type="dt" sz="half" idx="2"/>
            <p:custDataLst>
              <p:tags r:id="rId17"/>
            </p:custDataLst>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defRPr>
            </a:lvl1pPr>
          </a:lstStyle>
          <a:p>
            <a:pPr>
              <a:defRPr/>
            </a:pPr>
            <a:endParaRPr lang="en-US" altLang="en-US"/>
          </a:p>
        </p:txBody>
      </p:sp>
      <p:sp>
        <p:nvSpPr>
          <p:cNvPr id="110597" name="Rectangle 5"/>
          <p:cNvSpPr>
            <a:spLocks noGrp="1" noChangeArrowheads="1"/>
          </p:cNvSpPr>
          <p:nvPr>
            <p:ph type="ftr" sz="quarter" idx="3"/>
            <p:custDataLst>
              <p:tags r:id="rId18"/>
            </p:custDataLst>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defRPr>
            </a:lvl1pPr>
          </a:lstStyle>
          <a:p>
            <a:pPr>
              <a:defRPr/>
            </a:pPr>
            <a:r>
              <a:rPr lang="en-US" altLang="en-US"/>
              <a:t>Micro'09: Kontorinis, Shayan, Kumar, Tullsen</a:t>
            </a:r>
          </a:p>
        </p:txBody>
      </p:sp>
      <p:sp>
        <p:nvSpPr>
          <p:cNvPr id="110598" name="Rectangle 6"/>
          <p:cNvSpPr>
            <a:spLocks noGrp="1" noChangeArrowheads="1"/>
          </p:cNvSpPr>
          <p:nvPr>
            <p:ph type="sldNum" sz="quarter" idx="4"/>
            <p:custDataLst>
              <p:tags r:id="rId19"/>
            </p:custDataLst>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mj-lt"/>
              </a:defRPr>
            </a:lvl1pPr>
          </a:lstStyle>
          <a:p>
            <a:pPr>
              <a:defRPr/>
            </a:pPr>
            <a:fld id="{A3122204-A1F3-45BF-BC78-773E256BAAF1}" type="slidenum">
              <a:rPr lang="en-US" altLang="en-US"/>
              <a:pPr>
                <a:defRPr/>
              </a:pPr>
              <a:t>‹#›</a:t>
            </a:fld>
            <a:endParaRPr lang="en-US" altLang="en-US"/>
          </a:p>
        </p:txBody>
      </p:sp>
      <p:sp>
        <p:nvSpPr>
          <p:cNvPr id="110599" name="Freeform 7"/>
          <p:cNvSpPr>
            <a:spLocks noChangeArrowheads="1"/>
          </p:cNvSpPr>
          <p:nvPr>
            <p:custDataLst>
              <p:tags r:id="rId20"/>
            </p:custDataLst>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10600" name="Line 8"/>
          <p:cNvSpPr>
            <a:spLocks noChangeShapeType="1"/>
          </p:cNvSpPr>
          <p:nvPr>
            <p:custDataLst>
              <p:tags r:id="rId21"/>
            </p:custDataLst>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815"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timing>
    <p:tnLst>
      <p:par>
        <p:cTn id="1" dur="indefinite" restart="never" nodeType="tmRoot"/>
      </p:par>
    </p:tnLst>
  </p:timing>
  <p:hf hdr="0" dt="0"/>
  <p:txStyles>
    <p:titleStyle>
      <a:lvl1pPr algn="l" rtl="0" eaLnBrk="0" fontAlgn="base" hangingPunct="0">
        <a:spcBef>
          <a:spcPct val="0"/>
        </a:spcBef>
        <a:spcAft>
          <a:spcPct val="0"/>
        </a:spcAft>
        <a:defRPr sz="4000" baseline="0">
          <a:solidFill>
            <a:schemeClr val="tx2"/>
          </a:solidFill>
          <a:latin typeface="Garamond" pitchFamily="18" charset="0"/>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800" baseline="0">
          <a:solidFill>
            <a:schemeClr val="tx1"/>
          </a:solidFill>
          <a:latin typeface="Garamond" pitchFamily="18" charset="0"/>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400" baseline="0">
          <a:solidFill>
            <a:schemeClr val="tx1"/>
          </a:solidFill>
          <a:latin typeface="Garamond" pitchFamily="18"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000" baseline="0">
          <a:solidFill>
            <a:schemeClr val="tx1"/>
          </a:solidFill>
          <a:latin typeface="Garamond" pitchFamily="18"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1800" baseline="0">
          <a:solidFill>
            <a:schemeClr val="tx1"/>
          </a:solidFill>
          <a:latin typeface="Garamond" pitchFamily="18"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800" baseline="0">
          <a:solidFill>
            <a:schemeClr val="tx1"/>
          </a:solidFill>
          <a:latin typeface="Garamond" pitchFamily="18" charset="0"/>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82.xml"/><Relationship Id="rId7" Type="http://schemas.openxmlformats.org/officeDocument/2006/relationships/image" Target="../media/image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83.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gif"/><Relationship Id="rId3" Type="http://schemas.openxmlformats.org/officeDocument/2006/relationships/tags" Target="../tags/tag86.xml"/><Relationship Id="rId7" Type="http://schemas.openxmlformats.org/officeDocument/2006/relationships/notesSlide" Target="../notesSlides/notesSlide2.xml"/><Relationship Id="rId12" Type="http://schemas.openxmlformats.org/officeDocument/2006/relationships/image" Target="../media/image7.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slideLayout" Target="../slideLayouts/slideLayout2.xml"/><Relationship Id="rId11" Type="http://schemas.openxmlformats.org/officeDocument/2006/relationships/image" Target="../media/image6.png"/><Relationship Id="rId5" Type="http://schemas.openxmlformats.org/officeDocument/2006/relationships/tags" Target="../tags/tag88.xml"/><Relationship Id="rId10" Type="http://schemas.openxmlformats.org/officeDocument/2006/relationships/image" Target="../media/image5.png"/><Relationship Id="rId4" Type="http://schemas.openxmlformats.org/officeDocument/2006/relationships/tags" Target="../tags/tag87.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91.xml"/><Relationship Id="rId7"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image" Target="../media/image8.gif"/><Relationship Id="rId5" Type="http://schemas.openxmlformats.org/officeDocument/2006/relationships/tags" Target="../tags/tag93.xml"/><Relationship Id="rId10" Type="http://schemas.openxmlformats.org/officeDocument/2006/relationships/image" Target="../media/image6.png"/><Relationship Id="rId4" Type="http://schemas.openxmlformats.org/officeDocument/2006/relationships/tags" Target="../tags/tag92.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97.xml"/><Relationship Id="rId7"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image" Target="../media/image7.png"/><Relationship Id="rId5" Type="http://schemas.openxmlformats.org/officeDocument/2006/relationships/tags" Target="../tags/tag99.xml"/><Relationship Id="rId10" Type="http://schemas.openxmlformats.org/officeDocument/2006/relationships/image" Target="../media/image9.jpeg"/><Relationship Id="rId4" Type="http://schemas.openxmlformats.org/officeDocument/2006/relationships/tags" Target="../tags/tag98.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5" Type="http://schemas.openxmlformats.org/officeDocument/2006/relationships/tags" Target="../tags/tag105.xml"/><Relationship Id="rId10" Type="http://schemas.openxmlformats.org/officeDocument/2006/relationships/image" Target="../media/image10.png"/><Relationship Id="rId4" Type="http://schemas.openxmlformats.org/officeDocument/2006/relationships/tags" Target="../tags/tag104.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image" Target="../media/image10.png"/><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notesSlide" Target="../notesSlides/notesSlide6.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slideLayout" Target="../slideLayouts/slideLayout2.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s>
</file>

<file path=ppt/slides/_rels/slide7.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slideLayout" Target="../slideLayouts/slideLayout2.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image" Target="../media/image10.png"/><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tags" Target="../tags/tag137.xml"/><Relationship Id="rId13" Type="http://schemas.openxmlformats.org/officeDocument/2006/relationships/tags" Target="../tags/tag142.xml"/><Relationship Id="rId3" Type="http://schemas.openxmlformats.org/officeDocument/2006/relationships/tags" Target="../tags/tag132.xml"/><Relationship Id="rId7" Type="http://schemas.openxmlformats.org/officeDocument/2006/relationships/tags" Target="../tags/tag136.xml"/><Relationship Id="rId12" Type="http://schemas.openxmlformats.org/officeDocument/2006/relationships/tags" Target="../tags/tag141.xml"/><Relationship Id="rId17" Type="http://schemas.openxmlformats.org/officeDocument/2006/relationships/image" Target="../media/image10.png"/><Relationship Id="rId2" Type="http://schemas.openxmlformats.org/officeDocument/2006/relationships/tags" Target="../tags/tag131.xml"/><Relationship Id="rId16" Type="http://schemas.openxmlformats.org/officeDocument/2006/relationships/notesSlide" Target="../notesSlides/notesSlide8.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tags" Target="../tags/tag140.xml"/><Relationship Id="rId5" Type="http://schemas.openxmlformats.org/officeDocument/2006/relationships/tags" Target="../tags/tag134.xml"/><Relationship Id="rId15" Type="http://schemas.openxmlformats.org/officeDocument/2006/relationships/slideLayout" Target="../slideLayouts/slideLayout2.xml"/><Relationship Id="rId10" Type="http://schemas.openxmlformats.org/officeDocument/2006/relationships/tags" Target="../tags/tag139.xml"/><Relationship Id="rId4" Type="http://schemas.openxmlformats.org/officeDocument/2006/relationships/tags" Target="../tags/tag133.xml"/><Relationship Id="rId9" Type="http://schemas.openxmlformats.org/officeDocument/2006/relationships/tags" Target="../tags/tag138.xml"/><Relationship Id="rId14" Type="http://schemas.openxmlformats.org/officeDocument/2006/relationships/tags" Target="../tags/tag143.xml"/></Relationships>
</file>

<file path=ppt/slides/_rels/slide9.xml.rels><?xml version="1.0" encoding="UTF-8" standalone="yes"?>
<Relationships xmlns="http://schemas.openxmlformats.org/package/2006/relationships"><Relationship Id="rId3" Type="http://schemas.openxmlformats.org/officeDocument/2006/relationships/tags" Target="../tags/tag146.xml"/><Relationship Id="rId7" Type="http://schemas.openxmlformats.org/officeDocument/2006/relationships/notesSlide" Target="../notesSlides/notesSlide9.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slideLayout" Target="../slideLayouts/slideLayout2.xml"/><Relationship Id="rId5" Type="http://schemas.openxmlformats.org/officeDocument/2006/relationships/tags" Target="../tags/tag148.xml"/><Relationship Id="rId4" Type="http://schemas.openxmlformats.org/officeDocument/2006/relationships/tags" Target="../tags/tag147.xml"/></Relationships>
</file>

<file path=ppt/slides/_rels/slide10.xml.rels><?xml version="1.0" encoding="UTF-8" standalone="yes"?>
<Relationships xmlns="http://schemas.openxmlformats.org/package/2006/relationships"><Relationship Id="rId8" Type="http://schemas.openxmlformats.org/officeDocument/2006/relationships/tags" Target="../tags/tag156.xml"/><Relationship Id="rId13" Type="http://schemas.openxmlformats.org/officeDocument/2006/relationships/chart" Target="../charts/chart1.xml"/><Relationship Id="rId3" Type="http://schemas.openxmlformats.org/officeDocument/2006/relationships/tags" Target="../tags/tag151.xml"/><Relationship Id="rId7" Type="http://schemas.openxmlformats.org/officeDocument/2006/relationships/tags" Target="../tags/tag155.xml"/><Relationship Id="rId12" Type="http://schemas.openxmlformats.org/officeDocument/2006/relationships/notesSlide" Target="../notesSlides/notesSlide10.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slideLayout" Target="../slideLayouts/slideLayout12.xml"/><Relationship Id="rId5" Type="http://schemas.openxmlformats.org/officeDocument/2006/relationships/tags" Target="../tags/tag153.xml"/><Relationship Id="rId10" Type="http://schemas.openxmlformats.org/officeDocument/2006/relationships/tags" Target="../tags/tag158.xml"/><Relationship Id="rId4" Type="http://schemas.openxmlformats.org/officeDocument/2006/relationships/tags" Target="../tags/tag152.xml"/><Relationship Id="rId9" Type="http://schemas.openxmlformats.org/officeDocument/2006/relationships/tags" Target="../tags/tag157.xml"/></Relationships>
</file>

<file path=ppt/slides/_rels/slide11.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notesSlide" Target="../notesSlides/notesSlide1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slideLayout" Target="../slideLayouts/slideLayout12.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chart" Target="../charts/chart2.xml"/></Relationships>
</file>

<file path=ppt/slides/_rels/slide12.xml.rels><?xml version="1.0" encoding="UTF-8" standalone="yes"?>
<Relationships xmlns="http://schemas.openxmlformats.org/package/2006/relationships"><Relationship Id="rId8" Type="http://schemas.openxmlformats.org/officeDocument/2006/relationships/tags" Target="../tags/tag177.xml"/><Relationship Id="rId13" Type="http://schemas.openxmlformats.org/officeDocument/2006/relationships/notesSlide" Target="../notesSlides/notesSlide12.xml"/><Relationship Id="rId3" Type="http://schemas.openxmlformats.org/officeDocument/2006/relationships/tags" Target="../tags/tag172.xml"/><Relationship Id="rId7" Type="http://schemas.openxmlformats.org/officeDocument/2006/relationships/tags" Target="../tags/tag176.xml"/><Relationship Id="rId12" Type="http://schemas.openxmlformats.org/officeDocument/2006/relationships/slideLayout" Target="../slideLayouts/slideLayout12.xml"/><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tags" Target="../tags/tag180.xml"/><Relationship Id="rId5" Type="http://schemas.openxmlformats.org/officeDocument/2006/relationships/tags" Target="../tags/tag174.xml"/><Relationship Id="rId10" Type="http://schemas.openxmlformats.org/officeDocument/2006/relationships/tags" Target="../tags/tag179.xml"/><Relationship Id="rId4" Type="http://schemas.openxmlformats.org/officeDocument/2006/relationships/tags" Target="../tags/tag173.xml"/><Relationship Id="rId9" Type="http://schemas.openxmlformats.org/officeDocument/2006/relationships/tags" Target="../tags/tag178.xml"/><Relationship Id="rId14" Type="http://schemas.openxmlformats.org/officeDocument/2006/relationships/chart" Target="../charts/chart3.xml"/></Relationships>
</file>

<file path=ppt/slides/_rels/slide13.xml.rels><?xml version="1.0" encoding="UTF-8" standalone="yes"?>
<Relationships xmlns="http://schemas.openxmlformats.org/package/2006/relationships"><Relationship Id="rId8" Type="http://schemas.openxmlformats.org/officeDocument/2006/relationships/tags" Target="../tags/tag188.xml"/><Relationship Id="rId13" Type="http://schemas.openxmlformats.org/officeDocument/2006/relationships/notesSlide" Target="../notesSlides/notesSlide13.xml"/><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slideLayout" Target="../slideLayouts/slideLayout12.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tags" Target="../tags/tag191.xml"/><Relationship Id="rId5" Type="http://schemas.openxmlformats.org/officeDocument/2006/relationships/tags" Target="../tags/tag185.xml"/><Relationship Id="rId10" Type="http://schemas.openxmlformats.org/officeDocument/2006/relationships/tags" Target="../tags/tag190.xml"/><Relationship Id="rId4" Type="http://schemas.openxmlformats.org/officeDocument/2006/relationships/tags" Target="../tags/tag184.xml"/><Relationship Id="rId9" Type="http://schemas.openxmlformats.org/officeDocument/2006/relationships/tags" Target="../tags/tag189.xml"/><Relationship Id="rId14" Type="http://schemas.openxmlformats.org/officeDocument/2006/relationships/chart" Target="../charts/chart4.xml"/></Relationships>
</file>

<file path=ppt/slides/_rels/slide14.xml.rels><?xml version="1.0" encoding="UTF-8" standalone="yes"?>
<Relationships xmlns="http://schemas.openxmlformats.org/package/2006/relationships"><Relationship Id="rId8" Type="http://schemas.openxmlformats.org/officeDocument/2006/relationships/tags" Target="../tags/tag199.xml"/><Relationship Id="rId3" Type="http://schemas.openxmlformats.org/officeDocument/2006/relationships/tags" Target="../tags/tag194.xml"/><Relationship Id="rId7" Type="http://schemas.openxmlformats.org/officeDocument/2006/relationships/tags" Target="../tags/tag198.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11" Type="http://schemas.openxmlformats.org/officeDocument/2006/relationships/chart" Target="../charts/chart5.xml"/><Relationship Id="rId5" Type="http://schemas.openxmlformats.org/officeDocument/2006/relationships/tags" Target="../tags/tag196.xml"/><Relationship Id="rId10" Type="http://schemas.openxmlformats.org/officeDocument/2006/relationships/notesSlide" Target="../notesSlides/notesSlide14.xml"/><Relationship Id="rId4" Type="http://schemas.openxmlformats.org/officeDocument/2006/relationships/tags" Target="../tags/tag195.xml"/><Relationship Id="rId9"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tags" Target="../tags/tag202.xml"/><Relationship Id="rId7" Type="http://schemas.openxmlformats.org/officeDocument/2006/relationships/notesSlide" Target="../notesSlides/notesSlide15.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slideLayout" Target="../slideLayouts/slideLayout2.xml"/><Relationship Id="rId5" Type="http://schemas.openxmlformats.org/officeDocument/2006/relationships/tags" Target="../tags/tag204.xml"/><Relationship Id="rId4" Type="http://schemas.openxmlformats.org/officeDocument/2006/relationships/tags" Target="../tags/tag203.xml"/></Relationships>
</file>

<file path=ppt/slides/_rels/slide16.xml.rels><?xml version="1.0" encoding="UTF-8" standalone="yes"?>
<Relationships xmlns="http://schemas.openxmlformats.org/package/2006/relationships"><Relationship Id="rId3" Type="http://schemas.openxmlformats.org/officeDocument/2006/relationships/tags" Target="../tags/tag207.xml"/><Relationship Id="rId7" Type="http://schemas.openxmlformats.org/officeDocument/2006/relationships/notesSlide" Target="../notesSlides/notesSlide16.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slideLayout" Target="../slideLayouts/slideLayout2.xml"/><Relationship Id="rId5" Type="http://schemas.openxmlformats.org/officeDocument/2006/relationships/tags" Target="../tags/tag209.xml"/><Relationship Id="rId4" Type="http://schemas.openxmlformats.org/officeDocument/2006/relationships/tags" Target="../tags/tag208.xm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12.xml"/><Relationship Id="rId7" Type="http://schemas.openxmlformats.org/officeDocument/2006/relationships/notesSlide" Target="../notesSlides/notesSlide17.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slideLayout" Target="../slideLayouts/slideLayout12.xml"/><Relationship Id="rId5" Type="http://schemas.openxmlformats.org/officeDocument/2006/relationships/tags" Target="../tags/tag214.xml"/><Relationship Id="rId4" Type="http://schemas.openxmlformats.org/officeDocument/2006/relationships/tags" Target="../tags/tag213.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openxmlformats.org/officeDocument/2006/relationships/tags" Target="../tags/tag217.xml"/><Relationship Id="rId7" Type="http://schemas.openxmlformats.org/officeDocument/2006/relationships/slideLayout" Target="../slideLayouts/slideLayout12.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10" Type="http://schemas.openxmlformats.org/officeDocument/2006/relationships/image" Target="../media/image13.png"/><Relationship Id="rId4" Type="http://schemas.openxmlformats.org/officeDocument/2006/relationships/tags" Target="../tags/tag218.xml"/><Relationship Id="rId9" Type="http://schemas.openxmlformats.org/officeDocument/2006/relationships/image" Target="../media/image12.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3" Type="http://schemas.openxmlformats.org/officeDocument/2006/relationships/tags" Target="../tags/tag223.xml"/><Relationship Id="rId7" Type="http://schemas.openxmlformats.org/officeDocument/2006/relationships/slideLayout" Target="../slideLayouts/slideLayout12.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5" Type="http://schemas.openxmlformats.org/officeDocument/2006/relationships/tags" Target="../tags/tag225.xml"/><Relationship Id="rId10" Type="http://schemas.openxmlformats.org/officeDocument/2006/relationships/image" Target="../media/image13.png"/><Relationship Id="rId4" Type="http://schemas.openxmlformats.org/officeDocument/2006/relationships/tags" Target="../tags/tag224.xml"/><Relationship Id="rId9"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tags" Target="../tags/tag234.xml"/><Relationship Id="rId13" Type="http://schemas.openxmlformats.org/officeDocument/2006/relationships/image" Target="../media/image14.png"/><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notesSlide" Target="../notesSlides/notesSlide20.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slideLayout" Target="../slideLayouts/slideLayout12.xml"/><Relationship Id="rId5" Type="http://schemas.openxmlformats.org/officeDocument/2006/relationships/tags" Target="../tags/tag231.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 Id="rId1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tags" Target="../tags/tag239.xml"/><Relationship Id="rId7" Type="http://schemas.openxmlformats.org/officeDocument/2006/relationships/notesSlide" Target="../notesSlides/notesSlide21.xml"/><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slideLayout" Target="../slideLayouts/slideLayout12.xml"/><Relationship Id="rId5" Type="http://schemas.openxmlformats.org/officeDocument/2006/relationships/tags" Target="../tags/tag241.xml"/><Relationship Id="rId4" Type="http://schemas.openxmlformats.org/officeDocument/2006/relationships/tags" Target="../tags/tag240.xml"/></Relationships>
</file>

<file path=ppt/slides/_rels/slide22.xml.rels><?xml version="1.0" encoding="UTF-8" standalone="yes"?>
<Relationships xmlns="http://schemas.openxmlformats.org/package/2006/relationships"><Relationship Id="rId3" Type="http://schemas.openxmlformats.org/officeDocument/2006/relationships/tags" Target="../tags/tag244.xml"/><Relationship Id="rId7" Type="http://schemas.openxmlformats.org/officeDocument/2006/relationships/notesSlide" Target="../notesSlides/notesSlide22.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slideLayout" Target="../slideLayouts/slideLayout12.xml"/><Relationship Id="rId5" Type="http://schemas.openxmlformats.org/officeDocument/2006/relationships/tags" Target="../tags/tag246.xml"/><Relationship Id="rId4" Type="http://schemas.openxmlformats.org/officeDocument/2006/relationships/tags" Target="../tags/tag245.xml"/></Relationships>
</file>

<file path=ppt/slides/_rels/slide23.xml.rels><?xml version="1.0" encoding="UTF-8" standalone="yes"?>
<Relationships xmlns="http://schemas.openxmlformats.org/package/2006/relationships"><Relationship Id="rId8" Type="http://schemas.openxmlformats.org/officeDocument/2006/relationships/tags" Target="../tags/tag254.xml"/><Relationship Id="rId13" Type="http://schemas.openxmlformats.org/officeDocument/2006/relationships/image" Target="../media/image15.png"/><Relationship Id="rId3" Type="http://schemas.openxmlformats.org/officeDocument/2006/relationships/tags" Target="../tags/tag249.xml"/><Relationship Id="rId7" Type="http://schemas.openxmlformats.org/officeDocument/2006/relationships/tags" Target="../tags/tag253.xml"/><Relationship Id="rId12" Type="http://schemas.openxmlformats.org/officeDocument/2006/relationships/notesSlide" Target="../notesSlides/notesSlide23.xml"/><Relationship Id="rId2" Type="http://schemas.openxmlformats.org/officeDocument/2006/relationships/tags" Target="../tags/tag248.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slideLayout" Target="../slideLayouts/slideLayout12.xml"/><Relationship Id="rId5" Type="http://schemas.openxmlformats.org/officeDocument/2006/relationships/tags" Target="../tags/tag251.xml"/><Relationship Id="rId15" Type="http://schemas.openxmlformats.org/officeDocument/2006/relationships/image" Target="../media/image13.png"/><Relationship Id="rId10" Type="http://schemas.openxmlformats.org/officeDocument/2006/relationships/tags" Target="../tags/tag256.xml"/><Relationship Id="rId4" Type="http://schemas.openxmlformats.org/officeDocument/2006/relationships/tags" Target="../tags/tag250.xml"/><Relationship Id="rId9" Type="http://schemas.openxmlformats.org/officeDocument/2006/relationships/tags" Target="../tags/tag255.xml"/><Relationship Id="rId14" Type="http://schemas.openxmlformats.org/officeDocument/2006/relationships/image" Target="../media/image16.png"/></Relationships>
</file>

<file path=ppt/slides/_rels/slide24.xml.rels><?xml version="1.0" encoding="UTF-8" standalone="yes"?>
<Relationships xmlns="http://schemas.openxmlformats.org/package/2006/relationships"><Relationship Id="rId8" Type="http://schemas.openxmlformats.org/officeDocument/2006/relationships/tags" Target="../tags/tag264.xml"/><Relationship Id="rId13" Type="http://schemas.openxmlformats.org/officeDocument/2006/relationships/image" Target="../media/image15.png"/><Relationship Id="rId3" Type="http://schemas.openxmlformats.org/officeDocument/2006/relationships/tags" Target="../tags/tag259.xml"/><Relationship Id="rId7" Type="http://schemas.openxmlformats.org/officeDocument/2006/relationships/tags" Target="../tags/tag263.xml"/><Relationship Id="rId12" Type="http://schemas.openxmlformats.org/officeDocument/2006/relationships/notesSlide" Target="../notesSlides/notesSlide24.xml"/><Relationship Id="rId2" Type="http://schemas.openxmlformats.org/officeDocument/2006/relationships/tags" Target="../tags/tag258.xml"/><Relationship Id="rId16" Type="http://schemas.openxmlformats.org/officeDocument/2006/relationships/image" Target="../media/image17.png"/><Relationship Id="rId1" Type="http://schemas.openxmlformats.org/officeDocument/2006/relationships/tags" Target="../tags/tag257.xml"/><Relationship Id="rId6" Type="http://schemas.openxmlformats.org/officeDocument/2006/relationships/tags" Target="../tags/tag262.xml"/><Relationship Id="rId11" Type="http://schemas.openxmlformats.org/officeDocument/2006/relationships/slideLayout" Target="../slideLayouts/slideLayout12.xml"/><Relationship Id="rId5" Type="http://schemas.openxmlformats.org/officeDocument/2006/relationships/tags" Target="../tags/tag261.xml"/><Relationship Id="rId15" Type="http://schemas.openxmlformats.org/officeDocument/2006/relationships/image" Target="../media/image13.png"/><Relationship Id="rId10" Type="http://schemas.openxmlformats.org/officeDocument/2006/relationships/tags" Target="../tags/tag266.xml"/><Relationship Id="rId4" Type="http://schemas.openxmlformats.org/officeDocument/2006/relationships/tags" Target="../tags/tag260.xml"/><Relationship Id="rId9" Type="http://schemas.openxmlformats.org/officeDocument/2006/relationships/tags" Target="../tags/tag265.xml"/><Relationship Id="rId14" Type="http://schemas.openxmlformats.org/officeDocument/2006/relationships/image" Target="../media/image16.png"/></Relationships>
</file>

<file path=ppt/slides/_rels/slide25.xml.rels><?xml version="1.0" encoding="UTF-8" standalone="yes"?>
<Relationships xmlns="http://schemas.openxmlformats.org/package/2006/relationships"><Relationship Id="rId8" Type="http://schemas.openxmlformats.org/officeDocument/2006/relationships/tags" Target="../tags/tag274.xml"/><Relationship Id="rId13" Type="http://schemas.openxmlformats.org/officeDocument/2006/relationships/slideLayout" Target="../slideLayouts/slideLayout12.xml"/><Relationship Id="rId18" Type="http://schemas.openxmlformats.org/officeDocument/2006/relationships/image" Target="../media/image17.png"/><Relationship Id="rId3" Type="http://schemas.openxmlformats.org/officeDocument/2006/relationships/tags" Target="../tags/tag269.xml"/><Relationship Id="rId7" Type="http://schemas.openxmlformats.org/officeDocument/2006/relationships/tags" Target="../tags/tag273.xml"/><Relationship Id="rId12" Type="http://schemas.openxmlformats.org/officeDocument/2006/relationships/tags" Target="../tags/tag278.xml"/><Relationship Id="rId17" Type="http://schemas.openxmlformats.org/officeDocument/2006/relationships/image" Target="../media/image13.png"/><Relationship Id="rId2" Type="http://schemas.openxmlformats.org/officeDocument/2006/relationships/tags" Target="../tags/tag268.xml"/><Relationship Id="rId16" Type="http://schemas.openxmlformats.org/officeDocument/2006/relationships/image" Target="../media/image16.png"/><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5" Type="http://schemas.openxmlformats.org/officeDocument/2006/relationships/tags" Target="../tags/tag271.xml"/><Relationship Id="rId15" Type="http://schemas.openxmlformats.org/officeDocument/2006/relationships/image" Target="../media/image15.png"/><Relationship Id="rId10" Type="http://schemas.openxmlformats.org/officeDocument/2006/relationships/tags" Target="../tags/tag276.xml"/><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tags" Target="../tags/tag286.xml"/><Relationship Id="rId13" Type="http://schemas.openxmlformats.org/officeDocument/2006/relationships/tags" Target="../tags/tag291.xml"/><Relationship Id="rId18" Type="http://schemas.openxmlformats.org/officeDocument/2006/relationships/tags" Target="../tags/tag296.xml"/><Relationship Id="rId26" Type="http://schemas.openxmlformats.org/officeDocument/2006/relationships/image" Target="../media/image17.png"/><Relationship Id="rId3" Type="http://schemas.openxmlformats.org/officeDocument/2006/relationships/tags" Target="../tags/tag281.xml"/><Relationship Id="rId21" Type="http://schemas.openxmlformats.org/officeDocument/2006/relationships/slideLayout" Target="../slideLayouts/slideLayout12.xml"/><Relationship Id="rId7" Type="http://schemas.openxmlformats.org/officeDocument/2006/relationships/tags" Target="../tags/tag285.xml"/><Relationship Id="rId12" Type="http://schemas.openxmlformats.org/officeDocument/2006/relationships/tags" Target="../tags/tag290.xml"/><Relationship Id="rId17" Type="http://schemas.openxmlformats.org/officeDocument/2006/relationships/tags" Target="../tags/tag295.xml"/><Relationship Id="rId25" Type="http://schemas.openxmlformats.org/officeDocument/2006/relationships/image" Target="../media/image13.png"/><Relationship Id="rId2" Type="http://schemas.openxmlformats.org/officeDocument/2006/relationships/tags" Target="../tags/tag280.xml"/><Relationship Id="rId16" Type="http://schemas.openxmlformats.org/officeDocument/2006/relationships/tags" Target="../tags/tag294.xml"/><Relationship Id="rId20" Type="http://schemas.openxmlformats.org/officeDocument/2006/relationships/tags" Target="../tags/tag298.xml"/><Relationship Id="rId1" Type="http://schemas.openxmlformats.org/officeDocument/2006/relationships/tags" Target="../tags/tag279.xml"/><Relationship Id="rId6" Type="http://schemas.openxmlformats.org/officeDocument/2006/relationships/tags" Target="../tags/tag284.xml"/><Relationship Id="rId11" Type="http://schemas.openxmlformats.org/officeDocument/2006/relationships/tags" Target="../tags/tag289.xml"/><Relationship Id="rId24" Type="http://schemas.openxmlformats.org/officeDocument/2006/relationships/image" Target="../media/image16.png"/><Relationship Id="rId5" Type="http://schemas.openxmlformats.org/officeDocument/2006/relationships/tags" Target="../tags/tag283.xml"/><Relationship Id="rId15" Type="http://schemas.openxmlformats.org/officeDocument/2006/relationships/tags" Target="../tags/tag293.xml"/><Relationship Id="rId23" Type="http://schemas.openxmlformats.org/officeDocument/2006/relationships/image" Target="../media/image15.png"/><Relationship Id="rId10" Type="http://schemas.openxmlformats.org/officeDocument/2006/relationships/tags" Target="../tags/tag288.xml"/><Relationship Id="rId19" Type="http://schemas.openxmlformats.org/officeDocument/2006/relationships/tags" Target="../tags/tag297.xml"/><Relationship Id="rId4" Type="http://schemas.openxmlformats.org/officeDocument/2006/relationships/tags" Target="../tags/tag282.xml"/><Relationship Id="rId9" Type="http://schemas.openxmlformats.org/officeDocument/2006/relationships/tags" Target="../tags/tag287.xml"/><Relationship Id="rId14" Type="http://schemas.openxmlformats.org/officeDocument/2006/relationships/tags" Target="../tags/tag292.xml"/><Relationship Id="rId2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8" Type="http://schemas.openxmlformats.org/officeDocument/2006/relationships/tags" Target="../tags/tag306.xml"/><Relationship Id="rId13" Type="http://schemas.openxmlformats.org/officeDocument/2006/relationships/tags" Target="../tags/tag311.xml"/><Relationship Id="rId18" Type="http://schemas.openxmlformats.org/officeDocument/2006/relationships/image" Target="../media/image15.png"/><Relationship Id="rId3" Type="http://schemas.openxmlformats.org/officeDocument/2006/relationships/tags" Target="../tags/tag301.xml"/><Relationship Id="rId21" Type="http://schemas.openxmlformats.org/officeDocument/2006/relationships/image" Target="../media/image13.png"/><Relationship Id="rId7" Type="http://schemas.openxmlformats.org/officeDocument/2006/relationships/tags" Target="../tags/tag305.xml"/><Relationship Id="rId12" Type="http://schemas.openxmlformats.org/officeDocument/2006/relationships/tags" Target="../tags/tag310.xml"/><Relationship Id="rId17" Type="http://schemas.openxmlformats.org/officeDocument/2006/relationships/notesSlide" Target="../notesSlides/notesSlide27.xml"/><Relationship Id="rId2" Type="http://schemas.openxmlformats.org/officeDocument/2006/relationships/tags" Target="../tags/tag300.xml"/><Relationship Id="rId16" Type="http://schemas.openxmlformats.org/officeDocument/2006/relationships/slideLayout" Target="../slideLayouts/slideLayout12.xml"/><Relationship Id="rId20" Type="http://schemas.openxmlformats.org/officeDocument/2006/relationships/image" Target="../media/image16.png"/><Relationship Id="rId1" Type="http://schemas.openxmlformats.org/officeDocument/2006/relationships/tags" Target="../tags/tag299.xml"/><Relationship Id="rId6" Type="http://schemas.openxmlformats.org/officeDocument/2006/relationships/tags" Target="../tags/tag304.xml"/><Relationship Id="rId11" Type="http://schemas.openxmlformats.org/officeDocument/2006/relationships/tags" Target="../tags/tag309.xml"/><Relationship Id="rId5" Type="http://schemas.openxmlformats.org/officeDocument/2006/relationships/tags" Target="../tags/tag303.xml"/><Relationship Id="rId15" Type="http://schemas.openxmlformats.org/officeDocument/2006/relationships/tags" Target="../tags/tag313.xml"/><Relationship Id="rId10" Type="http://schemas.openxmlformats.org/officeDocument/2006/relationships/tags" Target="../tags/tag308.xml"/><Relationship Id="rId19" Type="http://schemas.openxmlformats.org/officeDocument/2006/relationships/image" Target="../media/image18.png"/><Relationship Id="rId4" Type="http://schemas.openxmlformats.org/officeDocument/2006/relationships/tags" Target="../tags/tag302.xml"/><Relationship Id="rId9" Type="http://schemas.openxmlformats.org/officeDocument/2006/relationships/tags" Target="../tags/tag307.xml"/><Relationship Id="rId14" Type="http://schemas.openxmlformats.org/officeDocument/2006/relationships/tags" Target="../tags/tag312.xml"/></Relationships>
</file>

<file path=ppt/slides/_rels/slide28.xml.rels><?xml version="1.0" encoding="UTF-8" standalone="yes"?>
<Relationships xmlns="http://schemas.openxmlformats.org/package/2006/relationships"><Relationship Id="rId8" Type="http://schemas.openxmlformats.org/officeDocument/2006/relationships/tags" Target="../tags/tag321.xml"/><Relationship Id="rId13" Type="http://schemas.openxmlformats.org/officeDocument/2006/relationships/tags" Target="../tags/tag326.xml"/><Relationship Id="rId18" Type="http://schemas.openxmlformats.org/officeDocument/2006/relationships/tags" Target="../tags/tag331.xml"/><Relationship Id="rId26" Type="http://schemas.openxmlformats.org/officeDocument/2006/relationships/image" Target="../media/image15.png"/><Relationship Id="rId3" Type="http://schemas.openxmlformats.org/officeDocument/2006/relationships/tags" Target="../tags/tag316.xml"/><Relationship Id="rId21" Type="http://schemas.openxmlformats.org/officeDocument/2006/relationships/tags" Target="../tags/tag334.xml"/><Relationship Id="rId7" Type="http://schemas.openxmlformats.org/officeDocument/2006/relationships/tags" Target="../tags/tag320.xml"/><Relationship Id="rId12" Type="http://schemas.openxmlformats.org/officeDocument/2006/relationships/tags" Target="../tags/tag325.xml"/><Relationship Id="rId17" Type="http://schemas.openxmlformats.org/officeDocument/2006/relationships/tags" Target="../tags/tag330.xml"/><Relationship Id="rId25" Type="http://schemas.openxmlformats.org/officeDocument/2006/relationships/notesSlide" Target="../notesSlides/notesSlide28.xml"/><Relationship Id="rId2" Type="http://schemas.openxmlformats.org/officeDocument/2006/relationships/tags" Target="../tags/tag315.xml"/><Relationship Id="rId16" Type="http://schemas.openxmlformats.org/officeDocument/2006/relationships/tags" Target="../tags/tag329.xml"/><Relationship Id="rId20" Type="http://schemas.openxmlformats.org/officeDocument/2006/relationships/tags" Target="../tags/tag333.xml"/><Relationship Id="rId29" Type="http://schemas.openxmlformats.org/officeDocument/2006/relationships/image" Target="../media/image13.png"/><Relationship Id="rId1" Type="http://schemas.openxmlformats.org/officeDocument/2006/relationships/tags" Target="../tags/tag314.xml"/><Relationship Id="rId6" Type="http://schemas.openxmlformats.org/officeDocument/2006/relationships/tags" Target="../tags/tag319.xml"/><Relationship Id="rId11" Type="http://schemas.openxmlformats.org/officeDocument/2006/relationships/tags" Target="../tags/tag324.xml"/><Relationship Id="rId24" Type="http://schemas.openxmlformats.org/officeDocument/2006/relationships/slideLayout" Target="../slideLayouts/slideLayout12.xml"/><Relationship Id="rId5" Type="http://schemas.openxmlformats.org/officeDocument/2006/relationships/tags" Target="../tags/tag318.xml"/><Relationship Id="rId15" Type="http://schemas.openxmlformats.org/officeDocument/2006/relationships/tags" Target="../tags/tag328.xml"/><Relationship Id="rId23" Type="http://schemas.openxmlformats.org/officeDocument/2006/relationships/tags" Target="../tags/tag336.xml"/><Relationship Id="rId28" Type="http://schemas.openxmlformats.org/officeDocument/2006/relationships/image" Target="../media/image16.png"/><Relationship Id="rId10" Type="http://schemas.openxmlformats.org/officeDocument/2006/relationships/tags" Target="../tags/tag323.xml"/><Relationship Id="rId19" Type="http://schemas.openxmlformats.org/officeDocument/2006/relationships/tags" Target="../tags/tag332.xml"/><Relationship Id="rId4" Type="http://schemas.openxmlformats.org/officeDocument/2006/relationships/tags" Target="../tags/tag317.xml"/><Relationship Id="rId9" Type="http://schemas.openxmlformats.org/officeDocument/2006/relationships/tags" Target="../tags/tag322.xml"/><Relationship Id="rId14" Type="http://schemas.openxmlformats.org/officeDocument/2006/relationships/tags" Target="../tags/tag327.xml"/><Relationship Id="rId22" Type="http://schemas.openxmlformats.org/officeDocument/2006/relationships/tags" Target="../tags/tag335.xml"/><Relationship Id="rId27" Type="http://schemas.openxmlformats.org/officeDocument/2006/relationships/image" Target="../media/image18.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3" Type="http://schemas.openxmlformats.org/officeDocument/2006/relationships/tags" Target="../tags/tag339.xml"/><Relationship Id="rId7" Type="http://schemas.openxmlformats.org/officeDocument/2006/relationships/slideLayout" Target="../slideLayouts/slideLayout12.xml"/><Relationship Id="rId2" Type="http://schemas.openxmlformats.org/officeDocument/2006/relationships/tags" Target="../tags/tag338.xml"/><Relationship Id="rId1" Type="http://schemas.openxmlformats.org/officeDocument/2006/relationships/tags" Target="../tags/tag337.xml"/><Relationship Id="rId6" Type="http://schemas.openxmlformats.org/officeDocument/2006/relationships/tags" Target="../tags/tag342.xml"/><Relationship Id="rId5" Type="http://schemas.openxmlformats.org/officeDocument/2006/relationships/tags" Target="../tags/tag341.xml"/><Relationship Id="rId4" Type="http://schemas.openxmlformats.org/officeDocument/2006/relationships/tags" Target="../tags/tag340.xml"/></Relationships>
</file>

<file path=ppt/slides/_rels/slide30.xml.rels><?xml version="1.0" encoding="UTF-8" standalone="yes"?>
<Relationships xmlns="http://schemas.openxmlformats.org/package/2006/relationships"><Relationship Id="rId3" Type="http://schemas.openxmlformats.org/officeDocument/2006/relationships/tags" Target="../tags/tag345.xml"/><Relationship Id="rId7" Type="http://schemas.openxmlformats.org/officeDocument/2006/relationships/notesSlide" Target="../notesSlides/notesSlide30.xml"/><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Layout" Target="../slideLayouts/slideLayout12.xml"/><Relationship Id="rId5" Type="http://schemas.openxmlformats.org/officeDocument/2006/relationships/tags" Target="../tags/tag347.xml"/><Relationship Id="rId4" Type="http://schemas.openxmlformats.org/officeDocument/2006/relationships/tags" Target="../tags/tag346.xml"/></Relationships>
</file>

<file path=ppt/slides/_rels/slide31.xml.rels><?xml version="1.0" encoding="UTF-8" standalone="yes"?>
<Relationships xmlns="http://schemas.openxmlformats.org/package/2006/relationships"><Relationship Id="rId3" Type="http://schemas.openxmlformats.org/officeDocument/2006/relationships/tags" Target="../tags/tag350.xml"/><Relationship Id="rId7" Type="http://schemas.openxmlformats.org/officeDocument/2006/relationships/notesSlide" Target="../notesSlides/notesSlide31.xml"/><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slideLayout" Target="../slideLayouts/slideLayout2.xml"/><Relationship Id="rId5" Type="http://schemas.openxmlformats.org/officeDocument/2006/relationships/tags" Target="../tags/tag352.xml"/><Relationship Id="rId4" Type="http://schemas.openxmlformats.org/officeDocument/2006/relationships/tags" Target="../tags/tag351.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55.xml"/><Relationship Id="rId7" Type="http://schemas.openxmlformats.org/officeDocument/2006/relationships/tags" Target="../tags/tag359.xml"/><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tags" Target="../tags/tag358.xml"/><Relationship Id="rId5" Type="http://schemas.openxmlformats.org/officeDocument/2006/relationships/tags" Target="../tags/tag357.xml"/><Relationship Id="rId10" Type="http://schemas.openxmlformats.org/officeDocument/2006/relationships/image" Target="../media/image19.emf"/><Relationship Id="rId4" Type="http://schemas.openxmlformats.org/officeDocument/2006/relationships/tags" Target="../tags/tag356.xml"/><Relationship Id="rId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8" Type="http://schemas.openxmlformats.org/officeDocument/2006/relationships/tags" Target="../tags/tag367.xml"/><Relationship Id="rId13" Type="http://schemas.openxmlformats.org/officeDocument/2006/relationships/notesSlide" Target="../notesSlides/notesSlide33.xml"/><Relationship Id="rId3" Type="http://schemas.openxmlformats.org/officeDocument/2006/relationships/tags" Target="../tags/tag362.xml"/><Relationship Id="rId7" Type="http://schemas.openxmlformats.org/officeDocument/2006/relationships/tags" Target="../tags/tag366.xml"/><Relationship Id="rId12" Type="http://schemas.openxmlformats.org/officeDocument/2006/relationships/slideLayout" Target="../slideLayouts/slideLayout2.xml"/><Relationship Id="rId2" Type="http://schemas.openxmlformats.org/officeDocument/2006/relationships/tags" Target="../tags/tag361.xml"/><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tags" Target="../tags/tag370.xml"/><Relationship Id="rId5" Type="http://schemas.openxmlformats.org/officeDocument/2006/relationships/tags" Target="../tags/tag364.xml"/><Relationship Id="rId15" Type="http://schemas.openxmlformats.org/officeDocument/2006/relationships/image" Target="../media/image19.emf"/><Relationship Id="rId10" Type="http://schemas.openxmlformats.org/officeDocument/2006/relationships/tags" Target="../tags/tag369.xml"/><Relationship Id="rId4" Type="http://schemas.openxmlformats.org/officeDocument/2006/relationships/tags" Target="../tags/tag363.xml"/><Relationship Id="rId9" Type="http://schemas.openxmlformats.org/officeDocument/2006/relationships/tags" Target="../tags/tag368.xml"/><Relationship Id="rId14" Type="http://schemas.openxmlformats.org/officeDocument/2006/relationships/image" Target="../media/image20.emf"/></Relationships>
</file>

<file path=ppt/slides/_rels/slide34.xml.rels><?xml version="1.0" encoding="UTF-8" standalone="yes"?>
<Relationships xmlns="http://schemas.openxmlformats.org/package/2006/relationships"><Relationship Id="rId3" Type="http://schemas.openxmlformats.org/officeDocument/2006/relationships/tags" Target="../tags/tag373.xml"/><Relationship Id="rId7" Type="http://schemas.openxmlformats.org/officeDocument/2006/relationships/notesSlide" Target="../notesSlides/notesSlide34.xml"/><Relationship Id="rId2" Type="http://schemas.openxmlformats.org/officeDocument/2006/relationships/tags" Target="../tags/tag372.xml"/><Relationship Id="rId1" Type="http://schemas.openxmlformats.org/officeDocument/2006/relationships/tags" Target="../tags/tag371.xml"/><Relationship Id="rId6" Type="http://schemas.openxmlformats.org/officeDocument/2006/relationships/slideLayout" Target="../slideLayouts/slideLayout12.xml"/><Relationship Id="rId5" Type="http://schemas.openxmlformats.org/officeDocument/2006/relationships/tags" Target="../tags/tag375.xml"/><Relationship Id="rId4" Type="http://schemas.openxmlformats.org/officeDocument/2006/relationships/tags" Target="../tags/tag374.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78.xml"/><Relationship Id="rId7" Type="http://schemas.openxmlformats.org/officeDocument/2006/relationships/tags" Target="../tags/tag382.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tags" Target="../tags/tag381.xml"/><Relationship Id="rId5" Type="http://schemas.openxmlformats.org/officeDocument/2006/relationships/tags" Target="../tags/tag380.xml"/><Relationship Id="rId4" Type="http://schemas.openxmlformats.org/officeDocument/2006/relationships/tags" Target="../tags/tag379.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85.xml"/><Relationship Id="rId7" Type="http://schemas.openxmlformats.org/officeDocument/2006/relationships/tags" Target="../tags/tag389.xml"/><Relationship Id="rId2" Type="http://schemas.openxmlformats.org/officeDocument/2006/relationships/tags" Target="../tags/tag384.xml"/><Relationship Id="rId1" Type="http://schemas.openxmlformats.org/officeDocument/2006/relationships/tags" Target="../tags/tag383.xml"/><Relationship Id="rId6" Type="http://schemas.openxmlformats.org/officeDocument/2006/relationships/tags" Target="../tags/tag388.xml"/><Relationship Id="rId5" Type="http://schemas.openxmlformats.org/officeDocument/2006/relationships/tags" Target="../tags/tag387.xml"/><Relationship Id="rId4" Type="http://schemas.openxmlformats.org/officeDocument/2006/relationships/tags" Target="../tags/tag386.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92.xml"/><Relationship Id="rId7" Type="http://schemas.openxmlformats.org/officeDocument/2006/relationships/tags" Target="../tags/tag396.xml"/><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tags" Target="../tags/tag395.xml"/><Relationship Id="rId5" Type="http://schemas.openxmlformats.org/officeDocument/2006/relationships/tags" Target="../tags/tag394.xml"/><Relationship Id="rId4" Type="http://schemas.openxmlformats.org/officeDocument/2006/relationships/tags" Target="../tags/tag393.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99.xml"/><Relationship Id="rId7" Type="http://schemas.openxmlformats.org/officeDocument/2006/relationships/tags" Target="../tags/tag403.xml"/><Relationship Id="rId2" Type="http://schemas.openxmlformats.org/officeDocument/2006/relationships/tags" Target="../tags/tag398.xml"/><Relationship Id="rId1" Type="http://schemas.openxmlformats.org/officeDocument/2006/relationships/tags" Target="../tags/tag397.xml"/><Relationship Id="rId6" Type="http://schemas.openxmlformats.org/officeDocument/2006/relationships/tags" Target="../tags/tag402.xml"/><Relationship Id="rId5" Type="http://schemas.openxmlformats.org/officeDocument/2006/relationships/tags" Target="../tags/tag401.xml"/><Relationship Id="rId4" Type="http://schemas.openxmlformats.org/officeDocument/2006/relationships/tags" Target="../tags/tag400.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8" Type="http://schemas.openxmlformats.org/officeDocument/2006/relationships/tags" Target="../tags/tag411.xml"/><Relationship Id="rId3" Type="http://schemas.openxmlformats.org/officeDocument/2006/relationships/tags" Target="../tags/tag406.xml"/><Relationship Id="rId7" Type="http://schemas.openxmlformats.org/officeDocument/2006/relationships/tags" Target="../tags/tag410.xml"/><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tags" Target="../tags/tag409.xml"/><Relationship Id="rId5" Type="http://schemas.openxmlformats.org/officeDocument/2006/relationships/tags" Target="../tags/tag408.xml"/><Relationship Id="rId10" Type="http://schemas.openxmlformats.org/officeDocument/2006/relationships/notesSlide" Target="../notesSlides/notesSlide39.xml"/><Relationship Id="rId4" Type="http://schemas.openxmlformats.org/officeDocument/2006/relationships/tags" Target="../tags/tag407.xml"/><Relationship Id="rId9"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414.xml"/><Relationship Id="rId7" Type="http://schemas.openxmlformats.org/officeDocument/2006/relationships/image" Target="../media/image21.emf"/><Relationship Id="rId2" Type="http://schemas.openxmlformats.org/officeDocument/2006/relationships/tags" Target="../tags/tag413.xml"/><Relationship Id="rId1" Type="http://schemas.openxmlformats.org/officeDocument/2006/relationships/tags" Target="../tags/tag412.xml"/><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tags" Target="../tags/tag415.xml"/></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3" Type="http://schemas.openxmlformats.org/officeDocument/2006/relationships/tags" Target="../tags/tag418.xml"/><Relationship Id="rId7" Type="http://schemas.openxmlformats.org/officeDocument/2006/relationships/slideLayout" Target="../slideLayouts/slideLayout2.xml"/><Relationship Id="rId2" Type="http://schemas.openxmlformats.org/officeDocument/2006/relationships/tags" Target="../tags/tag417.xml"/><Relationship Id="rId1" Type="http://schemas.openxmlformats.org/officeDocument/2006/relationships/tags" Target="../tags/tag416.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 Id="rId9" Type="http://schemas.openxmlformats.org/officeDocument/2006/relationships/image" Target="../media/image21.emf"/></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42.xml"/><Relationship Id="rId3" Type="http://schemas.openxmlformats.org/officeDocument/2006/relationships/tags" Target="../tags/tag424.xml"/><Relationship Id="rId7" Type="http://schemas.openxmlformats.org/officeDocument/2006/relationships/slideLayout" Target="../slideLayouts/slideLayout2.xml"/><Relationship Id="rId2" Type="http://schemas.openxmlformats.org/officeDocument/2006/relationships/tags" Target="../tags/tag423.xml"/><Relationship Id="rId1" Type="http://schemas.openxmlformats.org/officeDocument/2006/relationships/tags" Target="../tags/tag422.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9" Type="http://schemas.openxmlformats.org/officeDocument/2006/relationships/image" Target="../media/image21.emf"/></Relationships>
</file>

<file path=ppt/slides/_rels/slide4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30.xml"/><Relationship Id="rId7" Type="http://schemas.openxmlformats.org/officeDocument/2006/relationships/tags" Target="../tags/tag434.xml"/><Relationship Id="rId2" Type="http://schemas.openxmlformats.org/officeDocument/2006/relationships/tags" Target="../tags/tag429.xml"/><Relationship Id="rId1" Type="http://schemas.openxmlformats.org/officeDocument/2006/relationships/tags" Target="../tags/tag428.xml"/><Relationship Id="rId6" Type="http://schemas.openxmlformats.org/officeDocument/2006/relationships/tags" Target="../tags/tag433.xml"/><Relationship Id="rId5" Type="http://schemas.openxmlformats.org/officeDocument/2006/relationships/tags" Target="../tags/tag432.xml"/><Relationship Id="rId10" Type="http://schemas.openxmlformats.org/officeDocument/2006/relationships/image" Target="../media/image21.emf"/><Relationship Id="rId4" Type="http://schemas.openxmlformats.org/officeDocument/2006/relationships/tags" Target="../tags/tag43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tags" Target="../tags/tag437.xml"/><Relationship Id="rId7" Type="http://schemas.openxmlformats.org/officeDocument/2006/relationships/notesSlide" Target="../notesSlides/notesSlide44.xml"/><Relationship Id="rId2" Type="http://schemas.openxmlformats.org/officeDocument/2006/relationships/tags" Target="../tags/tag436.xml"/><Relationship Id="rId1" Type="http://schemas.openxmlformats.org/officeDocument/2006/relationships/tags" Target="../tags/tag435.xml"/><Relationship Id="rId6" Type="http://schemas.openxmlformats.org/officeDocument/2006/relationships/slideLayout" Target="../slideLayouts/slideLayout2.xml"/><Relationship Id="rId5" Type="http://schemas.openxmlformats.org/officeDocument/2006/relationships/tags" Target="../tags/tag439.xml"/><Relationship Id="rId4" Type="http://schemas.openxmlformats.org/officeDocument/2006/relationships/tags" Target="../tags/tag438.xml"/></Relationships>
</file>

<file path=ppt/slides/_rels/slide45.xml.rels><?xml version="1.0" encoding="UTF-8" standalone="yes"?>
<Relationships xmlns="http://schemas.openxmlformats.org/package/2006/relationships"><Relationship Id="rId8" Type="http://schemas.openxmlformats.org/officeDocument/2006/relationships/tags" Target="../tags/tag446.xml"/><Relationship Id="rId3" Type="http://schemas.openxmlformats.org/officeDocument/2006/relationships/tags" Target="../tags/tag441.xml"/><Relationship Id="rId7" Type="http://schemas.openxmlformats.org/officeDocument/2006/relationships/tags" Target="../tags/tag445.xml"/><Relationship Id="rId2" Type="http://schemas.openxmlformats.org/officeDocument/2006/relationships/tags" Target="../tags/tag440.xml"/><Relationship Id="rId1" Type="http://schemas.openxmlformats.org/officeDocument/2006/relationships/vmlDrawing" Target="../drawings/vmlDrawing1.vml"/><Relationship Id="rId6" Type="http://schemas.openxmlformats.org/officeDocument/2006/relationships/tags" Target="../tags/tag444.xml"/><Relationship Id="rId11" Type="http://schemas.openxmlformats.org/officeDocument/2006/relationships/oleObject" Target="../embeddings/oleObject1.bin"/><Relationship Id="rId5" Type="http://schemas.openxmlformats.org/officeDocument/2006/relationships/tags" Target="../tags/tag443.xml"/><Relationship Id="rId10" Type="http://schemas.openxmlformats.org/officeDocument/2006/relationships/notesSlide" Target="../notesSlides/notesSlide45.xml"/><Relationship Id="rId4" Type="http://schemas.openxmlformats.org/officeDocument/2006/relationships/tags" Target="../tags/tag442.xml"/><Relationship Id="rId9"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tags" Target="../tags/tag449.xml"/><Relationship Id="rId7" Type="http://schemas.openxmlformats.org/officeDocument/2006/relationships/notesSlide" Target="../notesSlides/notesSlide46.xml"/><Relationship Id="rId2" Type="http://schemas.openxmlformats.org/officeDocument/2006/relationships/tags" Target="../tags/tag448.xml"/><Relationship Id="rId1" Type="http://schemas.openxmlformats.org/officeDocument/2006/relationships/tags" Target="../tags/tag447.xml"/><Relationship Id="rId6" Type="http://schemas.openxmlformats.org/officeDocument/2006/relationships/slideLayout" Target="../slideLayouts/slideLayout2.xml"/><Relationship Id="rId5" Type="http://schemas.openxmlformats.org/officeDocument/2006/relationships/tags" Target="../tags/tag451.xml"/><Relationship Id="rId4" Type="http://schemas.openxmlformats.org/officeDocument/2006/relationships/tags" Target="../tags/tag450.xml"/></Relationships>
</file>

<file path=ppt/slides/_rels/slide47.xml.rels><?xml version="1.0" encoding="UTF-8" standalone="yes"?>
<Relationships xmlns="http://schemas.openxmlformats.org/package/2006/relationships"><Relationship Id="rId8" Type="http://schemas.openxmlformats.org/officeDocument/2006/relationships/tags" Target="../tags/tag459.xml"/><Relationship Id="rId13" Type="http://schemas.openxmlformats.org/officeDocument/2006/relationships/notesSlide" Target="../notesSlides/notesSlide47.xml"/><Relationship Id="rId3" Type="http://schemas.openxmlformats.org/officeDocument/2006/relationships/tags" Target="../tags/tag454.xml"/><Relationship Id="rId7" Type="http://schemas.openxmlformats.org/officeDocument/2006/relationships/tags" Target="../tags/tag458.xml"/><Relationship Id="rId12" Type="http://schemas.openxmlformats.org/officeDocument/2006/relationships/slideLayout" Target="../slideLayouts/slideLayout2.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tags" Target="../tags/tag457.xml"/><Relationship Id="rId11" Type="http://schemas.openxmlformats.org/officeDocument/2006/relationships/tags" Target="../tags/tag462.xml"/><Relationship Id="rId5" Type="http://schemas.openxmlformats.org/officeDocument/2006/relationships/tags" Target="../tags/tag456.xml"/><Relationship Id="rId10" Type="http://schemas.openxmlformats.org/officeDocument/2006/relationships/tags" Target="../tags/tag461.xml"/><Relationship Id="rId4" Type="http://schemas.openxmlformats.org/officeDocument/2006/relationships/tags" Target="../tags/tag455.xml"/><Relationship Id="rId9" Type="http://schemas.openxmlformats.org/officeDocument/2006/relationships/tags" Target="../tags/tag460.xml"/><Relationship Id="rId14" Type="http://schemas.openxmlformats.org/officeDocument/2006/relationships/image" Target="../media/image24.emf"/></Relationships>
</file>

<file path=ppt/slides/_rels/slide48.xml.rels><?xml version="1.0" encoding="UTF-8" standalone="yes"?>
<Relationships xmlns="http://schemas.openxmlformats.org/package/2006/relationships"><Relationship Id="rId3" Type="http://schemas.openxmlformats.org/officeDocument/2006/relationships/tags" Target="../tags/tag465.xml"/><Relationship Id="rId7" Type="http://schemas.openxmlformats.org/officeDocument/2006/relationships/notesSlide" Target="../notesSlides/notesSlide48.xml"/><Relationship Id="rId2" Type="http://schemas.openxmlformats.org/officeDocument/2006/relationships/tags" Target="../tags/tag464.xml"/><Relationship Id="rId1" Type="http://schemas.openxmlformats.org/officeDocument/2006/relationships/tags" Target="../tags/tag463.xml"/><Relationship Id="rId6" Type="http://schemas.openxmlformats.org/officeDocument/2006/relationships/slideLayout" Target="../slideLayouts/slideLayout2.xml"/><Relationship Id="rId5" Type="http://schemas.openxmlformats.org/officeDocument/2006/relationships/tags" Target="../tags/tag467.xml"/><Relationship Id="rId4" Type="http://schemas.openxmlformats.org/officeDocument/2006/relationships/tags" Target="../tags/tag466.xml"/></Relationships>
</file>

<file path=ppt/slides/_rels/slide49.xml.rels><?xml version="1.0" encoding="UTF-8" standalone="yes"?>
<Relationships xmlns="http://schemas.openxmlformats.org/package/2006/relationships"><Relationship Id="rId3" Type="http://schemas.openxmlformats.org/officeDocument/2006/relationships/tags" Target="../tags/tag470.xml"/><Relationship Id="rId7" Type="http://schemas.openxmlformats.org/officeDocument/2006/relationships/notesSlide" Target="../notesSlides/notesSlide49.xml"/><Relationship Id="rId2" Type="http://schemas.openxmlformats.org/officeDocument/2006/relationships/tags" Target="../tags/tag469.xml"/><Relationship Id="rId1" Type="http://schemas.openxmlformats.org/officeDocument/2006/relationships/tags" Target="../tags/tag468.xml"/><Relationship Id="rId6" Type="http://schemas.openxmlformats.org/officeDocument/2006/relationships/slideLayout" Target="../slideLayouts/slideLayout2.xml"/><Relationship Id="rId5" Type="http://schemas.openxmlformats.org/officeDocument/2006/relationships/tags" Target="../tags/tag472.xml"/><Relationship Id="rId4" Type="http://schemas.openxmlformats.org/officeDocument/2006/relationships/tags" Target="../tags/tag471.xml"/></Relationships>
</file>

<file path=ppt/slides/_rels/slide50.xml.rels><?xml version="1.0" encoding="UTF-8" standalone="yes"?>
<Relationships xmlns="http://schemas.openxmlformats.org/package/2006/relationships"><Relationship Id="rId3" Type="http://schemas.openxmlformats.org/officeDocument/2006/relationships/tags" Target="../tags/tag475.xml"/><Relationship Id="rId7" Type="http://schemas.openxmlformats.org/officeDocument/2006/relationships/notesSlide" Target="../notesSlides/notesSlide50.xml"/><Relationship Id="rId2" Type="http://schemas.openxmlformats.org/officeDocument/2006/relationships/tags" Target="../tags/tag474.xml"/><Relationship Id="rId1" Type="http://schemas.openxmlformats.org/officeDocument/2006/relationships/tags" Target="../tags/tag473.xml"/><Relationship Id="rId6" Type="http://schemas.openxmlformats.org/officeDocument/2006/relationships/slideLayout" Target="../slideLayouts/slideLayout2.xml"/><Relationship Id="rId5" Type="http://schemas.openxmlformats.org/officeDocument/2006/relationships/tags" Target="../tags/tag477.xml"/><Relationship Id="rId4" Type="http://schemas.openxmlformats.org/officeDocument/2006/relationships/tags" Target="../tags/tag476.xml"/></Relationships>
</file>

<file path=ppt/slides/_rels/slide51.xml.rels><?xml version="1.0" encoding="UTF-8" standalone="yes"?>
<Relationships xmlns="http://schemas.openxmlformats.org/package/2006/relationships"><Relationship Id="rId8" Type="http://schemas.openxmlformats.org/officeDocument/2006/relationships/tags" Target="../tags/tag485.xml"/><Relationship Id="rId3" Type="http://schemas.openxmlformats.org/officeDocument/2006/relationships/tags" Target="../tags/tag480.xml"/><Relationship Id="rId7" Type="http://schemas.openxmlformats.org/officeDocument/2006/relationships/tags" Target="../tags/tag484.xml"/><Relationship Id="rId2" Type="http://schemas.openxmlformats.org/officeDocument/2006/relationships/tags" Target="../tags/tag479.xml"/><Relationship Id="rId1" Type="http://schemas.openxmlformats.org/officeDocument/2006/relationships/tags" Target="../tags/tag478.xml"/><Relationship Id="rId6" Type="http://schemas.openxmlformats.org/officeDocument/2006/relationships/tags" Target="../tags/tag483.xml"/><Relationship Id="rId5" Type="http://schemas.openxmlformats.org/officeDocument/2006/relationships/tags" Target="../tags/tag482.xml"/><Relationship Id="rId10" Type="http://schemas.openxmlformats.org/officeDocument/2006/relationships/notesSlide" Target="../notesSlides/notesSlide51.xml"/><Relationship Id="rId4" Type="http://schemas.openxmlformats.org/officeDocument/2006/relationships/tags" Target="../tags/tag481.xml"/><Relationship Id="rId9"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488.xml"/><Relationship Id="rId7" Type="http://schemas.openxmlformats.org/officeDocument/2006/relationships/notesSlide" Target="../notesSlides/notesSlide52.xml"/><Relationship Id="rId2" Type="http://schemas.openxmlformats.org/officeDocument/2006/relationships/tags" Target="../tags/tag487.xml"/><Relationship Id="rId1" Type="http://schemas.openxmlformats.org/officeDocument/2006/relationships/tags" Target="../tags/tag486.xml"/><Relationship Id="rId6" Type="http://schemas.openxmlformats.org/officeDocument/2006/relationships/slideLayout" Target="../slideLayouts/slideLayout2.xml"/><Relationship Id="rId5" Type="http://schemas.openxmlformats.org/officeDocument/2006/relationships/tags" Target="../tags/tag490.xml"/><Relationship Id="rId4" Type="http://schemas.openxmlformats.org/officeDocument/2006/relationships/tags" Target="../tags/tag489.xml"/></Relationships>
</file>

<file path=ppt/slides/_rels/slide5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93.xml"/><Relationship Id="rId7" Type="http://schemas.openxmlformats.org/officeDocument/2006/relationships/image" Target="../media/image1.png"/><Relationship Id="rId2" Type="http://schemas.openxmlformats.org/officeDocument/2006/relationships/tags" Target="../tags/tag492.xml"/><Relationship Id="rId1" Type="http://schemas.openxmlformats.org/officeDocument/2006/relationships/tags" Target="../tags/tag491.xml"/><Relationship Id="rId6" Type="http://schemas.openxmlformats.org/officeDocument/2006/relationships/notesSlide" Target="../notesSlides/notesSlide53.xml"/><Relationship Id="rId5" Type="http://schemas.openxmlformats.org/officeDocument/2006/relationships/slideLayout" Target="../slideLayouts/slideLayout1.xml"/><Relationship Id="rId4" Type="http://schemas.openxmlformats.org/officeDocument/2006/relationships/tags" Target="../tags/tag494.xml"/></Relationships>
</file>

<file path=ppt/slides/_rels/slide54.xml.rels><?xml version="1.0" encoding="UTF-8" standalone="yes"?>
<Relationships xmlns="http://schemas.openxmlformats.org/package/2006/relationships"><Relationship Id="rId3" Type="http://schemas.openxmlformats.org/officeDocument/2006/relationships/tags" Target="../tags/tag497.xml"/><Relationship Id="rId2" Type="http://schemas.openxmlformats.org/officeDocument/2006/relationships/tags" Target="../tags/tag496.xml"/><Relationship Id="rId1" Type="http://schemas.openxmlformats.org/officeDocument/2006/relationships/tags" Target="../tags/tag495.xml"/><Relationship Id="rId6" Type="http://schemas.openxmlformats.org/officeDocument/2006/relationships/notesSlide" Target="../notesSlides/notesSlide54.xml"/><Relationship Id="rId5" Type="http://schemas.openxmlformats.org/officeDocument/2006/relationships/slideLayout" Target="../slideLayouts/slideLayout2.xml"/><Relationship Id="rId4" Type="http://schemas.openxmlformats.org/officeDocument/2006/relationships/tags" Target="../tags/tag498.xml"/></Relationships>
</file>

<file path=ppt/slides/_rels/slide55.xml.rels><?xml version="1.0" encoding="UTF-8" standalone="yes"?>
<Relationships xmlns="http://schemas.openxmlformats.org/package/2006/relationships"><Relationship Id="rId3" Type="http://schemas.openxmlformats.org/officeDocument/2006/relationships/tags" Target="../tags/tag501.xml"/><Relationship Id="rId7" Type="http://schemas.openxmlformats.org/officeDocument/2006/relationships/notesSlide" Target="../notesSlides/notesSlide55.xml"/><Relationship Id="rId2" Type="http://schemas.openxmlformats.org/officeDocument/2006/relationships/tags" Target="../tags/tag500.xml"/><Relationship Id="rId1" Type="http://schemas.openxmlformats.org/officeDocument/2006/relationships/tags" Target="../tags/tag499.xml"/><Relationship Id="rId6" Type="http://schemas.openxmlformats.org/officeDocument/2006/relationships/slideLayout" Target="../slideLayouts/slideLayout2.xml"/><Relationship Id="rId5" Type="http://schemas.openxmlformats.org/officeDocument/2006/relationships/tags" Target="../tags/tag503.xml"/><Relationship Id="rId4" Type="http://schemas.openxmlformats.org/officeDocument/2006/relationships/tags" Target="../tags/tag502.xml"/></Relationships>
</file>

<file path=ppt/slides/_rels/slide56.xml.rels><?xml version="1.0" encoding="UTF-8" standalone="yes"?>
<Relationships xmlns="http://schemas.openxmlformats.org/package/2006/relationships"><Relationship Id="rId3" Type="http://schemas.openxmlformats.org/officeDocument/2006/relationships/tags" Target="../tags/tag506.xml"/><Relationship Id="rId7" Type="http://schemas.openxmlformats.org/officeDocument/2006/relationships/notesSlide" Target="../notesSlides/notesSlide56.xml"/><Relationship Id="rId2" Type="http://schemas.openxmlformats.org/officeDocument/2006/relationships/tags" Target="../tags/tag505.xml"/><Relationship Id="rId1" Type="http://schemas.openxmlformats.org/officeDocument/2006/relationships/tags" Target="../tags/tag504.xml"/><Relationship Id="rId6" Type="http://schemas.openxmlformats.org/officeDocument/2006/relationships/slideLayout" Target="../slideLayouts/slideLayout12.xml"/><Relationship Id="rId5" Type="http://schemas.openxmlformats.org/officeDocument/2006/relationships/tags" Target="../tags/tag508.xml"/><Relationship Id="rId4" Type="http://schemas.openxmlformats.org/officeDocument/2006/relationships/tags" Target="../tags/tag507.xml"/></Relationships>
</file>

<file path=ppt/slides/_rels/slide5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tags" Target="../tags/tag516.xml"/><Relationship Id="rId13" Type="http://schemas.openxmlformats.org/officeDocument/2006/relationships/image" Target="../media/image27.png"/><Relationship Id="rId3" Type="http://schemas.openxmlformats.org/officeDocument/2006/relationships/tags" Target="../tags/tag511.xml"/><Relationship Id="rId7" Type="http://schemas.openxmlformats.org/officeDocument/2006/relationships/tags" Target="../tags/tag515.xml"/><Relationship Id="rId12" Type="http://schemas.openxmlformats.org/officeDocument/2006/relationships/image" Target="../media/image26.png"/><Relationship Id="rId2" Type="http://schemas.openxmlformats.org/officeDocument/2006/relationships/tags" Target="../tags/tag510.xml"/><Relationship Id="rId1" Type="http://schemas.openxmlformats.org/officeDocument/2006/relationships/tags" Target="../tags/tag509.xml"/><Relationship Id="rId6" Type="http://schemas.openxmlformats.org/officeDocument/2006/relationships/tags" Target="../tags/tag514.xml"/><Relationship Id="rId11" Type="http://schemas.openxmlformats.org/officeDocument/2006/relationships/notesSlide" Target="../notesSlides/notesSlide57.xml"/><Relationship Id="rId5" Type="http://schemas.openxmlformats.org/officeDocument/2006/relationships/tags" Target="../tags/tag513.xml"/><Relationship Id="rId10" Type="http://schemas.openxmlformats.org/officeDocument/2006/relationships/slideLayout" Target="../slideLayouts/slideLayout12.xml"/><Relationship Id="rId4" Type="http://schemas.openxmlformats.org/officeDocument/2006/relationships/tags" Target="../tags/tag512.xml"/><Relationship Id="rId9" Type="http://schemas.openxmlformats.org/officeDocument/2006/relationships/tags" Target="../tags/tag517.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19.xml"/><Relationship Id="rId1" Type="http://schemas.openxmlformats.org/officeDocument/2006/relationships/tags" Target="../tags/tag518.xml"/><Relationship Id="rId4"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522.xml"/><Relationship Id="rId7" Type="http://schemas.openxmlformats.org/officeDocument/2006/relationships/image" Target="../media/image1.png"/><Relationship Id="rId2" Type="http://schemas.openxmlformats.org/officeDocument/2006/relationships/tags" Target="../tags/tag521.xml"/><Relationship Id="rId1" Type="http://schemas.openxmlformats.org/officeDocument/2006/relationships/tags" Target="../tags/tag520.xml"/><Relationship Id="rId6" Type="http://schemas.openxmlformats.org/officeDocument/2006/relationships/notesSlide" Target="../notesSlides/notesSlide59.xml"/><Relationship Id="rId5" Type="http://schemas.openxmlformats.org/officeDocument/2006/relationships/slideLayout" Target="../slideLayouts/slideLayout1.xml"/><Relationship Id="rId4" Type="http://schemas.openxmlformats.org/officeDocument/2006/relationships/tags" Target="../tags/tag5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custDataLst>
              <p:tags r:id="rId2"/>
            </p:custDataLst>
          </p:nvPr>
        </p:nvSpPr>
        <p:spPr>
          <a:xfrm>
            <a:off x="609600" y="1143000"/>
            <a:ext cx="8229600" cy="3455988"/>
          </a:xfrm>
        </p:spPr>
        <p:txBody>
          <a:bodyPr/>
          <a:lstStyle/>
          <a:p>
            <a:pPr eaLnBrk="1" hangingPunct="1"/>
            <a:r>
              <a:rPr lang="en-US" sz="3600" b="1" dirty="0" smtClean="0"/>
              <a:t>Reducing Peak Power with a </a:t>
            </a:r>
            <a:br>
              <a:rPr lang="en-US" sz="3600" b="1" dirty="0" smtClean="0"/>
            </a:br>
            <a:r>
              <a:rPr lang="en-US" sz="3600" b="1" dirty="0" smtClean="0"/>
              <a:t>Table-Driven Adaptive Processor Core</a:t>
            </a:r>
          </a:p>
        </p:txBody>
      </p:sp>
      <p:sp>
        <p:nvSpPr>
          <p:cNvPr id="3075" name="Rectangle 3"/>
          <p:cNvSpPr>
            <a:spLocks noGrp="1" noChangeArrowheads="1"/>
          </p:cNvSpPr>
          <p:nvPr>
            <p:ph type="subTitle" idx="1"/>
            <p:custDataLst>
              <p:tags r:id="rId3"/>
            </p:custDataLst>
          </p:nvPr>
        </p:nvSpPr>
        <p:spPr>
          <a:xfrm>
            <a:off x="762000" y="4267200"/>
            <a:ext cx="6400800" cy="1752600"/>
          </a:xfrm>
        </p:spPr>
        <p:txBody>
          <a:bodyPr/>
          <a:lstStyle/>
          <a:p>
            <a:pPr eaLnBrk="1" hangingPunct="1"/>
            <a:r>
              <a:rPr lang="en-US" sz="2400" dirty="0" err="1" smtClean="0">
                <a:solidFill>
                  <a:srgbClr val="FF0000"/>
                </a:solidFill>
                <a:latin typeface="+mj-lt"/>
              </a:rPr>
              <a:t>Vasileios</a:t>
            </a:r>
            <a:r>
              <a:rPr lang="en-US" sz="2400" dirty="0" smtClean="0">
                <a:solidFill>
                  <a:srgbClr val="FF0000"/>
                </a:solidFill>
                <a:latin typeface="+mj-lt"/>
              </a:rPr>
              <a:t> </a:t>
            </a:r>
            <a:r>
              <a:rPr lang="en-US" sz="2400" dirty="0" err="1" smtClean="0">
                <a:solidFill>
                  <a:srgbClr val="FF0000"/>
                </a:solidFill>
                <a:latin typeface="+mj-lt"/>
              </a:rPr>
              <a:t>Kontorinis</a:t>
            </a:r>
            <a:r>
              <a:rPr lang="en-US" sz="2400" dirty="0" smtClean="0">
                <a:solidFill>
                  <a:srgbClr val="FF0000"/>
                </a:solidFill>
                <a:latin typeface="+mj-lt"/>
              </a:rPr>
              <a:t> (UCSD)</a:t>
            </a:r>
          </a:p>
          <a:p>
            <a:pPr eaLnBrk="1" hangingPunct="1"/>
            <a:r>
              <a:rPr lang="en-US" sz="2400" dirty="0" err="1" smtClean="0">
                <a:latin typeface="+mj-lt"/>
              </a:rPr>
              <a:t>Amirali</a:t>
            </a:r>
            <a:r>
              <a:rPr lang="en-US" sz="2400" dirty="0" smtClean="0">
                <a:latin typeface="+mj-lt"/>
              </a:rPr>
              <a:t> </a:t>
            </a:r>
            <a:r>
              <a:rPr lang="en-US" sz="2400" dirty="0" err="1" smtClean="0">
                <a:latin typeface="+mj-lt"/>
              </a:rPr>
              <a:t>Shayan</a:t>
            </a:r>
            <a:r>
              <a:rPr lang="en-US" sz="2400" dirty="0" smtClean="0">
                <a:latin typeface="+mj-lt"/>
              </a:rPr>
              <a:t> (UCSD)</a:t>
            </a:r>
          </a:p>
          <a:p>
            <a:pPr eaLnBrk="1" hangingPunct="1"/>
            <a:r>
              <a:rPr lang="en-US" sz="2400" dirty="0" err="1" smtClean="0">
                <a:latin typeface="+mj-lt"/>
              </a:rPr>
              <a:t>Rakesh</a:t>
            </a:r>
            <a:r>
              <a:rPr lang="en-US" sz="2400" dirty="0" smtClean="0">
                <a:latin typeface="+mj-lt"/>
              </a:rPr>
              <a:t> Kumar (UIUC)</a:t>
            </a:r>
          </a:p>
          <a:p>
            <a:pPr eaLnBrk="1" hangingPunct="1"/>
            <a:r>
              <a:rPr lang="en-US" sz="2400" dirty="0" smtClean="0">
                <a:latin typeface="+mj-lt"/>
              </a:rPr>
              <a:t>Dean </a:t>
            </a:r>
            <a:r>
              <a:rPr lang="en-US" sz="2400" dirty="0" err="1" smtClean="0">
                <a:latin typeface="+mj-lt"/>
              </a:rPr>
              <a:t>Tullsen</a:t>
            </a:r>
            <a:r>
              <a:rPr lang="en-US" sz="2400" dirty="0" smtClean="0">
                <a:latin typeface="+mj-lt"/>
              </a:rPr>
              <a:t> (UCSD)</a:t>
            </a:r>
          </a:p>
        </p:txBody>
      </p:sp>
      <p:pic>
        <p:nvPicPr>
          <p:cNvPr id="3076" name="Picture 4" descr="UCSD Logo"/>
          <p:cNvPicPr>
            <a:picLocks noChangeAspect="1" noChangeArrowheads="1"/>
          </p:cNvPicPr>
          <p:nvPr>
            <p:custDataLst>
              <p:tags r:id="rId4"/>
            </p:custDataLst>
          </p:nvPr>
        </p:nvPicPr>
        <p:blipFill>
          <a:blip r:embed="rId7"/>
          <a:srcRect l="7777" t="5292" r="67778" b="4741"/>
          <a:stretch>
            <a:fillRect/>
          </a:stretch>
        </p:blipFill>
        <p:spPr bwMode="auto">
          <a:xfrm>
            <a:off x="4876800" y="4267200"/>
            <a:ext cx="1828800" cy="1412875"/>
          </a:xfrm>
          <a:prstGeom prst="rect">
            <a:avLst/>
          </a:prstGeom>
          <a:noFill/>
          <a:ln w="9525">
            <a:noFill/>
            <a:miter lim="800000"/>
            <a:headEnd/>
            <a:tailEnd/>
          </a:ln>
        </p:spPr>
      </p:pic>
      <p:pic>
        <p:nvPicPr>
          <p:cNvPr id="76801" name="Picture 1"/>
          <p:cNvPicPr>
            <a:picLocks noChangeAspect="1" noChangeArrowheads="1"/>
          </p:cNvPicPr>
          <p:nvPr/>
        </p:nvPicPr>
        <p:blipFill>
          <a:blip r:embed="rId8" cstate="print"/>
          <a:srcRect/>
          <a:stretch>
            <a:fillRect/>
          </a:stretch>
        </p:blipFill>
        <p:spPr bwMode="auto">
          <a:xfrm>
            <a:off x="7239000" y="4267200"/>
            <a:ext cx="1182495" cy="1531553"/>
          </a:xfrm>
          <a:prstGeom prst="rect">
            <a:avLst/>
          </a:prstGeom>
          <a:noFill/>
          <a:ln w="9525">
            <a:noFill/>
            <a:miter lim="800000"/>
            <a:headEnd/>
            <a:tailEnd/>
          </a:ln>
          <a:effectLst/>
        </p:spPr>
      </p:pic>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86" name="Picture 14"/>
          <p:cNvPicPr>
            <a:picLocks noChangeAspect="1" noChangeArrowheads="1"/>
          </p:cNvPicPr>
          <p:nvPr/>
        </p:nvPicPr>
        <p:blipFill>
          <a:blip r:embed="rId8"/>
          <a:srcRect/>
          <a:stretch>
            <a:fillRect/>
          </a:stretch>
        </p:blipFill>
        <p:spPr bwMode="auto">
          <a:xfrm>
            <a:off x="6477000" y="2209800"/>
            <a:ext cx="2590800" cy="1414123"/>
          </a:xfrm>
          <a:prstGeom prst="rect">
            <a:avLst/>
          </a:prstGeom>
          <a:noFill/>
          <a:ln w="9525">
            <a:noFill/>
            <a:miter lim="800000"/>
            <a:headEnd/>
            <a:tailEnd/>
          </a:ln>
          <a:effectLst/>
        </p:spPr>
      </p:pic>
      <p:pic>
        <p:nvPicPr>
          <p:cNvPr id="131083" name="Picture 11"/>
          <p:cNvPicPr>
            <a:picLocks noChangeAspect="1" noChangeArrowheads="1"/>
          </p:cNvPicPr>
          <p:nvPr/>
        </p:nvPicPr>
        <p:blipFill>
          <a:blip r:embed="rId9"/>
          <a:srcRect/>
          <a:stretch>
            <a:fillRect/>
          </a:stretch>
        </p:blipFill>
        <p:spPr bwMode="auto">
          <a:xfrm>
            <a:off x="1524000" y="4800600"/>
            <a:ext cx="1651763" cy="1308488"/>
          </a:xfrm>
          <a:prstGeom prst="rect">
            <a:avLst/>
          </a:prstGeom>
          <a:noFill/>
          <a:ln w="9525">
            <a:noFill/>
            <a:miter lim="800000"/>
            <a:headEnd/>
            <a:tailEnd/>
          </a:ln>
          <a:effectLst/>
        </p:spPr>
      </p:pic>
      <p:sp>
        <p:nvSpPr>
          <p:cNvPr id="2" name="Title 1"/>
          <p:cNvSpPr>
            <a:spLocks noGrp="1"/>
          </p:cNvSpPr>
          <p:nvPr>
            <p:ph type="title"/>
            <p:custDataLst>
              <p:tags r:id="rId2"/>
            </p:custDataLst>
          </p:nvPr>
        </p:nvSpPr>
        <p:spPr/>
        <p:txBody>
          <a:bodyPr/>
          <a:lstStyle/>
          <a:p>
            <a:r>
              <a:rPr lang="en-US" dirty="0" smtClean="0"/>
              <a:t>The Power Problem</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2</a:t>
            </a:fld>
            <a:endParaRPr lang="en-US" altLang="en-US"/>
          </a:p>
        </p:txBody>
      </p:sp>
      <p:sp>
        <p:nvSpPr>
          <p:cNvPr id="6" name="Rectangle 4"/>
          <p:cNvSpPr txBox="1">
            <a:spLocks noChangeArrowheads="1"/>
          </p:cNvSpPr>
          <p:nvPr>
            <p:custDataLst>
              <p:tags r:id="rId5"/>
            </p:custDataLst>
          </p:nvPr>
        </p:nvSpPr>
        <p:spPr bwMode="auto">
          <a:xfrm>
            <a:off x="2362200" y="1447800"/>
            <a:ext cx="4343400" cy="3657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800" b="0" i="0" u="none" strike="noStrike" kern="0" cap="none" spc="0" normalizeH="0" baseline="0" noProof="0" dirty="0" smtClean="0">
                <a:ln>
                  <a:noFill/>
                </a:ln>
                <a:solidFill>
                  <a:schemeClr val="tx1"/>
                </a:solidFill>
                <a:effectLst/>
                <a:uLnTx/>
                <a:uFillTx/>
                <a:latin typeface="+mj-lt"/>
                <a:ea typeface="+mn-ea"/>
                <a:cs typeface="+mn-cs"/>
              </a:rPr>
              <a:t>Power related</a:t>
            </a:r>
            <a:r>
              <a:rPr kumimoji="0" lang="en-US" sz="2800" b="0" i="0" u="none" strike="noStrike" kern="0" cap="none" spc="0" normalizeH="0" noProof="0" dirty="0" smtClean="0">
                <a:ln>
                  <a:noFill/>
                </a:ln>
                <a:solidFill>
                  <a:schemeClr val="tx1"/>
                </a:solidFill>
                <a:effectLst/>
                <a:uLnTx/>
                <a:uFillTx/>
                <a:latin typeface="+mj-lt"/>
                <a:ea typeface="+mn-ea"/>
                <a:cs typeface="+mn-cs"/>
              </a:rPr>
              <a:t> issues</a:t>
            </a:r>
            <a:r>
              <a:rPr kumimoji="0" lang="en-US" sz="2800" b="0" i="0" u="none" strike="noStrike" kern="0" cap="none" spc="0" normalizeH="0" baseline="0" noProof="0" dirty="0" smtClean="0">
                <a:ln>
                  <a:noFill/>
                </a:ln>
                <a:solidFill>
                  <a:schemeClr val="tx1"/>
                </a:solidFill>
                <a:effectLst/>
                <a:uLnTx/>
                <a:uFillTx/>
                <a:latin typeface="+mj-lt"/>
                <a:ea typeface="+mn-ea"/>
                <a:cs typeface="+mn-cs"/>
              </a:rPr>
              <a:t>:</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tx1"/>
                </a:solidFill>
                <a:effectLst/>
                <a:uLnTx/>
                <a:uFillTx/>
                <a:latin typeface="+mj-lt"/>
              </a:rPr>
              <a:t>Wall power costs</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tx1"/>
                </a:solidFill>
                <a:effectLst/>
                <a:uLnTx/>
                <a:uFillTx/>
                <a:latin typeface="+mj-lt"/>
              </a:rPr>
              <a:t>Processor design constraints</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tx1"/>
                </a:solidFill>
                <a:effectLst/>
                <a:uLnTx/>
                <a:uFillTx/>
                <a:latin typeface="+mj-lt"/>
              </a:rPr>
              <a:t>Power delivery </a:t>
            </a:r>
            <a:r>
              <a:rPr lang="en-US" sz="2400" kern="0" dirty="0" smtClean="0">
                <a:latin typeface="+mj-lt"/>
              </a:rPr>
              <a:t>network</a:t>
            </a:r>
            <a:endParaRPr kumimoji="0" lang="en-US" sz="2400" b="0" i="0" u="none" strike="noStrike" kern="0" cap="none" spc="0" normalizeH="0" baseline="0" noProof="0" dirty="0" smtClean="0">
              <a:ln>
                <a:noFill/>
              </a:ln>
              <a:solidFill>
                <a:schemeClr val="tx1"/>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lang="en-US" sz="2400" kern="0" dirty="0" smtClean="0">
                <a:latin typeface="+mj-lt"/>
              </a:rPr>
              <a:t>Thermals</a:t>
            </a:r>
            <a:endParaRPr kumimoji="0" lang="en-US" sz="2400" b="0" i="0" u="none" strike="noStrike" kern="0" cap="none" spc="0" normalizeH="0" baseline="0" noProof="0" dirty="0" smtClean="0">
              <a:ln>
                <a:noFill/>
              </a:ln>
              <a:solidFill>
                <a:schemeClr val="tx1"/>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tx1"/>
                </a:solidFill>
                <a:effectLst/>
                <a:uLnTx/>
                <a:uFillTx/>
                <a:latin typeface="+mj-lt"/>
              </a:rPr>
              <a:t>Packaging</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lang="en-US" sz="2400" kern="0" dirty="0" smtClean="0">
                <a:latin typeface="+mj-lt"/>
              </a:rPr>
              <a:t>Reliability</a:t>
            </a:r>
            <a:endParaRPr kumimoji="0" lang="en-US" sz="2400" b="0" i="0" u="none" strike="noStrike" kern="0" cap="none" spc="0" normalizeH="0" baseline="0" noProof="0" dirty="0" smtClean="0">
              <a:ln>
                <a:noFill/>
              </a:ln>
              <a:solidFill>
                <a:schemeClr val="tx1"/>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mj-lt"/>
            </a:endParaRPr>
          </a:p>
        </p:txBody>
      </p:sp>
      <p:pic>
        <p:nvPicPr>
          <p:cNvPr id="131074" name="Picture 2"/>
          <p:cNvPicPr>
            <a:picLocks noChangeAspect="1" noChangeArrowheads="1"/>
          </p:cNvPicPr>
          <p:nvPr/>
        </p:nvPicPr>
        <p:blipFill>
          <a:blip r:embed="rId10"/>
          <a:srcRect/>
          <a:stretch>
            <a:fillRect/>
          </a:stretch>
        </p:blipFill>
        <p:spPr bwMode="auto">
          <a:xfrm>
            <a:off x="6539284" y="457200"/>
            <a:ext cx="963210" cy="1457325"/>
          </a:xfrm>
          <a:prstGeom prst="rect">
            <a:avLst/>
          </a:prstGeom>
          <a:noFill/>
          <a:ln w="9525">
            <a:noFill/>
            <a:miter lim="800000"/>
            <a:headEnd/>
            <a:tailEnd/>
          </a:ln>
          <a:effectLst/>
        </p:spPr>
      </p:pic>
      <p:pic>
        <p:nvPicPr>
          <p:cNvPr id="131076" name="Picture 4"/>
          <p:cNvPicPr>
            <a:picLocks noChangeAspect="1" noChangeArrowheads="1"/>
          </p:cNvPicPr>
          <p:nvPr/>
        </p:nvPicPr>
        <p:blipFill>
          <a:blip r:embed="rId11"/>
          <a:srcRect/>
          <a:stretch>
            <a:fillRect/>
          </a:stretch>
        </p:blipFill>
        <p:spPr bwMode="auto">
          <a:xfrm>
            <a:off x="5791200" y="4114800"/>
            <a:ext cx="2349198" cy="2006772"/>
          </a:xfrm>
          <a:prstGeom prst="rect">
            <a:avLst/>
          </a:prstGeom>
          <a:noFill/>
          <a:ln w="9525">
            <a:noFill/>
            <a:miter lim="800000"/>
            <a:headEnd/>
            <a:tailEnd/>
          </a:ln>
          <a:effectLst/>
        </p:spPr>
      </p:pic>
      <p:pic>
        <p:nvPicPr>
          <p:cNvPr id="131077" name="Picture 5"/>
          <p:cNvPicPr>
            <a:picLocks noChangeAspect="1" noChangeArrowheads="1"/>
          </p:cNvPicPr>
          <p:nvPr/>
        </p:nvPicPr>
        <p:blipFill>
          <a:blip r:embed="rId12"/>
          <a:srcRect/>
          <a:stretch>
            <a:fillRect/>
          </a:stretch>
        </p:blipFill>
        <p:spPr bwMode="auto">
          <a:xfrm>
            <a:off x="893663" y="1143000"/>
            <a:ext cx="1239937" cy="1219200"/>
          </a:xfrm>
          <a:prstGeom prst="rect">
            <a:avLst/>
          </a:prstGeom>
          <a:noFill/>
          <a:ln w="9525">
            <a:noFill/>
            <a:miter lim="800000"/>
            <a:headEnd/>
            <a:tailEnd/>
          </a:ln>
          <a:effectLst/>
        </p:spPr>
      </p:pic>
      <p:sp>
        <p:nvSpPr>
          <p:cNvPr id="19" name="Rectangle 18"/>
          <p:cNvSpPr/>
          <p:nvPr/>
        </p:nvSpPr>
        <p:spPr>
          <a:xfrm rot="2400000">
            <a:off x="7485461" y="354947"/>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sp>
        <p:nvSpPr>
          <p:cNvPr id="20" name="Rectangle 19"/>
          <p:cNvSpPr/>
          <p:nvPr/>
        </p:nvSpPr>
        <p:spPr>
          <a:xfrm rot="7200000">
            <a:off x="7595048" y="931159"/>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sp>
        <p:nvSpPr>
          <p:cNvPr id="21" name="Rectangle 20"/>
          <p:cNvSpPr/>
          <p:nvPr/>
        </p:nvSpPr>
        <p:spPr>
          <a:xfrm rot="13800000">
            <a:off x="6211358" y="951479"/>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sp>
        <p:nvSpPr>
          <p:cNvPr id="22" name="Rectangle 21"/>
          <p:cNvSpPr/>
          <p:nvPr/>
        </p:nvSpPr>
        <p:spPr>
          <a:xfrm rot="18600000">
            <a:off x="6211358" y="341879"/>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pic>
        <p:nvPicPr>
          <p:cNvPr id="26" name="Picture 25" descr="failure_rate.gif"/>
          <p:cNvPicPr>
            <a:picLocks noChangeAspect="1"/>
          </p:cNvPicPr>
          <p:nvPr/>
        </p:nvPicPr>
        <p:blipFill>
          <a:blip r:embed="rId13"/>
          <a:stretch>
            <a:fillRect/>
          </a:stretch>
        </p:blipFill>
        <p:spPr>
          <a:xfrm>
            <a:off x="152400" y="3323617"/>
            <a:ext cx="2057400" cy="1400783"/>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The Power Problem</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3</a:t>
            </a:fld>
            <a:endParaRPr lang="en-US" altLang="en-US"/>
          </a:p>
        </p:txBody>
      </p:sp>
      <p:sp>
        <p:nvSpPr>
          <p:cNvPr id="6" name="Rectangle 4"/>
          <p:cNvSpPr txBox="1">
            <a:spLocks noChangeArrowheads="1"/>
          </p:cNvSpPr>
          <p:nvPr>
            <p:custDataLst>
              <p:tags r:id="rId5"/>
            </p:custDataLst>
          </p:nvPr>
        </p:nvSpPr>
        <p:spPr bwMode="auto">
          <a:xfrm>
            <a:off x="2362200" y="1447800"/>
            <a:ext cx="4343400" cy="3657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800" b="0" i="0" u="none" strike="noStrike" kern="0" cap="none" spc="0" normalizeH="0" baseline="0" noProof="0" dirty="0" smtClean="0">
                <a:ln>
                  <a:noFill/>
                </a:ln>
                <a:solidFill>
                  <a:schemeClr val="tx1"/>
                </a:solidFill>
                <a:effectLst/>
                <a:uLnTx/>
                <a:uFillTx/>
                <a:latin typeface="+mj-lt"/>
                <a:ea typeface="+mn-ea"/>
                <a:cs typeface="+mn-cs"/>
              </a:rPr>
              <a:t>Power related</a:t>
            </a:r>
            <a:r>
              <a:rPr kumimoji="0" lang="en-US" sz="2800" b="0" i="0" u="none" strike="noStrike" kern="0" cap="none" spc="0" normalizeH="0" noProof="0" dirty="0" smtClean="0">
                <a:ln>
                  <a:noFill/>
                </a:ln>
                <a:solidFill>
                  <a:schemeClr val="tx1"/>
                </a:solidFill>
                <a:effectLst/>
                <a:uLnTx/>
                <a:uFillTx/>
                <a:latin typeface="+mj-lt"/>
                <a:ea typeface="+mn-ea"/>
                <a:cs typeface="+mn-cs"/>
              </a:rPr>
              <a:t> issues</a:t>
            </a:r>
            <a:r>
              <a:rPr kumimoji="0" lang="en-US" sz="2800" b="0" i="0" u="none" strike="noStrike" kern="0" cap="none" spc="0" normalizeH="0" baseline="0" noProof="0" dirty="0" smtClean="0">
                <a:ln>
                  <a:noFill/>
                </a:ln>
                <a:solidFill>
                  <a:schemeClr val="tx1"/>
                </a:solidFill>
                <a:effectLst/>
                <a:uLnTx/>
                <a:uFillTx/>
                <a:latin typeface="+mj-lt"/>
                <a:ea typeface="+mn-ea"/>
                <a:cs typeface="+mn-cs"/>
              </a:rPr>
              <a:t>:</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1" i="0" u="none" strike="noStrike" kern="0" cap="none" spc="0" normalizeH="0" baseline="0" noProof="0" dirty="0" smtClean="0">
                <a:ln>
                  <a:noFill/>
                </a:ln>
                <a:solidFill>
                  <a:schemeClr val="tx1"/>
                </a:solidFill>
                <a:effectLst/>
                <a:uLnTx/>
                <a:uFillTx/>
                <a:latin typeface="+mj-lt"/>
              </a:rPr>
              <a:t>Wall power costs</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bg1">
                    <a:lumMod val="85000"/>
                  </a:schemeClr>
                </a:solidFill>
                <a:effectLst/>
                <a:uLnTx/>
                <a:uFillTx/>
                <a:latin typeface="+mj-lt"/>
              </a:rPr>
              <a:t>Processor design constraints</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bg1">
                    <a:lumMod val="85000"/>
                  </a:schemeClr>
                </a:solidFill>
                <a:effectLst/>
                <a:uLnTx/>
                <a:uFillTx/>
                <a:latin typeface="+mj-lt"/>
              </a:rPr>
              <a:t>Power delivery </a:t>
            </a:r>
            <a:r>
              <a:rPr lang="en-US" sz="2400" kern="0" dirty="0" smtClean="0">
                <a:solidFill>
                  <a:schemeClr val="bg1">
                    <a:lumMod val="85000"/>
                  </a:schemeClr>
                </a:solidFill>
                <a:latin typeface="+mj-lt"/>
              </a:rPr>
              <a:t>network</a:t>
            </a:r>
            <a:endParaRPr kumimoji="0" lang="en-US" sz="2400" b="0" i="0" u="none" strike="noStrike" kern="0" cap="none" spc="0" normalizeH="0" baseline="0" noProof="0" dirty="0" smtClean="0">
              <a:ln>
                <a:noFill/>
              </a:ln>
              <a:solidFill>
                <a:schemeClr val="bg1">
                  <a:lumMod val="85000"/>
                </a:schemeClr>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lang="en-US" sz="2400" b="1" kern="0" dirty="0" smtClean="0">
                <a:latin typeface="+mj-lt"/>
              </a:rPr>
              <a:t>Thermals</a:t>
            </a:r>
            <a:endParaRPr kumimoji="0" lang="en-US" sz="2400" b="1" i="0" u="none" strike="noStrike" kern="0" cap="none" spc="0" normalizeH="0" baseline="0" noProof="0" dirty="0" smtClean="0">
              <a:ln>
                <a:noFill/>
              </a:ln>
              <a:solidFill>
                <a:schemeClr val="tx1"/>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bg1">
                    <a:lumMod val="85000"/>
                  </a:schemeClr>
                </a:solidFill>
                <a:effectLst/>
                <a:uLnTx/>
                <a:uFillTx/>
                <a:latin typeface="+mj-lt"/>
              </a:rPr>
              <a:t>Packaging</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lang="en-US" sz="2400" b="1" kern="0" dirty="0" smtClean="0">
                <a:latin typeface="+mj-lt"/>
              </a:rPr>
              <a:t>Reliability</a:t>
            </a:r>
            <a:endParaRPr kumimoji="0" lang="en-US" sz="2400" b="1" i="0" u="none" strike="noStrike" kern="0" cap="none" spc="0" normalizeH="0" baseline="0" noProof="0" dirty="0" smtClean="0">
              <a:ln>
                <a:noFill/>
              </a:ln>
              <a:solidFill>
                <a:schemeClr val="tx1"/>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mj-lt"/>
            </a:endParaRPr>
          </a:p>
        </p:txBody>
      </p:sp>
      <p:pic>
        <p:nvPicPr>
          <p:cNvPr id="131074" name="Picture 2"/>
          <p:cNvPicPr>
            <a:picLocks noChangeAspect="1" noChangeArrowheads="1"/>
          </p:cNvPicPr>
          <p:nvPr/>
        </p:nvPicPr>
        <p:blipFill>
          <a:blip r:embed="rId9"/>
          <a:srcRect/>
          <a:stretch>
            <a:fillRect/>
          </a:stretch>
        </p:blipFill>
        <p:spPr bwMode="auto">
          <a:xfrm>
            <a:off x="6539284" y="457200"/>
            <a:ext cx="963210" cy="1457325"/>
          </a:xfrm>
          <a:prstGeom prst="rect">
            <a:avLst/>
          </a:prstGeom>
          <a:noFill/>
          <a:ln w="9525">
            <a:noFill/>
            <a:miter lim="800000"/>
            <a:headEnd/>
            <a:tailEnd/>
          </a:ln>
          <a:effectLst/>
        </p:spPr>
      </p:pic>
      <p:pic>
        <p:nvPicPr>
          <p:cNvPr id="131076" name="Picture 4"/>
          <p:cNvPicPr>
            <a:picLocks noChangeAspect="1" noChangeArrowheads="1"/>
          </p:cNvPicPr>
          <p:nvPr/>
        </p:nvPicPr>
        <p:blipFill>
          <a:blip r:embed="rId10"/>
          <a:srcRect/>
          <a:stretch>
            <a:fillRect/>
          </a:stretch>
        </p:blipFill>
        <p:spPr bwMode="auto">
          <a:xfrm>
            <a:off x="5791200" y="4114800"/>
            <a:ext cx="2349198" cy="2006772"/>
          </a:xfrm>
          <a:prstGeom prst="rect">
            <a:avLst/>
          </a:prstGeom>
          <a:noFill/>
          <a:ln w="9525">
            <a:noFill/>
            <a:miter lim="800000"/>
            <a:headEnd/>
            <a:tailEnd/>
          </a:ln>
          <a:effectLst/>
        </p:spPr>
      </p:pic>
      <p:sp>
        <p:nvSpPr>
          <p:cNvPr id="19" name="Rectangle 18"/>
          <p:cNvSpPr/>
          <p:nvPr/>
        </p:nvSpPr>
        <p:spPr>
          <a:xfrm rot="2400000">
            <a:off x="7485461" y="354947"/>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sp>
        <p:nvSpPr>
          <p:cNvPr id="20" name="Rectangle 19"/>
          <p:cNvSpPr/>
          <p:nvPr/>
        </p:nvSpPr>
        <p:spPr>
          <a:xfrm rot="7200000">
            <a:off x="7595048" y="931159"/>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sp>
        <p:nvSpPr>
          <p:cNvPr id="21" name="Rectangle 20"/>
          <p:cNvSpPr/>
          <p:nvPr/>
        </p:nvSpPr>
        <p:spPr>
          <a:xfrm rot="13800000">
            <a:off x="6211358" y="951479"/>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sp>
        <p:nvSpPr>
          <p:cNvPr id="22" name="Rectangle 21"/>
          <p:cNvSpPr/>
          <p:nvPr/>
        </p:nvSpPr>
        <p:spPr>
          <a:xfrm rot="18600000">
            <a:off x="6211358" y="341879"/>
            <a:ext cx="340787" cy="52322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2800" b="1" cap="none" spc="0" dirty="0" smtClean="0">
                <a:ln w="11430"/>
                <a:solidFill>
                  <a:srgbClr val="FFFF00"/>
                </a:solidFill>
                <a:effectLst>
                  <a:outerShdw blurRad="50800" dist="39000" dir="5460000" algn="tl">
                    <a:srgbClr val="000000">
                      <a:alpha val="38000"/>
                    </a:srgbClr>
                  </a:outerShdw>
                </a:effectLst>
              </a:rPr>
              <a:t>$</a:t>
            </a:r>
            <a:endParaRPr lang="en-US" sz="2800" b="1" cap="none" spc="0" dirty="0">
              <a:ln w="11430"/>
              <a:solidFill>
                <a:srgbClr val="FFFF00"/>
              </a:solidFill>
              <a:effectLst>
                <a:outerShdw blurRad="50800" dist="39000" dir="5460000" algn="tl">
                  <a:srgbClr val="000000">
                    <a:alpha val="38000"/>
                  </a:srgbClr>
                </a:outerShdw>
              </a:effectLst>
            </a:endParaRPr>
          </a:p>
        </p:txBody>
      </p:sp>
      <p:pic>
        <p:nvPicPr>
          <p:cNvPr id="26" name="Picture 25" descr="failure_rate.gif"/>
          <p:cNvPicPr>
            <a:picLocks noChangeAspect="1"/>
          </p:cNvPicPr>
          <p:nvPr/>
        </p:nvPicPr>
        <p:blipFill>
          <a:blip r:embed="rId11"/>
          <a:stretch>
            <a:fillRect/>
          </a:stretch>
        </p:blipFill>
        <p:spPr>
          <a:xfrm>
            <a:off x="152400" y="3323617"/>
            <a:ext cx="2057400" cy="1400783"/>
          </a:xfrm>
          <a:prstGeom prst="rect">
            <a:avLst/>
          </a:prstGeom>
        </p:spPr>
      </p:pic>
      <p:sp>
        <p:nvSpPr>
          <p:cNvPr id="16" name="TextBox 15"/>
          <p:cNvSpPr txBox="1"/>
          <p:nvPr>
            <p:custDataLst>
              <p:tags r:id="rId6"/>
            </p:custDataLst>
          </p:nvPr>
        </p:nvSpPr>
        <p:spPr>
          <a:xfrm>
            <a:off x="3276600" y="4953000"/>
            <a:ext cx="2438400" cy="52322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2800" dirty="0" smtClean="0">
                <a:latin typeface="+mj-lt"/>
              </a:rPr>
              <a:t>Average Power</a:t>
            </a:r>
            <a:endParaRPr lang="en-US" sz="2800" dirty="0">
              <a:latin typeface="+mj-lt"/>
            </a:endParaRPr>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86" name="Picture 14"/>
          <p:cNvPicPr>
            <a:picLocks noChangeAspect="1" noChangeArrowheads="1"/>
          </p:cNvPicPr>
          <p:nvPr/>
        </p:nvPicPr>
        <p:blipFill>
          <a:blip r:embed="rId9"/>
          <a:srcRect/>
          <a:stretch>
            <a:fillRect/>
          </a:stretch>
        </p:blipFill>
        <p:spPr bwMode="auto">
          <a:xfrm>
            <a:off x="6477000" y="2209800"/>
            <a:ext cx="2590800" cy="1414123"/>
          </a:xfrm>
          <a:prstGeom prst="rect">
            <a:avLst/>
          </a:prstGeom>
          <a:noFill/>
          <a:ln w="9525">
            <a:noFill/>
            <a:miter lim="800000"/>
            <a:headEnd/>
            <a:tailEnd/>
          </a:ln>
          <a:effectLst/>
        </p:spPr>
      </p:pic>
      <p:pic>
        <p:nvPicPr>
          <p:cNvPr id="131083" name="Picture 11"/>
          <p:cNvPicPr>
            <a:picLocks noChangeAspect="1" noChangeArrowheads="1"/>
          </p:cNvPicPr>
          <p:nvPr/>
        </p:nvPicPr>
        <p:blipFill>
          <a:blip r:embed="rId10" cstate="print"/>
          <a:srcRect/>
          <a:stretch>
            <a:fillRect/>
          </a:stretch>
        </p:blipFill>
        <p:spPr bwMode="auto">
          <a:xfrm>
            <a:off x="1524000" y="4800600"/>
            <a:ext cx="1651763" cy="1308488"/>
          </a:xfrm>
          <a:prstGeom prst="rect">
            <a:avLst/>
          </a:prstGeom>
          <a:noFill/>
          <a:ln w="9525">
            <a:noFill/>
            <a:miter lim="800000"/>
            <a:headEnd/>
            <a:tailEnd/>
          </a:ln>
          <a:effectLst/>
        </p:spPr>
      </p:pic>
      <p:sp>
        <p:nvSpPr>
          <p:cNvPr id="2" name="Title 1"/>
          <p:cNvSpPr>
            <a:spLocks noGrp="1"/>
          </p:cNvSpPr>
          <p:nvPr>
            <p:ph type="title"/>
            <p:custDataLst>
              <p:tags r:id="rId2"/>
            </p:custDataLst>
          </p:nvPr>
        </p:nvSpPr>
        <p:spPr/>
        <p:txBody>
          <a:bodyPr/>
          <a:lstStyle/>
          <a:p>
            <a:r>
              <a:rPr lang="en-US" dirty="0" smtClean="0"/>
              <a:t>The Power Problem</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4</a:t>
            </a:fld>
            <a:endParaRPr lang="en-US" altLang="en-US"/>
          </a:p>
        </p:txBody>
      </p:sp>
      <p:sp>
        <p:nvSpPr>
          <p:cNvPr id="6" name="Rectangle 4"/>
          <p:cNvSpPr txBox="1">
            <a:spLocks noChangeArrowheads="1"/>
          </p:cNvSpPr>
          <p:nvPr>
            <p:custDataLst>
              <p:tags r:id="rId5"/>
            </p:custDataLst>
          </p:nvPr>
        </p:nvSpPr>
        <p:spPr bwMode="auto">
          <a:xfrm>
            <a:off x="2362200" y="1447800"/>
            <a:ext cx="4572000" cy="3657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800" b="0" i="0" u="none" strike="noStrike" kern="0" cap="none" spc="0" normalizeH="0" baseline="0" noProof="0" dirty="0" smtClean="0">
                <a:ln>
                  <a:noFill/>
                </a:ln>
                <a:solidFill>
                  <a:schemeClr val="tx1"/>
                </a:solidFill>
                <a:effectLst/>
                <a:uLnTx/>
                <a:uFillTx/>
                <a:latin typeface="+mj-lt"/>
                <a:ea typeface="+mn-ea"/>
                <a:cs typeface="+mn-cs"/>
              </a:rPr>
              <a:t>Power related</a:t>
            </a:r>
            <a:r>
              <a:rPr kumimoji="0" lang="en-US" sz="2800" b="0" i="0" u="none" strike="noStrike" kern="0" cap="none" spc="0" normalizeH="0" noProof="0" dirty="0" smtClean="0">
                <a:ln>
                  <a:noFill/>
                </a:ln>
                <a:solidFill>
                  <a:schemeClr val="tx1"/>
                </a:solidFill>
                <a:effectLst/>
                <a:uLnTx/>
                <a:uFillTx/>
                <a:latin typeface="+mj-lt"/>
                <a:ea typeface="+mn-ea"/>
                <a:cs typeface="+mn-cs"/>
              </a:rPr>
              <a:t> issues</a:t>
            </a:r>
            <a:r>
              <a:rPr kumimoji="0" lang="en-US" sz="2800" b="0" i="0" u="none" strike="noStrike" kern="0" cap="none" spc="0" normalizeH="0" baseline="0" noProof="0" dirty="0" smtClean="0">
                <a:ln>
                  <a:noFill/>
                </a:ln>
                <a:solidFill>
                  <a:schemeClr val="tx1"/>
                </a:solidFill>
                <a:effectLst/>
                <a:uLnTx/>
                <a:uFillTx/>
                <a:latin typeface="+mj-lt"/>
                <a:ea typeface="+mn-ea"/>
                <a:cs typeface="+mn-cs"/>
              </a:rPr>
              <a:t>:</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0" i="0" u="none" strike="noStrike" kern="0" cap="none" spc="0" normalizeH="0" baseline="0" noProof="0" dirty="0" smtClean="0">
                <a:ln>
                  <a:noFill/>
                </a:ln>
                <a:solidFill>
                  <a:schemeClr val="bg1">
                    <a:lumMod val="85000"/>
                  </a:schemeClr>
                </a:solidFill>
                <a:effectLst/>
                <a:uLnTx/>
                <a:uFillTx/>
                <a:latin typeface="+mj-lt"/>
              </a:rPr>
              <a:t>Wall power costs</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1" i="0" u="none" strike="noStrike" kern="0" cap="none" spc="0" normalizeH="0" baseline="0" noProof="0" dirty="0" smtClean="0">
                <a:ln>
                  <a:noFill/>
                </a:ln>
                <a:solidFill>
                  <a:schemeClr val="tx1"/>
                </a:solidFill>
                <a:effectLst/>
                <a:uLnTx/>
                <a:uFillTx/>
                <a:latin typeface="+mj-lt"/>
              </a:rPr>
              <a:t>Processor design constraints</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1" i="0" u="none" strike="noStrike" kern="0" cap="none" spc="0" normalizeH="0" baseline="0" noProof="0" dirty="0" smtClean="0">
                <a:ln>
                  <a:noFill/>
                </a:ln>
                <a:solidFill>
                  <a:schemeClr val="tx1"/>
                </a:solidFill>
                <a:effectLst/>
                <a:uLnTx/>
                <a:uFillTx/>
                <a:latin typeface="+mj-lt"/>
              </a:rPr>
              <a:t>Power delivery </a:t>
            </a:r>
            <a:r>
              <a:rPr lang="en-US" sz="2400" b="1" kern="0" dirty="0" smtClean="0">
                <a:latin typeface="+mj-lt"/>
              </a:rPr>
              <a:t>network</a:t>
            </a:r>
            <a:endParaRPr kumimoji="0" lang="en-US" sz="2400" b="1" i="0" u="none" strike="noStrike" kern="0" cap="none" spc="0" normalizeH="0" baseline="0" noProof="0" dirty="0" smtClean="0">
              <a:ln>
                <a:noFill/>
              </a:ln>
              <a:solidFill>
                <a:schemeClr val="tx1"/>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lang="en-US" sz="2400" kern="0" dirty="0" smtClean="0">
                <a:solidFill>
                  <a:schemeClr val="bg1">
                    <a:lumMod val="85000"/>
                  </a:schemeClr>
                </a:solidFill>
                <a:latin typeface="+mj-lt"/>
              </a:rPr>
              <a:t>Thermals</a:t>
            </a:r>
            <a:endParaRPr kumimoji="0" lang="en-US" sz="2400" b="0" i="0" u="none" strike="noStrike" kern="0" cap="none" spc="0" normalizeH="0" baseline="0" noProof="0" dirty="0" smtClean="0">
              <a:ln>
                <a:noFill/>
              </a:ln>
              <a:solidFill>
                <a:schemeClr val="bg1">
                  <a:lumMod val="85000"/>
                </a:schemeClr>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kumimoji="0" lang="en-US" sz="2400" b="1" i="0" u="none" strike="noStrike" kern="0" cap="none" spc="0" normalizeH="0" baseline="0" noProof="0" dirty="0" smtClean="0">
                <a:ln>
                  <a:noFill/>
                </a:ln>
                <a:solidFill>
                  <a:schemeClr val="tx1"/>
                </a:solidFill>
                <a:effectLst/>
                <a:uLnTx/>
                <a:uFillTx/>
                <a:latin typeface="+mj-lt"/>
              </a:rPr>
              <a:t>Packaging</a:t>
            </a: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Char char="q"/>
              <a:tabLst/>
              <a:defRPr/>
            </a:pPr>
            <a:r>
              <a:rPr lang="en-US" sz="2400" kern="0" dirty="0" smtClean="0">
                <a:solidFill>
                  <a:schemeClr val="bg1">
                    <a:lumMod val="85000"/>
                  </a:schemeClr>
                </a:solidFill>
                <a:latin typeface="+mj-lt"/>
              </a:rPr>
              <a:t>Reliability</a:t>
            </a:r>
            <a:endParaRPr kumimoji="0" lang="en-US" sz="2400" b="0" i="0" u="none" strike="noStrike" kern="0" cap="none" spc="0" normalizeH="0" baseline="0" noProof="0" dirty="0" smtClean="0">
              <a:ln>
                <a:noFill/>
              </a:ln>
              <a:solidFill>
                <a:schemeClr val="bg1">
                  <a:lumMod val="85000"/>
                </a:schemeClr>
              </a:solidFill>
              <a:effectLst/>
              <a:uLnTx/>
              <a:uFillTx/>
              <a:latin typeface="+mj-lt"/>
            </a:endParaRPr>
          </a:p>
          <a:p>
            <a:pPr marL="669925" marR="0" lvl="1" indent="-325438" algn="l" defTabSz="914400" rtl="0" eaLnBrk="1" fontAlgn="base" latinLnBrk="0" hangingPunct="1">
              <a:lnSpc>
                <a:spcPct val="100000"/>
              </a:lnSpc>
              <a:spcBef>
                <a:spcPct val="20000"/>
              </a:spcBef>
              <a:spcAft>
                <a:spcPct val="0"/>
              </a:spcAft>
              <a:buClr>
                <a:schemeClr val="accent2"/>
              </a:buClr>
              <a:buSzPct val="60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mj-lt"/>
            </a:endParaRPr>
          </a:p>
        </p:txBody>
      </p:sp>
      <p:pic>
        <p:nvPicPr>
          <p:cNvPr id="131077" name="Picture 5"/>
          <p:cNvPicPr>
            <a:picLocks noChangeAspect="1" noChangeArrowheads="1"/>
          </p:cNvPicPr>
          <p:nvPr/>
        </p:nvPicPr>
        <p:blipFill>
          <a:blip r:embed="rId11"/>
          <a:srcRect/>
          <a:stretch>
            <a:fillRect/>
          </a:stretch>
        </p:blipFill>
        <p:spPr bwMode="auto">
          <a:xfrm>
            <a:off x="893663" y="1143000"/>
            <a:ext cx="1239937" cy="1219200"/>
          </a:xfrm>
          <a:prstGeom prst="rect">
            <a:avLst/>
          </a:prstGeom>
          <a:noFill/>
          <a:ln w="9525">
            <a:noFill/>
            <a:miter lim="800000"/>
            <a:headEnd/>
            <a:tailEnd/>
          </a:ln>
          <a:effectLst/>
        </p:spPr>
      </p:pic>
      <p:sp>
        <p:nvSpPr>
          <p:cNvPr id="18" name="TextBox 17"/>
          <p:cNvSpPr txBox="1"/>
          <p:nvPr>
            <p:custDataLst>
              <p:tags r:id="rId6"/>
            </p:custDataLst>
          </p:nvPr>
        </p:nvSpPr>
        <p:spPr>
          <a:xfrm>
            <a:off x="3810000" y="4953000"/>
            <a:ext cx="1981200" cy="523220"/>
          </a:xfrm>
          <a:prstGeom prst="rect">
            <a:avLst/>
          </a:prstGeom>
          <a:gradFill>
            <a:gsLst>
              <a:gs pos="0">
                <a:srgbClr val="D6B19C"/>
              </a:gs>
              <a:gs pos="30000">
                <a:srgbClr val="D49E6C"/>
              </a:gs>
              <a:gs pos="70000">
                <a:srgbClr val="A65528"/>
              </a:gs>
              <a:gs pos="100000">
                <a:srgbClr val="663012"/>
              </a:gs>
            </a:gsLst>
            <a:lin ang="5400000" scaled="0"/>
          </a:gradFill>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2800" dirty="0" smtClean="0">
                <a:latin typeface="+mj-lt"/>
              </a:rPr>
              <a:t>Peak Power</a:t>
            </a:r>
            <a:endParaRPr lang="en-US" sz="2800" dirty="0">
              <a:latin typeface="+mj-lt"/>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Theoretical Peak </a:t>
            </a:r>
            <a:r>
              <a:rPr lang="en-US" dirty="0" err="1" smtClean="0"/>
              <a:t>vs</a:t>
            </a:r>
            <a:r>
              <a:rPr lang="en-US" dirty="0" smtClean="0"/>
              <a:t> Execution Peak</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5</a:t>
            </a:fld>
            <a:endParaRPr lang="en-US" altLang="en-US"/>
          </a:p>
        </p:txBody>
      </p:sp>
      <p:pic>
        <p:nvPicPr>
          <p:cNvPr id="29" name="Picture 5"/>
          <p:cNvPicPr>
            <a:picLocks noChangeAspect="1" noChangeArrowheads="1"/>
          </p:cNvPicPr>
          <p:nvPr>
            <p:custDataLst>
              <p:tags r:id="rId5"/>
            </p:custDataLst>
          </p:nvPr>
        </p:nvPicPr>
        <p:blipFill>
          <a:blip r:embed="rId10"/>
          <a:srcRect/>
          <a:stretch>
            <a:fillRect/>
          </a:stretch>
        </p:blipFill>
        <p:spPr bwMode="auto">
          <a:xfrm>
            <a:off x="1447800" y="1524000"/>
            <a:ext cx="6159484" cy="4038600"/>
          </a:xfrm>
          <a:prstGeom prst="rect">
            <a:avLst/>
          </a:prstGeom>
          <a:noFill/>
          <a:ln w="9525">
            <a:noFill/>
            <a:miter lim="800000"/>
            <a:headEnd/>
            <a:tailEnd/>
          </a:ln>
          <a:effectLst/>
        </p:spPr>
      </p:pic>
      <p:sp>
        <p:nvSpPr>
          <p:cNvPr id="30" name="TextBox 29"/>
          <p:cNvSpPr txBox="1"/>
          <p:nvPr>
            <p:custDataLst>
              <p:tags r:id="rId6"/>
            </p:custDataLst>
          </p:nvPr>
        </p:nvSpPr>
        <p:spPr>
          <a:xfrm>
            <a:off x="3810000" y="5334000"/>
            <a:ext cx="1319300" cy="523220"/>
          </a:xfrm>
          <a:prstGeom prst="rect">
            <a:avLst/>
          </a:prstGeom>
          <a:noFill/>
        </p:spPr>
        <p:txBody>
          <a:bodyPr wrap="square" rtlCol="0">
            <a:spAutoFit/>
          </a:bodyPr>
          <a:lstStyle/>
          <a:p>
            <a:r>
              <a:rPr lang="en-US" sz="2800" dirty="0" smtClean="0">
                <a:latin typeface="+mj-lt"/>
              </a:rPr>
              <a:t>Time</a:t>
            </a:r>
            <a:endParaRPr lang="en-US" sz="2800" dirty="0">
              <a:latin typeface="+mj-lt"/>
            </a:endParaRPr>
          </a:p>
        </p:txBody>
      </p:sp>
      <p:sp>
        <p:nvSpPr>
          <p:cNvPr id="32" name="TextBox 31"/>
          <p:cNvSpPr txBox="1"/>
          <p:nvPr>
            <p:custDataLst>
              <p:tags r:id="rId7"/>
            </p:custDataLst>
          </p:nvPr>
        </p:nvSpPr>
        <p:spPr>
          <a:xfrm>
            <a:off x="380999" y="3072094"/>
            <a:ext cx="1438591" cy="523220"/>
          </a:xfrm>
          <a:prstGeom prst="rect">
            <a:avLst/>
          </a:prstGeom>
          <a:noFill/>
        </p:spPr>
        <p:txBody>
          <a:bodyPr wrap="square" rtlCol="0">
            <a:spAutoFit/>
          </a:bodyPr>
          <a:lstStyle/>
          <a:p>
            <a:r>
              <a:rPr lang="en-US" sz="2800" dirty="0" smtClean="0">
                <a:latin typeface="+mj-lt"/>
              </a:rPr>
              <a:t>Power</a:t>
            </a:r>
            <a:endParaRPr lang="en-US" sz="2800" dirty="0">
              <a:latin typeface="+mj-lt"/>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Theoretical Peak </a:t>
            </a:r>
            <a:r>
              <a:rPr lang="en-US" dirty="0" err="1" smtClean="0"/>
              <a:t>vs</a:t>
            </a:r>
            <a:r>
              <a:rPr lang="en-US" dirty="0" smtClean="0"/>
              <a:t> Execution Peak</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6</a:t>
            </a:fld>
            <a:endParaRPr lang="en-US" altLang="en-US"/>
          </a:p>
        </p:txBody>
      </p:sp>
      <p:pic>
        <p:nvPicPr>
          <p:cNvPr id="29" name="Picture 5"/>
          <p:cNvPicPr>
            <a:picLocks noChangeAspect="1" noChangeArrowheads="1"/>
          </p:cNvPicPr>
          <p:nvPr>
            <p:custDataLst>
              <p:tags r:id="rId5"/>
            </p:custDataLst>
          </p:nvPr>
        </p:nvPicPr>
        <p:blipFill>
          <a:blip r:embed="rId13"/>
          <a:srcRect/>
          <a:stretch>
            <a:fillRect/>
          </a:stretch>
        </p:blipFill>
        <p:spPr bwMode="auto">
          <a:xfrm>
            <a:off x="1447800" y="1524000"/>
            <a:ext cx="6159484" cy="4038600"/>
          </a:xfrm>
          <a:prstGeom prst="rect">
            <a:avLst/>
          </a:prstGeom>
          <a:noFill/>
          <a:ln w="9525">
            <a:noFill/>
            <a:miter lim="800000"/>
            <a:headEnd/>
            <a:tailEnd/>
          </a:ln>
          <a:effectLst/>
        </p:spPr>
      </p:pic>
      <p:sp>
        <p:nvSpPr>
          <p:cNvPr id="30" name="TextBox 29"/>
          <p:cNvSpPr txBox="1"/>
          <p:nvPr>
            <p:custDataLst>
              <p:tags r:id="rId6"/>
            </p:custDataLst>
          </p:nvPr>
        </p:nvSpPr>
        <p:spPr>
          <a:xfrm>
            <a:off x="3810000" y="5334000"/>
            <a:ext cx="1319300" cy="523220"/>
          </a:xfrm>
          <a:prstGeom prst="rect">
            <a:avLst/>
          </a:prstGeom>
          <a:noFill/>
        </p:spPr>
        <p:txBody>
          <a:bodyPr wrap="square" rtlCol="0">
            <a:spAutoFit/>
          </a:bodyPr>
          <a:lstStyle/>
          <a:p>
            <a:r>
              <a:rPr lang="en-US" sz="2800" dirty="0" smtClean="0">
                <a:latin typeface="+mj-lt"/>
              </a:rPr>
              <a:t>Time</a:t>
            </a:r>
            <a:endParaRPr lang="en-US" sz="2800" dirty="0">
              <a:latin typeface="+mj-lt"/>
            </a:endParaRPr>
          </a:p>
        </p:txBody>
      </p:sp>
      <p:grpSp>
        <p:nvGrpSpPr>
          <p:cNvPr id="3" name="Group 30"/>
          <p:cNvGrpSpPr/>
          <p:nvPr>
            <p:custDataLst>
              <p:tags r:id="rId7"/>
            </p:custDataLst>
          </p:nvPr>
        </p:nvGrpSpPr>
        <p:grpSpPr>
          <a:xfrm>
            <a:off x="380999" y="3072092"/>
            <a:ext cx="7960140" cy="1047170"/>
            <a:chOff x="-312599" y="3239868"/>
            <a:chExt cx="9694957" cy="1209647"/>
          </a:xfrm>
        </p:grpSpPr>
        <p:sp>
          <p:nvSpPr>
            <p:cNvPr id="32" name="TextBox 31"/>
            <p:cNvSpPr txBox="1"/>
            <p:nvPr>
              <p:custDataLst>
                <p:tags r:id="rId8"/>
              </p:custDataLst>
            </p:nvPr>
          </p:nvSpPr>
          <p:spPr>
            <a:xfrm>
              <a:off x="-312599" y="3239868"/>
              <a:ext cx="1752115" cy="604401"/>
            </a:xfrm>
            <a:prstGeom prst="rect">
              <a:avLst/>
            </a:prstGeom>
            <a:noFill/>
          </p:spPr>
          <p:txBody>
            <a:bodyPr wrap="square" rtlCol="0">
              <a:spAutoFit/>
            </a:bodyPr>
            <a:lstStyle/>
            <a:p>
              <a:r>
                <a:rPr lang="en-US" sz="2800" dirty="0" smtClean="0">
                  <a:latin typeface="+mj-lt"/>
                </a:rPr>
                <a:t>Power</a:t>
              </a:r>
              <a:endParaRPr lang="en-US" sz="2800" dirty="0">
                <a:latin typeface="+mj-lt"/>
              </a:endParaRPr>
            </a:p>
          </p:txBody>
        </p:sp>
        <p:cxnSp>
          <p:nvCxnSpPr>
            <p:cNvPr id="33" name="Straight Connector 32"/>
            <p:cNvCxnSpPr/>
            <p:nvPr>
              <p:custDataLst>
                <p:tags r:id="rId9"/>
              </p:custDataLst>
            </p:nvPr>
          </p:nvCxnSpPr>
          <p:spPr>
            <a:xfrm rot="10800000">
              <a:off x="1172313" y="4427094"/>
              <a:ext cx="7230716" cy="1589"/>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custDataLst>
                <p:tags r:id="rId10"/>
              </p:custDataLst>
            </p:nvPr>
          </p:nvSpPr>
          <p:spPr>
            <a:xfrm>
              <a:off x="7157649" y="3916219"/>
              <a:ext cx="2224709" cy="533296"/>
            </a:xfrm>
            <a:prstGeom prst="rect">
              <a:avLst/>
            </a:prstGeom>
            <a:noFill/>
          </p:spPr>
          <p:txBody>
            <a:bodyPr wrap="square" rtlCol="0">
              <a:spAutoFit/>
            </a:bodyPr>
            <a:lstStyle/>
            <a:p>
              <a:r>
                <a:rPr lang="en-US" sz="2400" dirty="0" smtClean="0">
                  <a:solidFill>
                    <a:srgbClr val="FFC000"/>
                  </a:solidFill>
                  <a:latin typeface="+mj-lt"/>
                </a:rPr>
                <a:t>Average</a:t>
              </a:r>
              <a:endParaRPr lang="en-US" sz="2400" dirty="0">
                <a:solidFill>
                  <a:srgbClr val="FFC000"/>
                </a:solidFill>
                <a:latin typeface="+mj-lt"/>
              </a:endParaRPr>
            </a:p>
          </p:txBody>
        </p:sp>
      </p:gr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Theoretical Peak </a:t>
            </a:r>
            <a:r>
              <a:rPr lang="en-US" dirty="0" err="1" smtClean="0"/>
              <a:t>vs</a:t>
            </a:r>
            <a:r>
              <a:rPr lang="en-US" dirty="0" smtClean="0"/>
              <a:t> Execution Peak</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7</a:t>
            </a:fld>
            <a:endParaRPr lang="en-US" altLang="en-US"/>
          </a:p>
        </p:txBody>
      </p:sp>
      <p:pic>
        <p:nvPicPr>
          <p:cNvPr id="29" name="Picture 5"/>
          <p:cNvPicPr>
            <a:picLocks noChangeAspect="1" noChangeArrowheads="1"/>
          </p:cNvPicPr>
          <p:nvPr>
            <p:custDataLst>
              <p:tags r:id="rId5"/>
            </p:custDataLst>
          </p:nvPr>
        </p:nvPicPr>
        <p:blipFill>
          <a:blip r:embed="rId15"/>
          <a:srcRect/>
          <a:stretch>
            <a:fillRect/>
          </a:stretch>
        </p:blipFill>
        <p:spPr bwMode="auto">
          <a:xfrm>
            <a:off x="1447800" y="1524000"/>
            <a:ext cx="6159484" cy="4038600"/>
          </a:xfrm>
          <a:prstGeom prst="rect">
            <a:avLst/>
          </a:prstGeom>
          <a:noFill/>
          <a:ln w="9525">
            <a:noFill/>
            <a:miter lim="800000"/>
            <a:headEnd/>
            <a:tailEnd/>
          </a:ln>
          <a:effectLst/>
        </p:spPr>
      </p:pic>
      <p:sp>
        <p:nvSpPr>
          <p:cNvPr id="30" name="TextBox 29"/>
          <p:cNvSpPr txBox="1"/>
          <p:nvPr>
            <p:custDataLst>
              <p:tags r:id="rId6"/>
            </p:custDataLst>
          </p:nvPr>
        </p:nvSpPr>
        <p:spPr>
          <a:xfrm>
            <a:off x="3810000" y="5334000"/>
            <a:ext cx="1319300" cy="523220"/>
          </a:xfrm>
          <a:prstGeom prst="rect">
            <a:avLst/>
          </a:prstGeom>
          <a:noFill/>
        </p:spPr>
        <p:txBody>
          <a:bodyPr wrap="square" rtlCol="0">
            <a:spAutoFit/>
          </a:bodyPr>
          <a:lstStyle/>
          <a:p>
            <a:r>
              <a:rPr lang="en-US" sz="2800" dirty="0" smtClean="0">
                <a:latin typeface="+mj-lt"/>
              </a:rPr>
              <a:t>Time</a:t>
            </a:r>
            <a:endParaRPr lang="en-US" sz="2800" dirty="0">
              <a:latin typeface="+mj-lt"/>
            </a:endParaRPr>
          </a:p>
        </p:txBody>
      </p:sp>
      <p:grpSp>
        <p:nvGrpSpPr>
          <p:cNvPr id="3" name="Group 30"/>
          <p:cNvGrpSpPr/>
          <p:nvPr>
            <p:custDataLst>
              <p:tags r:id="rId7"/>
            </p:custDataLst>
          </p:nvPr>
        </p:nvGrpSpPr>
        <p:grpSpPr>
          <a:xfrm>
            <a:off x="380999" y="2675172"/>
            <a:ext cx="7960140" cy="1444092"/>
            <a:chOff x="-312599" y="2781361"/>
            <a:chExt cx="9694957" cy="1668154"/>
          </a:xfrm>
        </p:grpSpPr>
        <p:sp>
          <p:nvSpPr>
            <p:cNvPr id="32" name="TextBox 31"/>
            <p:cNvSpPr txBox="1"/>
            <p:nvPr>
              <p:custDataLst>
                <p:tags r:id="rId8"/>
              </p:custDataLst>
            </p:nvPr>
          </p:nvSpPr>
          <p:spPr>
            <a:xfrm>
              <a:off x="-312599" y="3239868"/>
              <a:ext cx="1752115" cy="604401"/>
            </a:xfrm>
            <a:prstGeom prst="rect">
              <a:avLst/>
            </a:prstGeom>
            <a:noFill/>
          </p:spPr>
          <p:txBody>
            <a:bodyPr wrap="square" rtlCol="0">
              <a:spAutoFit/>
            </a:bodyPr>
            <a:lstStyle/>
            <a:p>
              <a:r>
                <a:rPr lang="en-US" sz="2800" dirty="0" smtClean="0">
                  <a:latin typeface="+mj-lt"/>
                </a:rPr>
                <a:t>Power</a:t>
              </a:r>
              <a:endParaRPr lang="en-US" sz="2800" dirty="0">
                <a:latin typeface="+mj-lt"/>
              </a:endParaRPr>
            </a:p>
          </p:txBody>
        </p:sp>
        <p:cxnSp>
          <p:nvCxnSpPr>
            <p:cNvPr id="33" name="Straight Connector 32"/>
            <p:cNvCxnSpPr/>
            <p:nvPr>
              <p:custDataLst>
                <p:tags r:id="rId9"/>
              </p:custDataLst>
            </p:nvPr>
          </p:nvCxnSpPr>
          <p:spPr>
            <a:xfrm rot="10800000">
              <a:off x="1172313" y="4427094"/>
              <a:ext cx="7230716" cy="1589"/>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custDataLst>
                <p:tags r:id="rId10"/>
              </p:custDataLst>
            </p:nvPr>
          </p:nvSpPr>
          <p:spPr>
            <a:xfrm>
              <a:off x="7157649" y="3916219"/>
              <a:ext cx="2224709" cy="533296"/>
            </a:xfrm>
            <a:prstGeom prst="rect">
              <a:avLst/>
            </a:prstGeom>
            <a:noFill/>
          </p:spPr>
          <p:txBody>
            <a:bodyPr wrap="square" rtlCol="0">
              <a:spAutoFit/>
            </a:bodyPr>
            <a:lstStyle/>
            <a:p>
              <a:r>
                <a:rPr lang="en-US" sz="2400" dirty="0" smtClean="0">
                  <a:solidFill>
                    <a:srgbClr val="FFC000"/>
                  </a:solidFill>
                  <a:latin typeface="+mj-lt"/>
                </a:rPr>
                <a:t>Average</a:t>
              </a:r>
              <a:endParaRPr lang="en-US" sz="2400" dirty="0">
                <a:solidFill>
                  <a:srgbClr val="FFC000"/>
                </a:solidFill>
                <a:latin typeface="+mj-lt"/>
              </a:endParaRPr>
            </a:p>
          </p:txBody>
        </p:sp>
        <p:cxnSp>
          <p:nvCxnSpPr>
            <p:cNvPr id="35" name="Straight Connector 34"/>
            <p:cNvCxnSpPr/>
            <p:nvPr>
              <p:custDataLst>
                <p:tags r:id="rId11"/>
              </p:custDataLst>
            </p:nvPr>
          </p:nvCxnSpPr>
          <p:spPr>
            <a:xfrm rot="10800000">
              <a:off x="1172313" y="3210446"/>
              <a:ext cx="7229060" cy="1589"/>
            </a:xfrm>
            <a:prstGeom prst="line">
              <a:avLst/>
            </a:prstGeom>
            <a:ln w="50800">
              <a:solidFill>
                <a:srgbClr val="92D050"/>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custDataLst>
                <p:tags r:id="rId12"/>
              </p:custDataLst>
            </p:nvPr>
          </p:nvSpPr>
          <p:spPr>
            <a:xfrm>
              <a:off x="5846550" y="2781361"/>
              <a:ext cx="3327716" cy="533296"/>
            </a:xfrm>
            <a:prstGeom prst="rect">
              <a:avLst/>
            </a:prstGeom>
            <a:noFill/>
          </p:spPr>
          <p:txBody>
            <a:bodyPr wrap="square" rtlCol="0">
              <a:spAutoFit/>
            </a:bodyPr>
            <a:lstStyle/>
            <a:p>
              <a:r>
                <a:rPr lang="en-US" sz="2400" dirty="0" smtClean="0">
                  <a:solidFill>
                    <a:srgbClr val="92D050"/>
                  </a:solidFill>
                  <a:latin typeface="+mj-lt"/>
                </a:rPr>
                <a:t>Execution Peak</a:t>
              </a:r>
              <a:endParaRPr lang="en-US" sz="2400" dirty="0">
                <a:solidFill>
                  <a:srgbClr val="92D050"/>
                </a:solidFill>
                <a:latin typeface="+mj-lt"/>
              </a:endParaRPr>
            </a:p>
          </p:txBody>
        </p:sp>
      </p:gr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Theoretical Peak </a:t>
            </a:r>
            <a:r>
              <a:rPr lang="en-US" dirty="0" err="1" smtClean="0"/>
              <a:t>vs</a:t>
            </a:r>
            <a:r>
              <a:rPr lang="en-US" dirty="0" smtClean="0"/>
              <a:t> Execution Peak</a:t>
            </a:r>
            <a:endParaRPr lang="en-US" dirty="0"/>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5F62B57E-7A5D-465E-94E5-87622714F13F}" type="slidenum">
              <a:rPr lang="en-US" altLang="en-US" smtClean="0"/>
              <a:pPr>
                <a:defRPr/>
              </a:pPr>
              <a:t>8</a:t>
            </a:fld>
            <a:endParaRPr lang="en-US" altLang="en-US"/>
          </a:p>
        </p:txBody>
      </p:sp>
      <p:pic>
        <p:nvPicPr>
          <p:cNvPr id="29" name="Picture 5"/>
          <p:cNvPicPr>
            <a:picLocks noChangeAspect="1" noChangeArrowheads="1"/>
          </p:cNvPicPr>
          <p:nvPr>
            <p:custDataLst>
              <p:tags r:id="rId5"/>
            </p:custDataLst>
          </p:nvPr>
        </p:nvPicPr>
        <p:blipFill>
          <a:blip r:embed="rId17"/>
          <a:srcRect/>
          <a:stretch>
            <a:fillRect/>
          </a:stretch>
        </p:blipFill>
        <p:spPr bwMode="auto">
          <a:xfrm>
            <a:off x="1447800" y="1524000"/>
            <a:ext cx="6159484" cy="4038600"/>
          </a:xfrm>
          <a:prstGeom prst="rect">
            <a:avLst/>
          </a:prstGeom>
          <a:noFill/>
          <a:ln w="9525">
            <a:noFill/>
            <a:miter lim="800000"/>
            <a:headEnd/>
            <a:tailEnd/>
          </a:ln>
          <a:effectLst/>
        </p:spPr>
      </p:pic>
      <p:sp>
        <p:nvSpPr>
          <p:cNvPr id="30" name="TextBox 29"/>
          <p:cNvSpPr txBox="1"/>
          <p:nvPr>
            <p:custDataLst>
              <p:tags r:id="rId6"/>
            </p:custDataLst>
          </p:nvPr>
        </p:nvSpPr>
        <p:spPr>
          <a:xfrm>
            <a:off x="3810000" y="5334000"/>
            <a:ext cx="1319300" cy="523220"/>
          </a:xfrm>
          <a:prstGeom prst="rect">
            <a:avLst/>
          </a:prstGeom>
          <a:noFill/>
        </p:spPr>
        <p:txBody>
          <a:bodyPr wrap="square" rtlCol="0">
            <a:spAutoFit/>
          </a:bodyPr>
          <a:lstStyle/>
          <a:p>
            <a:r>
              <a:rPr lang="en-US" sz="2800" dirty="0" smtClean="0">
                <a:latin typeface="+mj-lt"/>
              </a:rPr>
              <a:t>Time</a:t>
            </a:r>
            <a:endParaRPr lang="en-US" sz="2800" dirty="0">
              <a:latin typeface="+mj-lt"/>
            </a:endParaRPr>
          </a:p>
        </p:txBody>
      </p:sp>
      <p:grpSp>
        <p:nvGrpSpPr>
          <p:cNvPr id="3" name="Group 30"/>
          <p:cNvGrpSpPr/>
          <p:nvPr>
            <p:custDataLst>
              <p:tags r:id="rId7"/>
            </p:custDataLst>
          </p:nvPr>
        </p:nvGrpSpPr>
        <p:grpSpPr>
          <a:xfrm>
            <a:off x="380999" y="1946671"/>
            <a:ext cx="7960140" cy="2172594"/>
            <a:chOff x="-312599" y="1939827"/>
            <a:chExt cx="9694957" cy="2509688"/>
          </a:xfrm>
        </p:grpSpPr>
        <p:sp>
          <p:nvSpPr>
            <p:cNvPr id="32" name="TextBox 31"/>
            <p:cNvSpPr txBox="1"/>
            <p:nvPr>
              <p:custDataLst>
                <p:tags r:id="rId8"/>
              </p:custDataLst>
            </p:nvPr>
          </p:nvSpPr>
          <p:spPr>
            <a:xfrm>
              <a:off x="-312599" y="3239868"/>
              <a:ext cx="1752115" cy="604401"/>
            </a:xfrm>
            <a:prstGeom prst="rect">
              <a:avLst/>
            </a:prstGeom>
            <a:noFill/>
          </p:spPr>
          <p:txBody>
            <a:bodyPr wrap="square" rtlCol="0">
              <a:spAutoFit/>
            </a:bodyPr>
            <a:lstStyle/>
            <a:p>
              <a:r>
                <a:rPr lang="en-US" sz="2800" dirty="0" smtClean="0">
                  <a:latin typeface="+mj-lt"/>
                </a:rPr>
                <a:t>Power</a:t>
              </a:r>
              <a:endParaRPr lang="en-US" sz="2800" dirty="0">
                <a:latin typeface="+mj-lt"/>
              </a:endParaRPr>
            </a:p>
          </p:txBody>
        </p:sp>
        <p:cxnSp>
          <p:nvCxnSpPr>
            <p:cNvPr id="33" name="Straight Connector 32"/>
            <p:cNvCxnSpPr/>
            <p:nvPr>
              <p:custDataLst>
                <p:tags r:id="rId9"/>
              </p:custDataLst>
            </p:nvPr>
          </p:nvCxnSpPr>
          <p:spPr>
            <a:xfrm rot="10800000">
              <a:off x="1172313" y="4427094"/>
              <a:ext cx="7230716" cy="1589"/>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custDataLst>
                <p:tags r:id="rId10"/>
              </p:custDataLst>
            </p:nvPr>
          </p:nvSpPr>
          <p:spPr>
            <a:xfrm>
              <a:off x="7157649" y="3916219"/>
              <a:ext cx="2224709" cy="533296"/>
            </a:xfrm>
            <a:prstGeom prst="rect">
              <a:avLst/>
            </a:prstGeom>
            <a:noFill/>
          </p:spPr>
          <p:txBody>
            <a:bodyPr wrap="square" rtlCol="0">
              <a:spAutoFit/>
            </a:bodyPr>
            <a:lstStyle/>
            <a:p>
              <a:r>
                <a:rPr lang="en-US" sz="2400" dirty="0" smtClean="0">
                  <a:solidFill>
                    <a:srgbClr val="FFC000"/>
                  </a:solidFill>
                  <a:latin typeface="+mj-lt"/>
                </a:rPr>
                <a:t>Average</a:t>
              </a:r>
              <a:endParaRPr lang="en-US" sz="2400" dirty="0">
                <a:solidFill>
                  <a:srgbClr val="FFC000"/>
                </a:solidFill>
                <a:latin typeface="+mj-lt"/>
              </a:endParaRPr>
            </a:p>
          </p:txBody>
        </p:sp>
        <p:cxnSp>
          <p:nvCxnSpPr>
            <p:cNvPr id="35" name="Straight Connector 34"/>
            <p:cNvCxnSpPr/>
            <p:nvPr>
              <p:custDataLst>
                <p:tags r:id="rId11"/>
              </p:custDataLst>
            </p:nvPr>
          </p:nvCxnSpPr>
          <p:spPr>
            <a:xfrm rot="10800000">
              <a:off x="1172313" y="3210446"/>
              <a:ext cx="7229060" cy="1589"/>
            </a:xfrm>
            <a:prstGeom prst="line">
              <a:avLst/>
            </a:prstGeom>
            <a:ln w="50800">
              <a:solidFill>
                <a:srgbClr val="92D050"/>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custDataLst>
                <p:tags r:id="rId12"/>
              </p:custDataLst>
            </p:nvPr>
          </p:nvSpPr>
          <p:spPr>
            <a:xfrm>
              <a:off x="5846550" y="2781361"/>
              <a:ext cx="3327716" cy="533296"/>
            </a:xfrm>
            <a:prstGeom prst="rect">
              <a:avLst/>
            </a:prstGeom>
            <a:noFill/>
          </p:spPr>
          <p:txBody>
            <a:bodyPr wrap="square" rtlCol="0">
              <a:spAutoFit/>
            </a:bodyPr>
            <a:lstStyle/>
            <a:p>
              <a:r>
                <a:rPr lang="en-US" sz="2400" dirty="0" smtClean="0">
                  <a:solidFill>
                    <a:srgbClr val="92D050"/>
                  </a:solidFill>
                  <a:latin typeface="+mj-lt"/>
                </a:rPr>
                <a:t>Execution Peak</a:t>
              </a:r>
              <a:endParaRPr lang="en-US" sz="2400" dirty="0">
                <a:solidFill>
                  <a:srgbClr val="92D050"/>
                </a:solidFill>
                <a:latin typeface="+mj-lt"/>
              </a:endParaRPr>
            </a:p>
          </p:txBody>
        </p:sp>
        <p:cxnSp>
          <p:nvCxnSpPr>
            <p:cNvPr id="37" name="Straight Connector 36"/>
            <p:cNvCxnSpPr/>
            <p:nvPr>
              <p:custDataLst>
                <p:tags r:id="rId13"/>
              </p:custDataLst>
            </p:nvPr>
          </p:nvCxnSpPr>
          <p:spPr>
            <a:xfrm rot="10800000">
              <a:off x="1172313" y="2370018"/>
              <a:ext cx="7230716" cy="1674"/>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custDataLst>
                <p:tags r:id="rId14"/>
              </p:custDataLst>
            </p:nvPr>
          </p:nvSpPr>
          <p:spPr>
            <a:xfrm>
              <a:off x="5504375" y="1939827"/>
              <a:ext cx="3293995" cy="533296"/>
            </a:xfrm>
            <a:prstGeom prst="rect">
              <a:avLst/>
            </a:prstGeom>
            <a:noFill/>
          </p:spPr>
          <p:txBody>
            <a:bodyPr wrap="square" rtlCol="0">
              <a:spAutoFit/>
            </a:bodyPr>
            <a:lstStyle/>
            <a:p>
              <a:r>
                <a:rPr lang="en-US" sz="2400" b="1" dirty="0" smtClean="0">
                  <a:solidFill>
                    <a:srgbClr val="C00000"/>
                  </a:solidFill>
                  <a:latin typeface="+mj-lt"/>
                </a:rPr>
                <a:t>Theoretical Peak</a:t>
              </a:r>
              <a:endParaRPr lang="en-US" sz="2400" b="1" dirty="0">
                <a:solidFill>
                  <a:srgbClr val="C00000"/>
                </a:solidFill>
                <a:latin typeface="+mj-lt"/>
              </a:endParaRPr>
            </a:p>
          </p:txBody>
        </p:sp>
      </p:gr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5" name="Slide Number Placeholder 5"/>
          <p:cNvSpPr>
            <a:spLocks noGrp="1"/>
          </p:cNvSpPr>
          <p:nvPr>
            <p:ph type="sldNum" sz="quarter" idx="12"/>
            <p:custDataLst>
              <p:tags r:id="rId3"/>
            </p:custDataLst>
          </p:nvPr>
        </p:nvSpPr>
        <p:spPr/>
        <p:txBody>
          <a:bodyPr/>
          <a:lstStyle/>
          <a:p>
            <a:pPr>
              <a:defRPr/>
            </a:pPr>
            <a:fld id="{E499042F-D225-4AA3-987C-A4D2A07A95E3}" type="slidenum">
              <a:rPr lang="en-US" altLang="en-US"/>
              <a:pPr>
                <a:defRPr/>
              </a:pPr>
              <a:t>9</a:t>
            </a:fld>
            <a:endParaRPr lang="en-US" altLang="en-US" dirty="0"/>
          </a:p>
        </p:txBody>
      </p:sp>
      <p:sp>
        <p:nvSpPr>
          <p:cNvPr id="5125" name="Rectangle 2"/>
          <p:cNvSpPr>
            <a:spLocks noGrp="1" noChangeArrowheads="1"/>
          </p:cNvSpPr>
          <p:nvPr>
            <p:ph type="title"/>
            <p:custDataLst>
              <p:tags r:id="rId4"/>
            </p:custDataLst>
          </p:nvPr>
        </p:nvSpPr>
        <p:spPr/>
        <p:txBody>
          <a:bodyPr/>
          <a:lstStyle/>
          <a:p>
            <a:pPr eaLnBrk="1" hangingPunct="1"/>
            <a:r>
              <a:rPr lang="en-US" dirty="0" smtClean="0"/>
              <a:t>Our Approach</a:t>
            </a:r>
          </a:p>
        </p:txBody>
      </p:sp>
      <p:sp>
        <p:nvSpPr>
          <p:cNvPr id="5126" name="Rectangle 3"/>
          <p:cNvSpPr>
            <a:spLocks noGrp="1" noChangeArrowheads="1"/>
          </p:cNvSpPr>
          <p:nvPr>
            <p:ph type="body" idx="1"/>
            <p:custDataLst>
              <p:tags r:id="rId5"/>
            </p:custDataLst>
          </p:nvPr>
        </p:nvSpPr>
        <p:spPr>
          <a:xfrm>
            <a:off x="457200" y="990600"/>
            <a:ext cx="8686800" cy="4530725"/>
          </a:xfrm>
        </p:spPr>
        <p:txBody>
          <a:bodyPr/>
          <a:lstStyle/>
          <a:p>
            <a:pPr eaLnBrk="1" hangingPunct="1"/>
            <a:r>
              <a:rPr lang="en-US" sz="2800" dirty="0" smtClean="0"/>
              <a:t>Motivation:</a:t>
            </a:r>
          </a:p>
          <a:p>
            <a:pPr lvl="1" eaLnBrk="1" hangingPunct="1"/>
            <a:r>
              <a:rPr lang="en-US" sz="2400" dirty="0" smtClean="0"/>
              <a:t>Most applications have few resource bottlenecks.</a:t>
            </a:r>
          </a:p>
          <a:p>
            <a:pPr lvl="1" eaLnBrk="1" hangingPunct="1"/>
            <a:r>
              <a:rPr lang="en-US" sz="2400" dirty="0" smtClean="0"/>
              <a:t>Ample opportunity to disable core components without hurting performance</a:t>
            </a:r>
            <a:endParaRPr lang="en-US" sz="2800" dirty="0" smtClean="0"/>
          </a:p>
          <a:p>
            <a:pPr eaLnBrk="1" hangingPunct="1"/>
            <a:r>
              <a:rPr lang="en-US" sz="2800" dirty="0" smtClean="0"/>
              <a:t>Goal:</a:t>
            </a:r>
          </a:p>
          <a:p>
            <a:pPr lvl="1" eaLnBrk="1" hangingPunct="1"/>
            <a:r>
              <a:rPr lang="en-US" sz="2400" dirty="0" smtClean="0"/>
              <a:t>Partially disable core components to limit </a:t>
            </a:r>
            <a:r>
              <a:rPr lang="en-US" sz="2400" b="1" i="1" dirty="0" smtClean="0"/>
              <a:t>Peak Power</a:t>
            </a:r>
          </a:p>
          <a:p>
            <a:pPr eaLnBrk="1" hangingPunct="1"/>
            <a:r>
              <a:rPr lang="en-US" sz="2800" dirty="0" smtClean="0"/>
              <a:t>Method:</a:t>
            </a:r>
          </a:p>
          <a:p>
            <a:pPr lvl="1" eaLnBrk="1" hangingPunct="1"/>
            <a:r>
              <a:rPr lang="en-US" sz="2400" dirty="0" smtClean="0"/>
              <a:t>Each resource can be maximally configured</a:t>
            </a:r>
          </a:p>
          <a:p>
            <a:pPr lvl="1" eaLnBrk="1" hangingPunct="1"/>
            <a:r>
              <a:rPr lang="en-US" sz="2400" b="1" dirty="0" smtClean="0"/>
              <a:t>Not all resources maximized at the same time </a:t>
            </a:r>
          </a:p>
          <a:p>
            <a:pPr lvl="1" eaLnBrk="1" hangingPunct="1">
              <a:buNone/>
            </a:pPr>
            <a:r>
              <a:rPr lang="en-US" sz="2400" b="1" dirty="0" smtClean="0"/>
              <a:t>    (centralized control mechanism).</a:t>
            </a:r>
          </a:p>
          <a:p>
            <a:pPr lvl="1" eaLnBrk="1" hangingPunct="1"/>
            <a:endParaRPr lang="en-US" sz="2400" dirty="0" smtClean="0"/>
          </a:p>
          <a:p>
            <a:pPr eaLnBrk="1" hangingPunct="1">
              <a:buFont typeface="Wingdings" pitchFamily="2" charset="2"/>
              <a:buNone/>
            </a:pPr>
            <a:endParaRPr lang="en-US" sz="2800" dirty="0" smtClean="0"/>
          </a:p>
          <a:p>
            <a:pPr eaLnBrk="1" hangingPunct="1">
              <a:buFont typeface="Wingdings" pitchFamily="2" charset="2"/>
              <a:buNone/>
            </a:pPr>
            <a:endParaRPr lang="en-US" sz="2800" dirty="0" smtClean="0"/>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p:cNvGraphicFramePr>
            <a:graphicFrameLocks/>
          </p:cNvGraphicFramePr>
          <p:nvPr/>
        </p:nvGraphicFramePr>
        <p:xfrm>
          <a:off x="4270375" y="838200"/>
          <a:ext cx="4873625" cy="5581650"/>
        </p:xfrm>
        <a:graphic>
          <a:graphicData uri="http://schemas.openxmlformats.org/drawingml/2006/chart">
            <c:chart xmlns:c="http://schemas.openxmlformats.org/drawingml/2006/chart" xmlns:r="http://schemas.openxmlformats.org/officeDocument/2006/relationships" r:id="rId13"/>
          </a:graphicData>
        </a:graphic>
      </p:graphicFrame>
      <p:sp>
        <p:nvSpPr>
          <p:cNvPr id="30" name="Footer Placeholder 5"/>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3"/>
            </p:custDataLst>
          </p:nvPr>
        </p:nvSpPr>
        <p:spPr/>
        <p:txBody>
          <a:bodyPr/>
          <a:lstStyle/>
          <a:p>
            <a:pPr>
              <a:defRPr/>
            </a:pPr>
            <a:fld id="{39FA1E29-28E7-47CC-A7D0-0FFF537E76B7}" type="slidenum">
              <a:rPr lang="en-US" altLang="en-US"/>
              <a:pPr>
                <a:defRPr/>
              </a:pPr>
              <a:t>10</a:t>
            </a:fld>
            <a:endParaRPr lang="en-US" altLang="en-US" dirty="0"/>
          </a:p>
        </p:txBody>
      </p:sp>
      <p:sp>
        <p:nvSpPr>
          <p:cNvPr id="6149" name="Rectangle 2"/>
          <p:cNvSpPr>
            <a:spLocks noGrp="1" noChangeArrowheads="1"/>
          </p:cNvSpPr>
          <p:nvPr>
            <p:ph type="title"/>
            <p:custDataLst>
              <p:tags r:id="rId4"/>
            </p:custDataLst>
          </p:nvPr>
        </p:nvSpPr>
        <p:spPr>
          <a:xfrm>
            <a:off x="457200" y="277813"/>
            <a:ext cx="8229600" cy="636587"/>
          </a:xfrm>
        </p:spPr>
        <p:txBody>
          <a:bodyPr/>
          <a:lstStyle/>
          <a:p>
            <a:pPr eaLnBrk="1" hangingPunct="1"/>
            <a:r>
              <a:rPr lang="en-US" sz="4000" dirty="0" smtClean="0"/>
              <a:t>Motivating Experiment: </a:t>
            </a:r>
          </a:p>
        </p:txBody>
      </p:sp>
      <p:graphicFrame>
        <p:nvGraphicFramePr>
          <p:cNvPr id="10" name="Table 9"/>
          <p:cNvGraphicFramePr>
            <a:graphicFrameLocks noGrp="1"/>
          </p:cNvGraphicFramePr>
          <p:nvPr>
            <p:custDataLst>
              <p:tags r:id="rId5"/>
            </p:custDataLst>
          </p:nvPr>
        </p:nvGraphicFramePr>
        <p:xfrm>
          <a:off x="1447800" y="2514600"/>
          <a:ext cx="1828801" cy="3528749"/>
        </p:xfrm>
        <a:graphic>
          <a:graphicData uri="http://schemas.openxmlformats.org/drawingml/2006/table">
            <a:tbl>
              <a:tblPr bandRow="1">
                <a:tableStyleId>{5C22544A-7EE6-4342-B048-85BDC9FD1C3A}</a:tableStyleId>
              </a:tblPr>
              <a:tblGrid>
                <a:gridCol w="785801"/>
                <a:gridCol w="503881"/>
                <a:gridCol w="539119"/>
              </a:tblGrid>
              <a:tr h="287332">
                <a:tc>
                  <a:txBody>
                    <a:bodyPr/>
                    <a:lstStyle/>
                    <a:p>
                      <a:pPr algn="ctr"/>
                      <a:endParaRPr lang="en-US" sz="1050" dirty="0"/>
                    </a:p>
                  </a:txBody>
                  <a:tcPr marL="0" marR="0" marT="0" marB="0" anchor="ctr"/>
                </a:tc>
                <a:tc>
                  <a:txBody>
                    <a:bodyPr/>
                    <a:lstStyle/>
                    <a:p>
                      <a:pPr algn="ctr"/>
                      <a:r>
                        <a:rPr lang="en-US" sz="1200" b="1" dirty="0" smtClean="0"/>
                        <a:t>MIN</a:t>
                      </a:r>
                      <a:endParaRPr lang="en-US" sz="1200" b="1" dirty="0"/>
                    </a:p>
                  </a:txBody>
                  <a:tcPr marL="0" marR="0" marT="0" marB="0" anchor="ctr"/>
                </a:tc>
                <a:tc>
                  <a:txBody>
                    <a:bodyPr/>
                    <a:lstStyle/>
                    <a:p>
                      <a:pPr algn="ctr"/>
                      <a:r>
                        <a:rPr lang="en-US" sz="1200" b="1" dirty="0" smtClean="0"/>
                        <a:t>MAX</a:t>
                      </a:r>
                      <a:endParaRPr lang="en-US" sz="1200" b="1" dirty="0"/>
                    </a:p>
                  </a:txBody>
                  <a:tcPr marL="0" marR="0" marT="0" marB="0" anchor="ctr"/>
                </a:tc>
              </a:tr>
              <a:tr h="410031">
                <a:tc>
                  <a:txBody>
                    <a:bodyPr/>
                    <a:lstStyle/>
                    <a:p>
                      <a:pPr algn="ctr"/>
                      <a:r>
                        <a:rPr lang="en-US" sz="1200" dirty="0" smtClean="0"/>
                        <a:t>INT inst.</a:t>
                      </a:r>
                      <a:r>
                        <a:rPr lang="en-US" sz="1200" baseline="0" dirty="0" smtClean="0"/>
                        <a:t> </a:t>
                      </a:r>
                      <a:r>
                        <a:rPr lang="en-US" sz="1200" dirty="0" smtClean="0"/>
                        <a:t>Queue</a:t>
                      </a:r>
                    </a:p>
                  </a:txBody>
                  <a:tcPr marL="0" marR="0" marT="0" marB="0" anchor="ctr"/>
                </a:tc>
                <a:tc>
                  <a:txBody>
                    <a:bodyPr/>
                    <a:lstStyle/>
                    <a:p>
                      <a:pPr algn="ctr"/>
                      <a:r>
                        <a:rPr lang="en-US" sz="1200" dirty="0" smtClean="0"/>
                        <a:t>16</a:t>
                      </a:r>
                      <a:endParaRPr lang="en-US" sz="1200" dirty="0"/>
                    </a:p>
                  </a:txBody>
                  <a:tcPr marL="0" marR="0" marT="0" marB="0" anchor="ctr"/>
                </a:tc>
                <a:tc>
                  <a:txBody>
                    <a:bodyPr/>
                    <a:lstStyle/>
                    <a:p>
                      <a:pPr algn="ctr"/>
                      <a:r>
                        <a:rPr lang="en-US" sz="1200" dirty="0" smtClean="0"/>
                        <a:t>32</a:t>
                      </a:r>
                      <a:endParaRPr lang="en-US" sz="1200" dirty="0"/>
                    </a:p>
                  </a:txBody>
                  <a:tcPr marL="0" marR="0" marT="0" marB="0" anchor="ctr"/>
                </a:tc>
              </a:tr>
              <a:tr h="410031">
                <a:tc>
                  <a:txBody>
                    <a:bodyPr/>
                    <a:lstStyle/>
                    <a:p>
                      <a:pPr algn="ctr"/>
                      <a:r>
                        <a:rPr lang="en-US" sz="1200" dirty="0" smtClean="0"/>
                        <a:t>FP</a:t>
                      </a:r>
                      <a:r>
                        <a:rPr lang="en-US" sz="1200" baseline="0" dirty="0" smtClean="0"/>
                        <a:t> Queue</a:t>
                      </a:r>
                    </a:p>
                  </a:txBody>
                  <a:tcPr marL="0" marR="0" marT="0" marB="0" anchor="ctr"/>
                </a:tc>
                <a:tc>
                  <a:txBody>
                    <a:bodyPr/>
                    <a:lstStyle/>
                    <a:p>
                      <a:pPr algn="ctr"/>
                      <a:r>
                        <a:rPr lang="en-US" sz="1200" dirty="0" smtClean="0"/>
                        <a:t>16</a:t>
                      </a:r>
                      <a:endParaRPr lang="en-US" sz="1200" dirty="0"/>
                    </a:p>
                  </a:txBody>
                  <a:tcPr marL="0" marR="0" marT="0" marB="0" anchor="ctr"/>
                </a:tc>
                <a:tc>
                  <a:txBody>
                    <a:bodyPr/>
                    <a:lstStyle/>
                    <a:p>
                      <a:pPr algn="ctr"/>
                      <a:r>
                        <a:rPr lang="en-US" sz="1200" dirty="0" smtClean="0"/>
                        <a:t>32</a:t>
                      </a:r>
                      <a:endParaRPr lang="en-US" sz="1200" dirty="0"/>
                    </a:p>
                  </a:txBody>
                  <a:tcPr marL="0" marR="0" marT="0" marB="0" anchor="ctr"/>
                </a:tc>
              </a:tr>
              <a:tr h="287332">
                <a:tc>
                  <a:txBody>
                    <a:bodyPr/>
                    <a:lstStyle/>
                    <a:p>
                      <a:pPr algn="ctr"/>
                      <a:r>
                        <a:rPr lang="en-US" sz="1200" dirty="0" smtClean="0"/>
                        <a:t>INT </a:t>
                      </a:r>
                      <a:r>
                        <a:rPr lang="en-US" sz="1200" dirty="0" err="1" smtClean="0"/>
                        <a:t>regs</a:t>
                      </a:r>
                      <a:endParaRPr lang="en-US" sz="1200" dirty="0"/>
                    </a:p>
                  </a:txBody>
                  <a:tcPr marL="0" marR="0" marT="0" marB="0" anchor="ctr"/>
                </a:tc>
                <a:tc>
                  <a:txBody>
                    <a:bodyPr/>
                    <a:lstStyle/>
                    <a:p>
                      <a:pPr algn="ctr"/>
                      <a:r>
                        <a:rPr lang="en-US" sz="1200" dirty="0" smtClean="0"/>
                        <a:t>64</a:t>
                      </a:r>
                      <a:endParaRPr lang="en-US" sz="1200" dirty="0"/>
                    </a:p>
                  </a:txBody>
                  <a:tcPr marL="0" marR="0" marT="0" marB="0" anchor="ctr"/>
                </a:tc>
                <a:tc>
                  <a:txBody>
                    <a:bodyPr/>
                    <a:lstStyle/>
                    <a:p>
                      <a:pPr algn="ctr"/>
                      <a:r>
                        <a:rPr lang="en-US" sz="1200" dirty="0" smtClean="0"/>
                        <a:t>128</a:t>
                      </a:r>
                      <a:endParaRPr lang="en-US" sz="1200" dirty="0"/>
                    </a:p>
                  </a:txBody>
                  <a:tcPr marL="0" marR="0" marT="0" marB="0" anchor="ctr"/>
                </a:tc>
              </a:tr>
              <a:tr h="287332">
                <a:tc>
                  <a:txBody>
                    <a:bodyPr/>
                    <a:lstStyle/>
                    <a:p>
                      <a:pPr algn="ctr"/>
                      <a:r>
                        <a:rPr lang="en-US" sz="1200" dirty="0" smtClean="0"/>
                        <a:t>FP </a:t>
                      </a:r>
                      <a:r>
                        <a:rPr lang="en-US" sz="1200" dirty="0" err="1" smtClean="0"/>
                        <a:t>regs</a:t>
                      </a:r>
                      <a:endParaRPr lang="en-US" sz="1200" dirty="0"/>
                    </a:p>
                  </a:txBody>
                  <a:tcPr marL="0" marR="0" marT="0" marB="0" anchor="ctr"/>
                </a:tc>
                <a:tc>
                  <a:txBody>
                    <a:bodyPr/>
                    <a:lstStyle/>
                    <a:p>
                      <a:pPr algn="ctr"/>
                      <a:r>
                        <a:rPr lang="en-US" sz="1200" dirty="0" smtClean="0"/>
                        <a:t>64</a:t>
                      </a:r>
                      <a:endParaRPr lang="en-US" sz="1200" dirty="0"/>
                    </a:p>
                  </a:txBody>
                  <a:tcPr marL="0" marR="0" marT="0" marB="0" anchor="ctr"/>
                </a:tc>
                <a:tc>
                  <a:txBody>
                    <a:bodyPr/>
                    <a:lstStyle/>
                    <a:p>
                      <a:pPr algn="ctr"/>
                      <a:r>
                        <a:rPr lang="en-US" sz="1200" dirty="0" smtClean="0"/>
                        <a:t>128</a:t>
                      </a:r>
                      <a:endParaRPr lang="en-US" sz="1200" dirty="0"/>
                    </a:p>
                  </a:txBody>
                  <a:tcPr marL="0" marR="0" marT="0" marB="0" anchor="ctr"/>
                </a:tc>
              </a:tr>
              <a:tr h="287332">
                <a:tc>
                  <a:txBody>
                    <a:bodyPr/>
                    <a:lstStyle/>
                    <a:p>
                      <a:pPr algn="ctr"/>
                      <a:r>
                        <a:rPr lang="en-US" sz="1200" dirty="0" smtClean="0"/>
                        <a:t>INT </a:t>
                      </a:r>
                      <a:r>
                        <a:rPr lang="en-US" sz="1200" dirty="0" err="1" smtClean="0"/>
                        <a:t>alus</a:t>
                      </a:r>
                      <a:endParaRPr lang="en-US" sz="1200" dirty="0"/>
                    </a:p>
                  </a:txBody>
                  <a:tcPr marL="0" marR="0" marT="0" marB="0" anchor="ctr"/>
                </a:tc>
                <a:tc>
                  <a:txBody>
                    <a:bodyPr/>
                    <a:lstStyle/>
                    <a:p>
                      <a:pPr algn="ctr"/>
                      <a:r>
                        <a:rPr lang="en-US" sz="1200" dirty="0" smtClean="0"/>
                        <a:t>2</a:t>
                      </a:r>
                      <a:endParaRPr lang="en-US" sz="1200" dirty="0"/>
                    </a:p>
                  </a:txBody>
                  <a:tcPr marL="0" marR="0" marT="0" marB="0" anchor="ctr"/>
                </a:tc>
                <a:tc>
                  <a:txBody>
                    <a:bodyPr/>
                    <a:lstStyle/>
                    <a:p>
                      <a:pPr algn="ctr"/>
                      <a:r>
                        <a:rPr lang="en-US" sz="1200" dirty="0" smtClean="0"/>
                        <a:t>4</a:t>
                      </a:r>
                      <a:endParaRPr lang="en-US" sz="1200" dirty="0"/>
                    </a:p>
                  </a:txBody>
                  <a:tcPr marL="0" marR="0" marT="0" marB="0" anchor="ctr"/>
                </a:tc>
              </a:tr>
              <a:tr h="287332">
                <a:tc>
                  <a:txBody>
                    <a:bodyPr/>
                    <a:lstStyle/>
                    <a:p>
                      <a:pPr algn="ctr"/>
                      <a:r>
                        <a:rPr lang="en-US" sz="1200" dirty="0" smtClean="0"/>
                        <a:t>FP</a:t>
                      </a:r>
                      <a:r>
                        <a:rPr lang="en-US" sz="1200" baseline="0" dirty="0" smtClean="0"/>
                        <a:t> </a:t>
                      </a:r>
                      <a:r>
                        <a:rPr lang="en-US" sz="1200" baseline="0" dirty="0" err="1" smtClean="0"/>
                        <a:t>alus</a:t>
                      </a:r>
                      <a:endParaRPr lang="en-US" sz="1200" dirty="0"/>
                    </a:p>
                  </a:txBody>
                  <a:tcPr marL="0" marR="0" marT="0" marB="0" anchor="ctr"/>
                </a:tc>
                <a:tc>
                  <a:txBody>
                    <a:bodyPr/>
                    <a:lstStyle/>
                    <a:p>
                      <a:pPr algn="ctr"/>
                      <a:r>
                        <a:rPr lang="en-US" sz="1200" dirty="0" smtClean="0"/>
                        <a:t>1</a:t>
                      </a:r>
                      <a:endParaRPr lang="en-US" sz="1200" dirty="0"/>
                    </a:p>
                  </a:txBody>
                  <a:tcPr marL="0" marR="0" marT="0" marB="0" anchor="ctr"/>
                </a:tc>
                <a:tc>
                  <a:txBody>
                    <a:bodyPr/>
                    <a:lstStyle/>
                    <a:p>
                      <a:pPr algn="ctr"/>
                      <a:r>
                        <a:rPr lang="en-US" sz="1200" dirty="0" smtClean="0"/>
                        <a:t>3</a:t>
                      </a:r>
                      <a:endParaRPr lang="en-US" sz="1200" dirty="0"/>
                    </a:p>
                  </a:txBody>
                  <a:tcPr marL="0" marR="0" marT="0" marB="0" anchor="ctr"/>
                </a:tc>
              </a:tr>
              <a:tr h="410031">
                <a:tc>
                  <a:txBody>
                    <a:bodyPr/>
                    <a:lstStyle/>
                    <a:p>
                      <a:pPr algn="ctr"/>
                      <a:r>
                        <a:rPr lang="en-US" sz="1200" dirty="0" err="1" smtClean="0"/>
                        <a:t>LdSt</a:t>
                      </a:r>
                      <a:r>
                        <a:rPr lang="en-US" sz="1200" dirty="0" smtClean="0"/>
                        <a:t> units</a:t>
                      </a:r>
                      <a:endParaRPr lang="en-US" sz="1200" dirty="0"/>
                    </a:p>
                  </a:txBody>
                  <a:tcPr marL="0" marR="0" marT="0" marB="0" anchor="ctr"/>
                </a:tc>
                <a:tc>
                  <a:txBody>
                    <a:bodyPr/>
                    <a:lstStyle/>
                    <a:p>
                      <a:pPr algn="ctr"/>
                      <a:r>
                        <a:rPr lang="en-US" sz="1200" dirty="0" smtClean="0"/>
                        <a:t>1</a:t>
                      </a:r>
                      <a:endParaRPr lang="en-US" sz="1200" dirty="0"/>
                    </a:p>
                  </a:txBody>
                  <a:tcPr marL="0" marR="0" marT="0" marB="0" anchor="ctr"/>
                </a:tc>
                <a:tc>
                  <a:txBody>
                    <a:bodyPr/>
                    <a:lstStyle/>
                    <a:p>
                      <a:pPr algn="ctr"/>
                      <a:r>
                        <a:rPr lang="en-US" sz="1200" dirty="0" smtClean="0"/>
                        <a:t>2</a:t>
                      </a:r>
                      <a:endParaRPr lang="en-US" sz="1200" dirty="0"/>
                    </a:p>
                  </a:txBody>
                  <a:tcPr marL="0" marR="0" marT="0" marB="0" anchor="ctr"/>
                </a:tc>
              </a:tr>
              <a:tr h="287332">
                <a:tc>
                  <a:txBody>
                    <a:bodyPr/>
                    <a:lstStyle/>
                    <a:p>
                      <a:pPr algn="ctr"/>
                      <a:r>
                        <a:rPr lang="en-US" sz="1200" dirty="0" smtClean="0"/>
                        <a:t>ROB</a:t>
                      </a:r>
                    </a:p>
                  </a:txBody>
                  <a:tcPr marL="0" marR="0" marT="0" marB="0" anchor="ctr"/>
                </a:tc>
                <a:tc>
                  <a:txBody>
                    <a:bodyPr/>
                    <a:lstStyle/>
                    <a:p>
                      <a:pPr algn="ctr"/>
                      <a:r>
                        <a:rPr lang="en-US" sz="1200" dirty="0" smtClean="0"/>
                        <a:t>128</a:t>
                      </a:r>
                      <a:endParaRPr lang="en-US" sz="1200" dirty="0"/>
                    </a:p>
                  </a:txBody>
                  <a:tcPr marL="0" marR="0" marT="0" marB="0" anchor="ctr"/>
                </a:tc>
                <a:tc>
                  <a:txBody>
                    <a:bodyPr/>
                    <a:lstStyle/>
                    <a:p>
                      <a:pPr algn="ctr"/>
                      <a:r>
                        <a:rPr lang="en-US" sz="1200" dirty="0" smtClean="0"/>
                        <a:t>256</a:t>
                      </a:r>
                      <a:endParaRPr lang="en-US" sz="1200" dirty="0"/>
                    </a:p>
                  </a:txBody>
                  <a:tcPr marL="0" marR="0" marT="0" marB="0" anchor="ctr"/>
                </a:tc>
              </a:tr>
              <a:tr h="287332">
                <a:tc>
                  <a:txBody>
                    <a:bodyPr/>
                    <a:lstStyle/>
                    <a:p>
                      <a:pPr algn="ctr"/>
                      <a:r>
                        <a:rPr lang="en-US" sz="1200" dirty="0" err="1" smtClean="0"/>
                        <a:t>Icache</a:t>
                      </a:r>
                      <a:endParaRPr lang="en-US" sz="1200" dirty="0"/>
                    </a:p>
                  </a:txBody>
                  <a:tcPr marL="0" marR="0" marT="0" marB="0" anchor="ctr"/>
                </a:tc>
                <a:tc>
                  <a:txBody>
                    <a:bodyPr/>
                    <a:lstStyle/>
                    <a:p>
                      <a:pPr algn="ctr"/>
                      <a:r>
                        <a:rPr lang="en-US" sz="1200" baseline="0" dirty="0" smtClean="0"/>
                        <a:t>4K</a:t>
                      </a:r>
                      <a:endParaRPr lang="en-US" sz="1200" dirty="0"/>
                    </a:p>
                  </a:txBody>
                  <a:tcPr marL="0" marR="0" marT="0" marB="0" anchor="ctr"/>
                </a:tc>
                <a:tc>
                  <a:txBody>
                    <a:bodyPr/>
                    <a:lstStyle/>
                    <a:p>
                      <a:pPr algn="ctr"/>
                      <a:r>
                        <a:rPr lang="en-US" sz="1200" dirty="0" smtClean="0"/>
                        <a:t>32K</a:t>
                      </a:r>
                      <a:endParaRPr lang="en-US" sz="1200" dirty="0"/>
                    </a:p>
                  </a:txBody>
                  <a:tcPr marL="0" marR="0" marT="0" marB="0" anchor="ctr"/>
                </a:tc>
              </a:tr>
              <a:tr h="287332">
                <a:tc>
                  <a:txBody>
                    <a:bodyPr/>
                    <a:lstStyle/>
                    <a:p>
                      <a:pPr algn="ctr"/>
                      <a:r>
                        <a:rPr lang="en-US" sz="1200" dirty="0" err="1" smtClean="0"/>
                        <a:t>Dcache</a:t>
                      </a:r>
                      <a:endParaRPr lang="en-US" sz="1200" dirty="0"/>
                    </a:p>
                  </a:txBody>
                  <a:tcPr marL="0" marR="0" marT="0" marB="0" anchor="ctr"/>
                </a:tc>
                <a:tc>
                  <a:txBody>
                    <a:bodyPr/>
                    <a:lstStyle/>
                    <a:p>
                      <a:pPr algn="ctr"/>
                      <a:r>
                        <a:rPr lang="en-US" sz="1200" dirty="0" smtClean="0"/>
                        <a:t>4K</a:t>
                      </a:r>
                      <a:endParaRPr lang="en-US" sz="1200" dirty="0"/>
                    </a:p>
                  </a:txBody>
                  <a:tcPr marL="0" marR="0" marT="0" marB="0" anchor="ctr"/>
                </a:tc>
                <a:tc>
                  <a:txBody>
                    <a:bodyPr/>
                    <a:lstStyle/>
                    <a:p>
                      <a:pPr algn="ctr"/>
                      <a:r>
                        <a:rPr lang="en-US" sz="1200" dirty="0" smtClean="0"/>
                        <a:t>32K</a:t>
                      </a:r>
                      <a:endParaRPr lang="en-US" sz="1200" dirty="0"/>
                    </a:p>
                  </a:txBody>
                  <a:tcPr marL="0" marR="0" marT="0" marB="0" anchor="ctr"/>
                </a:tc>
              </a:tr>
            </a:tbl>
          </a:graphicData>
        </a:graphic>
      </p:graphicFrame>
      <p:sp>
        <p:nvSpPr>
          <p:cNvPr id="13" name="TextBox 12"/>
          <p:cNvSpPr txBox="1"/>
          <p:nvPr>
            <p:custDataLst>
              <p:tags r:id="rId6"/>
            </p:custDataLst>
          </p:nvPr>
        </p:nvSpPr>
        <p:spPr>
          <a:xfrm>
            <a:off x="3429000" y="5410200"/>
            <a:ext cx="1371600" cy="369332"/>
          </a:xfrm>
          <a:prstGeom prst="rect">
            <a:avLst/>
          </a:prstGeom>
          <a:noFill/>
        </p:spPr>
        <p:txBody>
          <a:bodyPr wrap="square" rtlCol="0">
            <a:spAutoFit/>
          </a:bodyPr>
          <a:lstStyle/>
          <a:p>
            <a:r>
              <a:rPr lang="en-US" b="1" u="sng" dirty="0" smtClean="0"/>
              <a:t>Min </a:t>
            </a:r>
            <a:r>
              <a:rPr lang="en-US" b="1" u="sng" dirty="0" err="1" smtClean="0"/>
              <a:t>config</a:t>
            </a:r>
            <a:endParaRPr lang="en-US" b="1" u="sng" dirty="0"/>
          </a:p>
        </p:txBody>
      </p:sp>
      <p:cxnSp>
        <p:nvCxnSpPr>
          <p:cNvPr id="15" name="Straight Arrow Connector 14"/>
          <p:cNvCxnSpPr/>
          <p:nvPr>
            <p:custDataLst>
              <p:tags r:id="rId7"/>
            </p:custDataLst>
          </p:nvPr>
        </p:nvCxnSpPr>
        <p:spPr>
          <a:xfrm>
            <a:off x="4724400" y="5638800"/>
            <a:ext cx="381000" cy="2286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custDataLst>
              <p:tags r:id="rId8"/>
            </p:custDataLst>
          </p:nvPr>
        </p:nvSpPr>
        <p:spPr>
          <a:xfrm>
            <a:off x="3352800" y="1676400"/>
            <a:ext cx="1447800" cy="369332"/>
          </a:xfrm>
          <a:prstGeom prst="rect">
            <a:avLst/>
          </a:prstGeom>
          <a:noFill/>
        </p:spPr>
        <p:txBody>
          <a:bodyPr wrap="square" rtlCol="0">
            <a:spAutoFit/>
          </a:bodyPr>
          <a:lstStyle/>
          <a:p>
            <a:r>
              <a:rPr lang="en-US" b="1" u="sng" dirty="0" smtClean="0"/>
              <a:t>Max </a:t>
            </a:r>
            <a:r>
              <a:rPr lang="en-US" b="1" u="sng" dirty="0" err="1" smtClean="0"/>
              <a:t>config</a:t>
            </a:r>
            <a:endParaRPr lang="en-US" b="1" u="sng" dirty="0"/>
          </a:p>
        </p:txBody>
      </p:sp>
      <p:cxnSp>
        <p:nvCxnSpPr>
          <p:cNvPr id="19" name="Straight Arrow Connector 18"/>
          <p:cNvCxnSpPr>
            <a:stCxn id="18" idx="3"/>
          </p:cNvCxnSpPr>
          <p:nvPr>
            <p:custDataLst>
              <p:tags r:id="rId9"/>
            </p:custDataLst>
          </p:nvPr>
        </p:nvCxnSpPr>
        <p:spPr>
          <a:xfrm flipV="1">
            <a:off x="4800600" y="1447800"/>
            <a:ext cx="381000" cy="413266"/>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3"/>
          <p:cNvSpPr txBox="1">
            <a:spLocks noChangeArrowheads="1"/>
          </p:cNvSpPr>
          <p:nvPr>
            <p:custDataLst>
              <p:tags r:id="rId10"/>
            </p:custDataLst>
          </p:nvPr>
        </p:nvSpPr>
        <p:spPr bwMode="auto">
          <a:xfrm>
            <a:off x="381000" y="1260475"/>
            <a:ext cx="2895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reduce 10 core resources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sym typeface="Wingdings" pitchFamily="2" charset="2"/>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hart 15"/>
          <p:cNvGraphicFramePr>
            <a:graphicFrameLocks/>
          </p:cNvGraphicFramePr>
          <p:nvPr/>
        </p:nvGraphicFramePr>
        <p:xfrm>
          <a:off x="4270375" y="838200"/>
          <a:ext cx="4873625" cy="5581650"/>
        </p:xfrm>
        <a:graphic>
          <a:graphicData uri="http://schemas.openxmlformats.org/drawingml/2006/chart">
            <c:chart xmlns:c="http://schemas.openxmlformats.org/drawingml/2006/chart" xmlns:r="http://schemas.openxmlformats.org/officeDocument/2006/relationships" r:id="rId14"/>
          </a:graphicData>
        </a:graphic>
      </p:graphicFrame>
      <p:sp>
        <p:nvSpPr>
          <p:cNvPr id="30" name="Footer Placeholder 5"/>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3"/>
            </p:custDataLst>
          </p:nvPr>
        </p:nvSpPr>
        <p:spPr/>
        <p:txBody>
          <a:bodyPr/>
          <a:lstStyle/>
          <a:p>
            <a:pPr>
              <a:defRPr/>
            </a:pPr>
            <a:fld id="{29F1B03F-0CC4-4318-87CE-235756B8E445}" type="slidenum">
              <a:rPr lang="en-US" altLang="en-US"/>
              <a:pPr>
                <a:defRPr/>
              </a:pPr>
              <a:t>11</a:t>
            </a:fld>
            <a:endParaRPr lang="en-US" altLang="en-US" dirty="0"/>
          </a:p>
        </p:txBody>
      </p:sp>
      <p:sp>
        <p:nvSpPr>
          <p:cNvPr id="7172" name="Rectangle 2"/>
          <p:cNvSpPr>
            <a:spLocks noGrp="1" noChangeArrowheads="1"/>
          </p:cNvSpPr>
          <p:nvPr>
            <p:ph type="title"/>
            <p:custDataLst>
              <p:tags r:id="rId4"/>
            </p:custDataLst>
          </p:nvPr>
        </p:nvSpPr>
        <p:spPr/>
        <p:txBody>
          <a:bodyPr/>
          <a:lstStyle/>
          <a:p>
            <a:pPr eaLnBrk="1" hangingPunct="1"/>
            <a:r>
              <a:rPr lang="en-US" dirty="0" smtClean="0"/>
              <a:t>Motivating Experiment: </a:t>
            </a:r>
          </a:p>
        </p:txBody>
      </p:sp>
      <p:sp>
        <p:nvSpPr>
          <p:cNvPr id="7173" name="Rectangle 3"/>
          <p:cNvSpPr>
            <a:spLocks noGrp="1" noChangeArrowheads="1"/>
          </p:cNvSpPr>
          <p:nvPr>
            <p:ph type="body" idx="1"/>
            <p:custDataLst>
              <p:tags r:id="rId5"/>
            </p:custDataLst>
          </p:nvPr>
        </p:nvSpPr>
        <p:spPr>
          <a:xfrm>
            <a:off x="381000" y="1260475"/>
            <a:ext cx="2895600" cy="4530725"/>
          </a:xfrm>
        </p:spPr>
        <p:txBody>
          <a:bodyPr/>
          <a:lstStyle/>
          <a:p>
            <a:pPr eaLnBrk="1" hangingPunct="1"/>
            <a:r>
              <a:rPr lang="en-US" sz="2400" dirty="0" smtClean="0"/>
              <a:t>We reduce 10 core resources</a:t>
            </a:r>
          </a:p>
          <a:p>
            <a:pPr eaLnBrk="1" hangingPunct="1"/>
            <a:r>
              <a:rPr lang="en-US" sz="2400" dirty="0" smtClean="0"/>
              <a:t>We selectively maximize resources</a:t>
            </a:r>
          </a:p>
          <a:p>
            <a:pPr eaLnBrk="1" hangingPunct="1">
              <a:buNone/>
            </a:pPr>
            <a:endParaRPr lang="en-US" sz="2400" dirty="0" smtClean="0"/>
          </a:p>
          <a:p>
            <a:pPr eaLnBrk="1" hangingPunct="1"/>
            <a:endParaRPr lang="en-US" sz="2400" dirty="0" smtClean="0"/>
          </a:p>
          <a:p>
            <a:pPr eaLnBrk="1" hangingPunct="1"/>
            <a:endParaRPr lang="en-US" sz="2400" dirty="0" smtClean="0"/>
          </a:p>
          <a:p>
            <a:pPr eaLnBrk="1" hangingPunct="1">
              <a:buNone/>
            </a:pPr>
            <a:endParaRPr lang="en-US" sz="2400" dirty="0" smtClean="0"/>
          </a:p>
          <a:p>
            <a:pPr eaLnBrk="1" hangingPunct="1">
              <a:buNone/>
            </a:pPr>
            <a:endParaRPr lang="en-US" sz="2400" dirty="0" smtClean="0">
              <a:sym typeface="Wingdings" pitchFamily="2" charset="2"/>
            </a:endParaRPr>
          </a:p>
          <a:p>
            <a:pPr eaLnBrk="1" hangingPunct="1">
              <a:buNone/>
            </a:pPr>
            <a:endParaRPr lang="en-US" sz="2400" dirty="0" smtClean="0"/>
          </a:p>
          <a:p>
            <a:pPr eaLnBrk="1" hangingPunct="1">
              <a:buNone/>
            </a:pPr>
            <a:endParaRPr lang="en-US" sz="2400" dirty="0" smtClean="0"/>
          </a:p>
        </p:txBody>
      </p:sp>
      <p:sp>
        <p:nvSpPr>
          <p:cNvPr id="7" name="TextBox 6"/>
          <p:cNvSpPr txBox="1"/>
          <p:nvPr>
            <p:custDataLst>
              <p:tags r:id="rId6"/>
            </p:custDataLst>
          </p:nvPr>
        </p:nvSpPr>
        <p:spPr>
          <a:xfrm>
            <a:off x="533400" y="4431268"/>
            <a:ext cx="3733800" cy="369332"/>
          </a:xfrm>
          <a:prstGeom prst="rect">
            <a:avLst/>
          </a:prstGeom>
          <a:noFill/>
        </p:spPr>
        <p:txBody>
          <a:bodyPr wrap="square" rtlCol="0">
            <a:spAutoFit/>
          </a:bodyPr>
          <a:lstStyle/>
          <a:p>
            <a:r>
              <a:rPr lang="en-US" b="1" u="sng" dirty="0" smtClean="0"/>
              <a:t>1 out of 10 parameters max</a:t>
            </a:r>
            <a:endParaRPr lang="en-US" b="1" u="sng" dirty="0"/>
          </a:p>
        </p:txBody>
      </p:sp>
      <p:cxnSp>
        <p:nvCxnSpPr>
          <p:cNvPr id="9" name="Straight Arrow Connector 8"/>
          <p:cNvCxnSpPr/>
          <p:nvPr>
            <p:custDataLst>
              <p:tags r:id="rId7"/>
            </p:custDataLst>
          </p:nvPr>
        </p:nvCxnSpPr>
        <p:spPr>
          <a:xfrm flipV="1">
            <a:off x="3657600" y="4495800"/>
            <a:ext cx="1447800" cy="1524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custDataLst>
              <p:tags r:id="rId8"/>
            </p:custDataLst>
          </p:nvPr>
        </p:nvSpPr>
        <p:spPr>
          <a:xfrm>
            <a:off x="3429000" y="5410200"/>
            <a:ext cx="1371600" cy="369332"/>
          </a:xfrm>
          <a:prstGeom prst="rect">
            <a:avLst/>
          </a:prstGeom>
          <a:noFill/>
        </p:spPr>
        <p:txBody>
          <a:bodyPr wrap="square" rtlCol="0">
            <a:spAutoFit/>
          </a:bodyPr>
          <a:lstStyle/>
          <a:p>
            <a:r>
              <a:rPr lang="en-US" b="1" u="sng" dirty="0" smtClean="0"/>
              <a:t>Min </a:t>
            </a:r>
            <a:r>
              <a:rPr lang="en-US" b="1" u="sng" dirty="0" err="1" smtClean="0"/>
              <a:t>config</a:t>
            </a:r>
            <a:endParaRPr lang="en-US" b="1" u="sng" dirty="0"/>
          </a:p>
        </p:txBody>
      </p:sp>
      <p:cxnSp>
        <p:nvCxnSpPr>
          <p:cNvPr id="12" name="Straight Arrow Connector 11"/>
          <p:cNvCxnSpPr/>
          <p:nvPr>
            <p:custDataLst>
              <p:tags r:id="rId9"/>
            </p:custDataLst>
          </p:nvPr>
        </p:nvCxnSpPr>
        <p:spPr>
          <a:xfrm>
            <a:off x="4724400" y="5638800"/>
            <a:ext cx="381000" cy="2286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custDataLst>
              <p:tags r:id="rId10"/>
            </p:custDataLst>
          </p:nvPr>
        </p:nvSpPr>
        <p:spPr>
          <a:xfrm>
            <a:off x="3048000" y="1676400"/>
            <a:ext cx="2057400" cy="369332"/>
          </a:xfrm>
          <a:prstGeom prst="rect">
            <a:avLst/>
          </a:prstGeom>
          <a:noFill/>
        </p:spPr>
        <p:txBody>
          <a:bodyPr wrap="square" rtlCol="0">
            <a:spAutoFit/>
          </a:bodyPr>
          <a:lstStyle/>
          <a:p>
            <a:r>
              <a:rPr lang="en-US" b="1" u="sng" dirty="0" smtClean="0"/>
              <a:t>10 </a:t>
            </a:r>
            <a:r>
              <a:rPr lang="en-US" b="1" u="sng" dirty="0" err="1" smtClean="0"/>
              <a:t>params</a:t>
            </a:r>
            <a:r>
              <a:rPr lang="en-US" b="1" u="sng" dirty="0" smtClean="0"/>
              <a:t> max</a:t>
            </a:r>
            <a:endParaRPr lang="en-US" b="1" u="sng" dirty="0"/>
          </a:p>
        </p:txBody>
      </p:sp>
      <p:cxnSp>
        <p:nvCxnSpPr>
          <p:cNvPr id="14" name="Straight Arrow Connector 13"/>
          <p:cNvCxnSpPr/>
          <p:nvPr>
            <p:custDataLst>
              <p:tags r:id="rId11"/>
            </p:custDataLst>
          </p:nvPr>
        </p:nvCxnSpPr>
        <p:spPr>
          <a:xfrm rot="5400000" flipH="1" flipV="1">
            <a:off x="4724400" y="1524000"/>
            <a:ext cx="457200" cy="304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p:cNvGraphicFramePr>
            <a:graphicFrameLocks/>
          </p:cNvGraphicFramePr>
          <p:nvPr/>
        </p:nvGraphicFramePr>
        <p:xfrm>
          <a:off x="4279900" y="838200"/>
          <a:ext cx="4864100" cy="5581650"/>
        </p:xfrm>
        <a:graphic>
          <a:graphicData uri="http://schemas.openxmlformats.org/drawingml/2006/chart">
            <c:chart xmlns:c="http://schemas.openxmlformats.org/drawingml/2006/chart" xmlns:r="http://schemas.openxmlformats.org/officeDocument/2006/relationships" r:id="rId14"/>
          </a:graphicData>
        </a:graphic>
      </p:graphicFrame>
      <p:sp>
        <p:nvSpPr>
          <p:cNvPr id="30" name="Footer Placeholder 5"/>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3"/>
            </p:custDataLst>
          </p:nvPr>
        </p:nvSpPr>
        <p:spPr/>
        <p:txBody>
          <a:bodyPr/>
          <a:lstStyle/>
          <a:p>
            <a:pPr>
              <a:defRPr/>
            </a:pPr>
            <a:fld id="{B7C038C8-6FB5-4192-ADDE-E88C7C8AEFAE}" type="slidenum">
              <a:rPr lang="en-US" altLang="en-US"/>
              <a:pPr>
                <a:defRPr/>
              </a:pPr>
              <a:t>12</a:t>
            </a:fld>
            <a:endParaRPr lang="en-US" altLang="en-US" dirty="0"/>
          </a:p>
        </p:txBody>
      </p:sp>
      <p:sp>
        <p:nvSpPr>
          <p:cNvPr id="8196" name="Rectangle 2"/>
          <p:cNvSpPr>
            <a:spLocks noGrp="1" noChangeArrowheads="1"/>
          </p:cNvSpPr>
          <p:nvPr>
            <p:ph type="title"/>
            <p:custDataLst>
              <p:tags r:id="rId4"/>
            </p:custDataLst>
          </p:nvPr>
        </p:nvSpPr>
        <p:spPr/>
        <p:txBody>
          <a:bodyPr/>
          <a:lstStyle/>
          <a:p>
            <a:pPr eaLnBrk="1" hangingPunct="1"/>
            <a:r>
              <a:rPr lang="en-US" dirty="0" smtClean="0"/>
              <a:t>Motivating Experiment: </a:t>
            </a:r>
          </a:p>
        </p:txBody>
      </p:sp>
      <p:sp>
        <p:nvSpPr>
          <p:cNvPr id="7" name="TextBox 6"/>
          <p:cNvSpPr txBox="1"/>
          <p:nvPr>
            <p:custDataLst>
              <p:tags r:id="rId5"/>
            </p:custDataLst>
          </p:nvPr>
        </p:nvSpPr>
        <p:spPr>
          <a:xfrm>
            <a:off x="533400" y="4431268"/>
            <a:ext cx="3733800" cy="369332"/>
          </a:xfrm>
          <a:prstGeom prst="rect">
            <a:avLst/>
          </a:prstGeom>
          <a:noFill/>
        </p:spPr>
        <p:txBody>
          <a:bodyPr wrap="square" rtlCol="0">
            <a:spAutoFit/>
          </a:bodyPr>
          <a:lstStyle/>
          <a:p>
            <a:r>
              <a:rPr lang="en-US" b="1" u="sng" dirty="0" smtClean="0"/>
              <a:t>2 out of 10 parameters max</a:t>
            </a:r>
            <a:endParaRPr lang="en-US" b="1" u="sng" dirty="0"/>
          </a:p>
        </p:txBody>
      </p:sp>
      <p:cxnSp>
        <p:nvCxnSpPr>
          <p:cNvPr id="8" name="Straight Arrow Connector 7"/>
          <p:cNvCxnSpPr/>
          <p:nvPr>
            <p:custDataLst>
              <p:tags r:id="rId6"/>
            </p:custDataLst>
          </p:nvPr>
        </p:nvCxnSpPr>
        <p:spPr>
          <a:xfrm rot="5400000" flipH="1" flipV="1">
            <a:off x="3390900" y="2933700"/>
            <a:ext cx="1981200" cy="1447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custDataLst>
              <p:tags r:id="rId7"/>
            </p:custDataLst>
          </p:nvPr>
        </p:nvSpPr>
        <p:spPr>
          <a:xfrm>
            <a:off x="3429000" y="5410200"/>
            <a:ext cx="1371600" cy="369332"/>
          </a:xfrm>
          <a:prstGeom prst="rect">
            <a:avLst/>
          </a:prstGeom>
          <a:noFill/>
        </p:spPr>
        <p:txBody>
          <a:bodyPr wrap="square" rtlCol="0">
            <a:spAutoFit/>
          </a:bodyPr>
          <a:lstStyle/>
          <a:p>
            <a:r>
              <a:rPr lang="en-US" b="1" u="sng" dirty="0" smtClean="0"/>
              <a:t>Min </a:t>
            </a:r>
            <a:r>
              <a:rPr lang="en-US" b="1" u="sng" dirty="0" err="1" smtClean="0"/>
              <a:t>config</a:t>
            </a:r>
            <a:endParaRPr lang="en-US" b="1" u="sng" dirty="0"/>
          </a:p>
        </p:txBody>
      </p:sp>
      <p:cxnSp>
        <p:nvCxnSpPr>
          <p:cNvPr id="12" name="Straight Arrow Connector 11"/>
          <p:cNvCxnSpPr/>
          <p:nvPr>
            <p:custDataLst>
              <p:tags r:id="rId8"/>
            </p:custDataLst>
          </p:nvPr>
        </p:nvCxnSpPr>
        <p:spPr>
          <a:xfrm>
            <a:off x="4724400" y="5638800"/>
            <a:ext cx="381000" cy="2286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custDataLst>
              <p:tags r:id="rId9"/>
            </p:custDataLst>
          </p:nvPr>
        </p:nvSpPr>
        <p:spPr>
          <a:xfrm>
            <a:off x="3048000" y="1676400"/>
            <a:ext cx="2057400" cy="369332"/>
          </a:xfrm>
          <a:prstGeom prst="rect">
            <a:avLst/>
          </a:prstGeom>
          <a:noFill/>
        </p:spPr>
        <p:txBody>
          <a:bodyPr wrap="square" rtlCol="0">
            <a:spAutoFit/>
          </a:bodyPr>
          <a:lstStyle/>
          <a:p>
            <a:r>
              <a:rPr lang="en-US" b="1" u="sng" dirty="0" smtClean="0"/>
              <a:t>10 </a:t>
            </a:r>
            <a:r>
              <a:rPr lang="en-US" b="1" u="sng" dirty="0" err="1" smtClean="0"/>
              <a:t>params</a:t>
            </a:r>
            <a:r>
              <a:rPr lang="en-US" b="1" u="sng" dirty="0" smtClean="0"/>
              <a:t> max</a:t>
            </a:r>
            <a:endParaRPr lang="en-US" b="1" u="sng" dirty="0"/>
          </a:p>
        </p:txBody>
      </p:sp>
      <p:cxnSp>
        <p:nvCxnSpPr>
          <p:cNvPr id="17" name="Straight Arrow Connector 16"/>
          <p:cNvCxnSpPr/>
          <p:nvPr>
            <p:custDataLst>
              <p:tags r:id="rId10"/>
            </p:custDataLst>
          </p:nvPr>
        </p:nvCxnSpPr>
        <p:spPr>
          <a:xfrm rot="5400000" flipH="1" flipV="1">
            <a:off x="4724400" y="1524000"/>
            <a:ext cx="457200" cy="304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3"/>
          <p:cNvSpPr txBox="1">
            <a:spLocks noChangeArrowheads="1"/>
          </p:cNvSpPr>
          <p:nvPr>
            <p:custDataLst>
              <p:tags r:id="rId11"/>
            </p:custDataLst>
          </p:nvPr>
        </p:nvSpPr>
        <p:spPr bwMode="auto">
          <a:xfrm>
            <a:off x="381000" y="1260475"/>
            <a:ext cx="2895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reduce 10 core resources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selectively maximize resources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sym typeface="Wingdings" pitchFamily="2" charset="2"/>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p:cNvGraphicFramePr>
            <a:graphicFrameLocks/>
          </p:cNvGraphicFramePr>
          <p:nvPr/>
        </p:nvGraphicFramePr>
        <p:xfrm>
          <a:off x="4270375" y="838200"/>
          <a:ext cx="4873625" cy="5581650"/>
        </p:xfrm>
        <a:graphic>
          <a:graphicData uri="http://schemas.openxmlformats.org/drawingml/2006/chart">
            <c:chart xmlns:c="http://schemas.openxmlformats.org/drawingml/2006/chart" xmlns:r="http://schemas.openxmlformats.org/officeDocument/2006/relationships" r:id="rId14"/>
          </a:graphicData>
        </a:graphic>
      </p:graphicFrame>
      <p:sp>
        <p:nvSpPr>
          <p:cNvPr id="30" name="Footer Placeholder 5"/>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3"/>
            </p:custDataLst>
          </p:nvPr>
        </p:nvSpPr>
        <p:spPr/>
        <p:txBody>
          <a:bodyPr/>
          <a:lstStyle/>
          <a:p>
            <a:pPr>
              <a:defRPr/>
            </a:pPr>
            <a:fld id="{FB157713-6175-4588-BF39-230C60AA017A}" type="slidenum">
              <a:rPr lang="en-US" altLang="en-US"/>
              <a:pPr>
                <a:defRPr/>
              </a:pPr>
              <a:t>13</a:t>
            </a:fld>
            <a:endParaRPr lang="en-US" altLang="en-US" dirty="0"/>
          </a:p>
        </p:txBody>
      </p:sp>
      <p:sp>
        <p:nvSpPr>
          <p:cNvPr id="9220" name="Rectangle 2"/>
          <p:cNvSpPr>
            <a:spLocks noGrp="1" noChangeArrowheads="1"/>
          </p:cNvSpPr>
          <p:nvPr>
            <p:ph type="title"/>
            <p:custDataLst>
              <p:tags r:id="rId4"/>
            </p:custDataLst>
          </p:nvPr>
        </p:nvSpPr>
        <p:spPr/>
        <p:txBody>
          <a:bodyPr/>
          <a:lstStyle/>
          <a:p>
            <a:pPr eaLnBrk="1" hangingPunct="1"/>
            <a:r>
              <a:rPr lang="en-US" dirty="0" smtClean="0"/>
              <a:t>Motivating Experiment: </a:t>
            </a:r>
          </a:p>
        </p:txBody>
      </p:sp>
      <p:sp>
        <p:nvSpPr>
          <p:cNvPr id="7" name="TextBox 6"/>
          <p:cNvSpPr txBox="1"/>
          <p:nvPr>
            <p:custDataLst>
              <p:tags r:id="rId5"/>
            </p:custDataLst>
          </p:nvPr>
        </p:nvSpPr>
        <p:spPr>
          <a:xfrm>
            <a:off x="533400" y="4431268"/>
            <a:ext cx="3733800" cy="369332"/>
          </a:xfrm>
          <a:prstGeom prst="rect">
            <a:avLst/>
          </a:prstGeom>
          <a:noFill/>
        </p:spPr>
        <p:txBody>
          <a:bodyPr wrap="square" rtlCol="0">
            <a:spAutoFit/>
          </a:bodyPr>
          <a:lstStyle/>
          <a:p>
            <a:r>
              <a:rPr lang="en-US" b="1" u="sng" dirty="0" smtClean="0"/>
              <a:t>3 out of 10 parameters max</a:t>
            </a:r>
            <a:endParaRPr lang="en-US" b="1" u="sng" dirty="0"/>
          </a:p>
        </p:txBody>
      </p:sp>
      <p:cxnSp>
        <p:nvCxnSpPr>
          <p:cNvPr id="9" name="Straight Arrow Connector 8"/>
          <p:cNvCxnSpPr/>
          <p:nvPr>
            <p:custDataLst>
              <p:tags r:id="rId6"/>
            </p:custDataLst>
          </p:nvPr>
        </p:nvCxnSpPr>
        <p:spPr>
          <a:xfrm rot="5400000" flipH="1" flipV="1">
            <a:off x="3124200" y="2667000"/>
            <a:ext cx="2514600" cy="1447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custDataLst>
              <p:tags r:id="rId7"/>
            </p:custDataLst>
          </p:nvPr>
        </p:nvSpPr>
        <p:spPr>
          <a:xfrm>
            <a:off x="3429000" y="5410200"/>
            <a:ext cx="1371600" cy="369332"/>
          </a:xfrm>
          <a:prstGeom prst="rect">
            <a:avLst/>
          </a:prstGeom>
          <a:noFill/>
        </p:spPr>
        <p:txBody>
          <a:bodyPr wrap="square" rtlCol="0">
            <a:spAutoFit/>
          </a:bodyPr>
          <a:lstStyle/>
          <a:p>
            <a:r>
              <a:rPr lang="en-US" b="1" u="sng" dirty="0" smtClean="0"/>
              <a:t>Min </a:t>
            </a:r>
            <a:r>
              <a:rPr lang="en-US" b="1" u="sng" dirty="0" err="1" smtClean="0"/>
              <a:t>config</a:t>
            </a:r>
            <a:endParaRPr lang="en-US" b="1" u="sng" dirty="0"/>
          </a:p>
        </p:txBody>
      </p:sp>
      <p:cxnSp>
        <p:nvCxnSpPr>
          <p:cNvPr id="12" name="Straight Arrow Connector 11"/>
          <p:cNvCxnSpPr/>
          <p:nvPr>
            <p:custDataLst>
              <p:tags r:id="rId8"/>
            </p:custDataLst>
          </p:nvPr>
        </p:nvCxnSpPr>
        <p:spPr>
          <a:xfrm>
            <a:off x="4724400" y="5638800"/>
            <a:ext cx="381000" cy="2286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custDataLst>
              <p:tags r:id="rId9"/>
            </p:custDataLst>
          </p:nvPr>
        </p:nvSpPr>
        <p:spPr>
          <a:xfrm>
            <a:off x="3048000" y="1676400"/>
            <a:ext cx="2057400" cy="369332"/>
          </a:xfrm>
          <a:prstGeom prst="rect">
            <a:avLst/>
          </a:prstGeom>
          <a:noFill/>
        </p:spPr>
        <p:txBody>
          <a:bodyPr wrap="square" rtlCol="0">
            <a:spAutoFit/>
          </a:bodyPr>
          <a:lstStyle/>
          <a:p>
            <a:r>
              <a:rPr lang="en-US" b="1" u="sng" dirty="0" smtClean="0"/>
              <a:t>10 </a:t>
            </a:r>
            <a:r>
              <a:rPr lang="en-US" b="1" u="sng" dirty="0" err="1" smtClean="0"/>
              <a:t>params</a:t>
            </a:r>
            <a:r>
              <a:rPr lang="en-US" b="1" u="sng" dirty="0" smtClean="0"/>
              <a:t> max</a:t>
            </a:r>
            <a:endParaRPr lang="en-US" b="1" u="sng" dirty="0"/>
          </a:p>
        </p:txBody>
      </p:sp>
      <p:cxnSp>
        <p:nvCxnSpPr>
          <p:cNvPr id="17" name="Straight Arrow Connector 16"/>
          <p:cNvCxnSpPr/>
          <p:nvPr>
            <p:custDataLst>
              <p:tags r:id="rId10"/>
            </p:custDataLst>
          </p:nvPr>
        </p:nvCxnSpPr>
        <p:spPr>
          <a:xfrm rot="5400000" flipH="1" flipV="1">
            <a:off x="4724400" y="1524000"/>
            <a:ext cx="457200" cy="30480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3"/>
          <p:cNvSpPr txBox="1">
            <a:spLocks noChangeArrowheads="1"/>
          </p:cNvSpPr>
          <p:nvPr>
            <p:custDataLst>
              <p:tags r:id="rId11"/>
            </p:custDataLst>
          </p:nvPr>
        </p:nvSpPr>
        <p:spPr bwMode="auto">
          <a:xfrm>
            <a:off x="381000" y="1260475"/>
            <a:ext cx="2895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reduce 10 core resources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selectively maximize resources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sym typeface="Wingdings" pitchFamily="2" charset="2"/>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5"/>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3"/>
            </p:custDataLst>
          </p:nvPr>
        </p:nvSpPr>
        <p:spPr/>
        <p:txBody>
          <a:bodyPr/>
          <a:lstStyle/>
          <a:p>
            <a:pPr>
              <a:defRPr/>
            </a:pPr>
            <a:fld id="{FB157713-6175-4588-BF39-230C60AA017A}" type="slidenum">
              <a:rPr lang="en-US" altLang="en-US"/>
              <a:pPr>
                <a:defRPr/>
              </a:pPr>
              <a:t>14</a:t>
            </a:fld>
            <a:endParaRPr lang="en-US" altLang="en-US" dirty="0"/>
          </a:p>
        </p:txBody>
      </p:sp>
      <p:sp>
        <p:nvSpPr>
          <p:cNvPr id="9220" name="Rectangle 2"/>
          <p:cNvSpPr>
            <a:spLocks noGrp="1" noChangeArrowheads="1"/>
          </p:cNvSpPr>
          <p:nvPr>
            <p:ph type="title"/>
            <p:custDataLst>
              <p:tags r:id="rId4"/>
            </p:custDataLst>
          </p:nvPr>
        </p:nvSpPr>
        <p:spPr/>
        <p:txBody>
          <a:bodyPr/>
          <a:lstStyle/>
          <a:p>
            <a:pPr eaLnBrk="1" hangingPunct="1"/>
            <a:r>
              <a:rPr lang="en-US" dirty="0" smtClean="0"/>
              <a:t>Motivating Experiment: </a:t>
            </a:r>
          </a:p>
        </p:txBody>
      </p:sp>
      <p:sp>
        <p:nvSpPr>
          <p:cNvPr id="12" name="Right Arrow 11"/>
          <p:cNvSpPr/>
          <p:nvPr>
            <p:custDataLst>
              <p:tags r:id="rId5"/>
            </p:custDataLst>
          </p:nvPr>
        </p:nvSpPr>
        <p:spPr>
          <a:xfrm>
            <a:off x="304800" y="38862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8" name="Chart 7"/>
          <p:cNvGraphicFramePr>
            <a:graphicFrameLocks/>
          </p:cNvGraphicFramePr>
          <p:nvPr/>
        </p:nvGraphicFramePr>
        <p:xfrm>
          <a:off x="4270375" y="838200"/>
          <a:ext cx="4873625" cy="5581650"/>
        </p:xfrm>
        <a:graphic>
          <a:graphicData uri="http://schemas.openxmlformats.org/drawingml/2006/chart">
            <c:chart xmlns:c="http://schemas.openxmlformats.org/drawingml/2006/chart" xmlns:r="http://schemas.openxmlformats.org/officeDocument/2006/relationships" r:id="rId11"/>
          </a:graphicData>
        </a:graphic>
      </p:graphicFrame>
      <p:sp>
        <p:nvSpPr>
          <p:cNvPr id="10" name="Rectangle 3"/>
          <p:cNvSpPr txBox="1">
            <a:spLocks noChangeArrowheads="1"/>
          </p:cNvSpPr>
          <p:nvPr>
            <p:custDataLst>
              <p:tags r:id="rId6"/>
            </p:custDataLst>
          </p:nvPr>
        </p:nvSpPr>
        <p:spPr bwMode="auto">
          <a:xfrm>
            <a:off x="381000" y="1260475"/>
            <a:ext cx="2895600" cy="1787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reduce 10 core resources</a:t>
            </a: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We selectively maximize resources</a:t>
            </a:r>
          </a:p>
        </p:txBody>
      </p:sp>
      <p:sp>
        <p:nvSpPr>
          <p:cNvPr id="13" name="Rectangle 3"/>
          <p:cNvSpPr txBox="1">
            <a:spLocks noChangeArrowheads="1"/>
          </p:cNvSpPr>
          <p:nvPr>
            <p:custDataLst>
              <p:tags r:id="rId7"/>
            </p:custDataLst>
          </p:nvPr>
        </p:nvSpPr>
        <p:spPr bwMode="auto">
          <a:xfrm>
            <a:off x="609600" y="4419600"/>
            <a:ext cx="2895600" cy="2286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lang="en-US" sz="2400" kern="0" dirty="0" smtClean="0">
              <a:latin typeface="Garamond" pitchFamily="18" charset="0"/>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lang="en-US" sz="2400" kern="0" dirty="0" smtClean="0">
              <a:latin typeface="Garamond" pitchFamily="18" charset="0"/>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sym typeface="Wingdings" pitchFamily="2" charset="2"/>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p:txBody>
      </p:sp>
      <p:sp>
        <p:nvSpPr>
          <p:cNvPr id="15" name="Rectangle 3"/>
          <p:cNvSpPr txBox="1">
            <a:spLocks noChangeArrowheads="1"/>
          </p:cNvSpPr>
          <p:nvPr>
            <p:custDataLst>
              <p:tags r:id="rId8"/>
            </p:custDataLst>
          </p:nvPr>
        </p:nvSpPr>
        <p:spPr bwMode="auto">
          <a:xfrm>
            <a:off x="457200" y="3733800"/>
            <a:ext cx="3733800" cy="2286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chemeClr val="accent1"/>
              </a:buClr>
              <a:buSzPct val="65000"/>
              <a:tabLst/>
              <a:defRPr/>
            </a:pPr>
            <a:r>
              <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rPr>
              <a:t>	</a:t>
            </a:r>
            <a:r>
              <a:rPr kumimoji="0" lang="en-US" sz="2400" b="1" i="0" u="none" strike="noStrike" kern="0" cap="none" spc="0" normalizeH="0" baseline="0" noProof="0" dirty="0" smtClean="0">
                <a:ln>
                  <a:noFill/>
                </a:ln>
                <a:solidFill>
                  <a:schemeClr val="tx1"/>
                </a:solidFill>
                <a:effectLst/>
                <a:uLnTx/>
                <a:uFillTx/>
                <a:latin typeface="Garamond" pitchFamily="18" charset="0"/>
                <a:ea typeface="+mn-ea"/>
                <a:cs typeface="+mn-cs"/>
              </a:rPr>
              <a:t>We can aggressively</a:t>
            </a:r>
            <a:r>
              <a:rPr kumimoji="0" lang="en-US" sz="2400" b="1" i="0" u="none" strike="noStrike" kern="0" cap="none" spc="0" normalizeH="0" noProof="0" dirty="0" smtClean="0">
                <a:ln>
                  <a:noFill/>
                </a:ln>
                <a:solidFill>
                  <a:schemeClr val="tx1"/>
                </a:solidFill>
                <a:effectLst/>
                <a:uLnTx/>
                <a:uFillTx/>
                <a:latin typeface="Garamond" pitchFamily="18" charset="0"/>
                <a:ea typeface="+mn-ea"/>
                <a:cs typeface="+mn-cs"/>
              </a:rPr>
              <a:t> reduce core components and give up little performance</a:t>
            </a:r>
            <a:endParaRPr lang="en-US" sz="2400" b="1" kern="0" dirty="0" smtClean="0">
              <a:latin typeface="Garamond" pitchFamily="18" charset="0"/>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lang="en-US" sz="2400" kern="0" dirty="0" smtClean="0">
              <a:latin typeface="Garamond" pitchFamily="18" charset="0"/>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sym typeface="Wingdings" pitchFamily="2" charset="2"/>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defRPr/>
            </a:pPr>
            <a:endParaRPr kumimoji="0" lang="en-US" sz="2400" b="0" i="0" u="none" strike="noStrike" kern="0" cap="none" spc="0" normalizeH="0" baseline="0" noProof="0" dirty="0" smtClean="0">
              <a:ln>
                <a:noFill/>
              </a:ln>
              <a:solidFill>
                <a:schemeClr val="tx1"/>
              </a:solidFill>
              <a:effectLst/>
              <a:uLnTx/>
              <a:uFillTx/>
              <a:latin typeface="Garamond" pitchFamily="18" charset="0"/>
              <a:ea typeface="+mn-ea"/>
              <a:cs typeface="+mn-cs"/>
            </a:endParaRP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5" name="Slide Number Placeholder 5"/>
          <p:cNvSpPr>
            <a:spLocks noGrp="1"/>
          </p:cNvSpPr>
          <p:nvPr>
            <p:ph type="sldNum" sz="quarter" idx="12"/>
            <p:custDataLst>
              <p:tags r:id="rId3"/>
            </p:custDataLst>
          </p:nvPr>
        </p:nvSpPr>
        <p:spPr/>
        <p:txBody>
          <a:bodyPr/>
          <a:lstStyle/>
          <a:p>
            <a:pPr>
              <a:defRPr/>
            </a:pPr>
            <a:fld id="{0B044A75-B658-4668-A9B4-5E9741ABC818}" type="slidenum">
              <a:rPr lang="en-US" altLang="en-US"/>
              <a:pPr>
                <a:defRPr/>
              </a:pPr>
              <a:t>15</a:t>
            </a:fld>
            <a:endParaRPr lang="en-US" altLang="en-US"/>
          </a:p>
        </p:txBody>
      </p:sp>
      <p:sp>
        <p:nvSpPr>
          <p:cNvPr id="11268" name="Rectangle 2"/>
          <p:cNvSpPr>
            <a:spLocks noGrp="1" noChangeArrowheads="1"/>
          </p:cNvSpPr>
          <p:nvPr>
            <p:ph type="title"/>
            <p:custDataLst>
              <p:tags r:id="rId4"/>
            </p:custDataLst>
          </p:nvPr>
        </p:nvSpPr>
        <p:spPr/>
        <p:txBody>
          <a:bodyPr/>
          <a:lstStyle/>
          <a:p>
            <a:pPr eaLnBrk="1" hangingPunct="1"/>
            <a:r>
              <a:rPr lang="en-US" dirty="0" smtClean="0"/>
              <a:t>Outline</a:t>
            </a:r>
          </a:p>
        </p:txBody>
      </p:sp>
      <p:sp>
        <p:nvSpPr>
          <p:cNvPr id="11269" name="Rectangle 3"/>
          <p:cNvSpPr>
            <a:spLocks noGrp="1" noChangeArrowheads="1"/>
          </p:cNvSpPr>
          <p:nvPr>
            <p:ph type="body" idx="1"/>
            <p:custDataLst>
              <p:tags r:id="rId5"/>
            </p:custDataLst>
          </p:nvPr>
        </p:nvSpPr>
        <p:spPr/>
        <p:txBody>
          <a:bodyPr/>
          <a:lstStyle/>
          <a:p>
            <a:pPr eaLnBrk="1" hangingPunct="1"/>
            <a:r>
              <a:rPr lang="en-US" sz="3200" dirty="0" smtClean="0"/>
              <a:t>Introduction</a:t>
            </a:r>
          </a:p>
          <a:p>
            <a:pPr eaLnBrk="1" hangingPunct="1"/>
            <a:r>
              <a:rPr lang="en-US" sz="3200" dirty="0" smtClean="0"/>
              <a:t>Architecture</a:t>
            </a:r>
          </a:p>
          <a:p>
            <a:pPr eaLnBrk="1" hangingPunct="1"/>
            <a:r>
              <a:rPr lang="en-US" sz="3200" dirty="0" smtClean="0"/>
              <a:t>Results</a:t>
            </a:r>
          </a:p>
          <a:p>
            <a:pPr eaLnBrk="1" hangingPunct="1"/>
            <a:r>
              <a:rPr lang="en-US" sz="3200" dirty="0" smtClean="0"/>
              <a:t>Conclusions</a:t>
            </a:r>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5" name="Slide Number Placeholder 5"/>
          <p:cNvSpPr>
            <a:spLocks noGrp="1"/>
          </p:cNvSpPr>
          <p:nvPr>
            <p:ph type="sldNum" sz="quarter" idx="12"/>
            <p:custDataLst>
              <p:tags r:id="rId3"/>
            </p:custDataLst>
          </p:nvPr>
        </p:nvSpPr>
        <p:spPr/>
        <p:txBody>
          <a:bodyPr/>
          <a:lstStyle/>
          <a:p>
            <a:pPr>
              <a:defRPr/>
            </a:pPr>
            <a:fld id="{0B044A75-B658-4668-A9B4-5E9741ABC818}" type="slidenum">
              <a:rPr lang="en-US" altLang="en-US"/>
              <a:pPr>
                <a:defRPr/>
              </a:pPr>
              <a:t>16</a:t>
            </a:fld>
            <a:endParaRPr lang="en-US" altLang="en-US"/>
          </a:p>
        </p:txBody>
      </p:sp>
      <p:sp>
        <p:nvSpPr>
          <p:cNvPr id="11268" name="Rectangle 2"/>
          <p:cNvSpPr>
            <a:spLocks noGrp="1" noChangeArrowheads="1"/>
          </p:cNvSpPr>
          <p:nvPr>
            <p:ph type="title"/>
            <p:custDataLst>
              <p:tags r:id="rId4"/>
            </p:custDataLst>
          </p:nvPr>
        </p:nvSpPr>
        <p:spPr/>
        <p:txBody>
          <a:bodyPr/>
          <a:lstStyle/>
          <a:p>
            <a:pPr eaLnBrk="1" hangingPunct="1"/>
            <a:r>
              <a:rPr lang="en-US" dirty="0" smtClean="0"/>
              <a:t>Outline</a:t>
            </a:r>
          </a:p>
        </p:txBody>
      </p:sp>
      <p:sp>
        <p:nvSpPr>
          <p:cNvPr id="11269" name="Rectangle 3"/>
          <p:cNvSpPr>
            <a:spLocks noGrp="1" noChangeArrowheads="1"/>
          </p:cNvSpPr>
          <p:nvPr>
            <p:ph type="body" idx="1"/>
            <p:custDataLst>
              <p:tags r:id="rId5"/>
            </p:custDataLst>
          </p:nvPr>
        </p:nvSpPr>
        <p:spPr/>
        <p:txBody>
          <a:bodyPr/>
          <a:lstStyle/>
          <a:p>
            <a:pPr eaLnBrk="1" hangingPunct="1"/>
            <a:r>
              <a:rPr lang="en-US" sz="3200" dirty="0" smtClean="0">
                <a:solidFill>
                  <a:schemeClr val="bg1">
                    <a:lumMod val="85000"/>
                  </a:schemeClr>
                </a:solidFill>
              </a:rPr>
              <a:t>Introduction</a:t>
            </a:r>
          </a:p>
          <a:p>
            <a:pPr eaLnBrk="1" hangingPunct="1"/>
            <a:r>
              <a:rPr lang="en-US" sz="3200" dirty="0" smtClean="0"/>
              <a:t>Architecture</a:t>
            </a:r>
          </a:p>
          <a:p>
            <a:pPr eaLnBrk="1" hangingPunct="1"/>
            <a:r>
              <a:rPr lang="en-US" sz="3200" dirty="0" smtClean="0">
                <a:solidFill>
                  <a:schemeClr val="bg1">
                    <a:lumMod val="85000"/>
                  </a:schemeClr>
                </a:solidFill>
              </a:rPr>
              <a:t>Results</a:t>
            </a:r>
          </a:p>
          <a:p>
            <a:pPr eaLnBrk="1" hangingPunct="1"/>
            <a:r>
              <a:rPr lang="en-US" sz="3200" dirty="0" smtClean="0">
                <a:solidFill>
                  <a:schemeClr val="bg1">
                    <a:lumMod val="85000"/>
                  </a:schemeClr>
                </a:solidFill>
              </a:rPr>
              <a:t>Conclusions</a:t>
            </a:r>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5"/>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3"/>
            </p:custDataLst>
          </p:nvPr>
        </p:nvSpPr>
        <p:spPr/>
        <p:txBody>
          <a:bodyPr/>
          <a:lstStyle/>
          <a:p>
            <a:pPr>
              <a:defRPr/>
            </a:pPr>
            <a:fld id="{E3CE062F-90E5-4FF4-A387-5D7E685C81AB}" type="slidenum">
              <a:rPr lang="en-US" altLang="en-US"/>
              <a:pPr>
                <a:defRPr/>
              </a:pPr>
              <a:t>17</a:t>
            </a:fld>
            <a:endParaRPr lang="en-US" altLang="en-US"/>
          </a:p>
        </p:txBody>
      </p:sp>
      <p:sp>
        <p:nvSpPr>
          <p:cNvPr id="13316" name="Rectangle 2"/>
          <p:cNvSpPr>
            <a:spLocks noGrp="1" noChangeArrowheads="1"/>
          </p:cNvSpPr>
          <p:nvPr>
            <p:ph type="title"/>
            <p:custDataLst>
              <p:tags r:id="rId4"/>
            </p:custDataLst>
          </p:nvPr>
        </p:nvSpPr>
        <p:spPr/>
        <p:txBody>
          <a:bodyPr/>
          <a:lstStyle/>
          <a:p>
            <a:pPr eaLnBrk="1" hangingPunct="1"/>
            <a:r>
              <a:rPr lang="en-US" dirty="0" smtClean="0"/>
              <a:t>Baseline Architecture</a:t>
            </a:r>
          </a:p>
        </p:txBody>
      </p:sp>
      <p:pic>
        <p:nvPicPr>
          <p:cNvPr id="13318" name="Picture 7"/>
          <p:cNvPicPr>
            <a:picLocks noChangeAspect="1" noChangeArrowheads="1"/>
          </p:cNvPicPr>
          <p:nvPr>
            <p:custDataLst>
              <p:tags r:id="rId5"/>
            </p:custDataLst>
          </p:nvPr>
        </p:nvPicPr>
        <p:blipFill>
          <a:blip r:embed="rId8"/>
          <a:srcRect/>
          <a:stretch>
            <a:fillRect/>
          </a:stretch>
        </p:blipFill>
        <p:spPr bwMode="auto">
          <a:xfrm>
            <a:off x="1965325" y="1371600"/>
            <a:ext cx="6123384" cy="3971925"/>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p:cNvPicPr>
            <a:picLocks noChangeAspect="1" noChangeArrowheads="1"/>
          </p:cNvPicPr>
          <p:nvPr>
            <p:custDataLst>
              <p:tags r:id="rId2"/>
            </p:custDataLst>
          </p:nvPr>
        </p:nvPicPr>
        <p:blipFill>
          <a:blip r:embed="rId9"/>
          <a:srcRect/>
          <a:stretch>
            <a:fillRect/>
          </a:stretch>
        </p:blipFill>
        <p:spPr bwMode="auto">
          <a:xfrm>
            <a:off x="1947862" y="1371600"/>
            <a:ext cx="6129337" cy="3976436"/>
          </a:xfrm>
          <a:prstGeom prst="rect">
            <a:avLst/>
          </a:prstGeom>
          <a:noFill/>
          <a:ln w="9525">
            <a:noFill/>
            <a:miter lim="800000"/>
            <a:headEnd/>
            <a:tailEnd/>
          </a:ln>
        </p:spPr>
      </p:pic>
      <p:sp>
        <p:nvSpPr>
          <p:cNvPr id="30" name="Footer Placeholder 5"/>
          <p:cNvSpPr>
            <a:spLocks noGrp="1"/>
          </p:cNvSpPr>
          <p:nvPr>
            <p:ph type="ftr" sz="quarter" idx="11"/>
            <p:custDataLst>
              <p:tags r:id="rId3"/>
            </p:custDataLst>
          </p:nvPr>
        </p:nvSpPr>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4"/>
            </p:custDataLst>
          </p:nvPr>
        </p:nvSpPr>
        <p:spPr/>
        <p:txBody>
          <a:bodyPr/>
          <a:lstStyle/>
          <a:p>
            <a:pPr>
              <a:defRPr/>
            </a:pPr>
            <a:fld id="{CD78C621-9FB2-481C-9273-A6859BC4C1B0}" type="slidenum">
              <a:rPr lang="en-US" altLang="en-US"/>
              <a:pPr>
                <a:defRPr/>
              </a:pPr>
              <a:t>18</a:t>
            </a:fld>
            <a:endParaRPr lang="en-US" altLang="en-US"/>
          </a:p>
        </p:txBody>
      </p:sp>
      <p:sp>
        <p:nvSpPr>
          <p:cNvPr id="14341" name="Rectangle 2"/>
          <p:cNvSpPr>
            <a:spLocks noGrp="1" noChangeArrowheads="1"/>
          </p:cNvSpPr>
          <p:nvPr>
            <p:ph type="title"/>
            <p:custDataLst>
              <p:tags r:id="rId5"/>
            </p:custDataLst>
          </p:nvPr>
        </p:nvSpPr>
        <p:spPr>
          <a:xfrm>
            <a:off x="457200" y="277813"/>
            <a:ext cx="8686800" cy="1139825"/>
          </a:xfrm>
        </p:spPr>
        <p:txBody>
          <a:bodyPr/>
          <a:lstStyle/>
          <a:p>
            <a:pPr eaLnBrk="1" hangingPunct="1"/>
            <a:r>
              <a:rPr lang="en-US" dirty="0" smtClean="0"/>
              <a:t>Baseline Architecture with Average Power Management</a:t>
            </a:r>
          </a:p>
        </p:txBody>
      </p:sp>
      <p:pic>
        <p:nvPicPr>
          <p:cNvPr id="14343" name="Picture 3"/>
          <p:cNvPicPr>
            <a:picLocks noChangeAspect="1" noChangeArrowheads="1"/>
          </p:cNvPicPr>
          <p:nvPr>
            <p:custDataLst>
              <p:tags r:id="rId6"/>
            </p:custDataLst>
          </p:nvPr>
        </p:nvPicPr>
        <p:blipFill>
          <a:blip r:embed="rId10"/>
          <a:srcRect/>
          <a:stretch>
            <a:fillRect/>
          </a:stretch>
        </p:blipFill>
        <p:spPr bwMode="auto">
          <a:xfrm>
            <a:off x="990600" y="1676400"/>
            <a:ext cx="1600200" cy="322263"/>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7"/>
          <p:cNvPicPr>
            <a:picLocks noChangeAspect="1" noChangeArrowheads="1"/>
          </p:cNvPicPr>
          <p:nvPr>
            <p:custDataLst>
              <p:tags r:id="rId2"/>
            </p:custDataLst>
          </p:nvPr>
        </p:nvPicPr>
        <p:blipFill>
          <a:blip r:embed="rId9"/>
          <a:srcRect/>
          <a:stretch>
            <a:fillRect/>
          </a:stretch>
        </p:blipFill>
        <p:spPr bwMode="auto">
          <a:xfrm>
            <a:off x="1956816" y="1371600"/>
            <a:ext cx="6106746" cy="4751387"/>
          </a:xfrm>
          <a:prstGeom prst="rect">
            <a:avLst/>
          </a:prstGeom>
          <a:noFill/>
          <a:ln w="9525">
            <a:noFill/>
            <a:miter lim="800000"/>
            <a:headEnd/>
            <a:tailEnd/>
          </a:ln>
        </p:spPr>
      </p:pic>
      <p:sp>
        <p:nvSpPr>
          <p:cNvPr id="30" name="Footer Placeholder 5"/>
          <p:cNvSpPr>
            <a:spLocks noGrp="1"/>
          </p:cNvSpPr>
          <p:nvPr>
            <p:ph type="ftr" sz="quarter" idx="11"/>
            <p:custDataLst>
              <p:tags r:id="rId3"/>
            </p:custDataLst>
          </p:nvPr>
        </p:nvSpPr>
        <p:spPr>
          <a:xfrm>
            <a:off x="3124200" y="6275387"/>
            <a:ext cx="2895600" cy="457200"/>
          </a:xfrm>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4"/>
            </p:custDataLst>
          </p:nvPr>
        </p:nvSpPr>
        <p:spPr>
          <a:xfrm>
            <a:off x="6553200" y="6270625"/>
            <a:ext cx="2133600" cy="457200"/>
          </a:xfrm>
        </p:spPr>
        <p:txBody>
          <a:bodyPr/>
          <a:lstStyle/>
          <a:p>
            <a:pPr>
              <a:defRPr/>
            </a:pPr>
            <a:fld id="{D3519F83-1B95-4EE3-9499-2DABB18C54C5}" type="slidenum">
              <a:rPr lang="en-US" altLang="en-US"/>
              <a:pPr>
                <a:defRPr/>
              </a:pPr>
              <a:t>19</a:t>
            </a:fld>
            <a:endParaRPr lang="en-US" altLang="en-US"/>
          </a:p>
        </p:txBody>
      </p:sp>
      <p:sp>
        <p:nvSpPr>
          <p:cNvPr id="15365" name="Rectangle 2"/>
          <p:cNvSpPr>
            <a:spLocks noGrp="1" noChangeArrowheads="1"/>
          </p:cNvSpPr>
          <p:nvPr>
            <p:ph type="title"/>
            <p:custDataLst>
              <p:tags r:id="rId5"/>
            </p:custDataLst>
          </p:nvPr>
        </p:nvSpPr>
        <p:spPr>
          <a:xfrm>
            <a:off x="457200" y="277813"/>
            <a:ext cx="8991600" cy="1139825"/>
          </a:xfrm>
        </p:spPr>
        <p:txBody>
          <a:bodyPr/>
          <a:lstStyle/>
          <a:p>
            <a:pPr eaLnBrk="1" hangingPunct="1"/>
            <a:r>
              <a:rPr lang="en-US" dirty="0" smtClean="0"/>
              <a:t>Proposed Architecture with Peak Power Management</a:t>
            </a:r>
            <a:endParaRPr lang="en-US" b="1" dirty="0" smtClean="0"/>
          </a:p>
        </p:txBody>
      </p:sp>
      <p:pic>
        <p:nvPicPr>
          <p:cNvPr id="15371" name="Picture 3"/>
          <p:cNvPicPr>
            <a:picLocks noChangeAspect="1" noChangeArrowheads="1"/>
          </p:cNvPicPr>
          <p:nvPr>
            <p:custDataLst>
              <p:tags r:id="rId6"/>
            </p:custDataLst>
          </p:nvPr>
        </p:nvPicPr>
        <p:blipFill>
          <a:blip r:embed="rId10"/>
          <a:srcRect/>
          <a:stretch>
            <a:fillRect/>
          </a:stretch>
        </p:blipFill>
        <p:spPr bwMode="auto">
          <a:xfrm>
            <a:off x="990600" y="1676400"/>
            <a:ext cx="1600200" cy="322263"/>
          </a:xfrm>
          <a:prstGeom prst="rect">
            <a:avLst/>
          </a:prstGeom>
          <a:noFill/>
          <a:ln w="9525">
            <a:noFill/>
            <a:miter lim="800000"/>
            <a:headEnd/>
            <a:tailEnd/>
          </a:ln>
        </p:spPr>
      </p:pic>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7"/>
          <p:cNvPicPr>
            <a:picLocks noChangeAspect="1" noChangeArrowheads="1"/>
          </p:cNvPicPr>
          <p:nvPr>
            <p:custDataLst>
              <p:tags r:id="rId2"/>
            </p:custDataLst>
          </p:nvPr>
        </p:nvPicPr>
        <p:blipFill>
          <a:blip r:embed="rId13"/>
          <a:srcRect/>
          <a:stretch>
            <a:fillRect/>
          </a:stretch>
        </p:blipFill>
        <p:spPr bwMode="auto">
          <a:xfrm>
            <a:off x="1956816" y="1371600"/>
            <a:ext cx="6106746" cy="4751387"/>
          </a:xfrm>
          <a:prstGeom prst="rect">
            <a:avLst/>
          </a:prstGeom>
          <a:noFill/>
          <a:ln w="9525">
            <a:noFill/>
            <a:miter lim="800000"/>
            <a:headEnd/>
            <a:tailEnd/>
          </a:ln>
        </p:spPr>
      </p:pic>
      <p:sp>
        <p:nvSpPr>
          <p:cNvPr id="30" name="Footer Placeholder 5"/>
          <p:cNvSpPr>
            <a:spLocks noGrp="1"/>
          </p:cNvSpPr>
          <p:nvPr>
            <p:ph type="ftr" sz="quarter" idx="11"/>
            <p:custDataLst>
              <p:tags r:id="rId3"/>
            </p:custDataLst>
          </p:nvPr>
        </p:nvSpPr>
        <p:spPr>
          <a:xfrm>
            <a:off x="3124200" y="6275387"/>
            <a:ext cx="2895600" cy="457200"/>
          </a:xfrm>
        </p:spPr>
        <p:txBody>
          <a:bodyPr/>
          <a:lstStyle/>
          <a:p>
            <a:pPr>
              <a:defRPr/>
            </a:pPr>
            <a:r>
              <a:rPr lang="en-US" altLang="en-US"/>
              <a:t>Micro'09: Kontorinis, Shayan, Kumar, Tullsen</a:t>
            </a:r>
          </a:p>
        </p:txBody>
      </p:sp>
      <p:sp>
        <p:nvSpPr>
          <p:cNvPr id="31" name="Slide Number Placeholder 6"/>
          <p:cNvSpPr>
            <a:spLocks noGrp="1"/>
          </p:cNvSpPr>
          <p:nvPr>
            <p:ph type="sldNum" sz="quarter" idx="12"/>
            <p:custDataLst>
              <p:tags r:id="rId4"/>
            </p:custDataLst>
          </p:nvPr>
        </p:nvSpPr>
        <p:spPr>
          <a:xfrm>
            <a:off x="6553200" y="6270625"/>
            <a:ext cx="2133600" cy="457200"/>
          </a:xfrm>
        </p:spPr>
        <p:txBody>
          <a:bodyPr/>
          <a:lstStyle/>
          <a:p>
            <a:pPr>
              <a:defRPr/>
            </a:pPr>
            <a:fld id="{D3519F83-1B95-4EE3-9499-2DABB18C54C5}" type="slidenum">
              <a:rPr lang="en-US" altLang="en-US"/>
              <a:pPr>
                <a:defRPr/>
              </a:pPr>
              <a:t>20</a:t>
            </a:fld>
            <a:endParaRPr lang="en-US" altLang="en-US"/>
          </a:p>
        </p:txBody>
      </p:sp>
      <p:sp>
        <p:nvSpPr>
          <p:cNvPr id="15365" name="Rectangle 2"/>
          <p:cNvSpPr>
            <a:spLocks noGrp="1" noChangeArrowheads="1"/>
          </p:cNvSpPr>
          <p:nvPr>
            <p:ph type="title"/>
            <p:custDataLst>
              <p:tags r:id="rId5"/>
            </p:custDataLst>
          </p:nvPr>
        </p:nvSpPr>
        <p:spPr>
          <a:xfrm>
            <a:off x="457200" y="277813"/>
            <a:ext cx="8686800" cy="1139825"/>
          </a:xfrm>
        </p:spPr>
        <p:txBody>
          <a:bodyPr/>
          <a:lstStyle/>
          <a:p>
            <a:pPr eaLnBrk="1" hangingPunct="1"/>
            <a:r>
              <a:rPr lang="en-US" dirty="0" smtClean="0"/>
              <a:t>Proposed Architecture with Peak Power Management</a:t>
            </a:r>
            <a:endParaRPr lang="en-US" b="1" dirty="0" smtClean="0"/>
          </a:p>
        </p:txBody>
      </p:sp>
      <p:sp>
        <p:nvSpPr>
          <p:cNvPr id="10" name="TextBox 9"/>
          <p:cNvSpPr txBox="1"/>
          <p:nvPr>
            <p:custDataLst>
              <p:tags r:id="rId6"/>
            </p:custDataLst>
          </p:nvPr>
        </p:nvSpPr>
        <p:spPr>
          <a:xfrm>
            <a:off x="381000" y="5486400"/>
            <a:ext cx="2209800" cy="584200"/>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lgn="ctr">
              <a:defRPr/>
            </a:pPr>
            <a:r>
              <a:rPr lang="en-US" sz="1600" dirty="0"/>
              <a:t>Holds possible core</a:t>
            </a:r>
          </a:p>
          <a:p>
            <a:pPr algn="ctr">
              <a:defRPr/>
            </a:pPr>
            <a:r>
              <a:rPr lang="en-US" sz="1600" dirty="0"/>
              <a:t>configurations</a:t>
            </a:r>
          </a:p>
        </p:txBody>
      </p:sp>
      <p:cxnSp>
        <p:nvCxnSpPr>
          <p:cNvPr id="11" name="Straight Arrow Connector 10"/>
          <p:cNvCxnSpPr>
            <a:stCxn id="10" idx="3"/>
          </p:cNvCxnSpPr>
          <p:nvPr>
            <p:custDataLst>
              <p:tags r:id="rId7"/>
            </p:custDataLst>
          </p:nvPr>
        </p:nvCxnSpPr>
        <p:spPr>
          <a:xfrm>
            <a:off x="2590800" y="5778500"/>
            <a:ext cx="457200" cy="12700"/>
          </a:xfrm>
          <a:prstGeom prst="straightConnector1">
            <a:avLst/>
          </a:prstGeom>
          <a:ln w="254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5" idx="1"/>
          </p:cNvCxnSpPr>
          <p:nvPr>
            <p:custDataLst>
              <p:tags r:id="rId8"/>
            </p:custDataLst>
          </p:nvPr>
        </p:nvCxnSpPr>
        <p:spPr>
          <a:xfrm rot="10800000">
            <a:off x="4953000" y="5867400"/>
            <a:ext cx="1066800" cy="241300"/>
          </a:xfrm>
          <a:prstGeom prst="straightConnector1">
            <a:avLst/>
          </a:prstGeom>
          <a:ln w="254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5371" name="Picture 3"/>
          <p:cNvPicPr>
            <a:picLocks noChangeAspect="1" noChangeArrowheads="1"/>
          </p:cNvPicPr>
          <p:nvPr>
            <p:custDataLst>
              <p:tags r:id="rId9"/>
            </p:custDataLst>
          </p:nvPr>
        </p:nvPicPr>
        <p:blipFill>
          <a:blip r:embed="rId14"/>
          <a:srcRect/>
          <a:stretch>
            <a:fillRect/>
          </a:stretch>
        </p:blipFill>
        <p:spPr bwMode="auto">
          <a:xfrm>
            <a:off x="990600" y="1676400"/>
            <a:ext cx="1600200" cy="322263"/>
          </a:xfrm>
          <a:prstGeom prst="rect">
            <a:avLst/>
          </a:prstGeom>
          <a:noFill/>
          <a:ln w="9525">
            <a:noFill/>
            <a:miter lim="800000"/>
            <a:headEnd/>
            <a:tailEnd/>
          </a:ln>
        </p:spPr>
      </p:pic>
      <p:sp>
        <p:nvSpPr>
          <p:cNvPr id="15" name="TextBox 14"/>
          <p:cNvSpPr txBox="1"/>
          <p:nvPr>
            <p:custDataLst>
              <p:tags r:id="rId10"/>
            </p:custDataLst>
          </p:nvPr>
        </p:nvSpPr>
        <p:spPr>
          <a:xfrm>
            <a:off x="6019800" y="5816600"/>
            <a:ext cx="2667000" cy="58420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lgn="ctr">
              <a:defRPr/>
            </a:pPr>
            <a:r>
              <a:rPr lang="en-US" sz="1600" dirty="0"/>
              <a:t>Does bookkeeping and </a:t>
            </a:r>
          </a:p>
          <a:p>
            <a:pPr algn="ctr">
              <a:defRPr/>
            </a:pPr>
            <a:r>
              <a:rPr lang="en-US" sz="1600" dirty="0"/>
              <a:t>enforces configurations</a:t>
            </a: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Two Critical Issues</a:t>
            </a:r>
            <a:endParaRPr lang="en-US" dirty="0"/>
          </a:p>
        </p:txBody>
      </p:sp>
      <p:sp>
        <p:nvSpPr>
          <p:cNvPr id="3" name="Text Placeholder 2"/>
          <p:cNvSpPr>
            <a:spLocks noGrp="1"/>
          </p:cNvSpPr>
          <p:nvPr>
            <p:ph type="body" sz="half" idx="1"/>
            <p:custDataLst>
              <p:tags r:id="rId3"/>
            </p:custDataLst>
          </p:nvPr>
        </p:nvSpPr>
        <p:spPr>
          <a:xfrm>
            <a:off x="457200" y="1600200"/>
            <a:ext cx="8686800" cy="4530725"/>
          </a:xfrm>
        </p:spPr>
        <p:txBody>
          <a:bodyPr/>
          <a:lstStyle/>
          <a:p>
            <a:r>
              <a:rPr lang="en-US" dirty="0" smtClean="0"/>
              <a:t>Which configurations to make available?</a:t>
            </a:r>
          </a:p>
          <a:p>
            <a:pPr>
              <a:buNone/>
            </a:pPr>
            <a:r>
              <a:rPr lang="en-US" dirty="0" smtClean="0"/>
              <a:t>    (contents of </a:t>
            </a:r>
            <a:r>
              <a:rPr lang="en-US" dirty="0" err="1" smtClean="0"/>
              <a:t>Config</a:t>
            </a:r>
            <a:r>
              <a:rPr lang="en-US" dirty="0" smtClean="0"/>
              <a:t> ROM)</a:t>
            </a:r>
          </a:p>
          <a:p>
            <a:r>
              <a:rPr lang="en-US" dirty="0" smtClean="0"/>
              <a:t>How to transition among the available  configurations?</a:t>
            </a:r>
          </a:p>
          <a:p>
            <a:pPr>
              <a:buNone/>
            </a:pPr>
            <a:r>
              <a:rPr lang="en-US" dirty="0" smtClean="0"/>
              <a:t>	(Adaptation manager policies)</a:t>
            </a:r>
            <a:endParaRPr lang="en-US" dirty="0"/>
          </a:p>
        </p:txBody>
      </p:sp>
      <p:sp>
        <p:nvSpPr>
          <p:cNvPr id="5" name="Footer Placeholder 4"/>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custDataLst>
              <p:tags r:id="rId5"/>
            </p:custDataLst>
          </p:nvPr>
        </p:nvSpPr>
        <p:spPr/>
        <p:txBody>
          <a:bodyPr/>
          <a:lstStyle/>
          <a:p>
            <a:pPr>
              <a:defRPr/>
            </a:pPr>
            <a:fld id="{C439A655-FA36-44EF-95FA-7EB76AC68428}" type="slidenum">
              <a:rPr lang="en-US" altLang="en-US" smtClean="0"/>
              <a:pPr>
                <a:defRPr/>
              </a:pPr>
              <a:t>21</a:t>
            </a:fld>
            <a:endParaRPr lang="en-US" altLang="en-US"/>
          </a:p>
        </p:txBody>
      </p:sp>
    </p:spTree>
    <p:custDataLst>
      <p:tags r:id="rId1"/>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Two Critical Issues</a:t>
            </a:r>
            <a:endParaRPr lang="en-US" dirty="0"/>
          </a:p>
        </p:txBody>
      </p:sp>
      <p:sp>
        <p:nvSpPr>
          <p:cNvPr id="3" name="Text Placeholder 2"/>
          <p:cNvSpPr>
            <a:spLocks noGrp="1"/>
          </p:cNvSpPr>
          <p:nvPr>
            <p:ph type="body" sz="half" idx="1"/>
            <p:custDataLst>
              <p:tags r:id="rId3"/>
            </p:custDataLst>
          </p:nvPr>
        </p:nvSpPr>
        <p:spPr>
          <a:xfrm>
            <a:off x="457200" y="1600200"/>
            <a:ext cx="8686800" cy="4530725"/>
          </a:xfrm>
        </p:spPr>
        <p:txBody>
          <a:bodyPr/>
          <a:lstStyle/>
          <a:p>
            <a:r>
              <a:rPr lang="en-US" dirty="0" smtClean="0"/>
              <a:t>Which configurations to make available?</a:t>
            </a:r>
          </a:p>
          <a:p>
            <a:pPr>
              <a:buNone/>
            </a:pPr>
            <a:r>
              <a:rPr lang="en-US" dirty="0" smtClean="0"/>
              <a:t>    (contents of </a:t>
            </a:r>
            <a:r>
              <a:rPr lang="en-US" dirty="0" err="1" smtClean="0"/>
              <a:t>Config</a:t>
            </a:r>
            <a:r>
              <a:rPr lang="en-US" dirty="0" smtClean="0"/>
              <a:t> ROM)</a:t>
            </a:r>
          </a:p>
          <a:p>
            <a:r>
              <a:rPr lang="en-US" dirty="0" smtClean="0">
                <a:solidFill>
                  <a:schemeClr val="bg1">
                    <a:lumMod val="85000"/>
                  </a:schemeClr>
                </a:solidFill>
              </a:rPr>
              <a:t>How to transition among the available  configurations?</a:t>
            </a:r>
          </a:p>
          <a:p>
            <a:pPr>
              <a:buNone/>
            </a:pPr>
            <a:r>
              <a:rPr lang="en-US" dirty="0" smtClean="0">
                <a:solidFill>
                  <a:schemeClr val="bg1">
                    <a:lumMod val="85000"/>
                  </a:schemeClr>
                </a:solidFill>
              </a:rPr>
              <a:t>	(Adaptation manager policies)</a:t>
            </a:r>
            <a:endParaRPr lang="en-US" dirty="0">
              <a:solidFill>
                <a:schemeClr val="bg1">
                  <a:lumMod val="85000"/>
                </a:schemeClr>
              </a:solidFill>
            </a:endParaRPr>
          </a:p>
        </p:txBody>
      </p:sp>
      <p:sp>
        <p:nvSpPr>
          <p:cNvPr id="5" name="Footer Placeholder 4"/>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custDataLst>
              <p:tags r:id="rId5"/>
            </p:custDataLst>
          </p:nvPr>
        </p:nvSpPr>
        <p:spPr/>
        <p:txBody>
          <a:bodyPr/>
          <a:lstStyle/>
          <a:p>
            <a:pPr>
              <a:defRPr/>
            </a:pPr>
            <a:fld id="{C439A655-FA36-44EF-95FA-7EB76AC68428}" type="slidenum">
              <a:rPr lang="en-US" altLang="en-US" smtClean="0"/>
              <a:pPr>
                <a:defRPr/>
              </a:pPr>
              <a:t>22</a:t>
            </a:fld>
            <a:endParaRPr lang="en-US" altLang="en-US"/>
          </a:p>
        </p:txBody>
      </p:sp>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custDataLst>
              <p:tags r:id="rId2"/>
            </p:custDataLst>
          </p:nvPr>
        </p:nvPicPr>
        <p:blipFill>
          <a:blip r:embed="rId13"/>
          <a:srcRect/>
          <a:stretch>
            <a:fillRect/>
          </a:stretch>
        </p:blipFill>
        <p:spPr bwMode="auto">
          <a:xfrm>
            <a:off x="304800" y="3962400"/>
            <a:ext cx="1847850" cy="371475"/>
          </a:xfrm>
          <a:prstGeom prst="rect">
            <a:avLst/>
          </a:prstGeom>
          <a:noFill/>
          <a:ln w="9525">
            <a:noFill/>
            <a:miter lim="800000"/>
            <a:headEnd/>
            <a:tailEnd/>
          </a:ln>
          <a:effectLst/>
        </p:spPr>
      </p:pic>
      <p:pic>
        <p:nvPicPr>
          <p:cNvPr id="1032" name="Picture 8"/>
          <p:cNvPicPr>
            <a:picLocks noChangeAspect="1" noChangeArrowheads="1"/>
          </p:cNvPicPr>
          <p:nvPr>
            <p:custDataLst>
              <p:tags r:id="rId3"/>
            </p:custDataLst>
          </p:nvPr>
        </p:nvPicPr>
        <p:blipFill>
          <a:blip r:embed="rId14"/>
          <a:srcRect/>
          <a:stretch>
            <a:fillRect/>
          </a:stretch>
        </p:blipFill>
        <p:spPr bwMode="auto">
          <a:xfrm>
            <a:off x="1295400" y="3352800"/>
            <a:ext cx="3538538" cy="2762250"/>
          </a:xfrm>
          <a:prstGeom prst="rect">
            <a:avLst/>
          </a:prstGeom>
          <a:noFill/>
          <a:ln w="9525">
            <a:noFill/>
            <a:miter lim="800000"/>
            <a:headEnd/>
            <a:tailEnd/>
          </a:ln>
          <a:effectLst/>
        </p:spPr>
      </p:pic>
      <p:sp>
        <p:nvSpPr>
          <p:cNvPr id="16386" name="Title 1"/>
          <p:cNvSpPr>
            <a:spLocks noGrp="1"/>
          </p:cNvSpPr>
          <p:nvPr>
            <p:ph type="title"/>
            <p:custDataLst>
              <p:tags r:id="rId4"/>
            </p:custDataLst>
          </p:nvPr>
        </p:nvSpPr>
        <p:spPr>
          <a:xfrm>
            <a:off x="457200" y="277813"/>
            <a:ext cx="8534400" cy="1139825"/>
          </a:xfrm>
        </p:spPr>
        <p:txBody>
          <a:bodyPr/>
          <a:lstStyle/>
          <a:p>
            <a:r>
              <a:rPr lang="en-US" dirty="0" smtClean="0"/>
              <a:t>Finding Appropriate Configurations</a:t>
            </a:r>
          </a:p>
        </p:txBody>
      </p:sp>
      <p:sp>
        <p:nvSpPr>
          <p:cNvPr id="5" name="Footer Placeholder 4"/>
          <p:cNvSpPr>
            <a:spLocks noGrp="1"/>
          </p:cNvSpPr>
          <p:nvPr>
            <p:ph type="ftr" sz="quarter" idx="11"/>
            <p:custDataLst>
              <p:tags r:id="rId5"/>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6" name="Slide Number Placeholder 5"/>
          <p:cNvSpPr>
            <a:spLocks noGrp="1"/>
          </p:cNvSpPr>
          <p:nvPr>
            <p:ph type="sldNum" sz="quarter" idx="12"/>
            <p:custDataLst>
              <p:tags r:id="rId6"/>
            </p:custDataLst>
          </p:nvPr>
        </p:nvSpPr>
        <p:spPr/>
        <p:txBody>
          <a:bodyPr/>
          <a:lstStyle/>
          <a:p>
            <a:pPr>
              <a:defRPr/>
            </a:pPr>
            <a:fld id="{6FAA053E-92A2-48CF-8F15-8E303CB1BB5D}" type="slidenum">
              <a:rPr lang="en-US" altLang="en-US" smtClean="0"/>
              <a:pPr>
                <a:defRPr/>
              </a:pPr>
              <a:t>23</a:t>
            </a:fld>
            <a:endParaRPr lang="en-US" altLang="en-US" dirty="0"/>
          </a:p>
        </p:txBody>
      </p:sp>
      <p:graphicFrame>
        <p:nvGraphicFramePr>
          <p:cNvPr id="10" name="Table 9"/>
          <p:cNvGraphicFramePr>
            <a:graphicFrameLocks noGrp="1"/>
          </p:cNvGraphicFramePr>
          <p:nvPr>
            <p:custDataLst>
              <p:tags r:id="rId7"/>
            </p:custDataLst>
          </p:nvPr>
        </p:nvGraphicFramePr>
        <p:xfrm>
          <a:off x="304800" y="1219200"/>
          <a:ext cx="5257800" cy="2000250"/>
        </p:xfrm>
        <a:graphic>
          <a:graphicData uri="http://schemas.openxmlformats.org/drawingml/2006/table">
            <a:tbl>
              <a:tblPr firstRow="1" bandRow="1">
                <a:tableStyleId>{5A111915-BE36-4E01-A7E5-04B1672EAD32}</a:tableStyleId>
              </a:tblPr>
              <a:tblGrid>
                <a:gridCol w="353514"/>
                <a:gridCol w="377600"/>
                <a:gridCol w="452531"/>
                <a:gridCol w="460559"/>
                <a:gridCol w="551547"/>
                <a:gridCol w="436475"/>
                <a:gridCol w="552886"/>
                <a:gridCol w="560912"/>
                <a:gridCol w="659927"/>
                <a:gridCol w="851849"/>
              </a:tblGrid>
              <a:tr h="400050">
                <a:tc gridSpan="10">
                  <a:txBody>
                    <a:bodyPr/>
                    <a:lstStyle/>
                    <a:p>
                      <a:r>
                        <a:rPr lang="en-US" sz="1800" dirty="0" err="1" smtClean="0"/>
                        <a:t>Config</a:t>
                      </a:r>
                      <a:r>
                        <a:rPr lang="en-US" sz="1800" dirty="0" smtClean="0"/>
                        <a:t> ROM    -     70% of core</a:t>
                      </a:r>
                      <a:r>
                        <a:rPr lang="en-US" sz="1800" baseline="0" dirty="0" smtClean="0"/>
                        <a:t> peak power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r>
                        <a:rPr lang="en-US" sz="1200" dirty="0" err="1" smtClean="0"/>
                        <a:t>Iq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ldstu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smtClean="0"/>
                        <a:t>rob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dcache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4" name="Slide Number Placeholder 6"/>
          <p:cNvSpPr txBox="1">
            <a:spLocks/>
          </p:cNvSpPr>
          <p:nvPr>
            <p:custDataLst>
              <p:tags r:id="rId8"/>
            </p:custDataLst>
          </p:nvPr>
        </p:nvSpPr>
        <p:spPr bwMode="auto">
          <a:xfrm>
            <a:off x="6553200" y="63960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schemeClr val="tx1"/>
              </a:solidFill>
              <a:effectLst/>
              <a:uLnTx/>
              <a:uFillTx/>
              <a:latin typeface="+mj-lt"/>
              <a:ea typeface="+mn-ea"/>
              <a:cs typeface="+mn-cs"/>
            </a:endParaRPr>
          </a:p>
        </p:txBody>
      </p:sp>
      <p:pic>
        <p:nvPicPr>
          <p:cNvPr id="1029" name="Picture 5"/>
          <p:cNvPicPr>
            <a:picLocks noChangeAspect="1" noChangeArrowheads="1"/>
          </p:cNvPicPr>
          <p:nvPr>
            <p:custDataLst>
              <p:tags r:id="rId9"/>
            </p:custDataLst>
          </p:nvPr>
        </p:nvPicPr>
        <p:blipFill>
          <a:blip r:embed="rId15"/>
          <a:srcRect/>
          <a:stretch>
            <a:fillRect/>
          </a:stretch>
        </p:blipFill>
        <p:spPr bwMode="auto">
          <a:xfrm>
            <a:off x="304800" y="3505200"/>
            <a:ext cx="1847850" cy="371475"/>
          </a:xfrm>
          <a:prstGeom prst="rect">
            <a:avLst/>
          </a:prstGeom>
          <a:noFill/>
          <a:ln w="9525">
            <a:noFill/>
            <a:miter lim="800000"/>
            <a:headEnd/>
            <a:tailEnd/>
          </a:ln>
          <a:effectLst/>
        </p:spPr>
      </p:pic>
      <p:sp>
        <p:nvSpPr>
          <p:cNvPr id="39" name="Rounded Rectangle 38"/>
          <p:cNvSpPr/>
          <p:nvPr>
            <p:custDataLst>
              <p:tags r:id="rId10"/>
            </p:custDataLst>
          </p:nvPr>
        </p:nvSpPr>
        <p:spPr>
          <a:xfrm>
            <a:off x="304800" y="1981200"/>
            <a:ext cx="5257800" cy="304800"/>
          </a:xfrm>
          <a:prstGeom prst="roundRect">
            <a:avLst/>
          </a:prstGeom>
          <a:noFill/>
          <a:ln w="50800">
            <a:solidFill>
              <a:srgbClr val="CC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custDataLst>
              <p:tags r:id="rId2"/>
            </p:custDataLst>
          </p:nvPr>
        </p:nvPicPr>
        <p:blipFill>
          <a:blip r:embed="rId13"/>
          <a:srcRect/>
          <a:stretch>
            <a:fillRect/>
          </a:stretch>
        </p:blipFill>
        <p:spPr bwMode="auto">
          <a:xfrm>
            <a:off x="304800" y="3962400"/>
            <a:ext cx="1847850" cy="371475"/>
          </a:xfrm>
          <a:prstGeom prst="rect">
            <a:avLst/>
          </a:prstGeom>
          <a:noFill/>
          <a:ln w="9525">
            <a:noFill/>
            <a:miter lim="800000"/>
            <a:headEnd/>
            <a:tailEnd/>
          </a:ln>
          <a:effectLst/>
        </p:spPr>
      </p:pic>
      <p:pic>
        <p:nvPicPr>
          <p:cNvPr id="1032" name="Picture 8"/>
          <p:cNvPicPr>
            <a:picLocks noChangeAspect="1" noChangeArrowheads="1"/>
          </p:cNvPicPr>
          <p:nvPr>
            <p:custDataLst>
              <p:tags r:id="rId3"/>
            </p:custDataLst>
          </p:nvPr>
        </p:nvPicPr>
        <p:blipFill>
          <a:blip r:embed="rId14"/>
          <a:srcRect/>
          <a:stretch>
            <a:fillRect/>
          </a:stretch>
        </p:blipFill>
        <p:spPr bwMode="auto">
          <a:xfrm>
            <a:off x="1295400" y="3352800"/>
            <a:ext cx="3538538" cy="2762250"/>
          </a:xfrm>
          <a:prstGeom prst="rect">
            <a:avLst/>
          </a:prstGeom>
          <a:noFill/>
          <a:ln w="9525">
            <a:noFill/>
            <a:miter lim="800000"/>
            <a:headEnd/>
            <a:tailEnd/>
          </a:ln>
          <a:effectLst/>
        </p:spPr>
      </p:pic>
      <p:sp>
        <p:nvSpPr>
          <p:cNvPr id="16386" name="Title 1"/>
          <p:cNvSpPr>
            <a:spLocks noGrp="1"/>
          </p:cNvSpPr>
          <p:nvPr>
            <p:ph type="title"/>
            <p:custDataLst>
              <p:tags r:id="rId4"/>
            </p:custDataLst>
          </p:nvPr>
        </p:nvSpPr>
        <p:spPr>
          <a:xfrm>
            <a:off x="457200" y="277813"/>
            <a:ext cx="8534400" cy="1139825"/>
          </a:xfrm>
        </p:spPr>
        <p:txBody>
          <a:bodyPr/>
          <a:lstStyle/>
          <a:p>
            <a:r>
              <a:rPr lang="en-US" dirty="0" smtClean="0"/>
              <a:t>Finding Appropriate Configurations</a:t>
            </a:r>
          </a:p>
        </p:txBody>
      </p:sp>
      <p:sp>
        <p:nvSpPr>
          <p:cNvPr id="5" name="Footer Placeholder 4"/>
          <p:cNvSpPr>
            <a:spLocks noGrp="1"/>
          </p:cNvSpPr>
          <p:nvPr>
            <p:ph type="ftr" sz="quarter" idx="11"/>
            <p:custDataLst>
              <p:tags r:id="rId5"/>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6" name="Slide Number Placeholder 5"/>
          <p:cNvSpPr>
            <a:spLocks noGrp="1"/>
          </p:cNvSpPr>
          <p:nvPr>
            <p:ph type="sldNum" sz="quarter" idx="12"/>
            <p:custDataLst>
              <p:tags r:id="rId6"/>
            </p:custDataLst>
          </p:nvPr>
        </p:nvSpPr>
        <p:spPr/>
        <p:txBody>
          <a:bodyPr/>
          <a:lstStyle/>
          <a:p>
            <a:pPr>
              <a:defRPr/>
            </a:pPr>
            <a:fld id="{6FAA053E-92A2-48CF-8F15-8E303CB1BB5D}" type="slidenum">
              <a:rPr lang="en-US" altLang="en-US" smtClean="0"/>
              <a:pPr>
                <a:defRPr/>
              </a:pPr>
              <a:t>24</a:t>
            </a:fld>
            <a:endParaRPr lang="en-US" altLang="en-US" dirty="0"/>
          </a:p>
        </p:txBody>
      </p:sp>
      <p:graphicFrame>
        <p:nvGraphicFramePr>
          <p:cNvPr id="10" name="Table 9"/>
          <p:cNvGraphicFramePr>
            <a:graphicFrameLocks noGrp="1"/>
          </p:cNvGraphicFramePr>
          <p:nvPr>
            <p:custDataLst>
              <p:tags r:id="rId7"/>
            </p:custDataLst>
          </p:nvPr>
        </p:nvGraphicFramePr>
        <p:xfrm>
          <a:off x="304800" y="1219200"/>
          <a:ext cx="5257800" cy="2000250"/>
        </p:xfrm>
        <a:graphic>
          <a:graphicData uri="http://schemas.openxmlformats.org/drawingml/2006/table">
            <a:tbl>
              <a:tblPr firstRow="1" bandRow="1">
                <a:tableStyleId>{5A111915-BE36-4E01-A7E5-04B1672EAD32}</a:tableStyleId>
              </a:tblPr>
              <a:tblGrid>
                <a:gridCol w="353514"/>
                <a:gridCol w="377600"/>
                <a:gridCol w="452531"/>
                <a:gridCol w="460559"/>
                <a:gridCol w="551547"/>
                <a:gridCol w="436475"/>
                <a:gridCol w="552886"/>
                <a:gridCol w="560912"/>
                <a:gridCol w="659927"/>
                <a:gridCol w="851849"/>
              </a:tblGrid>
              <a:tr h="400050">
                <a:tc gridSpan="10">
                  <a:txBody>
                    <a:bodyPr/>
                    <a:lstStyle/>
                    <a:p>
                      <a:r>
                        <a:rPr lang="en-US" sz="1800" dirty="0" err="1" smtClean="0"/>
                        <a:t>Config</a:t>
                      </a:r>
                      <a:r>
                        <a:rPr lang="en-US" sz="1800" dirty="0" smtClean="0"/>
                        <a:t> ROM    -     70% of core</a:t>
                      </a:r>
                      <a:r>
                        <a:rPr lang="en-US" sz="1800" baseline="0" dirty="0" smtClean="0"/>
                        <a:t> peak power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r>
                        <a:rPr lang="en-US" sz="1200" dirty="0" err="1" smtClean="0"/>
                        <a:t>Iq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ldstu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smtClean="0"/>
                        <a:t>rob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dcache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29" name="Picture 5"/>
          <p:cNvPicPr>
            <a:picLocks noChangeAspect="1" noChangeArrowheads="1"/>
          </p:cNvPicPr>
          <p:nvPr>
            <p:custDataLst>
              <p:tags r:id="rId8"/>
            </p:custDataLst>
          </p:nvPr>
        </p:nvPicPr>
        <p:blipFill>
          <a:blip r:embed="rId15"/>
          <a:srcRect/>
          <a:stretch>
            <a:fillRect/>
          </a:stretch>
        </p:blipFill>
        <p:spPr bwMode="auto">
          <a:xfrm>
            <a:off x="304800" y="3505200"/>
            <a:ext cx="1847850" cy="371475"/>
          </a:xfrm>
          <a:prstGeom prst="rect">
            <a:avLst/>
          </a:prstGeom>
          <a:noFill/>
          <a:ln w="9525">
            <a:noFill/>
            <a:miter lim="800000"/>
            <a:headEnd/>
            <a:tailEnd/>
          </a:ln>
          <a:effectLst/>
        </p:spPr>
      </p:pic>
      <p:pic>
        <p:nvPicPr>
          <p:cNvPr id="29" name="Picture 7"/>
          <p:cNvPicPr>
            <a:picLocks noChangeAspect="1" noChangeArrowheads="1"/>
          </p:cNvPicPr>
          <p:nvPr>
            <p:custDataLst>
              <p:tags r:id="rId9"/>
            </p:custDataLst>
          </p:nvPr>
        </p:nvPicPr>
        <p:blipFill>
          <a:blip r:embed="rId16"/>
          <a:srcRect/>
          <a:stretch>
            <a:fillRect/>
          </a:stretch>
        </p:blipFill>
        <p:spPr bwMode="auto">
          <a:xfrm>
            <a:off x="5148262" y="3333750"/>
            <a:ext cx="3538538" cy="2762250"/>
          </a:xfrm>
          <a:prstGeom prst="rect">
            <a:avLst/>
          </a:prstGeom>
          <a:noFill/>
          <a:ln w="9525">
            <a:noFill/>
            <a:miter lim="800000"/>
            <a:headEnd/>
            <a:tailEnd/>
          </a:ln>
          <a:effectLst/>
        </p:spPr>
      </p:pic>
      <p:sp>
        <p:nvSpPr>
          <p:cNvPr id="39" name="Rounded Rectangle 38"/>
          <p:cNvSpPr/>
          <p:nvPr>
            <p:custDataLst>
              <p:tags r:id="rId10"/>
            </p:custDataLst>
          </p:nvPr>
        </p:nvSpPr>
        <p:spPr>
          <a:xfrm>
            <a:off x="304800" y="2362200"/>
            <a:ext cx="5257800" cy="381000"/>
          </a:xfrm>
          <a:prstGeom prst="roundRect">
            <a:avLst/>
          </a:prstGeom>
          <a:noFill/>
          <a:ln w="50800">
            <a:solidFill>
              <a:srgbClr val="CC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custDataLst>
              <p:tags r:id="rId2"/>
            </p:custDataLst>
          </p:nvPr>
        </p:nvPicPr>
        <p:blipFill>
          <a:blip r:embed="rId15"/>
          <a:srcRect/>
          <a:stretch>
            <a:fillRect/>
          </a:stretch>
        </p:blipFill>
        <p:spPr bwMode="auto">
          <a:xfrm>
            <a:off x="304800" y="3962400"/>
            <a:ext cx="1847850" cy="371475"/>
          </a:xfrm>
          <a:prstGeom prst="rect">
            <a:avLst/>
          </a:prstGeom>
          <a:noFill/>
          <a:ln w="9525">
            <a:noFill/>
            <a:miter lim="800000"/>
            <a:headEnd/>
            <a:tailEnd/>
          </a:ln>
          <a:effectLst/>
        </p:spPr>
      </p:pic>
      <p:pic>
        <p:nvPicPr>
          <p:cNvPr id="1032" name="Picture 8"/>
          <p:cNvPicPr>
            <a:picLocks noChangeAspect="1" noChangeArrowheads="1"/>
          </p:cNvPicPr>
          <p:nvPr>
            <p:custDataLst>
              <p:tags r:id="rId3"/>
            </p:custDataLst>
          </p:nvPr>
        </p:nvPicPr>
        <p:blipFill>
          <a:blip r:embed="rId16"/>
          <a:srcRect/>
          <a:stretch>
            <a:fillRect/>
          </a:stretch>
        </p:blipFill>
        <p:spPr bwMode="auto">
          <a:xfrm>
            <a:off x="1295400" y="3352800"/>
            <a:ext cx="3538538" cy="2762250"/>
          </a:xfrm>
          <a:prstGeom prst="rect">
            <a:avLst/>
          </a:prstGeom>
          <a:noFill/>
          <a:ln w="9525">
            <a:noFill/>
            <a:miter lim="800000"/>
            <a:headEnd/>
            <a:tailEnd/>
          </a:ln>
          <a:effectLst/>
        </p:spPr>
      </p:pic>
      <p:sp>
        <p:nvSpPr>
          <p:cNvPr id="16386" name="Title 1"/>
          <p:cNvSpPr>
            <a:spLocks noGrp="1"/>
          </p:cNvSpPr>
          <p:nvPr>
            <p:ph type="title"/>
            <p:custDataLst>
              <p:tags r:id="rId4"/>
            </p:custDataLst>
          </p:nvPr>
        </p:nvSpPr>
        <p:spPr>
          <a:xfrm>
            <a:off x="457200" y="277813"/>
            <a:ext cx="8686800" cy="1139825"/>
          </a:xfrm>
        </p:spPr>
        <p:txBody>
          <a:bodyPr/>
          <a:lstStyle/>
          <a:p>
            <a:r>
              <a:rPr lang="en-US" dirty="0" smtClean="0"/>
              <a:t>Finding Appropriate Configurations</a:t>
            </a:r>
          </a:p>
        </p:txBody>
      </p:sp>
      <p:sp>
        <p:nvSpPr>
          <p:cNvPr id="5" name="Footer Placeholder 4"/>
          <p:cNvSpPr>
            <a:spLocks noGrp="1"/>
          </p:cNvSpPr>
          <p:nvPr>
            <p:ph type="ftr" sz="quarter" idx="11"/>
            <p:custDataLst>
              <p:tags r:id="rId5"/>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6" name="Slide Number Placeholder 5"/>
          <p:cNvSpPr>
            <a:spLocks noGrp="1"/>
          </p:cNvSpPr>
          <p:nvPr>
            <p:ph type="sldNum" sz="quarter" idx="12"/>
            <p:custDataLst>
              <p:tags r:id="rId6"/>
            </p:custDataLst>
          </p:nvPr>
        </p:nvSpPr>
        <p:spPr/>
        <p:txBody>
          <a:bodyPr/>
          <a:lstStyle/>
          <a:p>
            <a:pPr>
              <a:defRPr/>
            </a:pPr>
            <a:fld id="{6FAA053E-92A2-48CF-8F15-8E303CB1BB5D}" type="slidenum">
              <a:rPr lang="en-US" altLang="en-US" smtClean="0"/>
              <a:pPr>
                <a:defRPr/>
              </a:pPr>
              <a:t>25</a:t>
            </a:fld>
            <a:endParaRPr lang="en-US" altLang="en-US" dirty="0"/>
          </a:p>
        </p:txBody>
      </p:sp>
      <p:graphicFrame>
        <p:nvGraphicFramePr>
          <p:cNvPr id="10" name="Table 9"/>
          <p:cNvGraphicFramePr>
            <a:graphicFrameLocks noGrp="1"/>
          </p:cNvGraphicFramePr>
          <p:nvPr>
            <p:custDataLst>
              <p:tags r:id="rId7"/>
            </p:custDataLst>
          </p:nvPr>
        </p:nvGraphicFramePr>
        <p:xfrm>
          <a:off x="304800" y="1219200"/>
          <a:ext cx="5257800" cy="2000250"/>
        </p:xfrm>
        <a:graphic>
          <a:graphicData uri="http://schemas.openxmlformats.org/drawingml/2006/table">
            <a:tbl>
              <a:tblPr firstRow="1" bandRow="1">
                <a:tableStyleId>{5A111915-BE36-4E01-A7E5-04B1672EAD32}</a:tableStyleId>
              </a:tblPr>
              <a:tblGrid>
                <a:gridCol w="353514"/>
                <a:gridCol w="377600"/>
                <a:gridCol w="452531"/>
                <a:gridCol w="460559"/>
                <a:gridCol w="551547"/>
                <a:gridCol w="436475"/>
                <a:gridCol w="552886"/>
                <a:gridCol w="560912"/>
                <a:gridCol w="659927"/>
                <a:gridCol w="851849"/>
              </a:tblGrid>
              <a:tr h="400050">
                <a:tc gridSpan="10">
                  <a:txBody>
                    <a:bodyPr/>
                    <a:lstStyle/>
                    <a:p>
                      <a:r>
                        <a:rPr lang="en-US" sz="1800" dirty="0" err="1" smtClean="0"/>
                        <a:t>Config</a:t>
                      </a:r>
                      <a:r>
                        <a:rPr lang="en-US" sz="1800" dirty="0" smtClean="0"/>
                        <a:t> ROM    -     70% of core</a:t>
                      </a:r>
                      <a:r>
                        <a:rPr lang="en-US" sz="1800" baseline="0" dirty="0" smtClean="0"/>
                        <a:t> peak power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r>
                        <a:rPr lang="en-US" sz="1200" dirty="0" err="1" smtClean="0"/>
                        <a:t>Iq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ldstu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smtClean="0"/>
                        <a:t>rob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dcache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29" name="Picture 5"/>
          <p:cNvPicPr>
            <a:picLocks noChangeAspect="1" noChangeArrowheads="1"/>
          </p:cNvPicPr>
          <p:nvPr>
            <p:custDataLst>
              <p:tags r:id="rId8"/>
            </p:custDataLst>
          </p:nvPr>
        </p:nvPicPr>
        <p:blipFill>
          <a:blip r:embed="rId17"/>
          <a:srcRect/>
          <a:stretch>
            <a:fillRect/>
          </a:stretch>
        </p:blipFill>
        <p:spPr bwMode="auto">
          <a:xfrm>
            <a:off x="304800" y="3505200"/>
            <a:ext cx="1847850" cy="371475"/>
          </a:xfrm>
          <a:prstGeom prst="rect">
            <a:avLst/>
          </a:prstGeom>
          <a:noFill/>
          <a:ln w="9525">
            <a:noFill/>
            <a:miter lim="800000"/>
            <a:headEnd/>
            <a:tailEnd/>
          </a:ln>
          <a:effectLst/>
        </p:spPr>
      </p:pic>
      <p:sp>
        <p:nvSpPr>
          <p:cNvPr id="27" name="Text Placeholder 2"/>
          <p:cNvSpPr>
            <a:spLocks noGrp="1"/>
          </p:cNvSpPr>
          <p:nvPr>
            <p:ph type="body" sz="half" idx="1"/>
            <p:custDataLst>
              <p:tags r:id="rId9"/>
            </p:custDataLst>
          </p:nvPr>
        </p:nvSpPr>
        <p:spPr>
          <a:xfrm>
            <a:off x="5715000" y="1066800"/>
            <a:ext cx="3276600" cy="2286000"/>
          </a:xfrm>
        </p:spPr>
        <p:txBody>
          <a:bodyPr/>
          <a:lstStyle/>
          <a:p>
            <a:r>
              <a:rPr lang="en-US" sz="2000" dirty="0" smtClean="0"/>
              <a:t>Consider all possible configurations</a:t>
            </a:r>
          </a:p>
        </p:txBody>
      </p:sp>
      <p:pic>
        <p:nvPicPr>
          <p:cNvPr id="29" name="Picture 7"/>
          <p:cNvPicPr>
            <a:picLocks noChangeAspect="1" noChangeArrowheads="1"/>
          </p:cNvPicPr>
          <p:nvPr>
            <p:custDataLst>
              <p:tags r:id="rId10"/>
            </p:custDataLst>
          </p:nvPr>
        </p:nvPicPr>
        <p:blipFill>
          <a:blip r:embed="rId18"/>
          <a:srcRect/>
          <a:stretch>
            <a:fillRect/>
          </a:stretch>
        </p:blipFill>
        <p:spPr bwMode="auto">
          <a:xfrm>
            <a:off x="5148262" y="3333750"/>
            <a:ext cx="3538538" cy="2762250"/>
          </a:xfrm>
          <a:prstGeom prst="rect">
            <a:avLst/>
          </a:prstGeom>
          <a:noFill/>
          <a:ln w="9525">
            <a:noFill/>
            <a:miter lim="800000"/>
            <a:headEnd/>
            <a:tailEnd/>
          </a:ln>
          <a:effectLst/>
        </p:spPr>
      </p:pic>
      <p:sp>
        <p:nvSpPr>
          <p:cNvPr id="15" name="TextBox 14"/>
          <p:cNvSpPr txBox="1"/>
          <p:nvPr>
            <p:custDataLst>
              <p:tags r:id="rId11"/>
            </p:custDataLst>
          </p:nvPr>
        </p:nvSpPr>
        <p:spPr>
          <a:xfrm>
            <a:off x="990600" y="5715000"/>
            <a:ext cx="914400" cy="400110"/>
          </a:xfrm>
          <a:prstGeom prst="rect">
            <a:avLst/>
          </a:prstGeom>
          <a:noFill/>
        </p:spPr>
        <p:txBody>
          <a:bodyPr wrap="square" rtlCol="0">
            <a:spAutoFit/>
          </a:bodyPr>
          <a:lstStyle/>
          <a:p>
            <a:r>
              <a:rPr lang="en-US" sz="2000" dirty="0" smtClean="0">
                <a:solidFill>
                  <a:schemeClr val="accent6">
                    <a:lumMod val="50000"/>
                  </a:schemeClr>
                </a:solidFill>
              </a:rPr>
              <a:t>69%</a:t>
            </a:r>
            <a:endParaRPr lang="en-US" sz="2000" dirty="0">
              <a:solidFill>
                <a:schemeClr val="accent6">
                  <a:lumMod val="50000"/>
                </a:schemeClr>
              </a:solidFill>
            </a:endParaRPr>
          </a:p>
        </p:txBody>
      </p:sp>
      <p:sp>
        <p:nvSpPr>
          <p:cNvPr id="16" name="TextBox 15"/>
          <p:cNvSpPr txBox="1"/>
          <p:nvPr>
            <p:custDataLst>
              <p:tags r:id="rId12"/>
            </p:custDataLst>
          </p:nvPr>
        </p:nvSpPr>
        <p:spPr>
          <a:xfrm>
            <a:off x="5029200" y="5715000"/>
            <a:ext cx="914400" cy="400110"/>
          </a:xfrm>
          <a:prstGeom prst="rect">
            <a:avLst/>
          </a:prstGeom>
          <a:noFill/>
        </p:spPr>
        <p:txBody>
          <a:bodyPr wrap="square" rtlCol="0">
            <a:spAutoFit/>
          </a:bodyPr>
          <a:lstStyle/>
          <a:p>
            <a:r>
              <a:rPr lang="en-US" sz="2000" dirty="0" smtClean="0">
                <a:solidFill>
                  <a:schemeClr val="accent6">
                    <a:lumMod val="50000"/>
                  </a:schemeClr>
                </a:solidFill>
              </a:rPr>
              <a:t>71%</a:t>
            </a:r>
            <a:endParaRPr lang="en-US" sz="2000" dirty="0">
              <a:solidFill>
                <a:schemeClr val="accent6">
                  <a:lumMod val="50000"/>
                </a:schemeClr>
              </a:solidFill>
            </a:endParaRPr>
          </a:p>
        </p:txBody>
      </p:sp>
    </p:spTree>
    <p:custDataLst>
      <p:tags r:id="rId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custDataLst>
              <p:tags r:id="rId2"/>
            </p:custDataLst>
          </p:nvPr>
        </p:nvPicPr>
        <p:blipFill>
          <a:blip r:embed="rId23"/>
          <a:srcRect/>
          <a:stretch>
            <a:fillRect/>
          </a:stretch>
        </p:blipFill>
        <p:spPr bwMode="auto">
          <a:xfrm>
            <a:off x="304800" y="3962400"/>
            <a:ext cx="1847850" cy="371475"/>
          </a:xfrm>
          <a:prstGeom prst="rect">
            <a:avLst/>
          </a:prstGeom>
          <a:noFill/>
          <a:ln w="9525">
            <a:noFill/>
            <a:miter lim="800000"/>
            <a:headEnd/>
            <a:tailEnd/>
          </a:ln>
          <a:effectLst/>
        </p:spPr>
      </p:pic>
      <p:pic>
        <p:nvPicPr>
          <p:cNvPr id="1032" name="Picture 8"/>
          <p:cNvPicPr>
            <a:picLocks noChangeAspect="1" noChangeArrowheads="1"/>
          </p:cNvPicPr>
          <p:nvPr>
            <p:custDataLst>
              <p:tags r:id="rId3"/>
            </p:custDataLst>
          </p:nvPr>
        </p:nvPicPr>
        <p:blipFill>
          <a:blip r:embed="rId24"/>
          <a:srcRect/>
          <a:stretch>
            <a:fillRect/>
          </a:stretch>
        </p:blipFill>
        <p:spPr bwMode="auto">
          <a:xfrm>
            <a:off x="1295400" y="3352800"/>
            <a:ext cx="3538538" cy="2762250"/>
          </a:xfrm>
          <a:prstGeom prst="rect">
            <a:avLst/>
          </a:prstGeom>
          <a:noFill/>
          <a:ln w="9525">
            <a:noFill/>
            <a:miter lim="800000"/>
            <a:headEnd/>
            <a:tailEnd/>
          </a:ln>
          <a:effectLst/>
        </p:spPr>
      </p:pic>
      <p:sp>
        <p:nvSpPr>
          <p:cNvPr id="5" name="Footer Placeholder 4"/>
          <p:cNvSpPr>
            <a:spLocks noGrp="1"/>
          </p:cNvSpPr>
          <p:nvPr>
            <p:ph type="ftr" sz="quarter" idx="11"/>
            <p:custDataLst>
              <p:tags r:id="rId4"/>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6" name="Slide Number Placeholder 5"/>
          <p:cNvSpPr>
            <a:spLocks noGrp="1"/>
          </p:cNvSpPr>
          <p:nvPr>
            <p:ph type="sldNum" sz="quarter" idx="12"/>
            <p:custDataLst>
              <p:tags r:id="rId5"/>
            </p:custDataLst>
          </p:nvPr>
        </p:nvSpPr>
        <p:spPr/>
        <p:txBody>
          <a:bodyPr/>
          <a:lstStyle/>
          <a:p>
            <a:pPr>
              <a:defRPr/>
            </a:pPr>
            <a:fld id="{6FAA053E-92A2-48CF-8F15-8E303CB1BB5D}" type="slidenum">
              <a:rPr lang="en-US" altLang="en-US" smtClean="0"/>
              <a:pPr>
                <a:defRPr/>
              </a:pPr>
              <a:t>26</a:t>
            </a:fld>
            <a:endParaRPr lang="en-US" altLang="en-US" dirty="0"/>
          </a:p>
        </p:txBody>
      </p:sp>
      <p:graphicFrame>
        <p:nvGraphicFramePr>
          <p:cNvPr id="10" name="Table 9"/>
          <p:cNvGraphicFramePr>
            <a:graphicFrameLocks noGrp="1"/>
          </p:cNvGraphicFramePr>
          <p:nvPr>
            <p:custDataLst>
              <p:tags r:id="rId6"/>
            </p:custDataLst>
          </p:nvPr>
        </p:nvGraphicFramePr>
        <p:xfrm>
          <a:off x="304800" y="1219200"/>
          <a:ext cx="5257800" cy="2000250"/>
        </p:xfrm>
        <a:graphic>
          <a:graphicData uri="http://schemas.openxmlformats.org/drawingml/2006/table">
            <a:tbl>
              <a:tblPr firstRow="1" bandRow="1">
                <a:tableStyleId>{5A111915-BE36-4E01-A7E5-04B1672EAD32}</a:tableStyleId>
              </a:tblPr>
              <a:tblGrid>
                <a:gridCol w="353514"/>
                <a:gridCol w="377600"/>
                <a:gridCol w="452531"/>
                <a:gridCol w="460559"/>
                <a:gridCol w="551547"/>
                <a:gridCol w="436475"/>
                <a:gridCol w="552886"/>
                <a:gridCol w="560912"/>
                <a:gridCol w="659927"/>
                <a:gridCol w="851849"/>
              </a:tblGrid>
              <a:tr h="400050">
                <a:tc gridSpan="10">
                  <a:txBody>
                    <a:bodyPr/>
                    <a:lstStyle/>
                    <a:p>
                      <a:r>
                        <a:rPr lang="en-US" sz="1800" dirty="0" err="1" smtClean="0"/>
                        <a:t>Config</a:t>
                      </a:r>
                      <a:r>
                        <a:rPr lang="en-US" sz="1800" dirty="0" smtClean="0"/>
                        <a:t> ROM    -     70% of core</a:t>
                      </a:r>
                      <a:r>
                        <a:rPr lang="en-US" sz="1800" baseline="0" dirty="0" smtClean="0"/>
                        <a:t> peak power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r>
                        <a:rPr lang="en-US" sz="1200" dirty="0" err="1" smtClean="0"/>
                        <a:t>Iq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ldstu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smtClean="0"/>
                        <a:t>rob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dcache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29" name="Picture 5"/>
          <p:cNvPicPr>
            <a:picLocks noChangeAspect="1" noChangeArrowheads="1"/>
          </p:cNvPicPr>
          <p:nvPr>
            <p:custDataLst>
              <p:tags r:id="rId7"/>
            </p:custDataLst>
          </p:nvPr>
        </p:nvPicPr>
        <p:blipFill>
          <a:blip r:embed="rId25"/>
          <a:srcRect/>
          <a:stretch>
            <a:fillRect/>
          </a:stretch>
        </p:blipFill>
        <p:spPr bwMode="auto">
          <a:xfrm>
            <a:off x="304800" y="3505200"/>
            <a:ext cx="1847850" cy="371475"/>
          </a:xfrm>
          <a:prstGeom prst="rect">
            <a:avLst/>
          </a:prstGeom>
          <a:noFill/>
          <a:ln w="9525">
            <a:noFill/>
            <a:miter lim="800000"/>
            <a:headEnd/>
            <a:tailEnd/>
          </a:ln>
          <a:effectLst/>
        </p:spPr>
      </p:pic>
      <p:sp>
        <p:nvSpPr>
          <p:cNvPr id="27" name="Text Placeholder 2"/>
          <p:cNvSpPr>
            <a:spLocks noGrp="1"/>
          </p:cNvSpPr>
          <p:nvPr>
            <p:ph type="body" sz="half" idx="1"/>
            <p:custDataLst>
              <p:tags r:id="rId8"/>
            </p:custDataLst>
          </p:nvPr>
        </p:nvSpPr>
        <p:spPr>
          <a:xfrm>
            <a:off x="5715000" y="1066800"/>
            <a:ext cx="3276600" cy="2286000"/>
          </a:xfrm>
        </p:spPr>
        <p:txBody>
          <a:bodyPr/>
          <a:lstStyle/>
          <a:p>
            <a:r>
              <a:rPr lang="en-US" sz="2000" dirty="0" smtClean="0"/>
              <a:t>Consider all possible configurations</a:t>
            </a:r>
          </a:p>
          <a:p>
            <a:r>
              <a:rPr lang="en-US" sz="2000" dirty="0" smtClean="0"/>
              <a:t>Remove </a:t>
            </a:r>
            <a:r>
              <a:rPr lang="en-US" sz="2000" dirty="0" err="1" smtClean="0"/>
              <a:t>configs</a:t>
            </a:r>
            <a:r>
              <a:rPr lang="en-US" sz="2000" dirty="0" smtClean="0"/>
              <a:t> exceeding targeted peak power threshold</a:t>
            </a:r>
          </a:p>
          <a:p>
            <a:pPr>
              <a:buFont typeface="Wingdings" pitchFamily="2" charset="2"/>
              <a:buNone/>
            </a:pPr>
            <a:r>
              <a:rPr lang="en-US" sz="2000" dirty="0" smtClean="0"/>
              <a:t>	</a:t>
            </a:r>
          </a:p>
        </p:txBody>
      </p:sp>
      <p:pic>
        <p:nvPicPr>
          <p:cNvPr id="29" name="Picture 7"/>
          <p:cNvPicPr>
            <a:picLocks noChangeAspect="1" noChangeArrowheads="1"/>
          </p:cNvPicPr>
          <p:nvPr>
            <p:custDataLst>
              <p:tags r:id="rId9"/>
            </p:custDataLst>
          </p:nvPr>
        </p:nvPicPr>
        <p:blipFill>
          <a:blip r:embed="rId26"/>
          <a:srcRect/>
          <a:stretch>
            <a:fillRect/>
          </a:stretch>
        </p:blipFill>
        <p:spPr bwMode="auto">
          <a:xfrm>
            <a:off x="5148262" y="3333750"/>
            <a:ext cx="3538538" cy="2762250"/>
          </a:xfrm>
          <a:prstGeom prst="rect">
            <a:avLst/>
          </a:prstGeom>
          <a:noFill/>
          <a:ln w="9525">
            <a:noFill/>
            <a:miter lim="800000"/>
            <a:headEnd/>
            <a:tailEnd/>
          </a:ln>
          <a:effectLst/>
        </p:spPr>
      </p:pic>
      <p:sp>
        <p:nvSpPr>
          <p:cNvPr id="15" name="TextBox 14"/>
          <p:cNvSpPr txBox="1"/>
          <p:nvPr>
            <p:custDataLst>
              <p:tags r:id="rId10"/>
            </p:custDataLst>
          </p:nvPr>
        </p:nvSpPr>
        <p:spPr>
          <a:xfrm>
            <a:off x="990600" y="5715000"/>
            <a:ext cx="914400" cy="400110"/>
          </a:xfrm>
          <a:prstGeom prst="rect">
            <a:avLst/>
          </a:prstGeom>
          <a:noFill/>
        </p:spPr>
        <p:txBody>
          <a:bodyPr wrap="square" rtlCol="0">
            <a:spAutoFit/>
          </a:bodyPr>
          <a:lstStyle/>
          <a:p>
            <a:r>
              <a:rPr lang="en-US" sz="2000" dirty="0" smtClean="0">
                <a:solidFill>
                  <a:schemeClr val="accent6">
                    <a:lumMod val="50000"/>
                  </a:schemeClr>
                </a:solidFill>
              </a:rPr>
              <a:t>69%</a:t>
            </a:r>
            <a:endParaRPr lang="en-US" sz="2000" dirty="0">
              <a:solidFill>
                <a:schemeClr val="accent6">
                  <a:lumMod val="50000"/>
                </a:schemeClr>
              </a:solidFill>
            </a:endParaRPr>
          </a:p>
        </p:txBody>
      </p:sp>
      <p:sp>
        <p:nvSpPr>
          <p:cNvPr id="16" name="TextBox 15"/>
          <p:cNvSpPr txBox="1"/>
          <p:nvPr>
            <p:custDataLst>
              <p:tags r:id="rId11"/>
            </p:custDataLst>
          </p:nvPr>
        </p:nvSpPr>
        <p:spPr>
          <a:xfrm>
            <a:off x="5029200" y="5715000"/>
            <a:ext cx="914400" cy="400110"/>
          </a:xfrm>
          <a:prstGeom prst="rect">
            <a:avLst/>
          </a:prstGeom>
          <a:noFill/>
        </p:spPr>
        <p:txBody>
          <a:bodyPr wrap="square" rtlCol="0">
            <a:spAutoFit/>
          </a:bodyPr>
          <a:lstStyle/>
          <a:p>
            <a:r>
              <a:rPr lang="en-US" sz="2000" dirty="0" smtClean="0">
                <a:solidFill>
                  <a:schemeClr val="accent6">
                    <a:lumMod val="50000"/>
                  </a:schemeClr>
                </a:solidFill>
              </a:rPr>
              <a:t>71%</a:t>
            </a:r>
            <a:endParaRPr lang="en-US" sz="2000" dirty="0">
              <a:solidFill>
                <a:schemeClr val="accent6">
                  <a:lumMod val="50000"/>
                </a:schemeClr>
              </a:solidFill>
            </a:endParaRPr>
          </a:p>
        </p:txBody>
      </p:sp>
      <p:cxnSp>
        <p:nvCxnSpPr>
          <p:cNvPr id="20" name="Straight Connector 19"/>
          <p:cNvCxnSpPr/>
          <p:nvPr>
            <p:custDataLst>
              <p:tags r:id="rId12"/>
            </p:custDataLst>
          </p:nvPr>
        </p:nvCxnSpPr>
        <p:spPr>
          <a:xfrm rot="5400000">
            <a:off x="5714999" y="3200401"/>
            <a:ext cx="2590800" cy="2286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custDataLst>
              <p:tags r:id="rId13"/>
            </p:custDataLst>
          </p:nvPr>
        </p:nvCxnSpPr>
        <p:spPr>
          <a:xfrm>
            <a:off x="457200" y="2438400"/>
            <a:ext cx="4800600" cy="381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custDataLst>
              <p:tags r:id="rId14"/>
            </p:custDataLst>
          </p:nvPr>
        </p:nvCxnSpPr>
        <p:spPr>
          <a:xfrm rot="10800000" flipV="1">
            <a:off x="457200" y="2438400"/>
            <a:ext cx="4800600" cy="381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custDataLst>
              <p:tags r:id="rId15"/>
            </p:custDataLst>
          </p:nvPr>
        </p:nvCxnSpPr>
        <p:spPr>
          <a:xfrm rot="16200000" flipH="1">
            <a:off x="457200" y="5410200"/>
            <a:ext cx="457200" cy="1524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custDataLst>
              <p:tags r:id="rId16"/>
            </p:custDataLst>
          </p:nvPr>
        </p:nvCxnSpPr>
        <p:spPr>
          <a:xfrm rot="5400000">
            <a:off x="381000" y="4876800"/>
            <a:ext cx="1219200" cy="4572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custDataLst>
              <p:tags r:id="rId17"/>
            </p:custDataLst>
          </p:nvPr>
        </p:nvCxnSpPr>
        <p:spPr>
          <a:xfrm rot="16200000" flipH="1">
            <a:off x="38101" y="2247900"/>
            <a:ext cx="152400" cy="762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custDataLst>
              <p:tags r:id="rId18"/>
            </p:custDataLst>
          </p:nvPr>
        </p:nvCxnSpPr>
        <p:spPr>
          <a:xfrm rot="5400000">
            <a:off x="1" y="2133600"/>
            <a:ext cx="381000" cy="762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custDataLst>
              <p:tags r:id="rId19"/>
            </p:custDataLst>
          </p:nvPr>
        </p:nvCxnSpPr>
        <p:spPr>
          <a:xfrm rot="16200000" flipH="1">
            <a:off x="5791200" y="3200401"/>
            <a:ext cx="2590800" cy="2286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itle 1"/>
          <p:cNvSpPr>
            <a:spLocks noGrp="1"/>
          </p:cNvSpPr>
          <p:nvPr>
            <p:ph type="title"/>
            <p:custDataLst>
              <p:tags r:id="rId20"/>
            </p:custDataLst>
          </p:nvPr>
        </p:nvSpPr>
        <p:spPr>
          <a:xfrm>
            <a:off x="457200" y="277813"/>
            <a:ext cx="8534400" cy="1139825"/>
          </a:xfrm>
        </p:spPr>
        <p:txBody>
          <a:bodyPr/>
          <a:lstStyle/>
          <a:p>
            <a:r>
              <a:rPr lang="en-US" dirty="0" smtClean="0"/>
              <a:t>Finding Appropriate Configurations</a:t>
            </a:r>
          </a:p>
        </p:txBody>
      </p:sp>
    </p:spTree>
    <p:custDataLst>
      <p:tags r:id="rId1"/>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custDataLst>
              <p:tags r:id="rId2"/>
            </p:custDataLst>
          </p:nvPr>
        </p:nvPicPr>
        <p:blipFill>
          <a:blip r:embed="rId18"/>
          <a:srcRect/>
          <a:stretch>
            <a:fillRect/>
          </a:stretch>
        </p:blipFill>
        <p:spPr bwMode="auto">
          <a:xfrm>
            <a:off x="304800" y="3962400"/>
            <a:ext cx="1847850" cy="371475"/>
          </a:xfrm>
          <a:prstGeom prst="rect">
            <a:avLst/>
          </a:prstGeom>
          <a:noFill/>
          <a:ln w="9525">
            <a:noFill/>
            <a:miter lim="800000"/>
            <a:headEnd/>
            <a:tailEnd/>
          </a:ln>
          <a:effectLst/>
        </p:spPr>
      </p:pic>
      <p:pic>
        <p:nvPicPr>
          <p:cNvPr id="2050" name="Picture 2"/>
          <p:cNvPicPr>
            <a:picLocks noChangeAspect="1" noChangeArrowheads="1"/>
          </p:cNvPicPr>
          <p:nvPr>
            <p:custDataLst>
              <p:tags r:id="rId3"/>
            </p:custDataLst>
          </p:nvPr>
        </p:nvPicPr>
        <p:blipFill>
          <a:blip r:embed="rId19"/>
          <a:srcRect/>
          <a:stretch>
            <a:fillRect/>
          </a:stretch>
        </p:blipFill>
        <p:spPr bwMode="auto">
          <a:xfrm>
            <a:off x="5126510" y="3352800"/>
            <a:ext cx="3560290" cy="2769647"/>
          </a:xfrm>
          <a:prstGeom prst="rect">
            <a:avLst/>
          </a:prstGeom>
          <a:noFill/>
          <a:ln w="9525">
            <a:noFill/>
            <a:miter lim="800000"/>
            <a:headEnd/>
            <a:tailEnd/>
          </a:ln>
          <a:effectLst/>
        </p:spPr>
      </p:pic>
      <p:pic>
        <p:nvPicPr>
          <p:cNvPr id="1032" name="Picture 8"/>
          <p:cNvPicPr>
            <a:picLocks noChangeAspect="1" noChangeArrowheads="1"/>
          </p:cNvPicPr>
          <p:nvPr>
            <p:custDataLst>
              <p:tags r:id="rId4"/>
            </p:custDataLst>
          </p:nvPr>
        </p:nvPicPr>
        <p:blipFill>
          <a:blip r:embed="rId20"/>
          <a:srcRect/>
          <a:stretch>
            <a:fillRect/>
          </a:stretch>
        </p:blipFill>
        <p:spPr bwMode="auto">
          <a:xfrm>
            <a:off x="1295400" y="3352800"/>
            <a:ext cx="3538538" cy="2762250"/>
          </a:xfrm>
          <a:prstGeom prst="rect">
            <a:avLst/>
          </a:prstGeom>
          <a:noFill/>
          <a:ln w="9525">
            <a:noFill/>
            <a:miter lim="800000"/>
            <a:headEnd/>
            <a:tailEnd/>
          </a:ln>
          <a:effectLst/>
        </p:spPr>
      </p:pic>
      <p:sp>
        <p:nvSpPr>
          <p:cNvPr id="16386" name="Title 1"/>
          <p:cNvSpPr>
            <a:spLocks noGrp="1"/>
          </p:cNvSpPr>
          <p:nvPr>
            <p:ph type="title"/>
            <p:custDataLst>
              <p:tags r:id="rId5"/>
            </p:custDataLst>
          </p:nvPr>
        </p:nvSpPr>
        <p:spPr>
          <a:xfrm>
            <a:off x="457200" y="277813"/>
            <a:ext cx="8686800" cy="1139825"/>
          </a:xfrm>
        </p:spPr>
        <p:txBody>
          <a:bodyPr/>
          <a:lstStyle/>
          <a:p>
            <a:r>
              <a:rPr lang="en-US" dirty="0" smtClean="0"/>
              <a:t>Finding Appropriate Configurations</a:t>
            </a:r>
          </a:p>
        </p:txBody>
      </p:sp>
      <p:sp>
        <p:nvSpPr>
          <p:cNvPr id="5" name="Footer Placeholder 4"/>
          <p:cNvSpPr>
            <a:spLocks noGrp="1"/>
          </p:cNvSpPr>
          <p:nvPr>
            <p:ph type="ftr" sz="quarter" idx="11"/>
            <p:custDataLst>
              <p:tags r:id="rId6"/>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6" name="Slide Number Placeholder 5"/>
          <p:cNvSpPr>
            <a:spLocks noGrp="1"/>
          </p:cNvSpPr>
          <p:nvPr>
            <p:ph type="sldNum" sz="quarter" idx="12"/>
            <p:custDataLst>
              <p:tags r:id="rId7"/>
            </p:custDataLst>
          </p:nvPr>
        </p:nvSpPr>
        <p:spPr/>
        <p:txBody>
          <a:bodyPr/>
          <a:lstStyle/>
          <a:p>
            <a:pPr>
              <a:defRPr/>
            </a:pPr>
            <a:fld id="{6FAA053E-92A2-48CF-8F15-8E303CB1BB5D}" type="slidenum">
              <a:rPr lang="en-US" altLang="en-US" smtClean="0"/>
              <a:pPr>
                <a:defRPr/>
              </a:pPr>
              <a:t>27</a:t>
            </a:fld>
            <a:endParaRPr lang="en-US" altLang="en-US" dirty="0"/>
          </a:p>
        </p:txBody>
      </p:sp>
      <p:graphicFrame>
        <p:nvGraphicFramePr>
          <p:cNvPr id="10" name="Table 9"/>
          <p:cNvGraphicFramePr>
            <a:graphicFrameLocks noGrp="1"/>
          </p:cNvGraphicFramePr>
          <p:nvPr>
            <p:custDataLst>
              <p:tags r:id="rId8"/>
            </p:custDataLst>
          </p:nvPr>
        </p:nvGraphicFramePr>
        <p:xfrm>
          <a:off x="304800" y="1219200"/>
          <a:ext cx="5257800" cy="2000250"/>
        </p:xfrm>
        <a:graphic>
          <a:graphicData uri="http://schemas.openxmlformats.org/drawingml/2006/table">
            <a:tbl>
              <a:tblPr firstRow="1" bandRow="1">
                <a:tableStyleId>{5A111915-BE36-4E01-A7E5-04B1672EAD32}</a:tableStyleId>
              </a:tblPr>
              <a:tblGrid>
                <a:gridCol w="353514"/>
                <a:gridCol w="377600"/>
                <a:gridCol w="452531"/>
                <a:gridCol w="460559"/>
                <a:gridCol w="551547"/>
                <a:gridCol w="436475"/>
                <a:gridCol w="552886"/>
                <a:gridCol w="560912"/>
                <a:gridCol w="659927"/>
                <a:gridCol w="851849"/>
              </a:tblGrid>
              <a:tr h="400050">
                <a:tc gridSpan="10">
                  <a:txBody>
                    <a:bodyPr/>
                    <a:lstStyle/>
                    <a:p>
                      <a:r>
                        <a:rPr lang="en-US" sz="1800" dirty="0" err="1" smtClean="0"/>
                        <a:t>Config</a:t>
                      </a:r>
                      <a:r>
                        <a:rPr lang="en-US" sz="1800" dirty="0" smtClean="0"/>
                        <a:t> ROM    -     70% of core</a:t>
                      </a:r>
                      <a:r>
                        <a:rPr lang="en-US" sz="1800" baseline="0" dirty="0" smtClean="0"/>
                        <a:t> peak power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r>
                        <a:rPr lang="en-US" sz="1200" dirty="0" err="1" smtClean="0"/>
                        <a:t>Iq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ldstu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smtClean="0"/>
                        <a:t>rob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dcache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29" name="Picture 5"/>
          <p:cNvPicPr>
            <a:picLocks noChangeAspect="1" noChangeArrowheads="1"/>
          </p:cNvPicPr>
          <p:nvPr>
            <p:custDataLst>
              <p:tags r:id="rId9"/>
            </p:custDataLst>
          </p:nvPr>
        </p:nvPicPr>
        <p:blipFill>
          <a:blip r:embed="rId21"/>
          <a:srcRect/>
          <a:stretch>
            <a:fillRect/>
          </a:stretch>
        </p:blipFill>
        <p:spPr bwMode="auto">
          <a:xfrm>
            <a:off x="304800" y="3505200"/>
            <a:ext cx="1847850" cy="371475"/>
          </a:xfrm>
          <a:prstGeom prst="rect">
            <a:avLst/>
          </a:prstGeom>
          <a:noFill/>
          <a:ln w="9525">
            <a:noFill/>
            <a:miter lim="800000"/>
            <a:headEnd/>
            <a:tailEnd/>
          </a:ln>
          <a:effectLst/>
        </p:spPr>
      </p:pic>
      <p:sp>
        <p:nvSpPr>
          <p:cNvPr id="27" name="Text Placeholder 2"/>
          <p:cNvSpPr>
            <a:spLocks noGrp="1"/>
          </p:cNvSpPr>
          <p:nvPr>
            <p:ph type="body" sz="half" idx="1"/>
            <p:custDataLst>
              <p:tags r:id="rId10"/>
            </p:custDataLst>
          </p:nvPr>
        </p:nvSpPr>
        <p:spPr>
          <a:xfrm>
            <a:off x="5715000" y="1066800"/>
            <a:ext cx="3276600" cy="2286000"/>
          </a:xfrm>
        </p:spPr>
        <p:txBody>
          <a:bodyPr/>
          <a:lstStyle/>
          <a:p>
            <a:r>
              <a:rPr lang="en-US" sz="2000" dirty="0" smtClean="0"/>
              <a:t>Consider all possible configurations</a:t>
            </a:r>
          </a:p>
          <a:p>
            <a:r>
              <a:rPr lang="en-US" sz="2000" dirty="0" smtClean="0"/>
              <a:t>Remove </a:t>
            </a:r>
            <a:r>
              <a:rPr lang="en-US" sz="2000" dirty="0" err="1" smtClean="0"/>
              <a:t>configs</a:t>
            </a:r>
            <a:r>
              <a:rPr lang="en-US" sz="2000" dirty="0" smtClean="0"/>
              <a:t> exceeding targeted peak power threshold</a:t>
            </a:r>
          </a:p>
          <a:p>
            <a:pPr>
              <a:buFont typeface="Wingdings" pitchFamily="2" charset="2"/>
              <a:buNone/>
            </a:pPr>
            <a:r>
              <a:rPr lang="en-US" sz="2000" dirty="0" smtClean="0"/>
              <a:t>	</a:t>
            </a:r>
          </a:p>
        </p:txBody>
      </p:sp>
      <p:sp>
        <p:nvSpPr>
          <p:cNvPr id="39" name="Rounded Rectangle 38"/>
          <p:cNvSpPr/>
          <p:nvPr>
            <p:custDataLst>
              <p:tags r:id="rId11"/>
            </p:custDataLst>
          </p:nvPr>
        </p:nvSpPr>
        <p:spPr>
          <a:xfrm>
            <a:off x="1066800" y="2057400"/>
            <a:ext cx="381000" cy="6858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 name="Rounded Rectangle 39"/>
          <p:cNvSpPr/>
          <p:nvPr>
            <p:custDataLst>
              <p:tags r:id="rId12"/>
            </p:custDataLst>
          </p:nvPr>
        </p:nvSpPr>
        <p:spPr>
          <a:xfrm>
            <a:off x="3581400" y="3276600"/>
            <a:ext cx="838200" cy="9144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 name="Rounded Rectangle 40"/>
          <p:cNvSpPr/>
          <p:nvPr>
            <p:custDataLst>
              <p:tags r:id="rId13"/>
            </p:custDataLst>
          </p:nvPr>
        </p:nvSpPr>
        <p:spPr>
          <a:xfrm>
            <a:off x="7391400" y="3276600"/>
            <a:ext cx="838200" cy="9144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p:cNvSpPr txBox="1"/>
          <p:nvPr>
            <p:custDataLst>
              <p:tags r:id="rId14"/>
            </p:custDataLst>
          </p:nvPr>
        </p:nvSpPr>
        <p:spPr>
          <a:xfrm>
            <a:off x="990600" y="5715000"/>
            <a:ext cx="914400" cy="400110"/>
          </a:xfrm>
          <a:prstGeom prst="rect">
            <a:avLst/>
          </a:prstGeom>
          <a:noFill/>
        </p:spPr>
        <p:txBody>
          <a:bodyPr wrap="square" rtlCol="0">
            <a:spAutoFit/>
          </a:bodyPr>
          <a:lstStyle/>
          <a:p>
            <a:r>
              <a:rPr lang="en-US" sz="2000" dirty="0" smtClean="0">
                <a:solidFill>
                  <a:schemeClr val="accent6">
                    <a:lumMod val="50000"/>
                  </a:schemeClr>
                </a:solidFill>
              </a:rPr>
              <a:t>69%</a:t>
            </a:r>
            <a:endParaRPr lang="en-US" sz="2000" dirty="0">
              <a:solidFill>
                <a:schemeClr val="accent6">
                  <a:lumMod val="50000"/>
                </a:schemeClr>
              </a:solidFill>
            </a:endParaRPr>
          </a:p>
        </p:txBody>
      </p:sp>
      <p:sp>
        <p:nvSpPr>
          <p:cNvPr id="16" name="TextBox 15"/>
          <p:cNvSpPr txBox="1"/>
          <p:nvPr>
            <p:custDataLst>
              <p:tags r:id="rId15"/>
            </p:custDataLst>
          </p:nvPr>
        </p:nvSpPr>
        <p:spPr>
          <a:xfrm>
            <a:off x="5029200" y="5715000"/>
            <a:ext cx="914400" cy="400110"/>
          </a:xfrm>
          <a:prstGeom prst="rect">
            <a:avLst/>
          </a:prstGeom>
          <a:noFill/>
        </p:spPr>
        <p:txBody>
          <a:bodyPr wrap="square" rtlCol="0">
            <a:spAutoFit/>
          </a:bodyPr>
          <a:lstStyle/>
          <a:p>
            <a:r>
              <a:rPr lang="en-US" sz="2000" dirty="0" smtClean="0">
                <a:solidFill>
                  <a:schemeClr val="accent6">
                    <a:lumMod val="50000"/>
                  </a:schemeClr>
                </a:solidFill>
              </a:rPr>
              <a:t>68%</a:t>
            </a:r>
            <a:endParaRPr lang="en-US" sz="2000" dirty="0">
              <a:solidFill>
                <a:schemeClr val="accent6">
                  <a:lumMod val="50000"/>
                </a:schemeClr>
              </a:solidFill>
            </a:endParaRPr>
          </a:p>
        </p:txBody>
      </p:sp>
    </p:spTree>
    <p:custDataLst>
      <p:tags r:id="rId1"/>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p:cNvPicPr>
            <a:picLocks noChangeAspect="1" noChangeArrowheads="1"/>
          </p:cNvPicPr>
          <p:nvPr>
            <p:custDataLst>
              <p:tags r:id="rId2"/>
            </p:custDataLst>
          </p:nvPr>
        </p:nvPicPr>
        <p:blipFill>
          <a:blip r:embed="rId26"/>
          <a:srcRect/>
          <a:stretch>
            <a:fillRect/>
          </a:stretch>
        </p:blipFill>
        <p:spPr bwMode="auto">
          <a:xfrm>
            <a:off x="304800" y="3962400"/>
            <a:ext cx="1847850" cy="371475"/>
          </a:xfrm>
          <a:prstGeom prst="rect">
            <a:avLst/>
          </a:prstGeom>
          <a:noFill/>
          <a:ln w="9525">
            <a:noFill/>
            <a:miter lim="800000"/>
            <a:headEnd/>
            <a:tailEnd/>
          </a:ln>
          <a:effectLst/>
        </p:spPr>
      </p:pic>
      <p:pic>
        <p:nvPicPr>
          <p:cNvPr id="2050" name="Picture 2"/>
          <p:cNvPicPr>
            <a:picLocks noChangeAspect="1" noChangeArrowheads="1"/>
          </p:cNvPicPr>
          <p:nvPr>
            <p:custDataLst>
              <p:tags r:id="rId3"/>
            </p:custDataLst>
          </p:nvPr>
        </p:nvPicPr>
        <p:blipFill>
          <a:blip r:embed="rId27"/>
          <a:srcRect/>
          <a:stretch>
            <a:fillRect/>
          </a:stretch>
        </p:blipFill>
        <p:spPr bwMode="auto">
          <a:xfrm>
            <a:off x="5126510" y="3352800"/>
            <a:ext cx="3560290" cy="2769647"/>
          </a:xfrm>
          <a:prstGeom prst="rect">
            <a:avLst/>
          </a:prstGeom>
          <a:noFill/>
          <a:ln w="9525">
            <a:noFill/>
            <a:miter lim="800000"/>
            <a:headEnd/>
            <a:tailEnd/>
          </a:ln>
          <a:effectLst/>
        </p:spPr>
      </p:pic>
      <p:pic>
        <p:nvPicPr>
          <p:cNvPr id="1032" name="Picture 8"/>
          <p:cNvPicPr>
            <a:picLocks noChangeAspect="1" noChangeArrowheads="1"/>
          </p:cNvPicPr>
          <p:nvPr>
            <p:custDataLst>
              <p:tags r:id="rId4"/>
            </p:custDataLst>
          </p:nvPr>
        </p:nvPicPr>
        <p:blipFill>
          <a:blip r:embed="rId28"/>
          <a:srcRect/>
          <a:stretch>
            <a:fillRect/>
          </a:stretch>
        </p:blipFill>
        <p:spPr bwMode="auto">
          <a:xfrm>
            <a:off x="1295400" y="3352800"/>
            <a:ext cx="3538538" cy="2762250"/>
          </a:xfrm>
          <a:prstGeom prst="rect">
            <a:avLst/>
          </a:prstGeom>
          <a:noFill/>
          <a:ln w="9525">
            <a:noFill/>
            <a:miter lim="800000"/>
            <a:headEnd/>
            <a:tailEnd/>
          </a:ln>
          <a:effectLst/>
        </p:spPr>
      </p:pic>
      <p:sp>
        <p:nvSpPr>
          <p:cNvPr id="16386" name="Title 1"/>
          <p:cNvSpPr>
            <a:spLocks noGrp="1"/>
          </p:cNvSpPr>
          <p:nvPr>
            <p:ph type="title"/>
            <p:custDataLst>
              <p:tags r:id="rId5"/>
            </p:custDataLst>
          </p:nvPr>
        </p:nvSpPr>
        <p:spPr>
          <a:xfrm>
            <a:off x="457200" y="277813"/>
            <a:ext cx="8686800" cy="1139825"/>
          </a:xfrm>
        </p:spPr>
        <p:txBody>
          <a:bodyPr/>
          <a:lstStyle/>
          <a:p>
            <a:r>
              <a:rPr lang="en-US" dirty="0" smtClean="0"/>
              <a:t>Finding Appropriate Configurations</a:t>
            </a:r>
          </a:p>
        </p:txBody>
      </p:sp>
      <p:sp>
        <p:nvSpPr>
          <p:cNvPr id="5" name="Footer Placeholder 4"/>
          <p:cNvSpPr>
            <a:spLocks noGrp="1"/>
          </p:cNvSpPr>
          <p:nvPr>
            <p:ph type="ftr" sz="quarter" idx="11"/>
            <p:custDataLst>
              <p:tags r:id="rId6"/>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6" name="Slide Number Placeholder 5"/>
          <p:cNvSpPr>
            <a:spLocks noGrp="1"/>
          </p:cNvSpPr>
          <p:nvPr>
            <p:ph type="sldNum" sz="quarter" idx="12"/>
            <p:custDataLst>
              <p:tags r:id="rId7"/>
            </p:custDataLst>
          </p:nvPr>
        </p:nvSpPr>
        <p:spPr/>
        <p:txBody>
          <a:bodyPr/>
          <a:lstStyle/>
          <a:p>
            <a:pPr>
              <a:defRPr/>
            </a:pPr>
            <a:fld id="{6FAA053E-92A2-48CF-8F15-8E303CB1BB5D}" type="slidenum">
              <a:rPr lang="en-US" altLang="en-US" smtClean="0"/>
              <a:pPr>
                <a:defRPr/>
              </a:pPr>
              <a:t>28</a:t>
            </a:fld>
            <a:endParaRPr lang="en-US" altLang="en-US" dirty="0"/>
          </a:p>
        </p:txBody>
      </p:sp>
      <p:graphicFrame>
        <p:nvGraphicFramePr>
          <p:cNvPr id="10" name="Table 9"/>
          <p:cNvGraphicFramePr>
            <a:graphicFrameLocks noGrp="1"/>
          </p:cNvGraphicFramePr>
          <p:nvPr>
            <p:custDataLst>
              <p:tags r:id="rId8"/>
            </p:custDataLst>
          </p:nvPr>
        </p:nvGraphicFramePr>
        <p:xfrm>
          <a:off x="304800" y="1219200"/>
          <a:ext cx="5257800" cy="2000250"/>
        </p:xfrm>
        <a:graphic>
          <a:graphicData uri="http://schemas.openxmlformats.org/drawingml/2006/table">
            <a:tbl>
              <a:tblPr firstRow="1" bandRow="1">
                <a:tableStyleId>{5A111915-BE36-4E01-A7E5-04B1672EAD32}</a:tableStyleId>
              </a:tblPr>
              <a:tblGrid>
                <a:gridCol w="353514"/>
                <a:gridCol w="377600"/>
                <a:gridCol w="452531"/>
                <a:gridCol w="460559"/>
                <a:gridCol w="551547"/>
                <a:gridCol w="436475"/>
                <a:gridCol w="552886"/>
                <a:gridCol w="560912"/>
                <a:gridCol w="659927"/>
                <a:gridCol w="851849"/>
              </a:tblGrid>
              <a:tr h="400050">
                <a:tc gridSpan="10">
                  <a:txBody>
                    <a:bodyPr/>
                    <a:lstStyle/>
                    <a:p>
                      <a:r>
                        <a:rPr lang="en-US" sz="1800" dirty="0" err="1" smtClean="0"/>
                        <a:t>Config</a:t>
                      </a:r>
                      <a:r>
                        <a:rPr lang="en-US" sz="1800" dirty="0" smtClean="0"/>
                        <a:t> ROM    -     70% of core</a:t>
                      </a:r>
                      <a:r>
                        <a:rPr lang="en-US" sz="1800" baseline="0" dirty="0" smtClean="0"/>
                        <a:t> peak power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r>
                        <a:rPr lang="en-US" sz="1200" dirty="0" err="1" smtClean="0"/>
                        <a:t>Iq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Fq</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falu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ldstu</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smtClean="0"/>
                        <a:t>rob</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fregs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icache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r>
                        <a:rPr lang="en-US" sz="1200" dirty="0" err="1" smtClean="0"/>
                        <a:t>dcache</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29" name="Picture 5"/>
          <p:cNvPicPr>
            <a:picLocks noChangeAspect="1" noChangeArrowheads="1"/>
          </p:cNvPicPr>
          <p:nvPr>
            <p:custDataLst>
              <p:tags r:id="rId9"/>
            </p:custDataLst>
          </p:nvPr>
        </p:nvPicPr>
        <p:blipFill>
          <a:blip r:embed="rId29"/>
          <a:srcRect/>
          <a:stretch>
            <a:fillRect/>
          </a:stretch>
        </p:blipFill>
        <p:spPr bwMode="auto">
          <a:xfrm>
            <a:off x="304800" y="3505200"/>
            <a:ext cx="1847850" cy="371475"/>
          </a:xfrm>
          <a:prstGeom prst="rect">
            <a:avLst/>
          </a:prstGeom>
          <a:noFill/>
          <a:ln w="9525">
            <a:noFill/>
            <a:miter lim="800000"/>
            <a:headEnd/>
            <a:tailEnd/>
          </a:ln>
          <a:effectLst/>
        </p:spPr>
      </p:pic>
      <p:sp>
        <p:nvSpPr>
          <p:cNvPr id="27" name="Text Placeholder 2"/>
          <p:cNvSpPr>
            <a:spLocks noGrp="1"/>
          </p:cNvSpPr>
          <p:nvPr>
            <p:ph type="body" sz="half" idx="1"/>
            <p:custDataLst>
              <p:tags r:id="rId10"/>
            </p:custDataLst>
          </p:nvPr>
        </p:nvSpPr>
        <p:spPr>
          <a:xfrm>
            <a:off x="5715000" y="1066800"/>
            <a:ext cx="3276600" cy="2286000"/>
          </a:xfrm>
        </p:spPr>
        <p:txBody>
          <a:bodyPr/>
          <a:lstStyle/>
          <a:p>
            <a:r>
              <a:rPr lang="en-US" sz="2000" dirty="0" smtClean="0"/>
              <a:t>Consider all possible configurations</a:t>
            </a:r>
          </a:p>
          <a:p>
            <a:r>
              <a:rPr lang="en-US" sz="2000" dirty="0" smtClean="0"/>
              <a:t>Remove </a:t>
            </a:r>
            <a:r>
              <a:rPr lang="en-US" sz="2000" dirty="0" err="1" smtClean="0"/>
              <a:t>configs</a:t>
            </a:r>
            <a:r>
              <a:rPr lang="en-US" sz="2000" dirty="0" smtClean="0"/>
              <a:t> exceeding targeted peak power threshold</a:t>
            </a:r>
          </a:p>
          <a:p>
            <a:r>
              <a:rPr lang="en-US" sz="2000" dirty="0" smtClean="0"/>
              <a:t>Remove redundant </a:t>
            </a:r>
            <a:r>
              <a:rPr lang="en-US" sz="2000" dirty="0" err="1" smtClean="0"/>
              <a:t>configs</a:t>
            </a:r>
            <a:endParaRPr lang="en-US" sz="2000" dirty="0" smtClean="0"/>
          </a:p>
          <a:p>
            <a:pPr>
              <a:buFont typeface="Wingdings" pitchFamily="2" charset="2"/>
              <a:buNone/>
            </a:pPr>
            <a:r>
              <a:rPr lang="en-US" sz="2000" dirty="0" smtClean="0"/>
              <a:t>	</a:t>
            </a:r>
          </a:p>
        </p:txBody>
      </p:sp>
      <p:sp>
        <p:nvSpPr>
          <p:cNvPr id="39" name="Rounded Rectangle 38"/>
          <p:cNvSpPr/>
          <p:nvPr>
            <p:custDataLst>
              <p:tags r:id="rId11"/>
            </p:custDataLst>
          </p:nvPr>
        </p:nvSpPr>
        <p:spPr>
          <a:xfrm>
            <a:off x="1066800" y="2057400"/>
            <a:ext cx="381000" cy="6858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0" name="Rounded Rectangle 39"/>
          <p:cNvSpPr/>
          <p:nvPr>
            <p:custDataLst>
              <p:tags r:id="rId12"/>
            </p:custDataLst>
          </p:nvPr>
        </p:nvSpPr>
        <p:spPr>
          <a:xfrm>
            <a:off x="3581400" y="3276600"/>
            <a:ext cx="838200" cy="9144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1" name="Rounded Rectangle 40"/>
          <p:cNvSpPr/>
          <p:nvPr>
            <p:custDataLst>
              <p:tags r:id="rId13"/>
            </p:custDataLst>
          </p:nvPr>
        </p:nvSpPr>
        <p:spPr>
          <a:xfrm>
            <a:off x="7391400" y="3276600"/>
            <a:ext cx="838200" cy="9144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p:cNvSpPr txBox="1"/>
          <p:nvPr>
            <p:custDataLst>
              <p:tags r:id="rId14"/>
            </p:custDataLst>
          </p:nvPr>
        </p:nvSpPr>
        <p:spPr>
          <a:xfrm>
            <a:off x="990600" y="5715000"/>
            <a:ext cx="914400" cy="400110"/>
          </a:xfrm>
          <a:prstGeom prst="rect">
            <a:avLst/>
          </a:prstGeom>
          <a:noFill/>
        </p:spPr>
        <p:txBody>
          <a:bodyPr wrap="square" rtlCol="0">
            <a:spAutoFit/>
          </a:bodyPr>
          <a:lstStyle/>
          <a:p>
            <a:r>
              <a:rPr lang="en-US" sz="2000" dirty="0" smtClean="0">
                <a:solidFill>
                  <a:schemeClr val="accent6">
                    <a:lumMod val="50000"/>
                  </a:schemeClr>
                </a:solidFill>
              </a:rPr>
              <a:t>69%</a:t>
            </a:r>
            <a:endParaRPr lang="en-US" sz="2000" dirty="0">
              <a:solidFill>
                <a:schemeClr val="accent6">
                  <a:lumMod val="50000"/>
                </a:schemeClr>
              </a:solidFill>
            </a:endParaRPr>
          </a:p>
        </p:txBody>
      </p:sp>
      <p:sp>
        <p:nvSpPr>
          <p:cNvPr id="16" name="TextBox 15"/>
          <p:cNvSpPr txBox="1"/>
          <p:nvPr>
            <p:custDataLst>
              <p:tags r:id="rId15"/>
            </p:custDataLst>
          </p:nvPr>
        </p:nvSpPr>
        <p:spPr>
          <a:xfrm>
            <a:off x="5029200" y="5715000"/>
            <a:ext cx="914400" cy="400110"/>
          </a:xfrm>
          <a:prstGeom prst="rect">
            <a:avLst/>
          </a:prstGeom>
          <a:noFill/>
        </p:spPr>
        <p:txBody>
          <a:bodyPr wrap="square" rtlCol="0">
            <a:spAutoFit/>
          </a:bodyPr>
          <a:lstStyle/>
          <a:p>
            <a:r>
              <a:rPr lang="en-US" sz="2000" dirty="0" smtClean="0">
                <a:solidFill>
                  <a:schemeClr val="accent6">
                    <a:lumMod val="50000"/>
                  </a:schemeClr>
                </a:solidFill>
              </a:rPr>
              <a:t>68%</a:t>
            </a:r>
            <a:endParaRPr lang="en-US" sz="2000" dirty="0">
              <a:solidFill>
                <a:schemeClr val="accent6">
                  <a:lumMod val="50000"/>
                </a:schemeClr>
              </a:solidFill>
            </a:endParaRPr>
          </a:p>
        </p:txBody>
      </p:sp>
      <p:cxnSp>
        <p:nvCxnSpPr>
          <p:cNvPr id="24" name="Straight Connector 23"/>
          <p:cNvCxnSpPr/>
          <p:nvPr>
            <p:custDataLst>
              <p:tags r:id="rId16"/>
            </p:custDataLst>
          </p:nvPr>
        </p:nvCxnSpPr>
        <p:spPr>
          <a:xfrm rot="5400000">
            <a:off x="5714999" y="3200401"/>
            <a:ext cx="2590800" cy="2286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custDataLst>
              <p:tags r:id="rId17"/>
            </p:custDataLst>
          </p:nvPr>
        </p:nvCxnSpPr>
        <p:spPr>
          <a:xfrm>
            <a:off x="457200" y="2438400"/>
            <a:ext cx="4800600" cy="381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custDataLst>
              <p:tags r:id="rId18"/>
            </p:custDataLst>
          </p:nvPr>
        </p:nvCxnSpPr>
        <p:spPr>
          <a:xfrm rot="10800000" flipV="1">
            <a:off x="457200" y="2438400"/>
            <a:ext cx="4800600" cy="381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custDataLst>
              <p:tags r:id="rId19"/>
            </p:custDataLst>
          </p:nvPr>
        </p:nvCxnSpPr>
        <p:spPr>
          <a:xfrm rot="16200000" flipH="1">
            <a:off x="457200" y="5410200"/>
            <a:ext cx="457200" cy="1524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custDataLst>
              <p:tags r:id="rId20"/>
            </p:custDataLst>
          </p:nvPr>
        </p:nvCxnSpPr>
        <p:spPr>
          <a:xfrm rot="5400000">
            <a:off x="381000" y="4876800"/>
            <a:ext cx="1219200" cy="4572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custDataLst>
              <p:tags r:id="rId21"/>
            </p:custDataLst>
          </p:nvPr>
        </p:nvCxnSpPr>
        <p:spPr>
          <a:xfrm rot="16200000" flipH="1">
            <a:off x="38101" y="2247900"/>
            <a:ext cx="152400" cy="762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custDataLst>
              <p:tags r:id="rId22"/>
            </p:custDataLst>
          </p:nvPr>
        </p:nvCxnSpPr>
        <p:spPr>
          <a:xfrm rot="5400000">
            <a:off x="1" y="2133600"/>
            <a:ext cx="381000" cy="76200"/>
          </a:xfrm>
          <a:prstGeom prst="line">
            <a:avLst/>
          </a:prstGeom>
          <a:ln w="1016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custDataLst>
              <p:tags r:id="rId23"/>
            </p:custDataLst>
          </p:nvPr>
        </p:nvCxnSpPr>
        <p:spPr>
          <a:xfrm rot="16200000" flipH="1">
            <a:off x="5791200" y="3200401"/>
            <a:ext cx="2590800" cy="2286000"/>
          </a:xfrm>
          <a:prstGeom prst="line">
            <a:avLst/>
          </a:prstGeom>
          <a:ln w="101600">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Contents of the </a:t>
            </a:r>
            <a:r>
              <a:rPr lang="en-US" dirty="0" err="1" smtClean="0"/>
              <a:t>Config</a:t>
            </a:r>
            <a:r>
              <a:rPr lang="en-US" dirty="0" smtClean="0"/>
              <a:t> ROM</a:t>
            </a:r>
            <a:endParaRPr lang="en-US" dirty="0"/>
          </a:p>
        </p:txBody>
      </p:sp>
      <p:sp>
        <p:nvSpPr>
          <p:cNvPr id="3" name="Text Placeholder 2"/>
          <p:cNvSpPr>
            <a:spLocks noGrp="1"/>
          </p:cNvSpPr>
          <p:nvPr>
            <p:ph type="body" sz="half" idx="1"/>
            <p:custDataLst>
              <p:tags r:id="rId3"/>
            </p:custDataLst>
          </p:nvPr>
        </p:nvSpPr>
        <p:spPr>
          <a:xfrm>
            <a:off x="457200" y="1219200"/>
            <a:ext cx="7772400" cy="4530725"/>
          </a:xfrm>
        </p:spPr>
        <p:txBody>
          <a:bodyPr/>
          <a:lstStyle/>
          <a:p>
            <a:pPr>
              <a:buNone/>
            </a:pPr>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Manageable number of configurations</a:t>
            </a:r>
          </a:p>
          <a:p>
            <a:r>
              <a:rPr lang="en-US" dirty="0" smtClean="0"/>
              <a:t>We find the best configuration faster </a:t>
            </a:r>
          </a:p>
        </p:txBody>
      </p:sp>
      <p:sp>
        <p:nvSpPr>
          <p:cNvPr id="5" name="Footer Placeholder 4"/>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custDataLst>
              <p:tags r:id="rId5"/>
            </p:custDataLst>
          </p:nvPr>
        </p:nvSpPr>
        <p:spPr/>
        <p:txBody>
          <a:bodyPr/>
          <a:lstStyle/>
          <a:p>
            <a:pPr>
              <a:defRPr/>
            </a:pPr>
            <a:fld id="{C439A655-FA36-44EF-95FA-7EB76AC68428}" type="slidenum">
              <a:rPr lang="en-US" altLang="en-US" smtClean="0"/>
              <a:pPr>
                <a:defRPr/>
              </a:pPr>
              <a:t>29</a:t>
            </a:fld>
            <a:endParaRPr lang="en-US" altLang="en-US"/>
          </a:p>
        </p:txBody>
      </p:sp>
      <p:graphicFrame>
        <p:nvGraphicFramePr>
          <p:cNvPr id="7" name="Table 6"/>
          <p:cNvGraphicFramePr>
            <a:graphicFrameLocks noGrp="1"/>
          </p:cNvGraphicFramePr>
          <p:nvPr>
            <p:custDataLst>
              <p:tags r:id="rId6"/>
            </p:custDataLst>
          </p:nvPr>
        </p:nvGraphicFramePr>
        <p:xfrm>
          <a:off x="1752600" y="1281430"/>
          <a:ext cx="5715000" cy="2909570"/>
        </p:xfrm>
        <a:graphic>
          <a:graphicData uri="http://schemas.openxmlformats.org/drawingml/2006/table">
            <a:tbl>
              <a:tblPr firstRow="1" bandRow="1">
                <a:tableStyleId>{5A111915-BE36-4E01-A7E5-04B1672EAD32}</a:tableStyleId>
              </a:tblPr>
              <a:tblGrid>
                <a:gridCol w="1466551"/>
                <a:gridCol w="1886249"/>
                <a:gridCol w="2362200"/>
              </a:tblGrid>
              <a:tr h="393700">
                <a:tc>
                  <a:txBody>
                    <a:bodyPr/>
                    <a:lstStyle/>
                    <a:p>
                      <a:r>
                        <a:rPr lang="en-US" sz="1800" b="0" dirty="0" smtClean="0"/>
                        <a:t>Relative power threshold</a:t>
                      </a:r>
                      <a:r>
                        <a:rPr lang="en-US" sz="1800" b="0" baseline="0" dirty="0" smtClean="0"/>
                        <a:t> </a:t>
                      </a:r>
                      <a:endParaRPr lang="en-US" sz="1800" b="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dirty="0" smtClean="0"/>
                        <a:t>#</a:t>
                      </a:r>
                      <a:r>
                        <a:rPr lang="en-US" sz="1800" b="0" baseline="0" dirty="0" smtClean="0"/>
                        <a:t> of possible configurations</a:t>
                      </a:r>
                      <a:endParaRPr lang="en-US" sz="1800" b="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smtClean="0"/>
                        <a:t>#</a:t>
                      </a:r>
                      <a:r>
                        <a:rPr lang="en-US" sz="1800" b="1" baseline="0" dirty="0" smtClean="0"/>
                        <a:t> of non-redundant configurations</a:t>
                      </a:r>
                      <a:endParaRPr lang="en-US" sz="1800" b="1"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algn="ctr"/>
                      <a:r>
                        <a:rPr lang="en-US" sz="1800" dirty="0" smtClean="0"/>
                        <a:t>70%</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493</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132</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75%</a:t>
                      </a:r>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1658</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279</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smtClean="0"/>
                        <a:t>80%</a:t>
                      </a:r>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3418</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360</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algn="ctr"/>
                      <a:r>
                        <a:rPr lang="en-US" sz="1800" dirty="0" smtClean="0"/>
                        <a:t>85%</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4987</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285</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3700">
                <a:tc>
                  <a:txBody>
                    <a:bodyPr/>
                    <a:lstStyle/>
                    <a:p>
                      <a:pPr algn="ctr"/>
                      <a:r>
                        <a:rPr lang="en-US" sz="1800" dirty="0" smtClean="0"/>
                        <a:t>100%</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6144</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smtClean="0"/>
                        <a:t>1</a:t>
                      </a:r>
                      <a:endParaRPr lang="en-US" sz="1800" dirty="0"/>
                    </a:p>
                  </a:txBody>
                  <a:tcPr marL="118110" marR="118110" marT="59055" marB="590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ustDataLst>
      <p:tags r:id="rId1"/>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custDataLst>
              <p:tags r:id="rId2"/>
            </p:custDataLst>
          </p:nvPr>
        </p:nvSpPr>
        <p:spPr/>
        <p:txBody>
          <a:bodyPr/>
          <a:lstStyle/>
          <a:p>
            <a:r>
              <a:rPr lang="en-US" smtClean="0"/>
              <a:t>Implementation Overhead</a:t>
            </a:r>
          </a:p>
        </p:txBody>
      </p:sp>
      <p:sp>
        <p:nvSpPr>
          <p:cNvPr id="17411" name="Text Placeholder 2"/>
          <p:cNvSpPr>
            <a:spLocks noGrp="1"/>
          </p:cNvSpPr>
          <p:nvPr>
            <p:ph type="body" sz="half" idx="1"/>
            <p:custDataLst>
              <p:tags r:id="rId3"/>
            </p:custDataLst>
          </p:nvPr>
        </p:nvSpPr>
        <p:spPr>
          <a:xfrm>
            <a:off x="457200" y="1600200"/>
            <a:ext cx="7467600" cy="4530725"/>
          </a:xfrm>
        </p:spPr>
        <p:txBody>
          <a:bodyPr/>
          <a:lstStyle/>
          <a:p>
            <a:r>
              <a:rPr lang="en-US" dirty="0" smtClean="0"/>
              <a:t>Area: &lt;1.25% increase</a:t>
            </a:r>
          </a:p>
          <a:p>
            <a:pPr>
              <a:buFont typeface="Wingdings" pitchFamily="2" charset="2"/>
              <a:buNone/>
            </a:pPr>
            <a:r>
              <a:rPr lang="en-US" sz="2800" dirty="0" smtClean="0"/>
              <a:t>	(~0.5KB for </a:t>
            </a:r>
            <a:r>
              <a:rPr lang="en-US" sz="2800" dirty="0" err="1" smtClean="0"/>
              <a:t>Config</a:t>
            </a:r>
            <a:r>
              <a:rPr lang="en-US" sz="2800" dirty="0" smtClean="0"/>
              <a:t> ROM)</a:t>
            </a:r>
          </a:p>
          <a:p>
            <a:r>
              <a:rPr lang="en-US" dirty="0" smtClean="0"/>
              <a:t>Peak Power: &lt; 1.1% overhead</a:t>
            </a:r>
          </a:p>
          <a:p>
            <a:r>
              <a:rPr lang="en-US" dirty="0" smtClean="0"/>
              <a:t>Average Power: negligible</a:t>
            </a:r>
          </a:p>
          <a:p>
            <a:pPr>
              <a:buNone/>
            </a:pPr>
            <a:r>
              <a:rPr lang="en-US" dirty="0" smtClean="0"/>
              <a:t>	(infrequent epoch-based adaptation)</a:t>
            </a:r>
          </a:p>
          <a:p>
            <a:r>
              <a:rPr lang="en-US" sz="2800" dirty="0" smtClean="0"/>
              <a:t>Power-gating delays of up to 650 cycles.</a:t>
            </a:r>
          </a:p>
          <a:p>
            <a:r>
              <a:rPr lang="en-US" dirty="0" smtClean="0"/>
              <a:t>Verification Cost </a:t>
            </a:r>
            <a:r>
              <a:rPr lang="en-US" sz="2800" dirty="0" smtClean="0"/>
              <a:t>higher than non-adaptive core, less than fully-adaptive core</a:t>
            </a:r>
          </a:p>
          <a:p>
            <a:endParaRPr lang="en-US" dirty="0" smtClean="0"/>
          </a:p>
          <a:p>
            <a:pPr>
              <a:buFont typeface="Wingdings" pitchFamily="2" charset="2"/>
              <a:buNone/>
            </a:pPr>
            <a:r>
              <a:rPr lang="en-US" dirty="0" smtClean="0"/>
              <a:t>	</a:t>
            </a:r>
          </a:p>
        </p:txBody>
      </p:sp>
      <p:sp>
        <p:nvSpPr>
          <p:cNvPr id="5" name="Footer Placeholder 4"/>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custDataLst>
              <p:tags r:id="rId5"/>
            </p:custDataLst>
          </p:nvPr>
        </p:nvSpPr>
        <p:spPr/>
        <p:txBody>
          <a:bodyPr/>
          <a:lstStyle/>
          <a:p>
            <a:pPr>
              <a:defRPr/>
            </a:pPr>
            <a:fld id="{35802F66-24A1-40B9-A76A-65F5EF40EE12}" type="slidenum">
              <a:rPr lang="en-US" altLang="en-US" smtClean="0"/>
              <a:pPr>
                <a:defRPr/>
              </a:pPr>
              <a:t>30</a:t>
            </a:fld>
            <a:endParaRPr lang="en-US" altLang="en-US" dirty="0"/>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5" name="Slide Number Placeholder 5"/>
          <p:cNvSpPr>
            <a:spLocks noGrp="1"/>
          </p:cNvSpPr>
          <p:nvPr>
            <p:ph type="sldNum" sz="quarter" idx="12"/>
            <p:custDataLst>
              <p:tags r:id="rId3"/>
            </p:custDataLst>
          </p:nvPr>
        </p:nvSpPr>
        <p:spPr/>
        <p:txBody>
          <a:bodyPr/>
          <a:lstStyle/>
          <a:p>
            <a:pPr>
              <a:defRPr/>
            </a:pPr>
            <a:fld id="{5C4A9DFB-B8A0-4080-BE30-3383122A60F7}" type="slidenum">
              <a:rPr lang="en-US" altLang="en-US"/>
              <a:pPr>
                <a:defRPr/>
              </a:pPr>
              <a:t>31</a:t>
            </a:fld>
            <a:endParaRPr lang="en-US" altLang="en-US"/>
          </a:p>
        </p:txBody>
      </p:sp>
      <p:sp>
        <p:nvSpPr>
          <p:cNvPr id="20484" name="Rectangle 2"/>
          <p:cNvSpPr>
            <a:spLocks noGrp="1" noChangeArrowheads="1"/>
          </p:cNvSpPr>
          <p:nvPr>
            <p:ph type="title"/>
            <p:custDataLst>
              <p:tags r:id="rId4"/>
            </p:custDataLst>
          </p:nvPr>
        </p:nvSpPr>
        <p:spPr/>
        <p:txBody>
          <a:bodyPr/>
          <a:lstStyle/>
          <a:p>
            <a:pPr eaLnBrk="1" hangingPunct="1"/>
            <a:r>
              <a:rPr lang="en-US" smtClean="0"/>
              <a:t>Outline</a:t>
            </a:r>
          </a:p>
        </p:txBody>
      </p:sp>
      <p:sp>
        <p:nvSpPr>
          <p:cNvPr id="12293" name="Rectangle 3"/>
          <p:cNvSpPr>
            <a:spLocks noGrp="1" noChangeArrowheads="1"/>
          </p:cNvSpPr>
          <p:nvPr>
            <p:ph type="body" idx="1"/>
            <p:custDataLst>
              <p:tags r:id="rId5"/>
            </p:custDataLst>
          </p:nvPr>
        </p:nvSpPr>
        <p:spPr/>
        <p:txBody>
          <a:bodyPr/>
          <a:lstStyle/>
          <a:p>
            <a:pPr eaLnBrk="1" hangingPunct="1">
              <a:defRPr/>
            </a:pPr>
            <a:r>
              <a:rPr lang="en-US" dirty="0" smtClean="0">
                <a:solidFill>
                  <a:schemeClr val="bg1">
                    <a:lumMod val="85000"/>
                  </a:schemeClr>
                </a:solidFill>
              </a:rPr>
              <a:t>Introduction</a:t>
            </a:r>
          </a:p>
          <a:p>
            <a:pPr eaLnBrk="1" hangingPunct="1">
              <a:defRPr/>
            </a:pPr>
            <a:r>
              <a:rPr lang="en-US" dirty="0" smtClean="0">
                <a:solidFill>
                  <a:schemeClr val="bg1">
                    <a:lumMod val="85000"/>
                  </a:schemeClr>
                </a:solidFill>
              </a:rPr>
              <a:t>Architecture</a:t>
            </a:r>
          </a:p>
          <a:p>
            <a:pPr eaLnBrk="1" hangingPunct="1">
              <a:defRPr/>
            </a:pPr>
            <a:r>
              <a:rPr lang="en-US" dirty="0" smtClean="0"/>
              <a:t>Results</a:t>
            </a:r>
          </a:p>
          <a:p>
            <a:pPr lvl="1" eaLnBrk="1" hangingPunct="1">
              <a:defRPr/>
            </a:pPr>
            <a:r>
              <a:rPr lang="en-US" dirty="0" smtClean="0"/>
              <a:t>Dynamic Adaptation </a:t>
            </a:r>
            <a:r>
              <a:rPr lang="en-US" dirty="0" err="1" smtClean="0"/>
              <a:t>vs</a:t>
            </a:r>
            <a:r>
              <a:rPr lang="en-US" dirty="0" smtClean="0"/>
              <a:t> Static Tuning</a:t>
            </a:r>
          </a:p>
          <a:p>
            <a:pPr lvl="1" eaLnBrk="1" hangingPunct="1">
              <a:defRPr/>
            </a:pPr>
            <a:r>
              <a:rPr lang="en-US" dirty="0" smtClean="0"/>
              <a:t>Realistic Adaptive Techniques</a:t>
            </a:r>
          </a:p>
          <a:p>
            <a:pPr lvl="1" eaLnBrk="1" hangingPunct="1">
              <a:defRPr/>
            </a:pPr>
            <a:r>
              <a:rPr lang="en-US" dirty="0" smtClean="0"/>
              <a:t>Voltage Variation and Decoupling Capacitance Benefits </a:t>
            </a:r>
          </a:p>
          <a:p>
            <a:pPr eaLnBrk="1" hangingPunct="1">
              <a:defRPr/>
            </a:pPr>
            <a:r>
              <a:rPr lang="en-US" dirty="0" smtClean="0">
                <a:solidFill>
                  <a:schemeClr val="bg1">
                    <a:lumMod val="85000"/>
                  </a:schemeClr>
                </a:solidFill>
              </a:rPr>
              <a:t>Conclusions</a:t>
            </a:r>
          </a:p>
        </p:txBody>
      </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custDataLst>
              <p:tags r:id="rId2"/>
            </p:custDataLst>
          </p:nvPr>
        </p:nvPicPr>
        <p:blipFill>
          <a:blip r:embed="rId10"/>
          <a:srcRect/>
          <a:stretch>
            <a:fillRect/>
          </a:stretch>
        </p:blipFill>
        <p:spPr bwMode="auto">
          <a:xfrm>
            <a:off x="725172" y="1676400"/>
            <a:ext cx="5294628" cy="3619500"/>
          </a:xfrm>
          <a:prstGeom prst="rect">
            <a:avLst/>
          </a:prstGeom>
          <a:noFill/>
          <a:ln w="9525">
            <a:noFill/>
            <a:miter lim="800000"/>
            <a:headEnd/>
            <a:tailEnd/>
          </a:ln>
          <a:effectLst/>
        </p:spPr>
      </p:pic>
      <p:sp>
        <p:nvSpPr>
          <p:cNvPr id="21507" name="Title 1"/>
          <p:cNvSpPr>
            <a:spLocks noGrp="1"/>
          </p:cNvSpPr>
          <p:nvPr>
            <p:ph type="title"/>
            <p:custDataLst>
              <p:tags r:id="rId3"/>
            </p:custDataLst>
          </p:nvPr>
        </p:nvSpPr>
        <p:spPr/>
        <p:txBody>
          <a:bodyPr/>
          <a:lstStyle/>
          <a:p>
            <a:r>
              <a:rPr lang="en-US" dirty="0" smtClean="0"/>
              <a:t>Dynamic Adaptation </a:t>
            </a:r>
            <a:r>
              <a:rPr lang="en-US" dirty="0" err="1" smtClean="0"/>
              <a:t>vs</a:t>
            </a:r>
            <a:r>
              <a:rPr lang="en-US" dirty="0" smtClean="0"/>
              <a:t> Static Tuning</a:t>
            </a:r>
          </a:p>
        </p:txBody>
      </p:sp>
      <p:sp>
        <p:nvSpPr>
          <p:cNvPr id="4" name="Footer Placeholder 3"/>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5"/>
            </p:custDataLst>
          </p:nvPr>
        </p:nvSpPr>
        <p:spPr/>
        <p:txBody>
          <a:bodyPr/>
          <a:lstStyle/>
          <a:p>
            <a:pPr>
              <a:defRPr/>
            </a:pPr>
            <a:fld id="{BF84C3FB-5ACE-4659-A457-B1EC7925AC1B}" type="slidenum">
              <a:rPr lang="en-US" altLang="en-US" smtClean="0"/>
              <a:pPr>
                <a:defRPr/>
              </a:pPr>
              <a:t>32</a:t>
            </a:fld>
            <a:endParaRPr lang="en-US" altLang="en-US"/>
          </a:p>
        </p:txBody>
      </p:sp>
      <p:sp>
        <p:nvSpPr>
          <p:cNvPr id="9" name="Rectangle 3"/>
          <p:cNvSpPr txBox="1">
            <a:spLocks noChangeArrowheads="1"/>
          </p:cNvSpPr>
          <p:nvPr>
            <p:custDataLst>
              <p:tags r:id="rId6"/>
            </p:custDataLst>
          </p:nvPr>
        </p:nvSpPr>
        <p:spPr bwMode="auto">
          <a:xfrm>
            <a:off x="457200" y="5334000"/>
            <a:ext cx="8229600" cy="990600"/>
          </a:xfrm>
          <a:prstGeom prst="rect">
            <a:avLst/>
          </a:prstGeom>
          <a:noFill/>
          <a:ln w="9525">
            <a:noFill/>
            <a:miter lim="800000"/>
            <a:headEnd/>
            <a:tailEnd/>
          </a:ln>
        </p:spPr>
        <p:txBody>
          <a:bodyPr/>
          <a:lstStyle/>
          <a:p>
            <a:pPr marL="342900" indent="-342900">
              <a:spcBef>
                <a:spcPct val="20000"/>
              </a:spcBef>
              <a:buClr>
                <a:schemeClr val="accent1"/>
              </a:buClr>
              <a:buSzPct val="65000"/>
              <a:buFont typeface="Wingdings" pitchFamily="2" charset="2"/>
              <a:buChar char="n"/>
              <a:defRPr/>
            </a:pPr>
            <a:r>
              <a:rPr lang="en-US" kern="0" dirty="0">
                <a:latin typeface="+mj-lt"/>
              </a:rPr>
              <a:t>Best Static Configuration:</a:t>
            </a:r>
          </a:p>
          <a:p>
            <a:pPr marL="800100" lvl="1" indent="-342900">
              <a:spcBef>
                <a:spcPct val="20000"/>
              </a:spcBef>
              <a:buClr>
                <a:schemeClr val="accent1"/>
              </a:buClr>
              <a:buSzPct val="65000"/>
              <a:defRPr/>
            </a:pPr>
            <a:r>
              <a:rPr lang="en-US" kern="0" dirty="0">
                <a:latin typeface="+mj-lt"/>
              </a:rPr>
              <a:t>iqs:32. fqs:32 ialu:2 falu:1 ldst:1 ics:16KB </a:t>
            </a:r>
            <a:r>
              <a:rPr lang="en-US" kern="0" dirty="0" err="1">
                <a:latin typeface="+mj-lt"/>
              </a:rPr>
              <a:t>dcs</a:t>
            </a:r>
            <a:r>
              <a:rPr lang="en-US" kern="0" dirty="0">
                <a:latin typeface="+mj-lt"/>
              </a:rPr>
              <a:t>:16KB ipr:64 fpr:64 rob:256</a:t>
            </a:r>
          </a:p>
        </p:txBody>
      </p:sp>
      <p:sp>
        <p:nvSpPr>
          <p:cNvPr id="21520" name="TextBox 21"/>
          <p:cNvSpPr txBox="1">
            <a:spLocks noChangeArrowheads="1"/>
          </p:cNvSpPr>
          <p:nvPr>
            <p:custDataLst>
              <p:tags r:id="rId7"/>
            </p:custDataLst>
          </p:nvPr>
        </p:nvSpPr>
        <p:spPr bwMode="auto">
          <a:xfrm>
            <a:off x="3352800" y="1062335"/>
            <a:ext cx="3200400" cy="461665"/>
          </a:xfrm>
          <a:prstGeom prst="rect">
            <a:avLst/>
          </a:prstGeom>
          <a:noFill/>
          <a:ln w="9525">
            <a:noFill/>
            <a:miter lim="800000"/>
            <a:headEnd/>
            <a:tailEnd/>
          </a:ln>
        </p:spPr>
        <p:txBody>
          <a:bodyPr wrap="square">
            <a:spAutoFit/>
          </a:bodyPr>
          <a:lstStyle/>
          <a:p>
            <a:r>
              <a:rPr lang="en-US" sz="2400" u="sng" dirty="0" smtClean="0">
                <a:latin typeface="+mj-lt"/>
              </a:rPr>
              <a:t>70% of core peak</a:t>
            </a:r>
            <a:endParaRPr lang="en-US" sz="2400" dirty="0">
              <a:latin typeface="+mj-lt"/>
            </a:endParaRPr>
          </a:p>
        </p:txBody>
      </p:sp>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custDataLst>
              <p:tags r:id="rId2"/>
            </p:custDataLst>
          </p:nvPr>
        </p:nvPicPr>
        <p:blipFill>
          <a:blip r:embed="rId14"/>
          <a:srcRect/>
          <a:stretch>
            <a:fillRect/>
          </a:stretch>
        </p:blipFill>
        <p:spPr bwMode="auto">
          <a:xfrm>
            <a:off x="5924550" y="1600200"/>
            <a:ext cx="2914650" cy="3733800"/>
          </a:xfrm>
          <a:prstGeom prst="rect">
            <a:avLst/>
          </a:prstGeom>
          <a:noFill/>
          <a:ln w="9525">
            <a:noFill/>
            <a:miter lim="800000"/>
            <a:headEnd/>
            <a:tailEnd/>
          </a:ln>
          <a:effectLst/>
        </p:spPr>
      </p:pic>
      <p:pic>
        <p:nvPicPr>
          <p:cNvPr id="3075" name="Picture 3"/>
          <p:cNvPicPr>
            <a:picLocks noChangeAspect="1" noChangeArrowheads="1"/>
          </p:cNvPicPr>
          <p:nvPr>
            <p:custDataLst>
              <p:tags r:id="rId3"/>
            </p:custDataLst>
          </p:nvPr>
        </p:nvPicPr>
        <p:blipFill>
          <a:blip r:embed="rId15"/>
          <a:srcRect/>
          <a:stretch>
            <a:fillRect/>
          </a:stretch>
        </p:blipFill>
        <p:spPr bwMode="auto">
          <a:xfrm>
            <a:off x="725172" y="1676400"/>
            <a:ext cx="5294628" cy="3619500"/>
          </a:xfrm>
          <a:prstGeom prst="rect">
            <a:avLst/>
          </a:prstGeom>
          <a:noFill/>
          <a:ln w="9525">
            <a:noFill/>
            <a:miter lim="800000"/>
            <a:headEnd/>
            <a:tailEnd/>
          </a:ln>
          <a:effectLst/>
        </p:spPr>
      </p:pic>
      <p:sp>
        <p:nvSpPr>
          <p:cNvPr id="21507" name="Title 1"/>
          <p:cNvSpPr>
            <a:spLocks noGrp="1"/>
          </p:cNvSpPr>
          <p:nvPr>
            <p:ph type="title"/>
            <p:custDataLst>
              <p:tags r:id="rId4"/>
            </p:custDataLst>
          </p:nvPr>
        </p:nvSpPr>
        <p:spPr/>
        <p:txBody>
          <a:bodyPr/>
          <a:lstStyle/>
          <a:p>
            <a:r>
              <a:rPr lang="en-US" dirty="0" smtClean="0"/>
              <a:t>Dynamic Adaptation </a:t>
            </a:r>
            <a:r>
              <a:rPr lang="en-US" dirty="0" err="1" smtClean="0"/>
              <a:t>vs</a:t>
            </a:r>
            <a:r>
              <a:rPr lang="en-US" dirty="0" smtClean="0"/>
              <a:t> Static Tuning</a:t>
            </a:r>
          </a:p>
        </p:txBody>
      </p:sp>
      <p:sp>
        <p:nvSpPr>
          <p:cNvPr id="4" name="Footer Placeholder 3"/>
          <p:cNvSpPr>
            <a:spLocks noGrp="1"/>
          </p:cNvSpPr>
          <p:nvPr>
            <p:ph type="ftr" sz="quarter" idx="11"/>
            <p:custDataLst>
              <p:tags r:id="rId5"/>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6"/>
            </p:custDataLst>
          </p:nvPr>
        </p:nvSpPr>
        <p:spPr/>
        <p:txBody>
          <a:bodyPr/>
          <a:lstStyle/>
          <a:p>
            <a:pPr>
              <a:defRPr/>
            </a:pPr>
            <a:fld id="{BF84C3FB-5ACE-4659-A457-B1EC7925AC1B}" type="slidenum">
              <a:rPr lang="en-US" altLang="en-US" smtClean="0"/>
              <a:pPr>
                <a:defRPr/>
              </a:pPr>
              <a:t>33</a:t>
            </a:fld>
            <a:endParaRPr lang="en-US" altLang="en-US"/>
          </a:p>
        </p:txBody>
      </p:sp>
      <p:sp>
        <p:nvSpPr>
          <p:cNvPr id="15" name="TextBox 14"/>
          <p:cNvSpPr txBox="1"/>
          <p:nvPr>
            <p:custDataLst>
              <p:tags r:id="rId7"/>
            </p:custDataLst>
          </p:nvPr>
        </p:nvSpPr>
        <p:spPr>
          <a:xfrm>
            <a:off x="6553200" y="2054225"/>
            <a:ext cx="1600200" cy="307777"/>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defRPr/>
            </a:pPr>
            <a:r>
              <a:rPr lang="en-US" sz="1400" dirty="0" smtClean="0"/>
              <a:t>INT ALUs </a:t>
            </a:r>
            <a:r>
              <a:rPr lang="en-US" sz="1400" dirty="0"/>
              <a:t>needed</a:t>
            </a:r>
          </a:p>
        </p:txBody>
      </p:sp>
      <p:sp>
        <p:nvSpPr>
          <p:cNvPr id="21520" name="TextBox 21"/>
          <p:cNvSpPr txBox="1">
            <a:spLocks noChangeArrowheads="1"/>
          </p:cNvSpPr>
          <p:nvPr>
            <p:custDataLst>
              <p:tags r:id="rId8"/>
            </p:custDataLst>
          </p:nvPr>
        </p:nvSpPr>
        <p:spPr bwMode="auto">
          <a:xfrm>
            <a:off x="3352800" y="1062335"/>
            <a:ext cx="2895600" cy="461665"/>
          </a:xfrm>
          <a:prstGeom prst="rect">
            <a:avLst/>
          </a:prstGeom>
          <a:noFill/>
          <a:ln w="9525">
            <a:noFill/>
            <a:miter lim="800000"/>
            <a:headEnd/>
            <a:tailEnd/>
          </a:ln>
        </p:spPr>
        <p:txBody>
          <a:bodyPr wrap="square">
            <a:spAutoFit/>
          </a:bodyPr>
          <a:lstStyle/>
          <a:p>
            <a:r>
              <a:rPr lang="en-US" sz="2400" u="sng" dirty="0" smtClean="0">
                <a:latin typeface="+mj-lt"/>
              </a:rPr>
              <a:t>70% of core peak </a:t>
            </a:r>
            <a:r>
              <a:rPr lang="en-US" sz="2400" dirty="0" smtClean="0">
                <a:latin typeface="+mj-lt"/>
              </a:rPr>
              <a:t> </a:t>
            </a:r>
            <a:endParaRPr lang="en-US" sz="2400" dirty="0">
              <a:latin typeface="+mj-lt"/>
            </a:endParaRPr>
          </a:p>
        </p:txBody>
      </p:sp>
      <p:sp>
        <p:nvSpPr>
          <p:cNvPr id="24" name="TextBox 23"/>
          <p:cNvSpPr txBox="1"/>
          <p:nvPr>
            <p:custDataLst>
              <p:tags r:id="rId9"/>
            </p:custDataLst>
          </p:nvPr>
        </p:nvSpPr>
        <p:spPr>
          <a:xfrm>
            <a:off x="7924800" y="1457325"/>
            <a:ext cx="990600" cy="52322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defRPr/>
            </a:pPr>
            <a:r>
              <a:rPr lang="en-US" sz="1400" dirty="0" smtClean="0"/>
              <a:t>FP REGs   </a:t>
            </a:r>
            <a:r>
              <a:rPr lang="en-US" sz="1400" dirty="0"/>
              <a:t>needed</a:t>
            </a:r>
          </a:p>
        </p:txBody>
      </p:sp>
      <p:sp>
        <p:nvSpPr>
          <p:cNvPr id="28" name="TextBox 27"/>
          <p:cNvSpPr txBox="1"/>
          <p:nvPr>
            <p:custDataLst>
              <p:tags r:id="rId10"/>
            </p:custDataLst>
          </p:nvPr>
        </p:nvSpPr>
        <p:spPr>
          <a:xfrm>
            <a:off x="6324600" y="2667000"/>
            <a:ext cx="838200" cy="523220"/>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defRPr/>
            </a:pPr>
            <a:r>
              <a:rPr lang="en-US" sz="1400" dirty="0" smtClean="0"/>
              <a:t>Nothing </a:t>
            </a:r>
          </a:p>
          <a:p>
            <a:pPr>
              <a:defRPr/>
            </a:pPr>
            <a:r>
              <a:rPr lang="en-US" sz="1400" dirty="0" smtClean="0"/>
              <a:t>needed</a:t>
            </a:r>
            <a:endParaRPr lang="en-US" sz="1400" dirty="0"/>
          </a:p>
        </p:txBody>
      </p:sp>
      <p:sp>
        <p:nvSpPr>
          <p:cNvPr id="12" name="Rectangle 3"/>
          <p:cNvSpPr txBox="1">
            <a:spLocks noChangeArrowheads="1"/>
          </p:cNvSpPr>
          <p:nvPr>
            <p:custDataLst>
              <p:tags r:id="rId11"/>
            </p:custDataLst>
          </p:nvPr>
        </p:nvSpPr>
        <p:spPr bwMode="auto">
          <a:xfrm>
            <a:off x="457200" y="5334000"/>
            <a:ext cx="8229600" cy="990600"/>
          </a:xfrm>
          <a:prstGeom prst="rect">
            <a:avLst/>
          </a:prstGeom>
          <a:noFill/>
          <a:ln w="9525">
            <a:noFill/>
            <a:miter lim="800000"/>
            <a:headEnd/>
            <a:tailEnd/>
          </a:ln>
        </p:spPr>
        <p:txBody>
          <a:bodyPr/>
          <a:lstStyle/>
          <a:p>
            <a:pPr marL="342900" indent="-342900">
              <a:spcBef>
                <a:spcPct val="20000"/>
              </a:spcBef>
              <a:buClr>
                <a:schemeClr val="accent1"/>
              </a:buClr>
              <a:buSzPct val="65000"/>
              <a:buFont typeface="Wingdings" pitchFamily="2" charset="2"/>
              <a:buChar char="n"/>
              <a:defRPr/>
            </a:pPr>
            <a:r>
              <a:rPr lang="en-US" kern="0" dirty="0">
                <a:latin typeface="+mj-lt"/>
              </a:rPr>
              <a:t>Best Static Configuration:</a:t>
            </a:r>
          </a:p>
          <a:p>
            <a:pPr marL="800100" lvl="1" indent="-342900">
              <a:spcBef>
                <a:spcPct val="20000"/>
              </a:spcBef>
              <a:buClr>
                <a:schemeClr val="accent1"/>
              </a:buClr>
              <a:buSzPct val="65000"/>
              <a:defRPr/>
            </a:pPr>
            <a:r>
              <a:rPr lang="en-US" kern="0" dirty="0">
                <a:latin typeface="+mj-lt"/>
              </a:rPr>
              <a:t>iqs:32. fqs:32 ialu:2 falu:1 ldst:1 ics:16KB </a:t>
            </a:r>
            <a:r>
              <a:rPr lang="en-US" kern="0" dirty="0" err="1">
                <a:latin typeface="+mj-lt"/>
              </a:rPr>
              <a:t>dcs</a:t>
            </a:r>
            <a:r>
              <a:rPr lang="en-US" kern="0" dirty="0">
                <a:latin typeface="+mj-lt"/>
              </a:rPr>
              <a:t>:16KB ipr:64 fpr:64 rob:256</a:t>
            </a:r>
          </a:p>
        </p:txBody>
      </p:sp>
    </p:spTree>
    <p:custDataLst>
      <p:tags r:id="rId1"/>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Two Critical Issues</a:t>
            </a:r>
            <a:endParaRPr lang="en-US" dirty="0"/>
          </a:p>
        </p:txBody>
      </p:sp>
      <p:sp>
        <p:nvSpPr>
          <p:cNvPr id="3" name="Text Placeholder 2"/>
          <p:cNvSpPr>
            <a:spLocks noGrp="1"/>
          </p:cNvSpPr>
          <p:nvPr>
            <p:ph type="body" sz="half" idx="1"/>
            <p:custDataLst>
              <p:tags r:id="rId3"/>
            </p:custDataLst>
          </p:nvPr>
        </p:nvSpPr>
        <p:spPr>
          <a:xfrm>
            <a:off x="457200" y="1600200"/>
            <a:ext cx="8686800" cy="4530725"/>
          </a:xfrm>
        </p:spPr>
        <p:txBody>
          <a:bodyPr/>
          <a:lstStyle/>
          <a:p>
            <a:r>
              <a:rPr lang="en-US" dirty="0" smtClean="0">
                <a:solidFill>
                  <a:schemeClr val="bg1">
                    <a:lumMod val="85000"/>
                  </a:schemeClr>
                </a:solidFill>
              </a:rPr>
              <a:t>Which configurations to make available?</a:t>
            </a:r>
          </a:p>
          <a:p>
            <a:pPr>
              <a:buNone/>
            </a:pPr>
            <a:r>
              <a:rPr lang="en-US" dirty="0" smtClean="0">
                <a:solidFill>
                  <a:schemeClr val="bg1">
                    <a:lumMod val="85000"/>
                  </a:schemeClr>
                </a:solidFill>
              </a:rPr>
              <a:t>    (contents of </a:t>
            </a:r>
            <a:r>
              <a:rPr lang="en-US" dirty="0" err="1" smtClean="0">
                <a:solidFill>
                  <a:schemeClr val="bg1">
                    <a:lumMod val="85000"/>
                  </a:schemeClr>
                </a:solidFill>
              </a:rPr>
              <a:t>Config</a:t>
            </a:r>
            <a:r>
              <a:rPr lang="en-US" dirty="0" smtClean="0">
                <a:solidFill>
                  <a:schemeClr val="bg1">
                    <a:lumMod val="85000"/>
                  </a:schemeClr>
                </a:solidFill>
              </a:rPr>
              <a:t> ROM)</a:t>
            </a:r>
          </a:p>
          <a:p>
            <a:r>
              <a:rPr lang="en-US" dirty="0" smtClean="0"/>
              <a:t>How to transition among the available  configurations?</a:t>
            </a:r>
          </a:p>
          <a:p>
            <a:pPr>
              <a:buNone/>
            </a:pPr>
            <a:r>
              <a:rPr lang="en-US" dirty="0" smtClean="0"/>
              <a:t>	(Adaptation manager policies)</a:t>
            </a:r>
            <a:endParaRPr lang="en-US" dirty="0"/>
          </a:p>
        </p:txBody>
      </p:sp>
      <p:sp>
        <p:nvSpPr>
          <p:cNvPr id="5" name="Footer Placeholder 4"/>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custDataLst>
              <p:tags r:id="rId5"/>
            </p:custDataLst>
          </p:nvPr>
        </p:nvSpPr>
        <p:spPr/>
        <p:txBody>
          <a:bodyPr/>
          <a:lstStyle/>
          <a:p>
            <a:pPr>
              <a:defRPr/>
            </a:pPr>
            <a:fld id="{C439A655-FA36-44EF-95FA-7EB76AC68428}" type="slidenum">
              <a:rPr lang="en-US" altLang="en-US" smtClean="0"/>
              <a:pPr>
                <a:defRPr/>
              </a:pPr>
              <a:t>34</a:t>
            </a:fld>
            <a:endParaRPr lang="en-US" altLang="en-US"/>
          </a:p>
        </p:txBody>
      </p:sp>
    </p:spTree>
    <p:custDataLst>
      <p:tags r:id="rId1"/>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2"/>
            </p:custDataLst>
          </p:nvPr>
        </p:nvGraphicFramePr>
        <p:xfrm>
          <a:off x="381000" y="1143000"/>
          <a:ext cx="8305800" cy="4495800"/>
        </p:xfrm>
        <a:graphic>
          <a:graphicData uri="http://schemas.openxmlformats.org/drawingml/2006/table">
            <a:tbl>
              <a:tblPr firstRow="1">
                <a:tableStyleId>{B301B821-A1FF-4177-AEE7-76D212191A09}</a:tableStyleId>
              </a:tblPr>
              <a:tblGrid>
                <a:gridCol w="2895600"/>
                <a:gridCol w="2641600"/>
                <a:gridCol w="2768600"/>
              </a:tblGrid>
              <a:tr h="744406">
                <a:tc>
                  <a:txBody>
                    <a:bodyPr/>
                    <a:lstStyle/>
                    <a:p>
                      <a:pPr algn="ctr"/>
                      <a:endParaRPr lang="en-US" sz="700" dirty="0" smtClean="0">
                        <a:latin typeface="+mj-lt"/>
                      </a:endParaRPr>
                    </a:p>
                    <a:p>
                      <a:pPr algn="ctr"/>
                      <a:r>
                        <a:rPr lang="en-US" sz="2000" dirty="0" smtClean="0">
                          <a:latin typeface="+mj-lt"/>
                        </a:rPr>
                        <a:t>When to adapt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Which configuration to choose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How to evaluate a</a:t>
                      </a:r>
                      <a:r>
                        <a:rPr lang="en-US" sz="2000" baseline="0" dirty="0" smtClean="0">
                          <a:latin typeface="+mj-lt"/>
                        </a:rPr>
                        <a:t> configuration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a:txBody>
                    <a:bodyPr/>
                    <a:lstStyle/>
                    <a:p>
                      <a:pPr algn="ctr"/>
                      <a:r>
                        <a:rPr lang="en-US" sz="1600" b="1" i="1" dirty="0" smtClean="0">
                          <a:solidFill>
                            <a:schemeClr val="accent1">
                              <a:lumMod val="50000"/>
                            </a:schemeClr>
                          </a:solidFill>
                          <a:latin typeface="+mj-lt"/>
                        </a:rPr>
                        <a:t>Interval(INTV):</a:t>
                      </a:r>
                      <a:r>
                        <a:rPr lang="en-US" sz="1600" b="1" baseline="0" dirty="0" smtClean="0">
                          <a:solidFill>
                            <a:schemeClr val="accent1">
                              <a:lumMod val="50000"/>
                            </a:schemeClr>
                          </a:solidFill>
                          <a:latin typeface="+mj-lt"/>
                        </a:rPr>
                        <a:t> </a:t>
                      </a:r>
                      <a:r>
                        <a:rPr lang="en-US" sz="1600" baseline="0" dirty="0" smtClean="0">
                          <a:latin typeface="+mj-lt"/>
                        </a:rPr>
                        <a:t>every fixed interval of cycles (2M cycles)</a:t>
                      </a:r>
                      <a:endParaRPr lang="en-US" sz="1600" b="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accent1">
                              <a:lumMod val="50000"/>
                            </a:schemeClr>
                          </a:solidFill>
                          <a:latin typeface="+mj-lt"/>
                        </a:rPr>
                        <a:t>RANDOM: </a:t>
                      </a:r>
                      <a:r>
                        <a:rPr lang="en-US" sz="1600" dirty="0" smtClean="0">
                          <a:latin typeface="+mj-lt"/>
                        </a:rPr>
                        <a:t>randomly pick the next configuration</a:t>
                      </a:r>
                      <a:endParaRPr lang="en-US" sz="1600" b="0" i="1"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i="1" dirty="0" smtClean="0">
                          <a:solidFill>
                            <a:schemeClr val="accent1">
                              <a:lumMod val="50000"/>
                            </a:schemeClr>
                          </a:solidFill>
                          <a:latin typeface="+mj-lt"/>
                        </a:rPr>
                        <a:t>NONE: </a:t>
                      </a:r>
                      <a:r>
                        <a:rPr lang="en-US" sz="1600" dirty="0" smtClean="0">
                          <a:latin typeface="+mj-lt"/>
                        </a:rPr>
                        <a:t>pick the chosen configuration,</a:t>
                      </a:r>
                      <a:r>
                        <a:rPr lang="en-US" sz="1600" baseline="0" dirty="0" smtClean="0">
                          <a:latin typeface="+mj-lt"/>
                        </a:rPr>
                        <a:t> do not evaluate</a:t>
                      </a:r>
                      <a:endParaRPr lang="en-US" sz="1600" b="0" i="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rowSpan="2">
                  <a:txBody>
                    <a:bodyPr/>
                    <a:lstStyle/>
                    <a:p>
                      <a:pPr algn="ctr"/>
                      <a:r>
                        <a:rPr lang="en-US" sz="1600" b="1" i="1" dirty="0" err="1" smtClean="0">
                          <a:solidFill>
                            <a:schemeClr val="accent1">
                              <a:lumMod val="50000"/>
                            </a:schemeClr>
                          </a:solidFill>
                          <a:latin typeface="+mj-lt"/>
                        </a:rPr>
                        <a:t>EventDriven</a:t>
                      </a:r>
                      <a:r>
                        <a:rPr lang="en-US" sz="1600" b="1" i="1" dirty="0" smtClean="0">
                          <a:solidFill>
                            <a:schemeClr val="accent1">
                              <a:lumMod val="50000"/>
                            </a:schemeClr>
                          </a:solidFill>
                          <a:latin typeface="+mj-lt"/>
                        </a:rPr>
                        <a:t>(EVDRIV):</a:t>
                      </a:r>
                      <a:r>
                        <a:rPr lang="en-US" sz="1600" dirty="0" smtClean="0">
                          <a:latin typeface="+mj-lt"/>
                        </a:rPr>
                        <a:t> capture</a:t>
                      </a:r>
                      <a:r>
                        <a:rPr lang="en-US" sz="1600" baseline="0" dirty="0" smtClean="0">
                          <a:latin typeface="+mj-lt"/>
                        </a:rPr>
                        <a:t> </a:t>
                      </a:r>
                      <a:r>
                        <a:rPr lang="en-US" sz="1600" b="1" baseline="0" dirty="0" smtClean="0">
                          <a:latin typeface="+mj-lt"/>
                        </a:rPr>
                        <a:t>phase changes</a:t>
                      </a:r>
                      <a:r>
                        <a:rPr lang="en-US" sz="1600" baseline="0" dirty="0" smtClean="0">
                          <a:latin typeface="+mj-lt"/>
                        </a:rPr>
                        <a:t> </a:t>
                      </a:r>
                      <a:r>
                        <a:rPr lang="en-US" sz="1600" dirty="0" smtClean="0">
                          <a:latin typeface="+mj-lt"/>
                        </a:rPr>
                        <a:t>by adapting when IPC or</a:t>
                      </a:r>
                      <a:r>
                        <a:rPr lang="en-US" sz="1600" baseline="0" dirty="0" smtClean="0">
                          <a:latin typeface="+mj-lt"/>
                        </a:rPr>
                        <a:t> </a:t>
                      </a:r>
                      <a:r>
                        <a:rPr lang="en-US" sz="1600" dirty="0" smtClean="0">
                          <a:latin typeface="+mj-lt"/>
                        </a:rPr>
                        <a:t>cache</a:t>
                      </a:r>
                      <a:r>
                        <a:rPr lang="en-US" sz="1600" baseline="0" dirty="0" smtClean="0">
                          <a:latin typeface="+mj-lt"/>
                        </a:rPr>
                        <a:t> misses/instr. change by more than 30%</a:t>
                      </a:r>
                      <a:endParaRPr lang="en-US" sz="1600" b="0" i="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1"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i="1" dirty="0" smtClean="0">
                          <a:solidFill>
                            <a:schemeClr val="accent1">
                              <a:lumMod val="50000"/>
                            </a:schemeClr>
                          </a:solidFill>
                          <a:latin typeface="+mj-lt"/>
                        </a:rPr>
                        <a:t>SAMPLE:</a:t>
                      </a:r>
                      <a:r>
                        <a:rPr lang="en-US" sz="1600" dirty="0" smtClean="0">
                          <a:latin typeface="+mj-lt"/>
                        </a:rPr>
                        <a:t> </a:t>
                      </a:r>
                      <a:r>
                        <a:rPr lang="en-US" sz="1600" u="none" dirty="0" smtClean="0">
                          <a:latin typeface="+mj-lt"/>
                        </a:rPr>
                        <a:t>sample</a:t>
                      </a:r>
                      <a:r>
                        <a:rPr lang="en-US" sz="1600" u="none" baseline="0" dirty="0" smtClean="0">
                          <a:latin typeface="+mj-lt"/>
                        </a:rPr>
                        <a:t> different configurations and pick the one with highest instructions per cycle (</a:t>
                      </a:r>
                      <a:r>
                        <a:rPr lang="en-US" sz="1600" u="none" baseline="0" dirty="0" err="1" smtClean="0">
                          <a:latin typeface="+mj-lt"/>
                        </a:rPr>
                        <a:t>ipc</a:t>
                      </a:r>
                      <a:r>
                        <a:rPr lang="en-US" sz="1600" u="none" baseline="0" dirty="0" smtClean="0">
                          <a:latin typeface="+mj-lt"/>
                        </a:rPr>
                        <a:t>)</a:t>
                      </a:r>
                      <a:endParaRPr lang="en-US" sz="1600" b="0" i="0" u="none"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8366">
                <a:tc vMerge="1">
                  <a:txBody>
                    <a:bodyPr/>
                    <a:lstStyle/>
                    <a:p>
                      <a:endParaRPr lang="en-US" sz="1600" b="0" i="0"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accent1">
                              <a:lumMod val="50000"/>
                            </a:schemeClr>
                          </a:solidFill>
                          <a:latin typeface="+mj-lt"/>
                        </a:rPr>
                        <a:t>SCORE:</a:t>
                      </a:r>
                      <a:r>
                        <a:rPr lang="en-US" sz="1600" dirty="0" smtClean="0">
                          <a:latin typeface="+mj-lt"/>
                        </a:rPr>
                        <a:t> evaluate</a:t>
                      </a:r>
                      <a:r>
                        <a:rPr lang="en-US" sz="1600" baseline="0" dirty="0" smtClean="0">
                          <a:latin typeface="+mj-lt"/>
                        </a:rPr>
                        <a:t> configurations  based on </a:t>
                      </a:r>
                      <a:r>
                        <a:rPr lang="en-US" sz="1600" b="1" baseline="0" dirty="0" smtClean="0">
                          <a:latin typeface="+mj-lt"/>
                        </a:rPr>
                        <a:t>which provides more of the bottleneck resource.</a:t>
                      </a:r>
                      <a:r>
                        <a:rPr lang="en-US" sz="1600" baseline="0" dirty="0" smtClean="0">
                          <a:latin typeface="+mj-lt"/>
                        </a:rPr>
                        <a:t> Choose the highest score .</a:t>
                      </a:r>
                      <a:endParaRPr lang="en-US" sz="1600" b="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0" u="none"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89916">
                <a:tc>
                  <a:txBody>
                    <a:bodyPr/>
                    <a:lstStyle/>
                    <a:p>
                      <a:pPr algn="ctr"/>
                      <a:r>
                        <a:rPr lang="en-US" sz="1600" b="1" i="1" dirty="0" err="1" smtClean="0">
                          <a:solidFill>
                            <a:schemeClr val="accent1">
                              <a:lumMod val="50000"/>
                            </a:schemeClr>
                          </a:solidFill>
                          <a:latin typeface="+mj-lt"/>
                        </a:rPr>
                        <a:t>AdaptiveInterval</a:t>
                      </a:r>
                      <a:r>
                        <a:rPr lang="en-US" sz="1600" b="1" i="1" dirty="0" smtClean="0">
                          <a:solidFill>
                            <a:schemeClr val="accent1">
                              <a:lumMod val="50000"/>
                            </a:schemeClr>
                          </a:solidFill>
                          <a:latin typeface="+mj-lt"/>
                        </a:rPr>
                        <a:t>(INTVAD):</a:t>
                      </a:r>
                      <a:r>
                        <a:rPr lang="en-US" sz="1600" dirty="0" smtClean="0">
                          <a:latin typeface="+mj-lt"/>
                        </a:rPr>
                        <a:t> </a:t>
                      </a:r>
                      <a:r>
                        <a:rPr lang="en-US" sz="1600" baseline="0" dirty="0" smtClean="0">
                          <a:latin typeface="+mj-lt"/>
                        </a:rPr>
                        <a:t> </a:t>
                      </a:r>
                      <a:r>
                        <a:rPr lang="en-US" sz="1600" b="1" baseline="0" dirty="0" smtClean="0">
                          <a:latin typeface="+mj-lt"/>
                        </a:rPr>
                        <a:t>mitigate adaptation costs</a:t>
                      </a:r>
                      <a:r>
                        <a:rPr lang="en-US" sz="1600" baseline="0" dirty="0" smtClean="0">
                          <a:latin typeface="+mj-lt"/>
                        </a:rPr>
                        <a:t> by extending interval when cannot find better configurations, shrink it otherwise. (0.5M – 8M cycles)</a:t>
                      </a:r>
                      <a:endParaRPr lang="en-US" sz="1600" b="0" i="1"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3200" b="0" dirty="0">
                        <a:latin typeface="Arial Narrow" pitchFamily="34" charset="0"/>
                      </a:endParaRPr>
                    </a:p>
                  </a:txBody>
                  <a:tcPr/>
                </a:tc>
                <a:tc vMerge="1">
                  <a:txBody>
                    <a:bodyPr/>
                    <a:lstStyle/>
                    <a:p>
                      <a:endParaRPr lang="en-US" sz="2400" b="0" dirty="0">
                        <a:latin typeface="Arial Narrow" pitchFamily="34" charset="0"/>
                      </a:endParaRPr>
                    </a:p>
                  </a:txBody>
                  <a:tcPr/>
                </a:tc>
              </a:tr>
            </a:tbl>
          </a:graphicData>
        </a:graphic>
      </p:graphicFrame>
      <p:sp>
        <p:nvSpPr>
          <p:cNvPr id="22530" name="Title 1"/>
          <p:cNvSpPr>
            <a:spLocks noGrp="1"/>
          </p:cNvSpPr>
          <p:nvPr>
            <p:ph type="title"/>
            <p:custDataLst>
              <p:tags r:id="rId3"/>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4"/>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5" name="Slide Number Placeholder 4"/>
          <p:cNvSpPr>
            <a:spLocks noGrp="1"/>
          </p:cNvSpPr>
          <p:nvPr>
            <p:ph type="sldNum" sz="quarter" idx="12"/>
            <p:custDataLst>
              <p:tags r:id="rId5"/>
            </p:custDataLst>
          </p:nvPr>
        </p:nvSpPr>
        <p:spPr/>
        <p:txBody>
          <a:bodyPr/>
          <a:lstStyle/>
          <a:p>
            <a:pPr>
              <a:defRPr/>
            </a:pPr>
            <a:fld id="{D55EA07C-EBE0-4628-96D1-251E6318A2BE}" type="slidenum">
              <a:rPr lang="en-US" altLang="en-US" smtClean="0"/>
              <a:pPr>
                <a:defRPr/>
              </a:pPr>
              <a:t>35</a:t>
            </a:fld>
            <a:endParaRPr lang="en-US" altLang="en-US" dirty="0"/>
          </a:p>
        </p:txBody>
      </p:sp>
      <p:cxnSp>
        <p:nvCxnSpPr>
          <p:cNvPr id="8" name="Straight Connector 7"/>
          <p:cNvCxnSpPr/>
          <p:nvPr>
            <p:custDataLst>
              <p:tags r:id="rId6"/>
            </p:custDataLst>
          </p:nvPr>
        </p:nvCxnSpPr>
        <p:spPr>
          <a:xfrm rot="5400000">
            <a:off x="1029111" y="3390489"/>
            <a:ext cx="4495799" cy="8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7"/>
            </p:custDataLst>
          </p:nvPr>
        </p:nvCxnSpPr>
        <p:spPr>
          <a:xfrm rot="5400000">
            <a:off x="3695290" y="3389694"/>
            <a:ext cx="4495005" cy="1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2"/>
            </p:custDataLst>
          </p:nvPr>
        </p:nvGraphicFramePr>
        <p:xfrm>
          <a:off x="381000" y="1143000"/>
          <a:ext cx="8305800" cy="4495800"/>
        </p:xfrm>
        <a:graphic>
          <a:graphicData uri="http://schemas.openxmlformats.org/drawingml/2006/table">
            <a:tbl>
              <a:tblPr firstRow="1">
                <a:tableStyleId>{B301B821-A1FF-4177-AEE7-76D212191A09}</a:tableStyleId>
              </a:tblPr>
              <a:tblGrid>
                <a:gridCol w="2895600"/>
                <a:gridCol w="2641600"/>
                <a:gridCol w="2768600"/>
              </a:tblGrid>
              <a:tr h="744406">
                <a:tc>
                  <a:txBody>
                    <a:bodyPr/>
                    <a:lstStyle/>
                    <a:p>
                      <a:pPr algn="ctr"/>
                      <a:endParaRPr lang="en-US" sz="700" dirty="0" smtClean="0">
                        <a:latin typeface="+mj-lt"/>
                      </a:endParaRPr>
                    </a:p>
                    <a:p>
                      <a:pPr algn="ctr"/>
                      <a:r>
                        <a:rPr lang="en-US" sz="2000" dirty="0" smtClean="0">
                          <a:latin typeface="+mj-lt"/>
                        </a:rPr>
                        <a:t>When to adapt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Which configuration to choose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How to evaluate a</a:t>
                      </a:r>
                      <a:r>
                        <a:rPr lang="en-US" sz="2000" baseline="0" dirty="0" smtClean="0">
                          <a:latin typeface="+mj-lt"/>
                        </a:rPr>
                        <a:t> configuration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a:txBody>
                    <a:bodyPr/>
                    <a:lstStyle/>
                    <a:p>
                      <a:pPr algn="ctr"/>
                      <a:r>
                        <a:rPr lang="en-US" sz="1600" b="1" i="1" dirty="0" smtClean="0">
                          <a:solidFill>
                            <a:schemeClr val="accent1">
                              <a:lumMod val="50000"/>
                            </a:schemeClr>
                          </a:solidFill>
                          <a:latin typeface="+mj-lt"/>
                        </a:rPr>
                        <a:t>Interval(INTV):</a:t>
                      </a:r>
                      <a:r>
                        <a:rPr lang="en-US" sz="1600" b="1" baseline="0" dirty="0" smtClean="0">
                          <a:solidFill>
                            <a:schemeClr val="accent1">
                              <a:lumMod val="50000"/>
                            </a:schemeClr>
                          </a:solidFill>
                          <a:latin typeface="+mj-lt"/>
                        </a:rPr>
                        <a:t> </a:t>
                      </a:r>
                      <a:r>
                        <a:rPr lang="en-US" sz="1600" baseline="0" dirty="0" smtClean="0">
                          <a:latin typeface="+mj-lt"/>
                        </a:rPr>
                        <a:t>every fixed interval of cycles (2M cycles)</a:t>
                      </a:r>
                      <a:endParaRPr lang="en-US" sz="1600" b="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bg1">
                              <a:lumMod val="85000"/>
                            </a:schemeClr>
                          </a:solidFill>
                          <a:latin typeface="+mj-lt"/>
                        </a:rPr>
                        <a:t>RANDOM: </a:t>
                      </a:r>
                      <a:r>
                        <a:rPr lang="en-US" sz="1600" dirty="0" smtClean="0">
                          <a:solidFill>
                            <a:schemeClr val="bg1">
                              <a:lumMod val="85000"/>
                            </a:schemeClr>
                          </a:solidFill>
                          <a:latin typeface="+mj-lt"/>
                        </a:rPr>
                        <a:t>randomly pick the next configuration</a:t>
                      </a:r>
                      <a:endParaRPr lang="en-US" sz="1600" b="0" i="1"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1" kern="1200" dirty="0" smtClean="0">
                          <a:solidFill>
                            <a:schemeClr val="bg1">
                              <a:lumMod val="85000"/>
                            </a:schemeClr>
                          </a:solidFill>
                          <a:latin typeface="+mj-lt"/>
                          <a:ea typeface="+mn-ea"/>
                          <a:cs typeface="+mn-cs"/>
                        </a:rPr>
                        <a:t>NONE: </a:t>
                      </a:r>
                      <a:r>
                        <a:rPr lang="en-US" sz="1600" kern="1200" dirty="0" smtClean="0">
                          <a:solidFill>
                            <a:schemeClr val="bg1">
                              <a:lumMod val="85000"/>
                            </a:schemeClr>
                          </a:solidFill>
                          <a:latin typeface="+mj-lt"/>
                          <a:ea typeface="+mn-ea"/>
                          <a:cs typeface="+mn-cs"/>
                        </a:rPr>
                        <a:t>pick the chosen configuration,</a:t>
                      </a:r>
                      <a:r>
                        <a:rPr lang="en-US" sz="1600" kern="1200" baseline="0" dirty="0" smtClean="0">
                          <a:solidFill>
                            <a:schemeClr val="bg1">
                              <a:lumMod val="85000"/>
                            </a:schemeClr>
                          </a:solidFill>
                          <a:latin typeface="+mj-lt"/>
                          <a:ea typeface="+mn-ea"/>
                          <a:cs typeface="+mn-cs"/>
                        </a:rPr>
                        <a:t> do not evaluate</a:t>
                      </a:r>
                      <a:endParaRPr lang="en-US" sz="1600" b="0" i="0" kern="1200" dirty="0" smtClean="0">
                        <a:solidFill>
                          <a:schemeClr val="bg1">
                            <a:lumMod val="85000"/>
                          </a:schemeClr>
                        </a:solidFill>
                        <a:latin typeface="+mj-lt"/>
                        <a:ea typeface="+mn-ea"/>
                        <a:cs typeface="+mn-cs"/>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rowSpan="2">
                  <a:txBody>
                    <a:bodyPr/>
                    <a:lstStyle/>
                    <a:p>
                      <a:pPr algn="ctr"/>
                      <a:r>
                        <a:rPr lang="en-US" sz="1600" b="1" i="1" dirty="0" err="1" smtClean="0">
                          <a:solidFill>
                            <a:schemeClr val="accent1">
                              <a:lumMod val="50000"/>
                            </a:schemeClr>
                          </a:solidFill>
                          <a:latin typeface="+mj-lt"/>
                        </a:rPr>
                        <a:t>EventDriven</a:t>
                      </a:r>
                      <a:r>
                        <a:rPr lang="en-US" sz="1600" b="1" i="1" dirty="0" smtClean="0">
                          <a:solidFill>
                            <a:schemeClr val="accent1">
                              <a:lumMod val="50000"/>
                            </a:schemeClr>
                          </a:solidFill>
                          <a:latin typeface="+mj-lt"/>
                        </a:rPr>
                        <a:t>(EVDRIV):</a:t>
                      </a:r>
                      <a:r>
                        <a:rPr lang="en-US" sz="1600" dirty="0" smtClean="0">
                          <a:latin typeface="+mj-lt"/>
                        </a:rPr>
                        <a:t> capture</a:t>
                      </a:r>
                      <a:r>
                        <a:rPr lang="en-US" sz="1600" baseline="0" dirty="0" smtClean="0">
                          <a:latin typeface="+mj-lt"/>
                        </a:rPr>
                        <a:t> </a:t>
                      </a:r>
                      <a:r>
                        <a:rPr lang="en-US" sz="1600" b="1" baseline="0" dirty="0" smtClean="0">
                          <a:latin typeface="+mj-lt"/>
                        </a:rPr>
                        <a:t>phase changes</a:t>
                      </a:r>
                      <a:r>
                        <a:rPr lang="en-US" sz="1600" baseline="0" dirty="0" smtClean="0">
                          <a:latin typeface="+mj-lt"/>
                        </a:rPr>
                        <a:t> </a:t>
                      </a:r>
                      <a:r>
                        <a:rPr lang="en-US" sz="1600" dirty="0" smtClean="0">
                          <a:latin typeface="+mj-lt"/>
                        </a:rPr>
                        <a:t>by adapting when IPC or</a:t>
                      </a:r>
                      <a:r>
                        <a:rPr lang="en-US" sz="1600" baseline="0" dirty="0" smtClean="0">
                          <a:latin typeface="+mj-lt"/>
                        </a:rPr>
                        <a:t> </a:t>
                      </a:r>
                      <a:r>
                        <a:rPr lang="en-US" sz="1600" dirty="0" smtClean="0">
                          <a:latin typeface="+mj-lt"/>
                        </a:rPr>
                        <a:t>cache</a:t>
                      </a:r>
                      <a:r>
                        <a:rPr lang="en-US" sz="1600" baseline="0" dirty="0" smtClean="0">
                          <a:latin typeface="+mj-lt"/>
                        </a:rPr>
                        <a:t> misses/instr. change by more than 30%</a:t>
                      </a:r>
                      <a:endParaRPr lang="en-US" sz="1600" b="0" i="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1"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i="1" dirty="0" smtClean="0">
                          <a:solidFill>
                            <a:schemeClr val="bg1">
                              <a:lumMod val="85000"/>
                            </a:schemeClr>
                          </a:solidFill>
                          <a:latin typeface="+mj-lt"/>
                        </a:rPr>
                        <a:t>SAMPLE:</a:t>
                      </a:r>
                      <a:r>
                        <a:rPr lang="en-US" sz="1600" dirty="0" smtClean="0">
                          <a:solidFill>
                            <a:schemeClr val="bg1">
                              <a:lumMod val="85000"/>
                            </a:schemeClr>
                          </a:solidFill>
                          <a:latin typeface="+mj-lt"/>
                        </a:rPr>
                        <a:t> </a:t>
                      </a:r>
                      <a:r>
                        <a:rPr lang="en-US" sz="1600" u="none" dirty="0" smtClean="0">
                          <a:solidFill>
                            <a:schemeClr val="bg1">
                              <a:lumMod val="85000"/>
                            </a:schemeClr>
                          </a:solidFill>
                          <a:latin typeface="+mj-lt"/>
                        </a:rPr>
                        <a:t>sample</a:t>
                      </a:r>
                      <a:r>
                        <a:rPr lang="en-US" sz="1600" u="none" baseline="0" dirty="0" smtClean="0">
                          <a:solidFill>
                            <a:schemeClr val="bg1">
                              <a:lumMod val="85000"/>
                            </a:schemeClr>
                          </a:solidFill>
                          <a:latin typeface="+mj-lt"/>
                        </a:rPr>
                        <a:t> different configurations and pick the one with highest instructions per cycle (</a:t>
                      </a:r>
                      <a:r>
                        <a:rPr lang="en-US" sz="1600" u="none" baseline="0" dirty="0" err="1" smtClean="0">
                          <a:solidFill>
                            <a:schemeClr val="bg1">
                              <a:lumMod val="85000"/>
                            </a:schemeClr>
                          </a:solidFill>
                          <a:latin typeface="+mj-lt"/>
                        </a:rPr>
                        <a:t>ipc</a:t>
                      </a:r>
                      <a:r>
                        <a:rPr lang="en-US" sz="1600" u="none" baseline="0" dirty="0" smtClean="0">
                          <a:solidFill>
                            <a:schemeClr val="bg1">
                              <a:lumMod val="85000"/>
                            </a:schemeClr>
                          </a:solidFill>
                          <a:latin typeface="+mj-lt"/>
                        </a:rPr>
                        <a:t>)</a:t>
                      </a:r>
                      <a:endParaRPr lang="en-US" sz="1600" b="0" i="0" u="none"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8366">
                <a:tc vMerge="1">
                  <a:txBody>
                    <a:bodyPr/>
                    <a:lstStyle/>
                    <a:p>
                      <a:endParaRPr lang="en-US" sz="1600" b="0" i="0"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bg1">
                              <a:lumMod val="85000"/>
                            </a:schemeClr>
                          </a:solidFill>
                          <a:latin typeface="+mj-lt"/>
                        </a:rPr>
                        <a:t>SCORE:</a:t>
                      </a:r>
                      <a:r>
                        <a:rPr lang="en-US" sz="1600" dirty="0" smtClean="0">
                          <a:solidFill>
                            <a:schemeClr val="bg1">
                              <a:lumMod val="85000"/>
                            </a:schemeClr>
                          </a:solidFill>
                          <a:latin typeface="+mj-lt"/>
                        </a:rPr>
                        <a:t> evaluate</a:t>
                      </a:r>
                      <a:r>
                        <a:rPr lang="en-US" sz="1600" baseline="0" dirty="0" smtClean="0">
                          <a:solidFill>
                            <a:schemeClr val="bg1">
                              <a:lumMod val="85000"/>
                            </a:schemeClr>
                          </a:solidFill>
                          <a:latin typeface="+mj-lt"/>
                        </a:rPr>
                        <a:t> configurations  based on </a:t>
                      </a:r>
                      <a:r>
                        <a:rPr lang="en-US" sz="1600" b="1" baseline="0" dirty="0" smtClean="0">
                          <a:solidFill>
                            <a:schemeClr val="bg1">
                              <a:lumMod val="85000"/>
                            </a:schemeClr>
                          </a:solidFill>
                          <a:latin typeface="+mj-lt"/>
                        </a:rPr>
                        <a:t>which provides more of the bottleneck resource.</a:t>
                      </a:r>
                      <a:r>
                        <a:rPr lang="en-US" sz="1600" baseline="0" dirty="0" smtClean="0">
                          <a:solidFill>
                            <a:schemeClr val="bg1">
                              <a:lumMod val="85000"/>
                            </a:schemeClr>
                          </a:solidFill>
                          <a:latin typeface="+mj-lt"/>
                        </a:rPr>
                        <a:t> Choose the highest score.</a:t>
                      </a:r>
                      <a:endParaRPr lang="en-US" sz="1600" b="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0" u="none"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89916">
                <a:tc>
                  <a:txBody>
                    <a:bodyPr/>
                    <a:lstStyle/>
                    <a:p>
                      <a:pPr algn="ctr"/>
                      <a:r>
                        <a:rPr lang="en-US" sz="1600" b="1" i="1" dirty="0" err="1" smtClean="0">
                          <a:solidFill>
                            <a:schemeClr val="accent1">
                              <a:lumMod val="50000"/>
                            </a:schemeClr>
                          </a:solidFill>
                          <a:latin typeface="+mj-lt"/>
                        </a:rPr>
                        <a:t>AdaptiveInterval</a:t>
                      </a:r>
                      <a:r>
                        <a:rPr lang="en-US" sz="1600" b="1" i="1" dirty="0" smtClean="0">
                          <a:solidFill>
                            <a:schemeClr val="accent1">
                              <a:lumMod val="50000"/>
                            </a:schemeClr>
                          </a:solidFill>
                          <a:latin typeface="+mj-lt"/>
                        </a:rPr>
                        <a:t>(INTVAD):</a:t>
                      </a:r>
                      <a:r>
                        <a:rPr lang="en-US" sz="1600" dirty="0" smtClean="0">
                          <a:latin typeface="+mj-lt"/>
                        </a:rPr>
                        <a:t> </a:t>
                      </a:r>
                      <a:r>
                        <a:rPr lang="en-US" sz="1600" baseline="0" dirty="0" smtClean="0">
                          <a:latin typeface="+mj-lt"/>
                        </a:rPr>
                        <a:t> </a:t>
                      </a:r>
                      <a:r>
                        <a:rPr lang="en-US" sz="1600" b="1" baseline="0" dirty="0" smtClean="0">
                          <a:latin typeface="+mj-lt"/>
                        </a:rPr>
                        <a:t>mitigate adaptation costs</a:t>
                      </a:r>
                      <a:r>
                        <a:rPr lang="en-US" sz="1600" baseline="0" dirty="0" smtClean="0">
                          <a:latin typeface="+mj-lt"/>
                        </a:rPr>
                        <a:t> by extending interval when cannot find better configurations, shrink it otherwise. (0.5M – 8M cycles)</a:t>
                      </a:r>
                      <a:endParaRPr lang="en-US" sz="1600" b="0" i="1"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3200" b="0" dirty="0">
                        <a:latin typeface="Arial Narrow" pitchFamily="34" charset="0"/>
                      </a:endParaRPr>
                    </a:p>
                  </a:txBody>
                  <a:tcPr/>
                </a:tc>
                <a:tc vMerge="1">
                  <a:txBody>
                    <a:bodyPr/>
                    <a:lstStyle/>
                    <a:p>
                      <a:endParaRPr lang="en-US" sz="2400" b="0" dirty="0">
                        <a:latin typeface="Arial Narrow" pitchFamily="34" charset="0"/>
                      </a:endParaRPr>
                    </a:p>
                  </a:txBody>
                  <a:tcPr/>
                </a:tc>
              </a:tr>
            </a:tbl>
          </a:graphicData>
        </a:graphic>
      </p:graphicFrame>
      <p:sp>
        <p:nvSpPr>
          <p:cNvPr id="22530" name="Title 1"/>
          <p:cNvSpPr>
            <a:spLocks noGrp="1"/>
          </p:cNvSpPr>
          <p:nvPr>
            <p:ph type="title"/>
            <p:custDataLst>
              <p:tags r:id="rId3"/>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4"/>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5" name="Slide Number Placeholder 4"/>
          <p:cNvSpPr>
            <a:spLocks noGrp="1"/>
          </p:cNvSpPr>
          <p:nvPr>
            <p:ph type="sldNum" sz="quarter" idx="12"/>
            <p:custDataLst>
              <p:tags r:id="rId5"/>
            </p:custDataLst>
          </p:nvPr>
        </p:nvSpPr>
        <p:spPr/>
        <p:txBody>
          <a:bodyPr/>
          <a:lstStyle/>
          <a:p>
            <a:pPr>
              <a:defRPr/>
            </a:pPr>
            <a:fld id="{D55EA07C-EBE0-4628-96D1-251E6318A2BE}" type="slidenum">
              <a:rPr lang="en-US" altLang="en-US" smtClean="0"/>
              <a:pPr>
                <a:defRPr/>
              </a:pPr>
              <a:t>36</a:t>
            </a:fld>
            <a:endParaRPr lang="en-US" altLang="en-US" dirty="0"/>
          </a:p>
        </p:txBody>
      </p:sp>
      <p:cxnSp>
        <p:nvCxnSpPr>
          <p:cNvPr id="8" name="Straight Connector 7"/>
          <p:cNvCxnSpPr/>
          <p:nvPr>
            <p:custDataLst>
              <p:tags r:id="rId6"/>
            </p:custDataLst>
          </p:nvPr>
        </p:nvCxnSpPr>
        <p:spPr>
          <a:xfrm rot="5400000">
            <a:off x="1029111" y="3390489"/>
            <a:ext cx="4495799" cy="8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7"/>
            </p:custDataLst>
          </p:nvPr>
        </p:nvCxnSpPr>
        <p:spPr>
          <a:xfrm rot="5400000">
            <a:off x="3695290" y="3389694"/>
            <a:ext cx="4495005" cy="1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2"/>
            </p:custDataLst>
          </p:nvPr>
        </p:nvGraphicFramePr>
        <p:xfrm>
          <a:off x="381000" y="1143000"/>
          <a:ext cx="8305800" cy="4495800"/>
        </p:xfrm>
        <a:graphic>
          <a:graphicData uri="http://schemas.openxmlformats.org/drawingml/2006/table">
            <a:tbl>
              <a:tblPr firstRow="1">
                <a:tableStyleId>{B301B821-A1FF-4177-AEE7-76D212191A09}</a:tableStyleId>
              </a:tblPr>
              <a:tblGrid>
                <a:gridCol w="2895600"/>
                <a:gridCol w="2641600"/>
                <a:gridCol w="2768600"/>
              </a:tblGrid>
              <a:tr h="744406">
                <a:tc>
                  <a:txBody>
                    <a:bodyPr/>
                    <a:lstStyle/>
                    <a:p>
                      <a:pPr algn="ctr"/>
                      <a:endParaRPr lang="en-US" sz="700" dirty="0" smtClean="0">
                        <a:latin typeface="+mj-lt"/>
                      </a:endParaRPr>
                    </a:p>
                    <a:p>
                      <a:pPr algn="ctr"/>
                      <a:r>
                        <a:rPr lang="en-US" sz="2000" dirty="0" smtClean="0">
                          <a:latin typeface="+mj-lt"/>
                        </a:rPr>
                        <a:t>When to adapt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Which configuration to choose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How to evaluate a</a:t>
                      </a:r>
                      <a:r>
                        <a:rPr lang="en-US" sz="2000" baseline="0" dirty="0" smtClean="0">
                          <a:latin typeface="+mj-lt"/>
                        </a:rPr>
                        <a:t> configuration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a:txBody>
                    <a:bodyPr/>
                    <a:lstStyle/>
                    <a:p>
                      <a:pPr algn="ctr"/>
                      <a:r>
                        <a:rPr lang="en-US" sz="1600" b="1" i="1" dirty="0" smtClean="0">
                          <a:solidFill>
                            <a:schemeClr val="bg1">
                              <a:lumMod val="85000"/>
                            </a:schemeClr>
                          </a:solidFill>
                          <a:latin typeface="+mj-lt"/>
                        </a:rPr>
                        <a:t>Interval(INTV):</a:t>
                      </a:r>
                      <a:r>
                        <a:rPr lang="en-US" sz="1600" b="1" baseline="0" dirty="0" smtClean="0">
                          <a:solidFill>
                            <a:schemeClr val="bg1">
                              <a:lumMod val="85000"/>
                            </a:schemeClr>
                          </a:solidFill>
                          <a:latin typeface="+mj-lt"/>
                        </a:rPr>
                        <a:t> </a:t>
                      </a:r>
                      <a:r>
                        <a:rPr lang="en-US" sz="1600" baseline="0" dirty="0" smtClean="0">
                          <a:solidFill>
                            <a:schemeClr val="bg1">
                              <a:lumMod val="85000"/>
                            </a:schemeClr>
                          </a:solidFill>
                          <a:latin typeface="+mj-lt"/>
                        </a:rPr>
                        <a:t>every fixed interval of cycles (2M cycles)</a:t>
                      </a:r>
                      <a:endParaRPr lang="en-US" sz="1600" b="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accent1">
                              <a:lumMod val="50000"/>
                            </a:schemeClr>
                          </a:solidFill>
                          <a:latin typeface="+mj-lt"/>
                        </a:rPr>
                        <a:t>RANDOM: </a:t>
                      </a:r>
                      <a:r>
                        <a:rPr lang="en-US" sz="1600" dirty="0" smtClean="0">
                          <a:latin typeface="+mj-lt"/>
                        </a:rPr>
                        <a:t>randomly pick the next configuration</a:t>
                      </a:r>
                      <a:endParaRPr lang="en-US" sz="1600" b="0" i="1"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1" kern="1200" dirty="0" smtClean="0">
                          <a:solidFill>
                            <a:schemeClr val="bg1">
                              <a:lumMod val="85000"/>
                            </a:schemeClr>
                          </a:solidFill>
                          <a:latin typeface="+mj-lt"/>
                          <a:ea typeface="+mn-ea"/>
                          <a:cs typeface="+mn-cs"/>
                        </a:rPr>
                        <a:t>NONE: </a:t>
                      </a:r>
                      <a:r>
                        <a:rPr lang="en-US" sz="1600" kern="1200" dirty="0" smtClean="0">
                          <a:solidFill>
                            <a:schemeClr val="bg1">
                              <a:lumMod val="85000"/>
                            </a:schemeClr>
                          </a:solidFill>
                          <a:latin typeface="+mj-lt"/>
                          <a:ea typeface="+mn-ea"/>
                          <a:cs typeface="+mn-cs"/>
                        </a:rPr>
                        <a:t>pick the chosen configuration,</a:t>
                      </a:r>
                      <a:r>
                        <a:rPr lang="en-US" sz="1600" kern="1200" baseline="0" dirty="0" smtClean="0">
                          <a:solidFill>
                            <a:schemeClr val="bg1">
                              <a:lumMod val="85000"/>
                            </a:schemeClr>
                          </a:solidFill>
                          <a:latin typeface="+mj-lt"/>
                          <a:ea typeface="+mn-ea"/>
                          <a:cs typeface="+mn-cs"/>
                        </a:rPr>
                        <a:t> do not evaluate</a:t>
                      </a:r>
                      <a:endParaRPr lang="en-US" sz="1600" b="0" i="0" kern="1200" dirty="0" smtClean="0">
                        <a:solidFill>
                          <a:schemeClr val="bg1">
                            <a:lumMod val="85000"/>
                          </a:schemeClr>
                        </a:solidFill>
                        <a:latin typeface="+mj-lt"/>
                        <a:ea typeface="+mn-ea"/>
                        <a:cs typeface="+mn-cs"/>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rowSpan="2">
                  <a:txBody>
                    <a:bodyPr/>
                    <a:lstStyle/>
                    <a:p>
                      <a:pPr algn="ctr"/>
                      <a:r>
                        <a:rPr lang="en-US" sz="1600" b="1" i="1" dirty="0" err="1" smtClean="0">
                          <a:solidFill>
                            <a:schemeClr val="bg1">
                              <a:lumMod val="85000"/>
                            </a:schemeClr>
                          </a:solidFill>
                          <a:latin typeface="+mj-lt"/>
                        </a:rPr>
                        <a:t>EventDriven</a:t>
                      </a:r>
                      <a:r>
                        <a:rPr lang="en-US" sz="1600" b="1" i="1" dirty="0" smtClean="0">
                          <a:solidFill>
                            <a:schemeClr val="bg1">
                              <a:lumMod val="85000"/>
                            </a:schemeClr>
                          </a:solidFill>
                          <a:latin typeface="+mj-lt"/>
                        </a:rPr>
                        <a:t>(EVDRIV): </a:t>
                      </a:r>
                      <a:r>
                        <a:rPr lang="en-US" sz="1600" dirty="0" smtClean="0">
                          <a:solidFill>
                            <a:schemeClr val="bg1">
                              <a:lumMod val="85000"/>
                            </a:schemeClr>
                          </a:solidFill>
                          <a:latin typeface="+mj-lt"/>
                        </a:rPr>
                        <a:t> capture</a:t>
                      </a:r>
                      <a:r>
                        <a:rPr lang="en-US" sz="1600" baseline="0" dirty="0" smtClean="0">
                          <a:solidFill>
                            <a:schemeClr val="bg1">
                              <a:lumMod val="85000"/>
                            </a:schemeClr>
                          </a:solidFill>
                          <a:latin typeface="+mj-lt"/>
                        </a:rPr>
                        <a:t> </a:t>
                      </a:r>
                      <a:r>
                        <a:rPr lang="en-US" sz="1600" b="1" baseline="0" dirty="0" smtClean="0">
                          <a:solidFill>
                            <a:schemeClr val="bg1">
                              <a:lumMod val="85000"/>
                            </a:schemeClr>
                          </a:solidFill>
                          <a:latin typeface="+mj-lt"/>
                        </a:rPr>
                        <a:t>phase changes</a:t>
                      </a:r>
                      <a:r>
                        <a:rPr lang="en-US" sz="1600" baseline="0" dirty="0" smtClean="0">
                          <a:solidFill>
                            <a:schemeClr val="bg1">
                              <a:lumMod val="85000"/>
                            </a:schemeClr>
                          </a:solidFill>
                          <a:latin typeface="+mj-lt"/>
                        </a:rPr>
                        <a:t> </a:t>
                      </a:r>
                      <a:r>
                        <a:rPr lang="en-US" sz="1600" dirty="0" smtClean="0">
                          <a:solidFill>
                            <a:schemeClr val="bg1">
                              <a:lumMod val="85000"/>
                            </a:schemeClr>
                          </a:solidFill>
                          <a:latin typeface="+mj-lt"/>
                        </a:rPr>
                        <a:t>by adapting when IPC or</a:t>
                      </a:r>
                      <a:r>
                        <a:rPr lang="en-US" sz="1600" baseline="0" dirty="0" smtClean="0">
                          <a:solidFill>
                            <a:schemeClr val="bg1">
                              <a:lumMod val="85000"/>
                            </a:schemeClr>
                          </a:solidFill>
                          <a:latin typeface="+mj-lt"/>
                        </a:rPr>
                        <a:t> </a:t>
                      </a:r>
                      <a:r>
                        <a:rPr lang="en-US" sz="1600" dirty="0" smtClean="0">
                          <a:solidFill>
                            <a:schemeClr val="bg1">
                              <a:lumMod val="85000"/>
                            </a:schemeClr>
                          </a:solidFill>
                          <a:latin typeface="+mj-lt"/>
                        </a:rPr>
                        <a:t>cache</a:t>
                      </a:r>
                      <a:r>
                        <a:rPr lang="en-US" sz="1600" baseline="0" dirty="0" smtClean="0">
                          <a:solidFill>
                            <a:schemeClr val="bg1">
                              <a:lumMod val="85000"/>
                            </a:schemeClr>
                          </a:solidFill>
                          <a:latin typeface="+mj-lt"/>
                        </a:rPr>
                        <a:t> misses/instr. change by more than 30%</a:t>
                      </a:r>
                      <a:endParaRPr lang="en-US" sz="1600" b="0" i="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1"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i="1" dirty="0" smtClean="0">
                          <a:solidFill>
                            <a:schemeClr val="bg1">
                              <a:lumMod val="85000"/>
                            </a:schemeClr>
                          </a:solidFill>
                          <a:latin typeface="+mj-lt"/>
                        </a:rPr>
                        <a:t>SAMPLE:</a:t>
                      </a:r>
                      <a:r>
                        <a:rPr lang="en-US" sz="1600" dirty="0" smtClean="0">
                          <a:solidFill>
                            <a:schemeClr val="bg1">
                              <a:lumMod val="85000"/>
                            </a:schemeClr>
                          </a:solidFill>
                          <a:latin typeface="+mj-lt"/>
                        </a:rPr>
                        <a:t> </a:t>
                      </a:r>
                      <a:r>
                        <a:rPr lang="en-US" sz="1600" u="none" dirty="0" smtClean="0">
                          <a:solidFill>
                            <a:schemeClr val="bg1">
                              <a:lumMod val="85000"/>
                            </a:schemeClr>
                          </a:solidFill>
                          <a:latin typeface="+mj-lt"/>
                        </a:rPr>
                        <a:t>sample</a:t>
                      </a:r>
                      <a:r>
                        <a:rPr lang="en-US" sz="1600" u="none" baseline="0" dirty="0" smtClean="0">
                          <a:solidFill>
                            <a:schemeClr val="bg1">
                              <a:lumMod val="85000"/>
                            </a:schemeClr>
                          </a:solidFill>
                          <a:latin typeface="+mj-lt"/>
                        </a:rPr>
                        <a:t> different configurations and pick the one with highest instructions per cycle (</a:t>
                      </a:r>
                      <a:r>
                        <a:rPr lang="en-US" sz="1600" u="none" baseline="0" dirty="0" err="1" smtClean="0">
                          <a:solidFill>
                            <a:schemeClr val="bg1">
                              <a:lumMod val="85000"/>
                            </a:schemeClr>
                          </a:solidFill>
                          <a:latin typeface="+mj-lt"/>
                        </a:rPr>
                        <a:t>ipc</a:t>
                      </a:r>
                      <a:r>
                        <a:rPr lang="en-US" sz="1600" u="none" baseline="0" dirty="0" smtClean="0">
                          <a:solidFill>
                            <a:schemeClr val="bg1">
                              <a:lumMod val="85000"/>
                            </a:schemeClr>
                          </a:solidFill>
                          <a:latin typeface="+mj-lt"/>
                        </a:rPr>
                        <a:t>)</a:t>
                      </a:r>
                      <a:endParaRPr lang="en-US" sz="1600" b="0" i="0" u="none"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8366">
                <a:tc vMerge="1">
                  <a:txBody>
                    <a:bodyPr/>
                    <a:lstStyle/>
                    <a:p>
                      <a:endParaRPr lang="en-US" sz="1600" b="0" i="0"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accent1">
                              <a:lumMod val="50000"/>
                            </a:schemeClr>
                          </a:solidFill>
                          <a:latin typeface="+mj-lt"/>
                        </a:rPr>
                        <a:t>SCORE:</a:t>
                      </a:r>
                      <a:r>
                        <a:rPr lang="en-US" sz="1600" dirty="0" smtClean="0">
                          <a:latin typeface="+mj-lt"/>
                        </a:rPr>
                        <a:t> evaluate</a:t>
                      </a:r>
                      <a:r>
                        <a:rPr lang="en-US" sz="1600" baseline="0" dirty="0" smtClean="0">
                          <a:latin typeface="+mj-lt"/>
                        </a:rPr>
                        <a:t> configurations  based on </a:t>
                      </a:r>
                      <a:r>
                        <a:rPr lang="en-US" sz="1600" b="1" baseline="0" dirty="0" smtClean="0">
                          <a:latin typeface="+mj-lt"/>
                        </a:rPr>
                        <a:t>which provides more of the bottleneck resource.</a:t>
                      </a:r>
                      <a:r>
                        <a:rPr lang="en-US" sz="1600" baseline="0" dirty="0" smtClean="0">
                          <a:latin typeface="+mj-lt"/>
                        </a:rPr>
                        <a:t> Choose the highest score.</a:t>
                      </a:r>
                      <a:endParaRPr lang="en-US" sz="1600" b="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0" u="none"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89916">
                <a:tc>
                  <a:txBody>
                    <a:bodyPr/>
                    <a:lstStyle/>
                    <a:p>
                      <a:pPr algn="ctr"/>
                      <a:r>
                        <a:rPr lang="en-US" sz="1600" b="1" i="1" dirty="0" err="1" smtClean="0">
                          <a:solidFill>
                            <a:schemeClr val="bg1">
                              <a:lumMod val="85000"/>
                            </a:schemeClr>
                          </a:solidFill>
                          <a:latin typeface="+mj-lt"/>
                        </a:rPr>
                        <a:t>AdaptiveInterval</a:t>
                      </a:r>
                      <a:r>
                        <a:rPr lang="en-US" sz="1600" b="1" i="1" dirty="0" smtClean="0">
                          <a:solidFill>
                            <a:schemeClr val="bg1">
                              <a:lumMod val="85000"/>
                            </a:schemeClr>
                          </a:solidFill>
                          <a:latin typeface="+mj-lt"/>
                        </a:rPr>
                        <a:t>(INTVAD):</a:t>
                      </a:r>
                      <a:r>
                        <a:rPr lang="en-US" sz="1600" dirty="0" smtClean="0">
                          <a:solidFill>
                            <a:schemeClr val="bg1">
                              <a:lumMod val="85000"/>
                            </a:schemeClr>
                          </a:solidFill>
                          <a:latin typeface="+mj-lt"/>
                        </a:rPr>
                        <a:t> </a:t>
                      </a:r>
                      <a:r>
                        <a:rPr lang="en-US" sz="1600" baseline="0" dirty="0" smtClean="0">
                          <a:solidFill>
                            <a:schemeClr val="bg1">
                              <a:lumMod val="85000"/>
                            </a:schemeClr>
                          </a:solidFill>
                          <a:latin typeface="+mj-lt"/>
                        </a:rPr>
                        <a:t> </a:t>
                      </a:r>
                      <a:r>
                        <a:rPr lang="en-US" sz="1600" b="1" baseline="0" dirty="0" smtClean="0">
                          <a:solidFill>
                            <a:schemeClr val="bg1">
                              <a:lumMod val="85000"/>
                            </a:schemeClr>
                          </a:solidFill>
                          <a:latin typeface="+mj-lt"/>
                        </a:rPr>
                        <a:t>mitigate adaptation costs</a:t>
                      </a:r>
                      <a:r>
                        <a:rPr lang="en-US" sz="1600" baseline="0" dirty="0" smtClean="0">
                          <a:solidFill>
                            <a:schemeClr val="bg1">
                              <a:lumMod val="85000"/>
                            </a:schemeClr>
                          </a:solidFill>
                          <a:latin typeface="+mj-lt"/>
                        </a:rPr>
                        <a:t> by extending interval when cannot find better configurations, shrink it otherwise. (0.5M – 8M cycles)</a:t>
                      </a:r>
                      <a:endParaRPr lang="en-US" sz="1600" b="0" i="1"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3200" b="0" dirty="0">
                        <a:latin typeface="Arial Narrow" pitchFamily="34" charset="0"/>
                      </a:endParaRPr>
                    </a:p>
                  </a:txBody>
                  <a:tcPr/>
                </a:tc>
                <a:tc vMerge="1">
                  <a:txBody>
                    <a:bodyPr/>
                    <a:lstStyle/>
                    <a:p>
                      <a:endParaRPr lang="en-US" sz="2400" b="0" dirty="0">
                        <a:latin typeface="Arial Narrow" pitchFamily="34" charset="0"/>
                      </a:endParaRPr>
                    </a:p>
                  </a:txBody>
                  <a:tcPr/>
                </a:tc>
              </a:tr>
            </a:tbl>
          </a:graphicData>
        </a:graphic>
      </p:graphicFrame>
      <p:sp>
        <p:nvSpPr>
          <p:cNvPr id="22530" name="Title 1"/>
          <p:cNvSpPr>
            <a:spLocks noGrp="1"/>
          </p:cNvSpPr>
          <p:nvPr>
            <p:ph type="title"/>
            <p:custDataLst>
              <p:tags r:id="rId3"/>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4"/>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5" name="Slide Number Placeholder 4"/>
          <p:cNvSpPr>
            <a:spLocks noGrp="1"/>
          </p:cNvSpPr>
          <p:nvPr>
            <p:ph type="sldNum" sz="quarter" idx="12"/>
            <p:custDataLst>
              <p:tags r:id="rId5"/>
            </p:custDataLst>
          </p:nvPr>
        </p:nvSpPr>
        <p:spPr/>
        <p:txBody>
          <a:bodyPr/>
          <a:lstStyle/>
          <a:p>
            <a:pPr>
              <a:defRPr/>
            </a:pPr>
            <a:fld id="{D55EA07C-EBE0-4628-96D1-251E6318A2BE}" type="slidenum">
              <a:rPr lang="en-US" altLang="en-US" smtClean="0"/>
              <a:pPr>
                <a:defRPr/>
              </a:pPr>
              <a:t>37</a:t>
            </a:fld>
            <a:endParaRPr lang="en-US" altLang="en-US" dirty="0"/>
          </a:p>
        </p:txBody>
      </p:sp>
      <p:cxnSp>
        <p:nvCxnSpPr>
          <p:cNvPr id="8" name="Straight Connector 7"/>
          <p:cNvCxnSpPr/>
          <p:nvPr>
            <p:custDataLst>
              <p:tags r:id="rId6"/>
            </p:custDataLst>
          </p:nvPr>
        </p:nvCxnSpPr>
        <p:spPr>
          <a:xfrm rot="5400000">
            <a:off x="1029111" y="3390489"/>
            <a:ext cx="4495799" cy="8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7"/>
            </p:custDataLst>
          </p:nvPr>
        </p:nvCxnSpPr>
        <p:spPr>
          <a:xfrm rot="5400000">
            <a:off x="3695290" y="3389694"/>
            <a:ext cx="4495005" cy="1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2"/>
            </p:custDataLst>
          </p:nvPr>
        </p:nvGraphicFramePr>
        <p:xfrm>
          <a:off x="381000" y="1143000"/>
          <a:ext cx="8305800" cy="4495800"/>
        </p:xfrm>
        <a:graphic>
          <a:graphicData uri="http://schemas.openxmlformats.org/drawingml/2006/table">
            <a:tbl>
              <a:tblPr firstRow="1">
                <a:tableStyleId>{B301B821-A1FF-4177-AEE7-76D212191A09}</a:tableStyleId>
              </a:tblPr>
              <a:tblGrid>
                <a:gridCol w="2895600"/>
                <a:gridCol w="2641600"/>
                <a:gridCol w="2768600"/>
              </a:tblGrid>
              <a:tr h="744406">
                <a:tc>
                  <a:txBody>
                    <a:bodyPr/>
                    <a:lstStyle/>
                    <a:p>
                      <a:pPr algn="ctr"/>
                      <a:endParaRPr lang="en-US" sz="700" dirty="0" smtClean="0">
                        <a:latin typeface="+mj-lt"/>
                      </a:endParaRPr>
                    </a:p>
                    <a:p>
                      <a:pPr algn="ctr"/>
                      <a:r>
                        <a:rPr lang="en-US" sz="2000" dirty="0" smtClean="0">
                          <a:latin typeface="+mj-lt"/>
                        </a:rPr>
                        <a:t>When to adapt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Which configuration to choose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How to evaluate a</a:t>
                      </a:r>
                      <a:r>
                        <a:rPr lang="en-US" sz="2000" baseline="0" dirty="0" smtClean="0">
                          <a:latin typeface="+mj-lt"/>
                        </a:rPr>
                        <a:t> configuration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a:txBody>
                    <a:bodyPr/>
                    <a:lstStyle/>
                    <a:p>
                      <a:pPr algn="ctr"/>
                      <a:r>
                        <a:rPr lang="en-US" sz="1600" b="1" i="1" dirty="0" smtClean="0">
                          <a:solidFill>
                            <a:schemeClr val="bg1">
                              <a:lumMod val="85000"/>
                            </a:schemeClr>
                          </a:solidFill>
                          <a:latin typeface="+mj-lt"/>
                        </a:rPr>
                        <a:t>Interval(INTV):</a:t>
                      </a:r>
                      <a:r>
                        <a:rPr lang="en-US" sz="1600" b="1" baseline="0" dirty="0" smtClean="0">
                          <a:solidFill>
                            <a:schemeClr val="bg1">
                              <a:lumMod val="85000"/>
                            </a:schemeClr>
                          </a:solidFill>
                          <a:latin typeface="+mj-lt"/>
                        </a:rPr>
                        <a:t> </a:t>
                      </a:r>
                      <a:r>
                        <a:rPr lang="en-US" sz="1600" baseline="0" dirty="0" smtClean="0">
                          <a:solidFill>
                            <a:schemeClr val="bg1">
                              <a:lumMod val="85000"/>
                            </a:schemeClr>
                          </a:solidFill>
                          <a:latin typeface="+mj-lt"/>
                        </a:rPr>
                        <a:t>every fixed interval of cycles (2M cycles)</a:t>
                      </a:r>
                      <a:endParaRPr lang="en-US" sz="1600" b="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bg1">
                              <a:lumMod val="85000"/>
                            </a:schemeClr>
                          </a:solidFill>
                          <a:latin typeface="+mj-lt"/>
                        </a:rPr>
                        <a:t>RANDOM: </a:t>
                      </a:r>
                      <a:r>
                        <a:rPr lang="en-US" sz="1600" dirty="0" smtClean="0">
                          <a:solidFill>
                            <a:schemeClr val="bg1">
                              <a:lumMod val="85000"/>
                            </a:schemeClr>
                          </a:solidFill>
                          <a:latin typeface="+mj-lt"/>
                        </a:rPr>
                        <a:t>randomly pick the next configuration</a:t>
                      </a:r>
                      <a:endParaRPr lang="en-US" sz="1600" b="0" i="1"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i="1" dirty="0" smtClean="0">
                          <a:solidFill>
                            <a:schemeClr val="accent1">
                              <a:lumMod val="50000"/>
                            </a:schemeClr>
                          </a:solidFill>
                          <a:latin typeface="+mj-lt"/>
                        </a:rPr>
                        <a:t>NONE: </a:t>
                      </a:r>
                      <a:r>
                        <a:rPr lang="en-US" sz="1600" dirty="0" smtClean="0">
                          <a:latin typeface="+mj-lt"/>
                        </a:rPr>
                        <a:t>pick the chosen configuration,</a:t>
                      </a:r>
                      <a:r>
                        <a:rPr lang="en-US" sz="1600" baseline="0" dirty="0" smtClean="0">
                          <a:latin typeface="+mj-lt"/>
                        </a:rPr>
                        <a:t> do not evaluate</a:t>
                      </a:r>
                      <a:endParaRPr lang="en-US" sz="1600" b="0" i="0"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rowSpan="2">
                  <a:txBody>
                    <a:bodyPr/>
                    <a:lstStyle/>
                    <a:p>
                      <a:pPr algn="ctr"/>
                      <a:r>
                        <a:rPr lang="en-US" sz="1600" b="1" i="1" dirty="0" err="1" smtClean="0">
                          <a:solidFill>
                            <a:schemeClr val="bg1">
                              <a:lumMod val="85000"/>
                            </a:schemeClr>
                          </a:solidFill>
                          <a:latin typeface="+mj-lt"/>
                        </a:rPr>
                        <a:t>EventDriven</a:t>
                      </a:r>
                      <a:r>
                        <a:rPr lang="en-US" sz="1600" b="1" i="1" dirty="0" smtClean="0">
                          <a:solidFill>
                            <a:schemeClr val="bg1">
                              <a:lumMod val="85000"/>
                            </a:schemeClr>
                          </a:solidFill>
                          <a:latin typeface="+mj-lt"/>
                        </a:rPr>
                        <a:t>(EVDRIV): </a:t>
                      </a:r>
                      <a:r>
                        <a:rPr lang="en-US" sz="1600" dirty="0" smtClean="0">
                          <a:solidFill>
                            <a:schemeClr val="bg1">
                              <a:lumMod val="85000"/>
                            </a:schemeClr>
                          </a:solidFill>
                          <a:latin typeface="+mj-lt"/>
                        </a:rPr>
                        <a:t> capture</a:t>
                      </a:r>
                      <a:r>
                        <a:rPr lang="en-US" sz="1600" baseline="0" dirty="0" smtClean="0">
                          <a:solidFill>
                            <a:schemeClr val="bg1">
                              <a:lumMod val="85000"/>
                            </a:schemeClr>
                          </a:solidFill>
                          <a:latin typeface="+mj-lt"/>
                        </a:rPr>
                        <a:t> </a:t>
                      </a:r>
                      <a:r>
                        <a:rPr lang="en-US" sz="1600" b="1" baseline="0" dirty="0" smtClean="0">
                          <a:solidFill>
                            <a:schemeClr val="bg1">
                              <a:lumMod val="85000"/>
                            </a:schemeClr>
                          </a:solidFill>
                          <a:latin typeface="+mj-lt"/>
                        </a:rPr>
                        <a:t>phase changes</a:t>
                      </a:r>
                      <a:r>
                        <a:rPr lang="en-US" sz="1600" baseline="0" dirty="0" smtClean="0">
                          <a:solidFill>
                            <a:schemeClr val="bg1">
                              <a:lumMod val="85000"/>
                            </a:schemeClr>
                          </a:solidFill>
                          <a:latin typeface="+mj-lt"/>
                        </a:rPr>
                        <a:t> </a:t>
                      </a:r>
                      <a:r>
                        <a:rPr lang="en-US" sz="1600" dirty="0" smtClean="0">
                          <a:solidFill>
                            <a:schemeClr val="bg1">
                              <a:lumMod val="85000"/>
                            </a:schemeClr>
                          </a:solidFill>
                          <a:latin typeface="+mj-lt"/>
                        </a:rPr>
                        <a:t>by adapting when IPC or</a:t>
                      </a:r>
                      <a:r>
                        <a:rPr lang="en-US" sz="1600" baseline="0" dirty="0" smtClean="0">
                          <a:solidFill>
                            <a:schemeClr val="bg1">
                              <a:lumMod val="85000"/>
                            </a:schemeClr>
                          </a:solidFill>
                          <a:latin typeface="+mj-lt"/>
                        </a:rPr>
                        <a:t> </a:t>
                      </a:r>
                      <a:r>
                        <a:rPr lang="en-US" sz="1600" dirty="0" smtClean="0">
                          <a:solidFill>
                            <a:schemeClr val="bg1">
                              <a:lumMod val="85000"/>
                            </a:schemeClr>
                          </a:solidFill>
                          <a:latin typeface="+mj-lt"/>
                        </a:rPr>
                        <a:t>cache</a:t>
                      </a:r>
                      <a:r>
                        <a:rPr lang="en-US" sz="1600" baseline="0" dirty="0" smtClean="0">
                          <a:solidFill>
                            <a:schemeClr val="bg1">
                              <a:lumMod val="85000"/>
                            </a:schemeClr>
                          </a:solidFill>
                          <a:latin typeface="+mj-lt"/>
                        </a:rPr>
                        <a:t> misses/instr. change by more than 30%</a:t>
                      </a:r>
                      <a:endParaRPr lang="en-US" sz="1600" b="0" i="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1"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i="1" dirty="0" smtClean="0">
                          <a:solidFill>
                            <a:schemeClr val="accent1">
                              <a:lumMod val="50000"/>
                            </a:schemeClr>
                          </a:solidFill>
                          <a:latin typeface="+mj-lt"/>
                        </a:rPr>
                        <a:t>SAMPLE:</a:t>
                      </a:r>
                      <a:r>
                        <a:rPr lang="en-US" sz="1600" dirty="0" smtClean="0">
                          <a:latin typeface="+mj-lt"/>
                        </a:rPr>
                        <a:t> </a:t>
                      </a:r>
                      <a:r>
                        <a:rPr lang="en-US" sz="1600" u="none" dirty="0" smtClean="0">
                          <a:latin typeface="+mj-lt"/>
                        </a:rPr>
                        <a:t>sample</a:t>
                      </a:r>
                      <a:r>
                        <a:rPr lang="en-US" sz="1600" u="none" baseline="0" dirty="0" smtClean="0">
                          <a:latin typeface="+mj-lt"/>
                        </a:rPr>
                        <a:t> different configurations and pick the one with highest instructions per cycle (</a:t>
                      </a:r>
                      <a:r>
                        <a:rPr lang="en-US" sz="1600" u="none" baseline="0" dirty="0" err="1" smtClean="0">
                          <a:latin typeface="+mj-lt"/>
                        </a:rPr>
                        <a:t>ipc</a:t>
                      </a:r>
                      <a:r>
                        <a:rPr lang="en-US" sz="1600" u="none" baseline="0" dirty="0" smtClean="0">
                          <a:latin typeface="+mj-lt"/>
                        </a:rPr>
                        <a:t>)</a:t>
                      </a:r>
                      <a:endParaRPr lang="en-US" sz="1600" b="0" i="0" u="none"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8366">
                <a:tc vMerge="1">
                  <a:txBody>
                    <a:bodyPr/>
                    <a:lstStyle/>
                    <a:p>
                      <a:endParaRPr lang="en-US" sz="1600" b="0" i="0"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bg1">
                              <a:lumMod val="85000"/>
                            </a:schemeClr>
                          </a:solidFill>
                          <a:latin typeface="+mj-lt"/>
                        </a:rPr>
                        <a:t>SCORE:</a:t>
                      </a:r>
                      <a:r>
                        <a:rPr lang="en-US" sz="1600" dirty="0" smtClean="0">
                          <a:solidFill>
                            <a:schemeClr val="bg1">
                              <a:lumMod val="85000"/>
                            </a:schemeClr>
                          </a:solidFill>
                          <a:latin typeface="+mj-lt"/>
                        </a:rPr>
                        <a:t> evaluate</a:t>
                      </a:r>
                      <a:r>
                        <a:rPr lang="en-US" sz="1600" baseline="0" dirty="0" smtClean="0">
                          <a:solidFill>
                            <a:schemeClr val="bg1">
                              <a:lumMod val="85000"/>
                            </a:schemeClr>
                          </a:solidFill>
                          <a:latin typeface="+mj-lt"/>
                        </a:rPr>
                        <a:t> configurations  based on </a:t>
                      </a:r>
                      <a:r>
                        <a:rPr lang="en-US" sz="1600" b="1" baseline="0" dirty="0" smtClean="0">
                          <a:solidFill>
                            <a:schemeClr val="bg1">
                              <a:lumMod val="85000"/>
                            </a:schemeClr>
                          </a:solidFill>
                          <a:latin typeface="+mj-lt"/>
                        </a:rPr>
                        <a:t>which provides more of the bottleneck resource.</a:t>
                      </a:r>
                      <a:r>
                        <a:rPr lang="en-US" sz="1600" baseline="0" dirty="0" smtClean="0">
                          <a:solidFill>
                            <a:schemeClr val="bg1">
                              <a:lumMod val="85000"/>
                            </a:schemeClr>
                          </a:solidFill>
                          <a:latin typeface="+mj-lt"/>
                        </a:rPr>
                        <a:t> Choose the highest score.</a:t>
                      </a:r>
                      <a:endParaRPr lang="en-US" sz="1600" b="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0" u="none"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89916">
                <a:tc>
                  <a:txBody>
                    <a:bodyPr/>
                    <a:lstStyle/>
                    <a:p>
                      <a:pPr algn="ctr"/>
                      <a:r>
                        <a:rPr lang="en-US" sz="1600" b="1" i="1" dirty="0" err="1" smtClean="0">
                          <a:solidFill>
                            <a:schemeClr val="bg1">
                              <a:lumMod val="85000"/>
                            </a:schemeClr>
                          </a:solidFill>
                          <a:latin typeface="+mj-lt"/>
                        </a:rPr>
                        <a:t>AdaptiveInterval</a:t>
                      </a:r>
                      <a:r>
                        <a:rPr lang="en-US" sz="1600" b="1" i="1" dirty="0" smtClean="0">
                          <a:solidFill>
                            <a:schemeClr val="bg1">
                              <a:lumMod val="85000"/>
                            </a:schemeClr>
                          </a:solidFill>
                          <a:latin typeface="+mj-lt"/>
                        </a:rPr>
                        <a:t>(INTVAD):</a:t>
                      </a:r>
                      <a:r>
                        <a:rPr lang="en-US" sz="1600" dirty="0" smtClean="0">
                          <a:solidFill>
                            <a:schemeClr val="bg1">
                              <a:lumMod val="85000"/>
                            </a:schemeClr>
                          </a:solidFill>
                          <a:latin typeface="+mj-lt"/>
                        </a:rPr>
                        <a:t> </a:t>
                      </a:r>
                      <a:r>
                        <a:rPr lang="en-US" sz="1600" baseline="0" dirty="0" smtClean="0">
                          <a:solidFill>
                            <a:schemeClr val="bg1">
                              <a:lumMod val="85000"/>
                            </a:schemeClr>
                          </a:solidFill>
                          <a:latin typeface="+mj-lt"/>
                        </a:rPr>
                        <a:t> </a:t>
                      </a:r>
                      <a:r>
                        <a:rPr lang="en-US" sz="1600" b="1" baseline="0" dirty="0" smtClean="0">
                          <a:solidFill>
                            <a:schemeClr val="bg1">
                              <a:lumMod val="85000"/>
                            </a:schemeClr>
                          </a:solidFill>
                          <a:latin typeface="+mj-lt"/>
                        </a:rPr>
                        <a:t>mitigate adaptation costs</a:t>
                      </a:r>
                      <a:r>
                        <a:rPr lang="en-US" sz="1600" baseline="0" dirty="0" smtClean="0">
                          <a:solidFill>
                            <a:schemeClr val="bg1">
                              <a:lumMod val="85000"/>
                            </a:schemeClr>
                          </a:solidFill>
                          <a:latin typeface="+mj-lt"/>
                        </a:rPr>
                        <a:t> by extending interval when cannot find better configurations, shrink it otherwise. (0.5M – 8M cycles)</a:t>
                      </a:r>
                      <a:endParaRPr lang="en-US" sz="1600" b="0" i="1"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3200" b="0" dirty="0">
                        <a:latin typeface="Arial Narrow" pitchFamily="34" charset="0"/>
                      </a:endParaRPr>
                    </a:p>
                  </a:txBody>
                  <a:tcPr/>
                </a:tc>
                <a:tc vMerge="1">
                  <a:txBody>
                    <a:bodyPr/>
                    <a:lstStyle/>
                    <a:p>
                      <a:endParaRPr lang="en-US" sz="2400" b="0" dirty="0">
                        <a:latin typeface="Arial Narrow" pitchFamily="34" charset="0"/>
                      </a:endParaRPr>
                    </a:p>
                  </a:txBody>
                  <a:tcPr/>
                </a:tc>
              </a:tr>
            </a:tbl>
          </a:graphicData>
        </a:graphic>
      </p:graphicFrame>
      <p:sp>
        <p:nvSpPr>
          <p:cNvPr id="22530" name="Title 1"/>
          <p:cNvSpPr>
            <a:spLocks noGrp="1"/>
          </p:cNvSpPr>
          <p:nvPr>
            <p:ph type="title"/>
            <p:custDataLst>
              <p:tags r:id="rId3"/>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4"/>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5" name="Slide Number Placeholder 4"/>
          <p:cNvSpPr>
            <a:spLocks noGrp="1"/>
          </p:cNvSpPr>
          <p:nvPr>
            <p:ph type="sldNum" sz="quarter" idx="12"/>
            <p:custDataLst>
              <p:tags r:id="rId5"/>
            </p:custDataLst>
          </p:nvPr>
        </p:nvSpPr>
        <p:spPr/>
        <p:txBody>
          <a:bodyPr/>
          <a:lstStyle/>
          <a:p>
            <a:pPr>
              <a:defRPr/>
            </a:pPr>
            <a:fld id="{D55EA07C-EBE0-4628-96D1-251E6318A2BE}" type="slidenum">
              <a:rPr lang="en-US" altLang="en-US" smtClean="0"/>
              <a:pPr>
                <a:defRPr/>
              </a:pPr>
              <a:t>38</a:t>
            </a:fld>
            <a:endParaRPr lang="en-US" altLang="en-US" dirty="0"/>
          </a:p>
        </p:txBody>
      </p:sp>
      <p:cxnSp>
        <p:nvCxnSpPr>
          <p:cNvPr id="8" name="Straight Connector 7"/>
          <p:cNvCxnSpPr/>
          <p:nvPr>
            <p:custDataLst>
              <p:tags r:id="rId6"/>
            </p:custDataLst>
          </p:nvPr>
        </p:nvCxnSpPr>
        <p:spPr>
          <a:xfrm rot="5400000">
            <a:off x="1029111" y="3390489"/>
            <a:ext cx="4495799" cy="8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7"/>
            </p:custDataLst>
          </p:nvPr>
        </p:nvCxnSpPr>
        <p:spPr>
          <a:xfrm rot="5400000">
            <a:off x="3695290" y="3389694"/>
            <a:ext cx="4495005" cy="1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custDataLst>
              <p:tags r:id="rId2"/>
            </p:custDataLst>
          </p:nvPr>
        </p:nvGraphicFramePr>
        <p:xfrm>
          <a:off x="381000" y="1143000"/>
          <a:ext cx="8305800" cy="4495800"/>
        </p:xfrm>
        <a:graphic>
          <a:graphicData uri="http://schemas.openxmlformats.org/drawingml/2006/table">
            <a:tbl>
              <a:tblPr firstRow="1">
                <a:tableStyleId>{B301B821-A1FF-4177-AEE7-76D212191A09}</a:tableStyleId>
              </a:tblPr>
              <a:tblGrid>
                <a:gridCol w="2895600"/>
                <a:gridCol w="2641600"/>
                <a:gridCol w="2768600"/>
              </a:tblGrid>
              <a:tr h="744406">
                <a:tc>
                  <a:txBody>
                    <a:bodyPr/>
                    <a:lstStyle/>
                    <a:p>
                      <a:pPr algn="ctr"/>
                      <a:endParaRPr lang="en-US" sz="700" dirty="0" smtClean="0">
                        <a:latin typeface="+mj-lt"/>
                      </a:endParaRPr>
                    </a:p>
                    <a:p>
                      <a:pPr algn="ctr"/>
                      <a:r>
                        <a:rPr lang="en-US" sz="2000" dirty="0" smtClean="0">
                          <a:latin typeface="+mj-lt"/>
                        </a:rPr>
                        <a:t>When to adapt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Which configuration to choose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dirty="0" smtClean="0">
                          <a:latin typeface="+mj-lt"/>
                        </a:rPr>
                        <a:t>How to evaluate a</a:t>
                      </a:r>
                      <a:r>
                        <a:rPr lang="en-US" sz="2000" baseline="0" dirty="0" smtClean="0">
                          <a:latin typeface="+mj-lt"/>
                        </a:rPr>
                        <a:t> configuration ?</a:t>
                      </a:r>
                      <a:endParaRPr lang="en-US" sz="2000" b="0" dirty="0">
                        <a:latin typeface="+mj-lt"/>
                      </a:endParaRPr>
                    </a:p>
                  </a:txBody>
                  <a:tcPr marL="93396" marR="93396" marT="46697" marB="466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a:txBody>
                    <a:bodyPr/>
                    <a:lstStyle/>
                    <a:p>
                      <a:pPr algn="ctr"/>
                      <a:r>
                        <a:rPr lang="en-US" sz="1600" b="1" i="1" dirty="0" smtClean="0">
                          <a:solidFill>
                            <a:schemeClr val="bg1">
                              <a:lumMod val="85000"/>
                            </a:schemeClr>
                          </a:solidFill>
                          <a:latin typeface="+mj-lt"/>
                        </a:rPr>
                        <a:t>Interval(INTV):</a:t>
                      </a:r>
                      <a:r>
                        <a:rPr lang="en-US" sz="1600" b="1" baseline="0" dirty="0" smtClean="0">
                          <a:solidFill>
                            <a:schemeClr val="bg1">
                              <a:lumMod val="85000"/>
                            </a:schemeClr>
                          </a:solidFill>
                          <a:latin typeface="+mj-lt"/>
                        </a:rPr>
                        <a:t> </a:t>
                      </a:r>
                      <a:r>
                        <a:rPr lang="en-US" sz="1600" baseline="0" dirty="0" smtClean="0">
                          <a:solidFill>
                            <a:schemeClr val="bg1">
                              <a:lumMod val="85000"/>
                            </a:schemeClr>
                          </a:solidFill>
                          <a:latin typeface="+mj-lt"/>
                        </a:rPr>
                        <a:t>every fixed interval of cycles (2M cycles)</a:t>
                      </a:r>
                      <a:endParaRPr lang="en-US" sz="1600" b="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i="1" dirty="0" smtClean="0">
                          <a:solidFill>
                            <a:schemeClr val="bg1">
                              <a:lumMod val="85000"/>
                            </a:schemeClr>
                          </a:solidFill>
                          <a:latin typeface="+mj-lt"/>
                        </a:rPr>
                        <a:t>RANDOM: </a:t>
                      </a:r>
                      <a:r>
                        <a:rPr lang="en-US" sz="1600" dirty="0" smtClean="0">
                          <a:solidFill>
                            <a:schemeClr val="bg1">
                              <a:lumMod val="85000"/>
                            </a:schemeClr>
                          </a:solidFill>
                          <a:latin typeface="+mj-lt"/>
                        </a:rPr>
                        <a:t>randomly pick the next configuration</a:t>
                      </a:r>
                      <a:endParaRPr lang="en-US" sz="1600" b="0" i="1"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1" kern="1200" dirty="0" smtClean="0">
                          <a:solidFill>
                            <a:schemeClr val="bg1">
                              <a:lumMod val="85000"/>
                            </a:schemeClr>
                          </a:solidFill>
                          <a:latin typeface="+mj-lt"/>
                          <a:ea typeface="+mn-ea"/>
                          <a:cs typeface="+mn-cs"/>
                        </a:rPr>
                        <a:t>NONE: </a:t>
                      </a:r>
                      <a:r>
                        <a:rPr lang="en-US" sz="1600" kern="1200" dirty="0" smtClean="0">
                          <a:solidFill>
                            <a:schemeClr val="bg1">
                              <a:lumMod val="85000"/>
                            </a:schemeClr>
                          </a:solidFill>
                          <a:latin typeface="+mj-lt"/>
                          <a:ea typeface="+mn-ea"/>
                          <a:cs typeface="+mn-cs"/>
                        </a:rPr>
                        <a:t>pick the chosen configuration,</a:t>
                      </a:r>
                      <a:r>
                        <a:rPr lang="en-US" sz="1600" kern="1200" baseline="0" dirty="0" smtClean="0">
                          <a:solidFill>
                            <a:schemeClr val="bg1">
                              <a:lumMod val="85000"/>
                            </a:schemeClr>
                          </a:solidFill>
                          <a:latin typeface="+mj-lt"/>
                          <a:ea typeface="+mn-ea"/>
                          <a:cs typeface="+mn-cs"/>
                        </a:rPr>
                        <a:t> do not evaluate</a:t>
                      </a:r>
                      <a:endParaRPr lang="en-US" sz="1600" b="0" i="0" kern="1200" dirty="0" smtClean="0">
                        <a:solidFill>
                          <a:schemeClr val="bg1">
                            <a:lumMod val="85000"/>
                          </a:schemeClr>
                        </a:solidFill>
                        <a:latin typeface="+mj-lt"/>
                        <a:ea typeface="+mn-ea"/>
                        <a:cs typeface="+mn-cs"/>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6556">
                <a:tc rowSpan="2">
                  <a:txBody>
                    <a:bodyPr/>
                    <a:lstStyle/>
                    <a:p>
                      <a:pPr algn="ctr"/>
                      <a:r>
                        <a:rPr lang="en-US" sz="1600" b="1" i="1" dirty="0" err="1" smtClean="0">
                          <a:solidFill>
                            <a:schemeClr val="bg1">
                              <a:lumMod val="85000"/>
                            </a:schemeClr>
                          </a:solidFill>
                          <a:latin typeface="+mj-lt"/>
                        </a:rPr>
                        <a:t>EventDriven</a:t>
                      </a:r>
                      <a:r>
                        <a:rPr lang="en-US" sz="1600" b="1" i="1" dirty="0" smtClean="0">
                          <a:solidFill>
                            <a:schemeClr val="bg1">
                              <a:lumMod val="85000"/>
                            </a:schemeClr>
                          </a:solidFill>
                          <a:latin typeface="+mj-lt"/>
                        </a:rPr>
                        <a:t>(EVDRIV):</a:t>
                      </a:r>
                      <a:r>
                        <a:rPr lang="en-US" sz="1600" dirty="0" smtClean="0">
                          <a:solidFill>
                            <a:schemeClr val="bg1">
                              <a:lumMod val="85000"/>
                            </a:schemeClr>
                          </a:solidFill>
                          <a:latin typeface="+mj-lt"/>
                        </a:rPr>
                        <a:t> capture</a:t>
                      </a:r>
                      <a:r>
                        <a:rPr lang="en-US" sz="1600" baseline="0" dirty="0" smtClean="0">
                          <a:solidFill>
                            <a:schemeClr val="bg1">
                              <a:lumMod val="85000"/>
                            </a:schemeClr>
                          </a:solidFill>
                          <a:latin typeface="+mj-lt"/>
                        </a:rPr>
                        <a:t> </a:t>
                      </a:r>
                      <a:r>
                        <a:rPr lang="en-US" sz="1600" b="1" baseline="0" dirty="0" smtClean="0">
                          <a:solidFill>
                            <a:schemeClr val="bg1">
                              <a:lumMod val="85000"/>
                            </a:schemeClr>
                          </a:solidFill>
                          <a:latin typeface="+mj-lt"/>
                        </a:rPr>
                        <a:t>phase changes</a:t>
                      </a:r>
                      <a:r>
                        <a:rPr lang="en-US" sz="1600" baseline="0" dirty="0" smtClean="0">
                          <a:solidFill>
                            <a:schemeClr val="bg1">
                              <a:lumMod val="85000"/>
                            </a:schemeClr>
                          </a:solidFill>
                          <a:latin typeface="+mj-lt"/>
                        </a:rPr>
                        <a:t> </a:t>
                      </a:r>
                      <a:r>
                        <a:rPr lang="en-US" sz="1600" dirty="0" smtClean="0">
                          <a:solidFill>
                            <a:schemeClr val="bg1">
                              <a:lumMod val="85000"/>
                            </a:schemeClr>
                          </a:solidFill>
                          <a:latin typeface="+mj-lt"/>
                        </a:rPr>
                        <a:t>by adapting when IPC or</a:t>
                      </a:r>
                      <a:r>
                        <a:rPr lang="en-US" sz="1600" baseline="0" dirty="0" smtClean="0">
                          <a:solidFill>
                            <a:schemeClr val="bg1">
                              <a:lumMod val="85000"/>
                            </a:schemeClr>
                          </a:solidFill>
                          <a:latin typeface="+mj-lt"/>
                        </a:rPr>
                        <a:t> </a:t>
                      </a:r>
                      <a:r>
                        <a:rPr lang="en-US" sz="1600" dirty="0" smtClean="0">
                          <a:solidFill>
                            <a:schemeClr val="bg1">
                              <a:lumMod val="85000"/>
                            </a:schemeClr>
                          </a:solidFill>
                          <a:latin typeface="+mj-lt"/>
                        </a:rPr>
                        <a:t>cache</a:t>
                      </a:r>
                      <a:r>
                        <a:rPr lang="en-US" sz="1600" baseline="0" dirty="0" smtClean="0">
                          <a:solidFill>
                            <a:schemeClr val="bg1">
                              <a:lumMod val="85000"/>
                            </a:schemeClr>
                          </a:solidFill>
                          <a:latin typeface="+mj-lt"/>
                        </a:rPr>
                        <a:t> misses/instr. change by more than 30%</a:t>
                      </a:r>
                      <a:endParaRPr lang="en-US" sz="1600" b="0" i="0" dirty="0">
                        <a:solidFill>
                          <a:schemeClr val="bg1">
                            <a:lumMod val="85000"/>
                          </a:schemeClr>
                        </a:solidFill>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1"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i="1" dirty="0" smtClean="0">
                          <a:solidFill>
                            <a:schemeClr val="accent1">
                              <a:lumMod val="50000"/>
                            </a:schemeClr>
                          </a:solidFill>
                          <a:latin typeface="+mj-lt"/>
                        </a:rPr>
                        <a:t>SAMPLE:</a:t>
                      </a:r>
                      <a:r>
                        <a:rPr lang="en-US" sz="1600" dirty="0" smtClean="0">
                          <a:latin typeface="+mj-lt"/>
                        </a:rPr>
                        <a:t> </a:t>
                      </a:r>
                      <a:r>
                        <a:rPr lang="en-US" sz="1600" u="none" dirty="0" smtClean="0">
                          <a:latin typeface="+mj-lt"/>
                        </a:rPr>
                        <a:t>sample</a:t>
                      </a:r>
                      <a:r>
                        <a:rPr lang="en-US" sz="1600" u="none" baseline="0" dirty="0" smtClean="0">
                          <a:latin typeface="+mj-lt"/>
                        </a:rPr>
                        <a:t> different configurations and pick the one with highest instructions per cycle (</a:t>
                      </a:r>
                      <a:r>
                        <a:rPr lang="en-US" sz="1600" u="none" baseline="0" dirty="0" err="1" smtClean="0">
                          <a:latin typeface="+mj-lt"/>
                        </a:rPr>
                        <a:t>ipc</a:t>
                      </a:r>
                      <a:r>
                        <a:rPr lang="en-US" sz="1600" u="none" baseline="0" dirty="0" smtClean="0">
                          <a:latin typeface="+mj-lt"/>
                        </a:rPr>
                        <a:t>)</a:t>
                      </a:r>
                      <a:endParaRPr lang="en-US" sz="1600" b="0" i="0" u="none"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28366">
                <a:tc vMerge="1">
                  <a:txBody>
                    <a:bodyPr/>
                    <a:lstStyle/>
                    <a:p>
                      <a:endParaRPr lang="en-US" sz="1600" b="0" i="0"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i="1" dirty="0" smtClean="0">
                          <a:solidFill>
                            <a:schemeClr val="accent1">
                              <a:lumMod val="50000"/>
                            </a:schemeClr>
                          </a:solidFill>
                          <a:latin typeface="+mj-lt"/>
                        </a:rPr>
                        <a:t>SCORE:</a:t>
                      </a:r>
                      <a:r>
                        <a:rPr lang="en-US" sz="1600" dirty="0" smtClean="0">
                          <a:latin typeface="+mj-lt"/>
                        </a:rPr>
                        <a:t> evaluate</a:t>
                      </a:r>
                      <a:r>
                        <a:rPr lang="en-US" sz="1600" baseline="0" dirty="0" smtClean="0">
                          <a:latin typeface="+mj-lt"/>
                        </a:rPr>
                        <a:t> configurations  based on </a:t>
                      </a:r>
                      <a:r>
                        <a:rPr lang="en-US" sz="1600" b="1" baseline="0" dirty="0" smtClean="0">
                          <a:latin typeface="+mj-lt"/>
                        </a:rPr>
                        <a:t>which provides more of the bottleneck resource.</a:t>
                      </a:r>
                      <a:r>
                        <a:rPr lang="en-US" sz="1600" baseline="0" dirty="0" smtClean="0">
                          <a:latin typeface="+mj-lt"/>
                        </a:rPr>
                        <a:t> Choose the highest score.</a:t>
                      </a:r>
                      <a:endParaRPr lang="en-US" sz="1600" b="0" dirty="0" smtClean="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1600" b="0" i="0" u="none" dirty="0">
                        <a:latin typeface="Arial Narrow" pitchFamily="34" charset="0"/>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89916">
                <a:tc>
                  <a:txBody>
                    <a:bodyPr/>
                    <a:lstStyle/>
                    <a:p>
                      <a:pPr algn="ctr"/>
                      <a:r>
                        <a:rPr lang="en-US" sz="1600" b="1" i="1" dirty="0" err="1" smtClean="0">
                          <a:solidFill>
                            <a:schemeClr val="accent1">
                              <a:lumMod val="50000"/>
                            </a:schemeClr>
                          </a:solidFill>
                          <a:latin typeface="+mj-lt"/>
                        </a:rPr>
                        <a:t>AdaptiveInterval</a:t>
                      </a:r>
                      <a:r>
                        <a:rPr lang="en-US" sz="1600" b="1" i="1" dirty="0" smtClean="0">
                          <a:solidFill>
                            <a:schemeClr val="accent1">
                              <a:lumMod val="50000"/>
                            </a:schemeClr>
                          </a:solidFill>
                          <a:latin typeface="+mj-lt"/>
                        </a:rPr>
                        <a:t>(INTVAD):</a:t>
                      </a:r>
                      <a:r>
                        <a:rPr lang="en-US" sz="1600" dirty="0" smtClean="0">
                          <a:latin typeface="+mj-lt"/>
                        </a:rPr>
                        <a:t> </a:t>
                      </a:r>
                      <a:r>
                        <a:rPr lang="en-US" sz="1600" baseline="0" dirty="0" smtClean="0">
                          <a:latin typeface="+mj-lt"/>
                        </a:rPr>
                        <a:t> </a:t>
                      </a:r>
                      <a:r>
                        <a:rPr lang="en-US" sz="1600" b="1" baseline="0" dirty="0" smtClean="0">
                          <a:latin typeface="+mj-lt"/>
                        </a:rPr>
                        <a:t>mitigate adaptation costs</a:t>
                      </a:r>
                      <a:r>
                        <a:rPr lang="en-US" sz="1600" baseline="0" dirty="0" smtClean="0">
                          <a:latin typeface="+mj-lt"/>
                        </a:rPr>
                        <a:t> by extending interval when cannot find better configurations, shrink it otherwise. (0.5M – 8M cycles)</a:t>
                      </a:r>
                      <a:endParaRPr lang="en-US" sz="1600" b="0" i="1" dirty="0">
                        <a:latin typeface="+mj-lt"/>
                      </a:endParaRPr>
                    </a:p>
                  </a:txBody>
                  <a:tcPr marL="93396" marR="93396" marT="46697" marB="46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sz="3200" b="0" dirty="0">
                        <a:latin typeface="Arial Narrow" pitchFamily="34" charset="0"/>
                      </a:endParaRPr>
                    </a:p>
                  </a:txBody>
                  <a:tcPr/>
                </a:tc>
                <a:tc vMerge="1">
                  <a:txBody>
                    <a:bodyPr/>
                    <a:lstStyle/>
                    <a:p>
                      <a:endParaRPr lang="en-US" sz="2400" b="0" dirty="0">
                        <a:latin typeface="Arial Narrow" pitchFamily="34" charset="0"/>
                      </a:endParaRPr>
                    </a:p>
                  </a:txBody>
                  <a:tcPr/>
                </a:tc>
              </a:tr>
            </a:tbl>
          </a:graphicData>
        </a:graphic>
      </p:graphicFrame>
      <p:sp>
        <p:nvSpPr>
          <p:cNvPr id="22530" name="Title 1"/>
          <p:cNvSpPr>
            <a:spLocks noGrp="1"/>
          </p:cNvSpPr>
          <p:nvPr>
            <p:ph type="title"/>
            <p:custDataLst>
              <p:tags r:id="rId3"/>
            </p:custDataLst>
          </p:nvPr>
        </p:nvSpPr>
        <p:spPr/>
        <p:txBody>
          <a:bodyPr/>
          <a:lstStyle/>
          <a:p>
            <a:r>
              <a:rPr lang="en-US" dirty="0" smtClean="0"/>
              <a:t>Realistic Adaptive Techniques</a:t>
            </a:r>
          </a:p>
        </p:txBody>
      </p:sp>
      <p:sp>
        <p:nvSpPr>
          <p:cNvPr id="22531" name="Content Placeholder 2"/>
          <p:cNvSpPr>
            <a:spLocks noGrp="1"/>
          </p:cNvSpPr>
          <p:nvPr>
            <p:ph idx="1"/>
            <p:custDataLst>
              <p:tags r:id="rId4"/>
            </p:custDataLst>
          </p:nvPr>
        </p:nvSpPr>
        <p:spPr>
          <a:xfrm>
            <a:off x="381000" y="5715000"/>
            <a:ext cx="8229600" cy="685800"/>
          </a:xfrm>
        </p:spPr>
        <p:txBody>
          <a:bodyPr/>
          <a:lstStyle/>
          <a:p>
            <a:pPr lvl="1">
              <a:buFont typeface="Wingdings" pitchFamily="2" charset="2"/>
              <a:buNone/>
            </a:pPr>
            <a:r>
              <a:rPr lang="en-US" sz="2000" dirty="0" smtClean="0"/>
              <a:t>e.g.	INTVAD_SCORE_SAMPLE</a:t>
            </a:r>
          </a:p>
        </p:txBody>
      </p:sp>
      <p:sp>
        <p:nvSpPr>
          <p:cNvPr id="4" name="Footer Placeholder 3"/>
          <p:cNvSpPr>
            <a:spLocks noGrp="1"/>
          </p:cNvSpPr>
          <p:nvPr>
            <p:ph type="ftr" sz="quarter" idx="11"/>
            <p:custDataLst>
              <p:tags r:id="rId5"/>
            </p:custDataLst>
          </p:nvPr>
        </p:nvSpPr>
        <p:spPr/>
        <p:txBody>
          <a:bodyPr/>
          <a:lstStyle/>
          <a:p>
            <a:pPr>
              <a:defRPr/>
            </a:pPr>
            <a:r>
              <a:rPr lang="en-US" altLang="en-US" dirty="0" smtClean="0"/>
              <a:t>Micro'09: </a:t>
            </a:r>
            <a:r>
              <a:rPr lang="en-US" altLang="en-US" dirty="0" err="1" smtClean="0"/>
              <a:t>Kontorinis</a:t>
            </a:r>
            <a:r>
              <a:rPr lang="en-US" altLang="en-US" dirty="0" smtClean="0"/>
              <a:t>, </a:t>
            </a:r>
            <a:r>
              <a:rPr lang="en-US" altLang="en-US" dirty="0" err="1" smtClean="0"/>
              <a:t>Shayan</a:t>
            </a:r>
            <a:r>
              <a:rPr lang="en-US" altLang="en-US" dirty="0" smtClean="0"/>
              <a:t>, Kumar, </a:t>
            </a:r>
            <a:r>
              <a:rPr lang="en-US" altLang="en-US" dirty="0" err="1" smtClean="0"/>
              <a:t>Tullsen</a:t>
            </a:r>
            <a:endParaRPr lang="en-US" altLang="en-US" dirty="0"/>
          </a:p>
        </p:txBody>
      </p:sp>
      <p:sp>
        <p:nvSpPr>
          <p:cNvPr id="5" name="Slide Number Placeholder 4"/>
          <p:cNvSpPr>
            <a:spLocks noGrp="1"/>
          </p:cNvSpPr>
          <p:nvPr>
            <p:ph type="sldNum" sz="quarter" idx="12"/>
            <p:custDataLst>
              <p:tags r:id="rId6"/>
            </p:custDataLst>
          </p:nvPr>
        </p:nvSpPr>
        <p:spPr/>
        <p:txBody>
          <a:bodyPr/>
          <a:lstStyle/>
          <a:p>
            <a:pPr>
              <a:defRPr/>
            </a:pPr>
            <a:fld id="{D55EA07C-EBE0-4628-96D1-251E6318A2BE}" type="slidenum">
              <a:rPr lang="en-US" altLang="en-US" smtClean="0"/>
              <a:pPr>
                <a:defRPr/>
              </a:pPr>
              <a:t>39</a:t>
            </a:fld>
            <a:endParaRPr lang="en-US" altLang="en-US" dirty="0"/>
          </a:p>
        </p:txBody>
      </p:sp>
      <p:cxnSp>
        <p:nvCxnSpPr>
          <p:cNvPr id="8" name="Straight Connector 7"/>
          <p:cNvCxnSpPr/>
          <p:nvPr>
            <p:custDataLst>
              <p:tags r:id="rId7"/>
            </p:custDataLst>
          </p:nvPr>
        </p:nvCxnSpPr>
        <p:spPr>
          <a:xfrm rot="5400000">
            <a:off x="1029111" y="3390489"/>
            <a:ext cx="4495799" cy="8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8"/>
            </p:custDataLst>
          </p:nvPr>
        </p:nvCxnSpPr>
        <p:spPr>
          <a:xfrm rot="5400000">
            <a:off x="3695290" y="3389694"/>
            <a:ext cx="4495005" cy="161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0" name="Picture 2"/>
          <p:cNvPicPr>
            <a:picLocks noChangeAspect="1" noChangeArrowheads="1"/>
          </p:cNvPicPr>
          <p:nvPr/>
        </p:nvPicPr>
        <p:blipFill>
          <a:blip r:embed="rId7"/>
          <a:srcRect/>
          <a:stretch>
            <a:fillRect/>
          </a:stretch>
        </p:blipFill>
        <p:spPr bwMode="auto">
          <a:xfrm>
            <a:off x="671512" y="1143000"/>
            <a:ext cx="10453688" cy="4978400"/>
          </a:xfrm>
          <a:prstGeom prst="rect">
            <a:avLst/>
          </a:prstGeom>
          <a:noFill/>
          <a:ln w="9525">
            <a:noFill/>
            <a:miter lim="800000"/>
            <a:headEnd/>
            <a:tailEnd/>
          </a:ln>
          <a:effectLst/>
        </p:spPr>
      </p:pic>
      <p:sp>
        <p:nvSpPr>
          <p:cNvPr id="23554" name="Title 1"/>
          <p:cNvSpPr>
            <a:spLocks noGrp="1"/>
          </p:cNvSpPr>
          <p:nvPr>
            <p:ph type="title"/>
            <p:custDataLst>
              <p:tags r:id="rId2"/>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9B888359-8BDF-4C8E-9B0C-CD19F9D5E2A5}" type="slidenum">
              <a:rPr lang="en-US" altLang="en-US" smtClean="0"/>
              <a:pPr>
                <a:defRPr/>
              </a:pPr>
              <a:t>40</a:t>
            </a:fld>
            <a:endParaRPr lang="en-US" altLang="en-US"/>
          </a:p>
        </p:txBody>
      </p:sp>
    </p:spTree>
    <p:custDataLst>
      <p:tags r:id="rId1"/>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9"/>
          <a:srcRect/>
          <a:stretch>
            <a:fillRect/>
          </a:stretch>
        </p:blipFill>
        <p:spPr bwMode="auto">
          <a:xfrm>
            <a:off x="671512" y="1143000"/>
            <a:ext cx="10453688" cy="4978400"/>
          </a:xfrm>
          <a:prstGeom prst="rect">
            <a:avLst/>
          </a:prstGeom>
          <a:noFill/>
          <a:ln w="9525">
            <a:noFill/>
            <a:miter lim="800000"/>
            <a:headEnd/>
            <a:tailEnd/>
          </a:ln>
          <a:effectLst/>
        </p:spPr>
      </p:pic>
      <p:sp>
        <p:nvSpPr>
          <p:cNvPr id="23554" name="Title 1"/>
          <p:cNvSpPr>
            <a:spLocks noGrp="1"/>
          </p:cNvSpPr>
          <p:nvPr>
            <p:ph type="title"/>
            <p:custDataLst>
              <p:tags r:id="rId2"/>
            </p:custDataLst>
          </p:nvPr>
        </p:nvSpPr>
        <p:spPr/>
        <p:txBody>
          <a:bodyPr/>
          <a:lstStyle/>
          <a:p>
            <a:r>
              <a:rPr lang="en-US" dirty="0" smtClean="0"/>
              <a:t>Realistic Adaptive Techniques</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9B888359-8BDF-4C8E-9B0C-CD19F9D5E2A5}" type="slidenum">
              <a:rPr lang="en-US" altLang="en-US" smtClean="0"/>
              <a:pPr>
                <a:defRPr/>
              </a:pPr>
              <a:t>41</a:t>
            </a:fld>
            <a:endParaRPr lang="en-US" altLang="en-US"/>
          </a:p>
        </p:txBody>
      </p:sp>
      <p:sp>
        <p:nvSpPr>
          <p:cNvPr id="16" name="TextBox 15"/>
          <p:cNvSpPr txBox="1"/>
          <p:nvPr>
            <p:custDataLst>
              <p:tags r:id="rId5"/>
            </p:custDataLst>
          </p:nvPr>
        </p:nvSpPr>
        <p:spPr>
          <a:xfrm>
            <a:off x="4876800" y="1062335"/>
            <a:ext cx="1905000" cy="461665"/>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defRPr/>
            </a:pPr>
            <a:r>
              <a:rPr lang="en-US" sz="1200" dirty="0"/>
              <a:t>Most </a:t>
            </a:r>
            <a:r>
              <a:rPr lang="en-US" sz="1200" dirty="0" err="1"/>
              <a:t>configs</a:t>
            </a:r>
            <a:r>
              <a:rPr lang="en-US" sz="1200" dirty="0"/>
              <a:t> in </a:t>
            </a:r>
            <a:r>
              <a:rPr lang="en-US" sz="1200" i="1" dirty="0" err="1" smtClean="0"/>
              <a:t>Config</a:t>
            </a:r>
            <a:r>
              <a:rPr lang="en-US" sz="1200" i="1" dirty="0" smtClean="0"/>
              <a:t> ROM</a:t>
            </a:r>
            <a:r>
              <a:rPr lang="en-US" sz="1200" dirty="0" smtClean="0"/>
              <a:t> </a:t>
            </a:r>
            <a:r>
              <a:rPr lang="en-US" sz="1200" dirty="0"/>
              <a:t>perform poorly</a:t>
            </a:r>
          </a:p>
        </p:txBody>
      </p:sp>
      <p:cxnSp>
        <p:nvCxnSpPr>
          <p:cNvPr id="17" name="Straight Arrow Connector 16"/>
          <p:cNvCxnSpPr/>
          <p:nvPr>
            <p:custDataLst>
              <p:tags r:id="rId6"/>
            </p:custDataLst>
          </p:nvPr>
        </p:nvCxnSpPr>
        <p:spPr>
          <a:xfrm rot="16200000" flipH="1">
            <a:off x="4686300" y="2705099"/>
            <a:ext cx="2362201" cy="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9"/>
          <a:srcRect/>
          <a:stretch>
            <a:fillRect/>
          </a:stretch>
        </p:blipFill>
        <p:spPr bwMode="auto">
          <a:xfrm>
            <a:off x="667512" y="1143000"/>
            <a:ext cx="10453688" cy="4978400"/>
          </a:xfrm>
          <a:prstGeom prst="rect">
            <a:avLst/>
          </a:prstGeom>
          <a:noFill/>
          <a:ln w="9525">
            <a:noFill/>
            <a:miter lim="800000"/>
            <a:headEnd/>
            <a:tailEnd/>
          </a:ln>
          <a:effectLst/>
        </p:spPr>
      </p:pic>
      <p:sp>
        <p:nvSpPr>
          <p:cNvPr id="23554" name="Title 1"/>
          <p:cNvSpPr>
            <a:spLocks noGrp="1"/>
          </p:cNvSpPr>
          <p:nvPr>
            <p:ph type="title"/>
            <p:custDataLst>
              <p:tags r:id="rId2"/>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9B888359-8BDF-4C8E-9B0C-CD19F9D5E2A5}" type="slidenum">
              <a:rPr lang="en-US" altLang="en-US" smtClean="0"/>
              <a:pPr>
                <a:defRPr/>
              </a:pPr>
              <a:t>42</a:t>
            </a:fld>
            <a:endParaRPr lang="en-US" altLang="en-US"/>
          </a:p>
        </p:txBody>
      </p:sp>
      <p:sp>
        <p:nvSpPr>
          <p:cNvPr id="26" name="TextBox 25"/>
          <p:cNvSpPr txBox="1"/>
          <p:nvPr>
            <p:custDataLst>
              <p:tags r:id="rId5"/>
            </p:custDataLst>
          </p:nvPr>
        </p:nvSpPr>
        <p:spPr>
          <a:xfrm>
            <a:off x="5181600" y="1066800"/>
            <a:ext cx="1600200" cy="646331"/>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defRPr/>
            </a:pPr>
            <a:r>
              <a:rPr lang="en-US" sz="1200" dirty="0" smtClean="0"/>
              <a:t>SCORE </a:t>
            </a:r>
            <a:r>
              <a:rPr lang="en-US" sz="1200" dirty="0"/>
              <a:t>marginally better than BEST_STATIC</a:t>
            </a:r>
          </a:p>
        </p:txBody>
      </p:sp>
      <p:cxnSp>
        <p:nvCxnSpPr>
          <p:cNvPr id="27" name="Straight Arrow Connector 26"/>
          <p:cNvCxnSpPr/>
          <p:nvPr>
            <p:custDataLst>
              <p:tags r:id="rId6"/>
            </p:custDataLst>
          </p:nvPr>
        </p:nvCxnSpPr>
        <p:spPr>
          <a:xfrm rot="16200000" flipH="1">
            <a:off x="5219699" y="2552701"/>
            <a:ext cx="1600202" cy="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0"/>
          <a:srcRect/>
          <a:stretch>
            <a:fillRect/>
          </a:stretch>
        </p:blipFill>
        <p:spPr bwMode="auto">
          <a:xfrm>
            <a:off x="667512" y="1143000"/>
            <a:ext cx="10453688" cy="4978400"/>
          </a:xfrm>
          <a:prstGeom prst="rect">
            <a:avLst/>
          </a:prstGeom>
          <a:noFill/>
          <a:ln w="9525">
            <a:noFill/>
            <a:miter lim="800000"/>
            <a:headEnd/>
            <a:tailEnd/>
          </a:ln>
          <a:effectLst/>
        </p:spPr>
      </p:pic>
      <p:sp>
        <p:nvSpPr>
          <p:cNvPr id="23554" name="Title 1"/>
          <p:cNvSpPr>
            <a:spLocks noGrp="1"/>
          </p:cNvSpPr>
          <p:nvPr>
            <p:ph type="title"/>
            <p:custDataLst>
              <p:tags r:id="rId2"/>
            </p:custDataLst>
          </p:nvPr>
        </p:nvSpPr>
        <p:spPr/>
        <p:txBody>
          <a:bodyPr/>
          <a:lstStyle/>
          <a:p>
            <a:r>
              <a:rPr lang="en-US" dirty="0" smtClean="0"/>
              <a:t>Realistic Adaptive Techniques </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9B888359-8BDF-4C8E-9B0C-CD19F9D5E2A5}" type="slidenum">
              <a:rPr lang="en-US" altLang="en-US" smtClean="0"/>
              <a:pPr>
                <a:defRPr/>
              </a:pPr>
              <a:t>43</a:t>
            </a:fld>
            <a:endParaRPr lang="en-US" altLang="en-US"/>
          </a:p>
        </p:txBody>
      </p:sp>
      <p:sp>
        <p:nvSpPr>
          <p:cNvPr id="9" name="TextBox 8"/>
          <p:cNvSpPr txBox="1"/>
          <p:nvPr>
            <p:custDataLst>
              <p:tags r:id="rId5"/>
            </p:custDataLst>
          </p:nvPr>
        </p:nvSpPr>
        <p:spPr>
          <a:xfrm>
            <a:off x="5410200" y="1247775"/>
            <a:ext cx="1752600" cy="276225"/>
          </a:xfrm>
          <a:prstGeom prst="rect">
            <a:avLst/>
          </a:prstGeom>
        </p:spPr>
        <p:style>
          <a:lnRef idx="1">
            <a:schemeClr val="accent1"/>
          </a:lnRef>
          <a:fillRef idx="3">
            <a:schemeClr val="accent1"/>
          </a:fillRef>
          <a:effectRef idx="2">
            <a:schemeClr val="accent1"/>
          </a:effectRef>
          <a:fontRef idx="minor">
            <a:schemeClr val="lt1"/>
          </a:fontRef>
        </p:style>
        <p:txBody>
          <a:bodyPr>
            <a:spAutoFit/>
          </a:bodyPr>
          <a:lstStyle/>
          <a:p>
            <a:pPr>
              <a:defRPr/>
            </a:pPr>
            <a:r>
              <a:rPr lang="en-US" sz="1200" dirty="0" smtClean="0"/>
              <a:t>SAMPLING </a:t>
            </a:r>
            <a:r>
              <a:rPr lang="en-US" sz="1200" dirty="0"/>
              <a:t>a big win!</a:t>
            </a:r>
          </a:p>
        </p:txBody>
      </p:sp>
      <p:sp>
        <p:nvSpPr>
          <p:cNvPr id="28" name="Left Brace 27"/>
          <p:cNvSpPr/>
          <p:nvPr>
            <p:custDataLst>
              <p:tags r:id="rId6"/>
            </p:custDataLst>
          </p:nvPr>
        </p:nvSpPr>
        <p:spPr>
          <a:xfrm rot="5400000">
            <a:off x="6210300" y="2095500"/>
            <a:ext cx="228600" cy="45720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p:cNvCxnSpPr/>
          <p:nvPr>
            <p:custDataLst>
              <p:tags r:id="rId7"/>
            </p:custDataLst>
          </p:nvPr>
        </p:nvCxnSpPr>
        <p:spPr>
          <a:xfrm rot="5400000" flipH="1" flipV="1">
            <a:off x="6020594" y="1904206"/>
            <a:ext cx="6096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p:cNvPicPr>
            <a:picLocks noChangeAspect="1" noChangeArrowheads="1"/>
          </p:cNvPicPr>
          <p:nvPr/>
        </p:nvPicPr>
        <p:blipFill>
          <a:blip r:embed="rId8"/>
          <a:srcRect/>
          <a:stretch>
            <a:fillRect/>
          </a:stretch>
        </p:blipFill>
        <p:spPr bwMode="auto">
          <a:xfrm>
            <a:off x="4267200" y="1600200"/>
            <a:ext cx="11696700" cy="4489450"/>
          </a:xfrm>
          <a:prstGeom prst="rect">
            <a:avLst/>
          </a:prstGeom>
          <a:noFill/>
          <a:ln w="9525">
            <a:noFill/>
            <a:miter lim="800000"/>
            <a:headEnd/>
            <a:tailEnd/>
          </a:ln>
          <a:effectLst/>
        </p:spPr>
      </p:pic>
      <p:sp>
        <p:nvSpPr>
          <p:cNvPr id="24578" name="Title 1"/>
          <p:cNvSpPr>
            <a:spLocks noGrp="1"/>
          </p:cNvSpPr>
          <p:nvPr>
            <p:ph type="title"/>
            <p:custDataLst>
              <p:tags r:id="rId2"/>
            </p:custDataLst>
          </p:nvPr>
        </p:nvSpPr>
        <p:spPr>
          <a:xfrm>
            <a:off x="457200" y="277813"/>
            <a:ext cx="8382000" cy="1139825"/>
          </a:xfrm>
        </p:spPr>
        <p:txBody>
          <a:bodyPr/>
          <a:lstStyle/>
          <a:p>
            <a:pPr algn="ctr"/>
            <a:r>
              <a:rPr lang="en-US" dirty="0" smtClean="0"/>
              <a:t>Results Across Peak Power Budgets</a:t>
            </a:r>
            <a:br>
              <a:rPr lang="en-US" dirty="0" smtClean="0"/>
            </a:br>
            <a:r>
              <a:rPr lang="en-US" dirty="0" err="1" smtClean="0"/>
              <a:t>vs</a:t>
            </a:r>
            <a:r>
              <a:rPr lang="en-US" dirty="0" smtClean="0"/>
              <a:t> Maximized Core</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6429D22E-F004-450F-A9C7-35A3E34A05D1}" type="slidenum">
              <a:rPr lang="en-US" altLang="en-US" smtClean="0"/>
              <a:pPr>
                <a:defRPr/>
              </a:pPr>
              <a:t>44</a:t>
            </a:fld>
            <a:endParaRPr lang="en-US" altLang="en-US" dirty="0"/>
          </a:p>
        </p:txBody>
      </p:sp>
      <p:sp>
        <p:nvSpPr>
          <p:cNvPr id="10" name="Rectangle 3"/>
          <p:cNvSpPr txBox="1">
            <a:spLocks noChangeArrowheads="1"/>
          </p:cNvSpPr>
          <p:nvPr>
            <p:custDataLst>
              <p:tags r:id="rId5"/>
            </p:custDataLst>
          </p:nvPr>
        </p:nvSpPr>
        <p:spPr bwMode="auto">
          <a:xfrm>
            <a:off x="228600" y="1946275"/>
            <a:ext cx="4191000" cy="4530725"/>
          </a:xfrm>
          <a:prstGeom prst="rect">
            <a:avLst/>
          </a:prstGeom>
          <a:noFill/>
          <a:ln w="9525">
            <a:noFill/>
            <a:miter lim="800000"/>
            <a:headEnd/>
            <a:tailEnd/>
          </a:ln>
        </p:spPr>
        <p:txBody>
          <a:bodyPr/>
          <a:lstStyle/>
          <a:p>
            <a:pPr marL="342900" indent="-342900">
              <a:spcBef>
                <a:spcPct val="20000"/>
              </a:spcBef>
              <a:buClr>
                <a:schemeClr val="accent1"/>
              </a:buClr>
              <a:buSzPct val="65000"/>
              <a:buFont typeface="Wingdings" pitchFamily="2" charset="2"/>
              <a:buChar char="n"/>
              <a:defRPr/>
            </a:pPr>
            <a:r>
              <a:rPr lang="en-US" sz="2400" kern="0" dirty="0">
                <a:latin typeface="+mj-lt"/>
              </a:rPr>
              <a:t>Reducing the configurations in </a:t>
            </a:r>
            <a:r>
              <a:rPr lang="en-US" sz="2400" kern="0" dirty="0" err="1">
                <a:latin typeface="+mj-lt"/>
              </a:rPr>
              <a:t>Config</a:t>
            </a:r>
            <a:r>
              <a:rPr lang="en-US" sz="2400" kern="0" dirty="0">
                <a:latin typeface="+mj-lt"/>
              </a:rPr>
              <a:t> ROM further improves performance</a:t>
            </a:r>
          </a:p>
          <a:p>
            <a:pPr marL="342900" indent="-342900">
              <a:spcBef>
                <a:spcPct val="20000"/>
              </a:spcBef>
              <a:buClr>
                <a:schemeClr val="accent1"/>
              </a:buClr>
              <a:buSzPct val="65000"/>
              <a:buFont typeface="Wingdings" pitchFamily="2" charset="2"/>
              <a:buChar char="n"/>
              <a:defRPr/>
            </a:pPr>
            <a:r>
              <a:rPr lang="en-US" sz="2400" kern="0" dirty="0">
                <a:latin typeface="+mj-lt"/>
              </a:rPr>
              <a:t>At 75% within 5% </a:t>
            </a:r>
            <a:r>
              <a:rPr lang="en-US" sz="2400" kern="0" dirty="0" smtClean="0">
                <a:latin typeface="+mj-lt"/>
              </a:rPr>
              <a:t>of maximized </a:t>
            </a:r>
            <a:r>
              <a:rPr lang="en-US" sz="2400" kern="0" dirty="0">
                <a:latin typeface="+mj-lt"/>
              </a:rPr>
              <a:t>core</a:t>
            </a:r>
          </a:p>
          <a:p>
            <a:pPr marL="342900" indent="-342900">
              <a:spcBef>
                <a:spcPct val="20000"/>
              </a:spcBef>
              <a:buClr>
                <a:schemeClr val="accent1"/>
              </a:buClr>
              <a:buSzPct val="65000"/>
              <a:buFont typeface="Wingdings" pitchFamily="2" charset="2"/>
              <a:buChar char="n"/>
              <a:defRPr/>
            </a:pPr>
            <a:r>
              <a:rPr lang="en-US" sz="2400" kern="0" dirty="0">
                <a:latin typeface="+mj-lt"/>
              </a:rPr>
              <a:t>At 80% within </a:t>
            </a:r>
            <a:r>
              <a:rPr lang="en-US" sz="2400" kern="0" dirty="0" smtClean="0">
                <a:latin typeface="+mj-lt"/>
              </a:rPr>
              <a:t>2.5% of </a:t>
            </a:r>
            <a:r>
              <a:rPr lang="en-US" sz="2400" kern="0" dirty="0">
                <a:latin typeface="+mj-lt"/>
              </a:rPr>
              <a:t>maximized core</a:t>
            </a:r>
          </a:p>
        </p:txBody>
      </p:sp>
      <p:sp>
        <p:nvSpPr>
          <p:cNvPr id="7" name="TextBox 6"/>
          <p:cNvSpPr txBox="1"/>
          <p:nvPr/>
        </p:nvSpPr>
        <p:spPr>
          <a:xfrm>
            <a:off x="5715000" y="5879068"/>
            <a:ext cx="2895600" cy="369332"/>
          </a:xfrm>
          <a:prstGeom prst="rect">
            <a:avLst/>
          </a:prstGeom>
          <a:noFill/>
        </p:spPr>
        <p:txBody>
          <a:bodyPr wrap="square" rtlCol="0">
            <a:spAutoFit/>
          </a:bodyPr>
          <a:lstStyle/>
          <a:p>
            <a:r>
              <a:rPr lang="en-US" dirty="0" smtClean="0"/>
              <a:t>Peak power constraint</a:t>
            </a:r>
            <a:endParaRPr lang="en-US" dirty="0"/>
          </a:p>
        </p:txBody>
      </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3"/>
            </p:custDataLst>
          </p:nvPr>
        </p:nvSpPr>
        <p:spPr/>
        <p:txBody>
          <a:bodyPr/>
          <a:lstStyle/>
          <a:p>
            <a:r>
              <a:rPr lang="en-US" dirty="0" smtClean="0"/>
              <a:t>So what have we gained?</a:t>
            </a:r>
            <a:endParaRPr lang="en-US" dirty="0"/>
          </a:p>
        </p:txBody>
      </p:sp>
      <p:sp>
        <p:nvSpPr>
          <p:cNvPr id="3" name="Content Placeholder 2"/>
          <p:cNvSpPr>
            <a:spLocks noGrp="1"/>
          </p:cNvSpPr>
          <p:nvPr>
            <p:ph idx="1"/>
            <p:custDataLst>
              <p:tags r:id="rId4"/>
            </p:custDataLst>
          </p:nvPr>
        </p:nvSpPr>
        <p:spPr>
          <a:xfrm>
            <a:off x="457200" y="1676400"/>
            <a:ext cx="7239000" cy="4454525"/>
          </a:xfrm>
        </p:spPr>
        <p:txBody>
          <a:bodyPr/>
          <a:lstStyle/>
          <a:p>
            <a:r>
              <a:rPr lang="en-US" dirty="0" smtClean="0"/>
              <a:t>Metrics</a:t>
            </a:r>
          </a:p>
          <a:p>
            <a:pPr lvl="1"/>
            <a:r>
              <a:rPr lang="en-US" dirty="0" smtClean="0"/>
              <a:t>Power efficiency</a:t>
            </a:r>
          </a:p>
          <a:p>
            <a:pPr lvl="1"/>
            <a:endParaRPr lang="en-US" dirty="0" smtClean="0"/>
          </a:p>
          <a:p>
            <a:pPr lvl="2">
              <a:buNone/>
            </a:pPr>
            <a:r>
              <a:rPr lang="en-US" dirty="0" smtClean="0"/>
              <a:t>                 </a:t>
            </a:r>
            <a:r>
              <a:rPr lang="en-US" sz="2400" dirty="0" err="1" smtClean="0">
                <a:latin typeface="+mn-lt"/>
              </a:rPr>
              <a:t>AP_ratio</a:t>
            </a:r>
            <a:r>
              <a:rPr lang="en-US" sz="2400" dirty="0" smtClean="0">
                <a:latin typeface="+mn-lt"/>
              </a:rPr>
              <a:t> = </a:t>
            </a:r>
            <a:endParaRPr lang="en-US" dirty="0" smtClean="0"/>
          </a:p>
          <a:p>
            <a:pPr lvl="1"/>
            <a:endParaRPr lang="en-US" dirty="0" smtClean="0"/>
          </a:p>
          <a:p>
            <a:pPr lvl="1"/>
            <a:r>
              <a:rPr lang="en-US" dirty="0" smtClean="0"/>
              <a:t>Decoupling Capacitance   (% of total core area)</a:t>
            </a:r>
          </a:p>
          <a:p>
            <a:pPr lvl="1"/>
            <a:r>
              <a:rPr lang="en-US" dirty="0" smtClean="0"/>
              <a:t>Voltage Variation (% of </a:t>
            </a:r>
            <a:r>
              <a:rPr lang="en-US" dirty="0" err="1" smtClean="0"/>
              <a:t>Vdd</a:t>
            </a:r>
            <a:r>
              <a:rPr lang="en-US" dirty="0" smtClean="0"/>
              <a:t>)</a:t>
            </a:r>
          </a:p>
          <a:p>
            <a:pPr lvl="2">
              <a:buNone/>
            </a:pPr>
            <a:r>
              <a:rPr lang="en-US" dirty="0" smtClean="0"/>
              <a:t>            </a:t>
            </a:r>
          </a:p>
          <a:p>
            <a:pPr lvl="1"/>
            <a:endParaRPr lang="en-US" dirty="0" smtClean="0"/>
          </a:p>
          <a:p>
            <a:pPr>
              <a:buNone/>
            </a:pPr>
            <a:r>
              <a:rPr lang="en-US" dirty="0" smtClean="0"/>
              <a:t>					</a:t>
            </a:r>
            <a:endParaRPr lang="en-US" i="1" dirty="0" smtClean="0"/>
          </a:p>
          <a:p>
            <a:endParaRPr lang="en-US" dirty="0" smtClean="0"/>
          </a:p>
        </p:txBody>
      </p:sp>
      <p:sp>
        <p:nvSpPr>
          <p:cNvPr id="4" name="Footer Placeholder 3"/>
          <p:cNvSpPr>
            <a:spLocks noGrp="1"/>
          </p:cNvSpPr>
          <p:nvPr>
            <p:ph type="ftr" sz="quarter" idx="11"/>
            <p:custDataLst>
              <p:tags r:id="rId5"/>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6"/>
            </p:custDataLst>
          </p:nvPr>
        </p:nvSpPr>
        <p:spPr/>
        <p:txBody>
          <a:bodyPr/>
          <a:lstStyle/>
          <a:p>
            <a:pPr>
              <a:defRPr/>
            </a:pPr>
            <a:fld id="{5F62B57E-7A5D-465E-94E5-87622714F13F}" type="slidenum">
              <a:rPr lang="en-US" altLang="en-US" smtClean="0"/>
              <a:pPr>
                <a:defRPr/>
              </a:pPr>
              <a:t>45</a:t>
            </a:fld>
            <a:endParaRPr lang="en-US" altLang="en-US"/>
          </a:p>
        </p:txBody>
      </p:sp>
      <p:graphicFrame>
        <p:nvGraphicFramePr>
          <p:cNvPr id="5123" name="Object 3"/>
          <p:cNvGraphicFramePr>
            <a:graphicFrameLocks noChangeAspect="1"/>
          </p:cNvGraphicFramePr>
          <p:nvPr>
            <p:custDataLst>
              <p:tags r:id="rId7"/>
            </p:custDataLst>
          </p:nvPr>
        </p:nvGraphicFramePr>
        <p:xfrm>
          <a:off x="3810000" y="2826650"/>
          <a:ext cx="2333625" cy="907150"/>
        </p:xfrm>
        <a:graphic>
          <a:graphicData uri="http://schemas.openxmlformats.org/presentationml/2006/ole">
            <p:oleObj spid="_x0000_s130050" name="Equation" r:id="rId11" imgW="622080" imgH="241200" progId="Equation.3">
              <p:embed/>
            </p:oleObj>
          </a:graphicData>
        </a:graphic>
      </p:graphicFrame>
      <p:sp>
        <p:nvSpPr>
          <p:cNvPr id="8" name="Rectangle 7"/>
          <p:cNvSpPr/>
          <p:nvPr>
            <p:custDataLst>
              <p:tags r:id="rId8"/>
            </p:custDataLst>
          </p:nvPr>
        </p:nvSpPr>
        <p:spPr>
          <a:xfrm>
            <a:off x="2133600" y="2819400"/>
            <a:ext cx="4038600" cy="990600"/>
          </a:xfrm>
          <a:prstGeom prst="rect">
            <a:avLst/>
          </a:prstGeom>
          <a:noFill/>
          <a:ln w="508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2"/>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9" name="Picture 3"/>
          <p:cNvPicPr>
            <a:picLocks noChangeAspect="1" noChangeArrowheads="1"/>
          </p:cNvPicPr>
          <p:nvPr/>
        </p:nvPicPr>
        <p:blipFill>
          <a:blip r:embed="rId8"/>
          <a:srcRect/>
          <a:stretch>
            <a:fillRect/>
          </a:stretch>
        </p:blipFill>
        <p:spPr bwMode="auto">
          <a:xfrm>
            <a:off x="3767655" y="914400"/>
            <a:ext cx="5223946" cy="4771798"/>
          </a:xfrm>
          <a:prstGeom prst="rect">
            <a:avLst/>
          </a:prstGeom>
          <a:noFill/>
          <a:ln w="9525">
            <a:noFill/>
            <a:miter lim="800000"/>
            <a:headEnd/>
            <a:tailEnd/>
          </a:ln>
          <a:effectLst/>
        </p:spPr>
      </p:pic>
      <p:sp>
        <p:nvSpPr>
          <p:cNvPr id="25603" name="Title 1"/>
          <p:cNvSpPr>
            <a:spLocks noGrp="1"/>
          </p:cNvSpPr>
          <p:nvPr>
            <p:ph type="title"/>
            <p:custDataLst>
              <p:tags r:id="rId2"/>
            </p:custDataLst>
          </p:nvPr>
        </p:nvSpPr>
        <p:spPr/>
        <p:txBody>
          <a:bodyPr/>
          <a:lstStyle/>
          <a:p>
            <a:r>
              <a:rPr lang="en-US" dirty="0" smtClean="0"/>
              <a:t>Power Efficiency</a:t>
            </a:r>
          </a:p>
        </p:txBody>
      </p:sp>
      <p:sp>
        <p:nvSpPr>
          <p:cNvPr id="25604" name="Content Placeholder 2"/>
          <p:cNvSpPr>
            <a:spLocks noGrp="1"/>
          </p:cNvSpPr>
          <p:nvPr>
            <p:ph idx="1"/>
            <p:custDataLst>
              <p:tags r:id="rId3"/>
            </p:custDataLst>
          </p:nvPr>
        </p:nvSpPr>
        <p:spPr>
          <a:xfrm>
            <a:off x="228600" y="2209800"/>
            <a:ext cx="3581400" cy="3276600"/>
          </a:xfrm>
        </p:spPr>
        <p:txBody>
          <a:bodyPr/>
          <a:lstStyle/>
          <a:p>
            <a:r>
              <a:rPr lang="en-US" dirty="0" smtClean="0"/>
              <a:t>Both average and peak power decrease</a:t>
            </a:r>
          </a:p>
        </p:txBody>
      </p:sp>
      <p:sp>
        <p:nvSpPr>
          <p:cNvPr id="4" name="Footer Placeholder 3"/>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5"/>
            </p:custDataLst>
          </p:nvPr>
        </p:nvSpPr>
        <p:spPr/>
        <p:txBody>
          <a:bodyPr/>
          <a:lstStyle/>
          <a:p>
            <a:pPr>
              <a:defRPr/>
            </a:pPr>
            <a:fld id="{934AC049-F028-4C7A-9FE1-64737C40B228}" type="slidenum">
              <a:rPr lang="en-US" altLang="en-US" smtClean="0"/>
              <a:pPr>
                <a:defRPr/>
              </a:pPr>
              <a:t>46</a:t>
            </a:fld>
            <a:endParaRPr lang="en-US" altLang="en-US"/>
          </a:p>
        </p:txBody>
      </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3"/>
          <p:cNvPicPr>
            <a:picLocks noChangeAspect="1" noChangeArrowheads="1"/>
          </p:cNvPicPr>
          <p:nvPr/>
        </p:nvPicPr>
        <p:blipFill>
          <a:blip r:embed="rId14"/>
          <a:srcRect/>
          <a:stretch>
            <a:fillRect/>
          </a:stretch>
        </p:blipFill>
        <p:spPr bwMode="auto">
          <a:xfrm>
            <a:off x="3767655" y="914400"/>
            <a:ext cx="5223946" cy="4771798"/>
          </a:xfrm>
          <a:prstGeom prst="rect">
            <a:avLst/>
          </a:prstGeom>
          <a:noFill/>
          <a:ln w="9525">
            <a:noFill/>
            <a:miter lim="800000"/>
            <a:headEnd/>
            <a:tailEnd/>
          </a:ln>
          <a:effectLst/>
        </p:spPr>
      </p:pic>
      <p:sp>
        <p:nvSpPr>
          <p:cNvPr id="25603" name="Title 1"/>
          <p:cNvSpPr>
            <a:spLocks noGrp="1"/>
          </p:cNvSpPr>
          <p:nvPr>
            <p:ph type="title"/>
            <p:custDataLst>
              <p:tags r:id="rId2"/>
            </p:custDataLst>
          </p:nvPr>
        </p:nvSpPr>
        <p:spPr/>
        <p:txBody>
          <a:bodyPr/>
          <a:lstStyle/>
          <a:p>
            <a:r>
              <a:rPr lang="en-US" dirty="0" smtClean="0"/>
              <a:t>Power Efficiency</a:t>
            </a:r>
          </a:p>
        </p:txBody>
      </p:sp>
      <p:sp>
        <p:nvSpPr>
          <p:cNvPr id="25604" name="Content Placeholder 2"/>
          <p:cNvSpPr>
            <a:spLocks noGrp="1"/>
          </p:cNvSpPr>
          <p:nvPr>
            <p:ph idx="1"/>
            <p:custDataLst>
              <p:tags r:id="rId3"/>
            </p:custDataLst>
          </p:nvPr>
        </p:nvSpPr>
        <p:spPr>
          <a:xfrm>
            <a:off x="228600" y="2209800"/>
            <a:ext cx="3581400" cy="3276600"/>
          </a:xfrm>
        </p:spPr>
        <p:txBody>
          <a:bodyPr/>
          <a:lstStyle/>
          <a:p>
            <a:r>
              <a:rPr lang="en-US" dirty="0" smtClean="0"/>
              <a:t>Both average and peak power decrease</a:t>
            </a:r>
          </a:p>
          <a:p>
            <a:r>
              <a:rPr lang="en-US" dirty="0" err="1" smtClean="0"/>
              <a:t>AP_ratio</a:t>
            </a:r>
            <a:r>
              <a:rPr lang="en-US" dirty="0" smtClean="0"/>
              <a:t> improves as we constrain the peak power</a:t>
            </a:r>
          </a:p>
        </p:txBody>
      </p:sp>
      <p:sp>
        <p:nvSpPr>
          <p:cNvPr id="4" name="Footer Placeholder 3"/>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5"/>
            </p:custDataLst>
          </p:nvPr>
        </p:nvSpPr>
        <p:spPr/>
        <p:txBody>
          <a:bodyPr/>
          <a:lstStyle/>
          <a:p>
            <a:pPr>
              <a:defRPr/>
            </a:pPr>
            <a:fld id="{934AC049-F028-4C7A-9FE1-64737C40B228}" type="slidenum">
              <a:rPr lang="en-US" altLang="en-US" smtClean="0"/>
              <a:pPr>
                <a:defRPr/>
              </a:pPr>
              <a:t>47</a:t>
            </a:fld>
            <a:endParaRPr lang="en-US" altLang="en-US"/>
          </a:p>
        </p:txBody>
      </p:sp>
      <p:cxnSp>
        <p:nvCxnSpPr>
          <p:cNvPr id="10" name="Straight Connector 9"/>
          <p:cNvCxnSpPr/>
          <p:nvPr>
            <p:custDataLst>
              <p:tags r:id="rId6"/>
            </p:custDataLst>
          </p:nvPr>
        </p:nvCxnSpPr>
        <p:spPr>
          <a:xfrm rot="5400000">
            <a:off x="3809206" y="3047206"/>
            <a:ext cx="3505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custDataLst>
              <p:tags r:id="rId7"/>
            </p:custDataLst>
          </p:nvPr>
        </p:nvCxnSpPr>
        <p:spPr>
          <a:xfrm rot="5400000">
            <a:off x="5897880" y="3580606"/>
            <a:ext cx="2438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custDataLst>
              <p:tags r:id="rId8"/>
            </p:custDataLst>
          </p:nvPr>
        </p:nvCxnSpPr>
        <p:spPr>
          <a:xfrm rot="5400000">
            <a:off x="6705206" y="3581004"/>
            <a:ext cx="2438397" cy="7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custDataLst>
              <p:tags r:id="rId9"/>
            </p:custDataLst>
          </p:nvPr>
        </p:nvCxnSpPr>
        <p:spPr>
          <a:xfrm rot="5400000">
            <a:off x="6812280" y="1600200"/>
            <a:ext cx="608806" cy="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custDataLst>
              <p:tags r:id="rId10"/>
            </p:custDataLst>
          </p:nvPr>
        </p:nvCxnSpPr>
        <p:spPr>
          <a:xfrm rot="5400000">
            <a:off x="7619206" y="1599407"/>
            <a:ext cx="609598"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24200" y="1219200"/>
            <a:ext cx="1447800" cy="400110"/>
          </a:xfrm>
          <a:prstGeom prst="rect">
            <a:avLst/>
          </a:prstGeom>
          <a:noFill/>
        </p:spPr>
        <p:txBody>
          <a:bodyPr wrap="square" rtlCol="0">
            <a:spAutoFit/>
          </a:bodyPr>
          <a:lstStyle/>
          <a:p>
            <a:r>
              <a:rPr lang="en-US" sz="2000" b="1" dirty="0" err="1" smtClean="0"/>
              <a:t>AP_ratio</a:t>
            </a:r>
            <a:r>
              <a:rPr lang="en-US" sz="2000" b="1" dirty="0" smtClean="0"/>
              <a:t>:</a:t>
            </a:r>
            <a:endParaRPr lang="en-US" sz="2000" b="1" dirty="0"/>
          </a:p>
        </p:txBody>
      </p:sp>
      <p:sp>
        <p:nvSpPr>
          <p:cNvPr id="18" name="TextBox 17"/>
          <p:cNvSpPr txBox="1"/>
          <p:nvPr/>
        </p:nvSpPr>
        <p:spPr>
          <a:xfrm>
            <a:off x="4800600" y="1295400"/>
            <a:ext cx="762000" cy="400110"/>
          </a:xfrm>
          <a:prstGeom prst="rect">
            <a:avLst/>
          </a:prstGeom>
          <a:noFill/>
        </p:spPr>
        <p:txBody>
          <a:bodyPr wrap="square" rtlCol="0">
            <a:spAutoFit/>
          </a:bodyPr>
          <a:lstStyle/>
          <a:p>
            <a:r>
              <a:rPr lang="en-US" sz="2000" dirty="0" smtClean="0"/>
              <a:t>56%</a:t>
            </a:r>
            <a:endParaRPr lang="en-US" sz="2000" dirty="0"/>
          </a:p>
        </p:txBody>
      </p:sp>
      <p:sp>
        <p:nvSpPr>
          <p:cNvPr id="19" name="TextBox 18"/>
          <p:cNvSpPr txBox="1"/>
          <p:nvPr/>
        </p:nvSpPr>
        <p:spPr>
          <a:xfrm>
            <a:off x="5638800" y="1295400"/>
            <a:ext cx="762000" cy="400110"/>
          </a:xfrm>
          <a:prstGeom prst="rect">
            <a:avLst/>
          </a:prstGeom>
          <a:noFill/>
        </p:spPr>
        <p:txBody>
          <a:bodyPr wrap="square" rtlCol="0">
            <a:spAutoFit/>
          </a:bodyPr>
          <a:lstStyle/>
          <a:p>
            <a:r>
              <a:rPr lang="en-US" sz="2000" dirty="0" smtClean="0"/>
              <a:t>61%</a:t>
            </a:r>
            <a:endParaRPr lang="en-US" sz="2000" dirty="0"/>
          </a:p>
        </p:txBody>
      </p:sp>
      <p:sp>
        <p:nvSpPr>
          <p:cNvPr id="20" name="TextBox 19"/>
          <p:cNvSpPr txBox="1"/>
          <p:nvPr/>
        </p:nvSpPr>
        <p:spPr>
          <a:xfrm>
            <a:off x="6400800" y="1295400"/>
            <a:ext cx="762000" cy="400110"/>
          </a:xfrm>
          <a:prstGeom prst="rect">
            <a:avLst/>
          </a:prstGeom>
          <a:noFill/>
        </p:spPr>
        <p:txBody>
          <a:bodyPr wrap="square" rtlCol="0">
            <a:spAutoFit/>
          </a:bodyPr>
          <a:lstStyle/>
          <a:p>
            <a:r>
              <a:rPr lang="en-US" sz="2000" dirty="0" smtClean="0"/>
              <a:t>63%</a:t>
            </a:r>
            <a:endParaRPr lang="en-US" sz="2000" dirty="0"/>
          </a:p>
        </p:txBody>
      </p:sp>
      <p:sp>
        <p:nvSpPr>
          <p:cNvPr id="22" name="TextBox 21"/>
          <p:cNvSpPr txBox="1"/>
          <p:nvPr/>
        </p:nvSpPr>
        <p:spPr>
          <a:xfrm>
            <a:off x="7239000" y="1295400"/>
            <a:ext cx="762000" cy="400110"/>
          </a:xfrm>
          <a:prstGeom prst="rect">
            <a:avLst/>
          </a:prstGeom>
          <a:noFill/>
        </p:spPr>
        <p:txBody>
          <a:bodyPr wrap="square" rtlCol="0">
            <a:spAutoFit/>
          </a:bodyPr>
          <a:lstStyle/>
          <a:p>
            <a:r>
              <a:rPr lang="en-US" sz="2000" dirty="0" smtClean="0"/>
              <a:t>64%</a:t>
            </a:r>
            <a:endParaRPr lang="en-US" sz="2000" dirty="0"/>
          </a:p>
        </p:txBody>
      </p:sp>
      <p:sp>
        <p:nvSpPr>
          <p:cNvPr id="23" name="TextBox 22"/>
          <p:cNvSpPr txBox="1"/>
          <p:nvPr/>
        </p:nvSpPr>
        <p:spPr>
          <a:xfrm>
            <a:off x="8001000" y="1295400"/>
            <a:ext cx="762000" cy="400110"/>
          </a:xfrm>
          <a:prstGeom prst="rect">
            <a:avLst/>
          </a:prstGeom>
          <a:noFill/>
        </p:spPr>
        <p:txBody>
          <a:bodyPr wrap="square" rtlCol="0">
            <a:spAutoFit/>
          </a:bodyPr>
          <a:lstStyle/>
          <a:p>
            <a:r>
              <a:rPr lang="en-US" sz="2000" dirty="0" smtClean="0"/>
              <a:t>67%</a:t>
            </a:r>
            <a:endParaRPr lang="en-US" sz="2000" dirty="0"/>
          </a:p>
        </p:txBody>
      </p:sp>
      <p:cxnSp>
        <p:nvCxnSpPr>
          <p:cNvPr id="31" name="Straight Connector 30"/>
          <p:cNvCxnSpPr/>
          <p:nvPr>
            <p:custDataLst>
              <p:tags r:id="rId11"/>
            </p:custDataLst>
          </p:nvPr>
        </p:nvCxnSpPr>
        <p:spPr>
          <a:xfrm rot="5400000">
            <a:off x="4571205" y="3047206"/>
            <a:ext cx="35052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custDataLst>
              <p:tags r:id="rId2"/>
            </p:custDataLst>
          </p:nvPr>
        </p:nvSpPr>
        <p:spPr/>
        <p:txBody>
          <a:bodyPr/>
          <a:lstStyle/>
          <a:p>
            <a:r>
              <a:rPr lang="en-US" dirty="0" smtClean="0"/>
              <a:t>Voltage variation and Decoupling Capacitance benefits</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77E1A25D-54FA-4141-A51A-D4B56A420532}" type="slidenum">
              <a:rPr lang="en-US" altLang="en-US" smtClean="0"/>
              <a:pPr>
                <a:defRPr/>
              </a:pPr>
              <a:t>48</a:t>
            </a:fld>
            <a:endParaRPr lang="en-US" altLang="en-US"/>
          </a:p>
        </p:txBody>
      </p:sp>
      <p:graphicFrame>
        <p:nvGraphicFramePr>
          <p:cNvPr id="6" name="Table 5"/>
          <p:cNvGraphicFramePr>
            <a:graphicFrameLocks noGrp="1"/>
          </p:cNvGraphicFramePr>
          <p:nvPr>
            <p:custDataLst>
              <p:tags r:id="rId5"/>
            </p:custDataLst>
          </p:nvPr>
        </p:nvGraphicFramePr>
        <p:xfrm>
          <a:off x="1447800" y="1752600"/>
          <a:ext cx="6705600" cy="3172095"/>
        </p:xfrm>
        <a:graphic>
          <a:graphicData uri="http://schemas.openxmlformats.org/drawingml/2006/table">
            <a:tbl>
              <a:tblPr firstRow="1" bandRow="1">
                <a:tableStyleId>{5A111915-BE36-4E01-A7E5-04B1672EAD32}</a:tableStyleId>
              </a:tblPr>
              <a:tblGrid>
                <a:gridCol w="2342921"/>
                <a:gridCol w="2287135"/>
                <a:gridCol w="2075544"/>
              </a:tblGrid>
              <a:tr h="402771">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Voltage Variation</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Decoupling Cap.</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Relative power threshold</a:t>
                      </a:r>
                      <a:r>
                        <a:rPr lang="en-US" sz="1400" baseline="0" dirty="0" smtClean="0">
                          <a:solidFill>
                            <a:schemeClr val="tx1"/>
                          </a:solidFill>
                        </a:rPr>
                        <a:t> </a:t>
                      </a:r>
                      <a:endParaRPr lang="en-US" sz="1400" dirty="0" smtClean="0">
                        <a:solidFill>
                          <a:schemeClr val="tx1"/>
                        </a:solidFill>
                      </a:endParaRPr>
                    </a:p>
                    <a:p>
                      <a:pPr algn="ct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On-chip </a:t>
                      </a:r>
                      <a:r>
                        <a:rPr lang="en-US" sz="1400" dirty="0" err="1" smtClean="0">
                          <a:solidFill>
                            <a:schemeClr val="tx1"/>
                          </a:solidFill>
                        </a:rPr>
                        <a:t>Decap</a:t>
                      </a:r>
                      <a:r>
                        <a:rPr lang="en-US" sz="1400" dirty="0" smtClean="0">
                          <a:solidFill>
                            <a:schemeClr val="tx1"/>
                          </a:solidFill>
                        </a:rPr>
                        <a:t> </a:t>
                      </a:r>
                    </a:p>
                    <a:p>
                      <a:pPr algn="ctr"/>
                      <a:r>
                        <a:rPr lang="en-US" sz="1400" b="1" dirty="0" smtClean="0">
                          <a:solidFill>
                            <a:schemeClr val="tx1"/>
                          </a:solidFill>
                        </a:rPr>
                        <a:t>(%of total Core Area)</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Max. Voltage Variation</a:t>
                      </a:r>
                      <a:r>
                        <a:rPr lang="el-GR" sz="1400" dirty="0" smtClean="0">
                          <a:solidFill>
                            <a:schemeClr val="tx1"/>
                          </a:solidFill>
                        </a:rPr>
                        <a:t> </a:t>
                      </a:r>
                      <a:endParaRPr lang="en-US" sz="1400" dirty="0" smtClean="0">
                        <a:solidFill>
                          <a:schemeClr val="tx1"/>
                        </a:solidFill>
                      </a:endParaRPr>
                    </a:p>
                    <a:p>
                      <a:pPr algn="ctr"/>
                      <a:r>
                        <a:rPr lang="el-GR" sz="1400" b="1" dirty="0" smtClean="0">
                          <a:solidFill>
                            <a:schemeClr val="tx1"/>
                          </a:solidFill>
                        </a:rPr>
                        <a:t>(% </a:t>
                      </a:r>
                      <a:r>
                        <a:rPr lang="en-US" sz="1400" b="1" dirty="0" smtClean="0">
                          <a:solidFill>
                            <a:schemeClr val="tx1"/>
                          </a:solidFill>
                        </a:rPr>
                        <a:t>V</a:t>
                      </a:r>
                      <a:r>
                        <a:rPr lang="en-US" sz="1400" b="1" baseline="-25000" dirty="0" smtClean="0">
                          <a:solidFill>
                            <a:schemeClr val="tx1"/>
                          </a:solidFill>
                        </a:rPr>
                        <a:t>DD </a:t>
                      </a:r>
                      <a:r>
                        <a:rPr lang="en-US" sz="1400" b="1" dirty="0" smtClean="0">
                          <a:solidFill>
                            <a:schemeClr val="tx1"/>
                          </a:solidFill>
                        </a:rPr>
                        <a:t>)</a:t>
                      </a:r>
                      <a:endParaRPr lang="en-US" sz="1400" b="1" baseline="30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2771">
                <a:tc>
                  <a:txBody>
                    <a:bodyPr/>
                    <a:lstStyle/>
                    <a:p>
                      <a:pPr algn="ctr"/>
                      <a:r>
                        <a:rPr lang="en-US" sz="1400" dirty="0" smtClean="0"/>
                        <a:t>70%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9.7%</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4.80%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10.5%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5.12%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85%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5.44%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100%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6.48%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custDataLst>
              <p:tags r:id="rId2"/>
            </p:custDataLst>
          </p:nvPr>
        </p:nvSpPr>
        <p:spPr/>
        <p:txBody>
          <a:bodyPr/>
          <a:lstStyle/>
          <a:p>
            <a:r>
              <a:rPr lang="en-US" dirty="0" smtClean="0"/>
              <a:t>Voltage variation and Decoupling Capacitance benefits</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77E1A25D-54FA-4141-A51A-D4B56A420532}" type="slidenum">
              <a:rPr lang="en-US" altLang="en-US" smtClean="0"/>
              <a:pPr>
                <a:defRPr/>
              </a:pPr>
              <a:t>49</a:t>
            </a:fld>
            <a:endParaRPr lang="en-US" altLang="en-US"/>
          </a:p>
        </p:txBody>
      </p:sp>
      <p:graphicFrame>
        <p:nvGraphicFramePr>
          <p:cNvPr id="6" name="Table 5"/>
          <p:cNvGraphicFramePr>
            <a:graphicFrameLocks noGrp="1"/>
          </p:cNvGraphicFramePr>
          <p:nvPr>
            <p:custDataLst>
              <p:tags r:id="rId5"/>
            </p:custDataLst>
          </p:nvPr>
        </p:nvGraphicFramePr>
        <p:xfrm>
          <a:off x="1447800" y="1752600"/>
          <a:ext cx="6705600" cy="3172095"/>
        </p:xfrm>
        <a:graphic>
          <a:graphicData uri="http://schemas.openxmlformats.org/drawingml/2006/table">
            <a:tbl>
              <a:tblPr firstRow="1" bandRow="1">
                <a:tableStyleId>{5A111915-BE36-4E01-A7E5-04B1672EAD32}</a:tableStyleId>
              </a:tblPr>
              <a:tblGrid>
                <a:gridCol w="2342921"/>
                <a:gridCol w="2287135"/>
                <a:gridCol w="2075544"/>
              </a:tblGrid>
              <a:tr h="402771">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Voltage Variation</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Decoupling Cap.</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Relative power threshold</a:t>
                      </a:r>
                      <a:r>
                        <a:rPr lang="en-US" sz="1400" baseline="0" dirty="0" smtClean="0">
                          <a:solidFill>
                            <a:schemeClr val="tx1"/>
                          </a:solidFill>
                        </a:rPr>
                        <a:t> </a:t>
                      </a:r>
                      <a:endParaRPr lang="en-US" sz="1400" dirty="0" smtClean="0">
                        <a:solidFill>
                          <a:schemeClr val="tx1"/>
                        </a:solidFill>
                      </a:endParaRPr>
                    </a:p>
                    <a:p>
                      <a:pPr algn="ct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On-chip </a:t>
                      </a:r>
                      <a:r>
                        <a:rPr lang="en-US" sz="1400" dirty="0" err="1" smtClean="0">
                          <a:solidFill>
                            <a:schemeClr val="tx1"/>
                          </a:solidFill>
                        </a:rPr>
                        <a:t>Decap</a:t>
                      </a:r>
                      <a:r>
                        <a:rPr lang="en-US" sz="1400" dirty="0" smtClean="0">
                          <a:solidFill>
                            <a:schemeClr val="tx1"/>
                          </a:solidFill>
                        </a:rPr>
                        <a:t> </a:t>
                      </a:r>
                    </a:p>
                    <a:p>
                      <a:pPr algn="ctr"/>
                      <a:r>
                        <a:rPr lang="en-US" sz="1400" b="1" dirty="0" smtClean="0">
                          <a:solidFill>
                            <a:schemeClr val="tx1"/>
                          </a:solidFill>
                        </a:rPr>
                        <a:t>(%of total Core Area)</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Max. Voltage Variation</a:t>
                      </a:r>
                      <a:r>
                        <a:rPr lang="el-GR" sz="1400" dirty="0" smtClean="0">
                          <a:solidFill>
                            <a:schemeClr val="tx1"/>
                          </a:solidFill>
                        </a:rPr>
                        <a:t> </a:t>
                      </a:r>
                      <a:endParaRPr lang="en-US" sz="1400" dirty="0" smtClean="0">
                        <a:solidFill>
                          <a:schemeClr val="tx1"/>
                        </a:solidFill>
                      </a:endParaRPr>
                    </a:p>
                    <a:p>
                      <a:pPr algn="ctr"/>
                      <a:r>
                        <a:rPr lang="el-GR" sz="1400" b="1" dirty="0" smtClean="0">
                          <a:solidFill>
                            <a:schemeClr val="tx1"/>
                          </a:solidFill>
                        </a:rPr>
                        <a:t>(% </a:t>
                      </a:r>
                      <a:r>
                        <a:rPr lang="en-US" sz="1400" b="1" dirty="0" smtClean="0">
                          <a:solidFill>
                            <a:schemeClr val="tx1"/>
                          </a:solidFill>
                        </a:rPr>
                        <a:t>V</a:t>
                      </a:r>
                      <a:r>
                        <a:rPr lang="en-US" sz="1400" b="1" baseline="-25000" dirty="0" smtClean="0">
                          <a:solidFill>
                            <a:schemeClr val="tx1"/>
                          </a:solidFill>
                        </a:rPr>
                        <a:t>DD </a:t>
                      </a:r>
                      <a:r>
                        <a:rPr lang="en-US" sz="1400" b="1" dirty="0" smtClean="0">
                          <a:solidFill>
                            <a:schemeClr val="tx1"/>
                          </a:solidFill>
                        </a:rPr>
                        <a:t>)</a:t>
                      </a:r>
                      <a:endParaRPr lang="en-US" sz="1400" b="1" baseline="30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2771">
                <a:tc>
                  <a:txBody>
                    <a:bodyPr/>
                    <a:lstStyle/>
                    <a:p>
                      <a:pPr algn="ctr"/>
                      <a:r>
                        <a:rPr lang="en-US" sz="1400" dirty="0" smtClean="0"/>
                        <a:t>70%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9.7%</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4.80%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10.5%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5.12%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85%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5.44%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100%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6.48%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Rectangle 10"/>
          <p:cNvSpPr/>
          <p:nvPr/>
        </p:nvSpPr>
        <p:spPr>
          <a:xfrm>
            <a:off x="3810000" y="1676400"/>
            <a:ext cx="2209800" cy="335280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custDataLst>
              <p:tags r:id="rId2"/>
            </p:custDataLst>
          </p:nvPr>
        </p:nvSpPr>
        <p:spPr/>
        <p:txBody>
          <a:bodyPr/>
          <a:lstStyle/>
          <a:p>
            <a:r>
              <a:rPr lang="en-US" dirty="0" smtClean="0"/>
              <a:t>Voltage variation and Decoupling Capacitance benefits</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77E1A25D-54FA-4141-A51A-D4B56A420532}" type="slidenum">
              <a:rPr lang="en-US" altLang="en-US" smtClean="0"/>
              <a:pPr>
                <a:defRPr/>
              </a:pPr>
              <a:t>50</a:t>
            </a:fld>
            <a:endParaRPr lang="en-US" altLang="en-US"/>
          </a:p>
        </p:txBody>
      </p:sp>
      <p:graphicFrame>
        <p:nvGraphicFramePr>
          <p:cNvPr id="6" name="Table 5"/>
          <p:cNvGraphicFramePr>
            <a:graphicFrameLocks noGrp="1"/>
          </p:cNvGraphicFramePr>
          <p:nvPr>
            <p:custDataLst>
              <p:tags r:id="rId5"/>
            </p:custDataLst>
          </p:nvPr>
        </p:nvGraphicFramePr>
        <p:xfrm>
          <a:off x="1447800" y="1752600"/>
          <a:ext cx="6705600" cy="3172095"/>
        </p:xfrm>
        <a:graphic>
          <a:graphicData uri="http://schemas.openxmlformats.org/drawingml/2006/table">
            <a:tbl>
              <a:tblPr firstRow="1" bandRow="1">
                <a:tableStyleId>{5A111915-BE36-4E01-A7E5-04B1672EAD32}</a:tableStyleId>
              </a:tblPr>
              <a:tblGrid>
                <a:gridCol w="2342921"/>
                <a:gridCol w="2287135"/>
                <a:gridCol w="2075544"/>
              </a:tblGrid>
              <a:tr h="402771">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Voltage Variation</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Decoupling Cap.</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Relative power threshold</a:t>
                      </a:r>
                      <a:r>
                        <a:rPr lang="en-US" sz="1400" baseline="0" dirty="0" smtClean="0">
                          <a:solidFill>
                            <a:schemeClr val="tx1"/>
                          </a:solidFill>
                        </a:rPr>
                        <a:t> </a:t>
                      </a:r>
                      <a:endParaRPr lang="en-US" sz="1400" dirty="0" smtClean="0">
                        <a:solidFill>
                          <a:schemeClr val="tx1"/>
                        </a:solidFill>
                      </a:endParaRPr>
                    </a:p>
                    <a:p>
                      <a:pPr algn="ct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On-chip </a:t>
                      </a:r>
                      <a:r>
                        <a:rPr lang="en-US" sz="1400" dirty="0" err="1" smtClean="0">
                          <a:solidFill>
                            <a:schemeClr val="tx1"/>
                          </a:solidFill>
                        </a:rPr>
                        <a:t>Decap</a:t>
                      </a:r>
                      <a:r>
                        <a:rPr lang="en-US" sz="1400" dirty="0" smtClean="0">
                          <a:solidFill>
                            <a:schemeClr val="tx1"/>
                          </a:solidFill>
                        </a:rPr>
                        <a:t> </a:t>
                      </a:r>
                    </a:p>
                    <a:p>
                      <a:pPr algn="ctr"/>
                      <a:r>
                        <a:rPr lang="en-US" sz="1400" b="1" dirty="0" smtClean="0">
                          <a:solidFill>
                            <a:schemeClr val="tx1"/>
                          </a:solidFill>
                        </a:rPr>
                        <a:t>(%of total Core Area)</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Max. Voltage Variation</a:t>
                      </a:r>
                      <a:r>
                        <a:rPr lang="el-GR" sz="1400" dirty="0" smtClean="0">
                          <a:solidFill>
                            <a:schemeClr val="tx1"/>
                          </a:solidFill>
                        </a:rPr>
                        <a:t> </a:t>
                      </a:r>
                      <a:endParaRPr lang="en-US" sz="1400" dirty="0" smtClean="0">
                        <a:solidFill>
                          <a:schemeClr val="tx1"/>
                        </a:solidFill>
                      </a:endParaRPr>
                    </a:p>
                    <a:p>
                      <a:pPr algn="ctr"/>
                      <a:r>
                        <a:rPr lang="el-GR" sz="1400" b="1" dirty="0" smtClean="0">
                          <a:solidFill>
                            <a:schemeClr val="tx1"/>
                          </a:solidFill>
                        </a:rPr>
                        <a:t>(% </a:t>
                      </a:r>
                      <a:r>
                        <a:rPr lang="en-US" sz="1400" b="1" dirty="0" smtClean="0">
                          <a:solidFill>
                            <a:schemeClr val="tx1"/>
                          </a:solidFill>
                        </a:rPr>
                        <a:t>V</a:t>
                      </a:r>
                      <a:r>
                        <a:rPr lang="en-US" sz="1400" b="1" baseline="-25000" dirty="0" smtClean="0">
                          <a:solidFill>
                            <a:schemeClr val="tx1"/>
                          </a:solidFill>
                        </a:rPr>
                        <a:t>DD </a:t>
                      </a:r>
                      <a:r>
                        <a:rPr lang="en-US" sz="1400" b="1" dirty="0" smtClean="0">
                          <a:solidFill>
                            <a:schemeClr val="tx1"/>
                          </a:solidFill>
                        </a:rPr>
                        <a:t>)</a:t>
                      </a:r>
                      <a:endParaRPr lang="en-US" sz="1400" b="1" baseline="30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2771">
                <a:tc>
                  <a:txBody>
                    <a:bodyPr/>
                    <a:lstStyle/>
                    <a:p>
                      <a:pPr algn="ctr"/>
                      <a:r>
                        <a:rPr lang="en-US" sz="1400" dirty="0" smtClean="0"/>
                        <a:t>70%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9.7%</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4.80%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10.5%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5.12%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85%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5.44%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100%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6.48%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1" name="Rectangle 10"/>
          <p:cNvSpPr/>
          <p:nvPr/>
        </p:nvSpPr>
        <p:spPr>
          <a:xfrm>
            <a:off x="6096000" y="1676400"/>
            <a:ext cx="2133600" cy="3352800"/>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custDataLst>
              <p:tags r:id="rId2"/>
            </p:custDataLst>
          </p:nvPr>
        </p:nvSpPr>
        <p:spPr/>
        <p:txBody>
          <a:bodyPr/>
          <a:lstStyle/>
          <a:p>
            <a:r>
              <a:rPr lang="en-US" dirty="0" smtClean="0"/>
              <a:t>Voltage variation and Decoupling Capacitance benefits</a:t>
            </a:r>
          </a:p>
        </p:txBody>
      </p:sp>
      <p:sp>
        <p:nvSpPr>
          <p:cNvPr id="26627" name="Content Placeholder 2"/>
          <p:cNvSpPr>
            <a:spLocks noGrp="1"/>
          </p:cNvSpPr>
          <p:nvPr>
            <p:ph idx="1"/>
            <p:custDataLst>
              <p:tags r:id="rId3"/>
            </p:custDataLst>
          </p:nvPr>
        </p:nvSpPr>
        <p:spPr>
          <a:xfrm>
            <a:off x="457200" y="5105400"/>
            <a:ext cx="8458200" cy="762000"/>
          </a:xfrm>
        </p:spPr>
        <p:txBody>
          <a:bodyPr/>
          <a:lstStyle/>
          <a:p>
            <a:r>
              <a:rPr lang="en-US" sz="2400" dirty="0" smtClean="0"/>
              <a:t>Reduced Peak Power          Less required on-chip </a:t>
            </a:r>
            <a:r>
              <a:rPr lang="en-US" sz="2400" dirty="0" err="1" smtClean="0"/>
              <a:t>decap</a:t>
            </a:r>
            <a:endParaRPr lang="en-US" sz="2400" dirty="0" smtClean="0"/>
          </a:p>
          <a:p>
            <a:pPr>
              <a:buFont typeface="Wingdings" pitchFamily="2" charset="2"/>
              <a:buNone/>
            </a:pPr>
            <a:r>
              <a:rPr lang="en-US" sz="2400" dirty="0" smtClean="0"/>
              <a:t>				            Smaller Voltage Variation</a:t>
            </a:r>
          </a:p>
        </p:txBody>
      </p:sp>
      <p:sp>
        <p:nvSpPr>
          <p:cNvPr id="4" name="Footer Placeholder 3"/>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5"/>
            </p:custDataLst>
          </p:nvPr>
        </p:nvSpPr>
        <p:spPr/>
        <p:txBody>
          <a:bodyPr/>
          <a:lstStyle/>
          <a:p>
            <a:pPr>
              <a:defRPr/>
            </a:pPr>
            <a:fld id="{77E1A25D-54FA-4141-A51A-D4B56A420532}" type="slidenum">
              <a:rPr lang="en-US" altLang="en-US" smtClean="0"/>
              <a:pPr>
                <a:defRPr/>
              </a:pPr>
              <a:t>51</a:t>
            </a:fld>
            <a:endParaRPr lang="en-US" altLang="en-US"/>
          </a:p>
        </p:txBody>
      </p:sp>
      <p:graphicFrame>
        <p:nvGraphicFramePr>
          <p:cNvPr id="6" name="Table 5"/>
          <p:cNvGraphicFramePr>
            <a:graphicFrameLocks noGrp="1"/>
          </p:cNvGraphicFramePr>
          <p:nvPr>
            <p:custDataLst>
              <p:tags r:id="rId6"/>
            </p:custDataLst>
          </p:nvPr>
        </p:nvGraphicFramePr>
        <p:xfrm>
          <a:off x="1447800" y="1752600"/>
          <a:ext cx="6705600" cy="3172095"/>
        </p:xfrm>
        <a:graphic>
          <a:graphicData uri="http://schemas.openxmlformats.org/drawingml/2006/table">
            <a:tbl>
              <a:tblPr firstRow="1" bandRow="1">
                <a:tableStyleId>{5A111915-BE36-4E01-A7E5-04B1672EAD32}</a:tableStyleId>
              </a:tblPr>
              <a:tblGrid>
                <a:gridCol w="2342921"/>
                <a:gridCol w="2287135"/>
                <a:gridCol w="2075544"/>
              </a:tblGrid>
              <a:tr h="402771">
                <a:tc>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Voltage Variation</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i="1" dirty="0" smtClean="0">
                          <a:solidFill>
                            <a:schemeClr val="accent1">
                              <a:lumMod val="50000"/>
                            </a:schemeClr>
                          </a:solidFill>
                        </a:rPr>
                        <a:t>Constant</a:t>
                      </a:r>
                      <a:r>
                        <a:rPr lang="en-US" sz="1800" b="1" i="1" baseline="0" dirty="0" smtClean="0">
                          <a:solidFill>
                            <a:schemeClr val="accent1">
                              <a:lumMod val="50000"/>
                            </a:schemeClr>
                          </a:solidFill>
                        </a:rPr>
                        <a:t> Decoupling Cap.</a:t>
                      </a:r>
                      <a:endParaRPr lang="en-US" sz="1800" b="1" i="1" dirty="0">
                        <a:solidFill>
                          <a:schemeClr val="accent1">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Relative power threshold</a:t>
                      </a:r>
                      <a:r>
                        <a:rPr lang="en-US" sz="1400" baseline="0" dirty="0" smtClean="0">
                          <a:solidFill>
                            <a:schemeClr val="tx1"/>
                          </a:solidFill>
                        </a:rPr>
                        <a:t> </a:t>
                      </a:r>
                      <a:endParaRPr lang="en-US" sz="1400" dirty="0" smtClean="0">
                        <a:solidFill>
                          <a:schemeClr val="tx1"/>
                        </a:solidFill>
                      </a:endParaRPr>
                    </a:p>
                    <a:p>
                      <a:pPr algn="ct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On-chip </a:t>
                      </a:r>
                      <a:r>
                        <a:rPr lang="en-US" sz="1400" dirty="0" err="1" smtClean="0">
                          <a:solidFill>
                            <a:schemeClr val="tx1"/>
                          </a:solidFill>
                        </a:rPr>
                        <a:t>Decap</a:t>
                      </a:r>
                      <a:r>
                        <a:rPr lang="en-US" sz="1400" dirty="0" smtClean="0">
                          <a:solidFill>
                            <a:schemeClr val="tx1"/>
                          </a:solidFill>
                        </a:rPr>
                        <a:t> </a:t>
                      </a:r>
                    </a:p>
                    <a:p>
                      <a:pPr algn="ctr"/>
                      <a:r>
                        <a:rPr lang="en-US" sz="1400" b="1" dirty="0" smtClean="0">
                          <a:solidFill>
                            <a:schemeClr val="tx1"/>
                          </a:solidFill>
                        </a:rPr>
                        <a:t>(%of total Core Area)</a:t>
                      </a:r>
                      <a:endParaRPr lang="en-US" sz="1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smtClean="0">
                          <a:solidFill>
                            <a:schemeClr val="tx1"/>
                          </a:solidFill>
                        </a:rPr>
                        <a:t>Max. Voltage Variation</a:t>
                      </a:r>
                      <a:r>
                        <a:rPr lang="el-GR" sz="1400" dirty="0" smtClean="0">
                          <a:solidFill>
                            <a:schemeClr val="tx1"/>
                          </a:solidFill>
                        </a:rPr>
                        <a:t> </a:t>
                      </a:r>
                      <a:endParaRPr lang="en-US" sz="1400" dirty="0" smtClean="0">
                        <a:solidFill>
                          <a:schemeClr val="tx1"/>
                        </a:solidFill>
                      </a:endParaRPr>
                    </a:p>
                    <a:p>
                      <a:pPr algn="ctr"/>
                      <a:r>
                        <a:rPr lang="el-GR" sz="1400" b="1" dirty="0" smtClean="0">
                          <a:solidFill>
                            <a:schemeClr val="tx1"/>
                          </a:solidFill>
                        </a:rPr>
                        <a:t>(% </a:t>
                      </a:r>
                      <a:r>
                        <a:rPr lang="en-US" sz="1400" b="1" dirty="0" smtClean="0">
                          <a:solidFill>
                            <a:schemeClr val="tx1"/>
                          </a:solidFill>
                        </a:rPr>
                        <a:t>V</a:t>
                      </a:r>
                      <a:r>
                        <a:rPr lang="en-US" sz="1400" b="1" baseline="-25000" dirty="0" smtClean="0">
                          <a:solidFill>
                            <a:schemeClr val="tx1"/>
                          </a:solidFill>
                        </a:rPr>
                        <a:t>DD </a:t>
                      </a:r>
                      <a:r>
                        <a:rPr lang="en-US" sz="1400" b="1" dirty="0" smtClean="0">
                          <a:solidFill>
                            <a:schemeClr val="tx1"/>
                          </a:solidFill>
                        </a:rPr>
                        <a:t>)</a:t>
                      </a:r>
                      <a:endParaRPr lang="en-US" sz="1400" b="1" baseline="300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2771">
                <a:tc>
                  <a:txBody>
                    <a:bodyPr/>
                    <a:lstStyle/>
                    <a:p>
                      <a:pPr algn="ctr"/>
                      <a:r>
                        <a:rPr lang="en-US" sz="1400" dirty="0" smtClean="0"/>
                        <a:t>70%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9.7%</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4.80%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smtClean="0"/>
                        <a:t>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10.5%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5.12%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85%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5.44%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2771">
                <a:tc>
                  <a:txBody>
                    <a:bodyPr/>
                    <a:lstStyle/>
                    <a:p>
                      <a:pPr algn="ctr"/>
                      <a:r>
                        <a:rPr lang="en-US" sz="1400" dirty="0" smtClean="0"/>
                        <a:t>100%</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15%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smtClean="0"/>
                        <a:t>6.48%</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7" name="Right Arrow 6"/>
          <p:cNvSpPr/>
          <p:nvPr>
            <p:custDataLst>
              <p:tags r:id="rId7"/>
            </p:custDataLst>
          </p:nvPr>
        </p:nvSpPr>
        <p:spPr>
          <a:xfrm>
            <a:off x="3581400" y="51816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ight Arrow 7"/>
          <p:cNvSpPr/>
          <p:nvPr>
            <p:custDataLst>
              <p:tags r:id="rId8"/>
            </p:custDataLst>
          </p:nvPr>
        </p:nvSpPr>
        <p:spPr>
          <a:xfrm>
            <a:off x="3581400" y="56388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ustDataLst>
      <p:tags r:id="rId1"/>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custDataLst>
              <p:tags r:id="rId2"/>
            </p:custDataLst>
          </p:nvPr>
        </p:nvSpPr>
        <p:spPr/>
        <p:txBody>
          <a:bodyPr/>
          <a:lstStyle/>
          <a:p>
            <a:pPr>
              <a:defRPr/>
            </a:pPr>
            <a:r>
              <a:rPr lang="en-US" altLang="en-US"/>
              <a:t>Micro'09: Kontorinis, Shayan, Kumar, Tullsen</a:t>
            </a:r>
          </a:p>
        </p:txBody>
      </p:sp>
      <p:sp>
        <p:nvSpPr>
          <p:cNvPr id="5" name="Slide Number Placeholder 5"/>
          <p:cNvSpPr>
            <a:spLocks noGrp="1"/>
          </p:cNvSpPr>
          <p:nvPr>
            <p:ph type="sldNum" sz="quarter" idx="12"/>
            <p:custDataLst>
              <p:tags r:id="rId3"/>
            </p:custDataLst>
          </p:nvPr>
        </p:nvSpPr>
        <p:spPr/>
        <p:txBody>
          <a:bodyPr/>
          <a:lstStyle/>
          <a:p>
            <a:pPr>
              <a:defRPr/>
            </a:pPr>
            <a:fld id="{BF3DE48F-D962-40F2-9DF6-9A7840164824}" type="slidenum">
              <a:rPr lang="en-US" altLang="en-US"/>
              <a:pPr>
                <a:defRPr/>
              </a:pPr>
              <a:t>52</a:t>
            </a:fld>
            <a:endParaRPr lang="en-US" altLang="en-US"/>
          </a:p>
        </p:txBody>
      </p:sp>
      <p:sp>
        <p:nvSpPr>
          <p:cNvPr id="28676" name="Rectangle 2"/>
          <p:cNvSpPr>
            <a:spLocks noGrp="1" noChangeArrowheads="1"/>
          </p:cNvSpPr>
          <p:nvPr>
            <p:ph type="title"/>
            <p:custDataLst>
              <p:tags r:id="rId4"/>
            </p:custDataLst>
          </p:nvPr>
        </p:nvSpPr>
        <p:spPr/>
        <p:txBody>
          <a:bodyPr/>
          <a:lstStyle/>
          <a:p>
            <a:pPr eaLnBrk="1" hangingPunct="1"/>
            <a:r>
              <a:rPr lang="en-US" dirty="0" smtClean="0"/>
              <a:t>Conclusions</a:t>
            </a:r>
          </a:p>
        </p:txBody>
      </p:sp>
      <p:sp>
        <p:nvSpPr>
          <p:cNvPr id="28677" name="Rectangle 3"/>
          <p:cNvSpPr>
            <a:spLocks noGrp="1" noChangeArrowheads="1"/>
          </p:cNvSpPr>
          <p:nvPr>
            <p:ph type="body" idx="1"/>
            <p:custDataLst>
              <p:tags r:id="rId5"/>
            </p:custDataLst>
          </p:nvPr>
        </p:nvSpPr>
        <p:spPr/>
        <p:txBody>
          <a:bodyPr/>
          <a:lstStyle/>
          <a:p>
            <a:pPr eaLnBrk="1" hangingPunct="1"/>
            <a:r>
              <a:rPr lang="en-US" b="1" dirty="0" smtClean="0"/>
              <a:t>Peak power </a:t>
            </a:r>
            <a:r>
              <a:rPr lang="en-US" dirty="0" smtClean="0"/>
              <a:t>is a first-class design constraint</a:t>
            </a:r>
          </a:p>
          <a:p>
            <a:pPr lvl="1" eaLnBrk="1" hangingPunct="1"/>
            <a:r>
              <a:rPr lang="en-US" dirty="0" smtClean="0"/>
              <a:t>Impacts the efficiency and cost of power delivery.</a:t>
            </a:r>
          </a:p>
          <a:p>
            <a:pPr lvl="1" eaLnBrk="1" hangingPunct="1"/>
            <a:r>
              <a:rPr lang="en-US" dirty="0" smtClean="0"/>
              <a:t>Affects on-chip decoupling capacitance and voltage variation</a:t>
            </a:r>
          </a:p>
          <a:p>
            <a:pPr eaLnBrk="1" hangingPunct="1"/>
            <a:r>
              <a:rPr lang="en-US" dirty="0" smtClean="0"/>
              <a:t>Table-driven adaptation can be employed to limit peak power while giving up little performance</a:t>
            </a:r>
          </a:p>
          <a:p>
            <a:pPr lvl="1" eaLnBrk="1" hangingPunct="1"/>
            <a:r>
              <a:rPr lang="en-US" dirty="0" smtClean="0"/>
              <a:t>Reduces Peak power by 25% while giving up less than 5% performance.</a:t>
            </a:r>
          </a:p>
          <a:p>
            <a:pPr eaLnBrk="1" hangingPunct="1"/>
            <a:endParaRPr lang="en-US" dirty="0" smtClean="0"/>
          </a:p>
        </p:txBody>
      </p:sp>
    </p:spTree>
    <p:custDataLst>
      <p:tags r:id="rId1"/>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custDataLst>
              <p:tags r:id="rId2"/>
            </p:custDataLst>
          </p:nvPr>
        </p:nvSpPr>
        <p:spPr>
          <a:xfrm>
            <a:off x="609600" y="1143000"/>
            <a:ext cx="8229600" cy="3455988"/>
          </a:xfrm>
        </p:spPr>
        <p:txBody>
          <a:bodyPr/>
          <a:lstStyle/>
          <a:p>
            <a:pPr eaLnBrk="1" hangingPunct="1"/>
            <a:r>
              <a:rPr lang="en-US" sz="4000" dirty="0" smtClean="0"/>
              <a:t>Reducing Peak Power with a </a:t>
            </a:r>
            <a:br>
              <a:rPr lang="en-US" sz="4000" dirty="0" smtClean="0"/>
            </a:br>
            <a:r>
              <a:rPr lang="en-US" sz="4000" dirty="0" smtClean="0"/>
              <a:t>Table-Driven Adaptive Processor Core</a:t>
            </a:r>
          </a:p>
        </p:txBody>
      </p:sp>
      <p:sp>
        <p:nvSpPr>
          <p:cNvPr id="3075" name="Rectangle 3"/>
          <p:cNvSpPr>
            <a:spLocks noGrp="1" noChangeArrowheads="1"/>
          </p:cNvSpPr>
          <p:nvPr>
            <p:ph type="subTitle" idx="1"/>
            <p:custDataLst>
              <p:tags r:id="rId3"/>
            </p:custDataLst>
          </p:nvPr>
        </p:nvSpPr>
        <p:spPr>
          <a:xfrm>
            <a:off x="762000" y="4267200"/>
            <a:ext cx="6400800" cy="1752600"/>
          </a:xfrm>
        </p:spPr>
        <p:txBody>
          <a:bodyPr/>
          <a:lstStyle/>
          <a:p>
            <a:pPr eaLnBrk="1" hangingPunct="1"/>
            <a:r>
              <a:rPr lang="en-US" sz="2400" dirty="0" err="1" smtClean="0">
                <a:solidFill>
                  <a:srgbClr val="FF0000"/>
                </a:solidFill>
                <a:latin typeface="+mj-lt"/>
              </a:rPr>
              <a:t>Vasileios</a:t>
            </a:r>
            <a:r>
              <a:rPr lang="en-US" sz="2400" dirty="0" smtClean="0">
                <a:solidFill>
                  <a:srgbClr val="FF0000"/>
                </a:solidFill>
                <a:latin typeface="+mj-lt"/>
              </a:rPr>
              <a:t> </a:t>
            </a:r>
            <a:r>
              <a:rPr lang="en-US" sz="2400" dirty="0" err="1" smtClean="0">
                <a:solidFill>
                  <a:srgbClr val="FF0000"/>
                </a:solidFill>
                <a:latin typeface="+mj-lt"/>
              </a:rPr>
              <a:t>Kontorinis</a:t>
            </a:r>
            <a:r>
              <a:rPr lang="en-US" sz="2400" dirty="0" smtClean="0">
                <a:solidFill>
                  <a:srgbClr val="FF0000"/>
                </a:solidFill>
                <a:latin typeface="+mj-lt"/>
              </a:rPr>
              <a:t> (UCSD)</a:t>
            </a:r>
          </a:p>
          <a:p>
            <a:pPr eaLnBrk="1" hangingPunct="1"/>
            <a:r>
              <a:rPr lang="en-US" sz="2400" dirty="0" err="1" smtClean="0">
                <a:latin typeface="+mj-lt"/>
              </a:rPr>
              <a:t>Amirali</a:t>
            </a:r>
            <a:r>
              <a:rPr lang="en-US" sz="2400" dirty="0" smtClean="0">
                <a:latin typeface="+mj-lt"/>
              </a:rPr>
              <a:t> </a:t>
            </a:r>
            <a:r>
              <a:rPr lang="en-US" sz="2400" dirty="0" err="1" smtClean="0">
                <a:latin typeface="+mj-lt"/>
              </a:rPr>
              <a:t>Shayan</a:t>
            </a:r>
            <a:r>
              <a:rPr lang="en-US" sz="2400" dirty="0" smtClean="0">
                <a:latin typeface="+mj-lt"/>
              </a:rPr>
              <a:t> (UCSD)</a:t>
            </a:r>
          </a:p>
          <a:p>
            <a:pPr eaLnBrk="1" hangingPunct="1"/>
            <a:r>
              <a:rPr lang="en-US" sz="2400" dirty="0" err="1" smtClean="0">
                <a:latin typeface="+mj-lt"/>
              </a:rPr>
              <a:t>Rakesh</a:t>
            </a:r>
            <a:r>
              <a:rPr lang="en-US" sz="2400" dirty="0" smtClean="0">
                <a:latin typeface="+mj-lt"/>
              </a:rPr>
              <a:t> Kumar (UIUC)</a:t>
            </a:r>
          </a:p>
          <a:p>
            <a:pPr eaLnBrk="1" hangingPunct="1"/>
            <a:r>
              <a:rPr lang="en-US" sz="2400" dirty="0" smtClean="0">
                <a:latin typeface="+mj-lt"/>
              </a:rPr>
              <a:t>Dean </a:t>
            </a:r>
            <a:r>
              <a:rPr lang="en-US" sz="2400" dirty="0" err="1" smtClean="0">
                <a:latin typeface="+mj-lt"/>
              </a:rPr>
              <a:t>Tullsen</a:t>
            </a:r>
            <a:r>
              <a:rPr lang="en-US" sz="2400" dirty="0" smtClean="0">
                <a:latin typeface="+mj-lt"/>
              </a:rPr>
              <a:t> (UCSD)</a:t>
            </a:r>
          </a:p>
        </p:txBody>
      </p:sp>
      <p:pic>
        <p:nvPicPr>
          <p:cNvPr id="3076" name="Picture 4" descr="UCSD Logo"/>
          <p:cNvPicPr>
            <a:picLocks noChangeAspect="1" noChangeArrowheads="1"/>
          </p:cNvPicPr>
          <p:nvPr>
            <p:custDataLst>
              <p:tags r:id="rId4"/>
            </p:custDataLst>
          </p:nvPr>
        </p:nvPicPr>
        <p:blipFill>
          <a:blip r:embed="rId7"/>
          <a:srcRect l="7777" t="5292" r="67778" b="4741"/>
          <a:stretch>
            <a:fillRect/>
          </a:stretch>
        </p:blipFill>
        <p:spPr bwMode="auto">
          <a:xfrm>
            <a:off x="4876800" y="4267200"/>
            <a:ext cx="1828800" cy="1412875"/>
          </a:xfrm>
          <a:prstGeom prst="rect">
            <a:avLst/>
          </a:prstGeom>
          <a:noFill/>
          <a:ln w="9525">
            <a:noFill/>
            <a:miter lim="800000"/>
            <a:headEnd/>
            <a:tailEnd/>
          </a:ln>
        </p:spPr>
      </p:pic>
      <p:pic>
        <p:nvPicPr>
          <p:cNvPr id="76801" name="Picture 1"/>
          <p:cNvPicPr>
            <a:picLocks noChangeAspect="1" noChangeArrowheads="1"/>
          </p:cNvPicPr>
          <p:nvPr/>
        </p:nvPicPr>
        <p:blipFill>
          <a:blip r:embed="rId8" cstate="print"/>
          <a:srcRect/>
          <a:stretch>
            <a:fillRect/>
          </a:stretch>
        </p:blipFill>
        <p:spPr bwMode="auto">
          <a:xfrm>
            <a:off x="7239000" y="4267200"/>
            <a:ext cx="1182495" cy="1531553"/>
          </a:xfrm>
          <a:prstGeom prst="rect">
            <a:avLst/>
          </a:prstGeom>
          <a:noFill/>
          <a:ln w="9525">
            <a:noFill/>
            <a:miter lim="800000"/>
            <a:headEnd/>
            <a:tailEnd/>
          </a:ln>
          <a:effectLst/>
        </p:spPr>
      </p:pic>
    </p:spTree>
    <p:custDataLst>
      <p:tags r:id="rId1"/>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custDataLst>
              <p:tags r:id="rId2"/>
            </p:custDataLst>
          </p:nvPr>
        </p:nvSpPr>
        <p:spPr>
          <a:xfrm>
            <a:off x="1524000" y="2819400"/>
            <a:ext cx="6019800" cy="1139825"/>
          </a:xfrm>
        </p:spPr>
        <p:txBody>
          <a:bodyPr/>
          <a:lstStyle/>
          <a:p>
            <a:pPr algn="ctr"/>
            <a:r>
              <a:rPr lang="en-US" sz="6000" smtClean="0"/>
              <a:t>Backup slides</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F3F568A2-8C5E-4292-ABF9-ED06167FD169}" type="slidenum">
              <a:rPr lang="en-US" altLang="en-US" smtClean="0"/>
              <a:pPr>
                <a:defRPr/>
              </a:pPr>
              <a:t>54</a:t>
            </a:fld>
            <a:endParaRPr lang="en-US" altLang="en-US"/>
          </a:p>
        </p:txBody>
      </p:sp>
    </p:spTree>
    <p:custDataLst>
      <p:tags r:id="rId1"/>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custDataLst>
              <p:tags r:id="rId2"/>
            </p:custDataLst>
          </p:nvPr>
        </p:nvSpPr>
        <p:spPr/>
        <p:txBody>
          <a:bodyPr/>
          <a:lstStyle/>
          <a:p>
            <a:r>
              <a:rPr lang="en-US" smtClean="0"/>
              <a:t>Design Space</a:t>
            </a:r>
          </a:p>
        </p:txBody>
      </p:sp>
      <p:sp>
        <p:nvSpPr>
          <p:cNvPr id="4" name="Footer Placeholder 3"/>
          <p:cNvSpPr>
            <a:spLocks noGrp="1"/>
          </p:cNvSpPr>
          <p:nvPr>
            <p:ph type="ftr" sz="quarter" idx="11"/>
            <p:custDataLst>
              <p:tags r:id="rId3"/>
            </p:custDataLst>
          </p:nvPr>
        </p:nvSpPr>
        <p:spPr/>
        <p:txBody>
          <a:bodyPr/>
          <a:lstStyle/>
          <a:p>
            <a:pPr>
              <a:defRPr/>
            </a:pPr>
            <a:r>
              <a:rPr lang="en-US" altLang="en-US" smtClean="0"/>
              <a:t>Micro'09: Kontorinis, Shayan, Kumar, Tullsen</a:t>
            </a:r>
            <a:endParaRPr lang="en-US" altLang="en-US"/>
          </a:p>
        </p:txBody>
      </p:sp>
      <p:sp>
        <p:nvSpPr>
          <p:cNvPr id="5" name="Slide Number Placeholder 4"/>
          <p:cNvSpPr>
            <a:spLocks noGrp="1"/>
          </p:cNvSpPr>
          <p:nvPr>
            <p:ph type="sldNum" sz="quarter" idx="12"/>
            <p:custDataLst>
              <p:tags r:id="rId4"/>
            </p:custDataLst>
          </p:nvPr>
        </p:nvSpPr>
        <p:spPr/>
        <p:txBody>
          <a:bodyPr/>
          <a:lstStyle/>
          <a:p>
            <a:pPr>
              <a:defRPr/>
            </a:pPr>
            <a:fld id="{CDBD0AA9-36F2-47CD-9B29-32E27AF3D0D4}" type="slidenum">
              <a:rPr lang="en-US" altLang="en-US" smtClean="0"/>
              <a:pPr>
                <a:defRPr/>
              </a:pPr>
              <a:t>55</a:t>
            </a:fld>
            <a:endParaRPr lang="en-US" altLang="en-US"/>
          </a:p>
        </p:txBody>
      </p:sp>
      <p:graphicFrame>
        <p:nvGraphicFramePr>
          <p:cNvPr id="6" name="Table 5"/>
          <p:cNvGraphicFramePr>
            <a:graphicFrameLocks noGrp="1"/>
          </p:cNvGraphicFramePr>
          <p:nvPr>
            <p:custDataLst>
              <p:tags r:id="rId5"/>
            </p:custDataLst>
          </p:nvPr>
        </p:nvGraphicFramePr>
        <p:xfrm>
          <a:off x="1981200" y="1447800"/>
          <a:ext cx="5486400" cy="4527180"/>
        </p:xfrm>
        <a:graphic>
          <a:graphicData uri="http://schemas.openxmlformats.org/drawingml/2006/table">
            <a:tbl>
              <a:tblPr bandRow="1">
                <a:tableStyleId>{5C22544A-7EE6-4342-B048-85BDC9FD1C3A}</a:tableStyleId>
              </a:tblPr>
              <a:tblGrid>
                <a:gridCol w="2743200"/>
                <a:gridCol w="2743200"/>
              </a:tblGrid>
              <a:tr h="451821">
                <a:tc>
                  <a:txBody>
                    <a:bodyPr/>
                    <a:lstStyle/>
                    <a:p>
                      <a:r>
                        <a:rPr lang="en-US" sz="1700" dirty="0" smtClean="0"/>
                        <a:t>INT instruction queue</a:t>
                      </a:r>
                      <a:endParaRPr lang="en-US" sz="1700" dirty="0"/>
                    </a:p>
                  </a:txBody>
                  <a:tcPr marL="193638" marR="193638" marT="96819" marB="96819"/>
                </a:tc>
                <a:tc>
                  <a:txBody>
                    <a:bodyPr/>
                    <a:lstStyle/>
                    <a:p>
                      <a:r>
                        <a:rPr lang="en-US" sz="1700" dirty="0" smtClean="0"/>
                        <a:t>16,32</a:t>
                      </a:r>
                      <a:r>
                        <a:rPr lang="en-US" sz="1700" baseline="0" dirty="0" smtClean="0"/>
                        <a:t> entries</a:t>
                      </a:r>
                      <a:endParaRPr lang="en-US" sz="1700" dirty="0"/>
                    </a:p>
                  </a:txBody>
                  <a:tcPr marL="193638" marR="193638" marT="96819" marB="96819"/>
                </a:tc>
              </a:tr>
              <a:tr h="451821">
                <a:tc>
                  <a:txBody>
                    <a:bodyPr/>
                    <a:lstStyle/>
                    <a:p>
                      <a:r>
                        <a:rPr lang="en-US" sz="1700" dirty="0" smtClean="0"/>
                        <a:t>FP</a:t>
                      </a:r>
                      <a:r>
                        <a:rPr lang="en-US" sz="1700" baseline="0" dirty="0" smtClean="0"/>
                        <a:t> instruction queue</a:t>
                      </a:r>
                      <a:endParaRPr lang="en-US" sz="1700" dirty="0"/>
                    </a:p>
                  </a:txBody>
                  <a:tcPr marL="193638" marR="193638" marT="96819" marB="96819"/>
                </a:tc>
                <a:tc>
                  <a:txBody>
                    <a:bodyPr/>
                    <a:lstStyle/>
                    <a:p>
                      <a:r>
                        <a:rPr lang="en-US" sz="1700" dirty="0" smtClean="0"/>
                        <a:t>16,32</a:t>
                      </a:r>
                      <a:r>
                        <a:rPr lang="en-US" sz="1700" baseline="0" dirty="0" smtClean="0"/>
                        <a:t> entries</a:t>
                      </a:r>
                      <a:endParaRPr lang="en-US" sz="1700" dirty="0"/>
                    </a:p>
                  </a:txBody>
                  <a:tcPr marL="193638" marR="193638" marT="96819" marB="96819"/>
                </a:tc>
              </a:tr>
              <a:tr h="451821">
                <a:tc>
                  <a:txBody>
                    <a:bodyPr/>
                    <a:lstStyle/>
                    <a:p>
                      <a:r>
                        <a:rPr lang="en-US" sz="1700" dirty="0" smtClean="0"/>
                        <a:t>INT registers</a:t>
                      </a:r>
                      <a:endParaRPr lang="en-US" sz="1700" dirty="0"/>
                    </a:p>
                  </a:txBody>
                  <a:tcPr marL="193638" marR="193638" marT="96819" marB="96819"/>
                </a:tc>
                <a:tc>
                  <a:txBody>
                    <a:bodyPr/>
                    <a:lstStyle/>
                    <a:p>
                      <a:r>
                        <a:rPr lang="en-US" sz="1700" dirty="0" smtClean="0"/>
                        <a:t>64,128</a:t>
                      </a:r>
                      <a:endParaRPr lang="en-US" sz="1700" dirty="0"/>
                    </a:p>
                  </a:txBody>
                  <a:tcPr marL="193638" marR="193638" marT="96819" marB="96819"/>
                </a:tc>
              </a:tr>
              <a:tr h="451821">
                <a:tc>
                  <a:txBody>
                    <a:bodyPr/>
                    <a:lstStyle/>
                    <a:p>
                      <a:r>
                        <a:rPr lang="en-US" sz="1700" dirty="0" smtClean="0"/>
                        <a:t>FP registers</a:t>
                      </a:r>
                      <a:endParaRPr lang="en-US" sz="1700" dirty="0"/>
                    </a:p>
                  </a:txBody>
                  <a:tcPr marL="193638" marR="193638" marT="96819" marB="96819"/>
                </a:tc>
                <a:tc>
                  <a:txBody>
                    <a:bodyPr/>
                    <a:lstStyle/>
                    <a:p>
                      <a:r>
                        <a:rPr lang="en-US" sz="1700" dirty="0" smtClean="0"/>
                        <a:t>64,128</a:t>
                      </a:r>
                      <a:endParaRPr lang="en-US" sz="1700" dirty="0"/>
                    </a:p>
                  </a:txBody>
                  <a:tcPr marL="193638" marR="193638" marT="96819" marB="96819"/>
                </a:tc>
              </a:tr>
              <a:tr h="451821">
                <a:tc>
                  <a:txBody>
                    <a:bodyPr/>
                    <a:lstStyle/>
                    <a:p>
                      <a:r>
                        <a:rPr lang="en-US" sz="1700" dirty="0" smtClean="0"/>
                        <a:t>INT </a:t>
                      </a:r>
                      <a:r>
                        <a:rPr lang="en-US" sz="1700" dirty="0" err="1" smtClean="0"/>
                        <a:t>alus</a:t>
                      </a:r>
                      <a:endParaRPr lang="en-US" sz="1700" dirty="0"/>
                    </a:p>
                  </a:txBody>
                  <a:tcPr marL="193638" marR="193638" marT="96819" marB="96819"/>
                </a:tc>
                <a:tc>
                  <a:txBody>
                    <a:bodyPr/>
                    <a:lstStyle/>
                    <a:p>
                      <a:r>
                        <a:rPr lang="en-US" sz="1700" dirty="0" smtClean="0"/>
                        <a:t>2,4</a:t>
                      </a:r>
                      <a:endParaRPr lang="en-US" sz="1700" dirty="0"/>
                    </a:p>
                  </a:txBody>
                  <a:tcPr marL="193638" marR="193638" marT="96819" marB="96819"/>
                </a:tc>
              </a:tr>
              <a:tr h="451821">
                <a:tc>
                  <a:txBody>
                    <a:bodyPr/>
                    <a:lstStyle/>
                    <a:p>
                      <a:r>
                        <a:rPr lang="en-US" sz="1700" dirty="0" smtClean="0"/>
                        <a:t>FP</a:t>
                      </a:r>
                      <a:r>
                        <a:rPr lang="en-US" sz="1700" baseline="0" dirty="0" smtClean="0"/>
                        <a:t> </a:t>
                      </a:r>
                      <a:r>
                        <a:rPr lang="en-US" sz="1700" baseline="0" dirty="0" err="1" smtClean="0"/>
                        <a:t>alus</a:t>
                      </a:r>
                      <a:endParaRPr lang="en-US" sz="1700" dirty="0"/>
                    </a:p>
                  </a:txBody>
                  <a:tcPr marL="193638" marR="193638" marT="96819" marB="96819"/>
                </a:tc>
                <a:tc>
                  <a:txBody>
                    <a:bodyPr/>
                    <a:lstStyle/>
                    <a:p>
                      <a:r>
                        <a:rPr lang="en-US" sz="1700" dirty="0" smtClean="0"/>
                        <a:t>1,2,3</a:t>
                      </a:r>
                      <a:endParaRPr lang="en-US" sz="1700" dirty="0"/>
                    </a:p>
                  </a:txBody>
                  <a:tcPr marL="193638" marR="193638" marT="96819" marB="96819"/>
                </a:tc>
              </a:tr>
              <a:tr h="451821">
                <a:tc>
                  <a:txBody>
                    <a:bodyPr/>
                    <a:lstStyle/>
                    <a:p>
                      <a:r>
                        <a:rPr lang="en-US" sz="1700" dirty="0" smtClean="0"/>
                        <a:t>Load/Store units</a:t>
                      </a:r>
                      <a:endParaRPr lang="en-US" sz="1700" dirty="0"/>
                    </a:p>
                  </a:txBody>
                  <a:tcPr marL="193638" marR="193638" marT="96819" marB="96819"/>
                </a:tc>
                <a:tc>
                  <a:txBody>
                    <a:bodyPr/>
                    <a:lstStyle/>
                    <a:p>
                      <a:r>
                        <a:rPr lang="en-US" sz="1700" dirty="0" smtClean="0"/>
                        <a:t>1,2</a:t>
                      </a:r>
                      <a:endParaRPr lang="en-US" sz="1700" dirty="0"/>
                    </a:p>
                  </a:txBody>
                  <a:tcPr marL="193638" marR="193638" marT="96819" marB="96819"/>
                </a:tc>
              </a:tr>
              <a:tr h="451821">
                <a:tc>
                  <a:txBody>
                    <a:bodyPr/>
                    <a:lstStyle/>
                    <a:p>
                      <a:r>
                        <a:rPr lang="en-US" sz="1700" dirty="0" smtClean="0"/>
                        <a:t>Reorder Buffer</a:t>
                      </a:r>
                      <a:endParaRPr lang="en-US" sz="1700" dirty="0"/>
                    </a:p>
                  </a:txBody>
                  <a:tcPr marL="193638" marR="193638" marT="96819" marB="96819"/>
                </a:tc>
                <a:tc>
                  <a:txBody>
                    <a:bodyPr/>
                    <a:lstStyle/>
                    <a:p>
                      <a:r>
                        <a:rPr lang="en-US" sz="1700" dirty="0" smtClean="0"/>
                        <a:t>128,256</a:t>
                      </a:r>
                      <a:r>
                        <a:rPr lang="en-US" sz="1700" baseline="0" dirty="0" smtClean="0"/>
                        <a:t> entries</a:t>
                      </a:r>
                      <a:endParaRPr lang="en-US" sz="1700" dirty="0"/>
                    </a:p>
                  </a:txBody>
                  <a:tcPr marL="193638" marR="193638" marT="96819" marB="96819"/>
                </a:tc>
              </a:tr>
              <a:tr h="451821">
                <a:tc>
                  <a:txBody>
                    <a:bodyPr/>
                    <a:lstStyle/>
                    <a:p>
                      <a:r>
                        <a:rPr lang="en-US" sz="1700" dirty="0" err="1" smtClean="0"/>
                        <a:t>Icache</a:t>
                      </a:r>
                      <a:endParaRPr lang="en-US" sz="1700" dirty="0"/>
                    </a:p>
                  </a:txBody>
                  <a:tcPr marL="193638" marR="193638" marT="96819" marB="96819"/>
                </a:tc>
                <a:tc>
                  <a:txBody>
                    <a:bodyPr/>
                    <a:lstStyle/>
                    <a:p>
                      <a:r>
                        <a:rPr lang="en-US" sz="1700" dirty="0" smtClean="0"/>
                        <a:t>1,2,4,8</a:t>
                      </a:r>
                      <a:r>
                        <a:rPr lang="en-US" sz="1700" baseline="0" dirty="0" smtClean="0"/>
                        <a:t> ways of 4K each</a:t>
                      </a:r>
                      <a:endParaRPr lang="en-US" sz="1700" dirty="0"/>
                    </a:p>
                  </a:txBody>
                  <a:tcPr marL="193638" marR="193638" marT="96819" marB="96819"/>
                </a:tc>
              </a:tr>
              <a:tr h="451821">
                <a:tc>
                  <a:txBody>
                    <a:bodyPr/>
                    <a:lstStyle/>
                    <a:p>
                      <a:r>
                        <a:rPr lang="en-US" sz="1700" dirty="0" err="1" smtClean="0"/>
                        <a:t>Dcache</a:t>
                      </a:r>
                      <a:endParaRPr lang="en-US" sz="1700" dirty="0"/>
                    </a:p>
                  </a:txBody>
                  <a:tcPr marL="193638" marR="193638" marT="96819" marB="96819"/>
                </a:tc>
                <a:tc>
                  <a:txBody>
                    <a:bodyPr/>
                    <a:lstStyle/>
                    <a:p>
                      <a:r>
                        <a:rPr lang="en-US" sz="1700" dirty="0" smtClean="0"/>
                        <a:t>1,2,4,8 ways of 4K each</a:t>
                      </a:r>
                      <a:endParaRPr lang="en-US" sz="1700" dirty="0"/>
                    </a:p>
                  </a:txBody>
                  <a:tcPr marL="193638" marR="193638" marT="96819" marB="96819"/>
                </a:tc>
              </a:tr>
            </a:tbl>
          </a:graphicData>
        </a:graphic>
      </p:graphicFrame>
    </p:spTree>
    <p:custDataLst>
      <p:tags r:id="rId1"/>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custDataLst>
              <p:tags r:id="rId2"/>
            </p:custDataLst>
          </p:nvPr>
        </p:nvSpPr>
        <p:spPr>
          <a:xfrm>
            <a:off x="457200" y="277813"/>
            <a:ext cx="8077200" cy="1139825"/>
          </a:xfrm>
        </p:spPr>
        <p:txBody>
          <a:bodyPr/>
          <a:lstStyle/>
          <a:p>
            <a:pPr algn="ctr"/>
            <a:r>
              <a:rPr lang="en-US" dirty="0" smtClean="0"/>
              <a:t>Multiple </a:t>
            </a:r>
            <a:r>
              <a:rPr lang="en-US" dirty="0" err="1" smtClean="0"/>
              <a:t>Config</a:t>
            </a:r>
            <a:r>
              <a:rPr lang="en-US" dirty="0" smtClean="0"/>
              <a:t> ROMs and their potential applications</a:t>
            </a:r>
          </a:p>
        </p:txBody>
      </p:sp>
      <p:sp>
        <p:nvSpPr>
          <p:cNvPr id="27651" name="Text Placeholder 2"/>
          <p:cNvSpPr>
            <a:spLocks noGrp="1"/>
          </p:cNvSpPr>
          <p:nvPr>
            <p:ph type="body" sz="half" idx="1"/>
            <p:custDataLst>
              <p:tags r:id="rId3"/>
            </p:custDataLst>
          </p:nvPr>
        </p:nvSpPr>
        <p:spPr>
          <a:xfrm>
            <a:off x="457200" y="1946275"/>
            <a:ext cx="8229600" cy="4530725"/>
          </a:xfrm>
        </p:spPr>
        <p:txBody>
          <a:bodyPr/>
          <a:lstStyle/>
          <a:p>
            <a:r>
              <a:rPr lang="en-US" sz="3200" smtClean="0"/>
              <a:t>Dynamic Thermal Management </a:t>
            </a:r>
          </a:p>
          <a:p>
            <a:r>
              <a:rPr lang="en-US" sz="3200" smtClean="0"/>
              <a:t>Hot Spot Avoidance</a:t>
            </a:r>
          </a:p>
          <a:p>
            <a:r>
              <a:rPr lang="en-US" sz="3200" smtClean="0"/>
              <a:t>Combat process variation</a:t>
            </a:r>
          </a:p>
          <a:p>
            <a:r>
              <a:rPr lang="en-US" sz="3200" smtClean="0"/>
              <a:t>Budget Peak Power across multiple cores to maximize throughput</a:t>
            </a:r>
          </a:p>
          <a:p>
            <a:endParaRPr lang="en-US" smtClean="0"/>
          </a:p>
          <a:p>
            <a:pPr>
              <a:buFont typeface="Wingdings" pitchFamily="2" charset="2"/>
              <a:buNone/>
            </a:pPr>
            <a:endParaRPr lang="en-US" smtClean="0"/>
          </a:p>
          <a:p>
            <a:endParaRPr lang="en-US" smtClean="0"/>
          </a:p>
        </p:txBody>
      </p:sp>
      <p:sp>
        <p:nvSpPr>
          <p:cNvPr id="5" name="Footer Placeholder 4"/>
          <p:cNvSpPr>
            <a:spLocks noGrp="1"/>
          </p:cNvSpPr>
          <p:nvPr>
            <p:ph type="ftr" sz="quarter" idx="11"/>
            <p:custDataLst>
              <p:tags r:id="rId4"/>
            </p:custDataLst>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custDataLst>
              <p:tags r:id="rId5"/>
            </p:custDataLst>
          </p:nvPr>
        </p:nvSpPr>
        <p:spPr/>
        <p:txBody>
          <a:bodyPr/>
          <a:lstStyle/>
          <a:p>
            <a:pPr>
              <a:defRPr/>
            </a:pPr>
            <a:fld id="{D659B4EB-463D-4D96-97C1-D795114D310B}" type="slidenum">
              <a:rPr lang="en-US" altLang="en-US" smtClean="0"/>
              <a:pPr>
                <a:defRPr/>
              </a:pPr>
              <a:t>56</a:t>
            </a:fld>
            <a:endParaRPr lang="en-US" altLang="en-US"/>
          </a:p>
        </p:txBody>
      </p:sp>
    </p:spTree>
    <p:custDataLst>
      <p:tags r:id="rId1"/>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Benchmarks performing better with fewer resources</a:t>
            </a:r>
            <a:endParaRPr lang="en-US" dirty="0"/>
          </a:p>
        </p:txBody>
      </p:sp>
      <p:sp>
        <p:nvSpPr>
          <p:cNvPr id="3" name="Text Placeholder 2"/>
          <p:cNvSpPr>
            <a:spLocks noGrp="1"/>
          </p:cNvSpPr>
          <p:nvPr>
            <p:ph type="body" sz="half" idx="1"/>
          </p:nvPr>
        </p:nvSpPr>
        <p:spPr>
          <a:xfrm>
            <a:off x="228600" y="2555875"/>
            <a:ext cx="3886200" cy="4530725"/>
          </a:xfrm>
        </p:spPr>
        <p:txBody>
          <a:bodyPr/>
          <a:lstStyle/>
          <a:p>
            <a:pPr>
              <a:buNone/>
            </a:pPr>
            <a:r>
              <a:rPr lang="en-US" sz="2400" dirty="0" smtClean="0"/>
              <a:t>	</a:t>
            </a:r>
            <a:r>
              <a:rPr lang="en-US" sz="2400" u="sng" dirty="0" smtClean="0"/>
              <a:t>Explanation: </a:t>
            </a:r>
          </a:p>
          <a:p>
            <a:pPr>
              <a:buNone/>
            </a:pPr>
            <a:r>
              <a:rPr lang="en-US" sz="2400" dirty="0" smtClean="0"/>
              <a:t>	Going further down the wrong path puts extra pressure in the memory subsystem . May negatively affect performance. </a:t>
            </a:r>
          </a:p>
        </p:txBody>
      </p:sp>
      <p:sp>
        <p:nvSpPr>
          <p:cNvPr id="5" name="Footer Placeholder 4"/>
          <p:cNvSpPr>
            <a:spLocks noGrp="1"/>
          </p:cNvSpPr>
          <p:nvPr>
            <p:ph type="ftr" sz="quarter" idx="11"/>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nvPr>
        </p:nvSpPr>
        <p:spPr/>
        <p:txBody>
          <a:bodyPr/>
          <a:lstStyle/>
          <a:p>
            <a:pPr>
              <a:defRPr/>
            </a:pPr>
            <a:fld id="{C439A655-FA36-44EF-95FA-7EB76AC68428}" type="slidenum">
              <a:rPr lang="en-US" altLang="en-US" smtClean="0"/>
              <a:pPr>
                <a:defRPr/>
              </a:pPr>
              <a:t>57</a:t>
            </a:fld>
            <a:endParaRPr lang="en-US" altLang="en-US"/>
          </a:p>
        </p:txBody>
      </p:sp>
      <p:pic>
        <p:nvPicPr>
          <p:cNvPr id="103427" name="Picture 3"/>
          <p:cNvPicPr>
            <a:picLocks noChangeAspect="1" noChangeArrowheads="1"/>
          </p:cNvPicPr>
          <p:nvPr/>
        </p:nvPicPr>
        <p:blipFill>
          <a:blip r:embed="rId2"/>
          <a:srcRect/>
          <a:stretch>
            <a:fillRect/>
          </a:stretch>
        </p:blipFill>
        <p:spPr bwMode="auto">
          <a:xfrm>
            <a:off x="3886200" y="1752600"/>
            <a:ext cx="13663613" cy="41846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Decoupling capacitance on die</a:t>
            </a:r>
            <a:endParaRPr lang="en-US" dirty="0"/>
          </a:p>
        </p:txBody>
      </p:sp>
      <p:sp>
        <p:nvSpPr>
          <p:cNvPr id="5" name="Footer Placeholder 4"/>
          <p:cNvSpPr>
            <a:spLocks noGrp="1"/>
          </p:cNvSpPr>
          <p:nvPr>
            <p:ph type="ftr" sz="quarter" idx="11"/>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nvPr>
        </p:nvSpPr>
        <p:spPr/>
        <p:txBody>
          <a:bodyPr/>
          <a:lstStyle/>
          <a:p>
            <a:pPr>
              <a:defRPr/>
            </a:pPr>
            <a:fld id="{C439A655-FA36-44EF-95FA-7EB76AC68428}" type="slidenum">
              <a:rPr lang="en-US" altLang="en-US" smtClean="0"/>
              <a:pPr>
                <a:defRPr/>
              </a:pPr>
              <a:t>58</a:t>
            </a:fld>
            <a:endParaRPr lang="en-US" altLang="en-US"/>
          </a:p>
        </p:txBody>
      </p:sp>
      <p:pic>
        <p:nvPicPr>
          <p:cNvPr id="104451" name="Picture 3"/>
          <p:cNvPicPr>
            <a:picLocks noChangeAspect="1" noChangeArrowheads="1"/>
          </p:cNvPicPr>
          <p:nvPr/>
        </p:nvPicPr>
        <p:blipFill>
          <a:blip r:embed="rId12"/>
          <a:srcRect/>
          <a:stretch>
            <a:fillRect/>
          </a:stretch>
        </p:blipFill>
        <p:spPr bwMode="auto">
          <a:xfrm>
            <a:off x="4953000" y="1809750"/>
            <a:ext cx="3971925" cy="3905250"/>
          </a:xfrm>
          <a:prstGeom prst="rect">
            <a:avLst/>
          </a:prstGeom>
          <a:noFill/>
          <a:ln w="9525">
            <a:noFill/>
            <a:miter lim="800000"/>
            <a:headEnd/>
            <a:tailEnd/>
          </a:ln>
          <a:effectLst/>
        </p:spPr>
      </p:pic>
      <p:pic>
        <p:nvPicPr>
          <p:cNvPr id="9" name="Picture 33" descr="figure1"/>
          <p:cNvPicPr>
            <a:picLocks noChangeAspect="1" noChangeArrowheads="1"/>
          </p:cNvPicPr>
          <p:nvPr>
            <p:custDataLst>
              <p:tags r:id="rId1"/>
            </p:custDataLst>
          </p:nvPr>
        </p:nvPicPr>
        <p:blipFill>
          <a:blip r:embed="rId13"/>
          <a:srcRect/>
          <a:stretch>
            <a:fillRect/>
          </a:stretch>
        </p:blipFill>
        <p:spPr bwMode="auto">
          <a:xfrm>
            <a:off x="457200" y="1752600"/>
            <a:ext cx="4203700" cy="4116387"/>
          </a:xfrm>
          <a:prstGeom prst="rect">
            <a:avLst/>
          </a:prstGeom>
          <a:noFill/>
          <a:ln w="9525">
            <a:noFill/>
            <a:miter lim="800000"/>
            <a:headEnd/>
            <a:tailEnd/>
          </a:ln>
        </p:spPr>
      </p:pic>
      <p:sp>
        <p:nvSpPr>
          <p:cNvPr id="10" name="Text Box 13"/>
          <p:cNvSpPr txBox="1">
            <a:spLocks noChangeArrowheads="1"/>
          </p:cNvSpPr>
          <p:nvPr>
            <p:custDataLst>
              <p:tags r:id="rId2"/>
            </p:custDataLst>
          </p:nvPr>
        </p:nvSpPr>
        <p:spPr bwMode="auto">
          <a:xfrm>
            <a:off x="1295400" y="1219200"/>
            <a:ext cx="2482850" cy="366712"/>
          </a:xfrm>
          <a:prstGeom prst="rect">
            <a:avLst/>
          </a:prstGeom>
          <a:noFill/>
          <a:ln w="9525">
            <a:noFill/>
            <a:miter lim="800000"/>
            <a:headEnd/>
            <a:tailEnd/>
          </a:ln>
        </p:spPr>
        <p:txBody>
          <a:bodyPr wrap="none">
            <a:spAutoFit/>
          </a:bodyPr>
          <a:lstStyle/>
          <a:p>
            <a:r>
              <a:rPr lang="en-US" dirty="0">
                <a:solidFill>
                  <a:srgbClr val="FF0000"/>
                </a:solidFill>
              </a:rPr>
              <a:t>Decoupling Capacitors</a:t>
            </a:r>
          </a:p>
        </p:txBody>
      </p:sp>
      <p:sp>
        <p:nvSpPr>
          <p:cNvPr id="12" name="Rectangle 35"/>
          <p:cNvSpPr>
            <a:spLocks noChangeArrowheads="1"/>
          </p:cNvSpPr>
          <p:nvPr>
            <p:custDataLst>
              <p:tags r:id="rId3"/>
            </p:custDataLst>
          </p:nvPr>
        </p:nvSpPr>
        <p:spPr bwMode="auto">
          <a:xfrm>
            <a:off x="1722437" y="2427287"/>
            <a:ext cx="76200" cy="552450"/>
          </a:xfrm>
          <a:prstGeom prst="rect">
            <a:avLst/>
          </a:prstGeom>
          <a:solidFill>
            <a:srgbClr val="FF9900">
              <a:alpha val="32156"/>
            </a:srgbClr>
          </a:solidFill>
          <a:ln w="9525">
            <a:solidFill>
              <a:schemeClr val="tx1"/>
            </a:solidFill>
            <a:miter lim="800000"/>
            <a:headEnd/>
            <a:tailEnd/>
          </a:ln>
        </p:spPr>
        <p:txBody>
          <a:bodyPr wrap="none" anchor="ctr"/>
          <a:lstStyle/>
          <a:p>
            <a:endParaRPr lang="en-US"/>
          </a:p>
        </p:txBody>
      </p:sp>
      <p:sp>
        <p:nvSpPr>
          <p:cNvPr id="13" name="Rectangle 36"/>
          <p:cNvSpPr>
            <a:spLocks noChangeArrowheads="1"/>
          </p:cNvSpPr>
          <p:nvPr>
            <p:custDataLst>
              <p:tags r:id="rId4"/>
            </p:custDataLst>
          </p:nvPr>
        </p:nvSpPr>
        <p:spPr bwMode="auto">
          <a:xfrm>
            <a:off x="798512" y="2855912"/>
            <a:ext cx="904875" cy="104775"/>
          </a:xfrm>
          <a:prstGeom prst="rect">
            <a:avLst/>
          </a:prstGeom>
          <a:solidFill>
            <a:srgbClr val="FF9900">
              <a:alpha val="32156"/>
            </a:srgbClr>
          </a:solidFill>
          <a:ln w="9525">
            <a:solidFill>
              <a:schemeClr val="tx1"/>
            </a:solidFill>
            <a:miter lim="800000"/>
            <a:headEnd/>
            <a:tailEnd/>
          </a:ln>
        </p:spPr>
        <p:txBody>
          <a:bodyPr wrap="none" anchor="ctr"/>
          <a:lstStyle/>
          <a:p>
            <a:endParaRPr lang="en-US"/>
          </a:p>
        </p:txBody>
      </p:sp>
      <p:sp>
        <p:nvSpPr>
          <p:cNvPr id="14" name="Text Box 37"/>
          <p:cNvSpPr txBox="1">
            <a:spLocks noChangeArrowheads="1"/>
          </p:cNvSpPr>
          <p:nvPr>
            <p:custDataLst>
              <p:tags r:id="rId5"/>
            </p:custDataLst>
          </p:nvPr>
        </p:nvSpPr>
        <p:spPr bwMode="auto">
          <a:xfrm>
            <a:off x="912812" y="2200275"/>
            <a:ext cx="679450" cy="366712"/>
          </a:xfrm>
          <a:prstGeom prst="rect">
            <a:avLst/>
          </a:prstGeom>
          <a:solidFill>
            <a:schemeClr val="tx1"/>
          </a:solidFill>
          <a:ln w="9525">
            <a:noFill/>
            <a:miter lim="800000"/>
            <a:headEnd/>
            <a:tailEnd/>
          </a:ln>
        </p:spPr>
        <p:txBody>
          <a:bodyPr wrap="none">
            <a:spAutoFit/>
          </a:bodyPr>
          <a:lstStyle/>
          <a:p>
            <a:r>
              <a:rPr lang="en-US" dirty="0">
                <a:solidFill>
                  <a:schemeClr val="bg1"/>
                </a:solidFill>
              </a:rPr>
              <a:t>Core</a:t>
            </a:r>
          </a:p>
        </p:txBody>
      </p:sp>
      <p:sp>
        <p:nvSpPr>
          <p:cNvPr id="15" name="Line 29"/>
          <p:cNvSpPr>
            <a:spLocks noChangeShapeType="1"/>
          </p:cNvSpPr>
          <p:nvPr>
            <p:custDataLst>
              <p:tags r:id="rId6"/>
            </p:custDataLst>
          </p:nvPr>
        </p:nvSpPr>
        <p:spPr bwMode="auto">
          <a:xfrm flipH="1">
            <a:off x="1776412" y="1600200"/>
            <a:ext cx="585788" cy="1220787"/>
          </a:xfrm>
          <a:prstGeom prst="line">
            <a:avLst/>
          </a:prstGeom>
          <a:noFill/>
          <a:ln w="38100">
            <a:solidFill>
              <a:srgbClr val="FF0000"/>
            </a:solidFill>
            <a:round/>
            <a:headEnd/>
            <a:tailEnd type="stealth" w="med" len="med"/>
          </a:ln>
        </p:spPr>
        <p:txBody>
          <a:bodyPr/>
          <a:lstStyle/>
          <a:p>
            <a:endParaRPr lang="en-US"/>
          </a:p>
        </p:txBody>
      </p:sp>
      <p:sp>
        <p:nvSpPr>
          <p:cNvPr id="11" name="Line 30"/>
          <p:cNvSpPr>
            <a:spLocks noChangeShapeType="1"/>
          </p:cNvSpPr>
          <p:nvPr>
            <p:custDataLst>
              <p:tags r:id="rId7"/>
            </p:custDataLst>
          </p:nvPr>
        </p:nvSpPr>
        <p:spPr bwMode="auto">
          <a:xfrm flipH="1">
            <a:off x="1066800" y="1600200"/>
            <a:ext cx="1295400" cy="1295400"/>
          </a:xfrm>
          <a:prstGeom prst="line">
            <a:avLst/>
          </a:prstGeom>
          <a:noFill/>
          <a:ln w="38100">
            <a:solidFill>
              <a:srgbClr val="FF0000"/>
            </a:solidFill>
            <a:round/>
            <a:headEnd/>
            <a:tailEnd type="stealth" w="med" len="med"/>
          </a:ln>
        </p:spPr>
        <p:txBody>
          <a:bodyPr/>
          <a:lstStyle/>
          <a:p>
            <a:endParaRPr lang="en-US"/>
          </a:p>
        </p:txBody>
      </p:sp>
      <p:sp>
        <p:nvSpPr>
          <p:cNvPr id="16" name="Text Box 13"/>
          <p:cNvSpPr txBox="1">
            <a:spLocks noChangeArrowheads="1"/>
          </p:cNvSpPr>
          <p:nvPr>
            <p:custDataLst>
              <p:tags r:id="rId8"/>
            </p:custDataLst>
          </p:nvPr>
        </p:nvSpPr>
        <p:spPr bwMode="auto">
          <a:xfrm>
            <a:off x="5181600" y="1078468"/>
            <a:ext cx="1877437" cy="369332"/>
          </a:xfrm>
          <a:prstGeom prst="rect">
            <a:avLst/>
          </a:prstGeom>
          <a:noFill/>
          <a:ln w="9525">
            <a:noFill/>
            <a:miter lim="800000"/>
            <a:headEnd/>
            <a:tailEnd/>
          </a:ln>
        </p:spPr>
        <p:txBody>
          <a:bodyPr wrap="none">
            <a:spAutoFit/>
          </a:bodyPr>
          <a:lstStyle/>
          <a:p>
            <a:r>
              <a:rPr lang="en-US" dirty="0" smtClean="0">
                <a:solidFill>
                  <a:srgbClr val="FF0000"/>
                </a:solidFill>
              </a:rPr>
              <a:t>Decoupling Ring</a:t>
            </a:r>
            <a:endParaRPr lang="en-US" dirty="0">
              <a:solidFill>
                <a:srgbClr val="FF0000"/>
              </a:solidFill>
            </a:endParaRPr>
          </a:p>
        </p:txBody>
      </p:sp>
      <p:sp>
        <p:nvSpPr>
          <p:cNvPr id="17" name="Line 29"/>
          <p:cNvSpPr>
            <a:spLocks noChangeShapeType="1"/>
          </p:cNvSpPr>
          <p:nvPr>
            <p:custDataLst>
              <p:tags r:id="rId9"/>
            </p:custDataLst>
          </p:nvPr>
        </p:nvSpPr>
        <p:spPr bwMode="auto">
          <a:xfrm>
            <a:off x="5995988" y="1371601"/>
            <a:ext cx="1090612" cy="304799"/>
          </a:xfrm>
          <a:prstGeom prst="line">
            <a:avLst/>
          </a:prstGeom>
          <a:noFill/>
          <a:ln w="38100">
            <a:solidFill>
              <a:srgbClr val="FF0000"/>
            </a:solidFill>
            <a:round/>
            <a:headEnd/>
            <a:tailEnd type="stealth"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50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50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Delays</a:t>
            </a:r>
            <a:endParaRPr lang="en-US" dirty="0"/>
          </a:p>
        </p:txBody>
      </p:sp>
      <p:sp>
        <p:nvSpPr>
          <p:cNvPr id="5" name="Footer Placeholder 4"/>
          <p:cNvSpPr>
            <a:spLocks noGrp="1"/>
          </p:cNvSpPr>
          <p:nvPr>
            <p:ph type="ftr" sz="quarter" idx="11"/>
          </p:nvPr>
        </p:nvSpPr>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nvPr>
        </p:nvSpPr>
        <p:spPr/>
        <p:txBody>
          <a:bodyPr/>
          <a:lstStyle/>
          <a:p>
            <a:pPr>
              <a:defRPr/>
            </a:pPr>
            <a:fld id="{C439A655-FA36-44EF-95FA-7EB76AC68428}" type="slidenum">
              <a:rPr lang="en-US" altLang="en-US" smtClean="0"/>
              <a:pPr>
                <a:defRPr/>
              </a:pPr>
              <a:t>59</a:t>
            </a:fld>
            <a:endParaRPr lang="en-US" altLang="en-US"/>
          </a:p>
        </p:txBody>
      </p:sp>
      <p:pic>
        <p:nvPicPr>
          <p:cNvPr id="236546" name="Picture 2"/>
          <p:cNvPicPr>
            <a:picLocks noChangeAspect="1" noChangeArrowheads="1"/>
          </p:cNvPicPr>
          <p:nvPr/>
        </p:nvPicPr>
        <p:blipFill>
          <a:blip r:embed="rId2"/>
          <a:srcRect/>
          <a:stretch>
            <a:fillRect/>
          </a:stretch>
        </p:blipFill>
        <p:spPr bwMode="auto">
          <a:xfrm>
            <a:off x="2113174" y="1032852"/>
            <a:ext cx="5506826" cy="50631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Adaptation transition</a:t>
            </a:r>
            <a:endParaRPr lang="en-US" dirty="0"/>
          </a:p>
        </p:txBody>
      </p:sp>
      <p:graphicFrame>
        <p:nvGraphicFramePr>
          <p:cNvPr id="7" name="Content Placeholder 6"/>
          <p:cNvGraphicFramePr>
            <a:graphicFrameLocks noGrp="1"/>
          </p:cNvGraphicFramePr>
          <p:nvPr>
            <p:ph sz="half" idx="2"/>
          </p:nvPr>
        </p:nvGraphicFramePr>
        <p:xfrm>
          <a:off x="1447800" y="914400"/>
          <a:ext cx="6254272" cy="1200150"/>
        </p:xfrm>
        <a:graphic>
          <a:graphicData uri="http://schemas.openxmlformats.org/drawingml/2006/table">
            <a:tbl>
              <a:tblPr firstRow="1" bandRow="1">
                <a:tableStyleId>{5A111915-BE36-4E01-A7E5-04B1672EAD32}</a:tableStyleId>
              </a:tblPr>
              <a:tblGrid>
                <a:gridCol w="780802"/>
                <a:gridCol w="367036"/>
                <a:gridCol w="412649"/>
                <a:gridCol w="488772"/>
                <a:gridCol w="496701"/>
                <a:gridCol w="590268"/>
                <a:gridCol w="471326"/>
                <a:gridCol w="588682"/>
                <a:gridCol w="597218"/>
                <a:gridCol w="698818"/>
                <a:gridCol w="762000"/>
              </a:tblGrid>
              <a:tr h="400050">
                <a:tc>
                  <a:txBody>
                    <a:bodyPr/>
                    <a:lstStyle/>
                    <a:p>
                      <a:pPr algn="ct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Iq</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Fq</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ialu</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falu</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ldstu</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smtClean="0"/>
                        <a:t>rob</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Iregs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fregs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Icache</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200" dirty="0" err="1" smtClean="0"/>
                        <a:t>dcache</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r>
              <a:tr h="400050">
                <a:tc>
                  <a:txBody>
                    <a:bodyPr/>
                    <a:lstStyle/>
                    <a:p>
                      <a:pPr algn="ctr"/>
                      <a:r>
                        <a:rPr lang="en-US" sz="1200" dirty="0" err="1" smtClean="0"/>
                        <a:t>Config</a:t>
                      </a:r>
                      <a:r>
                        <a:rPr lang="en-US" sz="1200" dirty="0" smtClean="0"/>
                        <a:t> 1 </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32</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16</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256</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128</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32k</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16k</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00050">
                <a:tc>
                  <a:txBody>
                    <a:bodyPr/>
                    <a:lstStyle/>
                    <a:p>
                      <a:pPr algn="ctr"/>
                      <a:r>
                        <a:rPr lang="en-US" sz="1200" dirty="0" err="1" smtClean="0"/>
                        <a:t>Config</a:t>
                      </a:r>
                      <a:r>
                        <a:rPr lang="en-US" sz="1200" dirty="0" smtClean="0"/>
                        <a:t> 2 </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16</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16</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256</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128</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0</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32k</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smtClean="0"/>
                        <a:t>16k</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5" name="Footer Placeholder 4"/>
          <p:cNvSpPr>
            <a:spLocks noGrp="1"/>
          </p:cNvSpPr>
          <p:nvPr>
            <p:ph type="ftr" sz="quarter" idx="11"/>
          </p:nvPr>
        </p:nvSpPr>
        <p:spPr>
          <a:xfrm>
            <a:off x="3657600" y="6248400"/>
            <a:ext cx="2895600" cy="457200"/>
          </a:xfrm>
        </p:spPr>
        <p:txBody>
          <a:bodyPr/>
          <a:lstStyle/>
          <a:p>
            <a:pPr>
              <a:defRPr/>
            </a:pPr>
            <a:r>
              <a:rPr lang="en-US" altLang="en-US" smtClean="0"/>
              <a:t>Micro'09: Kontorinis, Shayan, Kumar, Tullsen</a:t>
            </a:r>
            <a:endParaRPr lang="en-US" altLang="en-US"/>
          </a:p>
        </p:txBody>
      </p:sp>
      <p:sp>
        <p:nvSpPr>
          <p:cNvPr id="6" name="Slide Number Placeholder 5"/>
          <p:cNvSpPr>
            <a:spLocks noGrp="1"/>
          </p:cNvSpPr>
          <p:nvPr>
            <p:ph type="sldNum" sz="quarter" idx="12"/>
          </p:nvPr>
        </p:nvSpPr>
        <p:spPr>
          <a:xfrm>
            <a:off x="7086600" y="6243638"/>
            <a:ext cx="2133600" cy="457200"/>
          </a:xfrm>
        </p:spPr>
        <p:txBody>
          <a:bodyPr/>
          <a:lstStyle/>
          <a:p>
            <a:pPr>
              <a:defRPr/>
            </a:pPr>
            <a:fld id="{C439A655-FA36-44EF-95FA-7EB76AC68428}" type="slidenum">
              <a:rPr lang="en-US" altLang="en-US" smtClean="0"/>
              <a:pPr>
                <a:defRPr/>
              </a:pPr>
              <a:t>60</a:t>
            </a:fld>
            <a:endParaRPr lang="en-US" altLang="en-US"/>
          </a:p>
        </p:txBody>
      </p:sp>
      <p:sp>
        <p:nvSpPr>
          <p:cNvPr id="8" name="Rounded Rectangle 7"/>
          <p:cNvSpPr/>
          <p:nvPr>
            <p:custDataLst>
              <p:tags r:id="rId1"/>
            </p:custDataLst>
          </p:nvPr>
        </p:nvSpPr>
        <p:spPr>
          <a:xfrm>
            <a:off x="2209800" y="1371600"/>
            <a:ext cx="381000" cy="6858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Rounded Rectangle 8"/>
          <p:cNvSpPr/>
          <p:nvPr>
            <p:custDataLst>
              <p:tags r:id="rId2"/>
            </p:custDataLst>
          </p:nvPr>
        </p:nvSpPr>
        <p:spPr>
          <a:xfrm>
            <a:off x="3581400" y="1371600"/>
            <a:ext cx="381000" cy="685800"/>
          </a:xfrm>
          <a:prstGeom prst="roundRect">
            <a:avLst/>
          </a:prstGeom>
          <a:noFill/>
          <a:ln w="508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1" name="Straight Arrow Connector 10"/>
          <p:cNvCxnSpPr/>
          <p:nvPr/>
        </p:nvCxnSpPr>
        <p:spPr>
          <a:xfrm rot="5400000" flipH="1" flipV="1">
            <a:off x="-227806" y="4342606"/>
            <a:ext cx="304720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143000" y="5638800"/>
            <a:ext cx="7467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696200" y="5715000"/>
            <a:ext cx="1295400" cy="369332"/>
          </a:xfrm>
          <a:prstGeom prst="rect">
            <a:avLst/>
          </a:prstGeom>
          <a:noFill/>
        </p:spPr>
        <p:txBody>
          <a:bodyPr wrap="square" rtlCol="0">
            <a:spAutoFit/>
          </a:bodyPr>
          <a:lstStyle/>
          <a:p>
            <a:r>
              <a:rPr lang="en-US" dirty="0" smtClean="0"/>
              <a:t>Time(</a:t>
            </a:r>
            <a:r>
              <a:rPr lang="en-US" dirty="0" err="1" smtClean="0"/>
              <a:t>cyc</a:t>
            </a:r>
            <a:r>
              <a:rPr lang="en-US" dirty="0" smtClean="0"/>
              <a:t>)</a:t>
            </a:r>
            <a:endParaRPr lang="en-US" dirty="0"/>
          </a:p>
        </p:txBody>
      </p:sp>
      <p:cxnSp>
        <p:nvCxnSpPr>
          <p:cNvPr id="20" name="Straight Connector 19"/>
          <p:cNvCxnSpPr/>
          <p:nvPr/>
        </p:nvCxnSpPr>
        <p:spPr>
          <a:xfrm rot="5400000">
            <a:off x="1370806" y="5181600"/>
            <a:ext cx="915194" cy="79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371600" y="3733800"/>
            <a:ext cx="1524000" cy="1077218"/>
          </a:xfrm>
          <a:prstGeom prst="rect">
            <a:avLst/>
          </a:prstGeom>
          <a:noFill/>
        </p:spPr>
        <p:txBody>
          <a:bodyPr wrap="square" rtlCol="0">
            <a:spAutoFit/>
          </a:bodyPr>
          <a:lstStyle/>
          <a:p>
            <a:r>
              <a:rPr lang="en-US" sz="1600" dirty="0" smtClean="0">
                <a:latin typeface="+mj-lt"/>
              </a:rPr>
              <a:t>Adaptation</a:t>
            </a:r>
          </a:p>
          <a:p>
            <a:r>
              <a:rPr lang="en-US" sz="1600" dirty="0" smtClean="0">
                <a:latin typeface="+mj-lt"/>
              </a:rPr>
              <a:t>Triggered – Reg. Renaming Throttled</a:t>
            </a:r>
            <a:endParaRPr lang="en-US" sz="1600" dirty="0">
              <a:latin typeface="+mj-lt"/>
            </a:endParaRPr>
          </a:p>
        </p:txBody>
      </p:sp>
      <p:sp>
        <p:nvSpPr>
          <p:cNvPr id="22" name="TextBox 21"/>
          <p:cNvSpPr txBox="1"/>
          <p:nvPr/>
        </p:nvSpPr>
        <p:spPr>
          <a:xfrm>
            <a:off x="914400" y="5715000"/>
            <a:ext cx="457200" cy="369332"/>
          </a:xfrm>
          <a:prstGeom prst="rect">
            <a:avLst/>
          </a:prstGeom>
          <a:noFill/>
        </p:spPr>
        <p:txBody>
          <a:bodyPr wrap="square" rtlCol="0">
            <a:spAutoFit/>
          </a:bodyPr>
          <a:lstStyle/>
          <a:p>
            <a:r>
              <a:rPr lang="en-US" dirty="0" smtClean="0"/>
              <a:t>0</a:t>
            </a:r>
            <a:endParaRPr lang="en-US" dirty="0"/>
          </a:p>
        </p:txBody>
      </p:sp>
      <p:sp>
        <p:nvSpPr>
          <p:cNvPr id="23" name="TextBox 22"/>
          <p:cNvSpPr txBox="1"/>
          <p:nvPr/>
        </p:nvSpPr>
        <p:spPr>
          <a:xfrm>
            <a:off x="2819400" y="5715000"/>
            <a:ext cx="838200" cy="369332"/>
          </a:xfrm>
          <a:prstGeom prst="rect">
            <a:avLst/>
          </a:prstGeom>
          <a:noFill/>
        </p:spPr>
        <p:txBody>
          <a:bodyPr wrap="square" rtlCol="0">
            <a:spAutoFit/>
          </a:bodyPr>
          <a:lstStyle/>
          <a:p>
            <a:r>
              <a:rPr lang="en-US" dirty="0" smtClean="0"/>
              <a:t>1000</a:t>
            </a:r>
            <a:endParaRPr lang="en-US" dirty="0"/>
          </a:p>
        </p:txBody>
      </p:sp>
      <p:sp>
        <p:nvSpPr>
          <p:cNvPr id="24" name="TextBox 23"/>
          <p:cNvSpPr txBox="1"/>
          <p:nvPr/>
        </p:nvSpPr>
        <p:spPr>
          <a:xfrm>
            <a:off x="4876800" y="5715000"/>
            <a:ext cx="838200" cy="369332"/>
          </a:xfrm>
          <a:prstGeom prst="rect">
            <a:avLst/>
          </a:prstGeom>
          <a:noFill/>
        </p:spPr>
        <p:txBody>
          <a:bodyPr wrap="square" rtlCol="0">
            <a:spAutoFit/>
          </a:bodyPr>
          <a:lstStyle/>
          <a:p>
            <a:r>
              <a:rPr lang="en-US" dirty="0" smtClean="0"/>
              <a:t>2000</a:t>
            </a:r>
            <a:endParaRPr lang="en-US" dirty="0"/>
          </a:p>
        </p:txBody>
      </p:sp>
      <p:sp>
        <p:nvSpPr>
          <p:cNvPr id="25" name="TextBox 24"/>
          <p:cNvSpPr txBox="1"/>
          <p:nvPr/>
        </p:nvSpPr>
        <p:spPr>
          <a:xfrm>
            <a:off x="6705600" y="5715000"/>
            <a:ext cx="838200" cy="369332"/>
          </a:xfrm>
          <a:prstGeom prst="rect">
            <a:avLst/>
          </a:prstGeom>
          <a:noFill/>
        </p:spPr>
        <p:txBody>
          <a:bodyPr wrap="square" rtlCol="0">
            <a:spAutoFit/>
          </a:bodyPr>
          <a:lstStyle/>
          <a:p>
            <a:r>
              <a:rPr lang="en-US" dirty="0" smtClean="0"/>
              <a:t>3000</a:t>
            </a:r>
            <a:endParaRPr lang="en-US" dirty="0"/>
          </a:p>
        </p:txBody>
      </p:sp>
      <p:sp>
        <p:nvSpPr>
          <p:cNvPr id="27" name="Arc 26"/>
          <p:cNvSpPr/>
          <p:nvPr/>
        </p:nvSpPr>
        <p:spPr>
          <a:xfrm>
            <a:off x="533400" y="4953000"/>
            <a:ext cx="3200400" cy="1905000"/>
          </a:xfrm>
          <a:prstGeom prst="arc">
            <a:avLst>
              <a:gd name="adj1" fmla="val 16200016"/>
              <a:gd name="adj2" fmla="val 2082575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4" name="Straight Connector 33"/>
          <p:cNvCxnSpPr>
            <a:stCxn id="27" idx="0"/>
          </p:cNvCxnSpPr>
          <p:nvPr/>
        </p:nvCxnSpPr>
        <p:spPr>
          <a:xfrm rot="10800000">
            <a:off x="1295402" y="4951412"/>
            <a:ext cx="838204"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6200" y="4154269"/>
            <a:ext cx="1447800" cy="646331"/>
          </a:xfrm>
          <a:prstGeom prst="rect">
            <a:avLst/>
          </a:prstGeom>
          <a:noFill/>
        </p:spPr>
        <p:txBody>
          <a:bodyPr wrap="square" rtlCol="0">
            <a:spAutoFit/>
          </a:bodyPr>
          <a:lstStyle/>
          <a:p>
            <a:r>
              <a:rPr lang="en-US" dirty="0" smtClean="0"/>
              <a:t>Instructions in </a:t>
            </a:r>
            <a:r>
              <a:rPr lang="en-US" dirty="0" err="1" smtClean="0"/>
              <a:t>Iqueue</a:t>
            </a:r>
            <a:endParaRPr lang="en-US" dirty="0"/>
          </a:p>
        </p:txBody>
      </p:sp>
      <p:sp>
        <p:nvSpPr>
          <p:cNvPr id="36" name="TextBox 35"/>
          <p:cNvSpPr txBox="1"/>
          <p:nvPr/>
        </p:nvSpPr>
        <p:spPr>
          <a:xfrm>
            <a:off x="838200" y="4736068"/>
            <a:ext cx="533400" cy="369332"/>
          </a:xfrm>
          <a:prstGeom prst="rect">
            <a:avLst/>
          </a:prstGeom>
          <a:noFill/>
        </p:spPr>
        <p:txBody>
          <a:bodyPr wrap="square" rtlCol="0">
            <a:spAutoFit/>
          </a:bodyPr>
          <a:lstStyle/>
          <a:p>
            <a:r>
              <a:rPr lang="en-US" dirty="0" smtClean="0"/>
              <a:t>32</a:t>
            </a:r>
            <a:endParaRPr lang="en-US" dirty="0"/>
          </a:p>
        </p:txBody>
      </p:sp>
      <p:sp>
        <p:nvSpPr>
          <p:cNvPr id="37" name="TextBox 36"/>
          <p:cNvSpPr txBox="1"/>
          <p:nvPr/>
        </p:nvSpPr>
        <p:spPr>
          <a:xfrm>
            <a:off x="838200" y="5029200"/>
            <a:ext cx="533400" cy="369332"/>
          </a:xfrm>
          <a:prstGeom prst="rect">
            <a:avLst/>
          </a:prstGeom>
          <a:noFill/>
        </p:spPr>
        <p:txBody>
          <a:bodyPr wrap="square" rtlCol="0">
            <a:spAutoFit/>
          </a:bodyPr>
          <a:lstStyle/>
          <a:p>
            <a:r>
              <a:rPr lang="en-US" dirty="0" smtClean="0"/>
              <a:t>16</a:t>
            </a:r>
            <a:endParaRPr lang="en-US" dirty="0"/>
          </a:p>
        </p:txBody>
      </p:sp>
      <p:cxnSp>
        <p:nvCxnSpPr>
          <p:cNvPr id="38" name="Straight Connector 37"/>
          <p:cNvCxnSpPr/>
          <p:nvPr/>
        </p:nvCxnSpPr>
        <p:spPr>
          <a:xfrm rot="10800000" flipV="1">
            <a:off x="1295402" y="5181600"/>
            <a:ext cx="3200399" cy="3226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2742009" y="5181997"/>
            <a:ext cx="915988" cy="79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819400" y="3733800"/>
            <a:ext cx="1443318" cy="830997"/>
          </a:xfrm>
          <a:prstGeom prst="rect">
            <a:avLst/>
          </a:prstGeom>
          <a:noFill/>
        </p:spPr>
        <p:txBody>
          <a:bodyPr wrap="square" rtlCol="0">
            <a:spAutoFit/>
          </a:bodyPr>
          <a:lstStyle/>
          <a:p>
            <a:r>
              <a:rPr lang="en-US" sz="1600" dirty="0" err="1" smtClean="0">
                <a:latin typeface="+mj-lt"/>
              </a:rPr>
              <a:t>Iqueue</a:t>
            </a:r>
            <a:r>
              <a:rPr lang="en-US" sz="1600" dirty="0" smtClean="0">
                <a:latin typeface="+mj-lt"/>
              </a:rPr>
              <a:t> </a:t>
            </a:r>
            <a:r>
              <a:rPr lang="en-US" sz="1600" dirty="0" err="1" smtClean="0">
                <a:latin typeface="+mj-lt"/>
              </a:rPr>
              <a:t>Powergating</a:t>
            </a:r>
            <a:r>
              <a:rPr lang="en-US" sz="1600" dirty="0" smtClean="0">
                <a:latin typeface="+mj-lt"/>
              </a:rPr>
              <a:t> begins</a:t>
            </a:r>
            <a:endParaRPr lang="en-US" sz="1600" dirty="0">
              <a:latin typeface="+mj-lt"/>
            </a:endParaRPr>
          </a:p>
        </p:txBody>
      </p:sp>
      <p:cxnSp>
        <p:nvCxnSpPr>
          <p:cNvPr id="49" name="Straight Connector 48"/>
          <p:cNvCxnSpPr/>
          <p:nvPr/>
        </p:nvCxnSpPr>
        <p:spPr>
          <a:xfrm rot="5400000">
            <a:off x="3322519" y="5333404"/>
            <a:ext cx="609997" cy="795"/>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429000" y="4274403"/>
            <a:ext cx="2057400" cy="830997"/>
          </a:xfrm>
          <a:prstGeom prst="rect">
            <a:avLst/>
          </a:prstGeom>
          <a:noFill/>
        </p:spPr>
        <p:txBody>
          <a:bodyPr wrap="square" rtlCol="0">
            <a:spAutoFit/>
          </a:bodyPr>
          <a:lstStyle/>
          <a:p>
            <a:r>
              <a:rPr lang="en-US" sz="1600" dirty="0" err="1" smtClean="0">
                <a:latin typeface="+mj-lt"/>
              </a:rPr>
              <a:t>Iqueue</a:t>
            </a:r>
            <a:r>
              <a:rPr lang="en-US" sz="1600" dirty="0" smtClean="0">
                <a:latin typeface="+mj-lt"/>
              </a:rPr>
              <a:t> </a:t>
            </a:r>
            <a:r>
              <a:rPr lang="en-US" sz="1600" dirty="0" err="1" smtClean="0">
                <a:latin typeface="+mj-lt"/>
              </a:rPr>
              <a:t>Powergating</a:t>
            </a:r>
            <a:r>
              <a:rPr lang="en-US" sz="1600" dirty="0" smtClean="0">
                <a:latin typeface="+mj-lt"/>
              </a:rPr>
              <a:t> ends – Reg. Renaming restarts </a:t>
            </a:r>
            <a:endParaRPr lang="en-US" sz="1600" dirty="0">
              <a:latin typeface="+mj-lt"/>
            </a:endParaRPr>
          </a:p>
        </p:txBody>
      </p:sp>
      <p:cxnSp>
        <p:nvCxnSpPr>
          <p:cNvPr id="52" name="Straight Connector 51"/>
          <p:cNvCxnSpPr>
            <a:endCxn id="27" idx="2"/>
          </p:cNvCxnSpPr>
          <p:nvPr/>
        </p:nvCxnSpPr>
        <p:spPr>
          <a:xfrm rot="5400000">
            <a:off x="3527624" y="5280976"/>
            <a:ext cx="381751" cy="1830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10800000" flipV="1">
            <a:off x="3810000" y="5181599"/>
            <a:ext cx="1371600" cy="7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0" y="2514600"/>
            <a:ext cx="1447800" cy="369332"/>
          </a:xfrm>
          <a:prstGeom prst="rect">
            <a:avLst/>
          </a:prstGeom>
          <a:noFill/>
        </p:spPr>
        <p:txBody>
          <a:bodyPr wrap="square" rtlCol="0">
            <a:spAutoFit/>
          </a:bodyPr>
          <a:lstStyle/>
          <a:p>
            <a:r>
              <a:rPr lang="en-US" dirty="0" smtClean="0"/>
              <a:t>Active </a:t>
            </a:r>
            <a:r>
              <a:rPr lang="en-US" dirty="0" err="1" smtClean="0"/>
              <a:t>falus</a:t>
            </a:r>
            <a:endParaRPr lang="en-US" dirty="0"/>
          </a:p>
        </p:txBody>
      </p:sp>
      <p:cxnSp>
        <p:nvCxnSpPr>
          <p:cNvPr id="77" name="Straight Connector 76"/>
          <p:cNvCxnSpPr/>
          <p:nvPr/>
        </p:nvCxnSpPr>
        <p:spPr>
          <a:xfrm rot="10800000">
            <a:off x="1295400" y="3200400"/>
            <a:ext cx="34290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1295400" y="3429000"/>
            <a:ext cx="7467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7772400" y="3581400"/>
            <a:ext cx="1295400" cy="369332"/>
          </a:xfrm>
          <a:prstGeom prst="rect">
            <a:avLst/>
          </a:prstGeom>
          <a:noFill/>
        </p:spPr>
        <p:txBody>
          <a:bodyPr wrap="square" rtlCol="0">
            <a:spAutoFit/>
          </a:bodyPr>
          <a:lstStyle/>
          <a:p>
            <a:r>
              <a:rPr lang="en-US" dirty="0" smtClean="0"/>
              <a:t>Time(</a:t>
            </a:r>
            <a:r>
              <a:rPr lang="en-US" dirty="0" err="1" smtClean="0"/>
              <a:t>cyc</a:t>
            </a:r>
            <a:r>
              <a:rPr lang="en-US" dirty="0" smtClean="0"/>
              <a:t>)</a:t>
            </a:r>
            <a:endParaRPr lang="en-US" dirty="0"/>
          </a:p>
        </p:txBody>
      </p:sp>
      <p:sp>
        <p:nvSpPr>
          <p:cNvPr id="80" name="TextBox 79"/>
          <p:cNvSpPr txBox="1"/>
          <p:nvPr/>
        </p:nvSpPr>
        <p:spPr>
          <a:xfrm>
            <a:off x="914400" y="3135868"/>
            <a:ext cx="533400" cy="369332"/>
          </a:xfrm>
          <a:prstGeom prst="rect">
            <a:avLst/>
          </a:prstGeom>
          <a:noFill/>
        </p:spPr>
        <p:txBody>
          <a:bodyPr wrap="square" rtlCol="0">
            <a:spAutoFit/>
          </a:bodyPr>
          <a:lstStyle/>
          <a:p>
            <a:r>
              <a:rPr lang="en-US" dirty="0" smtClean="0"/>
              <a:t>1</a:t>
            </a:r>
            <a:endParaRPr lang="en-US" dirty="0"/>
          </a:p>
        </p:txBody>
      </p:sp>
      <p:sp>
        <p:nvSpPr>
          <p:cNvPr id="81" name="TextBox 80"/>
          <p:cNvSpPr txBox="1"/>
          <p:nvPr/>
        </p:nvSpPr>
        <p:spPr>
          <a:xfrm>
            <a:off x="914400" y="2819400"/>
            <a:ext cx="533400" cy="369332"/>
          </a:xfrm>
          <a:prstGeom prst="rect">
            <a:avLst/>
          </a:prstGeom>
          <a:noFill/>
        </p:spPr>
        <p:txBody>
          <a:bodyPr wrap="square" rtlCol="0">
            <a:spAutoFit/>
          </a:bodyPr>
          <a:lstStyle/>
          <a:p>
            <a:r>
              <a:rPr lang="en-US" dirty="0" smtClean="0"/>
              <a:t>2</a:t>
            </a:r>
            <a:endParaRPr lang="en-US" dirty="0"/>
          </a:p>
        </p:txBody>
      </p:sp>
      <p:cxnSp>
        <p:nvCxnSpPr>
          <p:cNvPr id="82" name="Straight Connector 81"/>
          <p:cNvCxnSpPr/>
          <p:nvPr/>
        </p:nvCxnSpPr>
        <p:spPr>
          <a:xfrm rot="10800000" flipV="1">
            <a:off x="1295402" y="2971800"/>
            <a:ext cx="3733799" cy="3226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0800000" flipV="1">
            <a:off x="4724400" y="2971800"/>
            <a:ext cx="2362200" cy="7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5400000">
            <a:off x="3275806" y="3124994"/>
            <a:ext cx="763588" cy="1588"/>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2895600" y="2209800"/>
            <a:ext cx="1143000" cy="584775"/>
          </a:xfrm>
          <a:prstGeom prst="rect">
            <a:avLst/>
          </a:prstGeom>
          <a:noFill/>
        </p:spPr>
        <p:txBody>
          <a:bodyPr wrap="square" rtlCol="0">
            <a:spAutoFit/>
          </a:bodyPr>
          <a:lstStyle/>
          <a:p>
            <a:r>
              <a:rPr lang="en-US" sz="1600" dirty="0" err="1" smtClean="0">
                <a:latin typeface="+mj-lt"/>
              </a:rPr>
              <a:t>Falu</a:t>
            </a:r>
            <a:r>
              <a:rPr lang="en-US" sz="1600" dirty="0" smtClean="0">
                <a:latin typeface="+mj-lt"/>
              </a:rPr>
              <a:t> power-up begins</a:t>
            </a:r>
            <a:endParaRPr lang="en-US" sz="1600" dirty="0">
              <a:latin typeface="+mj-lt"/>
            </a:endParaRPr>
          </a:p>
        </p:txBody>
      </p:sp>
      <p:sp>
        <p:nvSpPr>
          <p:cNvPr id="88" name="TextBox 87"/>
          <p:cNvSpPr txBox="1"/>
          <p:nvPr/>
        </p:nvSpPr>
        <p:spPr>
          <a:xfrm>
            <a:off x="4038600" y="2209800"/>
            <a:ext cx="1143000" cy="584775"/>
          </a:xfrm>
          <a:prstGeom prst="rect">
            <a:avLst/>
          </a:prstGeom>
          <a:noFill/>
        </p:spPr>
        <p:txBody>
          <a:bodyPr wrap="square" rtlCol="0">
            <a:spAutoFit/>
          </a:bodyPr>
          <a:lstStyle/>
          <a:p>
            <a:r>
              <a:rPr lang="en-US" sz="1600" dirty="0" err="1" smtClean="0">
                <a:latin typeface="+mj-lt"/>
              </a:rPr>
              <a:t>Falu</a:t>
            </a:r>
            <a:r>
              <a:rPr lang="en-US" sz="1600" dirty="0" smtClean="0">
                <a:latin typeface="+mj-lt"/>
              </a:rPr>
              <a:t> power-up ends</a:t>
            </a:r>
            <a:endParaRPr lang="en-US" sz="1600" dirty="0">
              <a:latin typeface="+mj-lt"/>
            </a:endParaRPr>
          </a:p>
        </p:txBody>
      </p:sp>
      <p:cxnSp>
        <p:nvCxnSpPr>
          <p:cNvPr id="89" name="Straight Connector 88"/>
          <p:cNvCxnSpPr/>
          <p:nvPr/>
        </p:nvCxnSpPr>
        <p:spPr>
          <a:xfrm rot="5400000">
            <a:off x="4343400" y="3124200"/>
            <a:ext cx="763588" cy="1588"/>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custDataLst>
              <p:tags r:id="rId2"/>
            </p:custDataLst>
          </p:nvPr>
        </p:nvSpPr>
        <p:spPr>
          <a:xfrm>
            <a:off x="609600" y="1143000"/>
            <a:ext cx="8229600" cy="3455988"/>
          </a:xfrm>
        </p:spPr>
        <p:txBody>
          <a:bodyPr/>
          <a:lstStyle/>
          <a:p>
            <a:pPr eaLnBrk="1" hangingPunct="1"/>
            <a:r>
              <a:rPr lang="en-US" sz="4000" dirty="0" smtClean="0"/>
              <a:t>Reducing Peak Power with a </a:t>
            </a:r>
            <a:br>
              <a:rPr lang="en-US" sz="4000" dirty="0" smtClean="0"/>
            </a:br>
            <a:r>
              <a:rPr lang="en-US" sz="4000" dirty="0" smtClean="0"/>
              <a:t>Table-Driven Adaptive Processor Core</a:t>
            </a:r>
          </a:p>
        </p:txBody>
      </p:sp>
      <p:sp>
        <p:nvSpPr>
          <p:cNvPr id="3075" name="Rectangle 3"/>
          <p:cNvSpPr>
            <a:spLocks noGrp="1" noChangeArrowheads="1"/>
          </p:cNvSpPr>
          <p:nvPr>
            <p:ph type="subTitle" idx="1"/>
            <p:custDataLst>
              <p:tags r:id="rId3"/>
            </p:custDataLst>
          </p:nvPr>
        </p:nvSpPr>
        <p:spPr>
          <a:xfrm>
            <a:off x="762000" y="4267200"/>
            <a:ext cx="6400800" cy="1752600"/>
          </a:xfrm>
        </p:spPr>
        <p:txBody>
          <a:bodyPr/>
          <a:lstStyle/>
          <a:p>
            <a:pPr eaLnBrk="1" hangingPunct="1"/>
            <a:r>
              <a:rPr lang="en-US" sz="2400" dirty="0" err="1" smtClean="0">
                <a:solidFill>
                  <a:srgbClr val="FF0000"/>
                </a:solidFill>
                <a:latin typeface="+mj-lt"/>
              </a:rPr>
              <a:t>Vasileios</a:t>
            </a:r>
            <a:r>
              <a:rPr lang="en-US" sz="2400" dirty="0" smtClean="0">
                <a:solidFill>
                  <a:srgbClr val="FF0000"/>
                </a:solidFill>
                <a:latin typeface="+mj-lt"/>
              </a:rPr>
              <a:t> </a:t>
            </a:r>
            <a:r>
              <a:rPr lang="en-US" sz="2400" dirty="0" err="1" smtClean="0">
                <a:solidFill>
                  <a:srgbClr val="FF0000"/>
                </a:solidFill>
                <a:latin typeface="+mj-lt"/>
              </a:rPr>
              <a:t>Kontorinis</a:t>
            </a:r>
            <a:r>
              <a:rPr lang="en-US" sz="2400" dirty="0" smtClean="0">
                <a:solidFill>
                  <a:srgbClr val="FF0000"/>
                </a:solidFill>
                <a:latin typeface="+mj-lt"/>
              </a:rPr>
              <a:t> (UCSD)</a:t>
            </a:r>
          </a:p>
          <a:p>
            <a:pPr eaLnBrk="1" hangingPunct="1"/>
            <a:r>
              <a:rPr lang="en-US" sz="2400" dirty="0" err="1" smtClean="0">
                <a:latin typeface="+mj-lt"/>
              </a:rPr>
              <a:t>Amirali</a:t>
            </a:r>
            <a:r>
              <a:rPr lang="en-US" sz="2400" dirty="0" smtClean="0">
                <a:latin typeface="+mj-lt"/>
              </a:rPr>
              <a:t> </a:t>
            </a:r>
            <a:r>
              <a:rPr lang="en-US" sz="2400" dirty="0" err="1" smtClean="0">
                <a:latin typeface="+mj-lt"/>
              </a:rPr>
              <a:t>Shayan</a:t>
            </a:r>
            <a:r>
              <a:rPr lang="en-US" sz="2400" dirty="0" smtClean="0">
                <a:latin typeface="+mj-lt"/>
              </a:rPr>
              <a:t> (UCSD)</a:t>
            </a:r>
          </a:p>
          <a:p>
            <a:pPr eaLnBrk="1" hangingPunct="1"/>
            <a:r>
              <a:rPr lang="en-US" sz="2400" dirty="0" err="1" smtClean="0">
                <a:latin typeface="+mj-lt"/>
              </a:rPr>
              <a:t>Rakesh</a:t>
            </a:r>
            <a:r>
              <a:rPr lang="en-US" sz="2400" dirty="0" smtClean="0">
                <a:latin typeface="+mj-lt"/>
              </a:rPr>
              <a:t> Kumar (UIUC)</a:t>
            </a:r>
          </a:p>
          <a:p>
            <a:pPr eaLnBrk="1" hangingPunct="1"/>
            <a:r>
              <a:rPr lang="en-US" sz="2400" dirty="0" smtClean="0">
                <a:latin typeface="+mj-lt"/>
              </a:rPr>
              <a:t>Dean </a:t>
            </a:r>
            <a:r>
              <a:rPr lang="en-US" sz="2400" dirty="0" err="1" smtClean="0">
                <a:latin typeface="+mj-lt"/>
              </a:rPr>
              <a:t>Tullsen</a:t>
            </a:r>
            <a:r>
              <a:rPr lang="en-US" sz="2400" dirty="0" smtClean="0">
                <a:latin typeface="+mj-lt"/>
              </a:rPr>
              <a:t> (UCSD)</a:t>
            </a:r>
          </a:p>
        </p:txBody>
      </p:sp>
      <p:pic>
        <p:nvPicPr>
          <p:cNvPr id="3076" name="Picture 4" descr="UCSD Logo"/>
          <p:cNvPicPr>
            <a:picLocks noChangeAspect="1" noChangeArrowheads="1"/>
          </p:cNvPicPr>
          <p:nvPr>
            <p:custDataLst>
              <p:tags r:id="rId4"/>
            </p:custDataLst>
          </p:nvPr>
        </p:nvPicPr>
        <p:blipFill>
          <a:blip r:embed="rId7"/>
          <a:srcRect l="7777" t="5292" r="67778" b="4741"/>
          <a:stretch>
            <a:fillRect/>
          </a:stretch>
        </p:blipFill>
        <p:spPr bwMode="auto">
          <a:xfrm>
            <a:off x="4876800" y="4267200"/>
            <a:ext cx="1828800" cy="1412875"/>
          </a:xfrm>
          <a:prstGeom prst="rect">
            <a:avLst/>
          </a:prstGeom>
          <a:noFill/>
          <a:ln w="9525">
            <a:noFill/>
            <a:miter lim="800000"/>
            <a:headEnd/>
            <a:tailEnd/>
          </a:ln>
        </p:spPr>
      </p:pic>
      <p:pic>
        <p:nvPicPr>
          <p:cNvPr id="76801" name="Picture 1"/>
          <p:cNvPicPr>
            <a:picLocks noChangeAspect="1" noChangeArrowheads="1"/>
          </p:cNvPicPr>
          <p:nvPr/>
        </p:nvPicPr>
        <p:blipFill>
          <a:blip r:embed="rId8" cstate="print"/>
          <a:srcRect/>
          <a:stretch>
            <a:fillRect/>
          </a:stretch>
        </p:blipFill>
        <p:spPr bwMode="auto">
          <a:xfrm>
            <a:off x="7239000" y="4267200"/>
            <a:ext cx="1182495" cy="1531553"/>
          </a:xfrm>
          <a:prstGeom prst="rect">
            <a:avLst/>
          </a:prstGeom>
          <a:noFill/>
          <a:ln w="9525">
            <a:noFill/>
            <a:miter lim="800000"/>
            <a:headEnd/>
            <a:tailEnd/>
          </a:ln>
          <a:effectLst/>
        </p:spPr>
      </p:pic>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HAPEID" val="UaLCAsVWd7Oh00pCD4rCTe"/>
  <p:tag name="DVSHEQ" val="-274605880"/>
</p:tagLst>
</file>

<file path=ppt/tags/tag2.xml><?xml version="1.0" encoding="utf-8"?>
<p:tagLst xmlns:a="http://schemas.openxmlformats.org/drawingml/2006/main" xmlns:r="http://schemas.openxmlformats.org/officeDocument/2006/relationships" xmlns:p="http://schemas.openxmlformats.org/presentationml/2006/main">
  <p:tag name="DVSHAPEID" val="YAw5Hd8t0QQnARBkqIlssB"/>
  <p:tag name="DVSHEQ" val="-1585776595"/>
</p:tagLst>
</file>

<file path=ppt/tags/tag3.xml><?xml version="1.0" encoding="utf-8"?>
<p:tagLst xmlns:a="http://schemas.openxmlformats.org/drawingml/2006/main" xmlns:r="http://schemas.openxmlformats.org/officeDocument/2006/relationships" xmlns:p="http://schemas.openxmlformats.org/presentationml/2006/main">
  <p:tag name="DVSHAPEID" val="Uv6pPDFnL6lGca5vLINJ7X"/>
  <p:tag name="DVSHEQ" val="-2070916704"/>
</p:tagLst>
</file>

<file path=ppt/tags/tag4.xml><?xml version="1.0" encoding="utf-8"?>
<p:tagLst xmlns:a="http://schemas.openxmlformats.org/drawingml/2006/main" xmlns:r="http://schemas.openxmlformats.org/officeDocument/2006/relationships" xmlns:p="http://schemas.openxmlformats.org/presentationml/2006/main">
  <p:tag name="DVSHAPEID" val="qCqy1iEIgqLnF1ZiovND4K"/>
  <p:tag name="DVSHEQ" val="52830116"/>
</p:tagLst>
</file>

<file path=ppt/tags/tag5.xml><?xml version="1.0" encoding="utf-8"?>
<p:tagLst xmlns:a="http://schemas.openxmlformats.org/drawingml/2006/main" xmlns:r="http://schemas.openxmlformats.org/officeDocument/2006/relationships" xmlns:p="http://schemas.openxmlformats.org/presentationml/2006/main">
  <p:tag name="DVSHAPEID" val="2TFqeVXDFJuW4tYhCmJ3QV"/>
  <p:tag name="DVSHEQ" val="-2143717493"/>
</p:tagLst>
</file>

<file path=ppt/tags/tag6.xml><?xml version="1.0" encoding="utf-8"?>
<p:tagLst xmlns:a="http://schemas.openxmlformats.org/drawingml/2006/main" xmlns:r="http://schemas.openxmlformats.org/officeDocument/2006/relationships" xmlns:p="http://schemas.openxmlformats.org/presentationml/2006/main">
  <p:tag name="DVSHAPEID" val="UOv4vtjiVuSGAwSA4JLCK2"/>
  <p:tag name="DVSHEQ" val="1806925572"/>
</p:tagLst>
</file>

<file path=ppt/tags/tag7.xml><?xml version="1.0" encoding="utf-8"?>
<p:tagLst xmlns:a="http://schemas.openxmlformats.org/drawingml/2006/main" xmlns:r="http://schemas.openxmlformats.org/officeDocument/2006/relationships" xmlns:p="http://schemas.openxmlformats.org/presentationml/2006/main">
  <p:tag name="DVSHAPEID" val="SJXvj6TrT1U7ZQVapujnN0"/>
  <p:tag name="DVSHEQ" val="-2027825797"/>
</p:tagLst>
</file>

<file path=ppt/tags/tag8.xml><?xml version="1.0" encoding="utf-8"?>
<p:tagLst xmlns:a="http://schemas.openxmlformats.org/drawingml/2006/main" xmlns:r="http://schemas.openxmlformats.org/officeDocument/2006/relationships" xmlns:p="http://schemas.openxmlformats.org/presentationml/2006/main">
  <p:tag name="DVSHAPEID" val="6vUxfPwK4JnFCFzcpb0Bro"/>
  <p:tag name="DVSHEQ" val="-1426386890"/>
</p:tagLst>
</file>

<file path=ppt/tags/tag9.xml><?xml version="1.0" encoding="utf-8"?>
<p:tagLst xmlns:a="http://schemas.openxmlformats.org/drawingml/2006/main" xmlns:r="http://schemas.openxmlformats.org/officeDocument/2006/relationships" xmlns:p="http://schemas.openxmlformats.org/presentationml/2006/main">
  <p:tag name="DVSHAPEID" val="llThulUVBY0Hlshn4HduD1"/>
  <p:tag name="DVSHEQ" val="1290361252"/>
</p:tagLst>
</file>

<file path=ppt/tags/tag10.xml><?xml version="1.0" encoding="utf-8"?>
<p:tagLst xmlns:a="http://schemas.openxmlformats.org/drawingml/2006/main" xmlns:r="http://schemas.openxmlformats.org/officeDocument/2006/relationships" xmlns:p="http://schemas.openxmlformats.org/presentationml/2006/main">
  <p:tag name="DVSHAPEID" val="H70erYNSUq8IJQuQa6yGqA"/>
  <p:tag name="DVSHEQ" val="1660904530"/>
</p:tagLst>
</file>

<file path=ppt/tags/tag11.xml><?xml version="1.0" encoding="utf-8"?>
<p:tagLst xmlns:a="http://schemas.openxmlformats.org/drawingml/2006/main" xmlns:r="http://schemas.openxmlformats.org/officeDocument/2006/relationships" xmlns:p="http://schemas.openxmlformats.org/presentationml/2006/main">
  <p:tag name="DVSHAPEID" val="s7Z4UEzB7PFWh3xe87hHJm"/>
  <p:tag name="DVSHEQ" val="-310768175"/>
</p:tagLst>
</file>

<file path=ppt/tags/tag12.xml><?xml version="1.0" encoding="utf-8"?>
<p:tagLst xmlns:a="http://schemas.openxmlformats.org/drawingml/2006/main" xmlns:r="http://schemas.openxmlformats.org/officeDocument/2006/relationships" xmlns:p="http://schemas.openxmlformats.org/presentationml/2006/main">
  <p:tag name="DVSHAPEID" val="W7U93ok6YiqdBqWnloF1VM"/>
  <p:tag name="DVSHEQ" val="1297118807"/>
</p:tagLst>
</file>

<file path=ppt/tags/tag13.xml><?xml version="1.0" encoding="utf-8"?>
<p:tagLst xmlns:a="http://schemas.openxmlformats.org/drawingml/2006/main" xmlns:r="http://schemas.openxmlformats.org/officeDocument/2006/relationships" xmlns:p="http://schemas.openxmlformats.org/presentationml/2006/main">
  <p:tag name="DVSHAPEID" val="C47xnjvxmG76wo7wRVWcpX"/>
  <p:tag name="DVSHEQ" val="1206894146"/>
</p:tagLst>
</file>

<file path=ppt/tags/tag14.xml><?xml version="1.0" encoding="utf-8"?>
<p:tagLst xmlns:a="http://schemas.openxmlformats.org/drawingml/2006/main" xmlns:r="http://schemas.openxmlformats.org/officeDocument/2006/relationships" xmlns:p="http://schemas.openxmlformats.org/presentationml/2006/main">
  <p:tag name="DVSHAPEID" val="rrYbUkwKeIKavP2v00ArWJ"/>
  <p:tag name="DVSHEQ" val="1716444708"/>
</p:tagLst>
</file>

<file path=ppt/tags/tag15.xml><?xml version="1.0" encoding="utf-8"?>
<p:tagLst xmlns:a="http://schemas.openxmlformats.org/drawingml/2006/main" xmlns:r="http://schemas.openxmlformats.org/officeDocument/2006/relationships" xmlns:p="http://schemas.openxmlformats.org/presentationml/2006/main">
  <p:tag name="DVSHAPEID" val="7hW4cB3tNCT7ESem48ijjj"/>
  <p:tag name="DVSHEQ" val="-198967769"/>
</p:tagLst>
</file>

<file path=ppt/tags/tag16.xml><?xml version="1.0" encoding="utf-8"?>
<p:tagLst xmlns:a="http://schemas.openxmlformats.org/drawingml/2006/main" xmlns:r="http://schemas.openxmlformats.org/officeDocument/2006/relationships" xmlns:p="http://schemas.openxmlformats.org/presentationml/2006/main">
  <p:tag name="DVSHAPEID" val="2NyqiVYroIQ50H8QrXxD22"/>
  <p:tag name="DVSHEQ" val="561741019"/>
</p:tagLst>
</file>

<file path=ppt/tags/tag17.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18.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19.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20.xml><?xml version="1.0" encoding="utf-8"?>
<p:tagLst xmlns:a="http://schemas.openxmlformats.org/drawingml/2006/main" xmlns:r="http://schemas.openxmlformats.org/officeDocument/2006/relationships" xmlns:p="http://schemas.openxmlformats.org/presentationml/2006/main">
  <p:tag name="DVSHAPEID" val="3aoFZL29oq3Of9vLi7vmdb"/>
  <p:tag name="DVSHEQ" val="1316282816"/>
</p:tagLst>
</file>

<file path=ppt/tags/tag21.xml><?xml version="1.0" encoding="utf-8"?>
<p:tagLst xmlns:a="http://schemas.openxmlformats.org/drawingml/2006/main" xmlns:r="http://schemas.openxmlformats.org/officeDocument/2006/relationships" xmlns:p="http://schemas.openxmlformats.org/presentationml/2006/main">
  <p:tag name="DVSHAPEID" val="gzSxedGkLGh0Jo1DVdofjp"/>
  <p:tag name="DVSHEQ" val="-1841591246"/>
</p:tagLst>
</file>

<file path=ppt/tags/tag22.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23.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24.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25.xml><?xml version="1.0" encoding="utf-8"?>
<p:tagLst xmlns:a="http://schemas.openxmlformats.org/drawingml/2006/main" xmlns:r="http://schemas.openxmlformats.org/officeDocument/2006/relationships" xmlns:p="http://schemas.openxmlformats.org/presentationml/2006/main">
  <p:tag name="DVSHAPEID" val="1csZlGFp8FOSTPMsxPs4En"/>
  <p:tag name="DVSHEQ" val="-198967769"/>
</p:tagLst>
</file>

<file path=ppt/tags/tag26.xml><?xml version="1.0" encoding="utf-8"?>
<p:tagLst xmlns:a="http://schemas.openxmlformats.org/drawingml/2006/main" xmlns:r="http://schemas.openxmlformats.org/officeDocument/2006/relationships" xmlns:p="http://schemas.openxmlformats.org/presentationml/2006/main">
  <p:tag name="DVSHAPEID" val="xep6KEciYYRRxG5eS0FlyB"/>
  <p:tag name="DVSHEQ" val="-519512589"/>
</p:tagLst>
</file>

<file path=ppt/tags/tag27.xml><?xml version="1.0" encoding="utf-8"?>
<p:tagLst xmlns:a="http://schemas.openxmlformats.org/drawingml/2006/main" xmlns:r="http://schemas.openxmlformats.org/officeDocument/2006/relationships" xmlns:p="http://schemas.openxmlformats.org/presentationml/2006/main">
  <p:tag name="DVSHAPEID" val="bRvcRsFzNfLEFdAeV0dPHQ"/>
  <p:tag name="DVSHEQ" val="-1919251369"/>
</p:tagLst>
</file>

<file path=ppt/tags/tag28.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29.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30.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31.xml><?xml version="1.0" encoding="utf-8"?>
<p:tagLst xmlns:a="http://schemas.openxmlformats.org/drawingml/2006/main" xmlns:r="http://schemas.openxmlformats.org/officeDocument/2006/relationships" xmlns:p="http://schemas.openxmlformats.org/presentationml/2006/main">
  <p:tag name="DVSHAPEID" val="02h6niWroiPV3xAxNJCpaB"/>
  <p:tag name="DVSHEQ" val="1124729204"/>
</p:tagLst>
</file>

<file path=ppt/tags/tag32.xml><?xml version="1.0" encoding="utf-8"?>
<p:tagLst xmlns:a="http://schemas.openxmlformats.org/drawingml/2006/main" xmlns:r="http://schemas.openxmlformats.org/officeDocument/2006/relationships" xmlns:p="http://schemas.openxmlformats.org/presentationml/2006/main">
  <p:tag name="DVSHAPEID" val="5S0RED4F8IUkRtUK5nClQs"/>
  <p:tag name="DVSHEQ" val="-418920335"/>
</p:tagLst>
</file>

<file path=ppt/tags/tag33.xml><?xml version="1.0" encoding="utf-8"?>
<p:tagLst xmlns:a="http://schemas.openxmlformats.org/drawingml/2006/main" xmlns:r="http://schemas.openxmlformats.org/officeDocument/2006/relationships" xmlns:p="http://schemas.openxmlformats.org/presentationml/2006/main">
  <p:tag name="DVSHAPEID" val="PJa2DnctdiFoWp5wDinIa6"/>
  <p:tag name="DVSHEQ" val="675202855"/>
</p:tagLst>
</file>

<file path=ppt/tags/tag34.xml><?xml version="1.0" encoding="utf-8"?>
<p:tagLst xmlns:a="http://schemas.openxmlformats.org/drawingml/2006/main" xmlns:r="http://schemas.openxmlformats.org/officeDocument/2006/relationships" xmlns:p="http://schemas.openxmlformats.org/presentationml/2006/main">
  <p:tag name="DVSHAPEID" val="1IG7D2EeMPKD3hHCZGtEuB"/>
  <p:tag name="DVSHEQ" val="-495922714"/>
</p:tagLst>
</file>

<file path=ppt/tags/tag35.xml><?xml version="1.0" encoding="utf-8"?>
<p:tagLst xmlns:a="http://schemas.openxmlformats.org/drawingml/2006/main" xmlns:r="http://schemas.openxmlformats.org/officeDocument/2006/relationships" xmlns:p="http://schemas.openxmlformats.org/presentationml/2006/main">
  <p:tag name="DVSHAPEID" val="FswvFzJjY7iIIrmwK9PZvQ"/>
  <p:tag name="DVSHEQ" val="-1087926192"/>
</p:tagLst>
</file>

<file path=ppt/tags/tag36.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37.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38.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39.xml><?xml version="1.0" encoding="utf-8"?>
<p:tagLst xmlns:a="http://schemas.openxmlformats.org/drawingml/2006/main" xmlns:r="http://schemas.openxmlformats.org/officeDocument/2006/relationships" xmlns:p="http://schemas.openxmlformats.org/presentationml/2006/main">
  <p:tag name="DVSHAPEID" val="DimOO1jGfvCp3dA8n4utRD"/>
  <p:tag name="DVSHEQ" val="-198967769"/>
</p:tagLst>
</file>

<file path=ppt/tags/tag40.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41.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42.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43.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44.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45.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46.xml><?xml version="1.0" encoding="utf-8"?>
<p:tagLst xmlns:a="http://schemas.openxmlformats.org/drawingml/2006/main" xmlns:r="http://schemas.openxmlformats.org/officeDocument/2006/relationships" xmlns:p="http://schemas.openxmlformats.org/presentationml/2006/main">
  <p:tag name="DVSHAPEID" val="lkyfftWjOv6POd8RKI0hSM"/>
  <p:tag name="DVSHEQ" val="248316571"/>
</p:tagLst>
</file>

<file path=ppt/tags/tag47.xml><?xml version="1.0" encoding="utf-8"?>
<p:tagLst xmlns:a="http://schemas.openxmlformats.org/drawingml/2006/main" xmlns:r="http://schemas.openxmlformats.org/officeDocument/2006/relationships" xmlns:p="http://schemas.openxmlformats.org/presentationml/2006/main">
  <p:tag name="DVSHAPEID" val="6io8VCMLu2Y0X1fzLPJWG6"/>
  <p:tag name="DVSHEQ" val="-88726769"/>
</p:tagLst>
</file>

<file path=ppt/tags/tag48.xml><?xml version="1.0" encoding="utf-8"?>
<p:tagLst xmlns:a="http://schemas.openxmlformats.org/drawingml/2006/main" xmlns:r="http://schemas.openxmlformats.org/officeDocument/2006/relationships" xmlns:p="http://schemas.openxmlformats.org/presentationml/2006/main">
  <p:tag name="DVSHAPEID" val="idonZwkMtzKydgQ7ykx304"/>
  <p:tag name="DVSHEQ" val="30402756"/>
</p:tagLst>
</file>

<file path=ppt/tags/tag49.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50.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51.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52.xml><?xml version="1.0" encoding="utf-8"?>
<p:tagLst xmlns:a="http://schemas.openxmlformats.org/drawingml/2006/main" xmlns:r="http://schemas.openxmlformats.org/officeDocument/2006/relationships" xmlns:p="http://schemas.openxmlformats.org/presentationml/2006/main">
  <p:tag name="DVSHAPEID" val="QOf7BbWaxV6ZZaJyCfrIyo"/>
  <p:tag name="DVSHEQ" val="1794735626"/>
</p:tagLst>
</file>

<file path=ppt/tags/tag53.xml><?xml version="1.0" encoding="utf-8"?>
<p:tagLst xmlns:a="http://schemas.openxmlformats.org/drawingml/2006/main" xmlns:r="http://schemas.openxmlformats.org/officeDocument/2006/relationships" xmlns:p="http://schemas.openxmlformats.org/presentationml/2006/main">
  <p:tag name="DVSHAPEID" val="fpNZIEhppD5enA7SU8Pi1P"/>
  <p:tag name="DVSHEQ" val="2127935374"/>
</p:tagLst>
</file>

<file path=ppt/tags/tag54.xml><?xml version="1.0" encoding="utf-8"?>
<p:tagLst xmlns:a="http://schemas.openxmlformats.org/drawingml/2006/main" xmlns:r="http://schemas.openxmlformats.org/officeDocument/2006/relationships" xmlns:p="http://schemas.openxmlformats.org/presentationml/2006/main">
  <p:tag name="DVSHAPEID" val="regFn0HhCivryQjCsiS8ws"/>
  <p:tag name="DVSHEQ" val="693336225"/>
</p:tagLst>
</file>

<file path=ppt/tags/tag55.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56.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57.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58.xml><?xml version="1.0" encoding="utf-8"?>
<p:tagLst xmlns:a="http://schemas.openxmlformats.org/drawingml/2006/main" xmlns:r="http://schemas.openxmlformats.org/officeDocument/2006/relationships" xmlns:p="http://schemas.openxmlformats.org/presentationml/2006/main">
  <p:tag name="DVSHAPEID" val="TLN9qKkiTgnqXzI3ghI71N"/>
  <p:tag name="DVSHEQ" val="-198967769"/>
</p:tagLst>
</file>

<file path=ppt/tags/tag59.xml><?xml version="1.0" encoding="utf-8"?>
<p:tagLst xmlns:a="http://schemas.openxmlformats.org/drawingml/2006/main" xmlns:r="http://schemas.openxmlformats.org/officeDocument/2006/relationships" xmlns:p="http://schemas.openxmlformats.org/presentationml/2006/main">
  <p:tag name="DVSHAPEID" val="IV2hziGwqTiZkvRezXWjpf"/>
  <p:tag name="DVSHEQ" val="1964132694"/>
</p:tagLst>
</file>

<file path=ppt/tags/tag60.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61.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62.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63.xml><?xml version="1.0" encoding="utf-8"?>
<p:tagLst xmlns:a="http://schemas.openxmlformats.org/drawingml/2006/main" xmlns:r="http://schemas.openxmlformats.org/officeDocument/2006/relationships" xmlns:p="http://schemas.openxmlformats.org/presentationml/2006/main">
  <p:tag name="DVSHAPEID" val="47SJTo2Aqpr62S79b2BmPt"/>
  <p:tag name="DVSHEQ" val="-1007007256"/>
</p:tagLst>
</file>

<file path=ppt/tags/tag64.xml><?xml version="1.0" encoding="utf-8"?>
<p:tagLst xmlns:a="http://schemas.openxmlformats.org/drawingml/2006/main" xmlns:r="http://schemas.openxmlformats.org/officeDocument/2006/relationships" xmlns:p="http://schemas.openxmlformats.org/presentationml/2006/main">
  <p:tag name="DVSHAPEID" val="8Yfdb2IKbHntQUoPohuPtT"/>
  <p:tag name="DVSHEQ" val="-471784542"/>
</p:tagLst>
</file>

<file path=ppt/tags/tag65.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66.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67.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68.xml><?xml version="1.0" encoding="utf-8"?>
<p:tagLst xmlns:a="http://schemas.openxmlformats.org/drawingml/2006/main" xmlns:r="http://schemas.openxmlformats.org/officeDocument/2006/relationships" xmlns:p="http://schemas.openxmlformats.org/presentationml/2006/main">
  <p:tag name="DVSHAPEID" val="xdsZ7pMUI2pAZTuFd0SFeK"/>
  <p:tag name="DVSHEQ" val="-198967769"/>
</p:tagLst>
</file>

<file path=ppt/tags/tag69.xml><?xml version="1.0" encoding="utf-8"?>
<p:tagLst xmlns:a="http://schemas.openxmlformats.org/drawingml/2006/main" xmlns:r="http://schemas.openxmlformats.org/officeDocument/2006/relationships" xmlns:p="http://schemas.openxmlformats.org/presentationml/2006/main">
  <p:tag name="DVSHAPEID" val="Iy1cKlDjS00er1LbUiYgYk"/>
  <p:tag name="DVSHEQ" val="1482163341"/>
</p:tagLst>
</file>

<file path=ppt/tags/tag70.xml><?xml version="1.0" encoding="utf-8"?>
<p:tagLst xmlns:a="http://schemas.openxmlformats.org/drawingml/2006/main" xmlns:r="http://schemas.openxmlformats.org/officeDocument/2006/relationships" xmlns:p="http://schemas.openxmlformats.org/presentationml/2006/main">
  <p:tag name="DVSHAPEID" val="4gVvlJ4uWNFMuUYUErgo9p"/>
  <p:tag name="DVSHEQ" val="-1782390424"/>
</p:tagLst>
</file>

<file path=ppt/tags/tag71.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72.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73.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74.xml><?xml version="1.0" encoding="utf-8"?>
<p:tagLst xmlns:a="http://schemas.openxmlformats.org/drawingml/2006/main" xmlns:r="http://schemas.openxmlformats.org/officeDocument/2006/relationships" xmlns:p="http://schemas.openxmlformats.org/presentationml/2006/main">
  <p:tag name="DVSHAPEID" val="AKrtU15zHXLnuLhfZUfo3c"/>
  <p:tag name="DVSHEQ" val="-198967769"/>
</p:tagLst>
</file>

<file path=ppt/tags/tag75.xml><?xml version="1.0" encoding="utf-8"?>
<p:tagLst xmlns:a="http://schemas.openxmlformats.org/drawingml/2006/main" xmlns:r="http://schemas.openxmlformats.org/officeDocument/2006/relationships" xmlns:p="http://schemas.openxmlformats.org/presentationml/2006/main">
  <p:tag name="DVSHAPEID" val="zFwRd0Dx0AbEFa3SO3on6I"/>
  <p:tag name="DVSHEQ" val="431650868"/>
</p:tagLst>
</file>

<file path=ppt/tags/tag76.xml><?xml version="1.0" encoding="utf-8"?>
<p:tagLst xmlns:a="http://schemas.openxmlformats.org/drawingml/2006/main" xmlns:r="http://schemas.openxmlformats.org/officeDocument/2006/relationships" xmlns:p="http://schemas.openxmlformats.org/presentationml/2006/main">
  <p:tag name="DVSHAPEID" val="07pdDprm9LloaMW3O5VaWb"/>
  <p:tag name="DVSHEQ" val="-1244530455"/>
</p:tagLst>
</file>

<file path=ppt/tags/tag77.xml><?xml version="1.0" encoding="utf-8"?>
<p:tagLst xmlns:a="http://schemas.openxmlformats.org/drawingml/2006/main" xmlns:r="http://schemas.openxmlformats.org/officeDocument/2006/relationships" xmlns:p="http://schemas.openxmlformats.org/presentationml/2006/main">
  <p:tag name="DVSHAPEID" val="Uv6pPDFnL6lGca5vLINJ7X"/>
  <p:tag name="DVSHEQ" val="1297118807"/>
</p:tagLst>
</file>

<file path=ppt/tags/tag78.xml><?xml version="1.0" encoding="utf-8"?>
<p:tagLst xmlns:a="http://schemas.openxmlformats.org/drawingml/2006/main" xmlns:r="http://schemas.openxmlformats.org/officeDocument/2006/relationships" xmlns:p="http://schemas.openxmlformats.org/presentationml/2006/main">
  <p:tag name="DVSHAPEID" val="qCqy1iEIgqLnF1ZiovND4K"/>
  <p:tag name="DVSHEQ" val="1071677611"/>
</p:tagLst>
</file>

<file path=ppt/tags/tag79.xml><?xml version="1.0" encoding="utf-8"?>
<p:tagLst xmlns:a="http://schemas.openxmlformats.org/drawingml/2006/main" xmlns:r="http://schemas.openxmlformats.org/officeDocument/2006/relationships" xmlns:p="http://schemas.openxmlformats.org/presentationml/2006/main">
  <p:tag name="DVSHAPEID" val="2TFqeVXDFJuW4tYhCmJ3QV"/>
  <p:tag name="DVSHEQ" val="1716444708"/>
</p:tagLst>
</file>

<file path=ppt/tags/tag80.xml><?xml version="1.0" encoding="utf-8"?>
<p:tagLst xmlns:a="http://schemas.openxmlformats.org/drawingml/2006/main" xmlns:r="http://schemas.openxmlformats.org/officeDocument/2006/relationships" xmlns:p="http://schemas.openxmlformats.org/presentationml/2006/main">
  <p:tag name="DVSECTIONID" val="EOwhYAWXdVaTNHbzO5Q4PM"/>
</p:tagLst>
</file>

<file path=ppt/tags/tag81.xml><?xml version="1.0" encoding="utf-8"?>
<p:tagLst xmlns:a="http://schemas.openxmlformats.org/drawingml/2006/main" xmlns:r="http://schemas.openxmlformats.org/officeDocument/2006/relationships" xmlns:p="http://schemas.openxmlformats.org/presentationml/2006/main">
  <p:tag name="DVSHAPEID" val="AEKVIeSyQCwPT3VNzpkZAS"/>
  <p:tag name="DVSHEQ" val="201239797"/>
</p:tagLst>
</file>

<file path=ppt/tags/tag82.xml><?xml version="1.0" encoding="utf-8"?>
<p:tagLst xmlns:a="http://schemas.openxmlformats.org/drawingml/2006/main" xmlns:r="http://schemas.openxmlformats.org/officeDocument/2006/relationships" xmlns:p="http://schemas.openxmlformats.org/presentationml/2006/main">
  <p:tag name="DVSHAPEID" val="RDvsYz5DTiUIijc7toMs4z"/>
  <p:tag name="DVSHEQ" val="-2044868657"/>
</p:tagLst>
</file>

<file path=ppt/tags/tag83.xml><?xml version="1.0" encoding="utf-8"?>
<p:tagLst xmlns:a="http://schemas.openxmlformats.org/drawingml/2006/main" xmlns:r="http://schemas.openxmlformats.org/officeDocument/2006/relationships" xmlns:p="http://schemas.openxmlformats.org/presentationml/2006/main">
  <p:tag name="DVSHAPEID" val="Cv2mW1bhpFJIM7pffisdIe"/>
  <p:tag name="DVSHEQ" val="-1041304736"/>
</p:tagLst>
</file>

<file path=ppt/tags/tag84.xml><?xml version="1.0" encoding="utf-8"?>
<p:tagLst xmlns:a="http://schemas.openxmlformats.org/drawingml/2006/main" xmlns:r="http://schemas.openxmlformats.org/officeDocument/2006/relationships" xmlns:p="http://schemas.openxmlformats.org/presentationml/2006/main">
  <p:tag name="DVSECTIONID" val="CGAN9o4qvzNFYQ8I4YHykH"/>
</p:tagLst>
</file>

<file path=ppt/tags/tag85.xml><?xml version="1.0" encoding="utf-8"?>
<p:tagLst xmlns:a="http://schemas.openxmlformats.org/drawingml/2006/main" xmlns:r="http://schemas.openxmlformats.org/officeDocument/2006/relationships" xmlns:p="http://schemas.openxmlformats.org/presentationml/2006/main">
  <p:tag name="DVSHAPEID" val="H8pzS2tFy56mz0gXCn4KO0"/>
  <p:tag name="DVSHEQ" val="169422363"/>
</p:tagLst>
</file>

<file path=ppt/tags/tag86.xml><?xml version="1.0" encoding="utf-8"?>
<p:tagLst xmlns:a="http://schemas.openxmlformats.org/drawingml/2006/main" xmlns:r="http://schemas.openxmlformats.org/officeDocument/2006/relationships" xmlns:p="http://schemas.openxmlformats.org/presentationml/2006/main">
  <p:tag name="DVSHAPEID" val="Ow7QXpSbUvko1ER4QhMFoX"/>
  <p:tag name="DVSHEQ" val="-1765941545"/>
</p:tagLst>
</file>

<file path=ppt/tags/tag87.xml><?xml version="1.0" encoding="utf-8"?>
<p:tagLst xmlns:a="http://schemas.openxmlformats.org/drawingml/2006/main" xmlns:r="http://schemas.openxmlformats.org/officeDocument/2006/relationships" xmlns:p="http://schemas.openxmlformats.org/presentationml/2006/main">
  <p:tag name="DVSHAPEID" val="O5p3PcbX1NPGkSr254NmbB"/>
  <p:tag name="DVSHEQ" val="1663167890"/>
</p:tagLst>
</file>

<file path=ppt/tags/tag88.xml><?xml version="1.0" encoding="utf-8"?>
<p:tagLst xmlns:a="http://schemas.openxmlformats.org/drawingml/2006/main" xmlns:r="http://schemas.openxmlformats.org/officeDocument/2006/relationships" xmlns:p="http://schemas.openxmlformats.org/presentationml/2006/main">
  <p:tag name="DVSHAPEID" val="4ydMGH8t0wfXk89knMj76a"/>
  <p:tag name="DVSHEQ" val="490320444"/>
</p:tagLst>
</file>

<file path=ppt/tags/tag89.xml><?xml version="1.0" encoding="utf-8"?>
<p:tagLst xmlns:a="http://schemas.openxmlformats.org/drawingml/2006/main" xmlns:r="http://schemas.openxmlformats.org/officeDocument/2006/relationships" xmlns:p="http://schemas.openxmlformats.org/presentationml/2006/main">
  <p:tag name="DVSECTIONID" val="CGAN9o4qvzNFYQ8I4YHykH"/>
</p:tagLst>
</file>

<file path=ppt/tags/tag90.xml><?xml version="1.0" encoding="utf-8"?>
<p:tagLst xmlns:a="http://schemas.openxmlformats.org/drawingml/2006/main" xmlns:r="http://schemas.openxmlformats.org/officeDocument/2006/relationships" xmlns:p="http://schemas.openxmlformats.org/presentationml/2006/main">
  <p:tag name="DVSHAPEID" val="H8pzS2tFy56mz0gXCn4KO0"/>
  <p:tag name="DVSHEQ" val="169422363"/>
</p:tagLst>
</file>

<file path=ppt/tags/tag91.xml><?xml version="1.0" encoding="utf-8"?>
<p:tagLst xmlns:a="http://schemas.openxmlformats.org/drawingml/2006/main" xmlns:r="http://schemas.openxmlformats.org/officeDocument/2006/relationships" xmlns:p="http://schemas.openxmlformats.org/presentationml/2006/main">
  <p:tag name="DVSHAPEID" val="Ow7QXpSbUvko1ER4QhMFoX"/>
  <p:tag name="DVSHEQ" val="-1765941545"/>
</p:tagLst>
</file>

<file path=ppt/tags/tag92.xml><?xml version="1.0" encoding="utf-8"?>
<p:tagLst xmlns:a="http://schemas.openxmlformats.org/drawingml/2006/main" xmlns:r="http://schemas.openxmlformats.org/officeDocument/2006/relationships" xmlns:p="http://schemas.openxmlformats.org/presentationml/2006/main">
  <p:tag name="DVSHAPEID" val="O5p3PcbX1NPGkSr254NmbB"/>
  <p:tag name="DVSHEQ" val="1663167890"/>
</p:tagLst>
</file>

<file path=ppt/tags/tag93.xml><?xml version="1.0" encoding="utf-8"?>
<p:tagLst xmlns:a="http://schemas.openxmlformats.org/drawingml/2006/main" xmlns:r="http://schemas.openxmlformats.org/officeDocument/2006/relationships" xmlns:p="http://schemas.openxmlformats.org/presentationml/2006/main">
  <p:tag name="DVSHAPEID" val="4ydMGH8t0wfXk89knMj76a"/>
  <p:tag name="DVSHEQ" val="490320444"/>
</p:tagLst>
</file>

<file path=ppt/tags/tag94.xml><?xml version="1.0" encoding="utf-8"?>
<p:tagLst xmlns:a="http://schemas.openxmlformats.org/drawingml/2006/main" xmlns:r="http://schemas.openxmlformats.org/officeDocument/2006/relationships" xmlns:p="http://schemas.openxmlformats.org/presentationml/2006/main">
  <p:tag name="DVSHAPEID" val="5uXbPnzmwfIRgQNdc0eLGx"/>
  <p:tag name="DVSHEQ" val="1067195483"/>
</p:tagLst>
</file>

<file path=ppt/tags/tag95.xml><?xml version="1.0" encoding="utf-8"?>
<p:tagLst xmlns:a="http://schemas.openxmlformats.org/drawingml/2006/main" xmlns:r="http://schemas.openxmlformats.org/officeDocument/2006/relationships" xmlns:p="http://schemas.openxmlformats.org/presentationml/2006/main">
  <p:tag name="DVSECTIONID" val="CGAN9o4qvzNFYQ8I4YHykH"/>
</p:tagLst>
</file>

<file path=ppt/tags/tag96.xml><?xml version="1.0" encoding="utf-8"?>
<p:tagLst xmlns:a="http://schemas.openxmlformats.org/drawingml/2006/main" xmlns:r="http://schemas.openxmlformats.org/officeDocument/2006/relationships" xmlns:p="http://schemas.openxmlformats.org/presentationml/2006/main">
  <p:tag name="DVSHAPEID" val="H8pzS2tFy56mz0gXCn4KO0"/>
  <p:tag name="DVSHEQ" val="169422363"/>
</p:tagLst>
</file>

<file path=ppt/tags/tag97.xml><?xml version="1.0" encoding="utf-8"?>
<p:tagLst xmlns:a="http://schemas.openxmlformats.org/drawingml/2006/main" xmlns:r="http://schemas.openxmlformats.org/officeDocument/2006/relationships" xmlns:p="http://schemas.openxmlformats.org/presentationml/2006/main">
  <p:tag name="DVSHAPEID" val="Ow7QXpSbUvko1ER4QhMFoX"/>
  <p:tag name="DVSHEQ" val="-1765941545"/>
</p:tagLst>
</file>

<file path=ppt/tags/tag98.xml><?xml version="1.0" encoding="utf-8"?>
<p:tagLst xmlns:a="http://schemas.openxmlformats.org/drawingml/2006/main" xmlns:r="http://schemas.openxmlformats.org/officeDocument/2006/relationships" xmlns:p="http://schemas.openxmlformats.org/presentationml/2006/main">
  <p:tag name="DVSHAPEID" val="O5p3PcbX1NPGkSr254NmbB"/>
  <p:tag name="DVSHEQ" val="1663167890"/>
</p:tagLst>
</file>

<file path=ppt/tags/tag99.xml><?xml version="1.0" encoding="utf-8"?>
<p:tagLst xmlns:a="http://schemas.openxmlformats.org/drawingml/2006/main" xmlns:r="http://schemas.openxmlformats.org/officeDocument/2006/relationships" xmlns:p="http://schemas.openxmlformats.org/presentationml/2006/main">
  <p:tag name="DVSHAPEID" val="4ydMGH8t0wfXk89knMj76a"/>
  <p:tag name="DVSHEQ" val="490320444"/>
</p:tagLst>
</file>

<file path=ppt/tags/tag100.xml><?xml version="1.0" encoding="utf-8"?>
<p:tagLst xmlns:a="http://schemas.openxmlformats.org/drawingml/2006/main" xmlns:r="http://schemas.openxmlformats.org/officeDocument/2006/relationships" xmlns:p="http://schemas.openxmlformats.org/presentationml/2006/main">
  <p:tag name="DVSHAPEID" val="4SpmmhPcpZOLcpfXxqxfxU"/>
  <p:tag name="DVSHEQ" val="1111201703"/>
</p:tagLst>
</file>

<file path=ppt/tags/tag101.xml><?xml version="1.0" encoding="utf-8"?>
<p:tagLst xmlns:a="http://schemas.openxmlformats.org/drawingml/2006/main" xmlns:r="http://schemas.openxmlformats.org/officeDocument/2006/relationships" xmlns:p="http://schemas.openxmlformats.org/presentationml/2006/main">
  <p:tag name="DVSECTIONID" val="A7gjn6cdwYWPBG0h8WExRf"/>
</p:tagLst>
</file>

<file path=ppt/tags/tag102.xml><?xml version="1.0" encoding="utf-8"?>
<p:tagLst xmlns:a="http://schemas.openxmlformats.org/drawingml/2006/main" xmlns:r="http://schemas.openxmlformats.org/officeDocument/2006/relationships" xmlns:p="http://schemas.openxmlformats.org/presentationml/2006/main">
  <p:tag name="DVSHAPEID" val="RP9P0e5MozUpDqRbX0iAmz"/>
  <p:tag name="DVSHEQ" val="-918283695"/>
</p:tagLst>
</file>

<file path=ppt/tags/tag103.xml><?xml version="1.0" encoding="utf-8"?>
<p:tagLst xmlns:a="http://schemas.openxmlformats.org/drawingml/2006/main" xmlns:r="http://schemas.openxmlformats.org/officeDocument/2006/relationships" xmlns:p="http://schemas.openxmlformats.org/presentationml/2006/main">
  <p:tag name="DVSHAPEID" val="gav0OVT5HVTlfr9y6Y7KAm"/>
  <p:tag name="DVSHEQ" val="-1765941545"/>
</p:tagLst>
</file>

<file path=ppt/tags/tag104.xml><?xml version="1.0" encoding="utf-8"?>
<p:tagLst xmlns:a="http://schemas.openxmlformats.org/drawingml/2006/main" xmlns:r="http://schemas.openxmlformats.org/officeDocument/2006/relationships" xmlns:p="http://schemas.openxmlformats.org/presentationml/2006/main">
  <p:tag name="DVSHAPEID" val="Ub3ApXZEfhSiyZjZpaTiSZ"/>
  <p:tag name="DVSHEQ" val="1887880847"/>
</p:tagLst>
</file>

<file path=ppt/tags/tag105.xml><?xml version="1.0" encoding="utf-8"?>
<p:tagLst xmlns:a="http://schemas.openxmlformats.org/drawingml/2006/main" xmlns:r="http://schemas.openxmlformats.org/officeDocument/2006/relationships" xmlns:p="http://schemas.openxmlformats.org/presentationml/2006/main">
  <p:tag name="DVSHAPEID" val="tXSae6zXQhuVFLqYVAKWOg"/>
  <p:tag name="DVSHEQ" val="2026388999"/>
</p:tagLst>
</file>

<file path=ppt/tags/tag106.xml><?xml version="1.0" encoding="utf-8"?>
<p:tagLst xmlns:a="http://schemas.openxmlformats.org/drawingml/2006/main" xmlns:r="http://schemas.openxmlformats.org/officeDocument/2006/relationships" xmlns:p="http://schemas.openxmlformats.org/presentationml/2006/main">
  <p:tag name="DVSHAPEID" val="ksIbQsW1bB3WpEfxgCo2jW"/>
  <p:tag name="DVSHEQ" val="-1864327116"/>
</p:tagLst>
</file>

<file path=ppt/tags/tag107.xml><?xml version="1.0" encoding="utf-8"?>
<p:tagLst xmlns:a="http://schemas.openxmlformats.org/drawingml/2006/main" xmlns:r="http://schemas.openxmlformats.org/officeDocument/2006/relationships" xmlns:p="http://schemas.openxmlformats.org/presentationml/2006/main">
  <p:tag name="DVSHAPEID" val="7TJeA0eQvTqZheQJWXHotl"/>
  <p:tag name="DVSHEQ" val="-975649208"/>
</p:tagLst>
</file>

<file path=ppt/tags/tag108.xml><?xml version="1.0" encoding="utf-8"?>
<p:tagLst xmlns:a="http://schemas.openxmlformats.org/drawingml/2006/main" xmlns:r="http://schemas.openxmlformats.org/officeDocument/2006/relationships" xmlns:p="http://schemas.openxmlformats.org/presentationml/2006/main">
  <p:tag name="DVSECTIONID" val="A7gjn6cdwYWPBG0h8WExRf"/>
</p:tagLst>
</file>

<file path=ppt/tags/tag109.xml><?xml version="1.0" encoding="utf-8"?>
<p:tagLst xmlns:a="http://schemas.openxmlformats.org/drawingml/2006/main" xmlns:r="http://schemas.openxmlformats.org/officeDocument/2006/relationships" xmlns:p="http://schemas.openxmlformats.org/presentationml/2006/main">
  <p:tag name="DVSHAPEID" val="RP9P0e5MozUpDqRbX0iAmz"/>
  <p:tag name="DVSHEQ" val="-918283695"/>
</p:tagLst>
</file>

<file path=ppt/tags/tag110.xml><?xml version="1.0" encoding="utf-8"?>
<p:tagLst xmlns:a="http://schemas.openxmlformats.org/drawingml/2006/main" xmlns:r="http://schemas.openxmlformats.org/officeDocument/2006/relationships" xmlns:p="http://schemas.openxmlformats.org/presentationml/2006/main">
  <p:tag name="DVSHAPEID" val="gav0OVT5HVTlfr9y6Y7KAm"/>
  <p:tag name="DVSHEQ" val="-1765941545"/>
</p:tagLst>
</file>

<file path=ppt/tags/tag111.xml><?xml version="1.0" encoding="utf-8"?>
<p:tagLst xmlns:a="http://schemas.openxmlformats.org/drawingml/2006/main" xmlns:r="http://schemas.openxmlformats.org/officeDocument/2006/relationships" xmlns:p="http://schemas.openxmlformats.org/presentationml/2006/main">
  <p:tag name="DVSHAPEID" val="Ub3ApXZEfhSiyZjZpaTiSZ"/>
  <p:tag name="DVSHEQ" val="1887880847"/>
</p:tagLst>
</file>

<file path=ppt/tags/tag112.xml><?xml version="1.0" encoding="utf-8"?>
<p:tagLst xmlns:a="http://schemas.openxmlformats.org/drawingml/2006/main" xmlns:r="http://schemas.openxmlformats.org/officeDocument/2006/relationships" xmlns:p="http://schemas.openxmlformats.org/presentationml/2006/main">
  <p:tag name="DVSHAPEID" val="tXSae6zXQhuVFLqYVAKWOg"/>
  <p:tag name="DVSHEQ" val="2026388999"/>
</p:tagLst>
</file>

<file path=ppt/tags/tag113.xml><?xml version="1.0" encoding="utf-8"?>
<p:tagLst xmlns:a="http://schemas.openxmlformats.org/drawingml/2006/main" xmlns:r="http://schemas.openxmlformats.org/officeDocument/2006/relationships" xmlns:p="http://schemas.openxmlformats.org/presentationml/2006/main">
  <p:tag name="DVSHAPEID" val="ksIbQsW1bB3WpEfxgCo2jW"/>
  <p:tag name="DVSHEQ" val="-1864327116"/>
</p:tagLst>
</file>

<file path=ppt/tags/tag114.xml><?xml version="1.0" encoding="utf-8"?>
<p:tagLst xmlns:a="http://schemas.openxmlformats.org/drawingml/2006/main" xmlns:r="http://schemas.openxmlformats.org/officeDocument/2006/relationships" xmlns:p="http://schemas.openxmlformats.org/presentationml/2006/main">
  <p:tag name="DVSHAPEID" val="3EDhTj01ZVJYR6sOB9nogW"/>
  <p:tag name="DVSHEQ" val="-425009934"/>
</p:tagLst>
</file>

<file path=ppt/tags/tag115.xml><?xml version="1.0" encoding="utf-8"?>
<p:tagLst xmlns:a="http://schemas.openxmlformats.org/drawingml/2006/main" xmlns:r="http://schemas.openxmlformats.org/officeDocument/2006/relationships" xmlns:p="http://schemas.openxmlformats.org/presentationml/2006/main">
  <p:tag name="DVSHAPEID" val="7TJeA0eQvTqZheQJWXHotl"/>
  <p:tag name="DVSHEQ" val="-975649208"/>
</p:tagLst>
</file>

<file path=ppt/tags/tag116.xml><?xml version="1.0" encoding="utf-8"?>
<p:tagLst xmlns:a="http://schemas.openxmlformats.org/drawingml/2006/main" xmlns:r="http://schemas.openxmlformats.org/officeDocument/2006/relationships" xmlns:p="http://schemas.openxmlformats.org/presentationml/2006/main">
  <p:tag name="DVSHAPEID" val="fgSwhbqIsR8Lzhwp9MUuHP"/>
  <p:tag name="DVSHEQ" val="-1273596610"/>
</p:tagLst>
</file>

<file path=ppt/tags/tag117.xml><?xml version="1.0" encoding="utf-8"?>
<p:tagLst xmlns:a="http://schemas.openxmlformats.org/drawingml/2006/main" xmlns:r="http://schemas.openxmlformats.org/officeDocument/2006/relationships" xmlns:p="http://schemas.openxmlformats.org/presentationml/2006/main">
  <p:tag name="DVSHAPEID" val="WlPbtpG40r2ndrjkaLAt9b"/>
  <p:tag name="DVSHEQ" val="-1643223042"/>
</p:tagLst>
</file>

<file path=ppt/tags/tag118.xml><?xml version="1.0" encoding="utf-8"?>
<p:tagLst xmlns:a="http://schemas.openxmlformats.org/drawingml/2006/main" xmlns:r="http://schemas.openxmlformats.org/officeDocument/2006/relationships" xmlns:p="http://schemas.openxmlformats.org/presentationml/2006/main">
  <p:tag name="DVSECTIONID" val="A7gjn6cdwYWPBG0h8WExRf"/>
</p:tagLst>
</file>

<file path=ppt/tags/tag119.xml><?xml version="1.0" encoding="utf-8"?>
<p:tagLst xmlns:a="http://schemas.openxmlformats.org/drawingml/2006/main" xmlns:r="http://schemas.openxmlformats.org/officeDocument/2006/relationships" xmlns:p="http://schemas.openxmlformats.org/presentationml/2006/main">
  <p:tag name="DVSHAPEID" val="RP9P0e5MozUpDqRbX0iAmz"/>
  <p:tag name="DVSHEQ" val="-918283695"/>
</p:tagLst>
</file>

<file path=ppt/tags/tag120.xml><?xml version="1.0" encoding="utf-8"?>
<p:tagLst xmlns:a="http://schemas.openxmlformats.org/drawingml/2006/main" xmlns:r="http://schemas.openxmlformats.org/officeDocument/2006/relationships" xmlns:p="http://schemas.openxmlformats.org/presentationml/2006/main">
  <p:tag name="DVSHAPEID" val="gav0OVT5HVTlfr9y6Y7KAm"/>
  <p:tag name="DVSHEQ" val="-1765941545"/>
</p:tagLst>
</file>

<file path=ppt/tags/tag121.xml><?xml version="1.0" encoding="utf-8"?>
<p:tagLst xmlns:a="http://schemas.openxmlformats.org/drawingml/2006/main" xmlns:r="http://schemas.openxmlformats.org/officeDocument/2006/relationships" xmlns:p="http://schemas.openxmlformats.org/presentationml/2006/main">
  <p:tag name="DVSHAPEID" val="Ub3ApXZEfhSiyZjZpaTiSZ"/>
  <p:tag name="DVSHEQ" val="1887880847"/>
</p:tagLst>
</file>

<file path=ppt/tags/tag122.xml><?xml version="1.0" encoding="utf-8"?>
<p:tagLst xmlns:a="http://schemas.openxmlformats.org/drawingml/2006/main" xmlns:r="http://schemas.openxmlformats.org/officeDocument/2006/relationships" xmlns:p="http://schemas.openxmlformats.org/presentationml/2006/main">
  <p:tag name="DVSHAPEID" val="tXSae6zXQhuVFLqYVAKWOg"/>
  <p:tag name="DVSHEQ" val="2026388999"/>
</p:tagLst>
</file>

<file path=ppt/tags/tag123.xml><?xml version="1.0" encoding="utf-8"?>
<p:tagLst xmlns:a="http://schemas.openxmlformats.org/drawingml/2006/main" xmlns:r="http://schemas.openxmlformats.org/officeDocument/2006/relationships" xmlns:p="http://schemas.openxmlformats.org/presentationml/2006/main">
  <p:tag name="DVSHAPEID" val="ksIbQsW1bB3WpEfxgCo2jW"/>
  <p:tag name="DVSHEQ" val="-1864327116"/>
</p:tagLst>
</file>

<file path=ppt/tags/tag124.xml><?xml version="1.0" encoding="utf-8"?>
<p:tagLst xmlns:a="http://schemas.openxmlformats.org/drawingml/2006/main" xmlns:r="http://schemas.openxmlformats.org/officeDocument/2006/relationships" xmlns:p="http://schemas.openxmlformats.org/presentationml/2006/main">
  <p:tag name="DVSHAPEID" val="3EDhTj01ZVJYR6sOB9nogW"/>
  <p:tag name="DVSHEQ" val="-425009934"/>
</p:tagLst>
</file>

<file path=ppt/tags/tag125.xml><?xml version="1.0" encoding="utf-8"?>
<p:tagLst xmlns:a="http://schemas.openxmlformats.org/drawingml/2006/main" xmlns:r="http://schemas.openxmlformats.org/officeDocument/2006/relationships" xmlns:p="http://schemas.openxmlformats.org/presentationml/2006/main">
  <p:tag name="DVSHAPEID" val="7TJeA0eQvTqZheQJWXHotl"/>
  <p:tag name="DVSHEQ" val="-975649208"/>
</p:tagLst>
</file>

<file path=ppt/tags/tag126.xml><?xml version="1.0" encoding="utf-8"?>
<p:tagLst xmlns:a="http://schemas.openxmlformats.org/drawingml/2006/main" xmlns:r="http://schemas.openxmlformats.org/officeDocument/2006/relationships" xmlns:p="http://schemas.openxmlformats.org/presentationml/2006/main">
  <p:tag name="DVSHAPEID" val="fgSwhbqIsR8Lzhwp9MUuHP"/>
  <p:tag name="DVSHEQ" val="-1273596610"/>
</p:tagLst>
</file>

<file path=ppt/tags/tag127.xml><?xml version="1.0" encoding="utf-8"?>
<p:tagLst xmlns:a="http://schemas.openxmlformats.org/drawingml/2006/main" xmlns:r="http://schemas.openxmlformats.org/officeDocument/2006/relationships" xmlns:p="http://schemas.openxmlformats.org/presentationml/2006/main">
  <p:tag name="DVSHAPEID" val="WlPbtpG40r2ndrjkaLAt9b"/>
  <p:tag name="DVSHEQ" val="-1643223042"/>
</p:tagLst>
</file>

<file path=ppt/tags/tag128.xml><?xml version="1.0" encoding="utf-8"?>
<p:tagLst xmlns:a="http://schemas.openxmlformats.org/drawingml/2006/main" xmlns:r="http://schemas.openxmlformats.org/officeDocument/2006/relationships" xmlns:p="http://schemas.openxmlformats.org/presentationml/2006/main">
  <p:tag name="DVSHAPEID" val="OD5Y1RsC7PfqkwG5H11nRG"/>
  <p:tag name="DVSHEQ" val="551165218"/>
</p:tagLst>
</file>

<file path=ppt/tags/tag129.xml><?xml version="1.0" encoding="utf-8"?>
<p:tagLst xmlns:a="http://schemas.openxmlformats.org/drawingml/2006/main" xmlns:r="http://schemas.openxmlformats.org/officeDocument/2006/relationships" xmlns:p="http://schemas.openxmlformats.org/presentationml/2006/main">
  <p:tag name="DVSHAPEID" val="Jb446PB9TeFKxb6vnOBojc"/>
  <p:tag name="DVSHEQ" val="-1720727606"/>
</p:tagLst>
</file>

<file path=ppt/tags/tag130.xml><?xml version="1.0" encoding="utf-8"?>
<p:tagLst xmlns:a="http://schemas.openxmlformats.org/drawingml/2006/main" xmlns:r="http://schemas.openxmlformats.org/officeDocument/2006/relationships" xmlns:p="http://schemas.openxmlformats.org/presentationml/2006/main">
  <p:tag name="DVSECTIONID" val="A7gjn6cdwYWPBG0h8WExRf"/>
</p:tagLst>
</file>

<file path=ppt/tags/tag131.xml><?xml version="1.0" encoding="utf-8"?>
<p:tagLst xmlns:a="http://schemas.openxmlformats.org/drawingml/2006/main" xmlns:r="http://schemas.openxmlformats.org/officeDocument/2006/relationships" xmlns:p="http://schemas.openxmlformats.org/presentationml/2006/main">
  <p:tag name="DVSHAPEID" val="RP9P0e5MozUpDqRbX0iAmz"/>
  <p:tag name="DVSHEQ" val="-918283695"/>
</p:tagLst>
</file>

<file path=ppt/tags/tag132.xml><?xml version="1.0" encoding="utf-8"?>
<p:tagLst xmlns:a="http://schemas.openxmlformats.org/drawingml/2006/main" xmlns:r="http://schemas.openxmlformats.org/officeDocument/2006/relationships" xmlns:p="http://schemas.openxmlformats.org/presentationml/2006/main">
  <p:tag name="DVSHAPEID" val="gav0OVT5HVTlfr9y6Y7KAm"/>
  <p:tag name="DVSHEQ" val="-1765941545"/>
</p:tagLst>
</file>

<file path=ppt/tags/tag133.xml><?xml version="1.0" encoding="utf-8"?>
<p:tagLst xmlns:a="http://schemas.openxmlformats.org/drawingml/2006/main" xmlns:r="http://schemas.openxmlformats.org/officeDocument/2006/relationships" xmlns:p="http://schemas.openxmlformats.org/presentationml/2006/main">
  <p:tag name="DVSHAPEID" val="Ub3ApXZEfhSiyZjZpaTiSZ"/>
  <p:tag name="DVSHEQ" val="1887880847"/>
</p:tagLst>
</file>

<file path=ppt/tags/tag134.xml><?xml version="1.0" encoding="utf-8"?>
<p:tagLst xmlns:a="http://schemas.openxmlformats.org/drawingml/2006/main" xmlns:r="http://schemas.openxmlformats.org/officeDocument/2006/relationships" xmlns:p="http://schemas.openxmlformats.org/presentationml/2006/main">
  <p:tag name="DVSHAPEID" val="tXSae6zXQhuVFLqYVAKWOg"/>
  <p:tag name="DVSHEQ" val="2026388999"/>
</p:tagLst>
</file>

<file path=ppt/tags/tag135.xml><?xml version="1.0" encoding="utf-8"?>
<p:tagLst xmlns:a="http://schemas.openxmlformats.org/drawingml/2006/main" xmlns:r="http://schemas.openxmlformats.org/officeDocument/2006/relationships" xmlns:p="http://schemas.openxmlformats.org/presentationml/2006/main">
  <p:tag name="DVSHAPEID" val="ksIbQsW1bB3WpEfxgCo2jW"/>
  <p:tag name="DVSHEQ" val="-1864327116"/>
</p:tagLst>
</file>

<file path=ppt/tags/tag136.xml><?xml version="1.0" encoding="utf-8"?>
<p:tagLst xmlns:a="http://schemas.openxmlformats.org/drawingml/2006/main" xmlns:r="http://schemas.openxmlformats.org/officeDocument/2006/relationships" xmlns:p="http://schemas.openxmlformats.org/presentationml/2006/main">
  <p:tag name="DVSHAPEID" val="3EDhTj01ZVJYR6sOB9nogW"/>
  <p:tag name="DVSHEQ" val="-425009934"/>
</p:tagLst>
</file>

<file path=ppt/tags/tag137.xml><?xml version="1.0" encoding="utf-8"?>
<p:tagLst xmlns:a="http://schemas.openxmlformats.org/drawingml/2006/main" xmlns:r="http://schemas.openxmlformats.org/officeDocument/2006/relationships" xmlns:p="http://schemas.openxmlformats.org/presentationml/2006/main">
  <p:tag name="DVSHAPEID" val="7TJeA0eQvTqZheQJWXHotl"/>
  <p:tag name="DVSHEQ" val="-975649208"/>
</p:tagLst>
</file>

<file path=ppt/tags/tag138.xml><?xml version="1.0" encoding="utf-8"?>
<p:tagLst xmlns:a="http://schemas.openxmlformats.org/drawingml/2006/main" xmlns:r="http://schemas.openxmlformats.org/officeDocument/2006/relationships" xmlns:p="http://schemas.openxmlformats.org/presentationml/2006/main">
  <p:tag name="DVSHAPEID" val="fgSwhbqIsR8Lzhwp9MUuHP"/>
  <p:tag name="DVSHEQ" val="-1273596610"/>
</p:tagLst>
</file>

<file path=ppt/tags/tag139.xml><?xml version="1.0" encoding="utf-8"?>
<p:tagLst xmlns:a="http://schemas.openxmlformats.org/drawingml/2006/main" xmlns:r="http://schemas.openxmlformats.org/officeDocument/2006/relationships" xmlns:p="http://schemas.openxmlformats.org/presentationml/2006/main">
  <p:tag name="DVSHAPEID" val="WlPbtpG40r2ndrjkaLAt9b"/>
  <p:tag name="DVSHEQ" val="-1643223042"/>
</p:tagLst>
</file>

<file path=ppt/tags/tag140.xml><?xml version="1.0" encoding="utf-8"?>
<p:tagLst xmlns:a="http://schemas.openxmlformats.org/drawingml/2006/main" xmlns:r="http://schemas.openxmlformats.org/officeDocument/2006/relationships" xmlns:p="http://schemas.openxmlformats.org/presentationml/2006/main">
  <p:tag name="DVSHAPEID" val="OD5Y1RsC7PfqkwG5H11nRG"/>
  <p:tag name="DVSHEQ" val="551165218"/>
</p:tagLst>
</file>

<file path=ppt/tags/tag141.xml><?xml version="1.0" encoding="utf-8"?>
<p:tagLst xmlns:a="http://schemas.openxmlformats.org/drawingml/2006/main" xmlns:r="http://schemas.openxmlformats.org/officeDocument/2006/relationships" xmlns:p="http://schemas.openxmlformats.org/presentationml/2006/main">
  <p:tag name="DVSHAPEID" val="Jb446PB9TeFKxb6vnOBojc"/>
  <p:tag name="DVSHEQ" val="-1720727606"/>
</p:tagLst>
</file>

<file path=ppt/tags/tag142.xml><?xml version="1.0" encoding="utf-8"?>
<p:tagLst xmlns:a="http://schemas.openxmlformats.org/drawingml/2006/main" xmlns:r="http://schemas.openxmlformats.org/officeDocument/2006/relationships" xmlns:p="http://schemas.openxmlformats.org/presentationml/2006/main">
  <p:tag name="DVSHAPEID" val="7M7MD43zrLk7UTUXLD0YW0"/>
  <p:tag name="DVSHEQ" val="633584922"/>
</p:tagLst>
</file>

<file path=ppt/tags/tag143.xml><?xml version="1.0" encoding="utf-8"?>
<p:tagLst xmlns:a="http://schemas.openxmlformats.org/drawingml/2006/main" xmlns:r="http://schemas.openxmlformats.org/officeDocument/2006/relationships" xmlns:p="http://schemas.openxmlformats.org/presentationml/2006/main">
  <p:tag name="DVSHAPEID" val="KzZvZcDcMsnw3hWjbw6jMT"/>
  <p:tag name="DVSHEQ" val="-1411979992"/>
</p:tagLst>
</file>

<file path=ppt/tags/tag144.xml><?xml version="1.0" encoding="utf-8"?>
<p:tagLst xmlns:a="http://schemas.openxmlformats.org/drawingml/2006/main" xmlns:r="http://schemas.openxmlformats.org/officeDocument/2006/relationships" xmlns:p="http://schemas.openxmlformats.org/presentationml/2006/main">
  <p:tag name="DVSECTIONID" val="VUnm5VyE34yx7lLrcC9633"/>
</p:tagLst>
</file>

<file path=ppt/tags/tag145.xml><?xml version="1.0" encoding="utf-8"?>
<p:tagLst xmlns:a="http://schemas.openxmlformats.org/drawingml/2006/main" xmlns:r="http://schemas.openxmlformats.org/officeDocument/2006/relationships" xmlns:p="http://schemas.openxmlformats.org/presentationml/2006/main">
  <p:tag name="DVSHAPEID" val="t7gg4Yd9iQAdcPUJHmrBVk"/>
  <p:tag name="DVSHEQ" val="-1765941545"/>
</p:tagLst>
</file>

<file path=ppt/tags/tag146.xml><?xml version="1.0" encoding="utf-8"?>
<p:tagLst xmlns:a="http://schemas.openxmlformats.org/drawingml/2006/main" xmlns:r="http://schemas.openxmlformats.org/officeDocument/2006/relationships" xmlns:p="http://schemas.openxmlformats.org/presentationml/2006/main">
  <p:tag name="DVSHAPEID" val="uLe5sd8HBCF5IqhQwxz2zO"/>
  <p:tag name="DVSHEQ" val="-2112712850"/>
</p:tagLst>
</file>

<file path=ppt/tags/tag147.xml><?xml version="1.0" encoding="utf-8"?>
<p:tagLst xmlns:a="http://schemas.openxmlformats.org/drawingml/2006/main" xmlns:r="http://schemas.openxmlformats.org/officeDocument/2006/relationships" xmlns:p="http://schemas.openxmlformats.org/presentationml/2006/main">
  <p:tag name="DVSHAPEID" val="YrLDcMmtJqm9Du2ZwZ1AfX"/>
  <p:tag name="DVSHEQ" val="1942011008"/>
</p:tagLst>
</file>

<file path=ppt/tags/tag148.xml><?xml version="1.0" encoding="utf-8"?>
<p:tagLst xmlns:a="http://schemas.openxmlformats.org/drawingml/2006/main" xmlns:r="http://schemas.openxmlformats.org/officeDocument/2006/relationships" xmlns:p="http://schemas.openxmlformats.org/presentationml/2006/main">
  <p:tag name="DVSHAPEID" val="y77tsRQU1SKGNMjO0lk7Te"/>
  <p:tag name="DVSHEQ" val="1599691419"/>
</p:tagLst>
</file>

<file path=ppt/tags/tag149.xml><?xml version="1.0" encoding="utf-8"?>
<p:tagLst xmlns:a="http://schemas.openxmlformats.org/drawingml/2006/main" xmlns:r="http://schemas.openxmlformats.org/officeDocument/2006/relationships" xmlns:p="http://schemas.openxmlformats.org/presentationml/2006/main">
  <p:tag name="DVSECTIONID" val="iBhKi4Fs24pUtRhyz7Wg2M"/>
</p:tagLst>
</file>

<file path=ppt/tags/tag150.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151.xml><?xml version="1.0" encoding="utf-8"?>
<p:tagLst xmlns:a="http://schemas.openxmlformats.org/drawingml/2006/main" xmlns:r="http://schemas.openxmlformats.org/officeDocument/2006/relationships" xmlns:p="http://schemas.openxmlformats.org/presentationml/2006/main">
  <p:tag name="DVSHAPEID" val="WkIhuwOiCZz44ZIwDndHdY"/>
  <p:tag name="DVSHEQ" val="-486268547"/>
</p:tagLst>
</file>

<file path=ppt/tags/tag152.xml><?xml version="1.0" encoding="utf-8"?>
<p:tagLst xmlns:a="http://schemas.openxmlformats.org/drawingml/2006/main" xmlns:r="http://schemas.openxmlformats.org/officeDocument/2006/relationships" xmlns:p="http://schemas.openxmlformats.org/presentationml/2006/main">
  <p:tag name="DVSHAPEID" val="0A8992ZvTpsxY6QeuDYz20"/>
  <p:tag name="DVSHEQ" val="400519758"/>
</p:tagLst>
</file>

<file path=ppt/tags/tag153.xml><?xml version="1.0" encoding="utf-8"?>
<p:tagLst xmlns:a="http://schemas.openxmlformats.org/drawingml/2006/main" xmlns:r="http://schemas.openxmlformats.org/officeDocument/2006/relationships" xmlns:p="http://schemas.openxmlformats.org/presentationml/2006/main">
  <p:tag name="DVSHAPEID" val="KQfMqtNwEKxCtbLHfBX9Kz"/>
  <p:tag name="DVSHEQ" val="-1657648128"/>
</p:tagLst>
</file>

<file path=ppt/tags/tag154.xml><?xml version="1.0" encoding="utf-8"?>
<p:tagLst xmlns:a="http://schemas.openxmlformats.org/drawingml/2006/main" xmlns:r="http://schemas.openxmlformats.org/officeDocument/2006/relationships" xmlns:p="http://schemas.openxmlformats.org/presentationml/2006/main">
  <p:tag name="DVSHAPEID" val="CLXdq4pWckuCfokRm7XFwy"/>
  <p:tag name="DVSHEQ" val="-528698686"/>
</p:tagLst>
</file>

<file path=ppt/tags/tag155.xml><?xml version="1.0" encoding="utf-8"?>
<p:tagLst xmlns:a="http://schemas.openxmlformats.org/drawingml/2006/main" xmlns:r="http://schemas.openxmlformats.org/officeDocument/2006/relationships" xmlns:p="http://schemas.openxmlformats.org/presentationml/2006/main">
  <p:tag name="DVSHAPEID" val="7BzkqVKlbSBJITdB5V6mys"/>
  <p:tag name="DVSHEQ" val="342330424"/>
</p:tagLst>
</file>

<file path=ppt/tags/tag156.xml><?xml version="1.0" encoding="utf-8"?>
<p:tagLst xmlns:a="http://schemas.openxmlformats.org/drawingml/2006/main" xmlns:r="http://schemas.openxmlformats.org/officeDocument/2006/relationships" xmlns:p="http://schemas.openxmlformats.org/presentationml/2006/main">
  <p:tag name="DVSHAPEID" val="iUnmOENeWR70Ml79tomfCA"/>
  <p:tag name="DVSHEQ" val="191109032"/>
</p:tagLst>
</file>

<file path=ppt/tags/tag157.xml><?xml version="1.0" encoding="utf-8"?>
<p:tagLst xmlns:a="http://schemas.openxmlformats.org/drawingml/2006/main" xmlns:r="http://schemas.openxmlformats.org/officeDocument/2006/relationships" xmlns:p="http://schemas.openxmlformats.org/presentationml/2006/main">
  <p:tag name="DVSHAPEID" val="JfzLzEJMM5SDp0nQvScv9Q"/>
  <p:tag name="DVSHEQ" val="-458943281"/>
</p:tagLst>
</file>

<file path=ppt/tags/tag158.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159.xml><?xml version="1.0" encoding="utf-8"?>
<p:tagLst xmlns:a="http://schemas.openxmlformats.org/drawingml/2006/main" xmlns:r="http://schemas.openxmlformats.org/officeDocument/2006/relationships" xmlns:p="http://schemas.openxmlformats.org/presentationml/2006/main">
  <p:tag name="DVSECTIONID" val="7BNTQYIz6oTlZlNkm9jPV0"/>
</p:tagLst>
</file>

<file path=ppt/tags/tag160.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161.xml><?xml version="1.0" encoding="utf-8"?>
<p:tagLst xmlns:a="http://schemas.openxmlformats.org/drawingml/2006/main" xmlns:r="http://schemas.openxmlformats.org/officeDocument/2006/relationships" xmlns:p="http://schemas.openxmlformats.org/presentationml/2006/main">
  <p:tag name="DVSHAPEID" val="WkIhuwOiCZz44ZIwDndHdY"/>
  <p:tag name="DVSHEQ" val="-1898180884"/>
</p:tagLst>
</file>

<file path=ppt/tags/tag162.xml><?xml version="1.0" encoding="utf-8"?>
<p:tagLst xmlns:a="http://schemas.openxmlformats.org/drawingml/2006/main" xmlns:r="http://schemas.openxmlformats.org/officeDocument/2006/relationships" xmlns:p="http://schemas.openxmlformats.org/presentationml/2006/main">
  <p:tag name="DVSHAPEID" val="0A8992ZvTpsxY6QeuDYz20"/>
  <p:tag name="DVSHEQ" val="1422424189"/>
</p:tagLst>
</file>

<file path=ppt/tags/tag163.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164.xml><?xml version="1.0" encoding="utf-8"?>
<p:tagLst xmlns:a="http://schemas.openxmlformats.org/drawingml/2006/main" xmlns:r="http://schemas.openxmlformats.org/officeDocument/2006/relationships" xmlns:p="http://schemas.openxmlformats.org/presentationml/2006/main">
  <p:tag name="DVSHAPEID" val="CLXdq4pWckuCfokRm7XFwy"/>
  <p:tag name="DVSHEQ" val="-458819012"/>
</p:tagLst>
</file>

<file path=ppt/tags/tag165.xml><?xml version="1.0" encoding="utf-8"?>
<p:tagLst xmlns:a="http://schemas.openxmlformats.org/drawingml/2006/main" xmlns:r="http://schemas.openxmlformats.org/officeDocument/2006/relationships" xmlns:p="http://schemas.openxmlformats.org/presentationml/2006/main">
  <p:tag name="DVSHAPEID" val="7BzkqVKlbSBJITdB5V6mys"/>
  <p:tag name="DVSHEQ" val="1345054995"/>
</p:tagLst>
</file>

<file path=ppt/tags/tag166.xml><?xml version="1.0" encoding="utf-8"?>
<p:tagLst xmlns:a="http://schemas.openxmlformats.org/drawingml/2006/main" xmlns:r="http://schemas.openxmlformats.org/officeDocument/2006/relationships" xmlns:p="http://schemas.openxmlformats.org/presentationml/2006/main">
  <p:tag name="DVSHAPEID" val="E3liEu8rRbKHb7M258v942"/>
  <p:tag name="DVSHEQ" val="-528698686"/>
</p:tagLst>
</file>

<file path=ppt/tags/tag167.xml><?xml version="1.0" encoding="utf-8"?>
<p:tagLst xmlns:a="http://schemas.openxmlformats.org/drawingml/2006/main" xmlns:r="http://schemas.openxmlformats.org/officeDocument/2006/relationships" xmlns:p="http://schemas.openxmlformats.org/presentationml/2006/main">
  <p:tag name="DVSHAPEID" val="THPf3sN3ZZLCVclxIvyo8D"/>
  <p:tag name="DVSHEQ" val="342330424"/>
</p:tagLst>
</file>

<file path=ppt/tags/tag168.xml><?xml version="1.0" encoding="utf-8"?>
<p:tagLst xmlns:a="http://schemas.openxmlformats.org/drawingml/2006/main" xmlns:r="http://schemas.openxmlformats.org/officeDocument/2006/relationships" xmlns:p="http://schemas.openxmlformats.org/presentationml/2006/main">
  <p:tag name="DVSHAPEID" val="79W6MDSt27rSAwph0eDldG"/>
  <p:tag name="DVSHEQ" val="191109032"/>
</p:tagLst>
</file>

<file path=ppt/tags/tag169.xml><?xml version="1.0" encoding="utf-8"?>
<p:tagLst xmlns:a="http://schemas.openxmlformats.org/drawingml/2006/main" xmlns:r="http://schemas.openxmlformats.org/officeDocument/2006/relationships" xmlns:p="http://schemas.openxmlformats.org/presentationml/2006/main">
  <p:tag name="DVSHAPEID" val="gixfCO8gvJOqffhwzpGZ7r"/>
  <p:tag name="DVSHEQ" val="-458943281"/>
</p:tagLst>
</file>

<file path=ppt/tags/tag170.xml><?xml version="1.0" encoding="utf-8"?>
<p:tagLst xmlns:a="http://schemas.openxmlformats.org/drawingml/2006/main" xmlns:r="http://schemas.openxmlformats.org/officeDocument/2006/relationships" xmlns:p="http://schemas.openxmlformats.org/presentationml/2006/main">
  <p:tag name="DVSECTIONID" val="2zlwvSdMcaCWv4VUFB64Mo"/>
</p:tagLst>
</file>

<file path=ppt/tags/tag171.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172.xml><?xml version="1.0" encoding="utf-8"?>
<p:tagLst xmlns:a="http://schemas.openxmlformats.org/drawingml/2006/main" xmlns:r="http://schemas.openxmlformats.org/officeDocument/2006/relationships" xmlns:p="http://schemas.openxmlformats.org/presentationml/2006/main">
  <p:tag name="DVSHAPEID" val="WkIhuwOiCZz44ZIwDndHdY"/>
  <p:tag name="DVSHEQ" val="922719211"/>
</p:tagLst>
</file>

<file path=ppt/tags/tag173.xml><?xml version="1.0" encoding="utf-8"?>
<p:tagLst xmlns:a="http://schemas.openxmlformats.org/drawingml/2006/main" xmlns:r="http://schemas.openxmlformats.org/officeDocument/2006/relationships" xmlns:p="http://schemas.openxmlformats.org/presentationml/2006/main">
  <p:tag name="DVSHAPEID" val="0A8992ZvTpsxY6QeuDYz20"/>
  <p:tag name="DVSHEQ" val="1422424189"/>
</p:tagLst>
</file>

<file path=ppt/tags/tag174.xml><?xml version="1.0" encoding="utf-8"?>
<p:tagLst xmlns:a="http://schemas.openxmlformats.org/drawingml/2006/main" xmlns:r="http://schemas.openxmlformats.org/officeDocument/2006/relationships" xmlns:p="http://schemas.openxmlformats.org/presentationml/2006/main">
  <p:tag name="DVSHAPEID" val="H0Y1Vb2bVq93DlD6EucQ8C"/>
  <p:tag name="DVSHEQ" val="-1030138159"/>
</p:tagLst>
</file>

<file path=ppt/tags/tag175.xml><?xml version="1.0" encoding="utf-8"?>
<p:tagLst xmlns:a="http://schemas.openxmlformats.org/drawingml/2006/main" xmlns:r="http://schemas.openxmlformats.org/officeDocument/2006/relationships" xmlns:p="http://schemas.openxmlformats.org/presentationml/2006/main">
  <p:tag name="DVSHAPEID" val="1wGqDL12y90ETymo0yj0Xa"/>
  <p:tag name="DVSHEQ" val="2094656742"/>
</p:tagLst>
</file>

<file path=ppt/tags/tag176.xml><?xml version="1.0" encoding="utf-8"?>
<p:tagLst xmlns:a="http://schemas.openxmlformats.org/drawingml/2006/main" xmlns:r="http://schemas.openxmlformats.org/officeDocument/2006/relationships" xmlns:p="http://schemas.openxmlformats.org/presentationml/2006/main">
  <p:tag name="DVSHAPEID" val="CLXdq4pWckuCfokRm7XFwy"/>
  <p:tag name="DVSHEQ" val="-528698686"/>
</p:tagLst>
</file>

<file path=ppt/tags/tag177.xml><?xml version="1.0" encoding="utf-8"?>
<p:tagLst xmlns:a="http://schemas.openxmlformats.org/drawingml/2006/main" xmlns:r="http://schemas.openxmlformats.org/officeDocument/2006/relationships" xmlns:p="http://schemas.openxmlformats.org/presentationml/2006/main">
  <p:tag name="DVSHAPEID" val="7BzkqVKlbSBJITdB5V6mys"/>
  <p:tag name="DVSHEQ" val="342330424"/>
</p:tagLst>
</file>

<file path=ppt/tags/tag178.xml><?xml version="1.0" encoding="utf-8"?>
<p:tagLst xmlns:a="http://schemas.openxmlformats.org/drawingml/2006/main" xmlns:r="http://schemas.openxmlformats.org/officeDocument/2006/relationships" xmlns:p="http://schemas.openxmlformats.org/presentationml/2006/main">
  <p:tag name="DVSHAPEID" val="79W6MDSt27rSAwph0eDldG"/>
  <p:tag name="DVSHEQ" val="191109032"/>
</p:tagLst>
</file>

<file path=ppt/tags/tag179.xml><?xml version="1.0" encoding="utf-8"?>
<p:tagLst xmlns:a="http://schemas.openxmlformats.org/drawingml/2006/main" xmlns:r="http://schemas.openxmlformats.org/officeDocument/2006/relationships" xmlns:p="http://schemas.openxmlformats.org/presentationml/2006/main">
  <p:tag name="DVSHAPEID" val="gixfCO8gvJOqffhwzpGZ7r"/>
  <p:tag name="DVSHEQ" val="-458943281"/>
</p:tagLst>
</file>

<file path=ppt/tags/tag180.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181.xml><?xml version="1.0" encoding="utf-8"?>
<p:tagLst xmlns:a="http://schemas.openxmlformats.org/drawingml/2006/main" xmlns:r="http://schemas.openxmlformats.org/officeDocument/2006/relationships" xmlns:p="http://schemas.openxmlformats.org/presentationml/2006/main">
  <p:tag name="DVSECTIONID" val="JBVfOMGltUSwHK1JFY6yIP"/>
</p:tagLst>
</file>

<file path=ppt/tags/tag182.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183.xml><?xml version="1.0" encoding="utf-8"?>
<p:tagLst xmlns:a="http://schemas.openxmlformats.org/drawingml/2006/main" xmlns:r="http://schemas.openxmlformats.org/officeDocument/2006/relationships" xmlns:p="http://schemas.openxmlformats.org/presentationml/2006/main">
  <p:tag name="DVSHAPEID" val="WkIhuwOiCZz44ZIwDndHdY"/>
  <p:tag name="DVSHEQ" val="-1417880895"/>
</p:tagLst>
</file>

<file path=ppt/tags/tag184.xml><?xml version="1.0" encoding="utf-8"?>
<p:tagLst xmlns:a="http://schemas.openxmlformats.org/drawingml/2006/main" xmlns:r="http://schemas.openxmlformats.org/officeDocument/2006/relationships" xmlns:p="http://schemas.openxmlformats.org/presentationml/2006/main">
  <p:tag name="DVSHAPEID" val="0A8992ZvTpsxY6QeuDYz20"/>
  <p:tag name="DVSHEQ" val="1422424189"/>
</p:tagLst>
</file>

<file path=ppt/tags/tag185.xml><?xml version="1.0" encoding="utf-8"?>
<p:tagLst xmlns:a="http://schemas.openxmlformats.org/drawingml/2006/main" xmlns:r="http://schemas.openxmlformats.org/officeDocument/2006/relationships" xmlns:p="http://schemas.openxmlformats.org/presentationml/2006/main">
  <p:tag name="DVSHAPEID" val="AEfSXZhCaHk5Zsluyg9SSZ"/>
  <p:tag name="DVSHEQ" val="-1552046290"/>
</p:tagLst>
</file>

<file path=ppt/tags/tag186.xml><?xml version="1.0" encoding="utf-8"?>
<p:tagLst xmlns:a="http://schemas.openxmlformats.org/drawingml/2006/main" xmlns:r="http://schemas.openxmlformats.org/officeDocument/2006/relationships" xmlns:p="http://schemas.openxmlformats.org/presentationml/2006/main">
  <p:tag name="DVSHAPEID" val="3Zr4KfuDx7ERW1bLN2LVZi"/>
  <p:tag name="DVSHEQ" val="432052408"/>
</p:tagLst>
</file>

<file path=ppt/tags/tag187.xml><?xml version="1.0" encoding="utf-8"?>
<p:tagLst xmlns:a="http://schemas.openxmlformats.org/drawingml/2006/main" xmlns:r="http://schemas.openxmlformats.org/officeDocument/2006/relationships" xmlns:p="http://schemas.openxmlformats.org/presentationml/2006/main">
  <p:tag name="DVSHAPEID" val="CLXdq4pWckuCfokRm7XFwy"/>
  <p:tag name="DVSHEQ" val="-528698686"/>
</p:tagLst>
</file>

<file path=ppt/tags/tag188.xml><?xml version="1.0" encoding="utf-8"?>
<p:tagLst xmlns:a="http://schemas.openxmlformats.org/drawingml/2006/main" xmlns:r="http://schemas.openxmlformats.org/officeDocument/2006/relationships" xmlns:p="http://schemas.openxmlformats.org/presentationml/2006/main">
  <p:tag name="DVSHAPEID" val="7BzkqVKlbSBJITdB5V6mys"/>
  <p:tag name="DVSHEQ" val="342330424"/>
</p:tagLst>
</file>

<file path=ppt/tags/tag189.xml><?xml version="1.0" encoding="utf-8"?>
<p:tagLst xmlns:a="http://schemas.openxmlformats.org/drawingml/2006/main" xmlns:r="http://schemas.openxmlformats.org/officeDocument/2006/relationships" xmlns:p="http://schemas.openxmlformats.org/presentationml/2006/main">
  <p:tag name="DVSHAPEID" val="79W6MDSt27rSAwph0eDldG"/>
  <p:tag name="DVSHEQ" val="191109032"/>
</p:tagLst>
</file>

<file path=ppt/tags/tag190.xml><?xml version="1.0" encoding="utf-8"?>
<p:tagLst xmlns:a="http://schemas.openxmlformats.org/drawingml/2006/main" xmlns:r="http://schemas.openxmlformats.org/officeDocument/2006/relationships" xmlns:p="http://schemas.openxmlformats.org/presentationml/2006/main">
  <p:tag name="DVSHAPEID" val="gixfCO8gvJOqffhwzpGZ7r"/>
  <p:tag name="DVSHEQ" val="-458943281"/>
</p:tagLst>
</file>

<file path=ppt/tags/tag191.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192.xml><?xml version="1.0" encoding="utf-8"?>
<p:tagLst xmlns:a="http://schemas.openxmlformats.org/drawingml/2006/main" xmlns:r="http://schemas.openxmlformats.org/officeDocument/2006/relationships" xmlns:p="http://schemas.openxmlformats.org/presentationml/2006/main">
  <p:tag name="DVSECTIONID" val="hdnY3M4KF6jxO7PS13eMYo"/>
</p:tagLst>
</file>

<file path=ppt/tags/tag193.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194.xml><?xml version="1.0" encoding="utf-8"?>
<p:tagLst xmlns:a="http://schemas.openxmlformats.org/drawingml/2006/main" xmlns:r="http://schemas.openxmlformats.org/officeDocument/2006/relationships" xmlns:p="http://schemas.openxmlformats.org/presentationml/2006/main">
  <p:tag name="DVSHAPEID" val="WkIhuwOiCZz44ZIwDndHdY"/>
  <p:tag name="DVSHEQ" val="-439231807"/>
</p:tagLst>
</file>

<file path=ppt/tags/tag195.xml><?xml version="1.0" encoding="utf-8"?>
<p:tagLst xmlns:a="http://schemas.openxmlformats.org/drawingml/2006/main" xmlns:r="http://schemas.openxmlformats.org/officeDocument/2006/relationships" xmlns:p="http://schemas.openxmlformats.org/presentationml/2006/main">
  <p:tag name="DVSHAPEID" val="0A8992ZvTpsxY6QeuDYz20"/>
  <p:tag name="DVSHEQ" val="1422424189"/>
</p:tagLst>
</file>

<file path=ppt/tags/tag196.xml><?xml version="1.0" encoding="utf-8"?>
<p:tagLst xmlns:a="http://schemas.openxmlformats.org/drawingml/2006/main" xmlns:r="http://schemas.openxmlformats.org/officeDocument/2006/relationships" xmlns:p="http://schemas.openxmlformats.org/presentationml/2006/main">
  <p:tag name="DVSHAPEID" val="vvIN1WE3tasxjdudqiJZ2C"/>
  <p:tag name="DVSHEQ" val="204420587"/>
</p:tagLst>
</file>

<file path=ppt/tags/tag197.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198.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199.xml><?xml version="1.0" encoding="utf-8"?>
<p:tagLst xmlns:a="http://schemas.openxmlformats.org/drawingml/2006/main" xmlns:r="http://schemas.openxmlformats.org/officeDocument/2006/relationships" xmlns:p="http://schemas.openxmlformats.org/presentationml/2006/main">
  <p:tag name="DVSHAPEID" val="y77tsRQU1SKGNMjO0lk7Te"/>
  <p:tag name="DVSHEQ" val="1326892298"/>
</p:tagLst>
</file>

<file path=ppt/tags/tag200.xml><?xml version="1.0" encoding="utf-8"?>
<p:tagLst xmlns:a="http://schemas.openxmlformats.org/drawingml/2006/main" xmlns:r="http://schemas.openxmlformats.org/officeDocument/2006/relationships" xmlns:p="http://schemas.openxmlformats.org/presentationml/2006/main">
  <p:tag name="DVSECTIONID" val="Dgf4yzqLg3OdLyC7PA2Awc"/>
</p:tagLst>
</file>

<file path=ppt/tags/tag201.xml><?xml version="1.0" encoding="utf-8"?>
<p:tagLst xmlns:a="http://schemas.openxmlformats.org/drawingml/2006/main" xmlns:r="http://schemas.openxmlformats.org/officeDocument/2006/relationships" xmlns:p="http://schemas.openxmlformats.org/presentationml/2006/main">
  <p:tag name="DVSHAPEID" val="PsRFzt0GY5BJ9PDkBGrVKT"/>
  <p:tag name="DVSHEQ" val="-1765941545"/>
</p:tagLst>
</file>

<file path=ppt/tags/tag202.xml><?xml version="1.0" encoding="utf-8"?>
<p:tagLst xmlns:a="http://schemas.openxmlformats.org/drawingml/2006/main" xmlns:r="http://schemas.openxmlformats.org/officeDocument/2006/relationships" xmlns:p="http://schemas.openxmlformats.org/presentationml/2006/main">
  <p:tag name="DVSHAPEID" val="IdydiIgp2EnrskTgvCzSC2"/>
  <p:tag name="DVSHEQ" val="2138495681"/>
</p:tagLst>
</file>

<file path=ppt/tags/tag203.xml><?xml version="1.0" encoding="utf-8"?>
<p:tagLst xmlns:a="http://schemas.openxmlformats.org/drawingml/2006/main" xmlns:r="http://schemas.openxmlformats.org/officeDocument/2006/relationships" xmlns:p="http://schemas.openxmlformats.org/presentationml/2006/main">
  <p:tag name="DVSHAPEID" val="jYIvugb82GMVJD6lbhpy2X"/>
  <p:tag name="DVSHEQ" val="1586394242"/>
</p:tagLst>
</file>

<file path=ppt/tags/tag204.xml><?xml version="1.0" encoding="utf-8"?>
<p:tagLst xmlns:a="http://schemas.openxmlformats.org/drawingml/2006/main" xmlns:r="http://schemas.openxmlformats.org/officeDocument/2006/relationships" xmlns:p="http://schemas.openxmlformats.org/presentationml/2006/main">
  <p:tag name="DVSHAPEID" val="mHmirkbPlRhGUzvNd0eUBG"/>
  <p:tag name="DVSHEQ" val="1821151616"/>
</p:tagLst>
</file>

<file path=ppt/tags/tag205.xml><?xml version="1.0" encoding="utf-8"?>
<p:tagLst xmlns:a="http://schemas.openxmlformats.org/drawingml/2006/main" xmlns:r="http://schemas.openxmlformats.org/officeDocument/2006/relationships" xmlns:p="http://schemas.openxmlformats.org/presentationml/2006/main">
  <p:tag name="DVSECTIONID" val="0gUlNE8S5zuGsCuAkURjln"/>
</p:tagLst>
</file>

<file path=ppt/tags/tag206.xml><?xml version="1.0" encoding="utf-8"?>
<p:tagLst xmlns:a="http://schemas.openxmlformats.org/drawingml/2006/main" xmlns:r="http://schemas.openxmlformats.org/officeDocument/2006/relationships" xmlns:p="http://schemas.openxmlformats.org/presentationml/2006/main">
  <p:tag name="DVSHAPEID" val="PsRFzt0GY5BJ9PDkBGrVKT"/>
  <p:tag name="DVSHEQ" val="-1765941545"/>
</p:tagLst>
</file>

<file path=ppt/tags/tag207.xml><?xml version="1.0" encoding="utf-8"?>
<p:tagLst xmlns:a="http://schemas.openxmlformats.org/drawingml/2006/main" xmlns:r="http://schemas.openxmlformats.org/officeDocument/2006/relationships" xmlns:p="http://schemas.openxmlformats.org/presentationml/2006/main">
  <p:tag name="DVSHAPEID" val="IdydiIgp2EnrskTgvCzSC2"/>
  <p:tag name="DVSHEQ" val="-561259839"/>
</p:tagLst>
</file>

<file path=ppt/tags/tag208.xml><?xml version="1.0" encoding="utf-8"?>
<p:tagLst xmlns:a="http://schemas.openxmlformats.org/drawingml/2006/main" xmlns:r="http://schemas.openxmlformats.org/officeDocument/2006/relationships" xmlns:p="http://schemas.openxmlformats.org/presentationml/2006/main">
  <p:tag name="DVSHAPEID" val="jYIvugb82GMVJD6lbhpy2X"/>
  <p:tag name="DVSHEQ" val="1586394242"/>
</p:tagLst>
</file>

<file path=ppt/tags/tag209.xml><?xml version="1.0" encoding="utf-8"?>
<p:tagLst xmlns:a="http://schemas.openxmlformats.org/drawingml/2006/main" xmlns:r="http://schemas.openxmlformats.org/officeDocument/2006/relationships" xmlns:p="http://schemas.openxmlformats.org/presentationml/2006/main">
  <p:tag name="DVSHAPEID" val="mHmirkbPlRhGUzvNd0eUBG"/>
  <p:tag name="DVSHEQ" val="-868074493"/>
</p:tagLst>
</file>

<file path=ppt/tags/tag210.xml><?xml version="1.0" encoding="utf-8"?>
<p:tagLst xmlns:a="http://schemas.openxmlformats.org/drawingml/2006/main" xmlns:r="http://schemas.openxmlformats.org/officeDocument/2006/relationships" xmlns:p="http://schemas.openxmlformats.org/presentationml/2006/main">
  <p:tag name="DVSECTIONID" val="krYhhJoWAb3uJfNqPr0VQy"/>
</p:tagLst>
</file>

<file path=ppt/tags/tag211.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212.xml><?xml version="1.0" encoding="utf-8"?>
<p:tagLst xmlns:a="http://schemas.openxmlformats.org/drawingml/2006/main" xmlns:r="http://schemas.openxmlformats.org/officeDocument/2006/relationships" xmlns:p="http://schemas.openxmlformats.org/presentationml/2006/main">
  <p:tag name="DVSHAPEID" val="WkIhuwOiCZz44ZIwDndHdY"/>
  <p:tag name="DVSHEQ" val="1474878145"/>
</p:tagLst>
</file>

<file path=ppt/tags/tag213.xml><?xml version="1.0" encoding="utf-8"?>
<p:tagLst xmlns:a="http://schemas.openxmlformats.org/drawingml/2006/main" xmlns:r="http://schemas.openxmlformats.org/officeDocument/2006/relationships" xmlns:p="http://schemas.openxmlformats.org/presentationml/2006/main">
  <p:tag name="DVSHAPEID" val="0A8992ZvTpsxY6QeuDYz20"/>
  <p:tag name="DVSHEQ" val="363064982"/>
</p:tagLst>
</file>

<file path=ppt/tags/tag214.xml><?xml version="1.0" encoding="utf-8"?>
<p:tagLst xmlns:a="http://schemas.openxmlformats.org/drawingml/2006/main" xmlns:r="http://schemas.openxmlformats.org/officeDocument/2006/relationships" xmlns:p="http://schemas.openxmlformats.org/presentationml/2006/main">
  <p:tag name="DVSHAPEID" val="D1IF04Ex4mwhBanXgXDZiy"/>
  <p:tag name="DVSHEQ" val="643260191"/>
</p:tagLst>
</file>

<file path=ppt/tags/tag215.xml><?xml version="1.0" encoding="utf-8"?>
<p:tagLst xmlns:a="http://schemas.openxmlformats.org/drawingml/2006/main" xmlns:r="http://schemas.openxmlformats.org/officeDocument/2006/relationships" xmlns:p="http://schemas.openxmlformats.org/presentationml/2006/main">
  <p:tag name="DVSECTIONID" val="zgg2ciU522kGHvXTHnvGAW"/>
</p:tagLst>
</file>

<file path=ppt/tags/tag216.xml><?xml version="1.0" encoding="utf-8"?>
<p:tagLst xmlns:a="http://schemas.openxmlformats.org/drawingml/2006/main" xmlns:r="http://schemas.openxmlformats.org/officeDocument/2006/relationships" xmlns:p="http://schemas.openxmlformats.org/presentationml/2006/main">
  <p:tag name="DVSHAPEID" val="2e82qa3C2MtTIcpq3DJVnI"/>
  <p:tag name="DVSHEQ" val="1705700650"/>
</p:tagLst>
</file>

<file path=ppt/tags/tag217.xml><?xml version="1.0" encoding="utf-8"?>
<p:tagLst xmlns:a="http://schemas.openxmlformats.org/drawingml/2006/main" xmlns:r="http://schemas.openxmlformats.org/officeDocument/2006/relationships" xmlns:p="http://schemas.openxmlformats.org/presentationml/2006/main">
  <p:tag name="DVSHAPEID" val="ZUrzvZaNREZEChLoeMQeds"/>
  <p:tag name="DVSHEQ" val="-1765941545"/>
</p:tagLst>
</file>

<file path=ppt/tags/tag218.xml><?xml version="1.0" encoding="utf-8"?>
<p:tagLst xmlns:a="http://schemas.openxmlformats.org/drawingml/2006/main" xmlns:r="http://schemas.openxmlformats.org/officeDocument/2006/relationships" xmlns:p="http://schemas.openxmlformats.org/presentationml/2006/main">
  <p:tag name="DVSHAPEID" val="WkIhuwOiCZz44ZIwDndHdY"/>
  <p:tag name="DVSHEQ" val="102619841"/>
</p:tagLst>
</file>

<file path=ppt/tags/tag219.xml><?xml version="1.0" encoding="utf-8"?>
<p:tagLst xmlns:a="http://schemas.openxmlformats.org/drawingml/2006/main" xmlns:r="http://schemas.openxmlformats.org/officeDocument/2006/relationships" xmlns:p="http://schemas.openxmlformats.org/presentationml/2006/main">
  <p:tag name="DVSHAPEID" val="0A8992ZvTpsxY6QeuDYz20"/>
  <p:tag name="DVSHEQ" val="363064982"/>
</p:tagLst>
</file>

<file path=ppt/tags/tag220.xml><?xml version="1.0" encoding="utf-8"?>
<p:tagLst xmlns:a="http://schemas.openxmlformats.org/drawingml/2006/main" xmlns:r="http://schemas.openxmlformats.org/officeDocument/2006/relationships" xmlns:p="http://schemas.openxmlformats.org/presentationml/2006/main">
  <p:tag name="DVSHAPEID" val="c9EMIOxzZ2x4YuwXDutrkK"/>
  <p:tag name="DVSHEQ" val="194481748"/>
</p:tagLst>
</file>

<file path=ppt/tags/tag221.xml><?xml version="1.0" encoding="utf-8"?>
<p:tagLst xmlns:a="http://schemas.openxmlformats.org/drawingml/2006/main" xmlns:r="http://schemas.openxmlformats.org/officeDocument/2006/relationships" xmlns:p="http://schemas.openxmlformats.org/presentationml/2006/main">
  <p:tag name="DVSECTIONID" val="xzC4nzreUY2YUiYELQWu5b"/>
</p:tagLst>
</file>

<file path=ppt/tags/tag222.xml><?xml version="1.0" encoding="utf-8"?>
<p:tagLst xmlns:a="http://schemas.openxmlformats.org/drawingml/2006/main" xmlns:r="http://schemas.openxmlformats.org/officeDocument/2006/relationships" xmlns:p="http://schemas.openxmlformats.org/presentationml/2006/main">
  <p:tag name="DVSHAPEID" val="NHrbyPT0gnaj1ZoEre5sMr"/>
  <p:tag name="DVSHEQ" val="541280069"/>
</p:tagLst>
</file>

<file path=ppt/tags/tag223.xml><?xml version="1.0" encoding="utf-8"?>
<p:tagLst xmlns:a="http://schemas.openxmlformats.org/drawingml/2006/main" xmlns:r="http://schemas.openxmlformats.org/officeDocument/2006/relationships" xmlns:p="http://schemas.openxmlformats.org/presentationml/2006/main">
  <p:tag name="DVSHAPEID" val="ZUrzvZaNREZEChLoeMQeds"/>
  <p:tag name="DVSHEQ" val="-469060481"/>
</p:tagLst>
</file>

<file path=ppt/tags/tag224.xml><?xml version="1.0" encoding="utf-8"?>
<p:tagLst xmlns:a="http://schemas.openxmlformats.org/drawingml/2006/main" xmlns:r="http://schemas.openxmlformats.org/officeDocument/2006/relationships" xmlns:p="http://schemas.openxmlformats.org/presentationml/2006/main">
  <p:tag name="DVSHAPEID" val="WkIhuwOiCZz44ZIwDndHdY"/>
  <p:tag name="DVSHEQ" val="688352759"/>
</p:tagLst>
</file>

<file path=ppt/tags/tag225.xml><?xml version="1.0" encoding="utf-8"?>
<p:tagLst xmlns:a="http://schemas.openxmlformats.org/drawingml/2006/main" xmlns:r="http://schemas.openxmlformats.org/officeDocument/2006/relationships" xmlns:p="http://schemas.openxmlformats.org/presentationml/2006/main">
  <p:tag name="DVSHAPEID" val="0A8992ZvTpsxY6QeuDYz20"/>
  <p:tag name="DVSHEQ" val="-1506917377"/>
</p:tagLst>
</file>

<file path=ppt/tags/tag226.xml><?xml version="1.0" encoding="utf-8"?>
<p:tagLst xmlns:a="http://schemas.openxmlformats.org/drawingml/2006/main" xmlns:r="http://schemas.openxmlformats.org/officeDocument/2006/relationships" xmlns:p="http://schemas.openxmlformats.org/presentationml/2006/main">
  <p:tag name="DVSHAPEID" val="mEdVU6ZerWoslWlxgHFYL9"/>
  <p:tag name="DVSHEQ" val="-473225740"/>
</p:tagLst>
</file>

<file path=ppt/tags/tag227.xml><?xml version="1.0" encoding="utf-8"?>
<p:tagLst xmlns:a="http://schemas.openxmlformats.org/drawingml/2006/main" xmlns:r="http://schemas.openxmlformats.org/officeDocument/2006/relationships" xmlns:p="http://schemas.openxmlformats.org/presentationml/2006/main">
  <p:tag name="DVSECTIONID" val="5A0Mk05cG0YeG00FLYWdg8"/>
</p:tagLst>
</file>

<file path=ppt/tags/tag228.xml><?xml version="1.0" encoding="utf-8"?>
<p:tagLst xmlns:a="http://schemas.openxmlformats.org/drawingml/2006/main" xmlns:r="http://schemas.openxmlformats.org/officeDocument/2006/relationships" xmlns:p="http://schemas.openxmlformats.org/presentationml/2006/main">
  <p:tag name="DVSHAPEID" val="NHrbyPT0gnaj1ZoEre5sMr"/>
  <p:tag name="DVSHEQ" val="541280069"/>
</p:tagLst>
</file>

<file path=ppt/tags/tag229.xml><?xml version="1.0" encoding="utf-8"?>
<p:tagLst xmlns:a="http://schemas.openxmlformats.org/drawingml/2006/main" xmlns:r="http://schemas.openxmlformats.org/officeDocument/2006/relationships" xmlns:p="http://schemas.openxmlformats.org/presentationml/2006/main">
  <p:tag name="DVSHAPEID" val="ZUrzvZaNREZEChLoeMQeds"/>
  <p:tag name="DVSHEQ" val="-469060481"/>
</p:tagLst>
</file>

<file path=ppt/tags/tag230.xml><?xml version="1.0" encoding="utf-8"?>
<p:tagLst xmlns:a="http://schemas.openxmlformats.org/drawingml/2006/main" xmlns:r="http://schemas.openxmlformats.org/officeDocument/2006/relationships" xmlns:p="http://schemas.openxmlformats.org/presentationml/2006/main">
  <p:tag name="DVSHAPEID" val="WkIhuwOiCZz44ZIwDndHdY"/>
  <p:tag name="DVSHEQ" val="1993371127"/>
</p:tagLst>
</file>

<file path=ppt/tags/tag231.xml><?xml version="1.0" encoding="utf-8"?>
<p:tagLst xmlns:a="http://schemas.openxmlformats.org/drawingml/2006/main" xmlns:r="http://schemas.openxmlformats.org/officeDocument/2006/relationships" xmlns:p="http://schemas.openxmlformats.org/presentationml/2006/main">
  <p:tag name="DVSHAPEID" val="0A8992ZvTpsxY6QeuDYz20"/>
  <p:tag name="DVSHEQ" val="-1506917377"/>
</p:tagLst>
</file>

<file path=ppt/tags/tag232.xml><?xml version="1.0" encoding="utf-8"?>
<p:tagLst xmlns:a="http://schemas.openxmlformats.org/drawingml/2006/main" xmlns:r="http://schemas.openxmlformats.org/officeDocument/2006/relationships" xmlns:p="http://schemas.openxmlformats.org/presentationml/2006/main">
  <p:tag name="DVSHAPEID" val="gRHGqwV3u78iAhZip2JKEY"/>
  <p:tag name="DVSHEQ" val="-1662372173"/>
</p:tagLst>
</file>

<file path=ppt/tags/tag233.xml><?xml version="1.0" encoding="utf-8"?>
<p:tagLst xmlns:a="http://schemas.openxmlformats.org/drawingml/2006/main" xmlns:r="http://schemas.openxmlformats.org/officeDocument/2006/relationships" xmlns:p="http://schemas.openxmlformats.org/presentationml/2006/main">
  <p:tag name="DVSHAPEID" val="o4A0dLvSt2Y8HQpERvLelj"/>
  <p:tag name="DVSHEQ" val="-1503654663"/>
</p:tagLst>
</file>

<file path=ppt/tags/tag234.xml><?xml version="1.0" encoding="utf-8"?>
<p:tagLst xmlns:a="http://schemas.openxmlformats.org/drawingml/2006/main" xmlns:r="http://schemas.openxmlformats.org/officeDocument/2006/relationships" xmlns:p="http://schemas.openxmlformats.org/presentationml/2006/main">
  <p:tag name="DVSHAPEID" val="UzDrjUXnNNGcKxsnxZcbzx"/>
  <p:tag name="DVSHEQ" val="-420581160"/>
</p:tagLst>
</file>

<file path=ppt/tags/tag235.xml><?xml version="1.0" encoding="utf-8"?>
<p:tagLst xmlns:a="http://schemas.openxmlformats.org/drawingml/2006/main" xmlns:r="http://schemas.openxmlformats.org/officeDocument/2006/relationships" xmlns:p="http://schemas.openxmlformats.org/presentationml/2006/main">
  <p:tag name="DVSHAPEID" val="mEdVU6ZerWoslWlxgHFYL9"/>
  <p:tag name="DVSHEQ" val="-473225740"/>
</p:tagLst>
</file>

<file path=ppt/tags/tag236.xml><?xml version="1.0" encoding="utf-8"?>
<p:tagLst xmlns:a="http://schemas.openxmlformats.org/drawingml/2006/main" xmlns:r="http://schemas.openxmlformats.org/officeDocument/2006/relationships" xmlns:p="http://schemas.openxmlformats.org/presentationml/2006/main">
  <p:tag name="DVSHAPEID" val="UFswyZ2fmRXmlNXDUN11We"/>
  <p:tag name="DVSHEQ" val="-1611127068"/>
</p:tagLst>
</file>

<file path=ppt/tags/tag237.xml><?xml version="1.0" encoding="utf-8"?>
<p:tagLst xmlns:a="http://schemas.openxmlformats.org/drawingml/2006/main" xmlns:r="http://schemas.openxmlformats.org/officeDocument/2006/relationships" xmlns:p="http://schemas.openxmlformats.org/presentationml/2006/main">
  <p:tag name="DVSECTIONID" val="yikYdd7jCl3jH6kTBEanID"/>
</p:tagLst>
</file>

<file path=ppt/tags/tag238.xml><?xml version="1.0" encoding="utf-8"?>
<p:tagLst xmlns:a="http://schemas.openxmlformats.org/drawingml/2006/main" xmlns:r="http://schemas.openxmlformats.org/officeDocument/2006/relationships" xmlns:p="http://schemas.openxmlformats.org/presentationml/2006/main">
  <p:tag name="DVSHAPEID" val="Q6qy82rpahRtfboFB8yNoS"/>
  <p:tag name="DVSHEQ" val="1499682007"/>
</p:tagLst>
</file>

<file path=ppt/tags/tag239.xml><?xml version="1.0" encoding="utf-8"?>
<p:tagLst xmlns:a="http://schemas.openxmlformats.org/drawingml/2006/main" xmlns:r="http://schemas.openxmlformats.org/officeDocument/2006/relationships" xmlns:p="http://schemas.openxmlformats.org/presentationml/2006/main">
  <p:tag name="DVSHAPEID" val="XkskxHW255jDMfHAi4OzVP"/>
  <p:tag name="DVSHEQ" val="484263550"/>
</p:tagLst>
</file>

<file path=ppt/tags/tag240.xml><?xml version="1.0" encoding="utf-8"?>
<p:tagLst xmlns:a="http://schemas.openxmlformats.org/drawingml/2006/main" xmlns:r="http://schemas.openxmlformats.org/officeDocument/2006/relationships" xmlns:p="http://schemas.openxmlformats.org/presentationml/2006/main">
  <p:tag name="DVSHAPEID" val="X9H67HyqthIX866OvKs7bL"/>
  <p:tag name="DVSHEQ" val="-1765941545"/>
</p:tagLst>
</file>

<file path=ppt/tags/tag241.xml><?xml version="1.0" encoding="utf-8"?>
<p:tagLst xmlns:a="http://schemas.openxmlformats.org/drawingml/2006/main" xmlns:r="http://schemas.openxmlformats.org/officeDocument/2006/relationships" xmlns:p="http://schemas.openxmlformats.org/presentationml/2006/main">
  <p:tag name="DVSHAPEID" val="aCo8X1PuZPW8mjCqzfuFC1"/>
  <p:tag name="DVSHEQ" val="529849025"/>
</p:tagLst>
</file>

<file path=ppt/tags/tag242.xml><?xml version="1.0" encoding="utf-8"?>
<p:tagLst xmlns:a="http://schemas.openxmlformats.org/drawingml/2006/main" xmlns:r="http://schemas.openxmlformats.org/officeDocument/2006/relationships" xmlns:p="http://schemas.openxmlformats.org/presentationml/2006/main">
  <p:tag name="DVSECTIONID" val="yikYdd7jCl3jH6kTBEanID"/>
</p:tagLst>
</file>

<file path=ppt/tags/tag243.xml><?xml version="1.0" encoding="utf-8"?>
<p:tagLst xmlns:a="http://schemas.openxmlformats.org/drawingml/2006/main" xmlns:r="http://schemas.openxmlformats.org/officeDocument/2006/relationships" xmlns:p="http://schemas.openxmlformats.org/presentationml/2006/main">
  <p:tag name="DVSHAPEID" val="Q6qy82rpahRtfboFB8yNoS"/>
  <p:tag name="DVSHEQ" val="1499682007"/>
</p:tagLst>
</file>

<file path=ppt/tags/tag244.xml><?xml version="1.0" encoding="utf-8"?>
<p:tagLst xmlns:a="http://schemas.openxmlformats.org/drawingml/2006/main" xmlns:r="http://schemas.openxmlformats.org/officeDocument/2006/relationships" xmlns:p="http://schemas.openxmlformats.org/presentationml/2006/main">
  <p:tag name="DVSHAPEID" val="XkskxHW255jDMfHAi4OzVP"/>
  <p:tag name="DVSHEQ" val="484263550"/>
</p:tagLst>
</file>

<file path=ppt/tags/tag245.xml><?xml version="1.0" encoding="utf-8"?>
<p:tagLst xmlns:a="http://schemas.openxmlformats.org/drawingml/2006/main" xmlns:r="http://schemas.openxmlformats.org/officeDocument/2006/relationships" xmlns:p="http://schemas.openxmlformats.org/presentationml/2006/main">
  <p:tag name="DVSHAPEID" val="X9H67HyqthIX866OvKs7bL"/>
  <p:tag name="DVSHEQ" val="-1765941545"/>
</p:tagLst>
</file>

<file path=ppt/tags/tag246.xml><?xml version="1.0" encoding="utf-8"?>
<p:tagLst xmlns:a="http://schemas.openxmlformats.org/drawingml/2006/main" xmlns:r="http://schemas.openxmlformats.org/officeDocument/2006/relationships" xmlns:p="http://schemas.openxmlformats.org/presentationml/2006/main">
  <p:tag name="DVSHAPEID" val="aCo8X1PuZPW8mjCqzfuFC1"/>
  <p:tag name="DVSHEQ" val="529849025"/>
</p:tagLst>
</file>

<file path=ppt/tags/tag247.xml><?xml version="1.0" encoding="utf-8"?>
<p:tagLst xmlns:a="http://schemas.openxmlformats.org/drawingml/2006/main" xmlns:r="http://schemas.openxmlformats.org/officeDocument/2006/relationships" xmlns:p="http://schemas.openxmlformats.org/presentationml/2006/main">
  <p:tag name="DVSECTIONID" val="yLTedCUB3O7PWkJ1zCH9oW"/>
</p:tagLst>
</file>

<file path=ppt/tags/tag248.xml><?xml version="1.0" encoding="utf-8"?>
<p:tagLst xmlns:a="http://schemas.openxmlformats.org/drawingml/2006/main" xmlns:r="http://schemas.openxmlformats.org/officeDocument/2006/relationships" xmlns:p="http://schemas.openxmlformats.org/presentationml/2006/main">
  <p:tag name="DVSHAPEID" val="Ny4ikHLgebmLCGFeOPbgML"/>
  <p:tag name="DVSHEQ" val="1224747544"/>
</p:tagLst>
</file>

<file path=ppt/tags/tag249.xml><?xml version="1.0" encoding="utf-8"?>
<p:tagLst xmlns:a="http://schemas.openxmlformats.org/drawingml/2006/main" xmlns:r="http://schemas.openxmlformats.org/officeDocument/2006/relationships" xmlns:p="http://schemas.openxmlformats.org/presentationml/2006/main">
  <p:tag name="DVSHAPEID" val="Ic5An59CuyvqaKYT0knCZc"/>
  <p:tag name="DVSHEQ" val="282551215"/>
</p:tagLst>
</file>

<file path=ppt/tags/tag250.xml><?xml version="1.0" encoding="utf-8"?>
<p:tagLst xmlns:a="http://schemas.openxmlformats.org/drawingml/2006/main" xmlns:r="http://schemas.openxmlformats.org/officeDocument/2006/relationships" xmlns:p="http://schemas.openxmlformats.org/presentationml/2006/main">
  <p:tag name="DVSHAPEID" val="GVMWWYl8JKivYDhASa5yTo"/>
  <p:tag name="DVSHEQ" val="-1588763085"/>
</p:tagLst>
</file>

<file path=ppt/tags/tag251.xml><?xml version="1.0" encoding="utf-8"?>
<p:tagLst xmlns:a="http://schemas.openxmlformats.org/drawingml/2006/main" xmlns:r="http://schemas.openxmlformats.org/officeDocument/2006/relationships" xmlns:p="http://schemas.openxmlformats.org/presentationml/2006/main">
  <p:tag name="DVSHAPEID" val="jXc7pFJN4bFhrQC19LPT4O"/>
  <p:tag name="DVSHEQ" val="-1765941545"/>
</p:tagLst>
</file>

<file path=ppt/tags/tag252.xml><?xml version="1.0" encoding="utf-8"?>
<p:tagLst xmlns:a="http://schemas.openxmlformats.org/drawingml/2006/main" xmlns:r="http://schemas.openxmlformats.org/officeDocument/2006/relationships" xmlns:p="http://schemas.openxmlformats.org/presentationml/2006/main">
  <p:tag name="DVSHAPEID" val="tMtXAnDgnnnHCmHHaD6SqQ"/>
  <p:tag name="DVSHEQ" val="-2046247248"/>
</p:tagLst>
</file>

<file path=ppt/tags/tag253.xml><?xml version="1.0" encoding="utf-8"?>
<p:tagLst xmlns:a="http://schemas.openxmlformats.org/drawingml/2006/main" xmlns:r="http://schemas.openxmlformats.org/officeDocument/2006/relationships" xmlns:p="http://schemas.openxmlformats.org/presentationml/2006/main">
  <p:tag name="DVSHAPEID" val="PBQz9SUTUsxajvuax907pM"/>
  <p:tag name="DVSHEQ" val="1302829766"/>
</p:tagLst>
</file>

<file path=ppt/tags/tag254.xml><?xml version="1.0" encoding="utf-8"?>
<p:tagLst xmlns:a="http://schemas.openxmlformats.org/drawingml/2006/main" xmlns:r="http://schemas.openxmlformats.org/officeDocument/2006/relationships" xmlns:p="http://schemas.openxmlformats.org/presentationml/2006/main">
  <p:tag name="DVSHAPEID" val="WkIhuwOiCZz44ZIwDndHdY"/>
  <p:tag name="DVSHEQ" val="633322252"/>
</p:tagLst>
</file>

<file path=ppt/tags/tag255.xml><?xml version="1.0" encoding="utf-8"?>
<p:tagLst xmlns:a="http://schemas.openxmlformats.org/drawingml/2006/main" xmlns:r="http://schemas.openxmlformats.org/officeDocument/2006/relationships" xmlns:p="http://schemas.openxmlformats.org/presentationml/2006/main">
  <p:tag name="DVSHAPEID" val="ySMKzracY1H2QScJkG6CGN"/>
  <p:tag name="DVSHEQ" val="1406934657"/>
</p:tagLst>
</file>

<file path=ppt/tags/tag256.xml><?xml version="1.0" encoding="utf-8"?>
<p:tagLst xmlns:a="http://schemas.openxmlformats.org/drawingml/2006/main" xmlns:r="http://schemas.openxmlformats.org/officeDocument/2006/relationships" xmlns:p="http://schemas.openxmlformats.org/presentationml/2006/main">
  <p:tag name="DVSHAPEID" val="J7U6Gg0HwmvLDAeEcfn78x"/>
  <p:tag name="DVSHEQ" val="-546091560"/>
</p:tagLst>
</file>

<file path=ppt/tags/tag257.xml><?xml version="1.0" encoding="utf-8"?>
<p:tagLst xmlns:a="http://schemas.openxmlformats.org/drawingml/2006/main" xmlns:r="http://schemas.openxmlformats.org/officeDocument/2006/relationships" xmlns:p="http://schemas.openxmlformats.org/presentationml/2006/main">
  <p:tag name="DVSECTIONID" val="fnWGNzhx9FJYlpZIRdDlus"/>
</p:tagLst>
</file>

<file path=ppt/tags/tag258.xml><?xml version="1.0" encoding="utf-8"?>
<p:tagLst xmlns:a="http://schemas.openxmlformats.org/drawingml/2006/main" xmlns:r="http://schemas.openxmlformats.org/officeDocument/2006/relationships" xmlns:p="http://schemas.openxmlformats.org/presentationml/2006/main">
  <p:tag name="DVSHAPEID" val="Ny4ikHLgebmLCGFeOPbgML"/>
  <p:tag name="DVSHEQ" val="1224747544"/>
</p:tagLst>
</file>

<file path=ppt/tags/tag259.xml><?xml version="1.0" encoding="utf-8"?>
<p:tagLst xmlns:a="http://schemas.openxmlformats.org/drawingml/2006/main" xmlns:r="http://schemas.openxmlformats.org/officeDocument/2006/relationships" xmlns:p="http://schemas.openxmlformats.org/presentationml/2006/main">
  <p:tag name="DVSHAPEID" val="Ic5An59CuyvqaKYT0knCZc"/>
  <p:tag name="DVSHEQ" val="282551215"/>
</p:tagLst>
</file>

<file path=ppt/tags/tag260.xml><?xml version="1.0" encoding="utf-8"?>
<p:tagLst xmlns:a="http://schemas.openxmlformats.org/drawingml/2006/main" xmlns:r="http://schemas.openxmlformats.org/officeDocument/2006/relationships" xmlns:p="http://schemas.openxmlformats.org/presentationml/2006/main">
  <p:tag name="DVSHAPEID" val="GVMWWYl8JKivYDhASa5yTo"/>
  <p:tag name="DVSHEQ" val="-1588763085"/>
</p:tagLst>
</file>

<file path=ppt/tags/tag261.xml><?xml version="1.0" encoding="utf-8"?>
<p:tagLst xmlns:a="http://schemas.openxmlformats.org/drawingml/2006/main" xmlns:r="http://schemas.openxmlformats.org/officeDocument/2006/relationships" xmlns:p="http://schemas.openxmlformats.org/presentationml/2006/main">
  <p:tag name="DVSHAPEID" val="jXc7pFJN4bFhrQC19LPT4O"/>
  <p:tag name="DVSHEQ" val="-1765941545"/>
</p:tagLst>
</file>

<file path=ppt/tags/tag262.xml><?xml version="1.0" encoding="utf-8"?>
<p:tagLst xmlns:a="http://schemas.openxmlformats.org/drawingml/2006/main" xmlns:r="http://schemas.openxmlformats.org/officeDocument/2006/relationships" xmlns:p="http://schemas.openxmlformats.org/presentationml/2006/main">
  <p:tag name="DVSHAPEID" val="tMtXAnDgnnnHCmHHaD6SqQ"/>
  <p:tag name="DVSHEQ" val="1562754736"/>
</p:tagLst>
</file>

<file path=ppt/tags/tag263.xml><?xml version="1.0" encoding="utf-8"?>
<p:tagLst xmlns:a="http://schemas.openxmlformats.org/drawingml/2006/main" xmlns:r="http://schemas.openxmlformats.org/officeDocument/2006/relationships" xmlns:p="http://schemas.openxmlformats.org/presentationml/2006/main">
  <p:tag name="DVSHAPEID" val="PBQz9SUTUsxajvuax907pM"/>
  <p:tag name="DVSHEQ" val="1302829766"/>
</p:tagLst>
</file>

<file path=ppt/tags/tag264.xml><?xml version="1.0" encoding="utf-8"?>
<p:tagLst xmlns:a="http://schemas.openxmlformats.org/drawingml/2006/main" xmlns:r="http://schemas.openxmlformats.org/officeDocument/2006/relationships" xmlns:p="http://schemas.openxmlformats.org/presentationml/2006/main">
  <p:tag name="DVSHAPEID" val="ySMKzracY1H2QScJkG6CGN"/>
  <p:tag name="DVSHEQ" val="1406934657"/>
</p:tagLst>
</file>

<file path=ppt/tags/tag265.xml><?xml version="1.0" encoding="utf-8"?>
<p:tagLst xmlns:a="http://schemas.openxmlformats.org/drawingml/2006/main" xmlns:r="http://schemas.openxmlformats.org/officeDocument/2006/relationships" xmlns:p="http://schemas.openxmlformats.org/presentationml/2006/main">
  <p:tag name="DVSHAPEID" val="fcvVfUOQT9MvEcOCwHsiAt"/>
  <p:tag name="DVSHEQ" val="-187819912"/>
</p:tagLst>
</file>

<file path=ppt/tags/tag266.xml><?xml version="1.0" encoding="utf-8"?>
<p:tagLst xmlns:a="http://schemas.openxmlformats.org/drawingml/2006/main" xmlns:r="http://schemas.openxmlformats.org/officeDocument/2006/relationships" xmlns:p="http://schemas.openxmlformats.org/presentationml/2006/main">
  <p:tag name="DVSHAPEID" val="J7U6Gg0HwmvLDAeEcfn78x"/>
  <p:tag name="DVSHEQ" val="1135029591"/>
</p:tagLst>
</file>

<file path=ppt/tags/tag267.xml><?xml version="1.0" encoding="utf-8"?>
<p:tagLst xmlns:a="http://schemas.openxmlformats.org/drawingml/2006/main" xmlns:r="http://schemas.openxmlformats.org/officeDocument/2006/relationships" xmlns:p="http://schemas.openxmlformats.org/presentationml/2006/main">
  <p:tag name="DVSECTIONID" val="Z79kbMyl8sy0jUnmYBwpb5"/>
</p:tagLst>
</file>

<file path=ppt/tags/tag268.xml><?xml version="1.0" encoding="utf-8"?>
<p:tagLst xmlns:a="http://schemas.openxmlformats.org/drawingml/2006/main" xmlns:r="http://schemas.openxmlformats.org/officeDocument/2006/relationships" xmlns:p="http://schemas.openxmlformats.org/presentationml/2006/main">
  <p:tag name="DVSHAPEID" val="Ny4ikHLgebmLCGFeOPbgML"/>
  <p:tag name="DVSHEQ" val="1224747544"/>
</p:tagLst>
</file>

<file path=ppt/tags/tag269.xml><?xml version="1.0" encoding="utf-8"?>
<p:tagLst xmlns:a="http://schemas.openxmlformats.org/drawingml/2006/main" xmlns:r="http://schemas.openxmlformats.org/officeDocument/2006/relationships" xmlns:p="http://schemas.openxmlformats.org/presentationml/2006/main">
  <p:tag name="DVSHAPEID" val="Ic5An59CuyvqaKYT0knCZc"/>
  <p:tag name="DVSHEQ" val="282551215"/>
</p:tagLst>
</file>

<file path=ppt/tags/tag270.xml><?xml version="1.0" encoding="utf-8"?>
<p:tagLst xmlns:a="http://schemas.openxmlformats.org/drawingml/2006/main" xmlns:r="http://schemas.openxmlformats.org/officeDocument/2006/relationships" xmlns:p="http://schemas.openxmlformats.org/presentationml/2006/main">
  <p:tag name="DVSHAPEID" val="GVMWWYl8JKivYDhASa5yTo"/>
  <p:tag name="DVSHEQ" val="-1869445007"/>
</p:tagLst>
</file>

<file path=ppt/tags/tag271.xml><?xml version="1.0" encoding="utf-8"?>
<p:tagLst xmlns:a="http://schemas.openxmlformats.org/drawingml/2006/main" xmlns:r="http://schemas.openxmlformats.org/officeDocument/2006/relationships" xmlns:p="http://schemas.openxmlformats.org/presentationml/2006/main">
  <p:tag name="DVSHAPEID" val="jXc7pFJN4bFhrQC19LPT4O"/>
  <p:tag name="DVSHEQ" val="-1765941545"/>
</p:tagLst>
</file>

<file path=ppt/tags/tag272.xml><?xml version="1.0" encoding="utf-8"?>
<p:tagLst xmlns:a="http://schemas.openxmlformats.org/drawingml/2006/main" xmlns:r="http://schemas.openxmlformats.org/officeDocument/2006/relationships" xmlns:p="http://schemas.openxmlformats.org/presentationml/2006/main">
  <p:tag name="DVSHAPEID" val="tMtXAnDgnnnHCmHHaD6SqQ"/>
  <p:tag name="DVSHEQ" val="2012200624"/>
</p:tagLst>
</file>

<file path=ppt/tags/tag273.xml><?xml version="1.0" encoding="utf-8"?>
<p:tagLst xmlns:a="http://schemas.openxmlformats.org/drawingml/2006/main" xmlns:r="http://schemas.openxmlformats.org/officeDocument/2006/relationships" xmlns:p="http://schemas.openxmlformats.org/presentationml/2006/main">
  <p:tag name="DVSHAPEID" val="PBQz9SUTUsxajvuax907pM"/>
  <p:tag name="DVSHEQ" val="-1390466804"/>
</p:tagLst>
</file>

<file path=ppt/tags/tag274.xml><?xml version="1.0" encoding="utf-8"?>
<p:tagLst xmlns:a="http://schemas.openxmlformats.org/drawingml/2006/main" xmlns:r="http://schemas.openxmlformats.org/officeDocument/2006/relationships" xmlns:p="http://schemas.openxmlformats.org/presentationml/2006/main">
  <p:tag name="DVSHAPEID" val="ySMKzracY1H2QScJkG6CGN"/>
  <p:tag name="DVSHEQ" val="1406934657"/>
</p:tagLst>
</file>

<file path=ppt/tags/tag275.xml><?xml version="1.0" encoding="utf-8"?>
<p:tagLst xmlns:a="http://schemas.openxmlformats.org/drawingml/2006/main" xmlns:r="http://schemas.openxmlformats.org/officeDocument/2006/relationships" xmlns:p="http://schemas.openxmlformats.org/presentationml/2006/main">
  <p:tag name="DVSHAPEID" val="2aBu0SB3ks4o7y3FLTtMVY"/>
  <p:tag name="DVSHEQ" val="-1043603151"/>
</p:tagLst>
</file>

<file path=ppt/tags/tag276.xml><?xml version="1.0" encoding="utf-8"?>
<p:tagLst xmlns:a="http://schemas.openxmlformats.org/drawingml/2006/main" xmlns:r="http://schemas.openxmlformats.org/officeDocument/2006/relationships" xmlns:p="http://schemas.openxmlformats.org/presentationml/2006/main">
  <p:tag name="DVSHAPEID" val="fcvVfUOQT9MvEcOCwHsiAt"/>
  <p:tag name="DVSHEQ" val="-187819912"/>
</p:tagLst>
</file>

<file path=ppt/tags/tag277.xml><?xml version="1.0" encoding="utf-8"?>
<p:tagLst xmlns:a="http://schemas.openxmlformats.org/drawingml/2006/main" xmlns:r="http://schemas.openxmlformats.org/officeDocument/2006/relationships" xmlns:p="http://schemas.openxmlformats.org/presentationml/2006/main">
  <p:tag name="DVSHAPEID" val="IhwDFfI9Vje5AtTyGkbTIL"/>
  <p:tag name="DVSHEQ" val="917244076"/>
</p:tagLst>
</file>

<file path=ppt/tags/tag278.xml><?xml version="1.0" encoding="utf-8"?>
<p:tagLst xmlns:a="http://schemas.openxmlformats.org/drawingml/2006/main" xmlns:r="http://schemas.openxmlformats.org/officeDocument/2006/relationships" xmlns:p="http://schemas.openxmlformats.org/presentationml/2006/main">
  <p:tag name="DVSHAPEID" val="2snd3KFA7VfRrS0lzMrrBG"/>
  <p:tag name="DVSHEQ" val="-1570926606"/>
</p:tagLst>
</file>

<file path=ppt/tags/tag279.xml><?xml version="1.0" encoding="utf-8"?>
<p:tagLst xmlns:a="http://schemas.openxmlformats.org/drawingml/2006/main" xmlns:r="http://schemas.openxmlformats.org/officeDocument/2006/relationships" xmlns:p="http://schemas.openxmlformats.org/presentationml/2006/main">
  <p:tag name="DVSECTIONID" val="0HUKcjxZK5HM38DLECPeqn"/>
</p:tagLst>
</file>

<file path=ppt/tags/tag280.xml><?xml version="1.0" encoding="utf-8"?>
<p:tagLst xmlns:a="http://schemas.openxmlformats.org/drawingml/2006/main" xmlns:r="http://schemas.openxmlformats.org/officeDocument/2006/relationships" xmlns:p="http://schemas.openxmlformats.org/presentationml/2006/main">
  <p:tag name="DVSHAPEID" val="Ny4ikHLgebmLCGFeOPbgML"/>
  <p:tag name="DVSHEQ" val="1224747544"/>
</p:tagLst>
</file>

<file path=ppt/tags/tag281.xml><?xml version="1.0" encoding="utf-8"?>
<p:tagLst xmlns:a="http://schemas.openxmlformats.org/drawingml/2006/main" xmlns:r="http://schemas.openxmlformats.org/officeDocument/2006/relationships" xmlns:p="http://schemas.openxmlformats.org/presentationml/2006/main">
  <p:tag name="DVSHAPEID" val="Ic5An59CuyvqaKYT0knCZc"/>
  <p:tag name="DVSHEQ" val="282551215"/>
</p:tagLst>
</file>

<file path=ppt/tags/tag282.xml><?xml version="1.0" encoding="utf-8"?>
<p:tagLst xmlns:a="http://schemas.openxmlformats.org/drawingml/2006/main" xmlns:r="http://schemas.openxmlformats.org/officeDocument/2006/relationships" xmlns:p="http://schemas.openxmlformats.org/presentationml/2006/main">
  <p:tag name="DVSHAPEID" val="jXc7pFJN4bFhrQC19LPT4O"/>
  <p:tag name="DVSHEQ" val="-1765941545"/>
</p:tagLst>
</file>

<file path=ppt/tags/tag283.xml><?xml version="1.0" encoding="utf-8"?>
<p:tagLst xmlns:a="http://schemas.openxmlformats.org/drawingml/2006/main" xmlns:r="http://schemas.openxmlformats.org/officeDocument/2006/relationships" xmlns:p="http://schemas.openxmlformats.org/presentationml/2006/main">
  <p:tag name="DVSHAPEID" val="tMtXAnDgnnnHCmHHaD6SqQ"/>
  <p:tag name="DVSHEQ" val="-268124496"/>
</p:tagLst>
</file>

<file path=ppt/tags/tag284.xml><?xml version="1.0" encoding="utf-8"?>
<p:tagLst xmlns:a="http://schemas.openxmlformats.org/drawingml/2006/main" xmlns:r="http://schemas.openxmlformats.org/officeDocument/2006/relationships" xmlns:p="http://schemas.openxmlformats.org/presentationml/2006/main">
  <p:tag name="DVSHAPEID" val="PBQz9SUTUsxajvuax907pM"/>
  <p:tag name="DVSHEQ" val="-1390466804"/>
</p:tagLst>
</file>

<file path=ppt/tags/tag285.xml><?xml version="1.0" encoding="utf-8"?>
<p:tagLst xmlns:a="http://schemas.openxmlformats.org/drawingml/2006/main" xmlns:r="http://schemas.openxmlformats.org/officeDocument/2006/relationships" xmlns:p="http://schemas.openxmlformats.org/presentationml/2006/main">
  <p:tag name="DVSHAPEID" val="ySMKzracY1H2QScJkG6CGN"/>
  <p:tag name="DVSHEQ" val="1406934657"/>
</p:tagLst>
</file>

<file path=ppt/tags/tag286.xml><?xml version="1.0" encoding="utf-8"?>
<p:tagLst xmlns:a="http://schemas.openxmlformats.org/drawingml/2006/main" xmlns:r="http://schemas.openxmlformats.org/officeDocument/2006/relationships" xmlns:p="http://schemas.openxmlformats.org/presentationml/2006/main">
  <p:tag name="DVSHAPEID" val="2aBu0SB3ks4o7y3FLTtMVY"/>
  <p:tag name="DVSHEQ" val="-1316108517"/>
</p:tagLst>
</file>

<file path=ppt/tags/tag287.xml><?xml version="1.0" encoding="utf-8"?>
<p:tagLst xmlns:a="http://schemas.openxmlformats.org/drawingml/2006/main" xmlns:r="http://schemas.openxmlformats.org/officeDocument/2006/relationships" xmlns:p="http://schemas.openxmlformats.org/presentationml/2006/main">
  <p:tag name="DVSHAPEID" val="fcvVfUOQT9MvEcOCwHsiAt"/>
  <p:tag name="DVSHEQ" val="-187819912"/>
</p:tagLst>
</file>

<file path=ppt/tags/tag288.xml><?xml version="1.0" encoding="utf-8"?>
<p:tagLst xmlns:a="http://schemas.openxmlformats.org/drawingml/2006/main" xmlns:r="http://schemas.openxmlformats.org/officeDocument/2006/relationships" xmlns:p="http://schemas.openxmlformats.org/presentationml/2006/main">
  <p:tag name="DVSHAPEID" val="IhwDFfI9Vje5AtTyGkbTIL"/>
  <p:tag name="DVSHEQ" val="917244076"/>
</p:tagLst>
</file>

<file path=ppt/tags/tag289.xml><?xml version="1.0" encoding="utf-8"?>
<p:tagLst xmlns:a="http://schemas.openxmlformats.org/drawingml/2006/main" xmlns:r="http://schemas.openxmlformats.org/officeDocument/2006/relationships" xmlns:p="http://schemas.openxmlformats.org/presentationml/2006/main">
  <p:tag name="DVSHAPEID" val="2snd3KFA7VfRrS0lzMrrBG"/>
  <p:tag name="DVSHEQ" val="-1570926606"/>
</p:tagLst>
</file>

<file path=ppt/tags/tag290.xml><?xml version="1.0" encoding="utf-8"?>
<p:tagLst xmlns:a="http://schemas.openxmlformats.org/drawingml/2006/main" xmlns:r="http://schemas.openxmlformats.org/officeDocument/2006/relationships" xmlns:p="http://schemas.openxmlformats.org/presentationml/2006/main">
  <p:tag name="DVSHAPEID" val="PI11ykKorhamN6lQwxnGcI"/>
  <p:tag name="DVSHEQ" val="-2070604794"/>
</p:tagLst>
</file>

<file path=ppt/tags/tag291.xml><?xml version="1.0" encoding="utf-8"?>
<p:tagLst xmlns:a="http://schemas.openxmlformats.org/drawingml/2006/main" xmlns:r="http://schemas.openxmlformats.org/officeDocument/2006/relationships" xmlns:p="http://schemas.openxmlformats.org/presentationml/2006/main">
  <p:tag name="DVSHAPEID" val="lvCW57AtXhtmr9adASFk5e"/>
  <p:tag name="DVSHEQ" val="-1072611280"/>
</p:tagLst>
</file>

<file path=ppt/tags/tag292.xml><?xml version="1.0" encoding="utf-8"?>
<p:tagLst xmlns:a="http://schemas.openxmlformats.org/drawingml/2006/main" xmlns:r="http://schemas.openxmlformats.org/officeDocument/2006/relationships" xmlns:p="http://schemas.openxmlformats.org/presentationml/2006/main">
  <p:tag name="DVSHAPEID" val="MSg97lrWWv76nwoBfDOXjT"/>
  <p:tag name="DVSHEQ" val="2138757946"/>
</p:tagLst>
</file>

<file path=ppt/tags/tag293.xml><?xml version="1.0" encoding="utf-8"?>
<p:tagLst xmlns:a="http://schemas.openxmlformats.org/drawingml/2006/main" xmlns:r="http://schemas.openxmlformats.org/officeDocument/2006/relationships" xmlns:p="http://schemas.openxmlformats.org/presentationml/2006/main">
  <p:tag name="DVSHAPEID" val="SqEbGiWu1RD6IKGV0e21kY"/>
  <p:tag name="DVSHEQ" val="422144157"/>
</p:tagLst>
</file>

<file path=ppt/tags/tag294.xml><?xml version="1.0" encoding="utf-8"?>
<p:tagLst xmlns:a="http://schemas.openxmlformats.org/drawingml/2006/main" xmlns:r="http://schemas.openxmlformats.org/officeDocument/2006/relationships" xmlns:p="http://schemas.openxmlformats.org/presentationml/2006/main">
  <p:tag name="DVSHAPEID" val="ekMDOYD2w7UT0PvVF8Zsuf"/>
  <p:tag name="DVSHEQ" val="-1307714518"/>
</p:tagLst>
</file>

<file path=ppt/tags/tag295.xml><?xml version="1.0" encoding="utf-8"?>
<p:tagLst xmlns:a="http://schemas.openxmlformats.org/drawingml/2006/main" xmlns:r="http://schemas.openxmlformats.org/officeDocument/2006/relationships" xmlns:p="http://schemas.openxmlformats.org/presentationml/2006/main">
  <p:tag name="DVSHAPEID" val="tgNEVjDzVizUbjo2uXRZlw"/>
  <p:tag name="DVSHEQ" val="302733336"/>
</p:tagLst>
</file>

<file path=ppt/tags/tag296.xml><?xml version="1.0" encoding="utf-8"?>
<p:tagLst xmlns:a="http://schemas.openxmlformats.org/drawingml/2006/main" xmlns:r="http://schemas.openxmlformats.org/officeDocument/2006/relationships" xmlns:p="http://schemas.openxmlformats.org/presentationml/2006/main">
  <p:tag name="DVSHAPEID" val="cPKQp4zT2RtYRwQa2jpWcC"/>
  <p:tag name="DVSHEQ" val="656485407"/>
</p:tagLst>
</file>

<file path=ppt/tags/tag297.xml><?xml version="1.0" encoding="utf-8"?>
<p:tagLst xmlns:a="http://schemas.openxmlformats.org/drawingml/2006/main" xmlns:r="http://schemas.openxmlformats.org/officeDocument/2006/relationships" xmlns:p="http://schemas.openxmlformats.org/presentationml/2006/main">
  <p:tag name="DVSHAPEID" val="FhSce8dqJwwWf3fscXtkcj"/>
  <p:tag name="DVSHEQ" val="-1321583756"/>
</p:tagLst>
</file>

<file path=ppt/tags/tag298.xml><?xml version="1.0" encoding="utf-8"?>
<p:tagLst xmlns:a="http://schemas.openxmlformats.org/drawingml/2006/main" xmlns:r="http://schemas.openxmlformats.org/officeDocument/2006/relationships" xmlns:p="http://schemas.openxmlformats.org/presentationml/2006/main">
  <p:tag name="DVSHAPEID" val="GVMWWYl8JKivYDhASa5yTo"/>
  <p:tag name="DVSHEQ" val="-1588763085"/>
</p:tagLst>
</file>

<file path=ppt/tags/tag299.xml><?xml version="1.0" encoding="utf-8"?>
<p:tagLst xmlns:a="http://schemas.openxmlformats.org/drawingml/2006/main" xmlns:r="http://schemas.openxmlformats.org/officeDocument/2006/relationships" xmlns:p="http://schemas.openxmlformats.org/presentationml/2006/main">
  <p:tag name="DVSECTIONID" val="KGE35EAd3ji2nKGJSnuSQF"/>
</p:tagLst>
</file>

<file path=ppt/tags/tag300.xml><?xml version="1.0" encoding="utf-8"?>
<p:tagLst xmlns:a="http://schemas.openxmlformats.org/drawingml/2006/main" xmlns:r="http://schemas.openxmlformats.org/officeDocument/2006/relationships" xmlns:p="http://schemas.openxmlformats.org/presentationml/2006/main">
  <p:tag name="DVSHAPEID" val="Ny4ikHLgebmLCGFeOPbgML"/>
  <p:tag name="DVSHEQ" val="1224747544"/>
</p:tagLst>
</file>

<file path=ppt/tags/tag301.xml><?xml version="1.0" encoding="utf-8"?>
<p:tagLst xmlns:a="http://schemas.openxmlformats.org/drawingml/2006/main" xmlns:r="http://schemas.openxmlformats.org/officeDocument/2006/relationships" xmlns:p="http://schemas.openxmlformats.org/presentationml/2006/main">
  <p:tag name="DVSHAPEID" val="j5DcwCE1AvUX3XT5UyZ1fH"/>
  <p:tag name="DVSHEQ" val="608399328"/>
</p:tagLst>
</file>

<file path=ppt/tags/tag302.xml><?xml version="1.0" encoding="utf-8"?>
<p:tagLst xmlns:a="http://schemas.openxmlformats.org/drawingml/2006/main" xmlns:r="http://schemas.openxmlformats.org/officeDocument/2006/relationships" xmlns:p="http://schemas.openxmlformats.org/presentationml/2006/main">
  <p:tag name="DVSHAPEID" val="Ic5An59CuyvqaKYT0knCZc"/>
  <p:tag name="DVSHEQ" val="1547420037"/>
</p:tagLst>
</file>

<file path=ppt/tags/tag303.xml><?xml version="1.0" encoding="utf-8"?>
<p:tagLst xmlns:a="http://schemas.openxmlformats.org/drawingml/2006/main" xmlns:r="http://schemas.openxmlformats.org/officeDocument/2006/relationships" xmlns:p="http://schemas.openxmlformats.org/presentationml/2006/main">
  <p:tag name="DVSHAPEID" val="GVMWWYl8JKivYDhASa5yTo"/>
  <p:tag name="DVSHEQ" val="-1869445007"/>
</p:tagLst>
</file>

<file path=ppt/tags/tag304.xml><?xml version="1.0" encoding="utf-8"?>
<p:tagLst xmlns:a="http://schemas.openxmlformats.org/drawingml/2006/main" xmlns:r="http://schemas.openxmlformats.org/officeDocument/2006/relationships" xmlns:p="http://schemas.openxmlformats.org/presentationml/2006/main">
  <p:tag name="DVSHAPEID" val="jXc7pFJN4bFhrQC19LPT4O"/>
  <p:tag name="DVSHEQ" val="-1765941545"/>
</p:tagLst>
</file>

<file path=ppt/tags/tag305.xml><?xml version="1.0" encoding="utf-8"?>
<p:tagLst xmlns:a="http://schemas.openxmlformats.org/drawingml/2006/main" xmlns:r="http://schemas.openxmlformats.org/officeDocument/2006/relationships" xmlns:p="http://schemas.openxmlformats.org/presentationml/2006/main">
  <p:tag name="DVSHAPEID" val="tMtXAnDgnnnHCmHHaD6SqQ"/>
  <p:tag name="DVSHEQ" val="1943125680"/>
</p:tagLst>
</file>

<file path=ppt/tags/tag306.xml><?xml version="1.0" encoding="utf-8"?>
<p:tagLst xmlns:a="http://schemas.openxmlformats.org/drawingml/2006/main" xmlns:r="http://schemas.openxmlformats.org/officeDocument/2006/relationships" xmlns:p="http://schemas.openxmlformats.org/presentationml/2006/main">
  <p:tag name="DVSHAPEID" val="PBQz9SUTUsxajvuax907pM"/>
  <p:tag name="DVSHEQ" val="-1995152982"/>
</p:tagLst>
</file>

<file path=ppt/tags/tag307.xml><?xml version="1.0" encoding="utf-8"?>
<p:tagLst xmlns:a="http://schemas.openxmlformats.org/drawingml/2006/main" xmlns:r="http://schemas.openxmlformats.org/officeDocument/2006/relationships" xmlns:p="http://schemas.openxmlformats.org/presentationml/2006/main">
  <p:tag name="DVSHAPEID" val="ySMKzracY1H2QScJkG6CGN"/>
  <p:tag name="DVSHEQ" val="1406934657"/>
</p:tagLst>
</file>

<file path=ppt/tags/tag308.xml><?xml version="1.0" encoding="utf-8"?>
<p:tagLst xmlns:a="http://schemas.openxmlformats.org/drawingml/2006/main" xmlns:r="http://schemas.openxmlformats.org/officeDocument/2006/relationships" xmlns:p="http://schemas.openxmlformats.org/presentationml/2006/main">
  <p:tag name="DVSHAPEID" val="2aBu0SB3ks4o7y3FLTtMVY"/>
  <p:tag name="DVSHEQ" val="-1316108517"/>
</p:tagLst>
</file>

<file path=ppt/tags/tag309.xml><?xml version="1.0" encoding="utf-8"?>
<p:tagLst xmlns:a="http://schemas.openxmlformats.org/drawingml/2006/main" xmlns:r="http://schemas.openxmlformats.org/officeDocument/2006/relationships" xmlns:p="http://schemas.openxmlformats.org/presentationml/2006/main">
  <p:tag name="DVSHAPEID" val="J7U6Gg0HwmvLDAeEcfn78x"/>
  <p:tag name="DVSHEQ" val="-400400637"/>
</p:tagLst>
</file>

<file path=ppt/tags/tag310.xml><?xml version="1.0" encoding="utf-8"?>
<p:tagLst xmlns:a="http://schemas.openxmlformats.org/drawingml/2006/main" xmlns:r="http://schemas.openxmlformats.org/officeDocument/2006/relationships" xmlns:p="http://schemas.openxmlformats.org/presentationml/2006/main">
  <p:tag name="DVSHAPEID" val="gkd0VH9oaodLsn08eyPbDp"/>
  <p:tag name="DVSHEQ" val="-1258106306"/>
</p:tagLst>
</file>

<file path=ppt/tags/tag311.xml><?xml version="1.0" encoding="utf-8"?>
<p:tagLst xmlns:a="http://schemas.openxmlformats.org/drawingml/2006/main" xmlns:r="http://schemas.openxmlformats.org/officeDocument/2006/relationships" xmlns:p="http://schemas.openxmlformats.org/presentationml/2006/main">
  <p:tag name="DVSHAPEID" val="0SzdnSvcUslbRASFljy7c7"/>
  <p:tag name="DVSHEQ" val="1150971486"/>
</p:tagLst>
</file>

<file path=ppt/tags/tag312.xml><?xml version="1.0" encoding="utf-8"?>
<p:tagLst xmlns:a="http://schemas.openxmlformats.org/drawingml/2006/main" xmlns:r="http://schemas.openxmlformats.org/officeDocument/2006/relationships" xmlns:p="http://schemas.openxmlformats.org/presentationml/2006/main">
  <p:tag name="DVSHAPEID" val="rdrScjVyAojzvEcdyWe0hX"/>
  <p:tag name="DVSHEQ" val="-1581184852"/>
</p:tagLst>
</file>

<file path=ppt/tags/tag313.xml><?xml version="1.0" encoding="utf-8"?>
<p:tagLst xmlns:a="http://schemas.openxmlformats.org/drawingml/2006/main" xmlns:r="http://schemas.openxmlformats.org/officeDocument/2006/relationships" xmlns:p="http://schemas.openxmlformats.org/presentationml/2006/main">
  <p:tag name="DVSHAPEID" val="4UsSgXpQWamCEqLEql62Vw"/>
  <p:tag name="DVSHEQ" val="-1142231325"/>
</p:tagLst>
</file>

<file path=ppt/tags/tag314.xml><?xml version="1.0" encoding="utf-8"?>
<p:tagLst xmlns:a="http://schemas.openxmlformats.org/drawingml/2006/main" xmlns:r="http://schemas.openxmlformats.org/officeDocument/2006/relationships" xmlns:p="http://schemas.openxmlformats.org/presentationml/2006/main">
  <p:tag name="DVSECTIONID" val="KGE35EAd3ji2nKGJSnuSQF"/>
</p:tagLst>
</file>

<file path=ppt/tags/tag315.xml><?xml version="1.0" encoding="utf-8"?>
<p:tagLst xmlns:a="http://schemas.openxmlformats.org/drawingml/2006/main" xmlns:r="http://schemas.openxmlformats.org/officeDocument/2006/relationships" xmlns:p="http://schemas.openxmlformats.org/presentationml/2006/main">
  <p:tag name="DVSHAPEID" val="Ny4ikHLgebmLCGFeOPbgML"/>
  <p:tag name="DVSHEQ" val="1224747544"/>
</p:tagLst>
</file>

<file path=ppt/tags/tag316.xml><?xml version="1.0" encoding="utf-8"?>
<p:tagLst xmlns:a="http://schemas.openxmlformats.org/drawingml/2006/main" xmlns:r="http://schemas.openxmlformats.org/officeDocument/2006/relationships" xmlns:p="http://schemas.openxmlformats.org/presentationml/2006/main">
  <p:tag name="DVSHAPEID" val="j5DcwCE1AvUX3XT5UyZ1fH"/>
  <p:tag name="DVSHEQ" val="608399328"/>
</p:tagLst>
</file>

<file path=ppt/tags/tag317.xml><?xml version="1.0" encoding="utf-8"?>
<p:tagLst xmlns:a="http://schemas.openxmlformats.org/drawingml/2006/main" xmlns:r="http://schemas.openxmlformats.org/officeDocument/2006/relationships" xmlns:p="http://schemas.openxmlformats.org/presentationml/2006/main">
  <p:tag name="DVSHAPEID" val="Ic5An59CuyvqaKYT0knCZc"/>
  <p:tag name="DVSHEQ" val="1547420037"/>
</p:tagLst>
</file>

<file path=ppt/tags/tag318.xml><?xml version="1.0" encoding="utf-8"?>
<p:tagLst xmlns:a="http://schemas.openxmlformats.org/drawingml/2006/main" xmlns:r="http://schemas.openxmlformats.org/officeDocument/2006/relationships" xmlns:p="http://schemas.openxmlformats.org/presentationml/2006/main">
  <p:tag name="DVSHAPEID" val="GVMWWYl8JKivYDhASa5yTo"/>
  <p:tag name="DVSHEQ" val="-1869445007"/>
</p:tagLst>
</file>

<file path=ppt/tags/tag319.xml><?xml version="1.0" encoding="utf-8"?>
<p:tagLst xmlns:a="http://schemas.openxmlformats.org/drawingml/2006/main" xmlns:r="http://schemas.openxmlformats.org/officeDocument/2006/relationships" xmlns:p="http://schemas.openxmlformats.org/presentationml/2006/main">
  <p:tag name="DVSHAPEID" val="jXc7pFJN4bFhrQC19LPT4O"/>
  <p:tag name="DVSHEQ" val="-1765941545"/>
</p:tagLst>
</file>

<file path=ppt/tags/tag320.xml><?xml version="1.0" encoding="utf-8"?>
<p:tagLst xmlns:a="http://schemas.openxmlformats.org/drawingml/2006/main" xmlns:r="http://schemas.openxmlformats.org/officeDocument/2006/relationships" xmlns:p="http://schemas.openxmlformats.org/presentationml/2006/main">
  <p:tag name="DVSHAPEID" val="tMtXAnDgnnnHCmHHaD6SqQ"/>
  <p:tag name="DVSHEQ" val="1943125680"/>
</p:tagLst>
</file>

<file path=ppt/tags/tag321.xml><?xml version="1.0" encoding="utf-8"?>
<p:tagLst xmlns:a="http://schemas.openxmlformats.org/drawingml/2006/main" xmlns:r="http://schemas.openxmlformats.org/officeDocument/2006/relationships" xmlns:p="http://schemas.openxmlformats.org/presentationml/2006/main">
  <p:tag name="DVSHAPEID" val="PBQz9SUTUsxajvuax907pM"/>
  <p:tag name="DVSHEQ" val="-1995152982"/>
</p:tagLst>
</file>

<file path=ppt/tags/tag322.xml><?xml version="1.0" encoding="utf-8"?>
<p:tagLst xmlns:a="http://schemas.openxmlformats.org/drawingml/2006/main" xmlns:r="http://schemas.openxmlformats.org/officeDocument/2006/relationships" xmlns:p="http://schemas.openxmlformats.org/presentationml/2006/main">
  <p:tag name="DVSHAPEID" val="ySMKzracY1H2QScJkG6CGN"/>
  <p:tag name="DVSHEQ" val="1406934657"/>
</p:tagLst>
</file>

<file path=ppt/tags/tag323.xml><?xml version="1.0" encoding="utf-8"?>
<p:tagLst xmlns:a="http://schemas.openxmlformats.org/drawingml/2006/main" xmlns:r="http://schemas.openxmlformats.org/officeDocument/2006/relationships" xmlns:p="http://schemas.openxmlformats.org/presentationml/2006/main">
  <p:tag name="DVSHAPEID" val="2aBu0SB3ks4o7y3FLTtMVY"/>
  <p:tag name="DVSHEQ" val="-1316108517"/>
</p:tagLst>
</file>

<file path=ppt/tags/tag324.xml><?xml version="1.0" encoding="utf-8"?>
<p:tagLst xmlns:a="http://schemas.openxmlformats.org/drawingml/2006/main" xmlns:r="http://schemas.openxmlformats.org/officeDocument/2006/relationships" xmlns:p="http://schemas.openxmlformats.org/presentationml/2006/main">
  <p:tag name="DVSHAPEID" val="J7U6Gg0HwmvLDAeEcfn78x"/>
  <p:tag name="DVSHEQ" val="-400400637"/>
</p:tagLst>
</file>

<file path=ppt/tags/tag325.xml><?xml version="1.0" encoding="utf-8"?>
<p:tagLst xmlns:a="http://schemas.openxmlformats.org/drawingml/2006/main" xmlns:r="http://schemas.openxmlformats.org/officeDocument/2006/relationships" xmlns:p="http://schemas.openxmlformats.org/presentationml/2006/main">
  <p:tag name="DVSHAPEID" val="gkd0VH9oaodLsn08eyPbDp"/>
  <p:tag name="DVSHEQ" val="-1258106306"/>
</p:tagLst>
</file>

<file path=ppt/tags/tag326.xml><?xml version="1.0" encoding="utf-8"?>
<p:tagLst xmlns:a="http://schemas.openxmlformats.org/drawingml/2006/main" xmlns:r="http://schemas.openxmlformats.org/officeDocument/2006/relationships" xmlns:p="http://schemas.openxmlformats.org/presentationml/2006/main">
  <p:tag name="DVSHAPEID" val="0SzdnSvcUslbRASFljy7c7"/>
  <p:tag name="DVSHEQ" val="1150971486"/>
</p:tagLst>
</file>

<file path=ppt/tags/tag327.xml><?xml version="1.0" encoding="utf-8"?>
<p:tagLst xmlns:a="http://schemas.openxmlformats.org/drawingml/2006/main" xmlns:r="http://schemas.openxmlformats.org/officeDocument/2006/relationships" xmlns:p="http://schemas.openxmlformats.org/presentationml/2006/main">
  <p:tag name="DVSHAPEID" val="rdrScjVyAojzvEcdyWe0hX"/>
  <p:tag name="DVSHEQ" val="-1581184852"/>
</p:tagLst>
</file>

<file path=ppt/tags/tag328.xml><?xml version="1.0" encoding="utf-8"?>
<p:tagLst xmlns:a="http://schemas.openxmlformats.org/drawingml/2006/main" xmlns:r="http://schemas.openxmlformats.org/officeDocument/2006/relationships" xmlns:p="http://schemas.openxmlformats.org/presentationml/2006/main">
  <p:tag name="DVSHAPEID" val="4UsSgXpQWamCEqLEql62Vw"/>
  <p:tag name="DVSHEQ" val="-1142231325"/>
</p:tagLst>
</file>

<file path=ppt/tags/tag329.xml><?xml version="1.0" encoding="utf-8"?>
<p:tagLst xmlns:a="http://schemas.openxmlformats.org/drawingml/2006/main" xmlns:r="http://schemas.openxmlformats.org/officeDocument/2006/relationships" xmlns:p="http://schemas.openxmlformats.org/presentationml/2006/main">
  <p:tag name="DVSHAPEID" val="PI11ykKorhamN6lQwxnGcI"/>
  <p:tag name="DVSHEQ" val="-2070604794"/>
</p:tagLst>
</file>

<file path=ppt/tags/tag330.xml><?xml version="1.0" encoding="utf-8"?>
<p:tagLst xmlns:a="http://schemas.openxmlformats.org/drawingml/2006/main" xmlns:r="http://schemas.openxmlformats.org/officeDocument/2006/relationships" xmlns:p="http://schemas.openxmlformats.org/presentationml/2006/main">
  <p:tag name="DVSHAPEID" val="lvCW57AtXhtmr9adASFk5e"/>
  <p:tag name="DVSHEQ" val="-1072611280"/>
</p:tagLst>
</file>

<file path=ppt/tags/tag331.xml><?xml version="1.0" encoding="utf-8"?>
<p:tagLst xmlns:a="http://schemas.openxmlformats.org/drawingml/2006/main" xmlns:r="http://schemas.openxmlformats.org/officeDocument/2006/relationships" xmlns:p="http://schemas.openxmlformats.org/presentationml/2006/main">
  <p:tag name="DVSHAPEID" val="MSg97lrWWv76nwoBfDOXjT"/>
  <p:tag name="DVSHEQ" val="2138757946"/>
</p:tagLst>
</file>

<file path=ppt/tags/tag332.xml><?xml version="1.0" encoding="utf-8"?>
<p:tagLst xmlns:a="http://schemas.openxmlformats.org/drawingml/2006/main" xmlns:r="http://schemas.openxmlformats.org/officeDocument/2006/relationships" xmlns:p="http://schemas.openxmlformats.org/presentationml/2006/main">
  <p:tag name="DVSHAPEID" val="SqEbGiWu1RD6IKGV0e21kY"/>
  <p:tag name="DVSHEQ" val="422144157"/>
</p:tagLst>
</file>

<file path=ppt/tags/tag333.xml><?xml version="1.0" encoding="utf-8"?>
<p:tagLst xmlns:a="http://schemas.openxmlformats.org/drawingml/2006/main" xmlns:r="http://schemas.openxmlformats.org/officeDocument/2006/relationships" xmlns:p="http://schemas.openxmlformats.org/presentationml/2006/main">
  <p:tag name="DVSHAPEID" val="ekMDOYD2w7UT0PvVF8Zsuf"/>
  <p:tag name="DVSHEQ" val="-1307714518"/>
</p:tagLst>
</file>

<file path=ppt/tags/tag334.xml><?xml version="1.0" encoding="utf-8"?>
<p:tagLst xmlns:a="http://schemas.openxmlformats.org/drawingml/2006/main" xmlns:r="http://schemas.openxmlformats.org/officeDocument/2006/relationships" xmlns:p="http://schemas.openxmlformats.org/presentationml/2006/main">
  <p:tag name="DVSHAPEID" val="tgNEVjDzVizUbjo2uXRZlw"/>
  <p:tag name="DVSHEQ" val="302733336"/>
</p:tagLst>
</file>

<file path=ppt/tags/tag335.xml><?xml version="1.0" encoding="utf-8"?>
<p:tagLst xmlns:a="http://schemas.openxmlformats.org/drawingml/2006/main" xmlns:r="http://schemas.openxmlformats.org/officeDocument/2006/relationships" xmlns:p="http://schemas.openxmlformats.org/presentationml/2006/main">
  <p:tag name="DVSHAPEID" val="cPKQp4zT2RtYRwQa2jpWcC"/>
  <p:tag name="DVSHEQ" val="656485407"/>
</p:tagLst>
</file>

<file path=ppt/tags/tag336.xml><?xml version="1.0" encoding="utf-8"?>
<p:tagLst xmlns:a="http://schemas.openxmlformats.org/drawingml/2006/main" xmlns:r="http://schemas.openxmlformats.org/officeDocument/2006/relationships" xmlns:p="http://schemas.openxmlformats.org/presentationml/2006/main">
  <p:tag name="DVSHAPEID" val="FhSce8dqJwwWf3fscXtkcj"/>
  <p:tag name="DVSHEQ" val="-1321583756"/>
</p:tagLst>
</file>

<file path=ppt/tags/tag337.xml><?xml version="1.0" encoding="utf-8"?>
<p:tagLst xmlns:a="http://schemas.openxmlformats.org/drawingml/2006/main" xmlns:r="http://schemas.openxmlformats.org/officeDocument/2006/relationships" xmlns:p="http://schemas.openxmlformats.org/presentationml/2006/main">
  <p:tag name="DVSECTIONID" val="OtNqe4r8RdkTIuhDJ7Ch9y"/>
</p:tagLst>
</file>

<file path=ppt/tags/tag338.xml><?xml version="1.0" encoding="utf-8"?>
<p:tagLst xmlns:a="http://schemas.openxmlformats.org/drawingml/2006/main" xmlns:r="http://schemas.openxmlformats.org/officeDocument/2006/relationships" xmlns:p="http://schemas.openxmlformats.org/presentationml/2006/main">
  <p:tag name="DVSHAPEID" val="rwwB88rxvQXixbiTzmT3vw"/>
  <p:tag name="DVSHEQ" val="-437253514"/>
</p:tagLst>
</file>

<file path=ppt/tags/tag339.xml><?xml version="1.0" encoding="utf-8"?>
<p:tagLst xmlns:a="http://schemas.openxmlformats.org/drawingml/2006/main" xmlns:r="http://schemas.openxmlformats.org/officeDocument/2006/relationships" xmlns:p="http://schemas.openxmlformats.org/presentationml/2006/main">
  <p:tag name="DVSHAPEID" val="fDI2oBRN1X7f2gTDWjGkIu"/>
  <p:tag name="DVSHEQ" val="-720458786"/>
</p:tagLst>
</file>

<file path=ppt/tags/tag340.xml><?xml version="1.0" encoding="utf-8"?>
<p:tagLst xmlns:a="http://schemas.openxmlformats.org/drawingml/2006/main" xmlns:r="http://schemas.openxmlformats.org/officeDocument/2006/relationships" xmlns:p="http://schemas.openxmlformats.org/presentationml/2006/main">
  <p:tag name="DVSHAPEID" val="VpX5lQygo52UhSS5KPFHP0"/>
  <p:tag name="DVSHEQ" val="-1765941545"/>
</p:tagLst>
</file>

<file path=ppt/tags/tag341.xml><?xml version="1.0" encoding="utf-8"?>
<p:tagLst xmlns:a="http://schemas.openxmlformats.org/drawingml/2006/main" xmlns:r="http://schemas.openxmlformats.org/officeDocument/2006/relationships" xmlns:p="http://schemas.openxmlformats.org/presentationml/2006/main">
  <p:tag name="DVSHAPEID" val="ah91ZWqAnbOLIi5ig1fLz1"/>
  <p:tag name="DVSHEQ" val="1054588592"/>
</p:tagLst>
</file>

<file path=ppt/tags/tag342.xml><?xml version="1.0" encoding="utf-8"?>
<p:tagLst xmlns:a="http://schemas.openxmlformats.org/drawingml/2006/main" xmlns:r="http://schemas.openxmlformats.org/officeDocument/2006/relationships" xmlns:p="http://schemas.openxmlformats.org/presentationml/2006/main">
  <p:tag name="DVSHAPEID" val="Jk6jUmxK6NknrmBGDPwekD"/>
  <p:tag name="DVSHEQ" val="815965427"/>
</p:tagLst>
</file>

<file path=ppt/tags/tag343.xml><?xml version="1.0" encoding="utf-8"?>
<p:tagLst xmlns:a="http://schemas.openxmlformats.org/drawingml/2006/main" xmlns:r="http://schemas.openxmlformats.org/officeDocument/2006/relationships" xmlns:p="http://schemas.openxmlformats.org/presentationml/2006/main">
  <p:tag name="DVSECTIONID" val="tDpYVq3NyoUmXjtltKXvQ5"/>
</p:tagLst>
</file>

<file path=ppt/tags/tag344.xml><?xml version="1.0" encoding="utf-8"?>
<p:tagLst xmlns:a="http://schemas.openxmlformats.org/drawingml/2006/main" xmlns:r="http://schemas.openxmlformats.org/officeDocument/2006/relationships" xmlns:p="http://schemas.openxmlformats.org/presentationml/2006/main">
  <p:tag name="DVSHAPEID" val="vQVfEajMsVunrOViCZtV7j"/>
  <p:tag name="DVSHEQ" val="235155835"/>
</p:tagLst>
</file>

<file path=ppt/tags/tag345.xml><?xml version="1.0" encoding="utf-8"?>
<p:tagLst xmlns:a="http://schemas.openxmlformats.org/drawingml/2006/main" xmlns:r="http://schemas.openxmlformats.org/officeDocument/2006/relationships" xmlns:p="http://schemas.openxmlformats.org/presentationml/2006/main">
  <p:tag name="DVSHAPEID" val="2aBu0SB3ks4o7y3FLTtMVY"/>
  <p:tag name="DVSHEQ" val="1545995464"/>
</p:tagLst>
</file>

<file path=ppt/tags/tag346.xml><?xml version="1.0" encoding="utf-8"?>
<p:tagLst xmlns:a="http://schemas.openxmlformats.org/drawingml/2006/main" xmlns:r="http://schemas.openxmlformats.org/officeDocument/2006/relationships" xmlns:p="http://schemas.openxmlformats.org/presentationml/2006/main">
  <p:tag name="DVSHAPEID" val="SASFpa7Y1VYbOLDa9rboA1"/>
  <p:tag name="DVSHEQ" val="-1765941545"/>
</p:tagLst>
</file>

<file path=ppt/tags/tag347.xml><?xml version="1.0" encoding="utf-8"?>
<p:tagLst xmlns:a="http://schemas.openxmlformats.org/drawingml/2006/main" xmlns:r="http://schemas.openxmlformats.org/officeDocument/2006/relationships" xmlns:p="http://schemas.openxmlformats.org/presentationml/2006/main">
  <p:tag name="DVSHAPEID" val="j2GmfXdArkn3i1ClsrWlr8"/>
  <p:tag name="DVSHEQ" val="-549405008"/>
</p:tagLst>
</file>

<file path=ppt/tags/tag348.xml><?xml version="1.0" encoding="utf-8"?>
<p:tagLst xmlns:a="http://schemas.openxmlformats.org/drawingml/2006/main" xmlns:r="http://schemas.openxmlformats.org/officeDocument/2006/relationships" xmlns:p="http://schemas.openxmlformats.org/presentationml/2006/main">
  <p:tag name="DVSECTIONID" val="OgdVGKin2yLeMsOrExRhes"/>
</p:tagLst>
</file>

<file path=ppt/tags/tag349.xml><?xml version="1.0" encoding="utf-8"?>
<p:tagLst xmlns:a="http://schemas.openxmlformats.org/drawingml/2006/main" xmlns:r="http://schemas.openxmlformats.org/officeDocument/2006/relationships" xmlns:p="http://schemas.openxmlformats.org/presentationml/2006/main">
  <p:tag name="DVSHAPEID" val="PsRFzt0GY5BJ9PDkBGrVKT"/>
  <p:tag name="DVSHEQ" val="-1765941545"/>
</p:tagLst>
</file>

<file path=ppt/tags/tag350.xml><?xml version="1.0" encoding="utf-8"?>
<p:tagLst xmlns:a="http://schemas.openxmlformats.org/drawingml/2006/main" xmlns:r="http://schemas.openxmlformats.org/officeDocument/2006/relationships" xmlns:p="http://schemas.openxmlformats.org/presentationml/2006/main">
  <p:tag name="DVSHAPEID" val="IdydiIgp2EnrskTgvCzSC2"/>
  <p:tag name="DVSHEQ" val="1188937392"/>
</p:tagLst>
</file>

<file path=ppt/tags/tag351.xml><?xml version="1.0" encoding="utf-8"?>
<p:tagLst xmlns:a="http://schemas.openxmlformats.org/drawingml/2006/main" xmlns:r="http://schemas.openxmlformats.org/officeDocument/2006/relationships" xmlns:p="http://schemas.openxmlformats.org/presentationml/2006/main">
  <p:tag name="DVSHAPEID" val="jYIvugb82GMVJD6lbhpy2X"/>
  <p:tag name="DVSHEQ" val="1586394242"/>
</p:tagLst>
</file>

<file path=ppt/tags/tag352.xml><?xml version="1.0" encoding="utf-8"?>
<p:tagLst xmlns:a="http://schemas.openxmlformats.org/drawingml/2006/main" xmlns:r="http://schemas.openxmlformats.org/officeDocument/2006/relationships" xmlns:p="http://schemas.openxmlformats.org/presentationml/2006/main">
  <p:tag name="DVSHAPEID" val="mHmirkbPlRhGUzvNd0eUBG"/>
  <p:tag name="DVSHEQ" val="670802247"/>
</p:tagLst>
</file>

<file path=ppt/tags/tag353.xml><?xml version="1.0" encoding="utf-8"?>
<p:tagLst xmlns:a="http://schemas.openxmlformats.org/drawingml/2006/main" xmlns:r="http://schemas.openxmlformats.org/officeDocument/2006/relationships" xmlns:p="http://schemas.openxmlformats.org/presentationml/2006/main">
  <p:tag name="DVSECTIONID" val="NKsCxOZJsfAaBJCXUBQpKQ"/>
</p:tagLst>
</file>

<file path=ppt/tags/tag354.xml><?xml version="1.0" encoding="utf-8"?>
<p:tagLst xmlns:a="http://schemas.openxmlformats.org/drawingml/2006/main" xmlns:r="http://schemas.openxmlformats.org/officeDocument/2006/relationships" xmlns:p="http://schemas.openxmlformats.org/presentationml/2006/main">
  <p:tag name="DVSHAPEID" val="rSj5Ca69aes6EZ2zgDlbRO"/>
  <p:tag name="DVSHEQ" val="-1207236109"/>
</p:tagLst>
</file>

<file path=ppt/tags/tag355.xml><?xml version="1.0" encoding="utf-8"?>
<p:tagLst xmlns:a="http://schemas.openxmlformats.org/drawingml/2006/main" xmlns:r="http://schemas.openxmlformats.org/officeDocument/2006/relationships" xmlns:p="http://schemas.openxmlformats.org/presentationml/2006/main">
  <p:tag name="DVSHAPEID" val="GrKMlpwLAZFN8ZPp3U2Q48"/>
  <p:tag name="DVSHEQ" val="-1328330186"/>
</p:tagLst>
</file>

<file path=ppt/tags/tag356.xml><?xml version="1.0" encoding="utf-8"?>
<p:tagLst xmlns:a="http://schemas.openxmlformats.org/drawingml/2006/main" xmlns:r="http://schemas.openxmlformats.org/officeDocument/2006/relationships" xmlns:p="http://schemas.openxmlformats.org/presentationml/2006/main">
  <p:tag name="DVSHAPEID" val="vOBC7uyVnTLxbFy5YywqpB"/>
  <p:tag name="DVSHEQ" val="-1765941545"/>
</p:tagLst>
</file>

<file path=ppt/tags/tag357.xml><?xml version="1.0" encoding="utf-8"?>
<p:tagLst xmlns:a="http://schemas.openxmlformats.org/drawingml/2006/main" xmlns:r="http://schemas.openxmlformats.org/officeDocument/2006/relationships" xmlns:p="http://schemas.openxmlformats.org/presentationml/2006/main">
  <p:tag name="DVSHAPEID" val="UbVOyirsDotFApENPKBEGZ"/>
  <p:tag name="DVSHEQ" val="2122053011"/>
</p:tagLst>
</file>

<file path=ppt/tags/tag358.xml><?xml version="1.0" encoding="utf-8"?>
<p:tagLst xmlns:a="http://schemas.openxmlformats.org/drawingml/2006/main" xmlns:r="http://schemas.openxmlformats.org/officeDocument/2006/relationships" xmlns:p="http://schemas.openxmlformats.org/presentationml/2006/main">
  <p:tag name="DVSHAPEID" val="mHmirkbPlRhGUzvNd0eUBG"/>
  <p:tag name="DVSHEQ" val="-2008376734"/>
</p:tagLst>
</file>

<file path=ppt/tags/tag359.xml><?xml version="1.0" encoding="utf-8"?>
<p:tagLst xmlns:a="http://schemas.openxmlformats.org/drawingml/2006/main" xmlns:r="http://schemas.openxmlformats.org/officeDocument/2006/relationships" xmlns:p="http://schemas.openxmlformats.org/presentationml/2006/main">
  <p:tag name="DVSHAPEID" val="UpoLzsdAFJFvXjzqrfUiCO"/>
  <p:tag name="DVSHEQ" val="289267024"/>
</p:tagLst>
</file>

<file path=ppt/tags/tag360.xml><?xml version="1.0" encoding="utf-8"?>
<p:tagLst xmlns:a="http://schemas.openxmlformats.org/drawingml/2006/main" xmlns:r="http://schemas.openxmlformats.org/officeDocument/2006/relationships" xmlns:p="http://schemas.openxmlformats.org/presentationml/2006/main">
  <p:tag name="DVSECTIONID" val="LMJG6I0kkFmvaccHVKZYn8"/>
</p:tagLst>
</file>

<file path=ppt/tags/tag361.xml><?xml version="1.0" encoding="utf-8"?>
<p:tagLst xmlns:a="http://schemas.openxmlformats.org/drawingml/2006/main" xmlns:r="http://schemas.openxmlformats.org/officeDocument/2006/relationships" xmlns:p="http://schemas.openxmlformats.org/presentationml/2006/main">
  <p:tag name="DVSHAPEID" val="ZnTbZLn8xljapuGuQouxAM"/>
  <p:tag name="DVSHEQ" val="-1523392871"/>
</p:tagLst>
</file>

<file path=ppt/tags/tag362.xml><?xml version="1.0" encoding="utf-8"?>
<p:tagLst xmlns:a="http://schemas.openxmlformats.org/drawingml/2006/main" xmlns:r="http://schemas.openxmlformats.org/officeDocument/2006/relationships" xmlns:p="http://schemas.openxmlformats.org/presentationml/2006/main">
  <p:tag name="DVSHAPEID" val="rSj5Ca69aes6EZ2zgDlbRO"/>
  <p:tag name="DVSHEQ" val="-1207236109"/>
</p:tagLst>
</file>

<file path=ppt/tags/tag363.xml><?xml version="1.0" encoding="utf-8"?>
<p:tagLst xmlns:a="http://schemas.openxmlformats.org/drawingml/2006/main" xmlns:r="http://schemas.openxmlformats.org/officeDocument/2006/relationships" xmlns:p="http://schemas.openxmlformats.org/presentationml/2006/main">
  <p:tag name="DVSHAPEID" val="GrKMlpwLAZFN8ZPp3U2Q48"/>
  <p:tag name="DVSHEQ" val="-1328330186"/>
</p:tagLst>
</file>

<file path=ppt/tags/tag364.xml><?xml version="1.0" encoding="utf-8"?>
<p:tagLst xmlns:a="http://schemas.openxmlformats.org/drawingml/2006/main" xmlns:r="http://schemas.openxmlformats.org/officeDocument/2006/relationships" xmlns:p="http://schemas.openxmlformats.org/presentationml/2006/main">
  <p:tag name="DVSHAPEID" val="vOBC7uyVnTLxbFy5YywqpB"/>
  <p:tag name="DVSHEQ" val="-1765941545"/>
</p:tagLst>
</file>

<file path=ppt/tags/tag365.xml><?xml version="1.0" encoding="utf-8"?>
<p:tagLst xmlns:a="http://schemas.openxmlformats.org/drawingml/2006/main" xmlns:r="http://schemas.openxmlformats.org/officeDocument/2006/relationships" xmlns:p="http://schemas.openxmlformats.org/presentationml/2006/main">
  <p:tag name="DVSHAPEID" val="UbVOyirsDotFApENPKBEGZ"/>
  <p:tag name="DVSHEQ" val="-1677134445"/>
</p:tagLst>
</file>

<file path=ppt/tags/tag366.xml><?xml version="1.0" encoding="utf-8"?>
<p:tagLst xmlns:a="http://schemas.openxmlformats.org/drawingml/2006/main" xmlns:r="http://schemas.openxmlformats.org/officeDocument/2006/relationships" xmlns:p="http://schemas.openxmlformats.org/presentationml/2006/main">
  <p:tag name="DVSHAPEID" val="gRHGqwV3u78iAhZip2JKEY"/>
  <p:tag name="DVSHEQ" val="1529849315"/>
</p:tagLst>
</file>

<file path=ppt/tags/tag367.xml><?xml version="1.0" encoding="utf-8"?>
<p:tagLst xmlns:a="http://schemas.openxmlformats.org/drawingml/2006/main" xmlns:r="http://schemas.openxmlformats.org/officeDocument/2006/relationships" xmlns:p="http://schemas.openxmlformats.org/presentationml/2006/main">
  <p:tag name="DVSHAPEID" val="UpoLzsdAFJFvXjzqrfUiCO"/>
  <p:tag name="DVSHEQ" val="289267024"/>
</p:tagLst>
</file>

<file path=ppt/tags/tag368.xml><?xml version="1.0" encoding="utf-8"?>
<p:tagLst xmlns:a="http://schemas.openxmlformats.org/drawingml/2006/main" xmlns:r="http://schemas.openxmlformats.org/officeDocument/2006/relationships" xmlns:p="http://schemas.openxmlformats.org/presentationml/2006/main">
  <p:tag name="DVSHAPEID" val="FmaLadYnJfyXx9K6aI0pKS"/>
  <p:tag name="DVSHEQ" val="648651788"/>
</p:tagLst>
</file>

<file path=ppt/tags/tag369.xml><?xml version="1.0" encoding="utf-8"?>
<p:tagLst xmlns:a="http://schemas.openxmlformats.org/drawingml/2006/main" xmlns:r="http://schemas.openxmlformats.org/officeDocument/2006/relationships" xmlns:p="http://schemas.openxmlformats.org/presentationml/2006/main">
  <p:tag name="DVSHAPEID" val="aynu77H6se4sLgXsBHIHEF"/>
  <p:tag name="DVSHEQ" val="334234949"/>
</p:tagLst>
</file>

<file path=ppt/tags/tag370.xml><?xml version="1.0" encoding="utf-8"?>
<p:tagLst xmlns:a="http://schemas.openxmlformats.org/drawingml/2006/main" xmlns:r="http://schemas.openxmlformats.org/officeDocument/2006/relationships" xmlns:p="http://schemas.openxmlformats.org/presentationml/2006/main">
  <p:tag name="DVSHAPEID" val="mHmirkbPlRhGUzvNd0eUBG"/>
  <p:tag name="DVSHEQ" val="-2008376734"/>
</p:tagLst>
</file>

<file path=ppt/tags/tag371.xml><?xml version="1.0" encoding="utf-8"?>
<p:tagLst xmlns:a="http://schemas.openxmlformats.org/drawingml/2006/main" xmlns:r="http://schemas.openxmlformats.org/officeDocument/2006/relationships" xmlns:p="http://schemas.openxmlformats.org/presentationml/2006/main">
  <p:tag name="DVSECTIONID" val="yikYdd7jCl3jH6kTBEanID"/>
</p:tagLst>
</file>

<file path=ppt/tags/tag372.xml><?xml version="1.0" encoding="utf-8"?>
<p:tagLst xmlns:a="http://schemas.openxmlformats.org/drawingml/2006/main" xmlns:r="http://schemas.openxmlformats.org/officeDocument/2006/relationships" xmlns:p="http://schemas.openxmlformats.org/presentationml/2006/main">
  <p:tag name="DVSHAPEID" val="Q6qy82rpahRtfboFB8yNoS"/>
  <p:tag name="DVSHEQ" val="1499682007"/>
</p:tagLst>
</file>

<file path=ppt/tags/tag373.xml><?xml version="1.0" encoding="utf-8"?>
<p:tagLst xmlns:a="http://schemas.openxmlformats.org/drawingml/2006/main" xmlns:r="http://schemas.openxmlformats.org/officeDocument/2006/relationships" xmlns:p="http://schemas.openxmlformats.org/presentationml/2006/main">
  <p:tag name="DVSHAPEID" val="XkskxHW255jDMfHAi4OzVP"/>
  <p:tag name="DVSHEQ" val="484263550"/>
</p:tagLst>
</file>

<file path=ppt/tags/tag374.xml><?xml version="1.0" encoding="utf-8"?>
<p:tagLst xmlns:a="http://schemas.openxmlformats.org/drawingml/2006/main" xmlns:r="http://schemas.openxmlformats.org/officeDocument/2006/relationships" xmlns:p="http://schemas.openxmlformats.org/presentationml/2006/main">
  <p:tag name="DVSHAPEID" val="X9H67HyqthIX866OvKs7bL"/>
  <p:tag name="DVSHEQ" val="-1765941545"/>
</p:tagLst>
</file>

<file path=ppt/tags/tag375.xml><?xml version="1.0" encoding="utf-8"?>
<p:tagLst xmlns:a="http://schemas.openxmlformats.org/drawingml/2006/main" xmlns:r="http://schemas.openxmlformats.org/officeDocument/2006/relationships" xmlns:p="http://schemas.openxmlformats.org/presentationml/2006/main">
  <p:tag name="DVSHAPEID" val="aCo8X1PuZPW8mjCqzfuFC1"/>
  <p:tag name="DVSHEQ" val="529849025"/>
</p:tagLst>
</file>

<file path=ppt/tags/tag376.xml><?xml version="1.0" encoding="utf-8"?>
<p:tagLst xmlns:a="http://schemas.openxmlformats.org/drawingml/2006/main" xmlns:r="http://schemas.openxmlformats.org/officeDocument/2006/relationships" xmlns:p="http://schemas.openxmlformats.org/presentationml/2006/main">
  <p:tag name="DVSECTIONID" val="C4EgRH7kMEcxCT5WE60tUp"/>
</p:tagLst>
</file>

<file path=ppt/tags/tag377.xml><?xml version="1.0" encoding="utf-8"?>
<p:tagLst xmlns:a="http://schemas.openxmlformats.org/drawingml/2006/main" xmlns:r="http://schemas.openxmlformats.org/officeDocument/2006/relationships" xmlns:p="http://schemas.openxmlformats.org/presentationml/2006/main">
  <p:tag name="DVSHAPEID" val="aEpCupZAdtHRcCJIQgVafq"/>
  <p:tag name="DVSHEQ" val="1583336865"/>
</p:tagLst>
</file>

<file path=ppt/tags/tag378.xml><?xml version="1.0" encoding="utf-8"?>
<p:tagLst xmlns:a="http://schemas.openxmlformats.org/drawingml/2006/main" xmlns:r="http://schemas.openxmlformats.org/officeDocument/2006/relationships" xmlns:p="http://schemas.openxmlformats.org/presentationml/2006/main">
  <p:tag name="DVSHAPEID" val="llK2mYcIBSAoomLKMGXLBW"/>
  <p:tag name="DVSHEQ" val="803422864"/>
</p:tagLst>
</file>

<file path=ppt/tags/tag379.xml><?xml version="1.0" encoding="utf-8"?>
<p:tagLst xmlns:a="http://schemas.openxmlformats.org/drawingml/2006/main" xmlns:r="http://schemas.openxmlformats.org/officeDocument/2006/relationships" xmlns:p="http://schemas.openxmlformats.org/presentationml/2006/main">
  <p:tag name="DVSHAPEID" val="XevIbUkkv8NombelvnrBMV"/>
  <p:tag name="DVSHEQ" val="-1765941545"/>
</p:tagLst>
</file>

<file path=ppt/tags/tag380.xml><?xml version="1.0" encoding="utf-8"?>
<p:tagLst xmlns:a="http://schemas.openxmlformats.org/drawingml/2006/main" xmlns:r="http://schemas.openxmlformats.org/officeDocument/2006/relationships" xmlns:p="http://schemas.openxmlformats.org/presentationml/2006/main">
  <p:tag name="DVSHAPEID" val="abDseYkODxTFCAuKDmFL85"/>
  <p:tag name="DVSHEQ" val="-1124403821"/>
</p:tagLst>
</file>

<file path=ppt/tags/tag381.xml><?xml version="1.0" encoding="utf-8"?>
<p:tagLst xmlns:a="http://schemas.openxmlformats.org/drawingml/2006/main" xmlns:r="http://schemas.openxmlformats.org/officeDocument/2006/relationships" xmlns:p="http://schemas.openxmlformats.org/presentationml/2006/main">
  <p:tag name="DVSHAPEID" val="PeMeIJhdXzeWsej6cS80gw"/>
  <p:tag name="DVSHEQ" val="-264368252"/>
</p:tagLst>
</file>

<file path=ppt/tags/tag382.xml><?xml version="1.0" encoding="utf-8"?>
<p:tagLst xmlns:a="http://schemas.openxmlformats.org/drawingml/2006/main" xmlns:r="http://schemas.openxmlformats.org/officeDocument/2006/relationships" xmlns:p="http://schemas.openxmlformats.org/presentationml/2006/main">
  <p:tag name="DVSHAPEID" val="ll6AAy3z10tJfz4s6xBD1V"/>
  <p:tag name="DVSHEQ" val="1676687991"/>
</p:tagLst>
</file>

<file path=ppt/tags/tag383.xml><?xml version="1.0" encoding="utf-8"?>
<p:tagLst xmlns:a="http://schemas.openxmlformats.org/drawingml/2006/main" xmlns:r="http://schemas.openxmlformats.org/officeDocument/2006/relationships" xmlns:p="http://schemas.openxmlformats.org/presentationml/2006/main">
  <p:tag name="DVSECTIONID" val="bmiTlRmi2SqUfS2JjaT5An"/>
</p:tagLst>
</file>

<file path=ppt/tags/tag384.xml><?xml version="1.0" encoding="utf-8"?>
<p:tagLst xmlns:a="http://schemas.openxmlformats.org/drawingml/2006/main" xmlns:r="http://schemas.openxmlformats.org/officeDocument/2006/relationships" xmlns:p="http://schemas.openxmlformats.org/presentationml/2006/main">
  <p:tag name="DVSHAPEID" val="aEpCupZAdtHRcCJIQgVafq"/>
  <p:tag name="DVSHEQ" val="-946436343"/>
</p:tagLst>
</file>

<file path=ppt/tags/tag385.xml><?xml version="1.0" encoding="utf-8"?>
<p:tagLst xmlns:a="http://schemas.openxmlformats.org/drawingml/2006/main" xmlns:r="http://schemas.openxmlformats.org/officeDocument/2006/relationships" xmlns:p="http://schemas.openxmlformats.org/presentationml/2006/main">
  <p:tag name="DVSHAPEID" val="llK2mYcIBSAoomLKMGXLBW"/>
  <p:tag name="DVSHEQ" val="803422864"/>
</p:tagLst>
</file>

<file path=ppt/tags/tag386.xml><?xml version="1.0" encoding="utf-8"?>
<p:tagLst xmlns:a="http://schemas.openxmlformats.org/drawingml/2006/main" xmlns:r="http://schemas.openxmlformats.org/officeDocument/2006/relationships" xmlns:p="http://schemas.openxmlformats.org/presentationml/2006/main">
  <p:tag name="DVSHAPEID" val="XevIbUkkv8NombelvnrBMV"/>
  <p:tag name="DVSHEQ" val="-1765941545"/>
</p:tagLst>
</file>

<file path=ppt/tags/tag387.xml><?xml version="1.0" encoding="utf-8"?>
<p:tagLst xmlns:a="http://schemas.openxmlformats.org/drawingml/2006/main" xmlns:r="http://schemas.openxmlformats.org/officeDocument/2006/relationships" xmlns:p="http://schemas.openxmlformats.org/presentationml/2006/main">
  <p:tag name="DVSHAPEID" val="abDseYkODxTFCAuKDmFL85"/>
  <p:tag name="DVSHEQ" val="-128453229"/>
</p:tagLst>
</file>

<file path=ppt/tags/tag388.xml><?xml version="1.0" encoding="utf-8"?>
<p:tagLst xmlns:a="http://schemas.openxmlformats.org/drawingml/2006/main" xmlns:r="http://schemas.openxmlformats.org/officeDocument/2006/relationships" xmlns:p="http://schemas.openxmlformats.org/presentationml/2006/main">
  <p:tag name="DVSHAPEID" val="PeMeIJhdXzeWsej6cS80gw"/>
  <p:tag name="DVSHEQ" val="-264368252"/>
</p:tagLst>
</file>

<file path=ppt/tags/tag389.xml><?xml version="1.0" encoding="utf-8"?>
<p:tagLst xmlns:a="http://schemas.openxmlformats.org/drawingml/2006/main" xmlns:r="http://schemas.openxmlformats.org/officeDocument/2006/relationships" xmlns:p="http://schemas.openxmlformats.org/presentationml/2006/main">
  <p:tag name="DVSHAPEID" val="ll6AAy3z10tJfz4s6xBD1V"/>
  <p:tag name="DVSHEQ" val="1676687991"/>
</p:tagLst>
</file>

<file path=ppt/tags/tag390.xml><?xml version="1.0" encoding="utf-8"?>
<p:tagLst xmlns:a="http://schemas.openxmlformats.org/drawingml/2006/main" xmlns:r="http://schemas.openxmlformats.org/officeDocument/2006/relationships" xmlns:p="http://schemas.openxmlformats.org/presentationml/2006/main">
  <p:tag name="DVSECTIONID" val="25iSAxcBXbcHq7GU5HbS5R"/>
</p:tagLst>
</file>

<file path=ppt/tags/tag391.xml><?xml version="1.0" encoding="utf-8"?>
<p:tagLst xmlns:a="http://schemas.openxmlformats.org/drawingml/2006/main" xmlns:r="http://schemas.openxmlformats.org/officeDocument/2006/relationships" xmlns:p="http://schemas.openxmlformats.org/presentationml/2006/main">
  <p:tag name="DVSHAPEID" val="aEpCupZAdtHRcCJIQgVafq"/>
  <p:tag name="DVSHEQ" val="790753841"/>
</p:tagLst>
</file>

<file path=ppt/tags/tag392.xml><?xml version="1.0" encoding="utf-8"?>
<p:tagLst xmlns:a="http://schemas.openxmlformats.org/drawingml/2006/main" xmlns:r="http://schemas.openxmlformats.org/officeDocument/2006/relationships" xmlns:p="http://schemas.openxmlformats.org/presentationml/2006/main">
  <p:tag name="DVSHAPEID" val="llK2mYcIBSAoomLKMGXLBW"/>
  <p:tag name="DVSHEQ" val="803422864"/>
</p:tagLst>
</file>

<file path=ppt/tags/tag393.xml><?xml version="1.0" encoding="utf-8"?>
<p:tagLst xmlns:a="http://schemas.openxmlformats.org/drawingml/2006/main" xmlns:r="http://schemas.openxmlformats.org/officeDocument/2006/relationships" xmlns:p="http://schemas.openxmlformats.org/presentationml/2006/main">
  <p:tag name="DVSHAPEID" val="XevIbUkkv8NombelvnrBMV"/>
  <p:tag name="DVSHEQ" val="-1765941545"/>
</p:tagLst>
</file>

<file path=ppt/tags/tag394.xml><?xml version="1.0" encoding="utf-8"?>
<p:tagLst xmlns:a="http://schemas.openxmlformats.org/drawingml/2006/main" xmlns:r="http://schemas.openxmlformats.org/officeDocument/2006/relationships" xmlns:p="http://schemas.openxmlformats.org/presentationml/2006/main">
  <p:tag name="DVSHAPEID" val="abDseYkODxTFCAuKDmFL85"/>
  <p:tag name="DVSHEQ" val="-1741359725"/>
</p:tagLst>
</file>

<file path=ppt/tags/tag395.xml><?xml version="1.0" encoding="utf-8"?>
<p:tagLst xmlns:a="http://schemas.openxmlformats.org/drawingml/2006/main" xmlns:r="http://schemas.openxmlformats.org/officeDocument/2006/relationships" xmlns:p="http://schemas.openxmlformats.org/presentationml/2006/main">
  <p:tag name="DVSHAPEID" val="PeMeIJhdXzeWsej6cS80gw"/>
  <p:tag name="DVSHEQ" val="-264368252"/>
</p:tagLst>
</file>

<file path=ppt/tags/tag396.xml><?xml version="1.0" encoding="utf-8"?>
<p:tagLst xmlns:a="http://schemas.openxmlformats.org/drawingml/2006/main" xmlns:r="http://schemas.openxmlformats.org/officeDocument/2006/relationships" xmlns:p="http://schemas.openxmlformats.org/presentationml/2006/main">
  <p:tag name="DVSHAPEID" val="ll6AAy3z10tJfz4s6xBD1V"/>
  <p:tag name="DVSHEQ" val="1676687991"/>
</p:tagLst>
</file>

<file path=ppt/tags/tag397.xml><?xml version="1.0" encoding="utf-8"?>
<p:tagLst xmlns:a="http://schemas.openxmlformats.org/drawingml/2006/main" xmlns:r="http://schemas.openxmlformats.org/officeDocument/2006/relationships" xmlns:p="http://schemas.openxmlformats.org/presentationml/2006/main">
  <p:tag name="DVSECTIONID" val="pNtvU3ku4IBsrGljhAQrW6"/>
</p:tagLst>
</file>

<file path=ppt/tags/tag398.xml><?xml version="1.0" encoding="utf-8"?>
<p:tagLst xmlns:a="http://schemas.openxmlformats.org/drawingml/2006/main" xmlns:r="http://schemas.openxmlformats.org/officeDocument/2006/relationships" xmlns:p="http://schemas.openxmlformats.org/presentationml/2006/main">
  <p:tag name="DVSHAPEID" val="aEpCupZAdtHRcCJIQgVafq"/>
  <p:tag name="DVSHEQ" val="1646298937"/>
</p:tagLst>
</file>

<file path=ppt/tags/tag399.xml><?xml version="1.0" encoding="utf-8"?>
<p:tagLst xmlns:a="http://schemas.openxmlformats.org/drawingml/2006/main" xmlns:r="http://schemas.openxmlformats.org/officeDocument/2006/relationships" xmlns:p="http://schemas.openxmlformats.org/presentationml/2006/main">
  <p:tag name="DVSHAPEID" val="llK2mYcIBSAoomLKMGXLBW"/>
  <p:tag name="DVSHEQ" val="803422864"/>
</p:tagLst>
</file>

<file path=ppt/tags/tag400.xml><?xml version="1.0" encoding="utf-8"?>
<p:tagLst xmlns:a="http://schemas.openxmlformats.org/drawingml/2006/main" xmlns:r="http://schemas.openxmlformats.org/officeDocument/2006/relationships" xmlns:p="http://schemas.openxmlformats.org/presentationml/2006/main">
  <p:tag name="DVSHAPEID" val="XevIbUkkv8NombelvnrBMV"/>
  <p:tag name="DVSHEQ" val="-1765941545"/>
</p:tagLst>
</file>

<file path=ppt/tags/tag401.xml><?xml version="1.0" encoding="utf-8"?>
<p:tagLst xmlns:a="http://schemas.openxmlformats.org/drawingml/2006/main" xmlns:r="http://schemas.openxmlformats.org/officeDocument/2006/relationships" xmlns:p="http://schemas.openxmlformats.org/presentationml/2006/main">
  <p:tag name="DVSHAPEID" val="abDseYkODxTFCAuKDmFL85"/>
  <p:tag name="DVSHEQ" val="-1780877933"/>
</p:tagLst>
</file>

<file path=ppt/tags/tag402.xml><?xml version="1.0" encoding="utf-8"?>
<p:tagLst xmlns:a="http://schemas.openxmlformats.org/drawingml/2006/main" xmlns:r="http://schemas.openxmlformats.org/officeDocument/2006/relationships" xmlns:p="http://schemas.openxmlformats.org/presentationml/2006/main">
  <p:tag name="DVSHAPEID" val="PeMeIJhdXzeWsej6cS80gw"/>
  <p:tag name="DVSHEQ" val="-264368252"/>
</p:tagLst>
</file>

<file path=ppt/tags/tag403.xml><?xml version="1.0" encoding="utf-8"?>
<p:tagLst xmlns:a="http://schemas.openxmlformats.org/drawingml/2006/main" xmlns:r="http://schemas.openxmlformats.org/officeDocument/2006/relationships" xmlns:p="http://schemas.openxmlformats.org/presentationml/2006/main">
  <p:tag name="DVSHAPEID" val="ll6AAy3z10tJfz4s6xBD1V"/>
  <p:tag name="DVSHEQ" val="1676687991"/>
</p:tagLst>
</file>

<file path=ppt/tags/tag404.xml><?xml version="1.0" encoding="utf-8"?>
<p:tagLst xmlns:a="http://schemas.openxmlformats.org/drawingml/2006/main" xmlns:r="http://schemas.openxmlformats.org/officeDocument/2006/relationships" xmlns:p="http://schemas.openxmlformats.org/presentationml/2006/main">
  <p:tag name="DVSECTIONID" val="pNtvU3ku4IBsrGljhAQrW6"/>
</p:tagLst>
</file>

<file path=ppt/tags/tag405.xml><?xml version="1.0" encoding="utf-8"?>
<p:tagLst xmlns:a="http://schemas.openxmlformats.org/drawingml/2006/main" xmlns:r="http://schemas.openxmlformats.org/officeDocument/2006/relationships" xmlns:p="http://schemas.openxmlformats.org/presentationml/2006/main">
  <p:tag name="DVSHAPEID" val="aEpCupZAdtHRcCJIQgVafq"/>
  <p:tag name="DVSHEQ" val="1646298937"/>
</p:tagLst>
</file>

<file path=ppt/tags/tag406.xml><?xml version="1.0" encoding="utf-8"?>
<p:tagLst xmlns:a="http://schemas.openxmlformats.org/drawingml/2006/main" xmlns:r="http://schemas.openxmlformats.org/officeDocument/2006/relationships" xmlns:p="http://schemas.openxmlformats.org/presentationml/2006/main">
  <p:tag name="DVSHAPEID" val="llK2mYcIBSAoomLKMGXLBW"/>
  <p:tag name="DVSHEQ" val="803422864"/>
</p:tagLst>
</file>

<file path=ppt/tags/tag407.xml><?xml version="1.0" encoding="utf-8"?>
<p:tagLst xmlns:a="http://schemas.openxmlformats.org/drawingml/2006/main" xmlns:r="http://schemas.openxmlformats.org/officeDocument/2006/relationships" xmlns:p="http://schemas.openxmlformats.org/presentationml/2006/main">
  <p:tag name="DVSHAPEID" val="ZzO0tPgZ5EdcJivOl8833k"/>
  <p:tag name="DVSHEQ" val="-1607998031"/>
</p:tagLst>
</file>

<file path=ppt/tags/tag408.xml><?xml version="1.0" encoding="utf-8"?>
<p:tagLst xmlns:a="http://schemas.openxmlformats.org/drawingml/2006/main" xmlns:r="http://schemas.openxmlformats.org/officeDocument/2006/relationships" xmlns:p="http://schemas.openxmlformats.org/presentationml/2006/main">
  <p:tag name="DVSHAPEID" val="XevIbUkkv8NombelvnrBMV"/>
  <p:tag name="DVSHEQ" val="-1765941545"/>
</p:tagLst>
</file>

<file path=ppt/tags/tag409.xml><?xml version="1.0" encoding="utf-8"?>
<p:tagLst xmlns:a="http://schemas.openxmlformats.org/drawingml/2006/main" xmlns:r="http://schemas.openxmlformats.org/officeDocument/2006/relationships" xmlns:p="http://schemas.openxmlformats.org/presentationml/2006/main">
  <p:tag name="DVSHAPEID" val="abDseYkODxTFCAuKDmFL85"/>
  <p:tag name="DVSHEQ" val="-1780877933"/>
</p:tagLst>
</file>

<file path=ppt/tags/tag410.xml><?xml version="1.0" encoding="utf-8"?>
<p:tagLst xmlns:a="http://schemas.openxmlformats.org/drawingml/2006/main" xmlns:r="http://schemas.openxmlformats.org/officeDocument/2006/relationships" xmlns:p="http://schemas.openxmlformats.org/presentationml/2006/main">
  <p:tag name="DVSHAPEID" val="PeMeIJhdXzeWsej6cS80gw"/>
  <p:tag name="DVSHEQ" val="-264368252"/>
</p:tagLst>
</file>

<file path=ppt/tags/tag411.xml><?xml version="1.0" encoding="utf-8"?>
<p:tagLst xmlns:a="http://schemas.openxmlformats.org/drawingml/2006/main" xmlns:r="http://schemas.openxmlformats.org/officeDocument/2006/relationships" xmlns:p="http://schemas.openxmlformats.org/presentationml/2006/main">
  <p:tag name="DVSHAPEID" val="ll6AAy3z10tJfz4s6xBD1V"/>
  <p:tag name="DVSHEQ" val="1676687991"/>
</p:tagLst>
</file>

<file path=ppt/tags/tag412.xml><?xml version="1.0" encoding="utf-8"?>
<p:tagLst xmlns:a="http://schemas.openxmlformats.org/drawingml/2006/main" xmlns:r="http://schemas.openxmlformats.org/officeDocument/2006/relationships" xmlns:p="http://schemas.openxmlformats.org/presentationml/2006/main">
  <p:tag name="DVSECTIONID" val="pwXsHCg4egeZrCp8Tz4tj8"/>
</p:tagLst>
</file>

<file path=ppt/tags/tag413.xml><?xml version="1.0" encoding="utf-8"?>
<p:tagLst xmlns:a="http://schemas.openxmlformats.org/drawingml/2006/main" xmlns:r="http://schemas.openxmlformats.org/officeDocument/2006/relationships" xmlns:p="http://schemas.openxmlformats.org/presentationml/2006/main">
  <p:tag name="DVSHAPEID" val="eYyMcLWEvBk4yZ7G4PnAgl"/>
  <p:tag name="DVSHEQ" val="1505247888"/>
</p:tagLst>
</file>

<file path=ppt/tags/tag414.xml><?xml version="1.0" encoding="utf-8"?>
<p:tagLst xmlns:a="http://schemas.openxmlformats.org/drawingml/2006/main" xmlns:r="http://schemas.openxmlformats.org/officeDocument/2006/relationships" xmlns:p="http://schemas.openxmlformats.org/presentationml/2006/main">
  <p:tag name="DVSHAPEID" val="PLHMOtNa9WfSuVjVCutdJV"/>
  <p:tag name="DVSHEQ" val="-1765941545"/>
</p:tagLst>
</file>

<file path=ppt/tags/tag415.xml><?xml version="1.0" encoding="utf-8"?>
<p:tagLst xmlns:a="http://schemas.openxmlformats.org/drawingml/2006/main" xmlns:r="http://schemas.openxmlformats.org/officeDocument/2006/relationships" xmlns:p="http://schemas.openxmlformats.org/presentationml/2006/main">
  <p:tag name="DVSHAPEID" val="bVDz3b8rdaqvMHzmEIuHeX"/>
  <p:tag name="DVSHEQ" val="-1207503469"/>
</p:tagLst>
</file>

<file path=ppt/tags/tag416.xml><?xml version="1.0" encoding="utf-8"?>
<p:tagLst xmlns:a="http://schemas.openxmlformats.org/drawingml/2006/main" xmlns:r="http://schemas.openxmlformats.org/officeDocument/2006/relationships" xmlns:p="http://schemas.openxmlformats.org/presentationml/2006/main">
  <p:tag name="DVSECTIONID" val="oL03XPby7dhLGMbshnOZLx"/>
</p:tagLst>
</file>

<file path=ppt/tags/tag417.xml><?xml version="1.0" encoding="utf-8"?>
<p:tagLst xmlns:a="http://schemas.openxmlformats.org/drawingml/2006/main" xmlns:r="http://schemas.openxmlformats.org/officeDocument/2006/relationships" xmlns:p="http://schemas.openxmlformats.org/presentationml/2006/main">
  <p:tag name="DVSHAPEID" val="eYyMcLWEvBk4yZ7G4PnAgl"/>
  <p:tag name="DVSHEQ" val="1505247888"/>
</p:tagLst>
</file>

<file path=ppt/tags/tag418.xml><?xml version="1.0" encoding="utf-8"?>
<p:tagLst xmlns:a="http://schemas.openxmlformats.org/drawingml/2006/main" xmlns:r="http://schemas.openxmlformats.org/officeDocument/2006/relationships" xmlns:p="http://schemas.openxmlformats.org/presentationml/2006/main">
  <p:tag name="DVSHAPEID" val="PLHMOtNa9WfSuVjVCutdJV"/>
  <p:tag name="DVSHEQ" val="-1765941545"/>
</p:tagLst>
</file>

<file path=ppt/tags/tag419.xml><?xml version="1.0" encoding="utf-8"?>
<p:tagLst xmlns:a="http://schemas.openxmlformats.org/drawingml/2006/main" xmlns:r="http://schemas.openxmlformats.org/officeDocument/2006/relationships" xmlns:p="http://schemas.openxmlformats.org/presentationml/2006/main">
  <p:tag name="DVSHAPEID" val="bVDz3b8rdaqvMHzmEIuHeX"/>
  <p:tag name="DVSHEQ" val="1549006227"/>
</p:tagLst>
</file>

<file path=ppt/tags/tag420.xml><?xml version="1.0" encoding="utf-8"?>
<p:tagLst xmlns:a="http://schemas.openxmlformats.org/drawingml/2006/main" xmlns:r="http://schemas.openxmlformats.org/officeDocument/2006/relationships" xmlns:p="http://schemas.openxmlformats.org/presentationml/2006/main">
  <p:tag name="DVSHAPEID" val="VhQTMT63YMX7A6N6vqRtYr"/>
  <p:tag name="DVSHEQ" val="-556554803"/>
</p:tagLst>
</file>

<file path=ppt/tags/tag421.xml><?xml version="1.0" encoding="utf-8"?>
<p:tagLst xmlns:a="http://schemas.openxmlformats.org/drawingml/2006/main" xmlns:r="http://schemas.openxmlformats.org/officeDocument/2006/relationships" xmlns:p="http://schemas.openxmlformats.org/presentationml/2006/main">
  <p:tag name="DVSHAPEID" val="XNqPot3VVdluyXtMxh98ho"/>
  <p:tag name="DVSHEQ" val="1655101009"/>
</p:tagLst>
</file>

<file path=ppt/tags/tag422.xml><?xml version="1.0" encoding="utf-8"?>
<p:tagLst xmlns:a="http://schemas.openxmlformats.org/drawingml/2006/main" xmlns:r="http://schemas.openxmlformats.org/officeDocument/2006/relationships" xmlns:p="http://schemas.openxmlformats.org/presentationml/2006/main">
  <p:tag name="DVSECTIONID" val="oL03XPby7dhLGMbshnOZLx"/>
</p:tagLst>
</file>

<file path=ppt/tags/tag423.xml><?xml version="1.0" encoding="utf-8"?>
<p:tagLst xmlns:a="http://schemas.openxmlformats.org/drawingml/2006/main" xmlns:r="http://schemas.openxmlformats.org/officeDocument/2006/relationships" xmlns:p="http://schemas.openxmlformats.org/presentationml/2006/main">
  <p:tag name="DVSHAPEID" val="eYyMcLWEvBk4yZ7G4PnAgl"/>
  <p:tag name="DVSHEQ" val="1505247888"/>
</p:tagLst>
</file>

<file path=ppt/tags/tag424.xml><?xml version="1.0" encoding="utf-8"?>
<p:tagLst xmlns:a="http://schemas.openxmlformats.org/drawingml/2006/main" xmlns:r="http://schemas.openxmlformats.org/officeDocument/2006/relationships" xmlns:p="http://schemas.openxmlformats.org/presentationml/2006/main">
  <p:tag name="DVSHAPEID" val="PLHMOtNa9WfSuVjVCutdJV"/>
  <p:tag name="DVSHEQ" val="-1765941545"/>
</p:tagLst>
</file>

<file path=ppt/tags/tag425.xml><?xml version="1.0" encoding="utf-8"?>
<p:tagLst xmlns:a="http://schemas.openxmlformats.org/drawingml/2006/main" xmlns:r="http://schemas.openxmlformats.org/officeDocument/2006/relationships" xmlns:p="http://schemas.openxmlformats.org/presentationml/2006/main">
  <p:tag name="DVSHAPEID" val="bVDz3b8rdaqvMHzmEIuHeX"/>
  <p:tag name="DVSHEQ" val="1549006227"/>
</p:tagLst>
</file>

<file path=ppt/tags/tag426.xml><?xml version="1.0" encoding="utf-8"?>
<p:tagLst xmlns:a="http://schemas.openxmlformats.org/drawingml/2006/main" xmlns:r="http://schemas.openxmlformats.org/officeDocument/2006/relationships" xmlns:p="http://schemas.openxmlformats.org/presentationml/2006/main">
  <p:tag name="DVSHAPEID" val="ISp0lOUQvygjGUoNW0YFPy"/>
  <p:tag name="DVSHEQ" val="1949606931"/>
</p:tagLst>
</file>

<file path=ppt/tags/tag427.xml><?xml version="1.0" encoding="utf-8"?>
<p:tagLst xmlns:a="http://schemas.openxmlformats.org/drawingml/2006/main" xmlns:r="http://schemas.openxmlformats.org/officeDocument/2006/relationships" xmlns:p="http://schemas.openxmlformats.org/presentationml/2006/main">
  <p:tag name="DVSHAPEID" val="QhpTIHtQujCaVBzwqqNzC3"/>
  <p:tag name="DVSHEQ" val="1531795378"/>
</p:tagLst>
</file>

<file path=ppt/tags/tag428.xml><?xml version="1.0" encoding="utf-8"?>
<p:tagLst xmlns:a="http://schemas.openxmlformats.org/drawingml/2006/main" xmlns:r="http://schemas.openxmlformats.org/officeDocument/2006/relationships" xmlns:p="http://schemas.openxmlformats.org/presentationml/2006/main">
  <p:tag name="DVSECTIONID" val="oL03XPby7dhLGMbshnOZLx"/>
</p:tagLst>
</file>

<file path=ppt/tags/tag429.xml><?xml version="1.0" encoding="utf-8"?>
<p:tagLst xmlns:a="http://schemas.openxmlformats.org/drawingml/2006/main" xmlns:r="http://schemas.openxmlformats.org/officeDocument/2006/relationships" xmlns:p="http://schemas.openxmlformats.org/presentationml/2006/main">
  <p:tag name="DVSHAPEID" val="eYyMcLWEvBk4yZ7G4PnAgl"/>
  <p:tag name="DVSHEQ" val="1505247888"/>
</p:tagLst>
</file>

<file path=ppt/tags/tag430.xml><?xml version="1.0" encoding="utf-8"?>
<p:tagLst xmlns:a="http://schemas.openxmlformats.org/drawingml/2006/main" xmlns:r="http://schemas.openxmlformats.org/officeDocument/2006/relationships" xmlns:p="http://schemas.openxmlformats.org/presentationml/2006/main">
  <p:tag name="DVSHAPEID" val="PLHMOtNa9WfSuVjVCutdJV"/>
  <p:tag name="DVSHEQ" val="-1765941545"/>
</p:tagLst>
</file>

<file path=ppt/tags/tag431.xml><?xml version="1.0" encoding="utf-8"?>
<p:tagLst xmlns:a="http://schemas.openxmlformats.org/drawingml/2006/main" xmlns:r="http://schemas.openxmlformats.org/officeDocument/2006/relationships" xmlns:p="http://schemas.openxmlformats.org/presentationml/2006/main">
  <p:tag name="DVSHAPEID" val="bVDz3b8rdaqvMHzmEIuHeX"/>
  <p:tag name="DVSHEQ" val="1549006227"/>
</p:tagLst>
</file>

<file path=ppt/tags/tag432.xml><?xml version="1.0" encoding="utf-8"?>
<p:tagLst xmlns:a="http://schemas.openxmlformats.org/drawingml/2006/main" xmlns:r="http://schemas.openxmlformats.org/officeDocument/2006/relationships" xmlns:p="http://schemas.openxmlformats.org/presentationml/2006/main">
  <p:tag name="DVSHAPEID" val="BhL9ykZ5wBeisD5piayCD5"/>
  <p:tag name="DVSHEQ" val="1812696841"/>
</p:tagLst>
</file>

<file path=ppt/tags/tag433.xml><?xml version="1.0" encoding="utf-8"?>
<p:tagLst xmlns:a="http://schemas.openxmlformats.org/drawingml/2006/main" xmlns:r="http://schemas.openxmlformats.org/officeDocument/2006/relationships" xmlns:p="http://schemas.openxmlformats.org/presentationml/2006/main">
  <p:tag name="DVSHAPEID" val="MIiFu9Ilg5wVM6tBiVXNpl"/>
  <p:tag name="DVSHEQ" val="-809230297"/>
</p:tagLst>
</file>

<file path=ppt/tags/tag434.xml><?xml version="1.0" encoding="utf-8"?>
<p:tagLst xmlns:a="http://schemas.openxmlformats.org/drawingml/2006/main" xmlns:r="http://schemas.openxmlformats.org/officeDocument/2006/relationships" xmlns:p="http://schemas.openxmlformats.org/presentationml/2006/main">
  <p:tag name="DVSHAPEID" val="EW70eEbbHmHn1vSgRUvvt5"/>
  <p:tag name="DVSHEQ" val="-866931214"/>
</p:tagLst>
</file>

<file path=ppt/tags/tag435.xml><?xml version="1.0" encoding="utf-8"?>
<p:tagLst xmlns:a="http://schemas.openxmlformats.org/drawingml/2006/main" xmlns:r="http://schemas.openxmlformats.org/officeDocument/2006/relationships" xmlns:p="http://schemas.openxmlformats.org/presentationml/2006/main">
  <p:tag name="DVSECTIONID" val="crpIvmq0NsS1Zm956pyhWx"/>
</p:tagLst>
</file>

<file path=ppt/tags/tag436.xml><?xml version="1.0" encoding="utf-8"?>
<p:tagLst xmlns:a="http://schemas.openxmlformats.org/drawingml/2006/main" xmlns:r="http://schemas.openxmlformats.org/officeDocument/2006/relationships" xmlns:p="http://schemas.openxmlformats.org/presentationml/2006/main">
  <p:tag name="DVSHAPEID" val="1W6mo3hoEUECNkZXOIMhpB"/>
  <p:tag name="DVSHEQ" val="1414599722"/>
</p:tagLst>
</file>

<file path=ppt/tags/tag437.xml><?xml version="1.0" encoding="utf-8"?>
<p:tagLst xmlns:a="http://schemas.openxmlformats.org/drawingml/2006/main" xmlns:r="http://schemas.openxmlformats.org/officeDocument/2006/relationships" xmlns:p="http://schemas.openxmlformats.org/presentationml/2006/main">
  <p:tag name="DVSHAPEID" val="mmzO58AQvF8p1c8kYEipma"/>
  <p:tag name="DVSHEQ" val="-1765941545"/>
</p:tagLst>
</file>

<file path=ppt/tags/tag438.xml><?xml version="1.0" encoding="utf-8"?>
<p:tagLst xmlns:a="http://schemas.openxmlformats.org/drawingml/2006/main" xmlns:r="http://schemas.openxmlformats.org/officeDocument/2006/relationships" xmlns:p="http://schemas.openxmlformats.org/presentationml/2006/main">
  <p:tag name="DVSHAPEID" val="f8UwmFJpx0NXxRtgxYDHYH"/>
  <p:tag name="DVSHEQ" val="1084290451"/>
</p:tagLst>
</file>

<file path=ppt/tags/tag439.xml><?xml version="1.0" encoding="utf-8"?>
<p:tagLst xmlns:a="http://schemas.openxmlformats.org/drawingml/2006/main" xmlns:r="http://schemas.openxmlformats.org/officeDocument/2006/relationships" xmlns:p="http://schemas.openxmlformats.org/presentationml/2006/main">
  <p:tag name="DVSHAPEID" val="mHmirkbPlRhGUzvNd0eUBG"/>
  <p:tag name="DVSHEQ" val="1171444169"/>
</p:tagLst>
</file>

<file path=ppt/tags/tag440.xml><?xml version="1.0" encoding="utf-8"?>
<p:tagLst xmlns:a="http://schemas.openxmlformats.org/drawingml/2006/main" xmlns:r="http://schemas.openxmlformats.org/officeDocument/2006/relationships" xmlns:p="http://schemas.openxmlformats.org/presentationml/2006/main">
  <p:tag name="DVSECTIONID" val="fLdPbAbCYtPaGup4D9hs7u"/>
</p:tagLst>
</file>

<file path=ppt/tags/tag441.xml><?xml version="1.0" encoding="utf-8"?>
<p:tagLst xmlns:a="http://schemas.openxmlformats.org/drawingml/2006/main" xmlns:r="http://schemas.openxmlformats.org/officeDocument/2006/relationships" xmlns:p="http://schemas.openxmlformats.org/presentationml/2006/main">
  <p:tag name="DVSHAPEID" val="FnRvBGERkBKwvYR0vjmT0W"/>
  <p:tag name="DVSHEQ" val="-716550822"/>
</p:tagLst>
</file>

<file path=ppt/tags/tag442.xml><?xml version="1.0" encoding="utf-8"?>
<p:tagLst xmlns:a="http://schemas.openxmlformats.org/drawingml/2006/main" xmlns:r="http://schemas.openxmlformats.org/officeDocument/2006/relationships" xmlns:p="http://schemas.openxmlformats.org/presentationml/2006/main">
  <p:tag name="DVSHAPEID" val="2nQYpaaTp2zzRFBJ2x8JCo"/>
  <p:tag name="DVSHEQ" val="1377386477"/>
</p:tagLst>
</file>

<file path=ppt/tags/tag443.xml><?xml version="1.0" encoding="utf-8"?>
<p:tagLst xmlns:a="http://schemas.openxmlformats.org/drawingml/2006/main" xmlns:r="http://schemas.openxmlformats.org/officeDocument/2006/relationships" xmlns:p="http://schemas.openxmlformats.org/presentationml/2006/main">
  <p:tag name="DVSHAPEID" val="ItTOucT1dW4IluFDgtHrbH"/>
  <p:tag name="DVSHEQ" val="-1765941545"/>
</p:tagLst>
</file>

<file path=ppt/tags/tag444.xml><?xml version="1.0" encoding="utf-8"?>
<p:tagLst xmlns:a="http://schemas.openxmlformats.org/drawingml/2006/main" xmlns:r="http://schemas.openxmlformats.org/officeDocument/2006/relationships" xmlns:p="http://schemas.openxmlformats.org/presentationml/2006/main">
  <p:tag name="DVSHAPEID" val="WW6boLhOLgkDEm5AGYZoPD"/>
  <p:tag name="DVSHEQ" val="-845251902"/>
</p:tagLst>
</file>

<file path=ppt/tags/tag445.xml><?xml version="1.0" encoding="utf-8"?>
<p:tagLst xmlns:a="http://schemas.openxmlformats.org/drawingml/2006/main" xmlns:r="http://schemas.openxmlformats.org/officeDocument/2006/relationships" xmlns:p="http://schemas.openxmlformats.org/presentationml/2006/main">
  <p:tag name="DVSHAPEID" val="nHPiyFMJrNRjrXQgHSx7e9"/>
  <p:tag name="DVSHEQ" val="-1641417462"/>
</p:tagLst>
</file>

<file path=ppt/tags/tag446.xml><?xml version="1.0" encoding="utf-8"?>
<p:tagLst xmlns:a="http://schemas.openxmlformats.org/drawingml/2006/main" xmlns:r="http://schemas.openxmlformats.org/officeDocument/2006/relationships" xmlns:p="http://schemas.openxmlformats.org/presentationml/2006/main">
  <p:tag name="DVSHAPEID" val="qCP7To9SErsHLDhLQCRjJp"/>
  <p:tag name="DVSHEQ" val="-571863908"/>
</p:tagLst>
</file>

<file path=ppt/tags/tag447.xml><?xml version="1.0" encoding="utf-8"?>
<p:tagLst xmlns:a="http://schemas.openxmlformats.org/drawingml/2006/main" xmlns:r="http://schemas.openxmlformats.org/officeDocument/2006/relationships" xmlns:p="http://schemas.openxmlformats.org/presentationml/2006/main">
  <p:tag name="DVSECTIONID" val="vGzDQKK4V1N5MiwUokbTVq"/>
</p:tagLst>
</file>

<file path=ppt/tags/tag448.xml><?xml version="1.0" encoding="utf-8"?>
<p:tagLst xmlns:a="http://schemas.openxmlformats.org/drawingml/2006/main" xmlns:r="http://schemas.openxmlformats.org/officeDocument/2006/relationships" xmlns:p="http://schemas.openxmlformats.org/presentationml/2006/main">
  <p:tag name="DVSHAPEID" val="eYyMcLWEvBk4yZ7G4PnAgl"/>
  <p:tag name="DVSHEQ" val="1161743990"/>
</p:tagLst>
</file>

<file path=ppt/tags/tag449.xml><?xml version="1.0" encoding="utf-8"?>
<p:tagLst xmlns:a="http://schemas.openxmlformats.org/drawingml/2006/main" xmlns:r="http://schemas.openxmlformats.org/officeDocument/2006/relationships" xmlns:p="http://schemas.openxmlformats.org/presentationml/2006/main">
  <p:tag name="DVSHAPEID" val="uCsg8sbiSoTClxCTHVn6VZ"/>
  <p:tag name="DVSHEQ" val="1063711563"/>
</p:tagLst>
</file>

<file path=ppt/tags/tag450.xml><?xml version="1.0" encoding="utf-8"?>
<p:tagLst xmlns:a="http://schemas.openxmlformats.org/drawingml/2006/main" xmlns:r="http://schemas.openxmlformats.org/officeDocument/2006/relationships" xmlns:p="http://schemas.openxmlformats.org/presentationml/2006/main">
  <p:tag name="DVSHAPEID" val="PLHMOtNa9WfSuVjVCutdJV"/>
  <p:tag name="DVSHEQ" val="-1765941545"/>
</p:tagLst>
</file>

<file path=ppt/tags/tag451.xml><?xml version="1.0" encoding="utf-8"?>
<p:tagLst xmlns:a="http://schemas.openxmlformats.org/drawingml/2006/main" xmlns:r="http://schemas.openxmlformats.org/officeDocument/2006/relationships" xmlns:p="http://schemas.openxmlformats.org/presentationml/2006/main">
  <p:tag name="DVSHAPEID" val="bVDz3b8rdaqvMHzmEIuHeX"/>
  <p:tag name="DVSHEQ" val="-1535935806"/>
</p:tagLst>
</file>

<file path=ppt/tags/tag452.xml><?xml version="1.0" encoding="utf-8"?>
<p:tagLst xmlns:a="http://schemas.openxmlformats.org/drawingml/2006/main" xmlns:r="http://schemas.openxmlformats.org/officeDocument/2006/relationships" xmlns:p="http://schemas.openxmlformats.org/presentationml/2006/main">
  <p:tag name="DVSECTIONID" val="vGzDQKK4V1N5MiwUokbTVq"/>
</p:tagLst>
</file>

<file path=ppt/tags/tag453.xml><?xml version="1.0" encoding="utf-8"?>
<p:tagLst xmlns:a="http://schemas.openxmlformats.org/drawingml/2006/main" xmlns:r="http://schemas.openxmlformats.org/officeDocument/2006/relationships" xmlns:p="http://schemas.openxmlformats.org/presentationml/2006/main">
  <p:tag name="DVSHAPEID" val="eYyMcLWEvBk4yZ7G4PnAgl"/>
  <p:tag name="DVSHEQ" val="1161743990"/>
</p:tagLst>
</file>

<file path=ppt/tags/tag454.xml><?xml version="1.0" encoding="utf-8"?>
<p:tagLst xmlns:a="http://schemas.openxmlformats.org/drawingml/2006/main" xmlns:r="http://schemas.openxmlformats.org/officeDocument/2006/relationships" xmlns:p="http://schemas.openxmlformats.org/presentationml/2006/main">
  <p:tag name="DVSHAPEID" val="uCsg8sbiSoTClxCTHVn6VZ"/>
  <p:tag name="DVSHEQ" val="1063711563"/>
</p:tagLst>
</file>

<file path=ppt/tags/tag455.xml><?xml version="1.0" encoding="utf-8"?>
<p:tagLst xmlns:a="http://schemas.openxmlformats.org/drawingml/2006/main" xmlns:r="http://schemas.openxmlformats.org/officeDocument/2006/relationships" xmlns:p="http://schemas.openxmlformats.org/presentationml/2006/main">
  <p:tag name="DVSHAPEID" val="PLHMOtNa9WfSuVjVCutdJV"/>
  <p:tag name="DVSHEQ" val="-1765941545"/>
</p:tagLst>
</file>

<file path=ppt/tags/tag456.xml><?xml version="1.0" encoding="utf-8"?>
<p:tagLst xmlns:a="http://schemas.openxmlformats.org/drawingml/2006/main" xmlns:r="http://schemas.openxmlformats.org/officeDocument/2006/relationships" xmlns:p="http://schemas.openxmlformats.org/presentationml/2006/main">
  <p:tag name="DVSHAPEID" val="bVDz3b8rdaqvMHzmEIuHeX"/>
  <p:tag name="DVSHEQ" val="-1535935806"/>
</p:tagLst>
</file>

<file path=ppt/tags/tag457.xml><?xml version="1.0" encoding="utf-8"?>
<p:tagLst xmlns:a="http://schemas.openxmlformats.org/drawingml/2006/main" xmlns:r="http://schemas.openxmlformats.org/officeDocument/2006/relationships" xmlns:p="http://schemas.openxmlformats.org/presentationml/2006/main">
  <p:tag name="DVSHAPEID" val="r7vkiMt66WZLGEvQcYCugz"/>
  <p:tag name="DVSHEQ" val="-1810370228"/>
</p:tagLst>
</file>

<file path=ppt/tags/tag458.xml><?xml version="1.0" encoding="utf-8"?>
<p:tagLst xmlns:a="http://schemas.openxmlformats.org/drawingml/2006/main" xmlns:r="http://schemas.openxmlformats.org/officeDocument/2006/relationships" xmlns:p="http://schemas.openxmlformats.org/presentationml/2006/main">
  <p:tag name="DVSHAPEID" val="APzMnoP9UFVSyaTnryim8x"/>
  <p:tag name="DVSHEQ" val="-1640037705"/>
</p:tagLst>
</file>

<file path=ppt/tags/tag459.xml><?xml version="1.0" encoding="utf-8"?>
<p:tagLst xmlns:a="http://schemas.openxmlformats.org/drawingml/2006/main" xmlns:r="http://schemas.openxmlformats.org/officeDocument/2006/relationships" xmlns:p="http://schemas.openxmlformats.org/presentationml/2006/main">
  <p:tag name="DVSHAPEID" val="Czi3stLoVwAeKAmzwpUEyt"/>
  <p:tag name="DVSHEQ" val="-1332786589"/>
</p:tagLst>
</file>

<file path=ppt/tags/tag460.xml><?xml version="1.0" encoding="utf-8"?>
<p:tagLst xmlns:a="http://schemas.openxmlformats.org/drawingml/2006/main" xmlns:r="http://schemas.openxmlformats.org/officeDocument/2006/relationships" xmlns:p="http://schemas.openxmlformats.org/presentationml/2006/main">
  <p:tag name="DVSHAPEID" val="btTdPPM0rBb3dZujVmnvJp"/>
  <p:tag name="DVSHEQ" val="-1422686203"/>
</p:tagLst>
</file>

<file path=ppt/tags/tag461.xml><?xml version="1.0" encoding="utf-8"?>
<p:tagLst xmlns:a="http://schemas.openxmlformats.org/drawingml/2006/main" xmlns:r="http://schemas.openxmlformats.org/officeDocument/2006/relationships" xmlns:p="http://schemas.openxmlformats.org/presentationml/2006/main">
  <p:tag name="DVSHAPEID" val="ijpi1S1SsuZ9oOaeDVCV4Z"/>
  <p:tag name="DVSHEQ" val="1909272796"/>
</p:tagLst>
</file>

<file path=ppt/tags/tag462.xml><?xml version="1.0" encoding="utf-8"?>
<p:tagLst xmlns:a="http://schemas.openxmlformats.org/drawingml/2006/main" xmlns:r="http://schemas.openxmlformats.org/officeDocument/2006/relationships" xmlns:p="http://schemas.openxmlformats.org/presentationml/2006/main">
  <p:tag name="DVSHAPEID" val="r7vkiMt66WZLGEvQcYCugz"/>
  <p:tag name="DVSHEQ" val="-1810370228"/>
</p:tagLst>
</file>

<file path=ppt/tags/tag463.xml><?xml version="1.0" encoding="utf-8"?>
<p:tagLst xmlns:a="http://schemas.openxmlformats.org/drawingml/2006/main" xmlns:r="http://schemas.openxmlformats.org/officeDocument/2006/relationships" xmlns:p="http://schemas.openxmlformats.org/presentationml/2006/main">
  <p:tag name="DVSECTIONID" val="8AwaFUHkLrA9PfLV9S0xxv"/>
</p:tagLst>
</file>

<file path=ppt/tags/tag464.xml><?xml version="1.0" encoding="utf-8"?>
<p:tagLst xmlns:a="http://schemas.openxmlformats.org/drawingml/2006/main" xmlns:r="http://schemas.openxmlformats.org/officeDocument/2006/relationships" xmlns:p="http://schemas.openxmlformats.org/presentationml/2006/main">
  <p:tag name="DVSHAPEID" val="ns3HzMjTCIgTAM8epB2HI5"/>
  <p:tag name="DVSHEQ" val="-1776809585"/>
</p:tagLst>
</file>

<file path=ppt/tags/tag465.xml><?xml version="1.0" encoding="utf-8"?>
<p:tagLst xmlns:a="http://schemas.openxmlformats.org/drawingml/2006/main" xmlns:r="http://schemas.openxmlformats.org/officeDocument/2006/relationships" xmlns:p="http://schemas.openxmlformats.org/presentationml/2006/main">
  <p:tag name="DVSHAPEID" val="fT7NdpiSEwehZ4yWp33R0e"/>
  <p:tag name="DVSHEQ" val="-1765941545"/>
</p:tagLst>
</file>

<file path=ppt/tags/tag466.xml><?xml version="1.0" encoding="utf-8"?>
<p:tagLst xmlns:a="http://schemas.openxmlformats.org/drawingml/2006/main" xmlns:r="http://schemas.openxmlformats.org/officeDocument/2006/relationships" xmlns:p="http://schemas.openxmlformats.org/presentationml/2006/main">
  <p:tag name="DVSHAPEID" val="cldXI3ZGzoyKJfvz1psPna"/>
  <p:tag name="DVSHEQ" val="1153071810"/>
</p:tagLst>
</file>

<file path=ppt/tags/tag467.xml><?xml version="1.0" encoding="utf-8"?>
<p:tagLst xmlns:a="http://schemas.openxmlformats.org/drawingml/2006/main" xmlns:r="http://schemas.openxmlformats.org/officeDocument/2006/relationships" xmlns:p="http://schemas.openxmlformats.org/presentationml/2006/main">
  <p:tag name="DVSHAPEID" val="Jk6jUmxK6NknrmBGDPwekD"/>
  <p:tag name="DVSHEQ" val="689997455"/>
</p:tagLst>
</file>

<file path=ppt/tags/tag468.xml><?xml version="1.0" encoding="utf-8"?>
<p:tagLst xmlns:a="http://schemas.openxmlformats.org/drawingml/2006/main" xmlns:r="http://schemas.openxmlformats.org/officeDocument/2006/relationships" xmlns:p="http://schemas.openxmlformats.org/presentationml/2006/main">
  <p:tag name="DVSECTIONID" val="8AwaFUHkLrA9PfLV9S0xxv"/>
</p:tagLst>
</file>

<file path=ppt/tags/tag469.xml><?xml version="1.0" encoding="utf-8"?>
<p:tagLst xmlns:a="http://schemas.openxmlformats.org/drawingml/2006/main" xmlns:r="http://schemas.openxmlformats.org/officeDocument/2006/relationships" xmlns:p="http://schemas.openxmlformats.org/presentationml/2006/main">
  <p:tag name="DVSHAPEID" val="ns3HzMjTCIgTAM8epB2HI5"/>
  <p:tag name="DVSHEQ" val="-1776809585"/>
</p:tagLst>
</file>

<file path=ppt/tags/tag470.xml><?xml version="1.0" encoding="utf-8"?>
<p:tagLst xmlns:a="http://schemas.openxmlformats.org/drawingml/2006/main" xmlns:r="http://schemas.openxmlformats.org/officeDocument/2006/relationships" xmlns:p="http://schemas.openxmlformats.org/presentationml/2006/main">
  <p:tag name="DVSHAPEID" val="fT7NdpiSEwehZ4yWp33R0e"/>
  <p:tag name="DVSHEQ" val="-1765941545"/>
</p:tagLst>
</file>

<file path=ppt/tags/tag471.xml><?xml version="1.0" encoding="utf-8"?>
<p:tagLst xmlns:a="http://schemas.openxmlformats.org/drawingml/2006/main" xmlns:r="http://schemas.openxmlformats.org/officeDocument/2006/relationships" xmlns:p="http://schemas.openxmlformats.org/presentationml/2006/main">
  <p:tag name="DVSHAPEID" val="cldXI3ZGzoyKJfvz1psPna"/>
  <p:tag name="DVSHEQ" val="1153071810"/>
</p:tagLst>
</file>

<file path=ppt/tags/tag472.xml><?xml version="1.0" encoding="utf-8"?>
<p:tagLst xmlns:a="http://schemas.openxmlformats.org/drawingml/2006/main" xmlns:r="http://schemas.openxmlformats.org/officeDocument/2006/relationships" xmlns:p="http://schemas.openxmlformats.org/presentationml/2006/main">
  <p:tag name="DVSHAPEID" val="Jk6jUmxK6NknrmBGDPwekD"/>
  <p:tag name="DVSHEQ" val="689997455"/>
</p:tagLst>
</file>

<file path=ppt/tags/tag473.xml><?xml version="1.0" encoding="utf-8"?>
<p:tagLst xmlns:a="http://schemas.openxmlformats.org/drawingml/2006/main" xmlns:r="http://schemas.openxmlformats.org/officeDocument/2006/relationships" xmlns:p="http://schemas.openxmlformats.org/presentationml/2006/main">
  <p:tag name="DVSECTIONID" val="8AwaFUHkLrA9PfLV9S0xxv"/>
</p:tagLst>
</file>

<file path=ppt/tags/tag474.xml><?xml version="1.0" encoding="utf-8"?>
<p:tagLst xmlns:a="http://schemas.openxmlformats.org/drawingml/2006/main" xmlns:r="http://schemas.openxmlformats.org/officeDocument/2006/relationships" xmlns:p="http://schemas.openxmlformats.org/presentationml/2006/main">
  <p:tag name="DVSHAPEID" val="ns3HzMjTCIgTAM8epB2HI5"/>
  <p:tag name="DVSHEQ" val="-1776809585"/>
</p:tagLst>
</file>

<file path=ppt/tags/tag475.xml><?xml version="1.0" encoding="utf-8"?>
<p:tagLst xmlns:a="http://schemas.openxmlformats.org/drawingml/2006/main" xmlns:r="http://schemas.openxmlformats.org/officeDocument/2006/relationships" xmlns:p="http://schemas.openxmlformats.org/presentationml/2006/main">
  <p:tag name="DVSHAPEID" val="fT7NdpiSEwehZ4yWp33R0e"/>
  <p:tag name="DVSHEQ" val="-1765941545"/>
</p:tagLst>
</file>

<file path=ppt/tags/tag476.xml><?xml version="1.0" encoding="utf-8"?>
<p:tagLst xmlns:a="http://schemas.openxmlformats.org/drawingml/2006/main" xmlns:r="http://schemas.openxmlformats.org/officeDocument/2006/relationships" xmlns:p="http://schemas.openxmlformats.org/presentationml/2006/main">
  <p:tag name="DVSHAPEID" val="cldXI3ZGzoyKJfvz1psPna"/>
  <p:tag name="DVSHEQ" val="1153071810"/>
</p:tagLst>
</file>

<file path=ppt/tags/tag477.xml><?xml version="1.0" encoding="utf-8"?>
<p:tagLst xmlns:a="http://schemas.openxmlformats.org/drawingml/2006/main" xmlns:r="http://schemas.openxmlformats.org/officeDocument/2006/relationships" xmlns:p="http://schemas.openxmlformats.org/presentationml/2006/main">
  <p:tag name="DVSHAPEID" val="Jk6jUmxK6NknrmBGDPwekD"/>
  <p:tag name="DVSHEQ" val="689997455"/>
</p:tagLst>
</file>

<file path=ppt/tags/tag478.xml><?xml version="1.0" encoding="utf-8"?>
<p:tagLst xmlns:a="http://schemas.openxmlformats.org/drawingml/2006/main" xmlns:r="http://schemas.openxmlformats.org/officeDocument/2006/relationships" xmlns:p="http://schemas.openxmlformats.org/presentationml/2006/main">
  <p:tag name="DVSECTIONID" val="8AwaFUHkLrA9PfLV9S0xxv"/>
</p:tagLst>
</file>

<file path=ppt/tags/tag479.xml><?xml version="1.0" encoding="utf-8"?>
<p:tagLst xmlns:a="http://schemas.openxmlformats.org/drawingml/2006/main" xmlns:r="http://schemas.openxmlformats.org/officeDocument/2006/relationships" xmlns:p="http://schemas.openxmlformats.org/presentationml/2006/main">
  <p:tag name="DVSHAPEID" val="ns3HzMjTCIgTAM8epB2HI5"/>
  <p:tag name="DVSHEQ" val="-1776809585"/>
</p:tagLst>
</file>

<file path=ppt/tags/tag480.xml><?xml version="1.0" encoding="utf-8"?>
<p:tagLst xmlns:a="http://schemas.openxmlformats.org/drawingml/2006/main" xmlns:r="http://schemas.openxmlformats.org/officeDocument/2006/relationships" xmlns:p="http://schemas.openxmlformats.org/presentationml/2006/main">
  <p:tag name="DVSHAPEID" val="sY8CmfPLI1HeybwmCm8kxH"/>
  <p:tag name="DVSHEQ" val="338387544"/>
</p:tagLst>
</file>

<file path=ppt/tags/tag481.xml><?xml version="1.0" encoding="utf-8"?>
<p:tagLst xmlns:a="http://schemas.openxmlformats.org/drawingml/2006/main" xmlns:r="http://schemas.openxmlformats.org/officeDocument/2006/relationships" xmlns:p="http://schemas.openxmlformats.org/presentationml/2006/main">
  <p:tag name="DVSHAPEID" val="fT7NdpiSEwehZ4yWp33R0e"/>
  <p:tag name="DVSHEQ" val="-1765941545"/>
</p:tagLst>
</file>

<file path=ppt/tags/tag482.xml><?xml version="1.0" encoding="utf-8"?>
<p:tagLst xmlns:a="http://schemas.openxmlformats.org/drawingml/2006/main" xmlns:r="http://schemas.openxmlformats.org/officeDocument/2006/relationships" xmlns:p="http://schemas.openxmlformats.org/presentationml/2006/main">
  <p:tag name="DVSHAPEID" val="cldXI3ZGzoyKJfvz1psPna"/>
  <p:tag name="DVSHEQ" val="1153071810"/>
</p:tagLst>
</file>

<file path=ppt/tags/tag483.xml><?xml version="1.0" encoding="utf-8"?>
<p:tagLst xmlns:a="http://schemas.openxmlformats.org/drawingml/2006/main" xmlns:r="http://schemas.openxmlformats.org/officeDocument/2006/relationships" xmlns:p="http://schemas.openxmlformats.org/presentationml/2006/main">
  <p:tag name="DVSHAPEID" val="Jk6jUmxK6NknrmBGDPwekD"/>
  <p:tag name="DVSHEQ" val="689997455"/>
</p:tagLst>
</file>

<file path=ppt/tags/tag484.xml><?xml version="1.0" encoding="utf-8"?>
<p:tagLst xmlns:a="http://schemas.openxmlformats.org/drawingml/2006/main" xmlns:r="http://schemas.openxmlformats.org/officeDocument/2006/relationships" xmlns:p="http://schemas.openxmlformats.org/presentationml/2006/main">
  <p:tag name="DVSHAPEID" val="vvIN1WE3tasxjdudqiJZ2C"/>
  <p:tag name="DVSHEQ" val="-744459753"/>
</p:tagLst>
</file>

<file path=ppt/tags/tag485.xml><?xml version="1.0" encoding="utf-8"?>
<p:tagLst xmlns:a="http://schemas.openxmlformats.org/drawingml/2006/main" xmlns:r="http://schemas.openxmlformats.org/officeDocument/2006/relationships" xmlns:p="http://schemas.openxmlformats.org/presentationml/2006/main">
  <p:tag name="DVSHAPEID" val="d0fEbVLuye1blDdNb7yoDj"/>
  <p:tag name="DVSHEQ" val="1838079455"/>
</p:tagLst>
</file>

<file path=ppt/tags/tag486.xml><?xml version="1.0" encoding="utf-8"?>
<p:tagLst xmlns:a="http://schemas.openxmlformats.org/drawingml/2006/main" xmlns:r="http://schemas.openxmlformats.org/officeDocument/2006/relationships" xmlns:p="http://schemas.openxmlformats.org/presentationml/2006/main">
  <p:tag name="DVSECTIONID" val="zhPAIEEivIojvY3uYEvCf1"/>
</p:tagLst>
</file>

<file path=ppt/tags/tag487.xml><?xml version="1.0" encoding="utf-8"?>
<p:tagLst xmlns:a="http://schemas.openxmlformats.org/drawingml/2006/main" xmlns:r="http://schemas.openxmlformats.org/officeDocument/2006/relationships" xmlns:p="http://schemas.openxmlformats.org/presentationml/2006/main">
  <p:tag name="DVSHAPEID" val="rtAiKbtMRLS0gFsOihXtao"/>
  <p:tag name="DVSHEQ" val="-1765941545"/>
</p:tagLst>
</file>

<file path=ppt/tags/tag488.xml><?xml version="1.0" encoding="utf-8"?>
<p:tagLst xmlns:a="http://schemas.openxmlformats.org/drawingml/2006/main" xmlns:r="http://schemas.openxmlformats.org/officeDocument/2006/relationships" xmlns:p="http://schemas.openxmlformats.org/presentationml/2006/main">
  <p:tag name="DVSHAPEID" val="HKTlKzohIiWnHwL7Disfcy"/>
  <p:tag name="DVSHEQ" val="-1373668670"/>
</p:tagLst>
</file>

<file path=ppt/tags/tag489.xml><?xml version="1.0" encoding="utf-8"?>
<p:tagLst xmlns:a="http://schemas.openxmlformats.org/drawingml/2006/main" xmlns:r="http://schemas.openxmlformats.org/officeDocument/2006/relationships" xmlns:p="http://schemas.openxmlformats.org/presentationml/2006/main">
  <p:tag name="DVSHAPEID" val="pXWTKCAYDBN3MQpoqUoA2z"/>
  <p:tag name="DVSHEQ" val="1265677256"/>
</p:tagLst>
</file>

<file path=ppt/tags/tag490.xml><?xml version="1.0" encoding="utf-8"?>
<p:tagLst xmlns:a="http://schemas.openxmlformats.org/drawingml/2006/main" xmlns:r="http://schemas.openxmlformats.org/officeDocument/2006/relationships" xmlns:p="http://schemas.openxmlformats.org/presentationml/2006/main">
  <p:tag name="DVSHAPEID" val="3SXW2bDE1Ub8kWpROLGKFk"/>
  <p:tag name="DVSHEQ" val="-916157253"/>
</p:tagLst>
</file>

<file path=ppt/tags/tag491.xml><?xml version="1.0" encoding="utf-8"?>
<p:tagLst xmlns:a="http://schemas.openxmlformats.org/drawingml/2006/main" xmlns:r="http://schemas.openxmlformats.org/officeDocument/2006/relationships" xmlns:p="http://schemas.openxmlformats.org/presentationml/2006/main">
  <p:tag name="DVSECTIONID" val="EOwhYAWXdVaTNHbzO5Q4PM"/>
</p:tagLst>
</file>

<file path=ppt/tags/tag492.xml><?xml version="1.0" encoding="utf-8"?>
<p:tagLst xmlns:a="http://schemas.openxmlformats.org/drawingml/2006/main" xmlns:r="http://schemas.openxmlformats.org/officeDocument/2006/relationships" xmlns:p="http://schemas.openxmlformats.org/presentationml/2006/main">
  <p:tag name="DVSHAPEID" val="AEKVIeSyQCwPT3VNzpkZAS"/>
  <p:tag name="DVSHEQ" val="201239797"/>
</p:tagLst>
</file>

<file path=ppt/tags/tag493.xml><?xml version="1.0" encoding="utf-8"?>
<p:tagLst xmlns:a="http://schemas.openxmlformats.org/drawingml/2006/main" xmlns:r="http://schemas.openxmlformats.org/officeDocument/2006/relationships" xmlns:p="http://schemas.openxmlformats.org/presentationml/2006/main">
  <p:tag name="DVSHAPEID" val="RDvsYz5DTiUIijc7toMs4z"/>
  <p:tag name="DVSHEQ" val="-2044868657"/>
</p:tagLst>
</file>

<file path=ppt/tags/tag494.xml><?xml version="1.0" encoding="utf-8"?>
<p:tagLst xmlns:a="http://schemas.openxmlformats.org/drawingml/2006/main" xmlns:r="http://schemas.openxmlformats.org/officeDocument/2006/relationships" xmlns:p="http://schemas.openxmlformats.org/presentationml/2006/main">
  <p:tag name="DVSHAPEID" val="Cv2mW1bhpFJIM7pffisdIe"/>
  <p:tag name="DVSHEQ" val="-1041304736"/>
</p:tagLst>
</file>

<file path=ppt/tags/tag495.xml><?xml version="1.0" encoding="utf-8"?>
<p:tagLst xmlns:a="http://schemas.openxmlformats.org/drawingml/2006/main" xmlns:r="http://schemas.openxmlformats.org/officeDocument/2006/relationships" xmlns:p="http://schemas.openxmlformats.org/presentationml/2006/main">
  <p:tag name="DVSECTIONID" val="NNpYz6DbWWZN2ctEd7l54c"/>
</p:tagLst>
</file>

<file path=ppt/tags/tag496.xml><?xml version="1.0" encoding="utf-8"?>
<p:tagLst xmlns:a="http://schemas.openxmlformats.org/drawingml/2006/main" xmlns:r="http://schemas.openxmlformats.org/officeDocument/2006/relationships" xmlns:p="http://schemas.openxmlformats.org/presentationml/2006/main">
  <p:tag name="DVSHAPEID" val="HRIyEVxDPviAjHPCczjAhf"/>
  <p:tag name="DVSHEQ" val="2043436441"/>
</p:tagLst>
</file>

<file path=ppt/tags/tag497.xml><?xml version="1.0" encoding="utf-8"?>
<p:tagLst xmlns:a="http://schemas.openxmlformats.org/drawingml/2006/main" xmlns:r="http://schemas.openxmlformats.org/officeDocument/2006/relationships" xmlns:p="http://schemas.openxmlformats.org/presentationml/2006/main">
  <p:tag name="DVSHAPEID" val="Ivyg8422hsQIZiempWO1Uz"/>
  <p:tag name="DVSHEQ" val="-1765941545"/>
</p:tagLst>
</file>

<file path=ppt/tags/tag498.xml><?xml version="1.0" encoding="utf-8"?>
<p:tagLst xmlns:a="http://schemas.openxmlformats.org/drawingml/2006/main" xmlns:r="http://schemas.openxmlformats.org/officeDocument/2006/relationships" xmlns:p="http://schemas.openxmlformats.org/presentationml/2006/main">
  <p:tag name="DVSHAPEID" val="d3TOjs7eiLus8cZnMtANdQ"/>
  <p:tag name="DVSHEQ" val="436304578"/>
</p:tagLst>
</file>

<file path=ppt/tags/tag499.xml><?xml version="1.0" encoding="utf-8"?>
<p:tagLst xmlns:a="http://schemas.openxmlformats.org/drawingml/2006/main" xmlns:r="http://schemas.openxmlformats.org/officeDocument/2006/relationships" xmlns:p="http://schemas.openxmlformats.org/presentationml/2006/main">
  <p:tag name="DVSECTIONID" val="uH9WU3RlFK4wDcv84jNCmM"/>
</p:tagLst>
</file>

<file path=ppt/tags/tag500.xml><?xml version="1.0" encoding="utf-8"?>
<p:tagLst xmlns:a="http://schemas.openxmlformats.org/drawingml/2006/main" xmlns:r="http://schemas.openxmlformats.org/officeDocument/2006/relationships" xmlns:p="http://schemas.openxmlformats.org/presentationml/2006/main">
  <p:tag name="DVSHAPEID" val="JAHxoQ9nMfl9ivmkKAU3a4"/>
  <p:tag name="DVSHEQ" val="-501274555"/>
</p:tagLst>
</file>

<file path=ppt/tags/tag501.xml><?xml version="1.0" encoding="utf-8"?>
<p:tagLst xmlns:a="http://schemas.openxmlformats.org/drawingml/2006/main" xmlns:r="http://schemas.openxmlformats.org/officeDocument/2006/relationships" xmlns:p="http://schemas.openxmlformats.org/presentationml/2006/main">
  <p:tag name="DVSHAPEID" val="dx91m19lr6lnji6M3h4VZe"/>
  <p:tag name="DVSHEQ" val="-1765941545"/>
</p:tagLst>
</file>

<file path=ppt/tags/tag502.xml><?xml version="1.0" encoding="utf-8"?>
<p:tagLst xmlns:a="http://schemas.openxmlformats.org/drawingml/2006/main" xmlns:r="http://schemas.openxmlformats.org/officeDocument/2006/relationships" xmlns:p="http://schemas.openxmlformats.org/presentationml/2006/main">
  <p:tag name="DVSHAPEID" val="6ZUu0sI0TaGFnanmt8drOf"/>
  <p:tag name="DVSHEQ" val="1924561602"/>
</p:tagLst>
</file>

<file path=ppt/tags/tag503.xml><?xml version="1.0" encoding="utf-8"?>
<p:tagLst xmlns:a="http://schemas.openxmlformats.org/drawingml/2006/main" xmlns:r="http://schemas.openxmlformats.org/officeDocument/2006/relationships" xmlns:p="http://schemas.openxmlformats.org/presentationml/2006/main">
  <p:tag name="DVSHAPEID" val="KQfMqtNwEKxCtbLHfBX9Kz"/>
  <p:tag name="DVSHEQ" val="-308150468"/>
</p:tagLst>
</file>

<file path=ppt/tags/tag504.xml><?xml version="1.0" encoding="utf-8"?>
<p:tagLst xmlns:a="http://schemas.openxmlformats.org/drawingml/2006/main" xmlns:r="http://schemas.openxmlformats.org/officeDocument/2006/relationships" xmlns:p="http://schemas.openxmlformats.org/presentationml/2006/main">
  <p:tag name="DVSECTIONID" val="BimOg7QVRh4lg5np8V5PGq"/>
</p:tagLst>
</file>

<file path=ppt/tags/tag505.xml><?xml version="1.0" encoding="utf-8"?>
<p:tagLst xmlns:a="http://schemas.openxmlformats.org/drawingml/2006/main" xmlns:r="http://schemas.openxmlformats.org/officeDocument/2006/relationships" xmlns:p="http://schemas.openxmlformats.org/presentationml/2006/main">
  <p:tag name="DVSHAPEID" val="mEL2EWK0AAwbz1IWduo6ag"/>
  <p:tag name="DVSHEQ" val="-166409816"/>
</p:tagLst>
</file>

<file path=ppt/tags/tag506.xml><?xml version="1.0" encoding="utf-8"?>
<p:tagLst xmlns:a="http://schemas.openxmlformats.org/drawingml/2006/main" xmlns:r="http://schemas.openxmlformats.org/officeDocument/2006/relationships" xmlns:p="http://schemas.openxmlformats.org/presentationml/2006/main">
  <p:tag name="DVSHAPEID" val="1TD0Nshgjr55XsxSHAZ6dJ"/>
  <p:tag name="DVSHEQ" val="1139199938"/>
</p:tagLst>
</file>

<file path=ppt/tags/tag507.xml><?xml version="1.0" encoding="utf-8"?>
<p:tagLst xmlns:a="http://schemas.openxmlformats.org/drawingml/2006/main" xmlns:r="http://schemas.openxmlformats.org/officeDocument/2006/relationships" xmlns:p="http://schemas.openxmlformats.org/presentationml/2006/main">
  <p:tag name="DVSHAPEID" val="QgMAYHC1Qds6DSoD8iIjh4"/>
  <p:tag name="DVSHEQ" val="-1765941545"/>
</p:tagLst>
</file>

<file path=ppt/tags/tag508.xml><?xml version="1.0" encoding="utf-8"?>
<p:tagLst xmlns:a="http://schemas.openxmlformats.org/drawingml/2006/main" xmlns:r="http://schemas.openxmlformats.org/officeDocument/2006/relationships" xmlns:p="http://schemas.openxmlformats.org/presentationml/2006/main">
  <p:tag name="DVSHAPEID" val="6u3golMN742h2nddtAEhBR"/>
  <p:tag name="DVSHEQ" val="-1431602494"/>
</p:tagLst>
</file>

<file path=ppt/tags/tag509.xml><?xml version="1.0" encoding="utf-8"?>
<p:tagLst xmlns:a="http://schemas.openxmlformats.org/drawingml/2006/main" xmlns:r="http://schemas.openxmlformats.org/officeDocument/2006/relationships" xmlns:p="http://schemas.openxmlformats.org/presentationml/2006/main">
  <p:tag name="DVSHAPEID" val="OeLQNDqW7mOrDGPTCB5L9f"/>
  <p:tag name="DVSHEQ" val="432303425"/>
</p:tagLst>
</file>

<file path=ppt/tags/tag510.xml><?xml version="1.0" encoding="utf-8"?>
<p:tagLst xmlns:a="http://schemas.openxmlformats.org/drawingml/2006/main" xmlns:r="http://schemas.openxmlformats.org/officeDocument/2006/relationships" xmlns:p="http://schemas.openxmlformats.org/presentationml/2006/main">
  <p:tag name="DVSHAPEID" val="LHfRBJ2XWFAsH8itCc3N2T"/>
  <p:tag name="DVSHEQ" val="263862903"/>
</p:tagLst>
</file>

<file path=ppt/tags/tag511.xml><?xml version="1.0" encoding="utf-8"?>
<p:tagLst xmlns:a="http://schemas.openxmlformats.org/drawingml/2006/main" xmlns:r="http://schemas.openxmlformats.org/officeDocument/2006/relationships" xmlns:p="http://schemas.openxmlformats.org/presentationml/2006/main">
  <p:tag name="DVSHAPEID" val="nZfMUEhlsRcPL3VAuU1kOL"/>
  <p:tag name="DVSHEQ" val="19630311"/>
</p:tagLst>
</file>

<file path=ppt/tags/tag512.xml><?xml version="1.0" encoding="utf-8"?>
<p:tagLst xmlns:a="http://schemas.openxmlformats.org/drawingml/2006/main" xmlns:r="http://schemas.openxmlformats.org/officeDocument/2006/relationships" xmlns:p="http://schemas.openxmlformats.org/presentationml/2006/main">
  <p:tag name="DVSHAPEID" val="rKKZFHsWf0F2ej1olGgJft"/>
  <p:tag name="DVSHEQ" val="-665924434"/>
</p:tagLst>
</file>

<file path=ppt/tags/tag513.xml><?xml version="1.0" encoding="utf-8"?>
<p:tagLst xmlns:a="http://schemas.openxmlformats.org/drawingml/2006/main" xmlns:r="http://schemas.openxmlformats.org/officeDocument/2006/relationships" xmlns:p="http://schemas.openxmlformats.org/presentationml/2006/main">
  <p:tag name="DVSHAPEID" val="7n5YrGNMj8vCyu2UZzSvBc"/>
  <p:tag name="DVSHEQ" val="-254932991"/>
</p:tagLst>
</file>

<file path=ppt/tags/tag514.xml><?xml version="1.0" encoding="utf-8"?>
<p:tagLst xmlns:a="http://schemas.openxmlformats.org/drawingml/2006/main" xmlns:r="http://schemas.openxmlformats.org/officeDocument/2006/relationships" xmlns:p="http://schemas.openxmlformats.org/presentationml/2006/main">
  <p:tag name="DVSHAPEID" val="RaZHB8ZSHmdRLjKLlm5HOx"/>
  <p:tag name="DVSHEQ" val="1423651985"/>
</p:tagLst>
</file>

<file path=ppt/tags/tag515.xml><?xml version="1.0" encoding="utf-8"?>
<p:tagLst xmlns:a="http://schemas.openxmlformats.org/drawingml/2006/main" xmlns:r="http://schemas.openxmlformats.org/officeDocument/2006/relationships" xmlns:p="http://schemas.openxmlformats.org/presentationml/2006/main">
  <p:tag name="DVSHAPEID" val="X8FeRGbmTTtM4XRH4JfXl8"/>
  <p:tag name="DVSHEQ" val="162789307"/>
</p:tagLst>
</file>

<file path=ppt/tags/tag516.xml><?xml version="1.0" encoding="utf-8"?>
<p:tagLst xmlns:a="http://schemas.openxmlformats.org/drawingml/2006/main" xmlns:r="http://schemas.openxmlformats.org/officeDocument/2006/relationships" xmlns:p="http://schemas.openxmlformats.org/presentationml/2006/main">
  <p:tag name="DVSHAPEID" val="LHfRBJ2XWFAsH8itCc3N2T"/>
  <p:tag name="DVSHEQ" val="263862903"/>
</p:tagLst>
</file>

<file path=ppt/tags/tag517.xml><?xml version="1.0" encoding="utf-8"?>
<p:tagLst xmlns:a="http://schemas.openxmlformats.org/drawingml/2006/main" xmlns:r="http://schemas.openxmlformats.org/officeDocument/2006/relationships" xmlns:p="http://schemas.openxmlformats.org/presentationml/2006/main">
  <p:tag name="DVSHAPEID" val="RaZHB8ZSHmdRLjKLlm5HOx"/>
  <p:tag name="DVSHEQ" val="1423651985"/>
</p:tagLst>
</file>

<file path=ppt/tags/tag518.xml><?xml version="1.0" encoding="utf-8"?>
<p:tagLst xmlns:a="http://schemas.openxmlformats.org/drawingml/2006/main" xmlns:r="http://schemas.openxmlformats.org/officeDocument/2006/relationships" xmlns:p="http://schemas.openxmlformats.org/presentationml/2006/main">
  <p:tag name="DVSHAPEID" val="J7U6Gg0HwmvLDAeEcfn78x"/>
  <p:tag name="DVSHEQ" val="-400400637"/>
</p:tagLst>
</file>

<file path=ppt/tags/tag519.xml><?xml version="1.0" encoding="utf-8"?>
<p:tagLst xmlns:a="http://schemas.openxmlformats.org/drawingml/2006/main" xmlns:r="http://schemas.openxmlformats.org/officeDocument/2006/relationships" xmlns:p="http://schemas.openxmlformats.org/presentationml/2006/main">
  <p:tag name="DVSHAPEID" val="J7U6Gg0HwmvLDAeEcfn78x"/>
  <p:tag name="DVSHEQ" val="-400400637"/>
</p:tagLst>
</file>

<file path=ppt/tags/tag520.xml><?xml version="1.0" encoding="utf-8"?>
<p:tagLst xmlns:a="http://schemas.openxmlformats.org/drawingml/2006/main" xmlns:r="http://schemas.openxmlformats.org/officeDocument/2006/relationships" xmlns:p="http://schemas.openxmlformats.org/presentationml/2006/main">
  <p:tag name="DVSECTIONID" val="EOwhYAWXdVaTNHbzO5Q4PM"/>
</p:tagLst>
</file>

<file path=ppt/tags/tag521.xml><?xml version="1.0" encoding="utf-8"?>
<p:tagLst xmlns:a="http://schemas.openxmlformats.org/drawingml/2006/main" xmlns:r="http://schemas.openxmlformats.org/officeDocument/2006/relationships" xmlns:p="http://schemas.openxmlformats.org/presentationml/2006/main">
  <p:tag name="DVSHAPEID" val="AEKVIeSyQCwPT3VNzpkZAS"/>
  <p:tag name="DVSHEQ" val="201239797"/>
</p:tagLst>
</file>

<file path=ppt/tags/tag522.xml><?xml version="1.0" encoding="utf-8"?>
<p:tagLst xmlns:a="http://schemas.openxmlformats.org/drawingml/2006/main" xmlns:r="http://schemas.openxmlformats.org/officeDocument/2006/relationships" xmlns:p="http://schemas.openxmlformats.org/presentationml/2006/main">
  <p:tag name="DVSHAPEID" val="RDvsYz5DTiUIijc7toMs4z"/>
  <p:tag name="DVSHEQ" val="-2044868657"/>
</p:tagLst>
</file>

<file path=ppt/tags/tag523.xml><?xml version="1.0" encoding="utf-8"?>
<p:tagLst xmlns:a="http://schemas.openxmlformats.org/drawingml/2006/main" xmlns:r="http://schemas.openxmlformats.org/officeDocument/2006/relationships" xmlns:p="http://schemas.openxmlformats.org/presentationml/2006/main">
  <p:tag name="DVSHAPEID" val="Cv2mW1bhpFJIM7pffisdIe"/>
  <p:tag name="DVSHEQ" val="-1041304736"/>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9953</TotalTime>
  <Words>6214</Words>
  <Application>Microsoft Office PowerPoint</Application>
  <PresentationFormat>On-screen Show (4:3)</PresentationFormat>
  <Paragraphs>1181</Paragraphs>
  <Slides>61</Slides>
  <Notes>59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63" baseType="lpstr">
      <vt:lpstr>Edge</vt:lpstr>
      <vt:lpstr>Equation</vt:lpstr>
      <vt:lpstr>Reducing Peak Power with a  Table-Driven Adaptive Processor Core</vt:lpstr>
      <vt:lpstr>The Power Problem</vt:lpstr>
      <vt:lpstr>The Power Problem</vt:lpstr>
      <vt:lpstr>The Power Problem</vt:lpstr>
      <vt:lpstr>Theoretical Peak vs Execution Peak</vt:lpstr>
      <vt:lpstr>Theoretical Peak vs Execution Peak</vt:lpstr>
      <vt:lpstr>Theoretical Peak vs Execution Peak</vt:lpstr>
      <vt:lpstr>Theoretical Peak vs Execution Peak</vt:lpstr>
      <vt:lpstr>Our Approach</vt:lpstr>
      <vt:lpstr>Motivating Experiment: </vt:lpstr>
      <vt:lpstr>Motivating Experiment: </vt:lpstr>
      <vt:lpstr>Motivating Experiment: </vt:lpstr>
      <vt:lpstr>Motivating Experiment: </vt:lpstr>
      <vt:lpstr>Motivating Experiment: </vt:lpstr>
      <vt:lpstr>Outline</vt:lpstr>
      <vt:lpstr>Outline</vt:lpstr>
      <vt:lpstr>Baseline Architecture</vt:lpstr>
      <vt:lpstr>Baseline Architecture with Average Power Management</vt:lpstr>
      <vt:lpstr>Proposed Architecture with Peak Power Management</vt:lpstr>
      <vt:lpstr>Proposed Architecture with Peak Power Management</vt:lpstr>
      <vt:lpstr>Two Critical Issues</vt:lpstr>
      <vt:lpstr>Two Critical Issues</vt:lpstr>
      <vt:lpstr>Finding Appropriate Configurations</vt:lpstr>
      <vt:lpstr>Finding Appropriate Configurations</vt:lpstr>
      <vt:lpstr>Finding Appropriate Configurations</vt:lpstr>
      <vt:lpstr>Finding Appropriate Configurations</vt:lpstr>
      <vt:lpstr>Finding Appropriate Configurations</vt:lpstr>
      <vt:lpstr>Finding Appropriate Configurations</vt:lpstr>
      <vt:lpstr>Contents of the Config ROM</vt:lpstr>
      <vt:lpstr>Implementation Overhead</vt:lpstr>
      <vt:lpstr>Outline</vt:lpstr>
      <vt:lpstr>Dynamic Adaptation vs Static Tuning</vt:lpstr>
      <vt:lpstr>Dynamic Adaptation vs Static Tuning</vt:lpstr>
      <vt:lpstr>Two Critical Issues</vt:lpstr>
      <vt:lpstr>Realistic Adaptive Techniques </vt:lpstr>
      <vt:lpstr>Realistic Adaptive Techniques </vt:lpstr>
      <vt:lpstr>Realistic Adaptive Techniques </vt:lpstr>
      <vt:lpstr>Realistic Adaptive Techniques </vt:lpstr>
      <vt:lpstr>Realistic Adaptive Techniques</vt:lpstr>
      <vt:lpstr>Realistic Adaptive Techniques </vt:lpstr>
      <vt:lpstr>Realistic Adaptive Techniques</vt:lpstr>
      <vt:lpstr>Realistic Adaptive Techniques </vt:lpstr>
      <vt:lpstr>Realistic Adaptive Techniques </vt:lpstr>
      <vt:lpstr>Results Across Peak Power Budgets vs Maximized Core</vt:lpstr>
      <vt:lpstr>So what have we gained?</vt:lpstr>
      <vt:lpstr>Power Efficiency</vt:lpstr>
      <vt:lpstr>Power Efficiency</vt:lpstr>
      <vt:lpstr>Voltage variation and Decoupling Capacitance benefits</vt:lpstr>
      <vt:lpstr>Voltage variation and Decoupling Capacitance benefits</vt:lpstr>
      <vt:lpstr>Voltage variation and Decoupling Capacitance benefits</vt:lpstr>
      <vt:lpstr>Voltage variation and Decoupling Capacitance benefits</vt:lpstr>
      <vt:lpstr>Conclusions</vt:lpstr>
      <vt:lpstr>Reducing Peak Power with a  Table-Driven Adaptive Processor Core</vt:lpstr>
      <vt:lpstr>Backup slides</vt:lpstr>
      <vt:lpstr>Design Space</vt:lpstr>
      <vt:lpstr>Multiple Config ROMs and their potential applications</vt:lpstr>
      <vt:lpstr>Benchmarks performing better with fewer resources</vt:lpstr>
      <vt:lpstr>Decoupling capacitance on die</vt:lpstr>
      <vt:lpstr>Delays</vt:lpstr>
      <vt:lpstr>Adaptation transition</vt:lpstr>
      <vt:lpstr>Reducing Peak Power with a  Table-Driven Adaptive Processor Core</vt:lpstr>
    </vt:vector>
  </TitlesOfParts>
  <Company>none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Exploiting Unbalanced Thread Scheduling for Energy and Performance on a CMP of SMT Processors</dc:title>
  <dc:creator>none</dc:creator>
  <cp:lastModifiedBy>VK</cp:lastModifiedBy>
  <cp:revision>371</cp:revision>
  <dcterms:created xsi:type="dcterms:W3CDTF">2005-10-19T18:34:13Z</dcterms:created>
  <dcterms:modified xsi:type="dcterms:W3CDTF">2010-05-25T19:26:56Z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V.Tracking">
    <vt:lpwstr>true</vt:lpwstr>
  </property>
  <property fmtid="{D5CDD505-2E9C-101B-9397-08002B2CF9AE}" pid="3" name="DV.DocumentId">
    <vt:lpwstr>4dTBnBGj6wpIxisjNgulpR</vt:lpwstr>
  </property>
  <property fmtid="{D5CDD505-2E9C-101B-9397-08002B2CF9AE}" pid="4" name="DV.VersionId">
    <vt:lpwstr>aex7vk6vNSxdZ7HPc22ltL</vt:lpwstr>
  </property>
  <property fmtid="{D5CDD505-2E9C-101B-9397-08002B2CF9AE}" pid="5" name="DV.PreviousVersionId">
    <vt:lpwstr>dMUypEhK3E7p29WH3hOrUo</vt:lpwstr>
  </property>
  <property fmtid="{D5CDD505-2E9C-101B-9397-08002B2CF9AE}" pid="6" name="DV.PluginVersion">
    <vt:lpwstr>1.2.3136.0</vt:lpwstr>
  </property>
</Properties>
</file>