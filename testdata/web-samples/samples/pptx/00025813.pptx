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751" r:id="rId2"/>
    <p:sldId id="803" r:id="rId3"/>
    <p:sldId id="801" r:id="rId4"/>
    <p:sldId id="804" r:id="rId5"/>
    <p:sldId id="805" r:id="rId6"/>
    <p:sldId id="806" r:id="rId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lnSpc>
        <a:spcPct val="130000"/>
      </a:lnSpc>
      <a:spcBef>
        <a:spcPct val="50000"/>
      </a:spcBef>
      <a:spcAft>
        <a:spcPct val="0"/>
      </a:spcAft>
      <a:buClr>
        <a:schemeClr val="accent1"/>
      </a:buClr>
      <a:buChar char="•"/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lnSpc>
        <a:spcPct val="130000"/>
      </a:lnSpc>
      <a:spcBef>
        <a:spcPct val="50000"/>
      </a:spcBef>
      <a:spcAft>
        <a:spcPct val="0"/>
      </a:spcAft>
      <a:buClr>
        <a:schemeClr val="accent1"/>
      </a:buClr>
      <a:buChar char="•"/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2pPr>
    <a:lvl3pPr marL="914400" algn="l" rtl="0" eaLnBrk="0" fontAlgn="base" hangingPunct="0">
      <a:lnSpc>
        <a:spcPct val="130000"/>
      </a:lnSpc>
      <a:spcBef>
        <a:spcPct val="50000"/>
      </a:spcBef>
      <a:spcAft>
        <a:spcPct val="0"/>
      </a:spcAft>
      <a:buClr>
        <a:schemeClr val="accent1"/>
      </a:buClr>
      <a:buChar char="•"/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3pPr>
    <a:lvl4pPr marL="1371600" algn="l" rtl="0" eaLnBrk="0" fontAlgn="base" hangingPunct="0">
      <a:lnSpc>
        <a:spcPct val="130000"/>
      </a:lnSpc>
      <a:spcBef>
        <a:spcPct val="50000"/>
      </a:spcBef>
      <a:spcAft>
        <a:spcPct val="0"/>
      </a:spcAft>
      <a:buClr>
        <a:schemeClr val="accent1"/>
      </a:buClr>
      <a:buChar char="•"/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4pPr>
    <a:lvl5pPr marL="1828800" algn="l" rtl="0" eaLnBrk="0" fontAlgn="base" hangingPunct="0">
      <a:lnSpc>
        <a:spcPct val="130000"/>
      </a:lnSpc>
      <a:spcBef>
        <a:spcPct val="50000"/>
      </a:spcBef>
      <a:spcAft>
        <a:spcPct val="0"/>
      </a:spcAft>
      <a:buClr>
        <a:schemeClr val="accent1"/>
      </a:buClr>
      <a:buChar char="•"/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Book Antiqua" pitchFamily="-65" charset="0"/>
        <a:ea typeface="ＭＳ Ｐゴシック" pitchFamily="-65" charset="-128"/>
        <a:cs typeface="ＭＳ Ｐゴシック" pitchFamily="-6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333399"/>
    <a:srgbClr val="000066"/>
    <a:srgbClr val="990000"/>
    <a:srgbClr val="660033"/>
    <a:srgbClr val="993366"/>
    <a:srgbClr val="CC0000"/>
    <a:srgbClr val="FFCC66"/>
    <a:srgbClr val="455BA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8828" autoAdjust="0"/>
  </p:normalViewPr>
  <p:slideViewPr>
    <p:cSldViewPr snapToGrid="0" showGuides="1">
      <p:cViewPr varScale="1">
        <p:scale>
          <a:sx n="69" d="100"/>
          <a:sy n="69" d="100"/>
        </p:scale>
        <p:origin x="-882" y="-108"/>
      </p:cViewPr>
      <p:guideLst>
        <p:guide orient="horz" pos="3216"/>
        <p:guide pos="5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howGuides="1">
      <p:cViewPr varScale="1">
        <p:scale>
          <a:sx n="55" d="100"/>
          <a:sy n="55" d="100"/>
        </p:scale>
        <p:origin x="-1752" y="-84"/>
      </p:cViewPr>
      <p:guideLst>
        <p:guide orient="horz" pos="2928"/>
        <p:guide pos="220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0813" y="17463"/>
            <a:ext cx="30210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t" anchorCtr="0" compatLnSpc="1">
            <a:prstTxWarp prst="textNoShape">
              <a:avLst/>
            </a:prstTxWarp>
          </a:bodyPr>
          <a:lstStyle>
            <a:lvl1pPr algn="r"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r>
              <a:rPr lang="en-US"/>
              <a:t>CANADIAN STROKE NETWORK</a:t>
            </a:r>
            <a:endParaRPr lang="en-US" sz="1000" i="1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5400" y="8813800"/>
            <a:ext cx="30210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b" anchorCtr="0" compatLnSpc="1">
            <a:prstTxWarp prst="textNoShape">
              <a:avLst/>
            </a:prstTxWarp>
          </a:bodyPr>
          <a:lstStyle>
            <a:lvl1pPr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0" i="1">
                <a:latin typeface="Book Antiqua" pitchFamily="33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3052763" y="8853488"/>
            <a:ext cx="9112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8971" tIns="45295" rIns="88971" bIns="45295">
            <a:prstTxWarp prst="textNoShape">
              <a:avLst/>
            </a:prstTxWarp>
            <a:spAutoFit/>
          </a:bodyPr>
          <a:lstStyle/>
          <a:p>
            <a:pPr algn="ctr" defTabSz="884238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1200" b="0">
                <a:latin typeface="Arial" pitchFamily="-65" charset="0"/>
              </a:rPr>
              <a:t>Page </a:t>
            </a:r>
            <a:fld id="{3E149651-4D65-3D4E-8274-EA976C8B1A41}" type="slidenum">
              <a:rPr lang="en-US" sz="1200" b="0">
                <a:latin typeface="Arial" pitchFamily="-65" charset="0"/>
              </a:rPr>
              <a:pPr algn="ctr" defTabSz="884238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en-US" sz="1200" b="0">
              <a:latin typeface="Arial" pitchFamily="-65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5400" y="17463"/>
            <a:ext cx="30210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t" anchorCtr="0" compatLnSpc="1">
            <a:prstTxWarp prst="textNoShape">
              <a:avLst/>
            </a:prstTxWarp>
          </a:bodyPr>
          <a:lstStyle>
            <a:lvl1pPr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0" i="1">
                <a:latin typeface="Times New Roman" pitchFamily="33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0813" y="17463"/>
            <a:ext cx="30210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t" anchorCtr="0" compatLnSpc="1">
            <a:prstTxWarp prst="textNoShape">
              <a:avLst/>
            </a:prstTxWarp>
          </a:bodyPr>
          <a:lstStyle>
            <a:lvl1pPr algn="r"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0" i="1">
                <a:latin typeface="Times New Roman" pitchFamily="33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5400" y="8813800"/>
            <a:ext cx="30210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b" anchorCtr="0" compatLnSpc="1">
            <a:prstTxWarp prst="textNoShape">
              <a:avLst/>
            </a:prstTxWarp>
          </a:bodyPr>
          <a:lstStyle>
            <a:lvl1pPr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0" i="1">
                <a:latin typeface="Times New Roman" pitchFamily="33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0813" y="8813800"/>
            <a:ext cx="30210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2" tIns="0" rIns="19412" bIns="0" numCol="1" anchor="b" anchorCtr="0" compatLnSpc="1">
            <a:prstTxWarp prst="textNoShape">
              <a:avLst/>
            </a:prstTxWarp>
          </a:bodyPr>
          <a:lstStyle>
            <a:lvl1pPr algn="r" defTabSz="931863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 b="0" i="1">
                <a:latin typeface="Times New Roman" pitchFamily="-65" charset="0"/>
              </a:defRPr>
            </a:lvl1pPr>
          </a:lstStyle>
          <a:p>
            <a:fld id="{B4240296-68ED-7541-85A5-C22F98F16AB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0325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24" tIns="46913" rIns="93824" bIns="469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27563" cy="3470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3052763" y="8853488"/>
            <a:ext cx="911225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8971" tIns="45295" rIns="88971" bIns="45295">
            <a:prstTxWarp prst="textNoShape">
              <a:avLst/>
            </a:prstTxWarp>
            <a:spAutoFit/>
          </a:bodyPr>
          <a:lstStyle/>
          <a:p>
            <a:pPr algn="ctr" defTabSz="884238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1200" b="0">
                <a:latin typeface="Arial" pitchFamily="-65" charset="0"/>
              </a:rPr>
              <a:t>Page </a:t>
            </a:r>
            <a:fld id="{8AC4A12F-83AD-A44D-A168-BCD60C488A20}" type="slidenum">
              <a:rPr lang="en-US" sz="1200" b="0">
                <a:latin typeface="Arial" pitchFamily="-65" charset="0"/>
              </a:rPr>
              <a:pPr algn="ctr" defTabSz="884238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t>‹#›</a:t>
            </a:fld>
            <a:endParaRPr lang="en-US" sz="1200" b="0">
              <a:latin typeface="Arial" pitchFamily="-65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-110" charset="0"/>
        <a:ea typeface="ＭＳ Ｐゴシック" pitchFamily="33" charset="-128"/>
        <a:cs typeface="ＭＳ Ｐゴシック" pitchFamily="33" charset="-128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Book Antiqua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E2A1F3-1954-6E42-85C1-96976E9BC3BC}" type="slidenum">
              <a:rPr lang="en-US"/>
              <a:pPr/>
              <a:t>1</a:t>
            </a:fld>
            <a:endParaRPr 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Book Antiqua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F27078-DD74-C549-957B-C03C0528EB9F}" type="slidenum">
              <a:rPr lang="en-US"/>
              <a:pPr/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Book Antiqua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CSN_pp_cvr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588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6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57325" y="3389313"/>
            <a:ext cx="6122988" cy="609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46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500" y="4073525"/>
            <a:ext cx="6116638" cy="1176338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202E76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6438" y="2370138"/>
            <a:ext cx="3744912" cy="3751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2370138"/>
            <a:ext cx="3746500" cy="3751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3663" y="1427163"/>
            <a:ext cx="1912937" cy="4694237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4850" y="1427163"/>
            <a:ext cx="5586413" cy="4694237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427163"/>
            <a:ext cx="7651750" cy="889000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06438" y="2370138"/>
            <a:ext cx="3744912" cy="3751262"/>
          </a:xfr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3750" y="2370138"/>
            <a:ext cx="3746500" cy="3751262"/>
          </a:xfr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04850" y="1427163"/>
            <a:ext cx="7651750" cy="8890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6438" y="2370138"/>
            <a:ext cx="7643812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8" name="Picture 34" descr="CSN_pp_int4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4763" y="-4763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824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</p:sldLayoutIdLst>
  <p:transition spd="med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33" charset="-128"/>
          <a:cs typeface="ＭＳ Ｐゴシック" pitchFamily="33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  <a:ea typeface="ＭＳ Ｐゴシック" pitchFamily="33" charset="-128"/>
          <a:cs typeface="ＭＳ Ｐゴシック" pitchFamily="33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  <a:ea typeface="ＭＳ Ｐゴシック" pitchFamily="33" charset="-128"/>
          <a:cs typeface="ＭＳ Ｐゴシック" pitchFamily="33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  <a:ea typeface="ＭＳ Ｐゴシック" pitchFamily="33" charset="-128"/>
          <a:cs typeface="ＭＳ Ｐゴシック" pitchFamily="33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  <a:ea typeface="ＭＳ Ｐゴシック" pitchFamily="33" charset="-128"/>
          <a:cs typeface="ＭＳ Ｐゴシック" pitchFamily="33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Garamond" pitchFamily="-110" charset="0"/>
        </a:defRPr>
      </a:lvl9pPr>
    </p:titleStyle>
    <p:bodyStyle>
      <a:lvl1pPr marL="285750" indent="-285750" algn="l" rtl="0" eaLnBrk="0" fontAlgn="base" hangingPunct="0">
        <a:spcBef>
          <a:spcPct val="30000"/>
        </a:spcBef>
        <a:spcAft>
          <a:spcPct val="0"/>
        </a:spcAft>
        <a:buClr>
          <a:srgbClr val="202E76"/>
        </a:buClr>
        <a:buSzPct val="100000"/>
        <a:buChar char="•"/>
        <a:defRPr sz="2200">
          <a:solidFill>
            <a:schemeClr val="tx1"/>
          </a:solidFill>
          <a:latin typeface="+mn-lt"/>
          <a:ea typeface="ＭＳ Ｐゴシック" pitchFamily="33" charset="-128"/>
          <a:cs typeface="ＭＳ Ｐゴシック" pitchFamily="33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»"/>
        <a:defRPr sz="2200">
          <a:solidFill>
            <a:srgbClr val="333399"/>
          </a:solidFill>
          <a:latin typeface="+mn-lt"/>
          <a:ea typeface="ＭＳ Ｐゴシック" pitchFamily="-110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•"/>
        <a:defRPr sz="2200">
          <a:solidFill>
            <a:srgbClr val="333399"/>
          </a:solidFill>
          <a:latin typeface="+mn-lt"/>
          <a:ea typeface="ＭＳ Ｐゴシック" pitchFamily="-110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202E76"/>
        </a:buClr>
        <a:buSzPct val="100000"/>
        <a:buChar char="–"/>
        <a:defRPr sz="2200">
          <a:solidFill>
            <a:srgbClr val="333399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9" descr="CSN_pp_cvr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5588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319088" y="5273675"/>
            <a:ext cx="8424862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  <a:t>The Canadian Stroke Strategy: </a:t>
            </a:r>
            <a:b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</a:br>
            <a: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  <a:t>major successes, lessons learned,</a:t>
            </a:r>
            <a:b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</a:br>
            <a: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  <a:t> and the path ahead</a:t>
            </a:r>
            <a:br>
              <a:rPr lang="en-US" dirty="0" smtClean="0">
                <a:latin typeface="+mn-lt"/>
                <a:ea typeface="ＭＳ Ｐゴシック" charset="-128"/>
                <a:cs typeface="ＭＳ Ｐゴシック" charset="-128"/>
              </a:rPr>
            </a:br>
            <a:endParaRPr lang="en-US" dirty="0" smtClean="0">
              <a:latin typeface="+mn-lt"/>
              <a:ea typeface="ＭＳ Ｐゴシック" charset="-128"/>
              <a:cs typeface="ＭＳ Ｐゴシック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Overview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706438" y="2370138"/>
            <a:ext cx="7627937" cy="3751262"/>
          </a:xfrm>
        </p:spPr>
        <p:txBody>
          <a:bodyPr/>
          <a:lstStyle/>
          <a:p>
            <a:r>
              <a:rPr lang="en-US" sz="2800">
                <a:ea typeface="ＭＳ Ｐゴシック" pitchFamily="-65" charset="-128"/>
                <a:cs typeface="ＭＳ Ｐゴシック" pitchFamily="-65" charset="-128"/>
              </a:rPr>
              <a:t>What is Canadian Stroke Strategy?</a:t>
            </a:r>
          </a:p>
          <a:p>
            <a:r>
              <a:rPr lang="en-US" sz="2800">
                <a:ea typeface="ＭＳ Ｐゴシック" pitchFamily="-65" charset="-128"/>
                <a:cs typeface="ＭＳ Ｐゴシック" pitchFamily="-65" charset="-128"/>
              </a:rPr>
              <a:t>What we have accomplished to date?</a:t>
            </a:r>
          </a:p>
          <a:p>
            <a:r>
              <a:rPr lang="en-US" sz="2800">
                <a:ea typeface="ＭＳ Ｐゴシック" pitchFamily="-65" charset="-128"/>
                <a:cs typeface="ＭＳ Ｐゴシック" pitchFamily="-65" charset="-128"/>
              </a:rPr>
              <a:t>Why has it worked?</a:t>
            </a:r>
          </a:p>
          <a:p>
            <a:r>
              <a:rPr lang="en-US" sz="2800">
                <a:ea typeface="ＭＳ Ｐゴシック" pitchFamily="-65" charset="-128"/>
                <a:cs typeface="ＭＳ Ｐゴシック" pitchFamily="-65" charset="-128"/>
              </a:rPr>
              <a:t>What still needs to be done?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55"/>
          <p:cNvSpPr>
            <a:spLocks noChangeArrowheads="1"/>
          </p:cNvSpPr>
          <p:nvPr/>
        </p:nvSpPr>
        <p:spPr bwMode="auto">
          <a:xfrm>
            <a:off x="1135063" y="1933575"/>
            <a:ext cx="6950075" cy="106838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26988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Book Antiqua" charset="0"/>
              <a:ea typeface="+mn-ea"/>
              <a:cs typeface="+mn-cs"/>
            </a:endParaRPr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1174750" y="2338388"/>
            <a:ext cx="1525588" cy="554037"/>
          </a:xfrm>
          <a:prstGeom prst="rect">
            <a:avLst/>
          </a:prstGeom>
          <a:solidFill>
            <a:schemeClr val="tx1"/>
          </a:solidFill>
          <a:ln w="7938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0" name="Rectangle 9"/>
          <p:cNvSpPr>
            <a:spLocks noChangeArrowheads="1"/>
          </p:cNvSpPr>
          <p:nvPr/>
        </p:nvSpPr>
        <p:spPr bwMode="auto">
          <a:xfrm>
            <a:off x="1382713" y="2476500"/>
            <a:ext cx="1049337" cy="2444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>
                <a:solidFill>
                  <a:srgbClr val="455BA1"/>
                </a:solidFill>
                <a:latin typeface="Arial" pitchFamily="-65" charset="0"/>
              </a:rPr>
              <a:t>Prevention</a:t>
            </a:r>
            <a:endParaRPr lang="en-US" sz="1600" b="0">
              <a:solidFill>
                <a:srgbClr val="455BA1"/>
              </a:solidFill>
              <a:latin typeface="Arial" pitchFamily="-65" charset="0"/>
            </a:endParaRPr>
          </a:p>
        </p:txBody>
      </p:sp>
      <p:sp>
        <p:nvSpPr>
          <p:cNvPr id="6151" name="Rectangle 10"/>
          <p:cNvSpPr>
            <a:spLocks noChangeArrowheads="1"/>
          </p:cNvSpPr>
          <p:nvPr/>
        </p:nvSpPr>
        <p:spPr bwMode="auto">
          <a:xfrm>
            <a:off x="2876550" y="2317750"/>
            <a:ext cx="1390650" cy="574675"/>
          </a:xfrm>
          <a:prstGeom prst="rect">
            <a:avLst/>
          </a:prstGeom>
          <a:solidFill>
            <a:schemeClr val="tx1"/>
          </a:solidFill>
          <a:ln w="7938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2" name="Rectangle 12"/>
          <p:cNvSpPr>
            <a:spLocks noChangeArrowheads="1"/>
          </p:cNvSpPr>
          <p:nvPr/>
        </p:nvSpPr>
        <p:spPr bwMode="auto">
          <a:xfrm>
            <a:off x="2811463" y="2452688"/>
            <a:ext cx="158908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3" name="Rectangle 13"/>
          <p:cNvSpPr>
            <a:spLocks noChangeArrowheads="1"/>
          </p:cNvSpPr>
          <p:nvPr/>
        </p:nvSpPr>
        <p:spPr bwMode="auto">
          <a:xfrm>
            <a:off x="3073400" y="2459038"/>
            <a:ext cx="1263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>
                <a:solidFill>
                  <a:srgbClr val="455BA1"/>
                </a:solidFill>
                <a:latin typeface="Arial" pitchFamily="-65" charset="0"/>
              </a:rPr>
              <a:t>Treatment</a:t>
            </a:r>
            <a:endParaRPr lang="en-US" sz="1600" b="0">
              <a:solidFill>
                <a:srgbClr val="455BA1"/>
              </a:solidFill>
              <a:latin typeface="Arial" pitchFamily="-65" charset="0"/>
            </a:endParaRPr>
          </a:p>
        </p:txBody>
      </p:sp>
      <p:sp>
        <p:nvSpPr>
          <p:cNvPr id="6154" name="Rectangle 14"/>
          <p:cNvSpPr>
            <a:spLocks noChangeArrowheads="1"/>
          </p:cNvSpPr>
          <p:nvPr/>
        </p:nvSpPr>
        <p:spPr bwMode="auto">
          <a:xfrm>
            <a:off x="4451350" y="2317750"/>
            <a:ext cx="1525588" cy="574675"/>
          </a:xfrm>
          <a:prstGeom prst="rect">
            <a:avLst/>
          </a:prstGeom>
          <a:solidFill>
            <a:schemeClr val="tx1"/>
          </a:solidFill>
          <a:ln w="7938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5" name="Rectangle 15"/>
          <p:cNvSpPr>
            <a:spLocks noChangeArrowheads="1"/>
          </p:cNvSpPr>
          <p:nvPr/>
        </p:nvSpPr>
        <p:spPr bwMode="auto">
          <a:xfrm>
            <a:off x="4451350" y="2481263"/>
            <a:ext cx="1525588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6" name="Rectangle 16"/>
          <p:cNvSpPr>
            <a:spLocks noChangeArrowheads="1"/>
          </p:cNvSpPr>
          <p:nvPr/>
        </p:nvSpPr>
        <p:spPr bwMode="auto">
          <a:xfrm>
            <a:off x="4370388" y="2452688"/>
            <a:ext cx="168116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7" name="Rectangle 17"/>
          <p:cNvSpPr>
            <a:spLocks noChangeArrowheads="1"/>
          </p:cNvSpPr>
          <p:nvPr/>
        </p:nvSpPr>
        <p:spPr bwMode="auto">
          <a:xfrm>
            <a:off x="4560888" y="2470150"/>
            <a:ext cx="1344612" cy="2444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>
                <a:solidFill>
                  <a:srgbClr val="455BA1"/>
                </a:solidFill>
                <a:latin typeface="Arial" pitchFamily="-65" charset="0"/>
              </a:rPr>
              <a:t>Rehabilitation</a:t>
            </a:r>
            <a:endParaRPr lang="en-US" sz="1600" b="0">
              <a:solidFill>
                <a:srgbClr val="455BA1"/>
              </a:solidFill>
              <a:latin typeface="Arial" pitchFamily="-65" charset="0"/>
            </a:endParaRPr>
          </a:p>
        </p:txBody>
      </p:sp>
      <p:sp>
        <p:nvSpPr>
          <p:cNvPr id="6165" name="Rectangle 28"/>
          <p:cNvSpPr>
            <a:spLocks noChangeArrowheads="1"/>
          </p:cNvSpPr>
          <p:nvPr/>
        </p:nvSpPr>
        <p:spPr bwMode="auto">
          <a:xfrm>
            <a:off x="2352675" y="1382713"/>
            <a:ext cx="438467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2800">
                <a:latin typeface="Arial" pitchFamily="-65" charset="0"/>
              </a:rPr>
              <a:t>Canadian Stroke Strategy</a:t>
            </a:r>
            <a:endParaRPr lang="en-US" sz="2800" b="0">
              <a:latin typeface="Arial" pitchFamily="-65" charset="0"/>
            </a:endParaRPr>
          </a:p>
        </p:txBody>
      </p:sp>
      <p:sp>
        <p:nvSpPr>
          <p:cNvPr id="6166" name="Rectangle 30"/>
          <p:cNvSpPr>
            <a:spLocks noChangeArrowheads="1"/>
          </p:cNvSpPr>
          <p:nvPr/>
        </p:nvSpPr>
        <p:spPr bwMode="auto">
          <a:xfrm>
            <a:off x="1177925" y="1984375"/>
            <a:ext cx="68564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2000" i="1">
                <a:solidFill>
                  <a:srgbClr val="455BA1"/>
                </a:solidFill>
                <a:latin typeface="Arial" pitchFamily="-65" charset="0"/>
              </a:rPr>
              <a:t>Regional/Provincial Implementation of Best Practice</a:t>
            </a:r>
            <a:endParaRPr lang="en-US" sz="2000" b="0">
              <a:solidFill>
                <a:srgbClr val="455BA1"/>
              </a:solidFill>
              <a:latin typeface="Arial" pitchFamily="-65" charset="0"/>
            </a:endParaRPr>
          </a:p>
        </p:txBody>
      </p:sp>
      <p:sp>
        <p:nvSpPr>
          <p:cNvPr id="6174" name="Rectangle 43"/>
          <p:cNvSpPr>
            <a:spLocks noChangeArrowheads="1"/>
          </p:cNvSpPr>
          <p:nvPr/>
        </p:nvSpPr>
        <p:spPr bwMode="auto">
          <a:xfrm>
            <a:off x="6178550" y="2301875"/>
            <a:ext cx="1835150" cy="590550"/>
          </a:xfrm>
          <a:prstGeom prst="rect">
            <a:avLst/>
          </a:prstGeom>
          <a:solidFill>
            <a:schemeClr val="tx1"/>
          </a:solidFill>
          <a:ln w="7938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75" name="Rectangle 44"/>
          <p:cNvSpPr>
            <a:spLocks noChangeArrowheads="1"/>
          </p:cNvSpPr>
          <p:nvPr/>
        </p:nvSpPr>
        <p:spPr bwMode="auto">
          <a:xfrm>
            <a:off x="6216650" y="2452688"/>
            <a:ext cx="1474788" cy="3333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76" name="Rectangle 45"/>
          <p:cNvSpPr>
            <a:spLocks noChangeArrowheads="1"/>
          </p:cNvSpPr>
          <p:nvPr/>
        </p:nvSpPr>
        <p:spPr bwMode="auto">
          <a:xfrm>
            <a:off x="6351588" y="2455863"/>
            <a:ext cx="1454150" cy="2444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sz="1600">
                <a:solidFill>
                  <a:srgbClr val="455BA1"/>
                </a:solidFill>
                <a:latin typeface="Arial" pitchFamily="-65" charset="0"/>
              </a:rPr>
              <a:t>Reengagement</a:t>
            </a:r>
            <a:endParaRPr lang="en-US" sz="1600" b="0">
              <a:solidFill>
                <a:srgbClr val="455BA1"/>
              </a:solidFill>
              <a:latin typeface="Arial" pitchFamily="-65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1155700" y="3049588"/>
            <a:ext cx="6918325" cy="2881312"/>
            <a:chOff x="1155700" y="3049588"/>
            <a:chExt cx="6918325" cy="2881312"/>
          </a:xfrm>
        </p:grpSpPr>
        <p:sp>
          <p:nvSpPr>
            <p:cNvPr id="6146" name="Rectangle 56"/>
            <p:cNvSpPr>
              <a:spLocks noChangeArrowheads="1"/>
            </p:cNvSpPr>
            <p:nvPr/>
          </p:nvSpPr>
          <p:spPr bwMode="auto">
            <a:xfrm>
              <a:off x="1155700" y="3209925"/>
              <a:ext cx="6918325" cy="2720975"/>
            </a:xfrm>
            <a:prstGeom prst="rect">
              <a:avLst/>
            </a:prstGeom>
            <a:solidFill>
              <a:srgbClr val="FFCC66"/>
            </a:solidFill>
            <a:ln w="26988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7" name="Rectangle 34"/>
            <p:cNvSpPr>
              <a:spLocks noChangeArrowheads="1"/>
            </p:cNvSpPr>
            <p:nvPr/>
          </p:nvSpPr>
          <p:spPr bwMode="auto">
            <a:xfrm>
              <a:off x="1352550" y="4984750"/>
              <a:ext cx="6438900" cy="365125"/>
            </a:xfrm>
            <a:prstGeom prst="rect">
              <a:avLst/>
            </a:prstGeom>
            <a:solidFill>
              <a:schemeClr val="tx1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8" name="Rectangle 18"/>
            <p:cNvSpPr>
              <a:spLocks noChangeArrowheads="1"/>
            </p:cNvSpPr>
            <p:nvPr/>
          </p:nvSpPr>
          <p:spPr bwMode="auto">
            <a:xfrm>
              <a:off x="1352550" y="4078288"/>
              <a:ext cx="6438900" cy="366712"/>
            </a:xfrm>
            <a:prstGeom prst="rect">
              <a:avLst/>
            </a:prstGeom>
            <a:solidFill>
              <a:schemeClr val="tx1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9" name="Rectangle 19"/>
            <p:cNvSpPr>
              <a:spLocks noChangeArrowheads="1"/>
            </p:cNvSpPr>
            <p:nvPr/>
          </p:nvSpPr>
          <p:spPr bwMode="auto">
            <a:xfrm>
              <a:off x="2066925" y="4078288"/>
              <a:ext cx="4841875" cy="3286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0" name="Rectangle 20"/>
            <p:cNvSpPr>
              <a:spLocks noChangeArrowheads="1"/>
            </p:cNvSpPr>
            <p:nvPr/>
          </p:nvSpPr>
          <p:spPr bwMode="auto">
            <a:xfrm>
              <a:off x="3563938" y="4143375"/>
              <a:ext cx="1778000" cy="2222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1" name="Rectangle 21"/>
            <p:cNvSpPr>
              <a:spLocks noChangeArrowheads="1"/>
            </p:cNvSpPr>
            <p:nvPr/>
          </p:nvSpPr>
          <p:spPr bwMode="auto">
            <a:xfrm>
              <a:off x="2959100" y="4133850"/>
              <a:ext cx="3660775" cy="24606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600">
                  <a:solidFill>
                    <a:srgbClr val="455BA1"/>
                  </a:solidFill>
                  <a:latin typeface="Arial" pitchFamily="-65" charset="0"/>
                </a:rPr>
                <a:t>Best Practices and Standards of Care</a:t>
              </a:r>
              <a:endParaRPr lang="en-US" sz="16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  <p:sp>
          <p:nvSpPr>
            <p:cNvPr id="6162" name="Rectangle 22"/>
            <p:cNvSpPr>
              <a:spLocks noChangeArrowheads="1"/>
            </p:cNvSpPr>
            <p:nvPr/>
          </p:nvSpPr>
          <p:spPr bwMode="auto">
            <a:xfrm>
              <a:off x="1352550" y="4529138"/>
              <a:ext cx="6438900" cy="366712"/>
            </a:xfrm>
            <a:prstGeom prst="rect">
              <a:avLst/>
            </a:prstGeom>
            <a:solidFill>
              <a:schemeClr val="tx1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3" name="Rectangle 24"/>
            <p:cNvSpPr>
              <a:spLocks noChangeArrowheads="1"/>
            </p:cNvSpPr>
            <p:nvPr/>
          </p:nvSpPr>
          <p:spPr bwMode="auto">
            <a:xfrm>
              <a:off x="3465513" y="4589463"/>
              <a:ext cx="2165350" cy="2222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4" name="Rectangle 25"/>
            <p:cNvSpPr>
              <a:spLocks noChangeArrowheads="1"/>
            </p:cNvSpPr>
            <p:nvPr/>
          </p:nvSpPr>
          <p:spPr bwMode="auto">
            <a:xfrm>
              <a:off x="3465513" y="4595813"/>
              <a:ext cx="2551112" cy="24447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600">
                  <a:solidFill>
                    <a:srgbClr val="455BA1"/>
                  </a:solidFill>
                  <a:latin typeface="Arial" pitchFamily="-65" charset="0"/>
                </a:rPr>
                <a:t>Professional Development</a:t>
              </a:r>
              <a:endParaRPr lang="en-US" sz="16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  <p:sp>
          <p:nvSpPr>
            <p:cNvPr id="6167" name="Rectangle 31"/>
            <p:cNvSpPr>
              <a:spLocks noChangeArrowheads="1"/>
            </p:cNvSpPr>
            <p:nvPr/>
          </p:nvSpPr>
          <p:spPr bwMode="auto">
            <a:xfrm>
              <a:off x="2155825" y="5019675"/>
              <a:ext cx="4662488" cy="33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8" name="Rectangle 32"/>
            <p:cNvSpPr>
              <a:spLocks noChangeArrowheads="1"/>
            </p:cNvSpPr>
            <p:nvPr/>
          </p:nvSpPr>
          <p:spPr bwMode="auto">
            <a:xfrm>
              <a:off x="3602038" y="5086350"/>
              <a:ext cx="1703387" cy="2222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9" name="Rectangle 33"/>
            <p:cNvSpPr>
              <a:spLocks noChangeArrowheads="1"/>
            </p:cNvSpPr>
            <p:nvPr/>
          </p:nvSpPr>
          <p:spPr bwMode="auto">
            <a:xfrm>
              <a:off x="3568700" y="5065713"/>
              <a:ext cx="2203450" cy="24447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600">
                  <a:solidFill>
                    <a:srgbClr val="455BA1"/>
                  </a:solidFill>
                  <a:latin typeface="Arial" pitchFamily="-65" charset="0"/>
                </a:rPr>
                <a:t>Information/Evaluation</a:t>
              </a:r>
              <a:endParaRPr lang="en-US" sz="16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  <p:sp>
          <p:nvSpPr>
            <p:cNvPr id="6170" name="Rectangle 37"/>
            <p:cNvSpPr>
              <a:spLocks noChangeArrowheads="1"/>
            </p:cNvSpPr>
            <p:nvPr/>
          </p:nvSpPr>
          <p:spPr bwMode="auto">
            <a:xfrm>
              <a:off x="2200275" y="3270250"/>
              <a:ext cx="4681538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2000" i="1">
                  <a:solidFill>
                    <a:srgbClr val="455BA1"/>
                  </a:solidFill>
                  <a:latin typeface="Arial" pitchFamily="-65" charset="0"/>
                </a:rPr>
                <a:t>National Platforms to Provide Support</a:t>
              </a:r>
              <a:endParaRPr lang="en-US" sz="20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  <p:sp>
          <p:nvSpPr>
            <p:cNvPr id="6171" name="Rectangle 38"/>
            <p:cNvSpPr>
              <a:spLocks noChangeArrowheads="1"/>
            </p:cNvSpPr>
            <p:nvPr/>
          </p:nvSpPr>
          <p:spPr bwMode="auto">
            <a:xfrm>
              <a:off x="1352550" y="3624263"/>
              <a:ext cx="6438900" cy="368300"/>
            </a:xfrm>
            <a:prstGeom prst="rect">
              <a:avLst/>
            </a:prstGeom>
            <a:solidFill>
              <a:schemeClr val="tx1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2" name="Rectangle 39"/>
            <p:cNvSpPr>
              <a:spLocks noChangeArrowheads="1"/>
            </p:cNvSpPr>
            <p:nvPr/>
          </p:nvSpPr>
          <p:spPr bwMode="auto">
            <a:xfrm>
              <a:off x="3719513" y="3689350"/>
              <a:ext cx="1474787" cy="22542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3" name="Rectangle 40"/>
            <p:cNvSpPr>
              <a:spLocks noChangeArrowheads="1"/>
            </p:cNvSpPr>
            <p:nvPr/>
          </p:nvSpPr>
          <p:spPr bwMode="auto">
            <a:xfrm>
              <a:off x="3719513" y="3695700"/>
              <a:ext cx="1738312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600">
                  <a:solidFill>
                    <a:srgbClr val="455BA1"/>
                  </a:solidFill>
                  <a:latin typeface="Arial" pitchFamily="-65" charset="0"/>
                </a:rPr>
                <a:t>Public Awareness</a:t>
              </a:r>
              <a:endParaRPr lang="en-US" sz="16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  <p:sp>
          <p:nvSpPr>
            <p:cNvPr id="6177" name="Freeform 51"/>
            <p:cNvSpPr>
              <a:spLocks/>
            </p:cNvSpPr>
            <p:nvPr/>
          </p:nvSpPr>
          <p:spPr bwMode="auto">
            <a:xfrm>
              <a:off x="1700213" y="3049588"/>
              <a:ext cx="396875" cy="160337"/>
            </a:xfrm>
            <a:custGeom>
              <a:avLst/>
              <a:gdLst>
                <a:gd name="T0" fmla="*/ 0 w 206"/>
                <a:gd name="T1" fmla="*/ 2147483647 h 78"/>
                <a:gd name="T2" fmla="*/ 2147483647 w 206"/>
                <a:gd name="T3" fmla="*/ 2147483647 h 78"/>
                <a:gd name="T4" fmla="*/ 2147483647 w 206"/>
                <a:gd name="T5" fmla="*/ 2147483647 h 78"/>
                <a:gd name="T6" fmla="*/ 2147483647 w 206"/>
                <a:gd name="T7" fmla="*/ 2147483647 h 78"/>
                <a:gd name="T8" fmla="*/ 2147483647 w 206"/>
                <a:gd name="T9" fmla="*/ 2147483647 h 78"/>
                <a:gd name="T10" fmla="*/ 2147483647 w 206"/>
                <a:gd name="T11" fmla="*/ 2147483647 h 78"/>
                <a:gd name="T12" fmla="*/ 2147483647 w 206"/>
                <a:gd name="T13" fmla="*/ 0 h 78"/>
                <a:gd name="T14" fmla="*/ 0 w 206"/>
                <a:gd name="T15" fmla="*/ 21474836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6"/>
                <a:gd name="T25" fmla="*/ 0 h 78"/>
                <a:gd name="T26" fmla="*/ 206 w 206"/>
                <a:gd name="T27" fmla="*/ 78 h 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6" h="78">
                  <a:moveTo>
                    <a:pt x="0" y="20"/>
                  </a:moveTo>
                  <a:lnTo>
                    <a:pt x="52" y="20"/>
                  </a:lnTo>
                  <a:lnTo>
                    <a:pt x="52" y="78"/>
                  </a:lnTo>
                  <a:lnTo>
                    <a:pt x="155" y="78"/>
                  </a:lnTo>
                  <a:lnTo>
                    <a:pt x="155" y="20"/>
                  </a:lnTo>
                  <a:lnTo>
                    <a:pt x="206" y="20"/>
                  </a:lnTo>
                  <a:lnTo>
                    <a:pt x="103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455BA1"/>
            </a:solidFill>
            <a:ln w="7938">
              <a:solidFill>
                <a:srgbClr val="455BA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8" name="Freeform 52"/>
            <p:cNvSpPr>
              <a:spLocks/>
            </p:cNvSpPr>
            <p:nvPr/>
          </p:nvSpPr>
          <p:spPr bwMode="auto">
            <a:xfrm>
              <a:off x="3451225" y="3049588"/>
              <a:ext cx="395288" cy="160337"/>
            </a:xfrm>
            <a:custGeom>
              <a:avLst/>
              <a:gdLst>
                <a:gd name="T0" fmla="*/ 0 w 205"/>
                <a:gd name="T1" fmla="*/ 2147483647 h 78"/>
                <a:gd name="T2" fmla="*/ 2147483647 w 205"/>
                <a:gd name="T3" fmla="*/ 2147483647 h 78"/>
                <a:gd name="T4" fmla="*/ 2147483647 w 205"/>
                <a:gd name="T5" fmla="*/ 2147483647 h 78"/>
                <a:gd name="T6" fmla="*/ 2147483647 w 205"/>
                <a:gd name="T7" fmla="*/ 2147483647 h 78"/>
                <a:gd name="T8" fmla="*/ 2147483647 w 205"/>
                <a:gd name="T9" fmla="*/ 2147483647 h 78"/>
                <a:gd name="T10" fmla="*/ 2147483647 w 205"/>
                <a:gd name="T11" fmla="*/ 2147483647 h 78"/>
                <a:gd name="T12" fmla="*/ 2147483647 w 205"/>
                <a:gd name="T13" fmla="*/ 0 h 78"/>
                <a:gd name="T14" fmla="*/ 0 w 205"/>
                <a:gd name="T15" fmla="*/ 21474836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5"/>
                <a:gd name="T25" fmla="*/ 0 h 78"/>
                <a:gd name="T26" fmla="*/ 205 w 205"/>
                <a:gd name="T27" fmla="*/ 78 h 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5" h="78">
                  <a:moveTo>
                    <a:pt x="0" y="20"/>
                  </a:moveTo>
                  <a:lnTo>
                    <a:pt x="51" y="20"/>
                  </a:lnTo>
                  <a:lnTo>
                    <a:pt x="51" y="78"/>
                  </a:lnTo>
                  <a:lnTo>
                    <a:pt x="153" y="78"/>
                  </a:lnTo>
                  <a:lnTo>
                    <a:pt x="153" y="20"/>
                  </a:lnTo>
                  <a:lnTo>
                    <a:pt x="205" y="20"/>
                  </a:lnTo>
                  <a:lnTo>
                    <a:pt x="10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455BA1"/>
            </a:solidFill>
            <a:ln w="7938">
              <a:solidFill>
                <a:srgbClr val="455BA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9" name="Freeform 53"/>
            <p:cNvSpPr>
              <a:spLocks/>
            </p:cNvSpPr>
            <p:nvPr/>
          </p:nvSpPr>
          <p:spPr bwMode="auto">
            <a:xfrm>
              <a:off x="5119688" y="3049588"/>
              <a:ext cx="400050" cy="160337"/>
            </a:xfrm>
            <a:custGeom>
              <a:avLst/>
              <a:gdLst>
                <a:gd name="T0" fmla="*/ 0 w 207"/>
                <a:gd name="T1" fmla="*/ 2147483647 h 78"/>
                <a:gd name="T2" fmla="*/ 2147483647 w 207"/>
                <a:gd name="T3" fmla="*/ 2147483647 h 78"/>
                <a:gd name="T4" fmla="*/ 2147483647 w 207"/>
                <a:gd name="T5" fmla="*/ 2147483647 h 78"/>
                <a:gd name="T6" fmla="*/ 2147483647 w 207"/>
                <a:gd name="T7" fmla="*/ 2147483647 h 78"/>
                <a:gd name="T8" fmla="*/ 2147483647 w 207"/>
                <a:gd name="T9" fmla="*/ 2147483647 h 78"/>
                <a:gd name="T10" fmla="*/ 2147483647 w 207"/>
                <a:gd name="T11" fmla="*/ 2147483647 h 78"/>
                <a:gd name="T12" fmla="*/ 2147483647 w 207"/>
                <a:gd name="T13" fmla="*/ 0 h 78"/>
                <a:gd name="T14" fmla="*/ 0 w 207"/>
                <a:gd name="T15" fmla="*/ 21474836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7"/>
                <a:gd name="T25" fmla="*/ 0 h 78"/>
                <a:gd name="T26" fmla="*/ 207 w 207"/>
                <a:gd name="T27" fmla="*/ 78 h 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7" h="78">
                  <a:moveTo>
                    <a:pt x="0" y="20"/>
                  </a:moveTo>
                  <a:lnTo>
                    <a:pt x="52" y="20"/>
                  </a:lnTo>
                  <a:lnTo>
                    <a:pt x="52" y="78"/>
                  </a:lnTo>
                  <a:lnTo>
                    <a:pt x="155" y="78"/>
                  </a:lnTo>
                  <a:lnTo>
                    <a:pt x="155" y="20"/>
                  </a:lnTo>
                  <a:lnTo>
                    <a:pt x="207" y="20"/>
                  </a:lnTo>
                  <a:lnTo>
                    <a:pt x="103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455BA1"/>
            </a:solidFill>
            <a:ln w="7938">
              <a:solidFill>
                <a:srgbClr val="455BA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0" name="Freeform 54"/>
            <p:cNvSpPr>
              <a:spLocks/>
            </p:cNvSpPr>
            <p:nvPr/>
          </p:nvSpPr>
          <p:spPr bwMode="auto">
            <a:xfrm>
              <a:off x="6869113" y="3049588"/>
              <a:ext cx="395287" cy="160337"/>
            </a:xfrm>
            <a:custGeom>
              <a:avLst/>
              <a:gdLst>
                <a:gd name="T0" fmla="*/ 0 w 205"/>
                <a:gd name="T1" fmla="*/ 2147483647 h 78"/>
                <a:gd name="T2" fmla="*/ 2147483647 w 205"/>
                <a:gd name="T3" fmla="*/ 2147483647 h 78"/>
                <a:gd name="T4" fmla="*/ 2147483647 w 205"/>
                <a:gd name="T5" fmla="*/ 2147483647 h 78"/>
                <a:gd name="T6" fmla="*/ 2147483647 w 205"/>
                <a:gd name="T7" fmla="*/ 2147483647 h 78"/>
                <a:gd name="T8" fmla="*/ 2147483647 w 205"/>
                <a:gd name="T9" fmla="*/ 2147483647 h 78"/>
                <a:gd name="T10" fmla="*/ 2147483647 w 205"/>
                <a:gd name="T11" fmla="*/ 2147483647 h 78"/>
                <a:gd name="T12" fmla="*/ 2147483647 w 205"/>
                <a:gd name="T13" fmla="*/ 0 h 78"/>
                <a:gd name="T14" fmla="*/ 0 w 205"/>
                <a:gd name="T15" fmla="*/ 2147483647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5"/>
                <a:gd name="T25" fmla="*/ 0 h 78"/>
                <a:gd name="T26" fmla="*/ 205 w 205"/>
                <a:gd name="T27" fmla="*/ 78 h 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5" h="78">
                  <a:moveTo>
                    <a:pt x="0" y="20"/>
                  </a:moveTo>
                  <a:lnTo>
                    <a:pt x="51" y="20"/>
                  </a:lnTo>
                  <a:lnTo>
                    <a:pt x="51" y="78"/>
                  </a:lnTo>
                  <a:lnTo>
                    <a:pt x="154" y="78"/>
                  </a:lnTo>
                  <a:lnTo>
                    <a:pt x="154" y="20"/>
                  </a:lnTo>
                  <a:lnTo>
                    <a:pt x="205" y="20"/>
                  </a:lnTo>
                  <a:lnTo>
                    <a:pt x="103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455BA1"/>
            </a:solidFill>
            <a:ln w="7938">
              <a:solidFill>
                <a:srgbClr val="455BA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1" name="Rectangle 34"/>
            <p:cNvSpPr>
              <a:spLocks noChangeArrowheads="1"/>
            </p:cNvSpPr>
            <p:nvPr/>
          </p:nvSpPr>
          <p:spPr bwMode="auto">
            <a:xfrm>
              <a:off x="1349375" y="5448300"/>
              <a:ext cx="6438900" cy="365125"/>
            </a:xfrm>
            <a:prstGeom prst="rect">
              <a:avLst/>
            </a:prstGeom>
            <a:solidFill>
              <a:schemeClr val="tx1"/>
            </a:solidFill>
            <a:ln w="7938">
              <a:solidFill>
                <a:srgbClr val="FFFFFF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2" name="Rectangle 31"/>
            <p:cNvSpPr>
              <a:spLocks noChangeArrowheads="1"/>
            </p:cNvSpPr>
            <p:nvPr/>
          </p:nvSpPr>
          <p:spPr bwMode="auto">
            <a:xfrm>
              <a:off x="2152650" y="5483225"/>
              <a:ext cx="4662488" cy="33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3" name="Rectangle 32"/>
            <p:cNvSpPr>
              <a:spLocks noChangeArrowheads="1"/>
            </p:cNvSpPr>
            <p:nvPr/>
          </p:nvSpPr>
          <p:spPr bwMode="auto">
            <a:xfrm>
              <a:off x="3598863" y="5549900"/>
              <a:ext cx="1703387" cy="2222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4" name="Rectangle 33"/>
            <p:cNvSpPr>
              <a:spLocks noChangeArrowheads="1"/>
            </p:cNvSpPr>
            <p:nvPr/>
          </p:nvSpPr>
          <p:spPr bwMode="auto">
            <a:xfrm>
              <a:off x="3565525" y="5529263"/>
              <a:ext cx="2189163" cy="24606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sz="1600">
                  <a:solidFill>
                    <a:srgbClr val="455BA1"/>
                  </a:solidFill>
                  <a:latin typeface="Arial" pitchFamily="-65" charset="0"/>
                </a:rPr>
                <a:t>Coordinated Research</a:t>
              </a:r>
              <a:endParaRPr lang="en-US" sz="1600" b="0">
                <a:solidFill>
                  <a:srgbClr val="455BA1"/>
                </a:solidFill>
                <a:latin typeface="Arial" pitchFamily="-65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96827">
            <a:off x="7726364" y="2151360"/>
            <a:ext cx="1159000" cy="811300"/>
          </a:xfrm>
          <a:prstGeom prst="rect">
            <a:avLst/>
          </a:prstGeom>
        </p:spPr>
      </p:pic>
      <p:sp>
        <p:nvSpPr>
          <p:cNvPr id="7171" name="Title 1"/>
          <p:cNvSpPr txBox="1">
            <a:spLocks/>
          </p:cNvSpPr>
          <p:nvPr/>
        </p:nvSpPr>
        <p:spPr bwMode="auto">
          <a:xfrm>
            <a:off x="704850" y="1220788"/>
            <a:ext cx="7651750" cy="8890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lIns="92075" tIns="46038" rIns="92075" bIns="46038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3200">
                <a:latin typeface="Arial" pitchFamily="-65" charset="0"/>
              </a:rPr>
              <a:t>What have we accomplished?</a:t>
            </a:r>
          </a:p>
        </p:txBody>
      </p:sp>
      <p:sp>
        <p:nvSpPr>
          <p:cNvPr id="7172" name="Content Placeholder 2"/>
          <p:cNvSpPr txBox="1">
            <a:spLocks/>
          </p:cNvSpPr>
          <p:nvPr/>
        </p:nvSpPr>
        <p:spPr bwMode="auto">
          <a:xfrm>
            <a:off x="706438" y="2005013"/>
            <a:ext cx="7627937" cy="2505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Nationally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Best Practices and Related  Resources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Quality of Stroke Care Report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Economic Analyses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Networking and Communications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Health Systems Research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800" b="0" dirty="0" smtClean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Tx/>
              <a:buNone/>
            </a:pPr>
            <a:endParaRPr lang="en-US" sz="2000" b="0" dirty="0" smtClean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87104">
            <a:off x="6380095" y="2168640"/>
            <a:ext cx="1452696" cy="18788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8007">
            <a:off x="7792775" y="2973929"/>
            <a:ext cx="1187391" cy="20502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3676">
            <a:off x="6853235" y="4765538"/>
            <a:ext cx="1512492" cy="1217517"/>
          </a:xfrm>
          <a:prstGeom prst="rect">
            <a:avLst/>
          </a:prstGeom>
        </p:spPr>
      </p:pic>
      <p:pic>
        <p:nvPicPr>
          <p:cNvPr id="11" name="Picture 9" descr="IMG_5721.JPG"/>
          <p:cNvPicPr>
            <a:picLocks noChangeAspect="1"/>
          </p:cNvPicPr>
          <p:nvPr/>
        </p:nvPicPr>
        <p:blipFill>
          <a:blip r:embed="rId6"/>
          <a:srcRect t="21782" r="13087"/>
          <a:stretch>
            <a:fillRect/>
          </a:stretch>
        </p:blipFill>
        <p:spPr bwMode="auto">
          <a:xfrm rot="21245629">
            <a:off x="5780188" y="3679800"/>
            <a:ext cx="2022783" cy="11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704946" y="4517196"/>
            <a:ext cx="634502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 smtClean="0">
                <a:latin typeface="Arial" pitchFamily="-65" charset="0"/>
              </a:rPr>
              <a:t>Provincially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 smtClean="0">
                <a:latin typeface="Arial" pitchFamily="-65" charset="0"/>
              </a:rPr>
              <a:t>Provincial strategies adopted in 6 provinces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 smtClean="0">
                <a:latin typeface="Arial" pitchFamily="-65" charset="0"/>
              </a:rPr>
              <a:t>Regional/pilot implementation in 2 provinces</a:t>
            </a: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 smtClean="0">
                <a:latin typeface="Arial" pitchFamily="-65" charset="0"/>
              </a:rPr>
              <a:t>Project implementation in 2 provinces</a:t>
            </a:r>
            <a:endParaRPr lang="en-US" sz="2000" b="0" dirty="0">
              <a:latin typeface="Arial" pitchFamily="-65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704850" y="1268413"/>
            <a:ext cx="7651750" cy="8890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sz="3200" kern="0" dirty="0">
                <a:latin typeface="+mn-lt"/>
                <a:ea typeface="ＭＳ Ｐゴシック" pitchFamily="33" charset="-128"/>
                <a:cs typeface="ＭＳ Ｐゴシック" pitchFamily="33" charset="-128"/>
              </a:rPr>
              <a:t>Why has it worked?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704850" y="2066925"/>
            <a:ext cx="7627938" cy="408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Strong, complementary partnership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Committed champions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  <a:ea typeface="Arial" pitchFamily="-65" charset="0"/>
                <a:cs typeface="Arial" pitchFamily="-65" charset="0"/>
              </a:rPr>
              <a:t>A simple concept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  <a:ea typeface="Arial" pitchFamily="-65" charset="0"/>
                <a:cs typeface="Arial" pitchFamily="-65" charset="0"/>
              </a:rPr>
              <a:t>A working, measurable example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  <a:ea typeface="Arial" pitchFamily="-65" charset="0"/>
                <a:cs typeface="Arial" pitchFamily="-65" charset="0"/>
              </a:rPr>
              <a:t>Early consensus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  <a:ea typeface="Arial" pitchFamily="-65" charset="0"/>
                <a:cs typeface="Arial" pitchFamily="-65" charset="0"/>
              </a:rPr>
              <a:t>A “strategy of strategies</a:t>
            </a:r>
            <a:r>
              <a:rPr lang="en-US" sz="2000" b="0" dirty="0">
                <a:latin typeface="Arial" pitchFamily="-65" charset="0"/>
              </a:rPr>
              <a:t>”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A good business case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Dedicated staff… but not forever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Good timing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 typeface="Garamond" pitchFamily="-65" charset="0"/>
              <a:buAutoNum type="arabicPeriod"/>
            </a:pPr>
            <a:r>
              <a:rPr lang="en-US" sz="2000" b="0" dirty="0">
                <a:latin typeface="Arial" pitchFamily="-65" charset="0"/>
              </a:rPr>
              <a:t>No federal funding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b="0" dirty="0">
              <a:latin typeface="Arial" pitchFamily="-65" charset="0"/>
            </a:endParaRP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Tx/>
              <a:buNone/>
            </a:pPr>
            <a:endParaRPr lang="en-US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b="0" dirty="0">
              <a:latin typeface="Arial" pitchFamily="-65" charset="0"/>
            </a:endParaRPr>
          </a:p>
        </p:txBody>
      </p:sp>
      <p:pic>
        <p:nvPicPr>
          <p:cNvPr id="5" name="Picture 4" descr="iStock_000014127544XSmall.jpg"/>
          <p:cNvPicPr>
            <a:picLocks noChangeAspect="1"/>
          </p:cNvPicPr>
          <p:nvPr/>
        </p:nvPicPr>
        <p:blipFill>
          <a:blip r:embed="rId2"/>
          <a:srcRect l="9085" t="3799" r="9085" b="17098"/>
          <a:stretch>
            <a:fillRect/>
          </a:stretch>
        </p:blipFill>
        <p:spPr>
          <a:xfrm>
            <a:off x="5724418" y="2332800"/>
            <a:ext cx="2700570" cy="3121147"/>
          </a:xfrm>
          <a:prstGeom prst="rect">
            <a:avLst/>
          </a:prstGeom>
          <a:effectLst>
            <a:softEdge rad="266700"/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/>
          </p:cNvSpPr>
          <p:nvPr/>
        </p:nvSpPr>
        <p:spPr bwMode="auto">
          <a:xfrm>
            <a:off x="704850" y="1427163"/>
            <a:ext cx="7651750" cy="8890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lIns="92075" tIns="46038" rIns="92075" bIns="46038" anchor="ctr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sz="3200">
                <a:latin typeface="Arial" pitchFamily="-65" charset="0"/>
              </a:rPr>
              <a:t>What Still Needs to be Done? </a:t>
            </a:r>
          </a:p>
        </p:txBody>
      </p:sp>
      <p:sp>
        <p:nvSpPr>
          <p:cNvPr id="9219" name="Content Placeholder 2"/>
          <p:cNvSpPr txBox="1">
            <a:spLocks/>
          </p:cNvSpPr>
          <p:nvPr/>
        </p:nvSpPr>
        <p:spPr bwMode="auto">
          <a:xfrm>
            <a:off x="706438" y="2211388"/>
            <a:ext cx="7627937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Tx/>
              <a:buNone/>
            </a:pPr>
            <a:endParaRPr lang="en-US" sz="2000" b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>
              <a:latin typeface="Arial" pitchFamily="-65" charset="0"/>
            </a:endParaRPr>
          </a:p>
        </p:txBody>
      </p:sp>
      <p:sp>
        <p:nvSpPr>
          <p:cNvPr id="9220" name="Content Placeholder 2"/>
          <p:cNvSpPr txBox="1">
            <a:spLocks/>
          </p:cNvSpPr>
          <p:nvPr/>
        </p:nvSpPr>
        <p:spPr bwMode="auto">
          <a:xfrm>
            <a:off x="706438" y="2397125"/>
            <a:ext cx="7627937" cy="335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Improved public awareness about response to stroke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Professional education across the continuum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Continued advocacy at the provincial level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Continued dialogue between provinces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Another Quality of Care study…make it routine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Break down the barriers to </a:t>
            </a:r>
            <a:r>
              <a:rPr lang="en-US" sz="2000" b="0" dirty="0" err="1">
                <a:latin typeface="Arial" pitchFamily="-65" charset="0"/>
              </a:rPr>
              <a:t>Telestroke</a:t>
            </a:r>
            <a:endParaRPr lang="en-US" sz="2000" b="0" dirty="0">
              <a:latin typeface="Arial" pitchFamily="-65" charset="0"/>
            </a:endParaRP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More resources for those living with the effects of stroke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r>
              <a:rPr lang="en-US" sz="2000" b="0" dirty="0">
                <a:latin typeface="Arial" pitchFamily="-65" charset="0"/>
              </a:rPr>
              <a:t>Tell our story!!</a:t>
            </a:r>
          </a:p>
          <a:p>
            <a:pPr marL="285750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  <a:buFontTx/>
              <a:buNone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  <a:p>
            <a:pPr marL="742950" lvl="1" indent="-285750">
              <a:lnSpc>
                <a:spcPct val="100000"/>
              </a:lnSpc>
              <a:spcBef>
                <a:spcPct val="30000"/>
              </a:spcBef>
              <a:buClr>
                <a:srgbClr val="202E76"/>
              </a:buClr>
              <a:buSzPct val="100000"/>
            </a:pPr>
            <a:endParaRPr lang="en-US" sz="2000" b="0" dirty="0">
              <a:latin typeface="Arial" pitchFamily="-65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theme/theme1.xml><?xml version="1.0" encoding="utf-8"?>
<a:theme xmlns:a="http://schemas.openxmlformats.org/drawingml/2006/main" name="stroke3">
  <a:themeElements>
    <a:clrScheme name="">
      <a:dk1>
        <a:srgbClr val="000000"/>
      </a:dk1>
      <a:lt1>
        <a:srgbClr val="FFFFFF"/>
      </a:lt1>
      <a:dk2>
        <a:srgbClr val="063DE8"/>
      </a:dk2>
      <a:lt2>
        <a:srgbClr val="FFFFFF"/>
      </a:lt2>
      <a:accent1>
        <a:srgbClr val="C2840F"/>
      </a:accent1>
      <a:accent2>
        <a:srgbClr val="FDE3BA"/>
      </a:accent2>
      <a:accent3>
        <a:srgbClr val="AAAFF2"/>
      </a:accent3>
      <a:accent4>
        <a:srgbClr val="DADADA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stroke3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3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Tx/>
          <a:buChar char="•"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Book Antiqua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3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Tx/>
          <a:buChar char="•"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Book Antiqua" pitchFamily="-110" charset="0"/>
          </a:defRPr>
        </a:defPPr>
      </a:lstStyle>
    </a:lnDef>
  </a:objectDefaults>
  <a:extraClrSchemeLst>
    <a:extraClrScheme>
      <a:clrScheme name="stroke3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oke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oke3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oke3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oke3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oke3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oke3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c:\powerpnt\slides\stroke3.ppt</Template>
  <TotalTime>36</TotalTime>
  <Pages>38</Pages>
  <Words>202</Words>
  <Application>Microsoft Office PowerPoint</Application>
  <PresentationFormat>On-screen Show (4:3)</PresentationFormat>
  <Paragraphs>63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stroke3</vt:lpstr>
      <vt:lpstr>The Canadian Stroke Strategy:  major successes, lessons learned,  and the path ahead </vt:lpstr>
      <vt:lpstr>Overview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subject/>
  <dc:creator/>
  <cp:keywords/>
  <dc:description/>
  <cp:lastModifiedBy>Amelia</cp:lastModifiedBy>
  <cp:revision>381</cp:revision>
  <cp:lastPrinted>2001-03-21T15:43:14Z</cp:lastPrinted>
  <dcterms:created xsi:type="dcterms:W3CDTF">2011-11-30T16:42:22Z</dcterms:created>
  <dcterms:modified xsi:type="dcterms:W3CDTF">2011-11-30T17:56:14Z</dcterms:modified>
</cp:coreProperties>
</file>