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6" r:id="rId1"/>
  </p:sldMasterIdLst>
  <p:notesMasterIdLst>
    <p:notesMasterId r:id="rId17"/>
  </p:notesMasterIdLst>
  <p:handoutMasterIdLst>
    <p:handoutMasterId r:id="rId18"/>
  </p:handoutMasterIdLst>
  <p:sldIdLst>
    <p:sldId id="642" r:id="rId2"/>
    <p:sldId id="643" r:id="rId3"/>
    <p:sldId id="644" r:id="rId4"/>
    <p:sldId id="645" r:id="rId5"/>
    <p:sldId id="646" r:id="rId6"/>
    <p:sldId id="647" r:id="rId7"/>
    <p:sldId id="648" r:id="rId8"/>
    <p:sldId id="649" r:id="rId9"/>
    <p:sldId id="650" r:id="rId10"/>
    <p:sldId id="651" r:id="rId11"/>
    <p:sldId id="652" r:id="rId12"/>
    <p:sldId id="653" r:id="rId13"/>
    <p:sldId id="654" r:id="rId14"/>
    <p:sldId id="655" r:id="rId15"/>
    <p:sldId id="656" r:id="rId16"/>
  </p:sldIdLst>
  <p:sldSz cx="9144000" cy="6858000" type="screen4x3"/>
  <p:notesSz cx="6997700" cy="9271000"/>
  <p:custDataLst>
    <p:tags r:id="rId19"/>
  </p:custData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ke Walker" initials="MW" lastIdx="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002060"/>
    <a:srgbClr val="03495C"/>
    <a:srgbClr val="660066"/>
    <a:srgbClr val="008080"/>
    <a:srgbClr val="800000"/>
    <a:srgbClr val="CC9900"/>
    <a:srgbClr val="000000"/>
    <a:srgbClr val="006666"/>
    <a:srgbClr val="66003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18838" autoAdjust="0"/>
    <p:restoredTop sz="91819" autoAdjust="0"/>
  </p:normalViewPr>
  <p:slideViewPr>
    <p:cSldViewPr showGuides="1">
      <p:cViewPr varScale="1">
        <p:scale>
          <a:sx n="100" d="100"/>
          <a:sy n="100" d="100"/>
        </p:scale>
        <p:origin x="-1146" y="-102"/>
      </p:cViewPr>
      <p:guideLst>
        <p:guide orient="horz" pos="720"/>
        <p:guide orient="horz" pos="4319"/>
        <p:guide pos="5280"/>
        <p:guide pos="2880"/>
        <p:guide pos="336"/>
      </p:guideLst>
    </p:cSldViewPr>
  </p:slideViewPr>
  <p:outlineViewPr>
    <p:cViewPr>
      <p:scale>
        <a:sx n="33" d="100"/>
        <a:sy n="33" d="100"/>
      </p:scale>
      <p:origin x="0" y="0"/>
    </p:cViewPr>
  </p:outlineViewPr>
  <p:notesTextViewPr>
    <p:cViewPr>
      <p:scale>
        <a:sx n="75" d="100"/>
        <a:sy n="75" d="100"/>
      </p:scale>
      <p:origin x="0" y="0"/>
    </p:cViewPr>
  </p:notesTextViewPr>
  <p:sorterViewPr>
    <p:cViewPr>
      <p:scale>
        <a:sx n="33" d="100"/>
        <a:sy n="33" d="100"/>
      </p:scale>
      <p:origin x="0" y="0"/>
    </p:cViewPr>
  </p:sorterViewPr>
  <p:notesViewPr>
    <p:cSldViewPr showGuides="1">
      <p:cViewPr varScale="1">
        <p:scale>
          <a:sx n="81" d="100"/>
          <a:sy n="81" d="100"/>
        </p:scale>
        <p:origin x="-3168" y="-96"/>
      </p:cViewPr>
      <p:guideLst>
        <p:guide orient="horz" pos="2920"/>
        <p:guide pos="22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026"/>
          <p:cNvSpPr>
            <a:spLocks noGrp="1" noChangeArrowheads="1"/>
          </p:cNvSpPr>
          <p:nvPr>
            <p:ph type="hdr" sz="quarter"/>
          </p:nvPr>
        </p:nvSpPr>
        <p:spPr bwMode="auto">
          <a:xfrm>
            <a:off x="7" y="6"/>
            <a:ext cx="3032971" cy="463867"/>
          </a:xfrm>
          <a:prstGeom prst="rect">
            <a:avLst/>
          </a:prstGeom>
          <a:noFill/>
          <a:ln w="9525">
            <a:noFill/>
            <a:miter lim="800000"/>
            <a:headEnd/>
            <a:tailEnd/>
          </a:ln>
          <a:effectLst/>
        </p:spPr>
        <p:txBody>
          <a:bodyPr vert="horz" wrap="square" lIns="92865" tIns="46431" rIns="92865" bIns="46431" numCol="1" anchor="t" anchorCtr="0" compatLnSpc="1">
            <a:prstTxWarp prst="textNoShape">
              <a:avLst/>
            </a:prstTxWarp>
          </a:bodyPr>
          <a:lstStyle>
            <a:lvl1pPr>
              <a:defRPr sz="1200"/>
            </a:lvl1pPr>
          </a:lstStyle>
          <a:p>
            <a:pPr>
              <a:defRPr/>
            </a:pPr>
            <a:endParaRPr lang="en-US"/>
          </a:p>
        </p:txBody>
      </p:sp>
      <p:sp>
        <p:nvSpPr>
          <p:cNvPr id="13315" name="Rectangle 1027"/>
          <p:cNvSpPr>
            <a:spLocks noGrp="1" noChangeArrowheads="1"/>
          </p:cNvSpPr>
          <p:nvPr>
            <p:ph type="dt" sz="quarter" idx="1"/>
          </p:nvPr>
        </p:nvSpPr>
        <p:spPr bwMode="auto">
          <a:xfrm>
            <a:off x="3964733" y="6"/>
            <a:ext cx="3032971" cy="463867"/>
          </a:xfrm>
          <a:prstGeom prst="rect">
            <a:avLst/>
          </a:prstGeom>
          <a:noFill/>
          <a:ln w="9525">
            <a:noFill/>
            <a:miter lim="800000"/>
            <a:headEnd/>
            <a:tailEnd/>
          </a:ln>
          <a:effectLst/>
        </p:spPr>
        <p:txBody>
          <a:bodyPr vert="horz" wrap="square" lIns="92865" tIns="46431" rIns="92865" bIns="46431" numCol="1" anchor="t" anchorCtr="0" compatLnSpc="1">
            <a:prstTxWarp prst="textNoShape">
              <a:avLst/>
            </a:prstTxWarp>
          </a:bodyPr>
          <a:lstStyle>
            <a:lvl1pPr algn="r">
              <a:defRPr sz="1200"/>
            </a:lvl1pPr>
          </a:lstStyle>
          <a:p>
            <a:pPr>
              <a:defRPr/>
            </a:pPr>
            <a:endParaRPr lang="en-US"/>
          </a:p>
        </p:txBody>
      </p:sp>
      <p:sp>
        <p:nvSpPr>
          <p:cNvPr id="13316" name="Rectangle 1028"/>
          <p:cNvSpPr>
            <a:spLocks noGrp="1" noChangeArrowheads="1"/>
          </p:cNvSpPr>
          <p:nvPr>
            <p:ph type="ftr" sz="quarter" idx="2"/>
          </p:nvPr>
        </p:nvSpPr>
        <p:spPr bwMode="auto">
          <a:xfrm>
            <a:off x="7" y="8807140"/>
            <a:ext cx="3032971" cy="463866"/>
          </a:xfrm>
          <a:prstGeom prst="rect">
            <a:avLst/>
          </a:prstGeom>
          <a:noFill/>
          <a:ln w="9525">
            <a:noFill/>
            <a:miter lim="800000"/>
            <a:headEnd/>
            <a:tailEnd/>
          </a:ln>
          <a:effectLst/>
        </p:spPr>
        <p:txBody>
          <a:bodyPr vert="horz" wrap="square" lIns="92865" tIns="46431" rIns="92865" bIns="46431" numCol="1" anchor="b" anchorCtr="0" compatLnSpc="1">
            <a:prstTxWarp prst="textNoShape">
              <a:avLst/>
            </a:prstTxWarp>
          </a:bodyPr>
          <a:lstStyle>
            <a:lvl1pPr>
              <a:defRPr sz="1200"/>
            </a:lvl1pPr>
          </a:lstStyle>
          <a:p>
            <a:pPr>
              <a:defRPr/>
            </a:pPr>
            <a:endParaRPr lang="en-US"/>
          </a:p>
        </p:txBody>
      </p:sp>
      <p:sp>
        <p:nvSpPr>
          <p:cNvPr id="13317" name="Rectangle 1029"/>
          <p:cNvSpPr>
            <a:spLocks noGrp="1" noChangeArrowheads="1"/>
          </p:cNvSpPr>
          <p:nvPr>
            <p:ph type="sldNum" sz="quarter" idx="3"/>
          </p:nvPr>
        </p:nvSpPr>
        <p:spPr bwMode="auto">
          <a:xfrm>
            <a:off x="3964733" y="8807140"/>
            <a:ext cx="3032971" cy="463866"/>
          </a:xfrm>
          <a:prstGeom prst="rect">
            <a:avLst/>
          </a:prstGeom>
          <a:noFill/>
          <a:ln w="9525">
            <a:noFill/>
            <a:miter lim="800000"/>
            <a:headEnd/>
            <a:tailEnd/>
          </a:ln>
          <a:effectLst/>
        </p:spPr>
        <p:txBody>
          <a:bodyPr vert="horz" wrap="square" lIns="92865" tIns="46431" rIns="92865" bIns="46431" numCol="1" anchor="b" anchorCtr="0" compatLnSpc="1">
            <a:prstTxWarp prst="textNoShape">
              <a:avLst/>
            </a:prstTxWarp>
          </a:bodyPr>
          <a:lstStyle>
            <a:lvl1pPr algn="r">
              <a:defRPr sz="1200"/>
            </a:lvl1pPr>
          </a:lstStyle>
          <a:p>
            <a:pPr>
              <a:defRPr/>
            </a:pPr>
            <a:fld id="{6CD73A7A-3644-4005-8627-6940149D89E0}"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7" y="6"/>
            <a:ext cx="3032971" cy="463867"/>
          </a:xfrm>
          <a:prstGeom prst="rect">
            <a:avLst/>
          </a:prstGeom>
          <a:noFill/>
          <a:ln w="9525">
            <a:noFill/>
            <a:miter lim="800000"/>
            <a:headEnd/>
            <a:tailEnd/>
          </a:ln>
          <a:effectLst/>
        </p:spPr>
        <p:txBody>
          <a:bodyPr vert="horz" wrap="square" lIns="92865" tIns="46431" rIns="92865" bIns="46431"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idx="1"/>
          </p:nvPr>
        </p:nvSpPr>
        <p:spPr bwMode="auto">
          <a:xfrm>
            <a:off x="3964733" y="6"/>
            <a:ext cx="3032971" cy="463867"/>
          </a:xfrm>
          <a:prstGeom prst="rect">
            <a:avLst/>
          </a:prstGeom>
          <a:noFill/>
          <a:ln w="9525">
            <a:noFill/>
            <a:miter lim="800000"/>
            <a:headEnd/>
            <a:tailEnd/>
          </a:ln>
          <a:effectLst/>
        </p:spPr>
        <p:txBody>
          <a:bodyPr vert="horz" wrap="square" lIns="92865" tIns="46431" rIns="92865" bIns="46431" numCol="1" anchor="t" anchorCtr="0" compatLnSpc="1">
            <a:prstTxWarp prst="textNoShape">
              <a:avLst/>
            </a:prstTxWarp>
          </a:bodyPr>
          <a:lstStyle>
            <a:lvl1pPr algn="r">
              <a:defRPr sz="1200"/>
            </a:lvl1pPr>
          </a:lstStyle>
          <a:p>
            <a:pPr>
              <a:defRPr/>
            </a:pPr>
            <a:endParaRPr lang="en-US"/>
          </a:p>
        </p:txBody>
      </p:sp>
      <p:sp>
        <p:nvSpPr>
          <p:cNvPr id="53252" name="Rectangle 4"/>
          <p:cNvSpPr>
            <a:spLocks noGrp="1" noRot="1" noChangeAspect="1" noChangeArrowheads="1" noTextEdit="1"/>
          </p:cNvSpPr>
          <p:nvPr>
            <p:ph type="sldImg" idx="2"/>
          </p:nvPr>
        </p:nvSpPr>
        <p:spPr bwMode="auto">
          <a:xfrm>
            <a:off x="1181100" y="695325"/>
            <a:ext cx="4635500" cy="3476625"/>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33352" y="4404360"/>
            <a:ext cx="5131013" cy="4171634"/>
          </a:xfrm>
          <a:prstGeom prst="rect">
            <a:avLst/>
          </a:prstGeom>
          <a:noFill/>
          <a:ln w="9525">
            <a:noFill/>
            <a:miter lim="800000"/>
            <a:headEnd/>
            <a:tailEnd/>
          </a:ln>
          <a:effectLst/>
        </p:spPr>
        <p:txBody>
          <a:bodyPr vert="horz" wrap="square" lIns="92865" tIns="46431" rIns="92865" bIns="464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7" y="8807140"/>
            <a:ext cx="3032971" cy="463866"/>
          </a:xfrm>
          <a:prstGeom prst="rect">
            <a:avLst/>
          </a:prstGeom>
          <a:noFill/>
          <a:ln w="9525">
            <a:noFill/>
            <a:miter lim="800000"/>
            <a:headEnd/>
            <a:tailEnd/>
          </a:ln>
          <a:effectLst/>
        </p:spPr>
        <p:txBody>
          <a:bodyPr vert="horz" wrap="square" lIns="92865" tIns="46431" rIns="92865" bIns="46431" numCol="1" anchor="b" anchorCtr="0" compatLnSpc="1">
            <a:prstTxWarp prst="textNoShape">
              <a:avLst/>
            </a:prstTxWarp>
          </a:bodyPr>
          <a:lstStyle>
            <a:lvl1pPr>
              <a:defRPr sz="1200"/>
            </a:lvl1pPr>
          </a:lstStyle>
          <a:p>
            <a:pPr>
              <a:defRPr/>
            </a:pPr>
            <a:endParaRPr lang="en-US"/>
          </a:p>
        </p:txBody>
      </p:sp>
      <p:sp>
        <p:nvSpPr>
          <p:cNvPr id="3079" name="Rectangle 7"/>
          <p:cNvSpPr>
            <a:spLocks noGrp="1" noChangeArrowheads="1"/>
          </p:cNvSpPr>
          <p:nvPr>
            <p:ph type="sldNum" sz="quarter" idx="5"/>
          </p:nvPr>
        </p:nvSpPr>
        <p:spPr bwMode="auto">
          <a:xfrm>
            <a:off x="3964733" y="8807140"/>
            <a:ext cx="3032971" cy="463866"/>
          </a:xfrm>
          <a:prstGeom prst="rect">
            <a:avLst/>
          </a:prstGeom>
          <a:noFill/>
          <a:ln w="9525">
            <a:noFill/>
            <a:miter lim="800000"/>
            <a:headEnd/>
            <a:tailEnd/>
          </a:ln>
          <a:effectLst/>
        </p:spPr>
        <p:txBody>
          <a:bodyPr vert="horz" wrap="square" lIns="92865" tIns="46431" rIns="92865" bIns="46431" numCol="1" anchor="b" anchorCtr="0" compatLnSpc="1">
            <a:prstTxWarp prst="textNoShape">
              <a:avLst/>
            </a:prstTxWarp>
          </a:bodyPr>
          <a:lstStyle>
            <a:lvl1pPr algn="r">
              <a:defRPr sz="1200"/>
            </a:lvl1pPr>
          </a:lstStyle>
          <a:p>
            <a:pPr>
              <a:defRPr/>
            </a:pPr>
            <a:fld id="{8081F4BD-9632-48CF-8855-BB395A5EA07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noaa.gov/media"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noaa.gov/media"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6528A972-ECAE-4D54-94C4-54E629A2CF68}" type="slidenum">
              <a:rPr lang="en-US" smtClean="0"/>
              <a:pPr/>
              <a:t>2</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en-US" dirty="0" smtClean="0"/>
              <a:t>NOAA is organized around three main components: Operating Branches, Corporate Functions,</a:t>
            </a:r>
          </a:p>
          <a:p>
            <a:r>
              <a:rPr lang="en-US" dirty="0" smtClean="0"/>
              <a:t>and Goals. Operating Branches are the Line Offices and Staff Offices that provide the resources to</a:t>
            </a:r>
          </a:p>
          <a:p>
            <a:r>
              <a:rPr lang="en-US" dirty="0" smtClean="0"/>
              <a:t>execute the programs. Corporate Functions are performed at the headquarters level, and include</a:t>
            </a:r>
          </a:p>
          <a:p>
            <a:r>
              <a:rPr lang="en-US" dirty="0" smtClean="0"/>
              <a:t>NOAA Administration corporate-level offices and support staff (such as the Chief Financial Officer</a:t>
            </a:r>
          </a:p>
          <a:p>
            <a:r>
              <a:rPr lang="en-US" dirty="0" smtClean="0"/>
              <a:t>and Chief Administrative Officer). Goals convert high-level goals and strategies into specific and</a:t>
            </a:r>
          </a:p>
          <a:p>
            <a:r>
              <a:rPr lang="en-US" dirty="0" smtClean="0"/>
              <a:t>actionable programs.</a:t>
            </a:r>
          </a:p>
          <a:p>
            <a:endParaRPr lang="en-US" dirty="0" smtClean="0"/>
          </a:p>
          <a:p>
            <a:r>
              <a:rPr lang="en-US" dirty="0" smtClean="0"/>
              <a:t>Program managers staff their programs through LO/SOs, which are supported by Corporate</a:t>
            </a:r>
          </a:p>
          <a:p>
            <a:r>
              <a:rPr lang="en-US" dirty="0" smtClean="0"/>
              <a:t>Functions and Regional Teams. They manage the assigned activities derived from the goals and</a:t>
            </a:r>
          </a:p>
          <a:p>
            <a:r>
              <a:rPr lang="en-US" dirty="0" smtClean="0"/>
              <a:t>strategies of the Goal Teams, and are responsible for staffing, managing, communicating and</a:t>
            </a:r>
          </a:p>
          <a:p>
            <a:r>
              <a:rPr lang="en-US" dirty="0" smtClean="0"/>
              <a:t>monitoring programs. If a program crosses multiple LOs, or is sufficiently complex, it may be</a:t>
            </a:r>
          </a:p>
          <a:p>
            <a:r>
              <a:rPr lang="en-US" dirty="0" smtClean="0"/>
              <a:t>designated a matrix program, which requires greater coordination across NOAA.</a:t>
            </a:r>
            <a:endParaRPr lang="en-US" sz="1000"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3778A0A5-0B3C-4F5B-8DF1-3ABAC4799CA4}" type="slidenum">
              <a:rPr lang="en-US" smtClean="0"/>
              <a:pPr/>
              <a:t>5</a:t>
            </a:fld>
            <a:endParaRPr lang="en-US" smtClean="0"/>
          </a:p>
        </p:txBody>
      </p:sp>
      <p:sp>
        <p:nvSpPr>
          <p:cNvPr id="21507"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ln/>
        </p:spPr>
        <p:txBody>
          <a:bodyPr>
            <a:normAutofit fontScale="70000" lnSpcReduction="20000"/>
          </a:bodyPr>
          <a:lstStyle/>
          <a:p>
            <a:pPr eaLnBrk="1" fontAlgn="auto" hangingPunct="1">
              <a:spcBef>
                <a:spcPts val="0"/>
              </a:spcBef>
              <a:spcAft>
                <a:spcPts val="0"/>
              </a:spcAft>
              <a:defRPr/>
            </a:pPr>
            <a:r>
              <a:rPr lang="en-US" dirty="0"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a:t>
            </a:r>
          </a:p>
          <a:p>
            <a:pPr eaLnBrk="1" fontAlgn="auto" hangingPunct="1">
              <a:spcBef>
                <a:spcPts val="0"/>
              </a:spcBef>
              <a:spcAft>
                <a:spcPts val="0"/>
              </a:spcAft>
              <a:defRPr/>
            </a:pPr>
            <a:r>
              <a:rPr lang="en-US" dirty="0" smtClean="0"/>
              <a:t>Assistant Administrators and offices charged with corporate management functions, such as the Chief Financial Officer and the Chief Administrative Officer.</a:t>
            </a:r>
            <a:r>
              <a:rPr lang="en-US" sz="1400" dirty="0" smtClean="0"/>
              <a:t>		</a:t>
            </a:r>
          </a:p>
          <a:p>
            <a:pPr eaLnBrk="1" fontAlgn="auto" hangingPunct="1">
              <a:spcBef>
                <a:spcPts val="0"/>
              </a:spcBef>
              <a:spcAft>
                <a:spcPts val="0"/>
              </a:spcAft>
              <a:defRPr/>
            </a:pPr>
            <a:r>
              <a:rPr lang="en-US" b="1" dirty="0" smtClean="0"/>
              <a:t>Office of Legislative Affairs (OLA) coordinates all NOAA contacts with Congress </a:t>
            </a:r>
            <a:r>
              <a:rPr lang="en-US" dirty="0" smtClean="0"/>
              <a:t>(except those  relating to appropriations) and is responsible for the planning, direction, and coordination of legislative programs that are of immediate concern to the Under Secretary. OLA also maintains a summary of all of the NOAA programs or activities based in, or focused on, states or territories at http://www.legislative.noaa.gov/NIYS0107/noaainyourstate.html and a brief overview of major NOAA facilities around the country for each of our Line Offices with a color map and short summaries of what each facility does at http://www.legislative.noaa.gov/policybriefs.html. The general web site</a:t>
            </a:r>
          </a:p>
          <a:p>
            <a:pPr eaLnBrk="1" fontAlgn="auto" hangingPunct="1">
              <a:spcBef>
                <a:spcPts val="0"/>
              </a:spcBef>
              <a:spcAft>
                <a:spcPts val="0"/>
              </a:spcAft>
              <a:defRPr/>
            </a:pPr>
            <a:r>
              <a:rPr lang="en-US" dirty="0" smtClean="0"/>
              <a:t>is http://www.legislative.noaa.gov and includes copies of all testimony from congressional hearings.</a:t>
            </a:r>
          </a:p>
          <a:p>
            <a:pPr eaLnBrk="1" fontAlgn="auto" hangingPunct="1">
              <a:spcBef>
                <a:spcPts val="0"/>
              </a:spcBef>
              <a:spcAft>
                <a:spcPts val="0"/>
              </a:spcAft>
              <a:defRPr/>
            </a:pPr>
            <a:r>
              <a:rPr lang="en-US" dirty="0" smtClean="0"/>
              <a:t>To carry out its mission, the OLA:</a:t>
            </a:r>
          </a:p>
          <a:p>
            <a:pPr eaLnBrk="1" fontAlgn="auto" hangingPunct="1">
              <a:spcBef>
                <a:spcPts val="0"/>
              </a:spcBef>
              <a:spcAft>
                <a:spcPts val="0"/>
              </a:spcAft>
              <a:defRPr/>
            </a:pPr>
            <a:r>
              <a:rPr lang="en-US" dirty="0" smtClean="0"/>
              <a:t>Develops, coordinates, and implements the overall legislative strategy for NOAA and identifies and tracks all legislation of interest to NOAA and keeping the Office of the Under Secretary and Assistant Administrators informed;</a:t>
            </a:r>
          </a:p>
          <a:p>
            <a:pPr eaLnBrk="1" fontAlgn="auto" hangingPunct="1">
              <a:spcBef>
                <a:spcPts val="0"/>
              </a:spcBef>
              <a:spcAft>
                <a:spcPts val="0"/>
              </a:spcAft>
              <a:defRPr/>
            </a:pPr>
            <a:r>
              <a:rPr lang="en-US" dirty="0" smtClean="0"/>
              <a:t>Coordinates and communicates the Administration’s position on issues and programs of interest to NOAA on proposed pending legislation through views letters and congressional testimony at hearings;</a:t>
            </a:r>
          </a:p>
          <a:p>
            <a:pPr eaLnBrk="1" fontAlgn="auto" hangingPunct="1">
              <a:spcBef>
                <a:spcPts val="0"/>
              </a:spcBef>
              <a:spcAft>
                <a:spcPts val="0"/>
              </a:spcAft>
              <a:defRPr/>
            </a:pPr>
            <a:r>
              <a:rPr lang="en-US" dirty="0" smtClean="0"/>
              <a:t>Manages every aspect of NOAA’s participation in congressional hearings including advising NOAA senior management of official requests for witnesses, ensuring that the witnesses are properly briefed, and overseeing the preparation and clearance of NOAA testimony, including providing drafting assistance for the written and/or oral testimony as requested;</a:t>
            </a:r>
          </a:p>
          <a:p>
            <a:pPr eaLnBrk="1" fontAlgn="auto" hangingPunct="1">
              <a:spcBef>
                <a:spcPts val="0"/>
              </a:spcBef>
              <a:spcAft>
                <a:spcPts val="0"/>
              </a:spcAft>
              <a:defRPr/>
            </a:pPr>
            <a:r>
              <a:rPr lang="en-US" dirty="0" smtClean="0"/>
              <a:t>Responds to all congressional inquiries in a timely manner through personal visits, </a:t>
            </a:r>
          </a:p>
          <a:p>
            <a:pPr eaLnBrk="1" fontAlgn="auto" hangingPunct="1">
              <a:spcBef>
                <a:spcPts val="0"/>
              </a:spcBef>
              <a:spcAft>
                <a:spcPts val="0"/>
              </a:spcAft>
              <a:defRPr/>
            </a:pPr>
            <a:r>
              <a:rPr lang="en-US" dirty="0" smtClean="0"/>
              <a:t>e-mail, phone, fax, and mail;</a:t>
            </a:r>
          </a:p>
          <a:p>
            <a:pPr eaLnBrk="1" fontAlgn="auto" hangingPunct="1">
              <a:spcBef>
                <a:spcPts val="0"/>
              </a:spcBef>
              <a:spcAft>
                <a:spcPts val="0"/>
              </a:spcAft>
              <a:defRPr/>
            </a:pPr>
            <a:r>
              <a:rPr lang="en-US" dirty="0" smtClean="0"/>
              <a:t>Briefs Members of Congress and their staff regularly on important NOAA programs, issues, and activities;</a:t>
            </a:r>
          </a:p>
          <a:p>
            <a:pPr eaLnBrk="1" fontAlgn="auto" hangingPunct="1">
              <a:spcBef>
                <a:spcPts val="0"/>
              </a:spcBef>
              <a:spcAft>
                <a:spcPts val="0"/>
              </a:spcAft>
              <a:defRPr/>
            </a:pPr>
            <a:r>
              <a:rPr lang="en-US" dirty="0" smtClean="0"/>
              <a:t>Provides congressional staff with technical drafting assistance, views letters for legislation, opportunities to meet with NOAA experts, and ensures congressionally-mandated reports order by NOAA authorizing committees are completed on time;</a:t>
            </a:r>
          </a:p>
          <a:p>
            <a:pPr eaLnBrk="1" fontAlgn="auto" hangingPunct="1">
              <a:spcBef>
                <a:spcPts val="0"/>
              </a:spcBef>
              <a:spcAft>
                <a:spcPts val="0"/>
              </a:spcAft>
              <a:defRPr/>
            </a:pPr>
            <a:r>
              <a:rPr lang="en-US" dirty="0" smtClean="0"/>
              <a:t>Ensures good communication and coordination among legislative activities within Line, Program, and Staff offices; and</a:t>
            </a:r>
          </a:p>
          <a:p>
            <a:pPr eaLnBrk="1" fontAlgn="auto" hangingPunct="1">
              <a:spcBef>
                <a:spcPts val="0"/>
              </a:spcBef>
              <a:spcAft>
                <a:spcPts val="0"/>
              </a:spcAft>
              <a:defRPr/>
            </a:pPr>
            <a:r>
              <a:rPr lang="en-US" dirty="0" smtClean="0"/>
              <a:t>Coordinates with the Department of Commerce Office of Legislative and Intergovernmental Affairs.</a:t>
            </a:r>
          </a:p>
          <a:p>
            <a:pPr eaLnBrk="1" fontAlgn="auto" hangingPunct="1">
              <a:spcBef>
                <a:spcPts val="0"/>
              </a:spcBef>
              <a:spcAft>
                <a:spcPts val="0"/>
              </a:spcAft>
              <a:defRPr/>
            </a:pPr>
            <a:r>
              <a:rPr lang="en-US" dirty="0" smtClean="0"/>
              <a:t> </a:t>
            </a:r>
          </a:p>
          <a:p>
            <a:pPr eaLnBrk="1" fontAlgn="auto" hangingPunct="1">
              <a:spcBef>
                <a:spcPts val="0"/>
              </a:spcBef>
              <a:spcAft>
                <a:spcPts val="0"/>
              </a:spcAft>
              <a:defRPr/>
            </a:pPr>
            <a:r>
              <a:rPr lang="en-US" dirty="0" smtClean="0"/>
              <a:t>On an annual basis, these activities encompass over:</a:t>
            </a:r>
          </a:p>
          <a:p>
            <a:pPr eaLnBrk="1" fontAlgn="auto" hangingPunct="1">
              <a:spcBef>
                <a:spcPts val="0"/>
              </a:spcBef>
              <a:spcAft>
                <a:spcPts val="0"/>
              </a:spcAft>
              <a:defRPr/>
            </a:pPr>
            <a:r>
              <a:rPr lang="en-US" dirty="0" smtClean="0"/>
              <a:t>21,000 e-mails and phone calls with Members and congressional staff</a:t>
            </a:r>
          </a:p>
          <a:p>
            <a:pPr eaLnBrk="1" fontAlgn="auto" hangingPunct="1">
              <a:spcBef>
                <a:spcPts val="0"/>
              </a:spcBef>
              <a:spcAft>
                <a:spcPts val="0"/>
              </a:spcAft>
              <a:defRPr/>
            </a:pPr>
            <a:r>
              <a:rPr lang="en-US" dirty="0" smtClean="0"/>
              <a:t>1,000 briefings and meetings with Members and congressional staff</a:t>
            </a:r>
          </a:p>
          <a:p>
            <a:pPr eaLnBrk="1" fontAlgn="auto" hangingPunct="1">
              <a:spcBef>
                <a:spcPts val="0"/>
              </a:spcBef>
              <a:spcAft>
                <a:spcPts val="0"/>
              </a:spcAft>
              <a:defRPr/>
            </a:pPr>
            <a:r>
              <a:rPr lang="en-US" dirty="0" smtClean="0"/>
              <a:t>30 oversight and legislative hearings</a:t>
            </a:r>
          </a:p>
          <a:p>
            <a:pPr eaLnBrk="1" fontAlgn="auto" hangingPunct="1">
              <a:spcBef>
                <a:spcPts val="0"/>
              </a:spcBef>
              <a:spcAft>
                <a:spcPts val="0"/>
              </a:spcAft>
              <a:defRPr/>
            </a:pPr>
            <a:r>
              <a:rPr lang="en-US" dirty="0" smtClean="0"/>
              <a:t>400 Questions for the Record in follow-up to hearings</a:t>
            </a:r>
          </a:p>
          <a:p>
            <a:pPr eaLnBrk="1" fontAlgn="auto" hangingPunct="1">
              <a:spcBef>
                <a:spcPts val="0"/>
              </a:spcBef>
              <a:spcAft>
                <a:spcPts val="0"/>
              </a:spcAft>
              <a:defRPr/>
            </a:pPr>
            <a:r>
              <a:rPr lang="en-US" dirty="0" smtClean="0"/>
              <a:t>125 letters of incoming correspondence from Members requiring prepared response</a:t>
            </a:r>
          </a:p>
          <a:p>
            <a:pPr eaLnBrk="1" fontAlgn="auto" hangingPunct="1">
              <a:spcBef>
                <a:spcPts val="0"/>
              </a:spcBef>
              <a:spcAft>
                <a:spcPts val="0"/>
              </a:spcAft>
              <a:defRPr/>
            </a:pPr>
            <a:r>
              <a:rPr lang="en-US" dirty="0" smtClean="0"/>
              <a:t>1,900 NOAA grants that are reviewed by the OLA and the Hill notified (Representative in whose district the work is based, both Senators, and other Members as relevant)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9FB89719-7967-4448-8AD8-702291A30EF6}" type="slidenum">
              <a:rPr lang="en-US" smtClean="0"/>
              <a:pPr/>
              <a:t>6</a:t>
            </a:fld>
            <a:endParaRPr lang="en-US" smtClean="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a:t>
            </a:r>
          </a:p>
          <a:p>
            <a:r>
              <a:rPr lang="en-US" smtClean="0"/>
              <a:t>Assistant Administrators and offices charged with corporate management functions, such as the Chief Financial Officer and the Chief Administrative Officer.</a:t>
            </a:r>
          </a:p>
          <a:p>
            <a:r>
              <a:rPr lang="en-US" smtClean="0"/>
              <a:t> </a:t>
            </a:r>
          </a:p>
          <a:p>
            <a:r>
              <a:rPr lang="en-US" b="1" smtClean="0"/>
              <a:t>Office of Communications (OC) coordinates all NOAA interviews with NOAA leadership and</a:t>
            </a:r>
            <a:endParaRPr lang="en-US" smtClean="0"/>
          </a:p>
          <a:p>
            <a:r>
              <a:rPr lang="en-US" smtClean="0"/>
              <a:t>coordinates External Affairs including questions on policy issues, budget and legislation,</a:t>
            </a:r>
          </a:p>
          <a:p>
            <a:r>
              <a:rPr lang="en-US" smtClean="0"/>
              <a:t>constituent affairs, stakeholder relationships, intergovernmental affairs, business/industry liaison,</a:t>
            </a:r>
          </a:p>
          <a:p>
            <a:r>
              <a:rPr lang="en-US" smtClean="0"/>
              <a:t>and exhibits. </a:t>
            </a:r>
            <a:r>
              <a:rPr lang="en-US" u="sng" smtClean="0">
                <a:hlinkClick r:id="rId3"/>
              </a:rPr>
              <a:t>www.noaa.gov/media</a:t>
            </a:r>
            <a:endParaRPr lang="en-US" smtClean="0"/>
          </a:p>
          <a:p>
            <a:r>
              <a:rPr lang="en-US" smtClean="0"/>
              <a:t> </a:t>
            </a:r>
          </a:p>
          <a:p>
            <a:r>
              <a:rPr lang="en-US" b="1" u="sng" smtClean="0"/>
              <a:t>Major outputs:</a:t>
            </a:r>
            <a:r>
              <a:rPr lang="en-US" smtClean="0"/>
              <a:t> </a:t>
            </a:r>
          </a:p>
          <a:p>
            <a:r>
              <a:rPr lang="en-US" smtClean="0"/>
              <a:t>News releases – based on newsworthy issues NOAA Communications produces news releases directed to national, regional and local media to ensure prompt coverage of NOAA related accomplishments and story lines. In 2007 more than 250 news releases were issued.</a:t>
            </a:r>
          </a:p>
          <a:p>
            <a:r>
              <a:rPr lang="en-US" smtClean="0"/>
              <a:t> </a:t>
            </a:r>
          </a:p>
          <a:p>
            <a:r>
              <a:rPr lang="en-US" smtClean="0"/>
              <a:t>Video presentations – NOAA’s video studio in Silver Spring produces feature length and shorter video presentations for internal NOAA clients. These videos are presented to a wide variety of audiences including NOAA employees and constituents. The studio also supports the media outreach efforts of NOAA communications by producing broadcast quality video clips (b-roll) and speaker support program.</a:t>
            </a:r>
          </a:p>
          <a:p>
            <a:r>
              <a:rPr lang="en-US" smtClean="0"/>
              <a:t> </a:t>
            </a:r>
          </a:p>
          <a:p>
            <a:r>
              <a:rPr lang="en-US" smtClean="0"/>
              <a:t>Opinion/editorial articles – based on newsworthy issues NOAA Communications writes opinion/editorial articles for NOAA leadership. These items are created to ensure opinions of the agency are reported promptly and factually. </a:t>
            </a:r>
          </a:p>
          <a:p>
            <a:r>
              <a:rPr lang="en-US" smtClean="0"/>
              <a:t> </a:t>
            </a:r>
          </a:p>
          <a:p>
            <a:r>
              <a:rPr lang="en-US" smtClean="0"/>
              <a:t>News conferences – NOAA Communications coordinates the planning and production of news conferences and media availabilities on newsworthy issues. The frequency of news conferences and/or media availabilities can vary. The largest and most heavily subscribed news conference each year is the announcement of the outlook for the Atlantic hurricane season.</a:t>
            </a:r>
          </a:p>
          <a:p>
            <a:r>
              <a:rPr lang="en-US" smtClean="0"/>
              <a:t> </a:t>
            </a:r>
          </a:p>
          <a:p>
            <a:r>
              <a:rPr lang="en-US" smtClean="0"/>
              <a:t>NOAA homepage content – NOAA Communications is responsible for the production and content of the agency’s homepage on the Web. NOAA.gov regularly ranks in the top 10 of all federal Web sites. </a:t>
            </a:r>
          </a:p>
          <a:p>
            <a:r>
              <a:rPr lang="en-US" smtClean="0"/>
              <a:t>NOAA World online newsletter – this online newsletter is designed to keep NOAA employees and contractors informed about NOAA activities. Available both online and in PDF format this publication includes regular features about NOAA’s work in the regions and what is going on at NOAA's corporate levels.</a:t>
            </a:r>
          </a:p>
          <a:p>
            <a:r>
              <a:rPr lang="en-US" b="1" u="sng" smtClean="0"/>
              <a:t>Services:</a:t>
            </a:r>
            <a:r>
              <a:rPr lang="en-US" smtClean="0"/>
              <a:t> </a:t>
            </a:r>
          </a:p>
          <a:p>
            <a:r>
              <a:rPr lang="en-US" smtClean="0"/>
              <a:t>Interview preparation and coordination – NOAA public affairs officers will work closely with subject matter experts to prepare for a media interview. This includes assisting with messaging, tips on dealing with reporter(s), accompanying the subject matter expert during the interview, and conducting any follow-up actions required.</a:t>
            </a:r>
          </a:p>
          <a:p>
            <a:r>
              <a:rPr lang="en-US" smtClean="0"/>
              <a:t>Media training – NOAA public affairs officers provide training to NOAA personnel who may interact with the media. This training includes pointers on preparing for an interview, pitfalls to avoid, how to formulate your message, tips on non-verbal communications.</a:t>
            </a:r>
          </a:p>
          <a:p>
            <a:r>
              <a:rPr lang="en-US" smtClean="0"/>
              <a:t>Constituent relations – NOAA’s Office of Communications coordinates activities with business and industry, public interest groups, academic institutions, state and local government in conjunction constituent personnel in the line and program offices. OC ensures this audience is regularly advised of NOAA activities and engaged when appropriate.</a:t>
            </a:r>
          </a:p>
          <a:p>
            <a:r>
              <a:rPr lang="en-US" smtClean="0"/>
              <a:t/>
            </a:r>
            <a:br>
              <a:rPr lang="en-US" smtClean="0"/>
            </a:br>
            <a:r>
              <a:rPr lang="en-US" smtClean="0"/>
              <a:t>Exhibit management – NOAA’s Office of Communications coordinates NOAA presence at a wide variety of trade exhibitions across the nation and internationally. OC works closely with all line and program offices to ensure consistent themes and appearances are met.</a:t>
            </a:r>
          </a:p>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679A5BF5-7AE4-4A0E-89F6-F0472B6FA979}" type="slidenum">
              <a:rPr lang="en-US" smtClean="0"/>
              <a:pPr/>
              <a:t>7</a:t>
            </a:fld>
            <a:endParaRPr lang="en-US" smtClean="0"/>
          </a:p>
        </p:txBody>
      </p:sp>
      <p:sp>
        <p:nvSpPr>
          <p:cNvPr id="23555"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ln/>
        </p:spPr>
        <p:txBody>
          <a:bodyPr>
            <a:normAutofit fontScale="55000" lnSpcReduction="20000"/>
          </a:bodyPr>
          <a:lstStyle/>
          <a:p>
            <a:pPr eaLnBrk="1" fontAlgn="auto" hangingPunct="1">
              <a:spcBef>
                <a:spcPts val="0"/>
              </a:spcBef>
              <a:spcAft>
                <a:spcPts val="0"/>
              </a:spcAft>
              <a:defRPr/>
            </a:pPr>
            <a:r>
              <a:rPr lang="en-US" dirty="0"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a:t>
            </a:r>
          </a:p>
          <a:p>
            <a:pPr eaLnBrk="1" fontAlgn="auto" hangingPunct="1">
              <a:spcBef>
                <a:spcPts val="0"/>
              </a:spcBef>
              <a:spcAft>
                <a:spcPts val="0"/>
              </a:spcAft>
              <a:defRPr/>
            </a:pPr>
            <a:r>
              <a:rPr lang="en-US" dirty="0" smtClean="0"/>
              <a:t>Assistant Administrators and offices charged with corporate management functions, such as the Chief Financial Officer and the Chief Administrative Officer.</a:t>
            </a:r>
          </a:p>
          <a:p>
            <a:pPr eaLnBrk="1" fontAlgn="auto" hangingPunct="1">
              <a:spcBef>
                <a:spcPts val="0"/>
              </a:spcBef>
              <a:spcAft>
                <a:spcPts val="0"/>
              </a:spcAft>
              <a:defRPr/>
            </a:pPr>
            <a:r>
              <a:rPr lang="en-US" dirty="0" smtClean="0"/>
              <a:t> </a:t>
            </a:r>
          </a:p>
          <a:p>
            <a:pPr eaLnBrk="1" fontAlgn="auto" hangingPunct="1">
              <a:spcBef>
                <a:spcPts val="0"/>
              </a:spcBef>
              <a:spcAft>
                <a:spcPts val="0"/>
              </a:spcAft>
              <a:defRPr/>
            </a:pPr>
            <a:r>
              <a:rPr lang="en-US" b="1" dirty="0" smtClean="0"/>
              <a:t> Workforce Management Officer (WFMO) is the principal human resources manager for NOAA.  </a:t>
            </a:r>
            <a:r>
              <a:rPr lang="en-US" dirty="0" smtClean="0"/>
              <a:t>The WFMO provides policies, programs, and processes that facilitate the recruitment, hiring, development, and retention of a diverse, highly skilled, motivated, and effective workforce capable of accomplishing the Agency’s mission. </a:t>
            </a:r>
          </a:p>
          <a:p>
            <a:pPr eaLnBrk="1" fontAlgn="auto" hangingPunct="1">
              <a:spcBef>
                <a:spcPts val="0"/>
              </a:spcBef>
              <a:spcAft>
                <a:spcPts val="0"/>
              </a:spcAft>
              <a:defRPr/>
            </a:pPr>
            <a:r>
              <a:rPr lang="en-US" b="1" dirty="0" smtClean="0"/>
              <a:t>Major Outputs</a:t>
            </a:r>
            <a:endParaRPr lang="en-US" dirty="0" smtClean="0"/>
          </a:p>
          <a:p>
            <a:pPr eaLnBrk="1" fontAlgn="auto" hangingPunct="1">
              <a:spcBef>
                <a:spcPts val="0"/>
              </a:spcBef>
              <a:spcAft>
                <a:spcPts val="0"/>
              </a:spcAft>
              <a:defRPr/>
            </a:pPr>
            <a:r>
              <a:rPr lang="en-US" b="1" dirty="0" smtClean="0"/>
              <a:t>The WFMO provides NOAA-wide leadership of the following workforce management functions:</a:t>
            </a:r>
            <a:endParaRPr lang="en-US" dirty="0" smtClean="0"/>
          </a:p>
          <a:p>
            <a:pPr lvl="1" eaLnBrk="1" fontAlgn="auto" hangingPunct="1">
              <a:spcBef>
                <a:spcPts val="0"/>
              </a:spcBef>
              <a:spcAft>
                <a:spcPts val="0"/>
              </a:spcAft>
              <a:defRPr/>
            </a:pPr>
            <a:r>
              <a:rPr lang="en-US" b="1" dirty="0" smtClean="0"/>
              <a:t>Recruitment and hiring activities  </a:t>
            </a:r>
            <a:endParaRPr lang="en-US" dirty="0" smtClean="0"/>
          </a:p>
          <a:p>
            <a:pPr lvl="1" eaLnBrk="1" fontAlgn="auto" hangingPunct="1">
              <a:spcBef>
                <a:spcPts val="0"/>
              </a:spcBef>
              <a:spcAft>
                <a:spcPts val="0"/>
              </a:spcAft>
              <a:defRPr/>
            </a:pPr>
            <a:r>
              <a:rPr lang="en-US" b="1" dirty="0" smtClean="0"/>
              <a:t>Strategic human capital planning and policies</a:t>
            </a:r>
            <a:endParaRPr lang="en-US" dirty="0" smtClean="0"/>
          </a:p>
          <a:p>
            <a:pPr lvl="1" eaLnBrk="1" fontAlgn="auto" hangingPunct="1">
              <a:spcBef>
                <a:spcPts val="0"/>
              </a:spcBef>
              <a:spcAft>
                <a:spcPts val="0"/>
              </a:spcAft>
              <a:defRPr/>
            </a:pPr>
            <a:r>
              <a:rPr lang="en-US" b="1" dirty="0" smtClean="0"/>
              <a:t>Performance metrics and accountability reports</a:t>
            </a:r>
            <a:endParaRPr lang="en-US" dirty="0" smtClean="0"/>
          </a:p>
          <a:p>
            <a:pPr lvl="1" eaLnBrk="1" fontAlgn="auto" hangingPunct="1">
              <a:spcBef>
                <a:spcPts val="0"/>
              </a:spcBef>
              <a:spcAft>
                <a:spcPts val="0"/>
              </a:spcAft>
              <a:defRPr/>
            </a:pPr>
            <a:r>
              <a:rPr lang="en-US" b="1" dirty="0" smtClean="0"/>
              <a:t>Labor-management and employee relations</a:t>
            </a:r>
            <a:endParaRPr lang="en-US" dirty="0" smtClean="0"/>
          </a:p>
          <a:p>
            <a:pPr lvl="1" eaLnBrk="1" fontAlgn="auto" hangingPunct="1">
              <a:spcBef>
                <a:spcPts val="0"/>
              </a:spcBef>
              <a:spcAft>
                <a:spcPts val="0"/>
              </a:spcAft>
              <a:defRPr/>
            </a:pPr>
            <a:r>
              <a:rPr lang="en-US" b="1" dirty="0" smtClean="0"/>
              <a:t>Performance management and incentive awards</a:t>
            </a:r>
            <a:endParaRPr lang="en-US" dirty="0" smtClean="0"/>
          </a:p>
          <a:p>
            <a:pPr lvl="1" eaLnBrk="1" fontAlgn="auto" hangingPunct="1">
              <a:spcBef>
                <a:spcPts val="0"/>
              </a:spcBef>
              <a:spcAft>
                <a:spcPts val="0"/>
              </a:spcAft>
              <a:defRPr/>
            </a:pPr>
            <a:r>
              <a:rPr lang="en-US" b="1" dirty="0" smtClean="0"/>
              <a:t>Executive resources activities</a:t>
            </a:r>
            <a:endParaRPr lang="en-US" dirty="0" smtClean="0"/>
          </a:p>
          <a:p>
            <a:pPr lvl="1" eaLnBrk="1" fontAlgn="auto" hangingPunct="1">
              <a:spcBef>
                <a:spcPts val="0"/>
              </a:spcBef>
              <a:spcAft>
                <a:spcPts val="0"/>
              </a:spcAft>
              <a:defRPr/>
            </a:pPr>
            <a:r>
              <a:rPr lang="en-US" b="1" dirty="0" smtClean="0"/>
              <a:t>Distance learning tools</a:t>
            </a:r>
            <a:endParaRPr lang="en-US" dirty="0" smtClean="0"/>
          </a:p>
          <a:p>
            <a:pPr lvl="1" eaLnBrk="1" fontAlgn="auto" hangingPunct="1">
              <a:spcBef>
                <a:spcPts val="0"/>
              </a:spcBef>
              <a:spcAft>
                <a:spcPts val="0"/>
              </a:spcAft>
              <a:defRPr/>
            </a:pPr>
            <a:r>
              <a:rPr lang="en-US" b="1" dirty="0" smtClean="0"/>
              <a:t>Leadership development</a:t>
            </a:r>
            <a:endParaRPr lang="en-US" dirty="0" smtClean="0"/>
          </a:p>
          <a:p>
            <a:pPr lvl="1" eaLnBrk="1" fontAlgn="auto" hangingPunct="1">
              <a:spcBef>
                <a:spcPts val="0"/>
              </a:spcBef>
              <a:spcAft>
                <a:spcPts val="0"/>
              </a:spcAft>
              <a:defRPr/>
            </a:pPr>
            <a:r>
              <a:rPr lang="en-US" b="1" dirty="0" smtClean="0"/>
              <a:t>Training and career development programs</a:t>
            </a:r>
            <a:endParaRPr lang="en-US" dirty="0" smtClean="0"/>
          </a:p>
          <a:p>
            <a:pPr lvl="1" eaLnBrk="1" fontAlgn="auto" hangingPunct="1">
              <a:spcBef>
                <a:spcPts val="0"/>
              </a:spcBef>
              <a:spcAft>
                <a:spcPts val="0"/>
              </a:spcAft>
              <a:defRPr/>
            </a:pPr>
            <a:r>
              <a:rPr lang="en-US" b="1" dirty="0" smtClean="0"/>
              <a:t>Human resources data management and automation</a:t>
            </a:r>
            <a:endParaRPr lang="en-US" dirty="0" smtClean="0"/>
          </a:p>
          <a:p>
            <a:pPr eaLnBrk="1" fontAlgn="auto" hangingPunct="1">
              <a:spcBef>
                <a:spcPts val="0"/>
              </a:spcBef>
              <a:spcAft>
                <a:spcPts val="0"/>
              </a:spcAft>
              <a:defRPr/>
            </a:pPr>
            <a:r>
              <a:rPr lang="en-US" b="1" dirty="0" smtClean="0"/>
              <a:t>(Additional Information):  </a:t>
            </a:r>
            <a:r>
              <a:rPr lang="en-US" dirty="0" smtClean="0"/>
              <a:t>Workforce Management Office (WFMO) provides policies, programs, and processes that facilitate the recruitment, hiring, development, and retention of a diverse, highly skilled, motivated, and effective workforce capable of accomplishing the Agency’s mission. The WFMO provides</a:t>
            </a:r>
          </a:p>
          <a:p>
            <a:pPr eaLnBrk="1" fontAlgn="auto" hangingPunct="1">
              <a:spcBef>
                <a:spcPts val="0"/>
              </a:spcBef>
              <a:spcAft>
                <a:spcPts val="0"/>
              </a:spcAft>
              <a:defRPr/>
            </a:pPr>
            <a:r>
              <a:rPr lang="en-US" dirty="0" smtClean="0"/>
              <a:t>NOAA-wide leadership to workforce management functions including strategic human capital</a:t>
            </a:r>
          </a:p>
          <a:p>
            <a:pPr eaLnBrk="1" fontAlgn="auto" hangingPunct="1">
              <a:spcBef>
                <a:spcPts val="0"/>
              </a:spcBef>
              <a:spcAft>
                <a:spcPts val="0"/>
              </a:spcAft>
              <a:defRPr/>
            </a:pPr>
            <a:r>
              <a:rPr lang="en-US" dirty="0" smtClean="0"/>
              <a:t>planning, labor-management and employee relations, performance management and incentive</a:t>
            </a:r>
          </a:p>
          <a:p>
            <a:pPr eaLnBrk="1" fontAlgn="auto" hangingPunct="1">
              <a:spcBef>
                <a:spcPts val="0"/>
              </a:spcBef>
              <a:spcAft>
                <a:spcPts val="0"/>
              </a:spcAft>
              <a:defRPr/>
            </a:pPr>
            <a:r>
              <a:rPr lang="en-US" dirty="0" smtClean="0"/>
              <a:t>awards, executive resources, distance learning, leadership development, training and career</a:t>
            </a:r>
          </a:p>
          <a:p>
            <a:pPr eaLnBrk="1" fontAlgn="auto" hangingPunct="1">
              <a:spcBef>
                <a:spcPts val="0"/>
              </a:spcBef>
              <a:spcAft>
                <a:spcPts val="0"/>
              </a:spcAft>
              <a:defRPr/>
            </a:pPr>
            <a:r>
              <a:rPr lang="en-US" dirty="0" smtClean="0"/>
              <a:t>development, and human resources data management and automation</a:t>
            </a:r>
          </a:p>
          <a:p>
            <a:pPr eaLnBrk="1" fontAlgn="auto" hangingPunct="1">
              <a:spcBef>
                <a:spcPts val="0"/>
              </a:spcBef>
              <a:spcAft>
                <a:spcPts val="0"/>
              </a:spcAft>
              <a:defRPr/>
            </a:pPr>
            <a:r>
              <a:rPr lang="en-US" dirty="0" smtClean="0"/>
              <a:t>initiatives. www.wfm.noaa.gov</a:t>
            </a:r>
          </a:p>
          <a:p>
            <a:pPr eaLnBrk="1" fontAlgn="auto" hangingPunct="1">
              <a:spcBef>
                <a:spcPts val="0"/>
              </a:spcBef>
              <a:spcAft>
                <a:spcPts val="0"/>
              </a:spcAft>
              <a:defRPr/>
            </a:pPr>
            <a:r>
              <a:rPr lang="en-US" b="1" dirty="0" smtClean="0"/>
              <a:t> </a:t>
            </a:r>
            <a:endParaRPr lang="en-US" dirty="0" smtClean="0"/>
          </a:p>
          <a:p>
            <a:pPr eaLnBrk="1" fontAlgn="auto" hangingPunct="1">
              <a:spcBef>
                <a:spcPts val="0"/>
              </a:spcBef>
              <a:spcAft>
                <a:spcPts val="0"/>
              </a:spcAft>
              <a:defRPr/>
            </a:pPr>
            <a:r>
              <a:rPr lang="en-US" b="1" dirty="0" smtClean="0"/>
              <a:t>Major Outputs</a:t>
            </a:r>
            <a:endParaRPr lang="en-US" dirty="0" smtClean="0"/>
          </a:p>
          <a:p>
            <a:pPr eaLnBrk="1" fontAlgn="auto" hangingPunct="1">
              <a:spcBef>
                <a:spcPts val="0"/>
              </a:spcBef>
              <a:spcAft>
                <a:spcPts val="0"/>
              </a:spcAft>
              <a:defRPr/>
            </a:pPr>
            <a:r>
              <a:rPr lang="en-US" b="1" dirty="0" smtClean="0"/>
              <a:t>These services result in products such as human capital management policies, and performance metrics and accountability reports, both internally and to the Department of Commerce, in the course of monitoring NOAA’s overall progress in achieving the goals of the NOAA Strategic Human Capital Management Plan.  </a:t>
            </a:r>
            <a:endParaRPr lang="en-US" dirty="0" smtClean="0"/>
          </a:p>
          <a:p>
            <a:pPr eaLnBrk="1" fontAlgn="auto" hangingPunct="1">
              <a:spcBef>
                <a:spcPts val="0"/>
              </a:spcBef>
              <a:spcAft>
                <a:spcPts val="0"/>
              </a:spcAft>
              <a:defRPr/>
            </a:pPr>
            <a:r>
              <a:rPr lang="en-US" b="1" dirty="0" smtClean="0"/>
              <a:t>Additionally, human capital management services result in development programs such as:</a:t>
            </a:r>
            <a:endParaRPr lang="en-US" dirty="0" smtClean="0"/>
          </a:p>
          <a:p>
            <a:pPr eaLnBrk="1" fontAlgn="auto" hangingPunct="1">
              <a:spcBef>
                <a:spcPts val="0"/>
              </a:spcBef>
              <a:spcAft>
                <a:spcPts val="0"/>
              </a:spcAft>
              <a:defRPr/>
            </a:pPr>
            <a:r>
              <a:rPr lang="en-US" b="1" dirty="0" smtClean="0"/>
              <a:t> NOAA Leadership Competencies Development Program -- a competitive, intermittent 18-month, leadership development program providing a series of training and learning experiences for a cadre of GS-13/14/15 NOAA employees who have high potential for assuming greater leadership responsibilities in the agency;</a:t>
            </a:r>
            <a:endParaRPr lang="en-US" dirty="0" smtClean="0"/>
          </a:p>
          <a:p>
            <a:pPr eaLnBrk="1" fontAlgn="auto" hangingPunct="1">
              <a:spcBef>
                <a:spcPts val="0"/>
              </a:spcBef>
              <a:spcAft>
                <a:spcPts val="0"/>
              </a:spcAft>
              <a:defRPr/>
            </a:pPr>
            <a:r>
              <a:rPr lang="en-US" b="1" dirty="0" smtClean="0"/>
              <a:t>NOAA Leadership Seminar -- a three-day, off-site retreat primarily for GS-13/14 employees to learn about NOAA’s priorities directly from those in key leadership positions;</a:t>
            </a:r>
            <a:endParaRPr lang="en-US" dirty="0" smtClean="0"/>
          </a:p>
          <a:p>
            <a:pPr eaLnBrk="1" fontAlgn="auto" hangingPunct="1">
              <a:spcBef>
                <a:spcPts val="0"/>
              </a:spcBef>
              <a:spcAft>
                <a:spcPts val="0"/>
              </a:spcAft>
              <a:defRPr/>
            </a:pPr>
            <a:r>
              <a:rPr lang="en-US" b="1" dirty="0" smtClean="0"/>
              <a:t>NOAA Rotational Assignment Program – an annual program offering all employees the opportunity to compete for short-term (typically 3-6 months) developmental assignments in their current or a different NOAA organization; and</a:t>
            </a:r>
            <a:endParaRPr lang="en-US" dirty="0" smtClean="0"/>
          </a:p>
          <a:p>
            <a:pPr eaLnBrk="1" fontAlgn="auto" hangingPunct="1">
              <a:spcBef>
                <a:spcPts val="0"/>
              </a:spcBef>
              <a:spcAft>
                <a:spcPts val="0"/>
              </a:spcAft>
              <a:defRPr/>
            </a:pPr>
            <a:r>
              <a:rPr lang="en-US" b="1" dirty="0" smtClean="0"/>
              <a:t>Appointment and development of NOAA Presidential Management Fellows – a two-year program managed by the Office of Personnel which has an excellent reputation for attracting outstanding men and women who have recently completed the requirements for their masters, doctoral or other terminal degree.</a:t>
            </a:r>
            <a:endParaRPr lang="en-US" dirty="0" smtClean="0"/>
          </a:p>
          <a:p>
            <a:pPr eaLnBrk="1" fontAlgn="auto" hangingPunct="1">
              <a:spcBef>
                <a:spcPts val="0"/>
              </a:spcBef>
              <a:spcAft>
                <a:spcPts val="0"/>
              </a:spcAft>
              <a:defRPr/>
            </a:pPr>
            <a:endParaRPr lang="en-US" sz="1000"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fld id="{899B7963-0EAC-4C8E-B8F4-EB0A94EBEFC2}" type="slidenum">
              <a:rPr lang="en-US" smtClean="0"/>
              <a:pPr/>
              <a:t>8</a:t>
            </a:fld>
            <a:endParaRPr lang="en-US" smtClean="0"/>
          </a:p>
        </p:txBody>
      </p:sp>
      <p:sp>
        <p:nvSpPr>
          <p:cNvPr id="10243"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ln/>
        </p:spPr>
        <p:txBody>
          <a:bodyPr>
            <a:normAutofit fontScale="47500" lnSpcReduction="20000"/>
          </a:bodyPr>
          <a:lstStyle/>
          <a:p>
            <a:pPr>
              <a:defRPr/>
            </a:pPr>
            <a:r>
              <a:rPr lang="en-US" b="1" dirty="0" smtClean="0"/>
              <a:t> </a:t>
            </a:r>
            <a:endParaRPr lang="en-US" dirty="0" smtClean="0"/>
          </a:p>
          <a:p>
            <a:pPr>
              <a:defRPr/>
            </a:pPr>
            <a:r>
              <a:rPr lang="en-US" b="1" dirty="0" smtClean="0"/>
              <a:t>NOAA’s Office of Education (</a:t>
            </a:r>
            <a:r>
              <a:rPr lang="en-US" b="1" dirty="0" err="1" smtClean="0"/>
              <a:t>OEd</a:t>
            </a:r>
            <a:r>
              <a:rPr lang="en-US" b="1" dirty="0" smtClean="0"/>
              <a:t>)</a:t>
            </a:r>
            <a:r>
              <a:rPr lang="en-US" dirty="0" smtClean="0"/>
              <a:t>, in conjunction with the NOAA Education Council, provides advice and counsel to the Under Secretary on matters pertaining to education.    </a:t>
            </a:r>
            <a:r>
              <a:rPr lang="en-US" u="sng" dirty="0" smtClean="0"/>
              <a:t>http://www.oesd.noaa.gov</a:t>
            </a:r>
            <a:endParaRPr lang="en-US" dirty="0" smtClean="0"/>
          </a:p>
          <a:p>
            <a:pPr>
              <a:defRPr/>
            </a:pPr>
            <a:r>
              <a:rPr lang="en-US" b="1" u="sng" dirty="0" smtClean="0"/>
              <a:t>Products:</a:t>
            </a:r>
            <a:endParaRPr lang="en-US" dirty="0" smtClean="0"/>
          </a:p>
          <a:p>
            <a:pPr>
              <a:defRPr/>
            </a:pPr>
            <a:r>
              <a:rPr lang="en-US" b="1" u="sng" dirty="0" smtClean="0"/>
              <a:t>Interagency Working Group on Ocean Education Meetings</a:t>
            </a:r>
            <a:r>
              <a:rPr lang="en-US" b="1" dirty="0" smtClean="0"/>
              <a:t>:  </a:t>
            </a:r>
            <a:r>
              <a:rPr lang="en-US" dirty="0" smtClean="0"/>
              <a:t>implements recommendations of the U.S. Ocean Action Plan, compares Agency-funded programs and identifies common priorities and collaborations across Federal agencies to increase ocean literacy and build a future workforce</a:t>
            </a:r>
          </a:p>
          <a:p>
            <a:pPr>
              <a:defRPr/>
            </a:pPr>
            <a:r>
              <a:rPr lang="en-US" b="1" u="sng" dirty="0" smtClean="0"/>
              <a:t>NOAA Education Strategic Plan 2008:</a:t>
            </a:r>
            <a:r>
              <a:rPr lang="en-US" dirty="0" smtClean="0"/>
              <a:t> a 20-year plan for NOAA’s Education Initiatives across the Agency. The Plan is being submitted to Congress in response to the America COMPETES Act of 2007 </a:t>
            </a:r>
          </a:p>
          <a:p>
            <a:pPr>
              <a:defRPr/>
            </a:pPr>
            <a:r>
              <a:rPr lang="en-US" b="1" u="sng" dirty="0" smtClean="0"/>
              <a:t>Education Council Meetings</a:t>
            </a:r>
            <a:r>
              <a:rPr lang="en-US" dirty="0" smtClean="0"/>
              <a:t> : coordinates education activities across NOAA and oversees the implementation of NOAA’s Education Plan and Policy; assists in creating education evaluation and assessment frameworks for NOAA education programs </a:t>
            </a:r>
          </a:p>
          <a:p>
            <a:pPr>
              <a:defRPr/>
            </a:pPr>
            <a:r>
              <a:rPr lang="en-US" b="1" u="sng" dirty="0" smtClean="0"/>
              <a:t>PPBES</a:t>
            </a:r>
            <a:r>
              <a:rPr lang="en-US" u="sng" dirty="0" smtClean="0"/>
              <a:t> </a:t>
            </a:r>
            <a:r>
              <a:rPr lang="en-US" b="1" u="sng" dirty="0" smtClean="0"/>
              <a:t>Environmental Literacy Tracking:</a:t>
            </a:r>
            <a:r>
              <a:rPr lang="en-US" b="1" dirty="0" smtClean="0"/>
              <a:t>  </a:t>
            </a:r>
            <a:r>
              <a:rPr lang="en-US" dirty="0" smtClean="0"/>
              <a:t>an annual strategic assessment of all of NOAA’s environmental literacy activities and recommend  options that represent strategic opportunities to leverage partnerships and maximize benefit </a:t>
            </a:r>
          </a:p>
          <a:p>
            <a:pPr>
              <a:defRPr/>
            </a:pPr>
            <a:r>
              <a:rPr lang="en-US" dirty="0" smtClean="0"/>
              <a:t> </a:t>
            </a:r>
          </a:p>
          <a:p>
            <a:pPr>
              <a:defRPr/>
            </a:pPr>
            <a:r>
              <a:rPr lang="en-US" b="1" u="sng" dirty="0" smtClean="0"/>
              <a:t>Services:</a:t>
            </a:r>
            <a:endParaRPr lang="en-US" dirty="0" smtClean="0"/>
          </a:p>
          <a:p>
            <a:pPr>
              <a:defRPr/>
            </a:pPr>
            <a:r>
              <a:rPr lang="en-US" b="1" u="sng" dirty="0" smtClean="0"/>
              <a:t>Education Outreach Center: </a:t>
            </a:r>
            <a:r>
              <a:rPr lang="en-US" dirty="0" smtClean="0"/>
              <a:t> provides educational outreach materials from across NOAA lines and programs in support of agency conferences and community outreach events through requests from formal and informal educators, students, researchers, emergency services personnel, and NOAA employees</a:t>
            </a:r>
          </a:p>
          <a:p>
            <a:pPr>
              <a:defRPr/>
            </a:pPr>
            <a:r>
              <a:rPr lang="en-US" b="1" u="sng" dirty="0" smtClean="0"/>
              <a:t>Regional Education Grants - Bay-Watershed Education &amp; Training Grants (B-WET):</a:t>
            </a:r>
            <a:r>
              <a:rPr lang="en-US" dirty="0" smtClean="0"/>
              <a:t>  funding provided for projects that promote Meaningful Watershed Educational Experiences (MWEEs) for students and professional development for teachers.  Regions where B-WET currently operates: Chesapeake Bay, California, and Hawaii. In 2008, B-WET expanded to include three new regions: New England, Gulf of Mexico, and the Pacific Northwest. </a:t>
            </a:r>
          </a:p>
          <a:p>
            <a:pPr>
              <a:defRPr/>
            </a:pPr>
            <a:r>
              <a:rPr lang="en-US" b="1" u="sng" dirty="0" smtClean="0"/>
              <a:t>National Education Grants – Environmental Literacy Grants Program (ELG):</a:t>
            </a:r>
            <a:r>
              <a:rPr lang="en-US" dirty="0" smtClean="0"/>
              <a:t> competitively selected education awards totaling $20.1M to 40 different recipients in FY05-08. A few projects were co-funded with other NOAA offices.</a:t>
            </a:r>
          </a:p>
          <a:p>
            <a:pPr>
              <a:defRPr/>
            </a:pPr>
            <a:r>
              <a:rPr lang="en-US" b="1" u="sng" dirty="0" smtClean="0"/>
              <a:t>Scholarship Programs:</a:t>
            </a:r>
            <a:r>
              <a:rPr lang="en-US" dirty="0" smtClean="0"/>
              <a:t>  MSI Undergraduate Scholarship Program, MSI Graduate Sciences Program, Ernest F. Hollings Undergraduate Scholarship Program, Nancy Foster Graduate Scholarship Program  </a:t>
            </a:r>
          </a:p>
          <a:p>
            <a:pPr>
              <a:defRPr/>
            </a:pPr>
            <a:r>
              <a:rPr lang="en-US" b="1" u="sng" dirty="0" smtClean="0"/>
              <a:t>Cooperative Science Centers:</a:t>
            </a:r>
            <a:r>
              <a:rPr lang="en-US" b="1" dirty="0" smtClean="0"/>
              <a:t> </a:t>
            </a:r>
            <a:r>
              <a:rPr lang="en-US" dirty="0" smtClean="0"/>
              <a:t>  are a collaborative partnership with more than thirty universities that provide formal education to students in coursework directly related to NOAA’s mission. Cooperative Science Centers have been designated through competitive processes at minority serving institutions since 2001.  </a:t>
            </a:r>
          </a:p>
          <a:p>
            <a:pPr>
              <a:defRPr/>
            </a:pPr>
            <a:r>
              <a:rPr lang="en-US" dirty="0" smtClean="0"/>
              <a:t> </a:t>
            </a:r>
            <a:r>
              <a:rPr lang="en-US" b="1" u="sng" dirty="0" smtClean="0"/>
              <a:t>Science On a Sphere Museum Partners Network:</a:t>
            </a:r>
            <a:r>
              <a:rPr lang="en-US" dirty="0" smtClean="0"/>
              <a:t> a network created and supported by NOAA of over 30 museums, science centers, aquariums, and zoos that have Science On a Sphere installed in their public exhibit areas and are interested in working closely with NOAA to keep this dynamic visualization technology current and showing the most up-to-date data on Earth System Science.   </a:t>
            </a:r>
          </a:p>
          <a:p>
            <a:pPr>
              <a:defRPr/>
            </a:pPr>
            <a:r>
              <a:rPr lang="en-US" b="1" u="sng" dirty="0" smtClean="0"/>
              <a:t>Training:  Designing Education Projects Course:</a:t>
            </a:r>
            <a:r>
              <a:rPr lang="en-US" b="1" dirty="0" smtClean="0"/>
              <a:t>  </a:t>
            </a:r>
            <a:r>
              <a:rPr lang="en-US" dirty="0" smtClean="0"/>
              <a:t> designed to aid in the development of education programs and materials that are based on sound design and project planning and include key components of needs assessment, project design, and evaluation so that NOAA education professionals will have the skills and tools to assess target audience needs and determine the focus and direction for their education investments thereby extending the reach and impact of these projects to the audience they want to reach.</a:t>
            </a:r>
          </a:p>
          <a:p>
            <a:pPr>
              <a:defRPr/>
            </a:pPr>
            <a:endParaRPr lang="en-US" sz="1000" dirty="0" smtClean="0"/>
          </a:p>
          <a:p>
            <a:pPr>
              <a:defRPr/>
            </a:pPr>
            <a:r>
              <a:rPr lang="en-US" sz="1000" dirty="0" smtClean="0"/>
              <a:t>NOAA Education Products and Services </a:t>
            </a:r>
            <a:br>
              <a:rPr lang="en-US" sz="1000" dirty="0" smtClean="0"/>
            </a:br>
            <a:r>
              <a:rPr lang="en-US" sz="1000" dirty="0" smtClean="0"/>
              <a:t/>
            </a:r>
            <a:br>
              <a:rPr lang="en-US" sz="1000" dirty="0" smtClean="0"/>
            </a:br>
            <a:r>
              <a:rPr lang="en-US" sz="1000" dirty="0" smtClean="0"/>
              <a:t>*</a:t>
            </a:r>
            <a:r>
              <a:rPr lang="en-US" sz="1000" b="1" dirty="0" smtClean="0"/>
              <a:t>Leadership of the Education Council* - </a:t>
            </a:r>
            <a:r>
              <a:rPr lang="en-US" sz="1000" dirty="0" smtClean="0"/>
              <a:t>Building synergy and common purpose across the full range of NOAA offices and programs to produce the NOAA Education Plan and the International Year of the Reef education kit, the International Polar Year education kit and more. </a:t>
            </a:r>
            <a:br>
              <a:rPr lang="en-US" sz="1000" dirty="0" smtClean="0"/>
            </a:br>
            <a:r>
              <a:rPr lang="en-US" sz="1000" dirty="0" smtClean="0"/>
              <a:t/>
            </a:r>
            <a:br>
              <a:rPr lang="en-US" sz="1000" dirty="0" smtClean="0"/>
            </a:br>
            <a:r>
              <a:rPr lang="en-US" sz="1000" b="1" dirty="0" smtClean="0"/>
              <a:t>*Supports Environmental Literacy through national , regional and local education grants*</a:t>
            </a:r>
            <a:r>
              <a:rPr lang="en-US" sz="1000" dirty="0" smtClean="0"/>
              <a:t> - Highly competitive grants promoting experiential learning in the K-12 environment and national and regional improvements in science and environmental education </a:t>
            </a:r>
            <a:br>
              <a:rPr lang="en-US" sz="1000" dirty="0" smtClean="0"/>
            </a:br>
            <a:r>
              <a:rPr lang="en-US" sz="1000" dirty="0" smtClean="0"/>
              <a:t/>
            </a:r>
            <a:br>
              <a:rPr lang="en-US" sz="1000" dirty="0" smtClean="0"/>
            </a:br>
            <a:r>
              <a:rPr lang="en-US" sz="1000" b="1" dirty="0" smtClean="0"/>
              <a:t>*Provides Scholarship, Fellowships and  Internships*</a:t>
            </a:r>
            <a:r>
              <a:rPr lang="en-US" sz="1000" dirty="0" smtClean="0"/>
              <a:t> - Supporting over 200 students per year to obtain degrees in science, technology, engineering, math and education and gain professional work experience in programs across NOAA. </a:t>
            </a:r>
            <a:br>
              <a:rPr lang="en-US" sz="1000" dirty="0" smtClean="0"/>
            </a:br>
            <a:r>
              <a:rPr lang="en-US" sz="1000" dirty="0" smtClean="0"/>
              <a:t/>
            </a:r>
            <a:br>
              <a:rPr lang="en-US" sz="1000" dirty="0" smtClean="0"/>
            </a:br>
            <a:r>
              <a:rPr lang="en-US" sz="1000" dirty="0" smtClean="0"/>
              <a:t>*Promotes a More Diverse Future Workforce *- Partnering with Minority Serving Institutions to increase the number of students getting bachelors, masters and PhD degrees in the NOAA-related sciences to affect the workforce in NOAA and the Nation </a:t>
            </a:r>
            <a:br>
              <a:rPr lang="en-US" sz="1000" dirty="0" smtClean="0"/>
            </a:br>
            <a:r>
              <a:rPr lang="en-US" sz="1000" dirty="0" smtClean="0"/>
              <a:t/>
            </a:r>
            <a:br>
              <a:rPr lang="en-US" sz="1000" dirty="0" smtClean="0"/>
            </a:br>
            <a:r>
              <a:rPr lang="en-US" sz="1000" dirty="0" smtClean="0"/>
              <a:t>*Connecting with Museums, Science Centers and Aquariums *- Partnering with informal education institutions through the Science on a Sphere, the Ocean Today Kiosk and other innovative platforms to provide current climate, weather, ocean and coastal content to more than 20 million people each year </a:t>
            </a:r>
            <a:endParaRPr 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txBox="1">
            <a:spLocks noGrp="1" noChangeArrowheads="1"/>
          </p:cNvSpPr>
          <p:nvPr/>
        </p:nvSpPr>
        <p:spPr bwMode="auto">
          <a:xfrm>
            <a:off x="3963150" y="8807136"/>
            <a:ext cx="3032971" cy="462283"/>
          </a:xfrm>
          <a:prstGeom prst="rect">
            <a:avLst/>
          </a:prstGeom>
          <a:noFill/>
          <a:ln>
            <a:miter lim="800000"/>
            <a:headEnd/>
            <a:tailEnd/>
          </a:ln>
        </p:spPr>
        <p:txBody>
          <a:bodyPr lIns="91176" tIns="45588" rIns="91176" bIns="45588" anchor="b"/>
          <a:lstStyle/>
          <a:p>
            <a:pPr algn="r">
              <a:defRPr/>
            </a:pPr>
            <a:fld id="{9836DCBF-F70B-49F1-85CD-BC7C2ABDE6B8}" type="slidenum">
              <a:rPr lang="en-US" sz="1200">
                <a:latin typeface="+mn-lt"/>
              </a:rPr>
              <a:pPr algn="r">
                <a:defRPr/>
              </a:pPr>
              <a:t>9</a:t>
            </a:fld>
            <a:endParaRPr lang="en-US" sz="1200" dirty="0">
              <a:latin typeface="+mn-lt"/>
            </a:endParaRPr>
          </a:p>
        </p:txBody>
      </p:sp>
      <p:sp>
        <p:nvSpPr>
          <p:cNvPr id="25603"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ln/>
        </p:spPr>
        <p:txBody>
          <a:bodyPr>
            <a:normAutofit fontScale="92500" lnSpcReduction="20000"/>
          </a:bodyPr>
          <a:lstStyle/>
          <a:p>
            <a:pPr defTabSz="894205" eaLnBrk="1" fontAlgn="auto" hangingPunct="1">
              <a:spcBef>
                <a:spcPts val="0"/>
              </a:spcBef>
              <a:spcAft>
                <a:spcPts val="0"/>
              </a:spcAft>
              <a:defRPr/>
            </a:pPr>
            <a:r>
              <a:rPr lang="en-US" sz="800" dirty="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 Assistant Administrators and offices charged with corporate management functions, such as the Chief Financial Officer and the Chief Administrative Officer.</a:t>
            </a:r>
          </a:p>
          <a:p>
            <a:pPr eaLnBrk="1" fontAlgn="auto" hangingPunct="1">
              <a:spcBef>
                <a:spcPts val="0"/>
              </a:spcBef>
              <a:spcAft>
                <a:spcPts val="0"/>
              </a:spcAft>
              <a:defRPr/>
            </a:pPr>
            <a:endParaRPr lang="en-US" sz="800" b="1" dirty="0" smtClean="0">
              <a:latin typeface="Arial" charset="0"/>
            </a:endParaRPr>
          </a:p>
          <a:p>
            <a:pPr eaLnBrk="1" fontAlgn="auto" hangingPunct="1">
              <a:spcBef>
                <a:spcPts val="0"/>
              </a:spcBef>
              <a:spcAft>
                <a:spcPts val="0"/>
              </a:spcAft>
              <a:defRPr/>
            </a:pPr>
            <a:r>
              <a:rPr lang="en-US" sz="800" b="1" dirty="0" smtClean="0">
                <a:latin typeface="Arial" charset="0"/>
              </a:rPr>
              <a:t>Chief Information Officer and Director, High Performance Computing and </a:t>
            </a:r>
          </a:p>
          <a:p>
            <a:pPr eaLnBrk="1" fontAlgn="auto" hangingPunct="1">
              <a:spcBef>
                <a:spcPts val="0"/>
              </a:spcBef>
              <a:spcAft>
                <a:spcPts val="0"/>
              </a:spcAft>
              <a:defRPr/>
            </a:pPr>
            <a:r>
              <a:rPr lang="en-US" sz="800" b="1" dirty="0" smtClean="0">
                <a:latin typeface="Arial" charset="0"/>
              </a:rPr>
              <a:t>Communications </a:t>
            </a:r>
            <a:r>
              <a:rPr lang="en-US" sz="800" dirty="0" smtClean="0">
                <a:latin typeface="Arial" charset="0"/>
              </a:rPr>
              <a:t>is responsible for implementing the Clinger-Cohen Act, Federal Information Security Management Act, and other statutory requirements regarding the acquisition, and use of NOAA’s information technology resources.</a:t>
            </a:r>
          </a:p>
          <a:p>
            <a:pPr eaLnBrk="1" fontAlgn="auto" hangingPunct="1">
              <a:lnSpc>
                <a:spcPct val="80000"/>
              </a:lnSpc>
              <a:spcBef>
                <a:spcPts val="0"/>
              </a:spcBef>
              <a:spcAft>
                <a:spcPts val="0"/>
              </a:spcAft>
              <a:defRPr/>
            </a:pPr>
            <a:endParaRPr lang="en-US" sz="300" b="1" dirty="0" smtClean="0"/>
          </a:p>
          <a:p>
            <a:pPr marL="113327" indent="-113327" eaLnBrk="1" fontAlgn="auto" hangingPunct="1">
              <a:spcBef>
                <a:spcPts val="0"/>
              </a:spcBef>
              <a:spcAft>
                <a:spcPts val="0"/>
              </a:spcAft>
              <a:defRPr/>
            </a:pPr>
            <a:r>
              <a:rPr lang="en-US" b="1" dirty="0" smtClean="0">
                <a:latin typeface="Arial" charset="0"/>
              </a:rPr>
              <a:t>Services</a:t>
            </a:r>
          </a:p>
          <a:p>
            <a:pPr marL="113327" indent="-113327" eaLnBrk="1" fontAlgn="auto" hangingPunct="1">
              <a:spcBef>
                <a:spcPts val="0"/>
              </a:spcBef>
              <a:spcAft>
                <a:spcPts val="0"/>
              </a:spcAft>
              <a:defRPr/>
            </a:pPr>
            <a:endParaRPr lang="en-US" b="1" dirty="0" smtClean="0">
              <a:latin typeface="Arial" charset="0"/>
            </a:endParaRPr>
          </a:p>
          <a:p>
            <a:pPr marL="113327" indent="-113327" eaLnBrk="1" fontAlgn="auto" hangingPunct="1">
              <a:spcBef>
                <a:spcPts val="0"/>
              </a:spcBef>
              <a:spcAft>
                <a:spcPts val="0"/>
              </a:spcAft>
              <a:buFontTx/>
              <a:buChar char="•"/>
              <a:defRPr/>
            </a:pPr>
            <a:r>
              <a:rPr lang="en-US" b="1" dirty="0" smtClean="0">
                <a:latin typeface="Arial" charset="0"/>
              </a:rPr>
              <a:t>High Performance Computing and Communications</a:t>
            </a:r>
          </a:p>
          <a:p>
            <a:pPr marL="113327" indent="-113327" eaLnBrk="1" fontAlgn="auto" hangingPunct="1">
              <a:spcBef>
                <a:spcPts val="0"/>
              </a:spcBef>
              <a:spcAft>
                <a:spcPts val="0"/>
              </a:spcAft>
              <a:buFontTx/>
              <a:buChar char="•"/>
              <a:defRPr/>
            </a:pPr>
            <a:r>
              <a:rPr lang="en-US" b="1" dirty="0" smtClean="0">
                <a:latin typeface="Arial" charset="0"/>
              </a:rPr>
              <a:t>Homeland Security Program</a:t>
            </a:r>
          </a:p>
          <a:p>
            <a:pPr marL="113327" indent="-113327" eaLnBrk="1" fontAlgn="auto" hangingPunct="1">
              <a:spcBef>
                <a:spcPts val="0"/>
              </a:spcBef>
              <a:spcAft>
                <a:spcPts val="0"/>
              </a:spcAft>
              <a:buFontTx/>
              <a:buChar char="•"/>
              <a:defRPr/>
            </a:pPr>
            <a:r>
              <a:rPr lang="en-US" b="1" dirty="0" smtClean="0">
                <a:latin typeface="Arial" charset="0"/>
              </a:rPr>
              <a:t>IT Security Program</a:t>
            </a:r>
          </a:p>
          <a:p>
            <a:pPr marL="113327" indent="-113327" eaLnBrk="1" fontAlgn="auto" hangingPunct="1">
              <a:spcBef>
                <a:spcPts val="0"/>
              </a:spcBef>
              <a:spcAft>
                <a:spcPts val="0"/>
              </a:spcAft>
              <a:buFontTx/>
              <a:buChar char="•"/>
              <a:defRPr/>
            </a:pPr>
            <a:r>
              <a:rPr lang="en-US" b="1" dirty="0" smtClean="0">
                <a:latin typeface="Arial" charset="0"/>
              </a:rPr>
              <a:t>IT Capital Planning and Investment Control</a:t>
            </a:r>
          </a:p>
          <a:p>
            <a:pPr marL="113327" indent="-113327" eaLnBrk="1" fontAlgn="auto" hangingPunct="1">
              <a:spcBef>
                <a:spcPts val="0"/>
              </a:spcBef>
              <a:spcAft>
                <a:spcPts val="0"/>
              </a:spcAft>
              <a:buFontTx/>
              <a:buChar char="•"/>
              <a:defRPr/>
            </a:pPr>
            <a:r>
              <a:rPr lang="en-US" b="1" dirty="0" smtClean="0">
                <a:latin typeface="Arial" charset="0"/>
              </a:rPr>
              <a:t>Enterprise Architecture</a:t>
            </a:r>
          </a:p>
          <a:p>
            <a:pPr marL="113327" indent="-113327" eaLnBrk="1" fontAlgn="auto" hangingPunct="1">
              <a:spcBef>
                <a:spcPts val="0"/>
              </a:spcBef>
              <a:spcAft>
                <a:spcPts val="0"/>
              </a:spcAft>
              <a:buFontTx/>
              <a:buChar char="•"/>
              <a:defRPr/>
            </a:pPr>
            <a:r>
              <a:rPr lang="en-US" b="1" dirty="0" smtClean="0">
                <a:latin typeface="Arial" charset="0"/>
              </a:rPr>
              <a:t>Program Management of Enterprise IT investments</a:t>
            </a:r>
          </a:p>
          <a:p>
            <a:pPr marL="113327" indent="-113327" eaLnBrk="1" fontAlgn="auto" hangingPunct="1">
              <a:spcBef>
                <a:spcPts val="0"/>
              </a:spcBef>
              <a:spcAft>
                <a:spcPts val="0"/>
              </a:spcAft>
              <a:buFontTx/>
              <a:buChar char="•"/>
              <a:defRPr/>
            </a:pPr>
            <a:r>
              <a:rPr lang="en-US" b="1" dirty="0" smtClean="0">
                <a:latin typeface="Arial" charset="0"/>
              </a:rPr>
              <a:t>IT Workforce Management and Development</a:t>
            </a:r>
          </a:p>
          <a:p>
            <a:pPr marL="113327" indent="-113327" eaLnBrk="1" fontAlgn="auto" hangingPunct="1">
              <a:spcBef>
                <a:spcPts val="0"/>
              </a:spcBef>
              <a:spcAft>
                <a:spcPts val="0"/>
              </a:spcAft>
              <a:buFontTx/>
              <a:buChar char="•"/>
              <a:defRPr/>
            </a:pPr>
            <a:r>
              <a:rPr lang="en-US" b="1" dirty="0" smtClean="0">
                <a:latin typeface="Arial" charset="0"/>
              </a:rPr>
              <a:t>Enterprise IT Services</a:t>
            </a:r>
          </a:p>
          <a:p>
            <a:pPr marL="330669" lvl="1" indent="-105566" eaLnBrk="1" fontAlgn="auto" hangingPunct="1">
              <a:spcBef>
                <a:spcPts val="0"/>
              </a:spcBef>
              <a:spcAft>
                <a:spcPts val="0"/>
              </a:spcAft>
              <a:buFontTx/>
              <a:buChar char="•"/>
              <a:defRPr/>
            </a:pPr>
            <a:r>
              <a:rPr lang="en-US" dirty="0" smtClean="0">
                <a:latin typeface="Arial" charset="0"/>
              </a:rPr>
              <a:t>Electronic Messaging</a:t>
            </a:r>
          </a:p>
          <a:p>
            <a:pPr marL="330669" lvl="1" indent="-105566" eaLnBrk="1" fontAlgn="auto" hangingPunct="1">
              <a:spcBef>
                <a:spcPts val="0"/>
              </a:spcBef>
              <a:spcAft>
                <a:spcPts val="0"/>
              </a:spcAft>
              <a:buFontTx/>
              <a:buChar char="•"/>
              <a:defRPr/>
            </a:pPr>
            <a:r>
              <a:rPr lang="en-US" dirty="0" smtClean="0">
                <a:latin typeface="Arial" charset="0"/>
              </a:rPr>
              <a:t>Network Services</a:t>
            </a:r>
          </a:p>
          <a:p>
            <a:pPr marL="330669" lvl="1" indent="-105566" eaLnBrk="1" fontAlgn="auto" hangingPunct="1">
              <a:spcBef>
                <a:spcPts val="0"/>
              </a:spcBef>
              <a:spcAft>
                <a:spcPts val="0"/>
              </a:spcAft>
              <a:buFontTx/>
              <a:buChar char="•"/>
              <a:defRPr/>
            </a:pPr>
            <a:r>
              <a:rPr lang="en-US" dirty="0" smtClean="0">
                <a:latin typeface="Arial" charset="0"/>
              </a:rPr>
              <a:t>Web Services</a:t>
            </a:r>
          </a:p>
          <a:p>
            <a:pPr marL="330669" lvl="1" indent="-105566" eaLnBrk="1" fontAlgn="auto" hangingPunct="1">
              <a:spcBef>
                <a:spcPts val="0"/>
              </a:spcBef>
              <a:spcAft>
                <a:spcPts val="0"/>
              </a:spcAft>
              <a:buFontTx/>
              <a:buChar char="•"/>
              <a:defRPr/>
            </a:pPr>
            <a:r>
              <a:rPr lang="en-US" dirty="0" smtClean="0">
                <a:latin typeface="Arial" charset="0"/>
              </a:rPr>
              <a:t>Administrative and Financial Systems Support</a:t>
            </a:r>
          </a:p>
          <a:p>
            <a:pPr marL="330669" lvl="1" indent="-105566" eaLnBrk="1" fontAlgn="auto" hangingPunct="1">
              <a:spcBef>
                <a:spcPts val="0"/>
              </a:spcBef>
              <a:spcAft>
                <a:spcPts val="0"/>
              </a:spcAft>
              <a:buFontTx/>
              <a:buChar char="•"/>
              <a:defRPr/>
            </a:pPr>
            <a:r>
              <a:rPr lang="en-US" dirty="0" smtClean="0">
                <a:latin typeface="Arial" charset="0"/>
              </a:rPr>
              <a:t>Helpdesk and Systems Support</a:t>
            </a:r>
          </a:p>
          <a:p>
            <a:pPr eaLnBrk="1" fontAlgn="auto" hangingPunct="1">
              <a:lnSpc>
                <a:spcPct val="80000"/>
              </a:lnSpc>
              <a:spcBef>
                <a:spcPts val="0"/>
              </a:spcBef>
              <a:spcAft>
                <a:spcPts val="0"/>
              </a:spcAft>
              <a:defRPr/>
            </a:pPr>
            <a:endParaRPr lang="en-US" sz="300" b="1" dirty="0" smtClean="0"/>
          </a:p>
          <a:p>
            <a:pPr marL="113327" indent="-113327" eaLnBrk="1" fontAlgn="auto" hangingPunct="1">
              <a:spcBef>
                <a:spcPts val="0"/>
              </a:spcBef>
              <a:spcAft>
                <a:spcPts val="0"/>
              </a:spcAft>
              <a:defRPr/>
            </a:pPr>
            <a:r>
              <a:rPr lang="en-US" sz="800" b="1" dirty="0" smtClean="0">
                <a:latin typeface="Arial" charset="0"/>
              </a:rPr>
              <a:t>Implements Legislation with Policies and Guidance</a:t>
            </a:r>
          </a:p>
          <a:p>
            <a:pPr marL="113327" indent="-113327" eaLnBrk="1" fontAlgn="auto" hangingPunct="1">
              <a:spcBef>
                <a:spcPts val="0"/>
              </a:spcBef>
              <a:spcAft>
                <a:spcPts val="0"/>
              </a:spcAft>
              <a:defRPr/>
            </a:pPr>
            <a:endParaRPr lang="en-US" sz="800" b="1" dirty="0" smtClean="0">
              <a:latin typeface="Arial" charset="0"/>
            </a:endParaRPr>
          </a:p>
          <a:p>
            <a:pPr marL="113327" indent="-113327" eaLnBrk="1" fontAlgn="auto" hangingPunct="1">
              <a:spcBef>
                <a:spcPts val="0"/>
              </a:spcBef>
              <a:spcAft>
                <a:spcPts val="0"/>
              </a:spcAft>
              <a:buFontTx/>
              <a:buChar char="•"/>
              <a:defRPr/>
            </a:pPr>
            <a:r>
              <a:rPr lang="en-US" sz="800" b="1" dirty="0" smtClean="0">
                <a:latin typeface="Arial" charset="0"/>
              </a:rPr>
              <a:t>Clinger-Cohen Act</a:t>
            </a:r>
          </a:p>
          <a:p>
            <a:pPr marL="113327" indent="-113327" eaLnBrk="1" fontAlgn="auto" hangingPunct="1">
              <a:spcBef>
                <a:spcPts val="0"/>
              </a:spcBef>
              <a:spcAft>
                <a:spcPts val="0"/>
              </a:spcAft>
              <a:buFontTx/>
              <a:buChar char="•"/>
              <a:defRPr/>
            </a:pPr>
            <a:r>
              <a:rPr lang="en-US" sz="800" b="1" dirty="0" smtClean="0">
                <a:latin typeface="Arial" charset="0"/>
              </a:rPr>
              <a:t>Government Performance and Results Act</a:t>
            </a:r>
          </a:p>
          <a:p>
            <a:pPr marL="113327" indent="-113327" eaLnBrk="1" fontAlgn="auto" hangingPunct="1">
              <a:spcBef>
                <a:spcPts val="0"/>
              </a:spcBef>
              <a:spcAft>
                <a:spcPts val="0"/>
              </a:spcAft>
              <a:buFontTx/>
              <a:buChar char="•"/>
              <a:defRPr/>
            </a:pPr>
            <a:r>
              <a:rPr lang="en-US" sz="800" b="1" dirty="0" smtClean="0">
                <a:latin typeface="Arial" charset="0"/>
              </a:rPr>
              <a:t>E-Government Act</a:t>
            </a:r>
          </a:p>
          <a:p>
            <a:pPr marL="113327" indent="-113327" eaLnBrk="1" fontAlgn="auto" hangingPunct="1">
              <a:spcBef>
                <a:spcPts val="0"/>
              </a:spcBef>
              <a:spcAft>
                <a:spcPts val="0"/>
              </a:spcAft>
              <a:buFontTx/>
              <a:buChar char="•"/>
              <a:defRPr/>
            </a:pPr>
            <a:r>
              <a:rPr lang="en-US" sz="800" b="1" dirty="0" smtClean="0">
                <a:latin typeface="Arial" charset="0"/>
              </a:rPr>
              <a:t>Federal Information Security and Management Act</a:t>
            </a:r>
          </a:p>
          <a:p>
            <a:pPr marL="113327" indent="-113327" eaLnBrk="1" fontAlgn="auto" hangingPunct="1">
              <a:spcBef>
                <a:spcPts val="0"/>
              </a:spcBef>
              <a:spcAft>
                <a:spcPts val="0"/>
              </a:spcAft>
              <a:buFontTx/>
              <a:buChar char="•"/>
              <a:defRPr/>
            </a:pPr>
            <a:r>
              <a:rPr lang="en-US" sz="800" b="1" dirty="0" smtClean="0">
                <a:latin typeface="Arial" charset="0"/>
              </a:rPr>
              <a:t>Privacy Act</a:t>
            </a:r>
          </a:p>
          <a:p>
            <a:pPr marL="113327" indent="-113327" eaLnBrk="1" fontAlgn="auto" hangingPunct="1">
              <a:spcBef>
                <a:spcPts val="0"/>
              </a:spcBef>
              <a:spcAft>
                <a:spcPts val="0"/>
              </a:spcAft>
              <a:buFontTx/>
              <a:buChar char="•"/>
              <a:defRPr/>
            </a:pPr>
            <a:r>
              <a:rPr lang="en-US" sz="800" b="1" dirty="0" smtClean="0">
                <a:latin typeface="Arial" charset="0"/>
              </a:rPr>
              <a:t>Information Quality Act</a:t>
            </a:r>
          </a:p>
          <a:p>
            <a:pPr marL="113327" indent="-113327" eaLnBrk="1" fontAlgn="auto" hangingPunct="1">
              <a:spcBef>
                <a:spcPts val="0"/>
              </a:spcBef>
              <a:spcAft>
                <a:spcPts val="0"/>
              </a:spcAft>
              <a:buFontTx/>
              <a:buChar char="•"/>
              <a:defRPr/>
            </a:pPr>
            <a:r>
              <a:rPr lang="en-US" sz="800" b="1" dirty="0" smtClean="0">
                <a:latin typeface="Arial" charset="0"/>
              </a:rPr>
              <a:t>Federal Records Act</a:t>
            </a:r>
          </a:p>
          <a:p>
            <a:pPr marL="113327" indent="-113327" eaLnBrk="1" fontAlgn="auto" hangingPunct="1">
              <a:spcBef>
                <a:spcPts val="0"/>
              </a:spcBef>
              <a:spcAft>
                <a:spcPts val="0"/>
              </a:spcAft>
              <a:buFontTx/>
              <a:buChar char="•"/>
              <a:defRPr/>
            </a:pPr>
            <a:r>
              <a:rPr lang="en-US" sz="800" b="1" dirty="0" smtClean="0">
                <a:latin typeface="Arial" charset="0"/>
              </a:rPr>
              <a:t>Rehabilitation Act – Section 508</a:t>
            </a:r>
          </a:p>
          <a:p>
            <a:pPr marL="113327" indent="-113327" eaLnBrk="1" fontAlgn="auto" hangingPunct="1">
              <a:spcBef>
                <a:spcPts val="0"/>
              </a:spcBef>
              <a:spcAft>
                <a:spcPts val="0"/>
              </a:spcAft>
              <a:buFontTx/>
              <a:buChar char="•"/>
              <a:defRPr/>
            </a:pPr>
            <a:r>
              <a:rPr lang="en-US" sz="800" b="1" dirty="0" smtClean="0">
                <a:latin typeface="Arial" charset="0"/>
              </a:rPr>
              <a:t>Telecommunications Act</a:t>
            </a:r>
          </a:p>
          <a:p>
            <a:pPr marL="113327" indent="-113327" eaLnBrk="1" fontAlgn="auto" hangingPunct="1">
              <a:spcBef>
                <a:spcPts val="0"/>
              </a:spcBef>
              <a:spcAft>
                <a:spcPts val="0"/>
              </a:spcAft>
              <a:buFontTx/>
              <a:buChar char="•"/>
              <a:defRPr/>
            </a:pPr>
            <a:r>
              <a:rPr lang="en-US" sz="800" b="1" dirty="0" smtClean="0">
                <a:latin typeface="Arial" charset="0"/>
              </a:rPr>
              <a:t>Paperwork Reduction Act</a:t>
            </a:r>
          </a:p>
          <a:p>
            <a:pPr marL="113327" indent="-113327" eaLnBrk="1" fontAlgn="auto" hangingPunct="1">
              <a:spcBef>
                <a:spcPts val="0"/>
              </a:spcBef>
              <a:spcAft>
                <a:spcPts val="0"/>
              </a:spcAft>
              <a:buFontTx/>
              <a:buChar char="•"/>
              <a:defRPr/>
            </a:pPr>
            <a:r>
              <a:rPr lang="en-US" sz="800" b="1" dirty="0" smtClean="0">
                <a:latin typeface="Arial" charset="0"/>
              </a:rPr>
              <a:t>Government Paperwork Elimination Act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C5417DBC-4B58-428E-9AD9-27D28082B277}" type="slidenum">
              <a:rPr lang="en-US" smtClean="0"/>
              <a:pPr/>
              <a:t>10</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dirty="0"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a:t>
            </a:r>
          </a:p>
          <a:p>
            <a:r>
              <a:rPr lang="en-US" dirty="0" smtClean="0"/>
              <a:t>Assistant Administrators and offices charged with corporate management functions, such as the Chief Financial Officer and the Chief Administrative Officer.</a:t>
            </a:r>
          </a:p>
          <a:p>
            <a:endParaRPr lang="en-US" b="1" dirty="0" smtClean="0"/>
          </a:p>
          <a:p>
            <a:r>
              <a:rPr lang="en-US" b="1" dirty="0" smtClean="0"/>
              <a:t>Office of Program Analysis and Evaluation (PA&amp;E)</a:t>
            </a:r>
            <a:r>
              <a:rPr lang="en-US" dirty="0" smtClean="0"/>
              <a:t> conducts independent and objective</a:t>
            </a:r>
          </a:p>
          <a:p>
            <a:r>
              <a:rPr lang="en-US" dirty="0" smtClean="0"/>
              <a:t>analysis. The Office provides evaluations and assessments of plans, programs, and</a:t>
            </a:r>
          </a:p>
          <a:p>
            <a:r>
              <a:rPr lang="en-US" dirty="0" smtClean="0"/>
              <a:t>requirements. PA&amp;E reviews all significant program initiatives and major requirements, and</a:t>
            </a:r>
          </a:p>
          <a:p>
            <a:r>
              <a:rPr lang="en-US" dirty="0" smtClean="0"/>
              <a:t>provides analytical support to all parts of NOAA. PA&amp;E is responsible for the Programming</a:t>
            </a:r>
          </a:p>
          <a:p>
            <a:r>
              <a:rPr lang="en-US" dirty="0" smtClean="0"/>
              <a:t>phase of PPBES. www.ppbs.noaa.gov</a:t>
            </a:r>
          </a:p>
          <a:p>
            <a:r>
              <a:rPr lang="en-US" b="1" dirty="0" smtClean="0"/>
              <a:t>Major Outputs </a:t>
            </a:r>
            <a:endParaRPr lang="en-US" dirty="0" smtClean="0"/>
          </a:p>
          <a:p>
            <a:r>
              <a:rPr lang="en-US" b="1" dirty="0" smtClean="0"/>
              <a:t>Products:</a:t>
            </a:r>
            <a:endParaRPr lang="en-US" dirty="0" smtClean="0"/>
          </a:p>
          <a:p>
            <a:r>
              <a:rPr lang="en-US" dirty="0" smtClean="0"/>
              <a:t>Program Review:  Current programmatic capacities and capabilities are compared to the NOAA mission requirement.  </a:t>
            </a:r>
          </a:p>
          <a:p>
            <a:r>
              <a:rPr lang="en-US" dirty="0" smtClean="0"/>
              <a:t>The major output of Program Review is Fiscal and Programming Guidance.  </a:t>
            </a:r>
          </a:p>
          <a:p>
            <a:r>
              <a:rPr lang="en-US" dirty="0" smtClean="0"/>
              <a:t>Program Development:  The development of an integrated, fiscally balanced 5 year plan based on inputs from NOAA Goal and Sub-goal teams.  The major output of Program Development is the Program Decision Memorandum. </a:t>
            </a:r>
          </a:p>
          <a:p>
            <a:r>
              <a:rPr lang="en-US" dirty="0" smtClean="0"/>
              <a:t>Specialized analytical studies:  PA&amp;E provides independent analytical support to NOAA Leadership, goal teams, and offices.  Completed analytical products include:</a:t>
            </a:r>
          </a:p>
          <a:p>
            <a:r>
              <a:rPr lang="en-US" dirty="0" smtClean="0"/>
              <a:t>Ship and Aircraft modernization plan development support</a:t>
            </a:r>
          </a:p>
          <a:p>
            <a:r>
              <a:rPr lang="en-US" dirty="0" smtClean="0"/>
              <a:t>Ship fuel cost forecast modeling</a:t>
            </a:r>
          </a:p>
          <a:p>
            <a:r>
              <a:rPr lang="en-US" dirty="0" smtClean="0"/>
              <a:t>Impact of unfunded pay raises on NOAA mission accomplishment</a:t>
            </a:r>
          </a:p>
          <a:p>
            <a:r>
              <a:rPr lang="en-US" dirty="0" smtClean="0"/>
              <a:t>Hurricane forecast improvement analysis</a:t>
            </a:r>
          </a:p>
          <a:p>
            <a:r>
              <a:rPr lang="en-US" dirty="0" smtClean="0"/>
              <a:t>Fleet project allocation modeling</a:t>
            </a:r>
          </a:p>
          <a:p>
            <a:r>
              <a:rPr lang="en-US" dirty="0" smtClean="0"/>
              <a:t>Facilities project optimization model</a:t>
            </a:r>
          </a:p>
          <a:p>
            <a:r>
              <a:rPr lang="en-US" dirty="0" smtClean="0"/>
              <a:t>Fleet maintenance correlation analysis</a:t>
            </a:r>
          </a:p>
          <a:p>
            <a:r>
              <a:rPr lang="en-US" dirty="0" smtClean="0"/>
              <a:t>VERA (Voluntary Early Retirement Authority) cost analysis</a:t>
            </a:r>
          </a:p>
          <a:p>
            <a:r>
              <a:rPr lang="en-US" dirty="0" smtClean="0"/>
              <a:t>Legal support requirements analysis</a:t>
            </a:r>
          </a:p>
          <a:p>
            <a:r>
              <a:rPr lang="en-US" b="1" dirty="0" smtClean="0"/>
              <a:t>Services:</a:t>
            </a:r>
            <a:endParaRPr lang="en-US" dirty="0" smtClean="0"/>
          </a:p>
          <a:p>
            <a:r>
              <a:rPr lang="en-US" dirty="0" smtClean="0"/>
              <a:t>Identify the fiscal implications of NOAA plans, including the NOAA Strategic Plan.  Propose solutions to meet the goals stated in the NOAA Strategic Plan and other documents within limited resources.</a:t>
            </a:r>
          </a:p>
          <a:p>
            <a:r>
              <a:rPr lang="en-US" dirty="0" smtClean="0"/>
              <a:t>Indentify trade-offs between NOAA goals, find alternative solutions, recommend effective solutions to NOAA Leadership.</a:t>
            </a:r>
          </a:p>
          <a:p>
            <a:r>
              <a:rPr lang="en-US" dirty="0" smtClean="0"/>
              <a:t>Develop the fiscal plan that makes the greatest progress towards NOAA goals described in the Strategic Plan.</a:t>
            </a:r>
          </a:p>
          <a:p>
            <a:r>
              <a:rPr lang="en-US" dirty="0" smtClean="0"/>
              <a:t>Specialized analytical studies </a:t>
            </a:r>
            <a:endParaRPr lang="en-US" sz="1000" dirty="0" smtClean="0"/>
          </a:p>
          <a:p>
            <a:endParaRPr lang="en-US" sz="1000"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C5417DBC-4B58-428E-9AD9-27D28082B277}" type="slidenum">
              <a:rPr lang="en-US" smtClean="0"/>
              <a:pPr/>
              <a:t>11</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dirty="0"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a:t>
            </a:r>
          </a:p>
          <a:p>
            <a:r>
              <a:rPr lang="en-US" dirty="0" smtClean="0"/>
              <a:t>Assistant Administrators and offices charged with corporate management functions, such as the Chief Financial Officer and the Chief Administrative Officer.</a:t>
            </a:r>
          </a:p>
          <a:p>
            <a:endParaRPr lang="en-US" dirty="0" smtClean="0"/>
          </a:p>
          <a:p>
            <a:r>
              <a:rPr lang="en-US" b="1" dirty="0" smtClean="0"/>
              <a:t>The Office of the Chief Administrative Officer (CAO)</a:t>
            </a:r>
            <a:r>
              <a:rPr lang="en-US" dirty="0" smtClean="0"/>
              <a:t> provides comprehensive, NOAA-wide services and technical and programmatic guidance, as well as staff support to the Office of the Under Secretary, in the areas of facilities management (i.e. real and personal property, project planning and management); Freedom of Information Act (FOIA); commercial services management; OIG/GAO liaison; safety and environmental compliance; administrative issuances; records management; and other administrative support services. The office also administers the NOAA-wide Civil Rights and Equal Employment Opportunity programs.   The CAO also serves as the Leadership and Corporate Services Sub-Goal lead under NOAA’s planning, programming, budget, and execution system (PPBES).  The areas under the direction of the CAO are;</a:t>
            </a:r>
          </a:p>
          <a:p>
            <a:pPr lvl="0"/>
            <a:r>
              <a:rPr lang="en-US" dirty="0" smtClean="0"/>
              <a:t>Real Property Facilities and Logistics Office</a:t>
            </a:r>
          </a:p>
          <a:p>
            <a:pPr lvl="0"/>
            <a:r>
              <a:rPr lang="en-US" dirty="0" smtClean="0"/>
              <a:t>Audits and Information Management Office</a:t>
            </a:r>
          </a:p>
          <a:p>
            <a:pPr lvl="0"/>
            <a:r>
              <a:rPr lang="en-US" dirty="0" smtClean="0"/>
              <a:t>Office of Civil Rights </a:t>
            </a:r>
          </a:p>
          <a:p>
            <a:pPr lvl="0"/>
            <a:r>
              <a:rPr lang="en-US" dirty="0" smtClean="0"/>
              <a:t>Safety and Environmental Compliance Office</a:t>
            </a:r>
          </a:p>
          <a:p>
            <a:pPr lvl="0"/>
            <a:r>
              <a:rPr lang="en-US" dirty="0" smtClean="0"/>
              <a:t>Deemed Export Program</a:t>
            </a:r>
          </a:p>
          <a:p>
            <a:r>
              <a:rPr lang="en-US" b="1" dirty="0" smtClean="0"/>
              <a:t> </a:t>
            </a:r>
            <a:endParaRPr lang="en-US" dirty="0" smtClean="0"/>
          </a:p>
          <a:p>
            <a:r>
              <a:rPr lang="en-US" b="1" dirty="0" smtClean="0"/>
              <a:t>Products:</a:t>
            </a:r>
            <a:endParaRPr lang="en-US" dirty="0" smtClean="0"/>
          </a:p>
          <a:p>
            <a:r>
              <a:rPr lang="en-US" dirty="0" smtClean="0"/>
              <a:t>Long-Range Facility Modernization and Capital Investment Plans</a:t>
            </a:r>
          </a:p>
          <a:p>
            <a:r>
              <a:rPr lang="en-US" dirty="0" smtClean="0"/>
              <a:t>Homeport Investment Plan</a:t>
            </a:r>
          </a:p>
          <a:p>
            <a:r>
              <a:rPr lang="en-US" dirty="0" smtClean="0"/>
              <a:t>Reports to Line Offices annually on the condition of NOAA facilities subsequent to the annual Integrated Facilities Inspection Program (IFIP) survey</a:t>
            </a:r>
          </a:p>
          <a:p>
            <a:r>
              <a:rPr lang="en-US" dirty="0" smtClean="0"/>
              <a:t>Economic (Net Present Value) analyses on facility capital investments </a:t>
            </a:r>
          </a:p>
          <a:p>
            <a:r>
              <a:rPr lang="en-US" dirty="0" smtClean="0"/>
              <a:t>Standard policies and processes for real property, including construction work in progress, project planning, project management, and progress/performance metrics </a:t>
            </a:r>
          </a:p>
          <a:p>
            <a:r>
              <a:rPr lang="en-US" dirty="0" smtClean="0"/>
              <a:t>Quarterly reports for all major (prospectus level) construction projects</a:t>
            </a:r>
          </a:p>
          <a:p>
            <a:r>
              <a:rPr lang="en-US" dirty="0" smtClean="0"/>
              <a:t>Standard policies and processes for personal property</a:t>
            </a:r>
          </a:p>
          <a:p>
            <a:r>
              <a:rPr lang="en-US" dirty="0" smtClean="0"/>
              <a:t>Standard NOAA-wide policies and processes for deemed export and foreign national access controls </a:t>
            </a:r>
          </a:p>
          <a:p>
            <a:r>
              <a:rPr lang="en-US" dirty="0" smtClean="0"/>
              <a:t>Monthly Report on Current OIG/GAO Reviews</a:t>
            </a:r>
          </a:p>
          <a:p>
            <a:r>
              <a:rPr lang="en-US" dirty="0" smtClean="0"/>
              <a:t>Monthly Report on Open OIG/GAO Recommendations</a:t>
            </a:r>
          </a:p>
          <a:p>
            <a:r>
              <a:rPr lang="en-US" dirty="0" smtClean="0"/>
              <a:t>Monthly Referrals and Investigations Report</a:t>
            </a:r>
          </a:p>
          <a:p>
            <a:r>
              <a:rPr lang="en-US" dirty="0" smtClean="0"/>
              <a:t>NOAA’s Annual FAIR Act Inventory</a:t>
            </a:r>
          </a:p>
          <a:p>
            <a:r>
              <a:rPr lang="en-US" dirty="0" smtClean="0"/>
              <a:t>Commercial Services (OMB Cir. A-76) Feasibility Study Reports</a:t>
            </a:r>
          </a:p>
          <a:p>
            <a:r>
              <a:rPr lang="en-US" dirty="0" smtClean="0"/>
              <a:t>Monthly FOIA reports</a:t>
            </a:r>
          </a:p>
          <a:p>
            <a:r>
              <a:rPr lang="en-US" dirty="0" smtClean="0"/>
              <a:t>NOAA-wide Affirmative Employment and Under-Representation policies, data and reports</a:t>
            </a:r>
          </a:p>
          <a:p>
            <a:r>
              <a:rPr lang="en-US" dirty="0" smtClean="0"/>
              <a:t>Annual NOAA Safety Program goals and training programs</a:t>
            </a:r>
          </a:p>
          <a:p>
            <a:r>
              <a:rPr lang="en-US" dirty="0" smtClean="0"/>
              <a:t>NOAA-wide policies and working procedures promoting safety and environmental </a:t>
            </a:r>
          </a:p>
          <a:p>
            <a:r>
              <a:rPr lang="en-US" dirty="0" smtClean="0"/>
              <a:t>Compliance</a:t>
            </a:r>
          </a:p>
          <a:p>
            <a:r>
              <a:rPr lang="en-US" dirty="0" smtClean="0"/>
              <a:t>NOAA policies and processes for administrative issuances and records management </a:t>
            </a:r>
          </a:p>
          <a:p>
            <a:r>
              <a:rPr lang="en-US" dirty="0" smtClean="0"/>
              <a:t> </a:t>
            </a:r>
          </a:p>
          <a:p>
            <a:r>
              <a:rPr lang="en-US" b="1" dirty="0" smtClean="0"/>
              <a:t>Services:</a:t>
            </a:r>
            <a:endParaRPr lang="en-US" dirty="0" smtClean="0"/>
          </a:p>
          <a:p>
            <a:r>
              <a:rPr lang="en-US" dirty="0" smtClean="0"/>
              <a:t>Program execution and oversight of Homeland Security Presidential Directive 12 (HSPD-12)—Physical access controls</a:t>
            </a:r>
          </a:p>
          <a:p>
            <a:r>
              <a:rPr lang="en-US" dirty="0" smtClean="0"/>
              <a:t>Security Guard Contract Services for National Capital Region, Boulder, and Seattle</a:t>
            </a:r>
          </a:p>
          <a:p>
            <a:r>
              <a:rPr lang="en-US" dirty="0" smtClean="0"/>
              <a:t>Transportation Subsidy</a:t>
            </a:r>
          </a:p>
          <a:p>
            <a:pPr lvl="0"/>
            <a:r>
              <a:rPr lang="en-US" dirty="0" smtClean="0"/>
              <a:t>Logistics Support: Warehousing, Property Disposal, Fleet, Vehicle and Building Management  </a:t>
            </a:r>
          </a:p>
          <a:p>
            <a:pPr lvl="0"/>
            <a:r>
              <a:rPr lang="en-US" dirty="0" smtClean="0"/>
              <a:t>Manages NOAA's national real property acquisition and asset management programs, including responsibilities for policy development and guidance, program execution, performance management, audit resolution, and customer relations</a:t>
            </a:r>
          </a:p>
          <a:p>
            <a:pPr lvl="0"/>
            <a:r>
              <a:rPr lang="en-US" dirty="0" smtClean="0"/>
              <a:t>Manages NOAA’s annual facility condition assessment nationwide</a:t>
            </a:r>
          </a:p>
          <a:p>
            <a:pPr lvl="0"/>
            <a:r>
              <a:rPr lang="en-US" dirty="0" smtClean="0"/>
              <a:t>Negotiates leases (capital and operating), licenses and other real property agreements; conducts appraisals and other required surveys and analyses</a:t>
            </a:r>
          </a:p>
          <a:p>
            <a:pPr lvl="0"/>
            <a:r>
              <a:rPr lang="en-US" dirty="0" smtClean="0"/>
              <a:t>Conducts National Environmental Policy Act (NEPA) studies and determinations for real property acquisitions and disposals Ensures compliance with financial auditing requirements for real property, processes and distributes rental payments, and manages the real property database</a:t>
            </a:r>
          </a:p>
          <a:p>
            <a:pPr lvl="0"/>
            <a:r>
              <a:rPr lang="en-US" dirty="0" smtClean="0"/>
              <a:t>Manages the total project life-cycle for major (prospectus level) construction projects, and repair restoration projects; including business case analyses, planning, scoping, design, construction, and commissioning of new facilities</a:t>
            </a:r>
          </a:p>
          <a:p>
            <a:pPr lvl="0"/>
            <a:r>
              <a:rPr lang="en-US" dirty="0" smtClean="0"/>
              <a:t>Coordinates the development of acquisition support vehicles for construction projects, and provides executive level oversight</a:t>
            </a:r>
          </a:p>
          <a:p>
            <a:pPr lvl="0"/>
            <a:r>
              <a:rPr lang="en-US" dirty="0" smtClean="0"/>
              <a:t>Manages NOAA programs for personal property and logistics services</a:t>
            </a:r>
          </a:p>
          <a:p>
            <a:pPr lvl="0"/>
            <a:r>
              <a:rPr lang="en-US" dirty="0" smtClean="0"/>
              <a:t>Coordinates OIG/GAO audit and reviews of NOAA programs and issues, and ensures timely resolution of audit findings and recommendations</a:t>
            </a:r>
          </a:p>
          <a:p>
            <a:pPr lvl="0"/>
            <a:r>
              <a:rPr lang="en-US" dirty="0" smtClean="0"/>
              <a:t>Administers NOAA’s Freedom of Information Act (FOIA) Program</a:t>
            </a:r>
          </a:p>
          <a:p>
            <a:pPr lvl="0"/>
            <a:r>
              <a:rPr lang="en-US" dirty="0" smtClean="0"/>
              <a:t>Oversees NOAA’s commercial services management program</a:t>
            </a:r>
          </a:p>
          <a:p>
            <a:pPr lvl="0"/>
            <a:r>
              <a:rPr lang="en-US" dirty="0" smtClean="0"/>
              <a:t>Provides informal counseling in response to EEO complaints of discrimination</a:t>
            </a:r>
          </a:p>
          <a:p>
            <a:r>
              <a:rPr lang="en-US" dirty="0" smtClean="0"/>
              <a:t>Provides advice to all principal Line and Staff Office officials and managers concerning all aspects of NOAA's EEO/Civil Rights/Affirmative Employment Programs</a:t>
            </a:r>
          </a:p>
          <a:p>
            <a:r>
              <a:rPr lang="en-US" dirty="0" smtClean="0"/>
              <a:t>Manages NOAA-wide occupational health and safety, and environmental compliance programs</a:t>
            </a:r>
          </a:p>
          <a:p>
            <a:r>
              <a:rPr lang="en-US" dirty="0" smtClean="0"/>
              <a:t>Conducts safety investigations for all Level A (fatality, serious injury or significant financial damage) incidents</a:t>
            </a:r>
          </a:p>
          <a:p>
            <a:r>
              <a:rPr lang="en-US" dirty="0" smtClean="0"/>
              <a:t>Manages NOAA’s deemed export program which exists to prevent the diversion of sensitive dual use technologies to countries of concern</a:t>
            </a:r>
          </a:p>
          <a:p>
            <a:r>
              <a:rPr lang="en-US" dirty="0" smtClean="0"/>
              <a:t>Program oversight for Continuity of Operations Plans (COOP), Occupant Emergency Plans (OEP), and Shelter in Place (SIP) for NOAA facilities</a:t>
            </a:r>
          </a:p>
          <a:p>
            <a:r>
              <a:rPr lang="en-US" dirty="0" smtClean="0"/>
              <a:t>Support for NOAA-compliance with Federal Advisory Committee Act (FACA)</a:t>
            </a:r>
          </a:p>
          <a:p>
            <a:r>
              <a:rPr lang="en-US" dirty="0" smtClean="0"/>
              <a:t>Support for promulgation of NOAA administrative issuance (Order and Circulars)</a:t>
            </a:r>
            <a:endParaRPr lang="en-US" sz="1000"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C5417DBC-4B58-428E-9AD9-27D28082B277}" type="slidenum">
              <a:rPr lang="en-US" smtClean="0"/>
              <a:pPr/>
              <a:t>12</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xfrm>
            <a:off x="450850" y="4404360"/>
            <a:ext cx="6248400" cy="4171634"/>
          </a:xfrm>
          <a:noFill/>
          <a:ln/>
        </p:spPr>
        <p:txBody>
          <a:bodyPr/>
          <a:lstStyle/>
          <a:p>
            <a:r>
              <a:rPr lang="en-US" sz="800" dirty="0"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a:t>
            </a:r>
          </a:p>
          <a:p>
            <a:r>
              <a:rPr lang="en-US" sz="800" dirty="0" smtClean="0"/>
              <a:t>Assistant Administrators and offices charged with corporate management functions, such as the Chief Financial Officer and the Chief Administrative Officer.</a:t>
            </a:r>
          </a:p>
          <a:p>
            <a:r>
              <a:rPr lang="en-US" sz="800" dirty="0" smtClean="0"/>
              <a:t> </a:t>
            </a:r>
          </a:p>
          <a:p>
            <a:r>
              <a:rPr lang="en-US" sz="800" b="1" dirty="0" smtClean="0"/>
              <a:t>The Chief Financial Officer (CFO) is the principal financial manager for NOAA as directed by the CFO Act of 1990.</a:t>
            </a:r>
            <a:r>
              <a:rPr lang="en-US" sz="800" dirty="0" smtClean="0"/>
              <a:t> The CFO oversees the Budget and Finance Offices.  </a:t>
            </a:r>
          </a:p>
          <a:p>
            <a:r>
              <a:rPr lang="en-US" sz="800" dirty="0" smtClean="0"/>
              <a:t> </a:t>
            </a:r>
            <a:r>
              <a:rPr lang="en-US" sz="800" b="1" cap="small" dirty="0" smtClean="0"/>
              <a:t>NOAA’s Budget Office:</a:t>
            </a:r>
            <a:r>
              <a:rPr lang="en-US" sz="800" cap="small" dirty="0" smtClean="0"/>
              <a:t> </a:t>
            </a:r>
            <a:endParaRPr lang="en-US" sz="800" dirty="0" smtClean="0"/>
          </a:p>
          <a:p>
            <a:r>
              <a:rPr lang="en-US" sz="800" b="1" dirty="0" smtClean="0"/>
              <a:t>Major Outputs:</a:t>
            </a:r>
            <a:endParaRPr lang="en-US" sz="800" dirty="0" smtClean="0"/>
          </a:p>
          <a:p>
            <a:pPr lvl="0"/>
            <a:r>
              <a:rPr lang="en-US" sz="800" dirty="0" smtClean="0"/>
              <a:t>Annual Budget Decision Memorandum- Communicates final fiscal year budget decisions to NOAA leadership.</a:t>
            </a:r>
          </a:p>
          <a:p>
            <a:pPr lvl="0"/>
            <a:r>
              <a:rPr lang="en-US" sz="800" dirty="0" smtClean="0"/>
              <a:t>NOAA Budget- Develops an annual budget submission for DOC, OMB, and Congress. Prepares analysis of DOC and OMB </a:t>
            </a:r>
            <a:r>
              <a:rPr lang="en-US" sz="800" dirty="0" err="1" smtClean="0"/>
              <a:t>passbacks</a:t>
            </a:r>
            <a:r>
              <a:rPr lang="en-US" sz="800" dirty="0" smtClean="0"/>
              <a:t> and develops control tables. </a:t>
            </a:r>
          </a:p>
          <a:p>
            <a:pPr lvl="0"/>
            <a:r>
              <a:rPr lang="en-US" sz="800" dirty="0" smtClean="0"/>
              <a:t>Annual Performance Plan- Develops and submits a plan with each budget to </a:t>
            </a:r>
            <a:r>
              <a:rPr lang="en-US" sz="800" dirty="0" err="1" smtClean="0"/>
              <a:t>operationalize</a:t>
            </a:r>
            <a:r>
              <a:rPr lang="en-US" sz="800" dirty="0" smtClean="0"/>
              <a:t> NOAA’s Strategic Plan.</a:t>
            </a:r>
          </a:p>
          <a:p>
            <a:pPr lvl="0"/>
            <a:r>
              <a:rPr lang="en-US" sz="800" dirty="0" smtClean="0"/>
              <a:t>Congressional Rollout Products – Creates the budget blue book, one-pagers, and presentations that summarizes NOAA’s overall budget request and highlights NOAA’s requested changes. </a:t>
            </a:r>
          </a:p>
          <a:p>
            <a:pPr lvl="0"/>
            <a:r>
              <a:rPr lang="en-US" sz="800" dirty="0" smtClean="0"/>
              <a:t>Apportionment and Reapportionment Schedule- Summarizes each Line Office’s budgetary resources and applications and submits to DOC and OMB.</a:t>
            </a:r>
          </a:p>
          <a:p>
            <a:pPr lvl="0"/>
            <a:r>
              <a:rPr lang="en-US" sz="800" dirty="0" smtClean="0"/>
              <a:t>Monthly Variance Reports- Tracks Line Office planned versus obligated spending.</a:t>
            </a:r>
          </a:p>
          <a:p>
            <a:pPr lvl="0"/>
            <a:r>
              <a:rPr lang="en-US" sz="800" dirty="0" smtClean="0"/>
              <a:t>Appropriations Staff Liaison- Coordinates NOAA interactions with DOC, OMB, and House and Senate Appropriations staff; responds to questions resulting from Congressional hearings; analyzes Senate and House marks. </a:t>
            </a:r>
          </a:p>
          <a:p>
            <a:pPr lvl="0"/>
            <a:r>
              <a:rPr lang="en-US" sz="800" dirty="0" smtClean="0"/>
              <a:t>Performance Assessment-</a:t>
            </a:r>
            <a:r>
              <a:rPr lang="en-US" sz="800" b="1" dirty="0" smtClean="0"/>
              <a:t> </a:t>
            </a:r>
            <a:r>
              <a:rPr lang="en-US" sz="800" dirty="0" smtClean="0"/>
              <a:t>Coordinates reporting for Government Performance and Results Act (GPRA), President’s Management Agenda (PMA), Program Assessment Rating Tool (PART), and DOC Secretarial Priorities.</a:t>
            </a:r>
          </a:p>
          <a:p>
            <a:r>
              <a:rPr lang="en-US" sz="800" i="1" dirty="0" smtClean="0"/>
              <a:t> </a:t>
            </a:r>
            <a:endParaRPr lang="en-US" sz="800" dirty="0" smtClean="0"/>
          </a:p>
          <a:p>
            <a:r>
              <a:rPr lang="en-US" sz="800" b="1" cap="small" dirty="0" smtClean="0"/>
              <a:t>NOAA’s Finance Office:</a:t>
            </a:r>
            <a:endParaRPr lang="en-US" sz="800" dirty="0" smtClean="0"/>
          </a:p>
          <a:p>
            <a:r>
              <a:rPr lang="en-US" sz="800" b="1" dirty="0" smtClean="0"/>
              <a:t>Major Outputs:</a:t>
            </a:r>
            <a:endParaRPr lang="en-US" sz="800" dirty="0" smtClean="0"/>
          </a:p>
          <a:p>
            <a:pPr lvl="0"/>
            <a:r>
              <a:rPr lang="en-US" sz="800" dirty="0" smtClean="0"/>
              <a:t>Financial Reporting – Prepares internal and external reports and audits on NOAA’s financial resources, assets, liabilities, costs, obligations, and income, including the annual NOAA financial statements.</a:t>
            </a:r>
          </a:p>
          <a:p>
            <a:pPr lvl="0"/>
            <a:r>
              <a:rPr lang="en-US" sz="800" dirty="0" smtClean="0"/>
              <a:t>Financial Systems- Oversees the DOC financial accounting and purchase card systems for NOAA, including Commerce Business System (CBS) and Commerce Purchase Card System (CPCS).</a:t>
            </a:r>
          </a:p>
          <a:p>
            <a:pPr lvl="0"/>
            <a:r>
              <a:rPr lang="en-US" sz="800" dirty="0" smtClean="0"/>
              <a:t>Travel Policies and Systems- Manages the policies, operations, and systems for travel manager, travel cards, and relocation. </a:t>
            </a:r>
          </a:p>
          <a:p>
            <a:pPr lvl="0"/>
            <a:r>
              <a:rPr lang="en-US" sz="800" dirty="0" smtClean="0"/>
              <a:t>NOAA Data Warehouse- Maintains the financial management data warehouse, including querying and reporting capabilities.</a:t>
            </a:r>
          </a:p>
          <a:p>
            <a:r>
              <a:rPr lang="en-US" sz="800" dirty="0" smtClean="0"/>
              <a:t> </a:t>
            </a:r>
          </a:p>
          <a:p>
            <a:r>
              <a:rPr lang="en-US" sz="800" dirty="0" smtClean="0"/>
              <a:t> </a:t>
            </a:r>
          </a:p>
          <a:p>
            <a:r>
              <a:rPr lang="en-US" sz="800" dirty="0" smtClean="0"/>
              <a:t> </a:t>
            </a:r>
          </a:p>
          <a:p>
            <a:r>
              <a:rPr lang="en-US" sz="800" b="1" dirty="0" smtClean="0">
                <a:latin typeface="Arial" charset="0"/>
              </a:rPr>
              <a:t>Chief Information Officer and Director, High Performance Computing and </a:t>
            </a:r>
          </a:p>
          <a:p>
            <a:r>
              <a:rPr lang="en-US" sz="800" b="1" dirty="0" smtClean="0">
                <a:latin typeface="Arial" charset="0"/>
              </a:rPr>
              <a:t>Communications </a:t>
            </a:r>
            <a:r>
              <a:rPr lang="en-US" sz="800" dirty="0" smtClean="0">
                <a:latin typeface="Arial" charset="0"/>
              </a:rPr>
              <a:t>is responsible for implementing the Clinger-Cohen Act, Federal Information Security Management Act, and other statutory requirements regarding the acquisition, and use of NOAA’s information technology resources.</a:t>
            </a:r>
          </a:p>
          <a:p>
            <a:pPr>
              <a:lnSpc>
                <a:spcPct val="80000"/>
              </a:lnSpc>
            </a:pPr>
            <a:endParaRPr lang="en-US" sz="800" b="1" dirty="0" smtClean="0"/>
          </a:p>
          <a:p>
            <a:pPr marL="115488" indent="-115488"/>
            <a:r>
              <a:rPr lang="en-US" sz="800" b="1" dirty="0" smtClean="0">
                <a:latin typeface="Arial" charset="0"/>
              </a:rPr>
              <a:t>Services</a:t>
            </a:r>
          </a:p>
          <a:p>
            <a:pPr marL="115488" indent="-115488"/>
            <a:endParaRPr lang="en-US" sz="800" b="1" dirty="0" smtClean="0">
              <a:latin typeface="Arial" charset="0"/>
            </a:endParaRPr>
          </a:p>
          <a:p>
            <a:pPr marL="115488" indent="-115488">
              <a:buFontTx/>
              <a:buChar char="•"/>
            </a:pPr>
            <a:r>
              <a:rPr lang="en-US" sz="800" b="1" dirty="0" smtClean="0">
                <a:latin typeface="Arial" charset="0"/>
              </a:rPr>
              <a:t>High Performance Computing and Communications</a:t>
            </a:r>
          </a:p>
          <a:p>
            <a:pPr marL="115488" indent="-115488">
              <a:buFontTx/>
              <a:buChar char="•"/>
            </a:pPr>
            <a:r>
              <a:rPr lang="en-US" sz="800" b="1" dirty="0" smtClean="0">
                <a:latin typeface="Arial" charset="0"/>
              </a:rPr>
              <a:t>Homeland Security Program</a:t>
            </a:r>
          </a:p>
          <a:p>
            <a:pPr marL="115488" indent="-115488">
              <a:buFontTx/>
              <a:buChar char="•"/>
            </a:pPr>
            <a:r>
              <a:rPr lang="en-US" sz="800" b="1" dirty="0" smtClean="0">
                <a:latin typeface="Arial" charset="0"/>
              </a:rPr>
              <a:t>IT Security Program</a:t>
            </a:r>
          </a:p>
          <a:p>
            <a:pPr marL="115488" indent="-115488">
              <a:buFontTx/>
              <a:buChar char="•"/>
            </a:pPr>
            <a:r>
              <a:rPr lang="en-US" sz="800" b="1" dirty="0" smtClean="0">
                <a:latin typeface="Arial" charset="0"/>
              </a:rPr>
              <a:t>IT Capital Planning and Investment Control</a:t>
            </a:r>
          </a:p>
          <a:p>
            <a:pPr marL="115488" indent="-115488">
              <a:buFontTx/>
              <a:buChar char="•"/>
            </a:pPr>
            <a:r>
              <a:rPr lang="en-US" sz="800" b="1" dirty="0" smtClean="0">
                <a:latin typeface="Arial" charset="0"/>
              </a:rPr>
              <a:t>Enterprise Architecture</a:t>
            </a:r>
          </a:p>
          <a:p>
            <a:pPr marL="115488" indent="-115488">
              <a:buFontTx/>
              <a:buChar char="•"/>
            </a:pPr>
            <a:r>
              <a:rPr lang="en-US" sz="800" b="1" dirty="0" smtClean="0">
                <a:latin typeface="Arial" charset="0"/>
              </a:rPr>
              <a:t>Program Management of Enterprise IT investments</a:t>
            </a:r>
          </a:p>
          <a:p>
            <a:pPr marL="115488" indent="-115488">
              <a:buFontTx/>
              <a:buChar char="•"/>
            </a:pPr>
            <a:r>
              <a:rPr lang="en-US" sz="800" b="1" dirty="0" smtClean="0">
                <a:latin typeface="Arial" charset="0"/>
              </a:rPr>
              <a:t>IT Workforce Management and Development</a:t>
            </a:r>
          </a:p>
          <a:p>
            <a:pPr marL="115488" indent="-115488">
              <a:buFontTx/>
              <a:buChar char="•"/>
            </a:pPr>
            <a:r>
              <a:rPr lang="en-US" sz="800" b="1" dirty="0" smtClean="0">
                <a:latin typeface="Arial" charset="0"/>
              </a:rPr>
              <a:t>Enterprise IT Services</a:t>
            </a:r>
          </a:p>
          <a:p>
            <a:pPr marL="336971" lvl="1" indent="-107576">
              <a:buFontTx/>
              <a:buChar char="•"/>
            </a:pPr>
            <a:r>
              <a:rPr lang="en-US" sz="800" dirty="0" smtClean="0">
                <a:latin typeface="Arial" charset="0"/>
              </a:rPr>
              <a:t>Electronic Messaging</a:t>
            </a:r>
          </a:p>
          <a:p>
            <a:pPr marL="336971" lvl="1" indent="-107576">
              <a:buFontTx/>
              <a:buChar char="•"/>
            </a:pPr>
            <a:r>
              <a:rPr lang="en-US" sz="800" dirty="0" smtClean="0">
                <a:latin typeface="Arial" charset="0"/>
              </a:rPr>
              <a:t>Network Services</a:t>
            </a:r>
          </a:p>
          <a:p>
            <a:pPr marL="336971" lvl="1" indent="-107576">
              <a:buFontTx/>
              <a:buChar char="•"/>
            </a:pPr>
            <a:r>
              <a:rPr lang="en-US" sz="800" dirty="0" smtClean="0">
                <a:latin typeface="Arial" charset="0"/>
              </a:rPr>
              <a:t>Web Services</a:t>
            </a:r>
          </a:p>
          <a:p>
            <a:pPr marL="336971" lvl="1" indent="-107576">
              <a:buFontTx/>
              <a:buChar char="•"/>
            </a:pPr>
            <a:r>
              <a:rPr lang="en-US" sz="800" dirty="0" smtClean="0">
                <a:latin typeface="Arial" charset="0"/>
              </a:rPr>
              <a:t>Administrative and Financial Systems Support</a:t>
            </a:r>
          </a:p>
          <a:p>
            <a:pPr marL="336971" lvl="1" indent="-107576">
              <a:buFontTx/>
              <a:buChar char="•"/>
            </a:pPr>
            <a:r>
              <a:rPr lang="en-US" sz="800" dirty="0" smtClean="0">
                <a:latin typeface="Arial" charset="0"/>
              </a:rPr>
              <a:t>Helpdesk and Systems Support</a:t>
            </a:r>
          </a:p>
          <a:p>
            <a:pPr>
              <a:lnSpc>
                <a:spcPct val="80000"/>
              </a:lnSpc>
            </a:pPr>
            <a:endParaRPr lang="en-US" sz="800" b="1" dirty="0" smtClean="0"/>
          </a:p>
          <a:p>
            <a:pPr marL="115488" indent="-115488"/>
            <a:r>
              <a:rPr lang="en-US" sz="800" b="1" dirty="0" smtClean="0">
                <a:latin typeface="Arial" charset="0"/>
              </a:rPr>
              <a:t>Implements Legislation with Policies and Guidance</a:t>
            </a:r>
          </a:p>
          <a:p>
            <a:pPr marL="115488" indent="-115488"/>
            <a:endParaRPr lang="en-US" sz="800" b="1" dirty="0" smtClean="0">
              <a:latin typeface="Arial" charset="0"/>
            </a:endParaRPr>
          </a:p>
          <a:p>
            <a:pPr marL="115488" indent="-115488">
              <a:buFontTx/>
              <a:buChar char="•"/>
            </a:pPr>
            <a:r>
              <a:rPr lang="en-US" sz="800" b="1" dirty="0" smtClean="0">
                <a:latin typeface="Arial" charset="0"/>
              </a:rPr>
              <a:t>Clinger-Cohen Act</a:t>
            </a:r>
          </a:p>
          <a:p>
            <a:pPr marL="115488" indent="-115488">
              <a:buFontTx/>
              <a:buChar char="•"/>
            </a:pPr>
            <a:r>
              <a:rPr lang="en-US" sz="800" b="1" dirty="0" smtClean="0">
                <a:latin typeface="Arial" charset="0"/>
              </a:rPr>
              <a:t>Government Performance and Results Act</a:t>
            </a:r>
          </a:p>
          <a:p>
            <a:pPr marL="115488" indent="-115488">
              <a:buFontTx/>
              <a:buChar char="•"/>
            </a:pPr>
            <a:r>
              <a:rPr lang="en-US" sz="800" b="1" dirty="0" smtClean="0">
                <a:latin typeface="Arial" charset="0"/>
              </a:rPr>
              <a:t>E-Government Act</a:t>
            </a:r>
          </a:p>
          <a:p>
            <a:pPr marL="115488" indent="-115488">
              <a:buFontTx/>
              <a:buChar char="•"/>
            </a:pPr>
            <a:r>
              <a:rPr lang="en-US" sz="800" b="1" dirty="0" smtClean="0">
                <a:latin typeface="Arial" charset="0"/>
              </a:rPr>
              <a:t>Federal Information Security and Management Act</a:t>
            </a:r>
          </a:p>
          <a:p>
            <a:pPr marL="115488" indent="-115488">
              <a:buFontTx/>
              <a:buChar char="•"/>
            </a:pPr>
            <a:r>
              <a:rPr lang="en-US" sz="800" b="1" dirty="0" smtClean="0">
                <a:latin typeface="Arial" charset="0"/>
              </a:rPr>
              <a:t>Privacy Act</a:t>
            </a:r>
          </a:p>
          <a:p>
            <a:pPr marL="115488" indent="-115488">
              <a:buFontTx/>
              <a:buChar char="•"/>
            </a:pPr>
            <a:r>
              <a:rPr lang="en-US" sz="800" b="1" dirty="0" smtClean="0">
                <a:latin typeface="Arial" charset="0"/>
              </a:rPr>
              <a:t>Information Quality Act</a:t>
            </a:r>
          </a:p>
          <a:p>
            <a:pPr marL="115488" indent="-115488">
              <a:buFontTx/>
              <a:buChar char="•"/>
            </a:pPr>
            <a:r>
              <a:rPr lang="en-US" sz="800" b="1" dirty="0" smtClean="0">
                <a:latin typeface="Arial" charset="0"/>
              </a:rPr>
              <a:t>Federal Records Act</a:t>
            </a:r>
          </a:p>
          <a:p>
            <a:pPr marL="115488" indent="-115488">
              <a:buFontTx/>
              <a:buChar char="•"/>
            </a:pPr>
            <a:r>
              <a:rPr lang="en-US" sz="800" b="1" dirty="0" smtClean="0">
                <a:latin typeface="Arial" charset="0"/>
              </a:rPr>
              <a:t>Rehabilitation Act – Section 508</a:t>
            </a:r>
          </a:p>
          <a:p>
            <a:pPr marL="115488" indent="-115488">
              <a:buFontTx/>
              <a:buChar char="•"/>
            </a:pPr>
            <a:r>
              <a:rPr lang="en-US" sz="800" b="1" dirty="0" smtClean="0">
                <a:latin typeface="Arial" charset="0"/>
              </a:rPr>
              <a:t>Telecommunications Act</a:t>
            </a:r>
          </a:p>
          <a:p>
            <a:pPr marL="115488" indent="-115488">
              <a:buFontTx/>
              <a:buChar char="•"/>
            </a:pPr>
            <a:r>
              <a:rPr lang="en-US" sz="800" b="1" dirty="0" smtClean="0">
                <a:latin typeface="Arial" charset="0"/>
              </a:rPr>
              <a:t>Paperwork Reduction Act</a:t>
            </a:r>
          </a:p>
          <a:p>
            <a:pPr marL="115488" indent="-115488">
              <a:buFontTx/>
              <a:buChar char="•"/>
            </a:pPr>
            <a:r>
              <a:rPr lang="en-US" sz="800" b="1" dirty="0" smtClean="0">
                <a:latin typeface="Arial" charset="0"/>
              </a:rPr>
              <a:t>Government Paperwork Elimination Act</a:t>
            </a:r>
          </a:p>
          <a:p>
            <a:pPr>
              <a:lnSpc>
                <a:spcPct val="80000"/>
              </a:lnSpc>
            </a:pPr>
            <a:endParaRPr lang="en-US" sz="800" dirty="0" smtClean="0"/>
          </a:p>
          <a:p>
            <a:r>
              <a:rPr lang="en-US" sz="800" dirty="0" smtClean="0"/>
              <a:t> </a:t>
            </a:r>
          </a:p>
          <a:p>
            <a:r>
              <a:rPr lang="en-US" sz="800" dirty="0" smtClean="0"/>
              <a:t> </a:t>
            </a:r>
          </a:p>
          <a:p>
            <a:r>
              <a:rPr lang="en-US" sz="800" b="1" dirty="0" smtClean="0"/>
              <a:t>The Office of the Chief Administrative Officer (CAO)</a:t>
            </a:r>
            <a:r>
              <a:rPr lang="en-US" sz="800" dirty="0" smtClean="0"/>
              <a:t> provides comprehensive, NOAA-wide services and technical and programmatic guidance, as well as staff support to the Office of the Under Secretary, in the areas of facilities management (i.e. real and personal property, project planning and management); Freedom of Information Act (FOIA); commercial services management; OIG/GAO liaison; safety and environmental compliance; administrative issuances; records management; and other administrative support services. The office also administers the NOAA-wide Civil Rights and Equal Employment Opportunity programs.   The CAO also serves as the Leadership and Corporate Services Sub-Goal lead under NOAA’s planning, programming, budget, and execution system (PPBES).  The areas under the direction of the CAO are;</a:t>
            </a:r>
          </a:p>
          <a:p>
            <a:pPr lvl="0"/>
            <a:r>
              <a:rPr lang="en-US" sz="800" dirty="0" smtClean="0"/>
              <a:t>Real Property Facilities and Logistics Office</a:t>
            </a:r>
          </a:p>
          <a:p>
            <a:pPr lvl="0"/>
            <a:r>
              <a:rPr lang="en-US" sz="800" dirty="0" smtClean="0"/>
              <a:t>Audits and Information Management Office</a:t>
            </a:r>
          </a:p>
          <a:p>
            <a:pPr lvl="0"/>
            <a:r>
              <a:rPr lang="en-US" sz="800" dirty="0" smtClean="0"/>
              <a:t>Office of Civil Rights </a:t>
            </a:r>
          </a:p>
          <a:p>
            <a:pPr lvl="0"/>
            <a:r>
              <a:rPr lang="en-US" sz="800" dirty="0" smtClean="0"/>
              <a:t>Safety and Environmental Compliance Office</a:t>
            </a:r>
          </a:p>
          <a:p>
            <a:pPr lvl="0"/>
            <a:r>
              <a:rPr lang="en-US" sz="800" dirty="0" smtClean="0"/>
              <a:t>Deemed Export Program</a:t>
            </a:r>
          </a:p>
          <a:p>
            <a:r>
              <a:rPr lang="en-US" sz="800" b="1" dirty="0" smtClean="0"/>
              <a:t> </a:t>
            </a:r>
            <a:endParaRPr lang="en-US" sz="800" dirty="0" smtClean="0"/>
          </a:p>
          <a:p>
            <a:r>
              <a:rPr lang="en-US" sz="800" b="1" dirty="0" smtClean="0"/>
              <a:t>Products:</a:t>
            </a:r>
            <a:endParaRPr lang="en-US" sz="800" dirty="0" smtClean="0"/>
          </a:p>
          <a:p>
            <a:r>
              <a:rPr lang="en-US" sz="800" dirty="0" smtClean="0"/>
              <a:t>Long-Range Facility Modernization and Capital Investment Plans</a:t>
            </a:r>
          </a:p>
          <a:p>
            <a:r>
              <a:rPr lang="en-US" sz="800" dirty="0" smtClean="0"/>
              <a:t>Homeport Investment Plan</a:t>
            </a:r>
          </a:p>
          <a:p>
            <a:r>
              <a:rPr lang="en-US" sz="800" dirty="0" smtClean="0"/>
              <a:t>Reports to Line Offices annually on the condition of NOAA facilities subsequent to the annual Integrated Facilities Inspection Program (IFIP) survey</a:t>
            </a:r>
          </a:p>
          <a:p>
            <a:r>
              <a:rPr lang="en-US" sz="800" dirty="0" smtClean="0"/>
              <a:t>Economic (Net Present Value) analyses on facility capital investments </a:t>
            </a:r>
          </a:p>
          <a:p>
            <a:r>
              <a:rPr lang="en-US" sz="800" dirty="0" smtClean="0"/>
              <a:t>Standard policies and processes for real property, including construction work in progress, project planning, project management, and progress/performance metrics </a:t>
            </a:r>
          </a:p>
          <a:p>
            <a:r>
              <a:rPr lang="en-US" sz="800" dirty="0" smtClean="0"/>
              <a:t>Quarterly reports for all major (prospectus level) construction projects</a:t>
            </a:r>
          </a:p>
          <a:p>
            <a:r>
              <a:rPr lang="en-US" sz="800" dirty="0" smtClean="0"/>
              <a:t>Standard policies and processes for personal property</a:t>
            </a:r>
          </a:p>
          <a:p>
            <a:r>
              <a:rPr lang="en-US" sz="800" dirty="0" smtClean="0"/>
              <a:t>Standard NOAA-wide policies and processes for deemed export and foreign national access controls </a:t>
            </a:r>
          </a:p>
          <a:p>
            <a:r>
              <a:rPr lang="en-US" sz="800" dirty="0" smtClean="0"/>
              <a:t>Monthly Report on Current OIG/GAO Reviews</a:t>
            </a:r>
          </a:p>
          <a:p>
            <a:r>
              <a:rPr lang="en-US" sz="800" dirty="0" smtClean="0"/>
              <a:t>Monthly Report on Open OIG/GAO Recommendations</a:t>
            </a:r>
          </a:p>
          <a:p>
            <a:r>
              <a:rPr lang="en-US" sz="800" dirty="0" smtClean="0"/>
              <a:t>Monthly Referrals and Investigations Report</a:t>
            </a:r>
          </a:p>
          <a:p>
            <a:r>
              <a:rPr lang="en-US" sz="800" dirty="0" smtClean="0"/>
              <a:t>NOAA’s Annual FAIR Act Inventory</a:t>
            </a:r>
          </a:p>
          <a:p>
            <a:r>
              <a:rPr lang="en-US" sz="800" dirty="0" smtClean="0"/>
              <a:t>Commercial Services (OMB Cir. A-76) Feasibility Study Reports</a:t>
            </a:r>
          </a:p>
          <a:p>
            <a:r>
              <a:rPr lang="en-US" sz="800" dirty="0" smtClean="0"/>
              <a:t>Monthly FOIA reports</a:t>
            </a:r>
          </a:p>
          <a:p>
            <a:r>
              <a:rPr lang="en-US" sz="800" dirty="0" smtClean="0"/>
              <a:t>NOAA-wide Affirmative Employment and Under-Representation policies, data and reports</a:t>
            </a:r>
          </a:p>
          <a:p>
            <a:r>
              <a:rPr lang="en-US" sz="800" dirty="0" smtClean="0"/>
              <a:t>Annual NOAA Safety Program goals and training programs</a:t>
            </a:r>
          </a:p>
          <a:p>
            <a:r>
              <a:rPr lang="en-US" sz="800" dirty="0" smtClean="0"/>
              <a:t>NOAA-wide policies and working procedures promoting safety and environmental </a:t>
            </a:r>
          </a:p>
          <a:p>
            <a:r>
              <a:rPr lang="en-US" sz="800" dirty="0" smtClean="0"/>
              <a:t>Compliance</a:t>
            </a:r>
          </a:p>
          <a:p>
            <a:r>
              <a:rPr lang="en-US" sz="800" dirty="0" smtClean="0"/>
              <a:t>NOAA policies and processes for administrative issuances and records management</a:t>
            </a:r>
          </a:p>
          <a:p>
            <a:r>
              <a:rPr lang="en-US" sz="800" dirty="0" smtClean="0"/>
              <a:t> </a:t>
            </a:r>
          </a:p>
          <a:p>
            <a:r>
              <a:rPr lang="en-US" sz="800" dirty="0" smtClean="0"/>
              <a:t> </a:t>
            </a:r>
          </a:p>
          <a:p>
            <a:r>
              <a:rPr lang="en-US" sz="800" b="1" dirty="0" smtClean="0"/>
              <a:t>Services:</a:t>
            </a:r>
            <a:endParaRPr lang="en-US" sz="800" dirty="0" smtClean="0"/>
          </a:p>
          <a:p>
            <a:r>
              <a:rPr lang="en-US" sz="800" dirty="0" smtClean="0"/>
              <a:t>Program execution and oversight of Homeland Security Presidential Directive 12 (HSPD-12)—Physical access controls</a:t>
            </a:r>
          </a:p>
          <a:p>
            <a:r>
              <a:rPr lang="en-US" sz="800" dirty="0" smtClean="0"/>
              <a:t>Security Guard Contract Services for National Capital Region, Boulder, and Seattle</a:t>
            </a:r>
          </a:p>
          <a:p>
            <a:r>
              <a:rPr lang="en-US" sz="800" dirty="0" smtClean="0"/>
              <a:t>Transportation Subsidy</a:t>
            </a:r>
          </a:p>
          <a:p>
            <a:pPr lvl="0"/>
            <a:r>
              <a:rPr lang="en-US" sz="800" dirty="0" smtClean="0"/>
              <a:t>Logistics Support: Warehousing, Property Disposal, Fleet, Vehicle and Building Management  </a:t>
            </a:r>
          </a:p>
          <a:p>
            <a:pPr lvl="0"/>
            <a:r>
              <a:rPr lang="en-US" sz="800" dirty="0" smtClean="0"/>
              <a:t>Manages NOAA's national real property acquisition and asset management programs, including responsibilities for policy development and guidance, program execution, performance management, audit resolution, and customer relations</a:t>
            </a:r>
          </a:p>
          <a:p>
            <a:pPr lvl="0"/>
            <a:r>
              <a:rPr lang="en-US" sz="800" dirty="0" smtClean="0"/>
              <a:t>Manages NOAA’s annual facility condition assessment nationwide</a:t>
            </a:r>
          </a:p>
          <a:p>
            <a:pPr lvl="0"/>
            <a:r>
              <a:rPr lang="en-US" sz="800" dirty="0" smtClean="0"/>
              <a:t>Negotiates leases (capital and operating), licenses and other real property agreements; conducts appraisals and other required surveys and analyses</a:t>
            </a:r>
          </a:p>
          <a:p>
            <a:pPr lvl="0"/>
            <a:r>
              <a:rPr lang="en-US" sz="800" dirty="0" smtClean="0"/>
              <a:t>Conducts National Environmental Policy Act (NEPA) studies and determinations for real property acquisitions and disposals Ensures compliance with financial auditing requirements for real property, processes and distributes rental payments, and manages the real property database</a:t>
            </a:r>
          </a:p>
          <a:p>
            <a:pPr lvl="0"/>
            <a:r>
              <a:rPr lang="en-US" sz="800" dirty="0" smtClean="0"/>
              <a:t>Manages the total project life-cycle for major (prospectus level) construction projects, and repair restoration projects; including business case analyses, planning, scoping, design, construction, and commissioning of new facilities</a:t>
            </a:r>
          </a:p>
          <a:p>
            <a:pPr lvl="0"/>
            <a:r>
              <a:rPr lang="en-US" sz="800" dirty="0" smtClean="0"/>
              <a:t>Coordinates the development of acquisition support vehicles for construction projects, and provides executive level oversight</a:t>
            </a:r>
          </a:p>
          <a:p>
            <a:pPr lvl="0"/>
            <a:r>
              <a:rPr lang="en-US" sz="800" dirty="0" smtClean="0"/>
              <a:t>Manages NOAA programs for personal property and logistics services</a:t>
            </a:r>
          </a:p>
          <a:p>
            <a:pPr lvl="0"/>
            <a:r>
              <a:rPr lang="en-US" sz="800" dirty="0" smtClean="0"/>
              <a:t>Coordinates OIG/GAO audit and reviews of NOAA programs and issues, and ensures timely resolution of audit findings and recommendations</a:t>
            </a:r>
          </a:p>
          <a:p>
            <a:pPr lvl="0"/>
            <a:r>
              <a:rPr lang="en-US" sz="800" dirty="0" smtClean="0"/>
              <a:t>Administers NOAA’s Freedom of Information Act (FOIA) Program</a:t>
            </a:r>
          </a:p>
          <a:p>
            <a:pPr lvl="0"/>
            <a:r>
              <a:rPr lang="en-US" sz="800" dirty="0" smtClean="0"/>
              <a:t>Oversees NOAA’s commercial services management program</a:t>
            </a:r>
          </a:p>
          <a:p>
            <a:pPr lvl="1"/>
            <a:r>
              <a:rPr lang="en-US" sz="800" dirty="0" smtClean="0"/>
              <a:t>Provides informal counseling in response to EEO complaints of discrimination</a:t>
            </a:r>
          </a:p>
          <a:p>
            <a:r>
              <a:rPr lang="en-US" sz="800" dirty="0" smtClean="0"/>
              <a:t>Provides advice to all principal Line and Staff Office officials and managers concerning all aspects of NOAA's EEO/Civil Rights/Affirmative Employment Programs</a:t>
            </a:r>
          </a:p>
          <a:p>
            <a:r>
              <a:rPr lang="en-US" sz="800" dirty="0" smtClean="0"/>
              <a:t>Manages NOAA-wide occupational health and safety, and environmental compliance programs</a:t>
            </a:r>
          </a:p>
          <a:p>
            <a:r>
              <a:rPr lang="en-US" sz="800" dirty="0" smtClean="0"/>
              <a:t>Conducts safety investigations for all Level A (fatality, serious injury or significant financial damage) incidents</a:t>
            </a:r>
          </a:p>
          <a:p>
            <a:r>
              <a:rPr lang="en-US" sz="800" dirty="0" smtClean="0"/>
              <a:t>Manages NOAA’s deemed export program which exists to prevent the diversion of sensitive dual use technologies to countries of concern</a:t>
            </a:r>
          </a:p>
          <a:p>
            <a:r>
              <a:rPr lang="en-US" sz="800" dirty="0" smtClean="0"/>
              <a:t>Program oversight for Continuity of Operations Plans (COOP), Occupant Emergency Plans (OEP), and Shelter in Place (SIP) for NOAA facilities</a:t>
            </a:r>
          </a:p>
          <a:p>
            <a:r>
              <a:rPr lang="en-US" sz="800" dirty="0" smtClean="0"/>
              <a:t>Support for NOAA-compliance with Federal Advisory Committee Act (FACA)</a:t>
            </a:r>
          </a:p>
          <a:p>
            <a:r>
              <a:rPr lang="en-US" sz="800" dirty="0" smtClean="0"/>
              <a:t>Support for promulgation of NOAA administrative issuance (Order and Circulars)</a:t>
            </a:r>
          </a:p>
          <a:p>
            <a:r>
              <a:rPr lang="en-US" sz="800" b="1" dirty="0" smtClean="0"/>
              <a:t> </a:t>
            </a:r>
            <a:endParaRPr lang="en-US" sz="800" dirty="0" smtClean="0"/>
          </a:p>
          <a:p>
            <a:r>
              <a:rPr lang="en-US" sz="800" b="1" dirty="0" smtClean="0"/>
              <a:t> </a:t>
            </a:r>
            <a:endParaRPr lang="en-US" sz="800" dirty="0" smtClean="0"/>
          </a:p>
          <a:p>
            <a:r>
              <a:rPr lang="en-US" sz="800" b="1" dirty="0" smtClean="0"/>
              <a:t>Office of International Affairs (OIA) supports and promotes national policies and interests in </a:t>
            </a:r>
            <a:r>
              <a:rPr lang="en-US" sz="800" dirty="0" smtClean="0"/>
              <a:t>ecosystem-based management, climate change, Earth observation, and weather forecasting.</a:t>
            </a:r>
          </a:p>
          <a:p>
            <a:r>
              <a:rPr lang="en-US" sz="800" dirty="0" smtClean="0"/>
              <a:t>OAI endeavors to maximize the mutual benefits of international exchange with its global</a:t>
            </a:r>
          </a:p>
          <a:p>
            <a:r>
              <a:rPr lang="en-US" sz="800" dirty="0" smtClean="0"/>
              <a:t>partners. www.international.noaa.gov</a:t>
            </a:r>
          </a:p>
          <a:p>
            <a:r>
              <a:rPr lang="en-US" sz="800" b="1" dirty="0" smtClean="0"/>
              <a:t>Major Output</a:t>
            </a:r>
            <a:r>
              <a:rPr lang="en-US" sz="800" dirty="0" smtClean="0"/>
              <a:t>:  Effective engagement with the international community in support of NOAA’s mission objectives, leading to the outcome that the international community (including international organizations, governments, non-governmental entities and other partners) is supporting and working with NOAA toward NOAA’s mission objectives.  </a:t>
            </a:r>
          </a:p>
          <a:p>
            <a:r>
              <a:rPr lang="en-US" sz="800" u="sng" dirty="0" smtClean="0"/>
              <a:t>1. Policy development – develop and coordinate NOAA and USG policy for use in the interagency context and in international </a:t>
            </a:r>
            <a:r>
              <a:rPr lang="en-US" sz="800" u="sng" dirty="0" err="1" smtClean="0"/>
              <a:t>fora</a:t>
            </a:r>
            <a:r>
              <a:rPr lang="en-US" sz="800" u="sng" dirty="0" smtClean="0"/>
              <a:t>;  to secure NOAA and USG agreement on views and policies to be carried to the international community</a:t>
            </a:r>
            <a:r>
              <a:rPr lang="en-US" sz="800" dirty="0" smtClean="0"/>
              <a:t> </a:t>
            </a:r>
          </a:p>
          <a:p>
            <a:r>
              <a:rPr lang="en-US" sz="800" u="sng" dirty="0" smtClean="0"/>
              <a:t>2. Represent NOAA and USG views (or Achieve NOAA and USG objectives) at International and interagency meetings</a:t>
            </a:r>
            <a:r>
              <a:rPr lang="en-US" sz="800" dirty="0" smtClean="0"/>
              <a:t> </a:t>
            </a:r>
          </a:p>
          <a:p>
            <a:r>
              <a:rPr lang="en-US" sz="800" u="sng" dirty="0" smtClean="0"/>
              <a:t>3. Direct/Manage/Support</a:t>
            </a:r>
            <a:r>
              <a:rPr lang="en-US" sz="800" dirty="0" smtClean="0"/>
              <a:t> </a:t>
            </a:r>
          </a:p>
          <a:p>
            <a:r>
              <a:rPr lang="en-US" sz="800" dirty="0" smtClean="0"/>
              <a:t> </a:t>
            </a:r>
            <a:r>
              <a:rPr lang="en-US" sz="800" u="sng" dirty="0" smtClean="0"/>
              <a:t>3a.  Direct (Provide guidance and advice regarding) NOAA's international engagement </a:t>
            </a:r>
            <a:endParaRPr lang="en-US" sz="800" dirty="0" smtClean="0"/>
          </a:p>
          <a:p>
            <a:r>
              <a:rPr lang="en-US" sz="800" u="sng" dirty="0" smtClean="0"/>
              <a:t>3b.  Manage NOAA's international engagement (coordinate, communicate, collaborate) - this includes the IAC and related, circulating information, compiling NOAA responses to inquiries, managing the USAID and other umbrella agreements, review of international agreements, maintaining information products, etc.  </a:t>
            </a:r>
            <a:endParaRPr lang="en-US" sz="800" dirty="0" smtClean="0"/>
          </a:p>
          <a:p>
            <a:r>
              <a:rPr lang="en-US" sz="800" u="sng" dirty="0" smtClean="0"/>
              <a:t>3c. Provide staff support to NOAA Leadership's international engagement</a:t>
            </a:r>
            <a:r>
              <a:rPr lang="en-US" sz="800" dirty="0" smtClean="0"/>
              <a:t> </a:t>
            </a:r>
          </a:p>
          <a:p>
            <a:r>
              <a:rPr lang="en-US" sz="800" u="sng" dirty="0" smtClean="0"/>
              <a:t>4. Implement Projects and Provide (and coordinate the provision and exchange of) technical assistance, expertise, capacity building within NOAA’s capabilities to international partners.</a:t>
            </a:r>
            <a:r>
              <a:rPr lang="en-US" sz="800" dirty="0" smtClean="0"/>
              <a:t> </a:t>
            </a:r>
          </a:p>
          <a:p>
            <a:r>
              <a:rPr lang="en-US" sz="800" b="1" dirty="0" smtClean="0"/>
              <a:t> </a:t>
            </a:r>
            <a:endParaRPr lang="en-US" sz="800" dirty="0" smtClean="0"/>
          </a:p>
          <a:p>
            <a:r>
              <a:rPr lang="en-US" sz="800" b="1" dirty="0" smtClean="0"/>
              <a:t> </a:t>
            </a:r>
            <a:endParaRPr lang="en-US" sz="800" dirty="0" smtClean="0"/>
          </a:p>
          <a:p>
            <a:r>
              <a:rPr lang="en-US" sz="800" b="1" dirty="0" smtClean="0"/>
              <a:t>Office of Program Analysis and Evaluation (PA&amp;E)</a:t>
            </a:r>
            <a:r>
              <a:rPr lang="en-US" sz="800" dirty="0" smtClean="0"/>
              <a:t> conducts independent and objective</a:t>
            </a:r>
          </a:p>
          <a:p>
            <a:r>
              <a:rPr lang="en-US" sz="800" dirty="0" smtClean="0"/>
              <a:t>analysis. The Office provides evaluations and assessments of plans, programs, and</a:t>
            </a:r>
          </a:p>
          <a:p>
            <a:r>
              <a:rPr lang="en-US" sz="800" dirty="0" smtClean="0"/>
              <a:t>requirements. PA&amp;E reviews all significant program initiatives and major requirements, and</a:t>
            </a:r>
          </a:p>
          <a:p>
            <a:r>
              <a:rPr lang="en-US" sz="800" dirty="0" smtClean="0"/>
              <a:t>provides analytical support to all parts of NOAA. PA&amp;E is responsible for the Programming</a:t>
            </a:r>
          </a:p>
          <a:p>
            <a:r>
              <a:rPr lang="en-US" sz="800" dirty="0" smtClean="0"/>
              <a:t>phase of PPBES. www.ppbs.noaa.gov</a:t>
            </a:r>
          </a:p>
          <a:p>
            <a:r>
              <a:rPr lang="en-US" sz="800" b="1" dirty="0" smtClean="0"/>
              <a:t>Major Outputs </a:t>
            </a:r>
            <a:endParaRPr lang="en-US" sz="800" dirty="0" smtClean="0"/>
          </a:p>
          <a:p>
            <a:r>
              <a:rPr lang="en-US" sz="800" b="1" dirty="0" smtClean="0"/>
              <a:t>Products:</a:t>
            </a:r>
            <a:endParaRPr lang="en-US" sz="800" dirty="0" smtClean="0"/>
          </a:p>
          <a:p>
            <a:r>
              <a:rPr lang="en-US" sz="800" dirty="0" smtClean="0"/>
              <a:t>Program Review:  Current programmatic capacities and capabilities are compared to the NOAA mission requirement.  </a:t>
            </a:r>
          </a:p>
          <a:p>
            <a:r>
              <a:rPr lang="en-US" sz="800" dirty="0" smtClean="0"/>
              <a:t>The major output of Program Review is Fiscal and Programming Guidance.  </a:t>
            </a:r>
          </a:p>
          <a:p>
            <a:r>
              <a:rPr lang="en-US" sz="800" dirty="0" smtClean="0"/>
              <a:t>Program Development:  The development of an integrated, fiscally balanced 5 year plan based on inputs from NOAA Goal and Sub-goal teams.  The major output of Program Development is the Program Decision Memorandum. </a:t>
            </a:r>
          </a:p>
          <a:p>
            <a:r>
              <a:rPr lang="en-US" sz="800" dirty="0" smtClean="0"/>
              <a:t>Specialized analytical studies:  PA&amp;E provides independent analytical support to NOAA Leadership, goal teams, and offices.  Completed analytical products include:</a:t>
            </a:r>
          </a:p>
          <a:p>
            <a:r>
              <a:rPr lang="en-US" sz="800" dirty="0" smtClean="0"/>
              <a:t>Ship and Aircraft modernization plan development support</a:t>
            </a:r>
          </a:p>
          <a:p>
            <a:r>
              <a:rPr lang="en-US" sz="800" dirty="0" smtClean="0"/>
              <a:t>Ship fuel cost forecast modeling</a:t>
            </a:r>
          </a:p>
          <a:p>
            <a:r>
              <a:rPr lang="en-US" sz="800" dirty="0" smtClean="0"/>
              <a:t>Impact of unfunded pay raises on NOAA mission accomplishment</a:t>
            </a:r>
          </a:p>
          <a:p>
            <a:r>
              <a:rPr lang="en-US" sz="800" dirty="0" smtClean="0"/>
              <a:t>Hurricane forecast improvement analysis</a:t>
            </a:r>
          </a:p>
          <a:p>
            <a:r>
              <a:rPr lang="en-US" sz="800" dirty="0" smtClean="0"/>
              <a:t>Fleet project allocation modeling</a:t>
            </a:r>
          </a:p>
          <a:p>
            <a:r>
              <a:rPr lang="en-US" sz="800" dirty="0" smtClean="0"/>
              <a:t>Facilities project optimization model</a:t>
            </a:r>
          </a:p>
          <a:p>
            <a:r>
              <a:rPr lang="en-US" sz="800" dirty="0" smtClean="0"/>
              <a:t>Fleet maintenance correlation analysis</a:t>
            </a:r>
          </a:p>
          <a:p>
            <a:r>
              <a:rPr lang="en-US" sz="800" dirty="0" smtClean="0"/>
              <a:t>VERA (Voluntary Early Retirement Authority) cost analysis</a:t>
            </a:r>
          </a:p>
          <a:p>
            <a:r>
              <a:rPr lang="en-US" sz="800" dirty="0" smtClean="0"/>
              <a:t>Legal support requirements analysis</a:t>
            </a:r>
          </a:p>
          <a:p>
            <a:r>
              <a:rPr lang="en-US" sz="800" b="1" dirty="0" smtClean="0"/>
              <a:t>Services:</a:t>
            </a:r>
            <a:endParaRPr lang="en-US" sz="800" dirty="0" smtClean="0"/>
          </a:p>
          <a:p>
            <a:r>
              <a:rPr lang="en-US" sz="800" dirty="0" smtClean="0"/>
              <a:t>Identify the fiscal implications of NOAA plans, including the NOAA Strategic Plan.  Propose solutions to meet the goals stated in the NOAA Strategic Plan and other documents within limited resources.</a:t>
            </a:r>
          </a:p>
          <a:p>
            <a:r>
              <a:rPr lang="en-US" sz="800" dirty="0" smtClean="0"/>
              <a:t>Indentify trade-offs between NOAA goals, find alternative solutions, recommend effective solutions to NOAA Leadership.</a:t>
            </a:r>
          </a:p>
          <a:p>
            <a:r>
              <a:rPr lang="en-US" sz="800" dirty="0" smtClean="0"/>
              <a:t>Develop the fiscal plan that makes the greatest progress towards NOAA goals described in the Strategic Plan.</a:t>
            </a:r>
          </a:p>
          <a:p>
            <a:r>
              <a:rPr lang="en-US" sz="800" dirty="0" smtClean="0"/>
              <a:t>Specialized analytical studies </a:t>
            </a:r>
          </a:p>
          <a:p>
            <a:r>
              <a:rPr lang="en-US" sz="800" b="1" dirty="0" smtClean="0"/>
              <a:t> </a:t>
            </a:r>
            <a:endParaRPr lang="en-US" sz="800" dirty="0" smtClean="0"/>
          </a:p>
          <a:p>
            <a:r>
              <a:rPr lang="en-US" sz="800" b="1" dirty="0" smtClean="0"/>
              <a:t>Acquisition and Grants Office (AGO) reviews solicitations for grant applications, processes</a:t>
            </a:r>
            <a:endParaRPr lang="en-US" sz="800" dirty="0" smtClean="0"/>
          </a:p>
          <a:p>
            <a:r>
              <a:rPr lang="en-US" sz="800" dirty="0" smtClean="0"/>
              <a:t>applications, negotiates awards, manages administrative and financial aspects of awards,</a:t>
            </a:r>
          </a:p>
          <a:p>
            <a:r>
              <a:rPr lang="en-US" sz="800" dirty="0" smtClean="0"/>
              <a:t>monitors progress against expenditures, resolves audit problems, and closes out awards as</a:t>
            </a:r>
          </a:p>
          <a:p>
            <a:r>
              <a:rPr lang="en-US" sz="800" dirty="0" smtClean="0"/>
              <a:t>projects are completed. www.ago.noaa.gov</a:t>
            </a:r>
          </a:p>
          <a:p>
            <a:r>
              <a:rPr lang="en-US" sz="800" b="1" u="sng" dirty="0" smtClean="0"/>
              <a:t>Major Outputs</a:t>
            </a:r>
            <a:r>
              <a:rPr lang="en-US" sz="800" dirty="0" smtClean="0"/>
              <a:t> </a:t>
            </a:r>
          </a:p>
          <a:p>
            <a:r>
              <a:rPr lang="en-US" sz="800" dirty="0" smtClean="0"/>
              <a:t> The NOAA Acquisition and Grants Office (AGO) is a corporate activity to purchase quality goods and services at a reasonable price from external vendors and to administer financial assistance awards (grants) to qualified recipients in support of NOAA’s mission.</a:t>
            </a:r>
          </a:p>
          <a:p>
            <a:r>
              <a:rPr lang="en-US" sz="800" dirty="0" smtClean="0"/>
              <a:t> </a:t>
            </a:r>
          </a:p>
          <a:p>
            <a:r>
              <a:rPr lang="en-US" sz="800" b="1" dirty="0" smtClean="0"/>
              <a:t>Acquisition Service Operations</a:t>
            </a:r>
            <a:r>
              <a:rPr lang="en-US" sz="800" dirty="0" smtClean="0"/>
              <a:t> </a:t>
            </a:r>
          </a:p>
          <a:p>
            <a:r>
              <a:rPr lang="en-US" sz="800" dirty="0" smtClean="0"/>
              <a:t> The purpose of this activity is to purchase gods and services through the use of contracts, simplified acquisition procedures, Bankcard transactions and interagency agreements and memoranda of understanding. These purchases are requested by each NOAA customer as specified by their requirements and are subject to all applicable federal laws, policies and regulations related to procurement. Simplified acquisitions procedures provide streamlined techniques to reduce the administrative burden of awarding lower dollar value or commercially available item procurements that account for the majority of purchases. Bankcards are issued to authorized government employees and typically can be used for purchases up to $2500 per month.</a:t>
            </a:r>
          </a:p>
          <a:p>
            <a:r>
              <a:rPr lang="en-US" sz="800" dirty="0" smtClean="0"/>
              <a:t> During FY 2007, AGO successfully completed 14,283 procurement transactions worth a total value of $1.1445 billion. </a:t>
            </a:r>
          </a:p>
          <a:p>
            <a:r>
              <a:rPr lang="en-US" sz="800" dirty="0" smtClean="0"/>
              <a:t> </a:t>
            </a:r>
          </a:p>
          <a:p>
            <a:r>
              <a:rPr lang="en-US" sz="800" b="1" dirty="0" smtClean="0"/>
              <a:t>Financial Assistance Service Operations</a:t>
            </a:r>
            <a:r>
              <a:rPr lang="en-US" sz="800" dirty="0" smtClean="0"/>
              <a:t> </a:t>
            </a:r>
          </a:p>
          <a:p>
            <a:r>
              <a:rPr lang="en-US" sz="800" dirty="0" smtClean="0"/>
              <a:t> The purpose of this activity it to provide technical and administrative support to NOAA programs that give financial assistance (authorized by statute) to a wide variety of non-federal recipients to produce results intended to enhance NOAA’s mission. This support involves all phases of the grant administration process including pre-award actions such as providing technical guidance during initial pre-selection activities, announcing and publishing requests for grant applications, conducting administrative review and award of recommended applications, monitoring award progress and terms and conditions and closing out of completed grant awards.</a:t>
            </a:r>
          </a:p>
          <a:p>
            <a:r>
              <a:rPr lang="en-US" sz="800" dirty="0" smtClean="0"/>
              <a:t> During FY 2007, AGO issued 1,955 grant awards worth a total of $ 924 million.</a:t>
            </a:r>
          </a:p>
          <a:p>
            <a:r>
              <a:rPr lang="en-US" sz="800" b="1" dirty="0" smtClean="0"/>
              <a:t> </a:t>
            </a:r>
            <a:endParaRPr lang="en-US" sz="800" dirty="0" smtClean="0"/>
          </a:p>
          <a:p>
            <a:r>
              <a:rPr lang="en-US" sz="800" b="1" dirty="0" smtClean="0"/>
              <a:t>Workforce Management Officer (WFMO) is the principal human resources manager for NOAA.  </a:t>
            </a:r>
            <a:r>
              <a:rPr lang="en-US" sz="800" dirty="0" smtClean="0"/>
              <a:t>The WFMO provides policies, programs, and processes that facilitate the recruitment, hiring, development, and retention of a diverse, highly skilled, motivated, and effective workforce capable of accomplishing the Agency’s mission. </a:t>
            </a:r>
          </a:p>
          <a:p>
            <a:r>
              <a:rPr lang="en-US" sz="800" b="1" dirty="0" smtClean="0"/>
              <a:t>Major Outputs</a:t>
            </a:r>
            <a:endParaRPr lang="en-US" sz="800" dirty="0" smtClean="0"/>
          </a:p>
          <a:p>
            <a:r>
              <a:rPr lang="en-US" sz="800" b="1" dirty="0" smtClean="0"/>
              <a:t>The WFMO provides NOAA-wide leadership of the following workforce management functions:</a:t>
            </a:r>
            <a:endParaRPr lang="en-US" sz="800" dirty="0" smtClean="0"/>
          </a:p>
          <a:p>
            <a:pPr lvl="1"/>
            <a:r>
              <a:rPr lang="en-US" sz="800" b="1" dirty="0" smtClean="0"/>
              <a:t>Recruitment and hiring activities  </a:t>
            </a:r>
            <a:endParaRPr lang="en-US" sz="800" dirty="0" smtClean="0"/>
          </a:p>
          <a:p>
            <a:pPr lvl="1"/>
            <a:r>
              <a:rPr lang="en-US" sz="800" b="1" dirty="0" smtClean="0"/>
              <a:t>Strategic human capital planning and policies</a:t>
            </a:r>
            <a:endParaRPr lang="en-US" sz="800" dirty="0" smtClean="0"/>
          </a:p>
          <a:p>
            <a:pPr lvl="1"/>
            <a:r>
              <a:rPr lang="en-US" sz="800" b="1" dirty="0" smtClean="0"/>
              <a:t>Performance metrics and accountability reports</a:t>
            </a:r>
            <a:endParaRPr lang="en-US" sz="800" dirty="0" smtClean="0"/>
          </a:p>
          <a:p>
            <a:pPr lvl="1"/>
            <a:r>
              <a:rPr lang="en-US" sz="800" b="1" dirty="0" smtClean="0"/>
              <a:t>Labor-management and employee relations</a:t>
            </a:r>
            <a:endParaRPr lang="en-US" sz="800" dirty="0" smtClean="0"/>
          </a:p>
          <a:p>
            <a:pPr lvl="1"/>
            <a:r>
              <a:rPr lang="en-US" sz="800" b="1" dirty="0" smtClean="0"/>
              <a:t>Performance management and incentive awards</a:t>
            </a:r>
            <a:endParaRPr lang="en-US" sz="800" dirty="0" smtClean="0"/>
          </a:p>
          <a:p>
            <a:pPr lvl="1"/>
            <a:r>
              <a:rPr lang="en-US" sz="800" b="1" dirty="0" smtClean="0"/>
              <a:t>Executive resources activities</a:t>
            </a:r>
            <a:endParaRPr lang="en-US" sz="800" dirty="0" smtClean="0"/>
          </a:p>
          <a:p>
            <a:pPr lvl="1"/>
            <a:r>
              <a:rPr lang="en-US" sz="800" b="1" dirty="0" smtClean="0"/>
              <a:t>Distance learning tools</a:t>
            </a:r>
            <a:endParaRPr lang="en-US" sz="800" dirty="0" smtClean="0"/>
          </a:p>
          <a:p>
            <a:pPr lvl="1"/>
            <a:r>
              <a:rPr lang="en-US" sz="800" b="1" dirty="0" smtClean="0"/>
              <a:t>Leadership development</a:t>
            </a:r>
            <a:endParaRPr lang="en-US" sz="800" dirty="0" smtClean="0"/>
          </a:p>
          <a:p>
            <a:pPr lvl="1"/>
            <a:r>
              <a:rPr lang="en-US" sz="800" b="1" dirty="0" smtClean="0"/>
              <a:t>Training and career development programs</a:t>
            </a:r>
            <a:endParaRPr lang="en-US" sz="800" dirty="0" smtClean="0"/>
          </a:p>
          <a:p>
            <a:pPr lvl="1"/>
            <a:r>
              <a:rPr lang="en-US" sz="800" b="1" dirty="0" smtClean="0"/>
              <a:t>Human resources data management and automation</a:t>
            </a:r>
            <a:endParaRPr lang="en-US" sz="800" dirty="0" smtClean="0"/>
          </a:p>
          <a:p>
            <a:r>
              <a:rPr lang="en-US" sz="800" b="1" dirty="0" smtClean="0"/>
              <a:t>(Additional Information):  </a:t>
            </a:r>
            <a:r>
              <a:rPr lang="en-US" sz="800" dirty="0" smtClean="0"/>
              <a:t>Workforce Management Office (WFMO) provides policies, programs, and processes that facilitate the recruitment, hiring, development, and retention of a diverse, highly skilled, motivated, and effective workforce capable of accomplishing the Agency’s mission. The WFMO provides</a:t>
            </a:r>
          </a:p>
          <a:p>
            <a:r>
              <a:rPr lang="en-US" sz="800" dirty="0" smtClean="0"/>
              <a:t>NOAA-wide leadership to workforce management functions including strategic human capital</a:t>
            </a:r>
          </a:p>
          <a:p>
            <a:r>
              <a:rPr lang="en-US" sz="800" dirty="0" smtClean="0"/>
              <a:t>planning, labor-management and employee relations, performance management and incentive</a:t>
            </a:r>
          </a:p>
          <a:p>
            <a:r>
              <a:rPr lang="en-US" sz="800" dirty="0" smtClean="0"/>
              <a:t>awards, executive resources, distance learning, leadership development, training and career</a:t>
            </a:r>
          </a:p>
          <a:p>
            <a:r>
              <a:rPr lang="en-US" sz="800" dirty="0" smtClean="0"/>
              <a:t>development, and human resources data management and automation</a:t>
            </a:r>
          </a:p>
          <a:p>
            <a:r>
              <a:rPr lang="en-US" sz="800" dirty="0" smtClean="0"/>
              <a:t>initiatives. www.wfm.noaa.gov</a:t>
            </a:r>
          </a:p>
          <a:p>
            <a:r>
              <a:rPr lang="en-US" sz="800" b="1" dirty="0" smtClean="0"/>
              <a:t> </a:t>
            </a:r>
            <a:endParaRPr lang="en-US" sz="800" dirty="0" smtClean="0"/>
          </a:p>
          <a:p>
            <a:r>
              <a:rPr lang="en-US" sz="800" b="1" dirty="0" smtClean="0"/>
              <a:t>Major Outputs</a:t>
            </a:r>
            <a:endParaRPr lang="en-US" sz="800" dirty="0" smtClean="0"/>
          </a:p>
          <a:p>
            <a:r>
              <a:rPr lang="en-US" sz="800" b="1" dirty="0" smtClean="0"/>
              <a:t>These services result in products such as human capital management policies, and performance metrics and accountability reports, both internally and to the Department of Commerce, in the course of monitoring NOAA’s overall progress in achieving the goals of the NOAA Strategic Human Capital Management Plan.  </a:t>
            </a:r>
            <a:endParaRPr lang="en-US" sz="800" dirty="0" smtClean="0"/>
          </a:p>
          <a:p>
            <a:r>
              <a:rPr lang="en-US" sz="800" b="1" dirty="0" smtClean="0"/>
              <a:t>Additionally, human capital management services result in development programs such as:</a:t>
            </a:r>
            <a:endParaRPr lang="en-US" sz="800" dirty="0" smtClean="0"/>
          </a:p>
          <a:p>
            <a:r>
              <a:rPr lang="en-US" sz="800" b="1" dirty="0" smtClean="0"/>
              <a:t> NOAA Leadership Competencies Development Program -- a competitive, intermittent 18-month, leadership development program providing a series of training and learning experiences for a cadre of GS-13/14/15 NOAA employees who have high potential for assuming greater leadership responsibilities in the agency;</a:t>
            </a:r>
            <a:endParaRPr lang="en-US" sz="800" dirty="0" smtClean="0"/>
          </a:p>
          <a:p>
            <a:r>
              <a:rPr lang="en-US" sz="800" b="1" dirty="0" smtClean="0"/>
              <a:t>NOAA Leadership Seminar -- a three-day, off-site retreat primarily for GS-13/14 employees to learn about NOAA’s priorities directly from those in key leadership positions;</a:t>
            </a:r>
            <a:endParaRPr lang="en-US" sz="800" dirty="0" smtClean="0"/>
          </a:p>
          <a:p>
            <a:r>
              <a:rPr lang="en-US" sz="800" b="1" dirty="0" smtClean="0"/>
              <a:t>NOAA Rotational Assignment Program – an annual program offering all employees the opportunity to compete for short-term (typically 3-6 months) developmental assignments in their current or a different NOAA organization; and</a:t>
            </a:r>
            <a:endParaRPr lang="en-US" sz="800" dirty="0" smtClean="0"/>
          </a:p>
          <a:p>
            <a:r>
              <a:rPr lang="en-US" sz="800" b="1" dirty="0" smtClean="0"/>
              <a:t>Appointment and development of NOAA Presidential Management Fellows – a two-year program managed by the Office of Personnel which has an excellent reputation for attracting outstanding men and women who have recently completed the requirements for their masters, doctoral or other terminal degree.</a:t>
            </a:r>
            <a:endParaRPr lang="en-US" sz="800" dirty="0" smtClean="0"/>
          </a:p>
          <a:p>
            <a:r>
              <a:rPr lang="en-US" sz="800" b="1" dirty="0" smtClean="0"/>
              <a:t> </a:t>
            </a:r>
            <a:endParaRPr lang="en-US" sz="800" dirty="0" smtClean="0"/>
          </a:p>
          <a:p>
            <a:r>
              <a:rPr lang="en-US" sz="800" b="1" dirty="0" smtClean="0"/>
              <a:t>NOAA’s Office of Education (</a:t>
            </a:r>
            <a:r>
              <a:rPr lang="en-US" sz="800" b="1" dirty="0" err="1" smtClean="0"/>
              <a:t>OEd</a:t>
            </a:r>
            <a:r>
              <a:rPr lang="en-US" sz="800" b="1" dirty="0" smtClean="0"/>
              <a:t>)</a:t>
            </a:r>
            <a:r>
              <a:rPr lang="en-US" sz="800" dirty="0" smtClean="0"/>
              <a:t>, in conjunction with the NOAA Education Council, provides advice and counsel to the Under Secretary on matters pertaining to education.    </a:t>
            </a:r>
            <a:r>
              <a:rPr lang="en-US" sz="800" u="sng" dirty="0" smtClean="0"/>
              <a:t>http://www.oesd.noaa.gov</a:t>
            </a:r>
            <a:endParaRPr lang="en-US" sz="800" dirty="0" smtClean="0"/>
          </a:p>
          <a:p>
            <a:r>
              <a:rPr lang="en-US" sz="800" b="1" u="sng" dirty="0" smtClean="0"/>
              <a:t>Products:</a:t>
            </a:r>
            <a:endParaRPr lang="en-US" sz="800" dirty="0" smtClean="0"/>
          </a:p>
          <a:p>
            <a:pPr lvl="0"/>
            <a:r>
              <a:rPr lang="en-US" sz="800" b="1" u="sng" dirty="0" smtClean="0"/>
              <a:t>Interagency Working Group on Ocean Education Meetings</a:t>
            </a:r>
            <a:r>
              <a:rPr lang="en-US" sz="800" b="1" dirty="0" smtClean="0"/>
              <a:t>:  </a:t>
            </a:r>
            <a:r>
              <a:rPr lang="en-US" sz="800" dirty="0" smtClean="0"/>
              <a:t>implements recommendations of the U.S. Ocean Action Plan, compares Agency-funded programs and identifies common priorities and collaborations across Federal agencies to increase ocean literacy and build a future workforce</a:t>
            </a:r>
          </a:p>
          <a:p>
            <a:pPr lvl="0"/>
            <a:r>
              <a:rPr lang="en-US" sz="800" b="1" u="sng" dirty="0" smtClean="0"/>
              <a:t>NOAA Education Strategic Plan 2008:</a:t>
            </a:r>
            <a:r>
              <a:rPr lang="en-US" sz="800" dirty="0" smtClean="0"/>
              <a:t> a 20-year plan for NOAA’s Education Initiatives across the Agency. The Plan is being submitted to Congress in response to the America COMPETES Act of 2007 </a:t>
            </a:r>
          </a:p>
          <a:p>
            <a:pPr lvl="0"/>
            <a:r>
              <a:rPr lang="en-US" sz="800" b="1" u="sng" dirty="0" smtClean="0"/>
              <a:t>Education Council Meetings</a:t>
            </a:r>
            <a:r>
              <a:rPr lang="en-US" sz="800" dirty="0" smtClean="0"/>
              <a:t> : coordinates education activities across NOAA and oversees the implementation of NOAA’s Education Plan and Policy; assists in creating education evaluation and assessment frameworks for NOAA education programs </a:t>
            </a:r>
          </a:p>
          <a:p>
            <a:pPr lvl="0"/>
            <a:r>
              <a:rPr lang="en-US" sz="800" b="1" u="sng" dirty="0" smtClean="0"/>
              <a:t>PPBES</a:t>
            </a:r>
            <a:r>
              <a:rPr lang="en-US" sz="800" u="sng" dirty="0" smtClean="0"/>
              <a:t> </a:t>
            </a:r>
            <a:r>
              <a:rPr lang="en-US" sz="800" b="1" u="sng" dirty="0" smtClean="0"/>
              <a:t>Environmental Literacy Tracking:</a:t>
            </a:r>
            <a:r>
              <a:rPr lang="en-US" sz="800" b="1" dirty="0" smtClean="0"/>
              <a:t>  </a:t>
            </a:r>
            <a:r>
              <a:rPr lang="en-US" sz="800" dirty="0" smtClean="0"/>
              <a:t>an annual strategic assessment of all of NOAA’s environmental literacy activities and recommend  options that represent strategic opportunities to leverage partnerships and maximize benefit </a:t>
            </a:r>
          </a:p>
          <a:p>
            <a:r>
              <a:rPr lang="en-US" sz="800" dirty="0" smtClean="0"/>
              <a:t> </a:t>
            </a:r>
          </a:p>
          <a:p>
            <a:r>
              <a:rPr lang="en-US" sz="800" b="1" u="sng" dirty="0" smtClean="0"/>
              <a:t>Services:</a:t>
            </a:r>
            <a:endParaRPr lang="en-US" sz="800" dirty="0" smtClean="0"/>
          </a:p>
          <a:p>
            <a:pPr lvl="0"/>
            <a:r>
              <a:rPr lang="en-US" sz="800" b="1" u="sng" dirty="0" smtClean="0"/>
              <a:t>Education Outreach Center: </a:t>
            </a:r>
            <a:r>
              <a:rPr lang="en-US" sz="800" dirty="0" smtClean="0"/>
              <a:t> provides educational outreach materials from across NOAA lines and programs in support of agency conferences and community outreach events through requests from formal and informal educators, students, researchers, emergency services personnel, and NOAA employees</a:t>
            </a:r>
          </a:p>
          <a:p>
            <a:pPr lvl="0"/>
            <a:r>
              <a:rPr lang="en-US" sz="800" b="1" u="sng" dirty="0" smtClean="0"/>
              <a:t>Regional Education Grants - Bay-Watershed Education &amp; Training Grants (B-WET):</a:t>
            </a:r>
            <a:r>
              <a:rPr lang="en-US" sz="800" dirty="0" smtClean="0"/>
              <a:t>  funding provided for projects that promote Meaningful Watershed Educational Experiences (MWEEs) for students and professional development for teachers.  Regions where B-WET currently operates: Chesapeake Bay, California, and Hawaii. In 2008, B-WET expanded to include three new regions: New England, Gulf of Mexico, and the Pacific Northwest. </a:t>
            </a:r>
          </a:p>
          <a:p>
            <a:pPr lvl="0"/>
            <a:r>
              <a:rPr lang="en-US" sz="800" b="1" u="sng" dirty="0" smtClean="0"/>
              <a:t>National Education Grants – Environmental Literacy Grants Program (ELG):</a:t>
            </a:r>
            <a:r>
              <a:rPr lang="en-US" sz="800" dirty="0" smtClean="0"/>
              <a:t> competitively selected education awards totaling $20.1M to 40 different recipients in FY05-08. A few projects were co-funded with other NOAA offices.</a:t>
            </a:r>
          </a:p>
          <a:p>
            <a:pPr lvl="0"/>
            <a:r>
              <a:rPr lang="en-US" sz="800" b="1" u="sng" dirty="0" smtClean="0"/>
              <a:t>Scholarship Programs:</a:t>
            </a:r>
            <a:r>
              <a:rPr lang="en-US" sz="800" dirty="0" smtClean="0"/>
              <a:t>  MSI Undergraduate Scholarship Program, MSI Graduate Sciences Program, Ernest F. Hollings Undergraduate Scholarship Program, Nancy Foster Graduate Scholarship Program  </a:t>
            </a:r>
          </a:p>
          <a:p>
            <a:pPr lvl="0"/>
            <a:r>
              <a:rPr lang="en-US" sz="800" b="1" u="sng" dirty="0" smtClean="0"/>
              <a:t>Cooperative Science Centers:</a:t>
            </a:r>
            <a:r>
              <a:rPr lang="en-US" sz="800" b="1" dirty="0" smtClean="0"/>
              <a:t> </a:t>
            </a:r>
            <a:r>
              <a:rPr lang="en-US" sz="800" dirty="0" smtClean="0"/>
              <a:t>  are a collaborative partnership with more than thirty universities that provide formal education to students in coursework directly related to NOAA’s mission. Cooperative Science Centers have been designated through competitive processes at minority serving institutions since 2001.  </a:t>
            </a:r>
          </a:p>
          <a:p>
            <a:pPr lvl="0"/>
            <a:r>
              <a:rPr lang="en-US" sz="800" dirty="0" smtClean="0"/>
              <a:t> </a:t>
            </a:r>
            <a:r>
              <a:rPr lang="en-US" sz="800" b="1" u="sng" dirty="0" smtClean="0"/>
              <a:t>Science On a Sphere Museum Partners Network:</a:t>
            </a:r>
            <a:r>
              <a:rPr lang="en-US" sz="800" dirty="0" smtClean="0"/>
              <a:t> a network created and supported by NOAA of over 30 museums, science centers, aquariums, and zoos that have Science On a Sphere installed in their public exhibit areas and are interested in working closely with NOAA to keep this dynamic visualization technology current and showing the most up-to-date data on Earth System Science.   </a:t>
            </a:r>
          </a:p>
          <a:p>
            <a:pPr lvl="0"/>
            <a:r>
              <a:rPr lang="en-US" sz="800" b="1" u="sng" dirty="0" smtClean="0"/>
              <a:t>Training:  Designing Education Projects Course:</a:t>
            </a:r>
            <a:r>
              <a:rPr lang="en-US" sz="800" b="1" dirty="0" smtClean="0"/>
              <a:t>  </a:t>
            </a:r>
            <a:r>
              <a:rPr lang="en-US" sz="800" dirty="0" smtClean="0"/>
              <a:t> designed to aid in the development of education programs and materials that are based on sound design and project planning and include key components of needs assessment, project design, and evaluation so that NOAA education professionals will have the skills and tools to assess target audience needs and determine the focus and direction for their education investments thereby extending the reach and impact of these projects to the audience they want to reach.  </a:t>
            </a:r>
            <a:r>
              <a:rPr lang="en-US" sz="800" u="sng" dirty="0" smtClean="0"/>
              <a:t>  </a:t>
            </a:r>
            <a:endParaRPr lang="en-US" sz="800" dirty="0" smtClean="0"/>
          </a:p>
          <a:p>
            <a:r>
              <a:rPr lang="en-US" sz="800" dirty="0" smtClean="0"/>
              <a:t>  </a:t>
            </a:r>
          </a:p>
          <a:p>
            <a:r>
              <a:rPr lang="en-US" sz="800" b="1" dirty="0" smtClean="0"/>
              <a:t>Office of General Counsel (OGC) </a:t>
            </a:r>
            <a:r>
              <a:rPr lang="en-US" sz="800" dirty="0" smtClean="0"/>
              <a:t>OGC provides legal services and guidance for all matters that may arise in the conduct of NOAA's mission.  OGC's headquarters office is managed by the General Counsel, two Deputy General Counsels, and an Assistant General Counsel-Headquarters who oversee a series of 13 primary subdivision offices headed by Assistant General Counsels (Fisheries; Ocean Services; Enforcement and Litigation), and Senior Counselors (International; Atmospheric and Space Services and Research).  Legal issues at NOAA include those relating to coastal zone management; operation of weather and environmental satellites; management of the nation's marine fisheries; protection of marine mammals and threatened and endangered species; mitigation and restoration of natural resource damages; monitoring oceanic, atmospheric, and climatic data; and mapping and charting U.S. waters.   </a:t>
            </a:r>
          </a:p>
          <a:p>
            <a:r>
              <a:rPr lang="en-US" sz="800" u="sng" dirty="0" smtClean="0"/>
              <a:t>NOAA GC Significant Outputs</a:t>
            </a:r>
            <a:r>
              <a:rPr lang="en-US" sz="800" dirty="0" smtClean="0"/>
              <a:t> </a:t>
            </a:r>
          </a:p>
          <a:p>
            <a:r>
              <a:rPr lang="en-US" sz="800" dirty="0" smtClean="0"/>
              <a:t>  </a:t>
            </a:r>
          </a:p>
          <a:p>
            <a:r>
              <a:rPr lang="en-US" sz="800" dirty="0" smtClean="0"/>
              <a:t>Legal representation in federal lawsuits</a:t>
            </a:r>
          </a:p>
          <a:p>
            <a:r>
              <a:rPr lang="en-US" sz="800" dirty="0" smtClean="0"/>
              <a:t>  Against NOAA						</a:t>
            </a:r>
          </a:p>
          <a:p>
            <a:r>
              <a:rPr lang="en-US" sz="800" dirty="0" smtClean="0"/>
              <a:t> </a:t>
            </a:r>
          </a:p>
          <a:p>
            <a:r>
              <a:rPr lang="en-US" sz="800" dirty="0" smtClean="0"/>
              <a:t>Legal representation in natural resource damage</a:t>
            </a:r>
          </a:p>
          <a:p>
            <a:r>
              <a:rPr lang="en-US" sz="800" dirty="0" smtClean="0"/>
              <a:t>  Recovery cases						</a:t>
            </a:r>
          </a:p>
          <a:p>
            <a:r>
              <a:rPr lang="en-US" sz="800" dirty="0" smtClean="0"/>
              <a:t> </a:t>
            </a:r>
          </a:p>
          <a:p>
            <a:r>
              <a:rPr lang="en-US" sz="800" dirty="0" smtClean="0"/>
              <a:t>Legal representation in Enforcement cases 			</a:t>
            </a:r>
          </a:p>
          <a:p>
            <a:r>
              <a:rPr lang="en-US" sz="800" dirty="0" smtClean="0"/>
              <a:t> </a:t>
            </a:r>
          </a:p>
          <a:p>
            <a:r>
              <a:rPr lang="en-US" sz="800" dirty="0" smtClean="0"/>
              <a:t>Enforcement training programs conducted			</a:t>
            </a:r>
          </a:p>
          <a:p>
            <a:r>
              <a:rPr lang="en-US" sz="800" dirty="0" smtClean="0"/>
              <a:t> </a:t>
            </a:r>
          </a:p>
          <a:p>
            <a:r>
              <a:rPr lang="en-US" sz="800" dirty="0" smtClean="0"/>
              <a:t>Legal review of Endangered Species Act</a:t>
            </a:r>
          </a:p>
          <a:p>
            <a:r>
              <a:rPr lang="en-US" sz="800" dirty="0" smtClean="0"/>
              <a:t>  Consultations						</a:t>
            </a:r>
          </a:p>
          <a:p>
            <a:r>
              <a:rPr lang="en-US" sz="800" dirty="0" smtClean="0"/>
              <a:t> </a:t>
            </a:r>
          </a:p>
          <a:p>
            <a:r>
              <a:rPr lang="en-US" sz="800" dirty="0" smtClean="0"/>
              <a:t>Legal review of ESA biological opinions			</a:t>
            </a:r>
          </a:p>
          <a:p>
            <a:r>
              <a:rPr lang="en-US" sz="800" dirty="0" smtClean="0"/>
              <a:t> </a:t>
            </a:r>
          </a:p>
          <a:p>
            <a:r>
              <a:rPr lang="en-US" sz="800" dirty="0" smtClean="0"/>
              <a:t>Legal review of NOAA’s mandatory </a:t>
            </a:r>
            <a:r>
              <a:rPr lang="en-US" sz="800" dirty="0" err="1" smtClean="0"/>
              <a:t>fishway</a:t>
            </a:r>
            <a:r>
              <a:rPr lang="en-US" sz="800" dirty="0" smtClean="0"/>
              <a:t> prescriptions </a:t>
            </a:r>
          </a:p>
          <a:p>
            <a:r>
              <a:rPr lang="en-US" sz="800" dirty="0" smtClean="0"/>
              <a:t>for new or relicensed hydropower plants			</a:t>
            </a:r>
          </a:p>
          <a:p>
            <a:r>
              <a:rPr lang="en-US" sz="800" dirty="0" smtClean="0"/>
              <a:t> </a:t>
            </a:r>
          </a:p>
          <a:p>
            <a:r>
              <a:rPr lang="en-US" sz="800" dirty="0" smtClean="0"/>
              <a:t>Legal review of fishery management plans or </a:t>
            </a:r>
          </a:p>
          <a:p>
            <a:r>
              <a:rPr lang="en-US" sz="800" dirty="0" smtClean="0"/>
              <a:t>  Amendments							</a:t>
            </a:r>
          </a:p>
          <a:p>
            <a:r>
              <a:rPr lang="en-US" sz="800" dirty="0" smtClean="0"/>
              <a:t> </a:t>
            </a:r>
          </a:p>
          <a:p>
            <a:r>
              <a:rPr lang="en-US" sz="800" dirty="0" smtClean="0"/>
              <a:t>Legal review of federal register notices, proposed</a:t>
            </a:r>
          </a:p>
          <a:p>
            <a:r>
              <a:rPr lang="en-US" sz="800" dirty="0" smtClean="0"/>
              <a:t> Rules, and final rules						</a:t>
            </a:r>
          </a:p>
          <a:p>
            <a:r>
              <a:rPr lang="en-US" sz="800" dirty="0" smtClean="0"/>
              <a:t> </a:t>
            </a:r>
          </a:p>
          <a:p>
            <a:r>
              <a:rPr lang="en-US" sz="800" dirty="0" smtClean="0"/>
              <a:t>Legal review of annual fish specifications and </a:t>
            </a:r>
          </a:p>
          <a:p>
            <a:r>
              <a:rPr lang="en-US" sz="800" dirty="0" smtClean="0"/>
              <a:t>  Fishery closure orders					</a:t>
            </a:r>
          </a:p>
          <a:p>
            <a:r>
              <a:rPr lang="en-US" sz="800" dirty="0" smtClean="0"/>
              <a:t> </a:t>
            </a:r>
          </a:p>
          <a:p>
            <a:r>
              <a:rPr lang="en-US" sz="800" dirty="0" smtClean="0"/>
              <a:t>Legal review of petitions for disaster assistance		</a:t>
            </a:r>
          </a:p>
          <a:p>
            <a:r>
              <a:rPr lang="en-US" sz="800" dirty="0" smtClean="0"/>
              <a:t> </a:t>
            </a:r>
          </a:p>
          <a:p>
            <a:r>
              <a:rPr lang="en-US" sz="800" dirty="0" smtClean="0"/>
              <a:t>Legal review of liquefied natural gas deepwater</a:t>
            </a:r>
          </a:p>
          <a:p>
            <a:r>
              <a:rPr lang="en-US" sz="800" dirty="0" smtClean="0"/>
              <a:t>  Port applications						</a:t>
            </a:r>
          </a:p>
          <a:p>
            <a:r>
              <a:rPr lang="en-US" sz="800" dirty="0" smtClean="0"/>
              <a:t>Legal review of fishing vessel buyouts 			</a:t>
            </a:r>
          </a:p>
          <a:p>
            <a:r>
              <a:rPr lang="en-US" sz="800" dirty="0" smtClean="0"/>
              <a:t> </a:t>
            </a:r>
          </a:p>
          <a:p>
            <a:r>
              <a:rPr lang="en-US" sz="800" dirty="0" smtClean="0"/>
              <a:t>Legal review of ESA recovery plans and status reviews	</a:t>
            </a:r>
          </a:p>
          <a:p>
            <a:r>
              <a:rPr lang="en-US" sz="800" dirty="0" smtClean="0"/>
              <a:t> </a:t>
            </a:r>
          </a:p>
          <a:p>
            <a:r>
              <a:rPr lang="en-US" sz="800" dirty="0" smtClean="0"/>
              <a:t>Legal review of sanctuary management plans, </a:t>
            </a:r>
          </a:p>
          <a:p>
            <a:r>
              <a:rPr lang="en-US" sz="800" dirty="0" smtClean="0"/>
              <a:t>  Amendments, and updates					</a:t>
            </a:r>
          </a:p>
          <a:p>
            <a:r>
              <a:rPr lang="en-US" sz="800" dirty="0" smtClean="0"/>
              <a:t> </a:t>
            </a:r>
          </a:p>
          <a:p>
            <a:r>
              <a:rPr lang="en-US" sz="800" dirty="0" smtClean="0"/>
              <a:t>Legal review of national estuarine research reserve plans	</a:t>
            </a:r>
          </a:p>
          <a:p>
            <a:r>
              <a:rPr lang="en-US" sz="800" dirty="0" smtClean="0"/>
              <a:t> </a:t>
            </a:r>
          </a:p>
          <a:p>
            <a:r>
              <a:rPr lang="en-US" sz="800" dirty="0" smtClean="0"/>
              <a:t>Legal review of coastal management program </a:t>
            </a:r>
          </a:p>
          <a:p>
            <a:r>
              <a:rPr lang="en-US" sz="800" dirty="0" smtClean="0"/>
              <a:t> amendments							</a:t>
            </a:r>
          </a:p>
          <a:p>
            <a:r>
              <a:rPr lang="en-US" sz="800" dirty="0" smtClean="0"/>
              <a:t> </a:t>
            </a:r>
          </a:p>
          <a:p>
            <a:r>
              <a:rPr lang="en-US" sz="800" dirty="0" smtClean="0"/>
              <a:t>Legal review of memoranda of agreement			</a:t>
            </a:r>
          </a:p>
          <a:p>
            <a:r>
              <a:rPr lang="en-US" sz="800" dirty="0" smtClean="0"/>
              <a:t> </a:t>
            </a:r>
          </a:p>
          <a:p>
            <a:r>
              <a:rPr lang="en-US" sz="800" dirty="0" smtClean="0"/>
              <a:t>Legal review of coastal zone management act </a:t>
            </a:r>
          </a:p>
          <a:p>
            <a:r>
              <a:rPr lang="en-US" sz="800" dirty="0" smtClean="0"/>
              <a:t> Non-point source pollution program packages		</a:t>
            </a:r>
          </a:p>
          <a:p>
            <a:r>
              <a:rPr lang="en-US" sz="800" dirty="0" smtClean="0"/>
              <a:t> 					</a:t>
            </a:r>
          </a:p>
          <a:p>
            <a:r>
              <a:rPr lang="en-US" sz="800" dirty="0" smtClean="0"/>
              <a:t>Legal support at fishery management council meetings</a:t>
            </a:r>
          </a:p>
          <a:p>
            <a:r>
              <a:rPr lang="en-US" sz="800" dirty="0" smtClean="0"/>
              <a:t>  (in days)							</a:t>
            </a:r>
          </a:p>
          <a:p>
            <a:r>
              <a:rPr lang="en-US" sz="800" dirty="0" smtClean="0"/>
              <a:t> </a:t>
            </a:r>
          </a:p>
          <a:p>
            <a:r>
              <a:rPr lang="en-US" sz="800" dirty="0" smtClean="0"/>
              <a:t>Legal support at international meetings (#meetings)		</a:t>
            </a:r>
          </a:p>
          <a:p>
            <a:r>
              <a:rPr lang="en-US" sz="800" dirty="0" smtClean="0"/>
              <a:t> </a:t>
            </a:r>
          </a:p>
          <a:p>
            <a:r>
              <a:rPr lang="en-US" sz="800" dirty="0" smtClean="0"/>
              <a:t>Legal agreements review or negotiated			</a:t>
            </a:r>
          </a:p>
          <a:p>
            <a:r>
              <a:rPr lang="en-US" sz="800" dirty="0" smtClean="0"/>
              <a:t> </a:t>
            </a:r>
          </a:p>
          <a:p>
            <a:r>
              <a:rPr lang="en-US" sz="800" dirty="0" smtClean="0"/>
              <a:t>Legal review of commercial satellite licenses, </a:t>
            </a:r>
          </a:p>
          <a:p>
            <a:r>
              <a:rPr lang="en-US" sz="800" dirty="0" smtClean="0"/>
              <a:t>  Amendments, foreign agreements, etc.			</a:t>
            </a:r>
          </a:p>
          <a:p>
            <a:r>
              <a:rPr lang="en-US" sz="800" dirty="0" smtClean="0"/>
              <a:t> </a:t>
            </a:r>
          </a:p>
          <a:p>
            <a:r>
              <a:rPr lang="en-US" sz="800" dirty="0" smtClean="0"/>
              <a:t>Legal review of cooperative research arrangements		</a:t>
            </a:r>
          </a:p>
          <a:p>
            <a:r>
              <a:rPr lang="en-US" sz="800" dirty="0" smtClean="0"/>
              <a:t> </a:t>
            </a:r>
          </a:p>
          <a:p>
            <a:r>
              <a:rPr lang="en-US" sz="800" dirty="0" smtClean="0"/>
              <a:t>Legal advice on NOAA’s deemed</a:t>
            </a:r>
          </a:p>
          <a:p>
            <a:r>
              <a:rPr lang="en-US" sz="800" dirty="0" smtClean="0"/>
              <a:t> Export compliance program					</a:t>
            </a:r>
          </a:p>
          <a:p>
            <a:r>
              <a:rPr lang="en-US" sz="800" dirty="0" smtClean="0"/>
              <a:t> </a:t>
            </a:r>
          </a:p>
          <a:p>
            <a:r>
              <a:rPr lang="en-US" sz="800" dirty="0" smtClean="0"/>
              <a:t>Legal review and response on subpoenas			</a:t>
            </a:r>
          </a:p>
          <a:p>
            <a:r>
              <a:rPr lang="en-US" sz="800" dirty="0" smtClean="0"/>
              <a:t> </a:t>
            </a:r>
          </a:p>
          <a:p>
            <a:r>
              <a:rPr lang="en-US" sz="800" dirty="0" smtClean="0"/>
              <a:t>Legal review of FOIA requests				</a:t>
            </a:r>
          </a:p>
          <a:p>
            <a:r>
              <a:rPr lang="en-US" sz="800" dirty="0" smtClean="0"/>
              <a:t> </a:t>
            </a:r>
          </a:p>
          <a:p>
            <a:r>
              <a:rPr lang="en-US" sz="800" dirty="0" smtClean="0"/>
              <a:t>Legal review of press releases and controlled </a:t>
            </a:r>
          </a:p>
          <a:p>
            <a:r>
              <a:rPr lang="en-US" sz="800" dirty="0" smtClean="0"/>
              <a:t>  Correspondence						</a:t>
            </a:r>
          </a:p>
          <a:p>
            <a:r>
              <a:rPr lang="en-US" sz="800" dirty="0" smtClean="0"/>
              <a:t> </a:t>
            </a:r>
          </a:p>
          <a:p>
            <a:r>
              <a:rPr lang="en-US" sz="800" dirty="0" smtClean="0"/>
              <a:t>Legal review of Proposed International Agreements, 	</a:t>
            </a:r>
          </a:p>
          <a:p>
            <a:r>
              <a:rPr lang="en-US" sz="800" dirty="0" smtClean="0"/>
              <a:t>Between NOAA and Foreign Government Entities </a:t>
            </a:r>
          </a:p>
          <a:p>
            <a:r>
              <a:rPr lang="en-US" sz="800" dirty="0" smtClean="0"/>
              <a:t> </a:t>
            </a:r>
          </a:p>
          <a:p>
            <a:r>
              <a:rPr lang="en-US" sz="800" dirty="0" smtClean="0"/>
              <a:t>Legal review of action, information, issue, and position	</a:t>
            </a:r>
          </a:p>
          <a:p>
            <a:r>
              <a:rPr lang="en-US" sz="800" dirty="0" smtClean="0"/>
              <a:t>Papers submitted to international organizations</a:t>
            </a:r>
          </a:p>
          <a:p>
            <a:r>
              <a:rPr lang="en-US" sz="800" dirty="0" smtClean="0"/>
              <a:t>(</a:t>
            </a:r>
            <a:r>
              <a:rPr lang="en-US" sz="800" b="1" dirty="0" smtClean="0"/>
              <a:t>Additional Information):</a:t>
            </a:r>
            <a:endParaRPr lang="en-US" sz="800" dirty="0" smtClean="0"/>
          </a:p>
          <a:p>
            <a:r>
              <a:rPr lang="en-US" sz="800" b="1" dirty="0" smtClean="0"/>
              <a:t>NOAA Office of General Counsel</a:t>
            </a:r>
            <a:r>
              <a:rPr lang="en-US" sz="800" dirty="0" smtClean="0"/>
              <a:t> </a:t>
            </a:r>
          </a:p>
          <a:p>
            <a:r>
              <a:rPr lang="en-US" sz="800" b="1" dirty="0" smtClean="0"/>
              <a:t>Significant Outputs</a:t>
            </a:r>
            <a:endParaRPr lang="en-US" sz="800" dirty="0" smtClean="0"/>
          </a:p>
          <a:p>
            <a:r>
              <a:rPr lang="en-US" sz="800" u="sng" dirty="0" smtClean="0"/>
              <a:t>Counsel to the National Marine Fisheries Service:</a:t>
            </a:r>
            <a:endParaRPr lang="en-US" sz="800" dirty="0" smtClean="0"/>
          </a:p>
          <a:p>
            <a:r>
              <a:rPr lang="en-US" sz="800" dirty="0" smtClean="0"/>
              <a:t>The NOAA Office of General Counsel, Office of Fisheries</a:t>
            </a:r>
            <a:r>
              <a:rPr lang="en-US" sz="800" b="1" dirty="0" smtClean="0"/>
              <a:t> (</a:t>
            </a:r>
            <a:r>
              <a:rPr lang="en-US" sz="800" dirty="0" smtClean="0"/>
              <a:t>GCF) provides legal counsel to the National Marine Fisheries Service (NMFS).  GCF lawyers work on substantive and procedural laws relating to living marine resources, including the Magnuson-Stevens Fishery Conservation and Management Act, the Endangered Species Act, and the Marine Mammal Protection Act.  This includes legal review of fishery management plans or amendments, annual fish specifications and Fishery closure orders, Endangered Species Act consultations, biological opinions, recovery plans, petitions for disaster assistance, liquefied natural gas deepwater port applications, fishing vessel buyouts, status reviews, and NOAA’s mandatory </a:t>
            </a:r>
            <a:r>
              <a:rPr lang="en-US" sz="800" dirty="0" err="1" smtClean="0"/>
              <a:t>fishway</a:t>
            </a:r>
            <a:r>
              <a:rPr lang="en-US" sz="800" dirty="0" smtClean="0"/>
              <a:t> prescriptions for new or relicensed hydropower plants.  These lawyers also provide support at fishery management council meetings and the meetings of international bodies, such as the International Whaling Commission and the International Convention for the Conservation of Atlantic Tunas.  In addition, these lawyers provide support in the development of legislation related to NMFS programs.</a:t>
            </a:r>
          </a:p>
          <a:p>
            <a:r>
              <a:rPr lang="en-US" sz="800" u="sng" dirty="0" smtClean="0"/>
              <a:t>Counsel to the National Ocean Service:</a:t>
            </a:r>
            <a:endParaRPr lang="en-US" sz="800" dirty="0" smtClean="0"/>
          </a:p>
          <a:p>
            <a:r>
              <a:rPr lang="en-US" sz="800" dirty="0" smtClean="0"/>
              <a:t>The NOAA Office of General Counsel, Office of Ocean Services (GCOS) provides legal counsel to NOAA’s National Ocean Service.  GCOS attorneys support implementation of the Coastal Zone Management Act, including drafting consistency appeal determinations for the Secretary of Commerce, working with federal and state agencies in reviewing coastal management plans, and helping develop national estuarine research reserves.  GCOS also supports implementation of the National Marine Sanctuaries Act by working closely with experienced scientists and program managers to develop and implement management plans, policies, and regulations governing the nation’s 13 national marine sanctuaries, and the newly designated </a:t>
            </a:r>
            <a:r>
              <a:rPr lang="en-US" sz="800" dirty="0" err="1" smtClean="0"/>
              <a:t>Papahanaumokuakea</a:t>
            </a:r>
            <a:r>
              <a:rPr lang="en-US" sz="800" dirty="0" smtClean="0"/>
              <a:t> Marine National Monument.  Additionally, GCOS attorneys provide legal support to the Office of Ocean and Coastal Resource Management, the Office of Coast Survey, and NOAA's Office of Marine and Aviation Operations, including the NOAA Corps.</a:t>
            </a:r>
          </a:p>
          <a:p>
            <a:r>
              <a:rPr lang="en-US" sz="800" u="sng" dirty="0" smtClean="0"/>
              <a:t>Counsel on International Issues:</a:t>
            </a:r>
            <a:endParaRPr lang="en-US" sz="800" dirty="0" smtClean="0"/>
          </a:p>
          <a:p>
            <a:r>
              <a:rPr lang="en-US" sz="800" dirty="0" smtClean="0"/>
              <a:t>The NOAA Office of General Counsel, Office of International Law (GCIL) provides legal counsel to NOAA on international law, particularly the United Nations Law of the Sea (LOS) Convention and other international agreements regarding marine environmental and maritime issues. The Office provides legal analysis, guidance, drafting assistance, and other legal services to assure that NOAA’s policy development and activities are consistent with, and take into account, the LOS Convention and other rules of international law.  GCIL further helps NOAA program and headquarters staff protect NOAA’s interests in the context of interagency and international working groups. Finally, GCIL is called upon to review action, information, issue, and position papers submitted to international organizations and help develop domestic legislation.</a:t>
            </a:r>
          </a:p>
          <a:p>
            <a:r>
              <a:rPr lang="en-US" sz="800" u="sng" dirty="0" smtClean="0"/>
              <a:t>Civil Enforcement:</a:t>
            </a:r>
            <a:endParaRPr lang="en-US" sz="800" dirty="0" smtClean="0"/>
          </a:p>
          <a:p>
            <a:r>
              <a:rPr lang="en-US" sz="800" dirty="0" smtClean="0"/>
              <a:t>The NOAA Office of General Counsel, Office of Enforcement and Litigation (GCEL) coordinates and implements the NOAA General Counsel's delegated authority as NOAA's civil prosecutor.  The office prosecutes civil penalty cases, permit sanctions, and administrative forfeitures; provides support to the U.S. Department of Justice in prosecution of law enforcement cases in Federal courts and formulates NOAA's position in such cases; establishes national law enforcement policy in conjunction with NOAA Fisheries Enforcement and NOAA program offices; provides legal support to NOAA Fisheries Enforcement and other NOAA offices, including the Sustainable Fisheries Division and Protected Resources Division; and advises NOAA officials on specific enforcement cases and general enforcement trends and issues. </a:t>
            </a:r>
          </a:p>
          <a:p>
            <a:r>
              <a:rPr lang="en-US" sz="800" u="sng" dirty="0" smtClean="0"/>
              <a:t>Counsel to the National Weather Service, Office of Oceanic and Atmospheric</a:t>
            </a:r>
            <a:endParaRPr lang="en-US" sz="800" dirty="0" smtClean="0"/>
          </a:p>
          <a:p>
            <a:r>
              <a:rPr lang="en-US" sz="800" u="sng" dirty="0" smtClean="0"/>
              <a:t>Research, &amp; the National Environmental Satellite, Data, &amp; Information Service:</a:t>
            </a:r>
            <a:endParaRPr lang="en-US" sz="800" dirty="0" smtClean="0"/>
          </a:p>
          <a:p>
            <a:r>
              <a:rPr lang="en-US" sz="800" dirty="0" smtClean="0"/>
              <a:t>The NOAA Office of General Counsel, Office of Weather (GCW) provides legal counsel on a wide range of issues to the NWS, NESDIS, and OAR, including negotiation of international environmental satellite agreements, legal review of commercial remote sensing satellite licenses, license amendments, foreign agreements and support to related monitoring and compliance matters, cooperative research and development arrangements, subpoenas, and FOIA requests.  In addition, GCW serves as legal counsel to the interagency Climate Change Science Program. </a:t>
            </a:r>
          </a:p>
          <a:p>
            <a:r>
              <a:rPr lang="en-US" sz="800" u="sng" dirty="0" smtClean="0"/>
              <a:t>Counsel on Natural Resource Damages:</a:t>
            </a:r>
            <a:endParaRPr lang="en-US" sz="800" dirty="0" smtClean="0"/>
          </a:p>
          <a:p>
            <a:r>
              <a:rPr lang="en-US" sz="800" dirty="0" smtClean="0"/>
              <a:t> </a:t>
            </a:r>
          </a:p>
          <a:p>
            <a:r>
              <a:rPr lang="en-US" sz="800" dirty="0" smtClean="0"/>
              <a:t>The NOAA Office of General Counsel, Office of Natural Resources (GCNR) provides legal counsel to NOAA’s Natural Resource Damage Program to promote recovery of past costs and to ensure restoration to compensate the public for injuries caused to our Nation's natural resources by releases of hazardous substances from thousands of waste sites, numerous oil spills, and physical impacts (e.g., vessel groundings) to unique resources located in National Marine Sanctuaries.  In many cases, NOAA works cooperatively with responsible parties to identify injuries to the natural resources and to plan and carry out the appropriate restoration work.</a:t>
            </a:r>
          </a:p>
          <a:p>
            <a:r>
              <a:rPr lang="en-US" sz="800" dirty="0" smtClean="0"/>
              <a:t> </a:t>
            </a:r>
          </a:p>
          <a:p>
            <a:r>
              <a:rPr lang="en-US" sz="800" u="sng" dirty="0" smtClean="0"/>
              <a:t>Counsel on Regulatory Matters:</a:t>
            </a:r>
            <a:endParaRPr lang="en-US" sz="800" dirty="0" smtClean="0"/>
          </a:p>
          <a:p>
            <a:r>
              <a:rPr lang="en-US" sz="800" dirty="0" smtClean="0"/>
              <a:t>NOAA GC provides legal counsel on regulatory and statutory requirements, policy development, and the availability of guidance and assistance from outside sources. Representation also includes the negotiation of environmental settlements for non-compliance and defense of actions under state and federal law.  This includes review of federal register notices, proposed rules, and final rules.		</a:t>
            </a:r>
          </a:p>
          <a:p>
            <a:r>
              <a:rPr lang="en-US" sz="800" b="1" dirty="0" smtClean="0"/>
              <a:t>Office of Legislative Affairs (OLA) coordinates all NOAA contacts with Congress (except those  </a:t>
            </a:r>
            <a:r>
              <a:rPr lang="en-US" sz="800" dirty="0" smtClean="0"/>
              <a:t>relating to appropriations) and is responsible for the planning, direction, and coordination of</a:t>
            </a:r>
          </a:p>
          <a:p>
            <a:r>
              <a:rPr lang="en-US" sz="800" dirty="0" smtClean="0"/>
              <a:t>legislative programs that are of immediate concern to the Under Secretary. OLA also maintains a</a:t>
            </a:r>
          </a:p>
          <a:p>
            <a:r>
              <a:rPr lang="en-US" sz="800" dirty="0" smtClean="0"/>
              <a:t>summary of all of the NOAA programs or activities based in, or focused on, states or territories</a:t>
            </a:r>
          </a:p>
          <a:p>
            <a:r>
              <a:rPr lang="en-US" sz="800" dirty="0" smtClean="0"/>
              <a:t>at www.legislative.noaa.gov/NIYS0107/noaainyourstate.html and a brief overview of major NOAA</a:t>
            </a:r>
          </a:p>
          <a:p>
            <a:r>
              <a:rPr lang="en-US" sz="800" dirty="0" smtClean="0"/>
              <a:t>facilities around the country for each of our Line Offices with a color map and short summaries of</a:t>
            </a:r>
          </a:p>
          <a:p>
            <a:r>
              <a:rPr lang="en-US" sz="800" dirty="0" smtClean="0"/>
              <a:t>what each facility does at www.legislative.noaa.gov/policybriefs.html. The general web site</a:t>
            </a:r>
          </a:p>
          <a:p>
            <a:r>
              <a:rPr lang="en-US" sz="800" dirty="0" smtClean="0"/>
              <a:t>is www.legislative.noaa.gov</a:t>
            </a:r>
          </a:p>
          <a:p>
            <a:r>
              <a:rPr lang="en-US" sz="800" dirty="0" smtClean="0"/>
              <a:t>To carry out its mission, the OLA:</a:t>
            </a:r>
          </a:p>
          <a:p>
            <a:r>
              <a:rPr lang="en-US" sz="800" dirty="0" smtClean="0"/>
              <a:t>Develops, coordinates, and implements the overall legislative strategy for NOAA and identifies and tracks all legislation of interest to NOAA and keeping the Office of the Under Secretary and Assistant Administrators informed;</a:t>
            </a:r>
          </a:p>
          <a:p>
            <a:r>
              <a:rPr lang="en-US" sz="800" dirty="0" smtClean="0"/>
              <a:t>Coordinates and communicates the Administration’s position on issues and programs of interest to NOAA on proposed pending legislation through views letters and congressional testimony at hearings;</a:t>
            </a:r>
          </a:p>
          <a:p>
            <a:r>
              <a:rPr lang="en-US" sz="800" dirty="0" smtClean="0"/>
              <a:t>Manages every aspect of NOAA’s participation in congressional hearings including advising NOAA senior management of official requests for witnesses, ensuring that the witnesses are properly briefed, and overseeing the preparation and clearance of NOAA testimony, including providing drafting assistance for the written and/or oral testimony as requested;</a:t>
            </a:r>
          </a:p>
          <a:p>
            <a:r>
              <a:rPr lang="en-US" sz="800" dirty="0" smtClean="0"/>
              <a:t>Responds to all congressional inquiries in a timely manner through personal visits, </a:t>
            </a:r>
          </a:p>
          <a:p>
            <a:r>
              <a:rPr lang="en-US" sz="800" dirty="0" smtClean="0"/>
              <a:t>e-mail, phone, fax, and mail;</a:t>
            </a:r>
          </a:p>
          <a:p>
            <a:r>
              <a:rPr lang="en-US" sz="800" dirty="0" smtClean="0"/>
              <a:t>Briefs Members of Congress and their staff regularly on important NOAA programs, issues, and activities;</a:t>
            </a:r>
          </a:p>
          <a:p>
            <a:r>
              <a:rPr lang="en-US" sz="800" dirty="0" smtClean="0"/>
              <a:t>Provides congressional staff with technical drafting assistance, views letters for legislation, opportunities to meet with NOAA experts, and ensures congressionally-mandated reports order by NOAA authorizing committees are completed on time;</a:t>
            </a:r>
          </a:p>
          <a:p>
            <a:r>
              <a:rPr lang="en-US" sz="800" dirty="0" smtClean="0"/>
              <a:t>Ensures good communication and coordination among legislative activities within Line, Program, and Staff offices; and</a:t>
            </a:r>
          </a:p>
          <a:p>
            <a:r>
              <a:rPr lang="en-US" sz="800" dirty="0" smtClean="0"/>
              <a:t>Coordinates with the Department of Commerce Office of Legislative and Intergovernmental Affairs.</a:t>
            </a:r>
          </a:p>
          <a:p>
            <a:r>
              <a:rPr lang="en-US" sz="800" dirty="0" smtClean="0"/>
              <a:t> </a:t>
            </a:r>
          </a:p>
          <a:p>
            <a:r>
              <a:rPr lang="en-US" sz="800" dirty="0" smtClean="0"/>
              <a:t>On an annual basis, these activities encompass over:</a:t>
            </a:r>
          </a:p>
          <a:p>
            <a:r>
              <a:rPr lang="en-US" sz="800" dirty="0" smtClean="0"/>
              <a:t>21,000 e-mails and phone calls with Members and congressional staff</a:t>
            </a:r>
          </a:p>
          <a:p>
            <a:r>
              <a:rPr lang="en-US" sz="800" dirty="0" smtClean="0"/>
              <a:t>1,000 briefings and meetings with Members and congressional staff</a:t>
            </a:r>
          </a:p>
          <a:p>
            <a:r>
              <a:rPr lang="en-US" sz="800" dirty="0" smtClean="0"/>
              <a:t>30 oversight and legislative hearings</a:t>
            </a:r>
          </a:p>
          <a:p>
            <a:r>
              <a:rPr lang="en-US" sz="800" dirty="0" smtClean="0"/>
              <a:t>400 Questions for the Record in follow-up to hearings</a:t>
            </a:r>
          </a:p>
          <a:p>
            <a:r>
              <a:rPr lang="en-US" sz="800" dirty="0" smtClean="0"/>
              <a:t>125 letters of incoming correspondence from Members requiring prepared response</a:t>
            </a:r>
          </a:p>
          <a:p>
            <a:r>
              <a:rPr lang="en-US" sz="800" dirty="0" smtClean="0"/>
              <a:t> </a:t>
            </a:r>
          </a:p>
          <a:p>
            <a:r>
              <a:rPr lang="en-US" sz="800" dirty="0" smtClean="0"/>
              <a:t>1,900 NOAA grants that are reviewed by the OLA and the Hill notified (Representative in whose district the work is based, both Senators, and other Members as relevant)</a:t>
            </a:r>
          </a:p>
          <a:p>
            <a:r>
              <a:rPr lang="en-US" sz="800" b="1" dirty="0" smtClean="0"/>
              <a:t> </a:t>
            </a:r>
            <a:endParaRPr lang="en-US" sz="800" dirty="0" smtClean="0"/>
          </a:p>
          <a:p>
            <a:r>
              <a:rPr lang="en-US" sz="800" b="1" dirty="0" smtClean="0"/>
              <a:t>Office of Communications (OC) coordinates all NOAA interviews with NOAA leadership and</a:t>
            </a:r>
            <a:endParaRPr lang="en-US" sz="800" dirty="0" smtClean="0"/>
          </a:p>
          <a:p>
            <a:r>
              <a:rPr lang="en-US" sz="800" dirty="0" smtClean="0"/>
              <a:t>coordinates External Affairs including questions on policy issues, budget and legislation,</a:t>
            </a:r>
          </a:p>
          <a:p>
            <a:r>
              <a:rPr lang="en-US" sz="800" dirty="0" smtClean="0"/>
              <a:t>constituent affairs, stakeholder relationships, intergovernmental affairs, business/industry liaison,</a:t>
            </a:r>
          </a:p>
          <a:p>
            <a:r>
              <a:rPr lang="en-US" sz="800" dirty="0" smtClean="0"/>
              <a:t>and exhibits. </a:t>
            </a:r>
            <a:r>
              <a:rPr lang="en-US" sz="800" u="sng" dirty="0" smtClean="0">
                <a:hlinkClick r:id="rId3"/>
              </a:rPr>
              <a:t>www.noaa.gov/media</a:t>
            </a:r>
            <a:endParaRPr lang="en-US" sz="800" dirty="0" smtClean="0"/>
          </a:p>
          <a:p>
            <a:r>
              <a:rPr lang="en-US" sz="800" dirty="0" smtClean="0"/>
              <a:t> </a:t>
            </a:r>
          </a:p>
          <a:p>
            <a:r>
              <a:rPr lang="en-US" sz="800" b="1" u="sng" dirty="0" smtClean="0"/>
              <a:t>Major outputs:</a:t>
            </a:r>
            <a:r>
              <a:rPr lang="en-US" sz="800" dirty="0" smtClean="0"/>
              <a:t> </a:t>
            </a:r>
          </a:p>
          <a:p>
            <a:r>
              <a:rPr lang="en-US" sz="800" dirty="0" smtClean="0"/>
              <a:t>News releases – based on newsworthy issues NOAA Communications produces news releases directed to national, regional and local media to ensure prompt coverage of NOAA related accomplishments and story lines. In 2007 more than 250 news releases were issued.</a:t>
            </a:r>
          </a:p>
          <a:p>
            <a:r>
              <a:rPr lang="en-US" sz="800" dirty="0" smtClean="0"/>
              <a:t> </a:t>
            </a:r>
          </a:p>
          <a:p>
            <a:r>
              <a:rPr lang="en-US" sz="800" dirty="0" smtClean="0"/>
              <a:t>Video presentations – NOAA’s video studio in Silver Spring produces feature length and shorter video presentations for internal NOAA clients. These videos are presented to a wide variety of audiences including NOAA employees and constituents. The studio also supports the media outreach efforts of NOAA communications by producing broadcast quality video clips (b-roll) and speaker support program.</a:t>
            </a:r>
          </a:p>
          <a:p>
            <a:r>
              <a:rPr lang="en-US" sz="800" dirty="0" smtClean="0"/>
              <a:t> </a:t>
            </a:r>
          </a:p>
          <a:p>
            <a:r>
              <a:rPr lang="en-US" sz="800" dirty="0" smtClean="0"/>
              <a:t>Opinion/editorial articles – based on newsworthy issues NOAA Communications writes opinion/editorial articles for NOAA leadership. These items are created to ensure opinions of the agency are reported promptly and factually. </a:t>
            </a:r>
          </a:p>
          <a:p>
            <a:r>
              <a:rPr lang="en-US" sz="800" dirty="0" smtClean="0"/>
              <a:t> </a:t>
            </a:r>
          </a:p>
          <a:p>
            <a:r>
              <a:rPr lang="en-US" sz="800" dirty="0" smtClean="0"/>
              <a:t>News conferences – NOAA Communications coordinates the planning and production of news conferences and media availabilities on newsworthy issues. The frequency of news conferences and/or media availabilities can vary. The largest and most heavily subscribed news conference each year is the announcement of the outlook for the Atlantic hurricane season.</a:t>
            </a:r>
          </a:p>
          <a:p>
            <a:r>
              <a:rPr lang="en-US" sz="800" dirty="0" smtClean="0"/>
              <a:t> </a:t>
            </a:r>
          </a:p>
          <a:p>
            <a:r>
              <a:rPr lang="en-US" sz="800" dirty="0" smtClean="0"/>
              <a:t>NOAA homepage content – NOAA Communications is responsible for the production and content of the agency’s homepage on the Web. NOAA.gov regularly ranks in the top 10 of all federal Web sites. </a:t>
            </a:r>
          </a:p>
          <a:p>
            <a:r>
              <a:rPr lang="en-US" sz="800" dirty="0" smtClean="0"/>
              <a:t>NOAA World online newsletter – this online newsletter is designed to keep NOAA employees and contractors informed about NOAA activities. Available both online and in PDF format this publication includes regular features about NOAA’s work in the regions and what is going on at NOAA's corporate levels.</a:t>
            </a:r>
          </a:p>
          <a:p>
            <a:r>
              <a:rPr lang="en-US" sz="800" b="1" u="sng" dirty="0" smtClean="0"/>
              <a:t>Services:</a:t>
            </a:r>
            <a:r>
              <a:rPr lang="en-US" sz="800" dirty="0" smtClean="0"/>
              <a:t> </a:t>
            </a:r>
          </a:p>
          <a:p>
            <a:r>
              <a:rPr lang="en-US" sz="800" dirty="0" smtClean="0"/>
              <a:t>Interview preparation and coordination – NOAA public affairs officers will work closely with subject matter experts to prepare for a media interview. This includes assisting with messaging, tips on dealing with reporter(s), accompanying the subject matter expert during the interview, and conducting any follow-up actions required.</a:t>
            </a:r>
          </a:p>
          <a:p>
            <a:r>
              <a:rPr lang="en-US" sz="800" dirty="0" smtClean="0"/>
              <a:t>Media training – NOAA public affairs officers provide training to NOAA personnel who may interact with the media. This training includes pointers on preparing for an interview, pitfalls to avoid, how to formulate your message, tips on non-verbal communications.</a:t>
            </a:r>
          </a:p>
          <a:p>
            <a:r>
              <a:rPr lang="en-US" sz="800" dirty="0" smtClean="0"/>
              <a:t>Constituent relations – NOAA’s Office of Communications coordinates activities with business and industry, public interest groups, academic institutions, state and local government in conjunction constituent personnel in the line and program offices. OC ensures this audience is regularly advised of NOAA activities and engaged when appropriate.</a:t>
            </a:r>
          </a:p>
          <a:p>
            <a:r>
              <a:rPr lang="en-US" sz="800" dirty="0" smtClean="0"/>
              <a:t/>
            </a:r>
            <a:br>
              <a:rPr lang="en-US" sz="800" dirty="0" smtClean="0"/>
            </a:br>
            <a:r>
              <a:rPr lang="en-US" sz="800" dirty="0" smtClean="0"/>
              <a:t>Exhibit management – NOAA’s Office of Communications coordinates NOAA presence at a wide variety of trade exhibitions across the nation and internationally. OC works closely with all line and program offices to ensure consistent themes and appearances are met.</a:t>
            </a:r>
          </a:p>
          <a:p>
            <a:r>
              <a:rPr lang="en-US" sz="800" b="1" dirty="0" smtClean="0"/>
              <a:t> </a:t>
            </a:r>
            <a:endParaRPr lang="en-US" sz="800" dirty="0" smtClean="0"/>
          </a:p>
          <a:p>
            <a:r>
              <a:rPr lang="en-US" sz="800" b="1" dirty="0" smtClean="0"/>
              <a:t>Office of the Federal Coordinator for Meteorology (OFCM) </a:t>
            </a:r>
            <a:r>
              <a:rPr lang="en-US" sz="800" dirty="0" smtClean="0"/>
              <a:t>ensures the effective use of Federal meteorological resources by leading the systematic coordination of operational weather requirements, services, and supporting research among 15 Federal agencies and offices.</a:t>
            </a:r>
          </a:p>
          <a:p>
            <a:r>
              <a:rPr lang="en-US" sz="800" b="1" u="sng" dirty="0" smtClean="0"/>
              <a:t>Major Outputs</a:t>
            </a:r>
            <a:endParaRPr lang="en-US" sz="800" dirty="0" smtClean="0"/>
          </a:p>
          <a:p>
            <a:r>
              <a:rPr lang="en-US" sz="800" dirty="0" smtClean="0"/>
              <a:t>The OFCM facilitates information sharing, planning, coordination, and collaboration through a collection of interagency groups to reduce duplication and maximize performance of the federal weather enterprise.</a:t>
            </a:r>
          </a:p>
          <a:p>
            <a:r>
              <a:rPr lang="en-US" sz="800" dirty="0" smtClean="0"/>
              <a:t>- </a:t>
            </a:r>
            <a:r>
              <a:rPr lang="en-US" sz="800" b="1" dirty="0" smtClean="0"/>
              <a:t>Tropical cyclone strategic R&amp;D</a:t>
            </a:r>
            <a:endParaRPr lang="en-US" sz="800" dirty="0" smtClean="0"/>
          </a:p>
          <a:p>
            <a:r>
              <a:rPr lang="en-US" sz="800" dirty="0" smtClean="0"/>
              <a:t>The OFCM is moving forward on the priorities outlined in the </a:t>
            </a:r>
            <a:r>
              <a:rPr lang="en-US" sz="800" i="1" dirty="0" smtClean="0"/>
              <a:t>Interagency Strategic Research Plan for Tropical Cyclones: The Way Ahead</a:t>
            </a:r>
            <a:r>
              <a:rPr lang="en-US" sz="800" dirty="0" smtClean="0"/>
              <a:t>.  This plan is the foundation for NOAA’s Hurricane Forecast Improvement Project and is the underpinning for NOAA, Navy, NASA, and NSF tropical cyclone research initiatives. </a:t>
            </a:r>
          </a:p>
          <a:p>
            <a:r>
              <a:rPr lang="en-US" sz="800" dirty="0" smtClean="0"/>
              <a:t>- </a:t>
            </a:r>
            <a:r>
              <a:rPr lang="en-US" sz="800" b="1" dirty="0" smtClean="0"/>
              <a:t>National Space Weather Program (NSWP)</a:t>
            </a:r>
            <a:endParaRPr lang="en-US" sz="800" dirty="0" smtClean="0"/>
          </a:p>
          <a:p>
            <a:r>
              <a:rPr lang="en-US" sz="800" dirty="0" smtClean="0"/>
              <a:t>Space weather involves conditions on the Sun, in space between the Sun and Earth, and on and around Earth that affect technological systems and health.  Recently, the NSWP agencies prepared the Space Weather Implementation Plan for the Grand Challenges in Disaster Reduction and the report </a:t>
            </a:r>
            <a:r>
              <a:rPr lang="en-US" sz="800" i="1" dirty="0" smtClean="0"/>
              <a:t>Impacts of NPOESS Nunn-McCurdy Certification and Potential Loss of ACE Spacecraft Solar Wind Data on National Space Environmental Monitoring Capabilities</a:t>
            </a:r>
            <a:r>
              <a:rPr lang="en-US" sz="800" dirty="0" smtClean="0"/>
              <a:t> in response to a request from the Office of Science and Technology Policy.  </a:t>
            </a:r>
          </a:p>
          <a:p>
            <a:r>
              <a:rPr lang="en-US" sz="800" dirty="0" smtClean="0"/>
              <a:t>- </a:t>
            </a:r>
            <a:r>
              <a:rPr lang="en-US" sz="800" b="1" dirty="0" smtClean="0"/>
              <a:t>Multifunction Phased Array Radar (MPAR)</a:t>
            </a:r>
            <a:endParaRPr lang="en-US" sz="800" dirty="0" smtClean="0"/>
          </a:p>
          <a:p>
            <a:r>
              <a:rPr lang="en-US" sz="800" dirty="0" smtClean="0"/>
              <a:t>This capability has the potential to replace several aging legacy air and weather surveillance radar systems at a significant savings of approximately $5 billion in acquisition and lifecycle costs.  NOAA, the Departments of Defense and Homeland Security, and the Federal Aviation Administration support the MPAR effort.  This multi-agency risk reduction program is critical to assessing capabilities and technical risks in time for an FAA acquisition decision as early as FY2011.</a:t>
            </a:r>
          </a:p>
          <a:p>
            <a:r>
              <a:rPr lang="en-US" sz="800" dirty="0" smtClean="0"/>
              <a:t>- </a:t>
            </a:r>
            <a:r>
              <a:rPr lang="en-US" sz="800" b="1" dirty="0" smtClean="0"/>
              <a:t>Weather Information for Surface Transportation (WIST)</a:t>
            </a:r>
            <a:endParaRPr lang="en-US" sz="800" dirty="0" smtClean="0"/>
          </a:p>
          <a:p>
            <a:r>
              <a:rPr lang="en-US" sz="800" dirty="0" smtClean="0"/>
              <a:t>In the U.S. alone, there are about 1.5 million weather-related highway crashes per year, with more than 500,000 people injured and more than 5,000 killed.  Weather also adversely affects rail, pipeline, and maritime transportation.  The OFCM established WIST in 1999 and more recently co-hosted the 3rd National Symposium and provided keynote addresses at the 4</a:t>
            </a:r>
            <a:r>
              <a:rPr lang="en-US" sz="800" baseline="30000" dirty="0" smtClean="0"/>
              <a:t>th</a:t>
            </a:r>
            <a:r>
              <a:rPr lang="en-US" sz="800" dirty="0" smtClean="0"/>
              <a:t> Symposium as well as the “Safety in Mobility” conference in </a:t>
            </a:r>
            <a:r>
              <a:rPr lang="en-US" sz="800" dirty="0" err="1" smtClean="0"/>
              <a:t>Velden</a:t>
            </a:r>
            <a:r>
              <a:rPr lang="en-US" sz="800" dirty="0" smtClean="0"/>
              <a:t>, Austria.</a:t>
            </a:r>
          </a:p>
          <a:p>
            <a:r>
              <a:rPr lang="en-US" sz="800" dirty="0" smtClean="0"/>
              <a:t>- </a:t>
            </a:r>
            <a:r>
              <a:rPr lang="en-US" sz="800" b="1" dirty="0" smtClean="0"/>
              <a:t>National </a:t>
            </a:r>
            <a:r>
              <a:rPr lang="en-US" sz="800" b="1" dirty="0" err="1" smtClean="0"/>
              <a:t>Wildland</a:t>
            </a:r>
            <a:r>
              <a:rPr lang="en-US" sz="800" b="1" dirty="0" smtClean="0"/>
              <a:t> Fire Weather Needs Assessment</a:t>
            </a:r>
            <a:endParaRPr lang="en-US" sz="800" dirty="0" smtClean="0"/>
          </a:p>
          <a:p>
            <a:r>
              <a:rPr lang="en-US" sz="800" dirty="0" smtClean="0"/>
              <a:t>At the request of the Western Governors Association, the OFCM through its Joint Action Group for the </a:t>
            </a:r>
            <a:r>
              <a:rPr lang="en-US" sz="800" dirty="0" err="1" smtClean="0"/>
              <a:t>Wildland</a:t>
            </a:r>
            <a:r>
              <a:rPr lang="en-US" sz="800" dirty="0" smtClean="0"/>
              <a:t> Fire Weather Needs Assessment conducted an extensive survey of the federal agencies and the fire weather community to develop a comprehensive assessment.  </a:t>
            </a:r>
          </a:p>
          <a:p>
            <a:r>
              <a:rPr lang="en-US" sz="800" dirty="0" smtClean="0"/>
              <a:t>- </a:t>
            </a:r>
            <a:r>
              <a:rPr lang="en-US" sz="800" b="1" dirty="0" smtClean="0"/>
              <a:t>National Aviation Weather Program (NAWP)</a:t>
            </a:r>
            <a:r>
              <a:rPr lang="en-US" sz="800" dirty="0" smtClean="0"/>
              <a:t>  </a:t>
            </a:r>
          </a:p>
          <a:p>
            <a:r>
              <a:rPr lang="en-US" sz="800" dirty="0" smtClean="0"/>
              <a:t>The OFCM evaluated aircraft accident statistics for the 10-year national goal of reducing fatal weather-related aviation accidents by 80 percent.  They are assessing areas needing further work and ways to maintain the success achieved, with a final report to be released in the spring of 2009.  </a:t>
            </a:r>
          </a:p>
          <a:p>
            <a:r>
              <a:rPr lang="en-US" sz="800" dirty="0" smtClean="0"/>
              <a:t>-</a:t>
            </a:r>
            <a:r>
              <a:rPr lang="en-US" sz="800" b="1" dirty="0" smtClean="0"/>
              <a:t> Volcanic Ash</a:t>
            </a:r>
            <a:endParaRPr lang="en-US" sz="800" dirty="0" smtClean="0"/>
          </a:p>
          <a:p>
            <a:r>
              <a:rPr lang="en-US" sz="800" dirty="0" smtClean="0"/>
              <a:t>The Working Group for Volcanic Ash published the </a:t>
            </a:r>
            <a:r>
              <a:rPr lang="en-US" sz="800" i="1" dirty="0" smtClean="0"/>
              <a:t>National Volcanic Ash Operations Plan for Aviation and Support of the ICAO International Airways Volcano Watch,</a:t>
            </a:r>
            <a:r>
              <a:rPr lang="en-US" sz="800" dirty="0" smtClean="0"/>
              <a:t> and the OFCM continues to work with the FAA and the USGS on volcano monitoring in Alaska to minimize volcanic ash impacts on aviation.</a:t>
            </a:r>
          </a:p>
          <a:p>
            <a:r>
              <a:rPr lang="en-US" sz="800" dirty="0" smtClean="0"/>
              <a:t>- </a:t>
            </a:r>
            <a:r>
              <a:rPr lang="en-US" sz="800" b="1" dirty="0" smtClean="0"/>
              <a:t>Lightning Data Requirements</a:t>
            </a:r>
            <a:endParaRPr lang="en-US" sz="800" dirty="0" smtClean="0"/>
          </a:p>
          <a:p>
            <a:r>
              <a:rPr lang="en-US" sz="800" dirty="0" smtClean="0"/>
              <a:t>The OFCM coordinated the interagency collection, organization, and prioritization of lightning data requirements used as input to a National Weather Service procurement supporting all of the agencies for lightning data services beginning in 2010.</a:t>
            </a:r>
          </a:p>
          <a:p>
            <a:r>
              <a:rPr lang="en-US" sz="800" dirty="0" smtClean="0"/>
              <a:t>- </a:t>
            </a:r>
            <a:r>
              <a:rPr lang="en-US" sz="800" b="1" dirty="0" smtClean="0"/>
              <a:t>National Operations Plan Updates</a:t>
            </a:r>
            <a:r>
              <a:rPr lang="en-US" sz="800" dirty="0" smtClean="0"/>
              <a:t>  </a:t>
            </a:r>
          </a:p>
          <a:p>
            <a:r>
              <a:rPr lang="en-US" sz="800" dirty="0" smtClean="0"/>
              <a:t>The </a:t>
            </a:r>
            <a:r>
              <a:rPr lang="en-US" sz="800" i="1" dirty="0" smtClean="0"/>
              <a:t>National Severe Local Storms Operations Plan</a:t>
            </a:r>
            <a:r>
              <a:rPr lang="en-US" sz="800" dirty="0" smtClean="0"/>
              <a:t> and the </a:t>
            </a:r>
            <a:r>
              <a:rPr lang="en-US" sz="800" i="1" dirty="0" smtClean="0"/>
              <a:t>National Post-Storm Data Acquisition Plan</a:t>
            </a:r>
            <a:r>
              <a:rPr lang="en-US" sz="800" dirty="0" smtClean="0"/>
              <a:t> are in final draft and coordination.  These plans provide the federal agencies with coordinated, interagency operational guidance in their respective areas of responsibilities.</a:t>
            </a:r>
          </a:p>
          <a:p>
            <a:r>
              <a:rPr lang="en-US" sz="800" dirty="0" smtClean="0"/>
              <a:t>- </a:t>
            </a:r>
            <a:r>
              <a:rPr lang="en-US" sz="800" b="1" dirty="0" smtClean="0"/>
              <a:t>Civil Air Patrol Aerial Support Services</a:t>
            </a:r>
            <a:r>
              <a:rPr lang="en-US" sz="800" dirty="0" smtClean="0"/>
              <a:t>  </a:t>
            </a:r>
          </a:p>
          <a:p>
            <a:r>
              <a:rPr lang="en-US" sz="800" dirty="0" smtClean="0"/>
              <a:t>The OFCM manages an agreement with the Air Force for CAP services for pre- and post-storm damage assessments, hydrology and flooding surveys, and glacier ice dam analysis in Alaska. </a:t>
            </a:r>
          </a:p>
          <a:p>
            <a:r>
              <a:rPr lang="en-US" sz="800" dirty="0" smtClean="0"/>
              <a:t>-</a:t>
            </a:r>
            <a:r>
              <a:rPr lang="en-US" sz="800" b="1" dirty="0" smtClean="0"/>
              <a:t> Annual Interdepartmental Hurricane Conference (IHC)</a:t>
            </a:r>
            <a:endParaRPr lang="en-US" sz="800" dirty="0" smtClean="0"/>
          </a:p>
          <a:p>
            <a:r>
              <a:rPr lang="en-US" sz="800" dirty="0" smtClean="0"/>
              <a:t>The IHC is the single annual venue to bring together all of the federal agencies to address issues, needs, requirements, and priorities for tropical cyclone observing and forecasting, and to assess and improve the end-to-end U.S. warning system.  The agencies address plans and action items and develop the year’s </a:t>
            </a:r>
            <a:r>
              <a:rPr lang="en-US" sz="800" i="1" dirty="0" smtClean="0"/>
              <a:t>National Hurricane Operations Plan</a:t>
            </a:r>
            <a:r>
              <a:rPr lang="en-US" sz="800" dirty="0" smtClean="0"/>
              <a:t>.  Typical attendance is 200 people from 9-12 agencies.</a:t>
            </a:r>
          </a:p>
          <a:p>
            <a:r>
              <a:rPr lang="en-US" sz="800" dirty="0" smtClean="0"/>
              <a:t>-</a:t>
            </a:r>
            <a:r>
              <a:rPr lang="en-US" sz="800" b="1" dirty="0" smtClean="0"/>
              <a:t> Annual Symposium on Space Weather (with American Meteorological Society)</a:t>
            </a:r>
            <a:endParaRPr lang="en-US" sz="800" dirty="0" smtClean="0"/>
          </a:p>
          <a:p>
            <a:r>
              <a:rPr lang="en-US" sz="800" dirty="0" smtClean="0"/>
              <a:t>The symposium provides a venue to share operational improvements, research results, new data sources and products, developments in modeling, and exploration of new spacecraft capabilities.</a:t>
            </a:r>
          </a:p>
          <a:p>
            <a:r>
              <a:rPr lang="en-US" sz="800" dirty="0" smtClean="0"/>
              <a:t>-</a:t>
            </a:r>
            <a:r>
              <a:rPr lang="en-US" sz="800" b="1" dirty="0" smtClean="0"/>
              <a:t> Interagency Plans</a:t>
            </a:r>
            <a:endParaRPr lang="en-US" sz="800" dirty="0" smtClean="0"/>
          </a:p>
          <a:p>
            <a:r>
              <a:rPr lang="en-US" sz="800" dirty="0" smtClean="0"/>
              <a:t>The OFCM’s federal plans represent significant interagency investments to define crosscutting issues, needs, requirements, and priorities and to develop coordinated and collaborative approaches to multi-agency problems.</a:t>
            </a:r>
          </a:p>
          <a:p>
            <a:r>
              <a:rPr lang="en-US" sz="800" dirty="0" smtClean="0"/>
              <a:t>- </a:t>
            </a:r>
            <a:r>
              <a:rPr lang="en-US" sz="800" b="1" dirty="0" smtClean="0"/>
              <a:t>Interagency Reports</a:t>
            </a:r>
            <a:endParaRPr lang="en-US" sz="800" dirty="0" smtClean="0"/>
          </a:p>
          <a:p>
            <a:r>
              <a:rPr lang="en-US" sz="800" dirty="0" smtClean="0"/>
              <a:t>The OFCM’s federal reports assess multi-agency problems, provide crosscutting analyses of activities and issues, and document the status and progress of interagency efforts and programs.</a:t>
            </a:r>
          </a:p>
          <a:p>
            <a:r>
              <a:rPr lang="en-US" sz="800" dirty="0" smtClean="0"/>
              <a:t>-</a:t>
            </a:r>
            <a:r>
              <a:rPr lang="en-US" sz="800" b="1" dirty="0" smtClean="0"/>
              <a:t> Federal Meteorological Handbooks (FMHs)</a:t>
            </a:r>
            <a:endParaRPr lang="en-US" sz="800" dirty="0" smtClean="0"/>
          </a:p>
          <a:p>
            <a:r>
              <a:rPr lang="en-US" sz="800" dirty="0" smtClean="0"/>
              <a:t>The FMHs prescribe standardized and coordinated procedures used by Federal agencies in the collection, recording, and reporting of weather information.  They are also de facto standards for non-federal entities and provide a means to ensure U.S. compliance with necessary international standards as prescribed by the World Meteorological Organization and the International Civil Aviation Organization.</a:t>
            </a:r>
          </a:p>
          <a:p>
            <a:r>
              <a:rPr lang="en-US" sz="800" b="1" dirty="0" smtClean="0"/>
              <a:t>More information and OFCM publications are available at http://www.ofcm.gov/</a:t>
            </a:r>
            <a:endParaRPr lang="en-US" sz="800" dirty="0" smtClean="0"/>
          </a:p>
          <a:p>
            <a:r>
              <a:rPr lang="en-US" sz="800" b="1" dirty="0" smtClean="0"/>
              <a:t> </a:t>
            </a:r>
            <a:endParaRPr lang="en-US" sz="800" dirty="0" smtClean="0"/>
          </a:p>
          <a:p>
            <a:endParaRPr lang="en-US" sz="800" b="1" dirty="0" smtClean="0"/>
          </a:p>
          <a:p>
            <a:r>
              <a:rPr lang="en-US" sz="800" b="1" dirty="0" smtClean="0"/>
              <a:t>Office Marine and Aviation Operations (OMAO) </a:t>
            </a:r>
            <a:r>
              <a:rPr lang="en-US" sz="800" dirty="0" smtClean="0"/>
              <a:t>is the principal manager of NOAA’s wide variety of specialized aircraft and ships.  The goal is to provide critical support for NOAA’s mission by meeting the agency’s data collection requirements that ensures continuous observation of critical environmental conditions.</a:t>
            </a:r>
            <a:br>
              <a:rPr lang="en-US" sz="800" dirty="0" smtClean="0"/>
            </a:br>
            <a:r>
              <a:rPr lang="en-US" sz="800" b="1" u="sng" dirty="0" smtClean="0"/>
              <a:t>Services:</a:t>
            </a:r>
            <a:endParaRPr lang="en-US" sz="800" dirty="0" smtClean="0"/>
          </a:p>
          <a:p>
            <a:r>
              <a:rPr lang="en-US" sz="800" b="1" u="sng" dirty="0" smtClean="0"/>
              <a:t>Ship and Aircraft Services</a:t>
            </a:r>
            <a:r>
              <a:rPr lang="en-US" sz="800" b="1" dirty="0" smtClean="0"/>
              <a:t> </a:t>
            </a:r>
            <a:endParaRPr lang="en-US" sz="800" dirty="0" smtClean="0"/>
          </a:p>
          <a:p>
            <a:r>
              <a:rPr lang="en-US" sz="800" dirty="0" smtClean="0"/>
              <a:t>OMAO provides ship and aircraft programs for continuous observation of critical environmental conditions by:</a:t>
            </a:r>
          </a:p>
          <a:p>
            <a:r>
              <a:rPr lang="en-US" sz="800" dirty="0" smtClean="0"/>
              <a:t>Providing ship and aircraft support in accordance with the Fleet and Aircraft Allocation Plans and project planning schedules;</a:t>
            </a:r>
          </a:p>
          <a:p>
            <a:r>
              <a:rPr lang="en-US" sz="800" dirty="0" smtClean="0"/>
              <a:t>Using effective and efficient approaches to operate and maintain 18 active and 1 inactive NOAA ship and 12 active and 1 inactive NOAA aircraft that provide critical mission support;</a:t>
            </a:r>
          </a:p>
          <a:p>
            <a:r>
              <a:rPr lang="en-US" sz="800" dirty="0" smtClean="0"/>
              <a:t>Upgrading NOAA’s fleet of ships and aircraft in accordance with FY Fleet Replacement funding;</a:t>
            </a:r>
          </a:p>
          <a:p>
            <a:r>
              <a:rPr lang="en-US" sz="800" dirty="0" smtClean="0"/>
              <a:t>Working in partnership with the Programs, continue efforts to acquire and support AUVs and UAS’ equipped with associated sensors to help collect NOAA data; and</a:t>
            </a:r>
          </a:p>
          <a:p>
            <a:r>
              <a:rPr lang="en-US" sz="800" dirty="0" smtClean="0"/>
              <a:t>Establishing OMAO’s role in NOAA’s AUV and UAS programs.</a:t>
            </a:r>
            <a:r>
              <a:rPr lang="en-US" sz="800" u="sng" dirty="0" smtClean="0"/>
              <a:t> </a:t>
            </a:r>
            <a:endParaRPr lang="en-US" sz="800" dirty="0" smtClean="0"/>
          </a:p>
          <a:p>
            <a:r>
              <a:rPr lang="en-US" sz="800" b="1" u="sng" dirty="0" smtClean="0"/>
              <a:t>NOAA Diving Program</a:t>
            </a:r>
            <a:r>
              <a:rPr lang="en-US" sz="800" b="1" dirty="0" smtClean="0"/>
              <a:t> </a:t>
            </a:r>
            <a:endParaRPr lang="en-US" sz="800" dirty="0" smtClean="0"/>
          </a:p>
          <a:p>
            <a:r>
              <a:rPr lang="en-US" sz="800" dirty="0" smtClean="0"/>
              <a:t>OMAO manages the NOAA Diving Program in support of Line Office diving needs by:</a:t>
            </a:r>
          </a:p>
          <a:p>
            <a:pPr lvl="1"/>
            <a:r>
              <a:rPr lang="en-US" sz="800" dirty="0" smtClean="0"/>
              <a:t>Servicing and distributing diving equipment to NOAA personnel;</a:t>
            </a:r>
          </a:p>
          <a:p>
            <a:pPr lvl="1"/>
            <a:r>
              <a:rPr lang="en-US" sz="800" dirty="0" smtClean="0"/>
              <a:t>Providing dive training and certification for NOAA divers and external partners; </a:t>
            </a:r>
          </a:p>
          <a:p>
            <a:pPr lvl="1"/>
            <a:r>
              <a:rPr lang="en-US" sz="800" dirty="0" smtClean="0"/>
              <a:t>Formulating and maintaining policies, procedures, plans and processes needed to train and certify divers; and</a:t>
            </a:r>
          </a:p>
          <a:p>
            <a:pPr lvl="1"/>
            <a:r>
              <a:rPr lang="en-US" sz="800" dirty="0" smtClean="0"/>
              <a:t>Supporting field operations for specialized advanced and/or remote diving operations.</a:t>
            </a:r>
            <a:r>
              <a:rPr lang="en-US" sz="800" u="sng" dirty="0" smtClean="0"/>
              <a:t> </a:t>
            </a:r>
            <a:endParaRPr lang="en-US" sz="800" dirty="0" smtClean="0"/>
          </a:p>
          <a:p>
            <a:r>
              <a:rPr lang="en-US" sz="800" b="1" u="sng" dirty="0" smtClean="0"/>
              <a:t>NOAA Small-Boat Safety Program</a:t>
            </a:r>
            <a:r>
              <a:rPr lang="en-US" sz="800" b="1" dirty="0" smtClean="0"/>
              <a:t> </a:t>
            </a:r>
            <a:endParaRPr lang="en-US" sz="800" dirty="0" smtClean="0"/>
          </a:p>
          <a:p>
            <a:r>
              <a:rPr lang="en-US" sz="800" dirty="0" smtClean="0"/>
              <a:t>OMAO coordinates the NOAA Small-Boat Safety Program by:</a:t>
            </a:r>
          </a:p>
          <a:p>
            <a:pPr lvl="1"/>
            <a:r>
              <a:rPr lang="en-US" sz="800" dirty="0" smtClean="0"/>
              <a:t>Inspecting class 3 and larger boats annually;</a:t>
            </a:r>
          </a:p>
          <a:p>
            <a:pPr lvl="1"/>
            <a:r>
              <a:rPr lang="en-US" sz="800" dirty="0" smtClean="0"/>
              <a:t>Providing engineering assistance;  </a:t>
            </a:r>
          </a:p>
          <a:p>
            <a:pPr lvl="1"/>
            <a:r>
              <a:rPr lang="en-US" sz="800" dirty="0" smtClean="0"/>
              <a:t>Developing small boat training curricula and course presentations;</a:t>
            </a:r>
          </a:p>
          <a:p>
            <a:pPr lvl="1"/>
            <a:r>
              <a:rPr lang="en-US" sz="800" dirty="0" smtClean="0"/>
              <a:t>Formulating and maintaining policies, procedures, plans and processes necessary to promote small boat safety in accordance with NAO 209-125, NOAA Small Boat Safety Program utilizing the Small Boat Safety Board; and</a:t>
            </a:r>
          </a:p>
          <a:p>
            <a:pPr lvl="1"/>
            <a:r>
              <a:rPr lang="en-US" sz="800" dirty="0" smtClean="0"/>
              <a:t>Providing NOAA with a comprehensive plan (budget and resources) showing the needs and outputs to fully fund the safety program.</a:t>
            </a:r>
            <a:r>
              <a:rPr lang="en-US" sz="800" u="sng" dirty="0" smtClean="0"/>
              <a:t> </a:t>
            </a:r>
            <a:endParaRPr lang="en-US" sz="800" dirty="0" smtClean="0"/>
          </a:p>
          <a:p>
            <a:r>
              <a:rPr lang="en-US" sz="800" b="1" u="sng" dirty="0" smtClean="0"/>
              <a:t>NOAA Corps Officers to Support NOAA’s Mission</a:t>
            </a:r>
            <a:r>
              <a:rPr lang="en-US" sz="800" b="1" dirty="0" smtClean="0"/>
              <a:t> </a:t>
            </a:r>
            <a:endParaRPr lang="en-US" sz="800" dirty="0" smtClean="0"/>
          </a:p>
          <a:p>
            <a:r>
              <a:rPr lang="en-US" sz="800" dirty="0" smtClean="0"/>
              <a:t>OMAO recruits and trains NOAA Corps officers to meet NOAA needs by:</a:t>
            </a:r>
          </a:p>
          <a:p>
            <a:pPr lvl="1"/>
            <a:r>
              <a:rPr lang="en-US" sz="800" dirty="0" smtClean="0"/>
              <a:t>Providing NOAA Corps officers for NOAA platforms and to Line Offices;</a:t>
            </a:r>
          </a:p>
          <a:p>
            <a:pPr lvl="1"/>
            <a:r>
              <a:rPr lang="en-US" sz="800" dirty="0" smtClean="0"/>
              <a:t>Recruiting and training NOAA Corps officers through Basic Officer Training Classes (BOTC);</a:t>
            </a:r>
          </a:p>
          <a:p>
            <a:pPr lvl="1"/>
            <a:r>
              <a:rPr lang="en-US" sz="800" dirty="0" smtClean="0"/>
              <a:t>Providing NOAA with a revised Officer Assignment Plan to support NOAA data collection activities; and</a:t>
            </a:r>
          </a:p>
          <a:p>
            <a:pPr lvl="1"/>
            <a:r>
              <a:rPr lang="en-US" sz="800" dirty="0" smtClean="0"/>
              <a:t>Providing NOAA with NOAA Corps salary requirements to establish a funding line for the NOAA Corps within OMAO’s budget.</a:t>
            </a:r>
            <a:r>
              <a:rPr lang="en-US" sz="800" u="sng" dirty="0" smtClean="0"/>
              <a:t> </a:t>
            </a:r>
            <a:endParaRPr lang="en-US" sz="800" dirty="0" smtClean="0"/>
          </a:p>
          <a:p>
            <a:r>
              <a:rPr lang="en-US" sz="800" b="1" u="sng" dirty="0" smtClean="0"/>
              <a:t>NOAA’s Teacher At Sea Program</a:t>
            </a:r>
            <a:r>
              <a:rPr lang="en-US" sz="800" b="1" dirty="0" smtClean="0"/>
              <a:t> </a:t>
            </a:r>
            <a:endParaRPr lang="en-US" sz="800" dirty="0" smtClean="0"/>
          </a:p>
          <a:p>
            <a:r>
              <a:rPr lang="en-US" sz="800" dirty="0" smtClean="0"/>
              <a:t>OMAO partners with the National Marine Fisheries Service and Office of Education to manage the NOAA Teacher at Sea Program (TAS) and pilot Teacher in the Air program in support of NOAA’s outreach and education activities by: </a:t>
            </a:r>
          </a:p>
          <a:p>
            <a:r>
              <a:rPr lang="en-US" sz="800" dirty="0" smtClean="0"/>
              <a:t>Supporting teachers from kindergarten through college levels and from varied backgrounds to participate in the programs;</a:t>
            </a:r>
          </a:p>
          <a:p>
            <a:r>
              <a:rPr lang="en-US" sz="800" dirty="0" smtClean="0"/>
              <a:t>Increasing teachers’ awareness of the maritime and science fields through teacher research experiences; and</a:t>
            </a:r>
          </a:p>
          <a:p>
            <a:r>
              <a:rPr lang="en-US" sz="800" dirty="0" smtClean="0"/>
              <a:t>Identifying, facilitating, and coordinating education-related partnerships with other NOAA Line Offices, schools, institutions of higher learning, educational associations, private industry, and other federal, state, local, and international governments.</a:t>
            </a:r>
            <a:r>
              <a:rPr lang="en-US" sz="800" u="sng" dirty="0" smtClean="0"/>
              <a:t> </a:t>
            </a:r>
            <a:endParaRPr lang="en-US" sz="800" dirty="0" smtClean="0"/>
          </a:p>
          <a:p>
            <a:r>
              <a:rPr lang="en-US" sz="800" b="1" u="sng" dirty="0" smtClean="0"/>
              <a:t>NOAA Aviation Safety Program</a:t>
            </a:r>
            <a:r>
              <a:rPr lang="en-US" sz="800" b="1" dirty="0" smtClean="0"/>
              <a:t> </a:t>
            </a:r>
            <a:endParaRPr lang="en-US" sz="800" dirty="0" smtClean="0"/>
          </a:p>
          <a:p>
            <a:r>
              <a:rPr lang="en-US" sz="800" dirty="0" smtClean="0"/>
              <a:t>OMAO will develop the NOAA Aviation Safety Program in support of Line Office needs by:</a:t>
            </a:r>
          </a:p>
          <a:p>
            <a:r>
              <a:rPr lang="en-US" sz="800" dirty="0" smtClean="0"/>
              <a:t>Formulating and maintaining policies, procedures, plans and processes necessary to promote aviation safety in accordance with NAO 209-124, Aviation Safety Policy utilizing the Aviation Safety Board;</a:t>
            </a:r>
          </a:p>
          <a:p>
            <a:r>
              <a:rPr lang="en-US" sz="800" dirty="0" smtClean="0"/>
              <a:t>Group purchasing, inventorying, and maintaining standardized Aviation Life Support Equipment (ALSE);</a:t>
            </a:r>
          </a:p>
          <a:p>
            <a:r>
              <a:rPr lang="en-US" sz="800" dirty="0" smtClean="0"/>
              <a:t>Providing oversight of an Aviation Life Support Equipment contract;</a:t>
            </a:r>
          </a:p>
          <a:p>
            <a:r>
              <a:rPr lang="en-US" sz="800" dirty="0" smtClean="0"/>
              <a:t>Providing Commercial Aviation Services vendor inspections; </a:t>
            </a:r>
          </a:p>
          <a:p>
            <a:r>
              <a:rPr lang="en-US" sz="800" dirty="0" smtClean="0"/>
              <a:t>Implementing an Aviation Safety Awards program; and</a:t>
            </a:r>
          </a:p>
          <a:p>
            <a:r>
              <a:rPr lang="en-US" sz="800" dirty="0" smtClean="0"/>
              <a:t>Developing and Aviation Safety Medical training module.</a:t>
            </a:r>
          </a:p>
          <a:p>
            <a:r>
              <a:rPr lang="en-US" sz="800" b="1" dirty="0" smtClean="0"/>
              <a:t> </a:t>
            </a:r>
            <a:endParaRPr lang="en-US" sz="800" dirty="0" smtClean="0"/>
          </a:p>
          <a:p>
            <a:r>
              <a:rPr lang="en-US" sz="800" b="1" dirty="0" smtClean="0"/>
              <a:t>Program Coordination Office (PCO) provides staff support to NOAA Leadership and represents</a:t>
            </a:r>
            <a:endParaRPr lang="en-US" sz="800" dirty="0" smtClean="0"/>
          </a:p>
          <a:p>
            <a:r>
              <a:rPr lang="en-US" sz="800" dirty="0" smtClean="0"/>
              <a:t>NOAA leadership in their liaison with NOAA Assistant Administrators and their</a:t>
            </a:r>
          </a:p>
          <a:p>
            <a:r>
              <a:rPr lang="en-US" sz="800" dirty="0" smtClean="0"/>
              <a:t>staffs. </a:t>
            </a:r>
          </a:p>
          <a:p>
            <a:r>
              <a:rPr lang="en-US" sz="800" dirty="0" smtClean="0"/>
              <a:t> </a:t>
            </a:r>
          </a:p>
          <a:p>
            <a:endParaRPr lang="en-US" sz="800" dirty="0" smtClean="0"/>
          </a:p>
          <a:p>
            <a:endParaRPr lang="en-US" sz="800" dirty="0" smtClean="0"/>
          </a:p>
          <a:p>
            <a:endParaRPr lang="en-US" sz="800" dirty="0" smtClean="0"/>
          </a:p>
          <a:p>
            <a:endParaRPr lang="en-US" sz="800"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p:spPr>
        <p:txBody>
          <a:bodyPr/>
          <a:lstStyle/>
          <a:p>
            <a:fld id="{D85B9144-C60B-4CD3-BFFD-A29BDDF7D6E3}" type="slidenum">
              <a:rPr lang="en-US"/>
              <a:pPr/>
              <a:t>13</a:t>
            </a:fld>
            <a:endParaRPr lang="en-US"/>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r>
              <a:rPr lang="en-US"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 Assistant Administrators and offices charged with corporate management functions, such as the Chief Financial Officer and the Chief Administrative Officer.</a:t>
            </a:r>
          </a:p>
          <a:p>
            <a:endParaRPr lang="en-US" b="1" smtClean="0"/>
          </a:p>
          <a:p>
            <a:r>
              <a:rPr lang="en-US" b="1" smtClean="0"/>
              <a:t>Office of the Federal Coordinator for Meteorology (OFCM) </a:t>
            </a:r>
            <a:r>
              <a:rPr lang="en-US" smtClean="0"/>
              <a:t>ensures the effective use of Federal meteorological resources by leading the systematic coordination of operational weather requirements, services, and supporting research among 15 Federal agencies and offices.</a:t>
            </a:r>
          </a:p>
          <a:p>
            <a:r>
              <a:rPr lang="en-US" b="1" u="sng" smtClean="0"/>
              <a:t>Major Outputs</a:t>
            </a:r>
            <a:endParaRPr lang="en-US" smtClean="0"/>
          </a:p>
          <a:p>
            <a:r>
              <a:rPr lang="en-US" smtClean="0"/>
              <a:t>The OFCM facilitates information sharing, planning, coordination, and collaboration through a collection of interagency groups to reduce duplication and maximize performance of the federal weather enterprise.</a:t>
            </a:r>
          </a:p>
          <a:p>
            <a:r>
              <a:rPr lang="en-US" smtClean="0"/>
              <a:t>- </a:t>
            </a:r>
            <a:r>
              <a:rPr lang="en-US" b="1" smtClean="0"/>
              <a:t>Tropical cyclone strategic R&amp;D</a:t>
            </a:r>
            <a:endParaRPr lang="en-US" smtClean="0"/>
          </a:p>
          <a:p>
            <a:r>
              <a:rPr lang="en-US" smtClean="0"/>
              <a:t>The OFCM is moving forward on the priorities outlined in the </a:t>
            </a:r>
            <a:r>
              <a:rPr lang="en-US" i="1" smtClean="0"/>
              <a:t>Interagency Strategic Research Plan for Tropical Cyclones: The Way Ahead</a:t>
            </a:r>
            <a:r>
              <a:rPr lang="en-US" smtClean="0"/>
              <a:t>.  This plan is the foundation for NOAA’s Hurricane Forecast Improvement Project and is the underpinning for NOAA, Navy, NASA, and NSF tropical cyclone research initiatives. </a:t>
            </a:r>
          </a:p>
          <a:p>
            <a:r>
              <a:rPr lang="en-US" smtClean="0"/>
              <a:t>- </a:t>
            </a:r>
            <a:r>
              <a:rPr lang="en-US" b="1" smtClean="0"/>
              <a:t>National Space Weather Program (NSWP)</a:t>
            </a:r>
            <a:endParaRPr lang="en-US" smtClean="0"/>
          </a:p>
          <a:p>
            <a:r>
              <a:rPr lang="en-US" smtClean="0"/>
              <a:t>Space weather involves conditions on the Sun, in space between the Sun and Earth, and on and around Earth that affect technological systems and health.  Recently, the NSWP agencies prepared the Space Weather Implementation Plan for the Grand Challenges in Disaster Reduction and the report </a:t>
            </a:r>
            <a:r>
              <a:rPr lang="en-US" i="1" smtClean="0"/>
              <a:t>Impacts of NPOESS Nunn-McCurdy Certification and Potential Loss of ACE Spacecraft Solar Wind Data on National Space Environmental Monitoring Capabilities</a:t>
            </a:r>
            <a:r>
              <a:rPr lang="en-US" smtClean="0"/>
              <a:t> in response to a request from the Office of Science and Technology Policy.  </a:t>
            </a:r>
          </a:p>
          <a:p>
            <a:r>
              <a:rPr lang="en-US" smtClean="0"/>
              <a:t>- </a:t>
            </a:r>
            <a:r>
              <a:rPr lang="en-US" b="1" smtClean="0"/>
              <a:t>Multifunction Phased Array Radar (MPAR)</a:t>
            </a:r>
            <a:endParaRPr lang="en-US" smtClean="0"/>
          </a:p>
          <a:p>
            <a:r>
              <a:rPr lang="en-US" smtClean="0"/>
              <a:t>This capability has the potential to replace several aging legacy air and weather surveillance radar systems at a significant savings of approximately $5 billion in acquisition and lifecycle costs.  NOAA, the Departments of Defense and Homeland Security, and the Federal Aviation Administration support the MPAR effort.  This multi-agency risk reduction program is critical to assessing capabilities and technical risks in time for an FAA acquisition decision as early as FY2011.</a:t>
            </a:r>
          </a:p>
          <a:p>
            <a:r>
              <a:rPr lang="en-US" smtClean="0"/>
              <a:t>- </a:t>
            </a:r>
            <a:r>
              <a:rPr lang="en-US" b="1" smtClean="0"/>
              <a:t>Weather Information for Surface Transportation (WIST)</a:t>
            </a:r>
            <a:endParaRPr lang="en-US" smtClean="0"/>
          </a:p>
          <a:p>
            <a:r>
              <a:rPr lang="en-US" smtClean="0"/>
              <a:t>In the U.S. alone, there are about 1.5 million weather-related highway crashes per year, with more than 500,000 people injured and more than 5,000 killed.  Weather also adversely affects rail, pipeline, and maritime transportation.  The OFCM established WIST in 1999 and more recently co-hosted the 3rd National Symposium and provided keynote addresses at the 4</a:t>
            </a:r>
            <a:r>
              <a:rPr lang="en-US" baseline="30000" smtClean="0"/>
              <a:t>th</a:t>
            </a:r>
            <a:r>
              <a:rPr lang="en-US" smtClean="0"/>
              <a:t> Symposium as well as the “Safety in Mobility” conference in Velden, Austria.</a:t>
            </a:r>
          </a:p>
          <a:p>
            <a:r>
              <a:rPr lang="en-US" smtClean="0"/>
              <a:t>- </a:t>
            </a:r>
            <a:r>
              <a:rPr lang="en-US" b="1" smtClean="0"/>
              <a:t>National Wildland Fire Weather Needs Assessment</a:t>
            </a:r>
            <a:endParaRPr lang="en-US" smtClean="0"/>
          </a:p>
          <a:p>
            <a:r>
              <a:rPr lang="en-US" smtClean="0"/>
              <a:t>At the request of the Western Governors Association, the OFCM through its Joint Action Group for the Wildland Fire Weather Needs Assessment conducted an extensive survey of the federal agencies and the fire weather community to develop a comprehensive assessment.  </a:t>
            </a:r>
          </a:p>
          <a:p>
            <a:r>
              <a:rPr lang="en-US" smtClean="0"/>
              <a:t>- </a:t>
            </a:r>
            <a:r>
              <a:rPr lang="en-US" b="1" smtClean="0"/>
              <a:t>National Aviation Weather Program (NAWP)</a:t>
            </a:r>
            <a:r>
              <a:rPr lang="en-US" smtClean="0"/>
              <a:t>  </a:t>
            </a:r>
          </a:p>
          <a:p>
            <a:r>
              <a:rPr lang="en-US" smtClean="0"/>
              <a:t>The OFCM evaluated aircraft accident statistics for the 10-year national goal of reducing fatal weather-related aviation accidents by 80 percent.  They are assessing areas needing further work and ways to maintain the success achieved, with a final report to be released in the spring of 2009.  </a:t>
            </a:r>
          </a:p>
          <a:p>
            <a:r>
              <a:rPr lang="en-US" smtClean="0"/>
              <a:t>-</a:t>
            </a:r>
            <a:r>
              <a:rPr lang="en-US" b="1" smtClean="0"/>
              <a:t> Volcanic Ash</a:t>
            </a:r>
            <a:endParaRPr lang="en-US" smtClean="0"/>
          </a:p>
          <a:p>
            <a:r>
              <a:rPr lang="en-US" smtClean="0"/>
              <a:t>The Working Group for Volcanic Ash published the </a:t>
            </a:r>
            <a:r>
              <a:rPr lang="en-US" i="1" smtClean="0"/>
              <a:t>National Volcanic Ash Operations Plan for Aviation and Support of the ICAO International Airways Volcano Watch,</a:t>
            </a:r>
            <a:r>
              <a:rPr lang="en-US" smtClean="0"/>
              <a:t> and the OFCM continues to work with the FAA and the USGS on volcano monitoring in Alaska to minimize volcanic ash impacts on aviation.</a:t>
            </a:r>
          </a:p>
          <a:p>
            <a:r>
              <a:rPr lang="en-US" smtClean="0"/>
              <a:t>- </a:t>
            </a:r>
            <a:r>
              <a:rPr lang="en-US" b="1" smtClean="0"/>
              <a:t>Lightning Data Requirements</a:t>
            </a:r>
            <a:endParaRPr lang="en-US" smtClean="0"/>
          </a:p>
          <a:p>
            <a:r>
              <a:rPr lang="en-US" smtClean="0"/>
              <a:t>The OFCM coordinated the interagency collection, organization, and prioritization of lightning data requirements used as input to a National Weather Service procurement supporting all of the agencies for lightning data services beginning in 2010.</a:t>
            </a:r>
          </a:p>
          <a:p>
            <a:r>
              <a:rPr lang="en-US" smtClean="0"/>
              <a:t>- </a:t>
            </a:r>
            <a:r>
              <a:rPr lang="en-US" b="1" smtClean="0"/>
              <a:t>National Operations Plan Updates</a:t>
            </a:r>
            <a:r>
              <a:rPr lang="en-US" smtClean="0"/>
              <a:t>  </a:t>
            </a:r>
          </a:p>
          <a:p>
            <a:r>
              <a:rPr lang="en-US" smtClean="0"/>
              <a:t>The </a:t>
            </a:r>
            <a:r>
              <a:rPr lang="en-US" i="1" smtClean="0"/>
              <a:t>National Severe Local Storms Operations Plan</a:t>
            </a:r>
            <a:r>
              <a:rPr lang="en-US" smtClean="0"/>
              <a:t> and the </a:t>
            </a:r>
            <a:r>
              <a:rPr lang="en-US" i="1" smtClean="0"/>
              <a:t>National Post-Storm Data Acquisition Plan</a:t>
            </a:r>
            <a:r>
              <a:rPr lang="en-US" smtClean="0"/>
              <a:t> are in final draft and coordination.  These plans provide the federal agencies with coordinated, interagency operational guidance in their respective areas of responsibilities.</a:t>
            </a:r>
          </a:p>
          <a:p>
            <a:r>
              <a:rPr lang="en-US" smtClean="0"/>
              <a:t>- </a:t>
            </a:r>
            <a:r>
              <a:rPr lang="en-US" b="1" smtClean="0"/>
              <a:t>Civil Air Patrol Aerial Support Services</a:t>
            </a:r>
            <a:r>
              <a:rPr lang="en-US" smtClean="0"/>
              <a:t>  </a:t>
            </a:r>
          </a:p>
          <a:p>
            <a:r>
              <a:rPr lang="en-US" smtClean="0"/>
              <a:t>The OFCM manages an agreement with the Air Force for CAP services for pre- and post-storm damage assessments, hydrology and flooding surveys, and glacier ice dam analysis in Alaska. </a:t>
            </a:r>
          </a:p>
          <a:p>
            <a:r>
              <a:rPr lang="en-US" smtClean="0"/>
              <a:t>-</a:t>
            </a:r>
            <a:r>
              <a:rPr lang="en-US" b="1" smtClean="0"/>
              <a:t> Annual Interdepartmental Hurricane Conference (IHC)</a:t>
            </a:r>
            <a:endParaRPr lang="en-US" smtClean="0"/>
          </a:p>
          <a:p>
            <a:r>
              <a:rPr lang="en-US" smtClean="0"/>
              <a:t>The IHC is the single annual venue to bring together all of the federal agencies to address issues, needs, requirements, and priorities for tropical cyclone observing and forecasting, and to assess and improve the end-to-end U.S. warning system.  The agencies address plans and action items and develop the year’s </a:t>
            </a:r>
            <a:r>
              <a:rPr lang="en-US" i="1" smtClean="0"/>
              <a:t>National Hurricane Operations Plan</a:t>
            </a:r>
            <a:r>
              <a:rPr lang="en-US" smtClean="0"/>
              <a:t>.  Typical attendance is 200 people from 9-12 agencies.</a:t>
            </a:r>
          </a:p>
          <a:p>
            <a:r>
              <a:rPr lang="en-US" smtClean="0"/>
              <a:t>-</a:t>
            </a:r>
            <a:r>
              <a:rPr lang="en-US" b="1" smtClean="0"/>
              <a:t> Annual Symposium on Space Weather (with American Meteorological Society)</a:t>
            </a:r>
            <a:endParaRPr lang="en-US" smtClean="0"/>
          </a:p>
          <a:p>
            <a:r>
              <a:rPr lang="en-US" smtClean="0"/>
              <a:t>The symposium provides a venue to share operational improvements, research results, new data sources and products, developments in modeling, and exploration of new spacecraft capabilities.</a:t>
            </a:r>
          </a:p>
          <a:p>
            <a:r>
              <a:rPr lang="en-US" smtClean="0"/>
              <a:t>-</a:t>
            </a:r>
            <a:r>
              <a:rPr lang="en-US" b="1" smtClean="0"/>
              <a:t> Interagency Plans</a:t>
            </a:r>
            <a:endParaRPr lang="en-US" smtClean="0"/>
          </a:p>
          <a:p>
            <a:r>
              <a:rPr lang="en-US" smtClean="0"/>
              <a:t>The OFCM’s federal plans represent significant interagency investments to define crosscutting issues, needs, requirements, and priorities and to develop coordinated and collaborative approaches to multi-agency problems.</a:t>
            </a:r>
          </a:p>
          <a:p>
            <a:r>
              <a:rPr lang="en-US" smtClean="0"/>
              <a:t>- </a:t>
            </a:r>
            <a:r>
              <a:rPr lang="en-US" b="1" smtClean="0"/>
              <a:t>Interagency Reports</a:t>
            </a:r>
            <a:endParaRPr lang="en-US" smtClean="0"/>
          </a:p>
          <a:p>
            <a:r>
              <a:rPr lang="en-US" smtClean="0"/>
              <a:t>The OFCM’s federal reports assess multi-agency problems, provide crosscutting analyses of activities and issues, and document the status and progress of interagency efforts and programs.</a:t>
            </a:r>
          </a:p>
          <a:p>
            <a:r>
              <a:rPr lang="en-US" smtClean="0"/>
              <a:t>-</a:t>
            </a:r>
            <a:r>
              <a:rPr lang="en-US" b="1" smtClean="0"/>
              <a:t> Federal Meteorological Handbooks (FMHs)</a:t>
            </a:r>
            <a:endParaRPr lang="en-US" smtClean="0"/>
          </a:p>
          <a:p>
            <a:r>
              <a:rPr lang="en-US" smtClean="0"/>
              <a:t>The FMHs prescribe standardized and coordinated procedures used by Federal agencies in the collection, recording, and reporting of weather information.  They are also de facto standards for non-federal entities and provide a means to ensure U.S. compliance with necessary international standards as prescribed by the World Meteorological Organization and the International Civil Aviation Organization.</a:t>
            </a:r>
          </a:p>
          <a:p>
            <a:r>
              <a:rPr lang="en-US" b="1" smtClean="0"/>
              <a:t>More information and OFCM publications are available at http://www.ofcm.gov/</a:t>
            </a:r>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C5417DBC-4B58-428E-9AD9-27D28082B277}" type="slidenum">
              <a:rPr lang="en-US" smtClean="0"/>
              <a:pPr/>
              <a:t>14</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dirty="0" smtClean="0"/>
              <a:t>NOAA’s Corporate Functions, also commonly known as Staff Offices (SOs), develop the strategic direction for the agency and lead the management of resources and delivery of services. The major elements of the corporate structure include the offices of the Administrator, the Deputy and</a:t>
            </a:r>
          </a:p>
          <a:p>
            <a:r>
              <a:rPr lang="en-US" dirty="0" smtClean="0"/>
              <a:t>Assistant Administrators and offices charged with corporate management functions, such as the Chief Financial Officer and the Chief Administrative Officer.</a:t>
            </a:r>
          </a:p>
          <a:p>
            <a:endParaRPr lang="en-US" b="1" dirty="0" smtClean="0"/>
          </a:p>
          <a:p>
            <a:r>
              <a:rPr lang="en-US" b="1" dirty="0" smtClean="0"/>
              <a:t>Acquisition and Grants Office (AGO) reviews solicitations for grant applications, processes</a:t>
            </a:r>
            <a:endParaRPr lang="en-US" dirty="0" smtClean="0"/>
          </a:p>
          <a:p>
            <a:r>
              <a:rPr lang="en-US" dirty="0" smtClean="0"/>
              <a:t>applications, negotiates awards, manages administrative and financial aspects of awards,</a:t>
            </a:r>
          </a:p>
          <a:p>
            <a:r>
              <a:rPr lang="en-US" dirty="0" smtClean="0"/>
              <a:t>monitors progress against expenditures, resolves audit problems, and closes out awards as</a:t>
            </a:r>
          </a:p>
          <a:p>
            <a:r>
              <a:rPr lang="en-US" dirty="0" smtClean="0"/>
              <a:t>projects are completed. www.ago.noaa.gov</a:t>
            </a:r>
          </a:p>
          <a:p>
            <a:endParaRPr lang="en-US" b="1" u="sng" dirty="0" smtClean="0"/>
          </a:p>
          <a:p>
            <a:r>
              <a:rPr lang="en-US" b="1" u="sng" dirty="0" smtClean="0"/>
              <a:t>Major Outputs</a:t>
            </a:r>
            <a:r>
              <a:rPr lang="en-US" dirty="0" smtClean="0"/>
              <a:t> </a:t>
            </a:r>
          </a:p>
          <a:p>
            <a:r>
              <a:rPr lang="en-US" dirty="0" smtClean="0"/>
              <a:t>The NOAA Acquisition and Grants Office (AGO) is a corporate activity to purchase quality goods and services at a reasonable price from external vendors and to administer financial assistance awards (grants) to qualified recipients in support of NOAA’s mission.</a:t>
            </a:r>
          </a:p>
          <a:p>
            <a:r>
              <a:rPr lang="en-US" dirty="0" smtClean="0"/>
              <a:t> </a:t>
            </a:r>
          </a:p>
          <a:p>
            <a:r>
              <a:rPr lang="en-US" b="1" dirty="0" smtClean="0"/>
              <a:t>Acquisition Service Operations</a:t>
            </a:r>
            <a:r>
              <a:rPr lang="en-US" dirty="0" smtClean="0"/>
              <a:t> </a:t>
            </a:r>
          </a:p>
          <a:p>
            <a:r>
              <a:rPr lang="en-US" dirty="0" smtClean="0"/>
              <a:t>The purpose of this activity is to purchase gods and services through the use of contracts, simplified acquisition procedures, Bankcard transactions and interagency agreements and memoranda of understanding. These purchases are requested by each NOAA customer as specified by their requirements and are subject to all applicable federal laws, policies and regulations related to procurement. Simplified acquisitions procedures provide streamlined techniques to reduce the administrative burden of awarding lower dollar value or commercially available item procurements that account for the majority of purchases. Bankcards are issued to authorized government employees and typically can be used for purchases up to $2500 per month.</a:t>
            </a:r>
          </a:p>
          <a:p>
            <a:r>
              <a:rPr lang="en-US" dirty="0" smtClean="0"/>
              <a:t>During FY 2007, AGO successfully completed 14,283 procurement transactions worth a total value of $1.1445 billion. </a:t>
            </a:r>
          </a:p>
          <a:p>
            <a:r>
              <a:rPr lang="en-US" dirty="0" smtClean="0"/>
              <a:t> </a:t>
            </a:r>
          </a:p>
          <a:p>
            <a:r>
              <a:rPr lang="en-US" b="1" dirty="0" smtClean="0"/>
              <a:t>Financial Assistance Service Operations</a:t>
            </a:r>
            <a:r>
              <a:rPr lang="en-US" dirty="0" smtClean="0"/>
              <a:t> </a:t>
            </a:r>
          </a:p>
          <a:p>
            <a:r>
              <a:rPr lang="en-US" dirty="0" smtClean="0"/>
              <a:t>The purpose of this activity it to provide technical and administrative support to NOAA programs that give financial assistance (authorized by statute) to a wide variety of non-federal recipients to produce results intended to enhance NOAA’s mission. This support involves all phases of the grant administration process including pre-award actions such as providing technical guidance during initial pre-selection activities, announcing and publishing requests for grant applications, conducting administrative review and award of recommended applications, monitoring award progress and terms and conditions and closing out of completed grant awards.</a:t>
            </a:r>
          </a:p>
          <a:p>
            <a:r>
              <a:rPr lang="en-US" dirty="0" smtClean="0"/>
              <a:t> During FY 2007, AGO issued 1,955 grant awards worth a total of $ 924 million.</a:t>
            </a:r>
          </a:p>
          <a:p>
            <a:endParaRPr lang="en-US" sz="800" dirty="0" smtClean="0"/>
          </a:p>
          <a:p>
            <a:endParaRPr lang="en-US" sz="1000" dirty="0" smtClean="0"/>
          </a:p>
          <a:p>
            <a:endParaRPr lang="en-US" sz="1000"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5CCD6D47-5263-40ED-9463-1AD87C549D65}" type="slidenum">
              <a:rPr lang="en-US" smtClean="0"/>
              <a:pPr/>
              <a:t>15</a:t>
            </a:fld>
            <a:endParaRPr lang="en-US"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b="1" dirty="0" smtClean="0"/>
              <a:t> </a:t>
            </a:r>
          </a:p>
          <a:p>
            <a:r>
              <a:rPr lang="en-US" b="1" dirty="0" smtClean="0"/>
              <a:t>Office Marine and Aviation Operations (OMAO) </a:t>
            </a:r>
            <a:r>
              <a:rPr lang="en-US" dirty="0" smtClean="0"/>
              <a:t>is the principal manager of NOAA’s wide variety of specialized aircraft and ships.  The goal is to provide critical support for NOAA’s mission by meeting the agency’s data collection requirements that ensures continuous observation of critical environmental conditions.</a:t>
            </a:r>
            <a:br>
              <a:rPr lang="en-US" dirty="0" smtClean="0"/>
            </a:br>
            <a:r>
              <a:rPr lang="en-US" b="1" u="sng" dirty="0" smtClean="0"/>
              <a:t>Services:</a:t>
            </a:r>
            <a:endParaRPr lang="en-US" dirty="0" smtClean="0"/>
          </a:p>
          <a:p>
            <a:r>
              <a:rPr lang="en-US" b="1" u="sng" dirty="0" smtClean="0"/>
              <a:t>Ship and Aircraft Services</a:t>
            </a:r>
            <a:r>
              <a:rPr lang="en-US" b="1" dirty="0" smtClean="0"/>
              <a:t> </a:t>
            </a:r>
            <a:endParaRPr lang="en-US" dirty="0" smtClean="0"/>
          </a:p>
          <a:p>
            <a:r>
              <a:rPr lang="en-US" dirty="0" smtClean="0"/>
              <a:t>OMAO provides ship and aircraft programs for continuous observation of critical environmental conditions by:</a:t>
            </a:r>
          </a:p>
          <a:p>
            <a:r>
              <a:rPr lang="en-US" dirty="0" smtClean="0"/>
              <a:t>Providing ship and aircraft support in accordance with the Fleet and Aircraft Allocation Plans and project planning schedules;</a:t>
            </a:r>
          </a:p>
          <a:p>
            <a:r>
              <a:rPr lang="en-US" dirty="0" smtClean="0"/>
              <a:t>Using effective and efficient approaches to operate and maintain 18 active and 1 inactive NOAA ship and 12 active and 1 inactive NOAA aircraft that provide critical mission support;</a:t>
            </a:r>
          </a:p>
          <a:p>
            <a:r>
              <a:rPr lang="en-US" dirty="0" smtClean="0"/>
              <a:t>Upgrading NOAA’s fleet of ships and aircraft in accordance with FY Fleet Replacement funding;</a:t>
            </a:r>
          </a:p>
          <a:p>
            <a:r>
              <a:rPr lang="en-US" dirty="0" smtClean="0"/>
              <a:t>Working in partnership with the Programs, continue efforts to acquire and support AUVs and UAS’ equipped with associated sensors to help collect NOAA data; and</a:t>
            </a:r>
          </a:p>
          <a:p>
            <a:r>
              <a:rPr lang="en-US" dirty="0" smtClean="0"/>
              <a:t>Establishing OMAO’s role in NOAA’s AUV and UAS programs.</a:t>
            </a:r>
            <a:r>
              <a:rPr lang="en-US" u="sng" dirty="0" smtClean="0"/>
              <a:t> </a:t>
            </a:r>
            <a:endParaRPr lang="en-US" dirty="0" smtClean="0"/>
          </a:p>
          <a:p>
            <a:r>
              <a:rPr lang="en-US" b="1" u="sng" dirty="0" smtClean="0"/>
              <a:t>NOAA Diving Program</a:t>
            </a:r>
            <a:r>
              <a:rPr lang="en-US" b="1" dirty="0" smtClean="0"/>
              <a:t> </a:t>
            </a:r>
            <a:endParaRPr lang="en-US" dirty="0" smtClean="0"/>
          </a:p>
          <a:p>
            <a:r>
              <a:rPr lang="en-US" dirty="0" smtClean="0"/>
              <a:t>OMAO manages the NOAA Diving Program in support of Line Office diving needs by:</a:t>
            </a:r>
          </a:p>
          <a:p>
            <a:pPr lvl="1"/>
            <a:r>
              <a:rPr lang="en-US" dirty="0" smtClean="0"/>
              <a:t>Servicing and distributing diving equipment to NOAA personnel;</a:t>
            </a:r>
          </a:p>
          <a:p>
            <a:pPr lvl="1"/>
            <a:r>
              <a:rPr lang="en-US" dirty="0" smtClean="0"/>
              <a:t>Providing dive training and certification for NOAA divers and external partners; </a:t>
            </a:r>
          </a:p>
          <a:p>
            <a:pPr lvl="1"/>
            <a:r>
              <a:rPr lang="en-US" dirty="0" smtClean="0"/>
              <a:t>Formulating and maintaining policies, procedures, plans and processes needed to train and certify divers; and</a:t>
            </a:r>
          </a:p>
          <a:p>
            <a:pPr lvl="1"/>
            <a:r>
              <a:rPr lang="en-US" dirty="0" smtClean="0"/>
              <a:t>Supporting field operations for specialized advanced and/or remote diving operations.</a:t>
            </a:r>
            <a:r>
              <a:rPr lang="en-US" u="sng" dirty="0" smtClean="0"/>
              <a:t> </a:t>
            </a:r>
            <a:endParaRPr lang="en-US" dirty="0" smtClean="0"/>
          </a:p>
          <a:p>
            <a:r>
              <a:rPr lang="en-US" b="1" u="sng" dirty="0" smtClean="0"/>
              <a:t>NOAA Small-Boat Safety Program</a:t>
            </a:r>
            <a:r>
              <a:rPr lang="en-US" b="1" dirty="0" smtClean="0"/>
              <a:t> </a:t>
            </a:r>
            <a:endParaRPr lang="en-US" dirty="0" smtClean="0"/>
          </a:p>
          <a:p>
            <a:r>
              <a:rPr lang="en-US" dirty="0" smtClean="0"/>
              <a:t>OMAO coordinates the NOAA Small-Boat Safety Program by:</a:t>
            </a:r>
          </a:p>
          <a:p>
            <a:pPr lvl="1"/>
            <a:r>
              <a:rPr lang="en-US" dirty="0" smtClean="0"/>
              <a:t>Inspecting class 3 and larger boats annually;</a:t>
            </a:r>
          </a:p>
          <a:p>
            <a:pPr lvl="1"/>
            <a:r>
              <a:rPr lang="en-US" dirty="0" smtClean="0"/>
              <a:t>Providing engineering assistance;  </a:t>
            </a:r>
          </a:p>
          <a:p>
            <a:pPr lvl="1"/>
            <a:r>
              <a:rPr lang="en-US" dirty="0" smtClean="0"/>
              <a:t>Developing small boat training curricula and course presentations;</a:t>
            </a:r>
          </a:p>
          <a:p>
            <a:pPr lvl="1"/>
            <a:r>
              <a:rPr lang="en-US" dirty="0" smtClean="0"/>
              <a:t>Formulating and maintaining policies, procedures, plans and processes necessary to promote small boat safety in accordance with NAO 209-125, NOAA Small Boat Safety Program utilizing the Small Boat Safety Board; and</a:t>
            </a:r>
          </a:p>
          <a:p>
            <a:pPr lvl="1"/>
            <a:r>
              <a:rPr lang="en-US" dirty="0" smtClean="0"/>
              <a:t>Providing NOAA with a comprehensive plan (budget and resources) showing the needs and outputs to fully fund the safety program.</a:t>
            </a:r>
            <a:r>
              <a:rPr lang="en-US" u="sng" dirty="0" smtClean="0"/>
              <a:t> </a:t>
            </a:r>
            <a:endParaRPr lang="en-US" dirty="0" smtClean="0"/>
          </a:p>
          <a:p>
            <a:r>
              <a:rPr lang="en-US" b="1" u="sng" dirty="0" smtClean="0"/>
              <a:t>NOAA Corps Officers to Support NOAA’s Mission</a:t>
            </a:r>
            <a:r>
              <a:rPr lang="en-US" b="1" dirty="0" smtClean="0"/>
              <a:t> </a:t>
            </a:r>
            <a:endParaRPr lang="en-US" dirty="0" smtClean="0"/>
          </a:p>
          <a:p>
            <a:r>
              <a:rPr lang="en-US" dirty="0" smtClean="0"/>
              <a:t>OMAO recruits and trains NOAA Corps officers to meet NOAA needs by:</a:t>
            </a:r>
          </a:p>
          <a:p>
            <a:pPr lvl="1"/>
            <a:r>
              <a:rPr lang="en-US" dirty="0" smtClean="0"/>
              <a:t>Providing NOAA Corps officers for NOAA platforms and to Line Offices;</a:t>
            </a:r>
          </a:p>
          <a:p>
            <a:pPr lvl="1"/>
            <a:r>
              <a:rPr lang="en-US" dirty="0" smtClean="0"/>
              <a:t>Recruiting and training NOAA Corps officers through Basic Officer Training Classes (BOTC);</a:t>
            </a:r>
          </a:p>
          <a:p>
            <a:pPr lvl="1"/>
            <a:r>
              <a:rPr lang="en-US" dirty="0" smtClean="0"/>
              <a:t>Providing NOAA with a revised Officer Assignment Plan to support NOAA data collection activities; and</a:t>
            </a:r>
          </a:p>
          <a:p>
            <a:pPr lvl="1"/>
            <a:r>
              <a:rPr lang="en-US" dirty="0" smtClean="0"/>
              <a:t>Providing NOAA with NOAA Corps salary requirements to establish a funding line for the NOAA Corps within OMAO’s budget.</a:t>
            </a:r>
            <a:r>
              <a:rPr lang="en-US" u="sng" dirty="0" smtClean="0"/>
              <a:t> </a:t>
            </a:r>
            <a:endParaRPr lang="en-US" dirty="0" smtClean="0"/>
          </a:p>
          <a:p>
            <a:r>
              <a:rPr lang="en-US" b="1" u="sng" dirty="0" smtClean="0"/>
              <a:t>NOAA’s Teacher At Sea Program</a:t>
            </a:r>
            <a:r>
              <a:rPr lang="en-US" b="1" dirty="0" smtClean="0"/>
              <a:t> </a:t>
            </a:r>
            <a:endParaRPr lang="en-US" dirty="0" smtClean="0"/>
          </a:p>
          <a:p>
            <a:r>
              <a:rPr lang="en-US" dirty="0" smtClean="0"/>
              <a:t>OMAO partners with the National Marine Fisheries Service and Office of Education to manage the NOAA Teacher at Sea Program (TAS) and pilot Teacher in the Air program in support of NOAA’s outreach and education activities by: </a:t>
            </a:r>
          </a:p>
          <a:p>
            <a:r>
              <a:rPr lang="en-US" dirty="0" smtClean="0"/>
              <a:t>Supporting teachers from kindergarten through college levels and from varied backgrounds to participate in the programs;</a:t>
            </a:r>
          </a:p>
          <a:p>
            <a:r>
              <a:rPr lang="en-US" dirty="0" smtClean="0"/>
              <a:t>Increasing teachers’ awareness of the maritime and science fields through teacher research experiences; and</a:t>
            </a:r>
          </a:p>
          <a:p>
            <a:r>
              <a:rPr lang="en-US" dirty="0" smtClean="0"/>
              <a:t>Identifying, facilitating, and coordinating education-related partnerships with other NOAA Line Offices, schools, institutions of higher learning, educational associations, private industry, and other federal, state, local, and international governments.</a:t>
            </a:r>
            <a:r>
              <a:rPr lang="en-US" u="sng" dirty="0" smtClean="0"/>
              <a:t> </a:t>
            </a:r>
            <a:endParaRPr lang="en-US" dirty="0" smtClean="0"/>
          </a:p>
          <a:p>
            <a:r>
              <a:rPr lang="en-US" b="1" u="sng" dirty="0" smtClean="0"/>
              <a:t>NOAA Aviation Safety Program</a:t>
            </a:r>
            <a:r>
              <a:rPr lang="en-US" b="1" dirty="0" smtClean="0"/>
              <a:t> </a:t>
            </a:r>
            <a:endParaRPr lang="en-US" dirty="0" smtClean="0"/>
          </a:p>
          <a:p>
            <a:r>
              <a:rPr lang="en-US" dirty="0" smtClean="0"/>
              <a:t>OMAO will develop the NOAA Aviation Safety Program in support of Line Office needs by:</a:t>
            </a:r>
          </a:p>
          <a:p>
            <a:r>
              <a:rPr lang="en-US" dirty="0" smtClean="0"/>
              <a:t>Formulating and maintaining policies, procedures, plans and processes necessary to promote aviation safety in accordance with NAO 209-124, Aviation Safety Policy utilizing the Aviation Safety Board;</a:t>
            </a:r>
          </a:p>
          <a:p>
            <a:r>
              <a:rPr lang="en-US" dirty="0" smtClean="0"/>
              <a:t>Group purchasing, inventorying, and maintaining standardized Aviation Life Support Equipment (ALSE);</a:t>
            </a:r>
          </a:p>
          <a:p>
            <a:r>
              <a:rPr lang="en-US" dirty="0" smtClean="0"/>
              <a:t>Providing oversight of an Aviation Life Support Equipment contract;</a:t>
            </a:r>
          </a:p>
          <a:p>
            <a:r>
              <a:rPr lang="en-US" dirty="0" smtClean="0"/>
              <a:t>Providing Commercial Aviation Services vendor inspections; </a:t>
            </a:r>
          </a:p>
          <a:p>
            <a:r>
              <a:rPr lang="en-US" dirty="0" smtClean="0"/>
              <a:t>Implementing an Aviation Safety Awards program; and</a:t>
            </a:r>
          </a:p>
          <a:p>
            <a:r>
              <a:rPr lang="en-US" dirty="0" smtClean="0"/>
              <a:t>Developing and Aviation Safety Medical training module.</a:t>
            </a:r>
            <a:endParaRPr lang="en-US" sz="800" dirty="0" smtClean="0"/>
          </a:p>
          <a:p>
            <a:endParaRPr lang="en-US" sz="1000" dirty="0" smtClean="0"/>
          </a:p>
          <a:p>
            <a:endParaRPr lang="en-US" sz="1000"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lvl1pPr>
              <a:spcBef>
                <a:spcPts val="1800"/>
              </a:spcBef>
              <a:defRPr/>
            </a:lvl1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NOAA’s Transition Package: November 4, 2008</a:t>
            </a:r>
            <a:endParaRPr lang="en-US"/>
          </a:p>
        </p:txBody>
      </p:sp>
      <p:sp>
        <p:nvSpPr>
          <p:cNvPr id="6" name="Slide Number Placeholder 5"/>
          <p:cNvSpPr>
            <a:spLocks noGrp="1"/>
          </p:cNvSpPr>
          <p:nvPr>
            <p:ph type="sldNum" sz="quarter" idx="12"/>
          </p:nvPr>
        </p:nvSpPr>
        <p:spPr/>
        <p:txBody>
          <a:bodyPr/>
          <a:lstStyle/>
          <a:p>
            <a:pPr>
              <a:defRPr/>
            </a:pPr>
            <a:fld id="{FA233178-56B9-446C-BFCD-37F9D38B5CD0}" type="slidenum">
              <a:rPr lang="en-US" smtClean="0"/>
              <a:pPr>
                <a:defRPr/>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5" name="Text Placeholder 12"/>
          <p:cNvSpPr>
            <a:spLocks noGrp="1"/>
          </p:cNvSpPr>
          <p:nvPr>
            <p:ph type="body" sz="quarter" idx="20"/>
          </p:nvPr>
        </p:nvSpPr>
        <p:spPr>
          <a:xfrm>
            <a:off x="5486400" y="1295400"/>
            <a:ext cx="1752600" cy="1752600"/>
          </a:xfrm>
        </p:spPr>
        <p:txBody>
          <a:bodyPr>
            <a:normAutofit/>
          </a:bodyPr>
          <a:lstStyle>
            <a:lvl1pPr>
              <a:defRPr sz="1600" b="1"/>
            </a:lvl1pPr>
          </a:lstStyle>
          <a:p>
            <a:pPr lvl="0"/>
            <a:r>
              <a:rPr lang="en-US" dirty="0" smtClean="0"/>
              <a:t>Click to edit Master text styles</a:t>
            </a:r>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Picture Placeholder 6"/>
          <p:cNvSpPr>
            <a:spLocks noGrp="1"/>
          </p:cNvSpPr>
          <p:nvPr>
            <p:ph type="pic" sz="quarter" idx="13"/>
          </p:nvPr>
        </p:nvSpPr>
        <p:spPr>
          <a:xfrm>
            <a:off x="152400" y="1295400"/>
            <a:ext cx="1752600" cy="1752600"/>
          </a:xfrm>
        </p:spPr>
        <p:txBody>
          <a:bodyPr/>
          <a:lstStyle/>
          <a:p>
            <a:endParaRPr lang="en-US"/>
          </a:p>
        </p:txBody>
      </p:sp>
      <p:sp>
        <p:nvSpPr>
          <p:cNvPr id="8" name="Picture Placeholder 6"/>
          <p:cNvSpPr>
            <a:spLocks noGrp="1"/>
          </p:cNvSpPr>
          <p:nvPr>
            <p:ph type="pic" sz="quarter" idx="14"/>
          </p:nvPr>
        </p:nvSpPr>
        <p:spPr>
          <a:xfrm>
            <a:off x="3695700" y="1295400"/>
            <a:ext cx="1752600" cy="1752600"/>
          </a:xfrm>
        </p:spPr>
        <p:txBody>
          <a:bodyPr/>
          <a:lstStyle/>
          <a:p>
            <a:endParaRPr lang="en-US"/>
          </a:p>
        </p:txBody>
      </p:sp>
      <p:sp>
        <p:nvSpPr>
          <p:cNvPr id="9" name="Picture Placeholder 6"/>
          <p:cNvSpPr>
            <a:spLocks noGrp="1"/>
          </p:cNvSpPr>
          <p:nvPr>
            <p:ph type="pic" sz="quarter" idx="15"/>
          </p:nvPr>
        </p:nvSpPr>
        <p:spPr>
          <a:xfrm>
            <a:off x="7251700" y="1295400"/>
            <a:ext cx="1752600" cy="1752600"/>
          </a:xfrm>
        </p:spPr>
        <p:txBody>
          <a:bodyPr/>
          <a:lstStyle/>
          <a:p>
            <a:endParaRPr lang="en-US"/>
          </a:p>
        </p:txBody>
      </p:sp>
      <p:sp>
        <p:nvSpPr>
          <p:cNvPr id="10" name="Picture Placeholder 6"/>
          <p:cNvSpPr>
            <a:spLocks noGrp="1"/>
          </p:cNvSpPr>
          <p:nvPr>
            <p:ph type="pic" sz="quarter" idx="16"/>
          </p:nvPr>
        </p:nvSpPr>
        <p:spPr>
          <a:xfrm>
            <a:off x="127000" y="3886200"/>
            <a:ext cx="1752600" cy="1752600"/>
          </a:xfrm>
        </p:spPr>
        <p:txBody>
          <a:bodyPr/>
          <a:lstStyle/>
          <a:p>
            <a:endParaRPr lang="en-US" dirty="0"/>
          </a:p>
        </p:txBody>
      </p:sp>
      <p:sp>
        <p:nvSpPr>
          <p:cNvPr id="11" name="Picture Placeholder 6"/>
          <p:cNvSpPr>
            <a:spLocks noGrp="1"/>
          </p:cNvSpPr>
          <p:nvPr>
            <p:ph type="pic" sz="quarter" idx="17"/>
          </p:nvPr>
        </p:nvSpPr>
        <p:spPr>
          <a:xfrm>
            <a:off x="5486400" y="3886200"/>
            <a:ext cx="1752600" cy="1752600"/>
          </a:xfrm>
        </p:spPr>
        <p:txBody>
          <a:bodyPr/>
          <a:lstStyle/>
          <a:p>
            <a:endParaRPr lang="en-US"/>
          </a:p>
        </p:txBody>
      </p:sp>
      <p:sp>
        <p:nvSpPr>
          <p:cNvPr id="13" name="Text Placeholder 12"/>
          <p:cNvSpPr>
            <a:spLocks noGrp="1"/>
          </p:cNvSpPr>
          <p:nvPr>
            <p:ph type="body" sz="quarter" idx="18"/>
          </p:nvPr>
        </p:nvSpPr>
        <p:spPr>
          <a:xfrm>
            <a:off x="1905000" y="1295400"/>
            <a:ext cx="1752600" cy="1752600"/>
          </a:xfrm>
        </p:spPr>
        <p:txBody>
          <a:bodyPr>
            <a:normAutofit/>
          </a:bodyPr>
          <a:lstStyle>
            <a:lvl1pPr>
              <a:defRPr sz="1600" b="1"/>
            </a:lvl1pPr>
          </a:lstStyle>
          <a:p>
            <a:pPr lvl="0"/>
            <a:r>
              <a:rPr lang="en-US" dirty="0" smtClean="0"/>
              <a:t>Click to edit Master text styles</a:t>
            </a:r>
          </a:p>
        </p:txBody>
      </p:sp>
      <p:sp>
        <p:nvSpPr>
          <p:cNvPr id="14" name="Text Placeholder 12"/>
          <p:cNvSpPr>
            <a:spLocks noGrp="1"/>
          </p:cNvSpPr>
          <p:nvPr>
            <p:ph type="body" sz="quarter" idx="19"/>
          </p:nvPr>
        </p:nvSpPr>
        <p:spPr>
          <a:xfrm>
            <a:off x="3695700" y="3048000"/>
            <a:ext cx="1752600" cy="1143000"/>
          </a:xfrm>
        </p:spPr>
        <p:txBody>
          <a:bodyPr>
            <a:normAutofit/>
          </a:bodyPr>
          <a:lstStyle>
            <a:lvl1pPr>
              <a:defRPr sz="1600" b="1"/>
            </a:lvl1pPr>
          </a:lstStyle>
          <a:p>
            <a:pPr lvl="0"/>
            <a:r>
              <a:rPr lang="en-US" dirty="0" smtClean="0"/>
              <a:t>Click to edit Master text styles</a:t>
            </a:r>
          </a:p>
        </p:txBody>
      </p:sp>
      <p:sp>
        <p:nvSpPr>
          <p:cNvPr id="16" name="Text Placeholder 12"/>
          <p:cNvSpPr>
            <a:spLocks noGrp="1"/>
          </p:cNvSpPr>
          <p:nvPr>
            <p:ph type="body" sz="quarter" idx="21"/>
          </p:nvPr>
        </p:nvSpPr>
        <p:spPr>
          <a:xfrm>
            <a:off x="1905000" y="3886200"/>
            <a:ext cx="1752600" cy="1752600"/>
          </a:xfrm>
        </p:spPr>
        <p:txBody>
          <a:bodyPr>
            <a:normAutofit/>
          </a:bodyPr>
          <a:lstStyle>
            <a:lvl1pPr>
              <a:defRPr sz="1600" b="1"/>
            </a:lvl1pPr>
          </a:lstStyle>
          <a:p>
            <a:pPr lvl="0"/>
            <a:r>
              <a:rPr lang="en-US" dirty="0" smtClean="0"/>
              <a:t>Click to edit Master text styles</a:t>
            </a:r>
          </a:p>
        </p:txBody>
      </p:sp>
      <p:sp>
        <p:nvSpPr>
          <p:cNvPr id="17" name="Text Placeholder 12"/>
          <p:cNvSpPr>
            <a:spLocks noGrp="1"/>
          </p:cNvSpPr>
          <p:nvPr>
            <p:ph type="body" sz="quarter" idx="22"/>
          </p:nvPr>
        </p:nvSpPr>
        <p:spPr>
          <a:xfrm>
            <a:off x="7251700" y="3886200"/>
            <a:ext cx="1752600" cy="1752600"/>
          </a:xfrm>
        </p:spPr>
        <p:txBody>
          <a:bodyPr>
            <a:normAutofit/>
          </a:bodyPr>
          <a:lstStyle>
            <a:lvl1pPr>
              <a:defRPr sz="1600" b="1"/>
            </a:lvl1pPr>
          </a:lstStyle>
          <a:p>
            <a:pPr lvl="0"/>
            <a:r>
              <a:rPr lang="en-US" dirty="0"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3" name="Text Placeholder 11"/>
          <p:cNvSpPr>
            <a:spLocks noGrp="1"/>
          </p:cNvSpPr>
          <p:nvPr>
            <p:ph type="body" sz="quarter" idx="17" hasCustomPrompt="1"/>
          </p:nvPr>
        </p:nvSpPr>
        <p:spPr>
          <a:xfrm>
            <a:off x="4419600" y="2590800"/>
            <a:ext cx="4572000" cy="3657600"/>
          </a:xfrm>
          <a:custGeom>
            <a:avLst/>
            <a:gdLst>
              <a:gd name="connsiteX0" fmla="*/ 0 w 4419600"/>
              <a:gd name="connsiteY0" fmla="*/ 0 h 4343400"/>
              <a:gd name="connsiteX1" fmla="*/ 3895612 w 4419600"/>
              <a:gd name="connsiteY1" fmla="*/ 0 h 4343400"/>
              <a:gd name="connsiteX2" fmla="*/ 4419600 w 4419600"/>
              <a:gd name="connsiteY2" fmla="*/ 2171700 h 4343400"/>
              <a:gd name="connsiteX3" fmla="*/ 3895612 w 4419600"/>
              <a:gd name="connsiteY3" fmla="*/ 4343400 h 4343400"/>
              <a:gd name="connsiteX4" fmla="*/ 0 w 4419600"/>
              <a:gd name="connsiteY4" fmla="*/ 4343400 h 4343400"/>
              <a:gd name="connsiteX5" fmla="*/ 523988 w 4419600"/>
              <a:gd name="connsiteY5" fmla="*/ 2171700 h 4343400"/>
              <a:gd name="connsiteX6" fmla="*/ 0 w 4419600"/>
              <a:gd name="connsiteY6" fmla="*/ 0 h 4343400"/>
              <a:gd name="connsiteX0" fmla="*/ 0 w 3895612"/>
              <a:gd name="connsiteY0" fmla="*/ 0 h 4343400"/>
              <a:gd name="connsiteX1" fmla="*/ 3895612 w 3895612"/>
              <a:gd name="connsiteY1" fmla="*/ 0 h 4343400"/>
              <a:gd name="connsiteX2" fmla="*/ 3895612 w 3895612"/>
              <a:gd name="connsiteY2" fmla="*/ 4343400 h 4343400"/>
              <a:gd name="connsiteX3" fmla="*/ 0 w 3895612"/>
              <a:gd name="connsiteY3" fmla="*/ 4343400 h 4343400"/>
              <a:gd name="connsiteX4" fmla="*/ 523988 w 3895612"/>
              <a:gd name="connsiteY4" fmla="*/ 2171700 h 4343400"/>
              <a:gd name="connsiteX5" fmla="*/ 0 w 3895612"/>
              <a:gd name="connsiteY5" fmla="*/ 0 h 434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612" h="4343400">
                <a:moveTo>
                  <a:pt x="0" y="0"/>
                </a:moveTo>
                <a:lnTo>
                  <a:pt x="3895612" y="0"/>
                </a:lnTo>
                <a:lnTo>
                  <a:pt x="3895612" y="4343400"/>
                </a:lnTo>
                <a:lnTo>
                  <a:pt x="0" y="4343400"/>
                </a:lnTo>
                <a:lnTo>
                  <a:pt x="523988" y="2171700"/>
                </a:lnTo>
                <a:lnTo>
                  <a:pt x="0" y="0"/>
                </a:lnTo>
                <a:close/>
              </a:path>
            </a:pathLst>
          </a:custGeom>
          <a:gradFill flip="none" rotWithShape="1">
            <a:gsLst>
              <a:gs pos="0">
                <a:schemeClr val="tx2">
                  <a:lumMod val="50000"/>
                </a:schemeClr>
              </a:gs>
              <a:gs pos="15000">
                <a:schemeClr val="accent1">
                  <a:lumMod val="20000"/>
                  <a:lumOff val="80000"/>
                </a:schemeClr>
              </a:gs>
              <a:gs pos="80000">
                <a:schemeClr val="bg1"/>
              </a:gs>
            </a:gsLst>
            <a:lin ang="5400000" scaled="1"/>
            <a:tileRect/>
          </a:gradFill>
          <a:ln/>
        </p:spPr>
        <p:style>
          <a:lnRef idx="1">
            <a:schemeClr val="accent6"/>
          </a:lnRef>
          <a:fillRef idx="2">
            <a:schemeClr val="accent6"/>
          </a:fillRef>
          <a:effectRef idx="1">
            <a:schemeClr val="accent6"/>
          </a:effectRef>
          <a:fontRef idx="none"/>
        </p:style>
        <p:txBody>
          <a:bodyPr vert="horz" rIns="365760" anchor="t">
            <a:normAutofit/>
          </a:bodyPr>
          <a:lstStyle>
            <a:lvl1pPr marL="625475" indent="0" algn="r">
              <a:spcBef>
                <a:spcPts val="1200"/>
              </a:spcBef>
              <a:defRPr kumimoji="0" lang="en-US" sz="2400" b="1" kern="1200" dirty="0" smtClean="0">
                <a:solidFill>
                  <a:schemeClr val="bg1"/>
                </a:solidFill>
                <a:effectLst/>
                <a:latin typeface="+mj-lt"/>
                <a:ea typeface="+mn-ea"/>
                <a:cs typeface="+mn-cs"/>
              </a:defRPr>
            </a:lvl1pPr>
            <a:lvl2pPr marL="1082675" indent="-246063">
              <a:defRPr kumimoji="0" lang="en-US" sz="2400" b="1" kern="1200" dirty="0" smtClean="0">
                <a:solidFill>
                  <a:schemeClr val="bg1"/>
                </a:solidFill>
                <a:effectLst/>
                <a:latin typeface="+mj-lt"/>
                <a:ea typeface="+mn-ea"/>
                <a:cs typeface="+mn-cs"/>
              </a:defRPr>
            </a:lvl2pPr>
            <a:lvl3pPr marL="1312863" indent="-246063">
              <a:defRPr kumimoji="0" lang="en-US" sz="2400" b="1" kern="1200" dirty="0" smtClean="0">
                <a:solidFill>
                  <a:schemeClr val="bg1"/>
                </a:solidFill>
                <a:effectLst/>
                <a:latin typeface="+mj-lt"/>
                <a:ea typeface="+mn-ea"/>
                <a:cs typeface="+mn-cs"/>
              </a:defRPr>
            </a:lvl3pPr>
            <a:lvl4pPr marL="1485900" indent="-209550">
              <a:defRPr kumimoji="0" lang="en-US" sz="2400" b="1" kern="1200" dirty="0" smtClean="0">
                <a:solidFill>
                  <a:schemeClr val="bg1"/>
                </a:solidFill>
                <a:effectLst/>
                <a:latin typeface="+mj-lt"/>
                <a:ea typeface="+mn-ea"/>
                <a:cs typeface="+mn-cs"/>
              </a:defRPr>
            </a:lvl4pPr>
            <a:lvl5pPr marL="1654175" indent="-209550">
              <a:defRPr kumimoji="0" lang="en-US" sz="2400" b="1" kern="1200" dirty="0">
                <a:solidFill>
                  <a:schemeClr val="bg1"/>
                </a:solidFill>
                <a:effectLst/>
                <a:latin typeface="+mj-lt"/>
                <a:ea typeface="+mn-ea"/>
                <a:cs typeface="+mn-cs"/>
              </a:defRPr>
            </a:lvl5pPr>
          </a:lstStyle>
          <a:p>
            <a:pPr marL="0" lvl="0" indent="0" algn="r" rtl="0" eaLnBrk="1" latinLnBrk="0" hangingPunct="1">
              <a:spcBef>
                <a:spcPts val="1200"/>
              </a:spcBef>
              <a:buClr>
                <a:schemeClr val="accent3"/>
              </a:buClr>
              <a:buSzPct val="95000"/>
              <a:buFont typeface="Wingdings 2"/>
              <a:buNone/>
            </a:pPr>
            <a:r>
              <a:rPr lang="en-US" dirty="0" smtClean="0"/>
              <a:t>IMPACT</a:t>
            </a:r>
          </a:p>
        </p:txBody>
      </p:sp>
      <p:sp>
        <p:nvSpPr>
          <p:cNvPr id="20" name="Text Placeholder 18"/>
          <p:cNvSpPr>
            <a:spLocks noGrp="1"/>
          </p:cNvSpPr>
          <p:nvPr>
            <p:ph type="body" sz="quarter" idx="20"/>
          </p:nvPr>
        </p:nvSpPr>
        <p:spPr>
          <a:xfrm>
            <a:off x="5029200" y="3048000"/>
            <a:ext cx="3962400" cy="3200400"/>
          </a:xfrm>
        </p:spPr>
        <p:txBody>
          <a:bodyPr>
            <a:normAutofit/>
          </a:bodyPr>
          <a:lstStyle>
            <a:lvl1pPr>
              <a:spcBef>
                <a:spcPts val="800"/>
              </a:spcBef>
              <a:defRPr sz="1800" b="0"/>
            </a:lvl1pPr>
            <a:lvl2pPr>
              <a:defRPr sz="1600" b="0"/>
            </a:lvl2pPr>
            <a:lvl3pPr>
              <a:defRPr sz="1600" b="0"/>
            </a:lvl3pPr>
            <a:lvl4pPr>
              <a:defRPr sz="1400" b="0"/>
            </a:lvl4pPr>
            <a:lvl5pPr>
              <a:defRPr sz="1400" b="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 Placeholder 11"/>
          <p:cNvSpPr>
            <a:spLocks noGrp="1"/>
          </p:cNvSpPr>
          <p:nvPr>
            <p:ph type="body" sz="quarter" idx="16" hasCustomPrompt="1"/>
          </p:nvPr>
        </p:nvSpPr>
        <p:spPr>
          <a:xfrm>
            <a:off x="152400" y="2590800"/>
            <a:ext cx="4648200" cy="3657600"/>
          </a:xfrm>
          <a:prstGeom prst="homePlate">
            <a:avLst>
              <a:gd name="adj" fmla="val 15190"/>
            </a:avLst>
          </a:prstGeom>
          <a:gradFill flip="none" rotWithShape="1">
            <a:gsLst>
              <a:gs pos="0">
                <a:schemeClr val="accent5">
                  <a:lumMod val="50000"/>
                </a:schemeClr>
              </a:gs>
              <a:gs pos="15000">
                <a:schemeClr val="accent5">
                  <a:lumMod val="40000"/>
                  <a:lumOff val="60000"/>
                </a:schemeClr>
              </a:gs>
              <a:gs pos="80000">
                <a:schemeClr val="bg1"/>
              </a:gs>
            </a:gsLst>
            <a:lin ang="5400000" scaled="1"/>
            <a:tileRect/>
          </a:gradFill>
          <a:ln/>
        </p:spPr>
        <p:style>
          <a:lnRef idx="1">
            <a:schemeClr val="accent6"/>
          </a:lnRef>
          <a:fillRef idx="2">
            <a:schemeClr val="accent6"/>
          </a:fillRef>
          <a:effectRef idx="1">
            <a:schemeClr val="accent6"/>
          </a:effectRef>
          <a:fontRef idx="none"/>
        </p:style>
        <p:txBody>
          <a:bodyPr rIns="365760" anchor="t">
            <a:normAutofit/>
          </a:bodyPr>
          <a:lstStyle>
            <a:lvl1pPr algn="r">
              <a:spcBef>
                <a:spcPts val="1200"/>
              </a:spcBef>
              <a:defRPr kumimoji="0" lang="en-US" sz="2400" b="1" kern="1200" dirty="0" smtClean="0">
                <a:solidFill>
                  <a:schemeClr val="bg1"/>
                </a:solidFill>
                <a:effectLst/>
                <a:latin typeface="+mj-lt"/>
                <a:ea typeface="+mn-ea"/>
                <a:cs typeface="+mn-cs"/>
              </a:defRPr>
            </a:lvl1pPr>
            <a:lvl2pPr>
              <a:defRPr sz="1600"/>
            </a:lvl2pPr>
            <a:lvl3pPr>
              <a:defRPr sz="1600"/>
            </a:lvl3pPr>
            <a:lvl4pPr>
              <a:defRPr sz="1400"/>
            </a:lvl4pPr>
            <a:lvl5pPr>
              <a:defRPr sz="1400"/>
            </a:lvl5pPr>
          </a:lstStyle>
          <a:p>
            <a:pPr lvl="0"/>
            <a:r>
              <a:rPr lang="en-US" dirty="0" smtClean="0"/>
              <a:t>SOLUTION</a:t>
            </a:r>
          </a:p>
        </p:txBody>
      </p:sp>
      <p:sp>
        <p:nvSpPr>
          <p:cNvPr id="19" name="Text Placeholder 18"/>
          <p:cNvSpPr>
            <a:spLocks noGrp="1"/>
          </p:cNvSpPr>
          <p:nvPr>
            <p:ph type="body" sz="quarter" idx="19"/>
          </p:nvPr>
        </p:nvSpPr>
        <p:spPr>
          <a:xfrm>
            <a:off x="152400" y="3048000"/>
            <a:ext cx="4191000" cy="3200400"/>
          </a:xfrm>
        </p:spPr>
        <p:txBody>
          <a:bodyPr>
            <a:normAutofit/>
          </a:bodyPr>
          <a:lstStyle>
            <a:lvl1pPr>
              <a:spcBef>
                <a:spcPts val="800"/>
              </a:spcBef>
              <a:defRPr sz="1800" b="0"/>
            </a:lvl1pPr>
            <a:lvl2pPr>
              <a:defRPr sz="1600" b="0"/>
            </a:lvl2pPr>
            <a:lvl3pPr>
              <a:defRPr sz="1600" b="0"/>
            </a:lvl3pPr>
            <a:lvl4pPr>
              <a:defRPr sz="1400" b="0"/>
            </a:lvl4pPr>
            <a:lvl5pPr>
              <a:defRPr sz="1400" b="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9" name="Text Placeholder 8"/>
          <p:cNvSpPr>
            <a:spLocks noGrp="1"/>
          </p:cNvSpPr>
          <p:nvPr>
            <p:ph type="body" sz="quarter" idx="14" hasCustomPrompt="1"/>
          </p:nvPr>
        </p:nvSpPr>
        <p:spPr>
          <a:xfrm>
            <a:off x="152400" y="1066800"/>
            <a:ext cx="8839200" cy="1523999"/>
          </a:xfrm>
          <a:custGeom>
            <a:avLst/>
            <a:gdLst>
              <a:gd name="connsiteX0" fmla="*/ 0 w 8839200"/>
              <a:gd name="connsiteY0" fmla="*/ 0 h 1676400"/>
              <a:gd name="connsiteX1" fmla="*/ 1473200 w 8839200"/>
              <a:gd name="connsiteY1" fmla="*/ 0 h 1676400"/>
              <a:gd name="connsiteX2" fmla="*/ 1473200 w 8839200"/>
              <a:gd name="connsiteY2" fmla="*/ 0 h 1676400"/>
              <a:gd name="connsiteX3" fmla="*/ 3683000 w 8839200"/>
              <a:gd name="connsiteY3" fmla="*/ 0 h 1676400"/>
              <a:gd name="connsiteX4" fmla="*/ 8839200 w 8839200"/>
              <a:gd name="connsiteY4" fmla="*/ 0 h 1676400"/>
              <a:gd name="connsiteX5" fmla="*/ 8839200 w 8839200"/>
              <a:gd name="connsiteY5" fmla="*/ 977900 h 1676400"/>
              <a:gd name="connsiteX6" fmla="*/ 8839200 w 8839200"/>
              <a:gd name="connsiteY6" fmla="*/ 977900 h 1676400"/>
              <a:gd name="connsiteX7" fmla="*/ 8839200 w 8839200"/>
              <a:gd name="connsiteY7" fmla="*/ 1397000 h 1676400"/>
              <a:gd name="connsiteX8" fmla="*/ 8839200 w 8839200"/>
              <a:gd name="connsiteY8" fmla="*/ 1676400 h 1676400"/>
              <a:gd name="connsiteX9" fmla="*/ 3683000 w 8839200"/>
              <a:gd name="connsiteY9" fmla="*/ 1676400 h 1676400"/>
              <a:gd name="connsiteX10" fmla="*/ 2501935 w 8839200"/>
              <a:gd name="connsiteY10" fmla="*/ 2087269 h 1676400"/>
              <a:gd name="connsiteX11" fmla="*/ 1473200 w 8839200"/>
              <a:gd name="connsiteY11" fmla="*/ 1676400 h 1676400"/>
              <a:gd name="connsiteX12" fmla="*/ 0 w 8839200"/>
              <a:gd name="connsiteY12" fmla="*/ 1676400 h 1676400"/>
              <a:gd name="connsiteX13" fmla="*/ 0 w 8839200"/>
              <a:gd name="connsiteY13" fmla="*/ 1397000 h 1676400"/>
              <a:gd name="connsiteX14" fmla="*/ 0 w 8839200"/>
              <a:gd name="connsiteY14" fmla="*/ 977900 h 1676400"/>
              <a:gd name="connsiteX15" fmla="*/ 0 w 8839200"/>
              <a:gd name="connsiteY15" fmla="*/ 977900 h 1676400"/>
              <a:gd name="connsiteX16" fmla="*/ 0 w 8839200"/>
              <a:gd name="connsiteY16" fmla="*/ 0 h 1676400"/>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473200 w 8839200"/>
              <a:gd name="connsiteY11" fmla="*/ 1676400 h 2087269"/>
              <a:gd name="connsiteX12" fmla="*/ 698500 w 8839200"/>
              <a:gd name="connsiteY12" fmla="*/ 1676400 h 2087269"/>
              <a:gd name="connsiteX13" fmla="*/ 0 w 8839200"/>
              <a:gd name="connsiteY13" fmla="*/ 1676400 h 2087269"/>
              <a:gd name="connsiteX14" fmla="*/ 0 w 8839200"/>
              <a:gd name="connsiteY14" fmla="*/ 1397000 h 2087269"/>
              <a:gd name="connsiteX15" fmla="*/ 0 w 8839200"/>
              <a:gd name="connsiteY15" fmla="*/ 977900 h 2087269"/>
              <a:gd name="connsiteX16" fmla="*/ 0 w 8839200"/>
              <a:gd name="connsiteY16" fmla="*/ 977900 h 2087269"/>
              <a:gd name="connsiteX17" fmla="*/ 0 w 8839200"/>
              <a:gd name="connsiteY17"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016000 w 8839200"/>
              <a:gd name="connsiteY11" fmla="*/ 1676400 h 2087269"/>
              <a:gd name="connsiteX12" fmla="*/ 698500 w 8839200"/>
              <a:gd name="connsiteY12" fmla="*/ 1676400 h 2087269"/>
              <a:gd name="connsiteX13" fmla="*/ 0 w 8839200"/>
              <a:gd name="connsiteY13" fmla="*/ 1676400 h 2087269"/>
              <a:gd name="connsiteX14" fmla="*/ 0 w 8839200"/>
              <a:gd name="connsiteY14" fmla="*/ 1397000 h 2087269"/>
              <a:gd name="connsiteX15" fmla="*/ 0 w 8839200"/>
              <a:gd name="connsiteY15" fmla="*/ 977900 h 2087269"/>
              <a:gd name="connsiteX16" fmla="*/ 0 w 8839200"/>
              <a:gd name="connsiteY16" fmla="*/ 977900 h 2087269"/>
              <a:gd name="connsiteX17" fmla="*/ 0 w 8839200"/>
              <a:gd name="connsiteY17"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0160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95500"/>
              <a:gd name="connsiteX1" fmla="*/ 1473200 w 8839200"/>
              <a:gd name="connsiteY1" fmla="*/ 0 h 2095500"/>
              <a:gd name="connsiteX2" fmla="*/ 1473200 w 8839200"/>
              <a:gd name="connsiteY2" fmla="*/ 0 h 2095500"/>
              <a:gd name="connsiteX3" fmla="*/ 3683000 w 8839200"/>
              <a:gd name="connsiteY3" fmla="*/ 0 h 2095500"/>
              <a:gd name="connsiteX4" fmla="*/ 8839200 w 8839200"/>
              <a:gd name="connsiteY4" fmla="*/ 0 h 2095500"/>
              <a:gd name="connsiteX5" fmla="*/ 8839200 w 8839200"/>
              <a:gd name="connsiteY5" fmla="*/ 977900 h 2095500"/>
              <a:gd name="connsiteX6" fmla="*/ 8839200 w 8839200"/>
              <a:gd name="connsiteY6" fmla="*/ 977900 h 2095500"/>
              <a:gd name="connsiteX7" fmla="*/ 8839200 w 8839200"/>
              <a:gd name="connsiteY7" fmla="*/ 1397000 h 2095500"/>
              <a:gd name="connsiteX8" fmla="*/ 8839200 w 8839200"/>
              <a:gd name="connsiteY8" fmla="*/ 1676400 h 2095500"/>
              <a:gd name="connsiteX9" fmla="*/ 2387600 w 8839200"/>
              <a:gd name="connsiteY9" fmla="*/ 1676400 h 2095500"/>
              <a:gd name="connsiteX10" fmla="*/ 2501935 w 8839200"/>
              <a:gd name="connsiteY10" fmla="*/ 2087269 h 2095500"/>
              <a:gd name="connsiteX11" fmla="*/ 1181100 w 8839200"/>
              <a:gd name="connsiteY11" fmla="*/ 2095500 h 2095500"/>
              <a:gd name="connsiteX12" fmla="*/ 482600 w 8839200"/>
              <a:gd name="connsiteY12" fmla="*/ 1676400 h 2095500"/>
              <a:gd name="connsiteX13" fmla="*/ 0 w 8839200"/>
              <a:gd name="connsiteY13" fmla="*/ 1676400 h 2095500"/>
              <a:gd name="connsiteX14" fmla="*/ 0 w 8839200"/>
              <a:gd name="connsiteY14" fmla="*/ 1397000 h 2095500"/>
              <a:gd name="connsiteX15" fmla="*/ 0 w 8839200"/>
              <a:gd name="connsiteY15" fmla="*/ 977900 h 2095500"/>
              <a:gd name="connsiteX16" fmla="*/ 0 w 8839200"/>
              <a:gd name="connsiteY16" fmla="*/ 977900 h 2095500"/>
              <a:gd name="connsiteX17" fmla="*/ 0 w 8839200"/>
              <a:gd name="connsiteY17" fmla="*/ 0 h 2095500"/>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14351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14351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4351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4351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3843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939481"/>
              <a:gd name="connsiteX1" fmla="*/ 1473200 w 8839200"/>
              <a:gd name="connsiteY1" fmla="*/ 0 h 1939481"/>
              <a:gd name="connsiteX2" fmla="*/ 1473200 w 8839200"/>
              <a:gd name="connsiteY2" fmla="*/ 0 h 1939481"/>
              <a:gd name="connsiteX3" fmla="*/ 3683000 w 8839200"/>
              <a:gd name="connsiteY3" fmla="*/ 0 h 1939481"/>
              <a:gd name="connsiteX4" fmla="*/ 8839200 w 8839200"/>
              <a:gd name="connsiteY4" fmla="*/ 0 h 1939481"/>
              <a:gd name="connsiteX5" fmla="*/ 8839200 w 8839200"/>
              <a:gd name="connsiteY5" fmla="*/ 977900 h 1939481"/>
              <a:gd name="connsiteX6" fmla="*/ 8839200 w 8839200"/>
              <a:gd name="connsiteY6" fmla="*/ 977900 h 1939481"/>
              <a:gd name="connsiteX7" fmla="*/ 8839200 w 8839200"/>
              <a:gd name="connsiteY7" fmla="*/ 1397000 h 1939481"/>
              <a:gd name="connsiteX8" fmla="*/ 8839200 w 8839200"/>
              <a:gd name="connsiteY8" fmla="*/ 1676400 h 1939481"/>
              <a:gd name="connsiteX9" fmla="*/ 2387600 w 8839200"/>
              <a:gd name="connsiteY9" fmla="*/ 1676400 h 1939481"/>
              <a:gd name="connsiteX10" fmla="*/ 1409735 w 8839200"/>
              <a:gd name="connsiteY10" fmla="*/ 1939481 h 1939481"/>
              <a:gd name="connsiteX11" fmla="*/ 482600 w 8839200"/>
              <a:gd name="connsiteY11" fmla="*/ 1676400 h 1939481"/>
              <a:gd name="connsiteX12" fmla="*/ 0 w 8839200"/>
              <a:gd name="connsiteY12" fmla="*/ 1676400 h 1939481"/>
              <a:gd name="connsiteX13" fmla="*/ 0 w 8839200"/>
              <a:gd name="connsiteY13" fmla="*/ 1397000 h 1939481"/>
              <a:gd name="connsiteX14" fmla="*/ 0 w 8839200"/>
              <a:gd name="connsiteY14" fmla="*/ 977900 h 1939481"/>
              <a:gd name="connsiteX15" fmla="*/ 0 w 8839200"/>
              <a:gd name="connsiteY15" fmla="*/ 977900 h 1939481"/>
              <a:gd name="connsiteX16" fmla="*/ 0 w 8839200"/>
              <a:gd name="connsiteY16" fmla="*/ 0 h 1939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39200" h="1939481">
                <a:moveTo>
                  <a:pt x="0" y="0"/>
                </a:moveTo>
                <a:lnTo>
                  <a:pt x="1473200" y="0"/>
                </a:lnTo>
                <a:lnTo>
                  <a:pt x="1473200" y="0"/>
                </a:lnTo>
                <a:lnTo>
                  <a:pt x="3683000" y="0"/>
                </a:lnTo>
                <a:lnTo>
                  <a:pt x="8839200" y="0"/>
                </a:lnTo>
                <a:lnTo>
                  <a:pt x="8839200" y="977900"/>
                </a:lnTo>
                <a:lnTo>
                  <a:pt x="8839200" y="977900"/>
                </a:lnTo>
                <a:lnTo>
                  <a:pt x="8839200" y="1397000"/>
                </a:lnTo>
                <a:lnTo>
                  <a:pt x="8839200" y="1676400"/>
                </a:lnTo>
                <a:lnTo>
                  <a:pt x="2387600" y="1676400"/>
                </a:lnTo>
                <a:lnTo>
                  <a:pt x="1409735" y="1939481"/>
                </a:lnTo>
                <a:lnTo>
                  <a:pt x="482600" y="1676400"/>
                </a:lnTo>
                <a:lnTo>
                  <a:pt x="0" y="1676400"/>
                </a:lnTo>
                <a:lnTo>
                  <a:pt x="0" y="1397000"/>
                </a:lnTo>
                <a:lnTo>
                  <a:pt x="0" y="977900"/>
                </a:lnTo>
                <a:lnTo>
                  <a:pt x="0" y="977900"/>
                </a:lnTo>
                <a:lnTo>
                  <a:pt x="0" y="0"/>
                </a:lnTo>
                <a:close/>
              </a:path>
            </a:pathLst>
          </a:custGeom>
          <a:gradFill flip="none" rotWithShape="1">
            <a:gsLst>
              <a:gs pos="0">
                <a:srgbClr val="C00000"/>
              </a:gs>
              <a:gs pos="33000">
                <a:srgbClr val="FFC1C1"/>
              </a:gs>
              <a:gs pos="80000">
                <a:schemeClr val="bg1"/>
              </a:gs>
            </a:gsLst>
            <a:lin ang="5400000" scaled="1"/>
            <a:tileRect/>
          </a:gradFill>
          <a:ln>
            <a:solidFill>
              <a:srgbClr val="C00000"/>
            </a:solidFill>
          </a:ln>
        </p:spPr>
        <p:style>
          <a:lnRef idx="1">
            <a:schemeClr val="accent6"/>
          </a:lnRef>
          <a:fillRef idx="2">
            <a:schemeClr val="accent6"/>
          </a:fillRef>
          <a:effectRef idx="1">
            <a:schemeClr val="accent6"/>
          </a:effectRef>
          <a:fontRef idx="none"/>
        </p:style>
        <p:txBody>
          <a:bodyPr bIns="274320" anchor="t">
            <a:normAutofit/>
          </a:bodyPr>
          <a:lstStyle>
            <a:lvl1pPr algn="ctr">
              <a:defRPr sz="2400" b="1">
                <a:solidFill>
                  <a:schemeClr val="bg1"/>
                </a:solidFill>
                <a:effectLst/>
                <a:latin typeface="+mj-lt"/>
              </a:defRPr>
            </a:lvl1pPr>
          </a:lstStyle>
          <a:p>
            <a:pPr lvl="0"/>
            <a:r>
              <a:rPr lang="en-US" dirty="0" smtClean="0"/>
              <a:t>NATIONAL CHALLENGE</a:t>
            </a:r>
            <a:endParaRPr lang="en-US" dirty="0"/>
          </a:p>
        </p:txBody>
      </p:sp>
      <p:sp>
        <p:nvSpPr>
          <p:cNvPr id="17" name="Text Placeholder 16"/>
          <p:cNvSpPr>
            <a:spLocks noGrp="1"/>
          </p:cNvSpPr>
          <p:nvPr>
            <p:ph type="body" sz="quarter" idx="18"/>
          </p:nvPr>
        </p:nvSpPr>
        <p:spPr>
          <a:xfrm>
            <a:off x="762000" y="1523999"/>
            <a:ext cx="7620000" cy="838200"/>
          </a:xfrm>
        </p:spPr>
        <p:txBody>
          <a:bodyPr anchor="ctr"/>
          <a:lstStyle>
            <a:lvl1pPr algn="ctr">
              <a:defRPr kumimoji="0" lang="en-US" sz="2400" b="0" kern="1200" dirty="0" smtClean="0">
                <a:solidFill>
                  <a:schemeClr val="tx1"/>
                </a:solidFill>
                <a:effectLst>
                  <a:outerShdw blurRad="50800" dist="38100" dir="5400000" algn="t" rotWithShape="0">
                    <a:srgbClr val="480000">
                      <a:alpha val="40000"/>
                    </a:srgbClr>
                  </a:outerShdw>
                </a:effectLst>
                <a:latin typeface="+mn-lt"/>
                <a:ea typeface="+mn-ea"/>
                <a:cs typeface="+mn-cs"/>
              </a:defRPr>
            </a:lvl1pPr>
          </a:lstStyle>
          <a:p>
            <a:pPr lvl="0"/>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9" name="Text Placeholder 8"/>
          <p:cNvSpPr>
            <a:spLocks noGrp="1"/>
          </p:cNvSpPr>
          <p:nvPr>
            <p:ph type="body" sz="quarter" idx="14"/>
          </p:nvPr>
        </p:nvSpPr>
        <p:spPr>
          <a:xfrm>
            <a:off x="152400" y="1371600"/>
            <a:ext cx="4038600" cy="457200"/>
          </a:xfrm>
        </p:spPr>
        <p:txBody>
          <a:bodyPr anchor="ctr">
            <a:normAutofit/>
          </a:bodyPr>
          <a:lstStyle>
            <a:lvl1pPr algn="ctr">
              <a:defRPr sz="2400" b="1">
                <a:solidFill>
                  <a:srgbClr val="00B050"/>
                </a:solidFill>
                <a:effectLst>
                  <a:outerShdw blurRad="50800" dist="38100" dir="5400000" algn="t" rotWithShape="0">
                    <a:srgbClr val="92D050">
                      <a:alpha val="40000"/>
                    </a:srgbClr>
                  </a:outerShdw>
                </a:effectLst>
              </a:defRPr>
            </a:lvl1pPr>
          </a:lstStyle>
          <a:p>
            <a:pPr lvl="0"/>
            <a:r>
              <a:rPr lang="en-US" dirty="0" smtClean="0"/>
              <a:t>Click to edit Master text styles</a:t>
            </a:r>
            <a:endParaRPr lang="en-US" dirty="0"/>
          </a:p>
        </p:txBody>
      </p:sp>
      <p:sp>
        <p:nvSpPr>
          <p:cNvPr id="10" name="Text Placeholder 8"/>
          <p:cNvSpPr>
            <a:spLocks noGrp="1"/>
          </p:cNvSpPr>
          <p:nvPr>
            <p:ph type="body" sz="quarter" idx="15"/>
          </p:nvPr>
        </p:nvSpPr>
        <p:spPr>
          <a:xfrm>
            <a:off x="4419600" y="1371600"/>
            <a:ext cx="4572000" cy="457200"/>
          </a:xfrm>
        </p:spPr>
        <p:txBody>
          <a:bodyPr anchor="ctr">
            <a:normAutofit/>
          </a:bodyPr>
          <a:lstStyle>
            <a:lvl1pPr algn="ctr">
              <a:defRPr sz="2400" b="1">
                <a:solidFill>
                  <a:srgbClr val="B88C00"/>
                </a:solidFill>
                <a:effectLst>
                  <a:outerShdw blurRad="50800" dist="38100" dir="5400000" algn="t" rotWithShape="0">
                    <a:srgbClr val="FFC000">
                      <a:alpha val="40000"/>
                    </a:srgbClr>
                  </a:outerShdw>
                </a:effectLst>
              </a:defRPr>
            </a:lvl1pPr>
          </a:lstStyle>
          <a:p>
            <a:pPr lvl="0"/>
            <a:r>
              <a:rPr lang="en-US" dirty="0" smtClean="0"/>
              <a:t>Click to edit Master text styles</a:t>
            </a:r>
            <a:endParaRPr lang="en-US" dirty="0"/>
          </a:p>
        </p:txBody>
      </p:sp>
      <p:sp>
        <p:nvSpPr>
          <p:cNvPr id="12" name="Text Placeholder 11"/>
          <p:cNvSpPr>
            <a:spLocks noGrp="1"/>
          </p:cNvSpPr>
          <p:nvPr>
            <p:ph type="body" sz="quarter" idx="16"/>
          </p:nvPr>
        </p:nvSpPr>
        <p:spPr>
          <a:xfrm>
            <a:off x="152400" y="1905000"/>
            <a:ext cx="4648200" cy="4343400"/>
          </a:xfrm>
          <a:prstGeom prst="homePlate">
            <a:avLst>
              <a:gd name="adj" fmla="val 15190"/>
            </a:avLst>
          </a:prstGeom>
          <a:gradFill>
            <a:gsLst>
              <a:gs pos="0">
                <a:srgbClr val="92D050"/>
              </a:gs>
              <a:gs pos="43000">
                <a:srgbClr val="C0E399"/>
              </a:gs>
              <a:gs pos="93000">
                <a:srgbClr val="E9F5DB"/>
              </a:gs>
              <a:gs pos="100000">
                <a:srgbClr val="F5FBEF"/>
              </a:gs>
            </a:gsLst>
          </a:gradFill>
          <a:ln>
            <a:solidFill>
              <a:srgbClr val="92D050"/>
            </a:solidFill>
          </a:ln>
        </p:spPr>
        <p:style>
          <a:lnRef idx="1">
            <a:schemeClr val="accent1"/>
          </a:lnRef>
          <a:fillRef idx="2">
            <a:schemeClr val="accent1"/>
          </a:fillRef>
          <a:effectRef idx="1">
            <a:schemeClr val="accent1"/>
          </a:effectRef>
          <a:fontRef idx="none"/>
        </p:style>
        <p:txBody>
          <a:bodyPr anchor="ctr">
            <a:normAutofit/>
          </a:bodyPr>
          <a:lstStyle>
            <a:lvl1pPr>
              <a:spcBef>
                <a:spcPts val="1200"/>
              </a:spcBef>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11"/>
          <p:cNvSpPr>
            <a:spLocks noGrp="1"/>
          </p:cNvSpPr>
          <p:nvPr>
            <p:ph type="body" sz="quarter" idx="17"/>
          </p:nvPr>
        </p:nvSpPr>
        <p:spPr>
          <a:xfrm>
            <a:off x="4419600" y="1905000"/>
            <a:ext cx="4572000" cy="4343400"/>
          </a:xfrm>
          <a:custGeom>
            <a:avLst/>
            <a:gdLst>
              <a:gd name="connsiteX0" fmla="*/ 0 w 4419600"/>
              <a:gd name="connsiteY0" fmla="*/ 0 h 4343400"/>
              <a:gd name="connsiteX1" fmla="*/ 3895612 w 4419600"/>
              <a:gd name="connsiteY1" fmla="*/ 0 h 4343400"/>
              <a:gd name="connsiteX2" fmla="*/ 4419600 w 4419600"/>
              <a:gd name="connsiteY2" fmla="*/ 2171700 h 4343400"/>
              <a:gd name="connsiteX3" fmla="*/ 3895612 w 4419600"/>
              <a:gd name="connsiteY3" fmla="*/ 4343400 h 4343400"/>
              <a:gd name="connsiteX4" fmla="*/ 0 w 4419600"/>
              <a:gd name="connsiteY4" fmla="*/ 4343400 h 4343400"/>
              <a:gd name="connsiteX5" fmla="*/ 523988 w 4419600"/>
              <a:gd name="connsiteY5" fmla="*/ 2171700 h 4343400"/>
              <a:gd name="connsiteX6" fmla="*/ 0 w 4419600"/>
              <a:gd name="connsiteY6" fmla="*/ 0 h 4343400"/>
              <a:gd name="connsiteX0" fmla="*/ 0 w 3895612"/>
              <a:gd name="connsiteY0" fmla="*/ 0 h 4343400"/>
              <a:gd name="connsiteX1" fmla="*/ 3895612 w 3895612"/>
              <a:gd name="connsiteY1" fmla="*/ 0 h 4343400"/>
              <a:gd name="connsiteX2" fmla="*/ 3895612 w 3895612"/>
              <a:gd name="connsiteY2" fmla="*/ 4343400 h 4343400"/>
              <a:gd name="connsiteX3" fmla="*/ 0 w 3895612"/>
              <a:gd name="connsiteY3" fmla="*/ 4343400 h 4343400"/>
              <a:gd name="connsiteX4" fmla="*/ 523988 w 3895612"/>
              <a:gd name="connsiteY4" fmla="*/ 2171700 h 4343400"/>
              <a:gd name="connsiteX5" fmla="*/ 0 w 3895612"/>
              <a:gd name="connsiteY5" fmla="*/ 0 h 434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612" h="4343400">
                <a:moveTo>
                  <a:pt x="0" y="0"/>
                </a:moveTo>
                <a:lnTo>
                  <a:pt x="3895612" y="0"/>
                </a:lnTo>
                <a:lnTo>
                  <a:pt x="3895612" y="4343400"/>
                </a:lnTo>
                <a:lnTo>
                  <a:pt x="0" y="4343400"/>
                </a:lnTo>
                <a:lnTo>
                  <a:pt x="523988" y="2171700"/>
                </a:lnTo>
                <a:lnTo>
                  <a:pt x="0" y="0"/>
                </a:lnTo>
                <a:close/>
              </a:path>
            </a:pathLst>
          </a:custGeom>
          <a:gradFill>
            <a:gsLst>
              <a:gs pos="0">
                <a:srgbClr val="FFC000"/>
              </a:gs>
              <a:gs pos="43000">
                <a:srgbClr val="FFE79B"/>
              </a:gs>
              <a:gs pos="93000">
                <a:srgbClr val="FFF4D1"/>
              </a:gs>
              <a:gs pos="100000">
                <a:srgbClr val="FFF7DD"/>
              </a:gs>
            </a:gsLst>
          </a:gradFill>
          <a:ln>
            <a:solidFill>
              <a:srgbClr val="FFC000"/>
            </a:solidFill>
          </a:ln>
        </p:spPr>
        <p:style>
          <a:lnRef idx="1">
            <a:schemeClr val="accent2"/>
          </a:lnRef>
          <a:fillRef idx="2">
            <a:schemeClr val="accent2"/>
          </a:fillRef>
          <a:effectRef idx="1">
            <a:schemeClr val="accent2"/>
          </a:effectRef>
          <a:fontRef idx="none"/>
        </p:style>
        <p:txBody>
          <a:bodyPr anchor="ctr">
            <a:normAutofit/>
          </a:bodyPr>
          <a:lstStyle>
            <a:lvl1pPr marL="625475" indent="0">
              <a:spcBef>
                <a:spcPts val="1200"/>
              </a:spcBef>
              <a:defRPr sz="2000"/>
            </a:lvl1pPr>
            <a:lvl2pPr marL="1082675" indent="-246063">
              <a:defRPr sz="1600"/>
            </a:lvl2pPr>
            <a:lvl3pPr marL="1312863" indent="-246063">
              <a:defRPr sz="1600"/>
            </a:lvl3pPr>
            <a:lvl4pPr marL="1485900" indent="-209550">
              <a:defRPr sz="1400"/>
            </a:lvl4pPr>
            <a:lvl5pPr marL="1654175" indent="-209550">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NOAA’s Transition Package: November 4, 2008</a:t>
            </a:r>
            <a:endParaRPr lang="en-US"/>
          </a:p>
        </p:txBody>
      </p:sp>
      <p:sp>
        <p:nvSpPr>
          <p:cNvPr id="6" name="Slide Number Placeholder 5"/>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19200"/>
            <a:ext cx="4038600" cy="513572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Content Placeholder 3"/>
          <p:cNvSpPr>
            <a:spLocks noGrp="1"/>
          </p:cNvSpPr>
          <p:nvPr>
            <p:ph sz="half" idx="2"/>
          </p:nvPr>
        </p:nvSpPr>
        <p:spPr>
          <a:xfrm>
            <a:off x="4648200" y="1219200"/>
            <a:ext cx="4038600" cy="513572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smtClean="0"/>
              <a:t>NOAA’s Transition Package: November 4, 2008</a:t>
            </a:r>
            <a:endParaRPr lang="en-US"/>
          </a:p>
        </p:txBody>
      </p:sp>
      <p:sp>
        <p:nvSpPr>
          <p:cNvPr id="7" name="Slide Number Placeholder 6"/>
          <p:cNvSpPr>
            <a:spLocks noGrp="1"/>
          </p:cNvSpPr>
          <p:nvPr>
            <p:ph type="sldNum" sz="quarter" idx="12"/>
          </p:nvPr>
        </p:nvSpPr>
        <p:spPr/>
        <p:txBody>
          <a:bodyPr/>
          <a:lstStyle/>
          <a:p>
            <a:pPr>
              <a:defRPr/>
            </a:pPr>
            <a:fld id="{59E99A4B-ADEF-4975-A4A6-70E906D605FB}" type="slidenum">
              <a:rPr lang="en-US" smtClean="0"/>
              <a:pPr>
                <a:defRPr/>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062291"/>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066800"/>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52600"/>
            <a:ext cx="4040188" cy="4607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752600"/>
            <a:ext cx="4041775" cy="4607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smtClean="0"/>
              <a:t>NOAA’s Transition Package: November 4, 2008</a:t>
            </a:r>
            <a:endParaRPr lang="en-US"/>
          </a:p>
        </p:txBody>
      </p:sp>
      <p:sp>
        <p:nvSpPr>
          <p:cNvPr id="9" name="Slide Number Placeholder 8"/>
          <p:cNvSpPr>
            <a:spLocks noGrp="1"/>
          </p:cNvSpPr>
          <p:nvPr>
            <p:ph type="sldNum" sz="quarter" idx="12"/>
          </p:nvPr>
        </p:nvSpPr>
        <p:spPr/>
        <p:txBody>
          <a:bodyPr/>
          <a:lstStyle/>
          <a:p>
            <a:pPr>
              <a:defRPr/>
            </a:pPr>
            <a:fld id="{A6F96681-BF0C-467B-8D58-82E67A510D3C}" type="slidenum">
              <a:rPr lang="en-US" smtClean="0"/>
              <a:pPr>
                <a:defRPr/>
              </a:pPr>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neOffic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oalLea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smtClean="0"/>
              <a:t>NOAA’s Transition Package: November 4, 2008</a:t>
            </a:r>
            <a:endParaRPr lang="en-US"/>
          </a:p>
        </p:txBody>
      </p:sp>
      <p:sp>
        <p:nvSpPr>
          <p:cNvPr id="4" name="Slide Number Placeholder 3"/>
          <p:cNvSpPr>
            <a:spLocks noGrp="1"/>
          </p:cNvSpPr>
          <p:nvPr>
            <p:ph type="sldNum" sz="quarter" idx="12"/>
          </p:nvPr>
        </p:nvSpPr>
        <p:spPr/>
        <p:txBody>
          <a:bodyPr/>
          <a:lstStyle/>
          <a:p>
            <a:pPr>
              <a:defRPr/>
            </a:pPr>
            <a:fld id="{09F2EB43-3F6B-47F6-B74D-A0DF450A4BD8}" type="slidenum">
              <a:rPr lang="en-US" smtClean="0"/>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Content Placeholder 6"/>
          <p:cNvSpPr>
            <a:spLocks noGrp="1"/>
          </p:cNvSpPr>
          <p:nvPr>
            <p:ph sz="quarter" idx="13"/>
          </p:nvPr>
        </p:nvSpPr>
        <p:spPr>
          <a:xfrm>
            <a:off x="1524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6"/>
          <p:cNvSpPr>
            <a:spLocks noGrp="1"/>
          </p:cNvSpPr>
          <p:nvPr>
            <p:ph sz="quarter" idx="14"/>
          </p:nvPr>
        </p:nvSpPr>
        <p:spPr>
          <a:xfrm>
            <a:off x="1524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6"/>
          <p:cNvSpPr>
            <a:spLocks noGrp="1"/>
          </p:cNvSpPr>
          <p:nvPr>
            <p:ph sz="quarter" idx="15"/>
          </p:nvPr>
        </p:nvSpPr>
        <p:spPr>
          <a:xfrm>
            <a:off x="4572000" y="1066800"/>
            <a:ext cx="4419600" cy="53340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Content Placeholder 6"/>
          <p:cNvSpPr>
            <a:spLocks noGrp="1"/>
          </p:cNvSpPr>
          <p:nvPr>
            <p:ph sz="quarter" idx="13"/>
          </p:nvPr>
        </p:nvSpPr>
        <p:spPr>
          <a:xfrm>
            <a:off x="1524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6"/>
          <p:cNvSpPr>
            <a:spLocks noGrp="1"/>
          </p:cNvSpPr>
          <p:nvPr>
            <p:ph sz="quarter" idx="14"/>
          </p:nvPr>
        </p:nvSpPr>
        <p:spPr>
          <a:xfrm>
            <a:off x="1524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6"/>
          <p:cNvSpPr>
            <a:spLocks noGrp="1"/>
          </p:cNvSpPr>
          <p:nvPr>
            <p:ph sz="quarter" idx="15"/>
          </p:nvPr>
        </p:nvSpPr>
        <p:spPr>
          <a:xfrm>
            <a:off x="45720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6"/>
          <p:cNvSpPr>
            <a:spLocks noGrp="1"/>
          </p:cNvSpPr>
          <p:nvPr>
            <p:ph sz="quarter" idx="16"/>
          </p:nvPr>
        </p:nvSpPr>
        <p:spPr>
          <a:xfrm>
            <a:off x="45720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Picture Placeholder 6"/>
          <p:cNvSpPr>
            <a:spLocks noGrp="1"/>
          </p:cNvSpPr>
          <p:nvPr>
            <p:ph type="pic" sz="quarter" idx="13"/>
          </p:nvPr>
        </p:nvSpPr>
        <p:spPr>
          <a:xfrm>
            <a:off x="4114800" y="1295400"/>
            <a:ext cx="4724400" cy="3276600"/>
          </a:xfrm>
          <a:ln w="9525">
            <a:solidFill>
              <a:schemeClr val="accent5"/>
            </a:solidFill>
          </a:ln>
          <a:effectLst>
            <a:outerShdw blurRad="50800" dist="38100" dir="5400000" algn="t" rotWithShape="0">
              <a:schemeClr val="accent5">
                <a:lumMod val="50000"/>
                <a:alpha val="40000"/>
              </a:schemeClr>
            </a:outerShdw>
          </a:effectLst>
        </p:spPr>
        <p:txBody>
          <a:bodyPr/>
          <a:lstStyle/>
          <a:p>
            <a:endParaRPr lang="en-US"/>
          </a:p>
        </p:txBody>
      </p:sp>
      <p:sp>
        <p:nvSpPr>
          <p:cNvPr id="11" name="Text Placeholder 10"/>
          <p:cNvSpPr>
            <a:spLocks noGrp="1"/>
          </p:cNvSpPr>
          <p:nvPr>
            <p:ph type="body" sz="quarter" idx="17"/>
          </p:nvPr>
        </p:nvSpPr>
        <p:spPr>
          <a:xfrm>
            <a:off x="4114800" y="4572000"/>
            <a:ext cx="4724400" cy="1676400"/>
          </a:xfrm>
        </p:spPr>
        <p:style>
          <a:lnRef idx="1">
            <a:schemeClr val="accent5"/>
          </a:lnRef>
          <a:fillRef idx="2">
            <a:schemeClr val="accent5"/>
          </a:fillRef>
          <a:effectRef idx="1">
            <a:schemeClr val="accent5"/>
          </a:effectRef>
          <a:fontRef idx="none"/>
        </p:style>
        <p:txBody>
          <a:bodyPr lIns="274320" tIns="91440" rIns="91440" anchor="t">
            <a:noAutofit/>
          </a:bodyPr>
          <a:lstStyle>
            <a:lvl1pPr>
              <a:defRPr sz="2000" b="1">
                <a:solidFill>
                  <a:schemeClr val="accent5">
                    <a:lumMod val="50000"/>
                  </a:schemeClr>
                </a:solidFill>
              </a:defRPr>
            </a:lvl1pPr>
            <a:lvl2pPr>
              <a:buNone/>
              <a:defRPr/>
            </a:lvl2pPr>
          </a:lstStyle>
          <a:p>
            <a:pPr lvl="0"/>
            <a:r>
              <a:rPr lang="en-US" dirty="0" smtClean="0"/>
              <a:t>Click to edit Master text styles</a:t>
            </a:r>
          </a:p>
        </p:txBody>
      </p:sp>
      <p:sp>
        <p:nvSpPr>
          <p:cNvPr id="9" name="Text Placeholder 8"/>
          <p:cNvSpPr>
            <a:spLocks noGrp="1"/>
          </p:cNvSpPr>
          <p:nvPr>
            <p:ph type="body" sz="quarter" idx="14"/>
          </p:nvPr>
        </p:nvSpPr>
        <p:spPr>
          <a:xfrm>
            <a:off x="381000" y="3581400"/>
            <a:ext cx="3886200" cy="2514600"/>
          </a:xfrm>
          <a:prstGeom prst="homePlate">
            <a:avLst>
              <a:gd name="adj" fmla="val 19189"/>
            </a:avLst>
          </a:prstGeom>
          <a:gradFill>
            <a:gsLst>
              <a:gs pos="0">
                <a:schemeClr val="accent1">
                  <a:lumMod val="20000"/>
                  <a:lumOff val="80000"/>
                </a:schemeClr>
              </a:gs>
              <a:gs pos="68000">
                <a:srgbClr val="E3F1FD"/>
              </a:gs>
              <a:gs pos="100000">
                <a:schemeClr val="bg1"/>
              </a:gs>
            </a:gsLst>
          </a:gradFill>
        </p:spPr>
        <p:style>
          <a:lnRef idx="1">
            <a:schemeClr val="accent1"/>
          </a:lnRef>
          <a:fillRef idx="3">
            <a:schemeClr val="accent1"/>
          </a:fillRef>
          <a:effectRef idx="2">
            <a:schemeClr val="accent1"/>
          </a:effectRef>
          <a:fontRef idx="none"/>
        </p:style>
        <p:txBody>
          <a:bodyPr rIns="274320" anchor="ctr"/>
          <a:lstStyle>
            <a:lvl1pPr algn="r">
              <a:defRPr sz="2000" b="0">
                <a:solidFill>
                  <a:schemeClr val="accent1">
                    <a:lumMod val="50000"/>
                  </a:schemeClr>
                </a:solidFill>
                <a:effectLs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
        <p:nvSpPr>
          <p:cNvPr id="13" name="Text Placeholder 12"/>
          <p:cNvSpPr>
            <a:spLocks noGrp="1"/>
          </p:cNvSpPr>
          <p:nvPr>
            <p:ph type="body" sz="quarter" idx="16"/>
          </p:nvPr>
        </p:nvSpPr>
        <p:spPr>
          <a:xfrm>
            <a:off x="381000" y="1295400"/>
            <a:ext cx="3421743" cy="2209800"/>
          </a:xfrm>
          <a:prstGeom prst="wedgeRectCallout">
            <a:avLst>
              <a:gd name="adj1" fmla="val 20824"/>
              <a:gd name="adj2" fmla="val 56275"/>
            </a:avLst>
          </a:prstGeom>
          <a:gradFill>
            <a:gsLst>
              <a:gs pos="0">
                <a:srgbClr val="FFE5E5"/>
              </a:gs>
              <a:gs pos="68000">
                <a:srgbClr val="FFF3F3"/>
              </a:gs>
              <a:gs pos="99000">
                <a:schemeClr val="bg1"/>
              </a:gs>
            </a:gsLst>
          </a:gradFill>
          <a:ln>
            <a:solidFill>
              <a:srgbClr val="C00000"/>
            </a:solidFill>
          </a:ln>
          <a:effectLst>
            <a:outerShdw blurRad="57150" dist="38100" dir="5400000" algn="ctr" rotWithShape="0">
              <a:srgbClr val="C00000">
                <a:alpha val="48000"/>
              </a:srgbClr>
            </a:outerShdw>
          </a:effectLst>
        </p:spPr>
        <p:style>
          <a:lnRef idx="1">
            <a:schemeClr val="accent1"/>
          </a:lnRef>
          <a:fillRef idx="3">
            <a:schemeClr val="accent1"/>
          </a:fillRef>
          <a:effectRef idx="2">
            <a:schemeClr val="accent1"/>
          </a:effectRef>
          <a:fontRef idx="none"/>
        </p:style>
        <p:txBody>
          <a:bodyPr vert="horz" lIns="182880" rIns="182880" anchor="ctr">
            <a:noAutofit/>
          </a:bodyPr>
          <a:lstStyle>
            <a:lvl1pPr algn="l">
              <a:spcBef>
                <a:spcPts val="0"/>
              </a:spcBef>
              <a:defRPr kumimoji="0" lang="en-US" sz="2600" b="1" kern="1200" dirty="0" smtClean="0">
                <a:solidFill>
                  <a:srgbClr val="C00000"/>
                </a:solidFill>
                <a:effectLst/>
                <a:latin typeface="+mn-lt"/>
                <a:ea typeface="+mn-ea"/>
                <a:cs typeface="+mn-cs"/>
              </a:defRPr>
            </a:lvl1pPr>
          </a:lstStyle>
          <a:p>
            <a:pPr marL="0" lvl="0" indent="0" algn="ctr" rtl="0" eaLnBrk="1" latinLnBrk="0" hangingPunct="1">
              <a:spcBef>
                <a:spcPct val="20000"/>
              </a:spcBef>
              <a:buClr>
                <a:schemeClr val="accent3"/>
              </a:buClr>
              <a:buSzPct val="95000"/>
              <a:buFont typeface="Wingdings 2"/>
              <a:buNone/>
            </a:pPr>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ffOffi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12" name="Picture Placeholder 11"/>
          <p:cNvSpPr>
            <a:spLocks noGrp="1"/>
          </p:cNvSpPr>
          <p:nvPr>
            <p:ph type="pic" sz="quarter" idx="13"/>
          </p:nvPr>
        </p:nvSpPr>
        <p:spPr>
          <a:xfrm>
            <a:off x="609600" y="1295400"/>
            <a:ext cx="990600" cy="1295400"/>
          </a:xfrm>
          <a:effectLst>
            <a:outerShdw blurRad="50800" dist="38100" dir="5400000" algn="t" rotWithShape="0">
              <a:prstClr val="black">
                <a:alpha val="40000"/>
              </a:prstClr>
            </a:outerShdw>
          </a:effectLst>
        </p:spPr>
        <p:txBody>
          <a:bodyPr/>
          <a:lstStyle/>
          <a:p>
            <a:endParaRPr lang="en-US"/>
          </a:p>
        </p:txBody>
      </p:sp>
      <p:sp>
        <p:nvSpPr>
          <p:cNvPr id="14" name="Text Placeholder 13"/>
          <p:cNvSpPr>
            <a:spLocks noGrp="1"/>
          </p:cNvSpPr>
          <p:nvPr>
            <p:ph type="body" sz="quarter" idx="14"/>
          </p:nvPr>
        </p:nvSpPr>
        <p:spPr>
          <a:xfrm>
            <a:off x="609600" y="2590800"/>
            <a:ext cx="1020763" cy="533400"/>
          </a:xfrm>
        </p:spPr>
        <p:txBody>
          <a:bodyPr lIns="0" rIns="0">
            <a:noAutofit/>
          </a:bodyPr>
          <a:lstStyle>
            <a:lvl1pPr algn="ctr" rtl="0" fontAlgn="base">
              <a:spcBef>
                <a:spcPct val="0"/>
              </a:spcBef>
              <a:spcAft>
                <a:spcPct val="0"/>
              </a:spcAft>
              <a:defRPr lang="en-US" sz="1200" b="1" kern="1200" dirty="0" smtClean="0">
                <a:solidFill>
                  <a:schemeClr val="tx1"/>
                </a:solidFill>
                <a:latin typeface="+mn-lt"/>
                <a:ea typeface="+mn-ea"/>
                <a:cs typeface="+mn-cs"/>
              </a:defRPr>
            </a:lvl1pPr>
            <a:lvl2pPr>
              <a:defRPr sz="1000"/>
            </a:lvl2pPr>
            <a:lvl3pPr>
              <a:defRPr sz="1000"/>
            </a:lvl3pPr>
            <a:lvl4pPr>
              <a:defRPr sz="1000"/>
            </a:lvl4pPr>
            <a:lvl5pPr>
              <a:defRPr sz="1000"/>
            </a:lvl5pPr>
          </a:lstStyle>
          <a:p>
            <a:pPr lvl="0"/>
            <a:r>
              <a:rPr lang="en-US" dirty="0" smtClean="0"/>
              <a:t>Click to edit Master text styles</a:t>
            </a:r>
          </a:p>
        </p:txBody>
      </p:sp>
      <p:sp>
        <p:nvSpPr>
          <p:cNvPr id="16" name="Text Placeholder 15"/>
          <p:cNvSpPr>
            <a:spLocks noGrp="1"/>
          </p:cNvSpPr>
          <p:nvPr>
            <p:ph type="body" sz="quarter" idx="15"/>
          </p:nvPr>
        </p:nvSpPr>
        <p:spPr>
          <a:xfrm>
            <a:off x="1676400" y="1295400"/>
            <a:ext cx="5791200" cy="5105400"/>
          </a:xfrm>
        </p:spPr>
        <p:txBody>
          <a:bodyPr/>
          <a:lstStyle>
            <a:lvl1pPr>
              <a:spcBef>
                <a:spcPts val="600"/>
              </a:spcBef>
              <a:defRPr b="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Picture Placeholder 12"/>
          <p:cNvSpPr>
            <a:spLocks noGrp="1"/>
          </p:cNvSpPr>
          <p:nvPr>
            <p:ph type="pic" sz="quarter" idx="16"/>
          </p:nvPr>
        </p:nvSpPr>
        <p:spPr>
          <a:xfrm>
            <a:off x="7543800" y="16002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a:lstStyle/>
          <a:p>
            <a:endParaRPr lang="en-US"/>
          </a:p>
        </p:txBody>
      </p:sp>
      <p:sp>
        <p:nvSpPr>
          <p:cNvPr id="15" name="Picture Placeholder 12"/>
          <p:cNvSpPr>
            <a:spLocks noGrp="1"/>
          </p:cNvSpPr>
          <p:nvPr>
            <p:ph type="pic" sz="quarter" idx="17"/>
          </p:nvPr>
        </p:nvSpPr>
        <p:spPr>
          <a:xfrm>
            <a:off x="7543800" y="29718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vert="horz">
            <a:normAutofit/>
          </a:bodyPr>
          <a:lstStyle>
            <a:lvl1pPr marL="0" indent="0" algn="l" rtl="0" eaLnBrk="1" latinLnBrk="0" hangingPunct="1">
              <a:spcBef>
                <a:spcPct val="20000"/>
              </a:spcBef>
              <a:buClr>
                <a:schemeClr val="accent3"/>
              </a:buClr>
              <a:buSzPct val="95000"/>
              <a:buFont typeface="Wingdings 2"/>
              <a:buNone/>
              <a:defRPr kumimoji="0" lang="en-US" sz="2600" kern="1200">
                <a:solidFill>
                  <a:schemeClr val="tx1"/>
                </a:solidFill>
                <a:latin typeface="+mn-lt"/>
                <a:ea typeface="+mn-ea"/>
                <a:cs typeface="+mn-cs"/>
              </a:defRPr>
            </a:lvl1pPr>
          </a:lstStyle>
          <a:p>
            <a:endParaRPr lang="en-US"/>
          </a:p>
        </p:txBody>
      </p:sp>
      <p:sp>
        <p:nvSpPr>
          <p:cNvPr id="18" name="Picture Placeholder 12"/>
          <p:cNvSpPr>
            <a:spLocks noGrp="1"/>
          </p:cNvSpPr>
          <p:nvPr>
            <p:ph type="pic" sz="quarter" idx="18"/>
          </p:nvPr>
        </p:nvSpPr>
        <p:spPr>
          <a:xfrm>
            <a:off x="7543800" y="43434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vert="horz">
            <a:normAutofit/>
          </a:bodyPr>
          <a:lstStyle>
            <a:lvl1pPr marL="0" indent="0" algn="l" rtl="0" eaLnBrk="1" latinLnBrk="0" hangingPunct="1">
              <a:spcBef>
                <a:spcPct val="20000"/>
              </a:spcBef>
              <a:buClr>
                <a:schemeClr val="accent3"/>
              </a:buClr>
              <a:buSzPct val="95000"/>
              <a:buFont typeface="Wingdings 2"/>
              <a:buNone/>
              <a:defRPr kumimoji="0" lang="en-US" sz="2600" kern="1200">
                <a:solidFill>
                  <a:schemeClr val="tx1"/>
                </a:solidFill>
                <a:latin typeface="+mn-lt"/>
                <a:ea typeface="+mn-ea"/>
                <a:cs typeface="+mn-cs"/>
              </a:defRPr>
            </a:lvl1pPr>
          </a:lstStyle>
          <a:p>
            <a:endParaRPr lang="en-US"/>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Just For Pictures">
    <p:bg>
      <p:bgPr>
        <a:gradFill flip="none" rotWithShape="1">
          <a:gsLst>
            <a:gs pos="0">
              <a:schemeClr val="accent1">
                <a:lumMod val="50000"/>
              </a:schemeClr>
            </a:gs>
            <a:gs pos="33000">
              <a:schemeClr val="accent1">
                <a:lumMod val="75000"/>
              </a:schemeClr>
            </a:gs>
            <a:gs pos="80000">
              <a:schemeClr val="accent1">
                <a:lumMod val="20000"/>
                <a:lumOff val="80000"/>
              </a:schemeClr>
            </a:gs>
          </a:gsLst>
          <a:lin ang="16200000" scaled="1"/>
          <a:tileRect/>
        </a:gradFill>
        <a:effectLst/>
      </p:bgPr>
    </p:bg>
    <p:spTree>
      <p:nvGrpSpPr>
        <p:cNvPr id="1" name=""/>
        <p:cNvGrpSpPr/>
        <p:nvPr/>
      </p:nvGrpSpPr>
      <p:grpSpPr>
        <a:xfrm>
          <a:off x="0" y="0"/>
          <a:ext cx="0" cy="0"/>
          <a:chOff x="0" y="0"/>
          <a:chExt cx="0" cy="0"/>
        </a:xfrm>
      </p:grpSpPr>
      <p:grpSp>
        <p:nvGrpSpPr>
          <p:cNvPr id="3" name="Group 10"/>
          <p:cNvGrpSpPr/>
          <p:nvPr userDrawn="1"/>
        </p:nvGrpSpPr>
        <p:grpSpPr>
          <a:xfrm rot="10800000">
            <a:off x="-19017" y="5816600"/>
            <a:ext cx="9180548" cy="1041400"/>
            <a:chOff x="-19017" y="-7144"/>
            <a:chExt cx="9180548" cy="1041400"/>
          </a:xfrm>
        </p:grpSpPr>
        <p:sp>
          <p:nvSpPr>
            <p:cNvPr id="6" name="Freeform 5"/>
            <p:cNvSpPr>
              <a:spLocks/>
            </p:cNvSpPr>
            <p:nvPr userDrawn="1"/>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7" name="Freeform 6"/>
            <p:cNvSpPr>
              <a:spLocks/>
            </p:cNvSpPr>
            <p:nvPr userDrawn="1"/>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grpSp>
          <p:nvGrpSpPr>
            <p:cNvPr id="4" name="Group 7"/>
            <p:cNvGrpSpPr/>
            <p:nvPr userDrawn="1"/>
          </p:nvGrpSpPr>
          <p:grpSpPr>
            <a:xfrm>
              <a:off x="-19017" y="202408"/>
              <a:ext cx="9180548" cy="649224"/>
              <a:chOff x="-19045" y="216550"/>
              <a:chExt cx="9180548" cy="649224"/>
            </a:xfrm>
          </p:grpSpPr>
          <p:sp>
            <p:nvSpPr>
              <p:cNvPr id="9" name="Freeform 8"/>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Freeform 9"/>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grpSp>
      <p:sp>
        <p:nvSpPr>
          <p:cNvPr id="2" name="Title 1"/>
          <p:cNvSpPr>
            <a:spLocks noGrp="1"/>
          </p:cNvSpPr>
          <p:nvPr>
            <p:ph type="title"/>
          </p:nvPr>
        </p:nvSpPr>
        <p:spPr>
          <a:xfrm>
            <a:off x="609600" y="5791200"/>
            <a:ext cx="7620000" cy="1065213"/>
          </a:xfrm>
        </p:spPr>
        <p:txBody>
          <a:bodyPr rIns="182880" bIns="182880"/>
          <a:lstStyle>
            <a:lvl1pPr algn="r">
              <a:defRPr>
                <a:solidFill>
                  <a:schemeClr val="bg1"/>
                </a:solidFill>
                <a:effectLst>
                  <a:glow rad="101600">
                    <a:schemeClr val="accent1">
                      <a:lumMod val="50000"/>
                      <a:alpha val="60000"/>
                    </a:schemeClr>
                  </a:glow>
                </a:effectLst>
              </a:defRPr>
            </a:lvl1pPr>
          </a:lstStyle>
          <a:p>
            <a:r>
              <a:rPr lang="en-US" dirty="0" smtClean="0"/>
              <a:t>Click to edit Master title style</a:t>
            </a:r>
            <a:endParaRPr lang="en-US" dirty="0"/>
          </a:p>
        </p:txBody>
      </p:sp>
      <p:pic>
        <p:nvPicPr>
          <p:cNvPr id="12" name="Picture 12" descr="doc_logo"/>
          <p:cNvPicPr>
            <a:picLocks noChangeAspect="1" noChangeArrowheads="1"/>
          </p:cNvPicPr>
          <p:nvPr userDrawn="1"/>
        </p:nvPicPr>
        <p:blipFill>
          <a:blip r:embed="rId2" cstate="print"/>
          <a:stretch>
            <a:fillRect/>
          </a:stretch>
        </p:blipFill>
        <p:spPr bwMode="auto">
          <a:xfrm>
            <a:off x="8209280" y="6136642"/>
            <a:ext cx="375955" cy="374328"/>
          </a:xfrm>
          <a:prstGeom prst="rect">
            <a:avLst/>
          </a:prstGeom>
          <a:noFill/>
          <a:ln w="9525">
            <a:noFill/>
            <a:miter lim="800000"/>
            <a:headEnd/>
            <a:tailEnd/>
          </a:ln>
        </p:spPr>
      </p:pic>
      <p:pic>
        <p:nvPicPr>
          <p:cNvPr id="13" name="Picture 8"/>
          <p:cNvPicPr>
            <a:picLocks noChangeAspect="1" noChangeArrowheads="1"/>
          </p:cNvPicPr>
          <p:nvPr userDrawn="1"/>
        </p:nvPicPr>
        <p:blipFill>
          <a:blip r:embed="rId3" cstate="print"/>
          <a:stretch>
            <a:fillRect/>
          </a:stretch>
        </p:blipFill>
        <p:spPr bwMode="auto">
          <a:xfrm>
            <a:off x="8610600" y="6133703"/>
            <a:ext cx="380207" cy="380207"/>
          </a:xfrm>
          <a:prstGeom prst="rect">
            <a:avLst/>
          </a:prstGeom>
          <a:noFill/>
          <a:ln w="12700">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6.png"/><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914400" y="0"/>
            <a:ext cx="8229600" cy="990600"/>
          </a:xfrm>
          <a:prstGeom prst="rect">
            <a:avLst/>
          </a:prstGeom>
        </p:spPr>
        <p:txBody>
          <a:bodyPr vert="horz" lIns="91440" tIns="91440" rIns="0" bIns="0" anchor="t">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990600"/>
            <a:ext cx="8229600" cy="533400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5791200" y="6492875"/>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mn-lt"/>
              </a:defRPr>
            </a:lvl1pPr>
          </a:lstStyle>
          <a:p>
            <a:pPr>
              <a:defRPr/>
            </a:pPr>
            <a:endParaRPr lang="en-US" dirty="0"/>
          </a:p>
        </p:txBody>
      </p:sp>
      <p:sp>
        <p:nvSpPr>
          <p:cNvPr id="22" name="Footer Placeholder 21"/>
          <p:cNvSpPr>
            <a:spLocks noGrp="1"/>
          </p:cNvSpPr>
          <p:nvPr>
            <p:ph type="ftr" sz="quarter" idx="3"/>
          </p:nvPr>
        </p:nvSpPr>
        <p:spPr>
          <a:xfrm>
            <a:off x="0" y="6491288"/>
            <a:ext cx="5334000" cy="365125"/>
          </a:xfrm>
          <a:prstGeom prst="rect">
            <a:avLst/>
          </a:prstGeom>
        </p:spPr>
        <p:txBody>
          <a:bodyPr vert="horz" lIns="548640" tIns="0" rIns="0" bIns="0" anchor="b"/>
          <a:lstStyle>
            <a:lvl1pPr algn="l" eaLnBrk="1" latinLnBrk="0" hangingPunct="1">
              <a:defRPr kumimoji="0" sz="1200">
                <a:solidFill>
                  <a:schemeClr val="tx2">
                    <a:shade val="90000"/>
                  </a:schemeClr>
                </a:solidFill>
                <a:latin typeface="+mn-lt"/>
              </a:defRPr>
            </a:lvl1pPr>
          </a:lstStyle>
          <a:p>
            <a:pPr>
              <a:defRPr/>
            </a:pPr>
            <a:r>
              <a:rPr lang="en-US" smtClean="0"/>
              <a:t>NOAA’s Transition Package: November 4, 2008</a:t>
            </a:r>
            <a:endParaRPr lang="en-US" dirty="0"/>
          </a:p>
        </p:txBody>
      </p:sp>
      <p:sp>
        <p:nvSpPr>
          <p:cNvPr id="18" name="Slide Number Placeholder 17"/>
          <p:cNvSpPr>
            <a:spLocks noGrp="1"/>
          </p:cNvSpPr>
          <p:nvPr>
            <p:ph type="sldNum" sz="quarter" idx="4"/>
          </p:nvPr>
        </p:nvSpPr>
        <p:spPr>
          <a:xfrm>
            <a:off x="8382000" y="6491288"/>
            <a:ext cx="762000" cy="365125"/>
          </a:xfrm>
          <a:prstGeom prst="rect">
            <a:avLst/>
          </a:prstGeom>
        </p:spPr>
        <p:txBody>
          <a:bodyPr vert="horz" lIns="0" tIns="0" rIns="274320" bIns="0" anchor="b"/>
          <a:lstStyle>
            <a:lvl1pPr algn="r" eaLnBrk="1" latinLnBrk="0" hangingPunct="1">
              <a:defRPr kumimoji="0" sz="1200">
                <a:solidFill>
                  <a:schemeClr val="tx2">
                    <a:shade val="90000"/>
                  </a:schemeClr>
                </a:solidFill>
                <a:latin typeface="+mn-lt"/>
              </a:defRPr>
            </a:lvl1pPr>
          </a:lstStyle>
          <a:p>
            <a:pPr>
              <a:defRPr/>
            </a:pPr>
            <a:fld id="{2101FC03-EF6B-4637-A3E0-B59B7A0B076E}" type="slidenum">
              <a:rPr lang="en-US" smtClean="0"/>
              <a:pPr>
                <a:defRPr/>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pic>
        <p:nvPicPr>
          <p:cNvPr id="14" name="Picture 12" descr="doc_logo"/>
          <p:cNvPicPr>
            <a:picLocks noChangeAspect="1" noChangeArrowheads="1"/>
          </p:cNvPicPr>
          <p:nvPr/>
        </p:nvPicPr>
        <p:blipFill>
          <a:blip r:embed="rId19" cstate="print"/>
          <a:stretch>
            <a:fillRect/>
          </a:stretch>
        </p:blipFill>
        <p:spPr bwMode="auto">
          <a:xfrm>
            <a:off x="76200" y="155736"/>
            <a:ext cx="375955" cy="374328"/>
          </a:xfrm>
          <a:prstGeom prst="rect">
            <a:avLst/>
          </a:prstGeom>
          <a:noFill/>
          <a:ln w="9525">
            <a:noFill/>
            <a:miter lim="800000"/>
            <a:headEnd/>
            <a:tailEnd/>
          </a:ln>
        </p:spPr>
      </p:pic>
      <p:pic>
        <p:nvPicPr>
          <p:cNvPr id="16" name="Picture 8"/>
          <p:cNvPicPr>
            <a:picLocks noChangeAspect="1" noChangeArrowheads="1"/>
          </p:cNvPicPr>
          <p:nvPr/>
        </p:nvPicPr>
        <p:blipFill>
          <a:blip r:embed="rId20" cstate="print"/>
          <a:stretch>
            <a:fillRect/>
          </a:stretch>
        </p:blipFill>
        <p:spPr bwMode="auto">
          <a:xfrm>
            <a:off x="477520" y="152797"/>
            <a:ext cx="380207" cy="380207"/>
          </a:xfrm>
          <a:prstGeom prst="rect">
            <a:avLst/>
          </a:prstGeom>
          <a:noFill/>
          <a:ln w="12700">
            <a:noFill/>
            <a:miter lim="800000"/>
            <a:headEnd/>
            <a:tailEnd/>
          </a:ln>
        </p:spPr>
      </p:pic>
      <p:sp>
        <p:nvSpPr>
          <p:cNvPr id="17" name="Text Box 13"/>
          <p:cNvSpPr txBox="1">
            <a:spLocks noChangeArrowheads="1"/>
          </p:cNvSpPr>
          <p:nvPr/>
        </p:nvSpPr>
        <p:spPr bwMode="auto">
          <a:xfrm rot="18900000">
            <a:off x="6248400" y="5105400"/>
            <a:ext cx="2895600" cy="701675"/>
          </a:xfrm>
          <a:prstGeom prst="rect">
            <a:avLst/>
          </a:prstGeom>
          <a:noFill/>
          <a:ln w="9525">
            <a:noFill/>
            <a:miter lim="800000"/>
            <a:headEnd/>
            <a:tailEnd/>
          </a:ln>
          <a:effectLst/>
        </p:spPr>
        <p:txBody>
          <a:bodyPr>
            <a:spAutoFit/>
          </a:bodyPr>
          <a:lstStyle/>
          <a:p>
            <a:pPr>
              <a:spcBef>
                <a:spcPct val="50000"/>
              </a:spcBef>
              <a:defRPr/>
            </a:pPr>
            <a:r>
              <a:rPr lang="en-US" sz="4000">
                <a:solidFill>
                  <a:srgbClr val="DDDDDD"/>
                </a:solidFill>
              </a:rPr>
              <a:t>    </a:t>
            </a: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69" r:id="rId3"/>
    <p:sldLayoutId id="2147483666" r:id="rId4"/>
    <p:sldLayoutId id="2147483667" r:id="rId5"/>
    <p:sldLayoutId id="2147483659" r:id="rId6"/>
    <p:sldLayoutId id="2147483660" r:id="rId7"/>
    <p:sldLayoutId id="2147483661" r:id="rId8"/>
    <p:sldLayoutId id="2147483662" r:id="rId9"/>
    <p:sldLayoutId id="2147483672" r:id="rId10"/>
    <p:sldLayoutId id="2147483671" r:id="rId11"/>
    <p:sldLayoutId id="2147483663" r:id="rId12"/>
    <p:sldLayoutId id="2147483664" r:id="rId13"/>
    <p:sldLayoutId id="2147483665" r:id="rId14"/>
    <p:sldLayoutId id="2147483668" r:id="rId15"/>
    <p:sldLayoutId id="2147483670" r:id="rId16"/>
    <p:sldLayoutId id="2147483678" r:id="rId17"/>
  </p:sldLayoutIdLst>
  <p:hf hdr="0" dt="0"/>
  <p:txStyles>
    <p:titleStyle>
      <a:lvl1pPr algn="l" rtl="0" eaLnBrk="1" latinLnBrk="0" hangingPunct="1">
        <a:spcBef>
          <a:spcPct val="0"/>
        </a:spcBef>
        <a:buNone/>
        <a:defRPr kumimoji="0" sz="3200" b="0" kern="1200">
          <a:ln>
            <a:noFill/>
          </a:ln>
          <a:solidFill>
            <a:schemeClr val="accent1">
              <a:lumMod val="50000"/>
            </a:schemeClr>
          </a:solidFill>
          <a:effectLst>
            <a:glow rad="101600">
              <a:schemeClr val="bg1">
                <a:alpha val="60000"/>
              </a:schemeClr>
            </a:glow>
          </a:effectLst>
          <a:latin typeface="+mj-lt"/>
          <a:ea typeface="+mj-ea"/>
          <a:cs typeface="+mj-cs"/>
        </a:defRPr>
      </a:lvl1pPr>
    </p:titleStyle>
    <p:bodyStyle>
      <a:lvl1pPr marL="0" indent="0" algn="l" rtl="0" eaLnBrk="1" latinLnBrk="0" hangingPunct="1">
        <a:spcBef>
          <a:spcPct val="20000"/>
        </a:spcBef>
        <a:buClr>
          <a:schemeClr val="accent3"/>
        </a:buClr>
        <a:buSzPct val="95000"/>
        <a:buFont typeface="Wingdings 2"/>
        <a:buNone/>
        <a:defRPr kumimoji="0" sz="2600" kern="1200">
          <a:solidFill>
            <a:schemeClr val="tx1"/>
          </a:solidFill>
          <a:latin typeface="+mn-lt"/>
          <a:ea typeface="+mn-ea"/>
          <a:cs typeface="+mn-cs"/>
        </a:defRPr>
      </a:lvl1pPr>
      <a:lvl2pPr marL="640080" indent="-246888" algn="l" rtl="0" eaLnBrk="1" latinLnBrk="0" hangingPunct="1">
        <a:spcBef>
          <a:spcPts val="0"/>
        </a:spcBef>
        <a:buClr>
          <a:schemeClr val="accent1"/>
        </a:buClr>
        <a:buSzPct val="85000"/>
        <a:buFontTx/>
        <a:buBlip>
          <a:blip r:embed="rId21"/>
        </a:buBlip>
        <a:defRPr kumimoji="0" sz="2000" kern="1200">
          <a:solidFill>
            <a:schemeClr val="tx1"/>
          </a:solidFill>
          <a:latin typeface="+mn-lt"/>
          <a:ea typeface="+mn-ea"/>
          <a:cs typeface="+mn-cs"/>
        </a:defRPr>
      </a:lvl2pPr>
      <a:lvl3pPr marL="914400" indent="-246888" algn="l" rtl="0" eaLnBrk="1" latinLnBrk="0" hangingPunct="1">
        <a:spcBef>
          <a:spcPts val="0"/>
        </a:spcBef>
        <a:buClr>
          <a:schemeClr val="accent2"/>
        </a:buClr>
        <a:buSzPct val="70000"/>
        <a:buFontTx/>
        <a:buBlip>
          <a:blip r:embed="rId22"/>
        </a:buBlip>
        <a:defRPr kumimoji="0" sz="2000" kern="1200">
          <a:solidFill>
            <a:schemeClr val="tx1"/>
          </a:solidFill>
          <a:latin typeface="+mn-lt"/>
          <a:ea typeface="+mn-ea"/>
          <a:cs typeface="+mn-cs"/>
        </a:defRPr>
      </a:lvl3pPr>
      <a:lvl4pPr marL="1188720" indent="-210312" algn="l" rtl="0" eaLnBrk="1" latinLnBrk="0" hangingPunct="1">
        <a:spcBef>
          <a:spcPts val="0"/>
        </a:spcBef>
        <a:buClr>
          <a:schemeClr val="accent3"/>
        </a:buClr>
        <a:buSzPct val="65000"/>
        <a:buFontTx/>
        <a:buBlip>
          <a:blip r:embed="rId23"/>
        </a:buBlip>
        <a:defRPr kumimoji="0" sz="1800" kern="1200">
          <a:solidFill>
            <a:schemeClr val="tx1"/>
          </a:solidFill>
          <a:latin typeface="+mn-lt"/>
          <a:ea typeface="+mn-ea"/>
          <a:cs typeface="+mn-cs"/>
        </a:defRPr>
      </a:lvl4pPr>
      <a:lvl5pPr marL="1463040" indent="-210312" algn="l" rtl="0" eaLnBrk="1" latinLnBrk="0" hangingPunct="1">
        <a:spcBef>
          <a:spcPts val="0"/>
        </a:spcBef>
        <a:buClr>
          <a:schemeClr val="accent4"/>
        </a:buClr>
        <a:buSzPct val="65000"/>
        <a:buFontTx/>
        <a:buBlip>
          <a:blip r:embed="rId23"/>
        </a:buBlip>
        <a:defRPr kumimoji="0" sz="18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 Target="slide2.xml"/><Relationship Id="rId1" Type="http://schemas.openxmlformats.org/officeDocument/2006/relationships/slideLayout" Target="../slideLayouts/slideLayout16.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 Target="slide2.xml"/><Relationship Id="rId1" Type="http://schemas.openxmlformats.org/officeDocument/2006/relationships/slideLayout" Target="../slideLayouts/slideLayout16.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5.jpe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9.jpe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jpeg"/></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46.png"/><Relationship Id="rId5" Type="http://schemas.openxmlformats.org/officeDocument/2006/relationships/image" Target="../media/image45.jpeg"/><Relationship Id="rId4" Type="http://schemas.openxmlformats.org/officeDocument/2006/relationships/image" Target="../media/image44.jpeg"/></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1.jpe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4.jpeg"/><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44.jpeg"/></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8.jpe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Autofit/>
          </a:bodyPr>
          <a:lstStyle/>
          <a:p>
            <a:r>
              <a:rPr lang="en-US" sz="4400" dirty="0" smtClean="0"/>
              <a:t>NOAA</a:t>
            </a:r>
            <a:br>
              <a:rPr lang="en-US" sz="4400" dirty="0" smtClean="0"/>
            </a:br>
            <a:r>
              <a:rPr lang="en-US" sz="4400" dirty="0" smtClean="0"/>
              <a:t>Transition Team Briefing</a:t>
            </a:r>
            <a:endParaRPr lang="en-US" sz="4400" dirty="0"/>
          </a:p>
        </p:txBody>
      </p:sp>
      <p:sp>
        <p:nvSpPr>
          <p:cNvPr id="9" name="Subtitle 8"/>
          <p:cNvSpPr>
            <a:spLocks noGrp="1"/>
          </p:cNvSpPr>
          <p:nvPr>
            <p:ph type="subTitle" idx="1"/>
          </p:nvPr>
        </p:nvSpPr>
        <p:spPr/>
        <p:txBody>
          <a:bodyPr/>
          <a:lstStyle/>
          <a:p>
            <a:r>
              <a:rPr lang="en-US" smtClean="0"/>
              <a:t>Staff Offices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777AAD5B-D984-430E-974F-4D58B057A343}" type="slidenum">
              <a:rPr lang="en-US" smtClean="0"/>
              <a:pPr/>
              <a:t>2</a:t>
            </a:fld>
            <a:endParaRPr lang="en-US"/>
          </a:p>
        </p:txBody>
      </p:sp>
      <p:sp>
        <p:nvSpPr>
          <p:cNvPr id="12290" name="Rectangle 2"/>
          <p:cNvSpPr>
            <a:spLocks noGrp="1" noChangeArrowheads="1"/>
          </p:cNvSpPr>
          <p:nvPr>
            <p:ph type="title"/>
          </p:nvPr>
        </p:nvSpPr>
        <p:spPr/>
        <p:txBody>
          <a:bodyPr/>
          <a:lstStyle/>
          <a:p>
            <a:r>
              <a:rPr lang="en-US" dirty="0" smtClean="0"/>
              <a:t>NOAA Organization</a:t>
            </a:r>
          </a:p>
        </p:txBody>
      </p:sp>
      <p:sp>
        <p:nvSpPr>
          <p:cNvPr id="35" name="Footer Placeholder 34"/>
          <p:cNvSpPr>
            <a:spLocks noGrp="1"/>
          </p:cNvSpPr>
          <p:nvPr>
            <p:ph type="ftr" sz="quarter" idx="11"/>
          </p:nvPr>
        </p:nvSpPr>
        <p:spPr/>
        <p:txBody>
          <a:bodyPr/>
          <a:lstStyle/>
          <a:p>
            <a:pPr>
              <a:defRPr/>
            </a:pPr>
            <a:r>
              <a:rPr lang="en-US" smtClean="0"/>
              <a:t>NOAA’s Transition Package: November 4, 2008</a:t>
            </a:r>
            <a:endParaRPr lang="en-US"/>
          </a:p>
        </p:txBody>
      </p:sp>
      <p:pic>
        <p:nvPicPr>
          <p:cNvPr id="1028" name="Picture 4" descr="G:\Presentations\2008\General\Transition Package\forShow\assets\ai\orgCharts\highlights\highlight_staff.png"/>
          <p:cNvPicPr>
            <a:picLocks noChangeAspect="1" noChangeArrowheads="1"/>
          </p:cNvPicPr>
          <p:nvPr/>
        </p:nvPicPr>
        <p:blipFill>
          <a:blip r:embed="rId3"/>
          <a:srcRect/>
          <a:stretch>
            <a:fillRect/>
          </a:stretch>
        </p:blipFill>
        <p:spPr bwMode="auto">
          <a:xfrm>
            <a:off x="762000" y="762000"/>
            <a:ext cx="7622984" cy="5960221"/>
          </a:xfrm>
          <a:prstGeom prst="rect">
            <a:avLst/>
          </a:prstGeom>
          <a:noFill/>
        </p:spPr>
      </p:pic>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2"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46" name="Title 45"/>
          <p:cNvSpPr>
            <a:spLocks noGrp="1"/>
          </p:cNvSpPr>
          <p:nvPr>
            <p:ph type="title"/>
          </p:nvPr>
        </p:nvSpPr>
        <p:spPr/>
        <p:txBody>
          <a:bodyPr/>
          <a:lstStyle/>
          <a:p>
            <a:r>
              <a:rPr lang="en-US" dirty="0" smtClean="0"/>
              <a:t>Staff Offices</a:t>
            </a:r>
            <a:br>
              <a:rPr lang="en-US" dirty="0" smtClean="0"/>
            </a:br>
            <a:r>
              <a:rPr lang="en-US" sz="2100" i="1" dirty="0" smtClean="0">
                <a:latin typeface="+mn-lt"/>
              </a:rPr>
              <a:t>International Affairs</a:t>
            </a:r>
          </a:p>
        </p:txBody>
      </p:sp>
      <p:sp>
        <p:nvSpPr>
          <p:cNvPr id="2" name="Footer Placeholder 1"/>
          <p:cNvSpPr>
            <a:spLocks noGrp="1"/>
          </p:cNvSpPr>
          <p:nvPr>
            <p:ph type="ftr" sz="quarter" idx="11"/>
          </p:nvPr>
        </p:nvSpPr>
        <p:spPr/>
        <p:txBody>
          <a:bodyPr/>
          <a:lstStyle/>
          <a:p>
            <a:r>
              <a:rPr lang="en-US" smtClean="0"/>
              <a:t>NOAA’s Transition Package: November 4, 2008</a:t>
            </a:r>
            <a:endParaRPr lang="en-US"/>
          </a:p>
        </p:txBody>
      </p:sp>
      <p:sp>
        <p:nvSpPr>
          <p:cNvPr id="3" name="Slide Number Placeholder 2"/>
          <p:cNvSpPr>
            <a:spLocks noGrp="1"/>
          </p:cNvSpPr>
          <p:nvPr>
            <p:ph type="sldNum" sz="quarter" idx="12"/>
          </p:nvPr>
        </p:nvSpPr>
        <p:spPr/>
        <p:txBody>
          <a:bodyPr/>
          <a:lstStyle/>
          <a:p>
            <a:fld id="{13709644-7F36-4A31-A611-EC754CEF71E0}" type="slidenum">
              <a:rPr lang="en-US" smtClean="0"/>
              <a:pPr/>
              <a:t>3</a:t>
            </a:fld>
            <a:endParaRPr lang="en-US"/>
          </a:p>
        </p:txBody>
      </p:sp>
      <p:pic>
        <p:nvPicPr>
          <p:cNvPr id="13" name="Picture Placeholder 12" descr="James Turner.jpg"/>
          <p:cNvPicPr>
            <a:picLocks noGrp="1" noChangeAspect="1"/>
          </p:cNvPicPr>
          <p:nvPr>
            <p:ph type="pic" sz="quarter" idx="13"/>
          </p:nvPr>
        </p:nvPicPr>
        <p:blipFill>
          <a:blip r:embed="rId3" cstate="print"/>
          <a:srcRect t="1064" b="1064"/>
          <a:stretch>
            <a:fillRect/>
          </a:stretch>
        </p:blipFill>
        <p:spPr/>
      </p:pic>
      <p:sp>
        <p:nvSpPr>
          <p:cNvPr id="7" name="Text Placeholder 6"/>
          <p:cNvSpPr>
            <a:spLocks noGrp="1"/>
          </p:cNvSpPr>
          <p:nvPr>
            <p:ph type="body" sz="quarter" idx="14"/>
          </p:nvPr>
        </p:nvSpPr>
        <p:spPr/>
        <p:txBody>
          <a:bodyPr/>
          <a:lstStyle/>
          <a:p>
            <a:r>
              <a:rPr lang="en-US" smtClean="0"/>
              <a:t>Dr. James M. Turner</a:t>
            </a:r>
            <a:endParaRPr lang="en-US" dirty="0" smtClean="0"/>
          </a:p>
        </p:txBody>
      </p:sp>
      <p:sp>
        <p:nvSpPr>
          <p:cNvPr id="8" name="Text Placeholder 7"/>
          <p:cNvSpPr>
            <a:spLocks noGrp="1"/>
          </p:cNvSpPr>
          <p:nvPr>
            <p:ph type="body" sz="quarter" idx="15"/>
          </p:nvPr>
        </p:nvSpPr>
        <p:spPr/>
        <p:txBody>
          <a:bodyPr>
            <a:normAutofit/>
          </a:bodyPr>
          <a:lstStyle/>
          <a:p>
            <a:r>
              <a:rPr lang="en-US" sz="2400" dirty="0" smtClean="0"/>
              <a:t>NOAA’s scope – oceans and atmosphere – is inherently global, and therefore, international engagement is integral to NOAA’s Mission</a:t>
            </a:r>
          </a:p>
          <a:p>
            <a:pPr lvl="1"/>
            <a:r>
              <a:rPr lang="en-US" sz="1800" dirty="0" smtClean="0"/>
              <a:t>Serves as the principal advisor to the Under Secretary and Administrator on international policy issues</a:t>
            </a:r>
          </a:p>
          <a:p>
            <a:pPr lvl="1"/>
            <a:r>
              <a:rPr lang="en-US" sz="1800" dirty="0" smtClean="0"/>
              <a:t>Represents NOAA and the United States with foreign governments and international </a:t>
            </a:r>
            <a:r>
              <a:rPr lang="en-US" sz="1800" dirty="0" err="1" smtClean="0"/>
              <a:t>fora</a:t>
            </a:r>
            <a:endParaRPr lang="en-US" sz="1800" dirty="0" smtClean="0"/>
          </a:p>
          <a:p>
            <a:pPr lvl="1"/>
            <a:r>
              <a:rPr lang="en-US" sz="1800" dirty="0" smtClean="0"/>
              <a:t>Establishes policies, guidelines, and procedures for NOAA’s international programs</a:t>
            </a:r>
          </a:p>
          <a:p>
            <a:pPr lvl="1"/>
            <a:r>
              <a:rPr lang="en-US" sz="1800" dirty="0" smtClean="0"/>
              <a:t>Provides direction, support and coordination to  NOAA’s line offices</a:t>
            </a:r>
          </a:p>
          <a:p>
            <a:pPr lvl="1"/>
            <a:r>
              <a:rPr lang="en-US" sz="1800" dirty="0" smtClean="0"/>
              <a:t>Develops initiatives and implements projects, technical assistance, </a:t>
            </a:r>
          </a:p>
          <a:p>
            <a:pPr lvl="1"/>
            <a:r>
              <a:rPr lang="en-US" sz="1800" dirty="0" smtClean="0"/>
              <a:t>Exchange of expertise with NOAA’s capabilities to international partners.</a:t>
            </a:r>
          </a:p>
        </p:txBody>
      </p:sp>
      <p:pic>
        <p:nvPicPr>
          <p:cNvPr id="29" name="Picture 12" descr="GEO_Principals"/>
          <p:cNvPicPr>
            <a:picLocks noGrp="1" noChangeAspect="1" noChangeArrowheads="1"/>
          </p:cNvPicPr>
          <p:nvPr>
            <p:ph type="pic" sz="quarter" idx="16"/>
          </p:nvPr>
        </p:nvPicPr>
        <p:blipFill>
          <a:blip r:embed="rId4"/>
          <a:srcRect l="3143" r="3143"/>
          <a:stretch>
            <a:fillRect/>
          </a:stretch>
        </p:blipFill>
        <p:spPr/>
      </p:pic>
      <p:pic>
        <p:nvPicPr>
          <p:cNvPr id="33" name="Picture Placeholder 32" descr="wide shot at summit_087.jpg"/>
          <p:cNvPicPr>
            <a:picLocks noGrp="1" noChangeAspect="1"/>
          </p:cNvPicPr>
          <p:nvPr>
            <p:ph type="pic" sz="quarter" idx="18"/>
          </p:nvPr>
        </p:nvPicPr>
        <p:blipFill>
          <a:blip r:embed="rId5" cstate="print"/>
          <a:srcRect l="6842" r="6842"/>
          <a:stretch>
            <a:fillRect/>
          </a:stretch>
        </p:blipFill>
        <p:spPr/>
      </p:pic>
      <p:pic>
        <p:nvPicPr>
          <p:cNvPr id="16" name="Picture Placeholder 15" descr="ICCAT_Hogarth_2006_LowRes.jpg"/>
          <p:cNvPicPr>
            <a:picLocks noGrp="1" noChangeAspect="1"/>
          </p:cNvPicPr>
          <p:nvPr>
            <p:ph type="pic" sz="quarter" idx="17"/>
          </p:nvPr>
        </p:nvPicPr>
        <p:blipFill>
          <a:blip r:embed="rId6" cstate="print"/>
          <a:srcRect t="4382" b="4382"/>
          <a:stretch>
            <a:fillRect/>
          </a:stretch>
        </p:blipFill>
        <p:spPr/>
      </p:pic>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2"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5" name="Title 4"/>
          <p:cNvSpPr>
            <a:spLocks noGrp="1"/>
          </p:cNvSpPr>
          <p:nvPr>
            <p:ph type="title"/>
          </p:nvPr>
        </p:nvSpPr>
        <p:spPr/>
        <p:txBody>
          <a:bodyPr/>
          <a:lstStyle/>
          <a:p>
            <a:r>
              <a:rPr lang="en-US" dirty="0" smtClean="0"/>
              <a:t>Staff Offices</a:t>
            </a:r>
            <a:br>
              <a:rPr lang="en-US" dirty="0" smtClean="0"/>
            </a:br>
            <a:r>
              <a:rPr lang="en-US" sz="2100" i="1" dirty="0" smtClean="0">
                <a:latin typeface="+mn-lt"/>
              </a:rPr>
              <a:t>General Counsel</a:t>
            </a:r>
          </a:p>
        </p:txBody>
      </p:sp>
      <p:sp>
        <p:nvSpPr>
          <p:cNvPr id="2" name="Footer Placeholder 1"/>
          <p:cNvSpPr>
            <a:spLocks noGrp="1"/>
          </p:cNvSpPr>
          <p:nvPr>
            <p:ph type="ftr" sz="quarter" idx="11"/>
          </p:nvPr>
        </p:nvSpPr>
        <p:spPr/>
        <p:txBody>
          <a:bodyPr/>
          <a:lstStyle/>
          <a:p>
            <a:r>
              <a:rPr lang="en-US" smtClean="0"/>
              <a:t>NOAA’s Transition Package: November 4, 2008</a:t>
            </a:r>
            <a:endParaRPr lang="en-US"/>
          </a:p>
        </p:txBody>
      </p:sp>
      <p:sp>
        <p:nvSpPr>
          <p:cNvPr id="3" name="Slide Number Placeholder 2"/>
          <p:cNvSpPr>
            <a:spLocks noGrp="1"/>
          </p:cNvSpPr>
          <p:nvPr>
            <p:ph type="sldNum" sz="quarter" idx="12"/>
          </p:nvPr>
        </p:nvSpPr>
        <p:spPr/>
        <p:txBody>
          <a:bodyPr/>
          <a:lstStyle/>
          <a:p>
            <a:fld id="{13709644-7F36-4A31-A611-EC754CEF71E0}" type="slidenum">
              <a:rPr lang="en-US" smtClean="0"/>
              <a:pPr/>
              <a:t>4</a:t>
            </a:fld>
            <a:endParaRPr lang="en-US"/>
          </a:p>
        </p:txBody>
      </p:sp>
      <p:pic>
        <p:nvPicPr>
          <p:cNvPr id="9" name="Picture Placeholder 8" descr="luxton-photo-new.jpg"/>
          <p:cNvPicPr>
            <a:picLocks noGrp="1" noChangeAspect="1"/>
          </p:cNvPicPr>
          <p:nvPr>
            <p:ph type="pic" sz="quarter" idx="13"/>
          </p:nvPr>
        </p:nvPicPr>
        <p:blipFill>
          <a:blip r:embed="rId3" cstate="print"/>
          <a:srcRect l="1309" r="1309"/>
          <a:stretch>
            <a:fillRect/>
          </a:stretch>
        </p:blipFill>
        <p:spPr/>
      </p:pic>
      <p:sp>
        <p:nvSpPr>
          <p:cNvPr id="7" name="Text Placeholder 6"/>
          <p:cNvSpPr>
            <a:spLocks noGrp="1"/>
          </p:cNvSpPr>
          <p:nvPr>
            <p:ph type="body" sz="quarter" idx="14"/>
          </p:nvPr>
        </p:nvSpPr>
        <p:spPr/>
        <p:txBody>
          <a:bodyPr/>
          <a:lstStyle/>
          <a:p>
            <a:r>
              <a:rPr lang="en-US" smtClean="0"/>
              <a:t>Jane Luxton</a:t>
            </a:r>
            <a:endParaRPr lang="en-US" dirty="0"/>
          </a:p>
        </p:txBody>
      </p:sp>
      <p:sp>
        <p:nvSpPr>
          <p:cNvPr id="8" name="Text Placeholder 7"/>
          <p:cNvSpPr>
            <a:spLocks noGrp="1"/>
          </p:cNvSpPr>
          <p:nvPr>
            <p:ph type="body" sz="quarter" idx="15"/>
          </p:nvPr>
        </p:nvSpPr>
        <p:spPr/>
        <p:txBody>
          <a:bodyPr/>
          <a:lstStyle/>
          <a:p>
            <a:r>
              <a:rPr lang="en-US" dirty="0" smtClean="0"/>
              <a:t>Provides legal services and guidance for all matters that may arise in the conduct of NOAA’s mission.</a:t>
            </a:r>
          </a:p>
          <a:p>
            <a:r>
              <a:rPr lang="en-US" dirty="0" smtClean="0"/>
              <a:t>NOAA legal issues include those relating to:</a:t>
            </a:r>
          </a:p>
          <a:p>
            <a:pPr lvl="1"/>
            <a:r>
              <a:rPr lang="en-US" dirty="0" smtClean="0"/>
              <a:t>Management of the nation’s marine fisheries</a:t>
            </a:r>
          </a:p>
          <a:p>
            <a:pPr lvl="1"/>
            <a:r>
              <a:rPr lang="en-US" dirty="0" smtClean="0"/>
              <a:t>Protection of marine mammals and threatened and endangered species</a:t>
            </a:r>
          </a:p>
          <a:p>
            <a:pPr lvl="1"/>
            <a:r>
              <a:rPr lang="en-US" dirty="0" smtClean="0"/>
              <a:t>Mitigation and restoration of natural resource damages</a:t>
            </a:r>
          </a:p>
          <a:p>
            <a:pPr lvl="1"/>
            <a:r>
              <a:rPr lang="en-US" dirty="0" smtClean="0"/>
              <a:t>Management of National Marine Sanctuaries</a:t>
            </a:r>
          </a:p>
          <a:p>
            <a:pPr lvl="1"/>
            <a:r>
              <a:rPr lang="en-US" dirty="0" smtClean="0"/>
              <a:t>Coastal zone management</a:t>
            </a:r>
          </a:p>
        </p:txBody>
      </p:sp>
      <p:pic>
        <p:nvPicPr>
          <p:cNvPr id="32" name="Picture Placeholder 31" descr="Right Whales.jpg"/>
          <p:cNvPicPr>
            <a:picLocks noGrp="1" noChangeAspect="1"/>
          </p:cNvPicPr>
          <p:nvPr>
            <p:ph type="pic" sz="quarter" idx="16"/>
          </p:nvPr>
        </p:nvPicPr>
        <p:blipFill>
          <a:blip r:embed="rId4"/>
          <a:srcRect l="6671" r="6671"/>
          <a:stretch>
            <a:fillRect/>
          </a:stretch>
        </p:blipFill>
        <p:spPr>
          <a:ln w="3175">
            <a:solidFill>
              <a:schemeClr val="accent2">
                <a:lumMod val="50000"/>
              </a:schemeClr>
            </a:solidFill>
          </a:ln>
        </p:spPr>
      </p:pic>
      <p:pic>
        <p:nvPicPr>
          <p:cNvPr id="17" name="Picture Placeholder 16" descr="coral07a_480.jpg"/>
          <p:cNvPicPr>
            <a:picLocks noGrp="1" noChangeAspect="1"/>
          </p:cNvPicPr>
          <p:nvPr>
            <p:ph type="pic" sz="quarter" idx="17"/>
          </p:nvPr>
        </p:nvPicPr>
        <p:blipFill>
          <a:blip r:embed="rId5" cstate="print"/>
          <a:srcRect l="5609" r="5609"/>
          <a:stretch>
            <a:fillRect/>
          </a:stretch>
        </p:blipFill>
        <p:spPr/>
      </p:pic>
      <p:pic>
        <p:nvPicPr>
          <p:cNvPr id="18" name="Picture Placeholder 17" descr="Overfishing.jpg"/>
          <p:cNvPicPr>
            <a:picLocks noGrp="1" noChangeAspect="1"/>
          </p:cNvPicPr>
          <p:nvPr>
            <p:ph type="pic" sz="quarter" idx="18"/>
          </p:nvPr>
        </p:nvPicPr>
        <p:blipFill>
          <a:blip r:embed="rId6" cstate="print"/>
          <a:srcRect l="7356" r="7356"/>
          <a:stretch>
            <a:fillRect/>
          </a:stretch>
        </p:blipFill>
        <p:spPr/>
      </p:pic>
    </p:spTree>
  </p:cSld>
  <p:clrMapOvr>
    <a:masterClrMapping/>
  </p:clrMapOvr>
  <p:transition advClick="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Legislative Affairs</a:t>
            </a:r>
          </a:p>
        </p:txBody>
      </p:sp>
      <p:sp>
        <p:nvSpPr>
          <p:cNvPr id="11" name="Footer Placeholder 10"/>
          <p:cNvSpPr>
            <a:spLocks noGrp="1"/>
          </p:cNvSpPr>
          <p:nvPr>
            <p:ph type="ftr" sz="quarter" idx="11"/>
          </p:nvPr>
        </p:nvSpPr>
        <p:spPr/>
        <p:txBody>
          <a:bodyPr/>
          <a:lstStyle/>
          <a:p>
            <a:r>
              <a:rPr lang="en-US" smtClean="0"/>
              <a:t>NOAA’s Transition Package: November 4, 2008</a:t>
            </a:r>
            <a:endParaRPr lang="en-US" dirty="0"/>
          </a:p>
        </p:txBody>
      </p:sp>
      <p:sp>
        <p:nvSpPr>
          <p:cNvPr id="7" name="PageNumber"/>
          <p:cNvSpPr>
            <a:spLocks noGrp="1"/>
          </p:cNvSpPr>
          <p:nvPr>
            <p:ph type="sldNum" sz="quarter" idx="12"/>
          </p:nvPr>
        </p:nvSpPr>
        <p:spPr/>
        <p:txBody>
          <a:bodyPr/>
          <a:lstStyle/>
          <a:p>
            <a:fld id="{EE9093D5-302B-40FE-969C-417FFE252F40}" type="slidenum">
              <a:rPr lang="en-US" smtClean="0"/>
              <a:pPr/>
              <a:t>5</a:t>
            </a:fld>
            <a:endParaRPr lang="en-US"/>
          </a:p>
        </p:txBody>
      </p:sp>
      <p:pic>
        <p:nvPicPr>
          <p:cNvPr id="14" name="Picture Placeholder 13" descr="Karl Anderson.jpg"/>
          <p:cNvPicPr>
            <a:picLocks noGrp="1" noChangeAspect="1"/>
          </p:cNvPicPr>
          <p:nvPr>
            <p:ph type="pic" sz="quarter" idx="13"/>
          </p:nvPr>
        </p:nvPicPr>
        <p:blipFill>
          <a:blip r:embed="rId4" cstate="print"/>
          <a:srcRect t="1064" b="1064"/>
          <a:stretch>
            <a:fillRect/>
          </a:stretch>
        </p:blipFill>
        <p:spPr/>
      </p:pic>
      <p:sp>
        <p:nvSpPr>
          <p:cNvPr id="12" name="Text Placeholder 11"/>
          <p:cNvSpPr>
            <a:spLocks noGrp="1"/>
          </p:cNvSpPr>
          <p:nvPr>
            <p:ph type="body" sz="quarter" idx="14"/>
          </p:nvPr>
        </p:nvSpPr>
        <p:spPr/>
        <p:txBody>
          <a:bodyPr/>
          <a:lstStyle/>
          <a:p>
            <a:r>
              <a:rPr lang="en-US" smtClean="0"/>
              <a:t>Karl Anderson</a:t>
            </a:r>
            <a:endParaRPr lang="en-US" dirty="0"/>
          </a:p>
        </p:txBody>
      </p:sp>
      <p:sp>
        <p:nvSpPr>
          <p:cNvPr id="13" name="Text Placeholder 12"/>
          <p:cNvSpPr>
            <a:spLocks noGrp="1"/>
          </p:cNvSpPr>
          <p:nvPr>
            <p:ph type="body" sz="quarter" idx="15"/>
          </p:nvPr>
        </p:nvSpPr>
        <p:spPr/>
        <p:txBody>
          <a:bodyPr/>
          <a:lstStyle/>
          <a:p>
            <a:r>
              <a:rPr lang="en-US" smtClean="0"/>
              <a:t>With NOAA, the Department of Commerce, and the Administration:</a:t>
            </a:r>
          </a:p>
          <a:p>
            <a:pPr lvl="1"/>
            <a:r>
              <a:rPr lang="en-US" smtClean="0"/>
              <a:t>Responsible for overall legislative strategy for NOAA</a:t>
            </a:r>
          </a:p>
          <a:p>
            <a:pPr lvl="1"/>
            <a:r>
              <a:rPr lang="en-US" smtClean="0"/>
              <a:t>Identifies and tracks all legislation of interest to NOAA</a:t>
            </a:r>
          </a:p>
          <a:p>
            <a:pPr lvl="1"/>
            <a:r>
              <a:rPr lang="en-US" smtClean="0"/>
              <a:t>Manages NOAA’s participation in congressional hearings</a:t>
            </a:r>
          </a:p>
          <a:p>
            <a:r>
              <a:rPr lang="en-US" smtClean="0"/>
              <a:t>With Congress:</a:t>
            </a:r>
          </a:p>
          <a:p>
            <a:pPr lvl="1"/>
            <a:r>
              <a:rPr lang="en-US" smtClean="0"/>
              <a:t>Rolls out President’s annual budget request to Congress</a:t>
            </a:r>
          </a:p>
          <a:p>
            <a:pPr lvl="1"/>
            <a:r>
              <a:rPr lang="en-US" smtClean="0"/>
              <a:t>Communicates the Administration’s position on issues, programs, and legislation</a:t>
            </a:r>
          </a:p>
          <a:p>
            <a:pPr lvl="1"/>
            <a:r>
              <a:rPr lang="en-US" smtClean="0"/>
              <a:t>Responds to all congressional inquiries</a:t>
            </a:r>
          </a:p>
          <a:p>
            <a:pPr lvl="1"/>
            <a:r>
              <a:rPr lang="en-US" smtClean="0"/>
              <a:t>Briefs Members of Congress and their staff on NOAA programs, issues, and activities</a:t>
            </a:r>
            <a:endParaRPr lang="en-US" dirty="0" smtClean="0"/>
          </a:p>
        </p:txBody>
      </p:sp>
      <p:pic>
        <p:nvPicPr>
          <p:cNvPr id="25" name="Picture Placeholder 24" descr="BAMNOAA.jpg"/>
          <p:cNvPicPr>
            <a:picLocks noGrp="1" noChangeAspect="1"/>
          </p:cNvPicPr>
          <p:nvPr>
            <p:ph type="pic" sz="quarter" idx="18"/>
          </p:nvPr>
        </p:nvPicPr>
        <p:blipFill>
          <a:blip r:embed="rId5" cstate="print"/>
          <a:srcRect l="7162" r="7162"/>
          <a:stretch>
            <a:fillRect/>
          </a:stretch>
        </p:blipFill>
        <p:spPr/>
      </p:pic>
      <p:pic>
        <p:nvPicPr>
          <p:cNvPr id="16" name="Picture Placeholder 15" descr="2008_06_18m 005.jpg"/>
          <p:cNvPicPr>
            <a:picLocks noGrp="1" noChangeAspect="1"/>
          </p:cNvPicPr>
          <p:nvPr>
            <p:ph type="pic" sz="quarter" idx="16"/>
          </p:nvPr>
        </p:nvPicPr>
        <p:blipFill>
          <a:blip r:embed="rId6"/>
          <a:srcRect l="739" r="739"/>
          <a:stretch>
            <a:fillRect/>
          </a:stretch>
        </p:blipFill>
        <p:spPr/>
      </p:pic>
      <p:pic>
        <p:nvPicPr>
          <p:cNvPr id="18" name="Picture Placeholder 17" descr="boehlert_CHOW_OAR_Roundtable.jpg"/>
          <p:cNvPicPr>
            <a:picLocks noGrp="1" noChangeAspect="1"/>
          </p:cNvPicPr>
          <p:nvPr>
            <p:ph type="pic" sz="quarter" idx="17"/>
          </p:nvPr>
        </p:nvPicPr>
        <p:blipFill>
          <a:blip r:embed="rId7"/>
          <a:srcRect t="442" b="442"/>
          <a:stretch>
            <a:fillRect/>
          </a:stretch>
        </p:blipFill>
        <p:spPr/>
      </p:pic>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Communications</a:t>
            </a:r>
          </a:p>
        </p:txBody>
      </p:sp>
      <p:sp>
        <p:nvSpPr>
          <p:cNvPr id="12" name="Footer Placeholder 11"/>
          <p:cNvSpPr>
            <a:spLocks noGrp="1"/>
          </p:cNvSpPr>
          <p:nvPr>
            <p:ph type="ftr" sz="quarter" idx="11"/>
          </p:nvPr>
        </p:nvSpPr>
        <p:spPr/>
        <p:txBody>
          <a:bodyPr/>
          <a:lstStyle/>
          <a:p>
            <a:r>
              <a:rPr lang="en-US" smtClean="0"/>
              <a:t>NOAA’s Transition Package: November 4, 2008</a:t>
            </a:r>
            <a:endParaRPr lang="en-US"/>
          </a:p>
        </p:txBody>
      </p:sp>
      <p:sp>
        <p:nvSpPr>
          <p:cNvPr id="7" name="PageNumber"/>
          <p:cNvSpPr>
            <a:spLocks noGrp="1"/>
          </p:cNvSpPr>
          <p:nvPr>
            <p:ph type="sldNum" sz="quarter" idx="12"/>
          </p:nvPr>
        </p:nvSpPr>
        <p:spPr/>
        <p:txBody>
          <a:bodyPr/>
          <a:lstStyle/>
          <a:p>
            <a:fld id="{35365D68-043E-4A7D-AB5E-FF2AE41E913E}" type="slidenum">
              <a:rPr lang="en-US" smtClean="0"/>
              <a:pPr/>
              <a:t>6</a:t>
            </a:fld>
            <a:endParaRPr lang="en-US"/>
          </a:p>
        </p:txBody>
      </p:sp>
      <p:pic>
        <p:nvPicPr>
          <p:cNvPr id="14" name="Picture Placeholder 13" descr="ansonFranklin_COMM.jpg"/>
          <p:cNvPicPr>
            <a:picLocks noGrp="1" noChangeAspect="1"/>
          </p:cNvPicPr>
          <p:nvPr>
            <p:ph type="pic" sz="quarter" idx="13"/>
          </p:nvPr>
        </p:nvPicPr>
        <p:blipFill>
          <a:blip r:embed="rId4" cstate="print"/>
          <a:srcRect l="1898" r="1898"/>
          <a:stretch>
            <a:fillRect/>
          </a:stretch>
        </p:blipFill>
        <p:spPr/>
      </p:pic>
      <p:sp>
        <p:nvSpPr>
          <p:cNvPr id="11" name="Text Placeholder 10"/>
          <p:cNvSpPr>
            <a:spLocks noGrp="1"/>
          </p:cNvSpPr>
          <p:nvPr>
            <p:ph type="body" sz="quarter" idx="14"/>
          </p:nvPr>
        </p:nvSpPr>
        <p:spPr/>
        <p:txBody>
          <a:bodyPr/>
          <a:lstStyle/>
          <a:p>
            <a:r>
              <a:rPr lang="en-US" smtClean="0"/>
              <a:t>Anson Franklin</a:t>
            </a:r>
            <a:endParaRPr lang="en-US" dirty="0"/>
          </a:p>
        </p:txBody>
      </p:sp>
      <p:sp>
        <p:nvSpPr>
          <p:cNvPr id="13" name="Text Placeholder 12"/>
          <p:cNvSpPr>
            <a:spLocks noGrp="1"/>
          </p:cNvSpPr>
          <p:nvPr>
            <p:ph type="body" sz="quarter" idx="15"/>
          </p:nvPr>
        </p:nvSpPr>
        <p:spPr/>
        <p:txBody>
          <a:bodyPr>
            <a:normAutofit/>
          </a:bodyPr>
          <a:lstStyle/>
          <a:p>
            <a:pPr lvl="0"/>
            <a:r>
              <a:rPr lang="en-US" sz="2400" dirty="0" smtClean="0"/>
              <a:t>Promotes NOAA through web-based products and traditional public affairs vehicles</a:t>
            </a:r>
          </a:p>
          <a:p>
            <a:pPr lvl="0"/>
            <a:r>
              <a:rPr lang="en-US" sz="2400" dirty="0" smtClean="0"/>
              <a:t>Exercises functional authority over all agency media relations efforts</a:t>
            </a:r>
          </a:p>
          <a:p>
            <a:pPr lvl="1"/>
            <a:r>
              <a:rPr lang="en-US" sz="1800" dirty="0" smtClean="0"/>
              <a:t>30 public affairs officers in headquarters, line and field offices</a:t>
            </a:r>
          </a:p>
          <a:p>
            <a:pPr lvl="1"/>
            <a:r>
              <a:rPr lang="en-US" sz="1800" dirty="0" smtClean="0"/>
              <a:t>Manages approval and distribution of all agency press releases</a:t>
            </a:r>
          </a:p>
          <a:p>
            <a:pPr lvl="0"/>
            <a:r>
              <a:rPr lang="en-US" sz="2400" dirty="0" smtClean="0"/>
              <a:t>Coordinates communications efforts of line offices</a:t>
            </a:r>
          </a:p>
          <a:p>
            <a:pPr lvl="0"/>
            <a:r>
              <a:rPr lang="en-US" sz="2400" dirty="0" smtClean="0"/>
              <a:t>Developing constituent relations arm with centralized database</a:t>
            </a:r>
          </a:p>
          <a:p>
            <a:r>
              <a:rPr lang="en-US" sz="2400" dirty="0" smtClean="0"/>
              <a:t>Oversees agency website (NOAA.gov) and internal communications website (</a:t>
            </a:r>
            <a:r>
              <a:rPr lang="en-US" sz="2400" dirty="0" err="1" smtClean="0"/>
              <a:t>NOAAWorld</a:t>
            </a:r>
            <a:r>
              <a:rPr lang="en-US" sz="2400" dirty="0" smtClean="0"/>
              <a:t>)</a:t>
            </a:r>
            <a:endParaRPr lang="en-US" sz="2400" dirty="0"/>
          </a:p>
        </p:txBody>
      </p:sp>
      <p:pic>
        <p:nvPicPr>
          <p:cNvPr id="23" name="Picture Placeholder 22" descr="newNOAA.png"/>
          <p:cNvPicPr>
            <a:picLocks noGrp="1" noChangeAspect="1"/>
          </p:cNvPicPr>
          <p:nvPr>
            <p:ph type="pic" sz="quarter" idx="16"/>
          </p:nvPr>
        </p:nvPicPr>
        <p:blipFill>
          <a:blip r:embed="rId5" cstate="print"/>
          <a:srcRect t="414" b="4417"/>
          <a:stretch>
            <a:fillRect/>
          </a:stretch>
        </p:blipFill>
        <p:spPr>
          <a:xfrm>
            <a:off x="7543800" y="1550020"/>
            <a:ext cx="1502885" cy="1193180"/>
          </a:xfrm>
        </p:spPr>
      </p:pic>
      <p:pic>
        <p:nvPicPr>
          <p:cNvPr id="27" name="Picture Placeholder 26" descr="hurricane2005update-bell080205b.jpg"/>
          <p:cNvPicPr>
            <a:picLocks noGrp="1" noChangeAspect="1"/>
          </p:cNvPicPr>
          <p:nvPr>
            <p:ph type="pic" sz="quarter" idx="17"/>
          </p:nvPr>
        </p:nvPicPr>
        <p:blipFill>
          <a:blip r:embed="rId6" cstate="print"/>
          <a:srcRect l="677" r="677"/>
          <a:stretch>
            <a:fillRect/>
          </a:stretch>
        </p:blipFill>
        <p:spPr/>
      </p:pic>
      <p:pic>
        <p:nvPicPr>
          <p:cNvPr id="17" name="Picture Placeholder 16" descr="NOAA Communications Staff - 012_lowRes.jpg"/>
          <p:cNvPicPr>
            <a:picLocks noGrp="1" noChangeAspect="1"/>
          </p:cNvPicPr>
          <p:nvPr>
            <p:ph type="pic" sz="quarter" idx="18"/>
          </p:nvPr>
        </p:nvPicPr>
        <p:blipFill>
          <a:blip r:embed="rId7" cstate="print"/>
          <a:srcRect l="1617" r="1617"/>
          <a:stretch>
            <a:fillRect/>
          </a:stretch>
        </p:blipFill>
        <p:spPr/>
      </p:pic>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Workforce Management</a:t>
            </a:r>
          </a:p>
        </p:txBody>
      </p:sp>
      <p:sp>
        <p:nvSpPr>
          <p:cNvPr id="14" name="Footer Placeholder 13"/>
          <p:cNvSpPr>
            <a:spLocks noGrp="1"/>
          </p:cNvSpPr>
          <p:nvPr>
            <p:ph type="ftr" sz="quarter" idx="11"/>
          </p:nvPr>
        </p:nvSpPr>
        <p:spPr/>
        <p:txBody>
          <a:bodyPr/>
          <a:lstStyle/>
          <a:p>
            <a:r>
              <a:rPr lang="en-US" smtClean="0"/>
              <a:t>NOAA’s Transition Package: November 4, 2008</a:t>
            </a:r>
            <a:endParaRPr lang="en-US"/>
          </a:p>
        </p:txBody>
      </p:sp>
      <p:sp>
        <p:nvSpPr>
          <p:cNvPr id="7" name="PageNumber"/>
          <p:cNvSpPr>
            <a:spLocks noGrp="1"/>
          </p:cNvSpPr>
          <p:nvPr>
            <p:ph type="sldNum" sz="quarter" idx="12"/>
          </p:nvPr>
        </p:nvSpPr>
        <p:spPr/>
        <p:txBody>
          <a:bodyPr/>
          <a:lstStyle/>
          <a:p>
            <a:fld id="{686B27B6-25BE-4B31-A4C6-3B8C6C8D8643}" type="slidenum">
              <a:rPr lang="en-US" smtClean="0"/>
              <a:pPr/>
              <a:t>7</a:t>
            </a:fld>
            <a:endParaRPr lang="en-US"/>
          </a:p>
        </p:txBody>
      </p:sp>
      <p:pic>
        <p:nvPicPr>
          <p:cNvPr id="13" name="Picture Placeholder 12" descr="Ribas.jpg"/>
          <p:cNvPicPr>
            <a:picLocks noGrp="1" noChangeAspect="1"/>
          </p:cNvPicPr>
          <p:nvPr>
            <p:ph type="pic" sz="quarter" idx="13"/>
          </p:nvPr>
        </p:nvPicPr>
        <p:blipFill>
          <a:blip r:embed="rId4" cstate="print"/>
          <a:srcRect t="6410" b="6410"/>
          <a:stretch>
            <a:fillRect/>
          </a:stretch>
        </p:blipFill>
        <p:spPr/>
      </p:pic>
      <p:sp>
        <p:nvSpPr>
          <p:cNvPr id="11" name="Text Placeholder 10"/>
          <p:cNvSpPr>
            <a:spLocks noGrp="1"/>
          </p:cNvSpPr>
          <p:nvPr>
            <p:ph type="body" sz="quarter" idx="14"/>
          </p:nvPr>
        </p:nvSpPr>
        <p:spPr/>
        <p:txBody>
          <a:bodyPr/>
          <a:lstStyle/>
          <a:p>
            <a:r>
              <a:rPr lang="en-US" smtClean="0"/>
              <a:t>Eduardo Ribas</a:t>
            </a:r>
            <a:endParaRPr lang="en-US" dirty="0"/>
          </a:p>
        </p:txBody>
      </p:sp>
      <p:sp>
        <p:nvSpPr>
          <p:cNvPr id="12" name="Text Placeholder 11"/>
          <p:cNvSpPr>
            <a:spLocks noGrp="1"/>
          </p:cNvSpPr>
          <p:nvPr>
            <p:ph type="body" sz="quarter" idx="15"/>
          </p:nvPr>
        </p:nvSpPr>
        <p:spPr/>
        <p:txBody>
          <a:bodyPr>
            <a:normAutofit/>
          </a:bodyPr>
          <a:lstStyle/>
          <a:p>
            <a:r>
              <a:rPr lang="en-US" sz="2400" dirty="0" smtClean="0"/>
              <a:t>Provides NOAA-wide leadership with:</a:t>
            </a:r>
          </a:p>
          <a:p>
            <a:pPr lvl="1"/>
            <a:r>
              <a:rPr lang="en-US" sz="1800" dirty="0" smtClean="0"/>
              <a:t>Recruitment and hiring activities to retain a diverse, highly skilled and motivated workforce </a:t>
            </a:r>
          </a:p>
          <a:p>
            <a:pPr lvl="1"/>
            <a:r>
              <a:rPr lang="en-US" sz="1800" dirty="0" smtClean="0"/>
              <a:t>Administration of NOAA’s Senior Executive Resources Program</a:t>
            </a:r>
          </a:p>
          <a:p>
            <a:pPr lvl="1"/>
            <a:r>
              <a:rPr lang="en-US" sz="1800" dirty="0" smtClean="0"/>
              <a:t>Strategic human capital planning and policies</a:t>
            </a:r>
          </a:p>
          <a:p>
            <a:pPr lvl="1"/>
            <a:r>
              <a:rPr lang="en-US" sz="1800" dirty="0" smtClean="0"/>
              <a:t>Labor-management and employee relations consultation</a:t>
            </a:r>
          </a:p>
          <a:p>
            <a:pPr lvl="1"/>
            <a:r>
              <a:rPr lang="en-US" sz="1800" dirty="0" smtClean="0"/>
              <a:t>Performance management and incentive awards</a:t>
            </a:r>
          </a:p>
          <a:p>
            <a:pPr lvl="1"/>
            <a:r>
              <a:rPr lang="en-US" sz="1800" dirty="0" smtClean="0"/>
              <a:t>Benefits and retirement administration</a:t>
            </a:r>
          </a:p>
          <a:p>
            <a:r>
              <a:rPr lang="en-US" sz="2400" dirty="0" smtClean="0"/>
              <a:t>Development Program Services</a:t>
            </a:r>
          </a:p>
          <a:p>
            <a:pPr lvl="1"/>
            <a:r>
              <a:rPr lang="en-US" sz="1800" dirty="0" smtClean="0"/>
              <a:t>NOAA Leadership Competencies Development Program</a:t>
            </a:r>
          </a:p>
          <a:p>
            <a:pPr lvl="1"/>
            <a:r>
              <a:rPr lang="en-US" sz="1800" dirty="0" smtClean="0"/>
              <a:t>NOAA Rotational Assignment Program</a:t>
            </a:r>
          </a:p>
          <a:p>
            <a:pPr lvl="1"/>
            <a:r>
              <a:rPr lang="en-US" sz="1800" dirty="0" smtClean="0"/>
              <a:t>NOAA Leadership Seminar</a:t>
            </a:r>
          </a:p>
          <a:p>
            <a:pPr lvl="1"/>
            <a:r>
              <a:rPr lang="en-US" sz="1800" dirty="0" smtClean="0"/>
              <a:t>Appointment and development of NOAA Presidential Management Fellows</a:t>
            </a:r>
          </a:p>
        </p:txBody>
      </p:sp>
      <p:pic>
        <p:nvPicPr>
          <p:cNvPr id="23" name="Picture Placeholder 22" descr="LCDP_Bob.jpg"/>
          <p:cNvPicPr>
            <a:picLocks noGrp="1" noChangeAspect="1"/>
          </p:cNvPicPr>
          <p:nvPr>
            <p:ph type="pic" sz="quarter" idx="16"/>
          </p:nvPr>
        </p:nvPicPr>
        <p:blipFill>
          <a:blip r:embed="rId5" cstate="print"/>
          <a:srcRect t="7949" b="7949"/>
          <a:stretch>
            <a:fillRect/>
          </a:stretch>
        </p:blipFill>
        <p:spPr/>
      </p:pic>
      <p:pic>
        <p:nvPicPr>
          <p:cNvPr id="25" name="Picture Placeholder 24" descr="NOAA SES Summit 5 - 050.jpg"/>
          <p:cNvPicPr>
            <a:picLocks noGrp="1" noChangeAspect="1"/>
          </p:cNvPicPr>
          <p:nvPr>
            <p:ph type="pic" sz="quarter" idx="18"/>
          </p:nvPr>
        </p:nvPicPr>
        <p:blipFill>
          <a:blip r:embed="rId6" cstate="print"/>
          <a:srcRect l="6349" r="6349"/>
          <a:stretch>
            <a:fillRect/>
          </a:stretch>
        </p:blipFill>
        <p:spPr/>
      </p:pic>
      <p:pic>
        <p:nvPicPr>
          <p:cNvPr id="17" name="Picture Placeholder 16" descr="kidsDay_2008_Mrozek.JPG"/>
          <p:cNvPicPr>
            <a:picLocks noGrp="1" noChangeAspect="1"/>
          </p:cNvPicPr>
          <p:nvPr>
            <p:ph type="pic" sz="quarter" idx="17"/>
          </p:nvPr>
        </p:nvPicPr>
        <p:blipFill>
          <a:blip r:embed="rId7" cstate="print"/>
          <a:srcRect l="677" r="677"/>
          <a:stretch>
            <a:fillRect/>
          </a:stretch>
        </p:blipFill>
        <p:spPr/>
      </p:pic>
    </p:spTree>
  </p:cSld>
  <p:clrMapOvr>
    <a:masterClrMapping/>
  </p:clrMapOvr>
  <p:transition advClick="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Education</a:t>
            </a:r>
          </a:p>
        </p:txBody>
      </p:sp>
      <p:sp>
        <p:nvSpPr>
          <p:cNvPr id="7" name="PageNumber"/>
          <p:cNvSpPr>
            <a:spLocks noGrp="1"/>
          </p:cNvSpPr>
          <p:nvPr>
            <p:ph type="sldNum" sz="quarter" idx="12"/>
          </p:nvPr>
        </p:nvSpPr>
        <p:spPr/>
        <p:txBody>
          <a:bodyPr/>
          <a:lstStyle/>
          <a:p>
            <a:fld id="{A6A4B1DC-1031-4F0F-921F-DD84B2B5FFC7}" type="slidenum">
              <a:rPr lang="en-US" smtClean="0"/>
              <a:pPr/>
              <a:t>8</a:t>
            </a:fld>
            <a:endParaRPr lang="en-US"/>
          </a:p>
        </p:txBody>
      </p:sp>
      <p:pic>
        <p:nvPicPr>
          <p:cNvPr id="14" name="Picture Placeholder 13" descr="Koch.jpg"/>
          <p:cNvPicPr>
            <a:picLocks noGrp="1" noChangeAspect="1"/>
          </p:cNvPicPr>
          <p:nvPr>
            <p:ph type="pic" sz="quarter" idx="13"/>
          </p:nvPr>
        </p:nvPicPr>
        <p:blipFill>
          <a:blip r:embed="rId4"/>
          <a:srcRect t="6410" b="6410"/>
          <a:stretch>
            <a:fillRect/>
          </a:stretch>
        </p:blipFill>
        <p:spPr/>
      </p:pic>
      <p:sp>
        <p:nvSpPr>
          <p:cNvPr id="7175" name="Text Placeholder 10"/>
          <p:cNvSpPr>
            <a:spLocks noGrp="1"/>
          </p:cNvSpPr>
          <p:nvPr>
            <p:ph type="body" sz="quarter" idx="14"/>
          </p:nvPr>
        </p:nvSpPr>
        <p:spPr/>
        <p:txBody>
          <a:bodyPr/>
          <a:lstStyle/>
          <a:p>
            <a:r>
              <a:rPr lang="en-US" smtClean="0"/>
              <a:t>Louisa Koch</a:t>
            </a:r>
            <a:endParaRPr lang="en-US"/>
          </a:p>
        </p:txBody>
      </p:sp>
      <p:sp>
        <p:nvSpPr>
          <p:cNvPr id="7176" name="Text Placeholder 12"/>
          <p:cNvSpPr>
            <a:spLocks noGrp="1"/>
          </p:cNvSpPr>
          <p:nvPr>
            <p:ph type="body" sz="quarter" idx="15"/>
          </p:nvPr>
        </p:nvSpPr>
        <p:spPr/>
        <p:txBody>
          <a:bodyPr>
            <a:normAutofit/>
          </a:bodyPr>
          <a:lstStyle/>
          <a:p>
            <a:pPr>
              <a:lnSpc>
                <a:spcPct val="110000"/>
              </a:lnSpc>
              <a:spcBef>
                <a:spcPts val="1800"/>
              </a:spcBef>
            </a:pPr>
            <a:r>
              <a:rPr lang="en-US" sz="2000" dirty="0" smtClean="0"/>
              <a:t>Provides leadership for building synergy and common purpose among the education activities of NOAA Line Offices and Programs</a:t>
            </a:r>
          </a:p>
          <a:p>
            <a:pPr>
              <a:lnSpc>
                <a:spcPct val="110000"/>
              </a:lnSpc>
              <a:spcBef>
                <a:spcPts val="1800"/>
              </a:spcBef>
            </a:pPr>
            <a:r>
              <a:rPr lang="en-US" sz="2000" dirty="0" smtClean="0"/>
              <a:t>Supports Environmental Literacy through local, regional and national education grants</a:t>
            </a:r>
          </a:p>
          <a:p>
            <a:pPr>
              <a:lnSpc>
                <a:spcPct val="110000"/>
              </a:lnSpc>
              <a:spcBef>
                <a:spcPts val="1800"/>
              </a:spcBef>
            </a:pPr>
            <a:r>
              <a:rPr lang="en-US" sz="2000" dirty="0" smtClean="0"/>
              <a:t>Provides student opportunities through scholarships, fellowships and internships</a:t>
            </a:r>
          </a:p>
          <a:p>
            <a:pPr>
              <a:lnSpc>
                <a:spcPct val="110000"/>
              </a:lnSpc>
              <a:spcBef>
                <a:spcPts val="1800"/>
              </a:spcBef>
            </a:pPr>
            <a:r>
              <a:rPr lang="en-US" sz="2000" dirty="0" smtClean="0"/>
              <a:t>Promotes a more diverse future workforce in Science, Technology, Engineering, and Mathematics (STEM) fields</a:t>
            </a:r>
          </a:p>
          <a:p>
            <a:pPr>
              <a:lnSpc>
                <a:spcPct val="110000"/>
              </a:lnSpc>
              <a:spcBef>
                <a:spcPts val="1800"/>
              </a:spcBef>
            </a:pPr>
            <a:r>
              <a:rPr lang="en-US" sz="2000" dirty="0" smtClean="0"/>
              <a:t>Disseminates NOAA-related content through museums, science centers and aquariums</a:t>
            </a:r>
          </a:p>
        </p:txBody>
      </p:sp>
      <p:pic>
        <p:nvPicPr>
          <p:cNvPr id="22" name="Picture Placeholder 21" descr="daycamp.jpg"/>
          <p:cNvPicPr>
            <a:picLocks noGrp="1" noChangeAspect="1"/>
          </p:cNvPicPr>
          <p:nvPr>
            <p:ph type="pic" sz="quarter" idx="16"/>
          </p:nvPr>
        </p:nvPicPr>
        <p:blipFill>
          <a:blip r:embed="rId5"/>
          <a:srcRect l="4674" r="4674"/>
          <a:stretch>
            <a:fillRect/>
          </a:stretch>
        </p:blipFill>
        <p:spPr/>
      </p:pic>
      <p:pic>
        <p:nvPicPr>
          <p:cNvPr id="24" name="Picture Placeholder 23" descr="Science on a Sphere Broomfield Heights.jpg"/>
          <p:cNvPicPr>
            <a:picLocks noGrp="1" noChangeAspect="1"/>
          </p:cNvPicPr>
          <p:nvPr>
            <p:ph type="pic" sz="quarter" idx="17"/>
          </p:nvPr>
        </p:nvPicPr>
        <p:blipFill>
          <a:blip r:embed="rId6"/>
          <a:srcRect l="6925" r="6925"/>
          <a:stretch>
            <a:fillRect/>
          </a:stretch>
        </p:blipFill>
        <p:spPr/>
      </p:pic>
      <p:pic>
        <p:nvPicPr>
          <p:cNvPr id="23" name="Picture Placeholder 22" descr="Ocean Hall Employee Day - 031_LR.jpg"/>
          <p:cNvPicPr>
            <a:picLocks noGrp="1" noChangeAspect="1"/>
          </p:cNvPicPr>
          <p:nvPr>
            <p:ph type="pic" sz="quarter" idx="18"/>
          </p:nvPr>
        </p:nvPicPr>
        <p:blipFill>
          <a:blip r:embed="rId7" cstate="print"/>
          <a:srcRect l="6210" r="6210"/>
          <a:stretch>
            <a:fillRect/>
          </a:stretch>
        </p:blipFill>
        <p:spPr/>
      </p:pic>
      <p:sp>
        <p:nvSpPr>
          <p:cNvPr id="11" name="Footer Placeholder 10"/>
          <p:cNvSpPr>
            <a:spLocks noGrp="1"/>
          </p:cNvSpPr>
          <p:nvPr>
            <p:ph type="ftr" sz="quarter" idx="11"/>
          </p:nvPr>
        </p:nvSpPr>
        <p:spPr/>
        <p:txBody>
          <a:bodyPr/>
          <a:lstStyle/>
          <a:p>
            <a:pPr>
              <a:defRPr/>
            </a:pPr>
            <a:r>
              <a:rPr lang="en-US" smtClean="0"/>
              <a:t>NOAA’s Transition Package: November 4, 2008</a:t>
            </a:r>
            <a:endParaRPr lang="en-US" dirty="0"/>
          </a:p>
        </p:txBody>
      </p:sp>
    </p:spTree>
  </p:cSld>
  <p:clrMapOvr>
    <a:masterClrMapping/>
  </p:clrMapOvr>
  <p:transition advClick="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Chief Information Officer/High Performance Computing &amp; Communication</a:t>
            </a:r>
          </a:p>
        </p:txBody>
      </p:sp>
      <p:sp>
        <p:nvSpPr>
          <p:cNvPr id="30" name="Footer Placeholder 29"/>
          <p:cNvSpPr>
            <a:spLocks noGrp="1"/>
          </p:cNvSpPr>
          <p:nvPr>
            <p:ph type="ftr" sz="quarter" idx="11"/>
          </p:nvPr>
        </p:nvSpPr>
        <p:spPr/>
        <p:txBody>
          <a:bodyPr/>
          <a:lstStyle/>
          <a:p>
            <a:r>
              <a:rPr lang="en-US" smtClean="0"/>
              <a:t>NOAA’s Transition Package: November 4, 2008</a:t>
            </a:r>
            <a:endParaRPr lang="en-US" dirty="0"/>
          </a:p>
        </p:txBody>
      </p:sp>
      <p:sp>
        <p:nvSpPr>
          <p:cNvPr id="29" name="Slide Number Placeholder 28"/>
          <p:cNvSpPr>
            <a:spLocks noGrp="1"/>
          </p:cNvSpPr>
          <p:nvPr>
            <p:ph type="sldNum" sz="quarter" idx="12"/>
          </p:nvPr>
        </p:nvSpPr>
        <p:spPr/>
        <p:txBody>
          <a:bodyPr/>
          <a:lstStyle/>
          <a:p>
            <a:fld id="{2101FC03-EF6B-4637-A3E0-B59B7A0B076E}" type="slidenum">
              <a:rPr lang="en-US" smtClean="0"/>
              <a:pPr/>
              <a:t>9</a:t>
            </a:fld>
            <a:endParaRPr lang="en-US"/>
          </a:p>
        </p:txBody>
      </p:sp>
      <p:pic>
        <p:nvPicPr>
          <p:cNvPr id="14" name="Picture Placeholder 13" descr="Klimavicz.jpg"/>
          <p:cNvPicPr>
            <a:picLocks noGrp="1" noChangeAspect="1"/>
          </p:cNvPicPr>
          <p:nvPr>
            <p:ph type="pic" sz="quarter" idx="13"/>
          </p:nvPr>
        </p:nvPicPr>
        <p:blipFill>
          <a:blip r:embed="rId4" cstate="print"/>
          <a:srcRect l="1109" r="1109"/>
          <a:stretch>
            <a:fillRect/>
          </a:stretch>
        </p:blipFill>
        <p:spPr/>
      </p:pic>
      <p:sp>
        <p:nvSpPr>
          <p:cNvPr id="11" name="Text Placeholder 10"/>
          <p:cNvSpPr>
            <a:spLocks noGrp="1"/>
          </p:cNvSpPr>
          <p:nvPr>
            <p:ph type="body" sz="quarter" idx="14"/>
          </p:nvPr>
        </p:nvSpPr>
        <p:spPr/>
        <p:txBody>
          <a:bodyPr/>
          <a:lstStyle/>
          <a:p>
            <a:r>
              <a:rPr lang="en-US" smtClean="0"/>
              <a:t>Joe Klimavicz</a:t>
            </a:r>
            <a:endParaRPr lang="en-US" dirty="0"/>
          </a:p>
        </p:txBody>
      </p:sp>
      <p:sp>
        <p:nvSpPr>
          <p:cNvPr id="12" name="Text Placeholder 11"/>
          <p:cNvSpPr>
            <a:spLocks noGrp="1"/>
          </p:cNvSpPr>
          <p:nvPr>
            <p:ph type="body" sz="quarter" idx="15"/>
          </p:nvPr>
        </p:nvSpPr>
        <p:spPr/>
        <p:txBody>
          <a:bodyPr/>
          <a:lstStyle/>
          <a:p>
            <a:r>
              <a:rPr lang="en-US" dirty="0" smtClean="0"/>
              <a:t>NOAA-wide leadership to:</a:t>
            </a:r>
          </a:p>
          <a:p>
            <a:pPr lvl="1"/>
            <a:r>
              <a:rPr lang="en-US" dirty="0" smtClean="0"/>
              <a:t>Develop, Manage &amp; Ensure Quality Information Technology (IT) Investments </a:t>
            </a:r>
          </a:p>
          <a:p>
            <a:pPr lvl="1"/>
            <a:r>
              <a:rPr lang="en-US" dirty="0" smtClean="0"/>
              <a:t>Manage High Performance Computing and Communications Infrastructure</a:t>
            </a:r>
          </a:p>
          <a:p>
            <a:pPr lvl="1"/>
            <a:r>
              <a:rPr lang="en-US" dirty="0" smtClean="0"/>
              <a:t>Ensure NOAA’s Business Continuity and Protect Information and IT Resources </a:t>
            </a:r>
          </a:p>
          <a:p>
            <a:r>
              <a:rPr lang="en-US" dirty="0" smtClean="0"/>
              <a:t>NOAA-wide IT services for:</a:t>
            </a:r>
          </a:p>
          <a:p>
            <a:pPr lvl="1"/>
            <a:r>
              <a:rPr lang="en-US" dirty="0" smtClean="0"/>
              <a:t>Electronic Messaging, Network, and Web Services</a:t>
            </a:r>
          </a:p>
          <a:p>
            <a:pPr lvl="1"/>
            <a:r>
              <a:rPr lang="en-US" dirty="0" smtClean="0"/>
              <a:t>Administrative and Financial Systems Support</a:t>
            </a:r>
          </a:p>
          <a:p>
            <a:pPr lvl="1"/>
            <a:r>
              <a:rPr lang="en-US" dirty="0" smtClean="0"/>
              <a:t>Helpdesk and Systems Support</a:t>
            </a:r>
          </a:p>
        </p:txBody>
      </p:sp>
      <p:pic>
        <p:nvPicPr>
          <p:cNvPr id="23" name="Picture Placeholder 22" descr="noaa-supercomputerbanks2.jpg"/>
          <p:cNvPicPr>
            <a:picLocks noGrp="1" noChangeAspect="1"/>
          </p:cNvPicPr>
          <p:nvPr>
            <p:ph type="pic" sz="quarter" idx="17"/>
          </p:nvPr>
        </p:nvPicPr>
        <p:blipFill>
          <a:blip r:embed="rId5" cstate="print"/>
          <a:srcRect l="7099" r="7099"/>
          <a:stretch>
            <a:fillRect/>
          </a:stretch>
        </p:blipFill>
        <p:spPr/>
      </p:pic>
      <p:pic>
        <p:nvPicPr>
          <p:cNvPr id="24" name="Picture Placeholder 23" descr="GFDL_Silos.JPG"/>
          <p:cNvPicPr>
            <a:picLocks noGrp="1" noChangeAspect="1"/>
          </p:cNvPicPr>
          <p:nvPr>
            <p:ph type="pic" sz="quarter" idx="18"/>
          </p:nvPr>
        </p:nvPicPr>
        <p:blipFill>
          <a:blip r:embed="rId6"/>
          <a:stretch>
            <a:fillRect/>
          </a:stretch>
        </p:blipFill>
        <p:spPr>
          <a:xfrm>
            <a:off x="7543800" y="4377066"/>
            <a:ext cx="1502885" cy="1075668"/>
          </a:xfrm>
        </p:spPr>
      </p:pic>
      <p:pic>
        <p:nvPicPr>
          <p:cNvPr id="16" name="Picture Placeholder 15" descr="secondLifeNWSmap.jpg"/>
          <p:cNvPicPr>
            <a:picLocks noGrp="1" noChangeAspect="1"/>
          </p:cNvPicPr>
          <p:nvPr>
            <p:ph type="pic" sz="quarter" idx="16"/>
          </p:nvPr>
        </p:nvPicPr>
        <p:blipFill>
          <a:blip r:embed="rId7" cstate="print"/>
          <a:srcRect l="638" r="638"/>
          <a:stretch>
            <a:fillRect/>
          </a:stretch>
        </p:blipFill>
        <p:spPr/>
      </p:pic>
    </p:spTree>
  </p:cSld>
  <p:clrMapOvr>
    <a:masterClrMapping/>
  </p:clrMapOvr>
  <p:transition advClick="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normAutofit fontScale="90000"/>
          </a:bodyPr>
          <a:lstStyle/>
          <a:p>
            <a:r>
              <a:rPr lang="en-US" smtClean="0"/>
              <a:t>Staff Offices</a:t>
            </a:r>
            <a:br>
              <a:rPr lang="en-US" smtClean="0"/>
            </a:br>
            <a:r>
              <a:rPr lang="en-US" smtClean="0"/>
              <a:t>Program Analysis &amp; Evaluation</a:t>
            </a:r>
            <a:endParaRPr lang="en-US" dirty="0" smtClean="0"/>
          </a:p>
        </p:txBody>
      </p:sp>
      <p:sp>
        <p:nvSpPr>
          <p:cNvPr id="13" name="Footer Placeholder 12"/>
          <p:cNvSpPr>
            <a:spLocks noGrp="1"/>
          </p:cNvSpPr>
          <p:nvPr>
            <p:ph type="ftr" sz="quarter" idx="11"/>
          </p:nvPr>
        </p:nvSpPr>
        <p:spPr/>
        <p:txBody>
          <a:bodyPr/>
          <a:lstStyle/>
          <a:p>
            <a:r>
              <a:rPr lang="en-US" smtClean="0"/>
              <a:t>NOAA’s Transition Package: November 4, 2008</a:t>
            </a:r>
            <a:endParaRPr lang="en-US"/>
          </a:p>
        </p:txBody>
      </p:sp>
      <p:sp>
        <p:nvSpPr>
          <p:cNvPr id="7" name="PageNumber"/>
          <p:cNvSpPr>
            <a:spLocks noGrp="1"/>
          </p:cNvSpPr>
          <p:nvPr>
            <p:ph type="sldNum" sz="quarter" idx="12"/>
          </p:nvPr>
        </p:nvSpPr>
        <p:spPr/>
        <p:txBody>
          <a:bodyPr/>
          <a:lstStyle/>
          <a:p>
            <a:fld id="{3A6B9FAC-D603-4B0F-B18E-C0F8797653DF}" type="slidenum">
              <a:rPr lang="en-US" smtClean="0"/>
              <a:pPr/>
              <a:t>10</a:t>
            </a:fld>
            <a:endParaRPr lang="en-US"/>
          </a:p>
        </p:txBody>
      </p:sp>
      <p:pic>
        <p:nvPicPr>
          <p:cNvPr id="27" name="Picture Placeholder 26" descr="Stephen Austin.jpg"/>
          <p:cNvPicPr>
            <a:picLocks noGrp="1" noChangeAspect="1"/>
          </p:cNvPicPr>
          <p:nvPr>
            <p:ph type="pic" sz="quarter" idx="13"/>
          </p:nvPr>
        </p:nvPicPr>
        <p:blipFill>
          <a:blip r:embed="rId4" cstate="print"/>
          <a:srcRect t="6288" b="6288"/>
          <a:stretch>
            <a:fillRect/>
          </a:stretch>
        </p:blipFill>
        <p:spPr/>
      </p:pic>
      <p:sp>
        <p:nvSpPr>
          <p:cNvPr id="26" name="Text Placeholder 25"/>
          <p:cNvSpPr>
            <a:spLocks noGrp="1"/>
          </p:cNvSpPr>
          <p:nvPr>
            <p:ph type="body" sz="quarter" idx="14"/>
          </p:nvPr>
        </p:nvSpPr>
        <p:spPr/>
        <p:txBody>
          <a:bodyPr/>
          <a:lstStyle/>
          <a:p>
            <a:r>
              <a:rPr lang="en-US" smtClean="0"/>
              <a:t>Stephen D. Austin</a:t>
            </a:r>
            <a:endParaRPr lang="en-US" dirty="0"/>
          </a:p>
        </p:txBody>
      </p:sp>
      <p:sp>
        <p:nvSpPr>
          <p:cNvPr id="14" name="Text Placeholder 13"/>
          <p:cNvSpPr>
            <a:spLocks noGrp="1"/>
          </p:cNvSpPr>
          <p:nvPr>
            <p:ph type="body" sz="quarter" idx="15"/>
          </p:nvPr>
        </p:nvSpPr>
        <p:spPr/>
        <p:txBody>
          <a:bodyPr/>
          <a:lstStyle/>
          <a:p>
            <a:r>
              <a:rPr lang="en-US" smtClean="0"/>
              <a:t>Develops evaluations and assessments of NOAA’s plans, programs, and requirements. </a:t>
            </a:r>
          </a:p>
          <a:p>
            <a:r>
              <a:rPr lang="en-US" smtClean="0"/>
              <a:t>Analytical support to all parts of NOAA</a:t>
            </a:r>
          </a:p>
          <a:p>
            <a:pPr lvl="0"/>
            <a:r>
              <a:rPr lang="en-US" smtClean="0"/>
              <a:t>Some examples of PA&amp;E products:</a:t>
            </a:r>
          </a:p>
          <a:p>
            <a:pPr lvl="1"/>
            <a:r>
              <a:rPr lang="en-US" smtClean="0"/>
              <a:t>Program Review:  Current programmatic capacities and capabilities are compared to the NOAA mission requirement.  </a:t>
            </a:r>
          </a:p>
          <a:p>
            <a:pPr lvl="1"/>
            <a:r>
              <a:rPr lang="en-US" smtClean="0"/>
              <a:t>Program Development:  The development of an integrated, fiscally balanced 5 year plan based on inputs from NOAA Goal and Sub-goal teams.  </a:t>
            </a:r>
          </a:p>
          <a:p>
            <a:pPr lvl="1"/>
            <a:r>
              <a:rPr lang="en-US" smtClean="0"/>
              <a:t>Specialized analytical studies: PA&amp;E provides independent analytical support to NOAA Leadership, goal teams, and offices. </a:t>
            </a:r>
          </a:p>
          <a:p>
            <a:pPr lvl="1"/>
            <a:r>
              <a:rPr lang="en-US" smtClean="0"/>
              <a:t>Develop NOAA’s fiscal plan</a:t>
            </a:r>
            <a:endParaRPr lang="en-US" dirty="0" smtClean="0"/>
          </a:p>
        </p:txBody>
      </p:sp>
      <p:pic>
        <p:nvPicPr>
          <p:cNvPr id="31" name="Picture Placeholder 30" descr="ppbesThing.png"/>
          <p:cNvPicPr>
            <a:picLocks noGrp="1" noChangeAspect="1"/>
          </p:cNvPicPr>
          <p:nvPr>
            <p:ph type="pic" sz="quarter" idx="16"/>
          </p:nvPr>
        </p:nvPicPr>
        <p:blipFill>
          <a:blip r:embed="rId5" cstate="print"/>
          <a:srcRect t="4433" b="4433"/>
          <a:stretch>
            <a:fillRect/>
          </a:stretch>
        </p:blipFill>
        <p:spPr/>
      </p:pic>
      <p:pic>
        <p:nvPicPr>
          <p:cNvPr id="23" name="Picture Placeholder 22" descr="coral_researchplan-1.png"/>
          <p:cNvPicPr>
            <a:picLocks noGrp="1" noChangeAspect="1"/>
          </p:cNvPicPr>
          <p:nvPr>
            <p:ph type="pic" sz="quarter" idx="18"/>
          </p:nvPr>
        </p:nvPicPr>
        <p:blipFill>
          <a:blip r:embed="rId6" cstate="print"/>
          <a:srcRect t="1883" b="1883"/>
          <a:stretch>
            <a:fillRect/>
          </a:stretch>
        </p:blipFill>
        <p:spPr/>
      </p:pic>
      <p:pic>
        <p:nvPicPr>
          <p:cNvPr id="32" name="Picture Placeholder 31" descr="program_review_cover_small_2.jpg"/>
          <p:cNvPicPr>
            <a:picLocks noGrp="1" noChangeAspect="1"/>
          </p:cNvPicPr>
          <p:nvPr>
            <p:ph type="pic" sz="quarter" idx="17"/>
          </p:nvPr>
        </p:nvPicPr>
        <p:blipFill>
          <a:blip r:embed="rId7"/>
          <a:srcRect l="1612" r="1612"/>
          <a:stretch>
            <a:fillRect/>
          </a:stretch>
        </p:blipFill>
        <p:spPr/>
      </p:pic>
    </p:spTree>
  </p:cSld>
  <p:clrMapOvr>
    <a:masterClrMapping/>
  </p:clrMapOvr>
  <p:transition advClick="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Chief Administrative Officer</a:t>
            </a:r>
          </a:p>
        </p:txBody>
      </p:sp>
      <p:sp>
        <p:nvSpPr>
          <p:cNvPr id="14" name="Footer Placeholder 13"/>
          <p:cNvSpPr>
            <a:spLocks noGrp="1"/>
          </p:cNvSpPr>
          <p:nvPr>
            <p:ph type="ftr" sz="quarter" idx="11"/>
          </p:nvPr>
        </p:nvSpPr>
        <p:spPr/>
        <p:txBody>
          <a:bodyPr/>
          <a:lstStyle/>
          <a:p>
            <a:r>
              <a:rPr lang="en-US" smtClean="0"/>
              <a:t>NOAA’s Transition Package: November 4, 2008</a:t>
            </a:r>
            <a:endParaRPr lang="en-US"/>
          </a:p>
        </p:txBody>
      </p:sp>
      <p:sp>
        <p:nvSpPr>
          <p:cNvPr id="7" name="PageNumber"/>
          <p:cNvSpPr>
            <a:spLocks noGrp="1"/>
          </p:cNvSpPr>
          <p:nvPr>
            <p:ph type="sldNum" sz="quarter" idx="12"/>
          </p:nvPr>
        </p:nvSpPr>
        <p:spPr/>
        <p:txBody>
          <a:bodyPr/>
          <a:lstStyle/>
          <a:p>
            <a:fld id="{3A6B9FAC-D603-4B0F-B18E-C0F8797653DF}" type="slidenum">
              <a:rPr lang="en-US" smtClean="0"/>
              <a:pPr/>
              <a:t>11</a:t>
            </a:fld>
            <a:endParaRPr lang="en-US"/>
          </a:p>
        </p:txBody>
      </p:sp>
      <p:pic>
        <p:nvPicPr>
          <p:cNvPr id="28" name="Picture Placeholder 27" descr="Broglie.jpg"/>
          <p:cNvPicPr>
            <a:picLocks noGrp="1" noChangeAspect="1"/>
          </p:cNvPicPr>
          <p:nvPr>
            <p:ph type="pic" sz="quarter" idx="13"/>
          </p:nvPr>
        </p:nvPicPr>
        <p:blipFill>
          <a:blip r:embed="rId4" cstate="print"/>
          <a:srcRect t="6410" b="6410"/>
          <a:stretch>
            <a:fillRect/>
          </a:stretch>
        </p:blipFill>
        <p:spPr/>
      </p:pic>
      <p:sp>
        <p:nvSpPr>
          <p:cNvPr id="24" name="Text Placeholder 23"/>
          <p:cNvSpPr>
            <a:spLocks noGrp="1"/>
          </p:cNvSpPr>
          <p:nvPr>
            <p:ph type="body" sz="quarter" idx="14"/>
          </p:nvPr>
        </p:nvSpPr>
        <p:spPr/>
        <p:txBody>
          <a:bodyPr/>
          <a:lstStyle/>
          <a:p>
            <a:r>
              <a:rPr lang="en-US" smtClean="0"/>
              <a:t>William Broglie</a:t>
            </a:r>
            <a:endParaRPr lang="en-US" dirty="0"/>
          </a:p>
        </p:txBody>
      </p:sp>
      <p:sp>
        <p:nvSpPr>
          <p:cNvPr id="13" name="Text Placeholder 12"/>
          <p:cNvSpPr>
            <a:spLocks noGrp="1"/>
          </p:cNvSpPr>
          <p:nvPr>
            <p:ph type="body" sz="quarter" idx="15"/>
          </p:nvPr>
        </p:nvSpPr>
        <p:spPr/>
        <p:txBody>
          <a:bodyPr>
            <a:normAutofit/>
          </a:bodyPr>
          <a:lstStyle/>
          <a:p>
            <a:r>
              <a:rPr lang="en-US" sz="2400" dirty="0" smtClean="0"/>
              <a:t>Provides comprehensive, NOAA-wide leadership and services in the areas of:</a:t>
            </a:r>
          </a:p>
          <a:p>
            <a:pPr lvl="1"/>
            <a:r>
              <a:rPr lang="en-US" dirty="0" smtClean="0"/>
              <a:t>Facilities management (i.e., real and personal property)</a:t>
            </a:r>
          </a:p>
          <a:p>
            <a:pPr lvl="1"/>
            <a:r>
              <a:rPr lang="en-US" dirty="0" smtClean="0"/>
              <a:t>Freedom of Information Act (FOIA)</a:t>
            </a:r>
          </a:p>
          <a:p>
            <a:pPr lvl="1"/>
            <a:r>
              <a:rPr lang="en-US" dirty="0" smtClean="0"/>
              <a:t>OIG/GAO liaison</a:t>
            </a:r>
          </a:p>
          <a:p>
            <a:pPr lvl="1"/>
            <a:r>
              <a:rPr lang="en-US" dirty="0" smtClean="0"/>
              <a:t>Safety, environmental compliance, and energy conservation</a:t>
            </a:r>
          </a:p>
          <a:p>
            <a:pPr lvl="1"/>
            <a:r>
              <a:rPr lang="en-US" dirty="0" smtClean="0"/>
              <a:t>Administrative issuances and records management</a:t>
            </a:r>
          </a:p>
          <a:p>
            <a:pPr lvl="1"/>
            <a:r>
              <a:rPr lang="en-US" dirty="0" smtClean="0"/>
              <a:t>Other administrative program services</a:t>
            </a:r>
          </a:p>
          <a:p>
            <a:r>
              <a:rPr lang="en-US" sz="2400" dirty="0" smtClean="0"/>
              <a:t>Administers the NOAA-wide Civil Rights and Equal Employment Opportunity programs </a:t>
            </a:r>
          </a:p>
          <a:p>
            <a:r>
              <a:rPr lang="en-US" sz="2400" dirty="0" smtClean="0"/>
              <a:t>Serves as the Leadership and Corporate Services Sub-Goal Lead</a:t>
            </a:r>
          </a:p>
          <a:p>
            <a:endParaRPr lang="en-US" dirty="0" smtClean="0"/>
          </a:p>
        </p:txBody>
      </p:sp>
      <p:pic>
        <p:nvPicPr>
          <p:cNvPr id="21" name="Picture Placeholder 20" descr="NOAA diversity.jpg"/>
          <p:cNvPicPr>
            <a:picLocks noGrp="1" noChangeAspect="1"/>
          </p:cNvPicPr>
          <p:nvPr>
            <p:ph type="pic" sz="quarter" idx="17"/>
          </p:nvPr>
        </p:nvPicPr>
        <p:blipFill>
          <a:blip r:embed="rId5" cstate="print"/>
          <a:srcRect t="3455" b="5309"/>
          <a:stretch>
            <a:fillRect/>
          </a:stretch>
        </p:blipFill>
        <p:spPr>
          <a:xfrm>
            <a:off x="7543800" y="2857500"/>
            <a:ext cx="1502885" cy="1371600"/>
          </a:xfrm>
        </p:spPr>
      </p:pic>
      <p:pic>
        <p:nvPicPr>
          <p:cNvPr id="23" name="Picture Placeholder 22" descr="noaa-climate-center-groundbreaking-03-13-06b.jpg"/>
          <p:cNvPicPr>
            <a:picLocks noGrp="1" noChangeAspect="1"/>
          </p:cNvPicPr>
          <p:nvPr>
            <p:ph type="pic" sz="quarter" idx="16"/>
          </p:nvPr>
        </p:nvPicPr>
        <p:blipFill>
          <a:blip r:embed="rId6" cstate="print"/>
          <a:srcRect l="677" r="677"/>
          <a:stretch>
            <a:fillRect/>
          </a:stretch>
        </p:blipFill>
        <p:spPr/>
      </p:pic>
      <p:pic>
        <p:nvPicPr>
          <p:cNvPr id="15" name="Picture 4"/>
          <p:cNvPicPr>
            <a:picLocks noGrp="1" noChangeAspect="1" noChangeArrowheads="1"/>
          </p:cNvPicPr>
          <p:nvPr>
            <p:ph type="pic" sz="quarter" idx="18"/>
          </p:nvPr>
        </p:nvPicPr>
        <p:blipFill>
          <a:blip r:embed="rId7" cstate="print"/>
          <a:srcRect l="8089" r="8089"/>
          <a:stretch>
            <a:fillRect/>
          </a:stretch>
        </p:blipFill>
        <p:spPr>
          <a:noFill/>
          <a:ln/>
        </p:spPr>
      </p:pic>
    </p:spTree>
  </p:cSld>
  <p:clrMapOvr>
    <a:masterClrMapping/>
  </p:clrMapOvr>
  <p:transition advClick="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Chief Financial Officer</a:t>
            </a:r>
          </a:p>
        </p:txBody>
      </p:sp>
      <p:sp>
        <p:nvSpPr>
          <p:cNvPr id="11" name="Footer Placeholder 10"/>
          <p:cNvSpPr>
            <a:spLocks noGrp="1"/>
          </p:cNvSpPr>
          <p:nvPr>
            <p:ph type="ftr" sz="quarter" idx="11"/>
          </p:nvPr>
        </p:nvSpPr>
        <p:spPr/>
        <p:txBody>
          <a:bodyPr/>
          <a:lstStyle/>
          <a:p>
            <a:r>
              <a:rPr lang="en-US" smtClean="0"/>
              <a:t>NOAA’s Transition Package: November 4, 2008</a:t>
            </a:r>
            <a:endParaRPr lang="en-US"/>
          </a:p>
        </p:txBody>
      </p:sp>
      <p:sp>
        <p:nvSpPr>
          <p:cNvPr id="7" name="PageNumber"/>
          <p:cNvSpPr>
            <a:spLocks noGrp="1"/>
          </p:cNvSpPr>
          <p:nvPr>
            <p:ph type="sldNum" sz="quarter" idx="12"/>
          </p:nvPr>
        </p:nvSpPr>
        <p:spPr/>
        <p:txBody>
          <a:bodyPr/>
          <a:lstStyle/>
          <a:p>
            <a:fld id="{3A6B9FAC-D603-4B0F-B18E-C0F8797653DF}" type="slidenum">
              <a:rPr lang="en-US" smtClean="0"/>
              <a:pPr/>
              <a:t>12</a:t>
            </a:fld>
            <a:endParaRPr lang="en-US"/>
          </a:p>
        </p:txBody>
      </p:sp>
      <p:pic>
        <p:nvPicPr>
          <p:cNvPr id="15" name="Picture Placeholder 14" descr="Wylie.jpg"/>
          <p:cNvPicPr>
            <a:picLocks noGrp="1" noChangeAspect="1"/>
          </p:cNvPicPr>
          <p:nvPr>
            <p:ph type="pic" sz="quarter" idx="13"/>
          </p:nvPr>
        </p:nvPicPr>
        <p:blipFill>
          <a:blip r:embed="rId4" cstate="print"/>
          <a:srcRect t="2844" b="2844"/>
          <a:stretch>
            <a:fillRect/>
          </a:stretch>
        </p:blipFill>
        <p:spPr/>
      </p:pic>
      <p:sp>
        <p:nvSpPr>
          <p:cNvPr id="25" name="Text Placeholder 24"/>
          <p:cNvSpPr>
            <a:spLocks noGrp="1"/>
          </p:cNvSpPr>
          <p:nvPr>
            <p:ph type="body" sz="quarter" idx="14"/>
          </p:nvPr>
        </p:nvSpPr>
        <p:spPr/>
        <p:txBody>
          <a:bodyPr/>
          <a:lstStyle/>
          <a:p>
            <a:r>
              <a:rPr lang="en-US" smtClean="0"/>
              <a:t>Maureen Wylie</a:t>
            </a:r>
            <a:endParaRPr lang="en-US" dirty="0"/>
          </a:p>
        </p:txBody>
      </p:sp>
      <p:sp>
        <p:nvSpPr>
          <p:cNvPr id="14" name="Text Placeholder 13"/>
          <p:cNvSpPr>
            <a:spLocks noGrp="1"/>
          </p:cNvSpPr>
          <p:nvPr>
            <p:ph type="body" sz="quarter" idx="15"/>
          </p:nvPr>
        </p:nvSpPr>
        <p:spPr/>
        <p:txBody>
          <a:bodyPr>
            <a:normAutofit lnSpcReduction="10000"/>
          </a:bodyPr>
          <a:lstStyle/>
          <a:p>
            <a:r>
              <a:rPr lang="en-US" dirty="0" smtClean="0"/>
              <a:t>The CFO’s office directs the activities of both the offices of Budget and Finance:</a:t>
            </a:r>
          </a:p>
          <a:p>
            <a:r>
              <a:rPr lang="en-US" dirty="0" smtClean="0"/>
              <a:t>NOAA Budget </a:t>
            </a:r>
          </a:p>
          <a:p>
            <a:pPr lvl="1"/>
            <a:r>
              <a:rPr lang="en-US" dirty="0" smtClean="0"/>
              <a:t>Develops the annual budget submission to DOC, OMB, and Congress</a:t>
            </a:r>
          </a:p>
          <a:p>
            <a:pPr lvl="1"/>
            <a:r>
              <a:rPr lang="en-US" dirty="0" smtClean="0"/>
              <a:t>Prepares analysis of DOC and OMB </a:t>
            </a:r>
            <a:r>
              <a:rPr lang="en-US" dirty="0" err="1" smtClean="0"/>
              <a:t>passbacks</a:t>
            </a:r>
            <a:r>
              <a:rPr lang="en-US" dirty="0" smtClean="0"/>
              <a:t> and maintains control tables</a:t>
            </a:r>
          </a:p>
          <a:p>
            <a:pPr lvl="1"/>
            <a:r>
              <a:rPr lang="en-US" dirty="0" smtClean="0"/>
              <a:t>Performs variance reporting and closeout activities</a:t>
            </a:r>
          </a:p>
          <a:p>
            <a:pPr lvl="1"/>
            <a:r>
              <a:rPr lang="en-US" dirty="0" smtClean="0"/>
              <a:t>Liaison to DOC, OMB, and Congress for all appropriations related matters</a:t>
            </a:r>
          </a:p>
          <a:p>
            <a:r>
              <a:rPr lang="en-US" dirty="0" smtClean="0"/>
              <a:t>NOAA Finance Office </a:t>
            </a:r>
          </a:p>
          <a:p>
            <a:pPr lvl="1"/>
            <a:r>
              <a:rPr lang="en-US" dirty="0" smtClean="0"/>
              <a:t>Handles financial reporting</a:t>
            </a:r>
          </a:p>
          <a:p>
            <a:pPr lvl="1"/>
            <a:r>
              <a:rPr lang="en-US" dirty="0" smtClean="0"/>
              <a:t>Oversees financial systems and travel policy and systems</a:t>
            </a:r>
          </a:p>
          <a:p>
            <a:pPr lvl="1"/>
            <a:r>
              <a:rPr lang="en-US" dirty="0" smtClean="0"/>
              <a:t>Manages the NOAA Data Warehouse</a:t>
            </a:r>
          </a:p>
        </p:txBody>
      </p:sp>
      <p:pic>
        <p:nvPicPr>
          <p:cNvPr id="21" name="Picture Placeholder 20" descr="vadm_BudgetRollout_08.jpg"/>
          <p:cNvPicPr>
            <a:picLocks noGrp="1" noChangeAspect="1"/>
          </p:cNvPicPr>
          <p:nvPr>
            <p:ph type="pic" sz="quarter" idx="16"/>
          </p:nvPr>
        </p:nvPicPr>
        <p:blipFill>
          <a:blip r:embed="rId5" cstate="print"/>
          <a:srcRect t="5277" b="5277"/>
          <a:stretch>
            <a:fillRect/>
          </a:stretch>
        </p:blipFill>
        <p:spPr/>
      </p:pic>
      <p:pic>
        <p:nvPicPr>
          <p:cNvPr id="22" name="Picture Placeholder 21" descr="BlueBook_21408-1.png"/>
          <p:cNvPicPr>
            <a:picLocks noGrp="1" noChangeAspect="1"/>
          </p:cNvPicPr>
          <p:nvPr>
            <p:ph type="pic" sz="quarter" idx="17"/>
          </p:nvPr>
        </p:nvPicPr>
        <p:blipFill>
          <a:blip r:embed="rId6" cstate="print"/>
          <a:srcRect l="2694" r="2694"/>
          <a:stretch>
            <a:fillRect/>
          </a:stretch>
        </p:blipFill>
        <p:spPr/>
      </p:pic>
      <p:pic>
        <p:nvPicPr>
          <p:cNvPr id="23" name="Picture Placeholder 22" descr="PAR06-1.png"/>
          <p:cNvPicPr>
            <a:picLocks noGrp="1" noChangeAspect="1"/>
          </p:cNvPicPr>
          <p:nvPr>
            <p:ph type="pic" sz="quarter" idx="18"/>
          </p:nvPr>
        </p:nvPicPr>
        <p:blipFill>
          <a:blip r:embed="rId7" cstate="print"/>
          <a:srcRect t="814" b="814"/>
          <a:stretch>
            <a:fillRect/>
          </a:stretch>
        </p:blipFill>
        <p:spPr/>
      </p:pic>
    </p:spTree>
  </p:cSld>
  <p:clrMapOvr>
    <a:masterClrMapping/>
  </p:clrMapOvr>
  <p:transition advClick="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pPr fontAlgn="auto">
              <a:spcAft>
                <a:spcPts val="0"/>
              </a:spcAft>
              <a:defRPr/>
            </a:pPr>
            <a:r>
              <a:rPr lang="en-US" dirty="0" smtClean="0">
                <a:solidFill>
                  <a:schemeClr val="accent1">
                    <a:lumMod val="50000"/>
                  </a:schemeClr>
                </a:solidFill>
              </a:rPr>
              <a:t>Staff Offices</a:t>
            </a:r>
            <a:br>
              <a:rPr lang="en-US" dirty="0" smtClean="0">
                <a:solidFill>
                  <a:schemeClr val="accent1">
                    <a:lumMod val="50000"/>
                  </a:schemeClr>
                </a:solidFill>
              </a:rPr>
            </a:br>
            <a:r>
              <a:rPr lang="en-US" sz="2100" i="1" dirty="0" smtClean="0">
                <a:solidFill>
                  <a:schemeClr val="accent1">
                    <a:lumMod val="50000"/>
                  </a:schemeClr>
                </a:solidFill>
                <a:latin typeface="+mn-lt"/>
              </a:rPr>
              <a:t>Federal Coordinator for Meteorology</a:t>
            </a:r>
          </a:p>
        </p:txBody>
      </p:sp>
      <p:sp>
        <p:nvSpPr>
          <p:cNvPr id="7" name="PageNumber"/>
          <p:cNvSpPr>
            <a:spLocks noGrp="1"/>
          </p:cNvSpPr>
          <p:nvPr>
            <p:ph type="sldNum" sz="quarter" idx="4294967295"/>
          </p:nvPr>
        </p:nvSpPr>
        <p:spPr>
          <a:xfrm>
            <a:off x="8382000" y="6491288"/>
            <a:ext cx="762000" cy="365125"/>
          </a:xfrm>
          <a:prstGeom prst="rect">
            <a:avLst/>
          </a:prstGeom>
        </p:spPr>
        <p:txBody>
          <a:bodyPr/>
          <a:lstStyle/>
          <a:p>
            <a:pPr>
              <a:defRPr/>
            </a:pPr>
            <a:fld id="{CA408FA5-D753-46CA-B4C9-263FFB49C7A7}" type="slidenum">
              <a:rPr lang="en-US"/>
              <a:pPr>
                <a:defRPr/>
              </a:pPr>
              <a:t>13</a:t>
            </a:fld>
            <a:endParaRPr lang="en-US"/>
          </a:p>
        </p:txBody>
      </p:sp>
      <p:pic>
        <p:nvPicPr>
          <p:cNvPr id="15" name="Picture Placeholder 14" descr="Williamson.jpg"/>
          <p:cNvPicPr>
            <a:picLocks noGrp="1" noChangeAspect="1"/>
          </p:cNvPicPr>
          <p:nvPr>
            <p:ph type="pic" sz="quarter" idx="13"/>
          </p:nvPr>
        </p:nvPicPr>
        <p:blipFill>
          <a:blip r:embed="rId4"/>
          <a:srcRect t="6410" b="6410"/>
          <a:stretch>
            <a:fillRect/>
          </a:stretch>
        </p:blipFill>
        <p:spPr/>
      </p:pic>
      <p:sp>
        <p:nvSpPr>
          <p:cNvPr id="22534" name="Text Placeholder 11"/>
          <p:cNvSpPr>
            <a:spLocks noGrp="1"/>
          </p:cNvSpPr>
          <p:nvPr>
            <p:ph type="body" sz="quarter" idx="14"/>
          </p:nvPr>
        </p:nvSpPr>
        <p:spPr/>
        <p:txBody>
          <a:bodyPr/>
          <a:lstStyle/>
          <a:p>
            <a:r>
              <a:t>Samuel P. Williamson</a:t>
            </a:r>
          </a:p>
        </p:txBody>
      </p:sp>
      <p:sp>
        <p:nvSpPr>
          <p:cNvPr id="22535" name="Text Placeholder 13"/>
          <p:cNvSpPr>
            <a:spLocks noGrp="1"/>
          </p:cNvSpPr>
          <p:nvPr>
            <p:ph type="body" sz="quarter" idx="15"/>
          </p:nvPr>
        </p:nvSpPr>
        <p:spPr/>
        <p:txBody>
          <a:bodyPr/>
          <a:lstStyle/>
          <a:p>
            <a:r>
              <a:rPr lang="en-US" smtClean="0"/>
              <a:t>Leads the coordination of operational weather requirements, services, and supporting research among 15 Federal agencies and offices. </a:t>
            </a:r>
          </a:p>
          <a:p>
            <a:pPr lvl="1"/>
            <a:r>
              <a:rPr lang="en-US" smtClean="0"/>
              <a:t>Fosters information sharing, planning, coordination, and collaboration across the weather enterprise.</a:t>
            </a:r>
          </a:p>
          <a:p>
            <a:pPr lvl="1"/>
            <a:r>
              <a:rPr lang="en-US" smtClean="0"/>
              <a:t>Facilitates interagency leveraging </a:t>
            </a:r>
          </a:p>
          <a:p>
            <a:pPr lvl="1"/>
            <a:r>
              <a:rPr lang="en-US" smtClean="0"/>
              <a:t>Assesses issues, capabilities, needs, requirements, priorities, shortfalls, and planning </a:t>
            </a:r>
          </a:p>
          <a:p>
            <a:pPr lvl="1"/>
            <a:r>
              <a:rPr lang="en-US" smtClean="0"/>
              <a:t>Makes recommendations to decision makers</a:t>
            </a:r>
          </a:p>
          <a:p>
            <a:pPr lvl="1"/>
            <a:r>
              <a:rPr lang="en-US" smtClean="0"/>
              <a:t>Resolves interagency differences</a:t>
            </a:r>
          </a:p>
          <a:p>
            <a:pPr lvl="1"/>
            <a:r>
              <a:rPr lang="en-US" smtClean="0"/>
              <a:t>Facilitates improved products and services</a:t>
            </a:r>
          </a:p>
          <a:p>
            <a:pPr lvl="1"/>
            <a:r>
              <a:rPr lang="en-US" smtClean="0"/>
              <a:t>Focuses supporting research and transition to operations</a:t>
            </a:r>
          </a:p>
          <a:p>
            <a:pPr lvl="1"/>
            <a:r>
              <a:rPr lang="en-US" smtClean="0"/>
              <a:t>Prescribes standardized procedures</a:t>
            </a:r>
          </a:p>
        </p:txBody>
      </p:sp>
      <p:pic>
        <p:nvPicPr>
          <p:cNvPr id="26" name="Picture Placeholder 25" descr="phased_array.jpg"/>
          <p:cNvPicPr>
            <a:picLocks noGrp="1" noChangeAspect="1"/>
          </p:cNvPicPr>
          <p:nvPr>
            <p:ph type="pic" sz="quarter" idx="17"/>
          </p:nvPr>
        </p:nvPicPr>
        <p:blipFill>
          <a:blip r:embed="rId5"/>
          <a:srcRect t="3501" b="3501"/>
          <a:stretch>
            <a:fillRect/>
          </a:stretch>
        </p:blipFill>
        <p:spPr>
          <a:xfrm>
            <a:off x="7543800" y="2971800"/>
            <a:ext cx="1503363" cy="1143000"/>
          </a:xfrm>
        </p:spPr>
      </p:pic>
      <p:pic>
        <p:nvPicPr>
          <p:cNvPr id="71691" name="Picture 11" descr="gallery03%20(2)"/>
          <p:cNvPicPr>
            <a:picLocks noChangeAspect="1" noChangeArrowheads="1"/>
          </p:cNvPicPr>
          <p:nvPr/>
        </p:nvPicPr>
        <p:blipFill>
          <a:blip r:embed="rId6"/>
          <a:srcRect l="8696" r="8696"/>
          <a:stretch>
            <a:fillRect/>
          </a:stretch>
        </p:blipFill>
        <p:spPr bwMode="auto">
          <a:xfrm>
            <a:off x="7518400" y="4343400"/>
            <a:ext cx="1524000" cy="1150938"/>
          </a:xfrm>
          <a:prstGeom prst="rect">
            <a:avLst/>
          </a:prstGeom>
          <a:noFill/>
          <a:ln w="12700">
            <a:solidFill>
              <a:srgbClr val="004E6D"/>
            </a:solidFill>
            <a:miter lim="800000"/>
            <a:headEnd/>
            <a:tailEnd/>
          </a:ln>
          <a:effectLst>
            <a:outerShdw dist="40161" dir="4293903" algn="ctr" rotWithShape="0">
              <a:srgbClr val="808080">
                <a:alpha val="50000"/>
              </a:srgbClr>
            </a:outerShdw>
          </a:effectLst>
        </p:spPr>
      </p:pic>
      <p:pic>
        <p:nvPicPr>
          <p:cNvPr id="22541" name="Picture 13" descr="NHOP08-Cover"/>
          <p:cNvPicPr>
            <a:picLocks noChangeAspect="1" noChangeArrowheads="1"/>
          </p:cNvPicPr>
          <p:nvPr/>
        </p:nvPicPr>
        <p:blipFill>
          <a:blip r:embed="rId7"/>
          <a:srcRect l="30858" t="47449" r="28285" b="28690"/>
          <a:stretch>
            <a:fillRect/>
          </a:stretch>
        </p:blipFill>
        <p:spPr bwMode="auto">
          <a:xfrm>
            <a:off x="7523163" y="1585913"/>
            <a:ext cx="1519237" cy="1149350"/>
          </a:xfrm>
          <a:prstGeom prst="rect">
            <a:avLst/>
          </a:prstGeom>
          <a:noFill/>
          <a:ln w="12700">
            <a:solidFill>
              <a:srgbClr val="004E6D"/>
            </a:solidFill>
            <a:miter lim="800000"/>
            <a:headEnd/>
            <a:tailEnd/>
          </a:ln>
          <a:effectLst>
            <a:outerShdw dist="25400" dir="5400000" algn="ctr" rotWithShape="0">
              <a:srgbClr val="808080"/>
            </a:outerShdw>
          </a:effectLst>
        </p:spPr>
      </p:pic>
      <p:sp>
        <p:nvSpPr>
          <p:cNvPr id="11" name="Footer Placeholder 10"/>
          <p:cNvSpPr>
            <a:spLocks noGrp="1"/>
          </p:cNvSpPr>
          <p:nvPr>
            <p:ph type="ftr" sz="quarter" idx="11"/>
          </p:nvPr>
        </p:nvSpPr>
        <p:spPr/>
        <p:txBody>
          <a:bodyPr/>
          <a:lstStyle/>
          <a:p>
            <a:pPr>
              <a:defRPr/>
            </a:pPr>
            <a:r>
              <a:rPr lang="en-US" smtClean="0"/>
              <a:t>NOAA’s Transition Package: November 4, 2008</a:t>
            </a:r>
            <a:endParaRPr lang="en-US" dirty="0"/>
          </a:p>
        </p:txBody>
      </p:sp>
    </p:spTree>
  </p:cSld>
  <p:clrMapOvr>
    <a:masterClrMapping/>
  </p:clrMapOvr>
  <p:transition advClick="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1536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Acquisition &amp; Grants</a:t>
            </a:r>
          </a:p>
        </p:txBody>
      </p:sp>
      <p:sp>
        <p:nvSpPr>
          <p:cNvPr id="16" name="Footer Placeholder 15"/>
          <p:cNvSpPr>
            <a:spLocks noGrp="1"/>
          </p:cNvSpPr>
          <p:nvPr>
            <p:ph type="ftr" sz="quarter" idx="11"/>
          </p:nvPr>
        </p:nvSpPr>
        <p:spPr/>
        <p:txBody>
          <a:bodyPr/>
          <a:lstStyle/>
          <a:p>
            <a:r>
              <a:rPr lang="en-US" smtClean="0"/>
              <a:t>NOAA’s Transition Package: November 4, 2008</a:t>
            </a:r>
            <a:endParaRPr lang="en-US"/>
          </a:p>
        </p:txBody>
      </p:sp>
      <p:sp>
        <p:nvSpPr>
          <p:cNvPr id="7" name="PageNumber"/>
          <p:cNvSpPr>
            <a:spLocks noGrp="1"/>
          </p:cNvSpPr>
          <p:nvPr>
            <p:ph type="sldNum" sz="quarter" idx="12"/>
          </p:nvPr>
        </p:nvSpPr>
        <p:spPr/>
        <p:txBody>
          <a:bodyPr/>
          <a:lstStyle/>
          <a:p>
            <a:fld id="{3A6B9FAC-D603-4B0F-B18E-C0F8797653DF}" type="slidenum">
              <a:rPr lang="en-US" smtClean="0"/>
              <a:pPr/>
              <a:t>14</a:t>
            </a:fld>
            <a:endParaRPr lang="en-US"/>
          </a:p>
        </p:txBody>
      </p:sp>
      <p:pic>
        <p:nvPicPr>
          <p:cNvPr id="24" name="Picture Placeholder 23" descr="Wylie.jpg"/>
          <p:cNvPicPr>
            <a:picLocks noGrp="1" noChangeAspect="1"/>
          </p:cNvPicPr>
          <p:nvPr>
            <p:ph type="pic" sz="quarter" idx="13"/>
          </p:nvPr>
        </p:nvPicPr>
        <p:blipFill>
          <a:blip r:embed="rId4" cstate="print"/>
          <a:srcRect t="2844" b="2844"/>
          <a:stretch>
            <a:fillRect/>
          </a:stretch>
        </p:blipFill>
        <p:spPr/>
      </p:pic>
      <p:sp>
        <p:nvSpPr>
          <p:cNvPr id="18" name="Text Placeholder 17"/>
          <p:cNvSpPr>
            <a:spLocks noGrp="1"/>
          </p:cNvSpPr>
          <p:nvPr>
            <p:ph type="body" sz="quarter" idx="14"/>
          </p:nvPr>
        </p:nvSpPr>
        <p:spPr/>
        <p:txBody>
          <a:bodyPr/>
          <a:lstStyle/>
          <a:p>
            <a:r>
              <a:rPr lang="en-US" dirty="0" smtClean="0"/>
              <a:t>Maureen Wylie (Acting)</a:t>
            </a:r>
            <a:endParaRPr lang="en-US" dirty="0"/>
          </a:p>
        </p:txBody>
      </p:sp>
      <p:sp>
        <p:nvSpPr>
          <p:cNvPr id="23" name="Text Placeholder 22"/>
          <p:cNvSpPr>
            <a:spLocks noGrp="1"/>
          </p:cNvSpPr>
          <p:nvPr>
            <p:ph type="body" sz="quarter" idx="15"/>
          </p:nvPr>
        </p:nvSpPr>
        <p:spPr/>
        <p:txBody>
          <a:bodyPr>
            <a:normAutofit/>
          </a:bodyPr>
          <a:lstStyle/>
          <a:p>
            <a:r>
              <a:rPr lang="en-US" dirty="0" smtClean="0"/>
              <a:t>Purchases quality goods and services at a reasonable price from external vendors</a:t>
            </a:r>
          </a:p>
          <a:p>
            <a:pPr lvl="1"/>
            <a:r>
              <a:rPr lang="en-US" dirty="0" smtClean="0"/>
              <a:t>Solicits proposals from industry </a:t>
            </a:r>
          </a:p>
          <a:p>
            <a:pPr lvl="1"/>
            <a:r>
              <a:rPr lang="en-US" dirty="0" smtClean="0"/>
              <a:t>Awards and administers contracts</a:t>
            </a:r>
          </a:p>
          <a:p>
            <a:pPr lvl="0"/>
            <a:r>
              <a:rPr lang="en-US" dirty="0" smtClean="0"/>
              <a:t>Administers financial assistance awards (grants) to qualified recipients in support of NOAA’s mission</a:t>
            </a:r>
          </a:p>
          <a:p>
            <a:pPr lvl="1"/>
            <a:r>
              <a:rPr lang="en-US" dirty="0" smtClean="0"/>
              <a:t>Manages administrative and financial aspects of awards </a:t>
            </a:r>
          </a:p>
          <a:p>
            <a:pPr lvl="1"/>
            <a:r>
              <a:rPr lang="en-US" dirty="0" smtClean="0"/>
              <a:t>Reviews and processes applications </a:t>
            </a:r>
          </a:p>
          <a:p>
            <a:pPr lvl="1">
              <a:buNone/>
            </a:pPr>
            <a:endParaRPr lang="en-US" dirty="0" smtClean="0"/>
          </a:p>
          <a:p>
            <a:pPr lvl="1">
              <a:buNone/>
            </a:pPr>
            <a:endParaRPr lang="en-US" dirty="0" smtClean="0"/>
          </a:p>
        </p:txBody>
      </p:sp>
      <p:pic>
        <p:nvPicPr>
          <p:cNvPr id="21" name="Picture Placeholder 20" descr="GrantsOnline.jpg"/>
          <p:cNvPicPr>
            <a:picLocks noGrp="1" noChangeAspect="1"/>
          </p:cNvPicPr>
          <p:nvPr>
            <p:ph type="pic" sz="quarter" idx="16"/>
          </p:nvPr>
        </p:nvPicPr>
        <p:blipFill>
          <a:blip r:embed="rId5"/>
          <a:srcRect t="10257" b="10257"/>
          <a:stretch>
            <a:fillRect/>
          </a:stretch>
        </p:blipFill>
        <p:spPr/>
      </p:pic>
      <p:pic>
        <p:nvPicPr>
          <p:cNvPr id="25" name="Picture Placeholder 24" descr="SeaGrant_fish_lab-04.jpg"/>
          <p:cNvPicPr>
            <a:picLocks noGrp="1" noChangeAspect="1"/>
          </p:cNvPicPr>
          <p:nvPr>
            <p:ph type="pic" sz="quarter" idx="18"/>
          </p:nvPr>
        </p:nvPicPr>
        <p:blipFill>
          <a:blip r:embed="rId6"/>
          <a:srcRect l="14091" r="14091"/>
          <a:stretch>
            <a:fillRect/>
          </a:stretch>
        </p:blipFill>
        <p:spPr/>
      </p:pic>
      <p:pic>
        <p:nvPicPr>
          <p:cNvPr id="12" name="Picture Placeholder 21" descr="VADM &amp; Sen Murkowski (10-20-04).jpg"/>
          <p:cNvPicPr>
            <a:picLocks noChangeAspect="1"/>
          </p:cNvPicPr>
          <p:nvPr/>
        </p:nvPicPr>
        <p:blipFill>
          <a:blip r:embed="rId7" cstate="print"/>
          <a:stretch>
            <a:fillRect/>
          </a:stretch>
        </p:blipFill>
        <p:spPr>
          <a:xfrm>
            <a:off x="7543800" y="2987637"/>
            <a:ext cx="1502885" cy="1127163"/>
          </a:xfrm>
          <a:prstGeom prst="rect">
            <a:avLst/>
          </a:prstGeom>
          <a:ln w="12700">
            <a:solidFill>
              <a:schemeClr val="accent2">
                <a:lumMod val="50000"/>
              </a:schemeClr>
            </a:solidFill>
          </a:ln>
          <a:effectLst>
            <a:outerShdw blurRad="50800" dist="38100" dir="5400000" algn="t" rotWithShape="0">
              <a:prstClr val="black">
                <a:alpha val="40000"/>
              </a:prstClr>
            </a:outerShdw>
          </a:effectLst>
        </p:spPr>
      </p:pic>
    </p:spTree>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3" action="ppaction://hlinksldjump" tooltip="Return To Corporate Structure"/>
          </p:cNvPr>
          <p:cNvSpPr/>
          <p:nvPr/>
        </p:nvSpPr>
        <p:spPr>
          <a:xfrm>
            <a:off x="495300" y="1066800"/>
            <a:ext cx="7658100" cy="5486400"/>
          </a:xfrm>
          <a:prstGeom prst="rect">
            <a:avLst/>
          </a:prstGeom>
          <a:gradFill flip="none" rotWithShape="1">
            <a:gsLst>
              <a:gs pos="0">
                <a:schemeClr val="accent1">
                  <a:lumMod val="40000"/>
                  <a:lumOff val="60000"/>
                  <a:alpha val="70000"/>
                </a:schemeClr>
              </a:gs>
              <a:gs pos="50000">
                <a:schemeClr val="accent1">
                  <a:lumMod val="20000"/>
                  <a:lumOff val="80000"/>
                  <a:alpha val="70000"/>
                </a:schemeClr>
              </a:gs>
              <a:gs pos="100000">
                <a:schemeClr val="bg1">
                  <a:alpha val="70000"/>
                </a:schemeClr>
              </a:gs>
            </a:gsLst>
            <a:lin ang="16200000" scaled="1"/>
            <a:tileRect/>
          </a:gradFill>
          <a:ln w="12700">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2" name="Title"/>
          <p:cNvSpPr>
            <a:spLocks noGrp="1" noChangeArrowheads="1"/>
          </p:cNvSpPr>
          <p:nvPr>
            <p:ph type="title"/>
          </p:nvPr>
        </p:nvSpPr>
        <p:spPr/>
        <p:txBody>
          <a:bodyPr/>
          <a:lstStyle/>
          <a:p>
            <a:r>
              <a:rPr lang="en-US" dirty="0" smtClean="0"/>
              <a:t>Staff Offices</a:t>
            </a:r>
            <a:br>
              <a:rPr lang="en-US" dirty="0" smtClean="0"/>
            </a:br>
            <a:r>
              <a:rPr lang="en-US" sz="2100" i="1" dirty="0" smtClean="0">
                <a:latin typeface="+mn-lt"/>
              </a:rPr>
              <a:t>Marine &amp; Aviation Operations</a:t>
            </a:r>
          </a:p>
        </p:txBody>
      </p:sp>
      <p:sp>
        <p:nvSpPr>
          <p:cNvPr id="18" name="Footer Placeholder 17"/>
          <p:cNvSpPr>
            <a:spLocks noGrp="1"/>
          </p:cNvSpPr>
          <p:nvPr>
            <p:ph type="ftr" sz="quarter" idx="11"/>
          </p:nvPr>
        </p:nvSpPr>
        <p:spPr/>
        <p:txBody>
          <a:bodyPr/>
          <a:lstStyle/>
          <a:p>
            <a:r>
              <a:rPr lang="en-US" smtClean="0"/>
              <a:t>NOAA’s Transition Package: November 4, 2008</a:t>
            </a:r>
            <a:endParaRPr lang="en-US"/>
          </a:p>
        </p:txBody>
      </p:sp>
      <p:sp>
        <p:nvSpPr>
          <p:cNvPr id="7" name="PageNumber"/>
          <p:cNvSpPr>
            <a:spLocks noGrp="1"/>
          </p:cNvSpPr>
          <p:nvPr>
            <p:ph type="sldNum" sz="quarter" idx="12"/>
          </p:nvPr>
        </p:nvSpPr>
        <p:spPr/>
        <p:txBody>
          <a:bodyPr/>
          <a:lstStyle/>
          <a:p>
            <a:fld id="{7C101840-F76B-47FF-9B06-738E218A20A7}" type="slidenum">
              <a:rPr lang="en-US" smtClean="0"/>
              <a:pPr/>
              <a:t>15</a:t>
            </a:fld>
            <a:endParaRPr lang="en-US"/>
          </a:p>
        </p:txBody>
      </p:sp>
      <p:pic>
        <p:nvPicPr>
          <p:cNvPr id="23" name="Picture Placeholder 22" descr="bailey_8x10.jpg"/>
          <p:cNvPicPr>
            <a:picLocks noGrp="1" noChangeAspect="1"/>
          </p:cNvPicPr>
          <p:nvPr>
            <p:ph type="pic" sz="quarter" idx="13"/>
          </p:nvPr>
        </p:nvPicPr>
        <p:blipFill>
          <a:blip r:embed="rId4" cstate="print"/>
          <a:srcRect l="1109" r="1109"/>
          <a:stretch>
            <a:fillRect/>
          </a:stretch>
        </p:blipFill>
        <p:spPr/>
      </p:pic>
      <p:sp>
        <p:nvSpPr>
          <p:cNvPr id="22" name="Text Placeholder 21"/>
          <p:cNvSpPr>
            <a:spLocks noGrp="1"/>
          </p:cNvSpPr>
          <p:nvPr>
            <p:ph type="body" sz="quarter" idx="14"/>
          </p:nvPr>
        </p:nvSpPr>
        <p:spPr/>
        <p:txBody>
          <a:bodyPr/>
          <a:lstStyle/>
          <a:p>
            <a:r>
              <a:rPr lang="en-US" smtClean="0"/>
              <a:t>RADM Jonathan W. Bailey</a:t>
            </a:r>
            <a:endParaRPr lang="en-US" dirty="0"/>
          </a:p>
        </p:txBody>
      </p:sp>
      <p:sp>
        <p:nvSpPr>
          <p:cNvPr id="13" name="Text Placeholder 12"/>
          <p:cNvSpPr>
            <a:spLocks noGrp="1"/>
          </p:cNvSpPr>
          <p:nvPr>
            <p:ph type="body" sz="quarter" idx="15"/>
          </p:nvPr>
        </p:nvSpPr>
        <p:spPr/>
        <p:txBody>
          <a:bodyPr>
            <a:normAutofit/>
          </a:bodyPr>
          <a:lstStyle/>
          <a:p>
            <a:r>
              <a:rPr lang="en-US" sz="2400" dirty="0" smtClean="0"/>
              <a:t>Operates and maintains NOAA’s specialized fleet of 18 ships and 12 aircraft</a:t>
            </a:r>
            <a:endParaRPr lang="en-US" sz="1800" dirty="0" smtClean="0"/>
          </a:p>
          <a:p>
            <a:pPr lvl="1"/>
            <a:r>
              <a:rPr lang="en-US" sz="1800" dirty="0" smtClean="0"/>
              <a:t>Provides continuous observation of critical environmental conditions</a:t>
            </a:r>
          </a:p>
          <a:p>
            <a:pPr lvl="1"/>
            <a:r>
              <a:rPr lang="en-US" sz="1800" dirty="0" smtClean="0"/>
              <a:t>Serves as technical acquisition lead for new ships and aircraft</a:t>
            </a:r>
          </a:p>
          <a:p>
            <a:r>
              <a:rPr lang="en-US" sz="2400" dirty="0" smtClean="0"/>
              <a:t>Directs the following programs:</a:t>
            </a:r>
          </a:p>
          <a:p>
            <a:r>
              <a:rPr lang="en-US" sz="2400" dirty="0" smtClean="0"/>
              <a:t>    NOAA Commissioned Corps</a:t>
            </a:r>
          </a:p>
          <a:p>
            <a:pPr lvl="1"/>
            <a:r>
              <a:rPr lang="en-US" sz="1800" dirty="0" smtClean="0"/>
              <a:t>Provides operational leaders Agency-wide</a:t>
            </a:r>
          </a:p>
          <a:p>
            <a:r>
              <a:rPr lang="en-US" sz="2400" dirty="0" smtClean="0"/>
              <a:t>    NOAA Dive Program</a:t>
            </a:r>
          </a:p>
          <a:p>
            <a:pPr lvl="1"/>
            <a:r>
              <a:rPr lang="en-US" sz="1800" dirty="0" smtClean="0"/>
              <a:t>Trains, certifies, and equips NOAA divers, and promulgates diving regulations and safety standards for the Agency</a:t>
            </a:r>
          </a:p>
          <a:p>
            <a:r>
              <a:rPr lang="en-US" sz="2400" dirty="0" smtClean="0"/>
              <a:t>    Small Boat and Aviation Safety Programs</a:t>
            </a:r>
          </a:p>
          <a:p>
            <a:pPr lvl="1"/>
            <a:r>
              <a:rPr lang="en-US" sz="1800" dirty="0" smtClean="0"/>
              <a:t>Provide safety standards and training for NOAA components operating small vessels or utilizing aircraft</a:t>
            </a:r>
          </a:p>
        </p:txBody>
      </p:sp>
      <p:pic>
        <p:nvPicPr>
          <p:cNvPr id="20" name="Picture Placeholder 19" descr="fullnoaa_222.jpg"/>
          <p:cNvPicPr>
            <a:picLocks noGrp="1" noChangeAspect="1"/>
          </p:cNvPicPr>
          <p:nvPr>
            <p:ph type="pic" sz="quarter" idx="16"/>
          </p:nvPr>
        </p:nvPicPr>
        <p:blipFill>
          <a:blip r:embed="rId5" cstate="print"/>
          <a:srcRect l="6123" r="6123"/>
          <a:stretch>
            <a:fillRect/>
          </a:stretch>
        </p:blipFill>
        <p:spPr/>
      </p:pic>
      <p:pic>
        <p:nvPicPr>
          <p:cNvPr id="25" name="Picture Placeholder 24" descr="Bigelow-launch-Cropped-07-08-2005-creditNOAA.jpg"/>
          <p:cNvPicPr>
            <a:picLocks noGrp="1" noChangeAspect="1"/>
          </p:cNvPicPr>
          <p:nvPr>
            <p:ph type="pic" sz="quarter" idx="17"/>
          </p:nvPr>
        </p:nvPicPr>
        <p:blipFill>
          <a:blip r:embed="rId6" cstate="print"/>
          <a:srcRect l="12139" r="12139"/>
          <a:stretch>
            <a:fillRect/>
          </a:stretch>
        </p:blipFill>
        <p:spPr/>
      </p:pic>
      <p:pic>
        <p:nvPicPr>
          <p:cNvPr id="26" name="Picture Placeholder 25" descr="103.jpg"/>
          <p:cNvPicPr>
            <a:picLocks noGrp="1" noChangeAspect="1"/>
          </p:cNvPicPr>
          <p:nvPr>
            <p:ph type="pic" sz="quarter" idx="18"/>
          </p:nvPr>
        </p:nvPicPr>
        <p:blipFill>
          <a:blip r:embed="rId7" cstate="print"/>
          <a:srcRect l="6157" r="6157"/>
          <a:stretch>
            <a:fillRect/>
          </a:stretch>
        </p:blipFill>
        <p:spPr/>
      </p:pic>
    </p:spTree>
  </p:cSld>
  <p:clrMapOvr>
    <a:masterClrMapping/>
  </p:clrMapOvr>
  <p:transition advClick="0"/>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5&quot;&gt;&lt;property id=&quot;20148&quot; value=&quot;5&quot;/&gt;&lt;property id=&quot;20300&quot; value=&quot;Slide 83 - &amp;quot;NOAA Funding Levels&amp;quot;&quot;/&gt;&lt;property id=&quot;20307&quot; value=&quot;287&quot;/&gt;&lt;/object&gt;&lt;object type=&quot;3&quot; unique_id=&quot;19745&quot;&gt;&lt;property id=&quot;20148&quot; value=&quot;5&quot;/&gt;&lt;property id=&quot;20300&quot; value=&quot;Slide 1 - &amp;quot;NOAA&amp;#x0D;&amp;#x0A;Transition Team Briefing&amp;quot;&quot;/&gt;&lt;property id=&quot;20307&quot; value=&quot;459&quot;/&gt;&lt;/object&gt;&lt;object type=&quot;3&quot; unique_id=&quot;28265&quot;&gt;&lt;property id=&quot;20148&quot; value=&quot;5&quot;/&gt;&lt;property id=&quot;20300&quot; value=&quot;Slide 24 - &amp;quot;NOAA Core Assets&amp;quot;&quot;/&gt;&lt;property id=&quot;20307&quot; value=&quot;525&quot;/&gt;&lt;/object&gt;&lt;object type=&quot;3&quot; unique_id=&quot;30931&quot;&gt;&lt;property id=&quot;20148&quot; value=&quot;5&quot;/&gt;&lt;property id=&quot;20300&quot; value=&quot;Slide 26 - &amp;quot;NOAA Mandates and Authorities&amp;quot;&quot;/&gt;&lt;property id=&quot;20307&quot; value=&quot;539&quot;/&gt;&lt;/object&gt;&lt;object type=&quot;3&quot; unique_id=&quot;32712&quot;&gt;&lt;property id=&quot;20148&quot; value=&quot;5&quot;/&gt;&lt;property id=&quot;20300&quot; value=&quot;Slide 5 - &amp;quot;NOAA Saves American Lives&amp;quot;&quot;/&gt;&lt;property id=&quot;20307&quot; value=&quot;556&quot;/&gt;&lt;/object&gt;&lt;object type=&quot;3&quot; unique_id=&quot;32737&quot;&gt;&lt;property id=&quot;20148&quot; value=&quot;5&quot;/&gt;&lt;property id=&quot;20300&quot; value=&quot;Slide 8 - &amp;quot;NOAA Saves American Lives&amp;quot;&quot;/&gt;&lt;property id=&quot;20307&quot; value=&quot;554&quot;/&gt;&lt;/object&gt;&lt;object type=&quot;3&quot; unique_id=&quot;33773&quot;&gt;&lt;property id=&quot;20148&quot; value=&quot;5&quot;/&gt;&lt;property id=&quot;20300&quot; value=&quot;Slide 10 - &amp;quot;NOAA Is Vital to the &amp;#x0D;&amp;#x0A;American Economy&amp;quot;&quot;/&gt;&lt;property id=&quot;20307&quot; value=&quot;581&quot;/&gt;&lt;/object&gt;&lt;object type=&quot;3&quot; unique_id=&quot;35551&quot;&gt;&lt;property id=&quot;20148&quot; value=&quot;5&quot;/&gt;&lt;property id=&quot;20300&quot; value=&quot;Slide 23 - &amp;quot;NOAA Workforce&amp;quot;&quot;/&gt;&lt;property id=&quot;20307&quot; value=&quot;583&quot;/&gt;&lt;/object&gt;&lt;object type=&quot;3&quot; unique_id=&quot;35552&quot;&gt;&lt;property id=&quot;20148&quot; value=&quot;5&quot;/&gt;&lt;property id=&quot;20300&quot; value=&quot;Slide 25 - &amp;quot;NOAA Core Assets&amp;quot;&quot;/&gt;&lt;property id=&quot;20307&quot; value=&quot;584&quot;/&gt;&lt;/object&gt;&lt;object type=&quot;3&quot; unique_id=&quot;37181&quot;&gt;&lt;property id=&quot;20148&quot; value=&quot;5&quot;/&gt;&lt;property id=&quot;20300&quot; value=&quot;Slide 16 - &amp;quot;NOAA Organization&amp;quot;&quot;/&gt;&lt;property id=&quot;20307&quot; value=&quot;612&quot;/&gt;&lt;/object&gt;&lt;object type=&quot;3&quot; unique_id=&quot;37672&quot;&gt;&lt;property id=&quot;20148&quot; value=&quot;5&quot;/&gt;&lt;property id=&quot;20300&quot; value=&quot;Slide 6 - &amp;quot;NOAA Saves American Lives&amp;quot;&quot;/&gt;&lt;property id=&quot;20307&quot; value=&quot;615&quot;/&gt;&lt;/object&gt;&lt;object type=&quot;3&quot; unique_id=&quot;37673&quot;&gt;&lt;property id=&quot;20148&quot; value=&quot;5&quot;/&gt;&lt;property id=&quot;20300&quot; value=&quot;Slide 7 - &amp;quot;NOAA Saves American Lives&amp;quot;&quot;/&gt;&lt;property id=&quot;20307&quot; value=&quot;616&quot;/&gt;&lt;/object&gt;&lt;object type=&quot;3&quot; unique_id=&quot;37674&quot;&gt;&lt;property id=&quot;20148&quot; value=&quot;5&quot;/&gt;&lt;property id=&quot;20300&quot; value=&quot;Slide 9 - &amp;quot;NOAA Is Vital to the &amp;#x0D;&amp;#x0A;American Economy&amp;quot;&quot;/&gt;&lt;property id=&quot;20307&quot; value=&quot;617&quot;/&gt;&lt;/object&gt;&lt;object type=&quot;3&quot; unique_id=&quot;37675&quot;&gt;&lt;property id=&quot;20148&quot; value=&quot;5&quot;/&gt;&lt;property id=&quot;20300&quot; value=&quot;Slide 11 - &amp;quot;NOAA Is Vital to the &amp;#x0D;&amp;#x0A;American Economy&amp;quot;&quot;/&gt;&lt;property id=&quot;20307&quot; value=&quot;618&quot;/&gt;&lt;/object&gt;&lt;object type=&quot;3&quot; unique_id=&quot;37676&quot;&gt;&lt;property id=&quot;20148&quot; value=&quot;5&quot;/&gt;&lt;property id=&quot;20300&quot; value=&quot;Slide 12 - &amp;quot;NOAA Is Vital to the &amp;#x0D;&amp;#x0A;American Economy&amp;quot;&quot;/&gt;&lt;property id=&quot;20307&quot; value=&quot;619&quot;/&gt;&lt;/object&gt;&lt;object type=&quot;3&quot; unique_id=&quot;37677&quot;&gt;&lt;property id=&quot;20148&quot; value=&quot;5&quot;/&gt;&lt;property id=&quot;20300&quot; value=&quot;Slide 13 - &amp;quot;NOAA Is Vital to the &amp;#x0D;&amp;#x0A;American Economy&amp;quot;&quot;/&gt;&lt;property id=&quot;20307&quot; value=&quot;620&quot;/&gt;&lt;/object&gt;&lt;object type=&quot;3&quot; unique_id=&quot;37918&quot;&gt;&lt;property id=&quot;20148&quot; value=&quot;5&quot;/&gt;&lt;property id=&quot;20300&quot; value=&quot;Slide 86 - &amp;quot;NOAA’s Strategic Organization&amp;quot;&quot;/&gt;&lt;property id=&quot;20307&quot; value=&quot;624&quot;/&gt;&lt;/object&gt;&lt;object type=&quot;3&quot; unique_id=&quot;40476&quot;&gt;&lt;property id=&quot;20148&quot; value=&quot;5&quot;/&gt;&lt;property id=&quot;20300&quot; value=&quot;Slide 27 - &amp;quot;NOAA&amp;#x0D;&amp;#x0A;Transition Team Briefing&amp;quot;&quot;/&gt;&lt;property id=&quot;20307&quot; value=&quot;626&quot;/&gt;&lt;/object&gt;&lt;object type=&quot;3&quot; unique_id=&quot;40483&quot;&gt;&lt;property id=&quot;20148&quot; value=&quot;5&quot;/&gt;&lt;property id=&quot;20300&quot; value=&quot;Slide 34 - &amp;quot;Building On Today’s Services To Meet Tomorrow’s Challenges&amp;quot;&quot;/&gt;&lt;property id=&quot;20307&quot; value=&quot;633&quot;/&gt;&lt;/object&gt;&lt;object type=&quot;3&quot; unique_id=&quot;40485&quot;&gt;&lt;property id=&quot;20148&quot; value=&quot;5&quot;/&gt;&lt;property id=&quot;20300&quot; value=&quot;Slide 37 - &amp;quot;NOAA&amp;#x0D;&amp;#x0A;Transition Team Briefing&amp;quot;&quot;/&gt;&lt;property id=&quot;20307&quot; value=&quot;639&quot;/&gt;&lt;/object&gt;&lt;object type=&quot;3&quot; unique_id=&quot;40486&quot;&gt;&lt;property id=&quot;20148&quot; value=&quot;5&quot;/&gt;&lt;property id=&quot;20300&quot; value=&quot;Slide 38 - &amp;quot;NOAA&amp;#x0D;&amp;#x0A;Transition Team Briefing&amp;quot;&quot;/&gt;&lt;property id=&quot;20307&quot; value=&quot;635&quot;/&gt;&lt;/object&gt;&lt;object type=&quot;3&quot; unique_id=&quot;40487&quot;&gt;&lt;property id=&quot;20148&quot; value=&quot;5&quot;/&gt;&lt;property id=&quot;20300&quot; value=&quot;Slide 40 - &amp;quot;Executive Decision Making — Councils&amp;quot;&quot;/&gt;&lt;property id=&quot;20307&quot; value=&quot;636&quot;/&gt;&lt;/object&gt;&lt;object type=&quot;3&quot; unique_id=&quot;40488&quot;&gt;&lt;property id=&quot;20148&quot; value=&quot;5&quot;/&gt;&lt;property id=&quot;20300&quot; value=&quot;Slide 39 - &amp;quot;Executive Decision Making — NEP/NEC&amp;quot;&quot;/&gt;&lt;property id=&quot;20307&quot; value=&quot;637&quot;/&gt;&lt;/object&gt;&lt;object type=&quot;3&quot; unique_id=&quot;40490&quot;&gt;&lt;property id=&quot;20148&quot; value=&quot;5&quot;/&gt;&lt;property id=&quot;20300&quot; value=&quot;Slide 42 - &amp;quot;NOAA&amp;#x0D;&amp;#x0A;Transition Team Briefing&amp;quot;&quot;/&gt;&lt;property id=&quot;20307&quot; value=&quot;640&quot;/&gt;&lt;/object&gt;&lt;object type=&quot;3&quot; unique_id=&quot;40491&quot;&gt;&lt;property id=&quot;20148&quot; value=&quot;5&quot;/&gt;&lt;property id=&quot;20300&quot; value=&quot;Slide 43 - &amp;quot;NOAA’s Urgent Issues&amp;#x0D;&amp;#x0A;&amp;quot;&quot;/&gt;&lt;property id=&quot;20307&quot; value=&quot;641&quot;/&gt;&lt;/object&gt;&lt;object type=&quot;3&quot; unique_id=&quot;40492&quot;&gt;&lt;property id=&quot;20148&quot; value=&quot;5&quot;/&gt;&lt;property id=&quot;20300&quot; value=&quot;Slide 44 - &amp;quot;NOAA&amp;#x0D;&amp;#x0A;Transition Team Briefing&amp;quot;&quot;/&gt;&lt;property id=&quot;20307&quot; value=&quot;642&quot;/&gt;&lt;/object&gt;&lt;object type=&quot;3&quot; unique_id=&quot;40493&quot;&gt;&lt;property id=&quot;20148&quot; value=&quot;5&quot;/&gt;&lt;property id=&quot;20300&quot; value=&quot;Slide 45 - &amp;quot;NOAA Organization&amp;quot;&quot;/&gt;&lt;property id=&quot;20307&quot; value=&quot;643&quot;/&gt;&lt;/object&gt;&lt;object type=&quot;3&quot; unique_id=&quot;40494&quot;&gt;&lt;property id=&quot;20148&quot; value=&quot;5&quot;/&gt;&lt;property id=&quot;20300&quot; value=&quot;Slide 46 - &amp;quot;Staff Offices&amp;#x0D;&amp;#x0A;International Affairs&amp;quot;&quot;/&gt;&lt;property id=&quot;20307&quot; value=&quot;644&quot;/&gt;&lt;/object&gt;&lt;object type=&quot;3&quot; unique_id=&quot;40495&quot;&gt;&lt;property id=&quot;20148&quot; value=&quot;5&quot;/&gt;&lt;property id=&quot;20300&quot; value=&quot;Slide 47 - &amp;quot;Staff Offices&amp;#x0D;&amp;#x0A;General Counsel&amp;quot;&quot;/&gt;&lt;property id=&quot;20307&quot; value=&quot;645&quot;/&gt;&lt;/object&gt;&lt;object type=&quot;3&quot; unique_id=&quot;40496&quot;&gt;&lt;property id=&quot;20148&quot; value=&quot;5&quot;/&gt;&lt;property id=&quot;20300&quot; value=&quot;Slide 48 - &amp;quot;Staff Offices&amp;#x0D;&amp;#x0A;Legislative Affairs&amp;quot;&quot;/&gt;&lt;property id=&quot;20307&quot; value=&quot;646&quot;/&gt;&lt;/object&gt;&lt;object type=&quot;3&quot; unique_id=&quot;40497&quot;&gt;&lt;property id=&quot;20148&quot; value=&quot;5&quot;/&gt;&lt;property id=&quot;20300&quot; value=&quot;Slide 49 - &amp;quot;Staff Offices&amp;#x0D;&amp;#x0A;Communications&amp;quot;&quot;/&gt;&lt;property id=&quot;20307&quot; value=&quot;647&quot;/&gt;&lt;/object&gt;&lt;object type=&quot;3&quot; unique_id=&quot;40498&quot;&gt;&lt;property id=&quot;20148&quot; value=&quot;5&quot;/&gt;&lt;property id=&quot;20300&quot; value=&quot;Slide 50 - &amp;quot;Staff Offices&amp;#x0D;&amp;#x0A;Workforce Management&amp;quot;&quot;/&gt;&lt;property id=&quot;20307&quot; value=&quot;648&quot;/&gt;&lt;/object&gt;&lt;object type=&quot;3&quot; unique_id=&quot;40499&quot;&gt;&lt;property id=&quot;20148&quot; value=&quot;5&quot;/&gt;&lt;property id=&quot;20300&quot; value=&quot;Slide 51 - &amp;quot;Staff Offices&amp;#x0D;&amp;#x0A;Education&amp;quot;&quot;/&gt;&lt;property id=&quot;20307&quot; value=&quot;649&quot;/&gt;&lt;/object&gt;&lt;object type=&quot;3&quot; unique_id=&quot;40500&quot;&gt;&lt;property id=&quot;20148&quot; value=&quot;5&quot;/&gt;&lt;property id=&quot;20300&quot; value=&quot;Slide 52 - &amp;quot;Staff Offices&amp;#x0D;&amp;#x0A;Chief Information Officer/High Performance Computing &amp;amp; Communication&amp;quot;&quot;/&gt;&lt;property id=&quot;20307&quot; value=&quot;650&quot;/&gt;&lt;/object&gt;&lt;object type=&quot;3&quot; unique_id=&quot;40501&quot;&gt;&lt;property id=&quot;20148&quot; value=&quot;5&quot;/&gt;&lt;property id=&quot;20300&quot; value=&quot;Slide 53 - &amp;quot;Staff Offices&amp;#x0D;&amp;#x0A;Program Analysis &amp;amp; Evaluation&amp;quot;&quot;/&gt;&lt;property id=&quot;20307&quot; value=&quot;651&quot;/&gt;&lt;/object&gt;&lt;object type=&quot;3&quot; unique_id=&quot;40502&quot;&gt;&lt;property id=&quot;20148&quot; value=&quot;5&quot;/&gt;&lt;property id=&quot;20300&quot; value=&quot;Slide 54 - &amp;quot;Staff Offices&amp;#x0D;&amp;#x0A;Chief Administrative Officer&amp;quot;&quot;/&gt;&lt;property id=&quot;20307&quot; value=&quot;652&quot;/&gt;&lt;/object&gt;&lt;object type=&quot;3&quot; unique_id=&quot;40503&quot;&gt;&lt;property id=&quot;20148&quot; value=&quot;5&quot;/&gt;&lt;property id=&quot;20300&quot; value=&quot;Slide 55 - &amp;quot;Staff Offices&amp;#x0D;&amp;#x0A;Chief Financial Officer&amp;quot;&quot;/&gt;&lt;property id=&quot;20307&quot; value=&quot;653&quot;/&gt;&lt;/object&gt;&lt;object type=&quot;3&quot; unique_id=&quot;40504&quot;&gt;&lt;property id=&quot;20148&quot; value=&quot;5&quot;/&gt;&lt;property id=&quot;20300&quot; value=&quot;Slide 56 - &amp;quot;Staff Offices&amp;#x0D;&amp;#x0A;Federal Coordinator for Meteorology&amp;quot;&quot;/&gt;&lt;property id=&quot;20307&quot; value=&quot;654&quot;/&gt;&lt;/object&gt;&lt;object type=&quot;3&quot; unique_id=&quot;40505&quot;&gt;&lt;property id=&quot;20148&quot; value=&quot;5&quot;/&gt;&lt;property id=&quot;20300&quot; value=&quot;Slide 57 - &amp;quot;Staff Offices&amp;#x0D;&amp;#x0A;Acquisition &amp;amp; Grants&amp;quot;&quot;/&gt;&lt;property id=&quot;20307&quot; value=&quot;655&quot;/&gt;&lt;/object&gt;&lt;object type=&quot;3&quot; unique_id=&quot;40506&quot;&gt;&lt;property id=&quot;20148&quot; value=&quot;5&quot;/&gt;&lt;property id=&quot;20300&quot; value=&quot;Slide 58 - &amp;quot;Staff Offices&amp;#x0D;&amp;#x0A;Marine &amp;amp; Aviation Operations&amp;quot;&quot;/&gt;&lt;property id=&quot;20307&quot; value=&quot;656&quot;/&gt;&lt;/object&gt;&lt;object type=&quot;3&quot; unique_id=&quot;40507&quot;&gt;&lt;property id=&quot;20148&quot; value=&quot;5&quot;/&gt;&lt;property id=&quot;20300&quot; value=&quot;Slide 59 - &amp;quot;Oceanic &amp;amp; Atmospheric Research &amp;quot;&quot;/&gt;&lt;property id=&quot;20307&quot; value=&quot;657&quot;/&gt;&lt;/object&gt;&lt;object type=&quot;3&quot; unique_id=&quot;40509&quot;&gt;&lt;property id=&quot;20148&quot; value=&quot;5&quot;/&gt;&lt;property id=&quot;20300&quot; value=&quot;Slide 60 - &amp;quot;National Weather Service&amp;quot;&quot;/&gt;&lt;property id=&quot;20307&quot; value=&quot;659&quot;/&gt;&lt;/object&gt;&lt;object type=&quot;3&quot; unique_id=&quot;40511&quot;&gt;&lt;property id=&quot;20148&quot; value=&quot;5&quot;/&gt;&lt;property id=&quot;20300&quot; value=&quot;Slide 61 - &amp;quot;National Marine Fisheries Service&amp;quot;&quot;/&gt;&lt;property id=&quot;20307&quot; value=&quot;661&quot;/&gt;&lt;/object&gt;&lt;object type=&quot;3&quot; unique_id=&quot;40513&quot;&gt;&lt;property id=&quot;20148&quot; value=&quot;5&quot;/&gt;&lt;property id=&quot;20300&quot; value=&quot;Slide 62 - &amp;quot;National Environmental Satellite, Data, &amp;amp; Information Service&amp;quot;&quot;/&gt;&lt;property id=&quot;20307&quot; value=&quot;663&quot;/&gt;&lt;/object&gt;&lt;object type=&quot;3&quot; unique_id=&quot;40515&quot;&gt;&lt;property id=&quot;20148&quot; value=&quot;5&quot;/&gt;&lt;property id=&quot;20300&quot; value=&quot;Slide 63 - &amp;quot;National Ocean Service&amp;quot;&quot;/&gt;&lt;property id=&quot;20307&quot; value=&quot;665&quot;/&gt;&lt;/object&gt;&lt;object type=&quot;3&quot; unique_id=&quot;40517&quot;&gt;&lt;property id=&quot;20148&quot; value=&quot;5&quot;/&gt;&lt;property id=&quot;20300&quot; value=&quot;Slide 64 - &amp;quot;Program Planning &amp;amp; Integration&amp;quot;&quot;/&gt;&lt;property id=&quot;20307&quot; value=&quot;667&quot;/&gt;&lt;/object&gt;&lt;object type=&quot;3&quot; unique_id=&quot;40518&quot;&gt;&lt;property id=&quot;20148&quot; value=&quot;5&quot;/&gt;&lt;property id=&quot;20300&quot; value=&quot;Slide 65 - &amp;quot;Climate Goal&amp;quot;&quot;/&gt;&lt;property id=&quot;20307&quot; value=&quot;668&quot;/&gt;&lt;/object&gt;&lt;object type=&quot;3&quot; unique_id=&quot;40519&quot;&gt;&lt;property id=&quot;20148&quot; value=&quot;5&quot;/&gt;&lt;property id=&quot;20300&quot; value=&quot;Slide 66 - &amp;quot;Weather and Water Goal&amp;quot;&quot;/&gt;&lt;property id=&quot;20307&quot; value=&quot;669&quot;/&gt;&lt;/object&gt;&lt;object type=&quot;3&quot; unique_id=&quot;40520&quot;&gt;&lt;property id=&quot;20148&quot; value=&quot;5&quot;/&gt;&lt;property id=&quot;20300&quot; value=&quot;Slide 67 - &amp;quot;Ecosystem Goal&amp;quot;&quot;/&gt;&lt;property id=&quot;20307&quot; value=&quot;670&quot;/&gt;&lt;/object&gt;&lt;object type=&quot;3&quot; unique_id=&quot;40521&quot;&gt;&lt;property id=&quot;20148&quot; value=&quot;5&quot;/&gt;&lt;property id=&quot;20300&quot; value=&quot;Slide 68 - &amp;quot;Commerce &amp;amp; Transportation Goal&amp;quot;&quot;/&gt;&lt;property id=&quot;20307&quot; value=&quot;671&quot;/&gt;&lt;/object&gt;&lt;object type=&quot;3&quot; unique_id=&quot;40522&quot;&gt;&lt;property id=&quot;20148&quot; value=&quot;5&quot;/&gt;&lt;property id=&quot;20300&quot; value=&quot;Slide 69 - &amp;quot;Fleet Services Sub-goal&amp;quot;&quot;/&gt;&lt;property id=&quot;20307&quot; value=&quot;672&quot;/&gt;&lt;/object&gt;&lt;object type=&quot;3&quot; unique_id=&quot;40523&quot;&gt;&lt;property id=&quot;20148&quot; value=&quot;5&quot;/&gt;&lt;property id=&quot;20300&quot; value=&quot;Slide 70 - &amp;quot;Satellite Sub-goal&amp;quot;&quot;/&gt;&lt;property id=&quot;20307&quot; value=&quot;673&quot;/&gt;&lt;/object&gt;&lt;object type=&quot;3&quot; unique_id=&quot;40524&quot;&gt;&lt;property id=&quot;20148&quot; value=&quot;5&quot;/&gt;&lt;property id=&quot;20300&quot; value=&quot;Slide 71 - &amp;quot;Modeling &amp;amp; Observing Infrastructure Sub-goal&amp;quot;&quot;/&gt;&lt;property id=&quot;20307&quot; value=&quot;674&quot;/&gt;&lt;/object&gt;&lt;object type=&quot;3&quot; unique_id=&quot;40525&quot;&gt;&lt;property id=&quot;20148&quot; value=&quot;5&quot;/&gt;&lt;property id=&quot;20300&quot; value=&quot;Slide 72 - &amp;quot;Leadership &amp;amp; Corporate Services Sub-goal&amp;quot;&quot;/&gt;&lt;property id=&quot;20307&quot; value=&quot;675&quot;/&gt;&lt;/object&gt;&lt;object type=&quot;3&quot; unique_id=&quot;40526&quot;&gt;&lt;property id=&quot;20148&quot; value=&quot;5&quot;/&gt;&lt;property id=&quot;20300&quot; value=&quot;Slide 73 - &amp;quot;NOAA's Partnerships&amp;quot;&quot;/&gt;&lt;property id=&quot;20307&quot; value=&quot;676&quot;/&gt;&lt;/object&gt;&lt;object type=&quot;3&quot; unique_id=&quot;40528&quot;&gt;&lt;property id=&quot;20148&quot; value=&quot;5&quot;/&gt;&lt;property id=&quot;20300&quot; value=&quot;Slide 74 - &amp;quot;External Collaboration&amp;#x0D;&amp;#x0A;Interagency Collaboration&amp;quot;&quot;/&gt;&lt;property id=&quot;20307&quot; value=&quot;678&quot;/&gt;&lt;/object&gt;&lt;object type=&quot;3&quot; unique_id=&quot;40531&quot;&gt;&lt;property id=&quot;20148&quot; value=&quot;5&quot;/&gt;&lt;property id=&quot;20300&quot; value=&quot;Slide 77 - &amp;quot;Backup Material&amp;quot;&quot;/&gt;&lt;property id=&quot;20307&quot; value=&quot;681&quot;/&gt;&lt;/object&gt;&lt;object type=&quot;3&quot; unique_id=&quot;40532&quot;&gt;&lt;property id=&quot;20148&quot; value=&quot;5&quot;/&gt;&lt;property id=&quot;20300&quot; value=&quot;Slide 78 - &amp;quot;NOAA’s Mission, Vision, &amp;#x0D;&amp;#x0A;Goals, and Operating Units&amp;quot;&quot;/&gt;&lt;property id=&quot;20307&quot; value=&quot;682&quot;/&gt;&lt;/object&gt;&lt;object type=&quot;3&quot; unique_id=&quot;40533&quot;&gt;&lt;property id=&quot;20148&quot; value=&quot;5&quot;/&gt;&lt;property id=&quot;20300&quot; value=&quot;Slide 79 - &amp;quot;Executive Decision Making&amp;quot;&quot;/&gt;&lt;property id=&quot;20307&quot; value=&quot;683&quot;/&gt;&lt;/object&gt;&lt;object type=&quot;3&quot; unique_id=&quot;40534&quot;&gt;&lt;property id=&quot;20148&quot; value=&quot;5&quot;/&gt;&lt;property id=&quot;20300&quot; value=&quot;Slide 80 - &amp;quot;Regional Collaboration&amp;quot;&quot;/&gt;&lt;property id=&quot;20307&quot; value=&quot;684&quot;/&gt;&lt;/object&gt;&lt;object type=&quot;3&quot; unique_id=&quot;40535&quot;&gt;&lt;property id=&quot;20148&quot; value=&quot;5&quot;/&gt;&lt;property id=&quot;20300&quot; value=&quot;Slide 81 - &amp;quot;Regional Collaboration &amp;#x0D;&amp;#x0A;Team Leads&amp;quot;&quot;/&gt;&lt;property id=&quot;20307&quot; value=&quot;685&quot;/&gt;&lt;/object&gt;&lt;object type=&quot;3&quot; unique_id=&quot;40536&quot;&gt;&lt;property id=&quot;20148&quot; value=&quot;5&quot;/&gt;&lt;property id=&quot;20300&quot; value=&quot;Slide 82 - &amp;quot;Continuity of Service&amp;quot;&quot;/&gt;&lt;property id=&quot;20307&quot; value=&quot;686&quot;/&gt;&lt;/object&gt;&lt;object type=&quot;3&quot; unique_id=&quot;42832&quot;&gt;&lt;property id=&quot;20148&quot; value=&quot;5&quot;/&gt;&lt;property id=&quot;20300&quot; value=&quot;Slide 75 - &amp;quot;Senior-Level External Collaboration&amp;#x0D;&amp;#x0A;International Collaboration (Multi-Lateral)&amp;quot;&quot;/&gt;&lt;property id=&quot;20307&quot; value=&quot;694&quot;/&gt;&lt;/object&gt;&lt;object type=&quot;3&quot; unique_id=&quot;42833&quot;&gt;&lt;property id=&quot;20148&quot; value=&quot;5&quot;/&gt;&lt;property id=&quot;20300&quot; value=&quot;Slide 76 - &amp;quot;Senior-Level External Collaboration&amp;#x0D;&amp;#x0A;International Collaboration (Bi-Lateral)&amp;quot;&quot;/&gt;&lt;property id=&quot;20307&quot; value=&quot;695&quot;/&gt;&lt;/object&gt;&lt;object type=&quot;3&quot; unique_id=&quot;42838&quot;&gt;&lt;property id=&quot;20148&quot; value=&quot;5&quot;/&gt;&lt;property id=&quot;20300&quot; value=&quot;Slide 41 - &amp;quot;NOAA’s Planning, Programming, Budgeting and Execution System&amp;quot;&quot;/&gt;&lt;property id=&quot;20307&quot; value=&quot;698&quot;/&gt;&lt;/object&gt;&lt;object type=&quot;3&quot; unique_id=&quot;44349&quot;&gt;&lt;property id=&quot;20148&quot; value=&quot;5&quot;/&gt;&lt;property id=&quot;20300&quot; value=&quot;Slide 4 - &amp;quot;NOAA is Vital to the American Economy and American Lives&amp;quot;&quot;/&gt;&lt;property id=&quot;20307&quot; value=&quot;702&quot;/&gt;&lt;/object&gt;&lt;object type=&quot;3&quot; unique_id=&quot;45310&quot;&gt;&lt;property id=&quot;20148&quot; value=&quot;5&quot;/&gt;&lt;property id=&quot;20300&quot; value=&quot;Slide 29 - &amp;quot;Climate&amp;quot;&quot;/&gt;&lt;property id=&quot;20307&quot; value=&quot;703&quot;/&gt;&lt;/object&gt;&lt;object type=&quot;3&quot; unique_id=&quot;46155&quot;&gt;&lt;property id=&quot;20148&quot; value=&quot;5&quot;/&gt;&lt;property id=&quot;20300&quot; value=&quot;Slide 28 - &amp;quot;National Challenges&amp;quot;&quot;/&gt;&lt;property id=&quot;20307&quot; value=&quot;709&quot;/&gt;&lt;/object&gt;&lt;object type=&quot;3&quot; unique_id=&quot;46156&quot;&gt;&lt;property id=&quot;20148&quot; value=&quot;5&quot;/&gt;&lt;property id=&quot;20300&quot; value=&quot;Slide 30 - &amp;quot;Coasts&amp;quot;&quot;/&gt;&lt;property id=&quot;20307&quot; value=&quot;705&quot;/&gt;&lt;/object&gt;&lt;object type=&quot;3&quot; unique_id=&quot;46157&quot;&gt;&lt;property id=&quot;20148&quot; value=&quot;5&quot;/&gt;&lt;property id=&quot;20300&quot; value=&quot;Slide 31 - &amp;quot;Oceans &amp;amp; Marine Life&amp;quot;&quot;/&gt;&lt;property id=&quot;20307&quot; value=&quot;706&quot;/&gt;&lt;/object&gt;&lt;object type=&quot;3&quot; unique_id=&quot;46158&quot;&gt;&lt;property id=&quot;20148&quot; value=&quot;5&quot;/&gt;&lt;property id=&quot;20300&quot; value=&quot;Slide 32 - &amp;quot;High Impact Weather &amp;amp; Water&amp;quot;&quot;/&gt;&lt;property id=&quot;20307&quot; value=&quot;707&quot;/&gt;&lt;/object&gt;&lt;object type=&quot;3&quot; unique_id=&quot;46159&quot;&gt;&lt;property id=&quot;20148&quot; value=&quot;5&quot;/&gt;&lt;property id=&quot;20300&quot; value=&quot;Slide 33 - &amp;quot;Transportation&amp;quot;&quot;/&gt;&lt;property id=&quot;20307&quot; value=&quot;708&quot;/&gt;&lt;/object&gt;&lt;object type=&quot;3&quot; unique_id=&quot;46356&quot;&gt;&lt;property id=&quot;20148&quot; value=&quot;5&quot;/&gt;&lt;property id=&quot;20300&quot; value=&quot;Slide 17 - &amp;quot;Implementing NOAA’s Strategic Plan&amp;quot;&quot;/&gt;&lt;property id=&quot;20307&quot; value=&quot;710&quot;/&gt;&lt;/object&gt;&lt;object type=&quot;3&quot; unique_id=&quot;46358&quot;&gt;&lt;property id=&quot;20148&quot; value=&quot;5&quot;/&gt;&lt;property id=&quot;20300&quot; value=&quot;Slide 84 - &amp;quot;Corporate Messaging &amp;#x0D;&amp;#x0A;Climate&amp;quot;&quot;/&gt;&lt;property id=&quot;20307&quot; value=&quot;712&quot;/&gt;&lt;/object&gt;&lt;object type=&quot;3&quot; unique_id=&quot;46359&quot;&gt;&lt;property id=&quot;20148&quot; value=&quot;5&quot;/&gt;&lt;property id=&quot;20300&quot; value=&quot;Slide 85 - &amp;quot;Corporate Messaging &amp;#x0D;&amp;#x0A;Climate&amp;quot;&quot;/&gt;&lt;property id=&quot;20307&quot; value=&quot;713&quot;/&gt;&lt;/object&gt;&lt;object type=&quot;3&quot; unique_id=&quot;49080&quot;&gt;&lt;property id=&quot;20148&quot; value=&quot;5&quot;/&gt;&lt;property id=&quot;20300&quot; value=&quot;Slide 2 - &amp;quot;NOAA’s Mission&amp;quot;&quot;/&gt;&lt;property id=&quot;20307&quot; value=&quot;714&quot;/&gt;&lt;/object&gt;&lt;object type=&quot;3&quot; unique_id=&quot;49081&quot;&gt;&lt;property id=&quot;20148&quot; value=&quot;5&quot;/&gt;&lt;property id=&quot;20300&quot; value=&quot;Slide 3 - &amp;quot;NOAA’s Vision&amp;quot;&quot;/&gt;&lt;property id=&quot;20307&quot; value=&quot;715&quot;/&gt;&lt;/object&gt;&lt;object type=&quot;3&quot; unique_id=&quot;49082&quot;&gt;&lt;property id=&quot;20148&quot; value=&quot;5&quot;/&gt;&lt;property id=&quot;20300&quot; value=&quot;Slide 14 - &amp;quot;A Healthy American Economy Depends on Healthy Oceans&amp;quot;&quot;/&gt;&lt;property id=&quot;20307&quot; value=&quot;716&quot;/&gt;&lt;/object&gt;&lt;object type=&quot;3&quot; unique_id=&quot;49083&quot;&gt;&lt;property id=&quot;20148&quot; value=&quot;5&quot;/&gt;&lt;property id=&quot;20300&quot; value=&quot;Slide 15 - &amp;quot;A Healthy American Economy Depends on Healthy Oceans&amp;quot;&quot;/&gt;&lt;property id=&quot;20307&quot; value=&quot;717&quot;/&gt;&lt;/object&gt;&lt;object type=&quot;3&quot; unique_id=&quot;50294&quot;&gt;&lt;property id=&quot;20148&quot; value=&quot;5&quot;/&gt;&lt;property id=&quot;20300&quot; value=&quot;Slide 18 - &amp;quot;NOAA Funding Levels Through FY2010&amp;quot;&quot;/&gt;&lt;property id=&quot;20307&quot; value=&quot;718&quot;/&gt;&lt;/object&gt;&lt;object type=&quot;3&quot; unique_id=&quot;50295&quot;&gt;&lt;property id=&quot;20148&quot; value=&quot;5&quot;/&gt;&lt;property id=&quot;20300&quot; value=&quot;Slide 19 - &amp;quot;NOAA Funding Levels Through FY2010&amp;quot;&quot;/&gt;&lt;property id=&quot;20307&quot; value=&quot;719&quot;/&gt;&lt;/object&gt;&lt;object type=&quot;3&quot; unique_id=&quot;50296&quot;&gt;&lt;property id=&quot;20148&quot; value=&quot;5&quot;/&gt;&lt;property id=&quot;20300&quot; value=&quot;Slide 20 - &amp;quot;NOAA FY2009 Request &amp;#x0D;&amp;#x0A;Funding By Line Office&amp;quot;&quot;/&gt;&lt;property id=&quot;20307&quot; value=&quot;720&quot;/&gt;&lt;/object&gt;&lt;object type=&quot;3&quot; unique_id=&quot;50297&quot;&gt;&lt;property id=&quot;20148&quot; value=&quot;5&quot;/&gt;&lt;property id=&quot;20300&quot; value=&quot;Slide 21 - &amp;quot;NOAA FY2009 Request &amp;#x0D;&amp;#x0A;Funding By Goal&amp;quot;&quot;/&gt;&lt;property id=&quot;20307&quot; value=&quot;721&quot;/&gt;&lt;/object&gt;&lt;object type=&quot;3&quot; unique_id=&quot;50298&quot;&gt;&lt;property id=&quot;20148&quot; value=&quot;5&quot;/&gt;&lt;property id=&quot;20300&quot; value=&quot;Slide 22 - &amp;quot;NOAA FY2009 Request &amp;#x0D;&amp;#x0A;Funding By Goal&amp;quot;&quot;/&gt;&lt;property id=&quot;20307&quot; value=&quot;722&quot;/&gt;&lt;/object&gt;&lt;object type=&quot;3&quot; unique_id=&quot;50915&quot;&gt;&lt;property id=&quot;20148&quot; value=&quot;5&quot;/&gt;&lt;property id=&quot;20300&quot; value=&quot;Slide 35 - &amp;quot;NOAA’s Partnerships&amp;quot;&quot;/&gt;&lt;property id=&quot;20307&quot; value=&quot;723&quot;/&gt;&lt;/object&gt;&lt;object type=&quot;3&quot; unique_id=&quot;50916&quot;&gt;&lt;property id=&quot;20148&quot; value=&quot;5&quot;/&gt;&lt;property id=&quot;20300&quot; value=&quot;Slide 36 - &amp;quot;The Nation Depends On &amp;#x0D;&amp;#x0A;NOAA’s Services Every Day&amp;quot;&quot;/&gt;&lt;property id=&quot;20307&quot; value=&quot;72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Transition">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66"/>
      </a:hlink>
      <a:folHlink>
        <a:srgbClr val="85DFD0"/>
      </a:folHlink>
    </a:clrScheme>
    <a:fontScheme name="Office Classic 3">
      <a:majorFont>
        <a:latin typeface="Arial Black"/>
        <a:ea typeface=""/>
        <a:cs typeface=""/>
      </a:majorFont>
      <a:minorFont>
        <a:latin typeface="Arial Narrow"/>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solidFill>
          <a:schemeClr val="tx1"/>
        </a:solidFill>
      </a:spPr>
      <a:bodyPr wrap="square" rtlCol="0" anchor="ctr">
        <a:noAutofit/>
      </a:bodyPr>
      <a:lstStyle>
        <a:defPPr algn="ctr">
          <a:defRPr sz="1400" dirty="0">
            <a:solidFill>
              <a:srgbClr val="FFFFFF"/>
            </a:solidFill>
            <a:latin typeface="+mn-lt"/>
          </a:defRPr>
        </a:defPPr>
      </a:lstStyle>
    </a:sp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11229</TotalTime>
  <Words>3412</Words>
  <Application>Microsoft PowerPoint</Application>
  <PresentationFormat>On-screen Show (4:3)</PresentationFormat>
  <Paragraphs>934</Paragraphs>
  <Slides>15</Slides>
  <Notes>12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NOAA Transition Team Briefing</vt:lpstr>
      <vt:lpstr>NOAA Organization</vt:lpstr>
      <vt:lpstr>Staff Offices International Affairs</vt:lpstr>
      <vt:lpstr>Staff Offices General Counsel</vt:lpstr>
      <vt:lpstr>Staff Offices Legislative Affairs</vt:lpstr>
      <vt:lpstr>Staff Offices Communications</vt:lpstr>
      <vt:lpstr>Staff Offices Workforce Management</vt:lpstr>
      <vt:lpstr>Staff Offices Education</vt:lpstr>
      <vt:lpstr>Staff Offices Chief Information Officer/High Performance Computing &amp; Communication</vt:lpstr>
      <vt:lpstr>Staff Offices Program Analysis &amp; Evaluation</vt:lpstr>
      <vt:lpstr>Staff Offices Chief Administrative Officer</vt:lpstr>
      <vt:lpstr>Staff Offices Chief Financial Officer</vt:lpstr>
      <vt:lpstr>Staff Offices Federal Coordinator for Meteorology</vt:lpstr>
      <vt:lpstr>Staff Offices Acquisition &amp; Grants</vt:lpstr>
      <vt:lpstr>Staff Offices Marine &amp; Aviation Operations</vt:lpstr>
    </vt:vector>
  </TitlesOfParts>
  <Company>NOAA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NEC Standard Presentation Format</dc:title>
  <dc:creator>kamos</dc:creator>
  <cp:lastModifiedBy>Bradley Akamine</cp:lastModifiedBy>
  <cp:revision>1154</cp:revision>
  <dcterms:created xsi:type="dcterms:W3CDTF">2003-08-07T18:06:43Z</dcterms:created>
  <dcterms:modified xsi:type="dcterms:W3CDTF">2008-11-04T23:06:47Z</dcterms:modified>
</cp:coreProperties>
</file>