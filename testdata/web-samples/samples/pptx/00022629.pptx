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tiff" ContentType="image/tiff"/>
  <Default Extension="mp4" ContentType="video/unknown"/>
  <Default Extension="emf" ContentType="image/x-emf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0"/>
  </p:notesMasterIdLst>
  <p:handoutMasterIdLst>
    <p:handoutMasterId r:id="rId111"/>
  </p:handoutMasterIdLst>
  <p:sldIdLst>
    <p:sldId id="258" r:id="rId2"/>
    <p:sldId id="266" r:id="rId3"/>
    <p:sldId id="499" r:id="rId4"/>
    <p:sldId id="500" r:id="rId5"/>
    <p:sldId id="501" r:id="rId6"/>
    <p:sldId id="502" r:id="rId7"/>
    <p:sldId id="415" r:id="rId8"/>
    <p:sldId id="517" r:id="rId9"/>
    <p:sldId id="441" r:id="rId10"/>
    <p:sldId id="526" r:id="rId11"/>
    <p:sldId id="527" r:id="rId12"/>
    <p:sldId id="269" r:id="rId13"/>
    <p:sldId id="436" r:id="rId14"/>
    <p:sldId id="437" r:id="rId15"/>
    <p:sldId id="270" r:id="rId16"/>
    <p:sldId id="443" r:id="rId17"/>
    <p:sldId id="444" r:id="rId18"/>
    <p:sldId id="445" r:id="rId19"/>
    <p:sldId id="446" r:id="rId20"/>
    <p:sldId id="447" r:id="rId21"/>
    <p:sldId id="448" r:id="rId22"/>
    <p:sldId id="449" r:id="rId23"/>
    <p:sldId id="450" r:id="rId24"/>
    <p:sldId id="451" r:id="rId25"/>
    <p:sldId id="452" r:id="rId26"/>
    <p:sldId id="454" r:id="rId27"/>
    <p:sldId id="455" r:id="rId28"/>
    <p:sldId id="456" r:id="rId29"/>
    <p:sldId id="457" r:id="rId30"/>
    <p:sldId id="458" r:id="rId31"/>
    <p:sldId id="460" r:id="rId32"/>
    <p:sldId id="462" r:id="rId33"/>
    <p:sldId id="463" r:id="rId34"/>
    <p:sldId id="466" r:id="rId35"/>
    <p:sldId id="465" r:id="rId36"/>
    <p:sldId id="514" r:id="rId37"/>
    <p:sldId id="467" r:id="rId38"/>
    <p:sldId id="515" r:id="rId39"/>
    <p:sldId id="468" r:id="rId40"/>
    <p:sldId id="406" r:id="rId41"/>
    <p:sldId id="271" r:id="rId42"/>
    <p:sldId id="286" r:id="rId43"/>
    <p:sldId id="272" r:id="rId44"/>
    <p:sldId id="273" r:id="rId45"/>
    <p:sldId id="469" r:id="rId46"/>
    <p:sldId id="421" r:id="rId47"/>
    <p:sldId id="332" r:id="rId48"/>
    <p:sldId id="470" r:id="rId49"/>
    <p:sldId id="471" r:id="rId50"/>
    <p:sldId id="472" r:id="rId51"/>
    <p:sldId id="473" r:id="rId52"/>
    <p:sldId id="474" r:id="rId53"/>
    <p:sldId id="475" r:id="rId54"/>
    <p:sldId id="476" r:id="rId55"/>
    <p:sldId id="479" r:id="rId56"/>
    <p:sldId id="481" r:id="rId57"/>
    <p:sldId id="482" r:id="rId58"/>
    <p:sldId id="483" r:id="rId59"/>
    <p:sldId id="484" r:id="rId60"/>
    <p:sldId id="485" r:id="rId61"/>
    <p:sldId id="486" r:id="rId62"/>
    <p:sldId id="487" r:id="rId63"/>
    <p:sldId id="488" r:id="rId64"/>
    <p:sldId id="489" r:id="rId65"/>
    <p:sldId id="490" r:id="rId66"/>
    <p:sldId id="491" r:id="rId67"/>
    <p:sldId id="516" r:id="rId68"/>
    <p:sldId id="496" r:id="rId69"/>
    <p:sldId id="518" r:id="rId70"/>
    <p:sldId id="504" r:id="rId71"/>
    <p:sldId id="505" r:id="rId72"/>
    <p:sldId id="520" r:id="rId73"/>
    <p:sldId id="528" r:id="rId74"/>
    <p:sldId id="291" r:id="rId75"/>
    <p:sldId id="322" r:id="rId76"/>
    <p:sldId id="328" r:id="rId77"/>
    <p:sldId id="326" r:id="rId78"/>
    <p:sldId id="323" r:id="rId79"/>
    <p:sldId id="324" r:id="rId80"/>
    <p:sldId id="316" r:id="rId81"/>
    <p:sldId id="317" r:id="rId82"/>
    <p:sldId id="320" r:id="rId83"/>
    <p:sldId id="321" r:id="rId84"/>
    <p:sldId id="325" r:id="rId85"/>
    <p:sldId id="398" r:id="rId86"/>
    <p:sldId id="327" r:id="rId87"/>
    <p:sldId id="336" r:id="rId88"/>
    <p:sldId id="305" r:id="rId89"/>
    <p:sldId id="303" r:id="rId90"/>
    <p:sldId id="304" r:id="rId91"/>
    <p:sldId id="405" r:id="rId92"/>
    <p:sldId id="506" r:id="rId93"/>
    <p:sldId id="507" r:id="rId94"/>
    <p:sldId id="440" r:id="rId95"/>
    <p:sldId id="309" r:id="rId96"/>
    <p:sldId id="529" r:id="rId97"/>
    <p:sldId id="508" r:id="rId98"/>
    <p:sldId id="509" r:id="rId99"/>
    <p:sldId id="510" r:id="rId100"/>
    <p:sldId id="511" r:id="rId101"/>
    <p:sldId id="512" r:id="rId102"/>
    <p:sldId id="521" r:id="rId103"/>
    <p:sldId id="522" r:id="rId104"/>
    <p:sldId id="523" r:id="rId105"/>
    <p:sldId id="524" r:id="rId106"/>
    <p:sldId id="525" r:id="rId107"/>
    <p:sldId id="519" r:id="rId108"/>
    <p:sldId id="403" r:id="rId10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9" hiddenSlides="1" frameSlides="1"/>
  <p:clrMru>
    <a:srgbClr val="0824F2"/>
    <a:srgbClr val="061B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0" autoAdjust="0"/>
    <p:restoredTop sz="81818" autoAdjust="0"/>
  </p:normalViewPr>
  <p:slideViewPr>
    <p:cSldViewPr>
      <p:cViewPr varScale="1">
        <p:scale>
          <a:sx n="75" d="100"/>
          <a:sy n="75" d="100"/>
        </p:scale>
        <p:origin x="-134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50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127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110" Type="http://schemas.openxmlformats.org/officeDocument/2006/relationships/notesMaster" Target="notesMasters/notesMaster1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11" Type="http://schemas.openxmlformats.org/officeDocument/2006/relationships/handoutMaster" Target="handoutMasters/handoutMaster1.xml"/><Relationship Id="rId112" Type="http://schemas.openxmlformats.org/officeDocument/2006/relationships/printerSettings" Target="printerSettings/printerSettings1.bin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100" Type="http://schemas.openxmlformats.org/officeDocument/2006/relationships/slide" Target="slides/slide99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oleObject" Target="Macintosh%20HD:Users:jshalf:Desktop:SystemDataMovement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oleObject" Target="Macintosh%20HD:Users:jshalf:Desktop:SystemDataMovemen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now</c:v>
                </c:pt>
              </c:strCache>
            </c:strRef>
          </c:tx>
          <c:spPr>
            <a:ln>
              <a:solidFill>
                <a:srgbClr val="0000FF"/>
              </a:solidFill>
            </a:ln>
          </c:spPr>
          <c:marker>
            <c:spPr>
              <a:solidFill>
                <a:srgbClr val="0000FF"/>
              </a:solidFill>
              <a:ln>
                <a:solidFill>
                  <a:srgbClr val="0000FF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DP FLOP</c:v>
                </c:pt>
                <c:pt idx="2">
                  <c:v>Register</c:v>
                </c:pt>
                <c:pt idx="3">
                  <c:v> </c:v>
                </c:pt>
                <c:pt idx="4">
                  <c:v>1mm on-chip</c:v>
                </c:pt>
                <c:pt idx="5">
                  <c:v> </c:v>
                </c:pt>
                <c:pt idx="6">
                  <c:v>5mm on-chip</c:v>
                </c:pt>
                <c:pt idx="7">
                  <c:v> </c:v>
                </c:pt>
                <c:pt idx="8">
                  <c:v>Off-chip/DRAM</c:v>
                </c:pt>
                <c:pt idx="9">
                  <c:v> </c:v>
                </c:pt>
                <c:pt idx="10">
                  <c:v>local interconnect</c:v>
                </c:pt>
                <c:pt idx="11">
                  <c:v> </c:v>
                </c:pt>
                <c:pt idx="12">
                  <c:v>Cross system</c:v>
                </c:pt>
                <c:pt idx="13">
                  <c:v>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100.0</c:v>
                </c:pt>
                <c:pt idx="1">
                  <c:v>100.0</c:v>
                </c:pt>
                <c:pt idx="2">
                  <c:v>3.5</c:v>
                </c:pt>
                <c:pt idx="3">
                  <c:v>3.5</c:v>
                </c:pt>
                <c:pt idx="4">
                  <c:v>6.0</c:v>
                </c:pt>
                <c:pt idx="5">
                  <c:v>6.0</c:v>
                </c:pt>
                <c:pt idx="6">
                  <c:v>30.0</c:v>
                </c:pt>
                <c:pt idx="7">
                  <c:v>30.0</c:v>
                </c:pt>
                <c:pt idx="8">
                  <c:v>2000.0</c:v>
                </c:pt>
                <c:pt idx="9">
                  <c:v>2000.0</c:v>
                </c:pt>
                <c:pt idx="10">
                  <c:v>2500.0</c:v>
                </c:pt>
                <c:pt idx="11">
                  <c:v>2500.0</c:v>
                </c:pt>
                <c:pt idx="12">
                  <c:v>3000.0</c:v>
                </c:pt>
                <c:pt idx="13">
                  <c:v>3000.0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</c:v>
                </c:pt>
              </c:strCache>
            </c:strRef>
          </c:tx>
          <c:spPr>
            <a:ln>
              <a:solidFill>
                <a:srgbClr val="008000"/>
              </a:solidFill>
            </a:ln>
          </c:spPr>
          <c:marker>
            <c:spPr>
              <a:solidFill>
                <a:srgbClr val="008000"/>
              </a:solidFill>
              <a:ln>
                <a:solidFill>
                  <a:srgbClr val="008000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DP FLOP</c:v>
                </c:pt>
                <c:pt idx="2">
                  <c:v>Register</c:v>
                </c:pt>
                <c:pt idx="3">
                  <c:v> </c:v>
                </c:pt>
                <c:pt idx="4">
                  <c:v>1mm on-chip</c:v>
                </c:pt>
                <c:pt idx="5">
                  <c:v> </c:v>
                </c:pt>
                <c:pt idx="6">
                  <c:v>5mm on-chip</c:v>
                </c:pt>
                <c:pt idx="7">
                  <c:v> </c:v>
                </c:pt>
                <c:pt idx="8">
                  <c:v>Off-chip/DRAM</c:v>
                </c:pt>
                <c:pt idx="9">
                  <c:v> </c:v>
                </c:pt>
                <c:pt idx="10">
                  <c:v>local interconnect</c:v>
                </c:pt>
                <c:pt idx="11">
                  <c:v> </c:v>
                </c:pt>
                <c:pt idx="12">
                  <c:v>Cross system</c:v>
                </c:pt>
                <c:pt idx="13">
                  <c:v> 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25.0</c:v>
                </c:pt>
                <c:pt idx="1">
                  <c:v>25.0</c:v>
                </c:pt>
                <c:pt idx="2">
                  <c:v>1.5</c:v>
                </c:pt>
                <c:pt idx="3">
                  <c:v>1.5</c:v>
                </c:pt>
                <c:pt idx="4">
                  <c:v>6.0</c:v>
                </c:pt>
                <c:pt idx="5">
                  <c:v>6.0</c:v>
                </c:pt>
                <c:pt idx="6">
                  <c:v>30.0</c:v>
                </c:pt>
                <c:pt idx="7">
                  <c:v>30.0</c:v>
                </c:pt>
                <c:pt idx="8">
                  <c:v>850.0</c:v>
                </c:pt>
                <c:pt idx="9">
                  <c:v>850.0</c:v>
                </c:pt>
                <c:pt idx="10">
                  <c:v>1000.0</c:v>
                </c:pt>
                <c:pt idx="11">
                  <c:v>1000.0</c:v>
                </c:pt>
                <c:pt idx="12">
                  <c:v>1500.0</c:v>
                </c:pt>
                <c:pt idx="13">
                  <c:v>1500.0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958152"/>
        <c:axId val="883962824"/>
      </c:lineChart>
      <c:catAx>
        <c:axId val="88395815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883962824"/>
        <c:crosses val="autoZero"/>
        <c:auto val="1"/>
        <c:lblAlgn val="ctr"/>
        <c:lblOffset val="100"/>
        <c:noMultiLvlLbl val="0"/>
      </c:catAx>
      <c:valAx>
        <c:axId val="883962824"/>
        <c:scaling>
          <c:logBase val="10.0"/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2000"/>
                </a:pPr>
                <a:r>
                  <a:rPr lang="en-US" sz="2000"/>
                  <a:t>PicoJoules</a:t>
                </a:r>
              </a:p>
            </c:rich>
          </c:tx>
          <c:layout>
            <c:manualLayout>
              <c:xMode val="edge"/>
              <c:yMode val="edge"/>
              <c:x val="0.0262345679012346"/>
              <c:y val="0.31109799174231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88395815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3552043841742"/>
          <c:y val="0.385193383154038"/>
          <c:w val="0.133306722076407"/>
          <c:h val="0.165074261543897"/>
        </c:manualLayout>
      </c:layout>
      <c:overlay val="0"/>
      <c:txPr>
        <a:bodyPr/>
        <a:lstStyle/>
        <a:p>
          <a:pPr>
            <a:defRPr sz="1600" b="1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now</c:v>
                </c:pt>
              </c:strCache>
            </c:strRef>
          </c:tx>
          <c:spPr>
            <a:ln>
              <a:solidFill>
                <a:srgbClr val="0000FF"/>
              </a:solidFill>
            </a:ln>
          </c:spPr>
          <c:marker>
            <c:spPr>
              <a:solidFill>
                <a:srgbClr val="0000FF"/>
              </a:solidFill>
              <a:ln>
                <a:solidFill>
                  <a:srgbClr val="0000FF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DP FLOP</c:v>
                </c:pt>
                <c:pt idx="2">
                  <c:v>Register</c:v>
                </c:pt>
                <c:pt idx="3">
                  <c:v> </c:v>
                </c:pt>
                <c:pt idx="4">
                  <c:v>1mm on-chip</c:v>
                </c:pt>
                <c:pt idx="5">
                  <c:v> </c:v>
                </c:pt>
                <c:pt idx="6">
                  <c:v>5mm on-chip</c:v>
                </c:pt>
                <c:pt idx="7">
                  <c:v> </c:v>
                </c:pt>
                <c:pt idx="8">
                  <c:v>Off-chip/DRAM</c:v>
                </c:pt>
                <c:pt idx="9">
                  <c:v> </c:v>
                </c:pt>
                <c:pt idx="10">
                  <c:v>local interconnect</c:v>
                </c:pt>
                <c:pt idx="11">
                  <c:v> </c:v>
                </c:pt>
                <c:pt idx="12">
                  <c:v>Cross system</c:v>
                </c:pt>
                <c:pt idx="13">
                  <c:v>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100.0</c:v>
                </c:pt>
                <c:pt idx="1">
                  <c:v>100.0</c:v>
                </c:pt>
                <c:pt idx="2">
                  <c:v>3.5</c:v>
                </c:pt>
                <c:pt idx="3">
                  <c:v>3.5</c:v>
                </c:pt>
                <c:pt idx="4">
                  <c:v>6.0</c:v>
                </c:pt>
                <c:pt idx="5">
                  <c:v>6.0</c:v>
                </c:pt>
                <c:pt idx="6">
                  <c:v>30.0</c:v>
                </c:pt>
                <c:pt idx="7">
                  <c:v>30.0</c:v>
                </c:pt>
                <c:pt idx="8">
                  <c:v>2000.0</c:v>
                </c:pt>
                <c:pt idx="9">
                  <c:v>2000.0</c:v>
                </c:pt>
                <c:pt idx="10">
                  <c:v>2500.0</c:v>
                </c:pt>
                <c:pt idx="11">
                  <c:v>2500.0</c:v>
                </c:pt>
                <c:pt idx="12">
                  <c:v>3000.0</c:v>
                </c:pt>
                <c:pt idx="13">
                  <c:v>3000.0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</c:v>
                </c:pt>
              </c:strCache>
            </c:strRef>
          </c:tx>
          <c:spPr>
            <a:ln>
              <a:solidFill>
                <a:srgbClr val="008000"/>
              </a:solidFill>
            </a:ln>
          </c:spPr>
          <c:marker>
            <c:spPr>
              <a:solidFill>
                <a:srgbClr val="008000"/>
              </a:solidFill>
              <a:ln>
                <a:solidFill>
                  <a:srgbClr val="008000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DP FLOP</c:v>
                </c:pt>
                <c:pt idx="2">
                  <c:v>Register</c:v>
                </c:pt>
                <c:pt idx="3">
                  <c:v> </c:v>
                </c:pt>
                <c:pt idx="4">
                  <c:v>1mm on-chip</c:v>
                </c:pt>
                <c:pt idx="5">
                  <c:v> </c:v>
                </c:pt>
                <c:pt idx="6">
                  <c:v>5mm on-chip</c:v>
                </c:pt>
                <c:pt idx="7">
                  <c:v> </c:v>
                </c:pt>
                <c:pt idx="8">
                  <c:v>Off-chip/DRAM</c:v>
                </c:pt>
                <c:pt idx="9">
                  <c:v> </c:v>
                </c:pt>
                <c:pt idx="10">
                  <c:v>local interconnect</c:v>
                </c:pt>
                <c:pt idx="11">
                  <c:v> </c:v>
                </c:pt>
                <c:pt idx="12">
                  <c:v>Cross system</c:v>
                </c:pt>
                <c:pt idx="13">
                  <c:v> 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25.0</c:v>
                </c:pt>
                <c:pt idx="1">
                  <c:v>25.0</c:v>
                </c:pt>
                <c:pt idx="2">
                  <c:v>1.5</c:v>
                </c:pt>
                <c:pt idx="3">
                  <c:v>1.5</c:v>
                </c:pt>
                <c:pt idx="4">
                  <c:v>6.0</c:v>
                </c:pt>
                <c:pt idx="5">
                  <c:v>6.0</c:v>
                </c:pt>
                <c:pt idx="6">
                  <c:v>30.0</c:v>
                </c:pt>
                <c:pt idx="7">
                  <c:v>30.0</c:v>
                </c:pt>
                <c:pt idx="8">
                  <c:v>850.0</c:v>
                </c:pt>
                <c:pt idx="9">
                  <c:v>850.0</c:v>
                </c:pt>
                <c:pt idx="10">
                  <c:v>1000.0</c:v>
                </c:pt>
                <c:pt idx="11">
                  <c:v>1000.0</c:v>
                </c:pt>
                <c:pt idx="12">
                  <c:v>1500.0</c:v>
                </c:pt>
                <c:pt idx="13">
                  <c:v>1500.0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4877992"/>
        <c:axId val="884882680"/>
      </c:lineChart>
      <c:catAx>
        <c:axId val="88487799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884882680"/>
        <c:crosses val="autoZero"/>
        <c:auto val="1"/>
        <c:lblAlgn val="ctr"/>
        <c:lblOffset val="100"/>
        <c:noMultiLvlLbl val="0"/>
      </c:catAx>
      <c:valAx>
        <c:axId val="884882680"/>
        <c:scaling>
          <c:logBase val="10.0"/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2000"/>
                </a:pPr>
                <a:r>
                  <a:rPr lang="en-US" sz="2000"/>
                  <a:t>PicoJoules</a:t>
                </a:r>
              </a:p>
            </c:rich>
          </c:tx>
          <c:layout>
            <c:manualLayout>
              <c:xMode val="edge"/>
              <c:yMode val="edge"/>
              <c:x val="0.0262345679012346"/>
              <c:y val="0.31109799174231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88487799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3552043841742"/>
          <c:y val="0.385193383154038"/>
          <c:w val="0.133306722076407"/>
          <c:h val="0.165074261543897"/>
        </c:manualLayout>
      </c:layout>
      <c:overlay val="0"/>
      <c:txPr>
        <a:bodyPr/>
        <a:lstStyle/>
        <a:p>
          <a:pPr>
            <a:defRPr sz="1600" b="1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E49B3-93D5-0147-B19D-BB6E8CC8C533}" type="datetimeFigureOut">
              <a:rPr lang="en-US" smtClean="0"/>
              <a:t>11/12/12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AA59E-2B1F-9447-935C-5667B439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96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650EA-0944-4F0A-B372-5D493974E0F3}" type="datetimeFigureOut">
              <a:rPr lang="en-US" smtClean="0"/>
              <a:pPr/>
              <a:t>11/12/12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DC26A-4628-467A-BDD3-FE7E900548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96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2008</a:t>
            </a:r>
            <a:r>
              <a:rPr lang="en-US" baseline="0" dirty="0" smtClean="0"/>
              <a:t> DARPA </a:t>
            </a:r>
            <a:r>
              <a:rPr lang="en-US" baseline="0" dirty="0" err="1" smtClean="0"/>
              <a:t>Exascale</a:t>
            </a:r>
            <a:r>
              <a:rPr lang="en-US" baseline="0" dirty="0" smtClean="0"/>
              <a:t> report has similar prediction:</a:t>
            </a:r>
          </a:p>
          <a:p>
            <a:r>
              <a:rPr lang="en-US" baseline="0" dirty="0" smtClean="0"/>
              <a:t>Gap between DRAM access time and flops will increase </a:t>
            </a:r>
          </a:p>
          <a:p>
            <a:r>
              <a:rPr lang="en-US" baseline="0" dirty="0" smtClean="0"/>
              <a:t>100x over coming decade to balance power usage between </a:t>
            </a:r>
          </a:p>
          <a:p>
            <a:r>
              <a:rPr lang="en-US" baseline="0" dirty="0" smtClean="0"/>
              <a:t>processors, DRAM</a:t>
            </a:r>
          </a:p>
          <a:p>
            <a:endParaRPr lang="en-US" baseline="0" dirty="0" smtClean="0"/>
          </a:p>
          <a:p>
            <a:r>
              <a:rPr lang="en-US" baseline="0" dirty="0" smtClean="0"/>
              <a:t>2011 NRC Report: “The Future of Computing Performance: Game Over or Next Level?”</a:t>
            </a:r>
          </a:p>
          <a:p>
            <a:r>
              <a:rPr lang="en-US" baseline="0" dirty="0" smtClean="0"/>
              <a:t>Millett and Fuller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2008</a:t>
            </a:r>
            <a:r>
              <a:rPr lang="en-US" baseline="0" dirty="0" smtClean="0"/>
              <a:t> DARPA </a:t>
            </a:r>
            <a:r>
              <a:rPr lang="en-US" baseline="0" dirty="0" err="1" smtClean="0"/>
              <a:t>Exascale</a:t>
            </a:r>
            <a:r>
              <a:rPr lang="en-US" baseline="0" dirty="0" smtClean="0"/>
              <a:t> report has similar prediction:</a:t>
            </a:r>
          </a:p>
          <a:p>
            <a:r>
              <a:rPr lang="en-US" baseline="0" dirty="0" smtClean="0"/>
              <a:t>Gap between DRAM access time and flops will increase </a:t>
            </a:r>
          </a:p>
          <a:p>
            <a:r>
              <a:rPr lang="en-US" baseline="0" dirty="0" smtClean="0"/>
              <a:t>100x over coming decade to balance power usage between </a:t>
            </a:r>
          </a:p>
          <a:p>
            <a:r>
              <a:rPr lang="en-US" baseline="0" dirty="0" smtClean="0"/>
              <a:t>processors, DRAM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02756" indent="-270291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081164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513629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1946095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378560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811026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243491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675957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sz="900" b="0">
                <a:solidFill>
                  <a:schemeClr val="tx1"/>
                </a:solidFill>
                <a:latin typeface="Times New Roman" pitchFamily="18" charset="0"/>
              </a:rPr>
              <a:t>CS267 Lecture 2</a:t>
            </a:r>
          </a:p>
        </p:txBody>
      </p:sp>
      <p:sp>
        <p:nvSpPr>
          <p:cNvPr id="87043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02756" indent="-270291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081164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513629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1946095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378560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811026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243491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675957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1B2346B9-B965-47FB-A558-9B964E0C2A69}" type="slidenum">
              <a:rPr lang="en-US" sz="900" b="0">
                <a:solidFill>
                  <a:schemeClr val="tx1"/>
                </a:solidFill>
                <a:latin typeface="Times New Roman" pitchFamily="18" charset="0"/>
              </a:rPr>
              <a:pPr/>
              <a:t>16</a:t>
            </a:fld>
            <a:endParaRPr lang="en-US" sz="900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70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02756" indent="-270291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081164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513629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1946095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378560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811026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243491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675957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sz="900" b="0">
                <a:solidFill>
                  <a:schemeClr val="tx1"/>
                </a:solidFill>
                <a:latin typeface="Times New Roman" pitchFamily="18" charset="0"/>
              </a:rPr>
              <a:t>CS267 Lecture 2</a:t>
            </a:r>
          </a:p>
        </p:txBody>
      </p:sp>
      <p:sp>
        <p:nvSpPr>
          <p:cNvPr id="87043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02756" indent="-270291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081164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513629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1946095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378560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811026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243491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675957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1B2346B9-B965-47FB-A558-9B964E0C2A69}" type="slidenum">
              <a:rPr lang="en-US" sz="900" b="0">
                <a:solidFill>
                  <a:schemeClr val="tx1"/>
                </a:solidFill>
                <a:latin typeface="Times New Roman" pitchFamily="18" charset="0"/>
              </a:rPr>
              <a:pPr/>
              <a:t>17</a:t>
            </a:fld>
            <a:endParaRPr lang="en-US" sz="900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70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02756" indent="-270291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081164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513629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1946095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378560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811026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243491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675957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sz="900" b="0">
                <a:solidFill>
                  <a:schemeClr val="tx1"/>
                </a:solidFill>
                <a:latin typeface="Times New Roman" pitchFamily="18" charset="0"/>
              </a:rPr>
              <a:t>CS267 Lecture 2</a:t>
            </a:r>
          </a:p>
        </p:txBody>
      </p:sp>
      <p:sp>
        <p:nvSpPr>
          <p:cNvPr id="87043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02756" indent="-270291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081164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513629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1946095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378560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811026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243491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675957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1B2346B9-B965-47FB-A558-9B964E0C2A69}" type="slidenum">
              <a:rPr lang="en-US" sz="900" b="0">
                <a:solidFill>
                  <a:schemeClr val="tx1"/>
                </a:solidFill>
                <a:latin typeface="Times New Roman" pitchFamily="18" charset="0"/>
              </a:rPr>
              <a:pPr/>
              <a:t>18</a:t>
            </a:fld>
            <a:endParaRPr lang="en-US" sz="900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70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02756" indent="-270291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081164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513629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1946095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378560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811026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243491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675957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sz="900" b="0">
                <a:solidFill>
                  <a:schemeClr val="tx1"/>
                </a:solidFill>
                <a:latin typeface="Times New Roman" pitchFamily="18" charset="0"/>
              </a:rPr>
              <a:t>CS267 Lecture 2</a:t>
            </a:r>
          </a:p>
        </p:txBody>
      </p:sp>
      <p:sp>
        <p:nvSpPr>
          <p:cNvPr id="92163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02756" indent="-270291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081164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513629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1946095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378560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811026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243491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675957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AEB1130D-06BE-45D8-BDBA-DEAF381F226C}" type="slidenum">
              <a:rPr lang="en-US" sz="900" b="0">
                <a:solidFill>
                  <a:schemeClr val="tx1"/>
                </a:solidFill>
                <a:latin typeface="Times New Roman" pitchFamily="18" charset="0"/>
              </a:rPr>
              <a:pPr/>
              <a:t>19</a:t>
            </a:fld>
            <a:endParaRPr lang="en-US" sz="900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921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02756" indent="-270291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081164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513629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1946095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378560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811026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243491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675957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sz="900" b="0">
                <a:solidFill>
                  <a:schemeClr val="tx1"/>
                </a:solidFill>
                <a:latin typeface="Times New Roman" pitchFamily="18" charset="0"/>
              </a:rPr>
              <a:t>CS267 Lecture 2</a:t>
            </a:r>
          </a:p>
        </p:txBody>
      </p:sp>
      <p:sp>
        <p:nvSpPr>
          <p:cNvPr id="92163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02756" indent="-270291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081164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513629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1946095" indent="-216233" defTabSz="929501"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378560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811026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243491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675957" indent="-216233" algn="l" defTabSz="929501" rtl="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AEB1130D-06BE-45D8-BDBA-DEAF381F226C}" type="slidenum">
              <a:rPr lang="en-US" sz="900" b="0">
                <a:solidFill>
                  <a:schemeClr val="tx1"/>
                </a:solidFill>
                <a:latin typeface="Times New Roman" pitchFamily="18" charset="0"/>
              </a:rPr>
              <a:pPr/>
              <a:t>20</a:t>
            </a:fld>
            <a:endParaRPr lang="en-US" sz="900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921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Speedups</a:t>
            </a:r>
            <a:r>
              <a:rPr lang="en-US" baseline="0" dirty="0" smtClean="0"/>
              <a:t> are for very rectangular matrices, not square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25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SUMMA</a:t>
            </a:r>
            <a:r>
              <a:rPr lang="en-US" baseline="0" dirty="0" smtClean="0"/>
              <a:t> with more complicated implementation can attain bandwidth lower bound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4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SC’11 paper about need to fully utilize 3D torus network on BG/P to get this to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76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Recursive approach”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  QR:  Elmroth, Gustavson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  LU:  Toledo</a:t>
            </a:r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FB6CFA-AF67-4B17-A44B-9F392D90EBF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 smtClean="0">
                <a:latin typeface="Arial" charset="0"/>
              </a:rPr>
              <a:t>Oldest</a:t>
            </a:r>
            <a:r>
              <a:rPr lang="en-US" baseline="0" dirty="0" smtClean="0">
                <a:latin typeface="Arial" charset="0"/>
              </a:rPr>
              <a:t> reference for idea of tree: </a:t>
            </a:r>
            <a:r>
              <a:rPr lang="en-US" baseline="0" dirty="0" err="1" smtClean="0">
                <a:latin typeface="Arial" charset="0"/>
              </a:rPr>
              <a:t>Golub</a:t>
            </a:r>
            <a:r>
              <a:rPr lang="en-US" baseline="0" dirty="0" smtClean="0">
                <a:latin typeface="Arial" charset="0"/>
              </a:rPr>
              <a:t>/</a:t>
            </a:r>
            <a:r>
              <a:rPr lang="en-US" baseline="0" dirty="0" err="1" smtClean="0">
                <a:latin typeface="Arial" charset="0"/>
              </a:rPr>
              <a:t>Plemmons</a:t>
            </a:r>
            <a:r>
              <a:rPr lang="en-US" baseline="0" dirty="0" smtClean="0">
                <a:latin typeface="Arial" charset="0"/>
              </a:rPr>
              <a:t>/</a:t>
            </a:r>
            <a:r>
              <a:rPr lang="en-US" baseline="0" dirty="0" err="1" smtClean="0">
                <a:latin typeface="Arial" charset="0"/>
              </a:rPr>
              <a:t>Sameh</a:t>
            </a:r>
            <a:r>
              <a:rPr lang="en-US" baseline="0" dirty="0" smtClean="0">
                <a:latin typeface="Arial" charset="0"/>
              </a:rPr>
              <a:t> 1988,</a:t>
            </a:r>
          </a:p>
          <a:p>
            <a:pPr eaLnBrk="1" hangingPunct="1">
              <a:spcBef>
                <a:spcPct val="0"/>
              </a:spcBef>
            </a:pPr>
            <a:r>
              <a:rPr lang="en-US" baseline="0" dirty="0" smtClean="0">
                <a:latin typeface="Arial" charset="0"/>
              </a:rPr>
              <a:t>But didn’t avoid communication</a:t>
            </a:r>
            <a:endParaRPr lang="en-US" dirty="0" smtClean="0">
              <a:latin typeface="Arial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47A458-4E5B-40E3-B386-8D6E88787EC7}" type="slidenum">
              <a:rPr lang="en-US" smtClean="0"/>
              <a:pPr>
                <a:defRPr/>
              </a:pPr>
              <a:t>43</a:t>
            </a:fld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Transition: TSQR -&gt; CAQR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Vertical axis log2(n^2/p) is memory per processor</a:t>
            </a:r>
          </a:p>
          <a:p>
            <a:r>
              <a:rPr lang="en-US" dirty="0" smtClean="0"/>
              <a:t>Horizontal</a:t>
            </a:r>
            <a:r>
              <a:rPr lang="en-US" baseline="0" dirty="0" smtClean="0"/>
              <a:t> axis log2(p) is processor count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8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Questions:</a:t>
            </a:r>
          </a:p>
          <a:p>
            <a:r>
              <a:rPr lang="en-US" smtClean="0"/>
              <a:t>   Was [Gustavson,97] not cache oblivious?</a:t>
            </a:r>
          </a:p>
          <a:p>
            <a:r>
              <a:rPr lang="en-US" smtClean="0"/>
              <a:t>[Frigo, Leiserson, Prokop, Ramachandran,99]</a:t>
            </a:r>
          </a:p>
          <a:p>
            <a:endParaRPr 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CS267 Lecture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25A43-B2AC-4655-9DA9-36F183A413AB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 smtClean="0"/>
              <a:t>ScaLAPACK</a:t>
            </a:r>
            <a:r>
              <a:rPr lang="en-US" dirty="0" smtClean="0"/>
              <a:t> assumes best block size chosen</a:t>
            </a:r>
          </a:p>
          <a:p>
            <a:r>
              <a:rPr lang="en-US" dirty="0" smtClean="0"/>
              <a:t>Many references, green are ours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CS267 Lecture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A5644A-7184-4478-A98B-0804BDABBC90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 smtClean="0"/>
              <a:t>ScaLAPACK</a:t>
            </a:r>
            <a:r>
              <a:rPr lang="en-US" dirty="0" smtClean="0"/>
              <a:t> assumes best block size chosen</a:t>
            </a:r>
          </a:p>
          <a:p>
            <a:r>
              <a:rPr lang="en-US" dirty="0" smtClean="0"/>
              <a:t>Many references, green are ours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CS267 Lecture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A5644A-7184-4478-A98B-0804BDABBC90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 smtClean="0"/>
              <a:t>ScaLAPACK</a:t>
            </a:r>
            <a:r>
              <a:rPr lang="en-US" dirty="0" smtClean="0"/>
              <a:t> assumes best block size chosen</a:t>
            </a:r>
          </a:p>
          <a:p>
            <a:r>
              <a:rPr lang="en-US" dirty="0" smtClean="0"/>
              <a:t>Many references, green are ours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CS267 Lecture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A5644A-7184-4478-A98B-0804BDABBC90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 smtClean="0"/>
              <a:t>ScaLAPACK</a:t>
            </a:r>
            <a:r>
              <a:rPr lang="en-US" dirty="0" smtClean="0"/>
              <a:t> assumes best block size chosen</a:t>
            </a:r>
          </a:p>
          <a:p>
            <a:r>
              <a:rPr lang="en-US" dirty="0" smtClean="0"/>
              <a:t>Many references, green are ours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CS267 Lecture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A5644A-7184-4478-A98B-0804BDABBC90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LU with</a:t>
            </a:r>
            <a:r>
              <a:rPr lang="en-US" baseline="0" dirty="0" smtClean="0"/>
              <a:t> or without pivoting</a:t>
            </a:r>
          </a:p>
          <a:p>
            <a:r>
              <a:rPr lang="en-US" baseline="0" dirty="0" smtClean="0"/>
              <a:t>   With pivoting requires a probabilistic analysis regarding which</a:t>
            </a:r>
          </a:p>
          <a:p>
            <a:r>
              <a:rPr lang="en-US" baseline="0" dirty="0" smtClean="0"/>
              <a:t>      processors own pivot rows; assume reasonably evenly distributed to attain lower bound.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ScaLAPACK</a:t>
            </a:r>
            <a:r>
              <a:rPr lang="en-US" dirty="0" smtClean="0"/>
              <a:t> assumes best block size chosen</a:t>
            </a:r>
          </a:p>
          <a:p>
            <a:r>
              <a:rPr lang="en-US" dirty="0" smtClean="0"/>
              <a:t>Many references, green are ours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CS267 Lecture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A5644A-7184-4478-A98B-0804BDABBC90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Does not minimize communication by itself, but does no more communication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Than reduction to band form, so overall ok.</a:t>
            </a:r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AD7D8A-8BF6-4EB0-BF0D-34D62664F591}" type="slidenum">
              <a:rPr lang="en-US" smtClean="0"/>
              <a:pPr>
                <a:defRPr/>
              </a:pPr>
              <a:t>56</a:t>
            </a:fld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66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Does not minimize communication by itself, but does no more communication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Than reduction to band form, so overall ok.</a:t>
            </a:r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BE9FF54-B6A3-40A4-B147-1C363F82633B}" type="slidenum">
              <a:rPr lang="en-US" smtClean="0"/>
              <a:pPr>
                <a:defRPr/>
              </a:pPr>
              <a:t>57</a:t>
            </a:fld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67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Does not minimize communication by itself, but does no more communication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Than reduction to band form, so overall ok.</a:t>
            </a:r>
          </a:p>
        </p:txBody>
      </p:sp>
      <p:sp>
        <p:nvSpPr>
          <p:cNvPr id="12186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00B014-F000-4F71-B848-59D921925BB3}" type="slidenum">
              <a:rPr lang="en-US" smtClean="0"/>
              <a:pPr>
                <a:defRPr/>
              </a:pPr>
              <a:t>58</a:t>
            </a:fld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68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Does not minimize communication by itself, but does no more communication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Than reduction to band form, so overall ok.</a:t>
            </a:r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0A7FA8-1DC4-4DED-92C7-3F6CB4A04CB2}" type="slidenum">
              <a:rPr lang="en-US" smtClean="0"/>
              <a:pPr>
                <a:defRPr/>
              </a:pPr>
              <a:t>59</a:t>
            </a:fld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69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Does not minimize communication by itself, but does no more communication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Than reduction to band form, so overall ok.</a:t>
            </a:r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F3359B-98D9-4527-8DCE-805369ABF3F9}" type="slidenum">
              <a:rPr lang="en-US" smtClean="0"/>
              <a:pPr>
                <a:defRPr/>
              </a:pPr>
              <a:t>60</a:t>
            </a:fld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71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Does not minimize communication by itself, but does no more communication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Than reduction to band form, so overall ok.</a:t>
            </a:r>
          </a:p>
        </p:txBody>
      </p:sp>
      <p:sp>
        <p:nvSpPr>
          <p:cNvPr id="12493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3CD03D-6859-43B0-83E2-B00E9D07A016}" type="slidenum">
              <a:rPr lang="en-US" smtClean="0"/>
              <a:pPr>
                <a:defRPr/>
              </a:pPr>
              <a:t>61</a:t>
            </a:fld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72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Does not minimize communication by itself, but does no more communication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Than reduction to band form, so overall ok.</a:t>
            </a:r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32962B-53A6-49A0-8DBF-A5F35AD28C73}" type="slidenum">
              <a:rPr lang="en-US" smtClean="0"/>
              <a:pPr>
                <a:defRPr/>
              </a:pPr>
              <a:t>62</a:t>
            </a:fld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73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Does not minimize communication by itself, but does no more communication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Than reduction to band form, so overall ok.</a:t>
            </a:r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8D2BF24-3C46-4D5A-991A-0D2A4BCC5590}" type="slidenum">
              <a:rPr lang="en-US" smtClean="0"/>
              <a:pPr>
                <a:defRPr/>
              </a:pPr>
              <a:t>63</a:t>
            </a:fld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74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Does not minimize communication by itself, but does no more communication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Than reduction to band form, so overall ok.</a:t>
            </a:r>
          </a:p>
        </p:txBody>
      </p:sp>
      <p:sp>
        <p:nvSpPr>
          <p:cNvPr id="12800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8892B8-4093-43C7-AAD7-5779B63F36DC}" type="slidenum">
              <a:rPr lang="en-US" smtClean="0"/>
              <a:pPr>
                <a:defRPr/>
              </a:pPr>
              <a:t>64</a:t>
            </a:fld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75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Does not minimize communication by itself, but does no more communication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Than reduction to band form, so overall ok.</a:t>
            </a:r>
          </a:p>
        </p:txBody>
      </p:sp>
      <p:sp>
        <p:nvSpPr>
          <p:cNvPr id="12902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C74807-8E5E-43FF-9C86-00858955F3A5}" type="slidenum">
              <a:rPr lang="en-US" smtClean="0"/>
              <a:pPr>
                <a:defRPr/>
              </a:pPr>
              <a:t>65</a:t>
            </a:fld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76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Does not minimize communication by itself, but does no more communication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Than reduction to band form, so overall ok.</a:t>
            </a:r>
          </a:p>
        </p:txBody>
      </p:sp>
      <p:sp>
        <p:nvSpPr>
          <p:cNvPr id="13005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89BA0A-0901-414A-AA2E-FBAD67D7DF8B}" type="slidenum">
              <a:rPr lang="en-US" smtClean="0"/>
              <a:pPr>
                <a:defRPr/>
              </a:pPr>
              <a:t>66</a:t>
            </a:fld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Say what BFS and DFS 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3A16B-AD19-2044-A862-BEAA455EE8C3}" type="slidenum">
              <a:rPr lang="en-US" smtClean="0">
                <a:solidFill>
                  <a:prstClr val="black"/>
                </a:solidFill>
              </a:rPr>
              <a:pPr/>
              <a:t>70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5560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2n^3/time 184% is at 7203 ours 7056 theirs (per node).</a:t>
            </a:r>
          </a:p>
          <a:p>
            <a:r>
              <a:rPr lang="en-US" dirty="0" smtClean="0"/>
              <a:t>Strong scaling range up to about p=1000</a:t>
            </a:r>
          </a:p>
          <a:p>
            <a:r>
              <a:rPr lang="en-US" dirty="0" smtClean="0"/>
              <a:t>Top on this plot: p = 7200, recent data up to 20K</a:t>
            </a:r>
          </a:p>
          <a:p>
            <a:endParaRPr lang="en-US" dirty="0" smtClean="0"/>
          </a:p>
          <a:p>
            <a:r>
              <a:rPr lang="en-US" dirty="0" smtClean="0"/>
              <a:t>2(.5)D-Strassen means 2(.5)D-outer, and </a:t>
            </a:r>
            <a:r>
              <a:rPr lang="en-US" dirty="0" err="1" smtClean="0"/>
              <a:t>Strassen</a:t>
            </a:r>
            <a:r>
              <a:rPr lang="en-US" dirty="0" smtClean="0"/>
              <a:t>-inner, on the small local matrices</a:t>
            </a:r>
          </a:p>
          <a:p>
            <a:r>
              <a:rPr lang="en-US" dirty="0" smtClean="0"/>
              <a:t>Strassen-2D means x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Strassen</a:t>
            </a:r>
            <a:r>
              <a:rPr lang="en-US" baseline="0" dirty="0" smtClean="0"/>
              <a:t> steps, followed by 2D classical for the 7^x </a:t>
            </a:r>
            <a:r>
              <a:rPr lang="en-US" baseline="0" dirty="0" err="1" smtClean="0"/>
              <a:t>subproblems</a:t>
            </a:r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smtClean="0"/>
              <a:t>For details, see SC12 talk by Grey Ballard on CAPS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CS267 Lecture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49AD85-19F3-4FEB-898F-F699572E6052}" type="slidenum">
              <a:rPr lang="he-IL" smtClean="0"/>
              <a:pPr>
                <a:defRPr/>
              </a:pPr>
              <a:t>71</a:t>
            </a:fld>
            <a:endParaRPr lang="en-US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4848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Qbox</a:t>
            </a:r>
            <a:r>
              <a:rPr lang="en-US" dirty="0" smtClean="0"/>
              <a:t> </a:t>
            </a:r>
            <a:r>
              <a:rPr lang="en-US" baseline="0" dirty="0" smtClean="0"/>
              <a:t>code – Francois </a:t>
            </a:r>
            <a:r>
              <a:rPr lang="en-US" baseline="0" dirty="0" err="1" smtClean="0"/>
              <a:t>Gygi</a:t>
            </a:r>
            <a:r>
              <a:rPr lang="en-US" baseline="0" dirty="0" smtClean="0"/>
              <a:t> @ UC Davis, also LLNL, first principle molecular dynamics, </a:t>
            </a:r>
          </a:p>
          <a:p>
            <a:r>
              <a:rPr lang="en-US" baseline="0" dirty="0" smtClean="0"/>
              <a:t>    uses Density Functional Theory to solve Kohn Sham equations, won Gordon Bell Prize in 2006 </a:t>
            </a:r>
          </a:p>
          <a:p>
            <a:r>
              <a:rPr lang="en-US" baseline="0" dirty="0" smtClean="0"/>
              <a:t>CTF – Cyclops Tensor Framework,</a:t>
            </a:r>
          </a:p>
          <a:p>
            <a:r>
              <a:rPr lang="en-US" baseline="0" dirty="0" smtClean="0"/>
              <a:t>            faster symmetric tensor contractions for “coupled cluster” electronic structure calculations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942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73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 eaLnBrk="1" hangingPunct="1">
              <a:lnSpc>
                <a:spcPct val="80000"/>
              </a:lnSpc>
              <a:defRPr/>
            </a:pPr>
            <a:r>
              <a:rPr lang="en-US" sz="2000" dirty="0" smtClean="0"/>
              <a:t>Well</a:t>
            </a:r>
            <a:r>
              <a:rPr lang="en-US" sz="2000" baseline="0" dirty="0" smtClean="0"/>
              <a:t> – partitioned = </a:t>
            </a:r>
            <a:r>
              <a:rPr lang="en-US" sz="2000" dirty="0" smtClean="0"/>
              <a:t> modest surface-to-volume ratio</a:t>
            </a:r>
            <a:endParaRPr lang="en-US" sz="1900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900" dirty="0" smtClean="0"/>
              <a:t>See bebop.cs.berkeley.edu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900" dirty="0" smtClean="0"/>
              <a:t>CG: [van Rosendale, 83], [</a:t>
            </a:r>
            <a:r>
              <a:rPr lang="en-US" sz="1900" dirty="0" err="1" smtClean="0"/>
              <a:t>Chronopoulos</a:t>
            </a:r>
            <a:r>
              <a:rPr lang="en-US" sz="1900" dirty="0" smtClean="0"/>
              <a:t> and Gear, 89]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900" dirty="0" smtClean="0"/>
              <a:t>GMRES: [Walker, 88], [</a:t>
            </a:r>
            <a:r>
              <a:rPr lang="en-US" sz="1900" dirty="0" err="1" smtClean="0"/>
              <a:t>Joubert</a:t>
            </a:r>
            <a:r>
              <a:rPr lang="en-US" sz="1900" dirty="0" smtClean="0"/>
              <a:t> and Carey, 92], [</a:t>
            </a:r>
            <a:r>
              <a:rPr lang="en-US" sz="1900" dirty="0" err="1" smtClean="0"/>
              <a:t>Bai</a:t>
            </a:r>
            <a:r>
              <a:rPr lang="en-US" sz="1900" dirty="0" smtClean="0"/>
              <a:t> et al., 94]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74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C. J. Pfeifer, Data flow and storage allocation for the PDQ-5 program</a:t>
            </a:r>
            <a:br>
              <a:rPr lang="en-US" dirty="0" smtClean="0"/>
            </a:br>
            <a:r>
              <a:rPr lang="en-US" dirty="0" smtClean="0"/>
              <a:t>on the Philco-2000, Comm. ACM 6, No. 7 (1963), 365366.</a:t>
            </a:r>
          </a:p>
          <a:p>
            <a:endParaRPr lang="en-US" dirty="0" smtClean="0"/>
          </a:p>
          <a:p>
            <a:r>
              <a:rPr lang="en-US" dirty="0" smtClean="0"/>
              <a:t>Referred to in paper by </a:t>
            </a:r>
            <a:r>
              <a:rPr lang="en-US" dirty="0" err="1" smtClean="0"/>
              <a:t>Leiserson</a:t>
            </a:r>
            <a:r>
              <a:rPr lang="en-US" dirty="0" smtClean="0"/>
              <a:t>/</a:t>
            </a:r>
            <a:r>
              <a:rPr lang="en-US" dirty="0" err="1" smtClean="0"/>
              <a:t>Rao</a:t>
            </a:r>
            <a:r>
              <a:rPr lang="en-US" dirty="0" smtClean="0"/>
              <a:t>/Toledo/ in 1993 paper </a:t>
            </a:r>
            <a:r>
              <a:rPr lang="en-US" smtClean="0"/>
              <a:t>on blocking covers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75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Red needed for k=1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Green also needed for k=2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Blue also needed for k=3</a:t>
            </a:r>
          </a:p>
        </p:txBody>
      </p:sp>
      <p:sp>
        <p:nvSpPr>
          <p:cNvPr id="30310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893992">
              <a:defRPr/>
            </a:pPr>
            <a:fld id="{9D58864D-29E8-4E5F-9B53-C24FEDD6ADF1}" type="slidenum">
              <a:rPr lang="en-US" smtClean="0"/>
              <a:pPr defTabSz="893992">
                <a:defRPr/>
              </a:pPr>
              <a:t>87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For Matrix</a:t>
            </a:r>
            <a:r>
              <a:rPr lang="en-US" baseline="0" dirty="0" smtClean="0"/>
              <a:t> pde900, U Florida collection,</a:t>
            </a:r>
            <a:r>
              <a:rPr lang="en-US" dirty="0" smtClean="0"/>
              <a:t> 2D Model problem, </a:t>
            </a:r>
            <a:r>
              <a:rPr lang="en-US" dirty="0" err="1" smtClean="0"/>
              <a:t>Nx</a:t>
            </a:r>
            <a:r>
              <a:rPr lang="en-US" dirty="0" smtClean="0"/>
              <a:t>=30,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Ny</a:t>
            </a:r>
            <a:r>
              <a:rPr lang="en-US" baseline="0" dirty="0" smtClean="0"/>
              <a:t>=30, non-normal.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Cond ~ 120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938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447856-6065-4A7E-A8BB-4EEBC5A1204C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900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96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Intrepid: 163,480 core IBM BG/P at Argonne NL </a:t>
            </a:r>
            <a:r>
              <a:rPr lang="en-US" baseline="0" dirty="0" smtClean="0"/>
              <a:t> (ALCF)</a:t>
            </a:r>
            <a:endParaRPr lang="en-US" dirty="0" smtClean="0"/>
          </a:p>
          <a:p>
            <a:r>
              <a:rPr lang="en-US" dirty="0" smtClean="0"/>
              <a:t>Each node is one quad-core in a 3D torus</a:t>
            </a:r>
          </a:p>
          <a:p>
            <a:endParaRPr lang="en-US" dirty="0" smtClean="0"/>
          </a:p>
          <a:p>
            <a:r>
              <a:rPr lang="en-US" dirty="0" smtClean="0"/>
              <a:t>C=1(tree) uses special</a:t>
            </a:r>
            <a:r>
              <a:rPr lang="en-US" baseline="0" dirty="0" smtClean="0"/>
              <a:t> HW collective network, (no tree) just used regular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863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Note: there are infinitely many subgroups H, but only finitely</a:t>
            </a:r>
            <a:r>
              <a:rPr lang="en-US" baseline="0" dirty="0" smtClean="0"/>
              <a:t> many possible constraints</a:t>
            </a:r>
          </a:p>
          <a:p>
            <a:r>
              <a:rPr lang="en-US" baseline="0" dirty="0" smtClean="0"/>
              <a:t>Michael Chris (UCB), Terry Tao (UCLA), Anthony </a:t>
            </a:r>
            <a:r>
              <a:rPr lang="en-US" baseline="0" dirty="0" err="1" smtClean="0"/>
              <a:t>Carbery</a:t>
            </a:r>
            <a:r>
              <a:rPr lang="en-US" baseline="0" dirty="0" smtClean="0"/>
              <a:t> (Edinburgh), Jonathan Bennett (Birmingham),  </a:t>
            </a:r>
          </a:p>
          <a:p>
            <a:r>
              <a:rPr lang="en-US" baseline="0" dirty="0" smtClean="0"/>
              <a:t>Published in Geometric Functional Analysis,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577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Note: real “relaxation” is </a:t>
            </a:r>
            <a:r>
              <a:rPr lang="en-US" dirty="0" err="1" smtClean="0"/>
              <a:t>Tarski</a:t>
            </a:r>
            <a:r>
              <a:rPr lang="en-US" baseline="0" dirty="0" smtClean="0"/>
              <a:t> decidable.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522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Qbox</a:t>
            </a:r>
            <a:r>
              <a:rPr lang="en-US" dirty="0" smtClean="0"/>
              <a:t> </a:t>
            </a:r>
            <a:r>
              <a:rPr lang="en-US" baseline="0" dirty="0" smtClean="0"/>
              <a:t>code – Francois </a:t>
            </a:r>
            <a:r>
              <a:rPr lang="en-US" baseline="0" dirty="0" err="1" smtClean="0"/>
              <a:t>Gygi</a:t>
            </a:r>
            <a:r>
              <a:rPr lang="en-US" baseline="0" dirty="0" smtClean="0"/>
              <a:t> @ UC Davis, also LLNL, first principle molecular dynamics, </a:t>
            </a:r>
          </a:p>
          <a:p>
            <a:r>
              <a:rPr lang="en-US" baseline="0" dirty="0" smtClean="0"/>
              <a:t>    uses Density Functional Theory to solve Kohn Sham equations, won Gordon Bell Prize in 2006 </a:t>
            </a:r>
          </a:p>
          <a:p>
            <a:r>
              <a:rPr lang="en-US" baseline="0" dirty="0" smtClean="0"/>
              <a:t>CTF – Cyclops Tensor Framework,</a:t>
            </a:r>
          </a:p>
          <a:p>
            <a:r>
              <a:rPr lang="en-US" baseline="0" dirty="0" smtClean="0"/>
              <a:t>            faster symmetric tensor contractions for “coupled cluster” electronic structure calculations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94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11/12/12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11/12/12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11/12/12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11/12/12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11/12/12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11/12/12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03/02/2009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CS267 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C1DB8-F248-42BB-BDE3-451471CF73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2BE1A-6E79-45AA-87B6-3B5276F3DFE9}" type="datetimeFigureOut">
              <a:rPr lang="en-US" smtClean="0"/>
              <a:pPr/>
              <a:t>11/12/12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netlib.org/lapack/lawns/lawn%7B96,100%7D.ps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1" Type="http://schemas.microsoft.com/office/2007/relationships/media" Target="../media/media1.mp4"/><Relationship Id="rId2" Type="http://schemas.openxmlformats.org/officeDocument/2006/relationships/video" Target="../media/media1.mp4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.jpe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e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4" Type="http://schemas.openxmlformats.org/officeDocument/2006/relationships/image" Target="../media/image23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4" Type="http://schemas.openxmlformats.org/officeDocument/2006/relationships/image" Target="../media/image22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gif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cs.berkeley.edu/~demmel" TargetMode="External"/><Relationship Id="rId3" Type="http://schemas.openxmlformats.org/officeDocument/2006/relationships/hyperlink" Target="http://www.xsede.org" TargetMode="Externa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153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 to </a:t>
            </a:r>
            <a:br>
              <a:rPr lang="en-US" dirty="0" smtClean="0"/>
            </a:br>
            <a:r>
              <a:rPr lang="en-US" dirty="0" smtClean="0"/>
              <a:t>Communication-Avoiding Algorithms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3600" dirty="0" err="1" smtClean="0"/>
              <a:t>www.cs.berkeley.edu</a:t>
            </a:r>
            <a:r>
              <a:rPr lang="en-US" sz="3600" dirty="0" smtClean="0"/>
              <a:t>/~</a:t>
            </a:r>
            <a:r>
              <a:rPr lang="en-US" sz="3600" dirty="0" err="1" smtClean="0"/>
              <a:t>demmel</a:t>
            </a:r>
            <a:r>
              <a:rPr lang="en-US" sz="3600" dirty="0" smtClean="0"/>
              <a:t>/SC12_tutorial</a:t>
            </a:r>
            <a:endParaRPr lang="en-US" sz="36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343400"/>
            <a:ext cx="6553200" cy="1752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Jim </a:t>
            </a:r>
            <a:r>
              <a:rPr lang="en-US" dirty="0" err="1" smtClean="0">
                <a:solidFill>
                  <a:schemeClr val="tx2"/>
                </a:solidFill>
              </a:rPr>
              <a:t>Demmel</a:t>
            </a: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chemeClr val="tx2"/>
                </a:solidFill>
              </a:rPr>
              <a:t>EECS &amp; Math Departments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UC Berkeley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293051-DFCA-41C4-B519-7E8337936010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7411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6388"/>
            <a:ext cx="8305800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avoid communication? (1/2)</a:t>
            </a:r>
          </a:p>
        </p:txBody>
      </p:sp>
      <p:sp>
        <p:nvSpPr>
          <p:cNvPr id="17412" name="Rectangle 8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9600" y="914400"/>
            <a:ext cx="8272463" cy="2322513"/>
          </a:xfrm>
        </p:spPr>
        <p:txBody>
          <a:bodyPr>
            <a:normAutofit fontScale="92500"/>
          </a:bodyPr>
          <a:lstStyle/>
          <a:p>
            <a:pPr>
              <a:buFontTx/>
              <a:buNone/>
            </a:pPr>
            <a:r>
              <a:rPr lang="en-US" sz="2800" dirty="0" smtClean="0"/>
              <a:t>Algorithms have two costs (measured in time or energy):</a:t>
            </a:r>
          </a:p>
          <a:p>
            <a:pPr>
              <a:buFontTx/>
              <a:buAutoNum type="arabicPeriod"/>
            </a:pPr>
            <a:r>
              <a:rPr lang="en-US" sz="2800" dirty="0" smtClean="0"/>
              <a:t>Arithmetic (FLOPS)</a:t>
            </a:r>
          </a:p>
          <a:p>
            <a:pPr>
              <a:buFontTx/>
              <a:buAutoNum type="arabicPeriod"/>
            </a:pPr>
            <a:r>
              <a:rPr lang="en-US" sz="2800" dirty="0" smtClean="0"/>
              <a:t>Communication: moving data between </a:t>
            </a:r>
          </a:p>
          <a:p>
            <a:pPr lvl="1"/>
            <a:r>
              <a:rPr lang="en-US" sz="2400" dirty="0" smtClean="0"/>
              <a:t>levels of a memory hierarchy (sequential case) </a:t>
            </a:r>
          </a:p>
          <a:p>
            <a:pPr lvl="1"/>
            <a:r>
              <a:rPr lang="en-US" sz="2400" dirty="0" smtClean="0"/>
              <a:t>processors over a network (parallel case). </a:t>
            </a:r>
          </a:p>
        </p:txBody>
      </p:sp>
      <p:grpSp>
        <p:nvGrpSpPr>
          <p:cNvPr id="2" name="Group 94"/>
          <p:cNvGrpSpPr>
            <a:grpSpLocks/>
          </p:cNvGrpSpPr>
          <p:nvPr/>
        </p:nvGrpSpPr>
        <p:grpSpPr bwMode="auto">
          <a:xfrm>
            <a:off x="933450" y="3640138"/>
            <a:ext cx="3551238" cy="2608262"/>
            <a:chOff x="2710" y="1618"/>
            <a:chExt cx="2422" cy="1779"/>
          </a:xfrm>
        </p:grpSpPr>
        <p:sp>
          <p:nvSpPr>
            <p:cNvPr id="17423" name="AutoShape 76"/>
            <p:cNvSpPr>
              <a:spLocks noChangeArrowheads="1"/>
            </p:cNvSpPr>
            <p:nvPr/>
          </p:nvSpPr>
          <p:spPr bwMode="auto">
            <a:xfrm>
              <a:off x="3418" y="1618"/>
              <a:ext cx="1036" cy="714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Cache</a:t>
              </a:r>
            </a:p>
          </p:txBody>
        </p:sp>
        <p:sp>
          <p:nvSpPr>
            <p:cNvPr id="17424" name="AutoShape 77"/>
            <p:cNvSpPr>
              <a:spLocks noChangeArrowheads="1"/>
            </p:cNvSpPr>
            <p:nvPr/>
          </p:nvSpPr>
          <p:spPr bwMode="auto">
            <a:xfrm flipV="1">
              <a:off x="2710" y="2578"/>
              <a:ext cx="2422" cy="8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15 w 21600"/>
                <a:gd name="T13" fmla="*/ 4431 h 21600"/>
                <a:gd name="T14" fmla="*/ 17185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235" y="21600"/>
                  </a:lnTo>
                  <a:lnTo>
                    <a:pt x="16365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25" name="AutoShape 78"/>
            <p:cNvSpPr>
              <a:spLocks noChangeArrowheads="1"/>
            </p:cNvSpPr>
            <p:nvPr/>
          </p:nvSpPr>
          <p:spPr bwMode="auto">
            <a:xfrm>
              <a:off x="3792" y="2332"/>
              <a:ext cx="274" cy="246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96"/>
          <p:cNvGrpSpPr>
            <a:grpSpLocks/>
          </p:cNvGrpSpPr>
          <p:nvPr/>
        </p:nvGrpSpPr>
        <p:grpSpPr bwMode="auto">
          <a:xfrm>
            <a:off x="4984750" y="3640138"/>
            <a:ext cx="3135313" cy="2617787"/>
            <a:chOff x="530" y="2195"/>
            <a:chExt cx="1975" cy="1649"/>
          </a:xfrm>
        </p:grpSpPr>
        <p:sp>
          <p:nvSpPr>
            <p:cNvPr id="17415" name="AutoShape 86"/>
            <p:cNvSpPr>
              <a:spLocks noChangeArrowheads="1"/>
            </p:cNvSpPr>
            <p:nvPr/>
          </p:nvSpPr>
          <p:spPr bwMode="auto">
            <a:xfrm>
              <a:off x="530" y="2195"/>
              <a:ext cx="699" cy="482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16" name="AutoShape 87"/>
            <p:cNvSpPr>
              <a:spLocks noChangeArrowheads="1"/>
            </p:cNvSpPr>
            <p:nvPr/>
          </p:nvSpPr>
          <p:spPr bwMode="auto">
            <a:xfrm>
              <a:off x="699" y="2677"/>
              <a:ext cx="344" cy="685"/>
            </a:xfrm>
            <a:prstGeom prst="upDownArrow">
              <a:avLst>
                <a:gd name="adj1" fmla="val 50000"/>
                <a:gd name="adj2" fmla="val 39826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7" name="AutoShape 88"/>
            <p:cNvSpPr>
              <a:spLocks noChangeArrowheads="1"/>
            </p:cNvSpPr>
            <p:nvPr/>
          </p:nvSpPr>
          <p:spPr bwMode="auto">
            <a:xfrm>
              <a:off x="1806" y="3362"/>
              <a:ext cx="699" cy="482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18" name="AutoShape 89"/>
            <p:cNvSpPr>
              <a:spLocks noChangeArrowheads="1"/>
            </p:cNvSpPr>
            <p:nvPr/>
          </p:nvSpPr>
          <p:spPr bwMode="auto">
            <a:xfrm>
              <a:off x="530" y="3362"/>
              <a:ext cx="699" cy="482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19" name="AutoShape 90"/>
            <p:cNvSpPr>
              <a:spLocks noChangeArrowheads="1"/>
            </p:cNvSpPr>
            <p:nvPr/>
          </p:nvSpPr>
          <p:spPr bwMode="auto">
            <a:xfrm>
              <a:off x="1806" y="2195"/>
              <a:ext cx="699" cy="482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20" name="AutoShape 91"/>
            <p:cNvSpPr>
              <a:spLocks noChangeArrowheads="1"/>
            </p:cNvSpPr>
            <p:nvPr/>
          </p:nvSpPr>
          <p:spPr bwMode="auto">
            <a:xfrm>
              <a:off x="1983" y="2673"/>
              <a:ext cx="344" cy="685"/>
            </a:xfrm>
            <a:prstGeom prst="upDownArrow">
              <a:avLst>
                <a:gd name="adj1" fmla="val 50000"/>
                <a:gd name="adj2" fmla="val 39826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1" name="AutoShape 92"/>
            <p:cNvSpPr>
              <a:spLocks noChangeArrowheads="1"/>
            </p:cNvSpPr>
            <p:nvPr/>
          </p:nvSpPr>
          <p:spPr bwMode="auto">
            <a:xfrm rot="-5400000">
              <a:off x="1347" y="2149"/>
              <a:ext cx="344" cy="685"/>
            </a:xfrm>
            <a:prstGeom prst="upDownArrow">
              <a:avLst>
                <a:gd name="adj1" fmla="val 50000"/>
                <a:gd name="adj2" fmla="val 39826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2" name="AutoShape 93"/>
            <p:cNvSpPr>
              <a:spLocks noChangeArrowheads="1"/>
            </p:cNvSpPr>
            <p:nvPr/>
          </p:nvSpPr>
          <p:spPr bwMode="auto">
            <a:xfrm rot="-5400000">
              <a:off x="1343" y="3322"/>
              <a:ext cx="344" cy="686"/>
            </a:xfrm>
            <a:prstGeom prst="upDownArrow">
              <a:avLst>
                <a:gd name="adj1" fmla="val 50000"/>
                <a:gd name="adj2" fmla="val 39884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8" name="Straight Connector 17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1" y="152400"/>
            <a:ext cx="8229600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avoid communication? (2/3)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609600" y="719138"/>
            <a:ext cx="8001000" cy="1528762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mtClean="0"/>
              <a:t>Running time of an algorithm is sum of 3 terms:</a:t>
            </a:r>
          </a:p>
          <a:p>
            <a:pPr marL="914400" lvl="1" indent="-457200">
              <a:spcBef>
                <a:spcPct val="20000"/>
              </a:spcBef>
            </a:pPr>
            <a:r>
              <a:rPr lang="en-US" smtClean="0">
                <a:solidFill>
                  <a:schemeClr val="tx1"/>
                </a:solidFill>
              </a:rPr>
              <a:t># flops * time_per_flop</a:t>
            </a:r>
          </a:p>
          <a:p>
            <a:pPr marL="914400" lvl="1" indent="-457200">
              <a:spcBef>
                <a:spcPct val="20000"/>
              </a:spcBef>
            </a:pPr>
            <a:r>
              <a:rPr lang="en-US" smtClean="0">
                <a:solidFill>
                  <a:schemeClr val="tx1"/>
                </a:solidFill>
              </a:rPr>
              <a:t># words moved / bandwidth</a:t>
            </a:r>
          </a:p>
          <a:p>
            <a:pPr marL="914400" lvl="1" indent="-457200">
              <a:spcBef>
                <a:spcPct val="20000"/>
              </a:spcBef>
            </a:pPr>
            <a:r>
              <a:rPr lang="en-US" smtClean="0">
                <a:solidFill>
                  <a:schemeClr val="tx1"/>
                </a:solidFill>
              </a:rPr>
              <a:t># messages * latency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53263" y="6299200"/>
            <a:ext cx="1905000" cy="457200"/>
          </a:xfrm>
        </p:spPr>
        <p:txBody>
          <a:bodyPr/>
          <a:lstStyle/>
          <a:p>
            <a:pPr>
              <a:defRPr/>
            </a:pPr>
            <a:fld id="{096107BD-A7FD-4D6B-9533-9467B80703DB}" type="slidenum">
              <a:rPr lang="en-US" smtClean="0">
                <a:latin typeface="Helvetica"/>
              </a:rPr>
              <a:pPr>
                <a:defRPr/>
              </a:pPr>
              <a:t>3</a:t>
            </a:fld>
            <a:endParaRPr lang="en-US" dirty="0" smtClean="0">
              <a:latin typeface="Helvetica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145088" y="1473200"/>
            <a:ext cx="2398712" cy="762000"/>
            <a:chOff x="5105400" y="2133600"/>
            <a:chExt cx="2399879" cy="762000"/>
          </a:xfrm>
        </p:grpSpPr>
        <p:sp>
          <p:nvSpPr>
            <p:cNvPr id="6" name="Right Brace 5"/>
            <p:cNvSpPr/>
            <p:nvPr/>
          </p:nvSpPr>
          <p:spPr>
            <a:xfrm>
              <a:off x="5105400" y="2133600"/>
              <a:ext cx="152474" cy="7620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8469" name="TextBox 4"/>
            <p:cNvSpPr txBox="1">
              <a:spLocks noChangeArrowheads="1"/>
            </p:cNvSpPr>
            <p:nvPr/>
          </p:nvSpPr>
          <p:spPr bwMode="auto">
            <a:xfrm>
              <a:off x="5334000" y="2286000"/>
              <a:ext cx="217127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dirty="0">
                  <a:solidFill>
                    <a:schemeClr val="tx1"/>
                  </a:solidFill>
                  <a:latin typeface="Calibri" pitchFamily="34" charset="0"/>
                </a:rPr>
                <a:t>communication</a:t>
              </a:r>
            </a:p>
          </p:txBody>
        </p:sp>
      </p:grp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41338" y="2287588"/>
            <a:ext cx="8001000" cy="3079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 marL="285750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r>
              <a:rPr lang="en-US" sz="2400" b="0" kern="0" dirty="0" err="1">
                <a:solidFill>
                  <a:schemeClr val="tx1"/>
                </a:solidFill>
                <a:latin typeface="+mn-lt"/>
                <a:cs typeface="+mn-cs"/>
              </a:rPr>
              <a:t>Time_per_flop</a:t>
            </a:r>
            <a:r>
              <a:rPr lang="en-US" sz="2400" b="0" kern="0" dirty="0">
                <a:solidFill>
                  <a:schemeClr val="tx1"/>
                </a:solidFill>
                <a:latin typeface="+mn-lt"/>
                <a:cs typeface="+mn-cs"/>
              </a:rPr>
              <a:t>  &lt;&lt;  1/ bandwidth  &lt;&lt;  latency</a:t>
            </a:r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r>
              <a:rPr lang="en-US" sz="2400" b="0" kern="0" dirty="0">
                <a:solidFill>
                  <a:schemeClr val="tx1"/>
                </a:solidFill>
                <a:latin typeface="+mn-lt"/>
                <a:cs typeface="+mn-cs"/>
              </a:rPr>
              <a:t>Gaps growing exponentially with </a:t>
            </a:r>
            <a:r>
              <a:rPr lang="en-US" sz="2400" b="0" kern="0" dirty="0" smtClean="0">
                <a:solidFill>
                  <a:schemeClr val="tx1"/>
                </a:solidFill>
                <a:latin typeface="+mn-lt"/>
                <a:cs typeface="+mn-cs"/>
              </a:rPr>
              <a:t>time [FOSC</a:t>
            </a:r>
            <a:r>
              <a:rPr lang="en-US" sz="2400" kern="0" dirty="0" smtClean="0"/>
              <a:t>]</a:t>
            </a:r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endParaRPr lang="en-US" sz="2400" b="0" kern="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endParaRPr lang="en-US" sz="2400" kern="0" dirty="0" smtClean="0"/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endParaRPr lang="en-US" sz="2400" b="0" kern="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endParaRPr lang="en-US" sz="2400" kern="0" dirty="0" smtClean="0"/>
          </a:p>
          <a:p>
            <a:pPr marL="285750" indent="-285750" eaLnBrk="0" hangingPunct="0">
              <a:spcBef>
                <a:spcPct val="20000"/>
              </a:spcBef>
              <a:buSzPct val="100000"/>
              <a:buFont typeface="Arial" pitchFamily="34" charset="0"/>
              <a:buChar char="•"/>
              <a:defRPr/>
            </a:pPr>
            <a:r>
              <a:rPr lang="en-US" sz="2400" b="0" kern="0" dirty="0" smtClean="0">
                <a:solidFill>
                  <a:schemeClr val="tx1"/>
                </a:solidFill>
                <a:latin typeface="+mn-lt"/>
                <a:cs typeface="+mn-cs"/>
              </a:rPr>
              <a:t>Avoid communication to save time</a:t>
            </a:r>
            <a:endParaRPr lang="en-US" sz="2400" b="0" kern="0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279" y="7010400"/>
            <a:ext cx="8534400" cy="1750223"/>
            <a:chOff x="541338" y="4486791"/>
            <a:chExt cx="8534400" cy="1749582"/>
          </a:xfrm>
        </p:grpSpPr>
        <p:sp>
          <p:nvSpPr>
            <p:cNvPr id="9" name="Content Placeholder 2"/>
            <p:cNvSpPr txBox="1">
              <a:spLocks/>
            </p:cNvSpPr>
            <p:nvPr/>
          </p:nvSpPr>
          <p:spPr bwMode="auto">
            <a:xfrm>
              <a:off x="541338" y="4486791"/>
              <a:ext cx="8534400" cy="17495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3500" tIns="25400" rIns="63500" bIns="25400">
              <a:spAutoFit/>
            </a:bodyPr>
            <a:lstStyle/>
            <a:p>
              <a:pPr marL="342900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 typeface="Arial" pitchFamily="34" charset="0"/>
                <a:buChar char="•"/>
                <a:defRPr/>
              </a:pPr>
              <a:r>
                <a:rPr lang="en-US" sz="2400" b="0" kern="0" dirty="0">
                  <a:solidFill>
                    <a:schemeClr val="tx1"/>
                  </a:solidFill>
                  <a:latin typeface="+mn-lt"/>
                  <a:cs typeface="+mn-cs"/>
                </a:rPr>
                <a:t>Goal : reorganize </a:t>
              </a:r>
              <a:r>
                <a:rPr lang="en-US" sz="2400" kern="0" dirty="0" smtClean="0"/>
                <a:t>algorithms</a:t>
              </a:r>
              <a:r>
                <a:rPr lang="en-US" sz="2400" b="0" kern="0" dirty="0" smtClean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2400" b="0" kern="0" dirty="0">
                  <a:solidFill>
                    <a:schemeClr val="tx1"/>
                  </a:solidFill>
                  <a:latin typeface="+mn-lt"/>
                  <a:cs typeface="+mn-cs"/>
                </a:rPr>
                <a:t>to </a:t>
              </a:r>
              <a:r>
                <a:rPr lang="en-US" sz="2400" b="0" i="1" kern="0" dirty="0">
                  <a:solidFill>
                    <a:schemeClr val="tx1"/>
                  </a:solidFill>
                  <a:latin typeface="+mn-lt"/>
                  <a:cs typeface="+mn-cs"/>
                </a:rPr>
                <a:t>avoid</a:t>
              </a:r>
              <a:r>
                <a:rPr lang="en-US" sz="2400" b="0" kern="0" dirty="0">
                  <a:solidFill>
                    <a:schemeClr val="tx1"/>
                  </a:solidFill>
                  <a:latin typeface="+mn-lt"/>
                  <a:cs typeface="+mn-cs"/>
                </a:rPr>
                <a:t> communication</a:t>
              </a:r>
            </a:p>
            <a:p>
              <a:pPr marL="800100" lvl="1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b="0" kern="0" dirty="0">
                  <a:solidFill>
                    <a:schemeClr val="tx1"/>
                  </a:solidFill>
                  <a:latin typeface="+mn-lt"/>
                  <a:cs typeface="+mn-cs"/>
                </a:rPr>
                <a:t>Between all memory hierarchy levels </a:t>
              </a:r>
            </a:p>
            <a:p>
              <a:pPr marL="1257300" lvl="2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b="0" kern="0" dirty="0">
                  <a:solidFill>
                    <a:schemeClr val="tx1"/>
                  </a:solidFill>
                  <a:latin typeface="+mn-lt"/>
                  <a:cs typeface="+mn-cs"/>
                </a:rPr>
                <a:t>L1         L2         DRAM          network,  etc </a:t>
              </a:r>
            </a:p>
            <a:p>
              <a:pPr marL="800100" lvl="1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kern="0" dirty="0" smtClean="0"/>
                <a:t>Very large</a:t>
              </a:r>
              <a:r>
                <a:rPr lang="en-US" b="0" kern="0" dirty="0" smtClean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b="0" kern="0" dirty="0">
                  <a:solidFill>
                    <a:schemeClr val="tx1"/>
                  </a:solidFill>
                  <a:latin typeface="+mn-lt"/>
                  <a:cs typeface="+mn-cs"/>
                </a:rPr>
                <a:t>speedups </a:t>
              </a:r>
              <a:r>
                <a:rPr lang="en-US" b="0" kern="0" dirty="0" smtClean="0">
                  <a:solidFill>
                    <a:schemeClr val="tx1"/>
                  </a:solidFill>
                  <a:latin typeface="+mn-lt"/>
                  <a:cs typeface="+mn-cs"/>
                </a:rPr>
                <a:t>possible</a:t>
              </a:r>
            </a:p>
            <a:p>
              <a:pPr marL="800100" lvl="1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sz="1800" kern="0" dirty="0" smtClean="0"/>
                <a:t>Energy savings too!</a:t>
              </a:r>
              <a:endParaRPr lang="en-US" sz="1800" b="0" kern="0" dirty="0">
                <a:solidFill>
                  <a:srgbClr val="000099"/>
                </a:solidFill>
                <a:latin typeface="+mn-lt"/>
                <a:cs typeface="+mn-cs"/>
              </a:endParaRPr>
            </a:p>
          </p:txBody>
        </p:sp>
        <p:cxnSp>
          <p:nvCxnSpPr>
            <p:cNvPr id="18465" name="Straight Arrow Connector 10"/>
            <p:cNvCxnSpPr>
              <a:cxnSpLocks noChangeShapeType="1"/>
            </p:cNvCxnSpPr>
            <p:nvPr/>
          </p:nvCxnSpPr>
          <p:spPr bwMode="auto">
            <a:xfrm>
              <a:off x="2041525" y="5418312"/>
              <a:ext cx="430212" cy="15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18466" name="Straight Arrow Connector 11"/>
            <p:cNvCxnSpPr>
              <a:cxnSpLocks noChangeShapeType="1"/>
            </p:cNvCxnSpPr>
            <p:nvPr/>
          </p:nvCxnSpPr>
          <p:spPr bwMode="auto">
            <a:xfrm>
              <a:off x="2727325" y="5419899"/>
              <a:ext cx="430213" cy="158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18467" name="Straight Arrow Connector 11"/>
            <p:cNvCxnSpPr>
              <a:cxnSpLocks noChangeShapeType="1"/>
            </p:cNvCxnSpPr>
            <p:nvPr/>
          </p:nvCxnSpPr>
          <p:spPr bwMode="auto">
            <a:xfrm>
              <a:off x="3870325" y="5419899"/>
              <a:ext cx="430212" cy="15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</p:grp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285875" y="3217863"/>
          <a:ext cx="665298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3245"/>
                <a:gridCol w="1663245"/>
                <a:gridCol w="1663245"/>
                <a:gridCol w="1663245"/>
              </a:tblGrid>
              <a:tr h="344034">
                <a:tc gridSpan="4">
                  <a:txBody>
                    <a:bodyPr/>
                    <a:lstStyle/>
                    <a:p>
                      <a:pPr algn="ctr"/>
                      <a:r>
                        <a:rPr lang="en-US" baseline="0" dirty="0" smtClean="0"/>
                        <a:t>Annual improvements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196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Time_per_flop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Bandwidth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Latency</a:t>
                      </a:r>
                      <a:endParaRPr lang="en-US" dirty="0"/>
                    </a:p>
                  </a:txBody>
                  <a:tcPr/>
                </a:tc>
              </a:tr>
              <a:tr h="229196">
                <a:tc row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Network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26%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15%</a:t>
                      </a:r>
                      <a:endParaRPr lang="en-US" dirty="0"/>
                    </a:p>
                  </a:txBody>
                  <a:tcPr/>
                </a:tc>
              </a:tr>
              <a:tr h="22919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787525" y="4137025"/>
            <a:ext cx="64611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0">
                <a:solidFill>
                  <a:schemeClr val="tx1"/>
                </a:solidFill>
              </a:rPr>
              <a:t>59%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81000" y="68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1914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Minimize Communication? (2/</a:t>
            </a:r>
            <a:r>
              <a:rPr lang="en-US" dirty="0"/>
              <a:t>2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941024"/>
              </p:ext>
            </p:extLst>
          </p:nvPr>
        </p:nvGraphicFramePr>
        <p:xfrm>
          <a:off x="9296400" y="14478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172200" y="6172200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Source: John </a:t>
            </a:r>
            <a:r>
              <a:rPr lang="en-US" dirty="0" err="1" smtClean="0"/>
              <a:t>Shalf</a:t>
            </a:r>
            <a:r>
              <a:rPr lang="en-US" dirty="0" smtClean="0"/>
              <a:t>, LBL</a:t>
            </a:r>
            <a:endParaRPr lang="en-US" dirty="0"/>
          </a:p>
        </p:txBody>
      </p:sp>
      <p:pic>
        <p:nvPicPr>
          <p:cNvPr id="7" name="Picture 6" descr="shalf_energy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8" y="1390889"/>
            <a:ext cx="9132142" cy="546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3910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Minimize Communication? (2/</a:t>
            </a:r>
            <a:r>
              <a:rPr lang="en-US" dirty="0"/>
              <a:t>2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657004"/>
              </p:ext>
            </p:extLst>
          </p:nvPr>
        </p:nvGraphicFramePr>
        <p:xfrm>
          <a:off x="9296400" y="14478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172200" y="6172200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Source: John </a:t>
            </a:r>
            <a:r>
              <a:rPr lang="en-US" dirty="0" err="1" smtClean="0"/>
              <a:t>Shalf</a:t>
            </a:r>
            <a:r>
              <a:rPr lang="en-US" dirty="0" smtClean="0"/>
              <a:t>, LBL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133600" y="762000"/>
            <a:ext cx="5262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Minimize communication to save energy</a:t>
            </a:r>
            <a:endParaRPr lang="en-US" sz="2400" dirty="0"/>
          </a:p>
        </p:txBody>
      </p:sp>
      <p:pic>
        <p:nvPicPr>
          <p:cNvPr id="5" name="Picture 4" descr="shalf_annot_energy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3049"/>
            <a:ext cx="9124918" cy="547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4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1" y="152400"/>
            <a:ext cx="8229600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Goals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53263" y="6299200"/>
            <a:ext cx="1905000" cy="457200"/>
          </a:xfrm>
        </p:spPr>
        <p:txBody>
          <a:bodyPr/>
          <a:lstStyle/>
          <a:p>
            <a:pPr>
              <a:defRPr/>
            </a:pPr>
            <a:fld id="{096107BD-A7FD-4D6B-9533-9467B80703DB}" type="slidenum">
              <a:rPr lang="en-US" smtClean="0">
                <a:latin typeface="Helvetica"/>
              </a:rPr>
              <a:pPr>
                <a:defRPr/>
              </a:pPr>
              <a:t>6</a:t>
            </a:fld>
            <a:endParaRPr lang="en-US" dirty="0" smtClean="0">
              <a:latin typeface="Helvetica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52400" y="1447800"/>
            <a:ext cx="8893039" cy="3633815"/>
            <a:chOff x="32624" y="4486791"/>
            <a:chExt cx="9263965" cy="3632480"/>
          </a:xfrm>
        </p:grpSpPr>
        <p:sp>
          <p:nvSpPr>
            <p:cNvPr id="9" name="Content Placeholder 2"/>
            <p:cNvSpPr txBox="1">
              <a:spLocks/>
            </p:cNvSpPr>
            <p:nvPr/>
          </p:nvSpPr>
          <p:spPr bwMode="auto">
            <a:xfrm>
              <a:off x="32624" y="4486791"/>
              <a:ext cx="9263965" cy="3632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63500" tIns="25400" rIns="63500" bIns="25400">
              <a:spAutoFit/>
            </a:bodyPr>
            <a:lstStyle/>
            <a:p>
              <a:pPr marL="342900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 typeface="Arial" pitchFamily="34" charset="0"/>
                <a:buChar char="•"/>
                <a:defRPr/>
              </a:pPr>
              <a:r>
                <a:rPr lang="en-US" sz="3600" kern="0" dirty="0" smtClean="0"/>
                <a:t>R</a:t>
              </a:r>
              <a:r>
                <a:rPr lang="en-US" sz="3600" b="0" kern="0" dirty="0" smtClean="0">
                  <a:solidFill>
                    <a:schemeClr val="tx1"/>
                  </a:solidFill>
                </a:rPr>
                <a:t>edesign </a:t>
              </a:r>
              <a:r>
                <a:rPr lang="en-US" sz="3600" kern="0" dirty="0" smtClean="0"/>
                <a:t>algorithms</a:t>
              </a:r>
              <a:r>
                <a:rPr lang="en-US" sz="3600" b="0" kern="0" dirty="0" smtClean="0">
                  <a:solidFill>
                    <a:schemeClr val="tx1"/>
                  </a:solidFill>
                </a:rPr>
                <a:t> to </a:t>
              </a:r>
              <a:r>
                <a:rPr lang="en-US" sz="3600" b="0" i="1" kern="0" dirty="0" smtClean="0">
                  <a:solidFill>
                    <a:schemeClr val="tx1"/>
                  </a:solidFill>
                </a:rPr>
                <a:t>avoid </a:t>
              </a:r>
              <a:r>
                <a:rPr lang="en-US" sz="3600" b="0" kern="0" dirty="0" smtClean="0">
                  <a:solidFill>
                    <a:schemeClr val="tx1"/>
                  </a:solidFill>
                </a:rPr>
                <a:t>communication</a:t>
              </a:r>
              <a:endParaRPr lang="en-US" sz="3600" b="0" kern="0" dirty="0">
                <a:solidFill>
                  <a:schemeClr val="tx1"/>
                </a:solidFill>
              </a:endParaRPr>
            </a:p>
            <a:p>
              <a:pPr marL="800100" lvl="1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sz="3200" b="0" kern="0" dirty="0">
                  <a:solidFill>
                    <a:schemeClr val="tx1"/>
                  </a:solidFill>
                </a:rPr>
                <a:t>Between all memory hierarchy levels </a:t>
              </a:r>
            </a:p>
            <a:p>
              <a:pPr marL="1257300" lvl="2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sz="3200" b="0" kern="0" dirty="0">
                  <a:solidFill>
                    <a:schemeClr val="tx1"/>
                  </a:solidFill>
                </a:rPr>
                <a:t>L1         L2         DRAM          network,  </a:t>
              </a:r>
              <a:r>
                <a:rPr lang="en-US" sz="3200" b="0" kern="0" dirty="0" err="1">
                  <a:solidFill>
                    <a:schemeClr val="tx1"/>
                  </a:solidFill>
                </a:rPr>
                <a:t>etc</a:t>
              </a:r>
              <a:r>
                <a:rPr lang="en-US" sz="3200" b="0" kern="0" dirty="0">
                  <a:solidFill>
                    <a:schemeClr val="tx1"/>
                  </a:solidFill>
                </a:rPr>
                <a:t> </a:t>
              </a:r>
              <a:endParaRPr lang="en-US" sz="3200" b="0" kern="0" dirty="0" smtClean="0">
                <a:solidFill>
                  <a:schemeClr val="tx1"/>
                </a:solidFill>
              </a:endParaRPr>
            </a:p>
            <a:p>
              <a:pPr marL="342900" indent="-342900" eaLnBrk="0" hangingPunct="0">
                <a:spcBef>
                  <a:spcPct val="20000"/>
                </a:spcBef>
                <a:buSzPct val="100000"/>
                <a:buFontTx/>
                <a:buChar char="•"/>
                <a:defRPr/>
              </a:pPr>
              <a:r>
                <a:rPr lang="en-US" sz="3600" kern="0" dirty="0" smtClean="0"/>
                <a:t>Attain lower bounds if possible</a:t>
              </a:r>
              <a:endParaRPr lang="en-US" sz="3600" kern="0" dirty="0"/>
            </a:p>
            <a:p>
              <a:pPr marL="800100" lvl="1" indent="-342900" eaLnBrk="0" hangingPunct="0">
                <a:spcBef>
                  <a:spcPct val="20000"/>
                </a:spcBef>
                <a:buSzPct val="100000"/>
                <a:buFontTx/>
                <a:buChar char="•"/>
                <a:defRPr/>
              </a:pPr>
              <a:r>
                <a:rPr lang="en-US" sz="3200" kern="0" dirty="0" smtClean="0"/>
                <a:t>Current algorithms often far from lower bounds</a:t>
              </a:r>
            </a:p>
            <a:p>
              <a:pPr marL="800100" lvl="1" indent="-342900" eaLnBrk="0" hangingPunct="0">
                <a:spcBef>
                  <a:spcPct val="20000"/>
                </a:spcBef>
                <a:buSzPct val="100000"/>
                <a:buFontTx/>
                <a:buChar char="•"/>
                <a:defRPr/>
              </a:pPr>
              <a:r>
                <a:rPr lang="en-US" sz="3200" kern="0" dirty="0"/>
                <a:t>L</a:t>
              </a:r>
              <a:r>
                <a:rPr lang="en-US" sz="3200" kern="0" dirty="0" smtClean="0"/>
                <a:t>arge</a:t>
              </a:r>
              <a:r>
                <a:rPr lang="en-US" sz="3200" b="0" kern="0" dirty="0" smtClean="0">
                  <a:solidFill>
                    <a:schemeClr val="tx1"/>
                  </a:solidFill>
                </a:rPr>
                <a:t> </a:t>
              </a:r>
              <a:r>
                <a:rPr lang="en-US" sz="3200" b="0" kern="0" dirty="0">
                  <a:solidFill>
                    <a:schemeClr val="tx1"/>
                  </a:solidFill>
                </a:rPr>
                <a:t>speedups </a:t>
              </a:r>
              <a:r>
                <a:rPr lang="en-US" sz="3200" b="0" kern="0" dirty="0" smtClean="0">
                  <a:solidFill>
                    <a:schemeClr val="tx1"/>
                  </a:solidFill>
                </a:rPr>
                <a:t>and energy savings possible </a:t>
              </a:r>
            </a:p>
          </p:txBody>
        </p:sp>
        <p:cxnSp>
          <p:nvCxnSpPr>
            <p:cNvPr id="18465" name="Straight Arrow Connector 10"/>
            <p:cNvCxnSpPr>
              <a:cxnSpLocks noChangeShapeType="1"/>
            </p:cNvCxnSpPr>
            <p:nvPr/>
          </p:nvCxnSpPr>
          <p:spPr bwMode="auto">
            <a:xfrm>
              <a:off x="1937703" y="6008644"/>
              <a:ext cx="430212" cy="15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18466" name="Straight Arrow Connector 11"/>
            <p:cNvCxnSpPr>
              <a:cxnSpLocks noChangeShapeType="1"/>
            </p:cNvCxnSpPr>
            <p:nvPr/>
          </p:nvCxnSpPr>
          <p:spPr bwMode="auto">
            <a:xfrm>
              <a:off x="3253812" y="6008643"/>
              <a:ext cx="430213" cy="158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18467" name="Straight Arrow Connector 11"/>
            <p:cNvCxnSpPr>
              <a:cxnSpLocks noChangeShapeType="1"/>
            </p:cNvCxnSpPr>
            <p:nvPr/>
          </p:nvCxnSpPr>
          <p:spPr bwMode="auto">
            <a:xfrm>
              <a:off x="5238270" y="6008644"/>
              <a:ext cx="430212" cy="15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</p:grpSp>
      <p:cxnSp>
        <p:nvCxnSpPr>
          <p:cNvPr id="16" name="Straight Connector 15"/>
          <p:cNvCxnSpPr/>
          <p:nvPr/>
        </p:nvCxnSpPr>
        <p:spPr>
          <a:xfrm>
            <a:off x="381000" y="68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6923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600201"/>
            <a:ext cx="86106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/>
              <a:t>“New Algorithm Improves Performance and Accuracy on Extreme-Scale Computing Systems. </a:t>
            </a:r>
            <a:r>
              <a:rPr lang="en-US" sz="2200" b="1" dirty="0" smtClean="0"/>
              <a:t>On modern computer architectures, communication between processors takes longer than the performance of a floating point arithmetic operation by a given processor. </a:t>
            </a:r>
            <a:r>
              <a:rPr lang="en-US" sz="2200" dirty="0" smtClean="0"/>
              <a:t>ASCR researchers have developed a new method, derived from commonly used linear algebra methods, to </a:t>
            </a:r>
            <a:r>
              <a:rPr lang="en-US" sz="2200" b="1" dirty="0" smtClean="0"/>
              <a:t>minimize communications between processors and the memory hierarchy, by reformulating the communication patterns specified within the algorithm</a:t>
            </a:r>
            <a:r>
              <a:rPr lang="en-US" sz="2200" dirty="0" smtClean="0"/>
              <a:t>. This method has been implemented in the TRILINOS framework, a highly-regarded suite of software, which provides functionality for researchers around the world to solve large scale, complex multi-physics problems.”</a:t>
            </a:r>
          </a:p>
          <a:p>
            <a:endParaRPr lang="en-US" sz="2000" dirty="0" smtClean="0"/>
          </a:p>
          <a:p>
            <a:pPr algn="r"/>
            <a:r>
              <a:rPr lang="en-US" sz="1600" dirty="0" smtClean="0"/>
              <a:t>FY 2010 Congressional Budget, Volume 4, FY2010 Accomplishments, Advanced Scientific Computing Research (ASCR), pages 65-67.</a:t>
            </a:r>
            <a:endParaRPr lang="en-US" sz="1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President Obama cites Communication-Avoiding Algorithms in the FY 2012 Department of Energy Budget Request to Congress: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5943600"/>
            <a:ext cx="49530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CA-GMRES (</a:t>
            </a:r>
            <a:r>
              <a:rPr lang="en-US" sz="1600" b="1" dirty="0" err="1" smtClean="0"/>
              <a:t>Hoemmen</a:t>
            </a:r>
            <a:r>
              <a:rPr lang="en-US" sz="1600" b="1" dirty="0" smtClean="0"/>
              <a:t>, </a:t>
            </a:r>
            <a:r>
              <a:rPr lang="en-US" sz="1600" b="1" dirty="0" err="1" smtClean="0"/>
              <a:t>Mohiyuddin</a:t>
            </a:r>
            <a:r>
              <a:rPr lang="en-US" sz="1600" b="1" dirty="0" smtClean="0"/>
              <a:t>, </a:t>
            </a:r>
            <a:r>
              <a:rPr lang="en-US" sz="1600" b="1" dirty="0" err="1" smtClean="0"/>
              <a:t>Yelick</a:t>
            </a:r>
            <a:r>
              <a:rPr lang="en-US" sz="1600" b="1" dirty="0" smtClean="0"/>
              <a:t>, JD)</a:t>
            </a:r>
          </a:p>
          <a:p>
            <a:pPr algn="ctr"/>
            <a:r>
              <a:rPr lang="en-US" sz="1600" b="1" dirty="0" smtClean="0"/>
              <a:t>“Tall-Skinny” QR (</a:t>
            </a:r>
            <a:r>
              <a:rPr lang="en-US" sz="1600" b="1" dirty="0" err="1" smtClean="0"/>
              <a:t>Grigori</a:t>
            </a:r>
            <a:r>
              <a:rPr lang="en-US" sz="1600" b="1" dirty="0" smtClean="0"/>
              <a:t>, </a:t>
            </a:r>
            <a:r>
              <a:rPr lang="en-US" sz="1600" b="1" dirty="0" err="1" smtClean="0"/>
              <a:t>Hoemmen</a:t>
            </a:r>
            <a:r>
              <a:rPr lang="en-US" sz="1600" b="1" dirty="0" smtClean="0"/>
              <a:t>, </a:t>
            </a:r>
            <a:r>
              <a:rPr lang="en-US" sz="1600" b="1" dirty="0" err="1" smtClean="0"/>
              <a:t>Langou</a:t>
            </a:r>
            <a:r>
              <a:rPr lang="en-US" sz="1600" b="1" dirty="0" smtClean="0"/>
              <a:t>,  JD)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rot="16200000" flipV="1">
            <a:off x="1790700" y="5067300"/>
            <a:ext cx="1676400" cy="76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Collaborators and Supporters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7630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Michael Christ, Jack </a:t>
            </a:r>
            <a:r>
              <a:rPr lang="en-US" dirty="0" err="1" smtClean="0"/>
              <a:t>Dongarra</a:t>
            </a:r>
            <a:r>
              <a:rPr lang="en-US" dirty="0" smtClean="0"/>
              <a:t>, </a:t>
            </a:r>
            <a:r>
              <a:rPr lang="en-US" dirty="0" err="1" smtClean="0"/>
              <a:t>Ioana</a:t>
            </a:r>
            <a:r>
              <a:rPr lang="en-US" dirty="0" smtClean="0"/>
              <a:t> </a:t>
            </a:r>
            <a:r>
              <a:rPr lang="en-US" dirty="0" err="1" smtClean="0"/>
              <a:t>Dumitriu</a:t>
            </a:r>
            <a:r>
              <a:rPr lang="en-US" dirty="0" smtClean="0"/>
              <a:t>, Armando Fox,  David </a:t>
            </a:r>
            <a:r>
              <a:rPr lang="en-US" dirty="0" err="1" smtClean="0"/>
              <a:t>Gleich</a:t>
            </a:r>
            <a:r>
              <a:rPr lang="en-US" dirty="0" smtClean="0"/>
              <a:t>, Laura </a:t>
            </a:r>
            <a:r>
              <a:rPr lang="en-US" dirty="0" err="1" smtClean="0"/>
              <a:t>Grigori</a:t>
            </a:r>
            <a:r>
              <a:rPr lang="en-US" dirty="0" smtClean="0"/>
              <a:t>, Ming </a:t>
            </a:r>
            <a:r>
              <a:rPr lang="en-US" dirty="0" err="1" smtClean="0"/>
              <a:t>Gu</a:t>
            </a:r>
            <a:r>
              <a:rPr lang="en-US" dirty="0" smtClean="0"/>
              <a:t>, Mike </a:t>
            </a:r>
            <a:r>
              <a:rPr lang="en-US" dirty="0" err="1" smtClean="0"/>
              <a:t>Heroux</a:t>
            </a:r>
            <a:r>
              <a:rPr lang="en-US" dirty="0" smtClean="0"/>
              <a:t>, Mark </a:t>
            </a:r>
            <a:r>
              <a:rPr lang="en-US" dirty="0" err="1" smtClean="0"/>
              <a:t>Hoemmen</a:t>
            </a:r>
            <a:r>
              <a:rPr lang="en-US" dirty="0" smtClean="0"/>
              <a:t>, Olga Holtz, Kurt </a:t>
            </a:r>
            <a:r>
              <a:rPr lang="en-US" dirty="0" err="1" smtClean="0"/>
              <a:t>Keutzer</a:t>
            </a:r>
            <a:r>
              <a:rPr lang="en-US" dirty="0" smtClean="0"/>
              <a:t>, </a:t>
            </a:r>
            <a:r>
              <a:rPr lang="en-US" dirty="0" err="1" smtClean="0"/>
              <a:t>Julien</a:t>
            </a:r>
            <a:r>
              <a:rPr lang="en-US" dirty="0" smtClean="0"/>
              <a:t> </a:t>
            </a:r>
            <a:r>
              <a:rPr lang="en-US" dirty="0" err="1" smtClean="0"/>
              <a:t>Langou</a:t>
            </a:r>
            <a:r>
              <a:rPr lang="en-US" dirty="0" smtClean="0"/>
              <a:t>, Tom Scanlon, Michelle </a:t>
            </a:r>
            <a:r>
              <a:rPr lang="en-US" dirty="0" err="1" smtClean="0"/>
              <a:t>Strout</a:t>
            </a:r>
            <a:r>
              <a:rPr lang="en-US" dirty="0" smtClean="0"/>
              <a:t>, Sam Williams,  </a:t>
            </a:r>
            <a:r>
              <a:rPr lang="en-US" dirty="0" err="1" smtClean="0"/>
              <a:t>Hua</a:t>
            </a:r>
            <a:r>
              <a:rPr lang="en-US" dirty="0" smtClean="0"/>
              <a:t> Xiang, Kathy </a:t>
            </a:r>
            <a:r>
              <a:rPr lang="en-US" dirty="0" err="1" smtClean="0"/>
              <a:t>Yelick</a:t>
            </a:r>
            <a:endParaRPr lang="en-US" dirty="0" smtClean="0"/>
          </a:p>
          <a:p>
            <a:r>
              <a:rPr lang="en-US" dirty="0" smtClean="0"/>
              <a:t>Michael Anderson, Grey Ballard, Austin Benson, </a:t>
            </a:r>
            <a:r>
              <a:rPr lang="en-US" dirty="0" err="1" smtClean="0"/>
              <a:t>Abhinav</a:t>
            </a:r>
            <a:r>
              <a:rPr lang="en-US" dirty="0" smtClean="0"/>
              <a:t> </a:t>
            </a:r>
            <a:r>
              <a:rPr lang="en-US" dirty="0" err="1" smtClean="0"/>
              <a:t>Bhatele</a:t>
            </a:r>
            <a:r>
              <a:rPr lang="en-US" dirty="0" smtClean="0"/>
              <a:t>, </a:t>
            </a:r>
            <a:r>
              <a:rPr lang="en-US" dirty="0" err="1" smtClean="0"/>
              <a:t>Aydin</a:t>
            </a:r>
            <a:r>
              <a:rPr lang="en-US" dirty="0" smtClean="0"/>
              <a:t> </a:t>
            </a:r>
            <a:r>
              <a:rPr lang="en-US" dirty="0" err="1" smtClean="0"/>
              <a:t>Buluc</a:t>
            </a:r>
            <a:r>
              <a:rPr lang="en-US" dirty="0" smtClean="0"/>
              <a:t>,   Erin Carson, Maryam </a:t>
            </a:r>
            <a:r>
              <a:rPr lang="en-US" dirty="0" err="1" smtClean="0"/>
              <a:t>Dehnavi</a:t>
            </a:r>
            <a:r>
              <a:rPr lang="en-US" dirty="0" smtClean="0"/>
              <a:t>, Michael Driscoll, </a:t>
            </a:r>
            <a:r>
              <a:rPr lang="en-US" dirty="0" err="1" smtClean="0"/>
              <a:t>Evangelos</a:t>
            </a:r>
            <a:r>
              <a:rPr lang="en-US" dirty="0" smtClean="0"/>
              <a:t> </a:t>
            </a:r>
            <a:r>
              <a:rPr lang="en-US" dirty="0" err="1" smtClean="0"/>
              <a:t>Georganas</a:t>
            </a:r>
            <a:r>
              <a:rPr lang="en-US" dirty="0" smtClean="0"/>
              <a:t>, Nicholas Knight, </a:t>
            </a:r>
            <a:r>
              <a:rPr lang="en-US" dirty="0" err="1" smtClean="0"/>
              <a:t>Penporn</a:t>
            </a:r>
            <a:r>
              <a:rPr lang="en-US" dirty="0" smtClean="0"/>
              <a:t> </a:t>
            </a:r>
            <a:r>
              <a:rPr lang="en-US" dirty="0" err="1" smtClean="0"/>
              <a:t>Koanantakool</a:t>
            </a:r>
            <a:r>
              <a:rPr lang="en-US" dirty="0" smtClean="0"/>
              <a:t>, Ben </a:t>
            </a:r>
            <a:r>
              <a:rPr lang="en-US" dirty="0" err="1" smtClean="0"/>
              <a:t>Lipshitz</a:t>
            </a:r>
            <a:r>
              <a:rPr lang="en-US" dirty="0" smtClean="0"/>
              <a:t>, </a:t>
            </a:r>
            <a:r>
              <a:rPr lang="en-US" dirty="0" err="1" smtClean="0"/>
              <a:t>Marghoob</a:t>
            </a:r>
            <a:r>
              <a:rPr lang="en-US" dirty="0" smtClean="0"/>
              <a:t> </a:t>
            </a:r>
            <a:r>
              <a:rPr lang="en-US" dirty="0" err="1" smtClean="0"/>
              <a:t>Mohiyuddin</a:t>
            </a:r>
            <a:r>
              <a:rPr lang="en-US" dirty="0" smtClean="0"/>
              <a:t>,  </a:t>
            </a:r>
            <a:r>
              <a:rPr lang="en-US" dirty="0" err="1" smtClean="0"/>
              <a:t>Oded</a:t>
            </a:r>
            <a:r>
              <a:rPr lang="en-US" dirty="0" smtClean="0"/>
              <a:t> Schwartz, Edgar </a:t>
            </a:r>
            <a:r>
              <a:rPr lang="en-US" dirty="0" err="1" smtClean="0"/>
              <a:t>Solomonik</a:t>
            </a:r>
            <a:endParaRPr lang="en-US" dirty="0" smtClean="0"/>
          </a:p>
          <a:p>
            <a:r>
              <a:rPr lang="en-US" dirty="0" smtClean="0"/>
              <a:t>Other members of </a:t>
            </a:r>
            <a:r>
              <a:rPr lang="en-US" dirty="0" err="1" smtClean="0"/>
              <a:t>ParLab</a:t>
            </a:r>
            <a:r>
              <a:rPr lang="en-US" dirty="0"/>
              <a:t>, BEBOP, CACHE, EASI</a:t>
            </a:r>
            <a:r>
              <a:rPr lang="en-US" dirty="0" smtClean="0"/>
              <a:t>, </a:t>
            </a:r>
            <a:r>
              <a:rPr lang="en-US" dirty="0" err="1" smtClean="0"/>
              <a:t>FASTMath</a:t>
            </a:r>
            <a:r>
              <a:rPr lang="en-US" dirty="0" smtClean="0"/>
              <a:t>, </a:t>
            </a:r>
            <a:r>
              <a:rPr lang="en-US" dirty="0"/>
              <a:t>MAGMA, PLASMA, TOPS </a:t>
            </a:r>
            <a:r>
              <a:rPr lang="en-US" dirty="0" smtClean="0"/>
              <a:t>projects</a:t>
            </a:r>
          </a:p>
          <a:p>
            <a:endParaRPr lang="en-US" dirty="0" smtClean="0"/>
          </a:p>
          <a:p>
            <a:r>
              <a:rPr lang="en-US" dirty="0" smtClean="0"/>
              <a:t>Thanks to NSF, </a:t>
            </a:r>
            <a:r>
              <a:rPr lang="en-US" dirty="0"/>
              <a:t>DOE, UC </a:t>
            </a:r>
            <a:r>
              <a:rPr lang="en-US" dirty="0" smtClean="0"/>
              <a:t>Discovery, Intel</a:t>
            </a:r>
            <a:r>
              <a:rPr lang="en-US" dirty="0"/>
              <a:t>, Microsoft, </a:t>
            </a:r>
            <a:r>
              <a:rPr lang="en-US" dirty="0" err="1"/>
              <a:t>Mathworks</a:t>
            </a:r>
            <a:r>
              <a:rPr lang="en-US" dirty="0"/>
              <a:t>, National Instruments, NEC, Nokia, NVIDIA, Samsung, </a:t>
            </a:r>
            <a:r>
              <a:rPr lang="en-US" dirty="0" smtClean="0"/>
              <a:t>Oracle </a:t>
            </a:r>
          </a:p>
          <a:p>
            <a:endParaRPr lang="en-US" dirty="0"/>
          </a:p>
          <a:p>
            <a:r>
              <a:rPr lang="en-US" dirty="0" err="1"/>
              <a:t>b</a:t>
            </a:r>
            <a:r>
              <a:rPr lang="en-US" dirty="0" err="1" smtClean="0"/>
              <a:t>ebop.cs.berkeley.edu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1197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CA Algorithms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2400" y="1371600"/>
            <a:ext cx="8991600" cy="5181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“Direct” Linear Algebra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Lower bounds on 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communication for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linear algebra problems like Ax=b, least squares, Ax = </a:t>
            </a:r>
            <a:r>
              <a:rPr kumimoji="0" lang="el-G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λ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SVD, etc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smtClean="0"/>
              <a:t>New a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lgorithms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that attain these lower bounds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800" dirty="0" smtClean="0"/>
              <a:t>Being added to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libraries: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/LAPACK,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PLASMA, MAGMA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Large speed-ups possible</a:t>
            </a:r>
          </a:p>
          <a:p>
            <a:pPr marL="685800" lvl="1" indent="-2286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err="1" smtClean="0"/>
              <a:t>Autotuning</a:t>
            </a:r>
            <a:r>
              <a:rPr lang="en-US" sz="2800" dirty="0" smtClean="0"/>
              <a:t> to find optimal implementation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Ditto for “Iterative” Linear Algebra 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dirty="0"/>
              <a:t>Ditto (work in progress) for programs accessing arrays </a:t>
            </a:r>
            <a:r>
              <a:rPr lang="en-US" sz="3200" dirty="0" smtClean="0"/>
              <a:t>(</a:t>
            </a:r>
            <a:r>
              <a:rPr lang="en-US" sz="3200" dirty="0" err="1" smtClean="0"/>
              <a:t>eg</a:t>
            </a:r>
            <a:r>
              <a:rPr lang="en-US" sz="3200" dirty="0" smtClean="0"/>
              <a:t> n-body)</a:t>
            </a:r>
            <a:endParaRPr lang="en-US" sz="32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1143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0745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2400" y="1371600"/>
            <a:ext cx="8991600" cy="5181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“Direct” Linear Algebra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Lower bounds on 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communication 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smtClean="0"/>
              <a:t>New a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lgorithms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that attain these lower bounds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Ditto for “Iterative” Linear Algebra 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dirty="0"/>
              <a:t>Ditto (work in progress) for programs accessing arrays </a:t>
            </a:r>
            <a:r>
              <a:rPr lang="en-US" sz="3200" dirty="0" smtClean="0"/>
              <a:t>(</a:t>
            </a:r>
            <a:r>
              <a:rPr lang="en-US" sz="3200" dirty="0" err="1" smtClean="0"/>
              <a:t>eg</a:t>
            </a:r>
            <a:r>
              <a:rPr lang="en-US" sz="3200" dirty="0" smtClean="0"/>
              <a:t> n-body)</a:t>
            </a:r>
            <a:endParaRPr lang="en-US" sz="32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1143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8011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2400" y="1371600"/>
            <a:ext cx="8991600" cy="5181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“Direct” Linear Algebra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Lower bounds on 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communication 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smtClean="0"/>
              <a:t>New a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lgorithms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that attain these lower bounds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Ditto for “Iterative” Linear Algebra 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Ditto (work in progress) for programs accessing arrays </a:t>
            </a:r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3200" dirty="0" err="1" smtClean="0">
                <a:solidFill>
                  <a:schemeClr val="bg1">
                    <a:lumMod val="50000"/>
                  </a:schemeClr>
                </a:solidFill>
              </a:rPr>
              <a:t>eg</a:t>
            </a:r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 n-body)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1143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012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04800" y="306388"/>
            <a:ext cx="8458199" cy="425450"/>
          </a:xfrm>
        </p:spPr>
        <p:txBody>
          <a:bodyPr>
            <a:noAutofit/>
          </a:bodyPr>
          <a:lstStyle/>
          <a:p>
            <a:r>
              <a:rPr lang="en-US" sz="3600" dirty="0" smtClean="0"/>
              <a:t>Lower bound for all “direct” linear algebra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3733800"/>
            <a:ext cx="8001000" cy="285273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Holds for</a:t>
            </a:r>
          </a:p>
          <a:p>
            <a:pPr lvl="1"/>
            <a:r>
              <a:rPr lang="en-US" dirty="0" err="1" smtClean="0"/>
              <a:t>Matmul</a:t>
            </a:r>
            <a:r>
              <a:rPr lang="en-US" dirty="0" smtClean="0"/>
              <a:t>, BLAS, LU, QR, </a:t>
            </a:r>
            <a:r>
              <a:rPr lang="en-US" dirty="0" err="1" smtClean="0"/>
              <a:t>eig</a:t>
            </a:r>
            <a:r>
              <a:rPr lang="en-US" dirty="0" smtClean="0"/>
              <a:t>, SVD, tensor contractions, …</a:t>
            </a:r>
          </a:p>
          <a:p>
            <a:pPr lvl="1"/>
            <a:r>
              <a:rPr lang="en-US" dirty="0" smtClean="0"/>
              <a:t>Some whole programs (sequences of  these operations, no matter how individual ops are interleaved, </a:t>
            </a:r>
            <a:r>
              <a:rPr lang="en-US" dirty="0" err="1" smtClean="0"/>
              <a:t>eg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30000" dirty="0" err="1" smtClean="0"/>
              <a:t>k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Dense and sparse matrices (where #flops  &lt;&lt;  n</a:t>
            </a:r>
            <a:r>
              <a:rPr lang="en-US" baseline="30000" dirty="0" smtClean="0"/>
              <a:t>3</a:t>
            </a:r>
            <a:r>
              <a:rPr lang="en-US" dirty="0" smtClean="0"/>
              <a:t> )</a:t>
            </a:r>
          </a:p>
          <a:p>
            <a:pPr lvl="1"/>
            <a:r>
              <a:rPr lang="en-US" dirty="0" smtClean="0"/>
              <a:t>Sequential and parallel algorithms</a:t>
            </a:r>
          </a:p>
          <a:p>
            <a:pPr lvl="1"/>
            <a:r>
              <a:rPr lang="en-US" dirty="0" smtClean="0"/>
              <a:t>Some graph-theoretic algorithms (</a:t>
            </a:r>
            <a:r>
              <a:rPr lang="en-US" dirty="0" err="1" smtClean="0"/>
              <a:t>eg</a:t>
            </a:r>
            <a:r>
              <a:rPr lang="en-US" dirty="0" smtClean="0"/>
              <a:t> Floyd-</a:t>
            </a:r>
            <a:r>
              <a:rPr lang="en-US" dirty="0" err="1" smtClean="0"/>
              <a:t>Warshall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DBBDDB-A7BB-4482-834E-2EFCD62CAAF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0485" name="TextBox 5"/>
          <p:cNvSpPr txBox="1">
            <a:spLocks noChangeArrowheads="1"/>
          </p:cNvSpPr>
          <p:nvPr/>
        </p:nvSpPr>
        <p:spPr bwMode="auto">
          <a:xfrm>
            <a:off x="457200" y="731839"/>
            <a:ext cx="86868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>
              <a:buFont typeface="Arial" pitchFamily="34" charset="0"/>
              <a:buChar char="•"/>
            </a:pP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  Let </a:t>
            </a:r>
            <a:r>
              <a:rPr lang="en-US" sz="2800" b="0" dirty="0">
                <a:solidFill>
                  <a:schemeClr val="tx1"/>
                </a:solidFill>
                <a:sym typeface="Symbol" pitchFamily="18" charset="2"/>
              </a:rPr>
              <a:t>M = “fast” memory size </a:t>
            </a: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(per processor)</a:t>
            </a:r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words_moved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olidFill>
                  <a:schemeClr val="tx1"/>
                </a:solidFill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</a:t>
            </a:r>
            <a:r>
              <a:rPr lang="en-US" sz="2400" b="1" dirty="0" smtClean="0">
                <a:sym typeface="Symbol" pitchFamily="18" charset="2"/>
              </a:rPr>
              <a:t>per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messages_sent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rgbClr val="FF0000"/>
                </a:solidFill>
                <a:sym typeface="Symbol" pitchFamily="18" charset="2"/>
              </a:rPr>
              <a:t>3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 smtClean="0">
              <a:solidFill>
                <a:schemeClr val="tx1"/>
              </a:solidFill>
              <a:sym typeface="Symbol" pitchFamily="18" charset="2"/>
            </a:endParaRPr>
          </a:p>
          <a:p>
            <a:pPr marL="0" lvl="1">
              <a:buFont typeface="Arial" pitchFamily="34" charset="0"/>
              <a:buChar char="•"/>
            </a:pPr>
            <a:r>
              <a:rPr lang="en-US" sz="2400" b="1" dirty="0" smtClean="0">
                <a:sym typeface="Symbol" pitchFamily="18" charset="2"/>
              </a:rPr>
              <a:t>  </a:t>
            </a:r>
            <a:r>
              <a:rPr lang="en-US" sz="2800" dirty="0" smtClean="0">
                <a:sym typeface="Symbol" pitchFamily="18" charset="2"/>
              </a:rPr>
              <a:t>Parallel case: assume either load or memory balanced</a:t>
            </a: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81000" y="762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286000" y="4191000"/>
            <a:ext cx="6705600" cy="2514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14400" y="4648200"/>
            <a:ext cx="6705600" cy="2514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2209800"/>
            <a:ext cx="91440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04800" y="306388"/>
            <a:ext cx="8458199" cy="425450"/>
          </a:xfrm>
        </p:spPr>
        <p:txBody>
          <a:bodyPr>
            <a:noAutofit/>
          </a:bodyPr>
          <a:lstStyle/>
          <a:p>
            <a:r>
              <a:rPr lang="en-US" sz="3600" dirty="0" smtClean="0"/>
              <a:t>Lower bound for all “direct” linear algebra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3733800"/>
            <a:ext cx="8001000" cy="285273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Holds for</a:t>
            </a:r>
          </a:p>
          <a:p>
            <a:pPr lvl="1"/>
            <a:r>
              <a:rPr lang="en-US" dirty="0" err="1" smtClean="0"/>
              <a:t>Matmul</a:t>
            </a:r>
            <a:r>
              <a:rPr lang="en-US" dirty="0" smtClean="0"/>
              <a:t>, BLAS, LU, QR, </a:t>
            </a:r>
            <a:r>
              <a:rPr lang="en-US" dirty="0" err="1" smtClean="0"/>
              <a:t>eig</a:t>
            </a:r>
            <a:r>
              <a:rPr lang="en-US" dirty="0" smtClean="0"/>
              <a:t>, SVD, tensor contractions, …</a:t>
            </a:r>
          </a:p>
          <a:p>
            <a:pPr lvl="1"/>
            <a:r>
              <a:rPr lang="en-US" dirty="0" smtClean="0"/>
              <a:t>Some whole programs (sequences of  these operations, no matter how individual ops are interleaved, </a:t>
            </a:r>
            <a:r>
              <a:rPr lang="en-US" dirty="0" err="1" smtClean="0"/>
              <a:t>eg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30000" dirty="0" err="1" smtClean="0"/>
              <a:t>k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Dense and sparse matrices (where #flops  &lt;&lt;  n</a:t>
            </a:r>
            <a:r>
              <a:rPr lang="en-US" baseline="30000" dirty="0" smtClean="0"/>
              <a:t>3</a:t>
            </a:r>
            <a:r>
              <a:rPr lang="en-US" dirty="0" smtClean="0"/>
              <a:t> )</a:t>
            </a:r>
          </a:p>
          <a:p>
            <a:pPr lvl="1"/>
            <a:r>
              <a:rPr lang="en-US" dirty="0" smtClean="0"/>
              <a:t>Sequential and parallel algorithms</a:t>
            </a:r>
          </a:p>
          <a:p>
            <a:pPr lvl="1"/>
            <a:r>
              <a:rPr lang="en-US" dirty="0" smtClean="0"/>
              <a:t>Some graph-theoretic algorithms (</a:t>
            </a:r>
            <a:r>
              <a:rPr lang="en-US" dirty="0" err="1" smtClean="0"/>
              <a:t>eg</a:t>
            </a:r>
            <a:r>
              <a:rPr lang="en-US" dirty="0" smtClean="0"/>
              <a:t> Floyd-</a:t>
            </a:r>
            <a:r>
              <a:rPr lang="en-US" dirty="0" err="1" smtClean="0"/>
              <a:t>Warshall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DBBDDB-A7BB-4482-834E-2EFCD62CAAF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20485" name="TextBox 5"/>
          <p:cNvSpPr txBox="1">
            <a:spLocks noChangeArrowheads="1"/>
          </p:cNvSpPr>
          <p:nvPr/>
        </p:nvSpPr>
        <p:spPr bwMode="auto">
          <a:xfrm>
            <a:off x="457200" y="731839"/>
            <a:ext cx="86868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>
              <a:buFont typeface="Arial" pitchFamily="34" charset="0"/>
              <a:buChar char="•"/>
            </a:pP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  Let </a:t>
            </a:r>
            <a:r>
              <a:rPr lang="en-US" sz="2800" b="0" dirty="0">
                <a:solidFill>
                  <a:schemeClr val="tx1"/>
                </a:solidFill>
                <a:sym typeface="Symbol" pitchFamily="18" charset="2"/>
              </a:rPr>
              <a:t>M = “fast” memory size </a:t>
            </a: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(per processor)</a:t>
            </a:r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words_moved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olidFill>
                  <a:schemeClr val="tx1"/>
                </a:solidFill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</a:t>
            </a:r>
            <a:r>
              <a:rPr lang="en-US" sz="2400" b="1" dirty="0" smtClean="0">
                <a:sym typeface="Symbol" pitchFamily="18" charset="2"/>
              </a:rPr>
              <a:t>per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messages_sent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 ≥  #</a:t>
            </a:r>
            <a:r>
              <a:rPr lang="en-US" sz="2400" b="1" dirty="0" err="1" smtClean="0">
                <a:solidFill>
                  <a:schemeClr val="tx1"/>
                </a:solidFill>
                <a:sym typeface="Symbol" pitchFamily="18" charset="2"/>
              </a:rPr>
              <a:t>words_moved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 / </a:t>
            </a:r>
            <a:r>
              <a:rPr lang="en-US" sz="2400" b="1" dirty="0" err="1" smtClean="0">
                <a:solidFill>
                  <a:schemeClr val="tx1"/>
                </a:solidFill>
                <a:sym typeface="Symbol" pitchFamily="18" charset="2"/>
              </a:rPr>
              <a:t>largest_message_size</a:t>
            </a:r>
            <a:endParaRPr lang="en-US" sz="2400" b="1" dirty="0" smtClean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endParaRPr lang="en-US" sz="2400" b="1" dirty="0" smtClean="0">
              <a:solidFill>
                <a:schemeClr val="tx1"/>
              </a:solidFill>
              <a:sym typeface="Symbol" pitchFamily="18" charset="2"/>
            </a:endParaRPr>
          </a:p>
          <a:p>
            <a:pPr marL="0" lvl="1">
              <a:buFont typeface="Arial" pitchFamily="34" charset="0"/>
              <a:buChar char="•"/>
            </a:pPr>
            <a:r>
              <a:rPr lang="en-US" sz="2400" b="1" dirty="0" smtClean="0">
                <a:sym typeface="Symbol" pitchFamily="18" charset="2"/>
              </a:rPr>
              <a:t>  </a:t>
            </a:r>
            <a:r>
              <a:rPr lang="en-US" sz="2800" dirty="0" smtClean="0">
                <a:sym typeface="Symbol" pitchFamily="18" charset="2"/>
              </a:rPr>
              <a:t>Parallel case: assume either load or memory balanced</a:t>
            </a: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81000" y="762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19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04800" y="306388"/>
            <a:ext cx="8458199" cy="425450"/>
          </a:xfrm>
        </p:spPr>
        <p:txBody>
          <a:bodyPr>
            <a:noAutofit/>
          </a:bodyPr>
          <a:lstStyle/>
          <a:p>
            <a:r>
              <a:rPr lang="en-US" sz="3600" dirty="0" smtClean="0"/>
              <a:t>Lower bound for all “direct” linear algebra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3733800"/>
            <a:ext cx="8001000" cy="285273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Holds for</a:t>
            </a:r>
          </a:p>
          <a:p>
            <a:pPr lvl="1"/>
            <a:r>
              <a:rPr lang="en-US" dirty="0" err="1" smtClean="0"/>
              <a:t>Matmul</a:t>
            </a:r>
            <a:r>
              <a:rPr lang="en-US" dirty="0" smtClean="0"/>
              <a:t>, BLAS, LU, QR, </a:t>
            </a:r>
            <a:r>
              <a:rPr lang="en-US" dirty="0" err="1" smtClean="0"/>
              <a:t>eig</a:t>
            </a:r>
            <a:r>
              <a:rPr lang="en-US" dirty="0" smtClean="0"/>
              <a:t>, SVD, tensor contractions, …</a:t>
            </a:r>
          </a:p>
          <a:p>
            <a:pPr lvl="1"/>
            <a:r>
              <a:rPr lang="en-US" dirty="0" smtClean="0"/>
              <a:t>Some whole programs (sequences of  these operations, no matter how individual ops are interleaved, </a:t>
            </a:r>
            <a:r>
              <a:rPr lang="en-US" dirty="0" err="1" smtClean="0"/>
              <a:t>eg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30000" dirty="0" err="1" smtClean="0"/>
              <a:t>k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Dense and sparse matrices (where #flops  &lt;&lt;  n</a:t>
            </a:r>
            <a:r>
              <a:rPr lang="en-US" baseline="30000" dirty="0" smtClean="0"/>
              <a:t>3</a:t>
            </a:r>
            <a:r>
              <a:rPr lang="en-US" dirty="0" smtClean="0"/>
              <a:t> )</a:t>
            </a:r>
          </a:p>
          <a:p>
            <a:pPr lvl="1"/>
            <a:r>
              <a:rPr lang="en-US" dirty="0" smtClean="0"/>
              <a:t>Sequential and parallel algorithms</a:t>
            </a:r>
          </a:p>
          <a:p>
            <a:pPr lvl="1"/>
            <a:r>
              <a:rPr lang="en-US" dirty="0" smtClean="0"/>
              <a:t>Some graph-theoretic algorithms (</a:t>
            </a:r>
            <a:r>
              <a:rPr lang="en-US" dirty="0" err="1" smtClean="0"/>
              <a:t>eg</a:t>
            </a:r>
            <a:r>
              <a:rPr lang="en-US" dirty="0" smtClean="0"/>
              <a:t> Floyd-</a:t>
            </a:r>
            <a:r>
              <a:rPr lang="en-US" dirty="0" err="1" smtClean="0"/>
              <a:t>Warshall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DBBDDB-A7BB-4482-834E-2EFCD62CAAF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20485" name="TextBox 5"/>
          <p:cNvSpPr txBox="1">
            <a:spLocks noChangeArrowheads="1"/>
          </p:cNvSpPr>
          <p:nvPr/>
        </p:nvSpPr>
        <p:spPr bwMode="auto">
          <a:xfrm>
            <a:off x="457200" y="731839"/>
            <a:ext cx="86868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>
              <a:buFont typeface="Arial" pitchFamily="34" charset="0"/>
              <a:buChar char="•"/>
            </a:pP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  Let </a:t>
            </a:r>
            <a:r>
              <a:rPr lang="en-US" sz="2800" b="0" dirty="0">
                <a:solidFill>
                  <a:schemeClr val="tx1"/>
                </a:solidFill>
                <a:sym typeface="Symbol" pitchFamily="18" charset="2"/>
              </a:rPr>
              <a:t>M = “fast” memory size </a:t>
            </a: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(per processor)</a:t>
            </a:r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words_moved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olidFill>
                  <a:schemeClr val="tx1"/>
                </a:solidFill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</a:t>
            </a:r>
            <a:r>
              <a:rPr lang="en-US" sz="2400" b="1" dirty="0" smtClean="0">
                <a:sym typeface="Symbol" pitchFamily="18" charset="2"/>
              </a:rPr>
              <a:t>per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messages_sent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rgbClr val="FF0000"/>
                </a:solidFill>
                <a:sym typeface="Symbol" pitchFamily="18" charset="2"/>
              </a:rPr>
              <a:t>3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 smtClean="0">
              <a:solidFill>
                <a:schemeClr val="tx1"/>
              </a:solidFill>
              <a:sym typeface="Symbol" pitchFamily="18" charset="2"/>
            </a:endParaRPr>
          </a:p>
          <a:p>
            <a:pPr marL="0" lvl="1">
              <a:buFont typeface="Arial" pitchFamily="34" charset="0"/>
              <a:buChar char="•"/>
            </a:pPr>
            <a:r>
              <a:rPr lang="en-US" sz="2400" b="1" dirty="0" smtClean="0">
                <a:sym typeface="Symbol" pitchFamily="18" charset="2"/>
              </a:rPr>
              <a:t>  </a:t>
            </a:r>
            <a:r>
              <a:rPr lang="en-US" sz="2800" dirty="0" smtClean="0">
                <a:sym typeface="Symbol" pitchFamily="18" charset="2"/>
              </a:rPr>
              <a:t>Parallel case: assume either load or memory balanced</a:t>
            </a: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81000" y="762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8200" y="5414427"/>
            <a:ext cx="7620000" cy="1261884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SIAM SIAG/Linear Algebra Prize, 2012</a:t>
            </a:r>
          </a:p>
          <a:p>
            <a:pPr algn="ctr"/>
            <a:r>
              <a:rPr lang="en-US" sz="2400" b="1" dirty="0" smtClean="0">
                <a:solidFill>
                  <a:srgbClr val="0000FF"/>
                </a:solidFill>
              </a:rPr>
              <a:t>Ballard, D., Holtz, Schwartz</a:t>
            </a:r>
          </a:p>
          <a:p>
            <a:pPr algn="ctr"/>
            <a:endParaRPr 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5362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798512" y="306388"/>
            <a:ext cx="8116887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Can we attain these lower bounds?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153988" y="914400"/>
            <a:ext cx="8961437" cy="585152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Do conventional dense algorithms as implemented in  LAPACK and </a:t>
            </a:r>
            <a:r>
              <a:rPr lang="en-US" dirty="0" err="1" smtClean="0"/>
              <a:t>ScaLAPACK</a:t>
            </a:r>
            <a:r>
              <a:rPr lang="en-US" dirty="0" smtClean="0"/>
              <a:t> attain these bounds?</a:t>
            </a:r>
          </a:p>
          <a:p>
            <a:pPr lvl="1"/>
            <a:r>
              <a:rPr lang="en-US" dirty="0" smtClean="0"/>
              <a:t>Often not </a:t>
            </a:r>
          </a:p>
          <a:p>
            <a:r>
              <a:rPr lang="en-US" dirty="0" smtClean="0"/>
              <a:t>If not, are there other algorithms that do?</a:t>
            </a:r>
          </a:p>
          <a:p>
            <a:pPr lvl="1"/>
            <a:r>
              <a:rPr lang="en-US" dirty="0" smtClean="0"/>
              <a:t>Yes, for much of dense linear algebra</a:t>
            </a:r>
          </a:p>
          <a:p>
            <a:pPr lvl="1"/>
            <a:r>
              <a:rPr lang="en-US" dirty="0" smtClean="0"/>
              <a:t>New algorithms, with new numerical properties,               new ways to encode answers,  new data structures                             </a:t>
            </a:r>
          </a:p>
          <a:p>
            <a:pPr lvl="1"/>
            <a:r>
              <a:rPr lang="en-US" dirty="0" smtClean="0"/>
              <a:t>Not just loop transformations</a:t>
            </a:r>
          </a:p>
          <a:p>
            <a:r>
              <a:rPr lang="en-US" dirty="0" smtClean="0"/>
              <a:t>Only a few sparse algorithms so far</a:t>
            </a:r>
          </a:p>
          <a:p>
            <a:r>
              <a:rPr lang="en-US" dirty="0" smtClean="0"/>
              <a:t>Lots of work in progress</a:t>
            </a:r>
          </a:p>
          <a:p>
            <a:r>
              <a:rPr lang="en-US" dirty="0" smtClean="0"/>
              <a:t>Case study: Matrix Multiply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352800" y="6416675"/>
            <a:ext cx="2133600" cy="365125"/>
          </a:xfrm>
        </p:spPr>
        <p:txBody>
          <a:bodyPr/>
          <a:lstStyle/>
          <a:p>
            <a:pPr algn="ctr">
              <a:defRPr/>
            </a:pPr>
            <a:fld id="{5839375E-32BF-43EE-A881-86705A256A45}" type="slidenum">
              <a:rPr lang="en-US" smtClean="0"/>
              <a:pPr algn="ctr">
                <a:defRPr/>
              </a:pPr>
              <a:t>15</a:t>
            </a:fld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66EBF6E7-7A69-4DBC-9BC1-E98EB674BDAF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/>
              <a:t>16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38" y="309563"/>
            <a:ext cx="6735762" cy="4222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Naïve Matrix Multiply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7929563" cy="3232150"/>
          </a:xfrm>
          <a:ln>
            <a:solidFill>
              <a:srgbClr val="000066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2000" dirty="0" smtClean="0">
                <a:solidFill>
                  <a:schemeClr val="accent2"/>
                </a:solidFill>
              </a:rPr>
              <a:t>{implements C = C + A*B}</a:t>
            </a:r>
          </a:p>
          <a:p>
            <a:pPr>
              <a:buFontTx/>
              <a:buNone/>
            </a:pPr>
            <a:r>
              <a:rPr lang="en-US" sz="2000" dirty="0" smtClean="0"/>
              <a:t>for </a:t>
            </a:r>
            <a:r>
              <a:rPr lang="en-US" sz="2000" dirty="0" err="1" smtClean="0"/>
              <a:t>i</a:t>
            </a:r>
            <a:r>
              <a:rPr lang="en-US" sz="2000" dirty="0" smtClean="0"/>
              <a:t> = 1 to n</a:t>
            </a:r>
          </a:p>
          <a:p>
            <a:pPr>
              <a:buFontTx/>
              <a:buNone/>
            </a:pPr>
            <a:r>
              <a:rPr lang="en-US" sz="2000" dirty="0" smtClean="0"/>
              <a:t>  </a:t>
            </a:r>
            <a:endParaRPr lang="en-US" sz="2000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sz="2000" dirty="0" smtClean="0">
                <a:solidFill>
                  <a:schemeClr val="accent2"/>
                </a:solidFill>
              </a:rPr>
              <a:t>   </a:t>
            </a:r>
            <a:r>
              <a:rPr lang="en-US" sz="2000" dirty="0" smtClean="0"/>
              <a:t>for j = 1 to n</a:t>
            </a:r>
          </a:p>
          <a:p>
            <a:pPr>
              <a:buFontTx/>
              <a:buNone/>
            </a:pPr>
            <a:endParaRPr lang="en-US" sz="2000" dirty="0" smtClean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r>
              <a:rPr lang="en-US" sz="2000" dirty="0" smtClean="0"/>
              <a:t>       for k = 1 to n</a:t>
            </a:r>
          </a:p>
          <a:p>
            <a:pPr>
              <a:buFontTx/>
              <a:buNone/>
            </a:pPr>
            <a:r>
              <a:rPr lang="en-US" sz="2000" dirty="0" smtClean="0"/>
              <a:t>           C(</a:t>
            </a:r>
            <a:r>
              <a:rPr lang="en-US" sz="2000" dirty="0" err="1" smtClean="0"/>
              <a:t>i,j</a:t>
            </a:r>
            <a:r>
              <a:rPr lang="en-US" sz="2000" dirty="0" smtClean="0"/>
              <a:t>) = C(</a:t>
            </a:r>
            <a:r>
              <a:rPr lang="en-US" sz="2000" dirty="0" err="1" smtClean="0"/>
              <a:t>i,j</a:t>
            </a:r>
            <a:r>
              <a:rPr lang="en-US" sz="2000" dirty="0" smtClean="0"/>
              <a:t>) + A(</a:t>
            </a:r>
            <a:r>
              <a:rPr lang="en-US" sz="2000" dirty="0" err="1" smtClean="0"/>
              <a:t>i,k</a:t>
            </a:r>
            <a:r>
              <a:rPr lang="en-US" sz="2000" dirty="0" smtClean="0"/>
              <a:t>) * B(</a:t>
            </a:r>
            <a:r>
              <a:rPr lang="en-US" sz="2000" dirty="0" err="1" smtClean="0"/>
              <a:t>k,j</a:t>
            </a:r>
            <a:r>
              <a:rPr lang="en-US" sz="2000" dirty="0" smtClean="0"/>
              <a:t>)</a:t>
            </a:r>
          </a:p>
          <a:p>
            <a:pPr>
              <a:buFontTx/>
              <a:buNone/>
            </a:pPr>
            <a:r>
              <a:rPr lang="en-US" sz="2000" dirty="0" smtClean="0"/>
              <a:t>       </a:t>
            </a:r>
            <a:endParaRPr lang="en-US" sz="2000" dirty="0" smtClean="0">
              <a:solidFill>
                <a:schemeClr val="accent2"/>
              </a:solidFill>
            </a:endParaRP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3454400" y="4343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5080000" y="4343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0487" name="Text Box 6"/>
          <p:cNvSpPr txBox="1">
            <a:spLocks noChangeArrowheads="1"/>
          </p:cNvSpPr>
          <p:nvPr/>
        </p:nvSpPr>
        <p:spPr bwMode="auto">
          <a:xfrm>
            <a:off x="2709863" y="4876800"/>
            <a:ext cx="541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20488" name="Text Box 7"/>
          <p:cNvSpPr txBox="1">
            <a:spLocks noChangeArrowheads="1"/>
          </p:cNvSpPr>
          <p:nvPr/>
        </p:nvSpPr>
        <p:spPr bwMode="auto">
          <a:xfrm>
            <a:off x="4673600" y="4876800"/>
            <a:ext cx="271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0489" name="Text Box 8"/>
          <p:cNvSpPr txBox="1">
            <a:spLocks noChangeArrowheads="1"/>
          </p:cNvSpPr>
          <p:nvPr/>
        </p:nvSpPr>
        <p:spPr bwMode="auto">
          <a:xfrm>
            <a:off x="6230938" y="4876800"/>
            <a:ext cx="163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20490" name="Rectangle 9"/>
          <p:cNvSpPr>
            <a:spLocks noChangeArrowheads="1"/>
          </p:cNvSpPr>
          <p:nvPr/>
        </p:nvSpPr>
        <p:spPr bwMode="auto">
          <a:xfrm>
            <a:off x="3792538" y="4876800"/>
            <a:ext cx="136525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0491" name="Rectangle 10"/>
          <p:cNvSpPr>
            <a:spLocks noChangeArrowheads="1"/>
          </p:cNvSpPr>
          <p:nvPr/>
        </p:nvSpPr>
        <p:spPr bwMode="auto">
          <a:xfrm>
            <a:off x="5080000" y="4876800"/>
            <a:ext cx="1150938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0492" name="Text Box 11"/>
          <p:cNvSpPr txBox="1">
            <a:spLocks noChangeArrowheads="1"/>
          </p:cNvSpPr>
          <p:nvPr/>
        </p:nvSpPr>
        <p:spPr bwMode="auto">
          <a:xfrm>
            <a:off x="3522663" y="4572000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C(i,j)</a:t>
            </a:r>
          </a:p>
        </p:txBody>
      </p:sp>
      <p:sp>
        <p:nvSpPr>
          <p:cNvPr id="20493" name="Text Box 12"/>
          <p:cNvSpPr txBox="1">
            <a:spLocks noChangeArrowheads="1"/>
          </p:cNvSpPr>
          <p:nvPr/>
        </p:nvSpPr>
        <p:spPr bwMode="auto">
          <a:xfrm>
            <a:off x="5148263" y="4495800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A(i,:)</a:t>
            </a:r>
          </a:p>
        </p:txBody>
      </p:sp>
      <p:sp>
        <p:nvSpPr>
          <p:cNvPr id="20494" name="Rectangle 13"/>
          <p:cNvSpPr>
            <a:spLocks noChangeArrowheads="1"/>
          </p:cNvSpPr>
          <p:nvPr/>
        </p:nvSpPr>
        <p:spPr bwMode="auto">
          <a:xfrm>
            <a:off x="6629400" y="4343400"/>
            <a:ext cx="1152525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0495" name="Rectangle 14"/>
          <p:cNvSpPr>
            <a:spLocks noChangeArrowheads="1"/>
          </p:cNvSpPr>
          <p:nvPr/>
        </p:nvSpPr>
        <p:spPr bwMode="auto">
          <a:xfrm>
            <a:off x="6858000" y="4343400"/>
            <a:ext cx="134938" cy="1295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0496" name="Text Box 15"/>
          <p:cNvSpPr txBox="1">
            <a:spLocks noChangeArrowheads="1"/>
          </p:cNvSpPr>
          <p:nvPr/>
        </p:nvSpPr>
        <p:spPr bwMode="auto">
          <a:xfrm>
            <a:off x="7043738" y="4800600"/>
            <a:ext cx="677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B(:,j)</a:t>
            </a:r>
          </a:p>
        </p:txBody>
      </p:sp>
      <p:sp>
        <p:nvSpPr>
          <p:cNvPr id="20497" name="Rectangle 16"/>
          <p:cNvSpPr>
            <a:spLocks noChangeArrowheads="1"/>
          </p:cNvSpPr>
          <p:nvPr/>
        </p:nvSpPr>
        <p:spPr bwMode="auto">
          <a:xfrm>
            <a:off x="1371600" y="4343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0498" name="Rectangle 17"/>
          <p:cNvSpPr>
            <a:spLocks noChangeArrowheads="1"/>
          </p:cNvSpPr>
          <p:nvPr/>
        </p:nvSpPr>
        <p:spPr bwMode="auto">
          <a:xfrm>
            <a:off x="1828800" y="4876800"/>
            <a:ext cx="134938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0499" name="Text Box 18"/>
          <p:cNvSpPr txBox="1">
            <a:spLocks noChangeArrowheads="1"/>
          </p:cNvSpPr>
          <p:nvPr/>
        </p:nvSpPr>
        <p:spPr bwMode="auto">
          <a:xfrm>
            <a:off x="1557338" y="4572000"/>
            <a:ext cx="677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C(i,j)</a:t>
            </a:r>
          </a:p>
        </p:txBody>
      </p:sp>
    </p:spTree>
    <p:extLst>
      <p:ext uri="{BB962C8B-B14F-4D97-AF65-F5344CB8AC3E}">
        <p14:creationId xmlns:p14="http://schemas.microsoft.com/office/powerpoint/2010/main" val="13227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66EBF6E7-7A69-4DBC-9BC1-E98EB674BDAF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/>
              <a:t>17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38" y="309563"/>
            <a:ext cx="6735762" cy="4222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Naïve Matrix Multiply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7929563" cy="3232150"/>
          </a:xfrm>
          <a:ln>
            <a:solidFill>
              <a:srgbClr val="000066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2000" dirty="0" smtClean="0">
                <a:solidFill>
                  <a:schemeClr val="accent2"/>
                </a:solidFill>
              </a:rPr>
              <a:t>{implements C = C + A*B}</a:t>
            </a:r>
          </a:p>
          <a:p>
            <a:pPr>
              <a:buFontTx/>
              <a:buNone/>
            </a:pPr>
            <a:r>
              <a:rPr lang="en-US" sz="2000" dirty="0" smtClean="0"/>
              <a:t>for </a:t>
            </a:r>
            <a:r>
              <a:rPr lang="en-US" sz="2000" dirty="0" err="1" smtClean="0"/>
              <a:t>i</a:t>
            </a:r>
            <a:r>
              <a:rPr lang="en-US" sz="2000" dirty="0" smtClean="0"/>
              <a:t> = 1 to n</a:t>
            </a:r>
          </a:p>
          <a:p>
            <a:pPr>
              <a:buFontTx/>
              <a:buNone/>
            </a:pPr>
            <a:r>
              <a:rPr lang="en-US" sz="2000" dirty="0" smtClean="0"/>
              <a:t>  </a:t>
            </a:r>
            <a:r>
              <a:rPr lang="en-US" sz="2000" dirty="0" smtClean="0">
                <a:solidFill>
                  <a:schemeClr val="accent2"/>
                </a:solidFill>
              </a:rPr>
              <a:t>{read row </a:t>
            </a:r>
            <a:r>
              <a:rPr lang="en-US" sz="2000" dirty="0" err="1" smtClean="0">
                <a:solidFill>
                  <a:schemeClr val="accent2"/>
                </a:solidFill>
              </a:rPr>
              <a:t>i</a:t>
            </a:r>
            <a:r>
              <a:rPr lang="en-US" sz="2000" dirty="0" smtClean="0">
                <a:solidFill>
                  <a:schemeClr val="accent2"/>
                </a:solidFill>
              </a:rPr>
              <a:t> of A into fast memory}</a:t>
            </a:r>
            <a:endParaRPr lang="en-US" sz="2000" dirty="0" smtClean="0"/>
          </a:p>
          <a:p>
            <a:pPr>
              <a:buFontTx/>
              <a:buNone/>
            </a:pPr>
            <a:r>
              <a:rPr lang="en-US" sz="2000" dirty="0" smtClean="0"/>
              <a:t>   for j = 1 to n</a:t>
            </a:r>
          </a:p>
          <a:p>
            <a:pPr>
              <a:buFontTx/>
              <a:buNone/>
            </a:pPr>
            <a:r>
              <a:rPr lang="en-US" sz="2000" dirty="0" smtClean="0"/>
              <a:t>       </a:t>
            </a:r>
            <a:r>
              <a:rPr lang="en-US" sz="2000" dirty="0" smtClean="0">
                <a:solidFill>
                  <a:schemeClr val="accent2"/>
                </a:solidFill>
              </a:rPr>
              <a:t>{read C(</a:t>
            </a:r>
            <a:r>
              <a:rPr lang="en-US" sz="2000" dirty="0" err="1" smtClean="0">
                <a:solidFill>
                  <a:schemeClr val="accent2"/>
                </a:solidFill>
              </a:rPr>
              <a:t>i,j</a:t>
            </a:r>
            <a:r>
              <a:rPr lang="en-US" sz="2000" dirty="0" smtClean="0">
                <a:solidFill>
                  <a:schemeClr val="accent2"/>
                </a:solidFill>
              </a:rPr>
              <a:t>) into fast memory}</a:t>
            </a:r>
          </a:p>
          <a:p>
            <a:pPr>
              <a:buFontTx/>
              <a:buNone/>
            </a:pPr>
            <a:r>
              <a:rPr lang="en-US" sz="2000" dirty="0" smtClean="0">
                <a:solidFill>
                  <a:schemeClr val="accent2"/>
                </a:solidFill>
              </a:rPr>
              <a:t>       {read column j of B into fast memory}</a:t>
            </a:r>
            <a:endParaRPr lang="en-US" sz="2000" dirty="0" smtClean="0"/>
          </a:p>
          <a:p>
            <a:pPr>
              <a:buFontTx/>
              <a:buNone/>
            </a:pPr>
            <a:r>
              <a:rPr lang="en-US" sz="2000" dirty="0" smtClean="0"/>
              <a:t>       for k = 1 to n</a:t>
            </a:r>
          </a:p>
          <a:p>
            <a:pPr>
              <a:buFontTx/>
              <a:buNone/>
            </a:pPr>
            <a:r>
              <a:rPr lang="en-US" sz="2000" dirty="0" smtClean="0"/>
              <a:t>           C(</a:t>
            </a:r>
            <a:r>
              <a:rPr lang="en-US" sz="2000" dirty="0" err="1" smtClean="0"/>
              <a:t>i,j</a:t>
            </a:r>
            <a:r>
              <a:rPr lang="en-US" sz="2000" dirty="0" smtClean="0"/>
              <a:t>) = C(</a:t>
            </a:r>
            <a:r>
              <a:rPr lang="en-US" sz="2000" dirty="0" err="1" smtClean="0"/>
              <a:t>i,j</a:t>
            </a:r>
            <a:r>
              <a:rPr lang="en-US" sz="2000" dirty="0" smtClean="0"/>
              <a:t>) + A(</a:t>
            </a:r>
            <a:r>
              <a:rPr lang="en-US" sz="2000" dirty="0" err="1" smtClean="0"/>
              <a:t>i,k</a:t>
            </a:r>
            <a:r>
              <a:rPr lang="en-US" sz="2000" dirty="0" smtClean="0"/>
              <a:t>) * B(</a:t>
            </a:r>
            <a:r>
              <a:rPr lang="en-US" sz="2000" dirty="0" err="1" smtClean="0"/>
              <a:t>k,j</a:t>
            </a:r>
            <a:r>
              <a:rPr lang="en-US" sz="2000" dirty="0" smtClean="0"/>
              <a:t>)</a:t>
            </a:r>
          </a:p>
          <a:p>
            <a:pPr>
              <a:buFontTx/>
              <a:buNone/>
            </a:pPr>
            <a:r>
              <a:rPr lang="en-US" sz="2000" dirty="0" smtClean="0"/>
              <a:t>       </a:t>
            </a:r>
            <a:r>
              <a:rPr lang="en-US" sz="2000" dirty="0" smtClean="0">
                <a:solidFill>
                  <a:schemeClr val="accent2"/>
                </a:solidFill>
              </a:rPr>
              <a:t>{write C(</a:t>
            </a:r>
            <a:r>
              <a:rPr lang="en-US" sz="2000" dirty="0" err="1" smtClean="0">
                <a:solidFill>
                  <a:schemeClr val="accent2"/>
                </a:solidFill>
              </a:rPr>
              <a:t>i,j</a:t>
            </a:r>
            <a:r>
              <a:rPr lang="en-US" sz="2000" dirty="0" smtClean="0">
                <a:solidFill>
                  <a:schemeClr val="accent2"/>
                </a:solidFill>
              </a:rPr>
              <a:t>) back to slow memory}</a:t>
            </a: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3454400" y="4343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5080000" y="4343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0487" name="Text Box 6"/>
          <p:cNvSpPr txBox="1">
            <a:spLocks noChangeArrowheads="1"/>
          </p:cNvSpPr>
          <p:nvPr/>
        </p:nvSpPr>
        <p:spPr bwMode="auto">
          <a:xfrm>
            <a:off x="2709863" y="4876800"/>
            <a:ext cx="541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20488" name="Text Box 7"/>
          <p:cNvSpPr txBox="1">
            <a:spLocks noChangeArrowheads="1"/>
          </p:cNvSpPr>
          <p:nvPr/>
        </p:nvSpPr>
        <p:spPr bwMode="auto">
          <a:xfrm>
            <a:off x="4673600" y="4876800"/>
            <a:ext cx="271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0489" name="Text Box 8"/>
          <p:cNvSpPr txBox="1">
            <a:spLocks noChangeArrowheads="1"/>
          </p:cNvSpPr>
          <p:nvPr/>
        </p:nvSpPr>
        <p:spPr bwMode="auto">
          <a:xfrm>
            <a:off x="6230938" y="4876800"/>
            <a:ext cx="163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20490" name="Rectangle 9"/>
          <p:cNvSpPr>
            <a:spLocks noChangeArrowheads="1"/>
          </p:cNvSpPr>
          <p:nvPr/>
        </p:nvSpPr>
        <p:spPr bwMode="auto">
          <a:xfrm>
            <a:off x="3792538" y="4876800"/>
            <a:ext cx="136525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0491" name="Rectangle 10"/>
          <p:cNvSpPr>
            <a:spLocks noChangeArrowheads="1"/>
          </p:cNvSpPr>
          <p:nvPr/>
        </p:nvSpPr>
        <p:spPr bwMode="auto">
          <a:xfrm>
            <a:off x="5080000" y="4876800"/>
            <a:ext cx="1150938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0492" name="Text Box 11"/>
          <p:cNvSpPr txBox="1">
            <a:spLocks noChangeArrowheads="1"/>
          </p:cNvSpPr>
          <p:nvPr/>
        </p:nvSpPr>
        <p:spPr bwMode="auto">
          <a:xfrm>
            <a:off x="3522663" y="4572000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C(i,j)</a:t>
            </a:r>
          </a:p>
        </p:txBody>
      </p:sp>
      <p:sp>
        <p:nvSpPr>
          <p:cNvPr id="20493" name="Text Box 12"/>
          <p:cNvSpPr txBox="1">
            <a:spLocks noChangeArrowheads="1"/>
          </p:cNvSpPr>
          <p:nvPr/>
        </p:nvSpPr>
        <p:spPr bwMode="auto">
          <a:xfrm>
            <a:off x="5148263" y="4495800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A(i,:)</a:t>
            </a:r>
          </a:p>
        </p:txBody>
      </p:sp>
      <p:sp>
        <p:nvSpPr>
          <p:cNvPr id="20494" name="Rectangle 13"/>
          <p:cNvSpPr>
            <a:spLocks noChangeArrowheads="1"/>
          </p:cNvSpPr>
          <p:nvPr/>
        </p:nvSpPr>
        <p:spPr bwMode="auto">
          <a:xfrm>
            <a:off x="6629400" y="4343400"/>
            <a:ext cx="1152525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0495" name="Rectangle 14"/>
          <p:cNvSpPr>
            <a:spLocks noChangeArrowheads="1"/>
          </p:cNvSpPr>
          <p:nvPr/>
        </p:nvSpPr>
        <p:spPr bwMode="auto">
          <a:xfrm>
            <a:off x="6858000" y="4343400"/>
            <a:ext cx="134938" cy="1295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0496" name="Text Box 15"/>
          <p:cNvSpPr txBox="1">
            <a:spLocks noChangeArrowheads="1"/>
          </p:cNvSpPr>
          <p:nvPr/>
        </p:nvSpPr>
        <p:spPr bwMode="auto">
          <a:xfrm>
            <a:off x="7043738" y="4800600"/>
            <a:ext cx="677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B(:,j)</a:t>
            </a:r>
          </a:p>
        </p:txBody>
      </p:sp>
      <p:sp>
        <p:nvSpPr>
          <p:cNvPr id="20497" name="Rectangle 16"/>
          <p:cNvSpPr>
            <a:spLocks noChangeArrowheads="1"/>
          </p:cNvSpPr>
          <p:nvPr/>
        </p:nvSpPr>
        <p:spPr bwMode="auto">
          <a:xfrm>
            <a:off x="1371600" y="4343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0498" name="Rectangle 17"/>
          <p:cNvSpPr>
            <a:spLocks noChangeArrowheads="1"/>
          </p:cNvSpPr>
          <p:nvPr/>
        </p:nvSpPr>
        <p:spPr bwMode="auto">
          <a:xfrm>
            <a:off x="1828800" y="4876800"/>
            <a:ext cx="134938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0499" name="Text Box 18"/>
          <p:cNvSpPr txBox="1">
            <a:spLocks noChangeArrowheads="1"/>
          </p:cNvSpPr>
          <p:nvPr/>
        </p:nvSpPr>
        <p:spPr bwMode="auto">
          <a:xfrm>
            <a:off x="1557338" y="4572000"/>
            <a:ext cx="677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C(i,j)</a:t>
            </a:r>
          </a:p>
        </p:txBody>
      </p:sp>
    </p:spTree>
    <p:extLst>
      <p:ext uri="{BB962C8B-B14F-4D97-AF65-F5344CB8AC3E}">
        <p14:creationId xmlns:p14="http://schemas.microsoft.com/office/powerpoint/2010/main" val="33588364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66EBF6E7-7A69-4DBC-9BC1-E98EB674BDAF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/>
              <a:t>18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38" y="309563"/>
            <a:ext cx="6735762" cy="4222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Naïve Matrix Multiply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7929563" cy="3232150"/>
          </a:xfrm>
          <a:ln>
            <a:solidFill>
              <a:srgbClr val="000066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2000" dirty="0" smtClean="0">
                <a:solidFill>
                  <a:schemeClr val="accent2"/>
                </a:solidFill>
              </a:rPr>
              <a:t>{implements C = C + A*B}</a:t>
            </a:r>
          </a:p>
          <a:p>
            <a:pPr>
              <a:buFontTx/>
              <a:buNone/>
            </a:pPr>
            <a:r>
              <a:rPr lang="en-US" sz="2000" dirty="0" smtClean="0"/>
              <a:t>for </a:t>
            </a:r>
            <a:r>
              <a:rPr lang="en-US" sz="2000" dirty="0" err="1" smtClean="0"/>
              <a:t>i</a:t>
            </a:r>
            <a:r>
              <a:rPr lang="en-US" sz="2000" dirty="0" smtClean="0"/>
              <a:t> = 1 to n</a:t>
            </a:r>
          </a:p>
          <a:p>
            <a:pPr>
              <a:buFontTx/>
              <a:buNone/>
            </a:pPr>
            <a:r>
              <a:rPr lang="en-US" sz="2000" dirty="0" smtClean="0"/>
              <a:t>  </a:t>
            </a:r>
            <a:r>
              <a:rPr lang="en-US" sz="2000" dirty="0" smtClean="0">
                <a:solidFill>
                  <a:schemeClr val="accent2"/>
                </a:solidFill>
              </a:rPr>
              <a:t>{read row </a:t>
            </a:r>
            <a:r>
              <a:rPr lang="en-US" sz="2000" dirty="0" err="1" smtClean="0">
                <a:solidFill>
                  <a:schemeClr val="accent2"/>
                </a:solidFill>
              </a:rPr>
              <a:t>i</a:t>
            </a:r>
            <a:r>
              <a:rPr lang="en-US" sz="2000" dirty="0" smtClean="0">
                <a:solidFill>
                  <a:schemeClr val="accent2"/>
                </a:solidFill>
              </a:rPr>
              <a:t> of A into fast memory}                 …  n</a:t>
            </a:r>
            <a:r>
              <a:rPr lang="en-US" sz="2000" baseline="30000" dirty="0" smtClean="0">
                <a:solidFill>
                  <a:schemeClr val="accent2"/>
                </a:solidFill>
              </a:rPr>
              <a:t>2 </a:t>
            </a:r>
            <a:r>
              <a:rPr lang="en-US" sz="2000" dirty="0" smtClean="0">
                <a:solidFill>
                  <a:schemeClr val="accent2"/>
                </a:solidFill>
              </a:rPr>
              <a:t>reads altogether</a:t>
            </a:r>
            <a:endParaRPr lang="en-US" sz="2000" dirty="0" smtClean="0"/>
          </a:p>
          <a:p>
            <a:pPr>
              <a:buFontTx/>
              <a:buNone/>
            </a:pPr>
            <a:r>
              <a:rPr lang="en-US" sz="2000" dirty="0" smtClean="0"/>
              <a:t>   for j = 1 to n</a:t>
            </a:r>
          </a:p>
          <a:p>
            <a:pPr>
              <a:buFontTx/>
              <a:buNone/>
            </a:pPr>
            <a:r>
              <a:rPr lang="en-US" sz="2000" dirty="0" smtClean="0"/>
              <a:t>       </a:t>
            </a:r>
            <a:r>
              <a:rPr lang="en-US" sz="2000" dirty="0" smtClean="0">
                <a:solidFill>
                  <a:schemeClr val="accent2"/>
                </a:solidFill>
              </a:rPr>
              <a:t>{read C(</a:t>
            </a:r>
            <a:r>
              <a:rPr lang="en-US" sz="2000" dirty="0" err="1" smtClean="0">
                <a:solidFill>
                  <a:schemeClr val="accent2"/>
                </a:solidFill>
              </a:rPr>
              <a:t>i,j</a:t>
            </a:r>
            <a:r>
              <a:rPr lang="en-US" sz="2000" dirty="0" smtClean="0">
                <a:solidFill>
                  <a:schemeClr val="accent2"/>
                </a:solidFill>
              </a:rPr>
              <a:t>) into fast memory}                     </a:t>
            </a:r>
            <a:r>
              <a:rPr lang="en-US" sz="2000" dirty="0">
                <a:solidFill>
                  <a:schemeClr val="accent2"/>
                </a:solidFill>
              </a:rPr>
              <a:t>…  n</a:t>
            </a:r>
            <a:r>
              <a:rPr lang="en-US" sz="2000" baseline="30000" dirty="0">
                <a:solidFill>
                  <a:schemeClr val="accent2"/>
                </a:solidFill>
              </a:rPr>
              <a:t>2</a:t>
            </a:r>
            <a:r>
              <a:rPr lang="en-US" sz="2000" dirty="0">
                <a:solidFill>
                  <a:schemeClr val="accent2"/>
                </a:solidFill>
              </a:rPr>
              <a:t> reads altogether</a:t>
            </a:r>
            <a:endParaRPr lang="en-US" sz="2000" dirty="0" smtClean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sz="2000" dirty="0" smtClean="0">
                <a:solidFill>
                  <a:schemeClr val="accent2"/>
                </a:solidFill>
              </a:rPr>
              <a:t>       {read column j of B into fast memory}      …  n</a:t>
            </a:r>
            <a:r>
              <a:rPr lang="en-US" sz="2000" baseline="30000" dirty="0" smtClean="0">
                <a:solidFill>
                  <a:schemeClr val="accent2"/>
                </a:solidFill>
              </a:rPr>
              <a:t>3</a:t>
            </a:r>
            <a:r>
              <a:rPr lang="en-US" sz="2000" dirty="0" smtClean="0">
                <a:solidFill>
                  <a:schemeClr val="accent2"/>
                </a:solidFill>
              </a:rPr>
              <a:t> reads altogether</a:t>
            </a:r>
            <a:endParaRPr lang="en-US" sz="2000" dirty="0" smtClean="0"/>
          </a:p>
          <a:p>
            <a:pPr>
              <a:buFontTx/>
              <a:buNone/>
            </a:pPr>
            <a:r>
              <a:rPr lang="en-US" sz="2000" dirty="0" smtClean="0"/>
              <a:t>       for k = 1 to n</a:t>
            </a:r>
          </a:p>
          <a:p>
            <a:pPr>
              <a:buFontTx/>
              <a:buNone/>
            </a:pPr>
            <a:r>
              <a:rPr lang="en-US" sz="2000" dirty="0" smtClean="0"/>
              <a:t>           C(</a:t>
            </a:r>
            <a:r>
              <a:rPr lang="en-US" sz="2000" dirty="0" err="1" smtClean="0"/>
              <a:t>i,j</a:t>
            </a:r>
            <a:r>
              <a:rPr lang="en-US" sz="2000" dirty="0" smtClean="0"/>
              <a:t>) = C(</a:t>
            </a:r>
            <a:r>
              <a:rPr lang="en-US" sz="2000" dirty="0" err="1" smtClean="0"/>
              <a:t>i,j</a:t>
            </a:r>
            <a:r>
              <a:rPr lang="en-US" sz="2000" dirty="0" smtClean="0"/>
              <a:t>) + A(</a:t>
            </a:r>
            <a:r>
              <a:rPr lang="en-US" sz="2000" dirty="0" err="1" smtClean="0"/>
              <a:t>i,k</a:t>
            </a:r>
            <a:r>
              <a:rPr lang="en-US" sz="2000" dirty="0" smtClean="0"/>
              <a:t>) * B(</a:t>
            </a:r>
            <a:r>
              <a:rPr lang="en-US" sz="2000" dirty="0" err="1" smtClean="0"/>
              <a:t>k,j</a:t>
            </a:r>
            <a:r>
              <a:rPr lang="en-US" sz="2000" dirty="0" smtClean="0"/>
              <a:t>)</a:t>
            </a:r>
          </a:p>
          <a:p>
            <a:pPr>
              <a:buFontTx/>
              <a:buNone/>
            </a:pPr>
            <a:r>
              <a:rPr lang="en-US" sz="2000" dirty="0" smtClean="0"/>
              <a:t>       </a:t>
            </a:r>
            <a:r>
              <a:rPr lang="en-US" sz="2000" dirty="0" smtClean="0">
                <a:solidFill>
                  <a:schemeClr val="accent2"/>
                </a:solidFill>
              </a:rPr>
              <a:t>{write C(</a:t>
            </a:r>
            <a:r>
              <a:rPr lang="en-US" sz="2000" dirty="0" err="1" smtClean="0">
                <a:solidFill>
                  <a:schemeClr val="accent2"/>
                </a:solidFill>
              </a:rPr>
              <a:t>i,j</a:t>
            </a:r>
            <a:r>
              <a:rPr lang="en-US" sz="2000" dirty="0" smtClean="0">
                <a:solidFill>
                  <a:schemeClr val="accent2"/>
                </a:solidFill>
              </a:rPr>
              <a:t>) back to slow memory}            … n</a:t>
            </a:r>
            <a:r>
              <a:rPr lang="en-US" sz="2000" baseline="30000" dirty="0" smtClean="0">
                <a:solidFill>
                  <a:schemeClr val="accent2"/>
                </a:solidFill>
              </a:rPr>
              <a:t>2</a:t>
            </a:r>
            <a:r>
              <a:rPr lang="en-US" sz="2000" dirty="0" smtClean="0">
                <a:solidFill>
                  <a:schemeClr val="accent2"/>
                </a:solidFill>
              </a:rPr>
              <a:t> writes altogether</a:t>
            </a: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3454400" y="4343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5080000" y="4343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0487" name="Text Box 6"/>
          <p:cNvSpPr txBox="1">
            <a:spLocks noChangeArrowheads="1"/>
          </p:cNvSpPr>
          <p:nvPr/>
        </p:nvSpPr>
        <p:spPr bwMode="auto">
          <a:xfrm>
            <a:off x="2709863" y="4876800"/>
            <a:ext cx="541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20488" name="Text Box 7"/>
          <p:cNvSpPr txBox="1">
            <a:spLocks noChangeArrowheads="1"/>
          </p:cNvSpPr>
          <p:nvPr/>
        </p:nvSpPr>
        <p:spPr bwMode="auto">
          <a:xfrm>
            <a:off x="4673600" y="4876800"/>
            <a:ext cx="271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0489" name="Text Box 8"/>
          <p:cNvSpPr txBox="1">
            <a:spLocks noChangeArrowheads="1"/>
          </p:cNvSpPr>
          <p:nvPr/>
        </p:nvSpPr>
        <p:spPr bwMode="auto">
          <a:xfrm>
            <a:off x="6230938" y="4876800"/>
            <a:ext cx="163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20490" name="Rectangle 9"/>
          <p:cNvSpPr>
            <a:spLocks noChangeArrowheads="1"/>
          </p:cNvSpPr>
          <p:nvPr/>
        </p:nvSpPr>
        <p:spPr bwMode="auto">
          <a:xfrm>
            <a:off x="3792538" y="4876800"/>
            <a:ext cx="136525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0491" name="Rectangle 10"/>
          <p:cNvSpPr>
            <a:spLocks noChangeArrowheads="1"/>
          </p:cNvSpPr>
          <p:nvPr/>
        </p:nvSpPr>
        <p:spPr bwMode="auto">
          <a:xfrm>
            <a:off x="5080000" y="4876800"/>
            <a:ext cx="1150938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0492" name="Text Box 11"/>
          <p:cNvSpPr txBox="1">
            <a:spLocks noChangeArrowheads="1"/>
          </p:cNvSpPr>
          <p:nvPr/>
        </p:nvSpPr>
        <p:spPr bwMode="auto">
          <a:xfrm>
            <a:off x="3522663" y="4572000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C(i,j)</a:t>
            </a:r>
          </a:p>
        </p:txBody>
      </p:sp>
      <p:sp>
        <p:nvSpPr>
          <p:cNvPr id="20493" name="Text Box 12"/>
          <p:cNvSpPr txBox="1">
            <a:spLocks noChangeArrowheads="1"/>
          </p:cNvSpPr>
          <p:nvPr/>
        </p:nvSpPr>
        <p:spPr bwMode="auto">
          <a:xfrm>
            <a:off x="5148263" y="4495800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A(i,:)</a:t>
            </a:r>
          </a:p>
        </p:txBody>
      </p:sp>
      <p:sp>
        <p:nvSpPr>
          <p:cNvPr id="20494" name="Rectangle 13"/>
          <p:cNvSpPr>
            <a:spLocks noChangeArrowheads="1"/>
          </p:cNvSpPr>
          <p:nvPr/>
        </p:nvSpPr>
        <p:spPr bwMode="auto">
          <a:xfrm>
            <a:off x="6629400" y="4343400"/>
            <a:ext cx="1152525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0495" name="Rectangle 14"/>
          <p:cNvSpPr>
            <a:spLocks noChangeArrowheads="1"/>
          </p:cNvSpPr>
          <p:nvPr/>
        </p:nvSpPr>
        <p:spPr bwMode="auto">
          <a:xfrm>
            <a:off x="6858000" y="4343400"/>
            <a:ext cx="134938" cy="1295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0496" name="Text Box 15"/>
          <p:cNvSpPr txBox="1">
            <a:spLocks noChangeArrowheads="1"/>
          </p:cNvSpPr>
          <p:nvPr/>
        </p:nvSpPr>
        <p:spPr bwMode="auto">
          <a:xfrm>
            <a:off x="7043738" y="4800600"/>
            <a:ext cx="677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B(:,j)</a:t>
            </a:r>
          </a:p>
        </p:txBody>
      </p:sp>
      <p:sp>
        <p:nvSpPr>
          <p:cNvPr id="20497" name="Rectangle 16"/>
          <p:cNvSpPr>
            <a:spLocks noChangeArrowheads="1"/>
          </p:cNvSpPr>
          <p:nvPr/>
        </p:nvSpPr>
        <p:spPr bwMode="auto">
          <a:xfrm>
            <a:off x="1371600" y="4343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0498" name="Rectangle 17"/>
          <p:cNvSpPr>
            <a:spLocks noChangeArrowheads="1"/>
          </p:cNvSpPr>
          <p:nvPr/>
        </p:nvSpPr>
        <p:spPr bwMode="auto">
          <a:xfrm>
            <a:off x="1828800" y="4876800"/>
            <a:ext cx="134938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0499" name="Text Box 18"/>
          <p:cNvSpPr txBox="1">
            <a:spLocks noChangeArrowheads="1"/>
          </p:cNvSpPr>
          <p:nvPr/>
        </p:nvSpPr>
        <p:spPr bwMode="auto">
          <a:xfrm>
            <a:off x="1557338" y="4572000"/>
            <a:ext cx="677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C(i,j)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80643" y="5943600"/>
            <a:ext cx="76464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n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 + 3n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reads/writes altogether – dominates 2n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 arithmetic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83923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8DB8727E-1D2B-414C-A904-A942F4283944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/>
              <a:t>19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38" y="309563"/>
            <a:ext cx="7878762" cy="4222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Blocked (Tiled) Matrix Multiply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38225"/>
            <a:ext cx="8534400" cy="3476625"/>
          </a:xfrm>
          <a:ln>
            <a:solidFill>
              <a:srgbClr val="000066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2000" dirty="0" smtClean="0"/>
              <a:t>Consider A,B,C to be n</a:t>
            </a:r>
            <a:r>
              <a:rPr lang="en-US" sz="2000" dirty="0" smtClean="0">
                <a:solidFill>
                  <a:srgbClr val="0824F2"/>
                </a:solidFill>
              </a:rPr>
              <a:t>/b</a:t>
            </a:r>
            <a:r>
              <a:rPr lang="en-US" sz="2000" dirty="0" smtClean="0"/>
              <a:t>-by-n</a:t>
            </a:r>
            <a:r>
              <a:rPr lang="en-US" sz="2000" dirty="0" smtClean="0">
                <a:solidFill>
                  <a:srgbClr val="0824F2"/>
                </a:solidFill>
              </a:rPr>
              <a:t>/b</a:t>
            </a:r>
            <a:r>
              <a:rPr lang="en-US" sz="2000" dirty="0" smtClean="0"/>
              <a:t> matrices of b-by-b </a:t>
            </a:r>
            <a:r>
              <a:rPr lang="en-US" sz="2000" dirty="0" err="1" smtClean="0"/>
              <a:t>subblocks</a:t>
            </a:r>
            <a:r>
              <a:rPr lang="en-US" sz="2000" dirty="0" smtClean="0"/>
              <a:t> where                             b is called the </a:t>
            </a:r>
            <a:r>
              <a:rPr lang="en-US" sz="2000" dirty="0" smtClean="0">
                <a:solidFill>
                  <a:schemeClr val="accent2"/>
                </a:solidFill>
              </a:rPr>
              <a:t>block size;    assume 3 b-by-b blocks fit in fast memory</a:t>
            </a:r>
            <a:endParaRPr lang="en-US" sz="2000" dirty="0" smtClean="0"/>
          </a:p>
          <a:p>
            <a:pPr>
              <a:buFontTx/>
              <a:buNone/>
            </a:pPr>
            <a:r>
              <a:rPr lang="en-US" sz="2000" dirty="0" smtClean="0"/>
              <a:t>	   for </a:t>
            </a:r>
            <a:r>
              <a:rPr lang="en-US" sz="2000" dirty="0" err="1" smtClean="0"/>
              <a:t>i</a:t>
            </a:r>
            <a:r>
              <a:rPr lang="en-US" sz="2000" dirty="0" smtClean="0"/>
              <a:t> = 1 to n</a:t>
            </a:r>
            <a:r>
              <a:rPr lang="en-US" sz="2000" dirty="0" smtClean="0">
                <a:solidFill>
                  <a:srgbClr val="0824F2"/>
                </a:solidFill>
              </a:rPr>
              <a:t>/b</a:t>
            </a:r>
          </a:p>
          <a:p>
            <a:pPr>
              <a:buFontTx/>
              <a:buNone/>
            </a:pPr>
            <a:r>
              <a:rPr lang="en-US" sz="2000" dirty="0" smtClean="0"/>
              <a:t> 	      for j = 1 to n</a:t>
            </a:r>
            <a:r>
              <a:rPr lang="en-US" sz="2000" dirty="0" smtClean="0">
                <a:solidFill>
                  <a:srgbClr val="0824F2"/>
                </a:solidFill>
              </a:rPr>
              <a:t>/b</a:t>
            </a:r>
          </a:p>
          <a:p>
            <a:pPr>
              <a:buFontTx/>
              <a:buNone/>
            </a:pPr>
            <a:r>
              <a:rPr lang="en-US" sz="2000" dirty="0" smtClean="0"/>
              <a:t>       	</a:t>
            </a:r>
            <a:r>
              <a:rPr lang="en-US" sz="2000" dirty="0" smtClean="0">
                <a:solidFill>
                  <a:schemeClr val="accent2"/>
                </a:solidFill>
              </a:rPr>
              <a:t>{read block C(</a:t>
            </a:r>
            <a:r>
              <a:rPr lang="en-US" sz="2000" dirty="0" err="1" smtClean="0">
                <a:solidFill>
                  <a:schemeClr val="accent2"/>
                </a:solidFill>
              </a:rPr>
              <a:t>i,j</a:t>
            </a:r>
            <a:r>
              <a:rPr lang="en-US" sz="2000" dirty="0" smtClean="0">
                <a:solidFill>
                  <a:schemeClr val="accent2"/>
                </a:solidFill>
              </a:rPr>
              <a:t>) into fast memory}</a:t>
            </a:r>
          </a:p>
          <a:p>
            <a:pPr>
              <a:buFontTx/>
              <a:buNone/>
            </a:pPr>
            <a:r>
              <a:rPr lang="en-US" sz="2000" dirty="0" smtClean="0"/>
              <a:t>       	for k = 1 to n</a:t>
            </a:r>
            <a:r>
              <a:rPr lang="en-US" sz="2000" dirty="0" smtClean="0">
                <a:solidFill>
                  <a:srgbClr val="0824F2"/>
                </a:solidFill>
              </a:rPr>
              <a:t>/b</a:t>
            </a:r>
          </a:p>
          <a:p>
            <a:pPr>
              <a:buFontTx/>
              <a:buNone/>
            </a:pPr>
            <a:r>
              <a:rPr lang="en-US" sz="2000" dirty="0" smtClean="0"/>
              <a:t>           	       </a:t>
            </a:r>
            <a:r>
              <a:rPr lang="en-US" sz="2000" dirty="0" smtClean="0">
                <a:solidFill>
                  <a:schemeClr val="accent2"/>
                </a:solidFill>
              </a:rPr>
              <a:t>{read block A(</a:t>
            </a:r>
            <a:r>
              <a:rPr lang="en-US" sz="2000" dirty="0" err="1" smtClean="0">
                <a:solidFill>
                  <a:schemeClr val="accent2"/>
                </a:solidFill>
              </a:rPr>
              <a:t>i,k</a:t>
            </a:r>
            <a:r>
              <a:rPr lang="en-US" sz="2000" dirty="0" smtClean="0">
                <a:solidFill>
                  <a:schemeClr val="accent2"/>
                </a:solidFill>
              </a:rPr>
              <a:t>) into fast memory}</a:t>
            </a:r>
          </a:p>
          <a:p>
            <a:pPr>
              <a:buFontTx/>
              <a:buNone/>
            </a:pPr>
            <a:r>
              <a:rPr lang="en-US" sz="2000" dirty="0" smtClean="0">
                <a:solidFill>
                  <a:schemeClr val="accent2"/>
                </a:solidFill>
              </a:rPr>
              <a:t>           	       {read block B(</a:t>
            </a:r>
            <a:r>
              <a:rPr lang="en-US" sz="2000" dirty="0" err="1" smtClean="0">
                <a:solidFill>
                  <a:schemeClr val="accent2"/>
                </a:solidFill>
              </a:rPr>
              <a:t>k,j</a:t>
            </a:r>
            <a:r>
              <a:rPr lang="en-US" sz="2000" dirty="0" smtClean="0">
                <a:solidFill>
                  <a:schemeClr val="accent2"/>
                </a:solidFill>
              </a:rPr>
              <a:t>) into fast memory}</a:t>
            </a:r>
          </a:p>
          <a:p>
            <a:pPr>
              <a:buFontTx/>
              <a:buNone/>
            </a:pPr>
            <a:r>
              <a:rPr lang="en-US" sz="2000" dirty="0" smtClean="0"/>
              <a:t>          	        C(</a:t>
            </a:r>
            <a:r>
              <a:rPr lang="en-US" sz="2000" dirty="0" err="1" smtClean="0"/>
              <a:t>i,j</a:t>
            </a:r>
            <a:r>
              <a:rPr lang="en-US" sz="2000" dirty="0" smtClean="0"/>
              <a:t>) = C(</a:t>
            </a:r>
            <a:r>
              <a:rPr lang="en-US" sz="2000" dirty="0" err="1" smtClean="0"/>
              <a:t>i,j</a:t>
            </a:r>
            <a:r>
              <a:rPr lang="en-US" sz="2000" dirty="0" smtClean="0"/>
              <a:t>) + A(</a:t>
            </a:r>
            <a:r>
              <a:rPr lang="en-US" sz="2000" dirty="0" err="1" smtClean="0"/>
              <a:t>i,k</a:t>
            </a:r>
            <a:r>
              <a:rPr lang="en-US" sz="2000" dirty="0" smtClean="0"/>
              <a:t>) * B(</a:t>
            </a:r>
            <a:r>
              <a:rPr lang="en-US" sz="2000" dirty="0" err="1" smtClean="0"/>
              <a:t>k,j</a:t>
            </a:r>
            <a:r>
              <a:rPr lang="en-US" sz="2000" dirty="0" smtClean="0"/>
              <a:t>) {do a matrix multiply on blocks}</a:t>
            </a:r>
          </a:p>
          <a:p>
            <a:pPr>
              <a:buFontTx/>
              <a:buNone/>
            </a:pPr>
            <a:r>
              <a:rPr lang="en-US" sz="2000" dirty="0" smtClean="0"/>
              <a:t>      	 </a:t>
            </a:r>
            <a:r>
              <a:rPr lang="en-US" sz="2000" dirty="0" smtClean="0">
                <a:solidFill>
                  <a:schemeClr val="accent2"/>
                </a:solidFill>
              </a:rPr>
              <a:t>{write block C(</a:t>
            </a:r>
            <a:r>
              <a:rPr lang="en-US" sz="2000" dirty="0" err="1" smtClean="0">
                <a:solidFill>
                  <a:schemeClr val="accent2"/>
                </a:solidFill>
              </a:rPr>
              <a:t>i,j</a:t>
            </a:r>
            <a:r>
              <a:rPr lang="en-US" sz="2000" dirty="0" smtClean="0">
                <a:solidFill>
                  <a:schemeClr val="accent2"/>
                </a:solidFill>
              </a:rPr>
              <a:t>) back to slow memory}</a:t>
            </a:r>
            <a:endParaRPr lang="en-US" sz="2000" dirty="0" smtClean="0"/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1422400" y="4724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3454400" y="4724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5080000" y="4724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60" name="Rectangle 7"/>
          <p:cNvSpPr>
            <a:spLocks noChangeArrowheads="1"/>
          </p:cNvSpPr>
          <p:nvPr/>
        </p:nvSpPr>
        <p:spPr bwMode="auto">
          <a:xfrm>
            <a:off x="6637338" y="4724400"/>
            <a:ext cx="1152525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61" name="Text Box 8"/>
          <p:cNvSpPr txBox="1">
            <a:spLocks noChangeArrowheads="1"/>
          </p:cNvSpPr>
          <p:nvPr/>
        </p:nvSpPr>
        <p:spPr bwMode="auto">
          <a:xfrm>
            <a:off x="2709863" y="5257800"/>
            <a:ext cx="541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23562" name="Text Box 9"/>
          <p:cNvSpPr txBox="1">
            <a:spLocks noChangeArrowheads="1"/>
          </p:cNvSpPr>
          <p:nvPr/>
        </p:nvSpPr>
        <p:spPr bwMode="auto">
          <a:xfrm>
            <a:off x="4673600" y="5257800"/>
            <a:ext cx="271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3563" name="Text Box 10"/>
          <p:cNvSpPr txBox="1">
            <a:spLocks noChangeArrowheads="1"/>
          </p:cNvSpPr>
          <p:nvPr/>
        </p:nvSpPr>
        <p:spPr bwMode="auto">
          <a:xfrm>
            <a:off x="6230938" y="5257800"/>
            <a:ext cx="163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23564" name="Rectangle 11"/>
          <p:cNvSpPr>
            <a:spLocks noChangeArrowheads="1"/>
          </p:cNvSpPr>
          <p:nvPr/>
        </p:nvSpPr>
        <p:spPr bwMode="auto">
          <a:xfrm>
            <a:off x="1828800" y="5257800"/>
            <a:ext cx="134938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3565" name="Rectangle 12"/>
          <p:cNvSpPr>
            <a:spLocks noChangeArrowheads="1"/>
          </p:cNvSpPr>
          <p:nvPr/>
        </p:nvSpPr>
        <p:spPr bwMode="auto">
          <a:xfrm>
            <a:off x="5080000" y="5257800"/>
            <a:ext cx="1150938" cy="1524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66" name="Rectangle 13"/>
          <p:cNvSpPr>
            <a:spLocks noChangeArrowheads="1"/>
          </p:cNvSpPr>
          <p:nvPr/>
        </p:nvSpPr>
        <p:spPr bwMode="auto">
          <a:xfrm>
            <a:off x="6908800" y="4724400"/>
            <a:ext cx="134938" cy="12954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67" name="Text Box 14"/>
          <p:cNvSpPr txBox="1">
            <a:spLocks noChangeArrowheads="1"/>
          </p:cNvSpPr>
          <p:nvPr/>
        </p:nvSpPr>
        <p:spPr bwMode="auto">
          <a:xfrm>
            <a:off x="1557338" y="4953000"/>
            <a:ext cx="677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C(i,j)</a:t>
            </a:r>
          </a:p>
        </p:txBody>
      </p:sp>
      <p:sp>
        <p:nvSpPr>
          <p:cNvPr id="23568" name="Text Box 15"/>
          <p:cNvSpPr txBox="1">
            <a:spLocks noChangeArrowheads="1"/>
          </p:cNvSpPr>
          <p:nvPr/>
        </p:nvSpPr>
        <p:spPr bwMode="auto">
          <a:xfrm>
            <a:off x="3522663" y="4953000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C(i,j)</a:t>
            </a:r>
          </a:p>
        </p:txBody>
      </p:sp>
      <p:sp>
        <p:nvSpPr>
          <p:cNvPr id="23569" name="Text Box 16"/>
          <p:cNvSpPr txBox="1">
            <a:spLocks noChangeArrowheads="1"/>
          </p:cNvSpPr>
          <p:nvPr/>
        </p:nvSpPr>
        <p:spPr bwMode="auto">
          <a:xfrm>
            <a:off x="5486400" y="4876800"/>
            <a:ext cx="677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A(i,k)</a:t>
            </a:r>
          </a:p>
        </p:txBody>
      </p:sp>
      <p:sp>
        <p:nvSpPr>
          <p:cNvPr id="23570" name="Text Box 17"/>
          <p:cNvSpPr txBox="1">
            <a:spLocks noChangeArrowheads="1"/>
          </p:cNvSpPr>
          <p:nvPr/>
        </p:nvSpPr>
        <p:spPr bwMode="auto">
          <a:xfrm>
            <a:off x="7043738" y="5410200"/>
            <a:ext cx="677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B(k,j)</a:t>
            </a:r>
          </a:p>
        </p:txBody>
      </p:sp>
      <p:sp>
        <p:nvSpPr>
          <p:cNvPr id="23571" name="Rectangle 18"/>
          <p:cNvSpPr>
            <a:spLocks noChangeArrowheads="1"/>
          </p:cNvSpPr>
          <p:nvPr/>
        </p:nvSpPr>
        <p:spPr bwMode="auto">
          <a:xfrm>
            <a:off x="3792538" y="5257800"/>
            <a:ext cx="136525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3572" name="Rectangle 19"/>
          <p:cNvSpPr>
            <a:spLocks noChangeArrowheads="1"/>
          </p:cNvSpPr>
          <p:nvPr/>
        </p:nvSpPr>
        <p:spPr bwMode="auto">
          <a:xfrm>
            <a:off x="6908800" y="5562600"/>
            <a:ext cx="134938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3573" name="Rectangle 20"/>
          <p:cNvSpPr>
            <a:spLocks noChangeArrowheads="1"/>
          </p:cNvSpPr>
          <p:nvPr/>
        </p:nvSpPr>
        <p:spPr bwMode="auto">
          <a:xfrm>
            <a:off x="5757863" y="5257800"/>
            <a:ext cx="134937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" name="TextBox 1"/>
          <p:cNvSpPr txBox="1"/>
          <p:nvPr/>
        </p:nvSpPr>
        <p:spPr>
          <a:xfrm>
            <a:off x="381000" y="5181600"/>
            <a:ext cx="794321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800000"/>
                </a:solidFill>
              </a:rPr>
              <a:t>b</a:t>
            </a:r>
            <a:r>
              <a:rPr lang="en-US" dirty="0" smtClean="0">
                <a:solidFill>
                  <a:srgbClr val="800000"/>
                </a:solidFill>
              </a:rPr>
              <a:t>-by-b</a:t>
            </a:r>
          </a:p>
          <a:p>
            <a:r>
              <a:rPr lang="en-US" dirty="0" smtClean="0">
                <a:solidFill>
                  <a:srgbClr val="800000"/>
                </a:solidFill>
              </a:rPr>
              <a:t>block</a:t>
            </a:r>
            <a:endParaRPr lang="en-US" dirty="0">
              <a:solidFill>
                <a:srgbClr val="800000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143000" y="5334000"/>
            <a:ext cx="653479" cy="170766"/>
          </a:xfrm>
          <a:prstGeom prst="straightConnector1">
            <a:avLst/>
          </a:prstGeom>
          <a:ln>
            <a:solidFill>
              <a:srgbClr val="8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6325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8DB8727E-1D2B-414C-A904-A942F4283944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/>
              <a:t>20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38" y="309563"/>
            <a:ext cx="7878762" cy="4222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Blocked (Tiled) Matrix Multiply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38225"/>
            <a:ext cx="8534400" cy="3476625"/>
          </a:xfrm>
          <a:ln>
            <a:solidFill>
              <a:srgbClr val="000066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dirty="0" smtClean="0"/>
              <a:t>Consider A,B,C to be n</a:t>
            </a:r>
            <a:r>
              <a:rPr lang="en-US" sz="2000" dirty="0" smtClean="0">
                <a:solidFill>
                  <a:srgbClr val="0824F2"/>
                </a:solidFill>
              </a:rPr>
              <a:t>/b</a:t>
            </a:r>
            <a:r>
              <a:rPr lang="en-US" sz="2000" dirty="0" smtClean="0"/>
              <a:t>-by-n</a:t>
            </a:r>
            <a:r>
              <a:rPr lang="en-US" sz="2000" dirty="0" smtClean="0">
                <a:solidFill>
                  <a:srgbClr val="0824F2"/>
                </a:solidFill>
              </a:rPr>
              <a:t>/b</a:t>
            </a:r>
            <a:r>
              <a:rPr lang="en-US" sz="2000" dirty="0" smtClean="0"/>
              <a:t> matrices of b-by-b </a:t>
            </a:r>
            <a:r>
              <a:rPr lang="en-US" sz="2000" dirty="0" err="1" smtClean="0"/>
              <a:t>subblocks</a:t>
            </a:r>
            <a:r>
              <a:rPr lang="en-US" sz="2000" dirty="0" smtClean="0"/>
              <a:t> where                             b is called the </a:t>
            </a:r>
            <a:r>
              <a:rPr lang="en-US" sz="2000" dirty="0" smtClean="0">
                <a:solidFill>
                  <a:schemeClr val="accent2"/>
                </a:solidFill>
              </a:rPr>
              <a:t>block </a:t>
            </a:r>
            <a:r>
              <a:rPr lang="en-US" sz="2000" dirty="0">
                <a:solidFill>
                  <a:schemeClr val="accent2"/>
                </a:solidFill>
              </a:rPr>
              <a:t>size;    assume 3 b-by-b blocks fit in fast </a:t>
            </a:r>
            <a:r>
              <a:rPr lang="en-US" sz="2000" dirty="0" smtClean="0">
                <a:solidFill>
                  <a:schemeClr val="accent2"/>
                </a:solidFill>
              </a:rPr>
              <a:t>memory </a:t>
            </a:r>
            <a:endParaRPr lang="en-US" sz="2000" dirty="0" smtClean="0"/>
          </a:p>
          <a:p>
            <a:pPr>
              <a:buFontTx/>
              <a:buNone/>
            </a:pPr>
            <a:r>
              <a:rPr lang="en-US" sz="2000" dirty="0" smtClean="0"/>
              <a:t>	   for </a:t>
            </a:r>
            <a:r>
              <a:rPr lang="en-US" sz="2000" dirty="0" err="1" smtClean="0"/>
              <a:t>i</a:t>
            </a:r>
            <a:r>
              <a:rPr lang="en-US" sz="2000" dirty="0" smtClean="0"/>
              <a:t> = 1 to n</a:t>
            </a:r>
            <a:r>
              <a:rPr lang="en-US" sz="2000" dirty="0" smtClean="0">
                <a:solidFill>
                  <a:srgbClr val="0824F2"/>
                </a:solidFill>
              </a:rPr>
              <a:t>/b</a:t>
            </a:r>
          </a:p>
          <a:p>
            <a:pPr>
              <a:buFontTx/>
              <a:buNone/>
            </a:pPr>
            <a:r>
              <a:rPr lang="en-US" sz="2000" dirty="0" smtClean="0"/>
              <a:t> 	      for j = 1 to n</a:t>
            </a:r>
            <a:r>
              <a:rPr lang="en-US" sz="2000" dirty="0" smtClean="0">
                <a:solidFill>
                  <a:srgbClr val="0824F2"/>
                </a:solidFill>
              </a:rPr>
              <a:t>/b</a:t>
            </a:r>
          </a:p>
          <a:p>
            <a:pPr>
              <a:buFontTx/>
              <a:buNone/>
            </a:pPr>
            <a:r>
              <a:rPr lang="en-US" sz="2000" dirty="0" smtClean="0"/>
              <a:t>       	</a:t>
            </a:r>
            <a:r>
              <a:rPr lang="en-US" sz="2000" dirty="0" smtClean="0">
                <a:solidFill>
                  <a:schemeClr val="accent2"/>
                </a:solidFill>
              </a:rPr>
              <a:t>{read block C(</a:t>
            </a:r>
            <a:r>
              <a:rPr lang="en-US" sz="2000" dirty="0" err="1" smtClean="0">
                <a:solidFill>
                  <a:schemeClr val="accent2"/>
                </a:solidFill>
              </a:rPr>
              <a:t>i,j</a:t>
            </a:r>
            <a:r>
              <a:rPr lang="en-US" sz="2000" dirty="0" smtClean="0">
                <a:solidFill>
                  <a:schemeClr val="accent2"/>
                </a:solidFill>
              </a:rPr>
              <a:t>) into fast memory}            … b</a:t>
            </a:r>
            <a:r>
              <a:rPr lang="en-US" sz="2000" baseline="30000" dirty="0" smtClean="0">
                <a:solidFill>
                  <a:schemeClr val="accent2"/>
                </a:solidFill>
              </a:rPr>
              <a:t>2</a:t>
            </a:r>
            <a:r>
              <a:rPr lang="en-US" sz="2000" dirty="0" smtClean="0">
                <a:solidFill>
                  <a:schemeClr val="accent2"/>
                </a:solidFill>
              </a:rPr>
              <a:t> × (n/b)</a:t>
            </a:r>
            <a:r>
              <a:rPr lang="en-US" sz="2000" baseline="30000" dirty="0" smtClean="0">
                <a:solidFill>
                  <a:schemeClr val="accent2"/>
                </a:solidFill>
              </a:rPr>
              <a:t>2</a:t>
            </a:r>
            <a:r>
              <a:rPr lang="en-US" sz="2000" dirty="0" smtClean="0">
                <a:solidFill>
                  <a:schemeClr val="accent2"/>
                </a:solidFill>
              </a:rPr>
              <a:t> = n</a:t>
            </a:r>
            <a:r>
              <a:rPr lang="en-US" sz="2000" baseline="30000" dirty="0" smtClean="0">
                <a:solidFill>
                  <a:schemeClr val="accent2"/>
                </a:solidFill>
              </a:rPr>
              <a:t>2</a:t>
            </a:r>
            <a:r>
              <a:rPr lang="en-US" sz="2000" dirty="0" smtClean="0">
                <a:solidFill>
                  <a:schemeClr val="accent2"/>
                </a:solidFill>
              </a:rPr>
              <a:t> reads</a:t>
            </a:r>
          </a:p>
          <a:p>
            <a:pPr>
              <a:buFontTx/>
              <a:buNone/>
            </a:pPr>
            <a:r>
              <a:rPr lang="en-US" sz="2000" dirty="0" smtClean="0"/>
              <a:t>       	for k = 1 to n</a:t>
            </a:r>
            <a:r>
              <a:rPr lang="en-US" sz="2000" dirty="0" smtClean="0">
                <a:solidFill>
                  <a:srgbClr val="0824F2"/>
                </a:solidFill>
              </a:rPr>
              <a:t>/b</a:t>
            </a:r>
          </a:p>
          <a:p>
            <a:pPr>
              <a:buNone/>
            </a:pPr>
            <a:r>
              <a:rPr lang="en-US" sz="2000" dirty="0" smtClean="0"/>
              <a:t>           	       </a:t>
            </a:r>
            <a:r>
              <a:rPr lang="en-US" sz="2000" dirty="0" smtClean="0">
                <a:solidFill>
                  <a:schemeClr val="accent2"/>
                </a:solidFill>
              </a:rPr>
              <a:t>{read block A(</a:t>
            </a:r>
            <a:r>
              <a:rPr lang="en-US" sz="2000" dirty="0" err="1" smtClean="0">
                <a:solidFill>
                  <a:schemeClr val="accent2"/>
                </a:solidFill>
              </a:rPr>
              <a:t>i,k</a:t>
            </a:r>
            <a:r>
              <a:rPr lang="en-US" sz="2000" dirty="0" smtClean="0">
                <a:solidFill>
                  <a:schemeClr val="accent2"/>
                </a:solidFill>
              </a:rPr>
              <a:t>) into fast memory</a:t>
            </a:r>
            <a:r>
              <a:rPr lang="en-US" sz="2000" dirty="0">
                <a:solidFill>
                  <a:schemeClr val="accent2"/>
                </a:solidFill>
              </a:rPr>
              <a:t>} </a:t>
            </a:r>
            <a:r>
              <a:rPr lang="en-US" sz="2000" dirty="0" smtClean="0">
                <a:solidFill>
                  <a:schemeClr val="accent2"/>
                </a:solidFill>
              </a:rPr>
              <a:t>   … </a:t>
            </a:r>
            <a:r>
              <a:rPr lang="en-US" sz="2000" dirty="0">
                <a:solidFill>
                  <a:schemeClr val="accent2"/>
                </a:solidFill>
              </a:rPr>
              <a:t>b</a:t>
            </a:r>
            <a:r>
              <a:rPr lang="en-US" sz="2000" baseline="30000" dirty="0">
                <a:solidFill>
                  <a:schemeClr val="accent2"/>
                </a:solidFill>
              </a:rPr>
              <a:t>2</a:t>
            </a:r>
            <a:r>
              <a:rPr lang="en-US" sz="2000" dirty="0">
                <a:solidFill>
                  <a:schemeClr val="accent2"/>
                </a:solidFill>
              </a:rPr>
              <a:t> × (n/b</a:t>
            </a:r>
            <a:r>
              <a:rPr lang="en-US" sz="2000" dirty="0" smtClean="0">
                <a:solidFill>
                  <a:schemeClr val="accent2"/>
                </a:solidFill>
              </a:rPr>
              <a:t>)</a:t>
            </a:r>
            <a:r>
              <a:rPr lang="en-US" sz="2000" baseline="30000" dirty="0" smtClean="0">
                <a:solidFill>
                  <a:schemeClr val="accent2"/>
                </a:solidFill>
              </a:rPr>
              <a:t>3</a:t>
            </a:r>
            <a:r>
              <a:rPr lang="en-US" sz="2000" dirty="0" smtClean="0">
                <a:solidFill>
                  <a:schemeClr val="accent2"/>
                </a:solidFill>
              </a:rPr>
              <a:t> </a:t>
            </a:r>
            <a:r>
              <a:rPr lang="en-US" sz="2000" dirty="0">
                <a:solidFill>
                  <a:schemeClr val="accent2"/>
                </a:solidFill>
              </a:rPr>
              <a:t>= </a:t>
            </a:r>
            <a:r>
              <a:rPr lang="en-US" sz="2000" dirty="0" smtClean="0">
                <a:solidFill>
                  <a:schemeClr val="accent2"/>
                </a:solidFill>
              </a:rPr>
              <a:t>n</a:t>
            </a:r>
            <a:r>
              <a:rPr lang="en-US" sz="2000" baseline="30000" dirty="0" smtClean="0">
                <a:solidFill>
                  <a:schemeClr val="accent2"/>
                </a:solidFill>
              </a:rPr>
              <a:t>3</a:t>
            </a:r>
            <a:r>
              <a:rPr lang="en-US" sz="2000" dirty="0" smtClean="0">
                <a:solidFill>
                  <a:schemeClr val="accent2"/>
                </a:solidFill>
              </a:rPr>
              <a:t>/b reads  </a:t>
            </a:r>
          </a:p>
          <a:p>
            <a:pPr>
              <a:buFontTx/>
              <a:buNone/>
            </a:pPr>
            <a:r>
              <a:rPr lang="en-US" sz="2000" dirty="0" smtClean="0">
                <a:solidFill>
                  <a:schemeClr val="accent2"/>
                </a:solidFill>
              </a:rPr>
              <a:t>           	       {read block B(</a:t>
            </a:r>
            <a:r>
              <a:rPr lang="en-US" sz="2000" dirty="0" err="1" smtClean="0">
                <a:solidFill>
                  <a:schemeClr val="accent2"/>
                </a:solidFill>
              </a:rPr>
              <a:t>k,j</a:t>
            </a:r>
            <a:r>
              <a:rPr lang="en-US" sz="2000" dirty="0" smtClean="0">
                <a:solidFill>
                  <a:schemeClr val="accent2"/>
                </a:solidFill>
              </a:rPr>
              <a:t>) into fast memory}    </a:t>
            </a:r>
            <a:r>
              <a:rPr lang="en-US" sz="2000" dirty="0">
                <a:solidFill>
                  <a:schemeClr val="accent2"/>
                </a:solidFill>
              </a:rPr>
              <a:t>… b</a:t>
            </a:r>
            <a:r>
              <a:rPr lang="en-US" sz="2000" baseline="30000" dirty="0">
                <a:solidFill>
                  <a:schemeClr val="accent2"/>
                </a:solidFill>
              </a:rPr>
              <a:t>2</a:t>
            </a:r>
            <a:r>
              <a:rPr lang="en-US" sz="2000" dirty="0">
                <a:solidFill>
                  <a:schemeClr val="accent2"/>
                </a:solidFill>
              </a:rPr>
              <a:t> × (n/b)</a:t>
            </a:r>
            <a:r>
              <a:rPr lang="en-US" sz="2000" baseline="30000" dirty="0">
                <a:solidFill>
                  <a:schemeClr val="accent2"/>
                </a:solidFill>
              </a:rPr>
              <a:t>3</a:t>
            </a:r>
            <a:r>
              <a:rPr lang="en-US" sz="2000" dirty="0">
                <a:solidFill>
                  <a:schemeClr val="accent2"/>
                </a:solidFill>
              </a:rPr>
              <a:t> = n</a:t>
            </a:r>
            <a:r>
              <a:rPr lang="en-US" sz="2000" baseline="30000" dirty="0">
                <a:solidFill>
                  <a:schemeClr val="accent2"/>
                </a:solidFill>
              </a:rPr>
              <a:t>3</a:t>
            </a:r>
            <a:r>
              <a:rPr lang="en-US" sz="2000" dirty="0">
                <a:solidFill>
                  <a:schemeClr val="accent2"/>
                </a:solidFill>
              </a:rPr>
              <a:t>/b reads </a:t>
            </a:r>
            <a:endParaRPr lang="en-US" sz="2000" dirty="0" smtClean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sz="2000" dirty="0" smtClean="0"/>
              <a:t>          	        C(</a:t>
            </a:r>
            <a:r>
              <a:rPr lang="en-US" sz="2000" dirty="0" err="1" smtClean="0"/>
              <a:t>i,j</a:t>
            </a:r>
            <a:r>
              <a:rPr lang="en-US" sz="2000" dirty="0" smtClean="0"/>
              <a:t>) = C(</a:t>
            </a:r>
            <a:r>
              <a:rPr lang="en-US" sz="2000" dirty="0" err="1" smtClean="0"/>
              <a:t>i,j</a:t>
            </a:r>
            <a:r>
              <a:rPr lang="en-US" sz="2000" dirty="0" smtClean="0"/>
              <a:t>) + A(</a:t>
            </a:r>
            <a:r>
              <a:rPr lang="en-US" sz="2000" dirty="0" err="1" smtClean="0"/>
              <a:t>i,k</a:t>
            </a:r>
            <a:r>
              <a:rPr lang="en-US" sz="2000" dirty="0" smtClean="0"/>
              <a:t>) * B(</a:t>
            </a:r>
            <a:r>
              <a:rPr lang="en-US" sz="2000" dirty="0" err="1" smtClean="0"/>
              <a:t>k,j</a:t>
            </a:r>
            <a:r>
              <a:rPr lang="en-US" sz="2000" dirty="0" smtClean="0"/>
              <a:t>) {do a matrix multiply on blocks}</a:t>
            </a:r>
          </a:p>
          <a:p>
            <a:pPr>
              <a:buNone/>
            </a:pPr>
            <a:r>
              <a:rPr lang="en-US" sz="2000" dirty="0" smtClean="0"/>
              <a:t>      	 </a:t>
            </a:r>
            <a:r>
              <a:rPr lang="en-US" sz="2000" dirty="0" smtClean="0">
                <a:solidFill>
                  <a:schemeClr val="accent2"/>
                </a:solidFill>
              </a:rPr>
              <a:t>{write block C(</a:t>
            </a:r>
            <a:r>
              <a:rPr lang="en-US" sz="2000" dirty="0" err="1" smtClean="0">
                <a:solidFill>
                  <a:schemeClr val="accent2"/>
                </a:solidFill>
              </a:rPr>
              <a:t>i,j</a:t>
            </a:r>
            <a:r>
              <a:rPr lang="en-US" sz="2000" dirty="0" smtClean="0">
                <a:solidFill>
                  <a:schemeClr val="accent2"/>
                </a:solidFill>
              </a:rPr>
              <a:t>) back to slow memory</a:t>
            </a:r>
            <a:r>
              <a:rPr lang="en-US" sz="2000" dirty="0">
                <a:solidFill>
                  <a:schemeClr val="accent2"/>
                </a:solidFill>
              </a:rPr>
              <a:t>} </a:t>
            </a:r>
            <a:r>
              <a:rPr lang="en-US" sz="2000" dirty="0" smtClean="0">
                <a:solidFill>
                  <a:schemeClr val="accent2"/>
                </a:solidFill>
              </a:rPr>
              <a:t> … </a:t>
            </a:r>
            <a:r>
              <a:rPr lang="en-US" sz="2000" dirty="0">
                <a:solidFill>
                  <a:schemeClr val="accent2"/>
                </a:solidFill>
              </a:rPr>
              <a:t>b</a:t>
            </a:r>
            <a:r>
              <a:rPr lang="en-US" sz="2000" baseline="30000" dirty="0">
                <a:solidFill>
                  <a:schemeClr val="accent2"/>
                </a:solidFill>
              </a:rPr>
              <a:t>2</a:t>
            </a:r>
            <a:r>
              <a:rPr lang="en-US" sz="2000" dirty="0">
                <a:solidFill>
                  <a:schemeClr val="accent2"/>
                </a:solidFill>
              </a:rPr>
              <a:t> × (n/b)</a:t>
            </a:r>
            <a:r>
              <a:rPr lang="en-US" sz="2000" baseline="30000" dirty="0">
                <a:solidFill>
                  <a:schemeClr val="accent2"/>
                </a:solidFill>
              </a:rPr>
              <a:t>2</a:t>
            </a:r>
            <a:r>
              <a:rPr lang="en-US" sz="2000" dirty="0">
                <a:solidFill>
                  <a:schemeClr val="accent2"/>
                </a:solidFill>
              </a:rPr>
              <a:t> = n</a:t>
            </a:r>
            <a:r>
              <a:rPr lang="en-US" sz="2000" baseline="30000" dirty="0">
                <a:solidFill>
                  <a:schemeClr val="accent2"/>
                </a:solidFill>
              </a:rPr>
              <a:t>2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smtClean="0">
                <a:solidFill>
                  <a:schemeClr val="accent2"/>
                </a:solidFill>
              </a:rPr>
              <a:t>writes</a:t>
            </a:r>
            <a:endParaRPr lang="en-US" sz="2000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endParaRPr lang="en-US" sz="2000" dirty="0" smtClean="0"/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1422400" y="4724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3454400" y="4724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5080000" y="4724400"/>
            <a:ext cx="1150938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60" name="Rectangle 7"/>
          <p:cNvSpPr>
            <a:spLocks noChangeArrowheads="1"/>
          </p:cNvSpPr>
          <p:nvPr/>
        </p:nvSpPr>
        <p:spPr bwMode="auto">
          <a:xfrm>
            <a:off x="6637338" y="4724400"/>
            <a:ext cx="1152525" cy="1295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61" name="Text Box 8"/>
          <p:cNvSpPr txBox="1">
            <a:spLocks noChangeArrowheads="1"/>
          </p:cNvSpPr>
          <p:nvPr/>
        </p:nvSpPr>
        <p:spPr bwMode="auto">
          <a:xfrm>
            <a:off x="2709863" y="5257800"/>
            <a:ext cx="541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23562" name="Text Box 9"/>
          <p:cNvSpPr txBox="1">
            <a:spLocks noChangeArrowheads="1"/>
          </p:cNvSpPr>
          <p:nvPr/>
        </p:nvSpPr>
        <p:spPr bwMode="auto">
          <a:xfrm>
            <a:off x="4673600" y="5257800"/>
            <a:ext cx="271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3563" name="Text Box 10"/>
          <p:cNvSpPr txBox="1">
            <a:spLocks noChangeArrowheads="1"/>
          </p:cNvSpPr>
          <p:nvPr/>
        </p:nvSpPr>
        <p:spPr bwMode="auto">
          <a:xfrm>
            <a:off x="6230938" y="5257800"/>
            <a:ext cx="163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23564" name="Rectangle 11"/>
          <p:cNvSpPr>
            <a:spLocks noChangeArrowheads="1"/>
          </p:cNvSpPr>
          <p:nvPr/>
        </p:nvSpPr>
        <p:spPr bwMode="auto">
          <a:xfrm>
            <a:off x="1828800" y="5257800"/>
            <a:ext cx="134938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3565" name="Rectangle 12"/>
          <p:cNvSpPr>
            <a:spLocks noChangeArrowheads="1"/>
          </p:cNvSpPr>
          <p:nvPr/>
        </p:nvSpPr>
        <p:spPr bwMode="auto">
          <a:xfrm>
            <a:off x="5080000" y="5257800"/>
            <a:ext cx="1150938" cy="1524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66" name="Rectangle 13"/>
          <p:cNvSpPr>
            <a:spLocks noChangeArrowheads="1"/>
          </p:cNvSpPr>
          <p:nvPr/>
        </p:nvSpPr>
        <p:spPr bwMode="auto">
          <a:xfrm>
            <a:off x="6908800" y="4724400"/>
            <a:ext cx="134938" cy="12954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67" name="Text Box 14"/>
          <p:cNvSpPr txBox="1">
            <a:spLocks noChangeArrowheads="1"/>
          </p:cNvSpPr>
          <p:nvPr/>
        </p:nvSpPr>
        <p:spPr bwMode="auto">
          <a:xfrm>
            <a:off x="1557338" y="4953000"/>
            <a:ext cx="677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C(i,j)</a:t>
            </a:r>
          </a:p>
        </p:txBody>
      </p:sp>
      <p:sp>
        <p:nvSpPr>
          <p:cNvPr id="23568" name="Text Box 15"/>
          <p:cNvSpPr txBox="1">
            <a:spLocks noChangeArrowheads="1"/>
          </p:cNvSpPr>
          <p:nvPr/>
        </p:nvSpPr>
        <p:spPr bwMode="auto">
          <a:xfrm>
            <a:off x="3522663" y="4953000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C(i,j)</a:t>
            </a:r>
          </a:p>
        </p:txBody>
      </p:sp>
      <p:sp>
        <p:nvSpPr>
          <p:cNvPr id="23569" name="Text Box 16"/>
          <p:cNvSpPr txBox="1">
            <a:spLocks noChangeArrowheads="1"/>
          </p:cNvSpPr>
          <p:nvPr/>
        </p:nvSpPr>
        <p:spPr bwMode="auto">
          <a:xfrm>
            <a:off x="5486400" y="4876800"/>
            <a:ext cx="677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A(i,k)</a:t>
            </a:r>
          </a:p>
        </p:txBody>
      </p:sp>
      <p:sp>
        <p:nvSpPr>
          <p:cNvPr id="23570" name="Text Box 17"/>
          <p:cNvSpPr txBox="1">
            <a:spLocks noChangeArrowheads="1"/>
          </p:cNvSpPr>
          <p:nvPr/>
        </p:nvSpPr>
        <p:spPr bwMode="auto">
          <a:xfrm>
            <a:off x="7043738" y="5410200"/>
            <a:ext cx="677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0">
                <a:solidFill>
                  <a:schemeClr val="tx1"/>
                </a:solidFill>
              </a:rPr>
              <a:t>B(k,j)</a:t>
            </a:r>
          </a:p>
        </p:txBody>
      </p:sp>
      <p:sp>
        <p:nvSpPr>
          <p:cNvPr id="23571" name="Rectangle 18"/>
          <p:cNvSpPr>
            <a:spLocks noChangeArrowheads="1"/>
          </p:cNvSpPr>
          <p:nvPr/>
        </p:nvSpPr>
        <p:spPr bwMode="auto">
          <a:xfrm>
            <a:off x="3792538" y="5257800"/>
            <a:ext cx="136525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3572" name="Rectangle 19"/>
          <p:cNvSpPr>
            <a:spLocks noChangeArrowheads="1"/>
          </p:cNvSpPr>
          <p:nvPr/>
        </p:nvSpPr>
        <p:spPr bwMode="auto">
          <a:xfrm>
            <a:off x="6908800" y="5562600"/>
            <a:ext cx="134938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3573" name="Rectangle 20"/>
          <p:cNvSpPr>
            <a:spLocks noChangeArrowheads="1"/>
          </p:cNvSpPr>
          <p:nvPr/>
        </p:nvSpPr>
        <p:spPr bwMode="auto">
          <a:xfrm>
            <a:off x="5757863" y="5257800"/>
            <a:ext cx="134937" cy="152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" name="TextBox 1"/>
          <p:cNvSpPr txBox="1"/>
          <p:nvPr/>
        </p:nvSpPr>
        <p:spPr>
          <a:xfrm>
            <a:off x="381000" y="5181600"/>
            <a:ext cx="794321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800000"/>
                </a:solidFill>
              </a:rPr>
              <a:t>b</a:t>
            </a:r>
            <a:r>
              <a:rPr lang="en-US" dirty="0" smtClean="0">
                <a:solidFill>
                  <a:srgbClr val="800000"/>
                </a:solidFill>
              </a:rPr>
              <a:t>-by-b</a:t>
            </a:r>
          </a:p>
          <a:p>
            <a:r>
              <a:rPr lang="en-US" dirty="0" smtClean="0">
                <a:solidFill>
                  <a:srgbClr val="800000"/>
                </a:solidFill>
              </a:rPr>
              <a:t>block</a:t>
            </a:r>
            <a:endParaRPr lang="en-US" dirty="0">
              <a:solidFill>
                <a:srgbClr val="800000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143000" y="5334000"/>
            <a:ext cx="653479" cy="170766"/>
          </a:xfrm>
          <a:prstGeom prst="straightConnector1">
            <a:avLst/>
          </a:prstGeom>
          <a:ln>
            <a:solidFill>
              <a:srgbClr val="8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53470" y="6091535"/>
            <a:ext cx="672732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2n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/b + </a:t>
            </a:r>
            <a:r>
              <a:rPr lang="en-US" sz="2400" dirty="0"/>
              <a:t>2</a:t>
            </a:r>
            <a:r>
              <a:rPr lang="en-US" sz="2400" dirty="0" smtClean="0"/>
              <a:t>n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reads/writes &lt;&lt; 2n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 arithmetic  -  Faster!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772482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0" y="306388"/>
            <a:ext cx="9144000" cy="425450"/>
          </a:xfrm>
        </p:spPr>
        <p:txBody>
          <a:bodyPr>
            <a:noAutofit/>
          </a:bodyPr>
          <a:lstStyle/>
          <a:p>
            <a:r>
              <a:rPr lang="en-US" sz="3600" dirty="0" smtClean="0"/>
              <a:t>Does blocked </a:t>
            </a:r>
            <a:r>
              <a:rPr lang="en-US" sz="3600" dirty="0" err="1" smtClean="0"/>
              <a:t>matmul</a:t>
            </a:r>
            <a:r>
              <a:rPr lang="en-US" sz="3600" dirty="0" smtClean="0"/>
              <a:t> attain lower bound?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153988" y="914400"/>
            <a:ext cx="8961437" cy="5851525"/>
          </a:xfrm>
        </p:spPr>
        <p:txBody>
          <a:bodyPr>
            <a:normAutofit/>
          </a:bodyPr>
          <a:lstStyle/>
          <a:p>
            <a:r>
              <a:rPr lang="en-US" dirty="0" smtClean="0"/>
              <a:t>Recall: if 3 b-by-b blocks fit in fast memory of     size M, then #reads/writes = 2n</a:t>
            </a:r>
            <a:r>
              <a:rPr lang="en-US" baseline="30000" dirty="0" smtClean="0"/>
              <a:t>3</a:t>
            </a:r>
            <a:r>
              <a:rPr lang="en-US" dirty="0" smtClean="0"/>
              <a:t>/b + 2n</a:t>
            </a:r>
            <a:r>
              <a:rPr lang="en-US" baseline="30000" dirty="0" smtClean="0"/>
              <a:t>2</a:t>
            </a:r>
          </a:p>
          <a:p>
            <a:r>
              <a:rPr lang="en-US" dirty="0" smtClean="0"/>
              <a:t>Make b as large as possible: 3b</a:t>
            </a:r>
            <a:r>
              <a:rPr lang="en-US" baseline="30000" dirty="0" smtClean="0"/>
              <a:t>2</a:t>
            </a:r>
            <a:r>
              <a:rPr lang="en-US" dirty="0" smtClean="0"/>
              <a:t> ≤ M, so       #reads/writes  ≥ 3</a:t>
            </a:r>
            <a:r>
              <a:rPr lang="en-US" baseline="30000" dirty="0" smtClean="0"/>
              <a:t>1/2</a:t>
            </a:r>
            <a:r>
              <a:rPr lang="en-US" dirty="0" smtClean="0"/>
              <a:t>n</a:t>
            </a:r>
            <a:r>
              <a:rPr lang="en-US" baseline="30000" dirty="0" smtClean="0"/>
              <a:t>3</a:t>
            </a:r>
            <a:r>
              <a:rPr lang="en-US" dirty="0" smtClean="0"/>
              <a:t>/M</a:t>
            </a:r>
            <a:r>
              <a:rPr lang="en-US" baseline="30000" dirty="0" smtClean="0"/>
              <a:t>1/2  </a:t>
            </a:r>
            <a:r>
              <a:rPr lang="en-US" dirty="0" smtClean="0"/>
              <a:t>+ 2n</a:t>
            </a:r>
            <a:r>
              <a:rPr lang="en-US" baseline="30000" dirty="0" smtClean="0"/>
              <a:t>2</a:t>
            </a:r>
            <a:r>
              <a:rPr lang="en-US" dirty="0" smtClean="0"/>
              <a:t>  </a:t>
            </a:r>
          </a:p>
          <a:p>
            <a:r>
              <a:rPr lang="en-US" dirty="0" smtClean="0"/>
              <a:t>Attains lower bound  = </a:t>
            </a:r>
            <a:r>
              <a:rPr lang="en-US" dirty="0" err="1" smtClean="0"/>
              <a:t>Ω</a:t>
            </a:r>
            <a:r>
              <a:rPr lang="en-US" dirty="0" smtClean="0"/>
              <a:t> (#flops / M</a:t>
            </a:r>
            <a:r>
              <a:rPr lang="en-US" baseline="30000" dirty="0" smtClean="0"/>
              <a:t>1/2 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But what if we don’t know M? </a:t>
            </a:r>
            <a:endParaRPr lang="en-US" dirty="0"/>
          </a:p>
          <a:p>
            <a:r>
              <a:rPr lang="en-US" dirty="0" smtClean="0"/>
              <a:t>Or if there are multiple levels of fast memory?</a:t>
            </a:r>
          </a:p>
          <a:p>
            <a:r>
              <a:rPr lang="en-US" dirty="0" smtClean="0"/>
              <a:t>How do we write the algorithm?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352800" y="6416675"/>
            <a:ext cx="2133600" cy="365125"/>
          </a:xfrm>
        </p:spPr>
        <p:txBody>
          <a:bodyPr/>
          <a:lstStyle/>
          <a:p>
            <a:pPr algn="ctr">
              <a:defRPr/>
            </a:pPr>
            <a:fld id="{5839375E-32BF-43EE-A881-86705A256A45}" type="slidenum">
              <a:rPr lang="en-US" smtClean="0"/>
              <a:pPr algn="ctr">
                <a:defRPr/>
              </a:pPr>
              <a:t>21</a:t>
            </a:fld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20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-152400" y="306388"/>
            <a:ext cx="9448800" cy="425450"/>
          </a:xfrm>
        </p:spPr>
        <p:txBody>
          <a:bodyPr>
            <a:noAutofit/>
          </a:bodyPr>
          <a:lstStyle/>
          <a:p>
            <a:r>
              <a:rPr lang="en-US" sz="3600" dirty="0" smtClean="0"/>
              <a:t>Recursive Matrix Multiplication (RMM) (1/2)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27559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For simplicity: square matrices with n = 2</a:t>
            </a:r>
            <a:r>
              <a:rPr lang="en-US" sz="2800" baseline="30000" dirty="0" smtClean="0"/>
              <a:t>m</a:t>
            </a:r>
          </a:p>
          <a:p>
            <a:r>
              <a:rPr lang="en-US" sz="2800" dirty="0" smtClean="0"/>
              <a:t>C =               = A · B =       ·        ·           </a:t>
            </a:r>
          </a:p>
          <a:p>
            <a:endParaRPr lang="en-US" sz="2800" dirty="0" smtClean="0"/>
          </a:p>
          <a:p>
            <a:pPr>
              <a:buFontTx/>
              <a:buNone/>
            </a:pPr>
            <a:r>
              <a:rPr lang="en-US" sz="2800" dirty="0" smtClean="0"/>
              <a:t>      =</a:t>
            </a:r>
          </a:p>
          <a:p>
            <a:endParaRPr lang="en-US" dirty="0" smtClean="0"/>
          </a:p>
          <a:p>
            <a:r>
              <a:rPr lang="en-US" dirty="0" smtClean="0"/>
              <a:t>True when each </a:t>
            </a:r>
            <a:r>
              <a:rPr lang="en-US" dirty="0" err="1" smtClean="0"/>
              <a:t>A</a:t>
            </a:r>
            <a:r>
              <a:rPr lang="en-US" sz="2800" baseline="-25000" dirty="0" err="1" smtClean="0"/>
              <a:t>ij</a:t>
            </a:r>
            <a:r>
              <a:rPr lang="en-US" dirty="0" smtClean="0"/>
              <a:t> </a:t>
            </a:r>
            <a:r>
              <a:rPr lang="en-US" dirty="0" err="1" smtClean="0"/>
              <a:t>etc</a:t>
            </a:r>
            <a:r>
              <a:rPr lang="en-US" dirty="0" smtClean="0"/>
              <a:t>   1x1   or   n/2  x  n/2 </a:t>
            </a:r>
            <a:endParaRPr lang="en-US" sz="2000" dirty="0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DA9A9884-FDC9-4D5E-B2F8-F758CCBFCF90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/>
              <a:t>22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grpSp>
        <p:nvGrpSpPr>
          <p:cNvPr id="28677" name="Group 6"/>
          <p:cNvGrpSpPr>
            <a:grpSpLocks/>
          </p:cNvGrpSpPr>
          <p:nvPr/>
        </p:nvGrpSpPr>
        <p:grpSpPr bwMode="auto">
          <a:xfrm>
            <a:off x="3886201" y="1281114"/>
            <a:ext cx="1308101" cy="720723"/>
            <a:chOff x="3152758" y="3231931"/>
            <a:chExt cx="1308538" cy="722201"/>
          </a:xfrm>
        </p:grpSpPr>
        <p:sp>
          <p:nvSpPr>
            <p:cNvPr id="28688" name="TextBox 4"/>
            <p:cNvSpPr txBox="1">
              <a:spLocks noChangeArrowheads="1"/>
            </p:cNvSpPr>
            <p:nvPr/>
          </p:nvSpPr>
          <p:spPr bwMode="auto">
            <a:xfrm>
              <a:off x="3152758" y="3246246"/>
              <a:ext cx="130853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en-US" dirty="0">
                  <a:solidFill>
                    <a:schemeClr val="tx1"/>
                  </a:solidFill>
                </a:rPr>
                <a:t>A</a:t>
              </a:r>
              <a:r>
                <a:rPr lang="en-US" baseline="-25000" dirty="0">
                  <a:solidFill>
                    <a:schemeClr val="tx1"/>
                  </a:solidFill>
                </a:rPr>
                <a:t>11  </a:t>
              </a:r>
              <a:r>
                <a:rPr lang="en-US" dirty="0">
                  <a:solidFill>
                    <a:schemeClr val="tx1"/>
                  </a:solidFill>
                </a:rPr>
                <a:t>A</a:t>
              </a:r>
              <a:r>
                <a:rPr lang="en-US" baseline="-25000" dirty="0">
                  <a:solidFill>
                    <a:schemeClr val="tx1"/>
                  </a:solidFill>
                </a:rPr>
                <a:t>12 </a:t>
              </a:r>
              <a:r>
                <a:rPr lang="en-US" dirty="0">
                  <a:solidFill>
                    <a:schemeClr val="tx1"/>
                  </a:solidFill>
                </a:rPr>
                <a:t>A</a:t>
              </a:r>
              <a:r>
                <a:rPr lang="en-US" baseline="-25000" dirty="0">
                  <a:solidFill>
                    <a:schemeClr val="tx1"/>
                  </a:solidFill>
                </a:rPr>
                <a:t>21  </a:t>
              </a:r>
              <a:r>
                <a:rPr lang="en-US" dirty="0">
                  <a:solidFill>
                    <a:schemeClr val="tx1"/>
                  </a:solidFill>
                </a:rPr>
                <a:t>A</a:t>
              </a:r>
              <a:r>
                <a:rPr lang="en-US" baseline="-25000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28689" name="Double Bracket 5"/>
            <p:cNvSpPr>
              <a:spLocks noChangeArrowheads="1"/>
            </p:cNvSpPr>
            <p:nvPr/>
          </p:nvSpPr>
          <p:spPr bwMode="auto">
            <a:xfrm>
              <a:off x="3200400" y="3231931"/>
              <a:ext cx="914400" cy="707886"/>
            </a:xfrm>
            <a:prstGeom prst="bracketPair">
              <a:avLst>
                <a:gd name="adj" fmla="val 16667"/>
              </a:avLst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/>
              <a:endParaRPr lang="it-IT"/>
            </a:p>
          </p:txBody>
        </p:sp>
      </p:grpSp>
      <p:grpSp>
        <p:nvGrpSpPr>
          <p:cNvPr id="28678" name="Group 7"/>
          <p:cNvGrpSpPr>
            <a:grpSpLocks/>
          </p:cNvGrpSpPr>
          <p:nvPr/>
        </p:nvGrpSpPr>
        <p:grpSpPr bwMode="auto">
          <a:xfrm>
            <a:off x="4952999" y="1281113"/>
            <a:ext cx="1309688" cy="706437"/>
            <a:chOff x="3138541" y="3231931"/>
            <a:chExt cx="1308538" cy="707886"/>
          </a:xfrm>
        </p:grpSpPr>
        <p:sp>
          <p:nvSpPr>
            <p:cNvPr id="28686" name="TextBox 8"/>
            <p:cNvSpPr txBox="1">
              <a:spLocks noChangeArrowheads="1"/>
            </p:cNvSpPr>
            <p:nvPr/>
          </p:nvSpPr>
          <p:spPr bwMode="auto">
            <a:xfrm>
              <a:off x="3138541" y="3231931"/>
              <a:ext cx="130853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en-US" dirty="0">
                  <a:solidFill>
                    <a:schemeClr val="tx1"/>
                  </a:solidFill>
                </a:rPr>
                <a:t>B</a:t>
              </a:r>
              <a:r>
                <a:rPr lang="en-US" baseline="-25000" dirty="0">
                  <a:solidFill>
                    <a:schemeClr val="tx1"/>
                  </a:solidFill>
                </a:rPr>
                <a:t>11  </a:t>
              </a:r>
              <a:r>
                <a:rPr lang="en-US" dirty="0">
                  <a:solidFill>
                    <a:schemeClr val="tx1"/>
                  </a:solidFill>
                </a:rPr>
                <a:t>B</a:t>
              </a:r>
              <a:r>
                <a:rPr lang="en-US" baseline="-25000" dirty="0">
                  <a:solidFill>
                    <a:schemeClr val="tx1"/>
                  </a:solidFill>
                </a:rPr>
                <a:t>12 </a:t>
              </a:r>
              <a:r>
                <a:rPr lang="en-US" dirty="0">
                  <a:solidFill>
                    <a:schemeClr val="tx1"/>
                  </a:solidFill>
                </a:rPr>
                <a:t>B</a:t>
              </a:r>
              <a:r>
                <a:rPr lang="en-US" baseline="-25000" dirty="0">
                  <a:solidFill>
                    <a:schemeClr val="tx1"/>
                  </a:solidFill>
                </a:rPr>
                <a:t>21  </a:t>
              </a:r>
              <a:r>
                <a:rPr lang="en-US" dirty="0">
                  <a:solidFill>
                    <a:schemeClr val="tx1"/>
                  </a:solidFill>
                </a:rPr>
                <a:t>B</a:t>
              </a:r>
              <a:r>
                <a:rPr lang="en-US" baseline="-25000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28687" name="Double Bracket 9"/>
            <p:cNvSpPr>
              <a:spLocks noChangeArrowheads="1"/>
            </p:cNvSpPr>
            <p:nvPr/>
          </p:nvSpPr>
          <p:spPr bwMode="auto">
            <a:xfrm>
              <a:off x="3200400" y="3231931"/>
              <a:ext cx="914400" cy="707886"/>
            </a:xfrm>
            <a:prstGeom prst="bracketPair">
              <a:avLst>
                <a:gd name="adj" fmla="val 16667"/>
              </a:avLst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8679" name="Group 10"/>
          <p:cNvGrpSpPr>
            <a:grpSpLocks/>
          </p:cNvGrpSpPr>
          <p:nvPr/>
        </p:nvGrpSpPr>
        <p:grpSpPr bwMode="auto">
          <a:xfrm>
            <a:off x="1492250" y="1273312"/>
            <a:ext cx="1308100" cy="730111"/>
            <a:chOff x="3200400" y="3209849"/>
            <a:chExt cx="1308538" cy="729968"/>
          </a:xfrm>
        </p:grpSpPr>
        <p:sp>
          <p:nvSpPr>
            <p:cNvPr id="28684" name="TextBox 11"/>
            <p:cNvSpPr txBox="1">
              <a:spLocks noChangeArrowheads="1"/>
            </p:cNvSpPr>
            <p:nvPr/>
          </p:nvSpPr>
          <p:spPr bwMode="auto">
            <a:xfrm>
              <a:off x="3200400" y="3209849"/>
              <a:ext cx="1308538" cy="707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en-US" dirty="0">
                  <a:solidFill>
                    <a:schemeClr val="tx1"/>
                  </a:solidFill>
                </a:rPr>
                <a:t>C</a:t>
              </a:r>
              <a:r>
                <a:rPr lang="en-US" baseline="-25000" dirty="0">
                  <a:solidFill>
                    <a:schemeClr val="tx1"/>
                  </a:solidFill>
                </a:rPr>
                <a:t>11  </a:t>
              </a:r>
              <a:r>
                <a:rPr lang="en-US" dirty="0">
                  <a:solidFill>
                    <a:schemeClr val="tx1"/>
                  </a:solidFill>
                </a:rPr>
                <a:t>C</a:t>
              </a:r>
              <a:r>
                <a:rPr lang="en-US" baseline="-25000" dirty="0">
                  <a:solidFill>
                    <a:schemeClr val="tx1"/>
                  </a:solidFill>
                </a:rPr>
                <a:t>12 </a:t>
              </a:r>
              <a:r>
                <a:rPr lang="en-US" dirty="0">
                  <a:solidFill>
                    <a:schemeClr val="tx1"/>
                  </a:solidFill>
                </a:rPr>
                <a:t>C</a:t>
              </a:r>
              <a:r>
                <a:rPr lang="en-US" baseline="-25000" dirty="0">
                  <a:solidFill>
                    <a:schemeClr val="tx1"/>
                  </a:solidFill>
                </a:rPr>
                <a:t>21  </a:t>
              </a:r>
              <a:r>
                <a:rPr lang="en-US" dirty="0">
                  <a:solidFill>
                    <a:schemeClr val="tx1"/>
                  </a:solidFill>
                </a:rPr>
                <a:t>C</a:t>
              </a:r>
              <a:r>
                <a:rPr lang="en-US" baseline="-25000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28685" name="Double Bracket 12"/>
            <p:cNvSpPr>
              <a:spLocks noChangeArrowheads="1"/>
            </p:cNvSpPr>
            <p:nvPr/>
          </p:nvSpPr>
          <p:spPr bwMode="auto">
            <a:xfrm>
              <a:off x="3232161" y="3231931"/>
              <a:ext cx="914400" cy="707886"/>
            </a:xfrm>
            <a:prstGeom prst="bracketPair">
              <a:avLst>
                <a:gd name="adj" fmla="val 16667"/>
              </a:avLst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8680" name="Group 13"/>
          <p:cNvGrpSpPr>
            <a:grpSpLocks/>
          </p:cNvGrpSpPr>
          <p:nvPr/>
        </p:nvGrpSpPr>
        <p:grpSpPr bwMode="auto">
          <a:xfrm>
            <a:off x="1492250" y="2178050"/>
            <a:ext cx="4271963" cy="708025"/>
            <a:chOff x="3200400" y="3231931"/>
            <a:chExt cx="1234274" cy="707886"/>
          </a:xfrm>
        </p:grpSpPr>
        <p:sp>
          <p:nvSpPr>
            <p:cNvPr id="28682" name="TextBox 14"/>
            <p:cNvSpPr txBox="1">
              <a:spLocks noChangeArrowheads="1"/>
            </p:cNvSpPr>
            <p:nvPr/>
          </p:nvSpPr>
          <p:spPr bwMode="auto">
            <a:xfrm>
              <a:off x="3200400" y="3231931"/>
              <a:ext cx="1234274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</a:rPr>
                <a:t>A</a:t>
              </a:r>
              <a:r>
                <a:rPr lang="en-US" baseline="-25000">
                  <a:solidFill>
                    <a:schemeClr val="tx1"/>
                  </a:solidFill>
                </a:rPr>
                <a:t>11</a:t>
              </a:r>
              <a:r>
                <a:rPr lang="en-US">
                  <a:solidFill>
                    <a:schemeClr val="tx1"/>
                  </a:solidFill>
                </a:rPr>
                <a:t>·B</a:t>
              </a:r>
              <a:r>
                <a:rPr lang="en-US" baseline="-25000">
                  <a:solidFill>
                    <a:schemeClr val="tx1"/>
                  </a:solidFill>
                </a:rPr>
                <a:t>11 </a:t>
              </a:r>
              <a:r>
                <a:rPr lang="en-US">
                  <a:solidFill>
                    <a:schemeClr val="tx1"/>
                  </a:solidFill>
                </a:rPr>
                <a:t>+</a:t>
              </a:r>
              <a:r>
                <a:rPr lang="en-US" baseline="-25000">
                  <a:solidFill>
                    <a:schemeClr val="tx1"/>
                  </a:solidFill>
                </a:rPr>
                <a:t>  </a:t>
              </a:r>
              <a:r>
                <a:rPr lang="en-US">
                  <a:solidFill>
                    <a:schemeClr val="tx1"/>
                  </a:solidFill>
                </a:rPr>
                <a:t>A</a:t>
              </a:r>
              <a:r>
                <a:rPr lang="en-US" baseline="-25000">
                  <a:solidFill>
                    <a:schemeClr val="tx1"/>
                  </a:solidFill>
                </a:rPr>
                <a:t>12</a:t>
              </a:r>
              <a:r>
                <a:rPr lang="en-US">
                  <a:solidFill>
                    <a:schemeClr val="tx1"/>
                  </a:solidFill>
                </a:rPr>
                <a:t>·B</a:t>
              </a:r>
              <a:r>
                <a:rPr lang="en-US" baseline="-25000">
                  <a:solidFill>
                    <a:schemeClr val="tx1"/>
                  </a:solidFill>
                </a:rPr>
                <a:t>21    </a:t>
              </a:r>
              <a:r>
                <a:rPr lang="en-US">
                  <a:solidFill>
                    <a:schemeClr val="tx1"/>
                  </a:solidFill>
                </a:rPr>
                <a:t>A</a:t>
              </a:r>
              <a:r>
                <a:rPr lang="en-US" baseline="-25000">
                  <a:solidFill>
                    <a:schemeClr val="tx1"/>
                  </a:solidFill>
                </a:rPr>
                <a:t>11</a:t>
              </a:r>
              <a:r>
                <a:rPr lang="en-US">
                  <a:solidFill>
                    <a:schemeClr val="tx1"/>
                  </a:solidFill>
                </a:rPr>
                <a:t>·B</a:t>
              </a:r>
              <a:r>
                <a:rPr lang="en-US" baseline="-25000">
                  <a:solidFill>
                    <a:schemeClr val="tx1"/>
                  </a:solidFill>
                </a:rPr>
                <a:t>12 </a:t>
              </a:r>
              <a:r>
                <a:rPr lang="en-US">
                  <a:solidFill>
                    <a:schemeClr val="tx1"/>
                  </a:solidFill>
                </a:rPr>
                <a:t>+</a:t>
              </a:r>
              <a:r>
                <a:rPr lang="en-US" baseline="-25000">
                  <a:solidFill>
                    <a:schemeClr val="tx1"/>
                  </a:solidFill>
                </a:rPr>
                <a:t>  </a:t>
              </a:r>
              <a:r>
                <a:rPr lang="en-US">
                  <a:solidFill>
                    <a:schemeClr val="tx1"/>
                  </a:solidFill>
                </a:rPr>
                <a:t>A</a:t>
              </a:r>
              <a:r>
                <a:rPr lang="en-US" baseline="-25000">
                  <a:solidFill>
                    <a:schemeClr val="tx1"/>
                  </a:solidFill>
                </a:rPr>
                <a:t>12</a:t>
              </a:r>
              <a:r>
                <a:rPr lang="en-US">
                  <a:solidFill>
                    <a:schemeClr val="tx1"/>
                  </a:solidFill>
                </a:rPr>
                <a:t>·B</a:t>
              </a:r>
              <a:r>
                <a:rPr lang="en-US" baseline="-25000">
                  <a:solidFill>
                    <a:schemeClr val="tx1"/>
                  </a:solidFill>
                </a:rPr>
                <a:t>22 </a:t>
              </a:r>
              <a:r>
                <a:rPr lang="en-US">
                  <a:solidFill>
                    <a:schemeClr val="tx1"/>
                  </a:solidFill>
                </a:rPr>
                <a:t>A</a:t>
              </a:r>
              <a:r>
                <a:rPr lang="en-US" baseline="-25000">
                  <a:solidFill>
                    <a:schemeClr val="tx1"/>
                  </a:solidFill>
                </a:rPr>
                <a:t>21</a:t>
              </a:r>
              <a:r>
                <a:rPr lang="en-US">
                  <a:solidFill>
                    <a:schemeClr val="tx1"/>
                  </a:solidFill>
                </a:rPr>
                <a:t>·B</a:t>
              </a:r>
              <a:r>
                <a:rPr lang="en-US" baseline="-25000">
                  <a:solidFill>
                    <a:schemeClr val="tx1"/>
                  </a:solidFill>
                </a:rPr>
                <a:t>11 </a:t>
              </a:r>
              <a:r>
                <a:rPr lang="en-US">
                  <a:solidFill>
                    <a:schemeClr val="tx1"/>
                  </a:solidFill>
                </a:rPr>
                <a:t>+</a:t>
              </a:r>
              <a:r>
                <a:rPr lang="en-US" baseline="-25000">
                  <a:solidFill>
                    <a:schemeClr val="tx1"/>
                  </a:solidFill>
                </a:rPr>
                <a:t>  </a:t>
              </a:r>
              <a:r>
                <a:rPr lang="en-US">
                  <a:solidFill>
                    <a:schemeClr val="tx1"/>
                  </a:solidFill>
                </a:rPr>
                <a:t>A</a:t>
              </a:r>
              <a:r>
                <a:rPr lang="en-US" baseline="-25000">
                  <a:solidFill>
                    <a:schemeClr val="tx1"/>
                  </a:solidFill>
                </a:rPr>
                <a:t>22</a:t>
              </a:r>
              <a:r>
                <a:rPr lang="en-US">
                  <a:solidFill>
                    <a:schemeClr val="tx1"/>
                  </a:solidFill>
                </a:rPr>
                <a:t>·B</a:t>
              </a:r>
              <a:r>
                <a:rPr lang="en-US" baseline="-25000">
                  <a:solidFill>
                    <a:schemeClr val="tx1"/>
                  </a:solidFill>
                </a:rPr>
                <a:t>21    </a:t>
              </a:r>
              <a:r>
                <a:rPr lang="en-US">
                  <a:solidFill>
                    <a:schemeClr val="tx1"/>
                  </a:solidFill>
                </a:rPr>
                <a:t>A</a:t>
              </a:r>
              <a:r>
                <a:rPr lang="en-US" baseline="-25000">
                  <a:solidFill>
                    <a:schemeClr val="tx1"/>
                  </a:solidFill>
                </a:rPr>
                <a:t>21</a:t>
              </a:r>
              <a:r>
                <a:rPr lang="en-US">
                  <a:solidFill>
                    <a:schemeClr val="tx1"/>
                  </a:solidFill>
                </a:rPr>
                <a:t>·B</a:t>
              </a:r>
              <a:r>
                <a:rPr lang="en-US" baseline="-25000">
                  <a:solidFill>
                    <a:schemeClr val="tx1"/>
                  </a:solidFill>
                </a:rPr>
                <a:t>12 </a:t>
              </a:r>
              <a:r>
                <a:rPr lang="en-US">
                  <a:solidFill>
                    <a:schemeClr val="tx1"/>
                  </a:solidFill>
                </a:rPr>
                <a:t>+</a:t>
              </a:r>
              <a:r>
                <a:rPr lang="en-US" baseline="-25000">
                  <a:solidFill>
                    <a:schemeClr val="tx1"/>
                  </a:solidFill>
                </a:rPr>
                <a:t>  </a:t>
              </a:r>
              <a:r>
                <a:rPr lang="en-US">
                  <a:solidFill>
                    <a:schemeClr val="tx1"/>
                  </a:solidFill>
                </a:rPr>
                <a:t>A</a:t>
              </a:r>
              <a:r>
                <a:rPr lang="en-US" baseline="-25000">
                  <a:solidFill>
                    <a:schemeClr val="tx1"/>
                  </a:solidFill>
                </a:rPr>
                <a:t>22</a:t>
              </a:r>
              <a:r>
                <a:rPr lang="en-US">
                  <a:solidFill>
                    <a:schemeClr val="tx1"/>
                  </a:solidFill>
                </a:rPr>
                <a:t>·B</a:t>
              </a:r>
              <a:r>
                <a:rPr lang="en-US" baseline="-2500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28683" name="Double Bracket 15"/>
            <p:cNvSpPr>
              <a:spLocks noChangeArrowheads="1"/>
            </p:cNvSpPr>
            <p:nvPr/>
          </p:nvSpPr>
          <p:spPr bwMode="auto">
            <a:xfrm>
              <a:off x="3200400" y="3231931"/>
              <a:ext cx="1234274" cy="707886"/>
            </a:xfrm>
            <a:prstGeom prst="bracketPair">
              <a:avLst>
                <a:gd name="adj" fmla="val 16667"/>
              </a:avLst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8681" name="TextBox 16"/>
          <p:cNvSpPr txBox="1">
            <a:spLocks noChangeArrowheads="1"/>
          </p:cNvSpPr>
          <p:nvPr/>
        </p:nvSpPr>
        <p:spPr bwMode="auto">
          <a:xfrm>
            <a:off x="609600" y="3836988"/>
            <a:ext cx="7023100" cy="20621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en-US" sz="1800" dirty="0"/>
              <a:t> </a:t>
            </a:r>
            <a:r>
              <a:rPr lang="en-US" dirty="0"/>
              <a:t> </a:t>
            </a:r>
            <a:r>
              <a:rPr lang="en-US" dirty="0" err="1">
                <a:solidFill>
                  <a:schemeClr val="tx1"/>
                </a:solidFill>
              </a:rPr>
              <a:t>func</a:t>
            </a:r>
            <a:r>
              <a:rPr lang="en-US" dirty="0">
                <a:solidFill>
                  <a:schemeClr val="tx1"/>
                </a:solidFill>
              </a:rPr>
              <a:t> C = R</a:t>
            </a:r>
            <a:r>
              <a:rPr lang="en-US" sz="1800" dirty="0">
                <a:solidFill>
                  <a:schemeClr val="tx1"/>
                </a:solidFill>
              </a:rPr>
              <a:t>MM (A, B, n)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  if n = 1, C = A * B, else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     {  C</a:t>
            </a:r>
            <a:r>
              <a:rPr lang="en-US" sz="1800" baseline="-25000" dirty="0">
                <a:solidFill>
                  <a:schemeClr val="tx1"/>
                </a:solidFill>
              </a:rPr>
              <a:t>11 </a:t>
            </a:r>
            <a:r>
              <a:rPr lang="en-US" sz="1800" dirty="0">
                <a:solidFill>
                  <a:schemeClr val="tx1"/>
                </a:solidFill>
              </a:rPr>
              <a:t>= RMM (A</a:t>
            </a:r>
            <a:r>
              <a:rPr lang="en-US" sz="1800" baseline="-25000" dirty="0">
                <a:solidFill>
                  <a:schemeClr val="tx1"/>
                </a:solidFill>
              </a:rPr>
              <a:t>11</a:t>
            </a:r>
            <a:r>
              <a:rPr lang="en-US" sz="1800" dirty="0">
                <a:solidFill>
                  <a:schemeClr val="tx1"/>
                </a:solidFill>
              </a:rPr>
              <a:t> , B</a:t>
            </a:r>
            <a:r>
              <a:rPr lang="en-US" sz="1800" baseline="-25000" dirty="0">
                <a:solidFill>
                  <a:schemeClr val="tx1"/>
                </a:solidFill>
              </a:rPr>
              <a:t>11 </a:t>
            </a:r>
            <a:r>
              <a:rPr lang="en-US" sz="1800" dirty="0">
                <a:solidFill>
                  <a:schemeClr val="tx1"/>
                </a:solidFill>
              </a:rPr>
              <a:t>, n/2) + RMM (A</a:t>
            </a:r>
            <a:r>
              <a:rPr lang="en-US" sz="1800" baseline="-25000" dirty="0">
                <a:solidFill>
                  <a:schemeClr val="tx1"/>
                </a:solidFill>
              </a:rPr>
              <a:t>12</a:t>
            </a:r>
            <a:r>
              <a:rPr lang="en-US" sz="1800" dirty="0">
                <a:solidFill>
                  <a:schemeClr val="tx1"/>
                </a:solidFill>
              </a:rPr>
              <a:t> , B</a:t>
            </a:r>
            <a:r>
              <a:rPr lang="en-US" sz="1800" baseline="-25000" dirty="0">
                <a:solidFill>
                  <a:schemeClr val="tx1"/>
                </a:solidFill>
              </a:rPr>
              <a:t>21 </a:t>
            </a:r>
            <a:r>
              <a:rPr lang="en-US" sz="1800" dirty="0">
                <a:solidFill>
                  <a:schemeClr val="tx1"/>
                </a:solidFill>
              </a:rPr>
              <a:t>, n/2)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        C</a:t>
            </a:r>
            <a:r>
              <a:rPr lang="en-US" sz="1800" baseline="-25000" dirty="0">
                <a:solidFill>
                  <a:schemeClr val="tx1"/>
                </a:solidFill>
              </a:rPr>
              <a:t>12 </a:t>
            </a:r>
            <a:r>
              <a:rPr lang="en-US" sz="1800" dirty="0">
                <a:solidFill>
                  <a:schemeClr val="tx1"/>
                </a:solidFill>
              </a:rPr>
              <a:t>= RMM (A</a:t>
            </a:r>
            <a:r>
              <a:rPr lang="en-US" sz="1800" baseline="-25000" dirty="0">
                <a:solidFill>
                  <a:schemeClr val="tx1"/>
                </a:solidFill>
              </a:rPr>
              <a:t>11</a:t>
            </a:r>
            <a:r>
              <a:rPr lang="en-US" sz="1800" dirty="0">
                <a:solidFill>
                  <a:schemeClr val="tx1"/>
                </a:solidFill>
              </a:rPr>
              <a:t> , B</a:t>
            </a:r>
            <a:r>
              <a:rPr lang="en-US" sz="1800" baseline="-25000" dirty="0">
                <a:solidFill>
                  <a:schemeClr val="tx1"/>
                </a:solidFill>
              </a:rPr>
              <a:t>12 </a:t>
            </a:r>
            <a:r>
              <a:rPr lang="en-US" sz="1800" dirty="0">
                <a:solidFill>
                  <a:schemeClr val="tx1"/>
                </a:solidFill>
              </a:rPr>
              <a:t>, n/2) + RMM (A</a:t>
            </a:r>
            <a:r>
              <a:rPr lang="en-US" sz="1800" baseline="-25000" dirty="0">
                <a:solidFill>
                  <a:schemeClr val="tx1"/>
                </a:solidFill>
              </a:rPr>
              <a:t>12</a:t>
            </a:r>
            <a:r>
              <a:rPr lang="en-US" sz="1800" dirty="0">
                <a:solidFill>
                  <a:schemeClr val="tx1"/>
                </a:solidFill>
              </a:rPr>
              <a:t> , B</a:t>
            </a:r>
            <a:r>
              <a:rPr lang="en-US" sz="1800" baseline="-25000" dirty="0">
                <a:solidFill>
                  <a:schemeClr val="tx1"/>
                </a:solidFill>
              </a:rPr>
              <a:t>22 </a:t>
            </a:r>
            <a:r>
              <a:rPr lang="en-US" sz="1800" dirty="0">
                <a:solidFill>
                  <a:schemeClr val="tx1"/>
                </a:solidFill>
              </a:rPr>
              <a:t>, n/2)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        C</a:t>
            </a:r>
            <a:r>
              <a:rPr lang="en-US" sz="1800" baseline="-25000" dirty="0">
                <a:solidFill>
                  <a:schemeClr val="tx1"/>
                </a:solidFill>
              </a:rPr>
              <a:t>21 </a:t>
            </a:r>
            <a:r>
              <a:rPr lang="en-US" sz="1800" dirty="0">
                <a:solidFill>
                  <a:schemeClr val="tx1"/>
                </a:solidFill>
              </a:rPr>
              <a:t>= RMM (A</a:t>
            </a:r>
            <a:r>
              <a:rPr lang="en-US" sz="1800" baseline="-25000" dirty="0">
                <a:solidFill>
                  <a:schemeClr val="tx1"/>
                </a:solidFill>
              </a:rPr>
              <a:t>21</a:t>
            </a:r>
            <a:r>
              <a:rPr lang="en-US" sz="1800" dirty="0">
                <a:solidFill>
                  <a:schemeClr val="tx1"/>
                </a:solidFill>
              </a:rPr>
              <a:t> , B</a:t>
            </a:r>
            <a:r>
              <a:rPr lang="en-US" sz="1800" baseline="-25000" dirty="0">
                <a:solidFill>
                  <a:schemeClr val="tx1"/>
                </a:solidFill>
              </a:rPr>
              <a:t>11 </a:t>
            </a:r>
            <a:r>
              <a:rPr lang="en-US" sz="1800" dirty="0">
                <a:solidFill>
                  <a:schemeClr val="tx1"/>
                </a:solidFill>
              </a:rPr>
              <a:t>, n/2) + RMM (A</a:t>
            </a:r>
            <a:r>
              <a:rPr lang="en-US" sz="1800" baseline="-25000" dirty="0">
                <a:solidFill>
                  <a:schemeClr val="tx1"/>
                </a:solidFill>
              </a:rPr>
              <a:t>22</a:t>
            </a:r>
            <a:r>
              <a:rPr lang="en-US" sz="1800" dirty="0">
                <a:solidFill>
                  <a:schemeClr val="tx1"/>
                </a:solidFill>
              </a:rPr>
              <a:t> , B</a:t>
            </a:r>
            <a:r>
              <a:rPr lang="en-US" sz="1800" baseline="-25000" dirty="0">
                <a:solidFill>
                  <a:schemeClr val="tx1"/>
                </a:solidFill>
              </a:rPr>
              <a:t>21 </a:t>
            </a:r>
            <a:r>
              <a:rPr lang="en-US" sz="1800" dirty="0">
                <a:solidFill>
                  <a:schemeClr val="tx1"/>
                </a:solidFill>
              </a:rPr>
              <a:t>, n/2)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        C</a:t>
            </a:r>
            <a:r>
              <a:rPr lang="en-US" sz="1800" baseline="-25000" dirty="0">
                <a:solidFill>
                  <a:schemeClr val="tx1"/>
                </a:solidFill>
              </a:rPr>
              <a:t>22 </a:t>
            </a:r>
            <a:r>
              <a:rPr lang="en-US" sz="1800" dirty="0">
                <a:solidFill>
                  <a:schemeClr val="tx1"/>
                </a:solidFill>
              </a:rPr>
              <a:t>= RMM (A</a:t>
            </a:r>
            <a:r>
              <a:rPr lang="en-US" sz="1800" baseline="-25000" dirty="0">
                <a:solidFill>
                  <a:schemeClr val="tx1"/>
                </a:solidFill>
              </a:rPr>
              <a:t>21</a:t>
            </a:r>
            <a:r>
              <a:rPr lang="en-US" sz="1800" dirty="0">
                <a:solidFill>
                  <a:schemeClr val="tx1"/>
                </a:solidFill>
              </a:rPr>
              <a:t> , B</a:t>
            </a:r>
            <a:r>
              <a:rPr lang="en-US" sz="1800" baseline="-25000" dirty="0">
                <a:solidFill>
                  <a:schemeClr val="tx1"/>
                </a:solidFill>
              </a:rPr>
              <a:t>12 </a:t>
            </a:r>
            <a:r>
              <a:rPr lang="en-US" sz="1800" dirty="0">
                <a:solidFill>
                  <a:schemeClr val="tx1"/>
                </a:solidFill>
              </a:rPr>
              <a:t>, n/2) + RMM (A</a:t>
            </a:r>
            <a:r>
              <a:rPr lang="en-US" sz="1800" baseline="-25000" dirty="0">
                <a:solidFill>
                  <a:schemeClr val="tx1"/>
                </a:solidFill>
              </a:rPr>
              <a:t>22</a:t>
            </a:r>
            <a:r>
              <a:rPr lang="en-US" sz="1800" dirty="0">
                <a:solidFill>
                  <a:schemeClr val="tx1"/>
                </a:solidFill>
              </a:rPr>
              <a:t> , B</a:t>
            </a:r>
            <a:r>
              <a:rPr lang="en-US" sz="1800" baseline="-25000" dirty="0">
                <a:solidFill>
                  <a:schemeClr val="tx1"/>
                </a:solidFill>
              </a:rPr>
              <a:t>22 </a:t>
            </a:r>
            <a:r>
              <a:rPr lang="en-US" sz="1800" dirty="0">
                <a:solidFill>
                  <a:schemeClr val="tx1"/>
                </a:solidFill>
              </a:rPr>
              <a:t>, n/2)  } 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  return         </a:t>
            </a:r>
          </a:p>
        </p:txBody>
      </p:sp>
    </p:spTree>
    <p:extLst>
      <p:ext uri="{BB962C8B-B14F-4D97-AF65-F5344CB8AC3E}">
        <p14:creationId xmlns:p14="http://schemas.microsoft.com/office/powerpoint/2010/main" val="26714909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381001" y="306388"/>
            <a:ext cx="8458199" cy="425450"/>
          </a:xfrm>
        </p:spPr>
        <p:txBody>
          <a:bodyPr>
            <a:noAutofit/>
          </a:bodyPr>
          <a:lstStyle/>
          <a:p>
            <a:r>
              <a:rPr lang="en-US" sz="3600" dirty="0" smtClean="0"/>
              <a:t>Recursive Matrix Multiplication (RMM) (2/2)</a:t>
            </a: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B5FEA1C6-499C-43CB-89D4-DAFB6F789423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/>
              <a:t>23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29700" name="TextBox 16"/>
          <p:cNvSpPr txBox="1">
            <a:spLocks noChangeArrowheads="1"/>
          </p:cNvSpPr>
          <p:nvPr/>
        </p:nvSpPr>
        <p:spPr bwMode="auto">
          <a:xfrm>
            <a:off x="1019175" y="977900"/>
            <a:ext cx="7023100" cy="22467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en-US" dirty="0"/>
              <a:t>  </a:t>
            </a:r>
            <a:r>
              <a:rPr lang="en-US" dirty="0" err="1">
                <a:solidFill>
                  <a:schemeClr val="tx1"/>
                </a:solidFill>
              </a:rPr>
              <a:t>func</a:t>
            </a:r>
            <a:r>
              <a:rPr lang="en-US" dirty="0">
                <a:solidFill>
                  <a:schemeClr val="tx1"/>
                </a:solidFill>
              </a:rPr>
              <a:t> C = RMM (A, B, n)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     if n=1, C = A * B, else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        {  C</a:t>
            </a:r>
            <a:r>
              <a:rPr lang="en-US" baseline="-25000" dirty="0">
                <a:solidFill>
                  <a:schemeClr val="tx1"/>
                </a:solidFill>
              </a:rPr>
              <a:t>11 </a:t>
            </a:r>
            <a:r>
              <a:rPr lang="en-US" dirty="0">
                <a:solidFill>
                  <a:schemeClr val="tx1"/>
                </a:solidFill>
              </a:rPr>
              <a:t>= RMM (A</a:t>
            </a:r>
            <a:r>
              <a:rPr lang="en-US" baseline="-25000" dirty="0">
                <a:solidFill>
                  <a:schemeClr val="tx1"/>
                </a:solidFill>
              </a:rPr>
              <a:t>11</a:t>
            </a:r>
            <a:r>
              <a:rPr lang="en-US" dirty="0">
                <a:solidFill>
                  <a:schemeClr val="tx1"/>
                </a:solidFill>
              </a:rPr>
              <a:t> , B</a:t>
            </a:r>
            <a:r>
              <a:rPr lang="en-US" baseline="-25000" dirty="0">
                <a:solidFill>
                  <a:schemeClr val="tx1"/>
                </a:solidFill>
              </a:rPr>
              <a:t>11 </a:t>
            </a:r>
            <a:r>
              <a:rPr lang="en-US" dirty="0">
                <a:solidFill>
                  <a:schemeClr val="tx1"/>
                </a:solidFill>
              </a:rPr>
              <a:t>, n/2) + RMM (A</a:t>
            </a:r>
            <a:r>
              <a:rPr lang="en-US" baseline="-25000" dirty="0">
                <a:solidFill>
                  <a:schemeClr val="tx1"/>
                </a:solidFill>
              </a:rPr>
              <a:t>12</a:t>
            </a:r>
            <a:r>
              <a:rPr lang="en-US" dirty="0">
                <a:solidFill>
                  <a:schemeClr val="tx1"/>
                </a:solidFill>
              </a:rPr>
              <a:t> , B</a:t>
            </a:r>
            <a:r>
              <a:rPr lang="en-US" baseline="-25000" dirty="0">
                <a:solidFill>
                  <a:schemeClr val="tx1"/>
                </a:solidFill>
              </a:rPr>
              <a:t>21 </a:t>
            </a:r>
            <a:r>
              <a:rPr lang="en-US" dirty="0">
                <a:solidFill>
                  <a:schemeClr val="tx1"/>
                </a:solidFill>
              </a:rPr>
              <a:t>, n/2)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           C</a:t>
            </a:r>
            <a:r>
              <a:rPr lang="en-US" baseline="-25000" dirty="0">
                <a:solidFill>
                  <a:schemeClr val="tx1"/>
                </a:solidFill>
              </a:rPr>
              <a:t>12 </a:t>
            </a:r>
            <a:r>
              <a:rPr lang="en-US" dirty="0">
                <a:solidFill>
                  <a:schemeClr val="tx1"/>
                </a:solidFill>
              </a:rPr>
              <a:t>= RMM (A</a:t>
            </a:r>
            <a:r>
              <a:rPr lang="en-US" baseline="-25000" dirty="0">
                <a:solidFill>
                  <a:schemeClr val="tx1"/>
                </a:solidFill>
              </a:rPr>
              <a:t>11</a:t>
            </a:r>
            <a:r>
              <a:rPr lang="en-US" dirty="0">
                <a:solidFill>
                  <a:schemeClr val="tx1"/>
                </a:solidFill>
              </a:rPr>
              <a:t> , B</a:t>
            </a:r>
            <a:r>
              <a:rPr lang="en-US" baseline="-25000" dirty="0">
                <a:solidFill>
                  <a:schemeClr val="tx1"/>
                </a:solidFill>
              </a:rPr>
              <a:t>12 </a:t>
            </a:r>
            <a:r>
              <a:rPr lang="en-US" dirty="0">
                <a:solidFill>
                  <a:schemeClr val="tx1"/>
                </a:solidFill>
              </a:rPr>
              <a:t>, n/2) + RMM (A</a:t>
            </a:r>
            <a:r>
              <a:rPr lang="en-US" baseline="-25000" dirty="0">
                <a:solidFill>
                  <a:schemeClr val="tx1"/>
                </a:solidFill>
              </a:rPr>
              <a:t>12</a:t>
            </a:r>
            <a:r>
              <a:rPr lang="en-US" dirty="0">
                <a:solidFill>
                  <a:schemeClr val="tx1"/>
                </a:solidFill>
              </a:rPr>
              <a:t> , B</a:t>
            </a:r>
            <a:r>
              <a:rPr lang="en-US" baseline="-25000" dirty="0">
                <a:solidFill>
                  <a:schemeClr val="tx1"/>
                </a:solidFill>
              </a:rPr>
              <a:t>22 </a:t>
            </a:r>
            <a:r>
              <a:rPr lang="en-US" dirty="0">
                <a:solidFill>
                  <a:schemeClr val="tx1"/>
                </a:solidFill>
              </a:rPr>
              <a:t>, n/2)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           C</a:t>
            </a:r>
            <a:r>
              <a:rPr lang="en-US" baseline="-25000" dirty="0">
                <a:solidFill>
                  <a:schemeClr val="tx1"/>
                </a:solidFill>
              </a:rPr>
              <a:t>21 </a:t>
            </a:r>
            <a:r>
              <a:rPr lang="en-US" dirty="0">
                <a:solidFill>
                  <a:schemeClr val="tx1"/>
                </a:solidFill>
              </a:rPr>
              <a:t>= RMM (A</a:t>
            </a:r>
            <a:r>
              <a:rPr lang="en-US" baseline="-25000" dirty="0">
                <a:solidFill>
                  <a:schemeClr val="tx1"/>
                </a:solidFill>
              </a:rPr>
              <a:t>21</a:t>
            </a:r>
            <a:r>
              <a:rPr lang="en-US" dirty="0">
                <a:solidFill>
                  <a:schemeClr val="tx1"/>
                </a:solidFill>
              </a:rPr>
              <a:t> , B</a:t>
            </a:r>
            <a:r>
              <a:rPr lang="en-US" baseline="-25000" dirty="0">
                <a:solidFill>
                  <a:schemeClr val="tx1"/>
                </a:solidFill>
              </a:rPr>
              <a:t>11 </a:t>
            </a:r>
            <a:r>
              <a:rPr lang="en-US" dirty="0">
                <a:solidFill>
                  <a:schemeClr val="tx1"/>
                </a:solidFill>
              </a:rPr>
              <a:t>, n/2) + RMM (A</a:t>
            </a:r>
            <a:r>
              <a:rPr lang="en-US" baseline="-25000" dirty="0">
                <a:solidFill>
                  <a:schemeClr val="tx1"/>
                </a:solidFill>
              </a:rPr>
              <a:t>22</a:t>
            </a:r>
            <a:r>
              <a:rPr lang="en-US" dirty="0">
                <a:solidFill>
                  <a:schemeClr val="tx1"/>
                </a:solidFill>
              </a:rPr>
              <a:t> , B</a:t>
            </a:r>
            <a:r>
              <a:rPr lang="en-US" baseline="-25000" dirty="0">
                <a:solidFill>
                  <a:schemeClr val="tx1"/>
                </a:solidFill>
              </a:rPr>
              <a:t>21 </a:t>
            </a:r>
            <a:r>
              <a:rPr lang="en-US" dirty="0">
                <a:solidFill>
                  <a:schemeClr val="tx1"/>
                </a:solidFill>
              </a:rPr>
              <a:t>, n/2)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           C</a:t>
            </a:r>
            <a:r>
              <a:rPr lang="en-US" baseline="-25000" dirty="0">
                <a:solidFill>
                  <a:schemeClr val="tx1"/>
                </a:solidFill>
              </a:rPr>
              <a:t>22 </a:t>
            </a:r>
            <a:r>
              <a:rPr lang="en-US" dirty="0">
                <a:solidFill>
                  <a:schemeClr val="tx1"/>
                </a:solidFill>
              </a:rPr>
              <a:t>= RMM (A</a:t>
            </a:r>
            <a:r>
              <a:rPr lang="en-US" baseline="-25000" dirty="0">
                <a:solidFill>
                  <a:schemeClr val="tx1"/>
                </a:solidFill>
              </a:rPr>
              <a:t>21</a:t>
            </a:r>
            <a:r>
              <a:rPr lang="en-US" dirty="0">
                <a:solidFill>
                  <a:schemeClr val="tx1"/>
                </a:solidFill>
              </a:rPr>
              <a:t> , B</a:t>
            </a:r>
            <a:r>
              <a:rPr lang="en-US" baseline="-25000" dirty="0">
                <a:solidFill>
                  <a:schemeClr val="tx1"/>
                </a:solidFill>
              </a:rPr>
              <a:t>12 </a:t>
            </a:r>
            <a:r>
              <a:rPr lang="en-US" dirty="0">
                <a:solidFill>
                  <a:schemeClr val="tx1"/>
                </a:solidFill>
              </a:rPr>
              <a:t>, n/2) + RMM (A</a:t>
            </a:r>
            <a:r>
              <a:rPr lang="en-US" baseline="-25000" dirty="0">
                <a:solidFill>
                  <a:schemeClr val="tx1"/>
                </a:solidFill>
              </a:rPr>
              <a:t>22</a:t>
            </a:r>
            <a:r>
              <a:rPr lang="en-US" dirty="0">
                <a:solidFill>
                  <a:schemeClr val="tx1"/>
                </a:solidFill>
              </a:rPr>
              <a:t> , B</a:t>
            </a:r>
            <a:r>
              <a:rPr lang="en-US" baseline="-25000" dirty="0">
                <a:solidFill>
                  <a:schemeClr val="tx1"/>
                </a:solidFill>
              </a:rPr>
              <a:t>22 </a:t>
            </a:r>
            <a:r>
              <a:rPr lang="en-US" dirty="0">
                <a:solidFill>
                  <a:schemeClr val="tx1"/>
                </a:solidFill>
              </a:rPr>
              <a:t>, n/2)  }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     return         </a:t>
            </a:r>
          </a:p>
        </p:txBody>
      </p:sp>
      <p:sp>
        <p:nvSpPr>
          <p:cNvPr id="29701" name="TextBox 18"/>
          <p:cNvSpPr txBox="1">
            <a:spLocks noChangeArrowheads="1"/>
          </p:cNvSpPr>
          <p:nvPr/>
        </p:nvSpPr>
        <p:spPr bwMode="auto">
          <a:xfrm>
            <a:off x="762000" y="3429000"/>
            <a:ext cx="7943876" cy="326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en-US" b="0" dirty="0">
                <a:solidFill>
                  <a:schemeClr val="tx1"/>
                </a:solidFill>
              </a:rPr>
              <a:t>A(n)  = # arithmetic operations in RMM( . , . , n)</a:t>
            </a:r>
          </a:p>
          <a:p>
            <a:pPr algn="l"/>
            <a:r>
              <a:rPr lang="en-US" b="0" dirty="0">
                <a:solidFill>
                  <a:schemeClr val="tx1"/>
                </a:solidFill>
              </a:rPr>
              <a:t>         = 8 · A(n/2) + 4(n/2)</a:t>
            </a:r>
            <a:r>
              <a:rPr lang="en-US" sz="2400" b="0" baseline="30000" dirty="0">
                <a:solidFill>
                  <a:schemeClr val="tx1"/>
                </a:solidFill>
              </a:rPr>
              <a:t>2</a:t>
            </a:r>
            <a:r>
              <a:rPr lang="en-US" b="0" dirty="0">
                <a:solidFill>
                  <a:schemeClr val="tx1"/>
                </a:solidFill>
              </a:rPr>
              <a:t>  if  n &gt; 1,   else 1</a:t>
            </a:r>
          </a:p>
          <a:p>
            <a:pPr algn="l"/>
            <a:r>
              <a:rPr lang="en-US" b="0" dirty="0">
                <a:solidFill>
                  <a:schemeClr val="tx1"/>
                </a:solidFill>
              </a:rPr>
              <a:t>         = 2n</a:t>
            </a:r>
            <a:r>
              <a:rPr lang="en-US" sz="2400" b="0" baseline="30000" dirty="0">
                <a:solidFill>
                  <a:schemeClr val="tx1"/>
                </a:solidFill>
              </a:rPr>
              <a:t>3   </a:t>
            </a:r>
            <a:r>
              <a:rPr lang="en-US" sz="2400" b="0" dirty="0">
                <a:solidFill>
                  <a:schemeClr val="tx1"/>
                </a:solidFill>
              </a:rPr>
              <a:t>… </a:t>
            </a:r>
            <a:r>
              <a:rPr lang="en-US" b="0" dirty="0">
                <a:solidFill>
                  <a:schemeClr val="tx1"/>
                </a:solidFill>
              </a:rPr>
              <a:t>same operations as usual, in different </a:t>
            </a:r>
            <a:r>
              <a:rPr lang="en-US" b="0" dirty="0" smtClean="0">
                <a:solidFill>
                  <a:schemeClr val="tx1"/>
                </a:solidFill>
              </a:rPr>
              <a:t>order</a:t>
            </a:r>
          </a:p>
          <a:p>
            <a:pPr algn="l"/>
            <a:endParaRPr lang="en-US" b="0" dirty="0">
              <a:solidFill>
                <a:schemeClr val="tx1"/>
              </a:solidFill>
            </a:endParaRPr>
          </a:p>
          <a:p>
            <a:pPr algn="l"/>
            <a:r>
              <a:rPr lang="en-US" b="0" dirty="0" smtClean="0">
                <a:solidFill>
                  <a:schemeClr val="tx1"/>
                </a:solidFill>
              </a:rPr>
              <a:t>W(</a:t>
            </a:r>
            <a:r>
              <a:rPr lang="en-US" b="0" dirty="0">
                <a:solidFill>
                  <a:schemeClr val="tx1"/>
                </a:solidFill>
              </a:rPr>
              <a:t>n) = # words moved between fast, slow memory by RMM( . , . , n)</a:t>
            </a:r>
          </a:p>
          <a:p>
            <a:pPr algn="l"/>
            <a:r>
              <a:rPr lang="en-US" b="0" dirty="0">
                <a:solidFill>
                  <a:schemeClr val="tx1"/>
                </a:solidFill>
              </a:rPr>
              <a:t>         = 8 · </a:t>
            </a:r>
            <a:r>
              <a:rPr lang="en-US" b="0" dirty="0" smtClean="0">
                <a:solidFill>
                  <a:schemeClr val="tx1"/>
                </a:solidFill>
              </a:rPr>
              <a:t>W(</a:t>
            </a:r>
            <a:r>
              <a:rPr lang="en-US" b="0" dirty="0">
                <a:solidFill>
                  <a:schemeClr val="tx1"/>
                </a:solidFill>
              </a:rPr>
              <a:t>n/2) + </a:t>
            </a:r>
            <a:r>
              <a:rPr lang="en-US" b="0" dirty="0" smtClean="0">
                <a:solidFill>
                  <a:schemeClr val="tx1"/>
                </a:solidFill>
              </a:rPr>
              <a:t>12(</a:t>
            </a:r>
            <a:r>
              <a:rPr lang="en-US" b="0" dirty="0">
                <a:solidFill>
                  <a:schemeClr val="tx1"/>
                </a:solidFill>
              </a:rPr>
              <a:t>n/2)</a:t>
            </a:r>
            <a:r>
              <a:rPr lang="en-US" sz="2400" b="0" baseline="30000" dirty="0">
                <a:solidFill>
                  <a:schemeClr val="tx1"/>
                </a:solidFill>
              </a:rPr>
              <a:t>2</a:t>
            </a:r>
            <a:r>
              <a:rPr lang="en-US" b="0" dirty="0">
                <a:solidFill>
                  <a:schemeClr val="tx1"/>
                </a:solidFill>
              </a:rPr>
              <a:t>  if  3n</a:t>
            </a:r>
            <a:r>
              <a:rPr lang="en-US" sz="2400" b="0" baseline="30000" dirty="0">
                <a:solidFill>
                  <a:schemeClr val="tx1"/>
                </a:solidFill>
              </a:rPr>
              <a:t>2</a:t>
            </a:r>
            <a:r>
              <a:rPr lang="en-US" b="0" dirty="0">
                <a:solidFill>
                  <a:schemeClr val="tx1"/>
                </a:solidFill>
              </a:rPr>
              <a:t> &gt; </a:t>
            </a:r>
            <a:r>
              <a:rPr lang="en-US" b="0" dirty="0" smtClean="0">
                <a:solidFill>
                  <a:schemeClr val="tx1"/>
                </a:solidFill>
              </a:rPr>
              <a:t>M</a:t>
            </a:r>
            <a:r>
              <a:rPr lang="en-US" b="0" baseline="-25000" dirty="0" smtClean="0">
                <a:solidFill>
                  <a:schemeClr val="tx1"/>
                </a:solidFill>
              </a:rPr>
              <a:t>  </a:t>
            </a:r>
            <a:r>
              <a:rPr lang="en-US" b="0" dirty="0">
                <a:solidFill>
                  <a:schemeClr val="tx1"/>
                </a:solidFill>
              </a:rPr>
              <a:t>,  else 3n</a:t>
            </a:r>
            <a:r>
              <a:rPr lang="en-US" sz="2400" b="0" baseline="30000" dirty="0">
                <a:solidFill>
                  <a:schemeClr val="tx1"/>
                </a:solidFill>
              </a:rPr>
              <a:t>2</a:t>
            </a:r>
            <a:r>
              <a:rPr lang="en-US" b="0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b="0" dirty="0">
                <a:solidFill>
                  <a:schemeClr val="tx1"/>
                </a:solidFill>
              </a:rPr>
              <a:t>         = O( n</a:t>
            </a:r>
            <a:r>
              <a:rPr lang="en-US" sz="2400" b="0" baseline="30000" dirty="0">
                <a:solidFill>
                  <a:schemeClr val="tx1"/>
                </a:solidFill>
              </a:rPr>
              <a:t>3</a:t>
            </a:r>
            <a:r>
              <a:rPr lang="en-US" b="0" dirty="0">
                <a:solidFill>
                  <a:schemeClr val="tx1"/>
                </a:solidFill>
              </a:rPr>
              <a:t> / </a:t>
            </a:r>
            <a:r>
              <a:rPr lang="en-US" b="0" dirty="0" smtClean="0">
                <a:solidFill>
                  <a:schemeClr val="tx1"/>
                </a:solidFill>
              </a:rPr>
              <a:t>M</a:t>
            </a:r>
            <a:r>
              <a:rPr lang="en-US" sz="2400" b="0" baseline="30000" dirty="0" smtClean="0">
                <a:solidFill>
                  <a:schemeClr val="tx1"/>
                </a:solidFill>
              </a:rPr>
              <a:t>1</a:t>
            </a:r>
            <a:r>
              <a:rPr lang="en-US" sz="2400" b="0" baseline="30000" dirty="0">
                <a:solidFill>
                  <a:schemeClr val="tx1"/>
                </a:solidFill>
              </a:rPr>
              <a:t>/2 </a:t>
            </a:r>
            <a:r>
              <a:rPr lang="en-US" sz="2400" b="0" dirty="0">
                <a:solidFill>
                  <a:schemeClr val="tx1"/>
                </a:solidFill>
              </a:rPr>
              <a:t>+</a:t>
            </a:r>
            <a:r>
              <a:rPr lang="en-US" sz="2400" b="0" baseline="30000" dirty="0">
                <a:solidFill>
                  <a:schemeClr val="tx1"/>
                </a:solidFill>
              </a:rPr>
              <a:t> </a:t>
            </a:r>
            <a:r>
              <a:rPr lang="en-US" b="0" dirty="0">
                <a:solidFill>
                  <a:schemeClr val="tx1"/>
                </a:solidFill>
              </a:rPr>
              <a:t>n</a:t>
            </a:r>
            <a:r>
              <a:rPr lang="en-US" sz="2400" b="0" baseline="30000" dirty="0">
                <a:solidFill>
                  <a:schemeClr val="tx1"/>
                </a:solidFill>
              </a:rPr>
              <a:t>2</a:t>
            </a:r>
            <a:r>
              <a:rPr lang="en-US" b="0" dirty="0">
                <a:solidFill>
                  <a:schemeClr val="tx1"/>
                </a:solidFill>
              </a:rPr>
              <a:t> )    … same as blocked </a:t>
            </a:r>
            <a:r>
              <a:rPr lang="en-US" b="0" dirty="0" err="1" smtClean="0">
                <a:solidFill>
                  <a:schemeClr val="tx1"/>
                </a:solidFill>
              </a:rPr>
              <a:t>matmul</a:t>
            </a:r>
            <a:endParaRPr lang="en-US" b="0" dirty="0" smtClean="0">
              <a:solidFill>
                <a:schemeClr val="tx1"/>
              </a:solidFill>
            </a:endParaRPr>
          </a:p>
          <a:p>
            <a:pPr algn="l"/>
            <a:endParaRPr lang="en-US" b="0" dirty="0">
              <a:solidFill>
                <a:schemeClr val="tx1"/>
              </a:solidFill>
            </a:endParaRPr>
          </a:p>
          <a:p>
            <a:pPr algn="l"/>
            <a:r>
              <a:rPr lang="en-US" b="0" dirty="0" smtClean="0">
                <a:solidFill>
                  <a:schemeClr val="tx1"/>
                </a:solidFill>
              </a:rPr>
              <a:t>“Cache oblivious”, works for memory hierarchies, but not panacea</a:t>
            </a:r>
            <a:endParaRPr lang="en-US" b="0" dirty="0">
              <a:solidFill>
                <a:schemeClr val="tx1"/>
              </a:solidFill>
            </a:endParaRPr>
          </a:p>
          <a:p>
            <a:pPr algn="l"/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2743200"/>
            <a:ext cx="7315200" cy="2554545"/>
          </a:xfrm>
          <a:prstGeom prst="rect">
            <a:avLst/>
          </a:prstGeom>
          <a:solidFill>
            <a:schemeClr val="bg1"/>
          </a:solidFill>
          <a:ln w="57150" cmpd="sng">
            <a:solidFill>
              <a:srgbClr val="0824F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4000" dirty="0" smtClean="0">
                <a:solidFill>
                  <a:srgbClr val="0824F2"/>
                </a:solidFill>
              </a:rPr>
              <a:t>For big speedups, see SC12 poster  on “Beating MKL and </a:t>
            </a:r>
            <a:r>
              <a:rPr lang="en-US" sz="4000" dirty="0" err="1" smtClean="0">
                <a:solidFill>
                  <a:srgbClr val="0824F2"/>
                </a:solidFill>
              </a:rPr>
              <a:t>ScaLAPACK</a:t>
            </a:r>
            <a:r>
              <a:rPr lang="en-US" sz="4000" dirty="0" smtClean="0">
                <a:solidFill>
                  <a:srgbClr val="0824F2"/>
                </a:solidFill>
              </a:rPr>
              <a:t> at Rectangular </a:t>
            </a:r>
            <a:r>
              <a:rPr lang="en-US" sz="4000" dirty="0" err="1" smtClean="0">
                <a:solidFill>
                  <a:srgbClr val="0824F2"/>
                </a:solidFill>
              </a:rPr>
              <a:t>Matmul</a:t>
            </a:r>
            <a:r>
              <a:rPr lang="en-US" sz="4000" dirty="0" smtClean="0">
                <a:solidFill>
                  <a:srgbClr val="0824F2"/>
                </a:solidFill>
              </a:rPr>
              <a:t>” 11/13 at 5:15-7pm</a:t>
            </a:r>
            <a:endParaRPr lang="en-US" sz="4000" dirty="0">
              <a:solidFill>
                <a:srgbClr val="0824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6266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304800" y="163513"/>
            <a:ext cx="8459788" cy="479425"/>
          </a:xfrm>
        </p:spPr>
        <p:txBody>
          <a:bodyPr>
            <a:normAutofit fontScale="90000"/>
          </a:bodyPr>
          <a:lstStyle/>
          <a:p>
            <a:r>
              <a:rPr lang="en-US" sz="3200" smtClean="0"/>
              <a:t>How hard is hand-tuning matmul, anyway?</a:t>
            </a:r>
          </a:p>
        </p:txBody>
      </p:sp>
      <p:pic>
        <p:nvPicPr>
          <p:cNvPr id="33795" name="Content Placeholder 6" descr="CS267_Matmul_summary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8475" y="838200"/>
            <a:ext cx="8340725" cy="4419600"/>
          </a:xfrm>
          <a:ln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379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6413" y="6492875"/>
            <a:ext cx="2133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fld id="{5307CACF-C77D-46A9-877E-EDF21A101849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 algn="ctr"/>
              <a:t>24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33797" name="TextBox 7"/>
          <p:cNvSpPr txBox="1">
            <a:spLocks noChangeArrowheads="1"/>
          </p:cNvSpPr>
          <p:nvPr/>
        </p:nvSpPr>
        <p:spPr bwMode="auto">
          <a:xfrm>
            <a:off x="457200" y="5334000"/>
            <a:ext cx="81248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Results of 22 student teams trying to tune matrix-multiply, in CS267 Spr09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 Students given “blocked” code to start </a:t>
            </a:r>
            <a:r>
              <a:rPr lang="en-US" sz="1600" dirty="0" smtClean="0">
                <a:solidFill>
                  <a:schemeClr val="tx1"/>
                </a:solidFill>
              </a:rPr>
              <a:t>with (7x faster than </a:t>
            </a:r>
            <a:r>
              <a:rPr lang="en-US" sz="1600" dirty="0" err="1" smtClean="0">
                <a:solidFill>
                  <a:schemeClr val="tx1"/>
                </a:solidFill>
              </a:rPr>
              <a:t>na</a:t>
            </a:r>
            <a:r>
              <a:rPr lang="fr-FR" sz="1600" dirty="0" err="1" smtClean="0">
                <a:solidFill>
                  <a:schemeClr val="tx1"/>
                </a:solidFill>
              </a:rPr>
              <a:t>ï</a:t>
            </a:r>
            <a:r>
              <a:rPr lang="en-US" sz="1600" dirty="0" err="1" smtClean="0">
                <a:solidFill>
                  <a:schemeClr val="tx1"/>
                </a:solidFill>
              </a:rPr>
              <a:t>ve</a:t>
            </a:r>
            <a:r>
              <a:rPr lang="en-US" sz="1600" dirty="0" smtClean="0">
                <a:solidFill>
                  <a:schemeClr val="tx1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  <a:p>
            <a:pPr lvl="1">
              <a:buFont typeface="Arial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 Still hard to get close to vendor tuned performance (ACML</a:t>
            </a:r>
            <a:r>
              <a:rPr lang="en-US" sz="1600" dirty="0" smtClean="0">
                <a:solidFill>
                  <a:schemeClr val="tx1"/>
                </a:solidFill>
              </a:rPr>
              <a:t>) (another 6x)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 For more discussion, see </a:t>
            </a:r>
            <a:r>
              <a:rPr lang="en-US" sz="1600" dirty="0" err="1">
                <a:solidFill>
                  <a:schemeClr val="tx1"/>
                </a:solidFill>
              </a:rPr>
              <a:t>www.cs.berkeley.edu</a:t>
            </a:r>
            <a:r>
              <a:rPr lang="en-US" sz="1600" dirty="0">
                <a:solidFill>
                  <a:schemeClr val="tx1"/>
                </a:solidFill>
              </a:rPr>
              <a:t>/~</a:t>
            </a:r>
            <a:r>
              <a:rPr lang="en-US" sz="1600" dirty="0" err="1">
                <a:solidFill>
                  <a:schemeClr val="tx1"/>
                </a:solidFill>
              </a:rPr>
              <a:t>volkov</a:t>
            </a:r>
            <a:r>
              <a:rPr lang="en-US" sz="1600" dirty="0">
                <a:solidFill>
                  <a:schemeClr val="tx1"/>
                </a:solidFill>
              </a:rPr>
              <a:t>/cs267.sp09/hw1/results/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7086600" y="4800600"/>
            <a:ext cx="1296988" cy="990600"/>
            <a:chOff x="11049000" y="4953000"/>
            <a:chExt cx="1296988" cy="9906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11049000" y="5943600"/>
              <a:ext cx="12954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rot="5400000" flipH="1" flipV="1">
              <a:off x="11849894" y="5447506"/>
              <a:ext cx="990600" cy="158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304800" y="1371600"/>
            <a:ext cx="609600" cy="4648200"/>
            <a:chOff x="-990600" y="1371600"/>
            <a:chExt cx="609600" cy="4648200"/>
          </a:xfrm>
        </p:grpSpPr>
        <p:cxnSp>
          <p:nvCxnSpPr>
            <p:cNvPr id="17" name="Straight Connector 16"/>
            <p:cNvCxnSpPr/>
            <p:nvPr/>
          </p:nvCxnSpPr>
          <p:spPr>
            <a:xfrm rot="10800000">
              <a:off x="-990600" y="6019800"/>
              <a:ext cx="6096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 flipH="1" flipV="1">
              <a:off x="-3314700" y="3695700"/>
              <a:ext cx="46482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-990600" y="1371600"/>
              <a:ext cx="533400" cy="158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72241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</a:t>
            </a:r>
            <a:r>
              <a:rPr lang="en-US" sz="4000" dirty="0" smtClean="0"/>
              <a:t>w hard is hand-tuning </a:t>
            </a:r>
            <a:r>
              <a:rPr lang="en-US" sz="4000" dirty="0" err="1" smtClean="0"/>
              <a:t>matmul</a:t>
            </a:r>
            <a:r>
              <a:rPr lang="en-US" sz="4000" dirty="0" smtClean="0"/>
              <a:t>, anyway?</a:t>
            </a:r>
          </a:p>
        </p:txBody>
      </p:sp>
      <p:sp>
        <p:nvSpPr>
          <p:cNvPr id="34819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0400" y="6492875"/>
            <a:ext cx="2133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C5FA0CE7-C9A0-4BB2-84D1-F20CA88F1758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/>
              <a:t>25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pic>
        <p:nvPicPr>
          <p:cNvPr id="34820" name="Picture 5" descr="CS267_Matmul_loc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1371600"/>
            <a:ext cx="8812212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33611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Parallel </a:t>
            </a:r>
            <a:r>
              <a:rPr lang="en-US" sz="3600" dirty="0" err="1" smtClean="0"/>
              <a:t>MatMul</a:t>
            </a:r>
            <a:r>
              <a:rPr lang="en-US" sz="3600" dirty="0" smtClean="0"/>
              <a:t> with 2D Processor Layout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915400" cy="4525963"/>
          </a:xfrm>
        </p:spPr>
        <p:txBody>
          <a:bodyPr/>
          <a:lstStyle/>
          <a:p>
            <a:r>
              <a:rPr lang="en-US" sz="2800" dirty="0" smtClean="0"/>
              <a:t>P processors in P</a:t>
            </a:r>
            <a:r>
              <a:rPr lang="en-US" sz="2800" baseline="30000" dirty="0" smtClean="0"/>
              <a:t>1/2 </a:t>
            </a:r>
            <a:r>
              <a:rPr lang="en-US" sz="2800" dirty="0" smtClean="0"/>
              <a:t>x P</a:t>
            </a:r>
            <a:r>
              <a:rPr lang="en-US" sz="2800" baseline="30000" dirty="0" smtClean="0"/>
              <a:t>1/2  </a:t>
            </a:r>
            <a:r>
              <a:rPr lang="en-US" sz="2800" dirty="0" smtClean="0"/>
              <a:t>grid</a:t>
            </a:r>
          </a:p>
          <a:p>
            <a:pPr lvl="1"/>
            <a:r>
              <a:rPr lang="en-US" sz="2400" dirty="0" smtClean="0"/>
              <a:t>Processors communicate along rows, columns</a:t>
            </a:r>
          </a:p>
          <a:p>
            <a:r>
              <a:rPr lang="en-US" sz="2800" dirty="0" smtClean="0"/>
              <a:t>Each processor owns n/P</a:t>
            </a:r>
            <a:r>
              <a:rPr lang="en-US" sz="2800" baseline="30000" dirty="0" smtClean="0"/>
              <a:t>1/2  </a:t>
            </a:r>
            <a:r>
              <a:rPr lang="en-US" sz="2800" dirty="0" smtClean="0"/>
              <a:t>x  n/P</a:t>
            </a:r>
            <a:r>
              <a:rPr lang="en-US" sz="2800" baseline="30000" dirty="0" smtClean="0"/>
              <a:t>1/2 </a:t>
            </a:r>
            <a:r>
              <a:rPr lang="en-US" sz="2800" dirty="0" err="1" smtClean="0"/>
              <a:t>submatrices</a:t>
            </a:r>
            <a:r>
              <a:rPr lang="en-US" sz="2800" dirty="0" smtClean="0"/>
              <a:t> of A,B,C</a:t>
            </a:r>
          </a:p>
          <a:p>
            <a:r>
              <a:rPr lang="en-US" sz="2800" dirty="0" smtClean="0"/>
              <a:t>Example: P=16, processors numbered from P</a:t>
            </a:r>
            <a:r>
              <a:rPr lang="en-US" sz="2800" baseline="-25000" dirty="0" smtClean="0"/>
              <a:t>00</a:t>
            </a:r>
            <a:r>
              <a:rPr lang="en-US" sz="2800" dirty="0" smtClean="0"/>
              <a:t> to P</a:t>
            </a:r>
            <a:r>
              <a:rPr lang="en-US" sz="2800" baseline="-25000" dirty="0" smtClean="0"/>
              <a:t>33</a:t>
            </a:r>
          </a:p>
          <a:p>
            <a:pPr lvl="1"/>
            <a:r>
              <a:rPr lang="en-US" sz="2400" dirty="0" smtClean="0"/>
              <a:t>Processor </a:t>
            </a:r>
            <a:r>
              <a:rPr lang="en-US" sz="2400" dirty="0" err="1" smtClean="0"/>
              <a:t>P</a:t>
            </a:r>
            <a:r>
              <a:rPr lang="en-US" baseline="-25000" dirty="0" err="1" smtClean="0"/>
              <a:t>ij</a:t>
            </a:r>
            <a:r>
              <a:rPr lang="en-US" sz="2400" dirty="0" smtClean="0"/>
              <a:t> owns </a:t>
            </a:r>
            <a:r>
              <a:rPr lang="en-US" sz="2400" dirty="0" err="1" smtClean="0"/>
              <a:t>submatrices</a:t>
            </a:r>
            <a:r>
              <a:rPr lang="en-US" sz="2400" dirty="0" smtClean="0"/>
              <a:t> </a:t>
            </a:r>
            <a:r>
              <a:rPr lang="en-US" sz="2400" dirty="0" err="1" smtClean="0"/>
              <a:t>A</a:t>
            </a:r>
            <a:r>
              <a:rPr lang="en-US" baseline="-25000" dirty="0" err="1" smtClean="0"/>
              <a:t>ij</a:t>
            </a:r>
            <a:r>
              <a:rPr lang="en-US" sz="2400" dirty="0" smtClean="0"/>
              <a:t>, </a:t>
            </a:r>
            <a:r>
              <a:rPr lang="en-US" sz="2400" dirty="0" err="1" smtClean="0"/>
              <a:t>B</a:t>
            </a:r>
            <a:r>
              <a:rPr lang="en-US" baseline="-25000" dirty="0" err="1" smtClean="0"/>
              <a:t>ij</a:t>
            </a:r>
            <a:r>
              <a:rPr lang="en-US" sz="2400" dirty="0" smtClean="0"/>
              <a:t> and </a:t>
            </a:r>
            <a:r>
              <a:rPr lang="en-US" sz="2400" dirty="0" err="1" smtClean="0"/>
              <a:t>C</a:t>
            </a:r>
            <a:r>
              <a:rPr lang="en-US" baseline="-25000" dirty="0" err="1" smtClean="0"/>
              <a:t>ij</a:t>
            </a:r>
            <a:endParaRPr lang="en-US" baseline="-25000" dirty="0" smtClean="0"/>
          </a:p>
          <a:p>
            <a:endParaRPr lang="en-US" dirty="0"/>
          </a:p>
        </p:txBody>
      </p:sp>
      <p:grpSp>
        <p:nvGrpSpPr>
          <p:cNvPr id="45" name="Group 44"/>
          <p:cNvGrpSpPr/>
          <p:nvPr/>
        </p:nvGrpSpPr>
        <p:grpSpPr>
          <a:xfrm>
            <a:off x="914400" y="3657600"/>
            <a:ext cx="6858000" cy="2514600"/>
            <a:chOff x="914400" y="2057400"/>
            <a:chExt cx="6858000" cy="2514600"/>
          </a:xfrm>
        </p:grpSpPr>
        <p:grpSp>
          <p:nvGrpSpPr>
            <p:cNvPr id="18" name="Group 17"/>
            <p:cNvGrpSpPr/>
            <p:nvPr/>
          </p:nvGrpSpPr>
          <p:grpSpPr>
            <a:xfrm>
              <a:off x="914400" y="2743200"/>
              <a:ext cx="1882108" cy="1828800"/>
              <a:chOff x="914400" y="2743200"/>
              <a:chExt cx="1882108" cy="18288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914400" y="2743200"/>
                <a:ext cx="1828800" cy="1828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/>
              <p:cNvCxnSpPr>
                <a:stCxn id="4" idx="0"/>
                <a:endCxn id="4" idx="2"/>
              </p:cNvCxnSpPr>
              <p:nvPr/>
            </p:nvCxnSpPr>
            <p:spPr>
              <a:xfrm>
                <a:off x="1828800" y="2743200"/>
                <a:ext cx="0" cy="182880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>
                <a:stCxn id="4" idx="1"/>
                <a:endCxn id="4" idx="3"/>
              </p:cNvCxnSpPr>
              <p:nvPr/>
            </p:nvCxnSpPr>
            <p:spPr>
              <a:xfrm>
                <a:off x="914400" y="3657600"/>
                <a:ext cx="1828800" cy="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2286000" y="2743200"/>
                <a:ext cx="0" cy="182880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1371600" y="2743200"/>
                <a:ext cx="0" cy="182880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914400" y="3200400"/>
                <a:ext cx="1828800" cy="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914400" y="4114800"/>
                <a:ext cx="1828800" cy="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914400" y="2743200"/>
                <a:ext cx="18821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</a:t>
                </a:r>
                <a:r>
                  <a:rPr lang="en-US" sz="2400" baseline="-25000" dirty="0" smtClean="0"/>
                  <a:t>00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01 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02 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03</a:t>
                </a:r>
                <a:endParaRPr lang="en-US" sz="2400" baseline="-25000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914400" y="3212068"/>
                <a:ext cx="18821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</a:t>
                </a:r>
                <a:r>
                  <a:rPr lang="en-US" sz="2400" baseline="-25000" dirty="0"/>
                  <a:t>1</a:t>
                </a:r>
                <a:r>
                  <a:rPr lang="en-US" sz="2400" baseline="-25000" dirty="0" smtClean="0"/>
                  <a:t>0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1</a:t>
                </a:r>
                <a:r>
                  <a:rPr lang="en-US" sz="2400" baseline="-25000" dirty="0" smtClean="0"/>
                  <a:t>1 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1</a:t>
                </a:r>
                <a:r>
                  <a:rPr lang="en-US" sz="2400" baseline="-25000" dirty="0" smtClean="0"/>
                  <a:t>2 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1</a:t>
                </a:r>
                <a:r>
                  <a:rPr lang="en-US" sz="2400" baseline="-25000" dirty="0" smtClean="0"/>
                  <a:t>3</a:t>
                </a:r>
                <a:endParaRPr lang="en-US" sz="2400" baseline="-25000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914400" y="3669268"/>
                <a:ext cx="18821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</a:t>
                </a:r>
                <a:r>
                  <a:rPr lang="en-US" sz="2400" baseline="-25000" dirty="0" smtClean="0"/>
                  <a:t>20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21 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22 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23</a:t>
                </a:r>
                <a:endParaRPr lang="en-US" sz="2400" baseline="-25000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914400" y="4126468"/>
                <a:ext cx="18821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</a:t>
                </a:r>
                <a:r>
                  <a:rPr lang="en-US" sz="2400" baseline="-25000" dirty="0"/>
                  <a:t>3</a:t>
                </a:r>
                <a:r>
                  <a:rPr lang="en-US" sz="2400" baseline="-25000" dirty="0" smtClean="0"/>
                  <a:t>0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3</a:t>
                </a:r>
                <a:r>
                  <a:rPr lang="en-US" sz="2400" baseline="-25000" dirty="0" smtClean="0"/>
                  <a:t>1 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3</a:t>
                </a:r>
                <a:r>
                  <a:rPr lang="en-US" sz="2400" baseline="-25000" dirty="0" smtClean="0"/>
                  <a:t>2 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3</a:t>
                </a:r>
                <a:r>
                  <a:rPr lang="en-US" sz="2400" baseline="-25000" dirty="0" smtClean="0"/>
                  <a:t>3</a:t>
                </a:r>
                <a:endParaRPr lang="en-US" sz="2400" baseline="-25000" dirty="0"/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3604292" y="2743200"/>
              <a:ext cx="1882108" cy="1828800"/>
              <a:chOff x="914400" y="2743200"/>
              <a:chExt cx="1882108" cy="1828800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914400" y="2743200"/>
                <a:ext cx="1828800" cy="1828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/>
              <p:cNvCxnSpPr>
                <a:stCxn id="20" idx="0"/>
                <a:endCxn id="20" idx="2"/>
              </p:cNvCxnSpPr>
              <p:nvPr/>
            </p:nvCxnSpPr>
            <p:spPr>
              <a:xfrm>
                <a:off x="1828800" y="2743200"/>
                <a:ext cx="0" cy="182880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>
                <a:stCxn id="20" idx="1"/>
                <a:endCxn id="20" idx="3"/>
              </p:cNvCxnSpPr>
              <p:nvPr/>
            </p:nvCxnSpPr>
            <p:spPr>
              <a:xfrm>
                <a:off x="914400" y="3657600"/>
                <a:ext cx="1828800" cy="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2286000" y="2743200"/>
                <a:ext cx="0" cy="182880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1371600" y="2743200"/>
                <a:ext cx="0" cy="182880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914400" y="3200400"/>
                <a:ext cx="1828800" cy="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914400" y="4114800"/>
                <a:ext cx="1828800" cy="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914400" y="2743200"/>
                <a:ext cx="18821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</a:t>
                </a:r>
                <a:r>
                  <a:rPr lang="en-US" sz="2400" baseline="-25000" dirty="0" smtClean="0"/>
                  <a:t>00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01 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02 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03</a:t>
                </a:r>
                <a:endParaRPr lang="en-US" sz="2400" baseline="-25000" dirty="0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914400" y="3212068"/>
                <a:ext cx="18821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</a:t>
                </a:r>
                <a:r>
                  <a:rPr lang="en-US" sz="2400" baseline="-25000" dirty="0"/>
                  <a:t>1</a:t>
                </a:r>
                <a:r>
                  <a:rPr lang="en-US" sz="2400" baseline="-25000" dirty="0" smtClean="0"/>
                  <a:t>0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1</a:t>
                </a:r>
                <a:r>
                  <a:rPr lang="en-US" sz="2400" baseline="-25000" dirty="0" smtClean="0"/>
                  <a:t>1 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1</a:t>
                </a:r>
                <a:r>
                  <a:rPr lang="en-US" sz="2400" baseline="-25000" dirty="0" smtClean="0"/>
                  <a:t>2 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1</a:t>
                </a:r>
                <a:r>
                  <a:rPr lang="en-US" sz="2400" baseline="-25000" dirty="0" smtClean="0"/>
                  <a:t>3</a:t>
                </a:r>
                <a:endParaRPr lang="en-US" sz="2400" baseline="-25000" dirty="0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914400" y="3669268"/>
                <a:ext cx="18821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</a:t>
                </a:r>
                <a:r>
                  <a:rPr lang="en-US" sz="2400" baseline="-25000" dirty="0" smtClean="0"/>
                  <a:t>20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21 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22 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23</a:t>
                </a:r>
                <a:endParaRPr lang="en-US" sz="2400" baseline="-25000" dirty="0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914400" y="4126468"/>
                <a:ext cx="18821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</a:t>
                </a:r>
                <a:r>
                  <a:rPr lang="en-US" sz="2400" baseline="-25000" dirty="0"/>
                  <a:t>3</a:t>
                </a:r>
                <a:r>
                  <a:rPr lang="en-US" sz="2400" baseline="-25000" dirty="0" smtClean="0"/>
                  <a:t>0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3</a:t>
                </a:r>
                <a:r>
                  <a:rPr lang="en-US" sz="2400" baseline="-25000" dirty="0" smtClean="0"/>
                  <a:t>1 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3</a:t>
                </a:r>
                <a:r>
                  <a:rPr lang="en-US" sz="2400" baseline="-25000" dirty="0" smtClean="0"/>
                  <a:t>2 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3</a:t>
                </a:r>
                <a:r>
                  <a:rPr lang="en-US" sz="2400" baseline="-25000" dirty="0" smtClean="0"/>
                  <a:t>3</a:t>
                </a:r>
                <a:endParaRPr lang="en-US" sz="2400" baseline="-25000" dirty="0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5890292" y="2743200"/>
              <a:ext cx="1882108" cy="1828800"/>
              <a:chOff x="914400" y="2743200"/>
              <a:chExt cx="1882108" cy="1828800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914400" y="2743200"/>
                <a:ext cx="1828800" cy="1828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/>
              <p:cNvCxnSpPr>
                <a:stCxn id="32" idx="0"/>
                <a:endCxn id="32" idx="2"/>
              </p:cNvCxnSpPr>
              <p:nvPr/>
            </p:nvCxnSpPr>
            <p:spPr>
              <a:xfrm>
                <a:off x="1828800" y="2743200"/>
                <a:ext cx="0" cy="182880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32" idx="1"/>
                <a:endCxn id="32" idx="3"/>
              </p:cNvCxnSpPr>
              <p:nvPr/>
            </p:nvCxnSpPr>
            <p:spPr>
              <a:xfrm>
                <a:off x="914400" y="3657600"/>
                <a:ext cx="1828800" cy="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2286000" y="2743200"/>
                <a:ext cx="0" cy="182880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1371600" y="2743200"/>
                <a:ext cx="0" cy="182880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914400" y="3200400"/>
                <a:ext cx="1828800" cy="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914400" y="4114800"/>
                <a:ext cx="1828800" cy="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914400" y="2743200"/>
                <a:ext cx="18821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</a:t>
                </a:r>
                <a:r>
                  <a:rPr lang="en-US" sz="2400" baseline="-25000" dirty="0" smtClean="0"/>
                  <a:t>00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01 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02 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03</a:t>
                </a:r>
                <a:endParaRPr lang="en-US" sz="2400" baseline="-25000" dirty="0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914400" y="3212068"/>
                <a:ext cx="18821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</a:t>
                </a:r>
                <a:r>
                  <a:rPr lang="en-US" sz="2400" baseline="-25000" dirty="0"/>
                  <a:t>1</a:t>
                </a:r>
                <a:r>
                  <a:rPr lang="en-US" sz="2400" baseline="-25000" dirty="0" smtClean="0"/>
                  <a:t>0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1</a:t>
                </a:r>
                <a:r>
                  <a:rPr lang="en-US" sz="2400" baseline="-25000" dirty="0" smtClean="0"/>
                  <a:t>1 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1</a:t>
                </a:r>
                <a:r>
                  <a:rPr lang="en-US" sz="2400" baseline="-25000" dirty="0" smtClean="0"/>
                  <a:t>2 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1</a:t>
                </a:r>
                <a:r>
                  <a:rPr lang="en-US" sz="2400" baseline="-25000" dirty="0" smtClean="0"/>
                  <a:t>3</a:t>
                </a:r>
                <a:endParaRPr lang="en-US" sz="2400" baseline="-25000" dirty="0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914400" y="3669268"/>
                <a:ext cx="18821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</a:t>
                </a:r>
                <a:r>
                  <a:rPr lang="en-US" sz="2400" baseline="-25000" dirty="0" smtClean="0"/>
                  <a:t>20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21 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22  </a:t>
                </a:r>
                <a:r>
                  <a:rPr lang="en-US" dirty="0" smtClean="0"/>
                  <a:t> P</a:t>
                </a:r>
                <a:r>
                  <a:rPr lang="en-US" sz="2400" baseline="-25000" dirty="0" smtClean="0"/>
                  <a:t>23</a:t>
                </a:r>
                <a:endParaRPr lang="en-US" sz="2400" baseline="-25000" dirty="0"/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914400" y="4126468"/>
                <a:ext cx="18821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</a:t>
                </a:r>
                <a:r>
                  <a:rPr lang="en-US" sz="2400" baseline="-25000" dirty="0"/>
                  <a:t>3</a:t>
                </a:r>
                <a:r>
                  <a:rPr lang="en-US" sz="2400" baseline="-25000" dirty="0" smtClean="0"/>
                  <a:t>0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3</a:t>
                </a:r>
                <a:r>
                  <a:rPr lang="en-US" sz="2400" baseline="-25000" dirty="0" smtClean="0"/>
                  <a:t>1 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3</a:t>
                </a:r>
                <a:r>
                  <a:rPr lang="en-US" sz="2400" baseline="-25000" dirty="0" smtClean="0"/>
                  <a:t>2  </a:t>
                </a:r>
                <a:r>
                  <a:rPr lang="en-US" dirty="0" smtClean="0"/>
                  <a:t> P</a:t>
                </a:r>
                <a:r>
                  <a:rPr lang="en-US" sz="2400" baseline="-25000" dirty="0"/>
                  <a:t>3</a:t>
                </a:r>
                <a:r>
                  <a:rPr lang="en-US" sz="2400" baseline="-25000" dirty="0" smtClean="0"/>
                  <a:t>3</a:t>
                </a:r>
                <a:endParaRPr lang="en-US" sz="2400" baseline="-25000" dirty="0"/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1600200" y="2057400"/>
              <a:ext cx="55204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C               =               A           *             B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178311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04025" y="613568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fld id="{81AAB147-9212-45FA-BEAC-133A8920D387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 algn="ctr"/>
              <a:t>27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058150" cy="422275"/>
          </a:xfrm>
        </p:spPr>
        <p:txBody>
          <a:bodyPr>
            <a:normAutofit fontScale="90000"/>
          </a:bodyPr>
          <a:lstStyle/>
          <a:p>
            <a:r>
              <a:rPr lang="en-US" smtClean="0"/>
              <a:t>SUMMA Algorithm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482013" cy="50085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SUMMA = Scalable Universal Matrix Multiply </a:t>
            </a:r>
          </a:p>
          <a:p>
            <a:pPr lvl="1"/>
            <a:r>
              <a:rPr lang="en-US" dirty="0" smtClean="0"/>
              <a:t>Comes within factor of log P of lower bounds:</a:t>
            </a:r>
          </a:p>
          <a:p>
            <a:pPr lvl="2"/>
            <a:r>
              <a:rPr lang="en-US" dirty="0" smtClean="0"/>
              <a:t>Assume fast memory size M = O(n</a:t>
            </a:r>
            <a:r>
              <a:rPr lang="en-US" baseline="30000" dirty="0" smtClean="0"/>
              <a:t>2</a:t>
            </a:r>
            <a:r>
              <a:rPr lang="en-US" dirty="0" smtClean="0"/>
              <a:t>/P) per processor – 1 copy of data</a:t>
            </a:r>
          </a:p>
          <a:p>
            <a:pPr lvl="2"/>
            <a:r>
              <a:rPr lang="en-US" dirty="0" smtClean="0"/>
              <a:t>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 smtClean="0"/>
              <a:t>Ω</a:t>
            </a:r>
            <a:r>
              <a:rPr lang="en-US" dirty="0" smtClean="0"/>
              <a:t>( #flops / M</a:t>
            </a:r>
            <a:r>
              <a:rPr lang="en-US" baseline="30000" dirty="0" smtClean="0"/>
              <a:t>1/2</a:t>
            </a:r>
            <a:r>
              <a:rPr lang="en-US" dirty="0" smtClean="0"/>
              <a:t> ) = </a:t>
            </a:r>
            <a:r>
              <a:rPr lang="en-US" dirty="0" err="1"/>
              <a:t>Ω</a:t>
            </a:r>
            <a:r>
              <a:rPr lang="en-US" dirty="0"/>
              <a:t>( </a:t>
            </a:r>
            <a:r>
              <a:rPr lang="en-US" dirty="0" smtClean="0"/>
              <a:t>(n</a:t>
            </a:r>
            <a:r>
              <a:rPr lang="en-US" baseline="30000" dirty="0" smtClean="0"/>
              <a:t>3</a:t>
            </a:r>
            <a:r>
              <a:rPr lang="en-US" dirty="0" smtClean="0"/>
              <a:t>/P) </a:t>
            </a:r>
            <a:r>
              <a:rPr lang="en-US" dirty="0"/>
              <a:t>/ </a:t>
            </a:r>
            <a:r>
              <a:rPr lang="en-US" dirty="0" smtClean="0"/>
              <a:t>(n</a:t>
            </a:r>
            <a:r>
              <a:rPr lang="en-US" baseline="30000" dirty="0" smtClean="0"/>
              <a:t>2</a:t>
            </a:r>
            <a:r>
              <a:rPr lang="en-US" dirty="0" smtClean="0"/>
              <a:t>/P)</a:t>
            </a:r>
            <a:r>
              <a:rPr lang="en-US" baseline="30000" dirty="0" smtClean="0"/>
              <a:t>1</a:t>
            </a:r>
            <a:r>
              <a:rPr lang="en-US" baseline="30000" dirty="0"/>
              <a:t>/2</a:t>
            </a:r>
            <a:r>
              <a:rPr lang="en-US" dirty="0"/>
              <a:t> ) =</a:t>
            </a:r>
            <a:r>
              <a:rPr lang="en-US" dirty="0" smtClean="0"/>
              <a:t> </a:t>
            </a:r>
            <a:r>
              <a:rPr lang="en-US" dirty="0" err="1"/>
              <a:t>Ω</a:t>
            </a:r>
            <a:r>
              <a:rPr lang="en-US" dirty="0"/>
              <a:t>( </a:t>
            </a:r>
            <a:r>
              <a:rPr lang="en-US" dirty="0" smtClean="0"/>
              <a:t> n</a:t>
            </a:r>
            <a:r>
              <a:rPr lang="en-US" baseline="30000" dirty="0" smtClean="0"/>
              <a:t>2 </a:t>
            </a:r>
            <a:r>
              <a:rPr lang="en-US" dirty="0" smtClean="0"/>
              <a:t>/ P</a:t>
            </a:r>
            <a:r>
              <a:rPr lang="en-US" baseline="30000" dirty="0" smtClean="0"/>
              <a:t>1</a:t>
            </a:r>
            <a:r>
              <a:rPr lang="en-US" baseline="30000" dirty="0"/>
              <a:t>/2</a:t>
            </a:r>
            <a:r>
              <a:rPr lang="en-US" dirty="0"/>
              <a:t> 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#messages         </a:t>
            </a:r>
            <a:r>
              <a:rPr lang="en-US" dirty="0"/>
              <a:t>= </a:t>
            </a:r>
            <a:r>
              <a:rPr lang="en-US" dirty="0" err="1"/>
              <a:t>Ω</a:t>
            </a:r>
            <a:r>
              <a:rPr lang="en-US" dirty="0"/>
              <a:t>( #flops / </a:t>
            </a:r>
            <a:r>
              <a:rPr lang="en-US" dirty="0" smtClean="0"/>
              <a:t>M</a:t>
            </a:r>
            <a:r>
              <a:rPr lang="en-US" baseline="30000" dirty="0" smtClean="0"/>
              <a:t>3/</a:t>
            </a:r>
            <a:r>
              <a:rPr lang="en-US" baseline="30000" dirty="0"/>
              <a:t>2</a:t>
            </a:r>
            <a:r>
              <a:rPr lang="en-US" dirty="0"/>
              <a:t> ) = </a:t>
            </a:r>
            <a:r>
              <a:rPr lang="en-US" dirty="0" err="1"/>
              <a:t>Ω</a:t>
            </a:r>
            <a:r>
              <a:rPr lang="en-US" dirty="0"/>
              <a:t>( (n</a:t>
            </a:r>
            <a:r>
              <a:rPr lang="en-US" baseline="30000" dirty="0"/>
              <a:t>3</a:t>
            </a:r>
            <a:r>
              <a:rPr lang="en-US" dirty="0"/>
              <a:t>/P) / (n</a:t>
            </a:r>
            <a:r>
              <a:rPr lang="en-US" baseline="30000" dirty="0"/>
              <a:t>2</a:t>
            </a:r>
            <a:r>
              <a:rPr lang="en-US" dirty="0"/>
              <a:t>/P</a:t>
            </a:r>
            <a:r>
              <a:rPr lang="en-US" dirty="0" smtClean="0"/>
              <a:t>)</a:t>
            </a:r>
            <a:r>
              <a:rPr lang="en-US" baseline="30000" dirty="0" smtClean="0"/>
              <a:t>3/</a:t>
            </a:r>
            <a:r>
              <a:rPr lang="en-US" baseline="30000" dirty="0"/>
              <a:t>2</a:t>
            </a:r>
            <a:r>
              <a:rPr lang="en-US" dirty="0"/>
              <a:t> ) = </a:t>
            </a:r>
            <a:r>
              <a:rPr lang="en-US" dirty="0" err="1"/>
              <a:t>Ω</a:t>
            </a:r>
            <a:r>
              <a:rPr lang="en-US" dirty="0"/>
              <a:t>( </a:t>
            </a:r>
            <a:r>
              <a:rPr lang="en-US" dirty="0" smtClean="0"/>
              <a:t> </a:t>
            </a:r>
            <a:r>
              <a:rPr lang="en-US" dirty="0"/>
              <a:t>P</a:t>
            </a:r>
            <a:r>
              <a:rPr lang="en-US" baseline="30000" dirty="0"/>
              <a:t>1/2</a:t>
            </a:r>
            <a:r>
              <a:rPr lang="en-US" dirty="0"/>
              <a:t> )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Can accommodate any processor grid, matrix dimensions &amp; layout</a:t>
            </a:r>
          </a:p>
          <a:p>
            <a:pPr lvl="1"/>
            <a:r>
              <a:rPr lang="en-US" dirty="0" smtClean="0"/>
              <a:t>Used </a:t>
            </a:r>
            <a:r>
              <a:rPr lang="en-US" dirty="0"/>
              <a:t>in practice in PBLAS = Parallel BLAS</a:t>
            </a:r>
          </a:p>
          <a:p>
            <a:pPr lvl="2"/>
            <a:r>
              <a:rPr lang="en-US" dirty="0">
                <a:hlinkClick r:id="rId3"/>
              </a:rPr>
              <a:t>www.netlib.org/lapack/lawns/lawn{96,100}.ps</a:t>
            </a:r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Comparison to Cannon’s Algorithm</a:t>
            </a:r>
          </a:p>
          <a:p>
            <a:pPr lvl="1"/>
            <a:r>
              <a:rPr lang="en-US" dirty="0" smtClean="0"/>
              <a:t>Cannon attains lower bound</a:t>
            </a:r>
          </a:p>
          <a:p>
            <a:pPr lvl="1"/>
            <a:r>
              <a:rPr lang="en-US" dirty="0" smtClean="0"/>
              <a:t>But Cannon harder to generalize to other grids, dimensions,   layouts, and Cannon may use more memory </a:t>
            </a:r>
          </a:p>
        </p:txBody>
      </p:sp>
    </p:spTree>
    <p:extLst>
      <p:ext uri="{BB962C8B-B14F-4D97-AF65-F5344CB8AC3E}">
        <p14:creationId xmlns:p14="http://schemas.microsoft.com/office/powerpoint/2010/main" val="15225357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807200" y="609758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fld id="{94383839-0EF5-4D85-AB6D-30F919AC3B5F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 algn="ctr"/>
              <a:t>28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86800" cy="4222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SUMMA – n x n </a:t>
            </a:r>
            <a:r>
              <a:rPr lang="en-US" dirty="0" err="1" smtClean="0"/>
              <a:t>matmul</a:t>
            </a:r>
            <a:r>
              <a:rPr lang="en-US" dirty="0" smtClean="0"/>
              <a:t> on P</a:t>
            </a:r>
            <a:r>
              <a:rPr lang="en-US" baseline="30000" dirty="0" smtClean="0"/>
              <a:t>1/2 </a:t>
            </a:r>
            <a:r>
              <a:rPr lang="en-US" dirty="0" smtClean="0"/>
              <a:t>x P</a:t>
            </a:r>
            <a:r>
              <a:rPr lang="en-US" baseline="30000" dirty="0" smtClean="0"/>
              <a:t>1/2 </a:t>
            </a:r>
            <a:r>
              <a:rPr lang="en-US" dirty="0" smtClean="0"/>
              <a:t>grid  </a:t>
            </a:r>
          </a:p>
        </p:txBody>
      </p:sp>
      <p:sp>
        <p:nvSpPr>
          <p:cNvPr id="25624" name="Text Box 35"/>
          <p:cNvSpPr txBox="1">
            <a:spLocks noChangeArrowheads="1"/>
          </p:cNvSpPr>
          <p:nvPr/>
        </p:nvSpPr>
        <p:spPr bwMode="auto">
          <a:xfrm>
            <a:off x="533400" y="3657600"/>
            <a:ext cx="8458200" cy="230832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230188" indent="-230188" algn="l">
              <a:buFontTx/>
              <a:buChar char="•"/>
              <a:defRPr/>
            </a:pPr>
            <a:r>
              <a:rPr lang="en-US" sz="1800" b="0" dirty="0">
                <a:solidFill>
                  <a:schemeClr val="tx1"/>
                </a:solidFill>
                <a:latin typeface="Helvetica" pitchFamily="34" charset="0"/>
              </a:rPr>
              <a:t>  </a:t>
            </a:r>
            <a:r>
              <a:rPr lang="en-US" sz="2400" b="0" dirty="0" smtClean="0">
                <a:solidFill>
                  <a:schemeClr val="tx1"/>
                </a:solidFill>
                <a:latin typeface="Helvetica" pitchFamily="34" charset="0"/>
              </a:rPr>
              <a:t>C</a:t>
            </a:r>
            <a:r>
              <a:rPr lang="en-US" sz="1800" b="0" dirty="0" smtClean="0">
                <a:solidFill>
                  <a:schemeClr val="tx1"/>
                </a:solidFill>
                <a:latin typeface="Helvetica" pitchFamily="34" charset="0"/>
              </a:rPr>
              <a:t>(</a:t>
            </a:r>
            <a:r>
              <a:rPr lang="en-US" sz="2400" b="0" dirty="0" err="1" smtClean="0">
                <a:solidFill>
                  <a:schemeClr val="tx1"/>
                </a:solidFill>
                <a:latin typeface="Helvetica" pitchFamily="34" charset="0"/>
              </a:rPr>
              <a:t>i</a:t>
            </a:r>
            <a:r>
              <a:rPr lang="en-US" sz="2400" b="0" dirty="0">
                <a:solidFill>
                  <a:schemeClr val="tx1"/>
                </a:solidFill>
                <a:latin typeface="Helvetica" pitchFamily="34" charset="0"/>
              </a:rPr>
              <a:t>, </a:t>
            </a:r>
            <a:r>
              <a:rPr lang="en-US" sz="2400" b="0" dirty="0" smtClean="0">
                <a:solidFill>
                  <a:schemeClr val="tx1"/>
                </a:solidFill>
                <a:latin typeface="Helvetica" pitchFamily="34" charset="0"/>
              </a:rPr>
              <a:t>j) is  n/P</a:t>
            </a:r>
            <a:r>
              <a:rPr lang="en-US" sz="2400" b="0" baseline="30000" dirty="0" smtClean="0">
                <a:solidFill>
                  <a:schemeClr val="tx1"/>
                </a:solidFill>
                <a:latin typeface="Helvetica" pitchFamily="34" charset="0"/>
              </a:rPr>
              <a:t>1/2  </a:t>
            </a:r>
            <a:r>
              <a:rPr lang="en-US" sz="2400" b="0" dirty="0" smtClean="0">
                <a:solidFill>
                  <a:schemeClr val="tx1"/>
                </a:solidFill>
                <a:latin typeface="Helvetica" pitchFamily="34" charset="0"/>
              </a:rPr>
              <a:t>x  n/P</a:t>
            </a:r>
            <a:r>
              <a:rPr lang="en-US" sz="2400" b="0" baseline="30000" dirty="0" smtClean="0">
                <a:solidFill>
                  <a:schemeClr val="tx1"/>
                </a:solidFill>
                <a:latin typeface="Helvetica" pitchFamily="34" charset="0"/>
              </a:rPr>
              <a:t>1/2   </a:t>
            </a:r>
            <a:r>
              <a:rPr lang="en-US" sz="2400" b="0" dirty="0" err="1" smtClean="0">
                <a:solidFill>
                  <a:schemeClr val="tx1"/>
                </a:solidFill>
                <a:latin typeface="Helvetica" pitchFamily="34" charset="0"/>
              </a:rPr>
              <a:t>submatrix</a:t>
            </a:r>
            <a:r>
              <a:rPr lang="en-US" sz="2400" b="0" dirty="0" smtClean="0">
                <a:solidFill>
                  <a:schemeClr val="tx1"/>
                </a:solidFill>
                <a:latin typeface="Helvetica" pitchFamily="34" charset="0"/>
              </a:rPr>
              <a:t> of C on processor </a:t>
            </a:r>
            <a:r>
              <a:rPr lang="en-US" sz="2400" b="0" dirty="0" err="1" smtClean="0">
                <a:solidFill>
                  <a:schemeClr val="tx1"/>
                </a:solidFill>
                <a:latin typeface="Helvetica" pitchFamily="34" charset="0"/>
              </a:rPr>
              <a:t>P</a:t>
            </a:r>
            <a:r>
              <a:rPr lang="en-US" sz="3200" b="0" baseline="-25000" dirty="0" err="1" smtClean="0">
                <a:solidFill>
                  <a:schemeClr val="tx1"/>
                </a:solidFill>
                <a:latin typeface="Helvetica" pitchFamily="34" charset="0"/>
              </a:rPr>
              <a:t>ij</a:t>
            </a:r>
            <a:endParaRPr lang="en-US" sz="3200" b="0" baseline="-25000" dirty="0">
              <a:solidFill>
                <a:schemeClr val="tx1"/>
              </a:solidFill>
              <a:latin typeface="Helvetica" pitchFamily="34" charset="0"/>
            </a:endParaRPr>
          </a:p>
          <a:p>
            <a:pPr marL="230188" indent="-230188">
              <a:buFontTx/>
              <a:buChar char="•"/>
              <a:defRPr/>
            </a:pPr>
            <a:r>
              <a:rPr lang="en-US" sz="2400" b="0" dirty="0">
                <a:solidFill>
                  <a:schemeClr val="tx1"/>
                </a:solidFill>
                <a:latin typeface="Helvetica" pitchFamily="34" charset="0"/>
              </a:rPr>
              <a:t>  </a:t>
            </a:r>
            <a:r>
              <a:rPr lang="en-US" sz="2400" b="0" dirty="0" smtClean="0">
                <a:solidFill>
                  <a:schemeClr val="tx1"/>
                </a:solidFill>
                <a:latin typeface="Helvetica" pitchFamily="34" charset="0"/>
              </a:rPr>
              <a:t>A(</a:t>
            </a:r>
            <a:r>
              <a:rPr lang="en-US" sz="2400" b="0" dirty="0" err="1" smtClean="0">
                <a:solidFill>
                  <a:schemeClr val="tx1"/>
                </a:solidFill>
                <a:latin typeface="Helvetica" pitchFamily="34" charset="0"/>
              </a:rPr>
              <a:t>i,k</a:t>
            </a:r>
            <a:r>
              <a:rPr lang="en-US" sz="2400" b="0" dirty="0" smtClean="0">
                <a:solidFill>
                  <a:schemeClr val="tx1"/>
                </a:solidFill>
                <a:latin typeface="Helvetica" pitchFamily="34" charset="0"/>
              </a:rPr>
              <a:t>) is </a:t>
            </a:r>
            <a:r>
              <a:rPr lang="en-US" sz="2400" dirty="0" smtClean="0">
                <a:latin typeface="Helvetica" pitchFamily="34" charset="0"/>
              </a:rPr>
              <a:t> </a:t>
            </a:r>
            <a:r>
              <a:rPr lang="en-US" sz="2400" dirty="0">
                <a:latin typeface="Helvetica" pitchFamily="34" charset="0"/>
              </a:rPr>
              <a:t>n/P</a:t>
            </a:r>
            <a:r>
              <a:rPr lang="en-US" sz="2400" baseline="30000" dirty="0">
                <a:latin typeface="Helvetica" pitchFamily="34" charset="0"/>
              </a:rPr>
              <a:t>1/2 </a:t>
            </a:r>
            <a:r>
              <a:rPr lang="en-US" sz="2400" baseline="30000" dirty="0" smtClean="0">
                <a:latin typeface="Helvetica" pitchFamily="34" charset="0"/>
              </a:rPr>
              <a:t> </a:t>
            </a:r>
            <a:r>
              <a:rPr lang="en-US" sz="2400" dirty="0" smtClean="0">
                <a:latin typeface="Helvetica" pitchFamily="34" charset="0"/>
              </a:rPr>
              <a:t>x  b   </a:t>
            </a:r>
            <a:r>
              <a:rPr lang="en-US" sz="2400" dirty="0" err="1" smtClean="0">
                <a:latin typeface="Helvetica" pitchFamily="34" charset="0"/>
              </a:rPr>
              <a:t>submatrix</a:t>
            </a:r>
            <a:r>
              <a:rPr lang="en-US" sz="2400" dirty="0" smtClean="0">
                <a:latin typeface="Helvetica" pitchFamily="34" charset="0"/>
              </a:rPr>
              <a:t> of A</a:t>
            </a:r>
          </a:p>
          <a:p>
            <a:pPr marL="230188" indent="-230188">
              <a:buFontTx/>
              <a:buChar char="•"/>
              <a:defRPr/>
            </a:pPr>
            <a:r>
              <a:rPr lang="en-US" sz="2400" dirty="0" smtClean="0">
                <a:latin typeface="Helvetica" pitchFamily="34" charset="0"/>
              </a:rPr>
              <a:t>  B(</a:t>
            </a:r>
            <a:r>
              <a:rPr lang="en-US" sz="2400" dirty="0" err="1" smtClean="0">
                <a:latin typeface="Helvetica" pitchFamily="34" charset="0"/>
              </a:rPr>
              <a:t>k,j</a:t>
            </a:r>
            <a:r>
              <a:rPr lang="en-US" sz="2400" dirty="0" smtClean="0">
                <a:latin typeface="Helvetica" pitchFamily="34" charset="0"/>
              </a:rPr>
              <a:t>) is  b  x  </a:t>
            </a:r>
            <a:r>
              <a:rPr lang="en-US" sz="2400" dirty="0">
                <a:latin typeface="Helvetica" pitchFamily="34" charset="0"/>
              </a:rPr>
              <a:t>n/P</a:t>
            </a:r>
            <a:r>
              <a:rPr lang="en-US" sz="2400" baseline="30000" dirty="0">
                <a:latin typeface="Helvetica" pitchFamily="34" charset="0"/>
              </a:rPr>
              <a:t>1/2 </a:t>
            </a:r>
            <a:r>
              <a:rPr lang="en-US" sz="2400" baseline="30000" dirty="0" smtClean="0">
                <a:latin typeface="Helvetica" pitchFamily="34" charset="0"/>
              </a:rPr>
              <a:t>  </a:t>
            </a:r>
            <a:r>
              <a:rPr lang="en-US" sz="2400" dirty="0" err="1" smtClean="0">
                <a:latin typeface="Helvetica" pitchFamily="34" charset="0"/>
              </a:rPr>
              <a:t>submatrix</a:t>
            </a:r>
            <a:r>
              <a:rPr lang="en-US" sz="2400" dirty="0" smtClean="0">
                <a:latin typeface="Helvetica" pitchFamily="34" charset="0"/>
              </a:rPr>
              <a:t> of B  </a:t>
            </a:r>
            <a:endParaRPr lang="en-US" sz="2400" b="0" dirty="0">
              <a:solidFill>
                <a:schemeClr val="tx1"/>
              </a:solidFill>
              <a:latin typeface="Helvetica" pitchFamily="34" charset="0"/>
            </a:endParaRPr>
          </a:p>
          <a:p>
            <a:pPr marL="230188" indent="-230188" algn="l">
              <a:buFontTx/>
              <a:buChar char="•"/>
              <a:defRPr/>
            </a:pPr>
            <a:r>
              <a:rPr lang="en-US" sz="2400" b="0" dirty="0" smtClean="0">
                <a:solidFill>
                  <a:schemeClr val="tx1"/>
                </a:solidFill>
                <a:latin typeface="Helvetica" pitchFamily="34" charset="0"/>
              </a:rPr>
              <a:t> </a:t>
            </a:r>
            <a:r>
              <a:rPr lang="en-US" sz="2400" b="0" dirty="0">
                <a:solidFill>
                  <a:srgbClr val="006600"/>
                </a:solidFill>
                <a:latin typeface="Helvetica" pitchFamily="34" charset="0"/>
              </a:rPr>
              <a:t>C(</a:t>
            </a:r>
            <a:r>
              <a:rPr lang="en-US" sz="2400" b="0" dirty="0" err="1">
                <a:solidFill>
                  <a:srgbClr val="006600"/>
                </a:solidFill>
                <a:latin typeface="Helvetica" pitchFamily="34" charset="0"/>
              </a:rPr>
              <a:t>i,j</a:t>
            </a:r>
            <a:r>
              <a:rPr lang="en-US" sz="2400" b="0" dirty="0">
                <a:solidFill>
                  <a:srgbClr val="006600"/>
                </a:solidFill>
                <a:latin typeface="Helvetica" pitchFamily="34" charset="0"/>
              </a:rPr>
              <a:t>)</a:t>
            </a:r>
            <a:r>
              <a:rPr lang="en-US" sz="2400" b="0" dirty="0">
                <a:solidFill>
                  <a:schemeClr val="tx1"/>
                </a:solidFill>
                <a:latin typeface="Helvetica" pitchFamily="34" charset="0"/>
              </a:rPr>
              <a:t> = </a:t>
            </a:r>
            <a:r>
              <a:rPr lang="en-US" sz="2400" b="0" dirty="0">
                <a:solidFill>
                  <a:srgbClr val="006600"/>
                </a:solidFill>
                <a:latin typeface="Helvetica" pitchFamily="34" charset="0"/>
              </a:rPr>
              <a:t>C(</a:t>
            </a:r>
            <a:r>
              <a:rPr lang="en-US" sz="2400" b="0" dirty="0" err="1">
                <a:solidFill>
                  <a:srgbClr val="006600"/>
                </a:solidFill>
                <a:latin typeface="Helvetica" pitchFamily="34" charset="0"/>
              </a:rPr>
              <a:t>i,j</a:t>
            </a:r>
            <a:r>
              <a:rPr lang="en-US" sz="2400" b="0" dirty="0">
                <a:solidFill>
                  <a:srgbClr val="006600"/>
                </a:solidFill>
                <a:latin typeface="Helvetica" pitchFamily="34" charset="0"/>
              </a:rPr>
              <a:t>)</a:t>
            </a:r>
            <a:r>
              <a:rPr lang="en-US" sz="2400" b="0" dirty="0">
                <a:solidFill>
                  <a:schemeClr val="tx1"/>
                </a:solidFill>
                <a:latin typeface="Helvetica" pitchFamily="34" charset="0"/>
              </a:rPr>
              <a:t> + </a:t>
            </a:r>
            <a:r>
              <a:rPr lang="en-US" sz="2400" b="0" dirty="0" err="1">
                <a:solidFill>
                  <a:schemeClr val="tx1"/>
                </a:solidFill>
                <a:latin typeface="Symbol" pitchFamily="18" charset="2"/>
              </a:rPr>
              <a:t>S</a:t>
            </a:r>
            <a:r>
              <a:rPr lang="en-US" sz="3200" baseline="-14000" dirty="0" err="1">
                <a:solidFill>
                  <a:schemeClr val="tx1"/>
                </a:solidFill>
                <a:latin typeface="Helvetica" pitchFamily="34" charset="0"/>
              </a:rPr>
              <a:t>k</a:t>
            </a:r>
            <a:r>
              <a:rPr lang="en-US" sz="2400" b="0" dirty="0">
                <a:solidFill>
                  <a:schemeClr val="tx1"/>
                </a:solidFill>
                <a:latin typeface="Helvetica" pitchFamily="34" charset="0"/>
              </a:rPr>
              <a:t> </a:t>
            </a:r>
            <a:r>
              <a:rPr lang="en-US" sz="2400" b="0" dirty="0">
                <a:solidFill>
                  <a:srgbClr val="FF0000"/>
                </a:solidFill>
                <a:latin typeface="Helvetica" pitchFamily="34" charset="0"/>
              </a:rPr>
              <a:t>A(</a:t>
            </a:r>
            <a:r>
              <a:rPr lang="en-US" sz="2400" b="0" dirty="0" err="1">
                <a:solidFill>
                  <a:srgbClr val="FF0000"/>
                </a:solidFill>
                <a:latin typeface="Helvetica" pitchFamily="34" charset="0"/>
              </a:rPr>
              <a:t>i,k</a:t>
            </a:r>
            <a:r>
              <a:rPr lang="en-US" sz="2400" b="0" dirty="0">
                <a:solidFill>
                  <a:srgbClr val="FF0000"/>
                </a:solidFill>
                <a:latin typeface="Helvetica" pitchFamily="34" charset="0"/>
              </a:rPr>
              <a:t>)</a:t>
            </a:r>
            <a:r>
              <a:rPr lang="en-US" sz="2400" b="0" dirty="0">
                <a:solidFill>
                  <a:schemeClr val="tx1"/>
                </a:solidFill>
                <a:latin typeface="Helvetica" pitchFamily="34" charset="0"/>
              </a:rPr>
              <a:t>*</a:t>
            </a:r>
            <a:r>
              <a:rPr lang="en-US" sz="2400" b="0" dirty="0">
                <a:solidFill>
                  <a:srgbClr val="0000FF"/>
                </a:solidFill>
                <a:latin typeface="Helvetica" pitchFamily="34" charset="0"/>
              </a:rPr>
              <a:t>B(</a:t>
            </a:r>
            <a:r>
              <a:rPr lang="en-US" sz="2400" b="0" dirty="0" err="1">
                <a:solidFill>
                  <a:srgbClr val="0000FF"/>
                </a:solidFill>
                <a:latin typeface="Helvetica" pitchFamily="34" charset="0"/>
              </a:rPr>
              <a:t>k,j</a:t>
            </a:r>
            <a:r>
              <a:rPr lang="en-US" sz="2400" b="0" dirty="0" smtClean="0">
                <a:solidFill>
                  <a:srgbClr val="0000FF"/>
                </a:solidFill>
                <a:latin typeface="Helvetica" pitchFamily="34" charset="0"/>
              </a:rPr>
              <a:t>) </a:t>
            </a:r>
          </a:p>
          <a:p>
            <a:pPr marL="687388" lvl="1" indent="-230188">
              <a:buFontTx/>
              <a:buChar char="•"/>
              <a:defRPr/>
            </a:pPr>
            <a:r>
              <a:rPr lang="en-US" sz="2400" b="0" dirty="0" smtClean="0">
                <a:latin typeface="Helvetica" pitchFamily="34" charset="0"/>
              </a:rPr>
              <a:t>summation over </a:t>
            </a:r>
            <a:r>
              <a:rPr lang="en-US" sz="2400" b="0" dirty="0" err="1" smtClean="0">
                <a:latin typeface="Helvetica" pitchFamily="34" charset="0"/>
              </a:rPr>
              <a:t>submatrices</a:t>
            </a:r>
            <a:endParaRPr lang="en-US" sz="2400" b="0" dirty="0">
              <a:latin typeface="Helvetica" pitchFamily="34" charset="0"/>
            </a:endParaRPr>
          </a:p>
          <a:p>
            <a:pPr marL="230188" indent="-230188" algn="l">
              <a:buFontTx/>
              <a:buChar char="•"/>
              <a:defRPr/>
            </a:pPr>
            <a:r>
              <a:rPr lang="en-US" sz="2400" b="0" dirty="0" smtClean="0">
                <a:solidFill>
                  <a:schemeClr val="tx1"/>
                </a:solidFill>
                <a:latin typeface="Helvetica" pitchFamily="34" charset="0"/>
              </a:rPr>
              <a:t>  Need not be square processor grid </a:t>
            </a:r>
            <a:endParaRPr lang="en-US" sz="2400" b="0" dirty="0">
              <a:solidFill>
                <a:schemeClr val="tx1"/>
              </a:solidFill>
              <a:latin typeface="Helvetica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15938" y="838200"/>
            <a:ext cx="7335837" cy="2130425"/>
            <a:chOff x="515938" y="612775"/>
            <a:chExt cx="7335837" cy="2130425"/>
          </a:xfrm>
        </p:grpSpPr>
        <p:grpSp>
          <p:nvGrpSpPr>
            <p:cNvPr id="58372" name="Group 3"/>
            <p:cNvGrpSpPr>
              <a:grpSpLocks/>
            </p:cNvGrpSpPr>
            <p:nvPr/>
          </p:nvGrpSpPr>
          <p:grpSpPr bwMode="auto">
            <a:xfrm>
              <a:off x="1447800" y="990600"/>
              <a:ext cx="1828800" cy="1752600"/>
              <a:chOff x="960" y="528"/>
              <a:chExt cx="1152" cy="1104"/>
            </a:xfrm>
          </p:grpSpPr>
          <p:sp>
            <p:nvSpPr>
              <p:cNvPr id="58412" name="Rectangle 4"/>
              <p:cNvSpPr>
                <a:spLocks noChangeArrowheads="1"/>
              </p:cNvSpPr>
              <p:nvPr/>
            </p:nvSpPr>
            <p:spPr bwMode="auto">
              <a:xfrm>
                <a:off x="960" y="528"/>
                <a:ext cx="1152" cy="110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8413" name="Line 5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8414" name="Line 6"/>
              <p:cNvSpPr>
                <a:spLocks noChangeShapeType="1"/>
              </p:cNvSpPr>
              <p:nvPr/>
            </p:nvSpPr>
            <p:spPr bwMode="auto">
              <a:xfrm>
                <a:off x="960" y="768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8415" name="Line 7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8416" name="Line 8"/>
              <p:cNvSpPr>
                <a:spLocks noChangeShapeType="1"/>
              </p:cNvSpPr>
              <p:nvPr/>
            </p:nvSpPr>
            <p:spPr bwMode="auto">
              <a:xfrm>
                <a:off x="1536" y="528"/>
                <a:ext cx="0" cy="1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8417" name="Line 9"/>
              <p:cNvSpPr>
                <a:spLocks noChangeShapeType="1"/>
              </p:cNvSpPr>
              <p:nvPr/>
            </p:nvSpPr>
            <p:spPr bwMode="auto">
              <a:xfrm>
                <a:off x="1248" y="528"/>
                <a:ext cx="0" cy="1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8418" name="Line 10"/>
              <p:cNvSpPr>
                <a:spLocks noChangeShapeType="1"/>
              </p:cNvSpPr>
              <p:nvPr/>
            </p:nvSpPr>
            <p:spPr bwMode="auto">
              <a:xfrm>
                <a:off x="1824" y="528"/>
                <a:ext cx="0" cy="1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pSp>
          <p:nvGrpSpPr>
            <p:cNvPr id="58373" name="Group 11"/>
            <p:cNvGrpSpPr>
              <a:grpSpLocks/>
            </p:cNvGrpSpPr>
            <p:nvPr/>
          </p:nvGrpSpPr>
          <p:grpSpPr bwMode="auto">
            <a:xfrm>
              <a:off x="3733800" y="990600"/>
              <a:ext cx="1828800" cy="1752600"/>
              <a:chOff x="960" y="528"/>
              <a:chExt cx="1152" cy="1104"/>
            </a:xfrm>
          </p:grpSpPr>
          <p:sp>
            <p:nvSpPr>
              <p:cNvPr id="58405" name="Rectangle 12"/>
              <p:cNvSpPr>
                <a:spLocks noChangeArrowheads="1"/>
              </p:cNvSpPr>
              <p:nvPr/>
            </p:nvSpPr>
            <p:spPr bwMode="auto">
              <a:xfrm>
                <a:off x="960" y="528"/>
                <a:ext cx="1152" cy="110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8406" name="Line 13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8407" name="Line 14"/>
              <p:cNvSpPr>
                <a:spLocks noChangeShapeType="1"/>
              </p:cNvSpPr>
              <p:nvPr/>
            </p:nvSpPr>
            <p:spPr bwMode="auto">
              <a:xfrm>
                <a:off x="960" y="768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8408" name="Line 15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8409" name="Line 16"/>
              <p:cNvSpPr>
                <a:spLocks noChangeShapeType="1"/>
              </p:cNvSpPr>
              <p:nvPr/>
            </p:nvSpPr>
            <p:spPr bwMode="auto">
              <a:xfrm>
                <a:off x="1536" y="528"/>
                <a:ext cx="0" cy="1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8410" name="Line 17"/>
              <p:cNvSpPr>
                <a:spLocks noChangeShapeType="1"/>
              </p:cNvSpPr>
              <p:nvPr/>
            </p:nvSpPr>
            <p:spPr bwMode="auto">
              <a:xfrm>
                <a:off x="1248" y="528"/>
                <a:ext cx="0" cy="1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8411" name="Line 18"/>
              <p:cNvSpPr>
                <a:spLocks noChangeShapeType="1"/>
              </p:cNvSpPr>
              <p:nvPr/>
            </p:nvSpPr>
            <p:spPr bwMode="auto">
              <a:xfrm>
                <a:off x="1824" y="528"/>
                <a:ext cx="0" cy="1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sp>
          <p:nvSpPr>
            <p:cNvPr id="58374" name="Rectangle 19"/>
            <p:cNvSpPr>
              <a:spLocks noChangeArrowheads="1"/>
            </p:cNvSpPr>
            <p:nvPr/>
          </p:nvSpPr>
          <p:spPr bwMode="auto">
            <a:xfrm>
              <a:off x="6019800" y="990600"/>
              <a:ext cx="1828800" cy="17526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8375" name="Line 20"/>
            <p:cNvSpPr>
              <a:spLocks noChangeShapeType="1"/>
            </p:cNvSpPr>
            <p:nvPr/>
          </p:nvSpPr>
          <p:spPr bwMode="auto">
            <a:xfrm>
              <a:off x="6019800" y="1828800"/>
              <a:ext cx="1828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8376" name="Line 21"/>
            <p:cNvSpPr>
              <a:spLocks noChangeShapeType="1"/>
            </p:cNvSpPr>
            <p:nvPr/>
          </p:nvSpPr>
          <p:spPr bwMode="auto">
            <a:xfrm>
              <a:off x="6019800" y="1371600"/>
              <a:ext cx="1828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8377" name="Line 22"/>
            <p:cNvSpPr>
              <a:spLocks noChangeShapeType="1"/>
            </p:cNvSpPr>
            <p:nvPr/>
          </p:nvSpPr>
          <p:spPr bwMode="auto">
            <a:xfrm>
              <a:off x="6019800" y="2286000"/>
              <a:ext cx="1828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8378" name="Line 23"/>
            <p:cNvSpPr>
              <a:spLocks noChangeShapeType="1"/>
            </p:cNvSpPr>
            <p:nvPr/>
          </p:nvSpPr>
          <p:spPr bwMode="auto">
            <a:xfrm>
              <a:off x="6934200" y="990600"/>
              <a:ext cx="0" cy="175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8379" name="Line 24"/>
            <p:cNvSpPr>
              <a:spLocks noChangeShapeType="1"/>
            </p:cNvSpPr>
            <p:nvPr/>
          </p:nvSpPr>
          <p:spPr bwMode="auto">
            <a:xfrm>
              <a:off x="6477000" y="990600"/>
              <a:ext cx="0" cy="175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8380" name="Line 25"/>
            <p:cNvSpPr>
              <a:spLocks noChangeShapeType="1"/>
            </p:cNvSpPr>
            <p:nvPr/>
          </p:nvSpPr>
          <p:spPr bwMode="auto">
            <a:xfrm>
              <a:off x="7391400" y="990600"/>
              <a:ext cx="0" cy="175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8381" name="Text Box 26"/>
            <p:cNvSpPr txBox="1">
              <a:spLocks noChangeArrowheads="1"/>
            </p:cNvSpPr>
            <p:nvPr/>
          </p:nvSpPr>
          <p:spPr bwMode="auto">
            <a:xfrm>
              <a:off x="3336925" y="1563688"/>
              <a:ext cx="3032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240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8382" name="Text Box 27"/>
            <p:cNvSpPr txBox="1">
              <a:spLocks noChangeArrowheads="1"/>
            </p:cNvSpPr>
            <p:nvPr/>
          </p:nvSpPr>
          <p:spPr bwMode="auto">
            <a:xfrm>
              <a:off x="5546725" y="1611313"/>
              <a:ext cx="4016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</a:rPr>
                <a:t> =</a:t>
              </a:r>
            </a:p>
          </p:txBody>
        </p:sp>
        <p:sp>
          <p:nvSpPr>
            <p:cNvPr id="58383" name="Text Box 28"/>
            <p:cNvSpPr txBox="1">
              <a:spLocks noChangeArrowheads="1"/>
            </p:cNvSpPr>
            <p:nvPr/>
          </p:nvSpPr>
          <p:spPr bwMode="auto">
            <a:xfrm>
              <a:off x="1127125" y="1865313"/>
              <a:ext cx="247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1800">
                  <a:solidFill>
                    <a:schemeClr val="tx1"/>
                  </a:solidFill>
                  <a:latin typeface="Helvetica" charset="0"/>
                </a:rPr>
                <a:t>i</a:t>
              </a:r>
            </a:p>
          </p:txBody>
        </p:sp>
        <p:sp>
          <p:nvSpPr>
            <p:cNvPr id="58384" name="Text Box 29"/>
            <p:cNvSpPr txBox="1">
              <a:spLocks noChangeArrowheads="1"/>
            </p:cNvSpPr>
            <p:nvPr/>
          </p:nvSpPr>
          <p:spPr bwMode="auto">
            <a:xfrm>
              <a:off x="5165725" y="646113"/>
              <a:ext cx="247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1800">
                  <a:solidFill>
                    <a:schemeClr val="tx1"/>
                  </a:solidFill>
                  <a:latin typeface="Helvetica" charset="0"/>
                </a:rPr>
                <a:t>j</a:t>
              </a:r>
            </a:p>
          </p:txBody>
        </p:sp>
        <p:sp>
          <p:nvSpPr>
            <p:cNvPr id="58385" name="Text Box 30"/>
            <p:cNvSpPr txBox="1">
              <a:spLocks noChangeArrowheads="1"/>
            </p:cNvSpPr>
            <p:nvPr/>
          </p:nvSpPr>
          <p:spPr bwMode="auto">
            <a:xfrm>
              <a:off x="515938" y="2389188"/>
              <a:ext cx="6905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1600">
                  <a:solidFill>
                    <a:schemeClr val="tx1"/>
                  </a:solidFill>
                  <a:latin typeface="Helvetica" charset="0"/>
                </a:rPr>
                <a:t>A(i,k)</a:t>
              </a:r>
            </a:p>
          </p:txBody>
        </p:sp>
        <p:sp>
          <p:nvSpPr>
            <p:cNvPr id="58386" name="Line 31"/>
            <p:cNvSpPr>
              <a:spLocks noChangeShapeType="1"/>
            </p:cNvSpPr>
            <p:nvPr/>
          </p:nvSpPr>
          <p:spPr bwMode="auto">
            <a:xfrm flipV="1">
              <a:off x="1125538" y="2133600"/>
              <a:ext cx="4572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8387" name="Text Box 32"/>
            <p:cNvSpPr txBox="1">
              <a:spLocks noChangeArrowheads="1"/>
            </p:cNvSpPr>
            <p:nvPr/>
          </p:nvSpPr>
          <p:spPr bwMode="auto">
            <a:xfrm>
              <a:off x="1584325" y="646113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1800">
                  <a:solidFill>
                    <a:schemeClr val="tx1"/>
                  </a:solidFill>
                  <a:latin typeface="Helvetica" charset="0"/>
                </a:rPr>
                <a:t>k</a:t>
              </a:r>
            </a:p>
          </p:txBody>
        </p:sp>
        <p:sp>
          <p:nvSpPr>
            <p:cNvPr id="58388" name="Text Box 33"/>
            <p:cNvSpPr txBox="1">
              <a:spLocks noChangeArrowheads="1"/>
            </p:cNvSpPr>
            <p:nvPr/>
          </p:nvSpPr>
          <p:spPr bwMode="auto">
            <a:xfrm>
              <a:off x="5562600" y="993775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1800">
                  <a:solidFill>
                    <a:schemeClr val="tx1"/>
                  </a:solidFill>
                  <a:latin typeface="Helvetica" charset="0"/>
                </a:rPr>
                <a:t>k</a:t>
              </a:r>
            </a:p>
          </p:txBody>
        </p:sp>
        <p:sp>
          <p:nvSpPr>
            <p:cNvPr id="58389" name="Text Box 34"/>
            <p:cNvSpPr txBox="1">
              <a:spLocks noChangeArrowheads="1"/>
            </p:cNvSpPr>
            <p:nvPr/>
          </p:nvSpPr>
          <p:spPr bwMode="auto">
            <a:xfrm>
              <a:off x="5486400" y="612775"/>
              <a:ext cx="7556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1800">
                  <a:solidFill>
                    <a:schemeClr val="tx1"/>
                  </a:solidFill>
                  <a:latin typeface="Helvetica" charset="0"/>
                </a:rPr>
                <a:t>B(k,j)</a:t>
              </a:r>
            </a:p>
          </p:txBody>
        </p:sp>
        <p:sp>
          <p:nvSpPr>
            <p:cNvPr id="58391" name="Line 36"/>
            <p:cNvSpPr>
              <a:spLocks noChangeShapeType="1"/>
            </p:cNvSpPr>
            <p:nvPr/>
          </p:nvSpPr>
          <p:spPr bwMode="auto">
            <a:xfrm flipH="1">
              <a:off x="5334000" y="838200"/>
              <a:ext cx="2286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8392" name="Rectangle 37"/>
            <p:cNvSpPr>
              <a:spLocks noChangeArrowheads="1"/>
            </p:cNvSpPr>
            <p:nvPr/>
          </p:nvSpPr>
          <p:spPr bwMode="auto">
            <a:xfrm flipH="1">
              <a:off x="1584325" y="993775"/>
              <a:ext cx="92075" cy="1749425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58393" name="Group 38"/>
            <p:cNvGrpSpPr>
              <a:grpSpLocks/>
            </p:cNvGrpSpPr>
            <p:nvPr/>
          </p:nvGrpSpPr>
          <p:grpSpPr bwMode="auto">
            <a:xfrm>
              <a:off x="1692275" y="1690688"/>
              <a:ext cx="1393825" cy="385762"/>
              <a:chOff x="1038" y="525"/>
              <a:chExt cx="878" cy="243"/>
            </a:xfrm>
          </p:grpSpPr>
          <p:sp>
            <p:nvSpPr>
              <p:cNvPr id="58402" name="Line 39"/>
              <p:cNvSpPr>
                <a:spLocks noChangeShapeType="1"/>
              </p:cNvSpPr>
              <p:nvPr/>
            </p:nvSpPr>
            <p:spPr bwMode="auto">
              <a:xfrm>
                <a:off x="1056" y="768"/>
                <a:ext cx="31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58403" name="Freeform 40"/>
              <p:cNvSpPr>
                <a:spLocks/>
              </p:cNvSpPr>
              <p:nvPr/>
            </p:nvSpPr>
            <p:spPr bwMode="auto">
              <a:xfrm>
                <a:off x="1042" y="539"/>
                <a:ext cx="604" cy="220"/>
              </a:xfrm>
              <a:custGeom>
                <a:avLst/>
                <a:gdLst>
                  <a:gd name="T0" fmla="*/ 0 w 604"/>
                  <a:gd name="T1" fmla="*/ 220 h 220"/>
                  <a:gd name="T2" fmla="*/ 412 w 604"/>
                  <a:gd name="T3" fmla="*/ 0 h 220"/>
                  <a:gd name="T4" fmla="*/ 604 w 604"/>
                  <a:gd name="T5" fmla="*/ 220 h 220"/>
                  <a:gd name="T6" fmla="*/ 0 60000 65536"/>
                  <a:gd name="T7" fmla="*/ 0 60000 65536"/>
                  <a:gd name="T8" fmla="*/ 0 60000 65536"/>
                  <a:gd name="T9" fmla="*/ 0 w 604"/>
                  <a:gd name="T10" fmla="*/ 0 h 220"/>
                  <a:gd name="T11" fmla="*/ 604 w 604"/>
                  <a:gd name="T12" fmla="*/ 220 h 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04" h="220">
                    <a:moveTo>
                      <a:pt x="0" y="220"/>
                    </a:moveTo>
                    <a:cubicBezTo>
                      <a:pt x="155" y="110"/>
                      <a:pt x="311" y="0"/>
                      <a:pt x="412" y="0"/>
                    </a:cubicBezTo>
                    <a:cubicBezTo>
                      <a:pt x="513" y="0"/>
                      <a:pt x="558" y="110"/>
                      <a:pt x="604" y="22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58404" name="Freeform 41"/>
              <p:cNvSpPr>
                <a:spLocks/>
              </p:cNvSpPr>
              <p:nvPr/>
            </p:nvSpPr>
            <p:spPr bwMode="auto">
              <a:xfrm>
                <a:off x="1038" y="525"/>
                <a:ext cx="878" cy="220"/>
              </a:xfrm>
              <a:custGeom>
                <a:avLst/>
                <a:gdLst>
                  <a:gd name="T0" fmla="*/ 0 w 604"/>
                  <a:gd name="T1" fmla="*/ 220 h 220"/>
                  <a:gd name="T2" fmla="*/ 8216 w 604"/>
                  <a:gd name="T3" fmla="*/ 0 h 220"/>
                  <a:gd name="T4" fmla="*/ 12041 w 604"/>
                  <a:gd name="T5" fmla="*/ 220 h 220"/>
                  <a:gd name="T6" fmla="*/ 0 60000 65536"/>
                  <a:gd name="T7" fmla="*/ 0 60000 65536"/>
                  <a:gd name="T8" fmla="*/ 0 60000 65536"/>
                  <a:gd name="T9" fmla="*/ 0 w 604"/>
                  <a:gd name="T10" fmla="*/ 0 h 220"/>
                  <a:gd name="T11" fmla="*/ 604 w 604"/>
                  <a:gd name="T12" fmla="*/ 220 h 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04" h="220">
                    <a:moveTo>
                      <a:pt x="0" y="220"/>
                    </a:moveTo>
                    <a:cubicBezTo>
                      <a:pt x="155" y="110"/>
                      <a:pt x="311" y="0"/>
                      <a:pt x="412" y="0"/>
                    </a:cubicBezTo>
                    <a:cubicBezTo>
                      <a:pt x="513" y="0"/>
                      <a:pt x="558" y="110"/>
                      <a:pt x="604" y="22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  <p:sp>
          <p:nvSpPr>
            <p:cNvPr id="58394" name="Rectangle 42"/>
            <p:cNvSpPr>
              <a:spLocks noChangeArrowheads="1"/>
            </p:cNvSpPr>
            <p:nvPr/>
          </p:nvSpPr>
          <p:spPr bwMode="auto">
            <a:xfrm>
              <a:off x="3733800" y="1112838"/>
              <a:ext cx="1828800" cy="106362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8395" name="Rectangle 43"/>
            <p:cNvSpPr>
              <a:spLocks noChangeArrowheads="1"/>
            </p:cNvSpPr>
            <p:nvPr/>
          </p:nvSpPr>
          <p:spPr bwMode="auto">
            <a:xfrm>
              <a:off x="7388225" y="1828800"/>
              <a:ext cx="463550" cy="465138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1400" b="0">
                  <a:solidFill>
                    <a:schemeClr val="tx1"/>
                  </a:solidFill>
                </a:rPr>
                <a:t>C(i,j)</a:t>
              </a:r>
            </a:p>
          </p:txBody>
        </p:sp>
        <p:sp>
          <p:nvSpPr>
            <p:cNvPr id="58396" name="Rectangle 44"/>
            <p:cNvSpPr>
              <a:spLocks noChangeArrowheads="1"/>
            </p:cNvSpPr>
            <p:nvPr/>
          </p:nvSpPr>
          <p:spPr bwMode="auto">
            <a:xfrm>
              <a:off x="7388225" y="1730375"/>
              <a:ext cx="463550" cy="98425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8397" name="Rectangle 45"/>
            <p:cNvSpPr>
              <a:spLocks noChangeArrowheads="1"/>
            </p:cNvSpPr>
            <p:nvPr/>
          </p:nvSpPr>
          <p:spPr bwMode="auto">
            <a:xfrm flipH="1">
              <a:off x="7296150" y="1828800"/>
              <a:ext cx="95250" cy="45720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58398" name="Group 46"/>
            <p:cNvGrpSpPr>
              <a:grpSpLocks/>
            </p:cNvGrpSpPr>
            <p:nvPr/>
          </p:nvGrpSpPr>
          <p:grpSpPr bwMode="auto">
            <a:xfrm rot="5400000">
              <a:off x="4802981" y="1726407"/>
              <a:ext cx="1393825" cy="385762"/>
              <a:chOff x="1038" y="525"/>
              <a:chExt cx="878" cy="243"/>
            </a:xfrm>
          </p:grpSpPr>
          <p:sp>
            <p:nvSpPr>
              <p:cNvPr id="58399" name="Line 47"/>
              <p:cNvSpPr>
                <a:spLocks noChangeShapeType="1"/>
              </p:cNvSpPr>
              <p:nvPr/>
            </p:nvSpPr>
            <p:spPr bwMode="auto">
              <a:xfrm>
                <a:off x="1056" y="768"/>
                <a:ext cx="31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58400" name="Freeform 48"/>
              <p:cNvSpPr>
                <a:spLocks/>
              </p:cNvSpPr>
              <p:nvPr/>
            </p:nvSpPr>
            <p:spPr bwMode="auto">
              <a:xfrm>
                <a:off x="1042" y="539"/>
                <a:ext cx="604" cy="220"/>
              </a:xfrm>
              <a:custGeom>
                <a:avLst/>
                <a:gdLst>
                  <a:gd name="T0" fmla="*/ 0 w 604"/>
                  <a:gd name="T1" fmla="*/ 220 h 220"/>
                  <a:gd name="T2" fmla="*/ 412 w 604"/>
                  <a:gd name="T3" fmla="*/ 0 h 220"/>
                  <a:gd name="T4" fmla="*/ 604 w 604"/>
                  <a:gd name="T5" fmla="*/ 220 h 220"/>
                  <a:gd name="T6" fmla="*/ 0 60000 65536"/>
                  <a:gd name="T7" fmla="*/ 0 60000 65536"/>
                  <a:gd name="T8" fmla="*/ 0 60000 65536"/>
                  <a:gd name="T9" fmla="*/ 0 w 604"/>
                  <a:gd name="T10" fmla="*/ 0 h 220"/>
                  <a:gd name="T11" fmla="*/ 604 w 604"/>
                  <a:gd name="T12" fmla="*/ 220 h 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04" h="220">
                    <a:moveTo>
                      <a:pt x="0" y="220"/>
                    </a:moveTo>
                    <a:cubicBezTo>
                      <a:pt x="155" y="110"/>
                      <a:pt x="311" y="0"/>
                      <a:pt x="412" y="0"/>
                    </a:cubicBezTo>
                    <a:cubicBezTo>
                      <a:pt x="513" y="0"/>
                      <a:pt x="558" y="110"/>
                      <a:pt x="604" y="22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58401" name="Freeform 49"/>
              <p:cNvSpPr>
                <a:spLocks/>
              </p:cNvSpPr>
              <p:nvPr/>
            </p:nvSpPr>
            <p:spPr bwMode="auto">
              <a:xfrm>
                <a:off x="1038" y="525"/>
                <a:ext cx="878" cy="220"/>
              </a:xfrm>
              <a:custGeom>
                <a:avLst/>
                <a:gdLst>
                  <a:gd name="T0" fmla="*/ 0 w 604"/>
                  <a:gd name="T1" fmla="*/ 220 h 220"/>
                  <a:gd name="T2" fmla="*/ 8216 w 604"/>
                  <a:gd name="T3" fmla="*/ 0 h 220"/>
                  <a:gd name="T4" fmla="*/ 12041 w 604"/>
                  <a:gd name="T5" fmla="*/ 220 h 220"/>
                  <a:gd name="T6" fmla="*/ 0 60000 65536"/>
                  <a:gd name="T7" fmla="*/ 0 60000 65536"/>
                  <a:gd name="T8" fmla="*/ 0 60000 65536"/>
                  <a:gd name="T9" fmla="*/ 0 w 604"/>
                  <a:gd name="T10" fmla="*/ 0 h 220"/>
                  <a:gd name="T11" fmla="*/ 604 w 604"/>
                  <a:gd name="T12" fmla="*/ 220 h 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04" h="220">
                    <a:moveTo>
                      <a:pt x="0" y="220"/>
                    </a:moveTo>
                    <a:cubicBezTo>
                      <a:pt x="155" y="110"/>
                      <a:pt x="311" y="0"/>
                      <a:pt x="412" y="0"/>
                    </a:cubicBezTo>
                    <a:cubicBezTo>
                      <a:pt x="513" y="0"/>
                      <a:pt x="558" y="110"/>
                      <a:pt x="604" y="22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5187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643688" y="6335713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fld id="{499C425B-940E-4BEB-BD0A-E0B0176C0AFA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 algn="ctr"/>
              <a:t>29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1" y="187325"/>
            <a:ext cx="8610600" cy="422275"/>
          </a:xfrm>
        </p:spPr>
        <p:txBody>
          <a:bodyPr>
            <a:normAutofit fontScale="90000"/>
          </a:bodyPr>
          <a:lstStyle/>
          <a:p>
            <a:r>
              <a:rPr lang="en-US" dirty="0"/>
              <a:t>SUMMA– n x n </a:t>
            </a:r>
            <a:r>
              <a:rPr lang="en-US" dirty="0" err="1"/>
              <a:t>matmul</a:t>
            </a:r>
            <a:r>
              <a:rPr lang="en-US" dirty="0"/>
              <a:t> on P</a:t>
            </a:r>
            <a:r>
              <a:rPr lang="en-US" baseline="30000" dirty="0"/>
              <a:t>1/2 </a:t>
            </a:r>
            <a:r>
              <a:rPr lang="en-US" dirty="0"/>
              <a:t>x P</a:t>
            </a:r>
            <a:r>
              <a:rPr lang="en-US" baseline="30000" dirty="0"/>
              <a:t>1/2 </a:t>
            </a:r>
            <a:r>
              <a:rPr lang="en-US" dirty="0"/>
              <a:t>grid </a:t>
            </a:r>
            <a:endParaRPr lang="en-US" dirty="0" smtClean="0"/>
          </a:p>
        </p:txBody>
      </p:sp>
      <p:sp>
        <p:nvSpPr>
          <p:cNvPr id="59396" name="Text Box 3"/>
          <p:cNvSpPr txBox="1">
            <a:spLocks noChangeArrowheads="1"/>
          </p:cNvSpPr>
          <p:nvPr/>
        </p:nvSpPr>
        <p:spPr bwMode="auto">
          <a:xfrm>
            <a:off x="9372600" y="3048000"/>
            <a:ext cx="7959725" cy="3498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For k=0 to n-1     </a:t>
            </a:r>
            <a:r>
              <a:rPr lang="en-US" dirty="0">
                <a:solidFill>
                  <a:schemeClr val="accent2"/>
                </a:solidFill>
              </a:rPr>
              <a:t>… </a:t>
            </a:r>
            <a:r>
              <a:rPr lang="en-US" dirty="0">
                <a:solidFill>
                  <a:srgbClr val="7030A0"/>
                </a:solidFill>
              </a:rPr>
              <a:t>or n/b-1 where b is the block size 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rgbClr val="7030A0"/>
                </a:solidFill>
              </a:rPr>
              <a:t>                            …  = # cols in A(</a:t>
            </a:r>
            <a:r>
              <a:rPr lang="en-US" dirty="0" err="1">
                <a:solidFill>
                  <a:srgbClr val="7030A0"/>
                </a:solidFill>
              </a:rPr>
              <a:t>i,k</a:t>
            </a:r>
            <a:r>
              <a:rPr lang="en-US" dirty="0">
                <a:solidFill>
                  <a:srgbClr val="7030A0"/>
                </a:solidFill>
              </a:rPr>
              <a:t>) and # rows in B(</a:t>
            </a:r>
            <a:r>
              <a:rPr lang="en-US" dirty="0" err="1">
                <a:solidFill>
                  <a:srgbClr val="7030A0"/>
                </a:solidFill>
              </a:rPr>
              <a:t>k,j</a:t>
            </a:r>
            <a:r>
              <a:rPr lang="en-US" dirty="0">
                <a:solidFill>
                  <a:srgbClr val="7030A0"/>
                </a:solidFill>
              </a:rPr>
              <a:t>) 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for all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= 1 to </a:t>
            </a:r>
            <a:r>
              <a:rPr lang="en-US" dirty="0" err="1">
                <a:solidFill>
                  <a:schemeClr val="tx1"/>
                </a:solidFill>
              </a:rPr>
              <a:t>p</a:t>
            </a:r>
            <a:r>
              <a:rPr lang="en-US" sz="3200" baseline="-16000" dirty="0" err="1">
                <a:solidFill>
                  <a:schemeClr val="tx1"/>
                </a:solidFill>
              </a:rPr>
              <a:t>r</a:t>
            </a:r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>
                <a:solidFill>
                  <a:srgbClr val="7030A0"/>
                </a:solidFill>
              </a:rPr>
              <a:t>… in parallel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      owner of </a:t>
            </a:r>
            <a:r>
              <a:rPr lang="en-US" dirty="0">
                <a:solidFill>
                  <a:srgbClr val="FF0000"/>
                </a:solidFill>
              </a:rPr>
              <a:t>A(</a:t>
            </a:r>
            <a:r>
              <a:rPr lang="en-US" dirty="0" err="1">
                <a:solidFill>
                  <a:srgbClr val="FF0000"/>
                </a:solidFill>
              </a:rPr>
              <a:t>i,k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broadcasts it to whole processor row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for all j = 1 to p</a:t>
            </a:r>
            <a:r>
              <a:rPr lang="en-US" sz="3200" baseline="-16000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rgbClr val="7030A0"/>
                </a:solidFill>
              </a:rPr>
              <a:t>… in parallel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       owner of </a:t>
            </a:r>
            <a:r>
              <a:rPr lang="en-US" dirty="0">
                <a:solidFill>
                  <a:srgbClr val="0824F2"/>
                </a:solidFill>
              </a:rPr>
              <a:t>B(</a:t>
            </a:r>
            <a:r>
              <a:rPr lang="en-US" dirty="0" err="1">
                <a:solidFill>
                  <a:srgbClr val="0824F2"/>
                </a:solidFill>
              </a:rPr>
              <a:t>k,j</a:t>
            </a:r>
            <a:r>
              <a:rPr lang="en-US" dirty="0">
                <a:solidFill>
                  <a:srgbClr val="0824F2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broadcasts it to whole processor column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Receive </a:t>
            </a:r>
            <a:r>
              <a:rPr lang="en-US" dirty="0">
                <a:solidFill>
                  <a:srgbClr val="FF0000"/>
                </a:solidFill>
              </a:rPr>
              <a:t>A(</a:t>
            </a:r>
            <a:r>
              <a:rPr lang="en-US" dirty="0" err="1">
                <a:solidFill>
                  <a:srgbClr val="FF0000"/>
                </a:solidFill>
              </a:rPr>
              <a:t>i,k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into </a:t>
            </a:r>
            <a:r>
              <a:rPr lang="en-US" dirty="0" err="1">
                <a:solidFill>
                  <a:srgbClr val="FF0000"/>
                </a:solidFill>
              </a:rPr>
              <a:t>Acol</a:t>
            </a:r>
            <a:endParaRPr lang="en-US" dirty="0">
              <a:solidFill>
                <a:srgbClr val="FF0000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Receive </a:t>
            </a:r>
            <a:r>
              <a:rPr lang="en-US" dirty="0">
                <a:solidFill>
                  <a:srgbClr val="0824F2"/>
                </a:solidFill>
              </a:rPr>
              <a:t>B(</a:t>
            </a:r>
            <a:r>
              <a:rPr lang="en-US" dirty="0" err="1">
                <a:solidFill>
                  <a:srgbClr val="0824F2"/>
                </a:solidFill>
              </a:rPr>
              <a:t>k,j</a:t>
            </a:r>
            <a:r>
              <a:rPr lang="en-US" dirty="0">
                <a:solidFill>
                  <a:srgbClr val="0824F2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into </a:t>
            </a:r>
            <a:r>
              <a:rPr lang="en-US" dirty="0">
                <a:solidFill>
                  <a:srgbClr val="0824F2"/>
                </a:solidFill>
              </a:rPr>
              <a:t>Brow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</a:t>
            </a:r>
            <a:r>
              <a:rPr lang="en-US" dirty="0" err="1">
                <a:solidFill>
                  <a:srgbClr val="006600"/>
                </a:solidFill>
              </a:rPr>
              <a:t>C_myproc</a:t>
            </a:r>
            <a:r>
              <a:rPr lang="en-US" dirty="0">
                <a:solidFill>
                  <a:srgbClr val="00CC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6600"/>
                </a:solidFill>
              </a:rPr>
              <a:t>C_myproc</a:t>
            </a:r>
            <a:r>
              <a:rPr lang="en-US" dirty="0">
                <a:solidFill>
                  <a:srgbClr val="00CC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+ </a:t>
            </a:r>
            <a:r>
              <a:rPr lang="en-US" dirty="0" err="1">
                <a:solidFill>
                  <a:srgbClr val="FF0000"/>
                </a:solidFill>
              </a:rPr>
              <a:t>Acol</a:t>
            </a:r>
            <a:r>
              <a:rPr lang="en-US" dirty="0">
                <a:solidFill>
                  <a:schemeClr val="tx1"/>
                </a:solidFill>
              </a:rPr>
              <a:t> * </a:t>
            </a:r>
            <a:r>
              <a:rPr lang="en-US" dirty="0">
                <a:solidFill>
                  <a:srgbClr val="0824F2"/>
                </a:solidFill>
              </a:rPr>
              <a:t>Brow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15938" y="841375"/>
            <a:ext cx="7335837" cy="2130425"/>
            <a:chOff x="515938" y="612775"/>
            <a:chExt cx="7335837" cy="2130425"/>
          </a:xfrm>
        </p:grpSpPr>
        <p:grpSp>
          <p:nvGrpSpPr>
            <p:cNvPr id="59397" name="Group 4"/>
            <p:cNvGrpSpPr>
              <a:grpSpLocks/>
            </p:cNvGrpSpPr>
            <p:nvPr/>
          </p:nvGrpSpPr>
          <p:grpSpPr bwMode="auto">
            <a:xfrm>
              <a:off x="1447800" y="990600"/>
              <a:ext cx="1828800" cy="1752600"/>
              <a:chOff x="960" y="528"/>
              <a:chExt cx="1152" cy="1104"/>
            </a:xfrm>
          </p:grpSpPr>
          <p:sp>
            <p:nvSpPr>
              <p:cNvPr id="59436" name="Rectangle 5"/>
              <p:cNvSpPr>
                <a:spLocks noChangeArrowheads="1"/>
              </p:cNvSpPr>
              <p:nvPr/>
            </p:nvSpPr>
            <p:spPr bwMode="auto">
              <a:xfrm>
                <a:off x="960" y="528"/>
                <a:ext cx="1152" cy="110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9437" name="Line 6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38" name="Line 7"/>
              <p:cNvSpPr>
                <a:spLocks noChangeShapeType="1"/>
              </p:cNvSpPr>
              <p:nvPr/>
            </p:nvSpPr>
            <p:spPr bwMode="auto">
              <a:xfrm>
                <a:off x="960" y="768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39" name="Line 8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40" name="Line 9"/>
              <p:cNvSpPr>
                <a:spLocks noChangeShapeType="1"/>
              </p:cNvSpPr>
              <p:nvPr/>
            </p:nvSpPr>
            <p:spPr bwMode="auto">
              <a:xfrm>
                <a:off x="1536" y="528"/>
                <a:ext cx="0" cy="1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41" name="Line 10"/>
              <p:cNvSpPr>
                <a:spLocks noChangeShapeType="1"/>
              </p:cNvSpPr>
              <p:nvPr/>
            </p:nvSpPr>
            <p:spPr bwMode="auto">
              <a:xfrm>
                <a:off x="1248" y="528"/>
                <a:ext cx="0" cy="1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42" name="Line 11"/>
              <p:cNvSpPr>
                <a:spLocks noChangeShapeType="1"/>
              </p:cNvSpPr>
              <p:nvPr/>
            </p:nvSpPr>
            <p:spPr bwMode="auto">
              <a:xfrm>
                <a:off x="1824" y="528"/>
                <a:ext cx="0" cy="1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grpSp>
          <p:nvGrpSpPr>
            <p:cNvPr id="59398" name="Group 12"/>
            <p:cNvGrpSpPr>
              <a:grpSpLocks/>
            </p:cNvGrpSpPr>
            <p:nvPr/>
          </p:nvGrpSpPr>
          <p:grpSpPr bwMode="auto">
            <a:xfrm>
              <a:off x="3733800" y="990600"/>
              <a:ext cx="1828800" cy="1752600"/>
              <a:chOff x="960" y="528"/>
              <a:chExt cx="1152" cy="1104"/>
            </a:xfrm>
          </p:grpSpPr>
          <p:sp>
            <p:nvSpPr>
              <p:cNvPr id="59429" name="Rectangle 13"/>
              <p:cNvSpPr>
                <a:spLocks noChangeArrowheads="1"/>
              </p:cNvSpPr>
              <p:nvPr/>
            </p:nvSpPr>
            <p:spPr bwMode="auto">
              <a:xfrm>
                <a:off x="960" y="528"/>
                <a:ext cx="1152" cy="110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9430" name="Line 14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31" name="Line 15"/>
              <p:cNvSpPr>
                <a:spLocks noChangeShapeType="1"/>
              </p:cNvSpPr>
              <p:nvPr/>
            </p:nvSpPr>
            <p:spPr bwMode="auto">
              <a:xfrm>
                <a:off x="960" y="768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32" name="Line 16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33" name="Line 17"/>
              <p:cNvSpPr>
                <a:spLocks noChangeShapeType="1"/>
              </p:cNvSpPr>
              <p:nvPr/>
            </p:nvSpPr>
            <p:spPr bwMode="auto">
              <a:xfrm>
                <a:off x="1536" y="528"/>
                <a:ext cx="0" cy="1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34" name="Line 18"/>
              <p:cNvSpPr>
                <a:spLocks noChangeShapeType="1"/>
              </p:cNvSpPr>
              <p:nvPr/>
            </p:nvSpPr>
            <p:spPr bwMode="auto">
              <a:xfrm>
                <a:off x="1248" y="528"/>
                <a:ext cx="0" cy="1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35" name="Line 19"/>
              <p:cNvSpPr>
                <a:spLocks noChangeShapeType="1"/>
              </p:cNvSpPr>
              <p:nvPr/>
            </p:nvSpPr>
            <p:spPr bwMode="auto">
              <a:xfrm>
                <a:off x="1824" y="528"/>
                <a:ext cx="0" cy="1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sp>
          <p:nvSpPr>
            <p:cNvPr id="59399" name="Rectangle 20"/>
            <p:cNvSpPr>
              <a:spLocks noChangeArrowheads="1"/>
            </p:cNvSpPr>
            <p:nvPr/>
          </p:nvSpPr>
          <p:spPr bwMode="auto">
            <a:xfrm>
              <a:off x="6019800" y="990600"/>
              <a:ext cx="1828800" cy="17526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9400" name="Line 21"/>
            <p:cNvSpPr>
              <a:spLocks noChangeShapeType="1"/>
            </p:cNvSpPr>
            <p:nvPr/>
          </p:nvSpPr>
          <p:spPr bwMode="auto">
            <a:xfrm>
              <a:off x="6019800" y="1828800"/>
              <a:ext cx="1828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9401" name="Line 22"/>
            <p:cNvSpPr>
              <a:spLocks noChangeShapeType="1"/>
            </p:cNvSpPr>
            <p:nvPr/>
          </p:nvSpPr>
          <p:spPr bwMode="auto">
            <a:xfrm>
              <a:off x="6019800" y="1371600"/>
              <a:ext cx="1828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9402" name="Line 23"/>
            <p:cNvSpPr>
              <a:spLocks noChangeShapeType="1"/>
            </p:cNvSpPr>
            <p:nvPr/>
          </p:nvSpPr>
          <p:spPr bwMode="auto">
            <a:xfrm>
              <a:off x="6019800" y="2286000"/>
              <a:ext cx="1828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9403" name="Line 24"/>
            <p:cNvSpPr>
              <a:spLocks noChangeShapeType="1"/>
            </p:cNvSpPr>
            <p:nvPr/>
          </p:nvSpPr>
          <p:spPr bwMode="auto">
            <a:xfrm>
              <a:off x="6934200" y="990600"/>
              <a:ext cx="0" cy="175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9404" name="Line 25"/>
            <p:cNvSpPr>
              <a:spLocks noChangeShapeType="1"/>
            </p:cNvSpPr>
            <p:nvPr/>
          </p:nvSpPr>
          <p:spPr bwMode="auto">
            <a:xfrm>
              <a:off x="6477000" y="990600"/>
              <a:ext cx="0" cy="175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9405" name="Line 26"/>
            <p:cNvSpPr>
              <a:spLocks noChangeShapeType="1"/>
            </p:cNvSpPr>
            <p:nvPr/>
          </p:nvSpPr>
          <p:spPr bwMode="auto">
            <a:xfrm>
              <a:off x="7391400" y="990600"/>
              <a:ext cx="0" cy="175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9406" name="Text Box 27"/>
            <p:cNvSpPr txBox="1">
              <a:spLocks noChangeArrowheads="1"/>
            </p:cNvSpPr>
            <p:nvPr/>
          </p:nvSpPr>
          <p:spPr bwMode="auto">
            <a:xfrm>
              <a:off x="3336925" y="1563688"/>
              <a:ext cx="3032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240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59407" name="Text Box 28"/>
            <p:cNvSpPr txBox="1">
              <a:spLocks noChangeArrowheads="1"/>
            </p:cNvSpPr>
            <p:nvPr/>
          </p:nvSpPr>
          <p:spPr bwMode="auto">
            <a:xfrm>
              <a:off x="5546725" y="1611313"/>
              <a:ext cx="4016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</a:rPr>
                <a:t> =</a:t>
              </a:r>
            </a:p>
          </p:txBody>
        </p:sp>
        <p:sp>
          <p:nvSpPr>
            <p:cNvPr id="59408" name="Text Box 29"/>
            <p:cNvSpPr txBox="1">
              <a:spLocks noChangeArrowheads="1"/>
            </p:cNvSpPr>
            <p:nvPr/>
          </p:nvSpPr>
          <p:spPr bwMode="auto">
            <a:xfrm>
              <a:off x="1127125" y="1865313"/>
              <a:ext cx="247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1800">
                  <a:solidFill>
                    <a:schemeClr val="tx1"/>
                  </a:solidFill>
                  <a:latin typeface="Helvetica" charset="0"/>
                </a:rPr>
                <a:t>i</a:t>
              </a:r>
            </a:p>
          </p:txBody>
        </p:sp>
        <p:sp>
          <p:nvSpPr>
            <p:cNvPr id="59409" name="Text Box 30"/>
            <p:cNvSpPr txBox="1">
              <a:spLocks noChangeArrowheads="1"/>
            </p:cNvSpPr>
            <p:nvPr/>
          </p:nvSpPr>
          <p:spPr bwMode="auto">
            <a:xfrm>
              <a:off x="5165725" y="646113"/>
              <a:ext cx="247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1800">
                  <a:solidFill>
                    <a:schemeClr val="tx1"/>
                  </a:solidFill>
                  <a:latin typeface="Helvetica" charset="0"/>
                </a:rPr>
                <a:t>j</a:t>
              </a:r>
            </a:p>
          </p:txBody>
        </p:sp>
        <p:sp>
          <p:nvSpPr>
            <p:cNvPr id="59410" name="Text Box 31"/>
            <p:cNvSpPr txBox="1">
              <a:spLocks noChangeArrowheads="1"/>
            </p:cNvSpPr>
            <p:nvPr/>
          </p:nvSpPr>
          <p:spPr bwMode="auto">
            <a:xfrm>
              <a:off x="515938" y="2389188"/>
              <a:ext cx="6905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1600">
                  <a:solidFill>
                    <a:schemeClr val="tx1"/>
                  </a:solidFill>
                  <a:latin typeface="Helvetica" charset="0"/>
                </a:rPr>
                <a:t>A(i,k)</a:t>
              </a:r>
            </a:p>
          </p:txBody>
        </p:sp>
        <p:sp>
          <p:nvSpPr>
            <p:cNvPr id="59411" name="Line 32"/>
            <p:cNvSpPr>
              <a:spLocks noChangeShapeType="1"/>
            </p:cNvSpPr>
            <p:nvPr/>
          </p:nvSpPr>
          <p:spPr bwMode="auto">
            <a:xfrm flipV="1">
              <a:off x="1125538" y="2133600"/>
              <a:ext cx="4572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9412" name="Text Box 33"/>
            <p:cNvSpPr txBox="1">
              <a:spLocks noChangeArrowheads="1"/>
            </p:cNvSpPr>
            <p:nvPr/>
          </p:nvSpPr>
          <p:spPr bwMode="auto">
            <a:xfrm>
              <a:off x="1584325" y="646113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1800">
                  <a:solidFill>
                    <a:schemeClr val="tx1"/>
                  </a:solidFill>
                  <a:latin typeface="Helvetica" charset="0"/>
                </a:rPr>
                <a:t>k</a:t>
              </a:r>
            </a:p>
          </p:txBody>
        </p:sp>
        <p:sp>
          <p:nvSpPr>
            <p:cNvPr id="59413" name="Text Box 34"/>
            <p:cNvSpPr txBox="1">
              <a:spLocks noChangeArrowheads="1"/>
            </p:cNvSpPr>
            <p:nvPr/>
          </p:nvSpPr>
          <p:spPr bwMode="auto">
            <a:xfrm>
              <a:off x="5562600" y="993775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1800">
                  <a:solidFill>
                    <a:schemeClr val="tx1"/>
                  </a:solidFill>
                  <a:latin typeface="Helvetica" charset="0"/>
                </a:rPr>
                <a:t>k</a:t>
              </a:r>
            </a:p>
          </p:txBody>
        </p:sp>
        <p:sp>
          <p:nvSpPr>
            <p:cNvPr id="59414" name="Text Box 35"/>
            <p:cNvSpPr txBox="1">
              <a:spLocks noChangeArrowheads="1"/>
            </p:cNvSpPr>
            <p:nvPr/>
          </p:nvSpPr>
          <p:spPr bwMode="auto">
            <a:xfrm>
              <a:off x="5486400" y="612775"/>
              <a:ext cx="7556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sz="1800">
                  <a:solidFill>
                    <a:schemeClr val="tx1"/>
                  </a:solidFill>
                  <a:latin typeface="Helvetica" charset="0"/>
                </a:rPr>
                <a:t>B(k,j)</a:t>
              </a:r>
            </a:p>
          </p:txBody>
        </p:sp>
        <p:sp>
          <p:nvSpPr>
            <p:cNvPr id="59415" name="Line 36"/>
            <p:cNvSpPr>
              <a:spLocks noChangeShapeType="1"/>
            </p:cNvSpPr>
            <p:nvPr/>
          </p:nvSpPr>
          <p:spPr bwMode="auto">
            <a:xfrm flipH="1">
              <a:off x="5334000" y="838200"/>
              <a:ext cx="2286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9416" name="Rectangle 37"/>
            <p:cNvSpPr>
              <a:spLocks noChangeArrowheads="1"/>
            </p:cNvSpPr>
            <p:nvPr/>
          </p:nvSpPr>
          <p:spPr bwMode="auto">
            <a:xfrm flipH="1">
              <a:off x="1584325" y="993775"/>
              <a:ext cx="92075" cy="1749425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it-IT">
                <a:solidFill>
                  <a:srgbClr val="FF0000"/>
                </a:solidFill>
              </a:endParaRPr>
            </a:p>
          </p:txBody>
        </p:sp>
        <p:grpSp>
          <p:nvGrpSpPr>
            <p:cNvPr id="59417" name="Group 38"/>
            <p:cNvGrpSpPr>
              <a:grpSpLocks/>
            </p:cNvGrpSpPr>
            <p:nvPr/>
          </p:nvGrpSpPr>
          <p:grpSpPr bwMode="auto">
            <a:xfrm>
              <a:off x="1692275" y="1690688"/>
              <a:ext cx="1393825" cy="385762"/>
              <a:chOff x="1038" y="525"/>
              <a:chExt cx="878" cy="243"/>
            </a:xfrm>
          </p:grpSpPr>
          <p:sp>
            <p:nvSpPr>
              <p:cNvPr id="59426" name="Line 39"/>
              <p:cNvSpPr>
                <a:spLocks noChangeShapeType="1"/>
              </p:cNvSpPr>
              <p:nvPr/>
            </p:nvSpPr>
            <p:spPr bwMode="auto">
              <a:xfrm>
                <a:off x="1056" y="768"/>
                <a:ext cx="31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59427" name="Freeform 40"/>
              <p:cNvSpPr>
                <a:spLocks/>
              </p:cNvSpPr>
              <p:nvPr/>
            </p:nvSpPr>
            <p:spPr bwMode="auto">
              <a:xfrm>
                <a:off x="1042" y="539"/>
                <a:ext cx="604" cy="220"/>
              </a:xfrm>
              <a:custGeom>
                <a:avLst/>
                <a:gdLst>
                  <a:gd name="T0" fmla="*/ 0 w 604"/>
                  <a:gd name="T1" fmla="*/ 220 h 220"/>
                  <a:gd name="T2" fmla="*/ 412 w 604"/>
                  <a:gd name="T3" fmla="*/ 0 h 220"/>
                  <a:gd name="T4" fmla="*/ 604 w 604"/>
                  <a:gd name="T5" fmla="*/ 220 h 220"/>
                  <a:gd name="T6" fmla="*/ 0 60000 65536"/>
                  <a:gd name="T7" fmla="*/ 0 60000 65536"/>
                  <a:gd name="T8" fmla="*/ 0 60000 65536"/>
                  <a:gd name="T9" fmla="*/ 0 w 604"/>
                  <a:gd name="T10" fmla="*/ 0 h 220"/>
                  <a:gd name="T11" fmla="*/ 604 w 604"/>
                  <a:gd name="T12" fmla="*/ 220 h 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04" h="220">
                    <a:moveTo>
                      <a:pt x="0" y="220"/>
                    </a:moveTo>
                    <a:cubicBezTo>
                      <a:pt x="155" y="110"/>
                      <a:pt x="311" y="0"/>
                      <a:pt x="412" y="0"/>
                    </a:cubicBezTo>
                    <a:cubicBezTo>
                      <a:pt x="513" y="0"/>
                      <a:pt x="558" y="110"/>
                      <a:pt x="604" y="22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59428" name="Freeform 41"/>
              <p:cNvSpPr>
                <a:spLocks/>
              </p:cNvSpPr>
              <p:nvPr/>
            </p:nvSpPr>
            <p:spPr bwMode="auto">
              <a:xfrm>
                <a:off x="1038" y="525"/>
                <a:ext cx="878" cy="220"/>
              </a:xfrm>
              <a:custGeom>
                <a:avLst/>
                <a:gdLst>
                  <a:gd name="T0" fmla="*/ 0 w 604"/>
                  <a:gd name="T1" fmla="*/ 220 h 220"/>
                  <a:gd name="T2" fmla="*/ 8216 w 604"/>
                  <a:gd name="T3" fmla="*/ 0 h 220"/>
                  <a:gd name="T4" fmla="*/ 12041 w 604"/>
                  <a:gd name="T5" fmla="*/ 220 h 220"/>
                  <a:gd name="T6" fmla="*/ 0 60000 65536"/>
                  <a:gd name="T7" fmla="*/ 0 60000 65536"/>
                  <a:gd name="T8" fmla="*/ 0 60000 65536"/>
                  <a:gd name="T9" fmla="*/ 0 w 604"/>
                  <a:gd name="T10" fmla="*/ 0 h 220"/>
                  <a:gd name="T11" fmla="*/ 604 w 604"/>
                  <a:gd name="T12" fmla="*/ 220 h 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04" h="220">
                    <a:moveTo>
                      <a:pt x="0" y="220"/>
                    </a:moveTo>
                    <a:cubicBezTo>
                      <a:pt x="155" y="110"/>
                      <a:pt x="311" y="0"/>
                      <a:pt x="412" y="0"/>
                    </a:cubicBezTo>
                    <a:cubicBezTo>
                      <a:pt x="513" y="0"/>
                      <a:pt x="558" y="110"/>
                      <a:pt x="604" y="22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  <p:sp>
          <p:nvSpPr>
            <p:cNvPr id="59418" name="Rectangle 42"/>
            <p:cNvSpPr>
              <a:spLocks noChangeArrowheads="1"/>
            </p:cNvSpPr>
            <p:nvPr/>
          </p:nvSpPr>
          <p:spPr bwMode="auto">
            <a:xfrm>
              <a:off x="3733800" y="1112838"/>
              <a:ext cx="1828800" cy="106362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9419" name="Rectangle 43"/>
            <p:cNvSpPr>
              <a:spLocks noChangeArrowheads="1"/>
            </p:cNvSpPr>
            <p:nvPr/>
          </p:nvSpPr>
          <p:spPr bwMode="auto">
            <a:xfrm>
              <a:off x="7388225" y="1828800"/>
              <a:ext cx="463550" cy="465138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1400" b="0">
                  <a:solidFill>
                    <a:schemeClr val="tx1"/>
                  </a:solidFill>
                </a:rPr>
                <a:t>C(i,j)</a:t>
              </a:r>
            </a:p>
          </p:txBody>
        </p:sp>
        <p:sp>
          <p:nvSpPr>
            <p:cNvPr id="59420" name="Rectangle 44"/>
            <p:cNvSpPr>
              <a:spLocks noChangeArrowheads="1"/>
            </p:cNvSpPr>
            <p:nvPr/>
          </p:nvSpPr>
          <p:spPr bwMode="auto">
            <a:xfrm>
              <a:off x="7388225" y="1730375"/>
              <a:ext cx="463550" cy="98425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9421" name="Rectangle 45"/>
            <p:cNvSpPr>
              <a:spLocks noChangeArrowheads="1"/>
            </p:cNvSpPr>
            <p:nvPr/>
          </p:nvSpPr>
          <p:spPr bwMode="auto">
            <a:xfrm flipH="1">
              <a:off x="7296150" y="1828800"/>
              <a:ext cx="95250" cy="45720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59422" name="Group 46"/>
            <p:cNvGrpSpPr>
              <a:grpSpLocks/>
            </p:cNvGrpSpPr>
            <p:nvPr/>
          </p:nvGrpSpPr>
          <p:grpSpPr bwMode="auto">
            <a:xfrm rot="5400000">
              <a:off x="4802981" y="1726407"/>
              <a:ext cx="1393825" cy="385762"/>
              <a:chOff x="1038" y="525"/>
              <a:chExt cx="878" cy="243"/>
            </a:xfrm>
          </p:grpSpPr>
          <p:sp>
            <p:nvSpPr>
              <p:cNvPr id="59423" name="Line 47"/>
              <p:cNvSpPr>
                <a:spLocks noChangeShapeType="1"/>
              </p:cNvSpPr>
              <p:nvPr/>
            </p:nvSpPr>
            <p:spPr bwMode="auto">
              <a:xfrm>
                <a:off x="1056" y="768"/>
                <a:ext cx="31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59424" name="Freeform 48"/>
              <p:cNvSpPr>
                <a:spLocks/>
              </p:cNvSpPr>
              <p:nvPr/>
            </p:nvSpPr>
            <p:spPr bwMode="auto">
              <a:xfrm>
                <a:off x="1042" y="539"/>
                <a:ext cx="604" cy="220"/>
              </a:xfrm>
              <a:custGeom>
                <a:avLst/>
                <a:gdLst>
                  <a:gd name="T0" fmla="*/ 0 w 604"/>
                  <a:gd name="T1" fmla="*/ 220 h 220"/>
                  <a:gd name="T2" fmla="*/ 412 w 604"/>
                  <a:gd name="T3" fmla="*/ 0 h 220"/>
                  <a:gd name="T4" fmla="*/ 604 w 604"/>
                  <a:gd name="T5" fmla="*/ 220 h 220"/>
                  <a:gd name="T6" fmla="*/ 0 60000 65536"/>
                  <a:gd name="T7" fmla="*/ 0 60000 65536"/>
                  <a:gd name="T8" fmla="*/ 0 60000 65536"/>
                  <a:gd name="T9" fmla="*/ 0 w 604"/>
                  <a:gd name="T10" fmla="*/ 0 h 220"/>
                  <a:gd name="T11" fmla="*/ 604 w 604"/>
                  <a:gd name="T12" fmla="*/ 220 h 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04" h="220">
                    <a:moveTo>
                      <a:pt x="0" y="220"/>
                    </a:moveTo>
                    <a:cubicBezTo>
                      <a:pt x="155" y="110"/>
                      <a:pt x="311" y="0"/>
                      <a:pt x="412" y="0"/>
                    </a:cubicBezTo>
                    <a:cubicBezTo>
                      <a:pt x="513" y="0"/>
                      <a:pt x="558" y="110"/>
                      <a:pt x="604" y="22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59425" name="Freeform 49"/>
              <p:cNvSpPr>
                <a:spLocks/>
              </p:cNvSpPr>
              <p:nvPr/>
            </p:nvSpPr>
            <p:spPr bwMode="auto">
              <a:xfrm>
                <a:off x="1038" y="525"/>
                <a:ext cx="878" cy="220"/>
              </a:xfrm>
              <a:custGeom>
                <a:avLst/>
                <a:gdLst>
                  <a:gd name="T0" fmla="*/ 0 w 604"/>
                  <a:gd name="T1" fmla="*/ 220 h 220"/>
                  <a:gd name="T2" fmla="*/ 8216 w 604"/>
                  <a:gd name="T3" fmla="*/ 0 h 220"/>
                  <a:gd name="T4" fmla="*/ 12041 w 604"/>
                  <a:gd name="T5" fmla="*/ 220 h 220"/>
                  <a:gd name="T6" fmla="*/ 0 60000 65536"/>
                  <a:gd name="T7" fmla="*/ 0 60000 65536"/>
                  <a:gd name="T8" fmla="*/ 0 60000 65536"/>
                  <a:gd name="T9" fmla="*/ 0 w 604"/>
                  <a:gd name="T10" fmla="*/ 0 h 220"/>
                  <a:gd name="T11" fmla="*/ 604 w 604"/>
                  <a:gd name="T12" fmla="*/ 220 h 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04" h="220">
                    <a:moveTo>
                      <a:pt x="0" y="220"/>
                    </a:moveTo>
                    <a:cubicBezTo>
                      <a:pt x="155" y="110"/>
                      <a:pt x="311" y="0"/>
                      <a:pt x="412" y="0"/>
                    </a:cubicBezTo>
                    <a:cubicBezTo>
                      <a:pt x="513" y="0"/>
                      <a:pt x="558" y="110"/>
                      <a:pt x="604" y="22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</p:grpSp>
      <p:sp>
        <p:nvSpPr>
          <p:cNvPr id="52" name="Text Box 3"/>
          <p:cNvSpPr txBox="1">
            <a:spLocks noChangeArrowheads="1"/>
          </p:cNvSpPr>
          <p:nvPr/>
        </p:nvSpPr>
        <p:spPr bwMode="auto">
          <a:xfrm>
            <a:off x="152400" y="3261479"/>
            <a:ext cx="8915400" cy="313932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For k=0 to n/b-1</a:t>
            </a: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for all </a:t>
            </a:r>
            <a:r>
              <a:rPr lang="en-US" sz="1800" dirty="0" err="1">
                <a:solidFill>
                  <a:schemeClr val="tx1"/>
                </a:solidFill>
              </a:rPr>
              <a:t>i</a:t>
            </a:r>
            <a:r>
              <a:rPr lang="en-US" sz="1800" dirty="0">
                <a:solidFill>
                  <a:schemeClr val="tx1"/>
                </a:solidFill>
              </a:rPr>
              <a:t> = 1 to </a:t>
            </a:r>
            <a:r>
              <a:rPr lang="en-US" sz="1800" dirty="0" smtClean="0">
                <a:solidFill>
                  <a:schemeClr val="tx1"/>
                </a:solidFill>
              </a:rPr>
              <a:t>P</a:t>
            </a:r>
            <a:r>
              <a:rPr lang="en-US" sz="1800" baseline="30000" dirty="0" smtClean="0">
                <a:solidFill>
                  <a:schemeClr val="tx1"/>
                </a:solidFill>
              </a:rPr>
              <a:t>1/2 </a:t>
            </a:r>
          </a:p>
          <a:p>
            <a:pPr algn="l">
              <a:spcBef>
                <a:spcPct val="25000"/>
              </a:spcBef>
            </a:pPr>
            <a:r>
              <a:rPr lang="en-US" sz="1800" baseline="30000" dirty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             owner </a:t>
            </a:r>
            <a:r>
              <a:rPr lang="en-US" sz="1800" dirty="0">
                <a:solidFill>
                  <a:schemeClr val="tx1"/>
                </a:solidFill>
              </a:rPr>
              <a:t>of </a:t>
            </a:r>
            <a:r>
              <a:rPr lang="en-US" sz="1800" dirty="0">
                <a:solidFill>
                  <a:srgbClr val="FF0000"/>
                </a:solidFill>
              </a:rPr>
              <a:t>A(</a:t>
            </a:r>
            <a:r>
              <a:rPr lang="en-US" sz="1800" dirty="0" err="1">
                <a:solidFill>
                  <a:srgbClr val="FF0000"/>
                </a:solidFill>
              </a:rPr>
              <a:t>i,k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broadcasts it to whole processor </a:t>
            </a:r>
            <a:r>
              <a:rPr lang="en-US" sz="1800" dirty="0" smtClean="0">
                <a:solidFill>
                  <a:schemeClr val="tx1"/>
                </a:solidFill>
              </a:rPr>
              <a:t>row (using binary tree)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spcBef>
                <a:spcPct val="2500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     for </a:t>
            </a:r>
            <a:r>
              <a:rPr lang="en-US" sz="1800" dirty="0">
                <a:solidFill>
                  <a:schemeClr val="tx1"/>
                </a:solidFill>
              </a:rPr>
              <a:t>all j = 1 to  </a:t>
            </a:r>
            <a:r>
              <a:rPr lang="en-US" sz="1800" dirty="0" smtClean="0">
                <a:solidFill>
                  <a:schemeClr val="tx1"/>
                </a:solidFill>
              </a:rPr>
              <a:t>P</a:t>
            </a:r>
            <a:r>
              <a:rPr lang="en-US" sz="1800" baseline="30000" dirty="0" smtClean="0">
                <a:solidFill>
                  <a:schemeClr val="tx1"/>
                </a:solidFill>
              </a:rPr>
              <a:t>1/2</a:t>
            </a:r>
            <a:endParaRPr lang="en-US" sz="1800" baseline="30000" dirty="0">
              <a:solidFill>
                <a:schemeClr val="tx1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       owner of </a:t>
            </a:r>
            <a:r>
              <a:rPr lang="en-US" sz="1800" dirty="0">
                <a:solidFill>
                  <a:srgbClr val="0824F2"/>
                </a:solidFill>
              </a:rPr>
              <a:t>B(</a:t>
            </a:r>
            <a:r>
              <a:rPr lang="en-US" sz="1800" dirty="0" err="1">
                <a:solidFill>
                  <a:srgbClr val="0824F2"/>
                </a:solidFill>
              </a:rPr>
              <a:t>k,j</a:t>
            </a:r>
            <a:r>
              <a:rPr lang="en-US" sz="1800" dirty="0">
                <a:solidFill>
                  <a:srgbClr val="0824F2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broadcasts it to whole processor </a:t>
            </a:r>
            <a:r>
              <a:rPr lang="en-US" sz="1800" dirty="0" smtClean="0">
                <a:solidFill>
                  <a:schemeClr val="tx1"/>
                </a:solidFill>
              </a:rPr>
              <a:t>column (using bin. </a:t>
            </a:r>
            <a:r>
              <a:rPr lang="en-US" sz="1800" dirty="0">
                <a:solidFill>
                  <a:schemeClr val="tx1"/>
                </a:solidFill>
              </a:rPr>
              <a:t>t</a:t>
            </a:r>
            <a:r>
              <a:rPr lang="en-US" sz="1800" dirty="0" smtClean="0">
                <a:solidFill>
                  <a:schemeClr val="tx1"/>
                </a:solidFill>
              </a:rPr>
              <a:t>ree)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     Receive </a:t>
            </a:r>
            <a:r>
              <a:rPr lang="en-US" sz="1800" dirty="0">
                <a:solidFill>
                  <a:srgbClr val="FF0000"/>
                </a:solidFill>
              </a:rPr>
              <a:t>A(</a:t>
            </a:r>
            <a:r>
              <a:rPr lang="en-US" sz="1800" dirty="0" err="1">
                <a:solidFill>
                  <a:srgbClr val="FF0000"/>
                </a:solidFill>
              </a:rPr>
              <a:t>i,k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into </a:t>
            </a:r>
            <a:r>
              <a:rPr lang="en-US" sz="1800" dirty="0" err="1">
                <a:solidFill>
                  <a:srgbClr val="FF0000"/>
                </a:solidFill>
              </a:rPr>
              <a:t>Acol</a:t>
            </a:r>
            <a:endParaRPr lang="en-US" sz="1800" dirty="0">
              <a:solidFill>
                <a:srgbClr val="FF0000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Receive </a:t>
            </a:r>
            <a:r>
              <a:rPr lang="en-US" sz="1800" dirty="0">
                <a:solidFill>
                  <a:srgbClr val="0824F2"/>
                </a:solidFill>
              </a:rPr>
              <a:t>B(</a:t>
            </a:r>
            <a:r>
              <a:rPr lang="en-US" sz="1800" dirty="0" err="1">
                <a:solidFill>
                  <a:srgbClr val="0824F2"/>
                </a:solidFill>
              </a:rPr>
              <a:t>k,j</a:t>
            </a:r>
            <a:r>
              <a:rPr lang="en-US" sz="1800" dirty="0">
                <a:solidFill>
                  <a:srgbClr val="0824F2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into </a:t>
            </a:r>
            <a:r>
              <a:rPr lang="en-US" sz="1800" dirty="0">
                <a:solidFill>
                  <a:srgbClr val="0824F2"/>
                </a:solidFill>
              </a:rPr>
              <a:t>Brow</a:t>
            </a: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</a:t>
            </a:r>
            <a:r>
              <a:rPr lang="en-US" sz="1800" dirty="0" err="1">
                <a:solidFill>
                  <a:srgbClr val="008000"/>
                </a:solidFill>
              </a:rPr>
              <a:t>C_myproc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dirty="0" err="1">
                <a:solidFill>
                  <a:srgbClr val="008000"/>
                </a:solidFill>
              </a:rPr>
              <a:t>C_myproc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dirty="0" err="1">
                <a:solidFill>
                  <a:srgbClr val="FF0000"/>
                </a:solidFill>
              </a:rPr>
              <a:t>Acol</a:t>
            </a:r>
            <a:r>
              <a:rPr lang="en-US" sz="1800" dirty="0">
                <a:solidFill>
                  <a:schemeClr val="tx1"/>
                </a:solidFill>
              </a:rPr>
              <a:t> * </a:t>
            </a:r>
            <a:r>
              <a:rPr lang="en-US" sz="1800" dirty="0" smtClean="0">
                <a:solidFill>
                  <a:srgbClr val="0824F2"/>
                </a:solidFill>
              </a:rPr>
              <a:t>Brow</a:t>
            </a:r>
          </a:p>
          <a:p>
            <a:pPr algn="l">
              <a:spcBef>
                <a:spcPct val="25000"/>
              </a:spcBef>
            </a:pPr>
            <a:endParaRPr lang="en-US" sz="1800" dirty="0">
              <a:solidFill>
                <a:srgbClr val="0824F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0" y="1752600"/>
            <a:ext cx="692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824F2"/>
                </a:solidFill>
              </a:rPr>
              <a:t>Brow</a:t>
            </a:r>
            <a:endParaRPr lang="en-US" b="1" dirty="0">
              <a:solidFill>
                <a:srgbClr val="0824F2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7924800" y="1981200"/>
            <a:ext cx="304800" cy="0"/>
          </a:xfrm>
          <a:prstGeom prst="straightConnector1">
            <a:avLst/>
          </a:prstGeom>
          <a:ln>
            <a:solidFill>
              <a:srgbClr val="0824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10400" y="2895600"/>
            <a:ext cx="601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Acol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7315200" y="2590800"/>
            <a:ext cx="0" cy="457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762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2390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fld id="{DFC99BC7-637C-4484-A4F8-31DF4291246A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 algn="ctr"/>
              <a:t>30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798512" y="306388"/>
            <a:ext cx="7735888" cy="4222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SUMMA Communication Costs</a:t>
            </a:r>
          </a:p>
        </p:txBody>
      </p:sp>
      <p:sp>
        <p:nvSpPr>
          <p:cNvPr id="60420" name="Text Box 3"/>
          <p:cNvSpPr txBox="1">
            <a:spLocks noChangeArrowheads="1"/>
          </p:cNvSpPr>
          <p:nvPr/>
        </p:nvSpPr>
        <p:spPr bwMode="auto">
          <a:xfrm>
            <a:off x="152400" y="990600"/>
            <a:ext cx="8915400" cy="348557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For k=0 to n/b-1</a:t>
            </a: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for all </a:t>
            </a:r>
            <a:r>
              <a:rPr lang="en-US" sz="1800" dirty="0" err="1">
                <a:solidFill>
                  <a:schemeClr val="tx1"/>
                </a:solidFill>
              </a:rPr>
              <a:t>i</a:t>
            </a:r>
            <a:r>
              <a:rPr lang="en-US" sz="1800" dirty="0">
                <a:solidFill>
                  <a:schemeClr val="tx1"/>
                </a:solidFill>
              </a:rPr>
              <a:t> = 1 to </a:t>
            </a:r>
            <a:r>
              <a:rPr lang="en-US" sz="1800" dirty="0" smtClean="0">
                <a:solidFill>
                  <a:schemeClr val="tx1"/>
                </a:solidFill>
              </a:rPr>
              <a:t>P</a:t>
            </a:r>
            <a:r>
              <a:rPr lang="en-US" sz="1800" baseline="30000" dirty="0" smtClean="0">
                <a:solidFill>
                  <a:schemeClr val="tx1"/>
                </a:solidFill>
              </a:rPr>
              <a:t>1/2 </a:t>
            </a:r>
          </a:p>
          <a:p>
            <a:pPr algn="l">
              <a:spcBef>
                <a:spcPct val="25000"/>
              </a:spcBef>
            </a:pPr>
            <a:r>
              <a:rPr lang="en-US" sz="1800" baseline="30000" dirty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             owner </a:t>
            </a:r>
            <a:r>
              <a:rPr lang="en-US" sz="1800" dirty="0">
                <a:solidFill>
                  <a:schemeClr val="tx1"/>
                </a:solidFill>
              </a:rPr>
              <a:t>of </a:t>
            </a:r>
            <a:r>
              <a:rPr lang="en-US" sz="1800" dirty="0">
                <a:solidFill>
                  <a:srgbClr val="FF0000"/>
                </a:solidFill>
              </a:rPr>
              <a:t>A(</a:t>
            </a:r>
            <a:r>
              <a:rPr lang="en-US" sz="1800" dirty="0" err="1">
                <a:solidFill>
                  <a:srgbClr val="FF0000"/>
                </a:solidFill>
              </a:rPr>
              <a:t>i,k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broadcasts it to whole processor </a:t>
            </a:r>
            <a:r>
              <a:rPr lang="en-US" sz="1800" dirty="0" smtClean="0">
                <a:solidFill>
                  <a:schemeClr val="tx1"/>
                </a:solidFill>
              </a:rPr>
              <a:t>row (using binary tree)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          </a:t>
            </a:r>
            <a:r>
              <a:rPr lang="en-US" sz="1800" dirty="0">
                <a:solidFill>
                  <a:srgbClr val="660066"/>
                </a:solidFill>
              </a:rPr>
              <a:t>… </a:t>
            </a:r>
            <a:r>
              <a:rPr lang="en-US" sz="1800" dirty="0" smtClean="0">
                <a:solidFill>
                  <a:srgbClr val="660066"/>
                </a:solidFill>
              </a:rPr>
              <a:t>#words  </a:t>
            </a:r>
            <a:r>
              <a:rPr lang="en-US" sz="1800" dirty="0">
                <a:solidFill>
                  <a:srgbClr val="660066"/>
                </a:solidFill>
              </a:rPr>
              <a:t>= log P</a:t>
            </a:r>
            <a:r>
              <a:rPr lang="en-US" sz="1800" baseline="30000" dirty="0">
                <a:solidFill>
                  <a:srgbClr val="660066"/>
                </a:solidFill>
              </a:rPr>
              <a:t>1/2 </a:t>
            </a:r>
            <a:r>
              <a:rPr lang="en-US" sz="1800" dirty="0">
                <a:solidFill>
                  <a:srgbClr val="660066"/>
                </a:solidFill>
              </a:rPr>
              <a:t>*b*n/P</a:t>
            </a:r>
            <a:r>
              <a:rPr lang="en-US" sz="1800" baseline="30000" dirty="0">
                <a:solidFill>
                  <a:srgbClr val="660066"/>
                </a:solidFill>
              </a:rPr>
              <a:t>1/</a:t>
            </a:r>
            <a:r>
              <a:rPr lang="en-US" sz="1800" baseline="30000" dirty="0" smtClean="0">
                <a:solidFill>
                  <a:srgbClr val="660066"/>
                </a:solidFill>
              </a:rPr>
              <a:t>2  </a:t>
            </a:r>
            <a:r>
              <a:rPr lang="en-US" sz="1800" dirty="0" smtClean="0">
                <a:solidFill>
                  <a:srgbClr val="660066"/>
                </a:solidFill>
              </a:rPr>
              <a:t>,     </a:t>
            </a:r>
            <a:r>
              <a:rPr lang="en-US" sz="1800" dirty="0">
                <a:solidFill>
                  <a:srgbClr val="660066"/>
                </a:solidFill>
              </a:rPr>
              <a:t>#messages = log P</a:t>
            </a:r>
            <a:r>
              <a:rPr lang="en-US" sz="1800" baseline="30000" dirty="0">
                <a:solidFill>
                  <a:srgbClr val="660066"/>
                </a:solidFill>
              </a:rPr>
              <a:t>1/</a:t>
            </a:r>
            <a:r>
              <a:rPr lang="en-US" sz="1800" baseline="30000" dirty="0" smtClean="0">
                <a:solidFill>
                  <a:srgbClr val="660066"/>
                </a:solidFill>
              </a:rPr>
              <a:t>2</a:t>
            </a:r>
            <a:endParaRPr lang="en-US" sz="1800" dirty="0">
              <a:solidFill>
                <a:srgbClr val="660066"/>
              </a:solidFill>
            </a:endParaRPr>
          </a:p>
          <a:p>
            <a:pPr>
              <a:spcBef>
                <a:spcPct val="2500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     for </a:t>
            </a:r>
            <a:r>
              <a:rPr lang="en-US" sz="1800" dirty="0">
                <a:solidFill>
                  <a:schemeClr val="tx1"/>
                </a:solidFill>
              </a:rPr>
              <a:t>all j = 1 to  </a:t>
            </a:r>
            <a:r>
              <a:rPr lang="en-US" sz="1800" dirty="0" smtClean="0">
                <a:solidFill>
                  <a:schemeClr val="tx1"/>
                </a:solidFill>
              </a:rPr>
              <a:t>P</a:t>
            </a:r>
            <a:r>
              <a:rPr lang="en-US" sz="1800" baseline="30000" dirty="0" smtClean="0">
                <a:solidFill>
                  <a:schemeClr val="tx1"/>
                </a:solidFill>
              </a:rPr>
              <a:t>1/2</a:t>
            </a:r>
            <a:endParaRPr lang="en-US" sz="1800" baseline="30000" dirty="0">
              <a:solidFill>
                <a:schemeClr val="tx1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       owner of </a:t>
            </a:r>
            <a:r>
              <a:rPr lang="en-US" sz="1800" dirty="0">
                <a:solidFill>
                  <a:srgbClr val="0824F2"/>
                </a:solidFill>
              </a:rPr>
              <a:t>B(</a:t>
            </a:r>
            <a:r>
              <a:rPr lang="en-US" sz="1800" dirty="0" err="1">
                <a:solidFill>
                  <a:srgbClr val="0824F2"/>
                </a:solidFill>
              </a:rPr>
              <a:t>k,j</a:t>
            </a:r>
            <a:r>
              <a:rPr lang="en-US" sz="1800" dirty="0">
                <a:solidFill>
                  <a:srgbClr val="0824F2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broadcasts it to whole processor </a:t>
            </a:r>
            <a:r>
              <a:rPr lang="en-US" sz="1800" dirty="0" smtClean="0">
                <a:solidFill>
                  <a:schemeClr val="tx1"/>
                </a:solidFill>
              </a:rPr>
              <a:t>column (using bin. </a:t>
            </a:r>
            <a:r>
              <a:rPr lang="en-US" sz="1800" dirty="0">
                <a:solidFill>
                  <a:schemeClr val="tx1"/>
                </a:solidFill>
              </a:rPr>
              <a:t>t</a:t>
            </a:r>
            <a:r>
              <a:rPr lang="en-US" sz="1800" dirty="0" smtClean="0">
                <a:solidFill>
                  <a:schemeClr val="tx1"/>
                </a:solidFill>
              </a:rPr>
              <a:t>ree)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         </a:t>
            </a:r>
            <a:r>
              <a:rPr lang="en-US" sz="1800" dirty="0" smtClean="0">
                <a:solidFill>
                  <a:srgbClr val="660066"/>
                </a:solidFill>
              </a:rPr>
              <a:t>…  same #words and #messages</a:t>
            </a:r>
            <a:endParaRPr lang="en-US" sz="1800" dirty="0">
              <a:solidFill>
                <a:srgbClr val="660066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Receive </a:t>
            </a:r>
            <a:r>
              <a:rPr lang="en-US" sz="1800" dirty="0">
                <a:solidFill>
                  <a:srgbClr val="FF0000"/>
                </a:solidFill>
              </a:rPr>
              <a:t>A(</a:t>
            </a:r>
            <a:r>
              <a:rPr lang="en-US" sz="1800" dirty="0" err="1">
                <a:solidFill>
                  <a:srgbClr val="FF0000"/>
                </a:solidFill>
              </a:rPr>
              <a:t>i,k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into </a:t>
            </a:r>
            <a:r>
              <a:rPr lang="en-US" sz="1800" dirty="0" err="1">
                <a:solidFill>
                  <a:srgbClr val="FF0000"/>
                </a:solidFill>
              </a:rPr>
              <a:t>Acol</a:t>
            </a:r>
            <a:endParaRPr lang="en-US" sz="1800" dirty="0">
              <a:solidFill>
                <a:srgbClr val="FF0000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Receive </a:t>
            </a:r>
            <a:r>
              <a:rPr lang="en-US" sz="1800" dirty="0">
                <a:solidFill>
                  <a:srgbClr val="0824F2"/>
                </a:solidFill>
              </a:rPr>
              <a:t>B(</a:t>
            </a:r>
            <a:r>
              <a:rPr lang="en-US" sz="1800" dirty="0" err="1">
                <a:solidFill>
                  <a:srgbClr val="0824F2"/>
                </a:solidFill>
              </a:rPr>
              <a:t>k,j</a:t>
            </a:r>
            <a:r>
              <a:rPr lang="en-US" sz="1800" dirty="0">
                <a:solidFill>
                  <a:srgbClr val="0824F2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into </a:t>
            </a:r>
            <a:r>
              <a:rPr lang="en-US" sz="1800" dirty="0">
                <a:solidFill>
                  <a:srgbClr val="0824F2"/>
                </a:solidFill>
              </a:rPr>
              <a:t>Brow</a:t>
            </a: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</a:t>
            </a:r>
            <a:r>
              <a:rPr lang="en-US" sz="1800" dirty="0" err="1">
                <a:solidFill>
                  <a:srgbClr val="008000"/>
                </a:solidFill>
              </a:rPr>
              <a:t>C_myproc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dirty="0" err="1">
                <a:solidFill>
                  <a:srgbClr val="008000"/>
                </a:solidFill>
              </a:rPr>
              <a:t>C_myproc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dirty="0" err="1">
                <a:solidFill>
                  <a:srgbClr val="FF0000"/>
                </a:solidFill>
              </a:rPr>
              <a:t>Acol</a:t>
            </a:r>
            <a:r>
              <a:rPr lang="en-US" sz="1800" dirty="0">
                <a:solidFill>
                  <a:schemeClr val="tx1"/>
                </a:solidFill>
              </a:rPr>
              <a:t> * </a:t>
            </a:r>
            <a:r>
              <a:rPr lang="en-US" sz="1800" dirty="0" smtClean="0">
                <a:solidFill>
                  <a:srgbClr val="0824F2"/>
                </a:solidFill>
              </a:rPr>
              <a:t>Brow</a:t>
            </a:r>
          </a:p>
        </p:txBody>
      </p:sp>
      <p:sp>
        <p:nvSpPr>
          <p:cNvPr id="60421" name="Text Box 4"/>
          <p:cNvSpPr txBox="1">
            <a:spLocks noChangeArrowheads="1"/>
          </p:cNvSpPr>
          <p:nvPr/>
        </p:nvSpPr>
        <p:spPr bwMode="auto">
          <a:xfrm>
            <a:off x="685800" y="4648200"/>
            <a:ext cx="786625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230188" indent="-230188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buFontTx/>
              <a:buChar char="°"/>
            </a:pPr>
            <a:r>
              <a:rPr lang="en-US" dirty="0">
                <a:solidFill>
                  <a:schemeClr val="tx1"/>
                </a:solidFill>
                <a:latin typeface="Helvetica" charset="0"/>
              </a:rPr>
              <a:t>Total #words        = log </a:t>
            </a:r>
            <a:r>
              <a:rPr lang="en-US" dirty="0" smtClean="0">
                <a:solidFill>
                  <a:schemeClr val="tx1"/>
                </a:solidFill>
                <a:latin typeface="Helvetica" charset="0"/>
              </a:rPr>
              <a:t>P 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* n</a:t>
            </a:r>
            <a:r>
              <a:rPr lang="en-US" sz="2400" baseline="18000" dirty="0">
                <a:solidFill>
                  <a:schemeClr val="tx1"/>
                </a:solidFill>
                <a:latin typeface="Helvetica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 /P</a:t>
            </a:r>
            <a:r>
              <a:rPr lang="en-US" sz="2400" baseline="30000" dirty="0">
                <a:solidFill>
                  <a:schemeClr val="tx1"/>
                </a:solidFill>
                <a:latin typeface="Helvetica" charset="0"/>
              </a:rPr>
              <a:t>1/2</a:t>
            </a:r>
          </a:p>
          <a:p>
            <a:pPr lvl="1">
              <a:buFontTx/>
              <a:buChar char="°"/>
            </a:pPr>
            <a:r>
              <a:rPr lang="en-US" dirty="0" smtClean="0">
                <a:solidFill>
                  <a:schemeClr val="tx1"/>
                </a:solidFill>
                <a:latin typeface="Helvetica" charset="0"/>
              </a:rPr>
              <a:t>Within factor of log P of lower bound</a:t>
            </a:r>
          </a:p>
          <a:p>
            <a:pPr lvl="1">
              <a:buFontTx/>
              <a:buChar char="°"/>
            </a:pPr>
            <a:r>
              <a:rPr lang="en-US" dirty="0" smtClean="0">
                <a:solidFill>
                  <a:schemeClr val="tx1"/>
                </a:solidFill>
                <a:latin typeface="Helvetica" charset="0"/>
              </a:rPr>
              <a:t>(more complicated implementation removes log P factor)</a:t>
            </a:r>
          </a:p>
          <a:p>
            <a:pPr>
              <a:buFontTx/>
              <a:buChar char="°"/>
            </a:pPr>
            <a:r>
              <a:rPr lang="en-US" dirty="0" smtClean="0">
                <a:solidFill>
                  <a:schemeClr val="tx1"/>
                </a:solidFill>
                <a:latin typeface="Helvetica" charset="0"/>
              </a:rPr>
              <a:t>Total #messages 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= </a:t>
            </a:r>
            <a:r>
              <a:rPr lang="en-US" dirty="0" smtClean="0">
                <a:solidFill>
                  <a:schemeClr val="tx1"/>
                </a:solidFill>
                <a:latin typeface="Helvetica" charset="0"/>
              </a:rPr>
              <a:t>log 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P</a:t>
            </a:r>
            <a:r>
              <a:rPr lang="en-US" dirty="0" smtClean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* n/</a:t>
            </a:r>
            <a:r>
              <a:rPr lang="en-US" dirty="0" smtClean="0">
                <a:solidFill>
                  <a:schemeClr val="tx1"/>
                </a:solidFill>
                <a:latin typeface="Helvetica" charset="0"/>
              </a:rPr>
              <a:t>b</a:t>
            </a:r>
          </a:p>
          <a:p>
            <a:pPr lvl="1">
              <a:buFontTx/>
              <a:buChar char="°"/>
            </a:pPr>
            <a:r>
              <a:rPr lang="en-US" dirty="0" smtClean="0">
                <a:solidFill>
                  <a:schemeClr val="tx1"/>
                </a:solidFill>
                <a:latin typeface="Helvetica" charset="0"/>
              </a:rPr>
              <a:t>Choose b close to maximum, n/P</a:t>
            </a:r>
            <a:r>
              <a:rPr lang="en-US" sz="2400" baseline="30000" dirty="0" smtClean="0">
                <a:solidFill>
                  <a:schemeClr val="tx1"/>
                </a:solidFill>
                <a:latin typeface="Helvetica" charset="0"/>
              </a:rPr>
              <a:t>1/2</a:t>
            </a:r>
            <a:r>
              <a:rPr lang="en-US" dirty="0" smtClean="0">
                <a:solidFill>
                  <a:schemeClr val="tx1"/>
                </a:solidFill>
                <a:latin typeface="Helvetica" charset="0"/>
              </a:rPr>
              <a:t>,   </a:t>
            </a:r>
          </a:p>
          <a:p>
            <a:pPr marL="457200" lvl="1" indent="0"/>
            <a:r>
              <a:rPr lang="en-US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Helvetica" charset="0"/>
              </a:rPr>
              <a:t>   to approach lower bound P</a:t>
            </a:r>
            <a:r>
              <a:rPr lang="en-US" sz="2400" baseline="30000" dirty="0" smtClean="0">
                <a:solidFill>
                  <a:schemeClr val="tx1"/>
                </a:solidFill>
                <a:latin typeface="Helvetica" charset="0"/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22352334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04025" y="613568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fld id="{81AAB147-9212-45FA-BEAC-133A8920D387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 algn="ctr"/>
              <a:t>31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058150" cy="4222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Can we do better? 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482013" cy="500856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/>
              <a:t>Lower bound assumed 1 copy of data:  M </a:t>
            </a:r>
            <a:r>
              <a:rPr lang="en-US" sz="2400" dirty="0"/>
              <a:t>= O(n</a:t>
            </a:r>
            <a:r>
              <a:rPr lang="en-US" sz="2400" baseline="30000" dirty="0"/>
              <a:t>2</a:t>
            </a:r>
            <a:r>
              <a:rPr lang="en-US" sz="2400" dirty="0"/>
              <a:t>/P) per </a:t>
            </a:r>
            <a:r>
              <a:rPr lang="en-US" sz="2400" dirty="0" smtClean="0"/>
              <a:t>proc.</a:t>
            </a:r>
          </a:p>
          <a:p>
            <a:r>
              <a:rPr lang="en-US" sz="2400" dirty="0" smtClean="0"/>
              <a:t>What if matrix small enough to fit c&gt;1 copies, so M </a:t>
            </a:r>
            <a:r>
              <a:rPr lang="en-US" sz="2400" dirty="0"/>
              <a:t>= </a:t>
            </a:r>
            <a:r>
              <a:rPr lang="en-US" sz="2400" dirty="0" smtClean="0"/>
              <a:t>cn</a:t>
            </a:r>
            <a:r>
              <a:rPr lang="en-US" sz="2400" baseline="30000" dirty="0" smtClean="0"/>
              <a:t>2</a:t>
            </a:r>
            <a:r>
              <a:rPr lang="en-US" sz="2400" dirty="0"/>
              <a:t>/</a:t>
            </a:r>
            <a:r>
              <a:rPr lang="en-US" sz="2400" dirty="0" smtClean="0"/>
              <a:t>P ? </a:t>
            </a:r>
          </a:p>
          <a:p>
            <a:pPr lvl="1"/>
            <a:r>
              <a:rPr lang="en-US" sz="2400" dirty="0" smtClean="0"/>
              <a:t>#</a:t>
            </a:r>
            <a:r>
              <a:rPr lang="en-US" sz="2400" dirty="0" err="1" smtClean="0"/>
              <a:t>words_moved</a:t>
            </a:r>
            <a:r>
              <a:rPr lang="en-US" sz="2400" dirty="0" smtClean="0"/>
              <a:t> = </a:t>
            </a:r>
            <a:r>
              <a:rPr lang="en-US" sz="2400" dirty="0" err="1" smtClean="0"/>
              <a:t>Ω</a:t>
            </a:r>
            <a:r>
              <a:rPr lang="en-US" sz="2400" dirty="0" smtClean="0"/>
              <a:t>( #flops / M</a:t>
            </a:r>
            <a:r>
              <a:rPr lang="en-US" sz="2400" baseline="30000" dirty="0" smtClean="0"/>
              <a:t>1/2</a:t>
            </a:r>
            <a:r>
              <a:rPr lang="en-US" sz="2400" dirty="0" smtClean="0"/>
              <a:t> )  = </a:t>
            </a:r>
            <a:r>
              <a:rPr lang="en-US" sz="2400" dirty="0" err="1" smtClean="0"/>
              <a:t>Ω</a:t>
            </a:r>
            <a:r>
              <a:rPr lang="en-US" sz="2400" dirty="0"/>
              <a:t>( </a:t>
            </a:r>
            <a:r>
              <a:rPr lang="en-US" sz="2400" dirty="0" smtClean="0"/>
              <a:t> n</a:t>
            </a:r>
            <a:r>
              <a:rPr lang="en-US" sz="2400" baseline="30000" dirty="0" smtClean="0"/>
              <a:t>2 </a:t>
            </a:r>
            <a:r>
              <a:rPr lang="en-US" sz="2400" dirty="0" smtClean="0"/>
              <a:t>/ ( c</a:t>
            </a:r>
            <a:r>
              <a:rPr lang="en-US" sz="2400" baseline="30000" dirty="0" smtClean="0"/>
              <a:t>1/2 </a:t>
            </a:r>
            <a:r>
              <a:rPr lang="en-US" sz="2400" dirty="0" smtClean="0"/>
              <a:t>P</a:t>
            </a:r>
            <a:r>
              <a:rPr lang="en-US" sz="2400" baseline="30000" dirty="0" smtClean="0"/>
              <a:t>1</a:t>
            </a:r>
            <a:r>
              <a:rPr lang="en-US" sz="2400" baseline="30000" dirty="0"/>
              <a:t>/2</a:t>
            </a:r>
            <a:r>
              <a:rPr lang="en-US" sz="2400" dirty="0"/>
              <a:t> </a:t>
            </a:r>
            <a:r>
              <a:rPr lang="en-US" sz="2400" dirty="0" smtClean="0"/>
              <a:t>))</a:t>
            </a:r>
          </a:p>
          <a:p>
            <a:pPr lvl="1"/>
            <a:r>
              <a:rPr lang="en-US" sz="2400" dirty="0" smtClean="0"/>
              <a:t>#messages         </a:t>
            </a:r>
            <a:r>
              <a:rPr lang="en-US" sz="2400" dirty="0"/>
              <a:t>= </a:t>
            </a:r>
            <a:r>
              <a:rPr lang="en-US" sz="2400" dirty="0" err="1"/>
              <a:t>Ω</a:t>
            </a:r>
            <a:r>
              <a:rPr lang="en-US" sz="2400" dirty="0"/>
              <a:t>( #flops / </a:t>
            </a:r>
            <a:r>
              <a:rPr lang="en-US" sz="2400" dirty="0" smtClean="0"/>
              <a:t>M</a:t>
            </a:r>
            <a:r>
              <a:rPr lang="en-US" sz="2400" baseline="30000" dirty="0" smtClean="0"/>
              <a:t>3/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r>
              <a:rPr lang="en-US" sz="2400" dirty="0" smtClean="0"/>
              <a:t>)  </a:t>
            </a:r>
            <a:r>
              <a:rPr lang="en-US" sz="2400" dirty="0"/>
              <a:t>= </a:t>
            </a:r>
            <a:r>
              <a:rPr lang="en-US" sz="2400" dirty="0" err="1" smtClean="0"/>
              <a:t>Ω</a:t>
            </a:r>
            <a:r>
              <a:rPr lang="en-US" sz="2400" dirty="0"/>
              <a:t>( </a:t>
            </a:r>
            <a:r>
              <a:rPr lang="en-US" sz="2400" dirty="0" smtClean="0"/>
              <a:t> </a:t>
            </a:r>
            <a:r>
              <a:rPr lang="en-US" sz="2400" dirty="0"/>
              <a:t>P</a:t>
            </a:r>
            <a:r>
              <a:rPr lang="en-US" sz="2400" baseline="30000" dirty="0"/>
              <a:t>1/2</a:t>
            </a:r>
            <a:r>
              <a:rPr lang="en-US" sz="2400" dirty="0"/>
              <a:t> </a:t>
            </a:r>
            <a:r>
              <a:rPr lang="en-US" sz="2400" dirty="0" smtClean="0"/>
              <a:t>/c</a:t>
            </a:r>
            <a:r>
              <a:rPr lang="en-US" sz="2400" baseline="30000" dirty="0" smtClean="0"/>
              <a:t>3/2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Can we attain new lower bound?</a:t>
            </a:r>
          </a:p>
          <a:p>
            <a:pPr lvl="1"/>
            <a:r>
              <a:rPr lang="en-US" sz="2400" dirty="0" smtClean="0"/>
              <a:t>Special case: “3D </a:t>
            </a:r>
            <a:r>
              <a:rPr lang="en-US" sz="2400" dirty="0" err="1" smtClean="0"/>
              <a:t>Matmul</a:t>
            </a:r>
            <a:r>
              <a:rPr lang="en-US" sz="2400" dirty="0" smtClean="0"/>
              <a:t>”:  c = P</a:t>
            </a:r>
            <a:r>
              <a:rPr lang="en-US" sz="2400" baseline="30000" dirty="0" smtClean="0"/>
              <a:t>1</a:t>
            </a:r>
            <a:r>
              <a:rPr lang="en-US" sz="2400" baseline="30000" dirty="0" smtClean="0"/>
              <a:t>/3</a:t>
            </a:r>
            <a:endParaRPr lang="en-US" sz="2400" baseline="30000" dirty="0" smtClean="0"/>
          </a:p>
          <a:p>
            <a:pPr lvl="2"/>
            <a:r>
              <a:rPr lang="en-US" dirty="0" err="1"/>
              <a:t>Dekel</a:t>
            </a:r>
            <a:r>
              <a:rPr lang="en-US" dirty="0"/>
              <a:t>, </a:t>
            </a:r>
            <a:r>
              <a:rPr lang="en-US" dirty="0" err="1"/>
              <a:t>Nassimi</a:t>
            </a:r>
            <a:r>
              <a:rPr lang="en-US" dirty="0"/>
              <a:t>, </a:t>
            </a:r>
            <a:r>
              <a:rPr lang="en-US" dirty="0" err="1"/>
              <a:t>Sahni</a:t>
            </a:r>
            <a:r>
              <a:rPr lang="en-US" dirty="0"/>
              <a:t> [81], </a:t>
            </a:r>
            <a:r>
              <a:rPr lang="en-US" dirty="0" err="1"/>
              <a:t>Bernsten</a:t>
            </a:r>
            <a:r>
              <a:rPr lang="en-US" dirty="0"/>
              <a:t> [89],  </a:t>
            </a:r>
            <a:r>
              <a:rPr lang="en-US" dirty="0" smtClean="0"/>
              <a:t>                      </a:t>
            </a:r>
            <a:r>
              <a:rPr lang="en-US" dirty="0" err="1" smtClean="0"/>
              <a:t>Agarwal</a:t>
            </a:r>
            <a:r>
              <a:rPr lang="en-US" dirty="0"/>
              <a:t>, Chandra, </a:t>
            </a:r>
            <a:r>
              <a:rPr lang="en-US" dirty="0" err="1"/>
              <a:t>Snir</a:t>
            </a:r>
            <a:r>
              <a:rPr lang="en-US" dirty="0"/>
              <a:t> [90], Johnson [93],    </a:t>
            </a:r>
            <a:r>
              <a:rPr lang="en-US" dirty="0" smtClean="0"/>
              <a:t>                    </a:t>
            </a:r>
            <a:r>
              <a:rPr lang="en-US" dirty="0" err="1" smtClean="0"/>
              <a:t>Agarwal</a:t>
            </a:r>
            <a:r>
              <a:rPr lang="en-US" dirty="0"/>
              <a:t>, </a:t>
            </a:r>
            <a:r>
              <a:rPr lang="en-US" dirty="0" err="1"/>
              <a:t>Balle</a:t>
            </a:r>
            <a:r>
              <a:rPr lang="en-US" dirty="0"/>
              <a:t>, </a:t>
            </a:r>
            <a:r>
              <a:rPr lang="en-US" dirty="0" err="1"/>
              <a:t>Gustavson</a:t>
            </a:r>
            <a:r>
              <a:rPr lang="en-US" dirty="0"/>
              <a:t>, Joshi, </a:t>
            </a:r>
            <a:r>
              <a:rPr lang="en-US" dirty="0" err="1"/>
              <a:t>Palkar</a:t>
            </a:r>
            <a:r>
              <a:rPr lang="en-US" dirty="0"/>
              <a:t> [95]</a:t>
            </a:r>
          </a:p>
          <a:p>
            <a:pPr lvl="2"/>
            <a:r>
              <a:rPr lang="en-US" dirty="0" smtClean="0"/>
              <a:t>Processors arranged in P</a:t>
            </a:r>
            <a:r>
              <a:rPr lang="en-US" baseline="30000" dirty="0" smtClean="0"/>
              <a:t>1/3 </a:t>
            </a:r>
            <a:r>
              <a:rPr lang="en-US" dirty="0" smtClean="0"/>
              <a:t>x </a:t>
            </a:r>
            <a:r>
              <a:rPr lang="en-US" dirty="0"/>
              <a:t>P</a:t>
            </a:r>
            <a:r>
              <a:rPr lang="en-US" baseline="30000" dirty="0"/>
              <a:t>1/3 </a:t>
            </a:r>
            <a:r>
              <a:rPr lang="en-US" dirty="0"/>
              <a:t>x P</a:t>
            </a:r>
            <a:r>
              <a:rPr lang="en-US" baseline="30000" dirty="0"/>
              <a:t>1/3 </a:t>
            </a:r>
            <a:r>
              <a:rPr lang="en-US" dirty="0"/>
              <a:t> </a:t>
            </a:r>
            <a:r>
              <a:rPr lang="en-US" dirty="0" smtClean="0"/>
              <a:t>grid</a:t>
            </a:r>
          </a:p>
          <a:p>
            <a:pPr lvl="2"/>
            <a:r>
              <a:rPr lang="en-US" dirty="0" smtClean="0"/>
              <a:t>Processor (</a:t>
            </a:r>
            <a:r>
              <a:rPr lang="en-US" dirty="0" err="1"/>
              <a:t>i</a:t>
            </a:r>
            <a:r>
              <a:rPr lang="en-US" dirty="0" err="1" smtClean="0"/>
              <a:t>,j,k</a:t>
            </a:r>
            <a:r>
              <a:rPr lang="en-US" dirty="0" smtClean="0"/>
              <a:t>) performs C(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 = C(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 + A(</a:t>
            </a:r>
            <a:r>
              <a:rPr lang="en-US" dirty="0" err="1"/>
              <a:t>i</a:t>
            </a:r>
            <a:r>
              <a:rPr lang="en-US" dirty="0" err="1" smtClean="0"/>
              <a:t>,k</a:t>
            </a:r>
            <a:r>
              <a:rPr lang="en-US" dirty="0" smtClean="0"/>
              <a:t>)*B(</a:t>
            </a:r>
            <a:r>
              <a:rPr lang="en-US" dirty="0" err="1" smtClean="0"/>
              <a:t>k,j</a:t>
            </a:r>
            <a:r>
              <a:rPr lang="en-US" dirty="0" smtClean="0"/>
              <a:t>),  where each </a:t>
            </a:r>
            <a:r>
              <a:rPr lang="en-US" dirty="0" err="1" smtClean="0"/>
              <a:t>submatrix</a:t>
            </a:r>
            <a:r>
              <a:rPr lang="en-US" dirty="0" smtClean="0"/>
              <a:t> is n/P</a:t>
            </a:r>
            <a:r>
              <a:rPr lang="en-US" baseline="30000" dirty="0" smtClean="0"/>
              <a:t>1/3 </a:t>
            </a:r>
            <a:r>
              <a:rPr lang="en-US" dirty="0" smtClean="0"/>
              <a:t>x </a:t>
            </a:r>
            <a:r>
              <a:rPr lang="en-US" dirty="0"/>
              <a:t>n/P</a:t>
            </a:r>
            <a:r>
              <a:rPr lang="en-US" baseline="30000" dirty="0"/>
              <a:t>1/</a:t>
            </a:r>
            <a:r>
              <a:rPr lang="en-US" baseline="30000" dirty="0" smtClean="0"/>
              <a:t>3</a:t>
            </a:r>
          </a:p>
          <a:p>
            <a:pPr lvl="1"/>
            <a:r>
              <a:rPr lang="en-US" sz="2400" dirty="0" smtClean="0"/>
              <a:t>Not always that much memory available…</a:t>
            </a:r>
          </a:p>
        </p:txBody>
      </p:sp>
    </p:spTree>
    <p:extLst>
      <p:ext uri="{BB962C8B-B14F-4D97-AF65-F5344CB8AC3E}">
        <p14:creationId xmlns:p14="http://schemas.microsoft.com/office/powerpoint/2010/main" val="27231627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2.5D Matrix Multiplication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200"/>
          </a:xfrm>
        </p:spPr>
        <p:txBody>
          <a:bodyPr/>
          <a:lstStyle/>
          <a:p>
            <a:r>
              <a:rPr lang="en-US" dirty="0" smtClean="0"/>
              <a:t>Assume can fit cn</a:t>
            </a:r>
            <a:r>
              <a:rPr lang="en-US" baseline="30000" dirty="0" smtClean="0"/>
              <a:t>2</a:t>
            </a:r>
            <a:r>
              <a:rPr lang="en-US" dirty="0" smtClean="0"/>
              <a:t>/P data per processor, c&gt;1</a:t>
            </a:r>
          </a:p>
          <a:p>
            <a:r>
              <a:rPr lang="en-US" dirty="0" smtClean="0"/>
              <a:t>Processors form (P/c)</a:t>
            </a:r>
            <a:r>
              <a:rPr lang="en-US" baseline="30000" dirty="0" smtClean="0"/>
              <a:t>1/2</a:t>
            </a:r>
            <a:r>
              <a:rPr lang="en-US" dirty="0" smtClean="0"/>
              <a:t>  x  (P/c)</a:t>
            </a:r>
            <a:r>
              <a:rPr lang="en-US" baseline="30000" dirty="0" smtClean="0"/>
              <a:t>1/2</a:t>
            </a:r>
            <a:r>
              <a:rPr lang="en-US" dirty="0" smtClean="0"/>
              <a:t>  x  c  grid</a:t>
            </a:r>
            <a:endParaRPr lang="en-US" dirty="0"/>
          </a:p>
        </p:txBody>
      </p:sp>
      <p:grpSp>
        <p:nvGrpSpPr>
          <p:cNvPr id="44" name="Group 43"/>
          <p:cNvGrpSpPr/>
          <p:nvPr/>
        </p:nvGrpSpPr>
        <p:grpSpPr>
          <a:xfrm>
            <a:off x="914400" y="2819400"/>
            <a:ext cx="4191000" cy="2209800"/>
            <a:chOff x="2057400" y="2819400"/>
            <a:chExt cx="4191000" cy="2209800"/>
          </a:xfrm>
        </p:grpSpPr>
        <p:grpSp>
          <p:nvGrpSpPr>
            <p:cNvPr id="32" name="Group 31"/>
            <p:cNvGrpSpPr/>
            <p:nvPr/>
          </p:nvGrpSpPr>
          <p:grpSpPr>
            <a:xfrm>
              <a:off x="2590800" y="3505200"/>
              <a:ext cx="3657600" cy="1524000"/>
              <a:chOff x="2590800" y="3505200"/>
              <a:chExt cx="3657600" cy="15240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590800" y="4419600"/>
                <a:ext cx="2133600" cy="6096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6248400" y="35052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V="1">
                <a:off x="47244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V="1">
                <a:off x="4724400" y="41148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25908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114800" y="35052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35814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41148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V="1">
                <a:off x="30480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352800" y="39624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733800" y="37338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2971800" y="41910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0480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5814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41148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5105400" y="41910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5486400" y="39624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5867400" y="37338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4" idx="1"/>
                <a:endCxn id="4" idx="3"/>
              </p:cNvCxnSpPr>
              <p:nvPr/>
            </p:nvCxnSpPr>
            <p:spPr>
              <a:xfrm>
                <a:off x="2590800" y="47244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4" idx="3"/>
              </p:cNvCxnSpPr>
              <p:nvPr/>
            </p:nvCxnSpPr>
            <p:spPr>
              <a:xfrm flipV="1">
                <a:off x="4724400" y="38100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Arrow Connector 33"/>
            <p:cNvCxnSpPr/>
            <p:nvPr/>
          </p:nvCxnSpPr>
          <p:spPr>
            <a:xfrm>
              <a:off x="2438400" y="4419600"/>
              <a:ext cx="0" cy="60960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4114800" y="3352800"/>
              <a:ext cx="21336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2438400" y="3352800"/>
              <a:ext cx="1752600" cy="106680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2057400" y="4495800"/>
              <a:ext cx="3148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24400" y="2819400"/>
              <a:ext cx="11144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(P/c)</a:t>
              </a:r>
              <a:r>
                <a:rPr lang="en-US" sz="2800" baseline="30000" dirty="0" smtClean="0"/>
                <a:t>1/2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 rot="19657307">
              <a:off x="2590800" y="3390627"/>
              <a:ext cx="11144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(P/c)</a:t>
              </a:r>
              <a:r>
                <a:rPr lang="en-US" sz="2800" baseline="30000" dirty="0" smtClean="0"/>
                <a:t>1/2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5562600" y="3733800"/>
            <a:ext cx="3026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Example: P =  32,  c =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51886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2.5D Matrix Multiplication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200"/>
          </a:xfrm>
        </p:spPr>
        <p:txBody>
          <a:bodyPr/>
          <a:lstStyle/>
          <a:p>
            <a:r>
              <a:rPr lang="en-US" dirty="0" smtClean="0"/>
              <a:t>Assume can fit cn</a:t>
            </a:r>
            <a:r>
              <a:rPr lang="en-US" baseline="30000" dirty="0" smtClean="0"/>
              <a:t>2</a:t>
            </a:r>
            <a:r>
              <a:rPr lang="en-US" dirty="0" smtClean="0"/>
              <a:t>/P data per processor, c &gt; 1</a:t>
            </a:r>
          </a:p>
          <a:p>
            <a:r>
              <a:rPr lang="en-US" dirty="0" smtClean="0"/>
              <a:t>Processors form (P/c)</a:t>
            </a:r>
            <a:r>
              <a:rPr lang="en-US" baseline="30000" dirty="0" smtClean="0"/>
              <a:t>1/2</a:t>
            </a:r>
            <a:r>
              <a:rPr lang="en-US" dirty="0" smtClean="0"/>
              <a:t>  x  (P/c)</a:t>
            </a:r>
            <a:r>
              <a:rPr lang="en-US" baseline="30000" dirty="0" smtClean="0"/>
              <a:t>1/2</a:t>
            </a:r>
            <a:r>
              <a:rPr lang="en-US" dirty="0" smtClean="0"/>
              <a:t>  x  c  grid</a:t>
            </a:r>
            <a:endParaRPr lang="en-US" dirty="0"/>
          </a:p>
        </p:txBody>
      </p:sp>
      <p:grpSp>
        <p:nvGrpSpPr>
          <p:cNvPr id="44" name="Group 43"/>
          <p:cNvGrpSpPr/>
          <p:nvPr/>
        </p:nvGrpSpPr>
        <p:grpSpPr>
          <a:xfrm>
            <a:off x="914400" y="2819400"/>
            <a:ext cx="4191000" cy="2209800"/>
            <a:chOff x="2057400" y="2819400"/>
            <a:chExt cx="4191000" cy="2209800"/>
          </a:xfrm>
        </p:grpSpPr>
        <p:grpSp>
          <p:nvGrpSpPr>
            <p:cNvPr id="32" name="Group 31"/>
            <p:cNvGrpSpPr/>
            <p:nvPr/>
          </p:nvGrpSpPr>
          <p:grpSpPr>
            <a:xfrm>
              <a:off x="2590800" y="3505200"/>
              <a:ext cx="3657600" cy="1524000"/>
              <a:chOff x="2590800" y="3505200"/>
              <a:chExt cx="3657600" cy="15240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590800" y="4419600"/>
                <a:ext cx="2133600" cy="6096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6248400" y="35052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V="1">
                <a:off x="47244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V="1">
                <a:off x="4724400" y="41148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25908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114800" y="35052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35814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41148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V="1">
                <a:off x="30480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352800" y="39624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733800" y="37338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2971800" y="41910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0480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5814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41148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5105400" y="41910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5486400" y="39624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5867400" y="37338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4" idx="1"/>
                <a:endCxn id="4" idx="3"/>
              </p:cNvCxnSpPr>
              <p:nvPr/>
            </p:nvCxnSpPr>
            <p:spPr>
              <a:xfrm>
                <a:off x="2590800" y="47244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4" idx="3"/>
              </p:cNvCxnSpPr>
              <p:nvPr/>
            </p:nvCxnSpPr>
            <p:spPr>
              <a:xfrm flipV="1">
                <a:off x="4724400" y="38100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/>
            <p:cNvSpPr txBox="1"/>
            <p:nvPr/>
          </p:nvSpPr>
          <p:spPr>
            <a:xfrm>
              <a:off x="2057400" y="4495800"/>
              <a:ext cx="3257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k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24400" y="2819400"/>
              <a:ext cx="2711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j</a:t>
              </a:r>
              <a:endParaRPr lang="en-US" sz="2800" baseline="30000" dirty="0" smtClean="0"/>
            </a:p>
          </p:txBody>
        </p:sp>
        <p:sp>
          <p:nvSpPr>
            <p:cNvPr id="43" name="TextBox 42"/>
            <p:cNvSpPr txBox="1"/>
            <p:nvPr/>
          </p:nvSpPr>
          <p:spPr>
            <a:xfrm rot="19657307">
              <a:off x="3020370" y="3390627"/>
              <a:ext cx="2552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i</a:t>
              </a:r>
              <a:endParaRPr lang="en-US" sz="2800" baseline="30000" dirty="0" smtClean="0"/>
            </a:p>
          </p:txBody>
        </p:sp>
      </p:grpSp>
      <p:cxnSp>
        <p:nvCxnSpPr>
          <p:cNvPr id="9" name="Straight Arrow Connector 8"/>
          <p:cNvCxnSpPr/>
          <p:nvPr/>
        </p:nvCxnSpPr>
        <p:spPr>
          <a:xfrm>
            <a:off x="2971800" y="3352800"/>
            <a:ext cx="2133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295400" y="441960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1295400" y="3352800"/>
            <a:ext cx="1676400" cy="1066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0" y="3773269"/>
            <a:ext cx="35209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Initially P(i,j,0) owns A(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 and B(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   each of size n(c/P)</a:t>
            </a:r>
            <a:r>
              <a:rPr lang="en-US" sz="2000" baseline="30000" dirty="0" smtClean="0"/>
              <a:t>1/2</a:t>
            </a:r>
            <a:r>
              <a:rPr lang="en-US" dirty="0" smtClean="0"/>
              <a:t> x n(c/P)</a:t>
            </a:r>
            <a:r>
              <a:rPr lang="en-US" sz="2000" baseline="30000" dirty="0" smtClean="0"/>
              <a:t>1/2</a:t>
            </a:r>
            <a:endParaRPr lang="en-US" baseline="30000" dirty="0"/>
          </a:p>
        </p:txBody>
      </p:sp>
      <p:sp>
        <p:nvSpPr>
          <p:cNvPr id="35" name="TextBox 34"/>
          <p:cNvSpPr txBox="1"/>
          <p:nvPr/>
        </p:nvSpPr>
        <p:spPr>
          <a:xfrm>
            <a:off x="838200" y="5486400"/>
            <a:ext cx="7977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(1)  P(i,j,0) broadcasts A(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 and B(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 to P(</a:t>
            </a:r>
            <a:r>
              <a:rPr lang="en-US" dirty="0" err="1"/>
              <a:t>i</a:t>
            </a:r>
            <a:r>
              <a:rPr lang="en-US" dirty="0" err="1" smtClean="0"/>
              <a:t>,j,k</a:t>
            </a:r>
            <a:r>
              <a:rPr lang="en-US" dirty="0" smtClean="0"/>
              <a:t>)</a:t>
            </a:r>
          </a:p>
          <a:p>
            <a:r>
              <a:rPr lang="en-US" dirty="0" smtClean="0"/>
              <a:t>(2)  Processors at level k perform 1/c-</a:t>
            </a:r>
            <a:r>
              <a:rPr lang="en-US" dirty="0" err="1" smtClean="0"/>
              <a:t>th</a:t>
            </a:r>
            <a:r>
              <a:rPr lang="en-US" dirty="0" smtClean="0"/>
              <a:t> of SUMMA, i.e. 1/c-</a:t>
            </a:r>
            <a:r>
              <a:rPr lang="en-US" dirty="0" err="1" smtClean="0"/>
              <a:t>th</a:t>
            </a:r>
            <a:r>
              <a:rPr lang="en-US" dirty="0" smtClean="0"/>
              <a:t> of  </a:t>
            </a:r>
            <a:r>
              <a:rPr lang="en-US" dirty="0" err="1" smtClean="0"/>
              <a:t>Σ</a:t>
            </a:r>
            <a:r>
              <a:rPr lang="en-US" sz="2400" baseline="-25000" dirty="0" err="1" smtClean="0"/>
              <a:t>m</a:t>
            </a:r>
            <a:r>
              <a:rPr lang="en-US" dirty="0" smtClean="0"/>
              <a:t> A(</a:t>
            </a:r>
            <a:r>
              <a:rPr lang="en-US" dirty="0" err="1"/>
              <a:t>i</a:t>
            </a:r>
            <a:r>
              <a:rPr lang="en-US" dirty="0" err="1" smtClean="0"/>
              <a:t>,m</a:t>
            </a:r>
            <a:r>
              <a:rPr lang="en-US" dirty="0" smtClean="0"/>
              <a:t>)*B(</a:t>
            </a:r>
            <a:r>
              <a:rPr lang="en-US" dirty="0" err="1" smtClean="0"/>
              <a:t>m,j</a:t>
            </a:r>
            <a:r>
              <a:rPr lang="en-US" dirty="0" smtClean="0"/>
              <a:t>)</a:t>
            </a:r>
          </a:p>
          <a:p>
            <a:r>
              <a:rPr lang="en-US" dirty="0" smtClean="0"/>
              <a:t>(3)  Sum-reduce partial sums </a:t>
            </a:r>
            <a:r>
              <a:rPr lang="en-US" dirty="0" err="1"/>
              <a:t>Σ</a:t>
            </a:r>
            <a:r>
              <a:rPr lang="en-US" sz="2400" baseline="-25000" dirty="0" err="1"/>
              <a:t>m</a:t>
            </a:r>
            <a:r>
              <a:rPr lang="en-US" dirty="0"/>
              <a:t> A(</a:t>
            </a:r>
            <a:r>
              <a:rPr lang="en-US" dirty="0" err="1"/>
              <a:t>i,m</a:t>
            </a:r>
            <a:r>
              <a:rPr lang="en-US" dirty="0"/>
              <a:t>)*B(</a:t>
            </a:r>
            <a:r>
              <a:rPr lang="en-US" dirty="0" err="1"/>
              <a:t>m,j</a:t>
            </a:r>
            <a:r>
              <a:rPr lang="en-US" dirty="0"/>
              <a:t>)</a:t>
            </a:r>
            <a:r>
              <a:rPr lang="en-US" dirty="0" smtClean="0"/>
              <a:t> along k-axis so P(i,j,0) owns C(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8048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2.5D </a:t>
            </a:r>
            <a:r>
              <a:rPr lang="en-US" sz="3600" dirty="0" err="1"/>
              <a:t>Matmul</a:t>
            </a:r>
            <a:r>
              <a:rPr lang="en-US" sz="3600" dirty="0"/>
              <a:t> on BG/P, 16K </a:t>
            </a:r>
            <a:r>
              <a:rPr lang="en-US" sz="3600" dirty="0" smtClean="0"/>
              <a:t>nodes </a:t>
            </a:r>
            <a:r>
              <a:rPr lang="en-US" sz="3600" dirty="0"/>
              <a:t>/ 64K cores</a:t>
            </a:r>
          </a:p>
        </p:txBody>
      </p:sp>
      <p:pic>
        <p:nvPicPr>
          <p:cNvPr id="4" name="Content Placeholder 3" descr="mm_p16384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557" r="-1355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615910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563562"/>
          </a:xfrm>
        </p:spPr>
        <p:txBody>
          <a:bodyPr>
            <a:noAutofit/>
          </a:bodyPr>
          <a:lstStyle/>
          <a:p>
            <a:r>
              <a:rPr lang="en-US" sz="3600" dirty="0" smtClean="0"/>
              <a:t>2.5D </a:t>
            </a:r>
            <a:r>
              <a:rPr lang="en-US" sz="3600" dirty="0" err="1" smtClean="0"/>
              <a:t>Matmul</a:t>
            </a:r>
            <a:r>
              <a:rPr lang="en-US" sz="3600" dirty="0" smtClean="0"/>
              <a:t> on BG/P, 16K nodes / 64K cores</a:t>
            </a:r>
            <a:endParaRPr lang="en-US" sz="3600" dirty="0"/>
          </a:p>
        </p:txBody>
      </p:sp>
      <p:pic>
        <p:nvPicPr>
          <p:cNvPr id="4" name="Content Placeholder 3" descr="mm_time_p16384.pdf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885" r="-11885"/>
          <a:stretch>
            <a:fillRect/>
          </a:stretch>
        </p:blipFill>
        <p:spPr>
          <a:xfrm>
            <a:off x="457199" y="1066800"/>
            <a:ext cx="8904155" cy="5029200"/>
          </a:xfrm>
        </p:spPr>
      </p:pic>
      <p:sp>
        <p:nvSpPr>
          <p:cNvPr id="5" name="TextBox 4"/>
          <p:cNvSpPr txBox="1"/>
          <p:nvPr/>
        </p:nvSpPr>
        <p:spPr>
          <a:xfrm>
            <a:off x="3486676" y="83820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 = 16 copies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00200" y="5791200"/>
            <a:ext cx="62527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0824F2"/>
                </a:solidFill>
              </a:rPr>
              <a:t>Distinguished Paper Award, EuroPar’11</a:t>
            </a:r>
          </a:p>
          <a:p>
            <a:r>
              <a:rPr lang="en-US" sz="2800" b="1" dirty="0" smtClean="0">
                <a:solidFill>
                  <a:srgbClr val="0824F2"/>
                </a:solidFill>
              </a:rPr>
              <a:t>SC’11 paper by </a:t>
            </a:r>
            <a:r>
              <a:rPr lang="en-US" sz="2800" b="1" dirty="0" err="1" smtClean="0">
                <a:solidFill>
                  <a:srgbClr val="0824F2"/>
                </a:solidFill>
              </a:rPr>
              <a:t>Solomonik</a:t>
            </a:r>
            <a:r>
              <a:rPr lang="en-US" sz="2800" b="1" dirty="0" smtClean="0">
                <a:solidFill>
                  <a:srgbClr val="0824F2"/>
                </a:solidFill>
              </a:rPr>
              <a:t>, </a:t>
            </a:r>
            <a:r>
              <a:rPr lang="en-US" sz="2800" b="1" dirty="0" err="1" smtClean="0">
                <a:solidFill>
                  <a:srgbClr val="0824F2"/>
                </a:solidFill>
              </a:rPr>
              <a:t>Bhatele</a:t>
            </a:r>
            <a:r>
              <a:rPr lang="en-US" sz="2800" b="1" dirty="0" smtClean="0">
                <a:solidFill>
                  <a:srgbClr val="0824F2"/>
                </a:solidFill>
              </a:rPr>
              <a:t>, D.</a:t>
            </a:r>
            <a:endParaRPr lang="en-US" sz="2800" b="1" dirty="0">
              <a:solidFill>
                <a:srgbClr val="0824F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0" y="4355068"/>
            <a:ext cx="1114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12x faster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29400" y="3669268"/>
            <a:ext cx="117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2.7x faster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665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rgbClr val="0824F2"/>
                </a:solidFill>
              </a:rPr>
              <a:t>Perfect Strong Scaling </a:t>
            </a:r>
            <a:r>
              <a:rPr lang="en-US" sz="3600" dirty="0" smtClean="0"/>
              <a:t>– in Time and Energy (1/2)</a:t>
            </a:r>
            <a:endParaRPr lang="en-US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295400"/>
            <a:ext cx="9296400" cy="5410200"/>
          </a:xfrm>
        </p:spPr>
        <p:txBody>
          <a:bodyPr>
            <a:normAutofit fontScale="62500" lnSpcReduction="20000"/>
          </a:bodyPr>
          <a:lstStyle/>
          <a:p>
            <a:r>
              <a:rPr lang="en-US" sz="3800" dirty="0" smtClean="0"/>
              <a:t>Every time you add a processor, you should use its memory M too</a:t>
            </a:r>
          </a:p>
          <a:p>
            <a:r>
              <a:rPr lang="en-US" sz="3800" dirty="0" smtClean="0"/>
              <a:t>Start with minimal number of </a:t>
            </a:r>
            <a:r>
              <a:rPr lang="en-US" sz="3800" dirty="0" err="1" smtClean="0"/>
              <a:t>procs</a:t>
            </a:r>
            <a:r>
              <a:rPr lang="en-US" sz="3800" dirty="0" smtClean="0"/>
              <a:t>: PM = 3n</a:t>
            </a:r>
            <a:r>
              <a:rPr lang="en-US" sz="3800" baseline="30000" dirty="0" smtClean="0"/>
              <a:t>2</a:t>
            </a:r>
            <a:endParaRPr lang="en-US" sz="3800" dirty="0" smtClean="0"/>
          </a:p>
          <a:p>
            <a:r>
              <a:rPr lang="en-US" sz="3800" dirty="0" smtClean="0"/>
              <a:t>Increase P by a factor of c </a:t>
            </a:r>
            <a:r>
              <a:rPr lang="en-US" sz="3800" dirty="0" smtClean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sz="3800" dirty="0" smtClean="0"/>
              <a:t> total memory increases by a factor of c</a:t>
            </a:r>
          </a:p>
          <a:p>
            <a:r>
              <a:rPr lang="en-US" sz="3800" dirty="0" smtClean="0"/>
              <a:t>Notation for timing model:</a:t>
            </a:r>
          </a:p>
          <a:p>
            <a:pPr lvl="1"/>
            <a:r>
              <a:rPr lang="en-US" sz="3800" dirty="0" err="1" smtClean="0"/>
              <a:t>γ</a:t>
            </a:r>
            <a:r>
              <a:rPr lang="en-US" sz="3800" baseline="-25000" dirty="0" err="1" smtClean="0"/>
              <a:t>T</a:t>
            </a:r>
            <a:r>
              <a:rPr lang="en-US" sz="3800" baseline="-25000" dirty="0" smtClean="0"/>
              <a:t> </a:t>
            </a:r>
            <a:r>
              <a:rPr lang="en-US" sz="3800" dirty="0" smtClean="0"/>
              <a:t>, β</a:t>
            </a:r>
            <a:r>
              <a:rPr lang="en-US" sz="3800" baseline="-25000" dirty="0" smtClean="0"/>
              <a:t>T</a:t>
            </a:r>
            <a:r>
              <a:rPr lang="en-US" sz="3800" dirty="0" smtClean="0"/>
              <a:t> , α</a:t>
            </a:r>
            <a:r>
              <a:rPr lang="en-US" sz="3800" baseline="-25000" dirty="0" smtClean="0"/>
              <a:t>T</a:t>
            </a:r>
            <a:r>
              <a:rPr lang="en-US" sz="3800" dirty="0"/>
              <a:t> </a:t>
            </a:r>
            <a:r>
              <a:rPr lang="en-US" sz="3800" dirty="0" smtClean="0"/>
              <a:t>= </a:t>
            </a:r>
            <a:r>
              <a:rPr lang="en-US" sz="3800" dirty="0" err="1" smtClean="0"/>
              <a:t>secs</a:t>
            </a:r>
            <a:r>
              <a:rPr lang="en-US" sz="3800" dirty="0" smtClean="0"/>
              <a:t> per flop, per </a:t>
            </a:r>
            <a:r>
              <a:rPr lang="en-US" sz="3800" dirty="0" err="1" smtClean="0"/>
              <a:t>word_moved</a:t>
            </a:r>
            <a:r>
              <a:rPr lang="en-US" sz="3800" dirty="0" smtClean="0"/>
              <a:t>, per message of size m</a:t>
            </a:r>
          </a:p>
          <a:p>
            <a:r>
              <a:rPr lang="en-US" sz="3800" dirty="0">
                <a:solidFill>
                  <a:srgbClr val="0824F2"/>
                </a:solidFill>
              </a:rPr>
              <a:t>T(</a:t>
            </a:r>
            <a:r>
              <a:rPr lang="en-US" sz="3800" dirty="0" err="1">
                <a:solidFill>
                  <a:srgbClr val="0824F2"/>
                </a:solidFill>
              </a:rPr>
              <a:t>cP</a:t>
            </a:r>
            <a:r>
              <a:rPr lang="en-US" sz="3800" dirty="0">
                <a:solidFill>
                  <a:srgbClr val="0824F2"/>
                </a:solidFill>
              </a:rPr>
              <a:t>) </a:t>
            </a:r>
            <a:r>
              <a:rPr lang="en-US" sz="3800" dirty="0"/>
              <a:t>= n</a:t>
            </a:r>
            <a:r>
              <a:rPr lang="en-US" sz="3800" baseline="30000" dirty="0"/>
              <a:t>3</a:t>
            </a:r>
            <a:r>
              <a:rPr lang="en-US" sz="3800" dirty="0"/>
              <a:t>/(</a:t>
            </a:r>
            <a:r>
              <a:rPr lang="en-US" sz="3800" dirty="0" err="1"/>
              <a:t>cP</a:t>
            </a:r>
            <a:r>
              <a:rPr lang="en-US" sz="3800" dirty="0"/>
              <a:t>) [ </a:t>
            </a:r>
            <a:r>
              <a:rPr lang="en-US" sz="3800" dirty="0" err="1"/>
              <a:t>γ</a:t>
            </a:r>
            <a:r>
              <a:rPr lang="en-US" sz="3800" baseline="-25000" dirty="0" err="1"/>
              <a:t>T</a:t>
            </a:r>
            <a:r>
              <a:rPr lang="en-US" sz="3800" dirty="0"/>
              <a:t>+ β</a:t>
            </a:r>
            <a:r>
              <a:rPr lang="en-US" sz="3800" baseline="-25000" dirty="0"/>
              <a:t>T</a:t>
            </a:r>
            <a:r>
              <a:rPr lang="en-US" sz="3800" dirty="0"/>
              <a:t>/M</a:t>
            </a:r>
            <a:r>
              <a:rPr lang="en-US" sz="3800" baseline="30000" dirty="0"/>
              <a:t>1/2</a:t>
            </a:r>
            <a:r>
              <a:rPr lang="en-US" sz="3800" dirty="0"/>
              <a:t> + α</a:t>
            </a:r>
            <a:r>
              <a:rPr lang="en-US" sz="3800" baseline="-25000" dirty="0"/>
              <a:t>T</a:t>
            </a:r>
            <a:r>
              <a:rPr lang="en-US" sz="3800" dirty="0"/>
              <a:t>/(mM</a:t>
            </a:r>
            <a:r>
              <a:rPr lang="en-US" sz="3800" baseline="30000" dirty="0"/>
              <a:t>1/2</a:t>
            </a:r>
            <a:r>
              <a:rPr lang="en-US" sz="3800" dirty="0"/>
              <a:t>) ]</a:t>
            </a:r>
          </a:p>
          <a:p>
            <a:pPr marL="0" indent="0">
              <a:buNone/>
            </a:pPr>
            <a:r>
              <a:rPr lang="en-US" sz="3800" dirty="0"/>
              <a:t>               </a:t>
            </a:r>
            <a:r>
              <a:rPr lang="en-US" sz="3800" dirty="0" smtClean="0">
                <a:solidFill>
                  <a:srgbClr val="0824F2"/>
                </a:solidFill>
              </a:rPr>
              <a:t>= </a:t>
            </a:r>
            <a:r>
              <a:rPr lang="en-US" sz="3800" dirty="0">
                <a:solidFill>
                  <a:srgbClr val="0824F2"/>
                </a:solidFill>
              </a:rPr>
              <a:t>T(P)/c</a:t>
            </a:r>
          </a:p>
          <a:p>
            <a:r>
              <a:rPr lang="en-US" sz="3800" dirty="0" smtClean="0"/>
              <a:t>Notation for energy model:</a:t>
            </a:r>
          </a:p>
          <a:p>
            <a:pPr lvl="1"/>
            <a:r>
              <a:rPr lang="en-US" sz="3800" dirty="0" err="1" smtClean="0"/>
              <a:t>γ</a:t>
            </a:r>
            <a:r>
              <a:rPr lang="en-US" sz="3800" baseline="-25000" dirty="0" err="1" smtClean="0"/>
              <a:t>E</a:t>
            </a:r>
            <a:r>
              <a:rPr lang="en-US" sz="3800" baseline="-25000" dirty="0" smtClean="0"/>
              <a:t> </a:t>
            </a:r>
            <a:r>
              <a:rPr lang="en-US" sz="3800" dirty="0"/>
              <a:t>, </a:t>
            </a:r>
            <a:r>
              <a:rPr lang="en-US" sz="3800" dirty="0" smtClean="0"/>
              <a:t>β</a:t>
            </a:r>
            <a:r>
              <a:rPr lang="en-US" sz="3800" baseline="-25000" dirty="0" smtClean="0"/>
              <a:t>E</a:t>
            </a:r>
            <a:r>
              <a:rPr lang="en-US" sz="3800" dirty="0" smtClean="0"/>
              <a:t> </a:t>
            </a:r>
            <a:r>
              <a:rPr lang="en-US" sz="3800" dirty="0"/>
              <a:t>, </a:t>
            </a:r>
            <a:r>
              <a:rPr lang="en-US" sz="3800" dirty="0" smtClean="0"/>
              <a:t>α</a:t>
            </a:r>
            <a:r>
              <a:rPr lang="en-US" sz="3800" baseline="-25000" dirty="0" smtClean="0"/>
              <a:t>E</a:t>
            </a:r>
            <a:r>
              <a:rPr lang="en-US" sz="3800" dirty="0" smtClean="0"/>
              <a:t> = joules for same operations</a:t>
            </a:r>
          </a:p>
          <a:p>
            <a:pPr lvl="1"/>
            <a:r>
              <a:rPr lang="en-US" sz="3800" dirty="0" err="1" smtClean="0"/>
              <a:t>δ</a:t>
            </a:r>
            <a:r>
              <a:rPr lang="en-US" sz="3800" baseline="-25000" dirty="0" err="1" smtClean="0"/>
              <a:t>E</a:t>
            </a:r>
            <a:r>
              <a:rPr lang="en-US" sz="3800" baseline="-25000" dirty="0" smtClean="0"/>
              <a:t> </a:t>
            </a:r>
            <a:r>
              <a:rPr lang="en-US" sz="3800" dirty="0" smtClean="0"/>
              <a:t>= joules per word of memory used per sec</a:t>
            </a:r>
          </a:p>
          <a:p>
            <a:pPr lvl="1"/>
            <a:r>
              <a:rPr lang="en-US" sz="3800" dirty="0" err="1" smtClean="0"/>
              <a:t>ε</a:t>
            </a:r>
            <a:r>
              <a:rPr lang="en-US" sz="3800" baseline="-25000" dirty="0" err="1" smtClean="0"/>
              <a:t>E</a:t>
            </a:r>
            <a:r>
              <a:rPr lang="en-US" sz="3800" dirty="0"/>
              <a:t> </a:t>
            </a:r>
            <a:r>
              <a:rPr lang="en-US" sz="3800" dirty="0" smtClean="0"/>
              <a:t>= joules per sec for leakage, etc.</a:t>
            </a:r>
          </a:p>
          <a:p>
            <a:r>
              <a:rPr lang="en-US" sz="3800" dirty="0" smtClean="0">
                <a:solidFill>
                  <a:srgbClr val="0824F2"/>
                </a:solidFill>
              </a:rPr>
              <a:t>E(</a:t>
            </a:r>
            <a:r>
              <a:rPr lang="en-US" sz="3800" dirty="0" err="1" smtClean="0">
                <a:solidFill>
                  <a:srgbClr val="0824F2"/>
                </a:solidFill>
              </a:rPr>
              <a:t>cP</a:t>
            </a:r>
            <a:r>
              <a:rPr lang="en-US" sz="3800" dirty="0" smtClean="0">
                <a:solidFill>
                  <a:srgbClr val="0824F2"/>
                </a:solidFill>
              </a:rPr>
              <a:t>) </a:t>
            </a:r>
            <a:r>
              <a:rPr lang="en-US" sz="3800" dirty="0" smtClean="0"/>
              <a:t>= </a:t>
            </a:r>
            <a:r>
              <a:rPr lang="en-US" sz="3800" dirty="0" err="1" smtClean="0"/>
              <a:t>cP</a:t>
            </a:r>
            <a:r>
              <a:rPr lang="en-US" sz="3800" dirty="0" smtClean="0"/>
              <a:t> { n</a:t>
            </a:r>
            <a:r>
              <a:rPr lang="en-US" sz="3800" baseline="30000" dirty="0" smtClean="0"/>
              <a:t>3</a:t>
            </a:r>
            <a:r>
              <a:rPr lang="en-US" sz="3800" dirty="0"/>
              <a:t>/(</a:t>
            </a:r>
            <a:r>
              <a:rPr lang="en-US" sz="3800" dirty="0" err="1"/>
              <a:t>cP</a:t>
            </a:r>
            <a:r>
              <a:rPr lang="en-US" sz="3800" dirty="0"/>
              <a:t>) [ </a:t>
            </a:r>
            <a:r>
              <a:rPr lang="en-US" sz="3800" dirty="0" err="1" smtClean="0"/>
              <a:t>γ</a:t>
            </a:r>
            <a:r>
              <a:rPr lang="en-US" sz="3800" baseline="-25000" dirty="0" err="1" smtClean="0"/>
              <a:t>E</a:t>
            </a:r>
            <a:r>
              <a:rPr lang="en-US" sz="3800" dirty="0" smtClean="0"/>
              <a:t>+ β</a:t>
            </a:r>
            <a:r>
              <a:rPr lang="en-US" sz="3800" baseline="-25000" dirty="0" smtClean="0"/>
              <a:t>E</a:t>
            </a:r>
            <a:r>
              <a:rPr lang="en-US" sz="3800" dirty="0" smtClean="0"/>
              <a:t>/</a:t>
            </a:r>
            <a:r>
              <a:rPr lang="en-US" sz="3800" dirty="0"/>
              <a:t>M</a:t>
            </a:r>
            <a:r>
              <a:rPr lang="en-US" sz="3800" baseline="30000" dirty="0"/>
              <a:t>1/2</a:t>
            </a:r>
            <a:r>
              <a:rPr lang="en-US" sz="3800" dirty="0"/>
              <a:t> + </a:t>
            </a:r>
            <a:r>
              <a:rPr lang="en-US" sz="3800" dirty="0" smtClean="0"/>
              <a:t>α</a:t>
            </a:r>
            <a:r>
              <a:rPr lang="en-US" sz="3800" baseline="-25000" dirty="0" smtClean="0"/>
              <a:t>E</a:t>
            </a:r>
            <a:r>
              <a:rPr lang="en-US" sz="3800" dirty="0" smtClean="0"/>
              <a:t>/</a:t>
            </a:r>
            <a:r>
              <a:rPr lang="en-US" sz="3800" dirty="0"/>
              <a:t>(mM</a:t>
            </a:r>
            <a:r>
              <a:rPr lang="en-US" sz="3800" baseline="30000" dirty="0"/>
              <a:t>1/2</a:t>
            </a:r>
            <a:r>
              <a:rPr lang="en-US" sz="3800" dirty="0"/>
              <a:t>) </a:t>
            </a:r>
            <a:r>
              <a:rPr lang="en-US" sz="3800" dirty="0" smtClean="0"/>
              <a:t>] + </a:t>
            </a:r>
            <a:r>
              <a:rPr lang="en-US" sz="3800" dirty="0" err="1" smtClean="0"/>
              <a:t>δ</a:t>
            </a:r>
            <a:r>
              <a:rPr lang="en-US" sz="3800" baseline="-25000" dirty="0" err="1" smtClean="0"/>
              <a:t>E</a:t>
            </a:r>
            <a:r>
              <a:rPr lang="en-US" sz="3800" dirty="0" err="1" smtClean="0"/>
              <a:t>MT</a:t>
            </a:r>
            <a:r>
              <a:rPr lang="en-US" sz="3800" dirty="0" smtClean="0"/>
              <a:t>(</a:t>
            </a:r>
            <a:r>
              <a:rPr lang="en-US" sz="3800" dirty="0" err="1" smtClean="0"/>
              <a:t>cP</a:t>
            </a:r>
            <a:r>
              <a:rPr lang="en-US" sz="3800" dirty="0" smtClean="0"/>
              <a:t>) + </a:t>
            </a:r>
            <a:r>
              <a:rPr lang="en-US" sz="3800" dirty="0" err="1" smtClean="0"/>
              <a:t>ε</a:t>
            </a:r>
            <a:r>
              <a:rPr lang="en-US" sz="3800" baseline="-25000" dirty="0" err="1" smtClean="0"/>
              <a:t>E</a:t>
            </a:r>
            <a:r>
              <a:rPr lang="en-US" sz="3800" dirty="0" err="1" smtClean="0"/>
              <a:t>T</a:t>
            </a:r>
            <a:r>
              <a:rPr lang="en-US" sz="3800" dirty="0" smtClean="0"/>
              <a:t>(</a:t>
            </a:r>
            <a:r>
              <a:rPr lang="en-US" sz="3800" dirty="0" err="1" smtClean="0"/>
              <a:t>cP</a:t>
            </a:r>
            <a:r>
              <a:rPr lang="en-US" sz="3800" dirty="0" smtClean="0"/>
              <a:t>) }</a:t>
            </a:r>
          </a:p>
          <a:p>
            <a:pPr marL="0" indent="0">
              <a:buNone/>
            </a:pPr>
            <a:r>
              <a:rPr lang="en-US" sz="3800" dirty="0"/>
              <a:t> </a:t>
            </a:r>
            <a:r>
              <a:rPr lang="en-US" sz="3800" dirty="0" smtClean="0"/>
              <a:t>              </a:t>
            </a:r>
            <a:r>
              <a:rPr lang="en-US" sz="3800" dirty="0" smtClean="0">
                <a:solidFill>
                  <a:srgbClr val="0824F2"/>
                </a:solidFill>
              </a:rPr>
              <a:t>= E(P)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5486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Perfect Strong Scaling in Time of </a:t>
            </a:r>
            <a:br>
              <a:rPr lang="en-US" dirty="0" smtClean="0"/>
            </a:br>
            <a:r>
              <a:rPr lang="en-US" dirty="0" smtClean="0"/>
              <a:t>2.5D </a:t>
            </a:r>
            <a:r>
              <a:rPr lang="en-US" dirty="0" err="1"/>
              <a:t>Matmul</a:t>
            </a:r>
            <a:r>
              <a:rPr lang="en-US" dirty="0"/>
              <a:t> on BG/P, n=</a:t>
            </a:r>
            <a:r>
              <a:rPr lang="en-US" dirty="0" smtClean="0"/>
              <a:t>64K</a:t>
            </a:r>
            <a:endParaRPr lang="en-US" dirty="0"/>
          </a:p>
        </p:txBody>
      </p:sp>
      <p:pic>
        <p:nvPicPr>
          <p:cNvPr id="4" name="Content Placeholder 3" descr="mm_ss_p2048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557" r="-13557"/>
          <a:stretch>
            <a:fillRect/>
          </a:stretch>
        </p:blipFill>
        <p:spPr>
          <a:xfrm>
            <a:off x="-180731" y="1828800"/>
            <a:ext cx="9006085" cy="4953000"/>
          </a:xfrm>
        </p:spPr>
      </p:pic>
      <p:sp>
        <p:nvSpPr>
          <p:cNvPr id="5" name="TextBox 4"/>
          <p:cNvSpPr txBox="1"/>
          <p:nvPr/>
        </p:nvSpPr>
        <p:spPr>
          <a:xfrm>
            <a:off x="762000" y="7010400"/>
            <a:ext cx="80201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As P increases, available memory grows </a:t>
            </a:r>
            <a:r>
              <a:rPr lang="en-US" dirty="0" smtClean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dirty="0">
                <a:sym typeface="Wingdings"/>
              </a:rPr>
              <a:t> </a:t>
            </a:r>
            <a:r>
              <a:rPr lang="en-US" dirty="0" smtClean="0">
                <a:sym typeface="Wingdings"/>
              </a:rPr>
              <a:t>c increases proportionally to P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>
                <a:sym typeface="Wingdings"/>
              </a:rPr>
              <a:t>#flops, #</a:t>
            </a:r>
            <a:r>
              <a:rPr lang="en-US" dirty="0" err="1" smtClean="0">
                <a:sym typeface="Wingdings"/>
              </a:rPr>
              <a:t>words_moved</a:t>
            </a:r>
            <a:r>
              <a:rPr lang="en-US" dirty="0" smtClean="0">
                <a:sym typeface="Wingdings"/>
              </a:rPr>
              <a:t>, #messages per </a:t>
            </a:r>
            <a:r>
              <a:rPr lang="en-US" dirty="0" err="1" smtClean="0">
                <a:sym typeface="Wingdings"/>
              </a:rPr>
              <a:t>proc</a:t>
            </a:r>
            <a:r>
              <a:rPr lang="en-US" dirty="0" smtClean="0">
                <a:sym typeface="Wingdings"/>
              </a:rPr>
              <a:t> all decrease proportionally to P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ym typeface="Wingdings"/>
              </a:rPr>
              <a:t>Perfect strong scaling!   But only up to c = P</a:t>
            </a:r>
            <a:r>
              <a:rPr lang="en-US" b="1" baseline="30000" dirty="0" smtClean="0">
                <a:sym typeface="Wingdings"/>
              </a:rPr>
              <a:t>1/3</a:t>
            </a:r>
            <a:endParaRPr lang="en-US" b="1" baseline="30000" dirty="0" smtClean="0"/>
          </a:p>
        </p:txBody>
      </p:sp>
    </p:spTree>
    <p:extLst>
      <p:ext uri="{BB962C8B-B14F-4D97-AF65-F5344CB8AC3E}">
        <p14:creationId xmlns:p14="http://schemas.microsoft.com/office/powerpoint/2010/main" val="36763455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rgbClr val="0824F2"/>
                </a:solidFill>
              </a:rPr>
              <a:t>Perfect Strong Scaling </a:t>
            </a:r>
            <a:r>
              <a:rPr lang="en-US" sz="3600" dirty="0" smtClean="0"/>
              <a:t>– in Time and Energy (2/2)</a:t>
            </a:r>
            <a:endParaRPr lang="en-US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295400"/>
            <a:ext cx="8686800" cy="54102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Perfect scaling extends to N-body, </a:t>
            </a:r>
            <a:r>
              <a:rPr lang="en-US" dirty="0" err="1" smtClean="0"/>
              <a:t>Strassen</a:t>
            </a:r>
            <a:r>
              <a:rPr lang="en-US" dirty="0" smtClean="0"/>
              <a:t>, …</a:t>
            </a:r>
          </a:p>
          <a:p>
            <a:r>
              <a:rPr lang="en-US" dirty="0" smtClean="0"/>
              <a:t>We can use these models to answer many questions, including:</a:t>
            </a:r>
          </a:p>
          <a:p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is the minimum energy required for a computation?</a:t>
            </a:r>
          </a:p>
          <a:p>
            <a:r>
              <a:rPr lang="en-US" dirty="0" smtClean="0"/>
              <a:t>Given </a:t>
            </a:r>
            <a:r>
              <a:rPr lang="en-US" dirty="0"/>
              <a:t>a maximum allowed runtime </a:t>
            </a:r>
            <a:r>
              <a:rPr lang="en-US" b="1" dirty="0"/>
              <a:t>T</a:t>
            </a:r>
            <a:r>
              <a:rPr lang="en-US" dirty="0"/>
              <a:t> , what is the minimum energy </a:t>
            </a:r>
            <a:r>
              <a:rPr lang="en-US" b="1" dirty="0"/>
              <a:t>E </a:t>
            </a:r>
            <a:r>
              <a:rPr lang="en-US" dirty="0"/>
              <a:t> needed to achieve it?</a:t>
            </a:r>
          </a:p>
          <a:p>
            <a:r>
              <a:rPr lang="en-US" dirty="0" smtClean="0"/>
              <a:t>Given </a:t>
            </a:r>
            <a:r>
              <a:rPr lang="en-US" dirty="0"/>
              <a:t>a maximum energy budget </a:t>
            </a:r>
            <a:r>
              <a:rPr lang="en-US" b="1" dirty="0"/>
              <a:t>E</a:t>
            </a:r>
            <a:r>
              <a:rPr lang="en-US" dirty="0"/>
              <a:t> , what is the minimum runtime </a:t>
            </a:r>
            <a:r>
              <a:rPr lang="en-US" b="1" dirty="0"/>
              <a:t>T </a:t>
            </a:r>
            <a:r>
              <a:rPr lang="en-US" dirty="0"/>
              <a:t> that we can attain?</a:t>
            </a:r>
          </a:p>
          <a:p>
            <a:r>
              <a:rPr lang="en-US" dirty="0" smtClean="0"/>
              <a:t>The </a:t>
            </a:r>
            <a:r>
              <a:rPr lang="en-US" dirty="0"/>
              <a:t>ratio </a:t>
            </a:r>
            <a:r>
              <a:rPr lang="en-US" b="1" dirty="0"/>
              <a:t>P </a:t>
            </a:r>
            <a:r>
              <a:rPr lang="en-US" dirty="0"/>
              <a:t>= </a:t>
            </a:r>
            <a:r>
              <a:rPr lang="en-US" b="1" dirty="0" smtClean="0"/>
              <a:t>E/T </a:t>
            </a:r>
            <a:r>
              <a:rPr lang="en-US" dirty="0" smtClean="0"/>
              <a:t> </a:t>
            </a:r>
            <a:r>
              <a:rPr lang="en-US" dirty="0"/>
              <a:t>gives us the average power required to run the algorithm. Can we minimize the </a:t>
            </a:r>
            <a:r>
              <a:rPr lang="en-US" dirty="0" smtClean="0"/>
              <a:t>average power </a:t>
            </a:r>
            <a:r>
              <a:rPr lang="en-US" dirty="0"/>
              <a:t>consumed?</a:t>
            </a:r>
          </a:p>
          <a:p>
            <a:r>
              <a:rPr lang="en-US" dirty="0" smtClean="0"/>
              <a:t>Given </a:t>
            </a:r>
            <a:r>
              <a:rPr lang="en-US" dirty="0"/>
              <a:t>an algorithm, problem size, number of processors and target energy efficiency (GFLOPS/W), can </a:t>
            </a:r>
            <a:r>
              <a:rPr lang="en-US" dirty="0" smtClean="0"/>
              <a:t>we determine </a:t>
            </a:r>
            <a:r>
              <a:rPr lang="en-US" dirty="0"/>
              <a:t>a set of architectural parameters to describe a conforming computer architecture?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4133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fld id="{560B3AEA-5268-45FA-9A76-058CF5B34B83}" type="slidenum">
              <a:rPr lang="en-US" sz="1400" b="0" smtClean="0">
                <a:latin typeface="Times New Roman" pitchFamily="18" charset="0"/>
              </a:rPr>
              <a:pPr algn="l"/>
              <a:t>39</a:t>
            </a:fld>
            <a:endParaRPr lang="en-US" sz="1400" b="0" smtClean="0">
              <a:latin typeface="Times New Roman" pitchFamily="18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60350"/>
            <a:ext cx="8839200" cy="425450"/>
          </a:xfrm>
        </p:spPr>
        <p:txBody>
          <a:bodyPr>
            <a:noAutofit/>
          </a:bodyPr>
          <a:lstStyle/>
          <a:p>
            <a:r>
              <a:rPr lang="en-US" sz="3600" dirty="0" smtClean="0"/>
              <a:t>Extending to rest of Direct Linear Algebra</a:t>
            </a:r>
            <a:br>
              <a:rPr lang="en-US" sz="3600" dirty="0" smtClean="0"/>
            </a:br>
            <a:r>
              <a:rPr lang="en-US" sz="3600" dirty="0" smtClean="0"/>
              <a:t>Na</a:t>
            </a:r>
            <a:r>
              <a:rPr lang="fr-FR" sz="3600" dirty="0" err="1" smtClean="0"/>
              <a:t>ï</a:t>
            </a:r>
            <a:r>
              <a:rPr lang="en-US" sz="3600" dirty="0" err="1" smtClean="0"/>
              <a:t>ve</a:t>
            </a:r>
            <a:r>
              <a:rPr lang="en-US" sz="3600" dirty="0" smtClean="0"/>
              <a:t> Gaussian Elimination: A =LU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77400" y="914400"/>
            <a:ext cx="8001000" cy="1420902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/>
              <a:t>Last version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Express using matrix operations (BLAS)</a:t>
            </a:r>
          </a:p>
        </p:txBody>
      </p:sp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457200" y="1066800"/>
            <a:ext cx="3657600" cy="1600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= 1 to n-1</a:t>
            </a:r>
          </a:p>
          <a:p>
            <a:pPr algn="l"/>
            <a:r>
              <a:rPr lang="en-US" sz="1600" dirty="0"/>
              <a:t>     </a:t>
            </a:r>
            <a:r>
              <a:rPr lang="en-US" sz="1600" dirty="0">
                <a:solidFill>
                  <a:schemeClr val="accent1"/>
                </a:solidFill>
              </a:rPr>
              <a:t>A(i+1:n,i) = A(i+1:n,i) * ( 1 / A(</a:t>
            </a:r>
            <a:r>
              <a:rPr lang="en-US" sz="1600" dirty="0" err="1">
                <a:solidFill>
                  <a:schemeClr val="accent1"/>
                </a:solidFill>
              </a:rPr>
              <a:t>i,i</a:t>
            </a:r>
            <a:r>
              <a:rPr lang="en-US" sz="1600" dirty="0">
                <a:solidFill>
                  <a:schemeClr val="accent1"/>
                </a:solidFill>
              </a:rPr>
              <a:t>) )</a:t>
            </a:r>
          </a:p>
          <a:p>
            <a:pPr algn="l"/>
            <a:r>
              <a:rPr lang="en-US" sz="1600" dirty="0">
                <a:solidFill>
                  <a:schemeClr val="accent1"/>
                </a:solidFill>
              </a:rPr>
              <a:t>             </a:t>
            </a:r>
            <a:r>
              <a:rPr lang="en-US" sz="1600" dirty="0">
                <a:solidFill>
                  <a:schemeClr val="accent2"/>
                </a:solidFill>
              </a:rPr>
              <a:t>… </a:t>
            </a:r>
            <a:r>
              <a:rPr lang="en-US" sz="1600" dirty="0" smtClean="0">
                <a:solidFill>
                  <a:schemeClr val="accent2"/>
                </a:solidFill>
              </a:rPr>
              <a:t> scale </a:t>
            </a:r>
            <a:r>
              <a:rPr lang="en-US" sz="1600" dirty="0">
                <a:solidFill>
                  <a:schemeClr val="accent2"/>
                </a:solidFill>
              </a:rPr>
              <a:t>a </a:t>
            </a:r>
            <a:r>
              <a:rPr lang="en-US" sz="1600" dirty="0" smtClean="0">
                <a:solidFill>
                  <a:schemeClr val="accent2"/>
                </a:solidFill>
              </a:rPr>
              <a:t>vector</a:t>
            </a:r>
            <a:endParaRPr lang="en-US" sz="1600" dirty="0">
              <a:solidFill>
                <a:schemeClr val="accent2"/>
              </a:solidFill>
            </a:endParaRPr>
          </a:p>
          <a:p>
            <a:pPr algn="l"/>
            <a:r>
              <a:rPr lang="en-US" sz="1600" dirty="0">
                <a:solidFill>
                  <a:schemeClr val="accent1"/>
                </a:solidFill>
              </a:rPr>
              <a:t>     A(i+1:n,i+1:n) = A(i+1:n , i+1:n ) </a:t>
            </a:r>
          </a:p>
          <a:p>
            <a:pPr algn="l"/>
            <a:r>
              <a:rPr lang="en-US" sz="1600" dirty="0">
                <a:solidFill>
                  <a:schemeClr val="accent1"/>
                </a:solidFill>
              </a:rPr>
              <a:t>              - A(i+1:n , </a:t>
            </a:r>
            <a:r>
              <a:rPr lang="en-US" sz="1600" dirty="0" err="1">
                <a:solidFill>
                  <a:schemeClr val="accent1"/>
                </a:solidFill>
              </a:rPr>
              <a:t>i</a:t>
            </a:r>
            <a:r>
              <a:rPr lang="en-US" sz="1600" dirty="0">
                <a:solidFill>
                  <a:schemeClr val="accent1"/>
                </a:solidFill>
              </a:rPr>
              <a:t>) * A(</a:t>
            </a:r>
            <a:r>
              <a:rPr lang="en-US" sz="1600" dirty="0" err="1">
                <a:solidFill>
                  <a:schemeClr val="accent1"/>
                </a:solidFill>
              </a:rPr>
              <a:t>i</a:t>
            </a:r>
            <a:r>
              <a:rPr lang="en-US" sz="1600" dirty="0">
                <a:solidFill>
                  <a:schemeClr val="accent1"/>
                </a:solidFill>
              </a:rPr>
              <a:t> , i+1:n)</a:t>
            </a:r>
          </a:p>
          <a:p>
            <a:pPr algn="l"/>
            <a:r>
              <a:rPr lang="en-US" sz="1600" dirty="0">
                <a:solidFill>
                  <a:schemeClr val="accent1"/>
                </a:solidFill>
              </a:rPr>
              <a:t>              </a:t>
            </a:r>
            <a:r>
              <a:rPr lang="en-US" sz="1600" dirty="0">
                <a:solidFill>
                  <a:schemeClr val="accent2"/>
                </a:solidFill>
              </a:rPr>
              <a:t>… </a:t>
            </a:r>
            <a:r>
              <a:rPr lang="en-US" sz="1600" dirty="0" smtClean="0">
                <a:solidFill>
                  <a:schemeClr val="accent2"/>
                </a:solidFill>
              </a:rPr>
              <a:t>rank</a:t>
            </a:r>
            <a:r>
              <a:rPr lang="en-US" sz="1600" dirty="0">
                <a:solidFill>
                  <a:schemeClr val="accent2"/>
                </a:solidFill>
              </a:rPr>
              <a:t>-1 </a:t>
            </a:r>
            <a:r>
              <a:rPr lang="en-US" sz="1600" dirty="0" smtClean="0">
                <a:solidFill>
                  <a:schemeClr val="accent2"/>
                </a:solidFill>
              </a:rPr>
              <a:t>update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20487" name="Text Box 5"/>
          <p:cNvSpPr txBox="1">
            <a:spLocks noChangeArrowheads="1"/>
          </p:cNvSpPr>
          <p:nvPr/>
        </p:nvSpPr>
        <p:spPr bwMode="auto">
          <a:xfrm>
            <a:off x="9906000" y="3124200"/>
            <a:ext cx="3637471" cy="218521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sz="1600"/>
              <a:t>for i = 1 to n-1</a:t>
            </a:r>
          </a:p>
          <a:p>
            <a:pPr algn="l"/>
            <a:r>
              <a:rPr lang="en-US" sz="1600"/>
              <a:t>     for j = i+1 to n</a:t>
            </a:r>
          </a:p>
          <a:p>
            <a:pPr algn="l"/>
            <a:r>
              <a:rPr lang="en-US" sz="1600"/>
              <a:t>          A(j,i) = A(j,i)/A(i,i)</a:t>
            </a:r>
          </a:p>
          <a:p>
            <a:pPr algn="l"/>
            <a:r>
              <a:rPr lang="en-US" sz="1600"/>
              <a:t>     for j = i+1 to n</a:t>
            </a:r>
          </a:p>
          <a:p>
            <a:pPr algn="l"/>
            <a:r>
              <a:rPr lang="en-US" sz="1600"/>
              <a:t>          for k = i+1 to n</a:t>
            </a:r>
          </a:p>
          <a:p>
            <a:pPr algn="l"/>
            <a:r>
              <a:rPr lang="en-US" sz="1600"/>
              <a:t>               A(j,k) = A(j,k) - A(j,i) * A(i,k)</a:t>
            </a:r>
          </a:p>
        </p:txBody>
      </p:sp>
      <p:pic>
        <p:nvPicPr>
          <p:cNvPr id="20488" name="Picture 6" descr="U:\public_html\cs267\lecture12\Gauss2bf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840038"/>
            <a:ext cx="3886200" cy="356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419600" y="1676400"/>
            <a:ext cx="483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r>
              <a:rPr lang="en-US" dirty="0" smtClean="0">
                <a:latin typeface="Wingdings"/>
                <a:ea typeface="Wingdings"/>
                <a:cs typeface="Wingdings"/>
                <a:sym typeface="Wingdings"/>
              </a:rPr>
              <a:t>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105400" y="1066800"/>
            <a:ext cx="3352800" cy="16002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 smtClean="0"/>
              <a:t>for  </a:t>
            </a:r>
            <a:r>
              <a:rPr lang="en-US" sz="2200" dirty="0" err="1" smtClean="0"/>
              <a:t>i</a:t>
            </a:r>
            <a:r>
              <a:rPr lang="en-US" sz="2200" dirty="0" smtClean="0"/>
              <a:t>=1 to n-1</a:t>
            </a:r>
          </a:p>
          <a:p>
            <a:pPr>
              <a:buFont typeface="Arial" pitchFamily="34" charset="0"/>
              <a:buNone/>
            </a:pPr>
            <a:r>
              <a:rPr lang="en-US" sz="2200" dirty="0" smtClean="0"/>
              <a:t>        update column </a:t>
            </a:r>
            <a:r>
              <a:rPr lang="en-US" sz="2200" dirty="0" err="1" smtClean="0"/>
              <a:t>i</a:t>
            </a:r>
            <a:endParaRPr lang="en-US" sz="2200" dirty="0" smtClean="0"/>
          </a:p>
          <a:p>
            <a:pPr>
              <a:buFont typeface="Arial" pitchFamily="34" charset="0"/>
              <a:buNone/>
            </a:pPr>
            <a:r>
              <a:rPr lang="en-US" sz="2200" dirty="0" smtClean="0"/>
              <a:t>        update trailing  matrix</a:t>
            </a:r>
          </a:p>
        </p:txBody>
      </p:sp>
    </p:spTree>
    <p:extLst>
      <p:ext uri="{BB962C8B-B14F-4D97-AF65-F5344CB8AC3E}">
        <p14:creationId xmlns:p14="http://schemas.microsoft.com/office/powerpoint/2010/main" val="11622700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868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Communication in sequential</a:t>
            </a:r>
            <a:br>
              <a:rPr lang="en-US" sz="3600" dirty="0" smtClean="0"/>
            </a:br>
            <a:r>
              <a:rPr lang="en-US" sz="3600" dirty="0" smtClean="0"/>
              <a:t>One-sided Factorizations (LU, QR, …)</a:t>
            </a:r>
            <a:endParaRPr lang="en-US" sz="3600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3810000" cy="220980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n-US" sz="2200" dirty="0" smtClean="0"/>
              <a:t>Naive Approach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2200" dirty="0" smtClean="0"/>
              <a:t>    for  </a:t>
            </a:r>
            <a:r>
              <a:rPr lang="en-US" sz="2200" dirty="0" err="1" smtClean="0"/>
              <a:t>i</a:t>
            </a:r>
            <a:r>
              <a:rPr lang="en-US" sz="2200" dirty="0" smtClean="0"/>
              <a:t>=1 to n-1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2200" dirty="0" smtClean="0"/>
              <a:t>        update column </a:t>
            </a:r>
            <a:r>
              <a:rPr lang="en-US" sz="2200" dirty="0" err="1" smtClean="0"/>
              <a:t>i</a:t>
            </a:r>
            <a:endParaRPr lang="en-US" sz="2200" dirty="0" smtClean="0"/>
          </a:p>
          <a:p>
            <a:pPr eaLnBrk="1" hangingPunct="1">
              <a:buFont typeface="Arial" pitchFamily="34" charset="0"/>
              <a:buNone/>
            </a:pPr>
            <a:r>
              <a:rPr lang="en-US" sz="2200" dirty="0" smtClean="0"/>
              <a:t>        update trailing  matrix</a:t>
            </a:r>
          </a:p>
          <a:p>
            <a:pPr eaLnBrk="1" hangingPunct="1"/>
            <a:r>
              <a:rPr lang="en-US" sz="2200" dirty="0" smtClean="0"/>
              <a:t>#</a:t>
            </a:r>
            <a:r>
              <a:rPr lang="en-US" sz="2200" dirty="0" err="1" smtClean="0"/>
              <a:t>words_moved</a:t>
            </a:r>
            <a:r>
              <a:rPr lang="en-US" sz="2200" dirty="0" smtClean="0"/>
              <a:t> = O(n</a:t>
            </a:r>
            <a:r>
              <a:rPr lang="en-US" sz="2200" baseline="30000" dirty="0" smtClean="0"/>
              <a:t>3</a:t>
            </a:r>
            <a:r>
              <a:rPr lang="en-US" sz="2200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505200" y="6416675"/>
            <a:ext cx="2133600" cy="365125"/>
          </a:xfrm>
        </p:spPr>
        <p:txBody>
          <a:bodyPr/>
          <a:lstStyle/>
          <a:p>
            <a:pPr algn="ctr">
              <a:defRPr/>
            </a:pPr>
            <a:fld id="{7002DAB5-86C3-45FC-A56E-8440CAB0A689}" type="slidenum">
              <a:rPr lang="en-US"/>
              <a:pPr algn="ctr">
                <a:defRPr/>
              </a:pPr>
              <a:t>40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2000" y="1219200"/>
            <a:ext cx="3962400" cy="2209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200" dirty="0">
                <a:latin typeface="Calibri" pitchFamily="34" charset="0"/>
              </a:rPr>
              <a:t>Blocked Approach (LAPACK)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None/>
            </a:pPr>
            <a:r>
              <a:rPr lang="en-US" sz="2200" dirty="0">
                <a:latin typeface="Calibri" pitchFamily="34" charset="0"/>
              </a:rPr>
              <a:t>  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>
                <a:latin typeface="Calibri" pitchFamily="34" charset="0"/>
              </a:rPr>
              <a:t>for  </a:t>
            </a:r>
            <a:r>
              <a:rPr lang="en-US" sz="2200" dirty="0" err="1">
                <a:latin typeface="Calibri" pitchFamily="34" charset="0"/>
              </a:rPr>
              <a:t>i</a:t>
            </a:r>
            <a:r>
              <a:rPr lang="en-US" sz="2200" dirty="0">
                <a:latin typeface="Calibri" pitchFamily="34" charset="0"/>
              </a:rPr>
              <a:t>=1 to n</a:t>
            </a:r>
            <a:r>
              <a:rPr lang="en-US" sz="2200" dirty="0">
                <a:solidFill>
                  <a:srgbClr val="0824F2"/>
                </a:solidFill>
                <a:latin typeface="Calibri" pitchFamily="34" charset="0"/>
              </a:rPr>
              <a:t>/</a:t>
            </a:r>
            <a:r>
              <a:rPr lang="en-US" sz="2200" dirty="0" smtClean="0">
                <a:solidFill>
                  <a:srgbClr val="0824F2"/>
                </a:solidFill>
                <a:latin typeface="Calibri" pitchFamily="34" charset="0"/>
              </a:rPr>
              <a:t>b </a:t>
            </a:r>
            <a:r>
              <a:rPr lang="en-US" sz="2200" dirty="0" smtClean="0">
                <a:latin typeface="Calibri" pitchFamily="34" charset="0"/>
              </a:rPr>
              <a:t>- 1</a:t>
            </a:r>
            <a:endParaRPr lang="en-US" sz="2200" dirty="0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None/>
            </a:pPr>
            <a:r>
              <a:rPr lang="en-US" sz="2200" dirty="0">
                <a:latin typeface="Calibri" pitchFamily="34" charset="0"/>
              </a:rPr>
              <a:t>        update </a:t>
            </a:r>
            <a:r>
              <a:rPr lang="en-US" sz="2200" dirty="0">
                <a:solidFill>
                  <a:srgbClr val="0824F2"/>
                </a:solidFill>
                <a:latin typeface="Calibri" pitchFamily="34" charset="0"/>
              </a:rPr>
              <a:t>block</a:t>
            </a:r>
            <a:r>
              <a:rPr lang="en-US" sz="2200" dirty="0">
                <a:latin typeface="Calibri" pitchFamily="34" charset="0"/>
              </a:rPr>
              <a:t> </a:t>
            </a:r>
            <a:r>
              <a:rPr lang="en-US" sz="2200" dirty="0" err="1">
                <a:solidFill>
                  <a:srgbClr val="0824F2"/>
                </a:solidFill>
                <a:latin typeface="Calibri" pitchFamily="34" charset="0"/>
              </a:rPr>
              <a:t>i</a:t>
            </a:r>
            <a:r>
              <a:rPr lang="en-US" sz="2200" dirty="0">
                <a:solidFill>
                  <a:srgbClr val="0824F2"/>
                </a:solidFill>
                <a:latin typeface="Calibri" pitchFamily="34" charset="0"/>
              </a:rPr>
              <a:t> of b columns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None/>
            </a:pPr>
            <a:r>
              <a:rPr lang="en-US" sz="2200" dirty="0">
                <a:latin typeface="Calibri" pitchFamily="34" charset="0"/>
              </a:rPr>
              <a:t>        update trailing  matrix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200" dirty="0">
                <a:latin typeface="Calibri" pitchFamily="34" charset="0"/>
              </a:rPr>
              <a:t>#words moved = O(n</a:t>
            </a:r>
            <a:r>
              <a:rPr lang="en-US" sz="2200" baseline="30000" dirty="0">
                <a:latin typeface="Calibri" pitchFamily="34" charset="0"/>
              </a:rPr>
              <a:t>3</a:t>
            </a:r>
            <a:r>
              <a:rPr lang="en-US" sz="2200" dirty="0">
                <a:latin typeface="Calibri" pitchFamily="34" charset="0"/>
              </a:rPr>
              <a:t>/M</a:t>
            </a:r>
            <a:r>
              <a:rPr lang="en-US" sz="2200" baseline="30000" dirty="0">
                <a:solidFill>
                  <a:srgbClr val="FF0000"/>
                </a:solidFill>
                <a:latin typeface="Calibri" pitchFamily="34" charset="0"/>
              </a:rPr>
              <a:t>1/3</a:t>
            </a:r>
            <a:r>
              <a:rPr lang="en-US" sz="2200" dirty="0">
                <a:latin typeface="Calibri" pitchFamily="34" charset="0"/>
              </a:rPr>
              <a:t>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3581400"/>
            <a:ext cx="44196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200">
                <a:latin typeface="Calibri" pitchFamily="34" charset="0"/>
              </a:rPr>
              <a:t>Recursive Approach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200">
                <a:latin typeface="Calibri" pitchFamily="34" charset="0"/>
              </a:rPr>
              <a:t>      func factor(A)</a:t>
            </a:r>
          </a:p>
          <a:p>
            <a:pPr marL="342900" indent="-342900">
              <a:spcBef>
                <a:spcPct val="20000"/>
              </a:spcBef>
            </a:pPr>
            <a:r>
              <a:rPr lang="en-US" sz="2200">
                <a:latin typeface="Calibri" pitchFamily="34" charset="0"/>
              </a:rPr>
              <a:t>           if A has 1 column,  update it else</a:t>
            </a:r>
          </a:p>
          <a:p>
            <a:pPr marL="342900" indent="-342900">
              <a:spcBef>
                <a:spcPct val="20000"/>
              </a:spcBef>
            </a:pPr>
            <a:r>
              <a:rPr lang="en-US" sz="2200">
                <a:latin typeface="Calibri" pitchFamily="34" charset="0"/>
              </a:rPr>
              <a:t>               factor(left half of A)</a:t>
            </a:r>
          </a:p>
          <a:p>
            <a:pPr marL="342900" indent="-342900">
              <a:spcBef>
                <a:spcPct val="20000"/>
              </a:spcBef>
            </a:pPr>
            <a:r>
              <a:rPr lang="en-US" sz="2200">
                <a:latin typeface="Calibri" pitchFamily="34" charset="0"/>
              </a:rPr>
              <a:t>               update right half of A</a:t>
            </a:r>
          </a:p>
          <a:p>
            <a:pPr marL="342900" indent="-342900">
              <a:spcBef>
                <a:spcPct val="20000"/>
              </a:spcBef>
            </a:pPr>
            <a:r>
              <a:rPr lang="en-US" sz="2200">
                <a:latin typeface="Calibri" pitchFamily="34" charset="0"/>
              </a:rPr>
              <a:t>               factor(right half of A)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200">
                <a:latin typeface="Calibri" pitchFamily="34" charset="0"/>
              </a:rPr>
              <a:t>#words moved = O(n</a:t>
            </a:r>
            <a:r>
              <a:rPr lang="en-US" sz="2200" baseline="30000">
                <a:latin typeface="Calibri" pitchFamily="34" charset="0"/>
              </a:rPr>
              <a:t>3</a:t>
            </a:r>
            <a:r>
              <a:rPr lang="en-US" sz="2200">
                <a:latin typeface="Calibri" pitchFamily="34" charset="0"/>
              </a:rPr>
              <a:t>/M</a:t>
            </a:r>
            <a:r>
              <a:rPr lang="en-US" sz="2200" baseline="30000">
                <a:solidFill>
                  <a:srgbClr val="FF0000"/>
                </a:solidFill>
                <a:latin typeface="Calibri" pitchFamily="34" charset="0"/>
              </a:rPr>
              <a:t>1/2</a:t>
            </a:r>
            <a:r>
              <a:rPr lang="en-US" sz="2200">
                <a:latin typeface="Calibri" pitchFamily="34" charset="0"/>
              </a:rPr>
              <a:t>)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34000" y="4191000"/>
            <a:ext cx="38100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>
                <a:latin typeface="Calibri" pitchFamily="34" charset="0"/>
              </a:rPr>
              <a:t>  None of these </a:t>
            </a:r>
            <a:r>
              <a:rPr lang="en-US" sz="2400" dirty="0" smtClean="0">
                <a:latin typeface="Calibri" pitchFamily="34" charset="0"/>
              </a:rPr>
              <a:t>approaches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smtClean="0">
                <a:latin typeface="Calibri" pitchFamily="34" charset="0"/>
              </a:rPr>
              <a:t>minimizes </a:t>
            </a:r>
            <a:r>
              <a:rPr lang="en-US" sz="2400" dirty="0">
                <a:latin typeface="Calibri" pitchFamily="34" charset="0"/>
              </a:rPr>
              <a:t>#</a:t>
            </a:r>
            <a:r>
              <a:rPr lang="en-US" sz="2400" dirty="0" smtClean="0">
                <a:latin typeface="Calibri" pitchFamily="34" charset="0"/>
              </a:rPr>
              <a:t>messages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Calibri" pitchFamily="34" charset="0"/>
              </a:rPr>
              <a:t> handles </a:t>
            </a:r>
            <a:r>
              <a:rPr lang="en-US" sz="2400" dirty="0" err="1" smtClean="0">
                <a:latin typeface="Calibri" pitchFamily="34" charset="0"/>
              </a:rPr>
              <a:t>eig</a:t>
            </a:r>
            <a:r>
              <a:rPr lang="en-US" sz="2400" dirty="0" smtClean="0">
                <a:latin typeface="Calibri" pitchFamily="34" charset="0"/>
              </a:rPr>
              <a:t>() or </a:t>
            </a:r>
            <a:r>
              <a:rPr lang="en-US" sz="2400" dirty="0" err="1" smtClean="0">
                <a:latin typeface="Calibri" pitchFamily="34" charset="0"/>
              </a:rPr>
              <a:t>svd</a:t>
            </a:r>
            <a:r>
              <a:rPr lang="en-US" sz="2400" dirty="0" smtClean="0">
                <a:latin typeface="Calibri" pitchFamily="34" charset="0"/>
              </a:rPr>
              <a:t>()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Calibri" pitchFamily="34" charset="0"/>
              </a:rPr>
              <a:t> works in parallel</a:t>
            </a:r>
            <a:endParaRPr lang="en-US" sz="2400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Calibri" pitchFamily="34" charset="0"/>
              </a:rPr>
              <a:t>  Need </a:t>
            </a:r>
            <a:r>
              <a:rPr lang="en-US" sz="2400" dirty="0" smtClean="0">
                <a:latin typeface="Calibri" pitchFamily="34" charset="0"/>
              </a:rPr>
              <a:t>more ideas</a:t>
            </a:r>
            <a:endParaRPr lang="en-US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798513" y="0"/>
            <a:ext cx="7097712" cy="80168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TSQR: QR of a </a:t>
            </a:r>
            <a:r>
              <a:rPr lang="fr-FR" dirty="0" err="1" smtClean="0"/>
              <a:t>Tall</a:t>
            </a:r>
            <a:r>
              <a:rPr lang="fr-FR" dirty="0" smtClean="0"/>
              <a:t>, </a:t>
            </a:r>
            <a:r>
              <a:rPr lang="fr-FR" dirty="0" err="1" smtClean="0"/>
              <a:t>Skinny</a:t>
            </a:r>
            <a:r>
              <a:rPr lang="fr-FR" dirty="0" smtClean="0"/>
              <a:t> </a:t>
            </a:r>
            <a:r>
              <a:rPr lang="fr-FR" dirty="0" err="1" smtClean="0"/>
              <a:t>matrix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60ED04-2F49-4DBD-B1F4-6D9545EC3ADD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grpSp>
        <p:nvGrpSpPr>
          <p:cNvPr id="2" name="Group 107"/>
          <p:cNvGrpSpPr>
            <a:grpSpLocks/>
          </p:cNvGrpSpPr>
          <p:nvPr/>
        </p:nvGrpSpPr>
        <p:grpSpPr bwMode="auto">
          <a:xfrm>
            <a:off x="638175" y="1244600"/>
            <a:ext cx="7659688" cy="1570038"/>
            <a:chOff x="798513" y="1244600"/>
            <a:chExt cx="7659687" cy="1570038"/>
          </a:xfrm>
        </p:grpSpPr>
        <p:sp>
          <p:nvSpPr>
            <p:cNvPr id="29731" name="TextBox 3"/>
            <p:cNvSpPr txBox="1">
              <a:spLocks noChangeArrowheads="1"/>
            </p:cNvSpPr>
            <p:nvPr/>
          </p:nvSpPr>
          <p:spPr bwMode="auto">
            <a:xfrm>
              <a:off x="798513" y="1813831"/>
              <a:ext cx="693737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0">
                  <a:solidFill>
                    <a:schemeClr val="tx1"/>
                  </a:solidFill>
                </a:rPr>
                <a:t>W</a:t>
              </a:r>
              <a:r>
                <a:rPr lang="en-US" b="0">
                  <a:solidFill>
                    <a:schemeClr val="tx1"/>
                  </a:solidFill>
                </a:rPr>
                <a:t> =</a:t>
              </a:r>
            </a:p>
          </p:txBody>
        </p: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2810781" y="1244600"/>
              <a:ext cx="1384300" cy="1570038"/>
              <a:chOff x="9728615" y="4145340"/>
              <a:chExt cx="1384677" cy="1569660"/>
            </a:xfrm>
          </p:grpSpPr>
          <p:sp>
            <p:nvSpPr>
              <p:cNvPr id="29762" name="Double Bracket 4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63" name="TextBox 5"/>
              <p:cNvSpPr txBox="1">
                <a:spLocks noChangeArrowheads="1"/>
              </p:cNvSpPr>
              <p:nvPr/>
            </p:nvSpPr>
            <p:spPr bwMode="auto">
              <a:xfrm>
                <a:off x="9866790" y="4145340"/>
                <a:ext cx="1186543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</a:p>
            </p:txBody>
          </p:sp>
        </p:grpSp>
        <p:grpSp>
          <p:nvGrpSpPr>
            <p:cNvPr id="5" name="Group 7"/>
            <p:cNvGrpSpPr>
              <a:grpSpLocks/>
            </p:cNvGrpSpPr>
            <p:nvPr/>
          </p:nvGrpSpPr>
          <p:grpSpPr bwMode="auto">
            <a:xfrm>
              <a:off x="1681163" y="1244600"/>
              <a:ext cx="727075" cy="1570038"/>
              <a:chOff x="9728615" y="4145340"/>
              <a:chExt cx="1384677" cy="1569660"/>
            </a:xfrm>
          </p:grpSpPr>
          <p:sp>
            <p:nvSpPr>
              <p:cNvPr id="29760" name="Double Bracket 8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61" name="TextBox 9"/>
              <p:cNvSpPr txBox="1">
                <a:spLocks noChangeArrowheads="1"/>
              </p:cNvSpPr>
              <p:nvPr/>
            </p:nvSpPr>
            <p:spPr bwMode="auto">
              <a:xfrm>
                <a:off x="9866790" y="4145340"/>
                <a:ext cx="588623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4689026" y="1244600"/>
              <a:ext cx="2563813" cy="1570038"/>
              <a:chOff x="9728615" y="4145340"/>
              <a:chExt cx="1384677" cy="1569660"/>
            </a:xfrm>
          </p:grpSpPr>
          <p:sp>
            <p:nvSpPr>
              <p:cNvPr id="29758" name="Double Bracket 14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59" name="TextBox 15"/>
              <p:cNvSpPr txBox="1">
                <a:spLocks noChangeArrowheads="1"/>
              </p:cNvSpPr>
              <p:nvPr/>
            </p:nvSpPr>
            <p:spPr bwMode="auto">
              <a:xfrm>
                <a:off x="9772697" y="4145340"/>
                <a:ext cx="1315740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       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              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                     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</a:p>
            </p:txBody>
          </p:sp>
        </p:grpSp>
        <p:sp>
          <p:nvSpPr>
            <p:cNvPr id="29735" name="TextBox 17"/>
            <p:cNvSpPr txBox="1">
              <a:spLocks noChangeArrowheads="1"/>
            </p:cNvSpPr>
            <p:nvPr/>
          </p:nvSpPr>
          <p:spPr bwMode="auto">
            <a:xfrm flipH="1">
              <a:off x="2464615" y="1861170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36" name="TextBox 21"/>
            <p:cNvSpPr txBox="1">
              <a:spLocks noChangeArrowheads="1"/>
            </p:cNvSpPr>
            <p:nvPr/>
          </p:nvSpPr>
          <p:spPr bwMode="auto">
            <a:xfrm flipH="1">
              <a:off x="4267651" y="1875684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37" name="TextBox 22"/>
            <p:cNvSpPr txBox="1">
              <a:spLocks noChangeArrowheads="1"/>
            </p:cNvSpPr>
            <p:nvPr/>
          </p:nvSpPr>
          <p:spPr bwMode="auto">
            <a:xfrm>
              <a:off x="7383465" y="1803114"/>
              <a:ext cx="25519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grpSp>
          <p:nvGrpSpPr>
            <p:cNvPr id="7" name="Group 50"/>
            <p:cNvGrpSpPr>
              <a:grpSpLocks/>
            </p:cNvGrpSpPr>
            <p:nvPr/>
          </p:nvGrpSpPr>
          <p:grpSpPr bwMode="auto">
            <a:xfrm>
              <a:off x="7731125" y="1244600"/>
              <a:ext cx="727075" cy="1570038"/>
              <a:chOff x="7731125" y="1244600"/>
              <a:chExt cx="727075" cy="1570038"/>
            </a:xfrm>
          </p:grpSpPr>
          <p:grpSp>
            <p:nvGrpSpPr>
              <p:cNvPr id="8" name="Group 10"/>
              <p:cNvGrpSpPr>
                <a:grpSpLocks/>
              </p:cNvGrpSpPr>
              <p:nvPr/>
            </p:nvGrpSpPr>
            <p:grpSpPr bwMode="auto">
              <a:xfrm>
                <a:off x="7731125" y="1244600"/>
                <a:ext cx="727075" cy="1570038"/>
                <a:chOff x="9728615" y="4145340"/>
                <a:chExt cx="1384677" cy="1569660"/>
              </a:xfrm>
            </p:grpSpPr>
            <p:sp>
              <p:nvSpPr>
                <p:cNvPr id="29756" name="Double Bracket 11"/>
                <p:cNvSpPr>
                  <a:spLocks noChangeArrowheads="1"/>
                </p:cNvSpPr>
                <p:nvPr/>
              </p:nvSpPr>
              <p:spPr bwMode="auto">
                <a:xfrm>
                  <a:off x="9728615" y="4145340"/>
                  <a:ext cx="1384677" cy="1569660"/>
                </a:xfrm>
                <a:prstGeom prst="bracketPair">
                  <a:avLst>
                    <a:gd name="adj" fmla="val 16667"/>
                  </a:avLst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9757" name="TextBox 12"/>
                <p:cNvSpPr txBox="1">
                  <a:spLocks noChangeArrowheads="1"/>
                </p:cNvSpPr>
                <p:nvPr/>
              </p:nvSpPr>
              <p:spPr bwMode="auto">
                <a:xfrm>
                  <a:off x="9866790" y="4145340"/>
                  <a:ext cx="1209995" cy="15696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00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10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20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30</a:t>
                  </a:r>
                </a:p>
              </p:txBody>
            </p:sp>
          </p:grpSp>
          <p:grpSp>
            <p:nvGrpSpPr>
              <p:cNvPr id="9" name="Group 29"/>
              <p:cNvGrpSpPr>
                <a:grpSpLocks/>
              </p:cNvGrpSpPr>
              <p:nvPr/>
            </p:nvGrpSpPr>
            <p:grpSpPr bwMode="auto">
              <a:xfrm>
                <a:off x="7760153" y="1687974"/>
                <a:ext cx="669041" cy="740220"/>
                <a:chOff x="2483520" y="5500914"/>
                <a:chExt cx="669041" cy="740220"/>
              </a:xfrm>
            </p:grpSpPr>
            <p:cxnSp>
              <p:nvCxnSpPr>
                <p:cNvPr id="29753" name="Straight Connector 24"/>
                <p:cNvCxnSpPr>
                  <a:cxnSpLocks noChangeShapeType="1"/>
                </p:cNvCxnSpPr>
                <p:nvPr/>
              </p:nvCxnSpPr>
              <p:spPr bwMode="auto">
                <a:xfrm>
                  <a:off x="2483520" y="5500914"/>
                  <a:ext cx="654521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9754" name="Straight Connector 27"/>
                <p:cNvCxnSpPr>
                  <a:cxnSpLocks noChangeShapeType="1"/>
                </p:cNvCxnSpPr>
                <p:nvPr/>
              </p:nvCxnSpPr>
              <p:spPr bwMode="auto">
                <a:xfrm>
                  <a:off x="2490780" y="5871024"/>
                  <a:ext cx="654521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9755" name="Straight Connector 28"/>
                <p:cNvCxnSpPr>
                  <a:cxnSpLocks noChangeShapeType="1"/>
                </p:cNvCxnSpPr>
                <p:nvPr/>
              </p:nvCxnSpPr>
              <p:spPr bwMode="auto">
                <a:xfrm>
                  <a:off x="2498040" y="6241134"/>
                  <a:ext cx="654521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0" name="Group 30"/>
            <p:cNvGrpSpPr>
              <a:grpSpLocks/>
            </p:cNvGrpSpPr>
            <p:nvPr/>
          </p:nvGrpSpPr>
          <p:grpSpPr bwMode="auto">
            <a:xfrm>
              <a:off x="2860226" y="1672488"/>
              <a:ext cx="1291319" cy="740220"/>
              <a:chOff x="2483520" y="5500914"/>
              <a:chExt cx="1291319" cy="740220"/>
            </a:xfrm>
          </p:grpSpPr>
          <p:cxnSp>
            <p:nvCxnSpPr>
              <p:cNvPr id="29748" name="Straight Connector 31"/>
              <p:cNvCxnSpPr>
                <a:cxnSpLocks noChangeShapeType="1"/>
              </p:cNvCxnSpPr>
              <p:nvPr/>
            </p:nvCxnSpPr>
            <p:spPr bwMode="auto">
              <a:xfrm flipV="1">
                <a:off x="2483520" y="5500914"/>
                <a:ext cx="1291319" cy="1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9" name="Straight Connector 32"/>
              <p:cNvCxnSpPr>
                <a:cxnSpLocks noChangeShapeType="1"/>
              </p:cNvCxnSpPr>
              <p:nvPr/>
            </p:nvCxnSpPr>
            <p:spPr bwMode="auto">
              <a:xfrm>
                <a:off x="2490780" y="5871024"/>
                <a:ext cx="128405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50" name="Straight Connector 33"/>
              <p:cNvCxnSpPr>
                <a:cxnSpLocks noChangeShapeType="1"/>
              </p:cNvCxnSpPr>
              <p:nvPr/>
            </p:nvCxnSpPr>
            <p:spPr bwMode="auto">
              <a:xfrm>
                <a:off x="2498040" y="6241134"/>
                <a:ext cx="127679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1" name="Group 38"/>
            <p:cNvGrpSpPr>
              <a:grpSpLocks/>
            </p:cNvGrpSpPr>
            <p:nvPr/>
          </p:nvGrpSpPr>
          <p:grpSpPr bwMode="auto">
            <a:xfrm>
              <a:off x="4747065" y="1672488"/>
              <a:ext cx="2418690" cy="740220"/>
              <a:chOff x="2483520" y="5500914"/>
              <a:chExt cx="2418690" cy="740220"/>
            </a:xfrm>
          </p:grpSpPr>
          <p:cxnSp>
            <p:nvCxnSpPr>
              <p:cNvPr id="29745" name="Straight Connector 39"/>
              <p:cNvCxnSpPr>
                <a:cxnSpLocks noChangeShapeType="1"/>
              </p:cNvCxnSpPr>
              <p:nvPr/>
            </p:nvCxnSpPr>
            <p:spPr bwMode="auto">
              <a:xfrm flipV="1">
                <a:off x="2483520" y="5500914"/>
                <a:ext cx="2418690" cy="2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6" name="Straight Connector 40"/>
              <p:cNvCxnSpPr>
                <a:cxnSpLocks noChangeShapeType="1"/>
              </p:cNvCxnSpPr>
              <p:nvPr/>
            </p:nvCxnSpPr>
            <p:spPr bwMode="auto">
              <a:xfrm flipV="1">
                <a:off x="2490780" y="5871023"/>
                <a:ext cx="2411430" cy="1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7" name="Straight Connector 41"/>
              <p:cNvCxnSpPr>
                <a:cxnSpLocks noChangeShapeType="1"/>
              </p:cNvCxnSpPr>
              <p:nvPr/>
            </p:nvCxnSpPr>
            <p:spPr bwMode="auto">
              <a:xfrm>
                <a:off x="2498040" y="6241134"/>
                <a:ext cx="2404170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" name="Group 42"/>
            <p:cNvGrpSpPr>
              <a:grpSpLocks/>
            </p:cNvGrpSpPr>
            <p:nvPr/>
          </p:nvGrpSpPr>
          <p:grpSpPr bwMode="auto">
            <a:xfrm>
              <a:off x="1710191" y="1687002"/>
              <a:ext cx="669041" cy="725706"/>
              <a:chOff x="2483520" y="5500914"/>
              <a:chExt cx="669041" cy="725706"/>
            </a:xfrm>
          </p:grpSpPr>
          <p:cxnSp>
            <p:nvCxnSpPr>
              <p:cNvPr id="29742" name="Straight Connector 43"/>
              <p:cNvCxnSpPr>
                <a:cxnSpLocks noChangeShapeType="1"/>
              </p:cNvCxnSpPr>
              <p:nvPr/>
            </p:nvCxnSpPr>
            <p:spPr bwMode="auto">
              <a:xfrm>
                <a:off x="2483520" y="5500914"/>
                <a:ext cx="654521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3" name="Straight Connector 44"/>
              <p:cNvCxnSpPr>
                <a:cxnSpLocks noChangeShapeType="1"/>
              </p:cNvCxnSpPr>
              <p:nvPr/>
            </p:nvCxnSpPr>
            <p:spPr bwMode="auto">
              <a:xfrm>
                <a:off x="2490780" y="5871024"/>
                <a:ext cx="654521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4" name="Straight Connector 45"/>
              <p:cNvCxnSpPr>
                <a:cxnSpLocks noChangeShapeType="1"/>
              </p:cNvCxnSpPr>
              <p:nvPr/>
            </p:nvCxnSpPr>
            <p:spPr bwMode="auto">
              <a:xfrm>
                <a:off x="2498040" y="6226620"/>
                <a:ext cx="654521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3" name="Group 106"/>
          <p:cNvGrpSpPr>
            <a:grpSpLocks/>
          </p:cNvGrpSpPr>
          <p:nvPr/>
        </p:nvGrpSpPr>
        <p:grpSpPr bwMode="auto">
          <a:xfrm>
            <a:off x="2005013" y="3124200"/>
            <a:ext cx="4979987" cy="1570038"/>
            <a:chOff x="2280278" y="3064409"/>
            <a:chExt cx="4980735" cy="1570038"/>
          </a:xfrm>
        </p:grpSpPr>
        <p:grpSp>
          <p:nvGrpSpPr>
            <p:cNvPr id="14" name="Group 10"/>
            <p:cNvGrpSpPr>
              <a:grpSpLocks/>
            </p:cNvGrpSpPr>
            <p:nvPr/>
          </p:nvGrpSpPr>
          <p:grpSpPr bwMode="auto">
            <a:xfrm>
              <a:off x="2280278" y="3064409"/>
              <a:ext cx="727075" cy="1570038"/>
              <a:chOff x="9728615" y="4145340"/>
              <a:chExt cx="1384677" cy="1569660"/>
            </a:xfrm>
          </p:grpSpPr>
          <p:sp>
            <p:nvSpPr>
              <p:cNvPr id="29729" name="Double Bracket 11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30" name="TextBox 12"/>
              <p:cNvSpPr txBox="1">
                <a:spLocks noChangeArrowheads="1"/>
              </p:cNvSpPr>
              <p:nvPr/>
            </p:nvSpPr>
            <p:spPr bwMode="auto">
              <a:xfrm>
                <a:off x="9866790" y="4145340"/>
                <a:ext cx="1209995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</a:p>
            </p:txBody>
          </p:sp>
        </p:grpSp>
        <p:cxnSp>
          <p:nvCxnSpPr>
            <p:cNvPr id="29712" name="Straight Connector 61"/>
            <p:cNvCxnSpPr>
              <a:cxnSpLocks noChangeShapeType="1"/>
            </p:cNvCxnSpPr>
            <p:nvPr/>
          </p:nvCxnSpPr>
          <p:spPr bwMode="auto">
            <a:xfrm>
              <a:off x="2328459" y="3859270"/>
              <a:ext cx="635352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9713" name="TextBox 63"/>
            <p:cNvSpPr txBox="1">
              <a:spLocks noChangeArrowheads="1"/>
            </p:cNvSpPr>
            <p:nvPr/>
          </p:nvSpPr>
          <p:spPr bwMode="auto">
            <a:xfrm flipH="1">
              <a:off x="3040193" y="3673729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grpSp>
          <p:nvGrpSpPr>
            <p:cNvPr id="15" name="Group 68"/>
            <p:cNvGrpSpPr>
              <a:grpSpLocks/>
            </p:cNvGrpSpPr>
            <p:nvPr/>
          </p:nvGrpSpPr>
          <p:grpSpPr bwMode="auto">
            <a:xfrm>
              <a:off x="3356623" y="3409336"/>
              <a:ext cx="1257872" cy="914400"/>
              <a:chOff x="2205057" y="4020465"/>
              <a:chExt cx="1257872" cy="914400"/>
            </a:xfrm>
          </p:grpSpPr>
          <p:cxnSp>
            <p:nvCxnSpPr>
              <p:cNvPr id="29726" name="Straight Connector 62"/>
              <p:cNvCxnSpPr>
                <a:cxnSpLocks noChangeShapeType="1"/>
              </p:cNvCxnSpPr>
              <p:nvPr/>
            </p:nvCxnSpPr>
            <p:spPr bwMode="auto">
              <a:xfrm>
                <a:off x="2248303" y="4484913"/>
                <a:ext cx="111094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29727" name="Double Bracket 64"/>
              <p:cNvSpPr>
                <a:spLocks noChangeArrowheads="1"/>
              </p:cNvSpPr>
              <p:nvPr/>
            </p:nvSpPr>
            <p:spPr bwMode="auto">
              <a:xfrm>
                <a:off x="2205057" y="4020465"/>
                <a:ext cx="1234831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28" name="TextBox 66"/>
              <p:cNvSpPr txBox="1">
                <a:spLocks noChangeArrowheads="1"/>
              </p:cNvSpPr>
              <p:nvPr/>
            </p:nvSpPr>
            <p:spPr bwMode="auto">
              <a:xfrm>
                <a:off x="2276386" y="4054900"/>
                <a:ext cx="1186543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01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01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11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11</a:t>
                </a:r>
              </a:p>
            </p:txBody>
          </p:sp>
        </p:grpSp>
        <p:grpSp>
          <p:nvGrpSpPr>
            <p:cNvPr id="16" name="Group 69"/>
            <p:cNvGrpSpPr>
              <a:grpSpLocks/>
            </p:cNvGrpSpPr>
            <p:nvPr/>
          </p:nvGrpSpPr>
          <p:grpSpPr bwMode="auto">
            <a:xfrm>
              <a:off x="5064103" y="3411170"/>
              <a:ext cx="1245539" cy="914400"/>
              <a:chOff x="2205057" y="4020465"/>
              <a:chExt cx="1245539" cy="914400"/>
            </a:xfrm>
          </p:grpSpPr>
          <p:cxnSp>
            <p:nvCxnSpPr>
              <p:cNvPr id="29723" name="Straight Connector 70"/>
              <p:cNvCxnSpPr>
                <a:cxnSpLocks noChangeShapeType="1"/>
              </p:cNvCxnSpPr>
              <p:nvPr/>
            </p:nvCxnSpPr>
            <p:spPr bwMode="auto">
              <a:xfrm>
                <a:off x="2248303" y="4484913"/>
                <a:ext cx="111094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29724" name="Double Bracket 71"/>
              <p:cNvSpPr>
                <a:spLocks noChangeArrowheads="1"/>
              </p:cNvSpPr>
              <p:nvPr/>
            </p:nvSpPr>
            <p:spPr bwMode="auto">
              <a:xfrm>
                <a:off x="2205057" y="4020465"/>
                <a:ext cx="1234831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25" name="TextBox 72"/>
              <p:cNvSpPr txBox="1">
                <a:spLocks noChangeArrowheads="1"/>
              </p:cNvSpPr>
              <p:nvPr/>
            </p:nvSpPr>
            <p:spPr bwMode="auto">
              <a:xfrm>
                <a:off x="2304961" y="4054900"/>
                <a:ext cx="1145635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01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      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11</a:t>
                </a:r>
              </a:p>
            </p:txBody>
          </p:sp>
        </p:grpSp>
        <p:sp>
          <p:nvSpPr>
            <p:cNvPr id="29716" name="TextBox 73"/>
            <p:cNvSpPr txBox="1">
              <a:spLocks noChangeArrowheads="1"/>
            </p:cNvSpPr>
            <p:nvPr/>
          </p:nvSpPr>
          <p:spPr bwMode="auto">
            <a:xfrm flipH="1">
              <a:off x="4645367" y="3702757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17" name="TextBox 74"/>
            <p:cNvSpPr txBox="1">
              <a:spLocks noChangeArrowheads="1"/>
            </p:cNvSpPr>
            <p:nvPr/>
          </p:nvSpPr>
          <p:spPr bwMode="auto">
            <a:xfrm>
              <a:off x="6309642" y="3630187"/>
              <a:ext cx="25519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grpSp>
          <p:nvGrpSpPr>
            <p:cNvPr id="17" name="Group 94"/>
            <p:cNvGrpSpPr>
              <a:grpSpLocks/>
            </p:cNvGrpSpPr>
            <p:nvPr/>
          </p:nvGrpSpPr>
          <p:grpSpPr bwMode="auto">
            <a:xfrm>
              <a:off x="6564840" y="3411595"/>
              <a:ext cx="696173" cy="914400"/>
              <a:chOff x="3625840" y="5421032"/>
              <a:chExt cx="696173" cy="914400"/>
            </a:xfrm>
          </p:grpSpPr>
          <p:sp>
            <p:nvSpPr>
              <p:cNvPr id="29719" name="Double Bracket 78"/>
              <p:cNvSpPr>
                <a:spLocks noChangeArrowheads="1"/>
              </p:cNvSpPr>
              <p:nvPr/>
            </p:nvSpPr>
            <p:spPr bwMode="auto">
              <a:xfrm>
                <a:off x="3625840" y="5421032"/>
                <a:ext cx="696173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grpSp>
            <p:nvGrpSpPr>
              <p:cNvPr id="18" name="Group 93"/>
              <p:cNvGrpSpPr>
                <a:grpSpLocks/>
              </p:cNvGrpSpPr>
              <p:nvPr/>
            </p:nvGrpSpPr>
            <p:grpSpPr bwMode="auto">
              <a:xfrm>
                <a:off x="3658086" y="5451901"/>
                <a:ext cx="663927" cy="830997"/>
                <a:chOff x="5692599" y="5421032"/>
                <a:chExt cx="663927" cy="830997"/>
              </a:xfrm>
            </p:grpSpPr>
            <p:sp>
              <p:nvSpPr>
                <p:cNvPr id="29721" name="TextBox 91"/>
                <p:cNvSpPr txBox="1">
                  <a:spLocks noChangeArrowheads="1"/>
                </p:cNvSpPr>
                <p:nvPr/>
              </p:nvSpPr>
              <p:spPr bwMode="auto">
                <a:xfrm>
                  <a:off x="5721416" y="5421032"/>
                  <a:ext cx="635110" cy="83099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01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cxnSp>
              <p:nvCxnSpPr>
                <p:cNvPr id="29722" name="Straight Connector 92"/>
                <p:cNvCxnSpPr>
                  <a:cxnSpLocks noChangeShapeType="1"/>
                </p:cNvCxnSpPr>
                <p:nvPr/>
              </p:nvCxnSpPr>
              <p:spPr bwMode="auto">
                <a:xfrm>
                  <a:off x="5692599" y="5848350"/>
                  <a:ext cx="635352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</p:grpSp>
      <p:grpSp>
        <p:nvGrpSpPr>
          <p:cNvPr id="19" name="Group 105"/>
          <p:cNvGrpSpPr>
            <a:grpSpLocks/>
          </p:cNvGrpSpPr>
          <p:nvPr/>
        </p:nvGrpSpPr>
        <p:grpSpPr bwMode="auto">
          <a:xfrm>
            <a:off x="3405188" y="4876800"/>
            <a:ext cx="2381250" cy="914400"/>
            <a:chOff x="2600831" y="5245576"/>
            <a:chExt cx="2380698" cy="914400"/>
          </a:xfrm>
        </p:grpSpPr>
        <p:grpSp>
          <p:nvGrpSpPr>
            <p:cNvPr id="20" name="Group 96"/>
            <p:cNvGrpSpPr>
              <a:grpSpLocks/>
            </p:cNvGrpSpPr>
            <p:nvPr/>
          </p:nvGrpSpPr>
          <p:grpSpPr bwMode="auto">
            <a:xfrm>
              <a:off x="2600831" y="5245576"/>
              <a:ext cx="696173" cy="914400"/>
              <a:chOff x="3625840" y="5421032"/>
              <a:chExt cx="696173" cy="914400"/>
            </a:xfrm>
          </p:grpSpPr>
          <p:sp>
            <p:nvSpPr>
              <p:cNvPr id="29707" name="Double Bracket 97"/>
              <p:cNvSpPr>
                <a:spLocks noChangeArrowheads="1"/>
              </p:cNvSpPr>
              <p:nvPr/>
            </p:nvSpPr>
            <p:spPr bwMode="auto">
              <a:xfrm>
                <a:off x="3625840" y="5421032"/>
                <a:ext cx="696173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grpSp>
            <p:nvGrpSpPr>
              <p:cNvPr id="21" name="Group 93"/>
              <p:cNvGrpSpPr>
                <a:grpSpLocks/>
              </p:cNvGrpSpPr>
              <p:nvPr/>
            </p:nvGrpSpPr>
            <p:grpSpPr bwMode="auto">
              <a:xfrm>
                <a:off x="3658086" y="5451901"/>
                <a:ext cx="663927" cy="830997"/>
                <a:chOff x="5692599" y="5421032"/>
                <a:chExt cx="663927" cy="830997"/>
              </a:xfrm>
            </p:grpSpPr>
            <p:sp>
              <p:nvSpPr>
                <p:cNvPr id="29709" name="TextBox 99"/>
                <p:cNvSpPr txBox="1">
                  <a:spLocks noChangeArrowheads="1"/>
                </p:cNvSpPr>
                <p:nvPr/>
              </p:nvSpPr>
              <p:spPr bwMode="auto">
                <a:xfrm>
                  <a:off x="5721416" y="5421032"/>
                  <a:ext cx="635110" cy="83099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01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cxnSp>
              <p:nvCxnSpPr>
                <p:cNvPr id="29710" name="Straight Connector 100"/>
                <p:cNvCxnSpPr>
                  <a:cxnSpLocks noChangeShapeType="1"/>
                </p:cNvCxnSpPr>
                <p:nvPr/>
              </p:nvCxnSpPr>
              <p:spPr bwMode="auto">
                <a:xfrm>
                  <a:off x="5692599" y="5848350"/>
                  <a:ext cx="635352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  <p:sp>
          <p:nvSpPr>
            <p:cNvPr id="29704" name="TextBox 101"/>
            <p:cNvSpPr txBox="1">
              <a:spLocks noChangeArrowheads="1"/>
            </p:cNvSpPr>
            <p:nvPr/>
          </p:nvSpPr>
          <p:spPr bwMode="auto">
            <a:xfrm flipH="1">
              <a:off x="3355382" y="5518222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05" name="Double Bracket 102"/>
            <p:cNvSpPr>
              <a:spLocks noChangeArrowheads="1"/>
            </p:cNvSpPr>
            <p:nvPr/>
          </p:nvSpPr>
          <p:spPr bwMode="auto">
            <a:xfrm>
              <a:off x="3771396" y="5468380"/>
              <a:ext cx="1162081" cy="449952"/>
            </a:xfrm>
            <a:prstGeom prst="bracketPair">
              <a:avLst>
                <a:gd name="adj" fmla="val 16667"/>
              </a:avLst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9706" name="TextBox 104"/>
            <p:cNvSpPr txBox="1">
              <a:spLocks noChangeArrowheads="1"/>
            </p:cNvSpPr>
            <p:nvPr/>
          </p:nvSpPr>
          <p:spPr bwMode="auto">
            <a:xfrm>
              <a:off x="3794986" y="5466075"/>
              <a:ext cx="118654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0">
                  <a:solidFill>
                    <a:schemeClr val="tx1"/>
                  </a:solidFill>
                </a:rPr>
                <a:t>Q</a:t>
              </a:r>
              <a:r>
                <a:rPr lang="en-US" sz="2400" b="0" baseline="-25000">
                  <a:solidFill>
                    <a:schemeClr val="tx1"/>
                  </a:solidFill>
                </a:rPr>
                <a:t>02</a:t>
              </a:r>
              <a:r>
                <a:rPr lang="en-US" sz="2400" b="0">
                  <a:solidFill>
                    <a:schemeClr val="tx1"/>
                  </a:solidFill>
                </a:rPr>
                <a:t> R</a:t>
              </a:r>
              <a:r>
                <a:rPr lang="en-US" sz="2400" b="0" baseline="-25000">
                  <a:solidFill>
                    <a:schemeClr val="tx1"/>
                  </a:solidFill>
                </a:rPr>
                <a:t>02</a:t>
              </a:r>
            </a:p>
          </p:txBody>
        </p:sp>
      </p:grpSp>
      <p:sp>
        <p:nvSpPr>
          <p:cNvPr id="68" name="Rectangle 67"/>
          <p:cNvSpPr/>
          <p:nvPr/>
        </p:nvSpPr>
        <p:spPr>
          <a:xfrm>
            <a:off x="2362200" y="990600"/>
            <a:ext cx="1752600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4191000" y="990600"/>
            <a:ext cx="4267200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4419600" y="2895600"/>
            <a:ext cx="4267200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798513" y="0"/>
            <a:ext cx="7097712" cy="80168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TSQR: QR of a </a:t>
            </a:r>
            <a:r>
              <a:rPr lang="fr-FR" dirty="0" err="1" smtClean="0"/>
              <a:t>Tall</a:t>
            </a:r>
            <a:r>
              <a:rPr lang="fr-FR" dirty="0" smtClean="0"/>
              <a:t>, </a:t>
            </a:r>
            <a:r>
              <a:rPr lang="fr-FR" dirty="0" err="1" smtClean="0"/>
              <a:t>Skinny</a:t>
            </a:r>
            <a:r>
              <a:rPr lang="fr-FR" dirty="0" smtClean="0"/>
              <a:t> </a:t>
            </a:r>
            <a:r>
              <a:rPr lang="fr-FR" dirty="0" err="1" smtClean="0"/>
              <a:t>matrix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60ED04-2F49-4DBD-B1F4-6D9545EC3ADD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grpSp>
        <p:nvGrpSpPr>
          <p:cNvPr id="2" name="Group 107"/>
          <p:cNvGrpSpPr>
            <a:grpSpLocks/>
          </p:cNvGrpSpPr>
          <p:nvPr/>
        </p:nvGrpSpPr>
        <p:grpSpPr bwMode="auto">
          <a:xfrm>
            <a:off x="638175" y="1244600"/>
            <a:ext cx="7659688" cy="1570038"/>
            <a:chOff x="798513" y="1244600"/>
            <a:chExt cx="7659687" cy="1570038"/>
          </a:xfrm>
        </p:grpSpPr>
        <p:sp>
          <p:nvSpPr>
            <p:cNvPr id="29731" name="TextBox 3"/>
            <p:cNvSpPr txBox="1">
              <a:spLocks noChangeArrowheads="1"/>
            </p:cNvSpPr>
            <p:nvPr/>
          </p:nvSpPr>
          <p:spPr bwMode="auto">
            <a:xfrm>
              <a:off x="798513" y="1813831"/>
              <a:ext cx="62709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0" dirty="0">
                  <a:solidFill>
                    <a:srgbClr val="C00000"/>
                  </a:solidFill>
                </a:rPr>
                <a:t>W</a:t>
              </a:r>
              <a:r>
                <a:rPr lang="en-US" b="0" dirty="0">
                  <a:solidFill>
                    <a:srgbClr val="C00000"/>
                  </a:solidFill>
                </a:rPr>
                <a:t> =</a:t>
              </a:r>
            </a:p>
          </p:txBody>
        </p: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2810781" y="1244600"/>
              <a:ext cx="1384300" cy="1570038"/>
              <a:chOff x="9728615" y="4145340"/>
              <a:chExt cx="1384677" cy="1569660"/>
            </a:xfrm>
          </p:grpSpPr>
          <p:sp>
            <p:nvSpPr>
              <p:cNvPr id="29762" name="Double Bracket 4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63" name="TextBox 5"/>
              <p:cNvSpPr txBox="1">
                <a:spLocks noChangeArrowheads="1"/>
              </p:cNvSpPr>
              <p:nvPr/>
            </p:nvSpPr>
            <p:spPr bwMode="auto">
              <a:xfrm>
                <a:off x="9866790" y="4145340"/>
                <a:ext cx="1186543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</a:p>
            </p:txBody>
          </p:sp>
        </p:grpSp>
        <p:grpSp>
          <p:nvGrpSpPr>
            <p:cNvPr id="5" name="Group 7"/>
            <p:cNvGrpSpPr>
              <a:grpSpLocks/>
            </p:cNvGrpSpPr>
            <p:nvPr/>
          </p:nvGrpSpPr>
          <p:grpSpPr bwMode="auto">
            <a:xfrm>
              <a:off x="1681163" y="1244600"/>
              <a:ext cx="727075" cy="1570038"/>
              <a:chOff x="9728615" y="4145340"/>
              <a:chExt cx="1384677" cy="1569660"/>
            </a:xfrm>
          </p:grpSpPr>
          <p:sp>
            <p:nvSpPr>
              <p:cNvPr id="29760" name="Double Bracket 8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61" name="TextBox 9"/>
              <p:cNvSpPr txBox="1">
                <a:spLocks noChangeArrowheads="1"/>
              </p:cNvSpPr>
              <p:nvPr/>
            </p:nvSpPr>
            <p:spPr bwMode="auto">
              <a:xfrm>
                <a:off x="9866790" y="4145340"/>
                <a:ext cx="588623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4689026" y="1244600"/>
              <a:ext cx="2563813" cy="1570038"/>
              <a:chOff x="9728615" y="4145340"/>
              <a:chExt cx="1384677" cy="1569660"/>
            </a:xfrm>
          </p:grpSpPr>
          <p:sp>
            <p:nvSpPr>
              <p:cNvPr id="29758" name="Double Bracket 14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9759" name="TextBox 15"/>
              <p:cNvSpPr txBox="1">
                <a:spLocks noChangeArrowheads="1"/>
              </p:cNvSpPr>
              <p:nvPr/>
            </p:nvSpPr>
            <p:spPr bwMode="auto">
              <a:xfrm>
                <a:off x="9772697" y="4145340"/>
                <a:ext cx="1105746" cy="15692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 dirty="0">
                    <a:solidFill>
                      <a:srgbClr val="C00000"/>
                    </a:solidFill>
                  </a:rPr>
                  <a:t>Q</a:t>
                </a:r>
                <a:r>
                  <a:rPr lang="en-US" sz="2400" b="0" baseline="-25000" dirty="0">
                    <a:solidFill>
                      <a:srgbClr val="C00000"/>
                    </a:solidFill>
                  </a:rPr>
                  <a:t>00</a:t>
                </a:r>
              </a:p>
              <a:p>
                <a:r>
                  <a:rPr lang="en-US" sz="2400" b="0" dirty="0">
                    <a:solidFill>
                      <a:srgbClr val="C00000"/>
                    </a:solidFill>
                  </a:rPr>
                  <a:t>       Q</a:t>
                </a:r>
                <a:r>
                  <a:rPr lang="en-US" sz="2400" b="0" baseline="-25000" dirty="0">
                    <a:solidFill>
                      <a:srgbClr val="C00000"/>
                    </a:solidFill>
                  </a:rPr>
                  <a:t>10</a:t>
                </a:r>
              </a:p>
              <a:p>
                <a:r>
                  <a:rPr lang="en-US" sz="2400" b="0" dirty="0">
                    <a:solidFill>
                      <a:srgbClr val="C00000"/>
                    </a:solidFill>
                  </a:rPr>
                  <a:t>              Q</a:t>
                </a:r>
                <a:r>
                  <a:rPr lang="en-US" sz="2400" b="0" baseline="-25000" dirty="0">
                    <a:solidFill>
                      <a:srgbClr val="C00000"/>
                    </a:solidFill>
                  </a:rPr>
                  <a:t>20</a:t>
                </a:r>
              </a:p>
              <a:p>
                <a:r>
                  <a:rPr lang="en-US" sz="2400" b="0" dirty="0">
                    <a:solidFill>
                      <a:srgbClr val="C00000"/>
                    </a:solidFill>
                  </a:rPr>
                  <a:t>                     Q</a:t>
                </a:r>
                <a:r>
                  <a:rPr lang="en-US" sz="2400" b="0" baseline="-25000" dirty="0">
                    <a:solidFill>
                      <a:srgbClr val="C00000"/>
                    </a:solidFill>
                  </a:rPr>
                  <a:t>30</a:t>
                </a:r>
              </a:p>
            </p:txBody>
          </p:sp>
        </p:grpSp>
        <p:sp>
          <p:nvSpPr>
            <p:cNvPr id="29735" name="TextBox 17"/>
            <p:cNvSpPr txBox="1">
              <a:spLocks noChangeArrowheads="1"/>
            </p:cNvSpPr>
            <p:nvPr/>
          </p:nvSpPr>
          <p:spPr bwMode="auto">
            <a:xfrm flipH="1">
              <a:off x="2464615" y="1861170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36" name="TextBox 21"/>
            <p:cNvSpPr txBox="1">
              <a:spLocks noChangeArrowheads="1"/>
            </p:cNvSpPr>
            <p:nvPr/>
          </p:nvSpPr>
          <p:spPr bwMode="auto">
            <a:xfrm flipH="1">
              <a:off x="4267651" y="1875684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37" name="TextBox 22"/>
            <p:cNvSpPr txBox="1">
              <a:spLocks noChangeArrowheads="1"/>
            </p:cNvSpPr>
            <p:nvPr/>
          </p:nvSpPr>
          <p:spPr bwMode="auto">
            <a:xfrm>
              <a:off x="7383465" y="1803114"/>
              <a:ext cx="25519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grpSp>
          <p:nvGrpSpPr>
            <p:cNvPr id="7" name="Group 50"/>
            <p:cNvGrpSpPr>
              <a:grpSpLocks/>
            </p:cNvGrpSpPr>
            <p:nvPr/>
          </p:nvGrpSpPr>
          <p:grpSpPr bwMode="auto">
            <a:xfrm>
              <a:off x="7731125" y="1244600"/>
              <a:ext cx="727075" cy="1570038"/>
              <a:chOff x="7731125" y="1244600"/>
              <a:chExt cx="727075" cy="1570038"/>
            </a:xfrm>
          </p:grpSpPr>
          <p:grpSp>
            <p:nvGrpSpPr>
              <p:cNvPr id="8" name="Group 10"/>
              <p:cNvGrpSpPr>
                <a:grpSpLocks/>
              </p:cNvGrpSpPr>
              <p:nvPr/>
            </p:nvGrpSpPr>
            <p:grpSpPr bwMode="auto">
              <a:xfrm>
                <a:off x="7731125" y="1244600"/>
                <a:ext cx="727075" cy="1570038"/>
                <a:chOff x="9728615" y="4145340"/>
                <a:chExt cx="1384677" cy="1569660"/>
              </a:xfrm>
            </p:grpSpPr>
            <p:sp>
              <p:nvSpPr>
                <p:cNvPr id="29756" name="Double Bracket 11"/>
                <p:cNvSpPr>
                  <a:spLocks noChangeArrowheads="1"/>
                </p:cNvSpPr>
                <p:nvPr/>
              </p:nvSpPr>
              <p:spPr bwMode="auto">
                <a:xfrm>
                  <a:off x="9728615" y="4145340"/>
                  <a:ext cx="1384677" cy="1569660"/>
                </a:xfrm>
                <a:prstGeom prst="bracketPair">
                  <a:avLst>
                    <a:gd name="adj" fmla="val 16667"/>
                  </a:avLst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9757" name="TextBox 12"/>
                <p:cNvSpPr txBox="1">
                  <a:spLocks noChangeArrowheads="1"/>
                </p:cNvSpPr>
                <p:nvPr/>
              </p:nvSpPr>
              <p:spPr bwMode="auto">
                <a:xfrm>
                  <a:off x="9866790" y="4145340"/>
                  <a:ext cx="1209995" cy="15696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00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10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20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30</a:t>
                  </a:r>
                </a:p>
              </p:txBody>
            </p:sp>
          </p:grpSp>
          <p:grpSp>
            <p:nvGrpSpPr>
              <p:cNvPr id="9" name="Group 29"/>
              <p:cNvGrpSpPr>
                <a:grpSpLocks/>
              </p:cNvGrpSpPr>
              <p:nvPr/>
            </p:nvGrpSpPr>
            <p:grpSpPr bwMode="auto">
              <a:xfrm>
                <a:off x="7760153" y="1687974"/>
                <a:ext cx="669041" cy="740220"/>
                <a:chOff x="2483520" y="5500914"/>
                <a:chExt cx="669041" cy="740220"/>
              </a:xfrm>
            </p:grpSpPr>
            <p:cxnSp>
              <p:nvCxnSpPr>
                <p:cNvPr id="29753" name="Straight Connector 24"/>
                <p:cNvCxnSpPr>
                  <a:cxnSpLocks noChangeShapeType="1"/>
                </p:cNvCxnSpPr>
                <p:nvPr/>
              </p:nvCxnSpPr>
              <p:spPr bwMode="auto">
                <a:xfrm>
                  <a:off x="2483520" y="5500914"/>
                  <a:ext cx="654521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9754" name="Straight Connector 27"/>
                <p:cNvCxnSpPr>
                  <a:cxnSpLocks noChangeShapeType="1"/>
                </p:cNvCxnSpPr>
                <p:nvPr/>
              </p:nvCxnSpPr>
              <p:spPr bwMode="auto">
                <a:xfrm>
                  <a:off x="2490780" y="5871024"/>
                  <a:ext cx="654521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9755" name="Straight Connector 28"/>
                <p:cNvCxnSpPr>
                  <a:cxnSpLocks noChangeShapeType="1"/>
                </p:cNvCxnSpPr>
                <p:nvPr/>
              </p:nvCxnSpPr>
              <p:spPr bwMode="auto">
                <a:xfrm>
                  <a:off x="2498040" y="6241134"/>
                  <a:ext cx="654521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0" name="Group 30"/>
            <p:cNvGrpSpPr>
              <a:grpSpLocks/>
            </p:cNvGrpSpPr>
            <p:nvPr/>
          </p:nvGrpSpPr>
          <p:grpSpPr bwMode="auto">
            <a:xfrm>
              <a:off x="2860226" y="1672488"/>
              <a:ext cx="1291319" cy="740220"/>
              <a:chOff x="2483520" y="5500914"/>
              <a:chExt cx="1291319" cy="740220"/>
            </a:xfrm>
          </p:grpSpPr>
          <p:cxnSp>
            <p:nvCxnSpPr>
              <p:cNvPr id="29748" name="Straight Connector 31"/>
              <p:cNvCxnSpPr>
                <a:cxnSpLocks noChangeShapeType="1"/>
              </p:cNvCxnSpPr>
              <p:nvPr/>
            </p:nvCxnSpPr>
            <p:spPr bwMode="auto">
              <a:xfrm flipV="1">
                <a:off x="2483520" y="5500914"/>
                <a:ext cx="1291319" cy="1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9" name="Straight Connector 32"/>
              <p:cNvCxnSpPr>
                <a:cxnSpLocks noChangeShapeType="1"/>
              </p:cNvCxnSpPr>
              <p:nvPr/>
            </p:nvCxnSpPr>
            <p:spPr bwMode="auto">
              <a:xfrm>
                <a:off x="2490780" y="5871024"/>
                <a:ext cx="128405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50" name="Straight Connector 33"/>
              <p:cNvCxnSpPr>
                <a:cxnSpLocks noChangeShapeType="1"/>
              </p:cNvCxnSpPr>
              <p:nvPr/>
            </p:nvCxnSpPr>
            <p:spPr bwMode="auto">
              <a:xfrm>
                <a:off x="2498040" y="6241134"/>
                <a:ext cx="127679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1" name="Group 38"/>
            <p:cNvGrpSpPr>
              <a:grpSpLocks/>
            </p:cNvGrpSpPr>
            <p:nvPr/>
          </p:nvGrpSpPr>
          <p:grpSpPr bwMode="auto">
            <a:xfrm>
              <a:off x="4747065" y="1672488"/>
              <a:ext cx="2418690" cy="740220"/>
              <a:chOff x="2483520" y="5500914"/>
              <a:chExt cx="2418690" cy="740220"/>
            </a:xfrm>
          </p:grpSpPr>
          <p:cxnSp>
            <p:nvCxnSpPr>
              <p:cNvPr id="29745" name="Straight Connector 39"/>
              <p:cNvCxnSpPr>
                <a:cxnSpLocks noChangeShapeType="1"/>
              </p:cNvCxnSpPr>
              <p:nvPr/>
            </p:nvCxnSpPr>
            <p:spPr bwMode="auto">
              <a:xfrm flipV="1">
                <a:off x="2483520" y="5500914"/>
                <a:ext cx="2418690" cy="2"/>
              </a:xfrm>
              <a:prstGeom prst="line">
                <a:avLst/>
              </a:prstGeom>
              <a:noFill/>
              <a:ln w="12700" algn="ctr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6" name="Straight Connector 40"/>
              <p:cNvCxnSpPr>
                <a:cxnSpLocks noChangeShapeType="1"/>
              </p:cNvCxnSpPr>
              <p:nvPr/>
            </p:nvCxnSpPr>
            <p:spPr bwMode="auto">
              <a:xfrm flipV="1">
                <a:off x="2490780" y="5871023"/>
                <a:ext cx="2411430" cy="1"/>
              </a:xfrm>
              <a:prstGeom prst="line">
                <a:avLst/>
              </a:prstGeom>
              <a:noFill/>
              <a:ln w="12700" algn="ctr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7" name="Straight Connector 41"/>
              <p:cNvCxnSpPr>
                <a:cxnSpLocks noChangeShapeType="1"/>
              </p:cNvCxnSpPr>
              <p:nvPr/>
            </p:nvCxnSpPr>
            <p:spPr bwMode="auto">
              <a:xfrm>
                <a:off x="2498040" y="6241134"/>
                <a:ext cx="2404170" cy="0"/>
              </a:xfrm>
              <a:prstGeom prst="line">
                <a:avLst/>
              </a:prstGeom>
              <a:noFill/>
              <a:ln w="12700" algn="ctr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" name="Group 42"/>
            <p:cNvGrpSpPr>
              <a:grpSpLocks/>
            </p:cNvGrpSpPr>
            <p:nvPr/>
          </p:nvGrpSpPr>
          <p:grpSpPr bwMode="auto">
            <a:xfrm>
              <a:off x="1710191" y="1687002"/>
              <a:ext cx="669041" cy="725706"/>
              <a:chOff x="2483520" y="5500914"/>
              <a:chExt cx="669041" cy="725706"/>
            </a:xfrm>
          </p:grpSpPr>
          <p:cxnSp>
            <p:nvCxnSpPr>
              <p:cNvPr id="29742" name="Straight Connector 43"/>
              <p:cNvCxnSpPr>
                <a:cxnSpLocks noChangeShapeType="1"/>
              </p:cNvCxnSpPr>
              <p:nvPr/>
            </p:nvCxnSpPr>
            <p:spPr bwMode="auto">
              <a:xfrm>
                <a:off x="2483520" y="5500914"/>
                <a:ext cx="654521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3" name="Straight Connector 44"/>
              <p:cNvCxnSpPr>
                <a:cxnSpLocks noChangeShapeType="1"/>
              </p:cNvCxnSpPr>
              <p:nvPr/>
            </p:nvCxnSpPr>
            <p:spPr bwMode="auto">
              <a:xfrm>
                <a:off x="2490780" y="5871024"/>
                <a:ext cx="654521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4" name="Straight Connector 45"/>
              <p:cNvCxnSpPr>
                <a:cxnSpLocks noChangeShapeType="1"/>
              </p:cNvCxnSpPr>
              <p:nvPr/>
            </p:nvCxnSpPr>
            <p:spPr bwMode="auto">
              <a:xfrm>
                <a:off x="2498040" y="6226620"/>
                <a:ext cx="654521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3" name="Group 106"/>
          <p:cNvGrpSpPr>
            <a:grpSpLocks/>
          </p:cNvGrpSpPr>
          <p:nvPr/>
        </p:nvGrpSpPr>
        <p:grpSpPr bwMode="auto">
          <a:xfrm>
            <a:off x="2005013" y="3124200"/>
            <a:ext cx="4979987" cy="1570038"/>
            <a:chOff x="2280278" y="3064409"/>
            <a:chExt cx="4980735" cy="1570038"/>
          </a:xfrm>
        </p:grpSpPr>
        <p:grpSp>
          <p:nvGrpSpPr>
            <p:cNvPr id="14" name="Group 10"/>
            <p:cNvGrpSpPr>
              <a:grpSpLocks/>
            </p:cNvGrpSpPr>
            <p:nvPr/>
          </p:nvGrpSpPr>
          <p:grpSpPr bwMode="auto">
            <a:xfrm>
              <a:off x="2280278" y="3064409"/>
              <a:ext cx="727075" cy="1570038"/>
              <a:chOff x="9728615" y="4145340"/>
              <a:chExt cx="1384677" cy="1569660"/>
            </a:xfrm>
          </p:grpSpPr>
          <p:sp>
            <p:nvSpPr>
              <p:cNvPr id="29729" name="Double Bracket 11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30" name="TextBox 12"/>
              <p:cNvSpPr txBox="1">
                <a:spLocks noChangeArrowheads="1"/>
              </p:cNvSpPr>
              <p:nvPr/>
            </p:nvSpPr>
            <p:spPr bwMode="auto">
              <a:xfrm>
                <a:off x="9866790" y="4145340"/>
                <a:ext cx="1209995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</a:p>
            </p:txBody>
          </p:sp>
        </p:grpSp>
        <p:cxnSp>
          <p:nvCxnSpPr>
            <p:cNvPr id="29712" name="Straight Connector 61"/>
            <p:cNvCxnSpPr>
              <a:cxnSpLocks noChangeShapeType="1"/>
            </p:cNvCxnSpPr>
            <p:nvPr/>
          </p:nvCxnSpPr>
          <p:spPr bwMode="auto">
            <a:xfrm>
              <a:off x="2328459" y="3859270"/>
              <a:ext cx="635352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9713" name="TextBox 63"/>
            <p:cNvSpPr txBox="1">
              <a:spLocks noChangeArrowheads="1"/>
            </p:cNvSpPr>
            <p:nvPr/>
          </p:nvSpPr>
          <p:spPr bwMode="auto">
            <a:xfrm flipH="1">
              <a:off x="3040193" y="3673729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grpSp>
          <p:nvGrpSpPr>
            <p:cNvPr id="15" name="Group 68"/>
            <p:cNvGrpSpPr>
              <a:grpSpLocks/>
            </p:cNvGrpSpPr>
            <p:nvPr/>
          </p:nvGrpSpPr>
          <p:grpSpPr bwMode="auto">
            <a:xfrm>
              <a:off x="3356623" y="3409336"/>
              <a:ext cx="1257872" cy="914400"/>
              <a:chOff x="2205057" y="4020465"/>
              <a:chExt cx="1257872" cy="914400"/>
            </a:xfrm>
          </p:grpSpPr>
          <p:cxnSp>
            <p:nvCxnSpPr>
              <p:cNvPr id="29726" name="Straight Connector 62"/>
              <p:cNvCxnSpPr>
                <a:cxnSpLocks noChangeShapeType="1"/>
              </p:cNvCxnSpPr>
              <p:nvPr/>
            </p:nvCxnSpPr>
            <p:spPr bwMode="auto">
              <a:xfrm>
                <a:off x="2248303" y="4484913"/>
                <a:ext cx="111094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29727" name="Double Bracket 64"/>
              <p:cNvSpPr>
                <a:spLocks noChangeArrowheads="1"/>
              </p:cNvSpPr>
              <p:nvPr/>
            </p:nvSpPr>
            <p:spPr bwMode="auto">
              <a:xfrm>
                <a:off x="2205057" y="4020465"/>
                <a:ext cx="1234831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28" name="TextBox 66"/>
              <p:cNvSpPr txBox="1">
                <a:spLocks noChangeArrowheads="1"/>
              </p:cNvSpPr>
              <p:nvPr/>
            </p:nvSpPr>
            <p:spPr bwMode="auto">
              <a:xfrm>
                <a:off x="2276386" y="4054900"/>
                <a:ext cx="1186543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 dirty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 dirty="0">
                    <a:solidFill>
                      <a:schemeClr val="tx1"/>
                    </a:solidFill>
                  </a:rPr>
                  <a:t>01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 dirty="0">
                    <a:solidFill>
                      <a:schemeClr val="tx1"/>
                    </a:solidFill>
                  </a:rPr>
                  <a:t>01</a:t>
                </a:r>
              </a:p>
              <a:p>
                <a:r>
                  <a:rPr lang="en-US" sz="2400" b="0" dirty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 dirty="0">
                    <a:solidFill>
                      <a:schemeClr val="tx1"/>
                    </a:solidFill>
                  </a:rPr>
                  <a:t>11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 dirty="0">
                    <a:solidFill>
                      <a:schemeClr val="tx1"/>
                    </a:solidFill>
                  </a:rPr>
                  <a:t>11</a:t>
                </a:r>
              </a:p>
            </p:txBody>
          </p:sp>
        </p:grpSp>
        <p:grpSp>
          <p:nvGrpSpPr>
            <p:cNvPr id="16" name="Group 69"/>
            <p:cNvGrpSpPr>
              <a:grpSpLocks/>
            </p:cNvGrpSpPr>
            <p:nvPr/>
          </p:nvGrpSpPr>
          <p:grpSpPr bwMode="auto">
            <a:xfrm>
              <a:off x="5064103" y="3404134"/>
              <a:ext cx="1234831" cy="921436"/>
              <a:chOff x="2205057" y="4013429"/>
              <a:chExt cx="1234831" cy="921436"/>
            </a:xfrm>
          </p:grpSpPr>
          <p:cxnSp>
            <p:nvCxnSpPr>
              <p:cNvPr id="29723" name="Straight Connector 70"/>
              <p:cNvCxnSpPr>
                <a:cxnSpLocks noChangeShapeType="1"/>
              </p:cNvCxnSpPr>
              <p:nvPr/>
            </p:nvCxnSpPr>
            <p:spPr bwMode="auto">
              <a:xfrm>
                <a:off x="2248303" y="4484913"/>
                <a:ext cx="1110949" cy="0"/>
              </a:xfrm>
              <a:prstGeom prst="line">
                <a:avLst/>
              </a:prstGeom>
              <a:noFill/>
              <a:ln w="12700" algn="ctr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29724" name="Double Bracket 71"/>
              <p:cNvSpPr>
                <a:spLocks noChangeArrowheads="1"/>
              </p:cNvSpPr>
              <p:nvPr/>
            </p:nvSpPr>
            <p:spPr bwMode="auto">
              <a:xfrm>
                <a:off x="2205057" y="4020465"/>
                <a:ext cx="1234831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25" name="TextBox 72"/>
              <p:cNvSpPr txBox="1">
                <a:spLocks noChangeArrowheads="1"/>
              </p:cNvSpPr>
              <p:nvPr/>
            </p:nvSpPr>
            <p:spPr bwMode="auto">
              <a:xfrm>
                <a:off x="2346839" y="4013429"/>
                <a:ext cx="1013571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 dirty="0">
                    <a:solidFill>
                      <a:srgbClr val="C00000"/>
                    </a:solidFill>
                  </a:rPr>
                  <a:t>Q</a:t>
                </a:r>
                <a:r>
                  <a:rPr lang="en-US" sz="2400" b="0" baseline="-25000" dirty="0">
                    <a:solidFill>
                      <a:srgbClr val="C00000"/>
                    </a:solidFill>
                  </a:rPr>
                  <a:t>01</a:t>
                </a:r>
              </a:p>
              <a:p>
                <a:r>
                  <a:rPr lang="en-US" sz="2400" b="0" dirty="0">
                    <a:solidFill>
                      <a:schemeClr val="tx1"/>
                    </a:solidFill>
                  </a:rPr>
                  <a:t>      </a:t>
                </a:r>
                <a:r>
                  <a:rPr lang="en-US" sz="2400" b="0" dirty="0">
                    <a:solidFill>
                      <a:srgbClr val="C00000"/>
                    </a:solidFill>
                  </a:rPr>
                  <a:t>Q</a:t>
                </a:r>
                <a:r>
                  <a:rPr lang="en-US" sz="2400" b="0" baseline="-25000" dirty="0">
                    <a:solidFill>
                      <a:srgbClr val="C00000"/>
                    </a:solidFill>
                  </a:rPr>
                  <a:t>11</a:t>
                </a:r>
              </a:p>
            </p:txBody>
          </p:sp>
        </p:grpSp>
        <p:sp>
          <p:nvSpPr>
            <p:cNvPr id="29716" name="TextBox 73"/>
            <p:cNvSpPr txBox="1">
              <a:spLocks noChangeArrowheads="1"/>
            </p:cNvSpPr>
            <p:nvPr/>
          </p:nvSpPr>
          <p:spPr bwMode="auto">
            <a:xfrm flipH="1">
              <a:off x="4645367" y="3702757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17" name="TextBox 74"/>
            <p:cNvSpPr txBox="1">
              <a:spLocks noChangeArrowheads="1"/>
            </p:cNvSpPr>
            <p:nvPr/>
          </p:nvSpPr>
          <p:spPr bwMode="auto">
            <a:xfrm>
              <a:off x="6309642" y="3630187"/>
              <a:ext cx="25519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grpSp>
          <p:nvGrpSpPr>
            <p:cNvPr id="17" name="Group 94"/>
            <p:cNvGrpSpPr>
              <a:grpSpLocks/>
            </p:cNvGrpSpPr>
            <p:nvPr/>
          </p:nvGrpSpPr>
          <p:grpSpPr bwMode="auto">
            <a:xfrm>
              <a:off x="6564840" y="3411595"/>
              <a:ext cx="696173" cy="914400"/>
              <a:chOff x="3625840" y="5421032"/>
              <a:chExt cx="696173" cy="914400"/>
            </a:xfrm>
          </p:grpSpPr>
          <p:sp>
            <p:nvSpPr>
              <p:cNvPr id="29719" name="Double Bracket 78"/>
              <p:cNvSpPr>
                <a:spLocks noChangeArrowheads="1"/>
              </p:cNvSpPr>
              <p:nvPr/>
            </p:nvSpPr>
            <p:spPr bwMode="auto">
              <a:xfrm>
                <a:off x="3625840" y="5421032"/>
                <a:ext cx="696173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grpSp>
            <p:nvGrpSpPr>
              <p:cNvPr id="18" name="Group 93"/>
              <p:cNvGrpSpPr>
                <a:grpSpLocks/>
              </p:cNvGrpSpPr>
              <p:nvPr/>
            </p:nvGrpSpPr>
            <p:grpSpPr bwMode="auto">
              <a:xfrm>
                <a:off x="3658086" y="5451901"/>
                <a:ext cx="663927" cy="830997"/>
                <a:chOff x="5692599" y="5421032"/>
                <a:chExt cx="663927" cy="830997"/>
              </a:xfrm>
            </p:grpSpPr>
            <p:sp>
              <p:nvSpPr>
                <p:cNvPr id="29721" name="TextBox 91"/>
                <p:cNvSpPr txBox="1">
                  <a:spLocks noChangeArrowheads="1"/>
                </p:cNvSpPr>
                <p:nvPr/>
              </p:nvSpPr>
              <p:spPr bwMode="auto">
                <a:xfrm>
                  <a:off x="5721416" y="5421032"/>
                  <a:ext cx="635110" cy="83099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01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cxnSp>
              <p:nvCxnSpPr>
                <p:cNvPr id="29722" name="Straight Connector 92"/>
                <p:cNvCxnSpPr>
                  <a:cxnSpLocks noChangeShapeType="1"/>
                </p:cNvCxnSpPr>
                <p:nvPr/>
              </p:nvCxnSpPr>
              <p:spPr bwMode="auto">
                <a:xfrm>
                  <a:off x="5692599" y="5848350"/>
                  <a:ext cx="635352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</p:grpSp>
      <p:grpSp>
        <p:nvGrpSpPr>
          <p:cNvPr id="19" name="Group 105"/>
          <p:cNvGrpSpPr>
            <a:grpSpLocks/>
          </p:cNvGrpSpPr>
          <p:nvPr/>
        </p:nvGrpSpPr>
        <p:grpSpPr bwMode="auto">
          <a:xfrm>
            <a:off x="3405188" y="4876800"/>
            <a:ext cx="2333187" cy="914400"/>
            <a:chOff x="2600831" y="5245576"/>
            <a:chExt cx="2332646" cy="914400"/>
          </a:xfrm>
        </p:grpSpPr>
        <p:grpSp>
          <p:nvGrpSpPr>
            <p:cNvPr id="20" name="Group 96"/>
            <p:cNvGrpSpPr>
              <a:grpSpLocks/>
            </p:cNvGrpSpPr>
            <p:nvPr/>
          </p:nvGrpSpPr>
          <p:grpSpPr bwMode="auto">
            <a:xfrm>
              <a:off x="2600831" y="5245576"/>
              <a:ext cx="696173" cy="914400"/>
              <a:chOff x="3625840" y="5421032"/>
              <a:chExt cx="696173" cy="914400"/>
            </a:xfrm>
          </p:grpSpPr>
          <p:sp>
            <p:nvSpPr>
              <p:cNvPr id="29707" name="Double Bracket 97"/>
              <p:cNvSpPr>
                <a:spLocks noChangeArrowheads="1"/>
              </p:cNvSpPr>
              <p:nvPr/>
            </p:nvSpPr>
            <p:spPr bwMode="auto">
              <a:xfrm>
                <a:off x="3625840" y="5421032"/>
                <a:ext cx="696173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grpSp>
            <p:nvGrpSpPr>
              <p:cNvPr id="21" name="Group 93"/>
              <p:cNvGrpSpPr>
                <a:grpSpLocks/>
              </p:cNvGrpSpPr>
              <p:nvPr/>
            </p:nvGrpSpPr>
            <p:grpSpPr bwMode="auto">
              <a:xfrm>
                <a:off x="3658086" y="5451901"/>
                <a:ext cx="663927" cy="830997"/>
                <a:chOff x="5692599" y="5421032"/>
                <a:chExt cx="663927" cy="830997"/>
              </a:xfrm>
            </p:grpSpPr>
            <p:sp>
              <p:nvSpPr>
                <p:cNvPr id="29709" name="TextBox 99"/>
                <p:cNvSpPr txBox="1">
                  <a:spLocks noChangeArrowheads="1"/>
                </p:cNvSpPr>
                <p:nvPr/>
              </p:nvSpPr>
              <p:spPr bwMode="auto">
                <a:xfrm>
                  <a:off x="5721416" y="5421032"/>
                  <a:ext cx="635110" cy="83099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01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cxnSp>
              <p:nvCxnSpPr>
                <p:cNvPr id="29710" name="Straight Connector 100"/>
                <p:cNvCxnSpPr>
                  <a:cxnSpLocks noChangeShapeType="1"/>
                </p:cNvCxnSpPr>
                <p:nvPr/>
              </p:nvCxnSpPr>
              <p:spPr bwMode="auto">
                <a:xfrm>
                  <a:off x="5692599" y="5848350"/>
                  <a:ext cx="635352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  <p:sp>
          <p:nvSpPr>
            <p:cNvPr id="29704" name="TextBox 101"/>
            <p:cNvSpPr txBox="1">
              <a:spLocks noChangeArrowheads="1"/>
            </p:cNvSpPr>
            <p:nvPr/>
          </p:nvSpPr>
          <p:spPr bwMode="auto">
            <a:xfrm flipH="1">
              <a:off x="3355382" y="5518222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05" name="Double Bracket 102"/>
            <p:cNvSpPr>
              <a:spLocks noChangeArrowheads="1"/>
            </p:cNvSpPr>
            <p:nvPr/>
          </p:nvSpPr>
          <p:spPr bwMode="auto">
            <a:xfrm>
              <a:off x="3771396" y="5468380"/>
              <a:ext cx="1162081" cy="449952"/>
            </a:xfrm>
            <a:prstGeom prst="bracketPair">
              <a:avLst>
                <a:gd name="adj" fmla="val 16667"/>
              </a:avLst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9706" name="TextBox 104"/>
            <p:cNvSpPr txBox="1">
              <a:spLocks noChangeArrowheads="1"/>
            </p:cNvSpPr>
            <p:nvPr/>
          </p:nvSpPr>
          <p:spPr bwMode="auto">
            <a:xfrm>
              <a:off x="3794986" y="5466075"/>
              <a:ext cx="104363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0" dirty="0">
                  <a:solidFill>
                    <a:srgbClr val="C00000"/>
                  </a:solidFill>
                </a:rPr>
                <a:t>Q</a:t>
              </a:r>
              <a:r>
                <a:rPr lang="en-US" sz="2400" b="0" baseline="-25000" dirty="0">
                  <a:solidFill>
                    <a:srgbClr val="C00000"/>
                  </a:solidFill>
                </a:rPr>
                <a:t>02</a:t>
              </a:r>
              <a:r>
                <a:rPr lang="en-US" sz="2400" b="0" dirty="0">
                  <a:solidFill>
                    <a:srgbClr val="C00000"/>
                  </a:solidFill>
                </a:rPr>
                <a:t> R</a:t>
              </a:r>
              <a:r>
                <a:rPr lang="en-US" sz="2400" b="0" baseline="-25000" dirty="0">
                  <a:solidFill>
                    <a:srgbClr val="C00000"/>
                  </a:solidFill>
                </a:rPr>
                <a:t>02</a:t>
              </a:r>
            </a:p>
          </p:txBody>
        </p:sp>
      </p:grpSp>
      <p:cxnSp>
        <p:nvCxnSpPr>
          <p:cNvPr id="70" name="Straight Connector 69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979756" y="5867400"/>
            <a:ext cx="7326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Output =  {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00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10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20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30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01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11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02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baseline="-25000" dirty="0" smtClean="0">
                <a:solidFill>
                  <a:srgbClr val="C00000"/>
                </a:solidFill>
              </a:rPr>
              <a:t>02</a:t>
            </a:r>
            <a:r>
              <a:rPr lang="en-US" sz="2800" dirty="0" smtClean="0"/>
              <a:t> }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686800" cy="563562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dirty="0" smtClean="0"/>
              <a:t>TSQR: An Architecture-Dependent Algorithm</a:t>
            </a:r>
          </a:p>
        </p:txBody>
      </p:sp>
      <p:grpSp>
        <p:nvGrpSpPr>
          <p:cNvPr id="2" name="Group 146"/>
          <p:cNvGrpSpPr>
            <a:grpSpLocks/>
          </p:cNvGrpSpPr>
          <p:nvPr/>
        </p:nvGrpSpPr>
        <p:grpSpPr bwMode="auto">
          <a:xfrm>
            <a:off x="381000" y="981075"/>
            <a:ext cx="6115050" cy="1331913"/>
            <a:chOff x="381000" y="1383430"/>
            <a:chExt cx="6115461" cy="1331377"/>
          </a:xfrm>
        </p:grpSpPr>
        <p:sp>
          <p:nvSpPr>
            <p:cNvPr id="30779" name="Text Box 11"/>
            <p:cNvSpPr txBox="1">
              <a:spLocks noChangeArrowheads="1"/>
            </p:cNvSpPr>
            <p:nvPr/>
          </p:nvSpPr>
          <p:spPr bwMode="auto">
            <a:xfrm>
              <a:off x="1879599" y="1800225"/>
              <a:ext cx="6858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W</a:t>
              </a:r>
              <a:r>
                <a:rPr lang="en-US">
                  <a:solidFill>
                    <a:schemeClr val="tx1"/>
                  </a:solidFill>
                  <a:latin typeface="Calibri" pitchFamily="34" charset="0"/>
                </a:rPr>
                <a:t> = </a:t>
              </a:r>
            </a:p>
          </p:txBody>
        </p:sp>
        <p:sp>
          <p:nvSpPr>
            <p:cNvPr id="30780" name="Text Box 12"/>
            <p:cNvSpPr txBox="1">
              <a:spLocks noChangeArrowheads="1"/>
            </p:cNvSpPr>
            <p:nvPr/>
          </p:nvSpPr>
          <p:spPr bwMode="auto">
            <a:xfrm>
              <a:off x="2473324" y="1391368"/>
              <a:ext cx="503664" cy="1323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W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0</a:t>
              </a:r>
            </a:p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W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1</a:t>
              </a:r>
            </a:p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W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2</a:t>
              </a:r>
            </a:p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W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3</a:t>
              </a:r>
            </a:p>
          </p:txBody>
        </p:sp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2412999" y="1495425"/>
              <a:ext cx="76200" cy="1066800"/>
              <a:chOff x="960" y="2880"/>
              <a:chExt cx="48" cy="672"/>
            </a:xfrm>
          </p:grpSpPr>
          <p:sp>
            <p:nvSpPr>
              <p:cNvPr id="30801" name="Line 14"/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02" name="Line 15"/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03" name="Line 16"/>
              <p:cNvSpPr>
                <a:spLocks noChangeShapeType="1"/>
              </p:cNvSpPr>
              <p:nvPr/>
            </p:nvSpPr>
            <p:spPr bwMode="auto">
              <a:xfrm>
                <a:off x="960" y="3552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7"/>
            <p:cNvGrpSpPr>
              <a:grpSpLocks/>
            </p:cNvGrpSpPr>
            <p:nvPr/>
          </p:nvGrpSpPr>
          <p:grpSpPr bwMode="auto">
            <a:xfrm flipH="1">
              <a:off x="2946399" y="1495425"/>
              <a:ext cx="76200" cy="1066800"/>
              <a:chOff x="960" y="2880"/>
              <a:chExt cx="48" cy="672"/>
            </a:xfrm>
          </p:grpSpPr>
          <p:sp>
            <p:nvSpPr>
              <p:cNvPr id="30798" name="Line 18"/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99" name="Line 19"/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00" name="Line 20"/>
              <p:cNvSpPr>
                <a:spLocks noChangeShapeType="1"/>
              </p:cNvSpPr>
              <p:nvPr/>
            </p:nvSpPr>
            <p:spPr bwMode="auto">
              <a:xfrm>
                <a:off x="960" y="3552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783" name="Line 29"/>
            <p:cNvSpPr>
              <a:spLocks noChangeShapeType="1"/>
            </p:cNvSpPr>
            <p:nvPr/>
          </p:nvSpPr>
          <p:spPr bwMode="auto">
            <a:xfrm>
              <a:off x="3174999" y="1647825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4" name="Line 30"/>
            <p:cNvSpPr>
              <a:spLocks noChangeShapeType="1"/>
            </p:cNvSpPr>
            <p:nvPr/>
          </p:nvSpPr>
          <p:spPr bwMode="auto">
            <a:xfrm>
              <a:off x="3174999" y="1876425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5" name="Line 31"/>
            <p:cNvSpPr>
              <a:spLocks noChangeShapeType="1"/>
            </p:cNvSpPr>
            <p:nvPr/>
          </p:nvSpPr>
          <p:spPr bwMode="auto">
            <a:xfrm>
              <a:off x="3174999" y="2181225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6" name="Line 32"/>
            <p:cNvSpPr>
              <a:spLocks noChangeShapeType="1"/>
            </p:cNvSpPr>
            <p:nvPr/>
          </p:nvSpPr>
          <p:spPr bwMode="auto">
            <a:xfrm>
              <a:off x="3174999" y="2409825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7" name="Text Box 33"/>
            <p:cNvSpPr txBox="1">
              <a:spLocks noChangeArrowheads="1"/>
            </p:cNvSpPr>
            <p:nvPr/>
          </p:nvSpPr>
          <p:spPr bwMode="auto">
            <a:xfrm>
              <a:off x="3632199" y="1383430"/>
              <a:ext cx="502061" cy="1323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00</a:t>
              </a:r>
            </a:p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10</a:t>
              </a:r>
            </a:p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20</a:t>
              </a:r>
            </a:p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30</a:t>
              </a:r>
            </a:p>
          </p:txBody>
        </p:sp>
        <p:sp>
          <p:nvSpPr>
            <p:cNvPr id="30788" name="Line 34"/>
            <p:cNvSpPr>
              <a:spLocks noChangeShapeType="1"/>
            </p:cNvSpPr>
            <p:nvPr/>
          </p:nvSpPr>
          <p:spPr bwMode="auto">
            <a:xfrm>
              <a:off x="4318000" y="1571625"/>
              <a:ext cx="3810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9" name="Line 35"/>
            <p:cNvSpPr>
              <a:spLocks noChangeShapeType="1"/>
            </p:cNvSpPr>
            <p:nvPr/>
          </p:nvSpPr>
          <p:spPr bwMode="auto">
            <a:xfrm flipV="1">
              <a:off x="4318000" y="1724025"/>
              <a:ext cx="3810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0" name="Text Box 36"/>
            <p:cNvSpPr txBox="1">
              <a:spLocks noChangeArrowheads="1"/>
            </p:cNvSpPr>
            <p:nvPr/>
          </p:nvSpPr>
          <p:spPr bwMode="auto">
            <a:xfrm>
              <a:off x="4699000" y="1509713"/>
              <a:ext cx="50206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01</a:t>
              </a:r>
            </a:p>
          </p:txBody>
        </p:sp>
        <p:sp>
          <p:nvSpPr>
            <p:cNvPr id="30791" name="Text Box 37"/>
            <p:cNvSpPr txBox="1">
              <a:spLocks noChangeArrowheads="1"/>
            </p:cNvSpPr>
            <p:nvPr/>
          </p:nvSpPr>
          <p:spPr bwMode="auto">
            <a:xfrm>
              <a:off x="4699000" y="2105025"/>
              <a:ext cx="50206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11</a:t>
              </a:r>
            </a:p>
          </p:txBody>
        </p:sp>
        <p:sp>
          <p:nvSpPr>
            <p:cNvPr id="30792" name="Line 38"/>
            <p:cNvSpPr>
              <a:spLocks noChangeShapeType="1"/>
            </p:cNvSpPr>
            <p:nvPr/>
          </p:nvSpPr>
          <p:spPr bwMode="auto">
            <a:xfrm>
              <a:off x="4318000" y="2181225"/>
              <a:ext cx="3810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3" name="Line 39"/>
            <p:cNvSpPr>
              <a:spLocks noChangeShapeType="1"/>
            </p:cNvSpPr>
            <p:nvPr/>
          </p:nvSpPr>
          <p:spPr bwMode="auto">
            <a:xfrm flipV="1">
              <a:off x="4318000" y="2333625"/>
              <a:ext cx="3810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4" name="Line 40"/>
            <p:cNvSpPr>
              <a:spLocks noChangeShapeType="1"/>
            </p:cNvSpPr>
            <p:nvPr/>
          </p:nvSpPr>
          <p:spPr bwMode="auto">
            <a:xfrm>
              <a:off x="5232400" y="1724025"/>
              <a:ext cx="609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5" name="Line 41"/>
            <p:cNvSpPr>
              <a:spLocks noChangeShapeType="1"/>
            </p:cNvSpPr>
            <p:nvPr/>
          </p:nvSpPr>
          <p:spPr bwMode="auto">
            <a:xfrm flipV="1">
              <a:off x="5232400" y="2105025"/>
              <a:ext cx="609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6" name="Text Box 42"/>
            <p:cNvSpPr txBox="1">
              <a:spLocks noChangeArrowheads="1"/>
            </p:cNvSpPr>
            <p:nvPr/>
          </p:nvSpPr>
          <p:spPr bwMode="auto">
            <a:xfrm>
              <a:off x="5994400" y="1800225"/>
              <a:ext cx="50206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02</a:t>
              </a:r>
            </a:p>
          </p:txBody>
        </p:sp>
        <p:sp>
          <p:nvSpPr>
            <p:cNvPr id="30797" name="TextBox 86"/>
            <p:cNvSpPr txBox="1">
              <a:spLocks noChangeArrowheads="1"/>
            </p:cNvSpPr>
            <p:nvPr/>
          </p:nvSpPr>
          <p:spPr bwMode="auto">
            <a:xfrm>
              <a:off x="381000" y="1676400"/>
              <a:ext cx="149859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chemeClr val="tx1"/>
                  </a:solidFill>
                  <a:latin typeface="Calibri" pitchFamily="34" charset="0"/>
                </a:rPr>
                <a:t>Parallel:</a:t>
              </a:r>
            </a:p>
          </p:txBody>
        </p:sp>
      </p:grpSp>
      <p:grpSp>
        <p:nvGrpSpPr>
          <p:cNvPr id="5" name="Group 147"/>
          <p:cNvGrpSpPr>
            <a:grpSpLocks/>
          </p:cNvGrpSpPr>
          <p:nvPr/>
        </p:nvGrpSpPr>
        <p:grpSpPr bwMode="auto">
          <a:xfrm>
            <a:off x="228600" y="2517775"/>
            <a:ext cx="7486650" cy="1322388"/>
            <a:chOff x="228600" y="2915294"/>
            <a:chExt cx="7486837" cy="1323439"/>
          </a:xfrm>
        </p:grpSpPr>
        <p:grpSp>
          <p:nvGrpSpPr>
            <p:cNvPr id="6" name="Group 85"/>
            <p:cNvGrpSpPr>
              <a:grpSpLocks/>
            </p:cNvGrpSpPr>
            <p:nvPr/>
          </p:nvGrpSpPr>
          <p:grpSpPr bwMode="auto">
            <a:xfrm>
              <a:off x="1905000" y="2915294"/>
              <a:ext cx="5810437" cy="1323439"/>
              <a:chOff x="1447800" y="2991494"/>
              <a:chExt cx="5810437" cy="1323439"/>
            </a:xfrm>
          </p:grpSpPr>
          <p:sp>
            <p:nvSpPr>
              <p:cNvPr id="30758" name="Text Box 11"/>
              <p:cNvSpPr txBox="1">
                <a:spLocks noChangeArrowheads="1"/>
              </p:cNvSpPr>
              <p:nvPr/>
            </p:nvSpPr>
            <p:spPr bwMode="auto">
              <a:xfrm>
                <a:off x="1447800" y="3400425"/>
                <a:ext cx="6858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>
                    <a:solidFill>
                      <a:schemeClr val="tx1"/>
                    </a:solidFill>
                    <a:latin typeface="Calibri" pitchFamily="34" charset="0"/>
                  </a:rPr>
                  <a:t> = </a:t>
                </a:r>
              </a:p>
            </p:txBody>
          </p:sp>
          <p:sp>
            <p:nvSpPr>
              <p:cNvPr id="30759" name="Text Box 12"/>
              <p:cNvSpPr txBox="1">
                <a:spLocks noChangeArrowheads="1"/>
              </p:cNvSpPr>
              <p:nvPr/>
            </p:nvSpPr>
            <p:spPr bwMode="auto">
              <a:xfrm>
                <a:off x="2041525" y="2991494"/>
                <a:ext cx="503664" cy="13234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1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2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3</a:t>
                </a:r>
              </a:p>
            </p:txBody>
          </p:sp>
          <p:grpSp>
            <p:nvGrpSpPr>
              <p:cNvPr id="7" name="Group 13"/>
              <p:cNvGrpSpPr>
                <a:grpSpLocks/>
              </p:cNvGrpSpPr>
              <p:nvPr/>
            </p:nvGrpSpPr>
            <p:grpSpPr bwMode="auto">
              <a:xfrm>
                <a:off x="1981200" y="3095625"/>
                <a:ext cx="76200" cy="1066800"/>
                <a:chOff x="960" y="2880"/>
                <a:chExt cx="48" cy="672"/>
              </a:xfrm>
            </p:grpSpPr>
            <p:sp>
              <p:nvSpPr>
                <p:cNvPr id="30776" name="Line 14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7" name="Line 15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8" name="Line 16"/>
                <p:cNvSpPr>
                  <a:spLocks noChangeShapeType="1"/>
                </p:cNvSpPr>
                <p:nvPr/>
              </p:nvSpPr>
              <p:spPr bwMode="auto">
                <a:xfrm>
                  <a:off x="960" y="3552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17"/>
              <p:cNvGrpSpPr>
                <a:grpSpLocks/>
              </p:cNvGrpSpPr>
              <p:nvPr/>
            </p:nvGrpSpPr>
            <p:grpSpPr bwMode="auto">
              <a:xfrm flipH="1">
                <a:off x="2514600" y="3095625"/>
                <a:ext cx="76200" cy="1066800"/>
                <a:chOff x="960" y="2880"/>
                <a:chExt cx="48" cy="672"/>
              </a:xfrm>
            </p:grpSpPr>
            <p:sp>
              <p:nvSpPr>
                <p:cNvPr id="30773" name="Line 18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4" name="Line 19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5" name="Line 20"/>
                <p:cNvSpPr>
                  <a:spLocks noChangeShapeType="1"/>
                </p:cNvSpPr>
                <p:nvPr/>
              </p:nvSpPr>
              <p:spPr bwMode="auto">
                <a:xfrm>
                  <a:off x="960" y="3552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762" name="Line 29"/>
              <p:cNvSpPr>
                <a:spLocks noChangeShapeType="1"/>
              </p:cNvSpPr>
              <p:nvPr/>
            </p:nvSpPr>
            <p:spPr bwMode="auto">
              <a:xfrm>
                <a:off x="2743200" y="3248025"/>
                <a:ext cx="228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3" name="Text Box 36"/>
              <p:cNvSpPr txBox="1">
                <a:spLocks noChangeArrowheads="1"/>
              </p:cNvSpPr>
              <p:nvPr/>
            </p:nvSpPr>
            <p:spPr bwMode="auto">
              <a:xfrm>
                <a:off x="4267200" y="3200400"/>
                <a:ext cx="502061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01</a:t>
                </a:r>
              </a:p>
            </p:txBody>
          </p:sp>
          <p:sp>
            <p:nvSpPr>
              <p:cNvPr id="30764" name="Text Box 42"/>
              <p:cNvSpPr txBox="1">
                <a:spLocks noChangeArrowheads="1"/>
              </p:cNvSpPr>
              <p:nvPr/>
            </p:nvSpPr>
            <p:spPr bwMode="auto">
              <a:xfrm>
                <a:off x="5562601" y="3400425"/>
                <a:ext cx="502061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02</a:t>
                </a:r>
              </a:p>
            </p:txBody>
          </p:sp>
          <p:sp>
            <p:nvSpPr>
              <p:cNvPr id="30765" name="Text Box 33"/>
              <p:cNvSpPr txBox="1">
                <a:spLocks noChangeArrowheads="1"/>
              </p:cNvSpPr>
              <p:nvPr/>
            </p:nvSpPr>
            <p:spPr bwMode="auto">
              <a:xfrm>
                <a:off x="3124200" y="3048000"/>
                <a:ext cx="502061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00</a:t>
                </a:r>
              </a:p>
            </p:txBody>
          </p:sp>
          <p:cxnSp>
            <p:nvCxnSpPr>
              <p:cNvPr id="73" name="Straight Arrow Connector 72"/>
              <p:cNvCxnSpPr/>
              <p:nvPr/>
            </p:nvCxnSpPr>
            <p:spPr>
              <a:xfrm flipV="1">
                <a:off x="2743274" y="3429992"/>
                <a:ext cx="1447836" cy="7626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/>
              <p:cNvCxnSpPr>
                <a:stCxn id="30765" idx="3"/>
              </p:cNvCxnSpPr>
              <p:nvPr/>
            </p:nvCxnSpPr>
            <p:spPr>
              <a:xfrm>
                <a:off x="3625946" y="3248873"/>
                <a:ext cx="565164" cy="1048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/>
              <p:nvPr/>
            </p:nvCxnSpPr>
            <p:spPr>
              <a:xfrm>
                <a:off x="4749924" y="3463357"/>
                <a:ext cx="736618" cy="11915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/>
              <p:cNvCxnSpPr/>
              <p:nvPr/>
            </p:nvCxnSpPr>
            <p:spPr>
              <a:xfrm flipV="1">
                <a:off x="2743274" y="3658774"/>
                <a:ext cx="2743268" cy="1525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770" name="Text Box 42"/>
              <p:cNvSpPr txBox="1">
                <a:spLocks noChangeArrowheads="1"/>
              </p:cNvSpPr>
              <p:nvPr/>
            </p:nvSpPr>
            <p:spPr bwMode="auto">
              <a:xfrm>
                <a:off x="6756176" y="3581400"/>
                <a:ext cx="502061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03</a:t>
                </a:r>
              </a:p>
            </p:txBody>
          </p:sp>
          <p:cxnSp>
            <p:nvCxnSpPr>
              <p:cNvPr id="83" name="Straight Arrow Connector 82"/>
              <p:cNvCxnSpPr/>
              <p:nvPr/>
            </p:nvCxnSpPr>
            <p:spPr>
              <a:xfrm>
                <a:off x="6019956" y="3658774"/>
                <a:ext cx="736618" cy="119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/>
              <p:cNvCxnSpPr/>
              <p:nvPr/>
            </p:nvCxnSpPr>
            <p:spPr>
              <a:xfrm flipV="1">
                <a:off x="2743274" y="3887556"/>
                <a:ext cx="4038701" cy="1525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757" name="TextBox 87"/>
            <p:cNvSpPr txBox="1">
              <a:spLocks noChangeArrowheads="1"/>
            </p:cNvSpPr>
            <p:nvPr/>
          </p:nvSpPr>
          <p:spPr bwMode="auto">
            <a:xfrm>
              <a:off x="228600" y="3200400"/>
              <a:ext cx="1828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chemeClr val="tx1"/>
                  </a:solidFill>
                  <a:latin typeface="Calibri" pitchFamily="34" charset="0"/>
                </a:rPr>
                <a:t>Sequential:</a:t>
              </a:r>
            </a:p>
          </p:txBody>
        </p:sp>
      </p:grpSp>
      <p:grpSp>
        <p:nvGrpSpPr>
          <p:cNvPr id="9" name="Group 148"/>
          <p:cNvGrpSpPr>
            <a:grpSpLocks/>
          </p:cNvGrpSpPr>
          <p:nvPr/>
        </p:nvGrpSpPr>
        <p:grpSpPr bwMode="auto">
          <a:xfrm>
            <a:off x="228600" y="4049713"/>
            <a:ext cx="6978650" cy="1323975"/>
            <a:chOff x="304800" y="4515567"/>
            <a:chExt cx="6979077" cy="1323439"/>
          </a:xfrm>
        </p:grpSpPr>
        <p:grpSp>
          <p:nvGrpSpPr>
            <p:cNvPr id="10" name="Group 145"/>
            <p:cNvGrpSpPr>
              <a:grpSpLocks/>
            </p:cNvGrpSpPr>
            <p:nvPr/>
          </p:nvGrpSpPr>
          <p:grpSpPr bwMode="auto">
            <a:xfrm>
              <a:off x="1981200" y="4515567"/>
              <a:ext cx="5302677" cy="1323439"/>
              <a:chOff x="1981200" y="4515567"/>
              <a:chExt cx="5302677" cy="1323439"/>
            </a:xfrm>
          </p:grpSpPr>
          <p:sp>
            <p:nvSpPr>
              <p:cNvPr id="30730" name="Text Box 11"/>
              <p:cNvSpPr txBox="1">
                <a:spLocks noChangeArrowheads="1"/>
              </p:cNvSpPr>
              <p:nvPr/>
            </p:nvSpPr>
            <p:spPr bwMode="auto">
              <a:xfrm>
                <a:off x="1981200" y="4924425"/>
                <a:ext cx="6858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>
                    <a:solidFill>
                      <a:schemeClr val="tx1"/>
                    </a:solidFill>
                    <a:latin typeface="Calibri" pitchFamily="34" charset="0"/>
                  </a:rPr>
                  <a:t> = </a:t>
                </a:r>
              </a:p>
            </p:txBody>
          </p:sp>
          <p:sp>
            <p:nvSpPr>
              <p:cNvPr id="30731" name="Text Box 12"/>
              <p:cNvSpPr txBox="1">
                <a:spLocks noChangeArrowheads="1"/>
              </p:cNvSpPr>
              <p:nvPr/>
            </p:nvSpPr>
            <p:spPr bwMode="auto">
              <a:xfrm>
                <a:off x="2574925" y="4515567"/>
                <a:ext cx="503680" cy="13234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1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2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3</a:t>
                </a:r>
              </a:p>
            </p:txBody>
          </p:sp>
          <p:grpSp>
            <p:nvGrpSpPr>
              <p:cNvPr id="11" name="Group 13"/>
              <p:cNvGrpSpPr>
                <a:grpSpLocks/>
              </p:cNvGrpSpPr>
              <p:nvPr/>
            </p:nvGrpSpPr>
            <p:grpSpPr bwMode="auto">
              <a:xfrm>
                <a:off x="2514600" y="4619625"/>
                <a:ext cx="76200" cy="1066800"/>
                <a:chOff x="960" y="2880"/>
                <a:chExt cx="48" cy="672"/>
              </a:xfrm>
            </p:grpSpPr>
            <p:sp>
              <p:nvSpPr>
                <p:cNvPr id="30753" name="Line 14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54" name="Line 15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55" name="Line 16"/>
                <p:cNvSpPr>
                  <a:spLocks noChangeShapeType="1"/>
                </p:cNvSpPr>
                <p:nvPr/>
              </p:nvSpPr>
              <p:spPr bwMode="auto">
                <a:xfrm>
                  <a:off x="960" y="3552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7"/>
              <p:cNvGrpSpPr>
                <a:grpSpLocks/>
              </p:cNvGrpSpPr>
              <p:nvPr/>
            </p:nvGrpSpPr>
            <p:grpSpPr bwMode="auto">
              <a:xfrm flipH="1">
                <a:off x="3048000" y="4619625"/>
                <a:ext cx="76200" cy="1066800"/>
                <a:chOff x="960" y="2880"/>
                <a:chExt cx="48" cy="672"/>
              </a:xfrm>
            </p:grpSpPr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960" y="3552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734" name="Line 29"/>
              <p:cNvSpPr>
                <a:spLocks noChangeShapeType="1"/>
              </p:cNvSpPr>
              <p:nvPr/>
            </p:nvSpPr>
            <p:spPr bwMode="auto">
              <a:xfrm>
                <a:off x="3276600" y="4772025"/>
                <a:ext cx="228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5" name="Line 30"/>
              <p:cNvSpPr>
                <a:spLocks noChangeShapeType="1"/>
              </p:cNvSpPr>
              <p:nvPr/>
            </p:nvSpPr>
            <p:spPr bwMode="auto">
              <a:xfrm>
                <a:off x="3276600" y="5000625"/>
                <a:ext cx="228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6" name="Text Box 33"/>
              <p:cNvSpPr txBox="1">
                <a:spLocks noChangeArrowheads="1"/>
              </p:cNvSpPr>
              <p:nvPr/>
            </p:nvSpPr>
            <p:spPr bwMode="auto">
              <a:xfrm>
                <a:off x="3733800" y="4572000"/>
                <a:ext cx="502077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00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01</a:t>
                </a:r>
              </a:p>
            </p:txBody>
          </p:sp>
          <p:sp>
            <p:nvSpPr>
              <p:cNvPr id="30737" name="Text Box 36"/>
              <p:cNvSpPr txBox="1">
                <a:spLocks noChangeArrowheads="1"/>
              </p:cNvSpPr>
              <p:nvPr/>
            </p:nvSpPr>
            <p:spPr bwMode="auto">
              <a:xfrm>
                <a:off x="4800601" y="4736068"/>
                <a:ext cx="50207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01</a:t>
                </a:r>
              </a:p>
            </p:txBody>
          </p:sp>
          <p:sp>
            <p:nvSpPr>
              <p:cNvPr id="30738" name="Text Box 37"/>
              <p:cNvSpPr txBox="1">
                <a:spLocks noChangeArrowheads="1"/>
              </p:cNvSpPr>
              <p:nvPr/>
            </p:nvSpPr>
            <p:spPr bwMode="auto">
              <a:xfrm>
                <a:off x="4800601" y="5116512"/>
                <a:ext cx="50207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11</a:t>
                </a:r>
              </a:p>
            </p:txBody>
          </p:sp>
          <p:sp>
            <p:nvSpPr>
              <p:cNvPr id="30739" name="Text Box 42"/>
              <p:cNvSpPr txBox="1">
                <a:spLocks noChangeArrowheads="1"/>
              </p:cNvSpPr>
              <p:nvPr/>
            </p:nvSpPr>
            <p:spPr bwMode="auto">
              <a:xfrm>
                <a:off x="5867400" y="4953000"/>
                <a:ext cx="50207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02</a:t>
                </a:r>
              </a:p>
            </p:txBody>
          </p:sp>
          <p:cxnSp>
            <p:nvCxnSpPr>
              <p:cNvPr id="123" name="Straight Arrow Connector 122"/>
              <p:cNvCxnSpPr>
                <a:endCxn id="30737" idx="1"/>
              </p:cNvCxnSpPr>
              <p:nvPr/>
            </p:nvCxnSpPr>
            <p:spPr>
              <a:xfrm>
                <a:off x="4267443" y="4801201"/>
                <a:ext cx="533433" cy="1348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Arrow Connector 126"/>
              <p:cNvCxnSpPr/>
              <p:nvPr/>
            </p:nvCxnSpPr>
            <p:spPr>
              <a:xfrm flipV="1">
                <a:off x="4267443" y="5029709"/>
                <a:ext cx="533433" cy="7616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/>
              <p:cNvCxnSpPr/>
              <p:nvPr/>
            </p:nvCxnSpPr>
            <p:spPr>
              <a:xfrm>
                <a:off x="5258103" y="4953540"/>
                <a:ext cx="533433" cy="1206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Arrow Connector 134"/>
              <p:cNvCxnSpPr/>
              <p:nvPr/>
            </p:nvCxnSpPr>
            <p:spPr>
              <a:xfrm flipV="1">
                <a:off x="5258103" y="5182047"/>
                <a:ext cx="533433" cy="7616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744" name="Text Box 37"/>
              <p:cNvSpPr txBox="1">
                <a:spLocks noChangeArrowheads="1"/>
              </p:cNvSpPr>
              <p:nvPr/>
            </p:nvSpPr>
            <p:spPr bwMode="auto">
              <a:xfrm>
                <a:off x="5867400" y="5410200"/>
                <a:ext cx="50207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11</a:t>
                </a:r>
              </a:p>
            </p:txBody>
          </p:sp>
          <p:cxnSp>
            <p:nvCxnSpPr>
              <p:cNvPr id="138" name="Straight Arrow Connector 137"/>
              <p:cNvCxnSpPr/>
              <p:nvPr/>
            </p:nvCxnSpPr>
            <p:spPr>
              <a:xfrm>
                <a:off x="3276782" y="5562893"/>
                <a:ext cx="2514754" cy="15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/>
              <p:cNvCxnSpPr>
                <a:endCxn id="30738" idx="1"/>
              </p:cNvCxnSpPr>
              <p:nvPr/>
            </p:nvCxnSpPr>
            <p:spPr>
              <a:xfrm flipV="1">
                <a:off x="3276782" y="5316929"/>
                <a:ext cx="1524093" cy="1745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747" name="Text Box 42"/>
              <p:cNvSpPr txBox="1">
                <a:spLocks noChangeArrowheads="1"/>
              </p:cNvSpPr>
              <p:nvPr/>
            </p:nvSpPr>
            <p:spPr bwMode="auto">
              <a:xfrm>
                <a:off x="6781800" y="5181600"/>
                <a:ext cx="50207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03</a:t>
                </a:r>
              </a:p>
            </p:txBody>
          </p:sp>
          <p:cxnSp>
            <p:nvCxnSpPr>
              <p:cNvPr id="142" name="Straight Arrow Connector 141"/>
              <p:cNvCxnSpPr/>
              <p:nvPr/>
            </p:nvCxnSpPr>
            <p:spPr>
              <a:xfrm>
                <a:off x="6324968" y="5258216"/>
                <a:ext cx="533433" cy="1206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/>
              <p:cNvCxnSpPr/>
              <p:nvPr/>
            </p:nvCxnSpPr>
            <p:spPr>
              <a:xfrm flipV="1">
                <a:off x="6324968" y="5486724"/>
                <a:ext cx="533433" cy="7616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729" name="TextBox 143"/>
            <p:cNvSpPr txBox="1">
              <a:spLocks noChangeArrowheads="1"/>
            </p:cNvSpPr>
            <p:nvPr/>
          </p:nvSpPr>
          <p:spPr bwMode="auto">
            <a:xfrm>
              <a:off x="304800" y="4800600"/>
              <a:ext cx="1905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chemeClr val="tx1"/>
                  </a:solidFill>
                  <a:latin typeface="Calibri" pitchFamily="34" charset="0"/>
                </a:rPr>
                <a:t>Dual Core:</a:t>
              </a:r>
            </a:p>
          </p:txBody>
        </p:sp>
      </p:grpSp>
      <p:sp>
        <p:nvSpPr>
          <p:cNvPr id="145" name="TextBox 144"/>
          <p:cNvSpPr txBox="1">
            <a:spLocks noChangeArrowheads="1"/>
          </p:cNvSpPr>
          <p:nvPr/>
        </p:nvSpPr>
        <p:spPr bwMode="auto">
          <a:xfrm>
            <a:off x="1727057" y="6018213"/>
            <a:ext cx="50263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latin typeface="Calibri" pitchFamily="34" charset="0"/>
              </a:rPr>
              <a:t>Can </a:t>
            </a:r>
            <a:r>
              <a:rPr lang="en-US" sz="2400" dirty="0" smtClean="0">
                <a:latin typeface="Calibri" pitchFamily="34" charset="0"/>
              </a:rPr>
              <a:t>choose </a:t>
            </a:r>
            <a:r>
              <a:rPr lang="en-US" sz="2400" dirty="0">
                <a:latin typeface="Calibri" pitchFamily="34" charset="0"/>
              </a:rPr>
              <a:t>reduction tree dynamically</a:t>
            </a:r>
          </a:p>
        </p:txBody>
      </p:sp>
      <p:sp>
        <p:nvSpPr>
          <p:cNvPr id="150" name="TextBox 149"/>
          <p:cNvSpPr txBox="1">
            <a:spLocks noChangeArrowheads="1"/>
          </p:cNvSpPr>
          <p:nvPr/>
        </p:nvSpPr>
        <p:spPr bwMode="auto">
          <a:xfrm>
            <a:off x="685800" y="5537200"/>
            <a:ext cx="79422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Calibri" pitchFamily="34" charset="0"/>
              </a:rPr>
              <a:t>Multicore / Multisocket / Multirack / Multisite / Out-of-core:  ?</a:t>
            </a:r>
          </a:p>
        </p:txBody>
      </p:sp>
      <p:cxnSp>
        <p:nvCxnSpPr>
          <p:cNvPr id="84" name="Straight Connector 83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/>
      <p:bldP spid="15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TSQR Performance Results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621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spcBef>
                <a:spcPts val="200"/>
              </a:spcBef>
            </a:pPr>
            <a:r>
              <a:rPr lang="en-US" sz="2400" dirty="0" smtClean="0"/>
              <a:t>Parallel</a:t>
            </a:r>
          </a:p>
          <a:p>
            <a:pPr lvl="1" eaLnBrk="1" hangingPunct="1">
              <a:spcBef>
                <a:spcPts val="200"/>
              </a:spcBef>
              <a:buFont typeface="Arial" charset="0"/>
              <a:buChar char="–"/>
            </a:pPr>
            <a:r>
              <a:rPr lang="en-US" sz="1800" dirty="0" smtClean="0"/>
              <a:t>Intel </a:t>
            </a:r>
            <a:r>
              <a:rPr lang="en-US" sz="1800" dirty="0" err="1" smtClean="0"/>
              <a:t>Clovertown</a:t>
            </a:r>
            <a:endParaRPr lang="en-US" sz="1800" dirty="0" smtClean="0"/>
          </a:p>
          <a:p>
            <a:pPr lvl="2" eaLnBrk="1" hangingPunct="1">
              <a:spcBef>
                <a:spcPts val="200"/>
              </a:spcBef>
              <a:buFont typeface="Arial" charset="0"/>
              <a:buChar char="–"/>
            </a:pPr>
            <a:r>
              <a:rPr lang="en-US" sz="2000" dirty="0" smtClean="0"/>
              <a:t>Up to </a:t>
            </a:r>
            <a:r>
              <a:rPr lang="en-US" sz="2000" b="1" dirty="0" smtClean="0"/>
              <a:t>8x</a:t>
            </a:r>
            <a:r>
              <a:rPr lang="en-US" sz="2000" dirty="0" smtClean="0"/>
              <a:t> speedup (8 core, dual socket, 10M x 10)</a:t>
            </a:r>
          </a:p>
          <a:p>
            <a:pPr lvl="1" eaLnBrk="1" hangingPunct="1">
              <a:spcBef>
                <a:spcPts val="200"/>
              </a:spcBef>
              <a:buFont typeface="Arial" charset="0"/>
              <a:buChar char="–"/>
            </a:pPr>
            <a:r>
              <a:rPr lang="en-US" sz="1800" dirty="0" smtClean="0"/>
              <a:t>Pentium III cluster, Dolphin Interconnect, MPICH</a:t>
            </a:r>
          </a:p>
          <a:p>
            <a:pPr lvl="2" eaLnBrk="1" hangingPunct="1">
              <a:spcBef>
                <a:spcPts val="200"/>
              </a:spcBef>
            </a:pPr>
            <a:r>
              <a:rPr lang="en-US" sz="2000" dirty="0" smtClean="0"/>
              <a:t>Up to </a:t>
            </a:r>
            <a:r>
              <a:rPr lang="en-US" sz="2000" b="1" dirty="0" smtClean="0"/>
              <a:t>6.7x</a:t>
            </a:r>
            <a:r>
              <a:rPr lang="en-US" sz="2000" dirty="0" smtClean="0"/>
              <a:t> speedup (16 </a:t>
            </a:r>
            <a:r>
              <a:rPr lang="en-US" sz="2000" dirty="0" err="1" smtClean="0"/>
              <a:t>procs</a:t>
            </a:r>
            <a:r>
              <a:rPr lang="en-US" sz="2000" dirty="0" smtClean="0"/>
              <a:t>, 100K x 200)</a:t>
            </a:r>
          </a:p>
          <a:p>
            <a:pPr lvl="1" eaLnBrk="1" hangingPunct="1">
              <a:spcBef>
                <a:spcPts val="200"/>
              </a:spcBef>
              <a:buFont typeface="Arial" charset="0"/>
              <a:buChar char="–"/>
            </a:pPr>
            <a:r>
              <a:rPr lang="en-US" sz="1800" dirty="0" err="1" smtClean="0"/>
              <a:t>BlueGene</a:t>
            </a:r>
            <a:r>
              <a:rPr lang="en-US" sz="1800" dirty="0" smtClean="0"/>
              <a:t>/L</a:t>
            </a:r>
          </a:p>
          <a:p>
            <a:pPr lvl="2" eaLnBrk="1" hangingPunct="1">
              <a:spcBef>
                <a:spcPts val="200"/>
              </a:spcBef>
            </a:pPr>
            <a:r>
              <a:rPr lang="en-US" sz="2000" dirty="0" smtClean="0"/>
              <a:t>Up to </a:t>
            </a:r>
            <a:r>
              <a:rPr lang="en-US" sz="2000" b="1" dirty="0" smtClean="0"/>
              <a:t>4x</a:t>
            </a:r>
            <a:r>
              <a:rPr lang="en-US" sz="2000" dirty="0" smtClean="0"/>
              <a:t> speedup (32 </a:t>
            </a:r>
            <a:r>
              <a:rPr lang="en-US" sz="2000" dirty="0" err="1" smtClean="0"/>
              <a:t>procs</a:t>
            </a:r>
            <a:r>
              <a:rPr lang="en-US" sz="2000" dirty="0" smtClean="0"/>
              <a:t>, 1M x 50)</a:t>
            </a:r>
          </a:p>
          <a:p>
            <a:pPr lvl="1">
              <a:spcBef>
                <a:spcPts val="200"/>
              </a:spcBef>
              <a:defRPr/>
            </a:pPr>
            <a:r>
              <a:rPr lang="en-US" sz="1800" dirty="0" smtClean="0">
                <a:cs typeface="Arial" pitchFamily="34" charset="0"/>
              </a:rPr>
              <a:t>Tesla C 2050 / Fermi</a:t>
            </a:r>
          </a:p>
          <a:p>
            <a:pPr lvl="2">
              <a:spcBef>
                <a:spcPts val="200"/>
              </a:spcBef>
              <a:defRPr/>
            </a:pPr>
            <a:r>
              <a:rPr lang="en-US" sz="1800" dirty="0" smtClean="0">
                <a:cs typeface="Arial" pitchFamily="34" charset="0"/>
              </a:rPr>
              <a:t>Up to </a:t>
            </a:r>
            <a:r>
              <a:rPr lang="en-US" sz="1800" b="1" dirty="0" smtClean="0">
                <a:cs typeface="Arial" pitchFamily="34" charset="0"/>
              </a:rPr>
              <a:t>13x</a:t>
            </a:r>
            <a:r>
              <a:rPr lang="en-US" sz="1800" dirty="0" smtClean="0">
                <a:cs typeface="Arial" pitchFamily="34" charset="0"/>
              </a:rPr>
              <a:t> (110,592 x 100)</a:t>
            </a:r>
            <a:endParaRPr lang="en-US" sz="1800" dirty="0" smtClean="0"/>
          </a:p>
          <a:p>
            <a:pPr lvl="1" eaLnBrk="1" hangingPunct="1">
              <a:spcBef>
                <a:spcPts val="200"/>
              </a:spcBef>
            </a:pPr>
            <a:r>
              <a:rPr lang="en-US" sz="1800" dirty="0" smtClean="0"/>
              <a:t>Grid – </a:t>
            </a:r>
            <a:r>
              <a:rPr lang="en-US" sz="1800" b="1" dirty="0" smtClean="0">
                <a:solidFill>
                  <a:schemeClr val="tx1"/>
                </a:solidFill>
              </a:rPr>
              <a:t>4x</a:t>
            </a:r>
            <a:r>
              <a:rPr lang="en-US" sz="1800" dirty="0" smtClean="0">
                <a:solidFill>
                  <a:schemeClr val="tx1"/>
                </a:solidFill>
              </a:rPr>
              <a:t> on 4 cities </a:t>
            </a:r>
            <a:r>
              <a:rPr lang="en-US" sz="1800" dirty="0" smtClean="0"/>
              <a:t>(</a:t>
            </a:r>
            <a:r>
              <a:rPr lang="en-US" sz="1800" dirty="0" err="1" smtClean="0"/>
              <a:t>Dongarra</a:t>
            </a:r>
            <a:r>
              <a:rPr lang="en-US" sz="1800" dirty="0" smtClean="0"/>
              <a:t> et al)</a:t>
            </a:r>
          </a:p>
          <a:p>
            <a:pPr lvl="1">
              <a:spcBef>
                <a:spcPts val="200"/>
              </a:spcBef>
            </a:pPr>
            <a:r>
              <a:rPr lang="en-US" sz="1800" dirty="0" smtClean="0"/>
              <a:t>Cloud  </a:t>
            </a:r>
            <a:r>
              <a:rPr lang="en-US" sz="1800" dirty="0"/>
              <a:t>– </a:t>
            </a:r>
            <a:r>
              <a:rPr lang="en-US" sz="1800" b="1" dirty="0"/>
              <a:t>1.6x slower than accessing data twice </a:t>
            </a:r>
            <a:r>
              <a:rPr lang="en-US" sz="1800" dirty="0"/>
              <a:t>(</a:t>
            </a:r>
            <a:r>
              <a:rPr lang="en-US" sz="1800" dirty="0" err="1"/>
              <a:t>Gleich</a:t>
            </a:r>
            <a:r>
              <a:rPr lang="en-US" sz="1800" dirty="0"/>
              <a:t> and Benson</a:t>
            </a:r>
            <a:r>
              <a:rPr lang="en-US" sz="1800" dirty="0" smtClean="0"/>
              <a:t>)</a:t>
            </a:r>
          </a:p>
          <a:p>
            <a:pPr>
              <a:spcBef>
                <a:spcPts val="200"/>
              </a:spcBef>
            </a:pPr>
            <a:r>
              <a:rPr lang="en-US" sz="2400" dirty="0" smtClean="0"/>
              <a:t>Sequential  </a:t>
            </a:r>
          </a:p>
          <a:p>
            <a:pPr lvl="1" eaLnBrk="1" hangingPunct="1">
              <a:spcBef>
                <a:spcPts val="200"/>
              </a:spcBef>
              <a:buFont typeface="Arial" charset="0"/>
              <a:buChar char="–"/>
            </a:pPr>
            <a:r>
              <a:rPr lang="en-US" sz="1800" dirty="0" smtClean="0"/>
              <a:t>“</a:t>
            </a:r>
            <a:r>
              <a:rPr lang="en-US" sz="1800" b="1" dirty="0" smtClean="0"/>
              <a:t>Infinite speedup</a:t>
            </a:r>
            <a:r>
              <a:rPr lang="en-US" sz="1800" dirty="0" smtClean="0"/>
              <a:t>” for out-of-Core on PowerPC laptop</a:t>
            </a:r>
          </a:p>
          <a:p>
            <a:pPr lvl="2" eaLnBrk="1" hangingPunct="1">
              <a:spcBef>
                <a:spcPts val="200"/>
              </a:spcBef>
            </a:pPr>
            <a:r>
              <a:rPr lang="en-US" sz="2000" dirty="0" smtClean="0"/>
              <a:t>As little as 2x slowdown </a:t>
            </a:r>
            <a:r>
              <a:rPr lang="en-US" sz="2000" dirty="0" err="1" smtClean="0"/>
              <a:t>vs</a:t>
            </a:r>
            <a:r>
              <a:rPr lang="en-US" sz="2000" dirty="0" smtClean="0"/>
              <a:t> (predicted) infinite DRAM</a:t>
            </a:r>
          </a:p>
          <a:p>
            <a:pPr lvl="2" eaLnBrk="1" hangingPunct="1">
              <a:spcBef>
                <a:spcPts val="200"/>
              </a:spcBef>
            </a:pPr>
            <a:r>
              <a:rPr lang="en-US" sz="2000" dirty="0" smtClean="0"/>
              <a:t>LAPACK with virtual memory never finished</a:t>
            </a:r>
          </a:p>
          <a:p>
            <a:pPr>
              <a:spcBef>
                <a:spcPts val="200"/>
              </a:spcBef>
            </a:pPr>
            <a:r>
              <a:rPr lang="en-US" sz="2400" dirty="0" smtClean="0"/>
              <a:t>SVD costs about the same</a:t>
            </a:r>
          </a:p>
          <a:p>
            <a:pPr>
              <a:spcBef>
                <a:spcPts val="200"/>
              </a:spcBef>
            </a:pPr>
            <a:r>
              <a:rPr lang="en-US" sz="2400" dirty="0"/>
              <a:t>Joint work with </a:t>
            </a:r>
            <a:r>
              <a:rPr lang="en-US" sz="2400" dirty="0" err="1"/>
              <a:t>Grigori</a:t>
            </a:r>
            <a:r>
              <a:rPr lang="en-US" sz="2400" dirty="0"/>
              <a:t>, </a:t>
            </a:r>
            <a:r>
              <a:rPr lang="en-US" sz="2400" dirty="0" err="1"/>
              <a:t>Hoemmen</a:t>
            </a:r>
            <a:r>
              <a:rPr lang="en-US" sz="2400" dirty="0"/>
              <a:t>, </a:t>
            </a:r>
            <a:r>
              <a:rPr lang="en-US" sz="2400" dirty="0" err="1"/>
              <a:t>Langou</a:t>
            </a:r>
            <a:r>
              <a:rPr lang="en-US" sz="2400" dirty="0"/>
              <a:t>, Anderson, Ballard, </a:t>
            </a:r>
            <a:r>
              <a:rPr lang="en-US" sz="2400" dirty="0" err="1"/>
              <a:t>Keutzer</a:t>
            </a:r>
            <a:r>
              <a:rPr lang="en-US" sz="2400" dirty="0"/>
              <a:t>, others</a:t>
            </a:r>
          </a:p>
          <a:p>
            <a:pPr>
              <a:spcBef>
                <a:spcPts val="200"/>
              </a:spcBef>
            </a:pPr>
            <a:endParaRPr lang="en-US" sz="2400" dirty="0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10400" y="6543675"/>
            <a:ext cx="2133600" cy="238125"/>
          </a:xfrm>
        </p:spPr>
        <p:txBody>
          <a:bodyPr/>
          <a:lstStyle/>
          <a:p>
            <a:pPr>
              <a:defRPr/>
            </a:pPr>
            <a:fld id="{5111E3E4-9998-44A6-9A0A-80413781F5AA}" type="slidenum">
              <a:rPr lang="en-US" smtClean="0"/>
              <a:pPr>
                <a:defRPr/>
              </a:pPr>
              <a:t>44</a:t>
            </a:fld>
            <a:endParaRPr lang="en-US" sz="2400" dirty="0" smtClean="0"/>
          </a:p>
        </p:txBody>
      </p:sp>
      <p:sp>
        <p:nvSpPr>
          <p:cNvPr id="31749" name="TextBox 4"/>
          <p:cNvSpPr txBox="1">
            <a:spLocks noChangeArrowheads="1"/>
          </p:cNvSpPr>
          <p:nvPr/>
        </p:nvSpPr>
        <p:spPr bwMode="auto">
          <a:xfrm>
            <a:off x="304800" y="6858000"/>
            <a:ext cx="8153400" cy="64611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i="1" dirty="0" smtClean="0"/>
              <a:t>Data from</a:t>
            </a:r>
            <a:r>
              <a:rPr lang="en-US" sz="1800" i="1" dirty="0" smtClean="0"/>
              <a:t> Grey </a:t>
            </a:r>
            <a:r>
              <a:rPr lang="en-US" sz="1800" i="1" dirty="0"/>
              <a:t>Ballard, Mark </a:t>
            </a:r>
            <a:r>
              <a:rPr lang="en-US" sz="1800" i="1" dirty="0" err="1"/>
              <a:t>Hoemmen</a:t>
            </a:r>
            <a:r>
              <a:rPr lang="en-US" sz="1800" i="1" dirty="0"/>
              <a:t>, Laura </a:t>
            </a:r>
            <a:r>
              <a:rPr lang="en-US" sz="1800" i="1" dirty="0" err="1"/>
              <a:t>Grigori</a:t>
            </a:r>
            <a:r>
              <a:rPr lang="en-US" sz="1800" i="1" dirty="0"/>
              <a:t>, </a:t>
            </a:r>
            <a:r>
              <a:rPr lang="en-US" sz="1800" i="1" dirty="0" err="1"/>
              <a:t>Julien</a:t>
            </a:r>
            <a:r>
              <a:rPr lang="en-US" sz="1800" i="1" dirty="0"/>
              <a:t> </a:t>
            </a:r>
            <a:r>
              <a:rPr lang="en-US" sz="1800" i="1" dirty="0" err="1"/>
              <a:t>Langou</a:t>
            </a:r>
            <a:r>
              <a:rPr lang="en-US" sz="1800" i="1" dirty="0"/>
              <a:t>, Jack </a:t>
            </a:r>
            <a:r>
              <a:rPr lang="en-US" sz="1800" i="1" dirty="0" err="1"/>
              <a:t>Dongarra</a:t>
            </a:r>
            <a:r>
              <a:rPr lang="en-US" sz="1800" i="1" dirty="0"/>
              <a:t>, Michael Anderson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304800" y="306388"/>
            <a:ext cx="8634412" cy="801687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Back to LU: Using similar idea for TSLU as TSQR:</a:t>
            </a:r>
            <a:br>
              <a:rPr lang="en-US" sz="3200" dirty="0" smtClean="0"/>
            </a:br>
            <a:r>
              <a:rPr lang="en-US" sz="3200" dirty="0" smtClean="0"/>
              <a:t> Use reduction tree, to do “Tournament Pivoting”</a:t>
            </a:r>
          </a:p>
        </p:txBody>
      </p:sp>
      <p:sp>
        <p:nvSpPr>
          <p:cNvPr id="5120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F9F8EA7A-4631-44A3-8F13-4ED6AC85D0AC}" type="slidenum">
              <a:rPr lang="en-US" sz="1400" b="0" smtClean="0">
                <a:latin typeface="Times New Roman" pitchFamily="18" charset="0"/>
              </a:rPr>
              <a:pPr/>
              <a:t>45</a:t>
            </a:fld>
            <a:endParaRPr lang="en-US" sz="1400" b="0" smtClean="0">
              <a:latin typeface="Times New Roman" pitchFamily="18" charset="0"/>
            </a:endParaRPr>
          </a:p>
        </p:txBody>
      </p:sp>
      <p:grpSp>
        <p:nvGrpSpPr>
          <p:cNvPr id="51205" name="Group 41"/>
          <p:cNvGrpSpPr>
            <a:grpSpLocks/>
          </p:cNvGrpSpPr>
          <p:nvPr/>
        </p:nvGrpSpPr>
        <p:grpSpPr bwMode="auto">
          <a:xfrm>
            <a:off x="736289" y="1378403"/>
            <a:ext cx="8338740" cy="1422854"/>
            <a:chOff x="736289" y="1274164"/>
            <a:chExt cx="8338827" cy="1200330"/>
          </a:xfrm>
        </p:grpSpPr>
        <p:sp>
          <p:nvSpPr>
            <p:cNvPr id="51224" name="TextBox 5"/>
            <p:cNvSpPr txBox="1">
              <a:spLocks noChangeArrowheads="1"/>
            </p:cNvSpPr>
            <p:nvPr/>
          </p:nvSpPr>
          <p:spPr bwMode="auto">
            <a:xfrm>
              <a:off x="736289" y="1693889"/>
              <a:ext cx="875569" cy="311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sz="1800" b="0"/>
                <a:t>W</a:t>
              </a:r>
              <a:r>
                <a:rPr lang="en-US" sz="2000" b="0" baseline="30000"/>
                <a:t>nxb</a:t>
              </a:r>
              <a:r>
                <a:rPr lang="en-US" sz="1800" b="0"/>
                <a:t> =</a:t>
              </a:r>
            </a:p>
          </p:txBody>
        </p:sp>
        <p:grpSp>
          <p:nvGrpSpPr>
            <p:cNvPr id="51225" name="Group 8"/>
            <p:cNvGrpSpPr>
              <a:grpSpLocks/>
            </p:cNvGrpSpPr>
            <p:nvPr/>
          </p:nvGrpSpPr>
          <p:grpSpPr bwMode="auto">
            <a:xfrm>
              <a:off x="1825671" y="1274164"/>
              <a:ext cx="583644" cy="1200329"/>
              <a:chOff x="2113614" y="1274163"/>
              <a:chExt cx="583644" cy="1200329"/>
            </a:xfrm>
          </p:grpSpPr>
          <p:sp>
            <p:nvSpPr>
              <p:cNvPr id="51237" name="TextBox 6"/>
              <p:cNvSpPr txBox="1">
                <a:spLocks noChangeArrowheads="1"/>
              </p:cNvSpPr>
              <p:nvPr/>
            </p:nvSpPr>
            <p:spPr bwMode="auto">
              <a:xfrm>
                <a:off x="2175414" y="1274164"/>
                <a:ext cx="521844" cy="1116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2000" b="0" dirty="0"/>
                  <a:t>W</a:t>
                </a:r>
                <a:r>
                  <a:rPr lang="en-US" sz="2000" b="0" baseline="-25000" dirty="0"/>
                  <a:t>1</a:t>
                </a:r>
              </a:p>
              <a:p>
                <a:r>
                  <a:rPr lang="en-US" sz="2000" b="0" dirty="0"/>
                  <a:t>W</a:t>
                </a:r>
                <a:r>
                  <a:rPr lang="en-US" sz="2000" b="0" baseline="-25000" dirty="0"/>
                  <a:t>2</a:t>
                </a:r>
              </a:p>
              <a:p>
                <a:r>
                  <a:rPr lang="en-US" sz="2000" b="0" dirty="0"/>
                  <a:t>W</a:t>
                </a:r>
                <a:r>
                  <a:rPr lang="en-US" sz="2000" b="0" baseline="-25000" dirty="0"/>
                  <a:t>3</a:t>
                </a:r>
              </a:p>
              <a:p>
                <a:r>
                  <a:rPr lang="en-US" sz="2000" b="0" dirty="0"/>
                  <a:t>W</a:t>
                </a:r>
                <a:r>
                  <a:rPr lang="en-US" sz="2000" b="0" baseline="-25000" dirty="0"/>
                  <a:t>4</a:t>
                </a:r>
              </a:p>
            </p:txBody>
          </p:sp>
          <p:sp>
            <p:nvSpPr>
              <p:cNvPr id="51238" name="Double Bracket 7"/>
              <p:cNvSpPr>
                <a:spLocks noChangeArrowheads="1"/>
              </p:cNvSpPr>
              <p:nvPr/>
            </p:nvSpPr>
            <p:spPr bwMode="auto">
              <a:xfrm>
                <a:off x="2113614" y="1274163"/>
                <a:ext cx="575885" cy="1200329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it-IT" sz="1800"/>
              </a:p>
            </p:txBody>
          </p:sp>
        </p:grpSp>
        <p:grpSp>
          <p:nvGrpSpPr>
            <p:cNvPr id="51226" name="Group 14"/>
            <p:cNvGrpSpPr>
              <a:grpSpLocks/>
            </p:cNvGrpSpPr>
            <p:nvPr/>
          </p:nvGrpSpPr>
          <p:grpSpPr bwMode="auto">
            <a:xfrm>
              <a:off x="3124200" y="1274164"/>
              <a:ext cx="1282910" cy="1200330"/>
              <a:chOff x="3124200" y="1274164"/>
              <a:chExt cx="1282910" cy="1200330"/>
            </a:xfrm>
          </p:grpSpPr>
          <p:sp>
            <p:nvSpPr>
              <p:cNvPr id="51235" name="TextBox 11"/>
              <p:cNvSpPr txBox="1">
                <a:spLocks noChangeArrowheads="1"/>
              </p:cNvSpPr>
              <p:nvPr/>
            </p:nvSpPr>
            <p:spPr bwMode="auto">
              <a:xfrm>
                <a:off x="3124200" y="1274164"/>
                <a:ext cx="1282910" cy="1116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2000" b="0" dirty="0"/>
                  <a:t>P</a:t>
                </a:r>
                <a:r>
                  <a:rPr lang="en-US" sz="2000" b="0" baseline="-25000" dirty="0"/>
                  <a:t>1</a:t>
                </a:r>
                <a:r>
                  <a:rPr lang="en-US" sz="2000" b="0" dirty="0"/>
                  <a:t>·L</a:t>
                </a:r>
                <a:r>
                  <a:rPr lang="en-US" sz="2000" b="0" baseline="-25000" dirty="0"/>
                  <a:t>1</a:t>
                </a:r>
                <a:r>
                  <a:rPr lang="en-US" sz="2000" b="0" dirty="0"/>
                  <a:t>·U</a:t>
                </a:r>
                <a:r>
                  <a:rPr lang="en-US" sz="2000" b="0" baseline="-25000" dirty="0"/>
                  <a:t>1</a:t>
                </a:r>
              </a:p>
              <a:p>
                <a:r>
                  <a:rPr lang="en-US" sz="2000" b="0" dirty="0"/>
                  <a:t>P</a:t>
                </a:r>
                <a:r>
                  <a:rPr lang="en-US" sz="2000" b="0" baseline="-25000" dirty="0"/>
                  <a:t>2</a:t>
                </a:r>
                <a:r>
                  <a:rPr lang="en-US" sz="2000" b="0" dirty="0"/>
                  <a:t>·L</a:t>
                </a:r>
                <a:r>
                  <a:rPr lang="en-US" sz="2000" b="0" baseline="-25000" dirty="0"/>
                  <a:t>2</a:t>
                </a:r>
                <a:r>
                  <a:rPr lang="en-US" sz="2000" b="0" dirty="0"/>
                  <a:t>·U</a:t>
                </a:r>
                <a:r>
                  <a:rPr lang="en-US" sz="2000" b="0" baseline="-25000" dirty="0"/>
                  <a:t>2</a:t>
                </a:r>
              </a:p>
              <a:p>
                <a:r>
                  <a:rPr lang="en-US" sz="2000" b="0" dirty="0"/>
                  <a:t>P</a:t>
                </a:r>
                <a:r>
                  <a:rPr lang="en-US" sz="2000" b="0" baseline="-25000" dirty="0"/>
                  <a:t>3</a:t>
                </a:r>
                <a:r>
                  <a:rPr lang="en-US" sz="2000" b="0" dirty="0"/>
                  <a:t>·L</a:t>
                </a:r>
                <a:r>
                  <a:rPr lang="en-US" sz="2000" b="0" baseline="-25000" dirty="0"/>
                  <a:t>3</a:t>
                </a:r>
                <a:r>
                  <a:rPr lang="en-US" sz="2000" b="0" dirty="0"/>
                  <a:t>·U</a:t>
                </a:r>
                <a:r>
                  <a:rPr lang="en-US" sz="2000" b="0" baseline="-25000" dirty="0"/>
                  <a:t>3</a:t>
                </a:r>
              </a:p>
              <a:p>
                <a:r>
                  <a:rPr lang="en-US" sz="2000" b="0" dirty="0"/>
                  <a:t>P</a:t>
                </a:r>
                <a:r>
                  <a:rPr lang="en-US" sz="2000" b="0" baseline="-25000" dirty="0"/>
                  <a:t>4</a:t>
                </a:r>
                <a:r>
                  <a:rPr lang="en-US" sz="2000" b="0" dirty="0"/>
                  <a:t>·L</a:t>
                </a:r>
                <a:r>
                  <a:rPr lang="en-US" sz="2000" b="0" baseline="-25000" dirty="0"/>
                  <a:t>4</a:t>
                </a:r>
                <a:r>
                  <a:rPr lang="en-US" sz="2000" b="0" dirty="0"/>
                  <a:t>·U</a:t>
                </a:r>
                <a:r>
                  <a:rPr lang="en-US" sz="2000" b="0" baseline="-25000" dirty="0"/>
                  <a:t>4</a:t>
                </a:r>
              </a:p>
            </p:txBody>
          </p:sp>
          <p:sp>
            <p:nvSpPr>
              <p:cNvPr id="51236" name="Double Bracket 12"/>
              <p:cNvSpPr>
                <a:spLocks noChangeArrowheads="1"/>
              </p:cNvSpPr>
              <p:nvPr/>
            </p:nvSpPr>
            <p:spPr bwMode="auto">
              <a:xfrm>
                <a:off x="3124200" y="1274165"/>
                <a:ext cx="1147997" cy="1200329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it-IT" sz="1800"/>
              </a:p>
            </p:txBody>
          </p:sp>
        </p:grpSp>
        <p:sp>
          <p:nvSpPr>
            <p:cNvPr id="51227" name="TextBox 13"/>
            <p:cNvSpPr txBox="1">
              <a:spLocks noChangeArrowheads="1"/>
            </p:cNvSpPr>
            <p:nvPr/>
          </p:nvSpPr>
          <p:spPr bwMode="auto">
            <a:xfrm>
              <a:off x="2607771" y="1724667"/>
              <a:ext cx="304894" cy="285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sz="1600" b="0"/>
                <a:t>=</a:t>
              </a:r>
            </a:p>
          </p:txBody>
        </p:sp>
        <p:sp>
          <p:nvSpPr>
            <p:cNvPr id="51228" name="TextBox 15"/>
            <p:cNvSpPr txBox="1">
              <a:spLocks noChangeArrowheads="1"/>
            </p:cNvSpPr>
            <p:nvPr/>
          </p:nvSpPr>
          <p:spPr bwMode="auto">
            <a:xfrm>
              <a:off x="4712579" y="1355335"/>
              <a:ext cx="4362537" cy="1012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sz="1800" b="0" dirty="0"/>
                <a:t>Choose b pivot rows of W</a:t>
              </a:r>
              <a:r>
                <a:rPr lang="en-US" sz="1800" b="0" baseline="-25000" dirty="0"/>
                <a:t>1</a:t>
              </a:r>
              <a:r>
                <a:rPr lang="en-US" sz="1800" b="0" dirty="0"/>
                <a:t>, call them W</a:t>
              </a:r>
              <a:r>
                <a:rPr lang="en-US" sz="1800" b="0" baseline="-25000" dirty="0"/>
                <a:t>1</a:t>
              </a:r>
              <a:r>
                <a:rPr lang="en-US" sz="1800" b="0" dirty="0"/>
                <a:t>’</a:t>
              </a:r>
            </a:p>
            <a:p>
              <a:r>
                <a:rPr lang="en-US" sz="1800" b="0" dirty="0"/>
                <a:t>Choose b pivot rows of W</a:t>
              </a:r>
              <a:r>
                <a:rPr lang="en-US" sz="1800" b="0" baseline="-25000" dirty="0"/>
                <a:t>2</a:t>
              </a:r>
              <a:r>
                <a:rPr lang="en-US" sz="1800" b="0" dirty="0"/>
                <a:t>, call them W</a:t>
              </a:r>
              <a:r>
                <a:rPr lang="en-US" sz="1800" b="0" baseline="-25000" dirty="0"/>
                <a:t>2</a:t>
              </a:r>
              <a:r>
                <a:rPr lang="en-US" sz="1800" b="0" dirty="0"/>
                <a:t>’</a:t>
              </a:r>
            </a:p>
            <a:p>
              <a:r>
                <a:rPr lang="en-US" sz="1800" b="0" dirty="0"/>
                <a:t>Choose b pivot rows of W</a:t>
              </a:r>
              <a:r>
                <a:rPr lang="en-US" sz="1800" b="0" baseline="-25000" dirty="0"/>
                <a:t>3</a:t>
              </a:r>
              <a:r>
                <a:rPr lang="en-US" sz="1800" b="0" dirty="0"/>
                <a:t>, call them W</a:t>
              </a:r>
              <a:r>
                <a:rPr lang="en-US" sz="1800" b="0" baseline="-25000" dirty="0"/>
                <a:t>3</a:t>
              </a:r>
              <a:r>
                <a:rPr lang="en-US" sz="1800" b="0" dirty="0"/>
                <a:t>’</a:t>
              </a:r>
            </a:p>
            <a:p>
              <a:r>
                <a:rPr lang="en-US" sz="1800" b="0" dirty="0"/>
                <a:t>Choose b pivot rows of W</a:t>
              </a:r>
              <a:r>
                <a:rPr lang="en-US" sz="1800" b="0" baseline="-25000" dirty="0"/>
                <a:t>4</a:t>
              </a:r>
              <a:r>
                <a:rPr lang="en-US" sz="1800" b="0" dirty="0"/>
                <a:t>, call them W</a:t>
              </a:r>
              <a:r>
                <a:rPr lang="en-US" sz="1800" b="0" baseline="-25000" dirty="0"/>
                <a:t>4</a:t>
              </a:r>
              <a:r>
                <a:rPr lang="en-US" sz="1800" b="0" dirty="0"/>
                <a:t>’</a:t>
              </a:r>
            </a:p>
          </p:txBody>
        </p:sp>
        <p:cxnSp>
          <p:nvCxnSpPr>
            <p:cNvPr id="51229" name="Straight Connector 20"/>
            <p:cNvCxnSpPr>
              <a:cxnSpLocks noChangeShapeType="1"/>
            </p:cNvCxnSpPr>
            <p:nvPr/>
          </p:nvCxnSpPr>
          <p:spPr bwMode="auto">
            <a:xfrm>
              <a:off x="1855651" y="1588959"/>
              <a:ext cx="530915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30" name="Straight Connector 21"/>
            <p:cNvCxnSpPr>
              <a:cxnSpLocks noChangeShapeType="1"/>
            </p:cNvCxnSpPr>
            <p:nvPr/>
          </p:nvCxnSpPr>
          <p:spPr bwMode="auto">
            <a:xfrm>
              <a:off x="1843161" y="1861279"/>
              <a:ext cx="530915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31" name="Straight Connector 22"/>
            <p:cNvCxnSpPr>
              <a:cxnSpLocks noChangeShapeType="1"/>
            </p:cNvCxnSpPr>
            <p:nvPr/>
          </p:nvCxnSpPr>
          <p:spPr bwMode="auto">
            <a:xfrm>
              <a:off x="1860651" y="2148589"/>
              <a:ext cx="530915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32" name="Straight Connector 24"/>
            <p:cNvCxnSpPr>
              <a:cxnSpLocks noChangeShapeType="1"/>
            </p:cNvCxnSpPr>
            <p:nvPr/>
          </p:nvCxnSpPr>
          <p:spPr bwMode="auto">
            <a:xfrm>
              <a:off x="3124200" y="1588959"/>
              <a:ext cx="1147997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33" name="Straight Connector 25"/>
            <p:cNvCxnSpPr>
              <a:cxnSpLocks noChangeShapeType="1"/>
            </p:cNvCxnSpPr>
            <p:nvPr/>
          </p:nvCxnSpPr>
          <p:spPr bwMode="auto">
            <a:xfrm>
              <a:off x="3111710" y="1861279"/>
              <a:ext cx="1147997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34" name="Straight Connector 26"/>
            <p:cNvCxnSpPr>
              <a:cxnSpLocks noChangeShapeType="1"/>
            </p:cNvCxnSpPr>
            <p:nvPr/>
          </p:nvCxnSpPr>
          <p:spPr bwMode="auto">
            <a:xfrm>
              <a:off x="3114210" y="2133599"/>
              <a:ext cx="1147997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1806575" y="2896736"/>
            <a:ext cx="6969730" cy="1446551"/>
            <a:chOff x="1086464" y="3196352"/>
            <a:chExt cx="6969642" cy="1446768"/>
          </a:xfrm>
        </p:grpSpPr>
        <p:grpSp>
          <p:nvGrpSpPr>
            <p:cNvPr id="51214" name="Group 16"/>
            <p:cNvGrpSpPr>
              <a:grpSpLocks/>
            </p:cNvGrpSpPr>
            <p:nvPr/>
          </p:nvGrpSpPr>
          <p:grpSpPr bwMode="auto">
            <a:xfrm>
              <a:off x="1086464" y="3196352"/>
              <a:ext cx="694120" cy="1446768"/>
              <a:chOff x="2113614" y="1245131"/>
              <a:chExt cx="694120" cy="1446768"/>
            </a:xfrm>
          </p:grpSpPr>
          <p:sp>
            <p:nvSpPr>
              <p:cNvPr id="51222" name="TextBox 17"/>
              <p:cNvSpPr txBox="1">
                <a:spLocks noChangeArrowheads="1"/>
              </p:cNvSpPr>
              <p:nvPr/>
            </p:nvSpPr>
            <p:spPr bwMode="auto">
              <a:xfrm>
                <a:off x="2178624" y="1274164"/>
                <a:ext cx="569296" cy="13236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2000" b="0" dirty="0"/>
                  <a:t>W</a:t>
                </a:r>
                <a:r>
                  <a:rPr lang="en-US" sz="2000" b="0" baseline="-25000" dirty="0"/>
                  <a:t>1</a:t>
                </a:r>
                <a:r>
                  <a:rPr lang="en-US" sz="2000" b="0" dirty="0"/>
                  <a:t>’</a:t>
                </a:r>
              </a:p>
              <a:p>
                <a:r>
                  <a:rPr lang="en-US" sz="2000" b="0" dirty="0"/>
                  <a:t>W</a:t>
                </a:r>
                <a:r>
                  <a:rPr lang="en-US" sz="2000" b="0" baseline="-25000" dirty="0"/>
                  <a:t>2</a:t>
                </a:r>
                <a:r>
                  <a:rPr lang="en-US" sz="2000" b="0" dirty="0"/>
                  <a:t>’</a:t>
                </a:r>
              </a:p>
              <a:p>
                <a:r>
                  <a:rPr lang="en-US" sz="2000" b="0" dirty="0"/>
                  <a:t>W</a:t>
                </a:r>
                <a:r>
                  <a:rPr lang="en-US" sz="2000" b="0" baseline="-25000" dirty="0"/>
                  <a:t>3</a:t>
                </a:r>
                <a:r>
                  <a:rPr lang="en-US" sz="2000" b="0" dirty="0"/>
                  <a:t>’</a:t>
                </a:r>
              </a:p>
              <a:p>
                <a:r>
                  <a:rPr lang="en-US" sz="2000" b="0" dirty="0"/>
                  <a:t>W</a:t>
                </a:r>
                <a:r>
                  <a:rPr lang="en-US" sz="2000" b="0" baseline="-25000" dirty="0"/>
                  <a:t>4</a:t>
                </a:r>
                <a:r>
                  <a:rPr lang="en-US" sz="1600" b="0" dirty="0"/>
                  <a:t>’</a:t>
                </a:r>
              </a:p>
            </p:txBody>
          </p:sp>
          <p:sp>
            <p:nvSpPr>
              <p:cNvPr id="51223" name="Double Bracket 18"/>
              <p:cNvSpPr>
                <a:spLocks noChangeArrowheads="1"/>
              </p:cNvSpPr>
              <p:nvPr/>
            </p:nvSpPr>
            <p:spPr bwMode="auto">
              <a:xfrm>
                <a:off x="2113614" y="1245131"/>
                <a:ext cx="694120" cy="1446768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it-IT" sz="1800"/>
              </a:p>
            </p:txBody>
          </p:sp>
        </p:grpSp>
        <p:cxnSp>
          <p:nvCxnSpPr>
            <p:cNvPr id="51215" name="Straight Connector 27"/>
            <p:cNvCxnSpPr>
              <a:cxnSpLocks noChangeShapeType="1"/>
            </p:cNvCxnSpPr>
            <p:nvPr/>
          </p:nvCxnSpPr>
          <p:spPr bwMode="auto">
            <a:xfrm>
              <a:off x="1131434" y="3938621"/>
              <a:ext cx="530915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51216" name="Group 32"/>
            <p:cNvGrpSpPr>
              <a:grpSpLocks/>
            </p:cNvGrpSpPr>
            <p:nvPr/>
          </p:nvGrpSpPr>
          <p:grpSpPr bwMode="auto">
            <a:xfrm>
              <a:off x="2358275" y="3372792"/>
              <a:ext cx="1434236" cy="1052921"/>
              <a:chOff x="2358275" y="3822492"/>
              <a:chExt cx="1434236" cy="1052921"/>
            </a:xfrm>
          </p:grpSpPr>
          <p:sp>
            <p:nvSpPr>
              <p:cNvPr id="51219" name="TextBox 28"/>
              <p:cNvSpPr txBox="1">
                <a:spLocks noChangeArrowheads="1"/>
              </p:cNvSpPr>
              <p:nvPr/>
            </p:nvSpPr>
            <p:spPr bwMode="auto">
              <a:xfrm>
                <a:off x="2386566" y="3822492"/>
                <a:ext cx="1405945" cy="1015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2000" b="0" dirty="0"/>
                  <a:t>P</a:t>
                </a:r>
                <a:r>
                  <a:rPr lang="en-US" sz="2000" b="0" baseline="-25000" dirty="0"/>
                  <a:t>12</a:t>
                </a:r>
                <a:r>
                  <a:rPr lang="en-US" sz="2000" b="0" dirty="0"/>
                  <a:t>·L</a:t>
                </a:r>
                <a:r>
                  <a:rPr lang="en-US" sz="2000" b="0" baseline="-25000" dirty="0"/>
                  <a:t>12</a:t>
                </a:r>
                <a:r>
                  <a:rPr lang="en-US" sz="2000" b="0" dirty="0"/>
                  <a:t>·U</a:t>
                </a:r>
                <a:r>
                  <a:rPr lang="en-US" sz="2000" b="0" baseline="-25000" dirty="0"/>
                  <a:t>12</a:t>
                </a:r>
              </a:p>
              <a:p>
                <a:endParaRPr lang="en-US" sz="2000" b="0" dirty="0"/>
              </a:p>
              <a:p>
                <a:r>
                  <a:rPr lang="en-US" sz="2000" b="0" dirty="0"/>
                  <a:t>P</a:t>
                </a:r>
                <a:r>
                  <a:rPr lang="en-US" sz="2000" b="0" baseline="-25000" dirty="0"/>
                  <a:t>34</a:t>
                </a:r>
                <a:r>
                  <a:rPr lang="en-US" sz="2000" b="0" dirty="0"/>
                  <a:t>·L</a:t>
                </a:r>
                <a:r>
                  <a:rPr lang="en-US" sz="2000" b="0" baseline="-25000" dirty="0"/>
                  <a:t>34</a:t>
                </a:r>
                <a:r>
                  <a:rPr lang="en-US" sz="2000" b="0" dirty="0"/>
                  <a:t>·U</a:t>
                </a:r>
                <a:r>
                  <a:rPr lang="en-US" sz="2000" b="0" baseline="-25000" dirty="0"/>
                  <a:t>34</a:t>
                </a:r>
              </a:p>
            </p:txBody>
          </p:sp>
          <p:sp>
            <p:nvSpPr>
              <p:cNvPr id="51220" name="Double Bracket 29"/>
              <p:cNvSpPr>
                <a:spLocks noChangeArrowheads="1"/>
              </p:cNvSpPr>
              <p:nvPr/>
            </p:nvSpPr>
            <p:spPr bwMode="auto">
              <a:xfrm>
                <a:off x="2358275" y="3831422"/>
                <a:ext cx="1434236" cy="1043991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it-IT" sz="1800"/>
              </a:p>
            </p:txBody>
          </p:sp>
          <p:cxnSp>
            <p:nvCxnSpPr>
              <p:cNvPr id="51221" name="Straight Connector 31"/>
              <p:cNvCxnSpPr>
                <a:cxnSpLocks noChangeShapeType="1"/>
              </p:cNvCxnSpPr>
              <p:nvPr/>
            </p:nvCxnSpPr>
            <p:spPr bwMode="auto">
              <a:xfrm>
                <a:off x="2386566" y="4305793"/>
                <a:ext cx="1390955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217" name="TextBox 33"/>
            <p:cNvSpPr txBox="1">
              <a:spLocks noChangeArrowheads="1"/>
            </p:cNvSpPr>
            <p:nvPr/>
          </p:nvSpPr>
          <p:spPr bwMode="auto">
            <a:xfrm>
              <a:off x="1883087" y="3637826"/>
              <a:ext cx="304887" cy="338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sz="1600" b="0"/>
                <a:t>=</a:t>
              </a:r>
            </a:p>
          </p:txBody>
        </p:sp>
        <p:sp>
          <p:nvSpPr>
            <p:cNvPr id="51218" name="TextBox 34"/>
            <p:cNvSpPr txBox="1">
              <a:spLocks noChangeArrowheads="1"/>
            </p:cNvSpPr>
            <p:nvPr/>
          </p:nvSpPr>
          <p:spPr bwMode="auto">
            <a:xfrm>
              <a:off x="4232308" y="3452394"/>
              <a:ext cx="3823798" cy="92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sz="1800" b="0" dirty="0"/>
                <a:t>Choose b pivot rows, call them W</a:t>
              </a:r>
              <a:r>
                <a:rPr lang="en-US" sz="1800" b="0" baseline="-25000" dirty="0"/>
                <a:t>12</a:t>
              </a:r>
              <a:r>
                <a:rPr lang="en-US" sz="1800" b="0" dirty="0"/>
                <a:t>’</a:t>
              </a:r>
            </a:p>
            <a:p>
              <a:endParaRPr lang="en-US" sz="1800" b="0" dirty="0"/>
            </a:p>
            <a:p>
              <a:r>
                <a:rPr lang="en-US" sz="1800" b="0" dirty="0"/>
                <a:t>Choose b pivot rows, call them W</a:t>
              </a:r>
              <a:r>
                <a:rPr lang="en-US" sz="1800" b="0" baseline="-25000" dirty="0"/>
                <a:t>34</a:t>
              </a:r>
              <a:r>
                <a:rPr lang="en-US" sz="1800" b="0" dirty="0"/>
                <a:t>’</a:t>
              </a:r>
            </a:p>
          </p:txBody>
        </p:sp>
      </p:grpSp>
      <p:grpSp>
        <p:nvGrpSpPr>
          <p:cNvPr id="8" name="Group 42"/>
          <p:cNvGrpSpPr>
            <a:grpSpLocks/>
          </p:cNvGrpSpPr>
          <p:nvPr/>
        </p:nvGrpSpPr>
        <p:grpSpPr bwMode="auto">
          <a:xfrm>
            <a:off x="1766888" y="4413252"/>
            <a:ext cx="5507041" cy="826887"/>
            <a:chOff x="1767677" y="4338775"/>
            <a:chExt cx="5506750" cy="662047"/>
          </a:xfrm>
        </p:grpSpPr>
        <p:grpSp>
          <p:nvGrpSpPr>
            <p:cNvPr id="51209" name="Group 38"/>
            <p:cNvGrpSpPr>
              <a:grpSpLocks/>
            </p:cNvGrpSpPr>
            <p:nvPr/>
          </p:nvGrpSpPr>
          <p:grpSpPr bwMode="auto">
            <a:xfrm>
              <a:off x="1767677" y="4338775"/>
              <a:ext cx="664363" cy="646331"/>
              <a:chOff x="2358275" y="4661941"/>
              <a:chExt cx="664363" cy="646331"/>
            </a:xfrm>
          </p:grpSpPr>
          <p:sp>
            <p:nvSpPr>
              <p:cNvPr id="51212" name="TextBox 36"/>
              <p:cNvSpPr txBox="1">
                <a:spLocks noChangeArrowheads="1"/>
              </p:cNvSpPr>
              <p:nvPr/>
            </p:nvSpPr>
            <p:spPr bwMode="auto">
              <a:xfrm>
                <a:off x="2358275" y="4661941"/>
                <a:ext cx="664363" cy="566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n-US" sz="2000" b="0" dirty="0"/>
                  <a:t>W</a:t>
                </a:r>
                <a:r>
                  <a:rPr lang="en-US" sz="2000" b="0" baseline="-25000" dirty="0"/>
                  <a:t>12</a:t>
                </a:r>
                <a:r>
                  <a:rPr lang="en-US" sz="2000" b="0" dirty="0"/>
                  <a:t>’</a:t>
                </a:r>
              </a:p>
              <a:p>
                <a:r>
                  <a:rPr lang="en-US" sz="2000" b="0" dirty="0"/>
                  <a:t>W</a:t>
                </a:r>
                <a:r>
                  <a:rPr lang="en-US" sz="2000" b="0" baseline="-25000" dirty="0"/>
                  <a:t>34</a:t>
                </a:r>
                <a:r>
                  <a:rPr lang="en-US" sz="2000" b="0" dirty="0"/>
                  <a:t>’</a:t>
                </a:r>
              </a:p>
            </p:txBody>
          </p:sp>
          <p:sp>
            <p:nvSpPr>
              <p:cNvPr id="51213" name="Double Bracket 37"/>
              <p:cNvSpPr>
                <a:spLocks noChangeArrowheads="1"/>
              </p:cNvSpPr>
              <p:nvPr/>
            </p:nvSpPr>
            <p:spPr bwMode="auto">
              <a:xfrm>
                <a:off x="2358275" y="4661941"/>
                <a:ext cx="623889" cy="646331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51210" name="TextBox 39"/>
            <p:cNvSpPr txBox="1">
              <a:spLocks noChangeArrowheads="1"/>
            </p:cNvSpPr>
            <p:nvPr/>
          </p:nvSpPr>
          <p:spPr bwMode="auto">
            <a:xfrm>
              <a:off x="2590800" y="4458695"/>
              <a:ext cx="2450893" cy="542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sz="1800" b="0" dirty="0"/>
                <a:t>=     </a:t>
              </a:r>
              <a:r>
                <a:rPr lang="en-US" sz="2000" b="0" dirty="0"/>
                <a:t>P</a:t>
              </a:r>
              <a:r>
                <a:rPr lang="en-US" sz="2000" b="0" baseline="-25000" dirty="0"/>
                <a:t>1234</a:t>
              </a:r>
              <a:r>
                <a:rPr lang="en-US" sz="2000" b="0" dirty="0"/>
                <a:t>·L</a:t>
              </a:r>
              <a:r>
                <a:rPr lang="en-US" sz="2000" b="0" baseline="-25000" dirty="0"/>
                <a:t>1234</a:t>
              </a:r>
              <a:r>
                <a:rPr lang="en-US" sz="2000" b="0" dirty="0"/>
                <a:t>·U</a:t>
              </a:r>
              <a:r>
                <a:rPr lang="en-US" sz="2000" b="0" baseline="-25000" dirty="0"/>
                <a:t>1234</a:t>
              </a:r>
            </a:p>
            <a:p>
              <a:r>
                <a:rPr lang="en-US" sz="1800" b="0" dirty="0"/>
                <a:t> </a:t>
              </a:r>
            </a:p>
          </p:txBody>
        </p:sp>
        <p:sp>
          <p:nvSpPr>
            <p:cNvPr id="51211" name="TextBox 40"/>
            <p:cNvSpPr txBox="1">
              <a:spLocks noChangeArrowheads="1"/>
            </p:cNvSpPr>
            <p:nvPr/>
          </p:nvSpPr>
          <p:spPr bwMode="auto">
            <a:xfrm>
              <a:off x="4998526" y="4548635"/>
              <a:ext cx="2275901" cy="295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sz="1800" b="0" dirty="0"/>
                <a:t>Choose b pivot rows</a:t>
              </a:r>
            </a:p>
          </p:txBody>
        </p:sp>
      </p:grp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685800" y="5486400"/>
            <a:ext cx="7467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800" b="0" dirty="0"/>
              <a:t>Go back to W and use these b pivot rows </a:t>
            </a:r>
          </a:p>
          <a:p>
            <a:pPr marL="1028700" lvl="1">
              <a:buFont typeface="Arial"/>
              <a:buChar char="•"/>
            </a:pPr>
            <a:r>
              <a:rPr lang="en-US" sz="1800" b="0" dirty="0"/>
              <a:t>M</a:t>
            </a:r>
            <a:r>
              <a:rPr lang="en-US" sz="1800" b="0" dirty="0" smtClean="0"/>
              <a:t>ove </a:t>
            </a:r>
            <a:r>
              <a:rPr lang="en-US" sz="1800" b="0" dirty="0"/>
              <a:t>them to top, do LU without </a:t>
            </a:r>
            <a:r>
              <a:rPr lang="en-US" sz="1800" b="0" dirty="0" smtClean="0"/>
              <a:t>pivoting</a:t>
            </a:r>
          </a:p>
          <a:p>
            <a:pPr marL="1028700" lvl="1">
              <a:buFont typeface="Arial"/>
              <a:buChar char="•"/>
            </a:pPr>
            <a:r>
              <a:rPr lang="en-US" sz="1800" b="0" dirty="0" smtClean="0"/>
              <a:t>Extra work, but lower order term</a:t>
            </a:r>
            <a:endParaRPr lang="en-US" sz="1800" b="0" dirty="0"/>
          </a:p>
          <a:p>
            <a:pPr marL="285750" indent="-285750">
              <a:buFont typeface="Arial"/>
              <a:buChar char="•"/>
            </a:pPr>
            <a:r>
              <a:rPr lang="en-US" sz="1800" b="0" dirty="0" err="1" smtClean="0"/>
              <a:t>Thm</a:t>
            </a:r>
            <a:r>
              <a:rPr lang="en-US" sz="1800" b="0" dirty="0" smtClean="0"/>
              <a:t>:  As numerically stable as Partial Pivoting on a larger matrix	</a:t>
            </a:r>
          </a:p>
        </p:txBody>
      </p:sp>
    </p:spTree>
    <p:extLst>
      <p:ext uri="{BB962C8B-B14F-4D97-AF65-F5344CB8AC3E}">
        <p14:creationId xmlns:p14="http://schemas.microsoft.com/office/powerpoint/2010/main" val="36607955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Exascale</a:t>
            </a:r>
            <a:r>
              <a:rPr lang="en-US" dirty="0" smtClean="0"/>
              <a:t> Machine Parameters</a:t>
            </a:r>
            <a:br>
              <a:rPr lang="en-US" dirty="0" smtClean="0"/>
            </a:br>
            <a:r>
              <a:rPr lang="en-US" dirty="0" smtClean="0"/>
              <a:t>Source: DOE </a:t>
            </a:r>
            <a:r>
              <a:rPr lang="en-US" dirty="0" err="1" smtClean="0"/>
              <a:t>Exascale</a:t>
            </a:r>
            <a:r>
              <a:rPr lang="en-US" dirty="0" smtClean="0"/>
              <a:t> Workshop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2^20 </a:t>
            </a:r>
            <a:r>
              <a:rPr lang="en-US" dirty="0" smtClean="0">
                <a:sym typeface="Symbol"/>
              </a:rPr>
              <a:t> </a:t>
            </a:r>
            <a:r>
              <a:rPr lang="en-US" dirty="0" smtClean="0"/>
              <a:t>1,000,000 nodes</a:t>
            </a:r>
          </a:p>
          <a:p>
            <a:r>
              <a:rPr lang="en-US" dirty="0" smtClean="0"/>
              <a:t>1024 cores/node   (a billion cores!)</a:t>
            </a:r>
          </a:p>
          <a:p>
            <a:r>
              <a:rPr lang="en-US" dirty="0" smtClean="0"/>
              <a:t>100 GB/sec interconnect bandwidth</a:t>
            </a:r>
          </a:p>
          <a:p>
            <a:r>
              <a:rPr lang="en-US" dirty="0" smtClean="0"/>
              <a:t>400 GB/sec DRAM bandwidth</a:t>
            </a:r>
          </a:p>
          <a:p>
            <a:r>
              <a:rPr lang="en-US" dirty="0" smtClean="0"/>
              <a:t>1 </a:t>
            </a:r>
            <a:r>
              <a:rPr lang="en-US" dirty="0" err="1" smtClean="0"/>
              <a:t>microsec</a:t>
            </a:r>
            <a:r>
              <a:rPr lang="en-US" dirty="0" smtClean="0"/>
              <a:t> interconnect latency</a:t>
            </a:r>
          </a:p>
          <a:p>
            <a:r>
              <a:rPr lang="en-US" dirty="0" smtClean="0"/>
              <a:t>50 </a:t>
            </a:r>
            <a:r>
              <a:rPr lang="en-US" dirty="0" err="1" smtClean="0"/>
              <a:t>nanosec</a:t>
            </a:r>
            <a:r>
              <a:rPr lang="en-US" dirty="0" smtClean="0"/>
              <a:t> memory latency</a:t>
            </a:r>
          </a:p>
          <a:p>
            <a:r>
              <a:rPr lang="en-US" dirty="0" smtClean="0"/>
              <a:t>32 </a:t>
            </a:r>
            <a:r>
              <a:rPr lang="en-US" dirty="0" err="1" smtClean="0"/>
              <a:t>Petabytes</a:t>
            </a:r>
            <a:r>
              <a:rPr lang="en-US" dirty="0" smtClean="0"/>
              <a:t> of memory</a:t>
            </a:r>
          </a:p>
          <a:p>
            <a:r>
              <a:rPr lang="en-US" dirty="0" smtClean="0"/>
              <a:t>1/2 GB total L1 on a node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lu_ca_vs_scala_eff_speed_up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309018" y="1600200"/>
            <a:ext cx="4929982" cy="4525963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>
            <a:normAutofit fontScale="90000"/>
          </a:bodyPr>
          <a:lstStyle/>
          <a:p>
            <a:r>
              <a:rPr lang="en-US" sz="3600" dirty="0" err="1" smtClean="0"/>
              <a:t>Exascale</a:t>
            </a:r>
            <a:r>
              <a:rPr lang="en-US" sz="3600" dirty="0" smtClean="0"/>
              <a:t>  predicted speedups</a:t>
            </a:r>
            <a:br>
              <a:rPr lang="en-US" sz="3600" dirty="0" smtClean="0"/>
            </a:br>
            <a:r>
              <a:rPr lang="en-US" sz="3600" dirty="0" smtClean="0"/>
              <a:t>for Gaussian Elimination:  </a:t>
            </a:r>
            <a:br>
              <a:rPr lang="en-US" sz="3600" dirty="0" smtClean="0"/>
            </a:br>
            <a:r>
              <a:rPr lang="en-US" sz="3600" dirty="0" smtClean="0"/>
              <a:t> 2D CA-LU </a:t>
            </a:r>
            <a:r>
              <a:rPr lang="en-US" sz="3600" dirty="0" err="1" smtClean="0"/>
              <a:t>vs</a:t>
            </a:r>
            <a:r>
              <a:rPr lang="en-US" sz="3600" dirty="0" smtClean="0"/>
              <a:t> </a:t>
            </a:r>
            <a:r>
              <a:rPr lang="en-US" sz="3600" dirty="0" err="1" smtClean="0"/>
              <a:t>ScaLAPACK</a:t>
            </a:r>
            <a:r>
              <a:rPr lang="en-US" sz="3600" dirty="0" smtClean="0"/>
              <a:t>-LU 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343400" y="5867400"/>
            <a:ext cx="1234633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/>
              <a:t>log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 (p)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 rot="16200000">
            <a:off x="265373" y="3392228"/>
            <a:ext cx="3776162" cy="95410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log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 (n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/p) = </a:t>
            </a:r>
          </a:p>
          <a:p>
            <a:pPr algn="ctr"/>
            <a:r>
              <a:rPr lang="en-US" sz="2800" dirty="0" smtClean="0"/>
              <a:t>log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 (</a:t>
            </a:r>
            <a:r>
              <a:rPr lang="en-US" sz="2800" dirty="0" err="1" smtClean="0"/>
              <a:t>memory_per_proc</a:t>
            </a:r>
            <a:r>
              <a:rPr lang="en-US" sz="2800" dirty="0" smtClean="0"/>
              <a:t>)</a:t>
            </a:r>
            <a:endParaRPr lang="en-US" sz="2800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2.5D </a:t>
            </a:r>
            <a:r>
              <a:rPr lang="en-US" dirty="0" err="1" smtClean="0"/>
              <a:t>vs</a:t>
            </a:r>
            <a:r>
              <a:rPr lang="en-US" dirty="0" smtClean="0"/>
              <a:t> 2D LU</a:t>
            </a:r>
            <a:br>
              <a:rPr lang="en-US" dirty="0" smtClean="0"/>
            </a:br>
            <a:r>
              <a:rPr lang="en-US" dirty="0" smtClean="0"/>
              <a:t>With and Without Pivoting</a:t>
            </a:r>
            <a:endParaRPr lang="en-US" dirty="0"/>
          </a:p>
        </p:txBody>
      </p:sp>
      <p:pic>
        <p:nvPicPr>
          <p:cNvPr id="4" name="Content Placeholder 3" descr="lu_pvt_ct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557" r="-1355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268840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98424" y="112712"/>
            <a:ext cx="8359775" cy="801688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/>
              <a:t>Summary of dense </a:t>
            </a:r>
            <a:r>
              <a:rPr lang="en-US" sz="3600" i="1" u="sng" dirty="0" smtClean="0"/>
              <a:t>sequential</a:t>
            </a:r>
            <a:r>
              <a:rPr lang="en-US" sz="3600" dirty="0" smtClean="0"/>
              <a:t> algorithms </a:t>
            </a:r>
            <a:br>
              <a:rPr lang="en-US" sz="3600" dirty="0" smtClean="0"/>
            </a:br>
            <a:r>
              <a:rPr lang="en-US" sz="3600" dirty="0" smtClean="0"/>
              <a:t>attaining communication lower bounds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77000"/>
            <a:ext cx="1905000" cy="457200"/>
          </a:xfrm>
        </p:spPr>
        <p:txBody>
          <a:bodyPr/>
          <a:lstStyle/>
          <a:p>
            <a:pPr>
              <a:defRPr/>
            </a:pPr>
            <a:fld id="{1FCC3470-0D38-4BDD-A13A-71ACC17724CC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sp>
        <p:nvSpPr>
          <p:cNvPr id="29700" name="TextBox 7"/>
          <p:cNvSpPr txBox="1">
            <a:spLocks noChangeArrowheads="1"/>
          </p:cNvSpPr>
          <p:nvPr/>
        </p:nvSpPr>
        <p:spPr bwMode="auto">
          <a:xfrm>
            <a:off x="695960" y="1164104"/>
            <a:ext cx="8067040" cy="96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70000"/>
              </a:lnSpc>
              <a:buFont typeface="Arial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 </a:t>
            </a:r>
            <a:r>
              <a:rPr lang="en-US" sz="2000" b="0" dirty="0">
                <a:solidFill>
                  <a:schemeClr val="tx1"/>
                </a:solidFill>
              </a:rPr>
              <a:t>Algorithms shown minimizing # Messages use (recursive) block layout</a:t>
            </a:r>
          </a:p>
          <a:p>
            <a:pPr lvl="1" algn="l">
              <a:lnSpc>
                <a:spcPct val="70000"/>
              </a:lnSpc>
              <a:buFont typeface="Arial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 Not possible with </a:t>
            </a:r>
            <a:r>
              <a:rPr lang="en-US" sz="2000" b="0" dirty="0" err="1">
                <a:solidFill>
                  <a:schemeClr val="tx1"/>
                </a:solidFill>
              </a:rPr>
              <a:t>columnwise</a:t>
            </a:r>
            <a:r>
              <a:rPr lang="en-US" sz="2000" b="0" dirty="0">
                <a:solidFill>
                  <a:schemeClr val="tx1"/>
                </a:solidFill>
              </a:rPr>
              <a:t> or </a:t>
            </a:r>
            <a:r>
              <a:rPr lang="en-US" sz="2000" b="0" dirty="0" err="1">
                <a:solidFill>
                  <a:schemeClr val="tx1"/>
                </a:solidFill>
              </a:rPr>
              <a:t>rowwise</a:t>
            </a:r>
            <a:r>
              <a:rPr lang="en-US" sz="2000" b="0" dirty="0">
                <a:solidFill>
                  <a:schemeClr val="tx1"/>
                </a:solidFill>
              </a:rPr>
              <a:t> layouts</a:t>
            </a:r>
          </a:p>
          <a:p>
            <a:pPr algn="l">
              <a:lnSpc>
                <a:spcPct val="70000"/>
              </a:lnSpc>
              <a:buFont typeface="Arial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0" i="1" dirty="0">
                <a:solidFill>
                  <a:schemeClr val="tx1"/>
                </a:solidFill>
              </a:rPr>
              <a:t>Many</a:t>
            </a:r>
            <a:r>
              <a:rPr lang="en-US" sz="2000" b="0" dirty="0">
                <a:solidFill>
                  <a:schemeClr val="tx1"/>
                </a:solidFill>
              </a:rPr>
              <a:t> references (see reports), only some shown, plus ours</a:t>
            </a:r>
          </a:p>
          <a:p>
            <a:pPr algn="l">
              <a:lnSpc>
                <a:spcPct val="70000"/>
              </a:lnSpc>
              <a:buFont typeface="Arial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 Cache-oblivious are </a:t>
            </a:r>
            <a:r>
              <a:rPr lang="en-US" sz="2000" b="0" u="sng" dirty="0">
                <a:solidFill>
                  <a:schemeClr val="tx1"/>
                </a:solidFill>
              </a:rPr>
              <a:t>underlined</a:t>
            </a:r>
            <a:r>
              <a:rPr lang="en-US" sz="2000" b="0" dirty="0">
                <a:solidFill>
                  <a:schemeClr val="tx1"/>
                </a:solidFill>
              </a:rPr>
              <a:t>, </a:t>
            </a:r>
            <a:r>
              <a:rPr lang="en-US" sz="2000" b="0" dirty="0">
                <a:solidFill>
                  <a:srgbClr val="00B050"/>
                </a:solidFill>
              </a:rPr>
              <a:t>Green</a:t>
            </a:r>
            <a:r>
              <a:rPr lang="en-US" sz="2000" b="0" dirty="0">
                <a:solidFill>
                  <a:schemeClr val="tx1"/>
                </a:solidFill>
              </a:rPr>
              <a:t> are ours, </a:t>
            </a:r>
            <a:r>
              <a:rPr lang="en-US" sz="2000" b="0" dirty="0">
                <a:solidFill>
                  <a:srgbClr val="FF0000"/>
                </a:solidFill>
              </a:rPr>
              <a:t>?</a:t>
            </a:r>
            <a:r>
              <a:rPr lang="en-US" sz="2000" b="0" dirty="0">
                <a:solidFill>
                  <a:schemeClr val="tx1"/>
                </a:solidFill>
              </a:rPr>
              <a:t> is unknown/future work</a:t>
            </a: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1246188" y="6065838"/>
            <a:ext cx="9348787" cy="3829050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9702" name="Rectangle 7"/>
          <p:cNvSpPr>
            <a:spLocks noChangeArrowheads="1"/>
          </p:cNvSpPr>
          <p:nvPr/>
        </p:nvSpPr>
        <p:spPr bwMode="auto">
          <a:xfrm>
            <a:off x="1246188" y="5226050"/>
            <a:ext cx="9348787" cy="3829050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9703" name="Rectangle 8"/>
          <p:cNvSpPr>
            <a:spLocks noChangeArrowheads="1"/>
          </p:cNvSpPr>
          <p:nvPr/>
        </p:nvSpPr>
        <p:spPr bwMode="auto">
          <a:xfrm>
            <a:off x="1246188" y="4575175"/>
            <a:ext cx="9348787" cy="3829050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9704" name="Rectangle 9"/>
          <p:cNvSpPr>
            <a:spLocks noChangeArrowheads="1"/>
          </p:cNvSpPr>
          <p:nvPr/>
        </p:nvSpPr>
        <p:spPr bwMode="auto">
          <a:xfrm>
            <a:off x="1246188" y="3759200"/>
            <a:ext cx="9348787" cy="3829050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9705" name="Rectangle 11"/>
          <p:cNvSpPr>
            <a:spLocks noChangeArrowheads="1"/>
          </p:cNvSpPr>
          <p:nvPr/>
        </p:nvSpPr>
        <p:spPr bwMode="auto">
          <a:xfrm>
            <a:off x="98425" y="5538788"/>
            <a:ext cx="974725" cy="52705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graphicFrame>
        <p:nvGraphicFramePr>
          <p:cNvPr id="7" name="Table Placeholder 6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488585114"/>
              </p:ext>
            </p:extLst>
          </p:nvPr>
        </p:nvGraphicFramePr>
        <p:xfrm>
          <a:off x="58738" y="2317750"/>
          <a:ext cx="9058871" cy="43636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1876"/>
                <a:gridCol w="2380860"/>
                <a:gridCol w="1894840"/>
                <a:gridCol w="1945640"/>
                <a:gridCol w="1685655"/>
              </a:tblGrid>
              <a:tr h="46216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Algorithm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 Levels</a:t>
                      </a:r>
                      <a:r>
                        <a:rPr lang="en-US" baseline="0" dirty="0" smtClean="0"/>
                        <a:t> of Memory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Multiple Levels of Memory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70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#Words</a:t>
                      </a:r>
                      <a:r>
                        <a:rPr lang="en-US" sz="1600" baseline="0" dirty="0" smtClean="0"/>
                        <a:t> Moved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 and #</a:t>
                      </a:r>
                      <a:r>
                        <a:rPr lang="en-US" sz="1600" baseline="0" dirty="0" smtClean="0"/>
                        <a:t> Messages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#Words</a:t>
                      </a:r>
                      <a:r>
                        <a:rPr lang="en-US" sz="1600" baseline="0" dirty="0" smtClean="0"/>
                        <a:t> Moved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 and #Messages</a:t>
                      </a:r>
                      <a:endParaRPr lang="en-US" sz="1600" dirty="0"/>
                    </a:p>
                  </a:txBody>
                  <a:tcPr/>
                </a:tc>
              </a:tr>
              <a:tr h="549533">
                <a:tc>
                  <a:txBody>
                    <a:bodyPr/>
                    <a:lstStyle/>
                    <a:p>
                      <a:r>
                        <a:rPr lang="en-US" dirty="0" smtClean="0"/>
                        <a:t>BLAS-3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Usual blocked or recursive algorithms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Usual blocked algorithms (nested),   or recursive</a:t>
                      </a:r>
                      <a:r>
                        <a:rPr lang="en-US" sz="1600" baseline="0" dirty="0" smtClean="0"/>
                        <a:t>  </a:t>
                      </a:r>
                      <a:r>
                        <a:rPr lang="en-US" sz="1600" dirty="0" smtClean="0"/>
                        <a:t>[</a:t>
                      </a:r>
                      <a:r>
                        <a:rPr lang="en-US" sz="1600" u="sng" dirty="0" smtClean="0"/>
                        <a:t>Gustavson,97</a:t>
                      </a:r>
                      <a:r>
                        <a:rPr lang="en-US" sz="1600" dirty="0" smtClean="0"/>
                        <a:t>]</a:t>
                      </a:r>
                      <a:r>
                        <a:rPr lang="en-US" sz="1600" dirty="0" smtClean="0">
                          <a:solidFill>
                            <a:srgbClr val="7030A0"/>
                          </a:solidFill>
                          <a:sym typeface="Wingdings"/>
                        </a:rPr>
                        <a:t> 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4953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Cholesky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LAPACK (with</a:t>
                      </a:r>
                      <a:r>
                        <a:rPr lang="en-US" sz="1600" baseline="0" dirty="0" smtClean="0"/>
                        <a:t> b = M</a:t>
                      </a:r>
                      <a:r>
                        <a:rPr lang="en-US" sz="1600" baseline="30000" dirty="0" smtClean="0"/>
                        <a:t>1/2</a:t>
                      </a:r>
                      <a:r>
                        <a:rPr lang="en-US" sz="1600" baseline="0" dirty="0" smtClean="0"/>
                        <a:t>) </a:t>
                      </a:r>
                      <a:r>
                        <a:rPr lang="en-US" sz="1600" dirty="0" smtClean="0"/>
                        <a:t>[</a:t>
                      </a:r>
                      <a:r>
                        <a:rPr lang="en-US" sz="1600" u="sng" dirty="0" err="1" smtClean="0"/>
                        <a:t>Gustavson</a:t>
                      </a:r>
                      <a:r>
                        <a:rPr lang="en-US" sz="1600" u="sng" baseline="0" dirty="0" smtClean="0"/>
                        <a:t> 97</a:t>
                      </a:r>
                      <a:r>
                        <a:rPr lang="en-US" sz="1600" baseline="0" dirty="0" smtClean="0"/>
                        <a:t>]</a:t>
                      </a:r>
                      <a:r>
                        <a:rPr lang="en-US" sz="1600" dirty="0" smtClean="0">
                          <a:solidFill>
                            <a:srgbClr val="7030A0"/>
                          </a:solidFill>
                          <a:sym typeface="Wingdings"/>
                        </a:rPr>
                        <a:t> </a:t>
                      </a:r>
                      <a:endParaRPr lang="en-US" sz="1600" baseline="0" dirty="0" smtClean="0"/>
                    </a:p>
                    <a:p>
                      <a:pPr algn="ctr"/>
                      <a:r>
                        <a:rPr lang="en-US" sz="1600" baseline="0" dirty="0" smtClean="0">
                          <a:solidFill>
                            <a:srgbClr val="00B050"/>
                          </a:solidFill>
                        </a:rPr>
                        <a:t>[</a:t>
                      </a:r>
                      <a:r>
                        <a:rPr lang="en-US" sz="1600" u="sng" baseline="0" dirty="0" smtClean="0">
                          <a:solidFill>
                            <a:srgbClr val="00B050"/>
                          </a:solidFill>
                        </a:rPr>
                        <a:t>BDHS09</a:t>
                      </a:r>
                      <a:r>
                        <a:rPr lang="en-US" sz="1600" baseline="0" dirty="0" smtClean="0">
                          <a:solidFill>
                            <a:srgbClr val="00B050"/>
                          </a:solidFill>
                        </a:rPr>
                        <a:t>]</a:t>
                      </a:r>
                      <a:r>
                        <a:rPr lang="en-US" sz="1600" dirty="0" smtClean="0">
                          <a:solidFill>
                            <a:srgbClr val="7030A0"/>
                          </a:solidFill>
                          <a:sym typeface="Wingdings"/>
                        </a:rPr>
                        <a:t>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600" b="0" u="sng" baseline="0" dirty="0" smtClean="0">
                          <a:solidFill>
                            <a:schemeClr val="tx1"/>
                          </a:solidFill>
                        </a:rPr>
                        <a:t>Gustavson,97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]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600" b="0" u="sng" baseline="0" dirty="0" smtClean="0">
                          <a:solidFill>
                            <a:schemeClr val="tx1"/>
                          </a:solidFill>
                        </a:rPr>
                        <a:t>Ahmed,Pingali,00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baseline="0" dirty="0" smtClean="0">
                          <a:solidFill>
                            <a:srgbClr val="00B050"/>
                          </a:solidFill>
                        </a:rPr>
                        <a:t>[</a:t>
                      </a:r>
                      <a:r>
                        <a:rPr lang="en-US" sz="1600" b="0" u="sng" baseline="0" dirty="0" smtClean="0">
                          <a:solidFill>
                            <a:srgbClr val="00B050"/>
                          </a:solidFill>
                        </a:rPr>
                        <a:t>BDHS09</a:t>
                      </a:r>
                      <a:r>
                        <a:rPr lang="en-US" sz="1600" b="0" baseline="0" dirty="0" smtClean="0">
                          <a:solidFill>
                            <a:srgbClr val="00B050"/>
                          </a:solidFill>
                        </a:rPr>
                        <a:t>]</a:t>
                      </a:r>
                      <a:r>
                        <a:rPr lang="en-US" sz="1600" dirty="0" smtClean="0">
                          <a:solidFill>
                            <a:srgbClr val="7030A0"/>
                          </a:solidFill>
                          <a:sym typeface="Wingdings"/>
                        </a:rPr>
                        <a:t> 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sym typeface="Wingdings"/>
                        </a:rPr>
                        <a:t>(←same)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(←same)</a:t>
                      </a:r>
                    </a:p>
                  </a:txBody>
                  <a:tcPr/>
                </a:tc>
              </a:tr>
              <a:tr h="607379">
                <a:tc>
                  <a:txBody>
                    <a:bodyPr/>
                    <a:lstStyle/>
                    <a:p>
                      <a:r>
                        <a:rPr lang="en-US" dirty="0" smtClean="0"/>
                        <a:t>LU with</a:t>
                      </a:r>
                    </a:p>
                    <a:p>
                      <a:r>
                        <a:rPr lang="en-US" baseline="0" dirty="0" smtClean="0"/>
                        <a:t>pivoting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smtClean="0"/>
                        <a:t>LAPACK (sometimes)</a:t>
                      </a:r>
                      <a:endParaRPr lang="en-US" sz="160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[</a:t>
                      </a:r>
                      <a:r>
                        <a:rPr lang="en-US" sz="1600" u="sng" dirty="0" smtClean="0"/>
                        <a:t>Toledo,97</a:t>
                      </a:r>
                      <a:r>
                        <a:rPr lang="en-US" sz="1600" dirty="0" smtClean="0"/>
                        <a:t>] , </a:t>
                      </a:r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[GDX</a:t>
                      </a:r>
                      <a:r>
                        <a:rPr lang="en-US" sz="1600" baseline="0" dirty="0" smtClean="0">
                          <a:solidFill>
                            <a:srgbClr val="00B050"/>
                          </a:solidFill>
                        </a:rPr>
                        <a:t> 08]</a:t>
                      </a:r>
                      <a:endParaRPr lang="en-US" sz="1600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[GDX</a:t>
                      </a:r>
                      <a:r>
                        <a:rPr lang="en-US" sz="1600" baseline="0" dirty="0" smtClean="0">
                          <a:solidFill>
                            <a:srgbClr val="00B050"/>
                          </a:solidFill>
                        </a:rPr>
                        <a:t> 08]</a:t>
                      </a:r>
                    </a:p>
                    <a:p>
                      <a:pPr algn="ctr"/>
                      <a:r>
                        <a:rPr lang="en-US" sz="1600" baseline="0" dirty="0" smtClean="0">
                          <a:solidFill>
                            <a:srgbClr val="00B050"/>
                          </a:solidFill>
                        </a:rPr>
                        <a:t> partial pivoting?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600" u="sng" dirty="0" smtClean="0">
                          <a:solidFill>
                            <a:schemeClr val="tx1"/>
                          </a:solidFill>
                        </a:rPr>
                        <a:t>Toledo,</a:t>
                      </a:r>
                      <a:r>
                        <a:rPr lang="en-US" sz="1600" u="sng" baseline="0" dirty="0" smtClean="0">
                          <a:solidFill>
                            <a:schemeClr val="tx1"/>
                          </a:solidFill>
                        </a:rPr>
                        <a:t> 97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en-US" sz="1600" dirty="0" smtClean="0">
                        <a:solidFill>
                          <a:srgbClr val="7030A0"/>
                        </a:solidFill>
                        <a:sym typeface="Wingding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[GDX</a:t>
                      </a:r>
                      <a:r>
                        <a:rPr lang="en-US" sz="1600" baseline="0" dirty="0" smtClean="0">
                          <a:solidFill>
                            <a:srgbClr val="00B050"/>
                          </a:solidFill>
                        </a:rPr>
                        <a:t> 08]</a:t>
                      </a:r>
                      <a:r>
                        <a:rPr lang="en-US" sz="1600" baseline="0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[GDX</a:t>
                      </a:r>
                      <a:r>
                        <a:rPr lang="en-US" sz="1600" baseline="0" dirty="0" smtClean="0">
                          <a:solidFill>
                            <a:srgbClr val="00B050"/>
                          </a:solidFill>
                        </a:rPr>
                        <a:t> 08]</a:t>
                      </a:r>
                      <a:r>
                        <a:rPr lang="en-US" sz="1600" baseline="0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  <a:p>
                      <a:pPr algn="ctr"/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838761">
                <a:tc>
                  <a:txBody>
                    <a:bodyPr/>
                    <a:lstStyle/>
                    <a:p>
                      <a:r>
                        <a:rPr lang="en-US" dirty="0" smtClean="0"/>
                        <a:t>QR</a:t>
                      </a:r>
                    </a:p>
                    <a:p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Rank-revealing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/>
                        <a:t>LAPACK (sometimes) </a:t>
                      </a:r>
                      <a:r>
                        <a:rPr lang="en-US" sz="1600" dirty="0" smtClean="0"/>
                        <a:t>[</a:t>
                      </a:r>
                      <a:r>
                        <a:rPr lang="en-US" sz="1600" u="sng" dirty="0" smtClean="0"/>
                        <a:t>Elmroth,</a:t>
                      </a:r>
                      <a:r>
                        <a:rPr lang="en-US" sz="1600" u="sng" baseline="0" dirty="0" smtClean="0"/>
                        <a:t>Gustavson,98</a:t>
                      </a:r>
                      <a:r>
                        <a:rPr lang="en-US" sz="1600" dirty="0" smtClean="0"/>
                        <a:t>]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[DGHL08]</a:t>
                      </a:r>
                      <a:r>
                        <a:rPr lang="en-US" sz="1600" baseline="30000" dirty="0" smtClean="0">
                          <a:solidFill>
                            <a:srgbClr val="00B050"/>
                          </a:solidFill>
                        </a:rPr>
                        <a:t> </a:t>
                      </a:r>
                      <a:endParaRPr lang="en-US" sz="1600" dirty="0" smtClean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600" u="sng" dirty="0" smtClean="0">
                          <a:solidFill>
                            <a:schemeClr val="tx1"/>
                          </a:solidFill>
                        </a:rPr>
                        <a:t>Frens,Wise,03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but 3x flops?</a:t>
                      </a:r>
                    </a:p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[DGHL08]</a:t>
                      </a:r>
                      <a:r>
                        <a:rPr lang="en-US" sz="1600" baseline="30000" dirty="0" smtClean="0">
                          <a:solidFill>
                            <a:srgbClr val="00B050"/>
                          </a:solidFill>
                        </a:rPr>
                        <a:t> </a:t>
                      </a:r>
                      <a:endParaRPr lang="en-US" sz="1600" dirty="0" smtClean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[</a:t>
                      </a:r>
                      <a:r>
                        <a:rPr lang="en-US" sz="1600" u="sng" dirty="0" err="1" smtClean="0"/>
                        <a:t>Elmroth</a:t>
                      </a:r>
                      <a:r>
                        <a:rPr lang="en-US" sz="1600" u="sng" dirty="0" smtClean="0"/>
                        <a:t>,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sng" dirty="0" smtClean="0"/>
                        <a:t>Gustavson,98</a:t>
                      </a:r>
                      <a:r>
                        <a:rPr lang="en-US" sz="1600" dirty="0" smtClean="0"/>
                        <a:t>]</a:t>
                      </a:r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 [DGHL08]</a:t>
                      </a:r>
                      <a:r>
                        <a:rPr lang="en-US" sz="1600" baseline="0" dirty="0" smtClean="0">
                          <a:solidFill>
                            <a:srgbClr val="FF0000"/>
                          </a:solidFill>
                        </a:rPr>
                        <a:t> ?</a:t>
                      </a:r>
                      <a:endParaRPr 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sz="1600" u="sng" dirty="0" smtClean="0">
                          <a:solidFill>
                            <a:schemeClr val="tx1"/>
                          </a:solidFill>
                        </a:rPr>
                        <a:t>Frens,Wise,03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 [DGHL08]</a:t>
                      </a:r>
                      <a:r>
                        <a:rPr lang="en-US" sz="1600" baseline="300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aseline="0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r>
                        <a:rPr lang="en-US" sz="1600" baseline="300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600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US" sz="16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562786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Eig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SVD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Not</a:t>
                      </a:r>
                      <a:r>
                        <a:rPr lang="en-US" sz="1600" dirty="0" smtClean="0"/>
                        <a:t> LAPACK</a:t>
                      </a:r>
                      <a:r>
                        <a:rPr lang="en-US" sz="1600" baseline="0" dirty="0" smtClean="0"/>
                        <a:t>  </a:t>
                      </a:r>
                    </a:p>
                    <a:p>
                      <a:pPr algn="ctr"/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[</a:t>
                      </a:r>
                      <a:r>
                        <a:rPr lang="en-US" sz="1600" u="sng" dirty="0" smtClean="0">
                          <a:solidFill>
                            <a:srgbClr val="00B050"/>
                          </a:solidFill>
                        </a:rPr>
                        <a:t>BDD11</a:t>
                      </a:r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]  randomized, but more flops; [BDK11]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smtClean="0">
                          <a:solidFill>
                            <a:srgbClr val="00B050"/>
                          </a:solidFill>
                        </a:rPr>
                        <a:t>[</a:t>
                      </a:r>
                      <a:r>
                        <a:rPr lang="en-US" sz="1600" u="sng" dirty="0" smtClean="0">
                          <a:solidFill>
                            <a:srgbClr val="00B050"/>
                          </a:solidFill>
                        </a:rPr>
                        <a:t>BDD11,</a:t>
                      </a:r>
                    </a:p>
                    <a:p>
                      <a:pPr algn="ctr"/>
                      <a:r>
                        <a:rPr lang="en-US" sz="1600" u="sng" dirty="0" smtClean="0">
                          <a:solidFill>
                            <a:srgbClr val="00B050"/>
                          </a:solidFill>
                        </a:rPr>
                        <a:t>BDK11</a:t>
                      </a:r>
                      <a:r>
                        <a:rPr lang="en-US" sz="1600" u="sng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]</a:t>
                      </a:r>
                      <a:r>
                        <a:rPr lang="en-US" sz="1600" baseline="0" dirty="0" smtClean="0">
                          <a:solidFill>
                            <a:srgbClr val="00B050"/>
                          </a:solidFill>
                        </a:rPr>
                        <a:t> </a:t>
                      </a:r>
                      <a:endParaRPr lang="en-US" sz="16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[</a:t>
                      </a:r>
                      <a:r>
                        <a:rPr lang="en-US" sz="1600" u="sng" dirty="0" smtClean="0">
                          <a:solidFill>
                            <a:srgbClr val="00B050"/>
                          </a:solidFill>
                        </a:rPr>
                        <a:t>BDD11,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sng" dirty="0" smtClean="0">
                          <a:solidFill>
                            <a:srgbClr val="00B050"/>
                          </a:solidFill>
                        </a:rPr>
                        <a:t>BDK11</a:t>
                      </a:r>
                      <a:r>
                        <a:rPr lang="en-US" sz="1600" u="sng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]</a:t>
                      </a:r>
                      <a:r>
                        <a:rPr lang="en-US" sz="1600" baseline="0" dirty="0" smtClean="0">
                          <a:solidFill>
                            <a:srgbClr val="00B050"/>
                          </a:solidFill>
                        </a:rPr>
                        <a:t> </a:t>
                      </a:r>
                      <a:endParaRPr lang="en-US" sz="16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219200" y="3168651"/>
            <a:ext cx="9348788" cy="3829050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2068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Title 1"/>
          <p:cNvSpPr>
            <a:spLocks noGrp="1"/>
          </p:cNvSpPr>
          <p:nvPr>
            <p:ph type="title"/>
          </p:nvPr>
        </p:nvSpPr>
        <p:spPr>
          <a:xfrm>
            <a:off x="779463" y="22808"/>
            <a:ext cx="7296150" cy="801688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Summary of dense </a:t>
            </a:r>
            <a:r>
              <a:rPr lang="en-US" sz="3200" i="1" u="sng" dirty="0" smtClean="0"/>
              <a:t>parallel</a:t>
            </a:r>
            <a:r>
              <a:rPr lang="en-US" sz="3200" dirty="0" smtClean="0"/>
              <a:t> algorithms </a:t>
            </a:r>
            <a:br>
              <a:rPr lang="en-US" sz="3200" dirty="0" smtClean="0"/>
            </a:br>
            <a:r>
              <a:rPr lang="en-US" sz="3200" dirty="0" smtClean="0"/>
              <a:t>attaining communication lower bounds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832975" y="6400800"/>
            <a:ext cx="1905000" cy="457200"/>
          </a:xfrm>
        </p:spPr>
        <p:txBody>
          <a:bodyPr/>
          <a:lstStyle/>
          <a:p>
            <a:pPr>
              <a:defRPr/>
            </a:pPr>
            <a:fld id="{1110692E-4516-4640-ACA1-F899B3563FBA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  <p:sp>
        <p:nvSpPr>
          <p:cNvPr id="30727" name="Rectangle 11"/>
          <p:cNvSpPr>
            <a:spLocks noChangeArrowheads="1"/>
          </p:cNvSpPr>
          <p:nvPr/>
        </p:nvSpPr>
        <p:spPr bwMode="auto">
          <a:xfrm>
            <a:off x="6796088" y="4476750"/>
            <a:ext cx="1843087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8" name="Rectangle 12"/>
          <p:cNvSpPr>
            <a:spLocks noChangeArrowheads="1"/>
          </p:cNvSpPr>
          <p:nvPr/>
        </p:nvSpPr>
        <p:spPr bwMode="auto">
          <a:xfrm>
            <a:off x="6861175" y="5118100"/>
            <a:ext cx="1843088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9" name="Rectangle 13"/>
          <p:cNvSpPr>
            <a:spLocks noChangeArrowheads="1"/>
          </p:cNvSpPr>
          <p:nvPr/>
        </p:nvSpPr>
        <p:spPr bwMode="auto">
          <a:xfrm>
            <a:off x="6778625" y="5773738"/>
            <a:ext cx="1843088" cy="280987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0" name="Rectangle 14"/>
          <p:cNvSpPr>
            <a:spLocks noChangeArrowheads="1"/>
          </p:cNvSpPr>
          <p:nvPr/>
        </p:nvSpPr>
        <p:spPr bwMode="auto">
          <a:xfrm>
            <a:off x="6778625" y="6400800"/>
            <a:ext cx="1843088" cy="280988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1" name="TextBox 7"/>
          <p:cNvSpPr txBox="1">
            <a:spLocks noChangeArrowheads="1"/>
          </p:cNvSpPr>
          <p:nvPr/>
        </p:nvSpPr>
        <p:spPr bwMode="auto">
          <a:xfrm>
            <a:off x="259286" y="1032808"/>
            <a:ext cx="774171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  </a:t>
            </a:r>
            <a:r>
              <a:rPr lang="en-US" sz="2400" b="0" dirty="0" smtClean="0">
                <a:solidFill>
                  <a:schemeClr val="tx1"/>
                </a:solidFill>
              </a:rPr>
              <a:t>Assume </a:t>
            </a:r>
            <a:r>
              <a:rPr lang="en-US" sz="2400" b="0" dirty="0" err="1">
                <a:solidFill>
                  <a:schemeClr val="tx1"/>
                </a:solidFill>
              </a:rPr>
              <a:t>nxn</a:t>
            </a:r>
            <a:r>
              <a:rPr lang="en-US" sz="2400" b="0" dirty="0">
                <a:solidFill>
                  <a:schemeClr val="tx1"/>
                </a:solidFill>
              </a:rPr>
              <a:t> matrices on P </a:t>
            </a:r>
            <a:r>
              <a:rPr lang="en-US" sz="2400" b="0" dirty="0" smtClean="0">
                <a:solidFill>
                  <a:schemeClr val="tx1"/>
                </a:solidFill>
              </a:rPr>
              <a:t>processors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 smtClean="0"/>
              <a:t>  </a:t>
            </a:r>
            <a:r>
              <a:rPr lang="en-US" sz="2400" b="0" dirty="0" smtClean="0"/>
              <a:t>Minimum</a:t>
            </a:r>
            <a:r>
              <a:rPr lang="en-US" sz="2400" dirty="0" smtClean="0"/>
              <a:t> </a:t>
            </a:r>
            <a:r>
              <a:rPr lang="en-US" sz="2400" b="0" dirty="0" smtClean="0"/>
              <a:t>M</a:t>
            </a:r>
            <a:r>
              <a:rPr lang="en-US" sz="2400" b="0" dirty="0" smtClean="0">
                <a:solidFill>
                  <a:schemeClr val="tx1"/>
                </a:solidFill>
              </a:rPr>
              <a:t>emory </a:t>
            </a:r>
            <a:r>
              <a:rPr lang="en-US" sz="2400" b="0" dirty="0">
                <a:solidFill>
                  <a:schemeClr val="tx1"/>
                </a:solidFill>
              </a:rPr>
              <a:t>per processor = </a:t>
            </a:r>
            <a:r>
              <a:rPr lang="en-US" sz="2400" b="0" dirty="0" smtClean="0">
                <a:solidFill>
                  <a:schemeClr val="tx1"/>
                </a:solidFill>
              </a:rPr>
              <a:t> M = O(n</a:t>
            </a:r>
            <a:r>
              <a:rPr lang="en-US" sz="2400" b="0" baseline="30000" dirty="0" smtClean="0">
                <a:solidFill>
                  <a:schemeClr val="tx1"/>
                </a:solidFill>
              </a:rPr>
              <a:t>2</a:t>
            </a:r>
            <a:r>
              <a:rPr lang="en-US" sz="2400" b="0" dirty="0" smtClean="0">
                <a:solidFill>
                  <a:schemeClr val="tx1"/>
                </a:solidFill>
              </a:rPr>
              <a:t> </a:t>
            </a:r>
            <a:r>
              <a:rPr lang="en-US" sz="2400" b="0" dirty="0">
                <a:solidFill>
                  <a:schemeClr val="tx1"/>
                </a:solidFill>
              </a:rPr>
              <a:t>/ P</a:t>
            </a:r>
            <a:r>
              <a:rPr lang="en-US" sz="2400" b="0" dirty="0" smtClean="0">
                <a:solidFill>
                  <a:schemeClr val="tx1"/>
                </a:solidFill>
              </a:rPr>
              <a:t>)</a:t>
            </a:r>
            <a:endParaRPr lang="en-US" sz="2400" b="0" dirty="0">
              <a:solidFill>
                <a:schemeClr val="tx1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</a:rPr>
              <a:t>  Recall lower bounds:</a:t>
            </a:r>
          </a:p>
          <a:p>
            <a:pPr lvl="1" algn="l"/>
            <a:r>
              <a:rPr lang="en-US" sz="2400" b="0" dirty="0" smtClean="0">
                <a:solidFill>
                  <a:schemeClr val="tx1"/>
                </a:solidFill>
              </a:rPr>
              <a:t>#</a:t>
            </a:r>
            <a:r>
              <a:rPr lang="en-US" sz="2400" b="0" dirty="0" err="1" smtClean="0">
                <a:solidFill>
                  <a:schemeClr val="tx1"/>
                </a:solidFill>
              </a:rPr>
              <a:t>words_moved</a:t>
            </a:r>
            <a:r>
              <a:rPr lang="en-US" sz="2400" b="0" dirty="0" smtClean="0">
                <a:solidFill>
                  <a:schemeClr val="tx1"/>
                </a:solidFill>
              </a:rPr>
              <a:t>    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1/2</a:t>
            </a:r>
            <a:r>
              <a:rPr lang="en-US" sz="2400" b="0" dirty="0" smtClean="0">
                <a:sym typeface="Symbol" pitchFamily="18" charset="2"/>
              </a:rPr>
              <a:t> )  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n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/  P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)    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        </a:t>
            </a:r>
          </a:p>
          <a:p>
            <a:pPr lvl="1"/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messages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          </a:t>
            </a:r>
            <a:r>
              <a:rPr lang="en-US" sz="2400" b="0" dirty="0" smtClean="0"/>
              <a:t>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3/2</a:t>
            </a:r>
            <a:r>
              <a:rPr lang="en-US" sz="2400" b="0" dirty="0" smtClean="0">
                <a:sym typeface="Symbol" pitchFamily="18" charset="2"/>
              </a:rPr>
              <a:t> )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P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)</a:t>
            </a:r>
            <a:endParaRPr lang="en-US" sz="2400" b="0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347563"/>
              </p:ext>
            </p:extLst>
          </p:nvPr>
        </p:nvGraphicFramePr>
        <p:xfrm>
          <a:off x="533400" y="3200400"/>
          <a:ext cx="80772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600200"/>
                <a:gridCol w="2229613"/>
                <a:gridCol w="234238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Reference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Factor exceeding lower bound for #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words_moved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Factor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exceeding lower bound for #messages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Matrix Multiply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Cholesky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LU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baseline="30000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QR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baseline="30000" dirty="0" smtClean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Sym </a:t>
                      </a:r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Eig</a:t>
                      </a:r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, SVD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baseline="30000" dirty="0" smtClean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Nonsym</a:t>
                      </a:r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Eig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baseline="30000" dirty="0" smtClean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4" name="Straight Connector 13"/>
          <p:cNvCxnSpPr/>
          <p:nvPr/>
        </p:nvCxnSpPr>
        <p:spPr>
          <a:xfrm>
            <a:off x="381000" y="990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76911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Title 1"/>
          <p:cNvSpPr>
            <a:spLocks noGrp="1"/>
          </p:cNvSpPr>
          <p:nvPr>
            <p:ph type="title"/>
          </p:nvPr>
        </p:nvSpPr>
        <p:spPr>
          <a:xfrm>
            <a:off x="779463" y="11570"/>
            <a:ext cx="7296150" cy="801688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Summary of dense </a:t>
            </a:r>
            <a:r>
              <a:rPr lang="en-US" sz="3200" i="1" u="sng" dirty="0" smtClean="0"/>
              <a:t>parallel</a:t>
            </a:r>
            <a:r>
              <a:rPr lang="en-US" sz="3200" dirty="0" smtClean="0"/>
              <a:t> algorithms </a:t>
            </a:r>
            <a:br>
              <a:rPr lang="en-US" sz="3200" dirty="0" smtClean="0"/>
            </a:br>
            <a:r>
              <a:rPr lang="en-US" sz="3200" dirty="0" smtClean="0"/>
              <a:t>attaining communication lower bounds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832975" y="6400800"/>
            <a:ext cx="1905000" cy="457200"/>
          </a:xfrm>
        </p:spPr>
        <p:txBody>
          <a:bodyPr/>
          <a:lstStyle/>
          <a:p>
            <a:pPr>
              <a:defRPr/>
            </a:pPr>
            <a:fld id="{1110692E-4516-4640-ACA1-F899B3563FBA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  <p:sp>
        <p:nvSpPr>
          <p:cNvPr id="30727" name="Rectangle 11"/>
          <p:cNvSpPr>
            <a:spLocks noChangeArrowheads="1"/>
          </p:cNvSpPr>
          <p:nvPr/>
        </p:nvSpPr>
        <p:spPr bwMode="auto">
          <a:xfrm>
            <a:off x="6796088" y="4476750"/>
            <a:ext cx="1843087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8" name="Rectangle 12"/>
          <p:cNvSpPr>
            <a:spLocks noChangeArrowheads="1"/>
          </p:cNvSpPr>
          <p:nvPr/>
        </p:nvSpPr>
        <p:spPr bwMode="auto">
          <a:xfrm>
            <a:off x="6861175" y="5118100"/>
            <a:ext cx="1843088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9" name="Rectangle 13"/>
          <p:cNvSpPr>
            <a:spLocks noChangeArrowheads="1"/>
          </p:cNvSpPr>
          <p:nvPr/>
        </p:nvSpPr>
        <p:spPr bwMode="auto">
          <a:xfrm>
            <a:off x="6778625" y="5773738"/>
            <a:ext cx="1843088" cy="280987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0" name="Rectangle 14"/>
          <p:cNvSpPr>
            <a:spLocks noChangeArrowheads="1"/>
          </p:cNvSpPr>
          <p:nvPr/>
        </p:nvSpPr>
        <p:spPr bwMode="auto">
          <a:xfrm>
            <a:off x="6778625" y="6400800"/>
            <a:ext cx="1843088" cy="280988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1" name="TextBox 7"/>
          <p:cNvSpPr txBox="1">
            <a:spLocks noChangeArrowheads="1"/>
          </p:cNvSpPr>
          <p:nvPr/>
        </p:nvSpPr>
        <p:spPr bwMode="auto">
          <a:xfrm>
            <a:off x="260862" y="1032808"/>
            <a:ext cx="817403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  </a:t>
            </a:r>
            <a:r>
              <a:rPr lang="en-US" sz="2400" b="0" dirty="0" smtClean="0">
                <a:solidFill>
                  <a:schemeClr val="tx1"/>
                </a:solidFill>
              </a:rPr>
              <a:t>Assume </a:t>
            </a:r>
            <a:r>
              <a:rPr lang="en-US" sz="2400" b="0" dirty="0" err="1">
                <a:solidFill>
                  <a:schemeClr val="tx1"/>
                </a:solidFill>
              </a:rPr>
              <a:t>nxn</a:t>
            </a:r>
            <a:r>
              <a:rPr lang="en-US" sz="2400" b="0" dirty="0">
                <a:solidFill>
                  <a:schemeClr val="tx1"/>
                </a:solidFill>
              </a:rPr>
              <a:t> matrices on P </a:t>
            </a:r>
            <a:r>
              <a:rPr lang="en-US" sz="2400" b="0" dirty="0" smtClean="0">
                <a:solidFill>
                  <a:schemeClr val="tx1"/>
                </a:solidFill>
              </a:rPr>
              <a:t>processors</a:t>
            </a:r>
            <a:r>
              <a:rPr lang="en-US" sz="2400" dirty="0" smtClean="0"/>
              <a:t> (conventional approach)</a:t>
            </a:r>
            <a:endParaRPr lang="en-US" sz="2400" b="0" dirty="0" smtClean="0">
              <a:solidFill>
                <a:schemeClr val="tx1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dirty="0" smtClean="0"/>
              <a:t>  </a:t>
            </a:r>
            <a:r>
              <a:rPr lang="en-US" sz="2400" b="0" dirty="0" smtClean="0"/>
              <a:t>Minimum</a:t>
            </a:r>
            <a:r>
              <a:rPr lang="en-US" sz="2400" dirty="0" smtClean="0"/>
              <a:t> </a:t>
            </a:r>
            <a:r>
              <a:rPr lang="en-US" sz="2400" b="0" dirty="0" smtClean="0"/>
              <a:t>M</a:t>
            </a:r>
            <a:r>
              <a:rPr lang="en-US" sz="2400" b="0" dirty="0" smtClean="0">
                <a:solidFill>
                  <a:schemeClr val="tx1"/>
                </a:solidFill>
              </a:rPr>
              <a:t>emory </a:t>
            </a:r>
            <a:r>
              <a:rPr lang="en-US" sz="2400" b="0" dirty="0">
                <a:solidFill>
                  <a:schemeClr val="tx1"/>
                </a:solidFill>
              </a:rPr>
              <a:t>per processor = </a:t>
            </a:r>
            <a:r>
              <a:rPr lang="en-US" sz="2400" b="0" dirty="0" smtClean="0">
                <a:solidFill>
                  <a:schemeClr val="tx1"/>
                </a:solidFill>
              </a:rPr>
              <a:t> M = O(n</a:t>
            </a:r>
            <a:r>
              <a:rPr lang="en-US" sz="2400" b="0" baseline="30000" dirty="0" smtClean="0">
                <a:solidFill>
                  <a:schemeClr val="tx1"/>
                </a:solidFill>
              </a:rPr>
              <a:t>2</a:t>
            </a:r>
            <a:r>
              <a:rPr lang="en-US" sz="2400" b="0" dirty="0" smtClean="0">
                <a:solidFill>
                  <a:schemeClr val="tx1"/>
                </a:solidFill>
              </a:rPr>
              <a:t> </a:t>
            </a:r>
            <a:r>
              <a:rPr lang="en-US" sz="2400" b="0" dirty="0">
                <a:solidFill>
                  <a:schemeClr val="tx1"/>
                </a:solidFill>
              </a:rPr>
              <a:t>/ P</a:t>
            </a:r>
            <a:r>
              <a:rPr lang="en-US" sz="2400" b="0" dirty="0" smtClean="0">
                <a:solidFill>
                  <a:schemeClr val="tx1"/>
                </a:solidFill>
              </a:rPr>
              <a:t>)</a:t>
            </a:r>
            <a:endParaRPr lang="en-US" sz="2400" b="0" dirty="0">
              <a:solidFill>
                <a:schemeClr val="tx1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</a:rPr>
              <a:t>  Recall lower bounds:</a:t>
            </a:r>
          </a:p>
          <a:p>
            <a:pPr lvl="1" algn="l"/>
            <a:r>
              <a:rPr lang="en-US" sz="2400" b="0" dirty="0" smtClean="0">
                <a:solidFill>
                  <a:schemeClr val="tx1"/>
                </a:solidFill>
              </a:rPr>
              <a:t>#</a:t>
            </a:r>
            <a:r>
              <a:rPr lang="en-US" sz="2400" b="0" dirty="0" err="1" smtClean="0">
                <a:solidFill>
                  <a:schemeClr val="tx1"/>
                </a:solidFill>
              </a:rPr>
              <a:t>words_moved</a:t>
            </a:r>
            <a:r>
              <a:rPr lang="en-US" sz="2400" b="0" dirty="0" smtClean="0">
                <a:solidFill>
                  <a:schemeClr val="tx1"/>
                </a:solidFill>
              </a:rPr>
              <a:t>    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1/2</a:t>
            </a:r>
            <a:r>
              <a:rPr lang="en-US" sz="2400" b="0" dirty="0" smtClean="0">
                <a:sym typeface="Symbol" pitchFamily="18" charset="2"/>
              </a:rPr>
              <a:t> )  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n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/  P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)    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        </a:t>
            </a:r>
          </a:p>
          <a:p>
            <a:pPr lvl="1" algn="l"/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messages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          </a:t>
            </a:r>
            <a:r>
              <a:rPr lang="en-US" sz="2400" b="0" dirty="0" smtClean="0"/>
              <a:t>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3/2</a:t>
            </a:r>
            <a:r>
              <a:rPr lang="en-US" sz="2400" b="0" dirty="0" smtClean="0">
                <a:sym typeface="Symbol" pitchFamily="18" charset="2"/>
              </a:rPr>
              <a:t> )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P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)</a:t>
            </a:r>
            <a:endParaRPr lang="en-US" sz="2400" b="0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168059"/>
              </p:ext>
            </p:extLst>
          </p:nvPr>
        </p:nvGraphicFramePr>
        <p:xfrm>
          <a:off x="533400" y="3200400"/>
          <a:ext cx="80772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600200"/>
                <a:gridCol w="2229613"/>
                <a:gridCol w="234238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Reference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Factor exceeding lower bound for #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words_moved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Factor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exceeding lower bound for #messages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Matrix Multiply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[Cannon, 69]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1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Cholesky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ScaLAPACK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LU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ScaLAPACK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</a:t>
                      </a:r>
                      <a:r>
                        <a:rPr lang="en-US" sz="2000" b="1" baseline="0" dirty="0" smtClean="0">
                          <a:latin typeface="Calibri"/>
                          <a:cs typeface="Calibri"/>
                        </a:rPr>
                        <a:t>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baseline="30000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QR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ScaLAPACK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baseline="30000" dirty="0" smtClean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Sym </a:t>
                      </a:r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Eig</a:t>
                      </a:r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, SVD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ScaLAPACK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baseline="30000" dirty="0" smtClean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Nonsym</a:t>
                      </a:r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Eig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ScaLAPACK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lang="en-US" sz="2000" b="1" baseline="30000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1/2</a:t>
                      </a:r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log P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baseline="30000" dirty="0" smtClean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4" name="Straight Connector 13"/>
          <p:cNvCxnSpPr/>
          <p:nvPr/>
        </p:nvCxnSpPr>
        <p:spPr>
          <a:xfrm>
            <a:off x="381000" y="990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81502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Title 1"/>
          <p:cNvSpPr>
            <a:spLocks noGrp="1"/>
          </p:cNvSpPr>
          <p:nvPr>
            <p:ph type="title"/>
          </p:nvPr>
        </p:nvSpPr>
        <p:spPr>
          <a:xfrm>
            <a:off x="779463" y="11570"/>
            <a:ext cx="7296150" cy="801688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Summary of dense </a:t>
            </a:r>
            <a:r>
              <a:rPr lang="en-US" sz="3200" i="1" u="sng" dirty="0" smtClean="0"/>
              <a:t>parallel</a:t>
            </a:r>
            <a:r>
              <a:rPr lang="en-US" sz="3200" dirty="0" smtClean="0"/>
              <a:t> algorithms </a:t>
            </a:r>
            <a:br>
              <a:rPr lang="en-US" sz="3200" dirty="0" smtClean="0"/>
            </a:br>
            <a:r>
              <a:rPr lang="en-US" sz="3200" dirty="0" smtClean="0"/>
              <a:t>attaining communication lower bounds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832975" y="6400800"/>
            <a:ext cx="1905000" cy="457200"/>
          </a:xfrm>
        </p:spPr>
        <p:txBody>
          <a:bodyPr/>
          <a:lstStyle/>
          <a:p>
            <a:pPr>
              <a:defRPr/>
            </a:pPr>
            <a:fld id="{1110692E-4516-4640-ACA1-F899B3563FBA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  <p:sp>
        <p:nvSpPr>
          <p:cNvPr id="30727" name="Rectangle 11"/>
          <p:cNvSpPr>
            <a:spLocks noChangeArrowheads="1"/>
          </p:cNvSpPr>
          <p:nvPr/>
        </p:nvSpPr>
        <p:spPr bwMode="auto">
          <a:xfrm>
            <a:off x="6796088" y="4476750"/>
            <a:ext cx="1843087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8" name="Rectangle 12"/>
          <p:cNvSpPr>
            <a:spLocks noChangeArrowheads="1"/>
          </p:cNvSpPr>
          <p:nvPr/>
        </p:nvSpPr>
        <p:spPr bwMode="auto">
          <a:xfrm>
            <a:off x="6861175" y="5118100"/>
            <a:ext cx="1843088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9" name="Rectangle 13"/>
          <p:cNvSpPr>
            <a:spLocks noChangeArrowheads="1"/>
          </p:cNvSpPr>
          <p:nvPr/>
        </p:nvSpPr>
        <p:spPr bwMode="auto">
          <a:xfrm>
            <a:off x="6778625" y="5773738"/>
            <a:ext cx="1843088" cy="280987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0" name="Rectangle 14"/>
          <p:cNvSpPr>
            <a:spLocks noChangeArrowheads="1"/>
          </p:cNvSpPr>
          <p:nvPr/>
        </p:nvSpPr>
        <p:spPr bwMode="auto">
          <a:xfrm>
            <a:off x="6778625" y="6400800"/>
            <a:ext cx="1843088" cy="280988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1" name="TextBox 7"/>
          <p:cNvSpPr txBox="1">
            <a:spLocks noChangeArrowheads="1"/>
          </p:cNvSpPr>
          <p:nvPr/>
        </p:nvSpPr>
        <p:spPr bwMode="auto">
          <a:xfrm>
            <a:off x="259287" y="1032808"/>
            <a:ext cx="817403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  </a:t>
            </a:r>
            <a:r>
              <a:rPr lang="en-US" sz="2400" b="0" dirty="0" smtClean="0">
                <a:solidFill>
                  <a:schemeClr val="tx1"/>
                </a:solidFill>
              </a:rPr>
              <a:t>Assume </a:t>
            </a:r>
            <a:r>
              <a:rPr lang="en-US" sz="2400" b="0" dirty="0" err="1">
                <a:solidFill>
                  <a:schemeClr val="tx1"/>
                </a:solidFill>
              </a:rPr>
              <a:t>nxn</a:t>
            </a:r>
            <a:r>
              <a:rPr lang="en-US" sz="2400" b="0" dirty="0">
                <a:solidFill>
                  <a:schemeClr val="tx1"/>
                </a:solidFill>
              </a:rPr>
              <a:t> matrices on P </a:t>
            </a:r>
            <a:r>
              <a:rPr lang="en-US" sz="2400" b="0" dirty="0" smtClean="0">
                <a:solidFill>
                  <a:schemeClr val="tx1"/>
                </a:solidFill>
              </a:rPr>
              <a:t>processors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(conventional approach)</a:t>
            </a:r>
            <a:endParaRPr lang="en-US" sz="2400" b="0" dirty="0" smtClean="0">
              <a:solidFill>
                <a:srgbClr val="FF0000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dirty="0" smtClean="0"/>
              <a:t>  </a:t>
            </a:r>
            <a:r>
              <a:rPr lang="en-US" sz="2400" b="0" dirty="0" smtClean="0"/>
              <a:t>Minimum M</a:t>
            </a:r>
            <a:r>
              <a:rPr lang="en-US" sz="2400" b="0" dirty="0" smtClean="0">
                <a:solidFill>
                  <a:schemeClr val="tx1"/>
                </a:solidFill>
              </a:rPr>
              <a:t>emory </a:t>
            </a:r>
            <a:r>
              <a:rPr lang="en-US" sz="2400" b="0" dirty="0">
                <a:solidFill>
                  <a:schemeClr val="tx1"/>
                </a:solidFill>
              </a:rPr>
              <a:t>per processor = </a:t>
            </a:r>
            <a:r>
              <a:rPr lang="en-US" sz="2400" b="0" dirty="0" smtClean="0">
                <a:solidFill>
                  <a:schemeClr val="tx1"/>
                </a:solidFill>
              </a:rPr>
              <a:t> M = O(n</a:t>
            </a:r>
            <a:r>
              <a:rPr lang="en-US" sz="2400" b="0" baseline="30000" dirty="0" smtClean="0">
                <a:solidFill>
                  <a:schemeClr val="tx1"/>
                </a:solidFill>
              </a:rPr>
              <a:t>2</a:t>
            </a:r>
            <a:r>
              <a:rPr lang="en-US" sz="2400" b="0" dirty="0" smtClean="0">
                <a:solidFill>
                  <a:schemeClr val="tx1"/>
                </a:solidFill>
              </a:rPr>
              <a:t> </a:t>
            </a:r>
            <a:r>
              <a:rPr lang="en-US" sz="2400" b="0" dirty="0">
                <a:solidFill>
                  <a:schemeClr val="tx1"/>
                </a:solidFill>
              </a:rPr>
              <a:t>/ P</a:t>
            </a:r>
            <a:r>
              <a:rPr lang="en-US" sz="2400" b="0" dirty="0" smtClean="0">
                <a:solidFill>
                  <a:schemeClr val="tx1"/>
                </a:solidFill>
              </a:rPr>
              <a:t>)</a:t>
            </a:r>
            <a:endParaRPr lang="en-US" sz="2400" b="0" dirty="0">
              <a:solidFill>
                <a:schemeClr val="tx1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</a:rPr>
              <a:t>  Recall lower bounds:</a:t>
            </a:r>
          </a:p>
          <a:p>
            <a:pPr lvl="1" algn="l"/>
            <a:r>
              <a:rPr lang="en-US" sz="2400" b="0" dirty="0" smtClean="0">
                <a:solidFill>
                  <a:schemeClr val="tx1"/>
                </a:solidFill>
              </a:rPr>
              <a:t>#</a:t>
            </a:r>
            <a:r>
              <a:rPr lang="en-US" sz="2400" b="0" dirty="0" err="1" smtClean="0">
                <a:solidFill>
                  <a:schemeClr val="tx1"/>
                </a:solidFill>
              </a:rPr>
              <a:t>words_moved</a:t>
            </a:r>
            <a:r>
              <a:rPr lang="en-US" sz="2400" b="0" dirty="0" smtClean="0">
                <a:solidFill>
                  <a:schemeClr val="tx1"/>
                </a:solidFill>
              </a:rPr>
              <a:t>    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1/2</a:t>
            </a:r>
            <a:r>
              <a:rPr lang="en-US" sz="2400" b="0" dirty="0" smtClean="0">
                <a:sym typeface="Symbol" pitchFamily="18" charset="2"/>
              </a:rPr>
              <a:t> )  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n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/  P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)    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        </a:t>
            </a:r>
          </a:p>
          <a:p>
            <a:pPr lvl="1" algn="l"/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messages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          </a:t>
            </a:r>
            <a:r>
              <a:rPr lang="en-US" sz="2400" b="0" dirty="0" smtClean="0"/>
              <a:t>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3/2</a:t>
            </a:r>
            <a:r>
              <a:rPr lang="en-US" sz="2400" b="0" dirty="0" smtClean="0">
                <a:sym typeface="Symbol" pitchFamily="18" charset="2"/>
              </a:rPr>
              <a:t> )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P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)</a:t>
            </a:r>
            <a:endParaRPr lang="en-US" sz="2400" b="0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780669"/>
              </p:ext>
            </p:extLst>
          </p:nvPr>
        </p:nvGraphicFramePr>
        <p:xfrm>
          <a:off x="533400" y="3200400"/>
          <a:ext cx="80772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600200"/>
                <a:gridCol w="2229613"/>
                <a:gridCol w="234238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Reference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Factor exceeding lower bound for #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words_moved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Factor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exceeding lower bound for #messages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Matrix Multiply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[Cannon, 69]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1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1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Cholesky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ScaLAPACK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LU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ScaLAPACK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</a:t>
                      </a:r>
                      <a:r>
                        <a:rPr lang="en-US" sz="2000" b="1" baseline="0" dirty="0" smtClean="0">
                          <a:latin typeface="Calibri"/>
                          <a:cs typeface="Calibri"/>
                        </a:rPr>
                        <a:t>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 log P / P</a:t>
                      </a:r>
                      <a:r>
                        <a:rPr lang="en-US" sz="2000" b="1" baseline="30000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1/2</a:t>
                      </a:r>
                      <a:endParaRPr lang="en-US" sz="2000" b="1" baseline="30000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QR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ScaLAPACK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 log P / P</a:t>
                      </a:r>
                      <a:r>
                        <a:rPr lang="en-US" sz="2000" b="1" baseline="30000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Sym </a:t>
                      </a:r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Eig</a:t>
                      </a:r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, SVD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ScaLAPACK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 / P</a:t>
                      </a:r>
                      <a:r>
                        <a:rPr lang="en-US" sz="2000" b="1" baseline="30000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Nonsym</a:t>
                      </a:r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Eig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ScaLAPACK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lang="en-US" sz="2000" b="1" baseline="30000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1/2</a:t>
                      </a:r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log P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 log P </a:t>
                      </a:r>
                      <a:endParaRPr lang="en-US" sz="2000" b="1" baseline="30000" dirty="0" smtClean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4" name="Straight Connector 13"/>
          <p:cNvCxnSpPr/>
          <p:nvPr/>
        </p:nvCxnSpPr>
        <p:spPr>
          <a:xfrm>
            <a:off x="381000" y="990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37353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Title 1"/>
          <p:cNvSpPr>
            <a:spLocks noGrp="1"/>
          </p:cNvSpPr>
          <p:nvPr>
            <p:ph type="title"/>
          </p:nvPr>
        </p:nvSpPr>
        <p:spPr>
          <a:xfrm>
            <a:off x="779463" y="11570"/>
            <a:ext cx="7296150" cy="801688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Summary of dense </a:t>
            </a:r>
            <a:r>
              <a:rPr lang="en-US" sz="3200" i="1" u="sng" dirty="0" smtClean="0"/>
              <a:t>parallel</a:t>
            </a:r>
            <a:r>
              <a:rPr lang="en-US" sz="3200" dirty="0" smtClean="0"/>
              <a:t> algorithms </a:t>
            </a:r>
            <a:br>
              <a:rPr lang="en-US" sz="3200" dirty="0" smtClean="0"/>
            </a:br>
            <a:r>
              <a:rPr lang="en-US" sz="3200" dirty="0" smtClean="0"/>
              <a:t>attaining communication lower bounds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832975" y="6400800"/>
            <a:ext cx="1905000" cy="457200"/>
          </a:xfrm>
        </p:spPr>
        <p:txBody>
          <a:bodyPr/>
          <a:lstStyle/>
          <a:p>
            <a:pPr>
              <a:defRPr/>
            </a:pPr>
            <a:fld id="{1110692E-4516-4640-ACA1-F899B3563FBA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  <p:sp>
        <p:nvSpPr>
          <p:cNvPr id="30727" name="Rectangle 11"/>
          <p:cNvSpPr>
            <a:spLocks noChangeArrowheads="1"/>
          </p:cNvSpPr>
          <p:nvPr/>
        </p:nvSpPr>
        <p:spPr bwMode="auto">
          <a:xfrm>
            <a:off x="6796088" y="4476750"/>
            <a:ext cx="1843087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8" name="Rectangle 12"/>
          <p:cNvSpPr>
            <a:spLocks noChangeArrowheads="1"/>
          </p:cNvSpPr>
          <p:nvPr/>
        </p:nvSpPr>
        <p:spPr bwMode="auto">
          <a:xfrm>
            <a:off x="6861175" y="5118100"/>
            <a:ext cx="1843088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9" name="Rectangle 13"/>
          <p:cNvSpPr>
            <a:spLocks noChangeArrowheads="1"/>
          </p:cNvSpPr>
          <p:nvPr/>
        </p:nvSpPr>
        <p:spPr bwMode="auto">
          <a:xfrm>
            <a:off x="6778625" y="5773738"/>
            <a:ext cx="1843088" cy="280987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0" name="Rectangle 14"/>
          <p:cNvSpPr>
            <a:spLocks noChangeArrowheads="1"/>
          </p:cNvSpPr>
          <p:nvPr/>
        </p:nvSpPr>
        <p:spPr bwMode="auto">
          <a:xfrm>
            <a:off x="6778625" y="6400800"/>
            <a:ext cx="1843088" cy="280988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1" name="TextBox 7"/>
          <p:cNvSpPr txBox="1">
            <a:spLocks noChangeArrowheads="1"/>
          </p:cNvSpPr>
          <p:nvPr/>
        </p:nvSpPr>
        <p:spPr bwMode="auto">
          <a:xfrm>
            <a:off x="260284" y="1032808"/>
            <a:ext cx="750032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  </a:t>
            </a:r>
            <a:r>
              <a:rPr lang="en-US" sz="2400" b="0" dirty="0" smtClean="0">
                <a:solidFill>
                  <a:schemeClr val="tx1"/>
                </a:solidFill>
              </a:rPr>
              <a:t>Assume </a:t>
            </a:r>
            <a:r>
              <a:rPr lang="en-US" sz="2400" b="0" dirty="0" err="1">
                <a:solidFill>
                  <a:schemeClr val="tx1"/>
                </a:solidFill>
              </a:rPr>
              <a:t>nxn</a:t>
            </a:r>
            <a:r>
              <a:rPr lang="en-US" sz="2400" b="0" dirty="0">
                <a:solidFill>
                  <a:schemeClr val="tx1"/>
                </a:solidFill>
              </a:rPr>
              <a:t> matrices on P </a:t>
            </a:r>
            <a:r>
              <a:rPr lang="en-US" sz="2400" b="0" dirty="0" smtClean="0">
                <a:solidFill>
                  <a:schemeClr val="tx1"/>
                </a:solidFill>
              </a:rPr>
              <a:t>processors</a:t>
            </a:r>
            <a:r>
              <a:rPr lang="en-US" sz="2400" dirty="0" smtClean="0"/>
              <a:t> (</a:t>
            </a:r>
            <a:r>
              <a:rPr lang="en-US" sz="2400" dirty="0" smtClean="0">
                <a:solidFill>
                  <a:srgbClr val="0824F2"/>
                </a:solidFill>
              </a:rPr>
              <a:t>better</a:t>
            </a:r>
            <a:r>
              <a:rPr lang="en-US" sz="2400" dirty="0" smtClean="0"/>
              <a:t>)</a:t>
            </a:r>
            <a:endParaRPr lang="en-US" sz="2400" b="0" dirty="0" smtClean="0">
              <a:solidFill>
                <a:schemeClr val="tx1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dirty="0" smtClean="0"/>
              <a:t>  </a:t>
            </a:r>
            <a:r>
              <a:rPr lang="en-US" sz="2400" b="0" dirty="0" smtClean="0"/>
              <a:t>Minimum</a:t>
            </a:r>
            <a:r>
              <a:rPr lang="en-US" sz="2400" dirty="0" smtClean="0"/>
              <a:t> </a:t>
            </a:r>
            <a:r>
              <a:rPr lang="en-US" sz="2400" b="0" dirty="0" smtClean="0"/>
              <a:t>M</a:t>
            </a:r>
            <a:r>
              <a:rPr lang="en-US" sz="2400" b="0" dirty="0" smtClean="0">
                <a:solidFill>
                  <a:schemeClr val="tx1"/>
                </a:solidFill>
              </a:rPr>
              <a:t>emory </a:t>
            </a:r>
            <a:r>
              <a:rPr lang="en-US" sz="2400" b="0" dirty="0">
                <a:solidFill>
                  <a:schemeClr val="tx1"/>
                </a:solidFill>
              </a:rPr>
              <a:t>per processor = </a:t>
            </a:r>
            <a:r>
              <a:rPr lang="en-US" sz="2400" b="0" dirty="0" smtClean="0">
                <a:solidFill>
                  <a:schemeClr val="tx1"/>
                </a:solidFill>
              </a:rPr>
              <a:t> M = O(n</a:t>
            </a:r>
            <a:r>
              <a:rPr lang="en-US" sz="2400" b="0" baseline="30000" dirty="0" smtClean="0">
                <a:solidFill>
                  <a:schemeClr val="tx1"/>
                </a:solidFill>
              </a:rPr>
              <a:t>2</a:t>
            </a:r>
            <a:r>
              <a:rPr lang="en-US" sz="2400" b="0" dirty="0" smtClean="0">
                <a:solidFill>
                  <a:schemeClr val="tx1"/>
                </a:solidFill>
              </a:rPr>
              <a:t> </a:t>
            </a:r>
            <a:r>
              <a:rPr lang="en-US" sz="2400" b="0" dirty="0">
                <a:solidFill>
                  <a:schemeClr val="tx1"/>
                </a:solidFill>
              </a:rPr>
              <a:t>/ P</a:t>
            </a:r>
            <a:r>
              <a:rPr lang="en-US" sz="2400" b="0" dirty="0" smtClean="0">
                <a:solidFill>
                  <a:schemeClr val="tx1"/>
                </a:solidFill>
              </a:rPr>
              <a:t>)</a:t>
            </a:r>
            <a:endParaRPr lang="en-US" sz="2400" b="0" dirty="0">
              <a:solidFill>
                <a:schemeClr val="tx1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</a:rPr>
              <a:t>  Recall lower bounds:</a:t>
            </a:r>
          </a:p>
          <a:p>
            <a:pPr lvl="1" algn="l"/>
            <a:r>
              <a:rPr lang="en-US" sz="2400" b="0" dirty="0" smtClean="0">
                <a:solidFill>
                  <a:schemeClr val="tx1"/>
                </a:solidFill>
              </a:rPr>
              <a:t>#</a:t>
            </a:r>
            <a:r>
              <a:rPr lang="en-US" sz="2400" b="0" dirty="0" err="1" smtClean="0">
                <a:solidFill>
                  <a:schemeClr val="tx1"/>
                </a:solidFill>
              </a:rPr>
              <a:t>words_moved</a:t>
            </a:r>
            <a:r>
              <a:rPr lang="en-US" sz="2400" b="0" dirty="0" smtClean="0">
                <a:solidFill>
                  <a:schemeClr val="tx1"/>
                </a:solidFill>
              </a:rPr>
              <a:t>    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1/2</a:t>
            </a:r>
            <a:r>
              <a:rPr lang="en-US" sz="2400" b="0" dirty="0" smtClean="0">
                <a:sym typeface="Symbol" pitchFamily="18" charset="2"/>
              </a:rPr>
              <a:t> )  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n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/  P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)    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        </a:t>
            </a:r>
          </a:p>
          <a:p>
            <a:pPr lvl="1" algn="l"/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messages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          </a:t>
            </a:r>
            <a:r>
              <a:rPr lang="en-US" sz="2400" b="0" dirty="0" smtClean="0"/>
              <a:t>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3/2</a:t>
            </a:r>
            <a:r>
              <a:rPr lang="en-US" sz="2400" b="0" dirty="0" smtClean="0">
                <a:sym typeface="Symbol" pitchFamily="18" charset="2"/>
              </a:rPr>
              <a:t> )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P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)</a:t>
            </a:r>
            <a:endParaRPr lang="en-US" sz="2400" b="0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516253"/>
              </p:ext>
            </p:extLst>
          </p:nvPr>
        </p:nvGraphicFramePr>
        <p:xfrm>
          <a:off x="533400" y="3200400"/>
          <a:ext cx="80772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600200"/>
                <a:gridCol w="2229613"/>
                <a:gridCol w="234238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Reference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Factor exceeding lower bound for #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words_moved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Factor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exceeding lower bound for #messages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Matrix Multiply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[Cannon, 69]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1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1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Cholesky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ScaLAPACK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LU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[GDX10]</a:t>
                      </a:r>
                      <a:endParaRPr lang="en-US" sz="2000" b="1" dirty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</a:t>
                      </a:r>
                      <a:r>
                        <a:rPr lang="en-US" sz="2000" b="1" baseline="0" dirty="0" smtClean="0">
                          <a:latin typeface="Calibri"/>
                          <a:cs typeface="Calibri"/>
                        </a:rPr>
                        <a:t>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log P</a:t>
                      </a:r>
                      <a:endParaRPr lang="en-US" sz="2000" b="1" baseline="30000" dirty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QR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[DGHL08]</a:t>
                      </a:r>
                      <a:endParaRPr lang="en-US" sz="2000" b="1" dirty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 log</a:t>
                      </a:r>
                      <a:r>
                        <a:rPr lang="en-US" sz="2000" b="1" baseline="30000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 P</a:t>
                      </a:r>
                      <a:endParaRPr lang="en-US" sz="2000" b="1" baseline="30000" dirty="0" smtClean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Sym </a:t>
                      </a:r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Eig</a:t>
                      </a:r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, SVD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[BDD11]</a:t>
                      </a:r>
                      <a:endParaRPr lang="en-US" sz="2000" b="1" dirty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log P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log</a:t>
                      </a:r>
                      <a:r>
                        <a:rPr lang="en-US" sz="2000" b="1" baseline="30000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 P</a:t>
                      </a:r>
                      <a:endParaRPr lang="en-US" sz="2000" b="1" baseline="30000" dirty="0" smtClean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Nonsym</a:t>
                      </a:r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Eig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[BDD11]</a:t>
                      </a:r>
                      <a:endParaRPr lang="en-US" sz="2000" b="1" dirty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log P</a:t>
                      </a:r>
                      <a:endParaRPr lang="en-US" sz="2000" b="1" dirty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 log</a:t>
                      </a:r>
                      <a:r>
                        <a:rPr lang="en-US" sz="2000" b="1" baseline="30000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 P</a:t>
                      </a:r>
                      <a:endParaRPr lang="en-US" sz="2000" b="1" baseline="30000" dirty="0" smtClean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4" name="Straight Connector 13"/>
          <p:cNvCxnSpPr/>
          <p:nvPr/>
        </p:nvCxnSpPr>
        <p:spPr>
          <a:xfrm>
            <a:off x="381000" y="990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95127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Title 1"/>
          <p:cNvSpPr>
            <a:spLocks noGrp="1"/>
          </p:cNvSpPr>
          <p:nvPr>
            <p:ph type="title"/>
          </p:nvPr>
        </p:nvSpPr>
        <p:spPr>
          <a:xfrm>
            <a:off x="779463" y="112712"/>
            <a:ext cx="7296150" cy="801688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solidFill>
                  <a:srgbClr val="0824F2"/>
                </a:solidFill>
              </a:rPr>
              <a:t>Can we do even better?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832975" y="6400800"/>
            <a:ext cx="1905000" cy="457200"/>
          </a:xfrm>
        </p:spPr>
        <p:txBody>
          <a:bodyPr/>
          <a:lstStyle/>
          <a:p>
            <a:pPr>
              <a:defRPr/>
            </a:pPr>
            <a:fld id="{1110692E-4516-4640-ACA1-F899B3563FBA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  <p:sp>
        <p:nvSpPr>
          <p:cNvPr id="30727" name="Rectangle 11"/>
          <p:cNvSpPr>
            <a:spLocks noChangeArrowheads="1"/>
          </p:cNvSpPr>
          <p:nvPr/>
        </p:nvSpPr>
        <p:spPr bwMode="auto">
          <a:xfrm>
            <a:off x="6796088" y="4476750"/>
            <a:ext cx="1843087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8" name="Rectangle 12"/>
          <p:cNvSpPr>
            <a:spLocks noChangeArrowheads="1"/>
          </p:cNvSpPr>
          <p:nvPr/>
        </p:nvSpPr>
        <p:spPr bwMode="auto">
          <a:xfrm>
            <a:off x="6861175" y="5118100"/>
            <a:ext cx="1843088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9" name="Rectangle 13"/>
          <p:cNvSpPr>
            <a:spLocks noChangeArrowheads="1"/>
          </p:cNvSpPr>
          <p:nvPr/>
        </p:nvSpPr>
        <p:spPr bwMode="auto">
          <a:xfrm>
            <a:off x="6778625" y="5773738"/>
            <a:ext cx="1843088" cy="280987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0" name="Rectangle 14"/>
          <p:cNvSpPr>
            <a:spLocks noChangeArrowheads="1"/>
          </p:cNvSpPr>
          <p:nvPr/>
        </p:nvSpPr>
        <p:spPr bwMode="auto">
          <a:xfrm>
            <a:off x="6778625" y="6400800"/>
            <a:ext cx="1843088" cy="280988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1" name="TextBox 7"/>
          <p:cNvSpPr txBox="1">
            <a:spLocks noChangeArrowheads="1"/>
          </p:cNvSpPr>
          <p:nvPr/>
        </p:nvSpPr>
        <p:spPr bwMode="auto">
          <a:xfrm>
            <a:off x="296103" y="1032808"/>
            <a:ext cx="838713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  </a:t>
            </a:r>
            <a:r>
              <a:rPr lang="en-US" sz="2400" b="0" dirty="0" smtClean="0">
                <a:solidFill>
                  <a:schemeClr val="tx1"/>
                </a:solidFill>
              </a:rPr>
              <a:t>Assume </a:t>
            </a:r>
            <a:r>
              <a:rPr lang="en-US" sz="2400" b="0" dirty="0" err="1">
                <a:solidFill>
                  <a:schemeClr val="tx1"/>
                </a:solidFill>
              </a:rPr>
              <a:t>nxn</a:t>
            </a:r>
            <a:r>
              <a:rPr lang="en-US" sz="2400" b="0" dirty="0">
                <a:solidFill>
                  <a:schemeClr val="tx1"/>
                </a:solidFill>
              </a:rPr>
              <a:t> matrices on P </a:t>
            </a:r>
            <a:r>
              <a:rPr lang="en-US" sz="2400" b="0" dirty="0" smtClean="0">
                <a:solidFill>
                  <a:schemeClr val="tx1"/>
                </a:solidFill>
              </a:rPr>
              <a:t>processors</a:t>
            </a:r>
            <a:r>
              <a:rPr lang="en-US" sz="2400" dirty="0" smtClean="0"/>
              <a:t> </a:t>
            </a:r>
            <a:endParaRPr lang="en-US" sz="2400" b="0" dirty="0" smtClean="0">
              <a:solidFill>
                <a:schemeClr val="tx1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dirty="0" smtClean="0"/>
              <a:t>  </a:t>
            </a:r>
            <a:r>
              <a:rPr lang="en-US" sz="2400" dirty="0" smtClean="0">
                <a:solidFill>
                  <a:srgbClr val="0824F2"/>
                </a:solidFill>
              </a:rPr>
              <a:t>Use c copies of data:</a:t>
            </a:r>
            <a:r>
              <a:rPr lang="en-US" sz="2400" b="0" dirty="0" smtClean="0">
                <a:solidFill>
                  <a:srgbClr val="0824F2"/>
                </a:solidFill>
              </a:rPr>
              <a:t>  M = O(cn</a:t>
            </a:r>
            <a:r>
              <a:rPr lang="en-US" sz="2400" b="0" baseline="30000" dirty="0" smtClean="0">
                <a:solidFill>
                  <a:srgbClr val="0824F2"/>
                </a:solidFill>
              </a:rPr>
              <a:t>2</a:t>
            </a:r>
            <a:r>
              <a:rPr lang="en-US" sz="2400" b="0" dirty="0" smtClean="0">
                <a:solidFill>
                  <a:srgbClr val="0824F2"/>
                </a:solidFill>
              </a:rPr>
              <a:t> </a:t>
            </a:r>
            <a:r>
              <a:rPr lang="en-US" sz="2400" b="0" dirty="0">
                <a:solidFill>
                  <a:srgbClr val="0824F2"/>
                </a:solidFill>
              </a:rPr>
              <a:t>/ P</a:t>
            </a:r>
            <a:r>
              <a:rPr lang="en-US" sz="2400" b="0" dirty="0" smtClean="0">
                <a:solidFill>
                  <a:srgbClr val="0824F2"/>
                </a:solidFill>
              </a:rPr>
              <a:t>) per processor</a:t>
            </a:r>
            <a:endParaRPr lang="en-US" sz="2400" b="0" dirty="0">
              <a:solidFill>
                <a:srgbClr val="0824F2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</a:rPr>
              <a:t>  </a:t>
            </a:r>
            <a:r>
              <a:rPr lang="en-US" sz="2400" b="0" dirty="0" smtClean="0">
                <a:solidFill>
                  <a:srgbClr val="0824F2"/>
                </a:solidFill>
              </a:rPr>
              <a:t>Increasing M reduces </a:t>
            </a:r>
            <a:r>
              <a:rPr lang="en-US" sz="2400" b="0" dirty="0">
                <a:solidFill>
                  <a:srgbClr val="0824F2"/>
                </a:solidFill>
              </a:rPr>
              <a:t>lower bounds:</a:t>
            </a:r>
          </a:p>
          <a:p>
            <a:pPr lvl="1" algn="l"/>
            <a:r>
              <a:rPr lang="en-US" sz="2400" b="0" dirty="0" smtClean="0">
                <a:solidFill>
                  <a:schemeClr val="tx1"/>
                </a:solidFill>
              </a:rPr>
              <a:t>#</a:t>
            </a:r>
            <a:r>
              <a:rPr lang="en-US" sz="2400" b="0" dirty="0" err="1" smtClean="0">
                <a:solidFill>
                  <a:schemeClr val="tx1"/>
                </a:solidFill>
              </a:rPr>
              <a:t>words_moved</a:t>
            </a:r>
            <a:r>
              <a:rPr lang="en-US" sz="2400" b="0" dirty="0" smtClean="0">
                <a:solidFill>
                  <a:schemeClr val="tx1"/>
                </a:solidFill>
              </a:rPr>
              <a:t>    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1/2</a:t>
            </a:r>
            <a:r>
              <a:rPr lang="en-US" sz="2400" b="0" dirty="0" smtClean="0">
                <a:sym typeface="Symbol" pitchFamily="18" charset="2"/>
              </a:rPr>
              <a:t> )  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n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/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(</a:t>
            </a:r>
            <a:r>
              <a:rPr lang="en-US" sz="2400" b="0" dirty="0" smtClean="0">
                <a:solidFill>
                  <a:srgbClr val="0824F2"/>
                </a:solidFill>
                <a:sym typeface="Symbol" pitchFamily="18" charset="2"/>
              </a:rPr>
              <a:t>c</a:t>
            </a:r>
            <a:r>
              <a:rPr lang="en-US" sz="2400" b="0" baseline="30000" dirty="0" smtClean="0">
                <a:solidFill>
                  <a:srgbClr val="0824F2"/>
                </a:solidFill>
                <a:sym typeface="Symbol" pitchFamily="18" charset="2"/>
              </a:rPr>
              <a:t>1/2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P</a:t>
            </a:r>
            <a:r>
              <a:rPr lang="en-US" sz="2400" b="0" baseline="30000" dirty="0" smtClean="0">
                <a:solidFill>
                  <a:schemeClr val="tx1"/>
                </a:solidFill>
                <a:sym typeface="Symbol" pitchFamily="18" charset="2"/>
              </a:rPr>
              <a:t>1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) )               </a:t>
            </a:r>
          </a:p>
          <a:p>
            <a:pPr lvl="1" algn="l"/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messages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          </a:t>
            </a:r>
            <a:r>
              <a:rPr lang="en-US" sz="2400" b="0" dirty="0" smtClean="0"/>
              <a:t>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3/2</a:t>
            </a:r>
            <a:r>
              <a:rPr lang="en-US" sz="2400" b="0" dirty="0" smtClean="0">
                <a:sym typeface="Symbol" pitchFamily="18" charset="2"/>
              </a:rPr>
              <a:t> )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P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/ </a:t>
            </a:r>
            <a:r>
              <a:rPr lang="en-US" sz="2400" b="0" dirty="0" smtClean="0">
                <a:solidFill>
                  <a:srgbClr val="0824F2"/>
                </a:solidFill>
                <a:sym typeface="Symbol" pitchFamily="18" charset="2"/>
              </a:rPr>
              <a:t>c</a:t>
            </a:r>
            <a:r>
              <a:rPr lang="en-US" sz="2400" b="0" baseline="30000" dirty="0" smtClean="0">
                <a:solidFill>
                  <a:srgbClr val="0824F2"/>
                </a:solidFill>
                <a:sym typeface="Symbol" pitchFamily="18" charset="2"/>
              </a:rPr>
              <a:t>3/2</a:t>
            </a:r>
            <a:r>
              <a:rPr lang="en-US" sz="2400" b="0" baseline="30000" dirty="0" smtClean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)</a:t>
            </a:r>
            <a:endParaRPr lang="en-US" sz="2400" b="0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292619"/>
              </p:ext>
            </p:extLst>
          </p:nvPr>
        </p:nvGraphicFramePr>
        <p:xfrm>
          <a:off x="304800" y="3200302"/>
          <a:ext cx="838199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05000"/>
                <a:gridCol w="1959633"/>
                <a:gridCol w="26885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Reference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Factor exceeding lower bound for #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words_moved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Factor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exceeding lower bound for #messages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Matrix Multiply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[DS11,SBD11]</a:t>
                      </a:r>
                      <a:endParaRPr lang="en-US" sz="2000" b="1" dirty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polylog</a:t>
                      </a:r>
                      <a:r>
                        <a:rPr lang="en-US" sz="2000" b="1" baseline="0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 P</a:t>
                      </a:r>
                      <a:endParaRPr lang="en-US" sz="2000" b="1" dirty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polylog</a:t>
                      </a:r>
                      <a:r>
                        <a:rPr lang="en-US" sz="2000" b="1" baseline="0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 P</a:t>
                      </a:r>
                      <a:endParaRPr lang="en-US" sz="2000" b="1" dirty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Cholesky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[SD11,</a:t>
                      </a:r>
                      <a:r>
                        <a:rPr lang="en-US" sz="2000" b="1" baseline="0" dirty="0" smtClean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 in </a:t>
                      </a:r>
                      <a:r>
                        <a:rPr lang="en-US" sz="2000" b="1" baseline="0" dirty="0" err="1" smtClean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prog</a:t>
                      </a:r>
                      <a:r>
                        <a:rPr lang="en-US" sz="2000" b="1" baseline="0" dirty="0" smtClean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.]</a:t>
                      </a:r>
                      <a:endParaRPr lang="en-US" sz="2000" b="1" dirty="0">
                        <a:solidFill>
                          <a:srgbClr val="008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 smtClean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polylog</a:t>
                      </a:r>
                      <a:r>
                        <a:rPr lang="en-US" sz="2000" b="1" dirty="0" smtClean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 P</a:t>
                      </a:r>
                      <a:endParaRPr lang="en-US" sz="2000" b="1" dirty="0">
                        <a:solidFill>
                          <a:srgbClr val="008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solidFill>
                            <a:srgbClr val="008000"/>
                          </a:solidFill>
                          <a:latin typeface="+mn-lt"/>
                          <a:cs typeface="Calibri"/>
                        </a:rPr>
                        <a:t>c</a:t>
                      </a:r>
                      <a:r>
                        <a:rPr lang="en-US" sz="2400" b="1" baseline="30000" dirty="0" smtClean="0">
                          <a:solidFill>
                            <a:srgbClr val="008000"/>
                          </a:solidFill>
                          <a:latin typeface="+mn-lt"/>
                          <a:cs typeface="Calibri"/>
                        </a:rPr>
                        <a:t>2</a:t>
                      </a:r>
                      <a:r>
                        <a:rPr lang="en-US" sz="2000" b="1" dirty="0" smtClean="0">
                          <a:solidFill>
                            <a:srgbClr val="008000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2000" b="1" dirty="0" err="1" smtClean="0">
                          <a:solidFill>
                            <a:srgbClr val="008000"/>
                          </a:solidFill>
                          <a:latin typeface="+mn-lt"/>
                          <a:cs typeface="Calibri"/>
                        </a:rPr>
                        <a:t>polylog</a:t>
                      </a:r>
                      <a:r>
                        <a:rPr lang="en-US" sz="2000" b="1" dirty="0" smtClean="0">
                          <a:solidFill>
                            <a:srgbClr val="008000"/>
                          </a:solidFill>
                          <a:latin typeface="+mn-lt"/>
                          <a:cs typeface="Calibri"/>
                        </a:rPr>
                        <a:t> P – optimal!</a:t>
                      </a:r>
                      <a:endParaRPr lang="en-US" sz="2000" b="1" baseline="30000" dirty="0" smtClean="0">
                        <a:solidFill>
                          <a:srgbClr val="008000"/>
                        </a:solidFill>
                        <a:latin typeface="+mn-lt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LU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[DS11,SBD11]</a:t>
                      </a:r>
                      <a:endParaRPr lang="en-US" sz="2000" b="1" dirty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polylog</a:t>
                      </a:r>
                      <a:r>
                        <a:rPr lang="en-US" sz="2000" b="1" baseline="0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 P</a:t>
                      </a:r>
                      <a:endParaRPr lang="en-US" sz="2000" b="1" dirty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lang="en-US" sz="2400" b="1" baseline="30000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1" dirty="0" err="1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polylog</a:t>
                      </a:r>
                      <a:r>
                        <a:rPr lang="en-US" sz="2000" b="1" dirty="0" smtClean="0">
                          <a:solidFill>
                            <a:srgbClr val="0824F2"/>
                          </a:solidFill>
                          <a:latin typeface="Calibri"/>
                          <a:cs typeface="Calibri"/>
                        </a:rPr>
                        <a:t> P – optimal!</a:t>
                      </a:r>
                      <a:endParaRPr lang="en-US" sz="2000" b="1" baseline="30000" dirty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QR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Via</a:t>
                      </a:r>
                      <a:r>
                        <a:rPr lang="en-US" sz="2000" b="1" baseline="0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1" baseline="0" dirty="0" err="1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Cholesky</a:t>
                      </a:r>
                      <a:r>
                        <a:rPr lang="en-US" sz="2000" b="1" baseline="0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QR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 smtClean="0">
                          <a:solidFill>
                            <a:srgbClr val="008000"/>
                          </a:solidFill>
                          <a:latin typeface="+mn-lt"/>
                          <a:cs typeface="Calibri"/>
                        </a:rPr>
                        <a:t>polylog</a:t>
                      </a:r>
                      <a:r>
                        <a:rPr lang="en-US" sz="2000" b="1" dirty="0" smtClean="0">
                          <a:solidFill>
                            <a:srgbClr val="008000"/>
                          </a:solidFill>
                          <a:latin typeface="+mn-lt"/>
                          <a:cs typeface="Calibri"/>
                        </a:rPr>
                        <a:t> 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solidFill>
                            <a:srgbClr val="008000"/>
                          </a:solidFill>
                          <a:latin typeface="+mn-lt"/>
                          <a:cs typeface="Calibri"/>
                        </a:rPr>
                        <a:t>c</a:t>
                      </a:r>
                      <a:r>
                        <a:rPr lang="en-US" sz="2400" b="1" baseline="30000" dirty="0" smtClean="0">
                          <a:solidFill>
                            <a:srgbClr val="008000"/>
                          </a:solidFill>
                          <a:latin typeface="+mn-lt"/>
                          <a:cs typeface="Calibri"/>
                        </a:rPr>
                        <a:t>2</a:t>
                      </a:r>
                      <a:r>
                        <a:rPr lang="en-US" sz="2000" b="1" dirty="0" smtClean="0">
                          <a:solidFill>
                            <a:srgbClr val="008000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2000" b="1" dirty="0" err="1" smtClean="0">
                          <a:solidFill>
                            <a:srgbClr val="008000"/>
                          </a:solidFill>
                          <a:latin typeface="+mn-lt"/>
                          <a:cs typeface="Calibri"/>
                        </a:rPr>
                        <a:t>polylog</a:t>
                      </a:r>
                      <a:r>
                        <a:rPr lang="en-US" sz="2000" b="1" dirty="0" smtClean="0">
                          <a:solidFill>
                            <a:srgbClr val="008000"/>
                          </a:solidFill>
                          <a:latin typeface="+mn-lt"/>
                          <a:cs typeface="Calibri"/>
                        </a:rPr>
                        <a:t> P – optimal!</a:t>
                      </a:r>
                      <a:endParaRPr lang="en-US" sz="2000" b="1" baseline="30000" dirty="0" smtClean="0">
                        <a:solidFill>
                          <a:srgbClr val="008000"/>
                        </a:solidFill>
                        <a:latin typeface="+mn-lt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Sym </a:t>
                      </a:r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Eig</a:t>
                      </a:r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, SVD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baseline="30000" dirty="0" smtClean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Nonsym</a:t>
                      </a:r>
                      <a:r>
                        <a:rPr lang="en-US" sz="2000" b="1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1" dirty="0" err="1" smtClean="0">
                          <a:latin typeface="Calibri"/>
                          <a:cs typeface="Calibri"/>
                        </a:rPr>
                        <a:t>Eig</a:t>
                      </a:r>
                      <a:endParaRPr lang="en-US" sz="2000" b="1" dirty="0"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baseline="30000" dirty="0" smtClean="0">
                        <a:solidFill>
                          <a:srgbClr val="0824F2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4" name="Straight Connector 13"/>
          <p:cNvCxnSpPr/>
          <p:nvPr/>
        </p:nvCxnSpPr>
        <p:spPr>
          <a:xfrm>
            <a:off x="381000" y="990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30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Symmetric Band Reduction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768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Grey Ballard and Nick Knight</a:t>
            </a:r>
          </a:p>
          <a:p>
            <a:r>
              <a:rPr lang="en-US" dirty="0" smtClean="0"/>
              <a:t>A  </a:t>
            </a:r>
            <a:r>
              <a:rPr lang="en-US" dirty="0" smtClean="0">
                <a:sym typeface="Symbol"/>
              </a:rPr>
              <a:t> QAQ</a:t>
            </a:r>
            <a:r>
              <a:rPr lang="en-US" baseline="30000" dirty="0" smtClean="0">
                <a:sym typeface="Symbol"/>
              </a:rPr>
              <a:t>T </a:t>
            </a:r>
            <a:r>
              <a:rPr lang="en-US" dirty="0" smtClean="0">
                <a:sym typeface="Symbol"/>
              </a:rPr>
              <a:t>= T,  where </a:t>
            </a:r>
          </a:p>
          <a:p>
            <a:pPr lvl="1"/>
            <a:r>
              <a:rPr lang="en-US" dirty="0" smtClean="0">
                <a:sym typeface="Symbol"/>
              </a:rPr>
              <a:t>A=A</a:t>
            </a:r>
            <a:r>
              <a:rPr lang="en-US" baseline="30000" dirty="0" smtClean="0">
                <a:sym typeface="Symbol"/>
              </a:rPr>
              <a:t>T</a:t>
            </a:r>
            <a:r>
              <a:rPr lang="en-US" dirty="0" smtClean="0">
                <a:sym typeface="Symbol"/>
              </a:rPr>
              <a:t> is banded</a:t>
            </a:r>
          </a:p>
          <a:p>
            <a:pPr lvl="1"/>
            <a:r>
              <a:rPr lang="en-US" dirty="0" smtClean="0">
                <a:sym typeface="Symbol"/>
              </a:rPr>
              <a:t>T </a:t>
            </a:r>
            <a:r>
              <a:rPr lang="en-US" dirty="0" err="1" smtClean="0">
                <a:sym typeface="Symbol"/>
              </a:rPr>
              <a:t>tridiagonal</a:t>
            </a:r>
            <a:endParaRPr lang="en-US" dirty="0" smtClean="0">
              <a:sym typeface="Symbol"/>
            </a:endParaRPr>
          </a:p>
          <a:p>
            <a:pPr lvl="1"/>
            <a:r>
              <a:rPr lang="en-US" dirty="0" smtClean="0">
                <a:sym typeface="Symbol"/>
              </a:rPr>
              <a:t>Similar idea for SVD of a band matrix</a:t>
            </a:r>
          </a:p>
          <a:p>
            <a:r>
              <a:rPr lang="en-US" dirty="0" smtClean="0">
                <a:sym typeface="Symbol"/>
              </a:rPr>
              <a:t>Use alone, or as second phase when A is dense:</a:t>
            </a:r>
          </a:p>
          <a:p>
            <a:pPr lvl="1"/>
            <a:r>
              <a:rPr lang="en-US" dirty="0" smtClean="0">
                <a:sym typeface="Symbol"/>
              </a:rPr>
              <a:t>Dense  Banded  </a:t>
            </a:r>
            <a:r>
              <a:rPr lang="en-US" dirty="0" err="1" smtClean="0">
                <a:sym typeface="Symbol"/>
              </a:rPr>
              <a:t>Tridiagonal</a:t>
            </a:r>
            <a:endParaRPr lang="en-US" dirty="0" smtClean="0">
              <a:sym typeface="Symbol"/>
            </a:endParaRPr>
          </a:p>
          <a:p>
            <a:r>
              <a:rPr lang="en-US" dirty="0" smtClean="0">
                <a:sym typeface="Symbol"/>
              </a:rPr>
              <a:t>Implemented in LAPACK’s </a:t>
            </a:r>
            <a:r>
              <a:rPr lang="en-US" dirty="0" err="1" smtClean="0">
                <a:sym typeface="Symbol"/>
              </a:rPr>
              <a:t>sytrd</a:t>
            </a:r>
            <a:endParaRPr lang="en-US" dirty="0" smtClean="0">
              <a:sym typeface="Symbol"/>
            </a:endParaRPr>
          </a:p>
          <a:p>
            <a:r>
              <a:rPr lang="en-US" dirty="0" smtClean="0">
                <a:sym typeface="Symbol"/>
              </a:rPr>
              <a:t>Algorithm does not satisfy communication lower bound theorem for applying orthogonal transformations</a:t>
            </a:r>
          </a:p>
          <a:p>
            <a:pPr lvl="1"/>
            <a:r>
              <a:rPr lang="en-US" dirty="0" smtClean="0">
                <a:sym typeface="Symbol"/>
              </a:rPr>
              <a:t>It can communicate even less!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9986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295400" y="1600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6200000" flipH="1">
            <a:off x="2209800" y="16002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410200" y="57150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>
            <a:off x="4953000" y="6172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V="1">
            <a:off x="1295400" y="25146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 flipH="1" flipV="1">
            <a:off x="1295400" y="2514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295400" y="2514600"/>
            <a:ext cx="914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838200" y="20574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/>
          <p:nvPr/>
        </p:nvCxnSpPr>
        <p:spPr>
          <a:xfrm>
            <a:off x="1295400" y="1143000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11" name="TextBox 212"/>
          <p:cNvSpPr txBox="1">
            <a:spLocks noChangeArrowheads="1"/>
          </p:cNvSpPr>
          <p:nvPr/>
        </p:nvSpPr>
        <p:spPr bwMode="auto">
          <a:xfrm>
            <a:off x="1524000" y="9144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rot="5400000">
            <a:off x="229394" y="20566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13" name="TextBox 215"/>
          <p:cNvSpPr txBox="1">
            <a:spLocks noChangeArrowheads="1"/>
          </p:cNvSpPr>
          <p:nvPr/>
        </p:nvSpPr>
        <p:spPr bwMode="auto">
          <a:xfrm rot="-5400000">
            <a:off x="368300" y="1905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sp>
        <p:nvSpPr>
          <p:cNvPr id="51214" name="TextBox 105"/>
          <p:cNvSpPr txBox="1">
            <a:spLocks noChangeArrowheads="1"/>
          </p:cNvSpPr>
          <p:nvPr/>
        </p:nvSpPr>
        <p:spPr bwMode="auto">
          <a:xfrm>
            <a:off x="811213" y="171450"/>
            <a:ext cx="751205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Calibri" pitchFamily="34" charset="0"/>
              </a:rPr>
              <a:t>Successive 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</a:rPr>
              <a:t>Band Reduction</a:t>
            </a:r>
          </a:p>
        </p:txBody>
      </p:sp>
    </p:spTree>
    <p:extLst>
      <p:ext uri="{BB962C8B-B14F-4D97-AF65-F5344CB8AC3E}">
        <p14:creationId xmlns:p14="http://schemas.microsoft.com/office/powerpoint/2010/main" val="3097892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295400" y="1600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6200000" flipH="1">
            <a:off x="2209800" y="16002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410200" y="57150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>
            <a:off x="4953000" y="6172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V="1">
            <a:off x="1295400" y="25146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 flipH="1" flipV="1">
            <a:off x="1295400" y="2514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295400" y="2514600"/>
            <a:ext cx="914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838200" y="20574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6200000" flipH="1">
            <a:off x="1295400" y="22860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1333500" y="2552700"/>
            <a:ext cx="22860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36" name="TextBox 183"/>
          <p:cNvSpPr txBox="1">
            <a:spLocks noChangeArrowheads="1"/>
          </p:cNvSpPr>
          <p:nvPr/>
        </p:nvSpPr>
        <p:spPr bwMode="auto">
          <a:xfrm>
            <a:off x="1295400" y="2362200"/>
            <a:ext cx="762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cxnSp>
        <p:nvCxnSpPr>
          <p:cNvPr id="212" name="Straight Arrow Connector 211"/>
          <p:cNvCxnSpPr/>
          <p:nvPr/>
        </p:nvCxnSpPr>
        <p:spPr>
          <a:xfrm>
            <a:off x="1295400" y="1143000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38" name="TextBox 212"/>
          <p:cNvSpPr txBox="1">
            <a:spLocks noChangeArrowheads="1"/>
          </p:cNvSpPr>
          <p:nvPr/>
        </p:nvSpPr>
        <p:spPr bwMode="auto">
          <a:xfrm>
            <a:off x="1524000" y="9144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rot="5400000">
            <a:off x="229394" y="20566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40" name="TextBox 215"/>
          <p:cNvSpPr txBox="1">
            <a:spLocks noChangeArrowheads="1"/>
          </p:cNvSpPr>
          <p:nvPr/>
        </p:nvSpPr>
        <p:spPr bwMode="auto">
          <a:xfrm rot="-5400000">
            <a:off x="368300" y="1905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26" name="Straight Arrow Connector 225"/>
          <p:cNvCxnSpPr/>
          <p:nvPr/>
        </p:nvCxnSpPr>
        <p:spPr>
          <a:xfrm rot="5400000" flipH="1" flipV="1">
            <a:off x="875507" y="240109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42" name="TextBox 226"/>
          <p:cNvSpPr txBox="1">
            <a:spLocks noChangeArrowheads="1"/>
          </p:cNvSpPr>
          <p:nvPr/>
        </p:nvSpPr>
        <p:spPr bwMode="auto">
          <a:xfrm rot="-5400000">
            <a:off x="6731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sp>
        <p:nvSpPr>
          <p:cNvPr id="52243" name="TextBox 228"/>
          <p:cNvSpPr txBox="1">
            <a:spLocks noChangeArrowheads="1"/>
          </p:cNvSpPr>
          <p:nvPr/>
        </p:nvSpPr>
        <p:spPr bwMode="auto">
          <a:xfrm>
            <a:off x="1227138" y="2667000"/>
            <a:ext cx="269875" cy="2762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cxnSp>
        <p:nvCxnSpPr>
          <p:cNvPr id="234" name="Straight Arrow Connector 233"/>
          <p:cNvCxnSpPr/>
          <p:nvPr/>
        </p:nvCxnSpPr>
        <p:spPr>
          <a:xfrm rot="10800000">
            <a:off x="1295400" y="2743200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45" name="TextBox 105"/>
          <p:cNvSpPr txBox="1">
            <a:spLocks noChangeArrowheads="1"/>
          </p:cNvSpPr>
          <p:nvPr/>
        </p:nvSpPr>
        <p:spPr bwMode="auto">
          <a:xfrm>
            <a:off x="811213" y="171450"/>
            <a:ext cx="751205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Calibri" pitchFamily="34" charset="0"/>
              </a:rPr>
              <a:t>Successive 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</a:rPr>
              <a:t>Band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81600"/>
            <a:ext cx="1956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 = bandwidth</a:t>
            </a:r>
          </a:p>
          <a:p>
            <a:r>
              <a:rPr lang="en-US" dirty="0" smtClean="0"/>
              <a:t>c = #columns</a:t>
            </a:r>
          </a:p>
          <a:p>
            <a:r>
              <a:rPr lang="en-US" dirty="0" smtClean="0"/>
              <a:t>d = #diagonals</a:t>
            </a:r>
          </a:p>
          <a:p>
            <a:r>
              <a:rPr lang="en-US" dirty="0" smtClean="0"/>
              <a:t>Constraint: </a:t>
            </a:r>
            <a:r>
              <a:rPr lang="en-US" dirty="0" err="1" smtClean="0"/>
              <a:t>c+d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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076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295400" y="1600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6200000" flipH="1">
            <a:off x="2209800" y="16002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410200" y="57150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>
            <a:off x="4953000" y="6172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V="1">
            <a:off x="1295400" y="25146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 flipH="1" flipV="1">
            <a:off x="1295400" y="2514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295400" y="2514600"/>
            <a:ext cx="914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838200" y="20574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6200000" flipH="1">
            <a:off x="1295400" y="22860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1333500" y="2552700"/>
            <a:ext cx="22860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60" name="TextBox 183"/>
          <p:cNvSpPr txBox="1">
            <a:spLocks noChangeArrowheads="1"/>
          </p:cNvSpPr>
          <p:nvPr/>
        </p:nvSpPr>
        <p:spPr bwMode="auto">
          <a:xfrm>
            <a:off x="1295400" y="2362200"/>
            <a:ext cx="762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53261" name="TextBox 197"/>
          <p:cNvSpPr txBox="1">
            <a:spLocks noChangeArrowheads="1"/>
          </p:cNvSpPr>
          <p:nvPr/>
        </p:nvSpPr>
        <p:spPr bwMode="auto">
          <a:xfrm>
            <a:off x="1031875" y="23622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</a:p>
        </p:txBody>
      </p:sp>
      <p:cxnSp>
        <p:nvCxnSpPr>
          <p:cNvPr id="212" name="Straight Arrow Connector 211"/>
          <p:cNvCxnSpPr/>
          <p:nvPr/>
        </p:nvCxnSpPr>
        <p:spPr>
          <a:xfrm>
            <a:off x="1295400" y="1143000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63" name="TextBox 212"/>
          <p:cNvSpPr txBox="1">
            <a:spLocks noChangeArrowheads="1"/>
          </p:cNvSpPr>
          <p:nvPr/>
        </p:nvSpPr>
        <p:spPr bwMode="auto">
          <a:xfrm>
            <a:off x="1524000" y="9144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rot="5400000">
            <a:off x="229394" y="20566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65" name="TextBox 215"/>
          <p:cNvSpPr txBox="1">
            <a:spLocks noChangeArrowheads="1"/>
          </p:cNvSpPr>
          <p:nvPr/>
        </p:nvSpPr>
        <p:spPr bwMode="auto">
          <a:xfrm rot="-5400000">
            <a:off x="368300" y="1905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26" name="Straight Arrow Connector 225"/>
          <p:cNvCxnSpPr/>
          <p:nvPr/>
        </p:nvCxnSpPr>
        <p:spPr>
          <a:xfrm rot="5400000" flipH="1" flipV="1">
            <a:off x="875507" y="240109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67" name="TextBox 226"/>
          <p:cNvSpPr txBox="1">
            <a:spLocks noChangeArrowheads="1"/>
          </p:cNvSpPr>
          <p:nvPr/>
        </p:nvSpPr>
        <p:spPr bwMode="auto">
          <a:xfrm rot="-5400000">
            <a:off x="6731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sp>
        <p:nvSpPr>
          <p:cNvPr id="53268" name="TextBox 228"/>
          <p:cNvSpPr txBox="1">
            <a:spLocks noChangeArrowheads="1"/>
          </p:cNvSpPr>
          <p:nvPr/>
        </p:nvSpPr>
        <p:spPr bwMode="auto">
          <a:xfrm>
            <a:off x="1227138" y="2667000"/>
            <a:ext cx="269875" cy="2762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cxnSp>
        <p:nvCxnSpPr>
          <p:cNvPr id="234" name="Straight Arrow Connector 233"/>
          <p:cNvCxnSpPr/>
          <p:nvPr/>
        </p:nvCxnSpPr>
        <p:spPr>
          <a:xfrm rot="10800000">
            <a:off x="1295400" y="2743200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70" name="TextBox 105"/>
          <p:cNvSpPr txBox="1">
            <a:spLocks noChangeArrowheads="1"/>
          </p:cNvSpPr>
          <p:nvPr/>
        </p:nvSpPr>
        <p:spPr bwMode="auto">
          <a:xfrm>
            <a:off x="811213" y="171450"/>
            <a:ext cx="751205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Calibri" pitchFamily="34" charset="0"/>
              </a:rPr>
              <a:t>Successive 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</a:rPr>
              <a:t>Band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81600"/>
            <a:ext cx="1956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 = bandwidth</a:t>
            </a:r>
          </a:p>
          <a:p>
            <a:r>
              <a:rPr lang="en-US" dirty="0" smtClean="0"/>
              <a:t>c = #columns</a:t>
            </a:r>
          </a:p>
          <a:p>
            <a:r>
              <a:rPr lang="en-US" dirty="0" smtClean="0"/>
              <a:t>d = #diagonals</a:t>
            </a:r>
          </a:p>
          <a:p>
            <a:r>
              <a:rPr lang="en-US" dirty="0" smtClean="0"/>
              <a:t>Constraint: </a:t>
            </a:r>
            <a:r>
              <a:rPr lang="en-US" dirty="0" err="1" smtClean="0"/>
              <a:t>c+d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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681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295400" y="1600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6200000" flipH="1">
            <a:off x="2209800" y="16002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410200" y="57150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>
            <a:off x="4953000" y="6172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V="1">
            <a:off x="1295400" y="25146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 flipH="1" flipV="1">
            <a:off x="1295400" y="2514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295400" y="2514600"/>
            <a:ext cx="914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838200" y="20574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6200000" flipH="1">
            <a:off x="1295400" y="22860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1333500" y="2552700"/>
            <a:ext cx="22860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447800" y="26670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1295400" y="2286000"/>
            <a:ext cx="16002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35"/>
          <p:cNvGrpSpPr>
            <a:grpSpLocks/>
          </p:cNvGrpSpPr>
          <p:nvPr/>
        </p:nvGrpSpPr>
        <p:grpSpPr bwMode="auto">
          <a:xfrm>
            <a:off x="2895600" y="2286000"/>
            <a:ext cx="381000" cy="381000"/>
            <a:chOff x="3733800" y="1981200"/>
            <a:chExt cx="381000" cy="381000"/>
          </a:xfrm>
        </p:grpSpPr>
        <p:cxnSp>
          <p:nvCxnSpPr>
            <p:cNvPr id="129" name="Straight Connector 128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287" name="TextBox 183"/>
          <p:cNvSpPr txBox="1">
            <a:spLocks noChangeArrowheads="1"/>
          </p:cNvSpPr>
          <p:nvPr/>
        </p:nvSpPr>
        <p:spPr bwMode="auto">
          <a:xfrm>
            <a:off x="1295400" y="2362200"/>
            <a:ext cx="762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54288" name="TextBox 185"/>
          <p:cNvSpPr txBox="1">
            <a:spLocks noChangeArrowheads="1"/>
          </p:cNvSpPr>
          <p:nvPr/>
        </p:nvSpPr>
        <p:spPr bwMode="auto">
          <a:xfrm rot="10800000" flipV="1">
            <a:off x="3048000" y="22780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2</a:t>
            </a:r>
          </a:p>
        </p:txBody>
      </p:sp>
      <p:sp>
        <p:nvSpPr>
          <p:cNvPr id="54289" name="TextBox 197"/>
          <p:cNvSpPr txBox="1">
            <a:spLocks noChangeArrowheads="1"/>
          </p:cNvSpPr>
          <p:nvPr/>
        </p:nvSpPr>
        <p:spPr bwMode="auto">
          <a:xfrm>
            <a:off x="1031875" y="23622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</a:p>
        </p:txBody>
      </p:sp>
      <p:cxnSp>
        <p:nvCxnSpPr>
          <p:cNvPr id="212" name="Straight Arrow Connector 211"/>
          <p:cNvCxnSpPr/>
          <p:nvPr/>
        </p:nvCxnSpPr>
        <p:spPr>
          <a:xfrm>
            <a:off x="1295400" y="1143000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91" name="TextBox 212"/>
          <p:cNvSpPr txBox="1">
            <a:spLocks noChangeArrowheads="1"/>
          </p:cNvSpPr>
          <p:nvPr/>
        </p:nvSpPr>
        <p:spPr bwMode="auto">
          <a:xfrm>
            <a:off x="1524000" y="9144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rot="5400000">
            <a:off x="229394" y="20566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93" name="TextBox 215"/>
          <p:cNvSpPr txBox="1">
            <a:spLocks noChangeArrowheads="1"/>
          </p:cNvSpPr>
          <p:nvPr/>
        </p:nvSpPr>
        <p:spPr bwMode="auto">
          <a:xfrm rot="-5400000">
            <a:off x="368300" y="1905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26" name="Straight Arrow Connector 225"/>
          <p:cNvCxnSpPr/>
          <p:nvPr/>
        </p:nvCxnSpPr>
        <p:spPr>
          <a:xfrm rot="5400000" flipH="1" flipV="1">
            <a:off x="875507" y="240109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95" name="TextBox 226"/>
          <p:cNvSpPr txBox="1">
            <a:spLocks noChangeArrowheads="1"/>
          </p:cNvSpPr>
          <p:nvPr/>
        </p:nvSpPr>
        <p:spPr bwMode="auto">
          <a:xfrm rot="-5400000">
            <a:off x="6731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cxnSp>
        <p:nvCxnSpPr>
          <p:cNvPr id="240" name="Straight Arrow Connector 239"/>
          <p:cNvCxnSpPr/>
          <p:nvPr/>
        </p:nvCxnSpPr>
        <p:spPr>
          <a:xfrm>
            <a:off x="2895600" y="1965325"/>
            <a:ext cx="3810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97" name="TextBox 240"/>
          <p:cNvSpPr txBox="1">
            <a:spLocks noChangeArrowheads="1"/>
          </p:cNvSpPr>
          <p:nvPr/>
        </p:nvSpPr>
        <p:spPr bwMode="auto">
          <a:xfrm>
            <a:off x="2895600" y="1706563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cxnSp>
        <p:nvCxnSpPr>
          <p:cNvPr id="243" name="Straight Arrow Connector 242"/>
          <p:cNvCxnSpPr/>
          <p:nvPr/>
        </p:nvCxnSpPr>
        <p:spPr>
          <a:xfrm rot="5400000">
            <a:off x="3238501" y="2476500"/>
            <a:ext cx="381000" cy="317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99" name="TextBox 243"/>
          <p:cNvSpPr txBox="1">
            <a:spLocks noChangeArrowheads="1"/>
          </p:cNvSpPr>
          <p:nvPr/>
        </p:nvSpPr>
        <p:spPr bwMode="auto">
          <a:xfrm>
            <a:off x="34290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sp>
        <p:nvSpPr>
          <p:cNvPr id="54300" name="TextBox 105"/>
          <p:cNvSpPr txBox="1">
            <a:spLocks noChangeArrowheads="1"/>
          </p:cNvSpPr>
          <p:nvPr/>
        </p:nvSpPr>
        <p:spPr bwMode="auto">
          <a:xfrm>
            <a:off x="811213" y="171450"/>
            <a:ext cx="751205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Calibri" pitchFamily="34" charset="0"/>
              </a:rPr>
              <a:t>Successive 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</a:rPr>
              <a:t>Band Reduction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 rot="10800000">
            <a:off x="1295400" y="2743200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02" name="TextBox 228"/>
          <p:cNvSpPr txBox="1">
            <a:spLocks noChangeArrowheads="1"/>
          </p:cNvSpPr>
          <p:nvPr/>
        </p:nvSpPr>
        <p:spPr bwMode="auto">
          <a:xfrm>
            <a:off x="1227138" y="2667000"/>
            <a:ext cx="269875" cy="2762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181600"/>
            <a:ext cx="1956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 = bandwidth</a:t>
            </a:r>
          </a:p>
          <a:p>
            <a:r>
              <a:rPr lang="en-US" dirty="0" smtClean="0"/>
              <a:t>c = #columns</a:t>
            </a:r>
          </a:p>
          <a:p>
            <a:r>
              <a:rPr lang="en-US" dirty="0" smtClean="0"/>
              <a:t>d = #diagonals</a:t>
            </a:r>
          </a:p>
          <a:p>
            <a:r>
              <a:rPr lang="en-US" dirty="0" smtClean="0"/>
              <a:t>Constraint: </a:t>
            </a:r>
            <a:r>
              <a:rPr lang="en-US" dirty="0" err="1" smtClean="0"/>
              <a:t>c+d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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1105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295400" y="1600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6200000" flipH="1">
            <a:off x="2209800" y="16002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410200" y="57150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>
            <a:off x="4953000" y="6172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V="1">
            <a:off x="1295400" y="25146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 flipH="1" flipV="1">
            <a:off x="1295400" y="2514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295400" y="2514600"/>
            <a:ext cx="914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838200" y="20574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6200000" flipH="1">
            <a:off x="1295400" y="22860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1333500" y="2552700"/>
            <a:ext cx="22860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447800" y="26670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6200000" flipH="1">
            <a:off x="1981200" y="16002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133600" y="17526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1295400" y="2286000"/>
            <a:ext cx="16002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35"/>
          <p:cNvGrpSpPr>
            <a:grpSpLocks/>
          </p:cNvGrpSpPr>
          <p:nvPr/>
        </p:nvGrpSpPr>
        <p:grpSpPr bwMode="auto">
          <a:xfrm>
            <a:off x="2895600" y="2286000"/>
            <a:ext cx="381000" cy="381000"/>
            <a:chOff x="3733800" y="1981200"/>
            <a:chExt cx="381000" cy="381000"/>
          </a:xfrm>
        </p:grpSpPr>
        <p:cxnSp>
          <p:nvCxnSpPr>
            <p:cNvPr id="129" name="Straight Connector 128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313" name="TextBox 181"/>
          <p:cNvSpPr txBox="1">
            <a:spLocks noChangeArrowheads="1"/>
          </p:cNvSpPr>
          <p:nvPr/>
        </p:nvSpPr>
        <p:spPr bwMode="auto">
          <a:xfrm>
            <a:off x="2133600" y="1536700"/>
            <a:ext cx="76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55314" name="TextBox 183"/>
          <p:cNvSpPr txBox="1">
            <a:spLocks noChangeArrowheads="1"/>
          </p:cNvSpPr>
          <p:nvPr/>
        </p:nvSpPr>
        <p:spPr bwMode="auto">
          <a:xfrm>
            <a:off x="1295400" y="2362200"/>
            <a:ext cx="762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55315" name="TextBox 185"/>
          <p:cNvSpPr txBox="1">
            <a:spLocks noChangeArrowheads="1"/>
          </p:cNvSpPr>
          <p:nvPr/>
        </p:nvSpPr>
        <p:spPr bwMode="auto">
          <a:xfrm rot="10800000" flipV="1">
            <a:off x="3048000" y="22780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2</a:t>
            </a:r>
          </a:p>
        </p:txBody>
      </p:sp>
      <p:sp>
        <p:nvSpPr>
          <p:cNvPr id="55316" name="TextBox 197"/>
          <p:cNvSpPr txBox="1">
            <a:spLocks noChangeArrowheads="1"/>
          </p:cNvSpPr>
          <p:nvPr/>
        </p:nvSpPr>
        <p:spPr bwMode="auto">
          <a:xfrm>
            <a:off x="1031875" y="23622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</a:p>
        </p:txBody>
      </p:sp>
      <p:sp>
        <p:nvSpPr>
          <p:cNvPr id="55317" name="TextBox 198"/>
          <p:cNvSpPr txBox="1">
            <a:spLocks noChangeArrowheads="1"/>
          </p:cNvSpPr>
          <p:nvPr/>
        </p:nvSpPr>
        <p:spPr bwMode="auto">
          <a:xfrm>
            <a:off x="2057400" y="1371600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cxnSp>
        <p:nvCxnSpPr>
          <p:cNvPr id="212" name="Straight Arrow Connector 211"/>
          <p:cNvCxnSpPr/>
          <p:nvPr/>
        </p:nvCxnSpPr>
        <p:spPr>
          <a:xfrm>
            <a:off x="1295400" y="1143000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19" name="TextBox 212"/>
          <p:cNvSpPr txBox="1">
            <a:spLocks noChangeArrowheads="1"/>
          </p:cNvSpPr>
          <p:nvPr/>
        </p:nvSpPr>
        <p:spPr bwMode="auto">
          <a:xfrm>
            <a:off x="1524000" y="9144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rot="5400000">
            <a:off x="229394" y="20566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21" name="TextBox 215"/>
          <p:cNvSpPr txBox="1">
            <a:spLocks noChangeArrowheads="1"/>
          </p:cNvSpPr>
          <p:nvPr/>
        </p:nvSpPr>
        <p:spPr bwMode="auto">
          <a:xfrm rot="-5400000">
            <a:off x="368300" y="1905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8" name="Straight Arrow Connector 217"/>
          <p:cNvCxnSpPr/>
          <p:nvPr/>
        </p:nvCxnSpPr>
        <p:spPr>
          <a:xfrm>
            <a:off x="1981200" y="13716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23" name="TextBox 223"/>
          <p:cNvSpPr txBox="1">
            <a:spLocks noChangeArrowheads="1"/>
          </p:cNvSpPr>
          <p:nvPr/>
        </p:nvSpPr>
        <p:spPr bwMode="auto">
          <a:xfrm>
            <a:off x="1873250" y="1143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cxnSp>
        <p:nvCxnSpPr>
          <p:cNvPr id="226" name="Straight Arrow Connector 225"/>
          <p:cNvCxnSpPr/>
          <p:nvPr/>
        </p:nvCxnSpPr>
        <p:spPr>
          <a:xfrm rot="5400000" flipH="1" flipV="1">
            <a:off x="875507" y="240109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25" name="TextBox 226"/>
          <p:cNvSpPr txBox="1">
            <a:spLocks noChangeArrowheads="1"/>
          </p:cNvSpPr>
          <p:nvPr/>
        </p:nvSpPr>
        <p:spPr bwMode="auto">
          <a:xfrm rot="-5400000">
            <a:off x="6731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sp>
        <p:nvSpPr>
          <p:cNvPr id="55326" name="TextBox 227"/>
          <p:cNvSpPr txBox="1">
            <a:spLocks noChangeArrowheads="1"/>
          </p:cNvSpPr>
          <p:nvPr/>
        </p:nvSpPr>
        <p:spPr bwMode="auto">
          <a:xfrm>
            <a:off x="2514600" y="1524000"/>
            <a:ext cx="269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cxnSp>
        <p:nvCxnSpPr>
          <p:cNvPr id="231" name="Straight Arrow Connector 230"/>
          <p:cNvCxnSpPr/>
          <p:nvPr/>
        </p:nvCxnSpPr>
        <p:spPr>
          <a:xfrm rot="5400000">
            <a:off x="2439194" y="1675606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/>
          <p:cNvCxnSpPr/>
          <p:nvPr/>
        </p:nvCxnSpPr>
        <p:spPr>
          <a:xfrm>
            <a:off x="2895600" y="1965325"/>
            <a:ext cx="3810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29" name="TextBox 240"/>
          <p:cNvSpPr txBox="1">
            <a:spLocks noChangeArrowheads="1"/>
          </p:cNvSpPr>
          <p:nvPr/>
        </p:nvSpPr>
        <p:spPr bwMode="auto">
          <a:xfrm>
            <a:off x="2895600" y="1706563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cxnSp>
        <p:nvCxnSpPr>
          <p:cNvPr id="243" name="Straight Arrow Connector 242"/>
          <p:cNvCxnSpPr/>
          <p:nvPr/>
        </p:nvCxnSpPr>
        <p:spPr>
          <a:xfrm rot="5400000">
            <a:off x="3238501" y="2476500"/>
            <a:ext cx="381000" cy="317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31" name="TextBox 243"/>
          <p:cNvSpPr txBox="1">
            <a:spLocks noChangeArrowheads="1"/>
          </p:cNvSpPr>
          <p:nvPr/>
        </p:nvSpPr>
        <p:spPr bwMode="auto">
          <a:xfrm>
            <a:off x="34290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sp>
        <p:nvSpPr>
          <p:cNvPr id="55332" name="TextBox 105"/>
          <p:cNvSpPr txBox="1">
            <a:spLocks noChangeArrowheads="1"/>
          </p:cNvSpPr>
          <p:nvPr/>
        </p:nvSpPr>
        <p:spPr bwMode="auto">
          <a:xfrm>
            <a:off x="811213" y="171450"/>
            <a:ext cx="751205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Calibri" pitchFamily="34" charset="0"/>
              </a:rPr>
              <a:t>Successive 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</a:rPr>
              <a:t>Band Reduction</a:t>
            </a:r>
          </a:p>
        </p:txBody>
      </p:sp>
      <p:sp>
        <p:nvSpPr>
          <p:cNvPr id="55333" name="TextBox 228"/>
          <p:cNvSpPr txBox="1">
            <a:spLocks noChangeArrowheads="1"/>
          </p:cNvSpPr>
          <p:nvPr/>
        </p:nvSpPr>
        <p:spPr bwMode="auto">
          <a:xfrm>
            <a:off x="1227138" y="2667000"/>
            <a:ext cx="269875" cy="2762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 rot="10800000">
            <a:off x="1295400" y="2743200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5800" y="5181600"/>
            <a:ext cx="1956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 = bandwidth</a:t>
            </a:r>
          </a:p>
          <a:p>
            <a:r>
              <a:rPr lang="en-US" dirty="0" smtClean="0"/>
              <a:t>c = #columns</a:t>
            </a:r>
          </a:p>
          <a:p>
            <a:r>
              <a:rPr lang="en-US" dirty="0" smtClean="0"/>
              <a:t>d = #diagonals</a:t>
            </a:r>
          </a:p>
          <a:p>
            <a:r>
              <a:rPr lang="en-US" dirty="0" smtClean="0"/>
              <a:t>Constraint: </a:t>
            </a:r>
            <a:r>
              <a:rPr lang="en-US" dirty="0" err="1" smtClean="0"/>
              <a:t>c+d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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1760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295400" y="1600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6200000" flipH="1">
            <a:off x="2209800" y="16002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410200" y="57150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>
            <a:off x="4953000" y="6172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V="1">
            <a:off x="1295400" y="25146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 flipH="1" flipV="1">
            <a:off x="1295400" y="2514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295400" y="2514600"/>
            <a:ext cx="914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838200" y="20574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6200000" flipH="1">
            <a:off x="1295400" y="22860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1333500" y="2552700"/>
            <a:ext cx="22860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447800" y="26670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6200000" flipH="1">
            <a:off x="1981200" y="16002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133600" y="17526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447800" y="26670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1295400" y="2286000"/>
            <a:ext cx="16002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rot="5400000">
            <a:off x="1181100" y="2400300"/>
            <a:ext cx="16002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35"/>
          <p:cNvGrpSpPr>
            <a:grpSpLocks/>
          </p:cNvGrpSpPr>
          <p:nvPr/>
        </p:nvGrpSpPr>
        <p:grpSpPr bwMode="auto">
          <a:xfrm>
            <a:off x="2895600" y="2286000"/>
            <a:ext cx="381000" cy="381000"/>
            <a:chOff x="3733800" y="1981200"/>
            <a:chExt cx="381000" cy="381000"/>
          </a:xfrm>
        </p:grpSpPr>
        <p:cxnSp>
          <p:nvCxnSpPr>
            <p:cNvPr id="129" name="Straight Connector 128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140"/>
          <p:cNvGrpSpPr>
            <a:grpSpLocks/>
          </p:cNvGrpSpPr>
          <p:nvPr/>
        </p:nvGrpSpPr>
        <p:grpSpPr bwMode="auto">
          <a:xfrm rot="10800000">
            <a:off x="1981200" y="3200400"/>
            <a:ext cx="381000" cy="381000"/>
            <a:chOff x="3733800" y="1981200"/>
            <a:chExt cx="381000" cy="381000"/>
          </a:xfrm>
        </p:grpSpPr>
        <p:cxnSp>
          <p:nvCxnSpPr>
            <p:cNvPr id="142" name="Straight Connector 141"/>
            <p:cNvCxnSpPr/>
            <p:nvPr/>
          </p:nvCxnSpPr>
          <p:spPr>
            <a:xfrm>
              <a:off x="374015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 rot="5400000" flipH="1" flipV="1">
              <a:off x="400685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 rot="16200000" flipH="1">
              <a:off x="396875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340" name="TextBox 181"/>
          <p:cNvSpPr txBox="1">
            <a:spLocks noChangeArrowheads="1"/>
          </p:cNvSpPr>
          <p:nvPr/>
        </p:nvSpPr>
        <p:spPr bwMode="auto">
          <a:xfrm>
            <a:off x="2133600" y="1536700"/>
            <a:ext cx="76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56341" name="TextBox 183"/>
          <p:cNvSpPr txBox="1">
            <a:spLocks noChangeArrowheads="1"/>
          </p:cNvSpPr>
          <p:nvPr/>
        </p:nvSpPr>
        <p:spPr bwMode="auto">
          <a:xfrm>
            <a:off x="1295400" y="2362200"/>
            <a:ext cx="762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56342" name="TextBox 184"/>
          <p:cNvSpPr txBox="1">
            <a:spLocks noChangeArrowheads="1"/>
          </p:cNvSpPr>
          <p:nvPr/>
        </p:nvSpPr>
        <p:spPr bwMode="auto">
          <a:xfrm rot="10800000" flipV="1">
            <a:off x="1981200" y="32686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2</a:t>
            </a:r>
          </a:p>
        </p:txBody>
      </p:sp>
      <p:sp>
        <p:nvSpPr>
          <p:cNvPr id="56343" name="TextBox 185"/>
          <p:cNvSpPr txBox="1">
            <a:spLocks noChangeArrowheads="1"/>
          </p:cNvSpPr>
          <p:nvPr/>
        </p:nvSpPr>
        <p:spPr bwMode="auto">
          <a:xfrm rot="10800000" flipV="1">
            <a:off x="3048000" y="22780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2</a:t>
            </a:r>
          </a:p>
        </p:txBody>
      </p:sp>
      <p:sp>
        <p:nvSpPr>
          <p:cNvPr id="56344" name="TextBox 197"/>
          <p:cNvSpPr txBox="1">
            <a:spLocks noChangeArrowheads="1"/>
          </p:cNvSpPr>
          <p:nvPr/>
        </p:nvSpPr>
        <p:spPr bwMode="auto">
          <a:xfrm>
            <a:off x="1031875" y="23622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</a:p>
        </p:txBody>
      </p:sp>
      <p:sp>
        <p:nvSpPr>
          <p:cNvPr id="56345" name="TextBox 198"/>
          <p:cNvSpPr txBox="1">
            <a:spLocks noChangeArrowheads="1"/>
          </p:cNvSpPr>
          <p:nvPr/>
        </p:nvSpPr>
        <p:spPr bwMode="auto">
          <a:xfrm>
            <a:off x="2057400" y="1371600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cxnSp>
        <p:nvCxnSpPr>
          <p:cNvPr id="212" name="Straight Arrow Connector 211"/>
          <p:cNvCxnSpPr/>
          <p:nvPr/>
        </p:nvCxnSpPr>
        <p:spPr>
          <a:xfrm>
            <a:off x="1295400" y="1143000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47" name="TextBox 212"/>
          <p:cNvSpPr txBox="1">
            <a:spLocks noChangeArrowheads="1"/>
          </p:cNvSpPr>
          <p:nvPr/>
        </p:nvSpPr>
        <p:spPr bwMode="auto">
          <a:xfrm>
            <a:off x="1524000" y="9144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rot="5400000">
            <a:off x="229394" y="20566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49" name="TextBox 215"/>
          <p:cNvSpPr txBox="1">
            <a:spLocks noChangeArrowheads="1"/>
          </p:cNvSpPr>
          <p:nvPr/>
        </p:nvSpPr>
        <p:spPr bwMode="auto">
          <a:xfrm rot="-5400000">
            <a:off x="368300" y="1905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8" name="Straight Arrow Connector 217"/>
          <p:cNvCxnSpPr/>
          <p:nvPr/>
        </p:nvCxnSpPr>
        <p:spPr>
          <a:xfrm>
            <a:off x="1981200" y="13716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51" name="TextBox 223"/>
          <p:cNvSpPr txBox="1">
            <a:spLocks noChangeArrowheads="1"/>
          </p:cNvSpPr>
          <p:nvPr/>
        </p:nvSpPr>
        <p:spPr bwMode="auto">
          <a:xfrm>
            <a:off x="1873250" y="1143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cxnSp>
        <p:nvCxnSpPr>
          <p:cNvPr id="226" name="Straight Arrow Connector 225"/>
          <p:cNvCxnSpPr/>
          <p:nvPr/>
        </p:nvCxnSpPr>
        <p:spPr>
          <a:xfrm rot="5400000" flipH="1" flipV="1">
            <a:off x="875507" y="240109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53" name="TextBox 226"/>
          <p:cNvSpPr txBox="1">
            <a:spLocks noChangeArrowheads="1"/>
          </p:cNvSpPr>
          <p:nvPr/>
        </p:nvSpPr>
        <p:spPr bwMode="auto">
          <a:xfrm rot="-5400000">
            <a:off x="6731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sp>
        <p:nvSpPr>
          <p:cNvPr id="56354" name="TextBox 227"/>
          <p:cNvSpPr txBox="1">
            <a:spLocks noChangeArrowheads="1"/>
          </p:cNvSpPr>
          <p:nvPr/>
        </p:nvSpPr>
        <p:spPr bwMode="auto">
          <a:xfrm>
            <a:off x="2514600" y="1524000"/>
            <a:ext cx="269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cxnSp>
        <p:nvCxnSpPr>
          <p:cNvPr id="231" name="Straight Arrow Connector 230"/>
          <p:cNvCxnSpPr/>
          <p:nvPr/>
        </p:nvCxnSpPr>
        <p:spPr>
          <a:xfrm rot="5400000">
            <a:off x="2439194" y="1675606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/>
          <p:cNvCxnSpPr/>
          <p:nvPr/>
        </p:nvCxnSpPr>
        <p:spPr>
          <a:xfrm>
            <a:off x="2895600" y="1965325"/>
            <a:ext cx="3810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57" name="TextBox 240"/>
          <p:cNvSpPr txBox="1">
            <a:spLocks noChangeArrowheads="1"/>
          </p:cNvSpPr>
          <p:nvPr/>
        </p:nvSpPr>
        <p:spPr bwMode="auto">
          <a:xfrm>
            <a:off x="2895600" y="1706563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cxnSp>
        <p:nvCxnSpPr>
          <p:cNvPr id="243" name="Straight Arrow Connector 242"/>
          <p:cNvCxnSpPr/>
          <p:nvPr/>
        </p:nvCxnSpPr>
        <p:spPr>
          <a:xfrm rot="5400000">
            <a:off x="3238501" y="2476500"/>
            <a:ext cx="381000" cy="317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59" name="TextBox 243"/>
          <p:cNvSpPr txBox="1">
            <a:spLocks noChangeArrowheads="1"/>
          </p:cNvSpPr>
          <p:nvPr/>
        </p:nvSpPr>
        <p:spPr bwMode="auto">
          <a:xfrm>
            <a:off x="34290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cxnSp>
        <p:nvCxnSpPr>
          <p:cNvPr id="245" name="Straight Arrow Connector 244"/>
          <p:cNvCxnSpPr/>
          <p:nvPr/>
        </p:nvCxnSpPr>
        <p:spPr>
          <a:xfrm rot="5400000">
            <a:off x="1486694" y="3390106"/>
            <a:ext cx="3810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/>
          <p:cNvCxnSpPr/>
          <p:nvPr/>
        </p:nvCxnSpPr>
        <p:spPr>
          <a:xfrm>
            <a:off x="1981200" y="3733800"/>
            <a:ext cx="379413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62" name="TextBox 247"/>
          <p:cNvSpPr txBox="1">
            <a:spLocks noChangeArrowheads="1"/>
          </p:cNvSpPr>
          <p:nvPr/>
        </p:nvSpPr>
        <p:spPr bwMode="auto">
          <a:xfrm>
            <a:off x="1295400" y="32766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sp>
        <p:nvSpPr>
          <p:cNvPr id="56363" name="TextBox 248"/>
          <p:cNvSpPr txBox="1">
            <a:spLocks noChangeArrowheads="1"/>
          </p:cNvSpPr>
          <p:nvPr/>
        </p:nvSpPr>
        <p:spPr bwMode="auto">
          <a:xfrm>
            <a:off x="1981200" y="3686175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sp>
        <p:nvSpPr>
          <p:cNvPr id="56364" name="TextBox 105"/>
          <p:cNvSpPr txBox="1">
            <a:spLocks noChangeArrowheads="1"/>
          </p:cNvSpPr>
          <p:nvPr/>
        </p:nvSpPr>
        <p:spPr bwMode="auto">
          <a:xfrm>
            <a:off x="811213" y="171450"/>
            <a:ext cx="751205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Calibri" pitchFamily="34" charset="0"/>
              </a:rPr>
              <a:t>Successive 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</a:rPr>
              <a:t>Band Reduction</a:t>
            </a:r>
          </a:p>
        </p:txBody>
      </p:sp>
      <p:sp>
        <p:nvSpPr>
          <p:cNvPr id="56365" name="TextBox 228"/>
          <p:cNvSpPr txBox="1">
            <a:spLocks noChangeArrowheads="1"/>
          </p:cNvSpPr>
          <p:nvPr/>
        </p:nvSpPr>
        <p:spPr bwMode="auto">
          <a:xfrm>
            <a:off x="1227138" y="2667000"/>
            <a:ext cx="269875" cy="2762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cxnSp>
        <p:nvCxnSpPr>
          <p:cNvPr id="79" name="Straight Arrow Connector 78"/>
          <p:cNvCxnSpPr/>
          <p:nvPr/>
        </p:nvCxnSpPr>
        <p:spPr>
          <a:xfrm rot="10800000">
            <a:off x="1295400" y="2743200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5800" y="5181600"/>
            <a:ext cx="1956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 = bandwidth</a:t>
            </a:r>
          </a:p>
          <a:p>
            <a:r>
              <a:rPr lang="en-US" dirty="0" smtClean="0"/>
              <a:t>c = #columns</a:t>
            </a:r>
          </a:p>
          <a:p>
            <a:r>
              <a:rPr lang="en-US" dirty="0" smtClean="0"/>
              <a:t>d = #diagonals</a:t>
            </a:r>
          </a:p>
          <a:p>
            <a:r>
              <a:rPr lang="en-US" dirty="0" smtClean="0"/>
              <a:t>Constraint: </a:t>
            </a:r>
            <a:r>
              <a:rPr lang="en-US" dirty="0" err="1" smtClean="0"/>
              <a:t>c+d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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2468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295400" y="1600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6200000" flipH="1">
            <a:off x="2209800" y="16002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410200" y="57150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>
            <a:off x="4953000" y="6172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V="1">
            <a:off x="1295400" y="25146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 flipH="1" flipV="1">
            <a:off x="1295400" y="2514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295400" y="2514600"/>
            <a:ext cx="914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838200" y="20574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6200000" flipH="1">
            <a:off x="1295400" y="22860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1333500" y="2552700"/>
            <a:ext cx="22860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447800" y="26670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6200000" flipH="1">
            <a:off x="1981200" y="16002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133600" y="17526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447800" y="26670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1981200" y="3200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2362200" y="3581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rot="5400000">
            <a:off x="1981200" y="3200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rot="5400000">
            <a:off x="2362200" y="3581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1295400" y="2286000"/>
            <a:ext cx="16002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rot="5400000">
            <a:off x="1181100" y="2400300"/>
            <a:ext cx="16002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35"/>
          <p:cNvGrpSpPr>
            <a:grpSpLocks/>
          </p:cNvGrpSpPr>
          <p:nvPr/>
        </p:nvGrpSpPr>
        <p:grpSpPr bwMode="auto">
          <a:xfrm>
            <a:off x="2895600" y="2286000"/>
            <a:ext cx="381000" cy="381000"/>
            <a:chOff x="3733800" y="1981200"/>
            <a:chExt cx="381000" cy="381000"/>
          </a:xfrm>
        </p:grpSpPr>
        <p:cxnSp>
          <p:nvCxnSpPr>
            <p:cNvPr id="129" name="Straight Connector 128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140"/>
          <p:cNvGrpSpPr>
            <a:grpSpLocks/>
          </p:cNvGrpSpPr>
          <p:nvPr/>
        </p:nvGrpSpPr>
        <p:grpSpPr bwMode="auto">
          <a:xfrm rot="10800000">
            <a:off x="1981200" y="3200400"/>
            <a:ext cx="381000" cy="381000"/>
            <a:chOff x="3733800" y="1981200"/>
            <a:chExt cx="381000" cy="381000"/>
          </a:xfrm>
        </p:grpSpPr>
        <p:cxnSp>
          <p:nvCxnSpPr>
            <p:cNvPr id="142" name="Straight Connector 141"/>
            <p:cNvCxnSpPr/>
            <p:nvPr/>
          </p:nvCxnSpPr>
          <p:spPr>
            <a:xfrm>
              <a:off x="374015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 rot="5400000" flipH="1" flipV="1">
              <a:off x="400685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 rot="16200000" flipH="1">
              <a:off x="396875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54"/>
          <p:cNvGrpSpPr>
            <a:grpSpLocks/>
          </p:cNvGrpSpPr>
          <p:nvPr/>
        </p:nvGrpSpPr>
        <p:grpSpPr bwMode="auto">
          <a:xfrm>
            <a:off x="3810000" y="3200400"/>
            <a:ext cx="381000" cy="381000"/>
            <a:chOff x="3733800" y="1981200"/>
            <a:chExt cx="381000" cy="381000"/>
          </a:xfrm>
        </p:grpSpPr>
        <p:cxnSp>
          <p:nvCxnSpPr>
            <p:cNvPr id="156" name="Straight Connector 155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158"/>
          <p:cNvGrpSpPr>
            <a:grpSpLocks/>
          </p:cNvGrpSpPr>
          <p:nvPr/>
        </p:nvGrpSpPr>
        <p:grpSpPr bwMode="auto">
          <a:xfrm rot="10800000">
            <a:off x="2895600" y="4114800"/>
            <a:ext cx="381000" cy="381000"/>
            <a:chOff x="3733800" y="1981200"/>
            <a:chExt cx="381000" cy="381000"/>
          </a:xfrm>
        </p:grpSpPr>
        <p:cxnSp>
          <p:nvCxnSpPr>
            <p:cNvPr id="160" name="Straight Connector 159"/>
            <p:cNvCxnSpPr/>
            <p:nvPr/>
          </p:nvCxnSpPr>
          <p:spPr>
            <a:xfrm>
              <a:off x="374015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 rot="5400000" flipH="1" flipV="1">
              <a:off x="400685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/>
          </p:nvCxnSpPr>
          <p:spPr>
            <a:xfrm rot="16200000" flipH="1">
              <a:off x="396875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370" name="TextBox 181"/>
          <p:cNvSpPr txBox="1">
            <a:spLocks noChangeArrowheads="1"/>
          </p:cNvSpPr>
          <p:nvPr/>
        </p:nvSpPr>
        <p:spPr bwMode="auto">
          <a:xfrm>
            <a:off x="2133600" y="1536700"/>
            <a:ext cx="76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57371" name="TextBox 183"/>
          <p:cNvSpPr txBox="1">
            <a:spLocks noChangeArrowheads="1"/>
          </p:cNvSpPr>
          <p:nvPr/>
        </p:nvSpPr>
        <p:spPr bwMode="auto">
          <a:xfrm>
            <a:off x="1295400" y="2362200"/>
            <a:ext cx="762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57372" name="TextBox 184"/>
          <p:cNvSpPr txBox="1">
            <a:spLocks noChangeArrowheads="1"/>
          </p:cNvSpPr>
          <p:nvPr/>
        </p:nvSpPr>
        <p:spPr bwMode="auto">
          <a:xfrm rot="10800000" flipV="1">
            <a:off x="1981200" y="32686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2</a:t>
            </a:r>
          </a:p>
        </p:txBody>
      </p:sp>
      <p:sp>
        <p:nvSpPr>
          <p:cNvPr id="57373" name="TextBox 185"/>
          <p:cNvSpPr txBox="1">
            <a:spLocks noChangeArrowheads="1"/>
          </p:cNvSpPr>
          <p:nvPr/>
        </p:nvSpPr>
        <p:spPr bwMode="auto">
          <a:xfrm rot="10800000" flipV="1">
            <a:off x="3048000" y="22780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2</a:t>
            </a:r>
          </a:p>
        </p:txBody>
      </p:sp>
      <p:sp>
        <p:nvSpPr>
          <p:cNvPr id="57374" name="TextBox 186"/>
          <p:cNvSpPr txBox="1">
            <a:spLocks noChangeArrowheads="1"/>
          </p:cNvSpPr>
          <p:nvPr/>
        </p:nvSpPr>
        <p:spPr bwMode="auto">
          <a:xfrm rot="10800000" flipV="1">
            <a:off x="3962400" y="31924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3</a:t>
            </a:r>
          </a:p>
        </p:txBody>
      </p:sp>
      <p:sp>
        <p:nvSpPr>
          <p:cNvPr id="57375" name="TextBox 188"/>
          <p:cNvSpPr txBox="1">
            <a:spLocks noChangeArrowheads="1"/>
          </p:cNvSpPr>
          <p:nvPr/>
        </p:nvSpPr>
        <p:spPr bwMode="auto">
          <a:xfrm rot="10800000" flipV="1">
            <a:off x="2971800" y="42592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3</a:t>
            </a:r>
          </a:p>
        </p:txBody>
      </p:sp>
      <p:sp>
        <p:nvSpPr>
          <p:cNvPr id="57376" name="TextBox 197"/>
          <p:cNvSpPr txBox="1">
            <a:spLocks noChangeArrowheads="1"/>
          </p:cNvSpPr>
          <p:nvPr/>
        </p:nvSpPr>
        <p:spPr bwMode="auto">
          <a:xfrm>
            <a:off x="1031875" y="23622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</a:p>
        </p:txBody>
      </p:sp>
      <p:sp>
        <p:nvSpPr>
          <p:cNvPr id="57377" name="TextBox 198"/>
          <p:cNvSpPr txBox="1">
            <a:spLocks noChangeArrowheads="1"/>
          </p:cNvSpPr>
          <p:nvPr/>
        </p:nvSpPr>
        <p:spPr bwMode="auto">
          <a:xfrm>
            <a:off x="2057400" y="1371600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sp>
        <p:nvSpPr>
          <p:cNvPr id="57378" name="TextBox 199"/>
          <p:cNvSpPr txBox="1">
            <a:spLocks noChangeArrowheads="1"/>
          </p:cNvSpPr>
          <p:nvPr/>
        </p:nvSpPr>
        <p:spPr bwMode="auto">
          <a:xfrm>
            <a:off x="1654175" y="3276600"/>
            <a:ext cx="4032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2</a:t>
            </a:r>
          </a:p>
        </p:txBody>
      </p:sp>
      <p:sp>
        <p:nvSpPr>
          <p:cNvPr id="57379" name="TextBox 200"/>
          <p:cNvSpPr txBox="1">
            <a:spLocks noChangeArrowheads="1"/>
          </p:cNvSpPr>
          <p:nvPr/>
        </p:nvSpPr>
        <p:spPr bwMode="auto">
          <a:xfrm>
            <a:off x="2971800" y="2009775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2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cxnSp>
        <p:nvCxnSpPr>
          <p:cNvPr id="212" name="Straight Arrow Connector 211"/>
          <p:cNvCxnSpPr/>
          <p:nvPr/>
        </p:nvCxnSpPr>
        <p:spPr>
          <a:xfrm>
            <a:off x="1295400" y="1143000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81" name="TextBox 212"/>
          <p:cNvSpPr txBox="1">
            <a:spLocks noChangeArrowheads="1"/>
          </p:cNvSpPr>
          <p:nvPr/>
        </p:nvSpPr>
        <p:spPr bwMode="auto">
          <a:xfrm>
            <a:off x="1524000" y="9144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rot="5400000">
            <a:off x="229394" y="20566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83" name="TextBox 215"/>
          <p:cNvSpPr txBox="1">
            <a:spLocks noChangeArrowheads="1"/>
          </p:cNvSpPr>
          <p:nvPr/>
        </p:nvSpPr>
        <p:spPr bwMode="auto">
          <a:xfrm rot="-5400000">
            <a:off x="368300" y="1905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8" name="Straight Arrow Connector 217"/>
          <p:cNvCxnSpPr/>
          <p:nvPr/>
        </p:nvCxnSpPr>
        <p:spPr>
          <a:xfrm>
            <a:off x="1981200" y="13716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85" name="TextBox 223"/>
          <p:cNvSpPr txBox="1">
            <a:spLocks noChangeArrowheads="1"/>
          </p:cNvSpPr>
          <p:nvPr/>
        </p:nvSpPr>
        <p:spPr bwMode="auto">
          <a:xfrm>
            <a:off x="1873250" y="1143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cxnSp>
        <p:nvCxnSpPr>
          <p:cNvPr id="226" name="Straight Arrow Connector 225"/>
          <p:cNvCxnSpPr/>
          <p:nvPr/>
        </p:nvCxnSpPr>
        <p:spPr>
          <a:xfrm rot="5400000" flipH="1" flipV="1">
            <a:off x="875507" y="240109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87" name="TextBox 226"/>
          <p:cNvSpPr txBox="1">
            <a:spLocks noChangeArrowheads="1"/>
          </p:cNvSpPr>
          <p:nvPr/>
        </p:nvSpPr>
        <p:spPr bwMode="auto">
          <a:xfrm rot="-5400000">
            <a:off x="6731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cxnSp>
        <p:nvCxnSpPr>
          <p:cNvPr id="240" name="Straight Arrow Connector 239"/>
          <p:cNvCxnSpPr/>
          <p:nvPr/>
        </p:nvCxnSpPr>
        <p:spPr>
          <a:xfrm>
            <a:off x="2895600" y="1965325"/>
            <a:ext cx="3810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89" name="TextBox 240"/>
          <p:cNvSpPr txBox="1">
            <a:spLocks noChangeArrowheads="1"/>
          </p:cNvSpPr>
          <p:nvPr/>
        </p:nvSpPr>
        <p:spPr bwMode="auto">
          <a:xfrm>
            <a:off x="2895600" y="1706563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cxnSp>
        <p:nvCxnSpPr>
          <p:cNvPr id="243" name="Straight Arrow Connector 242"/>
          <p:cNvCxnSpPr/>
          <p:nvPr/>
        </p:nvCxnSpPr>
        <p:spPr>
          <a:xfrm rot="5400000">
            <a:off x="3238501" y="2476500"/>
            <a:ext cx="381000" cy="317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91" name="TextBox 243"/>
          <p:cNvSpPr txBox="1">
            <a:spLocks noChangeArrowheads="1"/>
          </p:cNvSpPr>
          <p:nvPr/>
        </p:nvSpPr>
        <p:spPr bwMode="auto">
          <a:xfrm>
            <a:off x="34290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cxnSp>
        <p:nvCxnSpPr>
          <p:cNvPr id="245" name="Straight Arrow Connector 244"/>
          <p:cNvCxnSpPr/>
          <p:nvPr/>
        </p:nvCxnSpPr>
        <p:spPr>
          <a:xfrm rot="5400000">
            <a:off x="1486694" y="3390106"/>
            <a:ext cx="3810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/>
          <p:cNvCxnSpPr/>
          <p:nvPr/>
        </p:nvCxnSpPr>
        <p:spPr>
          <a:xfrm>
            <a:off x="1981200" y="3733800"/>
            <a:ext cx="379413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94" name="TextBox 247"/>
          <p:cNvSpPr txBox="1">
            <a:spLocks noChangeArrowheads="1"/>
          </p:cNvSpPr>
          <p:nvPr/>
        </p:nvSpPr>
        <p:spPr bwMode="auto">
          <a:xfrm>
            <a:off x="1295400" y="32766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sp>
        <p:nvSpPr>
          <p:cNvPr id="57395" name="TextBox 248"/>
          <p:cNvSpPr txBox="1">
            <a:spLocks noChangeArrowheads="1"/>
          </p:cNvSpPr>
          <p:nvPr/>
        </p:nvSpPr>
        <p:spPr bwMode="auto">
          <a:xfrm>
            <a:off x="1981200" y="3686175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sp>
        <p:nvSpPr>
          <p:cNvPr id="57396" name="TextBox 105"/>
          <p:cNvSpPr txBox="1">
            <a:spLocks noChangeArrowheads="1"/>
          </p:cNvSpPr>
          <p:nvPr/>
        </p:nvSpPr>
        <p:spPr bwMode="auto">
          <a:xfrm>
            <a:off x="811213" y="171450"/>
            <a:ext cx="751205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Calibri" pitchFamily="34" charset="0"/>
              </a:rPr>
              <a:t>Successive 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</a:rPr>
              <a:t>Band Reduction</a:t>
            </a:r>
          </a:p>
        </p:txBody>
      </p:sp>
      <p:sp>
        <p:nvSpPr>
          <p:cNvPr id="57397" name="TextBox 228"/>
          <p:cNvSpPr txBox="1">
            <a:spLocks noChangeArrowheads="1"/>
          </p:cNvSpPr>
          <p:nvPr/>
        </p:nvSpPr>
        <p:spPr bwMode="auto">
          <a:xfrm>
            <a:off x="1227138" y="2667000"/>
            <a:ext cx="269875" cy="2762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cxnSp>
        <p:nvCxnSpPr>
          <p:cNvPr id="93" name="Straight Arrow Connector 92"/>
          <p:cNvCxnSpPr/>
          <p:nvPr/>
        </p:nvCxnSpPr>
        <p:spPr>
          <a:xfrm rot="10800000">
            <a:off x="1295400" y="2743200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 rot="5400000">
            <a:off x="2439194" y="1675606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400" name="TextBox 227"/>
          <p:cNvSpPr txBox="1">
            <a:spLocks noChangeArrowheads="1"/>
          </p:cNvSpPr>
          <p:nvPr/>
        </p:nvSpPr>
        <p:spPr bwMode="auto">
          <a:xfrm>
            <a:off x="2514600" y="1524000"/>
            <a:ext cx="269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5181600"/>
            <a:ext cx="1956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 = bandwidth</a:t>
            </a:r>
          </a:p>
          <a:p>
            <a:r>
              <a:rPr lang="en-US" dirty="0" smtClean="0"/>
              <a:t>c = #columns</a:t>
            </a:r>
          </a:p>
          <a:p>
            <a:r>
              <a:rPr lang="en-US" dirty="0" smtClean="0"/>
              <a:t>d = #diagonals</a:t>
            </a:r>
          </a:p>
          <a:p>
            <a:r>
              <a:rPr lang="en-US" dirty="0" smtClean="0"/>
              <a:t>Constraint: </a:t>
            </a:r>
            <a:r>
              <a:rPr lang="en-US" dirty="0" err="1" smtClean="0"/>
              <a:t>c+d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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6852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295400" y="1600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6200000" flipH="1">
            <a:off x="2209800" y="16002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410200" y="57150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>
            <a:off x="4953000" y="6172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V="1">
            <a:off x="1295400" y="25146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 flipH="1" flipV="1">
            <a:off x="1295400" y="2514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295400" y="2514600"/>
            <a:ext cx="914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838200" y="20574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6200000" flipH="1">
            <a:off x="1295400" y="22860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1333500" y="2552700"/>
            <a:ext cx="22860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447800" y="26670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6200000" flipH="1">
            <a:off x="1981200" y="16002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133600" y="17526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447800" y="26670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1981200" y="3200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2362200" y="3581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rot="5400000">
            <a:off x="1981200" y="3200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rot="5400000">
            <a:off x="2362200" y="3581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2895600" y="41148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3276600" y="44958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rot="5400000">
            <a:off x="3276600" y="44958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rot="5400000">
            <a:off x="2895600" y="41148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1295400" y="2286000"/>
            <a:ext cx="16002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rot="5400000">
            <a:off x="1181100" y="2400300"/>
            <a:ext cx="16002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35"/>
          <p:cNvGrpSpPr>
            <a:grpSpLocks/>
          </p:cNvGrpSpPr>
          <p:nvPr/>
        </p:nvGrpSpPr>
        <p:grpSpPr bwMode="auto">
          <a:xfrm>
            <a:off x="2895600" y="2286000"/>
            <a:ext cx="381000" cy="381000"/>
            <a:chOff x="3733800" y="1981200"/>
            <a:chExt cx="381000" cy="381000"/>
          </a:xfrm>
        </p:grpSpPr>
        <p:cxnSp>
          <p:nvCxnSpPr>
            <p:cNvPr id="129" name="Straight Connector 128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140"/>
          <p:cNvGrpSpPr>
            <a:grpSpLocks/>
          </p:cNvGrpSpPr>
          <p:nvPr/>
        </p:nvGrpSpPr>
        <p:grpSpPr bwMode="auto">
          <a:xfrm rot="10800000">
            <a:off x="1981200" y="3200400"/>
            <a:ext cx="381000" cy="381000"/>
            <a:chOff x="3733800" y="1981200"/>
            <a:chExt cx="381000" cy="381000"/>
          </a:xfrm>
        </p:grpSpPr>
        <p:cxnSp>
          <p:nvCxnSpPr>
            <p:cNvPr id="142" name="Straight Connector 141"/>
            <p:cNvCxnSpPr/>
            <p:nvPr/>
          </p:nvCxnSpPr>
          <p:spPr>
            <a:xfrm>
              <a:off x="374015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 rot="5400000" flipH="1" flipV="1">
              <a:off x="400685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 rot="16200000" flipH="1">
              <a:off x="396875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54"/>
          <p:cNvGrpSpPr>
            <a:grpSpLocks/>
          </p:cNvGrpSpPr>
          <p:nvPr/>
        </p:nvGrpSpPr>
        <p:grpSpPr bwMode="auto">
          <a:xfrm>
            <a:off x="3810000" y="3200400"/>
            <a:ext cx="381000" cy="381000"/>
            <a:chOff x="3733800" y="1981200"/>
            <a:chExt cx="381000" cy="381000"/>
          </a:xfrm>
        </p:grpSpPr>
        <p:cxnSp>
          <p:nvCxnSpPr>
            <p:cNvPr id="156" name="Straight Connector 155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158"/>
          <p:cNvGrpSpPr>
            <a:grpSpLocks/>
          </p:cNvGrpSpPr>
          <p:nvPr/>
        </p:nvGrpSpPr>
        <p:grpSpPr bwMode="auto">
          <a:xfrm rot="10800000">
            <a:off x="2895600" y="4114800"/>
            <a:ext cx="381000" cy="381000"/>
            <a:chOff x="3733800" y="1981200"/>
            <a:chExt cx="381000" cy="381000"/>
          </a:xfrm>
        </p:grpSpPr>
        <p:cxnSp>
          <p:nvCxnSpPr>
            <p:cNvPr id="160" name="Straight Connector 159"/>
            <p:cNvCxnSpPr/>
            <p:nvPr/>
          </p:nvCxnSpPr>
          <p:spPr>
            <a:xfrm>
              <a:off x="374015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 rot="5400000" flipH="1" flipV="1">
              <a:off x="400685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/>
          </p:nvCxnSpPr>
          <p:spPr>
            <a:xfrm rot="16200000" flipH="1">
              <a:off x="396875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162"/>
          <p:cNvGrpSpPr>
            <a:grpSpLocks/>
          </p:cNvGrpSpPr>
          <p:nvPr/>
        </p:nvGrpSpPr>
        <p:grpSpPr bwMode="auto">
          <a:xfrm rot="10800000">
            <a:off x="3810000" y="5029200"/>
            <a:ext cx="381000" cy="381000"/>
            <a:chOff x="3733800" y="1981200"/>
            <a:chExt cx="381000" cy="381000"/>
          </a:xfrm>
        </p:grpSpPr>
        <p:cxnSp>
          <p:nvCxnSpPr>
            <p:cNvPr id="164" name="Straight Connector 163"/>
            <p:cNvCxnSpPr/>
            <p:nvPr/>
          </p:nvCxnSpPr>
          <p:spPr>
            <a:xfrm>
              <a:off x="374015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 rot="5400000" flipH="1" flipV="1">
              <a:off x="400685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16200000" flipH="1">
              <a:off x="396875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166"/>
          <p:cNvGrpSpPr>
            <a:grpSpLocks/>
          </p:cNvGrpSpPr>
          <p:nvPr/>
        </p:nvGrpSpPr>
        <p:grpSpPr bwMode="auto">
          <a:xfrm>
            <a:off x="4724400" y="4114800"/>
            <a:ext cx="381000" cy="381000"/>
            <a:chOff x="3733800" y="1981200"/>
            <a:chExt cx="381000" cy="381000"/>
          </a:xfrm>
        </p:grpSpPr>
        <p:cxnSp>
          <p:nvCxnSpPr>
            <p:cNvPr id="168" name="Straight Connector 167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400" name="TextBox 181"/>
          <p:cNvSpPr txBox="1">
            <a:spLocks noChangeArrowheads="1"/>
          </p:cNvSpPr>
          <p:nvPr/>
        </p:nvSpPr>
        <p:spPr bwMode="auto">
          <a:xfrm>
            <a:off x="2133600" y="1536700"/>
            <a:ext cx="76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58401" name="TextBox 183"/>
          <p:cNvSpPr txBox="1">
            <a:spLocks noChangeArrowheads="1"/>
          </p:cNvSpPr>
          <p:nvPr/>
        </p:nvSpPr>
        <p:spPr bwMode="auto">
          <a:xfrm>
            <a:off x="1295400" y="2362200"/>
            <a:ext cx="762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58402" name="TextBox 184"/>
          <p:cNvSpPr txBox="1">
            <a:spLocks noChangeArrowheads="1"/>
          </p:cNvSpPr>
          <p:nvPr/>
        </p:nvSpPr>
        <p:spPr bwMode="auto">
          <a:xfrm rot="10800000" flipV="1">
            <a:off x="1981200" y="32686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2</a:t>
            </a:r>
          </a:p>
        </p:txBody>
      </p:sp>
      <p:sp>
        <p:nvSpPr>
          <p:cNvPr id="58403" name="TextBox 185"/>
          <p:cNvSpPr txBox="1">
            <a:spLocks noChangeArrowheads="1"/>
          </p:cNvSpPr>
          <p:nvPr/>
        </p:nvSpPr>
        <p:spPr bwMode="auto">
          <a:xfrm rot="10800000" flipV="1">
            <a:off x="3048000" y="22780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2</a:t>
            </a:r>
          </a:p>
        </p:txBody>
      </p:sp>
      <p:sp>
        <p:nvSpPr>
          <p:cNvPr id="58404" name="TextBox 186"/>
          <p:cNvSpPr txBox="1">
            <a:spLocks noChangeArrowheads="1"/>
          </p:cNvSpPr>
          <p:nvPr/>
        </p:nvSpPr>
        <p:spPr bwMode="auto">
          <a:xfrm rot="10800000" flipV="1">
            <a:off x="3962400" y="31924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3</a:t>
            </a:r>
          </a:p>
        </p:txBody>
      </p:sp>
      <p:sp>
        <p:nvSpPr>
          <p:cNvPr id="58405" name="TextBox 188"/>
          <p:cNvSpPr txBox="1">
            <a:spLocks noChangeArrowheads="1"/>
          </p:cNvSpPr>
          <p:nvPr/>
        </p:nvSpPr>
        <p:spPr bwMode="auto">
          <a:xfrm rot="10800000" flipV="1">
            <a:off x="2971800" y="42592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3</a:t>
            </a:r>
          </a:p>
        </p:txBody>
      </p:sp>
      <p:sp>
        <p:nvSpPr>
          <p:cNvPr id="58406" name="TextBox 189"/>
          <p:cNvSpPr txBox="1">
            <a:spLocks noChangeArrowheads="1"/>
          </p:cNvSpPr>
          <p:nvPr/>
        </p:nvSpPr>
        <p:spPr bwMode="auto">
          <a:xfrm rot="10800000" flipV="1">
            <a:off x="3810000" y="50974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4</a:t>
            </a:r>
          </a:p>
        </p:txBody>
      </p:sp>
      <p:sp>
        <p:nvSpPr>
          <p:cNvPr id="58407" name="TextBox 190"/>
          <p:cNvSpPr txBox="1">
            <a:spLocks noChangeArrowheads="1"/>
          </p:cNvSpPr>
          <p:nvPr/>
        </p:nvSpPr>
        <p:spPr bwMode="auto">
          <a:xfrm rot="10800000" flipV="1">
            <a:off x="4876800" y="41068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4</a:t>
            </a:r>
          </a:p>
        </p:txBody>
      </p:sp>
      <p:sp>
        <p:nvSpPr>
          <p:cNvPr id="58408" name="TextBox 197"/>
          <p:cNvSpPr txBox="1">
            <a:spLocks noChangeArrowheads="1"/>
          </p:cNvSpPr>
          <p:nvPr/>
        </p:nvSpPr>
        <p:spPr bwMode="auto">
          <a:xfrm>
            <a:off x="1031875" y="23622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</a:p>
        </p:txBody>
      </p:sp>
      <p:sp>
        <p:nvSpPr>
          <p:cNvPr id="58409" name="TextBox 198"/>
          <p:cNvSpPr txBox="1">
            <a:spLocks noChangeArrowheads="1"/>
          </p:cNvSpPr>
          <p:nvPr/>
        </p:nvSpPr>
        <p:spPr bwMode="auto">
          <a:xfrm>
            <a:off x="2057400" y="1371600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sp>
        <p:nvSpPr>
          <p:cNvPr id="58410" name="TextBox 199"/>
          <p:cNvSpPr txBox="1">
            <a:spLocks noChangeArrowheads="1"/>
          </p:cNvSpPr>
          <p:nvPr/>
        </p:nvSpPr>
        <p:spPr bwMode="auto">
          <a:xfrm>
            <a:off x="1654175" y="3276600"/>
            <a:ext cx="4032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2</a:t>
            </a:r>
          </a:p>
        </p:txBody>
      </p:sp>
      <p:sp>
        <p:nvSpPr>
          <p:cNvPr id="58411" name="TextBox 200"/>
          <p:cNvSpPr txBox="1">
            <a:spLocks noChangeArrowheads="1"/>
          </p:cNvSpPr>
          <p:nvPr/>
        </p:nvSpPr>
        <p:spPr bwMode="auto">
          <a:xfrm>
            <a:off x="2971800" y="2009775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2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sp>
        <p:nvSpPr>
          <p:cNvPr id="58412" name="TextBox 201"/>
          <p:cNvSpPr txBox="1">
            <a:spLocks noChangeArrowheads="1"/>
          </p:cNvSpPr>
          <p:nvPr/>
        </p:nvSpPr>
        <p:spPr bwMode="auto">
          <a:xfrm>
            <a:off x="2416175" y="41910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3</a:t>
            </a:r>
          </a:p>
        </p:txBody>
      </p:sp>
      <p:sp>
        <p:nvSpPr>
          <p:cNvPr id="58413" name="TextBox 202"/>
          <p:cNvSpPr txBox="1">
            <a:spLocks noChangeArrowheads="1"/>
          </p:cNvSpPr>
          <p:nvPr/>
        </p:nvSpPr>
        <p:spPr bwMode="auto">
          <a:xfrm>
            <a:off x="3886200" y="2819400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3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cxnSp>
        <p:nvCxnSpPr>
          <p:cNvPr id="212" name="Straight Arrow Connector 211"/>
          <p:cNvCxnSpPr/>
          <p:nvPr/>
        </p:nvCxnSpPr>
        <p:spPr>
          <a:xfrm>
            <a:off x="1295400" y="1143000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15" name="TextBox 212"/>
          <p:cNvSpPr txBox="1">
            <a:spLocks noChangeArrowheads="1"/>
          </p:cNvSpPr>
          <p:nvPr/>
        </p:nvSpPr>
        <p:spPr bwMode="auto">
          <a:xfrm>
            <a:off x="1524000" y="9144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rot="5400000">
            <a:off x="229394" y="20566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17" name="TextBox 215"/>
          <p:cNvSpPr txBox="1">
            <a:spLocks noChangeArrowheads="1"/>
          </p:cNvSpPr>
          <p:nvPr/>
        </p:nvSpPr>
        <p:spPr bwMode="auto">
          <a:xfrm rot="-5400000">
            <a:off x="368300" y="1905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8" name="Straight Arrow Connector 217"/>
          <p:cNvCxnSpPr/>
          <p:nvPr/>
        </p:nvCxnSpPr>
        <p:spPr>
          <a:xfrm>
            <a:off x="1981200" y="13716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19" name="TextBox 223"/>
          <p:cNvSpPr txBox="1">
            <a:spLocks noChangeArrowheads="1"/>
          </p:cNvSpPr>
          <p:nvPr/>
        </p:nvSpPr>
        <p:spPr bwMode="auto">
          <a:xfrm>
            <a:off x="1873250" y="1143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cxnSp>
        <p:nvCxnSpPr>
          <p:cNvPr id="226" name="Straight Arrow Connector 225"/>
          <p:cNvCxnSpPr/>
          <p:nvPr/>
        </p:nvCxnSpPr>
        <p:spPr>
          <a:xfrm rot="5400000" flipH="1" flipV="1">
            <a:off x="875507" y="240109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21" name="TextBox 226"/>
          <p:cNvSpPr txBox="1">
            <a:spLocks noChangeArrowheads="1"/>
          </p:cNvSpPr>
          <p:nvPr/>
        </p:nvSpPr>
        <p:spPr bwMode="auto">
          <a:xfrm rot="-5400000">
            <a:off x="6731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cxnSp>
        <p:nvCxnSpPr>
          <p:cNvPr id="240" name="Straight Arrow Connector 239"/>
          <p:cNvCxnSpPr/>
          <p:nvPr/>
        </p:nvCxnSpPr>
        <p:spPr>
          <a:xfrm>
            <a:off x="2895600" y="1965325"/>
            <a:ext cx="3810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23" name="TextBox 240"/>
          <p:cNvSpPr txBox="1">
            <a:spLocks noChangeArrowheads="1"/>
          </p:cNvSpPr>
          <p:nvPr/>
        </p:nvSpPr>
        <p:spPr bwMode="auto">
          <a:xfrm>
            <a:off x="2895600" y="1706563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cxnSp>
        <p:nvCxnSpPr>
          <p:cNvPr id="243" name="Straight Arrow Connector 242"/>
          <p:cNvCxnSpPr/>
          <p:nvPr/>
        </p:nvCxnSpPr>
        <p:spPr>
          <a:xfrm rot="5400000">
            <a:off x="3238501" y="2476500"/>
            <a:ext cx="381000" cy="317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25" name="TextBox 243"/>
          <p:cNvSpPr txBox="1">
            <a:spLocks noChangeArrowheads="1"/>
          </p:cNvSpPr>
          <p:nvPr/>
        </p:nvSpPr>
        <p:spPr bwMode="auto">
          <a:xfrm>
            <a:off x="34290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cxnSp>
        <p:nvCxnSpPr>
          <p:cNvPr id="245" name="Straight Arrow Connector 244"/>
          <p:cNvCxnSpPr/>
          <p:nvPr/>
        </p:nvCxnSpPr>
        <p:spPr>
          <a:xfrm rot="5400000">
            <a:off x="1486694" y="3390106"/>
            <a:ext cx="3810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/>
          <p:cNvCxnSpPr/>
          <p:nvPr/>
        </p:nvCxnSpPr>
        <p:spPr>
          <a:xfrm>
            <a:off x="1981200" y="3733800"/>
            <a:ext cx="379413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28" name="TextBox 247"/>
          <p:cNvSpPr txBox="1">
            <a:spLocks noChangeArrowheads="1"/>
          </p:cNvSpPr>
          <p:nvPr/>
        </p:nvSpPr>
        <p:spPr bwMode="auto">
          <a:xfrm>
            <a:off x="1295400" y="32766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sp>
        <p:nvSpPr>
          <p:cNvPr id="58429" name="TextBox 248"/>
          <p:cNvSpPr txBox="1">
            <a:spLocks noChangeArrowheads="1"/>
          </p:cNvSpPr>
          <p:nvPr/>
        </p:nvSpPr>
        <p:spPr bwMode="auto">
          <a:xfrm>
            <a:off x="1981200" y="3686175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sp>
        <p:nvSpPr>
          <p:cNvPr id="58430" name="TextBox 105"/>
          <p:cNvSpPr txBox="1">
            <a:spLocks noChangeArrowheads="1"/>
          </p:cNvSpPr>
          <p:nvPr/>
        </p:nvSpPr>
        <p:spPr bwMode="auto">
          <a:xfrm>
            <a:off x="811213" y="171450"/>
            <a:ext cx="751205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Calibri" pitchFamily="34" charset="0"/>
              </a:rPr>
              <a:t>Successive 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</a:rPr>
              <a:t>Band Reduction</a:t>
            </a:r>
          </a:p>
        </p:txBody>
      </p:sp>
      <p:sp>
        <p:nvSpPr>
          <p:cNvPr id="58431" name="TextBox 228"/>
          <p:cNvSpPr txBox="1">
            <a:spLocks noChangeArrowheads="1"/>
          </p:cNvSpPr>
          <p:nvPr/>
        </p:nvSpPr>
        <p:spPr bwMode="auto">
          <a:xfrm>
            <a:off x="1227138" y="2667000"/>
            <a:ext cx="269875" cy="2762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cxnSp>
        <p:nvCxnSpPr>
          <p:cNvPr id="99" name="Straight Arrow Connector 98"/>
          <p:cNvCxnSpPr/>
          <p:nvPr/>
        </p:nvCxnSpPr>
        <p:spPr>
          <a:xfrm rot="10800000">
            <a:off x="1295400" y="2743200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rot="5400000">
            <a:off x="2439194" y="1675606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34" name="TextBox 227"/>
          <p:cNvSpPr txBox="1">
            <a:spLocks noChangeArrowheads="1"/>
          </p:cNvSpPr>
          <p:nvPr/>
        </p:nvSpPr>
        <p:spPr bwMode="auto">
          <a:xfrm>
            <a:off x="2514600" y="1524000"/>
            <a:ext cx="269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5181600"/>
            <a:ext cx="1956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 = bandwidth</a:t>
            </a:r>
          </a:p>
          <a:p>
            <a:r>
              <a:rPr lang="en-US" dirty="0" smtClean="0"/>
              <a:t>c = #columns</a:t>
            </a:r>
          </a:p>
          <a:p>
            <a:r>
              <a:rPr lang="en-US" dirty="0" smtClean="0"/>
              <a:t>d = #diagonals</a:t>
            </a:r>
          </a:p>
          <a:p>
            <a:r>
              <a:rPr lang="en-US" dirty="0" smtClean="0"/>
              <a:t>Constraint: </a:t>
            </a:r>
            <a:r>
              <a:rPr lang="en-US" dirty="0" err="1" smtClean="0"/>
              <a:t>c+d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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0953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295400" y="1600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6200000" flipH="1">
            <a:off x="2209800" y="16002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410200" y="57150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>
            <a:off x="4953000" y="6172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V="1">
            <a:off x="1295400" y="25146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 flipH="1" flipV="1">
            <a:off x="1295400" y="2514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295400" y="2514600"/>
            <a:ext cx="914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838200" y="20574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6200000" flipH="1">
            <a:off x="1295400" y="22860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1333500" y="2552700"/>
            <a:ext cx="22860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447800" y="26670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6200000" flipH="1">
            <a:off x="1981200" y="16002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133600" y="17526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447800" y="26670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1981200" y="3200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2362200" y="3581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rot="5400000">
            <a:off x="1981200" y="3200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rot="5400000">
            <a:off x="2362200" y="3581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2895600" y="41148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3276600" y="44958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rot="5400000">
            <a:off x="3276600" y="44958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rot="5400000">
            <a:off x="2895600" y="41148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3810000" y="50292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rot="5400000">
            <a:off x="3810000" y="50292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4191000" y="5410200"/>
            <a:ext cx="16764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rot="5400000">
            <a:off x="4267200" y="5334000"/>
            <a:ext cx="16764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5638800" y="50292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4724400" y="61722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rot="5400000">
            <a:off x="5753100" y="51435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4610100" y="60579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1295400" y="2286000"/>
            <a:ext cx="16002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rot="5400000">
            <a:off x="1181100" y="2400300"/>
            <a:ext cx="16002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35"/>
          <p:cNvGrpSpPr>
            <a:grpSpLocks/>
          </p:cNvGrpSpPr>
          <p:nvPr/>
        </p:nvGrpSpPr>
        <p:grpSpPr bwMode="auto">
          <a:xfrm>
            <a:off x="2895600" y="2286000"/>
            <a:ext cx="381000" cy="381000"/>
            <a:chOff x="3733800" y="1981200"/>
            <a:chExt cx="381000" cy="381000"/>
          </a:xfrm>
        </p:grpSpPr>
        <p:cxnSp>
          <p:nvCxnSpPr>
            <p:cNvPr id="129" name="Straight Connector 128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140"/>
          <p:cNvGrpSpPr>
            <a:grpSpLocks/>
          </p:cNvGrpSpPr>
          <p:nvPr/>
        </p:nvGrpSpPr>
        <p:grpSpPr bwMode="auto">
          <a:xfrm rot="10800000">
            <a:off x="1981200" y="3200400"/>
            <a:ext cx="381000" cy="381000"/>
            <a:chOff x="3733800" y="1981200"/>
            <a:chExt cx="381000" cy="381000"/>
          </a:xfrm>
        </p:grpSpPr>
        <p:cxnSp>
          <p:nvCxnSpPr>
            <p:cNvPr id="142" name="Straight Connector 141"/>
            <p:cNvCxnSpPr/>
            <p:nvPr/>
          </p:nvCxnSpPr>
          <p:spPr>
            <a:xfrm>
              <a:off x="374015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 rot="5400000" flipH="1" flipV="1">
              <a:off x="400685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 rot="16200000" flipH="1">
              <a:off x="396875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54"/>
          <p:cNvGrpSpPr>
            <a:grpSpLocks/>
          </p:cNvGrpSpPr>
          <p:nvPr/>
        </p:nvGrpSpPr>
        <p:grpSpPr bwMode="auto">
          <a:xfrm>
            <a:off x="3810000" y="3200400"/>
            <a:ext cx="381000" cy="381000"/>
            <a:chOff x="3733800" y="1981200"/>
            <a:chExt cx="381000" cy="381000"/>
          </a:xfrm>
        </p:grpSpPr>
        <p:cxnSp>
          <p:nvCxnSpPr>
            <p:cNvPr id="156" name="Straight Connector 155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158"/>
          <p:cNvGrpSpPr>
            <a:grpSpLocks/>
          </p:cNvGrpSpPr>
          <p:nvPr/>
        </p:nvGrpSpPr>
        <p:grpSpPr bwMode="auto">
          <a:xfrm rot="10800000">
            <a:off x="2895600" y="4114800"/>
            <a:ext cx="381000" cy="381000"/>
            <a:chOff x="3733800" y="1981200"/>
            <a:chExt cx="381000" cy="381000"/>
          </a:xfrm>
        </p:grpSpPr>
        <p:cxnSp>
          <p:nvCxnSpPr>
            <p:cNvPr id="160" name="Straight Connector 159"/>
            <p:cNvCxnSpPr/>
            <p:nvPr/>
          </p:nvCxnSpPr>
          <p:spPr>
            <a:xfrm>
              <a:off x="374015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 rot="5400000" flipH="1" flipV="1">
              <a:off x="400685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/>
          </p:nvCxnSpPr>
          <p:spPr>
            <a:xfrm rot="16200000" flipH="1">
              <a:off x="396875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162"/>
          <p:cNvGrpSpPr>
            <a:grpSpLocks/>
          </p:cNvGrpSpPr>
          <p:nvPr/>
        </p:nvGrpSpPr>
        <p:grpSpPr bwMode="auto">
          <a:xfrm rot="10800000">
            <a:off x="3810000" y="5029200"/>
            <a:ext cx="381000" cy="381000"/>
            <a:chOff x="3733800" y="1981200"/>
            <a:chExt cx="381000" cy="381000"/>
          </a:xfrm>
        </p:grpSpPr>
        <p:cxnSp>
          <p:nvCxnSpPr>
            <p:cNvPr id="164" name="Straight Connector 163"/>
            <p:cNvCxnSpPr/>
            <p:nvPr/>
          </p:nvCxnSpPr>
          <p:spPr>
            <a:xfrm>
              <a:off x="374015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 rot="5400000" flipH="1" flipV="1">
              <a:off x="400685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16200000" flipH="1">
              <a:off x="396875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166"/>
          <p:cNvGrpSpPr>
            <a:grpSpLocks/>
          </p:cNvGrpSpPr>
          <p:nvPr/>
        </p:nvGrpSpPr>
        <p:grpSpPr bwMode="auto">
          <a:xfrm>
            <a:off x="4724400" y="4114800"/>
            <a:ext cx="381000" cy="381000"/>
            <a:chOff x="3733800" y="1981200"/>
            <a:chExt cx="381000" cy="381000"/>
          </a:xfrm>
        </p:grpSpPr>
        <p:cxnSp>
          <p:nvCxnSpPr>
            <p:cNvPr id="168" name="Straight Connector 167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432" name="TextBox 181"/>
          <p:cNvSpPr txBox="1">
            <a:spLocks noChangeArrowheads="1"/>
          </p:cNvSpPr>
          <p:nvPr/>
        </p:nvSpPr>
        <p:spPr bwMode="auto">
          <a:xfrm>
            <a:off x="2133600" y="1536700"/>
            <a:ext cx="76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59433" name="TextBox 183"/>
          <p:cNvSpPr txBox="1">
            <a:spLocks noChangeArrowheads="1"/>
          </p:cNvSpPr>
          <p:nvPr/>
        </p:nvSpPr>
        <p:spPr bwMode="auto">
          <a:xfrm>
            <a:off x="1295400" y="2362200"/>
            <a:ext cx="762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59434" name="TextBox 184"/>
          <p:cNvSpPr txBox="1">
            <a:spLocks noChangeArrowheads="1"/>
          </p:cNvSpPr>
          <p:nvPr/>
        </p:nvSpPr>
        <p:spPr bwMode="auto">
          <a:xfrm rot="10800000" flipV="1">
            <a:off x="1981200" y="32686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2</a:t>
            </a:r>
          </a:p>
        </p:txBody>
      </p:sp>
      <p:sp>
        <p:nvSpPr>
          <p:cNvPr id="59435" name="TextBox 185"/>
          <p:cNvSpPr txBox="1">
            <a:spLocks noChangeArrowheads="1"/>
          </p:cNvSpPr>
          <p:nvPr/>
        </p:nvSpPr>
        <p:spPr bwMode="auto">
          <a:xfrm rot="10800000" flipV="1">
            <a:off x="3048000" y="22780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2</a:t>
            </a:r>
          </a:p>
        </p:txBody>
      </p:sp>
      <p:sp>
        <p:nvSpPr>
          <p:cNvPr id="59436" name="TextBox 186"/>
          <p:cNvSpPr txBox="1">
            <a:spLocks noChangeArrowheads="1"/>
          </p:cNvSpPr>
          <p:nvPr/>
        </p:nvSpPr>
        <p:spPr bwMode="auto">
          <a:xfrm rot="10800000" flipV="1">
            <a:off x="3962400" y="31924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3</a:t>
            </a:r>
          </a:p>
        </p:txBody>
      </p:sp>
      <p:sp>
        <p:nvSpPr>
          <p:cNvPr id="59437" name="TextBox 188"/>
          <p:cNvSpPr txBox="1">
            <a:spLocks noChangeArrowheads="1"/>
          </p:cNvSpPr>
          <p:nvPr/>
        </p:nvSpPr>
        <p:spPr bwMode="auto">
          <a:xfrm rot="10800000" flipV="1">
            <a:off x="2971800" y="42592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3</a:t>
            </a:r>
          </a:p>
        </p:txBody>
      </p:sp>
      <p:sp>
        <p:nvSpPr>
          <p:cNvPr id="59438" name="TextBox 189"/>
          <p:cNvSpPr txBox="1">
            <a:spLocks noChangeArrowheads="1"/>
          </p:cNvSpPr>
          <p:nvPr/>
        </p:nvSpPr>
        <p:spPr bwMode="auto">
          <a:xfrm rot="10800000" flipV="1">
            <a:off x="3810000" y="50974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4</a:t>
            </a:r>
          </a:p>
        </p:txBody>
      </p:sp>
      <p:sp>
        <p:nvSpPr>
          <p:cNvPr id="59439" name="TextBox 190"/>
          <p:cNvSpPr txBox="1">
            <a:spLocks noChangeArrowheads="1"/>
          </p:cNvSpPr>
          <p:nvPr/>
        </p:nvSpPr>
        <p:spPr bwMode="auto">
          <a:xfrm rot="10800000" flipV="1">
            <a:off x="4876800" y="41068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4</a:t>
            </a:r>
          </a:p>
        </p:txBody>
      </p:sp>
      <p:sp>
        <p:nvSpPr>
          <p:cNvPr id="59440" name="TextBox 191"/>
          <p:cNvSpPr txBox="1">
            <a:spLocks noChangeArrowheads="1"/>
          </p:cNvSpPr>
          <p:nvPr/>
        </p:nvSpPr>
        <p:spPr bwMode="auto">
          <a:xfrm rot="10800000" flipV="1">
            <a:off x="4648200" y="60245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5</a:t>
            </a:r>
          </a:p>
        </p:txBody>
      </p:sp>
      <p:sp>
        <p:nvSpPr>
          <p:cNvPr id="59441" name="TextBox 192"/>
          <p:cNvSpPr txBox="1">
            <a:spLocks noChangeArrowheads="1"/>
          </p:cNvSpPr>
          <p:nvPr/>
        </p:nvSpPr>
        <p:spPr bwMode="auto">
          <a:xfrm rot="10800000" flipV="1">
            <a:off x="5715000" y="49450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5</a:t>
            </a:r>
          </a:p>
        </p:txBody>
      </p:sp>
      <p:sp>
        <p:nvSpPr>
          <p:cNvPr id="59442" name="TextBox 197"/>
          <p:cNvSpPr txBox="1">
            <a:spLocks noChangeArrowheads="1"/>
          </p:cNvSpPr>
          <p:nvPr/>
        </p:nvSpPr>
        <p:spPr bwMode="auto">
          <a:xfrm>
            <a:off x="1031875" y="23622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</a:p>
        </p:txBody>
      </p:sp>
      <p:sp>
        <p:nvSpPr>
          <p:cNvPr id="59443" name="TextBox 198"/>
          <p:cNvSpPr txBox="1">
            <a:spLocks noChangeArrowheads="1"/>
          </p:cNvSpPr>
          <p:nvPr/>
        </p:nvSpPr>
        <p:spPr bwMode="auto">
          <a:xfrm>
            <a:off x="2057400" y="1371600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sp>
        <p:nvSpPr>
          <p:cNvPr id="59444" name="TextBox 199"/>
          <p:cNvSpPr txBox="1">
            <a:spLocks noChangeArrowheads="1"/>
          </p:cNvSpPr>
          <p:nvPr/>
        </p:nvSpPr>
        <p:spPr bwMode="auto">
          <a:xfrm>
            <a:off x="1654175" y="3276600"/>
            <a:ext cx="4032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2</a:t>
            </a:r>
          </a:p>
        </p:txBody>
      </p:sp>
      <p:sp>
        <p:nvSpPr>
          <p:cNvPr id="59445" name="TextBox 200"/>
          <p:cNvSpPr txBox="1">
            <a:spLocks noChangeArrowheads="1"/>
          </p:cNvSpPr>
          <p:nvPr/>
        </p:nvSpPr>
        <p:spPr bwMode="auto">
          <a:xfrm>
            <a:off x="2971800" y="2009775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2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sp>
        <p:nvSpPr>
          <p:cNvPr id="59446" name="TextBox 201"/>
          <p:cNvSpPr txBox="1">
            <a:spLocks noChangeArrowheads="1"/>
          </p:cNvSpPr>
          <p:nvPr/>
        </p:nvSpPr>
        <p:spPr bwMode="auto">
          <a:xfrm>
            <a:off x="2416175" y="41910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3</a:t>
            </a:r>
          </a:p>
        </p:txBody>
      </p:sp>
      <p:sp>
        <p:nvSpPr>
          <p:cNvPr id="59447" name="TextBox 202"/>
          <p:cNvSpPr txBox="1">
            <a:spLocks noChangeArrowheads="1"/>
          </p:cNvSpPr>
          <p:nvPr/>
        </p:nvSpPr>
        <p:spPr bwMode="auto">
          <a:xfrm>
            <a:off x="3886200" y="2819400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3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sp>
        <p:nvSpPr>
          <p:cNvPr id="59448" name="TextBox 204"/>
          <p:cNvSpPr txBox="1">
            <a:spLocks noChangeArrowheads="1"/>
          </p:cNvSpPr>
          <p:nvPr/>
        </p:nvSpPr>
        <p:spPr bwMode="auto">
          <a:xfrm>
            <a:off x="3352800" y="51054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4</a:t>
            </a:r>
            <a:endParaRPr lang="en-US" sz="1100" baseline="-25000">
              <a:latin typeface="Calibri" pitchFamily="34" charset="0"/>
            </a:endParaRPr>
          </a:p>
        </p:txBody>
      </p:sp>
      <p:sp>
        <p:nvSpPr>
          <p:cNvPr id="59449" name="TextBox 205"/>
          <p:cNvSpPr txBox="1">
            <a:spLocks noChangeArrowheads="1"/>
          </p:cNvSpPr>
          <p:nvPr/>
        </p:nvSpPr>
        <p:spPr bwMode="auto">
          <a:xfrm>
            <a:off x="4800600" y="3733800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4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cxnSp>
        <p:nvCxnSpPr>
          <p:cNvPr id="208" name="Straight Connector 207"/>
          <p:cNvCxnSpPr/>
          <p:nvPr/>
        </p:nvCxnSpPr>
        <p:spPr>
          <a:xfrm>
            <a:off x="4724400" y="5943600"/>
            <a:ext cx="11430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/>
          <p:nvPr/>
        </p:nvCxnSpPr>
        <p:spPr>
          <a:xfrm rot="5400000">
            <a:off x="5067300" y="5600700"/>
            <a:ext cx="11430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/>
          <p:nvPr/>
        </p:nvCxnSpPr>
        <p:spPr>
          <a:xfrm>
            <a:off x="1295400" y="1143000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53" name="TextBox 212"/>
          <p:cNvSpPr txBox="1">
            <a:spLocks noChangeArrowheads="1"/>
          </p:cNvSpPr>
          <p:nvPr/>
        </p:nvSpPr>
        <p:spPr bwMode="auto">
          <a:xfrm>
            <a:off x="1524000" y="9144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rot="5400000">
            <a:off x="229394" y="20566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55" name="TextBox 215"/>
          <p:cNvSpPr txBox="1">
            <a:spLocks noChangeArrowheads="1"/>
          </p:cNvSpPr>
          <p:nvPr/>
        </p:nvSpPr>
        <p:spPr bwMode="auto">
          <a:xfrm rot="-5400000">
            <a:off x="368300" y="1905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8" name="Straight Arrow Connector 217"/>
          <p:cNvCxnSpPr/>
          <p:nvPr/>
        </p:nvCxnSpPr>
        <p:spPr>
          <a:xfrm>
            <a:off x="1981200" y="13716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57" name="TextBox 223"/>
          <p:cNvSpPr txBox="1">
            <a:spLocks noChangeArrowheads="1"/>
          </p:cNvSpPr>
          <p:nvPr/>
        </p:nvSpPr>
        <p:spPr bwMode="auto">
          <a:xfrm>
            <a:off x="1873250" y="1143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cxnSp>
        <p:nvCxnSpPr>
          <p:cNvPr id="226" name="Straight Arrow Connector 225"/>
          <p:cNvCxnSpPr/>
          <p:nvPr/>
        </p:nvCxnSpPr>
        <p:spPr>
          <a:xfrm rot="5400000" flipH="1" flipV="1">
            <a:off x="875507" y="240109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59" name="TextBox 226"/>
          <p:cNvSpPr txBox="1">
            <a:spLocks noChangeArrowheads="1"/>
          </p:cNvSpPr>
          <p:nvPr/>
        </p:nvSpPr>
        <p:spPr bwMode="auto">
          <a:xfrm rot="-5400000">
            <a:off x="6731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sp>
        <p:nvSpPr>
          <p:cNvPr id="59460" name="TextBox 227"/>
          <p:cNvSpPr txBox="1">
            <a:spLocks noChangeArrowheads="1"/>
          </p:cNvSpPr>
          <p:nvPr/>
        </p:nvSpPr>
        <p:spPr bwMode="auto">
          <a:xfrm>
            <a:off x="2514600" y="1524000"/>
            <a:ext cx="269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sp>
        <p:nvSpPr>
          <p:cNvPr id="59461" name="TextBox 228"/>
          <p:cNvSpPr txBox="1">
            <a:spLocks noChangeArrowheads="1"/>
          </p:cNvSpPr>
          <p:nvPr/>
        </p:nvSpPr>
        <p:spPr bwMode="auto">
          <a:xfrm>
            <a:off x="1227138" y="2667000"/>
            <a:ext cx="269875" cy="2762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cxnSp>
        <p:nvCxnSpPr>
          <p:cNvPr id="231" name="Straight Arrow Connector 230"/>
          <p:cNvCxnSpPr/>
          <p:nvPr/>
        </p:nvCxnSpPr>
        <p:spPr>
          <a:xfrm rot="5400000">
            <a:off x="2439194" y="1675606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/>
          <p:cNvCxnSpPr/>
          <p:nvPr/>
        </p:nvCxnSpPr>
        <p:spPr>
          <a:xfrm rot="10800000">
            <a:off x="1295400" y="2743200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/>
          <p:cNvCxnSpPr/>
          <p:nvPr/>
        </p:nvCxnSpPr>
        <p:spPr>
          <a:xfrm>
            <a:off x="2895600" y="1965325"/>
            <a:ext cx="3810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65" name="TextBox 240"/>
          <p:cNvSpPr txBox="1">
            <a:spLocks noChangeArrowheads="1"/>
          </p:cNvSpPr>
          <p:nvPr/>
        </p:nvSpPr>
        <p:spPr bwMode="auto">
          <a:xfrm>
            <a:off x="2895600" y="1706563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cxnSp>
        <p:nvCxnSpPr>
          <p:cNvPr id="243" name="Straight Arrow Connector 242"/>
          <p:cNvCxnSpPr/>
          <p:nvPr/>
        </p:nvCxnSpPr>
        <p:spPr>
          <a:xfrm rot="5400000">
            <a:off x="3238501" y="2476500"/>
            <a:ext cx="381000" cy="317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67" name="TextBox 243"/>
          <p:cNvSpPr txBox="1">
            <a:spLocks noChangeArrowheads="1"/>
          </p:cNvSpPr>
          <p:nvPr/>
        </p:nvSpPr>
        <p:spPr bwMode="auto">
          <a:xfrm>
            <a:off x="34290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cxnSp>
        <p:nvCxnSpPr>
          <p:cNvPr id="245" name="Straight Arrow Connector 244"/>
          <p:cNvCxnSpPr/>
          <p:nvPr/>
        </p:nvCxnSpPr>
        <p:spPr>
          <a:xfrm rot="5400000">
            <a:off x="1486694" y="3390106"/>
            <a:ext cx="3810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/>
          <p:cNvCxnSpPr/>
          <p:nvPr/>
        </p:nvCxnSpPr>
        <p:spPr>
          <a:xfrm>
            <a:off x="1981200" y="3733800"/>
            <a:ext cx="379413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70" name="TextBox 247"/>
          <p:cNvSpPr txBox="1">
            <a:spLocks noChangeArrowheads="1"/>
          </p:cNvSpPr>
          <p:nvPr/>
        </p:nvSpPr>
        <p:spPr bwMode="auto">
          <a:xfrm>
            <a:off x="1295400" y="32766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sp>
        <p:nvSpPr>
          <p:cNvPr id="59471" name="TextBox 248"/>
          <p:cNvSpPr txBox="1">
            <a:spLocks noChangeArrowheads="1"/>
          </p:cNvSpPr>
          <p:nvPr/>
        </p:nvSpPr>
        <p:spPr bwMode="auto">
          <a:xfrm>
            <a:off x="1981200" y="3686175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sp>
        <p:nvSpPr>
          <p:cNvPr id="59472" name="TextBox 105"/>
          <p:cNvSpPr txBox="1">
            <a:spLocks noChangeArrowheads="1"/>
          </p:cNvSpPr>
          <p:nvPr/>
        </p:nvSpPr>
        <p:spPr bwMode="auto">
          <a:xfrm>
            <a:off x="811213" y="171450"/>
            <a:ext cx="751205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latin typeface="Calibri" pitchFamily="34" charset="0"/>
              </a:rPr>
              <a:t>S</a:t>
            </a:r>
            <a:r>
              <a:rPr lang="en-US" sz="3200" dirty="0" smtClean="0">
                <a:solidFill>
                  <a:schemeClr val="tx1"/>
                </a:solidFill>
                <a:latin typeface="Calibri" pitchFamily="34" charset="0"/>
              </a:rPr>
              <a:t>uccessive 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</a:rPr>
              <a:t>Band Reduction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" y="5181600"/>
            <a:ext cx="1956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 = bandwidth</a:t>
            </a:r>
          </a:p>
          <a:p>
            <a:r>
              <a:rPr lang="en-US" dirty="0" smtClean="0"/>
              <a:t>c = #columns</a:t>
            </a:r>
          </a:p>
          <a:p>
            <a:r>
              <a:rPr lang="en-US" dirty="0" smtClean="0"/>
              <a:t>d = #diagonals</a:t>
            </a:r>
          </a:p>
          <a:p>
            <a:r>
              <a:rPr lang="en-US" dirty="0" smtClean="0"/>
              <a:t>Constraint: </a:t>
            </a:r>
            <a:r>
              <a:rPr lang="en-US" dirty="0" err="1" smtClean="0"/>
              <a:t>c+d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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7014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295400" y="1600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6200000" flipH="1">
            <a:off x="2209800" y="16002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410200" y="57150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>
            <a:off x="4953000" y="61722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V="1">
            <a:off x="1295400" y="2514600"/>
            <a:ext cx="365760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 flipH="1" flipV="1">
            <a:off x="1295400" y="2514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295400" y="2514600"/>
            <a:ext cx="9144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838200" y="2057400"/>
            <a:ext cx="91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6200000" flipH="1">
            <a:off x="1295400" y="22860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1333500" y="2552700"/>
            <a:ext cx="22860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447800" y="26670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6200000" flipH="1">
            <a:off x="1981200" y="1600200"/>
            <a:ext cx="152400" cy="152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133600" y="17526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447800" y="26670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1981200" y="3200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2362200" y="3581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rot="5400000">
            <a:off x="1981200" y="3200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rot="5400000">
            <a:off x="2362200" y="35814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2895600" y="41148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3276600" y="44958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rot="5400000">
            <a:off x="3276600" y="44958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rot="5400000">
            <a:off x="2895600" y="41148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3810000" y="50292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rot="5400000">
            <a:off x="3810000" y="5029200"/>
            <a:ext cx="18288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4191000" y="5410200"/>
            <a:ext cx="16764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rot="5400000">
            <a:off x="4267200" y="5334000"/>
            <a:ext cx="16764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5638800" y="50292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4724400" y="61722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rot="5400000">
            <a:off x="5753100" y="51435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4610100" y="6057900"/>
            <a:ext cx="228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1295400" y="2286000"/>
            <a:ext cx="16002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rot="5400000">
            <a:off x="1181100" y="2400300"/>
            <a:ext cx="16002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35"/>
          <p:cNvGrpSpPr>
            <a:grpSpLocks/>
          </p:cNvGrpSpPr>
          <p:nvPr/>
        </p:nvGrpSpPr>
        <p:grpSpPr bwMode="auto">
          <a:xfrm>
            <a:off x="2895600" y="2286000"/>
            <a:ext cx="381000" cy="381000"/>
            <a:chOff x="3733800" y="1981200"/>
            <a:chExt cx="381000" cy="381000"/>
          </a:xfrm>
        </p:grpSpPr>
        <p:cxnSp>
          <p:nvCxnSpPr>
            <p:cNvPr id="129" name="Straight Connector 128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140"/>
          <p:cNvGrpSpPr>
            <a:grpSpLocks/>
          </p:cNvGrpSpPr>
          <p:nvPr/>
        </p:nvGrpSpPr>
        <p:grpSpPr bwMode="auto">
          <a:xfrm rot="10800000">
            <a:off x="1981200" y="3200400"/>
            <a:ext cx="381000" cy="381000"/>
            <a:chOff x="3733800" y="1981200"/>
            <a:chExt cx="381000" cy="381000"/>
          </a:xfrm>
        </p:grpSpPr>
        <p:cxnSp>
          <p:nvCxnSpPr>
            <p:cNvPr id="142" name="Straight Connector 141"/>
            <p:cNvCxnSpPr/>
            <p:nvPr/>
          </p:nvCxnSpPr>
          <p:spPr>
            <a:xfrm>
              <a:off x="374015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 rot="5400000" flipH="1" flipV="1">
              <a:off x="400685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 rot="16200000" flipH="1">
              <a:off x="396875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54"/>
          <p:cNvGrpSpPr>
            <a:grpSpLocks/>
          </p:cNvGrpSpPr>
          <p:nvPr/>
        </p:nvGrpSpPr>
        <p:grpSpPr bwMode="auto">
          <a:xfrm>
            <a:off x="3810000" y="3200400"/>
            <a:ext cx="381000" cy="381000"/>
            <a:chOff x="3733800" y="1981200"/>
            <a:chExt cx="381000" cy="381000"/>
          </a:xfrm>
        </p:grpSpPr>
        <p:cxnSp>
          <p:nvCxnSpPr>
            <p:cNvPr id="156" name="Straight Connector 155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158"/>
          <p:cNvGrpSpPr>
            <a:grpSpLocks/>
          </p:cNvGrpSpPr>
          <p:nvPr/>
        </p:nvGrpSpPr>
        <p:grpSpPr bwMode="auto">
          <a:xfrm rot="10800000">
            <a:off x="2895600" y="4114800"/>
            <a:ext cx="381000" cy="381000"/>
            <a:chOff x="3733800" y="1981200"/>
            <a:chExt cx="381000" cy="381000"/>
          </a:xfrm>
        </p:grpSpPr>
        <p:cxnSp>
          <p:nvCxnSpPr>
            <p:cNvPr id="160" name="Straight Connector 159"/>
            <p:cNvCxnSpPr/>
            <p:nvPr/>
          </p:nvCxnSpPr>
          <p:spPr>
            <a:xfrm>
              <a:off x="374015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 rot="5400000" flipH="1" flipV="1">
              <a:off x="400685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/>
          </p:nvCxnSpPr>
          <p:spPr>
            <a:xfrm rot="16200000" flipH="1">
              <a:off x="396875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162"/>
          <p:cNvGrpSpPr>
            <a:grpSpLocks/>
          </p:cNvGrpSpPr>
          <p:nvPr/>
        </p:nvGrpSpPr>
        <p:grpSpPr bwMode="auto">
          <a:xfrm rot="10800000">
            <a:off x="3810000" y="5029200"/>
            <a:ext cx="381000" cy="381000"/>
            <a:chOff x="3733800" y="1981200"/>
            <a:chExt cx="381000" cy="381000"/>
          </a:xfrm>
        </p:grpSpPr>
        <p:cxnSp>
          <p:nvCxnSpPr>
            <p:cNvPr id="164" name="Straight Connector 163"/>
            <p:cNvCxnSpPr/>
            <p:nvPr/>
          </p:nvCxnSpPr>
          <p:spPr>
            <a:xfrm>
              <a:off x="374015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 rot="5400000" flipH="1" flipV="1">
              <a:off x="400685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16200000" flipH="1">
              <a:off x="396875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166"/>
          <p:cNvGrpSpPr>
            <a:grpSpLocks/>
          </p:cNvGrpSpPr>
          <p:nvPr/>
        </p:nvGrpSpPr>
        <p:grpSpPr bwMode="auto">
          <a:xfrm>
            <a:off x="4724400" y="4114800"/>
            <a:ext cx="381000" cy="381000"/>
            <a:chOff x="3733800" y="1981200"/>
            <a:chExt cx="381000" cy="381000"/>
          </a:xfrm>
        </p:grpSpPr>
        <p:cxnSp>
          <p:nvCxnSpPr>
            <p:cNvPr id="168" name="Straight Connector 167"/>
            <p:cNvCxnSpPr/>
            <p:nvPr/>
          </p:nvCxnSpPr>
          <p:spPr>
            <a:xfrm>
              <a:off x="3733800" y="1981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rot="5400000" flipH="1" flipV="1">
              <a:off x="4000500" y="22479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rot="16200000" flipH="1">
              <a:off x="3962400" y="1981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456" name="TextBox 181"/>
          <p:cNvSpPr txBox="1">
            <a:spLocks noChangeArrowheads="1"/>
          </p:cNvSpPr>
          <p:nvPr/>
        </p:nvSpPr>
        <p:spPr bwMode="auto">
          <a:xfrm>
            <a:off x="2133600" y="1536700"/>
            <a:ext cx="76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60457" name="TextBox 183"/>
          <p:cNvSpPr txBox="1">
            <a:spLocks noChangeArrowheads="1"/>
          </p:cNvSpPr>
          <p:nvPr/>
        </p:nvSpPr>
        <p:spPr bwMode="auto">
          <a:xfrm>
            <a:off x="1295400" y="2362200"/>
            <a:ext cx="762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1</a:t>
            </a:r>
          </a:p>
        </p:txBody>
      </p:sp>
      <p:sp>
        <p:nvSpPr>
          <p:cNvPr id="60458" name="TextBox 184"/>
          <p:cNvSpPr txBox="1">
            <a:spLocks noChangeArrowheads="1"/>
          </p:cNvSpPr>
          <p:nvPr/>
        </p:nvSpPr>
        <p:spPr bwMode="auto">
          <a:xfrm rot="10800000" flipV="1">
            <a:off x="1981200" y="32686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2</a:t>
            </a:r>
          </a:p>
        </p:txBody>
      </p:sp>
      <p:sp>
        <p:nvSpPr>
          <p:cNvPr id="60459" name="TextBox 185"/>
          <p:cNvSpPr txBox="1">
            <a:spLocks noChangeArrowheads="1"/>
          </p:cNvSpPr>
          <p:nvPr/>
        </p:nvSpPr>
        <p:spPr bwMode="auto">
          <a:xfrm rot="10800000" flipV="1">
            <a:off x="3048000" y="22780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2</a:t>
            </a:r>
          </a:p>
        </p:txBody>
      </p:sp>
      <p:sp>
        <p:nvSpPr>
          <p:cNvPr id="60460" name="TextBox 186"/>
          <p:cNvSpPr txBox="1">
            <a:spLocks noChangeArrowheads="1"/>
          </p:cNvSpPr>
          <p:nvPr/>
        </p:nvSpPr>
        <p:spPr bwMode="auto">
          <a:xfrm rot="10800000" flipV="1">
            <a:off x="3962400" y="31924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3</a:t>
            </a:r>
          </a:p>
        </p:txBody>
      </p:sp>
      <p:sp>
        <p:nvSpPr>
          <p:cNvPr id="60461" name="TextBox 188"/>
          <p:cNvSpPr txBox="1">
            <a:spLocks noChangeArrowheads="1"/>
          </p:cNvSpPr>
          <p:nvPr/>
        </p:nvSpPr>
        <p:spPr bwMode="auto">
          <a:xfrm rot="10800000" flipV="1">
            <a:off x="2971800" y="42592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3</a:t>
            </a:r>
          </a:p>
        </p:txBody>
      </p:sp>
      <p:sp>
        <p:nvSpPr>
          <p:cNvPr id="60462" name="TextBox 189"/>
          <p:cNvSpPr txBox="1">
            <a:spLocks noChangeArrowheads="1"/>
          </p:cNvSpPr>
          <p:nvPr/>
        </p:nvSpPr>
        <p:spPr bwMode="auto">
          <a:xfrm rot="10800000" flipV="1">
            <a:off x="3810000" y="50974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4</a:t>
            </a:r>
          </a:p>
        </p:txBody>
      </p:sp>
      <p:sp>
        <p:nvSpPr>
          <p:cNvPr id="60463" name="TextBox 190"/>
          <p:cNvSpPr txBox="1">
            <a:spLocks noChangeArrowheads="1"/>
          </p:cNvSpPr>
          <p:nvPr/>
        </p:nvSpPr>
        <p:spPr bwMode="auto">
          <a:xfrm rot="10800000" flipV="1">
            <a:off x="4876800" y="41068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4</a:t>
            </a:r>
          </a:p>
        </p:txBody>
      </p:sp>
      <p:sp>
        <p:nvSpPr>
          <p:cNvPr id="60464" name="TextBox 191"/>
          <p:cNvSpPr txBox="1">
            <a:spLocks noChangeArrowheads="1"/>
          </p:cNvSpPr>
          <p:nvPr/>
        </p:nvSpPr>
        <p:spPr bwMode="auto">
          <a:xfrm rot="10800000" flipV="1">
            <a:off x="4648200" y="60245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5</a:t>
            </a:r>
          </a:p>
        </p:txBody>
      </p:sp>
      <p:sp>
        <p:nvSpPr>
          <p:cNvPr id="60465" name="TextBox 192"/>
          <p:cNvSpPr txBox="1">
            <a:spLocks noChangeArrowheads="1"/>
          </p:cNvSpPr>
          <p:nvPr/>
        </p:nvSpPr>
        <p:spPr bwMode="auto">
          <a:xfrm rot="10800000" flipV="1">
            <a:off x="5715000" y="4945063"/>
            <a:ext cx="1524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>
                <a:latin typeface="Calibri" pitchFamily="34" charset="0"/>
              </a:rPr>
              <a:t>5</a:t>
            </a:r>
          </a:p>
        </p:txBody>
      </p:sp>
      <p:sp>
        <p:nvSpPr>
          <p:cNvPr id="60466" name="TextBox 196"/>
          <p:cNvSpPr txBox="1">
            <a:spLocks noChangeArrowheads="1"/>
          </p:cNvSpPr>
          <p:nvPr/>
        </p:nvSpPr>
        <p:spPr bwMode="auto">
          <a:xfrm>
            <a:off x="5562600" y="4648200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5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sp>
        <p:nvSpPr>
          <p:cNvPr id="60467" name="TextBox 197"/>
          <p:cNvSpPr txBox="1">
            <a:spLocks noChangeArrowheads="1"/>
          </p:cNvSpPr>
          <p:nvPr/>
        </p:nvSpPr>
        <p:spPr bwMode="auto">
          <a:xfrm>
            <a:off x="1031875" y="23622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</a:p>
        </p:txBody>
      </p:sp>
      <p:sp>
        <p:nvSpPr>
          <p:cNvPr id="60468" name="TextBox 198"/>
          <p:cNvSpPr txBox="1">
            <a:spLocks noChangeArrowheads="1"/>
          </p:cNvSpPr>
          <p:nvPr/>
        </p:nvSpPr>
        <p:spPr bwMode="auto">
          <a:xfrm>
            <a:off x="2057400" y="1371600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1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sp>
        <p:nvSpPr>
          <p:cNvPr id="60469" name="TextBox 199"/>
          <p:cNvSpPr txBox="1">
            <a:spLocks noChangeArrowheads="1"/>
          </p:cNvSpPr>
          <p:nvPr/>
        </p:nvSpPr>
        <p:spPr bwMode="auto">
          <a:xfrm>
            <a:off x="1654175" y="3276600"/>
            <a:ext cx="4032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2</a:t>
            </a:r>
          </a:p>
        </p:txBody>
      </p:sp>
      <p:sp>
        <p:nvSpPr>
          <p:cNvPr id="60470" name="TextBox 200"/>
          <p:cNvSpPr txBox="1">
            <a:spLocks noChangeArrowheads="1"/>
          </p:cNvSpPr>
          <p:nvPr/>
        </p:nvSpPr>
        <p:spPr bwMode="auto">
          <a:xfrm>
            <a:off x="2971800" y="2009775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2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sp>
        <p:nvSpPr>
          <p:cNvPr id="60471" name="TextBox 201"/>
          <p:cNvSpPr txBox="1">
            <a:spLocks noChangeArrowheads="1"/>
          </p:cNvSpPr>
          <p:nvPr/>
        </p:nvSpPr>
        <p:spPr bwMode="auto">
          <a:xfrm>
            <a:off x="2416175" y="41910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3</a:t>
            </a:r>
          </a:p>
        </p:txBody>
      </p:sp>
      <p:sp>
        <p:nvSpPr>
          <p:cNvPr id="60472" name="TextBox 202"/>
          <p:cNvSpPr txBox="1">
            <a:spLocks noChangeArrowheads="1"/>
          </p:cNvSpPr>
          <p:nvPr/>
        </p:nvSpPr>
        <p:spPr bwMode="auto">
          <a:xfrm>
            <a:off x="3886200" y="2819400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3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sp>
        <p:nvSpPr>
          <p:cNvPr id="60473" name="TextBox 203"/>
          <p:cNvSpPr txBox="1">
            <a:spLocks noChangeArrowheads="1"/>
          </p:cNvSpPr>
          <p:nvPr/>
        </p:nvSpPr>
        <p:spPr bwMode="auto">
          <a:xfrm>
            <a:off x="4343400" y="59436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5</a:t>
            </a:r>
          </a:p>
        </p:txBody>
      </p:sp>
      <p:sp>
        <p:nvSpPr>
          <p:cNvPr id="60474" name="TextBox 204"/>
          <p:cNvSpPr txBox="1">
            <a:spLocks noChangeArrowheads="1"/>
          </p:cNvSpPr>
          <p:nvPr/>
        </p:nvSpPr>
        <p:spPr bwMode="auto">
          <a:xfrm>
            <a:off x="3352800" y="5105400"/>
            <a:ext cx="361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4</a:t>
            </a:r>
            <a:endParaRPr lang="en-US" sz="1100" baseline="-25000">
              <a:latin typeface="Calibri" pitchFamily="34" charset="0"/>
            </a:endParaRPr>
          </a:p>
        </p:txBody>
      </p:sp>
      <p:sp>
        <p:nvSpPr>
          <p:cNvPr id="60475" name="TextBox 205"/>
          <p:cNvSpPr txBox="1">
            <a:spLocks noChangeArrowheads="1"/>
          </p:cNvSpPr>
          <p:nvPr/>
        </p:nvSpPr>
        <p:spPr bwMode="auto">
          <a:xfrm>
            <a:off x="4800600" y="3733800"/>
            <a:ext cx="425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Q</a:t>
            </a:r>
            <a:r>
              <a:rPr lang="en-US" sz="1200" baseline="-25000">
                <a:latin typeface="Calibri" pitchFamily="34" charset="0"/>
              </a:rPr>
              <a:t>4</a:t>
            </a:r>
            <a:r>
              <a:rPr lang="en-US" sz="1200" baseline="30000">
                <a:latin typeface="Calibri" pitchFamily="34" charset="0"/>
              </a:rPr>
              <a:t>T</a:t>
            </a:r>
          </a:p>
        </p:txBody>
      </p:sp>
      <p:cxnSp>
        <p:nvCxnSpPr>
          <p:cNvPr id="208" name="Straight Connector 207"/>
          <p:cNvCxnSpPr/>
          <p:nvPr/>
        </p:nvCxnSpPr>
        <p:spPr>
          <a:xfrm>
            <a:off x="4724400" y="5943600"/>
            <a:ext cx="11430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/>
          <p:nvPr/>
        </p:nvCxnSpPr>
        <p:spPr>
          <a:xfrm rot="5400000">
            <a:off x="5067300" y="5600700"/>
            <a:ext cx="11430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/>
          <p:nvPr/>
        </p:nvCxnSpPr>
        <p:spPr>
          <a:xfrm>
            <a:off x="1295400" y="1143000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79" name="TextBox 212"/>
          <p:cNvSpPr txBox="1">
            <a:spLocks noChangeArrowheads="1"/>
          </p:cNvSpPr>
          <p:nvPr/>
        </p:nvSpPr>
        <p:spPr bwMode="auto">
          <a:xfrm>
            <a:off x="1524000" y="9144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rot="5400000">
            <a:off x="229394" y="20566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81" name="TextBox 215"/>
          <p:cNvSpPr txBox="1">
            <a:spLocks noChangeArrowheads="1"/>
          </p:cNvSpPr>
          <p:nvPr/>
        </p:nvSpPr>
        <p:spPr bwMode="auto">
          <a:xfrm rot="-5400000">
            <a:off x="368300" y="1905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b+1</a:t>
            </a:r>
          </a:p>
        </p:txBody>
      </p:sp>
      <p:cxnSp>
        <p:nvCxnSpPr>
          <p:cNvPr id="218" name="Straight Arrow Connector 217"/>
          <p:cNvCxnSpPr/>
          <p:nvPr/>
        </p:nvCxnSpPr>
        <p:spPr>
          <a:xfrm>
            <a:off x="1981200" y="13716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83" name="TextBox 223"/>
          <p:cNvSpPr txBox="1">
            <a:spLocks noChangeArrowheads="1"/>
          </p:cNvSpPr>
          <p:nvPr/>
        </p:nvSpPr>
        <p:spPr bwMode="auto">
          <a:xfrm>
            <a:off x="1873250" y="1143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cxnSp>
        <p:nvCxnSpPr>
          <p:cNvPr id="226" name="Straight Arrow Connector 225"/>
          <p:cNvCxnSpPr/>
          <p:nvPr/>
        </p:nvCxnSpPr>
        <p:spPr>
          <a:xfrm rot="5400000" flipH="1" flipV="1">
            <a:off x="875507" y="240109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85" name="TextBox 226"/>
          <p:cNvSpPr txBox="1">
            <a:spLocks noChangeArrowheads="1"/>
          </p:cNvSpPr>
          <p:nvPr/>
        </p:nvSpPr>
        <p:spPr bwMode="auto">
          <a:xfrm rot="-5400000">
            <a:off x="6731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d+1</a:t>
            </a:r>
          </a:p>
        </p:txBody>
      </p:sp>
      <p:sp>
        <p:nvSpPr>
          <p:cNvPr id="60486" name="TextBox 227"/>
          <p:cNvSpPr txBox="1">
            <a:spLocks noChangeArrowheads="1"/>
          </p:cNvSpPr>
          <p:nvPr/>
        </p:nvSpPr>
        <p:spPr bwMode="auto">
          <a:xfrm>
            <a:off x="2514600" y="1524000"/>
            <a:ext cx="269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sp>
        <p:nvSpPr>
          <p:cNvPr id="60487" name="TextBox 228"/>
          <p:cNvSpPr txBox="1">
            <a:spLocks noChangeArrowheads="1"/>
          </p:cNvSpPr>
          <p:nvPr/>
        </p:nvSpPr>
        <p:spPr bwMode="auto">
          <a:xfrm>
            <a:off x="1227138" y="2667000"/>
            <a:ext cx="269875" cy="2762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c</a:t>
            </a:r>
          </a:p>
        </p:txBody>
      </p:sp>
      <p:cxnSp>
        <p:nvCxnSpPr>
          <p:cNvPr id="231" name="Straight Arrow Connector 230"/>
          <p:cNvCxnSpPr/>
          <p:nvPr/>
        </p:nvCxnSpPr>
        <p:spPr>
          <a:xfrm rot="5400000">
            <a:off x="2439194" y="1675606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/>
          <p:cNvCxnSpPr/>
          <p:nvPr/>
        </p:nvCxnSpPr>
        <p:spPr>
          <a:xfrm rot="10800000">
            <a:off x="1295400" y="2743200"/>
            <a:ext cx="152400" cy="1588"/>
          </a:xfrm>
          <a:prstGeom prst="straightConnector1">
            <a:avLst/>
          </a:prstGeom>
          <a:ln w="31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/>
          <p:cNvCxnSpPr/>
          <p:nvPr/>
        </p:nvCxnSpPr>
        <p:spPr>
          <a:xfrm>
            <a:off x="2895600" y="1965325"/>
            <a:ext cx="3810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91" name="TextBox 240"/>
          <p:cNvSpPr txBox="1">
            <a:spLocks noChangeArrowheads="1"/>
          </p:cNvSpPr>
          <p:nvPr/>
        </p:nvSpPr>
        <p:spPr bwMode="auto">
          <a:xfrm>
            <a:off x="2895600" y="1706563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cxnSp>
        <p:nvCxnSpPr>
          <p:cNvPr id="243" name="Straight Arrow Connector 242"/>
          <p:cNvCxnSpPr/>
          <p:nvPr/>
        </p:nvCxnSpPr>
        <p:spPr>
          <a:xfrm rot="5400000">
            <a:off x="3238501" y="2476500"/>
            <a:ext cx="381000" cy="317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93" name="TextBox 243"/>
          <p:cNvSpPr txBox="1">
            <a:spLocks noChangeArrowheads="1"/>
          </p:cNvSpPr>
          <p:nvPr/>
        </p:nvSpPr>
        <p:spPr bwMode="auto">
          <a:xfrm>
            <a:off x="3429000" y="22860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cxnSp>
        <p:nvCxnSpPr>
          <p:cNvPr id="245" name="Straight Arrow Connector 244"/>
          <p:cNvCxnSpPr/>
          <p:nvPr/>
        </p:nvCxnSpPr>
        <p:spPr>
          <a:xfrm rot="5400000">
            <a:off x="1486694" y="3390106"/>
            <a:ext cx="3810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/>
          <p:cNvCxnSpPr/>
          <p:nvPr/>
        </p:nvCxnSpPr>
        <p:spPr>
          <a:xfrm>
            <a:off x="1981200" y="3733800"/>
            <a:ext cx="379413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96" name="TextBox 247"/>
          <p:cNvSpPr txBox="1">
            <a:spLocks noChangeArrowheads="1"/>
          </p:cNvSpPr>
          <p:nvPr/>
        </p:nvSpPr>
        <p:spPr bwMode="auto">
          <a:xfrm>
            <a:off x="1295400" y="3276600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sp>
        <p:nvSpPr>
          <p:cNvPr id="60497" name="TextBox 248"/>
          <p:cNvSpPr txBox="1">
            <a:spLocks noChangeArrowheads="1"/>
          </p:cNvSpPr>
          <p:nvPr/>
        </p:nvSpPr>
        <p:spPr bwMode="auto">
          <a:xfrm>
            <a:off x="1981200" y="3686175"/>
            <a:ext cx="454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latin typeface="Calibri" pitchFamily="34" charset="0"/>
              </a:rPr>
              <a:t>d+c</a:t>
            </a:r>
          </a:p>
        </p:txBody>
      </p:sp>
      <p:sp>
        <p:nvSpPr>
          <p:cNvPr id="60498" name="TextBox 105"/>
          <p:cNvSpPr txBox="1">
            <a:spLocks noChangeArrowheads="1"/>
          </p:cNvSpPr>
          <p:nvPr/>
        </p:nvSpPr>
        <p:spPr bwMode="auto">
          <a:xfrm>
            <a:off x="811213" y="171450"/>
            <a:ext cx="751205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Calibri" pitchFamily="34" charset="0"/>
              </a:rPr>
              <a:t>Successive 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</a:rPr>
              <a:t>Band Reduction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" y="5181600"/>
            <a:ext cx="1956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 = bandwidth</a:t>
            </a:r>
          </a:p>
          <a:p>
            <a:r>
              <a:rPr lang="en-US" dirty="0" smtClean="0"/>
              <a:t>c = #columns</a:t>
            </a:r>
          </a:p>
          <a:p>
            <a:r>
              <a:rPr lang="en-US" dirty="0" smtClean="0"/>
              <a:t>d = #diagonals</a:t>
            </a:r>
          </a:p>
          <a:p>
            <a:r>
              <a:rPr lang="en-US" dirty="0" smtClean="0"/>
              <a:t>Constraint: </a:t>
            </a:r>
            <a:r>
              <a:rPr lang="en-US" dirty="0" err="1" smtClean="0"/>
              <a:t>c+d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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8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7"/>
          <p:cNvGrpSpPr>
            <a:grpSpLocks/>
          </p:cNvGrpSpPr>
          <p:nvPr/>
        </p:nvGrpSpPr>
        <p:grpSpPr bwMode="auto">
          <a:xfrm>
            <a:off x="457200" y="914400"/>
            <a:ext cx="5530850" cy="5341938"/>
            <a:chOff x="990600" y="914400"/>
            <a:chExt cx="5530850" cy="5341938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1828800" y="1600200"/>
              <a:ext cx="914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 flipH="1">
              <a:off x="2743200" y="1600200"/>
              <a:ext cx="3657600" cy="3657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5400000">
              <a:off x="5943600" y="5715000"/>
              <a:ext cx="914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5486400" y="6172200"/>
              <a:ext cx="914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1828800" y="2514600"/>
              <a:ext cx="3657600" cy="3657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5400000" flipH="1" flipV="1">
              <a:off x="1828800" y="2514600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828800" y="2514600"/>
              <a:ext cx="91440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1371600" y="2057400"/>
              <a:ext cx="914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16200000" flipH="1">
              <a:off x="1828800" y="22860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5400000">
              <a:off x="1866900" y="25527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1981200" y="2667000"/>
              <a:ext cx="18288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2514600" y="16002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2667000" y="17526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1981200" y="2667000"/>
              <a:ext cx="18288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2514600" y="3200400"/>
              <a:ext cx="18288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2895600" y="3581400"/>
              <a:ext cx="18288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2514600" y="3200400"/>
              <a:ext cx="18288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2895600" y="3581400"/>
              <a:ext cx="18288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3429000" y="4114800"/>
              <a:ext cx="18288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3810000" y="4495800"/>
              <a:ext cx="18288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3810000" y="4495800"/>
              <a:ext cx="18288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5400000">
              <a:off x="3429000" y="4114800"/>
              <a:ext cx="18288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4343400" y="5029200"/>
              <a:ext cx="18288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 rot="5400000">
              <a:off x="4343400" y="5029200"/>
              <a:ext cx="18288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4724400" y="5410200"/>
              <a:ext cx="16764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5400000">
              <a:off x="4800600" y="5334000"/>
              <a:ext cx="16764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6172200" y="5029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5257800" y="61722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rot="5400000">
              <a:off x="6286500" y="51435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5400000">
              <a:off x="5143500" y="60579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1828800" y="2286000"/>
              <a:ext cx="16002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rot="5400000">
              <a:off x="1714500" y="2400300"/>
              <a:ext cx="16002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135"/>
            <p:cNvGrpSpPr>
              <a:grpSpLocks/>
            </p:cNvGrpSpPr>
            <p:nvPr/>
          </p:nvGrpSpPr>
          <p:grpSpPr bwMode="auto">
            <a:xfrm>
              <a:off x="3429000" y="2286000"/>
              <a:ext cx="381000" cy="381000"/>
              <a:chOff x="3733800" y="1981200"/>
              <a:chExt cx="381000" cy="381000"/>
            </a:xfrm>
          </p:grpSpPr>
          <p:cxnSp>
            <p:nvCxnSpPr>
              <p:cNvPr id="129" name="Straight Connector 128"/>
              <p:cNvCxnSpPr/>
              <p:nvPr/>
            </p:nvCxnSpPr>
            <p:spPr>
              <a:xfrm>
                <a:off x="3733800" y="1981200"/>
                <a:ext cx="2286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rot="5400000" flipH="1" flipV="1">
                <a:off x="4000500" y="2247900"/>
                <a:ext cx="228600" cy="0"/>
              </a:xfrm>
              <a:prstGeom prst="line">
                <a:avLst/>
              </a:prstGeom>
              <a:ln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rot="16200000" flipH="1">
                <a:off x="3962400" y="1981200"/>
                <a:ext cx="152400" cy="1524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140"/>
            <p:cNvGrpSpPr>
              <a:grpSpLocks/>
            </p:cNvGrpSpPr>
            <p:nvPr/>
          </p:nvGrpSpPr>
          <p:grpSpPr bwMode="auto">
            <a:xfrm rot="10800000">
              <a:off x="2514600" y="3200400"/>
              <a:ext cx="381000" cy="381000"/>
              <a:chOff x="3733800" y="1981200"/>
              <a:chExt cx="381000" cy="381000"/>
            </a:xfrm>
          </p:grpSpPr>
          <p:cxnSp>
            <p:nvCxnSpPr>
              <p:cNvPr id="142" name="Straight Connector 141"/>
              <p:cNvCxnSpPr/>
              <p:nvPr/>
            </p:nvCxnSpPr>
            <p:spPr>
              <a:xfrm>
                <a:off x="3740150" y="1981200"/>
                <a:ext cx="2286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/>
              <p:cNvCxnSpPr/>
              <p:nvPr/>
            </p:nvCxnSpPr>
            <p:spPr>
              <a:xfrm rot="5400000" flipH="1" flipV="1">
                <a:off x="4006850" y="2247900"/>
                <a:ext cx="228600" cy="0"/>
              </a:xfrm>
              <a:prstGeom prst="line">
                <a:avLst/>
              </a:prstGeom>
              <a:ln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/>
              <p:nvPr/>
            </p:nvCxnSpPr>
            <p:spPr>
              <a:xfrm rot="16200000" flipH="1">
                <a:off x="3968750" y="1981200"/>
                <a:ext cx="152400" cy="1524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154"/>
            <p:cNvGrpSpPr>
              <a:grpSpLocks/>
            </p:cNvGrpSpPr>
            <p:nvPr/>
          </p:nvGrpSpPr>
          <p:grpSpPr bwMode="auto">
            <a:xfrm>
              <a:off x="4343400" y="3200400"/>
              <a:ext cx="381000" cy="381000"/>
              <a:chOff x="3733800" y="1981200"/>
              <a:chExt cx="381000" cy="381000"/>
            </a:xfrm>
          </p:grpSpPr>
          <p:cxnSp>
            <p:nvCxnSpPr>
              <p:cNvPr id="156" name="Straight Connector 155"/>
              <p:cNvCxnSpPr/>
              <p:nvPr/>
            </p:nvCxnSpPr>
            <p:spPr>
              <a:xfrm>
                <a:off x="3733800" y="1981200"/>
                <a:ext cx="2286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 rot="5400000" flipH="1" flipV="1">
                <a:off x="4000500" y="2247900"/>
                <a:ext cx="228600" cy="0"/>
              </a:xfrm>
              <a:prstGeom prst="line">
                <a:avLst/>
              </a:prstGeom>
              <a:ln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rot="16200000" flipH="1">
                <a:off x="3962400" y="1981200"/>
                <a:ext cx="152400" cy="1524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158"/>
            <p:cNvGrpSpPr>
              <a:grpSpLocks/>
            </p:cNvGrpSpPr>
            <p:nvPr/>
          </p:nvGrpSpPr>
          <p:grpSpPr bwMode="auto">
            <a:xfrm rot="10800000">
              <a:off x="3429000" y="4114800"/>
              <a:ext cx="381000" cy="381000"/>
              <a:chOff x="3733800" y="1981200"/>
              <a:chExt cx="381000" cy="381000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>
                <a:off x="3740150" y="1981200"/>
                <a:ext cx="2286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/>
              <p:cNvCxnSpPr/>
              <p:nvPr/>
            </p:nvCxnSpPr>
            <p:spPr>
              <a:xfrm rot="5400000" flipH="1" flipV="1">
                <a:off x="4006850" y="2247900"/>
                <a:ext cx="228600" cy="0"/>
              </a:xfrm>
              <a:prstGeom prst="line">
                <a:avLst/>
              </a:prstGeom>
              <a:ln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/>
              <p:cNvCxnSpPr/>
              <p:nvPr/>
            </p:nvCxnSpPr>
            <p:spPr>
              <a:xfrm rot="16200000" flipH="1">
                <a:off x="3968750" y="1981200"/>
                <a:ext cx="152400" cy="1524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162"/>
            <p:cNvGrpSpPr>
              <a:grpSpLocks/>
            </p:cNvGrpSpPr>
            <p:nvPr/>
          </p:nvGrpSpPr>
          <p:grpSpPr bwMode="auto">
            <a:xfrm rot="10800000">
              <a:off x="4343400" y="5029200"/>
              <a:ext cx="381000" cy="381000"/>
              <a:chOff x="3733800" y="1981200"/>
              <a:chExt cx="381000" cy="381000"/>
            </a:xfrm>
          </p:grpSpPr>
          <p:cxnSp>
            <p:nvCxnSpPr>
              <p:cNvPr id="164" name="Straight Connector 163"/>
              <p:cNvCxnSpPr/>
              <p:nvPr/>
            </p:nvCxnSpPr>
            <p:spPr>
              <a:xfrm>
                <a:off x="3740150" y="1981200"/>
                <a:ext cx="2286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/>
              <p:cNvCxnSpPr/>
              <p:nvPr/>
            </p:nvCxnSpPr>
            <p:spPr>
              <a:xfrm rot="5400000" flipH="1" flipV="1">
                <a:off x="4006850" y="2247900"/>
                <a:ext cx="228600" cy="0"/>
              </a:xfrm>
              <a:prstGeom prst="line">
                <a:avLst/>
              </a:prstGeom>
              <a:ln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 rot="16200000" flipH="1">
                <a:off x="3968750" y="1981200"/>
                <a:ext cx="152400" cy="1524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166"/>
            <p:cNvGrpSpPr>
              <a:grpSpLocks/>
            </p:cNvGrpSpPr>
            <p:nvPr/>
          </p:nvGrpSpPr>
          <p:grpSpPr bwMode="auto">
            <a:xfrm>
              <a:off x="5257800" y="4114800"/>
              <a:ext cx="381000" cy="381000"/>
              <a:chOff x="3733800" y="1981200"/>
              <a:chExt cx="381000" cy="381000"/>
            </a:xfrm>
          </p:grpSpPr>
          <p:cxnSp>
            <p:nvCxnSpPr>
              <p:cNvPr id="168" name="Straight Connector 167"/>
              <p:cNvCxnSpPr/>
              <p:nvPr/>
            </p:nvCxnSpPr>
            <p:spPr>
              <a:xfrm>
                <a:off x="3733800" y="1981200"/>
                <a:ext cx="2286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 rot="5400000" flipH="1" flipV="1">
                <a:off x="4000500" y="2247900"/>
                <a:ext cx="228600" cy="0"/>
              </a:xfrm>
              <a:prstGeom prst="line">
                <a:avLst/>
              </a:prstGeom>
              <a:ln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/>
              <p:nvPr/>
            </p:nvCxnSpPr>
            <p:spPr>
              <a:xfrm rot="16200000" flipH="1">
                <a:off x="3962400" y="1981200"/>
                <a:ext cx="152400" cy="1524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8" name="Straight Connector 177"/>
            <p:cNvCxnSpPr/>
            <p:nvPr/>
          </p:nvCxnSpPr>
          <p:spPr>
            <a:xfrm rot="16200000" flipH="1">
              <a:off x="2667000" y="17526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>
              <a:off x="2819400" y="1905000"/>
              <a:ext cx="228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rot="16200000" flipH="1">
              <a:off x="1981200" y="2438400"/>
              <a:ext cx="152400" cy="152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rot="5400000">
              <a:off x="2019300" y="2705100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487" name="TextBox 181"/>
            <p:cNvSpPr txBox="1">
              <a:spLocks noChangeArrowheads="1"/>
            </p:cNvSpPr>
            <p:nvPr/>
          </p:nvSpPr>
          <p:spPr bwMode="auto">
            <a:xfrm>
              <a:off x="2667000" y="1536700"/>
              <a:ext cx="76200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900">
                  <a:latin typeface="Calibri" pitchFamily="34" charset="0"/>
                </a:rPr>
                <a:t>1</a:t>
              </a:r>
            </a:p>
          </p:txBody>
        </p:sp>
        <p:sp>
          <p:nvSpPr>
            <p:cNvPr id="61488" name="TextBox 183"/>
            <p:cNvSpPr txBox="1">
              <a:spLocks noChangeArrowheads="1"/>
            </p:cNvSpPr>
            <p:nvPr/>
          </p:nvSpPr>
          <p:spPr bwMode="auto">
            <a:xfrm>
              <a:off x="1828800" y="2362200"/>
              <a:ext cx="76200" cy="230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900">
                  <a:latin typeface="Calibri" pitchFamily="34" charset="0"/>
                </a:rPr>
                <a:t>1</a:t>
              </a:r>
            </a:p>
          </p:txBody>
        </p:sp>
        <p:sp>
          <p:nvSpPr>
            <p:cNvPr id="61489" name="TextBox 184"/>
            <p:cNvSpPr txBox="1">
              <a:spLocks noChangeArrowheads="1"/>
            </p:cNvSpPr>
            <p:nvPr/>
          </p:nvSpPr>
          <p:spPr bwMode="auto">
            <a:xfrm rot="10800000" flipV="1">
              <a:off x="2514600" y="3268663"/>
              <a:ext cx="152400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900">
                  <a:latin typeface="Calibri" pitchFamily="34" charset="0"/>
                </a:rPr>
                <a:t>2</a:t>
              </a:r>
            </a:p>
          </p:txBody>
        </p:sp>
        <p:sp>
          <p:nvSpPr>
            <p:cNvPr id="61490" name="TextBox 185"/>
            <p:cNvSpPr txBox="1">
              <a:spLocks noChangeArrowheads="1"/>
            </p:cNvSpPr>
            <p:nvPr/>
          </p:nvSpPr>
          <p:spPr bwMode="auto">
            <a:xfrm rot="10800000" flipV="1">
              <a:off x="3581400" y="2278063"/>
              <a:ext cx="152400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900">
                  <a:latin typeface="Calibri" pitchFamily="34" charset="0"/>
                </a:rPr>
                <a:t>2</a:t>
              </a:r>
            </a:p>
          </p:txBody>
        </p:sp>
        <p:sp>
          <p:nvSpPr>
            <p:cNvPr id="61491" name="TextBox 186"/>
            <p:cNvSpPr txBox="1">
              <a:spLocks noChangeArrowheads="1"/>
            </p:cNvSpPr>
            <p:nvPr/>
          </p:nvSpPr>
          <p:spPr bwMode="auto">
            <a:xfrm rot="10800000" flipV="1">
              <a:off x="4495800" y="3192463"/>
              <a:ext cx="152400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900">
                  <a:latin typeface="Calibri" pitchFamily="34" charset="0"/>
                </a:rPr>
                <a:t>3</a:t>
              </a:r>
            </a:p>
          </p:txBody>
        </p:sp>
        <p:sp>
          <p:nvSpPr>
            <p:cNvPr id="61492" name="TextBox 188"/>
            <p:cNvSpPr txBox="1">
              <a:spLocks noChangeArrowheads="1"/>
            </p:cNvSpPr>
            <p:nvPr/>
          </p:nvSpPr>
          <p:spPr bwMode="auto">
            <a:xfrm rot="10800000" flipV="1">
              <a:off x="3505200" y="4259263"/>
              <a:ext cx="152400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900">
                  <a:latin typeface="Calibri" pitchFamily="34" charset="0"/>
                </a:rPr>
                <a:t>3</a:t>
              </a:r>
            </a:p>
          </p:txBody>
        </p:sp>
        <p:sp>
          <p:nvSpPr>
            <p:cNvPr id="61493" name="TextBox 189"/>
            <p:cNvSpPr txBox="1">
              <a:spLocks noChangeArrowheads="1"/>
            </p:cNvSpPr>
            <p:nvPr/>
          </p:nvSpPr>
          <p:spPr bwMode="auto">
            <a:xfrm rot="10800000" flipV="1">
              <a:off x="4343400" y="5097463"/>
              <a:ext cx="152400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900">
                  <a:latin typeface="Calibri" pitchFamily="34" charset="0"/>
                </a:rPr>
                <a:t>4</a:t>
              </a:r>
            </a:p>
          </p:txBody>
        </p:sp>
        <p:sp>
          <p:nvSpPr>
            <p:cNvPr id="61494" name="TextBox 190"/>
            <p:cNvSpPr txBox="1">
              <a:spLocks noChangeArrowheads="1"/>
            </p:cNvSpPr>
            <p:nvPr/>
          </p:nvSpPr>
          <p:spPr bwMode="auto">
            <a:xfrm rot="10800000" flipV="1">
              <a:off x="5410200" y="4106863"/>
              <a:ext cx="152400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900">
                  <a:latin typeface="Calibri" pitchFamily="34" charset="0"/>
                </a:rPr>
                <a:t>4</a:t>
              </a:r>
            </a:p>
          </p:txBody>
        </p:sp>
        <p:sp>
          <p:nvSpPr>
            <p:cNvPr id="61495" name="TextBox 191"/>
            <p:cNvSpPr txBox="1">
              <a:spLocks noChangeArrowheads="1"/>
            </p:cNvSpPr>
            <p:nvPr/>
          </p:nvSpPr>
          <p:spPr bwMode="auto">
            <a:xfrm rot="10800000" flipV="1">
              <a:off x="5181600" y="6024563"/>
              <a:ext cx="152400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900">
                  <a:latin typeface="Calibri" pitchFamily="34" charset="0"/>
                </a:rPr>
                <a:t>5</a:t>
              </a:r>
            </a:p>
          </p:txBody>
        </p:sp>
        <p:sp>
          <p:nvSpPr>
            <p:cNvPr id="61496" name="TextBox 192"/>
            <p:cNvSpPr txBox="1">
              <a:spLocks noChangeArrowheads="1"/>
            </p:cNvSpPr>
            <p:nvPr/>
          </p:nvSpPr>
          <p:spPr bwMode="auto">
            <a:xfrm rot="10800000" flipV="1">
              <a:off x="6248400" y="4945063"/>
              <a:ext cx="152400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900">
                  <a:latin typeface="Calibri" pitchFamily="34" charset="0"/>
                </a:rPr>
                <a:t>5</a:t>
              </a:r>
            </a:p>
          </p:txBody>
        </p:sp>
        <p:sp>
          <p:nvSpPr>
            <p:cNvPr id="61497" name="TextBox 193"/>
            <p:cNvSpPr txBox="1">
              <a:spLocks noChangeArrowheads="1"/>
            </p:cNvSpPr>
            <p:nvPr/>
          </p:nvSpPr>
          <p:spPr bwMode="auto">
            <a:xfrm>
              <a:off x="1981200" y="2514600"/>
              <a:ext cx="76200" cy="230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900">
                  <a:latin typeface="Calibri" pitchFamily="34" charset="0"/>
                </a:rPr>
                <a:t>6</a:t>
              </a:r>
            </a:p>
          </p:txBody>
        </p:sp>
        <p:sp>
          <p:nvSpPr>
            <p:cNvPr id="61498" name="TextBox 194"/>
            <p:cNvSpPr txBox="1">
              <a:spLocks noChangeArrowheads="1"/>
            </p:cNvSpPr>
            <p:nvPr/>
          </p:nvSpPr>
          <p:spPr bwMode="auto">
            <a:xfrm>
              <a:off x="2819400" y="1689100"/>
              <a:ext cx="76200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900">
                  <a:latin typeface="Calibri" pitchFamily="34" charset="0"/>
                </a:rPr>
                <a:t>6</a:t>
              </a:r>
            </a:p>
          </p:txBody>
        </p:sp>
        <p:sp>
          <p:nvSpPr>
            <p:cNvPr id="61499" name="TextBox 196"/>
            <p:cNvSpPr txBox="1">
              <a:spLocks noChangeArrowheads="1"/>
            </p:cNvSpPr>
            <p:nvPr/>
          </p:nvSpPr>
          <p:spPr bwMode="auto">
            <a:xfrm>
              <a:off x="6096000" y="4648200"/>
              <a:ext cx="42545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Q</a:t>
              </a:r>
              <a:r>
                <a:rPr lang="en-US" sz="1200" baseline="-25000">
                  <a:latin typeface="Calibri" pitchFamily="34" charset="0"/>
                </a:rPr>
                <a:t>5</a:t>
              </a:r>
              <a:r>
                <a:rPr lang="en-US" sz="1200" baseline="30000">
                  <a:latin typeface="Calibri" pitchFamily="34" charset="0"/>
                </a:rPr>
                <a:t>T</a:t>
              </a:r>
            </a:p>
          </p:txBody>
        </p:sp>
        <p:sp>
          <p:nvSpPr>
            <p:cNvPr id="61500" name="TextBox 197"/>
            <p:cNvSpPr txBox="1">
              <a:spLocks noChangeArrowheads="1"/>
            </p:cNvSpPr>
            <p:nvPr/>
          </p:nvSpPr>
          <p:spPr bwMode="auto">
            <a:xfrm>
              <a:off x="1565275" y="2362200"/>
              <a:ext cx="36195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Q</a:t>
              </a:r>
              <a:r>
                <a:rPr lang="en-US" sz="1200" baseline="-25000">
                  <a:latin typeface="Calibri" pitchFamily="34" charset="0"/>
                </a:rPr>
                <a:t>1</a:t>
              </a:r>
            </a:p>
          </p:txBody>
        </p:sp>
        <p:sp>
          <p:nvSpPr>
            <p:cNvPr id="61501" name="TextBox 198"/>
            <p:cNvSpPr txBox="1">
              <a:spLocks noChangeArrowheads="1"/>
            </p:cNvSpPr>
            <p:nvPr/>
          </p:nvSpPr>
          <p:spPr bwMode="auto">
            <a:xfrm>
              <a:off x="2590800" y="1371600"/>
              <a:ext cx="42545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Q</a:t>
              </a:r>
              <a:r>
                <a:rPr lang="en-US" sz="1200" baseline="-25000">
                  <a:latin typeface="Calibri" pitchFamily="34" charset="0"/>
                </a:rPr>
                <a:t>1</a:t>
              </a:r>
              <a:r>
                <a:rPr lang="en-US" sz="1200" baseline="30000">
                  <a:latin typeface="Calibri" pitchFamily="34" charset="0"/>
                </a:rPr>
                <a:t>T</a:t>
              </a:r>
            </a:p>
          </p:txBody>
        </p:sp>
        <p:sp>
          <p:nvSpPr>
            <p:cNvPr id="61502" name="TextBox 199"/>
            <p:cNvSpPr txBox="1">
              <a:spLocks noChangeArrowheads="1"/>
            </p:cNvSpPr>
            <p:nvPr/>
          </p:nvSpPr>
          <p:spPr bwMode="auto">
            <a:xfrm>
              <a:off x="2187575" y="3276600"/>
              <a:ext cx="40322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Q</a:t>
              </a:r>
              <a:r>
                <a:rPr lang="en-US" sz="1200" baseline="-25000">
                  <a:latin typeface="Calibri" pitchFamily="34" charset="0"/>
                </a:rPr>
                <a:t>2</a:t>
              </a:r>
            </a:p>
          </p:txBody>
        </p:sp>
        <p:sp>
          <p:nvSpPr>
            <p:cNvPr id="61503" name="TextBox 200"/>
            <p:cNvSpPr txBox="1">
              <a:spLocks noChangeArrowheads="1"/>
            </p:cNvSpPr>
            <p:nvPr/>
          </p:nvSpPr>
          <p:spPr bwMode="auto">
            <a:xfrm>
              <a:off x="3505200" y="2009775"/>
              <a:ext cx="42545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Q</a:t>
              </a:r>
              <a:r>
                <a:rPr lang="en-US" sz="1200" baseline="-25000">
                  <a:latin typeface="Calibri" pitchFamily="34" charset="0"/>
                </a:rPr>
                <a:t>2</a:t>
              </a:r>
              <a:r>
                <a:rPr lang="en-US" sz="1200" baseline="30000">
                  <a:latin typeface="Calibri" pitchFamily="34" charset="0"/>
                </a:rPr>
                <a:t>T</a:t>
              </a:r>
            </a:p>
          </p:txBody>
        </p:sp>
        <p:sp>
          <p:nvSpPr>
            <p:cNvPr id="61504" name="TextBox 201"/>
            <p:cNvSpPr txBox="1">
              <a:spLocks noChangeArrowheads="1"/>
            </p:cNvSpPr>
            <p:nvPr/>
          </p:nvSpPr>
          <p:spPr bwMode="auto">
            <a:xfrm>
              <a:off x="2949575" y="4191000"/>
              <a:ext cx="36195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Q</a:t>
              </a:r>
              <a:r>
                <a:rPr lang="en-US" sz="1200" baseline="-25000">
                  <a:latin typeface="Calibri" pitchFamily="34" charset="0"/>
                </a:rPr>
                <a:t>3</a:t>
              </a:r>
            </a:p>
          </p:txBody>
        </p:sp>
        <p:sp>
          <p:nvSpPr>
            <p:cNvPr id="61505" name="TextBox 202"/>
            <p:cNvSpPr txBox="1">
              <a:spLocks noChangeArrowheads="1"/>
            </p:cNvSpPr>
            <p:nvPr/>
          </p:nvSpPr>
          <p:spPr bwMode="auto">
            <a:xfrm>
              <a:off x="4419600" y="2819400"/>
              <a:ext cx="42545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Q</a:t>
              </a:r>
              <a:r>
                <a:rPr lang="en-US" sz="1200" baseline="-25000">
                  <a:latin typeface="Calibri" pitchFamily="34" charset="0"/>
                </a:rPr>
                <a:t>3</a:t>
              </a:r>
              <a:r>
                <a:rPr lang="en-US" sz="1200" baseline="30000">
                  <a:latin typeface="Calibri" pitchFamily="34" charset="0"/>
                </a:rPr>
                <a:t>T</a:t>
              </a:r>
            </a:p>
          </p:txBody>
        </p:sp>
        <p:sp>
          <p:nvSpPr>
            <p:cNvPr id="61506" name="TextBox 203"/>
            <p:cNvSpPr txBox="1">
              <a:spLocks noChangeArrowheads="1"/>
            </p:cNvSpPr>
            <p:nvPr/>
          </p:nvSpPr>
          <p:spPr bwMode="auto">
            <a:xfrm>
              <a:off x="4876800" y="5943600"/>
              <a:ext cx="36195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Q</a:t>
              </a:r>
              <a:r>
                <a:rPr lang="en-US" sz="1200" baseline="-25000">
                  <a:latin typeface="Calibri" pitchFamily="34" charset="0"/>
                </a:rPr>
                <a:t>5</a:t>
              </a:r>
            </a:p>
          </p:txBody>
        </p:sp>
        <p:sp>
          <p:nvSpPr>
            <p:cNvPr id="61507" name="TextBox 204"/>
            <p:cNvSpPr txBox="1">
              <a:spLocks noChangeArrowheads="1"/>
            </p:cNvSpPr>
            <p:nvPr/>
          </p:nvSpPr>
          <p:spPr bwMode="auto">
            <a:xfrm>
              <a:off x="3886200" y="5105400"/>
              <a:ext cx="36195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Q</a:t>
              </a:r>
              <a:r>
                <a:rPr lang="en-US" sz="1200" baseline="-25000">
                  <a:latin typeface="Calibri" pitchFamily="34" charset="0"/>
                </a:rPr>
                <a:t>4</a:t>
              </a:r>
              <a:endParaRPr lang="en-US" sz="1100" baseline="-25000">
                <a:latin typeface="Calibri" pitchFamily="34" charset="0"/>
              </a:endParaRPr>
            </a:p>
          </p:txBody>
        </p:sp>
        <p:sp>
          <p:nvSpPr>
            <p:cNvPr id="61508" name="TextBox 205"/>
            <p:cNvSpPr txBox="1">
              <a:spLocks noChangeArrowheads="1"/>
            </p:cNvSpPr>
            <p:nvPr/>
          </p:nvSpPr>
          <p:spPr bwMode="auto">
            <a:xfrm>
              <a:off x="5334000" y="3733800"/>
              <a:ext cx="42545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Q</a:t>
              </a:r>
              <a:r>
                <a:rPr lang="en-US" sz="1200" baseline="-25000">
                  <a:latin typeface="Calibri" pitchFamily="34" charset="0"/>
                </a:rPr>
                <a:t>4</a:t>
              </a:r>
              <a:r>
                <a:rPr lang="en-US" sz="1200" baseline="30000">
                  <a:latin typeface="Calibri" pitchFamily="34" charset="0"/>
                </a:rPr>
                <a:t>T</a:t>
              </a:r>
            </a:p>
          </p:txBody>
        </p:sp>
        <p:cxnSp>
          <p:nvCxnSpPr>
            <p:cNvPr id="208" name="Straight Connector 207"/>
            <p:cNvCxnSpPr/>
            <p:nvPr/>
          </p:nvCxnSpPr>
          <p:spPr>
            <a:xfrm>
              <a:off x="5257800" y="5943600"/>
              <a:ext cx="11430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rot="5400000">
              <a:off x="5600700" y="5600700"/>
              <a:ext cx="1143000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/>
            <p:cNvCxnSpPr/>
            <p:nvPr/>
          </p:nvCxnSpPr>
          <p:spPr>
            <a:xfrm>
              <a:off x="1828800" y="1143000"/>
              <a:ext cx="914400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12" name="TextBox 212"/>
            <p:cNvSpPr txBox="1">
              <a:spLocks noChangeArrowheads="1"/>
            </p:cNvSpPr>
            <p:nvPr/>
          </p:nvSpPr>
          <p:spPr bwMode="auto">
            <a:xfrm>
              <a:off x="2057400" y="914400"/>
              <a:ext cx="45402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b+1</a:t>
              </a:r>
            </a:p>
          </p:txBody>
        </p:sp>
        <p:cxnSp>
          <p:nvCxnSpPr>
            <p:cNvPr id="215" name="Straight Arrow Connector 214"/>
            <p:cNvCxnSpPr/>
            <p:nvPr/>
          </p:nvCxnSpPr>
          <p:spPr>
            <a:xfrm rot="5400000">
              <a:off x="762794" y="2056606"/>
              <a:ext cx="914400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14" name="TextBox 215"/>
            <p:cNvSpPr txBox="1">
              <a:spLocks noChangeArrowheads="1"/>
            </p:cNvSpPr>
            <p:nvPr/>
          </p:nvSpPr>
          <p:spPr bwMode="auto">
            <a:xfrm rot="-5400000">
              <a:off x="901700" y="1905000"/>
              <a:ext cx="45402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b+1</a:t>
              </a:r>
            </a:p>
          </p:txBody>
        </p:sp>
        <p:cxnSp>
          <p:nvCxnSpPr>
            <p:cNvPr id="218" name="Straight Arrow Connector 217"/>
            <p:cNvCxnSpPr/>
            <p:nvPr/>
          </p:nvCxnSpPr>
          <p:spPr>
            <a:xfrm>
              <a:off x="2514600" y="1371600"/>
              <a:ext cx="228600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16" name="TextBox 223"/>
            <p:cNvSpPr txBox="1">
              <a:spLocks noChangeArrowheads="1"/>
            </p:cNvSpPr>
            <p:nvPr/>
          </p:nvSpPr>
          <p:spPr bwMode="auto">
            <a:xfrm>
              <a:off x="2406650" y="1143000"/>
              <a:ext cx="45402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d+1</a:t>
              </a:r>
            </a:p>
          </p:txBody>
        </p:sp>
        <p:cxnSp>
          <p:nvCxnSpPr>
            <p:cNvPr id="226" name="Straight Arrow Connector 225"/>
            <p:cNvCxnSpPr/>
            <p:nvPr/>
          </p:nvCxnSpPr>
          <p:spPr>
            <a:xfrm rot="5400000" flipH="1" flipV="1">
              <a:off x="1408907" y="2401094"/>
              <a:ext cx="228600" cy="158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18" name="TextBox 226"/>
            <p:cNvSpPr txBox="1">
              <a:spLocks noChangeArrowheads="1"/>
            </p:cNvSpPr>
            <p:nvPr/>
          </p:nvSpPr>
          <p:spPr bwMode="auto">
            <a:xfrm rot="-5400000">
              <a:off x="1206500" y="2286000"/>
              <a:ext cx="45402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d+1</a:t>
              </a:r>
            </a:p>
          </p:txBody>
        </p:sp>
        <p:sp>
          <p:nvSpPr>
            <p:cNvPr id="61519" name="TextBox 227"/>
            <p:cNvSpPr txBox="1">
              <a:spLocks noChangeArrowheads="1"/>
            </p:cNvSpPr>
            <p:nvPr/>
          </p:nvSpPr>
          <p:spPr bwMode="auto">
            <a:xfrm>
              <a:off x="3048000" y="1524000"/>
              <a:ext cx="26987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c</a:t>
              </a:r>
            </a:p>
          </p:txBody>
        </p:sp>
        <p:sp>
          <p:nvSpPr>
            <p:cNvPr id="61520" name="TextBox 228"/>
            <p:cNvSpPr txBox="1">
              <a:spLocks noChangeArrowheads="1"/>
            </p:cNvSpPr>
            <p:nvPr/>
          </p:nvSpPr>
          <p:spPr bwMode="auto">
            <a:xfrm>
              <a:off x="1760538" y="2667000"/>
              <a:ext cx="269875" cy="2762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c</a:t>
              </a:r>
            </a:p>
          </p:txBody>
        </p:sp>
        <p:cxnSp>
          <p:nvCxnSpPr>
            <p:cNvPr id="231" name="Straight Arrow Connector 230"/>
            <p:cNvCxnSpPr/>
            <p:nvPr/>
          </p:nvCxnSpPr>
          <p:spPr>
            <a:xfrm rot="5400000">
              <a:off x="2972594" y="1675606"/>
              <a:ext cx="152400" cy="1588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/>
            <p:cNvCxnSpPr/>
            <p:nvPr/>
          </p:nvCxnSpPr>
          <p:spPr>
            <a:xfrm rot="10800000">
              <a:off x="1828800" y="2743200"/>
              <a:ext cx="152400" cy="1588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Arrow Connector 239"/>
            <p:cNvCxnSpPr/>
            <p:nvPr/>
          </p:nvCxnSpPr>
          <p:spPr>
            <a:xfrm>
              <a:off x="3429000" y="1965325"/>
              <a:ext cx="381000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24" name="TextBox 240"/>
            <p:cNvSpPr txBox="1">
              <a:spLocks noChangeArrowheads="1"/>
            </p:cNvSpPr>
            <p:nvPr/>
          </p:nvSpPr>
          <p:spPr bwMode="auto">
            <a:xfrm>
              <a:off x="3429000" y="1706563"/>
              <a:ext cx="45402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d+c</a:t>
              </a:r>
            </a:p>
          </p:txBody>
        </p:sp>
        <p:cxnSp>
          <p:nvCxnSpPr>
            <p:cNvPr id="243" name="Straight Arrow Connector 242"/>
            <p:cNvCxnSpPr/>
            <p:nvPr/>
          </p:nvCxnSpPr>
          <p:spPr>
            <a:xfrm rot="5400000">
              <a:off x="3771901" y="2476500"/>
              <a:ext cx="381000" cy="317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26" name="TextBox 243"/>
            <p:cNvSpPr txBox="1">
              <a:spLocks noChangeArrowheads="1"/>
            </p:cNvSpPr>
            <p:nvPr/>
          </p:nvSpPr>
          <p:spPr bwMode="auto">
            <a:xfrm>
              <a:off x="3962400" y="2286000"/>
              <a:ext cx="45402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d+c</a:t>
              </a:r>
            </a:p>
          </p:txBody>
        </p:sp>
        <p:cxnSp>
          <p:nvCxnSpPr>
            <p:cNvPr id="245" name="Straight Arrow Connector 244"/>
            <p:cNvCxnSpPr/>
            <p:nvPr/>
          </p:nvCxnSpPr>
          <p:spPr>
            <a:xfrm rot="5400000">
              <a:off x="2020094" y="3390106"/>
              <a:ext cx="381000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/>
            <p:cNvCxnSpPr/>
            <p:nvPr/>
          </p:nvCxnSpPr>
          <p:spPr>
            <a:xfrm>
              <a:off x="2514600" y="3733800"/>
              <a:ext cx="379413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29" name="TextBox 247"/>
            <p:cNvSpPr txBox="1">
              <a:spLocks noChangeArrowheads="1"/>
            </p:cNvSpPr>
            <p:nvPr/>
          </p:nvSpPr>
          <p:spPr bwMode="auto">
            <a:xfrm>
              <a:off x="1828800" y="3276600"/>
              <a:ext cx="45402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d+c</a:t>
              </a:r>
            </a:p>
          </p:txBody>
        </p:sp>
        <p:sp>
          <p:nvSpPr>
            <p:cNvPr id="61530" name="TextBox 248"/>
            <p:cNvSpPr txBox="1">
              <a:spLocks noChangeArrowheads="1"/>
            </p:cNvSpPr>
            <p:nvPr/>
          </p:nvSpPr>
          <p:spPr bwMode="auto">
            <a:xfrm>
              <a:off x="2514600" y="3686175"/>
              <a:ext cx="45402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34" charset="0"/>
                </a:rPr>
                <a:t>d+c</a:t>
              </a:r>
            </a:p>
          </p:txBody>
        </p:sp>
      </p:grpSp>
      <p:sp>
        <p:nvSpPr>
          <p:cNvPr id="61443" name="TextBox 105"/>
          <p:cNvSpPr txBox="1">
            <a:spLocks noChangeArrowheads="1"/>
          </p:cNvSpPr>
          <p:nvPr/>
        </p:nvSpPr>
        <p:spPr bwMode="auto">
          <a:xfrm>
            <a:off x="811213" y="171450"/>
            <a:ext cx="751205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Calibri" pitchFamily="34" charset="0"/>
              </a:rPr>
              <a:t>Successive 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</a:rPr>
              <a:t>Band Reduction</a:t>
            </a:r>
          </a:p>
        </p:txBody>
      </p:sp>
      <p:sp>
        <p:nvSpPr>
          <p:cNvPr id="37977" name="TextBox 106"/>
          <p:cNvSpPr txBox="1">
            <a:spLocks noChangeArrowheads="1"/>
          </p:cNvSpPr>
          <p:nvPr/>
        </p:nvSpPr>
        <p:spPr bwMode="auto">
          <a:xfrm>
            <a:off x="9829800" y="762000"/>
            <a:ext cx="4914900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To minimize #words moved (when n &gt; M</a:t>
            </a:r>
            <a:r>
              <a:rPr lang="en-US" baseline="30000" dirty="0">
                <a:solidFill>
                  <a:schemeClr val="tx1"/>
                </a:solidFill>
                <a:latin typeface="Calibri" pitchFamily="34" charset="0"/>
              </a:rPr>
              <a:t>1/2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 )</a:t>
            </a:r>
          </a:p>
          <a:p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after reducing to bandwidth b = M</a:t>
            </a:r>
            <a:r>
              <a:rPr lang="en-US" baseline="30000" dirty="0">
                <a:solidFill>
                  <a:schemeClr val="tx1"/>
                </a:solidFill>
                <a:latin typeface="Calibri" pitchFamily="34" charset="0"/>
              </a:rPr>
              <a:t>1/2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 :</a:t>
            </a:r>
          </a:p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if n &gt; M</a:t>
            </a:r>
          </a:p>
          <a:p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   Use d=b-1 and c=1  </a:t>
            </a:r>
          </a:p>
          <a:p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else if M</a:t>
            </a:r>
            <a:r>
              <a:rPr lang="en-US" baseline="30000" dirty="0">
                <a:solidFill>
                  <a:schemeClr val="tx1"/>
                </a:solidFill>
                <a:latin typeface="Calibri" pitchFamily="34" charset="0"/>
              </a:rPr>
              <a:t>1/2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  &lt; n ≤ M</a:t>
            </a:r>
          </a:p>
          <a:p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   Pass 1: Use  d=b – M/(4n) and c=M/(4n)</a:t>
            </a:r>
          </a:p>
          <a:p>
            <a:r>
              <a:rPr lang="en-US" dirty="0">
                <a:solidFill>
                  <a:schemeClr val="tx1"/>
                </a:solidFill>
                <a:latin typeface="Calibri" pitchFamily="34" charset="0"/>
              </a:rPr>
              <a:t>   Pass 2: Use  d=M/(4n)-1 and c=1</a:t>
            </a:r>
          </a:p>
        </p:txBody>
      </p:sp>
      <p:grpSp>
        <p:nvGrpSpPr>
          <p:cNvPr id="123" name="Group 122"/>
          <p:cNvGrpSpPr/>
          <p:nvPr/>
        </p:nvGrpSpPr>
        <p:grpSpPr>
          <a:xfrm>
            <a:off x="5638800" y="1524000"/>
            <a:ext cx="3218445" cy="2362200"/>
            <a:chOff x="5638800" y="1524000"/>
            <a:chExt cx="3218445" cy="2362200"/>
          </a:xfrm>
        </p:grpSpPr>
        <p:sp>
          <p:nvSpPr>
            <p:cNvPr id="109" name="TextBox 108"/>
            <p:cNvSpPr txBox="1"/>
            <p:nvPr/>
          </p:nvSpPr>
          <p:spPr>
            <a:xfrm>
              <a:off x="5638800" y="1524000"/>
              <a:ext cx="32184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Only need to zero out leading</a:t>
              </a:r>
            </a:p>
            <a:p>
              <a:r>
                <a:rPr lang="en-US" dirty="0" smtClean="0"/>
                <a:t>parallelogram of each trapezoid:</a:t>
              </a:r>
              <a:endParaRPr lang="en-US" dirty="0"/>
            </a:p>
          </p:txBody>
        </p:sp>
        <p:cxnSp>
          <p:nvCxnSpPr>
            <p:cNvPr id="113" name="Straight Connector 112"/>
            <p:cNvCxnSpPr/>
            <p:nvPr/>
          </p:nvCxnSpPr>
          <p:spPr>
            <a:xfrm rot="5400000">
              <a:off x="6286500" y="2857500"/>
              <a:ext cx="5334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rot="5400000">
              <a:off x="7200899" y="3619500"/>
              <a:ext cx="5334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>
              <a:off x="6553200" y="3124200"/>
              <a:ext cx="914400" cy="762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7467600" y="3886200"/>
              <a:ext cx="609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6553200" y="2590800"/>
              <a:ext cx="1524000" cy="12954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/>
            <p:cNvSpPr txBox="1"/>
            <p:nvPr/>
          </p:nvSpPr>
          <p:spPr>
            <a:xfrm>
              <a:off x="6858000" y="2971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</p:grpSp>
      <p:sp>
        <p:nvSpPr>
          <p:cNvPr id="124" name="TextBox 123"/>
          <p:cNvSpPr txBox="1"/>
          <p:nvPr/>
        </p:nvSpPr>
        <p:spPr>
          <a:xfrm>
            <a:off x="685800" y="5181600"/>
            <a:ext cx="1956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 = bandwidth</a:t>
            </a:r>
          </a:p>
          <a:p>
            <a:r>
              <a:rPr lang="en-US" dirty="0" smtClean="0"/>
              <a:t>c = #columns</a:t>
            </a:r>
          </a:p>
          <a:p>
            <a:r>
              <a:rPr lang="en-US" dirty="0" smtClean="0"/>
              <a:t>d = #diagonals</a:t>
            </a:r>
          </a:p>
          <a:p>
            <a:r>
              <a:rPr lang="en-US" dirty="0" smtClean="0"/>
              <a:t>Constraint: </a:t>
            </a:r>
            <a:r>
              <a:rPr lang="en-US" dirty="0" err="1" smtClean="0"/>
              <a:t>c+d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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2586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7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Conventional </a:t>
            </a:r>
            <a:r>
              <a:rPr lang="en-US" dirty="0" err="1" smtClean="0"/>
              <a:t>vs</a:t>
            </a:r>
            <a:r>
              <a:rPr lang="en-US" dirty="0" smtClean="0"/>
              <a:t> CA - SBR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84316" y="5029200"/>
            <a:ext cx="2116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Conventional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5042227" y="4953000"/>
            <a:ext cx="38811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Communication-Avoiding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762000" y="5562600"/>
            <a:ext cx="76354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Many tuning parameters:</a:t>
            </a:r>
          </a:p>
          <a:p>
            <a:r>
              <a:rPr lang="en-US" dirty="0"/>
              <a:t> </a:t>
            </a:r>
            <a:r>
              <a:rPr lang="en-US" dirty="0" smtClean="0"/>
              <a:t>   Number of “sweeps”,  #diagonals cleared per sweep,   sizes of parallelograms</a:t>
            </a:r>
          </a:p>
          <a:p>
            <a:r>
              <a:rPr lang="en-US" dirty="0" smtClean="0"/>
              <a:t>    #bulges chased at one time,    how far to chase each bulge</a:t>
            </a:r>
          </a:p>
          <a:p>
            <a:r>
              <a:rPr lang="en-US" dirty="0" smtClean="0"/>
              <a:t>Right choices reduce #</a:t>
            </a:r>
            <a:r>
              <a:rPr lang="en-US" dirty="0" err="1" smtClean="0"/>
              <a:t>words_moved</a:t>
            </a:r>
            <a:r>
              <a:rPr lang="en-US" dirty="0" smtClean="0"/>
              <a:t> by factor M/</a:t>
            </a:r>
            <a:r>
              <a:rPr lang="en-US" dirty="0" err="1" smtClean="0"/>
              <a:t>bw</a:t>
            </a:r>
            <a:r>
              <a:rPr lang="en-US" dirty="0" smtClean="0"/>
              <a:t>, not just M</a:t>
            </a:r>
            <a:r>
              <a:rPr lang="en-US" baseline="30000" dirty="0" smtClean="0"/>
              <a:t>1/2</a:t>
            </a:r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38200" y="1295400"/>
            <a:ext cx="2239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Touch all data 4 times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993682" y="1295400"/>
            <a:ext cx="2007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Touch all data once</a:t>
            </a:r>
            <a:endParaRPr lang="en-US" dirty="0"/>
          </a:p>
        </p:txBody>
      </p:sp>
      <p:pic>
        <p:nvPicPr>
          <p:cNvPr id="10" name="CASBR_n1000_b20_m1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13448" y="1877830"/>
            <a:ext cx="5472037" cy="3075170"/>
          </a:xfrm>
          <a:prstGeom prst="rect">
            <a:avLst/>
          </a:prstGeom>
        </p:spPr>
      </p:pic>
      <p:pic>
        <p:nvPicPr>
          <p:cNvPr id="11" name="CASBR_n1000_b20_m4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908219" y="1877830"/>
            <a:ext cx="5472036" cy="30751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599" y="1664732"/>
            <a:ext cx="1150655" cy="336446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-486732" y="1664732"/>
            <a:ext cx="1219200" cy="355399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08219" y="1664732"/>
            <a:ext cx="1134008" cy="34813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663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20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5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26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  <p:bldLst>
      <p:bldP spid="7" grpId="0"/>
      <p:bldP spid="7" grpId="1"/>
      <p:bldP spid="8" grpId="0"/>
      <p:bldP spid="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Speedups of Sym. Band Reduction</a:t>
            </a:r>
            <a:br>
              <a:rPr lang="en-US" dirty="0" smtClean="0"/>
            </a:br>
            <a:r>
              <a:rPr lang="en-US" dirty="0" err="1" smtClean="0"/>
              <a:t>vs</a:t>
            </a:r>
            <a:r>
              <a:rPr lang="en-US" dirty="0" smtClean="0"/>
              <a:t> DSBTRD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Up to </a:t>
            </a:r>
            <a:r>
              <a:rPr lang="en-US" b="1" dirty="0" smtClean="0"/>
              <a:t>17x</a:t>
            </a:r>
            <a:r>
              <a:rPr lang="en-US" dirty="0" smtClean="0"/>
              <a:t> on Intel </a:t>
            </a:r>
            <a:r>
              <a:rPr lang="en-US" dirty="0" err="1" smtClean="0"/>
              <a:t>Gainestown</a:t>
            </a:r>
            <a:r>
              <a:rPr lang="en-US" dirty="0" smtClean="0"/>
              <a:t>, </a:t>
            </a:r>
            <a:r>
              <a:rPr lang="en-US" dirty="0" err="1" smtClean="0"/>
              <a:t>vs</a:t>
            </a:r>
            <a:r>
              <a:rPr lang="en-US" dirty="0" smtClean="0"/>
              <a:t> MKL 10.0</a:t>
            </a:r>
          </a:p>
          <a:p>
            <a:pPr lvl="1"/>
            <a:r>
              <a:rPr lang="en-US" dirty="0" smtClean="0"/>
              <a:t>n=12000, b=500, 8 threads</a:t>
            </a:r>
          </a:p>
          <a:p>
            <a:r>
              <a:rPr lang="en-US" dirty="0" smtClean="0"/>
              <a:t>Up to </a:t>
            </a:r>
            <a:r>
              <a:rPr lang="en-US" b="1" dirty="0" smtClean="0"/>
              <a:t>12x</a:t>
            </a:r>
            <a:r>
              <a:rPr lang="en-US" dirty="0" smtClean="0"/>
              <a:t> on Intel </a:t>
            </a:r>
            <a:r>
              <a:rPr lang="en-US" dirty="0" err="1" smtClean="0"/>
              <a:t>Westmere</a:t>
            </a:r>
            <a:r>
              <a:rPr lang="en-US" dirty="0" smtClean="0"/>
              <a:t>, </a:t>
            </a:r>
            <a:r>
              <a:rPr lang="en-US" dirty="0" err="1" smtClean="0"/>
              <a:t>vs</a:t>
            </a:r>
            <a:r>
              <a:rPr lang="en-US" dirty="0" smtClean="0"/>
              <a:t> MKL 10.3</a:t>
            </a:r>
          </a:p>
          <a:p>
            <a:pPr lvl="1"/>
            <a:r>
              <a:rPr lang="en-US" dirty="0" smtClean="0"/>
              <a:t>n=12000, b=200, 10 threads</a:t>
            </a:r>
          </a:p>
          <a:p>
            <a:r>
              <a:rPr lang="en-US" dirty="0" smtClean="0"/>
              <a:t>Up to </a:t>
            </a:r>
            <a:r>
              <a:rPr lang="en-US" b="1" dirty="0" smtClean="0"/>
              <a:t>25x</a:t>
            </a:r>
            <a:r>
              <a:rPr lang="en-US" dirty="0" smtClean="0"/>
              <a:t> on AMD Budapest, </a:t>
            </a:r>
            <a:r>
              <a:rPr lang="en-US" dirty="0" err="1" smtClean="0"/>
              <a:t>vs</a:t>
            </a:r>
            <a:r>
              <a:rPr lang="en-US" dirty="0" smtClean="0"/>
              <a:t> ACML 4.4</a:t>
            </a:r>
          </a:p>
          <a:p>
            <a:pPr lvl="1"/>
            <a:r>
              <a:rPr lang="en-US" dirty="0" smtClean="0"/>
              <a:t>n=9000, b=500, 4 threads</a:t>
            </a:r>
          </a:p>
          <a:p>
            <a:r>
              <a:rPr lang="en-US" dirty="0" smtClean="0"/>
              <a:t>Up to </a:t>
            </a:r>
            <a:r>
              <a:rPr lang="en-US" b="1" dirty="0" smtClean="0"/>
              <a:t>30x</a:t>
            </a:r>
            <a:r>
              <a:rPr lang="en-US" dirty="0" smtClean="0"/>
              <a:t> on AMD </a:t>
            </a:r>
            <a:r>
              <a:rPr lang="en-US" dirty="0" err="1" smtClean="0"/>
              <a:t>Magny-Cours</a:t>
            </a:r>
            <a:r>
              <a:rPr lang="en-US" dirty="0" smtClean="0"/>
              <a:t>, </a:t>
            </a:r>
            <a:r>
              <a:rPr lang="en-US" dirty="0" err="1" smtClean="0"/>
              <a:t>vs</a:t>
            </a:r>
            <a:r>
              <a:rPr lang="en-US" dirty="0" smtClean="0"/>
              <a:t> ACML 4.4</a:t>
            </a:r>
          </a:p>
          <a:p>
            <a:pPr lvl="1"/>
            <a:r>
              <a:rPr lang="en-US" dirty="0" smtClean="0"/>
              <a:t>n=12000, b=500, 6 threads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Neither MKL nor ACML benefits from multithreading in DSBTRD </a:t>
            </a:r>
          </a:p>
          <a:p>
            <a:pPr lvl="1"/>
            <a:r>
              <a:rPr lang="en-US" dirty="0" smtClean="0"/>
              <a:t>Best sequential speedup </a:t>
            </a:r>
            <a:r>
              <a:rPr lang="en-US" dirty="0" err="1" smtClean="0"/>
              <a:t>vs</a:t>
            </a:r>
            <a:r>
              <a:rPr lang="en-US" dirty="0" smtClean="0"/>
              <a:t> MKL: </a:t>
            </a:r>
            <a:r>
              <a:rPr lang="en-US" b="1" dirty="0" smtClean="0"/>
              <a:t>1.9x</a:t>
            </a:r>
          </a:p>
          <a:p>
            <a:pPr lvl="1"/>
            <a:r>
              <a:rPr lang="en-US" dirty="0" smtClean="0"/>
              <a:t>Best sequential speedup </a:t>
            </a:r>
            <a:r>
              <a:rPr lang="en-US" dirty="0" err="1" smtClean="0"/>
              <a:t>vs</a:t>
            </a:r>
            <a:r>
              <a:rPr lang="en-US" dirty="0" smtClean="0"/>
              <a:t> ACML: </a:t>
            </a:r>
            <a:r>
              <a:rPr lang="en-US" b="1" dirty="0" smtClean="0"/>
              <a:t>8.5x</a:t>
            </a:r>
          </a:p>
          <a:p>
            <a:endParaRPr lang="en-US" b="1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8505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 Lower Bounds for </a:t>
            </a:r>
            <a:r>
              <a:rPr lang="en-US" dirty="0" err="1" smtClean="0"/>
              <a:t>Strassen</a:t>
            </a:r>
            <a:r>
              <a:rPr lang="en-US" dirty="0" smtClean="0"/>
              <a:t>-like </a:t>
            </a:r>
            <a:r>
              <a:rPr lang="en-US" dirty="0" err="1" smtClean="0"/>
              <a:t>matmul</a:t>
            </a:r>
            <a:r>
              <a:rPr lang="en-US" dirty="0" smtClean="0"/>
              <a:t>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0"/>
            <a:ext cx="8763000" cy="45259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Proof: graph expansion (different from classical </a:t>
            </a:r>
            <a:r>
              <a:rPr lang="en-US" sz="2800" dirty="0" err="1" smtClean="0"/>
              <a:t>matmul</a:t>
            </a:r>
            <a:r>
              <a:rPr lang="en-US" sz="2800" dirty="0" smtClean="0"/>
              <a:t>)</a:t>
            </a:r>
          </a:p>
          <a:p>
            <a:pPr lvl="1"/>
            <a:r>
              <a:rPr lang="en-US" sz="2400" dirty="0" err="1" smtClean="0"/>
              <a:t>Strassen</a:t>
            </a:r>
            <a:r>
              <a:rPr lang="en-US" sz="2400" dirty="0" smtClean="0"/>
              <a:t>-like: DAG must be “regular” and connected</a:t>
            </a:r>
          </a:p>
          <a:p>
            <a:r>
              <a:rPr lang="en-US" sz="2800" dirty="0" smtClean="0"/>
              <a:t>Extends up to M = n</a:t>
            </a:r>
            <a:r>
              <a:rPr lang="en-US" baseline="30000" dirty="0" smtClean="0"/>
              <a:t>2</a:t>
            </a:r>
            <a:r>
              <a:rPr lang="en-US" sz="2800" dirty="0" smtClean="0"/>
              <a:t> / p</a:t>
            </a:r>
            <a:r>
              <a:rPr lang="en-US" baseline="30000" dirty="0" smtClean="0"/>
              <a:t>2/</a:t>
            </a:r>
            <a:r>
              <a:rPr lang="en-US" baseline="30000" dirty="0" err="1" smtClean="0"/>
              <a:t>ω</a:t>
            </a:r>
            <a:endParaRPr lang="en-US" baseline="30000" dirty="0" smtClean="0"/>
          </a:p>
          <a:p>
            <a:r>
              <a:rPr lang="en-US" sz="2800" dirty="0" smtClean="0">
                <a:solidFill>
                  <a:srgbClr val="0824F2"/>
                </a:solidFill>
              </a:rPr>
              <a:t>Best Paper Prize (SPAA’11), Ballard, D., Holtz, Schwartz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0824F2"/>
                </a:solidFill>
              </a:rPr>
              <a:t>        to appear in JACM</a:t>
            </a:r>
            <a:endParaRPr lang="en-US" sz="2400" dirty="0" smtClean="0">
              <a:solidFill>
                <a:srgbClr val="0824F2"/>
              </a:solidFill>
            </a:endParaRPr>
          </a:p>
          <a:p>
            <a:r>
              <a:rPr lang="en-US" sz="2800" dirty="0" smtClean="0">
                <a:solidFill>
                  <a:srgbClr val="000000"/>
                </a:solidFill>
              </a:rPr>
              <a:t>Is the lower bound attainable?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027" y="1676400"/>
            <a:ext cx="2434964" cy="20005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Classical </a:t>
            </a:r>
          </a:p>
          <a:p>
            <a:pPr algn="ctr"/>
            <a:r>
              <a:rPr lang="en-US" sz="2400" dirty="0" smtClean="0"/>
              <a:t>O(n</a:t>
            </a:r>
            <a:r>
              <a:rPr lang="en-US" sz="2800" baseline="30000" dirty="0" smtClean="0">
                <a:solidFill>
                  <a:srgbClr val="FF0000"/>
                </a:solidFill>
              </a:rPr>
              <a:t>3</a:t>
            </a:r>
            <a:r>
              <a:rPr lang="en-US" sz="2400" dirty="0" smtClean="0"/>
              <a:t>) </a:t>
            </a:r>
            <a:r>
              <a:rPr lang="en-US" sz="2400" dirty="0" err="1" smtClean="0"/>
              <a:t>matmul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r>
              <a:rPr lang="en-US" sz="2400" dirty="0" smtClean="0"/>
              <a:t>#</a:t>
            </a:r>
            <a:r>
              <a:rPr lang="en-US" sz="2400" dirty="0" err="1" smtClean="0"/>
              <a:t>words_moved</a:t>
            </a:r>
            <a:r>
              <a:rPr lang="en-US" sz="2400" dirty="0" smtClean="0"/>
              <a:t> =</a:t>
            </a:r>
          </a:p>
          <a:p>
            <a:r>
              <a:rPr lang="en-US" sz="2400" dirty="0" err="1" smtClean="0"/>
              <a:t>Ω</a:t>
            </a:r>
            <a:r>
              <a:rPr lang="en-US" sz="2400" dirty="0" smtClean="0"/>
              <a:t> (M(n/M</a:t>
            </a:r>
            <a:r>
              <a:rPr lang="en-US" sz="2800" baseline="30000" dirty="0" smtClean="0"/>
              <a:t>1/2</a:t>
            </a:r>
            <a:r>
              <a:rPr lang="en-US" sz="2400" dirty="0" smtClean="0"/>
              <a:t>)</a:t>
            </a:r>
            <a:r>
              <a:rPr lang="en-US" sz="2800" baseline="30000" dirty="0" smtClean="0">
                <a:solidFill>
                  <a:srgbClr val="FF0000"/>
                </a:solidFill>
              </a:rPr>
              <a:t>3</a:t>
            </a:r>
            <a:r>
              <a:rPr lang="en-US" sz="2800" dirty="0" smtClean="0"/>
              <a:t>/P)</a:t>
            </a:r>
            <a:endParaRPr lang="en-US" sz="2800" baseline="30000" dirty="0"/>
          </a:p>
        </p:txBody>
      </p:sp>
      <p:sp>
        <p:nvSpPr>
          <p:cNvPr id="5" name="TextBox 4"/>
          <p:cNvSpPr txBox="1"/>
          <p:nvPr/>
        </p:nvSpPr>
        <p:spPr>
          <a:xfrm>
            <a:off x="3301620" y="1676400"/>
            <a:ext cx="2602578" cy="20005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/>
              <a:t>Strassen’s</a:t>
            </a:r>
            <a:r>
              <a:rPr lang="en-US" sz="2400" dirty="0" smtClean="0"/>
              <a:t> </a:t>
            </a:r>
          </a:p>
          <a:p>
            <a:pPr algn="ctr"/>
            <a:r>
              <a:rPr lang="en-US" sz="2400" dirty="0" smtClean="0"/>
              <a:t>O(n</a:t>
            </a:r>
            <a:r>
              <a:rPr lang="en-US" sz="2800" baseline="30000" dirty="0" smtClean="0">
                <a:solidFill>
                  <a:srgbClr val="FF0000"/>
                </a:solidFill>
              </a:rPr>
              <a:t>lg7</a:t>
            </a:r>
            <a:r>
              <a:rPr lang="en-US" sz="2400" dirty="0" smtClean="0"/>
              <a:t>) </a:t>
            </a:r>
            <a:r>
              <a:rPr lang="en-US" sz="2400" dirty="0" err="1" smtClean="0"/>
              <a:t>matmul</a:t>
            </a:r>
            <a:r>
              <a:rPr lang="en-US" sz="2400" dirty="0" smtClean="0"/>
              <a:t>: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#</a:t>
            </a:r>
            <a:r>
              <a:rPr lang="en-US" sz="2400" dirty="0" err="1" smtClean="0"/>
              <a:t>words_moved</a:t>
            </a:r>
            <a:r>
              <a:rPr lang="en-US" sz="2400" dirty="0" smtClean="0"/>
              <a:t> =</a:t>
            </a:r>
          </a:p>
          <a:p>
            <a:pPr algn="ctr"/>
            <a:r>
              <a:rPr lang="en-US" sz="2400" dirty="0" err="1" smtClean="0"/>
              <a:t>Ω</a:t>
            </a:r>
            <a:r>
              <a:rPr lang="en-US" sz="2400" dirty="0" smtClean="0"/>
              <a:t> (M(n/M</a:t>
            </a:r>
            <a:r>
              <a:rPr lang="en-US" sz="2800" baseline="30000" dirty="0" smtClean="0"/>
              <a:t>1/2</a:t>
            </a:r>
            <a:r>
              <a:rPr lang="en-US" sz="2400" dirty="0" smtClean="0"/>
              <a:t>)</a:t>
            </a:r>
            <a:r>
              <a:rPr lang="en-US" sz="2800" baseline="30000" dirty="0" smtClean="0">
                <a:solidFill>
                  <a:srgbClr val="FF0000"/>
                </a:solidFill>
              </a:rPr>
              <a:t>lg7</a:t>
            </a:r>
            <a:r>
              <a:rPr lang="en-US" sz="2800" dirty="0" smtClean="0">
                <a:solidFill>
                  <a:srgbClr val="000000"/>
                </a:solidFill>
              </a:rPr>
              <a:t>/P</a:t>
            </a:r>
            <a:r>
              <a:rPr lang="en-US" sz="2800" dirty="0" smtClean="0"/>
              <a:t>)</a:t>
            </a:r>
            <a:endParaRPr lang="en-US" sz="2800" baseline="30000" dirty="0"/>
          </a:p>
        </p:txBody>
      </p:sp>
      <p:sp>
        <p:nvSpPr>
          <p:cNvPr id="6" name="TextBox 5"/>
          <p:cNvSpPr txBox="1"/>
          <p:nvPr/>
        </p:nvSpPr>
        <p:spPr>
          <a:xfrm>
            <a:off x="6182151" y="1676400"/>
            <a:ext cx="2480316" cy="20005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/>
              <a:t>Strassen</a:t>
            </a:r>
            <a:r>
              <a:rPr lang="en-US" sz="2400" dirty="0" smtClean="0"/>
              <a:t>-like </a:t>
            </a:r>
          </a:p>
          <a:p>
            <a:pPr algn="ctr"/>
            <a:r>
              <a:rPr lang="en-US" sz="2400" dirty="0" smtClean="0"/>
              <a:t>O(</a:t>
            </a:r>
            <a:r>
              <a:rPr lang="en-US" sz="2400" dirty="0" err="1" smtClean="0"/>
              <a:t>n</a:t>
            </a:r>
            <a:r>
              <a:rPr lang="en-US" sz="2800" baseline="30000" dirty="0" err="1" smtClean="0">
                <a:solidFill>
                  <a:srgbClr val="FF0000"/>
                </a:solidFill>
              </a:rPr>
              <a:t>ω</a:t>
            </a:r>
            <a:r>
              <a:rPr lang="en-US" sz="2400" dirty="0" smtClean="0"/>
              <a:t>) </a:t>
            </a:r>
            <a:r>
              <a:rPr lang="en-US" sz="2400" dirty="0" err="1" smtClean="0"/>
              <a:t>matmul</a:t>
            </a:r>
            <a:r>
              <a:rPr lang="en-US" sz="2400" dirty="0" smtClean="0"/>
              <a:t>: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#</a:t>
            </a:r>
            <a:r>
              <a:rPr lang="en-US" sz="2400" dirty="0" err="1" smtClean="0"/>
              <a:t>words_moved</a:t>
            </a:r>
            <a:r>
              <a:rPr lang="en-US" sz="2400" dirty="0" smtClean="0"/>
              <a:t> =</a:t>
            </a:r>
          </a:p>
          <a:p>
            <a:pPr algn="ctr"/>
            <a:r>
              <a:rPr lang="en-US" sz="2400" dirty="0" err="1" smtClean="0"/>
              <a:t>Ω</a:t>
            </a:r>
            <a:r>
              <a:rPr lang="en-US" sz="2400" dirty="0" smtClean="0"/>
              <a:t> (M(n/M</a:t>
            </a:r>
            <a:r>
              <a:rPr lang="en-US" sz="2800" baseline="30000" dirty="0" smtClean="0"/>
              <a:t>1/2</a:t>
            </a:r>
            <a:r>
              <a:rPr lang="en-US" sz="2400" dirty="0" smtClean="0"/>
              <a:t>)</a:t>
            </a:r>
            <a:r>
              <a:rPr lang="en-US" sz="2800" baseline="30000" dirty="0" err="1" smtClean="0">
                <a:solidFill>
                  <a:srgbClr val="FF0000"/>
                </a:solidFill>
              </a:rPr>
              <a:t>ω</a:t>
            </a:r>
            <a:r>
              <a:rPr lang="en-US" sz="2800" dirty="0" smtClean="0">
                <a:solidFill>
                  <a:srgbClr val="000000"/>
                </a:solidFill>
              </a:rPr>
              <a:t>/P</a:t>
            </a:r>
            <a:r>
              <a:rPr lang="en-US" sz="2800" dirty="0" smtClean="0"/>
              <a:t>)</a:t>
            </a:r>
            <a:endParaRPr lang="en-US" sz="2800" baseline="30000" dirty="0"/>
          </a:p>
        </p:txBody>
      </p:sp>
    </p:spTree>
    <p:extLst>
      <p:ext uri="{BB962C8B-B14F-4D97-AF65-F5344CB8AC3E}">
        <p14:creationId xmlns:p14="http://schemas.microsoft.com/office/powerpoint/2010/main" val="33102191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3963" y="789701"/>
            <a:ext cx="801177" cy="637333"/>
          </a:xfrm>
        </p:spPr>
        <p:txBody>
          <a:bodyPr>
            <a:noAutofit/>
          </a:bodyPr>
          <a:lstStyle/>
          <a:p>
            <a:r>
              <a:rPr lang="en-US" sz="2800" dirty="0" smtClean="0"/>
              <a:t>vs.             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76200" y="3581390"/>
            <a:ext cx="42672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Runs all 7 multiplies in 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parallel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Each on P/7 processors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Needs 7/4 as much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3581390"/>
            <a:ext cx="46482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Runs all 7 multiplies 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sequentially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Each on all P processors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>
                <a:solidFill>
                  <a:prstClr val="black"/>
                </a:solidFill>
                <a:latin typeface="Calibri"/>
                <a:cs typeface="+mn-cs"/>
              </a:rPr>
              <a:t>N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eeds 1/4 as much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838060"/>
            <a:ext cx="4428670" cy="193899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>
                <a:solidFill>
                  <a:prstClr val="black"/>
                </a:solidFill>
                <a:latin typeface="Calibri"/>
              </a:rPr>
              <a:t>CAPS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  <a:cs typeface="+mn-cs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   If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</a:t>
            </a:r>
            <a:r>
              <a:rPr lang="en-US" sz="2400" b="0" dirty="0" err="1" smtClean="0">
                <a:solidFill>
                  <a:prstClr val="black"/>
                </a:solidFill>
                <a:latin typeface="Calibri"/>
                <a:cs typeface="+mn-cs"/>
              </a:rPr>
              <a:t>EnoughMemory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and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P 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  <a:sym typeface="Symbol"/>
              </a:rPr>
              <a:t>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7 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>
                <a:solidFill>
                  <a:prstClr val="black"/>
                </a:solidFill>
                <a:latin typeface="Calibri"/>
                <a:cs typeface="+mn-cs"/>
              </a:rPr>
              <a:t> 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      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then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BFS step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>
                <a:solidFill>
                  <a:prstClr val="black"/>
                </a:solidFill>
                <a:latin typeface="Calibri"/>
                <a:cs typeface="+mn-cs"/>
              </a:rPr>
              <a:t> 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      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else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DFS step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    end if</a:t>
            </a:r>
            <a:endParaRPr lang="en-US" sz="2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81" y="997533"/>
            <a:ext cx="8152780" cy="2550218"/>
          </a:xfrm>
          <a:prstGeom prst="rect">
            <a:avLst/>
          </a:prstGeom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919163" y="381383"/>
            <a:ext cx="7110504" cy="380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5pPr>
            <a:lvl6pPr marL="4572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6pPr>
            <a:lvl7pPr marL="9144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7pPr>
            <a:lvl8pPr marL="13716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8pPr>
            <a:lvl9pPr marL="18288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sz="2400" b="0" dirty="0" smtClean="0">
                <a:latin typeface="Arial" charset="0"/>
              </a:rPr>
              <a:t>Communication </a:t>
            </a:r>
            <a:r>
              <a:rPr lang="en-US" sz="2400" b="0" dirty="0">
                <a:latin typeface="Arial" charset="0"/>
              </a:rPr>
              <a:t>Avoiding </a:t>
            </a:r>
            <a:r>
              <a:rPr lang="en-US" sz="2400" b="0" dirty="0" smtClean="0">
                <a:latin typeface="Arial" charset="0"/>
              </a:rPr>
              <a:t>Parallel</a:t>
            </a:r>
            <a:r>
              <a:rPr lang="en-US" sz="2400" b="0" dirty="0">
                <a:latin typeface="Arial" charset="0"/>
              </a:rPr>
              <a:t> </a:t>
            </a:r>
            <a:r>
              <a:rPr lang="en-US" sz="2400" b="0" dirty="0" err="1" smtClean="0">
                <a:latin typeface="Arial" charset="0"/>
              </a:rPr>
              <a:t>Strassen</a:t>
            </a:r>
            <a:r>
              <a:rPr lang="en-US" sz="2400" b="0" dirty="0" smtClean="0">
                <a:latin typeface="Arial" charset="0"/>
              </a:rPr>
              <a:t> </a:t>
            </a:r>
            <a:r>
              <a:rPr lang="en-US" sz="2400" b="0" i="1" dirty="0">
                <a:latin typeface="Arial" charset="0"/>
              </a:rPr>
              <a:t>(CAPS)</a:t>
            </a:r>
            <a:endParaRPr lang="en-US" sz="1600" b="0" i="1" dirty="0">
              <a:latin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91200" y="5029200"/>
            <a:ext cx="289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 practice,  how to best interleave</a:t>
            </a:r>
          </a:p>
          <a:p>
            <a:r>
              <a:rPr lang="en-US" sz="2400" dirty="0" smtClean="0"/>
              <a:t>BFS and DFS is</a:t>
            </a:r>
          </a:p>
          <a:p>
            <a:r>
              <a:rPr lang="en-US" sz="2400" dirty="0"/>
              <a:t>a</a:t>
            </a:r>
            <a:r>
              <a:rPr lang="en-US" sz="2400" dirty="0" smtClean="0"/>
              <a:t> “tuning parameter”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8386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2429E1-B9F3-41B4-B2B6-A121E4BC8C07}" type="slidenum">
              <a:rPr lang="he-IL" smtClean="0"/>
              <a:pPr>
                <a:defRPr/>
              </a:pPr>
              <a:t>71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71" y="935986"/>
            <a:ext cx="8686800" cy="5785489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00498" y="309430"/>
            <a:ext cx="8212873" cy="640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5pPr>
            <a:lvl6pPr marL="4572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6pPr>
            <a:lvl7pPr marL="9144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7pPr>
            <a:lvl8pPr marL="13716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8pPr>
            <a:lvl9pPr marL="18288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pPr algn="ctr"/>
            <a:r>
              <a:rPr lang="en-US" sz="2400" dirty="0"/>
              <a:t>Performance </a:t>
            </a:r>
            <a:r>
              <a:rPr lang="en-US" sz="2400" dirty="0" smtClean="0"/>
              <a:t>Benchmarking, Strong Scaling Plot</a:t>
            </a:r>
            <a:endParaRPr lang="en-US" sz="2400" dirty="0"/>
          </a:p>
          <a:p>
            <a:pPr algn="ctr"/>
            <a:r>
              <a:rPr lang="en-US" sz="2000" b="0" dirty="0" smtClean="0">
                <a:solidFill>
                  <a:schemeClr val="tx1"/>
                </a:solidFill>
              </a:rPr>
              <a:t>Franklin </a:t>
            </a:r>
            <a:r>
              <a:rPr lang="en-US" sz="2000" b="0" dirty="0">
                <a:solidFill>
                  <a:schemeClr val="tx1"/>
                </a:solidFill>
              </a:rPr>
              <a:t>(Cray XT4</a:t>
            </a:r>
            <a:r>
              <a:rPr lang="en-US" sz="2000" b="0" dirty="0" smtClean="0">
                <a:solidFill>
                  <a:schemeClr val="tx1"/>
                </a:solidFill>
              </a:rPr>
              <a:t>) n </a:t>
            </a:r>
            <a:r>
              <a:rPr lang="en-US" sz="2000" b="0" dirty="0">
                <a:solidFill>
                  <a:schemeClr val="tx1"/>
                </a:solidFill>
              </a:rPr>
              <a:t>= 94080</a:t>
            </a:r>
            <a:endParaRPr lang="en-US" sz="1400" b="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16181" y="5292436"/>
            <a:ext cx="509847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smtClean="0"/>
              <a:t>Speedups: 24%-184%</a:t>
            </a:r>
            <a:r>
              <a:rPr lang="en-US" dirty="0"/>
              <a:t/>
            </a:r>
            <a:br>
              <a:rPr lang="en-US" dirty="0"/>
            </a:br>
            <a:r>
              <a:rPr lang="en-US" sz="1400" b="0" dirty="0" smtClean="0"/>
              <a:t>(</a:t>
            </a:r>
            <a:r>
              <a:rPr lang="en-US" sz="1400" b="0" dirty="0"/>
              <a:t>over </a:t>
            </a:r>
            <a:r>
              <a:rPr lang="en-US" sz="1400" b="0" dirty="0" smtClean="0"/>
              <a:t>previous </a:t>
            </a:r>
            <a:r>
              <a:rPr lang="en-US" sz="1400" b="0" dirty="0" err="1" smtClean="0"/>
              <a:t>Strassen</a:t>
            </a:r>
            <a:r>
              <a:rPr lang="en-US" sz="1400" b="0" dirty="0"/>
              <a:t>-</a:t>
            </a:r>
            <a:r>
              <a:rPr lang="en-US" sz="1400" b="0" dirty="0" smtClean="0"/>
              <a:t>based algorithms)</a:t>
            </a:r>
            <a:endParaRPr lang="en-US" b="0" dirty="0"/>
          </a:p>
        </p:txBody>
      </p:sp>
      <p:sp>
        <p:nvSpPr>
          <p:cNvPr id="8" name="TextBox 7"/>
          <p:cNvSpPr txBox="1"/>
          <p:nvPr/>
        </p:nvSpPr>
        <p:spPr>
          <a:xfrm>
            <a:off x="1295400" y="2743200"/>
            <a:ext cx="6781800" cy="2554545"/>
          </a:xfrm>
          <a:prstGeom prst="rect">
            <a:avLst/>
          </a:prstGeom>
          <a:solidFill>
            <a:schemeClr val="bg1"/>
          </a:solidFill>
          <a:ln w="57150" cmpd="sng">
            <a:solidFill>
              <a:srgbClr val="0824F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4000" dirty="0" smtClean="0">
                <a:solidFill>
                  <a:srgbClr val="0824F2"/>
                </a:solidFill>
              </a:rPr>
              <a:t>For details, see SC12 talk  on</a:t>
            </a:r>
          </a:p>
          <a:p>
            <a:r>
              <a:rPr lang="en-US" sz="4000" dirty="0" smtClean="0">
                <a:solidFill>
                  <a:srgbClr val="0824F2"/>
                </a:solidFill>
              </a:rPr>
              <a:t>“Communication-Avoiding Parallel </a:t>
            </a:r>
            <a:r>
              <a:rPr lang="en-US" sz="4000" dirty="0" err="1" smtClean="0">
                <a:solidFill>
                  <a:srgbClr val="0824F2"/>
                </a:solidFill>
              </a:rPr>
              <a:t>Strassen</a:t>
            </a:r>
            <a:r>
              <a:rPr lang="en-US" sz="4000" dirty="0" smtClean="0">
                <a:solidFill>
                  <a:srgbClr val="0824F2"/>
                </a:solidFill>
              </a:rPr>
              <a:t>” by </a:t>
            </a:r>
          </a:p>
          <a:p>
            <a:r>
              <a:rPr lang="en-US" sz="4000" dirty="0" smtClean="0">
                <a:solidFill>
                  <a:srgbClr val="0824F2"/>
                </a:solidFill>
              </a:rPr>
              <a:t>Grey Ballard et al 11/15 at 4pm</a:t>
            </a:r>
            <a:endParaRPr lang="en-US" sz="4000" dirty="0">
              <a:solidFill>
                <a:srgbClr val="0824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7321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Direct Linear Algebra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New lower bounds, optimal algorithms, big speedups in theory and practice</a:t>
            </a:r>
          </a:p>
          <a:p>
            <a:r>
              <a:rPr lang="en-US" dirty="0" smtClean="0"/>
              <a:t>Lots of ongoing work on</a:t>
            </a:r>
          </a:p>
          <a:p>
            <a:pPr lvl="1"/>
            <a:r>
              <a:rPr lang="en-US" dirty="0" smtClean="0"/>
              <a:t>Algorithms: </a:t>
            </a:r>
          </a:p>
          <a:p>
            <a:pPr lvl="2"/>
            <a:r>
              <a:rPr lang="en-US" dirty="0" smtClean="0"/>
              <a:t>LDL</a:t>
            </a:r>
            <a:r>
              <a:rPr lang="en-US" sz="2700" baseline="30000" dirty="0" smtClean="0"/>
              <a:t>T</a:t>
            </a:r>
            <a:r>
              <a:rPr lang="en-US" dirty="0" smtClean="0"/>
              <a:t>, QR with pivoting, other pivoting schemes, </a:t>
            </a:r>
            <a:r>
              <a:rPr lang="en-US" dirty="0" err="1" smtClean="0"/>
              <a:t>eigenproblems</a:t>
            </a:r>
            <a:r>
              <a:rPr lang="en-US" dirty="0" smtClean="0"/>
              <a:t>, …     </a:t>
            </a:r>
          </a:p>
          <a:p>
            <a:pPr lvl="2"/>
            <a:r>
              <a:rPr lang="en-US" dirty="0" smtClean="0"/>
              <a:t>All-pairs-shortest-path, …</a:t>
            </a:r>
          </a:p>
          <a:p>
            <a:pPr lvl="2"/>
            <a:r>
              <a:rPr lang="en-US" dirty="0" smtClean="0"/>
              <a:t>Both 2D (c=1) and 2.5D (c&gt;1)  </a:t>
            </a:r>
          </a:p>
          <a:p>
            <a:pPr lvl="2"/>
            <a:r>
              <a:rPr lang="en-US" dirty="0"/>
              <a:t>B</a:t>
            </a:r>
            <a:r>
              <a:rPr lang="en-US" dirty="0" smtClean="0"/>
              <a:t>ut only bandwidth may decrease with c&gt;1, not latency</a:t>
            </a:r>
          </a:p>
          <a:p>
            <a:pPr lvl="2"/>
            <a:r>
              <a:rPr lang="en-US" dirty="0" smtClean="0"/>
              <a:t>Sparse matrices</a:t>
            </a:r>
          </a:p>
          <a:p>
            <a:pPr lvl="1"/>
            <a:r>
              <a:rPr lang="en-US" dirty="0" smtClean="0"/>
              <a:t>Platforms: </a:t>
            </a:r>
          </a:p>
          <a:p>
            <a:pPr lvl="2"/>
            <a:r>
              <a:rPr lang="en-US" dirty="0"/>
              <a:t>M</a:t>
            </a:r>
            <a:r>
              <a:rPr lang="en-US" dirty="0" smtClean="0"/>
              <a:t>ulticore, cluster, GPU, cloud, </a:t>
            </a:r>
            <a:r>
              <a:rPr lang="en-US" dirty="0"/>
              <a:t>h</a:t>
            </a:r>
            <a:r>
              <a:rPr lang="en-US" dirty="0" smtClean="0"/>
              <a:t>eterogeneous,   low-energy, …</a:t>
            </a:r>
          </a:p>
          <a:p>
            <a:pPr lvl="1"/>
            <a:r>
              <a:rPr lang="en-US" dirty="0" smtClean="0"/>
              <a:t>Software: </a:t>
            </a:r>
          </a:p>
          <a:p>
            <a:pPr lvl="2"/>
            <a:r>
              <a:rPr lang="en-US" dirty="0"/>
              <a:t>I</a:t>
            </a:r>
            <a:r>
              <a:rPr lang="en-US" dirty="0" smtClean="0"/>
              <a:t>ntegration into </a:t>
            </a:r>
            <a:r>
              <a:rPr lang="en-US" dirty="0" err="1" smtClean="0"/>
              <a:t>Sca</a:t>
            </a:r>
            <a:r>
              <a:rPr lang="en-US" dirty="0" smtClean="0"/>
              <a:t>/LAPACK, PLASMA,  MAGMA,…</a:t>
            </a:r>
          </a:p>
          <a:p>
            <a:r>
              <a:rPr lang="en-US" dirty="0" smtClean="0"/>
              <a:t>Integration into applications (on IBM BG/Q)</a:t>
            </a:r>
          </a:p>
          <a:p>
            <a:pPr lvl="1"/>
            <a:r>
              <a:rPr lang="en-US" dirty="0" err="1" smtClean="0"/>
              <a:t>Qbox</a:t>
            </a:r>
            <a:r>
              <a:rPr lang="en-US" dirty="0"/>
              <a:t> </a:t>
            </a:r>
            <a:r>
              <a:rPr lang="en-US" dirty="0" smtClean="0"/>
              <a:t>(with LLNL, IBM): molecular dynamics</a:t>
            </a:r>
          </a:p>
          <a:p>
            <a:pPr lvl="1"/>
            <a:r>
              <a:rPr lang="en-US" dirty="0" smtClean="0"/>
              <a:t>CTF (with ANL): symmetric tensor contractions</a:t>
            </a:r>
          </a:p>
        </p:txBody>
      </p:sp>
    </p:spTree>
    <p:extLst>
      <p:ext uri="{BB962C8B-B14F-4D97-AF65-F5344CB8AC3E}">
        <p14:creationId xmlns:p14="http://schemas.microsoft.com/office/powerpoint/2010/main" val="15607527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2400" y="1371600"/>
            <a:ext cx="8991600" cy="5181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“Direct” Linear Algebra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Lower bounds on 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communication 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</a:rPr>
              <a:t>New a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lgorithms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that attain these lower bounds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Ditto for “Iterative” Linear Algebra 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Ditto (work in progress) for programs accessing arrays </a:t>
            </a:r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3200" dirty="0" err="1" smtClean="0">
                <a:solidFill>
                  <a:schemeClr val="bg1">
                    <a:lumMod val="50000"/>
                  </a:schemeClr>
                </a:solidFill>
              </a:rPr>
              <a:t>eg</a:t>
            </a:r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 n-body)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1143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7683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155575" y="196850"/>
            <a:ext cx="8994775" cy="42545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dirty="0" smtClean="0"/>
              <a:t>Avoiding Communication in Iterative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5025"/>
            <a:ext cx="9144000" cy="57912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k-steps of iterative solver for sparse Ax=b or Ax=</a:t>
            </a:r>
            <a:r>
              <a:rPr lang="el-GR" dirty="0" smtClean="0"/>
              <a:t>λ</a:t>
            </a:r>
            <a:r>
              <a:rPr lang="en-US" dirty="0" smtClean="0"/>
              <a:t>x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Does k </a:t>
            </a:r>
            <a:r>
              <a:rPr lang="en-US" dirty="0" err="1" smtClean="0"/>
              <a:t>SpMVs</a:t>
            </a:r>
            <a:r>
              <a:rPr lang="en-US" dirty="0" smtClean="0"/>
              <a:t> with A and starting vector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Many such “</a:t>
            </a:r>
            <a:r>
              <a:rPr lang="en-US" dirty="0" err="1" smtClean="0"/>
              <a:t>Krylov</a:t>
            </a:r>
            <a:r>
              <a:rPr lang="en-US" dirty="0" smtClean="0"/>
              <a:t> Subspace Methods”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Goal: minimize communication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Assume matrix “well-partitioned”</a:t>
            </a:r>
          </a:p>
          <a:p>
            <a:pPr lvl="1">
              <a:defRPr/>
            </a:pPr>
            <a:r>
              <a:rPr lang="en-US" dirty="0" smtClean="0"/>
              <a:t>Serial implementation</a:t>
            </a:r>
          </a:p>
          <a:p>
            <a:pPr lvl="2">
              <a:defRPr/>
            </a:pPr>
            <a:r>
              <a:rPr lang="en-US" sz="2600" dirty="0" smtClean="0"/>
              <a:t>Conventional: O(k) moves of data from slow to fast memory</a:t>
            </a:r>
          </a:p>
          <a:p>
            <a:pPr lvl="2">
              <a:defRPr/>
            </a:pPr>
            <a:r>
              <a:rPr lang="en-US" sz="2600" b="1" dirty="0" smtClean="0"/>
              <a:t>New</a:t>
            </a:r>
            <a:r>
              <a:rPr lang="en-US" sz="2600" dirty="0" smtClean="0"/>
              <a:t>: </a:t>
            </a:r>
            <a:r>
              <a:rPr lang="en-US" sz="2600" b="1" dirty="0" smtClean="0"/>
              <a:t>O(1) moves of data – optimal</a:t>
            </a:r>
            <a:endParaRPr lang="en-US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Parallel implementation on p processors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sz="2600" dirty="0" smtClean="0"/>
              <a:t>Conventional: O(k log p) messages  (k </a:t>
            </a:r>
            <a:r>
              <a:rPr lang="en-US" sz="2600" dirty="0" err="1" smtClean="0"/>
              <a:t>SpMV</a:t>
            </a:r>
            <a:r>
              <a:rPr lang="en-US" sz="2600" dirty="0" smtClean="0"/>
              <a:t> calls, dot prods)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sz="2600" b="1" dirty="0" smtClean="0"/>
              <a:t>New: O(log p) messages - optimal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Lots of speed up possible (modeled and measured)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Price: some redundant computation</a:t>
            </a:r>
          </a:p>
          <a:p>
            <a:pPr lvl="1" eaLnBrk="1" fontAlgn="auto" hangingPunct="1">
              <a:spcAft>
                <a:spcPts val="0"/>
              </a:spcAft>
              <a:buNone/>
              <a:defRPr/>
            </a:pPr>
            <a:endParaRPr lang="en-US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dirty="0" smtClean="0"/>
          </a:p>
        </p:txBody>
      </p:sp>
      <p:sp>
        <p:nvSpPr>
          <p:cNvPr id="45060" name="Slide Number Placeholder 6"/>
          <p:cNvSpPr txBox="1">
            <a:spLocks/>
          </p:cNvSpPr>
          <p:nvPr/>
        </p:nvSpPr>
        <p:spPr bwMode="auto">
          <a:xfrm>
            <a:off x="7158038" y="64087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64C5B53-2C2C-4E43-8D19-4FD9D068384E}" type="slidenum">
              <a:rPr lang="en-US" sz="1400" b="0">
                <a:solidFill>
                  <a:schemeClr val="tx1"/>
                </a:solidFill>
              </a:rPr>
              <a:pPr algn="r"/>
              <a:t>74</a:t>
            </a:fld>
            <a:endParaRPr lang="en-US" b="0">
              <a:solidFill>
                <a:schemeClr val="tx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762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3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Works for any “well-partitioned” A</a:t>
            </a: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3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/>
          <p:cNvCxnSpPr/>
          <p:nvPr/>
        </p:nvCxnSpPr>
        <p:spPr>
          <a:xfrm rot="5400000">
            <a:off x="1143000" y="3886200"/>
            <a:ext cx="304800" cy="0"/>
          </a:xfrm>
          <a:prstGeom prst="line">
            <a:avLst/>
          </a:prstGeom>
          <a:ln w="28575">
            <a:solidFill>
              <a:srgbClr val="0824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/>
          <p:cNvCxnSpPr/>
          <p:nvPr/>
        </p:nvCxnSpPr>
        <p:spPr>
          <a:xfrm rot="5400000">
            <a:off x="1028700" y="3771900"/>
            <a:ext cx="304800" cy="228600"/>
          </a:xfrm>
          <a:prstGeom prst="line">
            <a:avLst/>
          </a:prstGeom>
          <a:ln w="28575">
            <a:solidFill>
              <a:srgbClr val="0824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/>
          <p:cNvCxnSpPr/>
          <p:nvPr/>
        </p:nvCxnSpPr>
        <p:spPr>
          <a:xfrm rot="16200000" flipH="1">
            <a:off x="1257300" y="3771900"/>
            <a:ext cx="304800" cy="228600"/>
          </a:xfrm>
          <a:prstGeom prst="line">
            <a:avLst/>
          </a:prstGeom>
          <a:ln w="28575">
            <a:solidFill>
              <a:srgbClr val="0824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/>
          <p:nvPr/>
        </p:nvCxnSpPr>
        <p:spPr>
          <a:xfrm rot="5400000" flipH="1" flipV="1">
            <a:off x="1066800" y="4038600"/>
            <a:ext cx="0" cy="0"/>
          </a:xfrm>
          <a:prstGeom prst="line">
            <a:avLst/>
          </a:prstGeom>
          <a:ln>
            <a:solidFill>
              <a:srgbClr val="0824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Isosceles Triangle 520"/>
          <p:cNvSpPr/>
          <p:nvPr/>
        </p:nvSpPr>
        <p:spPr>
          <a:xfrm>
            <a:off x="990600" y="3657600"/>
            <a:ext cx="609600" cy="457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3" name="Straight Connector 522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k=3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Isosceles Triangle 521"/>
          <p:cNvSpPr/>
          <p:nvPr/>
        </p:nvSpPr>
        <p:spPr>
          <a:xfrm>
            <a:off x="4114800" y="2895600"/>
            <a:ext cx="609600" cy="457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Isosceles Triangle 520"/>
          <p:cNvSpPr/>
          <p:nvPr/>
        </p:nvSpPr>
        <p:spPr>
          <a:xfrm>
            <a:off x="990600" y="3657600"/>
            <a:ext cx="609600" cy="457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Isosceles Triangle 521"/>
          <p:cNvSpPr/>
          <p:nvPr/>
        </p:nvSpPr>
        <p:spPr>
          <a:xfrm>
            <a:off x="3581400" y="2895600"/>
            <a:ext cx="1676400" cy="1219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Isosceles Triangle 520"/>
          <p:cNvSpPr/>
          <p:nvPr/>
        </p:nvSpPr>
        <p:spPr>
          <a:xfrm>
            <a:off x="990600" y="3657600"/>
            <a:ext cx="609600" cy="457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rapezoid 520"/>
          <p:cNvSpPr/>
          <p:nvPr/>
        </p:nvSpPr>
        <p:spPr>
          <a:xfrm>
            <a:off x="2590800" y="2895600"/>
            <a:ext cx="3429000" cy="1219200"/>
          </a:xfrm>
          <a:prstGeom prst="trapezoid">
            <a:avLst>
              <a:gd name="adj" fmla="val 65625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3" name="Straight Connector 522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Right Triangle 521"/>
          <p:cNvSpPr/>
          <p:nvPr/>
        </p:nvSpPr>
        <p:spPr>
          <a:xfrm>
            <a:off x="19050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1430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Sequential Algorithm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990600" y="2514600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Step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arallelogram 522"/>
          <p:cNvSpPr/>
          <p:nvPr/>
        </p:nvSpPr>
        <p:spPr>
          <a:xfrm flipH="1">
            <a:off x="1752600" y="2895600"/>
            <a:ext cx="3048000" cy="1219200"/>
          </a:xfrm>
          <a:prstGeom prst="parallelogram">
            <a:avLst>
              <a:gd name="adj" fmla="val 684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19050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1430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9" name="Straight Connector 528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0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Sequential Algorithm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35" name="TextBox 534"/>
          <p:cNvSpPr txBox="1"/>
          <p:nvPr/>
        </p:nvSpPr>
        <p:spPr>
          <a:xfrm>
            <a:off x="990600" y="2514600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Step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6" name="TextBox 535"/>
          <p:cNvSpPr txBox="1"/>
          <p:nvPr/>
        </p:nvSpPr>
        <p:spPr>
          <a:xfrm>
            <a:off x="2667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Step  2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arallelogram 523"/>
          <p:cNvSpPr/>
          <p:nvPr/>
        </p:nvSpPr>
        <p:spPr>
          <a:xfrm flipH="1">
            <a:off x="3962400" y="2895600"/>
            <a:ext cx="2895600" cy="1219200"/>
          </a:xfrm>
          <a:prstGeom prst="parallelogram">
            <a:avLst>
              <a:gd name="adj" fmla="val 68478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Parallelogram 522"/>
          <p:cNvSpPr/>
          <p:nvPr/>
        </p:nvSpPr>
        <p:spPr>
          <a:xfrm flipH="1">
            <a:off x="1752600" y="2895600"/>
            <a:ext cx="3048000" cy="1219200"/>
          </a:xfrm>
          <a:prstGeom prst="parallelogram">
            <a:avLst>
              <a:gd name="adj" fmla="val 684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19050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1430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9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30" name="Straight Connector 529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5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Sequential Algorithm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990600" y="2514600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Step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7" name="TextBox 536"/>
          <p:cNvSpPr txBox="1"/>
          <p:nvPr/>
        </p:nvSpPr>
        <p:spPr>
          <a:xfrm>
            <a:off x="2667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Step 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8" name="TextBox 537"/>
          <p:cNvSpPr txBox="1"/>
          <p:nvPr/>
        </p:nvSpPr>
        <p:spPr>
          <a:xfrm>
            <a:off x="4572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Step  3</a:t>
            </a:r>
            <a:endParaRPr lang="en-US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Right Triangle 529"/>
          <p:cNvSpPr/>
          <p:nvPr/>
        </p:nvSpPr>
        <p:spPr>
          <a:xfrm flipH="1" flipV="1">
            <a:off x="6019800" y="2895600"/>
            <a:ext cx="838200" cy="1219200"/>
          </a:xfrm>
          <a:prstGeom prst="rt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Rectangle 528"/>
          <p:cNvSpPr/>
          <p:nvPr/>
        </p:nvSpPr>
        <p:spPr>
          <a:xfrm>
            <a:off x="6858000" y="2895600"/>
            <a:ext cx="1981200" cy="12192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" name="Parallelogram 523"/>
          <p:cNvSpPr/>
          <p:nvPr/>
        </p:nvSpPr>
        <p:spPr>
          <a:xfrm flipH="1">
            <a:off x="3962400" y="2895600"/>
            <a:ext cx="2895600" cy="1219200"/>
          </a:xfrm>
          <a:prstGeom prst="parallelogram">
            <a:avLst>
              <a:gd name="adj" fmla="val 68478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Parallelogram 522"/>
          <p:cNvSpPr/>
          <p:nvPr/>
        </p:nvSpPr>
        <p:spPr>
          <a:xfrm flipH="1">
            <a:off x="1752600" y="2895600"/>
            <a:ext cx="3048000" cy="1219200"/>
          </a:xfrm>
          <a:prstGeom prst="parallelogram">
            <a:avLst>
              <a:gd name="adj" fmla="val 684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19050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1430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35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36" name="Straight Connector 535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7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Sequential Algorithm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990600" y="2514600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Step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9" name="TextBox 538"/>
          <p:cNvSpPr txBox="1"/>
          <p:nvPr/>
        </p:nvSpPr>
        <p:spPr>
          <a:xfrm>
            <a:off x="2667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Step 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40" name="TextBox 539"/>
          <p:cNvSpPr txBox="1"/>
          <p:nvPr/>
        </p:nvSpPr>
        <p:spPr>
          <a:xfrm>
            <a:off x="4572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Step  3</a:t>
            </a:r>
            <a:endParaRPr lang="en-US" b="1" dirty="0">
              <a:solidFill>
                <a:srgbClr val="92D050"/>
              </a:solidFill>
            </a:endParaRPr>
          </a:p>
        </p:txBody>
      </p:sp>
      <p:sp>
        <p:nvSpPr>
          <p:cNvPr id="545" name="TextBox 544"/>
          <p:cNvSpPr txBox="1"/>
          <p:nvPr/>
        </p:nvSpPr>
        <p:spPr>
          <a:xfrm>
            <a:off x="6477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Step  4</a:t>
            </a:r>
            <a:endParaRPr lang="en-US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rapezoid 534"/>
          <p:cNvSpPr/>
          <p:nvPr/>
        </p:nvSpPr>
        <p:spPr>
          <a:xfrm>
            <a:off x="1981200" y="2895600"/>
            <a:ext cx="3581400" cy="1219200"/>
          </a:xfrm>
          <a:prstGeom prst="trapezoid">
            <a:avLst>
              <a:gd name="adj" fmla="val 6304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27432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36" name="Isosceles Triangle 535"/>
          <p:cNvSpPr/>
          <p:nvPr/>
        </p:nvSpPr>
        <p:spPr>
          <a:xfrm>
            <a:off x="1981200" y="2895600"/>
            <a:ext cx="1600200" cy="12192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Isosceles Triangle 537"/>
          <p:cNvSpPr/>
          <p:nvPr/>
        </p:nvSpPr>
        <p:spPr>
          <a:xfrm>
            <a:off x="4038600" y="2895600"/>
            <a:ext cx="1524000" cy="12192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40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45" name="Straight Connector 544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Content Placeholder 2"/>
          <p:cNvSpPr txBox="1">
            <a:spLocks/>
          </p:cNvSpPr>
          <p:nvPr/>
        </p:nvSpPr>
        <p:spPr>
          <a:xfrm>
            <a:off x="228600" y="1447800"/>
            <a:ext cx="90678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noProof="0" dirty="0" smtClean="0"/>
              <a:t>Parallel Algorithm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Each processor communicates once with neighbors 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990600" y="2514600"/>
            <a:ext cx="77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Proc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2" name="TextBox 551"/>
          <p:cNvSpPr txBox="1"/>
          <p:nvPr/>
        </p:nvSpPr>
        <p:spPr>
          <a:xfrm>
            <a:off x="3289831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Proc 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5410200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Proc  3</a:t>
            </a:r>
            <a:endParaRPr lang="en-US" b="1" dirty="0">
              <a:solidFill>
                <a:srgbClr val="92D050"/>
              </a:solidFill>
            </a:endParaRPr>
          </a:p>
        </p:txBody>
      </p:sp>
      <p:sp>
        <p:nvSpPr>
          <p:cNvPr id="554" name="TextBox 553"/>
          <p:cNvSpPr txBox="1"/>
          <p:nvPr/>
        </p:nvSpPr>
        <p:spPr>
          <a:xfrm>
            <a:off x="7404631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Proc  4</a:t>
            </a:r>
            <a:endParaRPr lang="en-US" b="1" dirty="0">
              <a:solidFill>
                <a:srgbClr val="FFC000"/>
              </a:solidFill>
            </a:endParaRPr>
          </a:p>
        </p:txBody>
      </p:sp>
      <p:cxnSp>
        <p:nvCxnSpPr>
          <p:cNvPr id="295" name="Straight Connector 294"/>
          <p:cNvCxnSpPr/>
          <p:nvPr/>
        </p:nvCxnSpPr>
        <p:spPr>
          <a:xfrm rot="5400000">
            <a:off x="6248400" y="3505200"/>
            <a:ext cx="1219200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/>
          <p:cNvCxnSpPr/>
          <p:nvPr/>
        </p:nvCxnSpPr>
        <p:spPr>
          <a:xfrm rot="5400000">
            <a:off x="2133600" y="3505200"/>
            <a:ext cx="1219200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/>
          <p:cNvCxnSpPr/>
          <p:nvPr/>
        </p:nvCxnSpPr>
        <p:spPr>
          <a:xfrm rot="5400000">
            <a:off x="4191000" y="3505200"/>
            <a:ext cx="1219200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Rounded Rectangle 297"/>
          <p:cNvSpPr/>
          <p:nvPr/>
        </p:nvSpPr>
        <p:spPr>
          <a:xfrm>
            <a:off x="4876800" y="3886200"/>
            <a:ext cx="685800" cy="381000"/>
          </a:xfrm>
          <a:prstGeom prst="roundRect">
            <a:avLst/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ounded Rectangle 302"/>
          <p:cNvSpPr/>
          <p:nvPr/>
        </p:nvSpPr>
        <p:spPr>
          <a:xfrm>
            <a:off x="1981200" y="3886200"/>
            <a:ext cx="685800" cy="381000"/>
          </a:xfrm>
          <a:prstGeom prst="roundRect">
            <a:avLst/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 animBg="1"/>
      <p:bldP spid="30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rapezoid 534"/>
          <p:cNvSpPr/>
          <p:nvPr/>
        </p:nvSpPr>
        <p:spPr>
          <a:xfrm>
            <a:off x="1981200" y="2895600"/>
            <a:ext cx="3581400" cy="1219200"/>
          </a:xfrm>
          <a:prstGeom prst="trapezoid">
            <a:avLst>
              <a:gd name="adj" fmla="val 6304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Rectangle 528"/>
          <p:cNvSpPr/>
          <p:nvPr/>
        </p:nvSpPr>
        <p:spPr>
          <a:xfrm>
            <a:off x="6858000" y="2895600"/>
            <a:ext cx="1981200" cy="12192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27432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9812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36" name="Isosceles Triangle 535"/>
          <p:cNvSpPr/>
          <p:nvPr/>
        </p:nvSpPr>
        <p:spPr>
          <a:xfrm>
            <a:off x="1981200" y="2895600"/>
            <a:ext cx="1600200" cy="1219200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Trapezoid 536"/>
          <p:cNvSpPr/>
          <p:nvPr/>
        </p:nvSpPr>
        <p:spPr>
          <a:xfrm>
            <a:off x="4038600" y="2895600"/>
            <a:ext cx="3581400" cy="1219200"/>
          </a:xfrm>
          <a:prstGeom prst="trapezoid">
            <a:avLst>
              <a:gd name="adj" fmla="val 63044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Isosceles Triangle 537"/>
          <p:cNvSpPr/>
          <p:nvPr/>
        </p:nvSpPr>
        <p:spPr>
          <a:xfrm>
            <a:off x="4038600" y="2895600"/>
            <a:ext cx="1524000" cy="121920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Isosceles Triangle 538"/>
          <p:cNvSpPr/>
          <p:nvPr/>
        </p:nvSpPr>
        <p:spPr>
          <a:xfrm>
            <a:off x="6096000" y="2895600"/>
            <a:ext cx="1524000" cy="1219200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40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45" name="Straight Connector 544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Content Placeholder 2"/>
          <p:cNvSpPr txBox="1">
            <a:spLocks/>
          </p:cNvSpPr>
          <p:nvPr/>
        </p:nvSpPr>
        <p:spPr>
          <a:xfrm>
            <a:off x="228600" y="1447800"/>
            <a:ext cx="90678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noProof="0" dirty="0" smtClean="0"/>
              <a:t>Parallel Algorithm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Each processor works on (overlapping) trapezoid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990600" y="2514600"/>
            <a:ext cx="77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Proc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2" name="TextBox 551"/>
          <p:cNvSpPr txBox="1"/>
          <p:nvPr/>
        </p:nvSpPr>
        <p:spPr>
          <a:xfrm>
            <a:off x="3289831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Proc 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5410200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Proc  3</a:t>
            </a:r>
            <a:endParaRPr lang="en-US" b="1" dirty="0">
              <a:solidFill>
                <a:srgbClr val="92D050"/>
              </a:solidFill>
            </a:endParaRPr>
          </a:p>
        </p:txBody>
      </p:sp>
      <p:sp>
        <p:nvSpPr>
          <p:cNvPr id="554" name="TextBox 553"/>
          <p:cNvSpPr txBox="1"/>
          <p:nvPr/>
        </p:nvSpPr>
        <p:spPr>
          <a:xfrm>
            <a:off x="7404631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Proc  4</a:t>
            </a:r>
            <a:endParaRPr lang="en-US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pa1_gener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76664" y="2514600"/>
            <a:ext cx="4052936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914400" y="1686580"/>
            <a:ext cx="7467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</a:rPr>
              <a:t>Same idea works for general sparse matrices</a:t>
            </a:r>
            <a:endParaRPr lang="en-US" sz="28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33400" y="3048000"/>
            <a:ext cx="32519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Simple block-row partitioning </a:t>
            </a:r>
            <a:r>
              <a:rPr lang="en-US" dirty="0" smtClean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dirty="0">
                <a:sym typeface="Wingdings"/>
              </a:rPr>
              <a:t> </a:t>
            </a:r>
            <a:endParaRPr lang="en-US" dirty="0" smtClean="0">
              <a:sym typeface="Wingdings"/>
            </a:endParaRPr>
          </a:p>
          <a:p>
            <a:r>
              <a:rPr lang="en-US" dirty="0">
                <a:sym typeface="Wingdings"/>
              </a:rPr>
              <a:t> </a:t>
            </a:r>
            <a:r>
              <a:rPr lang="en-US" dirty="0" smtClean="0">
                <a:sym typeface="Wingdings"/>
              </a:rPr>
              <a:t>   (hyper)graph partitioning</a:t>
            </a:r>
          </a:p>
          <a:p>
            <a:endParaRPr lang="en-US" dirty="0">
              <a:sym typeface="Wingdings"/>
            </a:endParaRPr>
          </a:p>
          <a:p>
            <a:r>
              <a:rPr lang="en-US" dirty="0" smtClean="0">
                <a:sym typeface="Wingdings"/>
              </a:rPr>
              <a:t>Top-to-bottom processing </a:t>
            </a:r>
            <a:r>
              <a:rPr lang="en-US" dirty="0" smtClean="0">
                <a:latin typeface="Wingdings"/>
                <a:ea typeface="Wingdings"/>
                <a:cs typeface="Wingdings"/>
                <a:sym typeface="Wingdings"/>
              </a:rPr>
              <a:t></a:t>
            </a:r>
          </a:p>
          <a:p>
            <a:r>
              <a:rPr lang="en-US" dirty="0">
                <a:latin typeface="Wingdings"/>
                <a:ea typeface="Wingdings"/>
                <a:cs typeface="Wingdings"/>
                <a:sym typeface="Wingdings"/>
              </a:rPr>
              <a:t> </a:t>
            </a:r>
            <a:r>
              <a:rPr lang="en-US" dirty="0" smtClean="0">
                <a:ea typeface="Wingdings"/>
                <a:cs typeface="Wingdings"/>
                <a:sym typeface="Wingdings"/>
              </a:rPr>
              <a:t>Traveling Salesman Problem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23825" y="152400"/>
            <a:ext cx="9099550" cy="42545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dirty="0" smtClean="0"/>
              <a:t>Minimizing Communication of GMRES to solve Ax=b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04850"/>
            <a:ext cx="8915400" cy="842963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dirty="0" smtClean="0"/>
              <a:t>GMRES: find x in span{</a:t>
            </a:r>
            <a:r>
              <a:rPr lang="en-US" sz="2800" dirty="0" err="1" smtClean="0"/>
              <a:t>b,Ab</a:t>
            </a:r>
            <a:r>
              <a:rPr lang="en-US" sz="2800" dirty="0" smtClean="0"/>
              <a:t>,…,</a:t>
            </a:r>
            <a:r>
              <a:rPr lang="en-US" sz="2800" dirty="0" err="1" smtClean="0"/>
              <a:t>A</a:t>
            </a:r>
            <a:r>
              <a:rPr lang="en-US" sz="2800" baseline="30000" dirty="0" err="1" smtClean="0"/>
              <a:t>k</a:t>
            </a:r>
            <a:r>
              <a:rPr lang="en-US" sz="2800" dirty="0" err="1" smtClean="0"/>
              <a:t>b</a:t>
            </a:r>
            <a:r>
              <a:rPr lang="en-US" sz="2800" dirty="0" smtClean="0"/>
              <a:t>} minimizing || Ax-b ||</a:t>
            </a:r>
            <a:r>
              <a:rPr lang="en-US" sz="2800" baseline="-25000" dirty="0" smtClean="0"/>
              <a:t>2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746125" y="1631950"/>
            <a:ext cx="3523785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Calibri" pitchFamily="34" charset="0"/>
              </a:rPr>
              <a:t>Standard GMRES</a:t>
            </a:r>
          </a:p>
          <a:p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  for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</a:rPr>
              <a:t>i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=1 to </a:t>
            </a:r>
            <a:r>
              <a:rPr lang="en-US" sz="2400" dirty="0" smtClean="0">
                <a:latin typeface="Calibri" pitchFamily="34" charset="0"/>
              </a:rPr>
              <a:t>k</a:t>
            </a:r>
            <a:endParaRPr lang="en-US" sz="2400" dirty="0">
              <a:solidFill>
                <a:schemeClr val="tx1"/>
              </a:solidFill>
              <a:latin typeface="Calibri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     w = A · v(i-1</a:t>
            </a:r>
            <a:r>
              <a:rPr lang="en-US" sz="2400" dirty="0" smtClean="0">
                <a:solidFill>
                  <a:schemeClr val="tx1"/>
                </a:solidFill>
                <a:latin typeface="Calibri" pitchFamily="34" charset="0"/>
              </a:rPr>
              <a:t>)   </a:t>
            </a:r>
            <a:r>
              <a:rPr lang="en-US" sz="2400" i="1" dirty="0" smtClean="0">
                <a:solidFill>
                  <a:schemeClr val="tx1"/>
                </a:solidFill>
                <a:latin typeface="Calibri" pitchFamily="34" charset="0"/>
              </a:rPr>
              <a:t>… </a:t>
            </a:r>
            <a:r>
              <a:rPr lang="en-US" sz="2400" i="1" dirty="0" err="1" smtClean="0">
                <a:solidFill>
                  <a:schemeClr val="tx1"/>
                </a:solidFill>
                <a:latin typeface="Calibri" pitchFamily="34" charset="0"/>
              </a:rPr>
              <a:t>SpMV</a:t>
            </a:r>
            <a:endParaRPr lang="en-US" sz="2400" i="1" dirty="0">
              <a:solidFill>
                <a:schemeClr val="tx1"/>
              </a:solidFill>
              <a:latin typeface="Calibri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     MGS(w, v(0),…,v(i-1))</a:t>
            </a:r>
          </a:p>
          <a:p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     update v(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</a:rPr>
              <a:t>i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), H</a:t>
            </a:r>
          </a:p>
          <a:p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</a:rPr>
              <a:t>endfor</a:t>
            </a:r>
            <a:endParaRPr lang="en-US" sz="2400" dirty="0">
              <a:solidFill>
                <a:schemeClr val="tx1"/>
              </a:solidFill>
              <a:latin typeface="Calibri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  solve LSQ problem with H</a:t>
            </a:r>
          </a:p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572000" y="1631951"/>
            <a:ext cx="45720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Calibri" pitchFamily="34" charset="0"/>
              </a:rPr>
              <a:t>Communication-avoiding GMRES</a:t>
            </a:r>
          </a:p>
          <a:p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   W = [ v, Av, A</a:t>
            </a:r>
            <a:r>
              <a:rPr lang="en-US" sz="2400" baseline="30000" dirty="0">
                <a:solidFill>
                  <a:schemeClr val="tx1"/>
                </a:solidFill>
                <a:latin typeface="Calibri" pitchFamily="34" charset="0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v, … , </a:t>
            </a:r>
            <a:r>
              <a:rPr lang="en-US" sz="2400" dirty="0" err="1" smtClean="0">
                <a:solidFill>
                  <a:schemeClr val="tx1"/>
                </a:solidFill>
                <a:latin typeface="Calibri" pitchFamily="34" charset="0"/>
              </a:rPr>
              <a:t>A</a:t>
            </a:r>
            <a:r>
              <a:rPr lang="en-US" sz="3600" baseline="30000" dirty="0" err="1" smtClean="0">
                <a:solidFill>
                  <a:schemeClr val="tx1"/>
                </a:solidFill>
                <a:latin typeface="Calibri" pitchFamily="34" charset="0"/>
              </a:rPr>
              <a:t>k</a:t>
            </a:r>
            <a:r>
              <a:rPr lang="en-US" sz="2400" dirty="0" err="1" smtClean="0">
                <a:solidFill>
                  <a:schemeClr val="tx1"/>
                </a:solidFill>
                <a:latin typeface="Calibri" pitchFamily="34" charset="0"/>
              </a:rPr>
              <a:t>v</a:t>
            </a:r>
            <a:r>
              <a:rPr lang="en-US" sz="2400" dirty="0" smtClean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]</a:t>
            </a:r>
          </a:p>
          <a:p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   [Q,R] = TSQR(W)  </a:t>
            </a:r>
            <a:endParaRPr lang="en-US" sz="2400" dirty="0" smtClean="0">
              <a:solidFill>
                <a:schemeClr val="tx1"/>
              </a:solidFill>
              <a:latin typeface="Calibri" pitchFamily="34" charset="0"/>
            </a:endParaRPr>
          </a:p>
          <a:p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smtClean="0">
                <a:latin typeface="Calibri" pitchFamily="34" charset="0"/>
              </a:rPr>
              <a:t>         </a:t>
            </a:r>
            <a:r>
              <a:rPr lang="en-US" sz="2400" i="1" dirty="0" smtClean="0">
                <a:solidFill>
                  <a:schemeClr val="tx1"/>
                </a:solidFill>
                <a:latin typeface="Calibri" pitchFamily="34" charset="0"/>
              </a:rPr>
              <a:t>…  </a:t>
            </a:r>
            <a:r>
              <a:rPr lang="en-US" sz="2400" i="1" dirty="0">
                <a:solidFill>
                  <a:schemeClr val="tx1"/>
                </a:solidFill>
                <a:latin typeface="Calibri" pitchFamily="34" charset="0"/>
              </a:rPr>
              <a:t>“Tall Skinny QR”</a:t>
            </a:r>
          </a:p>
          <a:p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   </a:t>
            </a:r>
            <a:r>
              <a:rPr lang="en-US" sz="2400" dirty="0" smtClean="0">
                <a:solidFill>
                  <a:schemeClr val="tx1"/>
                </a:solidFill>
                <a:latin typeface="Calibri" pitchFamily="34" charset="0"/>
              </a:rPr>
              <a:t>build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H from </a:t>
            </a:r>
            <a:r>
              <a:rPr lang="en-US" sz="2400" dirty="0" smtClean="0">
                <a:solidFill>
                  <a:schemeClr val="tx1"/>
                </a:solidFill>
                <a:latin typeface="Calibri" pitchFamily="34" charset="0"/>
              </a:rPr>
              <a:t>R </a:t>
            </a:r>
          </a:p>
          <a:p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smtClean="0">
                <a:latin typeface="Calibri" pitchFamily="34" charset="0"/>
              </a:rPr>
              <a:t>  </a:t>
            </a:r>
            <a:r>
              <a:rPr lang="en-US" sz="2400" dirty="0" smtClean="0">
                <a:solidFill>
                  <a:schemeClr val="tx1"/>
                </a:solidFill>
                <a:latin typeface="Calibri" pitchFamily="34" charset="0"/>
              </a:rPr>
              <a:t>solve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</a:rPr>
              <a:t>LSQ </a:t>
            </a:r>
            <a:r>
              <a:rPr lang="en-US" sz="2400" dirty="0" smtClean="0">
                <a:solidFill>
                  <a:schemeClr val="tx1"/>
                </a:solidFill>
                <a:latin typeface="Calibri" pitchFamily="34" charset="0"/>
              </a:rPr>
              <a:t>problem with H</a:t>
            </a:r>
            <a:endParaRPr lang="en-US" sz="2400" dirty="0">
              <a:solidFill>
                <a:schemeClr val="tx1"/>
              </a:solidFill>
              <a:latin typeface="Calibri" pitchFamily="34" charset="0"/>
            </a:endParaRPr>
          </a:p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57200" y="6089650"/>
            <a:ext cx="71675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sz="2800">
                <a:solidFill>
                  <a:srgbClr val="C00000"/>
                </a:solidFill>
                <a:latin typeface="Calibri" pitchFamily="34" charset="0"/>
              </a:rPr>
              <a:t>Oops – W from power method, precision lost!</a:t>
            </a:r>
            <a:endParaRPr lang="en-US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54279" name="Slide Number Placeholder 6"/>
          <p:cNvSpPr txBox="1">
            <a:spLocks/>
          </p:cNvSpPr>
          <p:nvPr/>
        </p:nvSpPr>
        <p:spPr bwMode="auto">
          <a:xfrm>
            <a:off x="7158038" y="64087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F97F013-77D3-4E4C-847E-5A357542A521}" type="slidenum">
              <a:rPr lang="en-US" sz="1400" b="0">
                <a:solidFill>
                  <a:schemeClr val="tx1"/>
                </a:solidFill>
              </a:rPr>
              <a:pPr algn="r"/>
              <a:t>88</a:t>
            </a:fld>
            <a:endParaRPr lang="en-US" b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1000" y="609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90600" y="4800600"/>
            <a:ext cx="73570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Sequential case: #words moved decreases by a factor of k</a:t>
            </a:r>
          </a:p>
          <a:p>
            <a:r>
              <a:rPr lang="en-US" sz="2400" dirty="0" smtClean="0"/>
              <a:t>Parallel case: #messages decreases by a factor of k</a:t>
            </a:r>
            <a:endParaRPr lang="en-US" sz="2400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9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9850"/>
            <a:ext cx="8229600" cy="671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7" name="Text Box 8"/>
          <p:cNvSpPr txBox="1">
            <a:spLocks noChangeArrowheads="1"/>
          </p:cNvSpPr>
          <p:nvPr/>
        </p:nvSpPr>
        <p:spPr bwMode="auto">
          <a:xfrm>
            <a:off x="1817688" y="688975"/>
            <a:ext cx="35242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 dirty="0">
                <a:solidFill>
                  <a:srgbClr val="0824F2"/>
                </a:solidFill>
                <a:latin typeface="Calibri" pitchFamily="34" charset="0"/>
              </a:rPr>
              <a:t>“Monomial” basis [Ax,…,</a:t>
            </a:r>
            <a:r>
              <a:rPr lang="en-US" sz="2000" b="1" dirty="0" err="1" smtClean="0">
                <a:solidFill>
                  <a:srgbClr val="0824F2"/>
                </a:solidFill>
                <a:latin typeface="Calibri" pitchFamily="34" charset="0"/>
              </a:rPr>
              <a:t>A</a:t>
            </a:r>
            <a:r>
              <a:rPr lang="en-US" sz="2000" b="1" baseline="30000" dirty="0" err="1" smtClean="0">
                <a:solidFill>
                  <a:srgbClr val="0824F2"/>
                </a:solidFill>
                <a:latin typeface="Calibri" pitchFamily="34" charset="0"/>
              </a:rPr>
              <a:t>k</a:t>
            </a:r>
            <a:r>
              <a:rPr lang="en-US" sz="2000" b="1" dirty="0" err="1" smtClean="0">
                <a:solidFill>
                  <a:srgbClr val="0824F2"/>
                </a:solidFill>
                <a:latin typeface="Calibri" pitchFamily="34" charset="0"/>
              </a:rPr>
              <a:t>x</a:t>
            </a:r>
            <a:r>
              <a:rPr lang="en-US" sz="2000" b="1" dirty="0">
                <a:solidFill>
                  <a:srgbClr val="0824F2"/>
                </a:solidFill>
                <a:latin typeface="Calibri" pitchFamily="34" charset="0"/>
              </a:rPr>
              <a:t>]  </a:t>
            </a:r>
          </a:p>
          <a:p>
            <a:pPr algn="ctr"/>
            <a:r>
              <a:rPr lang="en-US" sz="2000" b="1" dirty="0">
                <a:solidFill>
                  <a:srgbClr val="0824F2"/>
                </a:solidFill>
                <a:latin typeface="Calibri" pitchFamily="34" charset="0"/>
              </a:rPr>
              <a:t>fails to converge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3170238" y="4202113"/>
            <a:ext cx="505936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000" b="1" dirty="0" smtClean="0">
                <a:solidFill>
                  <a:srgbClr val="00B050"/>
                </a:solidFill>
                <a:latin typeface="Calibri" pitchFamily="34" charset="0"/>
              </a:rPr>
              <a:t>Different </a:t>
            </a:r>
            <a:r>
              <a:rPr lang="en-US" sz="2000" b="1" dirty="0">
                <a:solidFill>
                  <a:srgbClr val="00B050"/>
                </a:solidFill>
                <a:latin typeface="Calibri" pitchFamily="34" charset="0"/>
              </a:rPr>
              <a:t>polynomial basis </a:t>
            </a:r>
            <a:r>
              <a:rPr lang="en-US" sz="2000" b="1" dirty="0" smtClean="0">
                <a:solidFill>
                  <a:srgbClr val="00B050"/>
                </a:solidFill>
                <a:latin typeface="Calibri" pitchFamily="34" charset="0"/>
              </a:rPr>
              <a:t> [p</a:t>
            </a:r>
            <a:r>
              <a:rPr lang="en-US" sz="2000" b="1" baseline="-25000" dirty="0" smtClean="0">
                <a:solidFill>
                  <a:srgbClr val="00B050"/>
                </a:solidFill>
                <a:latin typeface="Calibri" pitchFamily="34" charset="0"/>
              </a:rPr>
              <a:t>1</a:t>
            </a:r>
            <a:r>
              <a:rPr lang="en-US" sz="2000" b="1" dirty="0" smtClean="0">
                <a:solidFill>
                  <a:srgbClr val="00B050"/>
                </a:solidFill>
                <a:latin typeface="Calibri" pitchFamily="34" charset="0"/>
              </a:rPr>
              <a:t>(A)x,…,</a:t>
            </a:r>
            <a:r>
              <a:rPr lang="en-US" sz="2000" b="1" dirty="0" err="1" smtClean="0">
                <a:solidFill>
                  <a:srgbClr val="00B050"/>
                </a:solidFill>
                <a:latin typeface="Calibri" pitchFamily="34" charset="0"/>
              </a:rPr>
              <a:t>p</a:t>
            </a:r>
            <a:r>
              <a:rPr lang="en-US" sz="2000" b="1" baseline="-25000" dirty="0" err="1" smtClean="0">
                <a:solidFill>
                  <a:srgbClr val="00B050"/>
                </a:solidFill>
                <a:latin typeface="Calibri" pitchFamily="34" charset="0"/>
              </a:rPr>
              <a:t>k</a:t>
            </a:r>
            <a:r>
              <a:rPr lang="en-US" sz="2000" b="1" dirty="0" smtClean="0">
                <a:solidFill>
                  <a:srgbClr val="00B050"/>
                </a:solidFill>
                <a:latin typeface="Calibri" pitchFamily="34" charset="0"/>
              </a:rPr>
              <a:t>(A)x]</a:t>
            </a:r>
          </a:p>
          <a:p>
            <a:r>
              <a:rPr lang="en-US" sz="2000" b="1" dirty="0" smtClean="0">
                <a:solidFill>
                  <a:srgbClr val="00B050"/>
                </a:solidFill>
                <a:latin typeface="Calibri" pitchFamily="34" charset="0"/>
              </a:rPr>
              <a:t> does </a:t>
            </a:r>
            <a:r>
              <a:rPr lang="en-US" sz="2000" b="1" dirty="0">
                <a:solidFill>
                  <a:srgbClr val="00B050"/>
                </a:solidFill>
                <a:latin typeface="Calibri" pitchFamily="34" charset="0"/>
              </a:rPr>
              <a:t>converge</a:t>
            </a:r>
          </a:p>
        </p:txBody>
      </p:sp>
      <p:cxnSp>
        <p:nvCxnSpPr>
          <p:cNvPr id="6" name="Straight Arrow Connector 5"/>
          <p:cNvCxnSpPr>
            <a:cxnSpLocks noChangeShapeType="1"/>
            <a:stCxn id="4" idx="1"/>
          </p:cNvCxnSpPr>
          <p:nvPr/>
        </p:nvCxnSpPr>
        <p:spPr bwMode="auto">
          <a:xfrm rot="10800000" flipV="1">
            <a:off x="2857500" y="4556056"/>
            <a:ext cx="312738" cy="46112"/>
          </a:xfrm>
          <a:prstGeom prst="straightConnector1">
            <a:avLst/>
          </a:prstGeom>
          <a:noFill/>
          <a:ln w="12700" algn="ctr">
            <a:solidFill>
              <a:srgbClr val="00B050"/>
            </a:solidFill>
            <a:round/>
            <a:headEnd type="none" w="sm" len="sm"/>
            <a:tailEnd type="arrow" w="med" len="med"/>
          </a:ln>
        </p:spPr>
      </p:cxnSp>
      <p:sp>
        <p:nvSpPr>
          <p:cNvPr id="57350" name="Slide Number Placeholder 3"/>
          <p:cNvSpPr txBox="1">
            <a:spLocks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D58C2980-F3AF-4B1F-A118-43C63B2529AC}" type="slidenum">
              <a:rPr lang="en-US" sz="1400" b="0">
                <a:solidFill>
                  <a:schemeClr val="tx1"/>
                </a:solidFill>
                <a:ea typeface="MS PGothic" pitchFamily="34" charset="-128"/>
              </a:rPr>
              <a:pPr algn="r"/>
              <a:t>89</a:t>
            </a:fld>
            <a:endParaRPr lang="en-US" sz="1400" b="0">
              <a:solidFill>
                <a:schemeClr val="tx1"/>
              </a:solidFill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  <p:bldP spid="4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3"/>
          <p:cNvSpPr>
            <a:spLocks noGrp="1"/>
          </p:cNvSpPr>
          <p:nvPr>
            <p:ph type="title"/>
          </p:nvPr>
        </p:nvSpPr>
        <p:spPr>
          <a:xfrm>
            <a:off x="473075" y="296863"/>
            <a:ext cx="8413750" cy="801687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Speed ups of GMRES on 8-core Intel </a:t>
            </a:r>
            <a:r>
              <a:rPr lang="en-US" sz="3200" dirty="0" err="1" smtClean="0"/>
              <a:t>Clovertown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 smtClean="0"/>
          </a:p>
        </p:txBody>
      </p:sp>
      <p:pic>
        <p:nvPicPr>
          <p:cNvPr id="58371" name="Picture 4" descr="bar_r60_p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422400"/>
            <a:ext cx="7543800" cy="535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2" name="TextBox 3"/>
          <p:cNvSpPr txBox="1">
            <a:spLocks noChangeArrowheads="1"/>
          </p:cNvSpPr>
          <p:nvPr/>
        </p:nvSpPr>
        <p:spPr bwMode="auto">
          <a:xfrm>
            <a:off x="3835400" y="1060450"/>
            <a:ext cx="1397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[MHDY09]</a:t>
            </a:r>
          </a:p>
        </p:txBody>
      </p:sp>
      <p:sp>
        <p:nvSpPr>
          <p:cNvPr id="58373" name="Slide Number Placeholder 6"/>
          <p:cNvSpPr txBox="1">
            <a:spLocks/>
          </p:cNvSpPr>
          <p:nvPr/>
        </p:nvSpPr>
        <p:spPr bwMode="auto">
          <a:xfrm>
            <a:off x="7158038" y="64087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A0CED5E-3E17-48CE-8D11-444C9ABDC9B6}" type="slidenum">
              <a:rPr lang="en-US" sz="1400" b="0">
                <a:solidFill>
                  <a:schemeClr val="tx1"/>
                </a:solidFill>
              </a:rPr>
              <a:pPr algn="r"/>
              <a:t>90</a:t>
            </a:fld>
            <a:endParaRPr lang="en-US" b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9800" y="609600"/>
            <a:ext cx="46818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Requires Co-tuning Kernels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799"/>
            <a:ext cx="3886200" cy="35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7E78C-0198-421F-ACEA-FE03F05AF8BD}" type="slidenum">
              <a:rPr lang="en-US" smtClean="0"/>
              <a:pPr/>
              <a:t>91</a:t>
            </a:fld>
            <a:endParaRPr lang="en-US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48665" y="1600200"/>
            <a:ext cx="489166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62400" y="6238335"/>
            <a:ext cx="533400" cy="195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4800600" y="457200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CA-</a:t>
            </a:r>
            <a:r>
              <a:rPr lang="en-US" sz="3600" dirty="0" err="1" smtClean="0"/>
              <a:t>BiCGStab</a:t>
            </a:r>
            <a:endParaRPr lang="en-US" sz="3600" dirty="0"/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" y="4343400"/>
            <a:ext cx="3205257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304800" y="4267200"/>
            <a:ext cx="3048000" cy="2362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567906" y="1524000"/>
            <a:ext cx="3505200" cy="114300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1219200" y="4953000"/>
            <a:ext cx="1447800" cy="2286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219200" y="5334000"/>
            <a:ext cx="1524000" cy="2286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219200" y="5926347"/>
            <a:ext cx="609600" cy="304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533400" y="838200"/>
            <a:ext cx="2438400" cy="6858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828800" y="4953000"/>
            <a:ext cx="381000" cy="2286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1219200" y="5334000"/>
            <a:ext cx="381000" cy="2286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hape 24"/>
          <p:cNvCxnSpPr>
            <a:stCxn id="17" idx="1"/>
            <a:endCxn id="18" idx="0"/>
          </p:cNvCxnSpPr>
          <p:nvPr/>
        </p:nvCxnSpPr>
        <p:spPr>
          <a:xfrm rot="10800000" flipH="1" flipV="1">
            <a:off x="533400" y="1181100"/>
            <a:ext cx="1485900" cy="3771900"/>
          </a:xfrm>
          <a:prstGeom prst="curvedConnector4">
            <a:avLst>
              <a:gd name="adj1" fmla="val -15385"/>
              <a:gd name="adj2" fmla="val 54545"/>
            </a:avLst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>
            <a:endCxn id="19" idx="1"/>
          </p:cNvCxnSpPr>
          <p:nvPr/>
        </p:nvCxnSpPr>
        <p:spPr>
          <a:xfrm rot="16200000" flipH="1">
            <a:off x="-247650" y="3981450"/>
            <a:ext cx="2400300" cy="533400"/>
          </a:xfrm>
          <a:prstGeom prst="curvedConnector2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hape 29"/>
          <p:cNvCxnSpPr>
            <a:endCxn id="14" idx="3"/>
          </p:cNvCxnSpPr>
          <p:nvPr/>
        </p:nvCxnSpPr>
        <p:spPr>
          <a:xfrm rot="5400000">
            <a:off x="2114550" y="3143250"/>
            <a:ext cx="2476500" cy="1371600"/>
          </a:xfrm>
          <a:prstGeom prst="curvedConnector2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hape 31"/>
          <p:cNvCxnSpPr>
            <a:endCxn id="15" idx="3"/>
          </p:cNvCxnSpPr>
          <p:nvPr/>
        </p:nvCxnSpPr>
        <p:spPr>
          <a:xfrm rot="5400000">
            <a:off x="2495550" y="4133850"/>
            <a:ext cx="1562100" cy="1066800"/>
          </a:xfrm>
          <a:prstGeom prst="curvedConnector2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hape 33"/>
          <p:cNvCxnSpPr>
            <a:endCxn id="16" idx="3"/>
          </p:cNvCxnSpPr>
          <p:nvPr/>
        </p:nvCxnSpPr>
        <p:spPr>
          <a:xfrm rot="5400000">
            <a:off x="1723127" y="3991873"/>
            <a:ext cx="2192547" cy="1981200"/>
          </a:xfrm>
          <a:prstGeom prst="curvedConnector2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erin\Desktop\legend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057400"/>
            <a:ext cx="1890583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:\Users\erin\Desktop\cabicgstab_s32norest.t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00"/>
            <a:ext cx="7854696" cy="56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erin\Desktop\legend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248" y="2057400"/>
            <a:ext cx="1890583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057400" y="2895600"/>
            <a:ext cx="1752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057400" y="3810000"/>
            <a:ext cx="1447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682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erin\Desktop\cabicgstab_s32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095"/>
            <a:ext cx="7856538" cy="566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erin\Desktop\legend.t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057400"/>
            <a:ext cx="1890583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501348"/>
              </p:ext>
            </p:extLst>
          </p:nvPr>
        </p:nvGraphicFramePr>
        <p:xfrm>
          <a:off x="685800" y="5802052"/>
          <a:ext cx="8106295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259"/>
                <a:gridCol w="1621259"/>
                <a:gridCol w="1621259"/>
                <a:gridCol w="1621259"/>
                <a:gridCol w="162125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Naive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Monomial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Newton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Chebyshev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Replacement</a:t>
                      </a:r>
                      <a:r>
                        <a:rPr lang="en-US" sz="1600" b="0" baseline="0" dirty="0" smtClean="0"/>
                        <a:t> Its.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74</a:t>
                      </a:r>
                      <a:r>
                        <a:rPr lang="en-US" sz="1600" b="1" dirty="0" smtClean="0"/>
                        <a:t> (1)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[7, 15, 24, 31, …, 92, 97, 103] </a:t>
                      </a:r>
                      <a:r>
                        <a:rPr lang="en-US" sz="1600" b="1" dirty="0" smtClean="0"/>
                        <a:t>(17)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[67,</a:t>
                      </a:r>
                      <a:r>
                        <a:rPr lang="en-US" sz="1600" b="0" baseline="0" dirty="0" smtClean="0"/>
                        <a:t> 98] </a:t>
                      </a:r>
                      <a:r>
                        <a:rPr lang="en-US" sz="1600" b="1" baseline="0" dirty="0" smtClean="0"/>
                        <a:t>(2)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68</a:t>
                      </a:r>
                      <a:r>
                        <a:rPr lang="en-US" sz="1600" b="1" baseline="0" dirty="0" smtClean="0"/>
                        <a:t> (1)</a:t>
                      </a:r>
                      <a:endParaRPr lang="en-US" sz="16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657600" y="533400"/>
            <a:ext cx="42233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With Residual Replacement (RR) </a:t>
            </a:r>
          </a:p>
          <a:p>
            <a:r>
              <a:rPr lang="en-US" sz="2400" dirty="0" smtClean="0"/>
              <a:t>a la Van der Vorst and Ye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143245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Tuning space for </a:t>
            </a:r>
            <a:r>
              <a:rPr lang="en-US" dirty="0" err="1" smtClean="0"/>
              <a:t>Krylov</a:t>
            </a:r>
            <a:r>
              <a:rPr lang="en-US" dirty="0" smtClean="0"/>
              <a:t> Methods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2747665"/>
          <a:ext cx="6477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950"/>
                <a:gridCol w="2143125"/>
                <a:gridCol w="2447925"/>
              </a:tblGrid>
              <a:tr h="370840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Explicit   (O(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nnz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))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Implicit    (o(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nnz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))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Explicit    (O(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nnz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))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CSR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and variations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Vision, climate,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AMR,…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Implicit   (o(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nnz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))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Graph 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Laplacian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Stencils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059668"/>
            <a:ext cx="1309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Nonzero </a:t>
            </a:r>
          </a:p>
          <a:p>
            <a:r>
              <a:rPr lang="en-US" sz="2400" dirty="0" smtClean="0"/>
              <a:t>entries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493294" y="2286000"/>
            <a:ext cx="10599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Indices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04800" y="1371600"/>
            <a:ext cx="8589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 Classifications of sparse operators for avoiding communication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 Explicit indices or nonzero entries  cause  most communication,  along with vectors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 Ex: With stencils (all implicit) all communication for vectors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4105870"/>
            <a:ext cx="804111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 Operations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 [x, Ax, A</a:t>
            </a:r>
            <a:r>
              <a:rPr lang="en-US" baseline="30000" dirty="0" smtClean="0"/>
              <a:t>2</a:t>
            </a:r>
            <a:r>
              <a:rPr lang="en-US" dirty="0" smtClean="0"/>
              <a:t>x,…, </a:t>
            </a:r>
            <a:r>
              <a:rPr lang="en-US" dirty="0" err="1" smtClean="0"/>
              <a:t>A</a:t>
            </a:r>
            <a:r>
              <a:rPr lang="en-US" baseline="30000" dirty="0" err="1" smtClean="0"/>
              <a:t>k</a:t>
            </a:r>
            <a:r>
              <a:rPr lang="en-US" dirty="0" err="1" smtClean="0"/>
              <a:t>x</a:t>
            </a:r>
            <a:r>
              <a:rPr lang="en-US" dirty="0" smtClean="0"/>
              <a:t> ]   or  [x, p</a:t>
            </a:r>
            <a:r>
              <a:rPr lang="en-US" baseline="-25000" dirty="0" smtClean="0"/>
              <a:t>1</a:t>
            </a:r>
            <a:r>
              <a:rPr lang="en-US" dirty="0" smtClean="0"/>
              <a:t>(A)x, p</a:t>
            </a:r>
            <a:r>
              <a:rPr lang="en-US" baseline="-25000" dirty="0" smtClean="0"/>
              <a:t>2</a:t>
            </a:r>
            <a:r>
              <a:rPr lang="en-US" dirty="0" smtClean="0"/>
              <a:t>(A)x, …, </a:t>
            </a:r>
            <a:r>
              <a:rPr lang="en-US" dirty="0" err="1" smtClean="0"/>
              <a:t>p</a:t>
            </a:r>
            <a:r>
              <a:rPr lang="en-US" baseline="-25000" dirty="0" err="1" smtClean="0"/>
              <a:t>k</a:t>
            </a:r>
            <a:r>
              <a:rPr lang="en-US" dirty="0" smtClean="0"/>
              <a:t>(A)x ]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 Number of columns in  x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 [x, Ax, A</a:t>
            </a:r>
            <a:r>
              <a:rPr lang="en-US" baseline="30000" dirty="0" smtClean="0"/>
              <a:t>2</a:t>
            </a:r>
            <a:r>
              <a:rPr lang="en-US" dirty="0" smtClean="0"/>
              <a:t>x,…, </a:t>
            </a:r>
            <a:r>
              <a:rPr lang="en-US" dirty="0" err="1" smtClean="0"/>
              <a:t>A</a:t>
            </a:r>
            <a:r>
              <a:rPr lang="en-US" baseline="30000" dirty="0" err="1" smtClean="0"/>
              <a:t>k</a:t>
            </a:r>
            <a:r>
              <a:rPr lang="en-US" dirty="0" err="1" smtClean="0"/>
              <a:t>x</a:t>
            </a:r>
            <a:r>
              <a:rPr lang="en-US" dirty="0" smtClean="0"/>
              <a:t> ]  and [y, </a:t>
            </a:r>
            <a:r>
              <a:rPr lang="en-US" dirty="0" err="1" smtClean="0"/>
              <a:t>A</a:t>
            </a:r>
            <a:r>
              <a:rPr lang="en-US" baseline="30000" dirty="0" err="1" smtClean="0"/>
              <a:t>T</a:t>
            </a:r>
            <a:r>
              <a:rPr lang="en-US" dirty="0" err="1" smtClean="0"/>
              <a:t>y</a:t>
            </a:r>
            <a:r>
              <a:rPr lang="en-US" dirty="0" smtClean="0"/>
              <a:t>, (A</a:t>
            </a:r>
            <a:r>
              <a:rPr lang="en-US" baseline="30000" dirty="0" smtClean="0"/>
              <a:t>T</a:t>
            </a:r>
            <a:r>
              <a:rPr lang="en-US" dirty="0" smtClean="0"/>
              <a:t>)</a:t>
            </a:r>
            <a:r>
              <a:rPr lang="en-US" baseline="30000" dirty="0" smtClean="0"/>
              <a:t>2</a:t>
            </a:r>
            <a:r>
              <a:rPr lang="en-US" dirty="0" smtClean="0"/>
              <a:t>y,…, (A</a:t>
            </a:r>
            <a:r>
              <a:rPr lang="en-US" baseline="30000" dirty="0" smtClean="0"/>
              <a:t>T</a:t>
            </a:r>
            <a:r>
              <a:rPr lang="en-US" dirty="0" smtClean="0"/>
              <a:t>)</a:t>
            </a:r>
            <a:r>
              <a:rPr lang="en-US" baseline="30000" dirty="0" err="1" smtClean="0"/>
              <a:t>k</a:t>
            </a:r>
            <a:r>
              <a:rPr lang="en-US" dirty="0" err="1" smtClean="0"/>
              <a:t>y</a:t>
            </a:r>
            <a:r>
              <a:rPr lang="en-US" dirty="0" smtClean="0"/>
              <a:t> ], or [y, </a:t>
            </a:r>
            <a:r>
              <a:rPr lang="en-US" dirty="0" err="1" smtClean="0"/>
              <a:t>A</a:t>
            </a:r>
            <a:r>
              <a:rPr lang="en-US" baseline="30000" dirty="0" err="1" smtClean="0"/>
              <a:t>T</a:t>
            </a:r>
            <a:r>
              <a:rPr lang="en-US" dirty="0" err="1" smtClean="0"/>
              <a:t>Ay</a:t>
            </a:r>
            <a:r>
              <a:rPr lang="en-US" dirty="0" smtClean="0"/>
              <a:t>, (A</a:t>
            </a:r>
            <a:r>
              <a:rPr lang="en-US" baseline="30000" dirty="0" smtClean="0"/>
              <a:t>T</a:t>
            </a:r>
            <a:r>
              <a:rPr lang="en-US" dirty="0" smtClean="0"/>
              <a:t>A)</a:t>
            </a:r>
            <a:r>
              <a:rPr lang="en-US" baseline="30000" dirty="0" smtClean="0"/>
              <a:t>2</a:t>
            </a:r>
            <a:r>
              <a:rPr lang="en-US" dirty="0" smtClean="0"/>
              <a:t>y,…, (A</a:t>
            </a:r>
            <a:r>
              <a:rPr lang="en-US" baseline="30000" dirty="0" smtClean="0"/>
              <a:t>T</a:t>
            </a:r>
            <a:r>
              <a:rPr lang="en-US" dirty="0" smtClean="0"/>
              <a:t>A)</a:t>
            </a:r>
            <a:r>
              <a:rPr lang="en-US" baseline="30000" dirty="0" err="1" smtClean="0"/>
              <a:t>k</a:t>
            </a:r>
            <a:r>
              <a:rPr lang="en-US" dirty="0" err="1" smtClean="0"/>
              <a:t>y</a:t>
            </a:r>
            <a:r>
              <a:rPr lang="en-US" dirty="0" smtClean="0"/>
              <a:t> ],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 return all vectors or just last one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</a:t>
            </a:r>
            <a:r>
              <a:rPr lang="en-US" dirty="0" err="1" smtClean="0"/>
              <a:t>Cotuning</a:t>
            </a:r>
            <a:r>
              <a:rPr lang="en-US" dirty="0" smtClean="0"/>
              <a:t> and/or interleaving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 W = [x, Ax, A</a:t>
            </a:r>
            <a:r>
              <a:rPr lang="en-US" baseline="30000" dirty="0" smtClean="0"/>
              <a:t>2</a:t>
            </a:r>
            <a:r>
              <a:rPr lang="en-US" dirty="0" smtClean="0"/>
              <a:t>x,…, </a:t>
            </a:r>
            <a:r>
              <a:rPr lang="en-US" dirty="0" err="1" smtClean="0"/>
              <a:t>A</a:t>
            </a:r>
            <a:r>
              <a:rPr lang="en-US" baseline="30000" dirty="0" err="1" smtClean="0"/>
              <a:t>k</a:t>
            </a:r>
            <a:r>
              <a:rPr lang="en-US" dirty="0" err="1" smtClean="0"/>
              <a:t>x</a:t>
            </a:r>
            <a:r>
              <a:rPr lang="en-US" dirty="0" smtClean="0"/>
              <a:t> ]  and  {TSQR(W) or W</a:t>
            </a:r>
            <a:r>
              <a:rPr lang="en-US" baseline="30000" dirty="0" smtClean="0"/>
              <a:t>T</a:t>
            </a:r>
            <a:r>
              <a:rPr lang="en-US" dirty="0" smtClean="0"/>
              <a:t>W or … }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 Ditto, but throw away W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Preconditioned versions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886200" y="3200400"/>
            <a:ext cx="2057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0" y="3581400"/>
            <a:ext cx="2057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0" y="3200400"/>
            <a:ext cx="2057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886200" y="3581400"/>
            <a:ext cx="2057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956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9" grpId="0" animBg="1"/>
      <p:bldP spid="10" grpId="0" animBg="1"/>
      <p:bldP spid="11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Summary of Iterative Linear Algebra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New Lower bounds, optimal algorithms,                  big speedups in theory and practice</a:t>
            </a:r>
          </a:p>
          <a:p>
            <a:r>
              <a:rPr lang="en-US" dirty="0" smtClean="0"/>
              <a:t>Lots of other progress, open problems</a:t>
            </a:r>
          </a:p>
          <a:p>
            <a:pPr lvl="1"/>
            <a:r>
              <a:rPr lang="en-US" dirty="0" smtClean="0"/>
              <a:t> Many different algorithms reorganized </a:t>
            </a:r>
          </a:p>
          <a:p>
            <a:pPr lvl="2"/>
            <a:r>
              <a:rPr lang="en-US" dirty="0" smtClean="0"/>
              <a:t>More underway, more to be done</a:t>
            </a:r>
          </a:p>
          <a:p>
            <a:pPr lvl="1"/>
            <a:r>
              <a:rPr lang="en-US" dirty="0" smtClean="0"/>
              <a:t>Need to recognize stable variants more easily</a:t>
            </a:r>
          </a:p>
          <a:p>
            <a:pPr lvl="1"/>
            <a:r>
              <a:rPr lang="en-US" dirty="0" smtClean="0"/>
              <a:t>Preconditioning  </a:t>
            </a:r>
          </a:p>
          <a:p>
            <a:pPr lvl="2"/>
            <a:r>
              <a:rPr lang="en-US" dirty="0" smtClean="0"/>
              <a:t>Hierarchically </a:t>
            </a:r>
            <a:r>
              <a:rPr lang="en-US" dirty="0" err="1" smtClean="0"/>
              <a:t>Semiseparable</a:t>
            </a:r>
            <a:r>
              <a:rPr lang="en-US" dirty="0" smtClean="0"/>
              <a:t> Matrices</a:t>
            </a:r>
          </a:p>
          <a:p>
            <a:pPr lvl="1"/>
            <a:r>
              <a:rPr lang="en-US" dirty="0" err="1" smtClean="0"/>
              <a:t>Autotuning</a:t>
            </a:r>
            <a:r>
              <a:rPr lang="en-US" dirty="0" smtClean="0"/>
              <a:t> and synthesis</a:t>
            </a:r>
          </a:p>
          <a:p>
            <a:pPr lvl="2"/>
            <a:r>
              <a:rPr lang="en-US" dirty="0" err="1"/>
              <a:t>pOSKI</a:t>
            </a:r>
            <a:r>
              <a:rPr lang="en-US" dirty="0"/>
              <a:t> for </a:t>
            </a:r>
            <a:r>
              <a:rPr lang="en-US" dirty="0" err="1"/>
              <a:t>SpMV</a:t>
            </a:r>
            <a:r>
              <a:rPr lang="en-US" dirty="0"/>
              <a:t> – available at </a:t>
            </a:r>
            <a:r>
              <a:rPr lang="en-US" dirty="0" err="1" smtClean="0"/>
              <a:t>bebop.cs.berkeley.edu</a:t>
            </a:r>
            <a:endParaRPr lang="en-US" dirty="0" smtClean="0"/>
          </a:p>
          <a:p>
            <a:pPr lvl="2"/>
            <a:r>
              <a:rPr lang="en-US" dirty="0" smtClean="0"/>
              <a:t>Different kinds of “sparse matrices”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2400" y="1371600"/>
            <a:ext cx="8991600" cy="5181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“Direct” Linear Algebra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Lower bounds on 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communication 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</a:rPr>
              <a:t>New a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lgorithms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that attain these lower bounds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Ditto for “Iterative” Linear Algebra 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dirty="0"/>
              <a:t>Ditto (work in progress) for programs accessing arrays </a:t>
            </a:r>
            <a:r>
              <a:rPr lang="en-US" sz="3200" dirty="0" smtClean="0"/>
              <a:t>(</a:t>
            </a:r>
            <a:r>
              <a:rPr lang="en-US" sz="3200" dirty="0" err="1" smtClean="0"/>
              <a:t>eg</a:t>
            </a:r>
            <a:r>
              <a:rPr lang="en-US" sz="3200" dirty="0" smtClean="0"/>
              <a:t> n-body)</a:t>
            </a:r>
            <a:endParaRPr lang="en-US" sz="32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1143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3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Recall optimal sequential </a:t>
            </a:r>
            <a:r>
              <a:rPr lang="en-US" dirty="0" err="1" smtClean="0"/>
              <a:t>Matmul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953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Na</a:t>
            </a:r>
            <a:r>
              <a:rPr lang="fr-FR" dirty="0" err="1" smtClean="0"/>
              <a:t>ï</a:t>
            </a:r>
            <a:r>
              <a:rPr lang="en-US" dirty="0" err="1" smtClean="0"/>
              <a:t>ve</a:t>
            </a:r>
            <a:r>
              <a:rPr lang="en-US" dirty="0" smtClean="0"/>
              <a:t> code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for </a:t>
            </a:r>
            <a:r>
              <a:rPr lang="en-US" dirty="0" err="1" smtClean="0"/>
              <a:t>i</a:t>
            </a:r>
            <a:r>
              <a:rPr lang="en-US" dirty="0" smtClean="0"/>
              <a:t>=1:n, for j=1:n, for k=1:n, C(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)+=A(</a:t>
            </a:r>
            <a:r>
              <a:rPr lang="en-US" dirty="0" err="1"/>
              <a:t>i</a:t>
            </a:r>
            <a:r>
              <a:rPr lang="en-US" dirty="0" err="1" smtClean="0"/>
              <a:t>,k</a:t>
            </a:r>
            <a:r>
              <a:rPr lang="en-US" dirty="0" smtClean="0"/>
              <a:t>)*B(</a:t>
            </a:r>
            <a:r>
              <a:rPr lang="en-US" dirty="0" err="1" smtClean="0"/>
              <a:t>k,j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“Blocked” code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for i1 = 1:b:n,  for j1 = 1:b:n,   for k1 = 1:b:n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for i2 = 0:b-1,  for j2 = 0:b-1,   for k2 = 0:b-1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 err="1" smtClean="0"/>
              <a:t>i</a:t>
            </a:r>
            <a:r>
              <a:rPr lang="en-US" dirty="0" smtClean="0"/>
              <a:t>=i1+i2,  j = j1+j2,  k = k1+k2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/>
              <a:t>C(</a:t>
            </a:r>
            <a:r>
              <a:rPr lang="en-US" dirty="0" err="1"/>
              <a:t>i,j</a:t>
            </a:r>
            <a:r>
              <a:rPr lang="en-US" dirty="0"/>
              <a:t>)+=A(</a:t>
            </a:r>
            <a:r>
              <a:rPr lang="en-US" dirty="0" err="1"/>
              <a:t>i,k</a:t>
            </a:r>
            <a:r>
              <a:rPr lang="en-US" dirty="0"/>
              <a:t>)*B(</a:t>
            </a:r>
            <a:r>
              <a:rPr lang="en-US" dirty="0" err="1"/>
              <a:t>k,j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err="1" smtClean="0"/>
              <a:t>Thm</a:t>
            </a:r>
            <a:r>
              <a:rPr lang="en-US" dirty="0" smtClean="0"/>
              <a:t>: Picking b = 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1/2 </a:t>
            </a:r>
            <a:r>
              <a:rPr lang="en-US" dirty="0" smtClean="0"/>
              <a:t>attains lower bound: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 smtClean="0"/>
              <a:t>Ω</a:t>
            </a:r>
            <a:r>
              <a:rPr lang="en-US" dirty="0" smtClean="0"/>
              <a:t>(n</a:t>
            </a:r>
            <a:r>
              <a:rPr lang="en-US" sz="3300" b="1" baseline="30000" dirty="0" smtClean="0"/>
              <a:t>3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)</a:t>
            </a:r>
          </a:p>
          <a:p>
            <a:r>
              <a:rPr lang="en-US" dirty="0" smtClean="0"/>
              <a:t>Where does </a:t>
            </a:r>
            <a:r>
              <a:rPr lang="en-US" b="1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 come from?</a:t>
            </a:r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7010400" y="3733800"/>
            <a:ext cx="228600" cy="1066800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391400" y="4038600"/>
            <a:ext cx="1752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  <a:r>
              <a:rPr lang="en-US" sz="2000" dirty="0" smtClean="0"/>
              <a:t> x b </a:t>
            </a:r>
            <a:r>
              <a:rPr lang="en-US" sz="2000" dirty="0" err="1" smtClean="0"/>
              <a:t>matmul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21238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 err="1" smtClean="0"/>
              <a:t>Thm</a:t>
            </a:r>
            <a:r>
              <a:rPr lang="en-US" dirty="0" smtClean="0"/>
              <a:t> applied to </a:t>
            </a:r>
            <a:r>
              <a:rPr lang="en-US" dirty="0" err="1" smtClean="0"/>
              <a:t>Matmul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35051"/>
            <a:ext cx="9220200" cy="5486400"/>
          </a:xfrm>
        </p:spPr>
        <p:txBody>
          <a:bodyPr>
            <a:normAutofit/>
          </a:bodyPr>
          <a:lstStyle/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=1:n, for j=1:n, for k=1:n, C(</a:t>
            </a:r>
            <a:r>
              <a:rPr lang="en-US" dirty="0" err="1"/>
              <a:t>i,j</a:t>
            </a:r>
            <a:r>
              <a:rPr lang="en-US" dirty="0" smtClean="0"/>
              <a:t>) += A</a:t>
            </a:r>
            <a:r>
              <a:rPr lang="en-US" dirty="0"/>
              <a:t>(</a:t>
            </a:r>
            <a:r>
              <a:rPr lang="en-US" dirty="0" err="1"/>
              <a:t>i,k</a:t>
            </a:r>
            <a:r>
              <a:rPr lang="en-US" dirty="0"/>
              <a:t>)*B(</a:t>
            </a:r>
            <a:r>
              <a:rPr lang="en-US" dirty="0" err="1"/>
              <a:t>k,j</a:t>
            </a:r>
            <a:r>
              <a:rPr lang="en-US" dirty="0" smtClean="0"/>
              <a:t>)</a:t>
            </a:r>
          </a:p>
          <a:p>
            <a:r>
              <a:rPr lang="en-US" dirty="0" smtClean="0"/>
              <a:t>Record array indices in matrix </a:t>
            </a:r>
            <a:r>
              <a:rPr lang="en-US" dirty="0" err="1" smtClean="0"/>
              <a:t>Δ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Solve LP for x = [</a:t>
            </a:r>
            <a:r>
              <a:rPr lang="en-US" dirty="0" err="1" smtClean="0"/>
              <a:t>xi,xj,xk</a:t>
            </a:r>
            <a:r>
              <a:rPr lang="en-US" dirty="0" smtClean="0"/>
              <a:t>]</a:t>
            </a:r>
            <a:r>
              <a:rPr lang="en-US" baseline="30000" dirty="0" smtClean="0"/>
              <a:t>T</a:t>
            </a:r>
            <a:r>
              <a:rPr lang="en-US" dirty="0" smtClean="0"/>
              <a:t>:  max </a:t>
            </a:r>
            <a:r>
              <a:rPr lang="en-US" b="1" dirty="0" smtClean="0"/>
              <a:t>1</a:t>
            </a:r>
            <a:r>
              <a:rPr lang="en-US" baseline="30000" dirty="0" smtClean="0"/>
              <a:t>T</a:t>
            </a:r>
            <a:r>
              <a:rPr lang="en-US" dirty="0" smtClean="0"/>
              <a:t>x   </a:t>
            </a:r>
            <a:r>
              <a:rPr lang="en-US" dirty="0" err="1" smtClean="0"/>
              <a:t>s.t.</a:t>
            </a:r>
            <a:r>
              <a:rPr lang="en-US" dirty="0" smtClean="0"/>
              <a:t>   </a:t>
            </a:r>
            <a:r>
              <a:rPr lang="en-US" dirty="0" err="1" smtClean="0"/>
              <a:t>Δ</a:t>
            </a:r>
            <a:r>
              <a:rPr lang="en-US" dirty="0" smtClean="0"/>
              <a:t> x ≤ </a:t>
            </a:r>
            <a:r>
              <a:rPr lang="en-US" b="1" dirty="0" smtClean="0"/>
              <a:t>1</a:t>
            </a:r>
          </a:p>
          <a:p>
            <a:pPr lvl="1"/>
            <a:r>
              <a:rPr lang="en-US" dirty="0" smtClean="0"/>
              <a:t>Result: x = [</a:t>
            </a:r>
            <a:r>
              <a:rPr lang="en-US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]</a:t>
            </a:r>
            <a:r>
              <a:rPr lang="en-US" sz="3200" baseline="30000" dirty="0" smtClean="0"/>
              <a:t>T</a:t>
            </a:r>
            <a:r>
              <a:rPr lang="en-US" dirty="0" smtClean="0"/>
              <a:t>, </a:t>
            </a:r>
            <a:r>
              <a:rPr lang="en-US" b="1" dirty="0" smtClean="0"/>
              <a:t>1</a:t>
            </a:r>
            <a:r>
              <a:rPr lang="en-US" sz="3200" baseline="30000" dirty="0" smtClean="0"/>
              <a:t>T</a:t>
            </a:r>
            <a:r>
              <a:rPr lang="en-US" dirty="0" smtClean="0"/>
              <a:t>x = </a:t>
            </a:r>
            <a:r>
              <a:rPr lang="en-US" dirty="0" smtClean="0">
                <a:solidFill>
                  <a:srgbClr val="0824F2"/>
                </a:solidFill>
              </a:rPr>
              <a:t>3/2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0824F2"/>
                </a:solidFill>
              </a:rPr>
              <a:t>s</a:t>
            </a:r>
            <a:endParaRPr lang="en-US" b="1" baseline="-25000" dirty="0" smtClean="0">
              <a:solidFill>
                <a:srgbClr val="0824F2"/>
              </a:solidFill>
            </a:endParaRPr>
          </a:p>
          <a:p>
            <a:r>
              <a:rPr lang="en-US" dirty="0" err="1" smtClean="0"/>
              <a:t>Thm</a:t>
            </a:r>
            <a:r>
              <a:rPr lang="en-US" dirty="0" smtClean="0"/>
              <a:t>: 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/>
              <a:t>Ω</a:t>
            </a:r>
            <a:r>
              <a:rPr lang="en-US" dirty="0"/>
              <a:t>(n</a:t>
            </a:r>
            <a:r>
              <a:rPr lang="en-US" sz="3300" b="1" baseline="30000" dirty="0"/>
              <a:t>3</a:t>
            </a:r>
            <a:r>
              <a:rPr lang="en-US" dirty="0"/>
              <a:t>/</a:t>
            </a:r>
            <a:r>
              <a:rPr lang="en-US" dirty="0" smtClean="0"/>
              <a:t>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S-1</a:t>
            </a:r>
            <a:r>
              <a:rPr lang="en-US" dirty="0" smtClean="0"/>
              <a:t>)= </a:t>
            </a:r>
            <a:r>
              <a:rPr lang="en-US" dirty="0" err="1"/>
              <a:t>Ω</a:t>
            </a:r>
            <a:r>
              <a:rPr lang="en-US" dirty="0"/>
              <a:t>(n</a:t>
            </a:r>
            <a:r>
              <a:rPr lang="en-US" sz="3300" b="1" baseline="30000" dirty="0"/>
              <a:t>3</a:t>
            </a:r>
            <a:r>
              <a:rPr lang="en-US" dirty="0"/>
              <a:t>/M</a:t>
            </a:r>
            <a:r>
              <a:rPr lang="en-US" sz="3500" b="1" baseline="30000" dirty="0">
                <a:solidFill>
                  <a:srgbClr val="0824F2"/>
                </a:solidFill>
              </a:rPr>
              <a:t>1/2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Attained by block sizes </a:t>
            </a:r>
            <a:r>
              <a:rPr lang="en-US" dirty="0" err="1" smtClean="0"/>
              <a:t>M</a:t>
            </a:r>
            <a:r>
              <a:rPr lang="en-US" b="1" baseline="30000" dirty="0" err="1" smtClean="0"/>
              <a:t>xi</a:t>
            </a:r>
            <a:r>
              <a:rPr lang="en-US" dirty="0" err="1" smtClean="0"/>
              <a:t>,M</a:t>
            </a:r>
            <a:r>
              <a:rPr lang="en-US" b="1" baseline="30000" dirty="0" err="1" smtClean="0"/>
              <a:t>xj</a:t>
            </a:r>
            <a:r>
              <a:rPr lang="en-US" dirty="0" err="1" smtClean="0"/>
              <a:t>,M</a:t>
            </a:r>
            <a:r>
              <a:rPr lang="en-US" b="1" baseline="30000" dirty="0" err="1" smtClean="0"/>
              <a:t>xk</a:t>
            </a:r>
            <a:r>
              <a:rPr lang="en-US" dirty="0" smtClean="0"/>
              <a:t> = M</a:t>
            </a:r>
            <a:r>
              <a:rPr lang="en-US" b="1" baseline="30000" dirty="0" smtClean="0">
                <a:solidFill>
                  <a:srgbClr val="061BBA"/>
                </a:solidFill>
              </a:rPr>
              <a:t>1/2</a:t>
            </a:r>
            <a:r>
              <a:rPr lang="en-US" dirty="0" smtClean="0"/>
              <a:t>,M</a:t>
            </a:r>
            <a:r>
              <a:rPr lang="en-US" b="1" baseline="30000" dirty="0" smtClean="0">
                <a:solidFill>
                  <a:srgbClr val="061BBA"/>
                </a:solidFill>
              </a:rPr>
              <a:t>1/2</a:t>
            </a:r>
            <a:r>
              <a:rPr lang="en-US" dirty="0" smtClean="0"/>
              <a:t>,M</a:t>
            </a:r>
            <a:r>
              <a:rPr lang="en-US" b="1" baseline="30000" dirty="0" smtClean="0">
                <a:solidFill>
                  <a:srgbClr val="061BBA"/>
                </a:solidFill>
              </a:rPr>
              <a:t>1/2</a:t>
            </a:r>
            <a:endParaRPr lang="en-US" dirty="0">
              <a:solidFill>
                <a:srgbClr val="061BBA"/>
              </a:solidFill>
            </a:endParaRPr>
          </a:p>
          <a:p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778914"/>
              </p:ext>
            </p:extLst>
          </p:nvPr>
        </p:nvGraphicFramePr>
        <p:xfrm>
          <a:off x="2590800" y="2438400"/>
          <a:ext cx="37338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760"/>
                <a:gridCol w="746760"/>
                <a:gridCol w="746760"/>
                <a:gridCol w="746760"/>
                <a:gridCol w="746760"/>
              </a:tblGrid>
              <a:tr h="2184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j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Δ</a:t>
                      </a:r>
                      <a:r>
                        <a:rPr lang="en-US" sz="2400" dirty="0" smtClean="0"/>
                        <a:t>   =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Double Bracket 8"/>
          <p:cNvSpPr/>
          <p:nvPr/>
        </p:nvSpPr>
        <p:spPr>
          <a:xfrm>
            <a:off x="3429000" y="2971800"/>
            <a:ext cx="2057400" cy="1295400"/>
          </a:xfrm>
          <a:prstGeom prst="bracketPair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679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 err="1" smtClean="0"/>
              <a:t>Thm</a:t>
            </a:r>
            <a:r>
              <a:rPr lang="en-US" dirty="0" smtClean="0"/>
              <a:t> applied to Direct N-Body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35051"/>
            <a:ext cx="9220200" cy="5486400"/>
          </a:xfrm>
        </p:spPr>
        <p:txBody>
          <a:bodyPr>
            <a:normAutofit/>
          </a:bodyPr>
          <a:lstStyle/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=1:n, for j=1:n</a:t>
            </a:r>
            <a:r>
              <a:rPr lang="en-US" dirty="0" smtClean="0"/>
              <a:t>, F(</a:t>
            </a:r>
            <a:r>
              <a:rPr lang="en-US" dirty="0" err="1" smtClean="0"/>
              <a:t>i</a:t>
            </a:r>
            <a:r>
              <a:rPr lang="en-US" dirty="0" smtClean="0"/>
              <a:t>) += force( P(</a:t>
            </a:r>
            <a:r>
              <a:rPr lang="en-US" dirty="0" err="1" smtClean="0"/>
              <a:t>i</a:t>
            </a:r>
            <a:r>
              <a:rPr lang="en-US" dirty="0" smtClean="0"/>
              <a:t>) , P(j) )</a:t>
            </a:r>
          </a:p>
          <a:p>
            <a:r>
              <a:rPr lang="en-US" dirty="0" smtClean="0"/>
              <a:t>Record array indices in matrix </a:t>
            </a:r>
            <a:r>
              <a:rPr lang="en-US" dirty="0" err="1" smtClean="0"/>
              <a:t>Δ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Solve LP for x = [</a:t>
            </a:r>
            <a:r>
              <a:rPr lang="en-US" dirty="0" err="1" smtClean="0"/>
              <a:t>xi,xj</a:t>
            </a:r>
            <a:r>
              <a:rPr lang="en-US" dirty="0" smtClean="0"/>
              <a:t>]</a:t>
            </a:r>
            <a:r>
              <a:rPr lang="en-US" baseline="30000" dirty="0" smtClean="0"/>
              <a:t>T</a:t>
            </a:r>
            <a:r>
              <a:rPr lang="en-US" dirty="0" smtClean="0"/>
              <a:t>:  max </a:t>
            </a:r>
            <a:r>
              <a:rPr lang="en-US" b="1" dirty="0" smtClean="0"/>
              <a:t>1</a:t>
            </a:r>
            <a:r>
              <a:rPr lang="en-US" baseline="30000" dirty="0" smtClean="0"/>
              <a:t>T</a:t>
            </a:r>
            <a:r>
              <a:rPr lang="en-US" dirty="0" smtClean="0"/>
              <a:t>x  </a:t>
            </a:r>
            <a:r>
              <a:rPr lang="en-US" dirty="0" err="1" smtClean="0"/>
              <a:t>s.t.</a:t>
            </a:r>
            <a:r>
              <a:rPr lang="en-US" dirty="0" smtClean="0"/>
              <a:t> </a:t>
            </a:r>
            <a:r>
              <a:rPr lang="en-US" dirty="0" err="1" smtClean="0"/>
              <a:t>Δ</a:t>
            </a:r>
            <a:r>
              <a:rPr lang="en-US" dirty="0" smtClean="0"/>
              <a:t> x ≤ </a:t>
            </a:r>
            <a:r>
              <a:rPr lang="en-US" b="1" dirty="0" smtClean="0"/>
              <a:t>1</a:t>
            </a:r>
          </a:p>
          <a:p>
            <a:pPr lvl="1"/>
            <a:r>
              <a:rPr lang="en-US" dirty="0" smtClean="0"/>
              <a:t>Result: x = [</a:t>
            </a:r>
            <a:r>
              <a:rPr lang="en-US" dirty="0" smtClean="0">
                <a:solidFill>
                  <a:srgbClr val="0824F2"/>
                </a:solidFill>
              </a:rPr>
              <a:t>1</a:t>
            </a:r>
            <a:r>
              <a:rPr lang="en-US" dirty="0" smtClean="0"/>
              <a:t>,</a:t>
            </a:r>
            <a:r>
              <a:rPr lang="en-US" dirty="0" smtClean="0">
                <a:solidFill>
                  <a:srgbClr val="0824F2"/>
                </a:solidFill>
              </a:rPr>
              <a:t>1</a:t>
            </a:r>
            <a:r>
              <a:rPr lang="en-US" dirty="0" smtClean="0"/>
              <a:t>], </a:t>
            </a:r>
            <a:r>
              <a:rPr lang="en-US" b="1" dirty="0" smtClean="0"/>
              <a:t>1</a:t>
            </a:r>
            <a:r>
              <a:rPr lang="en-US" sz="3200" baseline="30000" dirty="0" smtClean="0"/>
              <a:t>T</a:t>
            </a:r>
            <a:r>
              <a:rPr lang="en-US" dirty="0" smtClean="0"/>
              <a:t>x = </a:t>
            </a:r>
            <a:r>
              <a:rPr lang="en-US" dirty="0" smtClean="0">
                <a:solidFill>
                  <a:srgbClr val="0824F2"/>
                </a:solidFill>
              </a:rPr>
              <a:t>2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824F2"/>
                </a:solidFill>
              </a:rPr>
              <a:t>s</a:t>
            </a:r>
            <a:endParaRPr lang="en-US" b="1" baseline="-25000" dirty="0" smtClean="0">
              <a:solidFill>
                <a:srgbClr val="0824F2"/>
              </a:solidFill>
            </a:endParaRPr>
          </a:p>
          <a:p>
            <a:r>
              <a:rPr lang="en-US" dirty="0" err="1" smtClean="0"/>
              <a:t>Thm</a:t>
            </a:r>
            <a:r>
              <a:rPr lang="en-US" dirty="0" smtClean="0"/>
              <a:t>: 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/>
              <a:t>Ω</a:t>
            </a:r>
            <a:r>
              <a:rPr lang="en-US" dirty="0"/>
              <a:t>(</a:t>
            </a:r>
            <a:r>
              <a:rPr lang="en-US" dirty="0" smtClean="0"/>
              <a:t>n</a:t>
            </a:r>
            <a:r>
              <a:rPr lang="en-US" sz="3300" b="1" baseline="30000" dirty="0" smtClean="0"/>
              <a:t>2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S-1</a:t>
            </a:r>
            <a:r>
              <a:rPr lang="en-US" dirty="0" smtClean="0"/>
              <a:t>)= </a:t>
            </a:r>
            <a:r>
              <a:rPr lang="en-US" dirty="0" err="1"/>
              <a:t>Ω</a:t>
            </a:r>
            <a:r>
              <a:rPr lang="en-US" dirty="0"/>
              <a:t>(</a:t>
            </a:r>
            <a:r>
              <a:rPr lang="en-US" dirty="0" smtClean="0"/>
              <a:t>n</a:t>
            </a:r>
            <a:r>
              <a:rPr lang="en-US" sz="3300" b="1" baseline="30000" dirty="0" smtClean="0"/>
              <a:t>2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1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Attained by block sizes </a:t>
            </a:r>
            <a:r>
              <a:rPr lang="en-US" dirty="0" err="1" smtClean="0"/>
              <a:t>M</a:t>
            </a:r>
            <a:r>
              <a:rPr lang="en-US" b="1" baseline="30000" dirty="0" err="1" smtClean="0"/>
              <a:t>xi</a:t>
            </a:r>
            <a:r>
              <a:rPr lang="en-US" dirty="0" err="1" smtClean="0"/>
              <a:t>,M</a:t>
            </a:r>
            <a:r>
              <a:rPr lang="en-US" b="1" baseline="30000" dirty="0" err="1" smtClean="0"/>
              <a:t>xj</a:t>
            </a:r>
            <a:r>
              <a:rPr lang="en-US" dirty="0" smtClean="0"/>
              <a:t> = M</a:t>
            </a:r>
            <a:r>
              <a:rPr lang="en-US" b="1" baseline="30000" dirty="0" smtClean="0">
                <a:solidFill>
                  <a:srgbClr val="061BBA"/>
                </a:solidFill>
              </a:rPr>
              <a:t>1</a:t>
            </a:r>
            <a:r>
              <a:rPr lang="en-US" dirty="0" smtClean="0"/>
              <a:t>,M</a:t>
            </a:r>
            <a:r>
              <a:rPr lang="en-US" b="1" baseline="30000" dirty="0" smtClean="0">
                <a:solidFill>
                  <a:srgbClr val="061BBA"/>
                </a:solidFill>
              </a:rPr>
              <a:t>1</a:t>
            </a:r>
            <a:endParaRPr lang="en-US" dirty="0">
              <a:solidFill>
                <a:srgbClr val="061BBA"/>
              </a:solidFill>
            </a:endParaRPr>
          </a:p>
          <a:p>
            <a:endParaRPr lang="en-US" dirty="0"/>
          </a:p>
        </p:txBody>
      </p:sp>
      <p:sp>
        <p:nvSpPr>
          <p:cNvPr id="9" name="Double Bracket 8"/>
          <p:cNvSpPr/>
          <p:nvPr/>
        </p:nvSpPr>
        <p:spPr>
          <a:xfrm>
            <a:off x="3810000" y="2971800"/>
            <a:ext cx="1600200" cy="1295400"/>
          </a:xfrm>
          <a:prstGeom prst="bracketPair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834654"/>
              </p:ext>
            </p:extLst>
          </p:nvPr>
        </p:nvGraphicFramePr>
        <p:xfrm>
          <a:off x="2743200" y="2438400"/>
          <a:ext cx="37338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3450"/>
                <a:gridCol w="933450"/>
                <a:gridCol w="933450"/>
                <a:gridCol w="933450"/>
              </a:tblGrid>
              <a:tr h="4381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j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F</a:t>
                      </a:r>
                      <a:endParaRPr lang="en-US" sz="2400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/>
                        <a:t>Δ</a:t>
                      </a:r>
                      <a:r>
                        <a:rPr lang="en-US" sz="2400" dirty="0" smtClean="0"/>
                        <a:t>  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P(</a:t>
                      </a:r>
                      <a:r>
                        <a:rPr lang="en-US" sz="2400" dirty="0" err="1" smtClean="0"/>
                        <a:t>i</a:t>
                      </a:r>
                      <a:r>
                        <a:rPr lang="en-US" sz="2400" dirty="0" smtClean="0"/>
                        <a:t>)</a:t>
                      </a:r>
                      <a:endParaRPr lang="en-US" sz="2400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P(j)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2959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1249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N-Body Speedups on IBM-BG/P (Intrepid)</a:t>
            </a:r>
            <a:br>
              <a:rPr lang="en-US" dirty="0" smtClean="0"/>
            </a:br>
            <a:r>
              <a:rPr lang="en-US" dirty="0" smtClean="0"/>
              <a:t>8K cores, 32K particles</a:t>
            </a:r>
            <a:endParaRPr lang="en-US" dirty="0"/>
          </a:p>
        </p:txBody>
      </p:sp>
      <p:pic>
        <p:nvPicPr>
          <p:cNvPr id="4" name="Content Placeholder 3" descr="Nbody_Fig2c_Intrepid_8K_32K.gif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89" t="-126" r="-996" b="-1645"/>
          <a:stretch/>
        </p:blipFill>
        <p:spPr>
          <a:xfrm>
            <a:off x="457200" y="1810357"/>
            <a:ext cx="7942810" cy="4742843"/>
          </a:xfrm>
        </p:spPr>
      </p:pic>
      <p:cxnSp>
        <p:nvCxnSpPr>
          <p:cNvPr id="6" name="Straight Arrow Connector 5"/>
          <p:cNvCxnSpPr/>
          <p:nvPr/>
        </p:nvCxnSpPr>
        <p:spPr>
          <a:xfrm>
            <a:off x="3200400" y="6324600"/>
            <a:ext cx="4038600" cy="0"/>
          </a:xfrm>
          <a:prstGeom prst="straightConnector1">
            <a:avLst/>
          </a:prstGeom>
          <a:ln>
            <a:solidFill>
              <a:srgbClr val="0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43400" y="6324600"/>
            <a:ext cx="1703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11.8x speedup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389156" y="1676400"/>
            <a:ext cx="636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K. </a:t>
            </a:r>
            <a:r>
              <a:rPr lang="en-US" dirty="0" err="1" smtClean="0"/>
              <a:t>Yelick</a:t>
            </a:r>
            <a:r>
              <a:rPr lang="en-US" dirty="0" smtClean="0"/>
              <a:t>, E. </a:t>
            </a:r>
            <a:r>
              <a:rPr lang="en-US" dirty="0" err="1" smtClean="0"/>
              <a:t>Georganas</a:t>
            </a:r>
            <a:r>
              <a:rPr lang="en-US" dirty="0" smtClean="0"/>
              <a:t>, M. Driscoll, P. </a:t>
            </a:r>
            <a:r>
              <a:rPr lang="en-US" dirty="0" err="1" smtClean="0"/>
              <a:t>Koanantakool</a:t>
            </a:r>
            <a:r>
              <a:rPr lang="en-US" dirty="0" smtClean="0"/>
              <a:t>, E. </a:t>
            </a:r>
            <a:r>
              <a:rPr lang="en-US" dirty="0" err="1" smtClean="0"/>
              <a:t>Solomonik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8634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 err="1" smtClean="0"/>
              <a:t>Thm</a:t>
            </a:r>
            <a:r>
              <a:rPr lang="en-US" dirty="0" smtClean="0"/>
              <a:t> applied to Random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35051"/>
            <a:ext cx="92964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</a:t>
            </a:r>
            <a:r>
              <a:rPr lang="en-US" dirty="0" smtClean="0"/>
              <a:t>i1=</a:t>
            </a:r>
            <a:r>
              <a:rPr lang="en-US" dirty="0"/>
              <a:t>1:n, for </a:t>
            </a:r>
            <a:r>
              <a:rPr lang="en-US" dirty="0" smtClean="0"/>
              <a:t>i2=</a:t>
            </a:r>
            <a:r>
              <a:rPr lang="en-US" dirty="0"/>
              <a:t>1:n</a:t>
            </a:r>
            <a:r>
              <a:rPr lang="en-US" dirty="0" smtClean="0"/>
              <a:t>, … , for i6=1:n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sz="3000" dirty="0" smtClean="0"/>
              <a:t>A1(i1,i3,i6) += func1(A2(i1,i2,i4),A3(i2,i3,i5),A4(i3,i4,i6))</a:t>
            </a:r>
          </a:p>
          <a:p>
            <a:pPr marL="0" indent="0">
              <a:buNone/>
            </a:pPr>
            <a:r>
              <a:rPr lang="en-US" sz="3000" dirty="0"/>
              <a:t> </a:t>
            </a:r>
            <a:r>
              <a:rPr lang="en-US" sz="3000" dirty="0" smtClean="0"/>
              <a:t>     A5(i2,i6) += func2(A6(i1,i4,i5),A3(i3,i4,i6))</a:t>
            </a:r>
          </a:p>
          <a:p>
            <a:r>
              <a:rPr lang="en-US" dirty="0" smtClean="0"/>
              <a:t>Record array indices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in matrix </a:t>
            </a:r>
            <a:r>
              <a:rPr lang="en-US" dirty="0" err="1" smtClean="0"/>
              <a:t>Δ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Solve LP for x = [x1,…,x7]</a:t>
            </a:r>
            <a:r>
              <a:rPr lang="en-US" baseline="30000" dirty="0" smtClean="0"/>
              <a:t>T</a:t>
            </a:r>
            <a:r>
              <a:rPr lang="en-US" dirty="0" smtClean="0"/>
              <a:t>:  max </a:t>
            </a:r>
            <a:r>
              <a:rPr lang="en-US" b="1" dirty="0" smtClean="0"/>
              <a:t>1</a:t>
            </a:r>
            <a:r>
              <a:rPr lang="en-US" baseline="30000" dirty="0" smtClean="0"/>
              <a:t>T</a:t>
            </a:r>
            <a:r>
              <a:rPr lang="en-US" dirty="0" smtClean="0"/>
              <a:t>x  </a:t>
            </a:r>
            <a:r>
              <a:rPr lang="en-US" dirty="0" err="1" smtClean="0"/>
              <a:t>s.t.</a:t>
            </a:r>
            <a:r>
              <a:rPr lang="en-US" dirty="0" smtClean="0"/>
              <a:t> </a:t>
            </a:r>
            <a:r>
              <a:rPr lang="en-US" dirty="0" err="1" smtClean="0"/>
              <a:t>Δ</a:t>
            </a:r>
            <a:r>
              <a:rPr lang="en-US" dirty="0" smtClean="0"/>
              <a:t> x ≤ </a:t>
            </a:r>
            <a:r>
              <a:rPr lang="en-US" b="1" dirty="0" smtClean="0"/>
              <a:t>1</a:t>
            </a:r>
          </a:p>
          <a:p>
            <a:pPr lvl="1"/>
            <a:r>
              <a:rPr lang="en-US" dirty="0" smtClean="0"/>
              <a:t>Result: x = [</a:t>
            </a:r>
            <a:r>
              <a:rPr lang="en-US" dirty="0" smtClean="0">
                <a:solidFill>
                  <a:srgbClr val="0824F2"/>
                </a:solidFill>
              </a:rPr>
              <a:t>2/7,3/7,1/7,2/7,3/7,4/7</a:t>
            </a:r>
            <a:r>
              <a:rPr lang="en-US" dirty="0" smtClean="0"/>
              <a:t>], </a:t>
            </a:r>
            <a:r>
              <a:rPr lang="en-US" b="1" dirty="0" smtClean="0"/>
              <a:t>1</a:t>
            </a:r>
            <a:r>
              <a:rPr lang="en-US" sz="3200" baseline="30000" dirty="0" smtClean="0"/>
              <a:t>T</a:t>
            </a:r>
            <a:r>
              <a:rPr lang="en-US" dirty="0" smtClean="0"/>
              <a:t>x = </a:t>
            </a:r>
            <a:r>
              <a:rPr lang="en-US" dirty="0" smtClean="0">
                <a:solidFill>
                  <a:srgbClr val="0824F2"/>
                </a:solidFill>
              </a:rPr>
              <a:t>15/7</a:t>
            </a:r>
            <a:r>
              <a:rPr lang="en-US" dirty="0" smtClean="0"/>
              <a:t> =</a:t>
            </a:r>
            <a:r>
              <a:rPr lang="en-US" dirty="0" smtClean="0">
                <a:solidFill>
                  <a:srgbClr val="0824F2"/>
                </a:solidFill>
              </a:rPr>
              <a:t> s</a:t>
            </a:r>
            <a:endParaRPr lang="en-US" b="1" baseline="-25000" dirty="0" smtClean="0">
              <a:solidFill>
                <a:srgbClr val="0824F2"/>
              </a:solidFill>
            </a:endParaRPr>
          </a:p>
          <a:p>
            <a:r>
              <a:rPr lang="en-US" dirty="0" err="1" smtClean="0"/>
              <a:t>Thm</a:t>
            </a:r>
            <a:r>
              <a:rPr lang="en-US" dirty="0" smtClean="0"/>
              <a:t>: 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/>
              <a:t>Ω</a:t>
            </a:r>
            <a:r>
              <a:rPr lang="en-US" dirty="0"/>
              <a:t>(</a:t>
            </a:r>
            <a:r>
              <a:rPr lang="en-US" dirty="0" smtClean="0"/>
              <a:t>n</a:t>
            </a:r>
            <a:r>
              <a:rPr lang="en-US" sz="3300" b="1" baseline="30000" dirty="0"/>
              <a:t>6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S-1</a:t>
            </a:r>
            <a:r>
              <a:rPr lang="en-US" dirty="0" smtClean="0"/>
              <a:t>)= </a:t>
            </a:r>
            <a:r>
              <a:rPr lang="en-US" dirty="0" err="1"/>
              <a:t>Ω</a:t>
            </a:r>
            <a:r>
              <a:rPr lang="en-US" dirty="0"/>
              <a:t>(</a:t>
            </a:r>
            <a:r>
              <a:rPr lang="en-US" dirty="0" smtClean="0"/>
              <a:t>n</a:t>
            </a:r>
            <a:r>
              <a:rPr lang="en-US" sz="3300" b="1" baseline="30000" dirty="0"/>
              <a:t>6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8/7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Attained by block sizes M</a:t>
            </a:r>
            <a:r>
              <a:rPr lang="en-US" b="1" baseline="30000" dirty="0" smtClean="0">
                <a:solidFill>
                  <a:srgbClr val="061BBA"/>
                </a:solidFill>
              </a:rPr>
              <a:t>2/7</a:t>
            </a:r>
            <a:r>
              <a:rPr lang="en-US" dirty="0" smtClean="0"/>
              <a:t>,M</a:t>
            </a:r>
            <a:r>
              <a:rPr lang="en-US" b="1" baseline="30000" dirty="0" smtClean="0">
                <a:solidFill>
                  <a:srgbClr val="061BBA"/>
                </a:solidFill>
              </a:rPr>
              <a:t>3/7</a:t>
            </a:r>
            <a:r>
              <a:rPr lang="en-US" dirty="0"/>
              <a:t>,</a:t>
            </a:r>
            <a:r>
              <a:rPr lang="en-US" dirty="0" smtClean="0"/>
              <a:t>M</a:t>
            </a:r>
            <a:r>
              <a:rPr lang="en-US" b="1" baseline="30000" dirty="0" smtClean="0">
                <a:solidFill>
                  <a:srgbClr val="061BBA"/>
                </a:solidFill>
              </a:rPr>
              <a:t>1/7</a:t>
            </a:r>
            <a:r>
              <a:rPr lang="en-US" dirty="0"/>
              <a:t>,</a:t>
            </a:r>
            <a:r>
              <a:rPr lang="en-US" dirty="0" smtClean="0"/>
              <a:t>M</a:t>
            </a:r>
            <a:r>
              <a:rPr lang="en-US" b="1" baseline="30000" dirty="0" smtClean="0">
                <a:solidFill>
                  <a:srgbClr val="061BBA"/>
                </a:solidFill>
              </a:rPr>
              <a:t>2/7</a:t>
            </a:r>
            <a:r>
              <a:rPr lang="en-US" dirty="0"/>
              <a:t>,M</a:t>
            </a:r>
            <a:r>
              <a:rPr lang="en-US" b="1" baseline="30000" dirty="0">
                <a:solidFill>
                  <a:srgbClr val="061BBA"/>
                </a:solidFill>
              </a:rPr>
              <a:t>3/</a:t>
            </a:r>
            <a:r>
              <a:rPr lang="en-US" b="1" baseline="30000" dirty="0" smtClean="0">
                <a:solidFill>
                  <a:srgbClr val="061BBA"/>
                </a:solidFill>
              </a:rPr>
              <a:t>7</a:t>
            </a:r>
            <a:r>
              <a:rPr lang="en-US" dirty="0"/>
              <a:t>,</a:t>
            </a:r>
            <a:r>
              <a:rPr lang="en-US" dirty="0" smtClean="0"/>
              <a:t>M</a:t>
            </a:r>
            <a:r>
              <a:rPr lang="en-US" b="1" baseline="30000" dirty="0" smtClean="0">
                <a:solidFill>
                  <a:srgbClr val="061BBA"/>
                </a:solidFill>
              </a:rPr>
              <a:t>4/</a:t>
            </a:r>
            <a:r>
              <a:rPr lang="en-US" b="1" baseline="30000" dirty="0">
                <a:solidFill>
                  <a:srgbClr val="061BBA"/>
                </a:solidFill>
              </a:rPr>
              <a:t>7</a:t>
            </a:r>
            <a:endParaRPr lang="en-US" dirty="0">
              <a:solidFill>
                <a:srgbClr val="061BBA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61BBA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61BBA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61BBA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61BBA"/>
              </a:solidFill>
            </a:endParaRP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520549"/>
              </p:ext>
            </p:extLst>
          </p:nvPr>
        </p:nvGraphicFramePr>
        <p:xfrm>
          <a:off x="4114800" y="2743199"/>
          <a:ext cx="5029200" cy="2194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</a:tblGrid>
              <a:tr h="267517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A1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A2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Δ</a:t>
                      </a:r>
                      <a:r>
                        <a:rPr lang="en-US" sz="1800" dirty="0" smtClean="0"/>
                        <a:t> =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A3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A3,A4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A5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A6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Double Bracket 6"/>
          <p:cNvSpPr/>
          <p:nvPr/>
        </p:nvSpPr>
        <p:spPr>
          <a:xfrm>
            <a:off x="4724400" y="3124200"/>
            <a:ext cx="3733800" cy="1828800"/>
          </a:xfrm>
          <a:prstGeom prst="bracketPair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7697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304800"/>
            <a:ext cx="83820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Approach to generalizing lower bounds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66800"/>
            <a:ext cx="9144000" cy="7010400"/>
          </a:xfrm>
        </p:spPr>
        <p:txBody>
          <a:bodyPr>
            <a:noAutofit/>
          </a:bodyPr>
          <a:lstStyle/>
          <a:p>
            <a:r>
              <a:rPr lang="en-US" sz="2000" dirty="0" err="1" smtClean="0"/>
              <a:t>Matmul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        for </a:t>
            </a:r>
            <a:r>
              <a:rPr lang="en-US" sz="2000" dirty="0" err="1" smtClean="0"/>
              <a:t>i</a:t>
            </a:r>
            <a:r>
              <a:rPr lang="en-US" sz="2000" dirty="0" smtClean="0"/>
              <a:t>=1:n, for j=1:n, for k=1:n, 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C(</a:t>
            </a:r>
            <a:r>
              <a:rPr lang="en-US" sz="2000" dirty="0" err="1"/>
              <a:t>i</a:t>
            </a:r>
            <a:r>
              <a:rPr lang="en-US" sz="2000" dirty="0" err="1" smtClean="0"/>
              <a:t>,j</a:t>
            </a:r>
            <a:r>
              <a:rPr lang="en-US" sz="2000" dirty="0" smtClean="0"/>
              <a:t>)+=A(</a:t>
            </a:r>
            <a:r>
              <a:rPr lang="en-US" sz="2000" dirty="0" err="1"/>
              <a:t>i</a:t>
            </a:r>
            <a:r>
              <a:rPr lang="en-US" sz="2000" dirty="0" err="1" smtClean="0"/>
              <a:t>,k</a:t>
            </a:r>
            <a:r>
              <a:rPr lang="en-US" sz="2000" dirty="0" smtClean="0"/>
              <a:t>)*B(</a:t>
            </a:r>
            <a:r>
              <a:rPr lang="en-US" sz="2000" dirty="0" err="1" smtClean="0"/>
              <a:t>k,j</a:t>
            </a:r>
            <a:r>
              <a:rPr lang="en-US" sz="2000" dirty="0" smtClean="0"/>
              <a:t>)</a:t>
            </a:r>
          </a:p>
          <a:p>
            <a:pPr marL="0" indent="0">
              <a:buNone/>
            </a:pPr>
            <a:r>
              <a:rPr lang="en-US" sz="2000" dirty="0" smtClean="0"/>
              <a:t> =&gt;   for (</a:t>
            </a:r>
            <a:r>
              <a:rPr lang="en-US" sz="2000" dirty="0" err="1"/>
              <a:t>i</a:t>
            </a:r>
            <a:r>
              <a:rPr lang="en-US" sz="2000" dirty="0" err="1" smtClean="0"/>
              <a:t>,j,k</a:t>
            </a:r>
            <a:r>
              <a:rPr lang="en-US" sz="2000" dirty="0" smtClean="0"/>
              <a:t>) in S = subset of Z</a:t>
            </a:r>
            <a:r>
              <a:rPr lang="en-US" sz="2000" baseline="30000" dirty="0" smtClean="0"/>
              <a:t>3</a:t>
            </a:r>
          </a:p>
          <a:p>
            <a:pPr marL="0" indent="0">
              <a:buNone/>
            </a:pPr>
            <a:r>
              <a:rPr lang="en-US" sz="2000" dirty="0" smtClean="0"/>
              <a:t>              Access locations indexed by (</a:t>
            </a:r>
            <a:r>
              <a:rPr lang="en-US" sz="2000" dirty="0" err="1"/>
              <a:t>i</a:t>
            </a:r>
            <a:r>
              <a:rPr lang="en-US" sz="2000" dirty="0" err="1" smtClean="0"/>
              <a:t>,j</a:t>
            </a:r>
            <a:r>
              <a:rPr lang="en-US" sz="2000" dirty="0" smtClean="0"/>
              <a:t>), (</a:t>
            </a:r>
            <a:r>
              <a:rPr lang="en-US" sz="2000" dirty="0" err="1"/>
              <a:t>i</a:t>
            </a:r>
            <a:r>
              <a:rPr lang="en-US" sz="2000" dirty="0" err="1" smtClean="0"/>
              <a:t>,k</a:t>
            </a:r>
            <a:r>
              <a:rPr lang="en-US" sz="2000" dirty="0" smtClean="0"/>
              <a:t>),  (</a:t>
            </a:r>
            <a:r>
              <a:rPr lang="en-US" sz="2000" dirty="0" err="1" smtClean="0"/>
              <a:t>k,j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General case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for i1=1:n,  for i2 = i1:m, … for </a:t>
            </a:r>
            <a:r>
              <a:rPr lang="en-US" sz="2000" dirty="0" err="1" smtClean="0"/>
              <a:t>ik</a:t>
            </a:r>
            <a:r>
              <a:rPr lang="en-US" sz="2000" dirty="0" smtClean="0"/>
              <a:t> = i3:i4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C(i1+2*i3-i7) = </a:t>
            </a:r>
            <a:r>
              <a:rPr lang="en-US" sz="2000" dirty="0" err="1" smtClean="0"/>
              <a:t>func</a:t>
            </a:r>
            <a:r>
              <a:rPr lang="en-US" sz="2000" dirty="0" smtClean="0"/>
              <a:t>(A(i2+3*i4,i1,i2,i1+i2,…),B(</a:t>
            </a:r>
            <a:r>
              <a:rPr lang="en-US" sz="2000" dirty="0" err="1" smtClean="0"/>
              <a:t>pnt</a:t>
            </a:r>
            <a:r>
              <a:rPr lang="en-US" sz="2000" dirty="0" smtClean="0"/>
              <a:t>(3*i4)),…)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D(something else) = </a:t>
            </a:r>
            <a:r>
              <a:rPr lang="en-US" sz="2000" dirty="0" err="1" smtClean="0"/>
              <a:t>func</a:t>
            </a:r>
            <a:r>
              <a:rPr lang="en-US" sz="2000" dirty="0" smtClean="0"/>
              <a:t>(something else),  …</a:t>
            </a:r>
          </a:p>
          <a:p>
            <a:pPr marL="0" indent="0">
              <a:buNone/>
            </a:pPr>
            <a:r>
              <a:rPr lang="en-US" sz="2000" dirty="0" smtClean="0"/>
              <a:t> =&gt;  for (i1,i2,…,</a:t>
            </a:r>
            <a:r>
              <a:rPr lang="en-US" sz="2000" dirty="0" err="1" smtClean="0"/>
              <a:t>ik</a:t>
            </a:r>
            <a:r>
              <a:rPr lang="en-US" sz="2000" dirty="0" smtClean="0"/>
              <a:t>) in S = subset of </a:t>
            </a:r>
            <a:r>
              <a:rPr lang="en-US" sz="2000" dirty="0" err="1" smtClean="0"/>
              <a:t>Z</a:t>
            </a:r>
            <a:r>
              <a:rPr lang="en-US" sz="2000" baseline="30000" dirty="0" err="1" smtClean="0"/>
              <a:t>k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Access locations indexed by “projections”, </a:t>
            </a:r>
            <a:r>
              <a:rPr lang="en-US" sz="2000" dirty="0" err="1" smtClean="0"/>
              <a:t>eg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</a:t>
            </a:r>
            <a:r>
              <a:rPr lang="en-US" sz="2000" dirty="0" err="1" smtClean="0"/>
              <a:t>φ</a:t>
            </a:r>
            <a:r>
              <a:rPr lang="en-US" sz="2000" baseline="-25000" dirty="0" err="1" smtClean="0"/>
              <a:t>C</a:t>
            </a:r>
            <a:r>
              <a:rPr lang="en-US" sz="2000" dirty="0" smtClean="0"/>
              <a:t> (i1,i2,…,</a:t>
            </a:r>
            <a:r>
              <a:rPr lang="en-US" sz="2000" dirty="0" err="1" smtClean="0"/>
              <a:t>ik</a:t>
            </a:r>
            <a:r>
              <a:rPr lang="en-US" sz="2000" dirty="0" smtClean="0"/>
              <a:t>) = (i1+2*i3-i7)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</a:t>
            </a:r>
            <a:r>
              <a:rPr lang="en-US" sz="2000" dirty="0" err="1" smtClean="0"/>
              <a:t>φ</a:t>
            </a:r>
            <a:r>
              <a:rPr lang="en-US" sz="2000" baseline="-25000" dirty="0" err="1" smtClean="0"/>
              <a:t>A</a:t>
            </a:r>
            <a:r>
              <a:rPr lang="en-US" sz="2000" dirty="0" smtClean="0"/>
              <a:t> </a:t>
            </a:r>
            <a:r>
              <a:rPr lang="en-US" sz="2000" dirty="0"/>
              <a:t>(i1,i2,…,</a:t>
            </a:r>
            <a:r>
              <a:rPr lang="en-US" sz="2000" dirty="0" err="1"/>
              <a:t>ik</a:t>
            </a:r>
            <a:r>
              <a:rPr lang="en-US" sz="2000" dirty="0"/>
              <a:t>) = </a:t>
            </a:r>
            <a:r>
              <a:rPr lang="en-US" sz="2000" dirty="0" smtClean="0"/>
              <a:t>(i2+3*i4,i1,i2,i1+i2,…),  …</a:t>
            </a:r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Can we bound #</a:t>
            </a:r>
            <a:r>
              <a:rPr lang="en-US" sz="2000" dirty="0" err="1" smtClean="0"/>
              <a:t>loop_iterations</a:t>
            </a:r>
            <a:r>
              <a:rPr lang="en-US" sz="2000" dirty="0"/>
              <a:t> </a:t>
            </a:r>
            <a:r>
              <a:rPr lang="en-US" sz="2000" dirty="0" smtClean="0"/>
              <a:t>/ points in 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given bounds on #points in its images </a:t>
            </a:r>
            <a:r>
              <a:rPr lang="en-US" sz="2000" dirty="0" err="1"/>
              <a:t>φ</a:t>
            </a:r>
            <a:r>
              <a:rPr lang="en-US" sz="2000" baseline="-25000" dirty="0" err="1"/>
              <a:t>C</a:t>
            </a:r>
            <a:r>
              <a:rPr lang="en-US" sz="2000" dirty="0"/>
              <a:t> </a:t>
            </a:r>
            <a:r>
              <a:rPr lang="en-US" sz="2000" dirty="0" smtClean="0"/>
              <a:t>(S), </a:t>
            </a:r>
            <a:r>
              <a:rPr lang="en-US" sz="2000" dirty="0" err="1"/>
              <a:t>φ</a:t>
            </a:r>
            <a:r>
              <a:rPr lang="en-US" sz="2000" baseline="-25000" dirty="0" err="1"/>
              <a:t>A</a:t>
            </a:r>
            <a:r>
              <a:rPr lang="en-US" sz="2000" dirty="0"/>
              <a:t> </a:t>
            </a:r>
            <a:r>
              <a:rPr lang="en-US" sz="2000" dirty="0" smtClean="0"/>
              <a:t>(S), …</a:t>
            </a:r>
            <a:r>
              <a:rPr lang="en-US" sz="1100" dirty="0" smtClean="0"/>
              <a:t>   </a:t>
            </a:r>
            <a:r>
              <a:rPr lang="en-US" sz="2000" dirty="0" smtClean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737408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Communication Bound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763000" cy="9144000"/>
          </a:xfrm>
        </p:spPr>
        <p:txBody>
          <a:bodyPr>
            <a:normAutofit lnSpcReduction="10000"/>
          </a:bodyPr>
          <a:lstStyle/>
          <a:p>
            <a:r>
              <a:rPr lang="en-US" sz="2800" dirty="0" err="1" smtClean="0"/>
              <a:t>Def</a:t>
            </a:r>
            <a:r>
              <a:rPr lang="en-US" sz="2800" dirty="0" smtClean="0"/>
              <a:t>: </a:t>
            </a:r>
            <a:r>
              <a:rPr lang="en-US" sz="2800" dirty="0" err="1" smtClean="0"/>
              <a:t>Hölder-Brascamp-Lieb</a:t>
            </a:r>
            <a:r>
              <a:rPr lang="en-US" sz="2800" dirty="0" smtClean="0"/>
              <a:t> Linear Program (HBL-LP)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for s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,…,</a:t>
            </a:r>
            <a:r>
              <a:rPr lang="en-US" sz="2800" dirty="0" err="1" smtClean="0"/>
              <a:t>s</a:t>
            </a:r>
            <a:r>
              <a:rPr lang="en-US" sz="2800" baseline="-25000" dirty="0" err="1" smtClean="0"/>
              <a:t>m</a:t>
            </a:r>
            <a:r>
              <a:rPr lang="en-US" sz="2800" dirty="0" smtClean="0"/>
              <a:t>: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for all subgroups H &lt; </a:t>
            </a:r>
            <a:r>
              <a:rPr lang="en-US" sz="2800" dirty="0" err="1" smtClean="0"/>
              <a:t>Z</a:t>
            </a:r>
            <a:r>
              <a:rPr lang="en-US" sz="2800" baseline="30000" dirty="0" err="1" smtClean="0"/>
              <a:t>k</a:t>
            </a:r>
            <a:r>
              <a:rPr lang="en-US" sz="2800" dirty="0" smtClean="0"/>
              <a:t>,     rank(H) ≤ </a:t>
            </a:r>
            <a:r>
              <a:rPr lang="en-US" sz="2800" dirty="0" err="1" smtClean="0"/>
              <a:t>Σ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 </a:t>
            </a:r>
            <a:r>
              <a:rPr lang="en-US" sz="2800" dirty="0" err="1"/>
              <a:t>s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*rank(</a:t>
            </a:r>
            <a:r>
              <a:rPr lang="en-US" sz="2800" dirty="0" err="1" smtClean="0"/>
              <a:t>φ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(H))</a:t>
            </a:r>
          </a:p>
          <a:p>
            <a:r>
              <a:rPr lang="en-US" sz="2800" dirty="0" err="1" smtClean="0"/>
              <a:t>Thm</a:t>
            </a:r>
            <a:r>
              <a:rPr lang="en-US" sz="2800" dirty="0" smtClean="0"/>
              <a:t>: Given a program with array refs given by </a:t>
            </a:r>
            <a:r>
              <a:rPr lang="en-US" sz="2800" dirty="0" err="1" smtClean="0"/>
              <a:t>φ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, choose </a:t>
            </a:r>
            <a:r>
              <a:rPr lang="en-US" sz="2800" dirty="0" err="1" smtClean="0"/>
              <a:t>s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 to minimize </a:t>
            </a:r>
            <a:r>
              <a:rPr lang="en-US" sz="2800" dirty="0" err="1"/>
              <a:t>s</a:t>
            </a:r>
            <a:r>
              <a:rPr lang="en-US" sz="2800" baseline="-25000" dirty="0" err="1" smtClean="0"/>
              <a:t>HBL</a:t>
            </a:r>
            <a:r>
              <a:rPr lang="en-US" sz="2800" dirty="0" smtClean="0"/>
              <a:t> = </a:t>
            </a:r>
            <a:r>
              <a:rPr lang="en-US" sz="2800" dirty="0" err="1"/>
              <a:t>Σ</a:t>
            </a:r>
            <a:r>
              <a:rPr lang="en-US" sz="2800" baseline="-25000" dirty="0" err="1"/>
              <a:t>j</a:t>
            </a:r>
            <a:r>
              <a:rPr lang="en-US" sz="2800" dirty="0"/>
              <a:t> </a:t>
            </a:r>
            <a:r>
              <a:rPr lang="en-US" sz="2800" dirty="0" err="1"/>
              <a:t>s</a:t>
            </a:r>
            <a:r>
              <a:rPr lang="en-US" sz="2800" baseline="-25000" dirty="0" err="1" smtClean="0"/>
              <a:t>j</a:t>
            </a:r>
            <a:r>
              <a:rPr lang="en-US" sz="2800" baseline="-25000" dirty="0" smtClean="0"/>
              <a:t> </a:t>
            </a:r>
            <a:r>
              <a:rPr lang="en-US" sz="2800" dirty="0" smtClean="0"/>
              <a:t>subject to HBL-LP. Then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#</a:t>
            </a:r>
            <a:r>
              <a:rPr lang="en-US" sz="2800" dirty="0" err="1" smtClean="0"/>
              <a:t>words_moved</a:t>
            </a:r>
            <a:r>
              <a:rPr lang="en-US" sz="2800" dirty="0" smtClean="0"/>
              <a:t> = </a:t>
            </a:r>
            <a:r>
              <a:rPr lang="en-US" sz="2800" dirty="0" err="1" smtClean="0"/>
              <a:t>Ω</a:t>
            </a:r>
            <a:r>
              <a:rPr lang="en-US" sz="2800" dirty="0" smtClean="0"/>
              <a:t> (#iterations/M</a:t>
            </a:r>
            <a:r>
              <a:rPr lang="en-US" sz="2800" baseline="30000" dirty="0" smtClean="0"/>
              <a:t>s</a:t>
            </a:r>
            <a:r>
              <a:rPr lang="en-US" sz="2000" baseline="30000" dirty="0" smtClean="0"/>
              <a:t>HBL</a:t>
            </a:r>
            <a:r>
              <a:rPr lang="en-US" sz="2800" baseline="30000" dirty="0" smtClean="0"/>
              <a:t>-1</a:t>
            </a:r>
            <a:r>
              <a:rPr lang="en-US" sz="2800" dirty="0" smtClean="0"/>
              <a:t>)</a:t>
            </a:r>
          </a:p>
          <a:p>
            <a:pPr lvl="1"/>
            <a:r>
              <a:rPr lang="en-US" sz="2400" dirty="0" smtClean="0"/>
              <a:t>Proof depends on recent result in pure mathematics by   Christ/Tao/</a:t>
            </a:r>
            <a:r>
              <a:rPr lang="en-US" sz="2400" dirty="0" err="1" smtClean="0"/>
              <a:t>Carbery</a:t>
            </a:r>
            <a:r>
              <a:rPr lang="en-US" sz="2400" dirty="0" smtClean="0"/>
              <a:t>/Bennett</a:t>
            </a:r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sz="3000" dirty="0"/>
              <a:t>Given S subset of </a:t>
            </a:r>
            <a:r>
              <a:rPr lang="en-US" sz="3000" dirty="0" err="1"/>
              <a:t>Z</a:t>
            </a:r>
            <a:r>
              <a:rPr lang="en-US" sz="3000" baseline="30000" dirty="0" err="1"/>
              <a:t>k</a:t>
            </a:r>
            <a:r>
              <a:rPr lang="en-US" sz="3000" dirty="0"/>
              <a:t>, group </a:t>
            </a:r>
            <a:r>
              <a:rPr lang="en-US" sz="3000" dirty="0" err="1"/>
              <a:t>homomorphisms</a:t>
            </a:r>
            <a:r>
              <a:rPr lang="en-US" sz="3000" dirty="0"/>
              <a:t> φ</a:t>
            </a:r>
            <a:r>
              <a:rPr lang="en-US" sz="3000" baseline="-25000" dirty="0"/>
              <a:t>1</a:t>
            </a:r>
            <a:r>
              <a:rPr lang="en-US" sz="3000" dirty="0"/>
              <a:t>, φ</a:t>
            </a:r>
            <a:r>
              <a:rPr lang="en-US" sz="3000" baseline="-25000" dirty="0"/>
              <a:t>2</a:t>
            </a:r>
            <a:r>
              <a:rPr lang="en-US" sz="3000" dirty="0"/>
              <a:t>, …,             bound |S| in terms of |φ</a:t>
            </a:r>
            <a:r>
              <a:rPr lang="en-US" sz="3000" baseline="-25000" dirty="0"/>
              <a:t>1</a:t>
            </a:r>
            <a:r>
              <a:rPr lang="en-US" sz="3000" dirty="0"/>
              <a:t>(S)|,  |φ</a:t>
            </a:r>
            <a:r>
              <a:rPr lang="en-US" sz="3000" baseline="-25000" dirty="0"/>
              <a:t>2</a:t>
            </a:r>
            <a:r>
              <a:rPr lang="en-US" sz="3000" dirty="0"/>
              <a:t>(S)|, … , |</a:t>
            </a:r>
            <a:r>
              <a:rPr lang="en-US" sz="3000" dirty="0" err="1"/>
              <a:t>φ</a:t>
            </a:r>
            <a:r>
              <a:rPr lang="en-US" sz="3000" baseline="-25000" dirty="0" err="1"/>
              <a:t>m</a:t>
            </a:r>
            <a:r>
              <a:rPr lang="en-US" sz="3000" dirty="0"/>
              <a:t>(S)|</a:t>
            </a:r>
            <a:endParaRPr lang="en-US" sz="3000" baseline="30000" dirty="0"/>
          </a:p>
          <a:p>
            <a:endParaRPr lang="en-US" dirty="0" smtClean="0"/>
          </a:p>
          <a:p>
            <a:r>
              <a:rPr lang="en-US" sz="3000" dirty="0" err="1" smtClean="0"/>
              <a:t>Thm</a:t>
            </a:r>
            <a:r>
              <a:rPr lang="en-US" sz="3000" dirty="0" smtClean="0"/>
              <a:t> </a:t>
            </a:r>
            <a:r>
              <a:rPr lang="en-US" sz="3000" dirty="0"/>
              <a:t>(Christ/Tao/</a:t>
            </a:r>
            <a:r>
              <a:rPr lang="en-US" sz="3000" dirty="0" err="1"/>
              <a:t>Carbery</a:t>
            </a:r>
            <a:r>
              <a:rPr lang="en-US" sz="3000" dirty="0"/>
              <a:t>/Bennett): Given s</a:t>
            </a:r>
            <a:r>
              <a:rPr lang="en-US" sz="3000" baseline="-25000" dirty="0"/>
              <a:t>1</a:t>
            </a:r>
            <a:r>
              <a:rPr lang="en-US" sz="3000" dirty="0"/>
              <a:t>,…,</a:t>
            </a:r>
            <a:r>
              <a:rPr lang="en-US" sz="3000" dirty="0" err="1"/>
              <a:t>s</a:t>
            </a:r>
            <a:r>
              <a:rPr lang="en-US" sz="3000" baseline="-25000" dirty="0" err="1"/>
              <a:t>m</a:t>
            </a:r>
            <a:endParaRPr lang="en-US" sz="3000" dirty="0"/>
          </a:p>
          <a:p>
            <a:pPr marL="0" indent="0">
              <a:buNone/>
            </a:pPr>
            <a:r>
              <a:rPr lang="en-US" sz="3000" dirty="0"/>
              <a:t>                                |S| ≤ </a:t>
            </a:r>
            <a:r>
              <a:rPr lang="en-US" sz="3000" dirty="0" err="1"/>
              <a:t>Π</a:t>
            </a:r>
            <a:r>
              <a:rPr lang="en-US" sz="3000" baseline="-25000" dirty="0" err="1"/>
              <a:t>j</a:t>
            </a:r>
            <a:r>
              <a:rPr lang="en-US" sz="3000" dirty="0"/>
              <a:t> |</a:t>
            </a:r>
            <a:r>
              <a:rPr lang="en-US" sz="3000" dirty="0" err="1"/>
              <a:t>φ</a:t>
            </a:r>
            <a:r>
              <a:rPr lang="en-US" sz="3000" baseline="-25000" dirty="0" err="1"/>
              <a:t>j</a:t>
            </a:r>
            <a:r>
              <a:rPr lang="en-US" sz="3000" dirty="0"/>
              <a:t>(S)|</a:t>
            </a:r>
            <a:r>
              <a:rPr lang="en-US" sz="3900" baseline="30000" dirty="0" err="1"/>
              <a:t>s</a:t>
            </a:r>
            <a:r>
              <a:rPr lang="en-US" sz="3000" baseline="30000" dirty="0" err="1"/>
              <a:t>j</a:t>
            </a:r>
            <a:endParaRPr lang="en-US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100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this bound attainable (1/2)?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64770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But first: Can we write it down?</a:t>
            </a:r>
          </a:p>
          <a:p>
            <a:pPr lvl="1"/>
            <a:r>
              <a:rPr lang="en-US" dirty="0" err="1" smtClean="0"/>
              <a:t>Thm</a:t>
            </a:r>
            <a:r>
              <a:rPr lang="en-US" dirty="0" smtClean="0"/>
              <a:t>: (bad news) Reduces to Hilbert’s 10</a:t>
            </a:r>
            <a:r>
              <a:rPr lang="en-US" baseline="30000" dirty="0" smtClean="0"/>
              <a:t>th</a:t>
            </a:r>
            <a:r>
              <a:rPr lang="en-US" dirty="0" smtClean="0"/>
              <a:t> problem over Q (conjectured to be </a:t>
            </a:r>
            <a:r>
              <a:rPr lang="en-US" dirty="0" err="1" smtClean="0"/>
              <a:t>undecidable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Thm</a:t>
            </a:r>
            <a:r>
              <a:rPr lang="en-US" dirty="0" smtClean="0"/>
              <a:t>: (good news) Can write it down explicitly in many cases of interest (</a:t>
            </a:r>
            <a:r>
              <a:rPr lang="en-US" dirty="0" err="1" smtClean="0"/>
              <a:t>eg</a:t>
            </a:r>
            <a:r>
              <a:rPr lang="en-US" dirty="0" smtClean="0"/>
              <a:t> all </a:t>
            </a:r>
            <a:r>
              <a:rPr lang="en-US" dirty="0" err="1" smtClean="0"/>
              <a:t>φ</a:t>
            </a:r>
            <a:r>
              <a:rPr lang="en-US" baseline="-25000" dirty="0" err="1" smtClean="0"/>
              <a:t>j</a:t>
            </a:r>
            <a:r>
              <a:rPr lang="en-US" dirty="0" smtClean="0"/>
              <a:t> = {subset of indices})</a:t>
            </a:r>
          </a:p>
          <a:p>
            <a:pPr lvl="1"/>
            <a:r>
              <a:rPr lang="en-US" dirty="0" err="1" smtClean="0"/>
              <a:t>Thm</a:t>
            </a:r>
            <a:r>
              <a:rPr lang="en-US" dirty="0" smtClean="0"/>
              <a:t>: (good news) Easy to approximate</a:t>
            </a:r>
          </a:p>
          <a:p>
            <a:pPr lvl="2"/>
            <a:r>
              <a:rPr lang="en-US" sz="2800" dirty="0" smtClean="0"/>
              <a:t> </a:t>
            </a:r>
            <a:r>
              <a:rPr lang="en-US" sz="2800" dirty="0"/>
              <a:t>I</a:t>
            </a:r>
            <a:r>
              <a:rPr lang="en-US" sz="2800" dirty="0" smtClean="0"/>
              <a:t>f you miss a constraint, the lower bound may be too large (i.e. </a:t>
            </a:r>
            <a:r>
              <a:rPr lang="en-US" sz="2800" dirty="0" err="1" smtClean="0"/>
              <a:t>s</a:t>
            </a:r>
            <a:r>
              <a:rPr lang="en-US" sz="2800" baseline="-25000" dirty="0" err="1" smtClean="0"/>
              <a:t>HBL</a:t>
            </a:r>
            <a:r>
              <a:rPr lang="en-US" sz="2800" dirty="0" smtClean="0"/>
              <a:t> too small) but still worth trying to attain, because your algorithm will still communicate less 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r>
              <a:rPr lang="en-US" dirty="0" err="1" smtClean="0"/>
              <a:t>Tarski</a:t>
            </a:r>
            <a:r>
              <a:rPr lang="en-US" dirty="0"/>
              <a:t>-</a:t>
            </a:r>
            <a:r>
              <a:rPr lang="en-US" dirty="0" smtClean="0"/>
              <a:t>decidable to get superset of constraints (may </a:t>
            </a:r>
            <a:r>
              <a:rPr lang="en-US" dirty="0"/>
              <a:t>get    . </a:t>
            </a:r>
            <a:r>
              <a:rPr lang="en-US" dirty="0" err="1"/>
              <a:t>s</a:t>
            </a:r>
            <a:r>
              <a:rPr lang="en-US" baseline="-25000" dirty="0" err="1"/>
              <a:t>HBL</a:t>
            </a:r>
            <a:r>
              <a:rPr lang="en-US" dirty="0"/>
              <a:t> too </a:t>
            </a:r>
            <a:r>
              <a:rPr lang="en-US" dirty="0" smtClean="0"/>
              <a:t>large)</a:t>
            </a:r>
          </a:p>
        </p:txBody>
      </p:sp>
    </p:spTree>
    <p:extLst>
      <p:ext uri="{BB962C8B-B14F-4D97-AF65-F5344CB8AC3E}">
        <p14:creationId xmlns:p14="http://schemas.microsoft.com/office/powerpoint/2010/main" val="19048196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this bound attainable (2/2)?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Depends on loop dependencies</a:t>
            </a:r>
          </a:p>
          <a:p>
            <a:r>
              <a:rPr lang="en-US" dirty="0" smtClean="0"/>
              <a:t>Best case: none, or reductions (</a:t>
            </a:r>
            <a:r>
              <a:rPr lang="en-US" dirty="0" err="1" smtClean="0"/>
              <a:t>matmul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Thm</a:t>
            </a:r>
            <a:r>
              <a:rPr lang="en-US" dirty="0" smtClean="0"/>
              <a:t>: When all </a:t>
            </a:r>
            <a:r>
              <a:rPr lang="en-US" dirty="0" err="1"/>
              <a:t>φ</a:t>
            </a:r>
            <a:r>
              <a:rPr lang="en-US" baseline="-25000" dirty="0" err="1"/>
              <a:t>j</a:t>
            </a:r>
            <a:r>
              <a:rPr lang="en-US" dirty="0"/>
              <a:t> = {subset of indices</a:t>
            </a:r>
            <a:r>
              <a:rPr lang="en-US" dirty="0" smtClean="0"/>
              <a:t>}, dual of     HBL-LP gives optimal tile sizes:</a:t>
            </a:r>
          </a:p>
          <a:p>
            <a:pPr marL="0" indent="0">
              <a:buNone/>
            </a:pPr>
            <a:r>
              <a:rPr lang="en-US" dirty="0" smtClean="0"/>
              <a:t>        HBL-LP:           minimize  1</a:t>
            </a:r>
            <a:r>
              <a:rPr lang="en-US" baseline="30000" dirty="0" smtClean="0"/>
              <a:t>T</a:t>
            </a:r>
            <a:r>
              <a:rPr lang="en-US" dirty="0" smtClean="0"/>
              <a:t>*s</a:t>
            </a:r>
            <a:r>
              <a:rPr lang="en-US" baseline="-25000" dirty="0" smtClean="0"/>
              <a:t>  </a:t>
            </a:r>
            <a:r>
              <a:rPr lang="en-US" dirty="0" smtClean="0"/>
              <a:t> </a:t>
            </a:r>
            <a:r>
              <a:rPr lang="en-US" dirty="0" err="1" smtClean="0"/>
              <a:t>s.t.</a:t>
            </a:r>
            <a:r>
              <a:rPr lang="en-US" dirty="0" smtClean="0"/>
              <a:t>  </a:t>
            </a:r>
            <a:r>
              <a:rPr lang="en-US" dirty="0" err="1"/>
              <a:t>s</a:t>
            </a:r>
            <a:r>
              <a:rPr lang="en-US" baseline="30000" dirty="0" err="1" smtClean="0"/>
              <a:t>T</a:t>
            </a:r>
            <a:r>
              <a:rPr lang="en-US" dirty="0" smtClean="0"/>
              <a:t>*</a:t>
            </a:r>
            <a:r>
              <a:rPr lang="en-US" dirty="0" err="1" smtClean="0"/>
              <a:t>Δ</a:t>
            </a:r>
            <a:r>
              <a:rPr lang="en-US" dirty="0" smtClean="0"/>
              <a:t> ≥ 1</a:t>
            </a:r>
            <a:r>
              <a:rPr lang="en-US" baseline="30000" dirty="0" smtClean="0"/>
              <a:t>T</a:t>
            </a:r>
          </a:p>
          <a:p>
            <a:pPr marL="0" indent="0">
              <a:buNone/>
            </a:pPr>
            <a:r>
              <a:rPr lang="en-US" baseline="30000" dirty="0"/>
              <a:t> </a:t>
            </a:r>
            <a:r>
              <a:rPr lang="en-US" baseline="30000" dirty="0" smtClean="0"/>
              <a:t>           </a:t>
            </a:r>
            <a:r>
              <a:rPr lang="en-US" dirty="0" smtClean="0"/>
              <a:t>Dual-HBL-LP:  maximize 1</a:t>
            </a:r>
            <a:r>
              <a:rPr lang="en-US" baseline="30000" dirty="0" smtClean="0"/>
              <a:t>T</a:t>
            </a:r>
            <a:r>
              <a:rPr lang="en-US" dirty="0" smtClean="0"/>
              <a:t>*x  </a:t>
            </a:r>
            <a:r>
              <a:rPr lang="en-US" dirty="0" err="1" smtClean="0"/>
              <a:t>s.t.</a:t>
            </a:r>
            <a:r>
              <a:rPr lang="en-US" dirty="0" smtClean="0"/>
              <a:t>    </a:t>
            </a:r>
            <a:r>
              <a:rPr lang="en-US" dirty="0" err="1" smtClean="0"/>
              <a:t>Δ</a:t>
            </a:r>
            <a:r>
              <a:rPr lang="en-US" dirty="0" smtClean="0"/>
              <a:t>*x ≤ 1</a:t>
            </a:r>
          </a:p>
          <a:p>
            <a:pPr marL="0" indent="0">
              <a:buNone/>
            </a:pPr>
            <a:r>
              <a:rPr lang="en-US" baseline="30000" dirty="0"/>
              <a:t> </a:t>
            </a:r>
            <a:r>
              <a:rPr lang="en-US" baseline="30000" dirty="0" smtClean="0"/>
              <a:t>    </a:t>
            </a:r>
            <a:r>
              <a:rPr lang="en-US" dirty="0" smtClean="0"/>
              <a:t>Then for sequential algorithm, tile </a:t>
            </a:r>
            <a:r>
              <a:rPr lang="en-US" dirty="0" err="1" smtClean="0"/>
              <a:t>i</a:t>
            </a:r>
            <a:r>
              <a:rPr lang="en-US" baseline="-25000" dirty="0" err="1" smtClean="0"/>
              <a:t>j</a:t>
            </a:r>
            <a:r>
              <a:rPr lang="en-US" dirty="0" smtClean="0"/>
              <a:t> by </a:t>
            </a:r>
            <a:r>
              <a:rPr lang="en-US" dirty="0" err="1" smtClean="0"/>
              <a:t>M</a:t>
            </a:r>
            <a:r>
              <a:rPr lang="en-US" baseline="30000" dirty="0" err="1" smtClean="0"/>
              <a:t>x</a:t>
            </a:r>
            <a:r>
              <a:rPr lang="en-US" sz="2600" baseline="30000" dirty="0" err="1" smtClean="0"/>
              <a:t>j</a:t>
            </a:r>
            <a:endParaRPr lang="en-US" sz="2600" dirty="0" smtClean="0"/>
          </a:p>
          <a:p>
            <a:r>
              <a:rPr lang="en-US" dirty="0" smtClean="0"/>
              <a:t>Ex: </a:t>
            </a:r>
            <a:r>
              <a:rPr lang="en-US" dirty="0" err="1" smtClean="0"/>
              <a:t>Matmul</a:t>
            </a:r>
            <a:r>
              <a:rPr lang="en-US" dirty="0" smtClean="0"/>
              <a:t>: s = [ 1/2 , 1/2 , 1/2 ]</a:t>
            </a:r>
            <a:r>
              <a:rPr lang="en-US" baseline="30000" dirty="0" smtClean="0"/>
              <a:t>T</a:t>
            </a:r>
            <a:r>
              <a:rPr lang="en-US" dirty="0" smtClean="0"/>
              <a:t> = x</a:t>
            </a:r>
          </a:p>
          <a:p>
            <a:r>
              <a:rPr lang="en-US" dirty="0" smtClean="0"/>
              <a:t>Extends to </a:t>
            </a:r>
            <a:r>
              <a:rPr lang="en-US" dirty="0" err="1" smtClean="0"/>
              <a:t>unimodular</a:t>
            </a:r>
            <a:r>
              <a:rPr lang="en-US" dirty="0" smtClean="0"/>
              <a:t> transforms of indices</a:t>
            </a:r>
          </a:p>
        </p:txBody>
      </p:sp>
    </p:spTree>
    <p:extLst>
      <p:ext uri="{BB962C8B-B14F-4D97-AF65-F5344CB8AC3E}">
        <p14:creationId xmlns:p14="http://schemas.microsoft.com/office/powerpoint/2010/main" val="22912495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Identify more decidable cases</a:t>
            </a:r>
          </a:p>
          <a:p>
            <a:pPr lvl="1"/>
            <a:r>
              <a:rPr lang="en-US" dirty="0" smtClean="0"/>
              <a:t>Works for any 3 nested loops, or 3 different subscripts</a:t>
            </a:r>
          </a:p>
          <a:p>
            <a:r>
              <a:rPr lang="en-US" dirty="0" smtClean="0"/>
              <a:t>Automate generation of approximate LPs</a:t>
            </a:r>
          </a:p>
          <a:p>
            <a:r>
              <a:rPr lang="en-US" dirty="0" smtClean="0"/>
              <a:t>Extend “perfect scaling” results for time and energy by using extra memory</a:t>
            </a:r>
          </a:p>
          <a:p>
            <a:r>
              <a:rPr lang="en-US" dirty="0" smtClean="0"/>
              <a:t>Have yet to find a case where we cannot attain lower bound – can we prove this?</a:t>
            </a:r>
          </a:p>
          <a:p>
            <a:r>
              <a:rPr lang="en-US" dirty="0" smtClean="0"/>
              <a:t>Incorporate into compilers</a:t>
            </a:r>
          </a:p>
        </p:txBody>
      </p:sp>
    </p:spTree>
    <p:extLst>
      <p:ext uri="{BB962C8B-B14F-4D97-AF65-F5344CB8AC3E}">
        <p14:creationId xmlns:p14="http://schemas.microsoft.com/office/powerpoint/2010/main" val="33758309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more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Bebop.cs.berkeley.edu</a:t>
            </a:r>
            <a:endParaRPr lang="en-US" dirty="0" smtClean="0"/>
          </a:p>
          <a:p>
            <a:r>
              <a:rPr lang="en-US" dirty="0" smtClean="0"/>
              <a:t>CS267 – Berkeley’s Parallel Computing Course</a:t>
            </a:r>
          </a:p>
          <a:p>
            <a:pPr lvl="1"/>
            <a:r>
              <a:rPr lang="en-US" dirty="0" smtClean="0"/>
              <a:t>Live broadcast in Spring 2013</a:t>
            </a:r>
          </a:p>
          <a:p>
            <a:pPr lvl="2"/>
            <a:r>
              <a:rPr lang="en-US" dirty="0" smtClean="0">
                <a:hlinkClick r:id="rId2"/>
              </a:rPr>
              <a:t>www.cs.berkeley.edu/~demmel</a:t>
            </a:r>
            <a:endParaRPr lang="en-US" dirty="0" smtClean="0"/>
          </a:p>
          <a:p>
            <a:pPr lvl="1"/>
            <a:r>
              <a:rPr lang="en-US" dirty="0" smtClean="0"/>
              <a:t>Prerecorded version planned in Spring 2013</a:t>
            </a:r>
          </a:p>
          <a:p>
            <a:pPr lvl="2"/>
            <a:r>
              <a:rPr lang="en-US" dirty="0" smtClean="0">
                <a:hlinkClick r:id="rId3"/>
              </a:rPr>
              <a:t>www.xsede.org</a:t>
            </a:r>
            <a:endParaRPr lang="en-US" dirty="0"/>
          </a:p>
          <a:p>
            <a:pPr lvl="2"/>
            <a:r>
              <a:rPr lang="en-US" dirty="0" smtClean="0"/>
              <a:t>Free supercomputer accounts to do homework!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0165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2133600" y="457200"/>
            <a:ext cx="4603750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Summary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609600" y="4437063"/>
            <a:ext cx="8001000" cy="744537"/>
          </a:xfrm>
        </p:spPr>
        <p:txBody>
          <a:bodyPr>
            <a:noAutofit/>
          </a:bodyPr>
          <a:lstStyle/>
          <a:p>
            <a:pPr algn="ctr">
              <a:buFontTx/>
              <a:buNone/>
            </a:pPr>
            <a:r>
              <a:rPr lang="en-US" sz="3600" dirty="0" smtClean="0"/>
              <a:t>Don’t </a:t>
            </a:r>
            <a:r>
              <a:rPr lang="en-US" sz="3600" dirty="0" err="1" smtClean="0"/>
              <a:t>Communic</a:t>
            </a:r>
            <a:r>
              <a:rPr lang="en-US" sz="3600" dirty="0" smtClean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239000" y="6400800"/>
            <a:ext cx="1905000" cy="457200"/>
          </a:xfrm>
        </p:spPr>
        <p:txBody>
          <a:bodyPr/>
          <a:lstStyle/>
          <a:p>
            <a:pPr>
              <a:defRPr/>
            </a:pPr>
            <a:fld id="{FF82FEF4-93E3-42FA-B82C-EFBA8D4A2706}" type="slidenum">
              <a:rPr lang="en-US" smtClean="0"/>
              <a:pPr>
                <a:defRPr/>
              </a:pPr>
              <a:t>108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52400" y="1447800"/>
            <a:ext cx="8991600" cy="2242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3500" tIns="25400" rIns="63500" bIns="25400">
            <a:spAutoFit/>
          </a:bodyPr>
          <a:lstStyle/>
          <a:p>
            <a:pPr marL="203200" indent="-203200" algn="ctr" eaLnBrk="0" hangingPunct="0">
              <a:spcBef>
                <a:spcPct val="15000"/>
              </a:spcBef>
              <a:buSzPct val="100000"/>
              <a:defRPr/>
            </a:pPr>
            <a:r>
              <a:rPr lang="en-US" sz="3200" b="0" kern="0" dirty="0">
                <a:solidFill>
                  <a:schemeClr val="tx1"/>
                </a:solidFill>
                <a:latin typeface="+mn-lt"/>
                <a:cs typeface="+mn-cs"/>
              </a:rPr>
              <a:t>Time to redesign all </a:t>
            </a:r>
            <a:r>
              <a:rPr lang="en-US" sz="3200" b="0" kern="0" dirty="0" smtClean="0">
                <a:solidFill>
                  <a:schemeClr val="tx1"/>
                </a:solidFill>
                <a:latin typeface="+mn-lt"/>
                <a:cs typeface="+mn-cs"/>
              </a:rPr>
              <a:t>linear algebra, n-body,…  </a:t>
            </a:r>
          </a:p>
          <a:p>
            <a:pPr marL="203200" indent="-203200" algn="ctr" eaLnBrk="0" hangingPunct="0">
              <a:spcBef>
                <a:spcPct val="15000"/>
              </a:spcBef>
              <a:buSzPct val="100000"/>
              <a:defRPr/>
            </a:pPr>
            <a:r>
              <a:rPr lang="en-US" sz="3200" b="0" kern="0" dirty="0" smtClean="0">
                <a:solidFill>
                  <a:schemeClr val="tx1"/>
                </a:solidFill>
                <a:latin typeface="+mn-lt"/>
                <a:cs typeface="+mn-cs"/>
              </a:rPr>
              <a:t>algorithms and software</a:t>
            </a:r>
          </a:p>
          <a:p>
            <a:pPr marL="203200" indent="-203200" algn="ctr" eaLnBrk="0" hangingPunct="0">
              <a:spcBef>
                <a:spcPct val="15000"/>
              </a:spcBef>
              <a:buSzPct val="100000"/>
              <a:defRPr/>
            </a:pPr>
            <a:r>
              <a:rPr lang="en-US" sz="3200" kern="0" dirty="0" smtClean="0"/>
              <a:t>(and compilers…)</a:t>
            </a:r>
            <a:endParaRPr lang="en-US" sz="3200" b="0" kern="0" dirty="0" smtClean="0">
              <a:solidFill>
                <a:schemeClr val="tx1"/>
              </a:solidFill>
              <a:latin typeface="+mn-lt"/>
              <a:cs typeface="+mn-cs"/>
            </a:endParaRPr>
          </a:p>
          <a:p>
            <a:pPr marL="203200" indent="-203200" algn="ctr" eaLnBrk="0" hangingPunct="0">
              <a:spcBef>
                <a:spcPct val="15000"/>
              </a:spcBef>
              <a:buSzPct val="100000"/>
              <a:defRPr/>
            </a:pPr>
            <a:endParaRPr lang="en-US" sz="3200" kern="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27102</TotalTime>
  <Words>11698</Words>
  <Application>Microsoft Macintosh PowerPoint</Application>
  <PresentationFormat>On-screen Show (4:3)</PresentationFormat>
  <Paragraphs>1913</Paragraphs>
  <Slides>108</Slides>
  <Notes>48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09" baseType="lpstr">
      <vt:lpstr>Office Theme</vt:lpstr>
      <vt:lpstr>Introduction to  Communication-Avoiding Algorithms  www.cs.berkeley.edu/~demmel/SC12_tutorial</vt:lpstr>
      <vt:lpstr>Why avoid communication? (1/2)</vt:lpstr>
      <vt:lpstr>Why avoid communication? (2/3)</vt:lpstr>
      <vt:lpstr>Why Minimize Communication? (2/2)</vt:lpstr>
      <vt:lpstr>Why Minimize Communication? (2/2)</vt:lpstr>
      <vt:lpstr>Goals</vt:lpstr>
      <vt:lpstr>PowerPoint Presentation</vt:lpstr>
      <vt:lpstr>Collaborators and Supporters</vt:lpstr>
      <vt:lpstr>Summary of CA Algorithms</vt:lpstr>
      <vt:lpstr>Outline</vt:lpstr>
      <vt:lpstr>Outline</vt:lpstr>
      <vt:lpstr>Lower bound for all “direct” linear algebra</vt:lpstr>
      <vt:lpstr>Lower bound for all “direct” linear algebra</vt:lpstr>
      <vt:lpstr>Lower bound for all “direct” linear algebra</vt:lpstr>
      <vt:lpstr>Can we attain these lower bounds?</vt:lpstr>
      <vt:lpstr>Naïve Matrix Multiply</vt:lpstr>
      <vt:lpstr>Naïve Matrix Multiply</vt:lpstr>
      <vt:lpstr>Naïve Matrix Multiply</vt:lpstr>
      <vt:lpstr>Blocked (Tiled) Matrix Multiply</vt:lpstr>
      <vt:lpstr>Blocked (Tiled) Matrix Multiply</vt:lpstr>
      <vt:lpstr>Does blocked matmul attain lower bound?</vt:lpstr>
      <vt:lpstr>Recursive Matrix Multiplication (RMM) (1/2)</vt:lpstr>
      <vt:lpstr>Recursive Matrix Multiplication (RMM) (2/2)</vt:lpstr>
      <vt:lpstr>How hard is hand-tuning matmul, anyway?</vt:lpstr>
      <vt:lpstr>How hard is hand-tuning matmul, anyway?</vt:lpstr>
      <vt:lpstr>Parallel MatMul with 2D Processor Layout</vt:lpstr>
      <vt:lpstr>SUMMA Algorithm</vt:lpstr>
      <vt:lpstr>SUMMA – n x n matmul on P1/2 x P1/2 grid  </vt:lpstr>
      <vt:lpstr>SUMMA– n x n matmul on P1/2 x P1/2 grid </vt:lpstr>
      <vt:lpstr>SUMMA Communication Costs</vt:lpstr>
      <vt:lpstr>Can we do better? </vt:lpstr>
      <vt:lpstr>2.5D Matrix Multiplication </vt:lpstr>
      <vt:lpstr>2.5D Matrix Multiplication </vt:lpstr>
      <vt:lpstr>2.5D Matmul on BG/P, 16K nodes / 64K cores</vt:lpstr>
      <vt:lpstr>2.5D Matmul on BG/P, 16K nodes / 64K cores</vt:lpstr>
      <vt:lpstr>Perfect Strong Scaling – in Time and Energy (1/2)</vt:lpstr>
      <vt:lpstr>Perfect Strong Scaling in Time of  2.5D Matmul on BG/P, n=64K</vt:lpstr>
      <vt:lpstr>Perfect Strong Scaling – in Time and Energy (2/2)</vt:lpstr>
      <vt:lpstr>Extending to rest of Direct Linear Algebra Naïve Gaussian Elimination: A =LU</vt:lpstr>
      <vt:lpstr>Communication in sequential One-sided Factorizations (LU, QR, …)</vt:lpstr>
      <vt:lpstr>TSQR: QR of a Tall, Skinny matrix</vt:lpstr>
      <vt:lpstr>TSQR: QR of a Tall, Skinny matrix</vt:lpstr>
      <vt:lpstr>TSQR: An Architecture-Dependent Algorithm</vt:lpstr>
      <vt:lpstr>TSQR Performance Results</vt:lpstr>
      <vt:lpstr>Back to LU: Using similar idea for TSLU as TSQR:  Use reduction tree, to do “Tournament Pivoting”</vt:lpstr>
      <vt:lpstr>Exascale Machine Parameters Source: DOE Exascale Workshop</vt:lpstr>
      <vt:lpstr>Exascale  predicted speedups for Gaussian Elimination:    2D CA-LU vs ScaLAPACK-LU </vt:lpstr>
      <vt:lpstr>2.5D vs 2D LU With and Without Pivoting</vt:lpstr>
      <vt:lpstr>Summary of dense sequential algorithms  attaining communication lower bounds</vt:lpstr>
      <vt:lpstr>Summary of dense parallel algorithms  attaining communication lower bounds</vt:lpstr>
      <vt:lpstr>Summary of dense parallel algorithms  attaining communication lower bounds</vt:lpstr>
      <vt:lpstr>Summary of dense parallel algorithms  attaining communication lower bounds</vt:lpstr>
      <vt:lpstr>Summary of dense parallel algorithms  attaining communication lower bounds</vt:lpstr>
      <vt:lpstr>Can we do even better?</vt:lpstr>
      <vt:lpstr>Symmetric Band Reduction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Conventional vs CA - SBR</vt:lpstr>
      <vt:lpstr>Speedups of Sym. Band Reduction vs DSBTRD</vt:lpstr>
      <vt:lpstr>Communication Lower Bounds for Strassen-like matmul algorithms</vt:lpstr>
      <vt:lpstr>vs.             </vt:lpstr>
      <vt:lpstr>PowerPoint Presentation</vt:lpstr>
      <vt:lpstr>Summary of Direct Linear Algebra</vt:lpstr>
      <vt:lpstr>Outline</vt:lpstr>
      <vt:lpstr>Avoiding Communication in Iterative Linear Algebra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Minimizing Communication of GMRES to solve Ax=b</vt:lpstr>
      <vt:lpstr>PowerPoint Presentation</vt:lpstr>
      <vt:lpstr>Speed ups of GMRES on 8-core Intel Clovertown </vt:lpstr>
      <vt:lpstr>PowerPoint Presentation</vt:lpstr>
      <vt:lpstr>PowerPoint Presentation</vt:lpstr>
      <vt:lpstr>PowerPoint Presentation</vt:lpstr>
      <vt:lpstr>Tuning space for Krylov Methods</vt:lpstr>
      <vt:lpstr>Summary of Iterative Linear Algebra</vt:lpstr>
      <vt:lpstr>Outline</vt:lpstr>
      <vt:lpstr>Recall optimal sequential Matmul</vt:lpstr>
      <vt:lpstr>New Thm applied to Matmul</vt:lpstr>
      <vt:lpstr>New Thm applied to Direct N-Body</vt:lpstr>
      <vt:lpstr>N-Body Speedups on IBM-BG/P (Intrepid) 8K cores, 32K particles</vt:lpstr>
      <vt:lpstr>New Thm applied to Random Code</vt:lpstr>
      <vt:lpstr>Approach to generalizing lower bounds</vt:lpstr>
      <vt:lpstr>General Communication Bound</vt:lpstr>
      <vt:lpstr>Is this bound attainable (1/2)?</vt:lpstr>
      <vt:lpstr>Is this bound attainable (2/2)?</vt:lpstr>
      <vt:lpstr>Ongoing Work</vt:lpstr>
      <vt:lpstr>For more details</vt:lpstr>
      <vt:lpstr>Summary</vt:lpstr>
    </vt:vector>
  </TitlesOfParts>
  <Company>EECS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Past, Present and Future of  High Performance  Linear Algebra Libraries</dc:title>
  <dc:creator>EECS</dc:creator>
  <cp:lastModifiedBy>James Demmel</cp:lastModifiedBy>
  <cp:revision>288</cp:revision>
  <cp:lastPrinted>2011-11-12T21:20:35Z</cp:lastPrinted>
  <dcterms:created xsi:type="dcterms:W3CDTF">2010-11-11T01:36:48Z</dcterms:created>
  <dcterms:modified xsi:type="dcterms:W3CDTF">2012-11-12T23:14:02Z</dcterms:modified>
</cp:coreProperties>
</file>