
<file path=[Content_Types].xml><?xml version="1.0" encoding="utf-8"?>
<Types xmlns="http://schemas.openxmlformats.org/package/2006/content-types">
  <Override PartName="/ppt/slideMasters/slideMaster2.xml" ContentType="application/vnd.openxmlformats-officedocument.presentationml.slideMaster+xml"/>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Default Extension="png" ContentType="image/png"/>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7" r:id="rId1"/>
    <p:sldMasterId id="2147483699" r:id="rId2"/>
  </p:sldMasterIdLst>
  <p:notesMasterIdLst>
    <p:notesMasterId r:id="rId17"/>
  </p:notesMasterIdLst>
  <p:sldIdLst>
    <p:sldId id="363" r:id="rId3"/>
    <p:sldId id="517" r:id="rId4"/>
    <p:sldId id="551" r:id="rId5"/>
    <p:sldId id="552" r:id="rId6"/>
    <p:sldId id="558" r:id="rId7"/>
    <p:sldId id="554" r:id="rId8"/>
    <p:sldId id="553" r:id="rId9"/>
    <p:sldId id="550" r:id="rId10"/>
    <p:sldId id="555" r:id="rId11"/>
    <p:sldId id="556" r:id="rId12"/>
    <p:sldId id="560" r:id="rId13"/>
    <p:sldId id="559" r:id="rId14"/>
    <p:sldId id="561" r:id="rId15"/>
    <p:sldId id="557" r:id="rId16"/>
  </p:sldIdLst>
  <p:sldSz cx="9144000" cy="6858000" type="screen4x3"/>
  <p:notesSz cx="7010400" cy="9296400"/>
  <p:defaultTextStyle>
    <a:defPPr>
      <a:defRPr lang="en-US"/>
    </a:defPPr>
    <a:lvl1pPr algn="l" rtl="0" fontAlgn="base">
      <a:spcBef>
        <a:spcPct val="0"/>
      </a:spcBef>
      <a:spcAft>
        <a:spcPct val="0"/>
      </a:spcAft>
      <a:defRPr sz="1400" b="1" kern="1200">
        <a:solidFill>
          <a:schemeClr val="tx1"/>
        </a:solidFill>
        <a:latin typeface="Verdana" pitchFamily="34" charset="0"/>
        <a:ea typeface="+mn-ea"/>
        <a:cs typeface="+mn-cs"/>
      </a:defRPr>
    </a:lvl1pPr>
    <a:lvl2pPr marL="457200" algn="l" rtl="0" fontAlgn="base">
      <a:spcBef>
        <a:spcPct val="0"/>
      </a:spcBef>
      <a:spcAft>
        <a:spcPct val="0"/>
      </a:spcAft>
      <a:defRPr sz="1400" b="1" kern="1200">
        <a:solidFill>
          <a:schemeClr val="tx1"/>
        </a:solidFill>
        <a:latin typeface="Verdana" pitchFamily="34" charset="0"/>
        <a:ea typeface="+mn-ea"/>
        <a:cs typeface="+mn-cs"/>
      </a:defRPr>
    </a:lvl2pPr>
    <a:lvl3pPr marL="914400" algn="l" rtl="0" fontAlgn="base">
      <a:spcBef>
        <a:spcPct val="0"/>
      </a:spcBef>
      <a:spcAft>
        <a:spcPct val="0"/>
      </a:spcAft>
      <a:defRPr sz="1400" b="1" kern="1200">
        <a:solidFill>
          <a:schemeClr val="tx1"/>
        </a:solidFill>
        <a:latin typeface="Verdana" pitchFamily="34" charset="0"/>
        <a:ea typeface="+mn-ea"/>
        <a:cs typeface="+mn-cs"/>
      </a:defRPr>
    </a:lvl3pPr>
    <a:lvl4pPr marL="1371600" algn="l" rtl="0" fontAlgn="base">
      <a:spcBef>
        <a:spcPct val="0"/>
      </a:spcBef>
      <a:spcAft>
        <a:spcPct val="0"/>
      </a:spcAft>
      <a:defRPr sz="1400" b="1" kern="1200">
        <a:solidFill>
          <a:schemeClr val="tx1"/>
        </a:solidFill>
        <a:latin typeface="Verdana" pitchFamily="34" charset="0"/>
        <a:ea typeface="+mn-ea"/>
        <a:cs typeface="+mn-cs"/>
      </a:defRPr>
    </a:lvl4pPr>
    <a:lvl5pPr marL="1828800" algn="l" rtl="0" fontAlgn="base">
      <a:spcBef>
        <a:spcPct val="0"/>
      </a:spcBef>
      <a:spcAft>
        <a:spcPct val="0"/>
      </a:spcAft>
      <a:defRPr sz="1400" b="1" kern="1200">
        <a:solidFill>
          <a:schemeClr val="tx1"/>
        </a:solidFill>
        <a:latin typeface="Verdana" pitchFamily="34" charset="0"/>
        <a:ea typeface="+mn-ea"/>
        <a:cs typeface="+mn-cs"/>
      </a:defRPr>
    </a:lvl5pPr>
    <a:lvl6pPr marL="2286000" algn="l" defTabSz="914400" rtl="0" eaLnBrk="1" latinLnBrk="0" hangingPunct="1">
      <a:defRPr sz="1400" b="1" kern="1200">
        <a:solidFill>
          <a:schemeClr val="tx1"/>
        </a:solidFill>
        <a:latin typeface="Verdana" pitchFamily="34" charset="0"/>
        <a:ea typeface="+mn-ea"/>
        <a:cs typeface="+mn-cs"/>
      </a:defRPr>
    </a:lvl6pPr>
    <a:lvl7pPr marL="2743200" algn="l" defTabSz="914400" rtl="0" eaLnBrk="1" latinLnBrk="0" hangingPunct="1">
      <a:defRPr sz="1400" b="1" kern="1200">
        <a:solidFill>
          <a:schemeClr val="tx1"/>
        </a:solidFill>
        <a:latin typeface="Verdana" pitchFamily="34" charset="0"/>
        <a:ea typeface="+mn-ea"/>
        <a:cs typeface="+mn-cs"/>
      </a:defRPr>
    </a:lvl7pPr>
    <a:lvl8pPr marL="3200400" algn="l" defTabSz="914400" rtl="0" eaLnBrk="1" latinLnBrk="0" hangingPunct="1">
      <a:defRPr sz="1400" b="1" kern="1200">
        <a:solidFill>
          <a:schemeClr val="tx1"/>
        </a:solidFill>
        <a:latin typeface="Verdana" pitchFamily="34" charset="0"/>
        <a:ea typeface="+mn-ea"/>
        <a:cs typeface="+mn-cs"/>
      </a:defRPr>
    </a:lvl8pPr>
    <a:lvl9pPr marL="3657600" algn="l" defTabSz="914400" rtl="0" eaLnBrk="1" latinLnBrk="0" hangingPunct="1">
      <a:defRPr sz="1400" b="1" kern="1200">
        <a:solidFill>
          <a:schemeClr val="tx1"/>
        </a:solidFill>
        <a:latin typeface="Verdana" pitchFamily="34"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0D8E8"/>
    <a:srgbClr val="E9EDF4"/>
    <a:srgbClr val="FF3300"/>
    <a:srgbClr val="00FF00"/>
    <a:srgbClr val="77623D"/>
    <a:srgbClr val="808000"/>
    <a:srgbClr val="3333CC"/>
    <a:srgbClr val="FF00FF"/>
  </p:clrMru>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71" autoAdjust="0"/>
    <p:restoredTop sz="84477" autoAdjust="0"/>
  </p:normalViewPr>
  <p:slideViewPr>
    <p:cSldViewPr snapToGrid="0">
      <p:cViewPr varScale="1">
        <p:scale>
          <a:sx n="100" d="100"/>
          <a:sy n="100" d="100"/>
        </p:scale>
        <p:origin x="-1926" y="-96"/>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458" name="Rectangle 2"/>
          <p:cNvSpPr>
            <a:spLocks noGrp="1" noChangeArrowheads="1"/>
          </p:cNvSpPr>
          <p:nvPr>
            <p:ph type="hdr" sz="quarter"/>
          </p:nvPr>
        </p:nvSpPr>
        <p:spPr bwMode="auto">
          <a:xfrm>
            <a:off x="0" y="0"/>
            <a:ext cx="3038475" cy="465138"/>
          </a:xfrm>
          <a:prstGeom prst="rect">
            <a:avLst/>
          </a:prstGeom>
          <a:noFill/>
          <a:ln w="9525">
            <a:noFill/>
            <a:miter lim="800000"/>
            <a:headEnd/>
            <a:tailEnd/>
          </a:ln>
          <a:effectLst/>
        </p:spPr>
        <p:txBody>
          <a:bodyPr vert="horz" wrap="square" lIns="92400" tIns="46200" rIns="92400" bIns="46200" numCol="1" anchor="t" anchorCtr="0" compatLnSpc="1">
            <a:prstTxWarp prst="textNoShape">
              <a:avLst/>
            </a:prstTxWarp>
          </a:bodyPr>
          <a:lstStyle>
            <a:lvl1pPr defTabSz="923925" eaLnBrk="1" hangingPunct="1">
              <a:defRPr sz="1200" b="0">
                <a:latin typeface="Arial" charset="0"/>
              </a:defRPr>
            </a:lvl1pPr>
          </a:lstStyle>
          <a:p>
            <a:pPr>
              <a:defRPr/>
            </a:pPr>
            <a:endParaRPr lang="en-US"/>
          </a:p>
        </p:txBody>
      </p:sp>
      <p:sp>
        <p:nvSpPr>
          <p:cNvPr id="19459" name="Rectangle 3"/>
          <p:cNvSpPr>
            <a:spLocks noGrp="1" noChangeArrowheads="1"/>
          </p:cNvSpPr>
          <p:nvPr>
            <p:ph type="dt" idx="1"/>
          </p:nvPr>
        </p:nvSpPr>
        <p:spPr bwMode="auto">
          <a:xfrm>
            <a:off x="3970338" y="0"/>
            <a:ext cx="3038475" cy="465138"/>
          </a:xfrm>
          <a:prstGeom prst="rect">
            <a:avLst/>
          </a:prstGeom>
          <a:noFill/>
          <a:ln w="9525">
            <a:noFill/>
            <a:miter lim="800000"/>
            <a:headEnd/>
            <a:tailEnd/>
          </a:ln>
          <a:effectLst/>
        </p:spPr>
        <p:txBody>
          <a:bodyPr vert="horz" wrap="square" lIns="92400" tIns="46200" rIns="92400" bIns="46200" numCol="1" anchor="t" anchorCtr="0" compatLnSpc="1">
            <a:prstTxWarp prst="textNoShape">
              <a:avLst/>
            </a:prstTxWarp>
          </a:bodyPr>
          <a:lstStyle>
            <a:lvl1pPr algn="r" defTabSz="923925" eaLnBrk="1" hangingPunct="1">
              <a:defRPr sz="1200" b="0">
                <a:latin typeface="Arial" charset="0"/>
              </a:defRPr>
            </a:lvl1pPr>
          </a:lstStyle>
          <a:p>
            <a:pPr>
              <a:defRPr/>
            </a:pPr>
            <a:endParaRPr lang="en-US"/>
          </a:p>
        </p:txBody>
      </p:sp>
      <p:sp>
        <p:nvSpPr>
          <p:cNvPr id="17412" name="Rectangle 4"/>
          <p:cNvSpPr>
            <a:spLocks noGrp="1" noRot="1" noChangeAspect="1" noChangeArrowheads="1" noTextEdit="1"/>
          </p:cNvSpPr>
          <p:nvPr>
            <p:ph type="sldImg" idx="2"/>
          </p:nvPr>
        </p:nvSpPr>
        <p:spPr bwMode="auto">
          <a:xfrm>
            <a:off x="1181100" y="696913"/>
            <a:ext cx="4649788" cy="3487737"/>
          </a:xfrm>
          <a:prstGeom prst="rect">
            <a:avLst/>
          </a:prstGeom>
          <a:noFill/>
          <a:ln w="9525">
            <a:solidFill>
              <a:srgbClr val="000000"/>
            </a:solidFill>
            <a:miter lim="800000"/>
            <a:headEnd/>
            <a:tailEnd/>
          </a:ln>
        </p:spPr>
      </p:sp>
      <p:sp>
        <p:nvSpPr>
          <p:cNvPr id="19461" name="Rectangle 5"/>
          <p:cNvSpPr>
            <a:spLocks noGrp="1" noChangeArrowheads="1"/>
          </p:cNvSpPr>
          <p:nvPr>
            <p:ph type="body" sz="quarter" idx="3"/>
          </p:nvPr>
        </p:nvSpPr>
        <p:spPr bwMode="auto">
          <a:xfrm>
            <a:off x="701675" y="4416425"/>
            <a:ext cx="5607050" cy="4183063"/>
          </a:xfrm>
          <a:prstGeom prst="rect">
            <a:avLst/>
          </a:prstGeom>
          <a:noFill/>
          <a:ln w="9525">
            <a:noFill/>
            <a:miter lim="800000"/>
            <a:headEnd/>
            <a:tailEnd/>
          </a:ln>
          <a:effectLst/>
        </p:spPr>
        <p:txBody>
          <a:bodyPr vert="horz" wrap="square" lIns="92400" tIns="46200" rIns="92400" bIns="46200"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19462" name="Rectangle 6"/>
          <p:cNvSpPr>
            <a:spLocks noGrp="1" noChangeArrowheads="1"/>
          </p:cNvSpPr>
          <p:nvPr>
            <p:ph type="ftr" sz="quarter" idx="4"/>
          </p:nvPr>
        </p:nvSpPr>
        <p:spPr bwMode="auto">
          <a:xfrm>
            <a:off x="0" y="8829675"/>
            <a:ext cx="3038475" cy="465138"/>
          </a:xfrm>
          <a:prstGeom prst="rect">
            <a:avLst/>
          </a:prstGeom>
          <a:noFill/>
          <a:ln w="9525">
            <a:noFill/>
            <a:miter lim="800000"/>
            <a:headEnd/>
            <a:tailEnd/>
          </a:ln>
          <a:effectLst/>
        </p:spPr>
        <p:txBody>
          <a:bodyPr vert="horz" wrap="square" lIns="92400" tIns="46200" rIns="92400" bIns="46200" numCol="1" anchor="b" anchorCtr="0" compatLnSpc="1">
            <a:prstTxWarp prst="textNoShape">
              <a:avLst/>
            </a:prstTxWarp>
          </a:bodyPr>
          <a:lstStyle>
            <a:lvl1pPr defTabSz="923925" eaLnBrk="1" hangingPunct="1">
              <a:defRPr sz="1200" b="0">
                <a:latin typeface="Arial" charset="0"/>
              </a:defRPr>
            </a:lvl1pPr>
          </a:lstStyle>
          <a:p>
            <a:pPr>
              <a:defRPr/>
            </a:pPr>
            <a:endParaRPr lang="en-US"/>
          </a:p>
        </p:txBody>
      </p:sp>
      <p:sp>
        <p:nvSpPr>
          <p:cNvPr id="19463" name="Rectangle 7"/>
          <p:cNvSpPr>
            <a:spLocks noGrp="1" noChangeArrowheads="1"/>
          </p:cNvSpPr>
          <p:nvPr>
            <p:ph type="sldNum" sz="quarter" idx="5"/>
          </p:nvPr>
        </p:nvSpPr>
        <p:spPr bwMode="auto">
          <a:xfrm>
            <a:off x="3970338" y="8829675"/>
            <a:ext cx="3038475" cy="465138"/>
          </a:xfrm>
          <a:prstGeom prst="rect">
            <a:avLst/>
          </a:prstGeom>
          <a:noFill/>
          <a:ln w="9525">
            <a:noFill/>
            <a:miter lim="800000"/>
            <a:headEnd/>
            <a:tailEnd/>
          </a:ln>
          <a:effectLst/>
        </p:spPr>
        <p:txBody>
          <a:bodyPr vert="horz" wrap="square" lIns="92400" tIns="46200" rIns="92400" bIns="46200" numCol="1" anchor="b" anchorCtr="0" compatLnSpc="1">
            <a:prstTxWarp prst="textNoShape">
              <a:avLst/>
            </a:prstTxWarp>
          </a:bodyPr>
          <a:lstStyle>
            <a:lvl1pPr algn="r" defTabSz="923925" eaLnBrk="1" hangingPunct="1">
              <a:defRPr sz="1200" b="0">
                <a:latin typeface="Arial" charset="0"/>
              </a:defRPr>
            </a:lvl1pPr>
          </a:lstStyle>
          <a:p>
            <a:pPr>
              <a:defRPr/>
            </a:pPr>
            <a:fld id="{5E8E322E-4C67-4ABD-89DB-DD0A911F287F}" type="slidenum">
              <a:rPr lang="en-US"/>
              <a:pPr>
                <a:defRPr/>
              </a:pPr>
              <a:t>‹#›</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Image Placeholder 1"/>
          <p:cNvSpPr>
            <a:spLocks noGrp="1" noRot="1" noChangeAspect="1" noTextEdit="1"/>
          </p:cNvSpPr>
          <p:nvPr>
            <p:ph type="sldImg"/>
          </p:nvPr>
        </p:nvSpPr>
        <p:spPr>
          <a:ln/>
        </p:spPr>
      </p:sp>
      <p:sp>
        <p:nvSpPr>
          <p:cNvPr id="18435" name="Notes Placeholder 2"/>
          <p:cNvSpPr>
            <a:spLocks noGrp="1"/>
          </p:cNvSpPr>
          <p:nvPr>
            <p:ph type="body" idx="1"/>
          </p:nvPr>
        </p:nvSpPr>
        <p:spPr>
          <a:noFill/>
          <a:ln/>
        </p:spPr>
        <p:txBody>
          <a:bodyPr/>
          <a:lstStyle/>
          <a:p>
            <a:endParaRPr lang="en-US" smtClean="0">
              <a:latin typeface="Arial" pitchFamily="34" charset="0"/>
            </a:endParaRPr>
          </a:p>
        </p:txBody>
      </p:sp>
      <p:sp>
        <p:nvSpPr>
          <p:cNvPr id="18436" name="Slide Number Placeholder 3"/>
          <p:cNvSpPr>
            <a:spLocks noGrp="1"/>
          </p:cNvSpPr>
          <p:nvPr>
            <p:ph type="sldNum" sz="quarter" idx="5"/>
          </p:nvPr>
        </p:nvSpPr>
        <p:spPr>
          <a:noFill/>
        </p:spPr>
        <p:txBody>
          <a:bodyPr/>
          <a:lstStyle/>
          <a:p>
            <a:fld id="{2C4FD1D8-A861-406C-A17C-81E5FA479B68}" type="slidenum">
              <a:rPr lang="en-US" smtClean="0">
                <a:latin typeface="Arial" pitchFamily="34" charset="0"/>
              </a:rPr>
              <a:pPr/>
              <a:t>1</a:t>
            </a:fld>
            <a:endParaRPr lang="en-US" smtClean="0">
              <a:latin typeface="Arial"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Image Placeholder 1"/>
          <p:cNvSpPr>
            <a:spLocks noGrp="1" noRot="1" noChangeAspect="1" noTextEdit="1"/>
          </p:cNvSpPr>
          <p:nvPr>
            <p:ph type="sldImg"/>
          </p:nvPr>
        </p:nvSpPr>
        <p:spPr>
          <a:ln/>
        </p:spPr>
      </p:sp>
      <p:sp>
        <p:nvSpPr>
          <p:cNvPr id="19459" name="Notes Placeholder 2"/>
          <p:cNvSpPr>
            <a:spLocks noGrp="1"/>
          </p:cNvSpPr>
          <p:nvPr>
            <p:ph type="body" idx="1"/>
          </p:nvPr>
        </p:nvSpPr>
        <p:spPr>
          <a:noFill/>
          <a:ln/>
        </p:spPr>
        <p:txBody>
          <a:bodyPr/>
          <a:lstStyle/>
          <a:p>
            <a:endParaRPr lang="en-US" smtClean="0">
              <a:latin typeface="Arial" pitchFamily="34" charset="0"/>
            </a:endParaRPr>
          </a:p>
        </p:txBody>
      </p:sp>
      <p:sp>
        <p:nvSpPr>
          <p:cNvPr id="19460" name="Slide Number Placeholder 3"/>
          <p:cNvSpPr>
            <a:spLocks noGrp="1"/>
          </p:cNvSpPr>
          <p:nvPr>
            <p:ph type="sldNum" sz="quarter" idx="5"/>
          </p:nvPr>
        </p:nvSpPr>
        <p:spPr>
          <a:noFill/>
        </p:spPr>
        <p:txBody>
          <a:bodyPr/>
          <a:lstStyle/>
          <a:p>
            <a:fld id="{5FF91957-2333-4264-8C51-90BF84597D82}" type="slidenum">
              <a:rPr lang="en-US" smtClean="0">
                <a:latin typeface="Arial" pitchFamily="34" charset="0"/>
              </a:rPr>
              <a:pPr/>
              <a:t>11</a:t>
            </a:fld>
            <a:endParaRPr lang="en-US" smtClean="0">
              <a:latin typeface="Arial"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10"/>
          </p:nvPr>
        </p:nvSpPr>
        <p:spPr/>
        <p:txBody>
          <a:bodyPr/>
          <a:lstStyle>
            <a:lvl1pPr>
              <a:defRPr/>
            </a:lvl1pPr>
          </a:lstStyle>
          <a:p>
            <a:pPr>
              <a:defRPr/>
            </a:pPr>
            <a:r>
              <a:rPr lang="en-US"/>
              <a:t>10/18/2010</a:t>
            </a:r>
          </a:p>
        </p:txBody>
      </p:sp>
      <p:sp>
        <p:nvSpPr>
          <p:cNvPr id="5" name="Footer Placeholder 4"/>
          <p:cNvSpPr>
            <a:spLocks noGrp="1"/>
          </p:cNvSpPr>
          <p:nvPr>
            <p:ph type="ftr" sz="quarter" idx="11"/>
          </p:nvPr>
        </p:nvSpPr>
        <p:spPr/>
        <p:txBody>
          <a:bodyPr/>
          <a:lstStyle>
            <a:lvl1pPr>
              <a:defRPr/>
            </a:lvl1pPr>
          </a:lstStyle>
          <a:p>
            <a:pPr>
              <a:defRPr/>
            </a:pPr>
            <a:r>
              <a:rPr lang="en-US"/>
              <a:t>Workshop on North American Gravimetry</a:t>
            </a:r>
          </a:p>
        </p:txBody>
      </p:sp>
      <p:sp>
        <p:nvSpPr>
          <p:cNvPr id="6" name="Slide Number Placeholder 5"/>
          <p:cNvSpPr>
            <a:spLocks noGrp="1"/>
          </p:cNvSpPr>
          <p:nvPr>
            <p:ph type="sldNum" sz="quarter" idx="12"/>
          </p:nvPr>
        </p:nvSpPr>
        <p:spPr/>
        <p:txBody>
          <a:bodyPr/>
          <a:lstStyle>
            <a:lvl1pPr>
              <a:defRPr/>
            </a:lvl1pPr>
          </a:lstStyle>
          <a:p>
            <a:pPr>
              <a:defRPr/>
            </a:pPr>
            <a:fld id="{AD50A382-1F86-4341-A05F-5072547712E0}"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r>
              <a:rPr lang="en-US"/>
              <a:t>10/18/2010</a:t>
            </a:r>
          </a:p>
        </p:txBody>
      </p:sp>
      <p:sp>
        <p:nvSpPr>
          <p:cNvPr id="5" name="Footer Placeholder 4"/>
          <p:cNvSpPr>
            <a:spLocks noGrp="1"/>
          </p:cNvSpPr>
          <p:nvPr>
            <p:ph type="ftr" sz="quarter" idx="11"/>
          </p:nvPr>
        </p:nvSpPr>
        <p:spPr/>
        <p:txBody>
          <a:bodyPr/>
          <a:lstStyle>
            <a:lvl1pPr>
              <a:defRPr/>
            </a:lvl1pPr>
          </a:lstStyle>
          <a:p>
            <a:pPr>
              <a:defRPr/>
            </a:pPr>
            <a:r>
              <a:rPr lang="en-US"/>
              <a:t>Workshop on North American Gravimetry</a:t>
            </a:r>
          </a:p>
        </p:txBody>
      </p:sp>
      <p:sp>
        <p:nvSpPr>
          <p:cNvPr id="6" name="Slide Number Placeholder 5"/>
          <p:cNvSpPr>
            <a:spLocks noGrp="1"/>
          </p:cNvSpPr>
          <p:nvPr>
            <p:ph type="sldNum" sz="quarter" idx="12"/>
          </p:nvPr>
        </p:nvSpPr>
        <p:spPr/>
        <p:txBody>
          <a:bodyPr/>
          <a:lstStyle>
            <a:lvl1pPr>
              <a:defRPr/>
            </a:lvl1pPr>
          </a:lstStyle>
          <a:p>
            <a:pPr>
              <a:defRPr/>
            </a:pPr>
            <a:fld id="{136120BF-9986-484D-9D97-0A800886256F}"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r>
              <a:rPr lang="en-US"/>
              <a:t>10/18/2010</a:t>
            </a:r>
          </a:p>
        </p:txBody>
      </p:sp>
      <p:sp>
        <p:nvSpPr>
          <p:cNvPr id="5" name="Footer Placeholder 4"/>
          <p:cNvSpPr>
            <a:spLocks noGrp="1"/>
          </p:cNvSpPr>
          <p:nvPr>
            <p:ph type="ftr" sz="quarter" idx="11"/>
          </p:nvPr>
        </p:nvSpPr>
        <p:spPr/>
        <p:txBody>
          <a:bodyPr/>
          <a:lstStyle>
            <a:lvl1pPr>
              <a:defRPr/>
            </a:lvl1pPr>
          </a:lstStyle>
          <a:p>
            <a:pPr>
              <a:defRPr/>
            </a:pPr>
            <a:r>
              <a:rPr lang="en-US"/>
              <a:t>Workshop on North American Gravimetry</a:t>
            </a:r>
          </a:p>
        </p:txBody>
      </p:sp>
      <p:sp>
        <p:nvSpPr>
          <p:cNvPr id="6" name="Slide Number Placeholder 5"/>
          <p:cNvSpPr>
            <a:spLocks noGrp="1"/>
          </p:cNvSpPr>
          <p:nvPr>
            <p:ph type="sldNum" sz="quarter" idx="12"/>
          </p:nvPr>
        </p:nvSpPr>
        <p:spPr/>
        <p:txBody>
          <a:bodyPr/>
          <a:lstStyle>
            <a:lvl1pPr>
              <a:defRPr/>
            </a:lvl1pPr>
          </a:lstStyle>
          <a:p>
            <a:pPr>
              <a:defRPr/>
            </a:pPr>
            <a:fld id="{F832BD13-59F8-4E69-A1CE-E3F789482D86}"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r>
              <a:rPr lang="en-US"/>
              <a:t>10/18/2010</a:t>
            </a:r>
          </a:p>
        </p:txBody>
      </p:sp>
      <p:sp>
        <p:nvSpPr>
          <p:cNvPr id="5" name="Footer Placeholder 4"/>
          <p:cNvSpPr>
            <a:spLocks noGrp="1"/>
          </p:cNvSpPr>
          <p:nvPr>
            <p:ph type="ftr" sz="quarter" idx="11"/>
          </p:nvPr>
        </p:nvSpPr>
        <p:spPr/>
        <p:txBody>
          <a:bodyPr/>
          <a:lstStyle>
            <a:lvl1pPr>
              <a:defRPr/>
            </a:lvl1pPr>
          </a:lstStyle>
          <a:p>
            <a:pPr>
              <a:defRPr/>
            </a:pPr>
            <a:r>
              <a:rPr lang="en-US"/>
              <a:t>Workshop on North American Gravimetry</a:t>
            </a:r>
          </a:p>
        </p:txBody>
      </p:sp>
      <p:sp>
        <p:nvSpPr>
          <p:cNvPr id="6" name="Slide Number Placeholder 5"/>
          <p:cNvSpPr>
            <a:spLocks noGrp="1"/>
          </p:cNvSpPr>
          <p:nvPr>
            <p:ph type="sldNum" sz="quarter" idx="12"/>
          </p:nvPr>
        </p:nvSpPr>
        <p:spPr/>
        <p:txBody>
          <a:bodyPr/>
          <a:lstStyle>
            <a:lvl1pPr>
              <a:defRPr/>
            </a:lvl1pPr>
          </a:lstStyle>
          <a:p>
            <a:pPr>
              <a:defRPr/>
            </a:pPr>
            <a:fld id="{5B723CAF-B2D6-43A5-99FA-7E08921F2B29}"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r>
              <a:rPr lang="en-US"/>
              <a:t>10/18/2010</a:t>
            </a:r>
          </a:p>
        </p:txBody>
      </p:sp>
      <p:sp>
        <p:nvSpPr>
          <p:cNvPr id="6" name="Footer Placeholder 4"/>
          <p:cNvSpPr>
            <a:spLocks noGrp="1"/>
          </p:cNvSpPr>
          <p:nvPr>
            <p:ph type="ftr" sz="quarter" idx="11"/>
          </p:nvPr>
        </p:nvSpPr>
        <p:spPr/>
        <p:txBody>
          <a:bodyPr/>
          <a:lstStyle>
            <a:lvl1pPr>
              <a:defRPr/>
            </a:lvl1pPr>
          </a:lstStyle>
          <a:p>
            <a:pPr>
              <a:defRPr/>
            </a:pPr>
            <a:r>
              <a:rPr lang="en-US"/>
              <a:t>Workshop on North American Gravimetry</a:t>
            </a:r>
          </a:p>
        </p:txBody>
      </p:sp>
      <p:sp>
        <p:nvSpPr>
          <p:cNvPr id="7" name="Slide Number Placeholder 5"/>
          <p:cNvSpPr>
            <a:spLocks noGrp="1"/>
          </p:cNvSpPr>
          <p:nvPr>
            <p:ph type="sldNum" sz="quarter" idx="12"/>
          </p:nvPr>
        </p:nvSpPr>
        <p:spPr/>
        <p:txBody>
          <a:bodyPr/>
          <a:lstStyle>
            <a:lvl1pPr>
              <a:defRPr/>
            </a:lvl1pPr>
          </a:lstStyle>
          <a:p>
            <a:pPr>
              <a:defRPr/>
            </a:pPr>
            <a:fld id="{1F575D35-6A63-4D3D-B4AC-238FAA6D0CCC}"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r>
              <a:rPr lang="en-US"/>
              <a:t>10/18/2010</a:t>
            </a:r>
          </a:p>
        </p:txBody>
      </p:sp>
      <p:sp>
        <p:nvSpPr>
          <p:cNvPr id="8" name="Footer Placeholder 4"/>
          <p:cNvSpPr>
            <a:spLocks noGrp="1"/>
          </p:cNvSpPr>
          <p:nvPr>
            <p:ph type="ftr" sz="quarter" idx="11"/>
          </p:nvPr>
        </p:nvSpPr>
        <p:spPr/>
        <p:txBody>
          <a:bodyPr/>
          <a:lstStyle>
            <a:lvl1pPr>
              <a:defRPr/>
            </a:lvl1pPr>
          </a:lstStyle>
          <a:p>
            <a:pPr>
              <a:defRPr/>
            </a:pPr>
            <a:r>
              <a:rPr lang="en-US"/>
              <a:t>Workshop on North American Gravimetry</a:t>
            </a:r>
          </a:p>
        </p:txBody>
      </p:sp>
      <p:sp>
        <p:nvSpPr>
          <p:cNvPr id="9" name="Slide Number Placeholder 5"/>
          <p:cNvSpPr>
            <a:spLocks noGrp="1"/>
          </p:cNvSpPr>
          <p:nvPr>
            <p:ph type="sldNum" sz="quarter" idx="12"/>
          </p:nvPr>
        </p:nvSpPr>
        <p:spPr/>
        <p:txBody>
          <a:bodyPr/>
          <a:lstStyle>
            <a:lvl1pPr>
              <a:defRPr/>
            </a:lvl1pPr>
          </a:lstStyle>
          <a:p>
            <a:pPr>
              <a:defRPr/>
            </a:pPr>
            <a:fld id="{386608F7-CFAA-4B87-83E4-7CCA3C245413}"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r>
              <a:rPr lang="en-US"/>
              <a:t>10/18/2010</a:t>
            </a:r>
          </a:p>
        </p:txBody>
      </p:sp>
      <p:sp>
        <p:nvSpPr>
          <p:cNvPr id="4" name="Footer Placeholder 4"/>
          <p:cNvSpPr>
            <a:spLocks noGrp="1"/>
          </p:cNvSpPr>
          <p:nvPr>
            <p:ph type="ftr" sz="quarter" idx="11"/>
          </p:nvPr>
        </p:nvSpPr>
        <p:spPr/>
        <p:txBody>
          <a:bodyPr/>
          <a:lstStyle>
            <a:lvl1pPr>
              <a:defRPr/>
            </a:lvl1pPr>
          </a:lstStyle>
          <a:p>
            <a:pPr>
              <a:defRPr/>
            </a:pPr>
            <a:r>
              <a:rPr lang="en-US"/>
              <a:t>Workshop on North American Gravimetry</a:t>
            </a:r>
          </a:p>
        </p:txBody>
      </p:sp>
      <p:sp>
        <p:nvSpPr>
          <p:cNvPr id="5" name="Slide Number Placeholder 5"/>
          <p:cNvSpPr>
            <a:spLocks noGrp="1"/>
          </p:cNvSpPr>
          <p:nvPr>
            <p:ph type="sldNum" sz="quarter" idx="12"/>
          </p:nvPr>
        </p:nvSpPr>
        <p:spPr/>
        <p:txBody>
          <a:bodyPr/>
          <a:lstStyle>
            <a:lvl1pPr>
              <a:defRPr/>
            </a:lvl1pPr>
          </a:lstStyle>
          <a:p>
            <a:pPr>
              <a:defRPr/>
            </a:pPr>
            <a:fld id="{14E4A9FB-18B3-40D6-9B7B-B7EF9BD75248}"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r>
              <a:rPr lang="en-US"/>
              <a:t>10/18/2010</a:t>
            </a:r>
          </a:p>
        </p:txBody>
      </p:sp>
      <p:sp>
        <p:nvSpPr>
          <p:cNvPr id="3" name="Footer Placeholder 4"/>
          <p:cNvSpPr>
            <a:spLocks noGrp="1"/>
          </p:cNvSpPr>
          <p:nvPr>
            <p:ph type="ftr" sz="quarter" idx="11"/>
          </p:nvPr>
        </p:nvSpPr>
        <p:spPr/>
        <p:txBody>
          <a:bodyPr/>
          <a:lstStyle>
            <a:lvl1pPr>
              <a:defRPr/>
            </a:lvl1pPr>
          </a:lstStyle>
          <a:p>
            <a:pPr>
              <a:defRPr/>
            </a:pPr>
            <a:r>
              <a:rPr lang="en-US"/>
              <a:t>Workshop on North American Gravimetry</a:t>
            </a:r>
          </a:p>
        </p:txBody>
      </p:sp>
      <p:sp>
        <p:nvSpPr>
          <p:cNvPr id="4" name="Slide Number Placeholder 5"/>
          <p:cNvSpPr>
            <a:spLocks noGrp="1"/>
          </p:cNvSpPr>
          <p:nvPr>
            <p:ph type="sldNum" sz="quarter" idx="12"/>
          </p:nvPr>
        </p:nvSpPr>
        <p:spPr/>
        <p:txBody>
          <a:bodyPr/>
          <a:lstStyle>
            <a:lvl1pPr>
              <a:defRPr/>
            </a:lvl1pPr>
          </a:lstStyle>
          <a:p>
            <a:pPr>
              <a:defRPr/>
            </a:pPr>
            <a:fld id="{715B0195-AE03-454E-88BE-4621A09340B9}"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dirty="0"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r>
              <a:rPr lang="en-US"/>
              <a:t>10/18/2010</a:t>
            </a:r>
          </a:p>
        </p:txBody>
      </p:sp>
      <p:sp>
        <p:nvSpPr>
          <p:cNvPr id="6" name="Footer Placeholder 4"/>
          <p:cNvSpPr>
            <a:spLocks noGrp="1"/>
          </p:cNvSpPr>
          <p:nvPr>
            <p:ph type="ftr" sz="quarter" idx="11"/>
          </p:nvPr>
        </p:nvSpPr>
        <p:spPr/>
        <p:txBody>
          <a:bodyPr/>
          <a:lstStyle>
            <a:lvl1pPr>
              <a:defRPr/>
            </a:lvl1pPr>
          </a:lstStyle>
          <a:p>
            <a:pPr>
              <a:defRPr/>
            </a:pPr>
            <a:r>
              <a:rPr lang="en-US"/>
              <a:t>Workshop on North American Gravimetry</a:t>
            </a:r>
          </a:p>
        </p:txBody>
      </p:sp>
      <p:sp>
        <p:nvSpPr>
          <p:cNvPr id="7" name="Slide Number Placeholder 5"/>
          <p:cNvSpPr>
            <a:spLocks noGrp="1"/>
          </p:cNvSpPr>
          <p:nvPr>
            <p:ph type="sldNum" sz="quarter" idx="12"/>
          </p:nvPr>
        </p:nvSpPr>
        <p:spPr/>
        <p:txBody>
          <a:bodyPr/>
          <a:lstStyle>
            <a:lvl1pPr>
              <a:defRPr/>
            </a:lvl1pPr>
          </a:lstStyle>
          <a:p>
            <a:pPr>
              <a:defRPr/>
            </a:pPr>
            <a:fld id="{3588B72C-D2F2-4B5D-B953-2D65F940A55F}"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r>
              <a:rPr lang="en-US"/>
              <a:t>10/18/2010</a:t>
            </a:r>
          </a:p>
        </p:txBody>
      </p:sp>
      <p:sp>
        <p:nvSpPr>
          <p:cNvPr id="6" name="Footer Placeholder 4"/>
          <p:cNvSpPr>
            <a:spLocks noGrp="1"/>
          </p:cNvSpPr>
          <p:nvPr>
            <p:ph type="ftr" sz="quarter" idx="11"/>
          </p:nvPr>
        </p:nvSpPr>
        <p:spPr/>
        <p:txBody>
          <a:bodyPr/>
          <a:lstStyle>
            <a:lvl1pPr>
              <a:defRPr/>
            </a:lvl1pPr>
          </a:lstStyle>
          <a:p>
            <a:pPr>
              <a:defRPr/>
            </a:pPr>
            <a:r>
              <a:rPr lang="en-US"/>
              <a:t>Workshop on North American Gravimetry</a:t>
            </a:r>
          </a:p>
        </p:txBody>
      </p:sp>
      <p:sp>
        <p:nvSpPr>
          <p:cNvPr id="7" name="Slide Number Placeholder 5"/>
          <p:cNvSpPr>
            <a:spLocks noGrp="1"/>
          </p:cNvSpPr>
          <p:nvPr>
            <p:ph type="sldNum" sz="quarter" idx="12"/>
          </p:nvPr>
        </p:nvSpPr>
        <p:spPr/>
        <p:txBody>
          <a:bodyPr/>
          <a:lstStyle>
            <a:lvl1pPr>
              <a:defRPr/>
            </a:lvl1pPr>
          </a:lstStyle>
          <a:p>
            <a:pPr>
              <a:defRPr/>
            </a:pPr>
            <a:fld id="{8C2F6108-E7E8-4BD2-922C-57CA707E3D73}"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r>
              <a:rPr lang="en-US"/>
              <a:t>10/18/2010</a:t>
            </a:r>
          </a:p>
        </p:txBody>
      </p:sp>
      <p:sp>
        <p:nvSpPr>
          <p:cNvPr id="5" name="Footer Placeholder 4"/>
          <p:cNvSpPr>
            <a:spLocks noGrp="1"/>
          </p:cNvSpPr>
          <p:nvPr>
            <p:ph type="ftr" sz="quarter" idx="11"/>
          </p:nvPr>
        </p:nvSpPr>
        <p:spPr/>
        <p:txBody>
          <a:bodyPr/>
          <a:lstStyle>
            <a:lvl1pPr>
              <a:defRPr/>
            </a:lvl1pPr>
          </a:lstStyle>
          <a:p>
            <a:pPr>
              <a:defRPr/>
            </a:pPr>
            <a:r>
              <a:rPr lang="en-US"/>
              <a:t>Workshop on North American Gravimetry</a:t>
            </a:r>
          </a:p>
        </p:txBody>
      </p:sp>
      <p:sp>
        <p:nvSpPr>
          <p:cNvPr id="6" name="Slide Number Placeholder 5"/>
          <p:cNvSpPr>
            <a:spLocks noGrp="1"/>
          </p:cNvSpPr>
          <p:nvPr>
            <p:ph type="sldNum" sz="quarter" idx="12"/>
          </p:nvPr>
        </p:nvSpPr>
        <p:spPr/>
        <p:txBody>
          <a:bodyPr/>
          <a:lstStyle>
            <a:lvl1pPr>
              <a:defRPr/>
            </a:lvl1pPr>
          </a:lstStyle>
          <a:p>
            <a:pPr>
              <a:defRPr/>
            </a:pPr>
            <a:fld id="{68722331-0030-4EE9-86BA-CD001320FF3C}" type="slidenum">
              <a:rPr lang="en-US"/>
              <a:pPr>
                <a:defRPr/>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r>
              <a:rPr lang="en-US"/>
              <a:t>10/18/2010</a:t>
            </a:r>
          </a:p>
        </p:txBody>
      </p:sp>
      <p:sp>
        <p:nvSpPr>
          <p:cNvPr id="5" name="Footer Placeholder 4"/>
          <p:cNvSpPr>
            <a:spLocks noGrp="1"/>
          </p:cNvSpPr>
          <p:nvPr>
            <p:ph type="ftr" sz="quarter" idx="11"/>
          </p:nvPr>
        </p:nvSpPr>
        <p:spPr/>
        <p:txBody>
          <a:bodyPr/>
          <a:lstStyle>
            <a:lvl1pPr>
              <a:defRPr/>
            </a:lvl1pPr>
          </a:lstStyle>
          <a:p>
            <a:pPr>
              <a:defRPr/>
            </a:pPr>
            <a:r>
              <a:rPr lang="en-US"/>
              <a:t>Workshop on North American Gravimetry</a:t>
            </a:r>
          </a:p>
        </p:txBody>
      </p:sp>
      <p:sp>
        <p:nvSpPr>
          <p:cNvPr id="6" name="Slide Number Placeholder 5"/>
          <p:cNvSpPr>
            <a:spLocks noGrp="1"/>
          </p:cNvSpPr>
          <p:nvPr>
            <p:ph type="sldNum" sz="quarter" idx="12"/>
          </p:nvPr>
        </p:nvSpPr>
        <p:spPr/>
        <p:txBody>
          <a:bodyPr/>
          <a:lstStyle>
            <a:lvl1pPr>
              <a:defRPr/>
            </a:lvl1pPr>
          </a:lstStyle>
          <a:p>
            <a:pPr>
              <a:defRPr/>
            </a:pPr>
            <a:fld id="{05D00C06-100C-4552-8B98-4224A9E2162B}"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13" Type="http://schemas.openxmlformats.org/officeDocument/2006/relationships/image" Target="../media/image2.jpeg"/><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theme" Target="../theme/theme2.xml"/><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slideLayout" Target="../slideLayouts/slideLayout12.xml"/><Relationship Id="rId5" Type="http://schemas.openxmlformats.org/officeDocument/2006/relationships/slideLayout" Target="../slideLayouts/slideLayout6.xml"/><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026" name="Picture 6" descr="Header Slide.JPG"/>
          <p:cNvPicPr>
            <a:picLocks noChangeAspect="1"/>
          </p:cNvPicPr>
          <p:nvPr/>
        </p:nvPicPr>
        <p:blipFill>
          <a:blip r:embed="rId3" cstate="print"/>
          <a:srcRect/>
          <a:stretch>
            <a:fillRect/>
          </a:stretch>
        </p:blipFill>
        <p:spPr bwMode="auto">
          <a:xfrm>
            <a:off x="0" y="0"/>
            <a:ext cx="9144000" cy="6858000"/>
          </a:xfrm>
          <a:prstGeom prst="rect">
            <a:avLst/>
          </a:prstGeom>
          <a:noFill/>
          <a:ln w="9525">
            <a:noFill/>
            <a:miter lim="800000"/>
            <a:headEnd/>
            <a:tailEnd/>
          </a:ln>
        </p:spPr>
      </p:pic>
      <p:sp>
        <p:nvSpPr>
          <p:cNvPr id="1027" name="Title Placeholder 1"/>
          <p:cNvSpPr>
            <a:spLocks noGrp="1"/>
          </p:cNvSpPr>
          <p:nvPr>
            <p:ph type="title"/>
          </p:nvPr>
        </p:nvSpPr>
        <p:spPr bwMode="auto">
          <a:xfrm>
            <a:off x="457200" y="10747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028" name="Text Placeholder 2"/>
          <p:cNvSpPr>
            <a:spLocks noGrp="1"/>
          </p:cNvSpPr>
          <p:nvPr>
            <p:ph type="body" idx="1"/>
          </p:nvPr>
        </p:nvSpPr>
        <p:spPr bwMode="auto">
          <a:xfrm>
            <a:off x="457200" y="2352675"/>
            <a:ext cx="8229600" cy="377348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0" fontAlgn="auto" hangingPunct="0">
              <a:spcBef>
                <a:spcPts val="0"/>
              </a:spcBef>
              <a:spcAft>
                <a:spcPts val="0"/>
              </a:spcAft>
              <a:defRPr sz="1200">
                <a:solidFill>
                  <a:schemeClr val="tx1">
                    <a:tint val="75000"/>
                  </a:schemeClr>
                </a:solidFill>
                <a:latin typeface="+mn-lt"/>
              </a:defRPr>
            </a:lvl1pPr>
          </a:lstStyle>
          <a:p>
            <a:pPr>
              <a:defRPr/>
            </a:pPr>
            <a:r>
              <a:rPr lang="en-US"/>
              <a:t>10/18/2010</a:t>
            </a: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0" fontAlgn="auto" hangingPunct="0">
              <a:spcBef>
                <a:spcPts val="0"/>
              </a:spcBef>
              <a:spcAft>
                <a:spcPts val="0"/>
              </a:spcAft>
              <a:defRPr sz="1200">
                <a:solidFill>
                  <a:schemeClr val="tx1">
                    <a:tint val="75000"/>
                  </a:schemeClr>
                </a:solidFill>
                <a:latin typeface="+mn-lt"/>
              </a:defRPr>
            </a:lvl1pPr>
          </a:lstStyle>
          <a:p>
            <a:pPr>
              <a:defRPr/>
            </a:pPr>
            <a:r>
              <a:rPr lang="en-US"/>
              <a:t>Workshop on North American Gravimetry</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eaLnBrk="0" fontAlgn="auto" hangingPunct="0">
              <a:spcBef>
                <a:spcPts val="0"/>
              </a:spcBef>
              <a:spcAft>
                <a:spcPts val="0"/>
              </a:spcAft>
              <a:defRPr sz="1200">
                <a:solidFill>
                  <a:schemeClr val="tx1">
                    <a:tint val="75000"/>
                  </a:schemeClr>
                </a:solidFill>
                <a:latin typeface="+mn-lt"/>
              </a:defRPr>
            </a:lvl1pPr>
          </a:lstStyle>
          <a:p>
            <a:pPr>
              <a:defRPr/>
            </a:pPr>
            <a:fld id="{45AD8553-13F6-45B1-86A5-E7328B9B94B7}"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700" r:id="rId1"/>
  </p:sldLayoutIdLst>
  <p:hf hdr="0"/>
  <p:txStyles>
    <p:titleStyle>
      <a:lvl1pPr algn="ctr" rtl="0" eaLnBrk="0" fontAlgn="base" hangingPunct="0">
        <a:spcBef>
          <a:spcPct val="0"/>
        </a:spcBef>
        <a:spcAft>
          <a:spcPct val="0"/>
        </a:spcAft>
        <a:defRPr sz="4400" kern="1200">
          <a:solidFill>
            <a:schemeClr val="tx1"/>
          </a:solidFill>
          <a:latin typeface="Times New Roman" pitchFamily="18" charset="0"/>
          <a:ea typeface="+mj-ea"/>
          <a:cs typeface="Times New Roman" pitchFamily="18" charset="0"/>
        </a:defRPr>
      </a:lvl1pPr>
      <a:lvl2pPr algn="ctr" rtl="0" eaLnBrk="0" fontAlgn="base" hangingPunct="0">
        <a:spcBef>
          <a:spcPct val="0"/>
        </a:spcBef>
        <a:spcAft>
          <a:spcPct val="0"/>
        </a:spcAft>
        <a:defRPr sz="4400">
          <a:solidFill>
            <a:schemeClr val="tx1"/>
          </a:solidFill>
          <a:latin typeface="Times New Roman" pitchFamily="18" charset="0"/>
          <a:cs typeface="Times New Roman" pitchFamily="18" charset="0"/>
        </a:defRPr>
      </a:lvl2pPr>
      <a:lvl3pPr algn="ctr" rtl="0" eaLnBrk="0" fontAlgn="base" hangingPunct="0">
        <a:spcBef>
          <a:spcPct val="0"/>
        </a:spcBef>
        <a:spcAft>
          <a:spcPct val="0"/>
        </a:spcAft>
        <a:defRPr sz="4400">
          <a:solidFill>
            <a:schemeClr val="tx1"/>
          </a:solidFill>
          <a:latin typeface="Times New Roman" pitchFamily="18" charset="0"/>
          <a:cs typeface="Times New Roman" pitchFamily="18" charset="0"/>
        </a:defRPr>
      </a:lvl3pPr>
      <a:lvl4pPr algn="ctr" rtl="0" eaLnBrk="0" fontAlgn="base" hangingPunct="0">
        <a:spcBef>
          <a:spcPct val="0"/>
        </a:spcBef>
        <a:spcAft>
          <a:spcPct val="0"/>
        </a:spcAft>
        <a:defRPr sz="4400">
          <a:solidFill>
            <a:schemeClr val="tx1"/>
          </a:solidFill>
          <a:latin typeface="Times New Roman" pitchFamily="18" charset="0"/>
          <a:cs typeface="Times New Roman" pitchFamily="18" charset="0"/>
        </a:defRPr>
      </a:lvl4pPr>
      <a:lvl5pPr algn="ctr" rtl="0" eaLnBrk="0" fontAlgn="base" hangingPunct="0">
        <a:spcBef>
          <a:spcPct val="0"/>
        </a:spcBef>
        <a:spcAft>
          <a:spcPct val="0"/>
        </a:spcAft>
        <a:defRPr sz="4400">
          <a:solidFill>
            <a:schemeClr val="tx1"/>
          </a:solidFill>
          <a:latin typeface="Times New Roman" pitchFamily="18" charset="0"/>
          <a:cs typeface="Times New Roman" pitchFamily="18"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Times New Roman" pitchFamily="18" charset="0"/>
          <a:ea typeface="+mn-ea"/>
          <a:cs typeface="Times New Roman" pitchFamily="18" charset="0"/>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Times New Roman" pitchFamily="18" charset="0"/>
          <a:ea typeface="+mn-ea"/>
          <a:cs typeface="Times New Roman" pitchFamily="18" charset="0"/>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Times New Roman" pitchFamily="18" charset="0"/>
          <a:ea typeface="+mn-ea"/>
          <a:cs typeface="Times New Roman" pitchFamily="18" charset="0"/>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Times New Roman" pitchFamily="18" charset="0"/>
          <a:ea typeface="+mn-ea"/>
          <a:cs typeface="Times New Roman" pitchFamily="18" charset="0"/>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Times New Roman" pitchFamily="18" charset="0"/>
          <a:ea typeface="+mn-ea"/>
          <a:cs typeface="Times New Roman" pitchFamily="18"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050" name="Picture 6" descr="Continuation Slide.JPG"/>
          <p:cNvPicPr>
            <a:picLocks noChangeAspect="1"/>
          </p:cNvPicPr>
          <p:nvPr/>
        </p:nvPicPr>
        <p:blipFill>
          <a:blip r:embed="rId13" cstate="print"/>
          <a:srcRect/>
          <a:stretch>
            <a:fillRect/>
          </a:stretch>
        </p:blipFill>
        <p:spPr bwMode="auto">
          <a:xfrm>
            <a:off x="0" y="0"/>
            <a:ext cx="9144000" cy="6858000"/>
          </a:xfrm>
          <a:prstGeom prst="rect">
            <a:avLst/>
          </a:prstGeom>
          <a:noFill/>
          <a:ln w="9525">
            <a:noFill/>
            <a:miter lim="800000"/>
            <a:headEnd/>
            <a:tailEnd/>
          </a:ln>
        </p:spPr>
      </p:pic>
      <p:sp>
        <p:nvSpPr>
          <p:cNvPr id="2051"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2052"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0" fontAlgn="auto" hangingPunct="0">
              <a:spcBef>
                <a:spcPts val="0"/>
              </a:spcBef>
              <a:spcAft>
                <a:spcPts val="0"/>
              </a:spcAft>
              <a:defRPr sz="1200">
                <a:solidFill>
                  <a:schemeClr val="tx1">
                    <a:tint val="75000"/>
                  </a:schemeClr>
                </a:solidFill>
                <a:latin typeface="+mn-lt"/>
              </a:defRPr>
            </a:lvl1pPr>
          </a:lstStyle>
          <a:p>
            <a:pPr>
              <a:defRPr/>
            </a:pPr>
            <a:r>
              <a:rPr lang="en-US"/>
              <a:t>10/18/2010</a:t>
            </a: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0" fontAlgn="auto" hangingPunct="0">
              <a:spcBef>
                <a:spcPts val="0"/>
              </a:spcBef>
              <a:spcAft>
                <a:spcPts val="0"/>
              </a:spcAft>
              <a:defRPr sz="1200">
                <a:solidFill>
                  <a:schemeClr val="tx1">
                    <a:tint val="75000"/>
                  </a:schemeClr>
                </a:solidFill>
                <a:latin typeface="+mn-lt"/>
              </a:defRPr>
            </a:lvl1pPr>
          </a:lstStyle>
          <a:p>
            <a:pPr>
              <a:defRPr/>
            </a:pPr>
            <a:r>
              <a:rPr lang="en-US"/>
              <a:t>Workshop on North American Gravimetry</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eaLnBrk="0" fontAlgn="auto" hangingPunct="0">
              <a:spcBef>
                <a:spcPts val="0"/>
              </a:spcBef>
              <a:spcAft>
                <a:spcPts val="0"/>
              </a:spcAft>
              <a:defRPr sz="1200">
                <a:solidFill>
                  <a:schemeClr val="tx1">
                    <a:tint val="75000"/>
                  </a:schemeClr>
                </a:solidFill>
                <a:latin typeface="+mn-lt"/>
              </a:defRPr>
            </a:lvl1pPr>
          </a:lstStyle>
          <a:p>
            <a:pPr>
              <a:defRPr/>
            </a:pPr>
            <a:fld id="{2634511D-C01D-4124-A354-EB09E93D4F50}"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701" r:id="rId1"/>
    <p:sldLayoutId id="2147483702" r:id="rId2"/>
    <p:sldLayoutId id="2147483703" r:id="rId3"/>
    <p:sldLayoutId id="2147483704" r:id="rId4"/>
    <p:sldLayoutId id="2147483705" r:id="rId5"/>
    <p:sldLayoutId id="2147483706" r:id="rId6"/>
    <p:sldLayoutId id="2147483707" r:id="rId7"/>
    <p:sldLayoutId id="2147483708" r:id="rId8"/>
    <p:sldLayoutId id="2147483709" r:id="rId9"/>
    <p:sldLayoutId id="2147483710" r:id="rId10"/>
    <p:sldLayoutId id="2147483711" r:id="rId11"/>
  </p:sldLayoutIdLst>
  <p:hf hdr="0"/>
  <p:txStyles>
    <p:titleStyle>
      <a:lvl1pPr algn="ctr" rtl="0" eaLnBrk="0" fontAlgn="base" hangingPunct="0">
        <a:spcBef>
          <a:spcPct val="0"/>
        </a:spcBef>
        <a:spcAft>
          <a:spcPct val="0"/>
        </a:spcAft>
        <a:defRPr sz="4400" kern="1200">
          <a:solidFill>
            <a:schemeClr val="tx1"/>
          </a:solidFill>
          <a:latin typeface="Times New Roman" pitchFamily="18" charset="0"/>
          <a:ea typeface="+mj-ea"/>
          <a:cs typeface="Times New Roman" pitchFamily="18" charset="0"/>
        </a:defRPr>
      </a:lvl1pPr>
      <a:lvl2pPr algn="ctr" rtl="0" eaLnBrk="0" fontAlgn="base" hangingPunct="0">
        <a:spcBef>
          <a:spcPct val="0"/>
        </a:spcBef>
        <a:spcAft>
          <a:spcPct val="0"/>
        </a:spcAft>
        <a:defRPr sz="4400">
          <a:solidFill>
            <a:schemeClr val="tx1"/>
          </a:solidFill>
          <a:latin typeface="Times New Roman" pitchFamily="18" charset="0"/>
          <a:cs typeface="Times New Roman" pitchFamily="18" charset="0"/>
        </a:defRPr>
      </a:lvl2pPr>
      <a:lvl3pPr algn="ctr" rtl="0" eaLnBrk="0" fontAlgn="base" hangingPunct="0">
        <a:spcBef>
          <a:spcPct val="0"/>
        </a:spcBef>
        <a:spcAft>
          <a:spcPct val="0"/>
        </a:spcAft>
        <a:defRPr sz="4400">
          <a:solidFill>
            <a:schemeClr val="tx1"/>
          </a:solidFill>
          <a:latin typeface="Times New Roman" pitchFamily="18" charset="0"/>
          <a:cs typeface="Times New Roman" pitchFamily="18" charset="0"/>
        </a:defRPr>
      </a:lvl3pPr>
      <a:lvl4pPr algn="ctr" rtl="0" eaLnBrk="0" fontAlgn="base" hangingPunct="0">
        <a:spcBef>
          <a:spcPct val="0"/>
        </a:spcBef>
        <a:spcAft>
          <a:spcPct val="0"/>
        </a:spcAft>
        <a:defRPr sz="4400">
          <a:solidFill>
            <a:schemeClr val="tx1"/>
          </a:solidFill>
          <a:latin typeface="Times New Roman" pitchFamily="18" charset="0"/>
          <a:cs typeface="Times New Roman" pitchFamily="18" charset="0"/>
        </a:defRPr>
      </a:lvl4pPr>
      <a:lvl5pPr algn="ctr" rtl="0" eaLnBrk="0" fontAlgn="base" hangingPunct="0">
        <a:spcBef>
          <a:spcPct val="0"/>
        </a:spcBef>
        <a:spcAft>
          <a:spcPct val="0"/>
        </a:spcAft>
        <a:defRPr sz="4400">
          <a:solidFill>
            <a:schemeClr val="tx1"/>
          </a:solidFill>
          <a:latin typeface="Times New Roman" pitchFamily="18" charset="0"/>
          <a:cs typeface="Times New Roman" pitchFamily="18"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Times New Roman" pitchFamily="18" charset="0"/>
          <a:ea typeface="+mn-ea"/>
          <a:cs typeface="Times New Roman" pitchFamily="18" charset="0"/>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Times New Roman" pitchFamily="18" charset="0"/>
          <a:ea typeface="+mn-ea"/>
          <a:cs typeface="Times New Roman" pitchFamily="18" charset="0"/>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Times New Roman" pitchFamily="18" charset="0"/>
          <a:ea typeface="+mn-ea"/>
          <a:cs typeface="Times New Roman" pitchFamily="18" charset="0"/>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Times New Roman" pitchFamily="18" charset="0"/>
          <a:ea typeface="+mn-ea"/>
          <a:cs typeface="Times New Roman" pitchFamily="18" charset="0"/>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Times New Roman" pitchFamily="18" charset="0"/>
          <a:ea typeface="+mn-ea"/>
          <a:cs typeface="Times New Roman" pitchFamily="18"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3.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9076" name="Rectangle 4"/>
          <p:cNvSpPr>
            <a:spLocks noChangeArrowheads="1"/>
          </p:cNvSpPr>
          <p:nvPr/>
        </p:nvSpPr>
        <p:spPr bwMode="auto">
          <a:xfrm>
            <a:off x="431800" y="1171575"/>
            <a:ext cx="8204200" cy="4133850"/>
          </a:xfrm>
          <a:prstGeom prst="rect">
            <a:avLst/>
          </a:prstGeom>
          <a:noFill/>
          <a:ln w="9525">
            <a:noFill/>
            <a:miter lim="800000"/>
            <a:headEnd/>
            <a:tailEnd/>
          </a:ln>
          <a:effectLst/>
        </p:spPr>
        <p:txBody>
          <a:bodyPr anchor="ctr"/>
          <a:lstStyle/>
          <a:p>
            <a:pPr algn="ctr">
              <a:defRPr/>
            </a:pPr>
            <a:r>
              <a:rPr lang="en-US" sz="3600" dirty="0"/>
              <a:t>Terrestrial Gravity </a:t>
            </a:r>
          </a:p>
          <a:p>
            <a:pPr algn="ctr">
              <a:defRPr/>
            </a:pPr>
            <a:r>
              <a:rPr lang="en-US" sz="3600" dirty="0"/>
              <a:t>Plans at NGS</a:t>
            </a:r>
          </a:p>
          <a:p>
            <a:pPr algn="ctr">
              <a:defRPr/>
            </a:pPr>
            <a:r>
              <a:rPr lang="en-US" sz="1800" dirty="0">
                <a:effectLst>
                  <a:outerShdw blurRad="38100" dist="38100" dir="2700000" algn="tl">
                    <a:srgbClr val="C0C0C0"/>
                  </a:outerShdw>
                </a:effectLst>
              </a:rPr>
              <a:t/>
            </a:r>
            <a:br>
              <a:rPr lang="en-US" sz="1800" dirty="0">
                <a:effectLst>
                  <a:outerShdw blurRad="38100" dist="38100" dir="2700000" algn="tl">
                    <a:srgbClr val="C0C0C0"/>
                  </a:outerShdw>
                </a:effectLst>
              </a:rPr>
            </a:br>
            <a:r>
              <a:rPr lang="en-US" sz="1800" u="sng" dirty="0">
                <a:effectLst>
                  <a:outerShdw blurRad="38100" dist="38100" dir="2700000" algn="tl">
                    <a:srgbClr val="C0C0C0"/>
                  </a:outerShdw>
                </a:effectLst>
                <a:latin typeface="Batang" pitchFamily="18" charset="-127"/>
              </a:rPr>
              <a:t/>
            </a:r>
            <a:br>
              <a:rPr lang="en-US" sz="1800" u="sng" dirty="0">
                <a:effectLst>
                  <a:outerShdw blurRad="38100" dist="38100" dir="2700000" algn="tl">
                    <a:srgbClr val="C0C0C0"/>
                  </a:outerShdw>
                </a:effectLst>
                <a:latin typeface="Batang" pitchFamily="18" charset="-127"/>
              </a:rPr>
            </a:br>
            <a:endParaRPr lang="en-US" sz="1800" u="sng" dirty="0">
              <a:effectLst>
                <a:outerShdw blurRad="38100" dist="38100" dir="2700000" algn="tl">
                  <a:srgbClr val="C0C0C0"/>
                </a:outerShdw>
              </a:effectLst>
            </a:endParaRPr>
          </a:p>
          <a:p>
            <a:pPr algn="ctr">
              <a:defRPr/>
            </a:pPr>
            <a:endParaRPr lang="en-US" sz="1800" dirty="0">
              <a:effectLst>
                <a:outerShdw blurRad="38100" dist="38100" dir="2700000" algn="tl">
                  <a:srgbClr val="C0C0C0"/>
                </a:outerShdw>
              </a:effectLst>
            </a:endParaRPr>
          </a:p>
          <a:p>
            <a:pPr algn="ctr">
              <a:defRPr/>
            </a:pPr>
            <a:r>
              <a:rPr lang="en-US" sz="1800" dirty="0" err="1">
                <a:effectLst>
                  <a:outerShdw blurRad="38100" dist="38100" dir="2700000" algn="tl">
                    <a:srgbClr val="C0C0C0"/>
                  </a:outerShdw>
                </a:effectLst>
              </a:rPr>
              <a:t>Dru</a:t>
            </a:r>
            <a:r>
              <a:rPr lang="en-US" sz="1800" dirty="0">
                <a:effectLst>
                  <a:outerShdw blurRad="38100" dist="38100" dir="2700000" algn="tl">
                    <a:srgbClr val="C0C0C0"/>
                  </a:outerShdw>
                </a:effectLst>
              </a:rPr>
              <a:t> Smith</a:t>
            </a:r>
          </a:p>
          <a:p>
            <a:pPr algn="ctr">
              <a:defRPr/>
            </a:pPr>
            <a:r>
              <a:rPr lang="en-US" sz="1800" dirty="0">
                <a:effectLst>
                  <a:outerShdw blurRad="38100" dist="38100" dir="2700000" algn="tl">
                    <a:srgbClr val="C0C0C0"/>
                  </a:outerShdw>
                </a:effectLst>
              </a:rPr>
              <a:t>Mark </a:t>
            </a:r>
            <a:r>
              <a:rPr lang="en-US" sz="1800" dirty="0" err="1">
                <a:effectLst>
                  <a:outerShdw blurRad="38100" dist="38100" dir="2700000" algn="tl">
                    <a:srgbClr val="C0C0C0"/>
                  </a:outerShdw>
                </a:effectLst>
              </a:rPr>
              <a:t>Eckl</a:t>
            </a:r>
            <a:endParaRPr lang="en-US" sz="1800" dirty="0">
              <a:effectLst>
                <a:outerShdw blurRad="38100" dist="38100" dir="2700000" algn="tl">
                  <a:srgbClr val="C0C0C0"/>
                </a:outerShdw>
              </a:effectLst>
            </a:endParaRPr>
          </a:p>
          <a:p>
            <a:pPr algn="ctr">
              <a:defRPr/>
            </a:pPr>
            <a:r>
              <a:rPr lang="en-US" sz="1800" dirty="0">
                <a:effectLst>
                  <a:outerShdw blurRad="38100" dist="38100" dir="2700000" algn="tl">
                    <a:srgbClr val="C0C0C0"/>
                  </a:outerShdw>
                </a:effectLst>
              </a:rPr>
              <a:t>Vicki Childers</a:t>
            </a:r>
          </a:p>
          <a:p>
            <a:pPr algn="ctr">
              <a:defRPr/>
            </a:pPr>
            <a:endParaRPr lang="en-US" sz="1800" dirty="0">
              <a:effectLst>
                <a:outerShdw blurRad="38100" dist="38100" dir="2700000" algn="tl">
                  <a:srgbClr val="C0C0C0"/>
                </a:outerShdw>
              </a:effectLst>
            </a:endParaRPr>
          </a:p>
        </p:txBody>
      </p:sp>
      <p:sp>
        <p:nvSpPr>
          <p:cNvPr id="3" name="Footer Placeholder 2"/>
          <p:cNvSpPr>
            <a:spLocks noGrp="1"/>
          </p:cNvSpPr>
          <p:nvPr>
            <p:ph type="ftr" sz="quarter" idx="11"/>
          </p:nvPr>
        </p:nvSpPr>
        <p:spPr/>
        <p:txBody>
          <a:bodyPr/>
          <a:lstStyle/>
          <a:p>
            <a:pPr>
              <a:defRPr/>
            </a:pPr>
            <a:r>
              <a:rPr lang="en-US"/>
              <a:t>Workshop on North American Gravimetry</a:t>
            </a:r>
          </a:p>
        </p:txBody>
      </p:sp>
      <p:sp>
        <p:nvSpPr>
          <p:cNvPr id="4" name="Date Placeholder 3"/>
          <p:cNvSpPr>
            <a:spLocks noGrp="1"/>
          </p:cNvSpPr>
          <p:nvPr>
            <p:ph type="dt" sz="quarter" idx="10"/>
          </p:nvPr>
        </p:nvSpPr>
        <p:spPr/>
        <p:txBody>
          <a:bodyPr/>
          <a:lstStyle/>
          <a:p>
            <a:pPr>
              <a:defRPr/>
            </a:pPr>
            <a:r>
              <a:rPr lang="en-US"/>
              <a:t>10/18/2010</a:t>
            </a:r>
          </a:p>
        </p:txBody>
      </p:sp>
      <p:sp>
        <p:nvSpPr>
          <p:cNvPr id="5" name="Slide Number Placeholder 4"/>
          <p:cNvSpPr>
            <a:spLocks noGrp="1"/>
          </p:cNvSpPr>
          <p:nvPr>
            <p:ph type="sldNum" sz="quarter" idx="12"/>
          </p:nvPr>
        </p:nvSpPr>
        <p:spPr/>
        <p:txBody>
          <a:bodyPr/>
          <a:lstStyle/>
          <a:p>
            <a:pPr>
              <a:defRPr/>
            </a:pPr>
            <a:fld id="{1C3052E8-8B82-4355-87B1-F9B06E7249FA}" type="slidenum">
              <a:rPr lang="en-US" smtClean="0"/>
              <a:pPr>
                <a:defRPr/>
              </a:pPr>
              <a:t>1</a:t>
            </a:fld>
            <a:endParaRPr lang="en-US"/>
          </a:p>
        </p:txBody>
      </p:sp>
      <p:pic>
        <p:nvPicPr>
          <p:cNvPr id="3078" name="Picture 2"/>
          <p:cNvPicPr>
            <a:picLocks noChangeAspect="1" noChangeArrowheads="1"/>
          </p:cNvPicPr>
          <p:nvPr/>
        </p:nvPicPr>
        <p:blipFill>
          <a:blip r:embed="rId3" cstate="print"/>
          <a:srcRect/>
          <a:stretch>
            <a:fillRect/>
          </a:stretch>
        </p:blipFill>
        <p:spPr bwMode="auto">
          <a:xfrm>
            <a:off x="6096000" y="3208338"/>
            <a:ext cx="2881313" cy="291147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p:cNvSpPr>
            <a:spLocks noGrp="1"/>
          </p:cNvSpPr>
          <p:nvPr>
            <p:ph type="title"/>
          </p:nvPr>
        </p:nvSpPr>
        <p:spPr/>
        <p:txBody>
          <a:bodyPr/>
          <a:lstStyle/>
          <a:p>
            <a:pPr eaLnBrk="1" hangingPunct="1"/>
            <a:r>
              <a:rPr lang="en-US" smtClean="0"/>
              <a:t>Airborne Survey Control</a:t>
            </a:r>
          </a:p>
        </p:txBody>
      </p:sp>
      <p:sp>
        <p:nvSpPr>
          <p:cNvPr id="5" name="Date Placeholder 4"/>
          <p:cNvSpPr>
            <a:spLocks noGrp="1"/>
          </p:cNvSpPr>
          <p:nvPr>
            <p:ph type="dt" sz="quarter" idx="10"/>
          </p:nvPr>
        </p:nvSpPr>
        <p:spPr/>
        <p:txBody>
          <a:bodyPr/>
          <a:lstStyle/>
          <a:p>
            <a:pPr>
              <a:defRPr/>
            </a:pPr>
            <a:r>
              <a:rPr lang="en-US"/>
              <a:t>10/18/2010</a:t>
            </a:r>
          </a:p>
        </p:txBody>
      </p:sp>
      <p:sp>
        <p:nvSpPr>
          <p:cNvPr id="7" name="Footer Placeholder 6"/>
          <p:cNvSpPr>
            <a:spLocks noGrp="1"/>
          </p:cNvSpPr>
          <p:nvPr>
            <p:ph type="ftr" sz="quarter" idx="11"/>
          </p:nvPr>
        </p:nvSpPr>
        <p:spPr/>
        <p:txBody>
          <a:bodyPr/>
          <a:lstStyle/>
          <a:p>
            <a:pPr>
              <a:defRPr/>
            </a:pPr>
            <a:r>
              <a:rPr lang="en-US"/>
              <a:t>Workshop on North American Gravimetry</a:t>
            </a:r>
            <a:endParaRPr lang="en-US" dirty="0"/>
          </a:p>
        </p:txBody>
      </p:sp>
      <p:sp>
        <p:nvSpPr>
          <p:cNvPr id="4101" name="Content Placeholder 7"/>
          <p:cNvSpPr>
            <a:spLocks noGrp="1"/>
          </p:cNvSpPr>
          <p:nvPr>
            <p:ph idx="1"/>
          </p:nvPr>
        </p:nvSpPr>
        <p:spPr/>
        <p:txBody>
          <a:bodyPr/>
          <a:lstStyle/>
          <a:p>
            <a:pPr eaLnBrk="1" hangingPunct="1"/>
            <a:r>
              <a:rPr lang="en-US" smtClean="0"/>
              <a:t>Currently with FG-5 near tarmac</a:t>
            </a:r>
          </a:p>
          <a:p>
            <a:pPr lvl="1" eaLnBrk="1" hangingPunct="1"/>
            <a:r>
              <a:rPr lang="en-US" smtClean="0"/>
              <a:t>Relative meters to connect to tarmac</a:t>
            </a:r>
          </a:p>
          <a:p>
            <a:pPr eaLnBrk="1" hangingPunct="1">
              <a:buFont typeface="Arial" pitchFamily="34" charset="0"/>
              <a:buNone/>
            </a:pPr>
            <a:endParaRPr lang="en-US" smtClean="0"/>
          </a:p>
          <a:p>
            <a:pPr eaLnBrk="1" hangingPunct="1"/>
            <a:r>
              <a:rPr lang="en-US" smtClean="0"/>
              <a:t>A-10 soon</a:t>
            </a:r>
          </a:p>
          <a:p>
            <a:pPr eaLnBrk="1" hangingPunct="1"/>
            <a:endParaRPr lang="en-US" smtClean="0"/>
          </a:p>
          <a:p>
            <a:pPr eaLnBrk="1" hangingPunct="1"/>
            <a:r>
              <a:rPr lang="en-US" smtClean="0"/>
              <a:t>About 2-3 / year</a:t>
            </a:r>
          </a:p>
          <a:p>
            <a:pPr eaLnBrk="1" hangingPunct="1">
              <a:buFont typeface="Arial" pitchFamily="34" charset="0"/>
              <a:buNone/>
            </a:pPr>
            <a:endParaRPr lang="en-US" smtClean="0"/>
          </a:p>
          <a:p>
            <a:pPr eaLnBrk="1" hangingPunct="1">
              <a:buFont typeface="Arial" pitchFamily="34" charset="0"/>
              <a:buNone/>
            </a:pPr>
            <a:endParaRPr lang="en-US" smtClean="0"/>
          </a:p>
        </p:txBody>
      </p:sp>
      <p:sp>
        <p:nvSpPr>
          <p:cNvPr id="9" name="Slide Number Placeholder 8"/>
          <p:cNvSpPr>
            <a:spLocks noGrp="1"/>
          </p:cNvSpPr>
          <p:nvPr>
            <p:ph type="sldNum" sz="quarter" idx="12"/>
          </p:nvPr>
        </p:nvSpPr>
        <p:spPr/>
        <p:txBody>
          <a:bodyPr/>
          <a:lstStyle/>
          <a:p>
            <a:pPr>
              <a:defRPr/>
            </a:pPr>
            <a:fld id="{F61E4522-2C12-46AF-B5B5-2AD15D283CE5}" type="slidenum">
              <a:rPr lang="en-US" smtClean="0"/>
              <a:pPr>
                <a:defRPr/>
              </a:pPr>
              <a:t>2</a:t>
            </a:fld>
            <a:endParaRPr lang="en-US"/>
          </a:p>
        </p:txBody>
      </p:sp>
      <p:pic>
        <p:nvPicPr>
          <p:cNvPr id="4103" name="Picture 4"/>
          <p:cNvPicPr>
            <a:picLocks noChangeAspect="1" noChangeArrowheads="1"/>
          </p:cNvPicPr>
          <p:nvPr/>
        </p:nvPicPr>
        <p:blipFill>
          <a:blip r:embed="rId2" cstate="print"/>
          <a:srcRect/>
          <a:stretch>
            <a:fillRect/>
          </a:stretch>
        </p:blipFill>
        <p:spPr bwMode="auto">
          <a:xfrm>
            <a:off x="5057775" y="2801938"/>
            <a:ext cx="3857625" cy="289401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p:cNvSpPr>
            <a:spLocks noGrp="1"/>
          </p:cNvSpPr>
          <p:nvPr>
            <p:ph type="title"/>
          </p:nvPr>
        </p:nvSpPr>
        <p:spPr/>
        <p:txBody>
          <a:bodyPr/>
          <a:lstStyle/>
          <a:p>
            <a:pPr eaLnBrk="1" hangingPunct="1"/>
            <a:r>
              <a:rPr lang="en-US" smtClean="0"/>
              <a:t>Geoid Change Validation</a:t>
            </a:r>
          </a:p>
        </p:txBody>
      </p:sp>
      <p:sp>
        <p:nvSpPr>
          <p:cNvPr id="5123" name="Content Placeholder 2"/>
          <p:cNvSpPr>
            <a:spLocks noGrp="1"/>
          </p:cNvSpPr>
          <p:nvPr>
            <p:ph idx="1"/>
          </p:nvPr>
        </p:nvSpPr>
        <p:spPr/>
        <p:txBody>
          <a:bodyPr/>
          <a:lstStyle/>
          <a:p>
            <a:pPr eaLnBrk="1" hangingPunct="1"/>
            <a:r>
              <a:rPr lang="en-US" smtClean="0"/>
              <a:t>Original GRAV-D plan called for modeling geoid change through gravity change, </a:t>
            </a:r>
          </a:p>
          <a:p>
            <a:pPr eaLnBrk="1" hangingPunct="1">
              <a:buFont typeface="Arial" pitchFamily="34" charset="0"/>
              <a:buNone/>
            </a:pPr>
            <a:r>
              <a:rPr lang="en-US" smtClean="0"/>
              <a:t>    mostly via absolute gravimetry</a:t>
            </a:r>
          </a:p>
          <a:p>
            <a:pPr eaLnBrk="1" hangingPunct="1"/>
            <a:endParaRPr lang="en-US" smtClean="0"/>
          </a:p>
          <a:p>
            <a:pPr eaLnBrk="1" hangingPunct="1"/>
            <a:r>
              <a:rPr lang="en-US" smtClean="0"/>
              <a:t>More recent plan is to use absolute gravity to validate geophysically-driven gravity/geoid change models</a:t>
            </a:r>
          </a:p>
          <a:p>
            <a:pPr lvl="1" eaLnBrk="1" hangingPunct="1"/>
            <a:r>
              <a:rPr lang="en-US" smtClean="0"/>
              <a:t>Requires local hydrological modeling</a:t>
            </a:r>
          </a:p>
        </p:txBody>
      </p:sp>
      <p:sp>
        <p:nvSpPr>
          <p:cNvPr id="4" name="Date Placeholder 3"/>
          <p:cNvSpPr>
            <a:spLocks noGrp="1"/>
          </p:cNvSpPr>
          <p:nvPr>
            <p:ph type="dt" sz="quarter" idx="10"/>
          </p:nvPr>
        </p:nvSpPr>
        <p:spPr/>
        <p:txBody>
          <a:bodyPr/>
          <a:lstStyle/>
          <a:p>
            <a:pPr>
              <a:defRPr/>
            </a:pPr>
            <a:r>
              <a:rPr lang="en-US"/>
              <a:t>10/18/2010</a:t>
            </a:r>
          </a:p>
        </p:txBody>
      </p:sp>
      <p:sp>
        <p:nvSpPr>
          <p:cNvPr id="5" name="Footer Placeholder 4"/>
          <p:cNvSpPr>
            <a:spLocks noGrp="1"/>
          </p:cNvSpPr>
          <p:nvPr>
            <p:ph type="ftr" sz="quarter" idx="11"/>
          </p:nvPr>
        </p:nvSpPr>
        <p:spPr/>
        <p:txBody>
          <a:bodyPr/>
          <a:lstStyle/>
          <a:p>
            <a:pPr>
              <a:defRPr/>
            </a:pPr>
            <a:r>
              <a:rPr lang="en-US"/>
              <a:t>Workshop on North American Gravimetry</a:t>
            </a:r>
          </a:p>
        </p:txBody>
      </p:sp>
      <p:sp>
        <p:nvSpPr>
          <p:cNvPr id="6" name="Slide Number Placeholder 5"/>
          <p:cNvSpPr>
            <a:spLocks noGrp="1"/>
          </p:cNvSpPr>
          <p:nvPr>
            <p:ph type="sldNum" sz="quarter" idx="12"/>
          </p:nvPr>
        </p:nvSpPr>
        <p:spPr/>
        <p:txBody>
          <a:bodyPr/>
          <a:lstStyle/>
          <a:p>
            <a:pPr>
              <a:defRPr/>
            </a:pPr>
            <a:fld id="{9E983ACB-6DE4-4E6C-803A-A78A4F443832}" type="slidenum">
              <a:rPr lang="en-US" smtClean="0"/>
              <a:pPr>
                <a:defRPr/>
              </a:pPr>
              <a:t>3</a:t>
            </a:fld>
            <a:endParaRPr lang="en-US"/>
          </a:p>
        </p:txBody>
      </p:sp>
      <p:pic>
        <p:nvPicPr>
          <p:cNvPr id="5127" name="Picture 3"/>
          <p:cNvPicPr>
            <a:picLocks noChangeAspect="1" noChangeArrowheads="1"/>
          </p:cNvPicPr>
          <p:nvPr/>
        </p:nvPicPr>
        <p:blipFill>
          <a:blip r:embed="rId2" cstate="print"/>
          <a:srcRect/>
          <a:stretch>
            <a:fillRect/>
          </a:stretch>
        </p:blipFill>
        <p:spPr bwMode="auto">
          <a:xfrm>
            <a:off x="7283450" y="2397125"/>
            <a:ext cx="1860550" cy="1244600"/>
          </a:xfrm>
          <a:prstGeom prst="rect">
            <a:avLst/>
          </a:prstGeom>
          <a:noFill/>
          <a:ln w="9525">
            <a:noFill/>
            <a:miter lim="800000"/>
            <a:headEnd/>
            <a:tailEnd/>
          </a:ln>
        </p:spPr>
      </p:pic>
      <p:pic>
        <p:nvPicPr>
          <p:cNvPr id="5128" name="Picture 4"/>
          <p:cNvPicPr>
            <a:picLocks noChangeAspect="1" noChangeArrowheads="1"/>
          </p:cNvPicPr>
          <p:nvPr/>
        </p:nvPicPr>
        <p:blipFill>
          <a:blip r:embed="rId3" cstate="print"/>
          <a:srcRect/>
          <a:stretch>
            <a:fillRect/>
          </a:stretch>
        </p:blipFill>
        <p:spPr bwMode="auto">
          <a:xfrm>
            <a:off x="6900863" y="5021263"/>
            <a:ext cx="1679575" cy="128905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p:txBody>
          <a:bodyPr/>
          <a:lstStyle/>
          <a:p>
            <a:pPr eaLnBrk="1" hangingPunct="1"/>
            <a:r>
              <a:rPr lang="en-US" smtClean="0"/>
              <a:t>TMGO Experimentation</a:t>
            </a:r>
          </a:p>
        </p:txBody>
      </p:sp>
      <p:sp>
        <p:nvSpPr>
          <p:cNvPr id="6147" name="Content Placeholder 2"/>
          <p:cNvSpPr>
            <a:spLocks noGrp="1"/>
          </p:cNvSpPr>
          <p:nvPr>
            <p:ph idx="1"/>
          </p:nvPr>
        </p:nvSpPr>
        <p:spPr/>
        <p:txBody>
          <a:bodyPr/>
          <a:lstStyle/>
          <a:p>
            <a:pPr eaLnBrk="1" hangingPunct="1"/>
            <a:r>
              <a:rPr lang="en-US" smtClean="0"/>
              <a:t>Table Mountain Geophysical Observatory</a:t>
            </a:r>
          </a:p>
          <a:p>
            <a:pPr eaLnBrk="1" hangingPunct="1"/>
            <a:endParaRPr lang="en-US" smtClean="0"/>
          </a:p>
          <a:p>
            <a:pPr eaLnBrk="1" hangingPunct="1"/>
            <a:r>
              <a:rPr lang="en-US" smtClean="0"/>
              <a:t>NGS will conduct its own research at TMGO</a:t>
            </a:r>
          </a:p>
          <a:p>
            <a:pPr lvl="1" eaLnBrk="1" hangingPunct="1"/>
            <a:r>
              <a:rPr lang="en-US" smtClean="0"/>
              <a:t>Hydrologic, Gravimetric, Etc</a:t>
            </a:r>
          </a:p>
          <a:p>
            <a:pPr lvl="1" eaLnBrk="1" hangingPunct="1"/>
            <a:endParaRPr lang="en-US" smtClean="0"/>
          </a:p>
          <a:p>
            <a:pPr eaLnBrk="1" hangingPunct="1"/>
            <a:r>
              <a:rPr lang="en-US" smtClean="0"/>
              <a:t>An open invitation exists for any researchers to temporarily house gravity and other geophysical experiments at TMGO</a:t>
            </a:r>
          </a:p>
        </p:txBody>
      </p:sp>
      <p:sp>
        <p:nvSpPr>
          <p:cNvPr id="4" name="Date Placeholder 3"/>
          <p:cNvSpPr>
            <a:spLocks noGrp="1"/>
          </p:cNvSpPr>
          <p:nvPr>
            <p:ph type="dt" sz="quarter" idx="10"/>
          </p:nvPr>
        </p:nvSpPr>
        <p:spPr/>
        <p:txBody>
          <a:bodyPr/>
          <a:lstStyle/>
          <a:p>
            <a:pPr>
              <a:defRPr/>
            </a:pPr>
            <a:r>
              <a:rPr lang="en-US"/>
              <a:t>10/18/2010</a:t>
            </a:r>
          </a:p>
        </p:txBody>
      </p:sp>
      <p:sp>
        <p:nvSpPr>
          <p:cNvPr id="5" name="Footer Placeholder 4"/>
          <p:cNvSpPr>
            <a:spLocks noGrp="1"/>
          </p:cNvSpPr>
          <p:nvPr>
            <p:ph type="ftr" sz="quarter" idx="11"/>
          </p:nvPr>
        </p:nvSpPr>
        <p:spPr/>
        <p:txBody>
          <a:bodyPr/>
          <a:lstStyle/>
          <a:p>
            <a:pPr>
              <a:defRPr/>
            </a:pPr>
            <a:r>
              <a:rPr lang="en-US"/>
              <a:t>Workshop on North American Gravimetry</a:t>
            </a:r>
          </a:p>
        </p:txBody>
      </p:sp>
      <p:sp>
        <p:nvSpPr>
          <p:cNvPr id="6" name="Slide Number Placeholder 5"/>
          <p:cNvSpPr>
            <a:spLocks noGrp="1"/>
          </p:cNvSpPr>
          <p:nvPr>
            <p:ph type="sldNum" sz="quarter" idx="12"/>
          </p:nvPr>
        </p:nvSpPr>
        <p:spPr/>
        <p:txBody>
          <a:bodyPr/>
          <a:lstStyle/>
          <a:p>
            <a:pPr>
              <a:defRPr/>
            </a:pPr>
            <a:fld id="{7BF2CB54-CE30-40AD-B6C2-E82DC05797D6}" type="slidenum">
              <a:rPr lang="en-US" smtClean="0"/>
              <a:pPr>
                <a:defRPr/>
              </a:pPr>
              <a:t>4</a:t>
            </a:fld>
            <a:endParaRPr lang="en-US"/>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4" descr="tmgo002"/>
          <p:cNvPicPr>
            <a:picLocks noChangeAspect="1" noChangeArrowheads="1"/>
          </p:cNvPicPr>
          <p:nvPr/>
        </p:nvPicPr>
        <p:blipFill>
          <a:blip r:embed="rId2" cstate="print"/>
          <a:srcRect/>
          <a:stretch>
            <a:fillRect/>
          </a:stretch>
        </p:blipFill>
        <p:spPr bwMode="auto">
          <a:xfrm>
            <a:off x="0" y="0"/>
            <a:ext cx="9144000" cy="6911975"/>
          </a:xfrm>
          <a:prstGeom prst="rect">
            <a:avLst/>
          </a:prstGeom>
          <a:noFill/>
          <a:ln w="9525">
            <a:noFill/>
            <a:miter lim="800000"/>
            <a:headEnd/>
            <a:tailEnd/>
          </a:ln>
        </p:spPr>
      </p:pic>
      <p:sp>
        <p:nvSpPr>
          <p:cNvPr id="2055" name="Oval 7"/>
          <p:cNvSpPr>
            <a:spLocks noChangeArrowheads="1"/>
          </p:cNvSpPr>
          <p:nvPr/>
        </p:nvSpPr>
        <p:spPr bwMode="auto">
          <a:xfrm>
            <a:off x="3962400" y="2514600"/>
            <a:ext cx="1447800" cy="1447800"/>
          </a:xfrm>
          <a:prstGeom prst="ellipse">
            <a:avLst/>
          </a:prstGeom>
          <a:noFill/>
          <a:ln w="25400" cap="rnd">
            <a:solidFill>
              <a:srgbClr val="00FF00"/>
            </a:solidFill>
            <a:prstDash val="sysDot"/>
            <a:round/>
            <a:headEnd/>
            <a:tailEnd/>
          </a:ln>
        </p:spPr>
        <p:txBody>
          <a:bodyPr wrap="none" anchor="ctr"/>
          <a:lstStyle/>
          <a:p>
            <a:pPr eaLnBrk="0" hangingPunct="0"/>
            <a:endParaRPr lang="en-US"/>
          </a:p>
        </p:txBody>
      </p:sp>
      <p:sp>
        <p:nvSpPr>
          <p:cNvPr id="2056" name="Oval 8"/>
          <p:cNvSpPr>
            <a:spLocks noChangeArrowheads="1"/>
          </p:cNvSpPr>
          <p:nvPr/>
        </p:nvSpPr>
        <p:spPr bwMode="auto">
          <a:xfrm>
            <a:off x="3886200" y="5029200"/>
            <a:ext cx="1447800" cy="1447800"/>
          </a:xfrm>
          <a:prstGeom prst="ellipse">
            <a:avLst/>
          </a:prstGeom>
          <a:noFill/>
          <a:ln w="25400" cap="rnd">
            <a:solidFill>
              <a:srgbClr val="00FF00"/>
            </a:solidFill>
            <a:prstDash val="sysDot"/>
            <a:round/>
            <a:headEnd/>
            <a:tailEnd/>
          </a:ln>
        </p:spPr>
        <p:txBody>
          <a:bodyPr wrap="none" anchor="ctr"/>
          <a:lstStyle/>
          <a:p>
            <a:pPr eaLnBrk="0" hangingPunct="0"/>
            <a:endParaRPr lang="en-US"/>
          </a:p>
        </p:txBody>
      </p:sp>
      <p:sp>
        <p:nvSpPr>
          <p:cNvPr id="7173" name="Line 9"/>
          <p:cNvSpPr>
            <a:spLocks noChangeShapeType="1"/>
          </p:cNvSpPr>
          <p:nvPr/>
        </p:nvSpPr>
        <p:spPr bwMode="auto">
          <a:xfrm flipH="1">
            <a:off x="533400" y="6248400"/>
            <a:ext cx="2362200" cy="0"/>
          </a:xfrm>
          <a:prstGeom prst="line">
            <a:avLst/>
          </a:prstGeom>
          <a:noFill/>
          <a:ln w="38100">
            <a:solidFill>
              <a:schemeClr val="bg1"/>
            </a:solidFill>
            <a:round/>
            <a:headEnd type="arrow" w="med" len="med"/>
            <a:tailEnd type="arrow" w="med" len="med"/>
          </a:ln>
        </p:spPr>
        <p:txBody>
          <a:bodyPr/>
          <a:lstStyle/>
          <a:p>
            <a:endParaRPr lang="en-US"/>
          </a:p>
        </p:txBody>
      </p:sp>
      <p:sp>
        <p:nvSpPr>
          <p:cNvPr id="7174" name="Text Box 10"/>
          <p:cNvSpPr txBox="1">
            <a:spLocks noChangeArrowheads="1"/>
          </p:cNvSpPr>
          <p:nvPr/>
        </p:nvSpPr>
        <p:spPr bwMode="auto">
          <a:xfrm>
            <a:off x="974725" y="5751513"/>
            <a:ext cx="1327150" cy="366712"/>
          </a:xfrm>
          <a:prstGeom prst="rect">
            <a:avLst/>
          </a:prstGeom>
          <a:noFill/>
          <a:ln w="9525">
            <a:noFill/>
            <a:miter lim="800000"/>
            <a:headEnd/>
            <a:tailEnd/>
          </a:ln>
        </p:spPr>
        <p:txBody>
          <a:bodyPr wrap="none">
            <a:spAutoFit/>
          </a:bodyPr>
          <a:lstStyle/>
          <a:p>
            <a:pPr eaLnBrk="0" hangingPunct="0"/>
            <a:r>
              <a:rPr lang="en-US">
                <a:solidFill>
                  <a:schemeClr val="bg1"/>
                </a:solidFill>
              </a:rPr>
              <a:t>100 meters</a:t>
            </a:r>
          </a:p>
        </p:txBody>
      </p:sp>
      <p:sp>
        <p:nvSpPr>
          <p:cNvPr id="2059" name="AutoShape 11"/>
          <p:cNvSpPr>
            <a:spLocks noChangeArrowheads="1"/>
          </p:cNvSpPr>
          <p:nvPr/>
        </p:nvSpPr>
        <p:spPr bwMode="auto">
          <a:xfrm>
            <a:off x="4495800" y="5638800"/>
            <a:ext cx="219075" cy="188913"/>
          </a:xfrm>
          <a:prstGeom prst="triangle">
            <a:avLst>
              <a:gd name="adj" fmla="val 50000"/>
            </a:avLst>
          </a:prstGeom>
          <a:solidFill>
            <a:schemeClr val="tx1"/>
          </a:solidFill>
          <a:ln w="9525">
            <a:solidFill>
              <a:schemeClr val="tx1"/>
            </a:solidFill>
            <a:miter lim="800000"/>
            <a:headEnd/>
            <a:tailEnd/>
          </a:ln>
        </p:spPr>
        <p:txBody>
          <a:bodyPr wrap="none" anchor="ctr"/>
          <a:lstStyle/>
          <a:p>
            <a:pPr eaLnBrk="0" hangingPunct="0"/>
            <a:endParaRPr lang="en-US"/>
          </a:p>
        </p:txBody>
      </p:sp>
      <p:sp>
        <p:nvSpPr>
          <p:cNvPr id="2060" name="AutoShape 12"/>
          <p:cNvSpPr>
            <a:spLocks noChangeArrowheads="1"/>
          </p:cNvSpPr>
          <p:nvPr/>
        </p:nvSpPr>
        <p:spPr bwMode="auto">
          <a:xfrm>
            <a:off x="4572000" y="2438400"/>
            <a:ext cx="228600" cy="228600"/>
          </a:xfrm>
          <a:prstGeom prst="plus">
            <a:avLst>
              <a:gd name="adj" fmla="val 25000"/>
            </a:avLst>
          </a:prstGeom>
          <a:solidFill>
            <a:srgbClr val="FF0000"/>
          </a:solidFill>
          <a:ln w="9525">
            <a:solidFill>
              <a:schemeClr val="tx1"/>
            </a:solidFill>
            <a:miter lim="800000"/>
            <a:headEnd/>
            <a:tailEnd/>
          </a:ln>
        </p:spPr>
        <p:txBody>
          <a:bodyPr wrap="none" anchor="ctr"/>
          <a:lstStyle/>
          <a:p>
            <a:pPr eaLnBrk="0" hangingPunct="0"/>
            <a:endParaRPr lang="en-US"/>
          </a:p>
        </p:txBody>
      </p:sp>
      <p:sp>
        <p:nvSpPr>
          <p:cNvPr id="2061" name="AutoShape 13"/>
          <p:cNvSpPr>
            <a:spLocks noChangeArrowheads="1"/>
          </p:cNvSpPr>
          <p:nvPr/>
        </p:nvSpPr>
        <p:spPr bwMode="auto">
          <a:xfrm>
            <a:off x="5257800" y="3124200"/>
            <a:ext cx="228600" cy="228600"/>
          </a:xfrm>
          <a:prstGeom prst="plus">
            <a:avLst>
              <a:gd name="adj" fmla="val 25000"/>
            </a:avLst>
          </a:prstGeom>
          <a:solidFill>
            <a:srgbClr val="FF0000"/>
          </a:solidFill>
          <a:ln w="9525">
            <a:solidFill>
              <a:schemeClr val="tx1"/>
            </a:solidFill>
            <a:miter lim="800000"/>
            <a:headEnd/>
            <a:tailEnd/>
          </a:ln>
        </p:spPr>
        <p:txBody>
          <a:bodyPr wrap="none" anchor="ctr"/>
          <a:lstStyle/>
          <a:p>
            <a:pPr eaLnBrk="0" hangingPunct="0"/>
            <a:endParaRPr lang="en-US"/>
          </a:p>
        </p:txBody>
      </p:sp>
      <p:sp>
        <p:nvSpPr>
          <p:cNvPr id="2062" name="AutoShape 14"/>
          <p:cNvSpPr>
            <a:spLocks noChangeArrowheads="1"/>
          </p:cNvSpPr>
          <p:nvPr/>
        </p:nvSpPr>
        <p:spPr bwMode="auto">
          <a:xfrm>
            <a:off x="4648200" y="3810000"/>
            <a:ext cx="228600" cy="228600"/>
          </a:xfrm>
          <a:prstGeom prst="plus">
            <a:avLst>
              <a:gd name="adj" fmla="val 25000"/>
            </a:avLst>
          </a:prstGeom>
          <a:solidFill>
            <a:srgbClr val="FF0000"/>
          </a:solidFill>
          <a:ln w="9525">
            <a:solidFill>
              <a:schemeClr val="tx1"/>
            </a:solidFill>
            <a:miter lim="800000"/>
            <a:headEnd/>
            <a:tailEnd/>
          </a:ln>
        </p:spPr>
        <p:txBody>
          <a:bodyPr wrap="none" anchor="ctr"/>
          <a:lstStyle/>
          <a:p>
            <a:pPr eaLnBrk="0" hangingPunct="0"/>
            <a:endParaRPr lang="en-US"/>
          </a:p>
        </p:txBody>
      </p:sp>
      <p:sp>
        <p:nvSpPr>
          <p:cNvPr id="2063" name="AutoShape 15"/>
          <p:cNvSpPr>
            <a:spLocks noChangeArrowheads="1"/>
          </p:cNvSpPr>
          <p:nvPr/>
        </p:nvSpPr>
        <p:spPr bwMode="auto">
          <a:xfrm>
            <a:off x="3857625" y="3152775"/>
            <a:ext cx="228600" cy="228600"/>
          </a:xfrm>
          <a:prstGeom prst="plus">
            <a:avLst>
              <a:gd name="adj" fmla="val 25000"/>
            </a:avLst>
          </a:prstGeom>
          <a:solidFill>
            <a:srgbClr val="FF0000"/>
          </a:solidFill>
          <a:ln w="9525">
            <a:solidFill>
              <a:schemeClr val="tx1"/>
            </a:solidFill>
            <a:miter lim="800000"/>
            <a:headEnd/>
            <a:tailEnd/>
          </a:ln>
        </p:spPr>
        <p:txBody>
          <a:bodyPr wrap="none" anchor="ctr"/>
          <a:lstStyle/>
          <a:p>
            <a:pPr eaLnBrk="0" hangingPunct="0"/>
            <a:endParaRPr lang="en-US"/>
          </a:p>
        </p:txBody>
      </p:sp>
      <p:sp>
        <p:nvSpPr>
          <p:cNvPr id="2064" name="AutoShape 16"/>
          <p:cNvSpPr>
            <a:spLocks noChangeArrowheads="1"/>
          </p:cNvSpPr>
          <p:nvPr/>
        </p:nvSpPr>
        <p:spPr bwMode="auto">
          <a:xfrm>
            <a:off x="4495800" y="4953000"/>
            <a:ext cx="228600" cy="228600"/>
          </a:xfrm>
          <a:prstGeom prst="plus">
            <a:avLst>
              <a:gd name="adj" fmla="val 25000"/>
            </a:avLst>
          </a:prstGeom>
          <a:solidFill>
            <a:srgbClr val="FF0000"/>
          </a:solidFill>
          <a:ln w="9525">
            <a:solidFill>
              <a:schemeClr val="tx1"/>
            </a:solidFill>
            <a:miter lim="800000"/>
            <a:headEnd/>
            <a:tailEnd/>
          </a:ln>
        </p:spPr>
        <p:txBody>
          <a:bodyPr wrap="none" anchor="ctr"/>
          <a:lstStyle/>
          <a:p>
            <a:pPr eaLnBrk="0" hangingPunct="0"/>
            <a:endParaRPr lang="en-US"/>
          </a:p>
        </p:txBody>
      </p:sp>
      <p:sp>
        <p:nvSpPr>
          <p:cNvPr id="2065" name="AutoShape 17"/>
          <p:cNvSpPr>
            <a:spLocks noChangeArrowheads="1"/>
          </p:cNvSpPr>
          <p:nvPr/>
        </p:nvSpPr>
        <p:spPr bwMode="auto">
          <a:xfrm>
            <a:off x="209550" y="2743200"/>
            <a:ext cx="228600" cy="228600"/>
          </a:xfrm>
          <a:prstGeom prst="plus">
            <a:avLst>
              <a:gd name="adj" fmla="val 25000"/>
            </a:avLst>
          </a:prstGeom>
          <a:solidFill>
            <a:srgbClr val="FF0000"/>
          </a:solidFill>
          <a:ln w="9525">
            <a:solidFill>
              <a:schemeClr val="tx1"/>
            </a:solidFill>
            <a:miter lim="800000"/>
            <a:headEnd/>
            <a:tailEnd/>
          </a:ln>
        </p:spPr>
        <p:txBody>
          <a:bodyPr wrap="none" anchor="ctr"/>
          <a:lstStyle/>
          <a:p>
            <a:pPr eaLnBrk="0" hangingPunct="0"/>
            <a:endParaRPr lang="en-US"/>
          </a:p>
        </p:txBody>
      </p:sp>
      <p:sp>
        <p:nvSpPr>
          <p:cNvPr id="2066" name="AutoShape 18"/>
          <p:cNvSpPr>
            <a:spLocks noChangeArrowheads="1"/>
          </p:cNvSpPr>
          <p:nvPr/>
        </p:nvSpPr>
        <p:spPr bwMode="auto">
          <a:xfrm>
            <a:off x="4038600" y="6172200"/>
            <a:ext cx="228600" cy="228600"/>
          </a:xfrm>
          <a:prstGeom prst="plus">
            <a:avLst>
              <a:gd name="adj" fmla="val 25000"/>
            </a:avLst>
          </a:prstGeom>
          <a:solidFill>
            <a:srgbClr val="FF0000"/>
          </a:solidFill>
          <a:ln w="9525">
            <a:solidFill>
              <a:schemeClr val="tx1"/>
            </a:solidFill>
            <a:miter lim="800000"/>
            <a:headEnd/>
            <a:tailEnd/>
          </a:ln>
        </p:spPr>
        <p:txBody>
          <a:bodyPr wrap="none" anchor="ctr"/>
          <a:lstStyle/>
          <a:p>
            <a:pPr eaLnBrk="0" hangingPunct="0"/>
            <a:endParaRPr lang="en-US"/>
          </a:p>
        </p:txBody>
      </p:sp>
      <p:sp>
        <p:nvSpPr>
          <p:cNvPr id="2067" name="AutoShape 19"/>
          <p:cNvSpPr>
            <a:spLocks noChangeArrowheads="1"/>
          </p:cNvSpPr>
          <p:nvPr/>
        </p:nvSpPr>
        <p:spPr bwMode="auto">
          <a:xfrm>
            <a:off x="4038600" y="5105400"/>
            <a:ext cx="228600" cy="228600"/>
          </a:xfrm>
          <a:prstGeom prst="plus">
            <a:avLst>
              <a:gd name="adj" fmla="val 25000"/>
            </a:avLst>
          </a:prstGeom>
          <a:solidFill>
            <a:srgbClr val="FF0000"/>
          </a:solidFill>
          <a:ln w="9525">
            <a:solidFill>
              <a:schemeClr val="tx1"/>
            </a:solidFill>
            <a:miter lim="800000"/>
            <a:headEnd/>
            <a:tailEnd/>
          </a:ln>
        </p:spPr>
        <p:txBody>
          <a:bodyPr wrap="none" anchor="ctr"/>
          <a:lstStyle/>
          <a:p>
            <a:pPr eaLnBrk="0" hangingPunct="0"/>
            <a:endParaRPr lang="en-US"/>
          </a:p>
        </p:txBody>
      </p:sp>
      <p:sp>
        <p:nvSpPr>
          <p:cNvPr id="2068" name="AutoShape 20"/>
          <p:cNvSpPr>
            <a:spLocks noChangeArrowheads="1"/>
          </p:cNvSpPr>
          <p:nvPr/>
        </p:nvSpPr>
        <p:spPr bwMode="auto">
          <a:xfrm>
            <a:off x="3733800" y="5638800"/>
            <a:ext cx="228600" cy="228600"/>
          </a:xfrm>
          <a:prstGeom prst="plus">
            <a:avLst>
              <a:gd name="adj" fmla="val 25000"/>
            </a:avLst>
          </a:prstGeom>
          <a:solidFill>
            <a:srgbClr val="FF0000"/>
          </a:solidFill>
          <a:ln w="9525">
            <a:solidFill>
              <a:schemeClr val="tx1"/>
            </a:solidFill>
            <a:miter lim="800000"/>
            <a:headEnd/>
            <a:tailEnd/>
          </a:ln>
        </p:spPr>
        <p:txBody>
          <a:bodyPr wrap="none" anchor="ctr"/>
          <a:lstStyle/>
          <a:p>
            <a:pPr eaLnBrk="0" hangingPunct="0"/>
            <a:endParaRPr lang="en-US"/>
          </a:p>
        </p:txBody>
      </p:sp>
      <p:sp>
        <p:nvSpPr>
          <p:cNvPr id="2069" name="AutoShape 21"/>
          <p:cNvSpPr>
            <a:spLocks noChangeArrowheads="1"/>
          </p:cNvSpPr>
          <p:nvPr/>
        </p:nvSpPr>
        <p:spPr bwMode="auto">
          <a:xfrm>
            <a:off x="5029200" y="6172200"/>
            <a:ext cx="228600" cy="228600"/>
          </a:xfrm>
          <a:prstGeom prst="plus">
            <a:avLst>
              <a:gd name="adj" fmla="val 25000"/>
            </a:avLst>
          </a:prstGeom>
          <a:solidFill>
            <a:srgbClr val="FF0000"/>
          </a:solidFill>
          <a:ln w="9525">
            <a:solidFill>
              <a:schemeClr val="tx1"/>
            </a:solidFill>
            <a:miter lim="800000"/>
            <a:headEnd/>
            <a:tailEnd/>
          </a:ln>
        </p:spPr>
        <p:txBody>
          <a:bodyPr wrap="none" anchor="ctr"/>
          <a:lstStyle/>
          <a:p>
            <a:pPr eaLnBrk="0" hangingPunct="0"/>
            <a:endParaRPr lang="en-US"/>
          </a:p>
        </p:txBody>
      </p:sp>
      <p:sp>
        <p:nvSpPr>
          <p:cNvPr id="2070" name="AutoShape 22"/>
          <p:cNvSpPr>
            <a:spLocks noChangeArrowheads="1"/>
          </p:cNvSpPr>
          <p:nvPr/>
        </p:nvSpPr>
        <p:spPr bwMode="auto">
          <a:xfrm>
            <a:off x="4495800" y="6324600"/>
            <a:ext cx="228600" cy="228600"/>
          </a:xfrm>
          <a:prstGeom prst="plus">
            <a:avLst>
              <a:gd name="adj" fmla="val 25000"/>
            </a:avLst>
          </a:prstGeom>
          <a:solidFill>
            <a:srgbClr val="FF0000"/>
          </a:solidFill>
          <a:ln w="9525">
            <a:solidFill>
              <a:schemeClr val="tx1"/>
            </a:solidFill>
            <a:miter lim="800000"/>
            <a:headEnd/>
            <a:tailEnd/>
          </a:ln>
        </p:spPr>
        <p:txBody>
          <a:bodyPr wrap="none" anchor="ctr"/>
          <a:lstStyle/>
          <a:p>
            <a:pPr eaLnBrk="0" hangingPunct="0"/>
            <a:endParaRPr lang="en-US"/>
          </a:p>
        </p:txBody>
      </p:sp>
      <p:sp>
        <p:nvSpPr>
          <p:cNvPr id="2071" name="AutoShape 23"/>
          <p:cNvSpPr>
            <a:spLocks noChangeArrowheads="1"/>
          </p:cNvSpPr>
          <p:nvPr/>
        </p:nvSpPr>
        <p:spPr bwMode="auto">
          <a:xfrm>
            <a:off x="4953000" y="5105400"/>
            <a:ext cx="228600" cy="228600"/>
          </a:xfrm>
          <a:prstGeom prst="plus">
            <a:avLst>
              <a:gd name="adj" fmla="val 25000"/>
            </a:avLst>
          </a:prstGeom>
          <a:solidFill>
            <a:srgbClr val="FF0000"/>
          </a:solidFill>
          <a:ln w="9525">
            <a:solidFill>
              <a:schemeClr val="tx1"/>
            </a:solidFill>
            <a:miter lim="800000"/>
            <a:headEnd/>
            <a:tailEnd/>
          </a:ln>
        </p:spPr>
        <p:txBody>
          <a:bodyPr wrap="none" anchor="ctr"/>
          <a:lstStyle/>
          <a:p>
            <a:pPr eaLnBrk="0" hangingPunct="0"/>
            <a:endParaRPr lang="en-US"/>
          </a:p>
        </p:txBody>
      </p:sp>
      <p:sp>
        <p:nvSpPr>
          <p:cNvPr id="2072" name="AutoShape 24"/>
          <p:cNvSpPr>
            <a:spLocks noChangeArrowheads="1"/>
          </p:cNvSpPr>
          <p:nvPr/>
        </p:nvSpPr>
        <p:spPr bwMode="auto">
          <a:xfrm>
            <a:off x="5181600" y="5638800"/>
            <a:ext cx="228600" cy="228600"/>
          </a:xfrm>
          <a:prstGeom prst="plus">
            <a:avLst>
              <a:gd name="adj" fmla="val 25000"/>
            </a:avLst>
          </a:prstGeom>
          <a:solidFill>
            <a:srgbClr val="FF0000"/>
          </a:solidFill>
          <a:ln w="9525">
            <a:solidFill>
              <a:schemeClr val="tx1"/>
            </a:solidFill>
            <a:miter lim="800000"/>
            <a:headEnd/>
            <a:tailEnd/>
          </a:ln>
        </p:spPr>
        <p:txBody>
          <a:bodyPr wrap="none" anchor="ctr"/>
          <a:lstStyle/>
          <a:p>
            <a:pPr eaLnBrk="0" hangingPunct="0"/>
            <a:endParaRPr lang="en-US"/>
          </a:p>
        </p:txBody>
      </p:sp>
      <p:sp>
        <p:nvSpPr>
          <p:cNvPr id="2073" name="Text Box 25"/>
          <p:cNvSpPr txBox="1">
            <a:spLocks noChangeArrowheads="1"/>
          </p:cNvSpPr>
          <p:nvPr/>
        </p:nvSpPr>
        <p:spPr bwMode="auto">
          <a:xfrm>
            <a:off x="514350" y="2740025"/>
            <a:ext cx="2546350" cy="461963"/>
          </a:xfrm>
          <a:prstGeom prst="rect">
            <a:avLst/>
          </a:prstGeom>
          <a:noFill/>
          <a:ln w="9525">
            <a:noFill/>
            <a:miter lim="800000"/>
            <a:headEnd/>
            <a:tailEnd/>
          </a:ln>
        </p:spPr>
        <p:txBody>
          <a:bodyPr wrap="none">
            <a:spAutoFit/>
          </a:bodyPr>
          <a:lstStyle/>
          <a:p>
            <a:pPr eaLnBrk="0" hangingPunct="0"/>
            <a:r>
              <a:rPr lang="en-US" sz="1200">
                <a:solidFill>
                  <a:schemeClr val="bg1"/>
                </a:solidFill>
              </a:rPr>
              <a:t>= New Soil Moisture Probe </a:t>
            </a:r>
          </a:p>
          <a:p>
            <a:pPr eaLnBrk="0" hangingPunct="0"/>
            <a:r>
              <a:rPr lang="en-US" sz="1200">
                <a:solidFill>
                  <a:schemeClr val="bg1"/>
                </a:solidFill>
              </a:rPr>
              <a:t>(proposed location)</a:t>
            </a:r>
          </a:p>
        </p:txBody>
      </p:sp>
      <p:sp>
        <p:nvSpPr>
          <p:cNvPr id="2074" name="AutoShape 26"/>
          <p:cNvSpPr>
            <a:spLocks noChangeArrowheads="1"/>
          </p:cNvSpPr>
          <p:nvPr/>
        </p:nvSpPr>
        <p:spPr bwMode="auto">
          <a:xfrm>
            <a:off x="190500" y="2362200"/>
            <a:ext cx="219075" cy="188913"/>
          </a:xfrm>
          <a:prstGeom prst="triangle">
            <a:avLst>
              <a:gd name="adj" fmla="val 50000"/>
            </a:avLst>
          </a:prstGeom>
          <a:solidFill>
            <a:schemeClr val="tx1"/>
          </a:solidFill>
          <a:ln w="9525">
            <a:solidFill>
              <a:schemeClr val="tx1"/>
            </a:solidFill>
            <a:miter lim="800000"/>
            <a:headEnd/>
            <a:tailEnd/>
          </a:ln>
        </p:spPr>
        <p:txBody>
          <a:bodyPr wrap="none" anchor="ctr"/>
          <a:lstStyle/>
          <a:p>
            <a:pPr eaLnBrk="0" hangingPunct="0"/>
            <a:endParaRPr lang="en-US"/>
          </a:p>
        </p:txBody>
      </p:sp>
      <p:sp>
        <p:nvSpPr>
          <p:cNvPr id="2075" name="Text Box 27"/>
          <p:cNvSpPr txBox="1">
            <a:spLocks noChangeArrowheads="1"/>
          </p:cNvSpPr>
          <p:nvPr/>
        </p:nvSpPr>
        <p:spPr bwMode="auto">
          <a:xfrm>
            <a:off x="495300" y="2359025"/>
            <a:ext cx="2443163" cy="274638"/>
          </a:xfrm>
          <a:prstGeom prst="rect">
            <a:avLst/>
          </a:prstGeom>
          <a:noFill/>
          <a:ln w="9525">
            <a:noFill/>
            <a:miter lim="800000"/>
            <a:headEnd/>
            <a:tailEnd/>
          </a:ln>
        </p:spPr>
        <p:txBody>
          <a:bodyPr wrap="none">
            <a:spAutoFit/>
          </a:bodyPr>
          <a:lstStyle/>
          <a:p>
            <a:pPr eaLnBrk="0" hangingPunct="0"/>
            <a:r>
              <a:rPr lang="en-US" sz="1200">
                <a:solidFill>
                  <a:schemeClr val="bg1"/>
                </a:solidFill>
              </a:rPr>
              <a:t>= New CORS (proposed location)</a:t>
            </a:r>
          </a:p>
        </p:txBody>
      </p:sp>
      <p:sp>
        <p:nvSpPr>
          <p:cNvPr id="2076" name="AutoShape 28"/>
          <p:cNvSpPr>
            <a:spLocks noChangeArrowheads="1"/>
          </p:cNvSpPr>
          <p:nvPr/>
        </p:nvSpPr>
        <p:spPr bwMode="auto">
          <a:xfrm>
            <a:off x="180975" y="2028825"/>
            <a:ext cx="223838" cy="223838"/>
          </a:xfrm>
          <a:prstGeom prst="diamond">
            <a:avLst/>
          </a:prstGeom>
          <a:solidFill>
            <a:srgbClr val="FFFF00"/>
          </a:solidFill>
          <a:ln w="9525">
            <a:solidFill>
              <a:schemeClr val="tx1"/>
            </a:solidFill>
            <a:miter lim="800000"/>
            <a:headEnd/>
            <a:tailEnd/>
          </a:ln>
        </p:spPr>
        <p:txBody>
          <a:bodyPr wrap="none" anchor="ctr"/>
          <a:lstStyle/>
          <a:p>
            <a:pPr eaLnBrk="0" hangingPunct="0"/>
            <a:endParaRPr lang="en-US"/>
          </a:p>
        </p:txBody>
      </p:sp>
      <p:sp>
        <p:nvSpPr>
          <p:cNvPr id="2077" name="Text Box 29"/>
          <p:cNvSpPr txBox="1">
            <a:spLocks noChangeArrowheads="1"/>
          </p:cNvSpPr>
          <p:nvPr/>
        </p:nvSpPr>
        <p:spPr bwMode="auto">
          <a:xfrm>
            <a:off x="485775" y="2025650"/>
            <a:ext cx="2781300" cy="274638"/>
          </a:xfrm>
          <a:prstGeom prst="rect">
            <a:avLst/>
          </a:prstGeom>
          <a:noFill/>
          <a:ln w="9525">
            <a:noFill/>
            <a:miter lim="800000"/>
            <a:headEnd/>
            <a:tailEnd/>
          </a:ln>
        </p:spPr>
        <p:txBody>
          <a:bodyPr wrap="none">
            <a:spAutoFit/>
          </a:bodyPr>
          <a:lstStyle/>
          <a:p>
            <a:pPr eaLnBrk="0" hangingPunct="0"/>
            <a:r>
              <a:rPr lang="en-US" sz="1200">
                <a:solidFill>
                  <a:schemeClr val="bg1"/>
                </a:solidFill>
              </a:rPr>
              <a:t>= New Met Sensor (proposed location)</a:t>
            </a:r>
          </a:p>
        </p:txBody>
      </p:sp>
      <p:sp>
        <p:nvSpPr>
          <p:cNvPr id="2078" name="AutoShape 30"/>
          <p:cNvSpPr>
            <a:spLocks noChangeArrowheads="1"/>
          </p:cNvSpPr>
          <p:nvPr/>
        </p:nvSpPr>
        <p:spPr bwMode="auto">
          <a:xfrm>
            <a:off x="285750" y="4152900"/>
            <a:ext cx="223838" cy="223838"/>
          </a:xfrm>
          <a:prstGeom prst="diamond">
            <a:avLst/>
          </a:prstGeom>
          <a:solidFill>
            <a:srgbClr val="FFFF00"/>
          </a:solidFill>
          <a:ln w="9525">
            <a:solidFill>
              <a:schemeClr val="tx1"/>
            </a:solidFill>
            <a:miter lim="800000"/>
            <a:headEnd/>
            <a:tailEnd/>
          </a:ln>
        </p:spPr>
        <p:txBody>
          <a:bodyPr wrap="none" anchor="ctr"/>
          <a:lstStyle/>
          <a:p>
            <a:pPr eaLnBrk="0" hangingPunct="0"/>
            <a:endParaRPr lang="en-US"/>
          </a:p>
        </p:txBody>
      </p:sp>
      <p:sp>
        <p:nvSpPr>
          <p:cNvPr id="2080" name="Text Box 32"/>
          <p:cNvSpPr txBox="1">
            <a:spLocks noChangeArrowheads="1"/>
          </p:cNvSpPr>
          <p:nvPr/>
        </p:nvSpPr>
        <p:spPr bwMode="auto">
          <a:xfrm>
            <a:off x="533400" y="552450"/>
            <a:ext cx="2587625" cy="274638"/>
          </a:xfrm>
          <a:prstGeom prst="rect">
            <a:avLst/>
          </a:prstGeom>
          <a:noFill/>
          <a:ln w="9525">
            <a:noFill/>
            <a:miter lim="800000"/>
            <a:headEnd/>
            <a:tailEnd/>
          </a:ln>
        </p:spPr>
        <p:txBody>
          <a:bodyPr wrap="none">
            <a:spAutoFit/>
          </a:bodyPr>
          <a:lstStyle/>
          <a:p>
            <a:pPr eaLnBrk="0" hangingPunct="0"/>
            <a:r>
              <a:rPr lang="en-US" sz="1200">
                <a:solidFill>
                  <a:schemeClr val="bg1"/>
                </a:solidFill>
              </a:rPr>
              <a:t>= Existing Digital Bucket Rain Gage</a:t>
            </a:r>
          </a:p>
        </p:txBody>
      </p:sp>
      <p:sp>
        <p:nvSpPr>
          <p:cNvPr id="2081" name="Oval 33"/>
          <p:cNvSpPr>
            <a:spLocks noChangeArrowheads="1"/>
          </p:cNvSpPr>
          <p:nvPr/>
        </p:nvSpPr>
        <p:spPr bwMode="auto">
          <a:xfrm>
            <a:off x="5076825" y="2390775"/>
            <a:ext cx="152400" cy="152400"/>
          </a:xfrm>
          <a:prstGeom prst="ellipse">
            <a:avLst/>
          </a:prstGeom>
          <a:solidFill>
            <a:srgbClr val="CC99FF"/>
          </a:solidFill>
          <a:ln w="9525">
            <a:solidFill>
              <a:schemeClr val="tx1"/>
            </a:solidFill>
            <a:round/>
            <a:headEnd/>
            <a:tailEnd/>
          </a:ln>
        </p:spPr>
        <p:txBody>
          <a:bodyPr wrap="none" anchor="ctr"/>
          <a:lstStyle/>
          <a:p>
            <a:pPr eaLnBrk="0" hangingPunct="0"/>
            <a:endParaRPr lang="en-US"/>
          </a:p>
        </p:txBody>
      </p:sp>
      <p:sp>
        <p:nvSpPr>
          <p:cNvPr id="2082" name="Oval 34"/>
          <p:cNvSpPr>
            <a:spLocks noChangeArrowheads="1"/>
          </p:cNvSpPr>
          <p:nvPr/>
        </p:nvSpPr>
        <p:spPr bwMode="auto">
          <a:xfrm>
            <a:off x="200025" y="631825"/>
            <a:ext cx="152400" cy="152400"/>
          </a:xfrm>
          <a:prstGeom prst="ellipse">
            <a:avLst/>
          </a:prstGeom>
          <a:solidFill>
            <a:srgbClr val="CC99FF"/>
          </a:solidFill>
          <a:ln w="9525">
            <a:solidFill>
              <a:schemeClr val="tx1"/>
            </a:solidFill>
            <a:round/>
            <a:headEnd/>
            <a:tailEnd/>
          </a:ln>
        </p:spPr>
        <p:txBody>
          <a:bodyPr wrap="none" anchor="ctr"/>
          <a:lstStyle/>
          <a:p>
            <a:pPr eaLnBrk="0" hangingPunct="0"/>
            <a:endParaRPr lang="en-US"/>
          </a:p>
        </p:txBody>
      </p:sp>
      <p:sp>
        <p:nvSpPr>
          <p:cNvPr id="2083" name="AutoShape 35"/>
          <p:cNvSpPr>
            <a:spLocks noChangeArrowheads="1"/>
          </p:cNvSpPr>
          <p:nvPr/>
        </p:nvSpPr>
        <p:spPr bwMode="auto">
          <a:xfrm>
            <a:off x="190500" y="841375"/>
            <a:ext cx="219075" cy="188913"/>
          </a:xfrm>
          <a:prstGeom prst="triangle">
            <a:avLst>
              <a:gd name="adj" fmla="val 50000"/>
            </a:avLst>
          </a:prstGeom>
          <a:solidFill>
            <a:schemeClr val="bg1"/>
          </a:solidFill>
          <a:ln w="9525">
            <a:noFill/>
            <a:miter lim="800000"/>
            <a:headEnd/>
            <a:tailEnd/>
          </a:ln>
        </p:spPr>
        <p:txBody>
          <a:bodyPr wrap="none" anchor="ctr"/>
          <a:lstStyle/>
          <a:p>
            <a:pPr eaLnBrk="0" hangingPunct="0"/>
            <a:endParaRPr lang="en-US"/>
          </a:p>
        </p:txBody>
      </p:sp>
      <p:sp>
        <p:nvSpPr>
          <p:cNvPr id="2084" name="Text Box 36"/>
          <p:cNvSpPr txBox="1">
            <a:spLocks noChangeArrowheads="1"/>
          </p:cNvSpPr>
          <p:nvPr/>
        </p:nvSpPr>
        <p:spPr bwMode="auto">
          <a:xfrm>
            <a:off x="495300" y="838200"/>
            <a:ext cx="1831975" cy="274638"/>
          </a:xfrm>
          <a:prstGeom prst="rect">
            <a:avLst/>
          </a:prstGeom>
          <a:noFill/>
          <a:ln w="9525">
            <a:noFill/>
            <a:miter lim="800000"/>
            <a:headEnd/>
            <a:tailEnd/>
          </a:ln>
        </p:spPr>
        <p:txBody>
          <a:bodyPr wrap="none">
            <a:spAutoFit/>
          </a:bodyPr>
          <a:lstStyle/>
          <a:p>
            <a:pPr eaLnBrk="0" hangingPunct="0"/>
            <a:r>
              <a:rPr lang="en-US" sz="1200">
                <a:solidFill>
                  <a:schemeClr val="bg1"/>
                </a:solidFill>
              </a:rPr>
              <a:t>= Existing TMGO CORS</a:t>
            </a:r>
          </a:p>
        </p:txBody>
      </p:sp>
      <p:sp>
        <p:nvSpPr>
          <p:cNvPr id="2085" name="AutoShape 37"/>
          <p:cNvSpPr>
            <a:spLocks noChangeArrowheads="1"/>
          </p:cNvSpPr>
          <p:nvPr/>
        </p:nvSpPr>
        <p:spPr bwMode="auto">
          <a:xfrm>
            <a:off x="4467225" y="3371850"/>
            <a:ext cx="219075" cy="188913"/>
          </a:xfrm>
          <a:prstGeom prst="triangle">
            <a:avLst>
              <a:gd name="adj" fmla="val 50000"/>
            </a:avLst>
          </a:prstGeom>
          <a:solidFill>
            <a:schemeClr val="bg1"/>
          </a:solidFill>
          <a:ln w="9525">
            <a:noFill/>
            <a:miter lim="800000"/>
            <a:headEnd/>
            <a:tailEnd/>
          </a:ln>
        </p:spPr>
        <p:txBody>
          <a:bodyPr wrap="none" anchor="ctr"/>
          <a:lstStyle/>
          <a:p>
            <a:pPr eaLnBrk="0" hangingPunct="0"/>
            <a:endParaRPr lang="en-US"/>
          </a:p>
        </p:txBody>
      </p:sp>
      <p:sp>
        <p:nvSpPr>
          <p:cNvPr id="2086" name="Text Box 38"/>
          <p:cNvSpPr txBox="1">
            <a:spLocks noChangeArrowheads="1"/>
          </p:cNvSpPr>
          <p:nvPr/>
        </p:nvSpPr>
        <p:spPr bwMode="auto">
          <a:xfrm>
            <a:off x="7134225" y="4467225"/>
            <a:ext cx="1720850" cy="1190625"/>
          </a:xfrm>
          <a:prstGeom prst="rect">
            <a:avLst/>
          </a:prstGeom>
          <a:noFill/>
          <a:ln w="9525">
            <a:noFill/>
            <a:miter lim="800000"/>
            <a:headEnd/>
            <a:tailEnd/>
          </a:ln>
        </p:spPr>
        <p:txBody>
          <a:bodyPr wrap="none">
            <a:spAutoFit/>
          </a:bodyPr>
          <a:lstStyle/>
          <a:p>
            <a:pPr eaLnBrk="0" hangingPunct="0"/>
            <a:r>
              <a:rPr lang="en-US">
                <a:solidFill>
                  <a:schemeClr val="bg1"/>
                </a:solidFill>
              </a:rPr>
              <a:t>30 m radius</a:t>
            </a:r>
          </a:p>
          <a:p>
            <a:pPr eaLnBrk="0" hangingPunct="0"/>
            <a:r>
              <a:rPr lang="en-US">
                <a:solidFill>
                  <a:schemeClr val="bg1"/>
                </a:solidFill>
              </a:rPr>
              <a:t>(limit of wires</a:t>
            </a:r>
          </a:p>
          <a:p>
            <a:pPr eaLnBrk="0" hangingPunct="0"/>
            <a:r>
              <a:rPr lang="en-US">
                <a:solidFill>
                  <a:schemeClr val="bg1"/>
                </a:solidFill>
              </a:rPr>
              <a:t>that came with </a:t>
            </a:r>
          </a:p>
          <a:p>
            <a:pPr eaLnBrk="0" hangingPunct="0"/>
            <a:r>
              <a:rPr lang="en-US">
                <a:solidFill>
                  <a:schemeClr val="bg1"/>
                </a:solidFill>
              </a:rPr>
              <a:t>probes)</a:t>
            </a:r>
          </a:p>
        </p:txBody>
      </p:sp>
      <p:sp>
        <p:nvSpPr>
          <p:cNvPr id="2087" name="Line 39"/>
          <p:cNvSpPr>
            <a:spLocks noChangeShapeType="1"/>
          </p:cNvSpPr>
          <p:nvPr/>
        </p:nvSpPr>
        <p:spPr bwMode="auto">
          <a:xfrm flipH="1" flipV="1">
            <a:off x="5334000" y="3581400"/>
            <a:ext cx="1771650" cy="1266825"/>
          </a:xfrm>
          <a:prstGeom prst="line">
            <a:avLst/>
          </a:prstGeom>
          <a:noFill/>
          <a:ln w="25400">
            <a:solidFill>
              <a:schemeClr val="bg1"/>
            </a:solidFill>
            <a:round/>
            <a:headEnd/>
            <a:tailEnd type="triangle" w="med" len="med"/>
          </a:ln>
        </p:spPr>
        <p:txBody>
          <a:bodyPr/>
          <a:lstStyle/>
          <a:p>
            <a:endParaRPr lang="en-US"/>
          </a:p>
        </p:txBody>
      </p:sp>
      <p:sp>
        <p:nvSpPr>
          <p:cNvPr id="2088" name="Line 40"/>
          <p:cNvSpPr>
            <a:spLocks noChangeShapeType="1"/>
          </p:cNvSpPr>
          <p:nvPr/>
        </p:nvSpPr>
        <p:spPr bwMode="auto">
          <a:xfrm flipH="1">
            <a:off x="5257800" y="4857750"/>
            <a:ext cx="1828800" cy="628650"/>
          </a:xfrm>
          <a:prstGeom prst="line">
            <a:avLst/>
          </a:prstGeom>
          <a:noFill/>
          <a:ln w="25400">
            <a:solidFill>
              <a:schemeClr val="bg1"/>
            </a:solidFill>
            <a:round/>
            <a:headEnd/>
            <a:tailEnd type="triangle" w="med" len="med"/>
          </a:ln>
        </p:spPr>
        <p:txBody>
          <a:bodyPr/>
          <a:lstStyle/>
          <a:p>
            <a:endParaRPr lang="en-US"/>
          </a:p>
        </p:txBody>
      </p:sp>
      <p:sp>
        <p:nvSpPr>
          <p:cNvPr id="2090" name="AutoShape 42"/>
          <p:cNvSpPr>
            <a:spLocks noChangeArrowheads="1"/>
          </p:cNvSpPr>
          <p:nvPr/>
        </p:nvSpPr>
        <p:spPr bwMode="auto">
          <a:xfrm>
            <a:off x="190500" y="1184275"/>
            <a:ext cx="219075" cy="188913"/>
          </a:xfrm>
          <a:prstGeom prst="triangle">
            <a:avLst>
              <a:gd name="adj" fmla="val 50000"/>
            </a:avLst>
          </a:prstGeom>
          <a:solidFill>
            <a:srgbClr val="00CCFF"/>
          </a:solidFill>
          <a:ln w="9525">
            <a:noFill/>
            <a:miter lim="800000"/>
            <a:headEnd/>
            <a:tailEnd/>
          </a:ln>
        </p:spPr>
        <p:txBody>
          <a:bodyPr wrap="none" anchor="ctr"/>
          <a:lstStyle/>
          <a:p>
            <a:pPr eaLnBrk="0" hangingPunct="0"/>
            <a:endParaRPr lang="en-US"/>
          </a:p>
        </p:txBody>
      </p:sp>
      <p:sp>
        <p:nvSpPr>
          <p:cNvPr id="2091" name="Text Box 43"/>
          <p:cNvSpPr txBox="1">
            <a:spLocks noChangeArrowheads="1"/>
          </p:cNvSpPr>
          <p:nvPr/>
        </p:nvSpPr>
        <p:spPr bwMode="auto">
          <a:xfrm>
            <a:off x="495300" y="1181100"/>
            <a:ext cx="2638425" cy="457200"/>
          </a:xfrm>
          <a:prstGeom prst="rect">
            <a:avLst/>
          </a:prstGeom>
          <a:noFill/>
          <a:ln w="9525">
            <a:noFill/>
            <a:miter lim="800000"/>
            <a:headEnd/>
            <a:tailEnd/>
          </a:ln>
        </p:spPr>
        <p:txBody>
          <a:bodyPr wrap="none">
            <a:spAutoFit/>
          </a:bodyPr>
          <a:lstStyle/>
          <a:p>
            <a:pPr eaLnBrk="0" hangingPunct="0"/>
            <a:r>
              <a:rPr lang="en-US" sz="1200">
                <a:solidFill>
                  <a:schemeClr val="bg1"/>
                </a:solidFill>
              </a:rPr>
              <a:t>= Existing loaned TRIMBLE antenna</a:t>
            </a:r>
          </a:p>
          <a:p>
            <a:pPr eaLnBrk="0" hangingPunct="0"/>
            <a:r>
              <a:rPr lang="en-US" sz="1200">
                <a:solidFill>
                  <a:schemeClr val="bg1"/>
                </a:solidFill>
              </a:rPr>
              <a:t>   on pillar </a:t>
            </a:r>
          </a:p>
        </p:txBody>
      </p:sp>
      <p:sp>
        <p:nvSpPr>
          <p:cNvPr id="2092" name="AutoShape 44"/>
          <p:cNvSpPr>
            <a:spLocks noChangeArrowheads="1"/>
          </p:cNvSpPr>
          <p:nvPr/>
        </p:nvSpPr>
        <p:spPr bwMode="auto">
          <a:xfrm>
            <a:off x="5486400" y="1876425"/>
            <a:ext cx="219075" cy="188913"/>
          </a:xfrm>
          <a:prstGeom prst="triangle">
            <a:avLst>
              <a:gd name="adj" fmla="val 50000"/>
            </a:avLst>
          </a:prstGeom>
          <a:solidFill>
            <a:srgbClr val="00CCFF"/>
          </a:solidFill>
          <a:ln w="9525">
            <a:noFill/>
            <a:miter lim="800000"/>
            <a:headEnd/>
            <a:tailEnd/>
          </a:ln>
        </p:spPr>
        <p:txBody>
          <a:bodyPr wrap="none" anchor="ctr"/>
          <a:lstStyle/>
          <a:p>
            <a:pPr eaLnBrk="0" hangingPunct="0"/>
            <a:endParaRPr lang="en-US"/>
          </a:p>
        </p:txBody>
      </p:sp>
      <p:sp>
        <p:nvSpPr>
          <p:cNvPr id="2093" name="AutoShape 45"/>
          <p:cNvSpPr>
            <a:spLocks noChangeArrowheads="1"/>
          </p:cNvSpPr>
          <p:nvPr/>
        </p:nvSpPr>
        <p:spPr bwMode="auto">
          <a:xfrm>
            <a:off x="180975" y="219075"/>
            <a:ext cx="200025" cy="190500"/>
          </a:xfrm>
          <a:prstGeom prst="pentagon">
            <a:avLst/>
          </a:prstGeom>
          <a:solidFill>
            <a:srgbClr val="FF9900"/>
          </a:solidFill>
          <a:ln w="9525">
            <a:solidFill>
              <a:schemeClr val="tx1"/>
            </a:solidFill>
            <a:miter lim="800000"/>
            <a:headEnd/>
            <a:tailEnd/>
          </a:ln>
        </p:spPr>
        <p:txBody>
          <a:bodyPr wrap="none" anchor="ctr"/>
          <a:lstStyle/>
          <a:p>
            <a:pPr eaLnBrk="0" hangingPunct="0"/>
            <a:endParaRPr lang="en-US"/>
          </a:p>
        </p:txBody>
      </p:sp>
      <p:sp>
        <p:nvSpPr>
          <p:cNvPr id="2094" name="AutoShape 46"/>
          <p:cNvSpPr>
            <a:spLocks noChangeArrowheads="1"/>
          </p:cNvSpPr>
          <p:nvPr/>
        </p:nvSpPr>
        <p:spPr bwMode="auto">
          <a:xfrm>
            <a:off x="4619625" y="3143250"/>
            <a:ext cx="200025" cy="190500"/>
          </a:xfrm>
          <a:prstGeom prst="pentagon">
            <a:avLst/>
          </a:prstGeom>
          <a:solidFill>
            <a:srgbClr val="FF9900"/>
          </a:solidFill>
          <a:ln w="9525">
            <a:solidFill>
              <a:schemeClr val="tx1"/>
            </a:solidFill>
            <a:miter lim="800000"/>
            <a:headEnd/>
            <a:tailEnd/>
          </a:ln>
        </p:spPr>
        <p:txBody>
          <a:bodyPr wrap="none" anchor="ctr"/>
          <a:lstStyle/>
          <a:p>
            <a:pPr eaLnBrk="0" hangingPunct="0"/>
            <a:endParaRPr lang="en-US"/>
          </a:p>
        </p:txBody>
      </p:sp>
      <p:sp>
        <p:nvSpPr>
          <p:cNvPr id="2095" name="Text Box 47"/>
          <p:cNvSpPr txBox="1">
            <a:spLocks noChangeArrowheads="1"/>
          </p:cNvSpPr>
          <p:nvPr/>
        </p:nvSpPr>
        <p:spPr bwMode="auto">
          <a:xfrm>
            <a:off x="485775" y="219075"/>
            <a:ext cx="2824163" cy="274638"/>
          </a:xfrm>
          <a:prstGeom prst="rect">
            <a:avLst/>
          </a:prstGeom>
          <a:noFill/>
          <a:ln w="9525">
            <a:noFill/>
            <a:miter lim="800000"/>
            <a:headEnd/>
            <a:tailEnd/>
          </a:ln>
        </p:spPr>
        <p:txBody>
          <a:bodyPr wrap="none">
            <a:spAutoFit/>
          </a:bodyPr>
          <a:lstStyle/>
          <a:p>
            <a:pPr eaLnBrk="0" hangingPunct="0"/>
            <a:r>
              <a:rPr lang="en-US" sz="1200">
                <a:solidFill>
                  <a:schemeClr val="bg1"/>
                </a:solidFill>
              </a:rPr>
              <a:t>= Existing Superconducting Gravimeter</a:t>
            </a:r>
          </a:p>
        </p:txBody>
      </p:sp>
      <p:sp>
        <p:nvSpPr>
          <p:cNvPr id="42" name="5-Point Star 41"/>
          <p:cNvSpPr/>
          <p:nvPr/>
        </p:nvSpPr>
        <p:spPr bwMode="auto">
          <a:xfrm>
            <a:off x="4962525" y="2952750"/>
            <a:ext cx="276225" cy="276225"/>
          </a:xfrm>
          <a:prstGeom prst="star5">
            <a:avLst/>
          </a:prstGeom>
          <a:solidFill>
            <a:srgbClr val="92D050"/>
          </a:solidFill>
          <a:ln w="9525" cap="flat" cmpd="sng" algn="ctr">
            <a:solidFill>
              <a:schemeClr val="tx1"/>
            </a:solidFill>
            <a:prstDash val="solid"/>
            <a:round/>
            <a:headEnd type="none" w="med" len="med"/>
            <a:tailEnd type="none" w="med" len="med"/>
          </a:ln>
          <a:effectLst/>
        </p:spPr>
        <p:txBody>
          <a:bodyPr/>
          <a:lstStyle/>
          <a:p>
            <a:pPr eaLnBrk="0" hangingPunct="0">
              <a:defRPr/>
            </a:pPr>
            <a:endParaRPr lang="en-US"/>
          </a:p>
        </p:txBody>
      </p:sp>
      <p:sp>
        <p:nvSpPr>
          <p:cNvPr id="43" name="5-Point Star 42"/>
          <p:cNvSpPr/>
          <p:nvPr/>
        </p:nvSpPr>
        <p:spPr bwMode="auto">
          <a:xfrm>
            <a:off x="142875" y="1657350"/>
            <a:ext cx="276225" cy="276225"/>
          </a:xfrm>
          <a:prstGeom prst="star5">
            <a:avLst/>
          </a:prstGeom>
          <a:solidFill>
            <a:srgbClr val="92D050"/>
          </a:solidFill>
          <a:ln w="9525" cap="flat" cmpd="sng" algn="ctr">
            <a:solidFill>
              <a:schemeClr val="tx1"/>
            </a:solidFill>
            <a:prstDash val="solid"/>
            <a:round/>
            <a:headEnd type="none" w="med" len="med"/>
            <a:tailEnd type="none" w="med" len="med"/>
          </a:ln>
          <a:effectLst/>
        </p:spPr>
        <p:txBody>
          <a:bodyPr/>
          <a:lstStyle/>
          <a:p>
            <a:pPr eaLnBrk="0" hangingPunct="0">
              <a:defRPr/>
            </a:pPr>
            <a:endParaRPr lang="en-US"/>
          </a:p>
        </p:txBody>
      </p:sp>
      <p:sp>
        <p:nvSpPr>
          <p:cNvPr id="44" name="Text Box 43"/>
          <p:cNvSpPr txBox="1">
            <a:spLocks noChangeArrowheads="1"/>
          </p:cNvSpPr>
          <p:nvPr/>
        </p:nvSpPr>
        <p:spPr bwMode="auto">
          <a:xfrm>
            <a:off x="523875" y="1676400"/>
            <a:ext cx="3340100" cy="276225"/>
          </a:xfrm>
          <a:prstGeom prst="rect">
            <a:avLst/>
          </a:prstGeom>
          <a:noFill/>
          <a:ln w="9525">
            <a:noFill/>
            <a:miter lim="800000"/>
            <a:headEnd/>
            <a:tailEnd/>
          </a:ln>
        </p:spPr>
        <p:txBody>
          <a:bodyPr wrap="none">
            <a:spAutoFit/>
          </a:bodyPr>
          <a:lstStyle/>
          <a:p>
            <a:pPr eaLnBrk="0" hangingPunct="0"/>
            <a:r>
              <a:rPr lang="en-US" sz="1200">
                <a:solidFill>
                  <a:schemeClr val="bg1"/>
                </a:solidFill>
              </a:rPr>
              <a:t>= Existing 2 monitor wells (defunct)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9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09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09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08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08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08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08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08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08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090"/>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091"/>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09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3"/>
                                        </p:tgtEl>
                                        <p:attrNameLst>
                                          <p:attrName>style.visibility</p:attrName>
                                        </p:attrNameLst>
                                      </p:cBhvr>
                                      <p:to>
                                        <p:strVal val="visible"/>
                                      </p:to>
                                    </p:set>
                                  </p:childTnLst>
                                </p:cTn>
                              </p:par>
                              <p:par>
                                <p:cTn id="39" presetID="1" presetClass="entr" presetSubtype="0" fill="hold" grpId="1" nodeType="withEffect">
                                  <p:stCondLst>
                                    <p:cond delay="0"/>
                                  </p:stCondLst>
                                  <p:childTnLst>
                                    <p:set>
                                      <p:cBhvr>
                                        <p:cTn id="40" dur="1" fill="hold">
                                          <p:stCondLst>
                                            <p:cond delay="0"/>
                                          </p:stCondLst>
                                        </p:cTn>
                                        <p:tgtEl>
                                          <p:spTgt spid="44"/>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44"/>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42"/>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2076"/>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077"/>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078"/>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2074"/>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2075"/>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2059"/>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2065"/>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2073"/>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2060"/>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2061"/>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2062"/>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2063"/>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2064"/>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2071"/>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2072"/>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2069"/>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2070"/>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2066"/>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2068"/>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2067"/>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2055"/>
                                        </p:tgtEl>
                                        <p:attrNameLst>
                                          <p:attrName>style.visibility</p:attrName>
                                        </p:attrNameLst>
                                      </p:cBhvr>
                                      <p:to>
                                        <p:strVal val="visible"/>
                                      </p:to>
                                    </p:set>
                                  </p:childTnLst>
                                </p:cTn>
                              </p:par>
                              <p:par>
                                <p:cTn id="95" presetID="1" presetClass="entr" presetSubtype="0" fill="hold" grpId="0" nodeType="withEffect">
                                  <p:stCondLst>
                                    <p:cond delay="0"/>
                                  </p:stCondLst>
                                  <p:childTnLst>
                                    <p:set>
                                      <p:cBhvr>
                                        <p:cTn id="96" dur="1" fill="hold">
                                          <p:stCondLst>
                                            <p:cond delay="0"/>
                                          </p:stCondLst>
                                        </p:cTn>
                                        <p:tgtEl>
                                          <p:spTgt spid="2056"/>
                                        </p:tgtEl>
                                        <p:attrNameLst>
                                          <p:attrName>style.visibility</p:attrName>
                                        </p:attrNameLst>
                                      </p:cBhvr>
                                      <p:to>
                                        <p:strVal val="visible"/>
                                      </p:to>
                                    </p:set>
                                  </p:childTnLst>
                                </p:cTn>
                              </p:par>
                              <p:par>
                                <p:cTn id="97" presetID="1" presetClass="entr" presetSubtype="0" fill="hold" grpId="0" nodeType="withEffect">
                                  <p:stCondLst>
                                    <p:cond delay="0"/>
                                  </p:stCondLst>
                                  <p:childTnLst>
                                    <p:set>
                                      <p:cBhvr>
                                        <p:cTn id="98" dur="1" fill="hold">
                                          <p:stCondLst>
                                            <p:cond delay="0"/>
                                          </p:stCondLst>
                                        </p:cTn>
                                        <p:tgtEl>
                                          <p:spTgt spid="2088"/>
                                        </p:tgtEl>
                                        <p:attrNameLst>
                                          <p:attrName>style.visibility</p:attrName>
                                        </p:attrNameLst>
                                      </p:cBhvr>
                                      <p:to>
                                        <p:strVal val="visible"/>
                                      </p:to>
                                    </p:set>
                                  </p:childTnLst>
                                </p:cTn>
                              </p:par>
                              <p:par>
                                <p:cTn id="99" presetID="1" presetClass="entr" presetSubtype="0" fill="hold" grpId="0" nodeType="withEffect">
                                  <p:stCondLst>
                                    <p:cond delay="0"/>
                                  </p:stCondLst>
                                  <p:childTnLst>
                                    <p:set>
                                      <p:cBhvr>
                                        <p:cTn id="100" dur="1" fill="hold">
                                          <p:stCondLst>
                                            <p:cond delay="0"/>
                                          </p:stCondLst>
                                        </p:cTn>
                                        <p:tgtEl>
                                          <p:spTgt spid="2087"/>
                                        </p:tgtEl>
                                        <p:attrNameLst>
                                          <p:attrName>style.visibility</p:attrName>
                                        </p:attrNameLst>
                                      </p:cBhvr>
                                      <p:to>
                                        <p:strVal val="visible"/>
                                      </p:to>
                                    </p:set>
                                  </p:childTnLst>
                                </p:cTn>
                              </p:par>
                              <p:par>
                                <p:cTn id="101" presetID="1" presetClass="entr" presetSubtype="0" fill="hold" grpId="0" nodeType="withEffect">
                                  <p:stCondLst>
                                    <p:cond delay="0"/>
                                  </p:stCondLst>
                                  <p:childTnLst>
                                    <p:set>
                                      <p:cBhvr>
                                        <p:cTn id="102" dur="1" fill="hold">
                                          <p:stCondLst>
                                            <p:cond delay="0"/>
                                          </p:stCondLst>
                                        </p:cTn>
                                        <p:tgtEl>
                                          <p:spTgt spid="208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5" grpId="0" animBg="1"/>
      <p:bldP spid="2056" grpId="0" animBg="1"/>
      <p:bldP spid="2059" grpId="0" animBg="1"/>
      <p:bldP spid="2060" grpId="0" animBg="1"/>
      <p:bldP spid="2061" grpId="0" animBg="1"/>
      <p:bldP spid="2062" grpId="0" animBg="1"/>
      <p:bldP spid="2063" grpId="0" animBg="1"/>
      <p:bldP spid="2064" grpId="0" animBg="1"/>
      <p:bldP spid="2065" grpId="0" animBg="1"/>
      <p:bldP spid="2066" grpId="0" animBg="1"/>
      <p:bldP spid="2067" grpId="0" animBg="1"/>
      <p:bldP spid="2068" grpId="0" animBg="1"/>
      <p:bldP spid="2069" grpId="0" animBg="1"/>
      <p:bldP spid="2070" grpId="0" animBg="1"/>
      <p:bldP spid="2071" grpId="0" animBg="1"/>
      <p:bldP spid="2072" grpId="0" animBg="1"/>
      <p:bldP spid="2073" grpId="0"/>
      <p:bldP spid="2074" grpId="0" animBg="1"/>
      <p:bldP spid="2075" grpId="0"/>
      <p:bldP spid="2076" grpId="0" animBg="1"/>
      <p:bldP spid="2077" grpId="0"/>
      <p:bldP spid="2078" grpId="0" animBg="1"/>
      <p:bldP spid="2080" grpId="0"/>
      <p:bldP spid="2081" grpId="0" animBg="1"/>
      <p:bldP spid="2082" grpId="0" animBg="1"/>
      <p:bldP spid="2083" grpId="0" animBg="1"/>
      <p:bldP spid="2084" grpId="0"/>
      <p:bldP spid="2085" grpId="0" animBg="1"/>
      <p:bldP spid="2086" grpId="0"/>
      <p:bldP spid="2087" grpId="0" animBg="1"/>
      <p:bldP spid="2088" grpId="0" animBg="1"/>
      <p:bldP spid="2090" grpId="0" animBg="1"/>
      <p:bldP spid="2091" grpId="0"/>
      <p:bldP spid="2092" grpId="0" animBg="1"/>
      <p:bldP spid="2093" grpId="0" animBg="1"/>
      <p:bldP spid="2094" grpId="0" animBg="1"/>
      <p:bldP spid="2095" grpId="0"/>
      <p:bldP spid="44" grpId="0"/>
      <p:bldP spid="44" grpId="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a:spLocks noGrp="1"/>
          </p:cNvSpPr>
          <p:nvPr>
            <p:ph type="title"/>
          </p:nvPr>
        </p:nvSpPr>
        <p:spPr/>
        <p:txBody>
          <a:bodyPr/>
          <a:lstStyle/>
          <a:p>
            <a:pPr eaLnBrk="1" hangingPunct="1"/>
            <a:r>
              <a:rPr lang="en-US" smtClean="0"/>
              <a:t>TMGO Meter-checks</a:t>
            </a:r>
          </a:p>
        </p:txBody>
      </p:sp>
      <p:sp>
        <p:nvSpPr>
          <p:cNvPr id="8195" name="Content Placeholder 2"/>
          <p:cNvSpPr>
            <a:spLocks noGrp="1"/>
          </p:cNvSpPr>
          <p:nvPr>
            <p:ph idx="1"/>
          </p:nvPr>
        </p:nvSpPr>
        <p:spPr/>
        <p:txBody>
          <a:bodyPr/>
          <a:lstStyle/>
          <a:p>
            <a:pPr eaLnBrk="1" hangingPunct="1"/>
            <a:r>
              <a:rPr lang="en-US" smtClean="0"/>
              <a:t>NGS welcomes brief visits by those whose FG-5’s or A-10’s have recently been at   Micro-G for service</a:t>
            </a:r>
          </a:p>
          <a:p>
            <a:pPr eaLnBrk="1" hangingPunct="1"/>
            <a:endParaRPr lang="en-US" smtClean="0"/>
          </a:p>
          <a:p>
            <a:pPr eaLnBrk="1" hangingPunct="1"/>
            <a:r>
              <a:rPr lang="en-US" smtClean="0"/>
              <a:t>Provides a safe, nearby environment for checking meter after servicing, prior to shipping home</a:t>
            </a:r>
          </a:p>
        </p:txBody>
      </p:sp>
      <p:sp>
        <p:nvSpPr>
          <p:cNvPr id="4" name="Date Placeholder 3"/>
          <p:cNvSpPr>
            <a:spLocks noGrp="1"/>
          </p:cNvSpPr>
          <p:nvPr>
            <p:ph type="dt" sz="quarter" idx="10"/>
          </p:nvPr>
        </p:nvSpPr>
        <p:spPr/>
        <p:txBody>
          <a:bodyPr/>
          <a:lstStyle/>
          <a:p>
            <a:pPr>
              <a:defRPr/>
            </a:pPr>
            <a:r>
              <a:rPr lang="en-US"/>
              <a:t>10/18/2010</a:t>
            </a:r>
          </a:p>
        </p:txBody>
      </p:sp>
      <p:sp>
        <p:nvSpPr>
          <p:cNvPr id="5" name="Footer Placeholder 4"/>
          <p:cNvSpPr>
            <a:spLocks noGrp="1"/>
          </p:cNvSpPr>
          <p:nvPr>
            <p:ph type="ftr" sz="quarter" idx="11"/>
          </p:nvPr>
        </p:nvSpPr>
        <p:spPr/>
        <p:txBody>
          <a:bodyPr/>
          <a:lstStyle/>
          <a:p>
            <a:pPr>
              <a:defRPr/>
            </a:pPr>
            <a:r>
              <a:rPr lang="en-US"/>
              <a:t>Workshop on North American Gravimetry</a:t>
            </a:r>
          </a:p>
        </p:txBody>
      </p:sp>
      <p:sp>
        <p:nvSpPr>
          <p:cNvPr id="6" name="Slide Number Placeholder 5"/>
          <p:cNvSpPr>
            <a:spLocks noGrp="1"/>
          </p:cNvSpPr>
          <p:nvPr>
            <p:ph type="sldNum" sz="quarter" idx="12"/>
          </p:nvPr>
        </p:nvSpPr>
        <p:spPr/>
        <p:txBody>
          <a:bodyPr/>
          <a:lstStyle/>
          <a:p>
            <a:pPr>
              <a:defRPr/>
            </a:pPr>
            <a:fld id="{1E1A702F-6D76-4879-8681-671BEB751881}" type="slidenum">
              <a:rPr lang="en-US" smtClean="0"/>
              <a:pPr>
                <a:defRPr/>
              </a:pPr>
              <a:t>6</a:t>
            </a:fld>
            <a:endParaRPr lang="en-US"/>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p:txBody>
          <a:bodyPr/>
          <a:lstStyle/>
          <a:p>
            <a:pPr eaLnBrk="1" hangingPunct="1"/>
            <a:r>
              <a:rPr lang="en-US" smtClean="0"/>
              <a:t>Absolute Gravimeter Comparisons</a:t>
            </a:r>
          </a:p>
        </p:txBody>
      </p:sp>
      <p:sp>
        <p:nvSpPr>
          <p:cNvPr id="9219" name="Content Placeholder 2"/>
          <p:cNvSpPr>
            <a:spLocks noGrp="1"/>
          </p:cNvSpPr>
          <p:nvPr>
            <p:ph idx="1"/>
          </p:nvPr>
        </p:nvSpPr>
        <p:spPr/>
        <p:txBody>
          <a:bodyPr/>
          <a:lstStyle/>
          <a:p>
            <a:pPr eaLnBrk="1" hangingPunct="1"/>
            <a:r>
              <a:rPr lang="en-US" smtClean="0"/>
              <a:t>Periodic comparisons (4 years?)</a:t>
            </a:r>
          </a:p>
          <a:p>
            <a:pPr lvl="1" eaLnBrk="1" hangingPunct="1"/>
            <a:r>
              <a:rPr lang="en-US" smtClean="0"/>
              <a:t>N.Amer. in 2010.  More open next time.</a:t>
            </a:r>
          </a:p>
          <a:p>
            <a:pPr lvl="1" eaLnBrk="1" hangingPunct="1"/>
            <a:endParaRPr lang="en-US" smtClean="0"/>
          </a:p>
          <a:p>
            <a:pPr eaLnBrk="1" hangingPunct="1"/>
            <a:r>
              <a:rPr lang="en-US" smtClean="0"/>
              <a:t>Critical now that BIPM is no longer hosting them</a:t>
            </a:r>
          </a:p>
          <a:p>
            <a:pPr eaLnBrk="1" hangingPunct="1"/>
            <a:endParaRPr lang="en-US" smtClean="0"/>
          </a:p>
          <a:p>
            <a:pPr eaLnBrk="1" hangingPunct="1"/>
            <a:r>
              <a:rPr lang="en-US" smtClean="0"/>
              <a:t>Reports to IAG, and consolidated metadata website</a:t>
            </a:r>
          </a:p>
          <a:p>
            <a:pPr lvl="1" eaLnBrk="1" hangingPunct="1"/>
            <a:r>
              <a:rPr lang="en-US" smtClean="0"/>
              <a:t>Contribution to the A.G. Database at BKG</a:t>
            </a:r>
          </a:p>
          <a:p>
            <a:pPr lvl="1" eaLnBrk="1" hangingPunct="1"/>
            <a:endParaRPr lang="en-US" smtClean="0"/>
          </a:p>
        </p:txBody>
      </p:sp>
      <p:sp>
        <p:nvSpPr>
          <p:cNvPr id="4" name="Date Placeholder 3"/>
          <p:cNvSpPr>
            <a:spLocks noGrp="1"/>
          </p:cNvSpPr>
          <p:nvPr>
            <p:ph type="dt" sz="quarter" idx="10"/>
          </p:nvPr>
        </p:nvSpPr>
        <p:spPr/>
        <p:txBody>
          <a:bodyPr/>
          <a:lstStyle/>
          <a:p>
            <a:pPr>
              <a:defRPr/>
            </a:pPr>
            <a:r>
              <a:rPr lang="en-US"/>
              <a:t>10/18/2010</a:t>
            </a:r>
          </a:p>
        </p:txBody>
      </p:sp>
      <p:sp>
        <p:nvSpPr>
          <p:cNvPr id="5" name="Footer Placeholder 4"/>
          <p:cNvSpPr>
            <a:spLocks noGrp="1"/>
          </p:cNvSpPr>
          <p:nvPr>
            <p:ph type="ftr" sz="quarter" idx="11"/>
          </p:nvPr>
        </p:nvSpPr>
        <p:spPr/>
        <p:txBody>
          <a:bodyPr/>
          <a:lstStyle/>
          <a:p>
            <a:pPr>
              <a:defRPr/>
            </a:pPr>
            <a:r>
              <a:rPr lang="en-US"/>
              <a:t>Workshop on North American Gravimetry</a:t>
            </a:r>
          </a:p>
        </p:txBody>
      </p:sp>
      <p:sp>
        <p:nvSpPr>
          <p:cNvPr id="6" name="Slide Number Placeholder 5"/>
          <p:cNvSpPr>
            <a:spLocks noGrp="1"/>
          </p:cNvSpPr>
          <p:nvPr>
            <p:ph type="sldNum" sz="quarter" idx="12"/>
          </p:nvPr>
        </p:nvSpPr>
        <p:spPr/>
        <p:txBody>
          <a:bodyPr/>
          <a:lstStyle/>
          <a:p>
            <a:pPr>
              <a:defRPr/>
            </a:pPr>
            <a:fld id="{6B7097A8-B6D6-4219-9A22-E6713E4A67AF}" type="slidenum">
              <a:rPr lang="en-US" smtClean="0"/>
              <a:pPr>
                <a:defRPr/>
              </a:pPr>
              <a:t>7</a:t>
            </a:fld>
            <a:endParaRPr lang="en-US"/>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p:txBody>
          <a:bodyPr/>
          <a:lstStyle/>
          <a:p>
            <a:pPr eaLnBrk="1" hangingPunct="1"/>
            <a:r>
              <a:rPr lang="en-US" smtClean="0"/>
              <a:t>New Instruments</a:t>
            </a:r>
          </a:p>
        </p:txBody>
      </p:sp>
      <p:sp>
        <p:nvSpPr>
          <p:cNvPr id="10243" name="Content Placeholder 2"/>
          <p:cNvSpPr>
            <a:spLocks noGrp="1"/>
          </p:cNvSpPr>
          <p:nvPr>
            <p:ph idx="1"/>
          </p:nvPr>
        </p:nvSpPr>
        <p:spPr/>
        <p:txBody>
          <a:bodyPr/>
          <a:lstStyle/>
          <a:p>
            <a:pPr eaLnBrk="1" hangingPunct="1"/>
            <a:r>
              <a:rPr lang="en-US" smtClean="0"/>
              <a:t>A-10</a:t>
            </a:r>
          </a:p>
          <a:p>
            <a:pPr lvl="1" eaLnBrk="1" hangingPunct="1"/>
            <a:r>
              <a:rPr lang="en-US" smtClean="0"/>
              <a:t>Delivery early 2011</a:t>
            </a:r>
          </a:p>
          <a:p>
            <a:pPr lvl="1" eaLnBrk="1" hangingPunct="1"/>
            <a:endParaRPr lang="en-US" smtClean="0"/>
          </a:p>
          <a:p>
            <a:pPr eaLnBrk="1" hangingPunct="1"/>
            <a:r>
              <a:rPr lang="en-US" smtClean="0"/>
              <a:t>Under consideration (out years)</a:t>
            </a:r>
          </a:p>
          <a:p>
            <a:pPr lvl="1" eaLnBrk="1" hangingPunct="1"/>
            <a:r>
              <a:rPr lang="en-US" smtClean="0"/>
              <a:t>gPhone</a:t>
            </a:r>
          </a:p>
          <a:p>
            <a:pPr lvl="2" eaLnBrk="1" hangingPunct="1"/>
            <a:r>
              <a:rPr lang="en-US" smtClean="0"/>
              <a:t>Portable temporary gravity studies</a:t>
            </a:r>
          </a:p>
          <a:p>
            <a:pPr lvl="1" eaLnBrk="1" hangingPunct="1"/>
            <a:r>
              <a:rPr lang="en-US" smtClean="0"/>
              <a:t>CG-5</a:t>
            </a:r>
          </a:p>
          <a:p>
            <a:pPr lvl="2" eaLnBrk="1" hangingPunct="1"/>
            <a:r>
              <a:rPr lang="en-US" smtClean="0"/>
              <a:t>Augment aging L/R spring meters</a:t>
            </a:r>
          </a:p>
        </p:txBody>
      </p:sp>
      <p:sp>
        <p:nvSpPr>
          <p:cNvPr id="4" name="Date Placeholder 3"/>
          <p:cNvSpPr>
            <a:spLocks noGrp="1"/>
          </p:cNvSpPr>
          <p:nvPr>
            <p:ph type="dt" sz="quarter" idx="10"/>
          </p:nvPr>
        </p:nvSpPr>
        <p:spPr/>
        <p:txBody>
          <a:bodyPr/>
          <a:lstStyle/>
          <a:p>
            <a:pPr>
              <a:defRPr/>
            </a:pPr>
            <a:r>
              <a:rPr lang="en-US"/>
              <a:t>10/18/2010</a:t>
            </a:r>
          </a:p>
        </p:txBody>
      </p:sp>
      <p:sp>
        <p:nvSpPr>
          <p:cNvPr id="5" name="Footer Placeholder 4"/>
          <p:cNvSpPr>
            <a:spLocks noGrp="1"/>
          </p:cNvSpPr>
          <p:nvPr>
            <p:ph type="ftr" sz="quarter" idx="11"/>
          </p:nvPr>
        </p:nvSpPr>
        <p:spPr/>
        <p:txBody>
          <a:bodyPr/>
          <a:lstStyle/>
          <a:p>
            <a:pPr>
              <a:defRPr/>
            </a:pPr>
            <a:r>
              <a:rPr lang="en-US"/>
              <a:t>Workshop on North American Gravimetry</a:t>
            </a:r>
          </a:p>
        </p:txBody>
      </p:sp>
      <p:sp>
        <p:nvSpPr>
          <p:cNvPr id="6" name="Slide Number Placeholder 5"/>
          <p:cNvSpPr>
            <a:spLocks noGrp="1"/>
          </p:cNvSpPr>
          <p:nvPr>
            <p:ph type="sldNum" sz="quarter" idx="12"/>
          </p:nvPr>
        </p:nvSpPr>
        <p:spPr/>
        <p:txBody>
          <a:bodyPr/>
          <a:lstStyle/>
          <a:p>
            <a:pPr>
              <a:defRPr/>
            </a:pPr>
            <a:fld id="{764F2DB5-9FFC-42D3-A597-AD68150707DC}" type="slidenum">
              <a:rPr lang="en-US" smtClean="0"/>
              <a:pPr>
                <a:defRPr/>
              </a:pPr>
              <a:t>8</a:t>
            </a:fld>
            <a:endParaRPr lang="en-US"/>
          </a:p>
        </p:txBody>
      </p:sp>
      <p:pic>
        <p:nvPicPr>
          <p:cNvPr id="10247" name="Picture 2"/>
          <p:cNvPicPr>
            <a:picLocks noChangeAspect="1" noChangeArrowheads="1"/>
          </p:cNvPicPr>
          <p:nvPr/>
        </p:nvPicPr>
        <p:blipFill>
          <a:blip r:embed="rId2" cstate="print"/>
          <a:srcRect/>
          <a:stretch>
            <a:fillRect/>
          </a:stretch>
        </p:blipFill>
        <p:spPr bwMode="auto">
          <a:xfrm>
            <a:off x="6362700" y="4981575"/>
            <a:ext cx="1371600" cy="1028700"/>
          </a:xfrm>
          <a:prstGeom prst="rect">
            <a:avLst/>
          </a:prstGeom>
          <a:noFill/>
          <a:ln w="9525">
            <a:noFill/>
            <a:miter lim="800000"/>
            <a:headEnd/>
            <a:tailEnd/>
          </a:ln>
        </p:spPr>
      </p:pic>
      <p:pic>
        <p:nvPicPr>
          <p:cNvPr id="10248" name="Picture 3"/>
          <p:cNvPicPr>
            <a:picLocks noChangeAspect="1" noChangeArrowheads="1"/>
          </p:cNvPicPr>
          <p:nvPr/>
        </p:nvPicPr>
        <p:blipFill>
          <a:blip r:embed="rId3" cstate="print"/>
          <a:srcRect/>
          <a:stretch>
            <a:fillRect/>
          </a:stretch>
        </p:blipFill>
        <p:spPr bwMode="auto">
          <a:xfrm>
            <a:off x="6310313" y="3829050"/>
            <a:ext cx="1190625" cy="762000"/>
          </a:xfrm>
          <a:prstGeom prst="rect">
            <a:avLst/>
          </a:prstGeom>
          <a:noFill/>
          <a:ln w="9525">
            <a:noFill/>
            <a:miter lim="800000"/>
            <a:headEnd/>
            <a:tailEnd/>
          </a:ln>
        </p:spPr>
      </p:pic>
      <p:pic>
        <p:nvPicPr>
          <p:cNvPr id="10249" name="Picture 4"/>
          <p:cNvPicPr>
            <a:picLocks noChangeAspect="1" noChangeArrowheads="1"/>
          </p:cNvPicPr>
          <p:nvPr/>
        </p:nvPicPr>
        <p:blipFill>
          <a:blip r:embed="rId4" cstate="print"/>
          <a:srcRect/>
          <a:stretch>
            <a:fillRect/>
          </a:stretch>
        </p:blipFill>
        <p:spPr bwMode="auto">
          <a:xfrm>
            <a:off x="6515100" y="1241425"/>
            <a:ext cx="900113" cy="206375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p:txBody>
          <a:bodyPr/>
          <a:lstStyle/>
          <a:p>
            <a:pPr eaLnBrk="1" hangingPunct="1"/>
            <a:r>
              <a:rPr lang="en-US" smtClean="0"/>
              <a:t>Field Research</a:t>
            </a:r>
          </a:p>
        </p:txBody>
      </p:sp>
      <p:sp>
        <p:nvSpPr>
          <p:cNvPr id="11267" name="Content Placeholder 2"/>
          <p:cNvSpPr>
            <a:spLocks noGrp="1"/>
          </p:cNvSpPr>
          <p:nvPr>
            <p:ph idx="1"/>
          </p:nvPr>
        </p:nvSpPr>
        <p:spPr/>
        <p:txBody>
          <a:bodyPr/>
          <a:lstStyle/>
          <a:p>
            <a:pPr eaLnBrk="1" hangingPunct="1"/>
            <a:r>
              <a:rPr lang="en-US" smtClean="0"/>
              <a:t>Geoid Slope Validation Survey (Fall 2011)</a:t>
            </a:r>
          </a:p>
          <a:p>
            <a:pPr lvl="1" eaLnBrk="1" hangingPunct="1"/>
            <a:r>
              <a:rPr lang="en-US" smtClean="0"/>
              <a:t>375 km / 270 geodetic control marks</a:t>
            </a:r>
          </a:p>
          <a:p>
            <a:pPr eaLnBrk="1" hangingPunct="1"/>
            <a:endParaRPr lang="en-US" smtClean="0"/>
          </a:p>
          <a:p>
            <a:pPr eaLnBrk="1" hangingPunct="1"/>
            <a:r>
              <a:rPr lang="en-US" smtClean="0"/>
              <a:t>GPS, Leveling, gravity, DoVs</a:t>
            </a:r>
          </a:p>
          <a:p>
            <a:pPr lvl="1" eaLnBrk="1" hangingPunct="1"/>
            <a:endParaRPr lang="en-US" smtClean="0"/>
          </a:p>
          <a:p>
            <a:pPr eaLnBrk="1" hangingPunct="1"/>
            <a:r>
              <a:rPr lang="en-US" smtClean="0"/>
              <a:t>FG-5 at endpoints and midpoint</a:t>
            </a:r>
          </a:p>
          <a:p>
            <a:pPr eaLnBrk="1" hangingPunct="1"/>
            <a:r>
              <a:rPr lang="en-US" smtClean="0"/>
              <a:t>A-10 on each 7</a:t>
            </a:r>
            <a:r>
              <a:rPr lang="en-US" baseline="30000" smtClean="0"/>
              <a:t>th</a:t>
            </a:r>
            <a:r>
              <a:rPr lang="en-US" smtClean="0"/>
              <a:t> pt</a:t>
            </a:r>
          </a:p>
          <a:p>
            <a:pPr lvl="1" eaLnBrk="1" hangingPunct="1"/>
            <a:r>
              <a:rPr lang="en-US" smtClean="0"/>
              <a:t>Relative gravity between</a:t>
            </a:r>
          </a:p>
          <a:p>
            <a:pPr lvl="1" eaLnBrk="1" hangingPunct="1"/>
            <a:endParaRPr lang="en-US" smtClean="0"/>
          </a:p>
        </p:txBody>
      </p:sp>
      <p:sp>
        <p:nvSpPr>
          <p:cNvPr id="4" name="Date Placeholder 3"/>
          <p:cNvSpPr>
            <a:spLocks noGrp="1"/>
          </p:cNvSpPr>
          <p:nvPr>
            <p:ph type="dt" sz="quarter" idx="10"/>
          </p:nvPr>
        </p:nvSpPr>
        <p:spPr/>
        <p:txBody>
          <a:bodyPr/>
          <a:lstStyle/>
          <a:p>
            <a:pPr>
              <a:defRPr/>
            </a:pPr>
            <a:r>
              <a:rPr lang="en-US"/>
              <a:t>10/18/2010</a:t>
            </a:r>
          </a:p>
        </p:txBody>
      </p:sp>
      <p:sp>
        <p:nvSpPr>
          <p:cNvPr id="5" name="Footer Placeholder 4"/>
          <p:cNvSpPr>
            <a:spLocks noGrp="1"/>
          </p:cNvSpPr>
          <p:nvPr>
            <p:ph type="ftr" sz="quarter" idx="11"/>
          </p:nvPr>
        </p:nvSpPr>
        <p:spPr/>
        <p:txBody>
          <a:bodyPr/>
          <a:lstStyle/>
          <a:p>
            <a:pPr>
              <a:defRPr/>
            </a:pPr>
            <a:r>
              <a:rPr lang="en-US"/>
              <a:t>Workshop on North American Gravimetry</a:t>
            </a:r>
          </a:p>
        </p:txBody>
      </p:sp>
      <p:sp>
        <p:nvSpPr>
          <p:cNvPr id="6" name="Slide Number Placeholder 5"/>
          <p:cNvSpPr>
            <a:spLocks noGrp="1"/>
          </p:cNvSpPr>
          <p:nvPr>
            <p:ph type="sldNum" sz="quarter" idx="12"/>
          </p:nvPr>
        </p:nvSpPr>
        <p:spPr/>
        <p:txBody>
          <a:bodyPr/>
          <a:lstStyle/>
          <a:p>
            <a:pPr>
              <a:defRPr/>
            </a:pPr>
            <a:fld id="{CE3A53CA-B6BA-4579-BD22-01D9C18E8BFB}" type="slidenum">
              <a:rPr lang="en-US" smtClean="0"/>
              <a:pPr>
                <a:defRPr/>
              </a:pPr>
              <a:t>9</a:t>
            </a:fld>
            <a:endParaRPr lang="en-US"/>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p:txBody>
          <a:bodyPr/>
          <a:lstStyle/>
          <a:p>
            <a:pPr eaLnBrk="1" hangingPunct="1"/>
            <a:r>
              <a:rPr lang="en-US" smtClean="0"/>
              <a:t>Standards and Specifications</a:t>
            </a:r>
          </a:p>
        </p:txBody>
      </p:sp>
      <p:sp>
        <p:nvSpPr>
          <p:cNvPr id="12291" name="Content Placeholder 2"/>
          <p:cNvSpPr>
            <a:spLocks noGrp="1"/>
          </p:cNvSpPr>
          <p:nvPr>
            <p:ph idx="1"/>
          </p:nvPr>
        </p:nvSpPr>
        <p:spPr/>
        <p:txBody>
          <a:bodyPr/>
          <a:lstStyle/>
          <a:p>
            <a:pPr eaLnBrk="1" hangingPunct="1">
              <a:buFont typeface="Arial" pitchFamily="34" charset="0"/>
              <a:buNone/>
            </a:pPr>
            <a:r>
              <a:rPr lang="en-US" sz="2000" b="1" smtClean="0"/>
              <a:t>Standards of Accuracy</a:t>
            </a:r>
          </a:p>
          <a:p>
            <a:pPr eaLnBrk="1" hangingPunct="1">
              <a:buFont typeface="Arial" pitchFamily="34" charset="0"/>
              <a:buNone/>
            </a:pPr>
            <a:endParaRPr lang="en-US" sz="2000" smtClean="0"/>
          </a:p>
          <a:p>
            <a:pPr eaLnBrk="1" hangingPunct="1">
              <a:buFont typeface="Arial" pitchFamily="34" charset="0"/>
              <a:buNone/>
            </a:pPr>
            <a:r>
              <a:rPr lang="en-US" sz="2000" smtClean="0"/>
              <a:t>Working Group Definition: A statistical assessment of the final calculated value of set(s) of measurements into categories that represent the known accuracy of control relative to an accepted reference (e.g., 1</a:t>
            </a:r>
            <a:r>
              <a:rPr lang="en-US" sz="2000" baseline="30000" smtClean="0"/>
              <a:t>st</a:t>
            </a:r>
            <a:r>
              <a:rPr lang="en-US" sz="2000" smtClean="0"/>
              <a:t> order, 1</a:t>
            </a:r>
            <a:r>
              <a:rPr lang="en-US" sz="2000" baseline="30000" smtClean="0"/>
              <a:t>st</a:t>
            </a:r>
            <a:r>
              <a:rPr lang="en-US" sz="2000" smtClean="0"/>
              <a:t> class = 20 µGals </a:t>
            </a:r>
            <a:r>
              <a:rPr lang="en-US" sz="2000" i="1" smtClean="0"/>
              <a:t>(@ 2</a:t>
            </a:r>
            <a:r>
              <a:rPr lang="el-GR" sz="2000" i="1" smtClean="0"/>
              <a:t>σ</a:t>
            </a:r>
            <a:r>
              <a:rPr lang="en-US" sz="2000" i="1" smtClean="0"/>
              <a:t> level)</a:t>
            </a:r>
            <a:r>
              <a:rPr lang="en-US" sz="2000" smtClean="0"/>
              <a:t> with &lt; 20µGal change over 5 years)</a:t>
            </a:r>
          </a:p>
          <a:p>
            <a:pPr eaLnBrk="1" hangingPunct="1">
              <a:buFont typeface="Arial" pitchFamily="34" charset="0"/>
              <a:buNone/>
            </a:pPr>
            <a:endParaRPr lang="en-US" sz="2000" smtClean="0"/>
          </a:p>
          <a:p>
            <a:pPr eaLnBrk="1" hangingPunct="1">
              <a:buFont typeface="Arial" pitchFamily="34" charset="0"/>
              <a:buNone/>
            </a:pPr>
            <a:r>
              <a:rPr lang="en-US" sz="2000" smtClean="0"/>
              <a:t>Purpose: To report to potential users the accuracy or quality categories of measurements and computations that were made to compute the published value of survey control.   By knowing the quality of the published value, a user is enabled to ascertain the usefulness of the control for their purpose.</a:t>
            </a:r>
          </a:p>
        </p:txBody>
      </p:sp>
      <p:sp>
        <p:nvSpPr>
          <p:cNvPr id="4" name="Date Placeholder 3"/>
          <p:cNvSpPr>
            <a:spLocks noGrp="1"/>
          </p:cNvSpPr>
          <p:nvPr>
            <p:ph type="dt" sz="quarter" idx="10"/>
          </p:nvPr>
        </p:nvSpPr>
        <p:spPr/>
        <p:txBody>
          <a:bodyPr/>
          <a:lstStyle/>
          <a:p>
            <a:pPr>
              <a:defRPr/>
            </a:pPr>
            <a:r>
              <a:rPr lang="en-US"/>
              <a:t>10/18/2010</a:t>
            </a:r>
          </a:p>
        </p:txBody>
      </p:sp>
      <p:sp>
        <p:nvSpPr>
          <p:cNvPr id="5" name="Footer Placeholder 4"/>
          <p:cNvSpPr>
            <a:spLocks noGrp="1"/>
          </p:cNvSpPr>
          <p:nvPr>
            <p:ph type="ftr" sz="quarter" idx="11"/>
          </p:nvPr>
        </p:nvSpPr>
        <p:spPr/>
        <p:txBody>
          <a:bodyPr/>
          <a:lstStyle/>
          <a:p>
            <a:pPr>
              <a:defRPr/>
            </a:pPr>
            <a:r>
              <a:rPr lang="en-US"/>
              <a:t>Workshop on North American Gravimetry</a:t>
            </a:r>
          </a:p>
        </p:txBody>
      </p:sp>
      <p:sp>
        <p:nvSpPr>
          <p:cNvPr id="6" name="Slide Number Placeholder 5"/>
          <p:cNvSpPr>
            <a:spLocks noGrp="1"/>
          </p:cNvSpPr>
          <p:nvPr>
            <p:ph type="sldNum" sz="quarter" idx="12"/>
          </p:nvPr>
        </p:nvSpPr>
        <p:spPr/>
        <p:txBody>
          <a:bodyPr/>
          <a:lstStyle/>
          <a:p>
            <a:pPr>
              <a:defRPr/>
            </a:pPr>
            <a:fld id="{E68589B8-BD2C-4108-A9C9-9D5C6711C409}" type="slidenum">
              <a:rPr lang="en-US" smtClean="0"/>
              <a:pPr>
                <a:defRPr/>
              </a:pPr>
              <a:t>10</a:t>
            </a:fld>
            <a:endParaRPr lang="en-US"/>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457200" y="798513"/>
            <a:ext cx="8229600" cy="1143000"/>
          </a:xfrm>
        </p:spPr>
        <p:txBody>
          <a:bodyPr/>
          <a:lstStyle/>
          <a:p>
            <a:pPr eaLnBrk="1" hangingPunct="1"/>
            <a:r>
              <a:rPr lang="en-US" smtClean="0"/>
              <a:t>Standards (FGCC 1984)</a:t>
            </a:r>
          </a:p>
        </p:txBody>
      </p:sp>
      <p:graphicFrame>
        <p:nvGraphicFramePr>
          <p:cNvPr id="7" name="Content Placeholder 6"/>
          <p:cNvGraphicFramePr>
            <a:graphicFrameLocks noGrp="1"/>
          </p:cNvGraphicFramePr>
          <p:nvPr>
            <p:ph idx="1"/>
          </p:nvPr>
        </p:nvGraphicFramePr>
        <p:xfrm>
          <a:off x="493713" y="2074863"/>
          <a:ext cx="8229600" cy="3250520"/>
        </p:xfrm>
        <a:graphic>
          <a:graphicData uri="http://schemas.openxmlformats.org/drawingml/2006/table">
            <a:tbl>
              <a:tblPr firstRow="1" bandRow="1">
                <a:tableStyleId>{5C22544A-7EE6-4342-B048-85BDC9FD1C3A}</a:tableStyleId>
              </a:tblPr>
              <a:tblGrid>
                <a:gridCol w="4114800"/>
                <a:gridCol w="4114800"/>
              </a:tblGrid>
              <a:tr h="484261">
                <a:tc gridSpan="2">
                  <a:txBody>
                    <a:bodyPr/>
                    <a:lstStyle/>
                    <a:p>
                      <a:pPr algn="ctr"/>
                      <a:r>
                        <a:rPr lang="en-US" dirty="0" smtClean="0"/>
                        <a:t>Gravity Accuracy Standards</a:t>
                      </a:r>
                      <a:endParaRPr lang="en-US" dirty="0"/>
                    </a:p>
                  </a:txBody>
                  <a:tcPr/>
                </a:tc>
                <a:tc hMerge="1">
                  <a:txBody>
                    <a:bodyPr/>
                    <a:lstStyle/>
                    <a:p>
                      <a:endParaRPr lang="en-US" dirty="0"/>
                    </a:p>
                  </a:txBody>
                  <a:tcPr/>
                </a:tc>
              </a:tr>
              <a:tr h="835848">
                <a:tc>
                  <a:txBody>
                    <a:bodyPr/>
                    <a:lstStyle/>
                    <a:p>
                      <a:pPr algn="ctr"/>
                      <a:r>
                        <a:rPr lang="en-US" dirty="0" smtClean="0"/>
                        <a:t>Classification</a:t>
                      </a:r>
                      <a:endParaRPr lang="en-US" dirty="0"/>
                    </a:p>
                  </a:txBody>
                  <a:tcPr/>
                </a:tc>
                <a:tc>
                  <a:txBody>
                    <a:bodyPr/>
                    <a:lstStyle/>
                    <a:p>
                      <a:pPr algn="ctr"/>
                      <a:r>
                        <a:rPr lang="en-US" dirty="0" smtClean="0"/>
                        <a:t>Gravity Accuracy</a:t>
                      </a:r>
                    </a:p>
                    <a:p>
                      <a:pPr algn="ctr"/>
                      <a:r>
                        <a:rPr lang="en-US" dirty="0" smtClean="0"/>
                        <a:t>(µGal)</a:t>
                      </a:r>
                      <a:endParaRPr lang="en-US" dirty="0"/>
                    </a:p>
                  </a:txBody>
                  <a:tcPr/>
                </a:tc>
              </a:tr>
              <a:tr h="484261">
                <a:tc>
                  <a:txBody>
                    <a:bodyPr/>
                    <a:lstStyle/>
                    <a:p>
                      <a:r>
                        <a:rPr lang="en-US" dirty="0" smtClean="0"/>
                        <a:t>First-order, class I</a:t>
                      </a:r>
                      <a:endParaRPr lang="en-US" dirty="0"/>
                    </a:p>
                  </a:txBody>
                  <a:tcPr/>
                </a:tc>
                <a:tc>
                  <a:txBody>
                    <a:bodyPr/>
                    <a:lstStyle/>
                    <a:p>
                      <a:r>
                        <a:rPr lang="en-US" dirty="0" smtClean="0"/>
                        <a:t>20 (subject to stability</a:t>
                      </a:r>
                      <a:r>
                        <a:rPr lang="en-US" baseline="0" dirty="0" smtClean="0"/>
                        <a:t> verification)</a:t>
                      </a:r>
                      <a:endParaRPr lang="en-US" dirty="0"/>
                    </a:p>
                  </a:txBody>
                  <a:tcPr/>
                </a:tc>
              </a:tr>
              <a:tr h="484261">
                <a:tc>
                  <a:txBody>
                    <a:bodyPr/>
                    <a:lstStyle/>
                    <a:p>
                      <a:r>
                        <a:rPr lang="en-US" dirty="0" smtClean="0"/>
                        <a:t>First-order, class II</a:t>
                      </a:r>
                      <a:endParaRPr lang="en-US" dirty="0"/>
                    </a:p>
                  </a:txBody>
                  <a:tcPr/>
                </a:tc>
                <a:tc>
                  <a:txBody>
                    <a:bodyPr/>
                    <a:lstStyle/>
                    <a:p>
                      <a:r>
                        <a:rPr lang="en-US" dirty="0" smtClean="0"/>
                        <a:t>20</a:t>
                      </a:r>
                      <a:endParaRPr lang="en-US" dirty="0"/>
                    </a:p>
                  </a:txBody>
                  <a:tcPr/>
                </a:tc>
              </a:tr>
              <a:tr h="484261">
                <a:tc>
                  <a:txBody>
                    <a:bodyPr/>
                    <a:lstStyle/>
                    <a:p>
                      <a:r>
                        <a:rPr lang="en-US" dirty="0" smtClean="0"/>
                        <a:t>Second-order</a:t>
                      </a:r>
                      <a:endParaRPr lang="en-US" dirty="0"/>
                    </a:p>
                  </a:txBody>
                  <a:tcPr/>
                </a:tc>
                <a:tc>
                  <a:txBody>
                    <a:bodyPr/>
                    <a:lstStyle/>
                    <a:p>
                      <a:r>
                        <a:rPr lang="en-US" dirty="0" smtClean="0"/>
                        <a:t>50</a:t>
                      </a:r>
                      <a:endParaRPr lang="en-US" dirty="0"/>
                    </a:p>
                  </a:txBody>
                  <a:tcPr/>
                </a:tc>
              </a:tr>
              <a:tr h="477628">
                <a:tc>
                  <a:txBody>
                    <a:bodyPr/>
                    <a:lstStyle/>
                    <a:p>
                      <a:r>
                        <a:rPr lang="en-US" dirty="0" smtClean="0"/>
                        <a:t>Third-order</a:t>
                      </a:r>
                      <a:endParaRPr lang="en-US" dirty="0"/>
                    </a:p>
                  </a:txBody>
                  <a:tcPr/>
                </a:tc>
                <a:tc>
                  <a:txBody>
                    <a:bodyPr/>
                    <a:lstStyle/>
                    <a:p>
                      <a:r>
                        <a:rPr lang="en-US" dirty="0" smtClean="0"/>
                        <a:t>100</a:t>
                      </a:r>
                      <a:endParaRPr lang="en-US" dirty="0"/>
                    </a:p>
                  </a:txBody>
                  <a:tcPr/>
                </a:tc>
              </a:tr>
            </a:tbl>
          </a:graphicData>
        </a:graphic>
      </p:graphicFrame>
      <p:sp>
        <p:nvSpPr>
          <p:cNvPr id="4" name="Date Placeholder 3"/>
          <p:cNvSpPr>
            <a:spLocks noGrp="1"/>
          </p:cNvSpPr>
          <p:nvPr>
            <p:ph type="dt" sz="quarter" idx="10"/>
          </p:nvPr>
        </p:nvSpPr>
        <p:spPr/>
        <p:txBody>
          <a:bodyPr/>
          <a:lstStyle/>
          <a:p>
            <a:pPr>
              <a:defRPr/>
            </a:pPr>
            <a:r>
              <a:rPr lang="en-US"/>
              <a:t>10/18/2010</a:t>
            </a:r>
          </a:p>
        </p:txBody>
      </p:sp>
      <p:sp>
        <p:nvSpPr>
          <p:cNvPr id="5" name="Footer Placeholder 4"/>
          <p:cNvSpPr>
            <a:spLocks noGrp="1"/>
          </p:cNvSpPr>
          <p:nvPr>
            <p:ph type="ftr" sz="quarter" idx="11"/>
          </p:nvPr>
        </p:nvSpPr>
        <p:spPr/>
        <p:txBody>
          <a:bodyPr/>
          <a:lstStyle/>
          <a:p>
            <a:pPr>
              <a:defRPr/>
            </a:pPr>
            <a:r>
              <a:rPr lang="en-US"/>
              <a:t>Workshop on North American Gravimetry</a:t>
            </a:r>
          </a:p>
        </p:txBody>
      </p:sp>
      <p:sp>
        <p:nvSpPr>
          <p:cNvPr id="6" name="Slide Number Placeholder 5"/>
          <p:cNvSpPr>
            <a:spLocks noGrp="1"/>
          </p:cNvSpPr>
          <p:nvPr>
            <p:ph type="sldNum" sz="quarter" idx="12"/>
          </p:nvPr>
        </p:nvSpPr>
        <p:spPr/>
        <p:txBody>
          <a:bodyPr/>
          <a:lstStyle/>
          <a:p>
            <a:pPr>
              <a:defRPr/>
            </a:pPr>
            <a:fld id="{AFE11D84-1B57-46E6-B351-E213C350D9DE}" type="slidenum">
              <a:rPr lang="en-US" smtClean="0"/>
              <a:pPr>
                <a:defRPr/>
              </a:pPr>
              <a:t>11</a:t>
            </a:fld>
            <a:endParaRPr lang="en-US"/>
          </a:p>
        </p:txBody>
      </p:sp>
      <p:sp>
        <p:nvSpPr>
          <p:cNvPr id="13340" name="Rectangle 29"/>
          <p:cNvSpPr>
            <a:spLocks noChangeArrowheads="1"/>
          </p:cNvSpPr>
          <p:nvPr/>
        </p:nvSpPr>
        <p:spPr bwMode="auto">
          <a:xfrm>
            <a:off x="0" y="0"/>
            <a:ext cx="9144000" cy="457200"/>
          </a:xfrm>
          <a:prstGeom prst="rect">
            <a:avLst/>
          </a:prstGeom>
          <a:noFill/>
          <a:ln w="9525">
            <a:noFill/>
            <a:miter lim="800000"/>
            <a:headEnd/>
            <a:tailEnd/>
          </a:ln>
        </p:spPr>
        <p:txBody>
          <a:bodyPr wrap="none" anchor="ctr">
            <a:spAutoFit/>
          </a:bodyPr>
          <a:lstStyle/>
          <a:p>
            <a:endParaRPr lang="en-US"/>
          </a:p>
        </p:txBody>
      </p:sp>
      <p:pic>
        <p:nvPicPr>
          <p:cNvPr id="13341" name="Picture 28"/>
          <p:cNvPicPr>
            <a:picLocks noChangeAspect="1" noChangeArrowheads="1"/>
          </p:cNvPicPr>
          <p:nvPr/>
        </p:nvPicPr>
        <p:blipFill>
          <a:blip r:embed="rId3" cstate="print">
            <a:clrChange>
              <a:clrFrom>
                <a:srgbClr val="FFFFFF"/>
              </a:clrFrom>
              <a:clrTo>
                <a:srgbClr val="FFFFFF">
                  <a:alpha val="0"/>
                </a:srgbClr>
              </a:clrTo>
            </a:clrChange>
          </a:blip>
          <a:srcRect/>
          <a:stretch>
            <a:fillRect/>
          </a:stretch>
        </p:blipFill>
        <p:spPr bwMode="auto">
          <a:xfrm>
            <a:off x="487363" y="5303838"/>
            <a:ext cx="2732087" cy="1133475"/>
          </a:xfrm>
          <a:prstGeom prst="rect">
            <a:avLst/>
          </a:prstGeom>
          <a:noFill/>
          <a:ln w="9525">
            <a:noFill/>
            <a:miter lim="800000"/>
            <a:headEnd/>
            <a:tailEnd/>
          </a:ln>
        </p:spPr>
      </p:pic>
      <p:sp>
        <p:nvSpPr>
          <p:cNvPr id="13342" name="Rectangle 31"/>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en-US"/>
          </a:p>
        </p:txBody>
      </p:sp>
      <p:sp>
        <p:nvSpPr>
          <p:cNvPr id="13343" name="Rectangle 33"/>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en-US"/>
          </a:p>
        </p:txBody>
      </p:sp>
      <p:pic>
        <p:nvPicPr>
          <p:cNvPr id="13344" name="Picture 32"/>
          <p:cNvPicPr>
            <a:picLocks noChangeAspect="1" noChangeArrowheads="1"/>
          </p:cNvPicPr>
          <p:nvPr/>
        </p:nvPicPr>
        <p:blipFill>
          <a:blip r:embed="rId4" cstate="print">
            <a:clrChange>
              <a:clrFrom>
                <a:srgbClr val="FFFFFF"/>
              </a:clrFrom>
              <a:clrTo>
                <a:srgbClr val="FFFFFF">
                  <a:alpha val="0"/>
                </a:srgbClr>
              </a:clrTo>
            </a:clrChange>
          </a:blip>
          <a:srcRect/>
          <a:stretch>
            <a:fillRect/>
          </a:stretch>
        </p:blipFill>
        <p:spPr bwMode="auto">
          <a:xfrm>
            <a:off x="3913188" y="5327650"/>
            <a:ext cx="2325687" cy="274638"/>
          </a:xfrm>
          <a:prstGeom prst="rect">
            <a:avLst/>
          </a:prstGeom>
          <a:noFill/>
          <a:ln w="9525">
            <a:noFill/>
            <a:miter lim="800000"/>
            <a:headEnd/>
            <a:tailEnd/>
          </a:ln>
        </p:spPr>
      </p:pic>
      <p:sp>
        <p:nvSpPr>
          <p:cNvPr id="13345" name="Rectangle 35"/>
          <p:cNvSpPr>
            <a:spLocks noChangeArrowheads="1"/>
          </p:cNvSpPr>
          <p:nvPr/>
        </p:nvSpPr>
        <p:spPr bwMode="auto">
          <a:xfrm>
            <a:off x="0" y="0"/>
            <a:ext cx="9144000" cy="457200"/>
          </a:xfrm>
          <a:prstGeom prst="rect">
            <a:avLst/>
          </a:prstGeom>
          <a:noFill/>
          <a:ln w="9525">
            <a:noFill/>
            <a:miter lim="800000"/>
            <a:headEnd/>
            <a:tailEnd/>
          </a:ln>
        </p:spPr>
        <p:txBody>
          <a:bodyPr wrap="none" anchor="ctr">
            <a:spAutoFit/>
          </a:bodyPr>
          <a:lstStyle/>
          <a:p>
            <a:endParaRPr lang="en-US"/>
          </a:p>
        </p:txBody>
      </p:sp>
      <p:pic>
        <p:nvPicPr>
          <p:cNvPr id="13346" name="Picture 34"/>
          <p:cNvPicPr>
            <a:picLocks noChangeAspect="1" noChangeArrowheads="1"/>
          </p:cNvPicPr>
          <p:nvPr/>
        </p:nvPicPr>
        <p:blipFill>
          <a:blip r:embed="rId5" cstate="print">
            <a:clrChange>
              <a:clrFrom>
                <a:srgbClr val="FFFFFF"/>
              </a:clrFrom>
              <a:clrTo>
                <a:srgbClr val="FFFFFF">
                  <a:alpha val="0"/>
                </a:srgbClr>
              </a:clrTo>
            </a:clrChange>
          </a:blip>
          <a:srcRect/>
          <a:stretch>
            <a:fillRect/>
          </a:stretch>
        </p:blipFill>
        <p:spPr bwMode="auto">
          <a:xfrm>
            <a:off x="3913188" y="6162675"/>
            <a:ext cx="2787650" cy="274638"/>
          </a:xfrm>
          <a:prstGeom prst="rect">
            <a:avLst/>
          </a:prstGeom>
          <a:noFill/>
          <a:ln w="9525">
            <a:noFill/>
            <a:miter lim="800000"/>
            <a:headEnd/>
            <a:tailEnd/>
          </a:ln>
        </p:spPr>
      </p:pic>
      <p:sp>
        <p:nvSpPr>
          <p:cNvPr id="13347" name="Rectangle 37"/>
          <p:cNvSpPr>
            <a:spLocks noChangeArrowheads="1"/>
          </p:cNvSpPr>
          <p:nvPr/>
        </p:nvSpPr>
        <p:spPr bwMode="auto">
          <a:xfrm>
            <a:off x="0" y="0"/>
            <a:ext cx="9144000" cy="457200"/>
          </a:xfrm>
          <a:prstGeom prst="rect">
            <a:avLst/>
          </a:prstGeom>
          <a:noFill/>
          <a:ln w="9525">
            <a:noFill/>
            <a:miter lim="800000"/>
            <a:headEnd/>
            <a:tailEnd/>
          </a:ln>
        </p:spPr>
        <p:txBody>
          <a:bodyPr wrap="none" anchor="ctr">
            <a:spAutoFit/>
          </a:bodyPr>
          <a:lstStyle/>
          <a:p>
            <a:endParaRPr lang="en-US"/>
          </a:p>
        </p:txBody>
      </p:sp>
      <p:pic>
        <p:nvPicPr>
          <p:cNvPr id="13348" name="Picture 36"/>
          <p:cNvPicPr>
            <a:picLocks noChangeAspect="1" noChangeArrowheads="1"/>
          </p:cNvPicPr>
          <p:nvPr/>
        </p:nvPicPr>
        <p:blipFill>
          <a:blip r:embed="rId6" cstate="print">
            <a:clrChange>
              <a:clrFrom>
                <a:srgbClr val="FFFFFF"/>
              </a:clrFrom>
              <a:clrTo>
                <a:srgbClr val="FFFFFF">
                  <a:alpha val="0"/>
                </a:srgbClr>
              </a:clrTo>
            </a:clrChange>
          </a:blip>
          <a:srcRect/>
          <a:stretch>
            <a:fillRect/>
          </a:stretch>
        </p:blipFill>
        <p:spPr bwMode="auto">
          <a:xfrm>
            <a:off x="3913188" y="5614988"/>
            <a:ext cx="3148012" cy="273050"/>
          </a:xfrm>
          <a:prstGeom prst="rect">
            <a:avLst/>
          </a:prstGeom>
          <a:noFill/>
          <a:ln w="9525">
            <a:noFill/>
            <a:miter lim="800000"/>
            <a:headEnd/>
            <a:tailEnd/>
          </a:ln>
        </p:spPr>
      </p:pic>
      <p:sp>
        <p:nvSpPr>
          <p:cNvPr id="13349" name="Rectangle 39"/>
          <p:cNvSpPr>
            <a:spLocks noChangeArrowheads="1"/>
          </p:cNvSpPr>
          <p:nvPr/>
        </p:nvSpPr>
        <p:spPr bwMode="auto">
          <a:xfrm>
            <a:off x="0" y="0"/>
            <a:ext cx="9144000" cy="457200"/>
          </a:xfrm>
          <a:prstGeom prst="rect">
            <a:avLst/>
          </a:prstGeom>
          <a:noFill/>
          <a:ln w="9525">
            <a:noFill/>
            <a:miter lim="800000"/>
            <a:headEnd/>
            <a:tailEnd/>
          </a:ln>
        </p:spPr>
        <p:txBody>
          <a:bodyPr wrap="none" anchor="ctr">
            <a:spAutoFit/>
          </a:bodyPr>
          <a:lstStyle/>
          <a:p>
            <a:endParaRPr lang="en-US"/>
          </a:p>
        </p:txBody>
      </p:sp>
      <p:pic>
        <p:nvPicPr>
          <p:cNvPr id="13350" name="Picture 38"/>
          <p:cNvPicPr>
            <a:picLocks noChangeAspect="1" noChangeArrowheads="1"/>
          </p:cNvPicPr>
          <p:nvPr/>
        </p:nvPicPr>
        <p:blipFill>
          <a:blip r:embed="rId7" cstate="print">
            <a:clrChange>
              <a:clrFrom>
                <a:srgbClr val="FFFFFF"/>
              </a:clrFrom>
              <a:clrTo>
                <a:srgbClr val="FFFFFF">
                  <a:alpha val="0"/>
                </a:srgbClr>
              </a:clrTo>
            </a:clrChange>
          </a:blip>
          <a:srcRect/>
          <a:stretch>
            <a:fillRect/>
          </a:stretch>
        </p:blipFill>
        <p:spPr bwMode="auto">
          <a:xfrm>
            <a:off x="7143750" y="5419725"/>
            <a:ext cx="1536700" cy="895350"/>
          </a:xfrm>
          <a:prstGeom prst="rect">
            <a:avLst/>
          </a:prstGeom>
          <a:noFill/>
          <a:ln w="9525">
            <a:noFill/>
            <a:miter lim="800000"/>
            <a:headEnd/>
            <a:tailEnd/>
          </a:ln>
        </p:spPr>
      </p:pic>
      <p:sp>
        <p:nvSpPr>
          <p:cNvPr id="13351" name="Rectangle 41"/>
          <p:cNvSpPr>
            <a:spLocks noChangeArrowheads="1"/>
          </p:cNvSpPr>
          <p:nvPr/>
        </p:nvSpPr>
        <p:spPr bwMode="auto">
          <a:xfrm>
            <a:off x="0" y="0"/>
            <a:ext cx="9144000" cy="457200"/>
          </a:xfrm>
          <a:prstGeom prst="rect">
            <a:avLst/>
          </a:prstGeom>
          <a:noFill/>
          <a:ln w="9525">
            <a:noFill/>
            <a:miter lim="800000"/>
            <a:headEnd/>
            <a:tailEnd/>
          </a:ln>
        </p:spPr>
        <p:txBody>
          <a:bodyPr wrap="none" anchor="ctr">
            <a:spAutoFit/>
          </a:bodyPr>
          <a:lstStyle/>
          <a:p>
            <a:endParaRPr lang="en-US"/>
          </a:p>
        </p:txBody>
      </p:sp>
      <p:pic>
        <p:nvPicPr>
          <p:cNvPr id="13352" name="Picture 40"/>
          <p:cNvPicPr>
            <a:picLocks noChangeAspect="1" noChangeArrowheads="1"/>
          </p:cNvPicPr>
          <p:nvPr/>
        </p:nvPicPr>
        <p:blipFill>
          <a:blip r:embed="rId8" cstate="print">
            <a:clrChange>
              <a:clrFrom>
                <a:srgbClr val="FFFFFF"/>
              </a:clrFrom>
              <a:clrTo>
                <a:srgbClr val="FFFFFF">
                  <a:alpha val="0"/>
                </a:srgbClr>
              </a:clrTo>
            </a:clrChange>
          </a:blip>
          <a:srcRect/>
          <a:stretch>
            <a:fillRect/>
          </a:stretch>
        </p:blipFill>
        <p:spPr bwMode="auto">
          <a:xfrm>
            <a:off x="3913188" y="5907088"/>
            <a:ext cx="2816225" cy="274637"/>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p:txBody>
          <a:bodyPr/>
          <a:lstStyle/>
          <a:p>
            <a:pPr eaLnBrk="1" hangingPunct="1"/>
            <a:r>
              <a:rPr lang="en-US" smtClean="0"/>
              <a:t>Standards and Specifications</a:t>
            </a:r>
          </a:p>
        </p:txBody>
      </p:sp>
      <p:sp>
        <p:nvSpPr>
          <p:cNvPr id="14339" name="Content Placeholder 2"/>
          <p:cNvSpPr>
            <a:spLocks noGrp="1"/>
          </p:cNvSpPr>
          <p:nvPr>
            <p:ph idx="1"/>
          </p:nvPr>
        </p:nvSpPr>
        <p:spPr/>
        <p:txBody>
          <a:bodyPr/>
          <a:lstStyle/>
          <a:p>
            <a:pPr eaLnBrk="1" hangingPunct="1">
              <a:buFont typeface="Arial" pitchFamily="34" charset="0"/>
              <a:buNone/>
            </a:pPr>
            <a:r>
              <a:rPr lang="en-US" sz="2000" b="1" smtClean="0"/>
              <a:t>Specifications of Measurement Systems</a:t>
            </a:r>
          </a:p>
          <a:p>
            <a:pPr eaLnBrk="1" hangingPunct="1">
              <a:buFont typeface="Arial" pitchFamily="34" charset="0"/>
              <a:buNone/>
            </a:pPr>
            <a:endParaRPr lang="en-US" sz="2000" smtClean="0"/>
          </a:p>
          <a:p>
            <a:pPr eaLnBrk="1" hangingPunct="1">
              <a:buFont typeface="Arial" pitchFamily="34" charset="0"/>
              <a:buNone/>
            </a:pPr>
            <a:r>
              <a:rPr lang="en-US" sz="2000" smtClean="0"/>
              <a:t>Working Group Definition: Those elements of a survey that are considered essential for the survey to meet the standards of accuracy for a particular  order/class.</a:t>
            </a:r>
          </a:p>
          <a:p>
            <a:pPr eaLnBrk="1" hangingPunct="1">
              <a:buFont typeface="Arial" pitchFamily="34" charset="0"/>
              <a:buNone/>
            </a:pPr>
            <a:endParaRPr lang="en-US" sz="2000" smtClean="0"/>
          </a:p>
          <a:p>
            <a:pPr eaLnBrk="1" hangingPunct="1">
              <a:buFont typeface="Arial" pitchFamily="34" charset="0"/>
              <a:buNone/>
            </a:pPr>
            <a:r>
              <a:rPr lang="en-US" sz="2000" smtClean="0"/>
              <a:t>Purpose: To identify and minimize errors propagated through the individual components of a measurement system and appropriately constraining the error budget to ensure that the reported final standard of accuracy is statistically valid. </a:t>
            </a:r>
          </a:p>
          <a:p>
            <a:pPr eaLnBrk="1" hangingPunct="1">
              <a:buFont typeface="Arial" pitchFamily="34" charset="0"/>
              <a:buNone/>
            </a:pPr>
            <a:endParaRPr lang="en-US" smtClean="0"/>
          </a:p>
        </p:txBody>
      </p:sp>
      <p:sp>
        <p:nvSpPr>
          <p:cNvPr id="4" name="Date Placeholder 3"/>
          <p:cNvSpPr>
            <a:spLocks noGrp="1"/>
          </p:cNvSpPr>
          <p:nvPr>
            <p:ph type="dt" sz="quarter" idx="10"/>
          </p:nvPr>
        </p:nvSpPr>
        <p:spPr/>
        <p:txBody>
          <a:bodyPr/>
          <a:lstStyle/>
          <a:p>
            <a:pPr>
              <a:defRPr/>
            </a:pPr>
            <a:r>
              <a:rPr lang="en-US" dirty="0"/>
              <a:t>10/18/2010</a:t>
            </a:r>
          </a:p>
        </p:txBody>
      </p:sp>
      <p:sp>
        <p:nvSpPr>
          <p:cNvPr id="5" name="Footer Placeholder 4"/>
          <p:cNvSpPr>
            <a:spLocks noGrp="1"/>
          </p:cNvSpPr>
          <p:nvPr>
            <p:ph type="ftr" sz="quarter" idx="11"/>
          </p:nvPr>
        </p:nvSpPr>
        <p:spPr/>
        <p:txBody>
          <a:bodyPr/>
          <a:lstStyle/>
          <a:p>
            <a:pPr>
              <a:defRPr/>
            </a:pPr>
            <a:r>
              <a:rPr lang="en-US"/>
              <a:t>Workshop on North American Gravimetry</a:t>
            </a:r>
          </a:p>
        </p:txBody>
      </p:sp>
      <p:sp>
        <p:nvSpPr>
          <p:cNvPr id="6" name="Slide Number Placeholder 5"/>
          <p:cNvSpPr>
            <a:spLocks noGrp="1"/>
          </p:cNvSpPr>
          <p:nvPr>
            <p:ph type="sldNum" sz="quarter" idx="12"/>
          </p:nvPr>
        </p:nvSpPr>
        <p:spPr/>
        <p:txBody>
          <a:bodyPr/>
          <a:lstStyle/>
          <a:p>
            <a:pPr>
              <a:defRPr/>
            </a:pPr>
            <a:fld id="{C823D7C1-839A-4231-B3F1-6588520ADF33}" type="slidenum">
              <a:rPr lang="en-US" smtClean="0"/>
              <a:pPr>
                <a:defRPr/>
              </a:pPr>
              <a:t>12</a:t>
            </a:fld>
            <a:endParaRPr lang="en-US"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a:xfrm>
            <a:off x="457200" y="347663"/>
            <a:ext cx="8229600" cy="1143000"/>
          </a:xfrm>
        </p:spPr>
        <p:txBody>
          <a:bodyPr/>
          <a:lstStyle/>
          <a:p>
            <a:pPr eaLnBrk="1" hangingPunct="1"/>
            <a:r>
              <a:rPr lang="en-US" smtClean="0"/>
              <a:t>Specifications (FGCC 1984)</a:t>
            </a:r>
          </a:p>
        </p:txBody>
      </p:sp>
      <p:sp>
        <p:nvSpPr>
          <p:cNvPr id="5" name="Footer Placeholder 4"/>
          <p:cNvSpPr>
            <a:spLocks noGrp="1"/>
          </p:cNvSpPr>
          <p:nvPr>
            <p:ph type="ftr" sz="quarter" idx="11"/>
          </p:nvPr>
        </p:nvSpPr>
        <p:spPr>
          <a:xfrm>
            <a:off x="3148013" y="5381625"/>
            <a:ext cx="2895600" cy="365125"/>
          </a:xfrm>
        </p:spPr>
        <p:txBody>
          <a:bodyPr/>
          <a:lstStyle/>
          <a:p>
            <a:pPr>
              <a:defRPr/>
            </a:pPr>
            <a:r>
              <a:rPr lang="en-US" dirty="0"/>
              <a:t>Workshop on North American </a:t>
            </a:r>
            <a:r>
              <a:rPr lang="en-US" dirty="0" err="1"/>
              <a:t>Gravimetry</a:t>
            </a:r>
            <a:endParaRPr lang="en-US" dirty="0"/>
          </a:p>
        </p:txBody>
      </p:sp>
      <p:sp>
        <p:nvSpPr>
          <p:cNvPr id="6" name="Slide Number Placeholder 5"/>
          <p:cNvSpPr>
            <a:spLocks noGrp="1"/>
          </p:cNvSpPr>
          <p:nvPr>
            <p:ph type="sldNum" sz="quarter" idx="12"/>
          </p:nvPr>
        </p:nvSpPr>
        <p:spPr/>
        <p:txBody>
          <a:bodyPr/>
          <a:lstStyle/>
          <a:p>
            <a:pPr>
              <a:defRPr/>
            </a:pPr>
            <a:fld id="{329C31D4-A62A-45B9-AFC6-9DE54100FB51}" type="slidenum">
              <a:rPr lang="en-US" smtClean="0"/>
              <a:pPr>
                <a:defRPr/>
              </a:pPr>
              <a:t>13</a:t>
            </a:fld>
            <a:endParaRPr lang="en-US"/>
          </a:p>
        </p:txBody>
      </p:sp>
      <p:graphicFrame>
        <p:nvGraphicFramePr>
          <p:cNvPr id="8" name="Content Placeholder 6"/>
          <p:cNvGraphicFramePr>
            <a:graphicFrameLocks/>
          </p:cNvGraphicFramePr>
          <p:nvPr/>
        </p:nvGraphicFramePr>
        <p:xfrm>
          <a:off x="450850" y="1590675"/>
          <a:ext cx="8229600" cy="4768118"/>
        </p:xfrm>
        <a:graphic>
          <a:graphicData uri="http://schemas.openxmlformats.org/drawingml/2006/table">
            <a:tbl>
              <a:tblPr firstRow="1" bandRow="1">
                <a:tableStyleId>{5C22544A-7EE6-4342-B048-85BDC9FD1C3A}</a:tableStyleId>
              </a:tblPr>
              <a:tblGrid>
                <a:gridCol w="5401627"/>
                <a:gridCol w="768096"/>
                <a:gridCol w="755904"/>
                <a:gridCol w="682752"/>
                <a:gridCol w="621221"/>
              </a:tblGrid>
              <a:tr h="455932">
                <a:tc gridSpan="5">
                  <a:txBody>
                    <a:bodyPr/>
                    <a:lstStyle/>
                    <a:p>
                      <a:pPr algn="ctr"/>
                      <a:r>
                        <a:rPr lang="en-US" dirty="0" smtClean="0"/>
                        <a:t>Absolute</a:t>
                      </a:r>
                      <a:r>
                        <a:rPr lang="en-US" baseline="0" dirty="0" smtClean="0"/>
                        <a:t> Measurements</a:t>
                      </a:r>
                      <a:endParaRPr lang="en-US" dirty="0"/>
                    </a:p>
                  </a:txBody>
                  <a:tcPr/>
                </a:tc>
                <a:tc hMerge="1">
                  <a:txBody>
                    <a:bodyPr/>
                    <a:lstStyle/>
                    <a:p>
                      <a:endParaRPr lang="en-US" dirty="0"/>
                    </a:p>
                  </a:txBody>
                  <a:tcPr/>
                </a:tc>
                <a:tc hMerge="1">
                  <a:txBody>
                    <a:bodyPr/>
                    <a:lstStyle/>
                    <a:p>
                      <a:endParaRPr lang="en-US"/>
                    </a:p>
                  </a:txBody>
                  <a:tcPr/>
                </a:tc>
                <a:tc hMerge="1">
                  <a:txBody>
                    <a:bodyPr/>
                    <a:lstStyle/>
                    <a:p>
                      <a:endParaRPr lang="en-US"/>
                    </a:p>
                  </a:txBody>
                  <a:tcPr/>
                </a:tc>
                <a:tc hMerge="1">
                  <a:txBody>
                    <a:bodyPr/>
                    <a:lstStyle/>
                    <a:p>
                      <a:endParaRPr lang="en-US"/>
                    </a:p>
                  </a:txBody>
                  <a:tcPr/>
                </a:tc>
              </a:tr>
              <a:tr h="636298">
                <a:tc>
                  <a:txBody>
                    <a:bodyPr/>
                    <a:lstStyle/>
                    <a:p>
                      <a:pPr algn="l"/>
                      <a:r>
                        <a:rPr lang="en-US" dirty="0" smtClean="0"/>
                        <a:t>Order</a:t>
                      </a:r>
                    </a:p>
                    <a:p>
                      <a:pPr algn="l"/>
                      <a:r>
                        <a:rPr lang="en-US" dirty="0" smtClean="0"/>
                        <a:t>Class</a:t>
                      </a:r>
                      <a:endParaRPr lang="en-US" dirty="0"/>
                    </a:p>
                  </a:txBody>
                  <a:tcPr>
                    <a:solidFill>
                      <a:schemeClr val="accent1">
                        <a:tint val="40000"/>
                      </a:schemeClr>
                    </a:solidFill>
                  </a:tcPr>
                </a:tc>
                <a:tc>
                  <a:txBody>
                    <a:bodyPr/>
                    <a:lstStyle/>
                    <a:p>
                      <a:pPr algn="ctr"/>
                      <a:r>
                        <a:rPr lang="en-US" dirty="0" smtClean="0"/>
                        <a:t>1st</a:t>
                      </a:r>
                    </a:p>
                    <a:p>
                      <a:pPr algn="ctr"/>
                      <a:r>
                        <a:rPr lang="en-US" dirty="0" smtClean="0"/>
                        <a:t>I</a:t>
                      </a:r>
                      <a:endParaRPr lang="en-US" dirty="0"/>
                    </a:p>
                  </a:txBody>
                  <a:tcPr/>
                </a:tc>
                <a:tc>
                  <a:txBody>
                    <a:bodyPr/>
                    <a:lstStyle/>
                    <a:p>
                      <a:pPr algn="ctr"/>
                      <a:r>
                        <a:rPr lang="en-US" dirty="0" smtClean="0"/>
                        <a:t>1st</a:t>
                      </a:r>
                    </a:p>
                    <a:p>
                      <a:pPr algn="ctr"/>
                      <a:r>
                        <a:rPr lang="en-US" dirty="0" smtClean="0"/>
                        <a:t>II</a:t>
                      </a:r>
                      <a:endParaRPr lang="en-US" dirty="0"/>
                    </a:p>
                  </a:txBody>
                  <a:tcPr/>
                </a:tc>
                <a:tc>
                  <a:txBody>
                    <a:bodyPr/>
                    <a:lstStyle/>
                    <a:p>
                      <a:pPr algn="ctr"/>
                      <a:r>
                        <a:rPr lang="en-US" dirty="0" smtClean="0"/>
                        <a:t>2nd</a:t>
                      </a:r>
                      <a:endParaRPr lang="en-US" dirty="0"/>
                    </a:p>
                  </a:txBody>
                  <a:tcPr/>
                </a:tc>
                <a:tc>
                  <a:txBody>
                    <a:bodyPr/>
                    <a:lstStyle/>
                    <a:p>
                      <a:pPr algn="ctr"/>
                      <a:r>
                        <a:rPr lang="en-US" dirty="0" smtClean="0"/>
                        <a:t>3rd</a:t>
                      </a:r>
                      <a:endParaRPr lang="en-US" dirty="0"/>
                    </a:p>
                  </a:txBody>
                  <a:tcPr/>
                </a:tc>
              </a:tr>
              <a:tr h="593626">
                <a:tc>
                  <a:txBody>
                    <a:bodyPr/>
                    <a:lstStyle/>
                    <a:p>
                      <a:pPr>
                        <a:buFont typeface="Arial" pitchFamily="34" charset="0"/>
                        <a:buNone/>
                      </a:pPr>
                      <a:r>
                        <a:rPr lang="en-US" dirty="0" smtClean="0"/>
                        <a:t>Standard deviation of each excepted measurement</a:t>
                      </a:r>
                      <a:r>
                        <a:rPr lang="en-US" baseline="0" dirty="0" smtClean="0"/>
                        <a:t> set not to exceed (µGal)</a:t>
                      </a:r>
                      <a:endParaRPr lang="en-US" dirty="0"/>
                    </a:p>
                  </a:txBody>
                  <a:tcPr/>
                </a:tc>
                <a:tc>
                  <a:txBody>
                    <a:bodyPr/>
                    <a:lstStyle/>
                    <a:p>
                      <a:pPr algn="ctr"/>
                      <a:r>
                        <a:rPr lang="en-US" dirty="0" smtClean="0"/>
                        <a:t>20</a:t>
                      </a:r>
                      <a:endParaRPr lang="en-US" dirty="0"/>
                    </a:p>
                  </a:txBody>
                  <a:tcPr/>
                </a:tc>
                <a:tc>
                  <a:txBody>
                    <a:bodyPr/>
                    <a:lstStyle/>
                    <a:p>
                      <a:pPr algn="ctr"/>
                      <a:r>
                        <a:rPr lang="en-US" dirty="0" smtClean="0"/>
                        <a:t>20</a:t>
                      </a:r>
                      <a:endParaRPr lang="en-US" dirty="0"/>
                    </a:p>
                  </a:txBody>
                  <a:tcPr/>
                </a:tc>
                <a:tc>
                  <a:txBody>
                    <a:bodyPr/>
                    <a:lstStyle/>
                    <a:p>
                      <a:pPr algn="ctr"/>
                      <a:r>
                        <a:rPr lang="en-US" dirty="0" smtClean="0"/>
                        <a:t>50</a:t>
                      </a:r>
                      <a:endParaRPr lang="en-US" dirty="0"/>
                    </a:p>
                  </a:txBody>
                  <a:tcPr/>
                </a:tc>
                <a:tc>
                  <a:txBody>
                    <a:bodyPr/>
                    <a:lstStyle/>
                    <a:p>
                      <a:pPr algn="ctr"/>
                      <a:r>
                        <a:rPr lang="en-US" dirty="0" smtClean="0"/>
                        <a:t>100</a:t>
                      </a:r>
                      <a:endParaRPr lang="en-US" dirty="0"/>
                    </a:p>
                  </a:txBody>
                  <a:tcPr/>
                </a:tc>
              </a:tr>
              <a:tr h="380266">
                <a:tc>
                  <a:txBody>
                    <a:bodyPr/>
                    <a:lstStyle/>
                    <a:p>
                      <a:r>
                        <a:rPr lang="en-US" dirty="0" smtClean="0"/>
                        <a:t>Minimum  number</a:t>
                      </a:r>
                      <a:r>
                        <a:rPr lang="en-US" baseline="0" dirty="0" smtClean="0"/>
                        <a:t> of sets/observation</a:t>
                      </a:r>
                      <a:endParaRPr lang="en-US" dirty="0"/>
                    </a:p>
                  </a:txBody>
                  <a:tcPr/>
                </a:tc>
                <a:tc>
                  <a:txBody>
                    <a:bodyPr/>
                    <a:lstStyle/>
                    <a:p>
                      <a:pPr algn="ctr"/>
                      <a:r>
                        <a:rPr lang="en-US" dirty="0" smtClean="0"/>
                        <a:t>5</a:t>
                      </a:r>
                      <a:endParaRPr lang="en-US" dirty="0"/>
                    </a:p>
                  </a:txBody>
                  <a:tcPr/>
                </a:tc>
                <a:tc>
                  <a:txBody>
                    <a:bodyPr/>
                    <a:lstStyle/>
                    <a:p>
                      <a:pPr algn="ctr"/>
                      <a:r>
                        <a:rPr lang="en-US" dirty="0" smtClean="0"/>
                        <a:t>5</a:t>
                      </a:r>
                      <a:endParaRPr lang="en-US" dirty="0"/>
                    </a:p>
                  </a:txBody>
                  <a:tcPr/>
                </a:tc>
                <a:tc>
                  <a:txBody>
                    <a:bodyPr/>
                    <a:lstStyle/>
                    <a:p>
                      <a:pPr algn="ctr"/>
                      <a:r>
                        <a:rPr lang="en-US" dirty="0" smtClean="0"/>
                        <a:t>5</a:t>
                      </a:r>
                      <a:endParaRPr lang="en-US" dirty="0"/>
                    </a:p>
                  </a:txBody>
                  <a:tcPr/>
                </a:tc>
                <a:tc>
                  <a:txBody>
                    <a:bodyPr/>
                    <a:lstStyle/>
                    <a:p>
                      <a:pPr algn="ctr"/>
                      <a:r>
                        <a:rPr lang="en-US" dirty="0" smtClean="0"/>
                        <a:t>5</a:t>
                      </a:r>
                      <a:endParaRPr lang="en-US" dirty="0"/>
                    </a:p>
                  </a:txBody>
                  <a:tcPr/>
                </a:tc>
              </a:tr>
              <a:tr h="633984">
                <a:tc>
                  <a:txBody>
                    <a:bodyPr/>
                    <a:lstStyle/>
                    <a:p>
                      <a:r>
                        <a:rPr lang="en-US" dirty="0" smtClean="0"/>
                        <a:t>Maximum Difference of measurements set from mean of all measurements </a:t>
                      </a:r>
                      <a:r>
                        <a:rPr lang="en-US" baseline="0" dirty="0" smtClean="0"/>
                        <a:t>(µGal)</a:t>
                      </a:r>
                      <a:endParaRPr lang="en-US" dirty="0"/>
                    </a:p>
                  </a:txBody>
                  <a:tcPr>
                    <a:solidFill>
                      <a:srgbClr val="E9EDF4"/>
                    </a:solidFill>
                  </a:tcPr>
                </a:tc>
                <a:tc>
                  <a:txBody>
                    <a:bodyPr/>
                    <a:lstStyle/>
                    <a:p>
                      <a:pPr algn="ctr"/>
                      <a:r>
                        <a:rPr lang="en-US" dirty="0" smtClean="0"/>
                        <a:t>12</a:t>
                      </a:r>
                      <a:endParaRPr lang="en-US" dirty="0"/>
                    </a:p>
                  </a:txBody>
                  <a:tcPr/>
                </a:tc>
                <a:tc>
                  <a:txBody>
                    <a:bodyPr/>
                    <a:lstStyle/>
                    <a:p>
                      <a:pPr algn="ctr"/>
                      <a:r>
                        <a:rPr lang="en-US" dirty="0" smtClean="0"/>
                        <a:t>12</a:t>
                      </a:r>
                      <a:endParaRPr lang="en-US" dirty="0"/>
                    </a:p>
                  </a:txBody>
                  <a:tcPr/>
                </a:tc>
                <a:tc>
                  <a:txBody>
                    <a:bodyPr/>
                    <a:lstStyle/>
                    <a:p>
                      <a:pPr algn="ctr"/>
                      <a:r>
                        <a:rPr lang="en-US" dirty="0" smtClean="0"/>
                        <a:t>37</a:t>
                      </a:r>
                      <a:endParaRPr lang="en-US" dirty="0"/>
                    </a:p>
                  </a:txBody>
                  <a:tcPr/>
                </a:tc>
                <a:tc>
                  <a:txBody>
                    <a:bodyPr/>
                    <a:lstStyle/>
                    <a:p>
                      <a:pPr algn="ctr"/>
                      <a:r>
                        <a:rPr lang="en-US" dirty="0" smtClean="0"/>
                        <a:t>48</a:t>
                      </a:r>
                      <a:endParaRPr lang="en-US" dirty="0"/>
                    </a:p>
                  </a:txBody>
                  <a:tcPr/>
                </a:tc>
              </a:tr>
              <a:tr h="335280">
                <a:tc>
                  <a:txBody>
                    <a:bodyPr/>
                    <a:lstStyle/>
                    <a:p>
                      <a:r>
                        <a:rPr lang="en-US" dirty="0" smtClean="0"/>
                        <a:t>Barometric pressure standard error (mbar)</a:t>
                      </a:r>
                      <a:endParaRPr lang="en-US" dirty="0"/>
                    </a:p>
                  </a:txBody>
                  <a:tcPr>
                    <a:solidFill>
                      <a:srgbClr val="D0D8E8"/>
                    </a:solidFill>
                  </a:tcPr>
                </a:tc>
                <a:tc>
                  <a:txBody>
                    <a:bodyPr/>
                    <a:lstStyle/>
                    <a:p>
                      <a:pPr algn="ctr"/>
                      <a:r>
                        <a:rPr lang="en-US" dirty="0" smtClean="0"/>
                        <a:t>4</a:t>
                      </a:r>
                      <a:endParaRPr lang="en-US" dirty="0"/>
                    </a:p>
                  </a:txBody>
                  <a:tcPr>
                    <a:solidFill>
                      <a:srgbClr val="D0D8E8"/>
                    </a:solidFill>
                  </a:tcPr>
                </a:tc>
                <a:tc>
                  <a:txBody>
                    <a:bodyPr/>
                    <a:lstStyle/>
                    <a:p>
                      <a:pPr algn="ctr"/>
                      <a:r>
                        <a:rPr lang="en-US" dirty="0" smtClean="0"/>
                        <a:t>4</a:t>
                      </a:r>
                      <a:endParaRPr lang="en-US" dirty="0"/>
                    </a:p>
                  </a:txBody>
                  <a:tcPr>
                    <a:solidFill>
                      <a:srgbClr val="D0D8E8"/>
                    </a:solidFill>
                  </a:tcPr>
                </a:tc>
                <a:tc>
                  <a:txBody>
                    <a:bodyPr/>
                    <a:lstStyle/>
                    <a:p>
                      <a:pPr algn="ctr"/>
                      <a:r>
                        <a:rPr lang="en-US" dirty="0" smtClean="0"/>
                        <a:t>-</a:t>
                      </a:r>
                      <a:endParaRPr lang="en-US" dirty="0"/>
                    </a:p>
                  </a:txBody>
                  <a:tcPr>
                    <a:solidFill>
                      <a:srgbClr val="D0D8E8"/>
                    </a:solidFill>
                  </a:tcPr>
                </a:tc>
                <a:tc>
                  <a:txBody>
                    <a:bodyPr/>
                    <a:lstStyle/>
                    <a:p>
                      <a:pPr algn="ctr"/>
                      <a:r>
                        <a:rPr lang="en-US" dirty="0" smtClean="0"/>
                        <a:t>-</a:t>
                      </a:r>
                      <a:endParaRPr lang="en-US" dirty="0"/>
                    </a:p>
                  </a:txBody>
                  <a:tcPr>
                    <a:solidFill>
                      <a:srgbClr val="D0D8E8"/>
                    </a:solidFill>
                  </a:tcPr>
                </a:tc>
              </a:tr>
              <a:tr h="151977">
                <a:tc gridSpan="5">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b="1" dirty="0" smtClean="0">
                          <a:solidFill>
                            <a:schemeClr val="bg1"/>
                          </a:solidFill>
                        </a:rPr>
                        <a:t>Gradient</a:t>
                      </a:r>
                      <a:r>
                        <a:rPr lang="en-US" sz="1800" b="1" baseline="0" dirty="0" smtClean="0">
                          <a:solidFill>
                            <a:schemeClr val="bg1"/>
                          </a:solidFill>
                        </a:rPr>
                        <a:t> Measurements</a:t>
                      </a:r>
                      <a:endParaRPr lang="en-US" sz="1800" b="1" dirty="0" smtClean="0">
                        <a:solidFill>
                          <a:schemeClr val="bg1"/>
                        </a:solidFill>
                      </a:endParaRPr>
                    </a:p>
                  </a:txBody>
                  <a:tcPr>
                    <a:solidFill>
                      <a:schemeClr val="accent1"/>
                    </a:solidFill>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r>
              <a:tr h="213783">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Standard deviation of measurement</a:t>
                      </a:r>
                      <a:r>
                        <a:rPr lang="en-US" baseline="0" dirty="0" smtClean="0"/>
                        <a:t> of vertical gradient at time of observations (µGal/m)</a:t>
                      </a:r>
                      <a:endParaRPr lang="en-US" dirty="0" smtClean="0"/>
                    </a:p>
                  </a:txBody>
                  <a:tcPr>
                    <a:solidFill>
                      <a:srgbClr val="E9EDF4"/>
                    </a:solidFill>
                  </a:tcPr>
                </a:tc>
                <a:tc>
                  <a:txBody>
                    <a:bodyPr/>
                    <a:lstStyle/>
                    <a:p>
                      <a:pPr algn="ctr"/>
                      <a:r>
                        <a:rPr lang="en-US" dirty="0" smtClean="0"/>
                        <a:t>5</a:t>
                      </a:r>
                      <a:endParaRPr lang="en-US" dirty="0"/>
                    </a:p>
                  </a:txBody>
                  <a:tcPr>
                    <a:solidFill>
                      <a:srgbClr val="E9EDF4"/>
                    </a:solidFill>
                  </a:tcPr>
                </a:tc>
                <a:tc>
                  <a:txBody>
                    <a:bodyPr/>
                    <a:lstStyle/>
                    <a:p>
                      <a:pPr algn="ctr"/>
                      <a:r>
                        <a:rPr lang="en-US" dirty="0" smtClean="0"/>
                        <a:t>5</a:t>
                      </a:r>
                      <a:endParaRPr lang="en-US" dirty="0"/>
                    </a:p>
                  </a:txBody>
                  <a:tcPr>
                    <a:solidFill>
                      <a:srgbClr val="E9EDF4"/>
                    </a:solidFill>
                  </a:tcPr>
                </a:tc>
                <a:tc>
                  <a:txBody>
                    <a:bodyPr/>
                    <a:lstStyle/>
                    <a:p>
                      <a:pPr algn="ctr"/>
                      <a:r>
                        <a:rPr lang="en-US" dirty="0" smtClean="0"/>
                        <a:t>5</a:t>
                      </a:r>
                      <a:endParaRPr lang="en-US" dirty="0"/>
                    </a:p>
                  </a:txBody>
                  <a:tcPr>
                    <a:solidFill>
                      <a:srgbClr val="E9EDF4"/>
                    </a:solidFill>
                  </a:tcPr>
                </a:tc>
                <a:tc>
                  <a:txBody>
                    <a:bodyPr/>
                    <a:lstStyle/>
                    <a:p>
                      <a:pPr algn="ctr"/>
                      <a:r>
                        <a:rPr lang="en-US" dirty="0" smtClean="0"/>
                        <a:t>5</a:t>
                      </a:r>
                      <a:endParaRPr lang="en-US" dirty="0"/>
                    </a:p>
                  </a:txBody>
                  <a:tcPr>
                    <a:solidFill>
                      <a:srgbClr val="E9EDF4"/>
                    </a:solidFill>
                  </a:tcPr>
                </a:tc>
              </a:tr>
              <a:tr h="151977">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Standard deviation of ht. of instrument above</a:t>
                      </a:r>
                      <a:r>
                        <a:rPr lang="en-US" baseline="0" dirty="0" smtClean="0"/>
                        <a:t> point (mm)</a:t>
                      </a:r>
                      <a:endParaRPr lang="en-US" dirty="0" smtClean="0"/>
                    </a:p>
                  </a:txBody>
                  <a:tcPr>
                    <a:solidFill>
                      <a:srgbClr val="D0D8E8"/>
                    </a:solidFill>
                  </a:tcPr>
                </a:tc>
                <a:tc>
                  <a:txBody>
                    <a:bodyPr/>
                    <a:lstStyle/>
                    <a:p>
                      <a:pPr algn="ctr"/>
                      <a:r>
                        <a:rPr lang="en-US" dirty="0" smtClean="0"/>
                        <a:t>1</a:t>
                      </a:r>
                      <a:endParaRPr lang="en-US" dirty="0"/>
                    </a:p>
                  </a:txBody>
                  <a:tcPr>
                    <a:solidFill>
                      <a:srgbClr val="D0D8E8"/>
                    </a:solidFill>
                  </a:tcPr>
                </a:tc>
                <a:tc>
                  <a:txBody>
                    <a:bodyPr/>
                    <a:lstStyle/>
                    <a:p>
                      <a:pPr algn="ctr"/>
                      <a:r>
                        <a:rPr lang="en-US" dirty="0" smtClean="0"/>
                        <a:t>1</a:t>
                      </a:r>
                      <a:endParaRPr lang="en-US" dirty="0"/>
                    </a:p>
                  </a:txBody>
                  <a:tcPr>
                    <a:solidFill>
                      <a:srgbClr val="D0D8E8"/>
                    </a:solidFill>
                  </a:tcPr>
                </a:tc>
                <a:tc>
                  <a:txBody>
                    <a:bodyPr/>
                    <a:lstStyle/>
                    <a:p>
                      <a:pPr algn="ctr"/>
                      <a:r>
                        <a:rPr lang="en-US" dirty="0" smtClean="0"/>
                        <a:t>5</a:t>
                      </a:r>
                      <a:endParaRPr lang="en-US" dirty="0"/>
                    </a:p>
                  </a:txBody>
                  <a:tcPr>
                    <a:solidFill>
                      <a:srgbClr val="D0D8E8"/>
                    </a:solidFill>
                  </a:tcPr>
                </a:tc>
                <a:tc>
                  <a:txBody>
                    <a:bodyPr/>
                    <a:lstStyle/>
                    <a:p>
                      <a:pPr algn="ctr"/>
                      <a:r>
                        <a:rPr lang="en-US" dirty="0" smtClean="0"/>
                        <a:t>10</a:t>
                      </a:r>
                      <a:endParaRPr lang="en-US" dirty="0"/>
                    </a:p>
                  </a:txBody>
                  <a:tcPr>
                    <a:solidFill>
                      <a:srgbClr val="D0D8E8"/>
                    </a:solidFill>
                  </a:tcPr>
                </a:tc>
              </a:tr>
            </a:tbl>
          </a:graphicData>
        </a:graphic>
      </p:graphicFrame>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p:txBody>
          <a:bodyPr/>
          <a:lstStyle/>
          <a:p>
            <a:pPr eaLnBrk="1" hangingPunct="1"/>
            <a:r>
              <a:rPr lang="en-US" smtClean="0"/>
              <a:t>AG Database(s)</a:t>
            </a:r>
          </a:p>
        </p:txBody>
      </p:sp>
      <p:sp>
        <p:nvSpPr>
          <p:cNvPr id="16387" name="Content Placeholder 2"/>
          <p:cNvSpPr>
            <a:spLocks noGrp="1"/>
          </p:cNvSpPr>
          <p:nvPr>
            <p:ph idx="1"/>
          </p:nvPr>
        </p:nvSpPr>
        <p:spPr/>
        <p:txBody>
          <a:bodyPr/>
          <a:lstStyle/>
          <a:p>
            <a:pPr eaLnBrk="1" hangingPunct="1"/>
            <a:r>
              <a:rPr lang="en-US" smtClean="0"/>
              <a:t>Collecting/Organizing our historic data</a:t>
            </a:r>
          </a:p>
          <a:p>
            <a:pPr lvl="1" eaLnBrk="1" hangingPunct="1"/>
            <a:r>
              <a:rPr lang="en-US" smtClean="0"/>
              <a:t>Plan to contribute to BKG’s DB</a:t>
            </a:r>
          </a:p>
          <a:p>
            <a:pPr lvl="1" eaLnBrk="1" hangingPunct="1"/>
            <a:endParaRPr lang="en-US" smtClean="0"/>
          </a:p>
          <a:p>
            <a:pPr eaLnBrk="1" hangingPunct="1"/>
            <a:r>
              <a:rPr lang="en-US" smtClean="0"/>
              <a:t>Also working on </a:t>
            </a:r>
          </a:p>
          <a:p>
            <a:pPr eaLnBrk="1" hangingPunct="1">
              <a:buFont typeface="Arial" pitchFamily="34" charset="0"/>
              <a:buNone/>
            </a:pPr>
            <a:r>
              <a:rPr lang="en-US" smtClean="0"/>
              <a:t>   synchronizing A.G. </a:t>
            </a:r>
          </a:p>
          <a:p>
            <a:pPr eaLnBrk="1" hangingPunct="1">
              <a:buFont typeface="Arial" pitchFamily="34" charset="0"/>
              <a:buNone/>
            </a:pPr>
            <a:r>
              <a:rPr lang="en-US" smtClean="0"/>
              <a:t>   collection with </a:t>
            </a:r>
          </a:p>
          <a:p>
            <a:pPr eaLnBrk="1" hangingPunct="1">
              <a:buFont typeface="Arial" pitchFamily="34" charset="0"/>
              <a:buNone/>
            </a:pPr>
            <a:r>
              <a:rPr lang="en-US" smtClean="0"/>
              <a:t>   “OPUS-DB”</a:t>
            </a:r>
          </a:p>
        </p:txBody>
      </p:sp>
      <p:sp>
        <p:nvSpPr>
          <p:cNvPr id="4" name="Date Placeholder 3"/>
          <p:cNvSpPr>
            <a:spLocks noGrp="1"/>
          </p:cNvSpPr>
          <p:nvPr>
            <p:ph type="dt" sz="quarter" idx="10"/>
          </p:nvPr>
        </p:nvSpPr>
        <p:spPr/>
        <p:txBody>
          <a:bodyPr/>
          <a:lstStyle/>
          <a:p>
            <a:pPr>
              <a:defRPr/>
            </a:pPr>
            <a:r>
              <a:rPr lang="en-US"/>
              <a:t>10/18/2010</a:t>
            </a:r>
          </a:p>
        </p:txBody>
      </p:sp>
      <p:sp>
        <p:nvSpPr>
          <p:cNvPr id="5" name="Footer Placeholder 4"/>
          <p:cNvSpPr>
            <a:spLocks noGrp="1"/>
          </p:cNvSpPr>
          <p:nvPr>
            <p:ph type="ftr" sz="quarter" idx="11"/>
          </p:nvPr>
        </p:nvSpPr>
        <p:spPr/>
        <p:txBody>
          <a:bodyPr/>
          <a:lstStyle/>
          <a:p>
            <a:pPr>
              <a:defRPr/>
            </a:pPr>
            <a:r>
              <a:rPr lang="en-US"/>
              <a:t>Workshop on North American Gravimetry</a:t>
            </a:r>
          </a:p>
        </p:txBody>
      </p:sp>
      <p:sp>
        <p:nvSpPr>
          <p:cNvPr id="6" name="Slide Number Placeholder 5"/>
          <p:cNvSpPr>
            <a:spLocks noGrp="1"/>
          </p:cNvSpPr>
          <p:nvPr>
            <p:ph type="sldNum" sz="quarter" idx="12"/>
          </p:nvPr>
        </p:nvSpPr>
        <p:spPr/>
        <p:txBody>
          <a:bodyPr/>
          <a:lstStyle/>
          <a:p>
            <a:pPr>
              <a:defRPr/>
            </a:pPr>
            <a:fld id="{F8506739-AA50-4A3C-860F-987A1ED077ED}" type="slidenum">
              <a:rPr lang="en-US" smtClean="0"/>
              <a:pPr>
                <a:defRPr/>
              </a:pPr>
              <a:t>14</a:t>
            </a:fld>
            <a:endParaRPr lang="en-US"/>
          </a:p>
        </p:txBody>
      </p:sp>
      <p:pic>
        <p:nvPicPr>
          <p:cNvPr id="16391" name="Picture 3"/>
          <p:cNvPicPr>
            <a:picLocks noChangeAspect="1" noChangeArrowheads="1"/>
          </p:cNvPicPr>
          <p:nvPr/>
        </p:nvPicPr>
        <p:blipFill>
          <a:blip r:embed="rId2" cstate="print"/>
          <a:srcRect/>
          <a:stretch>
            <a:fillRect/>
          </a:stretch>
        </p:blipFill>
        <p:spPr bwMode="auto">
          <a:xfrm>
            <a:off x="4152900" y="2624138"/>
            <a:ext cx="4210050" cy="377666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NGSPowerPointTemplat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NGSPowerPointTemplate</Template>
  <TotalTime>41175</TotalTime>
  <Words>745</Words>
  <Application>Microsoft Office PowerPoint</Application>
  <PresentationFormat>On-screen Show (4:3)</PresentationFormat>
  <Paragraphs>186</Paragraphs>
  <Slides>14</Slides>
  <Notes>2</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14</vt:i4>
      </vt:variant>
    </vt:vector>
  </HeadingPairs>
  <TitlesOfParts>
    <vt:vector size="21" baseType="lpstr">
      <vt:lpstr>Verdana</vt:lpstr>
      <vt:lpstr>Arial</vt:lpstr>
      <vt:lpstr>Times New Roman</vt:lpstr>
      <vt:lpstr>Calibri</vt:lpstr>
      <vt:lpstr>Batang</vt:lpstr>
      <vt:lpstr>NGSPowerPointTemplate</vt:lpstr>
      <vt:lpstr>Office Theme</vt:lpstr>
      <vt:lpstr>Slide 1</vt:lpstr>
      <vt:lpstr>Airborne Survey Control</vt:lpstr>
      <vt:lpstr>Geoid Change Validation</vt:lpstr>
      <vt:lpstr>TMGO Experimentation</vt:lpstr>
      <vt:lpstr>Slide 5</vt:lpstr>
      <vt:lpstr>TMGO Meter-checks</vt:lpstr>
      <vt:lpstr>Absolute Gravimeter Comparisons</vt:lpstr>
      <vt:lpstr>New Instruments</vt:lpstr>
      <vt:lpstr>Field Research</vt:lpstr>
      <vt:lpstr>Standards and Specifications</vt:lpstr>
      <vt:lpstr>Standards (FGCC 1984)</vt:lpstr>
      <vt:lpstr>Standards and Specifications</vt:lpstr>
      <vt:lpstr>Specifications (FGCC 1984)</vt:lpstr>
      <vt:lpstr>AG Database(s)</vt:lpstr>
    </vt:vector>
  </TitlesOfParts>
  <Company>NOAA</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Dru.Smith</dc:creator>
  <cp:lastModifiedBy>Dru Smith</cp:lastModifiedBy>
  <cp:revision>1148</cp:revision>
  <dcterms:created xsi:type="dcterms:W3CDTF">2007-03-19T16:14:20Z</dcterms:created>
  <dcterms:modified xsi:type="dcterms:W3CDTF">2010-10-15T18:39:11Z</dcterms:modified>
</cp:coreProperties>
</file>