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56" r:id="rId2"/>
    <p:sldId id="259" r:id="rId3"/>
    <p:sldId id="257" r:id="rId4"/>
    <p:sldId id="262" r:id="rId5"/>
    <p:sldId id="265" r:id="rId6"/>
    <p:sldId id="260" r:id="rId7"/>
    <p:sldId id="261" r:id="rId8"/>
    <p:sldId id="266" r:id="rId9"/>
    <p:sldId id="267" r:id="rId10"/>
    <p:sldId id="268" r:id="rId11"/>
    <p:sldId id="269" r:id="rId12"/>
    <p:sldId id="270" r:id="rId13"/>
    <p:sldId id="271" r:id="rId14"/>
    <p:sldId id="272" r:id="rId15"/>
    <p:sldId id="273" r:id="rId16"/>
    <p:sldId id="274" r:id="rId17"/>
    <p:sldId id="276" r:id="rId18"/>
    <p:sldId id="277" r:id="rId19"/>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506"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r>
              <a:rPr lang="en-US" smtClean="0"/>
              <a:t>Water Trail Designation</a:t>
            </a:r>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r>
              <a:rPr lang="en-US" smtClean="0"/>
              <a:t>9/8/2012</a:t>
            </a:r>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r>
              <a:rPr lang="en-US" smtClean="0"/>
              <a:t>West Virginia Division of Highways</a:t>
            </a:r>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1A9CD689-D727-4D2E-8CE4-0D28F9E736E5}" type="slidenum">
              <a:rPr lang="en-US" smtClean="0"/>
              <a:t>‹#›</a:t>
            </a:fld>
            <a:endParaRPr lang="en-US"/>
          </a:p>
        </p:txBody>
      </p:sp>
    </p:spTree>
    <p:extLst>
      <p:ext uri="{BB962C8B-B14F-4D97-AF65-F5344CB8AC3E}">
        <p14:creationId xmlns:p14="http://schemas.microsoft.com/office/powerpoint/2010/main" val="2830136015"/>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r>
              <a:rPr lang="en-US" smtClean="0"/>
              <a:t>Water Trail Designation</a:t>
            </a: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r>
              <a:rPr lang="en-US" smtClean="0"/>
              <a:t>9/8/2012</a:t>
            </a:r>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r>
              <a:rPr lang="en-US" smtClean="0"/>
              <a:t>West Virginia Division of Highways</a:t>
            </a: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942D981F-82C5-45BE-895C-9C94E02FC7FA}" type="slidenum">
              <a:rPr lang="en-US" smtClean="0"/>
              <a:t>‹#›</a:t>
            </a:fld>
            <a:endParaRPr lang="en-US"/>
          </a:p>
        </p:txBody>
      </p:sp>
    </p:spTree>
    <p:extLst>
      <p:ext uri="{BB962C8B-B14F-4D97-AF65-F5344CB8AC3E}">
        <p14:creationId xmlns:p14="http://schemas.microsoft.com/office/powerpoint/2010/main" val="2154199747"/>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42D981F-82C5-45BE-895C-9C94E02FC7FA}" type="slidenum">
              <a:rPr lang="en-US" smtClean="0"/>
              <a:t>1</a:t>
            </a:fld>
            <a:endParaRPr lang="en-US"/>
          </a:p>
        </p:txBody>
      </p:sp>
      <p:sp>
        <p:nvSpPr>
          <p:cNvPr id="5" name="Date Placeholder 4"/>
          <p:cNvSpPr>
            <a:spLocks noGrp="1"/>
          </p:cNvSpPr>
          <p:nvPr>
            <p:ph type="dt" idx="11"/>
          </p:nvPr>
        </p:nvSpPr>
        <p:spPr/>
        <p:txBody>
          <a:bodyPr/>
          <a:lstStyle/>
          <a:p>
            <a:r>
              <a:rPr lang="en-US" smtClean="0"/>
              <a:t>9/8/2012</a:t>
            </a:r>
            <a:endParaRPr lang="en-US"/>
          </a:p>
        </p:txBody>
      </p:sp>
      <p:sp>
        <p:nvSpPr>
          <p:cNvPr id="6" name="Header Placeholder 5"/>
          <p:cNvSpPr>
            <a:spLocks noGrp="1"/>
          </p:cNvSpPr>
          <p:nvPr>
            <p:ph type="hdr" sz="quarter" idx="12"/>
          </p:nvPr>
        </p:nvSpPr>
        <p:spPr/>
        <p:txBody>
          <a:bodyPr/>
          <a:lstStyle/>
          <a:p>
            <a:r>
              <a:rPr lang="en-US" smtClean="0"/>
              <a:t>Water Trail Designation</a:t>
            </a:r>
            <a:endParaRPr lang="en-US"/>
          </a:p>
        </p:txBody>
      </p:sp>
      <p:sp>
        <p:nvSpPr>
          <p:cNvPr id="7" name="Footer Placeholder 6"/>
          <p:cNvSpPr>
            <a:spLocks noGrp="1"/>
          </p:cNvSpPr>
          <p:nvPr>
            <p:ph type="ftr" sz="quarter" idx="13"/>
          </p:nvPr>
        </p:nvSpPr>
        <p:spPr/>
        <p:txBody>
          <a:bodyPr/>
          <a:lstStyle/>
          <a:p>
            <a:r>
              <a:rPr lang="en-US" smtClean="0"/>
              <a:t>West Virginia Division of Highways</a:t>
            </a:r>
            <a:endParaRPr lang="en-US"/>
          </a:p>
        </p:txBody>
      </p:sp>
    </p:spTree>
    <p:extLst>
      <p:ext uri="{BB962C8B-B14F-4D97-AF65-F5344CB8AC3E}">
        <p14:creationId xmlns:p14="http://schemas.microsoft.com/office/powerpoint/2010/main" val="2902029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5DE77E-2ED5-400D-9DFC-45E165CB9235}" type="slidenum">
              <a:rPr lang="en-US"/>
              <a:pPr/>
              <a:t>2</a:t>
            </a:fld>
            <a:endParaRPr lang="en-US"/>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p:txBody>
          <a:bodyPr/>
          <a:lstStyle/>
          <a:p>
            <a:r>
              <a:rPr lang="en-US"/>
              <a:t>Same applies to fishing. </a:t>
            </a:r>
          </a:p>
        </p:txBody>
      </p:sp>
      <p:sp>
        <p:nvSpPr>
          <p:cNvPr id="2" name="Date Placeholder 1"/>
          <p:cNvSpPr>
            <a:spLocks noGrp="1"/>
          </p:cNvSpPr>
          <p:nvPr>
            <p:ph type="dt" idx="10"/>
          </p:nvPr>
        </p:nvSpPr>
        <p:spPr/>
        <p:txBody>
          <a:bodyPr/>
          <a:lstStyle/>
          <a:p>
            <a:r>
              <a:rPr lang="en-US" smtClean="0"/>
              <a:t>9/8/2012</a:t>
            </a:r>
            <a:endParaRPr lang="en-US"/>
          </a:p>
        </p:txBody>
      </p:sp>
      <p:sp>
        <p:nvSpPr>
          <p:cNvPr id="3" name="Header Placeholder 2"/>
          <p:cNvSpPr>
            <a:spLocks noGrp="1"/>
          </p:cNvSpPr>
          <p:nvPr>
            <p:ph type="hdr" sz="quarter" idx="11"/>
          </p:nvPr>
        </p:nvSpPr>
        <p:spPr/>
        <p:txBody>
          <a:bodyPr/>
          <a:lstStyle/>
          <a:p>
            <a:r>
              <a:rPr lang="en-US" smtClean="0"/>
              <a:t>Water Trail Designation</a:t>
            </a:r>
            <a:endParaRPr lang="en-US"/>
          </a:p>
        </p:txBody>
      </p:sp>
      <p:sp>
        <p:nvSpPr>
          <p:cNvPr id="4" name="Footer Placeholder 3"/>
          <p:cNvSpPr>
            <a:spLocks noGrp="1"/>
          </p:cNvSpPr>
          <p:nvPr>
            <p:ph type="ftr" sz="quarter" idx="12"/>
          </p:nvPr>
        </p:nvSpPr>
        <p:spPr/>
        <p:txBody>
          <a:bodyPr/>
          <a:lstStyle/>
          <a:p>
            <a:r>
              <a:rPr lang="en-US" smtClean="0"/>
              <a:t>West Virginia Division of Highways</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287573-F60D-46A3-837A-4C77FC255711}" type="slidenum">
              <a:rPr lang="en-US"/>
              <a:pPr/>
              <a:t>3</a:t>
            </a:fld>
            <a:endParaRPr lang="en-US"/>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r>
              <a:rPr lang="en-US"/>
              <a:t>RECREATIONAL</a:t>
            </a:r>
          </a:p>
          <a:p>
            <a:r>
              <a:rPr lang="en-US"/>
              <a:t>SCENIC</a:t>
            </a:r>
          </a:p>
          <a:p>
            <a:r>
              <a:rPr lang="en-US"/>
              <a:t>HISTORIC</a:t>
            </a:r>
          </a:p>
          <a:p>
            <a:r>
              <a:rPr lang="en-US"/>
              <a:t>EDUCATIONAL</a:t>
            </a:r>
          </a:p>
        </p:txBody>
      </p:sp>
      <p:sp>
        <p:nvSpPr>
          <p:cNvPr id="2" name="Date Placeholder 1"/>
          <p:cNvSpPr>
            <a:spLocks noGrp="1"/>
          </p:cNvSpPr>
          <p:nvPr>
            <p:ph type="dt" idx="10"/>
          </p:nvPr>
        </p:nvSpPr>
        <p:spPr/>
        <p:txBody>
          <a:bodyPr/>
          <a:lstStyle/>
          <a:p>
            <a:r>
              <a:rPr lang="en-US" smtClean="0"/>
              <a:t>9/8/2012</a:t>
            </a:r>
            <a:endParaRPr lang="en-US"/>
          </a:p>
        </p:txBody>
      </p:sp>
      <p:sp>
        <p:nvSpPr>
          <p:cNvPr id="3" name="Header Placeholder 2"/>
          <p:cNvSpPr>
            <a:spLocks noGrp="1"/>
          </p:cNvSpPr>
          <p:nvPr>
            <p:ph type="hdr" sz="quarter" idx="11"/>
          </p:nvPr>
        </p:nvSpPr>
        <p:spPr/>
        <p:txBody>
          <a:bodyPr/>
          <a:lstStyle/>
          <a:p>
            <a:r>
              <a:rPr lang="en-US" smtClean="0"/>
              <a:t>Water Trail Designation</a:t>
            </a:r>
            <a:endParaRPr lang="en-US"/>
          </a:p>
        </p:txBody>
      </p:sp>
      <p:sp>
        <p:nvSpPr>
          <p:cNvPr id="4" name="Footer Placeholder 3"/>
          <p:cNvSpPr>
            <a:spLocks noGrp="1"/>
          </p:cNvSpPr>
          <p:nvPr>
            <p:ph type="ftr" sz="quarter" idx="12"/>
          </p:nvPr>
        </p:nvSpPr>
        <p:spPr/>
        <p:txBody>
          <a:bodyPr/>
          <a:lstStyle/>
          <a:p>
            <a:r>
              <a:rPr lang="en-US" smtClean="0"/>
              <a:t>West Virginia Division of Highways</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0B4F9E-B9EC-4A86-B635-A3D525ECC61C}" type="slidenum">
              <a:rPr lang="en-US"/>
              <a:pPr/>
              <a:t>4</a:t>
            </a:fld>
            <a:endParaRPr lang="en-US"/>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r>
              <a:rPr lang="en-US"/>
              <a:t>Not every stream can be a water trail. It must be:</a:t>
            </a:r>
          </a:p>
          <a:p>
            <a:r>
              <a:rPr lang="en-US"/>
              <a:t>Continuous</a:t>
            </a:r>
          </a:p>
          <a:p>
            <a:r>
              <a:rPr lang="en-US"/>
              <a:t>Big enough to float a boat</a:t>
            </a:r>
          </a:p>
          <a:p>
            <a:r>
              <a:rPr lang="en-US"/>
              <a:t>Primarily flat water</a:t>
            </a:r>
          </a:p>
          <a:p>
            <a:r>
              <a:rPr lang="en-US"/>
              <a:t>Accessible</a:t>
            </a:r>
          </a:p>
        </p:txBody>
      </p:sp>
      <p:sp>
        <p:nvSpPr>
          <p:cNvPr id="2" name="Date Placeholder 1"/>
          <p:cNvSpPr>
            <a:spLocks noGrp="1"/>
          </p:cNvSpPr>
          <p:nvPr>
            <p:ph type="dt" idx="10"/>
          </p:nvPr>
        </p:nvSpPr>
        <p:spPr/>
        <p:txBody>
          <a:bodyPr/>
          <a:lstStyle/>
          <a:p>
            <a:r>
              <a:rPr lang="en-US" smtClean="0"/>
              <a:t>9/8/2012</a:t>
            </a:r>
            <a:endParaRPr lang="en-US"/>
          </a:p>
        </p:txBody>
      </p:sp>
      <p:sp>
        <p:nvSpPr>
          <p:cNvPr id="3" name="Header Placeholder 2"/>
          <p:cNvSpPr>
            <a:spLocks noGrp="1"/>
          </p:cNvSpPr>
          <p:nvPr>
            <p:ph type="hdr" sz="quarter" idx="11"/>
          </p:nvPr>
        </p:nvSpPr>
        <p:spPr/>
        <p:txBody>
          <a:bodyPr/>
          <a:lstStyle/>
          <a:p>
            <a:r>
              <a:rPr lang="en-US" smtClean="0"/>
              <a:t>Water Trail Designation</a:t>
            </a:r>
            <a:endParaRPr lang="en-US"/>
          </a:p>
        </p:txBody>
      </p:sp>
      <p:sp>
        <p:nvSpPr>
          <p:cNvPr id="4" name="Footer Placeholder 3"/>
          <p:cNvSpPr>
            <a:spLocks noGrp="1"/>
          </p:cNvSpPr>
          <p:nvPr>
            <p:ph type="ftr" sz="quarter" idx="12"/>
          </p:nvPr>
        </p:nvSpPr>
        <p:spPr/>
        <p:txBody>
          <a:bodyPr/>
          <a:lstStyle/>
          <a:p>
            <a:r>
              <a:rPr lang="en-US" smtClean="0"/>
              <a:t>West Virginia Division of Highways</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BB50DC-B9DC-45AA-A21B-CFCCBD24870C}" type="slidenum">
              <a:rPr lang="en-US"/>
              <a:pPr/>
              <a:t>5</a:t>
            </a:fld>
            <a:endParaRPr lang="en-US"/>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r>
              <a:rPr lang="en-US" dirty="0"/>
              <a:t>Bigger water allows bigger boats </a:t>
            </a:r>
            <a:r>
              <a:rPr lang="en-US" dirty="0" smtClean="0"/>
              <a:t>and </a:t>
            </a:r>
            <a:r>
              <a:rPr lang="en-US" dirty="0"/>
              <a:t>usually bigger trailers, and more of them. So you need bigger public access areas. Both for the increased numbers of boats and the increased size of them.</a:t>
            </a:r>
          </a:p>
        </p:txBody>
      </p:sp>
      <p:sp>
        <p:nvSpPr>
          <p:cNvPr id="2" name="Date Placeholder 1"/>
          <p:cNvSpPr>
            <a:spLocks noGrp="1"/>
          </p:cNvSpPr>
          <p:nvPr>
            <p:ph type="dt" idx="10"/>
          </p:nvPr>
        </p:nvSpPr>
        <p:spPr/>
        <p:txBody>
          <a:bodyPr/>
          <a:lstStyle/>
          <a:p>
            <a:r>
              <a:rPr lang="en-US" smtClean="0"/>
              <a:t>9/8/2012</a:t>
            </a:r>
            <a:endParaRPr lang="en-US"/>
          </a:p>
        </p:txBody>
      </p:sp>
      <p:sp>
        <p:nvSpPr>
          <p:cNvPr id="3" name="Header Placeholder 2"/>
          <p:cNvSpPr>
            <a:spLocks noGrp="1"/>
          </p:cNvSpPr>
          <p:nvPr>
            <p:ph type="hdr" sz="quarter" idx="11"/>
          </p:nvPr>
        </p:nvSpPr>
        <p:spPr/>
        <p:txBody>
          <a:bodyPr/>
          <a:lstStyle/>
          <a:p>
            <a:r>
              <a:rPr lang="en-US" smtClean="0"/>
              <a:t>Water Trail Designation</a:t>
            </a:r>
            <a:endParaRPr lang="en-US"/>
          </a:p>
        </p:txBody>
      </p:sp>
      <p:sp>
        <p:nvSpPr>
          <p:cNvPr id="4" name="Footer Placeholder 3"/>
          <p:cNvSpPr>
            <a:spLocks noGrp="1"/>
          </p:cNvSpPr>
          <p:nvPr>
            <p:ph type="ftr" sz="quarter" idx="12"/>
          </p:nvPr>
        </p:nvSpPr>
        <p:spPr/>
        <p:txBody>
          <a:bodyPr/>
          <a:lstStyle/>
          <a:p>
            <a:r>
              <a:rPr lang="en-US" smtClean="0"/>
              <a:t>West Virginia Division of Highways</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D98C6D-CF7F-4B5F-A8D7-869DD98126A0}" type="slidenum">
              <a:rPr lang="en-US"/>
              <a:pPr/>
              <a:t>7</a:t>
            </a:fld>
            <a:endParaRPr lang="en-US"/>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r>
              <a:rPr lang="en-US"/>
              <a:t>The primary sponsor is the group we will hold responsible.  In the past, local government sponsors and established non-profit groups have been given more credibility than a newly organized non-profit.</a:t>
            </a:r>
          </a:p>
          <a:p>
            <a:endParaRPr lang="en-US"/>
          </a:p>
        </p:txBody>
      </p:sp>
      <p:sp>
        <p:nvSpPr>
          <p:cNvPr id="2" name="Date Placeholder 1"/>
          <p:cNvSpPr>
            <a:spLocks noGrp="1"/>
          </p:cNvSpPr>
          <p:nvPr>
            <p:ph type="dt" idx="10"/>
          </p:nvPr>
        </p:nvSpPr>
        <p:spPr/>
        <p:txBody>
          <a:bodyPr/>
          <a:lstStyle/>
          <a:p>
            <a:r>
              <a:rPr lang="en-US" smtClean="0"/>
              <a:t>9/8/2012</a:t>
            </a:r>
            <a:endParaRPr lang="en-US"/>
          </a:p>
        </p:txBody>
      </p:sp>
      <p:sp>
        <p:nvSpPr>
          <p:cNvPr id="3" name="Header Placeholder 2"/>
          <p:cNvSpPr>
            <a:spLocks noGrp="1"/>
          </p:cNvSpPr>
          <p:nvPr>
            <p:ph type="hdr" sz="quarter" idx="11"/>
          </p:nvPr>
        </p:nvSpPr>
        <p:spPr/>
        <p:txBody>
          <a:bodyPr/>
          <a:lstStyle/>
          <a:p>
            <a:r>
              <a:rPr lang="en-US" smtClean="0"/>
              <a:t>Water Trail Designation</a:t>
            </a:r>
            <a:endParaRPr lang="en-US"/>
          </a:p>
        </p:txBody>
      </p:sp>
      <p:sp>
        <p:nvSpPr>
          <p:cNvPr id="4" name="Footer Placeholder 3"/>
          <p:cNvSpPr>
            <a:spLocks noGrp="1"/>
          </p:cNvSpPr>
          <p:nvPr>
            <p:ph type="ftr" sz="quarter" idx="12"/>
          </p:nvPr>
        </p:nvSpPr>
        <p:spPr/>
        <p:txBody>
          <a:bodyPr/>
          <a:lstStyle/>
          <a:p>
            <a:r>
              <a:rPr lang="en-US" smtClean="0"/>
              <a:t>West Virginia Division of Highways</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290553-4007-44E8-A1F3-7D31BFE5C243}" type="slidenum">
              <a:rPr lang="en-US"/>
              <a:pPr/>
              <a:t>8</a:t>
            </a:fld>
            <a:endParaRPr lang="en-US"/>
          </a:p>
        </p:txBody>
      </p:sp>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p:txBody>
          <a:bodyPr/>
          <a:lstStyle/>
          <a:p>
            <a:r>
              <a:rPr lang="en-US"/>
              <a:t>Now lets talk about how you can get your stream or lake designated as a water trail.</a:t>
            </a:r>
          </a:p>
          <a:p>
            <a:r>
              <a:rPr lang="en-US"/>
              <a:t>To begin you need to submit a draft application for designation to the Chairman of the WVRTAB.  We don’t have a particular form for this. Instead you just send a letter identifying the stream along with certain information.  First, include a map, topo maps or county highways are fine.  Make sure the maps include all the information needed.</a:t>
            </a:r>
          </a:p>
          <a:p>
            <a:endParaRPr lang="en-US"/>
          </a:p>
        </p:txBody>
      </p:sp>
      <p:sp>
        <p:nvSpPr>
          <p:cNvPr id="2" name="Date Placeholder 1"/>
          <p:cNvSpPr>
            <a:spLocks noGrp="1"/>
          </p:cNvSpPr>
          <p:nvPr>
            <p:ph type="dt" idx="10"/>
          </p:nvPr>
        </p:nvSpPr>
        <p:spPr/>
        <p:txBody>
          <a:bodyPr/>
          <a:lstStyle/>
          <a:p>
            <a:r>
              <a:rPr lang="en-US" smtClean="0"/>
              <a:t>9/8/2012</a:t>
            </a:r>
            <a:endParaRPr lang="en-US"/>
          </a:p>
        </p:txBody>
      </p:sp>
      <p:sp>
        <p:nvSpPr>
          <p:cNvPr id="3" name="Header Placeholder 2"/>
          <p:cNvSpPr>
            <a:spLocks noGrp="1"/>
          </p:cNvSpPr>
          <p:nvPr>
            <p:ph type="hdr" sz="quarter" idx="11"/>
          </p:nvPr>
        </p:nvSpPr>
        <p:spPr/>
        <p:txBody>
          <a:bodyPr/>
          <a:lstStyle/>
          <a:p>
            <a:r>
              <a:rPr lang="en-US" smtClean="0"/>
              <a:t>Water Trail Designation</a:t>
            </a:r>
            <a:endParaRPr lang="en-US"/>
          </a:p>
        </p:txBody>
      </p:sp>
      <p:sp>
        <p:nvSpPr>
          <p:cNvPr id="4" name="Footer Placeholder 3"/>
          <p:cNvSpPr>
            <a:spLocks noGrp="1"/>
          </p:cNvSpPr>
          <p:nvPr>
            <p:ph type="ftr" sz="quarter" idx="12"/>
          </p:nvPr>
        </p:nvSpPr>
        <p:spPr/>
        <p:txBody>
          <a:bodyPr/>
          <a:lstStyle/>
          <a:p>
            <a:r>
              <a:rPr lang="en-US" smtClean="0"/>
              <a:t>West Virginia Division of Highways</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59F000-2052-4808-ADB8-3CCE463C2D27}" type="slidenum">
              <a:rPr lang="en-US"/>
              <a:pPr/>
              <a:t>9</a:t>
            </a:fld>
            <a:endParaRPr lang="en-US"/>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r>
              <a:rPr lang="en-US"/>
              <a:t>Most maps won’t have water trail obstacles marked.  These could be old locks and dams no longer in use. Low water dams  used to provide water for a community, natural water falls, or shoals where the water is usually too low for easy navigation.</a:t>
            </a:r>
          </a:p>
        </p:txBody>
      </p:sp>
      <p:sp>
        <p:nvSpPr>
          <p:cNvPr id="2" name="Date Placeholder 1"/>
          <p:cNvSpPr>
            <a:spLocks noGrp="1"/>
          </p:cNvSpPr>
          <p:nvPr>
            <p:ph type="dt" idx="10"/>
          </p:nvPr>
        </p:nvSpPr>
        <p:spPr/>
        <p:txBody>
          <a:bodyPr/>
          <a:lstStyle/>
          <a:p>
            <a:r>
              <a:rPr lang="en-US" smtClean="0"/>
              <a:t>9/8/2012</a:t>
            </a:r>
            <a:endParaRPr lang="en-US"/>
          </a:p>
        </p:txBody>
      </p:sp>
      <p:sp>
        <p:nvSpPr>
          <p:cNvPr id="3" name="Header Placeholder 2"/>
          <p:cNvSpPr>
            <a:spLocks noGrp="1"/>
          </p:cNvSpPr>
          <p:nvPr>
            <p:ph type="hdr" sz="quarter" idx="11"/>
          </p:nvPr>
        </p:nvSpPr>
        <p:spPr/>
        <p:txBody>
          <a:bodyPr/>
          <a:lstStyle/>
          <a:p>
            <a:r>
              <a:rPr lang="en-US" smtClean="0"/>
              <a:t>Water Trail Designation</a:t>
            </a:r>
            <a:endParaRPr lang="en-US"/>
          </a:p>
        </p:txBody>
      </p:sp>
      <p:sp>
        <p:nvSpPr>
          <p:cNvPr id="4" name="Footer Placeholder 3"/>
          <p:cNvSpPr>
            <a:spLocks noGrp="1"/>
          </p:cNvSpPr>
          <p:nvPr>
            <p:ph type="ftr" sz="quarter" idx="12"/>
          </p:nvPr>
        </p:nvSpPr>
        <p:spPr/>
        <p:txBody>
          <a:bodyPr/>
          <a:lstStyle/>
          <a:p>
            <a:r>
              <a:rPr lang="en-US" smtClean="0"/>
              <a:t>West Virginia Division of Highways</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F03D1B-6603-404B-AF7B-5464FCF00884}" type="slidenum">
              <a:rPr lang="en-US"/>
              <a:pPr/>
              <a:t>10</a:t>
            </a:fld>
            <a:endParaRPr lang="en-US"/>
          </a:p>
        </p:txBody>
      </p:sp>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p:txBody>
          <a:bodyPr/>
          <a:lstStyle/>
          <a:p>
            <a:r>
              <a:rPr lang="en-US"/>
              <a:t>Mark where the existing access points are and any proposed access points and portage trails.  Here the heavy black lines are two proposed access points.  The red line is the proposed portage trail connecting them.  I have watched kayakers ride over the falls shown in this picture. In fact I have done it.  But I won’t do it again and I don’t think my wife could do it.</a:t>
            </a:r>
          </a:p>
        </p:txBody>
      </p:sp>
      <p:sp>
        <p:nvSpPr>
          <p:cNvPr id="2" name="Date Placeholder 1"/>
          <p:cNvSpPr>
            <a:spLocks noGrp="1"/>
          </p:cNvSpPr>
          <p:nvPr>
            <p:ph type="dt" idx="10"/>
          </p:nvPr>
        </p:nvSpPr>
        <p:spPr/>
        <p:txBody>
          <a:bodyPr/>
          <a:lstStyle/>
          <a:p>
            <a:r>
              <a:rPr lang="en-US" smtClean="0"/>
              <a:t>9/8/2012</a:t>
            </a:r>
            <a:endParaRPr lang="en-US"/>
          </a:p>
        </p:txBody>
      </p:sp>
      <p:sp>
        <p:nvSpPr>
          <p:cNvPr id="3" name="Header Placeholder 2"/>
          <p:cNvSpPr>
            <a:spLocks noGrp="1"/>
          </p:cNvSpPr>
          <p:nvPr>
            <p:ph type="hdr" sz="quarter" idx="11"/>
          </p:nvPr>
        </p:nvSpPr>
        <p:spPr/>
        <p:txBody>
          <a:bodyPr/>
          <a:lstStyle/>
          <a:p>
            <a:r>
              <a:rPr lang="en-US" smtClean="0"/>
              <a:t>Water Trail Designation</a:t>
            </a:r>
            <a:endParaRPr lang="en-US"/>
          </a:p>
        </p:txBody>
      </p:sp>
      <p:sp>
        <p:nvSpPr>
          <p:cNvPr id="4" name="Footer Placeholder 3"/>
          <p:cNvSpPr>
            <a:spLocks noGrp="1"/>
          </p:cNvSpPr>
          <p:nvPr>
            <p:ph type="ftr" sz="quarter" idx="12"/>
          </p:nvPr>
        </p:nvSpPr>
        <p:spPr/>
        <p:txBody>
          <a:bodyPr/>
          <a:lstStyle/>
          <a:p>
            <a:r>
              <a:rPr lang="en-US" smtClean="0"/>
              <a:t>West Virginia Division of Highways</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D0FA74-9850-49CF-A928-5B1F2F219102}" type="slidenum">
              <a:rPr lang="en-US"/>
              <a:pPr/>
              <a:t>11</a:t>
            </a:fld>
            <a:endParaRPr lang="en-US"/>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r>
              <a:rPr lang="en-US"/>
              <a:t>Include in your draft application a narrative about the recreational, scenic, historic or educational aspects of your proposed water trail.  Some water trails will include all four. All of them will include at least two of the four.</a:t>
            </a:r>
          </a:p>
        </p:txBody>
      </p:sp>
      <p:sp>
        <p:nvSpPr>
          <p:cNvPr id="2" name="Date Placeholder 1"/>
          <p:cNvSpPr>
            <a:spLocks noGrp="1"/>
          </p:cNvSpPr>
          <p:nvPr>
            <p:ph type="dt" idx="10"/>
          </p:nvPr>
        </p:nvSpPr>
        <p:spPr/>
        <p:txBody>
          <a:bodyPr/>
          <a:lstStyle/>
          <a:p>
            <a:r>
              <a:rPr lang="en-US" smtClean="0"/>
              <a:t>9/8/2012</a:t>
            </a:r>
            <a:endParaRPr lang="en-US"/>
          </a:p>
        </p:txBody>
      </p:sp>
      <p:sp>
        <p:nvSpPr>
          <p:cNvPr id="3" name="Header Placeholder 2"/>
          <p:cNvSpPr>
            <a:spLocks noGrp="1"/>
          </p:cNvSpPr>
          <p:nvPr>
            <p:ph type="hdr" sz="quarter" idx="11"/>
          </p:nvPr>
        </p:nvSpPr>
        <p:spPr/>
        <p:txBody>
          <a:bodyPr/>
          <a:lstStyle/>
          <a:p>
            <a:r>
              <a:rPr lang="en-US" smtClean="0"/>
              <a:t>Water Trail Designation</a:t>
            </a:r>
            <a:endParaRPr lang="en-US"/>
          </a:p>
        </p:txBody>
      </p:sp>
      <p:sp>
        <p:nvSpPr>
          <p:cNvPr id="4" name="Footer Placeholder 3"/>
          <p:cNvSpPr>
            <a:spLocks noGrp="1"/>
          </p:cNvSpPr>
          <p:nvPr>
            <p:ph type="ftr" sz="quarter" idx="12"/>
          </p:nvPr>
        </p:nvSpPr>
        <p:spPr/>
        <p:txBody>
          <a:bodyPr/>
          <a:lstStyle/>
          <a:p>
            <a:r>
              <a:rPr lang="en-US" smtClean="0"/>
              <a:t>West Virginia Division of Highways</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DBC828-5F99-4D17-95EC-8197910D59AE}" type="slidenum">
              <a:rPr lang="en-US"/>
              <a:pPr/>
              <a:t>12</a:t>
            </a:fld>
            <a:endParaRPr lang="en-US"/>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p:txBody>
          <a:bodyPr/>
          <a:lstStyle/>
          <a:p>
            <a:r>
              <a:rPr lang="en-US"/>
              <a:t>Submit your draft request for designation to Bill Robinson.  After he reads it, I’ll get it.  After I read it, Bill and I will discuss your application, do some research on the data provided and contact you to set up a meeting to discuss refining your request to sure it meets all the criteria.  Up to this point we can deal with crayon on butcher paper quality in the submission.  The final version that goes to the full RTAB needs to be a quality document.  We’ll help you do that.  </a:t>
            </a:r>
          </a:p>
        </p:txBody>
      </p:sp>
      <p:sp>
        <p:nvSpPr>
          <p:cNvPr id="2" name="Date Placeholder 1"/>
          <p:cNvSpPr>
            <a:spLocks noGrp="1"/>
          </p:cNvSpPr>
          <p:nvPr>
            <p:ph type="dt" idx="10"/>
          </p:nvPr>
        </p:nvSpPr>
        <p:spPr/>
        <p:txBody>
          <a:bodyPr/>
          <a:lstStyle/>
          <a:p>
            <a:r>
              <a:rPr lang="en-US" smtClean="0"/>
              <a:t>9/8/2012</a:t>
            </a:r>
            <a:endParaRPr lang="en-US"/>
          </a:p>
        </p:txBody>
      </p:sp>
      <p:sp>
        <p:nvSpPr>
          <p:cNvPr id="3" name="Header Placeholder 2"/>
          <p:cNvSpPr>
            <a:spLocks noGrp="1"/>
          </p:cNvSpPr>
          <p:nvPr>
            <p:ph type="hdr" sz="quarter" idx="11"/>
          </p:nvPr>
        </p:nvSpPr>
        <p:spPr/>
        <p:txBody>
          <a:bodyPr/>
          <a:lstStyle/>
          <a:p>
            <a:r>
              <a:rPr lang="en-US" smtClean="0"/>
              <a:t>Water Trail Designation</a:t>
            </a:r>
            <a:endParaRPr lang="en-US"/>
          </a:p>
        </p:txBody>
      </p:sp>
      <p:sp>
        <p:nvSpPr>
          <p:cNvPr id="4" name="Footer Placeholder 3"/>
          <p:cNvSpPr>
            <a:spLocks noGrp="1"/>
          </p:cNvSpPr>
          <p:nvPr>
            <p:ph type="ftr" sz="quarter" idx="12"/>
          </p:nvPr>
        </p:nvSpPr>
        <p:spPr/>
        <p:txBody>
          <a:bodyPr/>
          <a:lstStyle/>
          <a:p>
            <a:r>
              <a:rPr lang="en-US" smtClean="0"/>
              <a:t>West Virginia Division of Highways</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BDF00A-16E9-456E-A3FF-3D15927550D3}" type="slidenum">
              <a:rPr lang="en-US"/>
              <a:pPr/>
              <a:t>13</a:t>
            </a:fld>
            <a:endParaRPr lang="en-US"/>
          </a:p>
        </p:txBody>
      </p:sp>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p:txBody>
          <a:bodyPr/>
          <a:lstStyle/>
          <a:p>
            <a:r>
              <a:rPr lang="en-US"/>
              <a:t>In preparing your final submission you need to address some things that were not covered in the initial draft.  One big thing is a series of public meetins. </a:t>
            </a:r>
          </a:p>
          <a:p>
            <a:r>
              <a:rPr lang="en-US"/>
              <a:t>Most recent draft</a:t>
            </a:r>
          </a:p>
          <a:p>
            <a:r>
              <a:rPr lang="en-US"/>
              <a:t>Invite all local gov</a:t>
            </a:r>
          </a:p>
          <a:p>
            <a:r>
              <a:rPr lang="en-US"/>
              <a:t>Invite RTAB and local WV District Wildlife Biologist</a:t>
            </a:r>
          </a:p>
          <a:p>
            <a:endParaRPr lang="en-US"/>
          </a:p>
        </p:txBody>
      </p:sp>
      <p:sp>
        <p:nvSpPr>
          <p:cNvPr id="2" name="Date Placeholder 1"/>
          <p:cNvSpPr>
            <a:spLocks noGrp="1"/>
          </p:cNvSpPr>
          <p:nvPr>
            <p:ph type="dt" idx="10"/>
          </p:nvPr>
        </p:nvSpPr>
        <p:spPr/>
        <p:txBody>
          <a:bodyPr/>
          <a:lstStyle/>
          <a:p>
            <a:r>
              <a:rPr lang="en-US" smtClean="0"/>
              <a:t>9/8/2012</a:t>
            </a:r>
            <a:endParaRPr lang="en-US"/>
          </a:p>
        </p:txBody>
      </p:sp>
      <p:sp>
        <p:nvSpPr>
          <p:cNvPr id="3" name="Header Placeholder 2"/>
          <p:cNvSpPr>
            <a:spLocks noGrp="1"/>
          </p:cNvSpPr>
          <p:nvPr>
            <p:ph type="hdr" sz="quarter" idx="11"/>
          </p:nvPr>
        </p:nvSpPr>
        <p:spPr/>
        <p:txBody>
          <a:bodyPr/>
          <a:lstStyle/>
          <a:p>
            <a:r>
              <a:rPr lang="en-US" smtClean="0"/>
              <a:t>Water Trail Designation</a:t>
            </a:r>
            <a:endParaRPr lang="en-US"/>
          </a:p>
        </p:txBody>
      </p:sp>
      <p:sp>
        <p:nvSpPr>
          <p:cNvPr id="4" name="Footer Placeholder 3"/>
          <p:cNvSpPr>
            <a:spLocks noGrp="1"/>
          </p:cNvSpPr>
          <p:nvPr>
            <p:ph type="ftr" sz="quarter" idx="12"/>
          </p:nvPr>
        </p:nvSpPr>
        <p:spPr/>
        <p:txBody>
          <a:bodyPr/>
          <a:lstStyle/>
          <a:p>
            <a:r>
              <a:rPr lang="en-US" smtClean="0"/>
              <a:t>West Virginia Division of Highways</a:t>
            </a: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69925F-2429-4D06-990E-4DDC983E1B72}" type="slidenum">
              <a:rPr lang="en-US"/>
              <a:pPr/>
              <a:t>14</a:t>
            </a:fld>
            <a:endParaRPr lang="en-US"/>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p:txBody>
          <a:bodyPr/>
          <a:lstStyle/>
          <a:p>
            <a:r>
              <a:rPr lang="en-US"/>
              <a:t>This list should not be considered a table of contents for your application.  Every stream is different and every application for a water trail will probably be different.  But these are the items you have to address in your application. We don’t care what order they are addressed but the must be covered.</a:t>
            </a:r>
          </a:p>
        </p:txBody>
      </p:sp>
      <p:sp>
        <p:nvSpPr>
          <p:cNvPr id="2" name="Date Placeholder 1"/>
          <p:cNvSpPr>
            <a:spLocks noGrp="1"/>
          </p:cNvSpPr>
          <p:nvPr>
            <p:ph type="dt" idx="10"/>
          </p:nvPr>
        </p:nvSpPr>
        <p:spPr/>
        <p:txBody>
          <a:bodyPr/>
          <a:lstStyle/>
          <a:p>
            <a:r>
              <a:rPr lang="en-US" smtClean="0"/>
              <a:t>9/8/2012</a:t>
            </a:r>
            <a:endParaRPr lang="en-US"/>
          </a:p>
        </p:txBody>
      </p:sp>
      <p:sp>
        <p:nvSpPr>
          <p:cNvPr id="3" name="Header Placeholder 2"/>
          <p:cNvSpPr>
            <a:spLocks noGrp="1"/>
          </p:cNvSpPr>
          <p:nvPr>
            <p:ph type="hdr" sz="quarter" idx="11"/>
          </p:nvPr>
        </p:nvSpPr>
        <p:spPr/>
        <p:txBody>
          <a:bodyPr/>
          <a:lstStyle/>
          <a:p>
            <a:r>
              <a:rPr lang="en-US" smtClean="0"/>
              <a:t>Water Trail Designation</a:t>
            </a:r>
            <a:endParaRPr lang="en-US"/>
          </a:p>
        </p:txBody>
      </p:sp>
      <p:sp>
        <p:nvSpPr>
          <p:cNvPr id="4" name="Footer Placeholder 3"/>
          <p:cNvSpPr>
            <a:spLocks noGrp="1"/>
          </p:cNvSpPr>
          <p:nvPr>
            <p:ph type="ftr" sz="quarter" idx="12"/>
          </p:nvPr>
        </p:nvSpPr>
        <p:spPr/>
        <p:txBody>
          <a:bodyPr/>
          <a:lstStyle/>
          <a:p>
            <a:r>
              <a:rPr lang="en-US" smtClean="0"/>
              <a:t>West Virginia Division of Highways</a:t>
            </a: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5FAE01-5E90-435C-9D2F-E30E2CD27D3C}" type="slidenum">
              <a:rPr lang="en-US"/>
              <a:pPr/>
              <a:t>15</a:t>
            </a:fld>
            <a:endParaRPr lang="en-US"/>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r>
              <a:rPr lang="en-US"/>
              <a:t>If you choose to apply for an 80/20 grant from the WV RTAB for your water trail certain things are eligible:</a:t>
            </a:r>
          </a:p>
          <a:p>
            <a:r>
              <a:rPr lang="en-US"/>
              <a:t>Public access areas including parking for trail users, informational kiosks, benches, trash cans, potable water, restrooms and similar things at the public access sites for users of the trail, camp sites for the trail users, and GUIDE BOOKS AND MAPS THAT INCLUDE A SAFTETY MESSAGE.</a:t>
            </a:r>
          </a:p>
        </p:txBody>
      </p:sp>
      <p:sp>
        <p:nvSpPr>
          <p:cNvPr id="2" name="Date Placeholder 1"/>
          <p:cNvSpPr>
            <a:spLocks noGrp="1"/>
          </p:cNvSpPr>
          <p:nvPr>
            <p:ph type="dt" idx="10"/>
          </p:nvPr>
        </p:nvSpPr>
        <p:spPr/>
        <p:txBody>
          <a:bodyPr/>
          <a:lstStyle/>
          <a:p>
            <a:r>
              <a:rPr lang="en-US" smtClean="0"/>
              <a:t>9/8/2012</a:t>
            </a:r>
            <a:endParaRPr lang="en-US"/>
          </a:p>
        </p:txBody>
      </p:sp>
      <p:sp>
        <p:nvSpPr>
          <p:cNvPr id="3" name="Header Placeholder 2"/>
          <p:cNvSpPr>
            <a:spLocks noGrp="1"/>
          </p:cNvSpPr>
          <p:nvPr>
            <p:ph type="hdr" sz="quarter" idx="11"/>
          </p:nvPr>
        </p:nvSpPr>
        <p:spPr/>
        <p:txBody>
          <a:bodyPr/>
          <a:lstStyle/>
          <a:p>
            <a:r>
              <a:rPr lang="en-US" smtClean="0"/>
              <a:t>Water Trail Designation</a:t>
            </a:r>
            <a:endParaRPr lang="en-US"/>
          </a:p>
        </p:txBody>
      </p:sp>
      <p:sp>
        <p:nvSpPr>
          <p:cNvPr id="4" name="Footer Placeholder 3"/>
          <p:cNvSpPr>
            <a:spLocks noGrp="1"/>
          </p:cNvSpPr>
          <p:nvPr>
            <p:ph type="ftr" sz="quarter" idx="12"/>
          </p:nvPr>
        </p:nvSpPr>
        <p:spPr/>
        <p:txBody>
          <a:bodyPr/>
          <a:lstStyle/>
          <a:p>
            <a:r>
              <a:rPr lang="en-US" smtClean="0"/>
              <a:t>West Virginia Division of Highways</a:t>
            </a: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A2EBF9-69DA-42ED-9D49-91601E64A6C2}" type="slidenum">
              <a:rPr lang="en-US"/>
              <a:pPr/>
              <a:t>16</a:t>
            </a:fld>
            <a:endParaRPr lang="en-US"/>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p:txBody>
          <a:bodyPr/>
          <a:lstStyle/>
          <a:p>
            <a:r>
              <a:rPr lang="en-US"/>
              <a:t>What the RTAB won’t fund are play grounds, road signs, and things that aren’t intended for use by those on the trail itself. Like overlooks so motorists can photograph people on the water trail as they go by.  If you aren’t sure if what you want to do is eligible, call Bill or I and we’ll tell you.  We may have to do some research if it is something we haven’t run into before, but we’ll find out.</a:t>
            </a:r>
          </a:p>
        </p:txBody>
      </p:sp>
      <p:sp>
        <p:nvSpPr>
          <p:cNvPr id="2" name="Date Placeholder 1"/>
          <p:cNvSpPr>
            <a:spLocks noGrp="1"/>
          </p:cNvSpPr>
          <p:nvPr>
            <p:ph type="dt" idx="10"/>
          </p:nvPr>
        </p:nvSpPr>
        <p:spPr/>
        <p:txBody>
          <a:bodyPr/>
          <a:lstStyle/>
          <a:p>
            <a:r>
              <a:rPr lang="en-US" smtClean="0"/>
              <a:t>9/8/2012</a:t>
            </a:r>
            <a:endParaRPr lang="en-US"/>
          </a:p>
        </p:txBody>
      </p:sp>
      <p:sp>
        <p:nvSpPr>
          <p:cNvPr id="3" name="Header Placeholder 2"/>
          <p:cNvSpPr>
            <a:spLocks noGrp="1"/>
          </p:cNvSpPr>
          <p:nvPr>
            <p:ph type="hdr" sz="quarter" idx="11"/>
          </p:nvPr>
        </p:nvSpPr>
        <p:spPr/>
        <p:txBody>
          <a:bodyPr/>
          <a:lstStyle/>
          <a:p>
            <a:r>
              <a:rPr lang="en-US" smtClean="0"/>
              <a:t>Water Trail Designation</a:t>
            </a:r>
            <a:endParaRPr lang="en-US"/>
          </a:p>
        </p:txBody>
      </p:sp>
      <p:sp>
        <p:nvSpPr>
          <p:cNvPr id="4" name="Footer Placeholder 3"/>
          <p:cNvSpPr>
            <a:spLocks noGrp="1"/>
          </p:cNvSpPr>
          <p:nvPr>
            <p:ph type="ftr" sz="quarter" idx="12"/>
          </p:nvPr>
        </p:nvSpPr>
        <p:spPr/>
        <p:txBody>
          <a:bodyPr/>
          <a:lstStyle/>
          <a:p>
            <a:r>
              <a:rPr lang="en-US" smtClean="0"/>
              <a:t>West Virginia Division of Highways</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56F409F-2DC0-4901-AF0F-348C2F9D6482}" type="datetimeFigureOut">
              <a:rPr lang="en-US" smtClean="0"/>
              <a:t>9/8/2012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6A1F57-6CD9-4D2D-BA72-F42D0B182B0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6F409F-2DC0-4901-AF0F-348C2F9D6482}" type="datetimeFigureOut">
              <a:rPr lang="en-US" smtClean="0"/>
              <a:t>9/8/2012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6A1F57-6CD9-4D2D-BA72-F42D0B182B0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56F409F-2DC0-4901-AF0F-348C2F9D6482}" type="datetimeFigureOut">
              <a:rPr lang="en-US" smtClean="0"/>
              <a:t>9/8/2012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6A1F57-6CD9-4D2D-BA72-F42D0B182B0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56F409F-2DC0-4901-AF0F-348C2F9D6482}" type="datetimeFigureOut">
              <a:rPr lang="en-US" smtClean="0"/>
              <a:t>9/8/2012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6A1F57-6CD9-4D2D-BA72-F42D0B182B0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56F409F-2DC0-4901-AF0F-348C2F9D6482}" type="datetimeFigureOut">
              <a:rPr lang="en-US" smtClean="0"/>
              <a:t>9/8/2012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6A1F57-6CD9-4D2D-BA72-F42D0B182B0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56F409F-2DC0-4901-AF0F-348C2F9D6482}" type="datetimeFigureOut">
              <a:rPr lang="en-US" smtClean="0"/>
              <a:t>9/8/2012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6A1F57-6CD9-4D2D-BA72-F42D0B182B0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6F409F-2DC0-4901-AF0F-348C2F9D6482}" type="datetimeFigureOut">
              <a:rPr lang="en-US" smtClean="0"/>
              <a:t>9/8/2012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6A1F57-6CD9-4D2D-BA72-F42D0B182B0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56F409F-2DC0-4901-AF0F-348C2F9D6482}" type="datetimeFigureOut">
              <a:rPr lang="en-US" smtClean="0"/>
              <a:t>9/8/2012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6A1F57-6CD9-4D2D-BA72-F42D0B182B0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56F409F-2DC0-4901-AF0F-348C2F9D6482}" type="datetimeFigureOut">
              <a:rPr lang="en-US" smtClean="0"/>
              <a:t>9/8/2012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6A1F57-6CD9-4D2D-BA72-F42D0B182B0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6F409F-2DC0-4901-AF0F-348C2F9D6482}" type="datetimeFigureOut">
              <a:rPr lang="en-US" smtClean="0"/>
              <a:t>9/8/2012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6A1F57-6CD9-4D2D-BA72-F42D0B182B0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6F409F-2DC0-4901-AF0F-348C2F9D6482}" type="datetimeFigureOut">
              <a:rPr lang="en-US" smtClean="0"/>
              <a:t>9/8/2012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6A1F57-6CD9-4D2D-BA72-F42D0B182B0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6F409F-2DC0-4901-AF0F-348C2F9D6482}" type="datetimeFigureOut">
              <a:rPr lang="en-US" smtClean="0"/>
              <a:t>9/8/2012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6A1F57-6CD9-4D2D-BA72-F42D0B182B0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9.jpe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jpeg"/></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1026" name="Picture 2" descr="C:\Users\B465336\AppData\Local\Microsoft\Windows\Temporary Internet Files\Content.Outlook\Z2E5CL8N\IMG_0171 (2).JPG"/>
          <p:cNvPicPr>
            <a:picLocks noChangeAspect="1" noChangeArrowheads="1"/>
          </p:cNvPicPr>
          <p:nvPr/>
        </p:nvPicPr>
        <p:blipFill>
          <a:blip r:embed="rId3" cstate="print"/>
          <a:srcRect/>
          <a:stretch>
            <a:fillRect/>
          </a:stretch>
        </p:blipFill>
        <p:spPr bwMode="auto">
          <a:xfrm>
            <a:off x="0" y="0"/>
            <a:ext cx="9144000" cy="6858000"/>
          </a:xfrm>
          <a:prstGeom prst="rect">
            <a:avLst/>
          </a:prstGeom>
          <a:noFill/>
        </p:spPr>
      </p:pic>
      <p:sp>
        <p:nvSpPr>
          <p:cNvPr id="5" name="Rectangle 4"/>
          <p:cNvSpPr/>
          <p:nvPr/>
        </p:nvSpPr>
        <p:spPr>
          <a:xfrm>
            <a:off x="838200" y="3626346"/>
            <a:ext cx="8153400" cy="3231654"/>
          </a:xfrm>
          <a:prstGeom prst="rect">
            <a:avLst/>
          </a:prstGeom>
        </p:spPr>
        <p:txBody>
          <a:bodyPr wrap="square">
            <a:spAutoFit/>
          </a:bodyPr>
          <a:lstStyle/>
          <a:p>
            <a:pPr lvl="0" algn="ctr" fontAlgn="base">
              <a:spcBef>
                <a:spcPct val="0"/>
              </a:spcBef>
              <a:spcAft>
                <a:spcPct val="0"/>
              </a:spcAft>
              <a:defRPr/>
            </a:pPr>
            <a:r>
              <a:rPr lang="en-US" sz="4400" b="1" kern="0" dirty="0">
                <a:solidFill>
                  <a:schemeClr val="bg1"/>
                </a:solidFill>
                <a:effectLst>
                  <a:outerShdw blurRad="38100" dist="38100" dir="2700000" algn="tl">
                    <a:srgbClr val="C0C0C0"/>
                  </a:outerShdw>
                </a:effectLst>
                <a:latin typeface="Broadway" pitchFamily="82" charset="0"/>
              </a:rPr>
              <a:t>WATER </a:t>
            </a:r>
            <a:r>
              <a:rPr lang="en-US" sz="4400" b="1" kern="0" dirty="0" smtClean="0">
                <a:solidFill>
                  <a:schemeClr val="bg1"/>
                </a:solidFill>
                <a:effectLst>
                  <a:outerShdw blurRad="38100" dist="38100" dir="2700000" algn="tl">
                    <a:srgbClr val="C0C0C0"/>
                  </a:outerShdw>
                </a:effectLst>
                <a:latin typeface="Broadway" pitchFamily="82" charset="0"/>
              </a:rPr>
              <a:t>TRAILS</a:t>
            </a:r>
          </a:p>
          <a:p>
            <a:pPr lvl="0" algn="ctr" fontAlgn="base">
              <a:spcBef>
                <a:spcPct val="0"/>
              </a:spcBef>
              <a:spcAft>
                <a:spcPct val="0"/>
              </a:spcAft>
              <a:defRPr/>
            </a:pPr>
            <a:r>
              <a:rPr lang="en-US" sz="4400" b="1" kern="0" dirty="0" smtClean="0">
                <a:solidFill>
                  <a:schemeClr val="bg1"/>
                </a:solidFill>
                <a:effectLst>
                  <a:outerShdw blurRad="38100" dist="38100" dir="2700000" algn="tl">
                    <a:srgbClr val="C0C0C0"/>
                  </a:outerShdw>
                </a:effectLst>
                <a:latin typeface="+mn-lt"/>
                <a:ea typeface="+mn-ea"/>
                <a:cs typeface="+mn-cs"/>
              </a:rPr>
              <a:t> </a:t>
            </a:r>
            <a:r>
              <a:rPr lang="en-US" sz="2400" b="1" kern="0" dirty="0" smtClean="0">
                <a:solidFill>
                  <a:schemeClr val="bg1"/>
                </a:solidFill>
                <a:effectLst>
                  <a:outerShdw blurRad="38100" dist="38100" dir="2700000" algn="tl">
                    <a:srgbClr val="C0C0C0"/>
                  </a:outerShdw>
                </a:effectLst>
                <a:latin typeface="+mn-lt"/>
                <a:ea typeface="+mn-ea"/>
                <a:cs typeface="+mn-cs"/>
              </a:rPr>
              <a:t>AND</a:t>
            </a:r>
            <a:r>
              <a:rPr lang="en-US" sz="4400" b="1" kern="0" dirty="0" smtClean="0">
                <a:solidFill>
                  <a:schemeClr val="bg1"/>
                </a:solidFill>
                <a:effectLst>
                  <a:outerShdw blurRad="38100" dist="38100" dir="2700000" algn="tl">
                    <a:srgbClr val="C0C0C0"/>
                  </a:outerShdw>
                </a:effectLst>
                <a:latin typeface="+mn-lt"/>
                <a:ea typeface="+mn-ea"/>
                <a:cs typeface="+mn-cs"/>
              </a:rPr>
              <a:t> </a:t>
            </a:r>
            <a:r>
              <a:rPr lang="en-US" sz="2400" b="1" kern="0" dirty="0" smtClean="0">
                <a:solidFill>
                  <a:schemeClr val="bg1"/>
                </a:solidFill>
                <a:effectLst>
                  <a:outerShdw blurRad="38100" dist="38100" dir="2700000" algn="tl">
                    <a:srgbClr val="C0C0C0"/>
                  </a:outerShdw>
                </a:effectLst>
                <a:latin typeface="+mn-lt"/>
                <a:ea typeface="+mn-ea"/>
                <a:cs typeface="+mn-cs"/>
              </a:rPr>
              <a:t>THE</a:t>
            </a:r>
          </a:p>
          <a:p>
            <a:pPr lvl="0" algn="ctr" fontAlgn="base">
              <a:spcBef>
                <a:spcPct val="0"/>
              </a:spcBef>
              <a:spcAft>
                <a:spcPct val="0"/>
              </a:spcAft>
              <a:defRPr/>
            </a:pPr>
            <a:r>
              <a:rPr lang="en-US" sz="4400" b="1" kern="0" dirty="0" smtClean="0">
                <a:solidFill>
                  <a:schemeClr val="bg1"/>
                </a:solidFill>
                <a:effectLst>
                  <a:outerShdw blurRad="38100" dist="38100" dir="2700000" algn="tl">
                    <a:srgbClr val="C0C0C0"/>
                  </a:outerShdw>
                </a:effectLst>
                <a:latin typeface="+mn-lt"/>
                <a:ea typeface="+mn-ea"/>
                <a:cs typeface="+mn-cs"/>
              </a:rPr>
              <a:t> </a:t>
            </a:r>
            <a:r>
              <a:rPr lang="en-US" sz="3600" b="1" kern="0" dirty="0" smtClean="0">
                <a:solidFill>
                  <a:schemeClr val="bg1"/>
                </a:solidFill>
                <a:effectLst>
                  <a:outerShdw blurRad="38100" dist="38100" dir="2700000" algn="tl">
                    <a:srgbClr val="C0C0C0"/>
                  </a:outerShdw>
                </a:effectLst>
                <a:latin typeface="+mn-lt"/>
                <a:ea typeface="+mn-ea"/>
                <a:cs typeface="+mn-cs"/>
              </a:rPr>
              <a:t>WEST VIRGINIA RECREATIONAL TRAILS ADVISORY BOARD (WVRTAB) PROCESS FOR DESIGNATION</a:t>
            </a:r>
            <a:endParaRPr lang="en-US" sz="3600" b="1" kern="0" dirty="0">
              <a:solidFill>
                <a:schemeClr val="bg1"/>
              </a:solidFill>
              <a:effectLst>
                <a:outerShdw blurRad="38100" dist="38100" dir="2700000" algn="tl">
                  <a:srgbClr val="C0C0C0"/>
                </a:outerShdw>
              </a:effectLst>
              <a:latin typeface="+mn-lt"/>
              <a:ea typeface="+mn-ea"/>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F:\107_029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7890" name="Rectangle 2"/>
          <p:cNvSpPr>
            <a:spLocks noGrp="1" noChangeArrowheads="1"/>
          </p:cNvSpPr>
          <p:nvPr>
            <p:ph type="title"/>
          </p:nvPr>
        </p:nvSpPr>
        <p:spPr>
          <a:xfrm>
            <a:off x="457200" y="3352800"/>
            <a:ext cx="8229600" cy="1143000"/>
          </a:xfrm>
        </p:spPr>
        <p:txBody>
          <a:bodyPr>
            <a:normAutofit fontScale="90000"/>
          </a:bodyPr>
          <a:lstStyle/>
          <a:p>
            <a:r>
              <a:rPr lang="en-US" sz="4000" b="1" dirty="0" smtClean="0">
                <a:solidFill>
                  <a:srgbClr val="FFFF00"/>
                </a:solidFill>
              </a:rPr>
              <a:t>WHAT ARE THE BENEFITS OF A WATER TRAIL?</a:t>
            </a:r>
            <a:endParaRPr lang="en-US" sz="4000" b="1" dirty="0">
              <a:solidFill>
                <a:srgbClr val="FFFF00"/>
              </a:solidFill>
            </a:endParaRPr>
          </a:p>
        </p:txBody>
      </p:sp>
      <p:sp>
        <p:nvSpPr>
          <p:cNvPr id="37891" name="Rectangle 3"/>
          <p:cNvSpPr>
            <a:spLocks noGrp="1" noChangeArrowheads="1"/>
          </p:cNvSpPr>
          <p:nvPr>
            <p:ph type="body" idx="1"/>
          </p:nvPr>
        </p:nvSpPr>
        <p:spPr>
          <a:xfrm>
            <a:off x="533400" y="4724400"/>
            <a:ext cx="8229600" cy="2895600"/>
          </a:xfrm>
        </p:spPr>
        <p:txBody>
          <a:bodyPr/>
          <a:lstStyle/>
          <a:p>
            <a:r>
              <a:rPr lang="en-US" sz="2800" b="1" dirty="0">
                <a:solidFill>
                  <a:srgbClr val="FFFF00"/>
                </a:solidFill>
              </a:rPr>
              <a:t>Increase Tourism.</a:t>
            </a:r>
          </a:p>
          <a:p>
            <a:r>
              <a:rPr lang="en-US" sz="2800" b="1" dirty="0">
                <a:solidFill>
                  <a:srgbClr val="FFFF00"/>
                </a:solidFill>
              </a:rPr>
              <a:t>Improved access and infrastructure for recreational boating.</a:t>
            </a:r>
          </a:p>
          <a:p>
            <a:r>
              <a:rPr lang="en-US" sz="2800" b="1" dirty="0">
                <a:solidFill>
                  <a:srgbClr val="FFFF00"/>
                </a:solidFill>
              </a:rPr>
              <a:t>Improved access and infrastructure for fishing.</a:t>
            </a:r>
          </a:p>
          <a:p>
            <a:endParaRPr lang="en-US" b="1" dirty="0">
              <a:solidFill>
                <a:schemeClr val="bg1"/>
              </a:solidFill>
            </a:endParaRPr>
          </a:p>
        </p:txBody>
      </p:sp>
    </p:spTree>
  </p:cSld>
  <p:clrMapOvr>
    <a:masterClrMapping/>
  </p:clrMapOvr>
  <p:transition advTm="2500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1" name="Picture 9" descr="pier &amp; me"/>
          <p:cNvPicPr>
            <a:picLocks noChangeAspect="1" noChangeArrowheads="1"/>
          </p:cNvPicPr>
          <p:nvPr/>
        </p:nvPicPr>
        <p:blipFill>
          <a:blip r:embed="rId3" cstate="print"/>
          <a:srcRect/>
          <a:stretch>
            <a:fillRect/>
          </a:stretch>
        </p:blipFill>
        <p:spPr bwMode="auto">
          <a:xfrm>
            <a:off x="0" y="0"/>
            <a:ext cx="9144000" cy="6858000"/>
          </a:xfrm>
          <a:prstGeom prst="rect">
            <a:avLst/>
          </a:prstGeom>
          <a:noFill/>
        </p:spPr>
      </p:pic>
      <p:sp>
        <p:nvSpPr>
          <p:cNvPr id="3074" name="Rectangle 2"/>
          <p:cNvSpPr>
            <a:spLocks noGrp="1" noChangeArrowheads="1"/>
          </p:cNvSpPr>
          <p:nvPr>
            <p:ph type="title"/>
          </p:nvPr>
        </p:nvSpPr>
        <p:spPr>
          <a:xfrm>
            <a:off x="457200" y="-152400"/>
            <a:ext cx="8229600" cy="990600"/>
          </a:xfrm>
        </p:spPr>
        <p:txBody>
          <a:bodyPr/>
          <a:lstStyle/>
          <a:p>
            <a:r>
              <a:rPr lang="en-US" b="1" dirty="0">
                <a:solidFill>
                  <a:schemeClr val="tx1"/>
                </a:solidFill>
              </a:rPr>
              <a:t>WHAT IS A WATER TRAIL?</a:t>
            </a:r>
          </a:p>
        </p:txBody>
      </p:sp>
      <p:sp>
        <p:nvSpPr>
          <p:cNvPr id="3075" name="Rectangle 3"/>
          <p:cNvSpPr>
            <a:spLocks noGrp="1" noChangeArrowheads="1"/>
          </p:cNvSpPr>
          <p:nvPr>
            <p:ph type="body" idx="1"/>
          </p:nvPr>
        </p:nvSpPr>
        <p:spPr>
          <a:xfrm>
            <a:off x="3657600" y="685800"/>
            <a:ext cx="5410200" cy="1905000"/>
          </a:xfrm>
        </p:spPr>
        <p:txBody>
          <a:bodyPr>
            <a:normAutofit fontScale="92500" lnSpcReduction="10000"/>
          </a:bodyPr>
          <a:lstStyle/>
          <a:p>
            <a:r>
              <a:rPr lang="en-US" sz="2800" b="1" dirty="0">
                <a:effectLst>
                  <a:outerShdw blurRad="38100" dist="38100" dir="2700000" algn="tl">
                    <a:srgbClr val="C0C0C0"/>
                  </a:outerShdw>
                </a:effectLst>
              </a:rPr>
              <a:t>A water trail is a route on a stream, river</a:t>
            </a:r>
            <a:r>
              <a:rPr lang="en-US" sz="2800" b="1" dirty="0" smtClean="0">
                <a:effectLst>
                  <a:outerShdw blurRad="38100" dist="38100" dir="2700000" algn="tl">
                    <a:srgbClr val="C0C0C0"/>
                  </a:outerShdw>
                </a:effectLst>
              </a:rPr>
              <a:t> or </a:t>
            </a:r>
            <a:r>
              <a:rPr lang="en-US" sz="2800" b="1" dirty="0">
                <a:effectLst>
                  <a:outerShdw blurRad="38100" dist="38100" dir="2700000" algn="tl">
                    <a:srgbClr val="C0C0C0"/>
                  </a:outerShdw>
                </a:effectLst>
              </a:rPr>
              <a:t>lake that provides boaters with a recreational, scenic, historical or educational opportunity.</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F:\107_0289.JPG"/>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13000"/>
                    </a14:imgEffect>
                    <a14:imgEffect>
                      <a14:brightnessContrast bright="-31000" contrast="24000"/>
                    </a14:imgEffect>
                  </a14:imgLayer>
                </a14:imgProps>
              </a:ex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3314" name="Rectangle 2"/>
          <p:cNvSpPr>
            <a:spLocks noGrp="1" noChangeArrowheads="1"/>
          </p:cNvSpPr>
          <p:nvPr>
            <p:ph type="title"/>
          </p:nvPr>
        </p:nvSpPr>
        <p:spPr>
          <a:xfrm>
            <a:off x="2535382" y="381000"/>
            <a:ext cx="6629400" cy="1295400"/>
          </a:xfrm>
        </p:spPr>
        <p:txBody>
          <a:bodyPr>
            <a:noAutofit/>
          </a:bodyPr>
          <a:lstStyle/>
          <a:p>
            <a:r>
              <a:rPr lang="en-US" sz="4000" b="1" dirty="0"/>
              <a:t>A water trail is not just a stream. </a:t>
            </a:r>
            <a:r>
              <a:rPr lang="en-US" sz="4000" b="1" dirty="0" smtClean="0"/>
              <a:t>For designation, a </a:t>
            </a:r>
            <a:r>
              <a:rPr lang="en-US" sz="4000" b="1" dirty="0"/>
              <a:t>water trail </a:t>
            </a:r>
            <a:r>
              <a:rPr lang="en-US" sz="4000" b="1" dirty="0" smtClean="0"/>
              <a:t>must </a:t>
            </a:r>
            <a:r>
              <a:rPr lang="en-US" sz="4000" b="1" dirty="0"/>
              <a:t>be:</a:t>
            </a:r>
          </a:p>
        </p:txBody>
      </p:sp>
      <p:sp>
        <p:nvSpPr>
          <p:cNvPr id="13315" name="Rectangle 3"/>
          <p:cNvSpPr>
            <a:spLocks noGrp="1" noChangeArrowheads="1"/>
          </p:cNvSpPr>
          <p:nvPr>
            <p:ph type="body" idx="1"/>
          </p:nvPr>
        </p:nvSpPr>
        <p:spPr>
          <a:xfrm>
            <a:off x="-76200" y="2819400"/>
            <a:ext cx="5943600" cy="4038600"/>
          </a:xfrm>
        </p:spPr>
        <p:txBody>
          <a:bodyPr>
            <a:noAutofit/>
            <a:scene3d>
              <a:camera prst="orthographicFront"/>
              <a:lightRig rig="threePt" dir="t"/>
            </a:scene3d>
            <a:sp3d extrusionH="57150">
              <a:bevelT h="25400" prst="softRound"/>
              <a:bevelB h="25400" prst="softRound"/>
            </a:sp3d>
          </a:bodyPr>
          <a:lstStyle/>
          <a:p>
            <a:pPr>
              <a:lnSpc>
                <a:spcPct val="80000"/>
              </a:lnSpc>
            </a:pPr>
            <a:r>
              <a:rPr lang="en-US" b="1" dirty="0">
                <a:solidFill>
                  <a:srgbClr val="FFC000"/>
                </a:solidFill>
              </a:rPr>
              <a:t>A nearly contiguous waterway or series of waterways open to paddlers or other boaters</a:t>
            </a:r>
            <a:r>
              <a:rPr lang="en-US" b="1" dirty="0" smtClean="0">
                <a:solidFill>
                  <a:srgbClr val="FFC000"/>
                </a:solidFill>
              </a:rPr>
              <a:t>.</a:t>
            </a:r>
            <a:endParaRPr lang="en-US" b="1" dirty="0">
              <a:solidFill>
                <a:srgbClr val="FFC000"/>
              </a:solidFill>
            </a:endParaRPr>
          </a:p>
          <a:p>
            <a:pPr>
              <a:lnSpc>
                <a:spcPct val="80000"/>
              </a:lnSpc>
            </a:pPr>
            <a:r>
              <a:rPr lang="en-US" b="1" dirty="0">
                <a:solidFill>
                  <a:srgbClr val="FFC000"/>
                </a:solidFill>
              </a:rPr>
              <a:t>At least deep enough and wide enough for a modern John boat, canoe, kayak or similar small boat to maneuver</a:t>
            </a:r>
            <a:r>
              <a:rPr lang="en-US" b="1" dirty="0" smtClean="0">
                <a:solidFill>
                  <a:srgbClr val="FFC000"/>
                </a:solidFill>
              </a:rPr>
              <a:t>.</a:t>
            </a:r>
            <a:endParaRPr lang="en-US" b="1" dirty="0">
              <a:solidFill>
                <a:srgbClr val="FFC000"/>
              </a:solidFill>
            </a:endParaRPr>
          </a:p>
          <a:p>
            <a:pPr>
              <a:lnSpc>
                <a:spcPct val="80000"/>
              </a:lnSpc>
            </a:pPr>
            <a:r>
              <a:rPr lang="en-US" b="1" dirty="0">
                <a:solidFill>
                  <a:srgbClr val="FFC000"/>
                </a:solidFill>
              </a:rPr>
              <a:t>Primarily flat water</a:t>
            </a:r>
            <a:r>
              <a:rPr lang="en-US" b="1" dirty="0" smtClean="0">
                <a:solidFill>
                  <a:srgbClr val="FFC000"/>
                </a:solidFill>
              </a:rPr>
              <a:t>.</a:t>
            </a:r>
            <a:endParaRPr lang="en-US" b="1" dirty="0">
              <a:solidFill>
                <a:srgbClr val="FFC000"/>
              </a:solidFill>
            </a:endParaRPr>
          </a:p>
          <a:p>
            <a:pPr>
              <a:lnSpc>
                <a:spcPct val="80000"/>
              </a:lnSpc>
            </a:pPr>
            <a:r>
              <a:rPr lang="en-US" b="1" dirty="0">
                <a:solidFill>
                  <a:srgbClr val="FFC000"/>
                </a:solidFill>
              </a:rPr>
              <a:t>Accessible to </a:t>
            </a:r>
            <a:r>
              <a:rPr lang="en-US" b="1" dirty="0" smtClean="0">
                <a:solidFill>
                  <a:srgbClr val="FFC000"/>
                </a:solidFill>
              </a:rPr>
              <a:t>the public</a:t>
            </a:r>
            <a:r>
              <a:rPr lang="en-US" b="1" dirty="0">
                <a:solidFill>
                  <a:srgbClr val="FFC000"/>
                </a:solidFill>
              </a:rPr>
              <a:t>.</a:t>
            </a:r>
          </a:p>
        </p:txBody>
      </p:sp>
    </p:spTree>
  </p:cSld>
  <p:clrMapOvr>
    <a:masterClrMapping/>
  </p:clrMapOvr>
  <p:transition advTm="25000"/>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20"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4801" y="1"/>
            <a:ext cx="50292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18" name="Picture 2" descr="F:\107_0288.JPG"/>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0" y="-32657"/>
            <a:ext cx="4114800" cy="3461657"/>
          </a:xfrm>
          <a:prstGeom prst="rect">
            <a:avLst/>
          </a:prstGeom>
          <a:noFill/>
          <a:extLst>
            <a:ext uri="{909E8E84-426E-40DD-AFC4-6F175D3DCCD1}">
              <a14:hiddenFill xmlns:a14="http://schemas.microsoft.com/office/drawing/2010/main">
                <a:solidFill>
                  <a:srgbClr val="FFFFFF"/>
                </a:solidFill>
              </a14:hiddenFill>
            </a:ext>
          </a:extLst>
        </p:spPr>
      </p:pic>
      <p:sp>
        <p:nvSpPr>
          <p:cNvPr id="41986" name="Rectangle 2"/>
          <p:cNvSpPr>
            <a:spLocks noGrp="1" noChangeArrowheads="1"/>
          </p:cNvSpPr>
          <p:nvPr>
            <p:ph type="title"/>
          </p:nvPr>
        </p:nvSpPr>
        <p:spPr>
          <a:xfrm>
            <a:off x="4648200" y="-76200"/>
            <a:ext cx="5257800" cy="838200"/>
          </a:xfrm>
          <a:ln/>
        </p:spPr>
        <p:txBody>
          <a:bodyPr>
            <a:normAutofit fontScale="90000"/>
          </a:bodyPr>
          <a:lstStyle/>
          <a:p>
            <a:pPr algn="l"/>
            <a:r>
              <a:rPr lang="en-US" sz="6000" b="1" dirty="0" smtClean="0"/>
              <a:t>                            </a:t>
            </a:r>
            <a:r>
              <a:rPr lang="en-US" sz="6000" b="1" dirty="0" smtClean="0">
                <a:solidFill>
                  <a:srgbClr val="002060"/>
                </a:solidFill>
              </a:rPr>
              <a:t>Public </a:t>
            </a:r>
            <a:r>
              <a:rPr lang="en-US" sz="6000" b="1" dirty="0">
                <a:solidFill>
                  <a:srgbClr val="002060"/>
                </a:solidFill>
              </a:rPr>
              <a:t>Access</a:t>
            </a:r>
          </a:p>
        </p:txBody>
      </p:sp>
      <p:sp>
        <p:nvSpPr>
          <p:cNvPr id="41987" name="Rectangle 3"/>
          <p:cNvSpPr>
            <a:spLocks noGrp="1" noChangeArrowheads="1"/>
          </p:cNvSpPr>
          <p:nvPr>
            <p:ph type="body" idx="1"/>
          </p:nvPr>
        </p:nvSpPr>
        <p:spPr>
          <a:xfrm>
            <a:off x="4114800" y="762000"/>
            <a:ext cx="5029200" cy="6096000"/>
          </a:xfrm>
        </p:spPr>
        <p:txBody>
          <a:bodyPr>
            <a:normAutofit fontScale="62500" lnSpcReduction="20000"/>
          </a:bodyPr>
          <a:lstStyle/>
          <a:p>
            <a:pPr>
              <a:lnSpc>
                <a:spcPct val="90000"/>
              </a:lnSpc>
            </a:pPr>
            <a:endParaRPr lang="en-US" sz="1900" b="1" dirty="0" smtClean="0"/>
          </a:p>
          <a:p>
            <a:pPr>
              <a:lnSpc>
                <a:spcPct val="90000"/>
              </a:lnSpc>
            </a:pPr>
            <a:endParaRPr lang="en-US" sz="1900" b="1" dirty="0"/>
          </a:p>
          <a:p>
            <a:pPr>
              <a:lnSpc>
                <a:spcPct val="90000"/>
              </a:lnSpc>
            </a:pPr>
            <a:endParaRPr lang="en-US" sz="1900" b="1" dirty="0" smtClean="0"/>
          </a:p>
          <a:p>
            <a:pPr>
              <a:lnSpc>
                <a:spcPct val="90000"/>
              </a:lnSpc>
            </a:pPr>
            <a:r>
              <a:rPr lang="en-US" sz="3800" b="1" dirty="0" smtClean="0"/>
              <a:t>Public access points should be available every five to ten miles along water trail.</a:t>
            </a:r>
          </a:p>
          <a:p>
            <a:pPr>
              <a:lnSpc>
                <a:spcPct val="90000"/>
              </a:lnSpc>
            </a:pPr>
            <a:r>
              <a:rPr lang="en-US" sz="3800" b="1" dirty="0" smtClean="0"/>
              <a:t>Parking and a ramp or path to water are minimum requirements for access.</a:t>
            </a:r>
          </a:p>
          <a:p>
            <a:pPr>
              <a:lnSpc>
                <a:spcPct val="90000"/>
              </a:lnSpc>
            </a:pPr>
            <a:r>
              <a:rPr lang="en-US" sz="3800" b="1" dirty="0" smtClean="0"/>
              <a:t>May include any other trailside amenity.</a:t>
            </a:r>
          </a:p>
          <a:p>
            <a:pPr>
              <a:lnSpc>
                <a:spcPct val="90000"/>
              </a:lnSpc>
            </a:pPr>
            <a:r>
              <a:rPr lang="en-US" sz="3800" b="1" dirty="0" smtClean="0"/>
              <a:t>Portage trails should be short and easy to use.</a:t>
            </a:r>
          </a:p>
          <a:p>
            <a:pPr>
              <a:lnSpc>
                <a:spcPct val="90000"/>
              </a:lnSpc>
            </a:pPr>
            <a:r>
              <a:rPr lang="en-US" sz="3800" b="1" dirty="0" smtClean="0"/>
              <a:t>Some organization must agree to maintain public access points and trailside amenities.</a:t>
            </a:r>
          </a:p>
          <a:p>
            <a:pPr>
              <a:lnSpc>
                <a:spcPct val="90000"/>
              </a:lnSpc>
            </a:pPr>
            <a:r>
              <a:rPr lang="en-US" sz="3800" b="1" dirty="0" smtClean="0"/>
              <a:t>Construction must meet WV DNR design criteria.</a:t>
            </a:r>
          </a:p>
          <a:p>
            <a:pPr>
              <a:lnSpc>
                <a:spcPct val="90000"/>
              </a:lnSpc>
            </a:pPr>
            <a:r>
              <a:rPr lang="en-US" sz="3800" b="1" dirty="0" smtClean="0"/>
              <a:t>Access points must be adequate for the size of boat appropriate for the water trail.</a:t>
            </a:r>
          </a:p>
          <a:p>
            <a:pPr>
              <a:lnSpc>
                <a:spcPct val="90000"/>
              </a:lnSpc>
            </a:pPr>
            <a:endParaRPr lang="en-US" sz="3800" b="1" dirty="0">
              <a:solidFill>
                <a:schemeClr val="bg1"/>
              </a:solidFill>
            </a:endParaRPr>
          </a:p>
        </p:txBody>
      </p:sp>
      <p:pic>
        <p:nvPicPr>
          <p:cNvPr id="34819"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3429000"/>
            <a:ext cx="4114800" cy="3429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advTm="25000"/>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76400" y="1506049"/>
            <a:ext cx="5486400" cy="1569660"/>
          </a:xfrm>
          <a:prstGeom prst="rect">
            <a:avLst/>
          </a:prstGeom>
        </p:spPr>
        <p:txBody>
          <a:bodyPr wrap="square">
            <a:spAutoFit/>
          </a:bodyPr>
          <a:lstStyle/>
          <a:p>
            <a:pPr algn="ctr"/>
            <a:r>
              <a:rPr lang="en-US" sz="3200" b="1" dirty="0" smtClean="0"/>
              <a:t>Any city, county or non-profit group can apply, or any combination of the above.</a:t>
            </a:r>
            <a:endParaRPr lang="en-US" sz="3200" b="1" dirty="0"/>
          </a:p>
        </p:txBody>
      </p:sp>
      <p:sp>
        <p:nvSpPr>
          <p:cNvPr id="5" name="Rectangle 2"/>
          <p:cNvSpPr>
            <a:spLocks noGrp="1" noChangeArrowheads="1"/>
          </p:cNvSpPr>
          <p:nvPr>
            <p:ph type="title"/>
          </p:nvPr>
        </p:nvSpPr>
        <p:spPr/>
        <p:txBody>
          <a:bodyPr>
            <a:noAutofit/>
          </a:bodyPr>
          <a:lstStyle/>
          <a:p>
            <a:r>
              <a:rPr lang="en-US" b="1" dirty="0">
                <a:solidFill>
                  <a:srgbClr val="3333FF"/>
                </a:solidFill>
              </a:rPr>
              <a:t>WHO CAN REQUEST WATER TRAIL DESIGNATION?</a:t>
            </a:r>
          </a:p>
        </p:txBody>
      </p:sp>
      <p:graphicFrame>
        <p:nvGraphicFramePr>
          <p:cNvPr id="33793" name="Object 4"/>
          <p:cNvGraphicFramePr>
            <a:graphicFrameLocks noChangeAspect="1"/>
          </p:cNvGraphicFramePr>
          <p:nvPr>
            <p:extLst>
              <p:ext uri="{D42A27DB-BD31-4B8C-83A1-F6EECF244321}">
                <p14:modId xmlns:p14="http://schemas.microsoft.com/office/powerpoint/2010/main" val="3838079886"/>
              </p:ext>
            </p:extLst>
          </p:nvPr>
        </p:nvGraphicFramePr>
        <p:xfrm>
          <a:off x="1371600" y="3013364"/>
          <a:ext cx="3175000" cy="3810000"/>
        </p:xfrm>
        <a:graphic>
          <a:graphicData uri="http://schemas.openxmlformats.org/presentationml/2006/ole">
            <mc:AlternateContent xmlns:mc="http://schemas.openxmlformats.org/markup-compatibility/2006">
              <mc:Choice xmlns:v="urn:schemas-microsoft-com:vml" Requires="v">
                <p:oleObj spid="_x0000_s33806" name="Photo Editor Photo" r:id="rId3" imgW="1190476" imgH="1428949" progId="MSPhotoEd.3">
                  <p:embed/>
                </p:oleObj>
              </mc:Choice>
              <mc:Fallback>
                <p:oleObj name="Photo Editor Photo" r:id="rId3" imgW="1190476" imgH="1428949" progId="MSPhotoEd.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3013364"/>
                        <a:ext cx="31750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3800" name="Picture 8" descr="F:\cast[1].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3048000"/>
            <a:ext cx="3276601" cy="381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Picture 1" descr="C:\Users\B465336\Pictures\Mill Creek\100_0047.JPG"/>
          <p:cNvPicPr>
            <a:picLocks noChangeAspect="1" noChangeArrowheads="1"/>
          </p:cNvPicPr>
          <p:nvPr/>
        </p:nvPicPr>
        <p:blipFill>
          <a:blip r:embed="rId3" cstate="print"/>
          <a:srcRect/>
          <a:stretch>
            <a:fillRect/>
          </a:stretch>
        </p:blipFill>
        <p:spPr bwMode="auto">
          <a:xfrm>
            <a:off x="304800" y="228600"/>
            <a:ext cx="8534400" cy="6400800"/>
          </a:xfrm>
          <a:prstGeom prst="rect">
            <a:avLst/>
          </a:prstGeom>
          <a:noFill/>
        </p:spPr>
      </p:pic>
      <p:sp>
        <p:nvSpPr>
          <p:cNvPr id="14338" name="Rectangle 2"/>
          <p:cNvSpPr>
            <a:spLocks noGrp="1" noChangeArrowheads="1"/>
          </p:cNvSpPr>
          <p:nvPr>
            <p:ph type="title"/>
          </p:nvPr>
        </p:nvSpPr>
        <p:spPr>
          <a:xfrm>
            <a:off x="-1447800" y="304800"/>
            <a:ext cx="8229600" cy="1143000"/>
          </a:xfrm>
          <a:ln>
            <a:noFill/>
          </a:ln>
        </p:spPr>
        <p:txBody>
          <a:bodyPr/>
          <a:lstStyle/>
          <a:p>
            <a:r>
              <a:rPr lang="en-US" b="1" dirty="0"/>
              <a:t>Primary </a:t>
            </a:r>
            <a:r>
              <a:rPr lang="en-US" b="1" dirty="0" smtClean="0"/>
              <a:t>Sponsor</a:t>
            </a:r>
            <a:r>
              <a:rPr lang="en-US" b="1" dirty="0"/>
              <a:t>:</a:t>
            </a:r>
          </a:p>
        </p:txBody>
      </p:sp>
      <p:sp>
        <p:nvSpPr>
          <p:cNvPr id="14339" name="Rectangle 3"/>
          <p:cNvSpPr>
            <a:spLocks noGrp="1" noChangeArrowheads="1"/>
          </p:cNvSpPr>
          <p:nvPr>
            <p:ph type="body" idx="1"/>
          </p:nvPr>
        </p:nvSpPr>
        <p:spPr>
          <a:xfrm>
            <a:off x="228600" y="1981200"/>
            <a:ext cx="8686800" cy="5029200"/>
          </a:xfrm>
        </p:spPr>
        <p:txBody>
          <a:bodyPr/>
          <a:lstStyle/>
          <a:p>
            <a:pPr>
              <a:lnSpc>
                <a:spcPct val="90000"/>
              </a:lnSpc>
            </a:pPr>
            <a:r>
              <a:rPr lang="en-US" sz="2800" b="1" dirty="0">
                <a:solidFill>
                  <a:schemeClr val="bg1"/>
                </a:solidFill>
              </a:rPr>
              <a:t>A </a:t>
            </a:r>
            <a:r>
              <a:rPr lang="en-US" sz="2800" b="1" dirty="0" smtClean="0">
                <a:solidFill>
                  <a:schemeClr val="bg1"/>
                </a:solidFill>
              </a:rPr>
              <a:t>local </a:t>
            </a:r>
            <a:r>
              <a:rPr lang="en-US" sz="2800" b="1" dirty="0">
                <a:solidFill>
                  <a:schemeClr val="bg1"/>
                </a:solidFill>
              </a:rPr>
              <a:t>government </a:t>
            </a:r>
            <a:r>
              <a:rPr lang="en-US" sz="2800" b="1" dirty="0" smtClean="0">
                <a:solidFill>
                  <a:schemeClr val="bg1"/>
                </a:solidFill>
              </a:rPr>
              <a:t>organization </a:t>
            </a:r>
            <a:r>
              <a:rPr lang="en-US" sz="2800" b="1" dirty="0">
                <a:solidFill>
                  <a:schemeClr val="bg1"/>
                </a:solidFill>
              </a:rPr>
              <a:t>responsible for developing the proposal for designating and managing the trail.</a:t>
            </a:r>
          </a:p>
          <a:p>
            <a:pPr>
              <a:lnSpc>
                <a:spcPct val="90000"/>
              </a:lnSpc>
            </a:pPr>
            <a:r>
              <a:rPr lang="en-US" sz="2800" b="1" dirty="0">
                <a:solidFill>
                  <a:schemeClr val="bg1"/>
                </a:solidFill>
              </a:rPr>
              <a:t>Any number of organizations or individuals may partner with the primary sponsor.</a:t>
            </a:r>
          </a:p>
          <a:p>
            <a:pPr>
              <a:lnSpc>
                <a:spcPct val="90000"/>
              </a:lnSpc>
            </a:pPr>
            <a:r>
              <a:rPr lang="en-US" sz="2800" b="1" dirty="0">
                <a:solidFill>
                  <a:schemeClr val="bg1"/>
                </a:solidFill>
              </a:rPr>
              <a:t>An application for a grant with the WVRTAB must be submitted by primary sponsor.</a:t>
            </a:r>
          </a:p>
          <a:p>
            <a:pPr>
              <a:lnSpc>
                <a:spcPct val="90000"/>
              </a:lnSpc>
            </a:pPr>
            <a:r>
              <a:rPr lang="en-US" sz="2800" b="1" dirty="0">
                <a:solidFill>
                  <a:schemeClr val="bg1"/>
                </a:solidFill>
              </a:rPr>
              <a:t>Primary sponsor is responsible for coordinating maintenance and upkeep of public access to trail, trailside amenities, signage, maps, guides or website developed with funds awarded by WVRTAB.</a:t>
            </a:r>
          </a:p>
        </p:txBody>
      </p:sp>
    </p:spTree>
  </p:cSld>
  <p:clrMapOvr>
    <a:masterClrMapping/>
  </p:clrMapOvr>
  <p:transition advTm="25000"/>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4" name="Picture 6" descr="Elk River Map"/>
          <p:cNvPicPr>
            <a:picLocks noChangeAspect="1" noChangeArrowheads="1"/>
          </p:cNvPicPr>
          <p:nvPr/>
        </p:nvPicPr>
        <p:blipFill>
          <a:blip r:embed="rId3" cstate="print"/>
          <a:srcRect/>
          <a:stretch>
            <a:fillRect/>
          </a:stretch>
        </p:blipFill>
        <p:spPr bwMode="auto">
          <a:xfrm>
            <a:off x="0" y="0"/>
            <a:ext cx="9144000" cy="6858000"/>
          </a:xfrm>
          <a:prstGeom prst="rect">
            <a:avLst/>
          </a:prstGeom>
          <a:noFill/>
        </p:spPr>
      </p:pic>
      <p:sp>
        <p:nvSpPr>
          <p:cNvPr id="7170" name="Rectangle 2"/>
          <p:cNvSpPr>
            <a:spLocks noGrp="1" noChangeArrowheads="1"/>
          </p:cNvSpPr>
          <p:nvPr>
            <p:ph type="title"/>
          </p:nvPr>
        </p:nvSpPr>
        <p:spPr>
          <a:xfrm>
            <a:off x="1143000" y="1371600"/>
            <a:ext cx="7315200" cy="1066800"/>
          </a:xfrm>
        </p:spPr>
        <p:txBody>
          <a:bodyPr>
            <a:normAutofit fontScale="90000"/>
          </a:bodyPr>
          <a:lstStyle/>
          <a:p>
            <a:pPr algn="l"/>
            <a:r>
              <a:rPr lang="en-US" sz="4000" b="1">
                <a:solidFill>
                  <a:schemeClr val="tx1"/>
                </a:solidFill>
              </a:rPr>
              <a:t>HOW TO GET YOUR WATER TRAIL DESIGNATED.</a:t>
            </a:r>
          </a:p>
        </p:txBody>
      </p:sp>
      <p:sp>
        <p:nvSpPr>
          <p:cNvPr id="7171" name="Rectangle 3"/>
          <p:cNvSpPr>
            <a:spLocks noGrp="1" noChangeArrowheads="1"/>
          </p:cNvSpPr>
          <p:nvPr>
            <p:ph type="body" idx="1"/>
          </p:nvPr>
        </p:nvSpPr>
        <p:spPr>
          <a:xfrm>
            <a:off x="304800" y="2590800"/>
            <a:ext cx="8534400" cy="3276600"/>
          </a:xfrm>
        </p:spPr>
        <p:txBody>
          <a:bodyPr/>
          <a:lstStyle/>
          <a:p>
            <a:pPr>
              <a:lnSpc>
                <a:spcPct val="90000"/>
              </a:lnSpc>
              <a:buFontTx/>
              <a:buNone/>
            </a:pPr>
            <a:r>
              <a:rPr lang="en-US" b="1" dirty="0">
                <a:effectLst>
                  <a:outerShdw blurRad="38100" dist="38100" dir="2700000" algn="tl">
                    <a:srgbClr val="C0C0C0"/>
                  </a:outerShdw>
                </a:effectLst>
              </a:rPr>
              <a:t>Prepare a ROUGH map showing</a:t>
            </a:r>
          </a:p>
          <a:p>
            <a:pPr>
              <a:lnSpc>
                <a:spcPct val="90000"/>
              </a:lnSpc>
            </a:pPr>
            <a:r>
              <a:rPr lang="en-US" b="1" dirty="0">
                <a:effectLst>
                  <a:outerShdw blurRad="38100" dist="38100" dir="2700000" algn="tl">
                    <a:srgbClr val="C0C0C0"/>
                  </a:outerShdw>
                </a:effectLst>
              </a:rPr>
              <a:t>Proposed Route,</a:t>
            </a:r>
          </a:p>
          <a:p>
            <a:pPr>
              <a:lnSpc>
                <a:spcPct val="90000"/>
              </a:lnSpc>
            </a:pPr>
            <a:r>
              <a:rPr lang="en-US" b="1" dirty="0">
                <a:effectLst>
                  <a:outerShdw blurRad="38100" dist="38100" dir="2700000" algn="tl">
                    <a:srgbClr val="C0C0C0"/>
                  </a:outerShdw>
                </a:effectLst>
              </a:rPr>
              <a:t>Roads, </a:t>
            </a:r>
          </a:p>
          <a:p>
            <a:pPr>
              <a:lnSpc>
                <a:spcPct val="90000"/>
              </a:lnSpc>
            </a:pPr>
            <a:r>
              <a:rPr lang="en-US" b="1" dirty="0">
                <a:effectLst>
                  <a:outerShdw blurRad="38100" dist="38100" dir="2700000" algn="tl">
                    <a:srgbClr val="C0C0C0"/>
                  </a:outerShdw>
                </a:effectLst>
              </a:rPr>
              <a:t>Parks </a:t>
            </a:r>
          </a:p>
          <a:p>
            <a:pPr>
              <a:lnSpc>
                <a:spcPct val="90000"/>
              </a:lnSpc>
            </a:pPr>
            <a:r>
              <a:rPr lang="en-US" b="1" dirty="0">
                <a:effectLst>
                  <a:outerShdw blurRad="38100" dist="38100" dir="2700000" algn="tl">
                    <a:srgbClr val="C0C0C0"/>
                  </a:outerShdw>
                </a:effectLst>
              </a:rPr>
              <a:t>Cities and towns</a:t>
            </a:r>
          </a:p>
          <a:p>
            <a:pPr>
              <a:lnSpc>
                <a:spcPct val="90000"/>
              </a:lnSpc>
            </a:pPr>
            <a:r>
              <a:rPr lang="en-US" b="1" dirty="0">
                <a:effectLst>
                  <a:outerShdw blurRad="38100" dist="38100" dir="2700000" algn="tl">
                    <a:srgbClr val="C0C0C0"/>
                  </a:outerShdw>
                </a:effectLst>
              </a:rPr>
              <a:t>County </a:t>
            </a:r>
            <a:r>
              <a:rPr lang="en-US" b="1" dirty="0" smtClean="0">
                <a:effectLst>
                  <a:outerShdw blurRad="38100" dist="38100" dir="2700000" algn="tl">
                    <a:srgbClr val="C0C0C0"/>
                  </a:outerShdw>
                </a:effectLst>
              </a:rPr>
              <a:t>boundaries…</a:t>
            </a:r>
            <a:endParaRPr lang="en-US" b="1" dirty="0">
              <a:effectLst>
                <a:outerShdw blurRad="38100" dist="38100" dir="2700000" algn="tl">
                  <a:srgbClr val="C0C0C0"/>
                </a:outerShdw>
              </a:effectLst>
            </a:endParaRPr>
          </a:p>
          <a:p>
            <a:pPr>
              <a:lnSpc>
                <a:spcPct val="90000"/>
              </a:lnSpc>
            </a:pPr>
            <a:endParaRPr lang="en-US" b="1" dirty="0">
              <a:effectLst>
                <a:outerShdw blurRad="38100" dist="38100" dir="2700000" algn="tl">
                  <a:srgbClr val="C0C0C0"/>
                </a:outerShdw>
              </a:effectLst>
            </a:endParaRPr>
          </a:p>
        </p:txBody>
      </p:sp>
    </p:spTree>
  </p:cSld>
  <p:clrMapOvr>
    <a:masterClrMapping/>
  </p:clrMapOvr>
  <p:transition advTm="25000"/>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9" name="Picture 5" descr="snowfalls"/>
          <p:cNvPicPr>
            <a:picLocks noChangeAspect="1" noChangeArrowheads="1"/>
          </p:cNvPicPr>
          <p:nvPr/>
        </p:nvPicPr>
        <p:blipFill>
          <a:blip r:embed="rId3" cstate="print"/>
          <a:srcRect/>
          <a:stretch>
            <a:fillRect/>
          </a:stretch>
        </p:blipFill>
        <p:spPr bwMode="auto">
          <a:xfrm>
            <a:off x="0" y="0"/>
            <a:ext cx="9144000" cy="6858000"/>
          </a:xfrm>
          <a:prstGeom prst="rect">
            <a:avLst/>
          </a:prstGeom>
          <a:noFill/>
        </p:spPr>
      </p:pic>
      <p:pic>
        <p:nvPicPr>
          <p:cNvPr id="26630" name="Picture 6" descr="ufalls"/>
          <p:cNvPicPr>
            <a:picLocks noChangeAspect="1" noChangeArrowheads="1"/>
          </p:cNvPicPr>
          <p:nvPr/>
        </p:nvPicPr>
        <p:blipFill>
          <a:blip r:embed="rId4" cstate="print"/>
          <a:srcRect/>
          <a:stretch>
            <a:fillRect/>
          </a:stretch>
        </p:blipFill>
        <p:spPr bwMode="auto">
          <a:xfrm>
            <a:off x="0" y="0"/>
            <a:ext cx="9144000" cy="6858000"/>
          </a:xfrm>
          <a:prstGeom prst="rect">
            <a:avLst/>
          </a:prstGeom>
          <a:noFill/>
        </p:spPr>
      </p:pic>
      <p:sp>
        <p:nvSpPr>
          <p:cNvPr id="26627" name="Rectangle 3"/>
          <p:cNvSpPr>
            <a:spLocks noGrp="1" noChangeArrowheads="1"/>
          </p:cNvSpPr>
          <p:nvPr>
            <p:ph type="body" idx="1"/>
          </p:nvPr>
        </p:nvSpPr>
        <p:spPr>
          <a:xfrm>
            <a:off x="304800" y="3962400"/>
            <a:ext cx="7391400" cy="609600"/>
          </a:xfrm>
        </p:spPr>
        <p:txBody>
          <a:bodyPr/>
          <a:lstStyle/>
          <a:p>
            <a:r>
              <a:rPr lang="en-US" sz="2800" b="1" dirty="0"/>
              <a:t>Water trail obstacles (dams, falls, etc</a:t>
            </a:r>
            <a:r>
              <a:rPr lang="en-US" sz="2800" b="1" dirty="0" smtClean="0"/>
              <a:t>.)…</a:t>
            </a:r>
            <a:endParaRPr lang="en-US" sz="2800" b="1" dirty="0"/>
          </a:p>
        </p:txBody>
      </p:sp>
    </p:spTree>
  </p:cSld>
  <p:clrMapOvr>
    <a:masterClrMapping/>
  </p:clrMapOvr>
  <p:transition advTm="25000"/>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6" name="Picture 4" descr="Airview Upper Falls of Coal River"/>
          <p:cNvPicPr>
            <a:picLocks noChangeAspect="1" noChangeArrowheads="1"/>
          </p:cNvPicPr>
          <p:nvPr/>
        </p:nvPicPr>
        <p:blipFill>
          <a:blip r:embed="rId3" cstate="print"/>
          <a:srcRect/>
          <a:stretch>
            <a:fillRect/>
          </a:stretch>
        </p:blipFill>
        <p:spPr bwMode="auto">
          <a:xfrm>
            <a:off x="-533400" y="-633413"/>
            <a:ext cx="9677400" cy="7491413"/>
          </a:xfrm>
          <a:prstGeom prst="rect">
            <a:avLst/>
          </a:prstGeom>
          <a:noFill/>
        </p:spPr>
      </p:pic>
      <p:sp>
        <p:nvSpPr>
          <p:cNvPr id="28675" name="Rectangle 3"/>
          <p:cNvSpPr>
            <a:spLocks noGrp="1" noChangeArrowheads="1"/>
          </p:cNvSpPr>
          <p:nvPr>
            <p:ph type="body" idx="1"/>
          </p:nvPr>
        </p:nvSpPr>
        <p:spPr>
          <a:xfrm>
            <a:off x="914400" y="1600200"/>
            <a:ext cx="6934200" cy="1905000"/>
          </a:xfrm>
        </p:spPr>
        <p:txBody>
          <a:bodyPr>
            <a:normAutofit lnSpcReduction="10000"/>
          </a:bodyPr>
          <a:lstStyle/>
          <a:p>
            <a:r>
              <a:rPr lang="en-US" sz="4400" b="1" dirty="0" smtClean="0">
                <a:solidFill>
                  <a:schemeClr val="bg1"/>
                </a:solidFill>
                <a:effectLst>
                  <a:outerShdw blurRad="38100" dist="38100" dir="2700000" algn="tl">
                    <a:srgbClr val="C0C0C0"/>
                  </a:outerShdw>
                </a:effectLst>
              </a:rPr>
              <a:t>Existing </a:t>
            </a:r>
            <a:r>
              <a:rPr lang="en-US" sz="4400" b="1" dirty="0">
                <a:solidFill>
                  <a:schemeClr val="bg1"/>
                </a:solidFill>
                <a:effectLst>
                  <a:outerShdw blurRad="38100" dist="38100" dir="2700000" algn="tl">
                    <a:srgbClr val="C0C0C0"/>
                  </a:outerShdw>
                </a:effectLst>
              </a:rPr>
              <a:t>and proposed access points and portage </a:t>
            </a:r>
            <a:r>
              <a:rPr lang="en-US" sz="4400" b="1" dirty="0" smtClean="0">
                <a:solidFill>
                  <a:schemeClr val="bg1"/>
                </a:solidFill>
                <a:effectLst>
                  <a:outerShdw blurRad="38100" dist="38100" dir="2700000" algn="tl">
                    <a:srgbClr val="C0C0C0"/>
                  </a:outerShdw>
                </a:effectLst>
              </a:rPr>
              <a:t>trails…</a:t>
            </a:r>
            <a:endParaRPr lang="en-US" sz="4400" b="1" dirty="0">
              <a:solidFill>
                <a:schemeClr val="bg1"/>
              </a:solidFill>
              <a:effectLst>
                <a:outerShdw blurRad="38100" dist="38100" dir="2700000" algn="tl">
                  <a:srgbClr val="C0C0C0"/>
                </a:outerShdw>
              </a:effectLst>
            </a:endParaRPr>
          </a:p>
          <a:p>
            <a:endParaRPr lang="en-US" dirty="0">
              <a:solidFill>
                <a:schemeClr val="bg1"/>
              </a:solidFill>
            </a:endParaRPr>
          </a:p>
        </p:txBody>
      </p:sp>
      <p:sp>
        <p:nvSpPr>
          <p:cNvPr id="28677" name="Line 5"/>
          <p:cNvSpPr>
            <a:spLocks noChangeShapeType="1"/>
          </p:cNvSpPr>
          <p:nvPr/>
        </p:nvSpPr>
        <p:spPr bwMode="auto">
          <a:xfrm flipV="1">
            <a:off x="4343400" y="5791200"/>
            <a:ext cx="1371600" cy="685800"/>
          </a:xfrm>
          <a:prstGeom prst="line">
            <a:avLst/>
          </a:prstGeom>
          <a:noFill/>
          <a:ln w="76200">
            <a:solidFill>
              <a:schemeClr val="tx1"/>
            </a:solidFill>
            <a:round/>
            <a:headEnd/>
            <a:tailEnd/>
          </a:ln>
          <a:effectLst/>
        </p:spPr>
        <p:txBody>
          <a:bodyPr/>
          <a:lstStyle/>
          <a:p>
            <a:endParaRPr lang="en-US"/>
          </a:p>
        </p:txBody>
      </p:sp>
      <p:sp>
        <p:nvSpPr>
          <p:cNvPr id="28678" name="Line 6"/>
          <p:cNvSpPr>
            <a:spLocks noChangeShapeType="1"/>
          </p:cNvSpPr>
          <p:nvPr/>
        </p:nvSpPr>
        <p:spPr bwMode="auto">
          <a:xfrm>
            <a:off x="4800600" y="3657600"/>
            <a:ext cx="609600" cy="685800"/>
          </a:xfrm>
          <a:prstGeom prst="line">
            <a:avLst/>
          </a:prstGeom>
          <a:noFill/>
          <a:ln w="76200">
            <a:solidFill>
              <a:schemeClr val="tx1"/>
            </a:solidFill>
            <a:round/>
            <a:headEnd/>
            <a:tailEnd/>
          </a:ln>
          <a:effectLst/>
        </p:spPr>
        <p:txBody>
          <a:bodyPr/>
          <a:lstStyle/>
          <a:p>
            <a:endParaRPr lang="en-US"/>
          </a:p>
        </p:txBody>
      </p:sp>
      <p:sp>
        <p:nvSpPr>
          <p:cNvPr id="28679" name="Line 7"/>
          <p:cNvSpPr>
            <a:spLocks noChangeShapeType="1"/>
          </p:cNvSpPr>
          <p:nvPr/>
        </p:nvSpPr>
        <p:spPr bwMode="auto">
          <a:xfrm flipV="1">
            <a:off x="5638800" y="5334000"/>
            <a:ext cx="152400" cy="457200"/>
          </a:xfrm>
          <a:prstGeom prst="line">
            <a:avLst/>
          </a:prstGeom>
          <a:noFill/>
          <a:ln w="76200">
            <a:solidFill>
              <a:srgbClr val="FF0000"/>
            </a:solidFill>
            <a:round/>
            <a:headEnd/>
            <a:tailEnd/>
          </a:ln>
          <a:effectLst/>
        </p:spPr>
        <p:txBody>
          <a:bodyPr/>
          <a:lstStyle/>
          <a:p>
            <a:endParaRPr lang="en-US"/>
          </a:p>
        </p:txBody>
      </p:sp>
      <p:sp>
        <p:nvSpPr>
          <p:cNvPr id="28680" name="Line 8"/>
          <p:cNvSpPr>
            <a:spLocks noChangeShapeType="1"/>
          </p:cNvSpPr>
          <p:nvPr/>
        </p:nvSpPr>
        <p:spPr bwMode="auto">
          <a:xfrm flipV="1">
            <a:off x="5791200" y="4648200"/>
            <a:ext cx="914400" cy="685800"/>
          </a:xfrm>
          <a:prstGeom prst="line">
            <a:avLst/>
          </a:prstGeom>
          <a:noFill/>
          <a:ln w="76200">
            <a:solidFill>
              <a:srgbClr val="FF0000"/>
            </a:solidFill>
            <a:round/>
            <a:headEnd/>
            <a:tailEnd/>
          </a:ln>
          <a:effectLst/>
        </p:spPr>
        <p:txBody>
          <a:bodyPr/>
          <a:lstStyle/>
          <a:p>
            <a:endParaRPr lang="en-US"/>
          </a:p>
        </p:txBody>
      </p:sp>
      <p:sp>
        <p:nvSpPr>
          <p:cNvPr id="28681" name="Line 9"/>
          <p:cNvSpPr>
            <a:spLocks noChangeShapeType="1"/>
          </p:cNvSpPr>
          <p:nvPr/>
        </p:nvSpPr>
        <p:spPr bwMode="auto">
          <a:xfrm flipH="1" flipV="1">
            <a:off x="6172200" y="4343400"/>
            <a:ext cx="533400" cy="228600"/>
          </a:xfrm>
          <a:prstGeom prst="line">
            <a:avLst/>
          </a:prstGeom>
          <a:noFill/>
          <a:ln w="76200">
            <a:solidFill>
              <a:srgbClr val="FF0000"/>
            </a:solidFill>
            <a:round/>
            <a:headEnd/>
            <a:tailEnd/>
          </a:ln>
          <a:effectLst/>
        </p:spPr>
        <p:txBody>
          <a:bodyPr/>
          <a:lstStyle/>
          <a:p>
            <a:endParaRPr lang="en-US"/>
          </a:p>
        </p:txBody>
      </p:sp>
      <p:sp>
        <p:nvSpPr>
          <p:cNvPr id="28682" name="Line 10"/>
          <p:cNvSpPr>
            <a:spLocks noChangeShapeType="1"/>
          </p:cNvSpPr>
          <p:nvPr/>
        </p:nvSpPr>
        <p:spPr bwMode="auto">
          <a:xfrm flipH="1">
            <a:off x="5410200" y="4343400"/>
            <a:ext cx="762000" cy="0"/>
          </a:xfrm>
          <a:prstGeom prst="line">
            <a:avLst/>
          </a:prstGeom>
          <a:noFill/>
          <a:ln w="76200">
            <a:solidFill>
              <a:srgbClr val="FF0000"/>
            </a:solidFill>
            <a:round/>
            <a:headEnd/>
            <a:tailEnd/>
          </a:ln>
          <a:effectLst/>
        </p:spPr>
        <p:txBody>
          <a:bodyPr/>
          <a:lstStyle/>
          <a:p>
            <a:endParaRPr lang="en-US"/>
          </a:p>
        </p:txBody>
      </p:sp>
    </p:spTree>
  </p:cSld>
  <p:clrMapOvr>
    <a:masterClrMapping/>
  </p:clrMapOvr>
  <p:transition advTm="25000"/>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sphere">
          <a:fgClr>
            <a:schemeClr val="accent3">
              <a:lumMod val="50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609600" y="457200"/>
            <a:ext cx="8229600" cy="838200"/>
          </a:xfrm>
        </p:spPr>
        <p:txBody>
          <a:bodyPr>
            <a:noAutofit/>
          </a:bodyPr>
          <a:lstStyle/>
          <a:p>
            <a:pPr algn="ctr">
              <a:lnSpc>
                <a:spcPct val="90000"/>
              </a:lnSpc>
              <a:buFontTx/>
              <a:buNone/>
            </a:pPr>
            <a:r>
              <a:rPr lang="en-US" sz="4000" b="1" dirty="0"/>
              <a:t>A brief description of the recreational, scenic, historic or educational opportunities offered by this water trail. </a:t>
            </a:r>
          </a:p>
        </p:txBody>
      </p:sp>
      <p:pic>
        <p:nvPicPr>
          <p:cNvPr id="8197" name="Picture 5" descr="Coal River Towboats at Tornado"/>
          <p:cNvPicPr>
            <a:picLocks noChangeAspect="1" noChangeArrowheads="1"/>
          </p:cNvPicPr>
          <p:nvPr/>
        </p:nvPicPr>
        <p:blipFill>
          <a:blip r:embed="rId3" cstate="print"/>
          <a:srcRect/>
          <a:stretch>
            <a:fillRect/>
          </a:stretch>
        </p:blipFill>
        <p:spPr bwMode="auto">
          <a:xfrm>
            <a:off x="0" y="2819400"/>
            <a:ext cx="9144000" cy="4038600"/>
          </a:xfrm>
          <a:prstGeom prst="rect">
            <a:avLst/>
          </a:prstGeom>
          <a:noFill/>
        </p:spPr>
      </p:pic>
    </p:spTree>
  </p:cSld>
  <p:clrMapOvr>
    <a:masterClrMapping/>
  </p:clrMapOvr>
  <p:transition advTm="25000"/>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2" name="Picture 6" descr="Two leaves"/>
          <p:cNvPicPr>
            <a:picLocks noChangeAspect="1" noChangeArrowheads="1"/>
          </p:cNvPicPr>
          <p:nvPr/>
        </p:nvPicPr>
        <p:blipFill>
          <a:blip r:embed="rId3" cstate="print"/>
          <a:srcRect/>
          <a:stretch>
            <a:fillRect/>
          </a:stretch>
        </p:blipFill>
        <p:spPr bwMode="auto">
          <a:xfrm>
            <a:off x="0" y="0"/>
            <a:ext cx="9144000" cy="6858000"/>
          </a:xfrm>
          <a:prstGeom prst="rect">
            <a:avLst/>
          </a:prstGeom>
          <a:noFill/>
        </p:spPr>
      </p:pic>
      <p:sp>
        <p:nvSpPr>
          <p:cNvPr id="9219" name="Rectangle 3"/>
          <p:cNvSpPr>
            <a:spLocks noGrp="1" noChangeArrowheads="1"/>
          </p:cNvSpPr>
          <p:nvPr>
            <p:ph type="body" idx="1"/>
          </p:nvPr>
        </p:nvSpPr>
        <p:spPr>
          <a:xfrm>
            <a:off x="381000" y="228600"/>
            <a:ext cx="8458200" cy="1905000"/>
          </a:xfrm>
        </p:spPr>
        <p:txBody>
          <a:bodyPr>
            <a:noAutofit/>
          </a:bodyPr>
          <a:lstStyle/>
          <a:p>
            <a:r>
              <a:rPr lang="en-US" sz="3600" b="1" dirty="0">
                <a:solidFill>
                  <a:srgbClr val="FF0000"/>
                </a:solidFill>
              </a:rPr>
              <a:t>Submit all this to the </a:t>
            </a:r>
            <a:r>
              <a:rPr lang="en-US" sz="3600" b="1" dirty="0" smtClean="0">
                <a:solidFill>
                  <a:srgbClr val="FF0000"/>
                </a:solidFill>
              </a:rPr>
              <a:t>WVRTAB </a:t>
            </a:r>
            <a:r>
              <a:rPr lang="en-US" sz="3600" b="1" dirty="0">
                <a:solidFill>
                  <a:srgbClr val="FF0000"/>
                </a:solidFill>
              </a:rPr>
              <a:t>via </a:t>
            </a:r>
            <a:r>
              <a:rPr lang="en-US" sz="3600" b="1" dirty="0" smtClean="0">
                <a:solidFill>
                  <a:srgbClr val="FF0000"/>
                </a:solidFill>
              </a:rPr>
              <a:t>the WVDOH </a:t>
            </a:r>
            <a:r>
              <a:rPr lang="en-US" sz="3600" b="1" dirty="0">
                <a:solidFill>
                  <a:srgbClr val="FF0000"/>
                </a:solidFill>
              </a:rPr>
              <a:t>and someone will get in touch with you to help with the rest of the process.</a:t>
            </a:r>
          </a:p>
        </p:txBody>
      </p:sp>
    </p:spTree>
  </p:cSld>
  <p:clrMapOvr>
    <a:masterClrMapping/>
  </p:clrMapOvr>
  <p:transition advTm="25000"/>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6" name="Picture 6" descr="Cheat"/>
          <p:cNvPicPr>
            <a:picLocks noChangeAspect="1" noChangeArrowheads="1"/>
          </p:cNvPicPr>
          <p:nvPr/>
        </p:nvPicPr>
        <p:blipFill>
          <a:blip r:embed="rId3" cstate="print"/>
          <a:srcRect/>
          <a:stretch>
            <a:fillRect/>
          </a:stretch>
        </p:blipFill>
        <p:spPr bwMode="auto">
          <a:xfrm>
            <a:off x="0" y="0"/>
            <a:ext cx="9144000" cy="6858000"/>
          </a:xfrm>
          <a:prstGeom prst="rect">
            <a:avLst/>
          </a:prstGeom>
          <a:noFill/>
        </p:spPr>
      </p:pic>
      <p:sp>
        <p:nvSpPr>
          <p:cNvPr id="10243" name="Rectangle 3"/>
          <p:cNvSpPr>
            <a:spLocks noGrp="1" noChangeArrowheads="1"/>
          </p:cNvSpPr>
          <p:nvPr>
            <p:ph type="body" idx="1"/>
          </p:nvPr>
        </p:nvSpPr>
        <p:spPr>
          <a:xfrm>
            <a:off x="457200" y="304800"/>
            <a:ext cx="8229600" cy="4525963"/>
          </a:xfrm>
        </p:spPr>
        <p:txBody>
          <a:bodyPr>
            <a:normAutofit fontScale="92500" lnSpcReduction="10000"/>
          </a:bodyPr>
          <a:lstStyle/>
          <a:p>
            <a:pPr algn="ctr">
              <a:lnSpc>
                <a:spcPct val="90000"/>
              </a:lnSpc>
              <a:buFontTx/>
              <a:buNone/>
            </a:pPr>
            <a:r>
              <a:rPr lang="en-US" sz="4400" b="1" dirty="0"/>
              <a:t>You will have to</a:t>
            </a:r>
            <a:r>
              <a:rPr lang="en-US" sz="4400" b="1" dirty="0" smtClean="0"/>
              <a:t>:</a:t>
            </a:r>
          </a:p>
          <a:p>
            <a:pPr algn="ctr">
              <a:lnSpc>
                <a:spcPct val="90000"/>
              </a:lnSpc>
              <a:buFontTx/>
              <a:buNone/>
            </a:pPr>
            <a:endParaRPr lang="en-US" sz="4400" b="1" dirty="0"/>
          </a:p>
          <a:p>
            <a:pPr>
              <a:lnSpc>
                <a:spcPct val="90000"/>
              </a:lnSpc>
            </a:pPr>
            <a:r>
              <a:rPr lang="en-US" b="1" dirty="0"/>
              <a:t>Hold at least one public meeting in each county.</a:t>
            </a:r>
          </a:p>
          <a:p>
            <a:pPr>
              <a:lnSpc>
                <a:spcPct val="90000"/>
              </a:lnSpc>
            </a:pPr>
            <a:r>
              <a:rPr lang="en-US" b="1" dirty="0"/>
              <a:t>Have the most recent version of the draft request on hand for review.  </a:t>
            </a:r>
          </a:p>
          <a:p>
            <a:pPr>
              <a:lnSpc>
                <a:spcPct val="90000"/>
              </a:lnSpc>
            </a:pPr>
            <a:r>
              <a:rPr lang="en-US" b="1" dirty="0"/>
              <a:t>Notify all local governments </a:t>
            </a:r>
            <a:r>
              <a:rPr lang="en-US" b="1" dirty="0" smtClean="0"/>
              <a:t>and property owners near </a:t>
            </a:r>
            <a:r>
              <a:rPr lang="en-US" b="1" dirty="0"/>
              <a:t>the proposed trail of the meeting.</a:t>
            </a:r>
          </a:p>
          <a:p>
            <a:pPr>
              <a:lnSpc>
                <a:spcPct val="90000"/>
              </a:lnSpc>
            </a:pPr>
            <a:r>
              <a:rPr lang="en-US" b="1" dirty="0"/>
              <a:t>Notify the </a:t>
            </a:r>
            <a:r>
              <a:rPr lang="en-US" b="1" dirty="0" smtClean="0"/>
              <a:t>WV DOH/WVRTAB </a:t>
            </a:r>
            <a:r>
              <a:rPr lang="en-US" b="1" dirty="0"/>
              <a:t>and the WV DNR District Wildlife Biologist. </a:t>
            </a:r>
          </a:p>
        </p:txBody>
      </p:sp>
      <p:sp>
        <p:nvSpPr>
          <p:cNvPr id="10247" name="Text Box 7"/>
          <p:cNvSpPr txBox="1">
            <a:spLocks noChangeArrowheads="1"/>
          </p:cNvSpPr>
          <p:nvPr/>
        </p:nvSpPr>
        <p:spPr bwMode="auto">
          <a:xfrm>
            <a:off x="4876800" y="228600"/>
            <a:ext cx="4267200" cy="366713"/>
          </a:xfrm>
          <a:prstGeom prst="rect">
            <a:avLst/>
          </a:prstGeom>
          <a:noFill/>
          <a:ln w="9525">
            <a:noFill/>
            <a:miter lim="800000"/>
            <a:headEnd/>
            <a:tailEnd/>
          </a:ln>
          <a:effectLst/>
        </p:spPr>
        <p:txBody>
          <a:bodyPr>
            <a:spAutoFit/>
          </a:bodyPr>
          <a:lstStyle/>
          <a:p>
            <a:pPr>
              <a:spcBef>
                <a:spcPct val="50000"/>
              </a:spcBef>
            </a:pPr>
            <a:endParaRPr lang="en-US" b="1" dirty="0"/>
          </a:p>
        </p:txBody>
      </p:sp>
    </p:spTree>
  </p:cSld>
  <p:clrMapOvr>
    <a:masterClrMapping/>
  </p:clrMapOvr>
  <p:transition advTm="25000"/>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71" name="Picture 7" descr="Elk River at Sutton"/>
          <p:cNvPicPr>
            <a:picLocks noChangeAspect="1" noChangeArrowheads="1"/>
          </p:cNvPicPr>
          <p:nvPr/>
        </p:nvPicPr>
        <p:blipFill>
          <a:blip r:embed="rId3" cstate="print"/>
          <a:srcRect/>
          <a:stretch>
            <a:fillRect/>
          </a:stretch>
        </p:blipFill>
        <p:spPr bwMode="auto">
          <a:xfrm>
            <a:off x="0" y="1588"/>
            <a:ext cx="9144000" cy="6856412"/>
          </a:xfrm>
          <a:prstGeom prst="rect">
            <a:avLst/>
          </a:prstGeom>
          <a:noFill/>
        </p:spPr>
      </p:pic>
      <p:sp>
        <p:nvSpPr>
          <p:cNvPr id="11266" name="Rectangle 2"/>
          <p:cNvSpPr>
            <a:spLocks noGrp="1" noChangeArrowheads="1"/>
          </p:cNvSpPr>
          <p:nvPr>
            <p:ph type="title"/>
          </p:nvPr>
        </p:nvSpPr>
        <p:spPr>
          <a:xfrm>
            <a:off x="457200" y="533400"/>
            <a:ext cx="8229600" cy="1143000"/>
          </a:xfrm>
        </p:spPr>
        <p:txBody>
          <a:bodyPr/>
          <a:lstStyle/>
          <a:p>
            <a:r>
              <a:rPr lang="en-US" sz="4000" b="1">
                <a:solidFill>
                  <a:schemeClr val="bg1"/>
                </a:solidFill>
              </a:rPr>
              <a:t>REVISE THE DRAFT REQUEST!</a:t>
            </a:r>
            <a:br>
              <a:rPr lang="en-US" sz="4000" b="1">
                <a:solidFill>
                  <a:schemeClr val="bg1"/>
                </a:solidFill>
              </a:rPr>
            </a:br>
            <a:r>
              <a:rPr lang="en-US" sz="2800" b="1">
                <a:solidFill>
                  <a:schemeClr val="bg1"/>
                </a:solidFill>
              </a:rPr>
              <a:t>The final draft request must include:</a:t>
            </a:r>
          </a:p>
        </p:txBody>
      </p:sp>
      <p:sp>
        <p:nvSpPr>
          <p:cNvPr id="11267" name="Rectangle 3"/>
          <p:cNvSpPr>
            <a:spLocks noGrp="1" noChangeArrowheads="1"/>
          </p:cNvSpPr>
          <p:nvPr>
            <p:ph type="body" idx="1"/>
          </p:nvPr>
        </p:nvSpPr>
        <p:spPr>
          <a:xfrm>
            <a:off x="304800" y="1905000"/>
            <a:ext cx="8153400" cy="4648200"/>
          </a:xfrm>
        </p:spPr>
        <p:txBody>
          <a:bodyPr/>
          <a:lstStyle/>
          <a:p>
            <a:pPr>
              <a:lnSpc>
                <a:spcPct val="80000"/>
              </a:lnSpc>
            </a:pPr>
            <a:r>
              <a:rPr lang="en-US" sz="2400" b="1" dirty="0">
                <a:solidFill>
                  <a:schemeClr val="bg1"/>
                </a:solidFill>
              </a:rPr>
              <a:t>Name and contact information of the primary sponsor.</a:t>
            </a:r>
          </a:p>
          <a:p>
            <a:pPr>
              <a:lnSpc>
                <a:spcPct val="80000"/>
              </a:lnSpc>
            </a:pPr>
            <a:r>
              <a:rPr lang="en-US" sz="2400" b="1" dirty="0">
                <a:solidFill>
                  <a:schemeClr val="bg1"/>
                </a:solidFill>
              </a:rPr>
              <a:t>List of all participating sponsors.</a:t>
            </a:r>
          </a:p>
          <a:p>
            <a:pPr>
              <a:lnSpc>
                <a:spcPct val="80000"/>
              </a:lnSpc>
            </a:pPr>
            <a:r>
              <a:rPr lang="en-US" sz="2400" b="1" dirty="0">
                <a:solidFill>
                  <a:schemeClr val="bg1"/>
                </a:solidFill>
              </a:rPr>
              <a:t>Reproducible map showing details required in draft request.</a:t>
            </a:r>
          </a:p>
          <a:p>
            <a:pPr>
              <a:lnSpc>
                <a:spcPct val="80000"/>
              </a:lnSpc>
            </a:pPr>
            <a:r>
              <a:rPr lang="en-US" sz="2400" b="1" dirty="0">
                <a:solidFill>
                  <a:schemeClr val="bg1"/>
                </a:solidFill>
              </a:rPr>
              <a:t>Draft copy or detailed description of a map, guide, web site, signage or other process to advertise trail. </a:t>
            </a:r>
          </a:p>
          <a:p>
            <a:pPr>
              <a:lnSpc>
                <a:spcPct val="80000"/>
              </a:lnSpc>
            </a:pPr>
            <a:r>
              <a:rPr lang="en-US" sz="2400" b="1" dirty="0">
                <a:solidFill>
                  <a:schemeClr val="bg1"/>
                </a:solidFill>
              </a:rPr>
              <a:t>Description of the planning process.</a:t>
            </a:r>
          </a:p>
          <a:p>
            <a:pPr>
              <a:lnSpc>
                <a:spcPct val="80000"/>
              </a:lnSpc>
            </a:pPr>
            <a:r>
              <a:rPr lang="en-US" sz="2400" b="1" dirty="0">
                <a:solidFill>
                  <a:schemeClr val="bg1"/>
                </a:solidFill>
              </a:rPr>
              <a:t>Description of how local government and the public will be kept informed.</a:t>
            </a:r>
          </a:p>
          <a:p>
            <a:pPr>
              <a:lnSpc>
                <a:spcPct val="80000"/>
              </a:lnSpc>
            </a:pPr>
            <a:r>
              <a:rPr lang="en-US" sz="2400" b="1" dirty="0">
                <a:solidFill>
                  <a:schemeClr val="bg1"/>
                </a:solidFill>
              </a:rPr>
              <a:t>Description of the recreational, scenic, historic or educational opportunities of the trail.</a:t>
            </a:r>
          </a:p>
          <a:p>
            <a:pPr>
              <a:lnSpc>
                <a:spcPct val="80000"/>
              </a:lnSpc>
            </a:pPr>
            <a:r>
              <a:rPr lang="en-US" sz="2400" b="1" dirty="0" smtClean="0">
                <a:solidFill>
                  <a:schemeClr val="bg1"/>
                </a:solidFill>
              </a:rPr>
              <a:t>Information about where the public meetings were held, comments received and how any comments were addressed.</a:t>
            </a:r>
            <a:endParaRPr lang="en-US" sz="2400" b="1" dirty="0">
              <a:solidFill>
                <a:schemeClr val="bg1"/>
              </a:solidFill>
            </a:endParaRPr>
          </a:p>
        </p:txBody>
      </p:sp>
    </p:spTree>
  </p:cSld>
  <p:clrMapOvr>
    <a:masterClrMapping/>
  </p:clrMapOvr>
  <p:transition advTm="25000"/>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2" name="Picture 6" descr="P1010023"/>
          <p:cNvPicPr>
            <a:picLocks noChangeAspect="1" noChangeArrowheads="1"/>
          </p:cNvPicPr>
          <p:nvPr/>
        </p:nvPicPr>
        <p:blipFill>
          <a:blip r:embed="rId3" cstate="print"/>
          <a:srcRect/>
          <a:stretch>
            <a:fillRect/>
          </a:stretch>
        </p:blipFill>
        <p:spPr bwMode="auto">
          <a:xfrm>
            <a:off x="0" y="0"/>
            <a:ext cx="9144000" cy="6858000"/>
          </a:xfrm>
          <a:prstGeom prst="rect">
            <a:avLst/>
          </a:prstGeom>
          <a:noFill/>
        </p:spPr>
      </p:pic>
      <p:pic>
        <p:nvPicPr>
          <p:cNvPr id="39941" name="Picture 5" descr="johnnie"/>
          <p:cNvPicPr>
            <a:picLocks noChangeAspect="1" noChangeArrowheads="1"/>
          </p:cNvPicPr>
          <p:nvPr/>
        </p:nvPicPr>
        <p:blipFill>
          <a:blip r:embed="rId4" cstate="print"/>
          <a:srcRect/>
          <a:stretch>
            <a:fillRect/>
          </a:stretch>
        </p:blipFill>
        <p:spPr bwMode="auto">
          <a:xfrm>
            <a:off x="1981200" y="1219200"/>
            <a:ext cx="5191125" cy="5638800"/>
          </a:xfrm>
          <a:prstGeom prst="rect">
            <a:avLst/>
          </a:prstGeom>
          <a:noFill/>
        </p:spPr>
      </p:pic>
      <p:pic>
        <p:nvPicPr>
          <p:cNvPr id="39940" name="Picture 4" descr="Acceptable benches"/>
          <p:cNvPicPr>
            <a:picLocks noChangeAspect="1" noChangeArrowheads="1"/>
          </p:cNvPicPr>
          <p:nvPr/>
        </p:nvPicPr>
        <p:blipFill>
          <a:blip r:embed="rId5" cstate="print"/>
          <a:srcRect/>
          <a:stretch>
            <a:fillRect/>
          </a:stretch>
        </p:blipFill>
        <p:spPr bwMode="auto">
          <a:xfrm>
            <a:off x="0" y="0"/>
            <a:ext cx="9144000" cy="6858000"/>
          </a:xfrm>
          <a:prstGeom prst="rect">
            <a:avLst/>
          </a:prstGeom>
          <a:noFill/>
        </p:spPr>
      </p:pic>
      <p:sp>
        <p:nvSpPr>
          <p:cNvPr id="39938" name="Rectangle 2"/>
          <p:cNvSpPr>
            <a:spLocks noGrp="1" noChangeArrowheads="1"/>
          </p:cNvSpPr>
          <p:nvPr>
            <p:ph type="title"/>
          </p:nvPr>
        </p:nvSpPr>
        <p:spPr>
          <a:xfrm>
            <a:off x="457200" y="274638"/>
            <a:ext cx="8229600" cy="1020762"/>
          </a:xfrm>
          <a:ln/>
        </p:spPr>
        <p:txBody>
          <a:bodyPr>
            <a:normAutofit fontScale="90000"/>
          </a:bodyPr>
          <a:lstStyle/>
          <a:p>
            <a:r>
              <a:rPr lang="en-US" b="1" dirty="0" smtClean="0">
                <a:solidFill>
                  <a:schemeClr val="bg1"/>
                </a:solidFill>
              </a:rPr>
              <a:t>RECREATIONAL TRAILS PROGRAM</a:t>
            </a:r>
            <a:br>
              <a:rPr lang="en-US" b="1" dirty="0" smtClean="0">
                <a:solidFill>
                  <a:schemeClr val="bg1"/>
                </a:solidFill>
              </a:rPr>
            </a:br>
            <a:r>
              <a:rPr lang="en-US" b="1" dirty="0" smtClean="0">
                <a:solidFill>
                  <a:schemeClr val="bg1"/>
                </a:solidFill>
              </a:rPr>
              <a:t>ELIGIBLE </a:t>
            </a:r>
            <a:r>
              <a:rPr lang="en-US" b="1" dirty="0">
                <a:solidFill>
                  <a:schemeClr val="bg1"/>
                </a:solidFill>
              </a:rPr>
              <a:t>ITEMS</a:t>
            </a:r>
          </a:p>
        </p:txBody>
      </p:sp>
      <p:sp>
        <p:nvSpPr>
          <p:cNvPr id="39943" name="Text Box 7"/>
          <p:cNvSpPr txBox="1">
            <a:spLocks noChangeArrowheads="1"/>
          </p:cNvSpPr>
          <p:nvPr/>
        </p:nvSpPr>
        <p:spPr bwMode="auto">
          <a:xfrm>
            <a:off x="685800" y="1371600"/>
            <a:ext cx="8001000" cy="1815882"/>
          </a:xfrm>
          <a:prstGeom prst="rect">
            <a:avLst/>
          </a:prstGeom>
          <a:noFill/>
          <a:ln w="9525">
            <a:noFill/>
            <a:miter lim="800000"/>
            <a:headEnd/>
            <a:tailEnd/>
          </a:ln>
          <a:effectLst/>
        </p:spPr>
        <p:txBody>
          <a:bodyPr>
            <a:spAutoFit/>
          </a:bodyPr>
          <a:lstStyle/>
          <a:p>
            <a:pPr>
              <a:spcBef>
                <a:spcPct val="50000"/>
              </a:spcBef>
            </a:pPr>
            <a:r>
              <a:rPr lang="en-US" sz="2800" b="1" dirty="0">
                <a:solidFill>
                  <a:srgbClr val="FFFF00"/>
                </a:solidFill>
              </a:rPr>
              <a:t>Parking for trail users                      Trash Cans</a:t>
            </a:r>
          </a:p>
          <a:p>
            <a:pPr>
              <a:spcBef>
                <a:spcPct val="50000"/>
              </a:spcBef>
            </a:pPr>
            <a:r>
              <a:rPr lang="en-US" sz="2800" b="1" dirty="0">
                <a:solidFill>
                  <a:srgbClr val="FFFF00"/>
                </a:solidFill>
              </a:rPr>
              <a:t>Informational Kiosks                        Restrooms</a:t>
            </a:r>
          </a:p>
          <a:p>
            <a:pPr>
              <a:spcBef>
                <a:spcPct val="50000"/>
              </a:spcBef>
            </a:pPr>
            <a:r>
              <a:rPr lang="en-US" sz="2800" b="1" dirty="0">
                <a:solidFill>
                  <a:srgbClr val="FFFF00"/>
                </a:solidFill>
              </a:rPr>
              <a:t>Guidebooks and maps                     Benches</a:t>
            </a:r>
          </a:p>
        </p:txBody>
      </p:sp>
    </p:spTree>
  </p:cSld>
  <p:clrMapOvr>
    <a:masterClrMapping/>
  </p:clrMapOvr>
  <p:transition advTm="25000"/>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2" name="Picture 4" descr="Playground"/>
          <p:cNvPicPr>
            <a:picLocks noChangeAspect="1" noChangeArrowheads="1"/>
          </p:cNvPicPr>
          <p:nvPr/>
        </p:nvPicPr>
        <p:blipFill>
          <a:blip r:embed="rId3" cstate="print"/>
          <a:srcRect/>
          <a:stretch>
            <a:fillRect/>
          </a:stretch>
        </p:blipFill>
        <p:spPr bwMode="auto">
          <a:xfrm>
            <a:off x="0" y="0"/>
            <a:ext cx="9144000" cy="6858000"/>
          </a:xfrm>
          <a:prstGeom prst="rect">
            <a:avLst/>
          </a:prstGeom>
          <a:noFill/>
        </p:spPr>
      </p:pic>
      <p:sp>
        <p:nvSpPr>
          <p:cNvPr id="43010" name="Rectangle 2"/>
          <p:cNvSpPr>
            <a:spLocks noGrp="1" noChangeArrowheads="1"/>
          </p:cNvSpPr>
          <p:nvPr>
            <p:ph type="title"/>
          </p:nvPr>
        </p:nvSpPr>
        <p:spPr>
          <a:xfrm>
            <a:off x="609600" y="1219200"/>
            <a:ext cx="8229600" cy="762000"/>
          </a:xfrm>
        </p:spPr>
        <p:txBody>
          <a:bodyPr>
            <a:noAutofit/>
          </a:bodyPr>
          <a:lstStyle/>
          <a:p>
            <a:r>
              <a:rPr lang="en-US" b="1" dirty="0" smtClean="0">
                <a:solidFill>
                  <a:schemeClr val="bg1"/>
                </a:solidFill>
              </a:rPr>
              <a:t>RECREATIONAL TRAILS PROGRAM</a:t>
            </a:r>
            <a:br>
              <a:rPr lang="en-US" b="1" dirty="0" smtClean="0">
                <a:solidFill>
                  <a:schemeClr val="bg1"/>
                </a:solidFill>
              </a:rPr>
            </a:br>
            <a:r>
              <a:rPr lang="en-US" b="1" dirty="0" smtClean="0">
                <a:solidFill>
                  <a:schemeClr val="bg1"/>
                </a:solidFill>
              </a:rPr>
              <a:t>INELIGIBLE </a:t>
            </a:r>
            <a:r>
              <a:rPr lang="en-US" b="1" dirty="0">
                <a:solidFill>
                  <a:schemeClr val="bg1"/>
                </a:solidFill>
              </a:rPr>
              <a:t>ITEMS</a:t>
            </a:r>
          </a:p>
        </p:txBody>
      </p:sp>
      <p:sp>
        <p:nvSpPr>
          <p:cNvPr id="43011" name="Rectangle 3"/>
          <p:cNvSpPr>
            <a:spLocks noGrp="1" noChangeArrowheads="1"/>
          </p:cNvSpPr>
          <p:nvPr>
            <p:ph type="body" idx="1"/>
          </p:nvPr>
        </p:nvSpPr>
        <p:spPr>
          <a:xfrm>
            <a:off x="381000" y="4008437"/>
            <a:ext cx="8229600" cy="4144963"/>
          </a:xfrm>
        </p:spPr>
        <p:txBody>
          <a:bodyPr>
            <a:normAutofit/>
          </a:bodyPr>
          <a:lstStyle/>
          <a:p>
            <a:r>
              <a:rPr lang="en-US" sz="4000" b="1" dirty="0">
                <a:solidFill>
                  <a:srgbClr val="FF0000"/>
                </a:solidFill>
              </a:rPr>
              <a:t>Park development.</a:t>
            </a:r>
          </a:p>
          <a:p>
            <a:r>
              <a:rPr lang="en-US" sz="4000" b="1" dirty="0">
                <a:solidFill>
                  <a:srgbClr val="FF0000"/>
                </a:solidFill>
              </a:rPr>
              <a:t>Fishing piers or docks.</a:t>
            </a:r>
          </a:p>
          <a:p>
            <a:r>
              <a:rPr lang="en-US" sz="4000" b="1" dirty="0">
                <a:solidFill>
                  <a:srgbClr val="FF0000"/>
                </a:solidFill>
              </a:rPr>
              <a:t>Purchase of boats.</a:t>
            </a:r>
          </a:p>
          <a:p>
            <a:r>
              <a:rPr lang="en-US" sz="4000" b="1" dirty="0">
                <a:solidFill>
                  <a:srgbClr val="FF0000"/>
                </a:solidFill>
              </a:rPr>
              <a:t>Excessive infrastructure.</a:t>
            </a:r>
          </a:p>
        </p:txBody>
      </p:sp>
    </p:spTree>
  </p:cSld>
  <p:clrMapOvr>
    <a:masterClrMapping/>
  </p:clrMapOvr>
  <p:transition advTm="25000"/>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F:\new-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564" y="0"/>
            <a:ext cx="5908964" cy="40386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i.cdn.turner.com/v5cache/TCM/Images/Dynamic/i75/nightattheopera1935_ff_300x225_022620090923.gif"/>
          <p:cNvPicPr>
            <a:picLocks noChangeAspect="1" noChangeArrowheads="1"/>
          </p:cNvPicPr>
          <p:nvPr/>
        </p:nvPicPr>
        <p:blipFill>
          <a:blip r:embed="rId3" cstate="print"/>
          <a:srcRect/>
          <a:stretch>
            <a:fillRect/>
          </a:stretch>
        </p:blipFill>
        <p:spPr bwMode="auto">
          <a:xfrm>
            <a:off x="4419600" y="3276600"/>
            <a:ext cx="4724400" cy="3581400"/>
          </a:xfrm>
          <a:prstGeom prst="rect">
            <a:avLst/>
          </a:prstGeom>
          <a:noFill/>
          <a:ln w="9525">
            <a:noFill/>
            <a:miter lim="800000"/>
            <a:headEnd/>
            <a:tailEnd/>
          </a:ln>
        </p:spPr>
      </p:pic>
      <p:sp>
        <p:nvSpPr>
          <p:cNvPr id="9" name="Rectangle 8"/>
          <p:cNvSpPr/>
          <p:nvPr/>
        </p:nvSpPr>
        <p:spPr>
          <a:xfrm>
            <a:off x="5707915" y="1752600"/>
            <a:ext cx="3436085" cy="1200329"/>
          </a:xfrm>
          <a:prstGeom prst="rect">
            <a:avLst/>
          </a:prstGeom>
        </p:spPr>
        <p:txBody>
          <a:bodyPr wrap="square">
            <a:spAutoFit/>
          </a:bodyPr>
          <a:lstStyle/>
          <a:p>
            <a:pPr algn="ctr"/>
            <a:r>
              <a:rPr lang="en-US" sz="3600" b="1" cap="none" spc="0" dirty="0" smtClean="0">
                <a:ln w="10541" cmpd="sng">
                  <a:solidFill>
                    <a:schemeClr val="accent1">
                      <a:shade val="88000"/>
                      <a:satMod val="110000"/>
                    </a:schemeClr>
                  </a:solidFill>
                  <a:prstDash val="solid"/>
                </a:ln>
                <a:effectLst/>
                <a:latin typeface="Broadway" pitchFamily="82" charset="0"/>
              </a:rPr>
              <a:t>My time is about up…</a:t>
            </a:r>
            <a:endParaRPr lang="en-US" sz="3600" b="1" cap="none" spc="0" dirty="0">
              <a:ln w="10541" cmpd="sng">
                <a:solidFill>
                  <a:schemeClr val="accent1">
                    <a:shade val="88000"/>
                    <a:satMod val="110000"/>
                  </a:schemeClr>
                </a:solidFill>
                <a:prstDash val="solid"/>
              </a:ln>
              <a:effectLst/>
              <a:latin typeface="Broadway" pitchFamily="82"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F:\107_0307.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066800" y="3629"/>
            <a:ext cx="6705600" cy="2554545"/>
          </a:xfrm>
          <a:prstGeom prst="rect">
            <a:avLst/>
          </a:prstGeom>
          <a:noFill/>
        </p:spPr>
        <p:txBody>
          <a:bodyPr wrap="square" rtlCol="0">
            <a:spAutoFit/>
          </a:bodyPr>
          <a:lstStyle/>
          <a:p>
            <a:pPr algn="ctr"/>
            <a:r>
              <a:rPr lang="en-US" sz="3200" b="1" dirty="0" smtClean="0"/>
              <a:t>However, should you have any questions regarding the water trail designation process, please contact the WV DOH Grant Administration Unit at (304) 558-9621.</a:t>
            </a:r>
            <a:endParaRPr lang="en-US" sz="3200" b="1" dirty="0"/>
          </a:p>
        </p:txBody>
      </p:sp>
    </p:spTree>
    <p:extLst>
      <p:ext uri="{BB962C8B-B14F-4D97-AF65-F5344CB8AC3E}">
        <p14:creationId xmlns:p14="http://schemas.microsoft.com/office/powerpoint/2010/main" val="3954778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775</TotalTime>
  <Words>1512</Words>
  <Application>Microsoft Office PowerPoint</Application>
  <PresentationFormat>On-screen Show (4:3)</PresentationFormat>
  <Paragraphs>155</Paragraphs>
  <Slides>18</Slides>
  <Notes>15</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0" baseType="lpstr">
      <vt:lpstr>Office Theme</vt:lpstr>
      <vt:lpstr>Photo Editor Photo</vt:lpstr>
      <vt:lpstr>PowerPoint Presentation</vt:lpstr>
      <vt:lpstr>WHAT ARE THE BENEFITS OF A WATER TRAIL?</vt:lpstr>
      <vt:lpstr>WHAT IS A WATER TRAIL?</vt:lpstr>
      <vt:lpstr>A water trail is not just a stream. For designation, a water trail must be:</vt:lpstr>
      <vt:lpstr>                            Public Access</vt:lpstr>
      <vt:lpstr>WHO CAN REQUEST WATER TRAIL DESIGNATION?</vt:lpstr>
      <vt:lpstr>Primary Sponsor:</vt:lpstr>
      <vt:lpstr>HOW TO GET YOUR WATER TRAIL DESIGNATED.</vt:lpstr>
      <vt:lpstr>PowerPoint Presentation</vt:lpstr>
      <vt:lpstr>PowerPoint Presentation</vt:lpstr>
      <vt:lpstr>PowerPoint Presentation</vt:lpstr>
      <vt:lpstr>PowerPoint Presentation</vt:lpstr>
      <vt:lpstr>PowerPoint Presentation</vt:lpstr>
      <vt:lpstr>REVISE THE DRAFT REQUEST! The final draft request must include:</vt:lpstr>
      <vt:lpstr>RECREATIONAL TRAILS PROGRAM ELIGIBLE ITEMS</vt:lpstr>
      <vt:lpstr>RECREATIONAL TRAILS PROGRAM INELIGIBLE ITEMS</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B465336</dc:creator>
  <cp:lastModifiedBy>HOME</cp:lastModifiedBy>
  <cp:revision>81</cp:revision>
  <cp:lastPrinted>2012-09-07T21:28:26Z</cp:lastPrinted>
  <dcterms:created xsi:type="dcterms:W3CDTF">2012-09-05T12:27:19Z</dcterms:created>
  <dcterms:modified xsi:type="dcterms:W3CDTF">2012-09-08T11:50:46Z</dcterms:modified>
</cp:coreProperties>
</file>